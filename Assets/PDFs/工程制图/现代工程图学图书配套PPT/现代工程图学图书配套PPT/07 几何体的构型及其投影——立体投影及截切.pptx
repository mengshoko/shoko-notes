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3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46"/>
  </p:notesMasterIdLst>
  <p:handoutMasterIdLst>
    <p:handoutMasterId r:id="rId47"/>
  </p:handoutMasterIdLst>
  <p:sldIdLst>
    <p:sldId id="489" r:id="rId2"/>
    <p:sldId id="490" r:id="rId3"/>
    <p:sldId id="491" r:id="rId4"/>
    <p:sldId id="492" r:id="rId5"/>
    <p:sldId id="493" r:id="rId6"/>
    <p:sldId id="494" r:id="rId7"/>
    <p:sldId id="495" r:id="rId8"/>
    <p:sldId id="496" r:id="rId9"/>
    <p:sldId id="497" r:id="rId10"/>
    <p:sldId id="498" r:id="rId11"/>
    <p:sldId id="499" r:id="rId12"/>
    <p:sldId id="500" r:id="rId13"/>
    <p:sldId id="482" r:id="rId14"/>
    <p:sldId id="477" r:id="rId15"/>
    <p:sldId id="472" r:id="rId16"/>
    <p:sldId id="402" r:id="rId17"/>
    <p:sldId id="403" r:id="rId18"/>
    <p:sldId id="404" r:id="rId19"/>
    <p:sldId id="487" r:id="rId20"/>
    <p:sldId id="412" r:id="rId21"/>
    <p:sldId id="413" r:id="rId22"/>
    <p:sldId id="488" r:id="rId23"/>
    <p:sldId id="502" r:id="rId24"/>
    <p:sldId id="417" r:id="rId25"/>
    <p:sldId id="504" r:id="rId26"/>
    <p:sldId id="506" r:id="rId27"/>
    <p:sldId id="420" r:id="rId28"/>
    <p:sldId id="421" r:id="rId29"/>
    <p:sldId id="508" r:id="rId30"/>
    <p:sldId id="318" r:id="rId31"/>
    <p:sldId id="317" r:id="rId32"/>
    <p:sldId id="422" r:id="rId33"/>
    <p:sldId id="505" r:id="rId34"/>
    <p:sldId id="424" r:id="rId35"/>
    <p:sldId id="515" r:id="rId36"/>
    <p:sldId id="426" r:id="rId37"/>
    <p:sldId id="512" r:id="rId38"/>
    <p:sldId id="516" r:id="rId39"/>
    <p:sldId id="511" r:id="rId40"/>
    <p:sldId id="509" r:id="rId41"/>
    <p:sldId id="510" r:id="rId42"/>
    <p:sldId id="485" r:id="rId43"/>
    <p:sldId id="514" r:id="rId44"/>
    <p:sldId id="483" r:id="rId45"/>
  </p:sldIdLst>
  <p:sldSz cx="12192000" cy="6858000"/>
  <p:notesSz cx="6858000" cy="9144000"/>
  <p:custDataLst>
    <p:tags r:id="rId4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YfqlAQ7k5y/mM/kyrQU3Mw==" hashData="T6YSKC4Vt0FCMqg2j0MpTZ7+7Gk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CC"/>
    <a:srgbClr val="CC66FF"/>
    <a:srgbClr val="FF33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746" autoAdjust="0"/>
  </p:normalViewPr>
  <p:slideViewPr>
    <p:cSldViewPr>
      <p:cViewPr varScale="1">
        <p:scale>
          <a:sx n="80" d="100"/>
          <a:sy n="80" d="100"/>
        </p:scale>
        <p:origin x="58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604" y="-7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FEA17DC-4A3B-4647-8B5A-6C556C330C54}" type="datetimeFigureOut">
              <a:rPr lang="zh-CN" altLang="en-US"/>
              <a:pPr>
                <a:defRPr/>
              </a:pPr>
              <a:t>2021/9/17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7BBFC1AD-B478-4725-91A7-B9D5FE4498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98456C3-9B26-4B3B-9860-C5B93267BE27}" type="datetimeFigureOut">
              <a:rPr lang="zh-CN" altLang="en-US"/>
              <a:pPr>
                <a:defRPr/>
              </a:pPr>
              <a:t>2021/9/17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48B8311-09A0-4ED3-ADA1-1DCAF6BCA9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BAA603-741F-4110-BECA-19D10E4648DA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35F043C-C57C-4065-B40C-ED00CE96C9FA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1FC8F27-9C0B-4AC4-A33F-CE551148497A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D881B0-FE08-4C2E-91B2-76F2046CC723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850FEA2-D066-4AC5-96A7-61A1BB23550E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290D2EA-3222-44B0-8868-1E021A3C0B07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7D57A22-CD46-4C2A-A156-C110A718DC47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459B144-D8C6-4503-8E2D-4A298BA141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B0C51E7-3C43-4196-9CB9-F00F8D7306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A6AE11B-3824-4660-83FE-27B16F6021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D152874-5280-4144-93DE-26013F1F6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EF6D4DF-C66B-498A-87F3-827A50628D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E82F154-F920-4E7C-A929-D34943F9AE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2E96F27-643E-4DDE-AF6A-62259B2712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41238B0-EAEF-45E0-954E-5DC85960CD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614AA31-9A29-4E39-B4CC-C36463EEE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DC061681-C3A0-4D8B-A42E-E90148CBE8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6F0F0CB-B8E3-46E1-8920-E1AB9CF40A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CF8400BE-C054-4CEE-ACF9-344B727D2F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A086E34-6741-4502-B559-B4C2056D42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3C37712-AF7A-4F13-9296-7337422FD4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41C1ECD-8C8D-4962-BD2A-4AF8E50A19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CB4D1B5B-E514-4F12-B0F5-CCEF0AAA45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035D2F7-1F04-41E8-B1B2-5A7A52D47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74DA690-3EC5-4686-8C80-32A250E0FF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32F1BF0-432C-49AB-8DB6-0C34FAEB64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29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2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3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4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9709152" y="1055688"/>
            <a:ext cx="2482849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Symbol" panose="05050102010706020507" pitchFamily="18" charset="2"/>
              <a:buNone/>
              <a:defRPr/>
            </a:pPr>
            <a:r>
              <a:rPr lang="zh-CN" altLang="en-US" sz="2000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  <a:sym typeface="Symbol" panose="05050102010706020507" pitchFamily="18" charset="2"/>
              </a:rPr>
              <a:t>主讲 ：穆浩志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652EC6-B1E7-4241-84BC-A1BDC16D402D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475" y="95250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8" r:id="rId1"/>
    <p:sldLayoutId id="2147484499" r:id="rId2"/>
    <p:sldLayoutId id="2147484500" r:id="rId3"/>
    <p:sldLayoutId id="2147484501" r:id="rId4"/>
    <p:sldLayoutId id="2147484502" r:id="rId5"/>
    <p:sldLayoutId id="2147484503" r:id="rId6"/>
    <p:sldLayoutId id="2147484504" r:id="rId7"/>
    <p:sldLayoutId id="2147484505" r:id="rId8"/>
    <p:sldLayoutId id="2147484506" r:id="rId9"/>
    <p:sldLayoutId id="2147484507" r:id="rId10"/>
    <p:sldLayoutId id="2147484508" r:id="rId11"/>
    <p:sldLayoutId id="2147484509" r:id="rId12"/>
    <p:sldLayoutId id="2147484510" r:id="rId13"/>
    <p:sldLayoutId id="2147484511" r:id="rId14"/>
    <p:sldLayoutId id="2147484512" r:id="rId15"/>
    <p:sldLayoutId id="2147484513" r:id="rId16"/>
    <p:sldLayoutId id="2147484514" r:id="rId17"/>
    <p:sldLayoutId id="2147484515" r:id="rId18"/>
    <p:sldLayoutId id="2147484516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26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audio" Target="../media/audio3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audio" Target="../media/audio2.wav"/><Relationship Id="rId7" Type="http://schemas.openxmlformats.org/officeDocument/2006/relationships/image" Target="../media/image44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37.png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image" Target="../media/image26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image" Target="../media/image67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10" Type="http://schemas.openxmlformats.org/officeDocument/2006/relationships/tags" Target="../tags/tag47.xml"/><Relationship Id="rId19" Type="http://schemas.openxmlformats.org/officeDocument/2006/relationships/image" Target="../media/image26.png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audio" Target="../media/audio4.wav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audio" Target="../media/audio1.wav"/><Relationship Id="rId9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jpeg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21" Type="http://schemas.openxmlformats.org/officeDocument/2006/relationships/image" Target="../media/image26.png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image" Target="../media/image79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tags" Target="../tags/tag8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20" Type="http://schemas.openxmlformats.org/officeDocument/2006/relationships/image" Target="../media/image26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10" Type="http://schemas.openxmlformats.org/officeDocument/2006/relationships/tags" Target="../tags/tag8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image" Target="../media/image26.png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image" Target="../media/image26.png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7" Type="http://schemas.openxmlformats.org/officeDocument/2006/relationships/image" Target="../media/image110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jpeg"/><Relationship Id="rId5" Type="http://schemas.openxmlformats.org/officeDocument/2006/relationships/image" Target="../media/image108.jpeg"/><Relationship Id="rId4" Type="http://schemas.openxmlformats.org/officeDocument/2006/relationships/image" Target="../media/image10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03512" y="1777925"/>
            <a:ext cx="362267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本讲重点内容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487488" y="2588344"/>
            <a:ext cx="9688561" cy="52322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>
              <a:tabLst>
                <a:tab pos="2636838" algn="ctr"/>
                <a:tab pos="5273675" algn="r"/>
              </a:tabLst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平面截切</a:t>
            </a:r>
            <a:r>
              <a:rPr lang="zh-CN" altLang="en-US" sz="2800" dirty="0">
                <a:latin typeface="+mn-ea"/>
              </a:rPr>
              <a:t>基本几何体的基本形式；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截交线</a:t>
            </a:r>
            <a:r>
              <a:rPr lang="zh-CN" altLang="en-US" sz="2800" dirty="0">
                <a:latin typeface="+mn-ea"/>
              </a:rPr>
              <a:t>的形状、投影特性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1703512" y="3447746"/>
            <a:ext cx="34099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学习目标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1700899" y="4176408"/>
            <a:ext cx="9472537" cy="1930337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</a:rPr>
              <a:t>    理解掌握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平面截切</a:t>
            </a:r>
            <a:r>
              <a:rPr lang="zh-CN" altLang="en-US" sz="2800" dirty="0">
                <a:latin typeface="+mn-ea"/>
                <a:ea typeface="+mn-ea"/>
              </a:rPr>
              <a:t>基本几何体的基本形式和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截交线</a:t>
            </a:r>
            <a:r>
              <a:rPr lang="zh-CN" altLang="en-US" sz="2800" dirty="0">
                <a:latin typeface="+mn-ea"/>
                <a:ea typeface="+mn-ea"/>
              </a:rPr>
              <a:t>的形 </a:t>
            </a:r>
            <a:endParaRPr lang="en-US" altLang="zh-CN" sz="28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>
                <a:latin typeface="+mn-ea"/>
                <a:ea typeface="+mn-ea"/>
              </a:rPr>
              <a:t>    </a:t>
            </a:r>
            <a:r>
              <a:rPr lang="zh-CN" altLang="en-US" sz="2800" dirty="0">
                <a:latin typeface="+mn-ea"/>
                <a:ea typeface="+mn-ea"/>
              </a:rPr>
              <a:t>状、投影特性；</a:t>
            </a:r>
            <a:endParaRPr lang="en-US" altLang="zh-CN" sz="28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>
                <a:latin typeface="+mn-ea"/>
                <a:ea typeface="+mn-ea"/>
              </a:rPr>
              <a:t>    </a:t>
            </a:r>
            <a:r>
              <a:rPr lang="zh-CN" altLang="en-US" sz="2800" dirty="0">
                <a:latin typeface="+mn-ea"/>
                <a:ea typeface="+mn-ea"/>
              </a:rPr>
              <a:t>会利用投影原理完成截切立体作图。</a:t>
            </a:r>
          </a:p>
        </p:txBody>
      </p:sp>
      <p:sp>
        <p:nvSpPr>
          <p:cNvPr id="10" name="五角星 9"/>
          <p:cNvSpPr/>
          <p:nvPr/>
        </p:nvSpPr>
        <p:spPr>
          <a:xfrm>
            <a:off x="2070769" y="4338782"/>
            <a:ext cx="357188" cy="35718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  <p:sp>
        <p:nvSpPr>
          <p:cNvPr id="8" name="五角星 9">
            <a:extLst>
              <a:ext uri="{FF2B5EF4-FFF2-40B4-BE49-F238E27FC236}">
                <a16:creationId xmlns:a16="http://schemas.microsoft.com/office/drawing/2014/main" id="{798DA8D9-D738-4B28-AFA7-10F4EB79F4E8}"/>
              </a:ext>
            </a:extLst>
          </p:cNvPr>
          <p:cNvSpPr/>
          <p:nvPr/>
        </p:nvSpPr>
        <p:spPr>
          <a:xfrm>
            <a:off x="2070769" y="5628097"/>
            <a:ext cx="357188" cy="35718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1635710" y="6176964"/>
            <a:ext cx="66341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截平面与立体表面的交线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截交线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。</a:t>
            </a:r>
          </a:p>
        </p:txBody>
      </p:sp>
      <p:sp>
        <p:nvSpPr>
          <p:cNvPr id="123940" name="Text Box 36"/>
          <p:cNvSpPr txBox="1">
            <a:spLocks noChangeArrowheads="1"/>
          </p:cNvSpPr>
          <p:nvPr/>
        </p:nvSpPr>
        <p:spPr bwMode="auto">
          <a:xfrm>
            <a:off x="1635711" y="5697539"/>
            <a:ext cx="5915025" cy="523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用以截切立体的平面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截平面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。</a:t>
            </a:r>
          </a:p>
        </p:txBody>
      </p:sp>
      <p:sp>
        <p:nvSpPr>
          <p:cNvPr id="123941" name="Rectangle 37"/>
          <p:cNvSpPr>
            <a:spLocks noChangeArrowheads="1"/>
          </p:cNvSpPr>
          <p:nvPr/>
        </p:nvSpPr>
        <p:spPr bwMode="auto">
          <a:xfrm>
            <a:off x="1151733" y="997775"/>
            <a:ext cx="4119562" cy="663432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截切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的基本概念</a:t>
            </a:r>
          </a:p>
        </p:txBody>
      </p:sp>
      <p:pic>
        <p:nvPicPr>
          <p:cNvPr id="22536" name="Picture 2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1514" y="2406651"/>
            <a:ext cx="5805487" cy="3186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6" name="平行四边形 25"/>
          <p:cNvSpPr/>
          <p:nvPr/>
        </p:nvSpPr>
        <p:spPr bwMode="auto">
          <a:xfrm rot="16200000">
            <a:off x="3375820" y="2351882"/>
            <a:ext cx="2373312" cy="1825625"/>
          </a:xfrm>
          <a:prstGeom prst="parallelogram">
            <a:avLst>
              <a:gd name="adj" fmla="val 65096"/>
            </a:avLst>
          </a:prstGeom>
          <a:solidFill>
            <a:schemeClr val="accent5">
              <a:lumMod val="60000"/>
              <a:lumOff val="40000"/>
              <a:alpha val="66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  <a:ea typeface="宋体" charset="-122"/>
            </a:endParaRPr>
          </a:p>
        </p:txBody>
      </p:sp>
      <p:sp>
        <p:nvSpPr>
          <p:cNvPr id="27" name="平行四边形 26"/>
          <p:cNvSpPr>
            <a:spLocks noChangeArrowheads="1"/>
          </p:cNvSpPr>
          <p:nvPr/>
        </p:nvSpPr>
        <p:spPr bwMode="auto">
          <a:xfrm rot="-8778344">
            <a:off x="2827339" y="3652839"/>
            <a:ext cx="2524125" cy="1304925"/>
          </a:xfrm>
          <a:prstGeom prst="parallelogram">
            <a:avLst>
              <a:gd name="adj" fmla="val 25012"/>
            </a:avLst>
          </a:prstGeom>
          <a:solidFill>
            <a:srgbClr val="FFC000">
              <a:alpha val="30980"/>
            </a:srgb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8" name="平行四边形 27"/>
          <p:cNvSpPr/>
          <p:nvPr/>
        </p:nvSpPr>
        <p:spPr bwMode="auto">
          <a:xfrm rot="16200000">
            <a:off x="6716713" y="2224088"/>
            <a:ext cx="2628900" cy="2190750"/>
          </a:xfrm>
          <a:prstGeom prst="parallelogram">
            <a:avLst>
              <a:gd name="adj" fmla="val 65096"/>
            </a:avLst>
          </a:prstGeom>
          <a:solidFill>
            <a:schemeClr val="accent5">
              <a:lumMod val="60000"/>
              <a:lumOff val="40000"/>
              <a:alpha val="66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  <a:ea typeface="宋体" charset="-122"/>
            </a:endParaRPr>
          </a:p>
        </p:txBody>
      </p:sp>
      <p:sp>
        <p:nvSpPr>
          <p:cNvPr id="29" name="平行四边形 28"/>
          <p:cNvSpPr>
            <a:spLocks noChangeArrowheads="1"/>
          </p:cNvSpPr>
          <p:nvPr/>
        </p:nvSpPr>
        <p:spPr bwMode="auto">
          <a:xfrm rot="-8748044">
            <a:off x="6075364" y="3698876"/>
            <a:ext cx="2911475" cy="1304925"/>
          </a:xfrm>
          <a:prstGeom prst="parallelogram">
            <a:avLst>
              <a:gd name="adj" fmla="val 25007"/>
            </a:avLst>
          </a:prstGeom>
          <a:solidFill>
            <a:srgbClr val="FFC000">
              <a:alpha val="30980"/>
            </a:srgb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22555" name="Picture 2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3826" y="2114550"/>
            <a:ext cx="6645275" cy="33797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2557" name="Picture 2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67100" y="2698751"/>
            <a:ext cx="1809750" cy="2106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2558" name="Picture 3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97638" y="3173414"/>
            <a:ext cx="1789112" cy="12969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4" name="矩形 33"/>
          <p:cNvSpPr/>
          <p:nvPr/>
        </p:nvSpPr>
        <p:spPr>
          <a:xfrm>
            <a:off x="5548314" y="2370138"/>
            <a:ext cx="11080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宋体" charset="-122"/>
                <a:sym typeface="Symbol" pitchFamily="18" charset="2"/>
              </a:rPr>
              <a:t>截平面</a:t>
            </a:r>
            <a:endParaRPr lang="zh-CN" altLang="en-US" sz="2400" b="1" dirty="0">
              <a:ea typeface="宋体" charset="-122"/>
            </a:endParaRPr>
          </a:p>
        </p:txBody>
      </p:sp>
      <p:cxnSp>
        <p:nvCxnSpPr>
          <p:cNvPr id="36" name="直接连接符 35"/>
          <p:cNvCxnSpPr>
            <a:stCxn id="34" idx="2"/>
          </p:cNvCxnSpPr>
          <p:nvPr/>
        </p:nvCxnSpPr>
        <p:spPr>
          <a:xfrm rot="5400000">
            <a:off x="5545138" y="2835276"/>
            <a:ext cx="560388" cy="554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34" idx="2"/>
          </p:cNvCxnSpPr>
          <p:nvPr/>
        </p:nvCxnSpPr>
        <p:spPr>
          <a:xfrm rot="16200000" flipH="1">
            <a:off x="6457950" y="2476500"/>
            <a:ext cx="122238" cy="833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1549309" y="1649698"/>
            <a:ext cx="7934325" cy="52387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用平面与立体相交，截去体的一部分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截切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5" name="矩形 64"/>
          <p:cNvSpPr/>
          <p:nvPr/>
        </p:nvSpPr>
        <p:spPr>
          <a:xfrm>
            <a:off x="5840414" y="5327651"/>
            <a:ext cx="11080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宋体" charset="-122"/>
                <a:sym typeface="Symbol" pitchFamily="18" charset="2"/>
              </a:rPr>
              <a:t>截交线</a:t>
            </a:r>
            <a:endParaRPr lang="zh-CN" altLang="en-US" sz="2400" b="1" dirty="0">
              <a:ea typeface="宋体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V="1">
            <a:off x="6132514" y="4414839"/>
            <a:ext cx="1095375" cy="949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rot="10800000">
            <a:off x="5000625" y="4378325"/>
            <a:ext cx="1131888" cy="985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">
            <a:extLst>
              <a:ext uri="{FF2B5EF4-FFF2-40B4-BE49-F238E27FC236}">
                <a16:creationId xmlns:a16="http://schemas.microsoft.com/office/drawing/2014/main" id="{07C1F5C6-7933-4025-A88F-D42AC7067A97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-0.21666 0.00533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" y="3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0.2717 0.00046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123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autoUpdateAnimBg="0"/>
      <p:bldP spid="123940" grpId="0" build="p" autoUpdateAnimBg="0"/>
      <p:bldP spid="123941" grpId="0" animBg="1"/>
      <p:bldP spid="26" grpId="0" animBg="1"/>
      <p:bldP spid="27" grpId="0" animBg="1"/>
      <p:bldP spid="28" grpId="0" animBg="1"/>
      <p:bldP spid="29" grpId="0" animBg="1"/>
      <p:bldP spid="34" grpId="0"/>
      <p:bldP spid="123906" grpId="0" autoUpdateAnimBg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67675" y="4451351"/>
            <a:ext cx="2152650" cy="1895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3555" name="Picture 2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40700" y="1639888"/>
            <a:ext cx="1866900" cy="245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3556" name="Text Box 21"/>
          <p:cNvSpPr txBox="1">
            <a:spLocks noChangeArrowheads="1"/>
          </p:cNvSpPr>
          <p:nvPr/>
        </p:nvSpPr>
        <p:spPr bwMode="auto">
          <a:xfrm>
            <a:off x="1343472" y="1165225"/>
            <a:ext cx="2709396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ommercialPi BT" pitchFamily="18" charset="2"/>
              </a:rPr>
              <a:t>截交线的性质：</a:t>
            </a:r>
            <a:endParaRPr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74" name="Text Box 22"/>
          <p:cNvSpPr txBox="1">
            <a:spLocks noChangeArrowheads="1"/>
          </p:cNvSpPr>
          <p:nvPr/>
        </p:nvSpPr>
        <p:spPr bwMode="auto">
          <a:xfrm>
            <a:off x="1340880" y="1884468"/>
            <a:ext cx="5397500" cy="522288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⒈</a:t>
            </a:r>
            <a:r>
              <a:rPr lang="en-US" altLang="zh-CN" sz="2800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封闭性 </a:t>
            </a:r>
            <a:r>
              <a:rPr lang="zh-CN" altLang="en-US" sz="2800" dirty="0">
                <a:latin typeface="+mn-ea"/>
                <a:ea typeface="+mn-ea"/>
              </a:rPr>
              <a:t>是一个平面多边形。</a:t>
            </a:r>
          </a:p>
        </p:txBody>
      </p:sp>
      <p:sp>
        <p:nvSpPr>
          <p:cNvPr id="125975" name="Text Box 23"/>
          <p:cNvSpPr txBox="1">
            <a:spLocks noChangeArrowheads="1"/>
          </p:cNvSpPr>
          <p:nvPr/>
        </p:nvSpPr>
        <p:spPr bwMode="auto">
          <a:xfrm>
            <a:off x="1366280" y="2493730"/>
            <a:ext cx="5485803" cy="243143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⒉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多样性 </a:t>
            </a:r>
            <a:endParaRPr lang="en-US" altLang="zh-CN" sz="2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   </a:t>
            </a:r>
            <a:r>
              <a:rPr lang="en-US" altLang="zh-CN" sz="2400" dirty="0">
                <a:solidFill>
                  <a:schemeClr val="accent1"/>
                </a:solidFill>
                <a:latin typeface="Abadi" panose="020B0604020202020204" pitchFamily="34" charset="0"/>
              </a:rPr>
              <a:t>☆</a:t>
            </a:r>
            <a:r>
              <a:rPr lang="zh-CN" altLang="en-US" sz="2400" dirty="0">
                <a:latin typeface="+mn-ea"/>
                <a:ea typeface="+mn-ea"/>
              </a:rPr>
              <a:t>截交线的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形状</a:t>
            </a:r>
            <a:r>
              <a:rPr lang="zh-CN" altLang="en-US" sz="2400" dirty="0">
                <a:latin typeface="+mn-ea"/>
                <a:ea typeface="+mn-ea"/>
              </a:rPr>
              <a:t>取决于被截立体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2400" dirty="0">
                <a:latin typeface="+mn-ea"/>
                <a:ea typeface="+mn-ea"/>
              </a:rPr>
              <a:t>      </a:t>
            </a:r>
            <a:r>
              <a:rPr lang="zh-CN" altLang="en-US" sz="2400" dirty="0">
                <a:latin typeface="+mn-ea"/>
                <a:ea typeface="+mn-ea"/>
              </a:rPr>
              <a:t>的形状及截平面与立体的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相对</a:t>
            </a:r>
            <a:endParaRPr lang="en-US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  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位置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  <a:p>
            <a:pPr eaLnBrk="1" hangingPunct="1">
              <a:defRPr/>
            </a:pPr>
            <a:r>
              <a:rPr lang="zh-CN" altLang="en-US" sz="2400" dirty="0">
                <a:latin typeface="+mn-ea"/>
                <a:ea typeface="+mn-ea"/>
              </a:rPr>
              <a:t>   </a:t>
            </a:r>
            <a:r>
              <a:rPr lang="en-US" altLang="zh-CN" sz="2400" dirty="0">
                <a:solidFill>
                  <a:schemeClr val="accent1"/>
                </a:solidFill>
                <a:latin typeface="Abadi" panose="020B0604020202020204" pitchFamily="34" charset="0"/>
              </a:rPr>
              <a:t>☆</a:t>
            </a:r>
            <a:r>
              <a:rPr lang="zh-CN" altLang="en-US" sz="2400" dirty="0">
                <a:latin typeface="+mn-ea"/>
                <a:ea typeface="+mn-ea"/>
              </a:rPr>
              <a:t>截交线投影的形状取决于截平面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2400" dirty="0">
                <a:latin typeface="+mn-ea"/>
                <a:ea typeface="+mn-ea"/>
              </a:rPr>
              <a:t>     </a:t>
            </a:r>
            <a:r>
              <a:rPr lang="zh-CN" altLang="en-US" sz="2400" dirty="0">
                <a:latin typeface="+mn-ea"/>
                <a:ea typeface="+mn-ea"/>
              </a:rPr>
              <a:t>与投影面的相对位置。</a:t>
            </a:r>
          </a:p>
        </p:txBody>
      </p:sp>
      <p:sp>
        <p:nvSpPr>
          <p:cNvPr id="125976" name="Text Box 24"/>
          <p:cNvSpPr txBox="1">
            <a:spLocks noChangeArrowheads="1"/>
          </p:cNvSpPr>
          <p:nvPr/>
        </p:nvSpPr>
        <p:spPr bwMode="auto">
          <a:xfrm>
            <a:off x="1340880" y="5121188"/>
            <a:ext cx="5587267" cy="8925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⒊</a:t>
            </a:r>
            <a:r>
              <a:rPr lang="en-US" altLang="zh-CN" sz="2800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共有性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  </a:t>
            </a:r>
            <a:r>
              <a:rPr lang="zh-CN" altLang="en-US" sz="2400" dirty="0">
                <a:latin typeface="+mn-ea"/>
                <a:ea typeface="+mn-ea"/>
              </a:rPr>
              <a:t>截交线是截平面与立体表面的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共有线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pic>
        <p:nvPicPr>
          <p:cNvPr id="27673" name="Picture 2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13725" y="1639889"/>
            <a:ext cx="1733550" cy="2428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7674" name="Picture 2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67676" y="4451350"/>
            <a:ext cx="2143125" cy="1809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7677" name="Picture 2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519989" y="1165225"/>
            <a:ext cx="2535237" cy="29860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7678" name="Picture 3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56500" y="4013201"/>
            <a:ext cx="2933700" cy="2555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02D40BFA-EAA9-4AFB-801D-E51ABE31BD28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74" grpId="0" autoUpdateAnimBg="0"/>
      <p:bldP spid="125975" grpId="0" autoUpdateAnimBg="0"/>
      <p:bldP spid="12597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2"/>
          <p:cNvSpPr txBox="1">
            <a:spLocks noChangeArrowheads="1"/>
          </p:cNvSpPr>
          <p:nvPr/>
        </p:nvSpPr>
        <p:spPr bwMode="auto">
          <a:xfrm>
            <a:off x="1751014" y="2046288"/>
            <a:ext cx="4308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⒈ </a:t>
            </a:r>
            <a:r>
              <a:rPr lang="zh-CN" altLang="en-US" sz="2800">
                <a:solidFill>
                  <a:schemeClr val="tx2"/>
                </a:solidFill>
              </a:rPr>
              <a:t>求截交线的两种方法：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2259014" y="2514601"/>
            <a:ext cx="6461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★ </a:t>
            </a:r>
            <a:r>
              <a:rPr lang="zh-CN" altLang="en-US" sz="2800"/>
              <a:t>求各棱线与截平面的交点→</a:t>
            </a:r>
            <a:r>
              <a:rPr lang="zh-CN" altLang="en-US" sz="2800">
                <a:solidFill>
                  <a:srgbClr val="FF3300"/>
                </a:solidFill>
              </a:rPr>
              <a:t>棱线法</a:t>
            </a:r>
            <a:r>
              <a:rPr lang="zh-CN" altLang="en-US" sz="2800">
                <a:solidFill>
                  <a:schemeClr val="tx2"/>
                </a:solidFill>
              </a:rPr>
              <a:t>。</a:t>
            </a:r>
            <a:endParaRPr lang="zh-CN" altLang="en-US" sz="2800"/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259014" y="2981326"/>
            <a:ext cx="6461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★ </a:t>
            </a:r>
            <a:r>
              <a:rPr lang="zh-CN" altLang="en-US" sz="2800"/>
              <a:t>求各棱面与截平面的交线→</a:t>
            </a:r>
            <a:r>
              <a:rPr lang="zh-CN" altLang="en-US" sz="2800">
                <a:solidFill>
                  <a:srgbClr val="FF3300"/>
                </a:solidFill>
              </a:rPr>
              <a:t>棱面法</a:t>
            </a:r>
            <a:r>
              <a:rPr lang="zh-CN" altLang="en-US" sz="2800">
                <a:solidFill>
                  <a:schemeClr val="tx2"/>
                </a:solidFill>
              </a:rPr>
              <a:t>。</a:t>
            </a:r>
            <a:endParaRPr lang="zh-CN" altLang="en-US" sz="2800">
              <a:solidFill>
                <a:srgbClr val="FF3300"/>
              </a:solidFill>
            </a:endParaRP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1768476" y="3486151"/>
            <a:ext cx="359092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/>
              <a:t>⒉ </a:t>
            </a:r>
            <a:r>
              <a:rPr lang="zh-CN" altLang="en-US" sz="2800">
                <a:solidFill>
                  <a:schemeClr val="tx2"/>
                </a:solidFill>
              </a:rPr>
              <a:t>求截交线的步骤：</a:t>
            </a:r>
          </a:p>
        </p:txBody>
      </p:sp>
      <p:sp>
        <p:nvSpPr>
          <p:cNvPr id="126982" name="Text Box 6"/>
          <p:cNvSpPr txBox="1">
            <a:spLocks noChangeArrowheads="1"/>
          </p:cNvSpPr>
          <p:nvPr/>
        </p:nvSpPr>
        <p:spPr bwMode="auto">
          <a:xfrm>
            <a:off x="3062289" y="4386263"/>
            <a:ext cx="4308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ym typeface="Symbol" pitchFamily="18" charset="2"/>
              </a:rPr>
              <a:t>☆ </a:t>
            </a:r>
            <a:r>
              <a:rPr lang="zh-CN" altLang="en-US" sz="2800">
                <a:sym typeface="Symbol" pitchFamily="18" charset="2"/>
              </a:rPr>
              <a:t>截平面与体的相对位置</a:t>
            </a:r>
            <a:endParaRPr lang="zh-CN" altLang="en-US" sz="2800"/>
          </a:p>
        </p:txBody>
      </p:sp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3078164" y="4818063"/>
            <a:ext cx="49228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ym typeface="Symbol" pitchFamily="18" charset="2"/>
              </a:rPr>
              <a:t>☆ </a:t>
            </a:r>
            <a:r>
              <a:rPr lang="zh-CN" altLang="en-US" sz="2800">
                <a:sym typeface="Symbol" pitchFamily="18" charset="2"/>
              </a:rPr>
              <a:t>截平面与投影面的相对位置</a:t>
            </a:r>
            <a:endParaRPr lang="zh-CN" altLang="en-US" sz="2800"/>
          </a:p>
        </p:txBody>
      </p:sp>
      <p:sp>
        <p:nvSpPr>
          <p:cNvPr id="126984" name="AutoShape 8"/>
          <p:cNvSpPr>
            <a:spLocks noChangeArrowheads="1"/>
          </p:cNvSpPr>
          <p:nvPr/>
        </p:nvSpPr>
        <p:spPr bwMode="auto">
          <a:xfrm>
            <a:off x="8294689" y="5367339"/>
            <a:ext cx="1489075" cy="873125"/>
          </a:xfrm>
          <a:prstGeom prst="wedgeRoundRectCallout">
            <a:avLst>
              <a:gd name="adj1" fmla="val -65875"/>
              <a:gd name="adj2" fmla="val -81093"/>
              <a:gd name="adj3" fmla="val 16667"/>
            </a:avLst>
          </a:prstGeom>
          <a:gradFill rotWithShape="0">
            <a:gsLst>
              <a:gs pos="0">
                <a:srgbClr val="FFCCFF"/>
              </a:gs>
              <a:gs pos="100000">
                <a:srgbClr val="FFFFCC"/>
              </a:gs>
            </a:gsLst>
            <a:path path="rect">
              <a:fillToRect l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>
                <a:latin typeface="Times New Roman" pitchFamily="18" charset="0"/>
              </a:rPr>
              <a:t>确定截交线</a:t>
            </a:r>
          </a:p>
          <a:p>
            <a:pPr eaLnBrk="1" hangingPunct="1"/>
            <a:r>
              <a:rPr lang="zh-CN" altLang="en-US">
                <a:latin typeface="Times New Roman" pitchFamily="18" charset="0"/>
              </a:rPr>
              <a:t>的投影特性</a:t>
            </a:r>
          </a:p>
        </p:txBody>
      </p:sp>
      <p:sp>
        <p:nvSpPr>
          <p:cNvPr id="126985" name="AutoShape 9"/>
          <p:cNvSpPr>
            <a:spLocks noChangeArrowheads="1"/>
          </p:cNvSpPr>
          <p:nvPr/>
        </p:nvSpPr>
        <p:spPr bwMode="auto">
          <a:xfrm>
            <a:off x="8145463" y="3542696"/>
            <a:ext cx="1686639" cy="983873"/>
          </a:xfrm>
          <a:prstGeom prst="cloudCallout">
            <a:avLst>
              <a:gd name="adj1" fmla="val -91875"/>
              <a:gd name="adj2" fmla="val 39625"/>
            </a:avLst>
          </a:prstGeom>
          <a:gradFill rotWithShape="0">
            <a:gsLst>
              <a:gs pos="0">
                <a:srgbClr val="FFFFCC"/>
              </a:gs>
              <a:gs pos="100000">
                <a:srgbClr val="FFCCFF"/>
              </a:gs>
            </a:gsLst>
            <a:path path="rect">
              <a:fillToRect l="100000" b="10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itchFamily="18" charset="0"/>
              </a:rPr>
              <a:t>确定截交</a:t>
            </a:r>
          </a:p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itchFamily="18" charset="0"/>
              </a:rPr>
              <a:t>线的形状</a:t>
            </a:r>
          </a:p>
        </p:txBody>
      </p:sp>
      <p:sp>
        <p:nvSpPr>
          <p:cNvPr id="126986" name="Text Box 10"/>
          <p:cNvSpPr txBox="1">
            <a:spLocks noChangeArrowheads="1"/>
          </p:cNvSpPr>
          <p:nvPr/>
        </p:nvSpPr>
        <p:spPr bwMode="auto">
          <a:xfrm>
            <a:off x="2251076" y="3954463"/>
            <a:ext cx="3224213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>
                <a:sym typeface="Symbol" pitchFamily="18" charset="2"/>
              </a:rPr>
              <a:t>★ </a:t>
            </a:r>
            <a:r>
              <a:rPr lang="zh-CN" altLang="en-US" sz="2800"/>
              <a:t>空间及投影分析</a:t>
            </a:r>
          </a:p>
        </p:txBody>
      </p:sp>
      <p:sp>
        <p:nvSpPr>
          <p:cNvPr id="126987" name="Text Box 11"/>
          <p:cNvSpPr txBox="1">
            <a:spLocks noChangeArrowheads="1"/>
          </p:cNvSpPr>
          <p:nvPr/>
        </p:nvSpPr>
        <p:spPr bwMode="auto">
          <a:xfrm>
            <a:off x="2252664" y="5286376"/>
            <a:ext cx="359092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/>
              <a:t>★ </a:t>
            </a:r>
            <a:r>
              <a:rPr lang="zh-CN" altLang="en-US" sz="2800"/>
              <a:t>画出截交线的投影</a:t>
            </a:r>
          </a:p>
        </p:txBody>
      </p:sp>
      <p:sp>
        <p:nvSpPr>
          <p:cNvPr id="126988" name="Text Box 12"/>
          <p:cNvSpPr txBox="1">
            <a:spLocks noChangeArrowheads="1"/>
          </p:cNvSpPr>
          <p:nvPr/>
        </p:nvSpPr>
        <p:spPr bwMode="auto">
          <a:xfrm>
            <a:off x="2649539" y="5722938"/>
            <a:ext cx="5354637" cy="946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dirty="0"/>
              <a:t>分别求出截平面与棱面的交线，并连接成多边形。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2554289" y="544514"/>
            <a:ext cx="46577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>
                <a:latin typeface="黑体" pitchFamily="49" charset="-122"/>
                <a:ea typeface="黑体" pitchFamily="49" charset="-122"/>
              </a:rPr>
              <a:t>一、平面体表面的截交线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1751014" y="1573214"/>
            <a:ext cx="5476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ym typeface="Symbol" pitchFamily="18" charset="2"/>
              </a:rPr>
              <a:t> </a:t>
            </a:r>
            <a:r>
              <a:rPr lang="zh-CN" altLang="en-US" sz="2800">
                <a:sym typeface="Symbol" pitchFamily="18" charset="2"/>
              </a:rPr>
              <a:t>每条边是</a:t>
            </a:r>
            <a:r>
              <a:rPr lang="zh-CN" altLang="en-US" sz="2800">
                <a:solidFill>
                  <a:srgbClr val="FF0000"/>
                </a:solidFill>
                <a:sym typeface="Symbol" pitchFamily="18" charset="2"/>
              </a:rPr>
              <a:t>截平面与棱面的交线</a:t>
            </a:r>
            <a:r>
              <a:rPr lang="zh-CN" altLang="en-US" sz="2800">
                <a:solidFill>
                  <a:schemeClr val="tx2"/>
                </a:solidFill>
                <a:sym typeface="Symbol" pitchFamily="18" charset="2"/>
              </a:rPr>
              <a:t>。</a:t>
            </a:r>
            <a:endParaRPr lang="zh-CN" altLang="en-US" sz="2800"/>
          </a:p>
        </p:txBody>
      </p:sp>
      <p:pic>
        <p:nvPicPr>
          <p:cNvPr id="24591" name="Picture 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9776" y="946150"/>
            <a:ext cx="1935163" cy="22796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26991" name="Text Box 15"/>
          <p:cNvSpPr txBox="1">
            <a:spLocks noChangeArrowheads="1"/>
          </p:cNvSpPr>
          <p:nvPr/>
        </p:nvSpPr>
        <p:spPr bwMode="auto">
          <a:xfrm>
            <a:off x="1751014" y="1141414"/>
            <a:ext cx="7412037" cy="523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>
                <a:sym typeface="Symbol" pitchFamily="18" charset="2"/>
              </a:rPr>
              <a:t> </a:t>
            </a:r>
            <a:r>
              <a:rPr lang="zh-CN" altLang="en-US" sz="2800">
                <a:sym typeface="Symbol" pitchFamily="18" charset="2"/>
              </a:rPr>
              <a:t>截交线是由直线组成的</a:t>
            </a:r>
            <a:r>
              <a:rPr lang="zh-CN" altLang="en-US" sz="2800">
                <a:solidFill>
                  <a:srgbClr val="FF3300"/>
                </a:solidFill>
                <a:sym typeface="Symbol" pitchFamily="18" charset="2"/>
              </a:rPr>
              <a:t>封闭的平面多边形</a:t>
            </a:r>
            <a:r>
              <a:rPr lang="zh-CN" altLang="en-US" sz="2800">
                <a:sym typeface="Symbol" pitchFamily="18" charset="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autoUpdateAnimBg="0"/>
      <p:bldP spid="126979" grpId="0" autoUpdateAnimBg="0"/>
      <p:bldP spid="126980" grpId="0" autoUpdateAnimBg="0"/>
      <p:bldP spid="126981" grpId="0" autoUpdateAnimBg="0"/>
      <p:bldP spid="126982" grpId="0" autoUpdateAnimBg="0"/>
      <p:bldP spid="126983" grpId="0" autoUpdateAnimBg="0"/>
      <p:bldP spid="126984" grpId="0" animBg="1" autoUpdateAnimBg="0"/>
      <p:bldP spid="126985" grpId="0" animBg="1" autoUpdateAnimBg="0"/>
      <p:bldP spid="126986" grpId="0" autoUpdateAnimBg="0"/>
      <p:bldP spid="126987" grpId="0" autoUpdateAnimBg="0"/>
      <p:bldP spid="126988" grpId="0" autoUpdateAnimBg="0"/>
      <p:bldP spid="126990" grpId="0" autoUpdateAnimBg="0"/>
      <p:bldP spid="12699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5"/>
          <p:cNvSpPr txBox="1">
            <a:spLocks noChangeArrowheads="1"/>
          </p:cNvSpPr>
          <p:nvPr/>
        </p:nvSpPr>
        <p:spPr bwMode="auto">
          <a:xfrm>
            <a:off x="1235460" y="1485901"/>
            <a:ext cx="6699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宋体" pitchFamily="2" charset="-122"/>
              </a:rPr>
              <a:t>例：</a:t>
            </a:r>
            <a:r>
              <a:rPr kumimoji="1" lang="zh-CN" altLang="en-US" sz="2800" b="1" dirty="0"/>
              <a:t>求正六棱柱被侧垂面</a:t>
            </a:r>
            <a:r>
              <a:rPr kumimoji="1" lang="en-US" altLang="zh-CN" sz="2800" b="1" i="1" dirty="0"/>
              <a:t>P</a:t>
            </a:r>
            <a:r>
              <a:rPr kumimoji="1" lang="zh-CN" altLang="en-US" sz="2800" b="1" dirty="0"/>
              <a:t>截切后的投影</a:t>
            </a: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1343472" y="2133536"/>
            <a:ext cx="20162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理论分析：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604" name="Picture 18"/>
          <p:cNvPicPr>
            <a:picLocks noChangeAspect="1" noChangeArrowheads="1"/>
          </p:cNvPicPr>
          <p:nvPr/>
        </p:nvPicPr>
        <p:blipFill>
          <a:blip r:embed="rId2"/>
          <a:srcRect l="21001" t="14874" r="44231" b="32655"/>
          <a:stretch>
            <a:fillRect/>
          </a:stretch>
        </p:blipFill>
        <p:spPr bwMode="auto">
          <a:xfrm>
            <a:off x="5657851" y="2114550"/>
            <a:ext cx="3979863" cy="45037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11424" y="898525"/>
            <a:ext cx="2994025" cy="585788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indent="266700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cs typeface="Times New Roman" pitchFamily="18" charset="0"/>
              </a:rPr>
              <a:t>棱线法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5610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4364" y="2333625"/>
            <a:ext cx="3887787" cy="4318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3B23546-4811-4F47-A62F-A6587CEA62CD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CE0979E7-5678-49E7-B4B0-4CDDF38B3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9765" y="2862417"/>
            <a:ext cx="39798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dirty="0"/>
              <a:t>截</a:t>
            </a:r>
            <a:r>
              <a:rPr kumimoji="1" lang="zh-CN" altLang="en-US" sz="2800" dirty="0">
                <a:solidFill>
                  <a:srgbClr val="FF0000"/>
                </a:solidFill>
              </a:rPr>
              <a:t>平面</a:t>
            </a:r>
            <a:r>
              <a:rPr kumimoji="1" lang="en-US" altLang="zh-CN" sz="2800" i="1" dirty="0">
                <a:solidFill>
                  <a:srgbClr val="FF0000"/>
                </a:solidFill>
              </a:rPr>
              <a:t>P</a:t>
            </a:r>
            <a:r>
              <a:rPr kumimoji="1" lang="zh-CN" altLang="en-US" sz="2800" dirty="0"/>
              <a:t>与正六棱柱的各个棱线均相交，</a:t>
            </a:r>
            <a:r>
              <a:rPr kumimoji="1" lang="zh-CN" altLang="en-US" sz="2800" dirty="0">
                <a:solidFill>
                  <a:srgbClr val="FF0000"/>
                </a:solidFill>
              </a:rPr>
              <a:t>交线为六边形</a:t>
            </a:r>
            <a:r>
              <a:rPr kumimoji="1" lang="zh-CN" altLang="en-US" sz="2800" dirty="0"/>
              <a:t>，其六个顶点</a:t>
            </a:r>
            <a:r>
              <a:rPr kumimoji="1" lang="en-US" altLang="zh-CN" sz="2800" dirty="0"/>
              <a:t>A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B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C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D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E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F</a:t>
            </a:r>
            <a:r>
              <a:rPr kumimoji="1" lang="zh-CN" altLang="en-US" sz="2800" dirty="0"/>
              <a:t>为截平面</a:t>
            </a:r>
            <a:r>
              <a:rPr kumimoji="1" lang="en-US" altLang="zh-CN" sz="2800" i="1" dirty="0"/>
              <a:t>P</a:t>
            </a:r>
            <a:r>
              <a:rPr kumimoji="1" lang="zh-CN" altLang="en-US" sz="2800" dirty="0"/>
              <a:t>与正六棱柱的六条棱线的交点。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2" grpId="0" autoUpdateAnimBg="0"/>
      <p:bldP spid="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1608931" y="2231231"/>
            <a:ext cx="30670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FF0066"/>
                </a:solidFill>
              </a:rPr>
              <a:t>作图：</a:t>
            </a:r>
            <a:endParaRPr kumimoji="1" lang="en-US" altLang="zh-CN" sz="2400" b="1" dirty="0">
              <a:solidFill>
                <a:srgbClr val="FF0066"/>
              </a:solidFill>
            </a:endParaRPr>
          </a:p>
          <a:p>
            <a:pPr eaLnBrk="1" hangingPunct="1"/>
            <a:r>
              <a:rPr kumimoji="1" lang="en-US" altLang="zh-CN" sz="2400" b="1" dirty="0"/>
              <a:t>1.</a:t>
            </a:r>
            <a:r>
              <a:rPr kumimoji="1" lang="zh-CN" altLang="en-US" sz="2400" b="1" dirty="0"/>
              <a:t>用作图线画出正六棱柱截切前完整的正面投影</a:t>
            </a:r>
            <a:endParaRPr kumimoji="1" lang="zh-CN" altLang="en-US" sz="2400" dirty="0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1536358" y="3806429"/>
            <a:ext cx="324961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 dirty="0"/>
              <a:t> 2.</a:t>
            </a:r>
            <a:r>
              <a:rPr kumimoji="1" lang="zh-CN" altLang="en-US" sz="2400" b="1" dirty="0"/>
              <a:t>标出截交线的侧面投影和水平投影</a:t>
            </a:r>
            <a:endParaRPr kumimoji="1" lang="zh-CN" altLang="en-US" sz="2400" dirty="0"/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1446008" y="5197564"/>
            <a:ext cx="3176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 dirty="0"/>
              <a:t>  4.</a:t>
            </a:r>
            <a:r>
              <a:rPr kumimoji="1" lang="zh-CN" altLang="en-US" sz="2400" b="1" dirty="0"/>
              <a:t>连线并判断可见性</a:t>
            </a:r>
            <a:endParaRPr kumimoji="1" lang="zh-CN" altLang="en-US" sz="2400" dirty="0"/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1449389" y="4670357"/>
            <a:ext cx="3614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 dirty="0"/>
              <a:t>  3. </a:t>
            </a:r>
            <a:r>
              <a:rPr kumimoji="1" lang="zh-CN" altLang="en-US" sz="2400" b="1" dirty="0"/>
              <a:t>求出各点的正面投影</a:t>
            </a:r>
            <a:endParaRPr kumimoji="1" lang="zh-CN" altLang="en-US" sz="2400" dirty="0"/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1446008" y="5719281"/>
            <a:ext cx="30305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400" b="1" dirty="0"/>
              <a:t>  5.</a:t>
            </a:r>
            <a:r>
              <a:rPr kumimoji="1" lang="zh-CN" altLang="en-US" sz="2400" b="1" dirty="0"/>
              <a:t>整理轮廓线</a:t>
            </a:r>
            <a:r>
              <a:rPr kumimoji="1" lang="zh-CN" altLang="en-US" sz="2400" dirty="0"/>
              <a:t> 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970588" y="2724150"/>
            <a:ext cx="1350962" cy="1423988"/>
          </a:xfrm>
          <a:prstGeom prst="rect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 rot="5400000" flipH="1" flipV="1">
            <a:off x="5660231" y="3436144"/>
            <a:ext cx="142398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 rot="5400000" flipH="1" flipV="1">
            <a:off x="6279357" y="3436144"/>
            <a:ext cx="1425575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4" name="六边形 18"/>
          <p:cNvSpPr>
            <a:spLocks noChangeArrowheads="1"/>
          </p:cNvSpPr>
          <p:nvPr/>
        </p:nvSpPr>
        <p:spPr bwMode="auto">
          <a:xfrm>
            <a:off x="6007100" y="4768850"/>
            <a:ext cx="1314450" cy="1168400"/>
          </a:xfrm>
          <a:prstGeom prst="hexagon">
            <a:avLst>
              <a:gd name="adj" fmla="val 27500"/>
              <a:gd name="vf" fmla="val 115470"/>
            </a:avLst>
          </a:prstGeom>
          <a:solidFill>
            <a:schemeClr val="bg1"/>
          </a:solidFill>
          <a:ln w="349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26635" name="直接连接符 20"/>
          <p:cNvCxnSpPr>
            <a:cxnSpLocks noChangeShapeType="1"/>
          </p:cNvCxnSpPr>
          <p:nvPr/>
        </p:nvCxnSpPr>
        <p:spPr bwMode="auto">
          <a:xfrm rot="5400000">
            <a:off x="7301707" y="3399632"/>
            <a:ext cx="1498600" cy="1587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636" name="直接连接符 22"/>
          <p:cNvCxnSpPr>
            <a:cxnSpLocks noChangeShapeType="1"/>
          </p:cNvCxnSpPr>
          <p:nvPr/>
        </p:nvCxnSpPr>
        <p:spPr bwMode="auto">
          <a:xfrm>
            <a:off x="8051800" y="4148139"/>
            <a:ext cx="1168400" cy="1587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637" name="直接连接符 24"/>
          <p:cNvCxnSpPr>
            <a:cxnSpLocks noChangeShapeType="1"/>
          </p:cNvCxnSpPr>
          <p:nvPr/>
        </p:nvCxnSpPr>
        <p:spPr bwMode="auto">
          <a:xfrm rot="5400000" flipH="1" flipV="1">
            <a:off x="8817769" y="3747294"/>
            <a:ext cx="804862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638" name="直接连接符 26"/>
          <p:cNvCxnSpPr>
            <a:cxnSpLocks noChangeShapeType="1"/>
          </p:cNvCxnSpPr>
          <p:nvPr/>
        </p:nvCxnSpPr>
        <p:spPr bwMode="auto">
          <a:xfrm rot="10800000">
            <a:off x="8051800" y="2651125"/>
            <a:ext cx="1168400" cy="693738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639" name="直接连接符 28"/>
          <p:cNvCxnSpPr>
            <a:cxnSpLocks noChangeShapeType="1"/>
          </p:cNvCxnSpPr>
          <p:nvPr/>
        </p:nvCxnSpPr>
        <p:spPr bwMode="auto">
          <a:xfrm rot="5400000" flipH="1" flipV="1">
            <a:off x="8051801" y="3563938"/>
            <a:ext cx="1169987" cy="1588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640" name="直接连接符 32"/>
          <p:cNvCxnSpPr>
            <a:cxnSpLocks noChangeShapeType="1"/>
          </p:cNvCxnSpPr>
          <p:nvPr/>
        </p:nvCxnSpPr>
        <p:spPr bwMode="auto">
          <a:xfrm>
            <a:off x="5861051" y="5353050"/>
            <a:ext cx="1643063" cy="1588"/>
          </a:xfrm>
          <a:prstGeom prst="line">
            <a:avLst/>
          </a:prstGeom>
          <a:noFill/>
          <a:ln w="15875" algn="ctr">
            <a:solidFill>
              <a:schemeClr val="tx1"/>
            </a:solidFill>
            <a:prstDash val="lgDashDot"/>
            <a:round/>
            <a:headEnd/>
            <a:tailEnd/>
          </a:ln>
        </p:spPr>
      </p:cxnSp>
      <p:cxnSp>
        <p:nvCxnSpPr>
          <p:cNvPr id="26641" name="直接连接符 35"/>
          <p:cNvCxnSpPr>
            <a:cxnSpLocks noChangeShapeType="1"/>
          </p:cNvCxnSpPr>
          <p:nvPr/>
        </p:nvCxnSpPr>
        <p:spPr bwMode="auto">
          <a:xfrm rot="5400000">
            <a:off x="5895976" y="5389564"/>
            <a:ext cx="1535113" cy="15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Dot"/>
            <a:round/>
            <a:headEnd/>
            <a:tailEnd/>
          </a:ln>
        </p:spPr>
      </p:cxnSp>
      <p:cxnSp>
        <p:nvCxnSpPr>
          <p:cNvPr id="26642" name="直接连接符 51"/>
          <p:cNvCxnSpPr>
            <a:cxnSpLocks noChangeShapeType="1"/>
          </p:cNvCxnSpPr>
          <p:nvPr/>
        </p:nvCxnSpPr>
        <p:spPr bwMode="auto">
          <a:xfrm rot="5400000">
            <a:off x="5751513" y="3417888"/>
            <a:ext cx="18256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Dot"/>
            <a:round/>
            <a:headEnd/>
            <a:tailEnd/>
          </a:ln>
        </p:spPr>
      </p:cxnSp>
      <p:pic>
        <p:nvPicPr>
          <p:cNvPr id="56" name="图片 55" descr="6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97563" y="4659313"/>
            <a:ext cx="16002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0" name="直接连接符 69"/>
          <p:cNvCxnSpPr>
            <a:cxnSpLocks noChangeShapeType="1"/>
          </p:cNvCxnSpPr>
          <p:nvPr/>
        </p:nvCxnSpPr>
        <p:spPr bwMode="auto">
          <a:xfrm rot="5400000" flipH="1" flipV="1">
            <a:off x="5641976" y="3417888"/>
            <a:ext cx="1462087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" name="直接连接符 70"/>
          <p:cNvCxnSpPr>
            <a:cxnSpLocks noChangeShapeType="1"/>
          </p:cNvCxnSpPr>
          <p:nvPr/>
        </p:nvCxnSpPr>
        <p:spPr bwMode="auto">
          <a:xfrm rot="5400000" flipH="1" flipV="1">
            <a:off x="6261101" y="3417888"/>
            <a:ext cx="1462087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3" name="直接连接符 72"/>
          <p:cNvCxnSpPr>
            <a:cxnSpLocks noChangeShapeType="1"/>
            <a:stCxn id="52" idx="7"/>
          </p:cNvCxnSpPr>
          <p:nvPr/>
        </p:nvCxnSpPr>
        <p:spPr bwMode="auto">
          <a:xfrm rot="-5400000" flipH="1" flipV="1">
            <a:off x="6025357" y="2643982"/>
            <a:ext cx="317500" cy="427037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76" name="直接连接符 75"/>
          <p:cNvCxnSpPr>
            <a:cxnSpLocks noChangeShapeType="1"/>
          </p:cNvCxnSpPr>
          <p:nvPr/>
        </p:nvCxnSpPr>
        <p:spPr bwMode="auto">
          <a:xfrm>
            <a:off x="5970589" y="3016251"/>
            <a:ext cx="365125" cy="328613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>
            <a:off x="6335714" y="3344864"/>
            <a:ext cx="657225" cy="1587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80" name="直接连接符 79"/>
          <p:cNvCxnSpPr>
            <a:cxnSpLocks noChangeShapeType="1"/>
          </p:cNvCxnSpPr>
          <p:nvPr/>
        </p:nvCxnSpPr>
        <p:spPr bwMode="auto">
          <a:xfrm rot="5400000" flipH="1" flipV="1">
            <a:off x="6992938" y="3016251"/>
            <a:ext cx="328613" cy="328612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 rot="10800000">
            <a:off x="6992938" y="2687638"/>
            <a:ext cx="328612" cy="328612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86" name="直接连接符 85"/>
          <p:cNvCxnSpPr>
            <a:cxnSpLocks noChangeShapeType="1"/>
          </p:cNvCxnSpPr>
          <p:nvPr/>
        </p:nvCxnSpPr>
        <p:spPr bwMode="auto">
          <a:xfrm rot="10800000" flipV="1">
            <a:off x="5861051" y="2724150"/>
            <a:ext cx="474663" cy="0"/>
          </a:xfrm>
          <a:prstGeom prst="line">
            <a:avLst/>
          </a:prstGeom>
          <a:noFill/>
          <a:ln w="60325" algn="ctr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87" name="直接连接符 86"/>
          <p:cNvCxnSpPr>
            <a:cxnSpLocks noChangeShapeType="1"/>
          </p:cNvCxnSpPr>
          <p:nvPr/>
        </p:nvCxnSpPr>
        <p:spPr bwMode="auto">
          <a:xfrm rot="5400000" flipH="1" flipV="1">
            <a:off x="5788820" y="2869408"/>
            <a:ext cx="365125" cy="1587"/>
          </a:xfrm>
          <a:prstGeom prst="line">
            <a:avLst/>
          </a:prstGeom>
          <a:noFill/>
          <a:ln w="50800" algn="ctr">
            <a:solidFill>
              <a:schemeClr val="accent2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89" name="直接连接符 88"/>
          <p:cNvCxnSpPr>
            <a:cxnSpLocks noChangeShapeType="1"/>
          </p:cNvCxnSpPr>
          <p:nvPr/>
        </p:nvCxnSpPr>
        <p:spPr bwMode="auto">
          <a:xfrm rot="10800000">
            <a:off x="6992939" y="2724150"/>
            <a:ext cx="365125" cy="1588"/>
          </a:xfrm>
          <a:prstGeom prst="line">
            <a:avLst/>
          </a:prstGeom>
          <a:noFill/>
          <a:ln w="63500" algn="ctr">
            <a:solidFill>
              <a:schemeClr val="accent2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91" name="直接连接符 90"/>
          <p:cNvCxnSpPr>
            <a:cxnSpLocks noChangeShapeType="1"/>
          </p:cNvCxnSpPr>
          <p:nvPr/>
        </p:nvCxnSpPr>
        <p:spPr bwMode="auto">
          <a:xfrm rot="5400000" flipH="1" flipV="1">
            <a:off x="7139782" y="2832894"/>
            <a:ext cx="365125" cy="1588"/>
          </a:xfrm>
          <a:prstGeom prst="line">
            <a:avLst/>
          </a:prstGeom>
          <a:noFill/>
          <a:ln w="50800" algn="ctr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96" name="直接连接符 95"/>
          <p:cNvCxnSpPr>
            <a:cxnSpLocks noChangeShapeType="1"/>
          </p:cNvCxnSpPr>
          <p:nvPr/>
        </p:nvCxnSpPr>
        <p:spPr bwMode="auto">
          <a:xfrm rot="5400000" flipH="1" flipV="1">
            <a:off x="6646864" y="3033714"/>
            <a:ext cx="693737" cy="1587"/>
          </a:xfrm>
          <a:prstGeom prst="line">
            <a:avLst/>
          </a:prstGeom>
          <a:noFill/>
          <a:ln w="50800" algn="ctr">
            <a:solidFill>
              <a:schemeClr val="accent3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98" name="直接连接符 97"/>
          <p:cNvCxnSpPr>
            <a:cxnSpLocks noChangeShapeType="1"/>
          </p:cNvCxnSpPr>
          <p:nvPr/>
        </p:nvCxnSpPr>
        <p:spPr bwMode="auto">
          <a:xfrm rot="5400000" flipH="1" flipV="1">
            <a:off x="6043613" y="3016251"/>
            <a:ext cx="657225" cy="0"/>
          </a:xfrm>
          <a:prstGeom prst="line">
            <a:avLst/>
          </a:prstGeom>
          <a:noFill/>
          <a:ln w="50800" algn="ctr">
            <a:solidFill>
              <a:schemeClr val="accent2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102" name="直接连接符 101"/>
          <p:cNvCxnSpPr>
            <a:cxnSpLocks noChangeShapeType="1"/>
          </p:cNvCxnSpPr>
          <p:nvPr/>
        </p:nvCxnSpPr>
        <p:spPr bwMode="auto">
          <a:xfrm rot="5400000">
            <a:off x="6042026" y="3055939"/>
            <a:ext cx="658813" cy="1587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103" name="直接连接符 102"/>
          <p:cNvCxnSpPr>
            <a:cxnSpLocks noChangeShapeType="1"/>
          </p:cNvCxnSpPr>
          <p:nvPr/>
        </p:nvCxnSpPr>
        <p:spPr bwMode="auto">
          <a:xfrm rot="5400000">
            <a:off x="6661945" y="3048795"/>
            <a:ext cx="657225" cy="1587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</p:spPr>
      </p:cxnSp>
      <p:pic>
        <p:nvPicPr>
          <p:cNvPr id="57" name="图片 56" descr="6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42263" y="2505075"/>
            <a:ext cx="17907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" name="直接连接符 40"/>
          <p:cNvCxnSpPr>
            <a:cxnSpLocks noChangeShapeType="1"/>
          </p:cNvCxnSpPr>
          <p:nvPr/>
        </p:nvCxnSpPr>
        <p:spPr bwMode="auto">
          <a:xfrm rot="10800000">
            <a:off x="6372226" y="3344864"/>
            <a:ext cx="2811463" cy="1587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43" name="椭圆 42"/>
          <p:cNvSpPr>
            <a:spLocks noChangeArrowheads="1"/>
          </p:cNvSpPr>
          <p:nvPr/>
        </p:nvSpPr>
        <p:spPr bwMode="auto">
          <a:xfrm>
            <a:off x="6335714" y="3308351"/>
            <a:ext cx="73025" cy="730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4" name="椭圆 43"/>
          <p:cNvSpPr>
            <a:spLocks noChangeArrowheads="1"/>
          </p:cNvSpPr>
          <p:nvPr/>
        </p:nvSpPr>
        <p:spPr bwMode="auto">
          <a:xfrm>
            <a:off x="6956426" y="3308351"/>
            <a:ext cx="73025" cy="730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rot="10800000">
            <a:off x="5970588" y="3016250"/>
            <a:ext cx="2665412" cy="1588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48" name="椭圆 47"/>
          <p:cNvSpPr>
            <a:spLocks noChangeArrowheads="1"/>
          </p:cNvSpPr>
          <p:nvPr/>
        </p:nvSpPr>
        <p:spPr bwMode="auto">
          <a:xfrm>
            <a:off x="5934076" y="2979739"/>
            <a:ext cx="73025" cy="730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9" name="椭圆 48"/>
          <p:cNvSpPr>
            <a:spLocks noChangeArrowheads="1"/>
          </p:cNvSpPr>
          <p:nvPr/>
        </p:nvSpPr>
        <p:spPr bwMode="auto">
          <a:xfrm>
            <a:off x="7285039" y="2979739"/>
            <a:ext cx="73025" cy="730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50" name="直接连接符 49"/>
          <p:cNvCxnSpPr>
            <a:cxnSpLocks noChangeShapeType="1"/>
          </p:cNvCxnSpPr>
          <p:nvPr/>
        </p:nvCxnSpPr>
        <p:spPr bwMode="auto">
          <a:xfrm rot="10800000">
            <a:off x="6372226" y="2724150"/>
            <a:ext cx="1679575" cy="1588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52" name="椭圆 51"/>
          <p:cNvSpPr>
            <a:spLocks noChangeArrowheads="1"/>
          </p:cNvSpPr>
          <p:nvPr/>
        </p:nvSpPr>
        <p:spPr bwMode="auto">
          <a:xfrm>
            <a:off x="6335714" y="2687639"/>
            <a:ext cx="73025" cy="730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53" name="椭圆 52"/>
          <p:cNvSpPr>
            <a:spLocks noChangeArrowheads="1"/>
          </p:cNvSpPr>
          <p:nvPr/>
        </p:nvSpPr>
        <p:spPr bwMode="auto">
          <a:xfrm>
            <a:off x="6956426" y="2687639"/>
            <a:ext cx="73025" cy="730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grpSp>
        <p:nvGrpSpPr>
          <p:cNvPr id="2" name="组合 74"/>
          <p:cNvGrpSpPr>
            <a:grpSpLocks/>
          </p:cNvGrpSpPr>
          <p:nvPr/>
        </p:nvGrpSpPr>
        <p:grpSpPr bwMode="auto">
          <a:xfrm>
            <a:off x="5641975" y="2432050"/>
            <a:ext cx="1868488" cy="1157288"/>
            <a:chOff x="1614447" y="2844792"/>
            <a:chExt cx="1868511" cy="1157301"/>
          </a:xfrm>
        </p:grpSpPr>
        <p:grpSp>
          <p:nvGrpSpPr>
            <p:cNvPr id="26677" name="组合 73"/>
            <p:cNvGrpSpPr>
              <a:grpSpLocks/>
            </p:cNvGrpSpPr>
            <p:nvPr/>
          </p:nvGrpSpPr>
          <p:grpSpPr bwMode="auto">
            <a:xfrm>
              <a:off x="1614447" y="2881305"/>
              <a:ext cx="1868511" cy="1120788"/>
              <a:chOff x="1614447" y="2881305"/>
              <a:chExt cx="1868511" cy="1120788"/>
            </a:xfrm>
          </p:grpSpPr>
          <p:pic>
            <p:nvPicPr>
              <p:cNvPr id="26679" name="Picture 43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162142" y="2881305"/>
                <a:ext cx="180975" cy="180975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</p:spPr>
          </p:pic>
          <p:pic>
            <p:nvPicPr>
              <p:cNvPr id="26680" name="Picture 44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614447" y="3355974"/>
                <a:ext cx="209550" cy="200025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</p:spPr>
          </p:pic>
          <p:pic>
            <p:nvPicPr>
              <p:cNvPr id="26681" name="Picture 45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052603" y="3830643"/>
                <a:ext cx="238125" cy="17145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</p:spPr>
          </p:pic>
          <p:pic>
            <p:nvPicPr>
              <p:cNvPr id="26682" name="Picture 46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746350" y="3794130"/>
                <a:ext cx="180975" cy="180975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</p:spPr>
          </p:pic>
          <p:pic>
            <p:nvPicPr>
              <p:cNvPr id="26683" name="Picture 47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330558" y="3246435"/>
                <a:ext cx="152400" cy="1905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</p:spPr>
          </p:pic>
        </p:grpSp>
        <p:pic>
          <p:nvPicPr>
            <p:cNvPr id="26678" name="Picture 48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855889" y="2844792"/>
              <a:ext cx="304800" cy="1905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22532" name="Picture 7"/>
          <p:cNvPicPr>
            <a:picLocks noChangeAspect="1" noChangeArrowheads="1"/>
          </p:cNvPicPr>
          <p:nvPr/>
        </p:nvPicPr>
        <p:blipFill>
          <a:blip r:embed="rId10"/>
          <a:srcRect l="25594" t="30624" r="37013" b="23276"/>
          <a:stretch>
            <a:fillRect/>
          </a:stretch>
        </p:blipFill>
        <p:spPr bwMode="auto">
          <a:xfrm>
            <a:off x="5767388" y="2406650"/>
            <a:ext cx="4032250" cy="372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6671" name="Picture 6"/>
          <p:cNvPicPr>
            <a:picLocks noChangeAspect="1" noChangeArrowheads="1"/>
          </p:cNvPicPr>
          <p:nvPr/>
        </p:nvPicPr>
        <p:blipFill>
          <a:blip r:embed="rId11"/>
          <a:srcRect l="36856" t="38512" r="44231" b="32655"/>
          <a:stretch>
            <a:fillRect/>
          </a:stretch>
        </p:blipFill>
        <p:spPr bwMode="auto">
          <a:xfrm>
            <a:off x="7739063" y="4341814"/>
            <a:ext cx="1973262" cy="22558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6672" name="Text Box 15"/>
          <p:cNvSpPr txBox="1">
            <a:spLocks noChangeArrowheads="1"/>
          </p:cNvSpPr>
          <p:nvPr/>
        </p:nvSpPr>
        <p:spPr bwMode="auto">
          <a:xfrm>
            <a:off x="1608931" y="1571344"/>
            <a:ext cx="6699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宋体" pitchFamily="2" charset="-122"/>
              </a:rPr>
              <a:t>例：</a:t>
            </a:r>
            <a:r>
              <a:rPr kumimoji="1" lang="zh-CN" altLang="en-US" sz="2800" b="1" dirty="0"/>
              <a:t>求正六棱柱被侧垂面</a:t>
            </a:r>
            <a:r>
              <a:rPr kumimoji="1" lang="en-US" altLang="zh-CN" sz="2800" b="1" i="1" dirty="0"/>
              <a:t>P</a:t>
            </a:r>
            <a:r>
              <a:rPr kumimoji="1" lang="zh-CN" altLang="en-US" sz="2800" b="1" dirty="0"/>
              <a:t>截切后的投影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1271464" y="1007926"/>
            <a:ext cx="2994025" cy="585787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indent="266700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cs typeface="Times New Roman" pitchFamily="18" charset="0"/>
              </a:rPr>
              <a:t>棱线法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170BB4B9-5034-4A14-8593-AA5A3F9F575D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/>
      <p:bldP spid="46088" grpId="0"/>
      <p:bldP spid="46089" grpId="0"/>
      <p:bldP spid="46090" grpId="0"/>
      <p:bldP spid="46091" grpId="0"/>
      <p:bldP spid="9" grpId="0" animBg="1"/>
      <p:bldP spid="43" grpId="0" animBg="1"/>
      <p:bldP spid="44" grpId="0" animBg="1"/>
      <p:bldP spid="48" grpId="0" animBg="1"/>
      <p:bldP spid="49" grpId="0" animBg="1"/>
      <p:bldP spid="52" grpId="0" animBg="1"/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1811339" y="1627189"/>
            <a:ext cx="8588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/>
              <a:t>例：求正六棱柱被正垂面</a:t>
            </a:r>
            <a:r>
              <a:rPr kumimoji="1" lang="en-US" altLang="zh-CN" sz="2800" b="1" i="1"/>
              <a:t>P</a:t>
            </a:r>
            <a:r>
              <a:rPr kumimoji="1" lang="zh-CN" altLang="en-US" sz="2800" b="1"/>
              <a:t>和侧平面</a:t>
            </a:r>
            <a:r>
              <a:rPr kumimoji="1" lang="en-US" altLang="zh-CN" sz="2800" b="1" i="1"/>
              <a:t>Q</a:t>
            </a:r>
            <a:r>
              <a:rPr kumimoji="1" lang="zh-CN" altLang="en-US" sz="2800" b="1"/>
              <a:t>截切后的投影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564892" y="2357447"/>
            <a:ext cx="3749675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 dirty="0">
                <a:solidFill>
                  <a:srgbClr val="FF0066"/>
                </a:solidFill>
              </a:rPr>
              <a:t>分析：</a:t>
            </a:r>
            <a:r>
              <a:rPr kumimoji="1" lang="zh-CN" altLang="en-US" sz="2800" b="1" dirty="0"/>
              <a:t>截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平面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P</a:t>
            </a:r>
            <a:r>
              <a:rPr kumimoji="1" lang="zh-CN" altLang="en-US" sz="2800" b="1" dirty="0"/>
              <a:t>只与五条棱线相交，所得交点投影可以用棱线法求出。</a:t>
            </a:r>
          </a:p>
          <a:p>
            <a:pPr eaLnBrk="1" hangingPunct="1"/>
            <a:r>
              <a:rPr kumimoji="1" lang="zh-CN" altLang="en-US" sz="2800" b="1" dirty="0"/>
              <a:t>       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截平面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P</a:t>
            </a:r>
            <a:r>
              <a:rPr kumimoji="1" lang="zh-CN" altLang="en-US" sz="2800" b="1" i="1" dirty="0">
                <a:solidFill>
                  <a:srgbClr val="FF0000"/>
                </a:solidFill>
              </a:rPr>
              <a:t>、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Q</a:t>
            </a:r>
            <a:r>
              <a:rPr kumimoji="1" lang="zh-CN" altLang="en-US" sz="2800" b="1" dirty="0"/>
              <a:t>均与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两棱面相交</a:t>
            </a:r>
            <a:r>
              <a:rPr kumimoji="1" lang="zh-CN" altLang="en-US" sz="2800" b="1" dirty="0"/>
              <a:t>，因此点</a:t>
            </a:r>
            <a:r>
              <a:rPr kumimoji="1" lang="en-US" altLang="zh-CN" sz="2800" b="1" dirty="0"/>
              <a:t>Ⅰ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Ⅱ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Ⅲ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Ⅳ</a:t>
            </a:r>
            <a:r>
              <a:rPr kumimoji="1" lang="zh-CN" altLang="en-US" sz="2800" b="1" dirty="0"/>
              <a:t>的投影须用棱面法求出。</a:t>
            </a:r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/>
          <a:srcRect l="7980" t="17496" r="48433" b="21259"/>
          <a:stretch>
            <a:fillRect/>
          </a:stretch>
        </p:blipFill>
        <p:spPr bwMode="auto">
          <a:xfrm>
            <a:off x="6022976" y="2151064"/>
            <a:ext cx="4176713" cy="44021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579564" y="961123"/>
            <a:ext cx="2081212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棱面法</a:t>
            </a:r>
          </a:p>
        </p:txBody>
      </p:sp>
      <p:pic>
        <p:nvPicPr>
          <p:cNvPr id="27657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2976" y="2187576"/>
            <a:ext cx="4079875" cy="44180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517BB2F-03B0-47B8-820D-FFA84B3B314B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1484484" y="2041563"/>
            <a:ext cx="3695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rgbClr val="FF0066"/>
                </a:solidFill>
              </a:rPr>
              <a:t> </a:t>
            </a:r>
            <a:r>
              <a:rPr kumimoji="1" lang="zh-CN" altLang="en-US" sz="2800" b="1" dirty="0">
                <a:solidFill>
                  <a:srgbClr val="FF0066"/>
                </a:solidFill>
              </a:rPr>
              <a:t>作图过程： </a:t>
            </a:r>
          </a:p>
        </p:txBody>
      </p:sp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2"/>
          <a:srcRect l="7980" t="17496" r="48433" b="21259"/>
          <a:stretch>
            <a:fillRect/>
          </a:stretch>
        </p:blipFill>
        <p:spPr bwMode="auto">
          <a:xfrm>
            <a:off x="6483351" y="2447925"/>
            <a:ext cx="4176713" cy="44021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8820150" y="2667000"/>
            <a:ext cx="1423988" cy="1570038"/>
          </a:xfrm>
          <a:prstGeom prst="rect">
            <a:avLst/>
          </a:prstGeom>
          <a:solidFill>
            <a:schemeClr val="bg1">
              <a:alpha val="0"/>
            </a:schemeClr>
          </a:solidFill>
          <a:ln w="412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18" name="直接连接符 17"/>
          <p:cNvCxnSpPr>
            <a:cxnSpLocks noChangeShapeType="1"/>
            <a:stCxn id="14" idx="0"/>
            <a:endCxn id="14" idx="2"/>
          </p:cNvCxnSpPr>
          <p:nvPr/>
        </p:nvCxnSpPr>
        <p:spPr bwMode="auto">
          <a:xfrm rot="16200000" flipH="1">
            <a:off x="8747125" y="3451225"/>
            <a:ext cx="1570038" cy="1588"/>
          </a:xfrm>
          <a:prstGeom prst="line">
            <a:avLst/>
          </a:prstGeom>
          <a:noFill/>
          <a:ln w="412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603375" y="3578225"/>
            <a:ext cx="42735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b="1" dirty="0"/>
              <a:t>2. </a:t>
            </a:r>
            <a:r>
              <a:rPr kumimoji="1" lang="zh-CN" altLang="en-US" sz="2800" b="1" dirty="0"/>
              <a:t>在正面投影中标出截交线上各点的投影。</a:t>
            </a:r>
          </a:p>
        </p:txBody>
      </p:sp>
      <p:sp>
        <p:nvSpPr>
          <p:cNvPr id="20" name="流程图: 联系 19"/>
          <p:cNvSpPr>
            <a:spLocks noChangeArrowheads="1"/>
          </p:cNvSpPr>
          <p:nvPr/>
        </p:nvSpPr>
        <p:spPr bwMode="auto">
          <a:xfrm>
            <a:off x="6958014" y="339725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2" name="流程图: 联系 21"/>
          <p:cNvSpPr>
            <a:spLocks noChangeArrowheads="1"/>
          </p:cNvSpPr>
          <p:nvPr/>
        </p:nvSpPr>
        <p:spPr bwMode="auto">
          <a:xfrm>
            <a:off x="7834314" y="2630489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3" name="流程图: 联系 22"/>
          <p:cNvSpPr>
            <a:spLocks noChangeArrowheads="1"/>
          </p:cNvSpPr>
          <p:nvPr/>
        </p:nvSpPr>
        <p:spPr bwMode="auto">
          <a:xfrm>
            <a:off x="6629401" y="35798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4" name="流程图: 联系 23"/>
          <p:cNvSpPr>
            <a:spLocks noChangeArrowheads="1"/>
          </p:cNvSpPr>
          <p:nvPr/>
        </p:nvSpPr>
        <p:spPr bwMode="auto">
          <a:xfrm>
            <a:off x="7834314" y="2886076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5" name="流程图: 联系 24"/>
          <p:cNvSpPr>
            <a:spLocks noChangeArrowheads="1"/>
          </p:cNvSpPr>
          <p:nvPr/>
        </p:nvSpPr>
        <p:spPr bwMode="auto">
          <a:xfrm>
            <a:off x="7688264" y="29956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1592263" y="4493799"/>
            <a:ext cx="4344989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b="1" dirty="0"/>
              <a:t>3. </a:t>
            </a:r>
            <a:r>
              <a:rPr kumimoji="1" lang="zh-CN" altLang="en-US" sz="2800" b="1" dirty="0"/>
              <a:t>求出各点的水平投影。和侧面投影。</a:t>
            </a:r>
          </a:p>
        </p:txBody>
      </p:sp>
      <p:cxnSp>
        <p:nvCxnSpPr>
          <p:cNvPr id="28" name="直接连接符 27"/>
          <p:cNvCxnSpPr>
            <a:cxnSpLocks noChangeShapeType="1"/>
          </p:cNvCxnSpPr>
          <p:nvPr/>
        </p:nvCxnSpPr>
        <p:spPr bwMode="auto">
          <a:xfrm rot="5400000">
            <a:off x="6355557" y="4474369"/>
            <a:ext cx="3032125" cy="1588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30" name="直接连接符 29"/>
          <p:cNvCxnSpPr>
            <a:cxnSpLocks noChangeShapeType="1"/>
          </p:cNvCxnSpPr>
          <p:nvPr/>
        </p:nvCxnSpPr>
        <p:spPr bwMode="auto">
          <a:xfrm rot="5400000">
            <a:off x="5644357" y="4637882"/>
            <a:ext cx="2044700" cy="1587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33" name="直接连接符 32"/>
          <p:cNvCxnSpPr>
            <a:cxnSpLocks noChangeShapeType="1"/>
            <a:stCxn id="23" idx="2"/>
          </p:cNvCxnSpPr>
          <p:nvPr/>
        </p:nvCxnSpPr>
        <p:spPr bwMode="auto">
          <a:xfrm rot="10800000" flipH="1" flipV="1">
            <a:off x="6629400" y="3616325"/>
            <a:ext cx="2884488" cy="0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35" name="流程图: 联系 34"/>
          <p:cNvSpPr>
            <a:spLocks noChangeArrowheads="1"/>
          </p:cNvSpPr>
          <p:nvPr/>
        </p:nvSpPr>
        <p:spPr bwMode="auto">
          <a:xfrm>
            <a:off x="9513889" y="35798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38" name="直接连接符 37"/>
          <p:cNvCxnSpPr>
            <a:cxnSpLocks noChangeShapeType="1"/>
          </p:cNvCxnSpPr>
          <p:nvPr/>
        </p:nvCxnSpPr>
        <p:spPr bwMode="auto">
          <a:xfrm rot="5400000">
            <a:off x="5571332" y="4856957"/>
            <a:ext cx="2847975" cy="1588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40" name="直接连接符 39"/>
          <p:cNvCxnSpPr>
            <a:cxnSpLocks noChangeShapeType="1"/>
            <a:endCxn id="14" idx="3"/>
          </p:cNvCxnSpPr>
          <p:nvPr/>
        </p:nvCxnSpPr>
        <p:spPr bwMode="auto">
          <a:xfrm>
            <a:off x="6994526" y="3433763"/>
            <a:ext cx="3249613" cy="17462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43" name="流程图: 联系 42"/>
          <p:cNvSpPr>
            <a:spLocks noChangeArrowheads="1"/>
          </p:cNvSpPr>
          <p:nvPr/>
        </p:nvSpPr>
        <p:spPr bwMode="auto">
          <a:xfrm>
            <a:off x="10207626" y="339725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4" name="流程图: 联系 43"/>
          <p:cNvSpPr>
            <a:spLocks noChangeArrowheads="1"/>
          </p:cNvSpPr>
          <p:nvPr/>
        </p:nvSpPr>
        <p:spPr bwMode="auto">
          <a:xfrm>
            <a:off x="8783639" y="339725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5400000">
            <a:off x="6100763" y="4656138"/>
            <a:ext cx="3249613" cy="1588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>
            <a:off x="7696200" y="3032125"/>
            <a:ext cx="2547938" cy="1588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49" name="流程图: 联系 48"/>
          <p:cNvSpPr>
            <a:spLocks noChangeArrowheads="1"/>
          </p:cNvSpPr>
          <p:nvPr/>
        </p:nvSpPr>
        <p:spPr bwMode="auto">
          <a:xfrm>
            <a:off x="10207626" y="29956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50" name="流程图: 联系 49"/>
          <p:cNvSpPr>
            <a:spLocks noChangeArrowheads="1"/>
          </p:cNvSpPr>
          <p:nvPr/>
        </p:nvSpPr>
        <p:spPr bwMode="auto">
          <a:xfrm>
            <a:off x="8783639" y="29956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>
            <a:off x="7870826" y="2922589"/>
            <a:ext cx="2373313" cy="1587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54" name="直接连接符 53"/>
          <p:cNvCxnSpPr>
            <a:cxnSpLocks noChangeShapeType="1"/>
          </p:cNvCxnSpPr>
          <p:nvPr/>
        </p:nvCxnSpPr>
        <p:spPr bwMode="auto">
          <a:xfrm rot="5400000" flipH="1" flipV="1">
            <a:off x="7543007" y="5661819"/>
            <a:ext cx="657225" cy="1588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5" name="直接连接符 54"/>
          <p:cNvCxnSpPr>
            <a:cxnSpLocks noChangeShapeType="1"/>
          </p:cNvCxnSpPr>
          <p:nvPr/>
        </p:nvCxnSpPr>
        <p:spPr bwMode="auto">
          <a:xfrm>
            <a:off x="9185275" y="2922589"/>
            <a:ext cx="730250" cy="1587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60" name="直接连接符 59"/>
          <p:cNvCxnSpPr>
            <a:cxnSpLocks noChangeShapeType="1"/>
          </p:cNvCxnSpPr>
          <p:nvPr/>
        </p:nvCxnSpPr>
        <p:spPr bwMode="auto">
          <a:xfrm>
            <a:off x="9185275" y="2667000"/>
            <a:ext cx="730250" cy="1588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63" name="直接连接符 62"/>
          <p:cNvCxnSpPr>
            <a:cxnSpLocks noChangeShapeType="1"/>
          </p:cNvCxnSpPr>
          <p:nvPr/>
        </p:nvCxnSpPr>
        <p:spPr bwMode="auto">
          <a:xfrm rot="5400000">
            <a:off x="9058275" y="2794000"/>
            <a:ext cx="255588" cy="1588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64" name="直接连接符 63"/>
          <p:cNvCxnSpPr>
            <a:cxnSpLocks noChangeShapeType="1"/>
          </p:cNvCxnSpPr>
          <p:nvPr/>
        </p:nvCxnSpPr>
        <p:spPr bwMode="auto">
          <a:xfrm rot="5400000">
            <a:off x="9752013" y="2794001"/>
            <a:ext cx="255588" cy="1587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65" name="直接连接符 64"/>
          <p:cNvCxnSpPr>
            <a:cxnSpLocks noChangeShapeType="1"/>
            <a:endCxn id="50" idx="2"/>
          </p:cNvCxnSpPr>
          <p:nvPr/>
        </p:nvCxnSpPr>
        <p:spPr bwMode="auto">
          <a:xfrm rot="10800000" flipV="1">
            <a:off x="8783639" y="2922589"/>
            <a:ext cx="403225" cy="109537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67" name="直接连接符 66"/>
          <p:cNvCxnSpPr>
            <a:cxnSpLocks noChangeShapeType="1"/>
            <a:endCxn id="44" idx="4"/>
          </p:cNvCxnSpPr>
          <p:nvPr/>
        </p:nvCxnSpPr>
        <p:spPr bwMode="auto">
          <a:xfrm rot="5400000">
            <a:off x="8601869" y="3250406"/>
            <a:ext cx="438150" cy="1588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68" name="直接连接符 67"/>
          <p:cNvCxnSpPr>
            <a:cxnSpLocks noChangeShapeType="1"/>
            <a:endCxn id="35" idx="2"/>
          </p:cNvCxnSpPr>
          <p:nvPr/>
        </p:nvCxnSpPr>
        <p:spPr bwMode="auto">
          <a:xfrm>
            <a:off x="8821738" y="3433763"/>
            <a:ext cx="692150" cy="182562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69" name="直接连接符 68"/>
          <p:cNvCxnSpPr>
            <a:cxnSpLocks noChangeShapeType="1"/>
            <a:stCxn id="43" idx="6"/>
          </p:cNvCxnSpPr>
          <p:nvPr/>
        </p:nvCxnSpPr>
        <p:spPr bwMode="auto">
          <a:xfrm flipH="1">
            <a:off x="9550400" y="3433763"/>
            <a:ext cx="730250" cy="201612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75" name="直接连接符 74"/>
          <p:cNvCxnSpPr>
            <a:cxnSpLocks noChangeShapeType="1"/>
            <a:stCxn id="49" idx="0"/>
          </p:cNvCxnSpPr>
          <p:nvPr/>
        </p:nvCxnSpPr>
        <p:spPr bwMode="auto">
          <a:xfrm rot="16200000" flipH="1">
            <a:off x="10016332" y="3223420"/>
            <a:ext cx="457200" cy="1587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78" name="直接连接符 77"/>
          <p:cNvCxnSpPr>
            <a:cxnSpLocks noChangeShapeType="1"/>
            <a:endCxn id="49" idx="5"/>
          </p:cNvCxnSpPr>
          <p:nvPr/>
        </p:nvCxnSpPr>
        <p:spPr bwMode="auto">
          <a:xfrm>
            <a:off x="9879014" y="2922589"/>
            <a:ext cx="390525" cy="134937"/>
          </a:xfrm>
          <a:prstGeom prst="line">
            <a:avLst/>
          </a:prstGeom>
          <a:noFill/>
          <a:ln w="44450" algn="ctr">
            <a:solidFill>
              <a:srgbClr val="7030A0"/>
            </a:solidFill>
            <a:round/>
            <a:headEnd/>
            <a:tailEnd/>
          </a:ln>
        </p:spPr>
      </p:cxnSp>
      <p:sp>
        <p:nvSpPr>
          <p:cNvPr id="83" name="Text Box 11"/>
          <p:cNvSpPr txBox="1">
            <a:spLocks noChangeArrowheads="1"/>
          </p:cNvSpPr>
          <p:nvPr/>
        </p:nvSpPr>
        <p:spPr bwMode="auto">
          <a:xfrm>
            <a:off x="1577977" y="6019801"/>
            <a:ext cx="4162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/>
              <a:t>5. </a:t>
            </a:r>
            <a:r>
              <a:rPr kumimoji="1" lang="zh-CN" altLang="en-US" sz="2800" b="1"/>
              <a:t>判断可见性，整理轮廓。</a:t>
            </a:r>
          </a:p>
        </p:txBody>
      </p:sp>
      <p:cxnSp>
        <p:nvCxnSpPr>
          <p:cNvPr id="96" name="直接连接符 95"/>
          <p:cNvCxnSpPr>
            <a:cxnSpLocks noChangeShapeType="1"/>
            <a:stCxn id="14" idx="0"/>
          </p:cNvCxnSpPr>
          <p:nvPr/>
        </p:nvCxnSpPr>
        <p:spPr bwMode="auto">
          <a:xfrm rot="16200000" flipH="1">
            <a:off x="9044782" y="3153569"/>
            <a:ext cx="977900" cy="4763"/>
          </a:xfrm>
          <a:prstGeom prst="line">
            <a:avLst/>
          </a:prstGeom>
          <a:noFill/>
          <a:ln w="63500" algn="ctr">
            <a:solidFill>
              <a:schemeClr val="accent3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100" name="直接连接符 99"/>
          <p:cNvCxnSpPr>
            <a:cxnSpLocks noChangeShapeType="1"/>
          </p:cNvCxnSpPr>
          <p:nvPr/>
        </p:nvCxnSpPr>
        <p:spPr bwMode="auto">
          <a:xfrm rot="16200000" flipH="1">
            <a:off x="9037638" y="3151188"/>
            <a:ext cx="990600" cy="9525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</p:spPr>
      </p:cxnSp>
      <p:sp>
        <p:nvSpPr>
          <p:cNvPr id="61" name="Text Box 9"/>
          <p:cNvSpPr txBox="1">
            <a:spLocks noChangeArrowheads="1"/>
          </p:cNvSpPr>
          <p:nvPr/>
        </p:nvSpPr>
        <p:spPr bwMode="auto">
          <a:xfrm>
            <a:off x="1576658" y="5388767"/>
            <a:ext cx="4454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 dirty="0"/>
              <a:t>4. </a:t>
            </a:r>
            <a:r>
              <a:rPr kumimoji="1" lang="zh-CN" altLang="en-US" sz="2800" b="1" dirty="0"/>
              <a:t>判断可见性，依次线。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04962" y="2620964"/>
            <a:ext cx="427196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b="1" dirty="0"/>
              <a:t>1. </a:t>
            </a:r>
            <a:r>
              <a:rPr kumimoji="1" lang="zh-CN" altLang="en-US" sz="2800" b="1" dirty="0"/>
              <a:t>用作图线画出正六棱柱截切前完整的侧面投影。</a:t>
            </a:r>
          </a:p>
        </p:txBody>
      </p:sp>
      <p:sp>
        <p:nvSpPr>
          <p:cNvPr id="28714" name="Text Box 3"/>
          <p:cNvSpPr txBox="1">
            <a:spLocks noChangeArrowheads="1"/>
          </p:cNvSpPr>
          <p:nvPr/>
        </p:nvSpPr>
        <p:spPr bwMode="auto">
          <a:xfrm>
            <a:off x="1503483" y="1532801"/>
            <a:ext cx="8588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b="1" dirty="0"/>
              <a:t>例：求正六棱柱被正垂面</a:t>
            </a:r>
            <a:r>
              <a:rPr kumimoji="1" lang="en-US" altLang="zh-CN" sz="2800" b="1" i="1" dirty="0"/>
              <a:t>P</a:t>
            </a:r>
            <a:r>
              <a:rPr kumimoji="1" lang="zh-CN" altLang="en-US" sz="2800" b="1" dirty="0"/>
              <a:t>和侧平面</a:t>
            </a:r>
            <a:r>
              <a:rPr kumimoji="1" lang="en-US" altLang="zh-CN" sz="2800" b="1" i="1" dirty="0"/>
              <a:t>Q</a:t>
            </a:r>
            <a:r>
              <a:rPr kumimoji="1" lang="zh-CN" altLang="en-US" sz="2800" b="1" dirty="0"/>
              <a:t>截切后的投影</a:t>
            </a:r>
          </a:p>
        </p:txBody>
      </p:sp>
      <p:sp>
        <p:nvSpPr>
          <p:cNvPr id="48" name="矩形 47"/>
          <p:cNvSpPr/>
          <p:nvPr/>
        </p:nvSpPr>
        <p:spPr>
          <a:xfrm>
            <a:off x="1499055" y="945358"/>
            <a:ext cx="2081212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棱面法</a:t>
            </a:r>
          </a:p>
        </p:txBody>
      </p:sp>
      <p:pic>
        <p:nvPicPr>
          <p:cNvPr id="28721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70625" y="2443164"/>
            <a:ext cx="4279900" cy="44148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2" name="Rectangle 2">
            <a:extLst>
              <a:ext uri="{FF2B5EF4-FFF2-40B4-BE49-F238E27FC236}">
                <a16:creationId xmlns:a16="http://schemas.microsoft.com/office/drawing/2014/main" id="{20823A6F-3CB1-44FC-B4DB-4E5E2636850F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/>
      <p:bldP spid="20" grpId="0" animBg="1"/>
      <p:bldP spid="22" grpId="0" animBg="1"/>
      <p:bldP spid="23" grpId="0" animBg="1"/>
      <p:bldP spid="24" grpId="0" animBg="1"/>
      <p:bldP spid="25" grpId="0" animBg="1"/>
      <p:bldP spid="26" grpId="0"/>
      <p:bldP spid="35" grpId="0" animBg="1"/>
      <p:bldP spid="43" grpId="0" animBg="1"/>
      <p:bldP spid="44" grpId="0" animBg="1"/>
      <p:bldP spid="49" grpId="0" animBg="1"/>
      <p:bldP spid="50" grpId="0" animBg="1"/>
      <p:bldP spid="83" grpId="0"/>
      <p:bldP spid="61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2511" y="850352"/>
            <a:ext cx="7315200" cy="15700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平面截切几何体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，其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截交线的基本性质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是：</a:t>
            </a:r>
            <a:endParaRPr lang="zh-CN" altLang="en-US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597907" y="2492896"/>
            <a:ext cx="68834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截交线既在截平面上，又在几何体表面上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597908" y="3350146"/>
            <a:ext cx="4759325" cy="71278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一般都是封闭的平面图形。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597907" y="4207396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截交线的形式取决于几何体表面的形状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29702" name="文本框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97907" y="5064646"/>
            <a:ext cx="71882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zh-CN" sz="2400">
                <a:latin typeface="黑体" pitchFamily="49" charset="-122"/>
                <a:ea typeface="黑体" pitchFamily="49" charset="-122"/>
              </a:rPr>
              <a:t>截交线的形式取决于截平面与几何体的相对位置。</a:t>
            </a:r>
          </a:p>
        </p:txBody>
      </p:sp>
      <p:sp>
        <p:nvSpPr>
          <p:cNvPr id="29703" name="矩形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83532" y="2556395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29704" name="矩形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883532" y="3413645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29705" name="矩形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883532" y="4270895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29706" name="矩形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883532" y="5128145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29707" name="圆角矩形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29708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29710" name="TitleBackground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29711" name="ColorBlock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2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9709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A2BF025-D90E-462B-99CB-004E1D029B70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auto"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rtlCol="0" anchor="ctr" anchorCtr="1">
            <a:noAutofit/>
          </a:bodyPr>
          <a:lstStyle/>
          <a:p>
            <a:pPr marL="457200" indent="-457200" eaLnBrk="1" hangingPunct="1"/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250978" y="1313434"/>
            <a:ext cx="47164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</a:rPr>
              <a:t>棱锥的截切构型及其投影</a:t>
            </a:r>
            <a:endParaRPr kumimoji="1"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079526" y="1897634"/>
            <a:ext cx="5617071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 dirty="0"/>
              <a:t>例：求作带切口的正三棱锥的投影。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/>
          <a:srcRect l="9187" t="14005" r="51486" b="21402"/>
          <a:stretch>
            <a:fillRect/>
          </a:stretch>
        </p:blipFill>
        <p:spPr bwMode="auto">
          <a:xfrm>
            <a:off x="7196111" y="1644816"/>
            <a:ext cx="3916363" cy="48244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214465" y="2771332"/>
            <a:ext cx="5482132" cy="310854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 dirty="0">
                <a:solidFill>
                  <a:srgbClr val="FF0066"/>
                </a:solidFill>
              </a:rPr>
              <a:t>分析：</a:t>
            </a:r>
          </a:p>
          <a:p>
            <a:pPr eaLnBrk="1" hangingPunct="1"/>
            <a:r>
              <a:rPr kumimoji="1" lang="zh-CN" altLang="en-US" sz="2800" b="1" dirty="0"/>
              <a:t>水平面</a:t>
            </a:r>
            <a:r>
              <a:rPr kumimoji="1" lang="en-US" altLang="zh-CN" sz="2800" b="1" i="1" dirty="0"/>
              <a:t>P</a:t>
            </a:r>
            <a:r>
              <a:rPr kumimoji="1" lang="zh-CN" altLang="en-US" sz="2800" b="1" dirty="0"/>
              <a:t>与棱线</a:t>
            </a:r>
            <a:r>
              <a:rPr kumimoji="1" lang="en-US" altLang="zh-CN" sz="2800" b="1" i="1" dirty="0"/>
              <a:t>SA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i="1" dirty="0"/>
              <a:t>SB</a:t>
            </a:r>
            <a:r>
              <a:rPr kumimoji="1" lang="zh-CN" altLang="en-US" sz="2800" b="1" dirty="0"/>
              <a:t>分别相交于点</a:t>
            </a:r>
            <a:r>
              <a:rPr kumimoji="1" lang="en-US" altLang="zh-CN" sz="2800" b="1" dirty="0"/>
              <a:t>Ⅵ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Ⅴ</a:t>
            </a:r>
            <a:r>
              <a:rPr kumimoji="1" lang="zh-CN" altLang="en-US" sz="2800" b="1" dirty="0"/>
              <a:t>，与棱面</a:t>
            </a:r>
            <a:r>
              <a:rPr kumimoji="1" lang="en-US" altLang="zh-CN" sz="2800" b="1" i="1" dirty="0"/>
              <a:t>SAC</a:t>
            </a:r>
            <a:r>
              <a:rPr kumimoji="1" lang="zh-CN" altLang="en-US" sz="2800" b="1" i="1" dirty="0"/>
              <a:t>、</a:t>
            </a:r>
            <a:r>
              <a:rPr kumimoji="1" lang="en-US" altLang="zh-CN" sz="2800" b="1" i="1" dirty="0"/>
              <a:t>SAB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i="1" dirty="0"/>
              <a:t>SBC</a:t>
            </a:r>
            <a:r>
              <a:rPr kumimoji="1" lang="zh-CN" altLang="en-US" sz="2800" b="1" dirty="0"/>
              <a:t>相交；正垂面</a:t>
            </a:r>
            <a:r>
              <a:rPr kumimoji="1" lang="en-US" altLang="zh-CN" sz="2800" b="1" i="1" dirty="0"/>
              <a:t>Q</a:t>
            </a:r>
            <a:r>
              <a:rPr kumimoji="1" lang="zh-CN" altLang="en-US" sz="2800" b="1" dirty="0"/>
              <a:t>与棱线</a:t>
            </a:r>
            <a:r>
              <a:rPr kumimoji="1" lang="en-US" altLang="zh-CN" sz="2800" b="1" i="1" dirty="0"/>
              <a:t>SA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i="1" dirty="0"/>
              <a:t>SB</a:t>
            </a:r>
            <a:r>
              <a:rPr kumimoji="1" lang="zh-CN" altLang="en-US" sz="2800" b="1" dirty="0"/>
              <a:t>分别相交于点</a:t>
            </a:r>
            <a:r>
              <a:rPr kumimoji="1" lang="en-US" altLang="zh-CN" sz="2800" b="1" dirty="0"/>
              <a:t>Ⅰ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Ⅱ</a:t>
            </a:r>
            <a:r>
              <a:rPr kumimoji="1" lang="zh-CN" altLang="en-US" sz="2800" b="1" dirty="0"/>
              <a:t>，与棱面</a:t>
            </a:r>
            <a:r>
              <a:rPr kumimoji="1" lang="en-US" altLang="zh-CN" sz="2800" b="1" i="1" dirty="0"/>
              <a:t>SAC</a:t>
            </a:r>
            <a:r>
              <a:rPr kumimoji="1" lang="zh-CN" altLang="en-US" sz="2800" b="1" i="1" dirty="0"/>
              <a:t>、</a:t>
            </a:r>
            <a:r>
              <a:rPr kumimoji="1" lang="en-US" altLang="zh-CN" sz="2800" b="1" i="1" dirty="0"/>
              <a:t>SAB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i="1" dirty="0"/>
              <a:t>SBC</a:t>
            </a:r>
            <a:r>
              <a:rPr kumimoji="1" lang="zh-CN" altLang="en-US" sz="2800" b="1" dirty="0"/>
              <a:t>相交；两截平面的交线</a:t>
            </a:r>
            <a:r>
              <a:rPr kumimoji="1" lang="en-US" altLang="zh-CN" sz="2800" b="1" dirty="0"/>
              <a:t>Ⅲ Ⅳ</a:t>
            </a:r>
            <a:r>
              <a:rPr kumimoji="1" lang="zh-CN" altLang="en-US" sz="2800" b="1" dirty="0"/>
              <a:t>为正垂线。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A2283F-8CE5-4750-ADCE-420E97FE4523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1" grpId="0"/>
      <p:bldP spid="430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307468" y="1261855"/>
            <a:ext cx="2665412" cy="584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3200" b="1" dirty="0">
                <a:solidFill>
                  <a:srgbClr val="FF0066"/>
                </a:solidFill>
              </a:rPr>
              <a:t> </a:t>
            </a:r>
            <a:r>
              <a:rPr kumimoji="1" lang="zh-CN" altLang="en-US" sz="3200" b="1" dirty="0">
                <a:solidFill>
                  <a:srgbClr val="FF0066"/>
                </a:solidFill>
              </a:rPr>
              <a:t>作图过程：</a:t>
            </a:r>
          </a:p>
        </p:txBody>
      </p:sp>
      <p:pic>
        <p:nvPicPr>
          <p:cNvPr id="31747" name="Picture 4"/>
          <p:cNvPicPr>
            <a:picLocks noChangeAspect="1" noChangeArrowheads="1"/>
          </p:cNvPicPr>
          <p:nvPr/>
        </p:nvPicPr>
        <p:blipFill>
          <a:blip r:embed="rId5"/>
          <a:srcRect l="9187" t="14005" r="51486" b="21402"/>
          <a:stretch>
            <a:fillRect/>
          </a:stretch>
        </p:blipFill>
        <p:spPr bwMode="auto">
          <a:xfrm>
            <a:off x="6353176" y="1763713"/>
            <a:ext cx="3916363" cy="48244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453560" y="1956494"/>
            <a:ext cx="3943350" cy="9461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 dirty="0"/>
              <a:t>1.</a:t>
            </a:r>
            <a:r>
              <a:rPr kumimoji="1" lang="zh-CN" altLang="en-US" sz="2800" b="1" dirty="0"/>
              <a:t>用作图线画出正三棱锥的侧面投影。</a:t>
            </a:r>
          </a:p>
        </p:txBody>
      </p:sp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 rot="10800000" flipH="1">
            <a:off x="8483601" y="3697289"/>
            <a:ext cx="1643063" cy="1587"/>
          </a:xfrm>
          <a:prstGeom prst="line">
            <a:avLst/>
          </a:prstGeom>
          <a:noFill/>
          <a:ln w="412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 rot="16200000" flipV="1">
            <a:off x="6554788" y="5143500"/>
            <a:ext cx="1371600" cy="1905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rot="5400000">
            <a:off x="7023894" y="4683919"/>
            <a:ext cx="438150" cy="1588"/>
          </a:xfrm>
          <a:prstGeom prst="line">
            <a:avLst/>
          </a:prstGeom>
          <a:noFill/>
          <a:ln w="412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rot="10800000" flipH="1">
            <a:off x="8483600" y="3697289"/>
            <a:ext cx="547688" cy="1587"/>
          </a:xfrm>
          <a:prstGeom prst="line">
            <a:avLst/>
          </a:prstGeom>
          <a:noFill/>
          <a:ln w="412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2" name="直接连接符 21"/>
          <p:cNvCxnSpPr>
            <a:cxnSpLocks noChangeShapeType="1"/>
          </p:cNvCxnSpPr>
          <p:nvPr/>
        </p:nvCxnSpPr>
        <p:spPr bwMode="auto">
          <a:xfrm rot="5400000" flipH="1" flipV="1">
            <a:off x="8043070" y="2724945"/>
            <a:ext cx="1952625" cy="1587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>
            <a:off x="7242176" y="1981200"/>
            <a:ext cx="1789113" cy="1588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 rot="5400000">
            <a:off x="7899400" y="2565400"/>
            <a:ext cx="1716088" cy="547688"/>
          </a:xfrm>
          <a:prstGeom prst="line">
            <a:avLst/>
          </a:prstGeom>
          <a:noFill/>
          <a:ln w="444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 rot="16200000" flipH="1">
            <a:off x="8720932" y="2291557"/>
            <a:ext cx="1716088" cy="1095375"/>
          </a:xfrm>
          <a:prstGeom prst="line">
            <a:avLst/>
          </a:prstGeom>
          <a:noFill/>
          <a:ln w="4445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1525310" y="2894014"/>
            <a:ext cx="4016375" cy="13731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 dirty="0"/>
              <a:t>2.</a:t>
            </a:r>
            <a:r>
              <a:rPr kumimoji="1" lang="zh-CN" altLang="en-US" sz="2800" b="1" dirty="0"/>
              <a:t>在正面投影中标出截交线上各点的投影</a:t>
            </a:r>
            <a:r>
              <a:rPr kumimoji="1" lang="en-US" altLang="zh-CN" sz="2800" b="1" dirty="0"/>
              <a:t>1′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2′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3′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4′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5′</a:t>
            </a:r>
            <a:r>
              <a:rPr kumimoji="1" lang="zh-CN" altLang="en-US" sz="2800" b="1" dirty="0"/>
              <a:t>、</a:t>
            </a:r>
            <a:r>
              <a:rPr kumimoji="1" lang="en-US" altLang="zh-CN" sz="2800" b="1" dirty="0"/>
              <a:t>6′</a:t>
            </a:r>
            <a:r>
              <a:rPr kumimoji="1" lang="zh-CN" altLang="en-US" sz="2800" b="1" dirty="0"/>
              <a:t>。</a:t>
            </a:r>
          </a:p>
        </p:txBody>
      </p:sp>
      <p:sp>
        <p:nvSpPr>
          <p:cNvPr id="30" name="流程图: 联系 29"/>
          <p:cNvSpPr>
            <a:spLocks noChangeArrowheads="1"/>
          </p:cNvSpPr>
          <p:nvPr/>
        </p:nvSpPr>
        <p:spPr bwMode="auto">
          <a:xfrm>
            <a:off x="6950076" y="256540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1" name="流程图: 联系 30"/>
          <p:cNvSpPr>
            <a:spLocks noChangeArrowheads="1"/>
          </p:cNvSpPr>
          <p:nvPr/>
        </p:nvSpPr>
        <p:spPr bwMode="auto">
          <a:xfrm>
            <a:off x="7205664" y="2820989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流程图: 联系 31"/>
          <p:cNvSpPr>
            <a:spLocks noChangeArrowheads="1"/>
          </p:cNvSpPr>
          <p:nvPr/>
        </p:nvSpPr>
        <p:spPr bwMode="auto">
          <a:xfrm>
            <a:off x="7570789" y="31861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流程图: 联系 32"/>
          <p:cNvSpPr>
            <a:spLocks noChangeArrowheads="1"/>
          </p:cNvSpPr>
          <p:nvPr/>
        </p:nvSpPr>
        <p:spPr bwMode="auto">
          <a:xfrm>
            <a:off x="7205664" y="31861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4" name="流程图: 联系 33"/>
          <p:cNvSpPr>
            <a:spLocks noChangeArrowheads="1"/>
          </p:cNvSpPr>
          <p:nvPr/>
        </p:nvSpPr>
        <p:spPr bwMode="auto">
          <a:xfrm>
            <a:off x="6657976" y="31861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1518326" y="4284664"/>
            <a:ext cx="3687762" cy="9461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 dirty="0"/>
              <a:t>3.</a:t>
            </a:r>
            <a:r>
              <a:rPr kumimoji="1" lang="zh-CN" altLang="en-US" sz="2800" b="1" dirty="0"/>
              <a:t>求截交线上各点的水平投影和侧面投影。</a:t>
            </a:r>
          </a:p>
        </p:txBody>
      </p:sp>
      <p:cxnSp>
        <p:nvCxnSpPr>
          <p:cNvPr id="38" name="直接连接符 37"/>
          <p:cNvCxnSpPr>
            <a:cxnSpLocks noChangeShapeType="1"/>
            <a:stCxn id="30" idx="0"/>
          </p:cNvCxnSpPr>
          <p:nvPr/>
        </p:nvCxnSpPr>
        <p:spPr bwMode="auto">
          <a:xfrm rot="16200000" flipH="1">
            <a:off x="5891213" y="3660776"/>
            <a:ext cx="2192338" cy="1587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39" name="流程图: 联系 38"/>
          <p:cNvSpPr>
            <a:spLocks noChangeArrowheads="1"/>
          </p:cNvSpPr>
          <p:nvPr/>
        </p:nvSpPr>
        <p:spPr bwMode="auto">
          <a:xfrm>
            <a:off x="6950076" y="4719639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0" name="直接连接符 39"/>
          <p:cNvCxnSpPr>
            <a:cxnSpLocks noChangeShapeType="1"/>
          </p:cNvCxnSpPr>
          <p:nvPr/>
        </p:nvCxnSpPr>
        <p:spPr bwMode="auto">
          <a:xfrm flipV="1">
            <a:off x="7278689" y="2820988"/>
            <a:ext cx="2300287" cy="36512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44" name="直接连接符 43"/>
          <p:cNvCxnSpPr>
            <a:cxnSpLocks noChangeShapeType="1"/>
          </p:cNvCxnSpPr>
          <p:nvPr/>
        </p:nvCxnSpPr>
        <p:spPr bwMode="auto">
          <a:xfrm>
            <a:off x="9031289" y="2820989"/>
            <a:ext cx="547687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45" name="右大括号 44"/>
          <p:cNvSpPr>
            <a:spLocks/>
          </p:cNvSpPr>
          <p:nvPr/>
        </p:nvSpPr>
        <p:spPr bwMode="auto">
          <a:xfrm rot="5400000">
            <a:off x="9119394" y="2726532"/>
            <a:ext cx="373063" cy="546100"/>
          </a:xfrm>
          <a:prstGeom prst="rightBrace">
            <a:avLst>
              <a:gd name="adj1" fmla="val 8315"/>
              <a:gd name="adj2" fmla="val 50000"/>
            </a:avLst>
          </a:prstGeom>
          <a:solidFill>
            <a:schemeClr val="bg1">
              <a:alpha val="0"/>
            </a:schemeClr>
          </a:solidFill>
          <a:ln w="19050" algn="ctr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/>
          </a:p>
        </p:txBody>
      </p:sp>
      <p:sp>
        <p:nvSpPr>
          <p:cNvPr id="46" name="右大括号 45"/>
          <p:cNvSpPr>
            <a:spLocks/>
          </p:cNvSpPr>
          <p:nvPr/>
        </p:nvSpPr>
        <p:spPr bwMode="auto">
          <a:xfrm>
            <a:off x="7278689" y="4902200"/>
            <a:ext cx="401637" cy="547688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bg1">
              <a:alpha val="0"/>
            </a:schemeClr>
          </a:solidFill>
          <a:ln w="19050" algn="ctr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/>
          </a:p>
        </p:txBody>
      </p:sp>
      <p:sp>
        <p:nvSpPr>
          <p:cNvPr id="47" name="流程图: 联系 46"/>
          <p:cNvSpPr>
            <a:spLocks noChangeArrowheads="1"/>
          </p:cNvSpPr>
          <p:nvPr/>
        </p:nvSpPr>
        <p:spPr bwMode="auto">
          <a:xfrm>
            <a:off x="7215189" y="542290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9" name="直接连接符 48"/>
          <p:cNvCxnSpPr>
            <a:cxnSpLocks noChangeShapeType="1"/>
          </p:cNvCxnSpPr>
          <p:nvPr/>
        </p:nvCxnSpPr>
        <p:spPr bwMode="auto">
          <a:xfrm rot="16200000" flipH="1">
            <a:off x="6621463" y="2638425"/>
            <a:ext cx="1752600" cy="43815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 rot="16200000" flipH="1">
            <a:off x="7059613" y="4391025"/>
            <a:ext cx="1314450" cy="0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53" name="直接连接符 52"/>
          <p:cNvCxnSpPr>
            <a:cxnSpLocks noChangeShapeType="1"/>
          </p:cNvCxnSpPr>
          <p:nvPr/>
        </p:nvCxnSpPr>
        <p:spPr bwMode="auto">
          <a:xfrm flipV="1">
            <a:off x="6986589" y="2565401"/>
            <a:ext cx="1862137" cy="36513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55" name="流程图: 联系 54"/>
          <p:cNvSpPr>
            <a:spLocks noChangeArrowheads="1"/>
          </p:cNvSpPr>
          <p:nvPr/>
        </p:nvSpPr>
        <p:spPr bwMode="auto">
          <a:xfrm>
            <a:off x="8812214" y="2528889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6" name="流程图: 联系 55"/>
          <p:cNvSpPr>
            <a:spLocks noChangeArrowheads="1"/>
          </p:cNvSpPr>
          <p:nvPr/>
        </p:nvSpPr>
        <p:spPr bwMode="auto">
          <a:xfrm>
            <a:off x="9542464" y="2784476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58" name="直接连接符 57"/>
          <p:cNvCxnSpPr>
            <a:cxnSpLocks noChangeShapeType="1"/>
          </p:cNvCxnSpPr>
          <p:nvPr/>
        </p:nvCxnSpPr>
        <p:spPr bwMode="auto">
          <a:xfrm>
            <a:off x="7242176" y="4902200"/>
            <a:ext cx="474663" cy="109538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59" name="直接连接符 58"/>
          <p:cNvCxnSpPr>
            <a:cxnSpLocks noChangeShapeType="1"/>
          </p:cNvCxnSpPr>
          <p:nvPr/>
        </p:nvCxnSpPr>
        <p:spPr bwMode="auto">
          <a:xfrm rot="5400000">
            <a:off x="6731000" y="4098925"/>
            <a:ext cx="1754188" cy="1588"/>
          </a:xfrm>
          <a:prstGeom prst="line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61" name="流程图: 联系 60"/>
          <p:cNvSpPr>
            <a:spLocks noChangeArrowheads="1"/>
          </p:cNvSpPr>
          <p:nvPr/>
        </p:nvSpPr>
        <p:spPr bwMode="auto">
          <a:xfrm>
            <a:off x="7570789" y="493871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63" name="直接连接符 62"/>
          <p:cNvCxnSpPr>
            <a:cxnSpLocks noChangeShapeType="1"/>
            <a:endCxn id="61" idx="4"/>
          </p:cNvCxnSpPr>
          <p:nvPr/>
        </p:nvCxnSpPr>
        <p:spPr bwMode="auto">
          <a:xfrm rot="5400000">
            <a:off x="7333457" y="4737894"/>
            <a:ext cx="549275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 flipV="1">
            <a:off x="7570789" y="3186113"/>
            <a:ext cx="2300287" cy="36512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66" name="右大括号 65"/>
          <p:cNvSpPr>
            <a:spLocks/>
          </p:cNvSpPr>
          <p:nvPr/>
        </p:nvSpPr>
        <p:spPr bwMode="auto">
          <a:xfrm>
            <a:off x="7608889" y="4464051"/>
            <a:ext cx="276225" cy="498475"/>
          </a:xfrm>
          <a:prstGeom prst="rightBrace">
            <a:avLst>
              <a:gd name="adj1" fmla="val 23652"/>
              <a:gd name="adj2" fmla="val 50000"/>
            </a:avLst>
          </a:prstGeom>
          <a:solidFill>
            <a:schemeClr val="bg1">
              <a:alpha val="0"/>
            </a:schemeClr>
          </a:solidFill>
          <a:ln w="19050" algn="ctr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/>
          </a:p>
        </p:txBody>
      </p:sp>
      <p:sp>
        <p:nvSpPr>
          <p:cNvPr id="68" name="右大括号 67"/>
          <p:cNvSpPr>
            <a:spLocks/>
          </p:cNvSpPr>
          <p:nvPr/>
        </p:nvSpPr>
        <p:spPr bwMode="auto">
          <a:xfrm rot="5400000">
            <a:off x="8687595" y="3486945"/>
            <a:ext cx="242887" cy="663575"/>
          </a:xfrm>
          <a:prstGeom prst="rightBrace">
            <a:avLst>
              <a:gd name="adj1" fmla="val 31836"/>
              <a:gd name="adj2" fmla="val 50000"/>
            </a:avLst>
          </a:prstGeom>
          <a:solidFill>
            <a:schemeClr val="bg1">
              <a:alpha val="0"/>
            </a:schemeClr>
          </a:solidFill>
          <a:ln w="19050" algn="ctr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/>
          </a:p>
        </p:txBody>
      </p:sp>
      <p:cxnSp>
        <p:nvCxnSpPr>
          <p:cNvPr id="70" name="直接连接符 69"/>
          <p:cNvCxnSpPr>
            <a:cxnSpLocks noChangeShapeType="1"/>
            <a:stCxn id="68" idx="0"/>
          </p:cNvCxnSpPr>
          <p:nvPr/>
        </p:nvCxnSpPr>
        <p:spPr bwMode="auto">
          <a:xfrm rot="10800000">
            <a:off x="9140825" y="3186114"/>
            <a:ext cx="1588" cy="511175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72" name="流程图: 联系 71"/>
          <p:cNvSpPr>
            <a:spLocks noChangeArrowheads="1"/>
          </p:cNvSpPr>
          <p:nvPr/>
        </p:nvSpPr>
        <p:spPr bwMode="auto">
          <a:xfrm>
            <a:off x="9104314" y="314960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5" name="流程图: 联系 84"/>
          <p:cNvSpPr>
            <a:spLocks noChangeArrowheads="1"/>
          </p:cNvSpPr>
          <p:nvPr/>
        </p:nvSpPr>
        <p:spPr bwMode="auto">
          <a:xfrm>
            <a:off x="9761539" y="314960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87" name="直接连接符 86"/>
          <p:cNvCxnSpPr>
            <a:cxnSpLocks noChangeShapeType="1"/>
            <a:stCxn id="34" idx="0"/>
          </p:cNvCxnSpPr>
          <p:nvPr/>
        </p:nvCxnSpPr>
        <p:spPr bwMode="auto">
          <a:xfrm rot="16200000" flipH="1">
            <a:off x="5982495" y="3898108"/>
            <a:ext cx="1425575" cy="1587"/>
          </a:xfrm>
          <a:prstGeom prst="line">
            <a:avLst/>
          </a:prstGeom>
          <a:noFill/>
          <a:ln w="222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88" name="流程图: 联系 87"/>
          <p:cNvSpPr>
            <a:spLocks noChangeArrowheads="1"/>
          </p:cNvSpPr>
          <p:nvPr/>
        </p:nvSpPr>
        <p:spPr bwMode="auto">
          <a:xfrm>
            <a:off x="6657976" y="4573589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9" name="Text Box 11"/>
          <p:cNvSpPr txBox="1">
            <a:spLocks noChangeArrowheads="1"/>
          </p:cNvSpPr>
          <p:nvPr/>
        </p:nvSpPr>
        <p:spPr bwMode="auto">
          <a:xfrm>
            <a:off x="1548291" y="5258458"/>
            <a:ext cx="3614737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 dirty="0"/>
              <a:t>4.</a:t>
            </a:r>
            <a:r>
              <a:rPr kumimoji="1" lang="zh-CN" altLang="en-US" sz="2800" b="1" dirty="0"/>
              <a:t>判别可见性并连线。</a:t>
            </a:r>
          </a:p>
        </p:txBody>
      </p:sp>
      <p:cxnSp>
        <p:nvCxnSpPr>
          <p:cNvPr id="91" name="直接连接符 90"/>
          <p:cNvCxnSpPr>
            <a:cxnSpLocks noChangeShapeType="1"/>
          </p:cNvCxnSpPr>
          <p:nvPr/>
        </p:nvCxnSpPr>
        <p:spPr bwMode="auto">
          <a:xfrm rot="16200000" flipH="1">
            <a:off x="6484939" y="4819651"/>
            <a:ext cx="987425" cy="568325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93" name="直接连接符 92"/>
          <p:cNvCxnSpPr>
            <a:cxnSpLocks noChangeShapeType="1"/>
          </p:cNvCxnSpPr>
          <p:nvPr/>
        </p:nvCxnSpPr>
        <p:spPr bwMode="auto">
          <a:xfrm>
            <a:off x="6694488" y="4610100"/>
            <a:ext cx="912812" cy="1588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00" name="直接连接符 99"/>
          <p:cNvCxnSpPr>
            <a:cxnSpLocks noChangeShapeType="1"/>
            <a:endCxn id="66" idx="2"/>
          </p:cNvCxnSpPr>
          <p:nvPr/>
        </p:nvCxnSpPr>
        <p:spPr bwMode="auto">
          <a:xfrm rot="5400000" flipH="1" flipV="1">
            <a:off x="7108826" y="5095876"/>
            <a:ext cx="633413" cy="366713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sp>
        <p:nvSpPr>
          <p:cNvPr id="104" name="流程图: 联系 103"/>
          <p:cNvSpPr>
            <a:spLocks noChangeArrowheads="1"/>
          </p:cNvSpPr>
          <p:nvPr/>
        </p:nvSpPr>
        <p:spPr bwMode="auto">
          <a:xfrm>
            <a:off x="8629651" y="3149601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06" name="直接连接符 105"/>
          <p:cNvCxnSpPr>
            <a:cxnSpLocks noChangeShapeType="1"/>
          </p:cNvCxnSpPr>
          <p:nvPr/>
        </p:nvCxnSpPr>
        <p:spPr bwMode="auto">
          <a:xfrm rot="5400000">
            <a:off x="7425532" y="4791869"/>
            <a:ext cx="365125" cy="1588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107" name="直接连接符 106"/>
          <p:cNvCxnSpPr>
            <a:cxnSpLocks noChangeShapeType="1"/>
          </p:cNvCxnSpPr>
          <p:nvPr/>
        </p:nvCxnSpPr>
        <p:spPr bwMode="auto">
          <a:xfrm>
            <a:off x="8883651" y="2579688"/>
            <a:ext cx="695325" cy="241300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12" name="直接连接符 111"/>
          <p:cNvCxnSpPr>
            <a:cxnSpLocks noChangeShapeType="1"/>
          </p:cNvCxnSpPr>
          <p:nvPr/>
        </p:nvCxnSpPr>
        <p:spPr bwMode="auto">
          <a:xfrm rot="10800000" flipV="1">
            <a:off x="9164638" y="2825751"/>
            <a:ext cx="411162" cy="354013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15" name="直接连接符 114"/>
          <p:cNvCxnSpPr>
            <a:cxnSpLocks noChangeShapeType="1"/>
          </p:cNvCxnSpPr>
          <p:nvPr/>
        </p:nvCxnSpPr>
        <p:spPr bwMode="auto">
          <a:xfrm rot="5400000" flipH="1" flipV="1">
            <a:off x="8469314" y="2794001"/>
            <a:ext cx="542925" cy="174625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19" name="直接连接符 118"/>
          <p:cNvCxnSpPr>
            <a:cxnSpLocks noChangeShapeType="1"/>
          </p:cNvCxnSpPr>
          <p:nvPr/>
        </p:nvCxnSpPr>
        <p:spPr bwMode="auto">
          <a:xfrm flipV="1">
            <a:off x="8699500" y="3189289"/>
            <a:ext cx="1092200" cy="3175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23" name="直接连接符 122"/>
          <p:cNvCxnSpPr>
            <a:cxnSpLocks noChangeShapeType="1"/>
          </p:cNvCxnSpPr>
          <p:nvPr/>
        </p:nvCxnSpPr>
        <p:spPr bwMode="auto">
          <a:xfrm rot="16200000" flipH="1">
            <a:off x="9548813" y="2917825"/>
            <a:ext cx="271462" cy="179388"/>
          </a:xfrm>
          <a:prstGeom prst="line">
            <a:avLst/>
          </a:prstGeom>
          <a:noFill/>
          <a:ln w="53975" algn="ctr">
            <a:solidFill>
              <a:schemeClr val="bg1"/>
            </a:solidFill>
            <a:round/>
            <a:headEnd/>
            <a:tailEnd/>
          </a:ln>
        </p:spPr>
      </p:cxnSp>
      <p:sp>
        <p:nvSpPr>
          <p:cNvPr id="127" name="Text Box 13"/>
          <p:cNvSpPr txBox="1">
            <a:spLocks noChangeArrowheads="1"/>
          </p:cNvSpPr>
          <p:nvPr/>
        </p:nvSpPr>
        <p:spPr bwMode="auto">
          <a:xfrm>
            <a:off x="1548291" y="5806535"/>
            <a:ext cx="2994025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800" b="1" dirty="0"/>
              <a:t>5.</a:t>
            </a:r>
            <a:r>
              <a:rPr kumimoji="1" lang="zh-CN" altLang="en-US" sz="2800" b="1" dirty="0"/>
              <a:t>整理轮廓线。</a:t>
            </a:r>
          </a:p>
        </p:txBody>
      </p:sp>
      <p:cxnSp>
        <p:nvCxnSpPr>
          <p:cNvPr id="128" name="直接连接符 127"/>
          <p:cNvCxnSpPr>
            <a:cxnSpLocks noChangeShapeType="1"/>
          </p:cNvCxnSpPr>
          <p:nvPr/>
        </p:nvCxnSpPr>
        <p:spPr bwMode="auto">
          <a:xfrm>
            <a:off x="6475414" y="4464050"/>
            <a:ext cx="219075" cy="146050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31" name="直接连接符 130"/>
          <p:cNvCxnSpPr>
            <a:cxnSpLocks noChangeShapeType="1"/>
          </p:cNvCxnSpPr>
          <p:nvPr/>
        </p:nvCxnSpPr>
        <p:spPr bwMode="auto">
          <a:xfrm flipV="1">
            <a:off x="7246938" y="4464050"/>
            <a:ext cx="798512" cy="450850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34" name="直接连接符 133"/>
          <p:cNvCxnSpPr>
            <a:cxnSpLocks noChangeShapeType="1"/>
            <a:stCxn id="39" idx="0"/>
          </p:cNvCxnSpPr>
          <p:nvPr/>
        </p:nvCxnSpPr>
        <p:spPr bwMode="auto">
          <a:xfrm rot="5400000" flipH="1" flipV="1">
            <a:off x="7242175" y="4354513"/>
            <a:ext cx="109538" cy="620712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38" name="直接连接符 137"/>
          <p:cNvCxnSpPr>
            <a:cxnSpLocks noChangeShapeType="1"/>
          </p:cNvCxnSpPr>
          <p:nvPr/>
        </p:nvCxnSpPr>
        <p:spPr bwMode="auto">
          <a:xfrm rot="16200000" flipH="1">
            <a:off x="6763544" y="4942682"/>
            <a:ext cx="711200" cy="265112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42" name="直接连接符 141"/>
          <p:cNvCxnSpPr>
            <a:cxnSpLocks noChangeShapeType="1"/>
          </p:cNvCxnSpPr>
          <p:nvPr/>
        </p:nvCxnSpPr>
        <p:spPr bwMode="auto">
          <a:xfrm rot="5400000" flipH="1" flipV="1">
            <a:off x="7192964" y="5045076"/>
            <a:ext cx="454025" cy="346075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46" name="直接连接符 145"/>
          <p:cNvCxnSpPr>
            <a:cxnSpLocks noChangeShapeType="1"/>
          </p:cNvCxnSpPr>
          <p:nvPr/>
        </p:nvCxnSpPr>
        <p:spPr bwMode="auto">
          <a:xfrm rot="16200000" flipH="1">
            <a:off x="6986588" y="5159376"/>
            <a:ext cx="525463" cy="11112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149" name="直接连接符 148"/>
          <p:cNvCxnSpPr>
            <a:cxnSpLocks noChangeShapeType="1"/>
          </p:cNvCxnSpPr>
          <p:nvPr/>
        </p:nvCxnSpPr>
        <p:spPr bwMode="auto">
          <a:xfrm>
            <a:off x="6992939" y="4759326"/>
            <a:ext cx="249237" cy="142875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sp>
        <p:nvSpPr>
          <p:cNvPr id="80" name="流程图: 联系 79"/>
          <p:cNvSpPr>
            <a:spLocks noChangeArrowheads="1"/>
          </p:cNvSpPr>
          <p:nvPr/>
        </p:nvSpPr>
        <p:spPr bwMode="auto">
          <a:xfrm>
            <a:off x="7219951" y="5554664"/>
            <a:ext cx="73025" cy="73025"/>
          </a:xfrm>
          <a:prstGeom prst="flowChartConnector">
            <a:avLst/>
          </a:prstGeom>
          <a:solidFill>
            <a:schemeClr val="bg1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81" name="直接连接符 80"/>
          <p:cNvCxnSpPr>
            <a:cxnSpLocks noChangeShapeType="1"/>
          </p:cNvCxnSpPr>
          <p:nvPr/>
        </p:nvCxnSpPr>
        <p:spPr bwMode="auto">
          <a:xfrm rot="16200000" flipH="1">
            <a:off x="7136607" y="5733257"/>
            <a:ext cx="231775" cy="1588"/>
          </a:xfrm>
          <a:prstGeom prst="line">
            <a:avLst/>
          </a:prstGeom>
          <a:noFill/>
          <a:ln w="41275" algn="ctr">
            <a:solidFill>
              <a:srgbClr val="0070C0"/>
            </a:solidFill>
            <a:round/>
            <a:headEnd/>
            <a:tailEnd/>
          </a:ln>
        </p:spPr>
      </p:cxnSp>
      <p:pic>
        <p:nvPicPr>
          <p:cNvPr id="157" name="Picture 6"/>
          <p:cNvPicPr>
            <a:picLocks noChangeAspect="1" noChangeArrowheads="1"/>
          </p:cNvPicPr>
          <p:nvPr/>
        </p:nvPicPr>
        <p:blipFill>
          <a:blip r:embed="rId5"/>
          <a:srcRect l="50620" t="14005" r="10750" b="21547"/>
          <a:stretch>
            <a:fillRect/>
          </a:stretch>
        </p:blipFill>
        <p:spPr bwMode="auto">
          <a:xfrm>
            <a:off x="6394451" y="1714501"/>
            <a:ext cx="3960813" cy="4956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9" name="Rectangle 2">
            <a:extLst>
              <a:ext uri="{FF2B5EF4-FFF2-40B4-BE49-F238E27FC236}">
                <a16:creationId xmlns:a16="http://schemas.microsoft.com/office/drawing/2014/main" id="{556C300A-5075-476B-AE9F-52792430DEF3}"/>
              </a:ext>
            </a:extLst>
          </p:cNvPr>
          <p:cNvSpPr txBox="1">
            <a:spLocks noChangeArrowheads="1"/>
          </p:cNvSpPr>
          <p:nvPr/>
        </p:nvSpPr>
        <p:spPr>
          <a:xfrm>
            <a:off x="3516555" y="388771"/>
            <a:ext cx="4901770" cy="648620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几何体的构型及其投影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 nodeType="clickPar">
                      <p:stCondLst>
                        <p:cond delay="indefinite"/>
                      </p:stCondLst>
                      <p:childTnLst>
                        <p:par>
                          <p:cTn id="2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 nodeType="clickPar">
                      <p:stCondLst>
                        <p:cond delay="indefinite"/>
                      </p:stCondLst>
                      <p:childTnLst>
                        <p:par>
                          <p:cTn id="3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6" grpId="0"/>
      <p:bldP spid="39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55" grpId="0" animBg="1"/>
      <p:bldP spid="56" grpId="0" animBg="1"/>
      <p:bldP spid="61" grpId="0" animBg="1"/>
      <p:bldP spid="66" grpId="0" animBg="1"/>
      <p:bldP spid="66" grpId="1" animBg="1"/>
      <p:bldP spid="68" grpId="0" animBg="1"/>
      <p:bldP spid="68" grpId="1" animBg="1"/>
      <p:bldP spid="72" grpId="0" animBg="1"/>
      <p:bldP spid="85" grpId="0" animBg="1"/>
      <p:bldP spid="88" grpId="0" animBg="1"/>
      <p:bldP spid="89" grpId="0"/>
      <p:bldP spid="104" grpId="0" animBg="1"/>
      <p:bldP spid="127" grpId="0"/>
      <p:bldP spid="8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4872038" y="441326"/>
            <a:ext cx="2286000" cy="7032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zh-CN" altLang="en-US" sz="3600" b="1" kern="0" dirty="0">
                <a:latin typeface="黑体" pitchFamily="2" charset="-122"/>
                <a:ea typeface="黑体" pitchFamily="2" charset="-122"/>
              </a:rPr>
              <a:t>本讲小结</a:t>
            </a:r>
            <a:endParaRPr lang="en-US" altLang="zh-CN" sz="3200" kern="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05843" y="2465388"/>
            <a:ext cx="1655763" cy="9540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800" b="1" kern="100" dirty="0">
                <a:latin typeface="Times New Roman" panose="02020603050405020304" pitchFamily="18" charset="0"/>
              </a:rPr>
              <a:t>截交线的基本性质</a:t>
            </a:r>
          </a:p>
        </p:txBody>
      </p:sp>
      <p:sp>
        <p:nvSpPr>
          <p:cNvPr id="5" name="矩形 4"/>
          <p:cNvSpPr/>
          <p:nvPr/>
        </p:nvSpPr>
        <p:spPr>
          <a:xfrm>
            <a:off x="4440238" y="1639888"/>
            <a:ext cx="5795962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共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有性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截交线既在截平面上，又在几何</a:t>
            </a:r>
            <a:r>
              <a:rPr lang="en-US" altLang="zh-CN" sz="2400" kern="100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体表面上</a:t>
            </a:r>
          </a:p>
        </p:txBody>
      </p:sp>
      <p:sp>
        <p:nvSpPr>
          <p:cNvPr id="6" name="矩形 5"/>
          <p:cNvSpPr/>
          <p:nvPr/>
        </p:nvSpPr>
        <p:spPr>
          <a:xfrm>
            <a:off x="4402138" y="2562225"/>
            <a:ext cx="6227762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平面封闭性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截交线一般都是由直线、曲线</a:t>
            </a:r>
            <a:endParaRPr lang="en-US" altLang="zh-CN" sz="2400" kern="100" dirty="0">
              <a:latin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或直线和曲线所围成的封闭的</a:t>
            </a:r>
            <a:endParaRPr lang="en-US" altLang="zh-CN" sz="2400" kern="100" dirty="0">
              <a:latin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平面图形。</a:t>
            </a:r>
          </a:p>
        </p:txBody>
      </p:sp>
      <p:sp>
        <p:nvSpPr>
          <p:cNvPr id="7" name="矩形 6"/>
          <p:cNvSpPr/>
          <p:nvPr/>
        </p:nvSpPr>
        <p:spPr>
          <a:xfrm>
            <a:off x="4403725" y="3762375"/>
            <a:ext cx="60848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形式多样性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截交线的形式取决于几何体表</a:t>
            </a:r>
            <a:endParaRPr lang="en-US" altLang="zh-CN" sz="2400" kern="100" dirty="0">
              <a:latin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面的形状和截平面与几何体的</a:t>
            </a:r>
            <a:endParaRPr lang="en-US" altLang="zh-CN" sz="2400" kern="100" dirty="0">
              <a:latin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相对位置。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4108450" y="1808164"/>
            <a:ext cx="306388" cy="2268537"/>
          </a:xfrm>
          <a:prstGeom prst="leftBrace">
            <a:avLst>
              <a:gd name="adj1" fmla="val 68091"/>
              <a:gd name="adj2" fmla="val 50000"/>
            </a:avLst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35201" y="5078414"/>
            <a:ext cx="2455863" cy="954087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800" b="1" kern="100" dirty="0">
                <a:latin typeface="Arial" panose="020B0604020202020204" pitchFamily="34" charset="0"/>
                <a:cs typeface="Times New Roman" panose="02020603050405020304" pitchFamily="18" charset="0"/>
              </a:rPr>
              <a:t>截切平面几何体的作图方法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2" name="左大括号 11"/>
          <p:cNvSpPr/>
          <p:nvPr/>
        </p:nvSpPr>
        <p:spPr>
          <a:xfrm>
            <a:off x="4824414" y="5130801"/>
            <a:ext cx="307975" cy="1038225"/>
          </a:xfrm>
          <a:prstGeom prst="leftBrace">
            <a:avLst>
              <a:gd name="adj1" fmla="val 68091"/>
              <a:gd name="adj2" fmla="val 50000"/>
            </a:avLst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78414" y="4946651"/>
            <a:ext cx="1112837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400" b="1" kern="100" dirty="0">
                <a:latin typeface="Arial" panose="020B0604020202020204" pitchFamily="34" charset="0"/>
                <a:cs typeface="Times New Roman" panose="02020603050405020304" pitchFamily="18" charset="0"/>
              </a:rPr>
              <a:t>棱线法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91114" y="5856289"/>
            <a:ext cx="1112837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400" b="1" kern="100" dirty="0">
                <a:latin typeface="Arial" panose="020B0604020202020204" pitchFamily="34" charset="0"/>
                <a:cs typeface="Times New Roman" panose="02020603050405020304" pitchFamily="18" charset="0"/>
              </a:rPr>
              <a:t>棱面法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661370" y="1487626"/>
            <a:ext cx="42672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本部分重点内容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672527" y="2221096"/>
            <a:ext cx="8929515" cy="954088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>
              <a:tabLst>
                <a:tab pos="2636838" algn="ctr"/>
                <a:tab pos="5273675" algn="r"/>
              </a:tabLst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   平面截切</a:t>
            </a:r>
            <a:r>
              <a:rPr lang="zh-CN" altLang="zh-CN" sz="2800" dirty="0">
                <a:latin typeface="Arial" panose="020B0604020202020204" pitchFamily="34" charset="0"/>
              </a:rPr>
              <a:t>曲面几何体</a:t>
            </a:r>
            <a:r>
              <a:rPr lang="zh-CN" altLang="en-US" sz="2800" dirty="0">
                <a:latin typeface="+mn-ea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基本形式</a:t>
            </a:r>
            <a:r>
              <a:rPr lang="zh-CN" altLang="en-US" sz="2800" dirty="0">
                <a:latin typeface="+mn-ea"/>
              </a:rPr>
              <a:t>；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截交线</a:t>
            </a:r>
            <a:r>
              <a:rPr lang="zh-CN" altLang="en-US" sz="2800" dirty="0">
                <a:latin typeface="+mn-ea"/>
              </a:rPr>
              <a:t>的形状、投影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特性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1661370" y="3364595"/>
            <a:ext cx="3409950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1672527" y="4074211"/>
            <a:ext cx="8525076" cy="193040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</a:rPr>
              <a:t>    理解掌握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平面截切</a:t>
            </a:r>
            <a:r>
              <a:rPr lang="zh-CN" altLang="en-US" sz="2800" dirty="0">
                <a:latin typeface="+mn-ea"/>
                <a:ea typeface="+mn-ea"/>
              </a:rPr>
              <a:t>基本几何体的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基本形式</a:t>
            </a:r>
            <a:r>
              <a:rPr lang="zh-CN" altLang="en-US" sz="2800" dirty="0">
                <a:latin typeface="+mn-ea"/>
                <a:ea typeface="+mn-ea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截交线</a:t>
            </a:r>
            <a:r>
              <a:rPr lang="zh-CN" altLang="en-US" sz="2800" dirty="0">
                <a:latin typeface="+mn-ea"/>
                <a:ea typeface="+mn-ea"/>
              </a:rPr>
              <a:t>的形 状、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投影特性</a:t>
            </a:r>
            <a:r>
              <a:rPr lang="zh-CN" altLang="en-US" sz="2800" dirty="0">
                <a:latin typeface="+mn-ea"/>
                <a:ea typeface="+mn-ea"/>
              </a:rPr>
              <a:t>；会用投影原理绘制</a:t>
            </a:r>
            <a:r>
              <a:rPr lang="zh-CN" altLang="zh-CN" sz="2800" dirty="0">
                <a:latin typeface="Arial" panose="020B0604020202020204" pitchFamily="34" charset="0"/>
              </a:rPr>
              <a:t>截切曲面几何体</a:t>
            </a:r>
            <a:r>
              <a:rPr lang="zh-CN" altLang="en-US" sz="2800" dirty="0">
                <a:latin typeface="+mn-ea"/>
                <a:ea typeface="+mn-ea"/>
              </a:rPr>
              <a:t>图形。</a:t>
            </a:r>
          </a:p>
        </p:txBody>
      </p:sp>
      <p:sp>
        <p:nvSpPr>
          <p:cNvPr id="10" name="五角星 9"/>
          <p:cNvSpPr/>
          <p:nvPr/>
        </p:nvSpPr>
        <p:spPr>
          <a:xfrm>
            <a:off x="1994397" y="4220592"/>
            <a:ext cx="357187" cy="39654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627265" y="361909"/>
            <a:ext cx="6864444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曲面几何体的截切构形及其投影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7"/>
          <p:cNvSpPr>
            <a:spLocks noChangeArrowheads="1"/>
          </p:cNvSpPr>
          <p:nvPr/>
        </p:nvSpPr>
        <p:spPr bwMode="auto">
          <a:xfrm>
            <a:off x="2700338" y="628650"/>
            <a:ext cx="667226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zh-CN" sz="3600" b="1">
                <a:latin typeface="黑体" pitchFamily="49" charset="-122"/>
                <a:ea typeface="黑体" pitchFamily="49" charset="-122"/>
              </a:rPr>
              <a:t>曲面几何体</a:t>
            </a:r>
            <a:r>
              <a:rPr lang="zh-CN" altLang="en-US" sz="3600" b="1">
                <a:latin typeface="黑体" pitchFamily="49" charset="-122"/>
                <a:ea typeface="黑体" pitchFamily="49" charset="-122"/>
              </a:rPr>
              <a:t>被截切后形成的产品</a:t>
            </a:r>
          </a:p>
        </p:txBody>
      </p:sp>
      <p:pic>
        <p:nvPicPr>
          <p:cNvPr id="12" name="图片 11" descr="圆柱截切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8314" y="4378325"/>
            <a:ext cx="2154237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图片 12" descr="空心圆柱截切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3575" y="1749425"/>
            <a:ext cx="2217738" cy="221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图片 13" descr="空心圆柱截切2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46576" y="1749426"/>
            <a:ext cx="2917825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空心圆柱截切4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93014" y="4670426"/>
            <a:ext cx="2867025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 descr="圆柱截切2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21551" y="1749425"/>
            <a:ext cx="3127375" cy="221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 descr="圆柱截切3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87526" y="4268788"/>
            <a:ext cx="3884613" cy="246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>
          <a:xfrm>
            <a:off x="5000611" y="6057937"/>
            <a:ext cx="3537029" cy="600707"/>
          </a:xfrm>
          <a:prstGeom prst="rect">
            <a:avLst/>
          </a:prstGeom>
          <a:noFill/>
        </p:spPr>
        <p:txBody>
          <a:bodyPr wrap="none">
            <a:prstTxWarp prst="textFadeLeft">
              <a:avLst>
                <a:gd name="adj" fmla="val 20302"/>
              </a:avLst>
            </a:prstTxWarp>
            <a:spAutoFit/>
            <a:scene3d>
              <a:camera prst="obliqueTopLeft"/>
              <a:lightRig rig="threePt" dir="t"/>
            </a:scene3d>
          </a:bodyPr>
          <a:lstStyle/>
          <a:p>
            <a:pPr algn="ctr" eaLnBrk="1" hangingPunct="1">
              <a:defRPr/>
            </a:pPr>
            <a:r>
              <a:rPr lang="zh-CN" altLang="en-US" sz="5400" b="1" dirty="0">
                <a:ln w="22225">
                  <a:noFill/>
                  <a:prstDash val="solid"/>
                </a:ln>
                <a:gradFill flip="none" rotWithShape="1">
                  <a:gsLst>
                    <a:gs pos="0">
                      <a:srgbClr val="FF0066">
                        <a:shade val="30000"/>
                        <a:satMod val="115000"/>
                      </a:srgbClr>
                    </a:gs>
                    <a:gs pos="50000">
                      <a:srgbClr val="FF0066">
                        <a:shade val="67500"/>
                        <a:satMod val="115000"/>
                      </a:srgbClr>
                    </a:gs>
                    <a:gs pos="100000">
                      <a:srgbClr val="FF0066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</a:rPr>
              <a:t>如何绘制？</a:t>
            </a:r>
          </a:p>
        </p:txBody>
      </p:sp>
      <p:sp>
        <p:nvSpPr>
          <p:cNvPr id="11" name="矩形 10"/>
          <p:cNvSpPr/>
          <p:nvPr/>
        </p:nvSpPr>
        <p:spPr>
          <a:xfrm>
            <a:off x="7508026" y="4487878"/>
            <a:ext cx="1034346" cy="391365"/>
          </a:xfrm>
          <a:prstGeom prst="rect">
            <a:avLst/>
          </a:prstGeom>
          <a:noFill/>
        </p:spPr>
        <p:txBody>
          <a:bodyPr wrap="none">
            <a:prstTxWarp prst="textFadeLeft">
              <a:avLst>
                <a:gd name="adj" fmla="val 0"/>
              </a:avLst>
            </a:prstTxWarp>
            <a:spAutoFit/>
            <a:scene3d>
              <a:camera prst="obliqueTopLeft"/>
              <a:lightRig rig="threePt" dir="t"/>
            </a:scene3d>
          </a:bodyPr>
          <a:lstStyle/>
          <a:p>
            <a:pPr algn="ctr" eaLnBrk="1" hangingPunct="1">
              <a:defRPr/>
            </a:pPr>
            <a:r>
              <a:rPr lang="zh-CN" altLang="en-US" sz="5400" b="1" dirty="0">
                <a:ln w="22225">
                  <a:noFill/>
                  <a:prstDash val="solid"/>
                </a:ln>
                <a:gradFill flip="none" rotWithShape="1">
                  <a:gsLst>
                    <a:gs pos="0">
                      <a:srgbClr val="FF0066">
                        <a:shade val="30000"/>
                        <a:satMod val="115000"/>
                      </a:srgbClr>
                    </a:gs>
                    <a:gs pos="50000">
                      <a:srgbClr val="FF0066">
                        <a:shade val="67500"/>
                        <a:satMod val="115000"/>
                      </a:srgbClr>
                    </a:gs>
                    <a:gs pos="100000">
                      <a:srgbClr val="FF0066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</a:rPr>
              <a:t>截切</a:t>
            </a:r>
          </a:p>
        </p:txBody>
      </p: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2554288" y="4013200"/>
            <a:ext cx="3257550" cy="693738"/>
            <a:chOff x="516403" y="3794129"/>
            <a:chExt cx="4460388" cy="1190609"/>
          </a:xfrm>
        </p:grpSpPr>
        <p:sp>
          <p:nvSpPr>
            <p:cNvPr id="2" name="矩形 1"/>
            <p:cNvSpPr/>
            <p:nvPr/>
          </p:nvSpPr>
          <p:spPr>
            <a:xfrm>
              <a:off x="516403" y="3794129"/>
              <a:ext cx="3398363" cy="786527"/>
            </a:xfrm>
            <a:prstGeom prst="rect">
              <a:avLst/>
            </a:prstGeom>
            <a:noFill/>
          </p:spPr>
          <p:txBody>
            <a:bodyPr wrap="none">
              <a:prstTxWarp prst="textFadeLeft">
                <a:avLst>
                  <a:gd name="adj" fmla="val 20302"/>
                </a:avLst>
              </a:prstTxWarp>
              <a:spAutoFit/>
              <a:scene3d>
                <a:camera prst="obliqueTopLeft"/>
                <a:lightRig rig="threePt" dir="t"/>
              </a:scene3d>
            </a:bodyPr>
            <a:lstStyle/>
            <a:p>
              <a:pPr algn="ctr" eaLnBrk="1" hangingPunct="1">
                <a:defRPr/>
              </a:pPr>
              <a:r>
                <a:rPr lang="zh-CN" altLang="en-US" sz="5400" b="1" dirty="0">
                  <a:ln w="22225">
                    <a:noFill/>
                    <a:prstDash val="solid"/>
                  </a:ln>
                  <a:gradFill flip="none" rotWithShape="1">
                    <a:gsLst>
                      <a:gs pos="0">
                        <a:srgbClr val="FF0066">
                          <a:shade val="30000"/>
                          <a:satMod val="115000"/>
                        </a:srgbClr>
                      </a:gs>
                      <a:gs pos="50000">
                        <a:srgbClr val="FF0066">
                          <a:shade val="67500"/>
                          <a:satMod val="115000"/>
                        </a:srgbClr>
                      </a:gs>
                      <a:gs pos="100000">
                        <a:srgbClr val="FF0066">
                          <a:shade val="100000"/>
                          <a:satMod val="115000"/>
                        </a:srgbClr>
                      </a:gs>
                    </a:gsLst>
                    <a:lin ang="2700000" scaled="1"/>
                    <a:tileRect/>
                  </a:gradFill>
                  <a:latin typeface="Arial" panose="020B0604020202020204" pitchFamily="34" charset="0"/>
                </a:rPr>
                <a:t>怎么来的</a:t>
              </a:r>
            </a:p>
          </p:txBody>
        </p:sp>
        <p:pic>
          <p:nvPicPr>
            <p:cNvPr id="34829" name="Picture 12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78253" y="3940182"/>
              <a:ext cx="1098538" cy="104455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1505522" y="4858386"/>
            <a:ext cx="8059738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Symbol" pitchFamily="18" charset="2"/>
              <a:buChar char="·"/>
            </a:pPr>
            <a:r>
              <a:rPr lang="zh-CN" altLang="en-US" sz="3200" dirty="0">
                <a:sym typeface="Symbol" pitchFamily="18" charset="2"/>
              </a:rPr>
              <a:t>截交线是截平面与 回转体表面的</a:t>
            </a:r>
            <a:r>
              <a:rPr lang="zh-CN" altLang="en-US" sz="3200" dirty="0">
                <a:solidFill>
                  <a:srgbClr val="FF0000"/>
                </a:solidFill>
                <a:sym typeface="Symbol" pitchFamily="18" charset="2"/>
              </a:rPr>
              <a:t>共有线</a:t>
            </a:r>
            <a:r>
              <a:rPr lang="zh-CN" altLang="en-US" sz="3200" dirty="0">
                <a:sym typeface="Symbol" pitchFamily="18" charset="2"/>
              </a:rPr>
              <a:t>。</a:t>
            </a:r>
            <a:endParaRPr lang="zh-CN" altLang="en-US" sz="3200" dirty="0"/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500760" y="5393373"/>
            <a:ext cx="9652314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buFont typeface="Symbol" pitchFamily="18" charset="2"/>
              <a:buChar char="·"/>
            </a:pPr>
            <a:r>
              <a:rPr lang="zh-CN" altLang="en-US" sz="3200" dirty="0">
                <a:sym typeface="Symbol" pitchFamily="18" charset="2"/>
              </a:rPr>
              <a:t>截交线的</a:t>
            </a:r>
            <a:r>
              <a:rPr lang="zh-CN" altLang="en-US" sz="3200" dirty="0">
                <a:solidFill>
                  <a:srgbClr val="FF0000"/>
                </a:solidFill>
                <a:sym typeface="Symbol" pitchFamily="18" charset="2"/>
              </a:rPr>
              <a:t>形状</a:t>
            </a:r>
            <a:r>
              <a:rPr lang="zh-CN" altLang="en-US" sz="3200" dirty="0">
                <a:sym typeface="Symbol" pitchFamily="18" charset="2"/>
              </a:rPr>
              <a:t>取决于</a:t>
            </a:r>
            <a:r>
              <a:rPr lang="zh-CN" altLang="en-US" sz="3200" dirty="0">
                <a:solidFill>
                  <a:srgbClr val="FF0000"/>
                </a:solidFill>
                <a:sym typeface="Symbol" pitchFamily="18" charset="2"/>
              </a:rPr>
              <a:t>回转体表面的形状</a:t>
            </a:r>
            <a:r>
              <a:rPr lang="zh-CN" altLang="en-US" sz="3200" dirty="0">
                <a:sym typeface="Symbol" pitchFamily="18" charset="2"/>
              </a:rPr>
              <a:t>及</a:t>
            </a:r>
            <a:r>
              <a:rPr lang="zh-CN" altLang="en-US" sz="3200" dirty="0">
                <a:solidFill>
                  <a:srgbClr val="FF0000"/>
                </a:solidFill>
                <a:sym typeface="Symbol" pitchFamily="18" charset="2"/>
              </a:rPr>
              <a:t>截平面与</a:t>
            </a:r>
            <a:r>
              <a:rPr lang="zh-CN" altLang="en-US" sz="3200" dirty="0">
                <a:sym typeface="Symbol" pitchFamily="18" charset="2"/>
              </a:rPr>
              <a:t>回转体</a:t>
            </a:r>
            <a:r>
              <a:rPr lang="zh-CN" altLang="en-US" sz="3200" dirty="0">
                <a:solidFill>
                  <a:srgbClr val="FF0000"/>
                </a:solidFill>
                <a:sym typeface="Symbol" pitchFamily="18" charset="2"/>
              </a:rPr>
              <a:t>轴线的相对位置</a:t>
            </a:r>
            <a:r>
              <a:rPr lang="zh-CN" altLang="en-US" sz="3200" dirty="0">
                <a:solidFill>
                  <a:schemeClr val="tx2"/>
                </a:solidFill>
                <a:sym typeface="Symbol" pitchFamily="18" charset="2"/>
              </a:rPr>
              <a:t>。</a:t>
            </a:r>
            <a:endParaRPr lang="zh-CN" altLang="en-US" sz="3200" dirty="0">
              <a:sym typeface="Symbol" pitchFamily="18" charset="2"/>
            </a:endParaRPr>
          </a:p>
        </p:txBody>
      </p:sp>
      <p:sp>
        <p:nvSpPr>
          <p:cNvPr id="23558" name="Text Box 24"/>
          <p:cNvSpPr txBox="1">
            <a:spLocks noChangeArrowheads="1"/>
          </p:cNvSpPr>
          <p:nvPr/>
        </p:nvSpPr>
        <p:spPr bwMode="auto">
          <a:xfrm>
            <a:off x="1342011" y="4215447"/>
            <a:ext cx="4175125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</a:rPr>
              <a:t>  回转体的截交线</a:t>
            </a:r>
          </a:p>
        </p:txBody>
      </p:sp>
      <p:sp>
        <p:nvSpPr>
          <p:cNvPr id="2" name="矩形 1"/>
          <p:cNvSpPr/>
          <p:nvPr/>
        </p:nvSpPr>
        <p:spPr>
          <a:xfrm>
            <a:off x="1341437" y="1266015"/>
            <a:ext cx="8137525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概述：</a:t>
            </a:r>
            <a:r>
              <a:rPr lang="zh-CN" altLang="zh-CN" sz="2800" kern="100" dirty="0">
                <a:latin typeface="宋体" panose="02010600030101010101" pitchFamily="2" charset="-122"/>
                <a:cs typeface="Courier New" panose="02070309020205020404" pitchFamily="49" charset="0"/>
              </a:rPr>
              <a:t>平面截切曲面几何体，</a:t>
            </a:r>
            <a:r>
              <a:rPr lang="zh-CN" altLang="zh-CN" sz="28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截交线</a:t>
            </a:r>
            <a:r>
              <a:rPr lang="zh-CN" altLang="en-US" sz="2800" kern="100" dirty="0">
                <a:latin typeface="宋体" panose="02010600030101010101" pitchFamily="2" charset="-122"/>
                <a:cs typeface="Courier New" panose="02070309020205020404" pitchFamily="49" charset="0"/>
              </a:rPr>
              <a:t>一般是由</a:t>
            </a:r>
            <a:endParaRPr lang="zh-CN" altLang="zh-CN" sz="2800" kern="100" dirty="0">
              <a:latin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57525" y="2297114"/>
            <a:ext cx="1244600" cy="184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6839" y="2128838"/>
            <a:ext cx="1309687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08875" y="2254250"/>
            <a:ext cx="1250950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9068501" y="2365700"/>
            <a:ext cx="20845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400" kern="100" dirty="0">
                <a:latin typeface="宋体" panose="02010600030101010101" pitchFamily="2" charset="-122"/>
                <a:cs typeface="Courier New" panose="02070309020205020404" pitchFamily="49" charset="0"/>
              </a:rPr>
              <a:t>所围成的</a:t>
            </a:r>
            <a:r>
              <a:rPr lang="zh-CN" altLang="zh-CN" sz="24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封闭</a:t>
            </a:r>
            <a:r>
              <a:rPr lang="zh-CN" altLang="zh-CN" sz="2400" kern="100" dirty="0">
                <a:latin typeface="宋体" panose="02010600030101010101" pitchFamily="2" charset="-122"/>
                <a:cs typeface="Courier New" panose="02070309020205020404" pitchFamily="49" charset="0"/>
              </a:rPr>
              <a:t>的</a:t>
            </a:r>
            <a:r>
              <a:rPr lang="zh-CN" altLang="zh-CN" sz="24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平面图形</a:t>
            </a:r>
            <a:r>
              <a:rPr lang="zh-CN" altLang="en-US" sz="24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sz="2400" kern="100" dirty="0">
              <a:solidFill>
                <a:srgbClr val="FF0000"/>
              </a:solidFill>
              <a:latin typeface="宋体" panose="02010600030101010101" pitchFamily="2" charset="-122"/>
              <a:cs typeface="Courier New" panose="02070309020205020404" pitchFamily="49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400" kern="100" dirty="0">
                <a:latin typeface="宋体" panose="02010600030101010101" pitchFamily="2" charset="-122"/>
                <a:cs typeface="Courier New" panose="02070309020205020404" pitchFamily="49" charset="0"/>
              </a:rPr>
              <a:t>在</a:t>
            </a:r>
            <a:r>
              <a:rPr lang="zh-CN" altLang="zh-CN" sz="24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特殊</a:t>
            </a:r>
            <a:r>
              <a:rPr lang="zh-CN" altLang="zh-CN" sz="2400" kern="100" dirty="0">
                <a:latin typeface="宋体" panose="02010600030101010101" pitchFamily="2" charset="-122"/>
                <a:cs typeface="Courier New" panose="02070309020205020404" pitchFamily="49" charset="0"/>
              </a:rPr>
              <a:t>的情况下是</a:t>
            </a:r>
            <a:r>
              <a:rPr lang="zh-CN" altLang="zh-CN" sz="24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平面多边形</a:t>
            </a:r>
            <a:r>
              <a:rPr lang="zh-CN" altLang="en-US" sz="2400" kern="100" dirty="0">
                <a:solidFill>
                  <a:srgbClr val="FF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2400" kern="100" dirty="0">
              <a:latin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79775" y="1808163"/>
            <a:ext cx="80010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400" b="1" kern="100" dirty="0">
                <a:solidFill>
                  <a:srgbClr val="00B0F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直线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10200" y="1773238"/>
            <a:ext cx="80010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400" b="1" kern="100" dirty="0">
                <a:solidFill>
                  <a:srgbClr val="00B0F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曲线</a:t>
            </a:r>
            <a:endParaRPr lang="zh-CN" altLang="en-US" sz="2400" b="1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29451" y="1773238"/>
            <a:ext cx="17303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400" b="1" kern="100" dirty="0">
                <a:solidFill>
                  <a:srgbClr val="00B0F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直线和曲线</a:t>
            </a:r>
            <a:endParaRPr lang="zh-CN" altLang="en-US" sz="24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2627265" y="361909"/>
            <a:ext cx="6864444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曲面几何体的截切构形及其投影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20" grpId="0" autoUpdateAnimBg="0"/>
      <p:bldP spid="23558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127448" y="1377950"/>
            <a:ext cx="35157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⒈ </a:t>
            </a:r>
            <a:r>
              <a:rPr lang="zh-CN" altLang="en-US" sz="2800" dirty="0">
                <a:solidFill>
                  <a:schemeClr val="tx2"/>
                </a:solidFill>
              </a:rPr>
              <a:t>求截交线的方法：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1630071" y="2018072"/>
            <a:ext cx="55707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/>
              <a:t>求截平面与回转体表面的共有点</a:t>
            </a:r>
            <a:r>
              <a:rPr lang="zh-CN" altLang="en-US" sz="2800" dirty="0">
                <a:solidFill>
                  <a:schemeClr val="tx2"/>
                </a:solidFill>
              </a:rPr>
              <a:t>。</a:t>
            </a:r>
            <a:endParaRPr lang="zh-CN" altLang="en-US" sz="2800" dirty="0"/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1139988" y="2598056"/>
            <a:ext cx="3515706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dirty="0"/>
              <a:t>⒉ </a:t>
            </a:r>
            <a:r>
              <a:rPr lang="zh-CN" altLang="en-US" sz="2800" dirty="0">
                <a:solidFill>
                  <a:schemeClr val="tx2"/>
                </a:solidFill>
              </a:rPr>
              <a:t>求截交线的步骤：</a:t>
            </a:r>
          </a:p>
        </p:txBody>
      </p:sp>
      <p:sp>
        <p:nvSpPr>
          <p:cNvPr id="96264" name="Text Box 8"/>
          <p:cNvSpPr txBox="1">
            <a:spLocks noChangeArrowheads="1"/>
          </p:cNvSpPr>
          <p:nvPr/>
        </p:nvSpPr>
        <p:spPr bwMode="auto">
          <a:xfrm>
            <a:off x="1630071" y="3258542"/>
            <a:ext cx="3386137" cy="57943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dirty="0">
                <a:sym typeface="Symbol" pitchFamily="18" charset="2"/>
              </a:rPr>
              <a:t> </a:t>
            </a:r>
            <a:r>
              <a:rPr lang="zh-CN" altLang="en-US" sz="3200" dirty="0"/>
              <a:t>空间及投影分析</a:t>
            </a:r>
          </a:p>
        </p:txBody>
      </p:sp>
      <p:sp>
        <p:nvSpPr>
          <p:cNvPr id="96265" name="Text Box 9"/>
          <p:cNvSpPr txBox="1">
            <a:spLocks noChangeArrowheads="1"/>
          </p:cNvSpPr>
          <p:nvPr/>
        </p:nvSpPr>
        <p:spPr bwMode="auto">
          <a:xfrm>
            <a:off x="1558842" y="4008490"/>
            <a:ext cx="78245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sym typeface="Symbol" pitchFamily="18" charset="2"/>
              </a:rPr>
              <a:t>☆ </a:t>
            </a:r>
            <a:r>
              <a:rPr lang="zh-CN" altLang="en-US" sz="2800" dirty="0">
                <a:sym typeface="Symbol" pitchFamily="18" charset="2"/>
              </a:rPr>
              <a:t>分析回转体的形状以及截平面与回转体轴线的</a:t>
            </a:r>
          </a:p>
          <a:p>
            <a:pPr eaLnBrk="1" hangingPunct="1"/>
            <a:r>
              <a:rPr lang="zh-CN" altLang="en-US" sz="2800" dirty="0">
                <a:sym typeface="Symbol" pitchFamily="18" charset="2"/>
              </a:rPr>
              <a:t>    相对位置，以</a:t>
            </a:r>
            <a:r>
              <a:rPr lang="zh-CN" altLang="en-US" sz="2800" dirty="0">
                <a:solidFill>
                  <a:srgbClr val="FF0000"/>
                </a:solidFill>
              </a:rPr>
              <a:t>确定截交线的形状</a:t>
            </a:r>
            <a:r>
              <a:rPr lang="zh-CN" altLang="en-US" sz="2800" dirty="0">
                <a:solidFill>
                  <a:srgbClr val="A50021"/>
                </a:solidFill>
              </a:rPr>
              <a:t>。</a:t>
            </a:r>
            <a:endParaRPr lang="zh-CN" altLang="en-US" sz="2800" dirty="0"/>
          </a:p>
        </p:txBody>
      </p:sp>
      <p:sp>
        <p:nvSpPr>
          <p:cNvPr id="96266" name="Text Box 10"/>
          <p:cNvSpPr txBox="1">
            <a:spLocks noChangeArrowheads="1"/>
          </p:cNvSpPr>
          <p:nvPr/>
        </p:nvSpPr>
        <p:spPr bwMode="auto">
          <a:xfrm>
            <a:off x="1633568" y="5085583"/>
            <a:ext cx="8753445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ym typeface="Symbol" pitchFamily="18" charset="2"/>
              </a:rPr>
              <a:t>☆ </a:t>
            </a:r>
            <a:r>
              <a:rPr lang="zh-CN" altLang="en-US" sz="2800" dirty="0">
                <a:sym typeface="Symbol" pitchFamily="18" charset="2"/>
              </a:rPr>
              <a:t>分析截平面及回转体与投影面的相对位置，</a:t>
            </a:r>
            <a:r>
              <a:rPr lang="zh-CN" altLang="en-US" sz="2800" dirty="0">
                <a:solidFill>
                  <a:srgbClr val="FF0000"/>
                </a:solidFill>
                <a:sym typeface="Symbol" pitchFamily="18" charset="2"/>
              </a:rPr>
              <a:t>明 确</a:t>
            </a:r>
            <a:r>
              <a:rPr lang="zh-CN" altLang="en-US" sz="2800" dirty="0">
                <a:solidFill>
                  <a:srgbClr val="FF0000"/>
                </a:solidFill>
              </a:rPr>
              <a:t>截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</a:rPr>
              <a:t>交线的投影特性</a:t>
            </a:r>
            <a:r>
              <a:rPr lang="zh-CN" altLang="en-US" sz="2800" dirty="0"/>
              <a:t>，如积聚性、类似性等。</a:t>
            </a:r>
            <a:r>
              <a:rPr lang="zh-CN" altLang="en-US" sz="2800" dirty="0">
                <a:solidFill>
                  <a:srgbClr val="FF0000"/>
                </a:solidFill>
              </a:rPr>
              <a:t>找出</a:t>
            </a:r>
            <a:r>
              <a:rPr lang="zh-CN" altLang="en-US" sz="2800" dirty="0"/>
              <a:t>截交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    </a:t>
            </a:r>
            <a:r>
              <a:rPr lang="zh-CN" altLang="en-US" sz="2800" dirty="0"/>
              <a:t>线的</a:t>
            </a:r>
            <a:r>
              <a:rPr lang="zh-CN" altLang="en-US" sz="2800" dirty="0">
                <a:solidFill>
                  <a:srgbClr val="FF0000"/>
                </a:solidFill>
              </a:rPr>
              <a:t>已知</a:t>
            </a:r>
            <a:r>
              <a:rPr lang="zh-CN" altLang="en-US" sz="2800" dirty="0"/>
              <a:t>投影，</a:t>
            </a:r>
            <a:r>
              <a:rPr lang="zh-CN" altLang="en-US" sz="2800" dirty="0">
                <a:solidFill>
                  <a:srgbClr val="FF0000"/>
                </a:solidFill>
              </a:rPr>
              <a:t>予见未知</a:t>
            </a:r>
            <a:r>
              <a:rPr lang="zh-CN" altLang="en-US" sz="2800" dirty="0"/>
              <a:t>投影。</a:t>
            </a: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2627265" y="361909"/>
            <a:ext cx="6864444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曲面几何体的截切构形及其投影</a:t>
            </a:r>
          </a:p>
        </p:txBody>
      </p:sp>
      <p:pic>
        <p:nvPicPr>
          <p:cNvPr id="36875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8451" y="1281113"/>
            <a:ext cx="1198563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6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4900" y="2824164"/>
            <a:ext cx="1568450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7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97776" y="1377950"/>
            <a:ext cx="1590675" cy="162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 autoUpdateAnimBg="0"/>
      <p:bldP spid="96262" grpId="0" autoUpdateAnimBg="0"/>
      <p:bldP spid="96263" grpId="0" autoUpdateAnimBg="0"/>
      <p:bldP spid="96264" grpId="0" autoUpdateAnimBg="0"/>
      <p:bldP spid="96265" grpId="0" autoUpdateAnimBg="0"/>
      <p:bldP spid="9626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415480" y="1423522"/>
            <a:ext cx="3803650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dirty="0">
                <a:sym typeface="Symbol" pitchFamily="18" charset="2"/>
              </a:rPr>
              <a:t> </a:t>
            </a:r>
            <a:r>
              <a:rPr lang="zh-CN" altLang="en-US" sz="3200" dirty="0">
                <a:solidFill>
                  <a:schemeClr val="tx2"/>
                </a:solidFill>
              </a:rPr>
              <a:t>画出截交线的投影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1766517" y="2215835"/>
            <a:ext cx="7725192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tx2"/>
                </a:solidFill>
              </a:rPr>
              <a:t>当截交线的投影为非圆曲线时，其作图步骤为：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766517" y="3998912"/>
            <a:ext cx="84923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ym typeface="Symbol" pitchFamily="18" charset="2"/>
              </a:rPr>
              <a:t>☆ </a:t>
            </a:r>
            <a:r>
              <a:rPr lang="zh-CN" altLang="en-US" sz="2800" dirty="0">
                <a:sym typeface="Symbol" pitchFamily="18" charset="2"/>
              </a:rPr>
              <a:t>将各点光滑地连接起来，并判断截交线的可见性。</a:t>
            </a:r>
            <a:endParaRPr lang="zh-CN" altLang="en-US" sz="2800" dirty="0"/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1780107" y="2968789"/>
            <a:ext cx="5273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dirty="0">
                <a:sym typeface="Symbol" pitchFamily="18" charset="2"/>
              </a:rPr>
              <a:t>☆ </a:t>
            </a:r>
            <a:r>
              <a:rPr lang="zh-CN" altLang="en-US" sz="2800" dirty="0">
                <a:solidFill>
                  <a:srgbClr val="FF0000"/>
                </a:solidFill>
                <a:sym typeface="Symbol" pitchFamily="18" charset="2"/>
              </a:rPr>
              <a:t>先找特殊点，再补充中间点</a:t>
            </a:r>
            <a:r>
              <a:rPr lang="zh-CN" altLang="en-US" sz="2800" dirty="0">
                <a:sym typeface="Symbol" pitchFamily="18" charset="2"/>
              </a:rPr>
              <a:t>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627265" y="361909"/>
            <a:ext cx="6864444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曲面几何体的截切构形及其投影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utoUpdateAnimBg="0"/>
      <p:bldP spid="97284" grpId="0" autoUpdateAnimBg="0"/>
      <p:bldP spid="9728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86488" y="2750788"/>
            <a:ext cx="18954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73372" y="2836513"/>
            <a:ext cx="19907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411290" y="985702"/>
            <a:ext cx="559480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0070C0"/>
                </a:solidFill>
              </a:rPr>
              <a:t>（一）圆柱体的截切构型及其投影</a:t>
            </a:r>
            <a:endParaRPr lang="zh-CN" altLang="en-US" sz="2800" b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1089384" y="1568107"/>
            <a:ext cx="9541817" cy="9540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latin typeface="+mn-ea"/>
                <a:ea typeface="+mn-ea"/>
              </a:rPr>
              <a:t>    </a:t>
            </a:r>
            <a:r>
              <a:rPr lang="zh-CN" altLang="en-US" sz="2800" dirty="0">
                <a:latin typeface="+mn-ea"/>
                <a:ea typeface="+mn-ea"/>
              </a:rPr>
              <a:t>截平面与圆柱面的交线的形状取决于截平面与圆柱轴线的相对位置。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5578728" y="5462837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垂直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5736984" y="6070105"/>
            <a:ext cx="5437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0000"/>
                </a:solidFill>
              </a:rPr>
              <a:t>圆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8770141" y="5992791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0000"/>
                </a:solidFill>
              </a:rPr>
              <a:t>椭圆</a:t>
            </a:r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2252843" y="5454900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/>
              <a:t>平行</a:t>
            </a:r>
          </a:p>
        </p:txBody>
      </p:sp>
      <p:sp>
        <p:nvSpPr>
          <p:cNvPr id="98312" name="Text Box 8"/>
          <p:cNvSpPr txBox="1">
            <a:spLocks noChangeArrowheads="1"/>
          </p:cNvSpPr>
          <p:nvPr/>
        </p:nvSpPr>
        <p:spPr bwMode="auto">
          <a:xfrm>
            <a:off x="1784377" y="6070105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CC0000"/>
                </a:solidFill>
              </a:rPr>
              <a:t>两平行直线</a:t>
            </a:r>
          </a:p>
        </p:txBody>
      </p:sp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8420371" y="5454900"/>
            <a:ext cx="14319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/>
              <a:t>倾斜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r="34000"/>
          <a:stretch>
            <a:fillRect/>
          </a:stretch>
        </p:blipFill>
        <p:spPr bwMode="auto">
          <a:xfrm>
            <a:off x="1617688" y="2757137"/>
            <a:ext cx="2376488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" name="直接连接符 33"/>
          <p:cNvCxnSpPr>
            <a:cxnSpLocks noChangeShapeType="1"/>
          </p:cNvCxnSpPr>
          <p:nvPr/>
        </p:nvCxnSpPr>
        <p:spPr bwMode="auto">
          <a:xfrm>
            <a:off x="2397151" y="2946051"/>
            <a:ext cx="0" cy="790575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936776" y="2944463"/>
            <a:ext cx="0" cy="792163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rcRect l="66891" b="26051"/>
          <a:stretch>
            <a:fillRect/>
          </a:stretch>
        </p:blipFill>
        <p:spPr bwMode="auto">
          <a:xfrm>
            <a:off x="2981351" y="3989038"/>
            <a:ext cx="11747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278321" y="4243037"/>
            <a:ext cx="97155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椭圆 40"/>
          <p:cNvSpPr>
            <a:spLocks noChangeArrowheads="1"/>
          </p:cNvSpPr>
          <p:nvPr/>
        </p:nvSpPr>
        <p:spPr bwMode="auto">
          <a:xfrm>
            <a:off x="4919421" y="3989037"/>
            <a:ext cx="690562" cy="698500"/>
          </a:xfrm>
          <a:prstGeom prst="ellipse">
            <a:avLst/>
          </a:prstGeom>
          <a:solidFill>
            <a:schemeClr val="bg1">
              <a:alpha val="0"/>
            </a:scheme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618438" y="4235101"/>
            <a:ext cx="8858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椭圆 43"/>
          <p:cNvSpPr>
            <a:spLocks noChangeArrowheads="1"/>
          </p:cNvSpPr>
          <p:nvPr/>
        </p:nvSpPr>
        <p:spPr bwMode="auto">
          <a:xfrm>
            <a:off x="8088087" y="3930300"/>
            <a:ext cx="679450" cy="685800"/>
          </a:xfrm>
          <a:prstGeom prst="ellipse">
            <a:avLst/>
          </a:prstGeom>
          <a:solidFill>
            <a:schemeClr val="bg1">
              <a:alpha val="0"/>
            </a:scheme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5" name="椭圆 44"/>
          <p:cNvSpPr>
            <a:spLocks noChangeArrowheads="1"/>
          </p:cNvSpPr>
          <p:nvPr/>
        </p:nvSpPr>
        <p:spPr bwMode="auto">
          <a:xfrm>
            <a:off x="9126312" y="3101626"/>
            <a:ext cx="679450" cy="396875"/>
          </a:xfrm>
          <a:prstGeom prst="ellipse">
            <a:avLst/>
          </a:prstGeom>
          <a:solidFill>
            <a:schemeClr val="bg1">
              <a:alpha val="0"/>
            </a:scheme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2627265" y="361909"/>
            <a:ext cx="6864444" cy="635685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曲面几何体的截切构形及其投影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/>
      <p:bldP spid="98308" grpId="0" build="p" autoUpdateAnimBg="0"/>
      <p:bldP spid="98309" grpId="0" autoUpdateAnimBg="0"/>
      <p:bldP spid="98310" grpId="0" autoUpdateAnimBg="0"/>
      <p:bldP spid="98311" grpId="0" autoUpdateAnimBg="0"/>
      <p:bldP spid="98312" grpId="0" autoUpdateAnimBg="0"/>
      <p:bldP spid="98313" grpId="0" autoUpdateAnimBg="0"/>
      <p:bldP spid="41" grpId="0" animBg="1"/>
      <p:bldP spid="44" grpId="0" animBg="1"/>
      <p:bldP spid="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9"/>
          <p:cNvSpPr txBox="1">
            <a:spLocks noChangeArrowheads="1"/>
          </p:cNvSpPr>
          <p:nvPr/>
        </p:nvSpPr>
        <p:spPr bwMode="auto">
          <a:xfrm>
            <a:off x="2408238" y="325438"/>
            <a:ext cx="67500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/>
              <a:t>例：求圆柱截切后的投影</a:t>
            </a:r>
            <a:r>
              <a:rPr lang="en-US" altLang="zh-CN" sz="3200"/>
              <a:t>——</a:t>
            </a:r>
            <a:r>
              <a:rPr lang="zh-CN" altLang="en-US" sz="3200"/>
              <a:t>切两侧</a:t>
            </a:r>
          </a:p>
        </p:txBody>
      </p:sp>
      <p:sp>
        <p:nvSpPr>
          <p:cNvPr id="99338" name="Text Box 10"/>
          <p:cNvSpPr txBox="1">
            <a:spLocks noChangeArrowheads="1"/>
          </p:cNvSpPr>
          <p:nvPr/>
        </p:nvSpPr>
        <p:spPr bwMode="auto">
          <a:xfrm>
            <a:off x="5873751" y="4387851"/>
            <a:ext cx="365442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 dirty="0"/>
              <a:t>★</a:t>
            </a:r>
            <a:r>
              <a:rPr lang="zh-CN" altLang="en-US" sz="2800" dirty="0"/>
              <a:t>空间及投影分析</a:t>
            </a:r>
          </a:p>
        </p:txBody>
      </p:sp>
      <p:sp>
        <p:nvSpPr>
          <p:cNvPr id="99339" name="Text Box 11"/>
          <p:cNvSpPr txBox="1">
            <a:spLocks noChangeArrowheads="1"/>
          </p:cNvSpPr>
          <p:nvPr/>
        </p:nvSpPr>
        <p:spPr bwMode="auto">
          <a:xfrm>
            <a:off x="5873750" y="5584826"/>
            <a:ext cx="3163888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求截交线</a:t>
            </a:r>
          </a:p>
        </p:txBody>
      </p:sp>
      <p:sp>
        <p:nvSpPr>
          <p:cNvPr id="99340" name="Text Box 12"/>
          <p:cNvSpPr txBox="1">
            <a:spLocks noChangeArrowheads="1"/>
          </p:cNvSpPr>
          <p:nvPr/>
        </p:nvSpPr>
        <p:spPr bwMode="auto">
          <a:xfrm>
            <a:off x="5873750" y="6027739"/>
            <a:ext cx="5151438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分析圆柱体轮廓素线的投影</a:t>
            </a:r>
          </a:p>
        </p:txBody>
      </p:sp>
      <p:sp>
        <p:nvSpPr>
          <p:cNvPr id="99341" name="Text Box 13"/>
          <p:cNvSpPr txBox="1">
            <a:spLocks noChangeArrowheads="1"/>
          </p:cNvSpPr>
          <p:nvPr/>
        </p:nvSpPr>
        <p:spPr bwMode="auto">
          <a:xfrm>
            <a:off x="6226175" y="4768384"/>
            <a:ext cx="234872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66"/>
                </a:solidFill>
              </a:rPr>
              <a:t>截交线的形状</a:t>
            </a:r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6226175" y="5187484"/>
            <a:ext cx="3070071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66"/>
                </a:solidFill>
              </a:rPr>
              <a:t>截交线的投影特性</a:t>
            </a:r>
          </a:p>
        </p:txBody>
      </p:sp>
      <p:sp>
        <p:nvSpPr>
          <p:cNvPr id="99343" name="Text Box 15"/>
          <p:cNvSpPr txBox="1">
            <a:spLocks noChangeArrowheads="1"/>
          </p:cNvSpPr>
          <p:nvPr/>
        </p:nvSpPr>
        <p:spPr bwMode="auto">
          <a:xfrm>
            <a:off x="5988608" y="3820277"/>
            <a:ext cx="198002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3300"/>
                </a:solidFill>
              </a:rPr>
              <a:t>解题步骤：</a:t>
            </a:r>
          </a:p>
        </p:txBody>
      </p:sp>
      <p:sp>
        <p:nvSpPr>
          <p:cNvPr id="99344" name="Text Box 16"/>
          <p:cNvSpPr txBox="1">
            <a:spLocks noChangeArrowheads="1"/>
          </p:cNvSpPr>
          <p:nvPr/>
        </p:nvSpPr>
        <p:spPr bwMode="auto">
          <a:xfrm>
            <a:off x="1059239" y="4981576"/>
            <a:ext cx="4321176" cy="1384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0099"/>
                </a:solidFill>
              </a:rPr>
              <a:t>    </a:t>
            </a:r>
            <a:r>
              <a:rPr lang="zh-CN" altLang="en-US" sz="2800" b="1" dirty="0">
                <a:solidFill>
                  <a:srgbClr val="000099"/>
                </a:solidFill>
              </a:rPr>
              <a:t>同一立体被多个平面截切，要逐个截平面进行截交线的分析和作图。</a:t>
            </a:r>
          </a:p>
        </p:txBody>
      </p:sp>
      <p:pic>
        <p:nvPicPr>
          <p:cNvPr id="39946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49331" y="1457326"/>
            <a:ext cx="2389188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68" name="Picture 7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9625" y="1457326"/>
            <a:ext cx="3797300" cy="33559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75" name="直接连接符 74"/>
          <p:cNvCxnSpPr/>
          <p:nvPr/>
        </p:nvCxnSpPr>
        <p:spPr>
          <a:xfrm>
            <a:off x="2371725" y="4340225"/>
            <a:ext cx="547688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 flipH="1" flipV="1">
            <a:off x="2755901" y="4505326"/>
            <a:ext cx="328612" cy="1587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rot="120000" flipV="1">
            <a:off x="8147844" y="2322513"/>
            <a:ext cx="438150" cy="29210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rot="120000" flipV="1">
            <a:off x="8152606" y="3365500"/>
            <a:ext cx="438150" cy="29210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70" name="Picture 7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54106" y="1482726"/>
            <a:ext cx="2217738" cy="23796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9771" name="Picture 7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92725" y="1712914"/>
            <a:ext cx="520700" cy="12461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86"/>
          <p:cNvGrpSpPr>
            <a:grpSpLocks/>
          </p:cNvGrpSpPr>
          <p:nvPr/>
        </p:nvGrpSpPr>
        <p:grpSpPr bwMode="auto">
          <a:xfrm>
            <a:off x="5264151" y="1712913"/>
            <a:ext cx="117475" cy="1257300"/>
            <a:chOff x="3739821" y="1712889"/>
            <a:chExt cx="117159" cy="1256682"/>
          </a:xfrm>
        </p:grpSpPr>
        <p:sp>
          <p:nvSpPr>
            <p:cNvPr id="39984" name="椭圆 84"/>
            <p:cNvSpPr>
              <a:spLocks noChangeArrowheads="1"/>
            </p:cNvSpPr>
            <p:nvPr/>
          </p:nvSpPr>
          <p:spPr bwMode="auto">
            <a:xfrm>
              <a:off x="3739821" y="1712889"/>
              <a:ext cx="109539" cy="109539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39985" name="椭圆 85"/>
            <p:cNvSpPr>
              <a:spLocks noChangeArrowheads="1"/>
            </p:cNvSpPr>
            <p:nvPr/>
          </p:nvSpPr>
          <p:spPr bwMode="auto">
            <a:xfrm>
              <a:off x="3747441" y="2860032"/>
              <a:ext cx="109539" cy="109539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pic>
        <p:nvPicPr>
          <p:cNvPr id="29773" name="Picture 7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22500" y="1592263"/>
            <a:ext cx="1847850" cy="14970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94" name="直接连接符 93"/>
          <p:cNvCxnSpPr/>
          <p:nvPr/>
        </p:nvCxnSpPr>
        <p:spPr>
          <a:xfrm rot="5400000" flipH="1" flipV="1">
            <a:off x="1603376" y="3027363"/>
            <a:ext cx="2630487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Line 51"/>
          <p:cNvSpPr>
            <a:spLocks noChangeShapeType="1"/>
          </p:cNvSpPr>
          <p:nvPr/>
        </p:nvSpPr>
        <p:spPr bwMode="auto">
          <a:xfrm rot="180000">
            <a:off x="5297489" y="1763713"/>
            <a:ext cx="52387" cy="1168400"/>
          </a:xfrm>
          <a:prstGeom prst="line">
            <a:avLst/>
          </a:prstGeom>
          <a:noFill/>
          <a:ln w="38100">
            <a:solidFill>
              <a:srgbClr val="996633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组合 99"/>
          <p:cNvGrpSpPr>
            <a:grpSpLocks/>
          </p:cNvGrpSpPr>
          <p:nvPr/>
        </p:nvGrpSpPr>
        <p:grpSpPr bwMode="auto">
          <a:xfrm>
            <a:off x="2919413" y="1749425"/>
            <a:ext cx="2438400" cy="1168400"/>
            <a:chOff x="1395368" y="1749401"/>
            <a:chExt cx="2437949" cy="1168418"/>
          </a:xfrm>
        </p:grpSpPr>
        <p:cxnSp>
          <p:nvCxnSpPr>
            <p:cNvPr id="97" name="直接连接符 96"/>
            <p:cNvCxnSpPr/>
            <p:nvPr/>
          </p:nvCxnSpPr>
          <p:spPr>
            <a:xfrm rot="16200000" flipH="1" flipV="1">
              <a:off x="2614343" y="530427"/>
              <a:ext cx="0" cy="24379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rot="16200000" flipH="1" flipV="1">
              <a:off x="2595296" y="1717891"/>
              <a:ext cx="0" cy="23998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03"/>
          <p:cNvGrpSpPr>
            <a:grpSpLocks/>
          </p:cNvGrpSpPr>
          <p:nvPr/>
        </p:nvGrpSpPr>
        <p:grpSpPr bwMode="auto">
          <a:xfrm>
            <a:off x="2408239" y="1763713"/>
            <a:ext cx="511175" cy="1155700"/>
            <a:chOff x="884187" y="1763055"/>
            <a:chExt cx="511182" cy="1156351"/>
          </a:xfrm>
        </p:grpSpPr>
        <p:cxnSp>
          <p:nvCxnSpPr>
            <p:cNvPr id="102" name="直接连接符 101"/>
            <p:cNvCxnSpPr/>
            <p:nvPr/>
          </p:nvCxnSpPr>
          <p:spPr>
            <a:xfrm rot="10800000">
              <a:off x="884187" y="2917817"/>
              <a:ext cx="511182" cy="1589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rot="10800000">
              <a:off x="884187" y="1763055"/>
              <a:ext cx="511182" cy="1588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直接连接符 105"/>
          <p:cNvCxnSpPr/>
          <p:nvPr/>
        </p:nvCxnSpPr>
        <p:spPr>
          <a:xfrm rot="5400000">
            <a:off x="2324894" y="2340769"/>
            <a:ext cx="1187450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>
            <a:spLocks noChangeArrowheads="1"/>
          </p:cNvSpPr>
          <p:nvPr/>
        </p:nvSpPr>
        <p:spPr bwMode="auto">
          <a:xfrm>
            <a:off x="2381250" y="1676400"/>
            <a:ext cx="1524000" cy="1314450"/>
          </a:xfrm>
          <a:prstGeom prst="rect">
            <a:avLst/>
          </a:prstGeom>
          <a:noFill/>
          <a:ln w="42545">
            <a:solidFill>
              <a:srgbClr val="0070C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36657" y="1499427"/>
            <a:ext cx="2201862" cy="2228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5" name="椭圆 34"/>
          <p:cNvSpPr>
            <a:spLocks noChangeArrowheads="1"/>
          </p:cNvSpPr>
          <p:nvPr/>
        </p:nvSpPr>
        <p:spPr bwMode="auto">
          <a:xfrm>
            <a:off x="4513264" y="1870076"/>
            <a:ext cx="962025" cy="949325"/>
          </a:xfrm>
          <a:prstGeom prst="ellipse">
            <a:avLst/>
          </a:prstGeom>
          <a:solidFill>
            <a:srgbClr val="CC66FF"/>
          </a:solidFill>
          <a:ln w="42545">
            <a:solidFill>
              <a:srgbClr val="0070C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5" name="组合 38"/>
          <p:cNvGrpSpPr>
            <a:grpSpLocks/>
          </p:cNvGrpSpPr>
          <p:nvPr/>
        </p:nvGrpSpPr>
        <p:grpSpPr bwMode="auto">
          <a:xfrm>
            <a:off x="3903663" y="1870076"/>
            <a:ext cx="1090612" cy="955675"/>
            <a:chOff x="2379632" y="1870053"/>
            <a:chExt cx="1090726" cy="955689"/>
          </a:xfrm>
        </p:grpSpPr>
        <p:cxnSp>
          <p:nvCxnSpPr>
            <p:cNvPr id="37" name="直接连接符 36"/>
            <p:cNvCxnSpPr/>
            <p:nvPr/>
          </p:nvCxnSpPr>
          <p:spPr>
            <a:xfrm rot="16200000" flipV="1">
              <a:off x="2925789" y="1325483"/>
              <a:ext cx="0" cy="10891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rot="16200000" flipV="1">
              <a:off x="2924202" y="2281172"/>
              <a:ext cx="0" cy="10891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42"/>
          <p:cNvGrpSpPr>
            <a:grpSpLocks/>
          </p:cNvGrpSpPr>
          <p:nvPr/>
        </p:nvGrpSpPr>
        <p:grpSpPr bwMode="auto">
          <a:xfrm>
            <a:off x="2371726" y="1858963"/>
            <a:ext cx="1533525" cy="963612"/>
            <a:chOff x="847674" y="1858941"/>
            <a:chExt cx="1533546" cy="963626"/>
          </a:xfrm>
        </p:grpSpPr>
        <p:cxnSp>
          <p:nvCxnSpPr>
            <p:cNvPr id="41" name="直接连接符 40"/>
            <p:cNvCxnSpPr/>
            <p:nvPr/>
          </p:nvCxnSpPr>
          <p:spPr>
            <a:xfrm rot="10800000">
              <a:off x="847674" y="1858941"/>
              <a:ext cx="1533546" cy="1587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rot="10800000">
              <a:off x="847674" y="2820980"/>
              <a:ext cx="1533546" cy="1587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43"/>
          <p:cNvGrpSpPr>
            <a:grpSpLocks/>
          </p:cNvGrpSpPr>
          <p:nvPr/>
        </p:nvGrpSpPr>
        <p:grpSpPr bwMode="auto">
          <a:xfrm>
            <a:off x="2956560" y="3533776"/>
            <a:ext cx="916941" cy="963613"/>
            <a:chOff x="847674" y="1858941"/>
            <a:chExt cx="1533546" cy="963626"/>
          </a:xfrm>
        </p:grpSpPr>
        <p:cxnSp>
          <p:nvCxnSpPr>
            <p:cNvPr id="45" name="直接连接符 44"/>
            <p:cNvCxnSpPr/>
            <p:nvPr/>
          </p:nvCxnSpPr>
          <p:spPr>
            <a:xfrm rot="10800000">
              <a:off x="847674" y="1858941"/>
              <a:ext cx="1533546" cy="1588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10800000">
              <a:off x="847674" y="2820979"/>
              <a:ext cx="1533546" cy="1588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49"/>
          <p:cNvGrpSpPr>
            <a:grpSpLocks/>
          </p:cNvGrpSpPr>
          <p:nvPr/>
        </p:nvGrpSpPr>
        <p:grpSpPr bwMode="auto">
          <a:xfrm>
            <a:off x="2913064" y="2005013"/>
            <a:ext cx="2420937" cy="704850"/>
            <a:chOff x="1389019" y="2004993"/>
            <a:chExt cx="2421374" cy="704185"/>
          </a:xfrm>
        </p:grpSpPr>
        <p:cxnSp>
          <p:nvCxnSpPr>
            <p:cNvPr id="48" name="直接连接符 47"/>
            <p:cNvCxnSpPr>
              <a:stCxn id="35" idx="7"/>
            </p:cNvCxnSpPr>
            <p:nvPr/>
          </p:nvCxnSpPr>
          <p:spPr>
            <a:xfrm rot="16200000" flipV="1">
              <a:off x="2600503" y="799860"/>
              <a:ext cx="4758" cy="24150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16200000" flipV="1">
              <a:off x="2594151" y="1499287"/>
              <a:ext cx="4759" cy="24150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53"/>
          <p:cNvGrpSpPr>
            <a:grpSpLocks/>
          </p:cNvGrpSpPr>
          <p:nvPr/>
        </p:nvGrpSpPr>
        <p:grpSpPr bwMode="auto">
          <a:xfrm>
            <a:off x="2371725" y="2005014"/>
            <a:ext cx="547688" cy="701675"/>
            <a:chOff x="847674" y="2004993"/>
            <a:chExt cx="547696" cy="701685"/>
          </a:xfrm>
        </p:grpSpPr>
        <p:cxnSp>
          <p:nvCxnSpPr>
            <p:cNvPr id="52" name="直接连接符 51"/>
            <p:cNvCxnSpPr/>
            <p:nvPr/>
          </p:nvCxnSpPr>
          <p:spPr>
            <a:xfrm rot="10800000">
              <a:off x="847674" y="2004993"/>
              <a:ext cx="547696" cy="1587"/>
            </a:xfrm>
            <a:prstGeom prst="line">
              <a:avLst/>
            </a:prstGeom>
            <a:ln w="42545">
              <a:solidFill>
                <a:srgbClr val="FF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10800000">
              <a:off x="847674" y="2705090"/>
              <a:ext cx="547696" cy="1588"/>
            </a:xfrm>
            <a:prstGeom prst="line">
              <a:avLst/>
            </a:prstGeom>
            <a:ln w="42545">
              <a:solidFill>
                <a:srgbClr val="FF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2286001" y="2028825"/>
            <a:ext cx="182563" cy="66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99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9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8" grpId="0" autoUpdateAnimBg="0"/>
      <p:bldP spid="99339" grpId="0" autoUpdateAnimBg="0"/>
      <p:bldP spid="99340" grpId="0" autoUpdateAnimBg="0"/>
      <p:bldP spid="99341" grpId="0" autoUpdateAnimBg="0"/>
      <p:bldP spid="99342" grpId="0" autoUpdateAnimBg="0"/>
      <p:bldP spid="99343" grpId="0" autoUpdateAnimBg="0"/>
      <p:bldP spid="99344" grpId="0" autoUpdateAnimBg="0"/>
      <p:bldP spid="95" grpId="0" animBg="1"/>
      <p:bldP spid="110" grpId="0" animBg="1"/>
      <p:bldP spid="35" grpId="0" animBg="1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7"/>
          <p:cNvSpPr txBox="1">
            <a:spLocks noChangeArrowheads="1"/>
          </p:cNvSpPr>
          <p:nvPr/>
        </p:nvSpPr>
        <p:spPr bwMode="auto">
          <a:xfrm>
            <a:off x="1574800" y="674689"/>
            <a:ext cx="3467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/>
              <a:t>例：圆柱中间开槽</a:t>
            </a:r>
          </a:p>
        </p:txBody>
      </p:sp>
      <p:pic>
        <p:nvPicPr>
          <p:cNvPr id="37956" name="Picture 6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7776" y="1501776"/>
            <a:ext cx="4784725" cy="4702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27950" y="2662239"/>
            <a:ext cx="2603500" cy="363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957" name="Picture 6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6214" y="1566863"/>
            <a:ext cx="1825625" cy="23733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72" name="直接连接符 71"/>
          <p:cNvCxnSpPr/>
          <p:nvPr/>
        </p:nvCxnSpPr>
        <p:spPr>
          <a:xfrm>
            <a:off x="3941763" y="2525714"/>
            <a:ext cx="306705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rot="5400000" flipH="1" flipV="1">
            <a:off x="2919413" y="4810125"/>
            <a:ext cx="766762" cy="158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rot="10800000">
            <a:off x="5475288" y="2527300"/>
            <a:ext cx="728662" cy="158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rot="5400000" flipH="1" flipV="1">
            <a:off x="5163344" y="2202656"/>
            <a:ext cx="647700" cy="1588"/>
          </a:xfrm>
          <a:prstGeom prst="line">
            <a:avLst/>
          </a:prstGeom>
          <a:ln w="4254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rot="5400000" flipH="1" flipV="1">
            <a:off x="2913063" y="5564188"/>
            <a:ext cx="766763" cy="158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rot="10800000">
            <a:off x="6192838" y="2527300"/>
            <a:ext cx="728662" cy="158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rot="5400000" flipH="1" flipV="1">
            <a:off x="6574632" y="2205832"/>
            <a:ext cx="647700" cy="1587"/>
          </a:xfrm>
          <a:prstGeom prst="line">
            <a:avLst/>
          </a:prstGeom>
          <a:ln w="4254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958" name="Picture 70"/>
          <p:cNvPicPr>
            <a:picLocks noChangeAspect="1" noChangeArrowheads="1"/>
          </p:cNvPicPr>
          <p:nvPr/>
        </p:nvPicPr>
        <p:blipFill>
          <a:blip r:embed="rId6"/>
          <a:srcRect l="2000"/>
          <a:stretch>
            <a:fillRect/>
          </a:stretch>
        </p:blipFill>
        <p:spPr bwMode="auto">
          <a:xfrm>
            <a:off x="5292726" y="1749425"/>
            <a:ext cx="1819275" cy="2197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7959" name="Picture 7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75576" y="2735263"/>
            <a:ext cx="2460625" cy="3575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95" name="椭圆 94"/>
          <p:cNvSpPr/>
          <p:nvPr/>
        </p:nvSpPr>
        <p:spPr bwMode="auto">
          <a:xfrm>
            <a:off x="3065463" y="4632326"/>
            <a:ext cx="1168400" cy="1133475"/>
          </a:xfrm>
          <a:prstGeom prst="ellipse">
            <a:avLst/>
          </a:prstGeom>
          <a:solidFill>
            <a:srgbClr val="FF3399"/>
          </a:solidFill>
          <a:ln w="4254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2" name="组合 98"/>
          <p:cNvGrpSpPr>
            <a:grpSpLocks/>
          </p:cNvGrpSpPr>
          <p:nvPr/>
        </p:nvGrpSpPr>
        <p:grpSpPr bwMode="auto">
          <a:xfrm>
            <a:off x="3049588" y="3757613"/>
            <a:ext cx="1168400" cy="1441450"/>
            <a:chOff x="1541421" y="3757617"/>
            <a:chExt cx="1170004" cy="1441826"/>
          </a:xfrm>
        </p:grpSpPr>
        <p:cxnSp>
          <p:nvCxnSpPr>
            <p:cNvPr id="97" name="直接连接符 96"/>
            <p:cNvCxnSpPr>
              <a:stCxn id="95" idx="6"/>
            </p:cNvCxnSpPr>
            <p:nvPr/>
          </p:nvCxnSpPr>
          <p:spPr>
            <a:xfrm flipV="1">
              <a:off x="2709835" y="3757617"/>
              <a:ext cx="1590" cy="14418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V="1">
              <a:off x="1541421" y="3757617"/>
              <a:ext cx="1589" cy="14418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960" name="Picture 7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700338" y="1676401"/>
            <a:ext cx="1858962" cy="22510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7962" name="Picture 7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270500" y="1690689"/>
            <a:ext cx="1847850" cy="22637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3" name="组合 118"/>
          <p:cNvGrpSpPr>
            <a:grpSpLocks/>
          </p:cNvGrpSpPr>
          <p:nvPr/>
        </p:nvGrpSpPr>
        <p:grpSpPr bwMode="auto">
          <a:xfrm>
            <a:off x="4552950" y="3760789"/>
            <a:ext cx="2647950" cy="2473325"/>
            <a:chOff x="3029564" y="3760673"/>
            <a:chExt cx="2647352" cy="2473479"/>
          </a:xfrm>
        </p:grpSpPr>
        <p:grpSp>
          <p:nvGrpSpPr>
            <p:cNvPr id="40987" name="组合 113"/>
            <p:cNvGrpSpPr>
              <a:grpSpLocks/>
            </p:cNvGrpSpPr>
            <p:nvPr/>
          </p:nvGrpSpPr>
          <p:grpSpPr bwMode="auto">
            <a:xfrm>
              <a:off x="3029564" y="3760673"/>
              <a:ext cx="1643085" cy="1440954"/>
              <a:chOff x="3023214" y="3754323"/>
              <a:chExt cx="1643085" cy="1440954"/>
            </a:xfrm>
          </p:grpSpPr>
          <p:cxnSp>
            <p:nvCxnSpPr>
              <p:cNvPr id="110" name="直接连接符 109"/>
              <p:cNvCxnSpPr/>
              <p:nvPr/>
            </p:nvCxnSpPr>
            <p:spPr>
              <a:xfrm>
                <a:off x="3023214" y="5194275"/>
                <a:ext cx="16426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rot="16200000" flipH="1">
                <a:off x="3941168" y="4474299"/>
                <a:ext cx="143995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直接连接符 115"/>
            <p:cNvCxnSpPr/>
            <p:nvPr/>
          </p:nvCxnSpPr>
          <p:spPr>
            <a:xfrm rot="16200000" flipV="1">
              <a:off x="3287919" y="3845156"/>
              <a:ext cx="2417914" cy="23600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129"/>
          <p:cNvGrpSpPr>
            <a:grpSpLocks/>
          </p:cNvGrpSpPr>
          <p:nvPr/>
        </p:nvGrpSpPr>
        <p:grpSpPr bwMode="auto">
          <a:xfrm>
            <a:off x="3303588" y="4735513"/>
            <a:ext cx="3340100" cy="944562"/>
            <a:chOff x="1779551" y="4734839"/>
            <a:chExt cx="3340144" cy="945267"/>
          </a:xfrm>
        </p:grpSpPr>
        <p:cxnSp>
          <p:nvCxnSpPr>
            <p:cNvPr id="121" name="直接连接符 120"/>
            <p:cNvCxnSpPr/>
            <p:nvPr/>
          </p:nvCxnSpPr>
          <p:spPr>
            <a:xfrm>
              <a:off x="1779551" y="4734839"/>
              <a:ext cx="242731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1784313" y="5680106"/>
              <a:ext cx="33353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130"/>
          <p:cNvGrpSpPr>
            <a:grpSpLocks/>
          </p:cNvGrpSpPr>
          <p:nvPr/>
        </p:nvGrpSpPr>
        <p:grpSpPr bwMode="auto">
          <a:xfrm>
            <a:off x="5729288" y="2479676"/>
            <a:ext cx="914400" cy="3173413"/>
            <a:chOff x="4206076" y="2479663"/>
            <a:chExt cx="913618" cy="3173354"/>
          </a:xfrm>
        </p:grpSpPr>
        <p:cxnSp>
          <p:nvCxnSpPr>
            <p:cNvPr id="124" name="直接连接符 123"/>
            <p:cNvCxnSpPr/>
            <p:nvPr/>
          </p:nvCxnSpPr>
          <p:spPr>
            <a:xfrm rot="5400000" flipH="1" flipV="1">
              <a:off x="3111515" y="3612324"/>
              <a:ext cx="2190709" cy="15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 rot="5400000" flipH="1" flipV="1">
              <a:off x="3533017" y="4066340"/>
              <a:ext cx="31733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964" name="Picture 7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318125" y="1676400"/>
            <a:ext cx="1716088" cy="8778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3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Top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Text Box 9"/>
          <p:cNvSpPr txBox="1">
            <a:spLocks noChangeArrowheads="1"/>
          </p:cNvSpPr>
          <p:nvPr/>
        </p:nvSpPr>
        <p:spPr bwMode="auto">
          <a:xfrm>
            <a:off x="3832226" y="544513"/>
            <a:ext cx="38782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/>
              <a:t>求圆柱截切后的投影</a:t>
            </a:r>
          </a:p>
        </p:txBody>
      </p:sp>
      <p:pic>
        <p:nvPicPr>
          <p:cNvPr id="10" name="Picture 48">
            <a:extLst>
              <a:ext uri="{FF2B5EF4-FFF2-40B4-BE49-F238E27FC236}">
                <a16:creationId xmlns:a16="http://schemas.microsoft.com/office/drawing/2014/main" id="{26C67EC2-A5B5-40F2-9370-0E23AB132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3713" y="1770545"/>
            <a:ext cx="3614737" cy="3594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" name="Picture 49">
            <a:extLst>
              <a:ext uri="{FF2B5EF4-FFF2-40B4-BE49-F238E27FC236}">
                <a16:creationId xmlns:a16="http://schemas.microsoft.com/office/drawing/2014/main" id="{D8120C4A-74E9-4593-82E6-A3EE86CD6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87988" y="1916595"/>
            <a:ext cx="4552950" cy="3541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2" name="Text Box 90">
            <a:extLst>
              <a:ext uri="{FF2B5EF4-FFF2-40B4-BE49-F238E27FC236}">
                <a16:creationId xmlns:a16="http://schemas.microsoft.com/office/drawing/2014/main" id="{85A17C96-FBBE-43CE-8ADC-38D560473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638" y="5604358"/>
            <a:ext cx="2714625" cy="7016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FF3300"/>
                </a:solidFill>
              </a:rPr>
              <a:t>分析、比较</a:t>
            </a:r>
          </a:p>
        </p:txBody>
      </p:sp>
      <p:sp>
        <p:nvSpPr>
          <p:cNvPr id="13" name="AutoShape 91">
            <a:extLst>
              <a:ext uri="{FF2B5EF4-FFF2-40B4-BE49-F238E27FC236}">
                <a16:creationId xmlns:a16="http://schemas.microsoft.com/office/drawing/2014/main" id="{5EBB2DF9-6B7E-40C2-A700-9D86F84131D4}"/>
              </a:ext>
            </a:extLst>
          </p:cNvPr>
          <p:cNvSpPr>
            <a:spLocks noChangeArrowheads="1"/>
          </p:cNvSpPr>
          <p:nvPr/>
        </p:nvSpPr>
        <p:spPr bwMode="auto">
          <a:xfrm rot="19072094" flipH="1">
            <a:off x="5841938" y="2967520"/>
            <a:ext cx="565150" cy="109538"/>
          </a:xfrm>
          <a:prstGeom prst="leftArrow">
            <a:avLst>
              <a:gd name="adj1" fmla="val 50000"/>
              <a:gd name="adj2" fmla="val 128985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4" name="AutoShape 92">
            <a:extLst>
              <a:ext uri="{FF2B5EF4-FFF2-40B4-BE49-F238E27FC236}">
                <a16:creationId xmlns:a16="http://schemas.microsoft.com/office/drawing/2014/main" id="{7F569251-4014-4AAF-B9EF-064FED8E0AAB}"/>
              </a:ext>
            </a:extLst>
          </p:cNvPr>
          <p:cNvSpPr>
            <a:spLocks noChangeArrowheads="1"/>
          </p:cNvSpPr>
          <p:nvPr/>
        </p:nvSpPr>
        <p:spPr bwMode="auto">
          <a:xfrm rot="19072094" flipH="1">
            <a:off x="4564000" y="2529370"/>
            <a:ext cx="565150" cy="109538"/>
          </a:xfrm>
          <a:prstGeom prst="leftArrow">
            <a:avLst>
              <a:gd name="adj1" fmla="val 50000"/>
              <a:gd name="adj2" fmla="val 128985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5" name="AutoShape 91">
            <a:extLst>
              <a:ext uri="{FF2B5EF4-FFF2-40B4-BE49-F238E27FC236}">
                <a16:creationId xmlns:a16="http://schemas.microsoft.com/office/drawing/2014/main" id="{F43725F0-439A-4210-898F-25E327363083}"/>
              </a:ext>
            </a:extLst>
          </p:cNvPr>
          <p:cNvSpPr>
            <a:spLocks noChangeArrowheads="1"/>
          </p:cNvSpPr>
          <p:nvPr/>
        </p:nvSpPr>
        <p:spPr bwMode="auto">
          <a:xfrm rot="19072094" flipH="1">
            <a:off x="6243575" y="3588233"/>
            <a:ext cx="565150" cy="109537"/>
          </a:xfrm>
          <a:prstGeom prst="leftArrow">
            <a:avLst>
              <a:gd name="adj1" fmla="val 50000"/>
              <a:gd name="adj2" fmla="val 128986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6" name="AutoShape 92">
            <a:extLst>
              <a:ext uri="{FF2B5EF4-FFF2-40B4-BE49-F238E27FC236}">
                <a16:creationId xmlns:a16="http://schemas.microsoft.com/office/drawing/2014/main" id="{A2C99495-7F7C-4ACA-9237-735C95F58C41}"/>
              </a:ext>
            </a:extLst>
          </p:cNvPr>
          <p:cNvSpPr>
            <a:spLocks noChangeArrowheads="1"/>
          </p:cNvSpPr>
          <p:nvPr/>
        </p:nvSpPr>
        <p:spPr bwMode="auto">
          <a:xfrm rot="19072094" flipH="1">
            <a:off x="3833750" y="2273783"/>
            <a:ext cx="565150" cy="109537"/>
          </a:xfrm>
          <a:prstGeom prst="leftArrow">
            <a:avLst>
              <a:gd name="adj1" fmla="val 50000"/>
              <a:gd name="adj2" fmla="val 128986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63700" y="635000"/>
            <a:ext cx="7996696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1" hangingPunct="1"/>
            <a:r>
              <a:rPr lang="zh-CN" altLang="en-US" sz="2800">
                <a:latin typeface="黑体" pitchFamily="49" charset="-122"/>
                <a:ea typeface="黑体" pitchFamily="49" charset="-122"/>
              </a:rPr>
              <a:t>平面与圆柱体相交，根据截平面与圆柱体轴线的相对位置不同，其截交线的基本形式为：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43011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27860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800">
                <a:latin typeface="黑体" pitchFamily="49" charset="-122"/>
                <a:ea typeface="黑体" pitchFamily="49" charset="-122"/>
              </a:rPr>
              <a:t>矩形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43012" name="Text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52800" y="364331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400">
                <a:latin typeface="黑体" pitchFamily="49" charset="-122"/>
                <a:ea typeface="黑体" pitchFamily="49" charset="-122"/>
              </a:rPr>
              <a:t>圆</a:t>
            </a:r>
            <a:endParaRPr lang="zh-CN" altLang="en-US" sz="24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43013" name="Text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45005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800">
                <a:latin typeface="黑体" pitchFamily="49" charset="-122"/>
                <a:ea typeface="黑体" pitchFamily="49" charset="-122"/>
              </a:rPr>
              <a:t>椭圆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43014" name="Text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5357814"/>
            <a:ext cx="431323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两条平行线</a:t>
            </a:r>
          </a:p>
        </p:txBody>
      </p:sp>
      <p:sp>
        <p:nvSpPr>
          <p:cNvPr id="43015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3016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3017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3018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3019" name="圆角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43020" name="组合 1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3022" name="TitleBackground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43023" name="ColorBlock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43024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sym typeface="Microsoft Yahei" pitchFamily="34" charset="-122"/>
                </a:rPr>
                <a:t>多选题</a:t>
              </a:r>
            </a:p>
          </p:txBody>
        </p:sp>
        <p:sp>
          <p:nvSpPr>
            <p:cNvPr id="43025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43021" name="图片 1" descr="tmp2694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8FD3B5F-4F0B-4B4C-835A-42887DCB789E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auto"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rtlCol="0" anchor="ctr" anchorCtr="1">
            <a:noAutofit/>
          </a:bodyPr>
          <a:lstStyle/>
          <a:p>
            <a:pPr marL="457200" indent="-457200" eaLnBrk="1" hangingPunct="1"/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47"/>
          <p:cNvSpPr txBox="1">
            <a:spLocks noChangeArrowheads="1"/>
          </p:cNvSpPr>
          <p:nvPr/>
        </p:nvSpPr>
        <p:spPr bwMode="auto">
          <a:xfrm>
            <a:off x="3429782" y="269859"/>
            <a:ext cx="4287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dirty="0"/>
              <a:t>例：圆柱被正垂面截切</a:t>
            </a:r>
          </a:p>
        </p:txBody>
      </p:sp>
      <p:pic>
        <p:nvPicPr>
          <p:cNvPr id="152" name="Picture 55">
            <a:extLst>
              <a:ext uri="{FF2B5EF4-FFF2-40B4-BE49-F238E27FC236}">
                <a16:creationId xmlns:a16="http://schemas.microsoft.com/office/drawing/2014/main" id="{46100171-5789-460E-97BD-6BD674A1D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9053" y="1276934"/>
            <a:ext cx="2592387" cy="55102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53" name="Text Box 2">
            <a:extLst>
              <a:ext uri="{FF2B5EF4-FFF2-40B4-BE49-F238E27FC236}">
                <a16:creationId xmlns:a16="http://schemas.microsoft.com/office/drawing/2014/main" id="{6CE75DCC-1F67-4EAD-A095-640C8EFD5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012" y="1692203"/>
            <a:ext cx="3384550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/>
              <a:t>截交线的已知投影？</a:t>
            </a:r>
          </a:p>
        </p:txBody>
      </p:sp>
      <p:sp>
        <p:nvSpPr>
          <p:cNvPr id="154" name="Text Box 53">
            <a:extLst>
              <a:ext uri="{FF2B5EF4-FFF2-40B4-BE49-F238E27FC236}">
                <a16:creationId xmlns:a16="http://schemas.microsoft.com/office/drawing/2014/main" id="{1C5A585C-B688-408E-B361-4B15E9CD3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565" y="1473089"/>
            <a:ext cx="3249613" cy="946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dirty="0"/>
              <a:t>截交线的侧面投影是什么形状？</a:t>
            </a:r>
          </a:p>
        </p:txBody>
      </p:sp>
      <p:sp>
        <p:nvSpPr>
          <p:cNvPr id="155" name="Text Box 55">
            <a:extLst>
              <a:ext uri="{FF2B5EF4-FFF2-40B4-BE49-F238E27FC236}">
                <a16:creationId xmlns:a16="http://schemas.microsoft.com/office/drawing/2014/main" id="{C8461282-A206-48AE-ACAE-2BF3D58D4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693" y="2591344"/>
            <a:ext cx="3103563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dirty="0"/>
              <a:t>截交线的空间形状？   </a:t>
            </a:r>
          </a:p>
        </p:txBody>
      </p:sp>
      <p:sp>
        <p:nvSpPr>
          <p:cNvPr id="156" name="Text Box 49">
            <a:extLst>
              <a:ext uri="{FF2B5EF4-FFF2-40B4-BE49-F238E27FC236}">
                <a16:creationId xmlns:a16="http://schemas.microsoft.com/office/drawing/2014/main" id="{78075B0D-95E3-45DC-A0DD-2BCB6697C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343" y="3212007"/>
            <a:ext cx="198002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找特殊点</a:t>
            </a:r>
          </a:p>
        </p:txBody>
      </p:sp>
      <p:pic>
        <p:nvPicPr>
          <p:cNvPr id="157" name="Picture 2">
            <a:extLst>
              <a:ext uri="{FF2B5EF4-FFF2-40B4-BE49-F238E27FC236}">
                <a16:creationId xmlns:a16="http://schemas.microsoft.com/office/drawing/2014/main" id="{3861B0C3-3354-4159-A060-B6C746C97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4953" y="1286459"/>
            <a:ext cx="2336800" cy="28924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58" name="Freeform 6">
            <a:extLst>
              <a:ext uri="{FF2B5EF4-FFF2-40B4-BE49-F238E27FC236}">
                <a16:creationId xmlns:a16="http://schemas.microsoft.com/office/drawing/2014/main" id="{D986B7CA-43A0-4AF6-8A66-E880E4631A69}"/>
              </a:ext>
            </a:extLst>
          </p:cNvPr>
          <p:cNvSpPr>
            <a:spLocks/>
          </p:cNvSpPr>
          <p:nvPr/>
        </p:nvSpPr>
        <p:spPr bwMode="auto">
          <a:xfrm flipV="1">
            <a:off x="3579803" y="1815096"/>
            <a:ext cx="1679575" cy="369888"/>
          </a:xfrm>
          <a:custGeom>
            <a:avLst/>
            <a:gdLst>
              <a:gd name="T0" fmla="*/ 0 w 3050"/>
              <a:gd name="T1" fmla="*/ 0 h 1"/>
              <a:gd name="T2" fmla="*/ 2147483647 w 3050"/>
              <a:gd name="T3" fmla="*/ 0 h 1"/>
              <a:gd name="T4" fmla="*/ 0 60000 65536"/>
              <a:gd name="T5" fmla="*/ 0 60000 65536"/>
              <a:gd name="T6" fmla="*/ 0 w 3050"/>
              <a:gd name="T7" fmla="*/ 0 h 1"/>
              <a:gd name="T8" fmla="*/ 3050 w 305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50" h="1">
                <a:moveTo>
                  <a:pt x="0" y="0"/>
                </a:moveTo>
                <a:lnTo>
                  <a:pt x="3050" y="0"/>
                </a:ln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9" name="Line 14">
            <a:extLst>
              <a:ext uri="{FF2B5EF4-FFF2-40B4-BE49-F238E27FC236}">
                <a16:creationId xmlns:a16="http://schemas.microsoft.com/office/drawing/2014/main" id="{7E2B747E-1E8C-4DDD-B55D-91C98FD4B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0003" y="2715209"/>
            <a:ext cx="3541712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" name="Line 28">
            <a:extLst>
              <a:ext uri="{FF2B5EF4-FFF2-40B4-BE49-F238E27FC236}">
                <a16:creationId xmlns:a16="http://schemas.microsoft.com/office/drawing/2014/main" id="{990B9FCF-15BE-4DA9-8BB7-5F9A90A1A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7665" y="3248609"/>
            <a:ext cx="3541713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1" name="Text Box 29">
            <a:extLst>
              <a:ext uri="{FF2B5EF4-FFF2-40B4-BE49-F238E27FC236}">
                <a16:creationId xmlns:a16="http://schemas.microsoft.com/office/drawing/2014/main" id="{CA97AFB9-5C2D-40DC-8FC5-CA05FAF26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915" y="2077034"/>
            <a:ext cx="290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162" name="Text Box 33">
            <a:extLst>
              <a:ext uri="{FF2B5EF4-FFF2-40B4-BE49-F238E27FC236}">
                <a16:creationId xmlns:a16="http://schemas.microsoft.com/office/drawing/2014/main" id="{FD5A6879-5252-40D3-A68E-7298A00F9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440" y="3135896"/>
            <a:ext cx="2571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900">
                <a:solidFill>
                  <a:srgbClr val="FF0000"/>
                </a:solidFill>
              </a:rPr>
              <a:t>●</a:t>
            </a:r>
            <a:endParaRPr lang="en-US" altLang="zh-CN" sz="1600"/>
          </a:p>
        </p:txBody>
      </p:sp>
      <p:grpSp>
        <p:nvGrpSpPr>
          <p:cNvPr id="163" name="Group 30">
            <a:extLst>
              <a:ext uri="{FF2B5EF4-FFF2-40B4-BE49-F238E27FC236}">
                <a16:creationId xmlns:a16="http://schemas.microsoft.com/office/drawing/2014/main" id="{FC9F2C6C-EF4C-4A9B-8A03-EA68F5755E5F}"/>
              </a:ext>
            </a:extLst>
          </p:cNvPr>
          <p:cNvGrpSpPr>
            <a:grpSpLocks/>
          </p:cNvGrpSpPr>
          <p:nvPr/>
        </p:nvGrpSpPr>
        <p:grpSpPr bwMode="auto">
          <a:xfrm>
            <a:off x="4202103" y="2591384"/>
            <a:ext cx="2125662" cy="228600"/>
            <a:chOff x="3120" y="1152"/>
            <a:chExt cx="1490" cy="144"/>
          </a:xfrm>
        </p:grpSpPr>
        <p:sp>
          <p:nvSpPr>
            <p:cNvPr id="164" name="Text Box 31">
              <a:extLst>
                <a:ext uri="{FF2B5EF4-FFF2-40B4-BE49-F238E27FC236}">
                  <a16:creationId xmlns:a16="http://schemas.microsoft.com/office/drawing/2014/main" id="{9A908F3C-FEC7-478B-8AE6-2CC765F7A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152"/>
              <a:ext cx="18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FF0000"/>
                  </a:solidFill>
                </a:rPr>
                <a:t>●</a:t>
              </a:r>
              <a:endParaRPr lang="en-US" altLang="zh-CN" sz="1600"/>
            </a:p>
          </p:txBody>
        </p:sp>
        <p:sp>
          <p:nvSpPr>
            <p:cNvPr id="165" name="Text Box 32">
              <a:extLst>
                <a:ext uri="{FF2B5EF4-FFF2-40B4-BE49-F238E27FC236}">
                  <a16:creationId xmlns:a16="http://schemas.microsoft.com/office/drawing/2014/main" id="{CE4FBDA0-5CB4-4B5C-B47B-E681C6E12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52"/>
              <a:ext cx="18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FF0000"/>
                  </a:solidFill>
                </a:rPr>
                <a:t>●</a:t>
              </a:r>
              <a:endParaRPr lang="en-US" altLang="zh-CN" sz="1600"/>
            </a:p>
          </p:txBody>
        </p:sp>
      </p:grpSp>
      <p:grpSp>
        <p:nvGrpSpPr>
          <p:cNvPr id="166" name="组合 31">
            <a:extLst>
              <a:ext uri="{FF2B5EF4-FFF2-40B4-BE49-F238E27FC236}">
                <a16:creationId xmlns:a16="http://schemas.microsoft.com/office/drawing/2014/main" id="{AD8AD5B8-9D23-4F34-9280-1593B2B64653}"/>
              </a:ext>
            </a:extLst>
          </p:cNvPr>
          <p:cNvGrpSpPr>
            <a:grpSpLocks/>
          </p:cNvGrpSpPr>
          <p:nvPr/>
        </p:nvGrpSpPr>
        <p:grpSpPr bwMode="auto">
          <a:xfrm>
            <a:off x="4243379" y="2699919"/>
            <a:ext cx="2243136" cy="10529"/>
            <a:chOff x="3314684" y="2767003"/>
            <a:chExt cx="2243167" cy="10528"/>
          </a:xfrm>
        </p:grpSpPr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2FE53E08-31A3-4AA4-960D-C0F336F0F94E}"/>
                </a:ext>
              </a:extLst>
            </p:cNvPr>
            <p:cNvCxnSpPr>
              <a:cxnSpLocks/>
            </p:cNvCxnSpPr>
            <p:nvPr/>
          </p:nvCxnSpPr>
          <p:spPr>
            <a:xfrm>
              <a:off x="3314684" y="2772769"/>
              <a:ext cx="342905" cy="4762"/>
            </a:xfrm>
            <a:prstGeom prst="line">
              <a:avLst/>
            </a:prstGeom>
            <a:ln w="1270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E1DC98A4-61D1-4CA7-BA17-3B9F65E0084F}"/>
                </a:ext>
              </a:extLst>
            </p:cNvPr>
            <p:cNvCxnSpPr/>
            <p:nvPr/>
          </p:nvCxnSpPr>
          <p:spPr>
            <a:xfrm>
              <a:off x="3732201" y="2771765"/>
              <a:ext cx="7302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E7D2D942-450B-430E-A998-FC0F893AAB41}"/>
                </a:ext>
              </a:extLst>
            </p:cNvPr>
            <p:cNvCxnSpPr/>
            <p:nvPr/>
          </p:nvCxnSpPr>
          <p:spPr>
            <a:xfrm>
              <a:off x="3878253" y="2771765"/>
              <a:ext cx="766772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593DD286-3450-442B-855D-FC9D30732A88}"/>
                </a:ext>
              </a:extLst>
            </p:cNvPr>
            <p:cNvCxnSpPr/>
            <p:nvPr/>
          </p:nvCxnSpPr>
          <p:spPr>
            <a:xfrm>
              <a:off x="4681539" y="2771765"/>
              <a:ext cx="7302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28A71F3A-0196-4065-837B-CBCA237A624C}"/>
                </a:ext>
              </a:extLst>
            </p:cNvPr>
            <p:cNvCxnSpPr/>
            <p:nvPr/>
          </p:nvCxnSpPr>
          <p:spPr>
            <a:xfrm>
              <a:off x="4791078" y="2767003"/>
              <a:ext cx="766773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Text Box 50">
            <a:extLst>
              <a:ext uri="{FF2B5EF4-FFF2-40B4-BE49-F238E27FC236}">
                <a16:creationId xmlns:a16="http://schemas.microsoft.com/office/drawing/2014/main" id="{4EDE972B-06E5-4FB5-8423-A72C7EFBD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693" y="3796207"/>
            <a:ext cx="2339102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补充中间点</a:t>
            </a:r>
          </a:p>
        </p:txBody>
      </p:sp>
      <p:sp>
        <p:nvSpPr>
          <p:cNvPr id="173" name="Freeform 6">
            <a:extLst>
              <a:ext uri="{FF2B5EF4-FFF2-40B4-BE49-F238E27FC236}">
                <a16:creationId xmlns:a16="http://schemas.microsoft.com/office/drawing/2014/main" id="{AF9A8ADF-2A98-4ADA-88F4-F3780D38EF7B}"/>
              </a:ext>
            </a:extLst>
          </p:cNvPr>
          <p:cNvSpPr>
            <a:spLocks/>
          </p:cNvSpPr>
          <p:nvPr/>
        </p:nvSpPr>
        <p:spPr bwMode="auto">
          <a:xfrm>
            <a:off x="2133590" y="2958096"/>
            <a:ext cx="4176713" cy="1588"/>
          </a:xfrm>
          <a:custGeom>
            <a:avLst/>
            <a:gdLst>
              <a:gd name="T0" fmla="*/ 0 w 3050"/>
              <a:gd name="T1" fmla="*/ 0 h 1"/>
              <a:gd name="T2" fmla="*/ 2147483647 w 3050"/>
              <a:gd name="T3" fmla="*/ 0 h 1"/>
              <a:gd name="T4" fmla="*/ 0 60000 65536"/>
              <a:gd name="T5" fmla="*/ 0 60000 65536"/>
              <a:gd name="T6" fmla="*/ 0 w 3050"/>
              <a:gd name="T7" fmla="*/ 0 h 1"/>
              <a:gd name="T8" fmla="*/ 3050 w 305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50" h="1">
                <a:moveTo>
                  <a:pt x="0" y="0"/>
                </a:moveTo>
                <a:lnTo>
                  <a:pt x="3050" y="0"/>
                </a:ln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" name="Freeform 7">
            <a:extLst>
              <a:ext uri="{FF2B5EF4-FFF2-40B4-BE49-F238E27FC236}">
                <a16:creationId xmlns:a16="http://schemas.microsoft.com/office/drawing/2014/main" id="{F27CEDDE-4F53-4A9D-A1AF-77744B6F72AF}"/>
              </a:ext>
            </a:extLst>
          </p:cNvPr>
          <p:cNvSpPr>
            <a:spLocks/>
          </p:cNvSpPr>
          <p:nvPr/>
        </p:nvSpPr>
        <p:spPr bwMode="auto">
          <a:xfrm>
            <a:off x="2200265" y="2918409"/>
            <a:ext cx="1588" cy="3348037"/>
          </a:xfrm>
          <a:custGeom>
            <a:avLst/>
            <a:gdLst>
              <a:gd name="T0" fmla="*/ 0 w 1"/>
              <a:gd name="T1" fmla="*/ 0 h 2725"/>
              <a:gd name="T2" fmla="*/ 0 w 1"/>
              <a:gd name="T3" fmla="*/ 2147483647 h 2725"/>
              <a:gd name="T4" fmla="*/ 0 60000 65536"/>
              <a:gd name="T5" fmla="*/ 0 60000 65536"/>
              <a:gd name="T6" fmla="*/ 0 w 1"/>
              <a:gd name="T7" fmla="*/ 0 h 2725"/>
              <a:gd name="T8" fmla="*/ 1 w 1"/>
              <a:gd name="T9" fmla="*/ 2725 h 27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725">
                <a:moveTo>
                  <a:pt x="0" y="0"/>
                </a:moveTo>
                <a:lnTo>
                  <a:pt x="0" y="2725"/>
                </a:ln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5" name="Freeform 12">
            <a:extLst>
              <a:ext uri="{FF2B5EF4-FFF2-40B4-BE49-F238E27FC236}">
                <a16:creationId xmlns:a16="http://schemas.microsoft.com/office/drawing/2014/main" id="{06AAFFFD-AFA9-4FE1-83D6-762C7178B257}"/>
              </a:ext>
            </a:extLst>
          </p:cNvPr>
          <p:cNvSpPr>
            <a:spLocks/>
          </p:cNvSpPr>
          <p:nvPr/>
        </p:nvSpPr>
        <p:spPr bwMode="auto">
          <a:xfrm>
            <a:off x="2200265" y="4586871"/>
            <a:ext cx="1588" cy="827088"/>
          </a:xfrm>
          <a:custGeom>
            <a:avLst/>
            <a:gdLst>
              <a:gd name="T0" fmla="*/ 0 w 1"/>
              <a:gd name="T1" fmla="*/ 0 h 551"/>
              <a:gd name="T2" fmla="*/ 2147483647 w 1"/>
              <a:gd name="T3" fmla="*/ 2147483647 h 551"/>
              <a:gd name="T4" fmla="*/ 0 60000 65536"/>
              <a:gd name="T5" fmla="*/ 0 60000 65536"/>
              <a:gd name="T6" fmla="*/ 0 w 1"/>
              <a:gd name="T7" fmla="*/ 0 h 551"/>
              <a:gd name="T8" fmla="*/ 1 w 1"/>
              <a:gd name="T9" fmla="*/ 551 h 55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51">
                <a:moveTo>
                  <a:pt x="0" y="0"/>
                </a:moveTo>
                <a:lnTo>
                  <a:pt x="1" y="551"/>
                </a:lnTo>
              </a:path>
            </a:pathLst>
          </a:custGeom>
          <a:noFill/>
          <a:ln w="38100">
            <a:solidFill>
              <a:srgbClr val="9933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" name="Freeform 13">
            <a:extLst>
              <a:ext uri="{FF2B5EF4-FFF2-40B4-BE49-F238E27FC236}">
                <a16:creationId xmlns:a16="http://schemas.microsoft.com/office/drawing/2014/main" id="{D8F09021-CA53-4861-B962-ED1FF4D64508}"/>
              </a:ext>
            </a:extLst>
          </p:cNvPr>
          <p:cNvSpPr>
            <a:spLocks/>
          </p:cNvSpPr>
          <p:nvPr/>
        </p:nvSpPr>
        <p:spPr bwMode="auto">
          <a:xfrm>
            <a:off x="4444990" y="2959684"/>
            <a:ext cx="827088" cy="1587"/>
          </a:xfrm>
          <a:custGeom>
            <a:avLst/>
            <a:gdLst>
              <a:gd name="T0" fmla="*/ 0 w 564"/>
              <a:gd name="T1" fmla="*/ 0 h 1"/>
              <a:gd name="T2" fmla="*/ 2147483647 w 564"/>
              <a:gd name="T3" fmla="*/ 0 h 1"/>
              <a:gd name="T4" fmla="*/ 0 60000 65536"/>
              <a:gd name="T5" fmla="*/ 0 60000 65536"/>
              <a:gd name="T6" fmla="*/ 0 w 564"/>
              <a:gd name="T7" fmla="*/ 0 h 1"/>
              <a:gd name="T8" fmla="*/ 564 w 56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1">
                <a:moveTo>
                  <a:pt x="0" y="0"/>
                </a:moveTo>
                <a:lnTo>
                  <a:pt x="564" y="0"/>
                </a:lnTo>
              </a:path>
            </a:pathLst>
          </a:custGeom>
          <a:noFill/>
          <a:ln w="38100">
            <a:solidFill>
              <a:srgbClr val="9933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7" name="Text Box 34">
            <a:extLst>
              <a:ext uri="{FF2B5EF4-FFF2-40B4-BE49-F238E27FC236}">
                <a16:creationId xmlns:a16="http://schemas.microsoft.com/office/drawing/2014/main" id="{49A07B22-0C77-4AA2-B872-9033E5A77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2753" y="2837446"/>
            <a:ext cx="2984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900">
                <a:solidFill>
                  <a:srgbClr val="FF0000"/>
                </a:solidFill>
              </a:rPr>
              <a:t>●</a:t>
            </a:r>
            <a:endParaRPr lang="en-US" altLang="zh-CN" sz="1600"/>
          </a:p>
        </p:txBody>
      </p:sp>
      <p:grpSp>
        <p:nvGrpSpPr>
          <p:cNvPr id="178" name="组合 41">
            <a:extLst>
              <a:ext uri="{FF2B5EF4-FFF2-40B4-BE49-F238E27FC236}">
                <a16:creationId xmlns:a16="http://schemas.microsoft.com/office/drawing/2014/main" id="{17C5BAF1-E814-4EC6-90A2-56E94A75DDB8}"/>
              </a:ext>
            </a:extLst>
          </p:cNvPr>
          <p:cNvGrpSpPr>
            <a:grpSpLocks/>
          </p:cNvGrpSpPr>
          <p:nvPr/>
        </p:nvGrpSpPr>
        <p:grpSpPr bwMode="auto">
          <a:xfrm>
            <a:off x="2200265" y="2956509"/>
            <a:ext cx="3887788" cy="3287712"/>
            <a:chOff x="1403401" y="3027357"/>
            <a:chExt cx="3887060" cy="3287818"/>
          </a:xfrm>
        </p:grpSpPr>
        <p:sp>
          <p:nvSpPr>
            <p:cNvPr id="179" name="Line 10">
              <a:extLst>
                <a:ext uri="{FF2B5EF4-FFF2-40B4-BE49-F238E27FC236}">
                  <a16:creationId xmlns:a16="http://schemas.microsoft.com/office/drawing/2014/main" id="{AAEC5108-F4B7-461E-B180-4AD6B90AC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401" y="5487175"/>
              <a:ext cx="0" cy="828000"/>
            </a:xfrm>
            <a:prstGeom prst="line">
              <a:avLst/>
            </a:prstGeom>
            <a:noFill/>
            <a:ln w="38100">
              <a:solidFill>
                <a:srgbClr val="9933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0" name="Freeform 9">
              <a:extLst>
                <a:ext uri="{FF2B5EF4-FFF2-40B4-BE49-F238E27FC236}">
                  <a16:creationId xmlns:a16="http://schemas.microsoft.com/office/drawing/2014/main" id="{5E3D32B2-0C06-4E37-9F4C-7EE678ECF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461" y="3027357"/>
              <a:ext cx="828000" cy="1588"/>
            </a:xfrm>
            <a:custGeom>
              <a:avLst/>
              <a:gdLst>
                <a:gd name="T0" fmla="*/ 0 w 578"/>
                <a:gd name="T1" fmla="*/ 0 h 1"/>
                <a:gd name="T2" fmla="*/ 2147483647 w 578"/>
                <a:gd name="T3" fmla="*/ 0 h 1"/>
                <a:gd name="T4" fmla="*/ 0 60000 65536"/>
                <a:gd name="T5" fmla="*/ 0 60000 65536"/>
                <a:gd name="T6" fmla="*/ 0 w 578"/>
                <a:gd name="T7" fmla="*/ 0 h 1"/>
                <a:gd name="T8" fmla="*/ 578 w 57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78" h="1">
                  <a:moveTo>
                    <a:pt x="0" y="0"/>
                  </a:moveTo>
                  <a:lnTo>
                    <a:pt x="578" y="0"/>
                  </a:lnTo>
                </a:path>
              </a:pathLst>
            </a:custGeom>
            <a:noFill/>
            <a:ln w="38100">
              <a:solidFill>
                <a:srgbClr val="9933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1" name="Text Box 31">
            <a:extLst>
              <a:ext uri="{FF2B5EF4-FFF2-40B4-BE49-F238E27FC236}">
                <a16:creationId xmlns:a16="http://schemas.microsoft.com/office/drawing/2014/main" id="{5BBC8067-64D3-45C9-BEEE-F40F6398B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290" y="2835859"/>
            <a:ext cx="2984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900">
                <a:solidFill>
                  <a:srgbClr val="FF0000"/>
                </a:solidFill>
              </a:rPr>
              <a:t>●</a:t>
            </a:r>
            <a:endParaRPr lang="en-US" altLang="zh-CN" sz="1600"/>
          </a:p>
        </p:txBody>
      </p:sp>
      <p:sp>
        <p:nvSpPr>
          <p:cNvPr id="182" name="Freeform 39">
            <a:extLst>
              <a:ext uri="{FF2B5EF4-FFF2-40B4-BE49-F238E27FC236}">
                <a16:creationId xmlns:a16="http://schemas.microsoft.com/office/drawing/2014/main" id="{CE3BC9C2-B336-419F-986F-3F186F0E74AC}"/>
              </a:ext>
            </a:extLst>
          </p:cNvPr>
          <p:cNvSpPr>
            <a:spLocks/>
          </p:cNvSpPr>
          <p:nvPr/>
        </p:nvSpPr>
        <p:spPr bwMode="auto">
          <a:xfrm>
            <a:off x="3060690" y="2269121"/>
            <a:ext cx="1588" cy="3995738"/>
          </a:xfrm>
          <a:custGeom>
            <a:avLst/>
            <a:gdLst>
              <a:gd name="T0" fmla="*/ 0 w 1"/>
              <a:gd name="T1" fmla="*/ 0 h 3049"/>
              <a:gd name="T2" fmla="*/ 0 w 1"/>
              <a:gd name="T3" fmla="*/ 2147483647 h 3049"/>
              <a:gd name="T4" fmla="*/ 0 60000 65536"/>
              <a:gd name="T5" fmla="*/ 0 60000 65536"/>
              <a:gd name="T6" fmla="*/ 0 w 1"/>
              <a:gd name="T7" fmla="*/ 0 h 3049"/>
              <a:gd name="T8" fmla="*/ 1 w 1"/>
              <a:gd name="T9" fmla="*/ 3049 h 30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049">
                <a:moveTo>
                  <a:pt x="0" y="0"/>
                </a:moveTo>
                <a:lnTo>
                  <a:pt x="0" y="3049"/>
                </a:ln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" name="Freeform 43">
            <a:extLst>
              <a:ext uri="{FF2B5EF4-FFF2-40B4-BE49-F238E27FC236}">
                <a16:creationId xmlns:a16="http://schemas.microsoft.com/office/drawing/2014/main" id="{07AC86F3-6820-4951-81C6-802929CC102D}"/>
              </a:ext>
            </a:extLst>
          </p:cNvPr>
          <p:cNvSpPr>
            <a:spLocks/>
          </p:cNvSpPr>
          <p:nvPr/>
        </p:nvSpPr>
        <p:spPr bwMode="auto">
          <a:xfrm>
            <a:off x="2986078" y="2477084"/>
            <a:ext cx="3276600" cy="1587"/>
          </a:xfrm>
          <a:custGeom>
            <a:avLst/>
            <a:gdLst>
              <a:gd name="T0" fmla="*/ 0 w 2513"/>
              <a:gd name="T1" fmla="*/ 0 h 1"/>
              <a:gd name="T2" fmla="*/ 2147483647 w 2513"/>
              <a:gd name="T3" fmla="*/ 0 h 1"/>
              <a:gd name="T4" fmla="*/ 0 60000 65536"/>
              <a:gd name="T5" fmla="*/ 0 60000 65536"/>
              <a:gd name="T6" fmla="*/ 0 w 2513"/>
              <a:gd name="T7" fmla="*/ 0 h 1"/>
              <a:gd name="T8" fmla="*/ 2513 w 251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13" h="1">
                <a:moveTo>
                  <a:pt x="0" y="0"/>
                </a:moveTo>
                <a:lnTo>
                  <a:pt x="2513" y="0"/>
                </a:ln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" name="Freeform 12">
            <a:extLst>
              <a:ext uri="{FF2B5EF4-FFF2-40B4-BE49-F238E27FC236}">
                <a16:creationId xmlns:a16="http://schemas.microsoft.com/office/drawing/2014/main" id="{79C29FAB-179F-4F20-8E7E-091128E7E4A5}"/>
              </a:ext>
            </a:extLst>
          </p:cNvPr>
          <p:cNvSpPr>
            <a:spLocks/>
          </p:cNvSpPr>
          <p:nvPr/>
        </p:nvSpPr>
        <p:spPr bwMode="auto">
          <a:xfrm>
            <a:off x="3062278" y="4577346"/>
            <a:ext cx="1587" cy="827088"/>
          </a:xfrm>
          <a:custGeom>
            <a:avLst/>
            <a:gdLst>
              <a:gd name="T0" fmla="*/ 0 w 1"/>
              <a:gd name="T1" fmla="*/ 0 h 551"/>
              <a:gd name="T2" fmla="*/ 2147483647 w 1"/>
              <a:gd name="T3" fmla="*/ 2147483647 h 551"/>
              <a:gd name="T4" fmla="*/ 0 60000 65536"/>
              <a:gd name="T5" fmla="*/ 0 60000 65536"/>
              <a:gd name="T6" fmla="*/ 0 w 1"/>
              <a:gd name="T7" fmla="*/ 0 h 551"/>
              <a:gd name="T8" fmla="*/ 1 w 1"/>
              <a:gd name="T9" fmla="*/ 551 h 55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51">
                <a:moveTo>
                  <a:pt x="0" y="0"/>
                </a:moveTo>
                <a:lnTo>
                  <a:pt x="1" y="551"/>
                </a:lnTo>
              </a:path>
            </a:pathLst>
          </a:custGeom>
          <a:noFill/>
          <a:ln w="38100">
            <a:solidFill>
              <a:srgbClr val="9933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5" name="Freeform 13">
            <a:extLst>
              <a:ext uri="{FF2B5EF4-FFF2-40B4-BE49-F238E27FC236}">
                <a16:creationId xmlns:a16="http://schemas.microsoft.com/office/drawing/2014/main" id="{A6E263A8-F47B-4471-82B9-2A461CCA768C}"/>
              </a:ext>
            </a:extLst>
          </p:cNvPr>
          <p:cNvSpPr>
            <a:spLocks/>
          </p:cNvSpPr>
          <p:nvPr/>
        </p:nvSpPr>
        <p:spPr bwMode="auto">
          <a:xfrm>
            <a:off x="4435465" y="2467559"/>
            <a:ext cx="828675" cy="1587"/>
          </a:xfrm>
          <a:custGeom>
            <a:avLst/>
            <a:gdLst>
              <a:gd name="T0" fmla="*/ 0 w 564"/>
              <a:gd name="T1" fmla="*/ 0 h 1"/>
              <a:gd name="T2" fmla="*/ 2147483647 w 564"/>
              <a:gd name="T3" fmla="*/ 0 h 1"/>
              <a:gd name="T4" fmla="*/ 0 60000 65536"/>
              <a:gd name="T5" fmla="*/ 0 60000 65536"/>
              <a:gd name="T6" fmla="*/ 0 w 564"/>
              <a:gd name="T7" fmla="*/ 0 h 1"/>
              <a:gd name="T8" fmla="*/ 564 w 56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1">
                <a:moveTo>
                  <a:pt x="0" y="0"/>
                </a:moveTo>
                <a:lnTo>
                  <a:pt x="564" y="0"/>
                </a:lnTo>
              </a:path>
            </a:pathLst>
          </a:custGeom>
          <a:noFill/>
          <a:ln w="38100">
            <a:solidFill>
              <a:srgbClr val="9933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6" name="Freeform 12">
            <a:extLst>
              <a:ext uri="{FF2B5EF4-FFF2-40B4-BE49-F238E27FC236}">
                <a16:creationId xmlns:a16="http://schemas.microsoft.com/office/drawing/2014/main" id="{6A1B3217-63D6-4CE4-9FE1-B303252A44AB}"/>
              </a:ext>
            </a:extLst>
          </p:cNvPr>
          <p:cNvSpPr>
            <a:spLocks/>
          </p:cNvSpPr>
          <p:nvPr/>
        </p:nvSpPr>
        <p:spPr bwMode="auto">
          <a:xfrm>
            <a:off x="3065453" y="5404434"/>
            <a:ext cx="1587" cy="828675"/>
          </a:xfrm>
          <a:custGeom>
            <a:avLst/>
            <a:gdLst>
              <a:gd name="T0" fmla="*/ 0 w 1"/>
              <a:gd name="T1" fmla="*/ 0 h 551"/>
              <a:gd name="T2" fmla="*/ 2147483647 w 1"/>
              <a:gd name="T3" fmla="*/ 2147483647 h 551"/>
              <a:gd name="T4" fmla="*/ 0 60000 65536"/>
              <a:gd name="T5" fmla="*/ 0 60000 65536"/>
              <a:gd name="T6" fmla="*/ 0 w 1"/>
              <a:gd name="T7" fmla="*/ 0 h 551"/>
              <a:gd name="T8" fmla="*/ 1 w 1"/>
              <a:gd name="T9" fmla="*/ 551 h 55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51">
                <a:moveTo>
                  <a:pt x="0" y="0"/>
                </a:moveTo>
                <a:lnTo>
                  <a:pt x="1" y="551"/>
                </a:lnTo>
              </a:path>
            </a:pathLst>
          </a:custGeom>
          <a:noFill/>
          <a:ln w="38100">
            <a:solidFill>
              <a:srgbClr val="9933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7" name="Freeform 13">
            <a:extLst>
              <a:ext uri="{FF2B5EF4-FFF2-40B4-BE49-F238E27FC236}">
                <a16:creationId xmlns:a16="http://schemas.microsoft.com/office/drawing/2014/main" id="{5CC32B18-8DC4-4123-9326-3106499B32FB}"/>
              </a:ext>
            </a:extLst>
          </p:cNvPr>
          <p:cNvSpPr>
            <a:spLocks/>
          </p:cNvSpPr>
          <p:nvPr/>
        </p:nvSpPr>
        <p:spPr bwMode="auto">
          <a:xfrm>
            <a:off x="5259378" y="2469146"/>
            <a:ext cx="828675" cy="1588"/>
          </a:xfrm>
          <a:custGeom>
            <a:avLst/>
            <a:gdLst>
              <a:gd name="T0" fmla="*/ 0 w 564"/>
              <a:gd name="T1" fmla="*/ 0 h 1"/>
              <a:gd name="T2" fmla="*/ 2147483647 w 564"/>
              <a:gd name="T3" fmla="*/ 0 h 1"/>
              <a:gd name="T4" fmla="*/ 0 60000 65536"/>
              <a:gd name="T5" fmla="*/ 0 60000 65536"/>
              <a:gd name="T6" fmla="*/ 0 w 564"/>
              <a:gd name="T7" fmla="*/ 0 h 1"/>
              <a:gd name="T8" fmla="*/ 564 w 56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1">
                <a:moveTo>
                  <a:pt x="0" y="0"/>
                </a:moveTo>
                <a:lnTo>
                  <a:pt x="564" y="0"/>
                </a:lnTo>
              </a:path>
            </a:pathLst>
          </a:custGeom>
          <a:noFill/>
          <a:ln w="38100">
            <a:solidFill>
              <a:srgbClr val="9933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8" name="Text Box 34">
            <a:extLst>
              <a:ext uri="{FF2B5EF4-FFF2-40B4-BE49-F238E27FC236}">
                <a16:creationId xmlns:a16="http://schemas.microsoft.com/office/drawing/2014/main" id="{2C8C4FDA-485E-428B-A77C-CC541A8B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15" y="2354846"/>
            <a:ext cx="2984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900">
                <a:solidFill>
                  <a:srgbClr val="FF0000"/>
                </a:solidFill>
              </a:rPr>
              <a:t>●</a:t>
            </a:r>
            <a:endParaRPr lang="en-US" altLang="zh-CN" sz="1600"/>
          </a:p>
        </p:txBody>
      </p:sp>
      <p:sp>
        <p:nvSpPr>
          <p:cNvPr id="189" name="Text Box 31">
            <a:extLst>
              <a:ext uri="{FF2B5EF4-FFF2-40B4-BE49-F238E27FC236}">
                <a16:creationId xmlns:a16="http://schemas.microsoft.com/office/drawing/2014/main" id="{CD562CB1-31E9-42EB-9408-A938E4E36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65" y="2353259"/>
            <a:ext cx="2984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900">
                <a:solidFill>
                  <a:srgbClr val="FF0000"/>
                </a:solidFill>
              </a:rPr>
              <a:t>●</a:t>
            </a:r>
            <a:endParaRPr lang="en-US" altLang="zh-CN" sz="1600"/>
          </a:p>
        </p:txBody>
      </p:sp>
      <p:sp>
        <p:nvSpPr>
          <p:cNvPr id="190" name="Text Box 51">
            <a:extLst>
              <a:ext uri="{FF2B5EF4-FFF2-40B4-BE49-F238E27FC236}">
                <a16:creationId xmlns:a16="http://schemas.microsoft.com/office/drawing/2014/main" id="{D26DBEDE-BDFA-406E-8A3F-80A075284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343" y="4380407"/>
            <a:ext cx="306705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 dirty="0"/>
              <a:t>★</a:t>
            </a:r>
            <a:r>
              <a:rPr lang="zh-CN" altLang="en-US" sz="2800" dirty="0"/>
              <a:t>光滑连接各点</a:t>
            </a:r>
          </a:p>
        </p:txBody>
      </p:sp>
      <p:sp>
        <p:nvSpPr>
          <p:cNvPr id="191" name="Oval 15">
            <a:extLst>
              <a:ext uri="{FF2B5EF4-FFF2-40B4-BE49-F238E27FC236}">
                <a16:creationId xmlns:a16="http://schemas.microsoft.com/office/drawing/2014/main" id="{EB08DCB2-D3A1-4C80-856C-211A23456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03" y="2189746"/>
            <a:ext cx="1871662" cy="104457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92" name="Text Box 52">
            <a:extLst>
              <a:ext uri="{FF2B5EF4-FFF2-40B4-BE49-F238E27FC236}">
                <a16:creationId xmlns:a16="http://schemas.microsoft.com/office/drawing/2014/main" id="{4964760F-0563-4F7C-AB25-6C4C5FC08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693" y="5000415"/>
            <a:ext cx="4122092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dirty="0"/>
              <a:t>★</a:t>
            </a:r>
            <a:r>
              <a:rPr lang="zh-CN" altLang="en-US" sz="2800" dirty="0"/>
              <a:t>分析轮廓素线的投影</a:t>
            </a:r>
          </a:p>
        </p:txBody>
      </p:sp>
      <p:grpSp>
        <p:nvGrpSpPr>
          <p:cNvPr id="193" name="Group 16">
            <a:extLst>
              <a:ext uri="{FF2B5EF4-FFF2-40B4-BE49-F238E27FC236}">
                <a16:creationId xmlns:a16="http://schemas.microsoft.com/office/drawing/2014/main" id="{C3EFBED0-4103-4F52-ADF0-A5E78C5705BA}"/>
              </a:ext>
            </a:extLst>
          </p:cNvPr>
          <p:cNvGrpSpPr>
            <a:grpSpLocks/>
          </p:cNvGrpSpPr>
          <p:nvPr/>
        </p:nvGrpSpPr>
        <p:grpSpPr bwMode="auto">
          <a:xfrm>
            <a:off x="4322753" y="2700921"/>
            <a:ext cx="1908175" cy="1152525"/>
            <a:chOff x="3209" y="787"/>
            <a:chExt cx="1421" cy="1143"/>
          </a:xfrm>
        </p:grpSpPr>
        <p:sp>
          <p:nvSpPr>
            <p:cNvPr id="194" name="Line 17">
              <a:extLst>
                <a:ext uri="{FF2B5EF4-FFF2-40B4-BE49-F238E27FC236}">
                  <a16:creationId xmlns:a16="http://schemas.microsoft.com/office/drawing/2014/main" id="{74309D24-0684-4DF7-B589-A8247761B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807"/>
              <a:ext cx="0" cy="111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" name="Line 18">
              <a:extLst>
                <a:ext uri="{FF2B5EF4-FFF2-40B4-BE49-F238E27FC236}">
                  <a16:creationId xmlns:a16="http://schemas.microsoft.com/office/drawing/2014/main" id="{60E440C5-3937-4F42-9AA5-D95905194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9" y="1920"/>
              <a:ext cx="142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" name="Freeform 19">
              <a:extLst>
                <a:ext uri="{FF2B5EF4-FFF2-40B4-BE49-F238E27FC236}">
                  <a16:creationId xmlns:a16="http://schemas.microsoft.com/office/drawing/2014/main" id="{CC9D8CFE-66E7-462D-9DFF-8DEDA16BB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787"/>
              <a:ext cx="1" cy="1143"/>
            </a:xfrm>
            <a:custGeom>
              <a:avLst/>
              <a:gdLst>
                <a:gd name="T0" fmla="*/ 0 w 1"/>
                <a:gd name="T1" fmla="*/ 1143 h 1143"/>
                <a:gd name="T2" fmla="*/ 0 w 1"/>
                <a:gd name="T3" fmla="*/ 0 h 1143"/>
                <a:gd name="T4" fmla="*/ 0 60000 65536"/>
                <a:gd name="T5" fmla="*/ 0 60000 65536"/>
                <a:gd name="T6" fmla="*/ 0 w 1"/>
                <a:gd name="T7" fmla="*/ 0 h 1143"/>
                <a:gd name="T8" fmla="*/ 1 w 1"/>
                <a:gd name="T9" fmla="*/ 1143 h 114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43">
                  <a:moveTo>
                    <a:pt x="0" y="114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197" name="Picture 3">
            <a:extLst>
              <a:ext uri="{FF2B5EF4-FFF2-40B4-BE49-F238E27FC236}">
                <a16:creationId xmlns:a16="http://schemas.microsoft.com/office/drawing/2014/main" id="{E97B0D0C-2F9E-4E38-93B8-B9ACCD9CC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83078" y="4234446"/>
            <a:ext cx="1968500" cy="236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198" name="组合 62">
            <a:extLst>
              <a:ext uri="{FF2B5EF4-FFF2-40B4-BE49-F238E27FC236}">
                <a16:creationId xmlns:a16="http://schemas.microsoft.com/office/drawing/2014/main" id="{D2DFC5E3-4D5D-49EA-AAB5-F8C82662F5F9}"/>
              </a:ext>
            </a:extLst>
          </p:cNvPr>
          <p:cNvGrpSpPr>
            <a:grpSpLocks/>
          </p:cNvGrpSpPr>
          <p:nvPr/>
        </p:nvGrpSpPr>
        <p:grpSpPr bwMode="auto">
          <a:xfrm>
            <a:off x="5281919" y="1338733"/>
            <a:ext cx="0" cy="2772000"/>
            <a:chOff x="4489449" y="1322878"/>
            <a:chExt cx="1490980" cy="1900589"/>
          </a:xfrm>
        </p:grpSpPr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403D879C-1D10-4F65-AF61-73FCB540C234}"/>
                </a:ext>
              </a:extLst>
            </p:cNvPr>
            <p:cNvCxnSpPr/>
            <p:nvPr/>
          </p:nvCxnSpPr>
          <p:spPr bwMode="auto">
            <a:xfrm rot="5400000">
              <a:off x="4088006" y="1724321"/>
              <a:ext cx="802888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7950D945-3AF2-474E-A5ED-7F854FF23AAF}"/>
                </a:ext>
              </a:extLst>
            </p:cNvPr>
            <p:cNvCxnSpPr/>
            <p:nvPr/>
          </p:nvCxnSpPr>
          <p:spPr bwMode="auto">
            <a:xfrm rot="16200000" flipH="1">
              <a:off x="5224226" y="2467264"/>
              <a:ext cx="151240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83AEF853-C5E0-4E68-BEB8-7D5D80D238CA}"/>
                </a:ext>
              </a:extLst>
            </p:cNvPr>
            <p:cNvCxnSpPr/>
            <p:nvPr/>
          </p:nvCxnSpPr>
          <p:spPr bwMode="auto">
            <a:xfrm rot="16200000" flipH="1">
              <a:off x="4871656" y="2405661"/>
              <a:ext cx="3530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972C56C8-F07F-4493-B471-A4DD9FBA0EDD}"/>
              </a:ext>
            </a:extLst>
          </p:cNvPr>
          <p:cNvCxnSpPr/>
          <p:nvPr/>
        </p:nvCxnSpPr>
        <p:spPr bwMode="auto">
          <a:xfrm rot="5400000">
            <a:off x="6188065" y="3975684"/>
            <a:ext cx="53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75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75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75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75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utoUpdateAnimBg="0"/>
      <p:bldP spid="154" grpId="0" autoUpdateAnimBg="0"/>
      <p:bldP spid="155" grpId="0"/>
      <p:bldP spid="156" grpId="0" autoUpdateAnimBg="0"/>
      <p:bldP spid="158" grpId="0" animBg="1"/>
      <p:bldP spid="159" grpId="0" animBg="1"/>
      <p:bldP spid="160" grpId="0" animBg="1"/>
      <p:bldP spid="161" grpId="0" autoUpdateAnimBg="0"/>
      <p:bldP spid="162" grpId="0" autoUpdateAnimBg="0"/>
      <p:bldP spid="172" grpId="0" autoUpdateAnimBg="0"/>
      <p:bldP spid="173" grpId="0" animBg="1"/>
      <p:bldP spid="174" grpId="0" animBg="1"/>
      <p:bldP spid="175" grpId="0" animBg="1"/>
      <p:bldP spid="176" grpId="0" animBg="1"/>
      <p:bldP spid="177" grpId="0" autoUpdateAnimBg="0"/>
      <p:bldP spid="181" grpId="0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utoUpdateAnimBg="0"/>
      <p:bldP spid="189" grpId="0"/>
      <p:bldP spid="190" grpId="0" autoUpdateAnimBg="0"/>
      <p:bldP spid="191" grpId="0" animBg="1"/>
      <p:bldP spid="19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utoShape 17">
            <a:extLst>
              <a:ext uri="{FF2B5EF4-FFF2-40B4-BE49-F238E27FC236}">
                <a16:creationId xmlns:a16="http://schemas.microsoft.com/office/drawing/2014/main" id="{A2C0C73B-0F44-467E-B6D4-5F3ADF77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192" y="3092202"/>
            <a:ext cx="2646363" cy="1123950"/>
          </a:xfrm>
          <a:prstGeom prst="wedgeRoundRectCallout">
            <a:avLst>
              <a:gd name="adj1" fmla="val -47597"/>
              <a:gd name="adj2" fmla="val -173056"/>
              <a:gd name="adj3" fmla="val 16667"/>
            </a:avLst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b="1"/>
              <a:t>    </a:t>
            </a:r>
            <a:r>
              <a:rPr lang="zh-CN" altLang="en-US" sz="2000" b="1"/>
              <a:t>椭圆的长、短轴随截平面与圆柱轴线夹角的变化而改变。</a:t>
            </a:r>
          </a:p>
        </p:txBody>
      </p:sp>
      <p:pic>
        <p:nvPicPr>
          <p:cNvPr id="129" name="Picture 60">
            <a:extLst>
              <a:ext uri="{FF2B5EF4-FFF2-40B4-BE49-F238E27FC236}">
                <a16:creationId xmlns:a16="http://schemas.microsoft.com/office/drawing/2014/main" id="{12DE1C9B-6C7A-41F5-B04B-3270FA935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6980" y="5136902"/>
            <a:ext cx="1670050" cy="1587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130" name="组合 248">
            <a:extLst>
              <a:ext uri="{FF2B5EF4-FFF2-40B4-BE49-F238E27FC236}">
                <a16:creationId xmlns:a16="http://schemas.microsoft.com/office/drawing/2014/main" id="{76E5326D-10D9-4F00-BC7E-E1878C50BA45}"/>
              </a:ext>
            </a:extLst>
          </p:cNvPr>
          <p:cNvGrpSpPr>
            <a:grpSpLocks/>
          </p:cNvGrpSpPr>
          <p:nvPr/>
        </p:nvGrpSpPr>
        <p:grpSpPr bwMode="auto">
          <a:xfrm>
            <a:off x="2337755" y="499814"/>
            <a:ext cx="3790937" cy="3359834"/>
            <a:chOff x="665109" y="215856"/>
            <a:chExt cx="3780381" cy="3405234"/>
          </a:xfrm>
        </p:grpSpPr>
        <p:sp>
          <p:nvSpPr>
            <p:cNvPr id="131" name="Freeform 39">
              <a:extLst>
                <a:ext uri="{FF2B5EF4-FFF2-40B4-BE49-F238E27FC236}">
                  <a16:creationId xmlns:a16="http://schemas.microsoft.com/office/drawing/2014/main" id="{99DBC5FD-2A34-4AAB-ABCC-B466C4B27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490" y="1575875"/>
              <a:ext cx="0" cy="291892"/>
            </a:xfrm>
            <a:custGeom>
              <a:avLst/>
              <a:gdLst>
                <a:gd name="T0" fmla="*/ 2147483647 w 3"/>
                <a:gd name="T1" fmla="*/ 0 h 163"/>
                <a:gd name="T2" fmla="*/ 0 w 3"/>
                <a:gd name="T3" fmla="*/ 2147483647 h 163"/>
                <a:gd name="T4" fmla="*/ 0 60000 65536"/>
                <a:gd name="T5" fmla="*/ 0 60000 65536"/>
                <a:gd name="T6" fmla="*/ 0 w 3"/>
                <a:gd name="T7" fmla="*/ 0 h 163"/>
                <a:gd name="T8" fmla="*/ 3 w 3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63">
                  <a:moveTo>
                    <a:pt x="3" y="0"/>
                  </a:moveTo>
                  <a:lnTo>
                    <a:pt x="0" y="163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2" name="Line 5">
              <a:extLst>
                <a:ext uri="{FF2B5EF4-FFF2-40B4-BE49-F238E27FC236}">
                  <a16:creationId xmlns:a16="http://schemas.microsoft.com/office/drawing/2014/main" id="{CFC4DA6E-AE1E-445C-8630-C6B24A350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2784" y="1746274"/>
              <a:ext cx="128410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" name="Oval 6">
              <a:extLst>
                <a:ext uri="{FF2B5EF4-FFF2-40B4-BE49-F238E27FC236}">
                  <a16:creationId xmlns:a16="http://schemas.microsoft.com/office/drawing/2014/main" id="{F1C428E5-6874-4A75-8D6F-872925DB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3896" y="403267"/>
              <a:ext cx="1250769" cy="622291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/>
            </a:p>
          </p:txBody>
        </p:sp>
        <p:sp>
          <p:nvSpPr>
            <p:cNvPr id="134" name="Oval 7">
              <a:extLst>
                <a:ext uri="{FF2B5EF4-FFF2-40B4-BE49-F238E27FC236}">
                  <a16:creationId xmlns:a16="http://schemas.microsoft.com/office/drawing/2014/main" id="{01CAFDD2-CBFA-4FA4-AA2C-836A00B95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437" y="2146319"/>
              <a:ext cx="1247595" cy="1157272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/>
            </a:p>
          </p:txBody>
        </p:sp>
        <p:sp>
          <p:nvSpPr>
            <p:cNvPr id="135" name="Line 9">
              <a:extLst>
                <a:ext uri="{FF2B5EF4-FFF2-40B4-BE49-F238E27FC236}">
                  <a16:creationId xmlns:a16="http://schemas.microsoft.com/office/drawing/2014/main" id="{C57F4B14-3DA5-4D9D-A13F-EA8E85390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0437" y="1025559"/>
              <a:ext cx="0" cy="72071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" name="Line 10">
              <a:extLst>
                <a:ext uri="{FF2B5EF4-FFF2-40B4-BE49-F238E27FC236}">
                  <a16:creationId xmlns:a16="http://schemas.microsoft.com/office/drawing/2014/main" id="{CB529C3A-0DA3-465E-AC16-A6E426A4F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327" y="1746274"/>
              <a:ext cx="1282515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" name="Line 11">
              <a:extLst>
                <a:ext uri="{FF2B5EF4-FFF2-40B4-BE49-F238E27FC236}">
                  <a16:creationId xmlns:a16="http://schemas.microsoft.com/office/drawing/2014/main" id="{63DE68C0-BADD-4772-8C22-E1A329D8B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8032" y="403267"/>
              <a:ext cx="0" cy="134300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Line 12">
              <a:extLst>
                <a:ext uri="{FF2B5EF4-FFF2-40B4-BE49-F238E27FC236}">
                  <a16:creationId xmlns:a16="http://schemas.microsoft.com/office/drawing/2014/main" id="{67529218-7EBC-4130-BB76-ED3ED4F305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0437" y="403267"/>
              <a:ext cx="1247595" cy="62229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Line 14">
              <a:extLst>
                <a:ext uri="{FF2B5EF4-FFF2-40B4-BE49-F238E27FC236}">
                  <a16:creationId xmlns:a16="http://schemas.microsoft.com/office/drawing/2014/main" id="{0699B6EE-588E-45F6-A30B-660CEFAFA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3896" y="714413"/>
              <a:ext cx="0" cy="103186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" name="Line 15">
              <a:extLst>
                <a:ext uri="{FF2B5EF4-FFF2-40B4-BE49-F238E27FC236}">
                  <a16:creationId xmlns:a16="http://schemas.microsoft.com/office/drawing/2014/main" id="{19B426F0-716C-4A62-948A-A13A619EA5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8950" y="714413"/>
              <a:ext cx="0" cy="103186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2" name="组合 157">
              <a:extLst>
                <a:ext uri="{FF2B5EF4-FFF2-40B4-BE49-F238E27FC236}">
                  <a16:creationId xmlns:a16="http://schemas.microsoft.com/office/drawing/2014/main" id="{DA634909-711F-4BEC-8565-7652C8B52F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109" y="2733665"/>
              <a:ext cx="1689123" cy="1588"/>
              <a:chOff x="665109" y="2662227"/>
              <a:chExt cx="1689123" cy="1588"/>
            </a:xfrm>
          </p:grpSpPr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AF61FBDE-80CC-4BE6-A661-BDF8A5E673B1}"/>
                  </a:ext>
                </a:extLst>
              </p:cNvPr>
              <p:cNvCxnSpPr/>
              <p:nvPr/>
            </p:nvCxnSpPr>
            <p:spPr>
              <a:xfrm>
                <a:off x="665109" y="2662227"/>
                <a:ext cx="438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5B381B17-521E-46B4-BD56-C77939F1C1F1}"/>
                  </a:ext>
                </a:extLst>
              </p:cNvPr>
              <p:cNvCxnSpPr/>
              <p:nvPr/>
            </p:nvCxnSpPr>
            <p:spPr>
              <a:xfrm>
                <a:off x="1176357" y="2662227"/>
                <a:ext cx="7303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AE48A517-A806-4B7A-8197-C27537EE7421}"/>
                  </a:ext>
                </a:extLst>
              </p:cNvPr>
              <p:cNvCxnSpPr/>
              <p:nvPr/>
            </p:nvCxnSpPr>
            <p:spPr>
              <a:xfrm>
                <a:off x="1301787" y="2662227"/>
                <a:ext cx="438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4C638F74-6423-446F-8DCB-C866031E0460}"/>
                  </a:ext>
                </a:extLst>
              </p:cNvPr>
              <p:cNvCxnSpPr/>
              <p:nvPr/>
            </p:nvCxnSpPr>
            <p:spPr>
              <a:xfrm>
                <a:off x="1781281" y="2662227"/>
                <a:ext cx="7303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5886DC68-0A06-467A-B75B-C51A86B382FC}"/>
                  </a:ext>
                </a:extLst>
              </p:cNvPr>
              <p:cNvCxnSpPr/>
              <p:nvPr/>
            </p:nvCxnSpPr>
            <p:spPr>
              <a:xfrm>
                <a:off x="1916238" y="2662227"/>
                <a:ext cx="438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组合 158">
              <a:extLst>
                <a:ext uri="{FF2B5EF4-FFF2-40B4-BE49-F238E27FC236}">
                  <a16:creationId xmlns:a16="http://schemas.microsoft.com/office/drawing/2014/main" id="{861D26A4-9844-455A-9A2F-D74ABBB6149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07925" y="2775735"/>
              <a:ext cx="1689123" cy="1588"/>
              <a:chOff x="665109" y="2662227"/>
              <a:chExt cx="1689123" cy="1588"/>
            </a:xfrm>
          </p:grpSpPr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95E20482-506D-4F32-9AEB-7947789C9448}"/>
                  </a:ext>
                </a:extLst>
              </p:cNvPr>
              <p:cNvCxnSpPr/>
              <p:nvPr/>
            </p:nvCxnSpPr>
            <p:spPr>
              <a:xfrm>
                <a:off x="665107" y="2662859"/>
                <a:ext cx="43815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>
                <a:extLst>
                  <a:ext uri="{FF2B5EF4-FFF2-40B4-BE49-F238E27FC236}">
                    <a16:creationId xmlns:a16="http://schemas.microsoft.com/office/drawing/2014/main" id="{83208733-803B-454F-A6FD-0652CB554338}"/>
                  </a:ext>
                </a:extLst>
              </p:cNvPr>
              <p:cNvCxnSpPr/>
              <p:nvPr/>
            </p:nvCxnSpPr>
            <p:spPr>
              <a:xfrm>
                <a:off x="1176290" y="2662859"/>
                <a:ext cx="7302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>
                <a:extLst>
                  <a:ext uri="{FF2B5EF4-FFF2-40B4-BE49-F238E27FC236}">
                    <a16:creationId xmlns:a16="http://schemas.microsoft.com/office/drawing/2014/main" id="{2BF169A6-EF50-4D57-A757-6BFF6E5F4661}"/>
                  </a:ext>
                </a:extLst>
              </p:cNvPr>
              <p:cNvCxnSpPr/>
              <p:nvPr/>
            </p:nvCxnSpPr>
            <p:spPr>
              <a:xfrm>
                <a:off x="1301703" y="2662859"/>
                <a:ext cx="43815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8AC6310D-F0E0-43A6-9D8B-6FF64C062970}"/>
                  </a:ext>
                </a:extLst>
              </p:cNvPr>
              <p:cNvCxnSpPr/>
              <p:nvPr/>
            </p:nvCxnSpPr>
            <p:spPr>
              <a:xfrm>
                <a:off x="1781135" y="2662859"/>
                <a:ext cx="7302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>
                <a:extLst>
                  <a:ext uri="{FF2B5EF4-FFF2-40B4-BE49-F238E27FC236}">
                    <a16:creationId xmlns:a16="http://schemas.microsoft.com/office/drawing/2014/main" id="{AF0C5E41-9F3B-4F07-9FF1-0D8FC076B8D0}"/>
                  </a:ext>
                </a:extLst>
              </p:cNvPr>
              <p:cNvCxnSpPr/>
              <p:nvPr/>
            </p:nvCxnSpPr>
            <p:spPr>
              <a:xfrm>
                <a:off x="1916075" y="2662859"/>
                <a:ext cx="43815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组合 170">
              <a:extLst>
                <a:ext uri="{FF2B5EF4-FFF2-40B4-BE49-F238E27FC236}">
                  <a16:creationId xmlns:a16="http://schemas.microsoft.com/office/drawing/2014/main" id="{F528B3E8-E98D-4021-8A59-60172C6295D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477265" y="1059624"/>
              <a:ext cx="1689123" cy="1588"/>
              <a:chOff x="665109" y="2662227"/>
              <a:chExt cx="1689123" cy="1588"/>
            </a:xfrm>
          </p:grpSpPr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377902A1-0FF0-411C-ADCD-5D3A0503D330}"/>
                  </a:ext>
                </a:extLst>
              </p:cNvPr>
              <p:cNvCxnSpPr/>
              <p:nvPr/>
            </p:nvCxnSpPr>
            <p:spPr>
              <a:xfrm>
                <a:off x="665108" y="2661882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9D583570-C1FD-449F-B397-0D8683337B60}"/>
                  </a:ext>
                </a:extLst>
              </p:cNvPr>
              <p:cNvCxnSpPr/>
              <p:nvPr/>
            </p:nvCxnSpPr>
            <p:spPr>
              <a:xfrm>
                <a:off x="1176290" y="2661883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1CF621C9-F315-47A7-94AC-6637326C0CC7}"/>
                  </a:ext>
                </a:extLst>
              </p:cNvPr>
              <p:cNvCxnSpPr/>
              <p:nvPr/>
            </p:nvCxnSpPr>
            <p:spPr>
              <a:xfrm>
                <a:off x="1301705" y="2661882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E87EFCB7-AF5B-4E85-8735-99997C15D89E}"/>
                  </a:ext>
                </a:extLst>
              </p:cNvPr>
              <p:cNvCxnSpPr/>
              <p:nvPr/>
            </p:nvCxnSpPr>
            <p:spPr>
              <a:xfrm>
                <a:off x="1781137" y="2661883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6A995CD1-1C67-44DF-A4AE-AEFA750F3E40}"/>
                  </a:ext>
                </a:extLst>
              </p:cNvPr>
              <p:cNvCxnSpPr/>
              <p:nvPr/>
            </p:nvCxnSpPr>
            <p:spPr>
              <a:xfrm>
                <a:off x="1916075" y="2661882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组合 176">
              <a:extLst>
                <a:ext uri="{FF2B5EF4-FFF2-40B4-BE49-F238E27FC236}">
                  <a16:creationId xmlns:a16="http://schemas.microsoft.com/office/drawing/2014/main" id="{A9204F5C-063A-4C9B-B50C-4E825F702B5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03163" y="1170749"/>
              <a:ext cx="1689123" cy="1588"/>
              <a:chOff x="665109" y="2662227"/>
              <a:chExt cx="1689123" cy="1588"/>
            </a:xfrm>
          </p:grpSpPr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985FD229-EEE7-494E-83DD-91E75BE21F4A}"/>
                  </a:ext>
                </a:extLst>
              </p:cNvPr>
              <p:cNvCxnSpPr/>
              <p:nvPr/>
            </p:nvCxnSpPr>
            <p:spPr>
              <a:xfrm>
                <a:off x="665110" y="2662860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825E4D60-71C4-464B-BF8F-07AE9EB2DF9B}"/>
                  </a:ext>
                </a:extLst>
              </p:cNvPr>
              <p:cNvCxnSpPr/>
              <p:nvPr/>
            </p:nvCxnSpPr>
            <p:spPr>
              <a:xfrm>
                <a:off x="1176292" y="2662861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8612713E-9D7A-4091-9AE4-CC2CD2770197}"/>
                  </a:ext>
                </a:extLst>
              </p:cNvPr>
              <p:cNvCxnSpPr/>
              <p:nvPr/>
            </p:nvCxnSpPr>
            <p:spPr>
              <a:xfrm>
                <a:off x="1301707" y="2662860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7DDDBE0B-6C93-460B-BB37-BF196A8DC5B8}"/>
                  </a:ext>
                </a:extLst>
              </p:cNvPr>
              <p:cNvCxnSpPr/>
              <p:nvPr/>
            </p:nvCxnSpPr>
            <p:spPr>
              <a:xfrm>
                <a:off x="1781139" y="2662861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EA2B713F-9E1F-4259-B4CE-CE77B4F0A605}"/>
                  </a:ext>
                </a:extLst>
              </p:cNvPr>
              <p:cNvCxnSpPr/>
              <p:nvPr/>
            </p:nvCxnSpPr>
            <p:spPr>
              <a:xfrm>
                <a:off x="1916077" y="2662860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组合 206">
              <a:extLst>
                <a:ext uri="{FF2B5EF4-FFF2-40B4-BE49-F238E27FC236}">
                  <a16:creationId xmlns:a16="http://schemas.microsoft.com/office/drawing/2014/main" id="{38806C9B-9031-4365-B47F-0691516A5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4246" y="727038"/>
              <a:ext cx="1689123" cy="1588"/>
              <a:chOff x="665109" y="2662227"/>
              <a:chExt cx="1689123" cy="1588"/>
            </a:xfrm>
          </p:grpSpPr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816ACFA5-D941-4DF8-9704-67A64604C7BE}"/>
                  </a:ext>
                </a:extLst>
              </p:cNvPr>
              <p:cNvCxnSpPr/>
              <p:nvPr/>
            </p:nvCxnSpPr>
            <p:spPr>
              <a:xfrm>
                <a:off x="665341" y="2662227"/>
                <a:ext cx="438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7040FE35-2F81-42C1-B513-3C8F457CBB5A}"/>
                  </a:ext>
                </a:extLst>
              </p:cNvPr>
              <p:cNvCxnSpPr/>
              <p:nvPr/>
            </p:nvCxnSpPr>
            <p:spPr>
              <a:xfrm>
                <a:off x="1176589" y="2662227"/>
                <a:ext cx="7303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3A47491F-A18F-436F-8F33-0D55BD3EF6E5}"/>
                  </a:ext>
                </a:extLst>
              </p:cNvPr>
              <p:cNvCxnSpPr/>
              <p:nvPr/>
            </p:nvCxnSpPr>
            <p:spPr>
              <a:xfrm>
                <a:off x="1302020" y="2662227"/>
                <a:ext cx="438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1C0EAE25-485B-40DF-82B7-D50DC313EB4C}"/>
                  </a:ext>
                </a:extLst>
              </p:cNvPr>
              <p:cNvCxnSpPr/>
              <p:nvPr/>
            </p:nvCxnSpPr>
            <p:spPr>
              <a:xfrm>
                <a:off x="1781514" y="2662227"/>
                <a:ext cx="7303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C16C8022-A707-4B6C-B2EA-0ECA303CA79F}"/>
                  </a:ext>
                </a:extLst>
              </p:cNvPr>
              <p:cNvCxnSpPr/>
              <p:nvPr/>
            </p:nvCxnSpPr>
            <p:spPr>
              <a:xfrm>
                <a:off x="1916470" y="2662227"/>
                <a:ext cx="438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1" name="组合 249">
            <a:extLst>
              <a:ext uri="{FF2B5EF4-FFF2-40B4-BE49-F238E27FC236}">
                <a16:creationId xmlns:a16="http://schemas.microsoft.com/office/drawing/2014/main" id="{3EF27573-9A1B-4DCC-9628-57982F429A4A}"/>
              </a:ext>
            </a:extLst>
          </p:cNvPr>
          <p:cNvGrpSpPr>
            <a:grpSpLocks/>
          </p:cNvGrpSpPr>
          <p:nvPr/>
        </p:nvGrpSpPr>
        <p:grpSpPr bwMode="auto">
          <a:xfrm>
            <a:off x="5915980" y="501402"/>
            <a:ext cx="3405187" cy="3476625"/>
            <a:chOff x="4243383" y="217443"/>
            <a:chExt cx="3405234" cy="3476673"/>
          </a:xfrm>
        </p:grpSpPr>
        <p:sp>
          <p:nvSpPr>
            <p:cNvPr id="242" name="Line 33">
              <a:extLst>
                <a:ext uri="{FF2B5EF4-FFF2-40B4-BE49-F238E27FC236}">
                  <a16:creationId xmlns:a16="http://schemas.microsoft.com/office/drawing/2014/main" id="{CAA37F21-1A9B-42DF-AA3B-D7DB1A82B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6217" y="1834772"/>
              <a:ext cx="124439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3" name="Oval 34">
              <a:extLst>
                <a:ext uri="{FF2B5EF4-FFF2-40B4-BE49-F238E27FC236}">
                  <a16:creationId xmlns:a16="http://schemas.microsoft.com/office/drawing/2014/main" id="{C3DAB2C8-5EDC-43B2-A99B-52D194603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6217" y="299901"/>
              <a:ext cx="1217414" cy="1288848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/>
            </a:p>
          </p:txBody>
        </p:sp>
        <p:sp>
          <p:nvSpPr>
            <p:cNvPr id="249" name="Oval 35">
              <a:extLst>
                <a:ext uri="{FF2B5EF4-FFF2-40B4-BE49-F238E27FC236}">
                  <a16:creationId xmlns:a16="http://schemas.microsoft.com/office/drawing/2014/main" id="{7B0AC8EE-2DAB-4F12-A9FE-323229DCC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252" y="2176031"/>
              <a:ext cx="1233286" cy="113329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/>
            </a:p>
          </p:txBody>
        </p:sp>
        <p:sp>
          <p:nvSpPr>
            <p:cNvPr id="250" name="Line 36">
              <a:extLst>
                <a:ext uri="{FF2B5EF4-FFF2-40B4-BE49-F238E27FC236}">
                  <a16:creationId xmlns:a16="http://schemas.microsoft.com/office/drawing/2014/main" id="{FDC237F0-84A9-4BF0-AC43-6537FCC1C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9141" y="1834772"/>
              <a:ext cx="126820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1" name="Line 37">
              <a:extLst>
                <a:ext uri="{FF2B5EF4-FFF2-40B4-BE49-F238E27FC236}">
                  <a16:creationId xmlns:a16="http://schemas.microsoft.com/office/drawing/2014/main" id="{4AC88BE2-1ECC-4876-AF75-37FF3A2FE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0252" y="299901"/>
              <a:ext cx="1233286" cy="126980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2" name="Freeform 38">
              <a:extLst>
                <a:ext uri="{FF2B5EF4-FFF2-40B4-BE49-F238E27FC236}">
                  <a16:creationId xmlns:a16="http://schemas.microsoft.com/office/drawing/2014/main" id="{FE4CE43F-6C0E-444F-A2C6-46A9F6AA3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6217" y="944325"/>
              <a:ext cx="3174" cy="914256"/>
            </a:xfrm>
            <a:custGeom>
              <a:avLst/>
              <a:gdLst>
                <a:gd name="T0" fmla="*/ 0 w 2"/>
                <a:gd name="T1" fmla="*/ 0 h 576"/>
                <a:gd name="T2" fmla="*/ 2147483647 w 2"/>
                <a:gd name="T3" fmla="*/ 2147483647 h 576"/>
                <a:gd name="T4" fmla="*/ 0 60000 65536"/>
                <a:gd name="T5" fmla="*/ 0 60000 65536"/>
                <a:gd name="T6" fmla="*/ 0 w 2"/>
                <a:gd name="T7" fmla="*/ 0 h 576"/>
                <a:gd name="T8" fmla="*/ 2 w 2"/>
                <a:gd name="T9" fmla="*/ 576 h 5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6">
                  <a:moveTo>
                    <a:pt x="0" y="0"/>
                  </a:moveTo>
                  <a:lnTo>
                    <a:pt x="2" y="576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3" name="Line 40">
              <a:extLst>
                <a:ext uri="{FF2B5EF4-FFF2-40B4-BE49-F238E27FC236}">
                  <a16:creationId xmlns:a16="http://schemas.microsoft.com/office/drawing/2014/main" id="{9C92AC05-FEFA-433C-BBFC-E14B11EB3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83537" y="299901"/>
              <a:ext cx="0" cy="15348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4" name="Line 42">
              <a:extLst>
                <a:ext uri="{FF2B5EF4-FFF2-40B4-BE49-F238E27FC236}">
                  <a16:creationId xmlns:a16="http://schemas.microsoft.com/office/drawing/2014/main" id="{7ACC49A1-1F5F-4B7D-82EF-99D2BB7C2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7" y="934801"/>
              <a:ext cx="0" cy="898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55" name="组合 164">
              <a:extLst>
                <a:ext uri="{FF2B5EF4-FFF2-40B4-BE49-F238E27FC236}">
                  <a16:creationId xmlns:a16="http://schemas.microsoft.com/office/drawing/2014/main" id="{3FBEB72C-3301-4D1E-99AA-A330DCACD3D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29796" y="2848761"/>
              <a:ext cx="1689123" cy="1588"/>
              <a:chOff x="665109" y="2662227"/>
              <a:chExt cx="1689123" cy="1588"/>
            </a:xfrm>
          </p:grpSpPr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A179694A-C40A-4828-AE7F-359E88BF3B34}"/>
                  </a:ext>
                </a:extLst>
              </p:cNvPr>
              <p:cNvCxnSpPr/>
              <p:nvPr/>
            </p:nvCxnSpPr>
            <p:spPr>
              <a:xfrm>
                <a:off x="665108" y="2662134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>
                <a:extLst>
                  <a:ext uri="{FF2B5EF4-FFF2-40B4-BE49-F238E27FC236}">
                    <a16:creationId xmlns:a16="http://schemas.microsoft.com/office/drawing/2014/main" id="{D979B72A-95E0-49AB-B90D-959604D9D620}"/>
                  </a:ext>
                </a:extLst>
              </p:cNvPr>
              <p:cNvCxnSpPr/>
              <p:nvPr/>
            </p:nvCxnSpPr>
            <p:spPr>
              <a:xfrm>
                <a:off x="1176290" y="2662135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22BE9081-478C-4989-85D7-7B000F55F0DC}"/>
                  </a:ext>
                </a:extLst>
              </p:cNvPr>
              <p:cNvCxnSpPr/>
              <p:nvPr/>
            </p:nvCxnSpPr>
            <p:spPr>
              <a:xfrm>
                <a:off x="1301704" y="2662134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>
                <a:extLst>
                  <a:ext uri="{FF2B5EF4-FFF2-40B4-BE49-F238E27FC236}">
                    <a16:creationId xmlns:a16="http://schemas.microsoft.com/office/drawing/2014/main" id="{ED83B8A1-673C-4E00-B909-BA0F0BE99907}"/>
                  </a:ext>
                </a:extLst>
              </p:cNvPr>
              <p:cNvCxnSpPr/>
              <p:nvPr/>
            </p:nvCxnSpPr>
            <p:spPr>
              <a:xfrm>
                <a:off x="1781136" y="2662135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>
                <a:extLst>
                  <a:ext uri="{FF2B5EF4-FFF2-40B4-BE49-F238E27FC236}">
                    <a16:creationId xmlns:a16="http://schemas.microsoft.com/office/drawing/2014/main" id="{C7299AB4-AC1F-47A6-A14F-22B61A55AA34}"/>
                  </a:ext>
                </a:extLst>
              </p:cNvPr>
              <p:cNvCxnSpPr/>
              <p:nvPr/>
            </p:nvCxnSpPr>
            <p:spPr>
              <a:xfrm>
                <a:off x="1916075" y="2662134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" name="组合 182">
              <a:extLst>
                <a:ext uri="{FF2B5EF4-FFF2-40B4-BE49-F238E27FC236}">
                  <a16:creationId xmlns:a16="http://schemas.microsoft.com/office/drawing/2014/main" id="{74130B6D-EC58-47F5-857C-C61363138FE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944412" y="1061211"/>
              <a:ext cx="1689123" cy="1588"/>
              <a:chOff x="665109" y="2662227"/>
              <a:chExt cx="1689123" cy="1588"/>
            </a:xfrm>
          </p:grpSpPr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D4DA00A9-AED6-475B-BE99-3D495B6E3FE5}"/>
                  </a:ext>
                </a:extLst>
              </p:cNvPr>
              <p:cNvCxnSpPr/>
              <p:nvPr/>
            </p:nvCxnSpPr>
            <p:spPr>
              <a:xfrm>
                <a:off x="665109" y="2662227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FDA64A23-4B91-4DAC-8A33-A891EFA16EE2}"/>
                  </a:ext>
                </a:extLst>
              </p:cNvPr>
              <p:cNvCxnSpPr/>
              <p:nvPr/>
            </p:nvCxnSpPr>
            <p:spPr>
              <a:xfrm>
                <a:off x="1176291" y="2662228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9D55B828-3BCD-491C-90BF-78C8203BC5AD}"/>
                  </a:ext>
                </a:extLst>
              </p:cNvPr>
              <p:cNvCxnSpPr/>
              <p:nvPr/>
            </p:nvCxnSpPr>
            <p:spPr>
              <a:xfrm>
                <a:off x="1301705" y="2662227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96980D65-787F-47BF-B844-0F51E8EC1A22}"/>
                  </a:ext>
                </a:extLst>
              </p:cNvPr>
              <p:cNvCxnSpPr/>
              <p:nvPr/>
            </p:nvCxnSpPr>
            <p:spPr>
              <a:xfrm>
                <a:off x="1781137" y="2662228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01F26C0E-FAB9-41ED-A72A-09C75C0D06A5}"/>
                  </a:ext>
                </a:extLst>
              </p:cNvPr>
              <p:cNvCxnSpPr/>
              <p:nvPr/>
            </p:nvCxnSpPr>
            <p:spPr>
              <a:xfrm>
                <a:off x="1916076" y="2662227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组合 194">
              <a:extLst>
                <a:ext uri="{FF2B5EF4-FFF2-40B4-BE49-F238E27FC236}">
                  <a16:creationId xmlns:a16="http://schemas.microsoft.com/office/drawing/2014/main" id="{13038191-7E17-4C57-A965-32F69E08B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3383" y="2735253"/>
              <a:ext cx="1689123" cy="1588"/>
              <a:chOff x="665109" y="2662227"/>
              <a:chExt cx="1689123" cy="1588"/>
            </a:xfrm>
          </p:grpSpPr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7DC0DC5D-A0DB-453C-A424-15945E69178E}"/>
                  </a:ext>
                </a:extLst>
              </p:cNvPr>
              <p:cNvCxnSpPr/>
              <p:nvPr/>
            </p:nvCxnSpPr>
            <p:spPr>
              <a:xfrm>
                <a:off x="665109" y="2662227"/>
                <a:ext cx="43815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DEE5F472-0D6D-4663-BF8F-9C1D0AA5F630}"/>
                  </a:ext>
                </a:extLst>
              </p:cNvPr>
              <p:cNvCxnSpPr/>
              <p:nvPr/>
            </p:nvCxnSpPr>
            <p:spPr>
              <a:xfrm>
                <a:off x="1176291" y="2662227"/>
                <a:ext cx="7302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>
                <a:extLst>
                  <a:ext uri="{FF2B5EF4-FFF2-40B4-BE49-F238E27FC236}">
                    <a16:creationId xmlns:a16="http://schemas.microsoft.com/office/drawing/2014/main" id="{4F4EB60F-3098-45E0-A01F-22F952C24438}"/>
                  </a:ext>
                </a:extLst>
              </p:cNvPr>
              <p:cNvCxnSpPr/>
              <p:nvPr/>
            </p:nvCxnSpPr>
            <p:spPr>
              <a:xfrm>
                <a:off x="1301705" y="2662227"/>
                <a:ext cx="43815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B3129640-66DB-4CC9-B488-F9A7972C40E6}"/>
                  </a:ext>
                </a:extLst>
              </p:cNvPr>
              <p:cNvCxnSpPr/>
              <p:nvPr/>
            </p:nvCxnSpPr>
            <p:spPr>
              <a:xfrm>
                <a:off x="1781136" y="2662227"/>
                <a:ext cx="7302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>
                <a:extLst>
                  <a:ext uri="{FF2B5EF4-FFF2-40B4-BE49-F238E27FC236}">
                    <a16:creationId xmlns:a16="http://schemas.microsoft.com/office/drawing/2014/main" id="{7AD0CA0A-96C9-4CBE-BEE2-6A5CD5A49DC9}"/>
                  </a:ext>
                </a:extLst>
              </p:cNvPr>
              <p:cNvCxnSpPr/>
              <p:nvPr/>
            </p:nvCxnSpPr>
            <p:spPr>
              <a:xfrm>
                <a:off x="1916076" y="2662227"/>
                <a:ext cx="43815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8" name="组合 200">
              <a:extLst>
                <a:ext uri="{FF2B5EF4-FFF2-40B4-BE49-F238E27FC236}">
                  <a16:creationId xmlns:a16="http://schemas.microsoft.com/office/drawing/2014/main" id="{6646A04B-40BB-4704-A418-C56C2E877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9494" y="946116"/>
              <a:ext cx="1689123" cy="1588"/>
              <a:chOff x="665109" y="2662227"/>
              <a:chExt cx="1689123" cy="1588"/>
            </a:xfrm>
          </p:grpSpPr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2D001E9C-169A-4B3D-A3C0-F15EA745588E}"/>
                  </a:ext>
                </a:extLst>
              </p:cNvPr>
              <p:cNvCxnSpPr/>
              <p:nvPr/>
            </p:nvCxnSpPr>
            <p:spPr>
              <a:xfrm>
                <a:off x="665109" y="2662226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34D6ACFE-3457-4DE1-8B15-C7FFDCF45931}"/>
                  </a:ext>
                </a:extLst>
              </p:cNvPr>
              <p:cNvCxnSpPr/>
              <p:nvPr/>
            </p:nvCxnSpPr>
            <p:spPr>
              <a:xfrm>
                <a:off x="1176291" y="2662226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B1194DB9-F36A-45F1-A027-DB4F49EA41E8}"/>
                  </a:ext>
                </a:extLst>
              </p:cNvPr>
              <p:cNvCxnSpPr/>
              <p:nvPr/>
            </p:nvCxnSpPr>
            <p:spPr>
              <a:xfrm>
                <a:off x="1301706" y="2662226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F4CB3861-8A24-4CFE-ACDE-7B667200C37C}"/>
                  </a:ext>
                </a:extLst>
              </p:cNvPr>
              <p:cNvCxnSpPr/>
              <p:nvPr/>
            </p:nvCxnSpPr>
            <p:spPr>
              <a:xfrm>
                <a:off x="1781137" y="2662226"/>
                <a:ext cx="7302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AC308417-60FE-47DB-B312-06137BF22D29}"/>
                  </a:ext>
                </a:extLst>
              </p:cNvPr>
              <p:cNvCxnSpPr/>
              <p:nvPr/>
            </p:nvCxnSpPr>
            <p:spPr>
              <a:xfrm>
                <a:off x="1916076" y="2662226"/>
                <a:ext cx="4381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9" name="组合 212">
              <a:extLst>
                <a:ext uri="{FF2B5EF4-FFF2-40B4-BE49-F238E27FC236}">
                  <a16:creationId xmlns:a16="http://schemas.microsoft.com/office/drawing/2014/main" id="{7DB7B546-6FE3-405C-BB77-95EF668A5EA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27393" y="1281582"/>
              <a:ext cx="1476000" cy="1588"/>
              <a:chOff x="665109" y="2662227"/>
              <a:chExt cx="1689123" cy="1588"/>
            </a:xfrm>
          </p:grpSpPr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736B058A-AEC0-4F4B-8CF2-E11406F5D0FC}"/>
                  </a:ext>
                </a:extLst>
              </p:cNvPr>
              <p:cNvCxnSpPr/>
              <p:nvPr/>
            </p:nvCxnSpPr>
            <p:spPr>
              <a:xfrm>
                <a:off x="665221" y="2662696"/>
                <a:ext cx="43783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574E6548-ADDE-47C4-802D-A2F175FB232F}"/>
                  </a:ext>
                </a:extLst>
              </p:cNvPr>
              <p:cNvCxnSpPr/>
              <p:nvPr/>
            </p:nvCxnSpPr>
            <p:spPr>
              <a:xfrm>
                <a:off x="1175725" y="2662695"/>
                <a:ext cx="7448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EC7995AD-A3DD-4D0B-97AB-4784F391E330}"/>
                  </a:ext>
                </a:extLst>
              </p:cNvPr>
              <p:cNvCxnSpPr/>
              <p:nvPr/>
            </p:nvCxnSpPr>
            <p:spPr>
              <a:xfrm>
                <a:off x="1301082" y="2662696"/>
                <a:ext cx="43965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3B226526-1F99-4E2C-8533-B671C0F2C5F3}"/>
                  </a:ext>
                </a:extLst>
              </p:cNvPr>
              <p:cNvCxnSpPr/>
              <p:nvPr/>
            </p:nvCxnSpPr>
            <p:spPr>
              <a:xfrm>
                <a:off x="1780703" y="2662696"/>
                <a:ext cx="7448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2380B4C0-0BA6-4842-8814-EB99464BCBBE}"/>
                  </a:ext>
                </a:extLst>
              </p:cNvPr>
              <p:cNvCxnSpPr/>
              <p:nvPr/>
            </p:nvCxnSpPr>
            <p:spPr>
              <a:xfrm>
                <a:off x="1916958" y="2662695"/>
                <a:ext cx="43783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5" name="组合 250">
            <a:extLst>
              <a:ext uri="{FF2B5EF4-FFF2-40B4-BE49-F238E27FC236}">
                <a16:creationId xmlns:a16="http://schemas.microsoft.com/office/drawing/2014/main" id="{4CB34A76-7F29-4E6A-84E0-24E13EF70632}"/>
              </a:ext>
            </a:extLst>
          </p:cNvPr>
          <p:cNvGrpSpPr>
            <a:grpSpLocks/>
          </p:cNvGrpSpPr>
          <p:nvPr/>
        </p:nvGrpSpPr>
        <p:grpSpPr bwMode="auto">
          <a:xfrm>
            <a:off x="2342517" y="3639889"/>
            <a:ext cx="3436938" cy="3205163"/>
            <a:chOff x="669592" y="3355974"/>
            <a:chExt cx="3437264" cy="3204715"/>
          </a:xfrm>
        </p:grpSpPr>
        <p:sp>
          <p:nvSpPr>
            <p:cNvPr id="286" name="Text Box 48">
              <a:extLst>
                <a:ext uri="{FF2B5EF4-FFF2-40B4-BE49-F238E27FC236}">
                  <a16:creationId xmlns:a16="http://schemas.microsoft.com/office/drawing/2014/main" id="{4E63937A-DDB6-4FAB-A301-F8E547053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770" y="4398990"/>
              <a:ext cx="587465" cy="336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/>
                <a:t>45°</a:t>
              </a:r>
            </a:p>
          </p:txBody>
        </p:sp>
        <p:sp>
          <p:nvSpPr>
            <p:cNvPr id="287" name="Freeform 49">
              <a:extLst>
                <a:ext uri="{FF2B5EF4-FFF2-40B4-BE49-F238E27FC236}">
                  <a16:creationId xmlns:a16="http://schemas.microsoft.com/office/drawing/2014/main" id="{8DB9F3C4-1FF8-4295-986B-A7901292F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741" y="4964269"/>
              <a:ext cx="1224149" cy="6351"/>
            </a:xfrm>
            <a:custGeom>
              <a:avLst/>
              <a:gdLst>
                <a:gd name="T0" fmla="*/ 0 w 771"/>
                <a:gd name="T1" fmla="*/ 2147483647 h 4"/>
                <a:gd name="T2" fmla="*/ 2147483647 w 771"/>
                <a:gd name="T3" fmla="*/ 0 h 4"/>
                <a:gd name="T4" fmla="*/ 0 60000 65536"/>
                <a:gd name="T5" fmla="*/ 0 60000 65536"/>
                <a:gd name="T6" fmla="*/ 0 w 771"/>
                <a:gd name="T7" fmla="*/ 0 h 4"/>
                <a:gd name="T8" fmla="*/ 771 w 771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1" h="4">
                  <a:moveTo>
                    <a:pt x="0" y="4"/>
                  </a:moveTo>
                  <a:lnTo>
                    <a:pt x="771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8" name="Oval 50">
              <a:extLst>
                <a:ext uri="{FF2B5EF4-FFF2-40B4-BE49-F238E27FC236}">
                  <a16:creationId xmlns:a16="http://schemas.microsoft.com/office/drawing/2014/main" id="{602FAE60-9D56-4EFB-87AA-185F923D6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741" y="3528840"/>
              <a:ext cx="1197158" cy="1138499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/>
            </a:p>
          </p:txBody>
        </p:sp>
        <p:sp>
          <p:nvSpPr>
            <p:cNvPr id="289" name="Oval 51">
              <a:extLst>
                <a:ext uri="{FF2B5EF4-FFF2-40B4-BE49-F238E27FC236}">
                  <a16:creationId xmlns:a16="http://schemas.microsoft.com/office/drawing/2014/main" id="{43D08588-A6C4-476D-A7EA-F6439ED3A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85" y="5270727"/>
              <a:ext cx="1182867" cy="110356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/>
            </a:p>
          </p:txBody>
        </p:sp>
        <p:sp>
          <p:nvSpPr>
            <p:cNvPr id="290" name="Line 52">
              <a:extLst>
                <a:ext uri="{FF2B5EF4-FFF2-40B4-BE49-F238E27FC236}">
                  <a16:creationId xmlns:a16="http://schemas.microsoft.com/office/drawing/2014/main" id="{1BF60F2F-495A-4E50-A521-3EF6529D6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857" y="4970621"/>
              <a:ext cx="1203509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1" name="Freeform 53">
              <a:extLst>
                <a:ext uri="{FF2B5EF4-FFF2-40B4-BE49-F238E27FC236}">
                  <a16:creationId xmlns:a16="http://schemas.microsoft.com/office/drawing/2014/main" id="{530C5A10-0E99-486D-AF6E-42C6DD675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260" y="3505021"/>
              <a:ext cx="1166990" cy="1167081"/>
            </a:xfrm>
            <a:custGeom>
              <a:avLst/>
              <a:gdLst>
                <a:gd name="T0" fmla="*/ 0 w 735"/>
                <a:gd name="T1" fmla="*/ 2147483647 h 735"/>
                <a:gd name="T2" fmla="*/ 2147483647 w 735"/>
                <a:gd name="T3" fmla="*/ 0 h 735"/>
                <a:gd name="T4" fmla="*/ 0 60000 65536"/>
                <a:gd name="T5" fmla="*/ 0 60000 65536"/>
                <a:gd name="T6" fmla="*/ 0 w 735"/>
                <a:gd name="T7" fmla="*/ 0 h 735"/>
                <a:gd name="T8" fmla="*/ 735 w 735"/>
                <a:gd name="T9" fmla="*/ 735 h 7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5" h="735">
                  <a:moveTo>
                    <a:pt x="0" y="735"/>
                  </a:moveTo>
                  <a:lnTo>
                    <a:pt x="735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2" name="Freeform 54">
              <a:extLst>
                <a:ext uri="{FF2B5EF4-FFF2-40B4-BE49-F238E27FC236}">
                  <a16:creationId xmlns:a16="http://schemas.microsoft.com/office/drawing/2014/main" id="{26073955-A0EA-4BB4-89FF-9896FA86F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121" y="4098883"/>
              <a:ext cx="1587" cy="889204"/>
            </a:xfrm>
            <a:custGeom>
              <a:avLst/>
              <a:gdLst>
                <a:gd name="T0" fmla="*/ 2147483647 w 1"/>
                <a:gd name="T1" fmla="*/ 0 h 560"/>
                <a:gd name="T2" fmla="*/ 0 w 1"/>
                <a:gd name="T3" fmla="*/ 2147483647 h 560"/>
                <a:gd name="T4" fmla="*/ 0 60000 65536"/>
                <a:gd name="T5" fmla="*/ 0 60000 65536"/>
                <a:gd name="T6" fmla="*/ 0 w 1"/>
                <a:gd name="T7" fmla="*/ 0 h 560"/>
                <a:gd name="T8" fmla="*/ 1 w 1"/>
                <a:gd name="T9" fmla="*/ 560 h 5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0">
                  <a:moveTo>
                    <a:pt x="1" y="0"/>
                  </a:moveTo>
                  <a:lnTo>
                    <a:pt x="0" y="56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3" name="Line 56">
              <a:extLst>
                <a:ext uri="{FF2B5EF4-FFF2-40B4-BE49-F238E27FC236}">
                  <a16:creationId xmlns:a16="http://schemas.microsoft.com/office/drawing/2014/main" id="{18A739B2-12D4-48FD-94F5-C81C52228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2839" y="3505021"/>
              <a:ext cx="0" cy="146559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4" name="Line 57">
              <a:extLst>
                <a:ext uri="{FF2B5EF4-FFF2-40B4-BE49-F238E27FC236}">
                  <a16:creationId xmlns:a16="http://schemas.microsoft.com/office/drawing/2014/main" id="{6B85B549-EF56-47B2-A120-9B02F0B46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4898" y="4086180"/>
              <a:ext cx="0" cy="88444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5" name="Freeform 58">
              <a:extLst>
                <a:ext uri="{FF2B5EF4-FFF2-40B4-BE49-F238E27FC236}">
                  <a16:creationId xmlns:a16="http://schemas.microsoft.com/office/drawing/2014/main" id="{5D6AC5D2-181E-4437-808F-A56AC39BB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83" y="4683217"/>
              <a:ext cx="495376" cy="1588"/>
            </a:xfrm>
            <a:custGeom>
              <a:avLst/>
              <a:gdLst>
                <a:gd name="T0" fmla="*/ 0 w 312"/>
                <a:gd name="T1" fmla="*/ 0 h 1"/>
                <a:gd name="T2" fmla="*/ 2147483647 w 312"/>
                <a:gd name="T3" fmla="*/ 0 h 1"/>
                <a:gd name="T4" fmla="*/ 0 60000 65536"/>
                <a:gd name="T5" fmla="*/ 0 60000 65536"/>
                <a:gd name="T6" fmla="*/ 0 w 312"/>
                <a:gd name="T7" fmla="*/ 0 h 1"/>
                <a:gd name="T8" fmla="*/ 312 w 31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2" h="1">
                  <a:moveTo>
                    <a:pt x="0" y="0"/>
                  </a:moveTo>
                  <a:lnTo>
                    <a:pt x="312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6" name="Line 59">
              <a:extLst>
                <a:ext uri="{FF2B5EF4-FFF2-40B4-BE49-F238E27FC236}">
                  <a16:creationId xmlns:a16="http://schemas.microsoft.com/office/drawing/2014/main" id="{A0A91313-31AB-4A31-B210-9D00A5089E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6795" y="4691157"/>
              <a:ext cx="0" cy="2826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97" name="组合 188">
              <a:extLst>
                <a:ext uri="{FF2B5EF4-FFF2-40B4-BE49-F238E27FC236}">
                  <a16:creationId xmlns:a16="http://schemas.microsoft.com/office/drawing/2014/main" id="{23837AF0-251D-4558-8F51-F6C6A6B826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7733" y="4086234"/>
              <a:ext cx="1689123" cy="1588"/>
              <a:chOff x="665109" y="2662227"/>
              <a:chExt cx="1689123" cy="1588"/>
            </a:xfrm>
          </p:grpSpPr>
          <p:cxnSp>
            <p:nvCxnSpPr>
              <p:cNvPr id="322" name="直接连接符 321">
                <a:extLst>
                  <a:ext uri="{FF2B5EF4-FFF2-40B4-BE49-F238E27FC236}">
                    <a16:creationId xmlns:a16="http://schemas.microsoft.com/office/drawing/2014/main" id="{AA40CE26-E889-4989-B239-91601DAA82E5}"/>
                  </a:ext>
                </a:extLst>
              </p:cNvPr>
              <p:cNvCxnSpPr/>
              <p:nvPr/>
            </p:nvCxnSpPr>
            <p:spPr>
              <a:xfrm>
                <a:off x="664972" y="2662115"/>
                <a:ext cx="4381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A86E9D0E-7A62-4751-8561-D07E7982DE99}"/>
                  </a:ext>
                </a:extLst>
              </p:cNvPr>
              <p:cNvCxnSpPr/>
              <p:nvPr/>
            </p:nvCxnSpPr>
            <p:spPr>
              <a:xfrm>
                <a:off x="1176195" y="2662115"/>
                <a:ext cx="7303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6B82B200-3AB4-4EFD-8726-957E9FE91BA4}"/>
                  </a:ext>
                </a:extLst>
              </p:cNvPr>
              <p:cNvCxnSpPr/>
              <p:nvPr/>
            </p:nvCxnSpPr>
            <p:spPr>
              <a:xfrm>
                <a:off x="1301619" y="2662115"/>
                <a:ext cx="4381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A77CEBA6-E1F2-41F5-AC79-1C50E151B438}"/>
                  </a:ext>
                </a:extLst>
              </p:cNvPr>
              <p:cNvCxnSpPr/>
              <p:nvPr/>
            </p:nvCxnSpPr>
            <p:spPr>
              <a:xfrm>
                <a:off x="1781090" y="2662115"/>
                <a:ext cx="7303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06ECD896-E19A-44C3-ADFE-7D3959E7C403}"/>
                  </a:ext>
                </a:extLst>
              </p:cNvPr>
              <p:cNvCxnSpPr/>
              <p:nvPr/>
            </p:nvCxnSpPr>
            <p:spPr>
              <a:xfrm>
                <a:off x="1916040" y="2662115"/>
                <a:ext cx="4381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8" name="组合 218">
              <a:extLst>
                <a:ext uri="{FF2B5EF4-FFF2-40B4-BE49-F238E27FC236}">
                  <a16:creationId xmlns:a16="http://schemas.microsoft.com/office/drawing/2014/main" id="{996C97A2-B58D-4E6E-B874-21A1892AD4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9592" y="5864257"/>
              <a:ext cx="1689123" cy="1588"/>
              <a:chOff x="665109" y="2662227"/>
              <a:chExt cx="1689123" cy="1588"/>
            </a:xfrm>
          </p:grpSpPr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BE299A00-75E6-4065-889D-75C111868FB2}"/>
                  </a:ext>
                </a:extLst>
              </p:cNvPr>
              <p:cNvCxnSpPr/>
              <p:nvPr/>
            </p:nvCxnSpPr>
            <p:spPr>
              <a:xfrm>
                <a:off x="665109" y="2661843"/>
                <a:ext cx="4381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CF847100-D6D3-428E-BF21-B34E7946391B}"/>
                  </a:ext>
                </a:extLst>
              </p:cNvPr>
              <p:cNvCxnSpPr/>
              <p:nvPr/>
            </p:nvCxnSpPr>
            <p:spPr>
              <a:xfrm>
                <a:off x="1176332" y="2661843"/>
                <a:ext cx="7303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D3CEF45C-3B21-469F-9BF8-D41E81F04599}"/>
                  </a:ext>
                </a:extLst>
              </p:cNvPr>
              <p:cNvCxnSpPr/>
              <p:nvPr/>
            </p:nvCxnSpPr>
            <p:spPr>
              <a:xfrm>
                <a:off x="1301757" y="2661843"/>
                <a:ext cx="4381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 319">
                <a:extLst>
                  <a:ext uri="{FF2B5EF4-FFF2-40B4-BE49-F238E27FC236}">
                    <a16:creationId xmlns:a16="http://schemas.microsoft.com/office/drawing/2014/main" id="{6AE4A335-9547-4E09-AD5A-6F42CD33542A}"/>
                  </a:ext>
                </a:extLst>
              </p:cNvPr>
              <p:cNvCxnSpPr/>
              <p:nvPr/>
            </p:nvCxnSpPr>
            <p:spPr>
              <a:xfrm>
                <a:off x="1781228" y="2661843"/>
                <a:ext cx="7303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32F365FE-AE09-4DE9-BFA4-F124C95CF12B}"/>
                  </a:ext>
                </a:extLst>
              </p:cNvPr>
              <p:cNvCxnSpPr/>
              <p:nvPr/>
            </p:nvCxnSpPr>
            <p:spPr>
              <a:xfrm>
                <a:off x="1916178" y="2661843"/>
                <a:ext cx="43819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组合 224">
              <a:extLst>
                <a:ext uri="{FF2B5EF4-FFF2-40B4-BE49-F238E27FC236}">
                  <a16:creationId xmlns:a16="http://schemas.microsoft.com/office/drawing/2014/main" id="{D871AE64-6FAC-4FE7-9109-6712C994ABC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41522" y="5857895"/>
              <a:ext cx="1404000" cy="1588"/>
              <a:chOff x="665109" y="2662227"/>
              <a:chExt cx="1689123" cy="1588"/>
            </a:xfrm>
          </p:grpSpPr>
          <p:cxnSp>
            <p:nvCxnSpPr>
              <p:cNvPr id="312" name="直接连接符 311">
                <a:extLst>
                  <a:ext uri="{FF2B5EF4-FFF2-40B4-BE49-F238E27FC236}">
                    <a16:creationId xmlns:a16="http://schemas.microsoft.com/office/drawing/2014/main" id="{CE261F7F-63E6-431F-B35A-C9E84B458435}"/>
                  </a:ext>
                </a:extLst>
              </p:cNvPr>
              <p:cNvCxnSpPr/>
              <p:nvPr/>
            </p:nvCxnSpPr>
            <p:spPr>
              <a:xfrm>
                <a:off x="664217" y="2662156"/>
                <a:ext cx="439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70CD7048-4913-41C6-88E0-612FD3A7001C}"/>
                  </a:ext>
                </a:extLst>
              </p:cNvPr>
              <p:cNvCxnSpPr/>
              <p:nvPr/>
            </p:nvCxnSpPr>
            <p:spPr>
              <a:xfrm>
                <a:off x="1175996" y="2662156"/>
                <a:ext cx="7256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直接连接符 313">
                <a:extLst>
                  <a:ext uri="{FF2B5EF4-FFF2-40B4-BE49-F238E27FC236}">
                    <a16:creationId xmlns:a16="http://schemas.microsoft.com/office/drawing/2014/main" id="{28F587A8-17C3-4704-A1F5-F55FC96903FD}"/>
                  </a:ext>
                </a:extLst>
              </p:cNvPr>
              <p:cNvCxnSpPr/>
              <p:nvPr/>
            </p:nvCxnSpPr>
            <p:spPr>
              <a:xfrm>
                <a:off x="1302030" y="2662155"/>
                <a:ext cx="437304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直接连接符 314">
                <a:extLst>
                  <a:ext uri="{FF2B5EF4-FFF2-40B4-BE49-F238E27FC236}">
                    <a16:creationId xmlns:a16="http://schemas.microsoft.com/office/drawing/2014/main" id="{099AD856-7D64-4720-B347-45266DF9BF95}"/>
                  </a:ext>
                </a:extLst>
              </p:cNvPr>
              <p:cNvCxnSpPr/>
              <p:nvPr/>
            </p:nvCxnSpPr>
            <p:spPr>
              <a:xfrm>
                <a:off x="1781346" y="2662156"/>
                <a:ext cx="7256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4CEDBF93-78F7-4731-849D-1C0C5BA58229}"/>
                  </a:ext>
                </a:extLst>
              </p:cNvPr>
              <p:cNvCxnSpPr/>
              <p:nvPr/>
            </p:nvCxnSpPr>
            <p:spPr>
              <a:xfrm>
                <a:off x="1915020" y="2662156"/>
                <a:ext cx="439213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0" name="组合 230">
              <a:extLst>
                <a:ext uri="{FF2B5EF4-FFF2-40B4-BE49-F238E27FC236}">
                  <a16:creationId xmlns:a16="http://schemas.microsoft.com/office/drawing/2014/main" id="{83FE2F60-B7ED-4DBE-B4AC-F36CA9B6D2E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904207" y="4427508"/>
              <a:ext cx="1296000" cy="1588"/>
              <a:chOff x="665109" y="2662227"/>
              <a:chExt cx="1689123" cy="1588"/>
            </a:xfrm>
          </p:grpSpPr>
          <p:cxnSp>
            <p:nvCxnSpPr>
              <p:cNvPr id="307" name="直接连接符 306">
                <a:extLst>
                  <a:ext uri="{FF2B5EF4-FFF2-40B4-BE49-F238E27FC236}">
                    <a16:creationId xmlns:a16="http://schemas.microsoft.com/office/drawing/2014/main" id="{854D06E7-F2A7-402B-B181-063836578A71}"/>
                  </a:ext>
                </a:extLst>
              </p:cNvPr>
              <p:cNvCxnSpPr/>
              <p:nvPr/>
            </p:nvCxnSpPr>
            <p:spPr>
              <a:xfrm>
                <a:off x="664425" y="2662902"/>
                <a:ext cx="43857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>
                <a:extLst>
                  <a:ext uri="{FF2B5EF4-FFF2-40B4-BE49-F238E27FC236}">
                    <a16:creationId xmlns:a16="http://schemas.microsoft.com/office/drawing/2014/main" id="{42EF578E-4D77-4CB4-A31E-8C2C9F0D071B}"/>
                  </a:ext>
                </a:extLst>
              </p:cNvPr>
              <p:cNvCxnSpPr/>
              <p:nvPr/>
            </p:nvCxnSpPr>
            <p:spPr>
              <a:xfrm>
                <a:off x="1175407" y="2662902"/>
                <a:ext cx="74475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>
                <a:extLst>
                  <a:ext uri="{FF2B5EF4-FFF2-40B4-BE49-F238E27FC236}">
                    <a16:creationId xmlns:a16="http://schemas.microsoft.com/office/drawing/2014/main" id="{72E61AFA-C5EB-4E7B-A935-B6B8FE0421A4}"/>
                  </a:ext>
                </a:extLst>
              </p:cNvPr>
              <p:cNvCxnSpPr/>
              <p:nvPr/>
            </p:nvCxnSpPr>
            <p:spPr>
              <a:xfrm>
                <a:off x="1301602" y="2662902"/>
                <a:ext cx="43857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 309">
                <a:extLst>
                  <a:ext uri="{FF2B5EF4-FFF2-40B4-BE49-F238E27FC236}">
                    <a16:creationId xmlns:a16="http://schemas.microsoft.com/office/drawing/2014/main" id="{D64A38BE-7CD4-4422-814F-FCF83B619542}"/>
                  </a:ext>
                </a:extLst>
              </p:cNvPr>
              <p:cNvCxnSpPr/>
              <p:nvPr/>
            </p:nvCxnSpPr>
            <p:spPr>
              <a:xfrm>
                <a:off x="1781553" y="2662902"/>
                <a:ext cx="7240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>
                <a:extLst>
                  <a:ext uri="{FF2B5EF4-FFF2-40B4-BE49-F238E27FC236}">
                    <a16:creationId xmlns:a16="http://schemas.microsoft.com/office/drawing/2014/main" id="{C5D2FB1F-2AD2-4A5F-AA52-2D4019630980}"/>
                  </a:ext>
                </a:extLst>
              </p:cNvPr>
              <p:cNvCxnSpPr/>
              <p:nvPr/>
            </p:nvCxnSpPr>
            <p:spPr>
              <a:xfrm>
                <a:off x="1916022" y="2662902"/>
                <a:ext cx="438576" cy="15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1" name="组合 242">
              <a:extLst>
                <a:ext uri="{FF2B5EF4-FFF2-40B4-BE49-F238E27FC236}">
                  <a16:creationId xmlns:a16="http://schemas.microsoft.com/office/drawing/2014/main" id="{4FB214E2-E5C7-4A4C-A9DF-0A94ED6BB98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435242" y="4199742"/>
              <a:ext cx="1689123" cy="1588"/>
              <a:chOff x="665109" y="2662227"/>
              <a:chExt cx="1689123" cy="1588"/>
            </a:xfrm>
          </p:grpSpPr>
          <p:cxnSp>
            <p:nvCxnSpPr>
              <p:cNvPr id="302" name="直接连接符 301">
                <a:extLst>
                  <a:ext uri="{FF2B5EF4-FFF2-40B4-BE49-F238E27FC236}">
                    <a16:creationId xmlns:a16="http://schemas.microsoft.com/office/drawing/2014/main" id="{CDFFEA57-6C29-4097-9060-FC937C94D486}"/>
                  </a:ext>
                </a:extLst>
              </p:cNvPr>
              <p:cNvCxnSpPr/>
              <p:nvPr/>
            </p:nvCxnSpPr>
            <p:spPr>
              <a:xfrm>
                <a:off x="665109" y="2661547"/>
                <a:ext cx="438089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>
                <a:extLst>
                  <a:ext uri="{FF2B5EF4-FFF2-40B4-BE49-F238E27FC236}">
                    <a16:creationId xmlns:a16="http://schemas.microsoft.com/office/drawing/2014/main" id="{3E000331-6223-4D52-9E1A-9CF86A7F4EFD}"/>
                  </a:ext>
                </a:extLst>
              </p:cNvPr>
              <p:cNvCxnSpPr/>
              <p:nvPr/>
            </p:nvCxnSpPr>
            <p:spPr>
              <a:xfrm>
                <a:off x="1176213" y="2661547"/>
                <a:ext cx="7301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>
                <a:extLst>
                  <a:ext uri="{FF2B5EF4-FFF2-40B4-BE49-F238E27FC236}">
                    <a16:creationId xmlns:a16="http://schemas.microsoft.com/office/drawing/2014/main" id="{80DE0099-8553-46AA-8022-65AB65AD0BF9}"/>
                  </a:ext>
                </a:extLst>
              </p:cNvPr>
              <p:cNvCxnSpPr/>
              <p:nvPr/>
            </p:nvCxnSpPr>
            <p:spPr>
              <a:xfrm>
                <a:off x="1301608" y="2661547"/>
                <a:ext cx="438089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692E8D81-18A1-4899-9053-8B0AE7CCD62C}"/>
                  </a:ext>
                </a:extLst>
              </p:cNvPr>
              <p:cNvCxnSpPr/>
              <p:nvPr/>
            </p:nvCxnSpPr>
            <p:spPr>
              <a:xfrm>
                <a:off x="1780966" y="2661547"/>
                <a:ext cx="73015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2258EB24-7736-4D17-B95A-32BA52A9DC96}"/>
                  </a:ext>
                </a:extLst>
              </p:cNvPr>
              <p:cNvCxnSpPr/>
              <p:nvPr/>
            </p:nvCxnSpPr>
            <p:spPr>
              <a:xfrm>
                <a:off x="1915884" y="2661547"/>
                <a:ext cx="438089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7" name="AutoShape 26">
            <a:extLst>
              <a:ext uri="{FF2B5EF4-FFF2-40B4-BE49-F238E27FC236}">
                <a16:creationId xmlns:a16="http://schemas.microsoft.com/office/drawing/2014/main" id="{A0C899E8-70ED-4EC3-9BCC-E271D8E9E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492" y="4370139"/>
            <a:ext cx="2800350" cy="1168400"/>
          </a:xfrm>
          <a:prstGeom prst="wedgeEllipseCallout">
            <a:avLst>
              <a:gd name="adj1" fmla="val 57764"/>
              <a:gd name="adj2" fmla="val 34065"/>
            </a:avLst>
          </a:prstGeom>
          <a:solidFill>
            <a:srgbClr val="FFFF00"/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/>
              <a:t>什么情况下投影为圆呢？</a:t>
            </a:r>
          </a:p>
        </p:txBody>
      </p:sp>
      <p:sp>
        <p:nvSpPr>
          <p:cNvPr id="328" name="AutoShape 27">
            <a:extLst>
              <a:ext uri="{FF2B5EF4-FFF2-40B4-BE49-F238E27FC236}">
                <a16:creationId xmlns:a16="http://schemas.microsoft.com/office/drawing/2014/main" id="{335EE938-88DB-499C-85BC-F060F514C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905" y="4224089"/>
            <a:ext cx="3525837" cy="2108200"/>
          </a:xfrm>
          <a:prstGeom prst="cloudCallout">
            <a:avLst>
              <a:gd name="adj1" fmla="val -120537"/>
              <a:gd name="adj2" fmla="val -8741"/>
            </a:avLst>
          </a:prstGeom>
          <a:gradFill rotWithShape="0">
            <a:gsLst>
              <a:gs pos="0">
                <a:srgbClr val="FF99FF"/>
              </a:gs>
              <a:gs pos="50000">
                <a:srgbClr val="FFFF00"/>
              </a:gs>
              <a:gs pos="100000">
                <a:srgbClr val="FF99FF"/>
              </a:gs>
            </a:gsLst>
            <a:lin ang="18900000" scaled="1"/>
          </a:gradFill>
          <a:ln w="38100">
            <a:solidFill>
              <a:srgbClr val="FF33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/>
              <a:t>截平面与圆柱轴线成</a:t>
            </a:r>
            <a:r>
              <a:rPr lang="en-US" altLang="zh-CN" sz="2800"/>
              <a:t>45°</a:t>
            </a:r>
            <a:r>
              <a:rPr lang="zh-CN" altLang="en-US" sz="2800"/>
              <a:t>时。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 autoUpdateAnimBg="0"/>
      <p:bldP spid="327" grpId="0" animBg="1"/>
      <p:bldP spid="32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5"/>
          <p:cNvSpPr txBox="1">
            <a:spLocks noChangeArrowheads="1"/>
          </p:cNvSpPr>
          <p:nvPr/>
        </p:nvSpPr>
        <p:spPr bwMode="auto">
          <a:xfrm>
            <a:off x="2736851" y="179388"/>
            <a:ext cx="26463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/>
              <a:t>例：求左视图</a:t>
            </a:r>
          </a:p>
        </p:txBody>
      </p:sp>
      <p:pic>
        <p:nvPicPr>
          <p:cNvPr id="47184" name="Picture 8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67676" y="3027363"/>
            <a:ext cx="2316163" cy="33956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6084" name="Picture 81"/>
          <p:cNvPicPr>
            <a:picLocks noChangeAspect="1" noChangeArrowheads="1"/>
          </p:cNvPicPr>
          <p:nvPr/>
        </p:nvPicPr>
        <p:blipFill>
          <a:blip r:embed="rId3"/>
          <a:srcRect r="53125"/>
          <a:stretch>
            <a:fillRect/>
          </a:stretch>
        </p:blipFill>
        <p:spPr bwMode="auto">
          <a:xfrm>
            <a:off x="2627313" y="1347788"/>
            <a:ext cx="2190750" cy="5130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5" name="Picture 81"/>
          <p:cNvPicPr>
            <a:picLocks noChangeAspect="1" noChangeArrowheads="1"/>
          </p:cNvPicPr>
          <p:nvPr/>
        </p:nvPicPr>
        <p:blipFill>
          <a:blip r:embed="rId3"/>
          <a:srcRect l="53125" b="46631"/>
          <a:stretch>
            <a:fillRect/>
          </a:stretch>
        </p:blipFill>
        <p:spPr bwMode="auto">
          <a:xfrm>
            <a:off x="5402263" y="1347789"/>
            <a:ext cx="2190750" cy="27384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" name="任意多边形 5"/>
          <p:cNvSpPr/>
          <p:nvPr/>
        </p:nvSpPr>
        <p:spPr>
          <a:xfrm>
            <a:off x="2755901" y="3416300"/>
            <a:ext cx="3743325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6337301" y="3294064"/>
            <a:ext cx="290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8" name="任意多边形 7"/>
          <p:cNvSpPr/>
          <p:nvPr/>
        </p:nvSpPr>
        <p:spPr>
          <a:xfrm>
            <a:off x="3654426" y="2662238"/>
            <a:ext cx="3744913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5438776" y="2540000"/>
            <a:ext cx="2106613" cy="247650"/>
            <a:chOff x="3914766" y="2539990"/>
            <a:chExt cx="2106637" cy="247647"/>
          </a:xfrm>
        </p:grpSpPr>
        <p:sp>
          <p:nvSpPr>
            <p:cNvPr id="46126" name="Text Box 29"/>
            <p:cNvSpPr txBox="1">
              <a:spLocks noChangeArrowheads="1"/>
            </p:cNvSpPr>
            <p:nvPr/>
          </p:nvSpPr>
          <p:spPr bwMode="auto">
            <a:xfrm>
              <a:off x="5730890" y="2539990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6127" name="Text Box 29"/>
            <p:cNvSpPr txBox="1">
              <a:spLocks noChangeArrowheads="1"/>
            </p:cNvSpPr>
            <p:nvPr/>
          </p:nvSpPr>
          <p:spPr bwMode="auto">
            <a:xfrm>
              <a:off x="3914766" y="2543162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</p:grpSp>
      <p:sp>
        <p:nvSpPr>
          <p:cNvPr id="12" name="任意多边形 11"/>
          <p:cNvSpPr/>
          <p:nvPr/>
        </p:nvSpPr>
        <p:spPr>
          <a:xfrm>
            <a:off x="4167189" y="2222500"/>
            <a:ext cx="3240087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 rot="5400000">
            <a:off x="2983706" y="3423444"/>
            <a:ext cx="2376488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4183064" y="2197100"/>
            <a:ext cx="3068637" cy="3962400"/>
            <a:chOff x="2659381" y="2197100"/>
            <a:chExt cx="3068335" cy="3963100"/>
          </a:xfrm>
        </p:grpSpPr>
        <p:sp>
          <p:nvSpPr>
            <p:cNvPr id="14" name="任意多边形 13"/>
            <p:cNvSpPr/>
            <p:nvPr/>
          </p:nvSpPr>
          <p:spPr>
            <a:xfrm>
              <a:off x="2659381" y="4648633"/>
              <a:ext cx="0" cy="1511567"/>
            </a:xfrm>
            <a:custGeom>
              <a:avLst/>
              <a:gdLst>
                <a:gd name="connsiteX0" fmla="*/ 63500 w 65001"/>
                <a:gd name="connsiteY0" fmla="*/ 0 h 1452872"/>
                <a:gd name="connsiteX1" fmla="*/ 38100 w 65001"/>
                <a:gd name="connsiteY1" fmla="*/ 381000 h 1452872"/>
                <a:gd name="connsiteX2" fmla="*/ 25400 w 65001"/>
                <a:gd name="connsiteY2" fmla="*/ 457200 h 1452872"/>
                <a:gd name="connsiteX3" fmla="*/ 38100 w 65001"/>
                <a:gd name="connsiteY3" fmla="*/ 711200 h 1452872"/>
                <a:gd name="connsiteX4" fmla="*/ 50800 w 65001"/>
                <a:gd name="connsiteY4" fmla="*/ 1422400 h 1452872"/>
                <a:gd name="connsiteX5" fmla="*/ 0 w 65001"/>
                <a:gd name="connsiteY5" fmla="*/ 1346200 h 145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001" h="1452872">
                  <a:moveTo>
                    <a:pt x="63500" y="0"/>
                  </a:moveTo>
                  <a:cubicBezTo>
                    <a:pt x="55033" y="127000"/>
                    <a:pt x="48670" y="254158"/>
                    <a:pt x="38100" y="381000"/>
                  </a:cubicBezTo>
                  <a:cubicBezTo>
                    <a:pt x="35962" y="406661"/>
                    <a:pt x="25400" y="431450"/>
                    <a:pt x="25400" y="457200"/>
                  </a:cubicBezTo>
                  <a:cubicBezTo>
                    <a:pt x="25400" y="541972"/>
                    <a:pt x="33867" y="626533"/>
                    <a:pt x="38100" y="711200"/>
                  </a:cubicBezTo>
                  <a:cubicBezTo>
                    <a:pt x="42333" y="948267"/>
                    <a:pt x="65001" y="1185721"/>
                    <a:pt x="50800" y="1422400"/>
                  </a:cubicBezTo>
                  <a:cubicBezTo>
                    <a:pt x="48972" y="1452872"/>
                    <a:pt x="0" y="1346200"/>
                    <a:pt x="0" y="1346200"/>
                  </a:cubicBezTo>
                </a:path>
              </a:pathLst>
            </a:cu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4214978" y="2197100"/>
              <a:ext cx="1512738" cy="0"/>
            </a:xfrm>
            <a:custGeom>
              <a:avLst/>
              <a:gdLst>
                <a:gd name="connsiteX0" fmla="*/ 0 w 1333500"/>
                <a:gd name="connsiteY0" fmla="*/ 25400 h 25400"/>
                <a:gd name="connsiteX1" fmla="*/ 800100 w 1333500"/>
                <a:gd name="connsiteY1" fmla="*/ 12700 h 25400"/>
                <a:gd name="connsiteX2" fmla="*/ 1333500 w 1333500"/>
                <a:gd name="connsiteY2" fmla="*/ 0 h 2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0" h="25400">
                  <a:moveTo>
                    <a:pt x="0" y="25400"/>
                  </a:moveTo>
                  <a:lnTo>
                    <a:pt x="800100" y="12700"/>
                  </a:lnTo>
                  <a:lnTo>
                    <a:pt x="1333500" y="0"/>
                  </a:lnTo>
                </a:path>
              </a:pathLst>
            </a:cu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9" name="Text Box 29"/>
          <p:cNvSpPr txBox="1">
            <a:spLocks noChangeArrowheads="1"/>
          </p:cNvSpPr>
          <p:nvPr/>
        </p:nvSpPr>
        <p:spPr bwMode="auto">
          <a:xfrm>
            <a:off x="5592763" y="2092326"/>
            <a:ext cx="290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20" name="Text Box 29"/>
          <p:cNvSpPr txBox="1">
            <a:spLocks noChangeArrowheads="1"/>
          </p:cNvSpPr>
          <p:nvPr/>
        </p:nvSpPr>
        <p:spPr bwMode="auto">
          <a:xfrm>
            <a:off x="7091363" y="2097089"/>
            <a:ext cx="290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22" name="任意多边形 21"/>
          <p:cNvSpPr/>
          <p:nvPr/>
        </p:nvSpPr>
        <p:spPr>
          <a:xfrm>
            <a:off x="5740400" y="1676400"/>
            <a:ext cx="1511300" cy="0"/>
          </a:xfrm>
          <a:custGeom>
            <a:avLst/>
            <a:gdLst>
              <a:gd name="connsiteX0" fmla="*/ 0 w 1333500"/>
              <a:gd name="connsiteY0" fmla="*/ 25400 h 25400"/>
              <a:gd name="connsiteX1" fmla="*/ 800100 w 1333500"/>
              <a:gd name="connsiteY1" fmla="*/ 12700 h 25400"/>
              <a:gd name="connsiteX2" fmla="*/ 1333500 w 1333500"/>
              <a:gd name="connsiteY2" fmla="*/ 0 h 2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0" h="25400">
                <a:moveTo>
                  <a:pt x="0" y="25400"/>
                </a:moveTo>
                <a:lnTo>
                  <a:pt x="800100" y="12700"/>
                </a:lnTo>
                <a:lnTo>
                  <a:pt x="1333500" y="0"/>
                </a:lnTo>
              </a:path>
            </a:pathLst>
          </a:cu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4" name="组合 28"/>
          <p:cNvGrpSpPr>
            <a:grpSpLocks/>
          </p:cNvGrpSpPr>
          <p:nvPr/>
        </p:nvGrpSpPr>
        <p:grpSpPr bwMode="auto">
          <a:xfrm>
            <a:off x="5599113" y="1549400"/>
            <a:ext cx="1789112" cy="249238"/>
            <a:chOff x="4075109" y="1549374"/>
            <a:chExt cx="1789131" cy="249239"/>
          </a:xfrm>
        </p:grpSpPr>
        <p:sp>
          <p:nvSpPr>
            <p:cNvPr id="46122" name="Text Box 29"/>
            <p:cNvSpPr txBox="1">
              <a:spLocks noChangeArrowheads="1"/>
            </p:cNvSpPr>
            <p:nvPr/>
          </p:nvSpPr>
          <p:spPr bwMode="auto">
            <a:xfrm>
              <a:off x="4075109" y="1549374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6123" name="Text Box 29"/>
            <p:cNvSpPr txBox="1">
              <a:spLocks noChangeArrowheads="1"/>
            </p:cNvSpPr>
            <p:nvPr/>
          </p:nvSpPr>
          <p:spPr bwMode="auto">
            <a:xfrm>
              <a:off x="5573727" y="1554138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</p:grpSp>
      <p:sp>
        <p:nvSpPr>
          <p:cNvPr id="36" name="任意多边形 35"/>
          <p:cNvSpPr/>
          <p:nvPr/>
        </p:nvSpPr>
        <p:spPr>
          <a:xfrm>
            <a:off x="3722689" y="2463800"/>
            <a:ext cx="3851275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 rot="5400000">
            <a:off x="1843882" y="4368007"/>
            <a:ext cx="4068763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9" name="组合 43"/>
          <p:cNvGrpSpPr>
            <a:grpSpLocks/>
          </p:cNvGrpSpPr>
          <p:nvPr/>
        </p:nvGrpSpPr>
        <p:grpSpPr bwMode="auto">
          <a:xfrm>
            <a:off x="3717925" y="4381500"/>
            <a:ext cx="300038" cy="2014538"/>
            <a:chOff x="2193896" y="4381513"/>
            <a:chExt cx="300035" cy="2014561"/>
          </a:xfrm>
        </p:grpSpPr>
        <p:sp>
          <p:nvSpPr>
            <p:cNvPr id="46120" name="Text Box 29"/>
            <p:cNvSpPr txBox="1">
              <a:spLocks noChangeArrowheads="1"/>
            </p:cNvSpPr>
            <p:nvPr/>
          </p:nvSpPr>
          <p:spPr bwMode="auto">
            <a:xfrm>
              <a:off x="2203418" y="6151599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6121" name="Text Box 29"/>
            <p:cNvSpPr txBox="1">
              <a:spLocks noChangeArrowheads="1"/>
            </p:cNvSpPr>
            <p:nvPr/>
          </p:nvSpPr>
          <p:spPr bwMode="auto">
            <a:xfrm>
              <a:off x="2193896" y="4381513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10" name="组合 44"/>
          <p:cNvGrpSpPr>
            <a:grpSpLocks/>
          </p:cNvGrpSpPr>
          <p:nvPr/>
        </p:nvGrpSpPr>
        <p:grpSpPr bwMode="auto">
          <a:xfrm rot="-5400000">
            <a:off x="6342064" y="1468439"/>
            <a:ext cx="300037" cy="2014537"/>
            <a:chOff x="2193896" y="4381513"/>
            <a:chExt cx="300035" cy="2014561"/>
          </a:xfrm>
        </p:grpSpPr>
        <p:sp>
          <p:nvSpPr>
            <p:cNvPr id="46118" name="Text Box 29"/>
            <p:cNvSpPr txBox="1">
              <a:spLocks noChangeArrowheads="1"/>
            </p:cNvSpPr>
            <p:nvPr/>
          </p:nvSpPr>
          <p:spPr bwMode="auto">
            <a:xfrm>
              <a:off x="2203418" y="6151599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6119" name="Text Box 29"/>
            <p:cNvSpPr txBox="1">
              <a:spLocks noChangeArrowheads="1"/>
            </p:cNvSpPr>
            <p:nvPr/>
          </p:nvSpPr>
          <p:spPr bwMode="auto">
            <a:xfrm>
              <a:off x="2193896" y="4381513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</p:grpSp>
      <p:sp>
        <p:nvSpPr>
          <p:cNvPr id="48" name="任意多边形 47"/>
          <p:cNvSpPr/>
          <p:nvPr/>
        </p:nvSpPr>
        <p:spPr>
          <a:xfrm>
            <a:off x="2992439" y="3048000"/>
            <a:ext cx="4535487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 rot="5400000">
            <a:off x="1492251" y="4573588"/>
            <a:ext cx="3311525" cy="0"/>
          </a:xfrm>
          <a:custGeom>
            <a:avLst/>
            <a:gdLst>
              <a:gd name="connsiteX0" fmla="*/ 0 w 4495800"/>
              <a:gd name="connsiteY0" fmla="*/ 0 h 241300"/>
              <a:gd name="connsiteX1" fmla="*/ 368300 w 4495800"/>
              <a:gd name="connsiteY1" fmla="*/ 76200 h 241300"/>
              <a:gd name="connsiteX2" fmla="*/ 508000 w 4495800"/>
              <a:gd name="connsiteY2" fmla="*/ 101600 h 241300"/>
              <a:gd name="connsiteX3" fmla="*/ 685800 w 4495800"/>
              <a:gd name="connsiteY3" fmla="*/ 139700 h 241300"/>
              <a:gd name="connsiteX4" fmla="*/ 863600 w 4495800"/>
              <a:gd name="connsiteY4" fmla="*/ 177800 h 241300"/>
              <a:gd name="connsiteX5" fmla="*/ 965200 w 4495800"/>
              <a:gd name="connsiteY5" fmla="*/ 190500 h 241300"/>
              <a:gd name="connsiteX6" fmla="*/ 1155700 w 4495800"/>
              <a:gd name="connsiteY6" fmla="*/ 228600 h 241300"/>
              <a:gd name="connsiteX7" fmla="*/ 1231900 w 4495800"/>
              <a:gd name="connsiteY7" fmla="*/ 241300 h 241300"/>
              <a:gd name="connsiteX8" fmla="*/ 1676400 w 4495800"/>
              <a:gd name="connsiteY8" fmla="*/ 228600 h 241300"/>
              <a:gd name="connsiteX9" fmla="*/ 1739900 w 4495800"/>
              <a:gd name="connsiteY9" fmla="*/ 203200 h 241300"/>
              <a:gd name="connsiteX10" fmla="*/ 1854200 w 4495800"/>
              <a:gd name="connsiteY10" fmla="*/ 152400 h 241300"/>
              <a:gd name="connsiteX11" fmla="*/ 1993900 w 4495800"/>
              <a:gd name="connsiteY11" fmla="*/ 76200 h 241300"/>
              <a:gd name="connsiteX12" fmla="*/ 2070100 w 4495800"/>
              <a:gd name="connsiteY12" fmla="*/ 50800 h 241300"/>
              <a:gd name="connsiteX13" fmla="*/ 2197100 w 4495800"/>
              <a:gd name="connsiteY13" fmla="*/ 12700 h 241300"/>
              <a:gd name="connsiteX14" fmla="*/ 2311400 w 4495800"/>
              <a:gd name="connsiteY14" fmla="*/ 0 h 241300"/>
              <a:gd name="connsiteX15" fmla="*/ 2565400 w 4495800"/>
              <a:gd name="connsiteY15" fmla="*/ 25400 h 241300"/>
              <a:gd name="connsiteX16" fmla="*/ 2616200 w 4495800"/>
              <a:gd name="connsiteY16" fmla="*/ 38100 h 241300"/>
              <a:gd name="connsiteX17" fmla="*/ 2654300 w 4495800"/>
              <a:gd name="connsiteY17" fmla="*/ 63500 h 241300"/>
              <a:gd name="connsiteX18" fmla="*/ 2717800 w 4495800"/>
              <a:gd name="connsiteY18" fmla="*/ 76200 h 241300"/>
              <a:gd name="connsiteX19" fmla="*/ 2768600 w 4495800"/>
              <a:gd name="connsiteY19" fmla="*/ 88900 h 241300"/>
              <a:gd name="connsiteX20" fmla="*/ 2882900 w 4495800"/>
              <a:gd name="connsiteY20" fmla="*/ 114300 h 241300"/>
              <a:gd name="connsiteX21" fmla="*/ 3517900 w 4495800"/>
              <a:gd name="connsiteY21" fmla="*/ 114300 h 241300"/>
              <a:gd name="connsiteX22" fmla="*/ 3594100 w 4495800"/>
              <a:gd name="connsiteY22" fmla="*/ 127000 h 241300"/>
              <a:gd name="connsiteX23" fmla="*/ 4279900 w 4495800"/>
              <a:gd name="connsiteY23" fmla="*/ 165100 h 241300"/>
              <a:gd name="connsiteX24" fmla="*/ 4495800 w 4495800"/>
              <a:gd name="connsiteY24" fmla="*/ 1651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95800" h="241300">
                <a:moveTo>
                  <a:pt x="0" y="0"/>
                </a:moveTo>
                <a:lnTo>
                  <a:pt x="368300" y="76200"/>
                </a:lnTo>
                <a:cubicBezTo>
                  <a:pt x="491803" y="102398"/>
                  <a:pt x="326940" y="75734"/>
                  <a:pt x="508000" y="101600"/>
                </a:cubicBezTo>
                <a:cubicBezTo>
                  <a:pt x="617148" y="145259"/>
                  <a:pt x="531934" y="117719"/>
                  <a:pt x="685800" y="139700"/>
                </a:cubicBezTo>
                <a:cubicBezTo>
                  <a:pt x="716466" y="144081"/>
                  <a:pt x="856794" y="176599"/>
                  <a:pt x="863600" y="177800"/>
                </a:cubicBezTo>
                <a:cubicBezTo>
                  <a:pt x="897211" y="183731"/>
                  <a:pt x="931333" y="186267"/>
                  <a:pt x="965200" y="190500"/>
                </a:cubicBezTo>
                <a:cubicBezTo>
                  <a:pt x="1052158" y="219486"/>
                  <a:pt x="990095" y="200999"/>
                  <a:pt x="1155700" y="228600"/>
                </a:cubicBezTo>
                <a:lnTo>
                  <a:pt x="1231900" y="241300"/>
                </a:lnTo>
                <a:cubicBezTo>
                  <a:pt x="1380067" y="237067"/>
                  <a:pt x="1528588" y="239686"/>
                  <a:pt x="1676400" y="228600"/>
                </a:cubicBezTo>
                <a:cubicBezTo>
                  <a:pt x="1699133" y="226895"/>
                  <a:pt x="1718554" y="211205"/>
                  <a:pt x="1739900" y="203200"/>
                </a:cubicBezTo>
                <a:cubicBezTo>
                  <a:pt x="1807161" y="177977"/>
                  <a:pt x="1761317" y="204002"/>
                  <a:pt x="1854200" y="152400"/>
                </a:cubicBezTo>
                <a:cubicBezTo>
                  <a:pt x="1923763" y="113754"/>
                  <a:pt x="1878753" y="114582"/>
                  <a:pt x="1993900" y="76200"/>
                </a:cubicBezTo>
                <a:lnTo>
                  <a:pt x="2070100" y="50800"/>
                </a:lnTo>
                <a:cubicBezTo>
                  <a:pt x="2099769" y="40910"/>
                  <a:pt x="2161455" y="18184"/>
                  <a:pt x="2197100" y="12700"/>
                </a:cubicBezTo>
                <a:cubicBezTo>
                  <a:pt x="2234989" y="6871"/>
                  <a:pt x="2273300" y="4233"/>
                  <a:pt x="2311400" y="0"/>
                </a:cubicBezTo>
                <a:cubicBezTo>
                  <a:pt x="2396067" y="8467"/>
                  <a:pt x="2480968" y="14846"/>
                  <a:pt x="2565400" y="25400"/>
                </a:cubicBezTo>
                <a:cubicBezTo>
                  <a:pt x="2582720" y="27565"/>
                  <a:pt x="2600157" y="31224"/>
                  <a:pt x="2616200" y="38100"/>
                </a:cubicBezTo>
                <a:cubicBezTo>
                  <a:pt x="2630229" y="44113"/>
                  <a:pt x="2640008" y="58141"/>
                  <a:pt x="2654300" y="63500"/>
                </a:cubicBezTo>
                <a:cubicBezTo>
                  <a:pt x="2674511" y="71079"/>
                  <a:pt x="2696728" y="71517"/>
                  <a:pt x="2717800" y="76200"/>
                </a:cubicBezTo>
                <a:cubicBezTo>
                  <a:pt x="2734839" y="79986"/>
                  <a:pt x="2751484" y="85477"/>
                  <a:pt x="2768600" y="88900"/>
                </a:cubicBezTo>
                <a:cubicBezTo>
                  <a:pt x="2880356" y="111251"/>
                  <a:pt x="2808751" y="89584"/>
                  <a:pt x="2882900" y="114300"/>
                </a:cubicBezTo>
                <a:cubicBezTo>
                  <a:pt x="3202614" y="99768"/>
                  <a:pt x="3168583" y="93752"/>
                  <a:pt x="3517900" y="114300"/>
                </a:cubicBezTo>
                <a:cubicBezTo>
                  <a:pt x="3543606" y="115812"/>
                  <a:pt x="3568700" y="122767"/>
                  <a:pt x="3594100" y="127000"/>
                </a:cubicBezTo>
                <a:cubicBezTo>
                  <a:pt x="3849269" y="229068"/>
                  <a:pt x="3643619" y="155459"/>
                  <a:pt x="4279900" y="165100"/>
                </a:cubicBezTo>
                <a:cubicBezTo>
                  <a:pt x="4351858" y="166190"/>
                  <a:pt x="4423833" y="165100"/>
                  <a:pt x="4495800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1" name="组合 51"/>
          <p:cNvGrpSpPr>
            <a:grpSpLocks/>
          </p:cNvGrpSpPr>
          <p:nvPr/>
        </p:nvGrpSpPr>
        <p:grpSpPr bwMode="auto">
          <a:xfrm>
            <a:off x="2989263" y="4518025"/>
            <a:ext cx="296862" cy="1758950"/>
            <a:chOff x="1465223" y="4518036"/>
            <a:chExt cx="296857" cy="1758979"/>
          </a:xfrm>
        </p:grpSpPr>
        <p:sp>
          <p:nvSpPr>
            <p:cNvPr id="46116" name="Text Box 29"/>
            <p:cNvSpPr txBox="1">
              <a:spLocks noChangeArrowheads="1"/>
            </p:cNvSpPr>
            <p:nvPr/>
          </p:nvSpPr>
          <p:spPr bwMode="auto">
            <a:xfrm>
              <a:off x="1465223" y="6032540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6117" name="Text Box 29"/>
            <p:cNvSpPr txBox="1">
              <a:spLocks noChangeArrowheads="1"/>
            </p:cNvSpPr>
            <p:nvPr/>
          </p:nvSpPr>
          <p:spPr bwMode="auto">
            <a:xfrm>
              <a:off x="1471567" y="4518036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15" name="组合 52"/>
          <p:cNvGrpSpPr>
            <a:grpSpLocks/>
          </p:cNvGrpSpPr>
          <p:nvPr/>
        </p:nvGrpSpPr>
        <p:grpSpPr bwMode="auto">
          <a:xfrm rot="5400000">
            <a:off x="6492875" y="2111375"/>
            <a:ext cx="0" cy="1758950"/>
            <a:chOff x="1465223" y="4518036"/>
            <a:chExt cx="296857" cy="1758979"/>
          </a:xfrm>
        </p:grpSpPr>
        <p:sp>
          <p:nvSpPr>
            <p:cNvPr id="46114" name="Text Box 29"/>
            <p:cNvSpPr txBox="1">
              <a:spLocks noChangeArrowheads="1"/>
            </p:cNvSpPr>
            <p:nvPr/>
          </p:nvSpPr>
          <p:spPr bwMode="auto">
            <a:xfrm>
              <a:off x="1465223" y="6032540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6115" name="Text Box 29"/>
            <p:cNvSpPr txBox="1">
              <a:spLocks noChangeArrowheads="1"/>
            </p:cNvSpPr>
            <p:nvPr/>
          </p:nvSpPr>
          <p:spPr bwMode="auto">
            <a:xfrm>
              <a:off x="1471567" y="4518036"/>
              <a:ext cx="2905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16" name="组合 58"/>
          <p:cNvGrpSpPr>
            <a:grpSpLocks/>
          </p:cNvGrpSpPr>
          <p:nvPr/>
        </p:nvGrpSpPr>
        <p:grpSpPr bwMode="auto">
          <a:xfrm>
            <a:off x="5749925" y="1668464"/>
            <a:ext cx="1506538" cy="555625"/>
            <a:chOff x="4225923" y="1668440"/>
            <a:chExt cx="1505762" cy="556424"/>
          </a:xfrm>
        </p:grpSpPr>
        <p:cxnSp>
          <p:nvCxnSpPr>
            <p:cNvPr id="57" name="直接连接符 56"/>
            <p:cNvCxnSpPr/>
            <p:nvPr/>
          </p:nvCxnSpPr>
          <p:spPr>
            <a:xfrm rot="5400000">
              <a:off x="5456654" y="1949833"/>
              <a:ext cx="548476" cy="1587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5400000">
              <a:off x="3952479" y="1941884"/>
              <a:ext cx="548475" cy="1587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任意多边形 59"/>
          <p:cNvSpPr/>
          <p:nvPr/>
        </p:nvSpPr>
        <p:spPr>
          <a:xfrm>
            <a:off x="5567363" y="2200275"/>
            <a:ext cx="1871662" cy="1220788"/>
          </a:xfrm>
          <a:custGeom>
            <a:avLst/>
            <a:gdLst>
              <a:gd name="connsiteX0" fmla="*/ 177006 w 1872456"/>
              <a:gd name="connsiteY0" fmla="*/ 0 h 1219994"/>
              <a:gd name="connsiteX1" fmla="*/ 24606 w 1872456"/>
              <a:gd name="connsiteY1" fmla="*/ 261938 h 1219994"/>
              <a:gd name="connsiteX2" fmla="*/ 29369 w 1872456"/>
              <a:gd name="connsiteY2" fmla="*/ 485775 h 1219994"/>
              <a:gd name="connsiteX3" fmla="*/ 162719 w 1872456"/>
              <a:gd name="connsiteY3" fmla="*/ 852488 h 1219994"/>
              <a:gd name="connsiteX4" fmla="*/ 924719 w 1872456"/>
              <a:gd name="connsiteY4" fmla="*/ 1219200 h 1219994"/>
              <a:gd name="connsiteX5" fmla="*/ 1696244 w 1872456"/>
              <a:gd name="connsiteY5" fmla="*/ 847725 h 1219994"/>
              <a:gd name="connsiteX6" fmla="*/ 1853406 w 1872456"/>
              <a:gd name="connsiteY6" fmla="*/ 461963 h 1219994"/>
              <a:gd name="connsiteX7" fmla="*/ 1810544 w 1872456"/>
              <a:gd name="connsiteY7" fmla="*/ 257175 h 1219994"/>
              <a:gd name="connsiteX8" fmla="*/ 1681956 w 1872456"/>
              <a:gd name="connsiteY8" fmla="*/ 0 h 121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72456" h="1219994">
                <a:moveTo>
                  <a:pt x="177006" y="0"/>
                </a:moveTo>
                <a:cubicBezTo>
                  <a:pt x="113109" y="90488"/>
                  <a:pt x="49212" y="180976"/>
                  <a:pt x="24606" y="261938"/>
                </a:cubicBezTo>
                <a:cubicBezTo>
                  <a:pt x="0" y="342900"/>
                  <a:pt x="6350" y="387350"/>
                  <a:pt x="29369" y="485775"/>
                </a:cubicBezTo>
                <a:cubicBezTo>
                  <a:pt x="52388" y="584200"/>
                  <a:pt x="13494" y="730251"/>
                  <a:pt x="162719" y="852488"/>
                </a:cubicBezTo>
                <a:cubicBezTo>
                  <a:pt x="311944" y="974726"/>
                  <a:pt x="669132" y="1219994"/>
                  <a:pt x="924719" y="1219200"/>
                </a:cubicBezTo>
                <a:cubicBezTo>
                  <a:pt x="1180306" y="1218406"/>
                  <a:pt x="1541463" y="973931"/>
                  <a:pt x="1696244" y="847725"/>
                </a:cubicBezTo>
                <a:cubicBezTo>
                  <a:pt x="1851025" y="721519"/>
                  <a:pt x="1834356" y="560388"/>
                  <a:pt x="1853406" y="461963"/>
                </a:cubicBezTo>
                <a:cubicBezTo>
                  <a:pt x="1872456" y="363538"/>
                  <a:pt x="1839119" y="334169"/>
                  <a:pt x="1810544" y="257175"/>
                </a:cubicBezTo>
                <a:cubicBezTo>
                  <a:pt x="1781969" y="180181"/>
                  <a:pt x="1701800" y="21431"/>
                  <a:pt x="1681956" y="0"/>
                </a:cubicBezTo>
              </a:path>
            </a:pathLst>
          </a:cu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8" name="组合 66"/>
          <p:cNvGrpSpPr>
            <a:grpSpLocks/>
          </p:cNvGrpSpPr>
          <p:nvPr/>
        </p:nvGrpSpPr>
        <p:grpSpPr bwMode="auto">
          <a:xfrm>
            <a:off x="5572126" y="2662238"/>
            <a:ext cx="1839913" cy="1206500"/>
            <a:chOff x="4060818" y="2662226"/>
            <a:chExt cx="1827242" cy="1206518"/>
          </a:xfrm>
        </p:grpSpPr>
        <p:cxnSp>
          <p:nvCxnSpPr>
            <p:cNvPr id="62" name="直接连接符 61"/>
            <p:cNvCxnSpPr>
              <a:stCxn id="60" idx="2"/>
            </p:cNvCxnSpPr>
            <p:nvPr/>
          </p:nvCxnSpPr>
          <p:spPr>
            <a:xfrm flipH="1">
              <a:off x="4060818" y="2686038"/>
              <a:ext cx="11036" cy="1181118"/>
            </a:xfrm>
            <a:prstGeom prst="line">
              <a:avLst/>
            </a:prstGeom>
            <a:ln w="476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4060818" y="3867156"/>
              <a:ext cx="1825665" cy="1588"/>
            </a:xfrm>
            <a:prstGeom prst="line">
              <a:avLst/>
            </a:prstGeom>
            <a:ln w="476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16200000" flipV="1">
              <a:off x="5285595" y="3264691"/>
              <a:ext cx="1204930" cy="0"/>
            </a:xfrm>
            <a:prstGeom prst="line">
              <a:avLst/>
            </a:prstGeom>
            <a:ln w="476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44751" y="1055688"/>
            <a:ext cx="5148263" cy="55673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utoUpdateAnimBg="0"/>
      <p:bldP spid="8" grpId="0" animBg="1"/>
      <p:bldP spid="12" grpId="0" animBg="1"/>
      <p:bldP spid="13" grpId="0" animBg="1"/>
      <p:bldP spid="19" grpId="0" autoUpdateAnimBg="0"/>
      <p:bldP spid="20" grpId="0" autoUpdateAnimBg="0"/>
      <p:bldP spid="22" grpId="0" animBg="1"/>
      <p:bldP spid="36" grpId="0" animBg="1"/>
      <p:bldP spid="37" grpId="0" animBg="1"/>
      <p:bldP spid="48" grpId="0" animBg="1"/>
      <p:bldP spid="49" grpId="0" animBg="1"/>
      <p:bldP spid="6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2189" y="925180"/>
            <a:ext cx="7516079" cy="180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algn="just"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如右图，当截平面与圆柱轴线相交的角度发生变化时，其侧面投影上椭圆的形状也随之变化，下列说法正确的是？</a:t>
            </a:r>
            <a:endParaRPr lang="zh-CN" altLang="en-US" sz="2600" dirty="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47107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326231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为锐角时，椭圆的长轴等于圆柱的直径。</a:t>
            </a:r>
          </a:p>
        </p:txBody>
      </p:sp>
      <p:sp>
        <p:nvSpPr>
          <p:cNvPr id="47108" name="Text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52800" y="4119564"/>
            <a:ext cx="68326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en-US" altLang="zh-CN" sz="2600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45°</a:t>
            </a:r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时，椭圆的长轴和短轴等于圆柱的直径。</a:t>
            </a:r>
          </a:p>
        </p:txBody>
      </p:sp>
      <p:sp>
        <p:nvSpPr>
          <p:cNvPr id="47109" name="Text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497681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为钝角时，椭圆的短轴等于圆柱的直径。</a:t>
            </a:r>
          </a:p>
        </p:txBody>
      </p:sp>
      <p:sp>
        <p:nvSpPr>
          <p:cNvPr id="47110" name="椭圆 7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3327400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7111" name="椭圆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4184650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7112" name="椭圆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5041900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47113" name="圆角矩形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pic>
        <p:nvPicPr>
          <p:cNvPr id="47114" name="图片 12"/>
          <p:cNvPicPr>
            <a:picLocks noChangeAspect="1" noChangeArrowheads="1"/>
          </p:cNvPicPr>
          <p:nvPr/>
        </p:nvPicPr>
        <p:blipFill>
          <a:blip r:embed="rId18"/>
          <a:srcRect l="2798" t="16458" r="69705" b="31422"/>
          <a:stretch>
            <a:fillRect/>
          </a:stretch>
        </p:blipFill>
        <p:spPr bwMode="auto">
          <a:xfrm>
            <a:off x="8907464" y="1493839"/>
            <a:ext cx="1533525" cy="193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7115" name="组合 16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7118" name="TitleBackground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47119" name="ColorBlock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47120" name="Type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47121" name="Tip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47116" name="图片 1" descr="tmp27FD.tmp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7" name="TextBox 1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438400" y="635001"/>
            <a:ext cx="7315200" cy="365125"/>
          </a:xfrm>
          <a:prstGeom prst="rect">
            <a:avLst/>
          </a:prstGeom>
          <a:solidFill>
            <a:srgbClr val="FBFAEF">
              <a:alpha val="9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 anchorCtr="1"/>
          <a:lstStyle/>
          <a:p>
            <a:pPr marL="457200" indent="-457200" eaLnBrk="1" hangingPunct="1"/>
            <a:r>
              <a:rPr lang="zh-CN" altLang="en-US" sz="1200">
                <a:solidFill>
                  <a:srgbClr val="F84F41"/>
                </a:solidFill>
                <a:latin typeface="Microsoft Yahei" pitchFamily="34" charset="-122"/>
                <a:sym typeface="Microsoft Yahei" pitchFamily="34" charset="-122"/>
              </a:rPr>
              <a:t>此题未设答案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53"/>
          <p:cNvSpPr txBox="1">
            <a:spLocks noChangeArrowheads="1"/>
          </p:cNvSpPr>
          <p:nvPr/>
        </p:nvSpPr>
        <p:spPr bwMode="auto">
          <a:xfrm>
            <a:off x="3294489" y="463262"/>
            <a:ext cx="616066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>
                <a:latin typeface="+mn-ea"/>
                <a:ea typeface="+mn-ea"/>
              </a:rPr>
              <a:t>(</a:t>
            </a:r>
            <a:r>
              <a:rPr lang="zh-CN" altLang="en-US" sz="3200" b="1" dirty="0">
                <a:latin typeface="+mn-ea"/>
                <a:ea typeface="+mn-ea"/>
              </a:rPr>
              <a:t>二</a:t>
            </a:r>
            <a:r>
              <a:rPr lang="en-US" altLang="zh-CN" sz="3200" b="1" dirty="0">
                <a:latin typeface="+mn-ea"/>
                <a:ea typeface="+mn-ea"/>
              </a:rPr>
              <a:t>) </a:t>
            </a:r>
            <a:r>
              <a:rPr lang="zh-CN" altLang="en-US" sz="3200" b="1" dirty="0"/>
              <a:t>圆锥体的截切构形及其投影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169" name="表格 168"/>
          <p:cNvGraphicFramePr>
            <a:graphicFrameLocks noGrp="1"/>
          </p:cNvGraphicFramePr>
          <p:nvPr/>
        </p:nvGraphicFramePr>
        <p:xfrm>
          <a:off x="1897064" y="1457325"/>
          <a:ext cx="8544043" cy="5297144"/>
        </p:xfrm>
        <a:graphic>
          <a:graphicData uri="http://schemas.openxmlformats.org/drawingml/2006/table">
            <a:tbl>
              <a:tblPr/>
              <a:tblGrid>
                <a:gridCol w="112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3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3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1F497D"/>
                          </a:solidFill>
                          <a:latin typeface="宋体"/>
                          <a:ea typeface="宋体"/>
                          <a:cs typeface="Courier New"/>
                        </a:rPr>
                        <a:t>截平面位置</a:t>
                      </a:r>
                      <a:endParaRPr lang="zh-CN" sz="1400" kern="100" dirty="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7150"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7150"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altLang="zh-CN" sz="1400" b="1" kern="100" dirty="0">
                        <a:solidFill>
                          <a:srgbClr val="1F497D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altLang="zh-CN" sz="1400" b="1" kern="100" dirty="0">
                        <a:solidFill>
                          <a:srgbClr val="1F497D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altLang="zh-CN" sz="1400" b="1" kern="100" dirty="0">
                        <a:solidFill>
                          <a:srgbClr val="1F497D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altLang="zh-CN" sz="1400" b="1" kern="100" dirty="0">
                        <a:solidFill>
                          <a:srgbClr val="1F497D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45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1F497D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立体图</a:t>
                      </a:r>
                      <a:endParaRPr lang="zh-CN" sz="2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 dirty="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 dirty="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 dirty="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 dirty="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截交线形状</a:t>
                      </a:r>
                      <a:endParaRPr lang="zh-CN" sz="1400" kern="100" dirty="0">
                        <a:solidFill>
                          <a:srgbClr val="FF0000"/>
                        </a:solidFill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FF0000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FF0000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FF0000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FF0000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rgbClr val="FF0000"/>
                        </a:solidFill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86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1F497D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投影图</a:t>
                      </a:r>
                      <a:endParaRPr lang="zh-CN" sz="2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050" kern="10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>
                        <a:latin typeface="宋体"/>
                        <a:ea typeface="宋体"/>
                        <a:cs typeface="Courier New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9325" name="图片 21"/>
          <p:cNvPicPr>
            <a:picLocks noChangeAspect="1" noChangeArrowheads="1"/>
          </p:cNvPicPr>
          <p:nvPr/>
        </p:nvPicPr>
        <p:blipFill>
          <a:blip r:embed="rId5"/>
          <a:srcRect l="8493" t="37865" r="76874" b="23212"/>
          <a:stretch>
            <a:fillRect/>
          </a:stretch>
        </p:blipFill>
        <p:spPr bwMode="auto">
          <a:xfrm>
            <a:off x="3065464" y="4305300"/>
            <a:ext cx="1387475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324" name="图片 22"/>
          <p:cNvPicPr>
            <a:picLocks noChangeAspect="1" noChangeArrowheads="1"/>
          </p:cNvPicPr>
          <p:nvPr/>
        </p:nvPicPr>
        <p:blipFill>
          <a:blip r:embed="rId5"/>
          <a:srcRect l="25266" t="37343" r="60327" b="24020"/>
          <a:stretch>
            <a:fillRect/>
          </a:stretch>
        </p:blipFill>
        <p:spPr bwMode="auto">
          <a:xfrm>
            <a:off x="4557714" y="4268789"/>
            <a:ext cx="1379537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323" name="图片 23"/>
          <p:cNvPicPr>
            <a:picLocks noChangeAspect="1" noChangeArrowheads="1"/>
          </p:cNvPicPr>
          <p:nvPr/>
        </p:nvPicPr>
        <p:blipFill>
          <a:blip r:embed="rId6"/>
          <a:srcRect l="28830" t="13599" r="47733" b="15010"/>
          <a:stretch>
            <a:fillRect/>
          </a:stretch>
        </p:blipFill>
        <p:spPr bwMode="auto">
          <a:xfrm>
            <a:off x="6107114" y="4232275"/>
            <a:ext cx="1260475" cy="2446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322" name="图片 24"/>
          <p:cNvPicPr>
            <a:picLocks noChangeAspect="1" noChangeArrowheads="1"/>
          </p:cNvPicPr>
          <p:nvPr/>
        </p:nvPicPr>
        <p:blipFill>
          <a:blip r:embed="rId6"/>
          <a:srcRect l="53633" t="13419" r="20068" b="13815"/>
          <a:stretch>
            <a:fillRect/>
          </a:stretch>
        </p:blipFill>
        <p:spPr bwMode="auto">
          <a:xfrm>
            <a:off x="7521576" y="4305300"/>
            <a:ext cx="1387475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321" name="图片 25"/>
          <p:cNvPicPr>
            <a:picLocks noChangeAspect="1" noChangeArrowheads="1"/>
          </p:cNvPicPr>
          <p:nvPr/>
        </p:nvPicPr>
        <p:blipFill>
          <a:blip r:embed="rId7"/>
          <a:srcRect l="43846" t="12852" r="32147" b="13568"/>
          <a:stretch>
            <a:fillRect/>
          </a:stretch>
        </p:blipFill>
        <p:spPr bwMode="auto">
          <a:xfrm>
            <a:off x="9090026" y="4305300"/>
            <a:ext cx="1204913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331" name="Picture 17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38488" y="2103438"/>
            <a:ext cx="1257300" cy="1581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9332" name="Picture 18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635501" y="2122488"/>
            <a:ext cx="1247775" cy="1562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9333" name="Picture 18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107114" y="2122488"/>
            <a:ext cx="1266825" cy="1562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9334" name="Picture 18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556500" y="2114551"/>
            <a:ext cx="1238250" cy="15335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9335" name="Picture 18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9053514" y="2114551"/>
            <a:ext cx="1247775" cy="15335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85" name="矩形 184"/>
          <p:cNvSpPr/>
          <p:nvPr/>
        </p:nvSpPr>
        <p:spPr>
          <a:xfrm>
            <a:off x="3321050" y="1566863"/>
            <a:ext cx="939800" cy="2460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57150"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过锥顶</a:t>
            </a:r>
            <a:endParaRPr lang="zh-CN" kern="100" dirty="0">
              <a:latin typeface="宋体"/>
              <a:ea typeface="宋体"/>
              <a:cs typeface="Courier New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4562476" y="1531938"/>
            <a:ext cx="1446213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57150"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与轴线垂直</a:t>
            </a:r>
            <a:endParaRPr lang="zh-CN" kern="100" dirty="0">
              <a:latin typeface="宋体"/>
              <a:ea typeface="宋体"/>
              <a:cs typeface="Courier New"/>
            </a:endParaRPr>
          </a:p>
          <a:p>
            <a:pPr indent="57150"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b="1" i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θ</a:t>
            </a:r>
            <a:r>
              <a:rPr lang="en-US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=90</a:t>
            </a: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º</a:t>
            </a:r>
            <a:endParaRPr lang="zh-CN" kern="100" dirty="0">
              <a:latin typeface="宋体"/>
              <a:ea typeface="宋体"/>
              <a:cs typeface="Courier New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5986463" y="1487489"/>
            <a:ext cx="1460500" cy="5540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与轴线平行或倾斜</a:t>
            </a:r>
            <a:r>
              <a:rPr lang="en-US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0</a:t>
            </a: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º≤</a:t>
            </a:r>
            <a:r>
              <a:rPr lang="zh-CN" b="1" i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θ</a:t>
            </a:r>
            <a:r>
              <a:rPr lang="en-US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&lt;</a:t>
            </a: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α</a:t>
            </a:r>
            <a:endParaRPr lang="zh-CN" kern="100" dirty="0">
              <a:latin typeface="宋体"/>
              <a:ea typeface="宋体"/>
              <a:cs typeface="Courier New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519988" y="1566863"/>
            <a:ext cx="1446212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altLang="en-US" b="1" kern="100" dirty="0">
                <a:solidFill>
                  <a:srgbClr val="1F497D"/>
                </a:solidFill>
                <a:latin typeface="宋体"/>
                <a:ea typeface="宋体" charset="-122"/>
                <a:cs typeface="Courier New"/>
              </a:rPr>
              <a:t>与轴线倾斜</a:t>
            </a:r>
            <a:endParaRPr lang="zh-CN" altLang="en-US" kern="100" dirty="0">
              <a:latin typeface="宋体"/>
              <a:ea typeface="宋体" charset="-122"/>
              <a:cs typeface="Courier New"/>
            </a:endParaRPr>
          </a:p>
          <a:p>
            <a:pPr indent="57150"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en-US" altLang="zh-CN" b="1" kern="100" dirty="0">
                <a:solidFill>
                  <a:srgbClr val="1F497D"/>
                </a:solidFill>
                <a:latin typeface="宋体"/>
                <a:ea typeface="宋体" charset="-122"/>
                <a:cs typeface="Courier New"/>
              </a:rPr>
              <a:t>α</a:t>
            </a:r>
            <a:r>
              <a:rPr lang="en-US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&lt;</a:t>
            </a:r>
            <a:r>
              <a:rPr lang="en-US" altLang="zh-CN" b="1" i="1" kern="100" dirty="0">
                <a:solidFill>
                  <a:srgbClr val="1F497D"/>
                </a:solidFill>
                <a:latin typeface="宋体"/>
                <a:ea typeface="宋体" charset="-122"/>
                <a:cs typeface="Courier New"/>
              </a:rPr>
              <a:t>θ</a:t>
            </a:r>
            <a:r>
              <a:rPr lang="en-US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&lt;90</a:t>
            </a:r>
            <a:r>
              <a:rPr lang="en-US" altLang="zh-CN" b="1" kern="100" dirty="0">
                <a:solidFill>
                  <a:srgbClr val="1F497D"/>
                </a:solidFill>
                <a:latin typeface="宋体"/>
                <a:ea typeface="宋体" charset="-122"/>
                <a:cs typeface="Courier New"/>
              </a:rPr>
              <a:t>º</a:t>
            </a:r>
            <a:endParaRPr lang="zh-CN" altLang="en-US" kern="100" dirty="0">
              <a:latin typeface="宋体"/>
              <a:ea typeface="宋体" charset="-122"/>
              <a:cs typeface="Courier New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8980489" y="1524000"/>
            <a:ext cx="1387475" cy="5540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与一条素线平行</a:t>
            </a:r>
            <a:endParaRPr lang="zh-CN" kern="100" dirty="0">
              <a:latin typeface="宋体"/>
              <a:ea typeface="宋体"/>
              <a:cs typeface="Courier New"/>
            </a:endParaRPr>
          </a:p>
          <a:p>
            <a:pPr algn="ctr">
              <a:lnSpc>
                <a:spcPts val="1200"/>
              </a:lnSpc>
              <a:spcAft>
                <a:spcPts val="0"/>
              </a:spcAft>
              <a:defRPr/>
            </a:pPr>
            <a:r>
              <a:rPr lang="zh-CN" b="1" i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θ</a:t>
            </a:r>
            <a:r>
              <a:rPr lang="en-US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=</a:t>
            </a:r>
            <a:r>
              <a:rPr lang="zh-CN" b="1" kern="100" dirty="0">
                <a:solidFill>
                  <a:srgbClr val="1F497D"/>
                </a:solidFill>
                <a:latin typeface="宋体"/>
                <a:ea typeface="宋体"/>
                <a:cs typeface="Courier New"/>
              </a:rPr>
              <a:t>α</a:t>
            </a:r>
            <a:endParaRPr lang="zh-CN" kern="100" dirty="0">
              <a:latin typeface="宋体"/>
              <a:ea typeface="宋体"/>
              <a:cs typeface="Courier New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3048000" y="3856039"/>
            <a:ext cx="144145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altLang="en-US" sz="1400" b="1" kern="100" dirty="0">
                <a:solidFill>
                  <a:srgbClr val="FF0000"/>
                </a:solidFill>
                <a:latin typeface="宋体"/>
                <a:ea typeface="宋体"/>
                <a:cs typeface="Courier New"/>
              </a:rPr>
              <a:t>过锥顶的三角形</a:t>
            </a:r>
            <a:endParaRPr lang="zh-CN" altLang="en-US" sz="1400" kern="100" dirty="0">
              <a:solidFill>
                <a:srgbClr val="FF0000"/>
              </a:solidFill>
              <a:latin typeface="宋体"/>
              <a:ea typeface="宋体"/>
              <a:cs typeface="Courier New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5073651" y="3830639"/>
            <a:ext cx="417513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FF0000"/>
                </a:solidFill>
                <a:latin typeface="宋体"/>
                <a:ea typeface="宋体"/>
                <a:cs typeface="Courier New"/>
              </a:rPr>
              <a:t>圆</a:t>
            </a:r>
            <a:endParaRPr lang="zh-CN" kern="100" dirty="0">
              <a:solidFill>
                <a:srgbClr val="FF0000"/>
              </a:solidFill>
              <a:latin typeface="宋体"/>
              <a:ea typeface="宋体"/>
              <a:cs typeface="Courier New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5949951" y="3794125"/>
            <a:ext cx="1579563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FF0000"/>
                </a:solidFill>
                <a:latin typeface="宋体"/>
                <a:ea typeface="宋体"/>
                <a:cs typeface="Courier New"/>
              </a:rPr>
              <a:t>双曲线和直线</a:t>
            </a:r>
            <a:endParaRPr lang="zh-CN" kern="100" dirty="0">
              <a:solidFill>
                <a:srgbClr val="FF0000"/>
              </a:solidFill>
              <a:latin typeface="宋体"/>
              <a:ea typeface="宋体"/>
              <a:cs typeface="Courier New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7885114" y="3830639"/>
            <a:ext cx="649287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FF0000"/>
                </a:solidFill>
                <a:latin typeface="宋体"/>
                <a:ea typeface="宋体"/>
                <a:cs typeface="Courier New"/>
              </a:rPr>
              <a:t>椭圆</a:t>
            </a:r>
            <a:endParaRPr lang="zh-CN" kern="100" dirty="0">
              <a:solidFill>
                <a:srgbClr val="FF0000"/>
              </a:solidFill>
              <a:latin typeface="宋体"/>
              <a:ea typeface="宋体"/>
              <a:cs typeface="Courier New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8897938" y="3825875"/>
            <a:ext cx="1579562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b="1" kern="100" dirty="0">
                <a:solidFill>
                  <a:srgbClr val="FF0000"/>
                </a:solidFill>
                <a:latin typeface="宋体"/>
                <a:ea typeface="宋体"/>
                <a:cs typeface="Courier New"/>
              </a:rPr>
              <a:t>抛物线和直线</a:t>
            </a:r>
            <a:endParaRPr lang="zh-CN" kern="100" dirty="0">
              <a:solidFill>
                <a:srgbClr val="FF0000"/>
              </a:solidFill>
              <a:latin typeface="宋体"/>
              <a:ea typeface="宋体"/>
              <a:cs typeface="Courier New"/>
            </a:endParaRPr>
          </a:p>
        </p:txBody>
      </p:sp>
      <p:cxnSp>
        <p:nvCxnSpPr>
          <p:cNvPr id="195" name="直接连接符 194"/>
          <p:cNvCxnSpPr>
            <a:cxnSpLocks noChangeShapeType="1"/>
          </p:cNvCxnSpPr>
          <p:nvPr/>
        </p:nvCxnSpPr>
        <p:spPr bwMode="auto">
          <a:xfrm rot="16200000" flipH="1">
            <a:off x="3491707" y="5771357"/>
            <a:ext cx="390525" cy="207962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96" name="直接连接符 195"/>
          <p:cNvCxnSpPr>
            <a:cxnSpLocks noChangeShapeType="1"/>
          </p:cNvCxnSpPr>
          <p:nvPr/>
        </p:nvCxnSpPr>
        <p:spPr bwMode="auto">
          <a:xfrm rot="5400000" flipH="1" flipV="1">
            <a:off x="3485357" y="6149182"/>
            <a:ext cx="401638" cy="219075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200" name="椭圆 199"/>
          <p:cNvSpPr>
            <a:spLocks noChangeArrowheads="1"/>
          </p:cNvSpPr>
          <p:nvPr/>
        </p:nvSpPr>
        <p:spPr bwMode="auto">
          <a:xfrm>
            <a:off x="5000625" y="5795964"/>
            <a:ext cx="476250" cy="47148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6299201" y="4860925"/>
            <a:ext cx="777875" cy="406400"/>
          </a:xfrm>
          <a:custGeom>
            <a:avLst/>
            <a:gdLst>
              <a:gd name="connsiteX0" fmla="*/ 0 w 777875"/>
              <a:gd name="connsiteY0" fmla="*/ 403754 h 406929"/>
              <a:gd name="connsiteX1" fmla="*/ 41275 w 777875"/>
              <a:gd name="connsiteY1" fmla="*/ 324379 h 406929"/>
              <a:gd name="connsiteX2" fmla="*/ 73025 w 777875"/>
              <a:gd name="connsiteY2" fmla="*/ 279929 h 406929"/>
              <a:gd name="connsiteX3" fmla="*/ 114300 w 777875"/>
              <a:gd name="connsiteY3" fmla="*/ 216429 h 406929"/>
              <a:gd name="connsiteX4" fmla="*/ 165100 w 777875"/>
              <a:gd name="connsiteY4" fmla="*/ 162454 h 406929"/>
              <a:gd name="connsiteX5" fmla="*/ 206375 w 777875"/>
              <a:gd name="connsiteY5" fmla="*/ 114829 h 406929"/>
              <a:gd name="connsiteX6" fmla="*/ 269875 w 777875"/>
              <a:gd name="connsiteY6" fmla="*/ 44979 h 406929"/>
              <a:gd name="connsiteX7" fmla="*/ 304800 w 777875"/>
              <a:gd name="connsiteY7" fmla="*/ 25929 h 406929"/>
              <a:gd name="connsiteX8" fmla="*/ 346075 w 777875"/>
              <a:gd name="connsiteY8" fmla="*/ 10054 h 406929"/>
              <a:gd name="connsiteX9" fmla="*/ 365125 w 777875"/>
              <a:gd name="connsiteY9" fmla="*/ 3704 h 406929"/>
              <a:gd name="connsiteX10" fmla="*/ 384175 w 777875"/>
              <a:gd name="connsiteY10" fmla="*/ 529 h 406929"/>
              <a:gd name="connsiteX11" fmla="*/ 412750 w 777875"/>
              <a:gd name="connsiteY11" fmla="*/ 6879 h 406929"/>
              <a:gd name="connsiteX12" fmla="*/ 454025 w 777875"/>
              <a:gd name="connsiteY12" fmla="*/ 22754 h 406929"/>
              <a:gd name="connsiteX13" fmla="*/ 488950 w 777875"/>
              <a:gd name="connsiteY13" fmla="*/ 38629 h 406929"/>
              <a:gd name="connsiteX14" fmla="*/ 514350 w 777875"/>
              <a:gd name="connsiteY14" fmla="*/ 64029 h 406929"/>
              <a:gd name="connsiteX15" fmla="*/ 561975 w 777875"/>
              <a:gd name="connsiteY15" fmla="*/ 98954 h 406929"/>
              <a:gd name="connsiteX16" fmla="*/ 615950 w 777875"/>
              <a:gd name="connsiteY16" fmla="*/ 162454 h 406929"/>
              <a:gd name="connsiteX17" fmla="*/ 650875 w 777875"/>
              <a:gd name="connsiteY17" fmla="*/ 210079 h 406929"/>
              <a:gd name="connsiteX18" fmla="*/ 692150 w 777875"/>
              <a:gd name="connsiteY18" fmla="*/ 267229 h 406929"/>
              <a:gd name="connsiteX19" fmla="*/ 723900 w 777875"/>
              <a:gd name="connsiteY19" fmla="*/ 321204 h 406929"/>
              <a:gd name="connsiteX20" fmla="*/ 752475 w 777875"/>
              <a:gd name="connsiteY20" fmla="*/ 359304 h 406929"/>
              <a:gd name="connsiteX21" fmla="*/ 777875 w 777875"/>
              <a:gd name="connsiteY21" fmla="*/ 406929 h 406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7875" h="406929">
                <a:moveTo>
                  <a:pt x="0" y="403754"/>
                </a:moveTo>
                <a:cubicBezTo>
                  <a:pt x="14552" y="374385"/>
                  <a:pt x="29104" y="345016"/>
                  <a:pt x="41275" y="324379"/>
                </a:cubicBezTo>
                <a:cubicBezTo>
                  <a:pt x="53446" y="303742"/>
                  <a:pt x="60854" y="297921"/>
                  <a:pt x="73025" y="279929"/>
                </a:cubicBezTo>
                <a:cubicBezTo>
                  <a:pt x="85196" y="261937"/>
                  <a:pt x="98954" y="236008"/>
                  <a:pt x="114300" y="216429"/>
                </a:cubicBezTo>
                <a:cubicBezTo>
                  <a:pt x="129646" y="196850"/>
                  <a:pt x="149754" y="179387"/>
                  <a:pt x="165100" y="162454"/>
                </a:cubicBezTo>
                <a:cubicBezTo>
                  <a:pt x="180446" y="145521"/>
                  <a:pt x="188913" y="134408"/>
                  <a:pt x="206375" y="114829"/>
                </a:cubicBezTo>
                <a:cubicBezTo>
                  <a:pt x="223837" y="95250"/>
                  <a:pt x="253471" y="59796"/>
                  <a:pt x="269875" y="44979"/>
                </a:cubicBezTo>
                <a:cubicBezTo>
                  <a:pt x="286279" y="30162"/>
                  <a:pt x="292100" y="31750"/>
                  <a:pt x="304800" y="25929"/>
                </a:cubicBezTo>
                <a:cubicBezTo>
                  <a:pt x="317500" y="20108"/>
                  <a:pt x="336021" y="13758"/>
                  <a:pt x="346075" y="10054"/>
                </a:cubicBezTo>
                <a:cubicBezTo>
                  <a:pt x="356129" y="6350"/>
                  <a:pt x="358775" y="5292"/>
                  <a:pt x="365125" y="3704"/>
                </a:cubicBezTo>
                <a:cubicBezTo>
                  <a:pt x="371475" y="2117"/>
                  <a:pt x="376238" y="0"/>
                  <a:pt x="384175" y="529"/>
                </a:cubicBezTo>
                <a:cubicBezTo>
                  <a:pt x="392113" y="1058"/>
                  <a:pt x="401108" y="3175"/>
                  <a:pt x="412750" y="6879"/>
                </a:cubicBezTo>
                <a:cubicBezTo>
                  <a:pt x="424392" y="10583"/>
                  <a:pt x="441325" y="17462"/>
                  <a:pt x="454025" y="22754"/>
                </a:cubicBezTo>
                <a:cubicBezTo>
                  <a:pt x="466725" y="28046"/>
                  <a:pt x="478896" y="31750"/>
                  <a:pt x="488950" y="38629"/>
                </a:cubicBezTo>
                <a:cubicBezTo>
                  <a:pt x="499004" y="45508"/>
                  <a:pt x="502179" y="53975"/>
                  <a:pt x="514350" y="64029"/>
                </a:cubicBezTo>
                <a:cubicBezTo>
                  <a:pt x="526521" y="74083"/>
                  <a:pt x="545042" y="82550"/>
                  <a:pt x="561975" y="98954"/>
                </a:cubicBezTo>
                <a:cubicBezTo>
                  <a:pt x="578908" y="115358"/>
                  <a:pt x="601133" y="143933"/>
                  <a:pt x="615950" y="162454"/>
                </a:cubicBezTo>
                <a:cubicBezTo>
                  <a:pt x="630767" y="180975"/>
                  <a:pt x="650875" y="210079"/>
                  <a:pt x="650875" y="210079"/>
                </a:cubicBezTo>
                <a:cubicBezTo>
                  <a:pt x="663575" y="227542"/>
                  <a:pt x="679979" y="248708"/>
                  <a:pt x="692150" y="267229"/>
                </a:cubicBezTo>
                <a:cubicBezTo>
                  <a:pt x="704321" y="285750"/>
                  <a:pt x="713846" y="305858"/>
                  <a:pt x="723900" y="321204"/>
                </a:cubicBezTo>
                <a:cubicBezTo>
                  <a:pt x="733954" y="336550"/>
                  <a:pt x="743479" y="345017"/>
                  <a:pt x="752475" y="359304"/>
                </a:cubicBezTo>
                <a:cubicBezTo>
                  <a:pt x="761471" y="373591"/>
                  <a:pt x="776288" y="399521"/>
                  <a:pt x="777875" y="406929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4" name="椭圆 203"/>
          <p:cNvSpPr>
            <a:spLocks noChangeArrowheads="1"/>
          </p:cNvSpPr>
          <p:nvPr/>
        </p:nvSpPr>
        <p:spPr bwMode="auto">
          <a:xfrm>
            <a:off x="7918450" y="5842001"/>
            <a:ext cx="533400" cy="511175"/>
          </a:xfrm>
          <a:prstGeom prst="ellipse">
            <a:avLst/>
          </a:prstGeom>
          <a:noFill/>
          <a:ln w="28575" algn="ctr">
            <a:solidFill>
              <a:srgbClr val="FF0000">
                <a:alpha val="72156"/>
              </a:srgb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5" name="任意多边形 204"/>
          <p:cNvSpPr>
            <a:spLocks noChangeArrowheads="1"/>
          </p:cNvSpPr>
          <p:nvPr/>
        </p:nvSpPr>
        <p:spPr bwMode="auto">
          <a:xfrm>
            <a:off x="9455150" y="5680075"/>
            <a:ext cx="349250" cy="749300"/>
          </a:xfrm>
          <a:custGeom>
            <a:avLst/>
            <a:gdLst>
              <a:gd name="T0" fmla="*/ 0 w 437092"/>
              <a:gd name="T1" fmla="*/ 0 h 1063625"/>
              <a:gd name="T2" fmla="*/ 17834 w 437092"/>
              <a:gd name="T3" fmla="*/ 6256 h 1063625"/>
              <a:gd name="T4" fmla="*/ 39487 w 437092"/>
              <a:gd name="T5" fmla="*/ 15639 h 1063625"/>
              <a:gd name="T6" fmla="*/ 64964 w 437092"/>
              <a:gd name="T7" fmla="*/ 27370 h 1063625"/>
              <a:gd name="T8" fmla="*/ 87893 w 437092"/>
              <a:gd name="T9" fmla="*/ 39099 h 1063625"/>
              <a:gd name="T10" fmla="*/ 112095 w 437092"/>
              <a:gd name="T11" fmla="*/ 53175 h 1063625"/>
              <a:gd name="T12" fmla="*/ 129928 w 437092"/>
              <a:gd name="T13" fmla="*/ 70378 h 1063625"/>
              <a:gd name="T14" fmla="*/ 169416 w 437092"/>
              <a:gd name="T15" fmla="*/ 122771 h 1063625"/>
              <a:gd name="T16" fmla="*/ 165594 w 437092"/>
              <a:gd name="T17" fmla="*/ 161087 h 1063625"/>
              <a:gd name="T18" fmla="*/ 157952 w 437092"/>
              <a:gd name="T19" fmla="*/ 173599 h 1063625"/>
              <a:gd name="T20" fmla="*/ 150308 w 437092"/>
              <a:gd name="T21" fmla="*/ 184547 h 1063625"/>
              <a:gd name="T22" fmla="*/ 141393 w 437092"/>
              <a:gd name="T23" fmla="*/ 193931 h 1063625"/>
              <a:gd name="T24" fmla="*/ 95535 w 437092"/>
              <a:gd name="T25" fmla="*/ 222864 h 1063625"/>
              <a:gd name="T26" fmla="*/ 70059 w 437092"/>
              <a:gd name="T27" fmla="*/ 236157 h 1063625"/>
              <a:gd name="T28" fmla="*/ 44583 w 437092"/>
              <a:gd name="T29" fmla="*/ 250233 h 1063625"/>
              <a:gd name="T30" fmla="*/ 22929 w 437092"/>
              <a:gd name="T31" fmla="*/ 258053 h 1063625"/>
              <a:gd name="T32" fmla="*/ 11465 w 437092"/>
              <a:gd name="T33" fmla="*/ 261180 h 106362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437092"/>
              <a:gd name="T52" fmla="*/ 0 h 1063625"/>
              <a:gd name="T53" fmla="*/ 437092 w 437092"/>
              <a:gd name="T54" fmla="*/ 1063625 h 106362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437092" h="1063625">
                <a:moveTo>
                  <a:pt x="0" y="0"/>
                </a:moveTo>
                <a:cubicBezTo>
                  <a:pt x="14023" y="7408"/>
                  <a:pt x="28046" y="14817"/>
                  <a:pt x="44450" y="25400"/>
                </a:cubicBezTo>
                <a:cubicBezTo>
                  <a:pt x="60854" y="35983"/>
                  <a:pt x="78846" y="49213"/>
                  <a:pt x="98425" y="63500"/>
                </a:cubicBezTo>
                <a:cubicBezTo>
                  <a:pt x="118004" y="77787"/>
                  <a:pt x="141817" y="95250"/>
                  <a:pt x="161925" y="111125"/>
                </a:cubicBezTo>
                <a:cubicBezTo>
                  <a:pt x="182033" y="127000"/>
                  <a:pt x="199496" y="141288"/>
                  <a:pt x="219075" y="158750"/>
                </a:cubicBezTo>
                <a:cubicBezTo>
                  <a:pt x="238654" y="176212"/>
                  <a:pt x="261938" y="194733"/>
                  <a:pt x="279400" y="215900"/>
                </a:cubicBezTo>
                <a:cubicBezTo>
                  <a:pt x="296862" y="237067"/>
                  <a:pt x="300037" y="238654"/>
                  <a:pt x="323850" y="285750"/>
                </a:cubicBezTo>
                <a:cubicBezTo>
                  <a:pt x="347663" y="332846"/>
                  <a:pt x="407458" y="437092"/>
                  <a:pt x="422275" y="498475"/>
                </a:cubicBezTo>
                <a:cubicBezTo>
                  <a:pt x="437092" y="559858"/>
                  <a:pt x="417512" y="619654"/>
                  <a:pt x="412750" y="654050"/>
                </a:cubicBezTo>
                <a:cubicBezTo>
                  <a:pt x="407988" y="688446"/>
                  <a:pt x="400050" y="688975"/>
                  <a:pt x="393700" y="704850"/>
                </a:cubicBezTo>
                <a:cubicBezTo>
                  <a:pt x="387350" y="720725"/>
                  <a:pt x="381529" y="735542"/>
                  <a:pt x="374650" y="749300"/>
                </a:cubicBezTo>
                <a:cubicBezTo>
                  <a:pt x="367771" y="763058"/>
                  <a:pt x="375179" y="761471"/>
                  <a:pt x="352425" y="787400"/>
                </a:cubicBezTo>
                <a:cubicBezTo>
                  <a:pt x="329671" y="813329"/>
                  <a:pt x="267758" y="876300"/>
                  <a:pt x="238125" y="904875"/>
                </a:cubicBezTo>
                <a:cubicBezTo>
                  <a:pt x="208492" y="933450"/>
                  <a:pt x="195792" y="940329"/>
                  <a:pt x="174625" y="958850"/>
                </a:cubicBezTo>
                <a:cubicBezTo>
                  <a:pt x="153458" y="977371"/>
                  <a:pt x="130704" y="1001183"/>
                  <a:pt x="111125" y="1016000"/>
                </a:cubicBezTo>
                <a:cubicBezTo>
                  <a:pt x="91546" y="1030817"/>
                  <a:pt x="70908" y="1040342"/>
                  <a:pt x="57150" y="1047750"/>
                </a:cubicBezTo>
                <a:cubicBezTo>
                  <a:pt x="43392" y="1055158"/>
                  <a:pt x="13229" y="1063625"/>
                  <a:pt x="28575" y="1060450"/>
                </a:cubicBezTo>
              </a:path>
            </a:pathLst>
          </a:cu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5" dur="1000"/>
                                        <p:tgtEl>
                                          <p:spTgt spid="4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2" dur="1000"/>
                                        <p:tgtEl>
                                          <p:spTgt spid="4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9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9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9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94000"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5" dur="2000"/>
                                        <p:tgtEl>
                                          <p:spTgt spid="4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5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5" dur="500"/>
                                        <p:tgtEl>
                                          <p:spTgt spid="4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9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  <p:bldP spid="193" grpId="0"/>
      <p:bldP spid="194" grpId="0"/>
      <p:bldP spid="200" grpId="0" animBg="1"/>
      <p:bldP spid="203" grpId="0" animBg="1"/>
      <p:bldP spid="204" grpId="0" animBg="1"/>
      <p:bldP spid="20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Picture 181">
            <a:extLst>
              <a:ext uri="{FF2B5EF4-FFF2-40B4-BE49-F238E27FC236}">
                <a16:creationId xmlns:a16="http://schemas.microsoft.com/office/drawing/2014/main" id="{0437FE0B-4232-4A9F-AFDA-95ACEAEC7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78868" y="3721100"/>
            <a:ext cx="2044700" cy="2520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20" name="Oval 2">
            <a:extLst>
              <a:ext uri="{FF2B5EF4-FFF2-40B4-BE49-F238E27FC236}">
                <a16:creationId xmlns:a16="http://schemas.microsoft.com/office/drawing/2014/main" id="{7240E97D-5392-4A76-A7EE-1C95DE95D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068" y="4578350"/>
            <a:ext cx="1495425" cy="1485900"/>
          </a:xfrm>
          <a:prstGeom prst="ellips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321" name="Oval 3">
            <a:extLst>
              <a:ext uri="{FF2B5EF4-FFF2-40B4-BE49-F238E27FC236}">
                <a16:creationId xmlns:a16="http://schemas.microsoft.com/office/drawing/2014/main" id="{82D85FEE-9713-43BE-8254-7C2567A9A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043" y="4759325"/>
            <a:ext cx="1143000" cy="1133475"/>
          </a:xfrm>
          <a:prstGeom prst="ellips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322" name="Freeform 4">
            <a:extLst>
              <a:ext uri="{FF2B5EF4-FFF2-40B4-BE49-F238E27FC236}">
                <a16:creationId xmlns:a16="http://schemas.microsoft.com/office/drawing/2014/main" id="{E0F461A7-DF1B-421E-81B3-D7D5140FA3B0}"/>
              </a:ext>
            </a:extLst>
          </p:cNvPr>
          <p:cNvSpPr>
            <a:spLocks/>
          </p:cNvSpPr>
          <p:nvPr/>
        </p:nvSpPr>
        <p:spPr bwMode="auto">
          <a:xfrm>
            <a:off x="2093993" y="3505200"/>
            <a:ext cx="139700" cy="1588"/>
          </a:xfrm>
          <a:custGeom>
            <a:avLst/>
            <a:gdLst>
              <a:gd name="T0" fmla="*/ 0 w 264"/>
              <a:gd name="T1" fmla="*/ 0 h 1588"/>
              <a:gd name="T2" fmla="*/ 2147483647 w 264"/>
              <a:gd name="T3" fmla="*/ 0 h 1588"/>
              <a:gd name="T4" fmla="*/ 2147483647 w 264"/>
              <a:gd name="T5" fmla="*/ 0 h 1588"/>
              <a:gd name="T6" fmla="*/ 0 60000 65536"/>
              <a:gd name="T7" fmla="*/ 0 60000 65536"/>
              <a:gd name="T8" fmla="*/ 0 60000 65536"/>
              <a:gd name="T9" fmla="*/ 0 w 264"/>
              <a:gd name="T10" fmla="*/ 0 h 1588"/>
              <a:gd name="T11" fmla="*/ 264 w 264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1588">
                <a:moveTo>
                  <a:pt x="0" y="0"/>
                </a:moveTo>
                <a:lnTo>
                  <a:pt x="262" y="0"/>
                </a:lnTo>
                <a:lnTo>
                  <a:pt x="264" y="0"/>
                </a:lnTo>
              </a:path>
            </a:pathLst>
          </a:custGeom>
          <a:noFill/>
          <a:ln w="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Freeform 5">
            <a:extLst>
              <a:ext uri="{FF2B5EF4-FFF2-40B4-BE49-F238E27FC236}">
                <a16:creationId xmlns:a16="http://schemas.microsoft.com/office/drawing/2014/main" id="{0646A6DD-1F6B-4C71-9696-745178429538}"/>
              </a:ext>
            </a:extLst>
          </p:cNvPr>
          <p:cNvSpPr>
            <a:spLocks/>
          </p:cNvSpPr>
          <p:nvPr/>
        </p:nvSpPr>
        <p:spPr bwMode="auto">
          <a:xfrm>
            <a:off x="3773568" y="2535238"/>
            <a:ext cx="1587" cy="2794000"/>
          </a:xfrm>
          <a:custGeom>
            <a:avLst/>
            <a:gdLst>
              <a:gd name="T0" fmla="*/ 0 w 1"/>
              <a:gd name="T1" fmla="*/ 2147483647 h 5281"/>
              <a:gd name="T2" fmla="*/ 0 w 1"/>
              <a:gd name="T3" fmla="*/ 0 h 5281"/>
              <a:gd name="T4" fmla="*/ 2147483647 w 1"/>
              <a:gd name="T5" fmla="*/ 0 h 5281"/>
              <a:gd name="T6" fmla="*/ 0 60000 65536"/>
              <a:gd name="T7" fmla="*/ 0 60000 65536"/>
              <a:gd name="T8" fmla="*/ 0 60000 65536"/>
              <a:gd name="T9" fmla="*/ 0 w 1"/>
              <a:gd name="T10" fmla="*/ 0 h 5281"/>
              <a:gd name="T11" fmla="*/ 1 w 1"/>
              <a:gd name="T12" fmla="*/ 5281 h 52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5281">
                <a:moveTo>
                  <a:pt x="0" y="528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4" name="Freeform 6">
            <a:extLst>
              <a:ext uri="{FF2B5EF4-FFF2-40B4-BE49-F238E27FC236}">
                <a16:creationId xmlns:a16="http://schemas.microsoft.com/office/drawing/2014/main" id="{3284E227-6B76-4F2E-822B-3EA31869645C}"/>
              </a:ext>
            </a:extLst>
          </p:cNvPr>
          <p:cNvSpPr>
            <a:spLocks/>
          </p:cNvSpPr>
          <p:nvPr/>
        </p:nvSpPr>
        <p:spPr bwMode="auto">
          <a:xfrm>
            <a:off x="2592468" y="2535238"/>
            <a:ext cx="1181100" cy="4762"/>
          </a:xfrm>
          <a:custGeom>
            <a:avLst/>
            <a:gdLst>
              <a:gd name="T0" fmla="*/ 2147483647 w 744"/>
              <a:gd name="T1" fmla="*/ 0 h 3"/>
              <a:gd name="T2" fmla="*/ 0 w 744"/>
              <a:gd name="T3" fmla="*/ 2147483647 h 3"/>
              <a:gd name="T4" fmla="*/ 2147483647 w 744"/>
              <a:gd name="T5" fmla="*/ 0 h 3"/>
              <a:gd name="T6" fmla="*/ 0 60000 65536"/>
              <a:gd name="T7" fmla="*/ 0 60000 65536"/>
              <a:gd name="T8" fmla="*/ 0 60000 65536"/>
              <a:gd name="T9" fmla="*/ 0 w 744"/>
              <a:gd name="T10" fmla="*/ 0 h 3"/>
              <a:gd name="T11" fmla="*/ 744 w 744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4" h="3">
                <a:moveTo>
                  <a:pt x="744" y="0"/>
                </a:moveTo>
                <a:lnTo>
                  <a:pt x="0" y="3"/>
                </a:lnTo>
                <a:lnTo>
                  <a:pt x="395" y="0"/>
                </a:lnTo>
              </a:path>
            </a:pathLst>
          </a:cu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25" name="Group 7">
            <a:extLst>
              <a:ext uri="{FF2B5EF4-FFF2-40B4-BE49-F238E27FC236}">
                <a16:creationId xmlns:a16="http://schemas.microsoft.com/office/drawing/2014/main" id="{0CF8025F-46DD-48E9-B9F2-0F9E923E6875}"/>
              </a:ext>
            </a:extLst>
          </p:cNvPr>
          <p:cNvGrpSpPr>
            <a:grpSpLocks/>
          </p:cNvGrpSpPr>
          <p:nvPr/>
        </p:nvGrpSpPr>
        <p:grpSpPr bwMode="auto">
          <a:xfrm>
            <a:off x="2257505" y="3492500"/>
            <a:ext cx="1852613" cy="2392363"/>
            <a:chOff x="478" y="2200"/>
            <a:chExt cx="1167" cy="1507"/>
          </a:xfrm>
        </p:grpSpPr>
        <p:sp>
          <p:nvSpPr>
            <p:cNvPr id="326" name="Freeform 8">
              <a:extLst>
                <a:ext uri="{FF2B5EF4-FFF2-40B4-BE49-F238E27FC236}">
                  <a16:creationId xmlns:a16="http://schemas.microsoft.com/office/drawing/2014/main" id="{EFEDA0D5-5EBF-44F6-8FD3-AEB33C676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" y="2200"/>
              <a:ext cx="5" cy="1507"/>
            </a:xfrm>
            <a:custGeom>
              <a:avLst/>
              <a:gdLst>
                <a:gd name="T0" fmla="*/ 5 w 5"/>
                <a:gd name="T1" fmla="*/ 1507 h 1507"/>
                <a:gd name="T2" fmla="*/ 0 w 5"/>
                <a:gd name="T3" fmla="*/ 0 h 1507"/>
                <a:gd name="T4" fmla="*/ 0 60000 65536"/>
                <a:gd name="T5" fmla="*/ 0 60000 65536"/>
                <a:gd name="T6" fmla="*/ 0 w 5"/>
                <a:gd name="T7" fmla="*/ 0 h 1507"/>
                <a:gd name="T8" fmla="*/ 5 w 5"/>
                <a:gd name="T9" fmla="*/ 1507 h 150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" h="1507">
                  <a:moveTo>
                    <a:pt x="5" y="150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9">
              <a:extLst>
                <a:ext uri="{FF2B5EF4-FFF2-40B4-BE49-F238E27FC236}">
                  <a16:creationId xmlns:a16="http://schemas.microsoft.com/office/drawing/2014/main" id="{CE11F5DC-6D73-48A0-98FF-4D2FCAD8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" y="2200"/>
              <a:ext cx="3" cy="1507"/>
            </a:xfrm>
            <a:custGeom>
              <a:avLst/>
              <a:gdLst>
                <a:gd name="T0" fmla="*/ 0 w 3"/>
                <a:gd name="T1" fmla="*/ 1507 h 1507"/>
                <a:gd name="T2" fmla="*/ 3 w 3"/>
                <a:gd name="T3" fmla="*/ 0 h 1507"/>
                <a:gd name="T4" fmla="*/ 1 w 3"/>
                <a:gd name="T5" fmla="*/ 29 h 1507"/>
                <a:gd name="T6" fmla="*/ 0 60000 65536"/>
                <a:gd name="T7" fmla="*/ 0 60000 65536"/>
                <a:gd name="T8" fmla="*/ 0 60000 65536"/>
                <a:gd name="T9" fmla="*/ 0 w 3"/>
                <a:gd name="T10" fmla="*/ 0 h 1507"/>
                <a:gd name="T11" fmla="*/ 3 w 3"/>
                <a:gd name="T12" fmla="*/ 1507 h 15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1507">
                  <a:moveTo>
                    <a:pt x="0" y="1507"/>
                  </a:moveTo>
                  <a:lnTo>
                    <a:pt x="3" y="0"/>
                  </a:lnTo>
                  <a:lnTo>
                    <a:pt x="1" y="29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8" name="Freeform 10">
            <a:extLst>
              <a:ext uri="{FF2B5EF4-FFF2-40B4-BE49-F238E27FC236}">
                <a16:creationId xmlns:a16="http://schemas.microsoft.com/office/drawing/2014/main" id="{834823B3-E866-4C82-88C3-CB396BFBB267}"/>
              </a:ext>
            </a:extLst>
          </p:cNvPr>
          <p:cNvSpPr>
            <a:spLocks/>
          </p:cNvSpPr>
          <p:nvPr/>
        </p:nvSpPr>
        <p:spPr bwMode="auto">
          <a:xfrm>
            <a:off x="3943430" y="2862263"/>
            <a:ext cx="1588" cy="2466975"/>
          </a:xfrm>
          <a:custGeom>
            <a:avLst/>
            <a:gdLst>
              <a:gd name="T0" fmla="*/ 0 w 1"/>
              <a:gd name="T1" fmla="*/ 0 h 4662"/>
              <a:gd name="T2" fmla="*/ 0 w 1"/>
              <a:gd name="T3" fmla="*/ 2147483647 h 4662"/>
              <a:gd name="T4" fmla="*/ 2147483647 w 1"/>
              <a:gd name="T5" fmla="*/ 2147483647 h 4662"/>
              <a:gd name="T6" fmla="*/ 0 60000 65536"/>
              <a:gd name="T7" fmla="*/ 0 60000 65536"/>
              <a:gd name="T8" fmla="*/ 0 60000 65536"/>
              <a:gd name="T9" fmla="*/ 0 w 1"/>
              <a:gd name="T10" fmla="*/ 0 h 4662"/>
              <a:gd name="T11" fmla="*/ 1 w 1"/>
              <a:gd name="T12" fmla="*/ 4662 h 46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662">
                <a:moveTo>
                  <a:pt x="0" y="0"/>
                </a:moveTo>
                <a:lnTo>
                  <a:pt x="0" y="4662"/>
                </a:lnTo>
                <a:lnTo>
                  <a:pt x="1" y="4662"/>
                </a:lnTo>
              </a:path>
            </a:pathLst>
          </a:cu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29" name="Group 11">
            <a:extLst>
              <a:ext uri="{FF2B5EF4-FFF2-40B4-BE49-F238E27FC236}">
                <a16:creationId xmlns:a16="http://schemas.microsoft.com/office/drawing/2014/main" id="{79D71820-E3DE-4088-BEC1-DD293D2135BA}"/>
              </a:ext>
            </a:extLst>
          </p:cNvPr>
          <p:cNvGrpSpPr>
            <a:grpSpLocks/>
          </p:cNvGrpSpPr>
          <p:nvPr/>
        </p:nvGrpSpPr>
        <p:grpSpPr bwMode="auto">
          <a:xfrm>
            <a:off x="2706768" y="2843213"/>
            <a:ext cx="958850" cy="3041650"/>
            <a:chOff x="761" y="1824"/>
            <a:chExt cx="604" cy="1883"/>
          </a:xfrm>
        </p:grpSpPr>
        <p:sp>
          <p:nvSpPr>
            <p:cNvPr id="330" name="Freeform 12">
              <a:extLst>
                <a:ext uri="{FF2B5EF4-FFF2-40B4-BE49-F238E27FC236}">
                  <a16:creationId xmlns:a16="http://schemas.microsoft.com/office/drawing/2014/main" id="{624D8AAA-4764-48B4-ADAD-48D3D5FA0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1824"/>
              <a:ext cx="1" cy="1883"/>
            </a:xfrm>
            <a:custGeom>
              <a:avLst/>
              <a:gdLst>
                <a:gd name="T0" fmla="*/ 0 w 1"/>
                <a:gd name="T1" fmla="*/ 0 h 5647"/>
                <a:gd name="T2" fmla="*/ 0 w 1"/>
                <a:gd name="T3" fmla="*/ 0 h 5647"/>
                <a:gd name="T4" fmla="*/ 1 w 1"/>
                <a:gd name="T5" fmla="*/ 0 h 5647"/>
                <a:gd name="T6" fmla="*/ 0 60000 65536"/>
                <a:gd name="T7" fmla="*/ 0 60000 65536"/>
                <a:gd name="T8" fmla="*/ 0 60000 65536"/>
                <a:gd name="T9" fmla="*/ 0 w 1"/>
                <a:gd name="T10" fmla="*/ 0 h 5647"/>
                <a:gd name="T11" fmla="*/ 1 w 1"/>
                <a:gd name="T12" fmla="*/ 5647 h 56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647">
                  <a:moveTo>
                    <a:pt x="0" y="564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13">
              <a:extLst>
                <a:ext uri="{FF2B5EF4-FFF2-40B4-BE49-F238E27FC236}">
                  <a16:creationId xmlns:a16="http://schemas.microsoft.com/office/drawing/2014/main" id="{CA31B44D-21F2-4194-B2AA-A01B011F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1824"/>
              <a:ext cx="1" cy="1883"/>
            </a:xfrm>
            <a:custGeom>
              <a:avLst/>
              <a:gdLst>
                <a:gd name="T0" fmla="*/ 0 w 1"/>
                <a:gd name="T1" fmla="*/ 0 h 5647"/>
                <a:gd name="T2" fmla="*/ 0 w 1"/>
                <a:gd name="T3" fmla="*/ 0 h 5647"/>
                <a:gd name="T4" fmla="*/ 1 w 1"/>
                <a:gd name="T5" fmla="*/ 0 h 5647"/>
                <a:gd name="T6" fmla="*/ 0 60000 65536"/>
                <a:gd name="T7" fmla="*/ 0 60000 65536"/>
                <a:gd name="T8" fmla="*/ 0 60000 65536"/>
                <a:gd name="T9" fmla="*/ 0 w 1"/>
                <a:gd name="T10" fmla="*/ 0 h 5647"/>
                <a:gd name="T11" fmla="*/ 1 w 1"/>
                <a:gd name="T12" fmla="*/ 5647 h 56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647">
                  <a:moveTo>
                    <a:pt x="0" y="564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2" name="Freeform 14">
            <a:extLst>
              <a:ext uri="{FF2B5EF4-FFF2-40B4-BE49-F238E27FC236}">
                <a16:creationId xmlns:a16="http://schemas.microsoft.com/office/drawing/2014/main" id="{4DA13275-06C7-4161-BB3C-4FABFB2823CE}"/>
              </a:ext>
            </a:extLst>
          </p:cNvPr>
          <p:cNvSpPr>
            <a:spLocks/>
          </p:cNvSpPr>
          <p:nvPr/>
        </p:nvSpPr>
        <p:spPr bwMode="auto">
          <a:xfrm>
            <a:off x="2451180" y="2857500"/>
            <a:ext cx="1482725" cy="1588"/>
          </a:xfrm>
          <a:custGeom>
            <a:avLst/>
            <a:gdLst>
              <a:gd name="T0" fmla="*/ 0 w 934"/>
              <a:gd name="T1" fmla="*/ 0 h 1"/>
              <a:gd name="T2" fmla="*/ 2147483647 w 934"/>
              <a:gd name="T3" fmla="*/ 0 h 1"/>
              <a:gd name="T4" fmla="*/ 0 60000 65536"/>
              <a:gd name="T5" fmla="*/ 0 60000 65536"/>
              <a:gd name="T6" fmla="*/ 0 w 934"/>
              <a:gd name="T7" fmla="*/ 0 h 1"/>
              <a:gd name="T8" fmla="*/ 934 w 93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34" h="1">
                <a:moveTo>
                  <a:pt x="0" y="0"/>
                </a:moveTo>
                <a:lnTo>
                  <a:pt x="934" y="0"/>
                </a:lnTo>
              </a:path>
            </a:pathLst>
          </a:cu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33" name="Group 15">
            <a:extLst>
              <a:ext uri="{FF2B5EF4-FFF2-40B4-BE49-F238E27FC236}">
                <a16:creationId xmlns:a16="http://schemas.microsoft.com/office/drawing/2014/main" id="{9D9E6B1D-4805-4E68-A577-D6675444523F}"/>
              </a:ext>
            </a:extLst>
          </p:cNvPr>
          <p:cNvGrpSpPr>
            <a:grpSpLocks/>
          </p:cNvGrpSpPr>
          <p:nvPr/>
        </p:nvGrpSpPr>
        <p:grpSpPr bwMode="auto">
          <a:xfrm>
            <a:off x="2282905" y="2536825"/>
            <a:ext cx="1806575" cy="938213"/>
            <a:chOff x="494" y="1598"/>
            <a:chExt cx="1138" cy="591"/>
          </a:xfrm>
        </p:grpSpPr>
        <p:sp>
          <p:nvSpPr>
            <p:cNvPr id="334" name="Freeform 16">
              <a:extLst>
                <a:ext uri="{FF2B5EF4-FFF2-40B4-BE49-F238E27FC236}">
                  <a16:creationId xmlns:a16="http://schemas.microsoft.com/office/drawing/2014/main" id="{DF84FA60-775E-495A-BC57-E671070D8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819"/>
              <a:ext cx="254" cy="370"/>
            </a:xfrm>
            <a:custGeom>
              <a:avLst/>
              <a:gdLst>
                <a:gd name="T0" fmla="*/ 0 w 761"/>
                <a:gd name="T1" fmla="*/ 0 h 1110"/>
                <a:gd name="T2" fmla="*/ 0 w 761"/>
                <a:gd name="T3" fmla="*/ 0 h 1110"/>
                <a:gd name="T4" fmla="*/ 0 w 761"/>
                <a:gd name="T5" fmla="*/ 0 h 1110"/>
                <a:gd name="T6" fmla="*/ 0 60000 65536"/>
                <a:gd name="T7" fmla="*/ 0 60000 65536"/>
                <a:gd name="T8" fmla="*/ 0 60000 65536"/>
                <a:gd name="T9" fmla="*/ 0 w 761"/>
                <a:gd name="T10" fmla="*/ 0 h 1110"/>
                <a:gd name="T11" fmla="*/ 761 w 761"/>
                <a:gd name="T12" fmla="*/ 1110 h 1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1" h="1110">
                  <a:moveTo>
                    <a:pt x="0" y="1110"/>
                  </a:moveTo>
                  <a:lnTo>
                    <a:pt x="760" y="0"/>
                  </a:lnTo>
                  <a:lnTo>
                    <a:pt x="761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17">
              <a:extLst>
                <a:ext uri="{FF2B5EF4-FFF2-40B4-BE49-F238E27FC236}">
                  <a16:creationId xmlns:a16="http://schemas.microsoft.com/office/drawing/2014/main" id="{D821045A-F40F-4A23-8D8F-1A52E98E2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" y="1598"/>
              <a:ext cx="267" cy="189"/>
            </a:xfrm>
            <a:custGeom>
              <a:avLst/>
              <a:gdLst>
                <a:gd name="T0" fmla="*/ 0 w 800"/>
                <a:gd name="T1" fmla="*/ 0 h 567"/>
                <a:gd name="T2" fmla="*/ 0 w 800"/>
                <a:gd name="T3" fmla="*/ 0 h 567"/>
                <a:gd name="T4" fmla="*/ 0 w 800"/>
                <a:gd name="T5" fmla="*/ 0 h 567"/>
                <a:gd name="T6" fmla="*/ 0 w 800"/>
                <a:gd name="T7" fmla="*/ 0 h 5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0"/>
                <a:gd name="T13" fmla="*/ 0 h 567"/>
                <a:gd name="T14" fmla="*/ 800 w 800"/>
                <a:gd name="T15" fmla="*/ 567 h 5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0" h="567">
                  <a:moveTo>
                    <a:pt x="0" y="567"/>
                  </a:moveTo>
                  <a:lnTo>
                    <a:pt x="381" y="194"/>
                  </a:lnTo>
                  <a:lnTo>
                    <a:pt x="799" y="0"/>
                  </a:lnTo>
                  <a:lnTo>
                    <a:pt x="800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Freeform 18">
              <a:extLst>
                <a:ext uri="{FF2B5EF4-FFF2-40B4-BE49-F238E27FC236}">
                  <a16:creationId xmlns:a16="http://schemas.microsoft.com/office/drawing/2014/main" id="{204E64AD-0074-4714-9671-18F1301FC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" y="1598"/>
              <a:ext cx="267" cy="189"/>
            </a:xfrm>
            <a:custGeom>
              <a:avLst/>
              <a:gdLst>
                <a:gd name="T0" fmla="*/ 0 w 801"/>
                <a:gd name="T1" fmla="*/ 0 h 567"/>
                <a:gd name="T2" fmla="*/ 0 w 801"/>
                <a:gd name="T3" fmla="*/ 0 h 567"/>
                <a:gd name="T4" fmla="*/ 0 w 801"/>
                <a:gd name="T5" fmla="*/ 0 h 567"/>
                <a:gd name="T6" fmla="*/ 0 w 801"/>
                <a:gd name="T7" fmla="*/ 0 h 5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1"/>
                <a:gd name="T13" fmla="*/ 0 h 567"/>
                <a:gd name="T14" fmla="*/ 801 w 801"/>
                <a:gd name="T15" fmla="*/ 567 h 5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1" h="567">
                  <a:moveTo>
                    <a:pt x="0" y="0"/>
                  </a:moveTo>
                  <a:lnTo>
                    <a:pt x="417" y="194"/>
                  </a:lnTo>
                  <a:lnTo>
                    <a:pt x="800" y="567"/>
                  </a:lnTo>
                  <a:lnTo>
                    <a:pt x="801" y="567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Freeform 19">
              <a:extLst>
                <a:ext uri="{FF2B5EF4-FFF2-40B4-BE49-F238E27FC236}">
                  <a16:creationId xmlns:a16="http://schemas.microsoft.com/office/drawing/2014/main" id="{58A89A9F-DB2C-4BB0-BD15-583FD2305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819"/>
              <a:ext cx="254" cy="370"/>
            </a:xfrm>
            <a:custGeom>
              <a:avLst/>
              <a:gdLst>
                <a:gd name="T0" fmla="*/ 0 w 762"/>
                <a:gd name="T1" fmla="*/ 0 h 1110"/>
                <a:gd name="T2" fmla="*/ 0 w 762"/>
                <a:gd name="T3" fmla="*/ 0 h 1110"/>
                <a:gd name="T4" fmla="*/ 0 w 762"/>
                <a:gd name="T5" fmla="*/ 0 h 1110"/>
                <a:gd name="T6" fmla="*/ 0 60000 65536"/>
                <a:gd name="T7" fmla="*/ 0 60000 65536"/>
                <a:gd name="T8" fmla="*/ 0 60000 65536"/>
                <a:gd name="T9" fmla="*/ 0 w 762"/>
                <a:gd name="T10" fmla="*/ 0 h 1110"/>
                <a:gd name="T11" fmla="*/ 762 w 762"/>
                <a:gd name="T12" fmla="*/ 1110 h 11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2" h="1110">
                  <a:moveTo>
                    <a:pt x="0" y="0"/>
                  </a:moveTo>
                  <a:lnTo>
                    <a:pt x="760" y="1110"/>
                  </a:lnTo>
                  <a:lnTo>
                    <a:pt x="762" y="111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" name="Freeform 20">
            <a:extLst>
              <a:ext uri="{FF2B5EF4-FFF2-40B4-BE49-F238E27FC236}">
                <a16:creationId xmlns:a16="http://schemas.microsoft.com/office/drawing/2014/main" id="{F0D6EBAF-D5E1-4FC1-8D3E-CA44A8A91A62}"/>
              </a:ext>
            </a:extLst>
          </p:cNvPr>
          <p:cNvSpPr>
            <a:spLocks/>
          </p:cNvSpPr>
          <p:nvPr/>
        </p:nvSpPr>
        <p:spPr bwMode="auto">
          <a:xfrm>
            <a:off x="4138693" y="3505200"/>
            <a:ext cx="139700" cy="1588"/>
          </a:xfrm>
          <a:custGeom>
            <a:avLst/>
            <a:gdLst>
              <a:gd name="T0" fmla="*/ 0 w 263"/>
              <a:gd name="T1" fmla="*/ 0 h 1588"/>
              <a:gd name="T2" fmla="*/ 2147483647 w 263"/>
              <a:gd name="T3" fmla="*/ 0 h 1588"/>
              <a:gd name="T4" fmla="*/ 2147483647 w 263"/>
              <a:gd name="T5" fmla="*/ 0 h 1588"/>
              <a:gd name="T6" fmla="*/ 0 60000 65536"/>
              <a:gd name="T7" fmla="*/ 0 60000 65536"/>
              <a:gd name="T8" fmla="*/ 0 60000 65536"/>
              <a:gd name="T9" fmla="*/ 0 w 263"/>
              <a:gd name="T10" fmla="*/ 0 h 1588"/>
              <a:gd name="T11" fmla="*/ 263 w 26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3" h="1588">
                <a:moveTo>
                  <a:pt x="0" y="0"/>
                </a:moveTo>
                <a:lnTo>
                  <a:pt x="261" y="0"/>
                </a:lnTo>
                <a:lnTo>
                  <a:pt x="263" y="0"/>
                </a:lnTo>
              </a:path>
            </a:pathLst>
          </a:custGeom>
          <a:noFill/>
          <a:ln w="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39" name="Group 21">
            <a:extLst>
              <a:ext uri="{FF2B5EF4-FFF2-40B4-BE49-F238E27FC236}">
                <a16:creationId xmlns:a16="http://schemas.microsoft.com/office/drawing/2014/main" id="{29E63DF6-EDC5-4E8F-A682-13AC613591D8}"/>
              </a:ext>
            </a:extLst>
          </p:cNvPr>
          <p:cNvGrpSpPr>
            <a:grpSpLocks/>
          </p:cNvGrpSpPr>
          <p:nvPr/>
        </p:nvGrpSpPr>
        <p:grpSpPr bwMode="auto">
          <a:xfrm>
            <a:off x="4867355" y="1246188"/>
            <a:ext cx="2535238" cy="4826000"/>
            <a:chOff x="1946" y="785"/>
            <a:chExt cx="1597" cy="3040"/>
          </a:xfrm>
        </p:grpSpPr>
        <p:sp>
          <p:nvSpPr>
            <p:cNvPr id="340" name="Arc 22">
              <a:extLst>
                <a:ext uri="{FF2B5EF4-FFF2-40B4-BE49-F238E27FC236}">
                  <a16:creationId xmlns:a16="http://schemas.microsoft.com/office/drawing/2014/main" id="{A4A7E48C-83C5-4193-B30F-D73CBA88A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682"/>
              <a:ext cx="1368" cy="1050"/>
            </a:xfrm>
            <a:custGeom>
              <a:avLst/>
              <a:gdLst>
                <a:gd name="T0" fmla="*/ 0 w 43200"/>
                <a:gd name="T1" fmla="*/ 0 h 33168"/>
                <a:gd name="T2" fmla="*/ 0 w 43200"/>
                <a:gd name="T3" fmla="*/ 0 h 33168"/>
                <a:gd name="T4" fmla="*/ 0 w 43200"/>
                <a:gd name="T5" fmla="*/ 0 h 3316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3168"/>
                <a:gd name="T11" fmla="*/ 43200 w 43200"/>
                <a:gd name="T12" fmla="*/ 33168 h 33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3168" fill="none" extrusionOk="0">
                  <a:moveTo>
                    <a:pt x="3239" y="32978"/>
                  </a:moveTo>
                  <a:cubicBezTo>
                    <a:pt x="1122" y="29560"/>
                    <a:pt x="0" y="256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696"/>
                    <a:pt x="42035" y="29708"/>
                    <a:pt x="39841" y="33168"/>
                  </a:cubicBezTo>
                </a:path>
                <a:path w="43200" h="33168" stroke="0" extrusionOk="0">
                  <a:moveTo>
                    <a:pt x="3239" y="32978"/>
                  </a:moveTo>
                  <a:cubicBezTo>
                    <a:pt x="1122" y="29560"/>
                    <a:pt x="0" y="256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696"/>
                    <a:pt x="42035" y="29708"/>
                    <a:pt x="39841" y="33168"/>
                  </a:cubicBezTo>
                  <a:lnTo>
                    <a:pt x="21600" y="21600"/>
                  </a:lnTo>
                  <a:lnTo>
                    <a:pt x="3239" y="3297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" name="Freeform 23">
              <a:extLst>
                <a:ext uri="{FF2B5EF4-FFF2-40B4-BE49-F238E27FC236}">
                  <a16:creationId xmlns:a16="http://schemas.microsoft.com/office/drawing/2014/main" id="{18F11621-34B5-4932-B446-F5F2378CB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884"/>
              <a:ext cx="688" cy="1324"/>
            </a:xfrm>
            <a:custGeom>
              <a:avLst/>
              <a:gdLst>
                <a:gd name="T0" fmla="*/ 0 w 2063"/>
                <a:gd name="T1" fmla="*/ 0 h 3970"/>
                <a:gd name="T2" fmla="*/ 0 w 2063"/>
                <a:gd name="T3" fmla="*/ 0 h 3970"/>
                <a:gd name="T4" fmla="*/ 0 w 2063"/>
                <a:gd name="T5" fmla="*/ 0 h 3970"/>
                <a:gd name="T6" fmla="*/ 0 60000 65536"/>
                <a:gd name="T7" fmla="*/ 0 60000 65536"/>
                <a:gd name="T8" fmla="*/ 0 60000 65536"/>
                <a:gd name="T9" fmla="*/ 0 w 2063"/>
                <a:gd name="T10" fmla="*/ 0 h 3970"/>
                <a:gd name="T11" fmla="*/ 2063 w 2063"/>
                <a:gd name="T12" fmla="*/ 3970 h 39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3" h="3970">
                  <a:moveTo>
                    <a:pt x="2063" y="0"/>
                  </a:moveTo>
                  <a:lnTo>
                    <a:pt x="0" y="3970"/>
                  </a:lnTo>
                  <a:lnTo>
                    <a:pt x="1" y="397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Freeform 24">
              <a:extLst>
                <a:ext uri="{FF2B5EF4-FFF2-40B4-BE49-F238E27FC236}">
                  <a16:creationId xmlns:a16="http://schemas.microsoft.com/office/drawing/2014/main" id="{24015B33-B345-4373-8CA4-163AFFAA8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3728"/>
              <a:ext cx="1159" cy="1"/>
            </a:xfrm>
            <a:custGeom>
              <a:avLst/>
              <a:gdLst>
                <a:gd name="T0" fmla="*/ 0 w 3477"/>
                <a:gd name="T1" fmla="*/ 0 h 1"/>
                <a:gd name="T2" fmla="*/ 0 w 3477"/>
                <a:gd name="T3" fmla="*/ 0 h 1"/>
                <a:gd name="T4" fmla="*/ 0 w 3477"/>
                <a:gd name="T5" fmla="*/ 0 h 1"/>
                <a:gd name="T6" fmla="*/ 0 60000 65536"/>
                <a:gd name="T7" fmla="*/ 0 60000 65536"/>
                <a:gd name="T8" fmla="*/ 0 60000 65536"/>
                <a:gd name="T9" fmla="*/ 0 w 3477"/>
                <a:gd name="T10" fmla="*/ 0 h 1"/>
                <a:gd name="T11" fmla="*/ 3477 w 347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7" h="1">
                  <a:moveTo>
                    <a:pt x="0" y="0"/>
                  </a:moveTo>
                  <a:lnTo>
                    <a:pt x="3475" y="0"/>
                  </a:lnTo>
                  <a:lnTo>
                    <a:pt x="3477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25">
              <a:extLst>
                <a:ext uri="{FF2B5EF4-FFF2-40B4-BE49-F238E27FC236}">
                  <a16:creationId xmlns:a16="http://schemas.microsoft.com/office/drawing/2014/main" id="{217A5D48-4DFC-48BE-A6B6-C22D9C2DF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2208"/>
              <a:ext cx="1375" cy="1"/>
            </a:xfrm>
            <a:custGeom>
              <a:avLst/>
              <a:gdLst>
                <a:gd name="T0" fmla="*/ 0 w 4126"/>
                <a:gd name="T1" fmla="*/ 0 h 1"/>
                <a:gd name="T2" fmla="*/ 0 w 4126"/>
                <a:gd name="T3" fmla="*/ 0 h 1"/>
                <a:gd name="T4" fmla="*/ 0 w 4126"/>
                <a:gd name="T5" fmla="*/ 0 h 1"/>
                <a:gd name="T6" fmla="*/ 0 60000 65536"/>
                <a:gd name="T7" fmla="*/ 0 60000 65536"/>
                <a:gd name="T8" fmla="*/ 0 60000 65536"/>
                <a:gd name="T9" fmla="*/ 0 w 4126"/>
                <a:gd name="T10" fmla="*/ 0 h 1"/>
                <a:gd name="T11" fmla="*/ 4126 w 412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26" h="1">
                  <a:moveTo>
                    <a:pt x="0" y="0"/>
                  </a:moveTo>
                  <a:lnTo>
                    <a:pt x="4125" y="0"/>
                  </a:lnTo>
                  <a:lnTo>
                    <a:pt x="412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26">
              <a:extLst>
                <a:ext uri="{FF2B5EF4-FFF2-40B4-BE49-F238E27FC236}">
                  <a16:creationId xmlns:a16="http://schemas.microsoft.com/office/drawing/2014/main" id="{78011BE3-53B7-47D1-AE1B-373E90B2A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1597"/>
              <a:ext cx="1159" cy="611"/>
            </a:xfrm>
            <a:custGeom>
              <a:avLst/>
              <a:gdLst>
                <a:gd name="T0" fmla="*/ 0 w 3477"/>
                <a:gd name="T1" fmla="*/ 0 h 1832"/>
                <a:gd name="T2" fmla="*/ 0 w 3477"/>
                <a:gd name="T3" fmla="*/ 0 h 1832"/>
                <a:gd name="T4" fmla="*/ 0 w 3477"/>
                <a:gd name="T5" fmla="*/ 0 h 1832"/>
                <a:gd name="T6" fmla="*/ 0 w 3477"/>
                <a:gd name="T7" fmla="*/ 0 h 1832"/>
                <a:gd name="T8" fmla="*/ 0 w 3477"/>
                <a:gd name="T9" fmla="*/ 0 h 1832"/>
                <a:gd name="T10" fmla="*/ 0 w 3477"/>
                <a:gd name="T11" fmla="*/ 0 h 1832"/>
                <a:gd name="T12" fmla="*/ 0 w 3477"/>
                <a:gd name="T13" fmla="*/ 0 h 1832"/>
                <a:gd name="T14" fmla="*/ 0 w 3477"/>
                <a:gd name="T15" fmla="*/ 0 h 1832"/>
                <a:gd name="T16" fmla="*/ 0 w 3477"/>
                <a:gd name="T17" fmla="*/ 0 h 1832"/>
                <a:gd name="T18" fmla="*/ 0 w 3477"/>
                <a:gd name="T19" fmla="*/ 0 h 18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477"/>
                <a:gd name="T31" fmla="*/ 0 h 1832"/>
                <a:gd name="T32" fmla="*/ 3477 w 3477"/>
                <a:gd name="T33" fmla="*/ 1832 h 183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477" h="1832">
                  <a:moveTo>
                    <a:pt x="0" y="1832"/>
                  </a:moveTo>
                  <a:lnTo>
                    <a:pt x="704" y="775"/>
                  </a:lnTo>
                  <a:lnTo>
                    <a:pt x="1185" y="258"/>
                  </a:lnTo>
                  <a:lnTo>
                    <a:pt x="1457" y="72"/>
                  </a:lnTo>
                  <a:lnTo>
                    <a:pt x="1738" y="0"/>
                  </a:lnTo>
                  <a:lnTo>
                    <a:pt x="2019" y="72"/>
                  </a:lnTo>
                  <a:lnTo>
                    <a:pt x="2290" y="258"/>
                  </a:lnTo>
                  <a:lnTo>
                    <a:pt x="2771" y="775"/>
                  </a:lnTo>
                  <a:lnTo>
                    <a:pt x="3475" y="1832"/>
                  </a:lnTo>
                  <a:lnTo>
                    <a:pt x="3477" y="183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Freeform 27">
              <a:extLst>
                <a:ext uri="{FF2B5EF4-FFF2-40B4-BE49-F238E27FC236}">
                  <a16:creationId xmlns:a16="http://schemas.microsoft.com/office/drawing/2014/main" id="{78AEAFEC-6545-4DB5-8EE9-48587EB0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884"/>
              <a:ext cx="687" cy="1324"/>
            </a:xfrm>
            <a:custGeom>
              <a:avLst/>
              <a:gdLst>
                <a:gd name="T0" fmla="*/ 0 w 2062"/>
                <a:gd name="T1" fmla="*/ 0 h 3970"/>
                <a:gd name="T2" fmla="*/ 0 w 2062"/>
                <a:gd name="T3" fmla="*/ 0 h 3970"/>
                <a:gd name="T4" fmla="*/ 0 w 2062"/>
                <a:gd name="T5" fmla="*/ 0 h 3970"/>
                <a:gd name="T6" fmla="*/ 0 60000 65536"/>
                <a:gd name="T7" fmla="*/ 0 60000 65536"/>
                <a:gd name="T8" fmla="*/ 0 60000 65536"/>
                <a:gd name="T9" fmla="*/ 0 w 2062"/>
                <a:gd name="T10" fmla="*/ 0 h 3970"/>
                <a:gd name="T11" fmla="*/ 2062 w 2062"/>
                <a:gd name="T12" fmla="*/ 3970 h 39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2" h="3970">
                  <a:moveTo>
                    <a:pt x="2062" y="397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6" name="Group 28">
              <a:extLst>
                <a:ext uri="{FF2B5EF4-FFF2-40B4-BE49-F238E27FC236}">
                  <a16:creationId xmlns:a16="http://schemas.microsoft.com/office/drawing/2014/main" id="{83DEBAC9-C332-44F0-9835-01D80BD696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" y="785"/>
              <a:ext cx="1" cy="1534"/>
              <a:chOff x="2671" y="631"/>
              <a:chExt cx="1" cy="1534"/>
            </a:xfrm>
          </p:grpSpPr>
          <p:sp>
            <p:nvSpPr>
              <p:cNvPr id="356" name="Freeform 29">
                <a:extLst>
                  <a:ext uri="{FF2B5EF4-FFF2-40B4-BE49-F238E27FC236}">
                    <a16:creationId xmlns:a16="http://schemas.microsoft.com/office/drawing/2014/main" id="{A0D7BD9D-190F-4E2A-A340-8831A02E3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631"/>
                <a:ext cx="1" cy="430"/>
              </a:xfrm>
              <a:custGeom>
                <a:avLst/>
                <a:gdLst>
                  <a:gd name="T0" fmla="*/ 0 w 2"/>
                  <a:gd name="T1" fmla="*/ 0 h 1291"/>
                  <a:gd name="T2" fmla="*/ 0 w 2"/>
                  <a:gd name="T3" fmla="*/ 0 h 1291"/>
                  <a:gd name="T4" fmla="*/ 1 w 2"/>
                  <a:gd name="T5" fmla="*/ 0 h 129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91"/>
                  <a:gd name="T11" fmla="*/ 2 w 2"/>
                  <a:gd name="T12" fmla="*/ 1291 h 12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91">
                    <a:moveTo>
                      <a:pt x="0" y="0"/>
                    </a:moveTo>
                    <a:lnTo>
                      <a:pt x="0" y="1291"/>
                    </a:lnTo>
                    <a:lnTo>
                      <a:pt x="2" y="1291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7" name="Freeform 30">
                <a:extLst>
                  <a:ext uri="{FF2B5EF4-FFF2-40B4-BE49-F238E27FC236}">
                    <a16:creationId xmlns:a16="http://schemas.microsoft.com/office/drawing/2014/main" id="{1E22AC26-719F-415A-8E5A-C9B268350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895"/>
                <a:ext cx="1" cy="270"/>
              </a:xfrm>
              <a:custGeom>
                <a:avLst/>
                <a:gdLst>
                  <a:gd name="T0" fmla="*/ 0 w 2"/>
                  <a:gd name="T1" fmla="*/ 0 h 810"/>
                  <a:gd name="T2" fmla="*/ 0 w 2"/>
                  <a:gd name="T3" fmla="*/ 0 h 810"/>
                  <a:gd name="T4" fmla="*/ 1 w 2"/>
                  <a:gd name="T5" fmla="*/ 0 h 81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810"/>
                  <a:gd name="T11" fmla="*/ 2 w 2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810">
                    <a:moveTo>
                      <a:pt x="0" y="0"/>
                    </a:moveTo>
                    <a:lnTo>
                      <a:pt x="0" y="810"/>
                    </a:lnTo>
                    <a:lnTo>
                      <a:pt x="2" y="81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" name="Freeform 31">
                <a:extLst>
                  <a:ext uri="{FF2B5EF4-FFF2-40B4-BE49-F238E27FC236}">
                    <a16:creationId xmlns:a16="http://schemas.microsoft.com/office/drawing/2014/main" id="{B7A635A6-1543-4BCF-854A-AC3B09BD2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814"/>
                <a:ext cx="1" cy="36"/>
              </a:xfrm>
              <a:custGeom>
                <a:avLst/>
                <a:gdLst>
                  <a:gd name="T0" fmla="*/ 0 w 2"/>
                  <a:gd name="T1" fmla="*/ 0 h 107"/>
                  <a:gd name="T2" fmla="*/ 0 w 2"/>
                  <a:gd name="T3" fmla="*/ 0 h 107"/>
                  <a:gd name="T4" fmla="*/ 1 w 2"/>
                  <a:gd name="T5" fmla="*/ 0 h 10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7"/>
                  <a:gd name="T11" fmla="*/ 2 w 2"/>
                  <a:gd name="T12" fmla="*/ 107 h 1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7">
                    <a:moveTo>
                      <a:pt x="0" y="0"/>
                    </a:moveTo>
                    <a:lnTo>
                      <a:pt x="0" y="107"/>
                    </a:lnTo>
                    <a:lnTo>
                      <a:pt x="2" y="107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" name="Freeform 32">
                <a:extLst>
                  <a:ext uri="{FF2B5EF4-FFF2-40B4-BE49-F238E27FC236}">
                    <a16:creationId xmlns:a16="http://schemas.microsoft.com/office/drawing/2014/main" id="{2379FFDD-A39D-4C32-817B-E2F04FE60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108"/>
                <a:ext cx="1" cy="41"/>
              </a:xfrm>
              <a:custGeom>
                <a:avLst/>
                <a:gdLst>
                  <a:gd name="T0" fmla="*/ 0 w 2"/>
                  <a:gd name="T1" fmla="*/ 0 h 122"/>
                  <a:gd name="T2" fmla="*/ 0 w 2"/>
                  <a:gd name="T3" fmla="*/ 0 h 122"/>
                  <a:gd name="T4" fmla="*/ 1 w 2"/>
                  <a:gd name="T5" fmla="*/ 0 h 12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2"/>
                  <a:gd name="T11" fmla="*/ 2 w 2"/>
                  <a:gd name="T12" fmla="*/ 122 h 1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2">
                    <a:moveTo>
                      <a:pt x="0" y="0"/>
                    </a:moveTo>
                    <a:lnTo>
                      <a:pt x="0" y="122"/>
                    </a:lnTo>
                    <a:lnTo>
                      <a:pt x="2" y="12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0" name="Freeform 33">
                <a:extLst>
                  <a:ext uri="{FF2B5EF4-FFF2-40B4-BE49-F238E27FC236}">
                    <a16:creationId xmlns:a16="http://schemas.microsoft.com/office/drawing/2014/main" id="{4611F4DE-0277-4DDC-9935-08B4D2BD2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188"/>
                <a:ext cx="1" cy="579"/>
              </a:xfrm>
              <a:custGeom>
                <a:avLst/>
                <a:gdLst>
                  <a:gd name="T0" fmla="*/ 0 w 2"/>
                  <a:gd name="T1" fmla="*/ 0 h 1737"/>
                  <a:gd name="T2" fmla="*/ 0 w 2"/>
                  <a:gd name="T3" fmla="*/ 0 h 1737"/>
                  <a:gd name="T4" fmla="*/ 1 w 2"/>
                  <a:gd name="T5" fmla="*/ 0 h 173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37"/>
                  <a:gd name="T11" fmla="*/ 2 w 2"/>
                  <a:gd name="T12" fmla="*/ 1737 h 17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37">
                    <a:moveTo>
                      <a:pt x="0" y="0"/>
                    </a:moveTo>
                    <a:lnTo>
                      <a:pt x="0" y="1737"/>
                    </a:lnTo>
                    <a:lnTo>
                      <a:pt x="2" y="1737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7" name="Group 34">
              <a:extLst>
                <a:ext uri="{FF2B5EF4-FFF2-40B4-BE49-F238E27FC236}">
                  <a16:creationId xmlns:a16="http://schemas.microsoft.com/office/drawing/2014/main" id="{35D985CD-0521-4393-BF2D-64F2C5F83E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" y="2588"/>
              <a:ext cx="1597" cy="1237"/>
              <a:chOff x="1869" y="2434"/>
              <a:chExt cx="1597" cy="1237"/>
            </a:xfrm>
          </p:grpSpPr>
          <p:sp>
            <p:nvSpPr>
              <p:cNvPr id="348" name="Freeform 35">
                <a:extLst>
                  <a:ext uri="{FF2B5EF4-FFF2-40B4-BE49-F238E27FC236}">
                    <a16:creationId xmlns:a16="http://schemas.microsoft.com/office/drawing/2014/main" id="{2C1864F9-8552-4435-872F-C264BA2F5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9" y="3203"/>
                <a:ext cx="371" cy="1"/>
              </a:xfrm>
              <a:custGeom>
                <a:avLst/>
                <a:gdLst>
                  <a:gd name="T0" fmla="*/ 0 w 1115"/>
                  <a:gd name="T1" fmla="*/ 0 h 1"/>
                  <a:gd name="T2" fmla="*/ 0 w 1115"/>
                  <a:gd name="T3" fmla="*/ 0 h 1"/>
                  <a:gd name="T4" fmla="*/ 0 w 111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115"/>
                  <a:gd name="T10" fmla="*/ 0 h 1"/>
                  <a:gd name="T11" fmla="*/ 1115 w 111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15" h="1">
                    <a:moveTo>
                      <a:pt x="0" y="0"/>
                    </a:moveTo>
                    <a:lnTo>
                      <a:pt x="1114" y="0"/>
                    </a:lnTo>
                    <a:lnTo>
                      <a:pt x="1115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" name="Freeform 36">
                <a:extLst>
                  <a:ext uri="{FF2B5EF4-FFF2-40B4-BE49-F238E27FC236}">
                    <a16:creationId xmlns:a16="http://schemas.microsoft.com/office/drawing/2014/main" id="{355073AC-FEC6-45BE-A93B-48004FB27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2434"/>
                <a:ext cx="1" cy="525"/>
              </a:xfrm>
              <a:custGeom>
                <a:avLst/>
                <a:gdLst>
                  <a:gd name="T0" fmla="*/ 0 w 2"/>
                  <a:gd name="T1" fmla="*/ 0 h 1575"/>
                  <a:gd name="T2" fmla="*/ 0 w 2"/>
                  <a:gd name="T3" fmla="*/ 0 h 1575"/>
                  <a:gd name="T4" fmla="*/ 1 w 2"/>
                  <a:gd name="T5" fmla="*/ 0 h 157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575"/>
                  <a:gd name="T11" fmla="*/ 2 w 2"/>
                  <a:gd name="T12" fmla="*/ 1575 h 15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575">
                    <a:moveTo>
                      <a:pt x="0" y="0"/>
                    </a:moveTo>
                    <a:lnTo>
                      <a:pt x="0" y="1575"/>
                    </a:lnTo>
                    <a:lnTo>
                      <a:pt x="2" y="1575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" name="Freeform 37">
                <a:extLst>
                  <a:ext uri="{FF2B5EF4-FFF2-40B4-BE49-F238E27FC236}">
                    <a16:creationId xmlns:a16="http://schemas.microsoft.com/office/drawing/2014/main" id="{BC633F51-494E-45C1-8420-3B8D3A756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3203"/>
                <a:ext cx="647" cy="1"/>
              </a:xfrm>
              <a:custGeom>
                <a:avLst/>
                <a:gdLst>
                  <a:gd name="T0" fmla="*/ 0 w 1940"/>
                  <a:gd name="T1" fmla="*/ 0 h 1"/>
                  <a:gd name="T2" fmla="*/ 0 w 1940"/>
                  <a:gd name="T3" fmla="*/ 0 h 1"/>
                  <a:gd name="T4" fmla="*/ 0 w 194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40"/>
                  <a:gd name="T10" fmla="*/ 0 h 1"/>
                  <a:gd name="T11" fmla="*/ 1940 w 194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40" h="1">
                    <a:moveTo>
                      <a:pt x="0" y="0"/>
                    </a:moveTo>
                    <a:lnTo>
                      <a:pt x="1938" y="0"/>
                    </a:lnTo>
                    <a:lnTo>
                      <a:pt x="1940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" name="Freeform 38">
                <a:extLst>
                  <a:ext uri="{FF2B5EF4-FFF2-40B4-BE49-F238E27FC236}">
                    <a16:creationId xmlns:a16="http://schemas.microsoft.com/office/drawing/2014/main" id="{832B81B2-A0A1-4A6E-9E23-05ABDC32C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203"/>
                <a:ext cx="40" cy="1"/>
              </a:xfrm>
              <a:custGeom>
                <a:avLst/>
                <a:gdLst>
                  <a:gd name="T0" fmla="*/ 0 w 121"/>
                  <a:gd name="T1" fmla="*/ 0 h 1"/>
                  <a:gd name="T2" fmla="*/ 0 w 121"/>
                  <a:gd name="T3" fmla="*/ 0 h 1"/>
                  <a:gd name="T4" fmla="*/ 0 w 1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1"/>
                  <a:gd name="T10" fmla="*/ 0 h 1"/>
                  <a:gd name="T11" fmla="*/ 121 w 1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1" h="1">
                    <a:moveTo>
                      <a:pt x="0" y="0"/>
                    </a:moveTo>
                    <a:lnTo>
                      <a:pt x="120" y="0"/>
                    </a:lnTo>
                    <a:lnTo>
                      <a:pt x="12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" name="Freeform 39">
                <a:extLst>
                  <a:ext uri="{FF2B5EF4-FFF2-40B4-BE49-F238E27FC236}">
                    <a16:creationId xmlns:a16="http://schemas.microsoft.com/office/drawing/2014/main" id="{E4727991-A175-49E2-996B-3EE49BC31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3087"/>
                <a:ext cx="1" cy="584"/>
              </a:xfrm>
              <a:custGeom>
                <a:avLst/>
                <a:gdLst>
                  <a:gd name="T0" fmla="*/ 0 w 2"/>
                  <a:gd name="T1" fmla="*/ 0 h 1750"/>
                  <a:gd name="T2" fmla="*/ 0 w 2"/>
                  <a:gd name="T3" fmla="*/ 0 h 1750"/>
                  <a:gd name="T4" fmla="*/ 1 w 2"/>
                  <a:gd name="T5" fmla="*/ 0 h 175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50"/>
                  <a:gd name="T11" fmla="*/ 2 w 2"/>
                  <a:gd name="T12" fmla="*/ 1750 h 17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50">
                    <a:moveTo>
                      <a:pt x="0" y="0"/>
                    </a:moveTo>
                    <a:lnTo>
                      <a:pt x="0" y="1750"/>
                    </a:lnTo>
                    <a:lnTo>
                      <a:pt x="2" y="175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3" name="Freeform 40">
                <a:extLst>
                  <a:ext uri="{FF2B5EF4-FFF2-40B4-BE49-F238E27FC236}">
                    <a16:creationId xmlns:a16="http://schemas.microsoft.com/office/drawing/2014/main" id="{42C3B8B4-B222-49C2-8BC5-231FE04D1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2999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0"/>
                    </a:moveTo>
                    <a:lnTo>
                      <a:pt x="0" y="120"/>
                    </a:lnTo>
                    <a:lnTo>
                      <a:pt x="2" y="12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4" name="Freeform 41">
                <a:extLst>
                  <a:ext uri="{FF2B5EF4-FFF2-40B4-BE49-F238E27FC236}">
                    <a16:creationId xmlns:a16="http://schemas.microsoft.com/office/drawing/2014/main" id="{52774282-A4A9-4021-9539-765E528BF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3203"/>
                <a:ext cx="330" cy="1"/>
              </a:xfrm>
              <a:custGeom>
                <a:avLst/>
                <a:gdLst>
                  <a:gd name="T0" fmla="*/ 0 w 988"/>
                  <a:gd name="T1" fmla="*/ 0 h 1"/>
                  <a:gd name="T2" fmla="*/ 0 w 988"/>
                  <a:gd name="T3" fmla="*/ 0 h 1"/>
                  <a:gd name="T4" fmla="*/ 0 w 9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8"/>
                  <a:gd name="T10" fmla="*/ 0 h 1"/>
                  <a:gd name="T11" fmla="*/ 988 w 9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8" h="1">
                    <a:moveTo>
                      <a:pt x="0" y="0"/>
                    </a:moveTo>
                    <a:lnTo>
                      <a:pt x="987" y="0"/>
                    </a:lnTo>
                    <a:lnTo>
                      <a:pt x="988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5" name="Freeform 42">
                <a:extLst>
                  <a:ext uri="{FF2B5EF4-FFF2-40B4-BE49-F238E27FC236}">
                    <a16:creationId xmlns:a16="http://schemas.microsoft.com/office/drawing/2014/main" id="{F424E9AC-2A8C-4557-8A42-6B1131D14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3203"/>
                <a:ext cx="32" cy="1"/>
              </a:xfrm>
              <a:custGeom>
                <a:avLst/>
                <a:gdLst>
                  <a:gd name="T0" fmla="*/ 0 w 97"/>
                  <a:gd name="T1" fmla="*/ 0 h 1"/>
                  <a:gd name="T2" fmla="*/ 0 w 97"/>
                  <a:gd name="T3" fmla="*/ 0 h 1"/>
                  <a:gd name="T4" fmla="*/ 0 w 9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1"/>
                  <a:gd name="T11" fmla="*/ 97 w 9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1">
                    <a:moveTo>
                      <a:pt x="0" y="0"/>
                    </a:moveTo>
                    <a:lnTo>
                      <a:pt x="95" y="0"/>
                    </a:lnTo>
                    <a:lnTo>
                      <a:pt x="97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61" name="Group 46">
            <a:extLst>
              <a:ext uri="{FF2B5EF4-FFF2-40B4-BE49-F238E27FC236}">
                <a16:creationId xmlns:a16="http://schemas.microsoft.com/office/drawing/2014/main" id="{F40358A7-67F3-49D3-B7BF-8C882582D133}"/>
              </a:ext>
            </a:extLst>
          </p:cNvPr>
          <p:cNvGrpSpPr>
            <a:grpSpLocks/>
          </p:cNvGrpSpPr>
          <p:nvPr/>
        </p:nvGrpSpPr>
        <p:grpSpPr bwMode="auto">
          <a:xfrm>
            <a:off x="3319543" y="2752725"/>
            <a:ext cx="482600" cy="484188"/>
            <a:chOff x="1070" y="1580"/>
            <a:chExt cx="304" cy="305"/>
          </a:xfrm>
        </p:grpSpPr>
        <p:sp>
          <p:nvSpPr>
            <p:cNvPr id="362" name="Rectangle 47">
              <a:extLst>
                <a:ext uri="{FF2B5EF4-FFF2-40B4-BE49-F238E27FC236}">
                  <a16:creationId xmlns:a16="http://schemas.microsoft.com/office/drawing/2014/main" id="{AC10B4CA-6D24-41AB-B44D-1DCE100C0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" y="1655"/>
              <a:ext cx="29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r>
                <a:rPr lang="en-US" altLang="zh-CN"/>
                <a:t>′</a:t>
              </a:r>
            </a:p>
          </p:txBody>
        </p:sp>
        <p:sp>
          <p:nvSpPr>
            <p:cNvPr id="363" name="Text Box 48">
              <a:extLst>
                <a:ext uri="{FF2B5EF4-FFF2-40B4-BE49-F238E27FC236}">
                  <a16:creationId xmlns:a16="http://schemas.microsoft.com/office/drawing/2014/main" id="{D0A666C4-209A-44B9-BD6E-1D19B493A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580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364" name="Group 49">
            <a:extLst>
              <a:ext uri="{FF2B5EF4-FFF2-40B4-BE49-F238E27FC236}">
                <a16:creationId xmlns:a16="http://schemas.microsoft.com/office/drawing/2014/main" id="{3E7E4CE1-C68A-4764-AF5D-31536D680706}"/>
              </a:ext>
            </a:extLst>
          </p:cNvPr>
          <p:cNvGrpSpPr>
            <a:grpSpLocks/>
          </p:cNvGrpSpPr>
          <p:nvPr/>
        </p:nvGrpSpPr>
        <p:grpSpPr bwMode="auto">
          <a:xfrm>
            <a:off x="2562305" y="2752725"/>
            <a:ext cx="668338" cy="450850"/>
            <a:chOff x="593" y="1580"/>
            <a:chExt cx="421" cy="284"/>
          </a:xfrm>
        </p:grpSpPr>
        <p:sp>
          <p:nvSpPr>
            <p:cNvPr id="365" name="Rectangle 50">
              <a:extLst>
                <a:ext uri="{FF2B5EF4-FFF2-40B4-BE49-F238E27FC236}">
                  <a16:creationId xmlns:a16="http://schemas.microsoft.com/office/drawing/2014/main" id="{96F43369-CC99-45BE-87A4-34F01A993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634"/>
              <a:ext cx="279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lang="en-US" altLang="zh-CN"/>
                <a:t>′</a:t>
              </a:r>
            </a:p>
          </p:txBody>
        </p:sp>
        <p:sp>
          <p:nvSpPr>
            <p:cNvPr id="366" name="Text Box 51">
              <a:extLst>
                <a:ext uri="{FF2B5EF4-FFF2-40B4-BE49-F238E27FC236}">
                  <a16:creationId xmlns:a16="http://schemas.microsoft.com/office/drawing/2014/main" id="{173A6E4A-30D7-486A-B580-DC0555340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" y="1580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367" name="Group 160">
            <a:extLst>
              <a:ext uri="{FF2B5EF4-FFF2-40B4-BE49-F238E27FC236}">
                <a16:creationId xmlns:a16="http://schemas.microsoft.com/office/drawing/2014/main" id="{1A0879F0-01FC-4F28-8989-CAAC292EC80E}"/>
              </a:ext>
            </a:extLst>
          </p:cNvPr>
          <p:cNvGrpSpPr>
            <a:grpSpLocks/>
          </p:cNvGrpSpPr>
          <p:nvPr/>
        </p:nvGrpSpPr>
        <p:grpSpPr bwMode="auto">
          <a:xfrm>
            <a:off x="1860630" y="1231900"/>
            <a:ext cx="2598738" cy="4930775"/>
            <a:chOff x="228" y="776"/>
            <a:chExt cx="1637" cy="3106"/>
          </a:xfrm>
        </p:grpSpPr>
        <p:sp>
          <p:nvSpPr>
            <p:cNvPr id="368" name="Arc 53">
              <a:extLst>
                <a:ext uri="{FF2B5EF4-FFF2-40B4-BE49-F238E27FC236}">
                  <a16:creationId xmlns:a16="http://schemas.microsoft.com/office/drawing/2014/main" id="{91B60501-40DF-4FB9-A4AD-16D08DAF4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" y="2671"/>
              <a:ext cx="1368" cy="1050"/>
            </a:xfrm>
            <a:custGeom>
              <a:avLst/>
              <a:gdLst>
                <a:gd name="T0" fmla="*/ 0 w 43200"/>
                <a:gd name="T1" fmla="*/ 0 h 33168"/>
                <a:gd name="T2" fmla="*/ 0 w 43200"/>
                <a:gd name="T3" fmla="*/ 0 h 33168"/>
                <a:gd name="T4" fmla="*/ 0 w 43200"/>
                <a:gd name="T5" fmla="*/ 0 h 3316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3168"/>
                <a:gd name="T11" fmla="*/ 43200 w 43200"/>
                <a:gd name="T12" fmla="*/ 33168 h 33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3168" fill="none" extrusionOk="0">
                  <a:moveTo>
                    <a:pt x="3296" y="33069"/>
                  </a:moveTo>
                  <a:cubicBezTo>
                    <a:pt x="1142" y="29631"/>
                    <a:pt x="0" y="2565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696"/>
                    <a:pt x="42035" y="29708"/>
                    <a:pt x="39841" y="33168"/>
                  </a:cubicBezTo>
                </a:path>
                <a:path w="43200" h="33168" stroke="0" extrusionOk="0">
                  <a:moveTo>
                    <a:pt x="3296" y="33069"/>
                  </a:moveTo>
                  <a:cubicBezTo>
                    <a:pt x="1142" y="29631"/>
                    <a:pt x="0" y="2565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5696"/>
                    <a:pt x="42035" y="29708"/>
                    <a:pt x="39841" y="33168"/>
                  </a:cubicBezTo>
                  <a:lnTo>
                    <a:pt x="21600" y="21600"/>
                  </a:lnTo>
                  <a:lnTo>
                    <a:pt x="3296" y="3306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" name="Freeform 54">
              <a:extLst>
                <a:ext uri="{FF2B5EF4-FFF2-40B4-BE49-F238E27FC236}">
                  <a16:creationId xmlns:a16="http://schemas.microsoft.com/office/drawing/2014/main" id="{0D27E336-F31E-419A-9F8C-4AFCCB6F4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" y="884"/>
              <a:ext cx="688" cy="1324"/>
            </a:xfrm>
            <a:custGeom>
              <a:avLst/>
              <a:gdLst>
                <a:gd name="T0" fmla="*/ 0 w 2063"/>
                <a:gd name="T1" fmla="*/ 0 h 3970"/>
                <a:gd name="T2" fmla="*/ 0 w 2063"/>
                <a:gd name="T3" fmla="*/ 0 h 3970"/>
                <a:gd name="T4" fmla="*/ 0 w 2063"/>
                <a:gd name="T5" fmla="*/ 0 h 3970"/>
                <a:gd name="T6" fmla="*/ 0 60000 65536"/>
                <a:gd name="T7" fmla="*/ 0 60000 65536"/>
                <a:gd name="T8" fmla="*/ 0 60000 65536"/>
                <a:gd name="T9" fmla="*/ 0 w 2063"/>
                <a:gd name="T10" fmla="*/ 0 h 3970"/>
                <a:gd name="T11" fmla="*/ 2063 w 2063"/>
                <a:gd name="T12" fmla="*/ 3970 h 39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3" h="3970">
                  <a:moveTo>
                    <a:pt x="2063" y="0"/>
                  </a:moveTo>
                  <a:lnTo>
                    <a:pt x="0" y="3970"/>
                  </a:lnTo>
                  <a:lnTo>
                    <a:pt x="1" y="397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Freeform 55">
              <a:extLst>
                <a:ext uri="{FF2B5EF4-FFF2-40B4-BE49-F238E27FC236}">
                  <a16:creationId xmlns:a16="http://schemas.microsoft.com/office/drawing/2014/main" id="{1FFF7F08-0374-4C23-9753-182F905EA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884"/>
              <a:ext cx="687" cy="1324"/>
            </a:xfrm>
            <a:custGeom>
              <a:avLst/>
              <a:gdLst>
                <a:gd name="T0" fmla="*/ 0 w 2063"/>
                <a:gd name="T1" fmla="*/ 0 h 3970"/>
                <a:gd name="T2" fmla="*/ 0 w 2063"/>
                <a:gd name="T3" fmla="*/ 0 h 3970"/>
                <a:gd name="T4" fmla="*/ 0 w 2063"/>
                <a:gd name="T5" fmla="*/ 0 h 3970"/>
                <a:gd name="T6" fmla="*/ 0 60000 65536"/>
                <a:gd name="T7" fmla="*/ 0 60000 65536"/>
                <a:gd name="T8" fmla="*/ 0 60000 65536"/>
                <a:gd name="T9" fmla="*/ 0 w 2063"/>
                <a:gd name="T10" fmla="*/ 0 h 3970"/>
                <a:gd name="T11" fmla="*/ 2063 w 2063"/>
                <a:gd name="T12" fmla="*/ 3970 h 39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3" h="3970">
                  <a:moveTo>
                    <a:pt x="2063" y="397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1" name="Group 159">
              <a:extLst>
                <a:ext uri="{FF2B5EF4-FFF2-40B4-BE49-F238E27FC236}">
                  <a16:creationId xmlns:a16="http://schemas.microsoft.com/office/drawing/2014/main" id="{3069721A-1D83-4D0D-84D9-B6E88784F2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2" y="776"/>
              <a:ext cx="2" cy="1515"/>
              <a:chOff x="1062" y="776"/>
              <a:chExt cx="2" cy="1515"/>
            </a:xfrm>
          </p:grpSpPr>
          <p:sp>
            <p:nvSpPr>
              <p:cNvPr id="382" name="Freeform 57">
                <a:extLst>
                  <a:ext uri="{FF2B5EF4-FFF2-40B4-BE49-F238E27FC236}">
                    <a16:creationId xmlns:a16="http://schemas.microsoft.com/office/drawing/2014/main" id="{3520D6EE-C5D2-4CDD-9B3C-AF0631612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" y="776"/>
                <a:ext cx="1" cy="448"/>
              </a:xfrm>
              <a:custGeom>
                <a:avLst/>
                <a:gdLst>
                  <a:gd name="T0" fmla="*/ 0 w 2"/>
                  <a:gd name="T1" fmla="*/ 0 h 1344"/>
                  <a:gd name="T2" fmla="*/ 0 w 2"/>
                  <a:gd name="T3" fmla="*/ 0 h 1344"/>
                  <a:gd name="T4" fmla="*/ 1 w 2"/>
                  <a:gd name="T5" fmla="*/ 0 h 134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344"/>
                  <a:gd name="T11" fmla="*/ 2 w 2"/>
                  <a:gd name="T12" fmla="*/ 1344 h 13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344">
                    <a:moveTo>
                      <a:pt x="0" y="0"/>
                    </a:moveTo>
                    <a:lnTo>
                      <a:pt x="0" y="1344"/>
                    </a:lnTo>
                    <a:lnTo>
                      <a:pt x="2" y="1344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3" name="Freeform 58">
                <a:extLst>
                  <a:ext uri="{FF2B5EF4-FFF2-40B4-BE49-F238E27FC236}">
                    <a16:creationId xmlns:a16="http://schemas.microsoft.com/office/drawing/2014/main" id="{CDC33E0A-ECB5-4880-9CF8-E9070F3D6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" y="1966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0"/>
                    </a:moveTo>
                    <a:lnTo>
                      <a:pt x="0" y="120"/>
                    </a:lnTo>
                    <a:lnTo>
                      <a:pt x="2" y="12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4" name="Freeform 60">
                <a:extLst>
                  <a:ext uri="{FF2B5EF4-FFF2-40B4-BE49-F238E27FC236}">
                    <a16:creationId xmlns:a16="http://schemas.microsoft.com/office/drawing/2014/main" id="{B07C0F35-8C60-42EF-8D6E-B62A2E1D4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" y="1269"/>
                <a:ext cx="1" cy="27"/>
              </a:xfrm>
              <a:custGeom>
                <a:avLst/>
                <a:gdLst>
                  <a:gd name="T0" fmla="*/ 0 w 2"/>
                  <a:gd name="T1" fmla="*/ 0 h 82"/>
                  <a:gd name="T2" fmla="*/ 0 w 2"/>
                  <a:gd name="T3" fmla="*/ 0 h 82"/>
                  <a:gd name="T4" fmla="*/ 1 w 2"/>
                  <a:gd name="T5" fmla="*/ 0 h 8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82"/>
                  <a:gd name="T11" fmla="*/ 2 w 2"/>
                  <a:gd name="T12" fmla="*/ 82 h 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82">
                    <a:moveTo>
                      <a:pt x="0" y="0"/>
                    </a:moveTo>
                    <a:lnTo>
                      <a:pt x="0" y="82"/>
                    </a:lnTo>
                    <a:lnTo>
                      <a:pt x="2" y="82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5" name="Freeform 61">
                <a:extLst>
                  <a:ext uri="{FF2B5EF4-FFF2-40B4-BE49-F238E27FC236}">
                    <a16:creationId xmlns:a16="http://schemas.microsoft.com/office/drawing/2014/main" id="{25F2C343-AC56-4D06-BBAE-6F8A9460E7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" y="1338"/>
                <a:ext cx="2" cy="576"/>
              </a:xfrm>
              <a:custGeom>
                <a:avLst/>
                <a:gdLst>
                  <a:gd name="T0" fmla="*/ 0 w 2"/>
                  <a:gd name="T1" fmla="*/ 0 h 576"/>
                  <a:gd name="T2" fmla="*/ 1 w 2"/>
                  <a:gd name="T3" fmla="*/ 576 h 576"/>
                  <a:gd name="T4" fmla="*/ 2 w 2"/>
                  <a:gd name="T5" fmla="*/ 576 h 57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576"/>
                  <a:gd name="T11" fmla="*/ 2 w 2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576">
                    <a:moveTo>
                      <a:pt x="0" y="0"/>
                    </a:moveTo>
                    <a:lnTo>
                      <a:pt x="1" y="576"/>
                    </a:lnTo>
                    <a:lnTo>
                      <a:pt x="2" y="576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6" name="Freeform 62">
                <a:extLst>
                  <a:ext uri="{FF2B5EF4-FFF2-40B4-BE49-F238E27FC236}">
                    <a16:creationId xmlns:a16="http://schemas.microsoft.com/office/drawing/2014/main" id="{72399AAC-5DE4-4122-BA00-898445A27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" y="2046"/>
                <a:ext cx="1" cy="245"/>
              </a:xfrm>
              <a:custGeom>
                <a:avLst/>
                <a:gdLst>
                  <a:gd name="T0" fmla="*/ 0 w 2"/>
                  <a:gd name="T1" fmla="*/ 0 h 735"/>
                  <a:gd name="T2" fmla="*/ 0 w 2"/>
                  <a:gd name="T3" fmla="*/ 0 h 735"/>
                  <a:gd name="T4" fmla="*/ 1 w 2"/>
                  <a:gd name="T5" fmla="*/ 0 h 73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35"/>
                  <a:gd name="T11" fmla="*/ 2 w 2"/>
                  <a:gd name="T12" fmla="*/ 735 h 7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35">
                    <a:moveTo>
                      <a:pt x="0" y="0"/>
                    </a:moveTo>
                    <a:lnTo>
                      <a:pt x="0" y="735"/>
                    </a:lnTo>
                    <a:lnTo>
                      <a:pt x="2" y="735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2" name="Line 63">
              <a:extLst>
                <a:ext uri="{FF2B5EF4-FFF2-40B4-BE49-F238E27FC236}">
                  <a16:creationId xmlns:a16="http://schemas.microsoft.com/office/drawing/2014/main" id="{F923824A-CF6C-47CF-A8C3-03D57E81E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" y="2206"/>
              <a:ext cx="13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73" name="Group 158">
              <a:extLst>
                <a:ext uri="{FF2B5EF4-FFF2-40B4-BE49-F238E27FC236}">
                  <a16:creationId xmlns:a16="http://schemas.microsoft.com/office/drawing/2014/main" id="{065DC9B9-7AB9-4D53-BD3C-F00F240488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2" y="2587"/>
              <a:ext cx="2" cy="1295"/>
              <a:chOff x="1062" y="2587"/>
              <a:chExt cx="2" cy="1295"/>
            </a:xfrm>
          </p:grpSpPr>
          <p:sp>
            <p:nvSpPr>
              <p:cNvPr id="379" name="Freeform 65">
                <a:extLst>
                  <a:ext uri="{FF2B5EF4-FFF2-40B4-BE49-F238E27FC236}">
                    <a16:creationId xmlns:a16="http://schemas.microsoft.com/office/drawing/2014/main" id="{09BDB771-03E4-4726-AB06-227620DEB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" y="3268"/>
                <a:ext cx="1" cy="614"/>
              </a:xfrm>
              <a:custGeom>
                <a:avLst/>
                <a:gdLst>
                  <a:gd name="T0" fmla="*/ 1 w 1"/>
                  <a:gd name="T1" fmla="*/ 0 h 614"/>
                  <a:gd name="T2" fmla="*/ 0 w 1"/>
                  <a:gd name="T3" fmla="*/ 614 h 614"/>
                  <a:gd name="T4" fmla="*/ 0 60000 65536"/>
                  <a:gd name="T5" fmla="*/ 0 60000 65536"/>
                  <a:gd name="T6" fmla="*/ 0 w 1"/>
                  <a:gd name="T7" fmla="*/ 0 h 614"/>
                  <a:gd name="T8" fmla="*/ 1 w 1"/>
                  <a:gd name="T9" fmla="*/ 614 h 61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14">
                    <a:moveTo>
                      <a:pt x="1" y="0"/>
                    </a:moveTo>
                    <a:lnTo>
                      <a:pt x="0" y="614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" name="Freeform 66">
                <a:extLst>
                  <a:ext uri="{FF2B5EF4-FFF2-40B4-BE49-F238E27FC236}">
                    <a16:creationId xmlns:a16="http://schemas.microsoft.com/office/drawing/2014/main" id="{8B6F458B-DE35-4731-9A8C-7BB535E0E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" y="3169"/>
                <a:ext cx="1" cy="36"/>
              </a:xfrm>
              <a:custGeom>
                <a:avLst/>
                <a:gdLst>
                  <a:gd name="T0" fmla="*/ 0 w 2"/>
                  <a:gd name="T1" fmla="*/ 0 h 108"/>
                  <a:gd name="T2" fmla="*/ 0 w 2"/>
                  <a:gd name="T3" fmla="*/ 0 h 108"/>
                  <a:gd name="T4" fmla="*/ 1 w 2"/>
                  <a:gd name="T5" fmla="*/ 0 h 10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8"/>
                  <a:gd name="T11" fmla="*/ 2 w 2"/>
                  <a:gd name="T12" fmla="*/ 108 h 1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8">
                    <a:moveTo>
                      <a:pt x="0" y="0"/>
                    </a:moveTo>
                    <a:lnTo>
                      <a:pt x="0" y="108"/>
                    </a:lnTo>
                    <a:lnTo>
                      <a:pt x="2" y="108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1" name="Freeform 67">
                <a:extLst>
                  <a:ext uri="{FF2B5EF4-FFF2-40B4-BE49-F238E27FC236}">
                    <a16:creationId xmlns:a16="http://schemas.microsoft.com/office/drawing/2014/main" id="{6FC85D2E-D5BD-443F-85C7-819491E73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" y="2587"/>
                <a:ext cx="1" cy="529"/>
              </a:xfrm>
              <a:custGeom>
                <a:avLst/>
                <a:gdLst>
                  <a:gd name="T0" fmla="*/ 0 w 2"/>
                  <a:gd name="T1" fmla="*/ 0 h 1587"/>
                  <a:gd name="T2" fmla="*/ 0 w 2"/>
                  <a:gd name="T3" fmla="*/ 0 h 1587"/>
                  <a:gd name="T4" fmla="*/ 1 w 2"/>
                  <a:gd name="T5" fmla="*/ 0 h 158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587"/>
                  <a:gd name="T11" fmla="*/ 2 w 2"/>
                  <a:gd name="T12" fmla="*/ 1587 h 15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587">
                    <a:moveTo>
                      <a:pt x="0" y="0"/>
                    </a:moveTo>
                    <a:lnTo>
                      <a:pt x="0" y="1587"/>
                    </a:lnTo>
                    <a:lnTo>
                      <a:pt x="2" y="158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4" name="Group 68">
              <a:extLst>
                <a:ext uri="{FF2B5EF4-FFF2-40B4-BE49-F238E27FC236}">
                  <a16:creationId xmlns:a16="http://schemas.microsoft.com/office/drawing/2014/main" id="{6F2D3D61-6742-431A-8FE2-CA44D8EA3A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357"/>
              <a:ext cx="1637" cy="1"/>
              <a:chOff x="151" y="3203"/>
              <a:chExt cx="1637" cy="1"/>
            </a:xfrm>
          </p:grpSpPr>
          <p:sp>
            <p:nvSpPr>
              <p:cNvPr id="375" name="Freeform 69">
                <a:extLst>
                  <a:ext uri="{FF2B5EF4-FFF2-40B4-BE49-F238E27FC236}">
                    <a16:creationId xmlns:a16="http://schemas.microsoft.com/office/drawing/2014/main" id="{F756230F-D8BE-42CC-B40B-D72040F93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" y="3203"/>
                <a:ext cx="613" cy="1"/>
              </a:xfrm>
              <a:custGeom>
                <a:avLst/>
                <a:gdLst>
                  <a:gd name="T0" fmla="*/ 0 w 1840"/>
                  <a:gd name="T1" fmla="*/ 0 h 1"/>
                  <a:gd name="T2" fmla="*/ 0 w 1840"/>
                  <a:gd name="T3" fmla="*/ 0 h 1"/>
                  <a:gd name="T4" fmla="*/ 0 w 184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40"/>
                  <a:gd name="T10" fmla="*/ 0 h 1"/>
                  <a:gd name="T11" fmla="*/ 1840 w 184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40" h="1">
                    <a:moveTo>
                      <a:pt x="0" y="0"/>
                    </a:moveTo>
                    <a:lnTo>
                      <a:pt x="1839" y="0"/>
                    </a:lnTo>
                    <a:lnTo>
                      <a:pt x="1840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6" name="Freeform 70">
                <a:extLst>
                  <a:ext uri="{FF2B5EF4-FFF2-40B4-BE49-F238E27FC236}">
                    <a16:creationId xmlns:a16="http://schemas.microsoft.com/office/drawing/2014/main" id="{812C7773-6005-48B6-891A-2ABC5804F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3203"/>
                <a:ext cx="478" cy="1"/>
              </a:xfrm>
              <a:custGeom>
                <a:avLst/>
                <a:gdLst>
                  <a:gd name="T0" fmla="*/ 0 w 1434"/>
                  <a:gd name="T1" fmla="*/ 0 h 1"/>
                  <a:gd name="T2" fmla="*/ 0 w 1434"/>
                  <a:gd name="T3" fmla="*/ 0 h 1"/>
                  <a:gd name="T4" fmla="*/ 0 w 143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4"/>
                  <a:gd name="T10" fmla="*/ 0 h 1"/>
                  <a:gd name="T11" fmla="*/ 1434 w 143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4" h="1">
                    <a:moveTo>
                      <a:pt x="0" y="0"/>
                    </a:moveTo>
                    <a:lnTo>
                      <a:pt x="1433" y="0"/>
                    </a:lnTo>
                    <a:lnTo>
                      <a:pt x="1434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7" name="Freeform 71">
                <a:extLst>
                  <a:ext uri="{FF2B5EF4-FFF2-40B4-BE49-F238E27FC236}">
                    <a16:creationId xmlns:a16="http://schemas.microsoft.com/office/drawing/2014/main" id="{B71FD4DD-54F6-4C4B-B1CF-2486F8847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1" y="3203"/>
                <a:ext cx="897" cy="1"/>
              </a:xfrm>
              <a:custGeom>
                <a:avLst/>
                <a:gdLst>
                  <a:gd name="T0" fmla="*/ 0 w 2691"/>
                  <a:gd name="T1" fmla="*/ 0 h 1"/>
                  <a:gd name="T2" fmla="*/ 0 w 2691"/>
                  <a:gd name="T3" fmla="*/ 0 h 1"/>
                  <a:gd name="T4" fmla="*/ 0 w 269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691"/>
                  <a:gd name="T10" fmla="*/ 0 h 1"/>
                  <a:gd name="T11" fmla="*/ 2691 w 269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91" h="1">
                    <a:moveTo>
                      <a:pt x="0" y="0"/>
                    </a:moveTo>
                    <a:lnTo>
                      <a:pt x="2689" y="0"/>
                    </a:lnTo>
                    <a:lnTo>
                      <a:pt x="269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8" name="Freeform 72">
                <a:extLst>
                  <a:ext uri="{FF2B5EF4-FFF2-40B4-BE49-F238E27FC236}">
                    <a16:creationId xmlns:a16="http://schemas.microsoft.com/office/drawing/2014/main" id="{C0E95B3A-54CF-4A1E-8C56-824B5D769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" y="3203"/>
                <a:ext cx="33" cy="1"/>
              </a:xfrm>
              <a:custGeom>
                <a:avLst/>
                <a:gdLst>
                  <a:gd name="T0" fmla="*/ 0 w 98"/>
                  <a:gd name="T1" fmla="*/ 0 h 1"/>
                  <a:gd name="T2" fmla="*/ 0 w 98"/>
                  <a:gd name="T3" fmla="*/ 0 h 1"/>
                  <a:gd name="T4" fmla="*/ 0 w 9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"/>
                  <a:gd name="T10" fmla="*/ 0 h 1"/>
                  <a:gd name="T11" fmla="*/ 98 w 9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" h="1">
                    <a:moveTo>
                      <a:pt x="0" y="0"/>
                    </a:moveTo>
                    <a:lnTo>
                      <a:pt x="96" y="0"/>
                    </a:lnTo>
                    <a:lnTo>
                      <a:pt x="98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87" name="Line 73">
            <a:extLst>
              <a:ext uri="{FF2B5EF4-FFF2-40B4-BE49-F238E27FC236}">
                <a16:creationId xmlns:a16="http://schemas.microsoft.com/office/drawing/2014/main" id="{D6DD1F4C-1CE8-4952-B18E-3FF4D2660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618" y="5892800"/>
            <a:ext cx="18478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88" name="Group 74">
            <a:extLst>
              <a:ext uri="{FF2B5EF4-FFF2-40B4-BE49-F238E27FC236}">
                <a16:creationId xmlns:a16="http://schemas.microsoft.com/office/drawing/2014/main" id="{CC9064D9-C76D-4006-87B8-722CC975FC16}"/>
              </a:ext>
            </a:extLst>
          </p:cNvPr>
          <p:cNvGrpSpPr>
            <a:grpSpLocks/>
          </p:cNvGrpSpPr>
          <p:nvPr/>
        </p:nvGrpSpPr>
        <p:grpSpPr bwMode="auto">
          <a:xfrm>
            <a:off x="3036968" y="5516563"/>
            <a:ext cx="322262" cy="474662"/>
            <a:chOff x="892" y="3321"/>
            <a:chExt cx="203" cy="299"/>
          </a:xfrm>
        </p:grpSpPr>
        <p:sp>
          <p:nvSpPr>
            <p:cNvPr id="389" name="Rectangle 75">
              <a:extLst>
                <a:ext uri="{FF2B5EF4-FFF2-40B4-BE49-F238E27FC236}">
                  <a16:creationId xmlns:a16="http://schemas.microsoft.com/office/drawing/2014/main" id="{2E6EDF4F-C9B1-4DAE-92FA-7D89EF06E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" y="3321"/>
              <a:ext cx="10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390" name="Text Box 76">
              <a:extLst>
                <a:ext uri="{FF2B5EF4-FFF2-40B4-BE49-F238E27FC236}">
                  <a16:creationId xmlns:a16="http://schemas.microsoft.com/office/drawing/2014/main" id="{4F3FBF2A-2F79-47FE-A836-1E358C60C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" y="3485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391" name="Group 77">
            <a:extLst>
              <a:ext uri="{FF2B5EF4-FFF2-40B4-BE49-F238E27FC236}">
                <a16:creationId xmlns:a16="http://schemas.microsoft.com/office/drawing/2014/main" id="{6BC9A2C8-90FC-472C-B660-CEB916F7E71A}"/>
              </a:ext>
            </a:extLst>
          </p:cNvPr>
          <p:cNvGrpSpPr>
            <a:grpSpLocks/>
          </p:cNvGrpSpPr>
          <p:nvPr/>
        </p:nvGrpSpPr>
        <p:grpSpPr bwMode="auto">
          <a:xfrm>
            <a:off x="2552780" y="5781675"/>
            <a:ext cx="287338" cy="438150"/>
            <a:chOff x="587" y="3488"/>
            <a:chExt cx="181" cy="276"/>
          </a:xfrm>
        </p:grpSpPr>
        <p:sp>
          <p:nvSpPr>
            <p:cNvPr id="392" name="Rectangle 78">
              <a:extLst>
                <a:ext uri="{FF2B5EF4-FFF2-40B4-BE49-F238E27FC236}">
                  <a16:creationId xmlns:a16="http://schemas.microsoft.com/office/drawing/2014/main" id="{7373BC60-526A-45CA-9863-DB373583A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534"/>
              <a:ext cx="8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393" name="Text Box 79">
              <a:extLst>
                <a:ext uri="{FF2B5EF4-FFF2-40B4-BE49-F238E27FC236}">
                  <a16:creationId xmlns:a16="http://schemas.microsoft.com/office/drawing/2014/main" id="{22D8F513-5503-4A13-A194-1FECEF890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3488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394" name="Group 80">
            <a:extLst>
              <a:ext uri="{FF2B5EF4-FFF2-40B4-BE49-F238E27FC236}">
                <a16:creationId xmlns:a16="http://schemas.microsoft.com/office/drawing/2014/main" id="{8113DEFA-4919-4F27-A9C7-91DD6A23D8B4}"/>
              </a:ext>
            </a:extLst>
          </p:cNvPr>
          <p:cNvGrpSpPr>
            <a:grpSpLocks/>
          </p:cNvGrpSpPr>
          <p:nvPr/>
        </p:nvGrpSpPr>
        <p:grpSpPr bwMode="auto">
          <a:xfrm>
            <a:off x="2114630" y="5772150"/>
            <a:ext cx="287338" cy="415925"/>
            <a:chOff x="311" y="3476"/>
            <a:chExt cx="181" cy="262"/>
          </a:xfrm>
        </p:grpSpPr>
        <p:sp>
          <p:nvSpPr>
            <p:cNvPr id="395" name="Rectangle 81">
              <a:extLst>
                <a:ext uri="{FF2B5EF4-FFF2-40B4-BE49-F238E27FC236}">
                  <a16:creationId xmlns:a16="http://schemas.microsoft.com/office/drawing/2014/main" id="{8660173D-C7B7-4E1B-A5B6-043018D77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3508"/>
              <a:ext cx="9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396" name="Text Box 82">
              <a:extLst>
                <a:ext uri="{FF2B5EF4-FFF2-40B4-BE49-F238E27FC236}">
                  <a16:creationId xmlns:a16="http://schemas.microsoft.com/office/drawing/2014/main" id="{331DC527-4F69-422E-819F-D6AAB2593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" y="3476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397" name="Group 83">
            <a:extLst>
              <a:ext uri="{FF2B5EF4-FFF2-40B4-BE49-F238E27FC236}">
                <a16:creationId xmlns:a16="http://schemas.microsoft.com/office/drawing/2014/main" id="{578C7ADB-31F3-47AD-9BC1-48FBD91F2B1C}"/>
              </a:ext>
            </a:extLst>
          </p:cNvPr>
          <p:cNvGrpSpPr>
            <a:grpSpLocks/>
          </p:cNvGrpSpPr>
          <p:nvPr/>
        </p:nvGrpSpPr>
        <p:grpSpPr bwMode="auto">
          <a:xfrm>
            <a:off x="3535443" y="5781675"/>
            <a:ext cx="290512" cy="436563"/>
            <a:chOff x="1206" y="3488"/>
            <a:chExt cx="183" cy="275"/>
          </a:xfrm>
        </p:grpSpPr>
        <p:sp>
          <p:nvSpPr>
            <p:cNvPr id="398" name="Rectangle 84">
              <a:extLst>
                <a:ext uri="{FF2B5EF4-FFF2-40B4-BE49-F238E27FC236}">
                  <a16:creationId xmlns:a16="http://schemas.microsoft.com/office/drawing/2014/main" id="{B7716AE4-F810-4AAE-A4EF-4FCABF2D4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3533"/>
              <a:ext cx="101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99" name="Text Box 85">
              <a:extLst>
                <a:ext uri="{FF2B5EF4-FFF2-40B4-BE49-F238E27FC236}">
                  <a16:creationId xmlns:a16="http://schemas.microsoft.com/office/drawing/2014/main" id="{0B302446-5195-4716-8E8B-45FAA73CE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" y="3488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400" name="Group 86">
            <a:extLst>
              <a:ext uri="{FF2B5EF4-FFF2-40B4-BE49-F238E27FC236}">
                <a16:creationId xmlns:a16="http://schemas.microsoft.com/office/drawing/2014/main" id="{701CBFDC-E28E-453B-B15A-3AD5F3C7786B}"/>
              </a:ext>
            </a:extLst>
          </p:cNvPr>
          <p:cNvGrpSpPr>
            <a:grpSpLocks/>
          </p:cNvGrpSpPr>
          <p:nvPr/>
        </p:nvGrpSpPr>
        <p:grpSpPr bwMode="auto">
          <a:xfrm>
            <a:off x="3962480" y="5781675"/>
            <a:ext cx="361950" cy="469900"/>
            <a:chOff x="1475" y="3488"/>
            <a:chExt cx="228" cy="296"/>
          </a:xfrm>
        </p:grpSpPr>
        <p:sp>
          <p:nvSpPr>
            <p:cNvPr id="401" name="Rectangle 87">
              <a:extLst>
                <a:ext uri="{FF2B5EF4-FFF2-40B4-BE49-F238E27FC236}">
                  <a16:creationId xmlns:a16="http://schemas.microsoft.com/office/drawing/2014/main" id="{2559A07E-2D49-4E26-988D-FF5B1F643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3554"/>
              <a:ext cx="97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402" name="Text Box 88">
              <a:extLst>
                <a:ext uri="{FF2B5EF4-FFF2-40B4-BE49-F238E27FC236}">
                  <a16:creationId xmlns:a16="http://schemas.microsoft.com/office/drawing/2014/main" id="{417D7B55-B8AF-45CC-A4BB-89F572CCD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" y="3488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sp>
        <p:nvSpPr>
          <p:cNvPr id="403" name="Text Box 89">
            <a:extLst>
              <a:ext uri="{FF2B5EF4-FFF2-40B4-BE49-F238E27FC236}">
                <a16:creationId xmlns:a16="http://schemas.microsoft.com/office/drawing/2014/main" id="{396361C8-355B-4677-AC76-8950A6D5D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385" y="282574"/>
            <a:ext cx="7019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/>
              <a:t>例</a:t>
            </a:r>
            <a:r>
              <a:rPr lang="en-US" altLang="zh-CN" sz="3200" dirty="0"/>
              <a:t>:</a:t>
            </a:r>
            <a:r>
              <a:rPr lang="zh-CN" altLang="en-US" sz="3200" dirty="0"/>
              <a:t>圆锥被正平面截切，补全主视图。</a:t>
            </a:r>
          </a:p>
        </p:txBody>
      </p:sp>
      <p:grpSp>
        <p:nvGrpSpPr>
          <p:cNvPr id="404" name="Group 93">
            <a:extLst>
              <a:ext uri="{FF2B5EF4-FFF2-40B4-BE49-F238E27FC236}">
                <a16:creationId xmlns:a16="http://schemas.microsoft.com/office/drawing/2014/main" id="{B54FE797-9ED1-41A8-A864-7C6A58EE8C1C}"/>
              </a:ext>
            </a:extLst>
          </p:cNvPr>
          <p:cNvGrpSpPr>
            <a:grpSpLocks/>
          </p:cNvGrpSpPr>
          <p:nvPr/>
        </p:nvGrpSpPr>
        <p:grpSpPr bwMode="auto">
          <a:xfrm>
            <a:off x="7882018" y="1168400"/>
            <a:ext cx="2068512" cy="2225675"/>
            <a:chOff x="4055" y="2280"/>
            <a:chExt cx="1303" cy="1402"/>
          </a:xfrm>
        </p:grpSpPr>
        <p:sp>
          <p:nvSpPr>
            <p:cNvPr id="405" name="Freeform 94">
              <a:extLst>
                <a:ext uri="{FF2B5EF4-FFF2-40B4-BE49-F238E27FC236}">
                  <a16:creationId xmlns:a16="http://schemas.microsoft.com/office/drawing/2014/main" id="{AB5E1C22-A088-4C7A-963F-04B5375D0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3015"/>
              <a:ext cx="879" cy="639"/>
            </a:xfrm>
            <a:custGeom>
              <a:avLst/>
              <a:gdLst>
                <a:gd name="T0" fmla="*/ 0 w 879"/>
                <a:gd name="T1" fmla="*/ 639 h 639"/>
                <a:gd name="T2" fmla="*/ 246 w 879"/>
                <a:gd name="T3" fmla="*/ 240 h 639"/>
                <a:gd name="T4" fmla="*/ 303 w 879"/>
                <a:gd name="T5" fmla="*/ 147 h 639"/>
                <a:gd name="T6" fmla="*/ 375 w 879"/>
                <a:gd name="T7" fmla="*/ 69 h 639"/>
                <a:gd name="T8" fmla="*/ 456 w 879"/>
                <a:gd name="T9" fmla="*/ 12 h 639"/>
                <a:gd name="T10" fmla="*/ 561 w 879"/>
                <a:gd name="T11" fmla="*/ 0 h 639"/>
                <a:gd name="T12" fmla="*/ 645 w 879"/>
                <a:gd name="T13" fmla="*/ 9 h 639"/>
                <a:gd name="T14" fmla="*/ 714 w 879"/>
                <a:gd name="T15" fmla="*/ 24 h 639"/>
                <a:gd name="T16" fmla="*/ 801 w 879"/>
                <a:gd name="T17" fmla="*/ 75 h 639"/>
                <a:gd name="T18" fmla="*/ 879 w 879"/>
                <a:gd name="T19" fmla="*/ 123 h 6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79"/>
                <a:gd name="T31" fmla="*/ 0 h 639"/>
                <a:gd name="T32" fmla="*/ 879 w 879"/>
                <a:gd name="T33" fmla="*/ 639 h 63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79" h="639">
                  <a:moveTo>
                    <a:pt x="0" y="639"/>
                  </a:moveTo>
                  <a:cubicBezTo>
                    <a:pt x="98" y="480"/>
                    <a:pt x="196" y="322"/>
                    <a:pt x="246" y="240"/>
                  </a:cubicBezTo>
                  <a:cubicBezTo>
                    <a:pt x="296" y="158"/>
                    <a:pt x="281" y="175"/>
                    <a:pt x="303" y="147"/>
                  </a:cubicBezTo>
                  <a:cubicBezTo>
                    <a:pt x="325" y="119"/>
                    <a:pt x="350" y="91"/>
                    <a:pt x="375" y="69"/>
                  </a:cubicBezTo>
                  <a:cubicBezTo>
                    <a:pt x="400" y="47"/>
                    <a:pt x="425" y="23"/>
                    <a:pt x="456" y="12"/>
                  </a:cubicBezTo>
                  <a:cubicBezTo>
                    <a:pt x="487" y="1"/>
                    <a:pt x="530" y="0"/>
                    <a:pt x="561" y="0"/>
                  </a:cubicBezTo>
                  <a:cubicBezTo>
                    <a:pt x="592" y="0"/>
                    <a:pt x="620" y="5"/>
                    <a:pt x="645" y="9"/>
                  </a:cubicBezTo>
                  <a:cubicBezTo>
                    <a:pt x="670" y="13"/>
                    <a:pt x="688" y="13"/>
                    <a:pt x="714" y="24"/>
                  </a:cubicBezTo>
                  <a:cubicBezTo>
                    <a:pt x="740" y="35"/>
                    <a:pt x="774" y="59"/>
                    <a:pt x="801" y="75"/>
                  </a:cubicBezTo>
                  <a:cubicBezTo>
                    <a:pt x="828" y="91"/>
                    <a:pt x="866" y="115"/>
                    <a:pt x="879" y="123"/>
                  </a:cubicBezTo>
                </a:path>
              </a:pathLst>
            </a:custGeom>
            <a:noFill/>
            <a:ln w="38100">
              <a:solidFill>
                <a:srgbClr val="FF33CC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" name="Freeform 95">
              <a:extLst>
                <a:ext uri="{FF2B5EF4-FFF2-40B4-BE49-F238E27FC236}">
                  <a16:creationId xmlns:a16="http://schemas.microsoft.com/office/drawing/2014/main" id="{866540AB-DBAC-4946-9DF3-880C1D85A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3147"/>
              <a:ext cx="846" cy="489"/>
            </a:xfrm>
            <a:custGeom>
              <a:avLst/>
              <a:gdLst>
                <a:gd name="T0" fmla="*/ 0 w 2846"/>
                <a:gd name="T1" fmla="*/ 0 h 1643"/>
                <a:gd name="T2" fmla="*/ 0 w 2846"/>
                <a:gd name="T3" fmla="*/ 0 h 1643"/>
                <a:gd name="T4" fmla="*/ 0 w 2846"/>
                <a:gd name="T5" fmla="*/ 0 h 1643"/>
                <a:gd name="T6" fmla="*/ 0 60000 65536"/>
                <a:gd name="T7" fmla="*/ 0 60000 65536"/>
                <a:gd name="T8" fmla="*/ 0 60000 65536"/>
                <a:gd name="T9" fmla="*/ 0 w 2846"/>
                <a:gd name="T10" fmla="*/ 0 h 1643"/>
                <a:gd name="T11" fmla="*/ 2846 w 2846"/>
                <a:gd name="T12" fmla="*/ 1643 h 16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46" h="1643">
                  <a:moveTo>
                    <a:pt x="2846" y="0"/>
                  </a:moveTo>
                  <a:lnTo>
                    <a:pt x="0" y="1643"/>
                  </a:lnTo>
                  <a:lnTo>
                    <a:pt x="1" y="1643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Freeform 96">
              <a:extLst>
                <a:ext uri="{FF2B5EF4-FFF2-40B4-BE49-F238E27FC236}">
                  <a16:creationId xmlns:a16="http://schemas.microsoft.com/office/drawing/2014/main" id="{D84F8F83-2785-4AC1-BF42-D834FDE93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2351"/>
              <a:ext cx="609" cy="790"/>
            </a:xfrm>
            <a:custGeom>
              <a:avLst/>
              <a:gdLst>
                <a:gd name="T0" fmla="*/ 0 w 1934"/>
                <a:gd name="T1" fmla="*/ 0 h 2505"/>
                <a:gd name="T2" fmla="*/ 0 w 1934"/>
                <a:gd name="T3" fmla="*/ 0 h 2505"/>
                <a:gd name="T4" fmla="*/ 0 w 1934"/>
                <a:gd name="T5" fmla="*/ 0 h 2505"/>
                <a:gd name="T6" fmla="*/ 0 60000 65536"/>
                <a:gd name="T7" fmla="*/ 0 60000 65536"/>
                <a:gd name="T8" fmla="*/ 0 60000 65536"/>
                <a:gd name="T9" fmla="*/ 0 w 1934"/>
                <a:gd name="T10" fmla="*/ 0 h 2505"/>
                <a:gd name="T11" fmla="*/ 1934 w 1934"/>
                <a:gd name="T12" fmla="*/ 2505 h 25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4" h="2505">
                  <a:moveTo>
                    <a:pt x="0" y="0"/>
                  </a:moveTo>
                  <a:lnTo>
                    <a:pt x="1932" y="2505"/>
                  </a:lnTo>
                  <a:lnTo>
                    <a:pt x="1934" y="2505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Freeform 97">
              <a:extLst>
                <a:ext uri="{FF2B5EF4-FFF2-40B4-BE49-F238E27FC236}">
                  <a16:creationId xmlns:a16="http://schemas.microsoft.com/office/drawing/2014/main" id="{5BB58B56-082B-4A94-97B7-14881C4B8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2342"/>
              <a:ext cx="582" cy="754"/>
            </a:xfrm>
            <a:custGeom>
              <a:avLst/>
              <a:gdLst>
                <a:gd name="T0" fmla="*/ 0 w 1933"/>
                <a:gd name="T1" fmla="*/ 0 h 2505"/>
                <a:gd name="T2" fmla="*/ 0 w 1933"/>
                <a:gd name="T3" fmla="*/ 0 h 2505"/>
                <a:gd name="T4" fmla="*/ 0 w 1933"/>
                <a:gd name="T5" fmla="*/ 0 h 2505"/>
                <a:gd name="T6" fmla="*/ 0 60000 65536"/>
                <a:gd name="T7" fmla="*/ 0 60000 65536"/>
                <a:gd name="T8" fmla="*/ 0 60000 65536"/>
                <a:gd name="T9" fmla="*/ 0 w 1933"/>
                <a:gd name="T10" fmla="*/ 0 h 2505"/>
                <a:gd name="T11" fmla="*/ 1933 w 1933"/>
                <a:gd name="T12" fmla="*/ 2505 h 25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3" h="2505">
                  <a:moveTo>
                    <a:pt x="1933" y="0"/>
                  </a:moveTo>
                  <a:lnTo>
                    <a:pt x="0" y="2505"/>
                  </a:lnTo>
                  <a:lnTo>
                    <a:pt x="1" y="2505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Freeform 98">
              <a:extLst>
                <a:ext uri="{FF2B5EF4-FFF2-40B4-BE49-F238E27FC236}">
                  <a16:creationId xmlns:a16="http://schemas.microsoft.com/office/drawing/2014/main" id="{855EE697-1ED3-4AAD-95E2-B967B57A0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" y="3096"/>
              <a:ext cx="356" cy="543"/>
            </a:xfrm>
            <a:custGeom>
              <a:avLst/>
              <a:gdLst>
                <a:gd name="T0" fmla="*/ 0 w 1197"/>
                <a:gd name="T1" fmla="*/ 0 h 1824"/>
                <a:gd name="T2" fmla="*/ 0 w 1197"/>
                <a:gd name="T3" fmla="*/ 0 h 1824"/>
                <a:gd name="T4" fmla="*/ 0 w 1197"/>
                <a:gd name="T5" fmla="*/ 0 h 1824"/>
                <a:gd name="T6" fmla="*/ 0 w 1197"/>
                <a:gd name="T7" fmla="*/ 0 h 1824"/>
                <a:gd name="T8" fmla="*/ 0 w 1197"/>
                <a:gd name="T9" fmla="*/ 0 h 1824"/>
                <a:gd name="T10" fmla="*/ 0 w 1197"/>
                <a:gd name="T11" fmla="*/ 0 h 1824"/>
                <a:gd name="T12" fmla="*/ 0 w 1197"/>
                <a:gd name="T13" fmla="*/ 0 h 1824"/>
                <a:gd name="T14" fmla="*/ 0 w 1197"/>
                <a:gd name="T15" fmla="*/ 0 h 1824"/>
                <a:gd name="T16" fmla="*/ 0 w 1197"/>
                <a:gd name="T17" fmla="*/ 0 h 1824"/>
                <a:gd name="T18" fmla="*/ 0 w 1197"/>
                <a:gd name="T19" fmla="*/ 0 h 18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97"/>
                <a:gd name="T31" fmla="*/ 0 h 1824"/>
                <a:gd name="T32" fmla="*/ 1197 w 1197"/>
                <a:gd name="T33" fmla="*/ 1824 h 18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97" h="1824">
                  <a:moveTo>
                    <a:pt x="214" y="0"/>
                  </a:moveTo>
                  <a:lnTo>
                    <a:pt x="66" y="250"/>
                  </a:lnTo>
                  <a:lnTo>
                    <a:pt x="0" y="513"/>
                  </a:lnTo>
                  <a:lnTo>
                    <a:pt x="14" y="780"/>
                  </a:lnTo>
                  <a:lnTo>
                    <a:pt x="111" y="1040"/>
                  </a:lnTo>
                  <a:lnTo>
                    <a:pt x="285" y="1283"/>
                  </a:lnTo>
                  <a:lnTo>
                    <a:pt x="531" y="1500"/>
                  </a:lnTo>
                  <a:lnTo>
                    <a:pt x="838" y="1682"/>
                  </a:lnTo>
                  <a:lnTo>
                    <a:pt x="1196" y="1824"/>
                  </a:lnTo>
                  <a:lnTo>
                    <a:pt x="1197" y="182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" name="Group 99">
              <a:extLst>
                <a:ext uri="{FF2B5EF4-FFF2-40B4-BE49-F238E27FC236}">
                  <a16:creationId xmlns:a16="http://schemas.microsoft.com/office/drawing/2014/main" id="{29493C08-E362-4629-A65D-16B32A7DF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3" y="2280"/>
              <a:ext cx="1" cy="1072"/>
              <a:chOff x="4693" y="2280"/>
              <a:chExt cx="1" cy="1072"/>
            </a:xfrm>
          </p:grpSpPr>
          <p:sp>
            <p:nvSpPr>
              <p:cNvPr id="431" name="Freeform 100">
                <a:extLst>
                  <a:ext uri="{FF2B5EF4-FFF2-40B4-BE49-F238E27FC236}">
                    <a16:creationId xmlns:a16="http://schemas.microsoft.com/office/drawing/2014/main" id="{AB2A9AD7-8C91-4398-B504-7E1A09553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3008"/>
                <a:ext cx="1" cy="344"/>
              </a:xfrm>
              <a:custGeom>
                <a:avLst/>
                <a:gdLst>
                  <a:gd name="T0" fmla="*/ 0 w 1"/>
                  <a:gd name="T1" fmla="*/ 0 h 1160"/>
                  <a:gd name="T2" fmla="*/ 0 w 1"/>
                  <a:gd name="T3" fmla="*/ 0 h 1160"/>
                  <a:gd name="T4" fmla="*/ 1 w 1"/>
                  <a:gd name="T5" fmla="*/ 0 h 116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60"/>
                  <a:gd name="T11" fmla="*/ 1 w 1"/>
                  <a:gd name="T12" fmla="*/ 1160 h 1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60">
                    <a:moveTo>
                      <a:pt x="0" y="0"/>
                    </a:moveTo>
                    <a:lnTo>
                      <a:pt x="0" y="1160"/>
                    </a:lnTo>
                    <a:lnTo>
                      <a:pt x="1" y="116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" name="Freeform 101">
                <a:extLst>
                  <a:ext uri="{FF2B5EF4-FFF2-40B4-BE49-F238E27FC236}">
                    <a16:creationId xmlns:a16="http://schemas.microsoft.com/office/drawing/2014/main" id="{CFEB08AC-BE57-4BF7-A4CC-E65BC3E5B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2280"/>
                <a:ext cx="1" cy="202"/>
              </a:xfrm>
              <a:custGeom>
                <a:avLst/>
                <a:gdLst>
                  <a:gd name="T0" fmla="*/ 0 w 1"/>
                  <a:gd name="T1" fmla="*/ 0 h 677"/>
                  <a:gd name="T2" fmla="*/ 0 w 1"/>
                  <a:gd name="T3" fmla="*/ 0 h 677"/>
                  <a:gd name="T4" fmla="*/ 1 w 1"/>
                  <a:gd name="T5" fmla="*/ 0 h 6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7"/>
                  <a:gd name="T11" fmla="*/ 1 w 1"/>
                  <a:gd name="T12" fmla="*/ 677 h 6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7">
                    <a:moveTo>
                      <a:pt x="0" y="0"/>
                    </a:moveTo>
                    <a:lnTo>
                      <a:pt x="0" y="677"/>
                    </a:lnTo>
                    <a:lnTo>
                      <a:pt x="1" y="67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3" name="Freeform 102">
                <a:extLst>
                  <a:ext uri="{FF2B5EF4-FFF2-40B4-BE49-F238E27FC236}">
                    <a16:creationId xmlns:a16="http://schemas.microsoft.com/office/drawing/2014/main" id="{69F2DE67-A750-4DDD-B767-2EEDB416B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2574"/>
                <a:ext cx="1" cy="340"/>
              </a:xfrm>
              <a:custGeom>
                <a:avLst/>
                <a:gdLst>
                  <a:gd name="T0" fmla="*/ 0 w 1"/>
                  <a:gd name="T1" fmla="*/ 0 h 1144"/>
                  <a:gd name="T2" fmla="*/ 0 w 1"/>
                  <a:gd name="T3" fmla="*/ 0 h 1144"/>
                  <a:gd name="T4" fmla="*/ 1 w 1"/>
                  <a:gd name="T5" fmla="*/ 0 h 11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44"/>
                  <a:gd name="T11" fmla="*/ 1 w 1"/>
                  <a:gd name="T12" fmla="*/ 1144 h 1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44">
                    <a:moveTo>
                      <a:pt x="0" y="0"/>
                    </a:moveTo>
                    <a:lnTo>
                      <a:pt x="0" y="1144"/>
                    </a:lnTo>
                    <a:lnTo>
                      <a:pt x="1" y="1144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4" name="Freeform 103">
                <a:extLst>
                  <a:ext uri="{FF2B5EF4-FFF2-40B4-BE49-F238E27FC236}">
                    <a16:creationId xmlns:a16="http://schemas.microsoft.com/office/drawing/2014/main" id="{B6C5A431-8BA7-441E-A7C6-8ED717570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2956"/>
                <a:ext cx="1" cy="15"/>
              </a:xfrm>
              <a:custGeom>
                <a:avLst/>
                <a:gdLst>
                  <a:gd name="T0" fmla="*/ 0 w 1"/>
                  <a:gd name="T1" fmla="*/ 0 h 47"/>
                  <a:gd name="T2" fmla="*/ 0 w 1"/>
                  <a:gd name="T3" fmla="*/ 0 h 47"/>
                  <a:gd name="T4" fmla="*/ 1 w 1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"/>
                  <a:gd name="T11" fmla="*/ 1 w 1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">
                    <a:moveTo>
                      <a:pt x="0" y="0"/>
                    </a:moveTo>
                    <a:lnTo>
                      <a:pt x="0" y="47"/>
                    </a:lnTo>
                    <a:lnTo>
                      <a:pt x="1" y="4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5" name="Freeform 104">
                <a:extLst>
                  <a:ext uri="{FF2B5EF4-FFF2-40B4-BE49-F238E27FC236}">
                    <a16:creationId xmlns:a16="http://schemas.microsoft.com/office/drawing/2014/main" id="{A21EFD2F-56F6-4E64-B4F5-C7EBBD12F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2519"/>
                <a:ext cx="1" cy="19"/>
              </a:xfrm>
              <a:custGeom>
                <a:avLst/>
                <a:gdLst>
                  <a:gd name="T0" fmla="*/ 0 w 1"/>
                  <a:gd name="T1" fmla="*/ 0 h 63"/>
                  <a:gd name="T2" fmla="*/ 0 w 1"/>
                  <a:gd name="T3" fmla="*/ 0 h 63"/>
                  <a:gd name="T4" fmla="*/ 1 w 1"/>
                  <a:gd name="T5" fmla="*/ 0 h 6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3"/>
                  <a:gd name="T11" fmla="*/ 1 w 1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3">
                    <a:moveTo>
                      <a:pt x="0" y="0"/>
                    </a:moveTo>
                    <a:lnTo>
                      <a:pt x="0" y="63"/>
                    </a:lnTo>
                    <a:lnTo>
                      <a:pt x="1" y="63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1" name="Group 105">
              <a:extLst>
                <a:ext uri="{FF2B5EF4-FFF2-40B4-BE49-F238E27FC236}">
                  <a16:creationId xmlns:a16="http://schemas.microsoft.com/office/drawing/2014/main" id="{C6F106FC-8D82-4058-A1CD-B90BC8A391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9" y="3153"/>
              <a:ext cx="894" cy="529"/>
              <a:chOff x="4439" y="3153"/>
              <a:chExt cx="894" cy="529"/>
            </a:xfrm>
          </p:grpSpPr>
          <p:sp>
            <p:nvSpPr>
              <p:cNvPr id="424" name="Freeform 106">
                <a:extLst>
                  <a:ext uri="{FF2B5EF4-FFF2-40B4-BE49-F238E27FC236}">
                    <a16:creationId xmlns:a16="http://schemas.microsoft.com/office/drawing/2014/main" id="{85866FD8-CBD6-45E0-849E-766EBFB2E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3647"/>
                <a:ext cx="192" cy="32"/>
              </a:xfrm>
              <a:custGeom>
                <a:avLst/>
                <a:gdLst>
                  <a:gd name="T0" fmla="*/ 0 w 645"/>
                  <a:gd name="T1" fmla="*/ 0 h 107"/>
                  <a:gd name="T2" fmla="*/ 0 w 645"/>
                  <a:gd name="T3" fmla="*/ 0 h 107"/>
                  <a:gd name="T4" fmla="*/ 0 w 645"/>
                  <a:gd name="T5" fmla="*/ 0 h 107"/>
                  <a:gd name="T6" fmla="*/ 0 w 645"/>
                  <a:gd name="T7" fmla="*/ 0 h 10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45"/>
                  <a:gd name="T13" fmla="*/ 0 h 107"/>
                  <a:gd name="T14" fmla="*/ 645 w 645"/>
                  <a:gd name="T15" fmla="*/ 107 h 10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45" h="107">
                    <a:moveTo>
                      <a:pt x="0" y="0"/>
                    </a:moveTo>
                    <a:lnTo>
                      <a:pt x="316" y="69"/>
                    </a:lnTo>
                    <a:lnTo>
                      <a:pt x="644" y="107"/>
                    </a:lnTo>
                    <a:lnTo>
                      <a:pt x="645" y="107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5" name="Freeform 107">
                <a:extLst>
                  <a:ext uri="{FF2B5EF4-FFF2-40B4-BE49-F238E27FC236}">
                    <a16:creationId xmlns:a16="http://schemas.microsoft.com/office/drawing/2014/main" id="{D62C2F6B-3EFC-4998-BEF4-4B7C95952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" y="3680"/>
                <a:ext cx="23" cy="1"/>
              </a:xfrm>
              <a:custGeom>
                <a:avLst/>
                <a:gdLst>
                  <a:gd name="T0" fmla="*/ 0 w 80"/>
                  <a:gd name="T1" fmla="*/ 0 h 3"/>
                  <a:gd name="T2" fmla="*/ 0 w 80"/>
                  <a:gd name="T3" fmla="*/ 0 h 3"/>
                  <a:gd name="T4" fmla="*/ 0 w 80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"/>
                  <a:gd name="T11" fmla="*/ 80 w 80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">
                    <a:moveTo>
                      <a:pt x="0" y="3"/>
                    </a:moveTo>
                    <a:lnTo>
                      <a:pt x="79" y="0"/>
                    </a:lnTo>
                    <a:lnTo>
                      <a:pt x="8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6" name="Freeform 108">
                <a:extLst>
                  <a:ext uri="{FF2B5EF4-FFF2-40B4-BE49-F238E27FC236}">
                    <a16:creationId xmlns:a16="http://schemas.microsoft.com/office/drawing/2014/main" id="{B7D443F3-9EB4-4180-979B-67ED55103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681"/>
                <a:ext cx="19" cy="1"/>
              </a:xfrm>
              <a:custGeom>
                <a:avLst/>
                <a:gdLst>
                  <a:gd name="T0" fmla="*/ 0 w 64"/>
                  <a:gd name="T1" fmla="*/ 0 h 1"/>
                  <a:gd name="T2" fmla="*/ 0 w 64"/>
                  <a:gd name="T3" fmla="*/ 1 h 1"/>
                  <a:gd name="T4" fmla="*/ 0 w 64"/>
                  <a:gd name="T5" fmla="*/ 1 h 1"/>
                  <a:gd name="T6" fmla="*/ 0 60000 65536"/>
                  <a:gd name="T7" fmla="*/ 0 60000 65536"/>
                  <a:gd name="T8" fmla="*/ 0 60000 65536"/>
                  <a:gd name="T9" fmla="*/ 0 w 64"/>
                  <a:gd name="T10" fmla="*/ 0 h 1"/>
                  <a:gd name="T11" fmla="*/ 64 w 6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" h="1">
                    <a:moveTo>
                      <a:pt x="0" y="0"/>
                    </a:moveTo>
                    <a:lnTo>
                      <a:pt x="63" y="1"/>
                    </a:lnTo>
                    <a:lnTo>
                      <a:pt x="64" y="1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7" name="Freeform 109">
                <a:extLst>
                  <a:ext uri="{FF2B5EF4-FFF2-40B4-BE49-F238E27FC236}">
                    <a16:creationId xmlns:a16="http://schemas.microsoft.com/office/drawing/2014/main" id="{41723EE0-1743-4293-B931-FABA342E2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5" y="3469"/>
                <a:ext cx="480" cy="208"/>
              </a:xfrm>
              <a:custGeom>
                <a:avLst/>
                <a:gdLst>
                  <a:gd name="T0" fmla="*/ 0 w 1615"/>
                  <a:gd name="T1" fmla="*/ 0 h 700"/>
                  <a:gd name="T2" fmla="*/ 0 w 1615"/>
                  <a:gd name="T3" fmla="*/ 0 h 700"/>
                  <a:gd name="T4" fmla="*/ 0 w 1615"/>
                  <a:gd name="T5" fmla="*/ 0 h 700"/>
                  <a:gd name="T6" fmla="*/ 0 w 1615"/>
                  <a:gd name="T7" fmla="*/ 0 h 700"/>
                  <a:gd name="T8" fmla="*/ 0 w 1615"/>
                  <a:gd name="T9" fmla="*/ 0 h 700"/>
                  <a:gd name="T10" fmla="*/ 0 w 1615"/>
                  <a:gd name="T11" fmla="*/ 0 h 700"/>
                  <a:gd name="T12" fmla="*/ 0 w 1615"/>
                  <a:gd name="T13" fmla="*/ 0 h 7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5"/>
                  <a:gd name="T22" fmla="*/ 0 h 700"/>
                  <a:gd name="T23" fmla="*/ 1615 w 1615"/>
                  <a:gd name="T24" fmla="*/ 700 h 7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5" h="700">
                    <a:moveTo>
                      <a:pt x="0" y="700"/>
                    </a:moveTo>
                    <a:lnTo>
                      <a:pt x="396" y="643"/>
                    </a:lnTo>
                    <a:lnTo>
                      <a:pt x="767" y="540"/>
                    </a:lnTo>
                    <a:lnTo>
                      <a:pt x="1102" y="395"/>
                    </a:lnTo>
                    <a:lnTo>
                      <a:pt x="1388" y="213"/>
                    </a:lnTo>
                    <a:lnTo>
                      <a:pt x="1614" y="0"/>
                    </a:lnTo>
                    <a:lnTo>
                      <a:pt x="1615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" name="Freeform 110">
                <a:extLst>
                  <a:ext uri="{FF2B5EF4-FFF2-40B4-BE49-F238E27FC236}">
                    <a16:creationId xmlns:a16="http://schemas.microsoft.com/office/drawing/2014/main" id="{849BCC1C-ED3A-470B-9571-6192294D2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7" y="3426"/>
                <a:ext cx="11" cy="16"/>
              </a:xfrm>
              <a:custGeom>
                <a:avLst/>
                <a:gdLst>
                  <a:gd name="T0" fmla="*/ 0 w 35"/>
                  <a:gd name="T1" fmla="*/ 0 h 51"/>
                  <a:gd name="T2" fmla="*/ 0 w 35"/>
                  <a:gd name="T3" fmla="*/ 0 h 51"/>
                  <a:gd name="T4" fmla="*/ 0 w 35"/>
                  <a:gd name="T5" fmla="*/ 0 h 51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51"/>
                  <a:gd name="T11" fmla="*/ 35 w 35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51">
                    <a:moveTo>
                      <a:pt x="0" y="51"/>
                    </a:moveTo>
                    <a:lnTo>
                      <a:pt x="33" y="0"/>
                    </a:lnTo>
                    <a:lnTo>
                      <a:pt x="35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9" name="Freeform 111">
                <a:extLst>
                  <a:ext uri="{FF2B5EF4-FFF2-40B4-BE49-F238E27FC236}">
                    <a16:creationId xmlns:a16="http://schemas.microsoft.com/office/drawing/2014/main" id="{22C66CDE-AB61-4971-A484-5B2DCE861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4" y="3153"/>
                <a:ext cx="29" cy="183"/>
              </a:xfrm>
              <a:custGeom>
                <a:avLst/>
                <a:gdLst>
                  <a:gd name="T0" fmla="*/ 0 w 99"/>
                  <a:gd name="T1" fmla="*/ 0 h 618"/>
                  <a:gd name="T2" fmla="*/ 0 w 99"/>
                  <a:gd name="T3" fmla="*/ 0 h 618"/>
                  <a:gd name="T4" fmla="*/ 0 w 99"/>
                  <a:gd name="T5" fmla="*/ 0 h 618"/>
                  <a:gd name="T6" fmla="*/ 0 w 99"/>
                  <a:gd name="T7" fmla="*/ 0 h 618"/>
                  <a:gd name="T8" fmla="*/ 0 w 99"/>
                  <a:gd name="T9" fmla="*/ 0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18"/>
                  <a:gd name="T17" fmla="*/ 99 w 99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18">
                    <a:moveTo>
                      <a:pt x="75" y="618"/>
                    </a:moveTo>
                    <a:lnTo>
                      <a:pt x="99" y="410"/>
                    </a:lnTo>
                    <a:lnTo>
                      <a:pt x="75" y="203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" name="Freeform 112">
                <a:extLst>
                  <a:ext uri="{FF2B5EF4-FFF2-40B4-BE49-F238E27FC236}">
                    <a16:creationId xmlns:a16="http://schemas.microsoft.com/office/drawing/2014/main" id="{1258162D-39B5-452C-B796-78B143F37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" y="3371"/>
                <a:ext cx="9" cy="19"/>
              </a:xfrm>
              <a:custGeom>
                <a:avLst/>
                <a:gdLst>
                  <a:gd name="T0" fmla="*/ 0 w 28"/>
                  <a:gd name="T1" fmla="*/ 0 h 63"/>
                  <a:gd name="T2" fmla="*/ 0 w 28"/>
                  <a:gd name="T3" fmla="*/ 0 h 63"/>
                  <a:gd name="T4" fmla="*/ 0 w 28"/>
                  <a:gd name="T5" fmla="*/ 0 h 63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63"/>
                  <a:gd name="T11" fmla="*/ 28 w 28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63">
                    <a:moveTo>
                      <a:pt x="0" y="63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2" name="Group 113">
              <a:extLst>
                <a:ext uri="{FF2B5EF4-FFF2-40B4-BE49-F238E27FC236}">
                  <a16:creationId xmlns:a16="http://schemas.microsoft.com/office/drawing/2014/main" id="{A9CCB732-48B0-4B60-ABB9-E25F1ECBD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3" y="2896"/>
              <a:ext cx="1225" cy="692"/>
              <a:chOff x="4133" y="2896"/>
              <a:chExt cx="1225" cy="692"/>
            </a:xfrm>
          </p:grpSpPr>
          <p:sp>
            <p:nvSpPr>
              <p:cNvPr id="413" name="Freeform 114">
                <a:extLst>
                  <a:ext uri="{FF2B5EF4-FFF2-40B4-BE49-F238E27FC236}">
                    <a16:creationId xmlns:a16="http://schemas.microsoft.com/office/drawing/2014/main" id="{6CF1D562-539E-4D1B-908E-0E571FAC8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9" y="3232"/>
                <a:ext cx="329" cy="189"/>
              </a:xfrm>
              <a:custGeom>
                <a:avLst/>
                <a:gdLst>
                  <a:gd name="T0" fmla="*/ 0 w 1106"/>
                  <a:gd name="T1" fmla="*/ 0 h 638"/>
                  <a:gd name="T2" fmla="*/ 0 w 1106"/>
                  <a:gd name="T3" fmla="*/ 0 h 638"/>
                  <a:gd name="T4" fmla="*/ 0 w 1106"/>
                  <a:gd name="T5" fmla="*/ 0 h 638"/>
                  <a:gd name="T6" fmla="*/ 0 60000 65536"/>
                  <a:gd name="T7" fmla="*/ 0 60000 65536"/>
                  <a:gd name="T8" fmla="*/ 0 60000 65536"/>
                  <a:gd name="T9" fmla="*/ 0 w 1106"/>
                  <a:gd name="T10" fmla="*/ 0 h 638"/>
                  <a:gd name="T11" fmla="*/ 1106 w 1106"/>
                  <a:gd name="T12" fmla="*/ 638 h 6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6" h="638">
                    <a:moveTo>
                      <a:pt x="0" y="0"/>
                    </a:moveTo>
                    <a:lnTo>
                      <a:pt x="1105" y="638"/>
                    </a:lnTo>
                    <a:lnTo>
                      <a:pt x="1106" y="63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" name="Freeform 115">
                <a:extLst>
                  <a:ext uri="{FF2B5EF4-FFF2-40B4-BE49-F238E27FC236}">
                    <a16:creationId xmlns:a16="http://schemas.microsoft.com/office/drawing/2014/main" id="{5287BF66-C9FB-4FDF-9062-434C1116E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3160"/>
                <a:ext cx="387" cy="223"/>
              </a:xfrm>
              <a:custGeom>
                <a:avLst/>
                <a:gdLst>
                  <a:gd name="T0" fmla="*/ 0 w 1302"/>
                  <a:gd name="T1" fmla="*/ 0 h 751"/>
                  <a:gd name="T2" fmla="*/ 0 w 1302"/>
                  <a:gd name="T3" fmla="*/ 0 h 751"/>
                  <a:gd name="T4" fmla="*/ 0 w 1302"/>
                  <a:gd name="T5" fmla="*/ 0 h 751"/>
                  <a:gd name="T6" fmla="*/ 0 60000 65536"/>
                  <a:gd name="T7" fmla="*/ 0 60000 65536"/>
                  <a:gd name="T8" fmla="*/ 0 60000 65536"/>
                  <a:gd name="T9" fmla="*/ 0 w 1302"/>
                  <a:gd name="T10" fmla="*/ 0 h 751"/>
                  <a:gd name="T11" fmla="*/ 1302 w 1302"/>
                  <a:gd name="T12" fmla="*/ 751 h 7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2" h="751">
                    <a:moveTo>
                      <a:pt x="1302" y="0"/>
                    </a:moveTo>
                    <a:lnTo>
                      <a:pt x="0" y="751"/>
                    </a:lnTo>
                    <a:lnTo>
                      <a:pt x="2" y="751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Freeform 116">
                <a:extLst>
                  <a:ext uri="{FF2B5EF4-FFF2-40B4-BE49-F238E27FC236}">
                    <a16:creationId xmlns:a16="http://schemas.microsoft.com/office/drawing/2014/main" id="{38AFB93D-98DA-4F41-8512-14CD6A2FD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2951"/>
                <a:ext cx="289" cy="167"/>
              </a:xfrm>
              <a:custGeom>
                <a:avLst/>
                <a:gdLst>
                  <a:gd name="T0" fmla="*/ 0 w 970"/>
                  <a:gd name="T1" fmla="*/ 0 h 560"/>
                  <a:gd name="T2" fmla="*/ 0 w 970"/>
                  <a:gd name="T3" fmla="*/ 0 h 560"/>
                  <a:gd name="T4" fmla="*/ 0 w 970"/>
                  <a:gd name="T5" fmla="*/ 0 h 560"/>
                  <a:gd name="T6" fmla="*/ 0 60000 65536"/>
                  <a:gd name="T7" fmla="*/ 0 60000 65536"/>
                  <a:gd name="T8" fmla="*/ 0 60000 65536"/>
                  <a:gd name="T9" fmla="*/ 0 w 970"/>
                  <a:gd name="T10" fmla="*/ 0 h 560"/>
                  <a:gd name="T11" fmla="*/ 970 w 970"/>
                  <a:gd name="T12" fmla="*/ 560 h 5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0" h="560">
                    <a:moveTo>
                      <a:pt x="0" y="0"/>
                    </a:moveTo>
                    <a:lnTo>
                      <a:pt x="969" y="560"/>
                    </a:lnTo>
                    <a:lnTo>
                      <a:pt x="970" y="56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Freeform 117">
                <a:extLst>
                  <a:ext uri="{FF2B5EF4-FFF2-40B4-BE49-F238E27FC236}">
                    <a16:creationId xmlns:a16="http://schemas.microsoft.com/office/drawing/2014/main" id="{30282B01-DE37-49E6-9DAE-78BE2A481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" y="3434"/>
                <a:ext cx="268" cy="154"/>
              </a:xfrm>
              <a:custGeom>
                <a:avLst/>
                <a:gdLst>
                  <a:gd name="T0" fmla="*/ 0 w 900"/>
                  <a:gd name="T1" fmla="*/ 0 h 520"/>
                  <a:gd name="T2" fmla="*/ 0 w 900"/>
                  <a:gd name="T3" fmla="*/ 0 h 520"/>
                  <a:gd name="T4" fmla="*/ 0 w 900"/>
                  <a:gd name="T5" fmla="*/ 0 h 520"/>
                  <a:gd name="T6" fmla="*/ 0 60000 65536"/>
                  <a:gd name="T7" fmla="*/ 0 60000 65536"/>
                  <a:gd name="T8" fmla="*/ 0 60000 65536"/>
                  <a:gd name="T9" fmla="*/ 0 w 900"/>
                  <a:gd name="T10" fmla="*/ 0 h 520"/>
                  <a:gd name="T11" fmla="*/ 900 w 900"/>
                  <a:gd name="T12" fmla="*/ 520 h 5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00" h="520">
                    <a:moveTo>
                      <a:pt x="900" y="0"/>
                    </a:moveTo>
                    <a:lnTo>
                      <a:pt x="0" y="520"/>
                    </a:lnTo>
                    <a:lnTo>
                      <a:pt x="1" y="52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" name="Freeform 118">
                <a:extLst>
                  <a:ext uri="{FF2B5EF4-FFF2-40B4-BE49-F238E27FC236}">
                    <a16:creationId xmlns:a16="http://schemas.microsoft.com/office/drawing/2014/main" id="{0771A953-3CE0-4F86-A921-9B9130414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3402"/>
                <a:ext cx="20" cy="12"/>
              </a:xfrm>
              <a:custGeom>
                <a:avLst/>
                <a:gdLst>
                  <a:gd name="T0" fmla="*/ 0 w 65"/>
                  <a:gd name="T1" fmla="*/ 0 h 39"/>
                  <a:gd name="T2" fmla="*/ 0 w 65"/>
                  <a:gd name="T3" fmla="*/ 0 h 39"/>
                  <a:gd name="T4" fmla="*/ 0 w 65"/>
                  <a:gd name="T5" fmla="*/ 0 h 39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39"/>
                  <a:gd name="T11" fmla="*/ 65 w 65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39">
                    <a:moveTo>
                      <a:pt x="65" y="0"/>
                    </a:moveTo>
                    <a:lnTo>
                      <a:pt x="0" y="39"/>
                    </a:lnTo>
                    <a:lnTo>
                      <a:pt x="1" y="39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" name="Freeform 119">
                <a:extLst>
                  <a:ext uri="{FF2B5EF4-FFF2-40B4-BE49-F238E27FC236}">
                    <a16:creationId xmlns:a16="http://schemas.microsoft.com/office/drawing/2014/main" id="{78163292-A2F4-4F10-9BE7-CCFE4DA0B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8" y="3140"/>
                <a:ext cx="26" cy="14"/>
              </a:xfrm>
              <a:custGeom>
                <a:avLst/>
                <a:gdLst>
                  <a:gd name="T0" fmla="*/ 0 w 87"/>
                  <a:gd name="T1" fmla="*/ 0 h 49"/>
                  <a:gd name="T2" fmla="*/ 0 w 87"/>
                  <a:gd name="T3" fmla="*/ 0 h 49"/>
                  <a:gd name="T4" fmla="*/ 0 w 87"/>
                  <a:gd name="T5" fmla="*/ 0 h 49"/>
                  <a:gd name="T6" fmla="*/ 0 60000 65536"/>
                  <a:gd name="T7" fmla="*/ 0 60000 65536"/>
                  <a:gd name="T8" fmla="*/ 0 60000 65536"/>
                  <a:gd name="T9" fmla="*/ 0 w 87"/>
                  <a:gd name="T10" fmla="*/ 0 h 49"/>
                  <a:gd name="T11" fmla="*/ 87 w 87"/>
                  <a:gd name="T12" fmla="*/ 49 h 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" h="49">
                    <a:moveTo>
                      <a:pt x="0" y="0"/>
                    </a:moveTo>
                    <a:lnTo>
                      <a:pt x="86" y="49"/>
                    </a:lnTo>
                    <a:lnTo>
                      <a:pt x="87" y="49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" name="Freeform 120">
                <a:extLst>
                  <a:ext uri="{FF2B5EF4-FFF2-40B4-BE49-F238E27FC236}">
                    <a16:creationId xmlns:a16="http://schemas.microsoft.com/office/drawing/2014/main" id="{7137ACC7-366C-4607-9348-9337590A2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3174"/>
                <a:ext cx="22" cy="13"/>
              </a:xfrm>
              <a:custGeom>
                <a:avLst/>
                <a:gdLst>
                  <a:gd name="T0" fmla="*/ 0 w 77"/>
                  <a:gd name="T1" fmla="*/ 0 h 43"/>
                  <a:gd name="T2" fmla="*/ 0 w 77"/>
                  <a:gd name="T3" fmla="*/ 0 h 43"/>
                  <a:gd name="T4" fmla="*/ 0 w 77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77"/>
                  <a:gd name="T10" fmla="*/ 0 h 43"/>
                  <a:gd name="T11" fmla="*/ 77 w 77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" h="43">
                    <a:moveTo>
                      <a:pt x="0" y="0"/>
                    </a:moveTo>
                    <a:lnTo>
                      <a:pt x="76" y="43"/>
                    </a:lnTo>
                    <a:lnTo>
                      <a:pt x="77" y="43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" name="Freeform 121">
                <a:extLst>
                  <a:ext uri="{FF2B5EF4-FFF2-40B4-BE49-F238E27FC236}">
                    <a16:creationId xmlns:a16="http://schemas.microsoft.com/office/drawing/2014/main" id="{6240DBBB-89F6-4B38-94F8-368A56024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1" y="3469"/>
                <a:ext cx="205" cy="119"/>
              </a:xfrm>
              <a:custGeom>
                <a:avLst/>
                <a:gdLst>
                  <a:gd name="T0" fmla="*/ 0 w 692"/>
                  <a:gd name="T1" fmla="*/ 0 h 399"/>
                  <a:gd name="T2" fmla="*/ 0 w 692"/>
                  <a:gd name="T3" fmla="*/ 0 h 399"/>
                  <a:gd name="T4" fmla="*/ 0 w 692"/>
                  <a:gd name="T5" fmla="*/ 0 h 399"/>
                  <a:gd name="T6" fmla="*/ 0 60000 65536"/>
                  <a:gd name="T7" fmla="*/ 0 60000 65536"/>
                  <a:gd name="T8" fmla="*/ 0 60000 65536"/>
                  <a:gd name="T9" fmla="*/ 0 w 692"/>
                  <a:gd name="T10" fmla="*/ 0 h 399"/>
                  <a:gd name="T11" fmla="*/ 692 w 692"/>
                  <a:gd name="T12" fmla="*/ 399 h 3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2" h="399">
                    <a:moveTo>
                      <a:pt x="0" y="0"/>
                    </a:moveTo>
                    <a:lnTo>
                      <a:pt x="690" y="399"/>
                    </a:lnTo>
                    <a:lnTo>
                      <a:pt x="692" y="399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1" name="Freeform 122">
                <a:extLst>
                  <a:ext uri="{FF2B5EF4-FFF2-40B4-BE49-F238E27FC236}">
                    <a16:creationId xmlns:a16="http://schemas.microsoft.com/office/drawing/2014/main" id="{0D207C9C-4DCD-45CA-9720-309E93FA2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1" y="3441"/>
                <a:ext cx="17" cy="10"/>
              </a:xfrm>
              <a:custGeom>
                <a:avLst/>
                <a:gdLst>
                  <a:gd name="T0" fmla="*/ 0 w 61"/>
                  <a:gd name="T1" fmla="*/ 0 h 34"/>
                  <a:gd name="T2" fmla="*/ 0 w 61"/>
                  <a:gd name="T3" fmla="*/ 0 h 34"/>
                  <a:gd name="T4" fmla="*/ 0 w 61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61"/>
                  <a:gd name="T10" fmla="*/ 0 h 34"/>
                  <a:gd name="T11" fmla="*/ 61 w 61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1" h="34">
                    <a:moveTo>
                      <a:pt x="0" y="0"/>
                    </a:moveTo>
                    <a:lnTo>
                      <a:pt x="60" y="34"/>
                    </a:lnTo>
                    <a:lnTo>
                      <a:pt x="61" y="3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2" name="Freeform 123">
                <a:extLst>
                  <a:ext uri="{FF2B5EF4-FFF2-40B4-BE49-F238E27FC236}">
                    <a16:creationId xmlns:a16="http://schemas.microsoft.com/office/drawing/2014/main" id="{3252296A-752D-4C16-8C9A-D67A6CA80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3" y="3128"/>
                <a:ext cx="24" cy="14"/>
              </a:xfrm>
              <a:custGeom>
                <a:avLst/>
                <a:gdLst>
                  <a:gd name="T0" fmla="*/ 0 w 78"/>
                  <a:gd name="T1" fmla="*/ 0 h 46"/>
                  <a:gd name="T2" fmla="*/ 0 w 78"/>
                  <a:gd name="T3" fmla="*/ 0 h 46"/>
                  <a:gd name="T4" fmla="*/ 0 w 78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78"/>
                  <a:gd name="T10" fmla="*/ 0 h 46"/>
                  <a:gd name="T11" fmla="*/ 78 w 78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" h="46">
                    <a:moveTo>
                      <a:pt x="78" y="0"/>
                    </a:moveTo>
                    <a:lnTo>
                      <a:pt x="0" y="46"/>
                    </a:lnTo>
                    <a:lnTo>
                      <a:pt x="1" y="46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3" name="Freeform 124">
                <a:extLst>
                  <a:ext uri="{FF2B5EF4-FFF2-40B4-BE49-F238E27FC236}">
                    <a16:creationId xmlns:a16="http://schemas.microsoft.com/office/drawing/2014/main" id="{C4EECB93-3737-45C0-AE28-E5865EB95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1" y="2896"/>
                <a:ext cx="387" cy="223"/>
              </a:xfrm>
              <a:custGeom>
                <a:avLst/>
                <a:gdLst>
                  <a:gd name="T0" fmla="*/ 0 w 1302"/>
                  <a:gd name="T1" fmla="*/ 0 h 751"/>
                  <a:gd name="T2" fmla="*/ 0 w 1302"/>
                  <a:gd name="T3" fmla="*/ 0 h 751"/>
                  <a:gd name="T4" fmla="*/ 0 w 1302"/>
                  <a:gd name="T5" fmla="*/ 0 h 751"/>
                  <a:gd name="T6" fmla="*/ 0 60000 65536"/>
                  <a:gd name="T7" fmla="*/ 0 60000 65536"/>
                  <a:gd name="T8" fmla="*/ 0 60000 65536"/>
                  <a:gd name="T9" fmla="*/ 0 w 1302"/>
                  <a:gd name="T10" fmla="*/ 0 h 751"/>
                  <a:gd name="T11" fmla="*/ 1302 w 1302"/>
                  <a:gd name="T12" fmla="*/ 751 h 7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2" h="751">
                    <a:moveTo>
                      <a:pt x="1302" y="0"/>
                    </a:moveTo>
                    <a:lnTo>
                      <a:pt x="0" y="751"/>
                    </a:lnTo>
                    <a:lnTo>
                      <a:pt x="2" y="751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36" name="Group 125">
            <a:extLst>
              <a:ext uri="{FF2B5EF4-FFF2-40B4-BE49-F238E27FC236}">
                <a16:creationId xmlns:a16="http://schemas.microsoft.com/office/drawing/2014/main" id="{DC74CDFB-4C45-4F59-9AB9-FF28DC55AFF7}"/>
              </a:ext>
            </a:extLst>
          </p:cNvPr>
          <p:cNvGrpSpPr>
            <a:grpSpLocks/>
          </p:cNvGrpSpPr>
          <p:nvPr/>
        </p:nvGrpSpPr>
        <p:grpSpPr bwMode="auto">
          <a:xfrm>
            <a:off x="8350330" y="1878013"/>
            <a:ext cx="1093788" cy="534987"/>
            <a:chOff x="4316" y="1183"/>
            <a:chExt cx="689" cy="337"/>
          </a:xfrm>
        </p:grpSpPr>
        <p:sp>
          <p:nvSpPr>
            <p:cNvPr id="437" name="Freeform 126">
              <a:extLst>
                <a:ext uri="{FF2B5EF4-FFF2-40B4-BE49-F238E27FC236}">
                  <a16:creationId xmlns:a16="http://schemas.microsoft.com/office/drawing/2014/main" id="{CA484046-007D-4746-8B3F-3243D6C77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1190"/>
              <a:ext cx="515" cy="330"/>
            </a:xfrm>
            <a:custGeom>
              <a:avLst/>
              <a:gdLst>
                <a:gd name="T0" fmla="*/ 0 w 1732"/>
                <a:gd name="T1" fmla="*/ 0 h 1111"/>
                <a:gd name="T2" fmla="*/ 0 w 1732"/>
                <a:gd name="T3" fmla="*/ 0 h 1111"/>
                <a:gd name="T4" fmla="*/ 0 w 1732"/>
                <a:gd name="T5" fmla="*/ 0 h 1111"/>
                <a:gd name="T6" fmla="*/ 0 w 1732"/>
                <a:gd name="T7" fmla="*/ 0 h 1111"/>
                <a:gd name="T8" fmla="*/ 0 w 1732"/>
                <a:gd name="T9" fmla="*/ 0 h 1111"/>
                <a:gd name="T10" fmla="*/ 0 w 1732"/>
                <a:gd name="T11" fmla="*/ 0 h 1111"/>
                <a:gd name="T12" fmla="*/ 0 w 1732"/>
                <a:gd name="T13" fmla="*/ 0 h 1111"/>
                <a:gd name="T14" fmla="*/ 0 w 1732"/>
                <a:gd name="T15" fmla="*/ 0 h 1111"/>
                <a:gd name="T16" fmla="*/ 0 w 1732"/>
                <a:gd name="T17" fmla="*/ 0 h 1111"/>
                <a:gd name="T18" fmla="*/ 0 w 1732"/>
                <a:gd name="T19" fmla="*/ 0 h 1111"/>
                <a:gd name="T20" fmla="*/ 0 w 1732"/>
                <a:gd name="T21" fmla="*/ 0 h 1111"/>
                <a:gd name="T22" fmla="*/ 0 w 1732"/>
                <a:gd name="T23" fmla="*/ 0 h 1111"/>
                <a:gd name="T24" fmla="*/ 0 w 1732"/>
                <a:gd name="T25" fmla="*/ 0 h 1111"/>
                <a:gd name="T26" fmla="*/ 0 w 1732"/>
                <a:gd name="T27" fmla="*/ 0 h 1111"/>
                <a:gd name="T28" fmla="*/ 0 w 1732"/>
                <a:gd name="T29" fmla="*/ 0 h 1111"/>
                <a:gd name="T30" fmla="*/ 0 w 1732"/>
                <a:gd name="T31" fmla="*/ 0 h 1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732"/>
                <a:gd name="T49" fmla="*/ 0 h 1111"/>
                <a:gd name="T50" fmla="*/ 1732 w 1732"/>
                <a:gd name="T51" fmla="*/ 1111 h 111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732" h="1111">
                  <a:moveTo>
                    <a:pt x="164" y="0"/>
                  </a:moveTo>
                  <a:lnTo>
                    <a:pt x="70" y="125"/>
                  </a:lnTo>
                  <a:lnTo>
                    <a:pt x="16" y="258"/>
                  </a:lnTo>
                  <a:lnTo>
                    <a:pt x="0" y="395"/>
                  </a:lnTo>
                  <a:lnTo>
                    <a:pt x="27" y="532"/>
                  </a:lnTo>
                  <a:lnTo>
                    <a:pt x="92" y="662"/>
                  </a:lnTo>
                  <a:lnTo>
                    <a:pt x="195" y="783"/>
                  </a:lnTo>
                  <a:lnTo>
                    <a:pt x="330" y="891"/>
                  </a:lnTo>
                  <a:lnTo>
                    <a:pt x="496" y="979"/>
                  </a:lnTo>
                  <a:lnTo>
                    <a:pt x="685" y="1047"/>
                  </a:lnTo>
                  <a:lnTo>
                    <a:pt x="890" y="1092"/>
                  </a:lnTo>
                  <a:lnTo>
                    <a:pt x="1106" y="1111"/>
                  </a:lnTo>
                  <a:lnTo>
                    <a:pt x="1322" y="1104"/>
                  </a:lnTo>
                  <a:lnTo>
                    <a:pt x="1533" y="1072"/>
                  </a:lnTo>
                  <a:lnTo>
                    <a:pt x="1731" y="1015"/>
                  </a:lnTo>
                  <a:lnTo>
                    <a:pt x="1732" y="101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Freeform 127">
              <a:extLst>
                <a:ext uri="{FF2B5EF4-FFF2-40B4-BE49-F238E27FC236}">
                  <a16:creationId xmlns:a16="http://schemas.microsoft.com/office/drawing/2014/main" id="{57CA40C7-816B-4CF6-8779-66643BDE7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1183"/>
              <a:ext cx="148" cy="298"/>
            </a:xfrm>
            <a:custGeom>
              <a:avLst/>
              <a:gdLst>
                <a:gd name="T0" fmla="*/ 0 w 495"/>
                <a:gd name="T1" fmla="*/ 0 h 1002"/>
                <a:gd name="T2" fmla="*/ 0 w 495"/>
                <a:gd name="T3" fmla="*/ 0 h 1002"/>
                <a:gd name="T4" fmla="*/ 0 w 495"/>
                <a:gd name="T5" fmla="*/ 0 h 1002"/>
                <a:gd name="T6" fmla="*/ 0 w 495"/>
                <a:gd name="T7" fmla="*/ 0 h 1002"/>
                <a:gd name="T8" fmla="*/ 0 w 495"/>
                <a:gd name="T9" fmla="*/ 0 h 1002"/>
                <a:gd name="T10" fmla="*/ 0 w 495"/>
                <a:gd name="T11" fmla="*/ 0 h 1002"/>
                <a:gd name="T12" fmla="*/ 0 w 495"/>
                <a:gd name="T13" fmla="*/ 0 h 1002"/>
                <a:gd name="T14" fmla="*/ 0 w 495"/>
                <a:gd name="T15" fmla="*/ 0 h 1002"/>
                <a:gd name="T16" fmla="*/ 0 w 495"/>
                <a:gd name="T17" fmla="*/ 0 h 1002"/>
                <a:gd name="T18" fmla="*/ 0 w 495"/>
                <a:gd name="T19" fmla="*/ 0 h 10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95"/>
                <a:gd name="T31" fmla="*/ 0 h 1002"/>
                <a:gd name="T32" fmla="*/ 495 w 495"/>
                <a:gd name="T33" fmla="*/ 1002 h 10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95" h="1002">
                  <a:moveTo>
                    <a:pt x="0" y="1002"/>
                  </a:moveTo>
                  <a:lnTo>
                    <a:pt x="169" y="910"/>
                  </a:lnTo>
                  <a:lnTo>
                    <a:pt x="307" y="800"/>
                  </a:lnTo>
                  <a:lnTo>
                    <a:pt x="410" y="676"/>
                  </a:lnTo>
                  <a:lnTo>
                    <a:pt x="473" y="540"/>
                  </a:lnTo>
                  <a:lnTo>
                    <a:pt x="495" y="400"/>
                  </a:lnTo>
                  <a:lnTo>
                    <a:pt x="474" y="260"/>
                  </a:lnTo>
                  <a:lnTo>
                    <a:pt x="411" y="126"/>
                  </a:lnTo>
                  <a:lnTo>
                    <a:pt x="309" y="0"/>
                  </a:lnTo>
                  <a:lnTo>
                    <a:pt x="31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9" name="Group 128">
            <a:extLst>
              <a:ext uri="{FF2B5EF4-FFF2-40B4-BE49-F238E27FC236}">
                <a16:creationId xmlns:a16="http://schemas.microsoft.com/office/drawing/2014/main" id="{16F63584-19F1-4826-85C7-3C93DCA109BF}"/>
              </a:ext>
            </a:extLst>
          </p:cNvPr>
          <p:cNvGrpSpPr>
            <a:grpSpLocks/>
          </p:cNvGrpSpPr>
          <p:nvPr/>
        </p:nvGrpSpPr>
        <p:grpSpPr bwMode="auto">
          <a:xfrm>
            <a:off x="9025018" y="2006600"/>
            <a:ext cx="206375" cy="392113"/>
            <a:chOff x="4775" y="2808"/>
            <a:chExt cx="130" cy="247"/>
          </a:xfrm>
        </p:grpSpPr>
        <p:sp>
          <p:nvSpPr>
            <p:cNvPr id="440" name="Rectangle 129">
              <a:extLst>
                <a:ext uri="{FF2B5EF4-FFF2-40B4-BE49-F238E27FC236}">
                  <a16:creationId xmlns:a16="http://schemas.microsoft.com/office/drawing/2014/main" id="{AAA75953-18A9-4F9A-B1CC-2CE8FDEE2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" y="2808"/>
              <a:ext cx="13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Dutch801 Rm BT" pitchFamily="18" charset="0"/>
                </a:rPr>
                <a:t>E</a:t>
              </a:r>
              <a:endParaRPr lang="en-US" altLang="zh-CN">
                <a:latin typeface="Times New Roman" pitchFamily="18" charset="0"/>
              </a:endParaRPr>
            </a:p>
          </p:txBody>
        </p:sp>
        <p:sp>
          <p:nvSpPr>
            <p:cNvPr id="441" name="Freeform 130">
              <a:extLst>
                <a:ext uri="{FF2B5EF4-FFF2-40B4-BE49-F238E27FC236}">
                  <a16:creationId xmlns:a16="http://schemas.microsoft.com/office/drawing/2014/main" id="{E0B1D8E8-7ADA-4083-A051-06708ECEE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5" y="3006"/>
              <a:ext cx="47" cy="49"/>
            </a:xfrm>
            <a:custGeom>
              <a:avLst/>
              <a:gdLst>
                <a:gd name="T0" fmla="*/ 0 w 100"/>
                <a:gd name="T1" fmla="*/ 0 h 99"/>
                <a:gd name="T2" fmla="*/ 0 w 100"/>
                <a:gd name="T3" fmla="*/ 0 h 99"/>
                <a:gd name="T4" fmla="*/ 0 w 100"/>
                <a:gd name="T5" fmla="*/ 0 h 99"/>
                <a:gd name="T6" fmla="*/ 0 w 100"/>
                <a:gd name="T7" fmla="*/ 0 h 99"/>
                <a:gd name="T8" fmla="*/ 0 w 100"/>
                <a:gd name="T9" fmla="*/ 0 h 99"/>
                <a:gd name="T10" fmla="*/ 0 w 100"/>
                <a:gd name="T11" fmla="*/ 0 h 99"/>
                <a:gd name="T12" fmla="*/ 0 w 100"/>
                <a:gd name="T13" fmla="*/ 0 h 99"/>
                <a:gd name="T14" fmla="*/ 0 w 100"/>
                <a:gd name="T15" fmla="*/ 0 h 99"/>
                <a:gd name="T16" fmla="*/ 0 w 100"/>
                <a:gd name="T17" fmla="*/ 0 h 99"/>
                <a:gd name="T18" fmla="*/ 0 w 100"/>
                <a:gd name="T19" fmla="*/ 0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"/>
                <a:gd name="T31" fmla="*/ 0 h 99"/>
                <a:gd name="T32" fmla="*/ 100 w 100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" h="99">
                  <a:moveTo>
                    <a:pt x="99" y="50"/>
                  </a:moveTo>
                  <a:lnTo>
                    <a:pt x="84" y="14"/>
                  </a:lnTo>
                  <a:lnTo>
                    <a:pt x="49" y="0"/>
                  </a:lnTo>
                  <a:lnTo>
                    <a:pt x="14" y="14"/>
                  </a:lnTo>
                  <a:lnTo>
                    <a:pt x="0" y="50"/>
                  </a:lnTo>
                  <a:lnTo>
                    <a:pt x="14" y="85"/>
                  </a:lnTo>
                  <a:lnTo>
                    <a:pt x="49" y="99"/>
                  </a:lnTo>
                  <a:lnTo>
                    <a:pt x="84" y="85"/>
                  </a:lnTo>
                  <a:lnTo>
                    <a:pt x="99" y="50"/>
                  </a:lnTo>
                  <a:lnTo>
                    <a:pt x="100" y="50"/>
                  </a:lnTo>
                </a:path>
              </a:pathLst>
            </a:custGeom>
            <a:solidFill>
              <a:srgbClr val="CC0000"/>
            </a:solidFill>
            <a:ln w="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2" name="Group 131">
            <a:extLst>
              <a:ext uri="{FF2B5EF4-FFF2-40B4-BE49-F238E27FC236}">
                <a16:creationId xmlns:a16="http://schemas.microsoft.com/office/drawing/2014/main" id="{83A7F245-FBF3-4ACC-87F7-E729FFD9CAFC}"/>
              </a:ext>
            </a:extLst>
          </p:cNvPr>
          <p:cNvGrpSpPr>
            <a:grpSpLocks/>
          </p:cNvGrpSpPr>
          <p:nvPr/>
        </p:nvGrpSpPr>
        <p:grpSpPr bwMode="auto">
          <a:xfrm>
            <a:off x="8189993" y="2041525"/>
            <a:ext cx="1411287" cy="700088"/>
            <a:chOff x="4215" y="1286"/>
            <a:chExt cx="889" cy="441"/>
          </a:xfrm>
        </p:grpSpPr>
        <p:sp>
          <p:nvSpPr>
            <p:cNvPr id="443" name="Freeform 132">
              <a:extLst>
                <a:ext uri="{FF2B5EF4-FFF2-40B4-BE49-F238E27FC236}">
                  <a16:creationId xmlns:a16="http://schemas.microsoft.com/office/drawing/2014/main" id="{CE3FA551-2FF0-43CE-B911-3321E9E3F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" y="1703"/>
              <a:ext cx="205" cy="24"/>
            </a:xfrm>
            <a:custGeom>
              <a:avLst/>
              <a:gdLst>
                <a:gd name="T0" fmla="*/ 0 w 690"/>
                <a:gd name="T1" fmla="*/ 0 h 83"/>
                <a:gd name="T2" fmla="*/ 0 w 690"/>
                <a:gd name="T3" fmla="*/ 0 h 83"/>
                <a:gd name="T4" fmla="*/ 0 w 690"/>
                <a:gd name="T5" fmla="*/ 0 h 83"/>
                <a:gd name="T6" fmla="*/ 0 w 690"/>
                <a:gd name="T7" fmla="*/ 0 h 83"/>
                <a:gd name="T8" fmla="*/ 0 w 690"/>
                <a:gd name="T9" fmla="*/ 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0"/>
                <a:gd name="T16" fmla="*/ 0 h 83"/>
                <a:gd name="T17" fmla="*/ 690 w 690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0" h="83">
                  <a:moveTo>
                    <a:pt x="0" y="83"/>
                  </a:moveTo>
                  <a:lnTo>
                    <a:pt x="236" y="78"/>
                  </a:lnTo>
                  <a:lnTo>
                    <a:pt x="467" y="51"/>
                  </a:lnTo>
                  <a:lnTo>
                    <a:pt x="689" y="0"/>
                  </a:lnTo>
                  <a:lnTo>
                    <a:pt x="69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Freeform 133">
              <a:extLst>
                <a:ext uri="{FF2B5EF4-FFF2-40B4-BE49-F238E27FC236}">
                  <a16:creationId xmlns:a16="http://schemas.microsoft.com/office/drawing/2014/main" id="{7DCEB0CB-5594-442D-866D-7A63435AE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5" y="1286"/>
              <a:ext cx="393" cy="439"/>
            </a:xfrm>
            <a:custGeom>
              <a:avLst/>
              <a:gdLst>
                <a:gd name="T0" fmla="*/ 0 w 1322"/>
                <a:gd name="T1" fmla="*/ 0 h 1477"/>
                <a:gd name="T2" fmla="*/ 0 w 1322"/>
                <a:gd name="T3" fmla="*/ 0 h 1477"/>
                <a:gd name="T4" fmla="*/ 0 w 1322"/>
                <a:gd name="T5" fmla="*/ 0 h 1477"/>
                <a:gd name="T6" fmla="*/ 0 w 1322"/>
                <a:gd name="T7" fmla="*/ 0 h 1477"/>
                <a:gd name="T8" fmla="*/ 0 w 1322"/>
                <a:gd name="T9" fmla="*/ 0 h 1477"/>
                <a:gd name="T10" fmla="*/ 0 w 1322"/>
                <a:gd name="T11" fmla="*/ 0 h 1477"/>
                <a:gd name="T12" fmla="*/ 0 w 1322"/>
                <a:gd name="T13" fmla="*/ 0 h 1477"/>
                <a:gd name="T14" fmla="*/ 0 w 1322"/>
                <a:gd name="T15" fmla="*/ 0 h 1477"/>
                <a:gd name="T16" fmla="*/ 0 w 1322"/>
                <a:gd name="T17" fmla="*/ 0 h 1477"/>
                <a:gd name="T18" fmla="*/ 0 w 1322"/>
                <a:gd name="T19" fmla="*/ 0 h 1477"/>
                <a:gd name="T20" fmla="*/ 0 w 1322"/>
                <a:gd name="T21" fmla="*/ 0 h 1477"/>
                <a:gd name="T22" fmla="*/ 0 w 1322"/>
                <a:gd name="T23" fmla="*/ 0 h 1477"/>
                <a:gd name="T24" fmla="*/ 0 w 1322"/>
                <a:gd name="T25" fmla="*/ 0 h 14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22"/>
                <a:gd name="T40" fmla="*/ 0 h 1477"/>
                <a:gd name="T41" fmla="*/ 1322 w 1322"/>
                <a:gd name="T42" fmla="*/ 1477 h 14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22" h="1477">
                  <a:moveTo>
                    <a:pt x="251" y="0"/>
                  </a:moveTo>
                  <a:lnTo>
                    <a:pt x="120" y="155"/>
                  </a:lnTo>
                  <a:lnTo>
                    <a:pt x="35" y="324"/>
                  </a:lnTo>
                  <a:lnTo>
                    <a:pt x="0" y="499"/>
                  </a:lnTo>
                  <a:lnTo>
                    <a:pt x="17" y="676"/>
                  </a:lnTo>
                  <a:lnTo>
                    <a:pt x="84" y="847"/>
                  </a:lnTo>
                  <a:lnTo>
                    <a:pt x="201" y="1008"/>
                  </a:lnTo>
                  <a:lnTo>
                    <a:pt x="361" y="1153"/>
                  </a:lnTo>
                  <a:lnTo>
                    <a:pt x="561" y="1275"/>
                  </a:lnTo>
                  <a:lnTo>
                    <a:pt x="793" y="1372"/>
                  </a:lnTo>
                  <a:lnTo>
                    <a:pt x="1048" y="1441"/>
                  </a:lnTo>
                  <a:lnTo>
                    <a:pt x="1321" y="1477"/>
                  </a:lnTo>
                  <a:lnTo>
                    <a:pt x="1322" y="1477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Freeform 134">
              <a:extLst>
                <a:ext uri="{FF2B5EF4-FFF2-40B4-BE49-F238E27FC236}">
                  <a16:creationId xmlns:a16="http://schemas.microsoft.com/office/drawing/2014/main" id="{E9503952-FC97-454C-A966-1F4DD6FF4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6" y="1508"/>
              <a:ext cx="97" cy="121"/>
            </a:xfrm>
            <a:custGeom>
              <a:avLst/>
              <a:gdLst>
                <a:gd name="T0" fmla="*/ 0 w 327"/>
                <a:gd name="T1" fmla="*/ 0 h 410"/>
                <a:gd name="T2" fmla="*/ 0 w 327"/>
                <a:gd name="T3" fmla="*/ 0 h 410"/>
                <a:gd name="T4" fmla="*/ 0 w 327"/>
                <a:gd name="T5" fmla="*/ 0 h 410"/>
                <a:gd name="T6" fmla="*/ 0 w 327"/>
                <a:gd name="T7" fmla="*/ 0 h 410"/>
                <a:gd name="T8" fmla="*/ 0 w 327"/>
                <a:gd name="T9" fmla="*/ 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410"/>
                <a:gd name="T17" fmla="*/ 327 w 327"/>
                <a:gd name="T18" fmla="*/ 410 h 4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410">
                  <a:moveTo>
                    <a:pt x="0" y="410"/>
                  </a:moveTo>
                  <a:lnTo>
                    <a:pt x="143" y="286"/>
                  </a:lnTo>
                  <a:lnTo>
                    <a:pt x="252" y="148"/>
                  </a:ln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Freeform 135">
              <a:extLst>
                <a:ext uri="{FF2B5EF4-FFF2-40B4-BE49-F238E27FC236}">
                  <a16:creationId xmlns:a16="http://schemas.microsoft.com/office/drawing/2014/main" id="{96CC4A2B-28DF-46E5-A0DC-A1F665DE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1647"/>
              <a:ext cx="28" cy="15"/>
            </a:xfrm>
            <a:custGeom>
              <a:avLst/>
              <a:gdLst>
                <a:gd name="T0" fmla="*/ 0 w 93"/>
                <a:gd name="T1" fmla="*/ 0 h 52"/>
                <a:gd name="T2" fmla="*/ 0 w 93"/>
                <a:gd name="T3" fmla="*/ 0 h 52"/>
                <a:gd name="T4" fmla="*/ 0 w 93"/>
                <a:gd name="T5" fmla="*/ 0 h 52"/>
                <a:gd name="T6" fmla="*/ 0 60000 65536"/>
                <a:gd name="T7" fmla="*/ 0 60000 65536"/>
                <a:gd name="T8" fmla="*/ 0 60000 65536"/>
                <a:gd name="T9" fmla="*/ 0 w 93"/>
                <a:gd name="T10" fmla="*/ 0 h 52"/>
                <a:gd name="T11" fmla="*/ 93 w 93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" h="52">
                  <a:moveTo>
                    <a:pt x="0" y="52"/>
                  </a:moveTo>
                  <a:lnTo>
                    <a:pt x="92" y="0"/>
                  </a:lnTo>
                  <a:lnTo>
                    <a:pt x="9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Freeform 136">
              <a:extLst>
                <a:ext uri="{FF2B5EF4-FFF2-40B4-BE49-F238E27FC236}">
                  <a16:creationId xmlns:a16="http://schemas.microsoft.com/office/drawing/2014/main" id="{5B16E231-1E82-47AE-8A53-5C6221A1A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1680"/>
              <a:ext cx="28" cy="11"/>
            </a:xfrm>
            <a:custGeom>
              <a:avLst/>
              <a:gdLst>
                <a:gd name="T0" fmla="*/ 0 w 97"/>
                <a:gd name="T1" fmla="*/ 0 h 38"/>
                <a:gd name="T2" fmla="*/ 0 w 97"/>
                <a:gd name="T3" fmla="*/ 0 h 38"/>
                <a:gd name="T4" fmla="*/ 0 w 97"/>
                <a:gd name="T5" fmla="*/ 0 h 38"/>
                <a:gd name="T6" fmla="*/ 0 60000 65536"/>
                <a:gd name="T7" fmla="*/ 0 60000 65536"/>
                <a:gd name="T8" fmla="*/ 0 60000 65536"/>
                <a:gd name="T9" fmla="*/ 0 w 97"/>
                <a:gd name="T10" fmla="*/ 0 h 38"/>
                <a:gd name="T11" fmla="*/ 97 w 97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38">
                  <a:moveTo>
                    <a:pt x="0" y="38"/>
                  </a:moveTo>
                  <a:lnTo>
                    <a:pt x="96" y="0"/>
                  </a:lnTo>
                  <a:lnTo>
                    <a:pt x="97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Freeform 137">
              <a:extLst>
                <a:ext uri="{FF2B5EF4-FFF2-40B4-BE49-F238E27FC236}">
                  <a16:creationId xmlns:a16="http://schemas.microsoft.com/office/drawing/2014/main" id="{D544413A-29C6-47A5-BE17-152AB7CF1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1286"/>
              <a:ext cx="75" cy="193"/>
            </a:xfrm>
            <a:custGeom>
              <a:avLst/>
              <a:gdLst>
                <a:gd name="T0" fmla="*/ 0 w 250"/>
                <a:gd name="T1" fmla="*/ 0 h 648"/>
                <a:gd name="T2" fmla="*/ 0 w 250"/>
                <a:gd name="T3" fmla="*/ 0 h 648"/>
                <a:gd name="T4" fmla="*/ 0 w 250"/>
                <a:gd name="T5" fmla="*/ 0 h 648"/>
                <a:gd name="T6" fmla="*/ 0 w 250"/>
                <a:gd name="T7" fmla="*/ 0 h 648"/>
                <a:gd name="T8" fmla="*/ 0 w 250"/>
                <a:gd name="T9" fmla="*/ 0 h 648"/>
                <a:gd name="T10" fmla="*/ 0 w 250"/>
                <a:gd name="T11" fmla="*/ 0 h 6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0"/>
                <a:gd name="T19" fmla="*/ 0 h 648"/>
                <a:gd name="T20" fmla="*/ 250 w 250"/>
                <a:gd name="T21" fmla="*/ 648 h 6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0" h="648">
                  <a:moveTo>
                    <a:pt x="242" y="648"/>
                  </a:moveTo>
                  <a:lnTo>
                    <a:pt x="250" y="479"/>
                  </a:lnTo>
                  <a:lnTo>
                    <a:pt x="213" y="309"/>
                  </a:lnTo>
                  <a:lnTo>
                    <a:pt x="128" y="14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9" name="Group 138">
            <a:extLst>
              <a:ext uri="{FF2B5EF4-FFF2-40B4-BE49-F238E27FC236}">
                <a16:creationId xmlns:a16="http://schemas.microsoft.com/office/drawing/2014/main" id="{29AD53C3-9ED0-4EFA-A6F1-B7B80A0BA2A0}"/>
              </a:ext>
            </a:extLst>
          </p:cNvPr>
          <p:cNvGrpSpPr>
            <a:grpSpLocks/>
          </p:cNvGrpSpPr>
          <p:nvPr/>
        </p:nvGrpSpPr>
        <p:grpSpPr bwMode="auto">
          <a:xfrm>
            <a:off x="9496505" y="2335213"/>
            <a:ext cx="230188" cy="392112"/>
            <a:chOff x="5072" y="3015"/>
            <a:chExt cx="145" cy="247"/>
          </a:xfrm>
        </p:grpSpPr>
        <p:sp>
          <p:nvSpPr>
            <p:cNvPr id="450" name="Rectangle 139">
              <a:extLst>
                <a:ext uri="{FF2B5EF4-FFF2-40B4-BE49-F238E27FC236}">
                  <a16:creationId xmlns:a16="http://schemas.microsoft.com/office/drawing/2014/main" id="{E8938914-ABB3-42DD-A883-3D91835A1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" y="3032"/>
              <a:ext cx="14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Dutch801 Rm BT" pitchFamily="18" charset="0"/>
                </a:rPr>
                <a:t>D</a:t>
              </a:r>
              <a:endParaRPr lang="en-US" altLang="zh-CN">
                <a:latin typeface="Times New Roman" pitchFamily="18" charset="0"/>
              </a:endParaRPr>
            </a:p>
          </p:txBody>
        </p:sp>
        <p:sp>
          <p:nvSpPr>
            <p:cNvPr id="451" name="Freeform 140">
              <a:extLst>
                <a:ext uri="{FF2B5EF4-FFF2-40B4-BE49-F238E27FC236}">
                  <a16:creationId xmlns:a16="http://schemas.microsoft.com/office/drawing/2014/main" id="{0BFA96DB-B451-4CA2-81E0-85498899B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7" y="3015"/>
              <a:ext cx="49" cy="47"/>
            </a:xfrm>
            <a:custGeom>
              <a:avLst/>
              <a:gdLst>
                <a:gd name="T0" fmla="*/ 0 w 100"/>
                <a:gd name="T1" fmla="*/ 0 h 99"/>
                <a:gd name="T2" fmla="*/ 0 w 100"/>
                <a:gd name="T3" fmla="*/ 0 h 99"/>
                <a:gd name="T4" fmla="*/ 0 w 100"/>
                <a:gd name="T5" fmla="*/ 0 h 99"/>
                <a:gd name="T6" fmla="*/ 0 w 100"/>
                <a:gd name="T7" fmla="*/ 0 h 99"/>
                <a:gd name="T8" fmla="*/ 0 w 100"/>
                <a:gd name="T9" fmla="*/ 0 h 99"/>
                <a:gd name="T10" fmla="*/ 0 w 100"/>
                <a:gd name="T11" fmla="*/ 0 h 99"/>
                <a:gd name="T12" fmla="*/ 0 w 100"/>
                <a:gd name="T13" fmla="*/ 0 h 99"/>
                <a:gd name="T14" fmla="*/ 0 w 100"/>
                <a:gd name="T15" fmla="*/ 0 h 99"/>
                <a:gd name="T16" fmla="*/ 0 w 100"/>
                <a:gd name="T17" fmla="*/ 0 h 99"/>
                <a:gd name="T18" fmla="*/ 0 w 100"/>
                <a:gd name="T19" fmla="*/ 0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"/>
                <a:gd name="T31" fmla="*/ 0 h 99"/>
                <a:gd name="T32" fmla="*/ 100 w 100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" h="99">
                  <a:moveTo>
                    <a:pt x="99" y="49"/>
                  </a:moveTo>
                  <a:lnTo>
                    <a:pt x="85" y="14"/>
                  </a:lnTo>
                  <a:lnTo>
                    <a:pt x="50" y="0"/>
                  </a:lnTo>
                  <a:lnTo>
                    <a:pt x="15" y="14"/>
                  </a:lnTo>
                  <a:lnTo>
                    <a:pt x="0" y="49"/>
                  </a:lnTo>
                  <a:lnTo>
                    <a:pt x="15" y="84"/>
                  </a:lnTo>
                  <a:lnTo>
                    <a:pt x="50" y="99"/>
                  </a:lnTo>
                  <a:lnTo>
                    <a:pt x="85" y="84"/>
                  </a:lnTo>
                  <a:lnTo>
                    <a:pt x="99" y="49"/>
                  </a:lnTo>
                  <a:lnTo>
                    <a:pt x="100" y="49"/>
                  </a:lnTo>
                </a:path>
              </a:pathLst>
            </a:custGeom>
            <a:solidFill>
              <a:srgbClr val="CC0000"/>
            </a:solidFill>
            <a:ln w="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2" name="Group 141">
            <a:extLst>
              <a:ext uri="{FF2B5EF4-FFF2-40B4-BE49-F238E27FC236}">
                <a16:creationId xmlns:a16="http://schemas.microsoft.com/office/drawing/2014/main" id="{CC38D0B8-A100-4341-A5D4-ECEA53440EC9}"/>
              </a:ext>
            </a:extLst>
          </p:cNvPr>
          <p:cNvGrpSpPr>
            <a:grpSpLocks/>
          </p:cNvGrpSpPr>
          <p:nvPr/>
        </p:nvGrpSpPr>
        <p:grpSpPr bwMode="auto">
          <a:xfrm>
            <a:off x="8602743" y="2397125"/>
            <a:ext cx="279400" cy="366713"/>
            <a:chOff x="4518" y="3060"/>
            <a:chExt cx="176" cy="231"/>
          </a:xfrm>
        </p:grpSpPr>
        <p:sp>
          <p:nvSpPr>
            <p:cNvPr id="453" name="Freeform 142">
              <a:extLst>
                <a:ext uri="{FF2B5EF4-FFF2-40B4-BE49-F238E27FC236}">
                  <a16:creationId xmlns:a16="http://schemas.microsoft.com/office/drawing/2014/main" id="{2FC38B95-7A39-4F60-985A-CFDADF1B4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3238"/>
              <a:ext cx="55" cy="53"/>
            </a:xfrm>
            <a:custGeom>
              <a:avLst/>
              <a:gdLst>
                <a:gd name="T0" fmla="*/ 1 w 100"/>
                <a:gd name="T1" fmla="*/ 1 h 99"/>
                <a:gd name="T2" fmla="*/ 1 w 100"/>
                <a:gd name="T3" fmla="*/ 1 h 99"/>
                <a:gd name="T4" fmla="*/ 1 w 100"/>
                <a:gd name="T5" fmla="*/ 0 h 99"/>
                <a:gd name="T6" fmla="*/ 1 w 100"/>
                <a:gd name="T7" fmla="*/ 1 h 99"/>
                <a:gd name="T8" fmla="*/ 0 w 100"/>
                <a:gd name="T9" fmla="*/ 1 h 99"/>
                <a:gd name="T10" fmla="*/ 1 w 100"/>
                <a:gd name="T11" fmla="*/ 1 h 99"/>
                <a:gd name="T12" fmla="*/ 1 w 100"/>
                <a:gd name="T13" fmla="*/ 1 h 99"/>
                <a:gd name="T14" fmla="*/ 1 w 100"/>
                <a:gd name="T15" fmla="*/ 1 h 99"/>
                <a:gd name="T16" fmla="*/ 1 w 100"/>
                <a:gd name="T17" fmla="*/ 1 h 99"/>
                <a:gd name="T18" fmla="*/ 1 w 100"/>
                <a:gd name="T19" fmla="*/ 1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"/>
                <a:gd name="T31" fmla="*/ 0 h 99"/>
                <a:gd name="T32" fmla="*/ 100 w 100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" h="99">
                  <a:moveTo>
                    <a:pt x="99" y="50"/>
                  </a:moveTo>
                  <a:lnTo>
                    <a:pt x="84" y="15"/>
                  </a:lnTo>
                  <a:lnTo>
                    <a:pt x="49" y="0"/>
                  </a:lnTo>
                  <a:lnTo>
                    <a:pt x="14" y="15"/>
                  </a:lnTo>
                  <a:lnTo>
                    <a:pt x="0" y="50"/>
                  </a:lnTo>
                  <a:lnTo>
                    <a:pt x="14" y="85"/>
                  </a:lnTo>
                  <a:lnTo>
                    <a:pt x="49" y="99"/>
                  </a:lnTo>
                  <a:lnTo>
                    <a:pt x="84" y="85"/>
                  </a:lnTo>
                  <a:lnTo>
                    <a:pt x="99" y="50"/>
                  </a:lnTo>
                  <a:lnTo>
                    <a:pt x="100" y="50"/>
                  </a:lnTo>
                </a:path>
              </a:pathLst>
            </a:custGeom>
            <a:solidFill>
              <a:srgbClr val="CC0000"/>
            </a:solidFill>
            <a:ln w="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Rectangle 143">
              <a:extLst>
                <a:ext uri="{FF2B5EF4-FFF2-40B4-BE49-F238E27FC236}">
                  <a16:creationId xmlns:a16="http://schemas.microsoft.com/office/drawing/2014/main" id="{3AB89BE6-6ECC-46F0-A427-98B29EDEE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" y="3060"/>
              <a:ext cx="13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Dutch801 Rm BT" pitchFamily="18" charset="0"/>
                </a:rPr>
                <a:t>C</a:t>
              </a:r>
              <a:endParaRPr lang="en-US" altLang="zh-CN">
                <a:latin typeface="Times New Roman" pitchFamily="18" charset="0"/>
              </a:endParaRPr>
            </a:p>
          </p:txBody>
        </p:sp>
      </p:grpSp>
      <p:grpSp>
        <p:nvGrpSpPr>
          <p:cNvPr id="455" name="Group 144">
            <a:extLst>
              <a:ext uri="{FF2B5EF4-FFF2-40B4-BE49-F238E27FC236}">
                <a16:creationId xmlns:a16="http://schemas.microsoft.com/office/drawing/2014/main" id="{5AC314C0-F390-4AC5-8A1E-C8A3D3B95897}"/>
              </a:ext>
            </a:extLst>
          </p:cNvPr>
          <p:cNvGrpSpPr>
            <a:grpSpLocks/>
          </p:cNvGrpSpPr>
          <p:nvPr/>
        </p:nvGrpSpPr>
        <p:grpSpPr bwMode="auto">
          <a:xfrm>
            <a:off x="8277305" y="3295650"/>
            <a:ext cx="215900" cy="393700"/>
            <a:chOff x="4304" y="3620"/>
            <a:chExt cx="136" cy="248"/>
          </a:xfrm>
        </p:grpSpPr>
        <p:sp>
          <p:nvSpPr>
            <p:cNvPr id="456" name="Rectangle 145">
              <a:extLst>
                <a:ext uri="{FF2B5EF4-FFF2-40B4-BE49-F238E27FC236}">
                  <a16:creationId xmlns:a16="http://schemas.microsoft.com/office/drawing/2014/main" id="{B881BF8C-082D-4530-9EC1-65BCD8C67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3638"/>
              <a:ext cx="13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Dutch801 Rm BT" pitchFamily="18" charset="0"/>
                </a:rPr>
                <a:t>A</a:t>
              </a:r>
              <a:endParaRPr lang="en-US" altLang="zh-CN">
                <a:latin typeface="Times New Roman" pitchFamily="18" charset="0"/>
              </a:endParaRPr>
            </a:p>
          </p:txBody>
        </p:sp>
        <p:sp>
          <p:nvSpPr>
            <p:cNvPr id="457" name="Freeform 146">
              <a:extLst>
                <a:ext uri="{FF2B5EF4-FFF2-40B4-BE49-F238E27FC236}">
                  <a16:creationId xmlns:a16="http://schemas.microsoft.com/office/drawing/2014/main" id="{20FAFEDF-08B7-4825-9FE4-607768E27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3620"/>
              <a:ext cx="50" cy="47"/>
            </a:xfrm>
            <a:custGeom>
              <a:avLst/>
              <a:gdLst>
                <a:gd name="T0" fmla="*/ 0 w 102"/>
                <a:gd name="T1" fmla="*/ 0 h 99"/>
                <a:gd name="T2" fmla="*/ 0 w 102"/>
                <a:gd name="T3" fmla="*/ 0 h 99"/>
                <a:gd name="T4" fmla="*/ 0 w 102"/>
                <a:gd name="T5" fmla="*/ 0 h 99"/>
                <a:gd name="T6" fmla="*/ 0 w 102"/>
                <a:gd name="T7" fmla="*/ 0 h 99"/>
                <a:gd name="T8" fmla="*/ 0 w 102"/>
                <a:gd name="T9" fmla="*/ 0 h 99"/>
                <a:gd name="T10" fmla="*/ 0 w 102"/>
                <a:gd name="T11" fmla="*/ 0 h 99"/>
                <a:gd name="T12" fmla="*/ 0 w 102"/>
                <a:gd name="T13" fmla="*/ 0 h 99"/>
                <a:gd name="T14" fmla="*/ 0 w 102"/>
                <a:gd name="T15" fmla="*/ 0 h 99"/>
                <a:gd name="T16" fmla="*/ 0 w 102"/>
                <a:gd name="T17" fmla="*/ 0 h 99"/>
                <a:gd name="T18" fmla="*/ 0 w 102"/>
                <a:gd name="T19" fmla="*/ 0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2"/>
                <a:gd name="T31" fmla="*/ 0 h 99"/>
                <a:gd name="T32" fmla="*/ 102 w 102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2" h="99">
                  <a:moveTo>
                    <a:pt x="101" y="49"/>
                  </a:moveTo>
                  <a:lnTo>
                    <a:pt x="85" y="14"/>
                  </a:lnTo>
                  <a:lnTo>
                    <a:pt x="50" y="0"/>
                  </a:lnTo>
                  <a:lnTo>
                    <a:pt x="15" y="14"/>
                  </a:lnTo>
                  <a:lnTo>
                    <a:pt x="0" y="49"/>
                  </a:lnTo>
                  <a:lnTo>
                    <a:pt x="15" y="84"/>
                  </a:lnTo>
                  <a:lnTo>
                    <a:pt x="50" y="99"/>
                  </a:lnTo>
                  <a:lnTo>
                    <a:pt x="85" y="84"/>
                  </a:lnTo>
                  <a:lnTo>
                    <a:pt x="101" y="49"/>
                  </a:lnTo>
                  <a:lnTo>
                    <a:pt x="102" y="49"/>
                  </a:lnTo>
                </a:path>
              </a:pathLst>
            </a:custGeom>
            <a:solidFill>
              <a:srgbClr val="CC0000"/>
            </a:solidFill>
            <a:ln w="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8" name="Group 147">
            <a:extLst>
              <a:ext uri="{FF2B5EF4-FFF2-40B4-BE49-F238E27FC236}">
                <a16:creationId xmlns:a16="http://schemas.microsoft.com/office/drawing/2014/main" id="{1B8E2394-0198-466D-BD8B-6B6DFBE77480}"/>
              </a:ext>
            </a:extLst>
          </p:cNvPr>
          <p:cNvGrpSpPr>
            <a:grpSpLocks/>
          </p:cNvGrpSpPr>
          <p:nvPr/>
        </p:nvGrpSpPr>
        <p:grpSpPr bwMode="auto">
          <a:xfrm>
            <a:off x="9799718" y="2262188"/>
            <a:ext cx="282575" cy="365125"/>
            <a:chOff x="5263" y="2969"/>
            <a:chExt cx="178" cy="230"/>
          </a:xfrm>
        </p:grpSpPr>
        <p:sp>
          <p:nvSpPr>
            <p:cNvPr id="459" name="Rectangle 148">
              <a:extLst>
                <a:ext uri="{FF2B5EF4-FFF2-40B4-BE49-F238E27FC236}">
                  <a16:creationId xmlns:a16="http://schemas.microsoft.com/office/drawing/2014/main" id="{13114F61-AEDE-4766-B955-22D5C1137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" y="2969"/>
              <a:ext cx="12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Dutch801 Rm BT" pitchFamily="18" charset="0"/>
                </a:rPr>
                <a:t>B</a:t>
              </a:r>
              <a:endParaRPr lang="en-US" altLang="zh-CN">
                <a:latin typeface="Times New Roman" pitchFamily="18" charset="0"/>
              </a:endParaRPr>
            </a:p>
          </p:txBody>
        </p:sp>
        <p:sp>
          <p:nvSpPr>
            <p:cNvPr id="460" name="Freeform 149">
              <a:extLst>
                <a:ext uri="{FF2B5EF4-FFF2-40B4-BE49-F238E27FC236}">
                  <a16:creationId xmlns:a16="http://schemas.microsoft.com/office/drawing/2014/main" id="{62741291-064B-4AF1-8A75-7679139BC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3110"/>
              <a:ext cx="50" cy="47"/>
            </a:xfrm>
            <a:custGeom>
              <a:avLst/>
              <a:gdLst>
                <a:gd name="T0" fmla="*/ 1 w 100"/>
                <a:gd name="T1" fmla="*/ 0 h 99"/>
                <a:gd name="T2" fmla="*/ 1 w 100"/>
                <a:gd name="T3" fmla="*/ 0 h 99"/>
                <a:gd name="T4" fmla="*/ 1 w 100"/>
                <a:gd name="T5" fmla="*/ 0 h 99"/>
                <a:gd name="T6" fmla="*/ 1 w 100"/>
                <a:gd name="T7" fmla="*/ 0 h 99"/>
                <a:gd name="T8" fmla="*/ 0 w 100"/>
                <a:gd name="T9" fmla="*/ 0 h 99"/>
                <a:gd name="T10" fmla="*/ 1 w 100"/>
                <a:gd name="T11" fmla="*/ 0 h 99"/>
                <a:gd name="T12" fmla="*/ 1 w 100"/>
                <a:gd name="T13" fmla="*/ 0 h 99"/>
                <a:gd name="T14" fmla="*/ 1 w 100"/>
                <a:gd name="T15" fmla="*/ 0 h 99"/>
                <a:gd name="T16" fmla="*/ 1 w 100"/>
                <a:gd name="T17" fmla="*/ 0 h 99"/>
                <a:gd name="T18" fmla="*/ 1 w 100"/>
                <a:gd name="T19" fmla="*/ 0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"/>
                <a:gd name="T31" fmla="*/ 0 h 99"/>
                <a:gd name="T32" fmla="*/ 100 w 100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" h="99">
                  <a:moveTo>
                    <a:pt x="99" y="50"/>
                  </a:moveTo>
                  <a:lnTo>
                    <a:pt x="84" y="15"/>
                  </a:lnTo>
                  <a:lnTo>
                    <a:pt x="49" y="0"/>
                  </a:lnTo>
                  <a:lnTo>
                    <a:pt x="14" y="15"/>
                  </a:lnTo>
                  <a:lnTo>
                    <a:pt x="0" y="50"/>
                  </a:lnTo>
                  <a:lnTo>
                    <a:pt x="14" y="85"/>
                  </a:lnTo>
                  <a:lnTo>
                    <a:pt x="49" y="99"/>
                  </a:lnTo>
                  <a:lnTo>
                    <a:pt x="84" y="85"/>
                  </a:lnTo>
                  <a:lnTo>
                    <a:pt x="99" y="50"/>
                  </a:lnTo>
                  <a:lnTo>
                    <a:pt x="100" y="50"/>
                  </a:lnTo>
                </a:path>
              </a:pathLst>
            </a:custGeom>
            <a:solidFill>
              <a:srgbClr val="CC0000"/>
            </a:solidFill>
            <a:ln w="0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1" name="Group 150">
            <a:extLst>
              <a:ext uri="{FF2B5EF4-FFF2-40B4-BE49-F238E27FC236}">
                <a16:creationId xmlns:a16="http://schemas.microsoft.com/office/drawing/2014/main" id="{6592B00E-1702-45BA-B380-CC21A97C899C}"/>
              </a:ext>
            </a:extLst>
          </p:cNvPr>
          <p:cNvGrpSpPr>
            <a:grpSpLocks/>
          </p:cNvGrpSpPr>
          <p:nvPr/>
        </p:nvGrpSpPr>
        <p:grpSpPr bwMode="auto">
          <a:xfrm>
            <a:off x="3943430" y="3390900"/>
            <a:ext cx="696913" cy="468313"/>
            <a:chOff x="1463" y="1982"/>
            <a:chExt cx="439" cy="295"/>
          </a:xfrm>
        </p:grpSpPr>
        <p:sp>
          <p:nvSpPr>
            <p:cNvPr id="462" name="Rectangle 151">
              <a:extLst>
                <a:ext uri="{FF2B5EF4-FFF2-40B4-BE49-F238E27FC236}">
                  <a16:creationId xmlns:a16="http://schemas.microsoft.com/office/drawing/2014/main" id="{1430FD59-B4E2-4EFC-903D-AED4419F5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2047"/>
              <a:ext cx="291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lang="en-US" altLang="zh-CN"/>
                <a:t>′</a:t>
              </a:r>
            </a:p>
          </p:txBody>
        </p:sp>
        <p:sp>
          <p:nvSpPr>
            <p:cNvPr id="463" name="Text Box 152">
              <a:extLst>
                <a:ext uri="{FF2B5EF4-FFF2-40B4-BE49-F238E27FC236}">
                  <a16:creationId xmlns:a16="http://schemas.microsoft.com/office/drawing/2014/main" id="{A1D2F8CA-7ABD-4539-B332-AA2892D8B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3" y="1982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464" name="Group 153">
            <a:extLst>
              <a:ext uri="{FF2B5EF4-FFF2-40B4-BE49-F238E27FC236}">
                <a16:creationId xmlns:a16="http://schemas.microsoft.com/office/drawing/2014/main" id="{6EC0DE19-76C9-4CA7-B10D-8857E7350A35}"/>
              </a:ext>
            </a:extLst>
          </p:cNvPr>
          <p:cNvGrpSpPr>
            <a:grpSpLocks/>
          </p:cNvGrpSpPr>
          <p:nvPr/>
        </p:nvGrpSpPr>
        <p:grpSpPr bwMode="auto">
          <a:xfrm>
            <a:off x="1908255" y="3400425"/>
            <a:ext cx="503238" cy="512763"/>
            <a:chOff x="181" y="1988"/>
            <a:chExt cx="317" cy="323"/>
          </a:xfrm>
        </p:grpSpPr>
        <p:sp>
          <p:nvSpPr>
            <p:cNvPr id="465" name="Rectangle 154">
              <a:extLst>
                <a:ext uri="{FF2B5EF4-FFF2-40B4-BE49-F238E27FC236}">
                  <a16:creationId xmlns:a16="http://schemas.microsoft.com/office/drawing/2014/main" id="{C08E3614-8B38-4362-B92A-355A79328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081"/>
              <a:ext cx="292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lang="en-US" altLang="zh-CN"/>
                <a:t>′</a:t>
              </a:r>
            </a:p>
          </p:txBody>
        </p:sp>
        <p:sp>
          <p:nvSpPr>
            <p:cNvPr id="466" name="Text Box 155">
              <a:extLst>
                <a:ext uri="{FF2B5EF4-FFF2-40B4-BE49-F238E27FC236}">
                  <a16:creationId xmlns:a16="http://schemas.microsoft.com/office/drawing/2014/main" id="{82DFC4A6-578E-4318-88F3-5E3151930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" y="1988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sp>
        <p:nvSpPr>
          <p:cNvPr id="467" name="Text Box 156">
            <a:extLst>
              <a:ext uri="{FF2B5EF4-FFF2-40B4-BE49-F238E27FC236}">
                <a16:creationId xmlns:a16="http://schemas.microsoft.com/office/drawing/2014/main" id="{57EDB9EB-32AB-4495-92DE-D6543370D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80" y="874713"/>
            <a:ext cx="1812925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/>
              <a:t>截交线的空间形状？</a:t>
            </a:r>
          </a:p>
        </p:txBody>
      </p:sp>
      <p:sp>
        <p:nvSpPr>
          <p:cNvPr id="468" name="Text Box 157">
            <a:extLst>
              <a:ext uri="{FF2B5EF4-FFF2-40B4-BE49-F238E27FC236}">
                <a16:creationId xmlns:a16="http://schemas.microsoft.com/office/drawing/2014/main" id="{1A7B805E-5235-46B7-AD94-14DBB6992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1430" y="2178050"/>
            <a:ext cx="18129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/>
              <a:t>截交线的投影特性？</a:t>
            </a:r>
          </a:p>
        </p:txBody>
      </p:sp>
      <p:grpSp>
        <p:nvGrpSpPr>
          <p:cNvPr id="469" name="Group 43">
            <a:extLst>
              <a:ext uri="{FF2B5EF4-FFF2-40B4-BE49-F238E27FC236}">
                <a16:creationId xmlns:a16="http://schemas.microsoft.com/office/drawing/2014/main" id="{1E65374E-2CA7-47A4-8688-0EEAC8B303FA}"/>
              </a:ext>
            </a:extLst>
          </p:cNvPr>
          <p:cNvGrpSpPr>
            <a:grpSpLocks/>
          </p:cNvGrpSpPr>
          <p:nvPr/>
        </p:nvGrpSpPr>
        <p:grpSpPr bwMode="auto">
          <a:xfrm>
            <a:off x="3029030" y="2193925"/>
            <a:ext cx="676275" cy="449263"/>
            <a:chOff x="887" y="1228"/>
            <a:chExt cx="426" cy="283"/>
          </a:xfrm>
        </p:grpSpPr>
        <p:sp>
          <p:nvSpPr>
            <p:cNvPr id="470" name="Rectangle 44">
              <a:extLst>
                <a:ext uri="{FF2B5EF4-FFF2-40B4-BE49-F238E27FC236}">
                  <a16:creationId xmlns:a16="http://schemas.microsoft.com/office/drawing/2014/main" id="{A0E5C896-AD88-455E-AB77-17708F230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1228"/>
              <a:ext cx="27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r>
                <a:rPr lang="en-US" altLang="zh-CN"/>
                <a:t>′</a:t>
              </a:r>
            </a:p>
          </p:txBody>
        </p:sp>
        <p:sp>
          <p:nvSpPr>
            <p:cNvPr id="471" name="Text Box 45">
              <a:extLst>
                <a:ext uri="{FF2B5EF4-FFF2-40B4-BE49-F238E27FC236}">
                  <a16:creationId xmlns:a16="http://schemas.microsoft.com/office/drawing/2014/main" id="{3A57E26B-3A08-4F85-9DF7-76B3DCB62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1376"/>
              <a:ext cx="180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pic>
        <p:nvPicPr>
          <p:cNvPr id="472" name="图片 471" descr="圆锥截切.jpg">
            <a:extLst>
              <a:ext uri="{FF2B5EF4-FFF2-40B4-BE49-F238E27FC236}">
                <a16:creationId xmlns:a16="http://schemas.microsoft.com/office/drawing/2014/main" id="{D17940F2-52E8-420E-BB7D-0B1A059CDAF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10000" contrast="14000"/>
          </a:blip>
          <a:srcRect/>
          <a:stretch>
            <a:fillRect/>
          </a:stretch>
        </p:blipFill>
        <p:spPr bwMode="auto">
          <a:xfrm rot="-6094117">
            <a:off x="7576424" y="4153694"/>
            <a:ext cx="2978150" cy="207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3" name="Picture 160">
            <a:extLst>
              <a:ext uri="{FF2B5EF4-FFF2-40B4-BE49-F238E27FC236}">
                <a16:creationId xmlns:a16="http://schemas.microsoft.com/office/drawing/2014/main" id="{9AC79FDA-909F-4C04-83BA-DF0076497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35230" y="1457325"/>
            <a:ext cx="2665413" cy="39465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74" name="Picture 161">
            <a:extLst>
              <a:ext uri="{FF2B5EF4-FFF2-40B4-BE49-F238E27FC236}">
                <a16:creationId xmlns:a16="http://schemas.microsoft.com/office/drawing/2014/main" id="{96417778-1D08-4A56-AEDF-1C06F0FF1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665368" y="1639888"/>
            <a:ext cx="3054350" cy="39068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475" name="椭圆 474">
            <a:extLst>
              <a:ext uri="{FF2B5EF4-FFF2-40B4-BE49-F238E27FC236}">
                <a16:creationId xmlns:a16="http://schemas.microsoft.com/office/drawing/2014/main" id="{ADEFB1D7-B1E9-4205-9FD5-53ABD0B85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430" y="3502025"/>
            <a:ext cx="1716088" cy="1204913"/>
          </a:xfrm>
          <a:prstGeom prst="ellipse">
            <a:avLst/>
          </a:prstGeom>
          <a:solidFill>
            <a:schemeClr val="accent1">
              <a:alpha val="0"/>
            </a:scheme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76" name="Text Box 156">
            <a:extLst>
              <a:ext uri="{FF2B5EF4-FFF2-40B4-BE49-F238E27FC236}">
                <a16:creationId xmlns:a16="http://schemas.microsoft.com/office/drawing/2014/main" id="{7C27672F-8063-4C88-9CCF-AE8B99F6E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93" y="800100"/>
            <a:ext cx="157003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另外一种情况？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 animBg="1"/>
      <p:bldP spid="321" grpId="0" animBg="1"/>
      <p:bldP spid="323" grpId="0" animBg="1"/>
      <p:bldP spid="324" grpId="0" animBg="1"/>
      <p:bldP spid="328" grpId="0" animBg="1"/>
      <p:bldP spid="332" grpId="0" animBg="1"/>
      <p:bldP spid="467" grpId="0" autoUpdateAnimBg="0"/>
      <p:bldP spid="468" grpId="0" autoUpdateAnimBg="0"/>
      <p:bldP spid="475" grpId="0" animBg="1"/>
      <p:bldP spid="47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44750" y="1384300"/>
            <a:ext cx="5659438" cy="69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截切圆锥的平面是？</a:t>
            </a:r>
          </a:p>
        </p:txBody>
      </p:sp>
      <p:sp>
        <p:nvSpPr>
          <p:cNvPr id="50179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2786063"/>
            <a:ext cx="39116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水平面和一般位置的平面</a:t>
            </a:r>
          </a:p>
        </p:txBody>
      </p:sp>
      <p:sp>
        <p:nvSpPr>
          <p:cNvPr id="50180" name="Text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52800" y="3471863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正垂面和一般位置的平面</a:t>
            </a:r>
          </a:p>
        </p:txBody>
      </p:sp>
      <p:sp>
        <p:nvSpPr>
          <p:cNvPr id="50181" name="Text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4157663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水平面和正垂面</a:t>
            </a:r>
          </a:p>
        </p:txBody>
      </p:sp>
      <p:sp>
        <p:nvSpPr>
          <p:cNvPr id="50182" name="Text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4843463"/>
            <a:ext cx="372903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不知道</a:t>
            </a:r>
          </a:p>
        </p:txBody>
      </p:sp>
      <p:sp>
        <p:nvSpPr>
          <p:cNvPr id="50183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0184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0185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0186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0187" name="圆角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pic>
        <p:nvPicPr>
          <p:cNvPr id="50188" name="Picture 11"/>
          <p:cNvPicPr>
            <a:picLocks noChangeAspect="1" noChangeArrowheads="1"/>
          </p:cNvPicPr>
          <p:nvPr/>
        </p:nvPicPr>
        <p:blipFill>
          <a:blip r:embed="rId20"/>
          <a:srcRect l="10504" t="17168" r="46831" b="21585"/>
          <a:stretch>
            <a:fillRect/>
          </a:stretch>
        </p:blipFill>
        <p:spPr bwMode="auto">
          <a:xfrm>
            <a:off x="7264400" y="1457326"/>
            <a:ext cx="2852738" cy="3070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50189" name="组合 1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0191" name="TitleBackground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50192" name="ColorBlock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50193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50194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50190" name="图片 1" descr="tmp27FD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2CC476D-504C-4799-BBC8-06D85F5EADB0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auto"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rtlCol="0" anchor="ctr" anchorCtr="1">
            <a:noAutofit/>
          </a:bodyPr>
          <a:lstStyle/>
          <a:p>
            <a:pPr marL="457200" indent="-457200" eaLnBrk="1" hangingPunct="1"/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597220" y="721048"/>
            <a:ext cx="83512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例：求被截切圆锥体的水平投影和侧面投影</a:t>
            </a:r>
            <a:r>
              <a:rPr kumimoji="1" lang="zh-CN" altLang="en-US" sz="3200" dirty="0"/>
              <a:t> </a:t>
            </a:r>
            <a:endParaRPr kumimoji="1" lang="zh-CN" alt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2678887" y="173573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2678887" y="173573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2678887" y="173573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2678887" y="173573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2678887" y="173573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2678887" y="173573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1459687" y="1628303"/>
            <a:ext cx="4679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分析：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1459687" y="2133129"/>
            <a:ext cx="44640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平面</a:t>
            </a:r>
            <a:r>
              <a:rPr kumimoji="1" lang="en-US" altLang="zh-CN" sz="28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是垂直于圆锥轴线的水平面，其与锥面的交线为一段</a:t>
            </a: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水平圆弧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，端点为点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1" lang="zh-CN" alt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</p:txBody>
      </p:sp>
      <p:pic>
        <p:nvPicPr>
          <p:cNvPr id="77835" name="Picture 11"/>
          <p:cNvPicPr>
            <a:picLocks noChangeAspect="1" noChangeArrowheads="1"/>
          </p:cNvPicPr>
          <p:nvPr/>
        </p:nvPicPr>
        <p:blipFill>
          <a:blip r:embed="rId4"/>
          <a:srcRect l="10504" t="17168" r="46831" b="21585"/>
          <a:stretch>
            <a:fillRect/>
          </a:stretch>
        </p:blipFill>
        <p:spPr bwMode="auto">
          <a:xfrm>
            <a:off x="6383339" y="1484313"/>
            <a:ext cx="3946525" cy="4248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1531125" y="3933354"/>
            <a:ext cx="446405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平面</a:t>
            </a:r>
            <a:r>
              <a:rPr kumimoji="1" lang="en-US" altLang="zh-CN" sz="28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是过锥顶的正垂面，与圆锥面的交线为</a:t>
            </a: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过锥顶的两直线段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SA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和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  <a:endParaRPr kumimoji="1" lang="zh-CN" altLang="en-US" sz="2800" dirty="0"/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1531125" y="5616893"/>
            <a:ext cx="4464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与</a:t>
            </a:r>
            <a:r>
              <a:rPr kumimoji="1" lang="en-US" altLang="zh-CN" sz="28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的交线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为正垂线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r>
              <a:rPr kumimoji="1" lang="zh-CN" altLang="en-US" sz="2800" dirty="0"/>
              <a:t> </a:t>
            </a:r>
          </a:p>
        </p:txBody>
      </p:sp>
      <p:sp>
        <p:nvSpPr>
          <p:cNvPr id="14" name="任意多边形 13"/>
          <p:cNvSpPr>
            <a:spLocks noChangeArrowheads="1"/>
          </p:cNvSpPr>
          <p:nvPr/>
        </p:nvSpPr>
        <p:spPr bwMode="auto">
          <a:xfrm>
            <a:off x="8894763" y="4703764"/>
            <a:ext cx="601662" cy="358775"/>
          </a:xfrm>
          <a:custGeom>
            <a:avLst/>
            <a:gdLst>
              <a:gd name="T0" fmla="*/ 0 w 607219"/>
              <a:gd name="T1" fmla="*/ 0 h 349646"/>
              <a:gd name="T2" fmla="*/ 8083 w 607219"/>
              <a:gd name="T3" fmla="*/ 94776 h 349646"/>
              <a:gd name="T4" fmla="*/ 18186 w 607219"/>
              <a:gd name="T5" fmla="*/ 163018 h 349646"/>
              <a:gd name="T6" fmla="*/ 32332 w 607219"/>
              <a:gd name="T7" fmla="*/ 212306 h 349646"/>
              <a:gd name="T8" fmla="*/ 56582 w 607219"/>
              <a:gd name="T9" fmla="*/ 265379 h 349646"/>
              <a:gd name="T10" fmla="*/ 78810 w 607219"/>
              <a:gd name="T11" fmla="*/ 310872 h 349646"/>
              <a:gd name="T12" fmla="*/ 117201 w 607219"/>
              <a:gd name="T13" fmla="*/ 363947 h 349646"/>
              <a:gd name="T14" fmla="*/ 171763 w 607219"/>
              <a:gd name="T15" fmla="*/ 417024 h 349646"/>
              <a:gd name="T16" fmla="*/ 232384 w 607219"/>
              <a:gd name="T17" fmla="*/ 466310 h 349646"/>
              <a:gd name="T18" fmla="*/ 288963 w 607219"/>
              <a:gd name="T19" fmla="*/ 508010 h 349646"/>
              <a:gd name="T20" fmla="*/ 357669 w 607219"/>
              <a:gd name="T21" fmla="*/ 530758 h 349646"/>
              <a:gd name="T22" fmla="*/ 420311 w 607219"/>
              <a:gd name="T23" fmla="*/ 553505 h 349646"/>
              <a:gd name="T24" fmla="*/ 499118 w 607219"/>
              <a:gd name="T25" fmla="*/ 549711 h 349646"/>
              <a:gd name="T26" fmla="*/ 515287 w 607219"/>
              <a:gd name="T27" fmla="*/ 542131 h 34964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07219"/>
              <a:gd name="T43" fmla="*/ 0 h 349646"/>
              <a:gd name="T44" fmla="*/ 607219 w 607219"/>
              <a:gd name="T45" fmla="*/ 349646 h 34964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07219" h="349646">
                <a:moveTo>
                  <a:pt x="0" y="0"/>
                </a:moveTo>
                <a:cubicBezTo>
                  <a:pt x="2976" y="21232"/>
                  <a:pt x="5953" y="42465"/>
                  <a:pt x="9525" y="59531"/>
                </a:cubicBezTo>
                <a:cubicBezTo>
                  <a:pt x="13097" y="76597"/>
                  <a:pt x="16670" y="90091"/>
                  <a:pt x="21432" y="102394"/>
                </a:cubicBezTo>
                <a:cubicBezTo>
                  <a:pt x="26194" y="114697"/>
                  <a:pt x="30560" y="122635"/>
                  <a:pt x="38100" y="133350"/>
                </a:cubicBezTo>
                <a:cubicBezTo>
                  <a:pt x="45640" y="144065"/>
                  <a:pt x="57547" y="156368"/>
                  <a:pt x="66675" y="166687"/>
                </a:cubicBezTo>
                <a:cubicBezTo>
                  <a:pt x="75803" y="177006"/>
                  <a:pt x="80963" y="184943"/>
                  <a:pt x="92869" y="195262"/>
                </a:cubicBezTo>
                <a:cubicBezTo>
                  <a:pt x="104775" y="205581"/>
                  <a:pt x="119857" y="217488"/>
                  <a:pt x="138113" y="228600"/>
                </a:cubicBezTo>
                <a:cubicBezTo>
                  <a:pt x="156369" y="239713"/>
                  <a:pt x="179785" y="251221"/>
                  <a:pt x="202407" y="261937"/>
                </a:cubicBezTo>
                <a:cubicBezTo>
                  <a:pt x="225029" y="272653"/>
                  <a:pt x="250825" y="283369"/>
                  <a:pt x="273844" y="292894"/>
                </a:cubicBezTo>
                <a:cubicBezTo>
                  <a:pt x="296863" y="302419"/>
                  <a:pt x="315913" y="312340"/>
                  <a:pt x="340519" y="319087"/>
                </a:cubicBezTo>
                <a:cubicBezTo>
                  <a:pt x="365125" y="325834"/>
                  <a:pt x="421482" y="333375"/>
                  <a:pt x="421482" y="333375"/>
                </a:cubicBezTo>
                <a:cubicBezTo>
                  <a:pt x="447279" y="338137"/>
                  <a:pt x="467519" y="345678"/>
                  <a:pt x="495300" y="347662"/>
                </a:cubicBezTo>
                <a:cubicBezTo>
                  <a:pt x="523081" y="349646"/>
                  <a:pt x="569516" y="346471"/>
                  <a:pt x="588169" y="345281"/>
                </a:cubicBezTo>
                <a:cubicBezTo>
                  <a:pt x="606822" y="344091"/>
                  <a:pt x="604441" y="343297"/>
                  <a:pt x="607219" y="340519"/>
                </a:cubicBezTo>
              </a:path>
            </a:pathLst>
          </a:custGeom>
          <a:solidFill>
            <a:srgbClr val="FFFF00"/>
          </a:solidFill>
          <a:ln w="28575" algn="ctr">
            <a:solidFill>
              <a:srgbClr val="FFFF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 flipV="1">
            <a:off x="6799263" y="2811464"/>
            <a:ext cx="220662" cy="3175"/>
          </a:xfrm>
          <a:prstGeom prst="line">
            <a:avLst/>
          </a:prstGeom>
          <a:noFill/>
          <a:ln w="38100" algn="ctr">
            <a:solidFill>
              <a:srgbClr val="FFFF00"/>
            </a:solidFill>
            <a:round/>
            <a:headEnd/>
            <a:tailEnd/>
          </a:ln>
        </p:spPr>
      </p:cxnSp>
      <p:grpSp>
        <p:nvGrpSpPr>
          <p:cNvPr id="2" name="组合 41"/>
          <p:cNvGrpSpPr>
            <a:grpSpLocks/>
          </p:cNvGrpSpPr>
          <p:nvPr/>
        </p:nvGrpSpPr>
        <p:grpSpPr bwMode="auto">
          <a:xfrm>
            <a:off x="8870950" y="3502026"/>
            <a:ext cx="635000" cy="1539875"/>
            <a:chOff x="7346989" y="3502023"/>
            <a:chExt cx="634964" cy="1539879"/>
          </a:xfrm>
        </p:grpSpPr>
        <p:cxnSp>
          <p:nvCxnSpPr>
            <p:cNvPr id="51219" name="直接连接符 22"/>
            <p:cNvCxnSpPr>
              <a:cxnSpLocks noChangeShapeType="1"/>
            </p:cNvCxnSpPr>
            <p:nvPr/>
          </p:nvCxnSpPr>
          <p:spPr bwMode="auto">
            <a:xfrm rot="5400000">
              <a:off x="7084221" y="3804434"/>
              <a:ext cx="1144596" cy="555637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round/>
              <a:headEnd/>
              <a:tailEnd/>
            </a:ln>
          </p:spPr>
        </p:cxnSp>
        <p:grpSp>
          <p:nvGrpSpPr>
            <p:cNvPr id="51220" name="组合 40"/>
            <p:cNvGrpSpPr>
              <a:grpSpLocks/>
            </p:cNvGrpSpPr>
            <p:nvPr/>
          </p:nvGrpSpPr>
          <p:grpSpPr bwMode="auto">
            <a:xfrm>
              <a:off x="7346989" y="3502023"/>
              <a:ext cx="634964" cy="1539879"/>
              <a:chOff x="7346989" y="3502023"/>
              <a:chExt cx="634964" cy="1539879"/>
            </a:xfrm>
          </p:grpSpPr>
          <p:cxnSp>
            <p:nvCxnSpPr>
              <p:cNvPr id="51221" name="直接连接符 27"/>
              <p:cNvCxnSpPr>
                <a:cxnSpLocks noChangeShapeType="1"/>
              </p:cNvCxnSpPr>
              <p:nvPr/>
            </p:nvCxnSpPr>
            <p:spPr bwMode="auto">
              <a:xfrm rot="16200000" flipH="1">
                <a:off x="7186636" y="4246585"/>
                <a:ext cx="1539879" cy="50755"/>
              </a:xfrm>
              <a:prstGeom prst="line">
                <a:avLst/>
              </a:prstGeom>
              <a:noFill/>
              <a:ln w="38100" algn="ctr">
                <a:solidFill>
                  <a:srgbClr val="00B050"/>
                </a:solidFill>
                <a:round/>
                <a:headEnd/>
                <a:tailEnd/>
              </a:ln>
            </p:spPr>
          </p:cxnSp>
          <p:cxnSp>
            <p:nvCxnSpPr>
              <p:cNvPr id="51222" name="直接连接符 32"/>
              <p:cNvCxnSpPr>
                <a:cxnSpLocks noChangeShapeType="1"/>
              </p:cNvCxnSpPr>
              <p:nvPr/>
            </p:nvCxnSpPr>
            <p:spPr bwMode="auto">
              <a:xfrm rot="10800000">
                <a:off x="7346989" y="4670442"/>
                <a:ext cx="620721" cy="365130"/>
              </a:xfrm>
              <a:prstGeom prst="line">
                <a:avLst/>
              </a:prstGeom>
              <a:noFill/>
              <a:ln w="38100" algn="ctr">
                <a:solidFill>
                  <a:srgbClr val="00B05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43" name="直接连接符 42"/>
          <p:cNvCxnSpPr>
            <a:cxnSpLocks noChangeShapeType="1"/>
          </p:cNvCxnSpPr>
          <p:nvPr/>
        </p:nvCxnSpPr>
        <p:spPr bwMode="auto">
          <a:xfrm rot="5400000">
            <a:off x="6625432" y="2107407"/>
            <a:ext cx="1106487" cy="317500"/>
          </a:xfrm>
          <a:prstGeom prst="line">
            <a:avLst/>
          </a:prstGeom>
          <a:noFill/>
          <a:ln w="38100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 rot="10800000">
            <a:off x="8870951" y="4670426"/>
            <a:ext cx="620713" cy="365125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33" grpId="0"/>
      <p:bldP spid="77834" grpId="0"/>
      <p:bldP spid="77838" grpId="0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1864719" y="606425"/>
            <a:ext cx="29733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作图过程：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3184304" y="159289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3184304" y="159289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3184304" y="159289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3184304" y="159289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3184304" y="159289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3184304" y="1592897"/>
            <a:ext cx="18473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1145063" y="1800082"/>
            <a:ext cx="52580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画出截切前圆锥体的侧面投影。</a:t>
            </a:r>
            <a:endParaRPr kumimoji="1" lang="zh-CN" altLang="en-US" sz="2800" dirty="0"/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1158734" y="3078211"/>
            <a:ext cx="5368946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求正垂面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与圆锥面的交线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SA</a:t>
            </a:r>
          </a:p>
          <a:p>
            <a:pPr eaLnBrk="1" hangingPunct="1">
              <a:defRPr/>
            </a:pP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和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的投影。</a:t>
            </a: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1145063" y="2467678"/>
            <a:ext cx="544495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求水平面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与圆锥面交线的投影。</a:t>
            </a:r>
          </a:p>
        </p:txBody>
      </p:sp>
      <p:sp>
        <p:nvSpPr>
          <p:cNvPr id="76820" name="Text Box 20"/>
          <p:cNvSpPr txBox="1">
            <a:spLocks noChangeArrowheads="1"/>
          </p:cNvSpPr>
          <p:nvPr/>
        </p:nvSpPr>
        <p:spPr bwMode="auto">
          <a:xfrm>
            <a:off x="1143499" y="4228112"/>
            <a:ext cx="51746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求两个截平面交线</a:t>
            </a:r>
            <a:r>
              <a:rPr kumimoji="1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的投影。</a:t>
            </a:r>
            <a:endParaRPr kumimoji="1" lang="zh-CN" altLang="en-US" sz="2800" dirty="0"/>
          </a:p>
        </p:txBody>
      </p:sp>
      <p:sp>
        <p:nvSpPr>
          <p:cNvPr id="76821" name="Text Box 21"/>
          <p:cNvSpPr txBox="1">
            <a:spLocks noChangeArrowheads="1"/>
          </p:cNvSpPr>
          <p:nvPr/>
        </p:nvSpPr>
        <p:spPr bwMode="auto">
          <a:xfrm>
            <a:off x="1143499" y="4882249"/>
            <a:ext cx="4032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5.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判别可见性，连线。</a:t>
            </a:r>
            <a:endParaRPr kumimoji="1" lang="zh-CN" altLang="en-US" sz="2800" dirty="0"/>
          </a:p>
        </p:txBody>
      </p:sp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1158734" y="5585722"/>
            <a:ext cx="4032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6.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整理轮廓线。</a:t>
            </a:r>
            <a:endParaRPr kumimoji="1" lang="zh-CN" altLang="en-US" sz="2800" dirty="0"/>
          </a:p>
        </p:txBody>
      </p:sp>
      <p:pic>
        <p:nvPicPr>
          <p:cNvPr id="17" name="Picture 11"/>
          <p:cNvPicPr>
            <a:picLocks noChangeAspect="1" noChangeArrowheads="1"/>
          </p:cNvPicPr>
          <p:nvPr/>
        </p:nvPicPr>
        <p:blipFill>
          <a:blip r:embed="rId2"/>
          <a:srcRect l="10504" t="17168" r="46831" b="21585"/>
          <a:stretch>
            <a:fillRect/>
          </a:stretch>
        </p:blipFill>
        <p:spPr bwMode="auto">
          <a:xfrm>
            <a:off x="6702527" y="1552542"/>
            <a:ext cx="4491037" cy="48339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7764564" y="1797018"/>
            <a:ext cx="2149475" cy="3175"/>
          </a:xfrm>
          <a:prstGeom prst="line">
            <a:avLst/>
          </a:prstGeom>
          <a:noFill/>
          <a:ln w="9525" algn="ctr">
            <a:solidFill>
              <a:srgbClr val="FF0066"/>
            </a:solidFill>
            <a:round/>
            <a:headEnd/>
            <a:tailEnd/>
          </a:ln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 rot="5400000">
            <a:off x="6903345" y="4820412"/>
            <a:ext cx="1790700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4" name="直接连接符 33"/>
          <p:cNvCxnSpPr>
            <a:cxnSpLocks noChangeShapeType="1"/>
          </p:cNvCxnSpPr>
          <p:nvPr/>
        </p:nvCxnSpPr>
        <p:spPr bwMode="auto">
          <a:xfrm>
            <a:off x="9075839" y="3597242"/>
            <a:ext cx="1751013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1" name="直接连接符 30"/>
          <p:cNvCxnSpPr>
            <a:cxnSpLocks noChangeShapeType="1"/>
          </p:cNvCxnSpPr>
          <p:nvPr/>
        </p:nvCxnSpPr>
        <p:spPr bwMode="auto">
          <a:xfrm>
            <a:off x="9075838" y="3597242"/>
            <a:ext cx="1752600" cy="15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" name="组合 47"/>
          <p:cNvGrpSpPr>
            <a:grpSpLocks/>
          </p:cNvGrpSpPr>
          <p:nvPr/>
        </p:nvGrpSpPr>
        <p:grpSpPr bwMode="auto">
          <a:xfrm>
            <a:off x="9075839" y="1808130"/>
            <a:ext cx="1744663" cy="1790700"/>
            <a:chOff x="6726268" y="800063"/>
            <a:chExt cx="1744636" cy="1790739"/>
          </a:xfrm>
        </p:grpSpPr>
        <p:cxnSp>
          <p:nvCxnSpPr>
            <p:cNvPr id="52268" name="直接连接符 44"/>
            <p:cNvCxnSpPr>
              <a:cxnSpLocks noChangeShapeType="1"/>
            </p:cNvCxnSpPr>
            <p:nvPr/>
          </p:nvCxnSpPr>
          <p:spPr bwMode="auto">
            <a:xfrm rot="5400000">
              <a:off x="6251599" y="1274733"/>
              <a:ext cx="1789137" cy="8397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2269" name="直接连接符 46"/>
            <p:cNvCxnSpPr>
              <a:cxnSpLocks noChangeShapeType="1"/>
            </p:cNvCxnSpPr>
            <p:nvPr/>
          </p:nvCxnSpPr>
          <p:spPr bwMode="auto">
            <a:xfrm rot="16200000" flipH="1">
              <a:off x="7123115" y="1243014"/>
              <a:ext cx="1790739" cy="90483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 flipV="1">
            <a:off x="7178777" y="3047968"/>
            <a:ext cx="3360737" cy="15875"/>
          </a:xfrm>
          <a:prstGeom prst="line">
            <a:avLst/>
          </a:prstGeom>
          <a:noFill/>
          <a:ln w="9525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 rot="16200000" flipH="1">
            <a:off x="7541520" y="3926649"/>
            <a:ext cx="1765300" cy="11113"/>
          </a:xfrm>
          <a:prstGeom prst="line">
            <a:avLst/>
          </a:prstGeom>
          <a:noFill/>
          <a:ln w="9525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65" name="椭圆 64"/>
          <p:cNvSpPr>
            <a:spLocks noChangeArrowheads="1"/>
          </p:cNvSpPr>
          <p:nvPr/>
        </p:nvSpPr>
        <p:spPr bwMode="auto">
          <a:xfrm>
            <a:off x="7177188" y="4254467"/>
            <a:ext cx="1250950" cy="1131888"/>
          </a:xfrm>
          <a:prstGeom prst="ellipse">
            <a:avLst/>
          </a:prstGeom>
          <a:noFill/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cxnSp>
        <p:nvCxnSpPr>
          <p:cNvPr id="68" name="直接连接符 67"/>
          <p:cNvCxnSpPr>
            <a:cxnSpLocks noChangeShapeType="1"/>
          </p:cNvCxnSpPr>
          <p:nvPr/>
        </p:nvCxnSpPr>
        <p:spPr bwMode="auto">
          <a:xfrm rot="16200000" flipH="1">
            <a:off x="6312002" y="4170331"/>
            <a:ext cx="2257425" cy="15875"/>
          </a:xfrm>
          <a:prstGeom prst="line">
            <a:avLst/>
          </a:prstGeom>
          <a:noFill/>
          <a:ln w="9525" algn="ctr">
            <a:solidFill>
              <a:srgbClr val="00B050"/>
            </a:solidFill>
            <a:round/>
            <a:headEnd/>
            <a:tailEnd/>
          </a:ln>
        </p:spPr>
      </p:cxnSp>
      <p:grpSp>
        <p:nvGrpSpPr>
          <p:cNvPr id="3" name="组合 77"/>
          <p:cNvGrpSpPr>
            <a:grpSpLocks/>
          </p:cNvGrpSpPr>
          <p:nvPr/>
        </p:nvGrpSpPr>
        <p:grpSpPr bwMode="auto">
          <a:xfrm>
            <a:off x="7448651" y="4354481"/>
            <a:ext cx="342900" cy="935037"/>
            <a:chOff x="5098259" y="3345657"/>
            <a:chExt cx="342898" cy="935834"/>
          </a:xfrm>
        </p:grpSpPr>
        <p:cxnSp>
          <p:nvCxnSpPr>
            <p:cNvPr id="52266" name="直接连接符 70"/>
            <p:cNvCxnSpPr>
              <a:cxnSpLocks noChangeShapeType="1"/>
            </p:cNvCxnSpPr>
            <p:nvPr/>
          </p:nvCxnSpPr>
          <p:spPr bwMode="auto">
            <a:xfrm rot="16200000" flipV="1">
              <a:off x="5037536" y="3406380"/>
              <a:ext cx="464343" cy="342898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52267" name="直接连接符 73"/>
            <p:cNvCxnSpPr>
              <a:cxnSpLocks noChangeShapeType="1"/>
            </p:cNvCxnSpPr>
            <p:nvPr/>
          </p:nvCxnSpPr>
          <p:spPr bwMode="auto">
            <a:xfrm rot="5400000" flipH="1" flipV="1">
              <a:off x="5037535" y="3882629"/>
              <a:ext cx="461965" cy="335759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</p:spPr>
        </p:cxnSp>
      </p:grp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 rot="16200000" flipV="1">
            <a:off x="6973195" y="4818824"/>
            <a:ext cx="950912" cy="3175"/>
          </a:xfrm>
          <a:prstGeom prst="line">
            <a:avLst/>
          </a:prstGeom>
          <a:noFill/>
          <a:ln w="952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85" name="直接连接符 84"/>
          <p:cNvCxnSpPr>
            <a:cxnSpLocks noChangeShapeType="1"/>
          </p:cNvCxnSpPr>
          <p:nvPr/>
        </p:nvCxnSpPr>
        <p:spPr bwMode="auto">
          <a:xfrm rot="10800000" flipV="1">
            <a:off x="9460014" y="3052731"/>
            <a:ext cx="950913" cy="3175"/>
          </a:xfrm>
          <a:prstGeom prst="line">
            <a:avLst/>
          </a:prstGeom>
          <a:noFill/>
          <a:ln w="9525" algn="ctr">
            <a:solidFill>
              <a:srgbClr val="0070C0"/>
            </a:solidFill>
            <a:round/>
            <a:headEnd/>
            <a:tailEnd/>
          </a:ln>
        </p:spPr>
      </p:cxnSp>
      <p:cxnSp>
        <p:nvCxnSpPr>
          <p:cNvPr id="87" name="直接连接符 86"/>
          <p:cNvCxnSpPr>
            <a:cxnSpLocks noChangeShapeType="1"/>
          </p:cNvCxnSpPr>
          <p:nvPr/>
        </p:nvCxnSpPr>
        <p:spPr bwMode="auto">
          <a:xfrm rot="5400000" flipH="1" flipV="1">
            <a:off x="9057583" y="2191512"/>
            <a:ext cx="1241425" cy="474663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97" name="直接连接符 96"/>
          <p:cNvCxnSpPr>
            <a:cxnSpLocks noChangeShapeType="1"/>
          </p:cNvCxnSpPr>
          <p:nvPr/>
        </p:nvCxnSpPr>
        <p:spPr bwMode="auto">
          <a:xfrm rot="16200000" flipV="1">
            <a:off x="9555264" y="2193893"/>
            <a:ext cx="1223963" cy="500063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grpSp>
        <p:nvGrpSpPr>
          <p:cNvPr id="4" name="组合 113"/>
          <p:cNvGrpSpPr>
            <a:grpSpLocks/>
          </p:cNvGrpSpPr>
          <p:nvPr/>
        </p:nvGrpSpPr>
        <p:grpSpPr bwMode="auto">
          <a:xfrm>
            <a:off x="7434363" y="4354481"/>
            <a:ext cx="363538" cy="935037"/>
            <a:chOff x="5084755" y="3347239"/>
            <a:chExt cx="363546" cy="934251"/>
          </a:xfrm>
        </p:grpSpPr>
        <p:cxnSp>
          <p:nvCxnSpPr>
            <p:cNvPr id="52262" name="直接连接符 104"/>
            <p:cNvCxnSpPr>
              <a:cxnSpLocks noChangeShapeType="1"/>
            </p:cNvCxnSpPr>
            <p:nvPr/>
          </p:nvCxnSpPr>
          <p:spPr bwMode="auto">
            <a:xfrm rot="5400000" flipH="1" flipV="1">
              <a:off x="5031582" y="3864772"/>
              <a:ext cx="476252" cy="357184"/>
            </a:xfrm>
            <a:prstGeom prst="line">
              <a:avLst/>
            </a:prstGeom>
            <a:noFill/>
            <a:ln w="50800" algn="ctr">
              <a:solidFill>
                <a:srgbClr val="FF0000"/>
              </a:solidFill>
              <a:round/>
              <a:headEnd/>
              <a:tailEnd/>
            </a:ln>
          </p:spPr>
        </p:cxnSp>
        <p:grpSp>
          <p:nvGrpSpPr>
            <p:cNvPr id="52263" name="组合 112"/>
            <p:cNvGrpSpPr>
              <a:grpSpLocks/>
            </p:cNvGrpSpPr>
            <p:nvPr/>
          </p:nvGrpSpPr>
          <p:grpSpPr bwMode="auto">
            <a:xfrm>
              <a:off x="5084755" y="3347239"/>
              <a:ext cx="363546" cy="924724"/>
              <a:chOff x="5084755" y="3347239"/>
              <a:chExt cx="363546" cy="924724"/>
            </a:xfrm>
          </p:grpSpPr>
          <p:cxnSp>
            <p:nvCxnSpPr>
              <p:cNvPr id="52264" name="直接连接符 102"/>
              <p:cNvCxnSpPr>
                <a:cxnSpLocks noChangeShapeType="1"/>
              </p:cNvCxnSpPr>
              <p:nvPr/>
            </p:nvCxnSpPr>
            <p:spPr bwMode="auto">
              <a:xfrm rot="16200000" flipV="1">
                <a:off x="5030783" y="3402008"/>
                <a:ext cx="471489" cy="363546"/>
              </a:xfrm>
              <a:prstGeom prst="line">
                <a:avLst/>
              </a:prstGeom>
              <a:noFill/>
              <a:ln w="508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52265" name="直接连接符 109"/>
              <p:cNvCxnSpPr>
                <a:cxnSpLocks noChangeShapeType="1"/>
              </p:cNvCxnSpPr>
              <p:nvPr/>
            </p:nvCxnSpPr>
            <p:spPr bwMode="auto">
              <a:xfrm rot="16200000" flipV="1">
                <a:off x="4641054" y="3807617"/>
                <a:ext cx="924724" cy="3968"/>
              </a:xfrm>
              <a:prstGeom prst="line">
                <a:avLst/>
              </a:prstGeom>
              <a:noFill/>
              <a:ln w="50800" algn="ctr">
                <a:solidFill>
                  <a:srgbClr val="FF0000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6" name="组合 126"/>
          <p:cNvGrpSpPr>
            <a:grpSpLocks/>
          </p:cNvGrpSpPr>
          <p:nvPr/>
        </p:nvGrpSpPr>
        <p:grpSpPr bwMode="auto">
          <a:xfrm>
            <a:off x="9440963" y="1808131"/>
            <a:ext cx="985838" cy="1241425"/>
            <a:chOff x="7091396" y="800065"/>
            <a:chExt cx="985804" cy="1241442"/>
          </a:xfrm>
        </p:grpSpPr>
        <p:cxnSp>
          <p:nvCxnSpPr>
            <p:cNvPr id="52258" name="直接连接符 118"/>
            <p:cNvCxnSpPr>
              <a:cxnSpLocks noChangeShapeType="1"/>
            </p:cNvCxnSpPr>
            <p:nvPr/>
          </p:nvCxnSpPr>
          <p:spPr bwMode="auto">
            <a:xfrm rot="5400000" flipH="1" flipV="1">
              <a:off x="6708010" y="1183451"/>
              <a:ext cx="1241442" cy="474669"/>
            </a:xfrm>
            <a:prstGeom prst="line">
              <a:avLst/>
            </a:prstGeom>
            <a:noFill/>
            <a:ln w="50800" algn="ctr">
              <a:solidFill>
                <a:srgbClr val="FF0000"/>
              </a:solidFill>
              <a:round/>
              <a:headEnd/>
              <a:tailEnd/>
            </a:ln>
          </p:spPr>
        </p:cxnSp>
        <p:grpSp>
          <p:nvGrpSpPr>
            <p:cNvPr id="52259" name="组合 124"/>
            <p:cNvGrpSpPr>
              <a:grpSpLocks/>
            </p:cNvGrpSpPr>
            <p:nvPr/>
          </p:nvGrpSpPr>
          <p:grpSpPr bwMode="auto">
            <a:xfrm>
              <a:off x="7091397" y="836576"/>
              <a:ext cx="985803" cy="1204930"/>
              <a:chOff x="7091397" y="836576"/>
              <a:chExt cx="985803" cy="1204930"/>
            </a:xfrm>
          </p:grpSpPr>
          <p:cxnSp>
            <p:nvCxnSpPr>
              <p:cNvPr id="52260" name="直接连接符 115"/>
              <p:cNvCxnSpPr>
                <a:cxnSpLocks noChangeShapeType="1"/>
              </p:cNvCxnSpPr>
              <p:nvPr/>
            </p:nvCxnSpPr>
            <p:spPr bwMode="auto">
              <a:xfrm flipV="1">
                <a:off x="7091397" y="2038350"/>
                <a:ext cx="985803" cy="3156"/>
              </a:xfrm>
              <a:prstGeom prst="line">
                <a:avLst/>
              </a:prstGeom>
              <a:noFill/>
              <a:ln w="508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52261" name="直接连接符 121"/>
              <p:cNvCxnSpPr>
                <a:cxnSpLocks noChangeShapeType="1"/>
              </p:cNvCxnSpPr>
              <p:nvPr/>
            </p:nvCxnSpPr>
            <p:spPr bwMode="auto">
              <a:xfrm rot="16200000" flipH="1">
                <a:off x="7218365" y="1184277"/>
                <a:ext cx="1197011" cy="501609"/>
              </a:xfrm>
              <a:prstGeom prst="line">
                <a:avLst/>
              </a:prstGeom>
              <a:noFill/>
              <a:ln w="50800" algn="ctr">
                <a:solidFill>
                  <a:srgbClr val="FF0000"/>
                </a:solidFill>
                <a:round/>
                <a:headEnd/>
                <a:tailEnd/>
              </a:ln>
            </p:spPr>
          </p:cxnSp>
        </p:grpSp>
      </p:grpSp>
      <p:sp>
        <p:nvSpPr>
          <p:cNvPr id="131" name="任意多边形 130"/>
          <p:cNvSpPr>
            <a:spLocks noChangeArrowheads="1"/>
          </p:cNvSpPr>
          <p:nvPr/>
        </p:nvSpPr>
        <p:spPr bwMode="auto">
          <a:xfrm>
            <a:off x="7170838" y="4351305"/>
            <a:ext cx="279400" cy="952500"/>
          </a:xfrm>
          <a:custGeom>
            <a:avLst/>
            <a:gdLst>
              <a:gd name="T0" fmla="*/ 277403 w 278607"/>
              <a:gd name="T1" fmla="*/ 0 h 952500"/>
              <a:gd name="T2" fmla="*/ 192433 w 278607"/>
              <a:gd name="T3" fmla="*/ 61913 h 952500"/>
              <a:gd name="T4" fmla="*/ 132454 w 278607"/>
              <a:gd name="T5" fmla="*/ 128588 h 952500"/>
              <a:gd name="T6" fmla="*/ 82472 w 278607"/>
              <a:gd name="T7" fmla="*/ 209550 h 952500"/>
              <a:gd name="T8" fmla="*/ 52483 w 278607"/>
              <a:gd name="T9" fmla="*/ 271463 h 952500"/>
              <a:gd name="T10" fmla="*/ 7498 w 278607"/>
              <a:gd name="T11" fmla="*/ 404813 h 952500"/>
              <a:gd name="T12" fmla="*/ 7498 w 278607"/>
              <a:gd name="T13" fmla="*/ 490538 h 952500"/>
              <a:gd name="T14" fmla="*/ 12495 w 278607"/>
              <a:gd name="T15" fmla="*/ 557213 h 952500"/>
              <a:gd name="T16" fmla="*/ 27491 w 278607"/>
              <a:gd name="T17" fmla="*/ 633413 h 952500"/>
              <a:gd name="T18" fmla="*/ 62477 w 278607"/>
              <a:gd name="T19" fmla="*/ 709613 h 952500"/>
              <a:gd name="T20" fmla="*/ 102465 w 278607"/>
              <a:gd name="T21" fmla="*/ 785813 h 952500"/>
              <a:gd name="T22" fmla="*/ 167443 w 278607"/>
              <a:gd name="T23" fmla="*/ 857250 h 952500"/>
              <a:gd name="T24" fmla="*/ 242415 w 278607"/>
              <a:gd name="T25" fmla="*/ 909638 h 952500"/>
              <a:gd name="T26" fmla="*/ 292401 w 278607"/>
              <a:gd name="T27" fmla="*/ 952500 h 9525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78607"/>
              <a:gd name="T43" fmla="*/ 0 h 952500"/>
              <a:gd name="T44" fmla="*/ 278607 w 278607"/>
              <a:gd name="T45" fmla="*/ 952500 h 9525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78607" h="952500">
                <a:moveTo>
                  <a:pt x="264319" y="0"/>
                </a:moveTo>
                <a:cubicBezTo>
                  <a:pt x="235347" y="20241"/>
                  <a:pt x="206376" y="40482"/>
                  <a:pt x="183357" y="61913"/>
                </a:cubicBezTo>
                <a:cubicBezTo>
                  <a:pt x="160338" y="83344"/>
                  <a:pt x="143669" y="103982"/>
                  <a:pt x="126207" y="128588"/>
                </a:cubicBezTo>
                <a:cubicBezTo>
                  <a:pt x="108745" y="153194"/>
                  <a:pt x="91282" y="185738"/>
                  <a:pt x="78582" y="209550"/>
                </a:cubicBezTo>
                <a:cubicBezTo>
                  <a:pt x="65882" y="233363"/>
                  <a:pt x="61913" y="238919"/>
                  <a:pt x="50007" y="271463"/>
                </a:cubicBezTo>
                <a:cubicBezTo>
                  <a:pt x="38101" y="304007"/>
                  <a:pt x="14288" y="368301"/>
                  <a:pt x="7144" y="404813"/>
                </a:cubicBezTo>
                <a:cubicBezTo>
                  <a:pt x="0" y="441325"/>
                  <a:pt x="6350" y="465138"/>
                  <a:pt x="7144" y="490538"/>
                </a:cubicBezTo>
                <a:cubicBezTo>
                  <a:pt x="7938" y="515938"/>
                  <a:pt x="8732" y="533401"/>
                  <a:pt x="11907" y="557213"/>
                </a:cubicBezTo>
                <a:cubicBezTo>
                  <a:pt x="15082" y="581026"/>
                  <a:pt x="18257" y="608013"/>
                  <a:pt x="26194" y="633413"/>
                </a:cubicBezTo>
                <a:cubicBezTo>
                  <a:pt x="34131" y="658813"/>
                  <a:pt x="47626" y="684213"/>
                  <a:pt x="59532" y="709613"/>
                </a:cubicBezTo>
                <a:cubicBezTo>
                  <a:pt x="71438" y="735013"/>
                  <a:pt x="80963" y="761207"/>
                  <a:pt x="97632" y="785813"/>
                </a:cubicBezTo>
                <a:cubicBezTo>
                  <a:pt x="114301" y="810419"/>
                  <a:pt x="137319" y="836613"/>
                  <a:pt x="159544" y="857250"/>
                </a:cubicBezTo>
                <a:cubicBezTo>
                  <a:pt x="181769" y="877887"/>
                  <a:pt x="211138" y="893763"/>
                  <a:pt x="230982" y="909638"/>
                </a:cubicBezTo>
                <a:cubicBezTo>
                  <a:pt x="250826" y="925513"/>
                  <a:pt x="263526" y="946150"/>
                  <a:pt x="278607" y="952500"/>
                </a:cubicBezTo>
              </a:path>
            </a:pathLst>
          </a:custGeom>
          <a:noFill/>
          <a:ln w="508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pic>
        <p:nvPicPr>
          <p:cNvPr id="76816" name="Picture 16"/>
          <p:cNvPicPr>
            <a:picLocks noChangeAspect="1" noChangeArrowheads="1"/>
          </p:cNvPicPr>
          <p:nvPr/>
        </p:nvPicPr>
        <p:blipFill>
          <a:blip r:embed="rId2"/>
          <a:srcRect l="55801" t="18056" r="4181" b="26833"/>
          <a:stretch>
            <a:fillRect/>
          </a:stretch>
        </p:blipFill>
        <p:spPr bwMode="auto">
          <a:xfrm>
            <a:off x="6559652" y="1603343"/>
            <a:ext cx="4560887" cy="4710113"/>
          </a:xfrm>
          <a:prstGeom prst="rect">
            <a:avLst/>
          </a:prstGeom>
          <a:solidFill>
            <a:schemeClr val="accent1"/>
          </a:solidFill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76809" grpId="0"/>
      <p:bldP spid="76818" grpId="0"/>
      <p:bldP spid="76819" grpId="0"/>
      <p:bldP spid="76820" grpId="0"/>
      <p:bldP spid="76821" grpId="0"/>
      <p:bldP spid="76822" grpId="0"/>
      <p:bldP spid="65" grpId="0" animBg="1"/>
      <p:bldP spid="1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63">
            <a:extLst>
              <a:ext uri="{FF2B5EF4-FFF2-40B4-BE49-F238E27FC236}">
                <a16:creationId xmlns:a16="http://schemas.microsoft.com/office/drawing/2014/main" id="{3001ED06-159F-4CCB-BBE5-2C00943BF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3369" y="1932768"/>
            <a:ext cx="4467225" cy="45434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1" name="Text Box 30">
            <a:extLst>
              <a:ext uri="{FF2B5EF4-FFF2-40B4-BE49-F238E27FC236}">
                <a16:creationId xmlns:a16="http://schemas.microsoft.com/office/drawing/2014/main" id="{099545A6-3542-41C7-B967-CD6B35175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999" y="706505"/>
            <a:ext cx="83137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/>
              <a:t>例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圆锥被正垂面截切，求截交线，并完成三视图。</a:t>
            </a:r>
          </a:p>
        </p:txBody>
      </p:sp>
      <p:sp>
        <p:nvSpPr>
          <p:cNvPr id="52" name="Text Box 52">
            <a:extLst>
              <a:ext uri="{FF2B5EF4-FFF2-40B4-BE49-F238E27FC236}">
                <a16:creationId xmlns:a16="http://schemas.microsoft.com/office/drawing/2014/main" id="{F4681D12-C3BF-4BE5-A236-F46476ACB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567" y="1698613"/>
            <a:ext cx="1812925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/>
              <a:t>截交线的空间形状？</a:t>
            </a:r>
          </a:p>
        </p:txBody>
      </p:sp>
      <p:sp>
        <p:nvSpPr>
          <p:cNvPr id="53" name="Text Box 53">
            <a:extLst>
              <a:ext uri="{FF2B5EF4-FFF2-40B4-BE49-F238E27FC236}">
                <a16:creationId xmlns:a16="http://schemas.microsoft.com/office/drawing/2014/main" id="{CFC9E33F-A8A4-40A2-85E1-6808BCF34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8917" y="1768463"/>
            <a:ext cx="1812925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/>
              <a:t>截交线的投影特性？</a:t>
            </a:r>
          </a:p>
        </p:txBody>
      </p:sp>
      <p:sp>
        <p:nvSpPr>
          <p:cNvPr id="54" name="Text Box 54">
            <a:extLst>
              <a:ext uri="{FF2B5EF4-FFF2-40B4-BE49-F238E27FC236}">
                <a16:creationId xmlns:a16="http://schemas.microsoft.com/office/drawing/2014/main" id="{CD46B1EA-D34C-472D-A90D-E8DDACC5B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401" y="4488643"/>
            <a:ext cx="19700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找特殊点</a:t>
            </a:r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7A066AD5-5272-4D09-9204-A4DEF9167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642" y="2563800"/>
            <a:ext cx="20685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/>
              <a:t>如何找椭圆另一根轴的端点？</a:t>
            </a: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26AB76CE-6957-4946-9800-3AD6233D9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7163" y="4941081"/>
            <a:ext cx="23288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补充中间点</a:t>
            </a:r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03E65F71-1A12-4C55-B934-CEA21FFCC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288" y="5395106"/>
            <a:ext cx="2695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★</a:t>
            </a:r>
            <a:r>
              <a:rPr lang="zh-CN" altLang="en-US" sz="2800"/>
              <a:t>光滑连接各点</a:t>
            </a:r>
          </a:p>
        </p:txBody>
      </p:sp>
      <p:sp>
        <p:nvSpPr>
          <p:cNvPr id="58" name="Text Box 58">
            <a:extLst>
              <a:ext uri="{FF2B5EF4-FFF2-40B4-BE49-F238E27FC236}">
                <a16:creationId xmlns:a16="http://schemas.microsoft.com/office/drawing/2014/main" id="{A7119E4E-6681-402C-BE3E-F0BA45C4F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6051" y="5849131"/>
            <a:ext cx="35528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/>
              <a:t>★</a:t>
            </a:r>
            <a:r>
              <a:rPr lang="zh-CN" altLang="en-US" sz="2800" dirty="0"/>
              <a:t>分析轮廓线的投影</a:t>
            </a:r>
          </a:p>
        </p:txBody>
      </p:sp>
      <p:pic>
        <p:nvPicPr>
          <p:cNvPr id="59" name="Picture 64">
            <a:extLst>
              <a:ext uri="{FF2B5EF4-FFF2-40B4-BE49-F238E27FC236}">
                <a16:creationId xmlns:a16="http://schemas.microsoft.com/office/drawing/2014/main" id="{E8318C40-BA9D-4AE0-BC1C-CE2E9D11F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40787" y="3334531"/>
            <a:ext cx="1938338" cy="2514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60" name="Picture 65">
            <a:extLst>
              <a:ext uri="{FF2B5EF4-FFF2-40B4-BE49-F238E27FC236}">
                <a16:creationId xmlns:a16="http://schemas.microsoft.com/office/drawing/2014/main" id="{7CB04F39-2761-42B5-A46D-A73434AE1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48944" y="1969281"/>
            <a:ext cx="1825625" cy="21653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1" name="Line 19">
            <a:extLst>
              <a:ext uri="{FF2B5EF4-FFF2-40B4-BE49-F238E27FC236}">
                <a16:creationId xmlns:a16="http://schemas.microsoft.com/office/drawing/2014/main" id="{82772DDC-6213-4E96-8EBC-838D8E757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9419" y="2677306"/>
            <a:ext cx="0" cy="27003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2" name="Line 24">
            <a:extLst>
              <a:ext uri="{FF2B5EF4-FFF2-40B4-BE49-F238E27FC236}">
                <a16:creationId xmlns:a16="http://schemas.microsoft.com/office/drawing/2014/main" id="{05695FCE-031F-4D5B-A890-ADF26A450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4181" y="2685243"/>
            <a:ext cx="2195513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" name="Line 18">
            <a:extLst>
              <a:ext uri="{FF2B5EF4-FFF2-40B4-BE49-F238E27FC236}">
                <a16:creationId xmlns:a16="http://schemas.microsoft.com/office/drawing/2014/main" id="{8B3950BA-837D-467E-990B-476053E2A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881" y="3509156"/>
            <a:ext cx="0" cy="18716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4" name="Line 25">
            <a:extLst>
              <a:ext uri="{FF2B5EF4-FFF2-40B4-BE49-F238E27FC236}">
                <a16:creationId xmlns:a16="http://schemas.microsoft.com/office/drawing/2014/main" id="{D06E6A5D-86DB-422A-8E1B-A5602CDF2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881" y="3505981"/>
            <a:ext cx="30607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" name="Freeform 16">
            <a:extLst>
              <a:ext uri="{FF2B5EF4-FFF2-40B4-BE49-F238E27FC236}">
                <a16:creationId xmlns:a16="http://schemas.microsoft.com/office/drawing/2014/main" id="{F283D556-DB42-4156-855B-B530FDA39650}"/>
              </a:ext>
            </a:extLst>
          </p:cNvPr>
          <p:cNvSpPr>
            <a:spLocks/>
          </p:cNvSpPr>
          <p:nvPr/>
        </p:nvSpPr>
        <p:spPr bwMode="auto">
          <a:xfrm>
            <a:off x="2767781" y="2885268"/>
            <a:ext cx="3024188" cy="0"/>
          </a:xfrm>
          <a:custGeom>
            <a:avLst/>
            <a:gdLst>
              <a:gd name="T0" fmla="*/ 0 w 2420"/>
              <a:gd name="T1" fmla="*/ 0 h 3"/>
              <a:gd name="T2" fmla="*/ 2147483647 w 2420"/>
              <a:gd name="T3" fmla="*/ 0 h 3"/>
              <a:gd name="T4" fmla="*/ 0 60000 65536"/>
              <a:gd name="T5" fmla="*/ 0 60000 65536"/>
              <a:gd name="T6" fmla="*/ 0 w 2420"/>
              <a:gd name="T7" fmla="*/ 0 h 3"/>
              <a:gd name="T8" fmla="*/ 2420 w 2420"/>
              <a:gd name="T9" fmla="*/ 0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20" h="3">
                <a:moveTo>
                  <a:pt x="0" y="3"/>
                </a:moveTo>
                <a:lnTo>
                  <a:pt x="2420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" name="Freeform 31">
            <a:extLst>
              <a:ext uri="{FF2B5EF4-FFF2-40B4-BE49-F238E27FC236}">
                <a16:creationId xmlns:a16="http://schemas.microsoft.com/office/drawing/2014/main" id="{19394EB2-D5A0-448F-AA7A-C7BCFD710A3A}"/>
              </a:ext>
            </a:extLst>
          </p:cNvPr>
          <p:cNvSpPr>
            <a:spLocks/>
          </p:cNvSpPr>
          <p:nvPr/>
        </p:nvSpPr>
        <p:spPr bwMode="auto">
          <a:xfrm>
            <a:off x="2955106" y="5064906"/>
            <a:ext cx="1588" cy="611187"/>
          </a:xfrm>
          <a:custGeom>
            <a:avLst/>
            <a:gdLst>
              <a:gd name="T0" fmla="*/ 0 w 1"/>
              <a:gd name="T1" fmla="*/ 2147483647 h 831"/>
              <a:gd name="T2" fmla="*/ 0 w 1"/>
              <a:gd name="T3" fmla="*/ 0 h 831"/>
              <a:gd name="T4" fmla="*/ 0 60000 65536"/>
              <a:gd name="T5" fmla="*/ 0 60000 65536"/>
              <a:gd name="T6" fmla="*/ 0 w 1"/>
              <a:gd name="T7" fmla="*/ 0 h 831"/>
              <a:gd name="T8" fmla="*/ 1 w 1"/>
              <a:gd name="T9" fmla="*/ 831 h 83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31">
                <a:moveTo>
                  <a:pt x="0" y="83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oval" w="sm" len="sm"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4" name="Freeform 28">
            <a:extLst>
              <a:ext uri="{FF2B5EF4-FFF2-40B4-BE49-F238E27FC236}">
                <a16:creationId xmlns:a16="http://schemas.microsoft.com/office/drawing/2014/main" id="{F83CE3F6-0557-4FC7-A945-2AA1627D8927}"/>
              </a:ext>
            </a:extLst>
          </p:cNvPr>
          <p:cNvSpPr>
            <a:spLocks/>
          </p:cNvSpPr>
          <p:nvPr/>
        </p:nvSpPr>
        <p:spPr bwMode="auto">
          <a:xfrm>
            <a:off x="5056956" y="2882093"/>
            <a:ext cx="612775" cy="1588"/>
          </a:xfrm>
          <a:custGeom>
            <a:avLst/>
            <a:gdLst>
              <a:gd name="T0" fmla="*/ 0 w 844"/>
              <a:gd name="T1" fmla="*/ 0 h 1"/>
              <a:gd name="T2" fmla="*/ 2147483647 w 844"/>
              <a:gd name="T3" fmla="*/ 0 h 1"/>
              <a:gd name="T4" fmla="*/ 0 60000 65536"/>
              <a:gd name="T5" fmla="*/ 0 60000 65536"/>
              <a:gd name="T6" fmla="*/ 0 w 844"/>
              <a:gd name="T7" fmla="*/ 0 h 1"/>
              <a:gd name="T8" fmla="*/ 844 w 84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44" h="1">
                <a:moveTo>
                  <a:pt x="0" y="0"/>
                </a:moveTo>
                <a:lnTo>
                  <a:pt x="844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oval" w="sm" len="sm"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1" name="Line 32">
            <a:extLst>
              <a:ext uri="{FF2B5EF4-FFF2-40B4-BE49-F238E27FC236}">
                <a16:creationId xmlns:a16="http://schemas.microsoft.com/office/drawing/2014/main" id="{E66A183F-F0B7-4F9B-91E8-428BB18E2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0631" y="3113868"/>
            <a:ext cx="0" cy="27352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" name="Freeform 33">
            <a:extLst>
              <a:ext uri="{FF2B5EF4-FFF2-40B4-BE49-F238E27FC236}">
                <a16:creationId xmlns:a16="http://schemas.microsoft.com/office/drawing/2014/main" id="{B5C0FEC6-075A-4D9B-BEAD-4528CA004E08}"/>
              </a:ext>
            </a:extLst>
          </p:cNvPr>
          <p:cNvSpPr>
            <a:spLocks/>
          </p:cNvSpPr>
          <p:nvPr/>
        </p:nvSpPr>
        <p:spPr bwMode="auto">
          <a:xfrm>
            <a:off x="2586806" y="3120218"/>
            <a:ext cx="3240088" cy="1588"/>
          </a:xfrm>
          <a:custGeom>
            <a:avLst/>
            <a:gdLst>
              <a:gd name="T0" fmla="*/ 0 w 2544"/>
              <a:gd name="T1" fmla="*/ 0 h 1"/>
              <a:gd name="T2" fmla="*/ 2147483647 w 2544"/>
              <a:gd name="T3" fmla="*/ 0 h 1"/>
              <a:gd name="T4" fmla="*/ 0 60000 65536"/>
              <a:gd name="T5" fmla="*/ 0 60000 65536"/>
              <a:gd name="T6" fmla="*/ 0 w 2544"/>
              <a:gd name="T7" fmla="*/ 0 h 1"/>
              <a:gd name="T8" fmla="*/ 2544 w 254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44" h="1">
                <a:moveTo>
                  <a:pt x="0" y="0"/>
                </a:moveTo>
                <a:lnTo>
                  <a:pt x="2544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" name="Oval 34">
            <a:extLst>
              <a:ext uri="{FF2B5EF4-FFF2-40B4-BE49-F238E27FC236}">
                <a16:creationId xmlns:a16="http://schemas.microsoft.com/office/drawing/2014/main" id="{F32D4DD3-1015-432A-8E5D-34F53FB0E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069" y="4934731"/>
            <a:ext cx="863600" cy="8636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04" name="Line 35">
            <a:extLst>
              <a:ext uri="{FF2B5EF4-FFF2-40B4-BE49-F238E27FC236}">
                <a16:creationId xmlns:a16="http://schemas.microsoft.com/office/drawing/2014/main" id="{FC348DF9-ADB8-4AE7-B4BC-91206BD28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9606" y="3113868"/>
            <a:ext cx="0" cy="226853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5" name="Freeform 36">
            <a:extLst>
              <a:ext uri="{FF2B5EF4-FFF2-40B4-BE49-F238E27FC236}">
                <a16:creationId xmlns:a16="http://schemas.microsoft.com/office/drawing/2014/main" id="{CE48FAFB-6356-449D-BE67-BA6B4C674D03}"/>
              </a:ext>
            </a:extLst>
          </p:cNvPr>
          <p:cNvSpPr>
            <a:spLocks/>
          </p:cNvSpPr>
          <p:nvPr/>
        </p:nvSpPr>
        <p:spPr bwMode="auto">
          <a:xfrm>
            <a:off x="2712219" y="5002993"/>
            <a:ext cx="1587" cy="720725"/>
          </a:xfrm>
          <a:custGeom>
            <a:avLst/>
            <a:gdLst>
              <a:gd name="T0" fmla="*/ 0 w 1"/>
              <a:gd name="T1" fmla="*/ 0 h 865"/>
              <a:gd name="T2" fmla="*/ 0 w 1"/>
              <a:gd name="T3" fmla="*/ 2147483647 h 865"/>
              <a:gd name="T4" fmla="*/ 0 60000 65536"/>
              <a:gd name="T5" fmla="*/ 0 60000 65536"/>
              <a:gd name="T6" fmla="*/ 0 w 1"/>
              <a:gd name="T7" fmla="*/ 0 h 865"/>
              <a:gd name="T8" fmla="*/ 1 w 1"/>
              <a:gd name="T9" fmla="*/ 865 h 8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65">
                <a:moveTo>
                  <a:pt x="0" y="0"/>
                </a:moveTo>
                <a:lnTo>
                  <a:pt x="0" y="865"/>
                </a:lnTo>
              </a:path>
            </a:pathLst>
          </a:custGeom>
          <a:noFill/>
          <a:ln w="12700">
            <a:solidFill>
              <a:schemeClr val="accent2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6" name="Freeform 37">
            <a:extLst>
              <a:ext uri="{FF2B5EF4-FFF2-40B4-BE49-F238E27FC236}">
                <a16:creationId xmlns:a16="http://schemas.microsoft.com/office/drawing/2014/main" id="{244B8605-3744-4D87-A8EC-5FBEABE14C65}"/>
              </a:ext>
            </a:extLst>
          </p:cNvPr>
          <p:cNvSpPr>
            <a:spLocks/>
          </p:cNvSpPr>
          <p:nvPr/>
        </p:nvSpPr>
        <p:spPr bwMode="auto">
          <a:xfrm>
            <a:off x="5002981" y="3118631"/>
            <a:ext cx="720725" cy="1587"/>
          </a:xfrm>
          <a:custGeom>
            <a:avLst/>
            <a:gdLst>
              <a:gd name="T0" fmla="*/ 0 w 864"/>
              <a:gd name="T1" fmla="*/ 0 h 1"/>
              <a:gd name="T2" fmla="*/ 2147483647 w 864"/>
              <a:gd name="T3" fmla="*/ 2147483647 h 1"/>
              <a:gd name="T4" fmla="*/ 0 60000 65536"/>
              <a:gd name="T5" fmla="*/ 0 60000 65536"/>
              <a:gd name="T6" fmla="*/ 0 w 864"/>
              <a:gd name="T7" fmla="*/ 0 h 1"/>
              <a:gd name="T8" fmla="*/ 864 w 86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64" h="1">
                <a:moveTo>
                  <a:pt x="0" y="0"/>
                </a:moveTo>
                <a:lnTo>
                  <a:pt x="864" y="1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" name="Line 2">
            <a:extLst>
              <a:ext uri="{FF2B5EF4-FFF2-40B4-BE49-F238E27FC236}">
                <a16:creationId xmlns:a16="http://schemas.microsoft.com/office/drawing/2014/main" id="{AA666156-823A-48A5-B3CB-F656D4E6C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3369" y="2772556"/>
            <a:ext cx="2663825" cy="0"/>
          </a:xfrm>
          <a:prstGeom prst="line">
            <a:avLst/>
          </a:prstGeom>
          <a:noFill/>
          <a:ln w="12700">
            <a:solidFill>
              <a:srgbClr val="9933FF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8" name="Freeform 3">
            <a:extLst>
              <a:ext uri="{FF2B5EF4-FFF2-40B4-BE49-F238E27FC236}">
                <a16:creationId xmlns:a16="http://schemas.microsoft.com/office/drawing/2014/main" id="{C13B6C7F-DCE5-40BE-BDD8-C7EF21089F38}"/>
              </a:ext>
            </a:extLst>
          </p:cNvPr>
          <p:cNvSpPr>
            <a:spLocks/>
          </p:cNvSpPr>
          <p:nvPr/>
        </p:nvSpPr>
        <p:spPr bwMode="auto">
          <a:xfrm flipH="1">
            <a:off x="2977331" y="2783668"/>
            <a:ext cx="84138" cy="2916238"/>
          </a:xfrm>
          <a:custGeom>
            <a:avLst/>
            <a:gdLst>
              <a:gd name="T0" fmla="*/ 0 w 1"/>
              <a:gd name="T1" fmla="*/ 0 h 2787"/>
              <a:gd name="T2" fmla="*/ 0 w 1"/>
              <a:gd name="T3" fmla="*/ 2147483647 h 2787"/>
              <a:gd name="T4" fmla="*/ 0 60000 65536"/>
              <a:gd name="T5" fmla="*/ 0 60000 65536"/>
              <a:gd name="T6" fmla="*/ 0 w 1"/>
              <a:gd name="T7" fmla="*/ 0 h 2787"/>
              <a:gd name="T8" fmla="*/ 1 w 1"/>
              <a:gd name="T9" fmla="*/ 2787 h 278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787">
                <a:moveTo>
                  <a:pt x="0" y="0"/>
                </a:moveTo>
                <a:lnTo>
                  <a:pt x="0" y="2787"/>
                </a:lnTo>
              </a:path>
            </a:pathLst>
          </a:custGeom>
          <a:noFill/>
          <a:ln w="12700">
            <a:solidFill>
              <a:srgbClr val="9933FF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9" name="Line 44">
            <a:extLst>
              <a:ext uri="{FF2B5EF4-FFF2-40B4-BE49-F238E27FC236}">
                <a16:creationId xmlns:a16="http://schemas.microsoft.com/office/drawing/2014/main" id="{B2ABF7AB-4E8C-4711-B427-AA3F36437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7044" y="2782081"/>
            <a:ext cx="0" cy="2592387"/>
          </a:xfrm>
          <a:prstGeom prst="line">
            <a:avLst/>
          </a:prstGeom>
          <a:noFill/>
          <a:ln w="9525">
            <a:solidFill>
              <a:srgbClr val="9933FF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0" name="Oval 45">
            <a:extLst>
              <a:ext uri="{FF2B5EF4-FFF2-40B4-BE49-F238E27FC236}">
                <a16:creationId xmlns:a16="http://schemas.microsoft.com/office/drawing/2014/main" id="{FFC81BE2-313E-4F63-BBC6-61C6D042C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294" y="5103006"/>
            <a:ext cx="539750" cy="539750"/>
          </a:xfrm>
          <a:prstGeom prst="ellipse">
            <a:avLst/>
          </a:prstGeom>
          <a:noFill/>
          <a:ln w="9525">
            <a:solidFill>
              <a:srgbClr val="9933FF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11" name="Freeform 17">
            <a:extLst>
              <a:ext uri="{FF2B5EF4-FFF2-40B4-BE49-F238E27FC236}">
                <a16:creationId xmlns:a16="http://schemas.microsoft.com/office/drawing/2014/main" id="{89F3002C-7136-444F-B6CE-2491D842E877}"/>
              </a:ext>
            </a:extLst>
          </p:cNvPr>
          <p:cNvSpPr>
            <a:spLocks/>
          </p:cNvSpPr>
          <p:nvPr/>
        </p:nvSpPr>
        <p:spPr bwMode="auto">
          <a:xfrm>
            <a:off x="5129981" y="2772556"/>
            <a:ext cx="468313" cy="1587"/>
          </a:xfrm>
          <a:custGeom>
            <a:avLst/>
            <a:gdLst>
              <a:gd name="T0" fmla="*/ 0 w 684"/>
              <a:gd name="T1" fmla="*/ 0 h 1"/>
              <a:gd name="T2" fmla="*/ 2147483647 w 684"/>
              <a:gd name="T3" fmla="*/ 0 h 1"/>
              <a:gd name="T4" fmla="*/ 0 60000 65536"/>
              <a:gd name="T5" fmla="*/ 0 60000 65536"/>
              <a:gd name="T6" fmla="*/ 0 w 684"/>
              <a:gd name="T7" fmla="*/ 0 h 1"/>
              <a:gd name="T8" fmla="*/ 684 w 68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84" h="1">
                <a:moveTo>
                  <a:pt x="0" y="0"/>
                </a:moveTo>
                <a:lnTo>
                  <a:pt x="684" y="0"/>
                </a:lnTo>
              </a:path>
            </a:pathLst>
          </a:custGeom>
          <a:noFill/>
          <a:ln w="12700">
            <a:solidFill>
              <a:srgbClr val="9933FF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" name="Freeform 43">
            <a:extLst>
              <a:ext uri="{FF2B5EF4-FFF2-40B4-BE49-F238E27FC236}">
                <a16:creationId xmlns:a16="http://schemas.microsoft.com/office/drawing/2014/main" id="{EE4D4870-C680-4FF5-BA9F-2746584D5587}"/>
              </a:ext>
            </a:extLst>
          </p:cNvPr>
          <p:cNvSpPr>
            <a:spLocks/>
          </p:cNvSpPr>
          <p:nvPr/>
        </p:nvSpPr>
        <p:spPr bwMode="auto">
          <a:xfrm>
            <a:off x="3061469" y="5117293"/>
            <a:ext cx="1587" cy="503238"/>
          </a:xfrm>
          <a:custGeom>
            <a:avLst/>
            <a:gdLst>
              <a:gd name="T0" fmla="*/ 0 w 1"/>
              <a:gd name="T1" fmla="*/ 0 h 681"/>
              <a:gd name="T2" fmla="*/ 0 w 1"/>
              <a:gd name="T3" fmla="*/ 2147483647 h 681"/>
              <a:gd name="T4" fmla="*/ 0 60000 65536"/>
              <a:gd name="T5" fmla="*/ 0 60000 65536"/>
              <a:gd name="T6" fmla="*/ 0 w 1"/>
              <a:gd name="T7" fmla="*/ 0 h 681"/>
              <a:gd name="T8" fmla="*/ 1 w 1"/>
              <a:gd name="T9" fmla="*/ 681 h 68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81">
                <a:moveTo>
                  <a:pt x="0" y="0"/>
                </a:moveTo>
                <a:lnTo>
                  <a:pt x="0" y="681"/>
                </a:lnTo>
              </a:path>
            </a:pathLst>
          </a:custGeom>
          <a:noFill/>
          <a:ln w="12700">
            <a:solidFill>
              <a:srgbClr val="9933FF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" name="Line 26">
            <a:extLst>
              <a:ext uri="{FF2B5EF4-FFF2-40B4-BE49-F238E27FC236}">
                <a16:creationId xmlns:a16="http://schemas.microsoft.com/office/drawing/2014/main" id="{BF9502F4-C00B-4200-A136-0FD5303E7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2856" y="2999568"/>
            <a:ext cx="3060700" cy="0"/>
          </a:xfrm>
          <a:prstGeom prst="line">
            <a:avLst/>
          </a:prstGeom>
          <a:noFill/>
          <a:ln w="12700">
            <a:solidFill>
              <a:srgbClr val="3399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4" name="Freeform 27">
            <a:extLst>
              <a:ext uri="{FF2B5EF4-FFF2-40B4-BE49-F238E27FC236}">
                <a16:creationId xmlns:a16="http://schemas.microsoft.com/office/drawing/2014/main" id="{1DCF3D7B-BD6C-46F3-BF23-18C42B9EAE7C}"/>
              </a:ext>
            </a:extLst>
          </p:cNvPr>
          <p:cNvSpPr>
            <a:spLocks/>
          </p:cNvSpPr>
          <p:nvPr/>
        </p:nvSpPr>
        <p:spPr bwMode="auto">
          <a:xfrm>
            <a:off x="3339281" y="3001156"/>
            <a:ext cx="1588" cy="2374900"/>
          </a:xfrm>
          <a:custGeom>
            <a:avLst/>
            <a:gdLst>
              <a:gd name="T0" fmla="*/ 0 w 1"/>
              <a:gd name="T1" fmla="*/ 0 h 2099"/>
              <a:gd name="T2" fmla="*/ 2147483647 w 1"/>
              <a:gd name="T3" fmla="*/ 2147483647 h 2099"/>
              <a:gd name="T4" fmla="*/ 0 60000 65536"/>
              <a:gd name="T5" fmla="*/ 0 60000 65536"/>
              <a:gd name="T6" fmla="*/ 0 w 1"/>
              <a:gd name="T7" fmla="*/ 0 h 2099"/>
              <a:gd name="T8" fmla="*/ 1 w 1"/>
              <a:gd name="T9" fmla="*/ 2099 h 20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099">
                <a:moveTo>
                  <a:pt x="0" y="0"/>
                </a:moveTo>
                <a:lnTo>
                  <a:pt x="1" y="2099"/>
                </a:lnTo>
              </a:path>
            </a:pathLst>
          </a:custGeom>
          <a:noFill/>
          <a:ln w="12700">
            <a:solidFill>
              <a:srgbClr val="3399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5" name="Oval 46">
            <a:extLst>
              <a:ext uri="{FF2B5EF4-FFF2-40B4-BE49-F238E27FC236}">
                <a16:creationId xmlns:a16="http://schemas.microsoft.com/office/drawing/2014/main" id="{1543BF50-3553-4B35-8B65-5C9109BFB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044" y="4993468"/>
            <a:ext cx="757237" cy="755650"/>
          </a:xfrm>
          <a:prstGeom prst="ellipse">
            <a:avLst/>
          </a:prstGeom>
          <a:noFill/>
          <a:ln w="9525">
            <a:solidFill>
              <a:srgbClr val="3399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16" name="Line 47">
            <a:extLst>
              <a:ext uri="{FF2B5EF4-FFF2-40B4-BE49-F238E27FC236}">
                <a16:creationId xmlns:a16="http://schemas.microsoft.com/office/drawing/2014/main" id="{EB9AC3F0-87FD-4C47-AD8E-98DEEBFDAF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2394" y="2918606"/>
            <a:ext cx="0" cy="2843212"/>
          </a:xfrm>
          <a:prstGeom prst="line">
            <a:avLst/>
          </a:prstGeom>
          <a:noFill/>
          <a:ln w="12700">
            <a:solidFill>
              <a:srgbClr val="3399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7" name="Freeform 29">
            <a:extLst>
              <a:ext uri="{FF2B5EF4-FFF2-40B4-BE49-F238E27FC236}">
                <a16:creationId xmlns:a16="http://schemas.microsoft.com/office/drawing/2014/main" id="{2704F1EB-7930-4C72-A9EB-023A2FAFC32B}"/>
              </a:ext>
            </a:extLst>
          </p:cNvPr>
          <p:cNvSpPr>
            <a:spLocks/>
          </p:cNvSpPr>
          <p:nvPr/>
        </p:nvSpPr>
        <p:spPr bwMode="auto">
          <a:xfrm>
            <a:off x="2840806" y="5004581"/>
            <a:ext cx="1588" cy="719137"/>
          </a:xfrm>
          <a:custGeom>
            <a:avLst/>
            <a:gdLst>
              <a:gd name="T0" fmla="*/ 0 w 1"/>
              <a:gd name="T1" fmla="*/ 0 h 786"/>
              <a:gd name="T2" fmla="*/ 0 w 1"/>
              <a:gd name="T3" fmla="*/ 2147483647 h 786"/>
              <a:gd name="T4" fmla="*/ 0 60000 65536"/>
              <a:gd name="T5" fmla="*/ 0 60000 65536"/>
              <a:gd name="T6" fmla="*/ 0 w 1"/>
              <a:gd name="T7" fmla="*/ 0 h 786"/>
              <a:gd name="T8" fmla="*/ 1 w 1"/>
              <a:gd name="T9" fmla="*/ 786 h 7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786">
                <a:moveTo>
                  <a:pt x="0" y="0"/>
                </a:moveTo>
                <a:lnTo>
                  <a:pt x="0" y="786"/>
                </a:lnTo>
              </a:path>
            </a:pathLst>
          </a:custGeom>
          <a:noFill/>
          <a:ln w="12700">
            <a:solidFill>
              <a:srgbClr val="339966"/>
            </a:solidFill>
            <a:round/>
            <a:headEnd type="oval" w="sm" len="sm"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8" name="Freeform 38">
            <a:extLst>
              <a:ext uri="{FF2B5EF4-FFF2-40B4-BE49-F238E27FC236}">
                <a16:creationId xmlns:a16="http://schemas.microsoft.com/office/drawing/2014/main" id="{49621F69-F4D9-4C18-9944-558C10AE5D5B}"/>
              </a:ext>
            </a:extLst>
          </p:cNvPr>
          <p:cNvSpPr>
            <a:spLocks/>
          </p:cNvSpPr>
          <p:nvPr/>
        </p:nvSpPr>
        <p:spPr bwMode="auto">
          <a:xfrm>
            <a:off x="5002981" y="2994806"/>
            <a:ext cx="720725" cy="1587"/>
          </a:xfrm>
          <a:custGeom>
            <a:avLst/>
            <a:gdLst>
              <a:gd name="T0" fmla="*/ 0 w 822"/>
              <a:gd name="T1" fmla="*/ 0 h 1"/>
              <a:gd name="T2" fmla="*/ 2147483647 w 822"/>
              <a:gd name="T3" fmla="*/ 0 h 1"/>
              <a:gd name="T4" fmla="*/ 0 60000 65536"/>
              <a:gd name="T5" fmla="*/ 0 60000 65536"/>
              <a:gd name="T6" fmla="*/ 0 w 822"/>
              <a:gd name="T7" fmla="*/ 0 h 1"/>
              <a:gd name="T8" fmla="*/ 822 w 82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22" h="1">
                <a:moveTo>
                  <a:pt x="0" y="0"/>
                </a:moveTo>
                <a:lnTo>
                  <a:pt x="822" y="0"/>
                </a:lnTo>
              </a:path>
            </a:pathLst>
          </a:custGeom>
          <a:noFill/>
          <a:ln w="9525">
            <a:solidFill>
              <a:srgbClr val="339966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" name="Line 39">
            <a:extLst>
              <a:ext uri="{FF2B5EF4-FFF2-40B4-BE49-F238E27FC236}">
                <a16:creationId xmlns:a16="http://schemas.microsoft.com/office/drawing/2014/main" id="{33BE9F76-5248-4A3C-865F-E2A0ED924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8194" y="3325006"/>
            <a:ext cx="3779837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0" name="Line 40">
            <a:extLst>
              <a:ext uri="{FF2B5EF4-FFF2-40B4-BE49-F238E27FC236}">
                <a16:creationId xmlns:a16="http://schemas.microsoft.com/office/drawing/2014/main" id="{2D844C4E-5610-4593-B595-246AD18F0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9969" y="3174193"/>
            <a:ext cx="0" cy="2555875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1" name="Oval 48">
            <a:extLst>
              <a:ext uri="{FF2B5EF4-FFF2-40B4-BE49-F238E27FC236}">
                <a16:creationId xmlns:a16="http://schemas.microsoft.com/office/drawing/2014/main" id="{9D09B220-3AE4-4370-A7BE-422C6AC2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944" y="4829956"/>
            <a:ext cx="1079500" cy="1079500"/>
          </a:xfrm>
          <a:prstGeom prst="ellips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22" name="Line 49">
            <a:extLst>
              <a:ext uri="{FF2B5EF4-FFF2-40B4-BE49-F238E27FC236}">
                <a16:creationId xmlns:a16="http://schemas.microsoft.com/office/drawing/2014/main" id="{93007E6B-92AF-47CA-96B1-14BB4459A8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9619" y="3320243"/>
            <a:ext cx="0" cy="2052638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" name="Freeform 41">
            <a:extLst>
              <a:ext uri="{FF2B5EF4-FFF2-40B4-BE49-F238E27FC236}">
                <a16:creationId xmlns:a16="http://schemas.microsoft.com/office/drawing/2014/main" id="{0B74F625-2D9C-4ECE-BF06-E0AED17C112A}"/>
              </a:ext>
            </a:extLst>
          </p:cNvPr>
          <p:cNvSpPr>
            <a:spLocks/>
          </p:cNvSpPr>
          <p:nvPr/>
        </p:nvSpPr>
        <p:spPr bwMode="auto">
          <a:xfrm>
            <a:off x="2493144" y="5072843"/>
            <a:ext cx="1587" cy="576263"/>
          </a:xfrm>
          <a:custGeom>
            <a:avLst/>
            <a:gdLst>
              <a:gd name="T0" fmla="*/ 0 w 1"/>
              <a:gd name="T1" fmla="*/ 0 h 589"/>
              <a:gd name="T2" fmla="*/ 0 w 1"/>
              <a:gd name="T3" fmla="*/ 2147483647 h 589"/>
              <a:gd name="T4" fmla="*/ 0 60000 65536"/>
              <a:gd name="T5" fmla="*/ 0 60000 65536"/>
              <a:gd name="T6" fmla="*/ 0 w 1"/>
              <a:gd name="T7" fmla="*/ 0 h 589"/>
              <a:gd name="T8" fmla="*/ 1 w 1"/>
              <a:gd name="T9" fmla="*/ 589 h 58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89">
                <a:moveTo>
                  <a:pt x="0" y="0"/>
                </a:moveTo>
                <a:lnTo>
                  <a:pt x="0" y="589"/>
                </a:lnTo>
              </a:path>
            </a:pathLst>
          </a:custGeom>
          <a:noFill/>
          <a:ln w="12700">
            <a:solidFill>
              <a:srgbClr val="990000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4" name="Freeform 42">
            <a:extLst>
              <a:ext uri="{FF2B5EF4-FFF2-40B4-BE49-F238E27FC236}">
                <a16:creationId xmlns:a16="http://schemas.microsoft.com/office/drawing/2014/main" id="{8CD65581-6B9F-4B23-BD7F-F71AF79D45FB}"/>
              </a:ext>
            </a:extLst>
          </p:cNvPr>
          <p:cNvSpPr>
            <a:spLocks/>
          </p:cNvSpPr>
          <p:nvPr/>
        </p:nvSpPr>
        <p:spPr bwMode="auto">
          <a:xfrm>
            <a:off x="5055369" y="3321831"/>
            <a:ext cx="612775" cy="1587"/>
          </a:xfrm>
          <a:custGeom>
            <a:avLst/>
            <a:gdLst>
              <a:gd name="T0" fmla="*/ 0 w 617"/>
              <a:gd name="T1" fmla="*/ 0 h 1"/>
              <a:gd name="T2" fmla="*/ 2147483647 w 617"/>
              <a:gd name="T3" fmla="*/ 2147483647 h 1"/>
              <a:gd name="T4" fmla="*/ 0 60000 65536"/>
              <a:gd name="T5" fmla="*/ 0 60000 65536"/>
              <a:gd name="T6" fmla="*/ 0 w 617"/>
              <a:gd name="T7" fmla="*/ 0 h 1"/>
              <a:gd name="T8" fmla="*/ 617 w 6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7" h="1">
                <a:moveTo>
                  <a:pt x="0" y="0"/>
                </a:moveTo>
                <a:lnTo>
                  <a:pt x="617" y="1"/>
                </a:lnTo>
              </a:path>
            </a:pathLst>
          </a:custGeom>
          <a:noFill/>
          <a:ln w="12700">
            <a:solidFill>
              <a:srgbClr val="990000"/>
            </a:solidFill>
            <a:round/>
            <a:headEnd type="oval" w="sm" len="sm"/>
            <a:tailEnd type="oval" w="sm" len="sm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" name="Oval 50">
            <a:extLst>
              <a:ext uri="{FF2B5EF4-FFF2-40B4-BE49-F238E27FC236}">
                <a16:creationId xmlns:a16="http://schemas.microsoft.com/office/drawing/2014/main" id="{A869F717-A0F8-4877-96A1-1259BD0DC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56" y="2682068"/>
            <a:ext cx="720725" cy="82867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26" name="Oval 51">
            <a:extLst>
              <a:ext uri="{FF2B5EF4-FFF2-40B4-BE49-F238E27FC236}">
                <a16:creationId xmlns:a16="http://schemas.microsoft.com/office/drawing/2014/main" id="{7A7D3681-544B-4530-98C2-78BC3DA23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19" y="5002993"/>
            <a:ext cx="863600" cy="72072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grpSp>
        <p:nvGrpSpPr>
          <p:cNvPr id="127" name="组合 104">
            <a:extLst>
              <a:ext uri="{FF2B5EF4-FFF2-40B4-BE49-F238E27FC236}">
                <a16:creationId xmlns:a16="http://schemas.microsoft.com/office/drawing/2014/main" id="{7207E142-BCD2-4DC2-9C92-2B10ED10D176}"/>
              </a:ext>
            </a:extLst>
          </p:cNvPr>
          <p:cNvGrpSpPr>
            <a:grpSpLocks/>
          </p:cNvGrpSpPr>
          <p:nvPr/>
        </p:nvGrpSpPr>
        <p:grpSpPr bwMode="auto">
          <a:xfrm>
            <a:off x="4504506" y="2870981"/>
            <a:ext cx="1727200" cy="1008062"/>
            <a:chOff x="3057503" y="2394865"/>
            <a:chExt cx="1728000" cy="1008000"/>
          </a:xfrm>
        </p:grpSpPr>
        <p:sp>
          <p:nvSpPr>
            <p:cNvPr id="128" name="Line 21">
              <a:extLst>
                <a:ext uri="{FF2B5EF4-FFF2-40B4-BE49-F238E27FC236}">
                  <a16:creationId xmlns:a16="http://schemas.microsoft.com/office/drawing/2014/main" id="{C91160E6-0EA7-4C06-9982-B00EB0B19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503" y="3398837"/>
              <a:ext cx="172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9" name="Freeform 22">
              <a:extLst>
                <a:ext uri="{FF2B5EF4-FFF2-40B4-BE49-F238E27FC236}">
                  <a16:creationId xmlns:a16="http://schemas.microsoft.com/office/drawing/2014/main" id="{7022CA67-27CC-4801-8BFE-2857387DA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267" y="2394865"/>
              <a:ext cx="540000" cy="1008000"/>
            </a:xfrm>
            <a:custGeom>
              <a:avLst/>
              <a:gdLst>
                <a:gd name="T0" fmla="*/ 0 w 255"/>
                <a:gd name="T1" fmla="*/ 2147483647 h 800"/>
                <a:gd name="T2" fmla="*/ 2147483647 w 255"/>
                <a:gd name="T3" fmla="*/ 0 h 800"/>
                <a:gd name="T4" fmla="*/ 0 60000 65536"/>
                <a:gd name="T5" fmla="*/ 0 60000 65536"/>
                <a:gd name="T6" fmla="*/ 0 w 255"/>
                <a:gd name="T7" fmla="*/ 0 h 800"/>
                <a:gd name="T8" fmla="*/ 255 w 255"/>
                <a:gd name="T9" fmla="*/ 800 h 8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5" h="800">
                  <a:moveTo>
                    <a:pt x="0" y="800"/>
                  </a:moveTo>
                  <a:lnTo>
                    <a:pt x="25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0" name="Freeform 23">
              <a:extLst>
                <a:ext uri="{FF2B5EF4-FFF2-40B4-BE49-F238E27FC236}">
                  <a16:creationId xmlns:a16="http://schemas.microsoft.com/office/drawing/2014/main" id="{35A3BC2C-AC12-4F90-9E56-F41987434F4E}"/>
                </a:ext>
              </a:extLst>
            </p:cNvPr>
            <p:cNvSpPr>
              <a:spLocks/>
            </p:cNvSpPr>
            <p:nvPr/>
          </p:nvSpPr>
          <p:spPr bwMode="auto">
            <a:xfrm rot="120000">
              <a:off x="4207184" y="2412989"/>
              <a:ext cx="576000" cy="972000"/>
            </a:xfrm>
            <a:custGeom>
              <a:avLst/>
              <a:gdLst>
                <a:gd name="T0" fmla="*/ 2147483647 w 253"/>
                <a:gd name="T1" fmla="*/ 2147483647 h 801"/>
                <a:gd name="T2" fmla="*/ 0 w 253"/>
                <a:gd name="T3" fmla="*/ 0 h 801"/>
                <a:gd name="T4" fmla="*/ 0 60000 65536"/>
                <a:gd name="T5" fmla="*/ 0 60000 65536"/>
                <a:gd name="T6" fmla="*/ 0 w 253"/>
                <a:gd name="T7" fmla="*/ 0 h 801"/>
                <a:gd name="T8" fmla="*/ 253 w 253"/>
                <a:gd name="T9" fmla="*/ 801 h 8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3" h="801">
                  <a:moveTo>
                    <a:pt x="253" y="801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000"/>
                            </p:stCondLst>
                            <p:childTnLst>
                              <p:par>
                                <p:cTn id="146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500"/>
                            </p:stCondLst>
                            <p:childTnLst>
                              <p:par>
                                <p:cTn id="157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0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500"/>
                            </p:stCondLst>
                            <p:childTnLst>
                              <p:par>
                                <p:cTn id="1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7000"/>
                            </p:stCondLst>
                            <p:childTnLst>
                              <p:par>
                                <p:cTn id="17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7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80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8500"/>
                            </p:stCondLst>
                            <p:childTnLst>
                              <p:par>
                                <p:cTn id="18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61" grpId="0" animBg="1"/>
      <p:bldP spid="62" grpId="0" animBg="1"/>
      <p:bldP spid="63" grpId="0" animBg="1"/>
      <p:bldP spid="64" grpId="0" animBg="1"/>
      <p:bldP spid="65" grpId="0" animBg="1"/>
      <p:bldP spid="73" grpId="0" animBg="1"/>
      <p:bldP spid="74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44750" y="873126"/>
            <a:ext cx="7315200" cy="166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800">
                <a:latin typeface="黑体" pitchFamily="49" charset="-122"/>
                <a:ea typeface="黑体" pitchFamily="49" charset="-122"/>
              </a:rPr>
              <a:t>平面截切圆锥体，根据截平面与圆锥体轴线的相对位置不同，其截交线有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: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54275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27860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800">
                <a:latin typeface="黑体" pitchFamily="49" charset="-122"/>
                <a:ea typeface="黑体" pitchFamily="49" charset="-122"/>
              </a:rPr>
              <a:t>过锥顶的三角、圆、椭圆。</a:t>
            </a:r>
          </a:p>
        </p:txBody>
      </p:sp>
      <p:sp>
        <p:nvSpPr>
          <p:cNvPr id="54276" name="Text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52800" y="364331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400">
                <a:latin typeface="黑体" pitchFamily="49" charset="-122"/>
                <a:ea typeface="黑体" pitchFamily="49" charset="-122"/>
              </a:rPr>
              <a:t>双曲线和直线。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54277" name="Text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45005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400">
                <a:latin typeface="黑体" pitchFamily="49" charset="-122"/>
                <a:ea typeface="黑体" pitchFamily="49" charset="-122"/>
              </a:rPr>
              <a:t>抛物线和直线。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54278" name="Text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535781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双曲线和抛物线。</a:t>
            </a:r>
          </a:p>
        </p:txBody>
      </p:sp>
      <p:sp>
        <p:nvSpPr>
          <p:cNvPr id="54279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4280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4281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4282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4283" name="圆角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54284" name="组合 1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4286" name="TitleBackground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54287" name="ColorBlock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54288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sym typeface="Microsoft Yahei" pitchFamily="34" charset="-122"/>
                </a:rPr>
                <a:t>多选题</a:t>
              </a:r>
            </a:p>
          </p:txBody>
        </p:sp>
        <p:sp>
          <p:nvSpPr>
            <p:cNvPr id="54289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54285" name="图片 1" descr="tmp27FD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BF2203C-42EF-4115-A5CF-F37C59D41097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auto"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rtlCol="0" anchor="ctr" anchorCtr="1">
            <a:noAutofit/>
          </a:bodyPr>
          <a:lstStyle/>
          <a:p>
            <a:pPr marL="457200" indent="-457200" eaLnBrk="1" hangingPunct="1"/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0"/>
          <p:cNvSpPr txBox="1">
            <a:spLocks noChangeArrowheads="1"/>
          </p:cNvSpPr>
          <p:nvPr/>
        </p:nvSpPr>
        <p:spPr bwMode="auto">
          <a:xfrm>
            <a:off x="2858512" y="491600"/>
            <a:ext cx="61590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+mn-ea"/>
                <a:ea typeface="+mn-ea"/>
              </a:rPr>
              <a:t>(</a:t>
            </a:r>
            <a:r>
              <a:rPr lang="zh-CN" altLang="en-US" sz="3200" b="1" dirty="0">
                <a:latin typeface="+mn-ea"/>
                <a:ea typeface="+mn-ea"/>
              </a:rPr>
              <a:t>三）圆球体的截切构形及其投影</a:t>
            </a:r>
          </a:p>
        </p:txBody>
      </p:sp>
      <p:sp>
        <p:nvSpPr>
          <p:cNvPr id="52" name="Text Box 21"/>
          <p:cNvSpPr txBox="1">
            <a:spLocks noChangeArrowheads="1"/>
          </p:cNvSpPr>
          <p:nvPr/>
        </p:nvSpPr>
        <p:spPr bwMode="auto">
          <a:xfrm>
            <a:off x="995574" y="1427946"/>
            <a:ext cx="1035166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b="1" dirty="0"/>
              <a:t>    </a:t>
            </a:r>
            <a:r>
              <a:rPr lang="zh-CN" altLang="en-US" sz="2800" b="1" dirty="0"/>
              <a:t>平面与圆球相交，</a:t>
            </a:r>
            <a:r>
              <a:rPr lang="zh-CN" altLang="en-US" sz="2800" b="1" dirty="0">
                <a:solidFill>
                  <a:srgbClr val="FF0000"/>
                </a:solidFill>
              </a:rPr>
              <a:t>截交线的形状都是圆。</a:t>
            </a:r>
            <a:r>
              <a:rPr lang="zh-CN" altLang="en-US" sz="2800" b="1" dirty="0"/>
              <a:t>截平面与投影面的相对位置不同，</a:t>
            </a:r>
            <a:r>
              <a:rPr lang="zh-CN" altLang="en-US" sz="2800" b="1" dirty="0">
                <a:solidFill>
                  <a:schemeClr val="tx2"/>
                </a:solidFill>
              </a:rPr>
              <a:t>其</a:t>
            </a:r>
            <a:r>
              <a:rPr lang="zh-CN" altLang="en-US" sz="2800" b="1" dirty="0">
                <a:solidFill>
                  <a:srgbClr val="FF0000"/>
                </a:solidFill>
              </a:rPr>
              <a:t>截交线的投影可能为圆、椭圆或积聚成一条直线</a:t>
            </a:r>
            <a:r>
              <a:rPr lang="zh-CN" altLang="en-US" sz="2800" b="1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FA5358-5B69-4F29-AAA5-C5231DC46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66" y="2636384"/>
            <a:ext cx="8525668" cy="367912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0"/>
          <p:cNvSpPr txBox="1">
            <a:spLocks noChangeArrowheads="1"/>
          </p:cNvSpPr>
          <p:nvPr/>
        </p:nvSpPr>
        <p:spPr bwMode="auto">
          <a:xfrm>
            <a:off x="2858512" y="491600"/>
            <a:ext cx="61590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+mn-ea"/>
                <a:ea typeface="+mn-ea"/>
              </a:rPr>
              <a:t>(</a:t>
            </a:r>
            <a:r>
              <a:rPr lang="zh-CN" altLang="en-US" sz="3200" b="1" dirty="0">
                <a:latin typeface="+mn-ea"/>
                <a:ea typeface="+mn-ea"/>
              </a:rPr>
              <a:t>三）圆球体的截切构形及其投影</a:t>
            </a:r>
          </a:p>
        </p:txBody>
      </p:sp>
      <p:sp>
        <p:nvSpPr>
          <p:cNvPr id="87" name="Text Box 3"/>
          <p:cNvSpPr txBox="1">
            <a:spLocks noChangeArrowheads="1"/>
          </p:cNvSpPr>
          <p:nvPr/>
        </p:nvSpPr>
        <p:spPr bwMode="auto">
          <a:xfrm>
            <a:off x="1238213" y="1654694"/>
            <a:ext cx="6642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/>
              <a:t>例：求半球体截切后的俯视图和左视图。</a:t>
            </a:r>
          </a:p>
        </p:txBody>
      </p:sp>
      <p:pic>
        <p:nvPicPr>
          <p:cNvPr id="52272" name="Picture 4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13726" y="2443163"/>
            <a:ext cx="2219325" cy="1828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52273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3369" y="2498723"/>
            <a:ext cx="4467225" cy="3371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91" name="Text Box 4"/>
          <p:cNvSpPr txBox="1">
            <a:spLocks noChangeArrowheads="1"/>
          </p:cNvSpPr>
          <p:nvPr/>
        </p:nvSpPr>
        <p:spPr bwMode="auto">
          <a:xfrm>
            <a:off x="6625396" y="5017304"/>
            <a:ext cx="45275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00099"/>
                </a:solidFill>
              </a:rPr>
              <a:t>水平面与圆球面的交线的投影，在俯视图上为部分圆弧，在侧视图上积聚为直线。</a:t>
            </a:r>
          </a:p>
        </p:txBody>
      </p:sp>
      <p:pic>
        <p:nvPicPr>
          <p:cNvPr id="52274" name="Picture 5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91805" y="2527299"/>
            <a:ext cx="1849438" cy="1131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94" name="直接连接符 93"/>
          <p:cNvCxnSpPr/>
          <p:nvPr/>
        </p:nvCxnSpPr>
        <p:spPr>
          <a:xfrm>
            <a:off x="2669344" y="3205160"/>
            <a:ext cx="547687" cy="1588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3217031" y="3205160"/>
            <a:ext cx="310356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rot="16200000" flipH="1">
            <a:off x="2906674" y="3990179"/>
            <a:ext cx="1606550" cy="3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4750555" y="3205160"/>
            <a:ext cx="1511300" cy="158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rot="16200000" flipH="1">
            <a:off x="2066886" y="4355304"/>
            <a:ext cx="2300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 rot="16200000" flipH="1">
            <a:off x="1519199" y="4355304"/>
            <a:ext cx="2300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椭圆 99"/>
          <p:cNvSpPr/>
          <p:nvPr/>
        </p:nvSpPr>
        <p:spPr bwMode="auto">
          <a:xfrm>
            <a:off x="2175631" y="4014786"/>
            <a:ext cx="1546225" cy="1547813"/>
          </a:xfrm>
          <a:prstGeom prst="ellipse">
            <a:avLst/>
          </a:prstGeom>
          <a:noFill/>
          <a:ln w="952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10" name="任意多边形 109"/>
          <p:cNvSpPr/>
          <p:nvPr/>
        </p:nvSpPr>
        <p:spPr>
          <a:xfrm rot="10800000">
            <a:off x="2180394" y="4081460"/>
            <a:ext cx="471487" cy="1428750"/>
          </a:xfrm>
          <a:custGeom>
            <a:avLst/>
            <a:gdLst>
              <a:gd name="connsiteX0" fmla="*/ 0 w 501650"/>
              <a:gd name="connsiteY0" fmla="*/ 0 h 1451318"/>
              <a:gd name="connsiteX1" fmla="*/ 19050 w 501650"/>
              <a:gd name="connsiteY1" fmla="*/ 6350 h 1451318"/>
              <a:gd name="connsiteX2" fmla="*/ 28575 w 501650"/>
              <a:gd name="connsiteY2" fmla="*/ 9525 h 1451318"/>
              <a:gd name="connsiteX3" fmla="*/ 41275 w 501650"/>
              <a:gd name="connsiteY3" fmla="*/ 12700 h 1451318"/>
              <a:gd name="connsiteX4" fmla="*/ 60325 w 501650"/>
              <a:gd name="connsiteY4" fmla="*/ 22225 h 1451318"/>
              <a:gd name="connsiteX5" fmla="*/ 82550 w 501650"/>
              <a:gd name="connsiteY5" fmla="*/ 34925 h 1451318"/>
              <a:gd name="connsiteX6" fmla="*/ 104775 w 501650"/>
              <a:gd name="connsiteY6" fmla="*/ 41275 h 1451318"/>
              <a:gd name="connsiteX7" fmla="*/ 114300 w 501650"/>
              <a:gd name="connsiteY7" fmla="*/ 47625 h 1451318"/>
              <a:gd name="connsiteX8" fmla="*/ 123825 w 501650"/>
              <a:gd name="connsiteY8" fmla="*/ 57150 h 1451318"/>
              <a:gd name="connsiteX9" fmla="*/ 133350 w 501650"/>
              <a:gd name="connsiteY9" fmla="*/ 60325 h 1451318"/>
              <a:gd name="connsiteX10" fmla="*/ 152400 w 501650"/>
              <a:gd name="connsiteY10" fmla="*/ 79375 h 1451318"/>
              <a:gd name="connsiteX11" fmla="*/ 171450 w 501650"/>
              <a:gd name="connsiteY11" fmla="*/ 85725 h 1451318"/>
              <a:gd name="connsiteX12" fmla="*/ 180975 w 501650"/>
              <a:gd name="connsiteY12" fmla="*/ 92075 h 1451318"/>
              <a:gd name="connsiteX13" fmla="*/ 190500 w 501650"/>
              <a:gd name="connsiteY13" fmla="*/ 101600 h 1451318"/>
              <a:gd name="connsiteX14" fmla="*/ 203200 w 501650"/>
              <a:gd name="connsiteY14" fmla="*/ 107950 h 1451318"/>
              <a:gd name="connsiteX15" fmla="*/ 222250 w 501650"/>
              <a:gd name="connsiteY15" fmla="*/ 127000 h 1451318"/>
              <a:gd name="connsiteX16" fmla="*/ 250825 w 501650"/>
              <a:gd name="connsiteY16" fmla="*/ 155575 h 1451318"/>
              <a:gd name="connsiteX17" fmla="*/ 260350 w 501650"/>
              <a:gd name="connsiteY17" fmla="*/ 165100 h 1451318"/>
              <a:gd name="connsiteX18" fmla="*/ 263525 w 501650"/>
              <a:gd name="connsiteY18" fmla="*/ 174625 h 1451318"/>
              <a:gd name="connsiteX19" fmla="*/ 273050 w 501650"/>
              <a:gd name="connsiteY19" fmla="*/ 180975 h 1451318"/>
              <a:gd name="connsiteX20" fmla="*/ 285750 w 501650"/>
              <a:gd name="connsiteY20" fmla="*/ 190500 h 1451318"/>
              <a:gd name="connsiteX21" fmla="*/ 295275 w 501650"/>
              <a:gd name="connsiteY21" fmla="*/ 196850 h 1451318"/>
              <a:gd name="connsiteX22" fmla="*/ 314325 w 501650"/>
              <a:gd name="connsiteY22" fmla="*/ 215900 h 1451318"/>
              <a:gd name="connsiteX23" fmla="*/ 323850 w 501650"/>
              <a:gd name="connsiteY23" fmla="*/ 225425 h 1451318"/>
              <a:gd name="connsiteX24" fmla="*/ 333375 w 501650"/>
              <a:gd name="connsiteY24" fmla="*/ 234950 h 1451318"/>
              <a:gd name="connsiteX25" fmla="*/ 346075 w 501650"/>
              <a:gd name="connsiteY25" fmla="*/ 254000 h 1451318"/>
              <a:gd name="connsiteX26" fmla="*/ 349250 w 501650"/>
              <a:gd name="connsiteY26" fmla="*/ 263525 h 1451318"/>
              <a:gd name="connsiteX27" fmla="*/ 361950 w 501650"/>
              <a:gd name="connsiteY27" fmla="*/ 282575 h 1451318"/>
              <a:gd name="connsiteX28" fmla="*/ 368300 w 501650"/>
              <a:gd name="connsiteY28" fmla="*/ 292100 h 1451318"/>
              <a:gd name="connsiteX29" fmla="*/ 377825 w 501650"/>
              <a:gd name="connsiteY29" fmla="*/ 301625 h 1451318"/>
              <a:gd name="connsiteX30" fmla="*/ 387350 w 501650"/>
              <a:gd name="connsiteY30" fmla="*/ 320675 h 1451318"/>
              <a:gd name="connsiteX31" fmla="*/ 412750 w 501650"/>
              <a:gd name="connsiteY31" fmla="*/ 349250 h 1451318"/>
              <a:gd name="connsiteX32" fmla="*/ 422275 w 501650"/>
              <a:gd name="connsiteY32" fmla="*/ 377825 h 1451318"/>
              <a:gd name="connsiteX33" fmla="*/ 425450 w 501650"/>
              <a:gd name="connsiteY33" fmla="*/ 387350 h 1451318"/>
              <a:gd name="connsiteX34" fmla="*/ 431800 w 501650"/>
              <a:gd name="connsiteY34" fmla="*/ 396875 h 1451318"/>
              <a:gd name="connsiteX35" fmla="*/ 441325 w 501650"/>
              <a:gd name="connsiteY35" fmla="*/ 428625 h 1451318"/>
              <a:gd name="connsiteX36" fmla="*/ 444500 w 501650"/>
              <a:gd name="connsiteY36" fmla="*/ 438150 h 1451318"/>
              <a:gd name="connsiteX37" fmla="*/ 457200 w 501650"/>
              <a:gd name="connsiteY37" fmla="*/ 457200 h 1451318"/>
              <a:gd name="connsiteX38" fmla="*/ 460375 w 501650"/>
              <a:gd name="connsiteY38" fmla="*/ 469900 h 1451318"/>
              <a:gd name="connsiteX39" fmla="*/ 463550 w 501650"/>
              <a:gd name="connsiteY39" fmla="*/ 479425 h 1451318"/>
              <a:gd name="connsiteX40" fmla="*/ 466725 w 501650"/>
              <a:gd name="connsiteY40" fmla="*/ 495300 h 1451318"/>
              <a:gd name="connsiteX41" fmla="*/ 473075 w 501650"/>
              <a:gd name="connsiteY41" fmla="*/ 514350 h 1451318"/>
              <a:gd name="connsiteX42" fmla="*/ 476250 w 501650"/>
              <a:gd name="connsiteY42" fmla="*/ 523875 h 1451318"/>
              <a:gd name="connsiteX43" fmla="*/ 482600 w 501650"/>
              <a:gd name="connsiteY43" fmla="*/ 549275 h 1451318"/>
              <a:gd name="connsiteX44" fmla="*/ 485775 w 501650"/>
              <a:gd name="connsiteY44" fmla="*/ 577850 h 1451318"/>
              <a:gd name="connsiteX45" fmla="*/ 492125 w 501650"/>
              <a:gd name="connsiteY45" fmla="*/ 587375 h 1451318"/>
              <a:gd name="connsiteX46" fmla="*/ 495300 w 501650"/>
              <a:gd name="connsiteY46" fmla="*/ 596900 h 1451318"/>
              <a:gd name="connsiteX47" fmla="*/ 498475 w 501650"/>
              <a:gd name="connsiteY47" fmla="*/ 673100 h 1451318"/>
              <a:gd name="connsiteX48" fmla="*/ 501650 w 501650"/>
              <a:gd name="connsiteY48" fmla="*/ 682625 h 1451318"/>
              <a:gd name="connsiteX49" fmla="*/ 498475 w 501650"/>
              <a:gd name="connsiteY49" fmla="*/ 828675 h 1451318"/>
              <a:gd name="connsiteX50" fmla="*/ 492125 w 501650"/>
              <a:gd name="connsiteY50" fmla="*/ 847725 h 1451318"/>
              <a:gd name="connsiteX51" fmla="*/ 485775 w 501650"/>
              <a:gd name="connsiteY51" fmla="*/ 885825 h 1451318"/>
              <a:gd name="connsiteX52" fmla="*/ 482600 w 501650"/>
              <a:gd name="connsiteY52" fmla="*/ 901700 h 1451318"/>
              <a:gd name="connsiteX53" fmla="*/ 479425 w 501650"/>
              <a:gd name="connsiteY53" fmla="*/ 914400 h 1451318"/>
              <a:gd name="connsiteX54" fmla="*/ 476250 w 501650"/>
              <a:gd name="connsiteY54" fmla="*/ 936625 h 1451318"/>
              <a:gd name="connsiteX55" fmla="*/ 473075 w 501650"/>
              <a:gd name="connsiteY55" fmla="*/ 946150 h 1451318"/>
              <a:gd name="connsiteX56" fmla="*/ 466725 w 501650"/>
              <a:gd name="connsiteY56" fmla="*/ 971550 h 1451318"/>
              <a:gd name="connsiteX57" fmla="*/ 460375 w 501650"/>
              <a:gd name="connsiteY57" fmla="*/ 981075 h 1451318"/>
              <a:gd name="connsiteX58" fmla="*/ 450850 w 501650"/>
              <a:gd name="connsiteY58" fmla="*/ 1028700 h 1451318"/>
              <a:gd name="connsiteX59" fmla="*/ 444500 w 501650"/>
              <a:gd name="connsiteY59" fmla="*/ 1038225 h 1451318"/>
              <a:gd name="connsiteX60" fmla="*/ 438150 w 501650"/>
              <a:gd name="connsiteY60" fmla="*/ 1057275 h 1451318"/>
              <a:gd name="connsiteX61" fmla="*/ 431800 w 501650"/>
              <a:gd name="connsiteY61" fmla="*/ 1076325 h 1451318"/>
              <a:gd name="connsiteX62" fmla="*/ 428625 w 501650"/>
              <a:gd name="connsiteY62" fmla="*/ 1085850 h 1451318"/>
              <a:gd name="connsiteX63" fmla="*/ 415925 w 501650"/>
              <a:gd name="connsiteY63" fmla="*/ 1104900 h 1451318"/>
              <a:gd name="connsiteX64" fmla="*/ 409575 w 501650"/>
              <a:gd name="connsiteY64" fmla="*/ 1114425 h 1451318"/>
              <a:gd name="connsiteX65" fmla="*/ 393700 w 501650"/>
              <a:gd name="connsiteY65" fmla="*/ 1133475 h 1451318"/>
              <a:gd name="connsiteX66" fmla="*/ 374650 w 501650"/>
              <a:gd name="connsiteY66" fmla="*/ 1146175 h 1451318"/>
              <a:gd name="connsiteX67" fmla="*/ 365125 w 501650"/>
              <a:gd name="connsiteY67" fmla="*/ 1152525 h 1451318"/>
              <a:gd name="connsiteX68" fmla="*/ 358775 w 501650"/>
              <a:gd name="connsiteY68" fmla="*/ 1171575 h 1451318"/>
              <a:gd name="connsiteX69" fmla="*/ 339725 w 501650"/>
              <a:gd name="connsiteY69" fmla="*/ 1200150 h 1451318"/>
              <a:gd name="connsiteX70" fmla="*/ 333375 w 501650"/>
              <a:gd name="connsiteY70" fmla="*/ 1209675 h 1451318"/>
              <a:gd name="connsiteX71" fmla="*/ 327025 w 501650"/>
              <a:gd name="connsiteY71" fmla="*/ 1219200 h 1451318"/>
              <a:gd name="connsiteX72" fmla="*/ 307975 w 501650"/>
              <a:gd name="connsiteY72" fmla="*/ 1231900 h 1451318"/>
              <a:gd name="connsiteX73" fmla="*/ 298450 w 501650"/>
              <a:gd name="connsiteY73" fmla="*/ 1238250 h 1451318"/>
              <a:gd name="connsiteX74" fmla="*/ 279400 w 501650"/>
              <a:gd name="connsiteY74" fmla="*/ 1247775 h 1451318"/>
              <a:gd name="connsiteX75" fmla="*/ 273050 w 501650"/>
              <a:gd name="connsiteY75" fmla="*/ 1257300 h 1451318"/>
              <a:gd name="connsiteX76" fmla="*/ 254000 w 501650"/>
              <a:gd name="connsiteY76" fmla="*/ 1273175 h 1451318"/>
              <a:gd name="connsiteX77" fmla="*/ 247650 w 501650"/>
              <a:gd name="connsiteY77" fmla="*/ 1282700 h 1451318"/>
              <a:gd name="connsiteX78" fmla="*/ 234950 w 501650"/>
              <a:gd name="connsiteY78" fmla="*/ 1311275 h 1451318"/>
              <a:gd name="connsiteX79" fmla="*/ 225425 w 501650"/>
              <a:gd name="connsiteY79" fmla="*/ 1314450 h 1451318"/>
              <a:gd name="connsiteX80" fmla="*/ 206375 w 501650"/>
              <a:gd name="connsiteY80" fmla="*/ 1330325 h 1451318"/>
              <a:gd name="connsiteX81" fmla="*/ 187325 w 501650"/>
              <a:gd name="connsiteY81" fmla="*/ 1339850 h 1451318"/>
              <a:gd name="connsiteX82" fmla="*/ 161925 w 501650"/>
              <a:gd name="connsiteY82" fmla="*/ 1368425 h 1451318"/>
              <a:gd name="connsiteX83" fmla="*/ 142875 w 501650"/>
              <a:gd name="connsiteY83" fmla="*/ 1374775 h 1451318"/>
              <a:gd name="connsiteX84" fmla="*/ 136525 w 501650"/>
              <a:gd name="connsiteY84" fmla="*/ 1384300 h 1451318"/>
              <a:gd name="connsiteX85" fmla="*/ 127000 w 501650"/>
              <a:gd name="connsiteY85" fmla="*/ 1387475 h 1451318"/>
              <a:gd name="connsiteX86" fmla="*/ 117475 w 501650"/>
              <a:gd name="connsiteY86" fmla="*/ 1393825 h 1451318"/>
              <a:gd name="connsiteX87" fmla="*/ 107950 w 501650"/>
              <a:gd name="connsiteY87" fmla="*/ 1397000 h 1451318"/>
              <a:gd name="connsiteX88" fmla="*/ 85725 w 501650"/>
              <a:gd name="connsiteY88" fmla="*/ 1406525 h 1451318"/>
              <a:gd name="connsiteX89" fmla="*/ 66675 w 501650"/>
              <a:gd name="connsiteY89" fmla="*/ 1422400 h 1451318"/>
              <a:gd name="connsiteX90" fmla="*/ 47625 w 501650"/>
              <a:gd name="connsiteY90" fmla="*/ 1428750 h 1451318"/>
              <a:gd name="connsiteX91" fmla="*/ 34925 w 501650"/>
              <a:gd name="connsiteY91" fmla="*/ 1435100 h 1451318"/>
              <a:gd name="connsiteX92" fmla="*/ 19050 w 501650"/>
              <a:gd name="connsiteY92" fmla="*/ 1438275 h 1451318"/>
              <a:gd name="connsiteX93" fmla="*/ 0 w 501650"/>
              <a:gd name="connsiteY93" fmla="*/ 1444625 h 1451318"/>
              <a:gd name="connsiteX94" fmla="*/ 0 w 501650"/>
              <a:gd name="connsiteY94" fmla="*/ 1425575 h 145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01650" h="1451318">
                <a:moveTo>
                  <a:pt x="0" y="0"/>
                </a:moveTo>
                <a:lnTo>
                  <a:pt x="19050" y="6350"/>
                </a:lnTo>
                <a:cubicBezTo>
                  <a:pt x="22225" y="7408"/>
                  <a:pt x="25328" y="8713"/>
                  <a:pt x="28575" y="9525"/>
                </a:cubicBezTo>
                <a:lnTo>
                  <a:pt x="41275" y="12700"/>
                </a:lnTo>
                <a:cubicBezTo>
                  <a:pt x="68572" y="30898"/>
                  <a:pt x="34035" y="9080"/>
                  <a:pt x="60325" y="22225"/>
                </a:cubicBezTo>
                <a:cubicBezTo>
                  <a:pt x="92211" y="38168"/>
                  <a:pt x="43586" y="18226"/>
                  <a:pt x="82550" y="34925"/>
                </a:cubicBezTo>
                <a:cubicBezTo>
                  <a:pt x="88927" y="37658"/>
                  <a:pt x="98330" y="39664"/>
                  <a:pt x="104775" y="41275"/>
                </a:cubicBezTo>
                <a:cubicBezTo>
                  <a:pt x="107950" y="43392"/>
                  <a:pt x="111369" y="45182"/>
                  <a:pt x="114300" y="47625"/>
                </a:cubicBezTo>
                <a:cubicBezTo>
                  <a:pt x="117749" y="50500"/>
                  <a:pt x="120089" y="54659"/>
                  <a:pt x="123825" y="57150"/>
                </a:cubicBezTo>
                <a:cubicBezTo>
                  <a:pt x="126610" y="59006"/>
                  <a:pt x="130175" y="59267"/>
                  <a:pt x="133350" y="60325"/>
                </a:cubicBezTo>
                <a:cubicBezTo>
                  <a:pt x="139700" y="66675"/>
                  <a:pt x="143881" y="76535"/>
                  <a:pt x="152400" y="79375"/>
                </a:cubicBezTo>
                <a:cubicBezTo>
                  <a:pt x="158750" y="81492"/>
                  <a:pt x="165881" y="82012"/>
                  <a:pt x="171450" y="85725"/>
                </a:cubicBezTo>
                <a:cubicBezTo>
                  <a:pt x="174625" y="87842"/>
                  <a:pt x="178044" y="89632"/>
                  <a:pt x="180975" y="92075"/>
                </a:cubicBezTo>
                <a:cubicBezTo>
                  <a:pt x="184424" y="94950"/>
                  <a:pt x="186846" y="98990"/>
                  <a:pt x="190500" y="101600"/>
                </a:cubicBezTo>
                <a:cubicBezTo>
                  <a:pt x="194351" y="104351"/>
                  <a:pt x="199504" y="104993"/>
                  <a:pt x="203200" y="107950"/>
                </a:cubicBezTo>
                <a:cubicBezTo>
                  <a:pt x="210212" y="113560"/>
                  <a:pt x="215900" y="120650"/>
                  <a:pt x="222250" y="127000"/>
                </a:cubicBezTo>
                <a:lnTo>
                  <a:pt x="250825" y="155575"/>
                </a:lnTo>
                <a:lnTo>
                  <a:pt x="260350" y="165100"/>
                </a:lnTo>
                <a:cubicBezTo>
                  <a:pt x="261408" y="168275"/>
                  <a:pt x="261434" y="172012"/>
                  <a:pt x="263525" y="174625"/>
                </a:cubicBezTo>
                <a:cubicBezTo>
                  <a:pt x="265909" y="177605"/>
                  <a:pt x="269945" y="178757"/>
                  <a:pt x="273050" y="180975"/>
                </a:cubicBezTo>
                <a:cubicBezTo>
                  <a:pt x="277356" y="184051"/>
                  <a:pt x="281444" y="187424"/>
                  <a:pt x="285750" y="190500"/>
                </a:cubicBezTo>
                <a:cubicBezTo>
                  <a:pt x="288855" y="192718"/>
                  <a:pt x="292423" y="194315"/>
                  <a:pt x="295275" y="196850"/>
                </a:cubicBezTo>
                <a:cubicBezTo>
                  <a:pt x="301987" y="202816"/>
                  <a:pt x="307975" y="209550"/>
                  <a:pt x="314325" y="215900"/>
                </a:cubicBezTo>
                <a:lnTo>
                  <a:pt x="323850" y="225425"/>
                </a:lnTo>
                <a:cubicBezTo>
                  <a:pt x="327025" y="228600"/>
                  <a:pt x="330884" y="231214"/>
                  <a:pt x="333375" y="234950"/>
                </a:cubicBezTo>
                <a:cubicBezTo>
                  <a:pt x="337608" y="241300"/>
                  <a:pt x="343662" y="246760"/>
                  <a:pt x="346075" y="254000"/>
                </a:cubicBezTo>
                <a:cubicBezTo>
                  <a:pt x="347133" y="257175"/>
                  <a:pt x="347625" y="260599"/>
                  <a:pt x="349250" y="263525"/>
                </a:cubicBezTo>
                <a:cubicBezTo>
                  <a:pt x="352956" y="270196"/>
                  <a:pt x="357717" y="276225"/>
                  <a:pt x="361950" y="282575"/>
                </a:cubicBezTo>
                <a:cubicBezTo>
                  <a:pt x="364067" y="285750"/>
                  <a:pt x="365602" y="289402"/>
                  <a:pt x="368300" y="292100"/>
                </a:cubicBezTo>
                <a:lnTo>
                  <a:pt x="377825" y="301625"/>
                </a:lnTo>
                <a:cubicBezTo>
                  <a:pt x="380767" y="310452"/>
                  <a:pt x="380785" y="313289"/>
                  <a:pt x="387350" y="320675"/>
                </a:cubicBezTo>
                <a:cubicBezTo>
                  <a:pt x="393737" y="327860"/>
                  <a:pt x="407946" y="338441"/>
                  <a:pt x="412750" y="349250"/>
                </a:cubicBezTo>
                <a:lnTo>
                  <a:pt x="422275" y="377825"/>
                </a:lnTo>
                <a:cubicBezTo>
                  <a:pt x="423333" y="381000"/>
                  <a:pt x="423594" y="384565"/>
                  <a:pt x="425450" y="387350"/>
                </a:cubicBezTo>
                <a:lnTo>
                  <a:pt x="431800" y="396875"/>
                </a:lnTo>
                <a:cubicBezTo>
                  <a:pt x="436598" y="416069"/>
                  <a:pt x="433595" y="405435"/>
                  <a:pt x="441325" y="428625"/>
                </a:cubicBezTo>
                <a:cubicBezTo>
                  <a:pt x="442383" y="431800"/>
                  <a:pt x="442644" y="435365"/>
                  <a:pt x="444500" y="438150"/>
                </a:cubicBezTo>
                <a:lnTo>
                  <a:pt x="457200" y="457200"/>
                </a:lnTo>
                <a:cubicBezTo>
                  <a:pt x="458258" y="461433"/>
                  <a:pt x="459176" y="465704"/>
                  <a:pt x="460375" y="469900"/>
                </a:cubicBezTo>
                <a:cubicBezTo>
                  <a:pt x="461294" y="473118"/>
                  <a:pt x="462738" y="476178"/>
                  <a:pt x="463550" y="479425"/>
                </a:cubicBezTo>
                <a:cubicBezTo>
                  <a:pt x="464859" y="484660"/>
                  <a:pt x="465305" y="490094"/>
                  <a:pt x="466725" y="495300"/>
                </a:cubicBezTo>
                <a:cubicBezTo>
                  <a:pt x="468486" y="501758"/>
                  <a:pt x="470958" y="508000"/>
                  <a:pt x="473075" y="514350"/>
                </a:cubicBezTo>
                <a:cubicBezTo>
                  <a:pt x="474133" y="517525"/>
                  <a:pt x="475594" y="520593"/>
                  <a:pt x="476250" y="523875"/>
                </a:cubicBezTo>
                <a:cubicBezTo>
                  <a:pt x="480081" y="543032"/>
                  <a:pt x="477718" y="534630"/>
                  <a:pt x="482600" y="549275"/>
                </a:cubicBezTo>
                <a:cubicBezTo>
                  <a:pt x="483658" y="558800"/>
                  <a:pt x="483451" y="568553"/>
                  <a:pt x="485775" y="577850"/>
                </a:cubicBezTo>
                <a:cubicBezTo>
                  <a:pt x="486700" y="581552"/>
                  <a:pt x="490418" y="583962"/>
                  <a:pt x="492125" y="587375"/>
                </a:cubicBezTo>
                <a:cubicBezTo>
                  <a:pt x="493622" y="590368"/>
                  <a:pt x="494242" y="593725"/>
                  <a:pt x="495300" y="596900"/>
                </a:cubicBezTo>
                <a:cubicBezTo>
                  <a:pt x="496358" y="622300"/>
                  <a:pt x="496597" y="647747"/>
                  <a:pt x="498475" y="673100"/>
                </a:cubicBezTo>
                <a:cubicBezTo>
                  <a:pt x="498722" y="676438"/>
                  <a:pt x="501650" y="679278"/>
                  <a:pt x="501650" y="682625"/>
                </a:cubicBezTo>
                <a:cubicBezTo>
                  <a:pt x="501650" y="731320"/>
                  <a:pt x="501280" y="780061"/>
                  <a:pt x="498475" y="828675"/>
                </a:cubicBezTo>
                <a:cubicBezTo>
                  <a:pt x="498089" y="835357"/>
                  <a:pt x="493225" y="841123"/>
                  <a:pt x="492125" y="847725"/>
                </a:cubicBezTo>
                <a:cubicBezTo>
                  <a:pt x="490008" y="860425"/>
                  <a:pt x="488300" y="873200"/>
                  <a:pt x="485775" y="885825"/>
                </a:cubicBezTo>
                <a:cubicBezTo>
                  <a:pt x="484717" y="891117"/>
                  <a:pt x="483771" y="896432"/>
                  <a:pt x="482600" y="901700"/>
                </a:cubicBezTo>
                <a:cubicBezTo>
                  <a:pt x="481653" y="905960"/>
                  <a:pt x="480206" y="910107"/>
                  <a:pt x="479425" y="914400"/>
                </a:cubicBezTo>
                <a:cubicBezTo>
                  <a:pt x="478086" y="921763"/>
                  <a:pt x="477718" y="929287"/>
                  <a:pt x="476250" y="936625"/>
                </a:cubicBezTo>
                <a:cubicBezTo>
                  <a:pt x="475594" y="939907"/>
                  <a:pt x="473887" y="942903"/>
                  <a:pt x="473075" y="946150"/>
                </a:cubicBezTo>
                <a:cubicBezTo>
                  <a:pt x="471264" y="953396"/>
                  <a:pt x="470354" y="964292"/>
                  <a:pt x="466725" y="971550"/>
                </a:cubicBezTo>
                <a:cubicBezTo>
                  <a:pt x="465018" y="974963"/>
                  <a:pt x="462492" y="977900"/>
                  <a:pt x="460375" y="981075"/>
                </a:cubicBezTo>
                <a:cubicBezTo>
                  <a:pt x="459147" y="992127"/>
                  <a:pt x="458354" y="1017443"/>
                  <a:pt x="450850" y="1028700"/>
                </a:cubicBezTo>
                <a:cubicBezTo>
                  <a:pt x="448733" y="1031875"/>
                  <a:pt x="446050" y="1034738"/>
                  <a:pt x="444500" y="1038225"/>
                </a:cubicBezTo>
                <a:cubicBezTo>
                  <a:pt x="441782" y="1044342"/>
                  <a:pt x="440267" y="1050925"/>
                  <a:pt x="438150" y="1057275"/>
                </a:cubicBezTo>
                <a:lnTo>
                  <a:pt x="431800" y="1076325"/>
                </a:lnTo>
                <a:cubicBezTo>
                  <a:pt x="430742" y="1079500"/>
                  <a:pt x="430481" y="1083065"/>
                  <a:pt x="428625" y="1085850"/>
                </a:cubicBezTo>
                <a:lnTo>
                  <a:pt x="415925" y="1104900"/>
                </a:lnTo>
                <a:lnTo>
                  <a:pt x="409575" y="1114425"/>
                </a:lnTo>
                <a:cubicBezTo>
                  <a:pt x="403931" y="1122892"/>
                  <a:pt x="402162" y="1126893"/>
                  <a:pt x="393700" y="1133475"/>
                </a:cubicBezTo>
                <a:cubicBezTo>
                  <a:pt x="387676" y="1138160"/>
                  <a:pt x="381000" y="1141942"/>
                  <a:pt x="374650" y="1146175"/>
                </a:cubicBezTo>
                <a:lnTo>
                  <a:pt x="365125" y="1152525"/>
                </a:lnTo>
                <a:cubicBezTo>
                  <a:pt x="363008" y="1158875"/>
                  <a:pt x="362488" y="1166006"/>
                  <a:pt x="358775" y="1171575"/>
                </a:cubicBezTo>
                <a:lnTo>
                  <a:pt x="339725" y="1200150"/>
                </a:lnTo>
                <a:lnTo>
                  <a:pt x="333375" y="1209675"/>
                </a:lnTo>
                <a:cubicBezTo>
                  <a:pt x="331258" y="1212850"/>
                  <a:pt x="330200" y="1217083"/>
                  <a:pt x="327025" y="1219200"/>
                </a:cubicBezTo>
                <a:lnTo>
                  <a:pt x="307975" y="1231900"/>
                </a:lnTo>
                <a:cubicBezTo>
                  <a:pt x="304800" y="1234017"/>
                  <a:pt x="302070" y="1237043"/>
                  <a:pt x="298450" y="1238250"/>
                </a:cubicBezTo>
                <a:cubicBezTo>
                  <a:pt x="285305" y="1242632"/>
                  <a:pt x="291710" y="1239569"/>
                  <a:pt x="279400" y="1247775"/>
                </a:cubicBezTo>
                <a:cubicBezTo>
                  <a:pt x="277283" y="1250950"/>
                  <a:pt x="275748" y="1254602"/>
                  <a:pt x="273050" y="1257300"/>
                </a:cubicBezTo>
                <a:cubicBezTo>
                  <a:pt x="248075" y="1282275"/>
                  <a:pt x="280007" y="1241967"/>
                  <a:pt x="254000" y="1273175"/>
                </a:cubicBezTo>
                <a:cubicBezTo>
                  <a:pt x="251557" y="1276106"/>
                  <a:pt x="249200" y="1279213"/>
                  <a:pt x="247650" y="1282700"/>
                </a:cubicBezTo>
                <a:cubicBezTo>
                  <a:pt x="244706" y="1289324"/>
                  <a:pt x="242383" y="1305328"/>
                  <a:pt x="234950" y="1311275"/>
                </a:cubicBezTo>
                <a:cubicBezTo>
                  <a:pt x="232337" y="1313366"/>
                  <a:pt x="228600" y="1313392"/>
                  <a:pt x="225425" y="1314450"/>
                </a:cubicBezTo>
                <a:cubicBezTo>
                  <a:pt x="218403" y="1321472"/>
                  <a:pt x="215216" y="1325905"/>
                  <a:pt x="206375" y="1330325"/>
                </a:cubicBezTo>
                <a:cubicBezTo>
                  <a:pt x="180085" y="1343470"/>
                  <a:pt x="214622" y="1321652"/>
                  <a:pt x="187325" y="1339850"/>
                </a:cubicBezTo>
                <a:cubicBezTo>
                  <a:pt x="181274" y="1348926"/>
                  <a:pt x="171246" y="1365318"/>
                  <a:pt x="161925" y="1368425"/>
                </a:cubicBezTo>
                <a:lnTo>
                  <a:pt x="142875" y="1374775"/>
                </a:lnTo>
                <a:cubicBezTo>
                  <a:pt x="140758" y="1377950"/>
                  <a:pt x="139505" y="1381916"/>
                  <a:pt x="136525" y="1384300"/>
                </a:cubicBezTo>
                <a:cubicBezTo>
                  <a:pt x="133912" y="1386391"/>
                  <a:pt x="129993" y="1385978"/>
                  <a:pt x="127000" y="1387475"/>
                </a:cubicBezTo>
                <a:cubicBezTo>
                  <a:pt x="123587" y="1389182"/>
                  <a:pt x="120888" y="1392118"/>
                  <a:pt x="117475" y="1393825"/>
                </a:cubicBezTo>
                <a:cubicBezTo>
                  <a:pt x="114482" y="1395322"/>
                  <a:pt x="110943" y="1395503"/>
                  <a:pt x="107950" y="1397000"/>
                </a:cubicBezTo>
                <a:cubicBezTo>
                  <a:pt x="86024" y="1407963"/>
                  <a:pt x="112156" y="1399917"/>
                  <a:pt x="85725" y="1406525"/>
                </a:cubicBezTo>
                <a:cubicBezTo>
                  <a:pt x="79743" y="1412507"/>
                  <a:pt x="74632" y="1418864"/>
                  <a:pt x="66675" y="1422400"/>
                </a:cubicBezTo>
                <a:cubicBezTo>
                  <a:pt x="60558" y="1425118"/>
                  <a:pt x="53612" y="1425757"/>
                  <a:pt x="47625" y="1428750"/>
                </a:cubicBezTo>
                <a:cubicBezTo>
                  <a:pt x="43392" y="1430867"/>
                  <a:pt x="39415" y="1433603"/>
                  <a:pt x="34925" y="1435100"/>
                </a:cubicBezTo>
                <a:cubicBezTo>
                  <a:pt x="29805" y="1436807"/>
                  <a:pt x="24256" y="1436855"/>
                  <a:pt x="19050" y="1438275"/>
                </a:cubicBezTo>
                <a:cubicBezTo>
                  <a:pt x="12592" y="1440036"/>
                  <a:pt x="0" y="1451318"/>
                  <a:pt x="0" y="1444625"/>
                </a:cubicBezTo>
                <a:lnTo>
                  <a:pt x="0" y="1425575"/>
                </a:lnTo>
              </a:path>
            </a:pathLst>
          </a:cu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08" name="任意多边形 107"/>
          <p:cNvSpPr/>
          <p:nvPr/>
        </p:nvSpPr>
        <p:spPr>
          <a:xfrm>
            <a:off x="3229730" y="4075110"/>
            <a:ext cx="490538" cy="1447800"/>
          </a:xfrm>
          <a:custGeom>
            <a:avLst/>
            <a:gdLst>
              <a:gd name="connsiteX0" fmla="*/ 0 w 501650"/>
              <a:gd name="connsiteY0" fmla="*/ 0 h 1451318"/>
              <a:gd name="connsiteX1" fmla="*/ 19050 w 501650"/>
              <a:gd name="connsiteY1" fmla="*/ 6350 h 1451318"/>
              <a:gd name="connsiteX2" fmla="*/ 28575 w 501650"/>
              <a:gd name="connsiteY2" fmla="*/ 9525 h 1451318"/>
              <a:gd name="connsiteX3" fmla="*/ 41275 w 501650"/>
              <a:gd name="connsiteY3" fmla="*/ 12700 h 1451318"/>
              <a:gd name="connsiteX4" fmla="*/ 60325 w 501650"/>
              <a:gd name="connsiteY4" fmla="*/ 22225 h 1451318"/>
              <a:gd name="connsiteX5" fmla="*/ 82550 w 501650"/>
              <a:gd name="connsiteY5" fmla="*/ 34925 h 1451318"/>
              <a:gd name="connsiteX6" fmla="*/ 104775 w 501650"/>
              <a:gd name="connsiteY6" fmla="*/ 41275 h 1451318"/>
              <a:gd name="connsiteX7" fmla="*/ 114300 w 501650"/>
              <a:gd name="connsiteY7" fmla="*/ 47625 h 1451318"/>
              <a:gd name="connsiteX8" fmla="*/ 123825 w 501650"/>
              <a:gd name="connsiteY8" fmla="*/ 57150 h 1451318"/>
              <a:gd name="connsiteX9" fmla="*/ 133350 w 501650"/>
              <a:gd name="connsiteY9" fmla="*/ 60325 h 1451318"/>
              <a:gd name="connsiteX10" fmla="*/ 152400 w 501650"/>
              <a:gd name="connsiteY10" fmla="*/ 79375 h 1451318"/>
              <a:gd name="connsiteX11" fmla="*/ 171450 w 501650"/>
              <a:gd name="connsiteY11" fmla="*/ 85725 h 1451318"/>
              <a:gd name="connsiteX12" fmla="*/ 180975 w 501650"/>
              <a:gd name="connsiteY12" fmla="*/ 92075 h 1451318"/>
              <a:gd name="connsiteX13" fmla="*/ 190500 w 501650"/>
              <a:gd name="connsiteY13" fmla="*/ 101600 h 1451318"/>
              <a:gd name="connsiteX14" fmla="*/ 203200 w 501650"/>
              <a:gd name="connsiteY14" fmla="*/ 107950 h 1451318"/>
              <a:gd name="connsiteX15" fmla="*/ 222250 w 501650"/>
              <a:gd name="connsiteY15" fmla="*/ 127000 h 1451318"/>
              <a:gd name="connsiteX16" fmla="*/ 250825 w 501650"/>
              <a:gd name="connsiteY16" fmla="*/ 155575 h 1451318"/>
              <a:gd name="connsiteX17" fmla="*/ 260350 w 501650"/>
              <a:gd name="connsiteY17" fmla="*/ 165100 h 1451318"/>
              <a:gd name="connsiteX18" fmla="*/ 263525 w 501650"/>
              <a:gd name="connsiteY18" fmla="*/ 174625 h 1451318"/>
              <a:gd name="connsiteX19" fmla="*/ 273050 w 501650"/>
              <a:gd name="connsiteY19" fmla="*/ 180975 h 1451318"/>
              <a:gd name="connsiteX20" fmla="*/ 285750 w 501650"/>
              <a:gd name="connsiteY20" fmla="*/ 190500 h 1451318"/>
              <a:gd name="connsiteX21" fmla="*/ 295275 w 501650"/>
              <a:gd name="connsiteY21" fmla="*/ 196850 h 1451318"/>
              <a:gd name="connsiteX22" fmla="*/ 314325 w 501650"/>
              <a:gd name="connsiteY22" fmla="*/ 215900 h 1451318"/>
              <a:gd name="connsiteX23" fmla="*/ 323850 w 501650"/>
              <a:gd name="connsiteY23" fmla="*/ 225425 h 1451318"/>
              <a:gd name="connsiteX24" fmla="*/ 333375 w 501650"/>
              <a:gd name="connsiteY24" fmla="*/ 234950 h 1451318"/>
              <a:gd name="connsiteX25" fmla="*/ 346075 w 501650"/>
              <a:gd name="connsiteY25" fmla="*/ 254000 h 1451318"/>
              <a:gd name="connsiteX26" fmla="*/ 349250 w 501650"/>
              <a:gd name="connsiteY26" fmla="*/ 263525 h 1451318"/>
              <a:gd name="connsiteX27" fmla="*/ 361950 w 501650"/>
              <a:gd name="connsiteY27" fmla="*/ 282575 h 1451318"/>
              <a:gd name="connsiteX28" fmla="*/ 368300 w 501650"/>
              <a:gd name="connsiteY28" fmla="*/ 292100 h 1451318"/>
              <a:gd name="connsiteX29" fmla="*/ 377825 w 501650"/>
              <a:gd name="connsiteY29" fmla="*/ 301625 h 1451318"/>
              <a:gd name="connsiteX30" fmla="*/ 387350 w 501650"/>
              <a:gd name="connsiteY30" fmla="*/ 320675 h 1451318"/>
              <a:gd name="connsiteX31" fmla="*/ 412750 w 501650"/>
              <a:gd name="connsiteY31" fmla="*/ 349250 h 1451318"/>
              <a:gd name="connsiteX32" fmla="*/ 422275 w 501650"/>
              <a:gd name="connsiteY32" fmla="*/ 377825 h 1451318"/>
              <a:gd name="connsiteX33" fmla="*/ 425450 w 501650"/>
              <a:gd name="connsiteY33" fmla="*/ 387350 h 1451318"/>
              <a:gd name="connsiteX34" fmla="*/ 431800 w 501650"/>
              <a:gd name="connsiteY34" fmla="*/ 396875 h 1451318"/>
              <a:gd name="connsiteX35" fmla="*/ 441325 w 501650"/>
              <a:gd name="connsiteY35" fmla="*/ 428625 h 1451318"/>
              <a:gd name="connsiteX36" fmla="*/ 444500 w 501650"/>
              <a:gd name="connsiteY36" fmla="*/ 438150 h 1451318"/>
              <a:gd name="connsiteX37" fmla="*/ 457200 w 501650"/>
              <a:gd name="connsiteY37" fmla="*/ 457200 h 1451318"/>
              <a:gd name="connsiteX38" fmla="*/ 460375 w 501650"/>
              <a:gd name="connsiteY38" fmla="*/ 469900 h 1451318"/>
              <a:gd name="connsiteX39" fmla="*/ 463550 w 501650"/>
              <a:gd name="connsiteY39" fmla="*/ 479425 h 1451318"/>
              <a:gd name="connsiteX40" fmla="*/ 466725 w 501650"/>
              <a:gd name="connsiteY40" fmla="*/ 495300 h 1451318"/>
              <a:gd name="connsiteX41" fmla="*/ 473075 w 501650"/>
              <a:gd name="connsiteY41" fmla="*/ 514350 h 1451318"/>
              <a:gd name="connsiteX42" fmla="*/ 476250 w 501650"/>
              <a:gd name="connsiteY42" fmla="*/ 523875 h 1451318"/>
              <a:gd name="connsiteX43" fmla="*/ 482600 w 501650"/>
              <a:gd name="connsiteY43" fmla="*/ 549275 h 1451318"/>
              <a:gd name="connsiteX44" fmla="*/ 485775 w 501650"/>
              <a:gd name="connsiteY44" fmla="*/ 577850 h 1451318"/>
              <a:gd name="connsiteX45" fmla="*/ 492125 w 501650"/>
              <a:gd name="connsiteY45" fmla="*/ 587375 h 1451318"/>
              <a:gd name="connsiteX46" fmla="*/ 495300 w 501650"/>
              <a:gd name="connsiteY46" fmla="*/ 596900 h 1451318"/>
              <a:gd name="connsiteX47" fmla="*/ 498475 w 501650"/>
              <a:gd name="connsiteY47" fmla="*/ 673100 h 1451318"/>
              <a:gd name="connsiteX48" fmla="*/ 501650 w 501650"/>
              <a:gd name="connsiteY48" fmla="*/ 682625 h 1451318"/>
              <a:gd name="connsiteX49" fmla="*/ 498475 w 501650"/>
              <a:gd name="connsiteY49" fmla="*/ 828675 h 1451318"/>
              <a:gd name="connsiteX50" fmla="*/ 492125 w 501650"/>
              <a:gd name="connsiteY50" fmla="*/ 847725 h 1451318"/>
              <a:gd name="connsiteX51" fmla="*/ 485775 w 501650"/>
              <a:gd name="connsiteY51" fmla="*/ 885825 h 1451318"/>
              <a:gd name="connsiteX52" fmla="*/ 482600 w 501650"/>
              <a:gd name="connsiteY52" fmla="*/ 901700 h 1451318"/>
              <a:gd name="connsiteX53" fmla="*/ 479425 w 501650"/>
              <a:gd name="connsiteY53" fmla="*/ 914400 h 1451318"/>
              <a:gd name="connsiteX54" fmla="*/ 476250 w 501650"/>
              <a:gd name="connsiteY54" fmla="*/ 936625 h 1451318"/>
              <a:gd name="connsiteX55" fmla="*/ 473075 w 501650"/>
              <a:gd name="connsiteY55" fmla="*/ 946150 h 1451318"/>
              <a:gd name="connsiteX56" fmla="*/ 466725 w 501650"/>
              <a:gd name="connsiteY56" fmla="*/ 971550 h 1451318"/>
              <a:gd name="connsiteX57" fmla="*/ 460375 w 501650"/>
              <a:gd name="connsiteY57" fmla="*/ 981075 h 1451318"/>
              <a:gd name="connsiteX58" fmla="*/ 450850 w 501650"/>
              <a:gd name="connsiteY58" fmla="*/ 1028700 h 1451318"/>
              <a:gd name="connsiteX59" fmla="*/ 444500 w 501650"/>
              <a:gd name="connsiteY59" fmla="*/ 1038225 h 1451318"/>
              <a:gd name="connsiteX60" fmla="*/ 438150 w 501650"/>
              <a:gd name="connsiteY60" fmla="*/ 1057275 h 1451318"/>
              <a:gd name="connsiteX61" fmla="*/ 431800 w 501650"/>
              <a:gd name="connsiteY61" fmla="*/ 1076325 h 1451318"/>
              <a:gd name="connsiteX62" fmla="*/ 428625 w 501650"/>
              <a:gd name="connsiteY62" fmla="*/ 1085850 h 1451318"/>
              <a:gd name="connsiteX63" fmla="*/ 415925 w 501650"/>
              <a:gd name="connsiteY63" fmla="*/ 1104900 h 1451318"/>
              <a:gd name="connsiteX64" fmla="*/ 409575 w 501650"/>
              <a:gd name="connsiteY64" fmla="*/ 1114425 h 1451318"/>
              <a:gd name="connsiteX65" fmla="*/ 393700 w 501650"/>
              <a:gd name="connsiteY65" fmla="*/ 1133475 h 1451318"/>
              <a:gd name="connsiteX66" fmla="*/ 374650 w 501650"/>
              <a:gd name="connsiteY66" fmla="*/ 1146175 h 1451318"/>
              <a:gd name="connsiteX67" fmla="*/ 365125 w 501650"/>
              <a:gd name="connsiteY67" fmla="*/ 1152525 h 1451318"/>
              <a:gd name="connsiteX68" fmla="*/ 358775 w 501650"/>
              <a:gd name="connsiteY68" fmla="*/ 1171575 h 1451318"/>
              <a:gd name="connsiteX69" fmla="*/ 339725 w 501650"/>
              <a:gd name="connsiteY69" fmla="*/ 1200150 h 1451318"/>
              <a:gd name="connsiteX70" fmla="*/ 333375 w 501650"/>
              <a:gd name="connsiteY70" fmla="*/ 1209675 h 1451318"/>
              <a:gd name="connsiteX71" fmla="*/ 327025 w 501650"/>
              <a:gd name="connsiteY71" fmla="*/ 1219200 h 1451318"/>
              <a:gd name="connsiteX72" fmla="*/ 307975 w 501650"/>
              <a:gd name="connsiteY72" fmla="*/ 1231900 h 1451318"/>
              <a:gd name="connsiteX73" fmla="*/ 298450 w 501650"/>
              <a:gd name="connsiteY73" fmla="*/ 1238250 h 1451318"/>
              <a:gd name="connsiteX74" fmla="*/ 279400 w 501650"/>
              <a:gd name="connsiteY74" fmla="*/ 1247775 h 1451318"/>
              <a:gd name="connsiteX75" fmla="*/ 273050 w 501650"/>
              <a:gd name="connsiteY75" fmla="*/ 1257300 h 1451318"/>
              <a:gd name="connsiteX76" fmla="*/ 254000 w 501650"/>
              <a:gd name="connsiteY76" fmla="*/ 1273175 h 1451318"/>
              <a:gd name="connsiteX77" fmla="*/ 247650 w 501650"/>
              <a:gd name="connsiteY77" fmla="*/ 1282700 h 1451318"/>
              <a:gd name="connsiteX78" fmla="*/ 234950 w 501650"/>
              <a:gd name="connsiteY78" fmla="*/ 1311275 h 1451318"/>
              <a:gd name="connsiteX79" fmla="*/ 225425 w 501650"/>
              <a:gd name="connsiteY79" fmla="*/ 1314450 h 1451318"/>
              <a:gd name="connsiteX80" fmla="*/ 206375 w 501650"/>
              <a:gd name="connsiteY80" fmla="*/ 1330325 h 1451318"/>
              <a:gd name="connsiteX81" fmla="*/ 187325 w 501650"/>
              <a:gd name="connsiteY81" fmla="*/ 1339850 h 1451318"/>
              <a:gd name="connsiteX82" fmla="*/ 161925 w 501650"/>
              <a:gd name="connsiteY82" fmla="*/ 1368425 h 1451318"/>
              <a:gd name="connsiteX83" fmla="*/ 142875 w 501650"/>
              <a:gd name="connsiteY83" fmla="*/ 1374775 h 1451318"/>
              <a:gd name="connsiteX84" fmla="*/ 136525 w 501650"/>
              <a:gd name="connsiteY84" fmla="*/ 1384300 h 1451318"/>
              <a:gd name="connsiteX85" fmla="*/ 127000 w 501650"/>
              <a:gd name="connsiteY85" fmla="*/ 1387475 h 1451318"/>
              <a:gd name="connsiteX86" fmla="*/ 117475 w 501650"/>
              <a:gd name="connsiteY86" fmla="*/ 1393825 h 1451318"/>
              <a:gd name="connsiteX87" fmla="*/ 107950 w 501650"/>
              <a:gd name="connsiteY87" fmla="*/ 1397000 h 1451318"/>
              <a:gd name="connsiteX88" fmla="*/ 85725 w 501650"/>
              <a:gd name="connsiteY88" fmla="*/ 1406525 h 1451318"/>
              <a:gd name="connsiteX89" fmla="*/ 66675 w 501650"/>
              <a:gd name="connsiteY89" fmla="*/ 1422400 h 1451318"/>
              <a:gd name="connsiteX90" fmla="*/ 47625 w 501650"/>
              <a:gd name="connsiteY90" fmla="*/ 1428750 h 1451318"/>
              <a:gd name="connsiteX91" fmla="*/ 34925 w 501650"/>
              <a:gd name="connsiteY91" fmla="*/ 1435100 h 1451318"/>
              <a:gd name="connsiteX92" fmla="*/ 19050 w 501650"/>
              <a:gd name="connsiteY92" fmla="*/ 1438275 h 1451318"/>
              <a:gd name="connsiteX93" fmla="*/ 0 w 501650"/>
              <a:gd name="connsiteY93" fmla="*/ 1444625 h 1451318"/>
              <a:gd name="connsiteX94" fmla="*/ 0 w 501650"/>
              <a:gd name="connsiteY94" fmla="*/ 1425575 h 145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01650" h="1451318">
                <a:moveTo>
                  <a:pt x="0" y="0"/>
                </a:moveTo>
                <a:lnTo>
                  <a:pt x="19050" y="6350"/>
                </a:lnTo>
                <a:cubicBezTo>
                  <a:pt x="22225" y="7408"/>
                  <a:pt x="25328" y="8713"/>
                  <a:pt x="28575" y="9525"/>
                </a:cubicBezTo>
                <a:lnTo>
                  <a:pt x="41275" y="12700"/>
                </a:lnTo>
                <a:cubicBezTo>
                  <a:pt x="68572" y="30898"/>
                  <a:pt x="34035" y="9080"/>
                  <a:pt x="60325" y="22225"/>
                </a:cubicBezTo>
                <a:cubicBezTo>
                  <a:pt x="92211" y="38168"/>
                  <a:pt x="43586" y="18226"/>
                  <a:pt x="82550" y="34925"/>
                </a:cubicBezTo>
                <a:cubicBezTo>
                  <a:pt x="88927" y="37658"/>
                  <a:pt x="98330" y="39664"/>
                  <a:pt x="104775" y="41275"/>
                </a:cubicBezTo>
                <a:cubicBezTo>
                  <a:pt x="107950" y="43392"/>
                  <a:pt x="111369" y="45182"/>
                  <a:pt x="114300" y="47625"/>
                </a:cubicBezTo>
                <a:cubicBezTo>
                  <a:pt x="117749" y="50500"/>
                  <a:pt x="120089" y="54659"/>
                  <a:pt x="123825" y="57150"/>
                </a:cubicBezTo>
                <a:cubicBezTo>
                  <a:pt x="126610" y="59006"/>
                  <a:pt x="130175" y="59267"/>
                  <a:pt x="133350" y="60325"/>
                </a:cubicBezTo>
                <a:cubicBezTo>
                  <a:pt x="139700" y="66675"/>
                  <a:pt x="143881" y="76535"/>
                  <a:pt x="152400" y="79375"/>
                </a:cubicBezTo>
                <a:cubicBezTo>
                  <a:pt x="158750" y="81492"/>
                  <a:pt x="165881" y="82012"/>
                  <a:pt x="171450" y="85725"/>
                </a:cubicBezTo>
                <a:cubicBezTo>
                  <a:pt x="174625" y="87842"/>
                  <a:pt x="178044" y="89632"/>
                  <a:pt x="180975" y="92075"/>
                </a:cubicBezTo>
                <a:cubicBezTo>
                  <a:pt x="184424" y="94950"/>
                  <a:pt x="186846" y="98990"/>
                  <a:pt x="190500" y="101600"/>
                </a:cubicBezTo>
                <a:cubicBezTo>
                  <a:pt x="194351" y="104351"/>
                  <a:pt x="199504" y="104993"/>
                  <a:pt x="203200" y="107950"/>
                </a:cubicBezTo>
                <a:cubicBezTo>
                  <a:pt x="210212" y="113560"/>
                  <a:pt x="215900" y="120650"/>
                  <a:pt x="222250" y="127000"/>
                </a:cubicBezTo>
                <a:lnTo>
                  <a:pt x="250825" y="155575"/>
                </a:lnTo>
                <a:lnTo>
                  <a:pt x="260350" y="165100"/>
                </a:lnTo>
                <a:cubicBezTo>
                  <a:pt x="261408" y="168275"/>
                  <a:pt x="261434" y="172012"/>
                  <a:pt x="263525" y="174625"/>
                </a:cubicBezTo>
                <a:cubicBezTo>
                  <a:pt x="265909" y="177605"/>
                  <a:pt x="269945" y="178757"/>
                  <a:pt x="273050" y="180975"/>
                </a:cubicBezTo>
                <a:cubicBezTo>
                  <a:pt x="277356" y="184051"/>
                  <a:pt x="281444" y="187424"/>
                  <a:pt x="285750" y="190500"/>
                </a:cubicBezTo>
                <a:cubicBezTo>
                  <a:pt x="288855" y="192718"/>
                  <a:pt x="292423" y="194315"/>
                  <a:pt x="295275" y="196850"/>
                </a:cubicBezTo>
                <a:cubicBezTo>
                  <a:pt x="301987" y="202816"/>
                  <a:pt x="307975" y="209550"/>
                  <a:pt x="314325" y="215900"/>
                </a:cubicBezTo>
                <a:lnTo>
                  <a:pt x="323850" y="225425"/>
                </a:lnTo>
                <a:cubicBezTo>
                  <a:pt x="327025" y="228600"/>
                  <a:pt x="330884" y="231214"/>
                  <a:pt x="333375" y="234950"/>
                </a:cubicBezTo>
                <a:cubicBezTo>
                  <a:pt x="337608" y="241300"/>
                  <a:pt x="343662" y="246760"/>
                  <a:pt x="346075" y="254000"/>
                </a:cubicBezTo>
                <a:cubicBezTo>
                  <a:pt x="347133" y="257175"/>
                  <a:pt x="347625" y="260599"/>
                  <a:pt x="349250" y="263525"/>
                </a:cubicBezTo>
                <a:cubicBezTo>
                  <a:pt x="352956" y="270196"/>
                  <a:pt x="357717" y="276225"/>
                  <a:pt x="361950" y="282575"/>
                </a:cubicBezTo>
                <a:cubicBezTo>
                  <a:pt x="364067" y="285750"/>
                  <a:pt x="365602" y="289402"/>
                  <a:pt x="368300" y="292100"/>
                </a:cubicBezTo>
                <a:lnTo>
                  <a:pt x="377825" y="301625"/>
                </a:lnTo>
                <a:cubicBezTo>
                  <a:pt x="380767" y="310452"/>
                  <a:pt x="380785" y="313289"/>
                  <a:pt x="387350" y="320675"/>
                </a:cubicBezTo>
                <a:cubicBezTo>
                  <a:pt x="393737" y="327860"/>
                  <a:pt x="407946" y="338441"/>
                  <a:pt x="412750" y="349250"/>
                </a:cubicBezTo>
                <a:lnTo>
                  <a:pt x="422275" y="377825"/>
                </a:lnTo>
                <a:cubicBezTo>
                  <a:pt x="423333" y="381000"/>
                  <a:pt x="423594" y="384565"/>
                  <a:pt x="425450" y="387350"/>
                </a:cubicBezTo>
                <a:lnTo>
                  <a:pt x="431800" y="396875"/>
                </a:lnTo>
                <a:cubicBezTo>
                  <a:pt x="436598" y="416069"/>
                  <a:pt x="433595" y="405435"/>
                  <a:pt x="441325" y="428625"/>
                </a:cubicBezTo>
                <a:cubicBezTo>
                  <a:pt x="442383" y="431800"/>
                  <a:pt x="442644" y="435365"/>
                  <a:pt x="444500" y="438150"/>
                </a:cubicBezTo>
                <a:lnTo>
                  <a:pt x="457200" y="457200"/>
                </a:lnTo>
                <a:cubicBezTo>
                  <a:pt x="458258" y="461433"/>
                  <a:pt x="459176" y="465704"/>
                  <a:pt x="460375" y="469900"/>
                </a:cubicBezTo>
                <a:cubicBezTo>
                  <a:pt x="461294" y="473118"/>
                  <a:pt x="462738" y="476178"/>
                  <a:pt x="463550" y="479425"/>
                </a:cubicBezTo>
                <a:cubicBezTo>
                  <a:pt x="464859" y="484660"/>
                  <a:pt x="465305" y="490094"/>
                  <a:pt x="466725" y="495300"/>
                </a:cubicBezTo>
                <a:cubicBezTo>
                  <a:pt x="468486" y="501758"/>
                  <a:pt x="470958" y="508000"/>
                  <a:pt x="473075" y="514350"/>
                </a:cubicBezTo>
                <a:cubicBezTo>
                  <a:pt x="474133" y="517525"/>
                  <a:pt x="475594" y="520593"/>
                  <a:pt x="476250" y="523875"/>
                </a:cubicBezTo>
                <a:cubicBezTo>
                  <a:pt x="480081" y="543032"/>
                  <a:pt x="477718" y="534630"/>
                  <a:pt x="482600" y="549275"/>
                </a:cubicBezTo>
                <a:cubicBezTo>
                  <a:pt x="483658" y="558800"/>
                  <a:pt x="483451" y="568553"/>
                  <a:pt x="485775" y="577850"/>
                </a:cubicBezTo>
                <a:cubicBezTo>
                  <a:pt x="486700" y="581552"/>
                  <a:pt x="490418" y="583962"/>
                  <a:pt x="492125" y="587375"/>
                </a:cubicBezTo>
                <a:cubicBezTo>
                  <a:pt x="493622" y="590368"/>
                  <a:pt x="494242" y="593725"/>
                  <a:pt x="495300" y="596900"/>
                </a:cubicBezTo>
                <a:cubicBezTo>
                  <a:pt x="496358" y="622300"/>
                  <a:pt x="496597" y="647747"/>
                  <a:pt x="498475" y="673100"/>
                </a:cubicBezTo>
                <a:cubicBezTo>
                  <a:pt x="498722" y="676438"/>
                  <a:pt x="501650" y="679278"/>
                  <a:pt x="501650" y="682625"/>
                </a:cubicBezTo>
                <a:cubicBezTo>
                  <a:pt x="501650" y="731320"/>
                  <a:pt x="501280" y="780061"/>
                  <a:pt x="498475" y="828675"/>
                </a:cubicBezTo>
                <a:cubicBezTo>
                  <a:pt x="498089" y="835357"/>
                  <a:pt x="493225" y="841123"/>
                  <a:pt x="492125" y="847725"/>
                </a:cubicBezTo>
                <a:cubicBezTo>
                  <a:pt x="490008" y="860425"/>
                  <a:pt x="488300" y="873200"/>
                  <a:pt x="485775" y="885825"/>
                </a:cubicBezTo>
                <a:cubicBezTo>
                  <a:pt x="484717" y="891117"/>
                  <a:pt x="483771" y="896432"/>
                  <a:pt x="482600" y="901700"/>
                </a:cubicBezTo>
                <a:cubicBezTo>
                  <a:pt x="481653" y="905960"/>
                  <a:pt x="480206" y="910107"/>
                  <a:pt x="479425" y="914400"/>
                </a:cubicBezTo>
                <a:cubicBezTo>
                  <a:pt x="478086" y="921763"/>
                  <a:pt x="477718" y="929287"/>
                  <a:pt x="476250" y="936625"/>
                </a:cubicBezTo>
                <a:cubicBezTo>
                  <a:pt x="475594" y="939907"/>
                  <a:pt x="473887" y="942903"/>
                  <a:pt x="473075" y="946150"/>
                </a:cubicBezTo>
                <a:cubicBezTo>
                  <a:pt x="471264" y="953396"/>
                  <a:pt x="470354" y="964292"/>
                  <a:pt x="466725" y="971550"/>
                </a:cubicBezTo>
                <a:cubicBezTo>
                  <a:pt x="465018" y="974963"/>
                  <a:pt x="462492" y="977900"/>
                  <a:pt x="460375" y="981075"/>
                </a:cubicBezTo>
                <a:cubicBezTo>
                  <a:pt x="459147" y="992127"/>
                  <a:pt x="458354" y="1017443"/>
                  <a:pt x="450850" y="1028700"/>
                </a:cubicBezTo>
                <a:cubicBezTo>
                  <a:pt x="448733" y="1031875"/>
                  <a:pt x="446050" y="1034738"/>
                  <a:pt x="444500" y="1038225"/>
                </a:cubicBezTo>
                <a:cubicBezTo>
                  <a:pt x="441782" y="1044342"/>
                  <a:pt x="440267" y="1050925"/>
                  <a:pt x="438150" y="1057275"/>
                </a:cubicBezTo>
                <a:lnTo>
                  <a:pt x="431800" y="1076325"/>
                </a:lnTo>
                <a:cubicBezTo>
                  <a:pt x="430742" y="1079500"/>
                  <a:pt x="430481" y="1083065"/>
                  <a:pt x="428625" y="1085850"/>
                </a:cubicBezTo>
                <a:lnTo>
                  <a:pt x="415925" y="1104900"/>
                </a:lnTo>
                <a:lnTo>
                  <a:pt x="409575" y="1114425"/>
                </a:lnTo>
                <a:cubicBezTo>
                  <a:pt x="403931" y="1122892"/>
                  <a:pt x="402162" y="1126893"/>
                  <a:pt x="393700" y="1133475"/>
                </a:cubicBezTo>
                <a:cubicBezTo>
                  <a:pt x="387676" y="1138160"/>
                  <a:pt x="381000" y="1141942"/>
                  <a:pt x="374650" y="1146175"/>
                </a:cubicBezTo>
                <a:lnTo>
                  <a:pt x="365125" y="1152525"/>
                </a:lnTo>
                <a:cubicBezTo>
                  <a:pt x="363008" y="1158875"/>
                  <a:pt x="362488" y="1166006"/>
                  <a:pt x="358775" y="1171575"/>
                </a:cubicBezTo>
                <a:lnTo>
                  <a:pt x="339725" y="1200150"/>
                </a:lnTo>
                <a:lnTo>
                  <a:pt x="333375" y="1209675"/>
                </a:lnTo>
                <a:cubicBezTo>
                  <a:pt x="331258" y="1212850"/>
                  <a:pt x="330200" y="1217083"/>
                  <a:pt x="327025" y="1219200"/>
                </a:cubicBezTo>
                <a:lnTo>
                  <a:pt x="307975" y="1231900"/>
                </a:lnTo>
                <a:cubicBezTo>
                  <a:pt x="304800" y="1234017"/>
                  <a:pt x="302070" y="1237043"/>
                  <a:pt x="298450" y="1238250"/>
                </a:cubicBezTo>
                <a:cubicBezTo>
                  <a:pt x="285305" y="1242632"/>
                  <a:pt x="291710" y="1239569"/>
                  <a:pt x="279400" y="1247775"/>
                </a:cubicBezTo>
                <a:cubicBezTo>
                  <a:pt x="277283" y="1250950"/>
                  <a:pt x="275748" y="1254602"/>
                  <a:pt x="273050" y="1257300"/>
                </a:cubicBezTo>
                <a:cubicBezTo>
                  <a:pt x="248075" y="1282275"/>
                  <a:pt x="280007" y="1241967"/>
                  <a:pt x="254000" y="1273175"/>
                </a:cubicBezTo>
                <a:cubicBezTo>
                  <a:pt x="251557" y="1276106"/>
                  <a:pt x="249200" y="1279213"/>
                  <a:pt x="247650" y="1282700"/>
                </a:cubicBezTo>
                <a:cubicBezTo>
                  <a:pt x="244706" y="1289324"/>
                  <a:pt x="242383" y="1305328"/>
                  <a:pt x="234950" y="1311275"/>
                </a:cubicBezTo>
                <a:cubicBezTo>
                  <a:pt x="232337" y="1313366"/>
                  <a:pt x="228600" y="1313392"/>
                  <a:pt x="225425" y="1314450"/>
                </a:cubicBezTo>
                <a:cubicBezTo>
                  <a:pt x="218403" y="1321472"/>
                  <a:pt x="215216" y="1325905"/>
                  <a:pt x="206375" y="1330325"/>
                </a:cubicBezTo>
                <a:cubicBezTo>
                  <a:pt x="180085" y="1343470"/>
                  <a:pt x="214622" y="1321652"/>
                  <a:pt x="187325" y="1339850"/>
                </a:cubicBezTo>
                <a:cubicBezTo>
                  <a:pt x="181274" y="1348926"/>
                  <a:pt x="171246" y="1365318"/>
                  <a:pt x="161925" y="1368425"/>
                </a:cubicBezTo>
                <a:lnTo>
                  <a:pt x="142875" y="1374775"/>
                </a:lnTo>
                <a:cubicBezTo>
                  <a:pt x="140758" y="1377950"/>
                  <a:pt x="139505" y="1381916"/>
                  <a:pt x="136525" y="1384300"/>
                </a:cubicBezTo>
                <a:cubicBezTo>
                  <a:pt x="133912" y="1386391"/>
                  <a:pt x="129993" y="1385978"/>
                  <a:pt x="127000" y="1387475"/>
                </a:cubicBezTo>
                <a:cubicBezTo>
                  <a:pt x="123587" y="1389182"/>
                  <a:pt x="120888" y="1392118"/>
                  <a:pt x="117475" y="1393825"/>
                </a:cubicBezTo>
                <a:cubicBezTo>
                  <a:pt x="114482" y="1395322"/>
                  <a:pt x="110943" y="1395503"/>
                  <a:pt x="107950" y="1397000"/>
                </a:cubicBezTo>
                <a:cubicBezTo>
                  <a:pt x="86024" y="1407963"/>
                  <a:pt x="112156" y="1399917"/>
                  <a:pt x="85725" y="1406525"/>
                </a:cubicBezTo>
                <a:cubicBezTo>
                  <a:pt x="79743" y="1412507"/>
                  <a:pt x="74632" y="1418864"/>
                  <a:pt x="66675" y="1422400"/>
                </a:cubicBezTo>
                <a:cubicBezTo>
                  <a:pt x="60558" y="1425118"/>
                  <a:pt x="53612" y="1425757"/>
                  <a:pt x="47625" y="1428750"/>
                </a:cubicBezTo>
                <a:cubicBezTo>
                  <a:pt x="43392" y="1430867"/>
                  <a:pt x="39415" y="1433603"/>
                  <a:pt x="34925" y="1435100"/>
                </a:cubicBezTo>
                <a:cubicBezTo>
                  <a:pt x="29805" y="1436807"/>
                  <a:pt x="24256" y="1436855"/>
                  <a:pt x="19050" y="1438275"/>
                </a:cubicBezTo>
                <a:cubicBezTo>
                  <a:pt x="12592" y="1440036"/>
                  <a:pt x="0" y="1451318"/>
                  <a:pt x="0" y="1444625"/>
                </a:cubicBezTo>
                <a:lnTo>
                  <a:pt x="0" y="1425575"/>
                </a:lnTo>
              </a:path>
            </a:pathLst>
          </a:custGeom>
          <a:ln w="47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cxnSp>
        <p:nvCxnSpPr>
          <p:cNvPr id="113" name="直接连接符 112"/>
          <p:cNvCxnSpPr/>
          <p:nvPr/>
        </p:nvCxnSpPr>
        <p:spPr>
          <a:xfrm rot="5400000">
            <a:off x="2449474" y="2986879"/>
            <a:ext cx="438150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rot="5400000">
            <a:off x="2998749" y="2994816"/>
            <a:ext cx="438150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 rot="5400000">
            <a:off x="2266912" y="3607592"/>
            <a:ext cx="803275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rot="5400000">
            <a:off x="1957757" y="4788111"/>
            <a:ext cx="1440000" cy="1587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rot="5400000">
            <a:off x="2813012" y="3606004"/>
            <a:ext cx="803275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rot="5400000">
            <a:off x="2490204" y="4796222"/>
            <a:ext cx="1440000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3237669" y="2787649"/>
            <a:ext cx="2300287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任意多边形 123"/>
          <p:cNvSpPr/>
          <p:nvPr/>
        </p:nvSpPr>
        <p:spPr>
          <a:xfrm>
            <a:off x="4842630" y="2797174"/>
            <a:ext cx="1354138" cy="420687"/>
          </a:xfrm>
          <a:custGeom>
            <a:avLst/>
            <a:gdLst>
              <a:gd name="connsiteX0" fmla="*/ 0 w 1363980"/>
              <a:gd name="connsiteY0" fmla="*/ 414020 h 414020"/>
              <a:gd name="connsiteX1" fmla="*/ 99060 w 1363980"/>
              <a:gd name="connsiteY1" fmla="*/ 246380 h 414020"/>
              <a:gd name="connsiteX2" fmla="*/ 228600 w 1363980"/>
              <a:gd name="connsiteY2" fmla="*/ 124460 h 414020"/>
              <a:gd name="connsiteX3" fmla="*/ 381000 w 1363980"/>
              <a:gd name="connsiteY3" fmla="*/ 48260 h 414020"/>
              <a:gd name="connsiteX4" fmla="*/ 495300 w 1363980"/>
              <a:gd name="connsiteY4" fmla="*/ 17780 h 414020"/>
              <a:gd name="connsiteX5" fmla="*/ 685800 w 1363980"/>
              <a:gd name="connsiteY5" fmla="*/ 2540 h 414020"/>
              <a:gd name="connsiteX6" fmla="*/ 906780 w 1363980"/>
              <a:gd name="connsiteY6" fmla="*/ 33020 h 414020"/>
              <a:gd name="connsiteX7" fmla="*/ 1120140 w 1363980"/>
              <a:gd name="connsiteY7" fmla="*/ 132080 h 414020"/>
              <a:gd name="connsiteX8" fmla="*/ 1264920 w 1363980"/>
              <a:gd name="connsiteY8" fmla="*/ 269240 h 414020"/>
              <a:gd name="connsiteX9" fmla="*/ 1363980 w 1363980"/>
              <a:gd name="connsiteY9" fmla="*/ 414020 h 414020"/>
              <a:gd name="connsiteX0" fmla="*/ 0 w 1363980"/>
              <a:gd name="connsiteY0" fmla="*/ 414020 h 414020"/>
              <a:gd name="connsiteX1" fmla="*/ 99060 w 1363980"/>
              <a:gd name="connsiteY1" fmla="*/ 246380 h 414020"/>
              <a:gd name="connsiteX2" fmla="*/ 228600 w 1363980"/>
              <a:gd name="connsiteY2" fmla="*/ 124460 h 414020"/>
              <a:gd name="connsiteX3" fmla="*/ 381000 w 1363980"/>
              <a:gd name="connsiteY3" fmla="*/ 48260 h 414020"/>
              <a:gd name="connsiteX4" fmla="*/ 495300 w 1363980"/>
              <a:gd name="connsiteY4" fmla="*/ 17780 h 414020"/>
              <a:gd name="connsiteX5" fmla="*/ 685800 w 1363980"/>
              <a:gd name="connsiteY5" fmla="*/ 2540 h 414020"/>
              <a:gd name="connsiteX6" fmla="*/ 906780 w 1363980"/>
              <a:gd name="connsiteY6" fmla="*/ 33020 h 414020"/>
              <a:gd name="connsiteX7" fmla="*/ 1120140 w 1363980"/>
              <a:gd name="connsiteY7" fmla="*/ 132080 h 414020"/>
              <a:gd name="connsiteX8" fmla="*/ 1264920 w 1363980"/>
              <a:gd name="connsiteY8" fmla="*/ 269240 h 414020"/>
              <a:gd name="connsiteX9" fmla="*/ 1363980 w 1363980"/>
              <a:gd name="connsiteY9" fmla="*/ 414020 h 41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3980" h="414020">
                <a:moveTo>
                  <a:pt x="0" y="414020"/>
                </a:moveTo>
                <a:cubicBezTo>
                  <a:pt x="30480" y="354330"/>
                  <a:pt x="60960" y="294640"/>
                  <a:pt x="99060" y="246380"/>
                </a:cubicBezTo>
                <a:cubicBezTo>
                  <a:pt x="137160" y="198120"/>
                  <a:pt x="181610" y="157480"/>
                  <a:pt x="228600" y="124460"/>
                </a:cubicBezTo>
                <a:cubicBezTo>
                  <a:pt x="275590" y="91440"/>
                  <a:pt x="336550" y="66040"/>
                  <a:pt x="381000" y="48260"/>
                </a:cubicBezTo>
                <a:cubicBezTo>
                  <a:pt x="425450" y="30480"/>
                  <a:pt x="444500" y="25400"/>
                  <a:pt x="495300" y="17780"/>
                </a:cubicBezTo>
                <a:cubicBezTo>
                  <a:pt x="546100" y="10160"/>
                  <a:pt x="617220" y="0"/>
                  <a:pt x="685800" y="2540"/>
                </a:cubicBezTo>
                <a:cubicBezTo>
                  <a:pt x="754380" y="5080"/>
                  <a:pt x="834390" y="11430"/>
                  <a:pt x="906780" y="33020"/>
                </a:cubicBezTo>
                <a:cubicBezTo>
                  <a:pt x="979170" y="54610"/>
                  <a:pt x="1060450" y="92710"/>
                  <a:pt x="1120140" y="132080"/>
                </a:cubicBezTo>
                <a:cubicBezTo>
                  <a:pt x="1179830" y="171450"/>
                  <a:pt x="1224280" y="222250"/>
                  <a:pt x="1264920" y="269240"/>
                </a:cubicBezTo>
                <a:cubicBezTo>
                  <a:pt x="1305560" y="316230"/>
                  <a:pt x="1315720" y="377190"/>
                  <a:pt x="1363980" y="414020"/>
                </a:cubicBezTo>
              </a:path>
            </a:pathLst>
          </a:cu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6" name="任意多边形 125"/>
          <p:cNvSpPr/>
          <p:nvPr/>
        </p:nvSpPr>
        <p:spPr>
          <a:xfrm>
            <a:off x="4752143" y="2717799"/>
            <a:ext cx="1517650" cy="484187"/>
          </a:xfrm>
          <a:custGeom>
            <a:avLst/>
            <a:gdLst>
              <a:gd name="connsiteX0" fmla="*/ 0 w 1516856"/>
              <a:gd name="connsiteY0" fmla="*/ 483394 h 483394"/>
              <a:gd name="connsiteX1" fmla="*/ 42862 w 1516856"/>
              <a:gd name="connsiteY1" fmla="*/ 400050 h 483394"/>
              <a:gd name="connsiteX2" fmla="*/ 88106 w 1516856"/>
              <a:gd name="connsiteY2" fmla="*/ 335757 h 483394"/>
              <a:gd name="connsiteX3" fmla="*/ 133350 w 1516856"/>
              <a:gd name="connsiteY3" fmla="*/ 278607 h 483394"/>
              <a:gd name="connsiteX4" fmla="*/ 192881 w 1516856"/>
              <a:gd name="connsiteY4" fmla="*/ 221457 h 483394"/>
              <a:gd name="connsiteX5" fmla="*/ 230981 w 1516856"/>
              <a:gd name="connsiteY5" fmla="*/ 180975 h 483394"/>
              <a:gd name="connsiteX6" fmla="*/ 283368 w 1516856"/>
              <a:gd name="connsiteY6" fmla="*/ 150019 h 483394"/>
              <a:gd name="connsiteX7" fmla="*/ 342900 w 1516856"/>
              <a:gd name="connsiteY7" fmla="*/ 111919 h 483394"/>
              <a:gd name="connsiteX8" fmla="*/ 400050 w 1516856"/>
              <a:gd name="connsiteY8" fmla="*/ 78582 h 483394"/>
              <a:gd name="connsiteX9" fmla="*/ 459581 w 1516856"/>
              <a:gd name="connsiteY9" fmla="*/ 52388 h 483394"/>
              <a:gd name="connsiteX10" fmla="*/ 523875 w 1516856"/>
              <a:gd name="connsiteY10" fmla="*/ 30957 h 483394"/>
              <a:gd name="connsiteX11" fmla="*/ 592931 w 1516856"/>
              <a:gd name="connsiteY11" fmla="*/ 14288 h 483394"/>
              <a:gd name="connsiteX12" fmla="*/ 654843 w 1516856"/>
              <a:gd name="connsiteY12" fmla="*/ 9525 h 483394"/>
              <a:gd name="connsiteX13" fmla="*/ 695325 w 1516856"/>
              <a:gd name="connsiteY13" fmla="*/ 2382 h 483394"/>
              <a:gd name="connsiteX14" fmla="*/ 764381 w 1516856"/>
              <a:gd name="connsiteY14" fmla="*/ 0 h 483394"/>
              <a:gd name="connsiteX15" fmla="*/ 835818 w 1516856"/>
              <a:gd name="connsiteY15" fmla="*/ 2382 h 483394"/>
              <a:gd name="connsiteX16" fmla="*/ 866775 w 1516856"/>
              <a:gd name="connsiteY16" fmla="*/ 9525 h 483394"/>
              <a:gd name="connsiteX17" fmla="*/ 904875 w 1516856"/>
              <a:gd name="connsiteY17" fmla="*/ 14288 h 483394"/>
              <a:gd name="connsiteX18" fmla="*/ 983456 w 1516856"/>
              <a:gd name="connsiteY18" fmla="*/ 30957 h 483394"/>
              <a:gd name="connsiteX19" fmla="*/ 1057275 w 1516856"/>
              <a:gd name="connsiteY19" fmla="*/ 57150 h 483394"/>
              <a:gd name="connsiteX20" fmla="*/ 1114425 w 1516856"/>
              <a:gd name="connsiteY20" fmla="*/ 85725 h 483394"/>
              <a:gd name="connsiteX21" fmla="*/ 1197768 w 1516856"/>
              <a:gd name="connsiteY21" fmla="*/ 126207 h 483394"/>
              <a:gd name="connsiteX22" fmla="*/ 1247775 w 1516856"/>
              <a:gd name="connsiteY22" fmla="*/ 164307 h 483394"/>
              <a:gd name="connsiteX23" fmla="*/ 1312068 w 1516856"/>
              <a:gd name="connsiteY23" fmla="*/ 209550 h 483394"/>
              <a:gd name="connsiteX24" fmla="*/ 1354931 w 1516856"/>
              <a:gd name="connsiteY24" fmla="*/ 254794 h 483394"/>
              <a:gd name="connsiteX25" fmla="*/ 1407318 w 1516856"/>
              <a:gd name="connsiteY25" fmla="*/ 307182 h 483394"/>
              <a:gd name="connsiteX26" fmla="*/ 1443037 w 1516856"/>
              <a:gd name="connsiteY26" fmla="*/ 352425 h 483394"/>
              <a:gd name="connsiteX27" fmla="*/ 1488281 w 1516856"/>
              <a:gd name="connsiteY27" fmla="*/ 428625 h 483394"/>
              <a:gd name="connsiteX28" fmla="*/ 1516856 w 1516856"/>
              <a:gd name="connsiteY28" fmla="*/ 481013 h 48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16856" h="483394">
                <a:moveTo>
                  <a:pt x="0" y="483394"/>
                </a:moveTo>
                <a:cubicBezTo>
                  <a:pt x="14089" y="454025"/>
                  <a:pt x="28178" y="424656"/>
                  <a:pt x="42862" y="400050"/>
                </a:cubicBezTo>
                <a:cubicBezTo>
                  <a:pt x="57546" y="375444"/>
                  <a:pt x="73025" y="355997"/>
                  <a:pt x="88106" y="335757"/>
                </a:cubicBezTo>
                <a:cubicBezTo>
                  <a:pt x="103187" y="315517"/>
                  <a:pt x="115888" y="297657"/>
                  <a:pt x="133350" y="278607"/>
                </a:cubicBezTo>
                <a:cubicBezTo>
                  <a:pt x="150812" y="259557"/>
                  <a:pt x="176609" y="237729"/>
                  <a:pt x="192881" y="221457"/>
                </a:cubicBezTo>
                <a:cubicBezTo>
                  <a:pt x="209153" y="205185"/>
                  <a:pt x="215900" y="192881"/>
                  <a:pt x="230981" y="180975"/>
                </a:cubicBezTo>
                <a:cubicBezTo>
                  <a:pt x="246062" y="169069"/>
                  <a:pt x="264715" y="161528"/>
                  <a:pt x="283368" y="150019"/>
                </a:cubicBezTo>
                <a:cubicBezTo>
                  <a:pt x="302021" y="138510"/>
                  <a:pt x="323453" y="123825"/>
                  <a:pt x="342900" y="111919"/>
                </a:cubicBezTo>
                <a:cubicBezTo>
                  <a:pt x="362347" y="100013"/>
                  <a:pt x="380603" y="88504"/>
                  <a:pt x="400050" y="78582"/>
                </a:cubicBezTo>
                <a:cubicBezTo>
                  <a:pt x="419497" y="68660"/>
                  <a:pt x="438944" y="60326"/>
                  <a:pt x="459581" y="52388"/>
                </a:cubicBezTo>
                <a:cubicBezTo>
                  <a:pt x="480219" y="44451"/>
                  <a:pt x="501650" y="37307"/>
                  <a:pt x="523875" y="30957"/>
                </a:cubicBezTo>
                <a:cubicBezTo>
                  <a:pt x="546100" y="24607"/>
                  <a:pt x="571103" y="17860"/>
                  <a:pt x="592931" y="14288"/>
                </a:cubicBezTo>
                <a:cubicBezTo>
                  <a:pt x="614759" y="10716"/>
                  <a:pt x="637777" y="11509"/>
                  <a:pt x="654843" y="9525"/>
                </a:cubicBezTo>
                <a:cubicBezTo>
                  <a:pt x="671909" y="7541"/>
                  <a:pt x="677069" y="3970"/>
                  <a:pt x="695325" y="2382"/>
                </a:cubicBezTo>
                <a:cubicBezTo>
                  <a:pt x="713581" y="795"/>
                  <a:pt x="740966" y="0"/>
                  <a:pt x="764381" y="0"/>
                </a:cubicBezTo>
                <a:cubicBezTo>
                  <a:pt x="787796" y="0"/>
                  <a:pt x="818752" y="795"/>
                  <a:pt x="835818" y="2382"/>
                </a:cubicBezTo>
                <a:cubicBezTo>
                  <a:pt x="852884" y="3969"/>
                  <a:pt x="855266" y="7541"/>
                  <a:pt x="866775" y="9525"/>
                </a:cubicBezTo>
                <a:cubicBezTo>
                  <a:pt x="878284" y="11509"/>
                  <a:pt x="885428" y="10716"/>
                  <a:pt x="904875" y="14288"/>
                </a:cubicBezTo>
                <a:cubicBezTo>
                  <a:pt x="924322" y="17860"/>
                  <a:pt x="958056" y="23813"/>
                  <a:pt x="983456" y="30957"/>
                </a:cubicBezTo>
                <a:cubicBezTo>
                  <a:pt x="1008856" y="38101"/>
                  <a:pt x="1035447" y="48022"/>
                  <a:pt x="1057275" y="57150"/>
                </a:cubicBezTo>
                <a:cubicBezTo>
                  <a:pt x="1079103" y="66278"/>
                  <a:pt x="1114425" y="85725"/>
                  <a:pt x="1114425" y="85725"/>
                </a:cubicBezTo>
                <a:cubicBezTo>
                  <a:pt x="1137840" y="97234"/>
                  <a:pt x="1175543" y="113110"/>
                  <a:pt x="1197768" y="126207"/>
                </a:cubicBezTo>
                <a:cubicBezTo>
                  <a:pt x="1219993" y="139304"/>
                  <a:pt x="1228725" y="150417"/>
                  <a:pt x="1247775" y="164307"/>
                </a:cubicBezTo>
                <a:cubicBezTo>
                  <a:pt x="1266825" y="178197"/>
                  <a:pt x="1294209" y="194469"/>
                  <a:pt x="1312068" y="209550"/>
                </a:cubicBezTo>
                <a:cubicBezTo>
                  <a:pt x="1329927" y="224631"/>
                  <a:pt x="1339056" y="238522"/>
                  <a:pt x="1354931" y="254794"/>
                </a:cubicBezTo>
                <a:cubicBezTo>
                  <a:pt x="1370806" y="271066"/>
                  <a:pt x="1392634" y="290910"/>
                  <a:pt x="1407318" y="307182"/>
                </a:cubicBezTo>
                <a:cubicBezTo>
                  <a:pt x="1422002" y="323454"/>
                  <a:pt x="1429543" y="332185"/>
                  <a:pt x="1443037" y="352425"/>
                </a:cubicBezTo>
                <a:cubicBezTo>
                  <a:pt x="1456531" y="372665"/>
                  <a:pt x="1475978" y="407194"/>
                  <a:pt x="1488281" y="428625"/>
                </a:cubicBezTo>
                <a:cubicBezTo>
                  <a:pt x="1500584" y="450056"/>
                  <a:pt x="1508522" y="472282"/>
                  <a:pt x="1516856" y="481013"/>
                </a:cubicBezTo>
              </a:path>
            </a:pathLst>
          </a:custGeom>
          <a:ln w="47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28" name="直接连接符 127"/>
          <p:cNvCxnSpPr/>
          <p:nvPr/>
        </p:nvCxnSpPr>
        <p:spPr>
          <a:xfrm>
            <a:off x="4868030" y="3203574"/>
            <a:ext cx="1296988" cy="1587"/>
          </a:xfrm>
          <a:prstGeom prst="line">
            <a:avLst/>
          </a:prstGeom>
          <a:ln w="476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42"/>
          <p:cNvGrpSpPr>
            <a:grpSpLocks/>
          </p:cNvGrpSpPr>
          <p:nvPr/>
        </p:nvGrpSpPr>
        <p:grpSpPr bwMode="auto">
          <a:xfrm>
            <a:off x="3966804" y="2533333"/>
            <a:ext cx="2153483" cy="683897"/>
            <a:chOff x="3318624" y="1761899"/>
            <a:chExt cx="2153498" cy="2266393"/>
          </a:xfrm>
        </p:grpSpPr>
        <p:cxnSp>
          <p:nvCxnSpPr>
            <p:cNvPr id="130" name="直接连接符 129"/>
            <p:cNvCxnSpPr>
              <a:stCxn id="124" idx="0"/>
            </p:cNvCxnSpPr>
            <p:nvPr/>
          </p:nvCxnSpPr>
          <p:spPr>
            <a:xfrm>
              <a:off x="3318624" y="1761899"/>
              <a:ext cx="77789" cy="13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4265614" y="4026902"/>
              <a:ext cx="77788" cy="13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4384677" y="4028292"/>
              <a:ext cx="777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4718054" y="4025512"/>
              <a:ext cx="777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4498977" y="4025512"/>
              <a:ext cx="77789" cy="13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4608516" y="4025512"/>
              <a:ext cx="777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4827593" y="4025512"/>
              <a:ext cx="777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4940305" y="4025512"/>
              <a:ext cx="793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059369" y="4025512"/>
              <a:ext cx="793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5394333" y="4022732"/>
              <a:ext cx="7778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5173670" y="4024122"/>
              <a:ext cx="793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5284796" y="4022732"/>
              <a:ext cx="777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45"/>
          <p:cNvGrpSpPr>
            <a:grpSpLocks/>
          </p:cNvGrpSpPr>
          <p:nvPr/>
        </p:nvGrpSpPr>
        <p:grpSpPr bwMode="auto">
          <a:xfrm>
            <a:off x="4742619" y="3205160"/>
            <a:ext cx="1527175" cy="0"/>
            <a:chOff x="4052877" y="4013208"/>
            <a:chExt cx="1527201" cy="0"/>
          </a:xfrm>
        </p:grpSpPr>
        <p:cxnSp>
          <p:nvCxnSpPr>
            <p:cNvPr id="142" name="直接连接符 141"/>
            <p:cNvCxnSpPr/>
            <p:nvPr/>
          </p:nvCxnSpPr>
          <p:spPr>
            <a:xfrm>
              <a:off x="5448313" y="4013208"/>
              <a:ext cx="131765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 flipV="1">
              <a:off x="4052877" y="4013208"/>
              <a:ext cx="153990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275" name="Picture 5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20064" y="2333625"/>
            <a:ext cx="2547937" cy="2019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50" name="任意多边形 149"/>
          <p:cNvSpPr/>
          <p:nvPr/>
        </p:nvSpPr>
        <p:spPr>
          <a:xfrm>
            <a:off x="4666418" y="3216273"/>
            <a:ext cx="100012" cy="347662"/>
          </a:xfrm>
          <a:custGeom>
            <a:avLst/>
            <a:gdLst>
              <a:gd name="connsiteX0" fmla="*/ 0 w 100012"/>
              <a:gd name="connsiteY0" fmla="*/ 347662 h 347662"/>
              <a:gd name="connsiteX1" fmla="*/ 14287 w 100012"/>
              <a:gd name="connsiteY1" fmla="*/ 219075 h 347662"/>
              <a:gd name="connsiteX2" fmla="*/ 33337 w 100012"/>
              <a:gd name="connsiteY2" fmla="*/ 128587 h 347662"/>
              <a:gd name="connsiteX3" fmla="*/ 66675 w 100012"/>
              <a:gd name="connsiteY3" fmla="*/ 38100 h 347662"/>
              <a:gd name="connsiteX4" fmla="*/ 100012 w 100012"/>
              <a:gd name="connsiteY4" fmla="*/ 0 h 347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2" h="347662">
                <a:moveTo>
                  <a:pt x="0" y="347662"/>
                </a:moveTo>
                <a:cubicBezTo>
                  <a:pt x="4365" y="301624"/>
                  <a:pt x="8731" y="255587"/>
                  <a:pt x="14287" y="219075"/>
                </a:cubicBezTo>
                <a:cubicBezTo>
                  <a:pt x="19843" y="182563"/>
                  <a:pt x="24606" y="158749"/>
                  <a:pt x="33337" y="128587"/>
                </a:cubicBezTo>
                <a:cubicBezTo>
                  <a:pt x="42068" y="98425"/>
                  <a:pt x="55562" y="59531"/>
                  <a:pt x="66675" y="38100"/>
                </a:cubicBezTo>
                <a:cubicBezTo>
                  <a:pt x="77788" y="16669"/>
                  <a:pt x="88900" y="8334"/>
                  <a:pt x="100012" y="0"/>
                </a:cubicBezTo>
              </a:path>
            </a:pathLst>
          </a:cu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1" name="任意多边形 150"/>
          <p:cNvSpPr/>
          <p:nvPr/>
        </p:nvSpPr>
        <p:spPr>
          <a:xfrm>
            <a:off x="6266619" y="3206749"/>
            <a:ext cx="85725" cy="352425"/>
          </a:xfrm>
          <a:custGeom>
            <a:avLst/>
            <a:gdLst>
              <a:gd name="connsiteX0" fmla="*/ 0 w 85725"/>
              <a:gd name="connsiteY0" fmla="*/ 0 h 352425"/>
              <a:gd name="connsiteX1" fmla="*/ 47625 w 85725"/>
              <a:gd name="connsiteY1" fmla="*/ 90487 h 352425"/>
              <a:gd name="connsiteX2" fmla="*/ 61912 w 85725"/>
              <a:gd name="connsiteY2" fmla="*/ 157162 h 352425"/>
              <a:gd name="connsiteX3" fmla="*/ 80962 w 85725"/>
              <a:gd name="connsiteY3" fmla="*/ 238125 h 352425"/>
              <a:gd name="connsiteX4" fmla="*/ 85725 w 85725"/>
              <a:gd name="connsiteY4" fmla="*/ 352425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" h="352425">
                <a:moveTo>
                  <a:pt x="0" y="0"/>
                </a:moveTo>
                <a:cubicBezTo>
                  <a:pt x="18653" y="32146"/>
                  <a:pt x="37306" y="64293"/>
                  <a:pt x="47625" y="90487"/>
                </a:cubicBezTo>
                <a:cubicBezTo>
                  <a:pt x="57944" y="116681"/>
                  <a:pt x="56356" y="132556"/>
                  <a:pt x="61912" y="157162"/>
                </a:cubicBezTo>
                <a:cubicBezTo>
                  <a:pt x="67468" y="181768"/>
                  <a:pt x="76993" y="205581"/>
                  <a:pt x="80962" y="238125"/>
                </a:cubicBezTo>
                <a:cubicBezTo>
                  <a:pt x="84931" y="270669"/>
                  <a:pt x="78581" y="340519"/>
                  <a:pt x="85725" y="352425"/>
                </a:cubicBezTo>
              </a:path>
            </a:pathLst>
          </a:cu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52" name="任意多边形 151"/>
          <p:cNvSpPr/>
          <p:nvPr/>
        </p:nvSpPr>
        <p:spPr>
          <a:xfrm>
            <a:off x="2677280" y="4022724"/>
            <a:ext cx="533400" cy="46037"/>
          </a:xfrm>
          <a:custGeom>
            <a:avLst/>
            <a:gdLst>
              <a:gd name="connsiteX0" fmla="*/ 0 w 533400"/>
              <a:gd name="connsiteY0" fmla="*/ 46567 h 46567"/>
              <a:gd name="connsiteX1" fmla="*/ 95250 w 533400"/>
              <a:gd name="connsiteY1" fmla="*/ 14817 h 46567"/>
              <a:gd name="connsiteX2" fmla="*/ 171450 w 533400"/>
              <a:gd name="connsiteY2" fmla="*/ 2117 h 46567"/>
              <a:gd name="connsiteX3" fmla="*/ 254000 w 533400"/>
              <a:gd name="connsiteY3" fmla="*/ 2117 h 46567"/>
              <a:gd name="connsiteX4" fmla="*/ 317500 w 533400"/>
              <a:gd name="connsiteY4" fmla="*/ 2117 h 46567"/>
              <a:gd name="connsiteX5" fmla="*/ 406400 w 533400"/>
              <a:gd name="connsiteY5" fmla="*/ 14817 h 46567"/>
              <a:gd name="connsiteX6" fmla="*/ 476250 w 533400"/>
              <a:gd name="connsiteY6" fmla="*/ 33867 h 46567"/>
              <a:gd name="connsiteX7" fmla="*/ 533400 w 533400"/>
              <a:gd name="connsiteY7" fmla="*/ 46567 h 46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400" h="46567">
                <a:moveTo>
                  <a:pt x="0" y="46567"/>
                </a:moveTo>
                <a:cubicBezTo>
                  <a:pt x="33337" y="34396"/>
                  <a:pt x="66675" y="22225"/>
                  <a:pt x="95250" y="14817"/>
                </a:cubicBezTo>
                <a:cubicBezTo>
                  <a:pt x="123825" y="7409"/>
                  <a:pt x="144992" y="4234"/>
                  <a:pt x="171450" y="2117"/>
                </a:cubicBezTo>
                <a:cubicBezTo>
                  <a:pt x="197908" y="0"/>
                  <a:pt x="254000" y="2117"/>
                  <a:pt x="254000" y="2117"/>
                </a:cubicBezTo>
                <a:cubicBezTo>
                  <a:pt x="278342" y="2117"/>
                  <a:pt x="292100" y="0"/>
                  <a:pt x="317500" y="2117"/>
                </a:cubicBezTo>
                <a:cubicBezTo>
                  <a:pt x="342900" y="4234"/>
                  <a:pt x="379942" y="9525"/>
                  <a:pt x="406400" y="14817"/>
                </a:cubicBezTo>
                <a:cubicBezTo>
                  <a:pt x="432858" y="20109"/>
                  <a:pt x="455084" y="28575"/>
                  <a:pt x="476250" y="33867"/>
                </a:cubicBezTo>
                <a:cubicBezTo>
                  <a:pt x="497416" y="39159"/>
                  <a:pt x="521758" y="43392"/>
                  <a:pt x="533400" y="46567"/>
                </a:cubicBezTo>
              </a:path>
            </a:pathLst>
          </a:cu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" name="任意多边形 152"/>
          <p:cNvSpPr/>
          <p:nvPr/>
        </p:nvSpPr>
        <p:spPr>
          <a:xfrm>
            <a:off x="2677280" y="5510210"/>
            <a:ext cx="527050" cy="58738"/>
          </a:xfrm>
          <a:custGeom>
            <a:avLst/>
            <a:gdLst>
              <a:gd name="connsiteX0" fmla="*/ 0 w 527050"/>
              <a:gd name="connsiteY0" fmla="*/ 0 h 58208"/>
              <a:gd name="connsiteX1" fmla="*/ 114300 w 527050"/>
              <a:gd name="connsiteY1" fmla="*/ 44450 h 58208"/>
              <a:gd name="connsiteX2" fmla="*/ 209550 w 527050"/>
              <a:gd name="connsiteY2" fmla="*/ 50800 h 58208"/>
              <a:gd name="connsiteX3" fmla="*/ 273050 w 527050"/>
              <a:gd name="connsiteY3" fmla="*/ 57150 h 58208"/>
              <a:gd name="connsiteX4" fmla="*/ 393700 w 527050"/>
              <a:gd name="connsiteY4" fmla="*/ 44450 h 58208"/>
              <a:gd name="connsiteX5" fmla="*/ 527050 w 527050"/>
              <a:gd name="connsiteY5" fmla="*/ 0 h 58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050" h="58208">
                <a:moveTo>
                  <a:pt x="0" y="0"/>
                </a:moveTo>
                <a:cubicBezTo>
                  <a:pt x="39687" y="17991"/>
                  <a:pt x="79375" y="35983"/>
                  <a:pt x="114300" y="44450"/>
                </a:cubicBezTo>
                <a:cubicBezTo>
                  <a:pt x="149225" y="52917"/>
                  <a:pt x="183092" y="48683"/>
                  <a:pt x="209550" y="50800"/>
                </a:cubicBezTo>
                <a:cubicBezTo>
                  <a:pt x="236008" y="52917"/>
                  <a:pt x="242358" y="58208"/>
                  <a:pt x="273050" y="57150"/>
                </a:cubicBezTo>
                <a:cubicBezTo>
                  <a:pt x="303742" y="56092"/>
                  <a:pt x="351367" y="53975"/>
                  <a:pt x="393700" y="44450"/>
                </a:cubicBezTo>
                <a:cubicBezTo>
                  <a:pt x="436033" y="34925"/>
                  <a:pt x="527050" y="0"/>
                  <a:pt x="527050" y="0"/>
                </a:cubicBezTo>
              </a:path>
            </a:pathLst>
          </a:cu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52278" name="Picture 5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53369" y="2434091"/>
            <a:ext cx="4675187" cy="33956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11" name="Text Box 42"/>
          <p:cNvSpPr txBox="1">
            <a:spLocks noChangeArrowheads="1"/>
          </p:cNvSpPr>
          <p:nvPr/>
        </p:nvSpPr>
        <p:spPr bwMode="auto">
          <a:xfrm>
            <a:off x="6152320" y="5074455"/>
            <a:ext cx="5221288" cy="13843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0066"/>
                </a:solidFill>
              </a:rPr>
              <a:t>    </a:t>
            </a:r>
            <a:r>
              <a:rPr lang="zh-CN" altLang="en-US" sz="2800" dirty="0">
                <a:solidFill>
                  <a:srgbClr val="000066"/>
                </a:solidFill>
              </a:rPr>
              <a:t>两个侧平面与圆球面的交线的投影，在俯视图上积聚为直线</a:t>
            </a:r>
            <a:r>
              <a:rPr lang="en-US" altLang="zh-CN" sz="2800" dirty="0">
                <a:solidFill>
                  <a:srgbClr val="000066"/>
                </a:solidFill>
              </a:rPr>
              <a:t>,</a:t>
            </a:r>
            <a:r>
              <a:rPr lang="zh-CN" altLang="en-US" sz="2800" dirty="0">
                <a:solidFill>
                  <a:srgbClr val="000066"/>
                </a:solidFill>
              </a:rPr>
              <a:t>在侧视上为部分圆弧。</a:t>
            </a:r>
          </a:p>
        </p:txBody>
      </p:sp>
    </p:spTree>
    <p:extLst>
      <p:ext uri="{BB962C8B-B14F-4D97-AF65-F5344CB8AC3E}">
        <p14:creationId xmlns:p14="http://schemas.microsoft.com/office/powerpoint/2010/main" val="2795199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5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1" grpId="0"/>
      <p:bldP spid="100" grpId="0" animBg="1"/>
      <p:bldP spid="110" grpId="0" animBg="1"/>
      <p:bldP spid="108" grpId="0" animBg="1"/>
      <p:bldP spid="124" grpId="0" animBg="1"/>
      <p:bldP spid="126" grpId="0" animBg="1"/>
      <p:bldP spid="150" grpId="0" animBg="1"/>
      <p:bldP spid="151" grpId="0" animBg="1"/>
      <p:bldP spid="152" grpId="0" animBg="1"/>
      <p:bldP spid="153" grpId="0" animBg="1"/>
      <p:bldP spid="111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30">
            <a:extLst>
              <a:ext uri="{FF2B5EF4-FFF2-40B4-BE49-F238E27FC236}">
                <a16:creationId xmlns:a16="http://schemas.microsoft.com/office/drawing/2014/main" id="{203BCF04-0524-4113-978F-D0326FF91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43082" y="1566863"/>
            <a:ext cx="2190750" cy="2035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4" name="Text Box 64">
            <a:extLst>
              <a:ext uri="{FF2B5EF4-FFF2-40B4-BE49-F238E27FC236}">
                <a16:creationId xmlns:a16="http://schemas.microsoft.com/office/drawing/2014/main" id="{2E610C21-9024-4329-A4EF-589ECCC89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92" y="535807"/>
            <a:ext cx="619446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>
              <a:defRPr/>
            </a:pPr>
            <a:r>
              <a:rPr lang="zh-CN" altLang="en-US" sz="3200" b="1" dirty="0">
                <a:latin typeface="+mn-ea"/>
                <a:ea typeface="+mn-ea"/>
              </a:rPr>
              <a:t>（四） 组合回转体的截切构形</a:t>
            </a:r>
          </a:p>
        </p:txBody>
      </p:sp>
      <p:pic>
        <p:nvPicPr>
          <p:cNvPr id="56" name="Picture 129">
            <a:extLst>
              <a:ext uri="{FF2B5EF4-FFF2-40B4-BE49-F238E27FC236}">
                <a16:creationId xmlns:a16="http://schemas.microsoft.com/office/drawing/2014/main" id="{47383B89-7911-4650-862F-600CCC7E4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43082" y="1566863"/>
            <a:ext cx="2166937" cy="20335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57" name="组合 132">
            <a:extLst>
              <a:ext uri="{FF2B5EF4-FFF2-40B4-BE49-F238E27FC236}">
                <a16:creationId xmlns:a16="http://schemas.microsoft.com/office/drawing/2014/main" id="{6DCA22CE-7CE3-4C4D-8B16-AF41B72C15CE}"/>
              </a:ext>
            </a:extLst>
          </p:cNvPr>
          <p:cNvGrpSpPr>
            <a:grpSpLocks/>
          </p:cNvGrpSpPr>
          <p:nvPr/>
        </p:nvGrpSpPr>
        <p:grpSpPr bwMode="auto">
          <a:xfrm>
            <a:off x="1307468" y="1556792"/>
            <a:ext cx="7468887" cy="4486052"/>
            <a:chOff x="127239" y="805050"/>
            <a:chExt cx="7468988" cy="4486113"/>
          </a:xfrm>
        </p:grpSpPr>
        <p:pic>
          <p:nvPicPr>
            <p:cNvPr id="58" name="Picture 131">
              <a:extLst>
                <a:ext uri="{FF2B5EF4-FFF2-40B4-BE49-F238E27FC236}">
                  <a16:creationId xmlns:a16="http://schemas.microsoft.com/office/drawing/2014/main" id="{CBDAB94B-BD7D-49F9-8FC1-CC857BB7A3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92083" y="1534492"/>
              <a:ext cx="4892743" cy="375667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sp>
          <p:nvSpPr>
            <p:cNvPr id="59" name="矩形 131">
              <a:extLst>
                <a:ext uri="{FF2B5EF4-FFF2-40B4-BE49-F238E27FC236}">
                  <a16:creationId xmlns:a16="http://schemas.microsoft.com/office/drawing/2014/main" id="{EB8E42B1-389B-48E4-B616-C6AF477BF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39" y="805050"/>
              <a:ext cx="746898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例：已知被截切组合回转体的正面投影和侧面投影，</a:t>
              </a:r>
              <a:endParaRPr lang="en-US" altLang="zh-CN" sz="2400" dirty="0"/>
            </a:p>
            <a:p>
              <a:r>
                <a:rPr lang="en-US" altLang="zh-CN" sz="2400" dirty="0"/>
                <a:t>       </a:t>
              </a:r>
              <a:r>
                <a:rPr lang="zh-CN" altLang="en-US" sz="2400" dirty="0"/>
                <a:t>求其水平投影。</a:t>
              </a:r>
            </a:p>
          </p:txBody>
        </p:sp>
      </p:grpSp>
      <p:pic>
        <p:nvPicPr>
          <p:cNvPr id="60" name="Picture 132">
            <a:extLst>
              <a:ext uri="{FF2B5EF4-FFF2-40B4-BE49-F238E27FC236}">
                <a16:creationId xmlns:a16="http://schemas.microsoft.com/office/drawing/2014/main" id="{7505142E-52AC-45B2-BFF7-3FB88E816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4692" y="4260080"/>
            <a:ext cx="2190750" cy="17240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61" name="Line 33">
            <a:extLst>
              <a:ext uri="{FF2B5EF4-FFF2-40B4-BE49-F238E27FC236}">
                <a16:creationId xmlns:a16="http://schemas.microsoft.com/office/drawing/2014/main" id="{544D0604-6871-4A9E-A56A-E5C97C695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6042" y="2880543"/>
            <a:ext cx="0" cy="2268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2" name="组合 142">
            <a:extLst>
              <a:ext uri="{FF2B5EF4-FFF2-40B4-BE49-F238E27FC236}">
                <a16:creationId xmlns:a16="http://schemas.microsoft.com/office/drawing/2014/main" id="{17CB43ED-8BC7-48C4-B0D0-473A21E07CAA}"/>
              </a:ext>
            </a:extLst>
          </p:cNvPr>
          <p:cNvGrpSpPr>
            <a:grpSpLocks/>
          </p:cNvGrpSpPr>
          <p:nvPr/>
        </p:nvGrpSpPr>
        <p:grpSpPr bwMode="auto">
          <a:xfrm>
            <a:off x="4985405" y="2764655"/>
            <a:ext cx="1436687" cy="184150"/>
            <a:chOff x="3797607" y="2012613"/>
            <a:chExt cx="1436964" cy="184362"/>
          </a:xfrm>
        </p:grpSpPr>
        <p:sp>
          <p:nvSpPr>
            <p:cNvPr id="63" name="Text Box 54">
              <a:extLst>
                <a:ext uri="{FF2B5EF4-FFF2-40B4-BE49-F238E27FC236}">
                  <a16:creationId xmlns:a16="http://schemas.microsoft.com/office/drawing/2014/main" id="{0887495F-4C27-4F47-84AA-CEBD3DE23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607" y="2012613"/>
              <a:ext cx="218382" cy="18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700">
                <a:solidFill>
                  <a:srgbClr val="FF33CC"/>
                </a:solidFill>
              </a:endParaRPr>
            </a:p>
          </p:txBody>
        </p:sp>
        <p:sp>
          <p:nvSpPr>
            <p:cNvPr id="64" name="Text Box 54">
              <a:extLst>
                <a:ext uri="{FF2B5EF4-FFF2-40B4-BE49-F238E27FC236}">
                  <a16:creationId xmlns:a16="http://schemas.microsoft.com/office/drawing/2014/main" id="{236A00CC-8593-41DC-B926-DFCB0B234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189" y="2012613"/>
              <a:ext cx="218382" cy="18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700">
                <a:solidFill>
                  <a:srgbClr val="FF33CC"/>
                </a:solidFill>
              </a:endParaRPr>
            </a:p>
          </p:txBody>
        </p:sp>
      </p:grpSp>
      <p:grpSp>
        <p:nvGrpSpPr>
          <p:cNvPr id="65" name="组合 143">
            <a:extLst>
              <a:ext uri="{FF2B5EF4-FFF2-40B4-BE49-F238E27FC236}">
                <a16:creationId xmlns:a16="http://schemas.microsoft.com/office/drawing/2014/main" id="{BA48F5CF-D70B-45AA-839C-592168907956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146954" y="5045893"/>
            <a:ext cx="1438275" cy="184150"/>
            <a:chOff x="3797607" y="2012613"/>
            <a:chExt cx="1436964" cy="184362"/>
          </a:xfrm>
        </p:grpSpPr>
        <p:sp>
          <p:nvSpPr>
            <p:cNvPr id="66" name="Text Box 54">
              <a:extLst>
                <a:ext uri="{FF2B5EF4-FFF2-40B4-BE49-F238E27FC236}">
                  <a16:creationId xmlns:a16="http://schemas.microsoft.com/office/drawing/2014/main" id="{D4436C01-4AF8-4042-899F-58FF5747E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607" y="2012613"/>
              <a:ext cx="218382" cy="18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700">
                <a:solidFill>
                  <a:srgbClr val="FF33CC"/>
                </a:solidFill>
              </a:endParaRPr>
            </a:p>
          </p:txBody>
        </p:sp>
        <p:sp>
          <p:nvSpPr>
            <p:cNvPr id="67" name="Text Box 54">
              <a:extLst>
                <a:ext uri="{FF2B5EF4-FFF2-40B4-BE49-F238E27FC236}">
                  <a16:creationId xmlns:a16="http://schemas.microsoft.com/office/drawing/2014/main" id="{7EDA50FD-D73F-4F8D-8DD6-B07B5D387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189" y="2012613"/>
              <a:ext cx="218382" cy="18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700">
                <a:solidFill>
                  <a:srgbClr val="FF33CC"/>
                </a:solidFill>
              </a:endParaRPr>
            </a:p>
          </p:txBody>
        </p:sp>
      </p:grpSp>
      <p:sp>
        <p:nvSpPr>
          <p:cNvPr id="68" name="Line 55">
            <a:extLst>
              <a:ext uri="{FF2B5EF4-FFF2-40B4-BE49-F238E27FC236}">
                <a16:creationId xmlns:a16="http://schemas.microsoft.com/office/drawing/2014/main" id="{625F73B1-5F0B-49C2-B2EC-879C8EA8E9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7080" y="2855143"/>
            <a:ext cx="0" cy="29876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9" name="Line 38">
            <a:extLst>
              <a:ext uri="{FF2B5EF4-FFF2-40B4-BE49-F238E27FC236}">
                <a16:creationId xmlns:a16="http://schemas.microsoft.com/office/drawing/2014/main" id="{2C32A265-8E99-45C9-9BDA-39BEE1800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680" y="4545830"/>
            <a:ext cx="28733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" name="Line 39">
            <a:extLst>
              <a:ext uri="{FF2B5EF4-FFF2-40B4-BE49-F238E27FC236}">
                <a16:creationId xmlns:a16="http://schemas.microsoft.com/office/drawing/2014/main" id="{4CD5FCE5-FBDC-42B0-97B0-985CFE7B6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680" y="5761855"/>
            <a:ext cx="28733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1" name="Line 40">
            <a:extLst>
              <a:ext uri="{FF2B5EF4-FFF2-40B4-BE49-F238E27FC236}">
                <a16:creationId xmlns:a16="http://schemas.microsoft.com/office/drawing/2014/main" id="{ED9FA434-19BB-4D4B-9858-F8ACF4834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6605" y="4523605"/>
            <a:ext cx="0" cy="1223963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" name="Freeform 41">
            <a:extLst>
              <a:ext uri="{FF2B5EF4-FFF2-40B4-BE49-F238E27FC236}">
                <a16:creationId xmlns:a16="http://schemas.microsoft.com/office/drawing/2014/main" id="{A73056B0-AC03-47DE-AC0B-8B65C003FFC3}"/>
              </a:ext>
            </a:extLst>
          </p:cNvPr>
          <p:cNvSpPr>
            <a:spLocks/>
          </p:cNvSpPr>
          <p:nvPr/>
        </p:nvSpPr>
        <p:spPr bwMode="auto">
          <a:xfrm>
            <a:off x="3510617" y="2547168"/>
            <a:ext cx="0" cy="2592387"/>
          </a:xfrm>
          <a:custGeom>
            <a:avLst/>
            <a:gdLst>
              <a:gd name="T0" fmla="*/ 0 w 4"/>
              <a:gd name="T1" fmla="*/ 0 h 1831"/>
              <a:gd name="T2" fmla="*/ 0 w 4"/>
              <a:gd name="T3" fmla="*/ 2147483647 h 1831"/>
              <a:gd name="T4" fmla="*/ 0 60000 65536"/>
              <a:gd name="T5" fmla="*/ 0 60000 65536"/>
              <a:gd name="T6" fmla="*/ 0 w 4"/>
              <a:gd name="T7" fmla="*/ 0 h 1831"/>
              <a:gd name="T8" fmla="*/ 0 w 4"/>
              <a:gd name="T9" fmla="*/ 1831 h 183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1831">
                <a:moveTo>
                  <a:pt x="0" y="0"/>
                </a:moveTo>
                <a:lnTo>
                  <a:pt x="4" y="183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oval" w="sm" len="sm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" name="Freeform 36">
            <a:extLst>
              <a:ext uri="{FF2B5EF4-FFF2-40B4-BE49-F238E27FC236}">
                <a16:creationId xmlns:a16="http://schemas.microsoft.com/office/drawing/2014/main" id="{CEEFDA7A-E9D3-4E46-AB05-8E9E6FB40DB0}"/>
              </a:ext>
            </a:extLst>
          </p:cNvPr>
          <p:cNvSpPr>
            <a:spLocks/>
          </p:cNvSpPr>
          <p:nvPr/>
        </p:nvSpPr>
        <p:spPr bwMode="auto">
          <a:xfrm>
            <a:off x="2681942" y="2850380"/>
            <a:ext cx="1588" cy="2892425"/>
          </a:xfrm>
          <a:custGeom>
            <a:avLst/>
            <a:gdLst>
              <a:gd name="T0" fmla="*/ 0 w 1"/>
              <a:gd name="T1" fmla="*/ 0 h 1822"/>
              <a:gd name="T2" fmla="*/ 0 w 1"/>
              <a:gd name="T3" fmla="*/ 2147483647 h 1822"/>
              <a:gd name="T4" fmla="*/ 0 60000 65536"/>
              <a:gd name="T5" fmla="*/ 0 60000 65536"/>
              <a:gd name="T6" fmla="*/ 0 w 1"/>
              <a:gd name="T7" fmla="*/ 0 h 1822"/>
              <a:gd name="T8" fmla="*/ 1 w 1"/>
              <a:gd name="T9" fmla="*/ 1822 h 18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822">
                <a:moveTo>
                  <a:pt x="0" y="0"/>
                </a:moveTo>
                <a:lnTo>
                  <a:pt x="0" y="182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74" name="组合 154">
            <a:extLst>
              <a:ext uri="{FF2B5EF4-FFF2-40B4-BE49-F238E27FC236}">
                <a16:creationId xmlns:a16="http://schemas.microsoft.com/office/drawing/2014/main" id="{A8915A8E-6A8C-46EE-96D1-7C7B8A8B4A70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435086" y="5045099"/>
            <a:ext cx="1436688" cy="184150"/>
            <a:chOff x="3797607" y="2012613"/>
            <a:chExt cx="1436964" cy="184362"/>
          </a:xfrm>
        </p:grpSpPr>
        <p:sp>
          <p:nvSpPr>
            <p:cNvPr id="75" name="Text Box 54">
              <a:extLst>
                <a:ext uri="{FF2B5EF4-FFF2-40B4-BE49-F238E27FC236}">
                  <a16:creationId xmlns:a16="http://schemas.microsoft.com/office/drawing/2014/main" id="{31C6B91C-5602-4D30-8B8A-B45E86014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607" y="2012613"/>
              <a:ext cx="218382" cy="18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700">
                <a:solidFill>
                  <a:srgbClr val="FF33CC"/>
                </a:solidFill>
              </a:endParaRPr>
            </a:p>
          </p:txBody>
        </p:sp>
        <p:sp>
          <p:nvSpPr>
            <p:cNvPr id="76" name="Text Box 54">
              <a:extLst>
                <a:ext uri="{FF2B5EF4-FFF2-40B4-BE49-F238E27FC236}">
                  <a16:creationId xmlns:a16="http://schemas.microsoft.com/office/drawing/2014/main" id="{F0A7667C-70B8-42C5-B0E8-FA27A69EA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189" y="2012613"/>
              <a:ext cx="218382" cy="184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700">
                <a:solidFill>
                  <a:srgbClr val="FF33CC"/>
                </a:solidFill>
              </a:endParaRPr>
            </a:p>
          </p:txBody>
        </p:sp>
      </p:grpSp>
      <p:sp>
        <p:nvSpPr>
          <p:cNvPr id="77" name="Line 48">
            <a:extLst>
              <a:ext uri="{FF2B5EF4-FFF2-40B4-BE49-F238E27FC236}">
                <a16:creationId xmlns:a16="http://schemas.microsoft.com/office/drawing/2014/main" id="{BB648FA9-0BCD-4905-8ED8-BD66946D9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0355" y="3858443"/>
            <a:ext cx="30241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" name="Oval 76">
            <a:extLst>
              <a:ext uri="{FF2B5EF4-FFF2-40B4-BE49-F238E27FC236}">
                <a16:creationId xmlns:a16="http://schemas.microsoft.com/office/drawing/2014/main" id="{61FB034C-FAE6-4F72-946B-4E5A3358B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3992" y="2661468"/>
            <a:ext cx="1187450" cy="11890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/>
          </a:p>
        </p:txBody>
      </p:sp>
      <p:grpSp>
        <p:nvGrpSpPr>
          <p:cNvPr id="79" name="Group 49">
            <a:extLst>
              <a:ext uri="{FF2B5EF4-FFF2-40B4-BE49-F238E27FC236}">
                <a16:creationId xmlns:a16="http://schemas.microsoft.com/office/drawing/2014/main" id="{D1BE7979-4080-44DF-A28C-73985DB0EB54}"/>
              </a:ext>
            </a:extLst>
          </p:cNvPr>
          <p:cNvGrpSpPr>
            <a:grpSpLocks/>
          </p:cNvGrpSpPr>
          <p:nvPr/>
        </p:nvGrpSpPr>
        <p:grpSpPr bwMode="auto">
          <a:xfrm>
            <a:off x="5156855" y="2756718"/>
            <a:ext cx="1106487" cy="201612"/>
            <a:chOff x="3398" y="1291"/>
            <a:chExt cx="588" cy="123"/>
          </a:xfrm>
        </p:grpSpPr>
        <p:sp>
          <p:nvSpPr>
            <p:cNvPr id="80" name="Text Box 50">
              <a:extLst>
                <a:ext uri="{FF2B5EF4-FFF2-40B4-BE49-F238E27FC236}">
                  <a16:creationId xmlns:a16="http://schemas.microsoft.com/office/drawing/2014/main" id="{571DEBD4-1B76-4D6A-AA9F-EAFE3566D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1298"/>
              <a:ext cx="17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  <p:sp>
          <p:nvSpPr>
            <p:cNvPr id="81" name="Text Box 51">
              <a:extLst>
                <a:ext uri="{FF2B5EF4-FFF2-40B4-BE49-F238E27FC236}">
                  <a16:creationId xmlns:a16="http://schemas.microsoft.com/office/drawing/2014/main" id="{F9810068-7EC6-44C6-A9ED-456C57AA0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1291"/>
              <a:ext cx="136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</p:grpSp>
      <p:grpSp>
        <p:nvGrpSpPr>
          <p:cNvPr id="82" name="Group 49">
            <a:extLst>
              <a:ext uri="{FF2B5EF4-FFF2-40B4-BE49-F238E27FC236}">
                <a16:creationId xmlns:a16="http://schemas.microsoft.com/office/drawing/2014/main" id="{AF806D57-667B-4532-93E4-4A8441F5B092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119967" y="5057006"/>
            <a:ext cx="1131887" cy="201612"/>
            <a:chOff x="3398" y="1291"/>
            <a:chExt cx="602" cy="123"/>
          </a:xfrm>
        </p:grpSpPr>
        <p:sp>
          <p:nvSpPr>
            <p:cNvPr id="83" name="Text Box 50">
              <a:extLst>
                <a:ext uri="{FF2B5EF4-FFF2-40B4-BE49-F238E27FC236}">
                  <a16:creationId xmlns:a16="http://schemas.microsoft.com/office/drawing/2014/main" id="{03D55D42-82D0-4F6C-A4DC-A6EF42F93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1298"/>
              <a:ext cx="17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  <p:sp>
          <p:nvSpPr>
            <p:cNvPr id="84" name="Text Box 51">
              <a:extLst>
                <a:ext uri="{FF2B5EF4-FFF2-40B4-BE49-F238E27FC236}">
                  <a16:creationId xmlns:a16="http://schemas.microsoft.com/office/drawing/2014/main" id="{87DE690F-A6B9-44D5-9654-CDAF4EFA0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" y="1291"/>
              <a:ext cx="136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6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</p:grpSp>
      <p:sp>
        <p:nvSpPr>
          <p:cNvPr id="85" name="Freeform 57">
            <a:extLst>
              <a:ext uri="{FF2B5EF4-FFF2-40B4-BE49-F238E27FC236}">
                <a16:creationId xmlns:a16="http://schemas.microsoft.com/office/drawing/2014/main" id="{A8496DC5-AD39-4623-987F-79ECCBCBC564}"/>
              </a:ext>
            </a:extLst>
          </p:cNvPr>
          <p:cNvSpPr>
            <a:spLocks/>
          </p:cNvSpPr>
          <p:nvPr/>
        </p:nvSpPr>
        <p:spPr bwMode="auto">
          <a:xfrm>
            <a:off x="3159780" y="2696393"/>
            <a:ext cx="3092450" cy="1587"/>
          </a:xfrm>
          <a:custGeom>
            <a:avLst/>
            <a:gdLst>
              <a:gd name="T0" fmla="*/ 0 w 1948"/>
              <a:gd name="T1" fmla="*/ 0 h 1"/>
              <a:gd name="T2" fmla="*/ 2147483647 w 1948"/>
              <a:gd name="T3" fmla="*/ 2147483647 h 1"/>
              <a:gd name="T4" fmla="*/ 0 60000 65536"/>
              <a:gd name="T5" fmla="*/ 0 60000 65536"/>
              <a:gd name="T6" fmla="*/ 0 w 1948"/>
              <a:gd name="T7" fmla="*/ 0 h 1"/>
              <a:gd name="T8" fmla="*/ 1948 w 19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8" h="1">
                <a:moveTo>
                  <a:pt x="0" y="0"/>
                </a:moveTo>
                <a:lnTo>
                  <a:pt x="1948" y="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86" name="Group 58">
            <a:extLst>
              <a:ext uri="{FF2B5EF4-FFF2-40B4-BE49-F238E27FC236}">
                <a16:creationId xmlns:a16="http://schemas.microsoft.com/office/drawing/2014/main" id="{82DC2202-680E-4CB4-9CDF-92735E0CF1CE}"/>
              </a:ext>
            </a:extLst>
          </p:cNvPr>
          <p:cNvGrpSpPr>
            <a:grpSpLocks/>
          </p:cNvGrpSpPr>
          <p:nvPr/>
        </p:nvGrpSpPr>
        <p:grpSpPr bwMode="auto">
          <a:xfrm>
            <a:off x="5145742" y="2618605"/>
            <a:ext cx="1122363" cy="169863"/>
            <a:chOff x="3196" y="1118"/>
            <a:chExt cx="988" cy="107"/>
          </a:xfrm>
        </p:grpSpPr>
        <p:sp>
          <p:nvSpPr>
            <p:cNvPr id="87" name="Text Box 59">
              <a:extLst>
                <a:ext uri="{FF2B5EF4-FFF2-40B4-BE49-F238E27FC236}">
                  <a16:creationId xmlns:a16="http://schemas.microsoft.com/office/drawing/2014/main" id="{655F631B-0C1D-4F75-8880-11D5F4BDB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" y="1118"/>
              <a:ext cx="18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5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  <p:sp>
          <p:nvSpPr>
            <p:cNvPr id="88" name="Text Box 60">
              <a:extLst>
                <a:ext uri="{FF2B5EF4-FFF2-40B4-BE49-F238E27FC236}">
                  <a16:creationId xmlns:a16="http://schemas.microsoft.com/office/drawing/2014/main" id="{1EA00D17-B08A-4BE9-9451-F7F59F23D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6" y="1118"/>
              <a:ext cx="1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5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</p:grpSp>
      <p:sp>
        <p:nvSpPr>
          <p:cNvPr id="89" name="Freeform 56">
            <a:extLst>
              <a:ext uri="{FF2B5EF4-FFF2-40B4-BE49-F238E27FC236}">
                <a16:creationId xmlns:a16="http://schemas.microsoft.com/office/drawing/2014/main" id="{0210206D-8830-4849-BA6C-7CE61EDE7C91}"/>
              </a:ext>
            </a:extLst>
          </p:cNvPr>
          <p:cNvSpPr>
            <a:spLocks/>
          </p:cNvSpPr>
          <p:nvPr/>
        </p:nvSpPr>
        <p:spPr bwMode="auto">
          <a:xfrm>
            <a:off x="3318530" y="2610668"/>
            <a:ext cx="0" cy="3240087"/>
          </a:xfrm>
          <a:custGeom>
            <a:avLst/>
            <a:gdLst>
              <a:gd name="T0" fmla="*/ 0 w 4"/>
              <a:gd name="T1" fmla="*/ 0 h 2156"/>
              <a:gd name="T2" fmla="*/ 0 w 4"/>
              <a:gd name="T3" fmla="*/ 2147483647 h 2156"/>
              <a:gd name="T4" fmla="*/ 0 60000 65536"/>
              <a:gd name="T5" fmla="*/ 0 60000 65536"/>
              <a:gd name="T6" fmla="*/ 0 w 4"/>
              <a:gd name="T7" fmla="*/ 0 h 2156"/>
              <a:gd name="T8" fmla="*/ 0 w 4"/>
              <a:gd name="T9" fmla="*/ 2156 h 21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2156">
                <a:moveTo>
                  <a:pt x="0" y="0"/>
                </a:moveTo>
                <a:lnTo>
                  <a:pt x="4" y="2156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90" name="Group 58">
            <a:extLst>
              <a:ext uri="{FF2B5EF4-FFF2-40B4-BE49-F238E27FC236}">
                <a16:creationId xmlns:a16="http://schemas.microsoft.com/office/drawing/2014/main" id="{05A05C26-5B3C-4EAB-9601-89E18E7F78B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766080" y="5058593"/>
            <a:ext cx="1122362" cy="169862"/>
            <a:chOff x="3196" y="1118"/>
            <a:chExt cx="988" cy="107"/>
          </a:xfrm>
        </p:grpSpPr>
        <p:sp>
          <p:nvSpPr>
            <p:cNvPr id="91" name="Text Box 59">
              <a:extLst>
                <a:ext uri="{FF2B5EF4-FFF2-40B4-BE49-F238E27FC236}">
                  <a16:creationId xmlns:a16="http://schemas.microsoft.com/office/drawing/2014/main" id="{589D60B7-705D-4748-BE35-9D60F2936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" y="1118"/>
              <a:ext cx="18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5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  <p:sp>
          <p:nvSpPr>
            <p:cNvPr id="92" name="Text Box 60">
              <a:extLst>
                <a:ext uri="{FF2B5EF4-FFF2-40B4-BE49-F238E27FC236}">
                  <a16:creationId xmlns:a16="http://schemas.microsoft.com/office/drawing/2014/main" id="{6263A43F-E091-4C32-B962-6EDAD81B3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6" y="1118"/>
              <a:ext cx="1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500">
                  <a:solidFill>
                    <a:srgbClr val="FF0000"/>
                  </a:solidFill>
                </a:rPr>
                <a:t>●</a:t>
              </a:r>
              <a:endParaRPr lang="en-US" altLang="zh-CN" sz="600">
                <a:solidFill>
                  <a:srgbClr val="FF33CC"/>
                </a:solidFill>
              </a:endParaRPr>
            </a:p>
          </p:txBody>
        </p:sp>
      </p:grpSp>
      <p:sp>
        <p:nvSpPr>
          <p:cNvPr id="93" name="Freeform 37">
            <a:extLst>
              <a:ext uri="{FF2B5EF4-FFF2-40B4-BE49-F238E27FC236}">
                <a16:creationId xmlns:a16="http://schemas.microsoft.com/office/drawing/2014/main" id="{803A7F56-510C-4B00-B5FB-F867035ADDBF}"/>
              </a:ext>
            </a:extLst>
          </p:cNvPr>
          <p:cNvSpPr>
            <a:spLocks/>
          </p:cNvSpPr>
          <p:nvPr/>
        </p:nvSpPr>
        <p:spPr bwMode="auto">
          <a:xfrm>
            <a:off x="2459692" y="4552180"/>
            <a:ext cx="395288" cy="1187450"/>
          </a:xfrm>
          <a:custGeom>
            <a:avLst/>
            <a:gdLst>
              <a:gd name="T0" fmla="*/ 2147483647 w 316"/>
              <a:gd name="T1" fmla="*/ 0 h 500"/>
              <a:gd name="T2" fmla="*/ 2147483647 w 316"/>
              <a:gd name="T3" fmla="*/ 2147483647 h 500"/>
              <a:gd name="T4" fmla="*/ 2147483647 w 316"/>
              <a:gd name="T5" fmla="*/ 2147483647 h 500"/>
              <a:gd name="T6" fmla="*/ 2147483647 w 316"/>
              <a:gd name="T7" fmla="*/ 2147483647 h 500"/>
              <a:gd name="T8" fmla="*/ 2147483647 w 316"/>
              <a:gd name="T9" fmla="*/ 2147483647 h 5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6"/>
              <a:gd name="T16" fmla="*/ 0 h 500"/>
              <a:gd name="T17" fmla="*/ 316 w 316"/>
              <a:gd name="T18" fmla="*/ 500 h 5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6" h="500">
                <a:moveTo>
                  <a:pt x="316" y="0"/>
                </a:moveTo>
                <a:cubicBezTo>
                  <a:pt x="283" y="13"/>
                  <a:pt x="171" y="54"/>
                  <a:pt x="119" y="94"/>
                </a:cubicBezTo>
                <a:cubicBezTo>
                  <a:pt x="67" y="134"/>
                  <a:pt x="0" y="191"/>
                  <a:pt x="1" y="243"/>
                </a:cubicBezTo>
                <a:cubicBezTo>
                  <a:pt x="2" y="294"/>
                  <a:pt x="75" y="359"/>
                  <a:pt x="125" y="402"/>
                </a:cubicBezTo>
                <a:cubicBezTo>
                  <a:pt x="176" y="445"/>
                  <a:pt x="265" y="480"/>
                  <a:pt x="302" y="500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4" name="任意多边形 183">
            <a:extLst>
              <a:ext uri="{FF2B5EF4-FFF2-40B4-BE49-F238E27FC236}">
                <a16:creationId xmlns:a16="http://schemas.microsoft.com/office/drawing/2014/main" id="{8B67CD45-0B73-48CC-95CB-28196F1B47AE}"/>
              </a:ext>
            </a:extLst>
          </p:cNvPr>
          <p:cNvSpPr/>
          <p:nvPr/>
        </p:nvSpPr>
        <p:spPr>
          <a:xfrm>
            <a:off x="3150255" y="4542655"/>
            <a:ext cx="363537" cy="1225550"/>
          </a:xfrm>
          <a:custGeom>
            <a:avLst/>
            <a:gdLst>
              <a:gd name="connsiteX0" fmla="*/ 5292 w 364596"/>
              <a:gd name="connsiteY0" fmla="*/ 0 h 1209675"/>
              <a:gd name="connsiteX1" fmla="*/ 94192 w 364596"/>
              <a:gd name="connsiteY1" fmla="*/ 34925 h 1209675"/>
              <a:gd name="connsiteX2" fmla="*/ 170392 w 364596"/>
              <a:gd name="connsiteY2" fmla="*/ 130175 h 1209675"/>
              <a:gd name="connsiteX3" fmla="*/ 218017 w 364596"/>
              <a:gd name="connsiteY3" fmla="*/ 193675 h 1209675"/>
              <a:gd name="connsiteX4" fmla="*/ 306917 w 364596"/>
              <a:gd name="connsiteY4" fmla="*/ 358775 h 1209675"/>
              <a:gd name="connsiteX5" fmla="*/ 345017 w 364596"/>
              <a:gd name="connsiteY5" fmla="*/ 469900 h 1209675"/>
              <a:gd name="connsiteX6" fmla="*/ 360892 w 364596"/>
              <a:gd name="connsiteY6" fmla="*/ 552450 h 1209675"/>
              <a:gd name="connsiteX7" fmla="*/ 360892 w 364596"/>
              <a:gd name="connsiteY7" fmla="*/ 612775 h 1209675"/>
              <a:gd name="connsiteX8" fmla="*/ 338667 w 364596"/>
              <a:gd name="connsiteY8" fmla="*/ 762000 h 1209675"/>
              <a:gd name="connsiteX9" fmla="*/ 271992 w 364596"/>
              <a:gd name="connsiteY9" fmla="*/ 955675 h 1209675"/>
              <a:gd name="connsiteX10" fmla="*/ 167217 w 364596"/>
              <a:gd name="connsiteY10" fmla="*/ 1076325 h 1209675"/>
              <a:gd name="connsiteX11" fmla="*/ 84667 w 364596"/>
              <a:gd name="connsiteY11" fmla="*/ 1171575 h 1209675"/>
              <a:gd name="connsiteX12" fmla="*/ 5292 w 364596"/>
              <a:gd name="connsiteY12" fmla="*/ 1209675 h 1209675"/>
              <a:gd name="connsiteX0" fmla="*/ 5292 w 364596"/>
              <a:gd name="connsiteY0" fmla="*/ 0 h 1209675"/>
              <a:gd name="connsiteX1" fmla="*/ 94192 w 364596"/>
              <a:gd name="connsiteY1" fmla="*/ 34925 h 1209675"/>
              <a:gd name="connsiteX2" fmla="*/ 170392 w 364596"/>
              <a:gd name="connsiteY2" fmla="*/ 130175 h 1209675"/>
              <a:gd name="connsiteX3" fmla="*/ 218017 w 364596"/>
              <a:gd name="connsiteY3" fmla="*/ 193675 h 1209675"/>
              <a:gd name="connsiteX4" fmla="*/ 306917 w 364596"/>
              <a:gd name="connsiteY4" fmla="*/ 358775 h 1209675"/>
              <a:gd name="connsiteX5" fmla="*/ 345017 w 364596"/>
              <a:gd name="connsiteY5" fmla="*/ 469900 h 1209675"/>
              <a:gd name="connsiteX6" fmla="*/ 360892 w 364596"/>
              <a:gd name="connsiteY6" fmla="*/ 552450 h 1209675"/>
              <a:gd name="connsiteX7" fmla="*/ 360892 w 364596"/>
              <a:gd name="connsiteY7" fmla="*/ 612775 h 1209675"/>
              <a:gd name="connsiteX8" fmla="*/ 338667 w 364596"/>
              <a:gd name="connsiteY8" fmla="*/ 762000 h 1209675"/>
              <a:gd name="connsiteX9" fmla="*/ 271992 w 364596"/>
              <a:gd name="connsiteY9" fmla="*/ 955675 h 1209675"/>
              <a:gd name="connsiteX10" fmla="*/ 167217 w 364596"/>
              <a:gd name="connsiteY10" fmla="*/ 1076325 h 1209675"/>
              <a:gd name="connsiteX11" fmla="*/ 84667 w 364596"/>
              <a:gd name="connsiteY11" fmla="*/ 1171575 h 1209675"/>
              <a:gd name="connsiteX12" fmla="*/ 5292 w 364596"/>
              <a:gd name="connsiteY12" fmla="*/ 1209675 h 1209675"/>
              <a:gd name="connsiteX0" fmla="*/ 5292 w 364596"/>
              <a:gd name="connsiteY0" fmla="*/ 0 h 1209675"/>
              <a:gd name="connsiteX1" fmla="*/ 94192 w 364596"/>
              <a:gd name="connsiteY1" fmla="*/ 34925 h 1209675"/>
              <a:gd name="connsiteX2" fmla="*/ 170392 w 364596"/>
              <a:gd name="connsiteY2" fmla="*/ 130175 h 1209675"/>
              <a:gd name="connsiteX3" fmla="*/ 218017 w 364596"/>
              <a:gd name="connsiteY3" fmla="*/ 193675 h 1209675"/>
              <a:gd name="connsiteX4" fmla="*/ 306917 w 364596"/>
              <a:gd name="connsiteY4" fmla="*/ 358775 h 1209675"/>
              <a:gd name="connsiteX5" fmla="*/ 345017 w 364596"/>
              <a:gd name="connsiteY5" fmla="*/ 469900 h 1209675"/>
              <a:gd name="connsiteX6" fmla="*/ 360892 w 364596"/>
              <a:gd name="connsiteY6" fmla="*/ 552450 h 1209675"/>
              <a:gd name="connsiteX7" fmla="*/ 360892 w 364596"/>
              <a:gd name="connsiteY7" fmla="*/ 612775 h 1209675"/>
              <a:gd name="connsiteX8" fmla="*/ 338667 w 364596"/>
              <a:gd name="connsiteY8" fmla="*/ 762000 h 1209675"/>
              <a:gd name="connsiteX9" fmla="*/ 271992 w 364596"/>
              <a:gd name="connsiteY9" fmla="*/ 955675 h 1209675"/>
              <a:gd name="connsiteX10" fmla="*/ 167217 w 364596"/>
              <a:gd name="connsiteY10" fmla="*/ 1076325 h 1209675"/>
              <a:gd name="connsiteX11" fmla="*/ 84667 w 364596"/>
              <a:gd name="connsiteY11" fmla="*/ 1171575 h 1209675"/>
              <a:gd name="connsiteX12" fmla="*/ 5292 w 364596"/>
              <a:gd name="connsiteY12" fmla="*/ 1209675 h 1209675"/>
              <a:gd name="connsiteX0" fmla="*/ 5292 w 364596"/>
              <a:gd name="connsiteY0" fmla="*/ 0 h 1209675"/>
              <a:gd name="connsiteX1" fmla="*/ 94192 w 364596"/>
              <a:gd name="connsiteY1" fmla="*/ 34925 h 1209675"/>
              <a:gd name="connsiteX2" fmla="*/ 170392 w 364596"/>
              <a:gd name="connsiteY2" fmla="*/ 130175 h 1209675"/>
              <a:gd name="connsiteX3" fmla="*/ 218017 w 364596"/>
              <a:gd name="connsiteY3" fmla="*/ 193675 h 1209675"/>
              <a:gd name="connsiteX4" fmla="*/ 306917 w 364596"/>
              <a:gd name="connsiteY4" fmla="*/ 358775 h 1209675"/>
              <a:gd name="connsiteX5" fmla="*/ 345017 w 364596"/>
              <a:gd name="connsiteY5" fmla="*/ 469900 h 1209675"/>
              <a:gd name="connsiteX6" fmla="*/ 360892 w 364596"/>
              <a:gd name="connsiteY6" fmla="*/ 552450 h 1209675"/>
              <a:gd name="connsiteX7" fmla="*/ 360892 w 364596"/>
              <a:gd name="connsiteY7" fmla="*/ 612775 h 1209675"/>
              <a:gd name="connsiteX8" fmla="*/ 338667 w 364596"/>
              <a:gd name="connsiteY8" fmla="*/ 762000 h 1209675"/>
              <a:gd name="connsiteX9" fmla="*/ 271992 w 364596"/>
              <a:gd name="connsiteY9" fmla="*/ 955675 h 1209675"/>
              <a:gd name="connsiteX10" fmla="*/ 167217 w 364596"/>
              <a:gd name="connsiteY10" fmla="*/ 1076325 h 1209675"/>
              <a:gd name="connsiteX11" fmla="*/ 95814 w 364596"/>
              <a:gd name="connsiteY11" fmla="*/ 1150916 h 1209675"/>
              <a:gd name="connsiteX12" fmla="*/ 5292 w 364596"/>
              <a:gd name="connsiteY12" fmla="*/ 1209675 h 1209675"/>
              <a:gd name="connsiteX0" fmla="*/ 5292 w 364596"/>
              <a:gd name="connsiteY0" fmla="*/ 0 h 1225550"/>
              <a:gd name="connsiteX1" fmla="*/ 94192 w 364596"/>
              <a:gd name="connsiteY1" fmla="*/ 50800 h 1225550"/>
              <a:gd name="connsiteX2" fmla="*/ 170392 w 364596"/>
              <a:gd name="connsiteY2" fmla="*/ 146050 h 1225550"/>
              <a:gd name="connsiteX3" fmla="*/ 218017 w 364596"/>
              <a:gd name="connsiteY3" fmla="*/ 209550 h 1225550"/>
              <a:gd name="connsiteX4" fmla="*/ 306917 w 364596"/>
              <a:gd name="connsiteY4" fmla="*/ 374650 h 1225550"/>
              <a:gd name="connsiteX5" fmla="*/ 345017 w 364596"/>
              <a:gd name="connsiteY5" fmla="*/ 485775 h 1225550"/>
              <a:gd name="connsiteX6" fmla="*/ 360892 w 364596"/>
              <a:gd name="connsiteY6" fmla="*/ 568325 h 1225550"/>
              <a:gd name="connsiteX7" fmla="*/ 360892 w 364596"/>
              <a:gd name="connsiteY7" fmla="*/ 628650 h 1225550"/>
              <a:gd name="connsiteX8" fmla="*/ 338667 w 364596"/>
              <a:gd name="connsiteY8" fmla="*/ 777875 h 1225550"/>
              <a:gd name="connsiteX9" fmla="*/ 271992 w 364596"/>
              <a:gd name="connsiteY9" fmla="*/ 971550 h 1225550"/>
              <a:gd name="connsiteX10" fmla="*/ 167217 w 364596"/>
              <a:gd name="connsiteY10" fmla="*/ 1092200 h 1225550"/>
              <a:gd name="connsiteX11" fmla="*/ 95814 w 364596"/>
              <a:gd name="connsiteY11" fmla="*/ 1166791 h 1225550"/>
              <a:gd name="connsiteX12" fmla="*/ 5292 w 364596"/>
              <a:gd name="connsiteY12" fmla="*/ 1225550 h 1225550"/>
              <a:gd name="connsiteX0" fmla="*/ 5292 w 364596"/>
              <a:gd name="connsiteY0" fmla="*/ 0 h 1225550"/>
              <a:gd name="connsiteX1" fmla="*/ 94192 w 364596"/>
              <a:gd name="connsiteY1" fmla="*/ 50800 h 1225550"/>
              <a:gd name="connsiteX2" fmla="*/ 170392 w 364596"/>
              <a:gd name="connsiteY2" fmla="*/ 146050 h 1225550"/>
              <a:gd name="connsiteX3" fmla="*/ 218017 w 364596"/>
              <a:gd name="connsiteY3" fmla="*/ 209550 h 1225550"/>
              <a:gd name="connsiteX4" fmla="*/ 306917 w 364596"/>
              <a:gd name="connsiteY4" fmla="*/ 374650 h 1225550"/>
              <a:gd name="connsiteX5" fmla="*/ 345017 w 364596"/>
              <a:gd name="connsiteY5" fmla="*/ 485775 h 1225550"/>
              <a:gd name="connsiteX6" fmla="*/ 360892 w 364596"/>
              <a:gd name="connsiteY6" fmla="*/ 568325 h 1225550"/>
              <a:gd name="connsiteX7" fmla="*/ 360892 w 364596"/>
              <a:gd name="connsiteY7" fmla="*/ 628650 h 1225550"/>
              <a:gd name="connsiteX8" fmla="*/ 338667 w 364596"/>
              <a:gd name="connsiteY8" fmla="*/ 777875 h 1225550"/>
              <a:gd name="connsiteX9" fmla="*/ 262467 w 364596"/>
              <a:gd name="connsiteY9" fmla="*/ 965200 h 1225550"/>
              <a:gd name="connsiteX10" fmla="*/ 167217 w 364596"/>
              <a:gd name="connsiteY10" fmla="*/ 1092200 h 1225550"/>
              <a:gd name="connsiteX11" fmla="*/ 95814 w 364596"/>
              <a:gd name="connsiteY11" fmla="*/ 1166791 h 1225550"/>
              <a:gd name="connsiteX12" fmla="*/ 5292 w 364596"/>
              <a:gd name="connsiteY12" fmla="*/ 1225550 h 122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4596" h="1225550">
                <a:moveTo>
                  <a:pt x="5292" y="0"/>
                </a:moveTo>
                <a:cubicBezTo>
                  <a:pt x="35983" y="6614"/>
                  <a:pt x="66675" y="26458"/>
                  <a:pt x="94192" y="50800"/>
                </a:cubicBezTo>
                <a:cubicBezTo>
                  <a:pt x="121709" y="75142"/>
                  <a:pt x="149754" y="119592"/>
                  <a:pt x="170392" y="146050"/>
                </a:cubicBezTo>
                <a:cubicBezTo>
                  <a:pt x="191030" y="172508"/>
                  <a:pt x="195263" y="171450"/>
                  <a:pt x="218017" y="209550"/>
                </a:cubicBezTo>
                <a:cubicBezTo>
                  <a:pt x="240771" y="247650"/>
                  <a:pt x="285750" y="328613"/>
                  <a:pt x="306917" y="374650"/>
                </a:cubicBezTo>
                <a:cubicBezTo>
                  <a:pt x="328084" y="420687"/>
                  <a:pt x="336021" y="453496"/>
                  <a:pt x="345017" y="485775"/>
                </a:cubicBezTo>
                <a:cubicBezTo>
                  <a:pt x="354013" y="518054"/>
                  <a:pt x="358246" y="544513"/>
                  <a:pt x="360892" y="568325"/>
                </a:cubicBezTo>
                <a:cubicBezTo>
                  <a:pt x="363538" y="592137"/>
                  <a:pt x="364596" y="593725"/>
                  <a:pt x="360892" y="628650"/>
                </a:cubicBezTo>
                <a:cubicBezTo>
                  <a:pt x="357188" y="663575"/>
                  <a:pt x="355071" y="721783"/>
                  <a:pt x="338667" y="777875"/>
                </a:cubicBezTo>
                <a:cubicBezTo>
                  <a:pt x="322263" y="833967"/>
                  <a:pt x="291042" y="912813"/>
                  <a:pt x="262467" y="965200"/>
                </a:cubicBezTo>
                <a:cubicBezTo>
                  <a:pt x="233892" y="1017587"/>
                  <a:pt x="167217" y="1092200"/>
                  <a:pt x="167217" y="1092200"/>
                </a:cubicBezTo>
                <a:cubicBezTo>
                  <a:pt x="135996" y="1128183"/>
                  <a:pt x="122801" y="1144566"/>
                  <a:pt x="95814" y="1166791"/>
                </a:cubicBezTo>
                <a:cubicBezTo>
                  <a:pt x="68827" y="1189016"/>
                  <a:pt x="0" y="1222375"/>
                  <a:pt x="5292" y="122555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5" name="Line 65">
            <a:extLst>
              <a:ext uri="{FF2B5EF4-FFF2-40B4-BE49-F238E27FC236}">
                <a16:creationId xmlns:a16="http://schemas.microsoft.com/office/drawing/2014/main" id="{474B8459-FA1C-45FD-8074-C26667C66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680" y="4583930"/>
            <a:ext cx="0" cy="1152525"/>
          </a:xfrm>
          <a:prstGeom prst="line">
            <a:avLst/>
          </a:prstGeom>
          <a:noFill/>
          <a:ln w="41275">
            <a:solidFill>
              <a:schemeClr val="bg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" name="Line 75">
            <a:extLst>
              <a:ext uri="{FF2B5EF4-FFF2-40B4-BE49-F238E27FC236}">
                <a16:creationId xmlns:a16="http://schemas.microsoft.com/office/drawing/2014/main" id="{92714857-D855-4D49-BD6B-B3FF17E34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680" y="4563293"/>
            <a:ext cx="0" cy="1187450"/>
          </a:xfrm>
          <a:prstGeom prst="line">
            <a:avLst/>
          </a:prstGeom>
          <a:noFill/>
          <a:ln w="19050">
            <a:solidFill>
              <a:srgbClr val="FF0066"/>
            </a:solidFill>
            <a:prstDash val="lgDash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pic>
        <p:nvPicPr>
          <p:cNvPr id="97" name="Picture 133">
            <a:extLst>
              <a:ext uri="{FF2B5EF4-FFF2-40B4-BE49-F238E27FC236}">
                <a16:creationId xmlns:a16="http://schemas.microsoft.com/office/drawing/2014/main" id="{4DC0CCB9-BC20-4B78-9007-741AD7379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699280" y="2402705"/>
            <a:ext cx="4943475" cy="3530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98" name="矩形 97">
            <a:extLst>
              <a:ext uri="{FF2B5EF4-FFF2-40B4-BE49-F238E27FC236}">
                <a16:creationId xmlns:a16="http://schemas.microsoft.com/office/drawing/2014/main" id="{1417AE06-A11D-43EF-B11F-59A410858902}"/>
              </a:ext>
            </a:extLst>
          </p:cNvPr>
          <p:cNvSpPr/>
          <p:nvPr/>
        </p:nvSpPr>
        <p:spPr>
          <a:xfrm>
            <a:off x="5595652" y="435438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1"/>
                </a:solidFill>
                <a:latin typeface="Abadi" panose="020B0604020202020204" pitchFamily="34" charset="0"/>
                <a:ea typeface="+mn-ea"/>
              </a:rPr>
              <a:t>☆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求截交线上特殊点的投影。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E01A139-BB9B-4AEC-9298-DD9D658AB76B}"/>
              </a:ext>
            </a:extLst>
          </p:cNvPr>
          <p:cNvSpPr/>
          <p:nvPr/>
        </p:nvSpPr>
        <p:spPr>
          <a:xfrm>
            <a:off x="5595652" y="4829051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Abadi" panose="020B0604020202020204" pitchFamily="34" charset="0"/>
              </a:rPr>
              <a:t>☆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求截交线上一般位置点的投影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88122A0-78B4-495C-AB92-90964CA224E3}"/>
              </a:ext>
            </a:extLst>
          </p:cNvPr>
          <p:cNvSpPr/>
          <p:nvPr/>
        </p:nvSpPr>
        <p:spPr>
          <a:xfrm>
            <a:off x="5594064" y="5267201"/>
            <a:ext cx="565626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Abadi" panose="020B0604020202020204" pitchFamily="34" charset="0"/>
              </a:rPr>
              <a:t>☆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求截平面</a:t>
            </a:r>
            <a:r>
              <a:rPr lang="en-US" sz="2400" i="1" dirty="0">
                <a:solidFill>
                  <a:schemeClr val="accent1"/>
                </a:solidFill>
                <a:latin typeface="+mn-ea"/>
                <a:ea typeface="+mn-ea"/>
              </a:rPr>
              <a:t>P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和</a:t>
            </a:r>
            <a:r>
              <a:rPr lang="en-US" sz="2400" i="1" dirty="0">
                <a:solidFill>
                  <a:schemeClr val="accent1"/>
                </a:solidFill>
                <a:latin typeface="+mn-ea"/>
                <a:ea typeface="+mn-ea"/>
              </a:rPr>
              <a:t>Q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的交线</a:t>
            </a:r>
            <a:r>
              <a:rPr lang="en-US" altLang="zh-CN" sz="2400" dirty="0">
                <a:solidFill>
                  <a:schemeClr val="accent1"/>
                </a:solidFill>
                <a:latin typeface="+mn-ea"/>
                <a:ea typeface="+mn-ea"/>
              </a:rPr>
              <a:t>Ⅳ Ⅴ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的水平投影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8F7DB87-3487-407E-BE6C-828E40F285E1}"/>
              </a:ext>
            </a:extLst>
          </p:cNvPr>
          <p:cNvSpPr/>
          <p:nvPr/>
        </p:nvSpPr>
        <p:spPr>
          <a:xfrm>
            <a:off x="5619464" y="5670426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Abadi" panose="020B0604020202020204" pitchFamily="34" charset="0"/>
              </a:rPr>
              <a:t>☆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判别可见性，光滑连线。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3F61BF3-15BF-46D6-B96E-ED9AC7B5E1B0}"/>
              </a:ext>
            </a:extLst>
          </p:cNvPr>
          <p:cNvSpPr/>
          <p:nvPr/>
        </p:nvSpPr>
        <p:spPr>
          <a:xfrm>
            <a:off x="5630176" y="6118649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Abadi" panose="020B0604020202020204" pitchFamily="34" charset="0"/>
              </a:rPr>
              <a:t>☆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ea typeface="+mn-ea"/>
              </a:rPr>
              <a:t>整理轮廓线。</a:t>
            </a:r>
          </a:p>
        </p:txBody>
      </p:sp>
      <p:sp>
        <p:nvSpPr>
          <p:cNvPr id="55" name="Text Box 127">
            <a:extLst>
              <a:ext uri="{FF2B5EF4-FFF2-40B4-BE49-F238E27FC236}">
                <a16:creationId xmlns:a16="http://schemas.microsoft.com/office/drawing/2014/main" id="{7A93ABDB-55BB-4BFF-9F12-BCFA6FE3D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532" y="4357748"/>
            <a:ext cx="619213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   ☆首先分析复合回转体由哪些基本回转体组成的以及它们的连接关系，</a:t>
            </a:r>
            <a:r>
              <a:rPr lang="zh-CN" altLang="en-US" sz="2400" dirty="0"/>
              <a:t>然后</a:t>
            </a:r>
            <a:r>
              <a:rPr lang="zh-CN" altLang="en-US" sz="2400" dirty="0">
                <a:solidFill>
                  <a:srgbClr val="CC3300"/>
                </a:solidFill>
              </a:rPr>
              <a:t>分别求出这些基本回转体的截交线，并依次将其连接</a:t>
            </a:r>
            <a:r>
              <a:rPr lang="zh-CN" altLang="en-US" sz="2400" dirty="0">
                <a:solidFill>
                  <a:srgbClr val="FF3300"/>
                </a:solidFill>
              </a:rPr>
              <a:t>。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7" grpId="0" animBg="1"/>
      <p:bldP spid="78" grpId="0" animBg="1"/>
      <p:bldP spid="85" grpId="0" animBg="1"/>
      <p:bldP spid="89" grpId="0" animBg="1"/>
      <p:bldP spid="93" grpId="0" animBg="1"/>
      <p:bldP spid="94" grpId="0" animBg="1"/>
      <p:bldP spid="95" grpId="0" animBg="1"/>
      <p:bldP spid="96" grpId="0" animBg="1"/>
      <p:bldP spid="98" grpId="0"/>
      <p:bldP spid="99" grpId="0"/>
      <p:bldP spid="100" grpId="0"/>
      <p:bldP spid="101" grpId="0"/>
      <p:bldP spid="102" grpId="0"/>
      <p:bldP spid="5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850" y="1311275"/>
            <a:ext cx="6280150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3200">
                <a:latin typeface="黑体" pitchFamily="49" charset="-122"/>
                <a:ea typeface="黑体" pitchFamily="49" charset="-122"/>
              </a:rPr>
              <a:t>平面截切圆球体，截交线的形状是</a:t>
            </a:r>
            <a:endParaRPr lang="zh-CN" altLang="en-US" sz="32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58371" name="Text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6450" y="2786063"/>
            <a:ext cx="640080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 b="1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直线 </a:t>
            </a:r>
          </a:p>
        </p:txBody>
      </p:sp>
      <p:sp>
        <p:nvSpPr>
          <p:cNvPr id="58372" name="Text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46450" y="3643313"/>
            <a:ext cx="1982788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800">
                <a:latin typeface="黑体" pitchFamily="49" charset="-122"/>
                <a:ea typeface="黑体" pitchFamily="49" charset="-122"/>
              </a:rPr>
              <a:t>圆</a:t>
            </a:r>
            <a:endParaRPr lang="zh-CN" altLang="en-US" sz="2600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58373" name="椭圆 7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8374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8375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58376" name="圆角矩形 1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58377" name="TextBox 1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357564" y="4500563"/>
            <a:ext cx="3614737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 b="1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椭圆</a:t>
            </a:r>
          </a:p>
        </p:txBody>
      </p:sp>
      <p:grpSp>
        <p:nvGrpSpPr>
          <p:cNvPr id="58378" name="组合 16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8380" name="TitleBackground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58381" name="ColorBlock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58382" name="Type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58383" name="Tip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58379" name="图片 1" descr="tmp27FD.tmp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8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F56097B-19D1-413B-9DAA-BC1E890EA6DA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auto"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rtlCol="0" anchor="ctr" anchorCtr="1">
            <a:noAutofit/>
          </a:bodyPr>
          <a:lstStyle/>
          <a:p>
            <a:pPr marL="457200" indent="-457200" eaLnBrk="1" hangingPunct="1"/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951" y="1747838"/>
            <a:ext cx="8748713" cy="506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611564" y="256889"/>
            <a:ext cx="4649787" cy="5847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截切投影 总 结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sym typeface="Monotype Sorts" pitchFamily="2" charset="2"/>
            </a:endParaRPr>
          </a:p>
        </p:txBody>
      </p:sp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1307468" y="1196752"/>
            <a:ext cx="7427913" cy="461962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重点掌握求立体表面的截交线的作图方法。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033"/>
          <p:cNvSpPr txBox="1">
            <a:spLocks noChangeArrowheads="1"/>
          </p:cNvSpPr>
          <p:nvPr/>
        </p:nvSpPr>
        <p:spPr bwMode="auto">
          <a:xfrm>
            <a:off x="2051050" y="2439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zh-CN">
              <a:solidFill>
                <a:schemeClr val="tx2"/>
              </a:solidFill>
              <a:latin typeface="ISOCP" pitchFamily="2" charset="0"/>
            </a:endParaRPr>
          </a:p>
        </p:txBody>
      </p:sp>
      <p:sp>
        <p:nvSpPr>
          <p:cNvPr id="59395" name="Text Box 1034"/>
          <p:cNvSpPr txBox="1">
            <a:spLocks noChangeArrowheads="1"/>
          </p:cNvSpPr>
          <p:nvPr/>
        </p:nvSpPr>
        <p:spPr bwMode="auto">
          <a:xfrm>
            <a:off x="3759201" y="471488"/>
            <a:ext cx="43037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基本几何体的尺寸标注</a:t>
            </a:r>
            <a:endParaRPr lang="zh-CN" altLang="en-US" sz="320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9396" name="矩形 109"/>
          <p:cNvSpPr>
            <a:spLocks noChangeArrowheads="1"/>
          </p:cNvSpPr>
          <p:nvPr/>
        </p:nvSpPr>
        <p:spPr bwMode="auto">
          <a:xfrm>
            <a:off x="1487488" y="1377950"/>
            <a:ext cx="3430587" cy="5238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/>
              <a:t>一、平面基本几何体</a:t>
            </a:r>
          </a:p>
        </p:txBody>
      </p:sp>
      <p:pic>
        <p:nvPicPr>
          <p:cNvPr id="593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4750" y="2297113"/>
            <a:ext cx="7265988" cy="38084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08239" y="2224088"/>
            <a:ext cx="7704137" cy="37639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033"/>
          <p:cNvSpPr txBox="1">
            <a:spLocks noChangeArrowheads="1"/>
          </p:cNvSpPr>
          <p:nvPr/>
        </p:nvSpPr>
        <p:spPr bwMode="auto">
          <a:xfrm>
            <a:off x="2051050" y="2439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zh-CN">
              <a:solidFill>
                <a:schemeClr val="tx2"/>
              </a:solidFill>
              <a:latin typeface="ISOCP" pitchFamily="2" charset="0"/>
            </a:endParaRPr>
          </a:p>
        </p:txBody>
      </p:sp>
      <p:sp>
        <p:nvSpPr>
          <p:cNvPr id="60419" name="Text Box 1034"/>
          <p:cNvSpPr txBox="1">
            <a:spLocks noChangeArrowheads="1"/>
          </p:cNvSpPr>
          <p:nvPr/>
        </p:nvSpPr>
        <p:spPr bwMode="auto">
          <a:xfrm>
            <a:off x="3759201" y="471488"/>
            <a:ext cx="43037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基本几何体的尺寸标注</a:t>
            </a:r>
            <a:endParaRPr lang="zh-CN" altLang="en-US" sz="320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420" name="矩形 109"/>
          <p:cNvSpPr>
            <a:spLocks noChangeArrowheads="1"/>
          </p:cNvSpPr>
          <p:nvPr/>
        </p:nvSpPr>
        <p:spPr bwMode="auto">
          <a:xfrm>
            <a:off x="1163452" y="1432719"/>
            <a:ext cx="3430587" cy="5238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/>
              <a:t>一、平面基本几何体</a:t>
            </a:r>
          </a:p>
        </p:txBody>
      </p:sp>
      <p:pic>
        <p:nvPicPr>
          <p:cNvPr id="6042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6639" y="2370138"/>
            <a:ext cx="4772025" cy="4171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1513" y="2333625"/>
            <a:ext cx="5410200" cy="4171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033"/>
          <p:cNvSpPr txBox="1">
            <a:spLocks noChangeArrowheads="1"/>
          </p:cNvSpPr>
          <p:nvPr/>
        </p:nvSpPr>
        <p:spPr bwMode="auto">
          <a:xfrm>
            <a:off x="2051050" y="2439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zh-CN">
              <a:solidFill>
                <a:schemeClr val="tx2"/>
              </a:solidFill>
              <a:latin typeface="ISOCP" pitchFamily="2" charset="0"/>
            </a:endParaRPr>
          </a:p>
        </p:txBody>
      </p:sp>
      <p:sp>
        <p:nvSpPr>
          <p:cNvPr id="61443" name="Text Box 1034"/>
          <p:cNvSpPr txBox="1">
            <a:spLocks noChangeArrowheads="1"/>
          </p:cNvSpPr>
          <p:nvPr/>
        </p:nvSpPr>
        <p:spPr bwMode="auto">
          <a:xfrm>
            <a:off x="3759201" y="471488"/>
            <a:ext cx="43037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基本几何体的尺寸标注</a:t>
            </a:r>
            <a:endParaRPr lang="zh-CN" altLang="en-US" sz="320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1444" name="矩形 110"/>
          <p:cNvSpPr>
            <a:spLocks noChangeArrowheads="1"/>
          </p:cNvSpPr>
          <p:nvPr/>
        </p:nvSpPr>
        <p:spPr bwMode="auto">
          <a:xfrm>
            <a:off x="1163452" y="1386683"/>
            <a:ext cx="4513262" cy="5238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/>
              <a:t>二、常见的回转基本几何体</a:t>
            </a:r>
          </a:p>
        </p:txBody>
      </p:sp>
      <p:pic>
        <p:nvPicPr>
          <p:cNvPr id="6144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2489" y="2193925"/>
            <a:ext cx="7989887" cy="46672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46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81263" y="2005014"/>
            <a:ext cx="7575550" cy="48529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652588" y="925279"/>
            <a:ext cx="6550105" cy="52322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+mn-ea"/>
                <a:ea typeface="+mn-ea"/>
              </a:rPr>
              <a:t>基本体被平面截切时，标注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定形</a:t>
            </a:r>
            <a:r>
              <a:rPr lang="zh-CN" altLang="en-US" sz="2800" b="1" dirty="0">
                <a:solidFill>
                  <a:srgbClr val="0070C0"/>
                </a:solidFill>
                <a:latin typeface="+mn-ea"/>
                <a:ea typeface="+mn-ea"/>
              </a:rPr>
              <a:t>尺寸</a:t>
            </a:r>
          </a:p>
        </p:txBody>
      </p:sp>
      <p:sp>
        <p:nvSpPr>
          <p:cNvPr id="215176" name="WordArt 136"/>
          <p:cNvSpPr>
            <a:spLocks noChangeArrowheads="1" noChangeShapeType="1" noTextEdit="1"/>
          </p:cNvSpPr>
          <p:nvPr/>
        </p:nvSpPr>
        <p:spPr bwMode="auto">
          <a:xfrm>
            <a:off x="3430589" y="5912640"/>
            <a:ext cx="839787" cy="4746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/>
                <a:ea typeface="宋体"/>
              </a:rPr>
              <a:t>注意：</a:t>
            </a:r>
          </a:p>
        </p:txBody>
      </p:sp>
      <p:sp>
        <p:nvSpPr>
          <p:cNvPr id="215177" name="WordArt 137"/>
          <p:cNvSpPr>
            <a:spLocks noChangeArrowheads="1" noChangeShapeType="1" noTextEdit="1"/>
          </p:cNvSpPr>
          <p:nvPr/>
        </p:nvSpPr>
        <p:spPr bwMode="auto">
          <a:xfrm>
            <a:off x="4548188" y="5912639"/>
            <a:ext cx="4724400" cy="40798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7065"/>
              </a:avLst>
            </a:prstTxWarp>
          </a:bodyPr>
          <a:lstStyle/>
          <a:p>
            <a:r>
              <a:rPr lang="zh-CN" altLang="en-US" sz="3600" kern="10"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rgbClr val="9999FF"/>
                  </a:outerShdw>
                </a:effectLst>
                <a:latin typeface="宋体"/>
                <a:ea typeface="宋体"/>
              </a:rPr>
              <a:t>不能在截交线上直接注尺寸！</a:t>
            </a:r>
          </a:p>
        </p:txBody>
      </p:sp>
      <p:sp>
        <p:nvSpPr>
          <p:cNvPr id="62469" name="Rectangle 138"/>
          <p:cNvSpPr>
            <a:spLocks noChangeArrowheads="1"/>
          </p:cNvSpPr>
          <p:nvPr/>
        </p:nvSpPr>
        <p:spPr bwMode="auto">
          <a:xfrm>
            <a:off x="3028951" y="288925"/>
            <a:ext cx="5038725" cy="584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/>
            <a:r>
              <a:rPr lang="zh-CN" altLang="en-US" sz="32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截切几何体的尺寸标注</a:t>
            </a:r>
          </a:p>
        </p:txBody>
      </p:sp>
      <p:pic>
        <p:nvPicPr>
          <p:cNvPr id="62470" name="Picture 13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6600" y="2188364"/>
            <a:ext cx="4781550" cy="2895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62471" name="Picture 1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78638" y="2307427"/>
            <a:ext cx="3562350" cy="2838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41" name="矩形 140"/>
          <p:cNvSpPr>
            <a:spLocks noChangeArrowheads="1"/>
          </p:cNvSpPr>
          <p:nvPr/>
        </p:nvSpPr>
        <p:spPr bwMode="auto">
          <a:xfrm>
            <a:off x="1633529" y="1453303"/>
            <a:ext cx="41520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+mn-ea"/>
                <a:ea typeface="+mn-ea"/>
              </a:rPr>
              <a:t>标注截平面的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定位</a:t>
            </a:r>
            <a:r>
              <a:rPr lang="zh-CN" altLang="en-US" sz="2800" b="1" dirty="0">
                <a:solidFill>
                  <a:srgbClr val="0070C0"/>
                </a:solidFill>
                <a:latin typeface="+mn-ea"/>
                <a:ea typeface="+mn-ea"/>
              </a:rPr>
              <a:t>尺寸。</a:t>
            </a:r>
          </a:p>
        </p:txBody>
      </p:sp>
      <p:grpSp>
        <p:nvGrpSpPr>
          <p:cNvPr id="2" name="组合 144"/>
          <p:cNvGrpSpPr>
            <a:grpSpLocks/>
          </p:cNvGrpSpPr>
          <p:nvPr/>
        </p:nvGrpSpPr>
        <p:grpSpPr bwMode="auto">
          <a:xfrm>
            <a:off x="1919289" y="2286789"/>
            <a:ext cx="8415337" cy="2865438"/>
            <a:chOff x="446031" y="2698740"/>
            <a:chExt cx="8415405" cy="2865438"/>
          </a:xfrm>
        </p:grpSpPr>
        <p:pic>
          <p:nvPicPr>
            <p:cNvPr id="62546" name="Picture 14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46031" y="2698740"/>
              <a:ext cx="5000625" cy="275272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62547" name="Picture 14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375286" y="2735253"/>
              <a:ext cx="3486150" cy="282892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sp>
        <p:nvSpPr>
          <p:cNvPr id="147" name="矩形 146"/>
          <p:cNvSpPr/>
          <p:nvPr/>
        </p:nvSpPr>
        <p:spPr>
          <a:xfrm>
            <a:off x="1824039" y="5255415"/>
            <a:ext cx="8543925" cy="523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几何体被投影面平行面截切，必须注出一个定位尺寸</a:t>
            </a:r>
          </a:p>
        </p:txBody>
      </p:sp>
      <p:cxnSp>
        <p:nvCxnSpPr>
          <p:cNvPr id="149" name="直接连接符 148"/>
          <p:cNvCxnSpPr/>
          <p:nvPr/>
        </p:nvCxnSpPr>
        <p:spPr>
          <a:xfrm>
            <a:off x="3978276" y="4131464"/>
            <a:ext cx="657225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3978276" y="4780753"/>
            <a:ext cx="657225" cy="1587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57"/>
          <p:cNvGrpSpPr>
            <a:grpSpLocks/>
          </p:cNvGrpSpPr>
          <p:nvPr/>
        </p:nvGrpSpPr>
        <p:grpSpPr bwMode="auto">
          <a:xfrm>
            <a:off x="5765800" y="4655339"/>
            <a:ext cx="401638" cy="179388"/>
            <a:chOff x="4216396" y="5079228"/>
            <a:chExt cx="401643" cy="180000"/>
          </a:xfrm>
        </p:grpSpPr>
        <p:cxnSp>
          <p:nvCxnSpPr>
            <p:cNvPr id="151" name="直接连接符 150"/>
            <p:cNvCxnSpPr/>
            <p:nvPr/>
          </p:nvCxnSpPr>
          <p:spPr>
            <a:xfrm>
              <a:off x="4216396" y="5096751"/>
              <a:ext cx="401643" cy="1592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 rot="5400000">
              <a:off x="4143859" y="5169228"/>
              <a:ext cx="180000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rot="5400000">
              <a:off x="4513751" y="5169228"/>
              <a:ext cx="180000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63"/>
          <p:cNvGrpSpPr>
            <a:grpSpLocks/>
          </p:cNvGrpSpPr>
          <p:nvPr/>
        </p:nvGrpSpPr>
        <p:grpSpPr bwMode="auto">
          <a:xfrm>
            <a:off x="7092951" y="2513803"/>
            <a:ext cx="182563" cy="363537"/>
            <a:chOff x="5676916" y="3001961"/>
            <a:chExt cx="182565" cy="363538"/>
          </a:xfrm>
        </p:grpSpPr>
        <p:cxnSp>
          <p:nvCxnSpPr>
            <p:cNvPr id="159" name="直接连接符 158"/>
            <p:cNvCxnSpPr/>
            <p:nvPr/>
          </p:nvCxnSpPr>
          <p:spPr>
            <a:xfrm rot="5400000">
              <a:off x="5675330" y="3181348"/>
              <a:ext cx="360363" cy="1588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rot="10800000" flipV="1">
              <a:off x="5676916" y="3365499"/>
              <a:ext cx="182565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5" name="直接连接符 164"/>
          <p:cNvCxnSpPr/>
          <p:nvPr/>
        </p:nvCxnSpPr>
        <p:spPr>
          <a:xfrm>
            <a:off x="9172576" y="2559839"/>
            <a:ext cx="657225" cy="158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169"/>
          <p:cNvGrpSpPr>
            <a:grpSpLocks/>
          </p:cNvGrpSpPr>
          <p:nvPr/>
        </p:nvGrpSpPr>
        <p:grpSpPr bwMode="auto">
          <a:xfrm>
            <a:off x="4633914" y="4117178"/>
            <a:ext cx="477837" cy="720725"/>
            <a:chOff x="3122587" y="4587889"/>
            <a:chExt cx="477851" cy="690576"/>
          </a:xfrm>
        </p:grpSpPr>
        <p:sp>
          <p:nvSpPr>
            <p:cNvPr id="62538" name="Freeform 71"/>
            <p:cNvSpPr>
              <a:spLocks/>
            </p:cNvSpPr>
            <p:nvPr/>
          </p:nvSpPr>
          <p:spPr bwMode="auto">
            <a:xfrm>
              <a:off x="3122587" y="4587889"/>
              <a:ext cx="476256" cy="4385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9" name="Freeform 72"/>
            <p:cNvSpPr>
              <a:spLocks/>
            </p:cNvSpPr>
            <p:nvPr/>
          </p:nvSpPr>
          <p:spPr bwMode="auto">
            <a:xfrm>
              <a:off x="3125769" y="5232746"/>
              <a:ext cx="474669" cy="45719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0" name="Line 73"/>
            <p:cNvSpPr>
              <a:spLocks noChangeShapeType="1"/>
            </p:cNvSpPr>
            <p:nvPr/>
          </p:nvSpPr>
          <p:spPr bwMode="auto">
            <a:xfrm>
              <a:off x="3494071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组合 170"/>
          <p:cNvGrpSpPr>
            <a:grpSpLocks/>
          </p:cNvGrpSpPr>
          <p:nvPr/>
        </p:nvGrpSpPr>
        <p:grpSpPr bwMode="auto">
          <a:xfrm>
            <a:off x="5972176" y="3899690"/>
            <a:ext cx="854075" cy="828675"/>
            <a:chOff x="3122586" y="4587888"/>
            <a:chExt cx="433131" cy="690578"/>
          </a:xfrm>
        </p:grpSpPr>
        <p:sp>
          <p:nvSpPr>
            <p:cNvPr id="62535" name="Freeform 71"/>
            <p:cNvSpPr>
              <a:spLocks/>
            </p:cNvSpPr>
            <p:nvPr/>
          </p:nvSpPr>
          <p:spPr bwMode="auto">
            <a:xfrm>
              <a:off x="3122586" y="4587888"/>
              <a:ext cx="414613" cy="3813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6" name="Freeform 72"/>
            <p:cNvSpPr>
              <a:spLocks/>
            </p:cNvSpPr>
            <p:nvPr/>
          </p:nvSpPr>
          <p:spPr bwMode="auto">
            <a:xfrm>
              <a:off x="3203900" y="5231373"/>
              <a:ext cx="351817" cy="47093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7" name="Line 73"/>
            <p:cNvSpPr>
              <a:spLocks noChangeShapeType="1"/>
            </p:cNvSpPr>
            <p:nvPr/>
          </p:nvSpPr>
          <p:spPr bwMode="auto">
            <a:xfrm>
              <a:off x="3494071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174"/>
          <p:cNvGrpSpPr>
            <a:grpSpLocks/>
          </p:cNvGrpSpPr>
          <p:nvPr/>
        </p:nvGrpSpPr>
        <p:grpSpPr bwMode="auto">
          <a:xfrm rot="5400000">
            <a:off x="5831682" y="4751384"/>
            <a:ext cx="247650" cy="395287"/>
            <a:chOff x="3122587" y="4587889"/>
            <a:chExt cx="477851" cy="690576"/>
          </a:xfrm>
        </p:grpSpPr>
        <p:sp>
          <p:nvSpPr>
            <p:cNvPr id="62532" name="Freeform 71"/>
            <p:cNvSpPr>
              <a:spLocks/>
            </p:cNvSpPr>
            <p:nvPr/>
          </p:nvSpPr>
          <p:spPr bwMode="auto">
            <a:xfrm>
              <a:off x="3122587" y="4587889"/>
              <a:ext cx="476256" cy="4385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3" name="Freeform 72"/>
            <p:cNvSpPr>
              <a:spLocks/>
            </p:cNvSpPr>
            <p:nvPr/>
          </p:nvSpPr>
          <p:spPr bwMode="auto">
            <a:xfrm>
              <a:off x="3125769" y="5232746"/>
              <a:ext cx="474669" cy="45719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4" name="Line 73"/>
            <p:cNvSpPr>
              <a:spLocks noChangeShapeType="1"/>
            </p:cNvSpPr>
            <p:nvPr/>
          </p:nvSpPr>
          <p:spPr bwMode="auto">
            <a:xfrm>
              <a:off x="3494071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组合 178"/>
          <p:cNvGrpSpPr>
            <a:grpSpLocks/>
          </p:cNvGrpSpPr>
          <p:nvPr/>
        </p:nvGrpSpPr>
        <p:grpSpPr bwMode="auto">
          <a:xfrm rot="-5400000">
            <a:off x="7421563" y="2062952"/>
            <a:ext cx="323850" cy="612775"/>
            <a:chOff x="3122586" y="4587888"/>
            <a:chExt cx="433129" cy="690580"/>
          </a:xfrm>
        </p:grpSpPr>
        <p:sp>
          <p:nvSpPr>
            <p:cNvPr id="62529" name="Freeform 71"/>
            <p:cNvSpPr>
              <a:spLocks/>
            </p:cNvSpPr>
            <p:nvPr/>
          </p:nvSpPr>
          <p:spPr bwMode="auto">
            <a:xfrm>
              <a:off x="3122586" y="4587888"/>
              <a:ext cx="414613" cy="3813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0" name="Freeform 72"/>
            <p:cNvSpPr>
              <a:spLocks/>
            </p:cNvSpPr>
            <p:nvPr/>
          </p:nvSpPr>
          <p:spPr bwMode="auto">
            <a:xfrm>
              <a:off x="3125768" y="5231375"/>
              <a:ext cx="429947" cy="47093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1" name="Line 73"/>
            <p:cNvSpPr>
              <a:spLocks noChangeShapeType="1"/>
            </p:cNvSpPr>
            <p:nvPr/>
          </p:nvSpPr>
          <p:spPr bwMode="auto">
            <a:xfrm>
              <a:off x="3494071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组合 182"/>
          <p:cNvGrpSpPr>
            <a:grpSpLocks/>
          </p:cNvGrpSpPr>
          <p:nvPr/>
        </p:nvGrpSpPr>
        <p:grpSpPr bwMode="auto">
          <a:xfrm>
            <a:off x="7885113" y="2529677"/>
            <a:ext cx="438150" cy="379412"/>
            <a:chOff x="2963307" y="4587890"/>
            <a:chExt cx="637131" cy="690575"/>
          </a:xfrm>
        </p:grpSpPr>
        <p:sp>
          <p:nvSpPr>
            <p:cNvPr id="62526" name="Freeform 71"/>
            <p:cNvSpPr>
              <a:spLocks/>
            </p:cNvSpPr>
            <p:nvPr/>
          </p:nvSpPr>
          <p:spPr bwMode="auto">
            <a:xfrm>
              <a:off x="2963307" y="4591874"/>
              <a:ext cx="635540" cy="83214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7" name="Freeform 72"/>
            <p:cNvSpPr>
              <a:spLocks/>
            </p:cNvSpPr>
            <p:nvPr/>
          </p:nvSpPr>
          <p:spPr bwMode="auto">
            <a:xfrm>
              <a:off x="3125769" y="5232746"/>
              <a:ext cx="474669" cy="45719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8" name="Line 73"/>
            <p:cNvSpPr>
              <a:spLocks noChangeShapeType="1"/>
            </p:cNvSpPr>
            <p:nvPr/>
          </p:nvSpPr>
          <p:spPr bwMode="auto">
            <a:xfrm>
              <a:off x="3494071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组合 186"/>
          <p:cNvGrpSpPr>
            <a:grpSpLocks/>
          </p:cNvGrpSpPr>
          <p:nvPr/>
        </p:nvGrpSpPr>
        <p:grpSpPr bwMode="auto">
          <a:xfrm>
            <a:off x="9504363" y="2553490"/>
            <a:ext cx="912812" cy="957263"/>
            <a:chOff x="2732094" y="4587888"/>
            <a:chExt cx="895239" cy="690580"/>
          </a:xfrm>
        </p:grpSpPr>
        <p:sp>
          <p:nvSpPr>
            <p:cNvPr id="62523" name="Freeform 71"/>
            <p:cNvSpPr>
              <a:spLocks/>
            </p:cNvSpPr>
            <p:nvPr/>
          </p:nvSpPr>
          <p:spPr bwMode="auto">
            <a:xfrm>
              <a:off x="3054383" y="4587888"/>
              <a:ext cx="537143" cy="3813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4" name="Freeform 72"/>
            <p:cNvSpPr>
              <a:spLocks/>
            </p:cNvSpPr>
            <p:nvPr/>
          </p:nvSpPr>
          <p:spPr bwMode="auto">
            <a:xfrm>
              <a:off x="2732094" y="5232429"/>
              <a:ext cx="895239" cy="46039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5" name="Line 73"/>
            <p:cNvSpPr>
              <a:spLocks noChangeShapeType="1"/>
            </p:cNvSpPr>
            <p:nvPr/>
          </p:nvSpPr>
          <p:spPr bwMode="auto">
            <a:xfrm>
              <a:off x="3494071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1" name="矩形 190"/>
          <p:cNvSpPr/>
          <p:nvPr/>
        </p:nvSpPr>
        <p:spPr>
          <a:xfrm>
            <a:off x="1860551" y="5218903"/>
            <a:ext cx="8442325" cy="523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被投影面的垂直面截切时，必须注出两个定位尺寸。</a:t>
            </a:r>
          </a:p>
        </p:txBody>
      </p:sp>
      <p:grpSp>
        <p:nvGrpSpPr>
          <p:cNvPr id="11" name="组合 191"/>
          <p:cNvGrpSpPr>
            <a:grpSpLocks/>
          </p:cNvGrpSpPr>
          <p:nvPr/>
        </p:nvGrpSpPr>
        <p:grpSpPr bwMode="auto">
          <a:xfrm>
            <a:off x="3176588" y="2442365"/>
            <a:ext cx="438150" cy="1108075"/>
            <a:chOff x="3122586" y="4587888"/>
            <a:chExt cx="433129" cy="690580"/>
          </a:xfrm>
        </p:grpSpPr>
        <p:sp>
          <p:nvSpPr>
            <p:cNvPr id="62520" name="Freeform 71"/>
            <p:cNvSpPr>
              <a:spLocks/>
            </p:cNvSpPr>
            <p:nvPr/>
          </p:nvSpPr>
          <p:spPr bwMode="auto">
            <a:xfrm>
              <a:off x="3122586" y="4587888"/>
              <a:ext cx="414613" cy="3813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1" name="Freeform 72"/>
            <p:cNvSpPr>
              <a:spLocks/>
            </p:cNvSpPr>
            <p:nvPr/>
          </p:nvSpPr>
          <p:spPr bwMode="auto">
            <a:xfrm>
              <a:off x="3125768" y="5231375"/>
              <a:ext cx="429947" cy="47093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2" name="Line 73"/>
            <p:cNvSpPr>
              <a:spLocks noChangeShapeType="1"/>
            </p:cNvSpPr>
            <p:nvPr/>
          </p:nvSpPr>
          <p:spPr bwMode="auto">
            <a:xfrm>
              <a:off x="3419184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组合 195"/>
          <p:cNvGrpSpPr>
            <a:grpSpLocks/>
          </p:cNvGrpSpPr>
          <p:nvPr/>
        </p:nvGrpSpPr>
        <p:grpSpPr bwMode="auto">
          <a:xfrm rot="10800000">
            <a:off x="1897063" y="2853528"/>
            <a:ext cx="328612" cy="612775"/>
            <a:chOff x="3122586" y="4587888"/>
            <a:chExt cx="433129" cy="690580"/>
          </a:xfrm>
        </p:grpSpPr>
        <p:sp>
          <p:nvSpPr>
            <p:cNvPr id="62517" name="Freeform 71"/>
            <p:cNvSpPr>
              <a:spLocks/>
            </p:cNvSpPr>
            <p:nvPr/>
          </p:nvSpPr>
          <p:spPr bwMode="auto">
            <a:xfrm>
              <a:off x="3122586" y="4587888"/>
              <a:ext cx="414613" cy="38131"/>
            </a:xfrm>
            <a:custGeom>
              <a:avLst/>
              <a:gdLst>
                <a:gd name="T0" fmla="*/ 0 w 841"/>
                <a:gd name="T1" fmla="*/ 0 h 1"/>
                <a:gd name="T2" fmla="*/ 0 w 841"/>
                <a:gd name="T3" fmla="*/ 0 h 1"/>
                <a:gd name="T4" fmla="*/ 0 w 841"/>
                <a:gd name="T5" fmla="*/ 0 h 1"/>
                <a:gd name="T6" fmla="*/ 0 60000 65536"/>
                <a:gd name="T7" fmla="*/ 0 60000 65536"/>
                <a:gd name="T8" fmla="*/ 0 60000 65536"/>
                <a:gd name="T9" fmla="*/ 0 w 841"/>
                <a:gd name="T10" fmla="*/ 0 h 1"/>
                <a:gd name="T11" fmla="*/ 841 w 8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1">
                  <a:moveTo>
                    <a:pt x="8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8" name="Freeform 72"/>
            <p:cNvSpPr>
              <a:spLocks/>
            </p:cNvSpPr>
            <p:nvPr/>
          </p:nvSpPr>
          <p:spPr bwMode="auto">
            <a:xfrm>
              <a:off x="3125768" y="5231375"/>
              <a:ext cx="429947" cy="47093"/>
            </a:xfrm>
            <a:custGeom>
              <a:avLst/>
              <a:gdLst>
                <a:gd name="T0" fmla="*/ 0 w 461"/>
                <a:gd name="T1" fmla="*/ 0 h 1"/>
                <a:gd name="T2" fmla="*/ 0 w 461"/>
                <a:gd name="T3" fmla="*/ 0 h 1"/>
                <a:gd name="T4" fmla="*/ 0 w 461"/>
                <a:gd name="T5" fmla="*/ 0 h 1"/>
                <a:gd name="T6" fmla="*/ 0 60000 65536"/>
                <a:gd name="T7" fmla="*/ 0 60000 65536"/>
                <a:gd name="T8" fmla="*/ 0 60000 65536"/>
                <a:gd name="T9" fmla="*/ 0 w 461"/>
                <a:gd name="T10" fmla="*/ 0 h 1"/>
                <a:gd name="T11" fmla="*/ 461 w 4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1">
                  <a:moveTo>
                    <a:pt x="46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9" name="Line 73"/>
            <p:cNvSpPr>
              <a:spLocks noChangeShapeType="1"/>
            </p:cNvSpPr>
            <p:nvPr/>
          </p:nvSpPr>
          <p:spPr bwMode="auto">
            <a:xfrm>
              <a:off x="3419184" y="4587890"/>
              <a:ext cx="0" cy="648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cxnSp>
        <p:nvCxnSpPr>
          <p:cNvPr id="200" name="直接连接符 199"/>
          <p:cNvCxnSpPr/>
          <p:nvPr/>
        </p:nvCxnSpPr>
        <p:spPr>
          <a:xfrm flipV="1">
            <a:off x="2225676" y="2443952"/>
            <a:ext cx="949325" cy="474662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3"/>
          <p:cNvGrpSpPr>
            <a:grpSpLocks/>
          </p:cNvGrpSpPr>
          <p:nvPr/>
        </p:nvGrpSpPr>
        <p:grpSpPr bwMode="auto">
          <a:xfrm>
            <a:off x="3978276" y="2224878"/>
            <a:ext cx="669925" cy="357187"/>
            <a:chOff x="2331" y="1345"/>
            <a:chExt cx="487" cy="225"/>
          </a:xfrm>
        </p:grpSpPr>
        <p:sp>
          <p:nvSpPr>
            <p:cNvPr id="62510" name="Freeform 24"/>
            <p:cNvSpPr>
              <a:spLocks/>
            </p:cNvSpPr>
            <p:nvPr/>
          </p:nvSpPr>
          <p:spPr bwMode="auto">
            <a:xfrm>
              <a:off x="2743" y="1368"/>
              <a:ext cx="74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0" y="0"/>
                  </a:moveTo>
                  <a:lnTo>
                    <a:pt x="0" y="66"/>
                  </a:lnTo>
                  <a:lnTo>
                    <a:pt x="19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1" name="Freeform 25"/>
            <p:cNvSpPr>
              <a:spLocks/>
            </p:cNvSpPr>
            <p:nvPr/>
          </p:nvSpPr>
          <p:spPr bwMode="auto">
            <a:xfrm>
              <a:off x="2743" y="1368"/>
              <a:ext cx="74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0" y="0"/>
                  </a:moveTo>
                  <a:lnTo>
                    <a:pt x="0" y="66"/>
                  </a:lnTo>
                  <a:lnTo>
                    <a:pt x="197" y="33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2" name="Freeform 26"/>
            <p:cNvSpPr>
              <a:spLocks/>
            </p:cNvSpPr>
            <p:nvPr/>
          </p:nvSpPr>
          <p:spPr bwMode="auto">
            <a:xfrm>
              <a:off x="2331" y="1345"/>
              <a:ext cx="1" cy="225"/>
            </a:xfrm>
            <a:custGeom>
              <a:avLst/>
              <a:gdLst>
                <a:gd name="T0" fmla="*/ 0 w 1"/>
                <a:gd name="T1" fmla="*/ 0 h 603"/>
                <a:gd name="T2" fmla="*/ 0 w 1"/>
                <a:gd name="T3" fmla="*/ 0 h 603"/>
                <a:gd name="T4" fmla="*/ 1 w 1"/>
                <a:gd name="T5" fmla="*/ 0 h 603"/>
                <a:gd name="T6" fmla="*/ 0 60000 65536"/>
                <a:gd name="T7" fmla="*/ 0 60000 65536"/>
                <a:gd name="T8" fmla="*/ 0 60000 65536"/>
                <a:gd name="T9" fmla="*/ 0 w 1"/>
                <a:gd name="T10" fmla="*/ 0 h 603"/>
                <a:gd name="T11" fmla="*/ 1 w 1"/>
                <a:gd name="T12" fmla="*/ 603 h 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3" name="Freeform 27"/>
            <p:cNvSpPr>
              <a:spLocks/>
            </p:cNvSpPr>
            <p:nvPr/>
          </p:nvSpPr>
          <p:spPr bwMode="auto">
            <a:xfrm>
              <a:off x="2404" y="1381"/>
              <a:ext cx="340" cy="1"/>
            </a:xfrm>
            <a:custGeom>
              <a:avLst/>
              <a:gdLst>
                <a:gd name="T0" fmla="*/ 0 w 911"/>
                <a:gd name="T1" fmla="*/ 0 h 1"/>
                <a:gd name="T2" fmla="*/ 0 w 911"/>
                <a:gd name="T3" fmla="*/ 0 h 1"/>
                <a:gd name="T4" fmla="*/ 0 w 911"/>
                <a:gd name="T5" fmla="*/ 0 h 1"/>
                <a:gd name="T6" fmla="*/ 0 60000 65536"/>
                <a:gd name="T7" fmla="*/ 0 60000 65536"/>
                <a:gd name="T8" fmla="*/ 0 60000 65536"/>
                <a:gd name="T9" fmla="*/ 0 w 911"/>
                <a:gd name="T10" fmla="*/ 0 h 1"/>
                <a:gd name="T11" fmla="*/ 911 w 91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1" h="1">
                  <a:moveTo>
                    <a:pt x="0" y="0"/>
                  </a:moveTo>
                  <a:lnTo>
                    <a:pt x="910" y="0"/>
                  </a:lnTo>
                  <a:lnTo>
                    <a:pt x="91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4" name="Freeform 28"/>
            <p:cNvSpPr>
              <a:spLocks/>
            </p:cNvSpPr>
            <p:nvPr/>
          </p:nvSpPr>
          <p:spPr bwMode="auto">
            <a:xfrm>
              <a:off x="2331" y="1368"/>
              <a:ext cx="73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197" y="0"/>
                  </a:moveTo>
                  <a:lnTo>
                    <a:pt x="197" y="66"/>
                  </a:lnTo>
                  <a:lnTo>
                    <a:pt x="0" y="33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5" name="Freeform 29"/>
            <p:cNvSpPr>
              <a:spLocks/>
            </p:cNvSpPr>
            <p:nvPr/>
          </p:nvSpPr>
          <p:spPr bwMode="auto">
            <a:xfrm>
              <a:off x="2331" y="1368"/>
              <a:ext cx="73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197" y="0"/>
                  </a:moveTo>
                  <a:lnTo>
                    <a:pt x="197" y="66"/>
                  </a:lnTo>
                  <a:lnTo>
                    <a:pt x="0" y="33"/>
                  </a:lnTo>
                  <a:lnTo>
                    <a:pt x="197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6" name="Freeform 30"/>
            <p:cNvSpPr>
              <a:spLocks/>
            </p:cNvSpPr>
            <p:nvPr/>
          </p:nvSpPr>
          <p:spPr bwMode="auto">
            <a:xfrm>
              <a:off x="2817" y="1345"/>
              <a:ext cx="1" cy="225"/>
            </a:xfrm>
            <a:custGeom>
              <a:avLst/>
              <a:gdLst>
                <a:gd name="T0" fmla="*/ 0 w 1"/>
                <a:gd name="T1" fmla="*/ 0 h 603"/>
                <a:gd name="T2" fmla="*/ 0 w 1"/>
                <a:gd name="T3" fmla="*/ 0 h 603"/>
                <a:gd name="T4" fmla="*/ 1 w 1"/>
                <a:gd name="T5" fmla="*/ 0 h 603"/>
                <a:gd name="T6" fmla="*/ 0 60000 65536"/>
                <a:gd name="T7" fmla="*/ 0 60000 65536"/>
                <a:gd name="T8" fmla="*/ 0 60000 65536"/>
                <a:gd name="T9" fmla="*/ 0 w 1"/>
                <a:gd name="T10" fmla="*/ 0 h 603"/>
                <a:gd name="T11" fmla="*/ 1 w 1"/>
                <a:gd name="T12" fmla="*/ 603 h 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2" name="Text Box 135"/>
          <p:cNvSpPr txBox="1">
            <a:spLocks noChangeArrowheads="1"/>
          </p:cNvSpPr>
          <p:nvPr/>
        </p:nvSpPr>
        <p:spPr bwMode="auto">
          <a:xfrm>
            <a:off x="4087814" y="2086248"/>
            <a:ext cx="4154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>
                <a:solidFill>
                  <a:srgbClr val="996633"/>
                </a:solidFill>
                <a:latin typeface="ISOCP" pitchFamily="2" charset="0"/>
              </a:rPr>
              <a:t>×</a:t>
            </a:r>
          </a:p>
        </p:txBody>
      </p:sp>
      <p:grpSp>
        <p:nvGrpSpPr>
          <p:cNvPr id="14" name="Group 23"/>
          <p:cNvGrpSpPr>
            <a:grpSpLocks/>
          </p:cNvGrpSpPr>
          <p:nvPr/>
        </p:nvGrpSpPr>
        <p:grpSpPr bwMode="auto">
          <a:xfrm rot="5400000">
            <a:off x="7748588" y="4150514"/>
            <a:ext cx="703262" cy="503238"/>
            <a:chOff x="2331" y="1345"/>
            <a:chExt cx="487" cy="225"/>
          </a:xfrm>
        </p:grpSpPr>
        <p:sp>
          <p:nvSpPr>
            <p:cNvPr id="62503" name="Freeform 24"/>
            <p:cNvSpPr>
              <a:spLocks/>
            </p:cNvSpPr>
            <p:nvPr/>
          </p:nvSpPr>
          <p:spPr bwMode="auto">
            <a:xfrm>
              <a:off x="2743" y="1368"/>
              <a:ext cx="74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0" y="0"/>
                  </a:moveTo>
                  <a:lnTo>
                    <a:pt x="0" y="66"/>
                  </a:lnTo>
                  <a:lnTo>
                    <a:pt x="19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4" name="Freeform 25"/>
            <p:cNvSpPr>
              <a:spLocks/>
            </p:cNvSpPr>
            <p:nvPr/>
          </p:nvSpPr>
          <p:spPr bwMode="auto">
            <a:xfrm>
              <a:off x="2743" y="1368"/>
              <a:ext cx="74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0" y="0"/>
                  </a:moveTo>
                  <a:lnTo>
                    <a:pt x="0" y="66"/>
                  </a:lnTo>
                  <a:lnTo>
                    <a:pt x="197" y="33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5" name="Freeform 26"/>
            <p:cNvSpPr>
              <a:spLocks/>
            </p:cNvSpPr>
            <p:nvPr/>
          </p:nvSpPr>
          <p:spPr bwMode="auto">
            <a:xfrm>
              <a:off x="2331" y="1345"/>
              <a:ext cx="1" cy="225"/>
            </a:xfrm>
            <a:custGeom>
              <a:avLst/>
              <a:gdLst>
                <a:gd name="T0" fmla="*/ 0 w 1"/>
                <a:gd name="T1" fmla="*/ 0 h 603"/>
                <a:gd name="T2" fmla="*/ 0 w 1"/>
                <a:gd name="T3" fmla="*/ 0 h 603"/>
                <a:gd name="T4" fmla="*/ 1 w 1"/>
                <a:gd name="T5" fmla="*/ 0 h 603"/>
                <a:gd name="T6" fmla="*/ 0 60000 65536"/>
                <a:gd name="T7" fmla="*/ 0 60000 65536"/>
                <a:gd name="T8" fmla="*/ 0 60000 65536"/>
                <a:gd name="T9" fmla="*/ 0 w 1"/>
                <a:gd name="T10" fmla="*/ 0 h 603"/>
                <a:gd name="T11" fmla="*/ 1 w 1"/>
                <a:gd name="T12" fmla="*/ 603 h 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6" name="Freeform 27"/>
            <p:cNvSpPr>
              <a:spLocks/>
            </p:cNvSpPr>
            <p:nvPr/>
          </p:nvSpPr>
          <p:spPr bwMode="auto">
            <a:xfrm>
              <a:off x="2404" y="1381"/>
              <a:ext cx="340" cy="1"/>
            </a:xfrm>
            <a:custGeom>
              <a:avLst/>
              <a:gdLst>
                <a:gd name="T0" fmla="*/ 0 w 911"/>
                <a:gd name="T1" fmla="*/ 0 h 1"/>
                <a:gd name="T2" fmla="*/ 0 w 911"/>
                <a:gd name="T3" fmla="*/ 0 h 1"/>
                <a:gd name="T4" fmla="*/ 0 w 911"/>
                <a:gd name="T5" fmla="*/ 0 h 1"/>
                <a:gd name="T6" fmla="*/ 0 60000 65536"/>
                <a:gd name="T7" fmla="*/ 0 60000 65536"/>
                <a:gd name="T8" fmla="*/ 0 60000 65536"/>
                <a:gd name="T9" fmla="*/ 0 w 911"/>
                <a:gd name="T10" fmla="*/ 0 h 1"/>
                <a:gd name="T11" fmla="*/ 911 w 91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1" h="1">
                  <a:moveTo>
                    <a:pt x="0" y="0"/>
                  </a:moveTo>
                  <a:lnTo>
                    <a:pt x="910" y="0"/>
                  </a:lnTo>
                  <a:lnTo>
                    <a:pt x="91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7" name="Freeform 28"/>
            <p:cNvSpPr>
              <a:spLocks/>
            </p:cNvSpPr>
            <p:nvPr/>
          </p:nvSpPr>
          <p:spPr bwMode="auto">
            <a:xfrm>
              <a:off x="2331" y="1368"/>
              <a:ext cx="73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197" y="0"/>
                  </a:moveTo>
                  <a:lnTo>
                    <a:pt x="197" y="66"/>
                  </a:lnTo>
                  <a:lnTo>
                    <a:pt x="0" y="33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8" name="Freeform 29"/>
            <p:cNvSpPr>
              <a:spLocks/>
            </p:cNvSpPr>
            <p:nvPr/>
          </p:nvSpPr>
          <p:spPr bwMode="auto">
            <a:xfrm>
              <a:off x="2331" y="1368"/>
              <a:ext cx="73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197" y="0"/>
                  </a:moveTo>
                  <a:lnTo>
                    <a:pt x="197" y="66"/>
                  </a:lnTo>
                  <a:lnTo>
                    <a:pt x="0" y="33"/>
                  </a:lnTo>
                  <a:lnTo>
                    <a:pt x="197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9" name="Freeform 30"/>
            <p:cNvSpPr>
              <a:spLocks/>
            </p:cNvSpPr>
            <p:nvPr/>
          </p:nvSpPr>
          <p:spPr bwMode="auto">
            <a:xfrm>
              <a:off x="2817" y="1345"/>
              <a:ext cx="1" cy="225"/>
            </a:xfrm>
            <a:custGeom>
              <a:avLst/>
              <a:gdLst>
                <a:gd name="T0" fmla="*/ 0 w 1"/>
                <a:gd name="T1" fmla="*/ 0 h 603"/>
                <a:gd name="T2" fmla="*/ 0 w 1"/>
                <a:gd name="T3" fmla="*/ 0 h 603"/>
                <a:gd name="T4" fmla="*/ 1 w 1"/>
                <a:gd name="T5" fmla="*/ 0 h 603"/>
                <a:gd name="T6" fmla="*/ 0 60000 65536"/>
                <a:gd name="T7" fmla="*/ 0 60000 65536"/>
                <a:gd name="T8" fmla="*/ 0 60000 65536"/>
                <a:gd name="T9" fmla="*/ 0 w 1"/>
                <a:gd name="T10" fmla="*/ 0 h 603"/>
                <a:gd name="T11" fmla="*/ 1 w 1"/>
                <a:gd name="T12" fmla="*/ 603 h 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1" name="Text Box 135"/>
          <p:cNvSpPr txBox="1">
            <a:spLocks noChangeArrowheads="1"/>
          </p:cNvSpPr>
          <p:nvPr/>
        </p:nvSpPr>
        <p:spPr bwMode="auto">
          <a:xfrm rot="5400000">
            <a:off x="8052014" y="4184924"/>
            <a:ext cx="4154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>
                <a:solidFill>
                  <a:srgbClr val="996633"/>
                </a:solidFill>
                <a:latin typeface="ISOCP" pitchFamily="2" charset="0"/>
              </a:rPr>
              <a:t>×</a:t>
            </a:r>
          </a:p>
        </p:txBody>
      </p:sp>
      <p:grpSp>
        <p:nvGrpSpPr>
          <p:cNvPr id="15" name="Group 23"/>
          <p:cNvGrpSpPr>
            <a:grpSpLocks/>
          </p:cNvGrpSpPr>
          <p:nvPr/>
        </p:nvGrpSpPr>
        <p:grpSpPr bwMode="auto">
          <a:xfrm>
            <a:off x="9167814" y="2199478"/>
            <a:ext cx="669925" cy="357187"/>
            <a:chOff x="2331" y="1345"/>
            <a:chExt cx="487" cy="225"/>
          </a:xfrm>
        </p:grpSpPr>
        <p:sp>
          <p:nvSpPr>
            <p:cNvPr id="62496" name="Freeform 24"/>
            <p:cNvSpPr>
              <a:spLocks/>
            </p:cNvSpPr>
            <p:nvPr/>
          </p:nvSpPr>
          <p:spPr bwMode="auto">
            <a:xfrm>
              <a:off x="2743" y="1368"/>
              <a:ext cx="74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0" y="0"/>
                  </a:moveTo>
                  <a:lnTo>
                    <a:pt x="0" y="66"/>
                  </a:lnTo>
                  <a:lnTo>
                    <a:pt x="19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Freeform 25"/>
            <p:cNvSpPr>
              <a:spLocks/>
            </p:cNvSpPr>
            <p:nvPr/>
          </p:nvSpPr>
          <p:spPr bwMode="auto">
            <a:xfrm>
              <a:off x="2743" y="1368"/>
              <a:ext cx="74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0" y="0"/>
                  </a:moveTo>
                  <a:lnTo>
                    <a:pt x="0" y="66"/>
                  </a:lnTo>
                  <a:lnTo>
                    <a:pt x="197" y="33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Freeform 26"/>
            <p:cNvSpPr>
              <a:spLocks/>
            </p:cNvSpPr>
            <p:nvPr/>
          </p:nvSpPr>
          <p:spPr bwMode="auto">
            <a:xfrm>
              <a:off x="2331" y="1345"/>
              <a:ext cx="1" cy="225"/>
            </a:xfrm>
            <a:custGeom>
              <a:avLst/>
              <a:gdLst>
                <a:gd name="T0" fmla="*/ 0 w 1"/>
                <a:gd name="T1" fmla="*/ 0 h 603"/>
                <a:gd name="T2" fmla="*/ 0 w 1"/>
                <a:gd name="T3" fmla="*/ 0 h 603"/>
                <a:gd name="T4" fmla="*/ 1 w 1"/>
                <a:gd name="T5" fmla="*/ 0 h 603"/>
                <a:gd name="T6" fmla="*/ 0 60000 65536"/>
                <a:gd name="T7" fmla="*/ 0 60000 65536"/>
                <a:gd name="T8" fmla="*/ 0 60000 65536"/>
                <a:gd name="T9" fmla="*/ 0 w 1"/>
                <a:gd name="T10" fmla="*/ 0 h 603"/>
                <a:gd name="T11" fmla="*/ 1 w 1"/>
                <a:gd name="T12" fmla="*/ 603 h 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9" name="Freeform 27"/>
            <p:cNvSpPr>
              <a:spLocks/>
            </p:cNvSpPr>
            <p:nvPr/>
          </p:nvSpPr>
          <p:spPr bwMode="auto">
            <a:xfrm>
              <a:off x="2404" y="1381"/>
              <a:ext cx="340" cy="1"/>
            </a:xfrm>
            <a:custGeom>
              <a:avLst/>
              <a:gdLst>
                <a:gd name="T0" fmla="*/ 0 w 911"/>
                <a:gd name="T1" fmla="*/ 0 h 1"/>
                <a:gd name="T2" fmla="*/ 0 w 911"/>
                <a:gd name="T3" fmla="*/ 0 h 1"/>
                <a:gd name="T4" fmla="*/ 0 w 911"/>
                <a:gd name="T5" fmla="*/ 0 h 1"/>
                <a:gd name="T6" fmla="*/ 0 60000 65536"/>
                <a:gd name="T7" fmla="*/ 0 60000 65536"/>
                <a:gd name="T8" fmla="*/ 0 60000 65536"/>
                <a:gd name="T9" fmla="*/ 0 w 911"/>
                <a:gd name="T10" fmla="*/ 0 h 1"/>
                <a:gd name="T11" fmla="*/ 911 w 91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1" h="1">
                  <a:moveTo>
                    <a:pt x="0" y="0"/>
                  </a:moveTo>
                  <a:lnTo>
                    <a:pt x="910" y="0"/>
                  </a:lnTo>
                  <a:lnTo>
                    <a:pt x="91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0" name="Freeform 28"/>
            <p:cNvSpPr>
              <a:spLocks/>
            </p:cNvSpPr>
            <p:nvPr/>
          </p:nvSpPr>
          <p:spPr bwMode="auto">
            <a:xfrm>
              <a:off x="2331" y="1368"/>
              <a:ext cx="73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197" y="0"/>
                  </a:moveTo>
                  <a:lnTo>
                    <a:pt x="197" y="66"/>
                  </a:lnTo>
                  <a:lnTo>
                    <a:pt x="0" y="33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1" name="Freeform 29"/>
            <p:cNvSpPr>
              <a:spLocks/>
            </p:cNvSpPr>
            <p:nvPr/>
          </p:nvSpPr>
          <p:spPr bwMode="auto">
            <a:xfrm>
              <a:off x="2331" y="1368"/>
              <a:ext cx="73" cy="25"/>
            </a:xfrm>
            <a:custGeom>
              <a:avLst/>
              <a:gdLst>
                <a:gd name="T0" fmla="*/ 0 w 197"/>
                <a:gd name="T1" fmla="*/ 0 h 66"/>
                <a:gd name="T2" fmla="*/ 0 w 197"/>
                <a:gd name="T3" fmla="*/ 0 h 66"/>
                <a:gd name="T4" fmla="*/ 0 w 197"/>
                <a:gd name="T5" fmla="*/ 0 h 66"/>
                <a:gd name="T6" fmla="*/ 0 w 19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7"/>
                <a:gd name="T13" fmla="*/ 0 h 66"/>
                <a:gd name="T14" fmla="*/ 197 w 19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7" h="66">
                  <a:moveTo>
                    <a:pt x="197" y="0"/>
                  </a:moveTo>
                  <a:lnTo>
                    <a:pt x="197" y="66"/>
                  </a:lnTo>
                  <a:lnTo>
                    <a:pt x="0" y="33"/>
                  </a:lnTo>
                  <a:lnTo>
                    <a:pt x="197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2" name="Freeform 30"/>
            <p:cNvSpPr>
              <a:spLocks/>
            </p:cNvSpPr>
            <p:nvPr/>
          </p:nvSpPr>
          <p:spPr bwMode="auto">
            <a:xfrm>
              <a:off x="2817" y="1345"/>
              <a:ext cx="1" cy="225"/>
            </a:xfrm>
            <a:custGeom>
              <a:avLst/>
              <a:gdLst>
                <a:gd name="T0" fmla="*/ 0 w 1"/>
                <a:gd name="T1" fmla="*/ 0 h 603"/>
                <a:gd name="T2" fmla="*/ 0 w 1"/>
                <a:gd name="T3" fmla="*/ 0 h 603"/>
                <a:gd name="T4" fmla="*/ 1 w 1"/>
                <a:gd name="T5" fmla="*/ 0 h 603"/>
                <a:gd name="T6" fmla="*/ 0 60000 65536"/>
                <a:gd name="T7" fmla="*/ 0 60000 65536"/>
                <a:gd name="T8" fmla="*/ 0 60000 65536"/>
                <a:gd name="T9" fmla="*/ 0 w 1"/>
                <a:gd name="T10" fmla="*/ 0 h 603"/>
                <a:gd name="T11" fmla="*/ 1 w 1"/>
                <a:gd name="T12" fmla="*/ 603 h 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03">
                  <a:moveTo>
                    <a:pt x="0" y="6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0" name="Text Box 135"/>
          <p:cNvSpPr txBox="1">
            <a:spLocks noChangeArrowheads="1"/>
          </p:cNvSpPr>
          <p:nvPr/>
        </p:nvSpPr>
        <p:spPr bwMode="auto">
          <a:xfrm>
            <a:off x="9296401" y="2060848"/>
            <a:ext cx="4154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>
                <a:solidFill>
                  <a:srgbClr val="996633"/>
                </a:solidFill>
                <a:latin typeface="ISOCP" pitchFamily="2" charset="0"/>
              </a:rPr>
              <a:t>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1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1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/>
      <p:bldP spid="215176" grpId="0" animBg="1"/>
      <p:bldP spid="215177" grpId="0" animBg="1"/>
      <p:bldP spid="141" grpId="0"/>
      <p:bldP spid="147" grpId="0" animBg="1"/>
      <p:bldP spid="191" grpId="0" animBg="1"/>
      <p:bldP spid="212" grpId="0" autoUpdateAnimBg="0"/>
      <p:bldP spid="221" grpId="0" autoUpdateAnimBg="0"/>
      <p:bldP spid="23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31504" y="866935"/>
            <a:ext cx="7315200" cy="151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截切几何体标注尺寸时，下面说法哪个正确？</a:t>
            </a:r>
          </a:p>
        </p:txBody>
      </p:sp>
      <p:sp>
        <p:nvSpPr>
          <p:cNvPr id="63491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27860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 b="1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标注定形尺寸</a:t>
            </a:r>
          </a:p>
        </p:txBody>
      </p:sp>
      <p:sp>
        <p:nvSpPr>
          <p:cNvPr id="63492" name="Text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52800" y="364331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 b="1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标注截平面定位尺寸</a:t>
            </a:r>
          </a:p>
        </p:txBody>
      </p:sp>
      <p:sp>
        <p:nvSpPr>
          <p:cNvPr id="63493" name="Text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45005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eaLnBrk="1" hangingPunct="1"/>
            <a:r>
              <a:rPr lang="zh-CN" altLang="en-US" sz="2600" b="1">
                <a:solidFill>
                  <a:srgbClr val="000000"/>
                </a:solidFill>
                <a:latin typeface="Microsoft Yahei" pitchFamily="34" charset="-122"/>
                <a:sym typeface="Microsoft Yahei" pitchFamily="34" charset="-122"/>
              </a:rPr>
              <a:t>截交线上不能直接标注尺寸</a:t>
            </a:r>
          </a:p>
        </p:txBody>
      </p:sp>
      <p:sp>
        <p:nvSpPr>
          <p:cNvPr id="63494" name="矩形 7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63495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63496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sym typeface="Microsoft Yahei" pitchFamily="34" charset="-122"/>
            </a:endParaRPr>
          </a:p>
        </p:txBody>
      </p:sp>
      <p:sp>
        <p:nvSpPr>
          <p:cNvPr id="63497" name="圆角矩形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63498" name="组合 16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3500" name="TitleBackground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3501" name="ColorBlock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3502" name="Type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sym typeface="Microsoft Yahei" pitchFamily="34" charset="-122"/>
                </a:rPr>
                <a:t>多选题</a:t>
              </a:r>
            </a:p>
          </p:txBody>
        </p:sp>
        <p:sp>
          <p:nvSpPr>
            <p:cNvPr id="63503" name="Tip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63499" name="图片 1" descr="tmp27FD.tmp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8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3F1BFFA-5066-4AE4-A5EB-52970428E22B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auto"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rtlCol="0" anchor="ctr" anchorCtr="1">
            <a:noAutofit/>
          </a:bodyPr>
          <a:lstStyle/>
          <a:p>
            <a:pPr marL="457200" indent="-457200" eaLnBrk="1" hangingPunct="1"/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1" y="398464"/>
            <a:ext cx="6791325" cy="727075"/>
          </a:xfr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利用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CAD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剖切命令构建三维实体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2651" y="1485901"/>
            <a:ext cx="8215313" cy="5083175"/>
          </a:xfrm>
          <a:solidFill>
            <a:srgbClr val="FFFFFF"/>
          </a:solidFill>
        </p:spPr>
        <p:txBody>
          <a:bodyPr/>
          <a:lstStyle/>
          <a:p>
            <a:r>
              <a:rPr lang="zh-CN" altLang="en-US"/>
              <a:t>半球开槽</a:t>
            </a:r>
          </a:p>
        </p:txBody>
      </p:sp>
      <p:pic>
        <p:nvPicPr>
          <p:cNvPr id="141316" name="Picture 4" descr="14-9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0014" y="2297114"/>
            <a:ext cx="20161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7" name="Picture 5" descr="14-1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59376" y="2297114"/>
            <a:ext cx="20161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8" name="Picture 6" descr="14-10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19963" y="2368551"/>
            <a:ext cx="2305050" cy="185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9" name="Picture 7" descr="14-10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24113" y="4600575"/>
            <a:ext cx="2305050" cy="186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20" name="Picture 8" descr="14-10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59376" y="4673600"/>
            <a:ext cx="223202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21" name="Picture 9" descr="14-10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608889" y="4745039"/>
            <a:ext cx="2232025" cy="182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ef16cfab70be949d6c7bb94498efefc6472988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3.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marL="457200" indent="-457200" eaLnBrk="1" hangingPunct="1">
          <a:buFont typeface="Symbol" panose="05050102010706020507" pitchFamily="18" charset="2"/>
          <a:buChar char="·"/>
          <a:defRPr sz="3200" dirty="0" smtClean="0">
            <a:sym typeface="Symbol" panose="05050102010706020507" pitchFamily="18" charset="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5342</TotalTime>
  <Words>2614</Words>
  <Application>Microsoft Office PowerPoint</Application>
  <PresentationFormat>宽屏</PresentationFormat>
  <Paragraphs>402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黑体</vt:lpstr>
      <vt:lpstr>隶书</vt:lpstr>
      <vt:lpstr>宋体</vt:lpstr>
      <vt:lpstr>Microsoft Yahei</vt:lpstr>
      <vt:lpstr>Abadi</vt:lpstr>
      <vt:lpstr>Arial</vt:lpstr>
      <vt:lpstr>Calibri</vt:lpstr>
      <vt:lpstr>Dutch801 Rm BT</vt:lpstr>
      <vt:lpstr>ISOCP</vt:lpstr>
      <vt:lpstr>Symbol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利用CAD剖切命令构建三维实体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立体截切</dc:title>
  <dc:creator>穆浩志</dc:creator>
  <cp:keywords>天津理工大学</cp:keywords>
  <cp:lastModifiedBy>Lenovo</cp:lastModifiedBy>
  <cp:revision>323</cp:revision>
  <dcterms:created xsi:type="dcterms:W3CDTF">2014-03-20T09:34:50Z</dcterms:created>
  <dcterms:modified xsi:type="dcterms:W3CDTF">2021-09-17T01:45:37Z</dcterms:modified>
</cp:coreProperties>
</file>
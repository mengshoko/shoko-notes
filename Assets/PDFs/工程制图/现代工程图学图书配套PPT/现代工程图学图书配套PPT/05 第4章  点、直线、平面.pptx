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8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86"/>
  </p:notesMasterIdLst>
  <p:handoutMasterIdLst>
    <p:handoutMasterId r:id="rId87"/>
  </p:handoutMasterIdLst>
  <p:sldIdLst>
    <p:sldId id="377" r:id="rId2"/>
    <p:sldId id="416" r:id="rId3"/>
    <p:sldId id="378" r:id="rId4"/>
    <p:sldId id="379" r:id="rId5"/>
    <p:sldId id="380" r:id="rId6"/>
    <p:sldId id="381" r:id="rId7"/>
    <p:sldId id="397" r:id="rId8"/>
    <p:sldId id="415" r:id="rId9"/>
    <p:sldId id="386" r:id="rId10"/>
    <p:sldId id="398" r:id="rId11"/>
    <p:sldId id="316" r:id="rId12"/>
    <p:sldId id="396" r:id="rId13"/>
    <p:sldId id="317" r:id="rId14"/>
    <p:sldId id="318" r:id="rId15"/>
    <p:sldId id="319" r:id="rId16"/>
    <p:sldId id="320" r:id="rId17"/>
    <p:sldId id="399" r:id="rId18"/>
    <p:sldId id="321" r:id="rId19"/>
    <p:sldId id="265" r:id="rId20"/>
    <p:sldId id="266" r:id="rId21"/>
    <p:sldId id="267" r:id="rId22"/>
    <p:sldId id="322" r:id="rId23"/>
    <p:sldId id="324" r:id="rId24"/>
    <p:sldId id="323" r:id="rId25"/>
    <p:sldId id="271" r:id="rId26"/>
    <p:sldId id="313" r:id="rId27"/>
    <p:sldId id="272" r:id="rId28"/>
    <p:sldId id="325" r:id="rId29"/>
    <p:sldId id="326" r:id="rId30"/>
    <p:sldId id="327" r:id="rId31"/>
    <p:sldId id="328" r:id="rId32"/>
    <p:sldId id="329" r:id="rId33"/>
    <p:sldId id="330" r:id="rId34"/>
    <p:sldId id="400" r:id="rId35"/>
    <p:sldId id="376" r:id="rId36"/>
    <p:sldId id="331" r:id="rId37"/>
    <p:sldId id="332" r:id="rId38"/>
    <p:sldId id="333" r:id="rId39"/>
    <p:sldId id="334" r:id="rId40"/>
    <p:sldId id="335" r:id="rId41"/>
    <p:sldId id="336" r:id="rId42"/>
    <p:sldId id="337" r:id="rId43"/>
    <p:sldId id="401" r:id="rId44"/>
    <p:sldId id="338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402" r:id="rId57"/>
    <p:sldId id="350" r:id="rId58"/>
    <p:sldId id="351" r:id="rId59"/>
    <p:sldId id="352" r:id="rId60"/>
    <p:sldId id="353" r:id="rId61"/>
    <p:sldId id="354" r:id="rId62"/>
    <p:sldId id="355" r:id="rId63"/>
    <p:sldId id="356" r:id="rId64"/>
    <p:sldId id="357" r:id="rId65"/>
    <p:sldId id="358" r:id="rId66"/>
    <p:sldId id="359" r:id="rId67"/>
    <p:sldId id="360" r:id="rId68"/>
    <p:sldId id="403" r:id="rId69"/>
    <p:sldId id="361" r:id="rId70"/>
    <p:sldId id="362" r:id="rId71"/>
    <p:sldId id="363" r:id="rId72"/>
    <p:sldId id="364" r:id="rId73"/>
    <p:sldId id="404" r:id="rId74"/>
    <p:sldId id="365" r:id="rId75"/>
    <p:sldId id="366" r:id="rId76"/>
    <p:sldId id="367" r:id="rId77"/>
    <p:sldId id="410" r:id="rId78"/>
    <p:sldId id="369" r:id="rId79"/>
    <p:sldId id="370" r:id="rId80"/>
    <p:sldId id="411" r:id="rId81"/>
    <p:sldId id="372" r:id="rId82"/>
    <p:sldId id="412" r:id="rId83"/>
    <p:sldId id="413" r:id="rId84"/>
    <p:sldId id="414" r:id="rId85"/>
  </p:sldIdLst>
  <p:sldSz cx="12192000" cy="6858000"/>
  <p:notesSz cx="6858000" cy="9144000"/>
  <p:custDataLst>
    <p:tags r:id="rId8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modifyVerifier cryptProviderType="rsaFull" cryptAlgorithmClass="hash" cryptAlgorithmType="typeAny" cryptAlgorithmSid="4" spinCount="50000" saltData="HzzZEt6PwZwT/uwO8qEHFA==" hashData="SXfpQi4RhAYkCuCVdcJFKNC9ZWY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72" y="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57" d="100"/>
          <a:sy n="57" d="100"/>
        </p:scale>
        <p:origin x="-260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gs" Target="tags/tag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5" Type="http://schemas.openxmlformats.org/officeDocument/2006/relationships/image" Target="../media/image6.wmf"/><Relationship Id="rId4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77A69C65-0B3D-4A44-913F-D31C883A6B01}" type="datetimeFigureOut">
              <a:rPr lang="zh-CN" altLang="en-US"/>
              <a:pPr>
                <a:defRPr/>
              </a:pPr>
              <a:t>2021/9/27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117792B8-571E-4278-B4E1-A05CD51CD9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911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8B0E751F-5075-4763-BC02-5038950044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48866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A6AE74-69F5-4034-98CD-18E0BB80193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29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62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239515-4AC7-4076-BF49-DBB20A744CF7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401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6F4447-F9DB-4E62-8F31-E44A04F552AA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032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C364A1-42BA-4661-85DA-2C418941003D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2602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1E30C0-B47E-4472-B0BC-29AFD842992C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962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C364A1-42BA-4661-85DA-2C418941003D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2628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8DC0C6-2136-4466-A513-7DC86E85477E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5340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19C550-79DF-4D49-97EA-010F3696E8ED}" type="slidenum">
              <a:rPr lang="en-US" altLang="zh-CN" smtClean="0"/>
              <a:pPr/>
              <a:t>33</a:t>
            </a:fld>
            <a:endParaRPr lang="en-US" altLang="zh-CN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31416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C2391D-5990-44CE-AC51-9D0445EC0687}" type="slidenum">
              <a:rPr lang="en-US" altLang="zh-CN" smtClean="0"/>
              <a:pPr/>
              <a:t>39</a:t>
            </a:fld>
            <a:endParaRPr lang="en-US" altLang="zh-CN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85703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75033C-871A-4288-9058-A7789A3BF24A}" type="slidenum">
              <a:rPr lang="en-US" altLang="zh-CN" smtClean="0"/>
              <a:pPr/>
              <a:t>41</a:t>
            </a:fld>
            <a:endParaRPr lang="en-US" altLang="zh-CN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57508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134B63-27C8-45AA-8BA1-3AE574ED877E}" type="slidenum">
              <a:rPr lang="en-US" altLang="zh-CN" smtClean="0"/>
              <a:pPr/>
              <a:t>46</a:t>
            </a:fld>
            <a:endParaRPr lang="en-US" altLang="zh-CN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95226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B9E9C5-D90D-43DF-9C9A-C9E7EFC3BA10}" type="slidenum">
              <a:rPr lang="en-US" altLang="zh-CN" smtClean="0"/>
              <a:pPr/>
              <a:t>54</a:t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2307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F53221FF-97FE-407E-86CA-E130CCEE25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A3E75A1-2270-450C-9DBB-ACE61E5F2D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0B70AA5-293F-4C75-9B1A-47AA28C0C1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714E9BF-0CAB-4971-81D4-01A4CA5B45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0953" y="1096169"/>
            <a:ext cx="1667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70C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C3AAE4-1A90-4A96-B6E4-02CFE716FB1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1375" y="59650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09" r:id="rId4"/>
    <p:sldLayoutId id="2147483710" r:id="rId5"/>
    <p:sldLayoutId id="2147483714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2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audio" Target="../media/audio3.wav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5.bin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5.emf"/><Relationship Id="rId2" Type="http://schemas.openxmlformats.org/officeDocument/2006/relationships/tags" Target="../tags/tag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0" Type="http://schemas.openxmlformats.org/officeDocument/2006/relationships/image" Target="../media/image4.emf"/><Relationship Id="rId4" Type="http://schemas.openxmlformats.org/officeDocument/2006/relationships/notesSlide" Target="../notesSlides/notesSlide6.xml"/><Relationship Id="rId9" Type="http://schemas.openxmlformats.org/officeDocument/2006/relationships/oleObject" Target="../embeddings/oleObject3.bin"/><Relationship Id="rId1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image" Target="../media/image7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10" Type="http://schemas.openxmlformats.org/officeDocument/2006/relationships/tags" Target="../tags/tag16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7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10" Type="http://schemas.openxmlformats.org/officeDocument/2006/relationships/tags" Target="../tags/tag34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image" Target="../media/image7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10" Type="http://schemas.openxmlformats.org/officeDocument/2006/relationships/tags" Target="../tags/tag52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3" Type="http://schemas.openxmlformats.org/officeDocument/2006/relationships/tags" Target="../tags/tag63.xml"/><Relationship Id="rId21" Type="http://schemas.openxmlformats.org/officeDocument/2006/relationships/image" Target="../media/image7.png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0" Type="http://schemas.openxmlformats.org/officeDocument/2006/relationships/image" Target="../media/image14.png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tags" Target="../tags/tag91.xml"/><Relationship Id="rId3" Type="http://schemas.openxmlformats.org/officeDocument/2006/relationships/tags" Target="../tags/tag81.xml"/><Relationship Id="rId7" Type="http://schemas.openxmlformats.org/officeDocument/2006/relationships/tags" Target="../tags/tag85.xml"/><Relationship Id="rId12" Type="http://schemas.openxmlformats.org/officeDocument/2006/relationships/tags" Target="../tags/tag90.xml"/><Relationship Id="rId17" Type="http://schemas.openxmlformats.org/officeDocument/2006/relationships/image" Target="../media/image7.png"/><Relationship Id="rId2" Type="http://schemas.openxmlformats.org/officeDocument/2006/relationships/tags" Target="../tags/tag80.xml"/><Relationship Id="rId16" Type="http://schemas.openxmlformats.org/officeDocument/2006/relationships/image" Target="../media/image15.png"/><Relationship Id="rId1" Type="http://schemas.openxmlformats.org/officeDocument/2006/relationships/tags" Target="../tags/tag79.xml"/><Relationship Id="rId6" Type="http://schemas.openxmlformats.org/officeDocument/2006/relationships/tags" Target="../tags/tag84.xml"/><Relationship Id="rId11" Type="http://schemas.openxmlformats.org/officeDocument/2006/relationships/tags" Target="../tags/tag89.xml"/><Relationship Id="rId5" Type="http://schemas.openxmlformats.org/officeDocument/2006/relationships/tags" Target="../tags/tag83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88.xml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tags" Target="../tags/tag9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image" Target="../media/image7.png"/><Relationship Id="rId2" Type="http://schemas.openxmlformats.org/officeDocument/2006/relationships/tags" Target="../tags/tag94.xml"/><Relationship Id="rId16" Type="http://schemas.openxmlformats.org/officeDocument/2006/relationships/image" Target="../media/image16.png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5" Type="http://schemas.openxmlformats.org/officeDocument/2006/relationships/tags" Target="../tags/tag97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tags" Target="../tags/tag119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2" Type="http://schemas.openxmlformats.org/officeDocument/2006/relationships/tags" Target="../tags/tag108.xml"/><Relationship Id="rId16" Type="http://schemas.openxmlformats.org/officeDocument/2006/relationships/image" Target="../media/image7.png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5" Type="http://schemas.openxmlformats.org/officeDocument/2006/relationships/tags" Target="../tags/tag111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16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84350" y="1494670"/>
            <a:ext cx="3087514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本章重点内容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1919536" y="2159865"/>
            <a:ext cx="8215313" cy="1113766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152400" eaLnBrk="0" hangingPunct="0">
              <a:lnSpc>
                <a:spcPct val="150000"/>
              </a:lnSpc>
              <a:tabLst>
                <a:tab pos="2636838" algn="ctr"/>
                <a:tab pos="5273675" algn="r"/>
              </a:tabLst>
              <a:defRPr/>
            </a:pPr>
            <a:r>
              <a:rPr lang="en-US" altLang="zh-CN" sz="2400" b="1" dirty="0">
                <a:solidFill>
                  <a:srgbClr val="CC3300"/>
                </a:solidFill>
                <a:latin typeface="+mn-ea"/>
                <a:ea typeface="+mn-ea"/>
              </a:rPr>
              <a:t>1.</a:t>
            </a:r>
            <a:r>
              <a:rPr lang="zh-CN" altLang="en-US" sz="2400" b="1" dirty="0">
                <a:solidFill>
                  <a:srgbClr val="CC3300"/>
                </a:solidFill>
                <a:latin typeface="+mn-ea"/>
                <a:ea typeface="+mn-ea"/>
              </a:rPr>
              <a:t>投影法</a:t>
            </a:r>
            <a:r>
              <a:rPr lang="zh-CN" altLang="en-US" sz="2400" b="1" dirty="0">
                <a:latin typeface="+mn-ea"/>
                <a:ea typeface="+mn-ea"/>
              </a:rPr>
              <a:t>的基本概念、平行投影法的</a:t>
            </a:r>
            <a:r>
              <a:rPr lang="zh-CN" altLang="en-US" sz="2400" b="1" dirty="0">
                <a:solidFill>
                  <a:srgbClr val="CC3300"/>
                </a:solidFill>
                <a:latin typeface="+mn-ea"/>
                <a:ea typeface="+mn-ea"/>
              </a:rPr>
              <a:t>投影特性</a:t>
            </a:r>
            <a:endParaRPr lang="en-US" altLang="zh-CN" sz="2400" dirty="0">
              <a:latin typeface="+mn-ea"/>
              <a:ea typeface="+mn-ea"/>
            </a:endParaRPr>
          </a:p>
          <a:p>
            <a:pPr indent="152400" eaLnBrk="0" hangingPunct="0">
              <a:lnSpc>
                <a:spcPct val="150000"/>
              </a:lnSpc>
              <a:tabLst>
                <a:tab pos="2636838" algn="ctr"/>
                <a:tab pos="5273675" algn="r"/>
              </a:tabLst>
              <a:defRPr/>
            </a:pPr>
            <a:r>
              <a:rPr lang="en-US" altLang="zh-CN" sz="2400" dirty="0">
                <a:latin typeface="+mn-ea"/>
                <a:ea typeface="+mn-ea"/>
              </a:rPr>
              <a:t>2.</a:t>
            </a:r>
            <a:r>
              <a:rPr lang="zh-CN" altLang="en-US" sz="2400" dirty="0">
                <a:latin typeface="+mn-ea"/>
                <a:ea typeface="+mn-ea"/>
              </a:rPr>
              <a:t>点、线、面的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投影特性</a:t>
            </a:r>
            <a:r>
              <a:rPr lang="zh-CN" altLang="en-US" sz="2400" dirty="0">
                <a:latin typeface="+mn-ea"/>
                <a:ea typeface="+mn-ea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作图方法；</a:t>
            </a:r>
            <a:r>
              <a:rPr lang="zh-CN" altLang="en-US" sz="2400" b="1" dirty="0">
                <a:latin typeface="+mn-ea"/>
                <a:ea typeface="+mn-ea"/>
              </a:rPr>
              <a:t>点的相对位置</a:t>
            </a: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1820347" y="3420435"/>
            <a:ext cx="25717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学习目标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</a:p>
          <a:p>
            <a:pPr marL="342900" indent="-342900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667000" y="214313"/>
            <a:ext cx="676910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A3E2854-48A1-4085-8063-84384B23F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783" y="5412829"/>
            <a:ext cx="67675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方正隶书简体" pitchFamily="2" charset="-122"/>
                <a:ea typeface="方正隶书简体" pitchFamily="2" charset="-122"/>
              </a:rPr>
              <a:t>掌握点、直线及平面的三维投影绘图方法和技能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0DCDDE15-76B9-4753-9B2A-88CA9F82D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921" y="4029855"/>
            <a:ext cx="2089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方正隶书简体" pitchFamily="2" charset="-122"/>
                <a:ea typeface="方正隶书简体" pitchFamily="2" charset="-122"/>
              </a:rPr>
              <a:t>了解投影类型 </a:t>
            </a: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D9E21D89-0BCC-44DF-B384-A0F36B981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921" y="4509120"/>
            <a:ext cx="2879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方正隶书简体" pitchFamily="2" charset="-122"/>
                <a:ea typeface="方正隶书简体" pitchFamily="2" charset="-122"/>
              </a:rPr>
              <a:t>选择投影绘图方法</a:t>
            </a:r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8079A7F2-1109-4110-96FA-84CEC86E4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921" y="4973456"/>
            <a:ext cx="410616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ea typeface="方正隶书简体" pitchFamily="2" charset="-122"/>
              </a:rPr>
              <a:t>理解三维投影体系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0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791744" y="1772816"/>
            <a:ext cx="4968552" cy="559769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 eaLnBrk="0" hangingPunct="0">
              <a:lnSpc>
                <a:spcPct val="150000"/>
              </a:lnSpc>
              <a:tabLst>
                <a:tab pos="2636838" algn="ctr"/>
                <a:tab pos="5273675" algn="r"/>
              </a:tabLst>
              <a:defRPr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投影法的基本概念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667000" y="214313"/>
            <a:ext cx="676910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  <p:sp>
        <p:nvSpPr>
          <p:cNvPr id="9" name="Text Box 50">
            <a:extLst>
              <a:ext uri="{FF2B5EF4-FFF2-40B4-BE49-F238E27FC236}">
                <a16:creationId xmlns:a16="http://schemas.microsoft.com/office/drawing/2014/main" id="{2E117084-5120-46C4-9913-BE05B0117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1744" y="2492896"/>
            <a:ext cx="4968552" cy="559769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 eaLnBrk="0" hangingPunct="0">
              <a:lnSpc>
                <a:spcPct val="150000"/>
              </a:lnSpc>
              <a:tabLst>
                <a:tab pos="2636838" algn="ctr"/>
                <a:tab pos="5273675" algn="r"/>
              </a:tabLst>
              <a:defRPr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平行投影法的投影特性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50">
            <a:extLst>
              <a:ext uri="{FF2B5EF4-FFF2-40B4-BE49-F238E27FC236}">
                <a16:creationId xmlns:a16="http://schemas.microsoft.com/office/drawing/2014/main" id="{67D8E862-D133-4E28-80D5-B033742CB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490" y="3219254"/>
            <a:ext cx="4968552" cy="559769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 eaLnBrk="0" hangingPunct="0">
              <a:lnSpc>
                <a:spcPct val="150000"/>
              </a:lnSpc>
              <a:tabLst>
                <a:tab pos="2636838" algn="ctr"/>
                <a:tab pos="5273675" algn="r"/>
              </a:tabLst>
              <a:defRPr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点的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投影特性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作图方法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50">
            <a:extLst>
              <a:ext uri="{FF2B5EF4-FFF2-40B4-BE49-F238E27FC236}">
                <a16:creationId xmlns:a16="http://schemas.microsoft.com/office/drawing/2014/main" id="{F3303808-BCE5-4EB2-B830-E8616F0B8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994" y="3905527"/>
            <a:ext cx="4968552" cy="559769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 eaLnBrk="0" hangingPunct="0">
              <a:lnSpc>
                <a:spcPct val="150000"/>
              </a:lnSpc>
              <a:tabLst>
                <a:tab pos="2636838" algn="ctr"/>
                <a:tab pos="5273675" algn="r"/>
              </a:tabLst>
              <a:defRPr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两点的相对位置</a:t>
            </a:r>
          </a:p>
        </p:txBody>
      </p:sp>
    </p:spTree>
    <p:extLst>
      <p:ext uri="{BB962C8B-B14F-4D97-AF65-F5344CB8AC3E}">
        <p14:creationId xmlns:p14="http://schemas.microsoft.com/office/powerpoint/2010/main" val="117326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28"/>
          <p:cNvSpPr txBox="1">
            <a:spLocks noChangeArrowheads="1"/>
          </p:cNvSpPr>
          <p:nvPr/>
        </p:nvSpPr>
        <p:spPr bwMode="auto">
          <a:xfrm>
            <a:off x="2740150" y="467962"/>
            <a:ext cx="64521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投影法的基本概念、分类投影特性</a:t>
            </a:r>
          </a:p>
        </p:txBody>
      </p:sp>
      <p:sp>
        <p:nvSpPr>
          <p:cNvPr id="73754" name="Text Box 26"/>
          <p:cNvSpPr txBox="1">
            <a:spLocks noChangeArrowheads="1"/>
          </p:cNvSpPr>
          <p:nvPr/>
        </p:nvSpPr>
        <p:spPr bwMode="auto">
          <a:xfrm>
            <a:off x="1520949" y="1405653"/>
            <a:ext cx="1555750" cy="523220"/>
          </a:xfrm>
          <a:prstGeom prst="rect">
            <a:avLst/>
          </a:prstGeom>
          <a:gradFill>
            <a:gsLst>
              <a:gs pos="0">
                <a:schemeClr val="bg1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CN" altLang="en-US" sz="2800" b="1" dirty="0"/>
              <a:t>投影法</a:t>
            </a:r>
          </a:p>
        </p:txBody>
      </p:sp>
      <p:sp>
        <p:nvSpPr>
          <p:cNvPr id="73759" name="Text Box 31"/>
          <p:cNvSpPr txBox="1">
            <a:spLocks noChangeArrowheads="1"/>
          </p:cNvSpPr>
          <p:nvPr/>
        </p:nvSpPr>
        <p:spPr bwMode="auto">
          <a:xfrm>
            <a:off x="6816726" y="1888520"/>
            <a:ext cx="385127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投</a:t>
            </a:r>
            <a:r>
              <a:rPr lang="zh-CN" altLang="en-US" sz="2400" b="1" dirty="0">
                <a:solidFill>
                  <a:schemeClr val="tx2"/>
                </a:solidFill>
              </a:rPr>
              <a:t>射线通过物体，向选定的平面进行投射，并在该面上得到图形的方法</a:t>
            </a:r>
            <a:r>
              <a:rPr lang="en-US" altLang="zh-CN" sz="2400" b="1" dirty="0">
                <a:solidFill>
                  <a:schemeClr val="tx2"/>
                </a:solidFill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投影法</a:t>
            </a:r>
            <a:r>
              <a:rPr lang="zh-CN" altLang="en-US" sz="2400" b="1" dirty="0">
                <a:solidFill>
                  <a:schemeClr val="tx2"/>
                </a:solidFill>
              </a:rPr>
              <a:t>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73732" name="AutoShape 4"/>
          <p:cNvSpPr>
            <a:spLocks noChangeArrowheads="1"/>
          </p:cNvSpPr>
          <p:nvPr/>
        </p:nvSpPr>
        <p:spPr bwMode="auto">
          <a:xfrm>
            <a:off x="2601916" y="4476484"/>
            <a:ext cx="2560637" cy="1055688"/>
          </a:xfrm>
          <a:prstGeom prst="parallelogram">
            <a:avLst>
              <a:gd name="adj" fmla="val 60639"/>
            </a:avLst>
          </a:prstGeom>
          <a:gradFill flip="none" rotWithShape="1">
            <a:gsLst>
              <a:gs pos="0">
                <a:srgbClr val="5E9EFF">
                  <a:alpha val="6500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21039" y="2822576"/>
            <a:ext cx="1171575" cy="2359025"/>
            <a:chOff x="899" y="1043"/>
            <a:chExt cx="738" cy="1486"/>
          </a:xfrm>
        </p:grpSpPr>
        <p:sp>
          <p:nvSpPr>
            <p:cNvPr id="9236" name="Freeform 6"/>
            <p:cNvSpPr>
              <a:spLocks/>
            </p:cNvSpPr>
            <p:nvPr/>
          </p:nvSpPr>
          <p:spPr bwMode="auto">
            <a:xfrm>
              <a:off x="899" y="1043"/>
              <a:ext cx="340" cy="1486"/>
            </a:xfrm>
            <a:custGeom>
              <a:avLst/>
              <a:gdLst>
                <a:gd name="T0" fmla="*/ 0 w 289"/>
                <a:gd name="T1" fmla="*/ 50027 h 1340"/>
                <a:gd name="T2" fmla="*/ 85375 w 289"/>
                <a:gd name="T3" fmla="*/ 0 h 1340"/>
                <a:gd name="T4" fmla="*/ 0 60000 65536"/>
                <a:gd name="T5" fmla="*/ 0 60000 65536"/>
                <a:gd name="T6" fmla="*/ 0 w 289"/>
                <a:gd name="T7" fmla="*/ 0 h 1340"/>
                <a:gd name="T8" fmla="*/ 289 w 289"/>
                <a:gd name="T9" fmla="*/ 1340 h 13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9" h="1340">
                  <a:moveTo>
                    <a:pt x="0" y="1340"/>
                  </a:moveTo>
                  <a:lnTo>
                    <a:pt x="289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7" name="Freeform 7"/>
            <p:cNvSpPr>
              <a:spLocks/>
            </p:cNvSpPr>
            <p:nvPr/>
          </p:nvSpPr>
          <p:spPr bwMode="auto">
            <a:xfrm>
              <a:off x="1239" y="1043"/>
              <a:ext cx="398" cy="1404"/>
            </a:xfrm>
            <a:custGeom>
              <a:avLst/>
              <a:gdLst>
                <a:gd name="T0" fmla="*/ 4949 w 382"/>
                <a:gd name="T1" fmla="*/ 147712 h 1236"/>
                <a:gd name="T2" fmla="*/ 0 w 382"/>
                <a:gd name="T3" fmla="*/ 0 h 1236"/>
                <a:gd name="T4" fmla="*/ 0 60000 65536"/>
                <a:gd name="T5" fmla="*/ 0 60000 65536"/>
                <a:gd name="T6" fmla="*/ 0 w 382"/>
                <a:gd name="T7" fmla="*/ 0 h 1236"/>
                <a:gd name="T8" fmla="*/ 382 w 382"/>
                <a:gd name="T9" fmla="*/ 1236 h 12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2" h="1236">
                  <a:moveTo>
                    <a:pt x="382" y="123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38" name="Freeform 8"/>
            <p:cNvSpPr>
              <a:spLocks/>
            </p:cNvSpPr>
            <p:nvPr/>
          </p:nvSpPr>
          <p:spPr bwMode="auto">
            <a:xfrm>
              <a:off x="1239" y="1043"/>
              <a:ext cx="73" cy="1078"/>
            </a:xfrm>
            <a:custGeom>
              <a:avLst/>
              <a:gdLst>
                <a:gd name="T0" fmla="*/ 5 w 90"/>
                <a:gd name="T1" fmla="*/ 1 h 1466"/>
                <a:gd name="T2" fmla="*/ 0 w 90"/>
                <a:gd name="T3" fmla="*/ 0 h 1466"/>
                <a:gd name="T4" fmla="*/ 0 60000 65536"/>
                <a:gd name="T5" fmla="*/ 0 60000 65536"/>
                <a:gd name="T6" fmla="*/ 0 w 90"/>
                <a:gd name="T7" fmla="*/ 0 h 1466"/>
                <a:gd name="T8" fmla="*/ 90 w 90"/>
                <a:gd name="T9" fmla="*/ 1466 h 14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0" h="1466">
                  <a:moveTo>
                    <a:pt x="90" y="146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3737" name="AutoShape 9"/>
          <p:cNvSpPr>
            <a:spLocks noChangeArrowheads="1"/>
          </p:cNvSpPr>
          <p:nvPr/>
        </p:nvSpPr>
        <p:spPr bwMode="auto">
          <a:xfrm rot="8124713">
            <a:off x="3354389" y="4732338"/>
            <a:ext cx="930275" cy="766762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8" name="AutoShape 10"/>
          <p:cNvSpPr>
            <a:spLocks noChangeArrowheads="1"/>
          </p:cNvSpPr>
          <p:nvPr/>
        </p:nvSpPr>
        <p:spPr bwMode="auto">
          <a:xfrm rot="7979327">
            <a:off x="3549605" y="3811601"/>
            <a:ext cx="473066" cy="379245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55" name="AutoShape 27"/>
          <p:cNvSpPr>
            <a:spLocks noChangeArrowheads="1"/>
          </p:cNvSpPr>
          <p:nvPr/>
        </p:nvSpPr>
        <p:spPr bwMode="auto">
          <a:xfrm>
            <a:off x="4989514" y="3114160"/>
            <a:ext cx="1392237" cy="369332"/>
          </a:xfrm>
          <a:prstGeom prst="wedgeRectCallout">
            <a:avLst>
              <a:gd name="adj1" fmla="val -121722"/>
              <a:gd name="adj2" fmla="val 83398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投射线</a:t>
            </a:r>
          </a:p>
        </p:txBody>
      </p:sp>
      <p:sp>
        <p:nvSpPr>
          <p:cNvPr id="73756" name="AutoShape 28"/>
          <p:cNvSpPr>
            <a:spLocks noChangeArrowheads="1"/>
          </p:cNvSpPr>
          <p:nvPr/>
        </p:nvSpPr>
        <p:spPr bwMode="auto">
          <a:xfrm>
            <a:off x="2333626" y="3180676"/>
            <a:ext cx="1108075" cy="442674"/>
          </a:xfrm>
          <a:prstGeom prst="wedgeRoundRectCallout">
            <a:avLst>
              <a:gd name="adj1" fmla="val 77364"/>
              <a:gd name="adj2" fmla="val 108340"/>
              <a:gd name="adj3" fmla="val 16667"/>
            </a:avLst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物体</a:t>
            </a:r>
            <a:endParaRPr lang="zh-CN" altLang="en-US" sz="2000" b="1"/>
          </a:p>
        </p:txBody>
      </p:sp>
      <p:sp>
        <p:nvSpPr>
          <p:cNvPr id="73757" name="AutoShape 29"/>
          <p:cNvSpPr>
            <a:spLocks noChangeArrowheads="1"/>
          </p:cNvSpPr>
          <p:nvPr/>
        </p:nvSpPr>
        <p:spPr bwMode="auto">
          <a:xfrm>
            <a:off x="1976439" y="4165085"/>
            <a:ext cx="1120775" cy="369332"/>
          </a:xfrm>
          <a:prstGeom prst="wedgeRectCallout">
            <a:avLst>
              <a:gd name="adj1" fmla="val 43343"/>
              <a:gd name="adj2" fmla="val 187074"/>
            </a:avLst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投影面</a:t>
            </a:r>
          </a:p>
        </p:txBody>
      </p:sp>
      <p:sp>
        <p:nvSpPr>
          <p:cNvPr id="73758" name="AutoShape 30"/>
          <p:cNvSpPr>
            <a:spLocks noChangeArrowheads="1"/>
          </p:cNvSpPr>
          <p:nvPr/>
        </p:nvSpPr>
        <p:spPr bwMode="auto">
          <a:xfrm>
            <a:off x="4694238" y="3931127"/>
            <a:ext cx="1346200" cy="408623"/>
          </a:xfrm>
          <a:prstGeom prst="wedgeRoundRectCallout">
            <a:avLst>
              <a:gd name="adj1" fmla="val -99292"/>
              <a:gd name="adj2" fmla="val 133120"/>
              <a:gd name="adj3" fmla="val 16667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投影图</a:t>
            </a:r>
          </a:p>
        </p:txBody>
      </p:sp>
      <p:sp>
        <p:nvSpPr>
          <p:cNvPr id="73760" name="AutoShape 32"/>
          <p:cNvSpPr>
            <a:spLocks noChangeArrowheads="1"/>
          </p:cNvSpPr>
          <p:nvPr/>
        </p:nvSpPr>
        <p:spPr bwMode="auto">
          <a:xfrm>
            <a:off x="4062414" y="2072759"/>
            <a:ext cx="1525587" cy="369332"/>
          </a:xfrm>
          <a:prstGeom prst="wedgeRectCallout">
            <a:avLst>
              <a:gd name="adj1" fmla="val -64568"/>
              <a:gd name="adj2" fmla="val 154106"/>
            </a:avLst>
          </a:prstGeom>
          <a:solidFill>
            <a:srgbClr val="F0E8E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投射中心</a:t>
            </a:r>
            <a:endParaRPr lang="zh-CN" altLang="en-US" b="1">
              <a:solidFill>
                <a:schemeClr val="tx2"/>
              </a:solidFill>
            </a:endParaRPr>
          </a:p>
        </p:txBody>
      </p:sp>
      <p:sp>
        <p:nvSpPr>
          <p:cNvPr id="3" name="Text Box 31"/>
          <p:cNvSpPr txBox="1">
            <a:spLocks noChangeArrowheads="1"/>
          </p:cNvSpPr>
          <p:nvPr/>
        </p:nvSpPr>
        <p:spPr bwMode="auto">
          <a:xfrm>
            <a:off x="6810375" y="3643313"/>
            <a:ext cx="3677789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投射中心：</a:t>
            </a: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所有投射线的起源点。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Text Box 31"/>
          <p:cNvSpPr txBox="1">
            <a:spLocks noChangeArrowheads="1"/>
          </p:cNvSpPr>
          <p:nvPr/>
        </p:nvSpPr>
        <p:spPr bwMode="auto">
          <a:xfrm>
            <a:off x="6810375" y="4425950"/>
            <a:ext cx="3677788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投射线：</a:t>
            </a: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发自投射中心且通过被表示物体上各点的直线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 Box 31"/>
          <p:cNvSpPr txBox="1">
            <a:spLocks noChangeArrowheads="1"/>
          </p:cNvSpPr>
          <p:nvPr/>
        </p:nvSpPr>
        <p:spPr bwMode="auto">
          <a:xfrm>
            <a:off x="6810375" y="5643563"/>
            <a:ext cx="3752846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投影面：</a:t>
            </a: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投影法中得到投影的面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1952625" y="6032650"/>
            <a:ext cx="45034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>
                <a:solidFill>
                  <a:srgbClr val="CC3300"/>
                </a:solidFill>
                <a:latin typeface="宋体" pitchFamily="2" charset="-122"/>
              </a:rPr>
              <a:t>投影图：</a:t>
            </a:r>
            <a:r>
              <a:rPr lang="zh-CN" altLang="en-US" sz="2400">
                <a:solidFill>
                  <a:schemeClr val="tx2"/>
                </a:solidFill>
                <a:latin typeface="宋体" pitchFamily="2" charset="-122"/>
              </a:rPr>
              <a:t>根据投影法得到的图形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3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3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3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3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3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3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3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3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37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37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3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3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3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737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737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 tmFilter="0, 0; .2, .5; .8, .5; 1, 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2" dur="250" autoRev="1" fill="hold"/>
                                        <p:tgtEl>
                                          <p:spTgt spid="737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 tmFilter="0, 0; .2, .5; .8, .5; 1, 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737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utoUpdateAnimBg="0"/>
      <p:bldP spid="73754" grpId="0" animBg="1" autoUpdateAnimBg="0"/>
      <p:bldP spid="73759" grpId="0" autoUpdateAnimBg="0"/>
      <p:bldP spid="73737" grpId="0" animBg="1"/>
      <p:bldP spid="73737" grpId="1" animBg="1"/>
      <p:bldP spid="73738" grpId="0" animBg="1"/>
      <p:bldP spid="73755" grpId="0" animBg="1" autoUpdateAnimBg="0"/>
      <p:bldP spid="73757" grpId="0" animBg="1" autoUpdateAnimBg="0"/>
      <p:bldP spid="73758" grpId="0" animBg="1" autoUpdateAnimBg="0"/>
      <p:bldP spid="73760" grpId="0" animBg="1" autoUpdateAnimBg="0"/>
      <p:bldP spid="73760" grpId="1" animBg="1"/>
      <p:bldP spid="3" grpId="0" autoUpdateAnimBg="0"/>
      <p:bldP spid="4" grpId="0" autoUpdateAnimBg="0"/>
      <p:bldP spid="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AutoShape 2"/>
          <p:cNvSpPr>
            <a:spLocks noChangeArrowheads="1"/>
          </p:cNvSpPr>
          <p:nvPr/>
        </p:nvSpPr>
        <p:spPr bwMode="auto">
          <a:xfrm>
            <a:off x="6881818" y="5329248"/>
            <a:ext cx="2434906" cy="649188"/>
          </a:xfrm>
          <a:prstGeom prst="wedgeEllipseCallout">
            <a:avLst>
              <a:gd name="adj1" fmla="val -731"/>
              <a:gd name="adj2" fmla="val -124097"/>
            </a:avLst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/>
              <a:t>平行投影法</a:t>
            </a:r>
          </a:p>
        </p:txBody>
      </p:sp>
      <p:sp>
        <p:nvSpPr>
          <p:cNvPr id="73731" name="AutoShape 3"/>
          <p:cNvSpPr>
            <a:spLocks noChangeArrowheads="1"/>
          </p:cNvSpPr>
          <p:nvPr/>
        </p:nvSpPr>
        <p:spPr bwMode="auto">
          <a:xfrm>
            <a:off x="2298700" y="5372100"/>
            <a:ext cx="2736850" cy="649188"/>
          </a:xfrm>
          <a:prstGeom prst="wedgeEllipseCallout">
            <a:avLst>
              <a:gd name="adj1" fmla="val -1565"/>
              <a:gd name="adj2" fmla="val -92245"/>
            </a:avLst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400" b="1" dirty="0"/>
              <a:t>中心投影法</a:t>
            </a:r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2351089" y="3995737"/>
            <a:ext cx="2560637" cy="1055688"/>
          </a:xfrm>
          <a:prstGeom prst="parallelogram">
            <a:avLst>
              <a:gd name="adj" fmla="val 60639"/>
            </a:avLst>
          </a:prstGeom>
          <a:gradFill>
            <a:gsLst>
              <a:gs pos="0">
                <a:srgbClr val="5E9EFF">
                  <a:alpha val="6500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10247" name="Group 5"/>
          <p:cNvGrpSpPr>
            <a:grpSpLocks/>
          </p:cNvGrpSpPr>
          <p:nvPr/>
        </p:nvGrpSpPr>
        <p:grpSpPr bwMode="auto">
          <a:xfrm>
            <a:off x="2970211" y="2341563"/>
            <a:ext cx="1189036" cy="2359025"/>
            <a:chOff x="899" y="1043"/>
            <a:chExt cx="749" cy="1486"/>
          </a:xfrm>
        </p:grpSpPr>
        <p:sp>
          <p:nvSpPr>
            <p:cNvPr id="10280" name="Freeform 6"/>
            <p:cNvSpPr>
              <a:spLocks/>
            </p:cNvSpPr>
            <p:nvPr/>
          </p:nvSpPr>
          <p:spPr bwMode="auto">
            <a:xfrm>
              <a:off x="899" y="1043"/>
              <a:ext cx="340" cy="1486"/>
            </a:xfrm>
            <a:custGeom>
              <a:avLst/>
              <a:gdLst>
                <a:gd name="T0" fmla="*/ 0 w 289"/>
                <a:gd name="T1" fmla="*/ 50027 h 1340"/>
                <a:gd name="T2" fmla="*/ 85375 w 289"/>
                <a:gd name="T3" fmla="*/ 0 h 1340"/>
                <a:gd name="T4" fmla="*/ 0 60000 65536"/>
                <a:gd name="T5" fmla="*/ 0 60000 65536"/>
                <a:gd name="T6" fmla="*/ 0 w 289"/>
                <a:gd name="T7" fmla="*/ 0 h 1340"/>
                <a:gd name="T8" fmla="*/ 289 w 289"/>
                <a:gd name="T9" fmla="*/ 1340 h 13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9" h="1340">
                  <a:moveTo>
                    <a:pt x="0" y="1340"/>
                  </a:moveTo>
                  <a:lnTo>
                    <a:pt x="289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1" name="Freeform 7"/>
            <p:cNvSpPr>
              <a:spLocks/>
            </p:cNvSpPr>
            <p:nvPr/>
          </p:nvSpPr>
          <p:spPr bwMode="auto">
            <a:xfrm>
              <a:off x="1236" y="1043"/>
              <a:ext cx="412" cy="1416"/>
            </a:xfrm>
            <a:custGeom>
              <a:avLst/>
              <a:gdLst>
                <a:gd name="T0" fmla="*/ 4949 w 382"/>
                <a:gd name="T1" fmla="*/ 147712 h 1236"/>
                <a:gd name="T2" fmla="*/ 0 w 382"/>
                <a:gd name="T3" fmla="*/ 0 h 1236"/>
                <a:gd name="T4" fmla="*/ 0 60000 65536"/>
                <a:gd name="T5" fmla="*/ 0 60000 65536"/>
                <a:gd name="T6" fmla="*/ 0 w 382"/>
                <a:gd name="T7" fmla="*/ 0 h 1236"/>
                <a:gd name="T8" fmla="*/ 382 w 382"/>
                <a:gd name="T9" fmla="*/ 1236 h 12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2" h="1236">
                  <a:moveTo>
                    <a:pt x="382" y="123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82" name="Freeform 8"/>
            <p:cNvSpPr>
              <a:spLocks/>
            </p:cNvSpPr>
            <p:nvPr/>
          </p:nvSpPr>
          <p:spPr bwMode="auto">
            <a:xfrm>
              <a:off x="1239" y="1043"/>
              <a:ext cx="81" cy="1074"/>
            </a:xfrm>
            <a:custGeom>
              <a:avLst/>
              <a:gdLst>
                <a:gd name="T0" fmla="*/ 5 w 90"/>
                <a:gd name="T1" fmla="*/ 1 h 1466"/>
                <a:gd name="T2" fmla="*/ 0 w 90"/>
                <a:gd name="T3" fmla="*/ 0 h 1466"/>
                <a:gd name="T4" fmla="*/ 0 60000 65536"/>
                <a:gd name="T5" fmla="*/ 0 60000 65536"/>
                <a:gd name="T6" fmla="*/ 0 w 90"/>
                <a:gd name="T7" fmla="*/ 0 h 1466"/>
                <a:gd name="T8" fmla="*/ 90 w 90"/>
                <a:gd name="T9" fmla="*/ 1466 h 14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0" h="1466">
                  <a:moveTo>
                    <a:pt x="90" y="146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48" name="AutoShape 9"/>
          <p:cNvSpPr>
            <a:spLocks noChangeArrowheads="1"/>
          </p:cNvSpPr>
          <p:nvPr/>
        </p:nvSpPr>
        <p:spPr bwMode="auto">
          <a:xfrm rot="8124713">
            <a:off x="3103564" y="4251325"/>
            <a:ext cx="930275" cy="766762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9" name="AutoShape 10"/>
          <p:cNvSpPr>
            <a:spLocks noChangeArrowheads="1"/>
          </p:cNvSpPr>
          <p:nvPr/>
        </p:nvSpPr>
        <p:spPr bwMode="auto">
          <a:xfrm rot="7979327">
            <a:off x="3321050" y="3289300"/>
            <a:ext cx="458788" cy="373062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8071899" y="2944813"/>
            <a:ext cx="2435225" cy="2168525"/>
            <a:chOff x="3793" y="1473"/>
            <a:chExt cx="1534" cy="1366"/>
          </a:xfrm>
        </p:grpSpPr>
        <p:sp>
          <p:nvSpPr>
            <p:cNvPr id="2" name="AutoShape 12"/>
            <p:cNvSpPr>
              <a:spLocks noChangeArrowheads="1"/>
            </p:cNvSpPr>
            <p:nvPr/>
          </p:nvSpPr>
          <p:spPr bwMode="auto">
            <a:xfrm>
              <a:off x="3793" y="2054"/>
              <a:ext cx="1534" cy="627"/>
            </a:xfrm>
            <a:prstGeom prst="parallelogram">
              <a:avLst>
                <a:gd name="adj" fmla="val 59930"/>
              </a:avLst>
            </a:prstGeom>
            <a:gradFill>
              <a:gsLst>
                <a:gs pos="0">
                  <a:srgbClr val="5E9EFF">
                    <a:alpha val="65000"/>
                  </a:srgbClr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75" name="Freeform 13"/>
            <p:cNvSpPr>
              <a:spLocks/>
            </p:cNvSpPr>
            <p:nvPr/>
          </p:nvSpPr>
          <p:spPr bwMode="auto">
            <a:xfrm>
              <a:off x="4495" y="1473"/>
              <a:ext cx="0" cy="590"/>
            </a:xfrm>
            <a:custGeom>
              <a:avLst/>
              <a:gdLst>
                <a:gd name="T0" fmla="*/ 0 w 1"/>
                <a:gd name="T1" fmla="*/ 1007317 h 858"/>
                <a:gd name="T2" fmla="*/ 0 w 1"/>
                <a:gd name="T3" fmla="*/ 0 h 858"/>
                <a:gd name="T4" fmla="*/ 0 60000 65536"/>
                <a:gd name="T5" fmla="*/ 0 60000 65536"/>
                <a:gd name="T6" fmla="*/ 0 w 1"/>
                <a:gd name="T7" fmla="*/ 0 h 858"/>
                <a:gd name="T8" fmla="*/ 1 w 1"/>
                <a:gd name="T9" fmla="*/ 858 h 85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58">
                  <a:moveTo>
                    <a:pt x="0" y="85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6" name="AutoShape 14"/>
            <p:cNvSpPr>
              <a:spLocks noChangeArrowheads="1"/>
            </p:cNvSpPr>
            <p:nvPr/>
          </p:nvSpPr>
          <p:spPr bwMode="auto">
            <a:xfrm rot="8665659">
              <a:off x="4229" y="1556"/>
              <a:ext cx="516" cy="692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7" name="Freeform 15"/>
            <p:cNvSpPr>
              <a:spLocks/>
            </p:cNvSpPr>
            <p:nvPr/>
          </p:nvSpPr>
          <p:spPr bwMode="auto">
            <a:xfrm>
              <a:off x="4896" y="2039"/>
              <a:ext cx="0" cy="567"/>
            </a:xfrm>
            <a:custGeom>
              <a:avLst/>
              <a:gdLst>
                <a:gd name="T0" fmla="*/ 8281 w 4"/>
                <a:gd name="T1" fmla="*/ 1167426 h 981"/>
                <a:gd name="T2" fmla="*/ 0 w 4"/>
                <a:gd name="T3" fmla="*/ 0 h 981"/>
                <a:gd name="T4" fmla="*/ 0 60000 65536"/>
                <a:gd name="T5" fmla="*/ 0 60000 65536"/>
                <a:gd name="T6" fmla="*/ 0 w 4"/>
                <a:gd name="T7" fmla="*/ 0 h 981"/>
                <a:gd name="T8" fmla="*/ 4 w 4"/>
                <a:gd name="T9" fmla="*/ 981 h 98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981">
                  <a:moveTo>
                    <a:pt x="4" y="98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8" name="Freeform 16"/>
            <p:cNvSpPr>
              <a:spLocks/>
            </p:cNvSpPr>
            <p:nvPr/>
          </p:nvSpPr>
          <p:spPr bwMode="auto">
            <a:xfrm>
              <a:off x="4080" y="1766"/>
              <a:ext cx="0" cy="589"/>
            </a:xfrm>
            <a:custGeom>
              <a:avLst/>
              <a:gdLst>
                <a:gd name="T0" fmla="*/ 0 w 1"/>
                <a:gd name="T1" fmla="*/ 855584 h 739"/>
                <a:gd name="T2" fmla="*/ 0 w 1"/>
                <a:gd name="T3" fmla="*/ 0 h 739"/>
                <a:gd name="T4" fmla="*/ 0 60000 65536"/>
                <a:gd name="T5" fmla="*/ 0 60000 65536"/>
                <a:gd name="T6" fmla="*/ 0 w 1"/>
                <a:gd name="T7" fmla="*/ 0 h 739"/>
                <a:gd name="T8" fmla="*/ 1 w 1"/>
                <a:gd name="T9" fmla="*/ 739 h 73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39">
                  <a:moveTo>
                    <a:pt x="0" y="739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9" name="AutoShape 17"/>
            <p:cNvSpPr>
              <a:spLocks noChangeArrowheads="1"/>
            </p:cNvSpPr>
            <p:nvPr/>
          </p:nvSpPr>
          <p:spPr bwMode="auto">
            <a:xfrm rot="8665659">
              <a:off x="4229" y="2147"/>
              <a:ext cx="516" cy="692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556090" y="1832865"/>
            <a:ext cx="2515809" cy="3234751"/>
            <a:chOff x="2319" y="1093"/>
            <a:chExt cx="1491" cy="1652"/>
          </a:xfrm>
        </p:grpSpPr>
        <p:sp>
          <p:nvSpPr>
            <p:cNvPr id="10262" name="AutoShape 19"/>
            <p:cNvSpPr>
              <a:spLocks noChangeArrowheads="1"/>
            </p:cNvSpPr>
            <p:nvPr/>
          </p:nvSpPr>
          <p:spPr bwMode="auto">
            <a:xfrm>
              <a:off x="2319" y="2166"/>
              <a:ext cx="1472" cy="478"/>
            </a:xfrm>
            <a:prstGeom prst="parallelogram">
              <a:avLst>
                <a:gd name="adj" fmla="val 62481"/>
              </a:avLst>
            </a:prstGeom>
            <a:gradFill>
              <a:gsLst>
                <a:gs pos="0">
                  <a:srgbClr val="5E9EFF">
                    <a:alpha val="65000"/>
                  </a:srgbClr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67" name="Line 20"/>
            <p:cNvSpPr>
              <a:spLocks noChangeShapeType="1"/>
            </p:cNvSpPr>
            <p:nvPr/>
          </p:nvSpPr>
          <p:spPr bwMode="auto">
            <a:xfrm flipV="1">
              <a:off x="3467" y="1626"/>
              <a:ext cx="343" cy="92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68" name="Line 21"/>
            <p:cNvSpPr>
              <a:spLocks noChangeShapeType="1"/>
            </p:cNvSpPr>
            <p:nvPr/>
          </p:nvSpPr>
          <p:spPr bwMode="auto">
            <a:xfrm flipV="1">
              <a:off x="3005" y="1093"/>
              <a:ext cx="342" cy="92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69" name="Line 22"/>
            <p:cNvSpPr>
              <a:spLocks noChangeShapeType="1"/>
            </p:cNvSpPr>
            <p:nvPr/>
          </p:nvSpPr>
          <p:spPr bwMode="auto">
            <a:xfrm flipV="1">
              <a:off x="2623" y="1314"/>
              <a:ext cx="342" cy="92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0" name="AutoShape 23"/>
            <p:cNvSpPr>
              <a:spLocks noChangeArrowheads="1"/>
            </p:cNvSpPr>
            <p:nvPr/>
          </p:nvSpPr>
          <p:spPr bwMode="auto">
            <a:xfrm rot="8665659">
              <a:off x="2808" y="2053"/>
              <a:ext cx="473" cy="692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71" name="AutoShape 24"/>
            <p:cNvSpPr>
              <a:spLocks noChangeArrowheads="1"/>
            </p:cNvSpPr>
            <p:nvPr/>
          </p:nvSpPr>
          <p:spPr bwMode="auto">
            <a:xfrm rot="8665659">
              <a:off x="2990" y="1562"/>
              <a:ext cx="472" cy="692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3754" name="Text Box 26"/>
          <p:cNvSpPr txBox="1">
            <a:spLocks noChangeArrowheads="1"/>
          </p:cNvSpPr>
          <p:nvPr/>
        </p:nvSpPr>
        <p:spPr bwMode="auto">
          <a:xfrm>
            <a:off x="1442720" y="1135613"/>
            <a:ext cx="1525588" cy="523220"/>
          </a:xfrm>
          <a:prstGeom prst="rect">
            <a:avLst/>
          </a:prstGeom>
          <a:gradFill>
            <a:gsLst>
              <a:gs pos="0">
                <a:schemeClr val="bg1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ea typeface="宋体" charset="-122"/>
              </a:rPr>
              <a:t>投影法</a:t>
            </a:r>
          </a:p>
        </p:txBody>
      </p:sp>
      <p:sp>
        <p:nvSpPr>
          <p:cNvPr id="10253" name="AutoShape 27"/>
          <p:cNvSpPr>
            <a:spLocks noChangeArrowheads="1"/>
          </p:cNvSpPr>
          <p:nvPr/>
        </p:nvSpPr>
        <p:spPr bwMode="auto">
          <a:xfrm>
            <a:off x="4738689" y="2633147"/>
            <a:ext cx="1392237" cy="369332"/>
          </a:xfrm>
          <a:prstGeom prst="wedgeRectCallout">
            <a:avLst>
              <a:gd name="adj1" fmla="val -113968"/>
              <a:gd name="adj2" fmla="val 98366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投射线</a:t>
            </a:r>
          </a:p>
        </p:txBody>
      </p:sp>
      <p:sp>
        <p:nvSpPr>
          <p:cNvPr id="10254" name="AutoShape 28"/>
          <p:cNvSpPr>
            <a:spLocks noChangeArrowheads="1"/>
          </p:cNvSpPr>
          <p:nvPr/>
        </p:nvSpPr>
        <p:spPr bwMode="auto">
          <a:xfrm>
            <a:off x="2082801" y="2699663"/>
            <a:ext cx="1108075" cy="442674"/>
          </a:xfrm>
          <a:prstGeom prst="wedgeRoundRectCallout">
            <a:avLst>
              <a:gd name="adj1" fmla="val 81375"/>
              <a:gd name="adj2" fmla="val 58134"/>
              <a:gd name="adj3" fmla="val 16667"/>
            </a:avLst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物体</a:t>
            </a:r>
            <a:endParaRPr lang="zh-CN" altLang="en-US" sz="2000" b="1"/>
          </a:p>
        </p:txBody>
      </p:sp>
      <p:sp>
        <p:nvSpPr>
          <p:cNvPr id="10255" name="AutoShape 29"/>
          <p:cNvSpPr>
            <a:spLocks noChangeArrowheads="1"/>
          </p:cNvSpPr>
          <p:nvPr/>
        </p:nvSpPr>
        <p:spPr bwMode="auto">
          <a:xfrm>
            <a:off x="1725614" y="3684072"/>
            <a:ext cx="1120775" cy="369332"/>
          </a:xfrm>
          <a:prstGeom prst="wedgeRectCallout">
            <a:avLst>
              <a:gd name="adj1" fmla="val 43343"/>
              <a:gd name="adj2" fmla="val 187074"/>
            </a:avLst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投影面</a:t>
            </a:r>
          </a:p>
        </p:txBody>
      </p:sp>
      <p:sp>
        <p:nvSpPr>
          <p:cNvPr id="10256" name="AutoShape 30"/>
          <p:cNvSpPr>
            <a:spLocks noChangeArrowheads="1"/>
          </p:cNvSpPr>
          <p:nvPr/>
        </p:nvSpPr>
        <p:spPr bwMode="auto">
          <a:xfrm>
            <a:off x="4443413" y="3450114"/>
            <a:ext cx="1346200" cy="408623"/>
          </a:xfrm>
          <a:prstGeom prst="wedgeRoundRectCallout">
            <a:avLst>
              <a:gd name="adj1" fmla="val -99292"/>
              <a:gd name="adj2" fmla="val 133120"/>
              <a:gd name="adj3" fmla="val 16667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投影</a:t>
            </a:r>
          </a:p>
        </p:txBody>
      </p:sp>
      <p:sp>
        <p:nvSpPr>
          <p:cNvPr id="73759" name="Text Box 31"/>
          <p:cNvSpPr txBox="1">
            <a:spLocks noChangeArrowheads="1"/>
          </p:cNvSpPr>
          <p:nvPr/>
        </p:nvSpPr>
        <p:spPr bwMode="auto">
          <a:xfrm>
            <a:off x="6502422" y="1328721"/>
            <a:ext cx="2401866" cy="461665"/>
          </a:xfrm>
          <a:prstGeom prst="rect">
            <a:avLst/>
          </a:prstGeom>
          <a:solidFill>
            <a:srgbClr val="FFFF99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投</a:t>
            </a:r>
            <a:r>
              <a:rPr lang="zh-CN" altLang="en-US" sz="2400" b="1" dirty="0">
                <a:solidFill>
                  <a:schemeClr val="tx2"/>
                </a:solidFill>
              </a:rPr>
              <a:t>射线相互平行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258" name="AutoShape 32"/>
          <p:cNvSpPr>
            <a:spLocks noChangeArrowheads="1"/>
          </p:cNvSpPr>
          <p:nvPr/>
        </p:nvSpPr>
        <p:spPr bwMode="auto">
          <a:xfrm>
            <a:off x="3811589" y="1591746"/>
            <a:ext cx="1525587" cy="369332"/>
          </a:xfrm>
          <a:prstGeom prst="wedgeRectCallout">
            <a:avLst>
              <a:gd name="adj1" fmla="val -66648"/>
              <a:gd name="adj2" fmla="val 116889"/>
            </a:avLst>
          </a:prstGeom>
          <a:solidFill>
            <a:srgbClr val="F0E8E6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 dirty="0"/>
              <a:t>投射中心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73761" name="AutoShape 33"/>
          <p:cNvSpPr>
            <a:spLocks noChangeArrowheads="1"/>
          </p:cNvSpPr>
          <p:nvPr/>
        </p:nvSpPr>
        <p:spPr bwMode="auto">
          <a:xfrm>
            <a:off x="7824788" y="2043113"/>
            <a:ext cx="1079500" cy="714375"/>
          </a:xfrm>
          <a:prstGeom prst="wedgeRoundRectCallout">
            <a:avLst>
              <a:gd name="adj1" fmla="val -99412"/>
              <a:gd name="adj2" fmla="val 75537"/>
              <a:gd name="adj3" fmla="val 16667"/>
            </a:avLst>
          </a:prstGeom>
          <a:solidFill>
            <a:srgbClr val="F0E8E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/>
              <a:t>斜投影法</a:t>
            </a:r>
          </a:p>
        </p:txBody>
      </p:sp>
      <p:sp>
        <p:nvSpPr>
          <p:cNvPr id="73762" name="AutoShape 34"/>
          <p:cNvSpPr>
            <a:spLocks noChangeArrowheads="1"/>
          </p:cNvSpPr>
          <p:nvPr/>
        </p:nvSpPr>
        <p:spPr bwMode="auto">
          <a:xfrm>
            <a:off x="9515476" y="2043113"/>
            <a:ext cx="1152525" cy="714375"/>
          </a:xfrm>
          <a:prstGeom prst="wedgeRoundRectCallout">
            <a:avLst>
              <a:gd name="adj1" fmla="val -49449"/>
              <a:gd name="adj2" fmla="val 106963"/>
              <a:gd name="adj3" fmla="val 16667"/>
            </a:avLst>
          </a:prstGeom>
          <a:solidFill>
            <a:srgbClr val="2DF3F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b="1" dirty="0"/>
              <a:t>正投影法</a:t>
            </a:r>
          </a:p>
        </p:txBody>
      </p:sp>
      <p:sp>
        <p:nvSpPr>
          <p:cNvPr id="5" name="Text Box 31"/>
          <p:cNvSpPr txBox="1">
            <a:spLocks noChangeArrowheads="1"/>
          </p:cNvSpPr>
          <p:nvPr/>
        </p:nvSpPr>
        <p:spPr bwMode="auto">
          <a:xfrm>
            <a:off x="1992313" y="6043613"/>
            <a:ext cx="3960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rgbClr val="CC3300"/>
                </a:solidFill>
                <a:latin typeface="宋体" pitchFamily="2" charset="-122"/>
              </a:rPr>
              <a:t>投</a:t>
            </a:r>
            <a:r>
              <a:rPr lang="zh-CN" altLang="en-US" sz="2400" dirty="0">
                <a:solidFill>
                  <a:srgbClr val="CC3300"/>
                </a:solidFill>
              </a:rPr>
              <a:t>射线交汇于一点投影法</a:t>
            </a:r>
          </a:p>
        </p:txBody>
      </p:sp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6383338" y="6043613"/>
            <a:ext cx="3960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>
                <a:solidFill>
                  <a:srgbClr val="CC3300"/>
                </a:solidFill>
                <a:latin typeface="宋体" pitchFamily="2" charset="-122"/>
              </a:rPr>
              <a:t>投</a:t>
            </a:r>
            <a:r>
              <a:rPr lang="zh-CN" altLang="en-US" sz="2400">
                <a:solidFill>
                  <a:srgbClr val="CC3300"/>
                </a:solidFill>
              </a:rPr>
              <a:t>射线相互平行的投影法</a:t>
            </a:r>
          </a:p>
        </p:txBody>
      </p:sp>
      <p:sp>
        <p:nvSpPr>
          <p:cNvPr id="38" name="Text Box 28"/>
          <p:cNvSpPr txBox="1">
            <a:spLocks noChangeArrowheads="1"/>
          </p:cNvSpPr>
          <p:nvPr/>
        </p:nvSpPr>
        <p:spPr bwMode="auto">
          <a:xfrm>
            <a:off x="2740150" y="467962"/>
            <a:ext cx="64521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投影法的基本概念、分类投影特性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3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3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3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3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3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3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3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animBg="1" autoUpdateAnimBg="0"/>
      <p:bldP spid="73731" grpId="0" animBg="1" autoUpdateAnimBg="0"/>
      <p:bldP spid="73759" grpId="0" animBg="1" autoUpdateAnimBg="0"/>
      <p:bldP spid="73761" grpId="0" animBg="1" autoUpdateAnimBg="0"/>
      <p:bldP spid="73762" grpId="0" animBg="1" autoUpdateAnimBg="0"/>
      <p:bldP spid="5" grpId="0" autoUpdateAnimBg="0"/>
      <p:bldP spid="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353699" y="1241768"/>
            <a:ext cx="2400672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800" b="1" dirty="0"/>
              <a:t>中心投影法</a:t>
            </a:r>
          </a:p>
        </p:txBody>
      </p:sp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952464" y="5657671"/>
            <a:ext cx="978700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投射中心、物体、投影面三者之间的相对距离对投影的大小有影响。</a:t>
            </a:r>
          </a:p>
          <a:p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                        度量性较差。</a:t>
            </a: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3937001" y="5138028"/>
            <a:ext cx="4060825" cy="52322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投  影  特  性</a:t>
            </a:r>
            <a:endParaRPr lang="zh-CN" altLang="en-US" sz="2800" b="1" dirty="0">
              <a:latin typeface="宋体" pitchFamily="2" charset="-122"/>
            </a:endParaRPr>
          </a:p>
        </p:txBody>
      </p:sp>
      <p:sp>
        <p:nvSpPr>
          <p:cNvPr id="11269" name="AutoShape 6"/>
          <p:cNvSpPr>
            <a:spLocks noChangeArrowheads="1"/>
          </p:cNvSpPr>
          <p:nvPr/>
        </p:nvSpPr>
        <p:spPr bwMode="auto">
          <a:xfrm>
            <a:off x="6405564" y="3722494"/>
            <a:ext cx="3094037" cy="1201738"/>
          </a:xfrm>
          <a:prstGeom prst="parallelogram">
            <a:avLst>
              <a:gd name="adj" fmla="val 64366"/>
            </a:avLst>
          </a:prstGeom>
          <a:gradFill>
            <a:gsLst>
              <a:gs pos="0">
                <a:srgbClr val="5E9EFF">
                  <a:alpha val="6500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1272" name="Freeform 7"/>
          <p:cNvSpPr>
            <a:spLocks/>
          </p:cNvSpPr>
          <p:nvPr/>
        </p:nvSpPr>
        <p:spPr bwMode="auto">
          <a:xfrm>
            <a:off x="7726363" y="2257233"/>
            <a:ext cx="74612" cy="1965325"/>
          </a:xfrm>
          <a:custGeom>
            <a:avLst/>
            <a:gdLst>
              <a:gd name="T0" fmla="*/ 2147483647 w 47"/>
              <a:gd name="T1" fmla="*/ 0 h 1088"/>
              <a:gd name="T2" fmla="*/ 0 w 47"/>
              <a:gd name="T3" fmla="*/ 2147483647 h 1088"/>
              <a:gd name="T4" fmla="*/ 0 60000 65536"/>
              <a:gd name="T5" fmla="*/ 0 60000 65536"/>
              <a:gd name="T6" fmla="*/ 0 w 47"/>
              <a:gd name="T7" fmla="*/ 0 h 1088"/>
              <a:gd name="T8" fmla="*/ 47 w 47"/>
              <a:gd name="T9" fmla="*/ 1088 h 10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" h="1088">
                <a:moveTo>
                  <a:pt x="47" y="0"/>
                </a:moveTo>
                <a:lnTo>
                  <a:pt x="0" y="1088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3" name="Freeform 8"/>
          <p:cNvSpPr>
            <a:spLocks/>
          </p:cNvSpPr>
          <p:nvPr/>
        </p:nvSpPr>
        <p:spPr bwMode="auto">
          <a:xfrm>
            <a:off x="6964363" y="2222307"/>
            <a:ext cx="836612" cy="2379662"/>
          </a:xfrm>
          <a:custGeom>
            <a:avLst/>
            <a:gdLst>
              <a:gd name="T0" fmla="*/ 0 w 464"/>
              <a:gd name="T1" fmla="*/ 2147483647 h 1370"/>
              <a:gd name="T2" fmla="*/ 2147483647 w 464"/>
              <a:gd name="T3" fmla="*/ 0 h 1370"/>
              <a:gd name="T4" fmla="*/ 0 60000 65536"/>
              <a:gd name="T5" fmla="*/ 0 60000 65536"/>
              <a:gd name="T6" fmla="*/ 0 w 464"/>
              <a:gd name="T7" fmla="*/ 0 h 1370"/>
              <a:gd name="T8" fmla="*/ 464 w 464"/>
              <a:gd name="T9" fmla="*/ 1370 h 13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64" h="1370">
                <a:moveTo>
                  <a:pt x="0" y="1370"/>
                </a:moveTo>
                <a:lnTo>
                  <a:pt x="464" y="0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4" name="Freeform 9"/>
          <p:cNvSpPr>
            <a:spLocks/>
          </p:cNvSpPr>
          <p:nvPr/>
        </p:nvSpPr>
        <p:spPr bwMode="auto">
          <a:xfrm>
            <a:off x="7800976" y="2222307"/>
            <a:ext cx="944563" cy="2495550"/>
          </a:xfrm>
          <a:custGeom>
            <a:avLst/>
            <a:gdLst>
              <a:gd name="T0" fmla="*/ 2147483647 w 563"/>
              <a:gd name="T1" fmla="*/ 2147483647 h 1411"/>
              <a:gd name="T2" fmla="*/ 2147483647 w 563"/>
              <a:gd name="T3" fmla="*/ 2147483647 h 1411"/>
              <a:gd name="T4" fmla="*/ 0 w 563"/>
              <a:gd name="T5" fmla="*/ 0 h 1411"/>
              <a:gd name="T6" fmla="*/ 0 60000 65536"/>
              <a:gd name="T7" fmla="*/ 0 60000 65536"/>
              <a:gd name="T8" fmla="*/ 0 60000 65536"/>
              <a:gd name="T9" fmla="*/ 0 w 563"/>
              <a:gd name="T10" fmla="*/ 0 h 1411"/>
              <a:gd name="T11" fmla="*/ 563 w 563"/>
              <a:gd name="T12" fmla="*/ 1411 h 14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3" h="1411">
                <a:moveTo>
                  <a:pt x="537" y="1398"/>
                </a:moveTo>
                <a:lnTo>
                  <a:pt x="563" y="1411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6" name="AutoShape 10"/>
          <p:cNvSpPr>
            <a:spLocks noChangeArrowheads="1"/>
          </p:cNvSpPr>
          <p:nvPr/>
        </p:nvSpPr>
        <p:spPr bwMode="auto">
          <a:xfrm rot="7967491">
            <a:off x="7258051" y="3990782"/>
            <a:ext cx="1192212" cy="1382713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37" name="AutoShape 11"/>
          <p:cNvSpPr>
            <a:spLocks noChangeArrowheads="1"/>
          </p:cNvSpPr>
          <p:nvPr/>
        </p:nvSpPr>
        <p:spPr bwMode="auto">
          <a:xfrm rot="8001415">
            <a:off x="7631114" y="2828733"/>
            <a:ext cx="396875" cy="447675"/>
          </a:xfrm>
          <a:prstGeom prst="rtTriangle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7" name="Text Box 12"/>
          <p:cNvSpPr txBox="1">
            <a:spLocks noChangeArrowheads="1"/>
          </p:cNvSpPr>
          <p:nvPr/>
        </p:nvSpPr>
        <p:spPr bwMode="auto">
          <a:xfrm>
            <a:off x="2097089" y="3919345"/>
            <a:ext cx="10874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zh-CN" sz="2000" b="1"/>
          </a:p>
        </p:txBody>
      </p:sp>
      <p:sp>
        <p:nvSpPr>
          <p:cNvPr id="74765" name="AutoShape 13"/>
          <p:cNvSpPr>
            <a:spLocks noChangeArrowheads="1"/>
          </p:cNvSpPr>
          <p:nvPr/>
        </p:nvSpPr>
        <p:spPr bwMode="auto">
          <a:xfrm>
            <a:off x="8524875" y="1516167"/>
            <a:ext cx="1790700" cy="923330"/>
          </a:xfrm>
          <a:prstGeom prst="wedgeRectCallout">
            <a:avLst>
              <a:gd name="adj1" fmla="val -81148"/>
              <a:gd name="adj2" fmla="val 81685"/>
            </a:avLst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</a:rPr>
              <a:t>物体位置改变，投影大小也改变。</a:t>
            </a:r>
          </a:p>
        </p:txBody>
      </p:sp>
      <p:grpSp>
        <p:nvGrpSpPr>
          <p:cNvPr id="11279" name="Group 14"/>
          <p:cNvGrpSpPr>
            <a:grpSpLocks/>
          </p:cNvGrpSpPr>
          <p:nvPr/>
        </p:nvGrpSpPr>
        <p:grpSpPr bwMode="auto">
          <a:xfrm>
            <a:off x="2063751" y="1954019"/>
            <a:ext cx="4837113" cy="3108325"/>
            <a:chOff x="340" y="632"/>
            <a:chExt cx="3047" cy="1958"/>
          </a:xfrm>
        </p:grpSpPr>
        <p:sp>
          <p:nvSpPr>
            <p:cNvPr id="2" name="AutoShape 15"/>
            <p:cNvSpPr>
              <a:spLocks noChangeArrowheads="1"/>
            </p:cNvSpPr>
            <p:nvPr/>
          </p:nvSpPr>
          <p:spPr bwMode="auto">
            <a:xfrm>
              <a:off x="1046" y="1925"/>
              <a:ext cx="1613" cy="665"/>
            </a:xfrm>
            <a:prstGeom prst="parallelogram">
              <a:avLst>
                <a:gd name="adj" fmla="val 60639"/>
              </a:avLst>
            </a:prstGeom>
            <a:gradFill>
              <a:gsLst>
                <a:gs pos="0">
                  <a:srgbClr val="5E9EFF">
                    <a:alpha val="65000"/>
                  </a:srgbClr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284" name="Freeform 16"/>
            <p:cNvSpPr>
              <a:spLocks/>
            </p:cNvSpPr>
            <p:nvPr/>
          </p:nvSpPr>
          <p:spPr bwMode="auto">
            <a:xfrm>
              <a:off x="1773" y="823"/>
              <a:ext cx="418" cy="1481"/>
            </a:xfrm>
            <a:custGeom>
              <a:avLst/>
              <a:gdLst>
                <a:gd name="T0" fmla="*/ 4949 w 382"/>
                <a:gd name="T1" fmla="*/ 630360 h 1236"/>
                <a:gd name="T2" fmla="*/ 0 w 382"/>
                <a:gd name="T3" fmla="*/ 0 h 1236"/>
                <a:gd name="T4" fmla="*/ 0 60000 65536"/>
                <a:gd name="T5" fmla="*/ 0 60000 65536"/>
                <a:gd name="T6" fmla="*/ 0 w 382"/>
                <a:gd name="T7" fmla="*/ 0 h 1236"/>
                <a:gd name="T8" fmla="*/ 382 w 382"/>
                <a:gd name="T9" fmla="*/ 1236 h 12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2" h="1236">
                  <a:moveTo>
                    <a:pt x="382" y="123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85" name="Freeform 17"/>
            <p:cNvSpPr>
              <a:spLocks/>
            </p:cNvSpPr>
            <p:nvPr/>
          </p:nvSpPr>
          <p:spPr bwMode="auto">
            <a:xfrm>
              <a:off x="1776" y="823"/>
              <a:ext cx="81" cy="1134"/>
            </a:xfrm>
            <a:custGeom>
              <a:avLst/>
              <a:gdLst>
                <a:gd name="T0" fmla="*/ 5 w 90"/>
                <a:gd name="T1" fmla="*/ 2 h 1466"/>
                <a:gd name="T2" fmla="*/ 0 w 90"/>
                <a:gd name="T3" fmla="*/ 0 h 1466"/>
                <a:gd name="T4" fmla="*/ 0 60000 65536"/>
                <a:gd name="T5" fmla="*/ 0 60000 65536"/>
                <a:gd name="T6" fmla="*/ 0 w 90"/>
                <a:gd name="T7" fmla="*/ 0 h 1466"/>
                <a:gd name="T8" fmla="*/ 90 w 90"/>
                <a:gd name="T9" fmla="*/ 1466 h 14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0" h="1466">
                  <a:moveTo>
                    <a:pt x="90" y="146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6" name="AutoShape 18"/>
            <p:cNvSpPr>
              <a:spLocks noChangeArrowheads="1"/>
            </p:cNvSpPr>
            <p:nvPr/>
          </p:nvSpPr>
          <p:spPr bwMode="auto">
            <a:xfrm rot="8124713">
              <a:off x="1520" y="2086"/>
              <a:ext cx="586" cy="483"/>
            </a:xfrm>
            <a:prstGeom prst="rtTriangl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7" name="AutoShape 19"/>
            <p:cNvSpPr>
              <a:spLocks noChangeArrowheads="1"/>
            </p:cNvSpPr>
            <p:nvPr/>
          </p:nvSpPr>
          <p:spPr bwMode="auto">
            <a:xfrm>
              <a:off x="2510" y="832"/>
              <a:ext cx="877" cy="233"/>
            </a:xfrm>
            <a:prstGeom prst="wedgeRectCallout">
              <a:avLst>
                <a:gd name="adj1" fmla="val -121722"/>
                <a:gd name="adj2" fmla="val 83398"/>
              </a:avLst>
            </a:prstGeom>
            <a:solidFill>
              <a:srgbClr val="CC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b="1"/>
                <a:t>投射线</a:t>
              </a:r>
            </a:p>
          </p:txBody>
        </p:sp>
        <p:sp>
          <p:nvSpPr>
            <p:cNvPr id="11288" name="AutoShape 20"/>
            <p:cNvSpPr>
              <a:spLocks noChangeArrowheads="1"/>
            </p:cNvSpPr>
            <p:nvPr/>
          </p:nvSpPr>
          <p:spPr bwMode="auto">
            <a:xfrm rot="7979327">
              <a:off x="1651" y="1444"/>
              <a:ext cx="289" cy="235"/>
            </a:xfrm>
            <a:prstGeom prst="rtTriangl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9" name="AutoShape 21"/>
            <p:cNvSpPr>
              <a:spLocks noChangeArrowheads="1"/>
            </p:cNvSpPr>
            <p:nvPr/>
          </p:nvSpPr>
          <p:spPr bwMode="auto">
            <a:xfrm>
              <a:off x="799" y="1230"/>
              <a:ext cx="433" cy="279"/>
            </a:xfrm>
            <a:prstGeom prst="wedgeRoundRectCallout">
              <a:avLst>
                <a:gd name="adj1" fmla="val 117713"/>
                <a:gd name="adj2" fmla="val 59870"/>
                <a:gd name="adj3" fmla="val 16667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1"/>
                <a:t>物体</a:t>
              </a:r>
              <a:endParaRPr lang="zh-CN" altLang="en-US" sz="2000" b="1"/>
            </a:p>
          </p:txBody>
        </p:sp>
        <p:sp>
          <p:nvSpPr>
            <p:cNvPr id="11290" name="AutoShape 22"/>
            <p:cNvSpPr>
              <a:spLocks noChangeArrowheads="1"/>
            </p:cNvSpPr>
            <p:nvPr/>
          </p:nvSpPr>
          <p:spPr bwMode="auto">
            <a:xfrm>
              <a:off x="340" y="1889"/>
              <a:ext cx="706" cy="233"/>
            </a:xfrm>
            <a:prstGeom prst="wedgeRectCallout">
              <a:avLst>
                <a:gd name="adj1" fmla="val 76347"/>
                <a:gd name="adj2" fmla="val 148639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b="1"/>
                <a:t>投影面</a:t>
              </a:r>
            </a:p>
          </p:txBody>
        </p:sp>
        <p:sp>
          <p:nvSpPr>
            <p:cNvPr id="11291" name="AutoShape 23"/>
            <p:cNvSpPr>
              <a:spLocks noChangeArrowheads="1"/>
            </p:cNvSpPr>
            <p:nvPr/>
          </p:nvSpPr>
          <p:spPr bwMode="auto">
            <a:xfrm>
              <a:off x="2406" y="1431"/>
              <a:ext cx="433" cy="257"/>
            </a:xfrm>
            <a:prstGeom prst="wedgeRoundRectCallout">
              <a:avLst>
                <a:gd name="adj1" fmla="val -109481"/>
                <a:gd name="adj2" fmla="val 199681"/>
                <a:gd name="adj3" fmla="val 16667"/>
              </a:avLst>
            </a:prstGeom>
            <a:solidFill>
              <a:srgbClr val="FFCC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b="1"/>
                <a:t>投影</a:t>
              </a:r>
            </a:p>
          </p:txBody>
        </p:sp>
        <p:sp>
          <p:nvSpPr>
            <p:cNvPr id="37907" name="AutoShape 24"/>
            <p:cNvSpPr>
              <a:spLocks noChangeArrowheads="1"/>
            </p:cNvSpPr>
            <p:nvPr/>
          </p:nvSpPr>
          <p:spPr bwMode="auto">
            <a:xfrm>
              <a:off x="445" y="632"/>
              <a:ext cx="961" cy="233"/>
            </a:xfrm>
            <a:prstGeom prst="wedgeRectCallout">
              <a:avLst>
                <a:gd name="adj1" fmla="val 83505"/>
                <a:gd name="adj2" fmla="val 27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r>
                <a:rPr lang="zh-CN" altLang="en-US" b="1" dirty="0"/>
                <a:t>投射中心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1280" name="Freeform 25"/>
          <p:cNvSpPr>
            <a:spLocks/>
          </p:cNvSpPr>
          <p:nvPr/>
        </p:nvSpPr>
        <p:spPr bwMode="auto">
          <a:xfrm>
            <a:off x="3803650" y="2257233"/>
            <a:ext cx="539750" cy="2454275"/>
          </a:xfrm>
          <a:custGeom>
            <a:avLst/>
            <a:gdLst>
              <a:gd name="T0" fmla="*/ 0 w 289"/>
              <a:gd name="T1" fmla="*/ 2147483647 h 1340"/>
              <a:gd name="T2" fmla="*/ 2147483647 w 289"/>
              <a:gd name="T3" fmla="*/ 0 h 1340"/>
              <a:gd name="T4" fmla="*/ 0 60000 65536"/>
              <a:gd name="T5" fmla="*/ 0 60000 65536"/>
              <a:gd name="T6" fmla="*/ 0 w 289"/>
              <a:gd name="T7" fmla="*/ 0 h 1340"/>
              <a:gd name="T8" fmla="*/ 289 w 289"/>
              <a:gd name="T9" fmla="*/ 1340 h 13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9" h="1340">
                <a:moveTo>
                  <a:pt x="0" y="1340"/>
                </a:moveTo>
                <a:lnTo>
                  <a:pt x="289" y="0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28"/>
          <p:cNvSpPr txBox="1">
            <a:spLocks noChangeArrowheads="1"/>
          </p:cNvSpPr>
          <p:nvPr/>
        </p:nvSpPr>
        <p:spPr bwMode="auto">
          <a:xfrm>
            <a:off x="2740150" y="467962"/>
            <a:ext cx="64521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投影法的基本概念、分类投影特性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 tmFilter="0, 0; .2, .5; .8, .5; 1, 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autoRev="1" fill="hold"/>
                                        <p:tgtEl>
                                          <p:spTgt spid="389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5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7" dur="1000" fill="hold"/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  <p:bldP spid="74756" grpId="0" animBg="1" autoUpdateAnimBg="0"/>
      <p:bldP spid="38936" grpId="0" animBg="1"/>
      <p:bldP spid="38937" grpId="0" animBg="1"/>
      <p:bldP spid="7476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3810000" y="5282044"/>
            <a:ext cx="3581400" cy="523220"/>
          </a:xfrm>
          <a:prstGeom prst="rect">
            <a:avLst/>
          </a:prstGeom>
          <a:solidFill>
            <a:srgbClr val="FFC000"/>
          </a:solidFill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投  影  特  性</a:t>
            </a:r>
            <a:endParaRPr lang="zh-CN" altLang="en-US" sz="2800" b="1" dirty="0"/>
          </a:p>
        </p:txBody>
      </p:sp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2024062" y="5771949"/>
            <a:ext cx="8929688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宋体" charset="-122"/>
                <a:ea typeface="宋体" charset="-122"/>
              </a:rPr>
              <a:t>    </a:t>
            </a:r>
            <a:r>
              <a:rPr lang="zh-CN" altLang="en-US" sz="2400" b="1" dirty="0">
                <a:latin typeface="宋体" charset="-122"/>
                <a:ea typeface="宋体" charset="-122"/>
              </a:rPr>
              <a:t>投影大小与物体和投影面之间的距离无关。</a:t>
            </a:r>
          </a:p>
          <a:p>
            <a:pPr>
              <a:defRPr/>
            </a:pPr>
            <a:r>
              <a:rPr lang="zh-CN" altLang="en-US" sz="2400" b="1" dirty="0">
                <a:solidFill>
                  <a:srgbClr val="FF3300"/>
                </a:solidFill>
                <a:latin typeface="宋体" charset="-122"/>
                <a:ea typeface="宋体" charset="-122"/>
              </a:rPr>
              <a:t>度量性较好。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70200" y="1948332"/>
            <a:ext cx="2819775" cy="2206718"/>
            <a:chOff x="1382" y="805"/>
            <a:chExt cx="1398" cy="1109"/>
          </a:xfrm>
        </p:grpSpPr>
        <p:sp>
          <p:nvSpPr>
            <p:cNvPr id="4" name="AutoShape 6"/>
            <p:cNvSpPr>
              <a:spLocks noChangeArrowheads="1"/>
            </p:cNvSpPr>
            <p:nvPr/>
          </p:nvSpPr>
          <p:spPr bwMode="auto">
            <a:xfrm>
              <a:off x="1382" y="1296"/>
              <a:ext cx="1398" cy="503"/>
            </a:xfrm>
            <a:prstGeom prst="parallelogram">
              <a:avLst>
                <a:gd name="adj" fmla="val 58415"/>
              </a:avLst>
            </a:prstGeom>
            <a:gradFill>
              <a:gsLst>
                <a:gs pos="0">
                  <a:srgbClr val="5E9EFF">
                    <a:alpha val="65000"/>
                  </a:srgbClr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309" name="Freeform 7"/>
            <p:cNvSpPr>
              <a:spLocks/>
            </p:cNvSpPr>
            <p:nvPr/>
          </p:nvSpPr>
          <p:spPr bwMode="auto">
            <a:xfrm>
              <a:off x="2088" y="865"/>
              <a:ext cx="0" cy="416"/>
            </a:xfrm>
            <a:custGeom>
              <a:avLst/>
              <a:gdLst>
                <a:gd name="T0" fmla="*/ 0 w 1"/>
                <a:gd name="T1" fmla="*/ 123973 h 858"/>
                <a:gd name="T2" fmla="*/ 0 w 1"/>
                <a:gd name="T3" fmla="*/ 0 h 858"/>
                <a:gd name="T4" fmla="*/ 0 60000 65536"/>
                <a:gd name="T5" fmla="*/ 0 60000 65536"/>
                <a:gd name="T6" fmla="*/ 0 w 1"/>
                <a:gd name="T7" fmla="*/ 0 h 858"/>
                <a:gd name="T8" fmla="*/ 1 w 1"/>
                <a:gd name="T9" fmla="*/ 858 h 85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58">
                  <a:moveTo>
                    <a:pt x="0" y="85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10" name="AutoShape 8"/>
            <p:cNvSpPr>
              <a:spLocks noChangeArrowheads="1"/>
            </p:cNvSpPr>
            <p:nvPr/>
          </p:nvSpPr>
          <p:spPr bwMode="auto">
            <a:xfrm rot="8665659">
              <a:off x="1827" y="805"/>
              <a:ext cx="473" cy="552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11" name="Freeform 9"/>
            <p:cNvSpPr>
              <a:spLocks/>
            </p:cNvSpPr>
            <p:nvPr/>
          </p:nvSpPr>
          <p:spPr bwMode="auto">
            <a:xfrm>
              <a:off x="2413" y="1161"/>
              <a:ext cx="0" cy="561"/>
            </a:xfrm>
            <a:custGeom>
              <a:avLst/>
              <a:gdLst>
                <a:gd name="T0" fmla="*/ 8281 w 4"/>
                <a:gd name="T1" fmla="*/ 142675 h 981"/>
                <a:gd name="T2" fmla="*/ 0 w 4"/>
                <a:gd name="T3" fmla="*/ 0 h 981"/>
                <a:gd name="T4" fmla="*/ 0 60000 65536"/>
                <a:gd name="T5" fmla="*/ 0 60000 65536"/>
                <a:gd name="T6" fmla="*/ 0 w 4"/>
                <a:gd name="T7" fmla="*/ 0 h 981"/>
                <a:gd name="T8" fmla="*/ 4 w 4"/>
                <a:gd name="T9" fmla="*/ 981 h 98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981">
                  <a:moveTo>
                    <a:pt x="4" y="98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2" name="Freeform 10"/>
            <p:cNvSpPr>
              <a:spLocks/>
            </p:cNvSpPr>
            <p:nvPr/>
          </p:nvSpPr>
          <p:spPr bwMode="auto">
            <a:xfrm>
              <a:off x="1721" y="996"/>
              <a:ext cx="0" cy="561"/>
            </a:xfrm>
            <a:custGeom>
              <a:avLst/>
              <a:gdLst>
                <a:gd name="T0" fmla="*/ 0 w 1"/>
                <a:gd name="T1" fmla="*/ 107513 h 739"/>
                <a:gd name="T2" fmla="*/ 0 w 1"/>
                <a:gd name="T3" fmla="*/ 0 h 739"/>
                <a:gd name="T4" fmla="*/ 0 60000 65536"/>
                <a:gd name="T5" fmla="*/ 0 60000 65536"/>
                <a:gd name="T6" fmla="*/ 0 w 1"/>
                <a:gd name="T7" fmla="*/ 0 h 739"/>
                <a:gd name="T8" fmla="*/ 1 w 1"/>
                <a:gd name="T9" fmla="*/ 739 h 73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39">
                  <a:moveTo>
                    <a:pt x="0" y="739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13" name="AutoShape 11"/>
            <p:cNvSpPr>
              <a:spLocks noChangeArrowheads="1"/>
            </p:cNvSpPr>
            <p:nvPr/>
          </p:nvSpPr>
          <p:spPr bwMode="auto">
            <a:xfrm rot="8665659">
              <a:off x="1827" y="1362"/>
              <a:ext cx="473" cy="552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148388" y="1296231"/>
            <a:ext cx="2819400" cy="2808877"/>
            <a:chOff x="4066" y="545"/>
            <a:chExt cx="1375" cy="1393"/>
          </a:xfrm>
        </p:grpSpPr>
        <p:sp>
          <p:nvSpPr>
            <p:cNvPr id="12298" name="AutoShape 13"/>
            <p:cNvSpPr>
              <a:spLocks noChangeArrowheads="1"/>
            </p:cNvSpPr>
            <p:nvPr/>
          </p:nvSpPr>
          <p:spPr bwMode="auto">
            <a:xfrm>
              <a:off x="4066" y="1339"/>
              <a:ext cx="1375" cy="522"/>
            </a:xfrm>
            <a:prstGeom prst="parallelogram">
              <a:avLst>
                <a:gd name="adj" fmla="val 59165"/>
              </a:avLst>
            </a:prstGeom>
            <a:gradFill>
              <a:gsLst>
                <a:gs pos="0">
                  <a:srgbClr val="5E9EFF">
                    <a:alpha val="65000"/>
                  </a:srgbClr>
                </a:gs>
                <a:gs pos="39999">
                  <a:srgbClr val="85C2FF"/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2301" name="Line 14"/>
            <p:cNvSpPr>
              <a:spLocks noChangeShapeType="1"/>
            </p:cNvSpPr>
            <p:nvPr/>
          </p:nvSpPr>
          <p:spPr bwMode="auto">
            <a:xfrm flipV="1">
              <a:off x="5057" y="821"/>
              <a:ext cx="343" cy="92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02" name="Line 15"/>
            <p:cNvSpPr>
              <a:spLocks noChangeShapeType="1"/>
            </p:cNvSpPr>
            <p:nvPr/>
          </p:nvSpPr>
          <p:spPr bwMode="auto">
            <a:xfrm flipV="1">
              <a:off x="4679" y="545"/>
              <a:ext cx="342" cy="92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03" name="Line 16"/>
            <p:cNvSpPr>
              <a:spLocks noChangeShapeType="1"/>
            </p:cNvSpPr>
            <p:nvPr/>
          </p:nvSpPr>
          <p:spPr bwMode="auto">
            <a:xfrm flipV="1">
              <a:off x="4365" y="664"/>
              <a:ext cx="342" cy="92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04" name="AutoShape 17"/>
            <p:cNvSpPr>
              <a:spLocks noChangeArrowheads="1"/>
            </p:cNvSpPr>
            <p:nvPr/>
          </p:nvSpPr>
          <p:spPr bwMode="auto">
            <a:xfrm rot="8665659">
              <a:off x="4476" y="1393"/>
              <a:ext cx="473" cy="545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305" name="AutoShape 18"/>
            <p:cNvSpPr>
              <a:spLocks noChangeArrowheads="1"/>
            </p:cNvSpPr>
            <p:nvPr/>
          </p:nvSpPr>
          <p:spPr bwMode="auto">
            <a:xfrm rot="8665659">
              <a:off x="4658" y="901"/>
              <a:ext cx="472" cy="545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5795" name="Text Box 19"/>
          <p:cNvSpPr txBox="1">
            <a:spLocks noChangeArrowheads="1"/>
          </p:cNvSpPr>
          <p:nvPr/>
        </p:nvSpPr>
        <p:spPr bwMode="auto">
          <a:xfrm>
            <a:off x="4095750" y="6083513"/>
            <a:ext cx="6357938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3399"/>
                </a:solidFill>
                <a:latin typeface="宋体" pitchFamily="2" charset="-122"/>
              </a:rPr>
              <a:t>工程图样多数采用正投影法绘制。</a:t>
            </a: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1524000" y="4218519"/>
            <a:ext cx="8929688" cy="83099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266700" eaLnBrk="0" hangingPunct="0"/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平行投影法概念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: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  </a:t>
            </a:r>
            <a:endParaRPr lang="zh-CN" altLang="en-US" sz="2400" b="1" dirty="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  <a:p>
            <a:pPr indent="266700" eaLnBrk="0" hangingPunct="0"/>
            <a:r>
              <a:rPr lang="zh-CN" altLang="en-US" sz="2400" b="1" dirty="0">
                <a:latin typeface="黑体" pitchFamily="49" charset="-122"/>
                <a:ea typeface="黑体" pitchFamily="49" charset="-122"/>
                <a:cs typeface="Times New Roman" pitchFamily="18" charset="0"/>
              </a:rPr>
              <a:t>投射线相互平行的投影法称为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平行投影法</a:t>
            </a:r>
            <a:endParaRPr lang="zh-CN" altLang="en-US" sz="24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666876" y="4217134"/>
            <a:ext cx="8786813" cy="83099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斜投影法：投射线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投射方向</a:t>
            </a:r>
            <a:r>
              <a:rPr lang="en-US" altLang="zh-CN" sz="2400" b="1" i="1" dirty="0">
                <a:latin typeface="黑体" pitchFamily="49" charset="-122"/>
                <a:ea typeface="黑体" pitchFamily="49" charset="-122"/>
              </a:rPr>
              <a:t>S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与投影面</a:t>
            </a:r>
            <a:r>
              <a:rPr lang="en-US" altLang="zh-CN" sz="2400" b="1" i="1" dirty="0">
                <a:latin typeface="黑体" pitchFamily="49" charset="-122"/>
                <a:ea typeface="黑体" pitchFamily="49" charset="-122"/>
              </a:rPr>
              <a:t>P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相倾斜的平行投影法，称为斜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投影法</a:t>
            </a:r>
          </a:p>
        </p:txBody>
      </p:sp>
      <p:sp>
        <p:nvSpPr>
          <p:cNvPr id="12297" name="Text Box 2"/>
          <p:cNvSpPr txBox="1">
            <a:spLocks noChangeArrowheads="1"/>
          </p:cNvSpPr>
          <p:nvPr/>
        </p:nvSpPr>
        <p:spPr bwMode="auto">
          <a:xfrm>
            <a:off x="1466035" y="1213957"/>
            <a:ext cx="3037941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800" b="1" dirty="0"/>
              <a:t>平 行 投 影 法</a:t>
            </a:r>
          </a:p>
        </p:txBody>
      </p:sp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2740150" y="467962"/>
            <a:ext cx="64521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投影法的基本概念、分类投影特性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animBg="1"/>
      <p:bldP spid="75780" grpId="0" animBg="1" autoUpdateAnimBg="0"/>
      <p:bldP spid="75795" grpId="0" build="p" autoUpdateAnimBg="0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238216" y="2071678"/>
            <a:ext cx="25717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266700" eaLnBrk="0" hangingPunct="0"/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．实形性</a:t>
            </a:r>
            <a:endParaRPr lang="zh-CN" altLang="en-US" sz="2400" dirty="0">
              <a:latin typeface="黑体" pitchFamily="49" charset="-122"/>
              <a:ea typeface="黑体" pitchFamily="49" charset="-122"/>
              <a:cs typeface="Times New Roman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18536" y="2739089"/>
            <a:ext cx="2311720" cy="2182486"/>
            <a:chOff x="1412" y="713"/>
            <a:chExt cx="1439" cy="1235"/>
          </a:xfrm>
        </p:grpSpPr>
        <p:sp>
          <p:nvSpPr>
            <p:cNvPr id="14341" name="AutoShape 6"/>
            <p:cNvSpPr>
              <a:spLocks noChangeArrowheads="1"/>
            </p:cNvSpPr>
            <p:nvPr/>
          </p:nvSpPr>
          <p:spPr bwMode="auto">
            <a:xfrm>
              <a:off x="1412" y="1244"/>
              <a:ext cx="1439" cy="574"/>
            </a:xfrm>
            <a:prstGeom prst="parallelogram">
              <a:avLst>
                <a:gd name="adj" fmla="val 58415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2" name="Freeform 7"/>
            <p:cNvSpPr>
              <a:spLocks/>
            </p:cNvSpPr>
            <p:nvPr/>
          </p:nvSpPr>
          <p:spPr bwMode="auto">
            <a:xfrm>
              <a:off x="2056" y="713"/>
              <a:ext cx="0" cy="550"/>
            </a:xfrm>
            <a:custGeom>
              <a:avLst/>
              <a:gdLst>
                <a:gd name="T0" fmla="*/ 0 w 1"/>
                <a:gd name="T1" fmla="*/ 107552 h 858"/>
                <a:gd name="T2" fmla="*/ 0 w 1"/>
                <a:gd name="T3" fmla="*/ 0 h 858"/>
                <a:gd name="T4" fmla="*/ 0 60000 65536"/>
                <a:gd name="T5" fmla="*/ 0 60000 65536"/>
                <a:gd name="T6" fmla="*/ 0 w 1"/>
                <a:gd name="T7" fmla="*/ 0 h 858"/>
                <a:gd name="T8" fmla="*/ 1 w 1"/>
                <a:gd name="T9" fmla="*/ 858 h 85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58">
                  <a:moveTo>
                    <a:pt x="0" y="858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3" name="AutoShape 8"/>
            <p:cNvSpPr>
              <a:spLocks noChangeArrowheads="1"/>
            </p:cNvSpPr>
            <p:nvPr/>
          </p:nvSpPr>
          <p:spPr bwMode="auto">
            <a:xfrm rot="8665659">
              <a:off x="1827" y="770"/>
              <a:ext cx="473" cy="621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4" name="Freeform 9"/>
            <p:cNvSpPr>
              <a:spLocks/>
            </p:cNvSpPr>
            <p:nvPr/>
          </p:nvSpPr>
          <p:spPr bwMode="auto">
            <a:xfrm>
              <a:off x="2454" y="1208"/>
              <a:ext cx="0" cy="550"/>
            </a:xfrm>
            <a:custGeom>
              <a:avLst/>
              <a:gdLst>
                <a:gd name="T0" fmla="*/ 6625 w 4"/>
                <a:gd name="T1" fmla="*/ 123753 h 981"/>
                <a:gd name="T2" fmla="*/ 0 w 4"/>
                <a:gd name="T3" fmla="*/ 0 h 981"/>
                <a:gd name="T4" fmla="*/ 0 60000 65536"/>
                <a:gd name="T5" fmla="*/ 0 60000 65536"/>
                <a:gd name="T6" fmla="*/ 0 w 4"/>
                <a:gd name="T7" fmla="*/ 0 h 981"/>
                <a:gd name="T8" fmla="*/ 4 w 4"/>
                <a:gd name="T9" fmla="*/ 981 h 98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981">
                  <a:moveTo>
                    <a:pt x="4" y="98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5" name="Freeform 10"/>
            <p:cNvSpPr>
              <a:spLocks/>
            </p:cNvSpPr>
            <p:nvPr/>
          </p:nvSpPr>
          <p:spPr bwMode="auto">
            <a:xfrm>
              <a:off x="1671" y="922"/>
              <a:ext cx="0" cy="591"/>
            </a:xfrm>
            <a:custGeom>
              <a:avLst/>
              <a:gdLst>
                <a:gd name="T0" fmla="*/ 0 w 1"/>
                <a:gd name="T1" fmla="*/ 93254 h 739"/>
                <a:gd name="T2" fmla="*/ 0 w 1"/>
                <a:gd name="T3" fmla="*/ 0 h 739"/>
                <a:gd name="T4" fmla="*/ 0 60000 65536"/>
                <a:gd name="T5" fmla="*/ 0 60000 65536"/>
                <a:gd name="T6" fmla="*/ 0 w 1"/>
                <a:gd name="T7" fmla="*/ 0 h 739"/>
                <a:gd name="T8" fmla="*/ 1 w 1"/>
                <a:gd name="T9" fmla="*/ 739 h 73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39">
                  <a:moveTo>
                    <a:pt x="0" y="739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46" name="AutoShape 11"/>
            <p:cNvSpPr>
              <a:spLocks noChangeArrowheads="1"/>
            </p:cNvSpPr>
            <p:nvPr/>
          </p:nvSpPr>
          <p:spPr bwMode="auto">
            <a:xfrm rot="8665659">
              <a:off x="1827" y="1327"/>
              <a:ext cx="473" cy="621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1095340" y="1357298"/>
            <a:ext cx="4012481" cy="523220"/>
          </a:xfrm>
          <a:prstGeom prst="rect">
            <a:avLst/>
          </a:prstGeom>
          <a:solidFill>
            <a:srgbClr val="FFC000"/>
          </a:solidFill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800" b="1" dirty="0">
                <a:latin typeface="+mn-ea"/>
                <a:ea typeface="+mn-ea"/>
              </a:rPr>
              <a:t>平行投影法投影特性</a:t>
            </a: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1238216" y="2714620"/>
            <a:ext cx="28003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57175" eaLnBrk="0" hangingPunct="0">
              <a:defRPr/>
            </a:pPr>
            <a:r>
              <a:rPr lang="en-US" altLang="zh-CN" sz="2400" b="1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．积聚性</a:t>
            </a:r>
            <a:endParaRPr lang="zh-CN" altLang="en-US" sz="2400" b="1" dirty="0"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13" name="Group 5"/>
          <p:cNvGrpSpPr>
            <a:grpSpLocks/>
          </p:cNvGrpSpPr>
          <p:nvPr/>
        </p:nvGrpSpPr>
        <p:grpSpPr bwMode="auto">
          <a:xfrm>
            <a:off x="4167174" y="2143116"/>
            <a:ext cx="2800347" cy="2556187"/>
            <a:chOff x="1277" y="473"/>
            <a:chExt cx="1638" cy="1325"/>
          </a:xfrm>
        </p:grpSpPr>
        <p:sp>
          <p:nvSpPr>
            <p:cNvPr id="14" name="AutoShape 6"/>
            <p:cNvSpPr>
              <a:spLocks noChangeArrowheads="1"/>
            </p:cNvSpPr>
            <p:nvPr/>
          </p:nvSpPr>
          <p:spPr bwMode="auto">
            <a:xfrm>
              <a:off x="1277" y="1221"/>
              <a:ext cx="1638" cy="577"/>
            </a:xfrm>
            <a:prstGeom prst="parallelogram">
              <a:avLst>
                <a:gd name="adj" fmla="val 58415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AutoShape 8"/>
            <p:cNvSpPr>
              <a:spLocks noChangeArrowheads="1"/>
            </p:cNvSpPr>
            <p:nvPr/>
          </p:nvSpPr>
          <p:spPr bwMode="auto">
            <a:xfrm rot="1009616">
              <a:off x="1790" y="473"/>
              <a:ext cx="854" cy="708"/>
            </a:xfrm>
            <a:prstGeom prst="rtTriangl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cxnSp>
        <p:nvCxnSpPr>
          <p:cNvPr id="21" name="直接连接符 20"/>
          <p:cNvCxnSpPr/>
          <p:nvPr/>
        </p:nvCxnSpPr>
        <p:spPr>
          <a:xfrm rot="5400000">
            <a:off x="4560114" y="3578814"/>
            <a:ext cx="648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rot="16200000" flipH="1" flipV="1">
            <a:off x="4214109" y="2991044"/>
            <a:ext cx="212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rot="16200000" flipH="1">
            <a:off x="5910657" y="4008247"/>
            <a:ext cx="691271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cxnSpLocks/>
          </p:cNvCxnSpPr>
          <p:nvPr/>
        </p:nvCxnSpPr>
        <p:spPr>
          <a:xfrm flipH="1" flipV="1">
            <a:off x="4890465" y="3900003"/>
            <a:ext cx="1365826" cy="45388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"/>
          <p:cNvSpPr>
            <a:spLocks noChangeArrowheads="1"/>
          </p:cNvSpPr>
          <p:nvPr/>
        </p:nvSpPr>
        <p:spPr bwMode="auto">
          <a:xfrm>
            <a:off x="1238216" y="4214818"/>
            <a:ext cx="39591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57175" eaLnBrk="0" hangingPunct="0"/>
            <a:r>
              <a:rPr lang="en-US" altLang="zh-CN" sz="2400" b="1" dirty="0">
                <a:latin typeface="+mn-ea"/>
                <a:ea typeface="+mn-ea"/>
              </a:rPr>
              <a:t>4</a:t>
            </a:r>
            <a:r>
              <a:rPr lang="zh-CN" altLang="en-US" sz="2400" b="1" dirty="0">
                <a:latin typeface="+mn-ea"/>
                <a:ea typeface="+mn-ea"/>
              </a:rPr>
              <a:t>．仿射性</a:t>
            </a:r>
            <a:endParaRPr lang="zh-CN" altLang="en-US" sz="2400" b="1" dirty="0"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45" name="AutoShape 13"/>
          <p:cNvSpPr>
            <a:spLocks noChangeArrowheads="1"/>
          </p:cNvSpPr>
          <p:nvPr/>
        </p:nvSpPr>
        <p:spPr bwMode="auto">
          <a:xfrm>
            <a:off x="7310446" y="3429000"/>
            <a:ext cx="3198066" cy="1269243"/>
          </a:xfrm>
          <a:prstGeom prst="parallelogram">
            <a:avLst>
              <a:gd name="adj" fmla="val 59165"/>
            </a:avLst>
          </a:prstGeom>
          <a:gradFill>
            <a:gsLst>
              <a:gs pos="0">
                <a:srgbClr val="5E9EFF">
                  <a:alpha val="65000"/>
                </a:srgbClr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51" name="等腰三角形 50"/>
          <p:cNvSpPr/>
          <p:nvPr/>
        </p:nvSpPr>
        <p:spPr>
          <a:xfrm rot="2401399">
            <a:off x="8226361" y="3644789"/>
            <a:ext cx="1440446" cy="559742"/>
          </a:xfrm>
          <a:prstGeom prst="triangle">
            <a:avLst>
              <a:gd name="adj" fmla="val 51570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等腰三角形 51"/>
          <p:cNvSpPr/>
          <p:nvPr/>
        </p:nvSpPr>
        <p:spPr>
          <a:xfrm rot="2401399">
            <a:off x="8334367" y="2251450"/>
            <a:ext cx="1440446" cy="831142"/>
          </a:xfrm>
          <a:prstGeom prst="triangle">
            <a:avLst>
              <a:gd name="adj" fmla="val 33553"/>
            </a:avLst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连接符 53"/>
          <p:cNvCxnSpPr/>
          <p:nvPr/>
        </p:nvCxnSpPr>
        <p:spPr>
          <a:xfrm rot="5400000">
            <a:off x="7648573" y="3086807"/>
            <a:ext cx="1153722" cy="207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52" idx="0"/>
            <a:endCxn id="51" idx="0"/>
          </p:cNvCxnSpPr>
          <p:nvPr/>
        </p:nvCxnSpPr>
        <p:spPr>
          <a:xfrm rot="16200000" flipH="1">
            <a:off x="8377926" y="2958924"/>
            <a:ext cx="1528456" cy="346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rot="5340000">
            <a:off x="8751642" y="4014927"/>
            <a:ext cx="1153722" cy="207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2740150" y="467962"/>
            <a:ext cx="64521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投影法的基本概念、分类投影特性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DADDE2C8-5F66-4F04-93B2-DBD376F02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16" y="3429000"/>
            <a:ext cx="28003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57175" eaLnBrk="0" hangingPunct="0">
              <a:defRPr/>
            </a:pPr>
            <a:r>
              <a:rPr lang="en-US" altLang="zh-CN" sz="2400" b="1" dirty="0">
                <a:latin typeface="+mn-ea"/>
                <a:ea typeface="+mn-ea"/>
              </a:rPr>
              <a:t>3</a:t>
            </a:r>
            <a:r>
              <a:rPr lang="zh-CN" altLang="en-US" sz="2400" b="1" dirty="0">
                <a:latin typeface="+mn-ea"/>
                <a:ea typeface="+mn-ea"/>
              </a:rPr>
              <a:t>．同素性</a:t>
            </a:r>
            <a:endParaRPr lang="zh-CN" altLang="en-US" sz="2400" b="1" dirty="0">
              <a:latin typeface="+mn-ea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animBg="1"/>
      <p:bldP spid="12" grpId="0"/>
      <p:bldP spid="43" grpId="0"/>
      <p:bldP spid="45" grpId="0" animBg="1"/>
      <p:bldP spid="51" grpId="0" animBg="1"/>
      <p:bldP spid="52" grpId="0" animBg="1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Text Box 2"/>
          <p:cNvSpPr txBox="1">
            <a:spLocks noChangeArrowheads="1"/>
          </p:cNvSpPr>
          <p:nvPr/>
        </p:nvSpPr>
        <p:spPr bwMode="auto">
          <a:xfrm>
            <a:off x="1567651" y="1452691"/>
            <a:ext cx="3037941" cy="52322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800" b="1" dirty="0"/>
              <a:t>多面正投影</a:t>
            </a:r>
          </a:p>
        </p:txBody>
      </p:sp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2740150" y="467962"/>
            <a:ext cx="64521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投影法的基本概念、分类投影特性</a:t>
            </a:r>
          </a:p>
        </p:txBody>
      </p:sp>
      <p:sp>
        <p:nvSpPr>
          <p:cNvPr id="23" name="Text Box 2">
            <a:extLst>
              <a:ext uri="{FF2B5EF4-FFF2-40B4-BE49-F238E27FC236}">
                <a16:creationId xmlns:a16="http://schemas.microsoft.com/office/drawing/2014/main" id="{BBC916A4-E7CF-43ED-A5B2-90958FB0E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5186" y="3167390"/>
            <a:ext cx="4538016" cy="52322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三投影轴垂直相交于原点</a:t>
            </a:r>
            <a:r>
              <a:rPr lang="en-US" altLang="zh-CN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O</a:t>
            </a:r>
            <a:r>
              <a:rPr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. 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A4E84112-8612-483B-9F8F-F788AF8C3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0783" y="1870075"/>
            <a:ext cx="1943100" cy="1558925"/>
          </a:xfrm>
          <a:prstGeom prst="rect">
            <a:avLst/>
          </a:prstGeom>
          <a:solidFill>
            <a:srgbClr val="FFFF83"/>
          </a:solidFill>
          <a:ln w="9525">
            <a:solidFill>
              <a:srgbClr val="EF7123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0975F20D-005A-4B3E-A23B-0091E2131B64}"/>
              </a:ext>
            </a:extLst>
          </p:cNvPr>
          <p:cNvSpPr>
            <a:spLocks/>
          </p:cNvSpPr>
          <p:nvPr/>
        </p:nvSpPr>
        <p:spPr bwMode="auto">
          <a:xfrm>
            <a:off x="8128721" y="3432175"/>
            <a:ext cx="2749550" cy="625475"/>
          </a:xfrm>
          <a:custGeom>
            <a:avLst/>
            <a:gdLst>
              <a:gd name="T0" fmla="*/ 0 w 1568"/>
              <a:gd name="T1" fmla="*/ 0 h 356"/>
              <a:gd name="T2" fmla="*/ 2147483647 w 1568"/>
              <a:gd name="T3" fmla="*/ 2147483647 h 356"/>
              <a:gd name="T4" fmla="*/ 2147483647 w 1568"/>
              <a:gd name="T5" fmla="*/ 2147483647 h 356"/>
              <a:gd name="T6" fmla="*/ 2147483647 w 1568"/>
              <a:gd name="T7" fmla="*/ 2147483647 h 356"/>
              <a:gd name="T8" fmla="*/ 0 w 1568"/>
              <a:gd name="T9" fmla="*/ 0 h 3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68"/>
              <a:gd name="T16" fmla="*/ 0 h 356"/>
              <a:gd name="T17" fmla="*/ 1568 w 1568"/>
              <a:gd name="T18" fmla="*/ 356 h 3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68" h="356">
                <a:moveTo>
                  <a:pt x="0" y="0"/>
                </a:moveTo>
                <a:lnTo>
                  <a:pt x="1092" y="5"/>
                </a:lnTo>
                <a:lnTo>
                  <a:pt x="1568" y="356"/>
                </a:lnTo>
                <a:lnTo>
                  <a:pt x="513" y="356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7A82EE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8F3F5639-EACF-4620-A2F4-BB934F74E6ED}"/>
              </a:ext>
            </a:extLst>
          </p:cNvPr>
          <p:cNvSpPr>
            <a:spLocks/>
          </p:cNvSpPr>
          <p:nvPr/>
        </p:nvSpPr>
        <p:spPr bwMode="auto">
          <a:xfrm>
            <a:off x="10067058" y="1876425"/>
            <a:ext cx="831850" cy="2182813"/>
          </a:xfrm>
          <a:custGeom>
            <a:avLst/>
            <a:gdLst>
              <a:gd name="T0" fmla="*/ 0 w 288"/>
              <a:gd name="T1" fmla="*/ 2147483647 h 672"/>
              <a:gd name="T2" fmla="*/ 2147483647 w 288"/>
              <a:gd name="T3" fmla="*/ 2147483647 h 672"/>
              <a:gd name="T4" fmla="*/ 2147483647 w 288"/>
              <a:gd name="T5" fmla="*/ 2147483647 h 672"/>
              <a:gd name="T6" fmla="*/ 0 w 288"/>
              <a:gd name="T7" fmla="*/ 0 h 672"/>
              <a:gd name="T8" fmla="*/ 0 w 288"/>
              <a:gd name="T9" fmla="*/ 2147483647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672"/>
              <a:gd name="T17" fmla="*/ 288 w 288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672">
                <a:moveTo>
                  <a:pt x="0" y="480"/>
                </a:moveTo>
                <a:lnTo>
                  <a:pt x="288" y="672"/>
                </a:lnTo>
                <a:lnTo>
                  <a:pt x="288" y="144"/>
                </a:lnTo>
                <a:lnTo>
                  <a:pt x="0" y="0"/>
                </a:lnTo>
                <a:lnTo>
                  <a:pt x="0" y="480"/>
                </a:lnTo>
                <a:close/>
              </a:path>
            </a:pathLst>
          </a:custGeom>
          <a:solidFill>
            <a:srgbClr val="FFCCFF"/>
          </a:solidFill>
          <a:ln w="9525">
            <a:solidFill>
              <a:srgbClr val="FF99FF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" name="Object 2">
            <a:extLst>
              <a:ext uri="{FF2B5EF4-FFF2-40B4-BE49-F238E27FC236}">
                <a16:creationId xmlns:a16="http://schemas.microsoft.com/office/drawing/2014/main" id="{0AFE1305-35BC-492C-8E9C-288A99332D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22811"/>
              </p:ext>
            </p:extLst>
          </p:nvPr>
        </p:nvGraphicFramePr>
        <p:xfrm>
          <a:off x="9805121" y="2916238"/>
          <a:ext cx="5365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2" name="文档" r:id="rId5" imgW="331586" imgH="396222" progId="Word.Document.8">
                  <p:embed/>
                </p:oleObj>
              </mc:Choice>
              <mc:Fallback>
                <p:oleObj name="文档" r:id="rId5" imgW="331586" imgH="396222" progId="Word.Document.8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05121" y="2916238"/>
                        <a:ext cx="53657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7">
            <a:extLst>
              <a:ext uri="{FF2B5EF4-FFF2-40B4-BE49-F238E27FC236}">
                <a16:creationId xmlns:a16="http://schemas.microsoft.com/office/drawing/2014/main" id="{DA827553-A9D3-4F90-8ED3-4102B25E6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074535"/>
              </p:ext>
            </p:extLst>
          </p:nvPr>
        </p:nvGraphicFramePr>
        <p:xfrm>
          <a:off x="9027251" y="3792037"/>
          <a:ext cx="617532" cy="39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3" name="文档" r:id="rId7" imgW="462142" imgH="295412" progId="Word.Document.8">
                  <p:embed/>
                </p:oleObj>
              </mc:Choice>
              <mc:Fallback>
                <p:oleObj name="文档" r:id="rId7" imgW="462142" imgH="295412" progId="Word.Document.8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7251" y="3792037"/>
                        <a:ext cx="617532" cy="39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8">
            <a:extLst>
              <a:ext uri="{FF2B5EF4-FFF2-40B4-BE49-F238E27FC236}">
                <a16:creationId xmlns:a16="http://schemas.microsoft.com/office/drawing/2014/main" id="{87C60A22-33DC-4BB4-8A4A-42D4A55124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299827"/>
              </p:ext>
            </p:extLst>
          </p:nvPr>
        </p:nvGraphicFramePr>
        <p:xfrm>
          <a:off x="10646496" y="2271713"/>
          <a:ext cx="674687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" name="文档" r:id="rId9" imgW="365608" imgH="233372" progId="Word.Document.8">
                  <p:embed/>
                </p:oleObj>
              </mc:Choice>
              <mc:Fallback>
                <p:oleObj name="文档" r:id="rId9" imgW="365608" imgH="233372" progId="Word.Document.8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6496" y="2271713"/>
                        <a:ext cx="674687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 18">
            <a:extLst>
              <a:ext uri="{FF2B5EF4-FFF2-40B4-BE49-F238E27FC236}">
                <a16:creationId xmlns:a16="http://schemas.microsoft.com/office/drawing/2014/main" id="{C82C369B-B046-4B7A-A563-155D61061C9C}"/>
              </a:ext>
            </a:extLst>
          </p:cNvPr>
          <p:cNvSpPr>
            <a:spLocks/>
          </p:cNvSpPr>
          <p:nvPr/>
        </p:nvSpPr>
        <p:spPr bwMode="auto">
          <a:xfrm>
            <a:off x="10040071" y="3425825"/>
            <a:ext cx="1019175" cy="762000"/>
          </a:xfrm>
          <a:custGeom>
            <a:avLst/>
            <a:gdLst>
              <a:gd name="T0" fmla="*/ 0 w 642"/>
              <a:gd name="T1" fmla="*/ 0 h 480"/>
              <a:gd name="T2" fmla="*/ 2147483647 w 642"/>
              <a:gd name="T3" fmla="*/ 2147483647 h 480"/>
              <a:gd name="T4" fmla="*/ 0 60000 65536"/>
              <a:gd name="T5" fmla="*/ 0 60000 65536"/>
              <a:gd name="T6" fmla="*/ 0 w 642"/>
              <a:gd name="T7" fmla="*/ 0 h 480"/>
              <a:gd name="T8" fmla="*/ 642 w 642"/>
              <a:gd name="T9" fmla="*/ 480 h 4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2" h="480">
                <a:moveTo>
                  <a:pt x="0" y="0"/>
                </a:moveTo>
                <a:lnTo>
                  <a:pt x="642" y="48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" name="Line 19">
            <a:extLst>
              <a:ext uri="{FF2B5EF4-FFF2-40B4-BE49-F238E27FC236}">
                <a16:creationId xmlns:a16="http://schemas.microsoft.com/office/drawing/2014/main" id="{9FD755C4-832C-48D6-BF4D-1CA394B92B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84233" y="3430588"/>
            <a:ext cx="2266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Text Box 25">
            <a:extLst>
              <a:ext uri="{FF2B5EF4-FFF2-40B4-BE49-F238E27FC236}">
                <a16:creationId xmlns:a16="http://schemas.microsoft.com/office/drawing/2014/main" id="{4AA04662-50B8-4C9E-A08E-C4A62B9FC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9896" y="2138491"/>
            <a:ext cx="5715000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采用三个相互垂直的投影面构成投影体系。</a:t>
            </a:r>
            <a:r>
              <a:rPr lang="zh-CN" altLang="en-US" sz="2400" dirty="0">
                <a:latin typeface="+mn-ea"/>
                <a:ea typeface="+mn-ea"/>
              </a:rPr>
              <a:t> </a:t>
            </a: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60B6C222-F762-4C78-AB85-F0034E606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127" y="2732807"/>
            <a:ext cx="3724096" cy="38779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zh-CN" altLang="en-US" sz="2400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三投影面的交线为投影轴</a:t>
            </a:r>
            <a:r>
              <a:rPr lang="zh-CN" altLang="en-US" sz="2400" dirty="0">
                <a:solidFill>
                  <a:srgbClr val="002060"/>
                </a:solidFill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43" name="Object 6">
            <a:extLst>
              <a:ext uri="{FF2B5EF4-FFF2-40B4-BE49-F238E27FC236}">
                <a16:creationId xmlns:a16="http://schemas.microsoft.com/office/drawing/2014/main" id="{481A1937-0FC1-4191-85E7-FFD1985395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71412"/>
              </p:ext>
            </p:extLst>
          </p:nvPr>
        </p:nvGraphicFramePr>
        <p:xfrm>
          <a:off x="8179521" y="1817689"/>
          <a:ext cx="54133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5" name="文档" r:id="rId11" imgW="266551" imgH="397128" progId="Word.Document.8">
                  <p:embed/>
                </p:oleObj>
              </mc:Choice>
              <mc:Fallback>
                <p:oleObj name="文档" r:id="rId11" imgW="266551" imgH="397128" progId="Word.Document.8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9521" y="1817689"/>
                        <a:ext cx="54133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Line 10">
            <a:extLst>
              <a:ext uri="{FF2B5EF4-FFF2-40B4-BE49-F238E27FC236}">
                <a16:creationId xmlns:a16="http://schemas.microsoft.com/office/drawing/2014/main" id="{6F9F8E56-77F4-43F0-A1A0-7C73C8BA95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053564" y="1637469"/>
            <a:ext cx="0" cy="18176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5B7CEE-960B-4556-A658-2FB4E12CFB39}"/>
              </a:ext>
            </a:extLst>
          </p:cNvPr>
          <p:cNvSpPr txBox="1"/>
          <p:nvPr/>
        </p:nvSpPr>
        <p:spPr>
          <a:xfrm>
            <a:off x="7611140" y="3062843"/>
            <a:ext cx="43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X</a:t>
            </a:r>
            <a:endParaRPr lang="zh-CN" altLang="en-US" i="1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526E4DB-A70B-458E-9AF1-9D73D3B0483C}"/>
              </a:ext>
            </a:extLst>
          </p:cNvPr>
          <p:cNvSpPr txBox="1"/>
          <p:nvPr/>
        </p:nvSpPr>
        <p:spPr>
          <a:xfrm>
            <a:off x="10073408" y="1405934"/>
            <a:ext cx="43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Z</a:t>
            </a:r>
            <a:endParaRPr lang="zh-CN" altLang="en-US" i="1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29AB27D-845A-4167-8940-60E54C9F4A01}"/>
              </a:ext>
            </a:extLst>
          </p:cNvPr>
          <p:cNvSpPr txBox="1"/>
          <p:nvPr/>
        </p:nvSpPr>
        <p:spPr>
          <a:xfrm>
            <a:off x="11022801" y="3866118"/>
            <a:ext cx="431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Y</a:t>
            </a:r>
            <a:endParaRPr lang="zh-CN" altLang="en-US" i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E922096-D1FE-4394-BDFC-15C3954C5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072" y="3985343"/>
            <a:ext cx="1685529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7A2C18A-6E36-4874-90CF-C89D2C42EE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5741251"/>
              </p:ext>
            </p:extLst>
          </p:nvPr>
        </p:nvGraphicFramePr>
        <p:xfrm>
          <a:off x="1782073" y="3985344"/>
          <a:ext cx="6393080" cy="2725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6" r:id="rId13" imgW="6191250" imgH="3409950" progId="AutoCAD.Drawing.18">
                  <p:embed/>
                </p:oleObj>
              </mc:Choice>
              <mc:Fallback>
                <p:oleObj r:id="rId13" imgW="6191250" imgH="3409950" progId="AutoCAD.Drawing.18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2702" t="23503" r="6604" b="15366"/>
                      <a:stretch>
                        <a:fillRect/>
                      </a:stretch>
                    </p:blipFill>
                    <p:spPr bwMode="auto">
                      <a:xfrm>
                        <a:off x="1782073" y="3985344"/>
                        <a:ext cx="6393080" cy="27251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20925361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2143126" y="3416305"/>
            <a:ext cx="14271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/>
              <a:t>投影法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3621337" y="2947854"/>
            <a:ext cx="24145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/>
              <a:t>中心投影法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3603626" y="3850179"/>
            <a:ext cx="19880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/>
              <a:t>平行投影法</a:t>
            </a: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6018882" y="4372000"/>
            <a:ext cx="2165350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b="1" dirty="0"/>
              <a:t>正投影法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6096000" y="3421087"/>
            <a:ext cx="2147888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b="1" dirty="0"/>
              <a:t>斜投影法</a:t>
            </a:r>
          </a:p>
        </p:txBody>
      </p:sp>
      <p:sp>
        <p:nvSpPr>
          <p:cNvPr id="76807" name="AutoShape 7"/>
          <p:cNvSpPr>
            <a:spLocks noChangeArrowheads="1"/>
          </p:cNvSpPr>
          <p:nvPr/>
        </p:nvSpPr>
        <p:spPr bwMode="auto">
          <a:xfrm>
            <a:off x="5375920" y="1794907"/>
            <a:ext cx="2609850" cy="735747"/>
          </a:xfrm>
          <a:prstGeom prst="wedgeEllipseCallout">
            <a:avLst>
              <a:gd name="adj1" fmla="val -44722"/>
              <a:gd name="adj2" fmla="val 146079"/>
            </a:avLst>
          </a:prstGeom>
          <a:solidFill>
            <a:srgbClr val="FFFF99"/>
          </a:solidFill>
          <a:ln w="12700">
            <a:solidFill>
              <a:srgbClr val="FF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/>
              <a:t>画透视图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76808" name="AutoShape 8"/>
          <p:cNvSpPr>
            <a:spLocks noChangeArrowheads="1"/>
          </p:cNvSpPr>
          <p:nvPr/>
        </p:nvSpPr>
        <p:spPr bwMode="auto">
          <a:xfrm>
            <a:off x="8311904" y="2254275"/>
            <a:ext cx="1988045" cy="523220"/>
          </a:xfrm>
          <a:prstGeom prst="wedgeRectCallout">
            <a:avLst>
              <a:gd name="adj1" fmla="val -87798"/>
              <a:gd name="adj2" fmla="val 202424"/>
            </a:avLst>
          </a:prstGeom>
          <a:solidFill>
            <a:srgbClr val="FFFF99"/>
          </a:solidFill>
          <a:ln w="9525" cap="rnd">
            <a:solidFill>
              <a:srgbClr val="FF00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/>
              <a:t>画斜轴测图</a:t>
            </a:r>
          </a:p>
        </p:txBody>
      </p:sp>
      <p:sp>
        <p:nvSpPr>
          <p:cNvPr id="76809" name="AutoShape 9"/>
          <p:cNvSpPr>
            <a:spLocks noChangeArrowheads="1"/>
          </p:cNvSpPr>
          <p:nvPr/>
        </p:nvSpPr>
        <p:spPr bwMode="auto">
          <a:xfrm>
            <a:off x="7905358" y="4989427"/>
            <a:ext cx="2801135" cy="1055608"/>
          </a:xfrm>
          <a:prstGeom prst="wedgeRoundRectCallout">
            <a:avLst>
              <a:gd name="adj1" fmla="val -81276"/>
              <a:gd name="adj2" fmla="val -65894"/>
              <a:gd name="adj3" fmla="val 16667"/>
            </a:avLst>
          </a:prstGeom>
          <a:solidFill>
            <a:srgbClr val="99FFCC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b="1" dirty="0"/>
              <a:t>画工程图样及正轴测图</a:t>
            </a:r>
          </a:p>
        </p:txBody>
      </p:sp>
      <p:sp>
        <p:nvSpPr>
          <p:cNvPr id="76810" name="AutoShape 10"/>
          <p:cNvSpPr>
            <a:spLocks/>
          </p:cNvSpPr>
          <p:nvPr/>
        </p:nvSpPr>
        <p:spPr bwMode="auto">
          <a:xfrm>
            <a:off x="3492031" y="3172646"/>
            <a:ext cx="133250" cy="939143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 sz="2800"/>
          </a:p>
        </p:txBody>
      </p:sp>
      <p:sp>
        <p:nvSpPr>
          <p:cNvPr id="76811" name="AutoShape 11"/>
          <p:cNvSpPr>
            <a:spLocks/>
          </p:cNvSpPr>
          <p:nvPr/>
        </p:nvSpPr>
        <p:spPr bwMode="auto">
          <a:xfrm>
            <a:off x="5713287" y="3642217"/>
            <a:ext cx="183978" cy="1023182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 sz="2800"/>
          </a:p>
        </p:txBody>
      </p:sp>
      <p:sp>
        <p:nvSpPr>
          <p:cNvPr id="12" name="Text Box 28"/>
          <p:cNvSpPr txBox="1">
            <a:spLocks noChangeArrowheads="1"/>
          </p:cNvSpPr>
          <p:nvPr/>
        </p:nvSpPr>
        <p:spPr bwMode="auto">
          <a:xfrm>
            <a:off x="2740150" y="467962"/>
            <a:ext cx="645219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投影法的基本概念、分类投影特性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768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768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768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6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6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6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build="p" autoUpdateAnimBg="0"/>
      <p:bldP spid="76803" grpId="0" build="p" autoUpdateAnimBg="0"/>
      <p:bldP spid="76804" grpId="0" build="p" autoUpdateAnimBg="0"/>
      <p:bldP spid="76805" grpId="0" build="p" autoUpdateAnimBg="0"/>
      <p:bldP spid="76806" grpId="0" build="p" autoUpdateAnimBg="0"/>
      <p:bldP spid="76807" grpId="0" animBg="1" autoUpdateAnimBg="0"/>
      <p:bldP spid="76808" grpId="0" animBg="1" autoUpdateAnimBg="0"/>
      <p:bldP spid="76809" grpId="0" animBg="1" autoUpdateAnimBg="0"/>
      <p:bldP spid="76810" grpId="0" animBg="1"/>
      <p:bldP spid="768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下面的说法哪一个是正确的？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000847" y="2492896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投影法分中心投影法和平行投影法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000847" y="3350146"/>
            <a:ext cx="73152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投射线与投影面相垂直的平行投影法，称为正投影法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000847" y="4207396"/>
            <a:ext cx="71780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实形性、积聚性、同素性、仿射性是正投影法特性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000847" y="5008041"/>
            <a:ext cx="704096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直线或平面与投影平面平行时，它们在该投影平面上的投影反映线段的实长或平面图形的实形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423592" y="2557189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423592" y="3414439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423592" y="4271689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423592" y="5128939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481367" y="5921896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D18185E-AAF5-44A3-ADC8-B221FA4F8F80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69732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1"/>
          <p:cNvGrpSpPr>
            <a:grpSpLocks/>
          </p:cNvGrpSpPr>
          <p:nvPr/>
        </p:nvGrpSpPr>
        <p:grpSpPr bwMode="auto">
          <a:xfrm>
            <a:off x="8728077" y="3549649"/>
            <a:ext cx="1790701" cy="2278061"/>
            <a:chOff x="4538" y="1893"/>
            <a:chExt cx="1128" cy="1435"/>
          </a:xfrm>
        </p:grpSpPr>
        <p:sp>
          <p:nvSpPr>
            <p:cNvPr id="24612" name="Freeform 90"/>
            <p:cNvSpPr>
              <a:spLocks/>
            </p:cNvSpPr>
            <p:nvPr/>
          </p:nvSpPr>
          <p:spPr bwMode="auto">
            <a:xfrm>
              <a:off x="4672" y="1893"/>
              <a:ext cx="994" cy="1435"/>
            </a:xfrm>
            <a:custGeom>
              <a:avLst/>
              <a:gdLst>
                <a:gd name="T0" fmla="*/ 0 w 779"/>
                <a:gd name="T1" fmla="*/ 0 h 1271"/>
                <a:gd name="T2" fmla="*/ 0 w 779"/>
                <a:gd name="T3" fmla="*/ 960 h 1271"/>
                <a:gd name="T4" fmla="*/ 779 w 779"/>
                <a:gd name="T5" fmla="*/ 1271 h 1271"/>
                <a:gd name="T6" fmla="*/ 779 w 779"/>
                <a:gd name="T7" fmla="*/ 311 h 1271"/>
                <a:gd name="T8" fmla="*/ 0 w 779"/>
                <a:gd name="T9" fmla="*/ 0 h 12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9"/>
                <a:gd name="T16" fmla="*/ 0 h 1271"/>
                <a:gd name="T17" fmla="*/ 779 w 779"/>
                <a:gd name="T18" fmla="*/ 1271 h 127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9" h="1271">
                  <a:moveTo>
                    <a:pt x="0" y="0"/>
                  </a:moveTo>
                  <a:lnTo>
                    <a:pt x="0" y="960"/>
                  </a:lnTo>
                  <a:lnTo>
                    <a:pt x="779" y="1271"/>
                  </a:lnTo>
                  <a:lnTo>
                    <a:pt x="779" y="31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2557" name="Text Box 67"/>
            <p:cNvSpPr txBox="1">
              <a:spLocks noChangeArrowheads="1"/>
            </p:cNvSpPr>
            <p:nvPr/>
          </p:nvSpPr>
          <p:spPr bwMode="auto">
            <a:xfrm>
              <a:off x="4538" y="2015"/>
              <a:ext cx="3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 </a:t>
              </a:r>
              <a:r>
                <a:rPr kumimoji="1" lang="en-US" altLang="zh-CN" sz="2400" b="1" i="1">
                  <a:latin typeface="宋体" pitchFamily="2" charset="-122"/>
                </a:rPr>
                <a:t>P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22558" name="Text Box 62"/>
            <p:cNvSpPr txBox="1">
              <a:spLocks noChangeArrowheads="1"/>
            </p:cNvSpPr>
            <p:nvPr/>
          </p:nvSpPr>
          <p:spPr bwMode="auto">
            <a:xfrm>
              <a:off x="5070" y="2280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CommercialPi BT" pitchFamily="18" charset="2"/>
              </a:endParaRPr>
            </a:p>
          </p:txBody>
        </p:sp>
        <p:sp>
          <p:nvSpPr>
            <p:cNvPr id="22559" name="Text Box 63"/>
            <p:cNvSpPr txBox="1">
              <a:spLocks noChangeArrowheads="1"/>
            </p:cNvSpPr>
            <p:nvPr/>
          </p:nvSpPr>
          <p:spPr bwMode="auto">
            <a:xfrm>
              <a:off x="4876" y="2386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 dirty="0">
                  <a:solidFill>
                    <a:srgbClr val="FF0000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 dirty="0">
                <a:latin typeface="Times New Roman" pitchFamily="18" charset="0"/>
              </a:endParaRP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8067677" y="1125146"/>
            <a:ext cx="1886617" cy="2061368"/>
            <a:chOff x="3672" y="841"/>
            <a:chExt cx="1013" cy="879"/>
          </a:xfrm>
        </p:grpSpPr>
        <p:sp>
          <p:nvSpPr>
            <p:cNvPr id="24608" name="AutoShape 14"/>
            <p:cNvSpPr>
              <a:spLocks noChangeArrowheads="1"/>
            </p:cNvSpPr>
            <p:nvPr/>
          </p:nvSpPr>
          <p:spPr bwMode="auto">
            <a:xfrm rot="16200000">
              <a:off x="3951" y="987"/>
              <a:ext cx="879" cy="588"/>
            </a:xfrm>
            <a:prstGeom prst="parallelogram">
              <a:avLst>
                <a:gd name="adj" fmla="val 33012"/>
              </a:avLst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2553" name="Text Box 8"/>
            <p:cNvSpPr txBox="1">
              <a:spLocks noChangeArrowheads="1"/>
            </p:cNvSpPr>
            <p:nvPr/>
          </p:nvSpPr>
          <p:spPr bwMode="auto">
            <a:xfrm>
              <a:off x="3774" y="1355"/>
              <a:ext cx="154" cy="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1200">
                <a:latin typeface="Times New Roman" pitchFamily="18" charset="0"/>
              </a:endParaRPr>
            </a:p>
          </p:txBody>
        </p:sp>
        <p:sp>
          <p:nvSpPr>
            <p:cNvPr id="22554" name="Text Box 16"/>
            <p:cNvSpPr txBox="1">
              <a:spLocks noChangeArrowheads="1"/>
            </p:cNvSpPr>
            <p:nvPr/>
          </p:nvSpPr>
          <p:spPr bwMode="auto">
            <a:xfrm>
              <a:off x="3672" y="1292"/>
              <a:ext cx="181" cy="19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宋体" pitchFamily="2" charset="-122"/>
                </a:rPr>
                <a:t>A</a:t>
              </a:r>
              <a:endParaRPr kumimoji="1" lang="en-US" altLang="zh-CN">
                <a:latin typeface="Times New Roman" pitchFamily="18" charset="0"/>
              </a:endParaRPr>
            </a:p>
          </p:txBody>
        </p:sp>
        <p:sp>
          <p:nvSpPr>
            <p:cNvPr id="22555" name="Text Box 23"/>
            <p:cNvSpPr txBox="1">
              <a:spLocks noChangeArrowheads="1"/>
            </p:cNvSpPr>
            <p:nvPr/>
          </p:nvSpPr>
          <p:spPr bwMode="auto">
            <a:xfrm>
              <a:off x="4046" y="947"/>
              <a:ext cx="181" cy="19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宋体" pitchFamily="2" charset="-122"/>
                </a:rPr>
                <a:t>P</a:t>
              </a:r>
              <a:endParaRPr kumimoji="1" lang="en-US" altLang="zh-CN">
                <a:latin typeface="Times New Roman" pitchFamily="18" charset="0"/>
              </a:endParaRPr>
            </a:p>
          </p:txBody>
        </p:sp>
      </p:grpSp>
      <p:sp>
        <p:nvSpPr>
          <p:cNvPr id="13357" name="Text Box 45"/>
          <p:cNvSpPr txBox="1">
            <a:spLocks noChangeArrowheads="1"/>
          </p:cNvSpPr>
          <p:nvPr/>
        </p:nvSpPr>
        <p:spPr bwMode="auto">
          <a:xfrm>
            <a:off x="4547072" y="5562178"/>
            <a:ext cx="295808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采用多面正投影。</a:t>
            </a:r>
          </a:p>
        </p:txBody>
      </p:sp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1415035" y="2558056"/>
            <a:ext cx="650658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过空间点</a:t>
            </a:r>
            <a:r>
              <a:rPr kumimoji="1" lang="en-US" altLang="zh-CN" sz="2400" b="1" dirty="0">
                <a:latin typeface="宋体" pitchFamily="2" charset="-122"/>
              </a:rPr>
              <a:t>A</a:t>
            </a:r>
            <a:r>
              <a:rPr kumimoji="1" lang="zh-CN" altLang="en-US" sz="2400" b="1" dirty="0">
                <a:latin typeface="宋体" pitchFamily="2" charset="-122"/>
              </a:rPr>
              <a:t>的投射线与投影面</a:t>
            </a:r>
            <a:r>
              <a:rPr kumimoji="1" lang="en-US" altLang="zh-CN" sz="2400" b="1" dirty="0">
                <a:latin typeface="宋体" pitchFamily="2" charset="-122"/>
              </a:rPr>
              <a:t>P</a:t>
            </a:r>
            <a:r>
              <a:rPr kumimoji="1" lang="zh-CN" altLang="en-US" sz="2400" b="1" dirty="0">
                <a:latin typeface="宋体" pitchFamily="2" charset="-122"/>
              </a:rPr>
              <a:t>的交点即为点</a:t>
            </a:r>
            <a:r>
              <a:rPr kumimoji="1" lang="en-US" altLang="zh-CN" sz="2400" b="1" dirty="0">
                <a:latin typeface="宋体" pitchFamily="2" charset="-122"/>
              </a:rPr>
              <a:t>A</a:t>
            </a:r>
            <a:r>
              <a:rPr kumimoji="1" lang="zh-CN" altLang="en-US" sz="2400" b="1" dirty="0">
                <a:latin typeface="宋体" pitchFamily="2" charset="-122"/>
              </a:rPr>
              <a:t>在</a:t>
            </a:r>
            <a:r>
              <a:rPr kumimoji="1" lang="en-US" altLang="zh-CN" sz="2400" b="1" dirty="0">
                <a:latin typeface="宋体" pitchFamily="2" charset="-122"/>
              </a:rPr>
              <a:t>P</a:t>
            </a:r>
            <a:r>
              <a:rPr kumimoji="1" lang="zh-CN" altLang="en-US" sz="2400" b="1" dirty="0">
                <a:latin typeface="宋体" pitchFamily="2" charset="-122"/>
              </a:rPr>
              <a:t>面上的投影。</a:t>
            </a:r>
          </a:p>
        </p:txBody>
      </p:sp>
      <p:sp>
        <p:nvSpPr>
          <p:cNvPr id="13351" name="Freeform 39"/>
          <p:cNvSpPr>
            <a:spLocks/>
          </p:cNvSpPr>
          <p:nvPr/>
        </p:nvSpPr>
        <p:spPr bwMode="auto">
          <a:xfrm rot="20625292">
            <a:off x="7523163" y="4761191"/>
            <a:ext cx="1993900" cy="369332"/>
          </a:xfrm>
          <a:custGeom>
            <a:avLst/>
            <a:gdLst>
              <a:gd name="T0" fmla="*/ 2147483647 w 1094"/>
              <a:gd name="T1" fmla="*/ 0 h 374"/>
              <a:gd name="T2" fmla="*/ 0 w 1094"/>
              <a:gd name="T3" fmla="*/ 2147483647 h 374"/>
              <a:gd name="T4" fmla="*/ 0 60000 65536"/>
              <a:gd name="T5" fmla="*/ 0 60000 65536"/>
              <a:gd name="T6" fmla="*/ 0 w 1094"/>
              <a:gd name="T7" fmla="*/ 0 h 374"/>
              <a:gd name="T8" fmla="*/ 1094 w 1094"/>
              <a:gd name="T9" fmla="*/ 374 h 3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4" h="374">
                <a:moveTo>
                  <a:pt x="1094" y="0"/>
                </a:moveTo>
                <a:lnTo>
                  <a:pt x="0" y="37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85"/>
          <p:cNvGrpSpPr>
            <a:grpSpLocks/>
          </p:cNvGrpSpPr>
          <p:nvPr/>
        </p:nvGrpSpPr>
        <p:grpSpPr bwMode="auto">
          <a:xfrm>
            <a:off x="8379949" y="4396408"/>
            <a:ext cx="443604" cy="615328"/>
            <a:chOff x="4292" y="2213"/>
            <a:chExt cx="244" cy="241"/>
          </a:xfrm>
        </p:grpSpPr>
        <p:sp>
          <p:nvSpPr>
            <p:cNvPr id="22550" name="Text Box 32"/>
            <p:cNvSpPr txBox="1">
              <a:spLocks noChangeArrowheads="1"/>
            </p:cNvSpPr>
            <p:nvPr/>
          </p:nvSpPr>
          <p:spPr bwMode="auto">
            <a:xfrm>
              <a:off x="4292" y="2213"/>
              <a:ext cx="244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宋体" pitchFamily="2" charset="-122"/>
                </a:rPr>
                <a:t>B</a:t>
              </a:r>
              <a:r>
                <a:rPr kumimoji="1" lang="en-US" altLang="zh-CN" sz="2400" b="1" baseline="-25000">
                  <a:latin typeface="宋体" pitchFamily="2" charset="-122"/>
                </a:rPr>
                <a:t>3</a:t>
              </a:r>
              <a:endParaRPr kumimoji="1" lang="en-US" altLang="zh-CN">
                <a:latin typeface="Times New Roman" pitchFamily="18" charset="0"/>
              </a:endParaRPr>
            </a:p>
          </p:txBody>
        </p:sp>
        <p:sp>
          <p:nvSpPr>
            <p:cNvPr id="22551" name="Text Box 35"/>
            <p:cNvSpPr txBox="1">
              <a:spLocks noChangeArrowheads="1"/>
            </p:cNvSpPr>
            <p:nvPr/>
          </p:nvSpPr>
          <p:spPr bwMode="auto">
            <a:xfrm>
              <a:off x="4339" y="2358"/>
              <a:ext cx="172" cy="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1000">
                <a:latin typeface="Times New Roman" pitchFamily="18" charset="0"/>
              </a:endParaRPr>
            </a:p>
          </p:txBody>
        </p:sp>
      </p:grpSp>
      <p:grpSp>
        <p:nvGrpSpPr>
          <p:cNvPr id="5" name="Group 86"/>
          <p:cNvGrpSpPr>
            <a:grpSpLocks/>
          </p:cNvGrpSpPr>
          <p:nvPr/>
        </p:nvGrpSpPr>
        <p:grpSpPr bwMode="auto">
          <a:xfrm>
            <a:off x="7935916" y="4578970"/>
            <a:ext cx="443627" cy="626445"/>
            <a:chOff x="4002" y="2288"/>
            <a:chExt cx="243" cy="245"/>
          </a:xfrm>
        </p:grpSpPr>
        <p:sp>
          <p:nvSpPr>
            <p:cNvPr id="22548" name="Text Box 33"/>
            <p:cNvSpPr txBox="1">
              <a:spLocks noChangeArrowheads="1"/>
            </p:cNvSpPr>
            <p:nvPr/>
          </p:nvSpPr>
          <p:spPr bwMode="auto">
            <a:xfrm>
              <a:off x="4002" y="2288"/>
              <a:ext cx="243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 i="1">
                  <a:latin typeface="宋体" pitchFamily="2" charset="-122"/>
                </a:rPr>
                <a:t>B</a:t>
              </a:r>
              <a:r>
                <a:rPr kumimoji="1" lang="en-US" altLang="zh-CN" sz="2400" b="1" baseline="-25000">
                  <a:latin typeface="宋体" pitchFamily="2" charset="-122"/>
                </a:rPr>
                <a:t>2</a:t>
              </a:r>
              <a:endParaRPr kumimoji="1" lang="en-US" altLang="zh-CN">
                <a:latin typeface="Times New Roman" pitchFamily="18" charset="0"/>
              </a:endParaRPr>
            </a:p>
          </p:txBody>
        </p:sp>
        <p:sp>
          <p:nvSpPr>
            <p:cNvPr id="22549" name="Text Box 38"/>
            <p:cNvSpPr txBox="1">
              <a:spLocks noChangeArrowheads="1"/>
            </p:cNvSpPr>
            <p:nvPr/>
          </p:nvSpPr>
          <p:spPr bwMode="auto">
            <a:xfrm>
              <a:off x="4063" y="2437"/>
              <a:ext cx="171" cy="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10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1000">
                <a:latin typeface="Times New Roman" pitchFamily="18" charset="0"/>
              </a:endParaRPr>
            </a:p>
          </p:txBody>
        </p:sp>
      </p:grpSp>
      <p:grpSp>
        <p:nvGrpSpPr>
          <p:cNvPr id="6" name="Group 87"/>
          <p:cNvGrpSpPr>
            <a:grpSpLocks/>
          </p:cNvGrpSpPr>
          <p:nvPr/>
        </p:nvGrpSpPr>
        <p:grpSpPr bwMode="auto">
          <a:xfrm>
            <a:off x="7477125" y="4812330"/>
            <a:ext cx="444500" cy="623266"/>
            <a:chOff x="3750" y="2379"/>
            <a:chExt cx="244" cy="244"/>
          </a:xfrm>
        </p:grpSpPr>
        <p:sp>
          <p:nvSpPr>
            <p:cNvPr id="22546" name="Text Box 34"/>
            <p:cNvSpPr txBox="1">
              <a:spLocks noChangeArrowheads="1"/>
            </p:cNvSpPr>
            <p:nvPr/>
          </p:nvSpPr>
          <p:spPr bwMode="auto">
            <a:xfrm>
              <a:off x="3750" y="2379"/>
              <a:ext cx="244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 i="1">
                  <a:latin typeface="宋体" pitchFamily="2" charset="-122"/>
                </a:rPr>
                <a:t>B</a:t>
              </a:r>
              <a:r>
                <a:rPr kumimoji="1" lang="en-US" altLang="zh-CN" sz="2400" b="1" baseline="-25000">
                  <a:latin typeface="宋体" pitchFamily="2" charset="-122"/>
                </a:rPr>
                <a:t>1</a:t>
              </a:r>
              <a:endParaRPr kumimoji="1" lang="en-US" altLang="zh-CN">
                <a:latin typeface="Times New Roman" pitchFamily="18" charset="0"/>
              </a:endParaRPr>
            </a:p>
          </p:txBody>
        </p:sp>
        <p:sp>
          <p:nvSpPr>
            <p:cNvPr id="22547" name="Text Box 37"/>
            <p:cNvSpPr txBox="1">
              <a:spLocks noChangeArrowheads="1"/>
            </p:cNvSpPr>
            <p:nvPr/>
          </p:nvSpPr>
          <p:spPr bwMode="auto">
            <a:xfrm>
              <a:off x="3823" y="2527"/>
              <a:ext cx="171" cy="9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10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1000">
                <a:latin typeface="Times New Roman" pitchFamily="18" charset="0"/>
              </a:endParaRPr>
            </a:p>
          </p:txBody>
        </p:sp>
      </p:grpSp>
      <p:sp>
        <p:nvSpPr>
          <p:cNvPr id="13353" name="Text Box 41"/>
          <p:cNvSpPr txBox="1">
            <a:spLocks noChangeArrowheads="1"/>
          </p:cNvSpPr>
          <p:nvPr/>
        </p:nvSpPr>
        <p:spPr bwMode="auto">
          <a:xfrm>
            <a:off x="1668465" y="3707860"/>
            <a:ext cx="6362234" cy="830997"/>
          </a:xfrm>
          <a:prstGeom prst="rect">
            <a:avLst/>
          </a:prstGeom>
          <a:solidFill>
            <a:srgbClr val="FFFF00"/>
          </a:solidFill>
          <a:ln w="34925">
            <a:pattFill prst="trellis">
              <a:fgClr>
                <a:srgbClr val="FF3300"/>
              </a:fgClr>
              <a:bgClr>
                <a:srgbClr val="FFFF00"/>
              </a:bgClr>
            </a:patt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点在一个投影面上的投影不能确定点的空间位置。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13359" name="Text Box 47"/>
          <p:cNvSpPr txBox="1">
            <a:spLocks noChangeArrowheads="1"/>
          </p:cNvSpPr>
          <p:nvPr/>
        </p:nvSpPr>
        <p:spPr bwMode="auto">
          <a:xfrm>
            <a:off x="2021023" y="1845699"/>
            <a:ext cx="42066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一、点在一个投影面上的投影</a:t>
            </a:r>
            <a:endParaRPr kumimoji="1" lang="zh-CN" altLang="en-US" sz="2400" dirty="0">
              <a:latin typeface="Times New Roman" pitchFamily="18" charset="0"/>
            </a:endParaRPr>
          </a:p>
        </p:txBody>
      </p:sp>
      <p:sp>
        <p:nvSpPr>
          <p:cNvPr id="13323" name="Freeform 11"/>
          <p:cNvSpPr>
            <a:spLocks/>
          </p:cNvSpPr>
          <p:nvPr/>
        </p:nvSpPr>
        <p:spPr bwMode="auto">
          <a:xfrm rot="380634">
            <a:off x="8382000" y="2130703"/>
            <a:ext cx="914400" cy="369332"/>
          </a:xfrm>
          <a:custGeom>
            <a:avLst/>
            <a:gdLst>
              <a:gd name="T0" fmla="*/ 0 w 482"/>
              <a:gd name="T1" fmla="*/ 2147483647 h 165"/>
              <a:gd name="T2" fmla="*/ 2147483647 w 482"/>
              <a:gd name="T3" fmla="*/ 0 h 165"/>
              <a:gd name="T4" fmla="*/ 0 60000 65536"/>
              <a:gd name="T5" fmla="*/ 0 60000 65536"/>
              <a:gd name="T6" fmla="*/ 0 w 482"/>
              <a:gd name="T7" fmla="*/ 0 h 165"/>
              <a:gd name="T8" fmla="*/ 482 w 482"/>
              <a:gd name="T9" fmla="*/ 165 h 1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82" h="165">
                <a:moveTo>
                  <a:pt x="0" y="165"/>
                </a:moveTo>
                <a:lnTo>
                  <a:pt x="482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9231314" y="1916113"/>
            <a:ext cx="5302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endParaRPr kumimoji="1" lang="en-US" altLang="zh-CN" sz="2800">
              <a:latin typeface="Times New Roman" pitchFamily="18" charset="0"/>
            </a:endParaRP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9129713" y="2071688"/>
            <a:ext cx="2984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>
              <a:latin typeface="Times New Roman" pitchFamily="18" charset="0"/>
            </a:endParaRPr>
          </a:p>
        </p:txBody>
      </p:sp>
      <p:sp>
        <p:nvSpPr>
          <p:cNvPr id="22543" name="Text Box 70"/>
          <p:cNvSpPr txBox="1">
            <a:spLocks noChangeArrowheads="1"/>
          </p:cNvSpPr>
          <p:nvPr/>
        </p:nvSpPr>
        <p:spPr bwMode="auto">
          <a:xfrm>
            <a:off x="1168847" y="1310526"/>
            <a:ext cx="2241402" cy="52322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800" b="1" dirty="0">
                <a:latin typeface="宋体" pitchFamily="2" charset="-122"/>
              </a:rPr>
              <a:t> </a:t>
            </a:r>
            <a:r>
              <a:rPr kumimoji="1" lang="zh-CN" altLang="zh-CN" sz="2800" b="1" dirty="0">
                <a:latin typeface="宋体" pitchFamily="2" charset="-122"/>
              </a:rPr>
              <a:t>点的投影</a:t>
            </a:r>
            <a:endParaRPr kumimoji="1" lang="zh-CN" altLang="en-US" sz="2800" dirty="0">
              <a:latin typeface="宋体" pitchFamily="2" charset="-122"/>
            </a:endParaRPr>
          </a:p>
        </p:txBody>
      </p:sp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744863" y="4978986"/>
            <a:ext cx="2639508" cy="873124"/>
            <a:chOff x="1351758" y="5474443"/>
            <a:chExt cx="2639508" cy="873124"/>
          </a:xfrm>
        </p:grpSpPr>
        <p:sp>
          <p:nvSpPr>
            <p:cNvPr id="24595" name="Text Box 72"/>
            <p:cNvSpPr txBox="1">
              <a:spLocks noChangeArrowheads="1"/>
            </p:cNvSpPr>
            <p:nvPr/>
          </p:nvSpPr>
          <p:spPr bwMode="auto">
            <a:xfrm>
              <a:off x="1351758" y="5761802"/>
              <a:ext cx="17315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accent2"/>
                  </a:solidFill>
                  <a:latin typeface="Times New Roman" pitchFamily="18" charset="0"/>
                </a:rPr>
                <a:t>解决办法？</a:t>
              </a: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3019" y="5474443"/>
              <a:ext cx="918247" cy="873124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13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75"/>
                                        <p:tgtEl>
                                          <p:spTgt spid="1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57" grpId="0" autoUpdateAnimBg="0"/>
      <p:bldP spid="13333" grpId="0" autoUpdateAnimBg="0"/>
      <p:bldP spid="13351" grpId="0" animBg="1"/>
      <p:bldP spid="13353" grpId="0" animBg="1" autoUpdateAnimBg="0"/>
      <p:bldP spid="13359" grpId="0" autoUpdateAnimBg="0"/>
      <p:bldP spid="13323" grpId="0" animBg="1"/>
      <p:bldP spid="13329" grpId="0" autoUpdateAnimBg="0"/>
      <p:bldP spid="1332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auto">
          <a:xfrm>
            <a:off x="6557714" y="2452836"/>
            <a:ext cx="2643188" cy="20002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 bwMode="auto">
          <a:xfrm>
            <a:off x="6557714" y="4453086"/>
            <a:ext cx="2643188" cy="20002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平行四边形 3"/>
          <p:cNvSpPr/>
          <p:nvPr/>
        </p:nvSpPr>
        <p:spPr bwMode="auto">
          <a:xfrm flipH="1">
            <a:off x="6557714" y="4453086"/>
            <a:ext cx="3714750" cy="1071562"/>
          </a:xfrm>
          <a:prstGeom prst="parallelogram">
            <a:avLst>
              <a:gd name="adj" fmla="val 98777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cxnSp>
        <p:nvCxnSpPr>
          <p:cNvPr id="9" name="直接连接符 8"/>
          <p:cNvCxnSpPr>
            <a:cxnSpLocks noChangeShapeType="1"/>
          </p:cNvCxnSpPr>
          <p:nvPr/>
        </p:nvCxnSpPr>
        <p:spPr bwMode="auto">
          <a:xfrm>
            <a:off x="7915028" y="3167212"/>
            <a:ext cx="642937" cy="64293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 rot="5400000">
            <a:off x="7880896" y="4488805"/>
            <a:ext cx="135572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 rot="5340000">
            <a:off x="7257803" y="3795862"/>
            <a:ext cx="1285875" cy="285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 rot="16200000" flipH="1">
            <a:off x="7879309" y="4469755"/>
            <a:ext cx="714375" cy="6715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5" name="椭圆 24"/>
          <p:cNvSpPr>
            <a:spLocks noChangeArrowheads="1"/>
          </p:cNvSpPr>
          <p:nvPr/>
        </p:nvSpPr>
        <p:spPr bwMode="auto">
          <a:xfrm>
            <a:off x="8523039" y="3773637"/>
            <a:ext cx="71438" cy="71437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椭圆 25"/>
          <p:cNvSpPr>
            <a:spLocks noChangeArrowheads="1"/>
          </p:cNvSpPr>
          <p:nvPr/>
        </p:nvSpPr>
        <p:spPr bwMode="auto">
          <a:xfrm>
            <a:off x="8524628" y="5105548"/>
            <a:ext cx="71437" cy="7143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椭圆 26"/>
          <p:cNvSpPr>
            <a:spLocks noChangeArrowheads="1"/>
          </p:cNvSpPr>
          <p:nvPr/>
        </p:nvSpPr>
        <p:spPr bwMode="auto">
          <a:xfrm>
            <a:off x="7862639" y="3110062"/>
            <a:ext cx="71438" cy="71437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8557965" y="3524399"/>
            <a:ext cx="5000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latin typeface="Shruti" pitchFamily="34" charset="0"/>
                <a:cs typeface="Shruti" pitchFamily="34" charset="0"/>
              </a:rPr>
              <a:t>A</a:t>
            </a:r>
            <a:endParaRPr lang="zh-CN" altLang="en-US">
              <a:latin typeface="Shruti" pitchFamily="34" charset="0"/>
              <a:cs typeface="Shruti" pitchFamily="34" charset="0"/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7843589" y="2810023"/>
            <a:ext cx="571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en-US" altLang="zh-CN" b="1" i="1">
                <a:latin typeface="Dutch801 Rm BT" pitchFamily="18" charset="0"/>
                <a:sym typeface="Symbol" pitchFamily="18" charset="2"/>
              </a:rPr>
              <a:t>a</a:t>
            </a:r>
            <a:r>
              <a:rPr kumimoji="1" lang="en-US" altLang="zh-CN" b="1">
                <a:latin typeface="Times New Roman" pitchFamily="18" charset="0"/>
                <a:sym typeface="Symbol" pitchFamily="18" charset="2"/>
              </a:rPr>
              <a:t></a:t>
            </a:r>
            <a:endParaRPr kumimoji="1" lang="en-US" altLang="zh-CN" b="1">
              <a:latin typeface="Times New Roman" pitchFamily="18" charset="0"/>
              <a:sym typeface="CommercialPi BT" pitchFamily="18" charset="2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8557965" y="4940448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b="1" i="1">
                <a:latin typeface="Dutch801 Rm BT" pitchFamily="18" charset="0"/>
                <a:sym typeface="Symbol" pitchFamily="18" charset="2"/>
              </a:rPr>
              <a:t>a</a:t>
            </a:r>
            <a:endParaRPr lang="en-US" altLang="zh-CN">
              <a:latin typeface="Segoe Print" pitchFamily="2" charset="0"/>
            </a:endParaRPr>
          </a:p>
        </p:txBody>
      </p:sp>
      <p:cxnSp>
        <p:nvCxnSpPr>
          <p:cNvPr id="31" name="直接连接符 30"/>
          <p:cNvCxnSpPr>
            <a:cxnSpLocks noChangeShapeType="1"/>
          </p:cNvCxnSpPr>
          <p:nvPr/>
        </p:nvCxnSpPr>
        <p:spPr bwMode="auto">
          <a:xfrm rot="5400000">
            <a:off x="7430840" y="4907111"/>
            <a:ext cx="928687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" name="椭圆 33"/>
          <p:cNvSpPr>
            <a:spLocks noChangeArrowheads="1"/>
          </p:cNvSpPr>
          <p:nvPr/>
        </p:nvSpPr>
        <p:spPr bwMode="auto">
          <a:xfrm>
            <a:off x="7862639" y="5310337"/>
            <a:ext cx="71438" cy="71437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915027" y="5096023"/>
            <a:ext cx="500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b="1" i="1">
                <a:latin typeface="Dutch801 Rm BT" pitchFamily="18" charset="0"/>
                <a:sym typeface="Symbol" pitchFamily="18" charset="2"/>
              </a:rPr>
              <a:t>a</a:t>
            </a:r>
            <a:endParaRPr lang="en-US" altLang="zh-CN">
              <a:latin typeface="Segoe Print" pitchFamily="2" charset="0"/>
            </a:endParaRPr>
          </a:p>
        </p:txBody>
      </p:sp>
      <p:grpSp>
        <p:nvGrpSpPr>
          <p:cNvPr id="2" name="组合 47"/>
          <p:cNvGrpSpPr>
            <a:grpSpLocks/>
          </p:cNvGrpSpPr>
          <p:nvPr/>
        </p:nvGrpSpPr>
        <p:grpSpPr bwMode="auto">
          <a:xfrm>
            <a:off x="2557214" y="2810024"/>
            <a:ext cx="3214688" cy="2587625"/>
            <a:chOff x="857224" y="2428868"/>
            <a:chExt cx="3214710" cy="2587643"/>
          </a:xfrm>
        </p:grpSpPr>
        <p:cxnSp>
          <p:nvCxnSpPr>
            <p:cNvPr id="23573" name="直接连接符 38"/>
            <p:cNvCxnSpPr>
              <a:cxnSpLocks noChangeShapeType="1"/>
            </p:cNvCxnSpPr>
            <p:nvPr/>
          </p:nvCxnSpPr>
          <p:spPr bwMode="auto">
            <a:xfrm>
              <a:off x="1285852" y="4071942"/>
              <a:ext cx="2428892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574" name="直接连接符 40"/>
            <p:cNvCxnSpPr>
              <a:cxnSpLocks noChangeShapeType="1"/>
            </p:cNvCxnSpPr>
            <p:nvPr/>
          </p:nvCxnSpPr>
          <p:spPr bwMode="auto">
            <a:xfrm rot="5400000">
              <a:off x="1463652" y="3893347"/>
              <a:ext cx="2214578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3575" name="椭圆 41"/>
            <p:cNvSpPr>
              <a:spLocks noChangeArrowheads="1"/>
            </p:cNvSpPr>
            <p:nvPr/>
          </p:nvSpPr>
          <p:spPr bwMode="auto">
            <a:xfrm>
              <a:off x="2539986" y="2727320"/>
              <a:ext cx="71438" cy="71438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6" name="椭圆 42"/>
            <p:cNvSpPr>
              <a:spLocks noChangeArrowheads="1"/>
            </p:cNvSpPr>
            <p:nvPr/>
          </p:nvSpPr>
          <p:spPr bwMode="auto">
            <a:xfrm>
              <a:off x="2533636" y="4945073"/>
              <a:ext cx="71438" cy="71438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7" name="TextBox 43"/>
            <p:cNvSpPr txBox="1">
              <a:spLocks noChangeArrowheads="1"/>
            </p:cNvSpPr>
            <p:nvPr/>
          </p:nvSpPr>
          <p:spPr bwMode="auto">
            <a:xfrm>
              <a:off x="2643174" y="2428868"/>
              <a:ext cx="571504" cy="369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latin typeface="Dutch801 Rm BT" pitchFamily="18" charset="0"/>
                  <a:sym typeface="Symbol" pitchFamily="18" charset="2"/>
                </a:rPr>
                <a:t>a</a:t>
              </a:r>
              <a:r>
                <a:rPr lang="en-US" altLang="zh-CN">
                  <a:latin typeface="Segoe Print" pitchFamily="2" charset="0"/>
                </a:rPr>
                <a:t>’</a:t>
              </a:r>
            </a:p>
          </p:txBody>
        </p:sp>
        <p:sp>
          <p:nvSpPr>
            <p:cNvPr id="23578" name="TextBox 44"/>
            <p:cNvSpPr txBox="1">
              <a:spLocks noChangeArrowheads="1"/>
            </p:cNvSpPr>
            <p:nvPr/>
          </p:nvSpPr>
          <p:spPr bwMode="auto">
            <a:xfrm>
              <a:off x="2571736" y="4643446"/>
              <a:ext cx="571504" cy="369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en-US" altLang="zh-CN" b="1" i="1">
                  <a:latin typeface="Dutch801 Rm BT" pitchFamily="18" charset="0"/>
                  <a:sym typeface="Symbol" pitchFamily="18" charset="2"/>
                </a:rPr>
                <a:t>a</a:t>
              </a:r>
              <a:endParaRPr lang="en-US" altLang="zh-CN">
                <a:latin typeface="Segoe Print" pitchFamily="2" charset="0"/>
              </a:endParaRPr>
            </a:p>
          </p:txBody>
        </p:sp>
        <p:sp>
          <p:nvSpPr>
            <p:cNvPr id="23579" name="TextBox 45"/>
            <p:cNvSpPr txBox="1">
              <a:spLocks noChangeArrowheads="1"/>
            </p:cNvSpPr>
            <p:nvPr/>
          </p:nvSpPr>
          <p:spPr bwMode="auto">
            <a:xfrm>
              <a:off x="3500430" y="3643314"/>
              <a:ext cx="571504" cy="369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Gulim" pitchFamily="34" charset="-127"/>
                  <a:ea typeface="Gulim" pitchFamily="34" charset="-127"/>
                </a:rPr>
                <a:t>o</a:t>
              </a:r>
            </a:p>
          </p:txBody>
        </p:sp>
        <p:sp>
          <p:nvSpPr>
            <p:cNvPr id="23580" name="TextBox 46"/>
            <p:cNvSpPr txBox="1">
              <a:spLocks noChangeArrowheads="1"/>
            </p:cNvSpPr>
            <p:nvPr/>
          </p:nvSpPr>
          <p:spPr bwMode="auto">
            <a:xfrm>
              <a:off x="857224" y="3643314"/>
              <a:ext cx="571504" cy="3693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latin typeface="Gulim" pitchFamily="34" charset="-127"/>
                  <a:ea typeface="Gulim" pitchFamily="34" charset="-127"/>
                </a:rPr>
                <a:t>x</a:t>
              </a:r>
            </a:p>
          </p:txBody>
        </p:sp>
      </p:grpSp>
      <p:sp>
        <p:nvSpPr>
          <p:cNvPr id="23571" name="Text Box 2"/>
          <p:cNvSpPr txBox="1">
            <a:spLocks noChangeArrowheads="1"/>
          </p:cNvSpPr>
          <p:nvPr/>
        </p:nvSpPr>
        <p:spPr bwMode="auto">
          <a:xfrm>
            <a:off x="1487488" y="1324077"/>
            <a:ext cx="3570163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二、点的二面投影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4" presetClass="exit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8" grpId="0"/>
      <p:bldP spid="28" grpId="1"/>
      <p:bldP spid="29" grpId="0"/>
      <p:bldP spid="30" grpId="0"/>
      <p:bldP spid="30" grpId="1"/>
      <p:bldP spid="34" grpId="0" animBg="1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1"/>
          <p:cNvGrpSpPr>
            <a:grpSpLocks/>
          </p:cNvGrpSpPr>
          <p:nvPr/>
        </p:nvGrpSpPr>
        <p:grpSpPr bwMode="auto">
          <a:xfrm>
            <a:off x="6737351" y="3455991"/>
            <a:ext cx="3281363" cy="1243013"/>
            <a:chOff x="3284" y="1795"/>
            <a:chExt cx="2067" cy="783"/>
          </a:xfrm>
          <a:gradFill flip="none" rotWithShape="1">
            <a:gsLst>
              <a:gs pos="0">
                <a:srgbClr val="DDEBCF">
                  <a:alpha val="78000"/>
                </a:srgbClr>
              </a:gs>
              <a:gs pos="50000">
                <a:srgbClr val="9CB86E"/>
              </a:gs>
              <a:gs pos="100000">
                <a:srgbClr val="156B13"/>
              </a:gs>
            </a:gsLst>
            <a:lin ang="16200000" scaled="1"/>
            <a:tileRect/>
          </a:gradFill>
        </p:grpSpPr>
        <p:sp>
          <p:nvSpPr>
            <p:cNvPr id="25631" name="AutoShape 10"/>
            <p:cNvSpPr>
              <a:spLocks noChangeArrowheads="1"/>
            </p:cNvSpPr>
            <p:nvPr/>
          </p:nvSpPr>
          <p:spPr bwMode="auto">
            <a:xfrm rot="10800000" flipH="1">
              <a:off x="3284" y="1795"/>
              <a:ext cx="2067" cy="783"/>
            </a:xfrm>
            <a:prstGeom prst="parallelogram">
              <a:avLst>
                <a:gd name="adj" fmla="val 99605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5632" name="Text Box 43"/>
            <p:cNvSpPr txBox="1">
              <a:spLocks noChangeArrowheads="1"/>
            </p:cNvSpPr>
            <p:nvPr/>
          </p:nvSpPr>
          <p:spPr bwMode="auto">
            <a:xfrm>
              <a:off x="4058" y="2275"/>
              <a:ext cx="214" cy="29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 dirty="0">
                  <a:latin typeface="宋体" pitchFamily="2" charset="-122"/>
                </a:rPr>
                <a:t>H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</p:grpSp>
      <p:grpSp>
        <p:nvGrpSpPr>
          <p:cNvPr id="3" name="Group 137"/>
          <p:cNvGrpSpPr>
            <a:grpSpLocks/>
          </p:cNvGrpSpPr>
          <p:nvPr/>
        </p:nvGrpSpPr>
        <p:grpSpPr bwMode="auto">
          <a:xfrm>
            <a:off x="8774114" y="2003426"/>
            <a:ext cx="1247775" cy="2701925"/>
            <a:chOff x="4567" y="880"/>
            <a:chExt cx="786" cy="1702"/>
          </a:xfr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0800000" scaled="1"/>
            <a:tileRect/>
          </a:gradFill>
        </p:grpSpPr>
        <p:sp>
          <p:nvSpPr>
            <p:cNvPr id="25629" name="Freeform 128"/>
            <p:cNvSpPr>
              <a:spLocks/>
            </p:cNvSpPr>
            <p:nvPr/>
          </p:nvSpPr>
          <p:spPr bwMode="auto">
            <a:xfrm>
              <a:off x="4567" y="880"/>
              <a:ext cx="786" cy="1702"/>
            </a:xfrm>
            <a:custGeom>
              <a:avLst/>
              <a:gdLst>
                <a:gd name="T0" fmla="*/ 0 w 786"/>
                <a:gd name="T1" fmla="*/ 0 h 1702"/>
                <a:gd name="T2" fmla="*/ 0 w 786"/>
                <a:gd name="T3" fmla="*/ 917 h 1702"/>
                <a:gd name="T4" fmla="*/ 785 w 786"/>
                <a:gd name="T5" fmla="*/ 1702 h 1702"/>
                <a:gd name="T6" fmla="*/ 786 w 786"/>
                <a:gd name="T7" fmla="*/ 786 h 1702"/>
                <a:gd name="T8" fmla="*/ 0 w 786"/>
                <a:gd name="T9" fmla="*/ 0 h 17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6"/>
                <a:gd name="T16" fmla="*/ 0 h 1702"/>
                <a:gd name="T17" fmla="*/ 786 w 786"/>
                <a:gd name="T18" fmla="*/ 1702 h 17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6" h="1702">
                  <a:moveTo>
                    <a:pt x="0" y="0"/>
                  </a:moveTo>
                  <a:lnTo>
                    <a:pt x="0" y="917"/>
                  </a:lnTo>
                  <a:lnTo>
                    <a:pt x="785" y="1702"/>
                  </a:lnTo>
                  <a:lnTo>
                    <a:pt x="786" y="78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5630" name="Text Box 44"/>
            <p:cNvSpPr txBox="1">
              <a:spLocks noChangeArrowheads="1"/>
            </p:cNvSpPr>
            <p:nvPr/>
          </p:nvSpPr>
          <p:spPr bwMode="auto">
            <a:xfrm>
              <a:off x="5131" y="1577"/>
              <a:ext cx="214" cy="29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 dirty="0">
                  <a:latin typeface="宋体" pitchFamily="2" charset="-122"/>
                </a:rPr>
                <a:t>W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</p:grpSp>
      <p:grpSp>
        <p:nvGrpSpPr>
          <p:cNvPr id="4" name="Group 112"/>
          <p:cNvGrpSpPr>
            <a:grpSpLocks/>
          </p:cNvGrpSpPr>
          <p:nvPr/>
        </p:nvGrpSpPr>
        <p:grpSpPr bwMode="auto">
          <a:xfrm>
            <a:off x="6725046" y="2008337"/>
            <a:ext cx="2036466" cy="1440914"/>
            <a:chOff x="3268" y="895"/>
            <a:chExt cx="1225" cy="569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25627" name="Rectangle 7"/>
            <p:cNvSpPr>
              <a:spLocks noChangeArrowheads="1"/>
            </p:cNvSpPr>
            <p:nvPr/>
          </p:nvSpPr>
          <p:spPr bwMode="auto">
            <a:xfrm>
              <a:off x="3268" y="895"/>
              <a:ext cx="1225" cy="569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5628" name="Text Box 42"/>
            <p:cNvSpPr txBox="1">
              <a:spLocks noChangeArrowheads="1"/>
            </p:cNvSpPr>
            <p:nvPr/>
          </p:nvSpPr>
          <p:spPr bwMode="auto">
            <a:xfrm>
              <a:off x="3287" y="915"/>
              <a:ext cx="214" cy="29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 dirty="0">
                  <a:latin typeface="宋体" pitchFamily="2" charset="-122"/>
                </a:rPr>
                <a:t>V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</p:grpSp>
      <p:sp>
        <p:nvSpPr>
          <p:cNvPr id="24581" name="Text Box 2"/>
          <p:cNvSpPr txBox="1">
            <a:spLocks noChangeArrowheads="1"/>
          </p:cNvSpPr>
          <p:nvPr/>
        </p:nvSpPr>
        <p:spPr bwMode="auto">
          <a:xfrm>
            <a:off x="1343472" y="1340208"/>
            <a:ext cx="3714179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三、点的三面投影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14381" name="Text Box 45"/>
          <p:cNvSpPr txBox="1">
            <a:spLocks noChangeArrowheads="1"/>
          </p:cNvSpPr>
          <p:nvPr/>
        </p:nvSpPr>
        <p:spPr bwMode="auto">
          <a:xfrm>
            <a:off x="2065500" y="1936751"/>
            <a:ext cx="153781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投影面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14382" name="Text Box 46"/>
          <p:cNvSpPr txBox="1">
            <a:spLocks noChangeArrowheads="1"/>
          </p:cNvSpPr>
          <p:nvPr/>
        </p:nvSpPr>
        <p:spPr bwMode="auto">
          <a:xfrm>
            <a:off x="1679576" y="2363788"/>
            <a:ext cx="4786313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>
                <a:latin typeface="宋体" pitchFamily="2" charset="-122"/>
              </a:rPr>
              <a:t>◆</a:t>
            </a:r>
            <a:r>
              <a:rPr kumimoji="1" lang="zh-CN" altLang="en-US" sz="2400" b="1">
                <a:latin typeface="宋体" pitchFamily="2" charset="-122"/>
              </a:rPr>
              <a:t>正面投影面（正面或</a:t>
            </a:r>
            <a:r>
              <a:rPr kumimoji="1" lang="en-US" altLang="zh-CN" sz="2400" b="1">
                <a:latin typeface="宋体" pitchFamily="2" charset="-122"/>
              </a:rPr>
              <a:t>V</a:t>
            </a:r>
            <a:r>
              <a:rPr kumimoji="1" lang="zh-CN" altLang="en-US" sz="2400" b="1">
                <a:latin typeface="宋体" pitchFamily="2" charset="-122"/>
              </a:rPr>
              <a:t>面）</a:t>
            </a:r>
          </a:p>
        </p:txBody>
      </p:sp>
      <p:sp>
        <p:nvSpPr>
          <p:cNvPr id="14383" name="Text Box 47"/>
          <p:cNvSpPr txBox="1">
            <a:spLocks noChangeArrowheads="1"/>
          </p:cNvSpPr>
          <p:nvPr/>
        </p:nvSpPr>
        <p:spPr bwMode="auto">
          <a:xfrm>
            <a:off x="1679575" y="2976563"/>
            <a:ext cx="4929188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>
                <a:latin typeface="宋体" pitchFamily="2" charset="-122"/>
              </a:rPr>
              <a:t>◆</a:t>
            </a:r>
            <a:r>
              <a:rPr kumimoji="1" lang="zh-CN" altLang="en-US" sz="2400" b="1">
                <a:latin typeface="宋体" pitchFamily="2" charset="-122"/>
              </a:rPr>
              <a:t>水平投影面（水平面或</a:t>
            </a:r>
            <a:r>
              <a:rPr kumimoji="1" lang="en-US" altLang="zh-CN" sz="2400" b="1">
                <a:latin typeface="宋体" pitchFamily="2" charset="-122"/>
              </a:rPr>
              <a:t>H</a:t>
            </a:r>
            <a:r>
              <a:rPr kumimoji="1" lang="zh-CN" altLang="en-US" sz="2400" b="1">
                <a:latin typeface="宋体" pitchFamily="2" charset="-122"/>
              </a:rPr>
              <a:t>面）</a:t>
            </a:r>
          </a:p>
        </p:txBody>
      </p:sp>
      <p:sp>
        <p:nvSpPr>
          <p:cNvPr id="14384" name="Text Box 48"/>
          <p:cNvSpPr txBox="1">
            <a:spLocks noChangeArrowheads="1"/>
          </p:cNvSpPr>
          <p:nvPr/>
        </p:nvSpPr>
        <p:spPr bwMode="auto">
          <a:xfrm>
            <a:off x="1679575" y="3619501"/>
            <a:ext cx="4572000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>
                <a:latin typeface="宋体" pitchFamily="2" charset="-122"/>
              </a:rPr>
              <a:t>◆</a:t>
            </a:r>
            <a:r>
              <a:rPr kumimoji="1" lang="zh-CN" altLang="en-US" sz="2400" b="1">
                <a:latin typeface="宋体" pitchFamily="2" charset="-122"/>
              </a:rPr>
              <a:t>侧面投影面（侧面或</a:t>
            </a:r>
            <a:r>
              <a:rPr kumimoji="1" lang="en-US" altLang="zh-CN" sz="2400" b="1">
                <a:latin typeface="宋体" pitchFamily="2" charset="-122"/>
              </a:rPr>
              <a:t>W</a:t>
            </a:r>
            <a:r>
              <a:rPr kumimoji="1" lang="zh-CN" altLang="en-US" sz="2400" b="1">
                <a:latin typeface="宋体" pitchFamily="2" charset="-122"/>
              </a:rPr>
              <a:t>面）</a:t>
            </a:r>
          </a:p>
        </p:txBody>
      </p:sp>
      <p:sp>
        <p:nvSpPr>
          <p:cNvPr id="14386" name="Text Box 50"/>
          <p:cNvSpPr txBox="1">
            <a:spLocks noChangeArrowheads="1"/>
          </p:cNvSpPr>
          <p:nvPr/>
        </p:nvSpPr>
        <p:spPr bwMode="auto">
          <a:xfrm>
            <a:off x="2090739" y="4296719"/>
            <a:ext cx="187007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400" b="1">
                <a:solidFill>
                  <a:srgbClr val="FF3300"/>
                </a:solidFill>
                <a:latin typeface="Times New Roman" pitchFamily="18" charset="0"/>
              </a:rPr>
              <a:t>投影轴</a:t>
            </a:r>
            <a:endParaRPr kumimoji="1" lang="zh-CN" altLang="en-US" sz="2400" b="1">
              <a:latin typeface="Times New Roman" pitchFamily="18" charset="0"/>
            </a:endParaRPr>
          </a:p>
        </p:txBody>
      </p:sp>
      <p:grpSp>
        <p:nvGrpSpPr>
          <p:cNvPr id="5" name="Group 135"/>
          <p:cNvGrpSpPr>
            <a:grpSpLocks/>
          </p:cNvGrpSpPr>
          <p:nvPr/>
        </p:nvGrpSpPr>
        <p:grpSpPr bwMode="auto">
          <a:xfrm>
            <a:off x="6465889" y="3358911"/>
            <a:ext cx="2840039" cy="603249"/>
            <a:chOff x="2973" y="1623"/>
            <a:chExt cx="1789" cy="380"/>
          </a:xfrm>
        </p:grpSpPr>
        <p:sp>
          <p:nvSpPr>
            <p:cNvPr id="24600" name="Text Box 38"/>
            <p:cNvSpPr txBox="1">
              <a:spLocks noChangeArrowheads="1"/>
            </p:cNvSpPr>
            <p:nvPr/>
          </p:nvSpPr>
          <p:spPr bwMode="auto">
            <a:xfrm>
              <a:off x="4548" y="1623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O</a:t>
              </a:r>
            </a:p>
          </p:txBody>
        </p:sp>
        <p:sp>
          <p:nvSpPr>
            <p:cNvPr id="24601" name="Freeform 5"/>
            <p:cNvSpPr>
              <a:spLocks/>
            </p:cNvSpPr>
            <p:nvPr/>
          </p:nvSpPr>
          <p:spPr bwMode="auto">
            <a:xfrm>
              <a:off x="3026" y="1681"/>
              <a:ext cx="116" cy="233"/>
            </a:xfrm>
            <a:custGeom>
              <a:avLst/>
              <a:gdLst>
                <a:gd name="T0" fmla="*/ 1544 w 1544"/>
                <a:gd name="T1" fmla="*/ 0 h 1"/>
                <a:gd name="T2" fmla="*/ 0 w 1544"/>
                <a:gd name="T3" fmla="*/ 0 h 1"/>
                <a:gd name="T4" fmla="*/ 0 60000 65536"/>
                <a:gd name="T5" fmla="*/ 0 60000 65536"/>
                <a:gd name="T6" fmla="*/ 0 w 1544"/>
                <a:gd name="T7" fmla="*/ 0 h 1"/>
                <a:gd name="T8" fmla="*/ 1544 w 154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44" h="1">
                  <a:moveTo>
                    <a:pt x="1544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02" name="Text Box 39"/>
            <p:cNvSpPr txBox="1">
              <a:spLocks noChangeArrowheads="1"/>
            </p:cNvSpPr>
            <p:nvPr/>
          </p:nvSpPr>
          <p:spPr bwMode="auto">
            <a:xfrm>
              <a:off x="2973" y="1712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X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</p:grpSp>
      <p:grpSp>
        <p:nvGrpSpPr>
          <p:cNvPr id="6" name="Group 136"/>
          <p:cNvGrpSpPr>
            <a:grpSpLocks/>
          </p:cNvGrpSpPr>
          <p:nvPr/>
        </p:nvGrpSpPr>
        <p:grpSpPr bwMode="auto">
          <a:xfrm>
            <a:off x="8394692" y="1566863"/>
            <a:ext cx="368299" cy="1908176"/>
            <a:chOff x="4328" y="605"/>
            <a:chExt cx="232" cy="1202"/>
          </a:xfrm>
        </p:grpSpPr>
        <p:sp>
          <p:nvSpPr>
            <p:cNvPr id="24598" name="Line 4"/>
            <p:cNvSpPr>
              <a:spLocks noChangeShapeType="1"/>
            </p:cNvSpPr>
            <p:nvPr/>
          </p:nvSpPr>
          <p:spPr bwMode="auto">
            <a:xfrm>
              <a:off x="4559" y="659"/>
              <a:ext cx="1" cy="11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9" name="Text Box 40"/>
            <p:cNvSpPr txBox="1">
              <a:spLocks noChangeArrowheads="1"/>
            </p:cNvSpPr>
            <p:nvPr/>
          </p:nvSpPr>
          <p:spPr bwMode="auto">
            <a:xfrm>
              <a:off x="4328" y="605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Z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</p:grpSp>
      <p:sp>
        <p:nvSpPr>
          <p:cNvPr id="14389" name="Rectangle 53"/>
          <p:cNvSpPr>
            <a:spLocks noChangeArrowheads="1"/>
          </p:cNvSpPr>
          <p:nvPr/>
        </p:nvSpPr>
        <p:spPr bwMode="auto">
          <a:xfrm>
            <a:off x="2309814" y="4839644"/>
            <a:ext cx="487997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>
                <a:latin typeface="宋体" pitchFamily="2" charset="-122"/>
              </a:rPr>
              <a:t>OX</a:t>
            </a:r>
            <a:r>
              <a:rPr kumimoji="1" lang="zh-CN" altLang="en-US" sz="2400" b="1">
                <a:latin typeface="宋体" pitchFamily="2" charset="-122"/>
              </a:rPr>
              <a:t>轴   </a:t>
            </a:r>
            <a:r>
              <a:rPr kumimoji="1" lang="en-US" altLang="zh-CN" sz="2400" b="1">
                <a:latin typeface="宋体" pitchFamily="2" charset="-122"/>
              </a:rPr>
              <a:t>V</a:t>
            </a:r>
            <a:r>
              <a:rPr kumimoji="1" lang="zh-CN" altLang="en-US" sz="2400" b="1">
                <a:latin typeface="宋体" pitchFamily="2" charset="-122"/>
              </a:rPr>
              <a:t>面与</a:t>
            </a:r>
            <a:r>
              <a:rPr kumimoji="1" lang="en-US" altLang="zh-CN" sz="2400" b="1">
                <a:latin typeface="宋体" pitchFamily="2" charset="-122"/>
              </a:rPr>
              <a:t>H</a:t>
            </a:r>
            <a:r>
              <a:rPr kumimoji="1" lang="zh-CN" altLang="en-US" sz="2400" b="1">
                <a:latin typeface="宋体" pitchFamily="2" charset="-122"/>
              </a:rPr>
              <a:t>面的交线</a:t>
            </a:r>
          </a:p>
        </p:txBody>
      </p:sp>
      <p:sp>
        <p:nvSpPr>
          <p:cNvPr id="14390" name="Text Box 54"/>
          <p:cNvSpPr txBox="1">
            <a:spLocks noChangeArrowheads="1"/>
          </p:cNvSpPr>
          <p:nvPr/>
        </p:nvSpPr>
        <p:spPr bwMode="auto">
          <a:xfrm>
            <a:off x="2297113" y="5701656"/>
            <a:ext cx="343876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>
                <a:latin typeface="宋体" pitchFamily="2" charset="-122"/>
              </a:rPr>
              <a:t>OZ</a:t>
            </a:r>
            <a:r>
              <a:rPr kumimoji="1" lang="zh-CN" altLang="en-US" sz="2400" b="1">
                <a:latin typeface="宋体" pitchFamily="2" charset="-122"/>
              </a:rPr>
              <a:t>轴   </a:t>
            </a:r>
            <a:r>
              <a:rPr kumimoji="1" lang="en-US" altLang="zh-CN" sz="2400" b="1">
                <a:latin typeface="宋体" pitchFamily="2" charset="-122"/>
              </a:rPr>
              <a:t>V</a:t>
            </a:r>
            <a:r>
              <a:rPr kumimoji="1" lang="zh-CN" altLang="en-US" sz="2400" b="1">
                <a:latin typeface="宋体" pitchFamily="2" charset="-122"/>
              </a:rPr>
              <a:t>面与</a:t>
            </a:r>
            <a:r>
              <a:rPr kumimoji="1" lang="en-US" altLang="zh-CN" sz="2400" b="1">
                <a:latin typeface="宋体" pitchFamily="2" charset="-122"/>
              </a:rPr>
              <a:t>W</a:t>
            </a:r>
            <a:r>
              <a:rPr kumimoji="1" lang="zh-CN" altLang="en-US" sz="2400" b="1">
                <a:latin typeface="宋体" pitchFamily="2" charset="-122"/>
              </a:rPr>
              <a:t>面的交线</a:t>
            </a:r>
          </a:p>
        </p:txBody>
      </p:sp>
      <p:sp>
        <p:nvSpPr>
          <p:cNvPr id="14391" name="Text Box 55"/>
          <p:cNvSpPr txBox="1">
            <a:spLocks noChangeArrowheads="1"/>
          </p:cNvSpPr>
          <p:nvPr/>
        </p:nvSpPr>
        <p:spPr bwMode="auto">
          <a:xfrm>
            <a:off x="2297114" y="5258744"/>
            <a:ext cx="530383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>
                <a:latin typeface="宋体" pitchFamily="2" charset="-122"/>
              </a:rPr>
              <a:t>OY</a:t>
            </a:r>
            <a:r>
              <a:rPr kumimoji="1" lang="zh-CN" altLang="en-US" sz="2400" b="1">
                <a:latin typeface="宋体" pitchFamily="2" charset="-122"/>
              </a:rPr>
              <a:t>轴   </a:t>
            </a:r>
            <a:r>
              <a:rPr kumimoji="1" lang="en-US" altLang="zh-CN" sz="2400" b="1">
                <a:latin typeface="宋体" pitchFamily="2" charset="-122"/>
              </a:rPr>
              <a:t>H</a:t>
            </a:r>
            <a:r>
              <a:rPr kumimoji="1" lang="zh-CN" altLang="en-US" sz="2400" b="1">
                <a:latin typeface="宋体" pitchFamily="2" charset="-122"/>
              </a:rPr>
              <a:t>面与</a:t>
            </a:r>
            <a:r>
              <a:rPr kumimoji="1" lang="en-US" altLang="zh-CN" sz="2400" b="1">
                <a:latin typeface="宋体" pitchFamily="2" charset="-122"/>
              </a:rPr>
              <a:t>W</a:t>
            </a:r>
            <a:r>
              <a:rPr kumimoji="1" lang="zh-CN" altLang="en-US" sz="2400" b="1">
                <a:latin typeface="宋体" pitchFamily="2" charset="-122"/>
              </a:rPr>
              <a:t>面的交线</a:t>
            </a:r>
          </a:p>
        </p:txBody>
      </p:sp>
      <p:sp>
        <p:nvSpPr>
          <p:cNvPr id="24592" name="Freeform 127"/>
          <p:cNvSpPr>
            <a:spLocks/>
          </p:cNvSpPr>
          <p:nvPr/>
        </p:nvSpPr>
        <p:spPr bwMode="auto">
          <a:xfrm>
            <a:off x="8785225" y="2027239"/>
            <a:ext cx="1258888" cy="2701925"/>
          </a:xfrm>
          <a:custGeom>
            <a:avLst/>
            <a:gdLst>
              <a:gd name="T0" fmla="*/ 0 w 793"/>
              <a:gd name="T1" fmla="*/ 0 h 1702"/>
              <a:gd name="T2" fmla="*/ 2147483647 w 793"/>
              <a:gd name="T3" fmla="*/ 2147483647 h 1702"/>
              <a:gd name="T4" fmla="*/ 2147483647 w 793"/>
              <a:gd name="T5" fmla="*/ 2147483647 h 1702"/>
              <a:gd name="T6" fmla="*/ 0 w 793"/>
              <a:gd name="T7" fmla="*/ 2147483647 h 1702"/>
              <a:gd name="T8" fmla="*/ 0 w 793"/>
              <a:gd name="T9" fmla="*/ 0 h 17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3"/>
              <a:gd name="T16" fmla="*/ 0 h 1702"/>
              <a:gd name="T17" fmla="*/ 793 w 793"/>
              <a:gd name="T18" fmla="*/ 1702 h 17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3" h="1702">
                <a:moveTo>
                  <a:pt x="0" y="0"/>
                </a:moveTo>
                <a:lnTo>
                  <a:pt x="771" y="771"/>
                </a:lnTo>
                <a:lnTo>
                  <a:pt x="793" y="1702"/>
                </a:lnTo>
                <a:lnTo>
                  <a:pt x="0" y="909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470" name="AutoShape 134"/>
          <p:cNvSpPr>
            <a:spLocks noChangeArrowheads="1"/>
          </p:cNvSpPr>
          <p:nvPr/>
        </p:nvSpPr>
        <p:spPr bwMode="auto">
          <a:xfrm>
            <a:off x="7319964" y="5387906"/>
            <a:ext cx="3286125" cy="1168539"/>
          </a:xfrm>
          <a:prstGeom prst="wedgeEllipseCallout">
            <a:avLst>
              <a:gd name="adj1" fmla="val 5505"/>
              <a:gd name="adj2" fmla="val -112091"/>
            </a:avLst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三个投影面互相垂直</a:t>
            </a:r>
          </a:p>
        </p:txBody>
      </p:sp>
      <p:grpSp>
        <p:nvGrpSpPr>
          <p:cNvPr id="7" name="Group 138"/>
          <p:cNvGrpSpPr>
            <a:grpSpLocks/>
          </p:cNvGrpSpPr>
          <p:nvPr/>
        </p:nvGrpSpPr>
        <p:grpSpPr bwMode="auto">
          <a:xfrm>
            <a:off x="8764591" y="3455988"/>
            <a:ext cx="1611313" cy="1517650"/>
            <a:chOff x="4561" y="1795"/>
            <a:chExt cx="1015" cy="956"/>
          </a:xfrm>
        </p:grpSpPr>
        <p:sp>
          <p:nvSpPr>
            <p:cNvPr id="24596" name="Text Box 41"/>
            <p:cNvSpPr txBox="1">
              <a:spLocks noChangeArrowheads="1"/>
            </p:cNvSpPr>
            <p:nvPr/>
          </p:nvSpPr>
          <p:spPr bwMode="auto">
            <a:xfrm>
              <a:off x="5362" y="2460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Y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24597" name="Line 132"/>
            <p:cNvSpPr>
              <a:spLocks noChangeShapeType="1"/>
            </p:cNvSpPr>
            <p:nvPr/>
          </p:nvSpPr>
          <p:spPr bwMode="auto">
            <a:xfrm>
              <a:off x="4561" y="1795"/>
              <a:ext cx="832" cy="83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14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75"/>
                                        <p:tgtEl>
                                          <p:spTgt spid="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75"/>
                                        <p:tgtEl>
                                          <p:spTgt spid="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75"/>
                                        <p:tgtEl>
                                          <p:spTgt spid="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1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4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81" grpId="0"/>
      <p:bldP spid="14382" grpId="0" autoUpdateAnimBg="0"/>
      <p:bldP spid="14383" grpId="0" autoUpdateAnimBg="0"/>
      <p:bldP spid="14384" grpId="0" autoUpdateAnimBg="0"/>
      <p:bldP spid="14386" grpId="0"/>
      <p:bldP spid="14389" grpId="0" autoUpdateAnimBg="0"/>
      <p:bldP spid="14390" grpId="0" autoUpdateAnimBg="0"/>
      <p:bldP spid="14391" grpId="0" autoUpdateAnimBg="0"/>
      <p:bldP spid="14470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81"/>
          <p:cNvGrpSpPr>
            <a:grpSpLocks/>
          </p:cNvGrpSpPr>
          <p:nvPr/>
        </p:nvGrpSpPr>
        <p:grpSpPr bwMode="auto">
          <a:xfrm>
            <a:off x="6415087" y="1785939"/>
            <a:ext cx="4108450" cy="3379787"/>
            <a:chOff x="3081" y="633"/>
            <a:chExt cx="2588" cy="2129"/>
          </a:xfrm>
        </p:grpSpPr>
        <p:sp>
          <p:nvSpPr>
            <p:cNvPr id="25636" name="AutoShape 6"/>
            <p:cNvSpPr>
              <a:spLocks noChangeArrowheads="1"/>
            </p:cNvSpPr>
            <p:nvPr/>
          </p:nvSpPr>
          <p:spPr bwMode="auto">
            <a:xfrm rot="5400000">
              <a:off x="4119" y="1347"/>
              <a:ext cx="1713" cy="791"/>
            </a:xfrm>
            <a:prstGeom prst="parallelogram">
              <a:avLst>
                <a:gd name="adj" fmla="val 99869"/>
              </a:avLst>
            </a:prstGeom>
            <a:gradFill rotWithShape="0">
              <a:gsLst>
                <a:gs pos="0">
                  <a:srgbClr val="FFEFD1"/>
                </a:gs>
                <a:gs pos="64999">
                  <a:srgbClr val="F0EBD5"/>
                </a:gs>
                <a:gs pos="100000">
                  <a:srgbClr val="D1C39F"/>
                </a:gs>
              </a:gsLst>
              <a:lin ang="10800000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7" name="Text Box 7"/>
            <p:cNvSpPr txBox="1">
              <a:spLocks noChangeArrowheads="1"/>
            </p:cNvSpPr>
            <p:nvPr/>
          </p:nvSpPr>
          <p:spPr bwMode="auto">
            <a:xfrm>
              <a:off x="5136" y="1583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W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5638" name="AutoShape 3"/>
            <p:cNvSpPr>
              <a:spLocks noChangeArrowheads="1"/>
            </p:cNvSpPr>
            <p:nvPr/>
          </p:nvSpPr>
          <p:spPr bwMode="auto">
            <a:xfrm rot="10800000" flipH="1">
              <a:off x="3284" y="1807"/>
              <a:ext cx="2087" cy="779"/>
            </a:xfrm>
            <a:prstGeom prst="parallelogram">
              <a:avLst>
                <a:gd name="adj" fmla="val 100887"/>
              </a:avLst>
            </a:prstGeom>
            <a:gradFill rotWithShape="1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9" name="Text Box 4"/>
            <p:cNvSpPr txBox="1">
              <a:spLocks noChangeArrowheads="1"/>
            </p:cNvSpPr>
            <p:nvPr/>
          </p:nvSpPr>
          <p:spPr bwMode="auto">
            <a:xfrm>
              <a:off x="4058" y="2345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H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64" name="Rectangle 9"/>
            <p:cNvSpPr>
              <a:spLocks noChangeArrowheads="1"/>
            </p:cNvSpPr>
            <p:nvPr/>
          </p:nvSpPr>
          <p:spPr bwMode="auto">
            <a:xfrm>
              <a:off x="3302" y="889"/>
              <a:ext cx="1293" cy="930"/>
            </a:xfrm>
            <a:prstGeom prst="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5641" name="Text Box 10"/>
            <p:cNvSpPr txBox="1">
              <a:spLocks noChangeArrowheads="1"/>
            </p:cNvSpPr>
            <p:nvPr/>
          </p:nvSpPr>
          <p:spPr bwMode="auto">
            <a:xfrm>
              <a:off x="3279" y="861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V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5642" name="Text Box 18"/>
            <p:cNvSpPr txBox="1">
              <a:spLocks noChangeArrowheads="1"/>
            </p:cNvSpPr>
            <p:nvPr/>
          </p:nvSpPr>
          <p:spPr bwMode="auto">
            <a:xfrm>
              <a:off x="4558" y="1606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O</a:t>
              </a:r>
            </a:p>
          </p:txBody>
        </p:sp>
        <p:sp>
          <p:nvSpPr>
            <p:cNvPr id="25643" name="Freeform 19"/>
            <p:cNvSpPr>
              <a:spLocks/>
            </p:cNvSpPr>
            <p:nvPr/>
          </p:nvSpPr>
          <p:spPr bwMode="auto">
            <a:xfrm>
              <a:off x="3197" y="1812"/>
              <a:ext cx="116" cy="233"/>
            </a:xfrm>
            <a:custGeom>
              <a:avLst/>
              <a:gdLst>
                <a:gd name="T0" fmla="*/ 1544 w 1544"/>
                <a:gd name="T1" fmla="*/ 0 h 1"/>
                <a:gd name="T2" fmla="*/ 0 w 1544"/>
                <a:gd name="T3" fmla="*/ 0 h 1"/>
                <a:gd name="T4" fmla="*/ 0 60000 65536"/>
                <a:gd name="T5" fmla="*/ 0 60000 65536"/>
                <a:gd name="T6" fmla="*/ 0 w 1544"/>
                <a:gd name="T7" fmla="*/ 0 h 1"/>
                <a:gd name="T8" fmla="*/ 1544 w 154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44" h="1">
                  <a:moveTo>
                    <a:pt x="1544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44" name="Text Box 20"/>
            <p:cNvSpPr txBox="1">
              <a:spLocks noChangeArrowheads="1"/>
            </p:cNvSpPr>
            <p:nvPr/>
          </p:nvSpPr>
          <p:spPr bwMode="auto">
            <a:xfrm>
              <a:off x="3081" y="1812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dirty="0">
                  <a:latin typeface="宋体" pitchFamily="2" charset="-122"/>
                </a:rPr>
                <a:t>X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  <p:sp>
          <p:nvSpPr>
            <p:cNvPr id="25645" name="Line 22"/>
            <p:cNvSpPr>
              <a:spLocks noChangeShapeType="1"/>
            </p:cNvSpPr>
            <p:nvPr/>
          </p:nvSpPr>
          <p:spPr bwMode="auto">
            <a:xfrm>
              <a:off x="4580" y="659"/>
              <a:ext cx="0" cy="11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46" name="Rectangle 73"/>
            <p:cNvSpPr>
              <a:spLocks noChangeArrowheads="1"/>
            </p:cNvSpPr>
            <p:nvPr/>
          </p:nvSpPr>
          <p:spPr bwMode="auto">
            <a:xfrm>
              <a:off x="4337" y="633"/>
              <a:ext cx="2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Z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25647" name="Text Box 72"/>
            <p:cNvSpPr txBox="1">
              <a:spLocks noChangeArrowheads="1"/>
            </p:cNvSpPr>
            <p:nvPr/>
          </p:nvSpPr>
          <p:spPr bwMode="auto">
            <a:xfrm>
              <a:off x="5414" y="2474"/>
              <a:ext cx="25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Y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25648" name="Line 77"/>
            <p:cNvSpPr>
              <a:spLocks noChangeShapeType="1"/>
            </p:cNvSpPr>
            <p:nvPr/>
          </p:nvSpPr>
          <p:spPr bwMode="auto">
            <a:xfrm>
              <a:off x="4580" y="1803"/>
              <a:ext cx="925" cy="917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603" name="Text Box 30"/>
          <p:cNvSpPr txBox="1">
            <a:spLocks noChangeArrowheads="1"/>
          </p:cNvSpPr>
          <p:nvPr/>
        </p:nvSpPr>
        <p:spPr bwMode="auto">
          <a:xfrm>
            <a:off x="1523998" y="1380190"/>
            <a:ext cx="5461000" cy="52322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空间点</a:t>
            </a:r>
            <a:r>
              <a:rPr kumimoji="1" lang="en-US" altLang="zh-CN" sz="2800" b="1" dirty="0">
                <a:latin typeface="宋体" pitchFamily="2" charset="-122"/>
              </a:rPr>
              <a:t>A</a:t>
            </a:r>
            <a:r>
              <a:rPr kumimoji="1" lang="zh-CN" altLang="en-US" sz="2800" b="1" dirty="0">
                <a:latin typeface="宋体" pitchFamily="2" charset="-122"/>
              </a:rPr>
              <a:t>在三个投影面上的投影</a:t>
            </a:r>
          </a:p>
        </p:txBody>
      </p:sp>
      <p:grpSp>
        <p:nvGrpSpPr>
          <p:cNvPr id="3" name="Group 62"/>
          <p:cNvGrpSpPr>
            <a:grpSpLocks/>
          </p:cNvGrpSpPr>
          <p:nvPr/>
        </p:nvGrpSpPr>
        <p:grpSpPr bwMode="auto">
          <a:xfrm>
            <a:off x="2418085" y="2589536"/>
            <a:ext cx="3317876" cy="479425"/>
            <a:chOff x="417" y="2246"/>
            <a:chExt cx="2090" cy="302"/>
          </a:xfrm>
        </p:grpSpPr>
        <p:sp>
          <p:nvSpPr>
            <p:cNvPr id="6176" name="Text Box 32"/>
            <p:cNvSpPr txBox="1">
              <a:spLocks noChangeArrowheads="1"/>
            </p:cNvSpPr>
            <p:nvPr/>
          </p:nvSpPr>
          <p:spPr bwMode="auto">
            <a:xfrm>
              <a:off x="417" y="2246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400" i="1" dirty="0">
                  <a:latin typeface="+mn-lt"/>
                  <a:ea typeface="+mn-ea"/>
                  <a:sym typeface="EuroRoman" pitchFamily="2" charset="2"/>
                </a:rPr>
                <a:t>a</a:t>
              </a:r>
              <a:r>
                <a:rPr kumimoji="1" lang="en-US" altLang="zh-CN" sz="2400" b="1" dirty="0">
                  <a:latin typeface="+mn-lt"/>
                  <a:ea typeface="+mn-ea"/>
                  <a:sym typeface="Symbol" pitchFamily="18" charset="2"/>
                </a:rPr>
                <a:t></a:t>
              </a:r>
              <a:endParaRPr kumimoji="1" lang="en-US" altLang="zh-CN" sz="2400" b="1" dirty="0">
                <a:latin typeface="+mn-lt"/>
                <a:ea typeface="+mn-ea"/>
                <a:sym typeface="UniversalMath1 BT" pitchFamily="18" charset="2"/>
              </a:endParaRPr>
            </a:p>
          </p:txBody>
        </p:sp>
        <p:sp>
          <p:nvSpPr>
            <p:cNvPr id="6177" name="Line 33"/>
            <p:cNvSpPr>
              <a:spLocks noChangeShapeType="1"/>
            </p:cNvSpPr>
            <p:nvPr/>
          </p:nvSpPr>
          <p:spPr bwMode="auto">
            <a:xfrm>
              <a:off x="615" y="2437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6178" name="Text Box 34"/>
            <p:cNvSpPr txBox="1">
              <a:spLocks noChangeArrowheads="1"/>
            </p:cNvSpPr>
            <p:nvPr/>
          </p:nvSpPr>
          <p:spPr bwMode="auto">
            <a:xfrm>
              <a:off x="1123" y="2257"/>
              <a:ext cx="138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zh-CN" altLang="en-US" sz="2400" b="1" dirty="0">
                  <a:latin typeface="+mn-ea"/>
                  <a:ea typeface="+mn-ea"/>
                </a:rPr>
                <a:t>点</a:t>
              </a:r>
              <a:r>
                <a:rPr kumimoji="1" lang="en-US" altLang="zh-CN" sz="2400" b="1" dirty="0">
                  <a:latin typeface="+mn-ea"/>
                  <a:ea typeface="+mn-ea"/>
                </a:rPr>
                <a:t>A</a:t>
              </a:r>
              <a:r>
                <a:rPr kumimoji="1" lang="zh-CN" altLang="en-US" sz="2400" b="1" dirty="0">
                  <a:latin typeface="+mn-ea"/>
                  <a:ea typeface="+mn-ea"/>
                </a:rPr>
                <a:t>的正面投影</a:t>
              </a: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2402208" y="3231743"/>
            <a:ext cx="3043238" cy="473075"/>
            <a:chOff x="531" y="3227"/>
            <a:chExt cx="1917" cy="298"/>
          </a:xfrm>
        </p:grpSpPr>
        <p:sp>
          <p:nvSpPr>
            <p:cNvPr id="6173" name="Text Box 36"/>
            <p:cNvSpPr txBox="1">
              <a:spLocks noChangeArrowheads="1"/>
            </p:cNvSpPr>
            <p:nvPr/>
          </p:nvSpPr>
          <p:spPr bwMode="auto">
            <a:xfrm>
              <a:off x="531" y="3227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400" i="1" dirty="0">
                  <a:latin typeface="+mn-lt"/>
                  <a:ea typeface="+mn-ea"/>
                </a:rPr>
                <a:t>a</a:t>
              </a:r>
              <a:endParaRPr kumimoji="1" lang="en-US" altLang="zh-CN" sz="2400" b="1" dirty="0">
                <a:latin typeface="+mn-lt"/>
                <a:ea typeface="+mn-ea"/>
              </a:endParaRPr>
            </a:p>
          </p:txBody>
        </p:sp>
        <p:sp>
          <p:nvSpPr>
            <p:cNvPr id="6174" name="Line 37"/>
            <p:cNvSpPr>
              <a:spLocks noChangeShapeType="1"/>
            </p:cNvSpPr>
            <p:nvPr/>
          </p:nvSpPr>
          <p:spPr bwMode="auto">
            <a:xfrm>
              <a:off x="741" y="3398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6175" name="Text Box 38"/>
            <p:cNvSpPr txBox="1">
              <a:spLocks noChangeArrowheads="1"/>
            </p:cNvSpPr>
            <p:nvPr/>
          </p:nvSpPr>
          <p:spPr bwMode="auto">
            <a:xfrm>
              <a:off x="1064" y="3234"/>
              <a:ext cx="138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kumimoji="1" lang="zh-CN" altLang="en-US" sz="2400" b="1">
                  <a:latin typeface="+mn-ea"/>
                  <a:ea typeface="+mn-ea"/>
                </a:rPr>
                <a:t>点</a:t>
              </a:r>
              <a:r>
                <a:rPr kumimoji="1" lang="en-US" altLang="zh-CN" sz="2400" b="1">
                  <a:latin typeface="+mn-ea"/>
                  <a:ea typeface="+mn-ea"/>
                </a:rPr>
                <a:t>A</a:t>
              </a:r>
              <a:r>
                <a:rPr kumimoji="1" lang="zh-CN" altLang="en-US" sz="2400" b="1">
                  <a:latin typeface="+mn-ea"/>
                  <a:ea typeface="+mn-ea"/>
                </a:rPr>
                <a:t>的水平投影</a:t>
              </a:r>
            </a:p>
          </p:txBody>
        </p:sp>
      </p:grpSp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2437012" y="3933056"/>
            <a:ext cx="3082925" cy="496888"/>
            <a:chOff x="500" y="3456"/>
            <a:chExt cx="1942" cy="313"/>
          </a:xfrm>
        </p:grpSpPr>
        <p:sp>
          <p:nvSpPr>
            <p:cNvPr id="6170" name="Line 40"/>
            <p:cNvSpPr>
              <a:spLocks noChangeShapeType="1"/>
            </p:cNvSpPr>
            <p:nvPr/>
          </p:nvSpPr>
          <p:spPr bwMode="auto">
            <a:xfrm>
              <a:off x="754" y="364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6171" name="Text Box 41"/>
            <p:cNvSpPr txBox="1">
              <a:spLocks noChangeArrowheads="1"/>
            </p:cNvSpPr>
            <p:nvPr/>
          </p:nvSpPr>
          <p:spPr bwMode="auto">
            <a:xfrm>
              <a:off x="500" y="3456"/>
              <a:ext cx="29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400" i="1" dirty="0">
                  <a:latin typeface="+mn-lt"/>
                  <a:ea typeface="+mn-ea"/>
                </a:rPr>
                <a:t>a</a:t>
              </a:r>
              <a:r>
                <a:rPr kumimoji="1" lang="en-US" altLang="zh-CN" sz="2400" b="1" dirty="0">
                  <a:latin typeface="+mn-lt"/>
                  <a:ea typeface="+mn-ea"/>
                  <a:sym typeface="Symbol" pitchFamily="18" charset="2"/>
                </a:rPr>
                <a:t></a:t>
              </a:r>
              <a:endParaRPr kumimoji="1" lang="en-US" altLang="zh-CN" sz="2400" b="1" dirty="0">
                <a:latin typeface="+mn-lt"/>
                <a:ea typeface="+mn-ea"/>
                <a:sym typeface="UniversalMath1 BT" pitchFamily="18" charset="2"/>
              </a:endParaRPr>
            </a:p>
          </p:txBody>
        </p:sp>
        <p:sp>
          <p:nvSpPr>
            <p:cNvPr id="6172" name="Text Box 42"/>
            <p:cNvSpPr txBox="1">
              <a:spLocks noChangeArrowheads="1"/>
            </p:cNvSpPr>
            <p:nvPr/>
          </p:nvSpPr>
          <p:spPr bwMode="auto">
            <a:xfrm>
              <a:off x="1058" y="3478"/>
              <a:ext cx="138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kumimoji="1" lang="zh-CN" altLang="en-US" sz="2400" b="1" dirty="0">
                  <a:latin typeface="+mn-ea"/>
                  <a:ea typeface="+mn-ea"/>
                </a:rPr>
                <a:t>点</a:t>
              </a:r>
              <a:r>
                <a:rPr kumimoji="1" lang="en-US" altLang="zh-CN" sz="2400" b="1" dirty="0">
                  <a:latin typeface="+mn-ea"/>
                  <a:ea typeface="+mn-ea"/>
                </a:rPr>
                <a:t>A</a:t>
              </a:r>
              <a:r>
                <a:rPr kumimoji="1" lang="zh-CN" altLang="en-US" sz="2400" b="1" dirty="0">
                  <a:latin typeface="+mn-ea"/>
                  <a:ea typeface="+mn-ea"/>
                </a:rPr>
                <a:t>的侧面投影</a:t>
              </a:r>
            </a:p>
          </p:txBody>
        </p:sp>
      </p:grp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7889877" y="3013079"/>
            <a:ext cx="1946276" cy="461963"/>
            <a:chOff x="4010" y="1406"/>
            <a:chExt cx="1226" cy="291"/>
          </a:xfrm>
        </p:grpSpPr>
        <p:sp>
          <p:nvSpPr>
            <p:cNvPr id="25623" name="Text Box 47"/>
            <p:cNvSpPr txBox="1">
              <a:spLocks noChangeArrowheads="1"/>
            </p:cNvSpPr>
            <p:nvPr/>
          </p:nvSpPr>
          <p:spPr bwMode="auto">
            <a:xfrm>
              <a:off x="4940" y="1406"/>
              <a:ext cx="29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  <a:endParaRPr kumimoji="1" lang="en-US" altLang="zh-CN" sz="2400" b="1">
                <a:latin typeface="Times New Roman" pitchFamily="18" charset="0"/>
                <a:sym typeface="UniversalMath1 BT" pitchFamily="18" charset="2"/>
              </a:endParaRPr>
            </a:p>
          </p:txBody>
        </p:sp>
        <p:grpSp>
          <p:nvGrpSpPr>
            <p:cNvPr id="25624" name="Group 84"/>
            <p:cNvGrpSpPr>
              <a:grpSpLocks/>
            </p:cNvGrpSpPr>
            <p:nvPr/>
          </p:nvGrpSpPr>
          <p:grpSpPr bwMode="auto">
            <a:xfrm>
              <a:off x="4010" y="1516"/>
              <a:ext cx="1031" cy="154"/>
              <a:chOff x="4010" y="1516"/>
              <a:chExt cx="1031" cy="154"/>
            </a:xfrm>
          </p:grpSpPr>
          <p:sp>
            <p:nvSpPr>
              <p:cNvPr id="25625" name="Line 49"/>
              <p:cNvSpPr>
                <a:spLocks noChangeShapeType="1"/>
              </p:cNvSpPr>
              <p:nvPr/>
            </p:nvSpPr>
            <p:spPr bwMode="auto">
              <a:xfrm flipH="1">
                <a:off x="4010" y="1599"/>
                <a:ext cx="93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626" name="Text Box 50"/>
              <p:cNvSpPr txBox="1">
                <a:spLocks noChangeArrowheads="1"/>
              </p:cNvSpPr>
              <p:nvPr/>
            </p:nvSpPr>
            <p:spPr bwMode="auto">
              <a:xfrm>
                <a:off x="4844" y="1516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  <a:endParaRPr kumimoji="1" lang="en-US" altLang="zh-CN" sz="1000" b="1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8" name="Group 87"/>
          <p:cNvGrpSpPr>
            <a:grpSpLocks/>
          </p:cNvGrpSpPr>
          <p:nvPr/>
        </p:nvGrpSpPr>
        <p:grpSpPr bwMode="auto">
          <a:xfrm>
            <a:off x="7616819" y="3375025"/>
            <a:ext cx="466724" cy="1093788"/>
            <a:chOff x="3838" y="1634"/>
            <a:chExt cx="294" cy="689"/>
          </a:xfrm>
        </p:grpSpPr>
        <p:sp>
          <p:nvSpPr>
            <p:cNvPr id="25619" name="Text Box 52"/>
            <p:cNvSpPr txBox="1">
              <a:spLocks noChangeArrowheads="1"/>
            </p:cNvSpPr>
            <p:nvPr/>
          </p:nvSpPr>
          <p:spPr bwMode="auto">
            <a:xfrm>
              <a:off x="3838" y="2032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grpSp>
          <p:nvGrpSpPr>
            <p:cNvPr id="25620" name="Group 86"/>
            <p:cNvGrpSpPr>
              <a:grpSpLocks/>
            </p:cNvGrpSpPr>
            <p:nvPr/>
          </p:nvGrpSpPr>
          <p:grpSpPr bwMode="auto">
            <a:xfrm>
              <a:off x="3935" y="1634"/>
              <a:ext cx="197" cy="619"/>
              <a:chOff x="3935" y="1634"/>
              <a:chExt cx="197" cy="619"/>
            </a:xfrm>
          </p:grpSpPr>
          <p:sp>
            <p:nvSpPr>
              <p:cNvPr id="25621" name="Line 54"/>
              <p:cNvSpPr>
                <a:spLocks noChangeShapeType="1"/>
              </p:cNvSpPr>
              <p:nvPr/>
            </p:nvSpPr>
            <p:spPr bwMode="auto">
              <a:xfrm>
                <a:off x="4024" y="1634"/>
                <a:ext cx="0" cy="55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622" name="Text Box 55"/>
              <p:cNvSpPr txBox="1">
                <a:spLocks noChangeArrowheads="1"/>
              </p:cNvSpPr>
              <p:nvPr/>
            </p:nvSpPr>
            <p:spPr bwMode="auto">
              <a:xfrm>
                <a:off x="3935" y="2099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  <a:endParaRPr kumimoji="1" lang="en-US" altLang="zh-CN" sz="1000" b="1"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0" name="Group 83"/>
          <p:cNvGrpSpPr>
            <a:grpSpLocks/>
          </p:cNvGrpSpPr>
          <p:nvPr/>
        </p:nvGrpSpPr>
        <p:grpSpPr bwMode="auto">
          <a:xfrm>
            <a:off x="6984998" y="2406650"/>
            <a:ext cx="882649" cy="892174"/>
            <a:chOff x="3440" y="1024"/>
            <a:chExt cx="556" cy="562"/>
          </a:xfrm>
        </p:grpSpPr>
        <p:sp>
          <p:nvSpPr>
            <p:cNvPr id="25615" name="Text Box 57"/>
            <p:cNvSpPr txBox="1">
              <a:spLocks noChangeArrowheads="1"/>
            </p:cNvSpPr>
            <p:nvPr/>
          </p:nvSpPr>
          <p:spPr bwMode="auto">
            <a:xfrm>
              <a:off x="3440" y="1024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UniversalMath1 BT" pitchFamily="18" charset="2"/>
              </a:endParaRPr>
            </a:p>
          </p:txBody>
        </p:sp>
        <p:grpSp>
          <p:nvGrpSpPr>
            <p:cNvPr id="25616" name="Group 82"/>
            <p:cNvGrpSpPr>
              <a:grpSpLocks/>
            </p:cNvGrpSpPr>
            <p:nvPr/>
          </p:nvGrpSpPr>
          <p:grpSpPr bwMode="auto">
            <a:xfrm>
              <a:off x="3535" y="1146"/>
              <a:ext cx="461" cy="440"/>
              <a:chOff x="3535" y="1146"/>
              <a:chExt cx="461" cy="440"/>
            </a:xfrm>
          </p:grpSpPr>
          <p:sp>
            <p:nvSpPr>
              <p:cNvPr id="25617" name="Line 59"/>
              <p:cNvSpPr>
                <a:spLocks noChangeShapeType="1"/>
              </p:cNvSpPr>
              <p:nvPr/>
            </p:nvSpPr>
            <p:spPr bwMode="auto">
              <a:xfrm>
                <a:off x="3620" y="1210"/>
                <a:ext cx="376" cy="3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618" name="Text Box 60"/>
              <p:cNvSpPr txBox="1">
                <a:spLocks noChangeArrowheads="1"/>
              </p:cNvSpPr>
              <p:nvPr/>
            </p:nvSpPr>
            <p:spPr bwMode="auto">
              <a:xfrm>
                <a:off x="3535" y="1146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</p:grpSp>
      </p:grpSp>
      <p:grpSp>
        <p:nvGrpSpPr>
          <p:cNvPr id="12" name="Group 63"/>
          <p:cNvGrpSpPr>
            <a:grpSpLocks/>
          </p:cNvGrpSpPr>
          <p:nvPr/>
        </p:nvGrpSpPr>
        <p:grpSpPr bwMode="auto">
          <a:xfrm>
            <a:off x="7732713" y="2927354"/>
            <a:ext cx="495300" cy="519113"/>
            <a:chOff x="3911" y="1352"/>
            <a:chExt cx="312" cy="327"/>
          </a:xfrm>
        </p:grpSpPr>
        <p:sp>
          <p:nvSpPr>
            <p:cNvPr id="25613" name="Text Box 43"/>
            <p:cNvSpPr txBox="1">
              <a:spLocks noChangeArrowheads="1"/>
            </p:cNvSpPr>
            <p:nvPr/>
          </p:nvSpPr>
          <p:spPr bwMode="auto">
            <a:xfrm>
              <a:off x="3911" y="1352"/>
              <a:ext cx="312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 </a:t>
              </a:r>
              <a:r>
                <a:rPr kumimoji="1" lang="en-US" altLang="zh-CN" sz="2400" b="1" i="1">
                  <a:latin typeface="宋体" pitchFamily="2" charset="-122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5614" name="Text Box 45"/>
            <p:cNvSpPr txBox="1">
              <a:spLocks noChangeArrowheads="1"/>
            </p:cNvSpPr>
            <p:nvPr/>
          </p:nvSpPr>
          <p:spPr bwMode="auto">
            <a:xfrm>
              <a:off x="3918" y="1525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49" name="矩形 48"/>
          <p:cNvSpPr/>
          <p:nvPr/>
        </p:nvSpPr>
        <p:spPr>
          <a:xfrm>
            <a:off x="2139979" y="5283224"/>
            <a:ext cx="8072437" cy="9540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注意：</a:t>
            </a:r>
          </a:p>
          <a:p>
            <a:pPr>
              <a:defRPr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空间点用大写字母表示，点的投影用小写字母表示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50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32"/>
          <p:cNvSpPr>
            <a:spLocks noChangeArrowheads="1"/>
          </p:cNvSpPr>
          <p:nvPr/>
        </p:nvSpPr>
        <p:spPr bwMode="auto">
          <a:xfrm>
            <a:off x="6720105" y="3061162"/>
            <a:ext cx="2060358" cy="1466387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08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6627" name="AutoShape 6"/>
          <p:cNvSpPr>
            <a:spLocks noChangeArrowheads="1"/>
          </p:cNvSpPr>
          <p:nvPr/>
        </p:nvSpPr>
        <p:spPr bwMode="auto">
          <a:xfrm rot="5400000">
            <a:off x="8040689" y="3784601"/>
            <a:ext cx="2719387" cy="1255713"/>
          </a:xfrm>
          <a:prstGeom prst="parallelogram">
            <a:avLst>
              <a:gd name="adj" fmla="val 99869"/>
            </a:avLst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0800000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628" name="AutoShape 5"/>
          <p:cNvSpPr>
            <a:spLocks noChangeArrowheads="1"/>
          </p:cNvSpPr>
          <p:nvPr/>
        </p:nvSpPr>
        <p:spPr bwMode="auto">
          <a:xfrm rot="10800000" flipH="1">
            <a:off x="6737350" y="4519614"/>
            <a:ext cx="3290888" cy="1252537"/>
          </a:xfrm>
          <a:prstGeom prst="parallelogram">
            <a:avLst>
              <a:gd name="adj" fmla="val 99853"/>
            </a:avLst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629" name="Line 7"/>
          <p:cNvSpPr>
            <a:spLocks noChangeShapeType="1"/>
          </p:cNvSpPr>
          <p:nvPr/>
        </p:nvSpPr>
        <p:spPr bwMode="auto">
          <a:xfrm>
            <a:off x="7291389" y="3629025"/>
            <a:ext cx="148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0" name="Line 8"/>
          <p:cNvSpPr>
            <a:spLocks noChangeShapeType="1"/>
          </p:cNvSpPr>
          <p:nvPr/>
        </p:nvSpPr>
        <p:spPr bwMode="auto">
          <a:xfrm>
            <a:off x="7305675" y="3629026"/>
            <a:ext cx="0" cy="8874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1" name="Line 9"/>
          <p:cNvSpPr>
            <a:spLocks noChangeShapeType="1"/>
          </p:cNvSpPr>
          <p:nvPr/>
        </p:nvSpPr>
        <p:spPr bwMode="auto">
          <a:xfrm>
            <a:off x="7291388" y="4516438"/>
            <a:ext cx="596900" cy="596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2" name="Line 10"/>
          <p:cNvSpPr>
            <a:spLocks noChangeShapeType="1"/>
          </p:cNvSpPr>
          <p:nvPr/>
        </p:nvSpPr>
        <p:spPr bwMode="auto">
          <a:xfrm>
            <a:off x="7888288" y="4225926"/>
            <a:ext cx="0" cy="8874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3" name="Line 11"/>
          <p:cNvSpPr>
            <a:spLocks noChangeShapeType="1"/>
          </p:cNvSpPr>
          <p:nvPr/>
        </p:nvSpPr>
        <p:spPr bwMode="auto">
          <a:xfrm>
            <a:off x="8780463" y="3614738"/>
            <a:ext cx="590550" cy="5905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634" name="Line 12"/>
          <p:cNvSpPr>
            <a:spLocks noChangeShapeType="1"/>
          </p:cNvSpPr>
          <p:nvPr/>
        </p:nvSpPr>
        <p:spPr bwMode="auto">
          <a:xfrm flipH="1">
            <a:off x="7888289" y="4205288"/>
            <a:ext cx="148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5" name="Line 13"/>
          <p:cNvSpPr>
            <a:spLocks noChangeShapeType="1"/>
          </p:cNvSpPr>
          <p:nvPr/>
        </p:nvSpPr>
        <p:spPr bwMode="auto">
          <a:xfrm>
            <a:off x="7888289" y="5113338"/>
            <a:ext cx="148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6" name="Line 14"/>
          <p:cNvSpPr>
            <a:spLocks noChangeShapeType="1"/>
          </p:cNvSpPr>
          <p:nvPr/>
        </p:nvSpPr>
        <p:spPr bwMode="auto">
          <a:xfrm>
            <a:off x="7291388" y="3629025"/>
            <a:ext cx="596900" cy="596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7" name="Line 15"/>
          <p:cNvSpPr>
            <a:spLocks noChangeShapeType="1"/>
          </p:cNvSpPr>
          <p:nvPr/>
        </p:nvSpPr>
        <p:spPr bwMode="auto">
          <a:xfrm>
            <a:off x="9371013" y="4205288"/>
            <a:ext cx="0" cy="908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8" name="Line 16"/>
          <p:cNvSpPr>
            <a:spLocks noChangeShapeType="1"/>
          </p:cNvSpPr>
          <p:nvPr/>
        </p:nvSpPr>
        <p:spPr bwMode="auto">
          <a:xfrm>
            <a:off x="8774114" y="4537076"/>
            <a:ext cx="1279525" cy="1279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9" name="Line 17"/>
          <p:cNvSpPr>
            <a:spLocks noChangeShapeType="1"/>
          </p:cNvSpPr>
          <p:nvPr/>
        </p:nvSpPr>
        <p:spPr bwMode="auto">
          <a:xfrm>
            <a:off x="8750300" y="4503738"/>
            <a:ext cx="1524000" cy="152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640" name="Line 18"/>
          <p:cNvSpPr>
            <a:spLocks noChangeShapeType="1"/>
          </p:cNvSpPr>
          <p:nvPr/>
        </p:nvSpPr>
        <p:spPr bwMode="auto">
          <a:xfrm flipH="1">
            <a:off x="6415088" y="4527550"/>
            <a:ext cx="23685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41" name="Line 19"/>
          <p:cNvSpPr>
            <a:spLocks noChangeShapeType="1"/>
          </p:cNvSpPr>
          <p:nvPr/>
        </p:nvSpPr>
        <p:spPr bwMode="auto">
          <a:xfrm flipV="1">
            <a:off x="8774113" y="2744788"/>
            <a:ext cx="0" cy="1771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42" name="Text Box 20"/>
          <p:cNvSpPr txBox="1">
            <a:spLocks noChangeArrowheads="1"/>
          </p:cNvSpPr>
          <p:nvPr/>
        </p:nvSpPr>
        <p:spPr bwMode="auto">
          <a:xfrm>
            <a:off x="7697789" y="4078289"/>
            <a:ext cx="409575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10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sz="1000" b="1">
              <a:latin typeface="Times New Roman" pitchFamily="18" charset="0"/>
            </a:endParaRPr>
          </a:p>
        </p:txBody>
      </p:sp>
      <p:sp>
        <p:nvSpPr>
          <p:cNvPr id="26643" name="Text Box 21"/>
          <p:cNvSpPr txBox="1">
            <a:spLocks noChangeArrowheads="1"/>
          </p:cNvSpPr>
          <p:nvPr/>
        </p:nvSpPr>
        <p:spPr bwMode="auto">
          <a:xfrm>
            <a:off x="9217025" y="4079875"/>
            <a:ext cx="2984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44" name="Text Box 23"/>
          <p:cNvSpPr txBox="1">
            <a:spLocks noChangeArrowheads="1"/>
          </p:cNvSpPr>
          <p:nvPr/>
        </p:nvSpPr>
        <p:spPr bwMode="auto">
          <a:xfrm>
            <a:off x="7180263" y="3522663"/>
            <a:ext cx="285750" cy="2143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8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sz="800" b="1">
              <a:latin typeface="Times New Roman" pitchFamily="18" charset="0"/>
            </a:endParaRPr>
          </a:p>
        </p:txBody>
      </p:sp>
      <p:sp>
        <p:nvSpPr>
          <p:cNvPr id="26645" name="Text Box 26"/>
          <p:cNvSpPr txBox="1">
            <a:spLocks noChangeArrowheads="1"/>
          </p:cNvSpPr>
          <p:nvPr/>
        </p:nvSpPr>
        <p:spPr bwMode="auto">
          <a:xfrm>
            <a:off x="7735889" y="4967288"/>
            <a:ext cx="300037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sz="900" b="1">
              <a:latin typeface="Times New Roman" pitchFamily="18" charset="0"/>
            </a:endParaRPr>
          </a:p>
        </p:txBody>
      </p:sp>
      <p:sp>
        <p:nvSpPr>
          <p:cNvPr id="26646" name="Text Box 27"/>
          <p:cNvSpPr txBox="1">
            <a:spLocks noChangeArrowheads="1"/>
          </p:cNvSpPr>
          <p:nvPr/>
        </p:nvSpPr>
        <p:spPr bwMode="auto">
          <a:xfrm>
            <a:off x="6379946" y="4109394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X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47" name="Text Box 28"/>
          <p:cNvSpPr txBox="1">
            <a:spLocks noChangeArrowheads="1"/>
          </p:cNvSpPr>
          <p:nvPr/>
        </p:nvSpPr>
        <p:spPr bwMode="auto">
          <a:xfrm>
            <a:off x="10089934" y="5587357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Y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48" name="Text Box 29"/>
          <p:cNvSpPr txBox="1">
            <a:spLocks noChangeArrowheads="1"/>
          </p:cNvSpPr>
          <p:nvPr/>
        </p:nvSpPr>
        <p:spPr bwMode="auto">
          <a:xfrm>
            <a:off x="8480209" y="2612382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Z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49" name="Text Box 30"/>
          <p:cNvSpPr txBox="1">
            <a:spLocks noChangeArrowheads="1"/>
          </p:cNvSpPr>
          <p:nvPr/>
        </p:nvSpPr>
        <p:spPr bwMode="auto">
          <a:xfrm>
            <a:off x="8743734" y="4230044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O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50" name="Text Box 31"/>
          <p:cNvSpPr txBox="1">
            <a:spLocks noChangeArrowheads="1"/>
          </p:cNvSpPr>
          <p:nvPr/>
        </p:nvSpPr>
        <p:spPr bwMode="auto">
          <a:xfrm>
            <a:off x="6711734" y="3048944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V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51" name="Text Box 32"/>
          <p:cNvSpPr txBox="1">
            <a:spLocks noChangeArrowheads="1"/>
          </p:cNvSpPr>
          <p:nvPr/>
        </p:nvSpPr>
        <p:spPr bwMode="auto">
          <a:xfrm>
            <a:off x="7905534" y="5369869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H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52" name="Text Box 33"/>
          <p:cNvSpPr txBox="1">
            <a:spLocks noChangeArrowheads="1"/>
          </p:cNvSpPr>
          <p:nvPr/>
        </p:nvSpPr>
        <p:spPr bwMode="auto">
          <a:xfrm>
            <a:off x="9677184" y="4182419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W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53" name="Text Box 34"/>
          <p:cNvSpPr txBox="1">
            <a:spLocks noChangeArrowheads="1"/>
          </p:cNvSpPr>
          <p:nvPr/>
        </p:nvSpPr>
        <p:spPr bwMode="auto">
          <a:xfrm>
            <a:off x="7854734" y="3782369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i="1">
                <a:latin typeface="宋体" pitchFamily="2" charset="-122"/>
              </a:rPr>
              <a:t>A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54" name="Text Box 35"/>
          <p:cNvSpPr txBox="1">
            <a:spLocks noChangeArrowheads="1"/>
          </p:cNvSpPr>
          <p:nvPr/>
        </p:nvSpPr>
        <p:spPr bwMode="auto">
          <a:xfrm>
            <a:off x="7540394" y="4896794"/>
            <a:ext cx="34336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6655" name="Text Box 36"/>
          <p:cNvSpPr txBox="1">
            <a:spLocks noChangeArrowheads="1"/>
          </p:cNvSpPr>
          <p:nvPr/>
        </p:nvSpPr>
        <p:spPr bwMode="auto">
          <a:xfrm>
            <a:off x="9341594" y="3874444"/>
            <a:ext cx="47000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26656" name="Text Box 38"/>
          <p:cNvSpPr txBox="1">
            <a:spLocks noChangeArrowheads="1"/>
          </p:cNvSpPr>
          <p:nvPr/>
        </p:nvSpPr>
        <p:spPr bwMode="auto">
          <a:xfrm>
            <a:off x="7017734" y="3252144"/>
            <a:ext cx="42030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grpSp>
        <p:nvGrpSpPr>
          <p:cNvPr id="26657" name="Group 122"/>
          <p:cNvGrpSpPr>
            <a:grpSpLocks/>
          </p:cNvGrpSpPr>
          <p:nvPr/>
        </p:nvGrpSpPr>
        <p:grpSpPr bwMode="auto">
          <a:xfrm>
            <a:off x="6840540" y="4060827"/>
            <a:ext cx="450851" cy="515938"/>
            <a:chOff x="1112" y="686"/>
            <a:chExt cx="284" cy="325"/>
          </a:xfrm>
        </p:grpSpPr>
        <p:sp>
          <p:nvSpPr>
            <p:cNvPr id="26702" name="Text Box 123"/>
            <p:cNvSpPr txBox="1">
              <a:spLocks noChangeArrowheads="1"/>
            </p:cNvSpPr>
            <p:nvPr/>
          </p:nvSpPr>
          <p:spPr bwMode="auto">
            <a:xfrm>
              <a:off x="1208" y="780"/>
              <a:ext cx="188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26703" name="Text Box 124"/>
            <p:cNvSpPr txBox="1">
              <a:spLocks noChangeArrowheads="1"/>
            </p:cNvSpPr>
            <p:nvPr/>
          </p:nvSpPr>
          <p:spPr bwMode="auto">
            <a:xfrm>
              <a:off x="1112" y="686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</p:grpSp>
      <p:grpSp>
        <p:nvGrpSpPr>
          <p:cNvPr id="26658" name="Group 126"/>
          <p:cNvGrpSpPr>
            <a:grpSpLocks/>
          </p:cNvGrpSpPr>
          <p:nvPr/>
        </p:nvGrpSpPr>
        <p:grpSpPr bwMode="auto">
          <a:xfrm>
            <a:off x="8369297" y="3203576"/>
            <a:ext cx="460374" cy="482599"/>
            <a:chOff x="1961" y="151"/>
            <a:chExt cx="290" cy="304"/>
          </a:xfrm>
        </p:grpSpPr>
        <p:sp>
          <p:nvSpPr>
            <p:cNvPr id="26700" name="Text Box 127"/>
            <p:cNvSpPr txBox="1">
              <a:spLocks noChangeArrowheads="1"/>
            </p:cNvSpPr>
            <p:nvPr/>
          </p:nvSpPr>
          <p:spPr bwMode="auto">
            <a:xfrm>
              <a:off x="1961" y="151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701" name="Text Box 128"/>
            <p:cNvSpPr txBox="1">
              <a:spLocks noChangeArrowheads="1"/>
            </p:cNvSpPr>
            <p:nvPr/>
          </p:nvSpPr>
          <p:spPr bwMode="auto">
            <a:xfrm>
              <a:off x="2071" y="224"/>
              <a:ext cx="18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z</a:t>
              </a:r>
            </a:p>
          </p:txBody>
        </p:sp>
      </p:grpSp>
      <p:grpSp>
        <p:nvGrpSpPr>
          <p:cNvPr id="26659" name="Group 356"/>
          <p:cNvGrpSpPr>
            <a:grpSpLocks/>
          </p:cNvGrpSpPr>
          <p:nvPr/>
        </p:nvGrpSpPr>
        <p:grpSpPr bwMode="auto">
          <a:xfrm>
            <a:off x="9359910" y="4781554"/>
            <a:ext cx="461963" cy="484188"/>
            <a:chOff x="4936" y="2364"/>
            <a:chExt cx="291" cy="305"/>
          </a:xfrm>
        </p:grpSpPr>
        <p:sp>
          <p:nvSpPr>
            <p:cNvPr id="26698" name="Text Box 140"/>
            <p:cNvSpPr txBox="1">
              <a:spLocks noChangeArrowheads="1"/>
            </p:cNvSpPr>
            <p:nvPr/>
          </p:nvSpPr>
          <p:spPr bwMode="auto">
            <a:xfrm>
              <a:off x="4936" y="2364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99" name="Text Box 141"/>
            <p:cNvSpPr txBox="1">
              <a:spLocks noChangeArrowheads="1"/>
            </p:cNvSpPr>
            <p:nvPr/>
          </p:nvSpPr>
          <p:spPr bwMode="auto">
            <a:xfrm>
              <a:off x="5039" y="2438"/>
              <a:ext cx="188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y</a:t>
              </a:r>
            </a:p>
          </p:txBody>
        </p:sp>
      </p:grpSp>
      <p:sp>
        <p:nvSpPr>
          <p:cNvPr id="39136" name="AutoShape 224"/>
          <p:cNvSpPr>
            <a:spLocks noChangeArrowheads="1"/>
          </p:cNvSpPr>
          <p:nvPr/>
        </p:nvSpPr>
        <p:spPr bwMode="auto">
          <a:xfrm>
            <a:off x="9326563" y="2560638"/>
            <a:ext cx="1141412" cy="469900"/>
          </a:xfrm>
          <a:prstGeom prst="wedgeRectCallout">
            <a:avLst>
              <a:gd name="adj1" fmla="val -63074"/>
              <a:gd name="adj2" fmla="val 130620"/>
            </a:avLst>
          </a:prstGeom>
          <a:solidFill>
            <a:schemeClr val="bg1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向右翻</a:t>
            </a:r>
          </a:p>
        </p:txBody>
      </p:sp>
      <p:sp>
        <p:nvSpPr>
          <p:cNvPr id="39139" name="AutoShape 227"/>
          <p:cNvSpPr>
            <a:spLocks noChangeArrowheads="1"/>
          </p:cNvSpPr>
          <p:nvPr/>
        </p:nvSpPr>
        <p:spPr bwMode="auto">
          <a:xfrm>
            <a:off x="5757864" y="5888038"/>
            <a:ext cx="1455737" cy="469900"/>
          </a:xfrm>
          <a:prstGeom prst="wedgeRectCallout">
            <a:avLst>
              <a:gd name="adj1" fmla="val 73009"/>
              <a:gd name="adj2" fmla="val -168583"/>
            </a:avLst>
          </a:prstGeom>
          <a:solidFill>
            <a:srgbClr val="FFFFCC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向下翻</a:t>
            </a:r>
          </a:p>
        </p:txBody>
      </p:sp>
      <p:sp>
        <p:nvSpPr>
          <p:cNvPr id="39141" name="AutoShape 229"/>
          <p:cNvSpPr>
            <a:spLocks noChangeArrowheads="1"/>
          </p:cNvSpPr>
          <p:nvPr/>
        </p:nvSpPr>
        <p:spPr bwMode="auto">
          <a:xfrm>
            <a:off x="6097589" y="2324101"/>
            <a:ext cx="803275" cy="466725"/>
          </a:xfrm>
          <a:prstGeom prst="wedgeRectCallout">
            <a:avLst>
              <a:gd name="adj1" fmla="val 162926"/>
              <a:gd name="adj2" fmla="val 105694"/>
            </a:avLst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不动</a:t>
            </a:r>
          </a:p>
        </p:txBody>
      </p:sp>
      <p:sp>
        <p:nvSpPr>
          <p:cNvPr id="26663" name="Text Box 230"/>
          <p:cNvSpPr txBox="1">
            <a:spLocks noChangeArrowheads="1"/>
          </p:cNvSpPr>
          <p:nvPr/>
        </p:nvSpPr>
        <p:spPr bwMode="auto">
          <a:xfrm>
            <a:off x="1591697" y="1481347"/>
            <a:ext cx="1988045" cy="52322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投影面展开</a:t>
            </a:r>
          </a:p>
        </p:txBody>
      </p:sp>
      <p:grpSp>
        <p:nvGrpSpPr>
          <p:cNvPr id="5" name="Group 477"/>
          <p:cNvGrpSpPr>
            <a:grpSpLocks/>
          </p:cNvGrpSpPr>
          <p:nvPr/>
        </p:nvGrpSpPr>
        <p:grpSpPr bwMode="auto">
          <a:xfrm>
            <a:off x="4334094" y="3120707"/>
            <a:ext cx="1511300" cy="1381126"/>
            <a:chOff x="1764" y="1325"/>
            <a:chExt cx="952" cy="870"/>
          </a:xfrm>
          <a:gradFill flip="none"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0800000" scaled="1"/>
            <a:tileRect/>
          </a:gradFill>
        </p:grpSpPr>
        <p:sp>
          <p:nvSpPr>
            <p:cNvPr id="27726" name="Rectangle 409"/>
            <p:cNvSpPr>
              <a:spLocks noChangeArrowheads="1"/>
            </p:cNvSpPr>
            <p:nvPr/>
          </p:nvSpPr>
          <p:spPr bwMode="auto">
            <a:xfrm>
              <a:off x="1764" y="1325"/>
              <a:ext cx="952" cy="870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7727" name="Text Box 410"/>
            <p:cNvSpPr txBox="1">
              <a:spLocks noChangeArrowheads="1"/>
            </p:cNvSpPr>
            <p:nvPr/>
          </p:nvSpPr>
          <p:spPr bwMode="auto">
            <a:xfrm>
              <a:off x="2378" y="1331"/>
              <a:ext cx="214" cy="29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 dirty="0">
                  <a:latin typeface="宋体" pitchFamily="2" charset="-122"/>
                </a:rPr>
                <a:t>W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</p:grpSp>
      <p:grpSp>
        <p:nvGrpSpPr>
          <p:cNvPr id="6" name="Group 475"/>
          <p:cNvGrpSpPr>
            <a:grpSpLocks/>
          </p:cNvGrpSpPr>
          <p:nvPr/>
        </p:nvGrpSpPr>
        <p:grpSpPr bwMode="auto">
          <a:xfrm>
            <a:off x="2245995" y="3128648"/>
            <a:ext cx="2068513" cy="1373189"/>
            <a:chOff x="450" y="1318"/>
            <a:chExt cx="1303" cy="865"/>
          </a:xfr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  <a:tileRect/>
          </a:gradFill>
        </p:grpSpPr>
        <p:sp>
          <p:nvSpPr>
            <p:cNvPr id="27724" name="Rectangle 411"/>
            <p:cNvSpPr>
              <a:spLocks noChangeArrowheads="1"/>
            </p:cNvSpPr>
            <p:nvPr/>
          </p:nvSpPr>
          <p:spPr bwMode="auto">
            <a:xfrm>
              <a:off x="468" y="1318"/>
              <a:ext cx="1285" cy="865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7725" name="Text Box 412"/>
            <p:cNvSpPr txBox="1">
              <a:spLocks noChangeArrowheads="1"/>
            </p:cNvSpPr>
            <p:nvPr/>
          </p:nvSpPr>
          <p:spPr bwMode="auto">
            <a:xfrm>
              <a:off x="450" y="1358"/>
              <a:ext cx="214" cy="29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 dirty="0">
                  <a:latin typeface="宋体" pitchFamily="2" charset="-122"/>
                </a:rPr>
                <a:t>V</a:t>
              </a:r>
              <a:endParaRPr kumimoji="1" lang="en-US" altLang="zh-CN" b="1" dirty="0">
                <a:latin typeface="Times New Roman" pitchFamily="18" charset="0"/>
              </a:endParaRPr>
            </a:p>
          </p:txBody>
        </p:sp>
      </p:grpSp>
      <p:grpSp>
        <p:nvGrpSpPr>
          <p:cNvPr id="7" name="Group 476"/>
          <p:cNvGrpSpPr>
            <a:grpSpLocks/>
          </p:cNvGrpSpPr>
          <p:nvPr/>
        </p:nvGrpSpPr>
        <p:grpSpPr bwMode="auto">
          <a:xfrm>
            <a:off x="2257743" y="4519928"/>
            <a:ext cx="2059030" cy="1288170"/>
            <a:chOff x="479" y="2477"/>
            <a:chExt cx="1289" cy="523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grpSpPr>
        <p:sp>
          <p:nvSpPr>
            <p:cNvPr id="27722" name="Rectangle 413"/>
            <p:cNvSpPr>
              <a:spLocks noChangeArrowheads="1"/>
            </p:cNvSpPr>
            <p:nvPr/>
          </p:nvSpPr>
          <p:spPr bwMode="auto">
            <a:xfrm>
              <a:off x="479" y="2477"/>
              <a:ext cx="1289" cy="523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7723" name="Text Box 414"/>
            <p:cNvSpPr txBox="1">
              <a:spLocks noChangeArrowheads="1"/>
            </p:cNvSpPr>
            <p:nvPr/>
          </p:nvSpPr>
          <p:spPr bwMode="auto">
            <a:xfrm>
              <a:off x="507" y="2681"/>
              <a:ext cx="214" cy="291"/>
            </a:xfrm>
            <a:prstGeom prst="rect">
              <a:avLst/>
            </a:prstGeom>
            <a:grp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kumimoji="1" lang="en-US" altLang="zh-CN" sz="2400" b="1">
                  <a:latin typeface="宋体" pitchFamily="2" charset="-122"/>
                </a:rPr>
                <a:t>H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</p:grpSp>
      <p:grpSp>
        <p:nvGrpSpPr>
          <p:cNvPr id="8" name="Group 478"/>
          <p:cNvGrpSpPr>
            <a:grpSpLocks/>
          </p:cNvGrpSpPr>
          <p:nvPr/>
        </p:nvGrpSpPr>
        <p:grpSpPr bwMode="auto">
          <a:xfrm>
            <a:off x="1909763" y="2725739"/>
            <a:ext cx="4144964" cy="3300413"/>
            <a:chOff x="243" y="1069"/>
            <a:chExt cx="2611" cy="2079"/>
          </a:xfrm>
        </p:grpSpPr>
        <p:sp>
          <p:nvSpPr>
            <p:cNvPr id="26669" name="Text Box 446"/>
            <p:cNvSpPr txBox="1">
              <a:spLocks noChangeArrowheads="1"/>
            </p:cNvSpPr>
            <p:nvPr/>
          </p:nvSpPr>
          <p:spPr bwMode="auto">
            <a:xfrm>
              <a:off x="2667" y="1796"/>
              <a:ext cx="1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kumimoji="1" lang="zh-CN" altLang="zh-CN" b="1">
                <a:latin typeface="Times New Roman" pitchFamily="18" charset="0"/>
              </a:endParaRPr>
            </a:p>
          </p:txBody>
        </p:sp>
        <p:sp>
          <p:nvSpPr>
            <p:cNvPr id="26670" name="Text Box 447"/>
            <p:cNvSpPr txBox="1">
              <a:spLocks noChangeArrowheads="1"/>
            </p:cNvSpPr>
            <p:nvPr/>
          </p:nvSpPr>
          <p:spPr bwMode="auto">
            <a:xfrm>
              <a:off x="2667" y="2006"/>
              <a:ext cx="1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kumimoji="1" lang="zh-CN" altLang="zh-CN" b="1">
                <a:latin typeface="Times New Roman" pitchFamily="18" charset="0"/>
              </a:endParaRPr>
            </a:p>
          </p:txBody>
        </p:sp>
        <p:sp>
          <p:nvSpPr>
            <p:cNvPr id="26671" name="Text Box 448"/>
            <p:cNvSpPr txBox="1">
              <a:spLocks noChangeArrowheads="1"/>
            </p:cNvSpPr>
            <p:nvPr/>
          </p:nvSpPr>
          <p:spPr bwMode="auto">
            <a:xfrm>
              <a:off x="1731" y="2468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72" name="Text Box 449"/>
            <p:cNvSpPr txBox="1">
              <a:spLocks noChangeArrowheads="1"/>
            </p:cNvSpPr>
            <p:nvPr/>
          </p:nvSpPr>
          <p:spPr bwMode="auto">
            <a:xfrm>
              <a:off x="2094" y="2106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73" name="Text Box 450"/>
            <p:cNvSpPr txBox="1">
              <a:spLocks noChangeArrowheads="1"/>
            </p:cNvSpPr>
            <p:nvPr/>
          </p:nvSpPr>
          <p:spPr bwMode="auto">
            <a:xfrm>
              <a:off x="2072" y="1594"/>
              <a:ext cx="189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26674" name="Text Box 451"/>
            <p:cNvSpPr txBox="1">
              <a:spLocks noChangeArrowheads="1"/>
            </p:cNvSpPr>
            <p:nvPr/>
          </p:nvSpPr>
          <p:spPr bwMode="auto">
            <a:xfrm>
              <a:off x="871" y="2000"/>
              <a:ext cx="188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26675" name="Text Box 452"/>
            <p:cNvSpPr txBox="1">
              <a:spLocks noChangeArrowheads="1"/>
            </p:cNvSpPr>
            <p:nvPr/>
          </p:nvSpPr>
          <p:spPr bwMode="auto">
            <a:xfrm>
              <a:off x="928" y="1587"/>
              <a:ext cx="189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76" name="Text Box 453"/>
            <p:cNvSpPr txBox="1">
              <a:spLocks noChangeArrowheads="1"/>
            </p:cNvSpPr>
            <p:nvPr/>
          </p:nvSpPr>
          <p:spPr bwMode="auto">
            <a:xfrm>
              <a:off x="931" y="2503"/>
              <a:ext cx="189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26677" name="Text Box 454"/>
            <p:cNvSpPr txBox="1">
              <a:spLocks noChangeArrowheads="1"/>
            </p:cNvSpPr>
            <p:nvPr/>
          </p:nvSpPr>
          <p:spPr bwMode="auto">
            <a:xfrm>
              <a:off x="2120" y="1429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78" name="Text Box 455"/>
            <p:cNvSpPr txBox="1">
              <a:spLocks noChangeArrowheads="1"/>
            </p:cNvSpPr>
            <p:nvPr/>
          </p:nvSpPr>
          <p:spPr bwMode="auto">
            <a:xfrm>
              <a:off x="1626" y="1474"/>
              <a:ext cx="18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z</a:t>
              </a:r>
            </a:p>
          </p:txBody>
        </p:sp>
        <p:sp>
          <p:nvSpPr>
            <p:cNvPr id="26679" name="Text Box 456"/>
            <p:cNvSpPr txBox="1">
              <a:spLocks noChangeArrowheads="1"/>
            </p:cNvSpPr>
            <p:nvPr/>
          </p:nvSpPr>
          <p:spPr bwMode="auto">
            <a:xfrm>
              <a:off x="1746" y="1069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Z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80" name="Line 457"/>
            <p:cNvSpPr>
              <a:spLocks noChangeShapeType="1"/>
            </p:cNvSpPr>
            <p:nvPr/>
          </p:nvSpPr>
          <p:spPr bwMode="auto">
            <a:xfrm flipV="1">
              <a:off x="1764" y="1109"/>
              <a:ext cx="0" cy="20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1" name="Line 458"/>
            <p:cNvSpPr>
              <a:spLocks noChangeShapeType="1"/>
            </p:cNvSpPr>
            <p:nvPr/>
          </p:nvSpPr>
          <p:spPr bwMode="auto">
            <a:xfrm flipH="1">
              <a:off x="298" y="2197"/>
              <a:ext cx="24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2" name="Line 459"/>
            <p:cNvSpPr>
              <a:spLocks noChangeShapeType="1"/>
            </p:cNvSpPr>
            <p:nvPr/>
          </p:nvSpPr>
          <p:spPr bwMode="auto">
            <a:xfrm>
              <a:off x="1025" y="1666"/>
              <a:ext cx="0" cy="9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3" name="Line 460"/>
            <p:cNvSpPr>
              <a:spLocks noChangeShapeType="1"/>
            </p:cNvSpPr>
            <p:nvPr/>
          </p:nvSpPr>
          <p:spPr bwMode="auto">
            <a:xfrm>
              <a:off x="1025" y="1666"/>
              <a:ext cx="114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4" name="Text Box 461"/>
            <p:cNvSpPr txBox="1">
              <a:spLocks noChangeArrowheads="1"/>
            </p:cNvSpPr>
            <p:nvPr/>
          </p:nvSpPr>
          <p:spPr bwMode="auto">
            <a:xfrm>
              <a:off x="843" y="2455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85" name="Text Box 462"/>
            <p:cNvSpPr txBox="1">
              <a:spLocks noChangeArrowheads="1"/>
            </p:cNvSpPr>
            <p:nvPr/>
          </p:nvSpPr>
          <p:spPr bwMode="auto">
            <a:xfrm>
              <a:off x="862" y="1416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UniversalMath1 BT" pitchFamily="18" charset="2"/>
              </a:endParaRPr>
            </a:p>
          </p:txBody>
        </p:sp>
        <p:sp>
          <p:nvSpPr>
            <p:cNvPr id="26686" name="Line 463"/>
            <p:cNvSpPr>
              <a:spLocks noChangeShapeType="1"/>
            </p:cNvSpPr>
            <p:nvPr/>
          </p:nvSpPr>
          <p:spPr bwMode="auto">
            <a:xfrm>
              <a:off x="1006" y="2588"/>
              <a:ext cx="7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7" name="Freeform 464"/>
            <p:cNvSpPr>
              <a:spLocks/>
            </p:cNvSpPr>
            <p:nvPr/>
          </p:nvSpPr>
          <p:spPr bwMode="auto">
            <a:xfrm>
              <a:off x="1773" y="2195"/>
              <a:ext cx="393" cy="390"/>
            </a:xfrm>
            <a:custGeom>
              <a:avLst/>
              <a:gdLst>
                <a:gd name="T0" fmla="*/ 0 w 403"/>
                <a:gd name="T1" fmla="*/ 397 h 397"/>
                <a:gd name="T2" fmla="*/ 403 w 403"/>
                <a:gd name="T3" fmla="*/ 0 h 397"/>
                <a:gd name="T4" fmla="*/ 0 60000 65536"/>
                <a:gd name="T5" fmla="*/ 0 60000 65536"/>
                <a:gd name="T6" fmla="*/ 0 w 403"/>
                <a:gd name="T7" fmla="*/ 0 h 397"/>
                <a:gd name="T8" fmla="*/ 403 w 403"/>
                <a:gd name="T9" fmla="*/ 397 h 3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3" h="397">
                  <a:moveTo>
                    <a:pt x="0" y="397"/>
                  </a:moveTo>
                  <a:lnTo>
                    <a:pt x="403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8" name="Line 465"/>
            <p:cNvSpPr>
              <a:spLocks noChangeShapeType="1"/>
            </p:cNvSpPr>
            <p:nvPr/>
          </p:nvSpPr>
          <p:spPr bwMode="auto">
            <a:xfrm flipV="1">
              <a:off x="2159" y="1666"/>
              <a:ext cx="0" cy="5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89" name="Text Box 466"/>
            <p:cNvSpPr txBox="1">
              <a:spLocks noChangeArrowheads="1"/>
            </p:cNvSpPr>
            <p:nvPr/>
          </p:nvSpPr>
          <p:spPr bwMode="auto">
            <a:xfrm>
              <a:off x="1819" y="2528"/>
              <a:ext cx="188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26690" name="Text Box 467"/>
            <p:cNvSpPr txBox="1">
              <a:spLocks noChangeArrowheads="1"/>
            </p:cNvSpPr>
            <p:nvPr/>
          </p:nvSpPr>
          <p:spPr bwMode="auto">
            <a:xfrm>
              <a:off x="754" y="1904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91" name="Text Box 468"/>
            <p:cNvSpPr txBox="1">
              <a:spLocks noChangeArrowheads="1"/>
            </p:cNvSpPr>
            <p:nvPr/>
          </p:nvSpPr>
          <p:spPr bwMode="auto">
            <a:xfrm>
              <a:off x="2186" y="2183"/>
              <a:ext cx="180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baseline="-16000">
                  <a:latin typeface="Times New Roman" pitchFamily="18" charset="0"/>
                </a:rPr>
                <a:t>y</a:t>
              </a:r>
              <a:endParaRPr kumimoji="1" lang="en-US" altLang="zh-CN" b="1" baseline="-25000">
                <a:latin typeface="Times New Roman" pitchFamily="18" charset="0"/>
              </a:endParaRPr>
            </a:p>
          </p:txBody>
        </p:sp>
        <p:sp>
          <p:nvSpPr>
            <p:cNvPr id="26692" name="Text Box 469"/>
            <p:cNvSpPr txBox="1">
              <a:spLocks noChangeArrowheads="1"/>
            </p:cNvSpPr>
            <p:nvPr/>
          </p:nvSpPr>
          <p:spPr bwMode="auto">
            <a:xfrm>
              <a:off x="1517" y="1403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93" name="Text Box 470"/>
            <p:cNvSpPr txBox="1">
              <a:spLocks noChangeArrowheads="1"/>
            </p:cNvSpPr>
            <p:nvPr/>
          </p:nvSpPr>
          <p:spPr bwMode="auto">
            <a:xfrm>
              <a:off x="243" y="1945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X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94" name="Text Box 471"/>
            <p:cNvSpPr txBox="1">
              <a:spLocks noChangeArrowheads="1"/>
            </p:cNvSpPr>
            <p:nvPr/>
          </p:nvSpPr>
          <p:spPr bwMode="auto">
            <a:xfrm>
              <a:off x="1761" y="2833"/>
              <a:ext cx="323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Y</a:t>
              </a:r>
              <a:r>
                <a:rPr kumimoji="1" lang="en-US" altLang="zh-CN" b="1">
                  <a:latin typeface="Times New Roman" pitchFamily="18" charset="0"/>
                </a:rPr>
                <a:t>   </a:t>
              </a:r>
            </a:p>
          </p:txBody>
        </p:sp>
        <p:sp>
          <p:nvSpPr>
            <p:cNvPr id="26695" name="Text Box 472"/>
            <p:cNvSpPr txBox="1">
              <a:spLocks noChangeArrowheads="1"/>
            </p:cNvSpPr>
            <p:nvPr/>
          </p:nvSpPr>
          <p:spPr bwMode="auto">
            <a:xfrm>
              <a:off x="2640" y="1951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Y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96" name="Text Box 473"/>
            <p:cNvSpPr txBox="1">
              <a:spLocks noChangeArrowheads="1"/>
            </p:cNvSpPr>
            <p:nvPr/>
          </p:nvSpPr>
          <p:spPr bwMode="auto">
            <a:xfrm>
              <a:off x="1754" y="1947"/>
              <a:ext cx="214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O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6697" name="Text Box 474"/>
            <p:cNvSpPr txBox="1">
              <a:spLocks noChangeArrowheads="1"/>
            </p:cNvSpPr>
            <p:nvPr/>
          </p:nvSpPr>
          <p:spPr bwMode="auto">
            <a:xfrm>
              <a:off x="2172" y="1428"/>
              <a:ext cx="243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 </a:t>
              </a:r>
              <a:endParaRPr kumimoji="1" lang="en-US" altLang="zh-CN" sz="2400" b="1">
                <a:latin typeface="Times New Roman" pitchFamily="18" charset="0"/>
                <a:sym typeface="UniversalMath1 BT" pitchFamily="18" charset="2"/>
              </a:endParaRPr>
            </a:p>
          </p:txBody>
        </p:sp>
      </p:grpSp>
      <p:sp>
        <p:nvSpPr>
          <p:cNvPr id="86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36" grpId="0" animBg="1" autoUpdateAnimBg="0"/>
      <p:bldP spid="39139" grpId="0" animBg="1" autoUpdateAnimBg="0"/>
      <p:bldP spid="3914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12"/>
          <p:cNvSpPr>
            <a:spLocks noChangeArrowheads="1"/>
          </p:cNvSpPr>
          <p:nvPr/>
        </p:nvSpPr>
        <p:spPr bwMode="auto">
          <a:xfrm rot="10800000" flipH="1">
            <a:off x="6737350" y="3030314"/>
            <a:ext cx="3316288" cy="1258888"/>
          </a:xfrm>
          <a:prstGeom prst="parallelogram">
            <a:avLst>
              <a:gd name="adj" fmla="val 103433"/>
            </a:avLst>
          </a:prstGeom>
          <a:gradFill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51" name="Rectangle 11"/>
          <p:cNvSpPr>
            <a:spLocks noChangeArrowheads="1"/>
          </p:cNvSpPr>
          <p:nvPr/>
        </p:nvSpPr>
        <p:spPr bwMode="auto">
          <a:xfrm>
            <a:off x="6757988" y="1597653"/>
            <a:ext cx="2010643" cy="1419960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652" name="AutoShape 13"/>
          <p:cNvSpPr>
            <a:spLocks noChangeArrowheads="1"/>
          </p:cNvSpPr>
          <p:nvPr/>
        </p:nvSpPr>
        <p:spPr bwMode="auto">
          <a:xfrm rot="5400000">
            <a:off x="8051007" y="2315146"/>
            <a:ext cx="2709863" cy="1263650"/>
          </a:xfrm>
          <a:prstGeom prst="parallelogram">
            <a:avLst>
              <a:gd name="adj" fmla="val 98894"/>
            </a:avLst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16200000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53" name="Line 14"/>
          <p:cNvSpPr>
            <a:spLocks noChangeShapeType="1"/>
          </p:cNvSpPr>
          <p:nvPr/>
        </p:nvSpPr>
        <p:spPr bwMode="auto">
          <a:xfrm>
            <a:off x="7291389" y="2146077"/>
            <a:ext cx="148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4" name="Line 15"/>
          <p:cNvSpPr>
            <a:spLocks noChangeShapeType="1"/>
          </p:cNvSpPr>
          <p:nvPr/>
        </p:nvSpPr>
        <p:spPr bwMode="auto">
          <a:xfrm>
            <a:off x="7291388" y="2146077"/>
            <a:ext cx="0" cy="887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5" name="Line 16"/>
          <p:cNvSpPr>
            <a:spLocks noChangeShapeType="1"/>
          </p:cNvSpPr>
          <p:nvPr/>
        </p:nvSpPr>
        <p:spPr bwMode="auto">
          <a:xfrm>
            <a:off x="7291388" y="3033489"/>
            <a:ext cx="596900" cy="596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6" name="Line 17"/>
          <p:cNvSpPr>
            <a:spLocks noChangeShapeType="1"/>
          </p:cNvSpPr>
          <p:nvPr/>
        </p:nvSpPr>
        <p:spPr bwMode="auto">
          <a:xfrm>
            <a:off x="7888288" y="2742977"/>
            <a:ext cx="0" cy="887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7" name="Line 18"/>
          <p:cNvSpPr>
            <a:spLocks noChangeShapeType="1"/>
          </p:cNvSpPr>
          <p:nvPr/>
        </p:nvSpPr>
        <p:spPr bwMode="auto">
          <a:xfrm>
            <a:off x="8794751" y="2146077"/>
            <a:ext cx="576263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8" name="Line 19"/>
          <p:cNvSpPr>
            <a:spLocks noChangeShapeType="1"/>
          </p:cNvSpPr>
          <p:nvPr/>
        </p:nvSpPr>
        <p:spPr bwMode="auto">
          <a:xfrm flipH="1">
            <a:off x="7888289" y="2722339"/>
            <a:ext cx="148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9" name="Line 20"/>
          <p:cNvSpPr>
            <a:spLocks noChangeShapeType="1"/>
          </p:cNvSpPr>
          <p:nvPr/>
        </p:nvSpPr>
        <p:spPr bwMode="auto">
          <a:xfrm>
            <a:off x="7888289" y="3630389"/>
            <a:ext cx="14827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0" name="Line 21"/>
          <p:cNvSpPr>
            <a:spLocks noChangeShapeType="1"/>
          </p:cNvSpPr>
          <p:nvPr/>
        </p:nvSpPr>
        <p:spPr bwMode="auto">
          <a:xfrm>
            <a:off x="7291388" y="2146077"/>
            <a:ext cx="596900" cy="596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1" name="Line 22"/>
          <p:cNvSpPr>
            <a:spLocks noChangeShapeType="1"/>
          </p:cNvSpPr>
          <p:nvPr/>
        </p:nvSpPr>
        <p:spPr bwMode="auto">
          <a:xfrm>
            <a:off x="9371013" y="2722339"/>
            <a:ext cx="0" cy="908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2" name="Line 23"/>
          <p:cNvSpPr>
            <a:spLocks noChangeShapeType="1"/>
          </p:cNvSpPr>
          <p:nvPr/>
        </p:nvSpPr>
        <p:spPr bwMode="auto">
          <a:xfrm>
            <a:off x="8774114" y="3054128"/>
            <a:ext cx="1279525" cy="1279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63" name="Text Box 27"/>
          <p:cNvSpPr txBox="1">
            <a:spLocks noChangeArrowheads="1"/>
          </p:cNvSpPr>
          <p:nvPr/>
        </p:nvSpPr>
        <p:spPr bwMode="auto">
          <a:xfrm>
            <a:off x="7678739" y="2595340"/>
            <a:ext cx="409575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10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sz="1000" b="1">
              <a:latin typeface="Times New Roman" pitchFamily="18" charset="0"/>
            </a:endParaRPr>
          </a:p>
        </p:txBody>
      </p:sp>
      <p:sp>
        <p:nvSpPr>
          <p:cNvPr id="27664" name="Text Box 28"/>
          <p:cNvSpPr txBox="1">
            <a:spLocks noChangeArrowheads="1"/>
          </p:cNvSpPr>
          <p:nvPr/>
        </p:nvSpPr>
        <p:spPr bwMode="auto">
          <a:xfrm>
            <a:off x="9217025" y="2596927"/>
            <a:ext cx="2984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665" name="Text Box 29"/>
          <p:cNvSpPr txBox="1">
            <a:spLocks noChangeArrowheads="1"/>
          </p:cNvSpPr>
          <p:nvPr/>
        </p:nvSpPr>
        <p:spPr bwMode="auto">
          <a:xfrm>
            <a:off x="5757863" y="2396902"/>
            <a:ext cx="1841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kumimoji="1" lang="zh-CN" altLang="zh-CN" b="1">
              <a:latin typeface="Times New Roman" pitchFamily="18" charset="0"/>
            </a:endParaRPr>
          </a:p>
        </p:txBody>
      </p:sp>
      <p:sp>
        <p:nvSpPr>
          <p:cNvPr id="27666" name="Text Box 30"/>
          <p:cNvSpPr txBox="1">
            <a:spLocks noChangeArrowheads="1"/>
          </p:cNvSpPr>
          <p:nvPr/>
        </p:nvSpPr>
        <p:spPr bwMode="auto">
          <a:xfrm>
            <a:off x="7151688" y="2039715"/>
            <a:ext cx="285750" cy="2143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8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sz="800" b="1">
              <a:latin typeface="Times New Roman" pitchFamily="18" charset="0"/>
            </a:endParaRPr>
          </a:p>
        </p:txBody>
      </p:sp>
      <p:sp>
        <p:nvSpPr>
          <p:cNvPr id="27667" name="Text Box 31"/>
          <p:cNvSpPr txBox="1">
            <a:spLocks noChangeArrowheads="1"/>
          </p:cNvSpPr>
          <p:nvPr/>
        </p:nvSpPr>
        <p:spPr bwMode="auto">
          <a:xfrm>
            <a:off x="7735888" y="3484339"/>
            <a:ext cx="2984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sz="900" b="1">
              <a:latin typeface="Times New Roman" pitchFamily="18" charset="0"/>
            </a:endParaRPr>
          </a:p>
        </p:txBody>
      </p:sp>
      <p:sp>
        <p:nvSpPr>
          <p:cNvPr id="27668" name="Text Box 32"/>
          <p:cNvSpPr txBox="1">
            <a:spLocks noChangeArrowheads="1"/>
          </p:cNvSpPr>
          <p:nvPr/>
        </p:nvSpPr>
        <p:spPr bwMode="auto">
          <a:xfrm>
            <a:off x="6341846" y="2601046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X</a:t>
            </a:r>
          </a:p>
        </p:txBody>
      </p:sp>
      <p:sp>
        <p:nvSpPr>
          <p:cNvPr id="27669" name="Text Box 33"/>
          <p:cNvSpPr txBox="1">
            <a:spLocks noChangeArrowheads="1"/>
          </p:cNvSpPr>
          <p:nvPr/>
        </p:nvSpPr>
        <p:spPr bwMode="auto">
          <a:xfrm>
            <a:off x="10124859" y="4052021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Y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670" name="Text Box 34"/>
          <p:cNvSpPr txBox="1">
            <a:spLocks noChangeArrowheads="1"/>
          </p:cNvSpPr>
          <p:nvPr/>
        </p:nvSpPr>
        <p:spPr bwMode="auto">
          <a:xfrm>
            <a:off x="8462746" y="826940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Z</a:t>
            </a:r>
          </a:p>
        </p:txBody>
      </p:sp>
      <p:sp>
        <p:nvSpPr>
          <p:cNvPr id="27671" name="Text Box 35"/>
          <p:cNvSpPr txBox="1">
            <a:spLocks noChangeArrowheads="1"/>
          </p:cNvSpPr>
          <p:nvPr/>
        </p:nvSpPr>
        <p:spPr bwMode="auto">
          <a:xfrm>
            <a:off x="8724684" y="2729633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O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672" name="Text Box 36"/>
          <p:cNvSpPr txBox="1">
            <a:spLocks noChangeArrowheads="1"/>
          </p:cNvSpPr>
          <p:nvPr/>
        </p:nvSpPr>
        <p:spPr bwMode="auto">
          <a:xfrm>
            <a:off x="6729196" y="1513608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V</a:t>
            </a:r>
          </a:p>
        </p:txBody>
      </p:sp>
      <p:sp>
        <p:nvSpPr>
          <p:cNvPr id="27673" name="Text Box 37"/>
          <p:cNvSpPr txBox="1">
            <a:spLocks noChangeArrowheads="1"/>
          </p:cNvSpPr>
          <p:nvPr/>
        </p:nvSpPr>
        <p:spPr bwMode="auto">
          <a:xfrm>
            <a:off x="7962684" y="3886921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H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674" name="Text Box 38"/>
          <p:cNvSpPr txBox="1">
            <a:spLocks noChangeArrowheads="1"/>
          </p:cNvSpPr>
          <p:nvPr/>
        </p:nvSpPr>
        <p:spPr bwMode="auto">
          <a:xfrm>
            <a:off x="9726396" y="2656608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W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675" name="Text Box 39"/>
          <p:cNvSpPr txBox="1">
            <a:spLocks noChangeArrowheads="1"/>
          </p:cNvSpPr>
          <p:nvPr/>
        </p:nvSpPr>
        <p:spPr bwMode="auto">
          <a:xfrm>
            <a:off x="7872196" y="2316883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i="1">
                <a:latin typeface="宋体" pitchFamily="2" charset="-122"/>
              </a:rPr>
              <a:t>A</a:t>
            </a:r>
          </a:p>
        </p:txBody>
      </p:sp>
      <p:sp>
        <p:nvSpPr>
          <p:cNvPr id="27676" name="Text Box 40"/>
          <p:cNvSpPr txBox="1">
            <a:spLocks noChangeArrowheads="1"/>
          </p:cNvSpPr>
          <p:nvPr/>
        </p:nvSpPr>
        <p:spPr bwMode="auto">
          <a:xfrm>
            <a:off x="7580081" y="3401146"/>
            <a:ext cx="34336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677" name="Text Box 41"/>
          <p:cNvSpPr txBox="1">
            <a:spLocks noChangeArrowheads="1"/>
          </p:cNvSpPr>
          <p:nvPr/>
        </p:nvSpPr>
        <p:spPr bwMode="auto">
          <a:xfrm>
            <a:off x="9341594" y="2391496"/>
            <a:ext cx="47000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27678" name="Text Box 42"/>
          <p:cNvSpPr txBox="1">
            <a:spLocks noChangeArrowheads="1"/>
          </p:cNvSpPr>
          <p:nvPr/>
        </p:nvSpPr>
        <p:spPr bwMode="auto">
          <a:xfrm>
            <a:off x="7036412" y="1729508"/>
            <a:ext cx="49725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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52269" name="Text Box 45"/>
          <p:cNvSpPr txBox="1">
            <a:spLocks noChangeArrowheads="1"/>
          </p:cNvSpPr>
          <p:nvPr/>
        </p:nvSpPr>
        <p:spPr bwMode="auto">
          <a:xfrm>
            <a:off x="1809750" y="3975448"/>
            <a:ext cx="3786188" cy="46166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三、点的投影规律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: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sp>
        <p:nvSpPr>
          <p:cNvPr id="52270" name="Text Box 46"/>
          <p:cNvSpPr txBox="1">
            <a:spLocks noChangeArrowheads="1"/>
          </p:cNvSpPr>
          <p:nvPr/>
        </p:nvSpPr>
        <p:spPr bwMode="auto">
          <a:xfrm>
            <a:off x="2101851" y="4416996"/>
            <a:ext cx="189186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>
                <a:latin typeface="Times New Roman" pitchFamily="18" charset="0"/>
              </a:rPr>
              <a:t>① </a:t>
            </a:r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</a:rPr>
              <a:t>⊥</a:t>
            </a:r>
            <a:r>
              <a:rPr kumimoji="1" lang="en-US" altLang="zh-CN" sz="2400" b="1">
                <a:latin typeface="宋体" pitchFamily="2" charset="-122"/>
              </a:rPr>
              <a:t>OX</a:t>
            </a:r>
            <a:r>
              <a:rPr kumimoji="1" lang="zh-CN" altLang="zh-CN" sz="2400" b="1">
                <a:latin typeface="宋体" pitchFamily="2" charset="-122"/>
              </a:rPr>
              <a:t>轴</a:t>
            </a:r>
            <a:endParaRPr kumimoji="1" lang="zh-CN" altLang="en-US" sz="2400" b="1">
              <a:latin typeface="Times New Roman" pitchFamily="18" charset="0"/>
            </a:endParaRPr>
          </a:p>
        </p:txBody>
      </p:sp>
      <p:sp>
        <p:nvSpPr>
          <p:cNvPr id="52271" name="Text Box 47"/>
          <p:cNvSpPr txBox="1">
            <a:spLocks noChangeArrowheads="1"/>
          </p:cNvSpPr>
          <p:nvPr/>
        </p:nvSpPr>
        <p:spPr bwMode="auto">
          <a:xfrm>
            <a:off x="2082800" y="5007546"/>
            <a:ext cx="139172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>
                <a:latin typeface="Times New Roman" pitchFamily="18" charset="0"/>
              </a:rPr>
              <a:t>② </a:t>
            </a:r>
            <a:r>
              <a:rPr kumimoji="1" lang="en-US" altLang="zh-CN" sz="2400" i="1">
                <a:latin typeface="Dutch801 Rm BT" pitchFamily="18" charset="0"/>
              </a:rPr>
              <a:t>aa</a:t>
            </a:r>
            <a:r>
              <a:rPr kumimoji="1" lang="en-US" altLang="zh-CN" sz="2400" b="1" baseline="-25000">
                <a:latin typeface="Times New Roman" pitchFamily="18" charset="0"/>
              </a:rPr>
              <a:t>x</a:t>
            </a:r>
            <a:r>
              <a:rPr kumimoji="1" lang="en-US" altLang="zh-CN" sz="2400" b="1">
                <a:latin typeface="Times New Roman" pitchFamily="18" charset="0"/>
              </a:rPr>
              <a:t>=</a:t>
            </a:r>
            <a:r>
              <a:rPr kumimoji="1" lang="en-US" altLang="zh-CN" sz="2400" b="1">
                <a:latin typeface="Italic" pitchFamily="2" charset="0"/>
              </a:rPr>
              <a:t> </a:t>
            </a:r>
          </a:p>
        </p:txBody>
      </p:sp>
      <p:sp>
        <p:nvSpPr>
          <p:cNvPr id="52272" name="Text Box 48"/>
          <p:cNvSpPr txBox="1">
            <a:spLocks noChangeArrowheads="1"/>
          </p:cNvSpPr>
          <p:nvPr/>
        </p:nvSpPr>
        <p:spPr bwMode="auto">
          <a:xfrm>
            <a:off x="2495601" y="6174359"/>
            <a:ext cx="85311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i="1" dirty="0" err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 dirty="0" err="1">
                <a:latin typeface="Times New Roman" pitchFamily="18" charset="0"/>
                <a:sym typeface="Symbol" pitchFamily="18" charset="2"/>
              </a:rPr>
              <a:t></a:t>
            </a:r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x</a:t>
            </a:r>
            <a:r>
              <a:rPr kumimoji="1" lang="en-US" altLang="zh-CN" sz="2400" b="1" dirty="0">
                <a:latin typeface="Times New Roman" pitchFamily="18" charset="0"/>
              </a:rPr>
              <a:t>=</a:t>
            </a:r>
          </a:p>
        </p:txBody>
      </p:sp>
      <p:sp>
        <p:nvSpPr>
          <p:cNvPr id="52273" name="Text Box 49"/>
          <p:cNvSpPr txBox="1">
            <a:spLocks noChangeArrowheads="1"/>
          </p:cNvSpPr>
          <p:nvPr/>
        </p:nvSpPr>
        <p:spPr bwMode="auto">
          <a:xfrm>
            <a:off x="2495600" y="5599684"/>
            <a:ext cx="115411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i="1" dirty="0" err="1">
                <a:latin typeface="Dutch801 Rm BT" pitchFamily="18" charset="0"/>
              </a:rPr>
              <a:t>aa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y</a:t>
            </a:r>
            <a:r>
              <a:rPr kumimoji="1" lang="en-US" altLang="zh-CN" sz="2400" b="1" dirty="0">
                <a:latin typeface="Times New Roman" pitchFamily="18" charset="0"/>
              </a:rPr>
              <a:t>=</a:t>
            </a:r>
          </a:p>
        </p:txBody>
      </p:sp>
      <p:grpSp>
        <p:nvGrpSpPr>
          <p:cNvPr id="27684" name="Group 50"/>
          <p:cNvGrpSpPr>
            <a:grpSpLocks/>
          </p:cNvGrpSpPr>
          <p:nvPr/>
        </p:nvGrpSpPr>
        <p:grpSpPr bwMode="auto">
          <a:xfrm>
            <a:off x="6840540" y="2577878"/>
            <a:ext cx="450851" cy="515938"/>
            <a:chOff x="1112" y="686"/>
            <a:chExt cx="284" cy="325"/>
          </a:xfrm>
        </p:grpSpPr>
        <p:sp>
          <p:nvSpPr>
            <p:cNvPr id="27726" name="Text Box 51"/>
            <p:cNvSpPr txBox="1">
              <a:spLocks noChangeArrowheads="1"/>
            </p:cNvSpPr>
            <p:nvPr/>
          </p:nvSpPr>
          <p:spPr bwMode="auto">
            <a:xfrm>
              <a:off x="1208" y="780"/>
              <a:ext cx="188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x</a:t>
              </a:r>
            </a:p>
          </p:txBody>
        </p:sp>
        <p:sp>
          <p:nvSpPr>
            <p:cNvPr id="27727" name="Text Box 52"/>
            <p:cNvSpPr txBox="1">
              <a:spLocks noChangeArrowheads="1"/>
            </p:cNvSpPr>
            <p:nvPr/>
          </p:nvSpPr>
          <p:spPr bwMode="auto">
            <a:xfrm>
              <a:off x="1112" y="686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</p:grpSp>
      <p:grpSp>
        <p:nvGrpSpPr>
          <p:cNvPr id="27685" name="Group 53"/>
          <p:cNvGrpSpPr>
            <a:grpSpLocks/>
          </p:cNvGrpSpPr>
          <p:nvPr/>
        </p:nvGrpSpPr>
        <p:grpSpPr bwMode="auto">
          <a:xfrm>
            <a:off x="8321676" y="1731740"/>
            <a:ext cx="493713" cy="481013"/>
            <a:chOff x="1940" y="152"/>
            <a:chExt cx="311" cy="303"/>
          </a:xfrm>
        </p:grpSpPr>
        <p:sp>
          <p:nvSpPr>
            <p:cNvPr id="27724" name="Text Box 54"/>
            <p:cNvSpPr txBox="1">
              <a:spLocks noChangeArrowheads="1"/>
            </p:cNvSpPr>
            <p:nvPr/>
          </p:nvSpPr>
          <p:spPr bwMode="auto">
            <a:xfrm>
              <a:off x="1940" y="152"/>
              <a:ext cx="259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Italic" pitchFamily="2" charset="0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27725" name="Text Box 55"/>
            <p:cNvSpPr txBox="1">
              <a:spLocks noChangeArrowheads="1"/>
            </p:cNvSpPr>
            <p:nvPr/>
          </p:nvSpPr>
          <p:spPr bwMode="auto">
            <a:xfrm>
              <a:off x="2071" y="224"/>
              <a:ext cx="18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z</a:t>
              </a:r>
            </a:p>
          </p:txBody>
        </p:sp>
      </p:grpSp>
      <p:sp>
        <p:nvSpPr>
          <p:cNvPr id="27686" name="Text Box 57"/>
          <p:cNvSpPr txBox="1">
            <a:spLocks noChangeArrowheads="1"/>
          </p:cNvSpPr>
          <p:nvPr/>
        </p:nvSpPr>
        <p:spPr bwMode="auto">
          <a:xfrm>
            <a:off x="9316806" y="3297958"/>
            <a:ext cx="34336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687" name="Text Box 58"/>
          <p:cNvSpPr txBox="1">
            <a:spLocks noChangeArrowheads="1"/>
          </p:cNvSpPr>
          <p:nvPr/>
        </p:nvSpPr>
        <p:spPr bwMode="auto">
          <a:xfrm>
            <a:off x="9480550" y="3416077"/>
            <a:ext cx="2984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>
                <a:latin typeface="Times New Roman" pitchFamily="18" charset="0"/>
              </a:rPr>
              <a:t>y</a:t>
            </a:r>
          </a:p>
        </p:txBody>
      </p:sp>
      <p:sp>
        <p:nvSpPr>
          <p:cNvPr id="27688" name="Freeform 65"/>
          <p:cNvSpPr>
            <a:spLocks/>
          </p:cNvSpPr>
          <p:nvPr/>
        </p:nvSpPr>
        <p:spPr bwMode="auto">
          <a:xfrm>
            <a:off x="2652395" y="1583080"/>
            <a:ext cx="0" cy="1872000"/>
          </a:xfrm>
          <a:custGeom>
            <a:avLst/>
            <a:gdLst>
              <a:gd name="T0" fmla="*/ 0 w 1"/>
              <a:gd name="T1" fmla="*/ 2147483647 h 1214"/>
              <a:gd name="T2" fmla="*/ 0 w 1"/>
              <a:gd name="T3" fmla="*/ 0 h 1214"/>
              <a:gd name="T4" fmla="*/ 0 60000 65536"/>
              <a:gd name="T5" fmla="*/ 0 60000 65536"/>
              <a:gd name="T6" fmla="*/ 0 w 1"/>
              <a:gd name="T7" fmla="*/ 0 h 1214"/>
              <a:gd name="T8" fmla="*/ 1 w 1"/>
              <a:gd name="T9" fmla="*/ 1214 h 1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214">
                <a:moveTo>
                  <a:pt x="0" y="1214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89" name="Line 62"/>
          <p:cNvSpPr>
            <a:spLocks noChangeShapeType="1"/>
          </p:cNvSpPr>
          <p:nvPr/>
        </p:nvSpPr>
        <p:spPr bwMode="auto">
          <a:xfrm rot="-60000" flipH="1" flipV="1">
            <a:off x="2625726" y="3473228"/>
            <a:ext cx="2398713" cy="460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90" name="Line 63"/>
          <p:cNvSpPr>
            <a:spLocks noChangeShapeType="1"/>
          </p:cNvSpPr>
          <p:nvPr/>
        </p:nvSpPr>
        <p:spPr bwMode="auto">
          <a:xfrm rot="60000">
            <a:off x="4965701" y="1592040"/>
            <a:ext cx="47625" cy="1901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91" name="Line 64"/>
          <p:cNvSpPr>
            <a:spLocks noChangeShapeType="1"/>
          </p:cNvSpPr>
          <p:nvPr/>
        </p:nvSpPr>
        <p:spPr bwMode="auto">
          <a:xfrm>
            <a:off x="2649538" y="1592039"/>
            <a:ext cx="2349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92" name="Text Box 66"/>
          <p:cNvSpPr txBox="1">
            <a:spLocks noChangeArrowheads="1"/>
          </p:cNvSpPr>
          <p:nvPr/>
        </p:nvSpPr>
        <p:spPr bwMode="auto">
          <a:xfrm>
            <a:off x="2720975" y="1530128"/>
            <a:ext cx="184150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kumimoji="1" lang="zh-CN" altLang="zh-CN" sz="1000" b="1">
              <a:latin typeface="Times New Roman" pitchFamily="18" charset="0"/>
            </a:endParaRPr>
          </a:p>
        </p:txBody>
      </p:sp>
      <p:sp>
        <p:nvSpPr>
          <p:cNvPr id="27693" name="Text Box 67"/>
          <p:cNvSpPr txBox="1">
            <a:spLocks noChangeArrowheads="1"/>
          </p:cNvSpPr>
          <p:nvPr/>
        </p:nvSpPr>
        <p:spPr bwMode="auto">
          <a:xfrm>
            <a:off x="2468564" y="3350990"/>
            <a:ext cx="357187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10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694" name="Text Box 68"/>
          <p:cNvSpPr txBox="1">
            <a:spLocks noChangeArrowheads="1"/>
          </p:cNvSpPr>
          <p:nvPr/>
        </p:nvSpPr>
        <p:spPr bwMode="auto">
          <a:xfrm>
            <a:off x="4773613" y="1477740"/>
            <a:ext cx="411162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10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27695" name="Text Box 69"/>
          <p:cNvSpPr txBox="1">
            <a:spLocks noChangeArrowheads="1"/>
          </p:cNvSpPr>
          <p:nvPr/>
        </p:nvSpPr>
        <p:spPr bwMode="auto">
          <a:xfrm>
            <a:off x="5189538" y="2168302"/>
            <a:ext cx="74771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Y</a:t>
            </a:r>
            <a:endParaRPr kumimoji="1" lang="en-US" altLang="zh-CN" b="1">
              <a:latin typeface="宋体" pitchFamily="2" charset="-122"/>
            </a:endParaRPr>
          </a:p>
        </p:txBody>
      </p:sp>
      <p:sp>
        <p:nvSpPr>
          <p:cNvPr id="27696" name="Text Box 70"/>
          <p:cNvSpPr txBox="1">
            <a:spLocks noChangeArrowheads="1"/>
          </p:cNvSpPr>
          <p:nvPr/>
        </p:nvSpPr>
        <p:spPr bwMode="auto">
          <a:xfrm>
            <a:off x="3717932" y="1097361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dirty="0">
                <a:latin typeface="宋体" pitchFamily="2" charset="-122"/>
              </a:rPr>
              <a:t>Z</a:t>
            </a:r>
            <a:endParaRPr kumimoji="1" lang="en-US" altLang="zh-CN" b="1" dirty="0">
              <a:latin typeface="Times New Roman" pitchFamily="18" charset="0"/>
            </a:endParaRPr>
          </a:p>
        </p:txBody>
      </p:sp>
      <p:sp>
        <p:nvSpPr>
          <p:cNvPr id="27697" name="Text Box 71"/>
          <p:cNvSpPr txBox="1">
            <a:spLocks noChangeArrowheads="1"/>
          </p:cNvSpPr>
          <p:nvPr/>
        </p:nvSpPr>
        <p:spPr bwMode="auto">
          <a:xfrm>
            <a:off x="4083101" y="994574"/>
            <a:ext cx="449162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800" b="1" baseline="-25000" dirty="0" err="1">
                <a:latin typeface="Times New Roman" pitchFamily="18" charset="0"/>
              </a:rPr>
              <a:t>z</a:t>
            </a:r>
            <a:endParaRPr kumimoji="1" lang="en-US" altLang="zh-CN" sz="2800" b="1" dirty="0">
              <a:latin typeface="Times New Roman" pitchFamily="18" charset="0"/>
            </a:endParaRPr>
          </a:p>
        </p:txBody>
      </p:sp>
      <p:sp>
        <p:nvSpPr>
          <p:cNvPr id="27698" name="Freeform 72"/>
          <p:cNvSpPr>
            <a:spLocks/>
          </p:cNvSpPr>
          <p:nvPr/>
        </p:nvSpPr>
        <p:spPr bwMode="auto">
          <a:xfrm>
            <a:off x="2265364" y="2409881"/>
            <a:ext cx="3362325" cy="369332"/>
          </a:xfrm>
          <a:custGeom>
            <a:avLst/>
            <a:gdLst>
              <a:gd name="T0" fmla="*/ 0 w 1751"/>
              <a:gd name="T1" fmla="*/ 0 h 1"/>
              <a:gd name="T2" fmla="*/ 2147483647 w 1751"/>
              <a:gd name="T3" fmla="*/ 0 h 1"/>
              <a:gd name="T4" fmla="*/ 0 60000 65536"/>
              <a:gd name="T5" fmla="*/ 0 60000 65536"/>
              <a:gd name="T6" fmla="*/ 0 w 1751"/>
              <a:gd name="T7" fmla="*/ 0 h 1"/>
              <a:gd name="T8" fmla="*/ 1751 w 175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51" h="1">
                <a:moveTo>
                  <a:pt x="0" y="0"/>
                </a:moveTo>
                <a:lnTo>
                  <a:pt x="1751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699" name="Freeform 73"/>
          <p:cNvSpPr>
            <a:spLocks/>
          </p:cNvSpPr>
          <p:nvPr/>
        </p:nvSpPr>
        <p:spPr bwMode="auto">
          <a:xfrm>
            <a:off x="4087814" y="1268760"/>
            <a:ext cx="1587" cy="2556000"/>
          </a:xfrm>
          <a:custGeom>
            <a:avLst/>
            <a:gdLst>
              <a:gd name="T0" fmla="*/ 0 w 1"/>
              <a:gd name="T1" fmla="*/ 2147483647 h 1536"/>
              <a:gd name="T2" fmla="*/ 0 w 1"/>
              <a:gd name="T3" fmla="*/ 0 h 1536"/>
              <a:gd name="T4" fmla="*/ 0 60000 65536"/>
              <a:gd name="T5" fmla="*/ 0 60000 65536"/>
              <a:gd name="T6" fmla="*/ 0 w 1"/>
              <a:gd name="T7" fmla="*/ 0 h 1536"/>
              <a:gd name="T8" fmla="*/ 1 w 1"/>
              <a:gd name="T9" fmla="*/ 1536 h 1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536">
                <a:moveTo>
                  <a:pt x="0" y="153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700" name="Text Box 75"/>
          <p:cNvSpPr txBox="1">
            <a:spLocks noChangeArrowheads="1"/>
          </p:cNvSpPr>
          <p:nvPr/>
        </p:nvSpPr>
        <p:spPr bwMode="auto">
          <a:xfrm>
            <a:off x="4906119" y="1194521"/>
            <a:ext cx="47000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27701" name="Text Box 76"/>
          <p:cNvSpPr txBox="1">
            <a:spLocks noChangeArrowheads="1"/>
          </p:cNvSpPr>
          <p:nvPr/>
        </p:nvSpPr>
        <p:spPr bwMode="auto">
          <a:xfrm>
            <a:off x="2008189" y="2181002"/>
            <a:ext cx="4857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X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702" name="Text Box 77"/>
          <p:cNvSpPr txBox="1">
            <a:spLocks noChangeArrowheads="1"/>
          </p:cNvSpPr>
          <p:nvPr/>
        </p:nvSpPr>
        <p:spPr bwMode="auto">
          <a:xfrm>
            <a:off x="3652839" y="3511327"/>
            <a:ext cx="5683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Y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703" name="Text Box 78"/>
          <p:cNvSpPr txBox="1">
            <a:spLocks noChangeArrowheads="1"/>
          </p:cNvSpPr>
          <p:nvPr/>
        </p:nvSpPr>
        <p:spPr bwMode="auto">
          <a:xfrm>
            <a:off x="4906235" y="2451821"/>
            <a:ext cx="44595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 baseline="-25000">
                <a:latin typeface="Times New Roman" pitchFamily="18" charset="0"/>
              </a:rPr>
              <a:t>y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704" name="Text Box 79"/>
          <p:cNvSpPr txBox="1">
            <a:spLocks noChangeArrowheads="1"/>
          </p:cNvSpPr>
          <p:nvPr/>
        </p:nvSpPr>
        <p:spPr bwMode="auto">
          <a:xfrm>
            <a:off x="4049496" y="2579921"/>
            <a:ext cx="49553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O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705" name="Text Box 80"/>
          <p:cNvSpPr txBox="1">
            <a:spLocks noChangeArrowheads="1"/>
          </p:cNvSpPr>
          <p:nvPr/>
        </p:nvSpPr>
        <p:spPr bwMode="auto">
          <a:xfrm>
            <a:off x="2317751" y="3346227"/>
            <a:ext cx="4429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706" name="Text Box 81"/>
          <p:cNvSpPr txBox="1">
            <a:spLocks noChangeArrowheads="1"/>
          </p:cNvSpPr>
          <p:nvPr/>
        </p:nvSpPr>
        <p:spPr bwMode="auto">
          <a:xfrm>
            <a:off x="2602773" y="2131146"/>
            <a:ext cx="44595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 baseline="-25000">
                <a:latin typeface="Times New Roman" pitchFamily="18" charset="0"/>
              </a:rPr>
              <a:t>x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707" name="Text Box 82"/>
          <p:cNvSpPr txBox="1">
            <a:spLocks noChangeArrowheads="1"/>
          </p:cNvSpPr>
          <p:nvPr/>
        </p:nvSpPr>
        <p:spPr bwMode="auto">
          <a:xfrm>
            <a:off x="4081444" y="3360842"/>
            <a:ext cx="463588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800" b="1" baseline="-25000">
                <a:latin typeface="Times New Roman" pitchFamily="18" charset="0"/>
              </a:rPr>
              <a:t>y</a:t>
            </a:r>
            <a:endParaRPr kumimoji="1" lang="en-US" altLang="zh-CN" b="1">
              <a:latin typeface="Times New Roman" pitchFamily="18" charset="0"/>
            </a:endParaRPr>
          </a:p>
        </p:txBody>
      </p:sp>
      <p:sp>
        <p:nvSpPr>
          <p:cNvPr id="27708" name="Text Box 83"/>
          <p:cNvSpPr txBox="1">
            <a:spLocks noChangeArrowheads="1"/>
          </p:cNvSpPr>
          <p:nvPr/>
        </p:nvSpPr>
        <p:spPr bwMode="auto">
          <a:xfrm>
            <a:off x="2361597" y="1227858"/>
            <a:ext cx="42030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27709" name="Text Box 84"/>
          <p:cNvSpPr txBox="1">
            <a:spLocks noChangeArrowheads="1"/>
          </p:cNvSpPr>
          <p:nvPr/>
        </p:nvSpPr>
        <p:spPr bwMode="auto">
          <a:xfrm>
            <a:off x="2490789" y="1479328"/>
            <a:ext cx="312737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0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52309" name="Text Box 85"/>
          <p:cNvSpPr txBox="1">
            <a:spLocks noChangeArrowheads="1"/>
          </p:cNvSpPr>
          <p:nvPr/>
        </p:nvSpPr>
        <p:spPr bwMode="auto">
          <a:xfrm>
            <a:off x="4871864" y="4407496"/>
            <a:ext cx="318770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zh-CN" sz="2400" b="1" dirty="0">
                <a:latin typeface="Times New Roman" pitchFamily="18" charset="0"/>
              </a:rPr>
              <a:t> </a:t>
            </a:r>
            <a:r>
              <a:rPr kumimoji="1" lang="en-US" altLang="zh-CN" sz="2400" i="1" dirty="0" err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 dirty="0" err="1">
                <a:latin typeface="Times New Roman" pitchFamily="18" charset="0"/>
                <a:sym typeface="Symbol" pitchFamily="18" charset="2"/>
              </a:rPr>
              <a:t></a:t>
            </a:r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</a:t>
            </a:r>
            <a:r>
              <a:rPr kumimoji="1" lang="en-US" altLang="zh-CN" sz="2400" b="1" dirty="0">
                <a:latin typeface="Times New Roman" pitchFamily="18" charset="0"/>
              </a:rPr>
              <a:t>⊥</a:t>
            </a:r>
            <a:r>
              <a:rPr kumimoji="1" lang="en-US" altLang="zh-CN" sz="2400" b="1" dirty="0">
                <a:latin typeface="宋体" pitchFamily="2" charset="-122"/>
              </a:rPr>
              <a:t>OZ</a:t>
            </a:r>
            <a:r>
              <a:rPr kumimoji="1" lang="zh-CN" altLang="zh-CN" sz="2400" b="1" dirty="0">
                <a:latin typeface="宋体" pitchFamily="2" charset="-122"/>
              </a:rPr>
              <a:t>轴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52359" name="Text Box 135"/>
          <p:cNvSpPr txBox="1">
            <a:spLocks noChangeArrowheads="1"/>
          </p:cNvSpPr>
          <p:nvPr/>
        </p:nvSpPr>
        <p:spPr bwMode="auto">
          <a:xfrm>
            <a:off x="4068930" y="4998021"/>
            <a:ext cx="5132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Times New Roman" pitchFamily="18" charset="0"/>
              </a:rPr>
              <a:t>=y</a:t>
            </a:r>
          </a:p>
        </p:txBody>
      </p:sp>
      <p:sp>
        <p:nvSpPr>
          <p:cNvPr id="52360" name="Text Box 136"/>
          <p:cNvSpPr txBox="1">
            <a:spLocks noChangeArrowheads="1"/>
          </p:cNvSpPr>
          <p:nvPr/>
        </p:nvSpPr>
        <p:spPr bwMode="auto">
          <a:xfrm>
            <a:off x="4552583" y="5020246"/>
            <a:ext cx="33025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= </a:t>
            </a:r>
            <a:r>
              <a:rPr kumimoji="1" lang="en-US" altLang="zh-CN" sz="2400" b="1" dirty="0" err="1">
                <a:latin typeface="宋体" pitchFamily="2" charset="-122"/>
              </a:rPr>
              <a:t>A</a:t>
            </a:r>
            <a:r>
              <a:rPr kumimoji="1" lang="en-US" altLang="zh-CN" sz="2400" i="1" dirty="0" err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</a:t>
            </a:r>
            <a:r>
              <a:rPr kumimoji="1" lang="zh-CN" altLang="en-US" sz="2400" b="1" dirty="0">
                <a:latin typeface="宋体" pitchFamily="2" charset="-122"/>
                <a:sym typeface="Symbol" pitchFamily="18" charset="2"/>
              </a:rPr>
              <a:t>（</a:t>
            </a:r>
            <a:r>
              <a:rPr kumimoji="1" lang="en-US" altLang="zh-CN" sz="2400" b="1" dirty="0">
                <a:latin typeface="宋体" pitchFamily="2" charset="-122"/>
              </a:rPr>
              <a:t>A</a:t>
            </a:r>
            <a:r>
              <a:rPr kumimoji="1" lang="zh-CN" altLang="zh-CN" sz="2400" b="1" dirty="0">
                <a:latin typeface="宋体" pitchFamily="2" charset="-122"/>
              </a:rPr>
              <a:t>到</a:t>
            </a:r>
            <a:r>
              <a:rPr kumimoji="1" lang="en-US" altLang="zh-CN" sz="2400" b="1" dirty="0">
                <a:latin typeface="宋体" pitchFamily="2" charset="-122"/>
              </a:rPr>
              <a:t>V</a:t>
            </a:r>
            <a:r>
              <a:rPr kumimoji="1" lang="zh-CN" altLang="zh-CN" sz="2400" b="1" dirty="0">
                <a:latin typeface="宋体" pitchFamily="2" charset="-122"/>
              </a:rPr>
              <a:t>面的距离）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52361" name="Text Box 137"/>
          <p:cNvSpPr txBox="1">
            <a:spLocks noChangeArrowheads="1"/>
          </p:cNvSpPr>
          <p:nvPr/>
        </p:nvSpPr>
        <p:spPr bwMode="auto">
          <a:xfrm>
            <a:off x="3287688" y="5552059"/>
            <a:ext cx="6671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 err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 dirty="0" err="1">
                <a:latin typeface="Times New Roman" pitchFamily="18" charset="0"/>
                <a:sym typeface="Symbol" pitchFamily="18" charset="2"/>
              </a:rPr>
              <a:t></a:t>
            </a:r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z</a:t>
            </a:r>
            <a:endParaRPr kumimoji="1" lang="en-US" altLang="zh-CN" sz="2400" b="1" baseline="-25000" dirty="0">
              <a:latin typeface="Times New Roman" pitchFamily="18" charset="0"/>
            </a:endParaRPr>
          </a:p>
        </p:txBody>
      </p:sp>
      <p:sp>
        <p:nvSpPr>
          <p:cNvPr id="52362" name="Text Box 138"/>
          <p:cNvSpPr txBox="1">
            <a:spLocks noChangeArrowheads="1"/>
          </p:cNvSpPr>
          <p:nvPr/>
        </p:nvSpPr>
        <p:spPr bwMode="auto">
          <a:xfrm>
            <a:off x="4007769" y="5594921"/>
            <a:ext cx="5132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dirty="0">
                <a:latin typeface="Times New Roman" pitchFamily="18" charset="0"/>
              </a:rPr>
              <a:t>=x</a:t>
            </a:r>
          </a:p>
        </p:txBody>
      </p:sp>
      <p:sp>
        <p:nvSpPr>
          <p:cNvPr id="52363" name="Text Box 139"/>
          <p:cNvSpPr txBox="1">
            <a:spLocks noChangeArrowheads="1"/>
          </p:cNvSpPr>
          <p:nvPr/>
        </p:nvSpPr>
        <p:spPr bwMode="auto">
          <a:xfrm>
            <a:off x="4583832" y="5602859"/>
            <a:ext cx="32752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dirty="0">
                <a:latin typeface="Times New Roman" pitchFamily="18" charset="0"/>
              </a:rPr>
              <a:t>=</a:t>
            </a:r>
            <a:r>
              <a:rPr kumimoji="1" lang="en-US" altLang="zh-CN" sz="2400" b="1" dirty="0" err="1">
                <a:latin typeface="宋体" pitchFamily="2" charset="-122"/>
              </a:rPr>
              <a:t>A</a:t>
            </a:r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</a:t>
            </a:r>
            <a:r>
              <a:rPr kumimoji="1" lang="zh-CN" altLang="en-US" sz="2400" b="1" dirty="0">
                <a:latin typeface="宋体" pitchFamily="2" charset="-122"/>
              </a:rPr>
              <a:t>（</a:t>
            </a:r>
            <a:r>
              <a:rPr kumimoji="1" lang="en-US" altLang="zh-CN" sz="2400" b="1" dirty="0">
                <a:latin typeface="宋体" pitchFamily="2" charset="-122"/>
              </a:rPr>
              <a:t>A</a:t>
            </a:r>
            <a:r>
              <a:rPr kumimoji="1" lang="zh-CN" altLang="zh-CN" sz="2400" b="1" dirty="0">
                <a:latin typeface="宋体" pitchFamily="2" charset="-122"/>
              </a:rPr>
              <a:t>到</a:t>
            </a:r>
            <a:r>
              <a:rPr kumimoji="1" lang="en-US" altLang="zh-CN" sz="2400" b="1" dirty="0">
                <a:latin typeface="宋体" pitchFamily="2" charset="-122"/>
              </a:rPr>
              <a:t>W</a:t>
            </a:r>
            <a:r>
              <a:rPr kumimoji="1" lang="zh-CN" altLang="zh-CN" sz="2400" b="1" dirty="0">
                <a:latin typeface="宋体" pitchFamily="2" charset="-122"/>
              </a:rPr>
              <a:t>面的距离</a:t>
            </a:r>
            <a:r>
              <a:rPr kumimoji="1" lang="zh-CN" altLang="zh-CN" sz="2400" b="1" dirty="0">
                <a:latin typeface="Times New Roman" pitchFamily="18" charset="0"/>
              </a:rPr>
              <a:t>）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52364" name="Text Box 140"/>
          <p:cNvSpPr txBox="1">
            <a:spLocks noChangeArrowheads="1"/>
          </p:cNvSpPr>
          <p:nvPr/>
        </p:nvSpPr>
        <p:spPr bwMode="auto">
          <a:xfrm>
            <a:off x="3359697" y="6131496"/>
            <a:ext cx="7280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400" b="1" dirty="0" err="1">
                <a:latin typeface="Times New Roman" pitchFamily="18" charset="0"/>
                <a:sym typeface="Symbol" pitchFamily="18" charset="2"/>
              </a:rPr>
              <a:t></a:t>
            </a:r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y</a:t>
            </a:r>
            <a:endParaRPr kumimoji="1" lang="en-US" altLang="zh-CN" sz="2400" b="1" baseline="-25000" dirty="0">
              <a:latin typeface="Times New Roman" pitchFamily="18" charset="0"/>
            </a:endParaRPr>
          </a:p>
        </p:txBody>
      </p:sp>
      <p:sp>
        <p:nvSpPr>
          <p:cNvPr id="52365" name="Text Box 141"/>
          <p:cNvSpPr txBox="1">
            <a:spLocks noChangeArrowheads="1"/>
          </p:cNvSpPr>
          <p:nvPr/>
        </p:nvSpPr>
        <p:spPr bwMode="auto">
          <a:xfrm>
            <a:off x="4079777" y="6199759"/>
            <a:ext cx="4956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dirty="0">
                <a:latin typeface="Times New Roman" pitchFamily="18" charset="0"/>
              </a:rPr>
              <a:t>=z</a:t>
            </a:r>
          </a:p>
        </p:txBody>
      </p:sp>
      <p:sp>
        <p:nvSpPr>
          <p:cNvPr id="52366" name="Text Box 142"/>
          <p:cNvSpPr txBox="1">
            <a:spLocks noChangeArrowheads="1"/>
          </p:cNvSpPr>
          <p:nvPr/>
        </p:nvSpPr>
        <p:spPr bwMode="auto">
          <a:xfrm>
            <a:off x="4655840" y="6207696"/>
            <a:ext cx="35547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=</a:t>
            </a:r>
            <a:r>
              <a:rPr kumimoji="1" lang="en-US" altLang="zh-CN" sz="2400" b="1" dirty="0" err="1">
                <a:latin typeface="宋体" pitchFamily="2" charset="-122"/>
              </a:rPr>
              <a:t>A</a:t>
            </a:r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400" i="1" dirty="0">
                <a:latin typeface="Dutch801 Rm BT" pitchFamily="18" charset="0"/>
              </a:rPr>
              <a:t> </a:t>
            </a:r>
            <a:r>
              <a:rPr kumimoji="1" lang="zh-CN" altLang="en-US" sz="2400" b="1" dirty="0">
                <a:latin typeface="Italic" pitchFamily="2" charset="0"/>
              </a:rPr>
              <a:t>（</a:t>
            </a:r>
            <a:r>
              <a:rPr kumimoji="1" lang="en-US" altLang="zh-CN" sz="2400" b="1" dirty="0">
                <a:latin typeface="宋体" pitchFamily="2" charset="-122"/>
              </a:rPr>
              <a:t>A</a:t>
            </a:r>
            <a:r>
              <a:rPr kumimoji="1" lang="zh-CN" altLang="zh-CN" sz="2400" b="1" dirty="0">
                <a:latin typeface="宋体" pitchFamily="2" charset="-122"/>
              </a:rPr>
              <a:t>到</a:t>
            </a:r>
            <a:r>
              <a:rPr kumimoji="1" lang="en-US" altLang="zh-CN" sz="2400" b="1" dirty="0">
                <a:latin typeface="宋体" pitchFamily="2" charset="-122"/>
              </a:rPr>
              <a:t>H</a:t>
            </a:r>
            <a:r>
              <a:rPr kumimoji="1" lang="zh-CN" altLang="zh-CN" sz="2400" b="1" dirty="0">
                <a:latin typeface="宋体" pitchFamily="2" charset="-122"/>
              </a:rPr>
              <a:t>面的距离</a:t>
            </a:r>
            <a:r>
              <a:rPr kumimoji="1" lang="zh-CN" altLang="zh-CN" sz="2400" b="1" dirty="0">
                <a:latin typeface="Times New Roman" pitchFamily="18" charset="0"/>
              </a:rPr>
              <a:t>）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27719" name="Line 24"/>
          <p:cNvSpPr>
            <a:spLocks noChangeShapeType="1"/>
          </p:cNvSpPr>
          <p:nvPr/>
        </p:nvSpPr>
        <p:spPr bwMode="auto">
          <a:xfrm>
            <a:off x="8774114" y="3030315"/>
            <a:ext cx="1544637" cy="15478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720" name="Line 25"/>
          <p:cNvSpPr>
            <a:spLocks noChangeShapeType="1"/>
          </p:cNvSpPr>
          <p:nvPr/>
        </p:nvSpPr>
        <p:spPr bwMode="auto">
          <a:xfrm flipH="1">
            <a:off x="6426200" y="3033489"/>
            <a:ext cx="2368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721" name="Line 26"/>
          <p:cNvSpPr>
            <a:spLocks noChangeShapeType="1"/>
          </p:cNvSpPr>
          <p:nvPr/>
        </p:nvSpPr>
        <p:spPr bwMode="auto">
          <a:xfrm flipV="1">
            <a:off x="8774113" y="1261839"/>
            <a:ext cx="0" cy="17716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358" name="Text Box 134"/>
          <p:cNvSpPr txBox="1">
            <a:spLocks noChangeArrowheads="1"/>
          </p:cNvSpPr>
          <p:nvPr/>
        </p:nvSpPr>
        <p:spPr bwMode="auto">
          <a:xfrm>
            <a:off x="3287689" y="5017071"/>
            <a:ext cx="7168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400" b="1" dirty="0" err="1">
                <a:latin typeface="Times New Roman" pitchFamily="18" charset="0"/>
                <a:sym typeface="Symbol" pitchFamily="18" charset="2"/>
              </a:rPr>
              <a:t></a:t>
            </a:r>
            <a:r>
              <a:rPr kumimoji="1" lang="en-US" altLang="zh-CN" sz="2400" i="1" dirty="0" err="1">
                <a:latin typeface="Dutch801 Rm BT" pitchFamily="18" charset="0"/>
              </a:rPr>
              <a:t>a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z</a:t>
            </a:r>
            <a:endParaRPr kumimoji="1" lang="en-US" altLang="zh-CN" sz="2400" b="1" baseline="-25000" dirty="0">
              <a:latin typeface="Times New Roman" pitchFamily="18" charset="0"/>
            </a:endParaRPr>
          </a:p>
        </p:txBody>
      </p:sp>
      <p:cxnSp>
        <p:nvCxnSpPr>
          <p:cNvPr id="81" name="直接连接符 80"/>
          <p:cNvCxnSpPr>
            <a:cxnSpLocks/>
          </p:cNvCxnSpPr>
          <p:nvPr/>
        </p:nvCxnSpPr>
        <p:spPr>
          <a:xfrm>
            <a:off x="4085497" y="2417528"/>
            <a:ext cx="1165971" cy="1360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75"/>
                                        <p:tgtEl>
                                          <p:spTgt spid="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52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52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523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523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52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52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52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5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69" grpId="0"/>
      <p:bldP spid="52270" grpId="0" autoUpdateAnimBg="0"/>
      <p:bldP spid="52271" grpId="0" autoUpdateAnimBg="0"/>
      <p:bldP spid="52272" grpId="0" autoUpdateAnimBg="0"/>
      <p:bldP spid="52273" grpId="0" autoUpdateAnimBg="0"/>
      <p:bldP spid="52309" grpId="0" autoUpdateAnimBg="0"/>
      <p:bldP spid="52359" grpId="0" autoUpdateAnimBg="0"/>
      <p:bldP spid="52360" grpId="0" autoUpdateAnimBg="0"/>
      <p:bldP spid="52361" grpId="0" autoUpdateAnimBg="0"/>
      <p:bldP spid="52362" grpId="0" autoUpdateAnimBg="0"/>
      <p:bldP spid="52363" grpId="0" autoUpdateAnimBg="0"/>
      <p:bldP spid="52364" grpId="0" autoUpdateAnimBg="0"/>
      <p:bldP spid="52365" grpId="0" autoUpdateAnimBg="0"/>
      <p:bldP spid="52366" grpId="0" autoUpdateAnimBg="0"/>
      <p:bldP spid="5235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343472" y="706715"/>
            <a:ext cx="8064896" cy="164187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800" b="1" dirty="0"/>
              <a:t>点</a:t>
            </a:r>
            <a:r>
              <a:rPr lang="en-US" altLang="zh-CN" sz="2800" b="1" dirty="0"/>
              <a:t>A</a:t>
            </a:r>
            <a:r>
              <a:rPr lang="zh-CN" altLang="zh-CN" sz="2800" b="1" dirty="0"/>
              <a:t>的三面投影与直角坐标的关系</a:t>
            </a:r>
            <a:r>
              <a:rPr lang="zh-CN" altLang="en-US" sz="2800" b="1" dirty="0"/>
              <a:t>，说法正确的是：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/>
              <a:t>点</a:t>
            </a:r>
            <a:r>
              <a:rPr lang="en-US" altLang="zh-CN" sz="2800" i="1" dirty="0"/>
              <a:t>A</a:t>
            </a:r>
            <a:r>
              <a:rPr lang="zh-CN" altLang="zh-CN" sz="2800" dirty="0"/>
              <a:t>的水平投影</a:t>
            </a:r>
            <a:r>
              <a:rPr lang="en-US" altLang="zh-CN" sz="2800" i="1" dirty="0"/>
              <a:t>a</a:t>
            </a:r>
            <a:r>
              <a:rPr lang="zh-CN" altLang="zh-CN" sz="2800" dirty="0"/>
              <a:t>由</a:t>
            </a:r>
            <a:r>
              <a:rPr lang="en-US" altLang="zh-CN" sz="2800" i="1" dirty="0"/>
              <a:t>X</a:t>
            </a:r>
            <a:r>
              <a:rPr lang="zh-CN" altLang="zh-CN" sz="2800" i="1" dirty="0"/>
              <a:t>、</a:t>
            </a:r>
            <a:r>
              <a:rPr lang="en-US" altLang="zh-CN" sz="2800" i="1" dirty="0"/>
              <a:t>Z</a:t>
            </a:r>
            <a:r>
              <a:rPr lang="zh-CN" altLang="zh-CN" sz="2800" dirty="0"/>
              <a:t>两坐标确定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/>
              <a:t>点</a:t>
            </a:r>
            <a:r>
              <a:rPr lang="en-US" altLang="zh-CN" sz="2800" i="1" dirty="0"/>
              <a:t>A</a:t>
            </a:r>
            <a:r>
              <a:rPr lang="zh-CN" altLang="zh-CN" sz="2800" dirty="0"/>
              <a:t>到</a:t>
            </a:r>
            <a:r>
              <a:rPr lang="en-US" altLang="zh-CN" sz="2800" i="1" dirty="0"/>
              <a:t>W</a:t>
            </a:r>
            <a:r>
              <a:rPr lang="zh-CN" altLang="zh-CN" sz="2800" dirty="0"/>
              <a:t>面距离反映该点的</a:t>
            </a:r>
            <a:r>
              <a:rPr lang="en-US" altLang="zh-CN" sz="2800" dirty="0"/>
              <a:t>X</a:t>
            </a:r>
            <a:r>
              <a:rPr lang="zh-CN" altLang="zh-CN" sz="2800" dirty="0"/>
              <a:t>坐标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/>
              <a:t>点</a:t>
            </a:r>
            <a:r>
              <a:rPr lang="en-US" altLang="zh-CN" sz="2800" i="1" dirty="0"/>
              <a:t>A</a:t>
            </a:r>
            <a:r>
              <a:rPr lang="zh-CN" altLang="zh-CN" sz="2800" dirty="0"/>
              <a:t>到</a:t>
            </a:r>
            <a:r>
              <a:rPr lang="en-US" altLang="zh-CN" sz="2800" i="1" dirty="0"/>
              <a:t>V</a:t>
            </a:r>
            <a:r>
              <a:rPr lang="zh-CN" altLang="zh-CN" sz="2800" dirty="0"/>
              <a:t>面距离反映该点的</a:t>
            </a:r>
            <a:r>
              <a:rPr lang="en-US" altLang="zh-CN" sz="2800" dirty="0"/>
              <a:t>Z</a:t>
            </a:r>
            <a:r>
              <a:rPr lang="zh-CN" altLang="zh-CN" sz="2800" dirty="0"/>
              <a:t>坐标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800" dirty="0"/>
              <a:t>点</a:t>
            </a:r>
            <a:r>
              <a:rPr lang="en-US" altLang="zh-CN" sz="2800" i="1" dirty="0"/>
              <a:t>A</a:t>
            </a:r>
            <a:r>
              <a:rPr lang="zh-CN" altLang="zh-CN" sz="2800" dirty="0"/>
              <a:t>的正面投影</a:t>
            </a:r>
            <a:r>
              <a:rPr lang="en-US" altLang="zh-CN" sz="2800" i="1" dirty="0"/>
              <a:t>a</a:t>
            </a:r>
            <a:r>
              <a:rPr lang="zh-CN" altLang="zh-CN" sz="2800" dirty="0"/>
              <a:t>′由</a:t>
            </a:r>
            <a:r>
              <a:rPr lang="en-US" altLang="zh-CN" sz="2800" i="1" dirty="0"/>
              <a:t>X</a:t>
            </a:r>
            <a:r>
              <a:rPr lang="zh-CN" altLang="zh-CN" sz="2800" i="1" dirty="0"/>
              <a:t>、</a:t>
            </a:r>
            <a:r>
              <a:rPr lang="en-US" altLang="zh-CN" sz="2800" i="1" dirty="0"/>
              <a:t>Y</a:t>
            </a:r>
            <a:r>
              <a:rPr lang="zh-CN" altLang="zh-CN" sz="2800" dirty="0"/>
              <a:t>两坐标确定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5361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2219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1896E5C-068B-481B-8AEF-20EDF4EADA9D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18671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7" name="Freeform 43"/>
          <p:cNvSpPr>
            <a:spLocks/>
          </p:cNvSpPr>
          <p:nvPr/>
        </p:nvSpPr>
        <p:spPr bwMode="auto">
          <a:xfrm>
            <a:off x="7586810" y="4509032"/>
            <a:ext cx="1625457" cy="263207"/>
          </a:xfrm>
          <a:custGeom>
            <a:avLst/>
            <a:gdLst>
              <a:gd name="T0" fmla="*/ 0 w 1078"/>
              <a:gd name="T1" fmla="*/ 0 h 1"/>
              <a:gd name="T2" fmla="*/ 2147483647 w 1078"/>
              <a:gd name="T3" fmla="*/ 0 h 1"/>
              <a:gd name="T4" fmla="*/ 0 60000 65536"/>
              <a:gd name="T5" fmla="*/ 0 60000 65536"/>
              <a:gd name="T6" fmla="*/ 0 w 1078"/>
              <a:gd name="T7" fmla="*/ 0 h 1"/>
              <a:gd name="T8" fmla="*/ 1078 w 107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8" h="1">
                <a:moveTo>
                  <a:pt x="0" y="0"/>
                </a:moveTo>
                <a:lnTo>
                  <a:pt x="1078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6414" name="Freeform 30"/>
          <p:cNvSpPr>
            <a:spLocks/>
          </p:cNvSpPr>
          <p:nvPr/>
        </p:nvSpPr>
        <p:spPr bwMode="auto">
          <a:xfrm flipV="1">
            <a:off x="3218095" y="2653497"/>
            <a:ext cx="1620000" cy="0"/>
          </a:xfrm>
          <a:custGeom>
            <a:avLst/>
            <a:gdLst>
              <a:gd name="T0" fmla="*/ 0 w 1042"/>
              <a:gd name="T1" fmla="*/ 0 h 2"/>
              <a:gd name="T2" fmla="*/ 2147483647 w 1042"/>
              <a:gd name="T3" fmla="*/ 2147483647 h 2"/>
              <a:gd name="T4" fmla="*/ 0 60000 65536"/>
              <a:gd name="T5" fmla="*/ 0 60000 65536"/>
              <a:gd name="T6" fmla="*/ 0 w 1042"/>
              <a:gd name="T7" fmla="*/ 0 h 2"/>
              <a:gd name="T8" fmla="*/ 1042 w 1042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42" h="2">
                <a:moveTo>
                  <a:pt x="0" y="0"/>
                </a:moveTo>
                <a:lnTo>
                  <a:pt x="1042" y="2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06"/>
          <p:cNvGrpSpPr>
            <a:grpSpLocks/>
          </p:cNvGrpSpPr>
          <p:nvPr/>
        </p:nvGrpSpPr>
        <p:grpSpPr bwMode="auto">
          <a:xfrm>
            <a:off x="7061200" y="4077073"/>
            <a:ext cx="3009900" cy="2441575"/>
            <a:chOff x="3488" y="2149"/>
            <a:chExt cx="1896" cy="1538"/>
          </a:xfrm>
        </p:grpSpPr>
        <p:sp>
          <p:nvSpPr>
            <p:cNvPr id="28710" name="Line 36"/>
            <p:cNvSpPr>
              <a:spLocks noChangeShapeType="1"/>
            </p:cNvSpPr>
            <p:nvPr/>
          </p:nvSpPr>
          <p:spPr bwMode="auto">
            <a:xfrm>
              <a:off x="3790" y="2442"/>
              <a:ext cx="0" cy="8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1" name="Text Box 37"/>
            <p:cNvSpPr txBox="1">
              <a:spLocks noChangeArrowheads="1"/>
            </p:cNvSpPr>
            <p:nvPr/>
          </p:nvSpPr>
          <p:spPr bwMode="auto">
            <a:xfrm>
              <a:off x="3693" y="2335"/>
              <a:ext cx="21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>
                <a:latin typeface="Times New Roman" pitchFamily="18" charset="0"/>
              </a:endParaRPr>
            </a:p>
          </p:txBody>
        </p:sp>
        <p:sp>
          <p:nvSpPr>
            <p:cNvPr id="28712" name="Text Box 38"/>
            <p:cNvSpPr txBox="1">
              <a:spLocks noChangeArrowheads="1"/>
            </p:cNvSpPr>
            <p:nvPr/>
          </p:nvSpPr>
          <p:spPr bwMode="auto">
            <a:xfrm>
              <a:off x="3692" y="3237"/>
              <a:ext cx="21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28713" name="Line 39"/>
            <p:cNvSpPr>
              <a:spLocks noChangeShapeType="1"/>
            </p:cNvSpPr>
            <p:nvPr/>
          </p:nvSpPr>
          <p:spPr bwMode="auto">
            <a:xfrm>
              <a:off x="3566" y="2989"/>
              <a:ext cx="18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4" name="Line 40"/>
            <p:cNvSpPr>
              <a:spLocks noChangeShapeType="1"/>
            </p:cNvSpPr>
            <p:nvPr/>
          </p:nvSpPr>
          <p:spPr bwMode="auto">
            <a:xfrm>
              <a:off x="4471" y="2149"/>
              <a:ext cx="0" cy="15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715" name="Text Box 41"/>
            <p:cNvSpPr txBox="1">
              <a:spLocks noChangeArrowheads="1"/>
            </p:cNvSpPr>
            <p:nvPr/>
          </p:nvSpPr>
          <p:spPr bwMode="auto">
            <a:xfrm>
              <a:off x="3488" y="2194"/>
              <a:ext cx="367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 dirty="0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 dirty="0">
                <a:latin typeface="Times New Roman" pitchFamily="18" charset="0"/>
                <a:sym typeface="UniversalMath1 BT" pitchFamily="18" charset="2"/>
              </a:endParaRPr>
            </a:p>
          </p:txBody>
        </p:sp>
        <p:sp>
          <p:nvSpPr>
            <p:cNvPr id="28716" name="Text Box 42"/>
            <p:cNvSpPr txBox="1">
              <a:spLocks noChangeArrowheads="1"/>
            </p:cNvSpPr>
            <p:nvPr/>
          </p:nvSpPr>
          <p:spPr bwMode="auto">
            <a:xfrm>
              <a:off x="3579" y="3192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800">
                <a:latin typeface="Times New Roman" pitchFamily="18" charset="0"/>
              </a:endParaRPr>
            </a:p>
          </p:txBody>
        </p:sp>
        <p:sp>
          <p:nvSpPr>
            <p:cNvPr id="28717" name="Text Box 56"/>
            <p:cNvSpPr txBox="1">
              <a:spLocks noChangeArrowheads="1"/>
            </p:cNvSpPr>
            <p:nvPr/>
          </p:nvSpPr>
          <p:spPr bwMode="auto">
            <a:xfrm>
              <a:off x="3765" y="2755"/>
              <a:ext cx="28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b="1">
                  <a:latin typeface="Times New Roman" pitchFamily="18" charset="0"/>
                </a:rPr>
                <a:t>x</a:t>
              </a:r>
              <a:endParaRPr kumimoji="1" lang="en-US" altLang="zh-CN">
                <a:latin typeface="Times New Roman" pitchFamily="18" charset="0"/>
              </a:endParaRPr>
            </a:p>
          </p:txBody>
        </p:sp>
      </p:grpSp>
      <p:sp>
        <p:nvSpPr>
          <p:cNvPr id="16415" name="Freeform 31"/>
          <p:cNvSpPr>
            <a:spLocks/>
          </p:cNvSpPr>
          <p:nvPr/>
        </p:nvSpPr>
        <p:spPr bwMode="auto">
          <a:xfrm>
            <a:off x="4836479" y="2629668"/>
            <a:ext cx="0" cy="1476000"/>
          </a:xfrm>
          <a:custGeom>
            <a:avLst/>
            <a:gdLst>
              <a:gd name="T0" fmla="*/ 0 w 1"/>
              <a:gd name="T1" fmla="*/ 0 h 916"/>
              <a:gd name="T2" fmla="*/ 0 w 1"/>
              <a:gd name="T3" fmla="*/ 2147483647 h 916"/>
              <a:gd name="T4" fmla="*/ 0 60000 65536"/>
              <a:gd name="T5" fmla="*/ 0 60000 65536"/>
              <a:gd name="T6" fmla="*/ 0 w 1"/>
              <a:gd name="T7" fmla="*/ 0 h 916"/>
              <a:gd name="T8" fmla="*/ 1 w 1"/>
              <a:gd name="T9" fmla="*/ 916 h 9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16">
                <a:moveTo>
                  <a:pt x="0" y="0"/>
                </a:moveTo>
                <a:lnTo>
                  <a:pt x="0" y="916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678" name="Text Box 2"/>
          <p:cNvSpPr txBox="1">
            <a:spLocks noChangeArrowheads="1"/>
          </p:cNvSpPr>
          <p:nvPr/>
        </p:nvSpPr>
        <p:spPr bwMode="auto">
          <a:xfrm>
            <a:off x="1331992" y="1211115"/>
            <a:ext cx="7092950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</a:rPr>
              <a:t>例：已知点的两个投影，求第三投影。</a:t>
            </a:r>
          </a:p>
        </p:txBody>
      </p:sp>
      <p:sp>
        <p:nvSpPr>
          <p:cNvPr id="16413" name="Freeform 29"/>
          <p:cNvSpPr>
            <a:spLocks/>
          </p:cNvSpPr>
          <p:nvPr/>
        </p:nvSpPr>
        <p:spPr bwMode="auto">
          <a:xfrm>
            <a:off x="3220404" y="4090646"/>
            <a:ext cx="1620000" cy="0"/>
          </a:xfrm>
          <a:custGeom>
            <a:avLst/>
            <a:gdLst>
              <a:gd name="T0" fmla="*/ 0 w 1017"/>
              <a:gd name="T1" fmla="*/ 0 h 1"/>
              <a:gd name="T2" fmla="*/ 2147483647 w 1017"/>
              <a:gd name="T3" fmla="*/ 0 h 1"/>
              <a:gd name="T4" fmla="*/ 0 60000 65536"/>
              <a:gd name="T5" fmla="*/ 0 60000 65536"/>
              <a:gd name="T6" fmla="*/ 0 w 1017"/>
              <a:gd name="T7" fmla="*/ 0 h 1"/>
              <a:gd name="T8" fmla="*/ 1017 w 10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17" h="1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4665666" y="2293319"/>
            <a:ext cx="617538" cy="481013"/>
            <a:chOff x="2203" y="931"/>
            <a:chExt cx="389" cy="303"/>
          </a:xfrm>
        </p:grpSpPr>
        <p:sp>
          <p:nvSpPr>
            <p:cNvPr id="28708" name="Text Box 32"/>
            <p:cNvSpPr txBox="1">
              <a:spLocks noChangeArrowheads="1"/>
            </p:cNvSpPr>
            <p:nvPr/>
          </p:nvSpPr>
          <p:spPr bwMode="auto">
            <a:xfrm>
              <a:off x="2203" y="1061"/>
              <a:ext cx="2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>
                <a:latin typeface="Times New Roman" pitchFamily="18" charset="0"/>
              </a:endParaRPr>
            </a:p>
          </p:txBody>
        </p:sp>
        <p:sp>
          <p:nvSpPr>
            <p:cNvPr id="28709" name="Text Box 33"/>
            <p:cNvSpPr txBox="1">
              <a:spLocks noChangeArrowheads="1"/>
            </p:cNvSpPr>
            <p:nvPr/>
          </p:nvSpPr>
          <p:spPr bwMode="auto">
            <a:xfrm>
              <a:off x="2296" y="931"/>
              <a:ext cx="2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  <a:endParaRPr kumimoji="1" lang="en-US" altLang="zh-CN" sz="2400" b="1">
                <a:latin typeface="Times New Roman" pitchFamily="18" charset="0"/>
                <a:sym typeface="CommercialPi BT" pitchFamily="18" charset="2"/>
              </a:endParaRPr>
            </a:p>
          </p:txBody>
        </p:sp>
      </p:grp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3209925" y="2672729"/>
            <a:ext cx="0" cy="1411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3045912" y="2526033"/>
            <a:ext cx="332646" cy="2769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kumimoji="1" lang="en-US" altLang="zh-CN" sz="1200" dirty="0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dirty="0">
              <a:latin typeface="Times New Roman" pitchFamily="18" charset="0"/>
            </a:endParaRP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3054350" y="3934793"/>
            <a:ext cx="336550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200">
                <a:solidFill>
                  <a:srgbClr val="FF3300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28684" name="Line 3"/>
          <p:cNvSpPr>
            <a:spLocks noChangeShapeType="1"/>
          </p:cNvSpPr>
          <p:nvPr/>
        </p:nvSpPr>
        <p:spPr bwMode="auto">
          <a:xfrm>
            <a:off x="2854326" y="3541092"/>
            <a:ext cx="28860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85" name="Line 5"/>
          <p:cNvSpPr>
            <a:spLocks noChangeShapeType="1"/>
          </p:cNvSpPr>
          <p:nvPr/>
        </p:nvSpPr>
        <p:spPr bwMode="auto">
          <a:xfrm>
            <a:off x="4291013" y="2207592"/>
            <a:ext cx="0" cy="22209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686" name="Text Box 17"/>
          <p:cNvSpPr txBox="1">
            <a:spLocks noChangeArrowheads="1"/>
          </p:cNvSpPr>
          <p:nvPr/>
        </p:nvSpPr>
        <p:spPr bwMode="auto">
          <a:xfrm>
            <a:off x="2764924" y="2297433"/>
            <a:ext cx="58261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</a:t>
            </a:r>
            <a:endParaRPr kumimoji="1" lang="en-US" altLang="zh-CN" sz="2400" b="1" dirty="0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28687" name="Text Box 20"/>
          <p:cNvSpPr txBox="1">
            <a:spLocks noChangeArrowheads="1"/>
          </p:cNvSpPr>
          <p:nvPr/>
        </p:nvSpPr>
        <p:spPr bwMode="auto">
          <a:xfrm>
            <a:off x="2874731" y="3862711"/>
            <a:ext cx="34336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sz="2800">
              <a:latin typeface="Times New Roman" pitchFamily="18" charset="0"/>
            </a:endParaRPr>
          </a:p>
        </p:txBody>
      </p:sp>
      <p:sp>
        <p:nvSpPr>
          <p:cNvPr id="28688" name="Text Box 48"/>
          <p:cNvSpPr txBox="1">
            <a:spLocks noChangeArrowheads="1"/>
          </p:cNvSpPr>
          <p:nvPr/>
        </p:nvSpPr>
        <p:spPr bwMode="auto">
          <a:xfrm>
            <a:off x="3155161" y="3170561"/>
            <a:ext cx="4587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b="1">
                <a:latin typeface="Times New Roman" pitchFamily="18" charset="0"/>
              </a:rPr>
              <a:t>x</a:t>
            </a:r>
            <a:endParaRPr kumimoji="1" lang="en-US" altLang="zh-CN">
              <a:latin typeface="Times New Roman" pitchFamily="18" charset="0"/>
            </a:endParaRPr>
          </a:p>
        </p:txBody>
      </p:sp>
      <p:sp>
        <p:nvSpPr>
          <p:cNvPr id="16433" name="Text Box 49"/>
          <p:cNvSpPr txBox="1">
            <a:spLocks noChangeArrowheads="1"/>
          </p:cNvSpPr>
          <p:nvPr/>
        </p:nvSpPr>
        <p:spPr bwMode="auto">
          <a:xfrm>
            <a:off x="4233135" y="2251398"/>
            <a:ext cx="4459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b="1">
                <a:latin typeface="Times New Roman" pitchFamily="18" charset="0"/>
              </a:rPr>
              <a:t>z</a:t>
            </a:r>
            <a:endParaRPr kumimoji="1" lang="en-US" altLang="zh-CN">
              <a:latin typeface="Times New Roman" pitchFamily="18" charset="0"/>
            </a:endParaRPr>
          </a:p>
        </p:txBody>
      </p:sp>
      <p:sp>
        <p:nvSpPr>
          <p:cNvPr id="16441" name="Text Box 57"/>
          <p:cNvSpPr txBox="1">
            <a:spLocks noChangeArrowheads="1"/>
          </p:cNvSpPr>
          <p:nvPr/>
        </p:nvSpPr>
        <p:spPr bwMode="auto">
          <a:xfrm>
            <a:off x="8573360" y="4117703"/>
            <a:ext cx="4459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b="1">
                <a:latin typeface="Times New Roman" pitchFamily="18" charset="0"/>
              </a:rPr>
              <a:t>z</a:t>
            </a:r>
            <a:endParaRPr kumimoji="1" lang="en-US" altLang="zh-CN">
              <a:latin typeface="Times New Roman" pitchFamily="18" charset="0"/>
            </a:endParaRPr>
          </a:p>
        </p:txBody>
      </p:sp>
      <p:sp>
        <p:nvSpPr>
          <p:cNvPr id="16442" name="Text Box 58"/>
          <p:cNvSpPr txBox="1">
            <a:spLocks noChangeArrowheads="1"/>
          </p:cNvSpPr>
          <p:nvPr/>
        </p:nvSpPr>
        <p:spPr bwMode="auto">
          <a:xfrm>
            <a:off x="2024063" y="1745163"/>
            <a:ext cx="13869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solidFill>
                  <a:schemeClr val="tx2"/>
                </a:solidFill>
                <a:latin typeface="Times New Roman" pitchFamily="18" charset="0"/>
              </a:rPr>
              <a:t>解法一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16444" name="AutoShape 60"/>
          <p:cNvSpPr>
            <a:spLocks noChangeArrowheads="1"/>
          </p:cNvSpPr>
          <p:nvPr/>
        </p:nvSpPr>
        <p:spPr bwMode="auto">
          <a:xfrm>
            <a:off x="6707188" y="1913200"/>
            <a:ext cx="3644900" cy="1452384"/>
          </a:xfrm>
          <a:prstGeom prst="cloudCallout">
            <a:avLst>
              <a:gd name="adj1" fmla="val -86306"/>
              <a:gd name="adj2" fmla="val 103995"/>
            </a:avLst>
          </a:prstGeom>
          <a:solidFill>
            <a:srgbClr val="FFFF66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通过作</a:t>
            </a:r>
            <a:r>
              <a:rPr kumimoji="1" lang="en-US" altLang="zh-CN" sz="2800" b="1">
                <a:latin typeface="Times New Roman" pitchFamily="18" charset="0"/>
              </a:rPr>
              <a:t>45°</a:t>
            </a:r>
            <a:r>
              <a:rPr kumimoji="1" lang="zh-CN" altLang="en-US" sz="2800" b="1">
                <a:latin typeface="Times New Roman" pitchFamily="18" charset="0"/>
              </a:rPr>
              <a:t>线使</a:t>
            </a:r>
            <a:r>
              <a:rPr kumimoji="1" lang="en-US" altLang="zh-CN" sz="2800" i="1">
                <a:solidFill>
                  <a:srgbClr val="FF3300"/>
                </a:solidFill>
                <a:latin typeface="Dutch801 Rm BT" pitchFamily="18" charset="0"/>
              </a:rPr>
              <a:t>a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</a:t>
            </a:r>
            <a:r>
              <a:rPr kumimoji="1" lang="en-US" altLang="zh-CN" sz="2800" i="1">
                <a:solidFill>
                  <a:srgbClr val="FF3300"/>
                </a:solidFill>
                <a:latin typeface="Dutch801 Rm BT" pitchFamily="18" charset="0"/>
              </a:rPr>
              <a:t>a</a:t>
            </a:r>
            <a:r>
              <a:rPr kumimoji="1" lang="en-US" altLang="zh-CN" sz="2800" b="1" baseline="-25000">
                <a:solidFill>
                  <a:srgbClr val="FF3300"/>
                </a:solidFill>
                <a:latin typeface="Times New Roman" pitchFamily="18" charset="0"/>
              </a:rPr>
              <a:t>z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=</a:t>
            </a:r>
            <a:r>
              <a:rPr kumimoji="1" lang="en-US" altLang="zh-CN" sz="2800" i="1">
                <a:solidFill>
                  <a:srgbClr val="FF3300"/>
                </a:solidFill>
                <a:latin typeface="Dutch801 Rm BT" pitchFamily="18" charset="0"/>
              </a:rPr>
              <a:t>aa</a:t>
            </a:r>
            <a:r>
              <a:rPr kumimoji="1" lang="en-US" altLang="zh-CN" sz="2800" b="1" baseline="-25000">
                <a:solidFill>
                  <a:srgbClr val="FF3300"/>
                </a:solidFill>
                <a:latin typeface="Times New Roman" pitchFamily="18" charset="0"/>
              </a:rPr>
              <a:t>x</a:t>
            </a:r>
          </a:p>
        </p:txBody>
      </p:sp>
      <p:sp>
        <p:nvSpPr>
          <p:cNvPr id="16445" name="Text Box 61"/>
          <p:cNvSpPr txBox="1">
            <a:spLocks noChangeArrowheads="1"/>
          </p:cNvSpPr>
          <p:nvPr/>
        </p:nvSpPr>
        <p:spPr bwMode="auto">
          <a:xfrm>
            <a:off x="2089429" y="4582026"/>
            <a:ext cx="138691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tx2"/>
                </a:solidFill>
                <a:latin typeface="Times New Roman" pitchFamily="18" charset="0"/>
              </a:rPr>
              <a:t>解法二</a:t>
            </a:r>
            <a:r>
              <a:rPr kumimoji="1" lang="en-US" altLang="zh-CN" sz="2800" b="1" dirty="0">
                <a:solidFill>
                  <a:schemeClr val="tx2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16446" name="AutoShape 62"/>
          <p:cNvSpPr>
            <a:spLocks noChangeArrowheads="1"/>
          </p:cNvSpPr>
          <p:nvPr/>
        </p:nvSpPr>
        <p:spPr bwMode="auto">
          <a:xfrm>
            <a:off x="2924175" y="5111680"/>
            <a:ext cx="3582988" cy="1341656"/>
          </a:xfrm>
          <a:prstGeom prst="wedgeEllipseCallout">
            <a:avLst>
              <a:gd name="adj1" fmla="val 76498"/>
              <a:gd name="adj2" fmla="val -45626"/>
            </a:avLst>
          </a:prstGeom>
          <a:solidFill>
            <a:srgbClr val="99FF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800" b="1" dirty="0">
                <a:latin typeface="Times New Roman" pitchFamily="18" charset="0"/>
              </a:rPr>
              <a:t>用圆规直接画</a:t>
            </a:r>
            <a:r>
              <a:rPr kumimoji="1" lang="en-US" altLang="zh-CN" sz="2800" i="1" dirty="0" err="1">
                <a:solidFill>
                  <a:srgbClr val="FF3300"/>
                </a:solidFill>
                <a:latin typeface="Dutch801 Rm BT" pitchFamily="18" charset="0"/>
              </a:rPr>
              <a:t>a</a:t>
            </a:r>
            <a:r>
              <a:rPr kumimoji="1" lang="en-US" altLang="zh-CN" sz="2800" b="1" dirty="0" err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</a:t>
            </a:r>
            <a:r>
              <a:rPr kumimoji="1" lang="en-US" altLang="zh-CN" sz="2800" i="1" dirty="0" err="1">
                <a:solidFill>
                  <a:srgbClr val="FF3300"/>
                </a:solidFill>
                <a:latin typeface="Dutch801 Rm BT" pitchFamily="18" charset="0"/>
              </a:rPr>
              <a:t>a</a:t>
            </a:r>
            <a:r>
              <a:rPr kumimoji="1" lang="en-US" altLang="zh-CN" sz="2800" b="1" baseline="-25000" dirty="0" err="1">
                <a:solidFill>
                  <a:srgbClr val="FF3300"/>
                </a:solidFill>
                <a:latin typeface="Times New Roman" pitchFamily="18" charset="0"/>
              </a:rPr>
              <a:t>z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itchFamily="18" charset="0"/>
              </a:rPr>
              <a:t>=</a:t>
            </a:r>
            <a:r>
              <a:rPr kumimoji="1" lang="en-US" altLang="zh-CN" sz="2800" i="1" dirty="0" err="1">
                <a:solidFill>
                  <a:srgbClr val="FF3300"/>
                </a:solidFill>
                <a:latin typeface="Dutch801 Rm BT" pitchFamily="18" charset="0"/>
              </a:rPr>
              <a:t>aa</a:t>
            </a:r>
            <a:r>
              <a:rPr kumimoji="1" lang="en-US" altLang="zh-CN" sz="2800" b="1" baseline="-25000" dirty="0" err="1">
                <a:solidFill>
                  <a:srgbClr val="FF3300"/>
                </a:solidFill>
                <a:latin typeface="Times New Roman" pitchFamily="18" charset="0"/>
              </a:rPr>
              <a:t>x</a:t>
            </a:r>
            <a:endParaRPr kumimoji="1" lang="en-US" altLang="zh-CN" sz="2800" b="1" baseline="-25000" dirty="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28695" name="Line 70"/>
          <p:cNvSpPr>
            <a:spLocks noChangeShapeType="1"/>
          </p:cNvSpPr>
          <p:nvPr/>
        </p:nvSpPr>
        <p:spPr bwMode="auto">
          <a:xfrm>
            <a:off x="7723188" y="5993184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479" name="Line 95"/>
          <p:cNvSpPr>
            <a:spLocks noChangeShapeType="1"/>
          </p:cNvSpPr>
          <p:nvPr/>
        </p:nvSpPr>
        <p:spPr bwMode="auto">
          <a:xfrm>
            <a:off x="4288661" y="3533472"/>
            <a:ext cx="854075" cy="854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9045583" y="4091357"/>
            <a:ext cx="576263" cy="539749"/>
            <a:chOff x="4724" y="2536"/>
            <a:chExt cx="363" cy="340"/>
          </a:xfrm>
        </p:grpSpPr>
        <p:sp>
          <p:nvSpPr>
            <p:cNvPr id="28700" name="Text Box 46"/>
            <p:cNvSpPr txBox="1">
              <a:spLocks noChangeArrowheads="1"/>
            </p:cNvSpPr>
            <p:nvPr/>
          </p:nvSpPr>
          <p:spPr bwMode="auto">
            <a:xfrm>
              <a:off x="4791" y="2536"/>
              <a:ext cx="2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a</a:t>
              </a:r>
              <a:r>
                <a:rPr kumimoji="1" lang="en-US" altLang="zh-CN" sz="2400" b="1" dirty="0">
                  <a:latin typeface="Times New Roman" pitchFamily="18" charset="0"/>
                  <a:sym typeface="Symbol" pitchFamily="18" charset="2"/>
                </a:rPr>
                <a:t></a:t>
              </a:r>
              <a:endParaRPr kumimoji="1" lang="en-US" altLang="zh-CN" sz="2400" b="1" dirty="0">
                <a:latin typeface="Times New Roman" pitchFamily="18" charset="0"/>
                <a:sym typeface="CommercialPi BT" pitchFamily="18" charset="2"/>
              </a:endParaRPr>
            </a:p>
          </p:txBody>
        </p:sp>
        <p:sp>
          <p:nvSpPr>
            <p:cNvPr id="28701" name="Text Box 47"/>
            <p:cNvSpPr txBox="1">
              <a:spLocks noChangeArrowheads="1"/>
            </p:cNvSpPr>
            <p:nvPr/>
          </p:nvSpPr>
          <p:spPr bwMode="auto">
            <a:xfrm>
              <a:off x="4724" y="2703"/>
              <a:ext cx="2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>
                <a:latin typeface="Times New Roman" pitchFamily="18" charset="0"/>
              </a:endParaRPr>
            </a:p>
          </p:txBody>
        </p:sp>
      </p:grpSp>
      <p:cxnSp>
        <p:nvCxnSpPr>
          <p:cNvPr id="8" name="直接连接符 7"/>
          <p:cNvCxnSpPr>
            <a:stCxn id="28716" idx="3"/>
          </p:cNvCxnSpPr>
          <p:nvPr/>
        </p:nvCxnSpPr>
        <p:spPr>
          <a:xfrm>
            <a:off x="7548564" y="5963818"/>
            <a:ext cx="1068215" cy="30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弧形 8"/>
          <p:cNvSpPr/>
          <p:nvPr/>
        </p:nvSpPr>
        <p:spPr>
          <a:xfrm>
            <a:off x="8007953" y="4888136"/>
            <a:ext cx="1207481" cy="1074887"/>
          </a:xfrm>
          <a:prstGeom prst="arc">
            <a:avLst>
              <a:gd name="adj1" fmla="val 21475638"/>
              <a:gd name="adj2" fmla="val 537434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9213850" y="4506964"/>
            <a:ext cx="0" cy="9036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6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6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1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75"/>
                                        <p:tgtEl>
                                          <p:spTgt spid="16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1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27" grpId="0" animBg="1"/>
      <p:bldP spid="16414" grpId="0" animBg="1"/>
      <p:bldP spid="16415" grpId="0" animBg="1"/>
      <p:bldP spid="16413" grpId="0" animBg="1"/>
      <p:bldP spid="16433" grpId="0" build="p" autoUpdateAnimBg="0"/>
      <p:bldP spid="16441" grpId="0" build="p" autoUpdateAnimBg="0"/>
      <p:bldP spid="16442" grpId="0" autoUpdateAnimBg="0"/>
      <p:bldP spid="16444" grpId="0" animBg="1" autoUpdateAnimBg="0"/>
      <p:bldP spid="16445" grpId="0" autoUpdateAnimBg="0"/>
      <p:bldP spid="16446" grpId="0" animBg="1" autoUpdateAnimBg="0"/>
      <p:bldP spid="16479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2"/>
          <p:cNvSpPr txBox="1">
            <a:spLocks noChangeArrowheads="1"/>
          </p:cNvSpPr>
          <p:nvPr/>
        </p:nvSpPr>
        <p:spPr bwMode="auto">
          <a:xfrm>
            <a:off x="2927351" y="5150569"/>
            <a:ext cx="5986463" cy="1284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800" b="1">
                <a:solidFill>
                  <a:srgbClr val="0000FF"/>
                </a:solidFill>
                <a:latin typeface="宋体" pitchFamily="2" charset="-122"/>
              </a:rPr>
              <a:t>  </a:t>
            </a:r>
            <a:r>
              <a:rPr kumimoji="1" lang="zh-CN" altLang="en-US" sz="2800" b="1">
                <a:solidFill>
                  <a:srgbClr val="0000FF"/>
                </a:solidFill>
                <a:latin typeface="宋体" pitchFamily="2" charset="-122"/>
              </a:rPr>
              <a:t>点的每个投影反映两个坐标；</a:t>
            </a:r>
          </a:p>
          <a:p>
            <a:pPr eaLnBrk="0" hangingPunct="0">
              <a:lnSpc>
                <a:spcPct val="150000"/>
              </a:lnSpc>
            </a:pPr>
            <a:r>
              <a:rPr kumimoji="1" lang="zh-CN" altLang="en-US" sz="2800" b="1">
                <a:solidFill>
                  <a:srgbClr val="0000FF"/>
                </a:solidFill>
                <a:latin typeface="宋体" pitchFamily="2" charset="-122"/>
              </a:rPr>
              <a:t>  点的每个坐标反映在两个投影上。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572420" y="1333425"/>
            <a:ext cx="27098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点的投影和坐标</a:t>
            </a:r>
          </a:p>
        </p:txBody>
      </p:sp>
      <p:pic>
        <p:nvPicPr>
          <p:cNvPr id="29700" name="Picture 4" descr="2-15"/>
          <p:cNvPicPr>
            <a:picLocks noChangeAspect="1" noChangeArrowheads="1"/>
          </p:cNvPicPr>
          <p:nvPr/>
        </p:nvPicPr>
        <p:blipFill>
          <a:blip r:embed="rId2">
            <a:lum bright="-4000"/>
          </a:blip>
          <a:srcRect/>
          <a:stretch>
            <a:fillRect/>
          </a:stretch>
        </p:blipFill>
        <p:spPr bwMode="auto">
          <a:xfrm>
            <a:off x="3082198" y="2069231"/>
            <a:ext cx="6391275" cy="308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2135560" y="1793559"/>
            <a:ext cx="48830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一般位置点（</a:t>
            </a:r>
            <a:r>
              <a:rPr kumimoji="1" lang="en-US" altLang="zh-CN" sz="2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en-US" altLang="zh-CN" sz="2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y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en-US" altLang="zh-CN" sz="2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2715816" y="2948752"/>
            <a:ext cx="7543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1)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投影面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上的点：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V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面上点（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z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                                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H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面上点（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zh-CN" altLang="en-US" sz="2400" b="1" i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y</a:t>
            </a:r>
            <a:r>
              <a:rPr kumimoji="1" lang="zh-CN" altLang="en-US" sz="2400" b="1" i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                                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W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面上点（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y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z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2747392" y="5718200"/>
            <a:ext cx="662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3)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原点上的点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: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（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2824065" y="4267225"/>
            <a:ext cx="20906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2)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投影轴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上点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5087888" y="4245000"/>
            <a:ext cx="344948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轴上点（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Y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轴上点（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i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y</a:t>
            </a:r>
            <a:r>
              <a:rPr kumimoji="1" lang="zh-CN" altLang="en-US" sz="2400" b="1" i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</a:t>
            </a:r>
          </a:p>
          <a:p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Z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轴上点（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0</a:t>
            </a:r>
            <a:r>
              <a:rPr kumimoji="1" lang="zh-CN" altLang="en-US" sz="2400" b="1" i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z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</a:t>
            </a:r>
          </a:p>
        </p:txBody>
      </p:sp>
      <p:sp>
        <p:nvSpPr>
          <p:cNvPr id="107528" name="Rectangle 8"/>
          <p:cNvSpPr>
            <a:spLocks noChangeArrowheads="1"/>
          </p:cNvSpPr>
          <p:nvPr/>
        </p:nvSpPr>
        <p:spPr bwMode="auto">
          <a:xfrm>
            <a:off x="2135561" y="2326959"/>
            <a:ext cx="25314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特殊位置点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412726" y="1290334"/>
            <a:ext cx="5429250" cy="6778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j-lt"/>
                <a:ea typeface="楷体_GB2312" pitchFamily="49" charset="-122"/>
                <a:cs typeface="+mj-cs"/>
              </a:rPr>
              <a:t>四、各种位置点的投影</a:t>
            </a:r>
            <a:endParaRPr lang="zh-CN" altLang="en-US" sz="2800" dirty="0">
              <a:solidFill>
                <a:srgbClr val="0000FF"/>
              </a:solidFill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75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7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75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2" grpId="0" build="p" autoUpdateAnimBg="0" advAuto="0"/>
      <p:bldP spid="107523" grpId="0" build="p" autoUpdateAnimBg="0" advAuto="0"/>
      <p:bldP spid="107524" grpId="0" build="p" autoUpdateAnimBg="0"/>
      <p:bldP spid="107525" grpId="0" build="p" autoUpdateAnimBg="0"/>
      <p:bldP spid="107526" grpId="0" build="p" autoUpdateAnimBg="0" advAuto="0"/>
      <p:bldP spid="107528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3" descr="2-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2508" y="2060848"/>
            <a:ext cx="5832475" cy="416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59496" y="1412776"/>
            <a:ext cx="5429250" cy="55039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+mj-lt"/>
                <a:ea typeface="楷体_GB2312" pitchFamily="49" charset="-122"/>
                <a:cs typeface="+mj-cs"/>
              </a:rPr>
              <a:t>四、各种位置点的投影</a:t>
            </a:r>
            <a:endParaRPr lang="zh-CN" altLang="en-US" sz="2800" dirty="0">
              <a:solidFill>
                <a:srgbClr val="0000FF"/>
              </a:solidFill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1178374" y="1338550"/>
            <a:ext cx="343074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五、两点的相对位置</a:t>
            </a:r>
            <a:endParaRPr kumimoji="1" lang="zh-CN" altLang="en-US" sz="2800" dirty="0">
              <a:latin typeface="宋体" pitchFamily="2" charset="-122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422496" y="2163028"/>
            <a:ext cx="545147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两点的相对位置指两点在空间的</a:t>
            </a:r>
            <a:r>
              <a:rPr kumimoji="1" lang="zh-CN" altLang="en-US" sz="2400" b="1" dirty="0">
                <a:solidFill>
                  <a:srgbClr val="990033"/>
                </a:solidFill>
                <a:latin typeface="宋体" pitchFamily="2" charset="-122"/>
              </a:rPr>
              <a:t>上下、前后、左右</a:t>
            </a:r>
            <a:r>
              <a:rPr kumimoji="1"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位置关系。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104802" y="3349954"/>
            <a:ext cx="198804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solidFill>
                  <a:srgbClr val="003399"/>
                </a:solidFill>
                <a:latin typeface="Times New Roman" pitchFamily="18" charset="0"/>
              </a:rPr>
              <a:t>判断方法：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2101850" y="4282431"/>
            <a:ext cx="46291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☆ x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坐标大的在左</a:t>
            </a:r>
            <a:r>
              <a:rPr kumimoji="1" lang="zh-CN" altLang="en-US" sz="2400" b="1" dirty="0">
                <a:latin typeface="宋体" pitchFamily="2" charset="-122"/>
              </a:rPr>
              <a:t>  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103439" y="4807893"/>
            <a:ext cx="446087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☆ y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坐标大的在前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2127076" y="5403206"/>
            <a:ext cx="281679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☆ z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坐标大的在上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17505" name="AutoShape 97"/>
          <p:cNvSpPr>
            <a:spLocks noChangeArrowheads="1"/>
          </p:cNvSpPr>
          <p:nvPr/>
        </p:nvSpPr>
        <p:spPr bwMode="auto">
          <a:xfrm>
            <a:off x="6003925" y="5173594"/>
            <a:ext cx="3716338" cy="1168539"/>
          </a:xfrm>
          <a:prstGeom prst="wedgeEllipseCallout">
            <a:avLst>
              <a:gd name="adj1" fmla="val 27630"/>
              <a:gd name="adj2" fmla="val -128808"/>
            </a:avLst>
          </a:prstGeom>
          <a:gradFill rotWithShape="0">
            <a:gsLst>
              <a:gs pos="0">
                <a:srgbClr val="FFFFFF"/>
              </a:gs>
              <a:gs pos="100000">
                <a:srgbClr val="FF33CC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B</a:t>
            </a:r>
            <a:r>
              <a:rPr kumimoji="1" lang="zh-CN" altLang="zh-CN" sz="2400" b="1" dirty="0">
                <a:latin typeface="Times New Roman" pitchFamily="18" charset="0"/>
              </a:rPr>
              <a:t>点在</a:t>
            </a:r>
            <a:r>
              <a:rPr kumimoji="1" lang="en-US" altLang="zh-CN" sz="2400" b="1" dirty="0">
                <a:latin typeface="Times New Roman" pitchFamily="18" charset="0"/>
              </a:rPr>
              <a:t>A</a:t>
            </a:r>
            <a:r>
              <a:rPr kumimoji="1" lang="zh-CN" altLang="zh-CN" sz="2400" b="1" dirty="0">
                <a:latin typeface="Times New Roman" pitchFamily="18" charset="0"/>
              </a:rPr>
              <a:t>点之前、之右、之下。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32777" name="Line 14"/>
          <p:cNvSpPr>
            <a:spLocks noChangeShapeType="1"/>
          </p:cNvSpPr>
          <p:nvPr/>
        </p:nvSpPr>
        <p:spPr bwMode="auto">
          <a:xfrm>
            <a:off x="8421688" y="233045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78" name="Text Box 36"/>
          <p:cNvSpPr txBox="1">
            <a:spLocks noChangeArrowheads="1"/>
          </p:cNvSpPr>
          <p:nvPr/>
        </p:nvSpPr>
        <p:spPr bwMode="auto">
          <a:xfrm>
            <a:off x="8107553" y="2386957"/>
            <a:ext cx="42030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32779" name="Line 8"/>
          <p:cNvSpPr>
            <a:spLocks noChangeShapeType="1"/>
          </p:cNvSpPr>
          <p:nvPr/>
        </p:nvSpPr>
        <p:spPr bwMode="auto">
          <a:xfrm>
            <a:off x="7442201" y="3175000"/>
            <a:ext cx="2543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780" name="Freeform 9"/>
          <p:cNvSpPr>
            <a:spLocks/>
          </p:cNvSpPr>
          <p:nvPr/>
        </p:nvSpPr>
        <p:spPr bwMode="auto">
          <a:xfrm>
            <a:off x="8839791" y="1971924"/>
            <a:ext cx="434182" cy="2202373"/>
          </a:xfrm>
          <a:custGeom>
            <a:avLst/>
            <a:gdLst>
              <a:gd name="T0" fmla="*/ 0 w 1"/>
              <a:gd name="T1" fmla="*/ 0 h 1336"/>
              <a:gd name="T2" fmla="*/ 0 w 1"/>
              <a:gd name="T3" fmla="*/ 2147483647 h 1336"/>
              <a:gd name="T4" fmla="*/ 0 60000 65536"/>
              <a:gd name="T5" fmla="*/ 0 60000 65536"/>
              <a:gd name="T6" fmla="*/ 0 w 1"/>
              <a:gd name="T7" fmla="*/ 0 h 1336"/>
              <a:gd name="T8" fmla="*/ 1 w 1"/>
              <a:gd name="T9" fmla="*/ 1336 h 13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336">
                <a:moveTo>
                  <a:pt x="0" y="0"/>
                </a:moveTo>
                <a:lnTo>
                  <a:pt x="0" y="133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2781" name="Line 10"/>
          <p:cNvSpPr>
            <a:spLocks noChangeShapeType="1"/>
          </p:cNvSpPr>
          <p:nvPr/>
        </p:nvSpPr>
        <p:spPr bwMode="auto">
          <a:xfrm>
            <a:off x="7935913" y="2209801"/>
            <a:ext cx="0" cy="14335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82" name="Line 11"/>
          <p:cNvSpPr>
            <a:spLocks noChangeShapeType="1"/>
          </p:cNvSpPr>
          <p:nvPr/>
        </p:nvSpPr>
        <p:spPr bwMode="auto">
          <a:xfrm>
            <a:off x="7935914" y="2209800"/>
            <a:ext cx="1400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83" name="Line 12"/>
          <p:cNvSpPr>
            <a:spLocks noChangeShapeType="1"/>
          </p:cNvSpPr>
          <p:nvPr/>
        </p:nvSpPr>
        <p:spPr bwMode="auto">
          <a:xfrm>
            <a:off x="8348663" y="2763839"/>
            <a:ext cx="0" cy="13160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784" name="Freeform 13"/>
          <p:cNvSpPr>
            <a:spLocks/>
          </p:cNvSpPr>
          <p:nvPr/>
        </p:nvSpPr>
        <p:spPr bwMode="auto">
          <a:xfrm>
            <a:off x="8360203" y="2756044"/>
            <a:ext cx="1368373" cy="492485"/>
          </a:xfrm>
          <a:custGeom>
            <a:avLst/>
            <a:gdLst>
              <a:gd name="T0" fmla="*/ 0 w 895"/>
              <a:gd name="T1" fmla="*/ 0 h 1"/>
              <a:gd name="T2" fmla="*/ 2147483647 w 895"/>
              <a:gd name="T3" fmla="*/ 0 h 1"/>
              <a:gd name="T4" fmla="*/ 0 60000 65536"/>
              <a:gd name="T5" fmla="*/ 0 60000 65536"/>
              <a:gd name="T6" fmla="*/ 0 w 895"/>
              <a:gd name="T7" fmla="*/ 0 h 1"/>
              <a:gd name="T8" fmla="*/ 895 w 89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95" h="1">
                <a:moveTo>
                  <a:pt x="0" y="0"/>
                </a:moveTo>
                <a:lnTo>
                  <a:pt x="895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2785" name="Text Box 28"/>
          <p:cNvSpPr txBox="1">
            <a:spLocks noChangeArrowheads="1"/>
          </p:cNvSpPr>
          <p:nvPr/>
        </p:nvSpPr>
        <p:spPr bwMode="auto">
          <a:xfrm>
            <a:off x="7646756" y="3464869"/>
            <a:ext cx="34336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32786" name="Text Box 21"/>
          <p:cNvSpPr txBox="1">
            <a:spLocks noChangeArrowheads="1"/>
          </p:cNvSpPr>
          <p:nvPr/>
        </p:nvSpPr>
        <p:spPr bwMode="auto">
          <a:xfrm>
            <a:off x="7655165" y="1858319"/>
            <a:ext cx="57419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r>
              <a:rPr kumimoji="1" lang="en-US" altLang="zh-CN" sz="2400" b="1">
                <a:latin typeface="Times New Roman" pitchFamily="18" charset="0"/>
                <a:sym typeface="UniversalMath1 BT" pitchFamily="18" charset="2"/>
              </a:rPr>
              <a:t>  </a:t>
            </a:r>
          </a:p>
        </p:txBody>
      </p:sp>
      <p:sp>
        <p:nvSpPr>
          <p:cNvPr id="32787" name="Text Box 30"/>
          <p:cNvSpPr txBox="1">
            <a:spLocks noChangeArrowheads="1"/>
          </p:cNvSpPr>
          <p:nvPr/>
        </p:nvSpPr>
        <p:spPr bwMode="auto">
          <a:xfrm>
            <a:off x="9289207" y="1861494"/>
            <a:ext cx="47000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32788" name="Text Box 22"/>
          <p:cNvSpPr txBox="1">
            <a:spLocks noChangeArrowheads="1"/>
          </p:cNvSpPr>
          <p:nvPr/>
        </p:nvSpPr>
        <p:spPr bwMode="auto">
          <a:xfrm>
            <a:off x="9717039" y="2406007"/>
            <a:ext cx="47000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32789" name="Text Box 39"/>
          <p:cNvSpPr txBox="1">
            <a:spLocks noChangeArrowheads="1"/>
          </p:cNvSpPr>
          <p:nvPr/>
        </p:nvSpPr>
        <p:spPr bwMode="auto">
          <a:xfrm>
            <a:off x="8115862" y="3955407"/>
            <a:ext cx="34336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grpSp>
        <p:nvGrpSpPr>
          <p:cNvPr id="32790" name="Group 88"/>
          <p:cNvGrpSpPr>
            <a:grpSpLocks/>
          </p:cNvGrpSpPr>
          <p:nvPr/>
        </p:nvGrpSpPr>
        <p:grpSpPr bwMode="auto">
          <a:xfrm>
            <a:off x="7786689" y="2092326"/>
            <a:ext cx="2090737" cy="2060575"/>
            <a:chOff x="3993" y="756"/>
            <a:chExt cx="1317" cy="1298"/>
          </a:xfrm>
        </p:grpSpPr>
        <p:sp>
          <p:nvSpPr>
            <p:cNvPr id="32796" name="Text Box 20"/>
            <p:cNvSpPr txBox="1">
              <a:spLocks noChangeArrowheads="1"/>
            </p:cNvSpPr>
            <p:nvPr/>
          </p:nvSpPr>
          <p:spPr bwMode="auto">
            <a:xfrm>
              <a:off x="4260" y="1111"/>
              <a:ext cx="188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32797" name="Text Box 23"/>
            <p:cNvSpPr txBox="1">
              <a:spLocks noChangeArrowheads="1"/>
            </p:cNvSpPr>
            <p:nvPr/>
          </p:nvSpPr>
          <p:spPr bwMode="auto">
            <a:xfrm>
              <a:off x="4862" y="758"/>
              <a:ext cx="188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32798" name="Text Box 24"/>
            <p:cNvSpPr txBox="1">
              <a:spLocks noChangeArrowheads="1"/>
            </p:cNvSpPr>
            <p:nvPr/>
          </p:nvSpPr>
          <p:spPr bwMode="auto">
            <a:xfrm>
              <a:off x="3993" y="1641"/>
              <a:ext cx="188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32799" name="Text Box 26"/>
            <p:cNvSpPr txBox="1">
              <a:spLocks noChangeArrowheads="1"/>
            </p:cNvSpPr>
            <p:nvPr/>
          </p:nvSpPr>
          <p:spPr bwMode="auto">
            <a:xfrm>
              <a:off x="5122" y="1108"/>
              <a:ext cx="188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32800" name="Text Box 27"/>
            <p:cNvSpPr txBox="1">
              <a:spLocks noChangeArrowheads="1"/>
            </p:cNvSpPr>
            <p:nvPr/>
          </p:nvSpPr>
          <p:spPr bwMode="auto">
            <a:xfrm>
              <a:off x="4253" y="1910"/>
              <a:ext cx="188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32801" name="Text Box 87"/>
            <p:cNvSpPr txBox="1">
              <a:spLocks noChangeArrowheads="1"/>
            </p:cNvSpPr>
            <p:nvPr/>
          </p:nvSpPr>
          <p:spPr bwMode="auto">
            <a:xfrm>
              <a:off x="3996" y="756"/>
              <a:ext cx="188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32791" name="Text Box 106"/>
          <p:cNvSpPr txBox="1">
            <a:spLocks noChangeArrowheads="1"/>
          </p:cNvSpPr>
          <p:nvPr/>
        </p:nvSpPr>
        <p:spPr bwMode="auto">
          <a:xfrm>
            <a:off x="7149884" y="2908301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X</a:t>
            </a:r>
          </a:p>
        </p:txBody>
      </p:sp>
      <p:sp>
        <p:nvSpPr>
          <p:cNvPr id="32792" name="Text Box 108"/>
          <p:cNvSpPr txBox="1">
            <a:spLocks noChangeArrowheads="1"/>
          </p:cNvSpPr>
          <p:nvPr/>
        </p:nvSpPr>
        <p:spPr bwMode="auto">
          <a:xfrm>
            <a:off x="8789771" y="3910014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Y</a:t>
            </a:r>
            <a:endParaRPr kumimoji="1" lang="en-US" altLang="zh-CN" sz="2400" b="1" baseline="-25000">
              <a:latin typeface="宋体" pitchFamily="2" charset="-122"/>
            </a:endParaRPr>
          </a:p>
        </p:txBody>
      </p:sp>
      <p:sp>
        <p:nvSpPr>
          <p:cNvPr id="32793" name="Text Box 110"/>
          <p:cNvSpPr txBox="1">
            <a:spLocks noChangeArrowheads="1"/>
          </p:cNvSpPr>
          <p:nvPr/>
        </p:nvSpPr>
        <p:spPr bwMode="auto">
          <a:xfrm>
            <a:off x="9928009" y="2914651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Y</a:t>
            </a:r>
          </a:p>
        </p:txBody>
      </p:sp>
      <p:sp>
        <p:nvSpPr>
          <p:cNvPr id="32794" name="Text Box 111"/>
          <p:cNvSpPr txBox="1">
            <a:spLocks noChangeArrowheads="1"/>
          </p:cNvSpPr>
          <p:nvPr/>
        </p:nvSpPr>
        <p:spPr bwMode="auto">
          <a:xfrm>
            <a:off x="8751671" y="1693864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Z</a:t>
            </a:r>
          </a:p>
        </p:txBody>
      </p:sp>
      <p:sp>
        <p:nvSpPr>
          <p:cNvPr id="32795" name="Text Box 115"/>
          <p:cNvSpPr txBox="1">
            <a:spLocks noChangeArrowheads="1"/>
          </p:cNvSpPr>
          <p:nvPr/>
        </p:nvSpPr>
        <p:spPr bwMode="auto">
          <a:xfrm>
            <a:off x="8777289" y="2765425"/>
            <a:ext cx="3333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b="1">
                <a:latin typeface="宋体" pitchFamily="2" charset="-122"/>
              </a:rPr>
              <a:t>o</a:t>
            </a:r>
          </a:p>
        </p:txBody>
      </p:sp>
      <p:sp>
        <p:nvSpPr>
          <p:cNvPr id="34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17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17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  <p:bldP spid="17412" grpId="0" autoUpdateAnimBg="0"/>
      <p:bldP spid="17413" grpId="0" build="p" autoUpdateAnimBg="0"/>
      <p:bldP spid="17414" grpId="0" build="p" autoUpdateAnimBg="0"/>
      <p:bldP spid="17415" grpId="0" build="p" autoUpdateAnimBg="0"/>
      <p:bldP spid="17505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6931152" y="2652714"/>
            <a:ext cx="18085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</a:rPr>
              <a:t>作图步骤： </a:t>
            </a:r>
            <a:endParaRPr kumimoji="1" lang="zh-CN" altLang="en-US" sz="2400" dirty="0">
              <a:solidFill>
                <a:srgbClr val="0000FF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6985225" y="3245600"/>
            <a:ext cx="33258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）在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a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′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左方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12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mm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上方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8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mm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处确定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′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； 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6933405" y="4292531"/>
            <a:ext cx="34909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）作</a:t>
            </a:r>
            <a:r>
              <a:rPr kumimoji="1" lang="en-US" altLang="zh-CN" sz="2400" b="1" i="1" dirty="0" err="1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 err="1">
                <a:latin typeface="Times New Roman" pitchFamily="18" charset="0"/>
                <a:ea typeface="楷体_GB2312" pitchFamily="49" charset="-122"/>
              </a:rPr>
              <a:t>′</a:t>
            </a:r>
            <a:r>
              <a:rPr kumimoji="1" lang="en-US" altLang="zh-CN" sz="2400" b="1" i="1" dirty="0" err="1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 dirty="0" err="1">
                <a:latin typeface="Times New Roman" pitchFamily="18" charset="0"/>
                <a:ea typeface="楷体_GB2312" pitchFamily="49" charset="-122"/>
              </a:rPr>
              <a:t>⊥</a:t>
            </a:r>
            <a:r>
              <a:rPr kumimoji="1" lang="en-US" altLang="zh-CN" sz="2400" b="1" i="1" dirty="0" err="1">
                <a:latin typeface="Times New Roman" pitchFamily="18" charset="0"/>
                <a:ea typeface="楷体_GB2312" pitchFamily="49" charset="-122"/>
              </a:rPr>
              <a:t>OX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轴，且在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前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10</a:t>
            </a: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</a:rPr>
              <a:t> mm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处确定</a:t>
            </a:r>
            <a:r>
              <a:rPr kumimoji="1" lang="en-US" altLang="zh-CN" sz="2400" b="1" i="1" dirty="0"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latin typeface="Times New Roman" pitchFamily="18" charset="0"/>
                <a:ea typeface="楷体_GB2312" pitchFamily="49" charset="-122"/>
              </a:rPr>
              <a:t>； </a:t>
            </a:r>
          </a:p>
        </p:txBody>
      </p:sp>
      <p:sp>
        <p:nvSpPr>
          <p:cNvPr id="110598" name="Text Box 6"/>
          <p:cNvSpPr txBox="1">
            <a:spLocks noChangeArrowheads="1"/>
          </p:cNvSpPr>
          <p:nvPr/>
        </p:nvSpPr>
        <p:spPr bwMode="auto">
          <a:xfrm>
            <a:off x="6961188" y="53340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）按投影关系求得</a:t>
            </a:r>
            <a:r>
              <a:rPr kumimoji="1" lang="en-US" altLang="zh-CN" sz="2400" b="1" i="1">
                <a:latin typeface="Times New Roman" pitchFamily="18" charset="0"/>
                <a:ea typeface="楷体_GB2312" pitchFamily="49" charset="-122"/>
              </a:rPr>
              <a:t>b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″</a:t>
            </a:r>
            <a:r>
              <a:rPr kumimoji="1" lang="zh-CN" altLang="en-US" sz="2400" b="1">
                <a:latin typeface="Times New Roman" pitchFamily="18" charset="0"/>
                <a:ea typeface="楷体_GB2312" pitchFamily="49" charset="-122"/>
              </a:rPr>
              <a:t>。</a:t>
            </a:r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1288245" y="1041887"/>
            <a:ext cx="839630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［例］如图，已知点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的三投影，另一点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在点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上方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8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 mm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，左方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12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 mm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，前方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10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 mm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处，求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: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点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B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的三个投影。 </a:t>
            </a:r>
          </a:p>
        </p:txBody>
      </p:sp>
      <p:sp>
        <p:nvSpPr>
          <p:cNvPr id="33799" name="Line 8"/>
          <p:cNvSpPr>
            <a:spLocks noChangeShapeType="1"/>
          </p:cNvSpPr>
          <p:nvPr/>
        </p:nvSpPr>
        <p:spPr bwMode="auto">
          <a:xfrm>
            <a:off x="4038600" y="3429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00" name="Line 9"/>
          <p:cNvSpPr>
            <a:spLocks noChangeShapeType="1"/>
          </p:cNvSpPr>
          <p:nvPr/>
        </p:nvSpPr>
        <p:spPr bwMode="auto">
          <a:xfrm>
            <a:off x="4038600" y="3505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01" name="Line 10"/>
          <p:cNvSpPr>
            <a:spLocks noChangeShapeType="1"/>
          </p:cNvSpPr>
          <p:nvPr/>
        </p:nvSpPr>
        <p:spPr bwMode="auto">
          <a:xfrm flipH="1">
            <a:off x="5410200" y="34290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02" name="Line 11"/>
          <p:cNvSpPr>
            <a:spLocks noChangeShapeType="1"/>
          </p:cNvSpPr>
          <p:nvPr/>
        </p:nvSpPr>
        <p:spPr bwMode="auto">
          <a:xfrm>
            <a:off x="2971800" y="4038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03" name="Line 12"/>
          <p:cNvSpPr>
            <a:spLocks noChangeShapeType="1"/>
          </p:cNvSpPr>
          <p:nvPr/>
        </p:nvSpPr>
        <p:spPr bwMode="auto">
          <a:xfrm>
            <a:off x="4800600" y="24384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04" name="Text Box 13"/>
          <p:cNvSpPr txBox="1">
            <a:spLocks noChangeArrowheads="1"/>
          </p:cNvSpPr>
          <p:nvPr/>
        </p:nvSpPr>
        <p:spPr bwMode="auto">
          <a:xfrm>
            <a:off x="4838700" y="4616451"/>
            <a:ext cx="3619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i="1">
                <a:latin typeface="Times New Roman" pitchFamily="18" charset="0"/>
              </a:rPr>
              <a:t>a</a:t>
            </a:r>
            <a:r>
              <a:rPr kumimoji="1" lang="en-US" altLang="zh-CN" sz="1000" b="1">
                <a:latin typeface="Times New Roman" pitchFamily="18" charset="0"/>
              </a:rPr>
              <a:t>y</a:t>
            </a:r>
          </a:p>
        </p:txBody>
      </p:sp>
      <p:sp>
        <p:nvSpPr>
          <p:cNvPr id="33805" name="Text Box 14"/>
          <p:cNvSpPr txBox="1">
            <a:spLocks noChangeArrowheads="1"/>
          </p:cNvSpPr>
          <p:nvPr/>
        </p:nvSpPr>
        <p:spPr bwMode="auto">
          <a:xfrm>
            <a:off x="5435600" y="4006851"/>
            <a:ext cx="3746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i="1">
                <a:latin typeface="Times New Roman" pitchFamily="18" charset="0"/>
              </a:rPr>
              <a:t>a</a:t>
            </a:r>
            <a:r>
              <a:rPr kumimoji="1" lang="en-US" altLang="zh-CN" b="1" baseline="-16000">
                <a:latin typeface="Times New Roman" pitchFamily="18" charset="0"/>
              </a:rPr>
              <a:t>y</a:t>
            </a:r>
          </a:p>
        </p:txBody>
      </p:sp>
      <p:sp>
        <p:nvSpPr>
          <p:cNvPr id="33806" name="Text Box 15"/>
          <p:cNvSpPr txBox="1">
            <a:spLocks noChangeArrowheads="1"/>
          </p:cNvSpPr>
          <p:nvPr/>
        </p:nvSpPr>
        <p:spPr bwMode="auto">
          <a:xfrm>
            <a:off x="4800600" y="2286001"/>
            <a:ext cx="3238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i="1">
                <a:latin typeface="Times New Roman" pitchFamily="18" charset="0"/>
              </a:rPr>
              <a:t>Z</a:t>
            </a:r>
          </a:p>
        </p:txBody>
      </p:sp>
      <p:sp>
        <p:nvSpPr>
          <p:cNvPr id="33807" name="Line 16"/>
          <p:cNvSpPr>
            <a:spLocks noChangeShapeType="1"/>
          </p:cNvSpPr>
          <p:nvPr/>
        </p:nvSpPr>
        <p:spPr bwMode="auto">
          <a:xfrm flipH="1">
            <a:off x="2752725" y="4030663"/>
            <a:ext cx="39449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3808" name="Text Box 17"/>
          <p:cNvSpPr txBox="1">
            <a:spLocks noChangeArrowheads="1"/>
          </p:cNvSpPr>
          <p:nvPr/>
        </p:nvSpPr>
        <p:spPr bwMode="auto">
          <a:xfrm>
            <a:off x="3657600" y="4495800"/>
            <a:ext cx="3365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i="1">
                <a:latin typeface="Times New Roman" pitchFamily="18" charset="0"/>
              </a:rPr>
              <a:t>a</a:t>
            </a:r>
            <a:endParaRPr kumimoji="1" lang="en-US" altLang="zh-CN" b="1" i="1">
              <a:latin typeface="Times New Roman" pitchFamily="18" charset="0"/>
            </a:endParaRPr>
          </a:p>
        </p:txBody>
      </p:sp>
      <p:sp>
        <p:nvSpPr>
          <p:cNvPr id="33809" name="Text Box 18"/>
          <p:cNvSpPr txBox="1">
            <a:spLocks noChangeArrowheads="1"/>
          </p:cNvSpPr>
          <p:nvPr/>
        </p:nvSpPr>
        <p:spPr bwMode="auto">
          <a:xfrm>
            <a:off x="3733800" y="3048000"/>
            <a:ext cx="4127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i="1">
                <a:latin typeface="Times New Roman" pitchFamily="18" charset="0"/>
                <a:sym typeface="EuroRoman" pitchFamily="2" charset="2"/>
              </a:rPr>
              <a:t>a</a:t>
            </a:r>
            <a:r>
              <a:rPr kumimoji="1" lang="en-US" altLang="zh-CN" sz="2400" b="1" i="1">
                <a:latin typeface="Times New Roman" pitchFamily="18" charset="0"/>
                <a:sym typeface="Symbol" pitchFamily="18" charset="2"/>
              </a:rPr>
              <a:t></a:t>
            </a:r>
            <a:endParaRPr kumimoji="1" lang="en-US" altLang="zh-CN" sz="2400" b="1" i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33810" name="Text Box 19"/>
          <p:cNvSpPr txBox="1">
            <a:spLocks noChangeArrowheads="1"/>
          </p:cNvSpPr>
          <p:nvPr/>
        </p:nvSpPr>
        <p:spPr bwMode="auto">
          <a:xfrm>
            <a:off x="4068763" y="3625851"/>
            <a:ext cx="3746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i="1">
                <a:latin typeface="Times New Roman" pitchFamily="18" charset="0"/>
              </a:rPr>
              <a:t>a</a:t>
            </a:r>
            <a:r>
              <a:rPr kumimoji="1" lang="en-US" altLang="zh-CN" b="1" baseline="-16000">
                <a:latin typeface="Times New Roman" pitchFamily="18" charset="0"/>
              </a:rPr>
              <a:t>x</a:t>
            </a:r>
          </a:p>
        </p:txBody>
      </p:sp>
      <p:sp>
        <p:nvSpPr>
          <p:cNvPr id="33811" name="Text Box 20"/>
          <p:cNvSpPr txBox="1">
            <a:spLocks noChangeArrowheads="1"/>
          </p:cNvSpPr>
          <p:nvPr/>
        </p:nvSpPr>
        <p:spPr bwMode="auto">
          <a:xfrm>
            <a:off x="4754564" y="3092451"/>
            <a:ext cx="377825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i="1">
                <a:latin typeface="Times New Roman" pitchFamily="18" charset="0"/>
              </a:rPr>
              <a:t>a</a:t>
            </a:r>
            <a:r>
              <a:rPr kumimoji="1" lang="en-US" altLang="zh-CN" sz="1400" b="1">
                <a:latin typeface="Times New Roman" pitchFamily="18" charset="0"/>
              </a:rPr>
              <a:t>z</a:t>
            </a:r>
          </a:p>
        </p:txBody>
      </p:sp>
      <p:sp>
        <p:nvSpPr>
          <p:cNvPr id="33812" name="Text Box 21"/>
          <p:cNvSpPr txBox="1">
            <a:spLocks noChangeArrowheads="1"/>
          </p:cNvSpPr>
          <p:nvPr/>
        </p:nvSpPr>
        <p:spPr bwMode="auto">
          <a:xfrm>
            <a:off x="2674939" y="3760788"/>
            <a:ext cx="319087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600" b="1" i="1">
                <a:latin typeface="Times New Roman" pitchFamily="18" charset="0"/>
              </a:rPr>
              <a:t>X</a:t>
            </a:r>
          </a:p>
        </p:txBody>
      </p:sp>
      <p:sp>
        <p:nvSpPr>
          <p:cNvPr id="33813" name="Text Box 22"/>
          <p:cNvSpPr txBox="1">
            <a:spLocks noChangeArrowheads="1"/>
          </p:cNvSpPr>
          <p:nvPr/>
        </p:nvSpPr>
        <p:spPr bwMode="auto">
          <a:xfrm>
            <a:off x="4822825" y="5576888"/>
            <a:ext cx="4508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600" b="1" i="1">
                <a:latin typeface="Times New Roman" pitchFamily="18" charset="0"/>
              </a:rPr>
              <a:t>Y</a:t>
            </a:r>
            <a:r>
              <a:rPr kumimoji="1" lang="en-US" altLang="zh-CN" sz="1000" b="1">
                <a:latin typeface="Times New Roman" pitchFamily="18" charset="0"/>
                <a:ea typeface="楷体_GB2312" pitchFamily="49" charset="-122"/>
              </a:rPr>
              <a:t>H</a:t>
            </a:r>
            <a:r>
              <a:rPr kumimoji="1" lang="en-US" altLang="zh-CN" sz="1400" b="1"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33814" name="Text Box 23"/>
          <p:cNvSpPr txBox="1">
            <a:spLocks noChangeArrowheads="1"/>
          </p:cNvSpPr>
          <p:nvPr/>
        </p:nvSpPr>
        <p:spPr bwMode="auto">
          <a:xfrm>
            <a:off x="6248401" y="3748088"/>
            <a:ext cx="4810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1600" b="1" i="1">
                <a:latin typeface="Times New Roman" pitchFamily="18" charset="0"/>
              </a:rPr>
              <a:t>Y</a:t>
            </a:r>
            <a:r>
              <a:rPr kumimoji="1" lang="en-US" altLang="zh-CN" sz="1000" b="1">
                <a:latin typeface="Times New Roman" pitchFamily="18" charset="0"/>
                <a:ea typeface="楷体_GB2312" pitchFamily="49" charset="-122"/>
              </a:rPr>
              <a:t>W</a:t>
            </a:r>
          </a:p>
        </p:txBody>
      </p:sp>
      <p:sp>
        <p:nvSpPr>
          <p:cNvPr id="33815" name="Text Box 24"/>
          <p:cNvSpPr txBox="1">
            <a:spLocks noChangeArrowheads="1"/>
          </p:cNvSpPr>
          <p:nvPr/>
        </p:nvSpPr>
        <p:spPr bwMode="auto">
          <a:xfrm>
            <a:off x="4724400" y="3733801"/>
            <a:ext cx="3492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 i="1">
                <a:latin typeface="Times New Roman" pitchFamily="18" charset="0"/>
              </a:rPr>
              <a:t>O</a:t>
            </a:r>
          </a:p>
        </p:txBody>
      </p:sp>
      <p:sp>
        <p:nvSpPr>
          <p:cNvPr id="33816" name="Text Box 25"/>
          <p:cNvSpPr txBox="1">
            <a:spLocks noChangeArrowheads="1"/>
          </p:cNvSpPr>
          <p:nvPr/>
        </p:nvSpPr>
        <p:spPr bwMode="auto">
          <a:xfrm>
            <a:off x="5486401" y="3124200"/>
            <a:ext cx="461963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i="1">
                <a:latin typeface="Times New Roman" pitchFamily="18" charset="0"/>
              </a:rPr>
              <a:t>a</a:t>
            </a:r>
            <a:r>
              <a:rPr kumimoji="1" lang="en-US" altLang="zh-CN" sz="2400" b="1" i="1">
                <a:latin typeface="Times New Roman" pitchFamily="18" charset="0"/>
                <a:sym typeface="Symbol" pitchFamily="18" charset="2"/>
              </a:rPr>
              <a:t></a:t>
            </a:r>
          </a:p>
        </p:txBody>
      </p:sp>
      <p:sp>
        <p:nvSpPr>
          <p:cNvPr id="33817" name="Line 26"/>
          <p:cNvSpPr>
            <a:spLocks noChangeShapeType="1"/>
          </p:cNvSpPr>
          <p:nvPr/>
        </p:nvSpPr>
        <p:spPr bwMode="auto">
          <a:xfrm>
            <a:off x="4038600" y="46482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18" name="Oval 27"/>
          <p:cNvSpPr>
            <a:spLocks noChangeArrowheads="1"/>
          </p:cNvSpPr>
          <p:nvPr/>
        </p:nvSpPr>
        <p:spPr bwMode="auto">
          <a:xfrm>
            <a:off x="3962400" y="4572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19" name="Line 28"/>
          <p:cNvSpPr>
            <a:spLocks noChangeShapeType="1"/>
          </p:cNvSpPr>
          <p:nvPr/>
        </p:nvSpPr>
        <p:spPr bwMode="auto">
          <a:xfrm>
            <a:off x="4800600" y="4038600"/>
            <a:ext cx="12954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20" name="Oval 29"/>
          <p:cNvSpPr>
            <a:spLocks noChangeArrowheads="1"/>
          </p:cNvSpPr>
          <p:nvPr/>
        </p:nvSpPr>
        <p:spPr bwMode="auto">
          <a:xfrm>
            <a:off x="3962400" y="3352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21" name="Oval 30"/>
          <p:cNvSpPr>
            <a:spLocks noChangeArrowheads="1"/>
          </p:cNvSpPr>
          <p:nvPr/>
        </p:nvSpPr>
        <p:spPr bwMode="auto">
          <a:xfrm>
            <a:off x="5334000" y="3352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3352800" y="5148263"/>
            <a:ext cx="2667000" cy="366712"/>
            <a:chOff x="1152" y="3243"/>
            <a:chExt cx="1680" cy="231"/>
          </a:xfrm>
        </p:grpSpPr>
        <p:sp>
          <p:nvSpPr>
            <p:cNvPr id="33854" name="Text Box 32"/>
            <p:cNvSpPr txBox="1">
              <a:spLocks noChangeArrowheads="1"/>
            </p:cNvSpPr>
            <p:nvPr/>
          </p:nvSpPr>
          <p:spPr bwMode="auto">
            <a:xfrm>
              <a:off x="2064" y="3243"/>
              <a:ext cx="287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itchFamily="18" charset="0"/>
                </a:rPr>
                <a:t>b</a:t>
              </a:r>
              <a:r>
                <a:rPr kumimoji="1" lang="en-US" altLang="zh-CN" sz="1000" b="1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33855" name="Line 33"/>
            <p:cNvSpPr>
              <a:spLocks noChangeShapeType="1"/>
            </p:cNvSpPr>
            <p:nvPr/>
          </p:nvSpPr>
          <p:spPr bwMode="auto">
            <a:xfrm>
              <a:off x="1152" y="3264"/>
              <a:ext cx="1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5943600" y="3048000"/>
            <a:ext cx="407988" cy="2133600"/>
            <a:chOff x="2784" y="1920"/>
            <a:chExt cx="257" cy="1344"/>
          </a:xfrm>
        </p:grpSpPr>
        <p:sp>
          <p:nvSpPr>
            <p:cNvPr id="33852" name="Text Box 35"/>
            <p:cNvSpPr txBox="1">
              <a:spLocks noChangeArrowheads="1"/>
            </p:cNvSpPr>
            <p:nvPr/>
          </p:nvSpPr>
          <p:spPr bwMode="auto">
            <a:xfrm>
              <a:off x="2805" y="2284"/>
              <a:ext cx="23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itchFamily="18" charset="0"/>
                </a:rPr>
                <a:t>b</a:t>
              </a:r>
              <a:r>
                <a:rPr kumimoji="1" lang="en-US" altLang="zh-CN" b="1" baseline="-16000">
                  <a:latin typeface="Times New Roman" pitchFamily="18" charset="0"/>
                </a:rPr>
                <a:t>y</a:t>
              </a:r>
            </a:p>
          </p:txBody>
        </p:sp>
        <p:sp>
          <p:nvSpPr>
            <p:cNvPr id="33853" name="Line 36"/>
            <p:cNvSpPr>
              <a:spLocks noChangeShapeType="1"/>
            </p:cNvSpPr>
            <p:nvPr/>
          </p:nvSpPr>
          <p:spPr bwMode="auto">
            <a:xfrm flipV="1">
              <a:off x="2784" y="1920"/>
              <a:ext cx="0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3008313" y="3048000"/>
            <a:ext cx="374650" cy="2133600"/>
            <a:chOff x="935" y="1920"/>
            <a:chExt cx="236" cy="1344"/>
          </a:xfrm>
        </p:grpSpPr>
        <p:sp>
          <p:nvSpPr>
            <p:cNvPr id="33850" name="Line 38"/>
            <p:cNvSpPr>
              <a:spLocks noChangeShapeType="1"/>
            </p:cNvSpPr>
            <p:nvPr/>
          </p:nvSpPr>
          <p:spPr bwMode="auto">
            <a:xfrm>
              <a:off x="1152" y="1920"/>
              <a:ext cx="0" cy="1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51" name="Text Box 39"/>
            <p:cNvSpPr txBox="1">
              <a:spLocks noChangeArrowheads="1"/>
            </p:cNvSpPr>
            <p:nvPr/>
          </p:nvSpPr>
          <p:spPr bwMode="auto">
            <a:xfrm>
              <a:off x="935" y="2284"/>
              <a:ext cx="23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itchFamily="18" charset="0"/>
                </a:rPr>
                <a:t>b</a:t>
              </a:r>
              <a:r>
                <a:rPr kumimoji="1" lang="en-US" altLang="zh-CN" sz="1200" b="1">
                  <a:latin typeface="Times New Roman" pitchFamily="18" charset="0"/>
                </a:rPr>
                <a:t>x</a:t>
              </a:r>
            </a:p>
          </p:txBody>
        </p:sp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3352800" y="2711451"/>
            <a:ext cx="2590800" cy="366713"/>
            <a:chOff x="1152" y="1708"/>
            <a:chExt cx="1632" cy="231"/>
          </a:xfrm>
        </p:grpSpPr>
        <p:sp>
          <p:nvSpPr>
            <p:cNvPr id="33848" name="Line 41"/>
            <p:cNvSpPr>
              <a:spLocks noChangeShapeType="1"/>
            </p:cNvSpPr>
            <p:nvPr/>
          </p:nvSpPr>
          <p:spPr bwMode="auto">
            <a:xfrm>
              <a:off x="1152" y="1920"/>
              <a:ext cx="16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9" name="Text Box 42"/>
            <p:cNvSpPr txBox="1">
              <a:spLocks noChangeArrowheads="1"/>
            </p:cNvSpPr>
            <p:nvPr/>
          </p:nvSpPr>
          <p:spPr bwMode="auto">
            <a:xfrm>
              <a:off x="2083" y="1708"/>
              <a:ext cx="238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 i="1">
                  <a:latin typeface="Times New Roman" pitchFamily="18" charset="0"/>
                </a:rPr>
                <a:t>b</a:t>
              </a:r>
              <a:r>
                <a:rPr kumimoji="1" lang="en-US" altLang="zh-CN" sz="1400" b="1">
                  <a:latin typeface="Times New Roman" pitchFamily="18" charset="0"/>
                </a:rPr>
                <a:t>z</a:t>
              </a:r>
            </a:p>
          </p:txBody>
        </p:sp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3048000" y="2590800"/>
            <a:ext cx="457200" cy="573088"/>
            <a:chOff x="960" y="1632"/>
            <a:chExt cx="288" cy="361"/>
          </a:xfrm>
        </p:grpSpPr>
        <p:sp>
          <p:nvSpPr>
            <p:cNvPr id="33846" name="Text Box 44"/>
            <p:cNvSpPr txBox="1">
              <a:spLocks noChangeArrowheads="1"/>
            </p:cNvSpPr>
            <p:nvPr/>
          </p:nvSpPr>
          <p:spPr bwMode="auto">
            <a:xfrm>
              <a:off x="960" y="1632"/>
              <a:ext cx="260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itchFamily="18" charset="0"/>
                  <a:sym typeface="EuroRoman" pitchFamily="2" charset="2"/>
                </a:rPr>
                <a:t>b</a:t>
              </a:r>
              <a:r>
                <a:rPr kumimoji="1" lang="en-US" altLang="zh-CN" sz="2400" b="1" i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 i="1">
                <a:latin typeface="Times New Roman" pitchFamily="18" charset="0"/>
                <a:sym typeface="UniversalMath1 BT" pitchFamily="18" charset="2"/>
              </a:endParaRPr>
            </a:p>
          </p:txBody>
        </p:sp>
        <p:sp>
          <p:nvSpPr>
            <p:cNvPr id="33847" name="Text Box 45"/>
            <p:cNvSpPr txBox="1">
              <a:spLocks noChangeArrowheads="1"/>
            </p:cNvSpPr>
            <p:nvPr/>
          </p:nvSpPr>
          <p:spPr bwMode="auto">
            <a:xfrm>
              <a:off x="1052" y="1839"/>
              <a:ext cx="196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 dirty="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1000" b="1" dirty="0">
                <a:latin typeface="Times New Roman" pitchFamily="18" charset="0"/>
              </a:endParaRPr>
            </a:p>
          </p:txBody>
        </p:sp>
      </p:grp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3124200" y="5043488"/>
            <a:ext cx="400050" cy="519112"/>
            <a:chOff x="1008" y="3177"/>
            <a:chExt cx="252" cy="327"/>
          </a:xfrm>
        </p:grpSpPr>
        <p:sp>
          <p:nvSpPr>
            <p:cNvPr id="33844" name="Text Box 47"/>
            <p:cNvSpPr txBox="1">
              <a:spLocks noChangeArrowheads="1"/>
            </p:cNvSpPr>
            <p:nvPr/>
          </p:nvSpPr>
          <p:spPr bwMode="auto">
            <a:xfrm>
              <a:off x="1008" y="3216"/>
              <a:ext cx="212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itchFamily="18" charset="0"/>
                </a:rPr>
                <a:t>b</a:t>
              </a:r>
              <a:endParaRPr kumimoji="1" lang="en-US" altLang="zh-CN" b="1" i="1">
                <a:latin typeface="Times New Roman" pitchFamily="18" charset="0"/>
              </a:endParaRPr>
            </a:p>
          </p:txBody>
        </p:sp>
        <p:sp>
          <p:nvSpPr>
            <p:cNvPr id="33845" name="Text Box 48"/>
            <p:cNvSpPr txBox="1">
              <a:spLocks noChangeArrowheads="1"/>
            </p:cNvSpPr>
            <p:nvPr/>
          </p:nvSpPr>
          <p:spPr bwMode="auto">
            <a:xfrm>
              <a:off x="1064" y="3177"/>
              <a:ext cx="196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8" name="Group 49"/>
          <p:cNvGrpSpPr>
            <a:grpSpLocks/>
          </p:cNvGrpSpPr>
          <p:nvPr/>
        </p:nvGrpSpPr>
        <p:grpSpPr bwMode="auto">
          <a:xfrm>
            <a:off x="5753129" y="2514615"/>
            <a:ext cx="576267" cy="650879"/>
            <a:chOff x="2664" y="1584"/>
            <a:chExt cx="363" cy="410"/>
          </a:xfrm>
        </p:grpSpPr>
        <p:sp>
          <p:nvSpPr>
            <p:cNvPr id="33842" name="Text Box 50"/>
            <p:cNvSpPr txBox="1">
              <a:spLocks noChangeArrowheads="1"/>
            </p:cNvSpPr>
            <p:nvPr/>
          </p:nvSpPr>
          <p:spPr bwMode="auto">
            <a:xfrm>
              <a:off x="2736" y="1584"/>
              <a:ext cx="291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Times New Roman" pitchFamily="18" charset="0"/>
                </a:rPr>
                <a:t>b</a:t>
              </a:r>
              <a:r>
                <a:rPr kumimoji="1" lang="en-US" altLang="zh-CN" sz="2400" b="1" i="1">
                  <a:latin typeface="Times New Roman" pitchFamily="18" charset="0"/>
                  <a:sym typeface="Symbol" pitchFamily="18" charset="2"/>
                </a:rPr>
                <a:t></a:t>
              </a:r>
              <a:endParaRPr kumimoji="1" lang="en-US" altLang="zh-CN" b="1" i="1">
                <a:latin typeface="Times New Roman" pitchFamily="18" charset="0"/>
              </a:endParaRPr>
            </a:p>
          </p:txBody>
        </p:sp>
        <p:sp>
          <p:nvSpPr>
            <p:cNvPr id="33843" name="Text Box 51"/>
            <p:cNvSpPr txBox="1">
              <a:spLocks noChangeArrowheads="1"/>
            </p:cNvSpPr>
            <p:nvPr/>
          </p:nvSpPr>
          <p:spPr bwMode="auto">
            <a:xfrm>
              <a:off x="2664" y="1840"/>
              <a:ext cx="240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1000" b="1" dirty="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9" name="Group 52"/>
          <p:cNvGrpSpPr>
            <a:grpSpLocks/>
          </p:cNvGrpSpPr>
          <p:nvPr/>
        </p:nvGrpSpPr>
        <p:grpSpPr bwMode="auto">
          <a:xfrm>
            <a:off x="3352800" y="3490913"/>
            <a:ext cx="685800" cy="304800"/>
            <a:chOff x="1152" y="2199"/>
            <a:chExt cx="432" cy="192"/>
          </a:xfrm>
        </p:grpSpPr>
        <p:sp>
          <p:nvSpPr>
            <p:cNvPr id="33839" name="Line 53"/>
            <p:cNvSpPr>
              <a:spLocks noChangeShapeType="1"/>
            </p:cNvSpPr>
            <p:nvPr/>
          </p:nvSpPr>
          <p:spPr bwMode="auto">
            <a:xfrm>
              <a:off x="1392" y="235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0" name="Line 54"/>
            <p:cNvSpPr>
              <a:spLocks noChangeShapeType="1"/>
            </p:cNvSpPr>
            <p:nvPr/>
          </p:nvSpPr>
          <p:spPr bwMode="auto">
            <a:xfrm flipH="1">
              <a:off x="1152" y="23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1" name="Rectangle 55"/>
            <p:cNvSpPr>
              <a:spLocks noChangeArrowheads="1"/>
            </p:cNvSpPr>
            <p:nvPr/>
          </p:nvSpPr>
          <p:spPr bwMode="auto">
            <a:xfrm>
              <a:off x="1200" y="2199"/>
              <a:ext cx="22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400" b="1" i="1">
                  <a:latin typeface="Times New Roman" pitchFamily="18" charset="0"/>
                  <a:ea typeface="楷体_GB2312" pitchFamily="49" charset="-122"/>
                </a:rPr>
                <a:t>12</a:t>
              </a:r>
            </a:p>
          </p:txBody>
        </p:sp>
      </p:grp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4114800" y="3048000"/>
            <a:ext cx="381000" cy="381000"/>
            <a:chOff x="1632" y="1920"/>
            <a:chExt cx="240" cy="240"/>
          </a:xfrm>
        </p:grpSpPr>
        <p:sp>
          <p:nvSpPr>
            <p:cNvPr id="33835" name="Line 57"/>
            <p:cNvSpPr>
              <a:spLocks noChangeShapeType="1"/>
            </p:cNvSpPr>
            <p:nvPr/>
          </p:nvSpPr>
          <p:spPr bwMode="auto">
            <a:xfrm>
              <a:off x="1824" y="201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836" name="Group 58"/>
            <p:cNvGrpSpPr>
              <a:grpSpLocks/>
            </p:cNvGrpSpPr>
            <p:nvPr/>
          </p:nvGrpSpPr>
          <p:grpSpPr bwMode="auto">
            <a:xfrm>
              <a:off x="1632" y="1920"/>
              <a:ext cx="240" cy="240"/>
              <a:chOff x="1632" y="1920"/>
              <a:chExt cx="240" cy="240"/>
            </a:xfrm>
          </p:grpSpPr>
          <p:sp>
            <p:nvSpPr>
              <p:cNvPr id="33837" name="Line 59"/>
              <p:cNvSpPr>
                <a:spLocks noChangeShapeType="1"/>
              </p:cNvSpPr>
              <p:nvPr/>
            </p:nvSpPr>
            <p:spPr bwMode="auto">
              <a:xfrm flipV="1">
                <a:off x="1824" y="192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8" name="Rectangle 60"/>
              <p:cNvSpPr>
                <a:spLocks noChangeArrowheads="1"/>
              </p:cNvSpPr>
              <p:nvPr/>
            </p:nvSpPr>
            <p:spPr bwMode="auto">
              <a:xfrm>
                <a:off x="1632" y="1968"/>
                <a:ext cx="240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kumimoji="1" lang="en-US" altLang="zh-CN" sz="1400" b="1" i="1">
                    <a:latin typeface="Times New Roman" pitchFamily="18" charset="0"/>
                    <a:ea typeface="楷体_GB2312" pitchFamily="49" charset="-122"/>
                  </a:rPr>
                  <a:t>8</a:t>
                </a:r>
              </a:p>
            </p:txBody>
          </p:sp>
        </p:grpSp>
      </p:grpSp>
      <p:grpSp>
        <p:nvGrpSpPr>
          <p:cNvPr id="12" name="Group 61"/>
          <p:cNvGrpSpPr>
            <a:grpSpLocks/>
          </p:cNvGrpSpPr>
          <p:nvPr/>
        </p:nvGrpSpPr>
        <p:grpSpPr bwMode="auto">
          <a:xfrm>
            <a:off x="4038600" y="4648200"/>
            <a:ext cx="381000" cy="533400"/>
            <a:chOff x="1584" y="2928"/>
            <a:chExt cx="240" cy="336"/>
          </a:xfrm>
        </p:grpSpPr>
        <p:sp>
          <p:nvSpPr>
            <p:cNvPr id="33832" name="Line 62"/>
            <p:cNvSpPr>
              <a:spLocks noChangeShapeType="1"/>
            </p:cNvSpPr>
            <p:nvPr/>
          </p:nvSpPr>
          <p:spPr bwMode="auto">
            <a:xfrm>
              <a:off x="1824" y="307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Line 63"/>
            <p:cNvSpPr>
              <a:spLocks noChangeShapeType="1"/>
            </p:cNvSpPr>
            <p:nvPr/>
          </p:nvSpPr>
          <p:spPr bwMode="auto">
            <a:xfrm flipV="1">
              <a:off x="1824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Rectangle 64"/>
            <p:cNvSpPr>
              <a:spLocks noChangeArrowheads="1"/>
            </p:cNvSpPr>
            <p:nvPr/>
          </p:nvSpPr>
          <p:spPr bwMode="auto">
            <a:xfrm>
              <a:off x="1584" y="3043"/>
              <a:ext cx="22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400" b="1" i="1">
                  <a:latin typeface="Times New Roman" pitchFamily="18" charset="0"/>
                  <a:ea typeface="楷体_GB2312" pitchFamily="49" charset="-122"/>
                </a:rPr>
                <a:t>10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autoUpdateAnimBg="0"/>
      <p:bldP spid="110596" grpId="0" autoUpdateAnimBg="0"/>
      <p:bldP spid="110597" grpId="0" autoUpdateAnimBg="0"/>
      <p:bldP spid="11059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83" name="Text Box 23"/>
          <p:cNvSpPr txBox="1">
            <a:spLocks noChangeArrowheads="1"/>
          </p:cNvSpPr>
          <p:nvPr/>
        </p:nvSpPr>
        <p:spPr bwMode="auto">
          <a:xfrm>
            <a:off x="6881366" y="4554810"/>
            <a:ext cx="539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400" b="1">
                <a:latin typeface="Times New Roman" pitchFamily="18" charset="0"/>
              </a:rPr>
              <a:t>(  )</a:t>
            </a:r>
          </a:p>
        </p:txBody>
      </p:sp>
      <p:sp>
        <p:nvSpPr>
          <p:cNvPr id="34819" name="Text Box 33"/>
          <p:cNvSpPr txBox="1">
            <a:spLocks noChangeArrowheads="1"/>
          </p:cNvSpPr>
          <p:nvPr/>
        </p:nvSpPr>
        <p:spPr bwMode="auto">
          <a:xfrm>
            <a:off x="6665466" y="4567510"/>
            <a:ext cx="627062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</a:rPr>
              <a:t>  </a:t>
            </a:r>
            <a:r>
              <a:rPr kumimoji="1" lang="en-US" altLang="zh-CN" sz="2400" i="1">
                <a:latin typeface="Dutch801 Rm BT" pitchFamily="18" charset="0"/>
              </a:rPr>
              <a:t>c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34820" name="Text Box 21"/>
          <p:cNvSpPr txBox="1">
            <a:spLocks noChangeArrowheads="1"/>
          </p:cNvSpPr>
          <p:nvPr/>
        </p:nvSpPr>
        <p:spPr bwMode="auto">
          <a:xfrm>
            <a:off x="6648003" y="3219722"/>
            <a:ext cx="3952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34821" name="Freeform 2"/>
          <p:cNvSpPr>
            <a:spLocks/>
          </p:cNvSpPr>
          <p:nvPr/>
        </p:nvSpPr>
        <p:spPr bwMode="auto">
          <a:xfrm>
            <a:off x="7020385" y="2933872"/>
            <a:ext cx="470580" cy="1719257"/>
          </a:xfrm>
          <a:custGeom>
            <a:avLst/>
            <a:gdLst>
              <a:gd name="T0" fmla="*/ 0 w 1"/>
              <a:gd name="T1" fmla="*/ 0 h 895"/>
              <a:gd name="T2" fmla="*/ 0 w 1"/>
              <a:gd name="T3" fmla="*/ 2147483647 h 895"/>
              <a:gd name="T4" fmla="*/ 0 60000 65536"/>
              <a:gd name="T5" fmla="*/ 0 60000 65536"/>
              <a:gd name="T6" fmla="*/ 0 w 1"/>
              <a:gd name="T7" fmla="*/ 0 h 895"/>
              <a:gd name="T8" fmla="*/ 1 w 1"/>
              <a:gd name="T9" fmla="*/ 895 h 89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95">
                <a:moveTo>
                  <a:pt x="0" y="0"/>
                </a:moveTo>
                <a:lnTo>
                  <a:pt x="0" y="895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4822" name="Freeform 3"/>
          <p:cNvSpPr>
            <a:spLocks/>
          </p:cNvSpPr>
          <p:nvPr/>
        </p:nvSpPr>
        <p:spPr bwMode="auto">
          <a:xfrm>
            <a:off x="7028761" y="2927763"/>
            <a:ext cx="1730617" cy="647421"/>
          </a:xfrm>
          <a:custGeom>
            <a:avLst/>
            <a:gdLst>
              <a:gd name="T0" fmla="*/ 0 w 921"/>
              <a:gd name="T1" fmla="*/ 0 h 1"/>
              <a:gd name="T2" fmla="*/ 2147483647 w 921"/>
              <a:gd name="T3" fmla="*/ 0 h 1"/>
              <a:gd name="T4" fmla="*/ 0 60000 65536"/>
              <a:gd name="T5" fmla="*/ 0 60000 65536"/>
              <a:gd name="T6" fmla="*/ 0 w 921"/>
              <a:gd name="T7" fmla="*/ 0 h 1"/>
              <a:gd name="T8" fmla="*/ 921 w 92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21" h="1">
                <a:moveTo>
                  <a:pt x="0" y="0"/>
                </a:moveTo>
                <a:lnTo>
                  <a:pt x="921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1487488" y="1370793"/>
            <a:ext cx="2348720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</a:rPr>
              <a:t>六、重影点：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2039938" y="2291388"/>
            <a:ext cx="3912047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Times New Roman" pitchFamily="18" charset="0"/>
              </a:rPr>
              <a:t>空间两点在某一投影面上的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投影重合为一点</a:t>
            </a:r>
            <a:r>
              <a:rPr kumimoji="1" lang="zh-CN" altLang="en-US" sz="2400" b="1" dirty="0">
                <a:latin typeface="Times New Roman" pitchFamily="18" charset="0"/>
              </a:rPr>
              <a:t>时，则称此两点为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该投影面</a:t>
            </a:r>
            <a:r>
              <a:rPr kumimoji="1" lang="zh-CN" altLang="en-US" sz="2400" b="1" dirty="0">
                <a:latin typeface="Times New Roman" pitchFamily="18" charset="0"/>
              </a:rPr>
              <a:t>的重影点。</a:t>
            </a:r>
          </a:p>
        </p:txBody>
      </p:sp>
      <p:sp>
        <p:nvSpPr>
          <p:cNvPr id="34825" name="Text Box 8"/>
          <p:cNvSpPr txBox="1">
            <a:spLocks noChangeArrowheads="1"/>
          </p:cNvSpPr>
          <p:nvPr/>
        </p:nvSpPr>
        <p:spPr bwMode="auto">
          <a:xfrm>
            <a:off x="6863903" y="4535760"/>
            <a:ext cx="2984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34826" name="Text Box 9"/>
          <p:cNvSpPr txBox="1">
            <a:spLocks noChangeArrowheads="1"/>
          </p:cNvSpPr>
          <p:nvPr/>
        </p:nvSpPr>
        <p:spPr bwMode="auto">
          <a:xfrm>
            <a:off x="8640316" y="3387998"/>
            <a:ext cx="311150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000" b="1">
                <a:latin typeface="Times New Roman" pitchFamily="18" charset="0"/>
              </a:rPr>
              <a:t>●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34827" name="Text Box 10"/>
          <p:cNvSpPr txBox="1">
            <a:spLocks noChangeArrowheads="1"/>
          </p:cNvSpPr>
          <p:nvPr/>
        </p:nvSpPr>
        <p:spPr bwMode="auto">
          <a:xfrm>
            <a:off x="6862316" y="2819672"/>
            <a:ext cx="2984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34828" name="Text Box 11"/>
          <p:cNvSpPr txBox="1">
            <a:spLocks noChangeArrowheads="1"/>
          </p:cNvSpPr>
          <p:nvPr/>
        </p:nvSpPr>
        <p:spPr bwMode="auto">
          <a:xfrm>
            <a:off x="8621266" y="2819672"/>
            <a:ext cx="2984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rgbClr val="FF3300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34829" name="Text Box 12"/>
          <p:cNvSpPr txBox="1">
            <a:spLocks noChangeArrowheads="1"/>
          </p:cNvSpPr>
          <p:nvPr/>
        </p:nvSpPr>
        <p:spPr bwMode="auto">
          <a:xfrm>
            <a:off x="6859141" y="3400698"/>
            <a:ext cx="311150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000" b="1">
                <a:latin typeface="Times New Roman" pitchFamily="18" charset="0"/>
              </a:rPr>
              <a:t>●</a:t>
            </a:r>
          </a:p>
        </p:txBody>
      </p:sp>
      <p:sp>
        <p:nvSpPr>
          <p:cNvPr id="34830" name="Line 13"/>
          <p:cNvSpPr>
            <a:spLocks noChangeShapeType="1"/>
          </p:cNvSpPr>
          <p:nvPr/>
        </p:nvSpPr>
        <p:spPr bwMode="auto">
          <a:xfrm>
            <a:off x="6733728" y="3794397"/>
            <a:ext cx="2387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4831" name="Line 14"/>
          <p:cNvSpPr>
            <a:spLocks noChangeShapeType="1"/>
          </p:cNvSpPr>
          <p:nvPr/>
        </p:nvSpPr>
        <p:spPr bwMode="auto">
          <a:xfrm>
            <a:off x="8087866" y="2462486"/>
            <a:ext cx="0" cy="23955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32" name="Line 15"/>
          <p:cNvSpPr>
            <a:spLocks noChangeShapeType="1"/>
          </p:cNvSpPr>
          <p:nvPr/>
        </p:nvSpPr>
        <p:spPr bwMode="auto">
          <a:xfrm>
            <a:off x="7021066" y="3504837"/>
            <a:ext cx="17383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833" name="Text Box 16"/>
          <p:cNvSpPr txBox="1">
            <a:spLocks noChangeArrowheads="1"/>
          </p:cNvSpPr>
          <p:nvPr/>
        </p:nvSpPr>
        <p:spPr bwMode="auto">
          <a:xfrm>
            <a:off x="6690262" y="2547566"/>
            <a:ext cx="42030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34834" name="Text Box 17"/>
          <p:cNvSpPr txBox="1">
            <a:spLocks noChangeArrowheads="1"/>
          </p:cNvSpPr>
          <p:nvPr/>
        </p:nvSpPr>
        <p:spPr bwMode="auto">
          <a:xfrm>
            <a:off x="8785522" y="2561854"/>
            <a:ext cx="47000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8832403" y="3292747"/>
            <a:ext cx="4445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34836" name="Text Box 20"/>
          <p:cNvSpPr txBox="1">
            <a:spLocks noChangeArrowheads="1"/>
          </p:cNvSpPr>
          <p:nvPr/>
        </p:nvSpPr>
        <p:spPr bwMode="auto">
          <a:xfrm>
            <a:off x="9058333" y="3290516"/>
            <a:ext cx="18473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kumimoji="1" lang="zh-CN" altLang="zh-CN" sz="2400" b="1">
              <a:latin typeface="Times New Roman" pitchFamily="18" charset="0"/>
            </a:endParaRPr>
          </a:p>
        </p:txBody>
      </p:sp>
      <p:sp>
        <p:nvSpPr>
          <p:cNvPr id="66582" name="AutoShape 22"/>
          <p:cNvSpPr>
            <a:spLocks noChangeArrowheads="1"/>
          </p:cNvSpPr>
          <p:nvPr/>
        </p:nvSpPr>
        <p:spPr bwMode="auto">
          <a:xfrm>
            <a:off x="2894542" y="5179019"/>
            <a:ext cx="2265363" cy="1055608"/>
          </a:xfrm>
          <a:prstGeom prst="wedgeRoundRectCallout">
            <a:avLst>
              <a:gd name="adj1" fmla="val 128283"/>
              <a:gd name="adj2" fmla="val -73401"/>
              <a:gd name="adj3" fmla="val 16667"/>
            </a:avLst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</a:rPr>
              <a:t>被挡住的投影加</a:t>
            </a:r>
            <a:r>
              <a:rPr kumimoji="1" lang="en-US" altLang="zh-CN" sz="2800" b="1" dirty="0">
                <a:latin typeface="Times New Roman" pitchFamily="18" charset="0"/>
              </a:rPr>
              <a:t>( )</a:t>
            </a:r>
          </a:p>
        </p:txBody>
      </p:sp>
      <p:sp>
        <p:nvSpPr>
          <p:cNvPr id="34841" name="Text Box 32"/>
          <p:cNvSpPr txBox="1">
            <a:spLocks noChangeArrowheads="1"/>
          </p:cNvSpPr>
          <p:nvPr/>
        </p:nvSpPr>
        <p:spPr bwMode="auto">
          <a:xfrm>
            <a:off x="7063011" y="5271557"/>
            <a:ext cx="319208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A</a:t>
            </a:r>
            <a:r>
              <a:rPr kumimoji="1" lang="zh-CN" altLang="en-US" sz="2400" b="1" dirty="0">
                <a:latin typeface="Times New Roman" pitchFamily="18" charset="0"/>
              </a:rPr>
              <a:t>、</a:t>
            </a:r>
            <a:r>
              <a:rPr kumimoji="1" lang="en-US" altLang="zh-CN" sz="2400" b="1" dirty="0">
                <a:latin typeface="Times New Roman" pitchFamily="18" charset="0"/>
              </a:rPr>
              <a:t>C</a:t>
            </a:r>
            <a:r>
              <a:rPr kumimoji="1" lang="zh-CN" altLang="en-US" sz="2400" b="1" dirty="0">
                <a:latin typeface="Times New Roman" pitchFamily="18" charset="0"/>
              </a:rPr>
              <a:t>为哪个投影面的重影点呢？</a:t>
            </a:r>
          </a:p>
        </p:txBody>
      </p:sp>
      <p:sp>
        <p:nvSpPr>
          <p:cNvPr id="66598" name="AutoShape 38"/>
          <p:cNvSpPr>
            <a:spLocks noChangeArrowheads="1"/>
          </p:cNvSpPr>
          <p:nvPr/>
        </p:nvSpPr>
        <p:spPr bwMode="auto">
          <a:xfrm>
            <a:off x="6240016" y="1067956"/>
            <a:ext cx="3060700" cy="1452384"/>
          </a:xfrm>
          <a:prstGeom prst="cloudCallout">
            <a:avLst>
              <a:gd name="adj1" fmla="val -6588"/>
              <a:gd name="adj2" fmla="val 107417"/>
            </a:avLst>
          </a:prstGeom>
          <a:gradFill rotWithShape="0">
            <a:gsLst>
              <a:gs pos="0">
                <a:srgbClr val="B2B2B2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800" b="1">
                <a:latin typeface="Times New Roman" pitchFamily="18" charset="0"/>
              </a:rPr>
              <a:t>A</a:t>
            </a:r>
            <a:r>
              <a:rPr kumimoji="1" lang="zh-CN" altLang="en-US" sz="2800" b="1">
                <a:latin typeface="Times New Roman" pitchFamily="18" charset="0"/>
              </a:rPr>
              <a:t>、</a:t>
            </a:r>
            <a:r>
              <a:rPr kumimoji="1" lang="en-US" altLang="zh-CN" sz="2800" b="1">
                <a:latin typeface="Times New Roman" pitchFamily="18" charset="0"/>
              </a:rPr>
              <a:t>C</a:t>
            </a:r>
            <a:r>
              <a:rPr kumimoji="1" lang="zh-CN" altLang="en-US" sz="2800" b="1">
                <a:latin typeface="Times New Roman" pitchFamily="18" charset="0"/>
              </a:rPr>
              <a:t>为</a:t>
            </a:r>
            <a:r>
              <a:rPr kumimoji="1" lang="en-US" altLang="zh-CN" sz="2800" b="1">
                <a:latin typeface="Times New Roman" pitchFamily="18" charset="0"/>
              </a:rPr>
              <a:t>H</a:t>
            </a:r>
            <a:r>
              <a:rPr kumimoji="1" lang="zh-CN" altLang="en-US" sz="2800" b="1">
                <a:latin typeface="Times New Roman" pitchFamily="18" charset="0"/>
              </a:rPr>
              <a:t>面的重影点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6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6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6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83" grpId="0" autoUpdateAnimBg="0"/>
      <p:bldP spid="66564" grpId="0" autoUpdateAnimBg="0"/>
      <p:bldP spid="66565" grpId="0" autoUpdateAnimBg="0"/>
      <p:bldP spid="66582" grpId="0" animBg="1" autoUpdateAnimBg="0"/>
      <p:bldP spid="6659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1091444" y="1604074"/>
            <a:ext cx="10009112" cy="1007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800" b="1" dirty="0">
                <a:latin typeface="+mn-ea"/>
                <a:ea typeface="+mn-ea"/>
              </a:rPr>
              <a:t>     </a:t>
            </a:r>
            <a:r>
              <a:rPr kumimoji="1" lang="zh-CN" altLang="en-US" sz="2800" b="1" dirty="0">
                <a:latin typeface="+mn-ea"/>
                <a:ea typeface="+mn-ea"/>
              </a:rPr>
              <a:t>点</a:t>
            </a:r>
            <a:r>
              <a:rPr kumimoji="1" lang="en-US" altLang="zh-CN" sz="2400" b="1" i="1" dirty="0">
                <a:latin typeface="+mn-ea"/>
                <a:ea typeface="+mn-ea"/>
              </a:rPr>
              <a:t>A</a:t>
            </a:r>
            <a:r>
              <a:rPr kumimoji="1" lang="zh-CN" altLang="en-US" sz="2400" b="1" i="1" dirty="0">
                <a:latin typeface="+mn-ea"/>
                <a:ea typeface="+mn-ea"/>
              </a:rPr>
              <a:t>、</a:t>
            </a:r>
            <a:r>
              <a:rPr kumimoji="1" lang="en-US" altLang="zh-CN" sz="2400" b="1" i="1" dirty="0">
                <a:latin typeface="+mn-ea"/>
                <a:ea typeface="+mn-ea"/>
              </a:rPr>
              <a:t>B </a:t>
            </a:r>
            <a:r>
              <a:rPr kumimoji="1" lang="zh-CN" altLang="en-US" sz="2800" b="1" dirty="0">
                <a:latin typeface="+mn-ea"/>
                <a:ea typeface="+mn-ea"/>
              </a:rPr>
              <a:t>在对</a:t>
            </a:r>
            <a:r>
              <a:rPr kumimoji="1" lang="en-US" altLang="zh-CN" sz="2400" b="1" i="1" dirty="0">
                <a:latin typeface="+mn-ea"/>
                <a:ea typeface="+mn-ea"/>
              </a:rPr>
              <a:t>H </a:t>
            </a:r>
            <a:r>
              <a:rPr kumimoji="1" lang="zh-CN" altLang="en-US" sz="2800" b="1" dirty="0">
                <a:latin typeface="+mn-ea"/>
                <a:ea typeface="+mn-ea"/>
              </a:rPr>
              <a:t>面的同一条投射线上，它们在</a:t>
            </a:r>
            <a:r>
              <a:rPr kumimoji="1" lang="en-US" altLang="zh-CN" sz="2400" b="1" i="1" dirty="0">
                <a:latin typeface="+mn-ea"/>
                <a:ea typeface="+mn-ea"/>
              </a:rPr>
              <a:t>H </a:t>
            </a:r>
            <a:r>
              <a:rPr kumimoji="1" lang="zh-CN" altLang="en-US" sz="2800" b="1" dirty="0">
                <a:latin typeface="+mn-ea"/>
                <a:ea typeface="+mn-ea"/>
              </a:rPr>
              <a:t>面的投影重合，称为对</a:t>
            </a:r>
            <a:r>
              <a:rPr kumimoji="1" lang="en-US" altLang="zh-CN" sz="2400" b="1" i="1" dirty="0">
                <a:latin typeface="+mn-ea"/>
                <a:ea typeface="+mn-ea"/>
              </a:rPr>
              <a:t>H </a:t>
            </a:r>
            <a:r>
              <a:rPr kumimoji="1" lang="zh-CN" altLang="en-US" sz="2800" b="1" dirty="0">
                <a:latin typeface="+mn-ea"/>
                <a:ea typeface="+mn-ea"/>
              </a:rPr>
              <a:t>面的重影点。而点</a:t>
            </a:r>
            <a:r>
              <a:rPr kumimoji="1" lang="en-US" altLang="zh-CN" sz="2400" b="1" i="1" dirty="0">
                <a:latin typeface="+mn-ea"/>
                <a:ea typeface="+mn-ea"/>
              </a:rPr>
              <a:t>C</a:t>
            </a:r>
            <a:r>
              <a:rPr kumimoji="1" lang="zh-CN" altLang="en-US" sz="2400" b="1" i="1" dirty="0">
                <a:latin typeface="+mn-ea"/>
                <a:ea typeface="+mn-ea"/>
              </a:rPr>
              <a:t>、</a:t>
            </a:r>
            <a:r>
              <a:rPr kumimoji="1" lang="en-US" altLang="zh-CN" sz="2400" b="1" i="1" dirty="0">
                <a:latin typeface="+mn-ea"/>
                <a:ea typeface="+mn-ea"/>
              </a:rPr>
              <a:t>A</a:t>
            </a:r>
            <a:r>
              <a:rPr kumimoji="1" lang="zh-CN" altLang="en-US" sz="2800" b="1" dirty="0">
                <a:latin typeface="+mn-ea"/>
                <a:ea typeface="+mn-ea"/>
              </a:rPr>
              <a:t>则称为对</a:t>
            </a:r>
            <a:r>
              <a:rPr kumimoji="1" lang="en-US" altLang="zh-CN" sz="2400" b="1" i="1" dirty="0">
                <a:latin typeface="+mn-ea"/>
                <a:ea typeface="+mn-ea"/>
              </a:rPr>
              <a:t>W </a:t>
            </a:r>
            <a:r>
              <a:rPr kumimoji="1" lang="zh-CN" altLang="en-US" sz="2800" b="1" dirty="0">
                <a:latin typeface="+mn-ea"/>
                <a:ea typeface="+mn-ea"/>
              </a:rPr>
              <a:t>面的重影点。 </a:t>
            </a:r>
          </a:p>
        </p:txBody>
      </p:sp>
      <p:pic>
        <p:nvPicPr>
          <p:cNvPr id="35843" name="Picture 3" descr="2-2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7962" y="2799913"/>
            <a:ext cx="7786734" cy="3365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>
            <a:spLocks/>
          </p:cNvSpPr>
          <p:nvPr/>
        </p:nvSpPr>
        <p:spPr>
          <a:xfrm>
            <a:off x="2589650" y="1844824"/>
            <a:ext cx="7387728" cy="3298105"/>
          </a:xfrm>
          <a:prstGeom prst="rect">
            <a:avLst/>
          </a:prstGeom>
        </p:spPr>
        <p:txBody>
          <a:bodyPr/>
          <a:lstStyle/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defRPr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点的投影 小结</a:t>
            </a: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zh-CN" altLang="en-US" sz="2400" dirty="0">
                <a:solidFill>
                  <a:srgbClr val="CC3300"/>
                </a:solidFill>
                <a:latin typeface="宋体" pitchFamily="2" charset="-122"/>
              </a:rPr>
              <a:t>投影法</a:t>
            </a:r>
            <a:r>
              <a:rPr lang="zh-CN" altLang="en-US" sz="2400" dirty="0">
                <a:latin typeface="宋体" pitchFamily="2" charset="-122"/>
              </a:rPr>
              <a:t>的基本概念、特别是平行投影法的</a:t>
            </a:r>
            <a:r>
              <a:rPr lang="zh-CN" altLang="en-US" sz="2400" dirty="0">
                <a:solidFill>
                  <a:srgbClr val="CC3300"/>
                </a:solidFill>
                <a:latin typeface="宋体" pitchFamily="2" charset="-122"/>
              </a:rPr>
              <a:t>投影特性</a:t>
            </a:r>
            <a:r>
              <a:rPr lang="zh-CN" altLang="en-US" sz="2400" dirty="0">
                <a:latin typeface="宋体" pitchFamily="2" charset="-122"/>
              </a:rPr>
              <a:t>。</a:t>
            </a:r>
            <a:endParaRPr lang="en-US" altLang="zh-CN" sz="2400" dirty="0">
              <a:latin typeface="宋体" pitchFamily="2" charset="-122"/>
            </a:endParaRP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zh-CN" altLang="en-US" sz="2400" dirty="0">
                <a:latin typeface="宋体" pitchFamily="2" charset="-122"/>
              </a:rPr>
              <a:t>点在三投影面体系中第一角中的投影</a:t>
            </a:r>
            <a:endParaRPr lang="en-US" altLang="zh-CN" sz="2400" dirty="0">
              <a:solidFill>
                <a:srgbClr val="FF0000"/>
              </a:solidFill>
              <a:latin typeface="宋体" pitchFamily="2" charset="-122"/>
            </a:endParaRP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zh-CN" altLang="en-US" sz="2400" dirty="0">
                <a:latin typeface="宋体" pitchFamily="2" charset="-122"/>
              </a:rPr>
              <a:t>点的投影与直角坐标的关系</a:t>
            </a:r>
            <a:endParaRPr lang="en-US" altLang="zh-CN" sz="2400" dirty="0">
              <a:latin typeface="宋体" pitchFamily="2" charset="-122"/>
            </a:endParaRP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zh-CN" altLang="en-US" sz="2400" dirty="0">
                <a:latin typeface="宋体" pitchFamily="2" charset="-122"/>
              </a:rPr>
              <a:t>点在三面投影体系中的投影规律</a:t>
            </a:r>
            <a:endParaRPr lang="en-US" altLang="zh-CN" sz="2400" dirty="0">
              <a:latin typeface="宋体" pitchFamily="2" charset="-122"/>
            </a:endParaRP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r>
              <a:rPr lang="zh-CN" altLang="en-US" sz="2400" dirty="0">
                <a:latin typeface="宋体" pitchFamily="2" charset="-122"/>
              </a:rPr>
              <a:t>两点的相对位置及重影点</a:t>
            </a:r>
            <a:endParaRPr lang="en-US" altLang="zh-CN" sz="2400" dirty="0">
              <a:latin typeface="黑体" pitchFamily="2" charset="-122"/>
              <a:ea typeface="黑体" pitchFamily="2" charset="-122"/>
            </a:endParaRPr>
          </a:p>
          <a:p>
            <a:pPr marL="319088" indent="-319088"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567608" y="476672"/>
            <a:ext cx="676910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+mn-ea"/>
                <a:ea typeface="+mn-ea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595438" y="1321333"/>
            <a:ext cx="399573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直线的投影</a:t>
            </a:r>
          </a:p>
        </p:txBody>
      </p:sp>
      <p:sp>
        <p:nvSpPr>
          <p:cNvPr id="113667" name="Text Box 3"/>
          <p:cNvSpPr txBox="1">
            <a:spLocks noChangeArrowheads="1"/>
          </p:cNvSpPr>
          <p:nvPr/>
        </p:nvSpPr>
        <p:spPr bwMode="auto">
          <a:xfrm>
            <a:off x="2279576" y="2232251"/>
            <a:ext cx="3529012" cy="4766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  <a:spcAft>
                <a:spcPct val="30000"/>
              </a:spcAft>
            </a:pPr>
            <a:r>
              <a:rPr kumimoji="1"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直线的投影</a:t>
            </a:r>
            <a:endParaRPr kumimoji="1" lang="zh-CN" altLang="en-US" sz="2400" b="1" dirty="0">
              <a:solidFill>
                <a:srgbClr val="3399FF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113668" name="Picture 4" descr="2-13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56412" y="1988840"/>
            <a:ext cx="4807084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892945" y="2983287"/>
            <a:ext cx="3410967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3399FF"/>
                </a:solidFill>
              </a:rPr>
              <a:t>     </a:t>
            </a:r>
            <a:r>
              <a:rPr kumimoji="1" lang="zh-CN" altLang="en-US" sz="24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一般情况下，直线的投影仍为直线。</a:t>
            </a: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3399FF"/>
                </a:solidFill>
                <a:latin typeface="宋体" pitchFamily="2" charset="-122"/>
              </a:rPr>
              <a:t>   </a:t>
            </a:r>
            <a:endParaRPr kumimoji="1" lang="zh-CN" altLang="en-US" sz="2400" b="1" dirty="0">
              <a:solidFill>
                <a:srgbClr val="FF0000"/>
              </a:solidFill>
              <a:latin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3399FF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直线的投影规定用粗实线绘制。</a:t>
            </a:r>
            <a:r>
              <a:rPr kumimoji="1" lang="zh-CN" altLang="en-US" sz="2400" b="1" dirty="0">
                <a:latin typeface="宋体" pitchFamily="2" charset="-122"/>
              </a:rPr>
              <a:t> </a:t>
            </a:r>
            <a:endParaRPr lang="zh-CN" altLang="en-US" sz="240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024188" y="214313"/>
            <a:ext cx="6411912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1136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3" name="Freeform 31"/>
          <p:cNvSpPr>
            <a:spLocks/>
          </p:cNvSpPr>
          <p:nvPr/>
        </p:nvSpPr>
        <p:spPr bwMode="auto">
          <a:xfrm>
            <a:off x="9388476" y="1638300"/>
            <a:ext cx="469900" cy="530199"/>
          </a:xfrm>
          <a:custGeom>
            <a:avLst/>
            <a:gdLst>
              <a:gd name="T0" fmla="*/ 0 w 265"/>
              <a:gd name="T1" fmla="*/ 0 h 316"/>
              <a:gd name="T2" fmla="*/ 2147483647 w 265"/>
              <a:gd name="T3" fmla="*/ 2147483647 h 316"/>
              <a:gd name="T4" fmla="*/ 0 60000 65536"/>
              <a:gd name="T5" fmla="*/ 0 60000 65536"/>
              <a:gd name="T6" fmla="*/ 0 w 265"/>
              <a:gd name="T7" fmla="*/ 0 h 316"/>
              <a:gd name="T8" fmla="*/ 265 w 265"/>
              <a:gd name="T9" fmla="*/ 316 h 3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5" h="316">
                <a:moveTo>
                  <a:pt x="0" y="0"/>
                </a:moveTo>
                <a:lnTo>
                  <a:pt x="265" y="316"/>
                </a:lnTo>
              </a:path>
            </a:pathLst>
          </a:cu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8462" name="Line 30"/>
          <p:cNvSpPr>
            <a:spLocks noChangeShapeType="1"/>
          </p:cNvSpPr>
          <p:nvPr/>
        </p:nvSpPr>
        <p:spPr bwMode="auto">
          <a:xfrm>
            <a:off x="8027988" y="3084513"/>
            <a:ext cx="412750" cy="43656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61" name="Freeform 29"/>
          <p:cNvSpPr>
            <a:spLocks/>
          </p:cNvSpPr>
          <p:nvPr/>
        </p:nvSpPr>
        <p:spPr bwMode="auto">
          <a:xfrm>
            <a:off x="8008937" y="1649413"/>
            <a:ext cx="428625" cy="520700"/>
          </a:xfrm>
          <a:custGeom>
            <a:avLst/>
            <a:gdLst>
              <a:gd name="T0" fmla="*/ 0 w 266"/>
              <a:gd name="T1" fmla="*/ 0 h 347"/>
              <a:gd name="T2" fmla="*/ 2147483647 w 266"/>
              <a:gd name="T3" fmla="*/ 2147483647 h 347"/>
              <a:gd name="T4" fmla="*/ 0 60000 65536"/>
              <a:gd name="T5" fmla="*/ 0 60000 65536"/>
              <a:gd name="T6" fmla="*/ 0 w 266"/>
              <a:gd name="T7" fmla="*/ 0 h 347"/>
              <a:gd name="T8" fmla="*/ 266 w 266"/>
              <a:gd name="T9" fmla="*/ 347 h 34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6" h="347">
                <a:moveTo>
                  <a:pt x="0" y="0"/>
                </a:moveTo>
                <a:lnTo>
                  <a:pt x="266" y="347"/>
                </a:lnTo>
              </a:path>
            </a:pathLst>
          </a:cu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232"/>
          <p:cNvGrpSpPr>
            <a:grpSpLocks/>
          </p:cNvGrpSpPr>
          <p:nvPr/>
        </p:nvGrpSpPr>
        <p:grpSpPr bwMode="auto">
          <a:xfrm>
            <a:off x="7500938" y="1049338"/>
            <a:ext cx="2862262" cy="2811463"/>
            <a:chOff x="3580" y="198"/>
            <a:chExt cx="1803" cy="1771"/>
          </a:xfrm>
        </p:grpSpPr>
        <p:sp>
          <p:nvSpPr>
            <p:cNvPr id="39998" name="Text Box 9"/>
            <p:cNvSpPr txBox="1">
              <a:spLocks noChangeArrowheads="1"/>
            </p:cNvSpPr>
            <p:nvPr/>
          </p:nvSpPr>
          <p:spPr bwMode="auto">
            <a:xfrm>
              <a:off x="3678" y="1297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39999" name="Text Box 11"/>
            <p:cNvSpPr txBox="1">
              <a:spLocks noChangeArrowheads="1"/>
            </p:cNvSpPr>
            <p:nvPr/>
          </p:nvSpPr>
          <p:spPr bwMode="auto">
            <a:xfrm>
              <a:off x="3779" y="349"/>
              <a:ext cx="116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endParaRPr kumimoji="1" lang="zh-CN" altLang="zh-CN" sz="2400" b="1">
                <a:latin typeface="Times New Roman" pitchFamily="18" charset="0"/>
              </a:endParaRPr>
            </a:p>
          </p:txBody>
        </p:sp>
        <p:sp>
          <p:nvSpPr>
            <p:cNvPr id="40000" name="Text Box 12"/>
            <p:cNvSpPr txBox="1">
              <a:spLocks noChangeArrowheads="1"/>
            </p:cNvSpPr>
            <p:nvPr/>
          </p:nvSpPr>
          <p:spPr bwMode="auto">
            <a:xfrm>
              <a:off x="3679" y="390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UniversalMath1 BT" pitchFamily="18" charset="2"/>
              </a:endParaRPr>
            </a:p>
          </p:txBody>
        </p:sp>
        <p:sp>
          <p:nvSpPr>
            <p:cNvPr id="40001" name="Text Box 14"/>
            <p:cNvSpPr txBox="1">
              <a:spLocks noChangeArrowheads="1"/>
            </p:cNvSpPr>
            <p:nvPr/>
          </p:nvSpPr>
          <p:spPr bwMode="auto">
            <a:xfrm>
              <a:off x="4639" y="350"/>
              <a:ext cx="4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Italic" pitchFamily="2" charset="0"/>
                </a:rPr>
                <a:t> </a:t>
              </a:r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  <a:endParaRPr kumimoji="1" lang="en-US" altLang="zh-CN" sz="2400" b="1">
                <a:latin typeface="Times New Roman" pitchFamily="18" charset="0"/>
                <a:sym typeface="UniversalMath1 BT" pitchFamily="18" charset="2"/>
              </a:endParaRPr>
            </a:p>
          </p:txBody>
        </p:sp>
        <p:sp>
          <p:nvSpPr>
            <p:cNvPr id="40002" name="Text Box 17"/>
            <p:cNvSpPr txBox="1">
              <a:spLocks noChangeArrowheads="1"/>
            </p:cNvSpPr>
            <p:nvPr/>
          </p:nvSpPr>
          <p:spPr bwMode="auto">
            <a:xfrm>
              <a:off x="5065" y="723"/>
              <a:ext cx="29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0003" name="Text Box 20"/>
            <p:cNvSpPr txBox="1">
              <a:spLocks noChangeArrowheads="1"/>
            </p:cNvSpPr>
            <p:nvPr/>
          </p:nvSpPr>
          <p:spPr bwMode="auto">
            <a:xfrm>
              <a:off x="3903" y="795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b</a:t>
              </a:r>
              <a:r>
                <a:rPr kumimoji="1" lang="en-US" altLang="zh-CN" sz="2400" b="1" dirty="0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0004" name="Text Box 22"/>
            <p:cNvSpPr txBox="1">
              <a:spLocks noChangeArrowheads="1"/>
            </p:cNvSpPr>
            <p:nvPr/>
          </p:nvSpPr>
          <p:spPr bwMode="auto">
            <a:xfrm>
              <a:off x="4009" y="1678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0005" name="Line 3"/>
            <p:cNvSpPr>
              <a:spLocks noChangeShapeType="1"/>
            </p:cNvSpPr>
            <p:nvPr/>
          </p:nvSpPr>
          <p:spPr bwMode="auto">
            <a:xfrm>
              <a:off x="3580" y="1177"/>
              <a:ext cx="18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6" name="Freeform 4"/>
            <p:cNvSpPr>
              <a:spLocks/>
            </p:cNvSpPr>
            <p:nvPr/>
          </p:nvSpPr>
          <p:spPr bwMode="auto">
            <a:xfrm>
              <a:off x="4462" y="198"/>
              <a:ext cx="253" cy="1729"/>
            </a:xfrm>
            <a:custGeom>
              <a:avLst/>
              <a:gdLst>
                <a:gd name="T0" fmla="*/ 0 w 1"/>
                <a:gd name="T1" fmla="*/ 0 h 1336"/>
                <a:gd name="T2" fmla="*/ 0 w 1"/>
                <a:gd name="T3" fmla="*/ 1336 h 1336"/>
                <a:gd name="T4" fmla="*/ 0 60000 65536"/>
                <a:gd name="T5" fmla="*/ 0 60000 65536"/>
                <a:gd name="T6" fmla="*/ 0 w 1"/>
                <a:gd name="T7" fmla="*/ 0 h 1336"/>
                <a:gd name="T8" fmla="*/ 1 w 1"/>
                <a:gd name="T9" fmla="*/ 1336 h 13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336">
                  <a:moveTo>
                    <a:pt x="0" y="0"/>
                  </a:moveTo>
                  <a:lnTo>
                    <a:pt x="0" y="133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7" name="Line 5"/>
            <p:cNvSpPr>
              <a:spLocks noChangeShapeType="1"/>
            </p:cNvSpPr>
            <p:nvPr/>
          </p:nvSpPr>
          <p:spPr bwMode="auto">
            <a:xfrm>
              <a:off x="3891" y="569"/>
              <a:ext cx="0" cy="90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8" name="Line 6"/>
            <p:cNvSpPr>
              <a:spLocks noChangeShapeType="1"/>
            </p:cNvSpPr>
            <p:nvPr/>
          </p:nvSpPr>
          <p:spPr bwMode="auto">
            <a:xfrm>
              <a:off x="3891" y="569"/>
              <a:ext cx="88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09" name="Line 7"/>
            <p:cNvSpPr>
              <a:spLocks noChangeShapeType="1"/>
            </p:cNvSpPr>
            <p:nvPr/>
          </p:nvSpPr>
          <p:spPr bwMode="auto">
            <a:xfrm>
              <a:off x="4151" y="918"/>
              <a:ext cx="0" cy="8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10" name="Freeform 8"/>
            <p:cNvSpPr>
              <a:spLocks/>
            </p:cNvSpPr>
            <p:nvPr/>
          </p:nvSpPr>
          <p:spPr bwMode="auto">
            <a:xfrm>
              <a:off x="4175" y="908"/>
              <a:ext cx="882" cy="233"/>
            </a:xfrm>
            <a:custGeom>
              <a:avLst/>
              <a:gdLst>
                <a:gd name="T0" fmla="*/ 0 w 895"/>
                <a:gd name="T1" fmla="*/ 0 h 1"/>
                <a:gd name="T2" fmla="*/ 895 w 895"/>
                <a:gd name="T3" fmla="*/ 0 h 1"/>
                <a:gd name="T4" fmla="*/ 0 60000 65536"/>
                <a:gd name="T5" fmla="*/ 0 60000 65536"/>
                <a:gd name="T6" fmla="*/ 0 w 895"/>
                <a:gd name="T7" fmla="*/ 0 h 1"/>
                <a:gd name="T8" fmla="*/ 895 w 89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5" h="1">
                  <a:moveTo>
                    <a:pt x="0" y="0"/>
                  </a:moveTo>
                  <a:lnTo>
                    <a:pt x="895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011" name="Text Box 23"/>
            <p:cNvSpPr txBox="1">
              <a:spLocks noChangeArrowheads="1"/>
            </p:cNvSpPr>
            <p:nvPr/>
          </p:nvSpPr>
          <p:spPr bwMode="auto">
            <a:xfrm>
              <a:off x="4061" y="840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2800" b="1">
                <a:latin typeface="Times New Roman" pitchFamily="18" charset="0"/>
              </a:endParaRPr>
            </a:p>
          </p:txBody>
        </p:sp>
        <p:sp>
          <p:nvSpPr>
            <p:cNvPr id="40012" name="Text Box 24"/>
            <p:cNvSpPr txBox="1">
              <a:spLocks noChangeArrowheads="1"/>
            </p:cNvSpPr>
            <p:nvPr/>
          </p:nvSpPr>
          <p:spPr bwMode="auto">
            <a:xfrm>
              <a:off x="3794" y="1400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0013" name="Text Box 25"/>
            <p:cNvSpPr txBox="1">
              <a:spLocks noChangeArrowheads="1"/>
            </p:cNvSpPr>
            <p:nvPr/>
          </p:nvSpPr>
          <p:spPr bwMode="auto">
            <a:xfrm>
              <a:off x="4062" y="1671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0014" name="Text Box 26"/>
            <p:cNvSpPr txBox="1">
              <a:spLocks noChangeArrowheads="1"/>
            </p:cNvSpPr>
            <p:nvPr/>
          </p:nvSpPr>
          <p:spPr bwMode="auto">
            <a:xfrm>
              <a:off x="4668" y="493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0015" name="Text Box 27"/>
            <p:cNvSpPr txBox="1">
              <a:spLocks noChangeArrowheads="1"/>
            </p:cNvSpPr>
            <p:nvPr/>
          </p:nvSpPr>
          <p:spPr bwMode="auto">
            <a:xfrm>
              <a:off x="4954" y="830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0016" name="Text Box 28"/>
            <p:cNvSpPr txBox="1">
              <a:spLocks noChangeArrowheads="1"/>
            </p:cNvSpPr>
            <p:nvPr/>
          </p:nvSpPr>
          <p:spPr bwMode="auto">
            <a:xfrm>
              <a:off x="3792" y="501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39942" name="Text Box 32"/>
          <p:cNvSpPr txBox="1">
            <a:spLocks noChangeArrowheads="1"/>
          </p:cNvSpPr>
          <p:nvPr/>
        </p:nvSpPr>
        <p:spPr bwMode="auto">
          <a:xfrm>
            <a:off x="1682750" y="836221"/>
            <a:ext cx="3781425" cy="52322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直线的投影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18465" name="Text Box 33"/>
          <p:cNvSpPr txBox="1">
            <a:spLocks noChangeArrowheads="1"/>
          </p:cNvSpPr>
          <p:nvPr/>
        </p:nvSpPr>
        <p:spPr bwMode="auto">
          <a:xfrm>
            <a:off x="1429545" y="1622644"/>
            <a:ext cx="5815803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两点确定一条直线，将两点的</a:t>
            </a:r>
            <a:r>
              <a:rPr kumimoji="1"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同名投影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用直线连接，就得到直线的同名投影。</a:t>
            </a:r>
          </a:p>
        </p:txBody>
      </p:sp>
      <p:sp>
        <p:nvSpPr>
          <p:cNvPr id="18466" name="Text Box 34"/>
          <p:cNvSpPr txBox="1">
            <a:spLocks noChangeArrowheads="1"/>
          </p:cNvSpPr>
          <p:nvPr/>
        </p:nvSpPr>
        <p:spPr bwMode="auto">
          <a:xfrm>
            <a:off x="1843087" y="3141658"/>
            <a:ext cx="550703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003399"/>
                </a:solidFill>
                <a:latin typeface="Times New Roman" pitchFamily="18" charset="0"/>
              </a:rPr>
              <a:t>⒈ </a:t>
            </a:r>
            <a:r>
              <a:rPr kumimoji="1"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直线对一个投影面的投影特性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18467" name="Text Box 35"/>
          <p:cNvSpPr txBox="1">
            <a:spLocks noChangeArrowheads="1"/>
          </p:cNvSpPr>
          <p:nvPr/>
        </p:nvSpPr>
        <p:spPr bwMode="auto">
          <a:xfrm>
            <a:off x="1768217" y="2573031"/>
            <a:ext cx="343074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一、直线的投影特性</a:t>
            </a:r>
          </a:p>
        </p:txBody>
      </p:sp>
      <p:grpSp>
        <p:nvGrpSpPr>
          <p:cNvPr id="3" name="Group 230"/>
          <p:cNvGrpSpPr>
            <a:grpSpLocks/>
          </p:cNvGrpSpPr>
          <p:nvPr/>
        </p:nvGrpSpPr>
        <p:grpSpPr bwMode="auto">
          <a:xfrm>
            <a:off x="5170488" y="3794126"/>
            <a:ext cx="1682750" cy="1762124"/>
            <a:chOff x="2297" y="2126"/>
            <a:chExt cx="1060" cy="1110"/>
          </a:xfrm>
        </p:grpSpPr>
        <p:sp>
          <p:nvSpPr>
            <p:cNvPr id="39984" name="Text Box 67"/>
            <p:cNvSpPr txBox="1">
              <a:spLocks noChangeArrowheads="1"/>
            </p:cNvSpPr>
            <p:nvPr/>
          </p:nvSpPr>
          <p:spPr bwMode="auto">
            <a:xfrm>
              <a:off x="2921" y="2126"/>
              <a:ext cx="264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>
                  <a:latin typeface="宋体" pitchFamily="2" charset="-122"/>
                </a:rPr>
                <a:t> </a:t>
              </a:r>
              <a:r>
                <a:rPr kumimoji="1" lang="en-US" altLang="zh-CN" b="1" i="1">
                  <a:latin typeface="宋体" pitchFamily="2" charset="-122"/>
                </a:rPr>
                <a:t>B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9985" name="AutoShape 37"/>
            <p:cNvSpPr>
              <a:spLocks noChangeArrowheads="1"/>
            </p:cNvSpPr>
            <p:nvPr/>
          </p:nvSpPr>
          <p:spPr bwMode="auto">
            <a:xfrm>
              <a:off x="2297" y="2791"/>
              <a:ext cx="1060" cy="387"/>
            </a:xfrm>
            <a:prstGeom prst="parallelogram">
              <a:avLst>
                <a:gd name="adj" fmla="val 68475"/>
              </a:avLst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kumimoji="1" lang="zh-CN" altLang="zh-CN" b="1">
                <a:latin typeface="Times New Roman" pitchFamily="18" charset="0"/>
              </a:endParaRPr>
            </a:p>
          </p:txBody>
        </p:sp>
        <p:sp>
          <p:nvSpPr>
            <p:cNvPr id="39986" name="Freeform 40"/>
            <p:cNvSpPr>
              <a:spLocks/>
            </p:cNvSpPr>
            <p:nvPr/>
          </p:nvSpPr>
          <p:spPr bwMode="auto">
            <a:xfrm>
              <a:off x="2547" y="2881"/>
              <a:ext cx="501" cy="233"/>
            </a:xfrm>
            <a:custGeom>
              <a:avLst/>
              <a:gdLst>
                <a:gd name="T0" fmla="*/ 0 w 471"/>
                <a:gd name="T1" fmla="*/ 207 h 207"/>
                <a:gd name="T2" fmla="*/ 471 w 471"/>
                <a:gd name="T3" fmla="*/ 0 h 207"/>
                <a:gd name="T4" fmla="*/ 0 60000 65536"/>
                <a:gd name="T5" fmla="*/ 0 60000 65536"/>
                <a:gd name="T6" fmla="*/ 0 w 471"/>
                <a:gd name="T7" fmla="*/ 0 h 207"/>
                <a:gd name="T8" fmla="*/ 471 w 471"/>
                <a:gd name="T9" fmla="*/ 207 h 20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71" h="207">
                  <a:moveTo>
                    <a:pt x="0" y="207"/>
                  </a:moveTo>
                  <a:lnTo>
                    <a:pt x="471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7" name="Line 43"/>
            <p:cNvSpPr>
              <a:spLocks noChangeShapeType="1"/>
            </p:cNvSpPr>
            <p:nvPr/>
          </p:nvSpPr>
          <p:spPr bwMode="auto">
            <a:xfrm flipV="1">
              <a:off x="2565" y="2517"/>
              <a:ext cx="0" cy="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8" name="Freeform 44"/>
            <p:cNvSpPr>
              <a:spLocks/>
            </p:cNvSpPr>
            <p:nvPr/>
          </p:nvSpPr>
          <p:spPr bwMode="auto">
            <a:xfrm>
              <a:off x="3027" y="2337"/>
              <a:ext cx="0" cy="544"/>
            </a:xfrm>
            <a:custGeom>
              <a:avLst/>
              <a:gdLst>
                <a:gd name="T0" fmla="*/ 0 w 1"/>
                <a:gd name="T1" fmla="*/ 565 h 565"/>
                <a:gd name="T2" fmla="*/ 1 w 1"/>
                <a:gd name="T3" fmla="*/ 0 h 565"/>
                <a:gd name="T4" fmla="*/ 0 60000 65536"/>
                <a:gd name="T5" fmla="*/ 0 60000 65536"/>
                <a:gd name="T6" fmla="*/ 0 w 1"/>
                <a:gd name="T7" fmla="*/ 0 h 565"/>
                <a:gd name="T8" fmla="*/ 1 w 1"/>
                <a:gd name="T9" fmla="*/ 565 h 5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5">
                  <a:moveTo>
                    <a:pt x="0" y="565"/>
                  </a:move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89" name="Freeform 46"/>
            <p:cNvSpPr>
              <a:spLocks/>
            </p:cNvSpPr>
            <p:nvPr/>
          </p:nvSpPr>
          <p:spPr bwMode="auto">
            <a:xfrm>
              <a:off x="2552" y="2316"/>
              <a:ext cx="496" cy="235"/>
            </a:xfrm>
            <a:custGeom>
              <a:avLst/>
              <a:gdLst>
                <a:gd name="T0" fmla="*/ 0 w 471"/>
                <a:gd name="T1" fmla="*/ 207 h 207"/>
                <a:gd name="T2" fmla="*/ 471 w 471"/>
                <a:gd name="T3" fmla="*/ 0 h 207"/>
                <a:gd name="T4" fmla="*/ 0 60000 65536"/>
                <a:gd name="T5" fmla="*/ 0 60000 65536"/>
                <a:gd name="T6" fmla="*/ 0 w 471"/>
                <a:gd name="T7" fmla="*/ 0 h 207"/>
                <a:gd name="T8" fmla="*/ 471 w 471"/>
                <a:gd name="T9" fmla="*/ 207 h 20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71" h="207">
                  <a:moveTo>
                    <a:pt x="0" y="207"/>
                  </a:moveTo>
                  <a:lnTo>
                    <a:pt x="471" y="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90" name="Text Box 66"/>
            <p:cNvSpPr txBox="1">
              <a:spLocks noChangeArrowheads="1"/>
            </p:cNvSpPr>
            <p:nvPr/>
          </p:nvSpPr>
          <p:spPr bwMode="auto">
            <a:xfrm>
              <a:off x="2387" y="2388"/>
              <a:ext cx="190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b="1" i="1">
                  <a:latin typeface="宋体" pitchFamily="2" charset="-122"/>
                </a:rPr>
                <a:t>A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grpSp>
          <p:nvGrpSpPr>
            <p:cNvPr id="39991" name="Group 211"/>
            <p:cNvGrpSpPr>
              <a:grpSpLocks/>
            </p:cNvGrpSpPr>
            <p:nvPr/>
          </p:nvGrpSpPr>
          <p:grpSpPr bwMode="auto">
            <a:xfrm>
              <a:off x="2388" y="2258"/>
              <a:ext cx="828" cy="978"/>
              <a:chOff x="2388" y="2258"/>
              <a:chExt cx="828" cy="978"/>
            </a:xfrm>
          </p:grpSpPr>
          <p:sp>
            <p:nvSpPr>
              <p:cNvPr id="39992" name="Text Box 51"/>
              <p:cNvSpPr txBox="1">
                <a:spLocks noChangeArrowheads="1"/>
              </p:cNvSpPr>
              <p:nvPr/>
            </p:nvSpPr>
            <p:spPr bwMode="auto">
              <a:xfrm>
                <a:off x="2470" y="3026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39993" name="Text Box 52"/>
              <p:cNvSpPr txBox="1">
                <a:spLocks noChangeArrowheads="1"/>
              </p:cNvSpPr>
              <p:nvPr/>
            </p:nvSpPr>
            <p:spPr bwMode="auto">
              <a:xfrm>
                <a:off x="2931" y="2816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39994" name="Text Box 58"/>
              <p:cNvSpPr txBox="1">
                <a:spLocks noChangeArrowheads="1"/>
              </p:cNvSpPr>
              <p:nvPr/>
            </p:nvSpPr>
            <p:spPr bwMode="auto">
              <a:xfrm>
                <a:off x="2470" y="2457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39995" name="Text Box 59"/>
              <p:cNvSpPr txBox="1">
                <a:spLocks noChangeArrowheads="1"/>
              </p:cNvSpPr>
              <p:nvPr/>
            </p:nvSpPr>
            <p:spPr bwMode="auto">
              <a:xfrm>
                <a:off x="2931" y="2258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39996" name="Text Box 68"/>
              <p:cNvSpPr txBox="1">
                <a:spLocks noChangeArrowheads="1"/>
              </p:cNvSpPr>
              <p:nvPr/>
            </p:nvSpPr>
            <p:spPr bwMode="auto">
              <a:xfrm>
                <a:off x="2388" y="2945"/>
                <a:ext cx="216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a</a:t>
                </a:r>
                <a:endParaRPr kumimoji="1" lang="en-US" altLang="zh-CN" b="1">
                  <a:latin typeface="Times New Roman" pitchFamily="18" charset="0"/>
                </a:endParaRPr>
              </a:p>
            </p:txBody>
          </p:sp>
          <p:sp>
            <p:nvSpPr>
              <p:cNvPr id="39997" name="Text Box 70"/>
              <p:cNvSpPr txBox="1">
                <a:spLocks noChangeArrowheads="1"/>
              </p:cNvSpPr>
              <p:nvPr/>
            </p:nvSpPr>
            <p:spPr bwMode="auto">
              <a:xfrm>
                <a:off x="3000" y="2766"/>
                <a:ext cx="216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b</a:t>
                </a:r>
                <a:endParaRPr kumimoji="1" lang="en-US" altLang="zh-CN" b="1">
                  <a:latin typeface="Times New Roman" pitchFamily="18" charset="0"/>
                </a:endParaRPr>
              </a:p>
            </p:txBody>
          </p:sp>
        </p:grpSp>
      </p:grpSp>
      <p:sp>
        <p:nvSpPr>
          <p:cNvPr id="18507" name="Text Box 75"/>
          <p:cNvSpPr txBox="1">
            <a:spLocks noChangeArrowheads="1"/>
          </p:cNvSpPr>
          <p:nvPr/>
        </p:nvSpPr>
        <p:spPr bwMode="auto">
          <a:xfrm>
            <a:off x="1974850" y="5521237"/>
            <a:ext cx="2659702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直线垂直于投影面</a:t>
            </a:r>
          </a:p>
          <a:p>
            <a:r>
              <a:rPr kumimoji="1" lang="zh-CN" altLang="en-US" sz="2400" b="1" dirty="0">
                <a:latin typeface="宋体" pitchFamily="2" charset="-122"/>
              </a:rPr>
              <a:t>投影重合为一点</a:t>
            </a:r>
          </a:p>
          <a:p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   积　聚　性</a:t>
            </a:r>
            <a:endParaRPr kumimoji="1" lang="zh-CN" altLang="en-US" b="1" dirty="0">
              <a:latin typeface="宋体" pitchFamily="2" charset="-122"/>
            </a:endParaRPr>
          </a:p>
        </p:txBody>
      </p:sp>
      <p:sp>
        <p:nvSpPr>
          <p:cNvPr id="18508" name="Text Box 76"/>
          <p:cNvSpPr txBox="1">
            <a:spLocks noChangeArrowheads="1"/>
          </p:cNvSpPr>
          <p:nvPr/>
        </p:nvSpPr>
        <p:spPr bwMode="auto">
          <a:xfrm>
            <a:off x="4770438" y="5500600"/>
            <a:ext cx="2659702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直线平行于投影面</a:t>
            </a:r>
          </a:p>
          <a:p>
            <a:r>
              <a:rPr kumimoji="1" lang="zh-CN" altLang="en-US" sz="2400" b="1" dirty="0">
                <a:latin typeface="Times New Roman" pitchFamily="18" charset="0"/>
              </a:rPr>
              <a:t>投影反映线段实长</a:t>
            </a:r>
          </a:p>
          <a:p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  </a:t>
            </a:r>
            <a:r>
              <a:rPr kumimoji="1" lang="en-US" altLang="zh-CN" sz="2400" i="1" dirty="0">
                <a:solidFill>
                  <a:srgbClr val="FF3300"/>
                </a:solidFill>
                <a:latin typeface="Dutch801 Rm BT" pitchFamily="18" charset="0"/>
              </a:rPr>
              <a:t>ab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=</a:t>
            </a:r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AB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实形性</a:t>
            </a:r>
            <a:endParaRPr kumimoji="1" lang="zh-CN" altLang="en-US" b="1" dirty="0">
              <a:latin typeface="Times New Roman" pitchFamily="18" charset="0"/>
            </a:endParaRPr>
          </a:p>
        </p:txBody>
      </p:sp>
      <p:sp>
        <p:nvSpPr>
          <p:cNvPr id="18509" name="Text Box 77"/>
          <p:cNvSpPr txBox="1">
            <a:spLocks noChangeArrowheads="1"/>
          </p:cNvSpPr>
          <p:nvPr/>
        </p:nvSpPr>
        <p:spPr bwMode="auto">
          <a:xfrm>
            <a:off x="7837488" y="6167438"/>
            <a:ext cx="1841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kumimoji="1" lang="zh-CN" altLang="zh-CN" b="1">
              <a:latin typeface="Times New Roman" pitchFamily="18" charset="0"/>
            </a:endParaRPr>
          </a:p>
        </p:txBody>
      </p:sp>
      <p:sp>
        <p:nvSpPr>
          <p:cNvPr id="18573" name="Text Box 141"/>
          <p:cNvSpPr txBox="1">
            <a:spLocks noChangeArrowheads="1"/>
          </p:cNvSpPr>
          <p:nvPr/>
        </p:nvSpPr>
        <p:spPr bwMode="auto">
          <a:xfrm>
            <a:off x="7691881" y="5435512"/>
            <a:ext cx="2666114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直线倾斜于投影面</a:t>
            </a:r>
          </a:p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投影比空间线段短</a:t>
            </a:r>
          </a:p>
          <a:p>
            <a:pPr algn="ctr"/>
            <a:r>
              <a:rPr kumimoji="1" lang="en-US" altLang="zh-CN" sz="2400" i="1" dirty="0">
                <a:solidFill>
                  <a:srgbClr val="FF3300"/>
                </a:solidFill>
                <a:latin typeface="Dutch801 Rm BT" pitchFamily="18" charset="0"/>
              </a:rPr>
              <a:t>ab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=</a:t>
            </a:r>
            <a:r>
              <a:rPr kumimoji="1" lang="en-US" altLang="zh-CN" sz="2400" b="1" dirty="0" err="1">
                <a:solidFill>
                  <a:srgbClr val="FF3300"/>
                </a:solidFill>
                <a:latin typeface="宋体" pitchFamily="2" charset="-122"/>
              </a:rPr>
              <a:t>AB</a:t>
            </a:r>
            <a:r>
              <a:rPr kumimoji="1" lang="en-US" altLang="zh-CN" sz="2400" b="1" dirty="0" err="1">
                <a:solidFill>
                  <a:srgbClr val="FF3300"/>
                </a:solidFill>
                <a:latin typeface="Times New Roman" pitchFamily="18" charset="0"/>
              </a:rPr>
              <a:t>.cos</a:t>
            </a:r>
            <a:r>
              <a:rPr kumimoji="1" lang="en-US" altLang="zh-CN" sz="2400" b="1" dirty="0">
                <a:solidFill>
                  <a:srgbClr val="FF3300"/>
                </a:solidFill>
                <a:latin typeface="Dutch801 Rm BT" pitchFamily="18" charset="0"/>
                <a:sym typeface="Symbol" pitchFamily="18" charset="2"/>
              </a:rPr>
              <a:t> </a:t>
            </a:r>
            <a:r>
              <a:rPr kumimoji="1" lang="zh-CN" altLang="en-US" sz="2400" b="1" dirty="0">
                <a:solidFill>
                  <a:srgbClr val="FF3300"/>
                </a:solidFill>
                <a:latin typeface="Dutch801 Rm BT" pitchFamily="18" charset="0"/>
                <a:sym typeface="Symbol" pitchFamily="18" charset="2"/>
              </a:rPr>
              <a:t>类似性</a:t>
            </a:r>
          </a:p>
        </p:txBody>
      </p:sp>
      <p:grpSp>
        <p:nvGrpSpPr>
          <p:cNvPr id="5" name="Group 231"/>
          <p:cNvGrpSpPr>
            <a:grpSpLocks/>
          </p:cNvGrpSpPr>
          <p:nvPr/>
        </p:nvGrpSpPr>
        <p:grpSpPr bwMode="auto">
          <a:xfrm>
            <a:off x="8051800" y="3681414"/>
            <a:ext cx="1682750" cy="1620838"/>
            <a:chOff x="4112" y="2055"/>
            <a:chExt cx="1060" cy="1021"/>
          </a:xfrm>
        </p:grpSpPr>
        <p:grpSp>
          <p:nvGrpSpPr>
            <p:cNvPr id="39967" name="Group 124"/>
            <p:cNvGrpSpPr>
              <a:grpSpLocks/>
            </p:cNvGrpSpPr>
            <p:nvPr/>
          </p:nvGrpSpPr>
          <p:grpSpPr bwMode="auto">
            <a:xfrm>
              <a:off x="4223" y="2055"/>
              <a:ext cx="731" cy="999"/>
              <a:chOff x="4223" y="2115"/>
              <a:chExt cx="731" cy="999"/>
            </a:xfrm>
          </p:grpSpPr>
          <p:sp>
            <p:nvSpPr>
              <p:cNvPr id="39980" name="Text Box 125"/>
              <p:cNvSpPr txBox="1">
                <a:spLocks noChangeArrowheads="1"/>
              </p:cNvSpPr>
              <p:nvPr/>
            </p:nvSpPr>
            <p:spPr bwMode="auto">
              <a:xfrm>
                <a:off x="4292" y="2960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39981" name="Text Box 126"/>
              <p:cNvSpPr txBox="1">
                <a:spLocks noChangeArrowheads="1"/>
              </p:cNvSpPr>
              <p:nvPr/>
            </p:nvSpPr>
            <p:spPr bwMode="auto">
              <a:xfrm>
                <a:off x="4666" y="2767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39982" name="Text Box 127"/>
              <p:cNvSpPr txBox="1">
                <a:spLocks noChangeArrowheads="1"/>
              </p:cNvSpPr>
              <p:nvPr/>
            </p:nvSpPr>
            <p:spPr bwMode="auto">
              <a:xfrm>
                <a:off x="4223" y="2466"/>
                <a:ext cx="190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>
                    <a:latin typeface="宋体" pitchFamily="2" charset="-122"/>
                  </a:rPr>
                  <a:t>A</a:t>
                </a:r>
                <a:endParaRPr kumimoji="1" lang="en-US" altLang="zh-CN" b="1">
                  <a:latin typeface="Times New Roman" pitchFamily="18" charset="0"/>
                </a:endParaRPr>
              </a:p>
            </p:txBody>
          </p:sp>
          <p:sp>
            <p:nvSpPr>
              <p:cNvPr id="39983" name="Text Box 128"/>
              <p:cNvSpPr txBox="1">
                <a:spLocks noChangeArrowheads="1"/>
              </p:cNvSpPr>
              <p:nvPr/>
            </p:nvSpPr>
            <p:spPr bwMode="auto">
              <a:xfrm>
                <a:off x="4764" y="2115"/>
                <a:ext cx="190" cy="23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b="1" i="1">
                    <a:latin typeface="宋体" pitchFamily="2" charset="-122"/>
                  </a:rPr>
                  <a:t>B</a:t>
                </a:r>
                <a:endParaRPr kumimoji="1" lang="en-US" altLang="zh-CN" b="1">
                  <a:latin typeface="Times New Roman" pitchFamily="18" charset="0"/>
                </a:endParaRPr>
              </a:p>
            </p:txBody>
          </p:sp>
        </p:grpSp>
        <p:sp>
          <p:nvSpPr>
            <p:cNvPr id="39968" name="AutoShape 130"/>
            <p:cNvSpPr>
              <a:spLocks noChangeArrowheads="1"/>
            </p:cNvSpPr>
            <p:nvPr/>
          </p:nvSpPr>
          <p:spPr bwMode="auto">
            <a:xfrm>
              <a:off x="4112" y="2686"/>
              <a:ext cx="1060" cy="372"/>
            </a:xfrm>
            <a:prstGeom prst="parallelogram">
              <a:avLst>
                <a:gd name="adj" fmla="val 72802"/>
              </a:avLst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69" name="Line 131"/>
            <p:cNvSpPr>
              <a:spLocks noChangeShapeType="1"/>
            </p:cNvSpPr>
            <p:nvPr/>
          </p:nvSpPr>
          <p:spPr bwMode="auto">
            <a:xfrm flipV="1">
              <a:off x="4406" y="2561"/>
              <a:ext cx="0" cy="4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70" name="Line 132"/>
            <p:cNvSpPr>
              <a:spLocks noChangeShapeType="1"/>
            </p:cNvSpPr>
            <p:nvPr/>
          </p:nvSpPr>
          <p:spPr bwMode="auto">
            <a:xfrm flipV="1">
              <a:off x="4772" y="2198"/>
              <a:ext cx="0" cy="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71" name="Line 133"/>
            <p:cNvSpPr>
              <a:spLocks noChangeShapeType="1"/>
            </p:cNvSpPr>
            <p:nvPr/>
          </p:nvSpPr>
          <p:spPr bwMode="auto">
            <a:xfrm flipV="1">
              <a:off x="4406" y="2195"/>
              <a:ext cx="366" cy="36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72" name="Line 134"/>
            <p:cNvSpPr>
              <a:spLocks noChangeShapeType="1"/>
            </p:cNvSpPr>
            <p:nvPr/>
          </p:nvSpPr>
          <p:spPr bwMode="auto">
            <a:xfrm flipV="1">
              <a:off x="4401" y="2365"/>
              <a:ext cx="366" cy="211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39973" name="Group 135"/>
            <p:cNvGrpSpPr>
              <a:grpSpLocks/>
            </p:cNvGrpSpPr>
            <p:nvPr/>
          </p:nvGrpSpPr>
          <p:grpSpPr bwMode="auto">
            <a:xfrm>
              <a:off x="4182" y="2119"/>
              <a:ext cx="798" cy="957"/>
              <a:chOff x="4182" y="2179"/>
              <a:chExt cx="798" cy="957"/>
            </a:xfrm>
          </p:grpSpPr>
          <p:sp>
            <p:nvSpPr>
              <p:cNvPr id="39975" name="Text Box 136"/>
              <p:cNvSpPr txBox="1">
                <a:spLocks noChangeArrowheads="1"/>
              </p:cNvSpPr>
              <p:nvPr/>
            </p:nvSpPr>
            <p:spPr bwMode="auto">
              <a:xfrm>
                <a:off x="4306" y="2542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39976" name="Text Box 137"/>
              <p:cNvSpPr txBox="1">
                <a:spLocks noChangeArrowheads="1"/>
              </p:cNvSpPr>
              <p:nvPr/>
            </p:nvSpPr>
            <p:spPr bwMode="auto">
              <a:xfrm>
                <a:off x="4674" y="2179"/>
                <a:ext cx="197" cy="15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solidFill>
                      <a:srgbClr val="FF3300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39977" name="Text Box 138"/>
              <p:cNvSpPr txBox="1">
                <a:spLocks noChangeArrowheads="1"/>
              </p:cNvSpPr>
              <p:nvPr/>
            </p:nvSpPr>
            <p:spPr bwMode="auto">
              <a:xfrm>
                <a:off x="4182" y="2845"/>
                <a:ext cx="216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a</a:t>
                </a:r>
                <a:endParaRPr kumimoji="1" lang="en-US" altLang="zh-CN" b="1">
                  <a:latin typeface="Times New Roman" pitchFamily="18" charset="0"/>
                </a:endParaRPr>
              </a:p>
            </p:txBody>
          </p:sp>
          <p:sp>
            <p:nvSpPr>
              <p:cNvPr id="39978" name="Text Box 139"/>
              <p:cNvSpPr txBox="1">
                <a:spLocks noChangeArrowheads="1"/>
              </p:cNvSpPr>
              <p:nvPr/>
            </p:nvSpPr>
            <p:spPr bwMode="auto">
              <a:xfrm>
                <a:off x="4764" y="2693"/>
                <a:ext cx="216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b</a:t>
                </a:r>
                <a:endParaRPr kumimoji="1" lang="en-US" altLang="zh-CN" b="1">
                  <a:latin typeface="Times New Roman" pitchFamily="18" charset="0"/>
                </a:endParaRPr>
              </a:p>
            </p:txBody>
          </p:sp>
          <p:sp>
            <p:nvSpPr>
              <p:cNvPr id="39979" name="Line 140"/>
              <p:cNvSpPr>
                <a:spLocks noChangeShapeType="1"/>
              </p:cNvSpPr>
              <p:nvPr/>
            </p:nvSpPr>
            <p:spPr bwMode="auto">
              <a:xfrm flipV="1">
                <a:off x="4406" y="2838"/>
                <a:ext cx="366" cy="211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9974" name="Text Box 142"/>
            <p:cNvSpPr txBox="1">
              <a:spLocks noChangeArrowheads="1"/>
            </p:cNvSpPr>
            <p:nvPr/>
          </p:nvSpPr>
          <p:spPr bwMode="auto">
            <a:xfrm>
              <a:off x="4514" y="2286"/>
              <a:ext cx="217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Dutch801 Rm BT" pitchFamily="18" charset="0"/>
                  <a:sym typeface="Symbol" pitchFamily="18" charset="2"/>
                </a:rPr>
                <a:t></a:t>
              </a:r>
            </a:p>
          </p:txBody>
        </p:sp>
      </p:grpSp>
      <p:grpSp>
        <p:nvGrpSpPr>
          <p:cNvPr id="8" name="Group 216"/>
          <p:cNvGrpSpPr>
            <a:grpSpLocks/>
          </p:cNvGrpSpPr>
          <p:nvPr/>
        </p:nvGrpSpPr>
        <p:grpSpPr bwMode="auto">
          <a:xfrm>
            <a:off x="2255839" y="3735388"/>
            <a:ext cx="1957387" cy="1704976"/>
            <a:chOff x="461" y="2089"/>
            <a:chExt cx="1233" cy="1074"/>
          </a:xfrm>
        </p:grpSpPr>
        <p:grpSp>
          <p:nvGrpSpPr>
            <p:cNvPr id="39954" name="Group 217"/>
            <p:cNvGrpSpPr>
              <a:grpSpLocks/>
            </p:cNvGrpSpPr>
            <p:nvPr/>
          </p:nvGrpSpPr>
          <p:grpSpPr bwMode="auto">
            <a:xfrm>
              <a:off x="914" y="2089"/>
              <a:ext cx="300" cy="739"/>
              <a:chOff x="914" y="1897"/>
              <a:chExt cx="300" cy="739"/>
            </a:xfrm>
          </p:grpSpPr>
          <p:sp>
            <p:nvSpPr>
              <p:cNvPr id="39962" name="Freeform 218"/>
              <p:cNvSpPr>
                <a:spLocks/>
              </p:cNvSpPr>
              <p:nvPr/>
            </p:nvSpPr>
            <p:spPr bwMode="auto">
              <a:xfrm>
                <a:off x="1108" y="2057"/>
                <a:ext cx="106" cy="486"/>
              </a:xfrm>
              <a:custGeom>
                <a:avLst/>
                <a:gdLst>
                  <a:gd name="T0" fmla="*/ 0 w 1"/>
                  <a:gd name="T1" fmla="*/ 0 h 554"/>
                  <a:gd name="T2" fmla="*/ 0 w 1"/>
                  <a:gd name="T3" fmla="*/ 89 h 554"/>
                  <a:gd name="T4" fmla="*/ 0 60000 65536"/>
                  <a:gd name="T5" fmla="*/ 0 60000 65536"/>
                  <a:gd name="T6" fmla="*/ 0 w 1"/>
                  <a:gd name="T7" fmla="*/ 0 h 554"/>
                  <a:gd name="T8" fmla="*/ 1 w 1"/>
                  <a:gd name="T9" fmla="*/ 554 h 5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54">
                    <a:moveTo>
                      <a:pt x="0" y="0"/>
                    </a:moveTo>
                    <a:lnTo>
                      <a:pt x="0" y="554"/>
                    </a:lnTo>
                  </a:path>
                </a:pathLst>
              </a:cu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9963" name="Group 219"/>
              <p:cNvGrpSpPr>
                <a:grpSpLocks/>
              </p:cNvGrpSpPr>
              <p:nvPr/>
            </p:nvGrpSpPr>
            <p:grpSpPr bwMode="auto">
              <a:xfrm>
                <a:off x="914" y="1897"/>
                <a:ext cx="191" cy="739"/>
                <a:chOff x="914" y="1897"/>
                <a:chExt cx="191" cy="739"/>
              </a:xfrm>
            </p:grpSpPr>
            <p:sp>
              <p:nvSpPr>
                <p:cNvPr id="39964" name="Text Box 220"/>
                <p:cNvSpPr txBox="1">
                  <a:spLocks noChangeArrowheads="1"/>
                </p:cNvSpPr>
                <p:nvPr/>
              </p:nvSpPr>
              <p:spPr bwMode="auto">
                <a:xfrm>
                  <a:off x="914" y="1897"/>
                  <a:ext cx="190" cy="33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kumimoji="1" lang="en-US" altLang="zh-CN" b="1" i="1">
                      <a:latin typeface="宋体" pitchFamily="2" charset="-122"/>
                    </a:rPr>
                    <a:t>A</a:t>
                  </a:r>
                  <a:endParaRPr kumimoji="1" lang="en-US" altLang="zh-CN" sz="2800" b="1">
                    <a:latin typeface="Times New Roman" pitchFamily="18" charset="0"/>
                  </a:endParaRPr>
                </a:p>
              </p:txBody>
            </p:sp>
            <p:sp>
              <p:nvSpPr>
                <p:cNvPr id="39965" name="Text Box 221"/>
                <p:cNvSpPr txBox="1">
                  <a:spLocks noChangeArrowheads="1"/>
                </p:cNvSpPr>
                <p:nvPr/>
              </p:nvSpPr>
              <p:spPr bwMode="auto">
                <a:xfrm>
                  <a:off x="915" y="2194"/>
                  <a:ext cx="190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kumimoji="1" lang="en-US" altLang="zh-CN" b="1" i="1">
                      <a:latin typeface="宋体" pitchFamily="2" charset="-122"/>
                    </a:rPr>
                    <a:t>M</a:t>
                  </a:r>
                  <a:endParaRPr kumimoji="1" lang="en-US" altLang="zh-CN" b="1">
                    <a:latin typeface="Times New Roman" pitchFamily="18" charset="0"/>
                  </a:endParaRPr>
                </a:p>
              </p:txBody>
            </p:sp>
            <p:sp>
              <p:nvSpPr>
                <p:cNvPr id="39966" name="Text Box 222"/>
                <p:cNvSpPr txBox="1">
                  <a:spLocks noChangeArrowheads="1"/>
                </p:cNvSpPr>
                <p:nvPr/>
              </p:nvSpPr>
              <p:spPr bwMode="auto">
                <a:xfrm>
                  <a:off x="915" y="2403"/>
                  <a:ext cx="190" cy="233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kumimoji="1" lang="en-US" altLang="zh-CN" b="1" i="1">
                      <a:latin typeface="宋体" pitchFamily="2" charset="-122"/>
                    </a:rPr>
                    <a:t>B</a:t>
                  </a:r>
                  <a:endParaRPr kumimoji="1" lang="en-US" altLang="zh-CN" b="1"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39955" name="Text Box 223"/>
            <p:cNvSpPr txBox="1">
              <a:spLocks noChangeArrowheads="1"/>
            </p:cNvSpPr>
            <p:nvPr/>
          </p:nvSpPr>
          <p:spPr bwMode="auto">
            <a:xfrm>
              <a:off x="1008" y="2635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39956" name="AutoShape 224"/>
            <p:cNvSpPr>
              <a:spLocks noChangeArrowheads="1"/>
            </p:cNvSpPr>
            <p:nvPr/>
          </p:nvSpPr>
          <p:spPr bwMode="auto">
            <a:xfrm>
              <a:off x="461" y="2844"/>
              <a:ext cx="1233" cy="308"/>
            </a:xfrm>
            <a:prstGeom prst="parallelogram">
              <a:avLst>
                <a:gd name="adj" fmla="val 100081"/>
              </a:avLst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57" name="Text Box 225"/>
            <p:cNvSpPr txBox="1">
              <a:spLocks noChangeArrowheads="1"/>
            </p:cNvSpPr>
            <p:nvPr/>
          </p:nvSpPr>
          <p:spPr bwMode="auto">
            <a:xfrm>
              <a:off x="831" y="2872"/>
              <a:ext cx="63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b="1">
                  <a:latin typeface="Times New Roman" pitchFamily="18" charset="0"/>
                </a:rPr>
                <a:t>≡</a:t>
              </a:r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b="1">
                  <a:latin typeface="Times New Roman" pitchFamily="18" charset="0"/>
                </a:rPr>
                <a:t>≡</a:t>
              </a:r>
              <a:r>
                <a:rPr kumimoji="1" lang="en-US" altLang="zh-CN" sz="2400" i="1">
                  <a:latin typeface="Dutch801 Rm BT" pitchFamily="18" charset="0"/>
                </a:rPr>
                <a:t>m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39958" name="Text Box 226"/>
            <p:cNvSpPr txBox="1">
              <a:spLocks noChangeArrowheads="1"/>
            </p:cNvSpPr>
            <p:nvPr/>
          </p:nvSpPr>
          <p:spPr bwMode="auto">
            <a:xfrm>
              <a:off x="1009" y="2848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39959" name="Line 227"/>
            <p:cNvSpPr>
              <a:spLocks noChangeShapeType="1"/>
            </p:cNvSpPr>
            <p:nvPr/>
          </p:nvSpPr>
          <p:spPr bwMode="auto">
            <a:xfrm>
              <a:off x="1110" y="2735"/>
              <a:ext cx="0" cy="1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960" name="Text Box 228"/>
            <p:cNvSpPr txBox="1">
              <a:spLocks noChangeArrowheads="1"/>
            </p:cNvSpPr>
            <p:nvPr/>
          </p:nvSpPr>
          <p:spPr bwMode="auto">
            <a:xfrm>
              <a:off x="1009" y="2167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39961" name="Text Box 229"/>
            <p:cNvSpPr txBox="1">
              <a:spLocks noChangeArrowheads="1"/>
            </p:cNvSpPr>
            <p:nvPr/>
          </p:nvSpPr>
          <p:spPr bwMode="auto">
            <a:xfrm>
              <a:off x="1008" y="2427"/>
              <a:ext cx="19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80" name="Rectangle 2"/>
          <p:cNvSpPr txBox="1">
            <a:spLocks noChangeArrowheads="1"/>
          </p:cNvSpPr>
          <p:nvPr/>
        </p:nvSpPr>
        <p:spPr bwMode="auto">
          <a:xfrm>
            <a:off x="3095626" y="214313"/>
            <a:ext cx="6340475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8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18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75"/>
                                        <p:tgtEl>
                                          <p:spTgt spid="18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75"/>
                                        <p:tgtEl>
                                          <p:spTgt spid="18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75"/>
                                        <p:tgtEl>
                                          <p:spTgt spid="18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75"/>
                                        <p:tgtEl>
                                          <p:spTgt spid="18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75"/>
                                        <p:tgtEl>
                                          <p:spTgt spid="18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8"/>
                                    </p:cond>
                                  </p:end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75"/>
                                        <p:tgtEl>
                                          <p:spTgt spid="18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75"/>
                                        <p:tgtEl>
                                          <p:spTgt spid="18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75"/>
                                        <p:tgtEl>
                                          <p:spTgt spid="185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75"/>
                                        <p:tgtEl>
                                          <p:spTgt spid="185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3" grpId="0" animBg="1"/>
      <p:bldP spid="18462" grpId="0" animBg="1"/>
      <p:bldP spid="18461" grpId="0" animBg="1"/>
      <p:bldP spid="18465" grpId="0" autoUpdateAnimBg="0"/>
      <p:bldP spid="18466" grpId="0" autoUpdateAnimBg="0"/>
      <p:bldP spid="18467" grpId="0" build="p" autoUpdateAnimBg="0"/>
      <p:bldP spid="18507" grpId="0" build="p" autoUpdateAnimBg="0"/>
      <p:bldP spid="18508" grpId="0" build="p" autoUpdateAnimBg="0"/>
      <p:bldP spid="18509" grpId="0" build="p" autoUpdateAnimBg="0"/>
      <p:bldP spid="18573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1318450" y="1277634"/>
            <a:ext cx="5955476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800" b="1" dirty="0">
                <a:latin typeface="宋体" pitchFamily="2" charset="-122"/>
              </a:rPr>
              <a:t>二、直线在三个投影面中的投影特性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4711701" y="3086051"/>
            <a:ext cx="2328863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投影面平行线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 flipH="1">
            <a:off x="876302" y="2746327"/>
            <a:ext cx="3933825" cy="1295400"/>
            <a:chOff x="3325" y="665"/>
            <a:chExt cx="2478" cy="816"/>
          </a:xfrm>
        </p:grpSpPr>
        <p:sp>
          <p:nvSpPr>
            <p:cNvPr id="40983" name="AutoShape 8"/>
            <p:cNvSpPr>
              <a:spLocks noChangeArrowheads="1"/>
            </p:cNvSpPr>
            <p:nvPr/>
          </p:nvSpPr>
          <p:spPr bwMode="auto">
            <a:xfrm>
              <a:off x="3325" y="665"/>
              <a:ext cx="2314" cy="816"/>
            </a:xfrm>
            <a:prstGeom prst="leftArrow">
              <a:avLst>
                <a:gd name="adj1" fmla="val 50000"/>
                <a:gd name="adj2" fmla="val 77927"/>
              </a:avLst>
            </a:prstGeom>
            <a:solidFill>
              <a:srgbClr val="00FF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4" name="Text Box 4"/>
            <p:cNvSpPr txBox="1">
              <a:spLocks noChangeArrowheads="1"/>
            </p:cNvSpPr>
            <p:nvPr/>
          </p:nvSpPr>
          <p:spPr bwMode="auto">
            <a:xfrm>
              <a:off x="3675" y="811"/>
              <a:ext cx="2128" cy="52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Times New Roman" pitchFamily="18" charset="0"/>
                </a:rPr>
                <a:t>平行于某一投影面而</a:t>
              </a:r>
            </a:p>
            <a:p>
              <a:pPr algn="ctr"/>
              <a:r>
                <a:rPr kumimoji="1" lang="zh-CN" altLang="en-US" sz="2400" b="1" dirty="0">
                  <a:latin typeface="Times New Roman" pitchFamily="18" charset="0"/>
                </a:rPr>
                <a:t>与其余两投影面倾斜</a:t>
              </a:r>
            </a:p>
          </p:txBody>
        </p:sp>
      </p:grp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4727576" y="4764038"/>
            <a:ext cx="2492375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 b="1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投影面垂直线</a:t>
            </a:r>
            <a:endParaRPr kumimoji="1" lang="zh-CN" altLang="en-US" sz="2800" b="1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7153275" y="2651075"/>
            <a:ext cx="3263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正平线（平行于Ｖ面）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7153275" y="3125094"/>
            <a:ext cx="327846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>
                <a:latin typeface="Times New Roman" pitchFamily="18" charset="0"/>
              </a:rPr>
              <a:t>侧平线（平行于Ｗ面）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7278688" y="3602570"/>
            <a:ext cx="29940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水平线（平行于Ｈ面）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7173913" y="4402088"/>
            <a:ext cx="32639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正垂线（垂直于Ｖ面）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7173913" y="4810075"/>
            <a:ext cx="32512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>
                <a:latin typeface="Times New Roman" pitchFamily="18" charset="0"/>
              </a:rPr>
              <a:t>侧垂线（垂直于Ｗ面）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7273926" y="5257627"/>
            <a:ext cx="315118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铅垂线（垂直于Ｈ面）</a:t>
            </a:r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7123113" y="5910089"/>
            <a:ext cx="2882900" cy="5191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 b="1">
                <a:solidFill>
                  <a:srgbClr val="FF3300"/>
                </a:solidFill>
                <a:latin typeface="Times New Roman" pitchFamily="18" charset="0"/>
                <a:ea typeface="黑体" pitchFamily="49" charset="-122"/>
              </a:rPr>
              <a:t>一般位置直线</a:t>
            </a:r>
            <a:endParaRPr kumimoji="1" lang="zh-CN" altLang="en-US" sz="2800" b="1">
              <a:latin typeface="Times New Roman" pitchFamily="18" charset="0"/>
              <a:ea typeface="黑体" pitchFamily="49" charset="-122"/>
            </a:endParaRP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103438" y="5805214"/>
            <a:ext cx="4849813" cy="792979"/>
            <a:chOff x="1777" y="3294"/>
            <a:chExt cx="2997" cy="390"/>
          </a:xfrm>
        </p:grpSpPr>
        <p:sp>
          <p:nvSpPr>
            <p:cNvPr id="40981" name="AutoShape 26"/>
            <p:cNvSpPr>
              <a:spLocks noChangeArrowheads="1"/>
            </p:cNvSpPr>
            <p:nvPr/>
          </p:nvSpPr>
          <p:spPr bwMode="auto">
            <a:xfrm>
              <a:off x="1777" y="3294"/>
              <a:ext cx="2997" cy="390"/>
            </a:xfrm>
            <a:prstGeom prst="horizontalScroll">
              <a:avLst>
                <a:gd name="adj" fmla="val 12500"/>
              </a:avLst>
            </a:prstGeom>
            <a:solidFill>
              <a:srgbClr val="99FF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982" name="Text Box 27"/>
            <p:cNvSpPr txBox="1">
              <a:spLocks noChangeArrowheads="1"/>
            </p:cNvSpPr>
            <p:nvPr/>
          </p:nvSpPr>
          <p:spPr bwMode="auto">
            <a:xfrm>
              <a:off x="2062" y="3351"/>
              <a:ext cx="2432" cy="288"/>
            </a:xfrm>
            <a:prstGeom prst="rect">
              <a:avLst/>
            </a:prstGeom>
            <a:solidFill>
              <a:srgbClr val="99FF99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9900CC"/>
                  </a:solidFill>
                  <a:latin typeface="Times New Roman" pitchFamily="18" charset="0"/>
                </a:rPr>
                <a:t>与三个投影面都倾斜的直线</a:t>
              </a:r>
              <a:endParaRPr kumimoji="1" lang="zh-CN" altLang="en-US" sz="2000" dirty="0">
                <a:solidFill>
                  <a:srgbClr val="9900CC"/>
                </a:solidFill>
                <a:latin typeface="Times New Roman" pitchFamily="18" charset="0"/>
              </a:endParaRPr>
            </a:p>
          </p:txBody>
        </p:sp>
      </p:grpSp>
      <p:sp>
        <p:nvSpPr>
          <p:cNvPr id="21533" name="AutoShape 29"/>
          <p:cNvSpPr>
            <a:spLocks noChangeArrowheads="1"/>
          </p:cNvSpPr>
          <p:nvPr/>
        </p:nvSpPr>
        <p:spPr bwMode="auto">
          <a:xfrm>
            <a:off x="4333876" y="3713362"/>
            <a:ext cx="2741613" cy="917079"/>
          </a:xfrm>
          <a:prstGeom prst="upDownArrowCallout">
            <a:avLst>
              <a:gd name="adj1" fmla="val 82082"/>
              <a:gd name="adj2" fmla="val 82082"/>
              <a:gd name="adj3" fmla="val 12500"/>
              <a:gd name="adj4" fmla="val 50000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400" b="1" dirty="0">
                <a:solidFill>
                  <a:srgbClr val="006600"/>
                </a:solidFill>
                <a:latin typeface="Times New Roman" pitchFamily="18" charset="0"/>
              </a:rPr>
              <a:t>统称特殊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位置</a:t>
            </a:r>
            <a:r>
              <a:rPr kumimoji="1" lang="zh-CN" altLang="en-US" sz="2400" b="1" dirty="0">
                <a:solidFill>
                  <a:srgbClr val="006600"/>
                </a:solidFill>
                <a:latin typeface="Times New Roman" pitchFamily="18" charset="0"/>
              </a:rPr>
              <a:t>直线</a:t>
            </a:r>
            <a:endParaRPr kumimoji="1" lang="zh-CN" altLang="en-US" b="1" dirty="0">
              <a:solidFill>
                <a:srgbClr val="006600"/>
              </a:solidFill>
              <a:latin typeface="Times New Roman" pitchFamily="18" charset="0"/>
            </a:endParaRPr>
          </a:p>
        </p:txBody>
      </p:sp>
      <p:sp>
        <p:nvSpPr>
          <p:cNvPr id="21541" name="AutoShape 37"/>
          <p:cNvSpPr>
            <a:spLocks/>
          </p:cNvSpPr>
          <p:nvPr/>
        </p:nvSpPr>
        <p:spPr bwMode="auto">
          <a:xfrm>
            <a:off x="6996909" y="2773687"/>
            <a:ext cx="176213" cy="1104151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1524001" y="4440189"/>
            <a:ext cx="3190875" cy="1284288"/>
            <a:chOff x="0" y="2411"/>
            <a:chExt cx="2010" cy="809"/>
          </a:xfrm>
        </p:grpSpPr>
        <p:sp>
          <p:nvSpPr>
            <p:cNvPr id="40979" name="AutoShape 38"/>
            <p:cNvSpPr>
              <a:spLocks noChangeArrowheads="1"/>
            </p:cNvSpPr>
            <p:nvPr/>
          </p:nvSpPr>
          <p:spPr bwMode="auto">
            <a:xfrm>
              <a:off x="0" y="2411"/>
              <a:ext cx="2010" cy="809"/>
            </a:xfrm>
            <a:prstGeom prst="notchedRightArrow">
              <a:avLst>
                <a:gd name="adj1" fmla="val 50000"/>
                <a:gd name="adj2" fmla="val 66468"/>
              </a:avLst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endParaRPr kumimoji="1" lang="en-US" altLang="zh-CN" b="1">
                <a:solidFill>
                  <a:schemeClr val="tx2"/>
                </a:solidFill>
                <a:latin typeface="Times New Roman" pitchFamily="18" charset="0"/>
              </a:endParaRPr>
            </a:p>
            <a:p>
              <a:pPr algn="ctr"/>
              <a:endParaRPr kumimoji="1" lang="en-US" altLang="zh-CN" b="1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40980" name="Text Box 41"/>
            <p:cNvSpPr txBox="1">
              <a:spLocks noChangeArrowheads="1"/>
            </p:cNvSpPr>
            <p:nvPr/>
          </p:nvSpPr>
          <p:spPr bwMode="auto">
            <a:xfrm flipH="1">
              <a:off x="212" y="2651"/>
              <a:ext cx="166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sz="2400" b="1">
                  <a:solidFill>
                    <a:srgbClr val="9900CC"/>
                  </a:solidFill>
                  <a:latin typeface="Times New Roman" pitchFamily="18" charset="0"/>
                </a:rPr>
                <a:t>垂直于某一投影面</a:t>
              </a:r>
            </a:p>
          </p:txBody>
        </p:sp>
      </p:grpSp>
      <p:sp>
        <p:nvSpPr>
          <p:cNvPr id="21547" name="AutoShape 43"/>
          <p:cNvSpPr>
            <a:spLocks/>
          </p:cNvSpPr>
          <p:nvPr/>
        </p:nvSpPr>
        <p:spPr bwMode="auto">
          <a:xfrm>
            <a:off x="7034213" y="4465291"/>
            <a:ext cx="157163" cy="1168996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1548" name="Text Box 44"/>
          <p:cNvSpPr txBox="1">
            <a:spLocks noChangeArrowheads="1"/>
          </p:cNvSpPr>
          <p:nvPr/>
        </p:nvSpPr>
        <p:spPr bwMode="auto">
          <a:xfrm>
            <a:off x="2103438" y="1842106"/>
            <a:ext cx="8221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其投影特性取决于直线与三个投影面间的相对位置</a:t>
            </a:r>
          </a:p>
        </p:txBody>
      </p:sp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1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"/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"/>
                                        <p:tgtEl>
                                          <p:spTgt spid="21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75"/>
                                        <p:tgtEl>
                                          <p:spTgt spid="21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75"/>
                                        <p:tgtEl>
                                          <p:spTgt spid="21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  <p:bldP spid="21515" grpId="0" autoUpdateAnimBg="0"/>
      <p:bldP spid="21509" grpId="0" build="p" autoUpdateAnimBg="0"/>
      <p:bldP spid="21510" grpId="0" build="p" autoUpdateAnimBg="0"/>
      <p:bldP spid="21511" grpId="0" build="p" autoUpdateAnimBg="0"/>
      <p:bldP spid="21517" grpId="0" build="p" autoUpdateAnimBg="0"/>
      <p:bldP spid="21518" grpId="0" build="p" autoUpdateAnimBg="0"/>
      <p:bldP spid="21519" grpId="0" build="p" autoUpdateAnimBg="0"/>
      <p:bldP spid="21529" grpId="0" autoUpdateAnimBg="0"/>
      <p:bldP spid="21533" grpId="0" animBg="1" autoUpdateAnimBg="0"/>
      <p:bldP spid="21541" grpId="0" animBg="1"/>
      <p:bldP spid="21547" grpId="0" animBg="1"/>
      <p:bldP spid="21548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1212236" y="1373054"/>
            <a:ext cx="2799164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Times New Roman" pitchFamily="18" charset="0"/>
              </a:rPr>
              <a:t>⑴ </a:t>
            </a:r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投影面平行线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sp>
        <p:nvSpPr>
          <p:cNvPr id="85007" name="Rectangle 15"/>
          <p:cNvSpPr>
            <a:spLocks noChangeArrowheads="1"/>
          </p:cNvSpPr>
          <p:nvPr/>
        </p:nvSpPr>
        <p:spPr bwMode="auto">
          <a:xfrm>
            <a:off x="7795932" y="5819315"/>
            <a:ext cx="232436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b="1">
                <a:solidFill>
                  <a:srgbClr val="000000"/>
                </a:solidFill>
                <a:latin typeface="宋体" pitchFamily="2" charset="-122"/>
              </a:rPr>
              <a:t>γ</a:t>
            </a:r>
            <a:endParaRPr kumimoji="1" lang="en-US" altLang="zh-CN" sz="2800" b="1">
              <a:latin typeface="Times New Roman" pitchFamily="18" charset="0"/>
            </a:endParaRPr>
          </a:p>
        </p:txBody>
      </p:sp>
      <p:sp>
        <p:nvSpPr>
          <p:cNvPr id="85014" name="Freeform 22"/>
          <p:cNvSpPr>
            <a:spLocks/>
          </p:cNvSpPr>
          <p:nvPr/>
        </p:nvSpPr>
        <p:spPr bwMode="auto">
          <a:xfrm>
            <a:off x="7867701" y="6076490"/>
            <a:ext cx="173037" cy="79375"/>
          </a:xfrm>
          <a:custGeom>
            <a:avLst/>
            <a:gdLst>
              <a:gd name="T0" fmla="*/ 2147483647 w 109"/>
              <a:gd name="T1" fmla="*/ 0 h 50"/>
              <a:gd name="T2" fmla="*/ 2147483647 w 109"/>
              <a:gd name="T3" fmla="*/ 2147483647 h 50"/>
              <a:gd name="T4" fmla="*/ 0 w 109"/>
              <a:gd name="T5" fmla="*/ 2147483647 h 50"/>
              <a:gd name="T6" fmla="*/ 2147483647 w 109"/>
              <a:gd name="T7" fmla="*/ 2147483647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9"/>
              <a:gd name="T13" fmla="*/ 0 h 50"/>
              <a:gd name="T14" fmla="*/ 109 w 109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9" h="50">
                <a:moveTo>
                  <a:pt x="109" y="0"/>
                </a:moveTo>
                <a:lnTo>
                  <a:pt x="46" y="11"/>
                </a:lnTo>
                <a:lnTo>
                  <a:pt x="0" y="50"/>
                </a:lnTo>
                <a:lnTo>
                  <a:pt x="1" y="5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017" name="Rectangle 25"/>
          <p:cNvSpPr>
            <a:spLocks noChangeArrowheads="1"/>
          </p:cNvSpPr>
          <p:nvPr/>
        </p:nvSpPr>
        <p:spPr bwMode="auto">
          <a:xfrm>
            <a:off x="7640481" y="5757403"/>
            <a:ext cx="20678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</a:rPr>
              <a:t>β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85020" name="Freeform 28"/>
          <p:cNvSpPr>
            <a:spLocks/>
          </p:cNvSpPr>
          <p:nvPr/>
        </p:nvSpPr>
        <p:spPr bwMode="auto">
          <a:xfrm>
            <a:off x="7578775" y="5754227"/>
            <a:ext cx="57150" cy="150812"/>
          </a:xfrm>
          <a:custGeom>
            <a:avLst/>
            <a:gdLst>
              <a:gd name="T0" fmla="*/ 0 w 36"/>
              <a:gd name="T1" fmla="*/ 2147483647 h 95"/>
              <a:gd name="T2" fmla="*/ 2147483647 w 36"/>
              <a:gd name="T3" fmla="*/ 2147483647 h 95"/>
              <a:gd name="T4" fmla="*/ 2147483647 w 36"/>
              <a:gd name="T5" fmla="*/ 0 h 95"/>
              <a:gd name="T6" fmla="*/ 2147483647 w 36"/>
              <a:gd name="T7" fmla="*/ 0 h 95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95"/>
              <a:gd name="T14" fmla="*/ 36 w 36"/>
              <a:gd name="T15" fmla="*/ 95 h 9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95">
                <a:moveTo>
                  <a:pt x="0" y="95"/>
                </a:moveTo>
                <a:lnTo>
                  <a:pt x="32" y="50"/>
                </a:lnTo>
                <a:lnTo>
                  <a:pt x="3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91" name="Rectangle 68"/>
          <p:cNvSpPr>
            <a:spLocks noChangeArrowheads="1"/>
          </p:cNvSpPr>
          <p:nvPr/>
        </p:nvSpPr>
        <p:spPr bwMode="auto">
          <a:xfrm>
            <a:off x="6925653" y="5384340"/>
            <a:ext cx="13625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100" b="1">
                <a:latin typeface="宋体" pitchFamily="2" charset="-122"/>
              </a:rPr>
              <a:t>X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41992" name="Rectangle 72"/>
          <p:cNvSpPr>
            <a:spLocks noChangeArrowheads="1"/>
          </p:cNvSpPr>
          <p:nvPr/>
        </p:nvSpPr>
        <p:spPr bwMode="auto">
          <a:xfrm>
            <a:off x="8549666" y="4160378"/>
            <a:ext cx="13625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100" b="1">
                <a:latin typeface="宋体" pitchFamily="2" charset="-122"/>
              </a:rPr>
              <a:t>Z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grpSp>
        <p:nvGrpSpPr>
          <p:cNvPr id="41993" name="Group 112"/>
          <p:cNvGrpSpPr>
            <a:grpSpLocks/>
          </p:cNvGrpSpPr>
          <p:nvPr/>
        </p:nvGrpSpPr>
        <p:grpSpPr bwMode="auto">
          <a:xfrm>
            <a:off x="7104112" y="4250864"/>
            <a:ext cx="2598738" cy="2533650"/>
            <a:chOff x="3183" y="745"/>
            <a:chExt cx="1637" cy="1596"/>
          </a:xfrm>
        </p:grpSpPr>
        <p:sp>
          <p:nvSpPr>
            <p:cNvPr id="42047" name="Freeform 35"/>
            <p:cNvSpPr>
              <a:spLocks/>
            </p:cNvSpPr>
            <p:nvPr/>
          </p:nvSpPr>
          <p:spPr bwMode="auto">
            <a:xfrm>
              <a:off x="3373" y="981"/>
              <a:ext cx="400" cy="1"/>
            </a:xfrm>
            <a:custGeom>
              <a:avLst/>
              <a:gdLst>
                <a:gd name="T0" fmla="*/ 0 w 1202"/>
                <a:gd name="T1" fmla="*/ 0 h 1"/>
                <a:gd name="T2" fmla="*/ 0 w 1202"/>
                <a:gd name="T3" fmla="*/ 0 h 1"/>
                <a:gd name="T4" fmla="*/ 0 w 1202"/>
                <a:gd name="T5" fmla="*/ 0 h 1"/>
                <a:gd name="T6" fmla="*/ 0 60000 65536"/>
                <a:gd name="T7" fmla="*/ 0 60000 65536"/>
                <a:gd name="T8" fmla="*/ 0 60000 65536"/>
                <a:gd name="T9" fmla="*/ 0 w 1202"/>
                <a:gd name="T10" fmla="*/ 0 h 1"/>
                <a:gd name="T11" fmla="*/ 1202 w 120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2" h="1">
                  <a:moveTo>
                    <a:pt x="0" y="0"/>
                  </a:moveTo>
                  <a:lnTo>
                    <a:pt x="1201" y="0"/>
                  </a:lnTo>
                  <a:lnTo>
                    <a:pt x="120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8" name="Text Box 99"/>
            <p:cNvSpPr txBox="1">
              <a:spLocks noChangeArrowheads="1"/>
            </p:cNvSpPr>
            <p:nvPr/>
          </p:nvSpPr>
          <p:spPr bwMode="auto">
            <a:xfrm>
              <a:off x="4228" y="749"/>
              <a:ext cx="20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″</a:t>
              </a:r>
            </a:p>
          </p:txBody>
        </p:sp>
        <p:sp>
          <p:nvSpPr>
            <p:cNvPr id="42049" name="Freeform 9"/>
            <p:cNvSpPr>
              <a:spLocks/>
            </p:cNvSpPr>
            <p:nvPr/>
          </p:nvSpPr>
          <p:spPr bwMode="auto">
            <a:xfrm>
              <a:off x="3773" y="2040"/>
              <a:ext cx="754" cy="1"/>
            </a:xfrm>
            <a:custGeom>
              <a:avLst/>
              <a:gdLst>
                <a:gd name="T0" fmla="*/ 0 w 2263"/>
                <a:gd name="T1" fmla="*/ 0 h 1"/>
                <a:gd name="T2" fmla="*/ 0 w 2263"/>
                <a:gd name="T3" fmla="*/ 0 h 1"/>
                <a:gd name="T4" fmla="*/ 0 w 2263"/>
                <a:gd name="T5" fmla="*/ 0 h 1"/>
                <a:gd name="T6" fmla="*/ 0 60000 65536"/>
                <a:gd name="T7" fmla="*/ 0 60000 65536"/>
                <a:gd name="T8" fmla="*/ 0 60000 65536"/>
                <a:gd name="T9" fmla="*/ 0 w 2263"/>
                <a:gd name="T10" fmla="*/ 0 h 1"/>
                <a:gd name="T11" fmla="*/ 2263 w 226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3" h="1">
                  <a:moveTo>
                    <a:pt x="226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0" name="Freeform 10"/>
            <p:cNvSpPr>
              <a:spLocks/>
            </p:cNvSpPr>
            <p:nvPr/>
          </p:nvSpPr>
          <p:spPr bwMode="auto">
            <a:xfrm>
              <a:off x="4178" y="981"/>
              <a:ext cx="350" cy="1"/>
            </a:xfrm>
            <a:custGeom>
              <a:avLst/>
              <a:gdLst>
                <a:gd name="T0" fmla="*/ 0 w 1048"/>
                <a:gd name="T1" fmla="*/ 0 h 1"/>
                <a:gd name="T2" fmla="*/ 0 w 1048"/>
                <a:gd name="T3" fmla="*/ 0 h 1"/>
                <a:gd name="T4" fmla="*/ 0 w 1048"/>
                <a:gd name="T5" fmla="*/ 0 h 1"/>
                <a:gd name="T6" fmla="*/ 0 60000 65536"/>
                <a:gd name="T7" fmla="*/ 0 60000 65536"/>
                <a:gd name="T8" fmla="*/ 0 60000 65536"/>
                <a:gd name="T9" fmla="*/ 0 w 1048"/>
                <a:gd name="T10" fmla="*/ 0 h 1"/>
                <a:gd name="T11" fmla="*/ 1048 w 104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48" h="1">
                  <a:moveTo>
                    <a:pt x="0" y="0"/>
                  </a:moveTo>
                  <a:lnTo>
                    <a:pt x="1047" y="0"/>
                  </a:lnTo>
                  <a:lnTo>
                    <a:pt x="1048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1" name="Freeform 16"/>
            <p:cNvSpPr>
              <a:spLocks/>
            </p:cNvSpPr>
            <p:nvPr/>
          </p:nvSpPr>
          <p:spPr bwMode="auto">
            <a:xfrm>
              <a:off x="3183" y="1565"/>
              <a:ext cx="1496" cy="1"/>
            </a:xfrm>
            <a:custGeom>
              <a:avLst/>
              <a:gdLst>
                <a:gd name="T0" fmla="*/ 0 w 4489"/>
                <a:gd name="T1" fmla="*/ 0 h 1"/>
                <a:gd name="T2" fmla="*/ 0 w 4489"/>
                <a:gd name="T3" fmla="*/ 0 h 1"/>
                <a:gd name="T4" fmla="*/ 0 w 4489"/>
                <a:gd name="T5" fmla="*/ 0 h 1"/>
                <a:gd name="T6" fmla="*/ 0 60000 65536"/>
                <a:gd name="T7" fmla="*/ 0 60000 65536"/>
                <a:gd name="T8" fmla="*/ 0 60000 65536"/>
                <a:gd name="T9" fmla="*/ 0 w 4489"/>
                <a:gd name="T10" fmla="*/ 0 h 1"/>
                <a:gd name="T11" fmla="*/ 4489 w 44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89" h="1">
                  <a:moveTo>
                    <a:pt x="0" y="0"/>
                  </a:moveTo>
                  <a:lnTo>
                    <a:pt x="4488" y="0"/>
                  </a:lnTo>
                  <a:lnTo>
                    <a:pt x="4489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2" name="Freeform 17"/>
            <p:cNvSpPr>
              <a:spLocks/>
            </p:cNvSpPr>
            <p:nvPr/>
          </p:nvSpPr>
          <p:spPr bwMode="auto">
            <a:xfrm>
              <a:off x="4053" y="1565"/>
              <a:ext cx="539" cy="539"/>
            </a:xfrm>
            <a:custGeom>
              <a:avLst/>
              <a:gdLst>
                <a:gd name="T0" fmla="*/ 0 w 1617"/>
                <a:gd name="T1" fmla="*/ 0 h 1617"/>
                <a:gd name="T2" fmla="*/ 0 w 1617"/>
                <a:gd name="T3" fmla="*/ 0 h 1617"/>
                <a:gd name="T4" fmla="*/ 0 w 1617"/>
                <a:gd name="T5" fmla="*/ 0 h 1617"/>
                <a:gd name="T6" fmla="*/ 0 60000 65536"/>
                <a:gd name="T7" fmla="*/ 0 60000 65536"/>
                <a:gd name="T8" fmla="*/ 0 60000 65536"/>
                <a:gd name="T9" fmla="*/ 0 w 1617"/>
                <a:gd name="T10" fmla="*/ 0 h 1617"/>
                <a:gd name="T11" fmla="*/ 1617 w 1617"/>
                <a:gd name="T12" fmla="*/ 1617 h 16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17" h="1617">
                  <a:moveTo>
                    <a:pt x="0" y="0"/>
                  </a:moveTo>
                  <a:lnTo>
                    <a:pt x="1616" y="1617"/>
                  </a:lnTo>
                  <a:lnTo>
                    <a:pt x="1617" y="161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3" name="Freeform 18"/>
            <p:cNvSpPr>
              <a:spLocks/>
            </p:cNvSpPr>
            <p:nvPr/>
          </p:nvSpPr>
          <p:spPr bwMode="auto">
            <a:xfrm>
              <a:off x="4178" y="981"/>
              <a:ext cx="1" cy="711"/>
            </a:xfrm>
            <a:custGeom>
              <a:avLst/>
              <a:gdLst>
                <a:gd name="T0" fmla="*/ 0 w 1"/>
                <a:gd name="T1" fmla="*/ 0 h 2132"/>
                <a:gd name="T2" fmla="*/ 0 w 1"/>
                <a:gd name="T3" fmla="*/ 0 h 2132"/>
                <a:gd name="T4" fmla="*/ 1 w 1"/>
                <a:gd name="T5" fmla="*/ 0 h 2132"/>
                <a:gd name="T6" fmla="*/ 0 60000 65536"/>
                <a:gd name="T7" fmla="*/ 0 60000 65536"/>
                <a:gd name="T8" fmla="*/ 0 60000 65536"/>
                <a:gd name="T9" fmla="*/ 0 w 1"/>
                <a:gd name="T10" fmla="*/ 0 h 2132"/>
                <a:gd name="T11" fmla="*/ 1 w 1"/>
                <a:gd name="T12" fmla="*/ 2132 h 21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32">
                  <a:moveTo>
                    <a:pt x="0" y="0"/>
                  </a:moveTo>
                  <a:lnTo>
                    <a:pt x="0" y="2132"/>
                  </a:lnTo>
                  <a:lnTo>
                    <a:pt x="1" y="21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4" name="Freeform 19"/>
            <p:cNvSpPr>
              <a:spLocks/>
            </p:cNvSpPr>
            <p:nvPr/>
          </p:nvSpPr>
          <p:spPr bwMode="auto">
            <a:xfrm>
              <a:off x="3773" y="981"/>
              <a:ext cx="1" cy="1059"/>
            </a:xfrm>
            <a:custGeom>
              <a:avLst/>
              <a:gdLst>
                <a:gd name="T0" fmla="*/ 0 w 1"/>
                <a:gd name="T1" fmla="*/ 0 h 3178"/>
                <a:gd name="T2" fmla="*/ 0 w 1"/>
                <a:gd name="T3" fmla="*/ 0 h 3178"/>
                <a:gd name="T4" fmla="*/ 1 w 1"/>
                <a:gd name="T5" fmla="*/ 0 h 3178"/>
                <a:gd name="T6" fmla="*/ 0 60000 65536"/>
                <a:gd name="T7" fmla="*/ 0 60000 65536"/>
                <a:gd name="T8" fmla="*/ 0 60000 65536"/>
                <a:gd name="T9" fmla="*/ 0 w 1"/>
                <a:gd name="T10" fmla="*/ 0 h 3178"/>
                <a:gd name="T11" fmla="*/ 1 w 1"/>
                <a:gd name="T12" fmla="*/ 3178 h 3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78">
                  <a:moveTo>
                    <a:pt x="0" y="0"/>
                  </a:moveTo>
                  <a:lnTo>
                    <a:pt x="0" y="3178"/>
                  </a:lnTo>
                  <a:lnTo>
                    <a:pt x="1" y="317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5" name="Freeform 20"/>
            <p:cNvSpPr>
              <a:spLocks/>
            </p:cNvSpPr>
            <p:nvPr/>
          </p:nvSpPr>
          <p:spPr bwMode="auto">
            <a:xfrm>
              <a:off x="3373" y="981"/>
              <a:ext cx="1" cy="711"/>
            </a:xfrm>
            <a:custGeom>
              <a:avLst/>
              <a:gdLst>
                <a:gd name="T0" fmla="*/ 0 w 2"/>
                <a:gd name="T1" fmla="*/ 0 h 2132"/>
                <a:gd name="T2" fmla="*/ 0 w 2"/>
                <a:gd name="T3" fmla="*/ 0 h 2132"/>
                <a:gd name="T4" fmla="*/ 1 w 2"/>
                <a:gd name="T5" fmla="*/ 0 h 2132"/>
                <a:gd name="T6" fmla="*/ 0 60000 65536"/>
                <a:gd name="T7" fmla="*/ 0 60000 65536"/>
                <a:gd name="T8" fmla="*/ 0 60000 65536"/>
                <a:gd name="T9" fmla="*/ 0 w 2"/>
                <a:gd name="T10" fmla="*/ 0 h 2132"/>
                <a:gd name="T11" fmla="*/ 2 w 2"/>
                <a:gd name="T12" fmla="*/ 2132 h 21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2132">
                  <a:moveTo>
                    <a:pt x="0" y="0"/>
                  </a:moveTo>
                  <a:lnTo>
                    <a:pt x="0" y="2132"/>
                  </a:lnTo>
                  <a:lnTo>
                    <a:pt x="2" y="2132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6" name="Freeform 21"/>
            <p:cNvSpPr>
              <a:spLocks/>
            </p:cNvSpPr>
            <p:nvPr/>
          </p:nvSpPr>
          <p:spPr bwMode="auto">
            <a:xfrm>
              <a:off x="4053" y="814"/>
              <a:ext cx="1" cy="1388"/>
            </a:xfrm>
            <a:custGeom>
              <a:avLst/>
              <a:gdLst>
                <a:gd name="T0" fmla="*/ 0 w 1"/>
                <a:gd name="T1" fmla="*/ 0 h 4163"/>
                <a:gd name="T2" fmla="*/ 0 w 1"/>
                <a:gd name="T3" fmla="*/ 0 h 4163"/>
                <a:gd name="T4" fmla="*/ 1 w 1"/>
                <a:gd name="T5" fmla="*/ 0 h 4163"/>
                <a:gd name="T6" fmla="*/ 0 60000 65536"/>
                <a:gd name="T7" fmla="*/ 0 60000 65536"/>
                <a:gd name="T8" fmla="*/ 0 60000 65536"/>
                <a:gd name="T9" fmla="*/ 0 w 1"/>
                <a:gd name="T10" fmla="*/ 0 h 4163"/>
                <a:gd name="T11" fmla="*/ 1 w 1"/>
                <a:gd name="T12" fmla="*/ 4163 h 4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163">
                  <a:moveTo>
                    <a:pt x="0" y="0"/>
                  </a:moveTo>
                  <a:lnTo>
                    <a:pt x="0" y="4163"/>
                  </a:lnTo>
                  <a:lnTo>
                    <a:pt x="1" y="4163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7" name="Freeform 23"/>
            <p:cNvSpPr>
              <a:spLocks/>
            </p:cNvSpPr>
            <p:nvPr/>
          </p:nvSpPr>
          <p:spPr bwMode="auto">
            <a:xfrm>
              <a:off x="3373" y="1692"/>
              <a:ext cx="400" cy="348"/>
            </a:xfrm>
            <a:custGeom>
              <a:avLst/>
              <a:gdLst>
                <a:gd name="T0" fmla="*/ 0 w 1202"/>
                <a:gd name="T1" fmla="*/ 0 h 1046"/>
                <a:gd name="T2" fmla="*/ 0 w 1202"/>
                <a:gd name="T3" fmla="*/ 0 h 1046"/>
                <a:gd name="T4" fmla="*/ 0 w 1202"/>
                <a:gd name="T5" fmla="*/ 0 h 1046"/>
                <a:gd name="T6" fmla="*/ 0 60000 65536"/>
                <a:gd name="T7" fmla="*/ 0 60000 65536"/>
                <a:gd name="T8" fmla="*/ 0 60000 65536"/>
                <a:gd name="T9" fmla="*/ 0 w 1202"/>
                <a:gd name="T10" fmla="*/ 0 h 1046"/>
                <a:gd name="T11" fmla="*/ 1202 w 1202"/>
                <a:gd name="T12" fmla="*/ 1046 h 10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2" h="1046">
                  <a:moveTo>
                    <a:pt x="0" y="0"/>
                  </a:moveTo>
                  <a:lnTo>
                    <a:pt x="1201" y="1046"/>
                  </a:lnTo>
                  <a:lnTo>
                    <a:pt x="1202" y="1046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8" name="Rectangle 24"/>
            <p:cNvSpPr>
              <a:spLocks noChangeArrowheads="1"/>
            </p:cNvSpPr>
            <p:nvPr/>
          </p:nvSpPr>
          <p:spPr bwMode="auto">
            <a:xfrm>
              <a:off x="3745" y="2012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59" name="Rectangle 26"/>
            <p:cNvSpPr>
              <a:spLocks noChangeArrowheads="1"/>
            </p:cNvSpPr>
            <p:nvPr/>
          </p:nvSpPr>
          <p:spPr bwMode="auto">
            <a:xfrm>
              <a:off x="3279" y="1595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60" name="Freeform 27"/>
            <p:cNvSpPr>
              <a:spLocks/>
            </p:cNvSpPr>
            <p:nvPr/>
          </p:nvSpPr>
          <p:spPr bwMode="auto">
            <a:xfrm>
              <a:off x="3373" y="1692"/>
              <a:ext cx="805" cy="1"/>
            </a:xfrm>
            <a:custGeom>
              <a:avLst/>
              <a:gdLst>
                <a:gd name="T0" fmla="*/ 0 w 2417"/>
                <a:gd name="T1" fmla="*/ 0 h 1"/>
                <a:gd name="T2" fmla="*/ 0 w 2417"/>
                <a:gd name="T3" fmla="*/ 0 h 1"/>
                <a:gd name="T4" fmla="*/ 0 w 2417"/>
                <a:gd name="T5" fmla="*/ 0 h 1"/>
                <a:gd name="T6" fmla="*/ 0 60000 65536"/>
                <a:gd name="T7" fmla="*/ 0 60000 65536"/>
                <a:gd name="T8" fmla="*/ 0 60000 65536"/>
                <a:gd name="T9" fmla="*/ 0 w 2417"/>
                <a:gd name="T10" fmla="*/ 0 h 1"/>
                <a:gd name="T11" fmla="*/ 2417 w 24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17" h="1">
                  <a:moveTo>
                    <a:pt x="2417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1" name="Rectangle 29"/>
            <p:cNvSpPr>
              <a:spLocks noChangeArrowheads="1"/>
            </p:cNvSpPr>
            <p:nvPr/>
          </p:nvSpPr>
          <p:spPr bwMode="auto">
            <a:xfrm>
              <a:off x="3351" y="779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62" name="Rectangle 31"/>
            <p:cNvSpPr>
              <a:spLocks noChangeArrowheads="1"/>
            </p:cNvSpPr>
            <p:nvPr/>
          </p:nvSpPr>
          <p:spPr bwMode="auto">
            <a:xfrm>
              <a:off x="4177" y="774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63" name="Rectangle 33"/>
            <p:cNvSpPr>
              <a:spLocks noChangeArrowheads="1"/>
            </p:cNvSpPr>
            <p:nvPr/>
          </p:nvSpPr>
          <p:spPr bwMode="auto">
            <a:xfrm>
              <a:off x="3799" y="777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64" name="Freeform 36"/>
            <p:cNvSpPr>
              <a:spLocks/>
            </p:cNvSpPr>
            <p:nvPr/>
          </p:nvSpPr>
          <p:spPr bwMode="auto">
            <a:xfrm>
              <a:off x="3773" y="981"/>
              <a:ext cx="406" cy="1"/>
            </a:xfrm>
            <a:custGeom>
              <a:avLst/>
              <a:gdLst>
                <a:gd name="T0" fmla="*/ 0 w 1217"/>
                <a:gd name="T1" fmla="*/ 0 h 1"/>
                <a:gd name="T2" fmla="*/ 0 w 1217"/>
                <a:gd name="T3" fmla="*/ 0 h 1"/>
                <a:gd name="T4" fmla="*/ 0 w 1217"/>
                <a:gd name="T5" fmla="*/ 0 h 1"/>
                <a:gd name="T6" fmla="*/ 0 60000 65536"/>
                <a:gd name="T7" fmla="*/ 0 60000 65536"/>
                <a:gd name="T8" fmla="*/ 0 60000 65536"/>
                <a:gd name="T9" fmla="*/ 0 w 1217"/>
                <a:gd name="T10" fmla="*/ 0 h 1"/>
                <a:gd name="T11" fmla="*/ 1217 w 12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7" h="1">
                  <a:moveTo>
                    <a:pt x="0" y="0"/>
                  </a:moveTo>
                  <a:lnTo>
                    <a:pt x="1216" y="0"/>
                  </a:lnTo>
                  <a:lnTo>
                    <a:pt x="1217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5" name="Rectangle 58"/>
            <p:cNvSpPr>
              <a:spLocks noChangeArrowheads="1"/>
            </p:cNvSpPr>
            <p:nvPr/>
          </p:nvSpPr>
          <p:spPr bwMode="auto">
            <a:xfrm>
              <a:off x="4522" y="778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66" name="Freeform 64"/>
            <p:cNvSpPr>
              <a:spLocks/>
            </p:cNvSpPr>
            <p:nvPr/>
          </p:nvSpPr>
          <p:spPr bwMode="auto">
            <a:xfrm>
              <a:off x="4527" y="981"/>
              <a:ext cx="1" cy="1059"/>
            </a:xfrm>
            <a:custGeom>
              <a:avLst/>
              <a:gdLst>
                <a:gd name="T0" fmla="*/ 0 w 1"/>
                <a:gd name="T1" fmla="*/ 0 h 3178"/>
                <a:gd name="T2" fmla="*/ 0 w 1"/>
                <a:gd name="T3" fmla="*/ 0 h 3178"/>
                <a:gd name="T4" fmla="*/ 1 w 1"/>
                <a:gd name="T5" fmla="*/ 0 h 3178"/>
                <a:gd name="T6" fmla="*/ 0 60000 65536"/>
                <a:gd name="T7" fmla="*/ 0 60000 65536"/>
                <a:gd name="T8" fmla="*/ 0 60000 65536"/>
                <a:gd name="T9" fmla="*/ 0 w 1"/>
                <a:gd name="T10" fmla="*/ 0 h 3178"/>
                <a:gd name="T11" fmla="*/ 1 w 1"/>
                <a:gd name="T12" fmla="*/ 3178 h 3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178">
                  <a:moveTo>
                    <a:pt x="0" y="0"/>
                  </a:moveTo>
                  <a:lnTo>
                    <a:pt x="0" y="3178"/>
                  </a:lnTo>
                  <a:lnTo>
                    <a:pt x="1" y="3178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7" name="Rectangle 69"/>
            <p:cNvSpPr>
              <a:spLocks noChangeArrowheads="1"/>
            </p:cNvSpPr>
            <p:nvPr/>
          </p:nvSpPr>
          <p:spPr bwMode="auto">
            <a:xfrm>
              <a:off x="4066" y="1369"/>
              <a:ext cx="86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b="1">
                  <a:latin typeface="宋体" pitchFamily="2" charset="-122"/>
                </a:rPr>
                <a:t>O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68" name="Rectangle 70"/>
            <p:cNvSpPr>
              <a:spLocks noChangeArrowheads="1"/>
            </p:cNvSpPr>
            <p:nvPr/>
          </p:nvSpPr>
          <p:spPr bwMode="auto">
            <a:xfrm>
              <a:off x="4093" y="2137"/>
              <a:ext cx="86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b="1">
                  <a:latin typeface="宋体" pitchFamily="2" charset="-122"/>
                </a:rPr>
                <a:t>Y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69" name="Rectangle 71"/>
            <p:cNvSpPr>
              <a:spLocks noChangeArrowheads="1"/>
            </p:cNvSpPr>
            <p:nvPr/>
          </p:nvSpPr>
          <p:spPr bwMode="auto">
            <a:xfrm>
              <a:off x="4734" y="1458"/>
              <a:ext cx="86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b="1">
                  <a:latin typeface="宋体" pitchFamily="2" charset="-122"/>
                </a:rPr>
                <a:t>Y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70" name="Text Box 98"/>
            <p:cNvSpPr txBox="1">
              <a:spLocks noChangeArrowheads="1"/>
            </p:cNvSpPr>
            <p:nvPr/>
          </p:nvSpPr>
          <p:spPr bwMode="auto">
            <a:xfrm>
              <a:off x="3437" y="759"/>
              <a:ext cx="16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42071" name="Text Box 101"/>
            <p:cNvSpPr txBox="1">
              <a:spLocks noChangeArrowheads="1"/>
            </p:cNvSpPr>
            <p:nvPr/>
          </p:nvSpPr>
          <p:spPr bwMode="auto">
            <a:xfrm>
              <a:off x="3872" y="745"/>
              <a:ext cx="16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</p:grpSp>
      <p:sp>
        <p:nvSpPr>
          <p:cNvPr id="41994" name="Text Box 103"/>
          <p:cNvSpPr txBox="1">
            <a:spLocks noChangeArrowheads="1"/>
          </p:cNvSpPr>
          <p:nvPr/>
        </p:nvSpPr>
        <p:spPr bwMode="auto">
          <a:xfrm>
            <a:off x="9282810" y="4319127"/>
            <a:ext cx="32573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en-US" altLang="zh-CN" sz="2000" b="1">
                <a:latin typeface="Times New Roman" pitchFamily="18" charset="0"/>
              </a:rPr>
              <a:t>″</a:t>
            </a:r>
          </a:p>
        </p:txBody>
      </p:sp>
      <p:sp>
        <p:nvSpPr>
          <p:cNvPr id="41995" name="Text Box 107"/>
          <p:cNvSpPr txBox="1">
            <a:spLocks noChangeArrowheads="1"/>
          </p:cNvSpPr>
          <p:nvPr/>
        </p:nvSpPr>
        <p:spPr bwMode="auto">
          <a:xfrm>
            <a:off x="1586674" y="1832255"/>
            <a:ext cx="1517650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水平线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85100" name="AutoShape 108"/>
          <p:cNvSpPr>
            <a:spLocks noChangeArrowheads="1"/>
          </p:cNvSpPr>
          <p:nvPr/>
        </p:nvSpPr>
        <p:spPr bwMode="auto">
          <a:xfrm>
            <a:off x="5927537" y="5960463"/>
            <a:ext cx="914400" cy="469900"/>
          </a:xfrm>
          <a:prstGeom prst="wedgeRectCallout">
            <a:avLst>
              <a:gd name="adj1" fmla="val 136193"/>
              <a:gd name="adj2" fmla="val -59269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实长</a:t>
            </a:r>
            <a:endParaRPr kumimoji="1" lang="zh-CN" altLang="en-US" b="1" dirty="0">
              <a:latin typeface="Times New Roman" pitchFamily="18" charset="0"/>
            </a:endParaRPr>
          </a:p>
        </p:txBody>
      </p:sp>
      <p:sp>
        <p:nvSpPr>
          <p:cNvPr id="85105" name="Text Box 113"/>
          <p:cNvSpPr txBox="1">
            <a:spLocks noChangeArrowheads="1"/>
          </p:cNvSpPr>
          <p:nvPr/>
        </p:nvSpPr>
        <p:spPr bwMode="auto">
          <a:xfrm>
            <a:off x="1712455" y="2446238"/>
            <a:ext cx="3827917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solidFill>
                  <a:srgbClr val="CC3300"/>
                </a:solidFill>
                <a:latin typeface="宋体" pitchFamily="2" charset="-122"/>
              </a:rPr>
              <a:t>① </a:t>
            </a:r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在其平行的那个投影</a:t>
            </a:r>
          </a:p>
          <a:p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   面上的投影反映实长，</a:t>
            </a:r>
          </a:p>
          <a:p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   并反映直线与另两投</a:t>
            </a:r>
          </a:p>
          <a:p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   影面倾角的实大。</a:t>
            </a:r>
          </a:p>
        </p:txBody>
      </p:sp>
      <p:sp>
        <p:nvSpPr>
          <p:cNvPr id="85106" name="Text Box 114"/>
          <p:cNvSpPr txBox="1">
            <a:spLocks noChangeArrowheads="1"/>
          </p:cNvSpPr>
          <p:nvPr/>
        </p:nvSpPr>
        <p:spPr bwMode="auto">
          <a:xfrm>
            <a:off x="1728046" y="4035708"/>
            <a:ext cx="3681413" cy="2308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solidFill>
                  <a:srgbClr val="CC3300"/>
                </a:solidFill>
                <a:latin typeface="宋体" pitchFamily="2" charset="-122"/>
              </a:rPr>
              <a:t>② </a:t>
            </a:r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另两个投影面上的投</a:t>
            </a:r>
          </a:p>
          <a:p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   影平行于相应的投影</a:t>
            </a:r>
          </a:p>
          <a:p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   轴，其到相应投影轴</a:t>
            </a:r>
          </a:p>
          <a:p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   距离反映直线与它所</a:t>
            </a:r>
          </a:p>
          <a:p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   平行的投影面之间的</a:t>
            </a:r>
          </a:p>
          <a:p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   距离。</a:t>
            </a:r>
          </a:p>
        </p:txBody>
      </p:sp>
      <p:sp>
        <p:nvSpPr>
          <p:cNvPr id="85107" name="Text Box 115"/>
          <p:cNvSpPr txBox="1">
            <a:spLocks noChangeArrowheads="1"/>
          </p:cNvSpPr>
          <p:nvPr/>
        </p:nvSpPr>
        <p:spPr bwMode="auto">
          <a:xfrm>
            <a:off x="2946187" y="1863032"/>
            <a:ext cx="25463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4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投影特性：</a:t>
            </a:r>
            <a:endParaRPr kumimoji="1" lang="zh-CN" altLang="en-US" sz="2400" dirty="0">
              <a:solidFill>
                <a:srgbClr val="FF3300"/>
              </a:solidFill>
              <a:latin typeface="Times New Roman" pitchFamily="18" charset="0"/>
            </a:endParaRPr>
          </a:p>
        </p:txBody>
      </p:sp>
      <p:grpSp>
        <p:nvGrpSpPr>
          <p:cNvPr id="42000" name="Group 119"/>
          <p:cNvGrpSpPr>
            <a:grpSpLocks/>
          </p:cNvGrpSpPr>
          <p:nvPr/>
        </p:nvGrpSpPr>
        <p:grpSpPr bwMode="auto">
          <a:xfrm>
            <a:off x="7024737" y="1464802"/>
            <a:ext cx="2664000" cy="2736000"/>
            <a:chOff x="550" y="769"/>
            <a:chExt cx="1588" cy="1615"/>
          </a:xfrm>
        </p:grpSpPr>
        <p:sp>
          <p:nvSpPr>
            <p:cNvPr id="42001" name="AutoShape 118"/>
            <p:cNvSpPr>
              <a:spLocks noChangeArrowheads="1"/>
            </p:cNvSpPr>
            <p:nvPr/>
          </p:nvSpPr>
          <p:spPr bwMode="auto">
            <a:xfrm rot="5393342">
              <a:off x="1015" y="1265"/>
              <a:ext cx="1611" cy="619"/>
            </a:xfrm>
            <a:prstGeom prst="parallelogram">
              <a:avLst>
                <a:gd name="adj" fmla="val 103537"/>
              </a:avLst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2" name="AutoShape 117"/>
            <p:cNvSpPr>
              <a:spLocks noChangeArrowheads="1"/>
            </p:cNvSpPr>
            <p:nvPr/>
          </p:nvSpPr>
          <p:spPr bwMode="auto">
            <a:xfrm flipH="1">
              <a:off x="550" y="1751"/>
              <a:ext cx="1583" cy="623"/>
            </a:xfrm>
            <a:prstGeom prst="parallelogram">
              <a:avLst>
                <a:gd name="adj" fmla="val 99355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3" name="Rectangle 116"/>
            <p:cNvSpPr>
              <a:spLocks noChangeArrowheads="1"/>
            </p:cNvSpPr>
            <p:nvPr/>
          </p:nvSpPr>
          <p:spPr bwMode="auto">
            <a:xfrm>
              <a:off x="550" y="773"/>
              <a:ext cx="960" cy="97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4" name="Rectangle 6"/>
            <p:cNvSpPr>
              <a:spLocks noChangeArrowheads="1"/>
            </p:cNvSpPr>
            <p:nvPr/>
          </p:nvSpPr>
          <p:spPr bwMode="auto">
            <a:xfrm>
              <a:off x="629" y="774"/>
              <a:ext cx="86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b="1">
                  <a:solidFill>
                    <a:srgbClr val="000000"/>
                  </a:solidFill>
                  <a:latin typeface="宋体" pitchFamily="2" charset="-122"/>
                </a:rPr>
                <a:t>V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05" name="Freeform 12"/>
            <p:cNvSpPr>
              <a:spLocks/>
            </p:cNvSpPr>
            <p:nvPr/>
          </p:nvSpPr>
          <p:spPr bwMode="auto">
            <a:xfrm>
              <a:off x="1615" y="1539"/>
              <a:ext cx="268" cy="1"/>
            </a:xfrm>
            <a:custGeom>
              <a:avLst/>
              <a:gdLst>
                <a:gd name="T0" fmla="*/ 0 w 804"/>
                <a:gd name="T1" fmla="*/ 0 h 1"/>
                <a:gd name="T2" fmla="*/ 0 w 804"/>
                <a:gd name="T3" fmla="*/ 0 h 1"/>
                <a:gd name="T4" fmla="*/ 0 w 804"/>
                <a:gd name="T5" fmla="*/ 0 h 1"/>
                <a:gd name="T6" fmla="*/ 0 60000 65536"/>
                <a:gd name="T7" fmla="*/ 0 60000 65536"/>
                <a:gd name="T8" fmla="*/ 0 60000 65536"/>
                <a:gd name="T9" fmla="*/ 0 w 804"/>
                <a:gd name="T10" fmla="*/ 0 h 1"/>
                <a:gd name="T11" fmla="*/ 804 w 80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4" h="1">
                  <a:moveTo>
                    <a:pt x="0" y="0"/>
                  </a:moveTo>
                  <a:lnTo>
                    <a:pt x="803" y="0"/>
                  </a:lnTo>
                  <a:lnTo>
                    <a:pt x="80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6" name="Freeform 37"/>
            <p:cNvSpPr>
              <a:spLocks/>
            </p:cNvSpPr>
            <p:nvPr/>
          </p:nvSpPr>
          <p:spPr bwMode="auto">
            <a:xfrm>
              <a:off x="1615" y="1539"/>
              <a:ext cx="1" cy="585"/>
            </a:xfrm>
            <a:custGeom>
              <a:avLst/>
              <a:gdLst>
                <a:gd name="T0" fmla="*/ 0 w 1"/>
                <a:gd name="T1" fmla="*/ 0 h 1754"/>
                <a:gd name="T2" fmla="*/ 0 w 1"/>
                <a:gd name="T3" fmla="*/ 0 h 1754"/>
                <a:gd name="T4" fmla="*/ 1 w 1"/>
                <a:gd name="T5" fmla="*/ 0 h 1754"/>
                <a:gd name="T6" fmla="*/ 0 60000 65536"/>
                <a:gd name="T7" fmla="*/ 0 60000 65536"/>
                <a:gd name="T8" fmla="*/ 0 60000 65536"/>
                <a:gd name="T9" fmla="*/ 0 w 1"/>
                <a:gd name="T10" fmla="*/ 0 h 1754"/>
                <a:gd name="T11" fmla="*/ 1 w 1"/>
                <a:gd name="T12" fmla="*/ 1754 h 17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54">
                  <a:moveTo>
                    <a:pt x="0" y="0"/>
                  </a:moveTo>
                  <a:lnTo>
                    <a:pt x="0" y="1754"/>
                  </a:lnTo>
                  <a:lnTo>
                    <a:pt x="1" y="175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7" name="Freeform 38"/>
            <p:cNvSpPr>
              <a:spLocks/>
            </p:cNvSpPr>
            <p:nvPr/>
          </p:nvSpPr>
          <p:spPr bwMode="auto">
            <a:xfrm>
              <a:off x="937" y="1292"/>
              <a:ext cx="1" cy="585"/>
            </a:xfrm>
            <a:custGeom>
              <a:avLst/>
              <a:gdLst>
                <a:gd name="T0" fmla="*/ 0 w 1"/>
                <a:gd name="T1" fmla="*/ 0 h 1754"/>
                <a:gd name="T2" fmla="*/ 0 w 1"/>
                <a:gd name="T3" fmla="*/ 0 h 1754"/>
                <a:gd name="T4" fmla="*/ 1 w 1"/>
                <a:gd name="T5" fmla="*/ 0 h 1754"/>
                <a:gd name="T6" fmla="*/ 0 60000 65536"/>
                <a:gd name="T7" fmla="*/ 0 60000 65536"/>
                <a:gd name="T8" fmla="*/ 0 60000 65536"/>
                <a:gd name="T9" fmla="*/ 0 w 1"/>
                <a:gd name="T10" fmla="*/ 0 h 1754"/>
                <a:gd name="T11" fmla="*/ 1 w 1"/>
                <a:gd name="T12" fmla="*/ 1754 h 17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54">
                  <a:moveTo>
                    <a:pt x="0" y="0"/>
                  </a:moveTo>
                  <a:lnTo>
                    <a:pt x="0" y="1754"/>
                  </a:lnTo>
                  <a:lnTo>
                    <a:pt x="1" y="175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8" name="Rectangle 39"/>
            <p:cNvSpPr>
              <a:spLocks noChangeArrowheads="1"/>
            </p:cNvSpPr>
            <p:nvPr/>
          </p:nvSpPr>
          <p:spPr bwMode="auto">
            <a:xfrm>
              <a:off x="1222" y="2180"/>
              <a:ext cx="86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b="1">
                  <a:solidFill>
                    <a:srgbClr val="000000"/>
                  </a:solidFill>
                  <a:latin typeface="宋体" pitchFamily="2" charset="-122"/>
                </a:rPr>
                <a:t>H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09" name="Freeform 40"/>
            <p:cNvSpPr>
              <a:spLocks/>
            </p:cNvSpPr>
            <p:nvPr/>
          </p:nvSpPr>
          <p:spPr bwMode="auto">
            <a:xfrm>
              <a:off x="937" y="1877"/>
              <a:ext cx="678" cy="247"/>
            </a:xfrm>
            <a:custGeom>
              <a:avLst/>
              <a:gdLst>
                <a:gd name="T0" fmla="*/ 0 w 2034"/>
                <a:gd name="T1" fmla="*/ 0 h 740"/>
                <a:gd name="T2" fmla="*/ 0 w 2034"/>
                <a:gd name="T3" fmla="*/ 0 h 740"/>
                <a:gd name="T4" fmla="*/ 0 w 2034"/>
                <a:gd name="T5" fmla="*/ 0 h 740"/>
                <a:gd name="T6" fmla="*/ 0 60000 65536"/>
                <a:gd name="T7" fmla="*/ 0 60000 65536"/>
                <a:gd name="T8" fmla="*/ 0 60000 65536"/>
                <a:gd name="T9" fmla="*/ 0 w 2034"/>
                <a:gd name="T10" fmla="*/ 0 h 740"/>
                <a:gd name="T11" fmla="*/ 2034 w 2034"/>
                <a:gd name="T12" fmla="*/ 740 h 7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4" h="740">
                  <a:moveTo>
                    <a:pt x="0" y="0"/>
                  </a:moveTo>
                  <a:lnTo>
                    <a:pt x="2033" y="740"/>
                  </a:lnTo>
                  <a:lnTo>
                    <a:pt x="2034" y="74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0" name="Rectangle 42"/>
            <p:cNvSpPr>
              <a:spLocks noChangeArrowheads="1"/>
            </p:cNvSpPr>
            <p:nvPr/>
          </p:nvSpPr>
          <p:spPr bwMode="auto">
            <a:xfrm>
              <a:off x="870" y="1807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42011" name="Rectangle 43"/>
            <p:cNvSpPr>
              <a:spLocks noChangeArrowheads="1"/>
            </p:cNvSpPr>
            <p:nvPr/>
          </p:nvSpPr>
          <p:spPr bwMode="auto">
            <a:xfrm>
              <a:off x="1677" y="2068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12" name="Freeform 45"/>
            <p:cNvSpPr>
              <a:spLocks/>
            </p:cNvSpPr>
            <p:nvPr/>
          </p:nvSpPr>
          <p:spPr bwMode="auto">
            <a:xfrm>
              <a:off x="937" y="1292"/>
              <a:ext cx="699" cy="1"/>
            </a:xfrm>
            <a:custGeom>
              <a:avLst/>
              <a:gdLst>
                <a:gd name="T0" fmla="*/ 0 w 2097"/>
                <a:gd name="T1" fmla="*/ 0 h 1"/>
                <a:gd name="T2" fmla="*/ 0 w 2097"/>
                <a:gd name="T3" fmla="*/ 0 h 1"/>
                <a:gd name="T4" fmla="*/ 0 w 2097"/>
                <a:gd name="T5" fmla="*/ 0 h 1"/>
                <a:gd name="T6" fmla="*/ 0 60000 65536"/>
                <a:gd name="T7" fmla="*/ 0 60000 65536"/>
                <a:gd name="T8" fmla="*/ 0 60000 65536"/>
                <a:gd name="T9" fmla="*/ 0 w 2097"/>
                <a:gd name="T10" fmla="*/ 0 h 1"/>
                <a:gd name="T11" fmla="*/ 2097 w 209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7" h="1">
                  <a:moveTo>
                    <a:pt x="0" y="0"/>
                  </a:moveTo>
                  <a:lnTo>
                    <a:pt x="2096" y="0"/>
                  </a:lnTo>
                  <a:lnTo>
                    <a:pt x="2097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3" name="Freeform 46"/>
            <p:cNvSpPr>
              <a:spLocks/>
            </p:cNvSpPr>
            <p:nvPr/>
          </p:nvSpPr>
          <p:spPr bwMode="auto">
            <a:xfrm>
              <a:off x="811" y="1166"/>
              <a:ext cx="431" cy="1"/>
            </a:xfrm>
            <a:custGeom>
              <a:avLst/>
              <a:gdLst>
                <a:gd name="T0" fmla="*/ 0 w 1295"/>
                <a:gd name="T1" fmla="*/ 0 h 1"/>
                <a:gd name="T2" fmla="*/ 0 w 1295"/>
                <a:gd name="T3" fmla="*/ 0 h 1"/>
                <a:gd name="T4" fmla="*/ 0 w 1295"/>
                <a:gd name="T5" fmla="*/ 0 h 1"/>
                <a:gd name="T6" fmla="*/ 0 60000 65536"/>
                <a:gd name="T7" fmla="*/ 0 60000 65536"/>
                <a:gd name="T8" fmla="*/ 0 60000 65536"/>
                <a:gd name="T9" fmla="*/ 0 w 1295"/>
                <a:gd name="T10" fmla="*/ 0 h 1"/>
                <a:gd name="T11" fmla="*/ 1295 w 129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5" h="1">
                  <a:moveTo>
                    <a:pt x="0" y="0"/>
                  </a:moveTo>
                  <a:lnTo>
                    <a:pt x="1294" y="0"/>
                  </a:lnTo>
                  <a:lnTo>
                    <a:pt x="1295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4" name="Freeform 47"/>
            <p:cNvSpPr>
              <a:spLocks/>
            </p:cNvSpPr>
            <p:nvPr/>
          </p:nvSpPr>
          <p:spPr bwMode="auto">
            <a:xfrm>
              <a:off x="937" y="1292"/>
              <a:ext cx="678" cy="247"/>
            </a:xfrm>
            <a:custGeom>
              <a:avLst/>
              <a:gdLst>
                <a:gd name="T0" fmla="*/ 0 w 2034"/>
                <a:gd name="T1" fmla="*/ 0 h 740"/>
                <a:gd name="T2" fmla="*/ 0 w 2034"/>
                <a:gd name="T3" fmla="*/ 0 h 740"/>
                <a:gd name="T4" fmla="*/ 0 w 2034"/>
                <a:gd name="T5" fmla="*/ 0 h 740"/>
                <a:gd name="T6" fmla="*/ 0 60000 65536"/>
                <a:gd name="T7" fmla="*/ 0 60000 65536"/>
                <a:gd name="T8" fmla="*/ 0 60000 65536"/>
                <a:gd name="T9" fmla="*/ 0 w 2034"/>
                <a:gd name="T10" fmla="*/ 0 h 740"/>
                <a:gd name="T11" fmla="*/ 2034 w 2034"/>
                <a:gd name="T12" fmla="*/ 740 h 7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4" h="740">
                  <a:moveTo>
                    <a:pt x="0" y="0"/>
                  </a:moveTo>
                  <a:lnTo>
                    <a:pt x="2033" y="740"/>
                  </a:lnTo>
                  <a:lnTo>
                    <a:pt x="2034" y="74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5" name="Rectangle 48"/>
            <p:cNvSpPr>
              <a:spLocks noChangeArrowheads="1"/>
            </p:cNvSpPr>
            <p:nvPr/>
          </p:nvSpPr>
          <p:spPr bwMode="auto">
            <a:xfrm>
              <a:off x="811" y="1252"/>
              <a:ext cx="105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b="1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16" name="Rectangle 49"/>
            <p:cNvSpPr>
              <a:spLocks noChangeArrowheads="1"/>
            </p:cNvSpPr>
            <p:nvPr/>
          </p:nvSpPr>
          <p:spPr bwMode="auto">
            <a:xfrm>
              <a:off x="807" y="969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42017" name="Rectangle 51"/>
            <p:cNvSpPr>
              <a:spLocks noChangeArrowheads="1"/>
            </p:cNvSpPr>
            <p:nvPr/>
          </p:nvSpPr>
          <p:spPr bwMode="auto">
            <a:xfrm>
              <a:off x="1643" y="1094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18" name="Rectangle 53"/>
            <p:cNvSpPr>
              <a:spLocks noChangeArrowheads="1"/>
            </p:cNvSpPr>
            <p:nvPr/>
          </p:nvSpPr>
          <p:spPr bwMode="auto">
            <a:xfrm>
              <a:off x="1286" y="1276"/>
              <a:ext cx="146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0000"/>
                  </a:solidFill>
                  <a:latin typeface="宋体" pitchFamily="2" charset="-122"/>
                </a:rPr>
                <a:t>γ</a:t>
              </a:r>
              <a:endParaRPr kumimoji="1" lang="en-US" altLang="zh-CN" sz="2800" b="1">
                <a:latin typeface="Times New Roman" pitchFamily="18" charset="0"/>
              </a:endParaRPr>
            </a:p>
          </p:txBody>
        </p:sp>
        <p:sp>
          <p:nvSpPr>
            <p:cNvPr id="42019" name="Rectangle 54"/>
            <p:cNvSpPr>
              <a:spLocks noChangeArrowheads="1"/>
            </p:cNvSpPr>
            <p:nvPr/>
          </p:nvSpPr>
          <p:spPr bwMode="auto">
            <a:xfrm>
              <a:off x="983" y="1299"/>
              <a:ext cx="12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1600" b="1">
                  <a:solidFill>
                    <a:srgbClr val="000000"/>
                  </a:solidFill>
                  <a:latin typeface="宋体" pitchFamily="2" charset="-122"/>
                </a:rPr>
                <a:t>β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20" name="Rectangle 55"/>
            <p:cNvSpPr>
              <a:spLocks noChangeArrowheads="1"/>
            </p:cNvSpPr>
            <p:nvPr/>
          </p:nvSpPr>
          <p:spPr bwMode="auto">
            <a:xfrm>
              <a:off x="1699" y="1518"/>
              <a:ext cx="95" cy="2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b="1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21" name="Rectangle 57"/>
            <p:cNvSpPr>
              <a:spLocks noChangeArrowheads="1"/>
            </p:cNvSpPr>
            <p:nvPr/>
          </p:nvSpPr>
          <p:spPr bwMode="auto">
            <a:xfrm>
              <a:off x="1273" y="967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22" name="Freeform 60"/>
            <p:cNvSpPr>
              <a:spLocks/>
            </p:cNvSpPr>
            <p:nvPr/>
          </p:nvSpPr>
          <p:spPr bwMode="auto">
            <a:xfrm>
              <a:off x="811" y="1166"/>
              <a:ext cx="126" cy="126"/>
            </a:xfrm>
            <a:custGeom>
              <a:avLst/>
              <a:gdLst>
                <a:gd name="T0" fmla="*/ 0 w 380"/>
                <a:gd name="T1" fmla="*/ 0 h 379"/>
                <a:gd name="T2" fmla="*/ 0 w 380"/>
                <a:gd name="T3" fmla="*/ 0 h 379"/>
                <a:gd name="T4" fmla="*/ 0 w 380"/>
                <a:gd name="T5" fmla="*/ 0 h 379"/>
                <a:gd name="T6" fmla="*/ 0 60000 65536"/>
                <a:gd name="T7" fmla="*/ 0 60000 65536"/>
                <a:gd name="T8" fmla="*/ 0 60000 65536"/>
                <a:gd name="T9" fmla="*/ 0 w 380"/>
                <a:gd name="T10" fmla="*/ 0 h 379"/>
                <a:gd name="T11" fmla="*/ 380 w 380"/>
                <a:gd name="T12" fmla="*/ 379 h 3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0" h="379">
                  <a:moveTo>
                    <a:pt x="0" y="0"/>
                  </a:moveTo>
                  <a:lnTo>
                    <a:pt x="379" y="379"/>
                  </a:lnTo>
                  <a:lnTo>
                    <a:pt x="380" y="37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3" name="Freeform 62"/>
            <p:cNvSpPr>
              <a:spLocks/>
            </p:cNvSpPr>
            <p:nvPr/>
          </p:nvSpPr>
          <p:spPr bwMode="auto">
            <a:xfrm>
              <a:off x="1242" y="1166"/>
              <a:ext cx="373" cy="373"/>
            </a:xfrm>
            <a:custGeom>
              <a:avLst/>
              <a:gdLst>
                <a:gd name="T0" fmla="*/ 0 w 1119"/>
                <a:gd name="T1" fmla="*/ 0 h 1119"/>
                <a:gd name="T2" fmla="*/ 0 w 1119"/>
                <a:gd name="T3" fmla="*/ 0 h 1119"/>
                <a:gd name="T4" fmla="*/ 0 w 1119"/>
                <a:gd name="T5" fmla="*/ 0 h 1119"/>
                <a:gd name="T6" fmla="*/ 0 60000 65536"/>
                <a:gd name="T7" fmla="*/ 0 60000 65536"/>
                <a:gd name="T8" fmla="*/ 0 60000 65536"/>
                <a:gd name="T9" fmla="*/ 0 w 1119"/>
                <a:gd name="T10" fmla="*/ 0 h 1119"/>
                <a:gd name="T11" fmla="*/ 1119 w 1119"/>
                <a:gd name="T12" fmla="*/ 1119 h 11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9" h="1119">
                  <a:moveTo>
                    <a:pt x="0" y="0"/>
                  </a:moveTo>
                  <a:lnTo>
                    <a:pt x="1118" y="1119"/>
                  </a:lnTo>
                  <a:lnTo>
                    <a:pt x="1119" y="111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4" name="Rectangle 65"/>
            <p:cNvSpPr>
              <a:spLocks noChangeArrowheads="1"/>
            </p:cNvSpPr>
            <p:nvPr/>
          </p:nvSpPr>
          <p:spPr bwMode="auto">
            <a:xfrm>
              <a:off x="1909" y="1342"/>
              <a:ext cx="87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25" name="Rectangle 67"/>
            <p:cNvSpPr>
              <a:spLocks noChangeArrowheads="1"/>
            </p:cNvSpPr>
            <p:nvPr/>
          </p:nvSpPr>
          <p:spPr bwMode="auto">
            <a:xfrm>
              <a:off x="2021" y="1406"/>
              <a:ext cx="86" cy="2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b="1">
                  <a:solidFill>
                    <a:srgbClr val="000000"/>
                  </a:solidFill>
                  <a:latin typeface="宋体" pitchFamily="2" charset="-122"/>
                </a:rPr>
                <a:t>W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26" name="Line 77"/>
            <p:cNvSpPr>
              <a:spLocks noChangeShapeType="1"/>
            </p:cNvSpPr>
            <p:nvPr/>
          </p:nvSpPr>
          <p:spPr bwMode="auto">
            <a:xfrm>
              <a:off x="932" y="1872"/>
              <a:ext cx="35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7" name="Line 78"/>
            <p:cNvSpPr>
              <a:spLocks noChangeShapeType="1"/>
            </p:cNvSpPr>
            <p:nvPr/>
          </p:nvSpPr>
          <p:spPr bwMode="auto">
            <a:xfrm flipH="1" flipV="1">
              <a:off x="1417" y="1925"/>
              <a:ext cx="192" cy="1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8" name="Freeform 81"/>
            <p:cNvSpPr>
              <a:spLocks/>
            </p:cNvSpPr>
            <p:nvPr/>
          </p:nvSpPr>
          <p:spPr bwMode="auto">
            <a:xfrm>
              <a:off x="1057" y="1214"/>
              <a:ext cx="116" cy="233"/>
            </a:xfrm>
            <a:custGeom>
              <a:avLst/>
              <a:gdLst>
                <a:gd name="T0" fmla="*/ 16 w 64"/>
                <a:gd name="T1" fmla="*/ 0 h 256"/>
                <a:gd name="T2" fmla="*/ 48 w 64"/>
                <a:gd name="T3" fmla="*/ 60 h 256"/>
                <a:gd name="T4" fmla="*/ 64 w 64"/>
                <a:gd name="T5" fmla="*/ 124 h 256"/>
                <a:gd name="T6" fmla="*/ 45 w 64"/>
                <a:gd name="T7" fmla="*/ 208 h 256"/>
                <a:gd name="T8" fmla="*/ 0 w 64"/>
                <a:gd name="T9" fmla="*/ 256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56"/>
                <a:gd name="T17" fmla="*/ 64 w 64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56">
                  <a:moveTo>
                    <a:pt x="16" y="0"/>
                  </a:moveTo>
                  <a:cubicBezTo>
                    <a:pt x="28" y="19"/>
                    <a:pt x="40" y="39"/>
                    <a:pt x="48" y="60"/>
                  </a:cubicBezTo>
                  <a:cubicBezTo>
                    <a:pt x="56" y="81"/>
                    <a:pt x="64" y="99"/>
                    <a:pt x="64" y="124"/>
                  </a:cubicBezTo>
                  <a:cubicBezTo>
                    <a:pt x="64" y="149"/>
                    <a:pt x="56" y="186"/>
                    <a:pt x="45" y="208"/>
                  </a:cubicBezTo>
                  <a:cubicBezTo>
                    <a:pt x="34" y="230"/>
                    <a:pt x="11" y="243"/>
                    <a:pt x="0" y="256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29" name="Line 84"/>
            <p:cNvSpPr>
              <a:spLocks noChangeShapeType="1"/>
            </p:cNvSpPr>
            <p:nvPr/>
          </p:nvSpPr>
          <p:spPr bwMode="auto">
            <a:xfrm rot="1550638">
              <a:off x="1069" y="1228"/>
              <a:ext cx="61" cy="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0" name="Line 86"/>
            <p:cNvSpPr>
              <a:spLocks noChangeShapeType="1"/>
            </p:cNvSpPr>
            <p:nvPr/>
          </p:nvSpPr>
          <p:spPr bwMode="auto">
            <a:xfrm rot="-7379743">
              <a:off x="1073" y="1359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1" name="Rectangle 87"/>
            <p:cNvSpPr>
              <a:spLocks noChangeArrowheads="1"/>
            </p:cNvSpPr>
            <p:nvPr/>
          </p:nvSpPr>
          <p:spPr bwMode="auto">
            <a:xfrm>
              <a:off x="1155" y="1839"/>
              <a:ext cx="12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1600" b="1">
                  <a:solidFill>
                    <a:srgbClr val="000000"/>
                  </a:solidFill>
                  <a:latin typeface="宋体" pitchFamily="2" charset="-122"/>
                </a:rPr>
                <a:t>β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032" name="Freeform 88"/>
            <p:cNvSpPr>
              <a:spLocks/>
            </p:cNvSpPr>
            <p:nvPr/>
          </p:nvSpPr>
          <p:spPr bwMode="auto">
            <a:xfrm>
              <a:off x="1060" y="1780"/>
              <a:ext cx="116" cy="233"/>
            </a:xfrm>
            <a:custGeom>
              <a:avLst/>
              <a:gdLst>
                <a:gd name="T0" fmla="*/ 16 w 64"/>
                <a:gd name="T1" fmla="*/ 0 h 256"/>
                <a:gd name="T2" fmla="*/ 48 w 64"/>
                <a:gd name="T3" fmla="*/ 60 h 256"/>
                <a:gd name="T4" fmla="*/ 64 w 64"/>
                <a:gd name="T5" fmla="*/ 124 h 256"/>
                <a:gd name="T6" fmla="*/ 45 w 64"/>
                <a:gd name="T7" fmla="*/ 208 h 256"/>
                <a:gd name="T8" fmla="*/ 0 w 64"/>
                <a:gd name="T9" fmla="*/ 256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"/>
                <a:gd name="T16" fmla="*/ 0 h 256"/>
                <a:gd name="T17" fmla="*/ 64 w 64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" h="256">
                  <a:moveTo>
                    <a:pt x="16" y="0"/>
                  </a:moveTo>
                  <a:cubicBezTo>
                    <a:pt x="28" y="19"/>
                    <a:pt x="40" y="39"/>
                    <a:pt x="48" y="60"/>
                  </a:cubicBezTo>
                  <a:cubicBezTo>
                    <a:pt x="56" y="81"/>
                    <a:pt x="64" y="99"/>
                    <a:pt x="64" y="124"/>
                  </a:cubicBezTo>
                  <a:cubicBezTo>
                    <a:pt x="64" y="149"/>
                    <a:pt x="56" y="186"/>
                    <a:pt x="45" y="208"/>
                  </a:cubicBezTo>
                  <a:cubicBezTo>
                    <a:pt x="34" y="230"/>
                    <a:pt x="11" y="243"/>
                    <a:pt x="0" y="25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3" name="Line 89"/>
            <p:cNvSpPr>
              <a:spLocks noChangeShapeType="1"/>
            </p:cNvSpPr>
            <p:nvPr/>
          </p:nvSpPr>
          <p:spPr bwMode="auto">
            <a:xfrm rot="1550638">
              <a:off x="1072" y="1794"/>
              <a:ext cx="61" cy="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4" name="Line 90"/>
            <p:cNvSpPr>
              <a:spLocks noChangeShapeType="1"/>
            </p:cNvSpPr>
            <p:nvPr/>
          </p:nvSpPr>
          <p:spPr bwMode="auto">
            <a:xfrm rot="-7379743">
              <a:off x="1076" y="1925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5" name="Freeform 91"/>
            <p:cNvSpPr>
              <a:spLocks/>
            </p:cNvSpPr>
            <p:nvPr/>
          </p:nvSpPr>
          <p:spPr bwMode="auto">
            <a:xfrm>
              <a:off x="1356" y="1343"/>
              <a:ext cx="116" cy="233"/>
            </a:xfrm>
            <a:custGeom>
              <a:avLst/>
              <a:gdLst>
                <a:gd name="T0" fmla="*/ 219 w 219"/>
                <a:gd name="T1" fmla="*/ 0 h 230"/>
                <a:gd name="T2" fmla="*/ 128 w 219"/>
                <a:gd name="T3" fmla="*/ 19 h 230"/>
                <a:gd name="T4" fmla="*/ 56 w 219"/>
                <a:gd name="T5" fmla="*/ 72 h 230"/>
                <a:gd name="T6" fmla="*/ 8 w 219"/>
                <a:gd name="T7" fmla="*/ 173 h 230"/>
                <a:gd name="T8" fmla="*/ 8 w 219"/>
                <a:gd name="T9" fmla="*/ 230 h 2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9"/>
                <a:gd name="T16" fmla="*/ 0 h 230"/>
                <a:gd name="T17" fmla="*/ 219 w 219"/>
                <a:gd name="T18" fmla="*/ 230 h 2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9" h="230">
                  <a:moveTo>
                    <a:pt x="219" y="0"/>
                  </a:moveTo>
                  <a:cubicBezTo>
                    <a:pt x="187" y="3"/>
                    <a:pt x="155" y="7"/>
                    <a:pt x="128" y="19"/>
                  </a:cubicBezTo>
                  <a:cubicBezTo>
                    <a:pt x="101" y="31"/>
                    <a:pt x="76" y="46"/>
                    <a:pt x="56" y="72"/>
                  </a:cubicBezTo>
                  <a:cubicBezTo>
                    <a:pt x="36" y="98"/>
                    <a:pt x="16" y="147"/>
                    <a:pt x="8" y="173"/>
                  </a:cubicBezTo>
                  <a:cubicBezTo>
                    <a:pt x="0" y="199"/>
                    <a:pt x="4" y="214"/>
                    <a:pt x="8" y="230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6" name="Line 92"/>
            <p:cNvSpPr>
              <a:spLocks noChangeShapeType="1"/>
            </p:cNvSpPr>
            <p:nvPr/>
          </p:nvSpPr>
          <p:spPr bwMode="auto">
            <a:xfrm rot="6035748">
              <a:off x="1462" y="1321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7" name="Line 93"/>
            <p:cNvSpPr>
              <a:spLocks noChangeShapeType="1"/>
            </p:cNvSpPr>
            <p:nvPr/>
          </p:nvSpPr>
          <p:spPr bwMode="auto">
            <a:xfrm rot="-7379743">
              <a:off x="1352" y="1446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38" name="Rectangle 94"/>
            <p:cNvSpPr>
              <a:spLocks noChangeArrowheads="1"/>
            </p:cNvSpPr>
            <p:nvPr/>
          </p:nvSpPr>
          <p:spPr bwMode="auto">
            <a:xfrm>
              <a:off x="1311" y="1867"/>
              <a:ext cx="146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0000"/>
                  </a:solidFill>
                  <a:latin typeface="宋体" pitchFamily="2" charset="-122"/>
                </a:rPr>
                <a:t>γ</a:t>
              </a:r>
              <a:endParaRPr kumimoji="1" lang="en-US" altLang="zh-CN" sz="2800" b="1">
                <a:latin typeface="Times New Roman" pitchFamily="18" charset="0"/>
              </a:endParaRPr>
            </a:p>
          </p:txBody>
        </p:sp>
        <p:sp>
          <p:nvSpPr>
            <p:cNvPr id="42039" name="Freeform 95"/>
            <p:cNvSpPr>
              <a:spLocks/>
            </p:cNvSpPr>
            <p:nvPr/>
          </p:nvSpPr>
          <p:spPr bwMode="auto">
            <a:xfrm>
              <a:off x="1395" y="1943"/>
              <a:ext cx="116" cy="233"/>
            </a:xfrm>
            <a:custGeom>
              <a:avLst/>
              <a:gdLst>
                <a:gd name="T0" fmla="*/ 219 w 219"/>
                <a:gd name="T1" fmla="*/ 0 h 230"/>
                <a:gd name="T2" fmla="*/ 128 w 219"/>
                <a:gd name="T3" fmla="*/ 19 h 230"/>
                <a:gd name="T4" fmla="*/ 56 w 219"/>
                <a:gd name="T5" fmla="*/ 72 h 230"/>
                <a:gd name="T6" fmla="*/ 8 w 219"/>
                <a:gd name="T7" fmla="*/ 173 h 230"/>
                <a:gd name="T8" fmla="*/ 8 w 219"/>
                <a:gd name="T9" fmla="*/ 230 h 2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9"/>
                <a:gd name="T16" fmla="*/ 0 h 230"/>
                <a:gd name="T17" fmla="*/ 219 w 219"/>
                <a:gd name="T18" fmla="*/ 230 h 2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9" h="230">
                  <a:moveTo>
                    <a:pt x="219" y="0"/>
                  </a:moveTo>
                  <a:cubicBezTo>
                    <a:pt x="187" y="3"/>
                    <a:pt x="155" y="7"/>
                    <a:pt x="128" y="19"/>
                  </a:cubicBezTo>
                  <a:cubicBezTo>
                    <a:pt x="101" y="31"/>
                    <a:pt x="76" y="46"/>
                    <a:pt x="56" y="72"/>
                  </a:cubicBezTo>
                  <a:cubicBezTo>
                    <a:pt x="36" y="98"/>
                    <a:pt x="16" y="147"/>
                    <a:pt x="8" y="173"/>
                  </a:cubicBezTo>
                  <a:cubicBezTo>
                    <a:pt x="0" y="199"/>
                    <a:pt x="4" y="214"/>
                    <a:pt x="8" y="230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0" name="Line 96"/>
            <p:cNvSpPr>
              <a:spLocks noChangeShapeType="1"/>
            </p:cNvSpPr>
            <p:nvPr/>
          </p:nvSpPr>
          <p:spPr bwMode="auto">
            <a:xfrm rot="6035748">
              <a:off x="1501" y="1921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1" name="Line 97"/>
            <p:cNvSpPr>
              <a:spLocks noChangeShapeType="1"/>
            </p:cNvSpPr>
            <p:nvPr/>
          </p:nvSpPr>
          <p:spPr bwMode="auto">
            <a:xfrm rot="-7379743">
              <a:off x="1391" y="2046"/>
              <a:ext cx="48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042" name="Text Box 100"/>
            <p:cNvSpPr txBox="1">
              <a:spLocks noChangeArrowheads="1"/>
            </p:cNvSpPr>
            <p:nvPr/>
          </p:nvSpPr>
          <p:spPr bwMode="auto">
            <a:xfrm>
              <a:off x="876" y="949"/>
              <a:ext cx="16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42043" name="Text Box 102"/>
            <p:cNvSpPr txBox="1">
              <a:spLocks noChangeArrowheads="1"/>
            </p:cNvSpPr>
            <p:nvPr/>
          </p:nvSpPr>
          <p:spPr bwMode="auto">
            <a:xfrm>
              <a:off x="1325" y="917"/>
              <a:ext cx="16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42044" name="Text Box 104"/>
            <p:cNvSpPr txBox="1">
              <a:spLocks noChangeArrowheads="1"/>
            </p:cNvSpPr>
            <p:nvPr/>
          </p:nvSpPr>
          <p:spPr bwMode="auto">
            <a:xfrm>
              <a:off x="1694" y="1083"/>
              <a:ext cx="20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″</a:t>
              </a:r>
            </a:p>
          </p:txBody>
        </p:sp>
        <p:sp>
          <p:nvSpPr>
            <p:cNvPr id="42045" name="Text Box 105"/>
            <p:cNvSpPr txBox="1">
              <a:spLocks noChangeArrowheads="1"/>
            </p:cNvSpPr>
            <p:nvPr/>
          </p:nvSpPr>
          <p:spPr bwMode="auto">
            <a:xfrm>
              <a:off x="1933" y="1293"/>
              <a:ext cx="20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″</a:t>
              </a:r>
            </a:p>
          </p:txBody>
        </p:sp>
        <p:sp>
          <p:nvSpPr>
            <p:cNvPr id="42046" name="Freeform 11"/>
            <p:cNvSpPr>
              <a:spLocks/>
            </p:cNvSpPr>
            <p:nvPr/>
          </p:nvSpPr>
          <p:spPr bwMode="auto">
            <a:xfrm>
              <a:off x="1627" y="1283"/>
              <a:ext cx="247" cy="247"/>
            </a:xfrm>
            <a:custGeom>
              <a:avLst/>
              <a:gdLst>
                <a:gd name="T0" fmla="*/ 0 w 741"/>
                <a:gd name="T1" fmla="*/ 0 h 740"/>
                <a:gd name="T2" fmla="*/ 0 w 741"/>
                <a:gd name="T3" fmla="*/ 0 h 740"/>
                <a:gd name="T4" fmla="*/ 0 w 741"/>
                <a:gd name="T5" fmla="*/ 0 h 740"/>
                <a:gd name="T6" fmla="*/ 0 60000 65536"/>
                <a:gd name="T7" fmla="*/ 0 60000 65536"/>
                <a:gd name="T8" fmla="*/ 0 60000 65536"/>
                <a:gd name="T9" fmla="*/ 0 w 741"/>
                <a:gd name="T10" fmla="*/ 0 h 740"/>
                <a:gd name="T11" fmla="*/ 741 w 741"/>
                <a:gd name="T12" fmla="*/ 740 h 7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1" h="740">
                  <a:moveTo>
                    <a:pt x="0" y="0"/>
                  </a:moveTo>
                  <a:lnTo>
                    <a:pt x="740" y="740"/>
                  </a:lnTo>
                  <a:lnTo>
                    <a:pt x="741" y="74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8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5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5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5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5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8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85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85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75"/>
                                        <p:tgtEl>
                                          <p:spTgt spid="8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7" grpId="0" autoUpdateAnimBg="0"/>
      <p:bldP spid="85014" grpId="0" animBg="1"/>
      <p:bldP spid="85017" grpId="0" autoUpdateAnimBg="0"/>
      <p:bldP spid="85020" grpId="0" animBg="1"/>
      <p:bldP spid="85100" grpId="0" animBg="1" autoUpdateAnimBg="0"/>
      <p:bldP spid="85105" grpId="0" autoUpdateAnimBg="0"/>
      <p:bldP spid="85106" grpId="0" autoUpdateAnimBg="0"/>
      <p:bldP spid="85107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5"/>
          <p:cNvSpPr txBox="1">
            <a:spLocks noChangeArrowheads="1"/>
          </p:cNvSpPr>
          <p:nvPr/>
        </p:nvSpPr>
        <p:spPr bwMode="auto">
          <a:xfrm>
            <a:off x="1440702" y="1215173"/>
            <a:ext cx="5594801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</a:rPr>
              <a:t>判断下列直线是什么位置的直线？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sp>
        <p:nvSpPr>
          <p:cNvPr id="19568" name="Text Box 112"/>
          <p:cNvSpPr txBox="1">
            <a:spLocks noChangeArrowheads="1"/>
          </p:cNvSpPr>
          <p:nvPr/>
        </p:nvSpPr>
        <p:spPr bwMode="auto">
          <a:xfrm>
            <a:off x="7221539" y="1712000"/>
            <a:ext cx="176847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侧平线</a:t>
            </a:r>
          </a:p>
        </p:txBody>
      </p:sp>
      <p:sp>
        <p:nvSpPr>
          <p:cNvPr id="19567" name="Text Box 111"/>
          <p:cNvSpPr txBox="1">
            <a:spLocks noChangeArrowheads="1"/>
          </p:cNvSpPr>
          <p:nvPr/>
        </p:nvSpPr>
        <p:spPr bwMode="auto">
          <a:xfrm>
            <a:off x="3336926" y="1712000"/>
            <a:ext cx="111280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正平线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19774" name="Text Box 318"/>
          <p:cNvSpPr txBox="1">
            <a:spLocks noChangeArrowheads="1"/>
          </p:cNvSpPr>
          <p:nvPr/>
        </p:nvSpPr>
        <p:spPr bwMode="auto">
          <a:xfrm>
            <a:off x="4274344" y="5959744"/>
            <a:ext cx="67479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与</a:t>
            </a:r>
            <a:r>
              <a:rPr kumimoji="1" lang="en-US" altLang="zh-CN" sz="2400" b="1" dirty="0">
                <a:latin typeface="Times New Roman" pitchFamily="18" charset="0"/>
              </a:rPr>
              <a:t>H</a:t>
            </a:r>
            <a:r>
              <a:rPr kumimoji="1" lang="zh-CN" altLang="en-US" sz="2400" b="1" dirty="0">
                <a:latin typeface="Times New Roman" pitchFamily="18" charset="0"/>
              </a:rPr>
              <a:t>面的夹角</a:t>
            </a:r>
            <a:r>
              <a:rPr kumimoji="1" lang="en-US" altLang="zh-CN" sz="2400" b="1" dirty="0">
                <a:latin typeface="Times New Roman" pitchFamily="18" charset="0"/>
              </a:rPr>
              <a:t>: </a:t>
            </a:r>
            <a:r>
              <a:rPr kumimoji="1" lang="en-US" altLang="zh-CN" sz="2400" b="1" dirty="0">
                <a:solidFill>
                  <a:srgbClr val="FF3300"/>
                </a:solidFill>
                <a:latin typeface="Dutch801 Rm BT" pitchFamily="18" charset="0"/>
                <a:sym typeface="Symbol" pitchFamily="18" charset="2"/>
              </a:rPr>
              <a:t></a:t>
            </a:r>
            <a:r>
              <a:rPr kumimoji="1" lang="en-US" altLang="zh-CN" sz="2400" b="1" dirty="0">
                <a:latin typeface="Times New Roman" pitchFamily="18" charset="0"/>
              </a:rPr>
              <a:t> </a:t>
            </a:r>
            <a:r>
              <a:rPr kumimoji="1" lang="zh-CN" altLang="en-US" sz="2400" b="1" dirty="0">
                <a:latin typeface="Times New Roman" pitchFamily="18" charset="0"/>
              </a:rPr>
              <a:t>与</a:t>
            </a:r>
            <a:r>
              <a:rPr kumimoji="1" lang="en-US" altLang="zh-CN" sz="2400" b="1" dirty="0">
                <a:latin typeface="Times New Roman" pitchFamily="18" charset="0"/>
              </a:rPr>
              <a:t>V</a:t>
            </a:r>
            <a:r>
              <a:rPr kumimoji="1" lang="zh-CN" altLang="en-US" sz="2400" b="1" dirty="0">
                <a:latin typeface="Times New Roman" pitchFamily="18" charset="0"/>
              </a:rPr>
              <a:t>面的角</a:t>
            </a:r>
            <a:r>
              <a:rPr kumimoji="1" lang="en-US" altLang="zh-CN" sz="2400" b="1" dirty="0">
                <a:latin typeface="Times New Roman" pitchFamily="18" charset="0"/>
              </a:rPr>
              <a:t>:</a:t>
            </a:r>
            <a:r>
              <a:rPr kumimoji="1" lang="en-US" altLang="zh-CN" sz="2400" b="1" dirty="0">
                <a:solidFill>
                  <a:srgbClr val="FF5050"/>
                </a:solidFill>
                <a:latin typeface="Times New Roman" pitchFamily="18" charset="0"/>
              </a:rPr>
              <a:t>β</a:t>
            </a:r>
            <a:r>
              <a:rPr kumimoji="1" lang="zh-CN" altLang="en-US" sz="2400" b="1" dirty="0">
                <a:latin typeface="Times New Roman" pitchFamily="18" charset="0"/>
              </a:rPr>
              <a:t>与</a:t>
            </a:r>
            <a:r>
              <a:rPr kumimoji="1" lang="en-US" altLang="zh-CN" sz="2400" b="1" dirty="0">
                <a:latin typeface="Times New Roman" pitchFamily="18" charset="0"/>
              </a:rPr>
              <a:t>W</a:t>
            </a:r>
            <a:r>
              <a:rPr kumimoji="1" lang="zh-CN" altLang="en-US" sz="2400" b="1" dirty="0">
                <a:latin typeface="Times New Roman" pitchFamily="18" charset="0"/>
              </a:rPr>
              <a:t>面的夹角</a:t>
            </a:r>
            <a:r>
              <a:rPr kumimoji="1" lang="en-US" altLang="zh-CN" sz="2400" b="1" dirty="0">
                <a:latin typeface="Times New Roman" pitchFamily="18" charset="0"/>
              </a:rPr>
              <a:t>:</a:t>
            </a:r>
            <a:r>
              <a:rPr kumimoji="1" lang="en-US" altLang="zh-CN" sz="2400" b="1" dirty="0">
                <a:solidFill>
                  <a:srgbClr val="FF5050"/>
                </a:solidFill>
                <a:latin typeface="Times New Roman" pitchFamily="18" charset="0"/>
              </a:rPr>
              <a:t>γ</a:t>
            </a:r>
          </a:p>
        </p:txBody>
      </p:sp>
      <p:sp>
        <p:nvSpPr>
          <p:cNvPr id="19780" name="AutoShape 324"/>
          <p:cNvSpPr>
            <a:spLocks noChangeArrowheads="1"/>
          </p:cNvSpPr>
          <p:nvPr/>
        </p:nvSpPr>
        <p:spPr bwMode="auto">
          <a:xfrm>
            <a:off x="9224963" y="2302421"/>
            <a:ext cx="914400" cy="531813"/>
          </a:xfrm>
          <a:prstGeom prst="wedgeRectCallout">
            <a:avLst>
              <a:gd name="adj1" fmla="val -63194"/>
              <a:gd name="adj2" fmla="val 91194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实长</a:t>
            </a:r>
            <a:endParaRPr kumimoji="1" lang="zh-CN" altLang="en-US" sz="2000" b="1">
              <a:latin typeface="Times New Roman" pitchFamily="18" charset="0"/>
            </a:endParaRPr>
          </a:p>
        </p:txBody>
      </p:sp>
      <p:sp>
        <p:nvSpPr>
          <p:cNvPr id="19582" name="Text Box 126"/>
          <p:cNvSpPr txBox="1">
            <a:spLocks noChangeArrowheads="1"/>
          </p:cNvSpPr>
          <p:nvPr/>
        </p:nvSpPr>
        <p:spPr bwMode="auto">
          <a:xfrm>
            <a:off x="8858250" y="2975520"/>
            <a:ext cx="3762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Dutch801 Rm BT" pitchFamily="18" charset="0"/>
                <a:sym typeface="Symbol" pitchFamily="18" charset="2"/>
              </a:rPr>
              <a:t></a:t>
            </a:r>
          </a:p>
        </p:txBody>
      </p:sp>
      <p:sp>
        <p:nvSpPr>
          <p:cNvPr id="19789" name="Arc 333"/>
          <p:cNvSpPr>
            <a:spLocks/>
          </p:cNvSpPr>
          <p:nvPr/>
        </p:nvSpPr>
        <p:spPr bwMode="auto">
          <a:xfrm flipH="1">
            <a:off x="8918576" y="3018661"/>
            <a:ext cx="1241425" cy="369332"/>
          </a:xfrm>
          <a:custGeom>
            <a:avLst/>
            <a:gdLst>
              <a:gd name="T0" fmla="*/ 2147483647 w 21577"/>
              <a:gd name="T1" fmla="*/ 0 h 6300"/>
              <a:gd name="T2" fmla="*/ 2147483647 w 21577"/>
              <a:gd name="T3" fmla="*/ 2147483647 h 6300"/>
              <a:gd name="T4" fmla="*/ 0 w 21577"/>
              <a:gd name="T5" fmla="*/ 2147483647 h 6300"/>
              <a:gd name="T6" fmla="*/ 0 60000 65536"/>
              <a:gd name="T7" fmla="*/ 0 60000 65536"/>
              <a:gd name="T8" fmla="*/ 0 60000 65536"/>
              <a:gd name="T9" fmla="*/ 0 w 21577"/>
              <a:gd name="T10" fmla="*/ 0 h 6300"/>
              <a:gd name="T11" fmla="*/ 21577 w 21577"/>
              <a:gd name="T12" fmla="*/ 6300 h 6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7" h="6300" fill="none" extrusionOk="0">
                <a:moveTo>
                  <a:pt x="20660" y="0"/>
                </a:moveTo>
                <a:cubicBezTo>
                  <a:pt x="21185" y="1721"/>
                  <a:pt x="21493" y="3502"/>
                  <a:pt x="21576" y="5301"/>
                </a:cubicBezTo>
              </a:path>
              <a:path w="21577" h="6300" stroke="0" extrusionOk="0">
                <a:moveTo>
                  <a:pt x="20660" y="0"/>
                </a:moveTo>
                <a:cubicBezTo>
                  <a:pt x="21185" y="1721"/>
                  <a:pt x="21493" y="3502"/>
                  <a:pt x="21576" y="5301"/>
                </a:cubicBezTo>
                <a:lnTo>
                  <a:pt x="0" y="63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sm" len="lg"/>
            <a:tailEnd type="triangle" w="sm" len="lg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584" name="Text Box 128"/>
          <p:cNvSpPr txBox="1">
            <a:spLocks noChangeArrowheads="1"/>
          </p:cNvSpPr>
          <p:nvPr/>
        </p:nvSpPr>
        <p:spPr bwMode="auto">
          <a:xfrm>
            <a:off x="8516690" y="2644677"/>
            <a:ext cx="3465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Times New Roman" pitchFamily="18" charset="0"/>
              </a:rPr>
              <a:t>β</a:t>
            </a:r>
            <a:endParaRPr kumimoji="1" lang="en-US" altLang="zh-CN" sz="3600" b="1">
              <a:latin typeface="Times New Roman" pitchFamily="18" charset="0"/>
            </a:endParaRPr>
          </a:p>
        </p:txBody>
      </p:sp>
      <p:sp>
        <p:nvSpPr>
          <p:cNvPr id="19790" name="Arc 334"/>
          <p:cNvSpPr>
            <a:spLocks/>
          </p:cNvSpPr>
          <p:nvPr/>
        </p:nvSpPr>
        <p:spPr bwMode="auto">
          <a:xfrm rot="4679888">
            <a:off x="8389145" y="2583686"/>
            <a:ext cx="592137" cy="369332"/>
          </a:xfrm>
          <a:custGeom>
            <a:avLst/>
            <a:gdLst>
              <a:gd name="T0" fmla="*/ 2147483647 w 21578"/>
              <a:gd name="T1" fmla="*/ 0 h 12812"/>
              <a:gd name="T2" fmla="*/ 2147483647 w 21578"/>
              <a:gd name="T3" fmla="*/ 2147483647 h 12812"/>
              <a:gd name="T4" fmla="*/ 0 w 21578"/>
              <a:gd name="T5" fmla="*/ 2147483647 h 12812"/>
              <a:gd name="T6" fmla="*/ 0 60000 65536"/>
              <a:gd name="T7" fmla="*/ 0 60000 65536"/>
              <a:gd name="T8" fmla="*/ 0 60000 65536"/>
              <a:gd name="T9" fmla="*/ 0 w 21578"/>
              <a:gd name="T10" fmla="*/ 0 h 12812"/>
              <a:gd name="T11" fmla="*/ 21578 w 21578"/>
              <a:gd name="T12" fmla="*/ 12812 h 128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8" h="12812" fill="none" extrusionOk="0">
                <a:moveTo>
                  <a:pt x="17390" y="-1"/>
                </a:moveTo>
                <a:cubicBezTo>
                  <a:pt x="19928" y="3445"/>
                  <a:pt x="21385" y="7566"/>
                  <a:pt x="21578" y="11840"/>
                </a:cubicBezTo>
              </a:path>
              <a:path w="21578" h="12812" stroke="0" extrusionOk="0">
                <a:moveTo>
                  <a:pt x="17390" y="-1"/>
                </a:moveTo>
                <a:cubicBezTo>
                  <a:pt x="19928" y="3445"/>
                  <a:pt x="21385" y="7566"/>
                  <a:pt x="21578" y="11840"/>
                </a:cubicBezTo>
                <a:lnTo>
                  <a:pt x="0" y="12812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sm" len="lg"/>
            <a:tailEnd type="triangle" w="sm" len="lg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779" name="AutoShape 323"/>
          <p:cNvSpPr>
            <a:spLocks noChangeArrowheads="1"/>
          </p:cNvSpPr>
          <p:nvPr/>
        </p:nvSpPr>
        <p:spPr bwMode="auto">
          <a:xfrm>
            <a:off x="2063750" y="2184946"/>
            <a:ext cx="914400" cy="531813"/>
          </a:xfrm>
          <a:prstGeom prst="wedgeRectCallout">
            <a:avLst>
              <a:gd name="adj1" fmla="val 46528"/>
              <a:gd name="adj2" fmla="val 88806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实长</a:t>
            </a:r>
            <a:endParaRPr kumimoji="1" lang="zh-CN" altLang="en-US" sz="2000" b="1">
              <a:latin typeface="Times New Roman" pitchFamily="18" charset="0"/>
            </a:endParaRPr>
          </a:p>
        </p:txBody>
      </p:sp>
      <p:sp>
        <p:nvSpPr>
          <p:cNvPr id="19787" name="Arc 331"/>
          <p:cNvSpPr>
            <a:spLocks/>
          </p:cNvSpPr>
          <p:nvPr/>
        </p:nvSpPr>
        <p:spPr bwMode="auto">
          <a:xfrm rot="9292631">
            <a:off x="3291392" y="2802761"/>
            <a:ext cx="184731" cy="369332"/>
          </a:xfrm>
          <a:custGeom>
            <a:avLst/>
            <a:gdLst>
              <a:gd name="T0" fmla="*/ 0 w 21600"/>
              <a:gd name="T1" fmla="*/ 0 h 25220"/>
              <a:gd name="T2" fmla="*/ 2147483647 w 21600"/>
              <a:gd name="T3" fmla="*/ 2147483647 h 25220"/>
              <a:gd name="T4" fmla="*/ 0 w 21600"/>
              <a:gd name="T5" fmla="*/ 2147483647 h 25220"/>
              <a:gd name="T6" fmla="*/ 0 60000 65536"/>
              <a:gd name="T7" fmla="*/ 0 60000 65536"/>
              <a:gd name="T8" fmla="*/ 0 60000 65536"/>
              <a:gd name="T9" fmla="*/ 0 w 21600"/>
              <a:gd name="T10" fmla="*/ 0 h 25220"/>
              <a:gd name="T11" fmla="*/ 21600 w 21600"/>
              <a:gd name="T12" fmla="*/ 25220 h 252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522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813"/>
                  <a:pt x="21497" y="24024"/>
                  <a:pt x="21294" y="25220"/>
                </a:cubicBezTo>
              </a:path>
              <a:path w="21600" h="2522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813"/>
                  <a:pt x="21497" y="24024"/>
                  <a:pt x="21294" y="2522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sm" len="lg"/>
            <a:tailEnd type="triangle" w="sm" len="lg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587" name="Text Box 131"/>
          <p:cNvSpPr txBox="1">
            <a:spLocks noChangeArrowheads="1"/>
          </p:cNvSpPr>
          <p:nvPr/>
        </p:nvSpPr>
        <p:spPr bwMode="auto">
          <a:xfrm>
            <a:off x="3294694" y="2654202"/>
            <a:ext cx="328936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Times New Roman" pitchFamily="18" charset="0"/>
              </a:rPr>
              <a:t>γ</a:t>
            </a:r>
            <a:endParaRPr kumimoji="1" lang="en-US" altLang="zh-CN" sz="3200" b="1">
              <a:latin typeface="Times New Roman" pitchFamily="18" charset="0"/>
            </a:endParaRPr>
          </a:p>
        </p:txBody>
      </p:sp>
      <p:sp>
        <p:nvSpPr>
          <p:cNvPr id="19583" name="Text Box 127"/>
          <p:cNvSpPr txBox="1">
            <a:spLocks noChangeArrowheads="1"/>
          </p:cNvSpPr>
          <p:nvPr/>
        </p:nvSpPr>
        <p:spPr bwMode="auto">
          <a:xfrm>
            <a:off x="2617789" y="2937420"/>
            <a:ext cx="6937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b="1">
                <a:latin typeface="Dutch801 Rm BT" pitchFamily="18" charset="0"/>
                <a:sym typeface="Symbol" pitchFamily="18" charset="2"/>
              </a:rPr>
              <a:t></a:t>
            </a:r>
            <a:endParaRPr kumimoji="1" lang="en-US" altLang="zh-CN" sz="3200" b="1">
              <a:solidFill>
                <a:srgbClr val="FF3300"/>
              </a:solidFill>
              <a:latin typeface="Dutch801 Rm BT" pitchFamily="18" charset="0"/>
              <a:sym typeface="Symbol" pitchFamily="18" charset="2"/>
            </a:endParaRPr>
          </a:p>
        </p:txBody>
      </p:sp>
      <p:sp>
        <p:nvSpPr>
          <p:cNvPr id="19785" name="Arc 329"/>
          <p:cNvSpPr>
            <a:spLocks/>
          </p:cNvSpPr>
          <p:nvPr/>
        </p:nvSpPr>
        <p:spPr bwMode="auto">
          <a:xfrm>
            <a:off x="3008314" y="2977109"/>
            <a:ext cx="149225" cy="369887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sm" len="lg"/>
            <a:tailEnd type="triangle" w="sm" len="lg"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431"/>
          <p:cNvGrpSpPr>
            <a:grpSpLocks/>
          </p:cNvGrpSpPr>
          <p:nvPr/>
        </p:nvGrpSpPr>
        <p:grpSpPr bwMode="auto">
          <a:xfrm>
            <a:off x="2224088" y="2200821"/>
            <a:ext cx="3194050" cy="3100388"/>
            <a:chOff x="441" y="1072"/>
            <a:chExt cx="2012" cy="1953"/>
          </a:xfrm>
        </p:grpSpPr>
        <p:sp>
          <p:nvSpPr>
            <p:cNvPr id="43046" name="Line 389"/>
            <p:cNvSpPr>
              <a:spLocks noChangeShapeType="1"/>
            </p:cNvSpPr>
            <p:nvPr/>
          </p:nvSpPr>
          <p:spPr bwMode="auto">
            <a:xfrm>
              <a:off x="1313" y="1322"/>
              <a:ext cx="84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7" name="Line 390"/>
            <p:cNvSpPr>
              <a:spLocks noChangeShapeType="1"/>
            </p:cNvSpPr>
            <p:nvPr/>
          </p:nvSpPr>
          <p:spPr bwMode="auto">
            <a:xfrm>
              <a:off x="1642" y="2287"/>
              <a:ext cx="579" cy="5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8" name="Line 391"/>
            <p:cNvSpPr>
              <a:spLocks noChangeShapeType="1"/>
            </p:cNvSpPr>
            <p:nvPr/>
          </p:nvSpPr>
          <p:spPr bwMode="auto">
            <a:xfrm>
              <a:off x="626" y="1779"/>
              <a:ext cx="15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9" name="Line 392"/>
            <p:cNvSpPr>
              <a:spLocks noChangeShapeType="1"/>
            </p:cNvSpPr>
            <p:nvPr/>
          </p:nvSpPr>
          <p:spPr bwMode="auto">
            <a:xfrm>
              <a:off x="1642" y="1134"/>
              <a:ext cx="0" cy="18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50" name="Freeform 393"/>
            <p:cNvSpPr>
              <a:spLocks/>
            </p:cNvSpPr>
            <p:nvPr/>
          </p:nvSpPr>
          <p:spPr bwMode="auto">
            <a:xfrm>
              <a:off x="1319" y="1320"/>
              <a:ext cx="93" cy="1499"/>
            </a:xfrm>
            <a:custGeom>
              <a:avLst/>
              <a:gdLst>
                <a:gd name="T0" fmla="*/ 0 w 1"/>
                <a:gd name="T1" fmla="*/ 0 h 779"/>
                <a:gd name="T2" fmla="*/ 0 w 1"/>
                <a:gd name="T3" fmla="*/ 969293 h 779"/>
                <a:gd name="T4" fmla="*/ 0 60000 65536"/>
                <a:gd name="T5" fmla="*/ 0 60000 65536"/>
                <a:gd name="T6" fmla="*/ 0 w 1"/>
                <a:gd name="T7" fmla="*/ 0 h 779"/>
                <a:gd name="T8" fmla="*/ 1 w 1"/>
                <a:gd name="T9" fmla="*/ 779 h 77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79">
                  <a:moveTo>
                    <a:pt x="0" y="0"/>
                  </a:moveTo>
                  <a:lnTo>
                    <a:pt x="0" y="77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51" name="Rectangle 394"/>
            <p:cNvSpPr>
              <a:spLocks noChangeArrowheads="1"/>
            </p:cNvSpPr>
            <p:nvPr/>
          </p:nvSpPr>
          <p:spPr bwMode="auto">
            <a:xfrm>
              <a:off x="2157" y="1621"/>
              <a:ext cx="29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3052" name="Text Box 395"/>
            <p:cNvSpPr txBox="1">
              <a:spLocks noChangeArrowheads="1"/>
            </p:cNvSpPr>
            <p:nvPr/>
          </p:nvSpPr>
          <p:spPr bwMode="auto">
            <a:xfrm>
              <a:off x="2150" y="1097"/>
              <a:ext cx="29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3053" name="Text Box 396"/>
            <p:cNvSpPr txBox="1">
              <a:spLocks noChangeArrowheads="1"/>
            </p:cNvSpPr>
            <p:nvPr/>
          </p:nvSpPr>
          <p:spPr bwMode="auto">
            <a:xfrm>
              <a:off x="1235" y="2729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3054" name="Text Box 397"/>
            <p:cNvSpPr txBox="1">
              <a:spLocks noChangeArrowheads="1"/>
            </p:cNvSpPr>
            <p:nvPr/>
          </p:nvSpPr>
          <p:spPr bwMode="auto">
            <a:xfrm>
              <a:off x="474" y="2729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3055" name="Text Box 398"/>
            <p:cNvSpPr txBox="1">
              <a:spLocks noChangeArrowheads="1"/>
            </p:cNvSpPr>
            <p:nvPr/>
          </p:nvSpPr>
          <p:spPr bwMode="auto">
            <a:xfrm>
              <a:off x="1159" y="1072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3056" name="Text Box 399"/>
            <p:cNvSpPr txBox="1">
              <a:spLocks noChangeArrowheads="1"/>
            </p:cNvSpPr>
            <p:nvPr/>
          </p:nvSpPr>
          <p:spPr bwMode="auto">
            <a:xfrm>
              <a:off x="441" y="1598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3057" name="Line 400"/>
            <p:cNvSpPr>
              <a:spLocks noChangeShapeType="1"/>
            </p:cNvSpPr>
            <p:nvPr/>
          </p:nvSpPr>
          <p:spPr bwMode="auto">
            <a:xfrm>
              <a:off x="489" y="2287"/>
              <a:ext cx="190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58" name="Line 401"/>
            <p:cNvSpPr>
              <a:spLocks noChangeShapeType="1"/>
            </p:cNvSpPr>
            <p:nvPr/>
          </p:nvSpPr>
          <p:spPr bwMode="auto">
            <a:xfrm flipH="1">
              <a:off x="637" y="1781"/>
              <a:ext cx="0" cy="10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59" name="Line 402"/>
            <p:cNvSpPr>
              <a:spLocks noChangeShapeType="1"/>
            </p:cNvSpPr>
            <p:nvPr/>
          </p:nvSpPr>
          <p:spPr bwMode="auto">
            <a:xfrm flipV="1">
              <a:off x="2165" y="1772"/>
              <a:ext cx="0" cy="10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0" name="Line 403"/>
            <p:cNvSpPr>
              <a:spLocks noChangeShapeType="1"/>
            </p:cNvSpPr>
            <p:nvPr/>
          </p:nvSpPr>
          <p:spPr bwMode="auto">
            <a:xfrm>
              <a:off x="1309" y="2801"/>
              <a:ext cx="84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1" name="Freeform 404"/>
            <p:cNvSpPr>
              <a:spLocks/>
            </p:cNvSpPr>
            <p:nvPr/>
          </p:nvSpPr>
          <p:spPr bwMode="auto">
            <a:xfrm>
              <a:off x="636" y="1316"/>
              <a:ext cx="683" cy="465"/>
            </a:xfrm>
            <a:custGeom>
              <a:avLst/>
              <a:gdLst>
                <a:gd name="T0" fmla="*/ 0 w 362"/>
                <a:gd name="T1" fmla="*/ 302408 h 241"/>
                <a:gd name="T2" fmla="*/ 443803 w 362"/>
                <a:gd name="T3" fmla="*/ 0 h 241"/>
                <a:gd name="T4" fmla="*/ 0 60000 65536"/>
                <a:gd name="T5" fmla="*/ 0 60000 65536"/>
                <a:gd name="T6" fmla="*/ 0 w 362"/>
                <a:gd name="T7" fmla="*/ 0 h 241"/>
                <a:gd name="T8" fmla="*/ 362 w 362"/>
                <a:gd name="T9" fmla="*/ 241 h 2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2" h="241">
                  <a:moveTo>
                    <a:pt x="0" y="241"/>
                  </a:moveTo>
                  <a:lnTo>
                    <a:pt x="362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2" name="Freeform 405"/>
            <p:cNvSpPr>
              <a:spLocks/>
            </p:cNvSpPr>
            <p:nvPr/>
          </p:nvSpPr>
          <p:spPr bwMode="auto">
            <a:xfrm>
              <a:off x="2164" y="1320"/>
              <a:ext cx="160" cy="455"/>
            </a:xfrm>
            <a:custGeom>
              <a:avLst/>
              <a:gdLst>
                <a:gd name="T0" fmla="*/ 0 w 1"/>
                <a:gd name="T1" fmla="*/ 0 h 247"/>
                <a:gd name="T2" fmla="*/ 0 w 1"/>
                <a:gd name="T3" fmla="*/ 306523 h 247"/>
                <a:gd name="T4" fmla="*/ 0 60000 65536"/>
                <a:gd name="T5" fmla="*/ 0 60000 65536"/>
                <a:gd name="T6" fmla="*/ 0 w 1"/>
                <a:gd name="T7" fmla="*/ 0 h 247"/>
                <a:gd name="T8" fmla="*/ 1 w 1"/>
                <a:gd name="T9" fmla="*/ 247 h 24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47">
                  <a:moveTo>
                    <a:pt x="0" y="0"/>
                  </a:moveTo>
                  <a:lnTo>
                    <a:pt x="0" y="247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63" name="Line 406"/>
            <p:cNvSpPr>
              <a:spLocks noChangeShapeType="1"/>
            </p:cNvSpPr>
            <p:nvPr/>
          </p:nvSpPr>
          <p:spPr bwMode="auto">
            <a:xfrm>
              <a:off x="637" y="2805"/>
              <a:ext cx="69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432"/>
          <p:cNvGrpSpPr>
            <a:grpSpLocks/>
          </p:cNvGrpSpPr>
          <p:nvPr/>
        </p:nvGrpSpPr>
        <p:grpSpPr bwMode="auto">
          <a:xfrm>
            <a:off x="6653213" y="2213522"/>
            <a:ext cx="3105150" cy="3065463"/>
            <a:chOff x="3231" y="1080"/>
            <a:chExt cx="1956" cy="1931"/>
          </a:xfrm>
        </p:grpSpPr>
        <p:sp>
          <p:nvSpPr>
            <p:cNvPr id="43027" name="Text Box 411"/>
            <p:cNvSpPr txBox="1">
              <a:spLocks noChangeArrowheads="1"/>
            </p:cNvSpPr>
            <p:nvPr/>
          </p:nvSpPr>
          <p:spPr bwMode="auto">
            <a:xfrm>
              <a:off x="4891" y="1669"/>
              <a:ext cx="29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3028" name="Text Box 412"/>
            <p:cNvSpPr txBox="1">
              <a:spLocks noChangeArrowheads="1"/>
            </p:cNvSpPr>
            <p:nvPr/>
          </p:nvSpPr>
          <p:spPr bwMode="auto">
            <a:xfrm>
              <a:off x="3272" y="2218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3029" name="Rectangle 413"/>
            <p:cNvSpPr>
              <a:spLocks noChangeArrowheads="1"/>
            </p:cNvSpPr>
            <p:nvPr/>
          </p:nvSpPr>
          <p:spPr bwMode="auto">
            <a:xfrm>
              <a:off x="4375" y="1080"/>
              <a:ext cx="29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3030" name="Text Box 414"/>
            <p:cNvSpPr txBox="1">
              <a:spLocks noChangeArrowheads="1"/>
            </p:cNvSpPr>
            <p:nvPr/>
          </p:nvSpPr>
          <p:spPr bwMode="auto">
            <a:xfrm>
              <a:off x="3231" y="1652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3031" name="Text Box 415"/>
            <p:cNvSpPr txBox="1">
              <a:spLocks noChangeArrowheads="1"/>
            </p:cNvSpPr>
            <p:nvPr/>
          </p:nvSpPr>
          <p:spPr bwMode="auto">
            <a:xfrm>
              <a:off x="3285" y="2720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3032" name="Text Box 416"/>
            <p:cNvSpPr txBox="1">
              <a:spLocks noChangeArrowheads="1"/>
            </p:cNvSpPr>
            <p:nvPr/>
          </p:nvSpPr>
          <p:spPr bwMode="auto">
            <a:xfrm>
              <a:off x="3261" y="1147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3033" name="Line 417"/>
            <p:cNvSpPr>
              <a:spLocks noChangeShapeType="1"/>
            </p:cNvSpPr>
            <p:nvPr/>
          </p:nvSpPr>
          <p:spPr bwMode="auto">
            <a:xfrm>
              <a:off x="4455" y="1335"/>
              <a:ext cx="455" cy="4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4" name="Line 418"/>
            <p:cNvSpPr>
              <a:spLocks noChangeShapeType="1"/>
            </p:cNvSpPr>
            <p:nvPr/>
          </p:nvSpPr>
          <p:spPr bwMode="auto">
            <a:xfrm>
              <a:off x="4898" y="1793"/>
              <a:ext cx="0" cy="10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5" name="Line 419"/>
            <p:cNvSpPr>
              <a:spLocks noChangeShapeType="1"/>
            </p:cNvSpPr>
            <p:nvPr/>
          </p:nvSpPr>
          <p:spPr bwMode="auto">
            <a:xfrm>
              <a:off x="4455" y="1358"/>
              <a:ext cx="0" cy="10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6" name="Line 420"/>
            <p:cNvSpPr>
              <a:spLocks noChangeShapeType="1"/>
            </p:cNvSpPr>
            <p:nvPr/>
          </p:nvSpPr>
          <p:spPr bwMode="auto">
            <a:xfrm>
              <a:off x="4183" y="2136"/>
              <a:ext cx="752" cy="7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7" name="Line 421"/>
            <p:cNvSpPr>
              <a:spLocks noChangeShapeType="1"/>
            </p:cNvSpPr>
            <p:nvPr/>
          </p:nvSpPr>
          <p:spPr bwMode="auto">
            <a:xfrm>
              <a:off x="4183" y="1155"/>
              <a:ext cx="0" cy="18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8" name="Line 422"/>
            <p:cNvSpPr>
              <a:spLocks noChangeShapeType="1"/>
            </p:cNvSpPr>
            <p:nvPr/>
          </p:nvSpPr>
          <p:spPr bwMode="auto">
            <a:xfrm>
              <a:off x="3260" y="2134"/>
              <a:ext cx="1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39" name="Line 423"/>
            <p:cNvSpPr>
              <a:spLocks noChangeShapeType="1"/>
            </p:cNvSpPr>
            <p:nvPr/>
          </p:nvSpPr>
          <p:spPr bwMode="auto">
            <a:xfrm flipH="1">
              <a:off x="3476" y="1335"/>
              <a:ext cx="9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0" name="Line 424"/>
            <p:cNvSpPr>
              <a:spLocks noChangeShapeType="1"/>
            </p:cNvSpPr>
            <p:nvPr/>
          </p:nvSpPr>
          <p:spPr bwMode="auto">
            <a:xfrm flipH="1">
              <a:off x="3476" y="1790"/>
              <a:ext cx="1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1" name="Line 425"/>
            <p:cNvSpPr>
              <a:spLocks noChangeShapeType="1"/>
            </p:cNvSpPr>
            <p:nvPr/>
          </p:nvSpPr>
          <p:spPr bwMode="auto">
            <a:xfrm>
              <a:off x="3476" y="1767"/>
              <a:ext cx="0" cy="6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2" name="Line 426"/>
            <p:cNvSpPr>
              <a:spLocks noChangeShapeType="1"/>
            </p:cNvSpPr>
            <p:nvPr/>
          </p:nvSpPr>
          <p:spPr bwMode="auto">
            <a:xfrm>
              <a:off x="3476" y="2406"/>
              <a:ext cx="0" cy="45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3" name="Line 427"/>
            <p:cNvSpPr>
              <a:spLocks noChangeShapeType="1"/>
            </p:cNvSpPr>
            <p:nvPr/>
          </p:nvSpPr>
          <p:spPr bwMode="auto">
            <a:xfrm>
              <a:off x="3476" y="1335"/>
              <a:ext cx="0" cy="45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4" name="Line 428"/>
            <p:cNvSpPr>
              <a:spLocks noChangeShapeType="1"/>
            </p:cNvSpPr>
            <p:nvPr/>
          </p:nvSpPr>
          <p:spPr bwMode="auto">
            <a:xfrm>
              <a:off x="3475" y="2406"/>
              <a:ext cx="97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045" name="Line 429"/>
            <p:cNvSpPr>
              <a:spLocks noChangeShapeType="1"/>
            </p:cNvSpPr>
            <p:nvPr/>
          </p:nvSpPr>
          <p:spPr bwMode="auto">
            <a:xfrm>
              <a:off x="3475" y="2848"/>
              <a:ext cx="14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9886" name="Text Box 430"/>
          <p:cNvSpPr txBox="1">
            <a:spLocks noChangeArrowheads="1"/>
          </p:cNvSpPr>
          <p:nvPr/>
        </p:nvSpPr>
        <p:spPr bwMode="auto">
          <a:xfrm>
            <a:off x="2346430" y="5428022"/>
            <a:ext cx="42066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</a:rPr>
              <a:t>直线与投影面夹角的表示法：</a:t>
            </a:r>
          </a:p>
        </p:txBody>
      </p:sp>
      <p:sp>
        <p:nvSpPr>
          <p:cNvPr id="56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19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" fill="hold"/>
                                        <p:tgtEl>
                                          <p:spTgt spid="19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19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19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9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19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19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9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75" fill="hold"/>
                                        <p:tgtEl>
                                          <p:spTgt spid="19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" fill="hold"/>
                                        <p:tgtEl>
                                          <p:spTgt spid="19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75"/>
                                        <p:tgtEl>
                                          <p:spTgt spid="19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8" grpId="0" autoUpdateAnimBg="0"/>
      <p:bldP spid="19567" grpId="0" autoUpdateAnimBg="0"/>
      <p:bldP spid="19774" grpId="0" autoUpdateAnimBg="0"/>
      <p:bldP spid="19780" grpId="0" animBg="1" autoUpdateAnimBg="0"/>
      <p:bldP spid="19582" grpId="0" autoUpdateAnimBg="0"/>
      <p:bldP spid="19789" grpId="0" animBg="1"/>
      <p:bldP spid="19584" grpId="0" autoUpdateAnimBg="0"/>
      <p:bldP spid="19790" grpId="0" animBg="1"/>
      <p:bldP spid="19779" grpId="0" animBg="1" autoUpdateAnimBg="0"/>
      <p:bldP spid="19787" grpId="0" animBg="1"/>
      <p:bldP spid="19587" grpId="0" autoUpdateAnimBg="0"/>
      <p:bldP spid="19583" grpId="0" autoUpdateAnimBg="0"/>
      <p:bldP spid="19785" grpId="0" animBg="1"/>
      <p:bldP spid="19886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4" name="Text Box 74"/>
          <p:cNvSpPr txBox="1">
            <a:spLocks noChangeArrowheads="1"/>
          </p:cNvSpPr>
          <p:nvPr/>
        </p:nvSpPr>
        <p:spPr bwMode="auto">
          <a:xfrm>
            <a:off x="2708275" y="5879014"/>
            <a:ext cx="755491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             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反映线段实长，且垂直于相应的投影轴。</a:t>
            </a:r>
          </a:p>
        </p:txBody>
      </p:sp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999484" y="1337186"/>
            <a:ext cx="289053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⑵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投影面垂直线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sp>
        <p:nvSpPr>
          <p:cNvPr id="20530" name="Text Box 50"/>
          <p:cNvSpPr txBox="1">
            <a:spLocks noChangeArrowheads="1"/>
          </p:cNvSpPr>
          <p:nvPr/>
        </p:nvSpPr>
        <p:spPr bwMode="auto">
          <a:xfrm>
            <a:off x="2684464" y="1900337"/>
            <a:ext cx="111280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铅垂线</a:t>
            </a:r>
          </a:p>
        </p:txBody>
      </p:sp>
      <p:sp>
        <p:nvSpPr>
          <p:cNvPr id="20532" name="Text Box 52"/>
          <p:cNvSpPr txBox="1">
            <a:spLocks noChangeArrowheads="1"/>
          </p:cNvSpPr>
          <p:nvPr/>
        </p:nvSpPr>
        <p:spPr bwMode="auto">
          <a:xfrm>
            <a:off x="5408614" y="1900337"/>
            <a:ext cx="111280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正垂线</a:t>
            </a:r>
          </a:p>
        </p:txBody>
      </p:sp>
      <p:sp>
        <p:nvSpPr>
          <p:cNvPr id="20533" name="Text Box 53"/>
          <p:cNvSpPr txBox="1">
            <a:spLocks noChangeArrowheads="1"/>
          </p:cNvSpPr>
          <p:nvPr/>
        </p:nvSpPr>
        <p:spPr bwMode="auto">
          <a:xfrm>
            <a:off x="8137526" y="1900337"/>
            <a:ext cx="111280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侧垂线</a:t>
            </a:r>
          </a:p>
        </p:txBody>
      </p:sp>
      <p:sp>
        <p:nvSpPr>
          <p:cNvPr id="20538" name="Text Box 58"/>
          <p:cNvSpPr txBox="1">
            <a:spLocks noChangeArrowheads="1"/>
          </p:cNvSpPr>
          <p:nvPr/>
        </p:nvSpPr>
        <p:spPr bwMode="auto">
          <a:xfrm>
            <a:off x="2274298" y="5877273"/>
            <a:ext cx="2813591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solidFill>
                  <a:srgbClr val="003399"/>
                </a:solidFill>
                <a:latin typeface="Times New Roman" pitchFamily="18" charset="0"/>
              </a:rPr>
              <a:t>②</a:t>
            </a:r>
            <a:r>
              <a:rPr kumimoji="1"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 </a:t>
            </a:r>
            <a:r>
              <a:rPr kumimoji="1"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另外两个投影</a:t>
            </a:r>
            <a:r>
              <a:rPr kumimoji="1" lang="zh-CN" altLang="en-US" sz="2400" dirty="0">
                <a:solidFill>
                  <a:srgbClr val="003399"/>
                </a:solidFill>
                <a:latin typeface="Times New Roman" pitchFamily="18" charset="0"/>
              </a:rPr>
              <a:t>，</a:t>
            </a:r>
          </a:p>
        </p:txBody>
      </p:sp>
      <p:sp>
        <p:nvSpPr>
          <p:cNvPr id="20537" name="Text Box 57"/>
          <p:cNvSpPr txBox="1">
            <a:spLocks noChangeArrowheads="1"/>
          </p:cNvSpPr>
          <p:nvPr/>
        </p:nvSpPr>
        <p:spPr bwMode="auto">
          <a:xfrm>
            <a:off x="2244726" y="5343600"/>
            <a:ext cx="556101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① </a:t>
            </a:r>
            <a:r>
              <a:rPr kumimoji="1"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在其垂直的投影面上，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20552" name="Text Box 72"/>
          <p:cNvSpPr txBox="1">
            <a:spLocks noChangeArrowheads="1"/>
          </p:cNvSpPr>
          <p:nvPr/>
        </p:nvSpPr>
        <p:spPr bwMode="auto">
          <a:xfrm>
            <a:off x="5755468" y="5343600"/>
            <a:ext cx="234872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投影有积聚性</a:t>
            </a:r>
            <a:r>
              <a:rPr kumimoji="1" lang="zh-CN" altLang="en-US" sz="2400" dirty="0">
                <a:solidFill>
                  <a:srgbClr val="FF3300"/>
                </a:solidFill>
                <a:latin typeface="宋体" pitchFamily="2" charset="-122"/>
              </a:rPr>
              <a:t>。</a:t>
            </a:r>
            <a:endParaRPr kumimoji="1" lang="zh-CN" altLang="en-US" sz="2400" dirty="0">
              <a:solidFill>
                <a:srgbClr val="3333FF"/>
              </a:solidFill>
              <a:latin typeface="宋体" pitchFamily="2" charset="-122"/>
            </a:endParaRPr>
          </a:p>
        </p:txBody>
      </p:sp>
      <p:sp>
        <p:nvSpPr>
          <p:cNvPr id="20579" name="Text Box 99"/>
          <p:cNvSpPr txBox="1">
            <a:spLocks noChangeArrowheads="1"/>
          </p:cNvSpPr>
          <p:nvPr/>
        </p:nvSpPr>
        <p:spPr bwMode="auto">
          <a:xfrm>
            <a:off x="2286076" y="4839544"/>
            <a:ext cx="1577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投影特性</a:t>
            </a:r>
            <a:r>
              <a:rPr kumimoji="1" lang="en-US" altLang="zh-CN" sz="24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:</a:t>
            </a:r>
          </a:p>
        </p:txBody>
      </p:sp>
      <p:grpSp>
        <p:nvGrpSpPr>
          <p:cNvPr id="2" name="Group 136"/>
          <p:cNvGrpSpPr>
            <a:grpSpLocks/>
          </p:cNvGrpSpPr>
          <p:nvPr/>
        </p:nvGrpSpPr>
        <p:grpSpPr bwMode="auto">
          <a:xfrm>
            <a:off x="2189164" y="2537124"/>
            <a:ext cx="2405063" cy="2335213"/>
            <a:chOff x="419" y="930"/>
            <a:chExt cx="1515" cy="1471"/>
          </a:xfrm>
        </p:grpSpPr>
        <p:sp>
          <p:nvSpPr>
            <p:cNvPr id="44079" name="Line 131"/>
            <p:cNvSpPr>
              <a:spLocks noChangeShapeType="1"/>
            </p:cNvSpPr>
            <p:nvPr/>
          </p:nvSpPr>
          <p:spPr bwMode="auto">
            <a:xfrm flipV="1">
              <a:off x="664" y="1597"/>
              <a:ext cx="0" cy="53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0" name="Line 14"/>
            <p:cNvSpPr>
              <a:spLocks noChangeShapeType="1"/>
            </p:cNvSpPr>
            <p:nvPr/>
          </p:nvSpPr>
          <p:spPr bwMode="auto">
            <a:xfrm>
              <a:off x="665" y="1124"/>
              <a:ext cx="9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1" name="Line 15"/>
            <p:cNvSpPr>
              <a:spLocks noChangeShapeType="1"/>
            </p:cNvSpPr>
            <p:nvPr/>
          </p:nvSpPr>
          <p:spPr bwMode="auto">
            <a:xfrm>
              <a:off x="665" y="1602"/>
              <a:ext cx="9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2" name="Line 18"/>
            <p:cNvSpPr>
              <a:spLocks noChangeShapeType="1"/>
            </p:cNvSpPr>
            <p:nvPr/>
          </p:nvSpPr>
          <p:spPr bwMode="auto">
            <a:xfrm flipH="1">
              <a:off x="665" y="2136"/>
              <a:ext cx="9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83" name="Text Box 47"/>
            <p:cNvSpPr txBox="1">
              <a:spLocks noChangeArrowheads="1"/>
            </p:cNvSpPr>
            <p:nvPr/>
          </p:nvSpPr>
          <p:spPr bwMode="auto">
            <a:xfrm>
              <a:off x="580" y="2071"/>
              <a:ext cx="172" cy="1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7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>
                <a:latin typeface="Times New Roman" pitchFamily="18" charset="0"/>
              </a:endParaRPr>
            </a:p>
          </p:txBody>
        </p:sp>
        <p:sp>
          <p:nvSpPr>
            <p:cNvPr id="44084" name="Text Box 101"/>
            <p:cNvSpPr txBox="1">
              <a:spLocks noChangeArrowheads="1"/>
            </p:cNvSpPr>
            <p:nvPr/>
          </p:nvSpPr>
          <p:spPr bwMode="auto">
            <a:xfrm>
              <a:off x="434" y="931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4085" name="Text Box 103"/>
            <p:cNvSpPr txBox="1">
              <a:spLocks noChangeArrowheads="1"/>
            </p:cNvSpPr>
            <p:nvPr/>
          </p:nvSpPr>
          <p:spPr bwMode="auto">
            <a:xfrm>
              <a:off x="419" y="1440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4086" name="Text Box 114"/>
            <p:cNvSpPr txBox="1">
              <a:spLocks noChangeArrowheads="1"/>
            </p:cNvSpPr>
            <p:nvPr/>
          </p:nvSpPr>
          <p:spPr bwMode="auto">
            <a:xfrm>
              <a:off x="436" y="2110"/>
              <a:ext cx="44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</a:rPr>
                <a:t>(</a:t>
              </a:r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44087" name="Text Box 115"/>
            <p:cNvSpPr txBox="1">
              <a:spLocks noChangeArrowheads="1"/>
            </p:cNvSpPr>
            <p:nvPr/>
          </p:nvSpPr>
          <p:spPr bwMode="auto">
            <a:xfrm>
              <a:off x="1638" y="930"/>
              <a:ext cx="29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4088" name="Text Box 118"/>
            <p:cNvSpPr txBox="1">
              <a:spLocks noChangeArrowheads="1"/>
            </p:cNvSpPr>
            <p:nvPr/>
          </p:nvSpPr>
          <p:spPr bwMode="auto">
            <a:xfrm>
              <a:off x="1629" y="1423"/>
              <a:ext cx="29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4089" name="Line 129"/>
            <p:cNvSpPr>
              <a:spLocks noChangeShapeType="1"/>
            </p:cNvSpPr>
            <p:nvPr/>
          </p:nvSpPr>
          <p:spPr bwMode="auto">
            <a:xfrm>
              <a:off x="1265" y="1772"/>
              <a:ext cx="411" cy="4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90" name="Line 130"/>
            <p:cNvSpPr>
              <a:spLocks noChangeShapeType="1"/>
            </p:cNvSpPr>
            <p:nvPr/>
          </p:nvSpPr>
          <p:spPr bwMode="auto">
            <a:xfrm flipV="1">
              <a:off x="1633" y="1592"/>
              <a:ext cx="0" cy="5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91" name="Line 132"/>
            <p:cNvSpPr>
              <a:spLocks noChangeShapeType="1"/>
            </p:cNvSpPr>
            <p:nvPr/>
          </p:nvSpPr>
          <p:spPr bwMode="auto">
            <a:xfrm flipV="1">
              <a:off x="672" y="1126"/>
              <a:ext cx="0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92" name="Line 133"/>
            <p:cNvSpPr>
              <a:spLocks noChangeShapeType="1"/>
            </p:cNvSpPr>
            <p:nvPr/>
          </p:nvSpPr>
          <p:spPr bwMode="auto">
            <a:xfrm>
              <a:off x="559" y="1780"/>
              <a:ext cx="121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93" name="Line 134"/>
            <p:cNvSpPr>
              <a:spLocks noChangeShapeType="1"/>
            </p:cNvSpPr>
            <p:nvPr/>
          </p:nvSpPr>
          <p:spPr bwMode="auto">
            <a:xfrm flipV="1">
              <a:off x="1265" y="977"/>
              <a:ext cx="0" cy="12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94" name="Line 135"/>
            <p:cNvSpPr>
              <a:spLocks noChangeShapeType="1"/>
            </p:cNvSpPr>
            <p:nvPr/>
          </p:nvSpPr>
          <p:spPr bwMode="auto">
            <a:xfrm flipV="1">
              <a:off x="1632" y="1126"/>
              <a:ext cx="0" cy="48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46"/>
          <p:cNvGrpSpPr>
            <a:grpSpLocks/>
          </p:cNvGrpSpPr>
          <p:nvPr/>
        </p:nvGrpSpPr>
        <p:grpSpPr bwMode="auto">
          <a:xfrm>
            <a:off x="4843463" y="2538710"/>
            <a:ext cx="2474912" cy="2311400"/>
            <a:chOff x="2091" y="931"/>
            <a:chExt cx="1559" cy="1456"/>
          </a:xfrm>
        </p:grpSpPr>
        <p:sp>
          <p:nvSpPr>
            <p:cNvPr id="44062" name="Line 35"/>
            <p:cNvSpPr>
              <a:spLocks noChangeShapeType="1"/>
            </p:cNvSpPr>
            <p:nvPr/>
          </p:nvSpPr>
          <p:spPr bwMode="auto">
            <a:xfrm flipH="1">
              <a:off x="2412" y="1224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3" name="Line 37"/>
            <p:cNvSpPr>
              <a:spLocks noChangeShapeType="1"/>
            </p:cNvSpPr>
            <p:nvPr/>
          </p:nvSpPr>
          <p:spPr bwMode="auto">
            <a:xfrm flipV="1">
              <a:off x="2412" y="1224"/>
              <a:ext cx="0" cy="5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4" name="Text Box 48"/>
            <p:cNvSpPr txBox="1">
              <a:spLocks noChangeArrowheads="1"/>
            </p:cNvSpPr>
            <p:nvPr/>
          </p:nvSpPr>
          <p:spPr bwMode="auto">
            <a:xfrm>
              <a:off x="2332" y="1162"/>
              <a:ext cx="172" cy="1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7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4065" name="Freeform 89"/>
            <p:cNvSpPr>
              <a:spLocks/>
            </p:cNvSpPr>
            <p:nvPr/>
          </p:nvSpPr>
          <p:spPr bwMode="auto">
            <a:xfrm>
              <a:off x="2872" y="1659"/>
              <a:ext cx="696" cy="700"/>
            </a:xfrm>
            <a:custGeom>
              <a:avLst/>
              <a:gdLst>
                <a:gd name="T0" fmla="*/ 0 w 500"/>
                <a:gd name="T1" fmla="*/ 0 h 500"/>
                <a:gd name="T2" fmla="*/ 5231 w 500"/>
                <a:gd name="T3" fmla="*/ 5142 h 500"/>
                <a:gd name="T4" fmla="*/ 0 60000 65536"/>
                <a:gd name="T5" fmla="*/ 0 60000 65536"/>
                <a:gd name="T6" fmla="*/ 0 w 500"/>
                <a:gd name="T7" fmla="*/ 0 h 500"/>
                <a:gd name="T8" fmla="*/ 500 w 500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00" h="500">
                  <a:moveTo>
                    <a:pt x="0" y="0"/>
                  </a:moveTo>
                  <a:lnTo>
                    <a:pt x="500" y="50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6" name="Text Box 106"/>
            <p:cNvSpPr txBox="1">
              <a:spLocks noChangeArrowheads="1"/>
            </p:cNvSpPr>
            <p:nvPr/>
          </p:nvSpPr>
          <p:spPr bwMode="auto">
            <a:xfrm>
              <a:off x="2091" y="931"/>
              <a:ext cx="52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r>
                <a:rPr kumimoji="1" lang="en-US" altLang="zh-CN" sz="2400" b="1">
                  <a:latin typeface="Times New Roman" pitchFamily="18" charset="0"/>
                  <a:sym typeface="CommercialPi BT" pitchFamily="18" charset="2"/>
                </a:rPr>
                <a:t>(</a:t>
              </a:r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r>
                <a:rPr kumimoji="1" lang="en-US" altLang="zh-CN" sz="2400" b="1">
                  <a:latin typeface="Times New Roman" pitchFamily="18" charset="0"/>
                  <a:sym typeface="CommercialPi BT" pitchFamily="18" charset="2"/>
                </a:rPr>
                <a:t>)</a:t>
              </a:r>
            </a:p>
          </p:txBody>
        </p:sp>
        <p:sp>
          <p:nvSpPr>
            <p:cNvPr id="44067" name="Text Box 112"/>
            <p:cNvSpPr txBox="1">
              <a:spLocks noChangeArrowheads="1"/>
            </p:cNvSpPr>
            <p:nvPr/>
          </p:nvSpPr>
          <p:spPr bwMode="auto">
            <a:xfrm>
              <a:off x="2231" y="2099"/>
              <a:ext cx="2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4068" name="Text Box 113"/>
            <p:cNvSpPr txBox="1">
              <a:spLocks noChangeArrowheads="1"/>
            </p:cNvSpPr>
            <p:nvPr/>
          </p:nvSpPr>
          <p:spPr bwMode="auto">
            <a:xfrm>
              <a:off x="2224" y="1672"/>
              <a:ext cx="217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4069" name="Text Box 116"/>
            <p:cNvSpPr txBox="1">
              <a:spLocks noChangeArrowheads="1"/>
            </p:cNvSpPr>
            <p:nvPr/>
          </p:nvSpPr>
          <p:spPr bwMode="auto">
            <a:xfrm>
              <a:off x="2928" y="963"/>
              <a:ext cx="29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4070" name="Text Box 117"/>
            <p:cNvSpPr txBox="1">
              <a:spLocks noChangeArrowheads="1"/>
            </p:cNvSpPr>
            <p:nvPr/>
          </p:nvSpPr>
          <p:spPr bwMode="auto">
            <a:xfrm>
              <a:off x="3370" y="957"/>
              <a:ext cx="28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4071" name="Line 137"/>
            <p:cNvSpPr>
              <a:spLocks noChangeShapeType="1"/>
            </p:cNvSpPr>
            <p:nvPr/>
          </p:nvSpPr>
          <p:spPr bwMode="auto">
            <a:xfrm flipH="1">
              <a:off x="2409" y="1816"/>
              <a:ext cx="61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2" name="Line 138"/>
            <p:cNvSpPr>
              <a:spLocks noChangeShapeType="1"/>
            </p:cNvSpPr>
            <p:nvPr/>
          </p:nvSpPr>
          <p:spPr bwMode="auto">
            <a:xfrm>
              <a:off x="2863" y="1099"/>
              <a:ext cx="0" cy="12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3" name="Line 140"/>
            <p:cNvSpPr>
              <a:spLocks noChangeShapeType="1"/>
            </p:cNvSpPr>
            <p:nvPr/>
          </p:nvSpPr>
          <p:spPr bwMode="auto">
            <a:xfrm>
              <a:off x="2252" y="1649"/>
              <a:ext cx="13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4" name="Line 141"/>
            <p:cNvSpPr>
              <a:spLocks noChangeShapeType="1"/>
            </p:cNvSpPr>
            <p:nvPr/>
          </p:nvSpPr>
          <p:spPr bwMode="auto">
            <a:xfrm>
              <a:off x="2417" y="2234"/>
              <a:ext cx="10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5" name="Line 142"/>
            <p:cNvSpPr>
              <a:spLocks noChangeShapeType="1"/>
            </p:cNvSpPr>
            <p:nvPr/>
          </p:nvSpPr>
          <p:spPr bwMode="auto">
            <a:xfrm flipV="1">
              <a:off x="3439" y="1222"/>
              <a:ext cx="0" cy="10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6" name="Line 143"/>
            <p:cNvSpPr>
              <a:spLocks noChangeShapeType="1"/>
            </p:cNvSpPr>
            <p:nvPr/>
          </p:nvSpPr>
          <p:spPr bwMode="auto">
            <a:xfrm>
              <a:off x="2418" y="1815"/>
              <a:ext cx="0" cy="41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7" name="Line 144"/>
            <p:cNvSpPr>
              <a:spLocks noChangeShapeType="1"/>
            </p:cNvSpPr>
            <p:nvPr/>
          </p:nvSpPr>
          <p:spPr bwMode="auto">
            <a:xfrm>
              <a:off x="3028" y="1222"/>
              <a:ext cx="411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78" name="Line 145"/>
            <p:cNvSpPr>
              <a:spLocks noChangeShapeType="1"/>
            </p:cNvSpPr>
            <p:nvPr/>
          </p:nvSpPr>
          <p:spPr bwMode="auto">
            <a:xfrm flipV="1">
              <a:off x="3028" y="1222"/>
              <a:ext cx="0" cy="5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150"/>
          <p:cNvGrpSpPr>
            <a:grpSpLocks/>
          </p:cNvGrpSpPr>
          <p:nvPr/>
        </p:nvGrpSpPr>
        <p:grpSpPr bwMode="auto">
          <a:xfrm>
            <a:off x="7654927" y="2479973"/>
            <a:ext cx="2622551" cy="2247899"/>
            <a:chOff x="3862" y="894"/>
            <a:chExt cx="1652" cy="1416"/>
          </a:xfrm>
        </p:grpSpPr>
        <p:sp>
          <p:nvSpPr>
            <p:cNvPr id="44046" name="Line 39"/>
            <p:cNvSpPr>
              <a:spLocks noChangeShapeType="1"/>
            </p:cNvSpPr>
            <p:nvPr/>
          </p:nvSpPr>
          <p:spPr bwMode="auto">
            <a:xfrm>
              <a:off x="4073" y="1218"/>
              <a:ext cx="49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47" name="Line 40"/>
            <p:cNvSpPr>
              <a:spLocks noChangeShapeType="1"/>
            </p:cNvSpPr>
            <p:nvPr/>
          </p:nvSpPr>
          <p:spPr bwMode="auto">
            <a:xfrm>
              <a:off x="4073" y="1218"/>
              <a:ext cx="0" cy="8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48" name="Line 41"/>
            <p:cNvSpPr>
              <a:spLocks noChangeShapeType="1"/>
            </p:cNvSpPr>
            <p:nvPr/>
          </p:nvSpPr>
          <p:spPr bwMode="auto">
            <a:xfrm>
              <a:off x="4568" y="1218"/>
              <a:ext cx="0" cy="8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49" name="Line 42"/>
            <p:cNvSpPr>
              <a:spLocks noChangeShapeType="1"/>
            </p:cNvSpPr>
            <p:nvPr/>
          </p:nvSpPr>
          <p:spPr bwMode="auto">
            <a:xfrm>
              <a:off x="4073" y="2037"/>
              <a:ext cx="49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0" name="Line 44"/>
            <p:cNvSpPr>
              <a:spLocks noChangeShapeType="1"/>
            </p:cNvSpPr>
            <p:nvPr/>
          </p:nvSpPr>
          <p:spPr bwMode="auto">
            <a:xfrm>
              <a:off x="4568" y="2037"/>
              <a:ext cx="6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1" name="Line 45"/>
            <p:cNvSpPr>
              <a:spLocks noChangeShapeType="1"/>
            </p:cNvSpPr>
            <p:nvPr/>
          </p:nvSpPr>
          <p:spPr bwMode="auto">
            <a:xfrm flipV="1">
              <a:off x="5213" y="1218"/>
              <a:ext cx="0" cy="8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2" name="Line 46"/>
            <p:cNvSpPr>
              <a:spLocks noChangeShapeType="1"/>
            </p:cNvSpPr>
            <p:nvPr/>
          </p:nvSpPr>
          <p:spPr bwMode="auto">
            <a:xfrm>
              <a:off x="4568" y="1218"/>
              <a:ext cx="6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3" name="Text Box 49"/>
            <p:cNvSpPr txBox="1">
              <a:spLocks noChangeArrowheads="1"/>
            </p:cNvSpPr>
            <p:nvPr/>
          </p:nvSpPr>
          <p:spPr bwMode="auto">
            <a:xfrm>
              <a:off x="5130" y="1157"/>
              <a:ext cx="172" cy="1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700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4054" name="Freeform 92"/>
            <p:cNvSpPr>
              <a:spLocks/>
            </p:cNvSpPr>
            <p:nvPr/>
          </p:nvSpPr>
          <p:spPr bwMode="auto">
            <a:xfrm>
              <a:off x="4847" y="1669"/>
              <a:ext cx="530" cy="527"/>
            </a:xfrm>
            <a:custGeom>
              <a:avLst/>
              <a:gdLst>
                <a:gd name="T0" fmla="*/ 0 w 324"/>
                <a:gd name="T1" fmla="*/ 0 h 325"/>
                <a:gd name="T2" fmla="*/ 6754 w 324"/>
                <a:gd name="T3" fmla="*/ 6719 h 325"/>
                <a:gd name="T4" fmla="*/ 0 60000 65536"/>
                <a:gd name="T5" fmla="*/ 0 60000 65536"/>
                <a:gd name="T6" fmla="*/ 0 w 324"/>
                <a:gd name="T7" fmla="*/ 0 h 325"/>
                <a:gd name="T8" fmla="*/ 324 w 324"/>
                <a:gd name="T9" fmla="*/ 325 h 3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4" h="325">
                  <a:moveTo>
                    <a:pt x="0" y="0"/>
                  </a:moveTo>
                  <a:lnTo>
                    <a:pt x="324" y="325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55" name="Text Box 102"/>
            <p:cNvSpPr txBox="1">
              <a:spLocks noChangeArrowheads="1"/>
            </p:cNvSpPr>
            <p:nvPr/>
          </p:nvSpPr>
          <p:spPr bwMode="auto">
            <a:xfrm>
              <a:off x="3862" y="952"/>
              <a:ext cx="36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4056" name="Text Box 104"/>
            <p:cNvSpPr txBox="1">
              <a:spLocks noChangeArrowheads="1"/>
            </p:cNvSpPr>
            <p:nvPr/>
          </p:nvSpPr>
          <p:spPr bwMode="auto">
            <a:xfrm>
              <a:off x="4460" y="905"/>
              <a:ext cx="224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4057" name="Text Box 110"/>
            <p:cNvSpPr txBox="1">
              <a:spLocks noChangeArrowheads="1"/>
            </p:cNvSpPr>
            <p:nvPr/>
          </p:nvSpPr>
          <p:spPr bwMode="auto">
            <a:xfrm>
              <a:off x="3941" y="1979"/>
              <a:ext cx="209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4058" name="Text Box 111"/>
            <p:cNvSpPr txBox="1">
              <a:spLocks noChangeArrowheads="1"/>
            </p:cNvSpPr>
            <p:nvPr/>
          </p:nvSpPr>
          <p:spPr bwMode="auto">
            <a:xfrm>
              <a:off x="4446" y="2019"/>
              <a:ext cx="17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4059" name="Text Box 121"/>
            <p:cNvSpPr txBox="1">
              <a:spLocks noChangeArrowheads="1"/>
            </p:cNvSpPr>
            <p:nvPr/>
          </p:nvSpPr>
          <p:spPr bwMode="auto">
            <a:xfrm>
              <a:off x="4956" y="894"/>
              <a:ext cx="558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  <a:r>
                <a:rPr kumimoji="1" lang="en-US" altLang="zh-CN" sz="2400" b="1">
                  <a:latin typeface="Times New Roman" pitchFamily="18" charset="0"/>
                  <a:sym typeface="CommercialPi BT" pitchFamily="18" charset="2"/>
                </a:rPr>
                <a:t>(</a:t>
              </a:r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  <a:r>
                <a:rPr kumimoji="1" lang="en-US" altLang="zh-CN" sz="2400" b="1">
                  <a:latin typeface="Times New Roman" pitchFamily="18" charset="0"/>
                  <a:sym typeface="CommercialPi BT" pitchFamily="18" charset="2"/>
                </a:rPr>
                <a:t>)</a:t>
              </a:r>
            </a:p>
          </p:txBody>
        </p:sp>
        <p:sp>
          <p:nvSpPr>
            <p:cNvPr id="44060" name="Line 148"/>
            <p:cNvSpPr>
              <a:spLocks noChangeShapeType="1"/>
            </p:cNvSpPr>
            <p:nvPr/>
          </p:nvSpPr>
          <p:spPr bwMode="auto">
            <a:xfrm flipH="1">
              <a:off x="3884" y="1676"/>
              <a:ext cx="14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61" name="Line 149"/>
            <p:cNvSpPr>
              <a:spLocks noChangeShapeType="1"/>
            </p:cNvSpPr>
            <p:nvPr/>
          </p:nvSpPr>
          <p:spPr bwMode="auto">
            <a:xfrm>
              <a:off x="4844" y="1091"/>
              <a:ext cx="0" cy="11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3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205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205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20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75"/>
                                        <p:tgtEl>
                                          <p:spTgt spid="20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54" grpId="0" autoUpdateAnimBg="0"/>
      <p:bldP spid="20530" grpId="0" autoUpdateAnimBg="0"/>
      <p:bldP spid="20532" grpId="0" build="p" autoUpdateAnimBg="0"/>
      <p:bldP spid="20533" grpId="0" autoUpdateAnimBg="0"/>
      <p:bldP spid="20538" grpId="0" build="p" autoUpdateAnimBg="0"/>
      <p:bldP spid="20537" grpId="0" build="p" autoUpdateAnimBg="0"/>
      <p:bldP spid="20552" grpId="0" build="p" autoUpdateAnimBg="0"/>
      <p:bldP spid="2057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972200" y="1299936"/>
            <a:ext cx="289053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⑶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一般位置直线</a:t>
            </a:r>
            <a:endParaRPr kumimoji="1"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Group 136"/>
          <p:cNvGrpSpPr>
            <a:grpSpLocks/>
          </p:cNvGrpSpPr>
          <p:nvPr/>
        </p:nvGrpSpPr>
        <p:grpSpPr bwMode="auto">
          <a:xfrm>
            <a:off x="6449394" y="1824907"/>
            <a:ext cx="3176589" cy="3119437"/>
            <a:chOff x="2941" y="367"/>
            <a:chExt cx="2001" cy="1965"/>
          </a:xfrm>
        </p:grpSpPr>
        <p:sp>
          <p:nvSpPr>
            <p:cNvPr id="45110" name="Rectangle 120"/>
            <p:cNvSpPr>
              <a:spLocks noChangeArrowheads="1"/>
            </p:cNvSpPr>
            <p:nvPr/>
          </p:nvSpPr>
          <p:spPr bwMode="auto">
            <a:xfrm>
              <a:off x="4020" y="367"/>
              <a:ext cx="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200" b="1">
                  <a:solidFill>
                    <a:srgbClr val="000000"/>
                  </a:solidFill>
                  <a:latin typeface="宋体" pitchFamily="2" charset="-122"/>
                </a:rPr>
                <a:t>Z</a:t>
              </a:r>
              <a:endParaRPr kumimoji="1" lang="en-US" altLang="zh-CN" sz="7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11" name="Text Box 132"/>
            <p:cNvSpPr txBox="1">
              <a:spLocks noChangeArrowheads="1"/>
            </p:cNvSpPr>
            <p:nvPr/>
          </p:nvSpPr>
          <p:spPr bwMode="auto">
            <a:xfrm>
              <a:off x="3693" y="39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5112" name="Freeform 105"/>
            <p:cNvSpPr>
              <a:spLocks/>
            </p:cNvSpPr>
            <p:nvPr/>
          </p:nvSpPr>
          <p:spPr bwMode="auto">
            <a:xfrm>
              <a:off x="4693" y="1130"/>
              <a:ext cx="1" cy="1005"/>
            </a:xfrm>
            <a:custGeom>
              <a:avLst/>
              <a:gdLst>
                <a:gd name="T0" fmla="*/ 0 w 1"/>
                <a:gd name="T1" fmla="*/ 0 h 4197"/>
                <a:gd name="T2" fmla="*/ 0 w 1"/>
                <a:gd name="T3" fmla="*/ 0 h 4197"/>
                <a:gd name="T4" fmla="*/ 1 w 1"/>
                <a:gd name="T5" fmla="*/ 0 h 4197"/>
                <a:gd name="T6" fmla="*/ 0 60000 65536"/>
                <a:gd name="T7" fmla="*/ 0 60000 65536"/>
                <a:gd name="T8" fmla="*/ 0 60000 65536"/>
                <a:gd name="T9" fmla="*/ 0 w 1"/>
                <a:gd name="T10" fmla="*/ 0 h 4197"/>
                <a:gd name="T11" fmla="*/ 1 w 1"/>
                <a:gd name="T12" fmla="*/ 4197 h 4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197">
                  <a:moveTo>
                    <a:pt x="0" y="419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3" name="Freeform 106"/>
            <p:cNvSpPr>
              <a:spLocks/>
            </p:cNvSpPr>
            <p:nvPr/>
          </p:nvSpPr>
          <p:spPr bwMode="auto">
            <a:xfrm>
              <a:off x="4033" y="569"/>
              <a:ext cx="0" cy="1647"/>
            </a:xfrm>
            <a:custGeom>
              <a:avLst/>
              <a:gdLst>
                <a:gd name="T0" fmla="*/ 0 w 1"/>
                <a:gd name="T1" fmla="*/ 0 h 6880"/>
                <a:gd name="T2" fmla="*/ 0 w 1"/>
                <a:gd name="T3" fmla="*/ 0 h 6880"/>
                <a:gd name="T4" fmla="*/ 0 w 1"/>
                <a:gd name="T5" fmla="*/ 0 h 6880"/>
                <a:gd name="T6" fmla="*/ 0 60000 65536"/>
                <a:gd name="T7" fmla="*/ 0 60000 65536"/>
                <a:gd name="T8" fmla="*/ 0 60000 65536"/>
                <a:gd name="T9" fmla="*/ 0 w 1"/>
                <a:gd name="T10" fmla="*/ 0 h 6880"/>
                <a:gd name="T11" fmla="*/ 0 w 1"/>
                <a:gd name="T12" fmla="*/ 6880 h 68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880">
                  <a:moveTo>
                    <a:pt x="0" y="0"/>
                  </a:moveTo>
                  <a:lnTo>
                    <a:pt x="0" y="6880"/>
                  </a:lnTo>
                  <a:lnTo>
                    <a:pt x="1" y="688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4" name="Freeform 107"/>
            <p:cNvSpPr>
              <a:spLocks/>
            </p:cNvSpPr>
            <p:nvPr/>
          </p:nvSpPr>
          <p:spPr bwMode="auto">
            <a:xfrm>
              <a:off x="4033" y="1475"/>
              <a:ext cx="704" cy="704"/>
            </a:xfrm>
            <a:custGeom>
              <a:avLst/>
              <a:gdLst>
                <a:gd name="T0" fmla="*/ 0 w 2941"/>
                <a:gd name="T1" fmla="*/ 0 h 2941"/>
                <a:gd name="T2" fmla="*/ 0 w 2941"/>
                <a:gd name="T3" fmla="*/ 0 h 2941"/>
                <a:gd name="T4" fmla="*/ 0 w 2941"/>
                <a:gd name="T5" fmla="*/ 0 h 2941"/>
                <a:gd name="T6" fmla="*/ 0 60000 65536"/>
                <a:gd name="T7" fmla="*/ 0 60000 65536"/>
                <a:gd name="T8" fmla="*/ 0 60000 65536"/>
                <a:gd name="T9" fmla="*/ 0 w 2941"/>
                <a:gd name="T10" fmla="*/ 0 h 2941"/>
                <a:gd name="T11" fmla="*/ 2941 w 2941"/>
                <a:gd name="T12" fmla="*/ 2941 h 29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41" h="2941">
                  <a:moveTo>
                    <a:pt x="0" y="0"/>
                  </a:moveTo>
                  <a:lnTo>
                    <a:pt x="2940" y="2941"/>
                  </a:lnTo>
                  <a:lnTo>
                    <a:pt x="2941" y="2941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5" name="Rectangle 108"/>
            <p:cNvSpPr>
              <a:spLocks noChangeArrowheads="1"/>
            </p:cNvSpPr>
            <p:nvPr/>
          </p:nvSpPr>
          <p:spPr bwMode="auto">
            <a:xfrm>
              <a:off x="4082" y="2119"/>
              <a:ext cx="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200" b="1">
                  <a:solidFill>
                    <a:srgbClr val="000000"/>
                  </a:solidFill>
                  <a:latin typeface="宋体" pitchFamily="2" charset="-122"/>
                </a:rPr>
                <a:t>Y</a:t>
              </a:r>
              <a:endParaRPr kumimoji="1" lang="en-US" altLang="zh-CN" sz="7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16" name="Freeform 109"/>
            <p:cNvSpPr>
              <a:spLocks/>
            </p:cNvSpPr>
            <p:nvPr/>
          </p:nvSpPr>
          <p:spPr bwMode="auto">
            <a:xfrm>
              <a:off x="3170" y="2135"/>
              <a:ext cx="1524" cy="1"/>
            </a:xfrm>
            <a:custGeom>
              <a:avLst/>
              <a:gdLst>
                <a:gd name="T0" fmla="*/ 0 w 6357"/>
                <a:gd name="T1" fmla="*/ 0 h 1"/>
                <a:gd name="T2" fmla="*/ 0 w 6357"/>
                <a:gd name="T3" fmla="*/ 0 h 1"/>
                <a:gd name="T4" fmla="*/ 0 w 6357"/>
                <a:gd name="T5" fmla="*/ 0 h 1"/>
                <a:gd name="T6" fmla="*/ 0 60000 65536"/>
                <a:gd name="T7" fmla="*/ 0 60000 65536"/>
                <a:gd name="T8" fmla="*/ 0 60000 65536"/>
                <a:gd name="T9" fmla="*/ 0 w 6357"/>
                <a:gd name="T10" fmla="*/ 0 h 1"/>
                <a:gd name="T11" fmla="*/ 6357 w 635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57" h="1">
                  <a:moveTo>
                    <a:pt x="0" y="0"/>
                  </a:moveTo>
                  <a:lnTo>
                    <a:pt x="6356" y="0"/>
                  </a:lnTo>
                  <a:lnTo>
                    <a:pt x="6357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7" name="Rectangle 110"/>
            <p:cNvSpPr>
              <a:spLocks noChangeArrowheads="1"/>
            </p:cNvSpPr>
            <p:nvPr/>
          </p:nvSpPr>
          <p:spPr bwMode="auto">
            <a:xfrm>
              <a:off x="3076" y="205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18" name="Rectangle 111"/>
            <p:cNvSpPr>
              <a:spLocks noChangeArrowheads="1"/>
            </p:cNvSpPr>
            <p:nvPr/>
          </p:nvSpPr>
          <p:spPr bwMode="auto">
            <a:xfrm>
              <a:off x="4075" y="1261"/>
              <a:ext cx="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200" b="1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kumimoji="1" lang="en-US" altLang="zh-CN" sz="7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19" name="Freeform 112"/>
            <p:cNvSpPr>
              <a:spLocks/>
            </p:cNvSpPr>
            <p:nvPr/>
          </p:nvSpPr>
          <p:spPr bwMode="auto">
            <a:xfrm>
              <a:off x="3743" y="667"/>
              <a:ext cx="598" cy="1"/>
            </a:xfrm>
            <a:custGeom>
              <a:avLst/>
              <a:gdLst>
                <a:gd name="T0" fmla="*/ 0 w 2498"/>
                <a:gd name="T1" fmla="*/ 0 h 1"/>
                <a:gd name="T2" fmla="*/ 0 w 2498"/>
                <a:gd name="T3" fmla="*/ 0 h 1"/>
                <a:gd name="T4" fmla="*/ 0 w 2498"/>
                <a:gd name="T5" fmla="*/ 0 h 1"/>
                <a:gd name="T6" fmla="*/ 0 60000 65536"/>
                <a:gd name="T7" fmla="*/ 0 60000 65536"/>
                <a:gd name="T8" fmla="*/ 0 60000 65536"/>
                <a:gd name="T9" fmla="*/ 0 w 2498"/>
                <a:gd name="T10" fmla="*/ 0 h 1"/>
                <a:gd name="T11" fmla="*/ 2498 w 249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98" h="1">
                  <a:moveTo>
                    <a:pt x="0" y="0"/>
                  </a:moveTo>
                  <a:lnTo>
                    <a:pt x="2497" y="0"/>
                  </a:lnTo>
                  <a:lnTo>
                    <a:pt x="2498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0" name="Freeform 113"/>
            <p:cNvSpPr>
              <a:spLocks/>
            </p:cNvSpPr>
            <p:nvPr/>
          </p:nvSpPr>
          <p:spPr bwMode="auto">
            <a:xfrm>
              <a:off x="3743" y="1782"/>
              <a:ext cx="598" cy="1"/>
            </a:xfrm>
            <a:custGeom>
              <a:avLst/>
              <a:gdLst>
                <a:gd name="T0" fmla="*/ 0 w 2498"/>
                <a:gd name="T1" fmla="*/ 0 h 1"/>
                <a:gd name="T2" fmla="*/ 0 w 2498"/>
                <a:gd name="T3" fmla="*/ 0 h 1"/>
                <a:gd name="T4" fmla="*/ 0 w 2498"/>
                <a:gd name="T5" fmla="*/ 0 h 1"/>
                <a:gd name="T6" fmla="*/ 0 60000 65536"/>
                <a:gd name="T7" fmla="*/ 0 60000 65536"/>
                <a:gd name="T8" fmla="*/ 0 60000 65536"/>
                <a:gd name="T9" fmla="*/ 0 w 2498"/>
                <a:gd name="T10" fmla="*/ 0 h 1"/>
                <a:gd name="T11" fmla="*/ 2498 w 249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98" h="1">
                  <a:moveTo>
                    <a:pt x="0" y="0"/>
                  </a:moveTo>
                  <a:lnTo>
                    <a:pt x="2497" y="0"/>
                  </a:lnTo>
                  <a:lnTo>
                    <a:pt x="2498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1" name="Freeform 114"/>
            <p:cNvSpPr>
              <a:spLocks/>
            </p:cNvSpPr>
            <p:nvPr/>
          </p:nvSpPr>
          <p:spPr bwMode="auto">
            <a:xfrm>
              <a:off x="3170" y="1130"/>
              <a:ext cx="1524" cy="1"/>
            </a:xfrm>
            <a:custGeom>
              <a:avLst/>
              <a:gdLst>
                <a:gd name="T0" fmla="*/ 0 w 6357"/>
                <a:gd name="T1" fmla="*/ 0 h 1"/>
                <a:gd name="T2" fmla="*/ 0 w 6357"/>
                <a:gd name="T3" fmla="*/ 0 h 1"/>
                <a:gd name="T4" fmla="*/ 0 w 6357"/>
                <a:gd name="T5" fmla="*/ 0 h 1"/>
                <a:gd name="T6" fmla="*/ 0 60000 65536"/>
                <a:gd name="T7" fmla="*/ 0 60000 65536"/>
                <a:gd name="T8" fmla="*/ 0 60000 65536"/>
                <a:gd name="T9" fmla="*/ 0 w 6357"/>
                <a:gd name="T10" fmla="*/ 0 h 1"/>
                <a:gd name="T11" fmla="*/ 6357 w 635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57" h="1">
                  <a:moveTo>
                    <a:pt x="0" y="0"/>
                  </a:moveTo>
                  <a:lnTo>
                    <a:pt x="6356" y="0"/>
                  </a:lnTo>
                  <a:lnTo>
                    <a:pt x="6357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2" name="Rectangle 115"/>
            <p:cNvSpPr>
              <a:spLocks noChangeArrowheads="1"/>
            </p:cNvSpPr>
            <p:nvPr/>
          </p:nvSpPr>
          <p:spPr bwMode="auto">
            <a:xfrm>
              <a:off x="2941" y="1363"/>
              <a:ext cx="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200" b="1">
                  <a:solidFill>
                    <a:srgbClr val="000000"/>
                  </a:solidFill>
                  <a:latin typeface="宋体" pitchFamily="2" charset="-122"/>
                </a:rPr>
                <a:t>X</a:t>
              </a:r>
              <a:endParaRPr kumimoji="1" lang="en-US" altLang="zh-CN" sz="7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23" name="Rectangle 116"/>
            <p:cNvSpPr>
              <a:spLocks noChangeArrowheads="1"/>
            </p:cNvSpPr>
            <p:nvPr/>
          </p:nvSpPr>
          <p:spPr bwMode="auto">
            <a:xfrm>
              <a:off x="3035" y="911"/>
              <a:ext cx="15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24" name="Freeform 117"/>
            <p:cNvSpPr>
              <a:spLocks/>
            </p:cNvSpPr>
            <p:nvPr/>
          </p:nvSpPr>
          <p:spPr bwMode="auto">
            <a:xfrm>
              <a:off x="3743" y="667"/>
              <a:ext cx="1" cy="1115"/>
            </a:xfrm>
            <a:custGeom>
              <a:avLst/>
              <a:gdLst>
                <a:gd name="T0" fmla="*/ 0 w 1"/>
                <a:gd name="T1" fmla="*/ 0 h 4658"/>
                <a:gd name="T2" fmla="*/ 0 w 1"/>
                <a:gd name="T3" fmla="*/ 0 h 4658"/>
                <a:gd name="T4" fmla="*/ 1 w 1"/>
                <a:gd name="T5" fmla="*/ 0 h 4658"/>
                <a:gd name="T6" fmla="*/ 0 60000 65536"/>
                <a:gd name="T7" fmla="*/ 0 60000 65536"/>
                <a:gd name="T8" fmla="*/ 0 60000 65536"/>
                <a:gd name="T9" fmla="*/ 0 w 1"/>
                <a:gd name="T10" fmla="*/ 0 h 4658"/>
                <a:gd name="T11" fmla="*/ 1 w 1"/>
                <a:gd name="T12" fmla="*/ 4658 h 46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58">
                  <a:moveTo>
                    <a:pt x="0" y="0"/>
                  </a:moveTo>
                  <a:lnTo>
                    <a:pt x="0" y="4658"/>
                  </a:lnTo>
                  <a:lnTo>
                    <a:pt x="1" y="4658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5" name="Rectangle 118"/>
            <p:cNvSpPr>
              <a:spLocks noChangeArrowheads="1"/>
            </p:cNvSpPr>
            <p:nvPr/>
          </p:nvSpPr>
          <p:spPr bwMode="auto">
            <a:xfrm>
              <a:off x="3791" y="155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26" name="Rectangle 119"/>
            <p:cNvSpPr>
              <a:spLocks noChangeArrowheads="1"/>
            </p:cNvSpPr>
            <p:nvPr/>
          </p:nvSpPr>
          <p:spPr bwMode="auto">
            <a:xfrm>
              <a:off x="3664" y="462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27" name="Rectangle 121"/>
            <p:cNvSpPr>
              <a:spLocks noChangeArrowheads="1"/>
            </p:cNvSpPr>
            <p:nvPr/>
          </p:nvSpPr>
          <p:spPr bwMode="auto">
            <a:xfrm>
              <a:off x="4747" y="100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28" name="Freeform 122"/>
            <p:cNvSpPr>
              <a:spLocks/>
            </p:cNvSpPr>
            <p:nvPr/>
          </p:nvSpPr>
          <p:spPr bwMode="auto">
            <a:xfrm>
              <a:off x="3170" y="667"/>
              <a:ext cx="573" cy="463"/>
            </a:xfrm>
            <a:custGeom>
              <a:avLst/>
              <a:gdLst>
                <a:gd name="T0" fmla="*/ 0 w 2390"/>
                <a:gd name="T1" fmla="*/ 0 h 1932"/>
                <a:gd name="T2" fmla="*/ 0 w 2390"/>
                <a:gd name="T3" fmla="*/ 0 h 1932"/>
                <a:gd name="T4" fmla="*/ 0 w 2390"/>
                <a:gd name="T5" fmla="*/ 0 h 1932"/>
                <a:gd name="T6" fmla="*/ 0 60000 65536"/>
                <a:gd name="T7" fmla="*/ 0 60000 65536"/>
                <a:gd name="T8" fmla="*/ 0 60000 65536"/>
                <a:gd name="T9" fmla="*/ 0 w 2390"/>
                <a:gd name="T10" fmla="*/ 0 h 1932"/>
                <a:gd name="T11" fmla="*/ 2390 w 2390"/>
                <a:gd name="T12" fmla="*/ 1932 h 19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90" h="1932">
                  <a:moveTo>
                    <a:pt x="0" y="1932"/>
                  </a:moveTo>
                  <a:lnTo>
                    <a:pt x="2389" y="0"/>
                  </a:lnTo>
                  <a:lnTo>
                    <a:pt x="239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9" name="Freeform 123"/>
            <p:cNvSpPr>
              <a:spLocks/>
            </p:cNvSpPr>
            <p:nvPr/>
          </p:nvSpPr>
          <p:spPr bwMode="auto">
            <a:xfrm>
              <a:off x="4341" y="667"/>
              <a:ext cx="1" cy="1115"/>
            </a:xfrm>
            <a:custGeom>
              <a:avLst/>
              <a:gdLst>
                <a:gd name="T0" fmla="*/ 0 w 1"/>
                <a:gd name="T1" fmla="*/ 0 h 4658"/>
                <a:gd name="T2" fmla="*/ 0 w 1"/>
                <a:gd name="T3" fmla="*/ 0 h 4658"/>
                <a:gd name="T4" fmla="*/ 1 w 1"/>
                <a:gd name="T5" fmla="*/ 0 h 4658"/>
                <a:gd name="T6" fmla="*/ 0 60000 65536"/>
                <a:gd name="T7" fmla="*/ 0 60000 65536"/>
                <a:gd name="T8" fmla="*/ 0 60000 65536"/>
                <a:gd name="T9" fmla="*/ 0 w 1"/>
                <a:gd name="T10" fmla="*/ 0 h 4658"/>
                <a:gd name="T11" fmla="*/ 1 w 1"/>
                <a:gd name="T12" fmla="*/ 4658 h 46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58">
                  <a:moveTo>
                    <a:pt x="0" y="465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0" name="Rectangle 124"/>
            <p:cNvSpPr>
              <a:spLocks noChangeArrowheads="1"/>
            </p:cNvSpPr>
            <p:nvPr/>
          </p:nvSpPr>
          <p:spPr bwMode="auto">
            <a:xfrm>
              <a:off x="4852" y="1371"/>
              <a:ext cx="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200" b="1">
                  <a:solidFill>
                    <a:srgbClr val="000000"/>
                  </a:solidFill>
                  <a:latin typeface="宋体" pitchFamily="2" charset="-122"/>
                </a:rPr>
                <a:t>Y</a:t>
              </a:r>
              <a:endParaRPr kumimoji="1" lang="en-US" altLang="zh-CN" sz="7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31" name="Rectangle 125"/>
            <p:cNvSpPr>
              <a:spLocks noChangeArrowheads="1"/>
            </p:cNvSpPr>
            <p:nvPr/>
          </p:nvSpPr>
          <p:spPr bwMode="auto">
            <a:xfrm>
              <a:off x="4392" y="495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32" name="Freeform 126"/>
            <p:cNvSpPr>
              <a:spLocks/>
            </p:cNvSpPr>
            <p:nvPr/>
          </p:nvSpPr>
          <p:spPr bwMode="auto">
            <a:xfrm>
              <a:off x="4341" y="667"/>
              <a:ext cx="353" cy="463"/>
            </a:xfrm>
            <a:custGeom>
              <a:avLst/>
              <a:gdLst>
                <a:gd name="T0" fmla="*/ 0 w 1471"/>
                <a:gd name="T1" fmla="*/ 0 h 1932"/>
                <a:gd name="T2" fmla="*/ 0 w 1471"/>
                <a:gd name="T3" fmla="*/ 0 h 1932"/>
                <a:gd name="T4" fmla="*/ 0 w 1471"/>
                <a:gd name="T5" fmla="*/ 0 h 1932"/>
                <a:gd name="T6" fmla="*/ 0 60000 65536"/>
                <a:gd name="T7" fmla="*/ 0 60000 65536"/>
                <a:gd name="T8" fmla="*/ 0 60000 65536"/>
                <a:gd name="T9" fmla="*/ 0 w 1471"/>
                <a:gd name="T10" fmla="*/ 0 h 1932"/>
                <a:gd name="T11" fmla="*/ 1471 w 1471"/>
                <a:gd name="T12" fmla="*/ 1932 h 19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71" h="1932">
                  <a:moveTo>
                    <a:pt x="0" y="0"/>
                  </a:moveTo>
                  <a:lnTo>
                    <a:pt x="1470" y="1932"/>
                  </a:lnTo>
                  <a:lnTo>
                    <a:pt x="1471" y="193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3" name="Line 127"/>
            <p:cNvSpPr>
              <a:spLocks noChangeShapeType="1"/>
            </p:cNvSpPr>
            <p:nvPr/>
          </p:nvSpPr>
          <p:spPr bwMode="auto">
            <a:xfrm>
              <a:off x="3070" y="1477"/>
              <a:ext cx="17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134" name="Line 128"/>
            <p:cNvSpPr>
              <a:spLocks noChangeShapeType="1"/>
            </p:cNvSpPr>
            <p:nvPr/>
          </p:nvSpPr>
          <p:spPr bwMode="auto">
            <a:xfrm>
              <a:off x="3175" y="1122"/>
              <a:ext cx="0" cy="10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135" name="Freeform 129"/>
            <p:cNvSpPr>
              <a:spLocks/>
            </p:cNvSpPr>
            <p:nvPr/>
          </p:nvSpPr>
          <p:spPr bwMode="auto">
            <a:xfrm>
              <a:off x="3170" y="1782"/>
              <a:ext cx="573" cy="353"/>
            </a:xfrm>
            <a:custGeom>
              <a:avLst/>
              <a:gdLst>
                <a:gd name="T0" fmla="*/ 0 w 2390"/>
                <a:gd name="T1" fmla="*/ 0 h 1471"/>
                <a:gd name="T2" fmla="*/ 0 w 2390"/>
                <a:gd name="T3" fmla="*/ 0 h 1471"/>
                <a:gd name="T4" fmla="*/ 0 w 2390"/>
                <a:gd name="T5" fmla="*/ 0 h 1471"/>
                <a:gd name="T6" fmla="*/ 0 60000 65536"/>
                <a:gd name="T7" fmla="*/ 0 60000 65536"/>
                <a:gd name="T8" fmla="*/ 0 60000 65536"/>
                <a:gd name="T9" fmla="*/ 0 w 2390"/>
                <a:gd name="T10" fmla="*/ 0 h 1471"/>
                <a:gd name="T11" fmla="*/ 2390 w 2390"/>
                <a:gd name="T12" fmla="*/ 1471 h 14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90" h="1471">
                  <a:moveTo>
                    <a:pt x="0" y="1471"/>
                  </a:moveTo>
                  <a:lnTo>
                    <a:pt x="2389" y="0"/>
                  </a:lnTo>
                  <a:lnTo>
                    <a:pt x="239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6" name="Text Box 131"/>
            <p:cNvSpPr txBox="1">
              <a:spLocks noChangeArrowheads="1"/>
            </p:cNvSpPr>
            <p:nvPr/>
          </p:nvSpPr>
          <p:spPr bwMode="auto">
            <a:xfrm>
              <a:off x="3110" y="882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5137" name="Text Box 133"/>
            <p:cNvSpPr txBox="1">
              <a:spLocks noChangeArrowheads="1"/>
            </p:cNvSpPr>
            <p:nvPr/>
          </p:nvSpPr>
          <p:spPr bwMode="auto">
            <a:xfrm>
              <a:off x="4413" y="429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5138" name="Text Box 134"/>
            <p:cNvSpPr txBox="1">
              <a:spLocks noChangeArrowheads="1"/>
            </p:cNvSpPr>
            <p:nvPr/>
          </p:nvSpPr>
          <p:spPr bwMode="auto">
            <a:xfrm>
              <a:off x="4835" y="984"/>
              <a:ext cx="1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</p:grpSp>
      <p:sp>
        <p:nvSpPr>
          <p:cNvPr id="23690" name="Text Box 138"/>
          <p:cNvSpPr txBox="1">
            <a:spLocks noChangeArrowheads="1"/>
          </p:cNvSpPr>
          <p:nvPr/>
        </p:nvSpPr>
        <p:spPr bwMode="auto">
          <a:xfrm>
            <a:off x="1949788" y="5324552"/>
            <a:ext cx="8999211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solidFill>
                  <a:schemeClr val="tx2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itchFamily="2" charset="-122"/>
              </a:rPr>
              <a:t>三个投影都倾斜于投影轴，其与投影轴的夹角并不反映空间线段与三个投影面夹角的大小。三个投影的长度均比空间线段短，即都不反映空间线段的实长。</a:t>
            </a:r>
          </a:p>
        </p:txBody>
      </p:sp>
      <p:sp>
        <p:nvSpPr>
          <p:cNvPr id="23691" name="Text Box 139"/>
          <p:cNvSpPr txBox="1">
            <a:spLocks noChangeArrowheads="1"/>
          </p:cNvSpPr>
          <p:nvPr/>
        </p:nvSpPr>
        <p:spPr bwMode="auto">
          <a:xfrm>
            <a:off x="1851373" y="4946803"/>
            <a:ext cx="18335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3300"/>
                </a:solidFill>
                <a:latin typeface="Times New Roman" pitchFamily="18" charset="0"/>
              </a:rPr>
              <a:t>投影特性</a:t>
            </a:r>
          </a:p>
        </p:txBody>
      </p:sp>
      <p:grpSp>
        <p:nvGrpSpPr>
          <p:cNvPr id="45062" name="Group 150"/>
          <p:cNvGrpSpPr>
            <a:grpSpLocks/>
          </p:cNvGrpSpPr>
          <p:nvPr/>
        </p:nvGrpSpPr>
        <p:grpSpPr bwMode="auto">
          <a:xfrm>
            <a:off x="2379042" y="1940794"/>
            <a:ext cx="3175000" cy="2874963"/>
            <a:chOff x="377" y="440"/>
            <a:chExt cx="2000" cy="1811"/>
          </a:xfrm>
        </p:grpSpPr>
        <p:sp>
          <p:nvSpPr>
            <p:cNvPr id="45063" name="AutoShape 141"/>
            <p:cNvSpPr>
              <a:spLocks noChangeArrowheads="1"/>
            </p:cNvSpPr>
            <p:nvPr/>
          </p:nvSpPr>
          <p:spPr bwMode="auto">
            <a:xfrm flipH="1">
              <a:off x="377" y="1549"/>
              <a:ext cx="1942" cy="700"/>
            </a:xfrm>
            <a:prstGeom prst="parallelogram">
              <a:avLst>
                <a:gd name="adj" fmla="val 98063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4" name="AutoShape 142"/>
            <p:cNvSpPr>
              <a:spLocks noChangeArrowheads="1"/>
            </p:cNvSpPr>
            <p:nvPr/>
          </p:nvSpPr>
          <p:spPr bwMode="auto">
            <a:xfrm rot="5400000">
              <a:off x="1081" y="1012"/>
              <a:ext cx="1787" cy="688"/>
            </a:xfrm>
            <a:prstGeom prst="parallelogram">
              <a:avLst>
                <a:gd name="adj" fmla="val 102428"/>
              </a:avLst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5" name="Rectangle 140"/>
            <p:cNvSpPr>
              <a:spLocks noChangeArrowheads="1"/>
            </p:cNvSpPr>
            <p:nvPr/>
          </p:nvSpPr>
          <p:spPr bwMode="auto">
            <a:xfrm>
              <a:off x="377" y="462"/>
              <a:ext cx="1255" cy="1081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6" name="Rectangle 48"/>
            <p:cNvSpPr>
              <a:spLocks noChangeArrowheads="1"/>
            </p:cNvSpPr>
            <p:nvPr/>
          </p:nvSpPr>
          <p:spPr bwMode="auto">
            <a:xfrm>
              <a:off x="1314" y="2038"/>
              <a:ext cx="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200" b="1">
                  <a:solidFill>
                    <a:srgbClr val="000000"/>
                  </a:solidFill>
                  <a:latin typeface="宋体" pitchFamily="2" charset="-122"/>
                </a:rPr>
                <a:t>H</a:t>
              </a:r>
              <a:endParaRPr kumimoji="1" lang="en-US" altLang="zh-CN" sz="7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67" name="Rectangle 49"/>
            <p:cNvSpPr>
              <a:spLocks noChangeArrowheads="1"/>
            </p:cNvSpPr>
            <p:nvPr/>
          </p:nvSpPr>
          <p:spPr bwMode="auto">
            <a:xfrm>
              <a:off x="1119" y="194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68" name="Freeform 55"/>
            <p:cNvSpPr>
              <a:spLocks/>
            </p:cNvSpPr>
            <p:nvPr/>
          </p:nvSpPr>
          <p:spPr bwMode="auto">
            <a:xfrm>
              <a:off x="1556" y="926"/>
              <a:ext cx="302" cy="1"/>
            </a:xfrm>
            <a:custGeom>
              <a:avLst/>
              <a:gdLst>
                <a:gd name="T0" fmla="*/ 0 w 1209"/>
                <a:gd name="T1" fmla="*/ 0 h 1"/>
                <a:gd name="T2" fmla="*/ 0 w 1209"/>
                <a:gd name="T3" fmla="*/ 0 h 1"/>
                <a:gd name="T4" fmla="*/ 0 w 1209"/>
                <a:gd name="T5" fmla="*/ 0 h 1"/>
                <a:gd name="T6" fmla="*/ 0 60000 65536"/>
                <a:gd name="T7" fmla="*/ 0 60000 65536"/>
                <a:gd name="T8" fmla="*/ 0 60000 65536"/>
                <a:gd name="T9" fmla="*/ 0 w 1209"/>
                <a:gd name="T10" fmla="*/ 0 h 1"/>
                <a:gd name="T11" fmla="*/ 1209 w 120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09" h="1">
                  <a:moveTo>
                    <a:pt x="120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9" name="Freeform 56"/>
            <p:cNvSpPr>
              <a:spLocks/>
            </p:cNvSpPr>
            <p:nvPr/>
          </p:nvSpPr>
          <p:spPr bwMode="auto">
            <a:xfrm>
              <a:off x="1556" y="1769"/>
              <a:ext cx="303" cy="1"/>
            </a:xfrm>
            <a:custGeom>
              <a:avLst/>
              <a:gdLst>
                <a:gd name="T0" fmla="*/ 0 w 1210"/>
                <a:gd name="T1" fmla="*/ 0 h 1"/>
                <a:gd name="T2" fmla="*/ 0 w 1210"/>
                <a:gd name="T3" fmla="*/ 0 h 1"/>
                <a:gd name="T4" fmla="*/ 0 w 1210"/>
                <a:gd name="T5" fmla="*/ 0 h 1"/>
                <a:gd name="T6" fmla="*/ 0 60000 65536"/>
                <a:gd name="T7" fmla="*/ 0 60000 65536"/>
                <a:gd name="T8" fmla="*/ 0 60000 65536"/>
                <a:gd name="T9" fmla="*/ 0 w 1210"/>
                <a:gd name="T10" fmla="*/ 0 h 1"/>
                <a:gd name="T11" fmla="*/ 1210 w 121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0" h="1">
                  <a:moveTo>
                    <a:pt x="0" y="0"/>
                  </a:moveTo>
                  <a:lnTo>
                    <a:pt x="1209" y="0"/>
                  </a:lnTo>
                  <a:lnTo>
                    <a:pt x="121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0" name="Freeform 57"/>
            <p:cNvSpPr>
              <a:spLocks/>
            </p:cNvSpPr>
            <p:nvPr/>
          </p:nvSpPr>
          <p:spPr bwMode="auto">
            <a:xfrm>
              <a:off x="1219" y="2029"/>
              <a:ext cx="900" cy="1"/>
            </a:xfrm>
            <a:custGeom>
              <a:avLst/>
              <a:gdLst>
                <a:gd name="T0" fmla="*/ 0 w 3599"/>
                <a:gd name="T1" fmla="*/ 0 h 1"/>
                <a:gd name="T2" fmla="*/ 0 w 3599"/>
                <a:gd name="T3" fmla="*/ 0 h 1"/>
                <a:gd name="T4" fmla="*/ 0 w 3599"/>
                <a:gd name="T5" fmla="*/ 0 h 1"/>
                <a:gd name="T6" fmla="*/ 0 60000 65536"/>
                <a:gd name="T7" fmla="*/ 0 60000 65536"/>
                <a:gd name="T8" fmla="*/ 0 60000 65536"/>
                <a:gd name="T9" fmla="*/ 0 w 3599"/>
                <a:gd name="T10" fmla="*/ 0 h 1"/>
                <a:gd name="T11" fmla="*/ 3599 w 359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99" h="1">
                  <a:moveTo>
                    <a:pt x="0" y="0"/>
                  </a:moveTo>
                  <a:lnTo>
                    <a:pt x="3598" y="0"/>
                  </a:lnTo>
                  <a:lnTo>
                    <a:pt x="3599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Freeform 58"/>
            <p:cNvSpPr>
              <a:spLocks/>
            </p:cNvSpPr>
            <p:nvPr/>
          </p:nvSpPr>
          <p:spPr bwMode="auto">
            <a:xfrm>
              <a:off x="1219" y="1669"/>
              <a:ext cx="900" cy="1"/>
            </a:xfrm>
            <a:custGeom>
              <a:avLst/>
              <a:gdLst>
                <a:gd name="T0" fmla="*/ 0 w 3599"/>
                <a:gd name="T1" fmla="*/ 0 h 1"/>
                <a:gd name="T2" fmla="*/ 0 w 3599"/>
                <a:gd name="T3" fmla="*/ 0 h 1"/>
                <a:gd name="T4" fmla="*/ 0 w 3599"/>
                <a:gd name="T5" fmla="*/ 0 h 1"/>
                <a:gd name="T6" fmla="*/ 0 60000 65536"/>
                <a:gd name="T7" fmla="*/ 0 60000 65536"/>
                <a:gd name="T8" fmla="*/ 0 60000 65536"/>
                <a:gd name="T9" fmla="*/ 0 w 3599"/>
                <a:gd name="T10" fmla="*/ 0 h 1"/>
                <a:gd name="T11" fmla="*/ 3599 w 359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99" h="1">
                  <a:moveTo>
                    <a:pt x="0" y="0"/>
                  </a:moveTo>
                  <a:lnTo>
                    <a:pt x="3598" y="0"/>
                  </a:lnTo>
                  <a:lnTo>
                    <a:pt x="3599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Freeform 59"/>
            <p:cNvSpPr>
              <a:spLocks/>
            </p:cNvSpPr>
            <p:nvPr/>
          </p:nvSpPr>
          <p:spPr bwMode="auto">
            <a:xfrm>
              <a:off x="1556" y="926"/>
              <a:ext cx="260" cy="743"/>
            </a:xfrm>
            <a:custGeom>
              <a:avLst/>
              <a:gdLst>
                <a:gd name="T0" fmla="*/ 0 w 1041"/>
                <a:gd name="T1" fmla="*/ 0 h 2972"/>
                <a:gd name="T2" fmla="*/ 0 w 1041"/>
                <a:gd name="T3" fmla="*/ 0 h 2972"/>
                <a:gd name="T4" fmla="*/ 0 w 1041"/>
                <a:gd name="T5" fmla="*/ 0 h 2972"/>
                <a:gd name="T6" fmla="*/ 0 60000 65536"/>
                <a:gd name="T7" fmla="*/ 0 60000 65536"/>
                <a:gd name="T8" fmla="*/ 0 60000 65536"/>
                <a:gd name="T9" fmla="*/ 0 w 1041"/>
                <a:gd name="T10" fmla="*/ 0 h 2972"/>
                <a:gd name="T11" fmla="*/ 1041 w 1041"/>
                <a:gd name="T12" fmla="*/ 2972 h 29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41" h="2972">
                  <a:moveTo>
                    <a:pt x="0" y="0"/>
                  </a:moveTo>
                  <a:lnTo>
                    <a:pt x="1040" y="2972"/>
                  </a:lnTo>
                  <a:lnTo>
                    <a:pt x="1041" y="2972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3" name="Rectangle 60"/>
            <p:cNvSpPr>
              <a:spLocks noChangeArrowheads="1"/>
            </p:cNvSpPr>
            <p:nvPr/>
          </p:nvSpPr>
          <p:spPr bwMode="auto">
            <a:xfrm>
              <a:off x="1314" y="1051"/>
              <a:ext cx="15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1900" b="1">
                  <a:solidFill>
                    <a:srgbClr val="000000"/>
                  </a:solidFill>
                  <a:latin typeface="宋体" pitchFamily="2" charset="-122"/>
                </a:rPr>
                <a:t>β</a:t>
              </a:r>
              <a:endParaRPr kumimoji="1" lang="en-US" altLang="zh-CN" sz="8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74" name="Rectangle 62"/>
            <p:cNvSpPr>
              <a:spLocks noChangeArrowheads="1"/>
            </p:cNvSpPr>
            <p:nvPr/>
          </p:nvSpPr>
          <p:spPr bwMode="auto">
            <a:xfrm>
              <a:off x="1420" y="1126"/>
              <a:ext cx="169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100" b="1">
                  <a:solidFill>
                    <a:srgbClr val="000000"/>
                  </a:solidFill>
                  <a:latin typeface="宋体" pitchFamily="2" charset="-122"/>
                </a:rPr>
                <a:t>γ</a:t>
              </a:r>
              <a:endParaRPr kumimoji="1" lang="en-US" altLang="zh-CN" sz="9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75" name="Freeform 63"/>
            <p:cNvSpPr>
              <a:spLocks/>
            </p:cNvSpPr>
            <p:nvPr/>
          </p:nvSpPr>
          <p:spPr bwMode="auto">
            <a:xfrm>
              <a:off x="959" y="926"/>
              <a:ext cx="597" cy="483"/>
            </a:xfrm>
            <a:custGeom>
              <a:avLst/>
              <a:gdLst>
                <a:gd name="T0" fmla="*/ 0 w 2390"/>
                <a:gd name="T1" fmla="*/ 0 h 1931"/>
                <a:gd name="T2" fmla="*/ 0 w 2390"/>
                <a:gd name="T3" fmla="*/ 0 h 1931"/>
                <a:gd name="T4" fmla="*/ 0 w 2390"/>
                <a:gd name="T5" fmla="*/ 0 h 1931"/>
                <a:gd name="T6" fmla="*/ 0 60000 65536"/>
                <a:gd name="T7" fmla="*/ 0 60000 65536"/>
                <a:gd name="T8" fmla="*/ 0 60000 65536"/>
                <a:gd name="T9" fmla="*/ 0 w 2390"/>
                <a:gd name="T10" fmla="*/ 0 h 1931"/>
                <a:gd name="T11" fmla="*/ 2390 w 2390"/>
                <a:gd name="T12" fmla="*/ 1931 h 19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90" h="1931">
                  <a:moveTo>
                    <a:pt x="0" y="1931"/>
                  </a:moveTo>
                  <a:lnTo>
                    <a:pt x="2389" y="0"/>
                  </a:lnTo>
                  <a:lnTo>
                    <a:pt x="239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Freeform 64"/>
            <p:cNvSpPr>
              <a:spLocks/>
            </p:cNvSpPr>
            <p:nvPr/>
          </p:nvSpPr>
          <p:spPr bwMode="auto">
            <a:xfrm>
              <a:off x="1455" y="1149"/>
              <a:ext cx="182" cy="21"/>
            </a:xfrm>
            <a:custGeom>
              <a:avLst/>
              <a:gdLst>
                <a:gd name="T0" fmla="*/ 0 w 726"/>
                <a:gd name="T1" fmla="*/ 0 h 86"/>
                <a:gd name="T2" fmla="*/ 0 w 726"/>
                <a:gd name="T3" fmla="*/ 0 h 86"/>
                <a:gd name="T4" fmla="*/ 0 w 726"/>
                <a:gd name="T5" fmla="*/ 0 h 86"/>
                <a:gd name="T6" fmla="*/ 0 w 726"/>
                <a:gd name="T7" fmla="*/ 0 h 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6"/>
                <a:gd name="T13" fmla="*/ 0 h 86"/>
                <a:gd name="T14" fmla="*/ 726 w 726"/>
                <a:gd name="T15" fmla="*/ 86 h 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6" h="86">
                  <a:moveTo>
                    <a:pt x="0" y="0"/>
                  </a:moveTo>
                  <a:lnTo>
                    <a:pt x="360" y="86"/>
                  </a:lnTo>
                  <a:lnTo>
                    <a:pt x="725" y="33"/>
                  </a:lnTo>
                  <a:lnTo>
                    <a:pt x="726" y="33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7" name="Freeform 65"/>
            <p:cNvSpPr>
              <a:spLocks/>
            </p:cNvSpPr>
            <p:nvPr/>
          </p:nvSpPr>
          <p:spPr bwMode="auto">
            <a:xfrm>
              <a:off x="1329" y="699"/>
              <a:ext cx="1" cy="843"/>
            </a:xfrm>
            <a:custGeom>
              <a:avLst/>
              <a:gdLst>
                <a:gd name="T0" fmla="*/ 0 w 2"/>
                <a:gd name="T1" fmla="*/ 0 h 3371"/>
                <a:gd name="T2" fmla="*/ 0 w 2"/>
                <a:gd name="T3" fmla="*/ 0 h 3371"/>
                <a:gd name="T4" fmla="*/ 1 w 2"/>
                <a:gd name="T5" fmla="*/ 0 h 3371"/>
                <a:gd name="T6" fmla="*/ 0 60000 65536"/>
                <a:gd name="T7" fmla="*/ 0 60000 65536"/>
                <a:gd name="T8" fmla="*/ 0 60000 65536"/>
                <a:gd name="T9" fmla="*/ 0 w 2"/>
                <a:gd name="T10" fmla="*/ 0 h 3371"/>
                <a:gd name="T11" fmla="*/ 2 w 2"/>
                <a:gd name="T12" fmla="*/ 3371 h 33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3371">
                  <a:moveTo>
                    <a:pt x="0" y="0"/>
                  </a:moveTo>
                  <a:lnTo>
                    <a:pt x="0" y="3371"/>
                  </a:lnTo>
                  <a:lnTo>
                    <a:pt x="2" y="3371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Freeform 66"/>
            <p:cNvSpPr>
              <a:spLocks/>
            </p:cNvSpPr>
            <p:nvPr/>
          </p:nvSpPr>
          <p:spPr bwMode="auto">
            <a:xfrm>
              <a:off x="1556" y="926"/>
              <a:ext cx="1" cy="843"/>
            </a:xfrm>
            <a:custGeom>
              <a:avLst/>
              <a:gdLst>
                <a:gd name="T0" fmla="*/ 0 w 1"/>
                <a:gd name="T1" fmla="*/ 0 h 3371"/>
                <a:gd name="T2" fmla="*/ 0 w 1"/>
                <a:gd name="T3" fmla="*/ 0 h 3371"/>
                <a:gd name="T4" fmla="*/ 1 w 1"/>
                <a:gd name="T5" fmla="*/ 0 h 3371"/>
                <a:gd name="T6" fmla="*/ 0 60000 65536"/>
                <a:gd name="T7" fmla="*/ 0 60000 65536"/>
                <a:gd name="T8" fmla="*/ 0 60000 65536"/>
                <a:gd name="T9" fmla="*/ 0 w 1"/>
                <a:gd name="T10" fmla="*/ 0 h 3371"/>
                <a:gd name="T11" fmla="*/ 1 w 1"/>
                <a:gd name="T12" fmla="*/ 3371 h 33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371">
                  <a:moveTo>
                    <a:pt x="0" y="337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9" name="Freeform 67"/>
            <p:cNvSpPr>
              <a:spLocks/>
            </p:cNvSpPr>
            <p:nvPr/>
          </p:nvSpPr>
          <p:spPr bwMode="auto">
            <a:xfrm>
              <a:off x="1219" y="926"/>
              <a:ext cx="337" cy="743"/>
            </a:xfrm>
            <a:custGeom>
              <a:avLst/>
              <a:gdLst>
                <a:gd name="T0" fmla="*/ 0 w 1349"/>
                <a:gd name="T1" fmla="*/ 0 h 2972"/>
                <a:gd name="T2" fmla="*/ 0 w 1349"/>
                <a:gd name="T3" fmla="*/ 0 h 2972"/>
                <a:gd name="T4" fmla="*/ 0 w 1349"/>
                <a:gd name="T5" fmla="*/ 0 h 2972"/>
                <a:gd name="T6" fmla="*/ 0 60000 65536"/>
                <a:gd name="T7" fmla="*/ 0 60000 65536"/>
                <a:gd name="T8" fmla="*/ 0 60000 65536"/>
                <a:gd name="T9" fmla="*/ 0 w 1349"/>
                <a:gd name="T10" fmla="*/ 0 h 2972"/>
                <a:gd name="T11" fmla="*/ 1349 w 1349"/>
                <a:gd name="T12" fmla="*/ 2972 h 29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9" h="2972">
                  <a:moveTo>
                    <a:pt x="1349" y="0"/>
                  </a:moveTo>
                  <a:lnTo>
                    <a:pt x="0" y="2972"/>
                  </a:lnTo>
                  <a:lnTo>
                    <a:pt x="1" y="2972"/>
                  </a:lnTo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0" name="Rectangle 68"/>
            <p:cNvSpPr>
              <a:spLocks noChangeArrowheads="1"/>
            </p:cNvSpPr>
            <p:nvPr/>
          </p:nvSpPr>
          <p:spPr bwMode="auto">
            <a:xfrm>
              <a:off x="601" y="97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81" name="Rectangle 70"/>
            <p:cNvSpPr>
              <a:spLocks noChangeArrowheads="1"/>
            </p:cNvSpPr>
            <p:nvPr/>
          </p:nvSpPr>
          <p:spPr bwMode="auto">
            <a:xfrm>
              <a:off x="1083" y="1610"/>
              <a:ext cx="1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82" name="Freeform 71"/>
            <p:cNvSpPr>
              <a:spLocks/>
            </p:cNvSpPr>
            <p:nvPr/>
          </p:nvSpPr>
          <p:spPr bwMode="auto">
            <a:xfrm>
              <a:off x="731" y="699"/>
              <a:ext cx="598" cy="483"/>
            </a:xfrm>
            <a:custGeom>
              <a:avLst/>
              <a:gdLst>
                <a:gd name="T0" fmla="*/ 0 w 2391"/>
                <a:gd name="T1" fmla="*/ 0 h 1931"/>
                <a:gd name="T2" fmla="*/ 0 w 2391"/>
                <a:gd name="T3" fmla="*/ 0 h 1931"/>
                <a:gd name="T4" fmla="*/ 0 w 2391"/>
                <a:gd name="T5" fmla="*/ 0 h 1931"/>
                <a:gd name="T6" fmla="*/ 0 60000 65536"/>
                <a:gd name="T7" fmla="*/ 0 60000 65536"/>
                <a:gd name="T8" fmla="*/ 0 60000 65536"/>
                <a:gd name="T9" fmla="*/ 0 w 2391"/>
                <a:gd name="T10" fmla="*/ 0 h 1931"/>
                <a:gd name="T11" fmla="*/ 2391 w 2391"/>
                <a:gd name="T12" fmla="*/ 1931 h 19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91" h="1931">
                  <a:moveTo>
                    <a:pt x="0" y="1931"/>
                  </a:moveTo>
                  <a:lnTo>
                    <a:pt x="2389" y="0"/>
                  </a:lnTo>
                  <a:lnTo>
                    <a:pt x="2391" y="0"/>
                  </a:lnTo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3" name="Freeform 75"/>
            <p:cNvSpPr>
              <a:spLocks/>
            </p:cNvSpPr>
            <p:nvPr/>
          </p:nvSpPr>
          <p:spPr bwMode="auto">
            <a:xfrm>
              <a:off x="731" y="1182"/>
              <a:ext cx="488" cy="487"/>
            </a:xfrm>
            <a:custGeom>
              <a:avLst/>
              <a:gdLst>
                <a:gd name="T0" fmla="*/ 0 w 1951"/>
                <a:gd name="T1" fmla="*/ 0 h 1951"/>
                <a:gd name="T2" fmla="*/ 0 w 1951"/>
                <a:gd name="T3" fmla="*/ 0 h 1951"/>
                <a:gd name="T4" fmla="*/ 0 w 1951"/>
                <a:gd name="T5" fmla="*/ 0 h 1951"/>
                <a:gd name="T6" fmla="*/ 0 60000 65536"/>
                <a:gd name="T7" fmla="*/ 0 60000 65536"/>
                <a:gd name="T8" fmla="*/ 0 60000 65536"/>
                <a:gd name="T9" fmla="*/ 0 w 1951"/>
                <a:gd name="T10" fmla="*/ 0 h 1951"/>
                <a:gd name="T11" fmla="*/ 1951 w 1951"/>
                <a:gd name="T12" fmla="*/ 1951 h 19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1" h="1951">
                  <a:moveTo>
                    <a:pt x="0" y="0"/>
                  </a:moveTo>
                  <a:lnTo>
                    <a:pt x="1950" y="1951"/>
                  </a:lnTo>
                  <a:lnTo>
                    <a:pt x="1951" y="1951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4" name="Freeform 77"/>
            <p:cNvSpPr>
              <a:spLocks/>
            </p:cNvSpPr>
            <p:nvPr/>
          </p:nvSpPr>
          <p:spPr bwMode="auto">
            <a:xfrm>
              <a:off x="1329" y="1542"/>
              <a:ext cx="227" cy="227"/>
            </a:xfrm>
            <a:custGeom>
              <a:avLst/>
              <a:gdLst>
                <a:gd name="T0" fmla="*/ 0 w 911"/>
                <a:gd name="T1" fmla="*/ 0 h 910"/>
                <a:gd name="T2" fmla="*/ 0 w 911"/>
                <a:gd name="T3" fmla="*/ 0 h 910"/>
                <a:gd name="T4" fmla="*/ 0 w 911"/>
                <a:gd name="T5" fmla="*/ 0 h 910"/>
                <a:gd name="T6" fmla="*/ 0 60000 65536"/>
                <a:gd name="T7" fmla="*/ 0 60000 65536"/>
                <a:gd name="T8" fmla="*/ 0 60000 65536"/>
                <a:gd name="T9" fmla="*/ 0 w 911"/>
                <a:gd name="T10" fmla="*/ 0 h 910"/>
                <a:gd name="T11" fmla="*/ 911 w 911"/>
                <a:gd name="T12" fmla="*/ 910 h 9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1" h="910">
                  <a:moveTo>
                    <a:pt x="0" y="0"/>
                  </a:moveTo>
                  <a:lnTo>
                    <a:pt x="910" y="910"/>
                  </a:lnTo>
                  <a:lnTo>
                    <a:pt x="911" y="91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5" name="Freeform 78"/>
            <p:cNvSpPr>
              <a:spLocks/>
            </p:cNvSpPr>
            <p:nvPr/>
          </p:nvSpPr>
          <p:spPr bwMode="auto">
            <a:xfrm>
              <a:off x="1219" y="1409"/>
              <a:ext cx="337" cy="260"/>
            </a:xfrm>
            <a:custGeom>
              <a:avLst/>
              <a:gdLst>
                <a:gd name="T0" fmla="*/ 0 w 1350"/>
                <a:gd name="T1" fmla="*/ 0 h 1041"/>
                <a:gd name="T2" fmla="*/ 0 w 1350"/>
                <a:gd name="T3" fmla="*/ 0 h 1041"/>
                <a:gd name="T4" fmla="*/ 0 w 1350"/>
                <a:gd name="T5" fmla="*/ 0 h 1041"/>
                <a:gd name="T6" fmla="*/ 0 60000 65536"/>
                <a:gd name="T7" fmla="*/ 0 60000 65536"/>
                <a:gd name="T8" fmla="*/ 0 60000 65536"/>
                <a:gd name="T9" fmla="*/ 0 w 1350"/>
                <a:gd name="T10" fmla="*/ 0 h 1041"/>
                <a:gd name="T11" fmla="*/ 1350 w 1350"/>
                <a:gd name="T12" fmla="*/ 1041 h 10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0" h="1041">
                  <a:moveTo>
                    <a:pt x="0" y="1041"/>
                  </a:moveTo>
                  <a:lnTo>
                    <a:pt x="1349" y="0"/>
                  </a:lnTo>
                  <a:lnTo>
                    <a:pt x="13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6" name="Freeform 79"/>
            <p:cNvSpPr>
              <a:spLocks/>
            </p:cNvSpPr>
            <p:nvPr/>
          </p:nvSpPr>
          <p:spPr bwMode="auto">
            <a:xfrm>
              <a:off x="1219" y="1769"/>
              <a:ext cx="337" cy="260"/>
            </a:xfrm>
            <a:custGeom>
              <a:avLst/>
              <a:gdLst>
                <a:gd name="T0" fmla="*/ 0 w 1350"/>
                <a:gd name="T1" fmla="*/ 0 h 1041"/>
                <a:gd name="T2" fmla="*/ 0 w 1350"/>
                <a:gd name="T3" fmla="*/ 0 h 1041"/>
                <a:gd name="T4" fmla="*/ 0 w 1350"/>
                <a:gd name="T5" fmla="*/ 0 h 1041"/>
                <a:gd name="T6" fmla="*/ 0 60000 65536"/>
                <a:gd name="T7" fmla="*/ 0 60000 65536"/>
                <a:gd name="T8" fmla="*/ 0 60000 65536"/>
                <a:gd name="T9" fmla="*/ 0 w 1350"/>
                <a:gd name="T10" fmla="*/ 0 h 1041"/>
                <a:gd name="T11" fmla="*/ 1350 w 1350"/>
                <a:gd name="T12" fmla="*/ 1041 h 10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0" h="1041">
                  <a:moveTo>
                    <a:pt x="0" y="1041"/>
                  </a:moveTo>
                  <a:lnTo>
                    <a:pt x="1349" y="0"/>
                  </a:lnTo>
                  <a:lnTo>
                    <a:pt x="1350" y="0"/>
                  </a:lnTo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Rectangle 80"/>
            <p:cNvSpPr>
              <a:spLocks noChangeArrowheads="1"/>
            </p:cNvSpPr>
            <p:nvPr/>
          </p:nvSpPr>
          <p:spPr bwMode="auto">
            <a:xfrm>
              <a:off x="1573" y="1730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88" name="Rectangle 81"/>
            <p:cNvSpPr>
              <a:spLocks noChangeArrowheads="1"/>
            </p:cNvSpPr>
            <p:nvPr/>
          </p:nvSpPr>
          <p:spPr bwMode="auto">
            <a:xfrm>
              <a:off x="1376" y="1301"/>
              <a:ext cx="10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latin typeface="Dutch801 Rm BT" pitchFamily="18" charset="0"/>
                  <a:sym typeface="Symbol" pitchFamily="18" charset="2"/>
                </a:rPr>
                <a:t></a:t>
              </a:r>
              <a:endParaRPr kumimoji="1" lang="en-US" altLang="zh-CN" sz="3200" b="1">
                <a:solidFill>
                  <a:srgbClr val="FF3300"/>
                </a:solidFill>
                <a:latin typeface="Dutch801 Rm BT" pitchFamily="18" charset="0"/>
                <a:sym typeface="Symbol" pitchFamily="18" charset="2"/>
              </a:endParaRPr>
            </a:p>
          </p:txBody>
        </p:sp>
        <p:sp>
          <p:nvSpPr>
            <p:cNvPr id="45089" name="Freeform 82"/>
            <p:cNvSpPr>
              <a:spLocks/>
            </p:cNvSpPr>
            <p:nvPr/>
          </p:nvSpPr>
          <p:spPr bwMode="auto">
            <a:xfrm>
              <a:off x="1219" y="1669"/>
              <a:ext cx="1" cy="360"/>
            </a:xfrm>
            <a:custGeom>
              <a:avLst/>
              <a:gdLst>
                <a:gd name="T0" fmla="*/ 0 w 1"/>
                <a:gd name="T1" fmla="*/ 0 h 1440"/>
                <a:gd name="T2" fmla="*/ 0 w 1"/>
                <a:gd name="T3" fmla="*/ 0 h 1440"/>
                <a:gd name="T4" fmla="*/ 1 w 1"/>
                <a:gd name="T5" fmla="*/ 0 h 1440"/>
                <a:gd name="T6" fmla="*/ 0 60000 65536"/>
                <a:gd name="T7" fmla="*/ 0 60000 65536"/>
                <a:gd name="T8" fmla="*/ 0 60000 65536"/>
                <a:gd name="T9" fmla="*/ 0 w 1"/>
                <a:gd name="T10" fmla="*/ 0 h 1440"/>
                <a:gd name="T11" fmla="*/ 1 w 1"/>
                <a:gd name="T12" fmla="*/ 1440 h 14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40">
                  <a:moveTo>
                    <a:pt x="0" y="14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0" name="Freeform 83"/>
            <p:cNvSpPr>
              <a:spLocks/>
            </p:cNvSpPr>
            <p:nvPr/>
          </p:nvSpPr>
          <p:spPr bwMode="auto">
            <a:xfrm>
              <a:off x="1319" y="1447"/>
              <a:ext cx="93" cy="74"/>
            </a:xfrm>
            <a:custGeom>
              <a:avLst/>
              <a:gdLst>
                <a:gd name="T0" fmla="*/ 93 w 93"/>
                <a:gd name="T1" fmla="*/ 74 h 74"/>
                <a:gd name="T2" fmla="*/ 63 w 93"/>
                <a:gd name="T3" fmla="*/ 31 h 74"/>
                <a:gd name="T4" fmla="*/ 0 w 93"/>
                <a:gd name="T5" fmla="*/ 0 h 74"/>
                <a:gd name="T6" fmla="*/ 0 w 93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74"/>
                <a:gd name="T14" fmla="*/ 93 w 93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74">
                  <a:moveTo>
                    <a:pt x="93" y="74"/>
                  </a:moveTo>
                  <a:lnTo>
                    <a:pt x="63" y="31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1" name="Rectangle 84"/>
            <p:cNvSpPr>
              <a:spLocks noChangeArrowheads="1"/>
            </p:cNvSpPr>
            <p:nvPr/>
          </p:nvSpPr>
          <p:spPr bwMode="auto">
            <a:xfrm>
              <a:off x="429" y="477"/>
              <a:ext cx="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200" b="1">
                  <a:solidFill>
                    <a:srgbClr val="000000"/>
                  </a:solidFill>
                  <a:latin typeface="宋体" pitchFamily="2" charset="-122"/>
                </a:rPr>
                <a:t>V</a:t>
              </a:r>
              <a:endParaRPr kumimoji="1" lang="en-US" altLang="zh-CN" sz="7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92" name="Rectangle 86"/>
            <p:cNvSpPr>
              <a:spLocks noChangeArrowheads="1"/>
            </p:cNvSpPr>
            <p:nvPr/>
          </p:nvSpPr>
          <p:spPr bwMode="auto">
            <a:xfrm>
              <a:off x="1516" y="703"/>
              <a:ext cx="1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93" name="Rectangle 87"/>
            <p:cNvSpPr>
              <a:spLocks noChangeArrowheads="1"/>
            </p:cNvSpPr>
            <p:nvPr/>
          </p:nvSpPr>
          <p:spPr bwMode="auto">
            <a:xfrm>
              <a:off x="1278" y="502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94" name="Rectangle 88"/>
            <p:cNvSpPr>
              <a:spLocks noChangeArrowheads="1"/>
            </p:cNvSpPr>
            <p:nvPr/>
          </p:nvSpPr>
          <p:spPr bwMode="auto">
            <a:xfrm>
              <a:off x="2210" y="1102"/>
              <a:ext cx="90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200" b="1">
                  <a:solidFill>
                    <a:srgbClr val="000000"/>
                  </a:solidFill>
                  <a:latin typeface="宋体" pitchFamily="2" charset="-122"/>
                </a:rPr>
                <a:t>W</a:t>
              </a:r>
              <a:endParaRPr kumimoji="1" lang="en-US" altLang="zh-CN" sz="7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95" name="Freeform 91"/>
            <p:cNvSpPr>
              <a:spLocks/>
            </p:cNvSpPr>
            <p:nvPr/>
          </p:nvSpPr>
          <p:spPr bwMode="auto">
            <a:xfrm>
              <a:off x="1426" y="1032"/>
              <a:ext cx="61" cy="47"/>
            </a:xfrm>
            <a:custGeom>
              <a:avLst/>
              <a:gdLst>
                <a:gd name="T0" fmla="*/ 0 w 61"/>
                <a:gd name="T1" fmla="*/ 0 h 47"/>
                <a:gd name="T2" fmla="*/ 20 w 61"/>
                <a:gd name="T3" fmla="*/ 30 h 47"/>
                <a:gd name="T4" fmla="*/ 61 w 61"/>
                <a:gd name="T5" fmla="*/ 47 h 47"/>
                <a:gd name="T6" fmla="*/ 61 w 61"/>
                <a:gd name="T7" fmla="*/ 47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"/>
                <a:gd name="T13" fmla="*/ 0 h 47"/>
                <a:gd name="T14" fmla="*/ 61 w 61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" h="47">
                  <a:moveTo>
                    <a:pt x="0" y="0"/>
                  </a:moveTo>
                  <a:lnTo>
                    <a:pt x="20" y="30"/>
                  </a:lnTo>
                  <a:lnTo>
                    <a:pt x="61" y="47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6" name="Freeform 92"/>
            <p:cNvSpPr>
              <a:spLocks/>
            </p:cNvSpPr>
            <p:nvPr/>
          </p:nvSpPr>
          <p:spPr bwMode="auto">
            <a:xfrm>
              <a:off x="1329" y="699"/>
              <a:ext cx="302" cy="1"/>
            </a:xfrm>
            <a:custGeom>
              <a:avLst/>
              <a:gdLst>
                <a:gd name="T0" fmla="*/ 0 w 1211"/>
                <a:gd name="T1" fmla="*/ 0 h 1"/>
                <a:gd name="T2" fmla="*/ 0 w 1211"/>
                <a:gd name="T3" fmla="*/ 0 h 1"/>
                <a:gd name="T4" fmla="*/ 0 w 1211"/>
                <a:gd name="T5" fmla="*/ 0 h 1"/>
                <a:gd name="T6" fmla="*/ 0 60000 65536"/>
                <a:gd name="T7" fmla="*/ 0 60000 65536"/>
                <a:gd name="T8" fmla="*/ 0 60000 65536"/>
                <a:gd name="T9" fmla="*/ 0 w 1211"/>
                <a:gd name="T10" fmla="*/ 0 h 1"/>
                <a:gd name="T11" fmla="*/ 1211 w 121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1" h="1">
                  <a:moveTo>
                    <a:pt x="0" y="0"/>
                  </a:moveTo>
                  <a:lnTo>
                    <a:pt x="1210" y="0"/>
                  </a:lnTo>
                  <a:lnTo>
                    <a:pt x="1211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7" name="Freeform 93"/>
            <p:cNvSpPr>
              <a:spLocks/>
            </p:cNvSpPr>
            <p:nvPr/>
          </p:nvSpPr>
          <p:spPr bwMode="auto">
            <a:xfrm>
              <a:off x="1858" y="926"/>
              <a:ext cx="1" cy="843"/>
            </a:xfrm>
            <a:custGeom>
              <a:avLst/>
              <a:gdLst>
                <a:gd name="T0" fmla="*/ 0 w 1"/>
                <a:gd name="T1" fmla="*/ 0 h 3371"/>
                <a:gd name="T2" fmla="*/ 0 w 1"/>
                <a:gd name="T3" fmla="*/ 0 h 3371"/>
                <a:gd name="T4" fmla="*/ 1 w 1"/>
                <a:gd name="T5" fmla="*/ 0 h 3371"/>
                <a:gd name="T6" fmla="*/ 0 60000 65536"/>
                <a:gd name="T7" fmla="*/ 0 60000 65536"/>
                <a:gd name="T8" fmla="*/ 0 60000 65536"/>
                <a:gd name="T9" fmla="*/ 0 w 1"/>
                <a:gd name="T10" fmla="*/ 0 h 3371"/>
                <a:gd name="T11" fmla="*/ 1 w 1"/>
                <a:gd name="T12" fmla="*/ 3371 h 33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371">
                  <a:moveTo>
                    <a:pt x="0" y="337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8" name="Rectangle 94"/>
            <p:cNvSpPr>
              <a:spLocks noChangeArrowheads="1"/>
            </p:cNvSpPr>
            <p:nvPr/>
          </p:nvSpPr>
          <p:spPr bwMode="auto">
            <a:xfrm>
              <a:off x="2146" y="1541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099" name="Freeform 95"/>
            <p:cNvSpPr>
              <a:spLocks/>
            </p:cNvSpPr>
            <p:nvPr/>
          </p:nvSpPr>
          <p:spPr bwMode="auto">
            <a:xfrm>
              <a:off x="1864" y="920"/>
              <a:ext cx="249" cy="749"/>
            </a:xfrm>
            <a:custGeom>
              <a:avLst/>
              <a:gdLst>
                <a:gd name="T0" fmla="*/ 0 w 1041"/>
                <a:gd name="T1" fmla="*/ 0 h 2972"/>
                <a:gd name="T2" fmla="*/ 0 w 1041"/>
                <a:gd name="T3" fmla="*/ 0 h 2972"/>
                <a:gd name="T4" fmla="*/ 0 w 1041"/>
                <a:gd name="T5" fmla="*/ 0 h 2972"/>
                <a:gd name="T6" fmla="*/ 0 60000 65536"/>
                <a:gd name="T7" fmla="*/ 0 60000 65536"/>
                <a:gd name="T8" fmla="*/ 0 60000 65536"/>
                <a:gd name="T9" fmla="*/ 0 w 1041"/>
                <a:gd name="T10" fmla="*/ 0 h 2972"/>
                <a:gd name="T11" fmla="*/ 1041 w 1041"/>
                <a:gd name="T12" fmla="*/ 2972 h 29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41" h="2972">
                  <a:moveTo>
                    <a:pt x="0" y="0"/>
                  </a:moveTo>
                  <a:lnTo>
                    <a:pt x="1040" y="2972"/>
                  </a:lnTo>
                  <a:lnTo>
                    <a:pt x="1041" y="2972"/>
                  </a:lnTo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0" name="Text Box 98"/>
            <p:cNvSpPr txBox="1">
              <a:spLocks noChangeArrowheads="1"/>
            </p:cNvSpPr>
            <p:nvPr/>
          </p:nvSpPr>
          <p:spPr bwMode="auto">
            <a:xfrm>
              <a:off x="1322" y="440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5101" name="Text Box 99"/>
            <p:cNvSpPr txBox="1">
              <a:spLocks noChangeArrowheads="1"/>
            </p:cNvSpPr>
            <p:nvPr/>
          </p:nvSpPr>
          <p:spPr bwMode="auto">
            <a:xfrm>
              <a:off x="646" y="957"/>
              <a:ext cx="1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5102" name="Rectangle 100"/>
            <p:cNvSpPr>
              <a:spLocks noChangeArrowheads="1"/>
            </p:cNvSpPr>
            <p:nvPr/>
          </p:nvSpPr>
          <p:spPr bwMode="auto">
            <a:xfrm>
              <a:off x="1865" y="71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5103" name="Text Box 101"/>
            <p:cNvSpPr txBox="1">
              <a:spLocks noChangeArrowheads="1"/>
            </p:cNvSpPr>
            <p:nvPr/>
          </p:nvSpPr>
          <p:spPr bwMode="auto">
            <a:xfrm>
              <a:off x="1877" y="664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5104" name="Text Box 102"/>
            <p:cNvSpPr txBox="1">
              <a:spLocks noChangeArrowheads="1"/>
            </p:cNvSpPr>
            <p:nvPr/>
          </p:nvSpPr>
          <p:spPr bwMode="auto">
            <a:xfrm>
              <a:off x="2182" y="1516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45105" name="Line 143"/>
            <p:cNvSpPr>
              <a:spLocks noChangeShapeType="1"/>
            </p:cNvSpPr>
            <p:nvPr/>
          </p:nvSpPr>
          <p:spPr bwMode="auto">
            <a:xfrm>
              <a:off x="731" y="1182"/>
              <a:ext cx="0" cy="3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6" name="Line 145"/>
            <p:cNvSpPr>
              <a:spLocks noChangeShapeType="1"/>
            </p:cNvSpPr>
            <p:nvPr/>
          </p:nvSpPr>
          <p:spPr bwMode="auto">
            <a:xfrm>
              <a:off x="730" y="1548"/>
              <a:ext cx="486" cy="4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7" name="Line 146"/>
            <p:cNvSpPr>
              <a:spLocks noChangeShapeType="1"/>
            </p:cNvSpPr>
            <p:nvPr/>
          </p:nvSpPr>
          <p:spPr bwMode="auto">
            <a:xfrm flipV="1">
              <a:off x="2106" y="1664"/>
              <a:ext cx="0" cy="35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8" name="Line 147"/>
            <p:cNvSpPr>
              <a:spLocks noChangeShapeType="1"/>
            </p:cNvSpPr>
            <p:nvPr/>
          </p:nvSpPr>
          <p:spPr bwMode="auto">
            <a:xfrm>
              <a:off x="1325" y="691"/>
              <a:ext cx="230" cy="2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9" name="Line 148"/>
            <p:cNvSpPr>
              <a:spLocks noChangeShapeType="1"/>
            </p:cNvSpPr>
            <p:nvPr/>
          </p:nvSpPr>
          <p:spPr bwMode="auto">
            <a:xfrm>
              <a:off x="1632" y="691"/>
              <a:ext cx="230" cy="2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3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90" grpId="0" autoUpdateAnimBg="0"/>
      <p:bldP spid="2369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关于直线的投影说法正确的是：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平行于</a:t>
            </a:r>
            <a:r>
              <a:rPr lang="en-US" altLang="zh-CN" sz="2400" b="1" i="1" dirty="0"/>
              <a:t>V</a:t>
            </a:r>
            <a:r>
              <a:rPr lang="zh-CN" altLang="zh-CN" sz="2400" b="1" dirty="0"/>
              <a:t>面的直线称为正平线</a:t>
            </a:r>
            <a:endParaRPr lang="zh-CN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9916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zh-CN" sz="2400" b="1" dirty="0"/>
              <a:t>若投影面的平行线仅平行于某一个投影面，则它与其它两个投影面均是倾斜的</a:t>
            </a:r>
            <a:endParaRPr lang="zh-CN" altLang="en-US" sz="24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9916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直线的投影特性取决于直线与三个投影面间的相对位置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99167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直线在投影面内的投影反映实形</a:t>
            </a: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ED39B97-65FB-4A42-B0D6-94A5E1FA9466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478300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2"/>
          <a:srcRect l="16728" t="25394" r="23938" b="35536"/>
          <a:stretch>
            <a:fillRect/>
          </a:stretch>
        </p:blipFill>
        <p:spPr bwMode="auto">
          <a:xfrm>
            <a:off x="1796369" y="2267173"/>
            <a:ext cx="8602662" cy="424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1421319" y="1417913"/>
            <a:ext cx="978089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宋体" pitchFamily="2" charset="-122"/>
              </a:rPr>
              <a:t>例：根据三棱锥的三面投影图，判别棱线</a:t>
            </a:r>
            <a:r>
              <a:rPr lang="en-US" altLang="zh-CN" sz="2800" b="1" i="1" dirty="0">
                <a:latin typeface="宋体" pitchFamily="2" charset="-122"/>
              </a:rPr>
              <a:t>SB</a:t>
            </a:r>
            <a:r>
              <a:rPr lang="zh-CN" altLang="en-US" sz="2800" b="1" dirty="0">
                <a:latin typeface="宋体" pitchFamily="2" charset="-122"/>
              </a:rPr>
              <a:t>、</a:t>
            </a:r>
            <a:r>
              <a:rPr lang="en-US" altLang="zh-CN" sz="2800" b="1" i="1" dirty="0">
                <a:latin typeface="宋体" pitchFamily="2" charset="-122"/>
              </a:rPr>
              <a:t>SC</a:t>
            </a:r>
            <a:r>
              <a:rPr lang="zh-CN" altLang="en-US" sz="2800" b="1" dirty="0">
                <a:latin typeface="宋体" pitchFamily="2" charset="-122"/>
              </a:rPr>
              <a:t>、</a:t>
            </a:r>
            <a:r>
              <a:rPr lang="en-US" altLang="zh-CN" sz="2800" b="1" i="1" dirty="0">
                <a:latin typeface="宋体" pitchFamily="2" charset="-122"/>
              </a:rPr>
              <a:t>CA</a:t>
            </a:r>
            <a:r>
              <a:rPr lang="zh-CN" altLang="en-US" sz="2800" b="1" dirty="0">
                <a:latin typeface="宋体" pitchFamily="2" charset="-122"/>
              </a:rPr>
              <a:t>是什么位置直线？</a:t>
            </a:r>
          </a:p>
        </p:txBody>
      </p:sp>
      <p:cxnSp>
        <p:nvCxnSpPr>
          <p:cNvPr id="8" name="直接连接符 7"/>
          <p:cNvCxnSpPr/>
          <p:nvPr/>
        </p:nvCxnSpPr>
        <p:spPr>
          <a:xfrm rot="5400000">
            <a:off x="5761150" y="2950074"/>
            <a:ext cx="1214438" cy="85725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5939744" y="5200355"/>
            <a:ext cx="857250" cy="158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rot="5400000">
            <a:off x="8155100" y="3342186"/>
            <a:ext cx="1143000" cy="158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rot="16200000" flipH="1">
            <a:off x="6654120" y="5343231"/>
            <a:ext cx="714375" cy="428625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rot="16200000" flipH="1">
            <a:off x="6404088" y="3164387"/>
            <a:ext cx="1214438" cy="428625"/>
          </a:xfrm>
          <a:prstGeom prst="line">
            <a:avLst/>
          </a:prstGeom>
          <a:ln w="6032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rot="16200000" flipH="1">
            <a:off x="8475775" y="3021512"/>
            <a:ext cx="1214438" cy="714375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rot="5400000">
            <a:off x="6512038" y="5199562"/>
            <a:ext cx="1428750" cy="1587"/>
          </a:xfrm>
          <a:prstGeom prst="line">
            <a:avLst/>
          </a:prstGeom>
          <a:ln w="603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011431" y="3985919"/>
            <a:ext cx="1428750" cy="1587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5"/>
          <p:cNvGrpSpPr>
            <a:grpSpLocks/>
          </p:cNvGrpSpPr>
          <p:nvPr/>
        </p:nvGrpSpPr>
        <p:grpSpPr bwMode="auto">
          <a:xfrm>
            <a:off x="6330951" y="1827386"/>
            <a:ext cx="2879725" cy="2825750"/>
            <a:chOff x="3028" y="590"/>
            <a:chExt cx="1814" cy="1780"/>
          </a:xfrm>
        </p:grpSpPr>
        <p:sp>
          <p:nvSpPr>
            <p:cNvPr id="47163" name="Line 167"/>
            <p:cNvSpPr>
              <a:spLocks noChangeShapeType="1"/>
            </p:cNvSpPr>
            <p:nvPr/>
          </p:nvSpPr>
          <p:spPr bwMode="auto">
            <a:xfrm>
              <a:off x="3496" y="1045"/>
              <a:ext cx="887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4" name="Line 154"/>
            <p:cNvSpPr>
              <a:spLocks noChangeShapeType="1"/>
            </p:cNvSpPr>
            <p:nvPr/>
          </p:nvSpPr>
          <p:spPr bwMode="auto">
            <a:xfrm>
              <a:off x="3220" y="1271"/>
              <a:ext cx="13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5" name="Line 153"/>
            <p:cNvSpPr>
              <a:spLocks noChangeShapeType="1"/>
            </p:cNvSpPr>
            <p:nvPr/>
          </p:nvSpPr>
          <p:spPr bwMode="auto">
            <a:xfrm>
              <a:off x="3729" y="864"/>
              <a:ext cx="52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6" name="Line 155"/>
            <p:cNvSpPr>
              <a:spLocks noChangeShapeType="1"/>
            </p:cNvSpPr>
            <p:nvPr/>
          </p:nvSpPr>
          <p:spPr bwMode="auto">
            <a:xfrm>
              <a:off x="3721" y="1838"/>
              <a:ext cx="51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7" name="Line 156"/>
            <p:cNvSpPr>
              <a:spLocks noChangeShapeType="1"/>
            </p:cNvSpPr>
            <p:nvPr/>
          </p:nvSpPr>
          <p:spPr bwMode="auto">
            <a:xfrm>
              <a:off x="3510" y="1984"/>
              <a:ext cx="89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8" name="Line 157"/>
            <p:cNvSpPr>
              <a:spLocks noChangeShapeType="1"/>
            </p:cNvSpPr>
            <p:nvPr/>
          </p:nvSpPr>
          <p:spPr bwMode="auto">
            <a:xfrm>
              <a:off x="3220" y="2151"/>
              <a:ext cx="135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9" name="Line 152"/>
            <p:cNvSpPr>
              <a:spLocks noChangeShapeType="1"/>
            </p:cNvSpPr>
            <p:nvPr/>
          </p:nvSpPr>
          <p:spPr bwMode="auto">
            <a:xfrm>
              <a:off x="3983" y="1569"/>
              <a:ext cx="640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70" name="Line 151"/>
            <p:cNvSpPr>
              <a:spLocks noChangeShapeType="1"/>
            </p:cNvSpPr>
            <p:nvPr/>
          </p:nvSpPr>
          <p:spPr bwMode="auto">
            <a:xfrm>
              <a:off x="3983" y="769"/>
              <a:ext cx="0" cy="14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71" name="Line 150"/>
            <p:cNvSpPr>
              <a:spLocks noChangeShapeType="1"/>
            </p:cNvSpPr>
            <p:nvPr/>
          </p:nvSpPr>
          <p:spPr bwMode="auto">
            <a:xfrm>
              <a:off x="3125" y="1569"/>
              <a:ext cx="157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72" name="Rectangle 39"/>
            <p:cNvSpPr>
              <a:spLocks noChangeArrowheads="1"/>
            </p:cNvSpPr>
            <p:nvPr/>
          </p:nvSpPr>
          <p:spPr bwMode="auto">
            <a:xfrm>
              <a:off x="3391" y="881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73" name="Rectangle 79"/>
            <p:cNvSpPr>
              <a:spLocks noChangeArrowheads="1"/>
            </p:cNvSpPr>
            <p:nvPr/>
          </p:nvSpPr>
          <p:spPr bwMode="auto">
            <a:xfrm>
              <a:off x="3110" y="207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74" name="Rectangle 81"/>
            <p:cNvSpPr>
              <a:spLocks noChangeArrowheads="1"/>
            </p:cNvSpPr>
            <p:nvPr/>
          </p:nvSpPr>
          <p:spPr bwMode="auto">
            <a:xfrm>
              <a:off x="3374" y="1800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75" name="Rectangle 84"/>
            <p:cNvSpPr>
              <a:spLocks noChangeArrowheads="1"/>
            </p:cNvSpPr>
            <p:nvPr/>
          </p:nvSpPr>
          <p:spPr bwMode="auto">
            <a:xfrm>
              <a:off x="3028" y="1478"/>
              <a:ext cx="8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X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76" name="Rectangle 85"/>
            <p:cNvSpPr>
              <a:spLocks noChangeArrowheads="1"/>
            </p:cNvSpPr>
            <p:nvPr/>
          </p:nvSpPr>
          <p:spPr bwMode="auto">
            <a:xfrm>
              <a:off x="3111" y="1093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77" name="Rectangle 88"/>
            <p:cNvSpPr>
              <a:spLocks noChangeArrowheads="1"/>
            </p:cNvSpPr>
            <p:nvPr/>
          </p:nvSpPr>
          <p:spPr bwMode="auto">
            <a:xfrm>
              <a:off x="3670" y="675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78" name="Rectangle 89"/>
            <p:cNvSpPr>
              <a:spLocks noChangeArrowheads="1"/>
            </p:cNvSpPr>
            <p:nvPr/>
          </p:nvSpPr>
          <p:spPr bwMode="auto">
            <a:xfrm>
              <a:off x="4424" y="887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79" name="Rectangle 94"/>
            <p:cNvSpPr>
              <a:spLocks noChangeArrowheads="1"/>
            </p:cNvSpPr>
            <p:nvPr/>
          </p:nvSpPr>
          <p:spPr bwMode="auto">
            <a:xfrm>
              <a:off x="4739" y="1469"/>
              <a:ext cx="8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Y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80" name="Rectangle 95"/>
            <p:cNvSpPr>
              <a:spLocks noChangeArrowheads="1"/>
            </p:cNvSpPr>
            <p:nvPr/>
          </p:nvSpPr>
          <p:spPr bwMode="auto">
            <a:xfrm>
              <a:off x="4038" y="2178"/>
              <a:ext cx="8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Y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81" name="Rectangle 96"/>
            <p:cNvSpPr>
              <a:spLocks noChangeArrowheads="1"/>
            </p:cNvSpPr>
            <p:nvPr/>
          </p:nvSpPr>
          <p:spPr bwMode="auto">
            <a:xfrm>
              <a:off x="3769" y="1624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82" name="Rectangle 97"/>
            <p:cNvSpPr>
              <a:spLocks noChangeArrowheads="1"/>
            </p:cNvSpPr>
            <p:nvPr/>
          </p:nvSpPr>
          <p:spPr bwMode="auto">
            <a:xfrm>
              <a:off x="4007" y="1382"/>
              <a:ext cx="8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83" name="Rectangle 99"/>
            <p:cNvSpPr>
              <a:spLocks noChangeArrowheads="1"/>
            </p:cNvSpPr>
            <p:nvPr/>
          </p:nvSpPr>
          <p:spPr bwMode="auto">
            <a:xfrm>
              <a:off x="4598" y="116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84" name="Rectangle 106"/>
            <p:cNvSpPr>
              <a:spLocks noChangeArrowheads="1"/>
            </p:cNvSpPr>
            <p:nvPr/>
          </p:nvSpPr>
          <p:spPr bwMode="auto">
            <a:xfrm>
              <a:off x="4005" y="590"/>
              <a:ext cx="8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Z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85" name="Rectangle 107"/>
            <p:cNvSpPr>
              <a:spLocks noChangeArrowheads="1"/>
            </p:cNvSpPr>
            <p:nvPr/>
          </p:nvSpPr>
          <p:spPr bwMode="auto">
            <a:xfrm>
              <a:off x="4291" y="702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86" name="Text Box 133"/>
            <p:cNvSpPr txBox="1">
              <a:spLocks noChangeArrowheads="1"/>
            </p:cNvSpPr>
            <p:nvPr/>
          </p:nvSpPr>
          <p:spPr bwMode="auto">
            <a:xfrm>
              <a:off x="3722" y="63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47187" name="Text Box 134"/>
            <p:cNvSpPr txBox="1">
              <a:spLocks noChangeArrowheads="1"/>
            </p:cNvSpPr>
            <p:nvPr/>
          </p:nvSpPr>
          <p:spPr bwMode="auto">
            <a:xfrm>
              <a:off x="4645" y="1137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″</a:t>
              </a:r>
            </a:p>
          </p:txBody>
        </p:sp>
        <p:sp>
          <p:nvSpPr>
            <p:cNvPr id="47188" name="Text Box 135"/>
            <p:cNvSpPr txBox="1">
              <a:spLocks noChangeArrowheads="1"/>
            </p:cNvSpPr>
            <p:nvPr/>
          </p:nvSpPr>
          <p:spPr bwMode="auto">
            <a:xfrm>
              <a:off x="3441" y="86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47189" name="Text Box 136"/>
            <p:cNvSpPr txBox="1">
              <a:spLocks noChangeArrowheads="1"/>
            </p:cNvSpPr>
            <p:nvPr/>
          </p:nvSpPr>
          <p:spPr bwMode="auto">
            <a:xfrm>
              <a:off x="3172" y="106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47190" name="Text Box 140"/>
            <p:cNvSpPr txBox="1">
              <a:spLocks noChangeArrowheads="1"/>
            </p:cNvSpPr>
            <p:nvPr/>
          </p:nvSpPr>
          <p:spPr bwMode="auto">
            <a:xfrm>
              <a:off x="4466" y="857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″</a:t>
              </a:r>
            </a:p>
          </p:txBody>
        </p:sp>
        <p:sp>
          <p:nvSpPr>
            <p:cNvPr id="47191" name="Text Box 141"/>
            <p:cNvSpPr txBox="1">
              <a:spLocks noChangeArrowheads="1"/>
            </p:cNvSpPr>
            <p:nvPr/>
          </p:nvSpPr>
          <p:spPr bwMode="auto">
            <a:xfrm>
              <a:off x="4330" y="656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″</a:t>
              </a:r>
            </a:p>
          </p:txBody>
        </p:sp>
        <p:sp>
          <p:nvSpPr>
            <p:cNvPr id="47192" name="Line 158"/>
            <p:cNvSpPr>
              <a:spLocks noChangeShapeType="1"/>
            </p:cNvSpPr>
            <p:nvPr/>
          </p:nvSpPr>
          <p:spPr bwMode="auto">
            <a:xfrm>
              <a:off x="3220" y="1264"/>
              <a:ext cx="0" cy="8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93" name="Line 159"/>
            <p:cNvSpPr>
              <a:spLocks noChangeShapeType="1"/>
            </p:cNvSpPr>
            <p:nvPr/>
          </p:nvSpPr>
          <p:spPr bwMode="auto">
            <a:xfrm>
              <a:off x="3503" y="1045"/>
              <a:ext cx="0" cy="9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94" name="Line 160"/>
            <p:cNvSpPr>
              <a:spLocks noChangeShapeType="1"/>
            </p:cNvSpPr>
            <p:nvPr/>
          </p:nvSpPr>
          <p:spPr bwMode="auto">
            <a:xfrm>
              <a:off x="3729" y="856"/>
              <a:ext cx="0" cy="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95" name="Line 161"/>
            <p:cNvSpPr>
              <a:spLocks noChangeShapeType="1"/>
            </p:cNvSpPr>
            <p:nvPr/>
          </p:nvSpPr>
          <p:spPr bwMode="auto">
            <a:xfrm>
              <a:off x="4245" y="856"/>
              <a:ext cx="0" cy="9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96" name="Line 162"/>
            <p:cNvSpPr>
              <a:spLocks noChangeShapeType="1"/>
            </p:cNvSpPr>
            <p:nvPr/>
          </p:nvSpPr>
          <p:spPr bwMode="auto">
            <a:xfrm flipV="1">
              <a:off x="4390" y="1038"/>
              <a:ext cx="0" cy="9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97" name="Line 163"/>
            <p:cNvSpPr>
              <a:spLocks noChangeShapeType="1"/>
            </p:cNvSpPr>
            <p:nvPr/>
          </p:nvSpPr>
          <p:spPr bwMode="auto">
            <a:xfrm flipV="1">
              <a:off x="4558" y="1264"/>
              <a:ext cx="0" cy="8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98" name="Line 164"/>
            <p:cNvSpPr>
              <a:spLocks noChangeShapeType="1"/>
            </p:cNvSpPr>
            <p:nvPr/>
          </p:nvSpPr>
          <p:spPr bwMode="auto">
            <a:xfrm flipV="1">
              <a:off x="3220" y="1831"/>
              <a:ext cx="509" cy="320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99" name="Line 165"/>
            <p:cNvSpPr>
              <a:spLocks noChangeShapeType="1"/>
            </p:cNvSpPr>
            <p:nvPr/>
          </p:nvSpPr>
          <p:spPr bwMode="auto">
            <a:xfrm flipV="1">
              <a:off x="3220" y="864"/>
              <a:ext cx="509" cy="407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200" name="Line 166"/>
            <p:cNvSpPr>
              <a:spLocks noChangeShapeType="1"/>
            </p:cNvSpPr>
            <p:nvPr/>
          </p:nvSpPr>
          <p:spPr bwMode="auto">
            <a:xfrm>
              <a:off x="4245" y="864"/>
              <a:ext cx="313" cy="407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201" name="Freeform 91"/>
            <p:cNvSpPr>
              <a:spLocks/>
            </p:cNvSpPr>
            <p:nvPr/>
          </p:nvSpPr>
          <p:spPr bwMode="auto">
            <a:xfrm>
              <a:off x="3483" y="1027"/>
              <a:ext cx="36" cy="36"/>
            </a:xfrm>
            <a:custGeom>
              <a:avLst/>
              <a:gdLst>
                <a:gd name="T0" fmla="*/ 0 w 145"/>
                <a:gd name="T1" fmla="*/ 0 h 144"/>
                <a:gd name="T2" fmla="*/ 0 w 145"/>
                <a:gd name="T3" fmla="*/ 0 h 144"/>
                <a:gd name="T4" fmla="*/ 0 w 145"/>
                <a:gd name="T5" fmla="*/ 0 h 144"/>
                <a:gd name="T6" fmla="*/ 0 w 145"/>
                <a:gd name="T7" fmla="*/ 0 h 144"/>
                <a:gd name="T8" fmla="*/ 0 w 145"/>
                <a:gd name="T9" fmla="*/ 0 h 144"/>
                <a:gd name="T10" fmla="*/ 0 w 145"/>
                <a:gd name="T11" fmla="*/ 0 h 144"/>
                <a:gd name="T12" fmla="*/ 0 w 145"/>
                <a:gd name="T13" fmla="*/ 0 h 144"/>
                <a:gd name="T14" fmla="*/ 0 w 145"/>
                <a:gd name="T15" fmla="*/ 0 h 144"/>
                <a:gd name="T16" fmla="*/ 0 w 145"/>
                <a:gd name="T17" fmla="*/ 0 h 144"/>
                <a:gd name="T18" fmla="*/ 0 w 145"/>
                <a:gd name="T19" fmla="*/ 0 h 1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5"/>
                <a:gd name="T31" fmla="*/ 0 h 144"/>
                <a:gd name="T32" fmla="*/ 145 w 145"/>
                <a:gd name="T33" fmla="*/ 144 h 14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5" h="144">
                  <a:moveTo>
                    <a:pt x="144" y="71"/>
                  </a:moveTo>
                  <a:lnTo>
                    <a:pt x="123" y="21"/>
                  </a:lnTo>
                  <a:lnTo>
                    <a:pt x="72" y="0"/>
                  </a:lnTo>
                  <a:lnTo>
                    <a:pt x="21" y="21"/>
                  </a:lnTo>
                  <a:lnTo>
                    <a:pt x="0" y="71"/>
                  </a:lnTo>
                  <a:lnTo>
                    <a:pt x="21" y="123"/>
                  </a:lnTo>
                  <a:lnTo>
                    <a:pt x="72" y="144"/>
                  </a:lnTo>
                  <a:lnTo>
                    <a:pt x="123" y="123"/>
                  </a:lnTo>
                  <a:lnTo>
                    <a:pt x="144" y="71"/>
                  </a:lnTo>
                  <a:lnTo>
                    <a:pt x="145" y="71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2" name="Freeform 109"/>
            <p:cNvSpPr>
              <a:spLocks/>
            </p:cNvSpPr>
            <p:nvPr/>
          </p:nvSpPr>
          <p:spPr bwMode="auto">
            <a:xfrm>
              <a:off x="4365" y="1034"/>
              <a:ext cx="36" cy="36"/>
            </a:xfrm>
            <a:custGeom>
              <a:avLst/>
              <a:gdLst>
                <a:gd name="T0" fmla="*/ 0 w 145"/>
                <a:gd name="T1" fmla="*/ 0 h 144"/>
                <a:gd name="T2" fmla="*/ 0 w 145"/>
                <a:gd name="T3" fmla="*/ 0 h 144"/>
                <a:gd name="T4" fmla="*/ 0 w 145"/>
                <a:gd name="T5" fmla="*/ 0 h 144"/>
                <a:gd name="T6" fmla="*/ 0 w 145"/>
                <a:gd name="T7" fmla="*/ 0 h 144"/>
                <a:gd name="T8" fmla="*/ 0 w 145"/>
                <a:gd name="T9" fmla="*/ 0 h 144"/>
                <a:gd name="T10" fmla="*/ 0 w 145"/>
                <a:gd name="T11" fmla="*/ 0 h 144"/>
                <a:gd name="T12" fmla="*/ 0 w 145"/>
                <a:gd name="T13" fmla="*/ 0 h 144"/>
                <a:gd name="T14" fmla="*/ 0 w 145"/>
                <a:gd name="T15" fmla="*/ 0 h 144"/>
                <a:gd name="T16" fmla="*/ 0 w 145"/>
                <a:gd name="T17" fmla="*/ 0 h 144"/>
                <a:gd name="T18" fmla="*/ 0 w 145"/>
                <a:gd name="T19" fmla="*/ 0 h 1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5"/>
                <a:gd name="T31" fmla="*/ 0 h 144"/>
                <a:gd name="T32" fmla="*/ 145 w 145"/>
                <a:gd name="T33" fmla="*/ 144 h 14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5" h="144">
                  <a:moveTo>
                    <a:pt x="144" y="71"/>
                  </a:moveTo>
                  <a:lnTo>
                    <a:pt x="123" y="21"/>
                  </a:lnTo>
                  <a:lnTo>
                    <a:pt x="73" y="0"/>
                  </a:lnTo>
                  <a:lnTo>
                    <a:pt x="22" y="21"/>
                  </a:lnTo>
                  <a:lnTo>
                    <a:pt x="0" y="71"/>
                  </a:lnTo>
                  <a:lnTo>
                    <a:pt x="22" y="123"/>
                  </a:lnTo>
                  <a:lnTo>
                    <a:pt x="73" y="144"/>
                  </a:lnTo>
                  <a:lnTo>
                    <a:pt x="123" y="123"/>
                  </a:lnTo>
                  <a:lnTo>
                    <a:pt x="144" y="71"/>
                  </a:lnTo>
                  <a:lnTo>
                    <a:pt x="145" y="71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3" name="Freeform 82"/>
            <p:cNvSpPr>
              <a:spLocks/>
            </p:cNvSpPr>
            <p:nvPr/>
          </p:nvSpPr>
          <p:spPr bwMode="auto">
            <a:xfrm>
              <a:off x="3483" y="1957"/>
              <a:ext cx="36" cy="37"/>
            </a:xfrm>
            <a:custGeom>
              <a:avLst/>
              <a:gdLst>
                <a:gd name="T0" fmla="*/ 0 w 145"/>
                <a:gd name="T1" fmla="*/ 0 h 145"/>
                <a:gd name="T2" fmla="*/ 0 w 145"/>
                <a:gd name="T3" fmla="*/ 0 h 145"/>
                <a:gd name="T4" fmla="*/ 0 w 145"/>
                <a:gd name="T5" fmla="*/ 0 h 145"/>
                <a:gd name="T6" fmla="*/ 0 w 145"/>
                <a:gd name="T7" fmla="*/ 0 h 145"/>
                <a:gd name="T8" fmla="*/ 0 w 145"/>
                <a:gd name="T9" fmla="*/ 0 h 145"/>
                <a:gd name="T10" fmla="*/ 0 w 145"/>
                <a:gd name="T11" fmla="*/ 0 h 145"/>
                <a:gd name="T12" fmla="*/ 0 w 145"/>
                <a:gd name="T13" fmla="*/ 0 h 145"/>
                <a:gd name="T14" fmla="*/ 0 w 145"/>
                <a:gd name="T15" fmla="*/ 0 h 145"/>
                <a:gd name="T16" fmla="*/ 0 w 145"/>
                <a:gd name="T17" fmla="*/ 0 h 145"/>
                <a:gd name="T18" fmla="*/ 0 w 145"/>
                <a:gd name="T19" fmla="*/ 0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5"/>
                <a:gd name="T31" fmla="*/ 0 h 145"/>
                <a:gd name="T32" fmla="*/ 145 w 145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5" h="145">
                  <a:moveTo>
                    <a:pt x="144" y="73"/>
                  </a:moveTo>
                  <a:lnTo>
                    <a:pt x="123" y="22"/>
                  </a:lnTo>
                  <a:lnTo>
                    <a:pt x="72" y="0"/>
                  </a:lnTo>
                  <a:lnTo>
                    <a:pt x="21" y="22"/>
                  </a:lnTo>
                  <a:lnTo>
                    <a:pt x="0" y="73"/>
                  </a:lnTo>
                  <a:lnTo>
                    <a:pt x="21" y="123"/>
                  </a:lnTo>
                  <a:lnTo>
                    <a:pt x="72" y="145"/>
                  </a:lnTo>
                  <a:lnTo>
                    <a:pt x="123" y="123"/>
                  </a:lnTo>
                  <a:lnTo>
                    <a:pt x="144" y="73"/>
                  </a:lnTo>
                  <a:lnTo>
                    <a:pt x="145" y="73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69"/>
          <p:cNvGrpSpPr>
            <a:grpSpLocks/>
          </p:cNvGrpSpPr>
          <p:nvPr/>
        </p:nvGrpSpPr>
        <p:grpSpPr bwMode="auto">
          <a:xfrm>
            <a:off x="2840039" y="1774999"/>
            <a:ext cx="2941637" cy="2760662"/>
            <a:chOff x="638" y="574"/>
            <a:chExt cx="1853" cy="1739"/>
          </a:xfrm>
        </p:grpSpPr>
        <p:sp>
          <p:nvSpPr>
            <p:cNvPr id="47113" name="AutoShape 148"/>
            <p:cNvSpPr>
              <a:spLocks noChangeArrowheads="1"/>
            </p:cNvSpPr>
            <p:nvPr/>
          </p:nvSpPr>
          <p:spPr bwMode="auto">
            <a:xfrm rot="5400000">
              <a:off x="1229" y="1127"/>
              <a:ext cx="1712" cy="656"/>
            </a:xfrm>
            <a:prstGeom prst="parallelogram">
              <a:avLst>
                <a:gd name="adj" fmla="val 95836"/>
              </a:avLst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4" name="AutoShape 147"/>
            <p:cNvSpPr>
              <a:spLocks noChangeArrowheads="1"/>
            </p:cNvSpPr>
            <p:nvPr/>
          </p:nvSpPr>
          <p:spPr bwMode="auto">
            <a:xfrm flipH="1">
              <a:off x="638" y="1655"/>
              <a:ext cx="1773" cy="655"/>
            </a:xfrm>
            <a:prstGeom prst="parallelogram">
              <a:avLst>
                <a:gd name="adj" fmla="val 99578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5" name="Rectangle 146"/>
            <p:cNvSpPr>
              <a:spLocks noChangeArrowheads="1"/>
            </p:cNvSpPr>
            <p:nvPr/>
          </p:nvSpPr>
          <p:spPr bwMode="auto">
            <a:xfrm>
              <a:off x="645" y="593"/>
              <a:ext cx="1105" cy="1054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6" name="Line 129"/>
            <p:cNvSpPr>
              <a:spLocks noChangeShapeType="1"/>
            </p:cNvSpPr>
            <p:nvPr/>
          </p:nvSpPr>
          <p:spPr bwMode="auto">
            <a:xfrm flipV="1">
              <a:off x="1365" y="1081"/>
              <a:ext cx="318" cy="692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7" name="Freeform 6"/>
            <p:cNvSpPr>
              <a:spLocks/>
            </p:cNvSpPr>
            <p:nvPr/>
          </p:nvSpPr>
          <p:spPr bwMode="auto">
            <a:xfrm>
              <a:off x="1517" y="1377"/>
              <a:ext cx="40" cy="40"/>
            </a:xfrm>
            <a:custGeom>
              <a:avLst/>
              <a:gdLst>
                <a:gd name="T0" fmla="*/ 0 w 145"/>
                <a:gd name="T1" fmla="*/ 0 h 145"/>
                <a:gd name="T2" fmla="*/ 0 w 145"/>
                <a:gd name="T3" fmla="*/ 0 h 145"/>
                <a:gd name="T4" fmla="*/ 0 w 145"/>
                <a:gd name="T5" fmla="*/ 0 h 145"/>
                <a:gd name="T6" fmla="*/ 0 w 145"/>
                <a:gd name="T7" fmla="*/ 0 h 145"/>
                <a:gd name="T8" fmla="*/ 0 w 145"/>
                <a:gd name="T9" fmla="*/ 0 h 145"/>
                <a:gd name="T10" fmla="*/ 0 w 145"/>
                <a:gd name="T11" fmla="*/ 0 h 145"/>
                <a:gd name="T12" fmla="*/ 0 w 145"/>
                <a:gd name="T13" fmla="*/ 0 h 145"/>
                <a:gd name="T14" fmla="*/ 0 w 145"/>
                <a:gd name="T15" fmla="*/ 0 h 145"/>
                <a:gd name="T16" fmla="*/ 0 w 145"/>
                <a:gd name="T17" fmla="*/ 0 h 145"/>
                <a:gd name="T18" fmla="*/ 0 w 145"/>
                <a:gd name="T19" fmla="*/ 0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5"/>
                <a:gd name="T31" fmla="*/ 0 h 145"/>
                <a:gd name="T32" fmla="*/ 145 w 145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5" h="145">
                  <a:moveTo>
                    <a:pt x="143" y="73"/>
                  </a:moveTo>
                  <a:lnTo>
                    <a:pt x="123" y="22"/>
                  </a:lnTo>
                  <a:lnTo>
                    <a:pt x="72" y="0"/>
                  </a:lnTo>
                  <a:lnTo>
                    <a:pt x="22" y="22"/>
                  </a:lnTo>
                  <a:lnTo>
                    <a:pt x="0" y="73"/>
                  </a:lnTo>
                  <a:lnTo>
                    <a:pt x="22" y="123"/>
                  </a:lnTo>
                  <a:lnTo>
                    <a:pt x="72" y="145"/>
                  </a:lnTo>
                  <a:lnTo>
                    <a:pt x="123" y="123"/>
                  </a:lnTo>
                  <a:lnTo>
                    <a:pt x="143" y="73"/>
                  </a:lnTo>
                  <a:lnTo>
                    <a:pt x="145" y="73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8" name="Rectangle 15"/>
            <p:cNvSpPr>
              <a:spLocks noChangeArrowheads="1"/>
            </p:cNvSpPr>
            <p:nvPr/>
          </p:nvSpPr>
          <p:spPr bwMode="auto">
            <a:xfrm>
              <a:off x="1144" y="884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19" name="Rectangle 19"/>
            <p:cNvSpPr>
              <a:spLocks noChangeArrowheads="1"/>
            </p:cNvSpPr>
            <p:nvPr/>
          </p:nvSpPr>
          <p:spPr bwMode="auto">
            <a:xfrm>
              <a:off x="1255" y="1745"/>
              <a:ext cx="10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20" name="Rectangle 23"/>
            <p:cNvSpPr>
              <a:spLocks noChangeArrowheads="1"/>
            </p:cNvSpPr>
            <p:nvPr/>
          </p:nvSpPr>
          <p:spPr bwMode="auto">
            <a:xfrm>
              <a:off x="1458" y="2119"/>
              <a:ext cx="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H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21" name="Rectangle 24"/>
            <p:cNvSpPr>
              <a:spLocks noChangeArrowheads="1"/>
            </p:cNvSpPr>
            <p:nvPr/>
          </p:nvSpPr>
          <p:spPr bwMode="auto">
            <a:xfrm>
              <a:off x="1265" y="204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22" name="Rectangle 25"/>
            <p:cNvSpPr>
              <a:spLocks noChangeArrowheads="1"/>
            </p:cNvSpPr>
            <p:nvPr/>
          </p:nvSpPr>
          <p:spPr bwMode="auto">
            <a:xfrm>
              <a:off x="1434" y="1816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23" name="Rectangle 31"/>
            <p:cNvSpPr>
              <a:spLocks noChangeArrowheads="1"/>
            </p:cNvSpPr>
            <p:nvPr/>
          </p:nvSpPr>
          <p:spPr bwMode="auto">
            <a:xfrm>
              <a:off x="842" y="1130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24" name="Rectangle 35"/>
            <p:cNvSpPr>
              <a:spLocks noChangeArrowheads="1"/>
            </p:cNvSpPr>
            <p:nvPr/>
          </p:nvSpPr>
          <p:spPr bwMode="auto">
            <a:xfrm>
              <a:off x="679" y="574"/>
              <a:ext cx="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V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25" name="Rectangle 36"/>
            <p:cNvSpPr>
              <a:spLocks noChangeArrowheads="1"/>
            </p:cNvSpPr>
            <p:nvPr/>
          </p:nvSpPr>
          <p:spPr bwMode="auto">
            <a:xfrm>
              <a:off x="1420" y="680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26" name="Rectangle 41"/>
            <p:cNvSpPr>
              <a:spLocks noChangeArrowheads="1"/>
            </p:cNvSpPr>
            <p:nvPr/>
          </p:nvSpPr>
          <p:spPr bwMode="auto">
            <a:xfrm>
              <a:off x="1654" y="895"/>
              <a:ext cx="91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27" name="Rectangle 53"/>
            <p:cNvSpPr>
              <a:spLocks noChangeArrowheads="1"/>
            </p:cNvSpPr>
            <p:nvPr/>
          </p:nvSpPr>
          <p:spPr bwMode="auto">
            <a:xfrm>
              <a:off x="2240" y="1654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28" name="Freeform 57"/>
            <p:cNvSpPr>
              <a:spLocks/>
            </p:cNvSpPr>
            <p:nvPr/>
          </p:nvSpPr>
          <p:spPr bwMode="auto">
            <a:xfrm>
              <a:off x="1749" y="1654"/>
              <a:ext cx="642" cy="641"/>
            </a:xfrm>
            <a:custGeom>
              <a:avLst/>
              <a:gdLst>
                <a:gd name="T0" fmla="*/ 0 w 2321"/>
                <a:gd name="T1" fmla="*/ 0 h 2320"/>
                <a:gd name="T2" fmla="*/ 0 w 2321"/>
                <a:gd name="T3" fmla="*/ 0 h 2320"/>
                <a:gd name="T4" fmla="*/ 0 w 2321"/>
                <a:gd name="T5" fmla="*/ 0 h 2320"/>
                <a:gd name="T6" fmla="*/ 0 60000 65536"/>
                <a:gd name="T7" fmla="*/ 0 60000 65536"/>
                <a:gd name="T8" fmla="*/ 0 60000 65536"/>
                <a:gd name="T9" fmla="*/ 0 w 2321"/>
                <a:gd name="T10" fmla="*/ 0 h 2320"/>
                <a:gd name="T11" fmla="*/ 2321 w 2321"/>
                <a:gd name="T12" fmla="*/ 2320 h 2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1" h="2320">
                  <a:moveTo>
                    <a:pt x="0" y="0"/>
                  </a:moveTo>
                  <a:lnTo>
                    <a:pt x="2319" y="2320"/>
                  </a:lnTo>
                  <a:lnTo>
                    <a:pt x="2321" y="2320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9" name="Rectangle 61"/>
            <p:cNvSpPr>
              <a:spLocks noChangeArrowheads="1"/>
            </p:cNvSpPr>
            <p:nvPr/>
          </p:nvSpPr>
          <p:spPr bwMode="auto">
            <a:xfrm>
              <a:off x="1674" y="183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30" name="Rectangle 64"/>
            <p:cNvSpPr>
              <a:spLocks noChangeArrowheads="1"/>
            </p:cNvSpPr>
            <p:nvPr/>
          </p:nvSpPr>
          <p:spPr bwMode="auto">
            <a:xfrm>
              <a:off x="2100" y="1270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31" name="Rectangle 67"/>
            <p:cNvSpPr>
              <a:spLocks noChangeArrowheads="1"/>
            </p:cNvSpPr>
            <p:nvPr/>
          </p:nvSpPr>
          <p:spPr bwMode="auto">
            <a:xfrm>
              <a:off x="1361" y="1344"/>
              <a:ext cx="8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32" name="Rectangle 72"/>
            <p:cNvSpPr>
              <a:spLocks noChangeArrowheads="1"/>
            </p:cNvSpPr>
            <p:nvPr/>
          </p:nvSpPr>
          <p:spPr bwMode="auto">
            <a:xfrm>
              <a:off x="2013" y="95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0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33" name="Rectangle 73"/>
            <p:cNvSpPr>
              <a:spLocks noChangeArrowheads="1"/>
            </p:cNvSpPr>
            <p:nvPr/>
          </p:nvSpPr>
          <p:spPr bwMode="auto">
            <a:xfrm>
              <a:off x="2292" y="1258"/>
              <a:ext cx="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W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47134" name="Line 110"/>
            <p:cNvSpPr>
              <a:spLocks noChangeShapeType="1"/>
            </p:cNvSpPr>
            <p:nvPr/>
          </p:nvSpPr>
          <p:spPr bwMode="auto">
            <a:xfrm>
              <a:off x="1471" y="877"/>
              <a:ext cx="28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5" name="Line 111"/>
            <p:cNvSpPr>
              <a:spLocks noChangeShapeType="1"/>
            </p:cNvSpPr>
            <p:nvPr/>
          </p:nvSpPr>
          <p:spPr bwMode="auto">
            <a:xfrm>
              <a:off x="1747" y="877"/>
              <a:ext cx="204" cy="2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6" name="Line 112"/>
            <p:cNvSpPr>
              <a:spLocks noChangeShapeType="1"/>
            </p:cNvSpPr>
            <p:nvPr/>
          </p:nvSpPr>
          <p:spPr bwMode="auto">
            <a:xfrm>
              <a:off x="1471" y="877"/>
              <a:ext cx="204" cy="2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7" name="Line 113"/>
            <p:cNvSpPr>
              <a:spLocks noChangeShapeType="1"/>
            </p:cNvSpPr>
            <p:nvPr/>
          </p:nvSpPr>
          <p:spPr bwMode="auto">
            <a:xfrm>
              <a:off x="1217" y="1074"/>
              <a:ext cx="318" cy="3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8" name="Line 114"/>
            <p:cNvSpPr>
              <a:spLocks noChangeShapeType="1"/>
            </p:cNvSpPr>
            <p:nvPr/>
          </p:nvSpPr>
          <p:spPr bwMode="auto">
            <a:xfrm>
              <a:off x="905" y="1314"/>
              <a:ext cx="460" cy="4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39" name="Line 115"/>
            <p:cNvSpPr>
              <a:spLocks noChangeShapeType="1"/>
            </p:cNvSpPr>
            <p:nvPr/>
          </p:nvSpPr>
          <p:spPr bwMode="auto">
            <a:xfrm>
              <a:off x="912" y="1654"/>
              <a:ext cx="459" cy="4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0" name="Line 116"/>
            <p:cNvSpPr>
              <a:spLocks noChangeShapeType="1"/>
            </p:cNvSpPr>
            <p:nvPr/>
          </p:nvSpPr>
          <p:spPr bwMode="auto">
            <a:xfrm>
              <a:off x="912" y="1322"/>
              <a:ext cx="0" cy="3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1" name="Line 117"/>
            <p:cNvSpPr>
              <a:spLocks noChangeShapeType="1"/>
            </p:cNvSpPr>
            <p:nvPr/>
          </p:nvSpPr>
          <p:spPr bwMode="auto">
            <a:xfrm>
              <a:off x="1371" y="1773"/>
              <a:ext cx="0" cy="3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2" name="Line 118"/>
            <p:cNvSpPr>
              <a:spLocks noChangeShapeType="1"/>
            </p:cNvSpPr>
            <p:nvPr/>
          </p:nvSpPr>
          <p:spPr bwMode="auto">
            <a:xfrm>
              <a:off x="1365" y="2106"/>
              <a:ext cx="84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3" name="Line 119"/>
            <p:cNvSpPr>
              <a:spLocks noChangeShapeType="1"/>
            </p:cNvSpPr>
            <p:nvPr/>
          </p:nvSpPr>
          <p:spPr bwMode="auto">
            <a:xfrm>
              <a:off x="2206" y="1773"/>
              <a:ext cx="0" cy="3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4" name="Line 120"/>
            <p:cNvSpPr>
              <a:spLocks noChangeShapeType="1"/>
            </p:cNvSpPr>
            <p:nvPr/>
          </p:nvSpPr>
          <p:spPr bwMode="auto">
            <a:xfrm>
              <a:off x="1371" y="1773"/>
              <a:ext cx="82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5" name="Line 121"/>
            <p:cNvSpPr>
              <a:spLocks noChangeShapeType="1"/>
            </p:cNvSpPr>
            <p:nvPr/>
          </p:nvSpPr>
          <p:spPr bwMode="auto">
            <a:xfrm>
              <a:off x="1535" y="1399"/>
              <a:ext cx="54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6" name="Line 122"/>
            <p:cNvSpPr>
              <a:spLocks noChangeShapeType="1"/>
            </p:cNvSpPr>
            <p:nvPr/>
          </p:nvSpPr>
          <p:spPr bwMode="auto">
            <a:xfrm>
              <a:off x="1951" y="1081"/>
              <a:ext cx="0" cy="7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7" name="Line 123"/>
            <p:cNvSpPr>
              <a:spLocks noChangeShapeType="1"/>
            </p:cNvSpPr>
            <p:nvPr/>
          </p:nvSpPr>
          <p:spPr bwMode="auto">
            <a:xfrm flipH="1">
              <a:off x="1683" y="1858"/>
              <a:ext cx="2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8" name="Line 124"/>
            <p:cNvSpPr>
              <a:spLocks noChangeShapeType="1"/>
            </p:cNvSpPr>
            <p:nvPr/>
          </p:nvSpPr>
          <p:spPr bwMode="auto">
            <a:xfrm>
              <a:off x="1535" y="1399"/>
              <a:ext cx="0" cy="5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49" name="Line 126"/>
            <p:cNvSpPr>
              <a:spLocks noChangeShapeType="1"/>
            </p:cNvSpPr>
            <p:nvPr/>
          </p:nvSpPr>
          <p:spPr bwMode="auto">
            <a:xfrm>
              <a:off x="1683" y="1081"/>
              <a:ext cx="0" cy="7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0" name="Line 127"/>
            <p:cNvSpPr>
              <a:spLocks noChangeShapeType="1"/>
            </p:cNvSpPr>
            <p:nvPr/>
          </p:nvSpPr>
          <p:spPr bwMode="auto">
            <a:xfrm>
              <a:off x="1676" y="1089"/>
              <a:ext cx="2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1" name="Line 128"/>
            <p:cNvSpPr>
              <a:spLocks noChangeShapeType="1"/>
            </p:cNvSpPr>
            <p:nvPr/>
          </p:nvSpPr>
          <p:spPr bwMode="auto">
            <a:xfrm flipV="1">
              <a:off x="1371" y="1852"/>
              <a:ext cx="305" cy="254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2" name="Line 131"/>
            <p:cNvSpPr>
              <a:spLocks noChangeShapeType="1"/>
            </p:cNvSpPr>
            <p:nvPr/>
          </p:nvSpPr>
          <p:spPr bwMode="auto">
            <a:xfrm flipV="1">
              <a:off x="912" y="869"/>
              <a:ext cx="580" cy="453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53" name="Freeform 43"/>
            <p:cNvSpPr>
              <a:spLocks/>
            </p:cNvSpPr>
            <p:nvPr/>
          </p:nvSpPr>
          <p:spPr bwMode="auto">
            <a:xfrm>
              <a:off x="1201" y="1061"/>
              <a:ext cx="41" cy="40"/>
            </a:xfrm>
            <a:custGeom>
              <a:avLst/>
              <a:gdLst>
                <a:gd name="T0" fmla="*/ 0 w 145"/>
                <a:gd name="T1" fmla="*/ 0 h 144"/>
                <a:gd name="T2" fmla="*/ 0 w 145"/>
                <a:gd name="T3" fmla="*/ 0 h 144"/>
                <a:gd name="T4" fmla="*/ 0 w 145"/>
                <a:gd name="T5" fmla="*/ 0 h 144"/>
                <a:gd name="T6" fmla="*/ 0 w 145"/>
                <a:gd name="T7" fmla="*/ 0 h 144"/>
                <a:gd name="T8" fmla="*/ 0 w 145"/>
                <a:gd name="T9" fmla="*/ 0 h 144"/>
                <a:gd name="T10" fmla="*/ 0 w 145"/>
                <a:gd name="T11" fmla="*/ 0 h 144"/>
                <a:gd name="T12" fmla="*/ 0 w 145"/>
                <a:gd name="T13" fmla="*/ 0 h 144"/>
                <a:gd name="T14" fmla="*/ 0 w 145"/>
                <a:gd name="T15" fmla="*/ 0 h 144"/>
                <a:gd name="T16" fmla="*/ 0 w 145"/>
                <a:gd name="T17" fmla="*/ 0 h 144"/>
                <a:gd name="T18" fmla="*/ 0 w 145"/>
                <a:gd name="T19" fmla="*/ 0 h 1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5"/>
                <a:gd name="T31" fmla="*/ 0 h 144"/>
                <a:gd name="T32" fmla="*/ 145 w 145"/>
                <a:gd name="T33" fmla="*/ 144 h 14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5" h="144">
                  <a:moveTo>
                    <a:pt x="143" y="72"/>
                  </a:moveTo>
                  <a:lnTo>
                    <a:pt x="122" y="22"/>
                  </a:lnTo>
                  <a:lnTo>
                    <a:pt x="71" y="0"/>
                  </a:lnTo>
                  <a:lnTo>
                    <a:pt x="20" y="22"/>
                  </a:lnTo>
                  <a:lnTo>
                    <a:pt x="0" y="72"/>
                  </a:lnTo>
                  <a:lnTo>
                    <a:pt x="20" y="123"/>
                  </a:lnTo>
                  <a:lnTo>
                    <a:pt x="71" y="144"/>
                  </a:lnTo>
                  <a:lnTo>
                    <a:pt x="122" y="123"/>
                  </a:lnTo>
                  <a:lnTo>
                    <a:pt x="143" y="72"/>
                  </a:lnTo>
                  <a:lnTo>
                    <a:pt x="145" y="72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4" name="Freeform 132"/>
            <p:cNvSpPr>
              <a:spLocks/>
            </p:cNvSpPr>
            <p:nvPr/>
          </p:nvSpPr>
          <p:spPr bwMode="auto">
            <a:xfrm>
              <a:off x="1506" y="1949"/>
              <a:ext cx="41" cy="40"/>
            </a:xfrm>
            <a:custGeom>
              <a:avLst/>
              <a:gdLst>
                <a:gd name="T0" fmla="*/ 0 w 145"/>
                <a:gd name="T1" fmla="*/ 0 h 144"/>
                <a:gd name="T2" fmla="*/ 0 w 145"/>
                <a:gd name="T3" fmla="*/ 0 h 144"/>
                <a:gd name="T4" fmla="*/ 0 w 145"/>
                <a:gd name="T5" fmla="*/ 0 h 144"/>
                <a:gd name="T6" fmla="*/ 0 w 145"/>
                <a:gd name="T7" fmla="*/ 0 h 144"/>
                <a:gd name="T8" fmla="*/ 0 w 145"/>
                <a:gd name="T9" fmla="*/ 0 h 144"/>
                <a:gd name="T10" fmla="*/ 0 w 145"/>
                <a:gd name="T11" fmla="*/ 0 h 144"/>
                <a:gd name="T12" fmla="*/ 0 w 145"/>
                <a:gd name="T13" fmla="*/ 0 h 144"/>
                <a:gd name="T14" fmla="*/ 0 w 145"/>
                <a:gd name="T15" fmla="*/ 0 h 144"/>
                <a:gd name="T16" fmla="*/ 0 w 145"/>
                <a:gd name="T17" fmla="*/ 0 h 144"/>
                <a:gd name="T18" fmla="*/ 0 w 145"/>
                <a:gd name="T19" fmla="*/ 0 h 1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5"/>
                <a:gd name="T31" fmla="*/ 0 h 144"/>
                <a:gd name="T32" fmla="*/ 145 w 145"/>
                <a:gd name="T33" fmla="*/ 144 h 14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5" h="144">
                  <a:moveTo>
                    <a:pt x="143" y="72"/>
                  </a:moveTo>
                  <a:lnTo>
                    <a:pt x="122" y="22"/>
                  </a:lnTo>
                  <a:lnTo>
                    <a:pt x="71" y="0"/>
                  </a:lnTo>
                  <a:lnTo>
                    <a:pt x="20" y="22"/>
                  </a:lnTo>
                  <a:lnTo>
                    <a:pt x="0" y="72"/>
                  </a:lnTo>
                  <a:lnTo>
                    <a:pt x="20" y="123"/>
                  </a:lnTo>
                  <a:lnTo>
                    <a:pt x="71" y="144"/>
                  </a:lnTo>
                  <a:lnTo>
                    <a:pt x="122" y="123"/>
                  </a:lnTo>
                  <a:lnTo>
                    <a:pt x="143" y="72"/>
                  </a:lnTo>
                  <a:lnTo>
                    <a:pt x="145" y="72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5" name="Text Box 137"/>
            <p:cNvSpPr txBox="1">
              <a:spLocks noChangeArrowheads="1"/>
            </p:cNvSpPr>
            <p:nvPr/>
          </p:nvSpPr>
          <p:spPr bwMode="auto">
            <a:xfrm>
              <a:off x="1457" y="637"/>
              <a:ext cx="2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47156" name="Text Box 138"/>
            <p:cNvSpPr txBox="1">
              <a:spLocks noChangeArrowheads="1"/>
            </p:cNvSpPr>
            <p:nvPr/>
          </p:nvSpPr>
          <p:spPr bwMode="auto">
            <a:xfrm>
              <a:off x="1192" y="870"/>
              <a:ext cx="2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47157" name="Text Box 139"/>
            <p:cNvSpPr txBox="1">
              <a:spLocks noChangeArrowheads="1"/>
            </p:cNvSpPr>
            <p:nvPr/>
          </p:nvSpPr>
          <p:spPr bwMode="auto">
            <a:xfrm>
              <a:off x="892" y="1117"/>
              <a:ext cx="2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47158" name="Text Box 142"/>
            <p:cNvSpPr txBox="1">
              <a:spLocks noChangeArrowheads="1"/>
            </p:cNvSpPr>
            <p:nvPr/>
          </p:nvSpPr>
          <p:spPr bwMode="auto">
            <a:xfrm>
              <a:off x="2037" y="905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″</a:t>
              </a:r>
            </a:p>
          </p:txBody>
        </p:sp>
        <p:sp>
          <p:nvSpPr>
            <p:cNvPr id="47159" name="Text Box 143"/>
            <p:cNvSpPr txBox="1">
              <a:spLocks noChangeArrowheads="1"/>
            </p:cNvSpPr>
            <p:nvPr/>
          </p:nvSpPr>
          <p:spPr bwMode="auto">
            <a:xfrm>
              <a:off x="2136" y="1226"/>
              <a:ext cx="20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″</a:t>
              </a:r>
            </a:p>
          </p:txBody>
        </p:sp>
        <p:sp>
          <p:nvSpPr>
            <p:cNvPr id="47160" name="Text Box 144"/>
            <p:cNvSpPr txBox="1">
              <a:spLocks noChangeArrowheads="1"/>
            </p:cNvSpPr>
            <p:nvPr/>
          </p:nvSpPr>
          <p:spPr bwMode="auto">
            <a:xfrm>
              <a:off x="2294" y="1631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b="1">
                  <a:latin typeface="Times New Roman" pitchFamily="18" charset="0"/>
                </a:rPr>
                <a:t>″</a:t>
              </a:r>
            </a:p>
          </p:txBody>
        </p:sp>
        <p:sp>
          <p:nvSpPr>
            <p:cNvPr id="47161" name="Line 130"/>
            <p:cNvSpPr>
              <a:spLocks noChangeShapeType="1"/>
            </p:cNvSpPr>
            <p:nvPr/>
          </p:nvSpPr>
          <p:spPr bwMode="auto">
            <a:xfrm>
              <a:off x="1961" y="1081"/>
              <a:ext cx="237" cy="692"/>
            </a:xfrm>
            <a:prstGeom prst="line">
              <a:avLst/>
            </a:prstGeom>
            <a:noFill/>
            <a:ln w="38100">
              <a:solidFill>
                <a:srgbClr val="FF505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2" name="Freeform 68"/>
            <p:cNvSpPr>
              <a:spLocks/>
            </p:cNvSpPr>
            <p:nvPr/>
          </p:nvSpPr>
          <p:spPr bwMode="auto">
            <a:xfrm>
              <a:off x="2038" y="1377"/>
              <a:ext cx="40" cy="40"/>
            </a:xfrm>
            <a:custGeom>
              <a:avLst/>
              <a:gdLst>
                <a:gd name="T0" fmla="*/ 0 w 145"/>
                <a:gd name="T1" fmla="*/ 0 h 145"/>
                <a:gd name="T2" fmla="*/ 0 w 145"/>
                <a:gd name="T3" fmla="*/ 0 h 145"/>
                <a:gd name="T4" fmla="*/ 0 w 145"/>
                <a:gd name="T5" fmla="*/ 0 h 145"/>
                <a:gd name="T6" fmla="*/ 0 w 145"/>
                <a:gd name="T7" fmla="*/ 0 h 145"/>
                <a:gd name="T8" fmla="*/ 0 w 145"/>
                <a:gd name="T9" fmla="*/ 0 h 145"/>
                <a:gd name="T10" fmla="*/ 0 w 145"/>
                <a:gd name="T11" fmla="*/ 0 h 145"/>
                <a:gd name="T12" fmla="*/ 0 w 145"/>
                <a:gd name="T13" fmla="*/ 0 h 145"/>
                <a:gd name="T14" fmla="*/ 0 w 145"/>
                <a:gd name="T15" fmla="*/ 0 h 145"/>
                <a:gd name="T16" fmla="*/ 0 w 145"/>
                <a:gd name="T17" fmla="*/ 0 h 145"/>
                <a:gd name="T18" fmla="*/ 0 w 145"/>
                <a:gd name="T19" fmla="*/ 0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5"/>
                <a:gd name="T31" fmla="*/ 0 h 145"/>
                <a:gd name="T32" fmla="*/ 145 w 145"/>
                <a:gd name="T33" fmla="*/ 145 h 14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5" h="145">
                  <a:moveTo>
                    <a:pt x="144" y="73"/>
                  </a:moveTo>
                  <a:lnTo>
                    <a:pt x="124" y="22"/>
                  </a:lnTo>
                  <a:lnTo>
                    <a:pt x="73" y="0"/>
                  </a:lnTo>
                  <a:lnTo>
                    <a:pt x="22" y="22"/>
                  </a:lnTo>
                  <a:lnTo>
                    <a:pt x="0" y="73"/>
                  </a:lnTo>
                  <a:lnTo>
                    <a:pt x="22" y="123"/>
                  </a:lnTo>
                  <a:lnTo>
                    <a:pt x="73" y="145"/>
                  </a:lnTo>
                  <a:lnTo>
                    <a:pt x="124" y="123"/>
                  </a:lnTo>
                  <a:lnTo>
                    <a:pt x="144" y="73"/>
                  </a:lnTo>
                  <a:lnTo>
                    <a:pt x="145" y="73"/>
                  </a:lnTo>
                </a:path>
              </a:pathLst>
            </a:custGeom>
            <a:solidFill>
              <a:schemeClr val="tx1"/>
            </a:solidFill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108" name="Text Box 170"/>
          <p:cNvSpPr txBox="1">
            <a:spLocks noChangeArrowheads="1"/>
          </p:cNvSpPr>
          <p:nvPr/>
        </p:nvSpPr>
        <p:spPr bwMode="auto">
          <a:xfrm>
            <a:off x="988228" y="908551"/>
            <a:ext cx="4152099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三、点与直线的相对位置</a:t>
            </a:r>
            <a:endParaRPr kumimoji="1" lang="zh-CN" altLang="en-US" sz="2800" dirty="0">
              <a:latin typeface="Times New Roman" pitchFamily="18" charset="0"/>
            </a:endParaRPr>
          </a:p>
        </p:txBody>
      </p:sp>
      <p:sp>
        <p:nvSpPr>
          <p:cNvPr id="89259" name="Text Box 171"/>
          <p:cNvSpPr txBox="1">
            <a:spLocks noChangeArrowheads="1"/>
          </p:cNvSpPr>
          <p:nvPr/>
        </p:nvSpPr>
        <p:spPr bwMode="auto">
          <a:xfrm>
            <a:off x="1836738" y="4623520"/>
            <a:ext cx="8413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    ◆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若点在直线上</a:t>
            </a:r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,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则点的投影必在直线的</a:t>
            </a:r>
            <a:r>
              <a:rPr kumimoji="1"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同名投影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上。</a:t>
            </a:r>
            <a:r>
              <a:rPr kumimoji="1" lang="zh-CN" altLang="en-US" sz="2400" b="1" dirty="0">
                <a:latin typeface="宋体" pitchFamily="2" charset="-122"/>
              </a:rPr>
              <a:t>　</a:t>
            </a:r>
            <a:endParaRPr kumimoji="1" lang="zh-CN" altLang="en-US" sz="2400" b="1" dirty="0">
              <a:solidFill>
                <a:srgbClr val="FF3300"/>
              </a:solidFill>
              <a:latin typeface="宋体" pitchFamily="2" charset="-122"/>
            </a:endParaRPr>
          </a:p>
        </p:txBody>
      </p:sp>
      <p:sp>
        <p:nvSpPr>
          <p:cNvPr id="89260" name="Text Box 172"/>
          <p:cNvSpPr txBox="1">
            <a:spLocks noChangeArrowheads="1"/>
          </p:cNvSpPr>
          <p:nvPr/>
        </p:nvSpPr>
        <p:spPr bwMode="auto">
          <a:xfrm>
            <a:off x="1836739" y="5065073"/>
            <a:ext cx="837247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>
                <a:solidFill>
                  <a:srgbClr val="FF3300"/>
                </a:solidFill>
                <a:latin typeface="宋体" pitchFamily="2" charset="-122"/>
              </a:rPr>
              <a:t>    ◆</a:t>
            </a:r>
            <a:r>
              <a:rPr kumimoji="1" lang="zh-CN" altLang="en-US" sz="2400" b="1">
                <a:solidFill>
                  <a:srgbClr val="FF3300"/>
                </a:solidFill>
                <a:latin typeface="宋体" pitchFamily="2" charset="-122"/>
              </a:rPr>
              <a:t>点的投影将线段的同名投影分割成与空间线段相同的比例。即：</a:t>
            </a:r>
          </a:p>
        </p:txBody>
      </p:sp>
      <p:sp>
        <p:nvSpPr>
          <p:cNvPr id="89261" name="Text Box 173"/>
          <p:cNvSpPr txBox="1">
            <a:spLocks noChangeArrowheads="1"/>
          </p:cNvSpPr>
          <p:nvPr/>
        </p:nvSpPr>
        <p:spPr bwMode="auto">
          <a:xfrm>
            <a:off x="2597150" y="5919664"/>
            <a:ext cx="502413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</a:rPr>
              <a:t>AC:CB=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</a:rPr>
              <a:t>ac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</a:rPr>
              <a:t>: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</a:rPr>
              <a:t>cb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</a:rPr>
              <a:t>= 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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</a:rPr>
              <a:t>c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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</a:rPr>
              <a:t> : 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</a:rPr>
              <a:t>c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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</a:rPr>
              <a:t>b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= 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>
                <a:solidFill>
                  <a:srgbClr val="FF3300"/>
                </a:solidFill>
                <a:latin typeface="Italic" pitchFamily="2" charset="0"/>
                <a:sym typeface="Symbol" pitchFamily="18" charset="2"/>
              </a:rPr>
              <a:t>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</a:rPr>
              <a:t>c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</a:rPr>
              <a:t> 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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itchFamily="18" charset="0"/>
              </a:rPr>
              <a:t>: 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</a:rPr>
              <a:t>c</a:t>
            </a:r>
            <a:r>
              <a:rPr kumimoji="1" lang="en-US" altLang="zh-CN" sz="2400" b="1">
                <a:solidFill>
                  <a:srgbClr val="FF3300"/>
                </a:solidFill>
                <a:latin typeface="Italic" pitchFamily="2" charset="0"/>
                <a:sym typeface="Symbol" pitchFamily="18" charset="2"/>
              </a:rPr>
              <a:t></a:t>
            </a:r>
            <a:r>
              <a:rPr kumimoji="1" lang="en-US" altLang="zh-CN" sz="2400" i="1">
                <a:solidFill>
                  <a:srgbClr val="FF3300"/>
                </a:solidFill>
                <a:latin typeface="Dutch801 Rm BT" pitchFamily="18" charset="0"/>
              </a:rPr>
              <a:t>b</a:t>
            </a:r>
            <a:r>
              <a:rPr kumimoji="1" lang="en-US" altLang="zh-CN" sz="2400" b="1">
                <a:solidFill>
                  <a:srgbClr val="FF3300"/>
                </a:solidFill>
                <a:latin typeface="Italic" pitchFamily="2" charset="0"/>
                <a:sym typeface="Symbol" pitchFamily="18" charset="2"/>
              </a:rPr>
              <a:t></a:t>
            </a:r>
            <a:endParaRPr kumimoji="1" lang="en-US" altLang="zh-CN" sz="2400" b="1">
              <a:solidFill>
                <a:srgbClr val="FF3300"/>
              </a:solidFill>
              <a:latin typeface="Italic" pitchFamily="2" charset="0"/>
              <a:sym typeface="CommercialPi BT" pitchFamily="18" charset="2"/>
            </a:endParaRPr>
          </a:p>
        </p:txBody>
      </p:sp>
      <p:sp>
        <p:nvSpPr>
          <p:cNvPr id="89262" name="AutoShape 174"/>
          <p:cNvSpPr>
            <a:spLocks noChangeArrowheads="1"/>
          </p:cNvSpPr>
          <p:nvPr/>
        </p:nvSpPr>
        <p:spPr bwMode="auto">
          <a:xfrm>
            <a:off x="8456614" y="6132514"/>
            <a:ext cx="1531937" cy="466725"/>
          </a:xfrm>
          <a:prstGeom prst="wedgeRectCallout">
            <a:avLst>
              <a:gd name="adj1" fmla="val -113301"/>
              <a:gd name="adj2" fmla="val -41644"/>
            </a:avLst>
          </a:prstGeom>
          <a:solidFill>
            <a:srgbClr val="66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定比定理</a:t>
            </a:r>
            <a:endParaRPr kumimoji="1" lang="zh-CN" altLang="en-US" sz="2400">
              <a:latin typeface="Times New Roman" pitchFamily="18" charset="0"/>
            </a:endParaRPr>
          </a:p>
        </p:txBody>
      </p:sp>
      <p:sp>
        <p:nvSpPr>
          <p:cNvPr id="100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89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89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89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89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89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89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89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8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259" grpId="0" autoUpdateAnimBg="0"/>
      <p:bldP spid="89260" grpId="0" autoUpdateAnimBg="0"/>
      <p:bldP spid="89261" grpId="0" build="p" autoUpdateAnimBg="0"/>
      <p:bldP spid="89262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76"/>
          <p:cNvSpPr txBox="1">
            <a:spLocks noChangeArrowheads="1"/>
          </p:cNvSpPr>
          <p:nvPr/>
        </p:nvSpPr>
        <p:spPr bwMode="auto">
          <a:xfrm>
            <a:off x="1366194" y="898456"/>
            <a:ext cx="54505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</a:rPr>
              <a:t>例</a:t>
            </a:r>
            <a:r>
              <a:rPr kumimoji="1" lang="en-US" altLang="zh-CN" sz="2800" b="1" dirty="0">
                <a:latin typeface="Times New Roman" pitchFamily="18" charset="0"/>
              </a:rPr>
              <a:t>1</a:t>
            </a:r>
            <a:r>
              <a:rPr kumimoji="1" lang="zh-CN" altLang="en-US" sz="2800" b="1" dirty="0">
                <a:latin typeface="Times New Roman" pitchFamily="18" charset="0"/>
              </a:rPr>
              <a:t>：判断点</a:t>
            </a:r>
            <a:r>
              <a:rPr kumimoji="1" lang="en-US" altLang="zh-CN" sz="2800" b="1" dirty="0">
                <a:latin typeface="Times New Roman" pitchFamily="18" charset="0"/>
              </a:rPr>
              <a:t>C</a:t>
            </a:r>
            <a:r>
              <a:rPr kumimoji="1" lang="zh-CN" altLang="en-US" sz="2800" b="1" dirty="0">
                <a:latin typeface="Times New Roman" pitchFamily="18" charset="0"/>
              </a:rPr>
              <a:t>是否在线段</a:t>
            </a:r>
            <a:r>
              <a:rPr kumimoji="1" lang="en-US" altLang="zh-CN" sz="2800" b="1" dirty="0">
                <a:latin typeface="Times New Roman" pitchFamily="18" charset="0"/>
              </a:rPr>
              <a:t>AB</a:t>
            </a:r>
            <a:r>
              <a:rPr kumimoji="1" lang="zh-CN" altLang="en-US" sz="2800" b="1" dirty="0">
                <a:latin typeface="Times New Roman" pitchFamily="18" charset="0"/>
              </a:rPr>
              <a:t>上。</a:t>
            </a:r>
          </a:p>
        </p:txBody>
      </p:sp>
      <p:grpSp>
        <p:nvGrpSpPr>
          <p:cNvPr id="2" name="Group 151"/>
          <p:cNvGrpSpPr>
            <a:grpSpLocks/>
          </p:cNvGrpSpPr>
          <p:nvPr/>
        </p:nvGrpSpPr>
        <p:grpSpPr bwMode="auto">
          <a:xfrm>
            <a:off x="6421439" y="1390329"/>
            <a:ext cx="2973387" cy="2401887"/>
            <a:chOff x="3085" y="423"/>
            <a:chExt cx="1873" cy="1513"/>
          </a:xfrm>
        </p:grpSpPr>
        <p:sp>
          <p:nvSpPr>
            <p:cNvPr id="48196" name="Text Box 79"/>
            <p:cNvSpPr txBox="1">
              <a:spLocks noChangeArrowheads="1"/>
            </p:cNvSpPr>
            <p:nvPr/>
          </p:nvSpPr>
          <p:spPr bwMode="auto">
            <a:xfrm>
              <a:off x="3085" y="423"/>
              <a:ext cx="310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②</a:t>
              </a:r>
            </a:p>
          </p:txBody>
        </p:sp>
        <p:sp>
          <p:nvSpPr>
            <p:cNvPr id="48197" name="Line 60"/>
            <p:cNvSpPr>
              <a:spLocks noChangeShapeType="1"/>
            </p:cNvSpPr>
            <p:nvPr/>
          </p:nvSpPr>
          <p:spPr bwMode="auto">
            <a:xfrm>
              <a:off x="3607" y="1505"/>
              <a:ext cx="1024" cy="3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98" name="Text Box 69"/>
            <p:cNvSpPr txBox="1">
              <a:spLocks noChangeArrowheads="1"/>
            </p:cNvSpPr>
            <p:nvPr/>
          </p:nvSpPr>
          <p:spPr bwMode="auto">
            <a:xfrm>
              <a:off x="3932" y="516"/>
              <a:ext cx="249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8199" name="Line 57"/>
            <p:cNvSpPr>
              <a:spLocks noChangeShapeType="1"/>
            </p:cNvSpPr>
            <p:nvPr/>
          </p:nvSpPr>
          <p:spPr bwMode="auto">
            <a:xfrm>
              <a:off x="3426" y="1310"/>
              <a:ext cx="15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0" name="Line 58"/>
            <p:cNvSpPr>
              <a:spLocks noChangeShapeType="1"/>
            </p:cNvSpPr>
            <p:nvPr/>
          </p:nvSpPr>
          <p:spPr bwMode="auto">
            <a:xfrm>
              <a:off x="3621" y="753"/>
              <a:ext cx="1024" cy="27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1" name="Line 59"/>
            <p:cNvSpPr>
              <a:spLocks noChangeShapeType="1"/>
            </p:cNvSpPr>
            <p:nvPr/>
          </p:nvSpPr>
          <p:spPr bwMode="auto">
            <a:xfrm>
              <a:off x="3621" y="753"/>
              <a:ext cx="0" cy="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2" name="Line 61"/>
            <p:cNvSpPr>
              <a:spLocks noChangeShapeType="1"/>
            </p:cNvSpPr>
            <p:nvPr/>
          </p:nvSpPr>
          <p:spPr bwMode="auto">
            <a:xfrm flipV="1">
              <a:off x="4645" y="1027"/>
              <a:ext cx="0" cy="8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3" name="Text Box 63"/>
            <p:cNvSpPr txBox="1">
              <a:spLocks noChangeArrowheads="1"/>
            </p:cNvSpPr>
            <p:nvPr/>
          </p:nvSpPr>
          <p:spPr bwMode="auto">
            <a:xfrm>
              <a:off x="3405" y="1323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8204" name="Text Box 64"/>
            <p:cNvSpPr txBox="1">
              <a:spLocks noChangeArrowheads="1"/>
            </p:cNvSpPr>
            <p:nvPr/>
          </p:nvSpPr>
          <p:spPr bwMode="auto">
            <a:xfrm>
              <a:off x="4615" y="1645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8205" name="Text Box 65"/>
            <p:cNvSpPr txBox="1">
              <a:spLocks noChangeArrowheads="1"/>
            </p:cNvSpPr>
            <p:nvPr/>
          </p:nvSpPr>
          <p:spPr bwMode="auto">
            <a:xfrm>
              <a:off x="3945" y="1402"/>
              <a:ext cx="201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8206" name="Text Box 67"/>
            <p:cNvSpPr txBox="1">
              <a:spLocks noChangeArrowheads="1"/>
            </p:cNvSpPr>
            <p:nvPr/>
          </p:nvSpPr>
          <p:spPr bwMode="auto">
            <a:xfrm>
              <a:off x="3451" y="539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8207" name="Text Box 68"/>
            <p:cNvSpPr txBox="1">
              <a:spLocks noChangeArrowheads="1"/>
            </p:cNvSpPr>
            <p:nvPr/>
          </p:nvSpPr>
          <p:spPr bwMode="auto">
            <a:xfrm>
              <a:off x="4617" y="853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8208" name="Line 71"/>
            <p:cNvSpPr>
              <a:spLocks noChangeShapeType="1"/>
            </p:cNvSpPr>
            <p:nvPr/>
          </p:nvSpPr>
          <p:spPr bwMode="auto">
            <a:xfrm>
              <a:off x="4134" y="740"/>
              <a:ext cx="0" cy="9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209" name="Text Box 80"/>
            <p:cNvSpPr txBox="1">
              <a:spLocks noChangeArrowheads="1"/>
            </p:cNvSpPr>
            <p:nvPr/>
          </p:nvSpPr>
          <p:spPr bwMode="auto">
            <a:xfrm>
              <a:off x="4044" y="648"/>
              <a:ext cx="189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chemeClr val="accent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8210" name="Text Box 98"/>
            <p:cNvSpPr txBox="1">
              <a:spLocks noChangeArrowheads="1"/>
            </p:cNvSpPr>
            <p:nvPr/>
          </p:nvSpPr>
          <p:spPr bwMode="auto">
            <a:xfrm>
              <a:off x="4043" y="1608"/>
              <a:ext cx="189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chemeClr val="accent2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3" name="Group 100"/>
          <p:cNvGrpSpPr>
            <a:grpSpLocks/>
          </p:cNvGrpSpPr>
          <p:nvPr/>
        </p:nvGrpSpPr>
        <p:grpSpPr bwMode="auto">
          <a:xfrm>
            <a:off x="2481263" y="1460179"/>
            <a:ext cx="2844800" cy="2062163"/>
            <a:chOff x="603" y="467"/>
            <a:chExt cx="1792" cy="1299"/>
          </a:xfrm>
        </p:grpSpPr>
        <p:sp>
          <p:nvSpPr>
            <p:cNvPr id="48181" name="Line 93"/>
            <p:cNvSpPr>
              <a:spLocks noChangeShapeType="1"/>
            </p:cNvSpPr>
            <p:nvPr/>
          </p:nvSpPr>
          <p:spPr bwMode="auto">
            <a:xfrm>
              <a:off x="1457" y="873"/>
              <a:ext cx="0" cy="75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82" name="Line 45"/>
            <p:cNvSpPr>
              <a:spLocks noChangeShapeType="1"/>
            </p:cNvSpPr>
            <p:nvPr/>
          </p:nvSpPr>
          <p:spPr bwMode="auto">
            <a:xfrm flipV="1">
              <a:off x="955" y="690"/>
              <a:ext cx="1207" cy="32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3" name="Line 46"/>
            <p:cNvSpPr>
              <a:spLocks noChangeShapeType="1"/>
            </p:cNvSpPr>
            <p:nvPr/>
          </p:nvSpPr>
          <p:spPr bwMode="auto">
            <a:xfrm flipV="1">
              <a:off x="955" y="1442"/>
              <a:ext cx="1207" cy="3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4" name="Line 47"/>
            <p:cNvSpPr>
              <a:spLocks noChangeShapeType="1"/>
            </p:cNvSpPr>
            <p:nvPr/>
          </p:nvSpPr>
          <p:spPr bwMode="auto">
            <a:xfrm>
              <a:off x="766" y="1247"/>
              <a:ext cx="16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5" name="Line 48"/>
            <p:cNvSpPr>
              <a:spLocks noChangeShapeType="1"/>
            </p:cNvSpPr>
            <p:nvPr/>
          </p:nvSpPr>
          <p:spPr bwMode="auto">
            <a:xfrm>
              <a:off x="955" y="1013"/>
              <a:ext cx="0" cy="7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6" name="Line 49"/>
            <p:cNvSpPr>
              <a:spLocks noChangeShapeType="1"/>
            </p:cNvSpPr>
            <p:nvPr/>
          </p:nvSpPr>
          <p:spPr bwMode="auto">
            <a:xfrm flipV="1">
              <a:off x="2162" y="690"/>
              <a:ext cx="0" cy="7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87" name="Text Box 50"/>
            <p:cNvSpPr txBox="1">
              <a:spLocks noChangeArrowheads="1"/>
            </p:cNvSpPr>
            <p:nvPr/>
          </p:nvSpPr>
          <p:spPr bwMode="auto">
            <a:xfrm>
              <a:off x="939" y="1473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8188" name="Text Box 51"/>
            <p:cNvSpPr txBox="1">
              <a:spLocks noChangeArrowheads="1"/>
            </p:cNvSpPr>
            <p:nvPr/>
          </p:nvSpPr>
          <p:spPr bwMode="auto">
            <a:xfrm>
              <a:off x="2148" y="1233"/>
              <a:ext cx="216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8189" name="Text Box 52"/>
            <p:cNvSpPr txBox="1">
              <a:spLocks noChangeArrowheads="1"/>
            </p:cNvSpPr>
            <p:nvPr/>
          </p:nvSpPr>
          <p:spPr bwMode="auto">
            <a:xfrm>
              <a:off x="1429" y="1348"/>
              <a:ext cx="201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8190" name="Text Box 53"/>
            <p:cNvSpPr txBox="1">
              <a:spLocks noChangeArrowheads="1"/>
            </p:cNvSpPr>
            <p:nvPr/>
          </p:nvSpPr>
          <p:spPr bwMode="auto">
            <a:xfrm>
              <a:off x="782" y="785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8191" name="Text Box 54"/>
            <p:cNvSpPr txBox="1">
              <a:spLocks noChangeArrowheads="1"/>
            </p:cNvSpPr>
            <p:nvPr/>
          </p:nvSpPr>
          <p:spPr bwMode="auto">
            <a:xfrm>
              <a:off x="2130" y="467"/>
              <a:ext cx="265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8192" name="Text Box 55"/>
            <p:cNvSpPr txBox="1">
              <a:spLocks noChangeArrowheads="1"/>
            </p:cNvSpPr>
            <p:nvPr/>
          </p:nvSpPr>
          <p:spPr bwMode="auto">
            <a:xfrm>
              <a:off x="1346" y="620"/>
              <a:ext cx="249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Italic" pitchFamily="2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8193" name="Text Box 78"/>
            <p:cNvSpPr txBox="1">
              <a:spLocks noChangeArrowheads="1"/>
            </p:cNvSpPr>
            <p:nvPr/>
          </p:nvSpPr>
          <p:spPr bwMode="auto">
            <a:xfrm>
              <a:off x="603" y="515"/>
              <a:ext cx="311" cy="29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①</a:t>
              </a:r>
            </a:p>
          </p:txBody>
        </p:sp>
        <p:sp>
          <p:nvSpPr>
            <p:cNvPr id="48194" name="Text Box 97"/>
            <p:cNvSpPr txBox="1">
              <a:spLocks noChangeArrowheads="1"/>
            </p:cNvSpPr>
            <p:nvPr/>
          </p:nvSpPr>
          <p:spPr bwMode="auto">
            <a:xfrm>
              <a:off x="1365" y="805"/>
              <a:ext cx="189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chemeClr val="accent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8195" name="Text Box 99"/>
            <p:cNvSpPr txBox="1">
              <a:spLocks noChangeArrowheads="1"/>
            </p:cNvSpPr>
            <p:nvPr/>
          </p:nvSpPr>
          <p:spPr bwMode="auto">
            <a:xfrm>
              <a:off x="1365" y="1556"/>
              <a:ext cx="189" cy="14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 b="1">
                  <a:solidFill>
                    <a:schemeClr val="accent2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55398" name="AutoShape 102"/>
          <p:cNvSpPr>
            <a:spLocks noChangeArrowheads="1"/>
          </p:cNvSpPr>
          <p:nvPr/>
        </p:nvSpPr>
        <p:spPr bwMode="auto">
          <a:xfrm>
            <a:off x="5403850" y="1923728"/>
            <a:ext cx="996950" cy="457200"/>
          </a:xfrm>
          <a:prstGeom prst="wedgeEllipseCallout">
            <a:avLst>
              <a:gd name="adj1" fmla="val -75639"/>
              <a:gd name="adj2" fmla="val 78125"/>
            </a:avLst>
          </a:prstGeom>
          <a:solidFill>
            <a:srgbClr val="FFFF00"/>
          </a:solidFill>
          <a:ln w="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solidFill>
                  <a:srgbClr val="FF3300"/>
                </a:solidFill>
                <a:latin typeface="Times New Roman" pitchFamily="18" charset="0"/>
              </a:rPr>
              <a:t>在</a:t>
            </a:r>
            <a:endParaRPr kumimoji="1" lang="zh-CN" altLang="en-US" sz="7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5399" name="AutoShape 103"/>
          <p:cNvSpPr>
            <a:spLocks noChangeArrowheads="1"/>
          </p:cNvSpPr>
          <p:nvPr/>
        </p:nvSpPr>
        <p:spPr bwMode="auto">
          <a:xfrm>
            <a:off x="8770938" y="1496690"/>
            <a:ext cx="996950" cy="457200"/>
          </a:xfrm>
          <a:prstGeom prst="wedgeEllipseCallout">
            <a:avLst>
              <a:gd name="adj1" fmla="val -71495"/>
              <a:gd name="adj2" fmla="val 83681"/>
            </a:avLst>
          </a:prstGeom>
          <a:solidFill>
            <a:srgbClr val="FFFF00"/>
          </a:solidFill>
          <a:ln w="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solidFill>
                  <a:srgbClr val="FF3300"/>
                </a:solidFill>
                <a:latin typeface="Times New Roman" pitchFamily="18" charset="0"/>
              </a:rPr>
              <a:t>不在</a:t>
            </a:r>
            <a:endParaRPr kumimoji="1" lang="zh-CN" altLang="en-US" sz="7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5406" name="Freeform 110"/>
          <p:cNvSpPr>
            <a:spLocks/>
          </p:cNvSpPr>
          <p:nvPr/>
        </p:nvSpPr>
        <p:spPr bwMode="auto">
          <a:xfrm>
            <a:off x="4663232" y="3908252"/>
            <a:ext cx="829519" cy="976310"/>
          </a:xfrm>
          <a:custGeom>
            <a:avLst/>
            <a:gdLst>
              <a:gd name="T0" fmla="*/ 2147483647 w 537"/>
              <a:gd name="T1" fmla="*/ 2147483647 h 621"/>
              <a:gd name="T2" fmla="*/ 0 w 537"/>
              <a:gd name="T3" fmla="*/ 0 h 621"/>
              <a:gd name="T4" fmla="*/ 0 60000 65536"/>
              <a:gd name="T5" fmla="*/ 0 60000 65536"/>
              <a:gd name="T6" fmla="*/ 0 w 537"/>
              <a:gd name="T7" fmla="*/ 0 h 621"/>
              <a:gd name="T8" fmla="*/ 537 w 537"/>
              <a:gd name="T9" fmla="*/ 621 h 62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37" h="621">
                <a:moveTo>
                  <a:pt x="537" y="621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5411" name="Text Box 115"/>
          <p:cNvSpPr txBox="1">
            <a:spLocks noChangeArrowheads="1"/>
          </p:cNvSpPr>
          <p:nvPr/>
        </p:nvSpPr>
        <p:spPr bwMode="auto">
          <a:xfrm>
            <a:off x="4663232" y="3596457"/>
            <a:ext cx="47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Times New Roman" pitchFamily="18" charset="0"/>
              <a:sym typeface="UniversalMath1 BT" pitchFamily="18" charset="2"/>
            </a:endParaRPr>
          </a:p>
        </p:txBody>
      </p:sp>
      <p:sp>
        <p:nvSpPr>
          <p:cNvPr id="55412" name="Text Box 116"/>
          <p:cNvSpPr txBox="1">
            <a:spLocks noChangeArrowheads="1"/>
          </p:cNvSpPr>
          <p:nvPr/>
        </p:nvSpPr>
        <p:spPr bwMode="auto">
          <a:xfrm>
            <a:off x="5489526" y="4558482"/>
            <a:ext cx="4700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</a:p>
        </p:txBody>
      </p:sp>
      <p:grpSp>
        <p:nvGrpSpPr>
          <p:cNvPr id="4" name="Group 135"/>
          <p:cNvGrpSpPr>
            <a:grpSpLocks/>
          </p:cNvGrpSpPr>
          <p:nvPr/>
        </p:nvGrpSpPr>
        <p:grpSpPr bwMode="auto">
          <a:xfrm>
            <a:off x="4725989" y="4436888"/>
            <a:ext cx="568325" cy="520700"/>
            <a:chOff x="2008" y="2534"/>
            <a:chExt cx="358" cy="328"/>
          </a:xfrm>
        </p:grpSpPr>
        <p:sp>
          <p:nvSpPr>
            <p:cNvPr id="48179" name="Text Box 118"/>
            <p:cNvSpPr txBox="1">
              <a:spLocks noChangeArrowheads="1"/>
            </p:cNvSpPr>
            <p:nvPr/>
          </p:nvSpPr>
          <p:spPr bwMode="auto">
            <a:xfrm>
              <a:off x="2008" y="2534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8180" name="Text Box 119"/>
            <p:cNvSpPr txBox="1">
              <a:spLocks noChangeArrowheads="1"/>
            </p:cNvSpPr>
            <p:nvPr/>
          </p:nvSpPr>
          <p:spPr bwMode="auto">
            <a:xfrm>
              <a:off x="2086" y="2574"/>
              <a:ext cx="2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Symbol" pitchFamily="18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</p:grpSp>
      <p:sp>
        <p:nvSpPr>
          <p:cNvPr id="55429" name="Line 133"/>
          <p:cNvSpPr>
            <a:spLocks noChangeShapeType="1"/>
          </p:cNvSpPr>
          <p:nvPr/>
        </p:nvSpPr>
        <p:spPr bwMode="auto">
          <a:xfrm>
            <a:off x="4332288" y="5390976"/>
            <a:ext cx="1262062" cy="12620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432" name="Line 136"/>
          <p:cNvSpPr>
            <a:spLocks noChangeShapeType="1"/>
          </p:cNvSpPr>
          <p:nvPr/>
        </p:nvSpPr>
        <p:spPr bwMode="auto">
          <a:xfrm>
            <a:off x="3130550" y="5941838"/>
            <a:ext cx="17462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33" name="Line 137"/>
          <p:cNvSpPr>
            <a:spLocks noChangeShapeType="1"/>
          </p:cNvSpPr>
          <p:nvPr/>
        </p:nvSpPr>
        <p:spPr bwMode="auto">
          <a:xfrm flipV="1">
            <a:off x="4891088" y="4555952"/>
            <a:ext cx="0" cy="13858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34" name="Line 138"/>
          <p:cNvSpPr>
            <a:spLocks noChangeShapeType="1"/>
          </p:cNvSpPr>
          <p:nvPr/>
        </p:nvSpPr>
        <p:spPr bwMode="auto">
          <a:xfrm>
            <a:off x="3130550" y="6551438"/>
            <a:ext cx="2355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35" name="Line 139"/>
          <p:cNvSpPr>
            <a:spLocks noChangeShapeType="1"/>
          </p:cNvSpPr>
          <p:nvPr/>
        </p:nvSpPr>
        <p:spPr bwMode="auto">
          <a:xfrm flipV="1">
            <a:off x="5486400" y="4875038"/>
            <a:ext cx="0" cy="16764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36" name="Line 140"/>
          <p:cNvSpPr>
            <a:spLocks noChangeShapeType="1"/>
          </p:cNvSpPr>
          <p:nvPr/>
        </p:nvSpPr>
        <p:spPr bwMode="auto">
          <a:xfrm>
            <a:off x="3128964" y="4876626"/>
            <a:ext cx="2357437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37" name="Line 141"/>
          <p:cNvSpPr>
            <a:spLocks noChangeShapeType="1"/>
          </p:cNvSpPr>
          <p:nvPr/>
        </p:nvSpPr>
        <p:spPr bwMode="auto">
          <a:xfrm>
            <a:off x="3130550" y="4555951"/>
            <a:ext cx="176053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38" name="Line 142"/>
          <p:cNvSpPr>
            <a:spLocks noChangeShapeType="1"/>
          </p:cNvSpPr>
          <p:nvPr/>
        </p:nvSpPr>
        <p:spPr bwMode="auto">
          <a:xfrm>
            <a:off x="3130551" y="3905076"/>
            <a:ext cx="1566863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40" name="Line 144"/>
          <p:cNvSpPr>
            <a:spLocks noChangeShapeType="1"/>
          </p:cNvSpPr>
          <p:nvPr/>
        </p:nvSpPr>
        <p:spPr bwMode="auto">
          <a:xfrm>
            <a:off x="3130550" y="5721176"/>
            <a:ext cx="153828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441" name="Line 145"/>
          <p:cNvSpPr>
            <a:spLocks noChangeShapeType="1"/>
          </p:cNvSpPr>
          <p:nvPr/>
        </p:nvSpPr>
        <p:spPr bwMode="auto">
          <a:xfrm flipV="1">
            <a:off x="4668838" y="3905076"/>
            <a:ext cx="0" cy="18161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153"/>
          <p:cNvGrpSpPr>
            <a:grpSpLocks/>
          </p:cNvGrpSpPr>
          <p:nvPr/>
        </p:nvGrpSpPr>
        <p:grpSpPr bwMode="auto">
          <a:xfrm>
            <a:off x="2332038" y="3503439"/>
            <a:ext cx="3562350" cy="3313113"/>
            <a:chOff x="509" y="1946"/>
            <a:chExt cx="2244" cy="2087"/>
          </a:xfrm>
        </p:grpSpPr>
        <p:sp>
          <p:nvSpPr>
            <p:cNvPr id="48164" name="Line 154"/>
            <p:cNvSpPr>
              <a:spLocks noChangeShapeType="1"/>
            </p:cNvSpPr>
            <p:nvPr/>
          </p:nvSpPr>
          <p:spPr bwMode="auto">
            <a:xfrm>
              <a:off x="1016" y="3342"/>
              <a:ext cx="0" cy="5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65" name="Line 155"/>
            <p:cNvSpPr>
              <a:spLocks noChangeShapeType="1"/>
            </p:cNvSpPr>
            <p:nvPr/>
          </p:nvSpPr>
          <p:spPr bwMode="auto">
            <a:xfrm>
              <a:off x="1016" y="2201"/>
              <a:ext cx="0" cy="62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8166" name="Group 156"/>
            <p:cNvGrpSpPr>
              <a:grpSpLocks/>
            </p:cNvGrpSpPr>
            <p:nvPr/>
          </p:nvGrpSpPr>
          <p:grpSpPr bwMode="auto">
            <a:xfrm>
              <a:off x="910" y="2524"/>
              <a:ext cx="198" cy="1024"/>
              <a:chOff x="1192" y="1141"/>
              <a:chExt cx="198" cy="1024"/>
            </a:xfrm>
          </p:grpSpPr>
          <p:sp>
            <p:nvSpPr>
              <p:cNvPr id="48177" name="Text Box 157"/>
              <p:cNvSpPr txBox="1">
                <a:spLocks noChangeArrowheads="1"/>
              </p:cNvSpPr>
              <p:nvPr/>
            </p:nvSpPr>
            <p:spPr bwMode="auto">
              <a:xfrm>
                <a:off x="1193" y="2011"/>
                <a:ext cx="197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latin typeface="Times New Roman" pitchFamily="18" charset="0"/>
                  </a:rPr>
                  <a:t>●</a:t>
                </a:r>
                <a:endParaRPr kumimoji="1" lang="en-US" altLang="zh-CN" b="1">
                  <a:latin typeface="Times New Roman" pitchFamily="18" charset="0"/>
                </a:endParaRPr>
              </a:p>
            </p:txBody>
          </p:sp>
          <p:sp>
            <p:nvSpPr>
              <p:cNvPr id="48178" name="Text Box 158"/>
              <p:cNvSpPr txBox="1">
                <a:spLocks noChangeArrowheads="1"/>
              </p:cNvSpPr>
              <p:nvPr/>
            </p:nvSpPr>
            <p:spPr bwMode="auto">
              <a:xfrm>
                <a:off x="1192" y="1141"/>
                <a:ext cx="197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latin typeface="Times New Roman" pitchFamily="18" charset="0"/>
                  </a:rPr>
                  <a:t>●</a:t>
                </a:r>
              </a:p>
            </p:txBody>
          </p:sp>
        </p:grpSp>
        <p:sp>
          <p:nvSpPr>
            <p:cNvPr id="48167" name="Line 159"/>
            <p:cNvSpPr>
              <a:spLocks noChangeShapeType="1"/>
            </p:cNvSpPr>
            <p:nvPr/>
          </p:nvSpPr>
          <p:spPr bwMode="auto">
            <a:xfrm>
              <a:off x="1772" y="2138"/>
              <a:ext cx="0" cy="179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68" name="Line 160"/>
            <p:cNvSpPr>
              <a:spLocks noChangeShapeType="1"/>
            </p:cNvSpPr>
            <p:nvPr/>
          </p:nvSpPr>
          <p:spPr bwMode="auto">
            <a:xfrm>
              <a:off x="814" y="3135"/>
              <a:ext cx="193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69" name="Line 161"/>
            <p:cNvSpPr>
              <a:spLocks noChangeShapeType="1"/>
            </p:cNvSpPr>
            <p:nvPr/>
          </p:nvSpPr>
          <p:spPr bwMode="auto">
            <a:xfrm>
              <a:off x="1016" y="2823"/>
              <a:ext cx="0" cy="5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170" name="Text Box 162"/>
            <p:cNvSpPr txBox="1">
              <a:spLocks noChangeArrowheads="1"/>
            </p:cNvSpPr>
            <p:nvPr/>
          </p:nvSpPr>
          <p:spPr bwMode="auto">
            <a:xfrm>
              <a:off x="800" y="3134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8171" name="Text Box 163"/>
            <p:cNvSpPr txBox="1">
              <a:spLocks noChangeArrowheads="1"/>
            </p:cNvSpPr>
            <p:nvPr/>
          </p:nvSpPr>
          <p:spPr bwMode="auto">
            <a:xfrm>
              <a:off x="810" y="2019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8172" name="Text Box 164"/>
            <p:cNvSpPr txBox="1">
              <a:spLocks noChangeArrowheads="1"/>
            </p:cNvSpPr>
            <p:nvPr/>
          </p:nvSpPr>
          <p:spPr bwMode="auto">
            <a:xfrm>
              <a:off x="752" y="2677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8173" name="Text Box 165"/>
            <p:cNvSpPr txBox="1">
              <a:spLocks noChangeArrowheads="1"/>
            </p:cNvSpPr>
            <p:nvPr/>
          </p:nvSpPr>
          <p:spPr bwMode="auto">
            <a:xfrm>
              <a:off x="628" y="2459"/>
              <a:ext cx="50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Symbol" pitchFamily="18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8174" name="Text Box 166"/>
            <p:cNvSpPr txBox="1">
              <a:spLocks noChangeArrowheads="1"/>
            </p:cNvSpPr>
            <p:nvPr/>
          </p:nvSpPr>
          <p:spPr bwMode="auto">
            <a:xfrm>
              <a:off x="812" y="3742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8175" name="Text Box 167"/>
            <p:cNvSpPr txBox="1">
              <a:spLocks noChangeArrowheads="1"/>
            </p:cNvSpPr>
            <p:nvPr/>
          </p:nvSpPr>
          <p:spPr bwMode="auto">
            <a:xfrm>
              <a:off x="509" y="1946"/>
              <a:ext cx="310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③</a:t>
              </a:r>
            </a:p>
          </p:txBody>
        </p:sp>
        <p:sp>
          <p:nvSpPr>
            <p:cNvPr id="48176" name="Text Box 168"/>
            <p:cNvSpPr txBox="1">
              <a:spLocks noChangeArrowheads="1"/>
            </p:cNvSpPr>
            <p:nvPr/>
          </p:nvSpPr>
          <p:spPr bwMode="auto">
            <a:xfrm>
              <a:off x="811" y="3340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55465" name="AutoShape 169"/>
          <p:cNvSpPr>
            <a:spLocks noChangeArrowheads="1"/>
          </p:cNvSpPr>
          <p:nvPr/>
        </p:nvSpPr>
        <p:spPr bwMode="auto">
          <a:xfrm>
            <a:off x="5819775" y="3866976"/>
            <a:ext cx="996950" cy="457200"/>
          </a:xfrm>
          <a:prstGeom prst="wedgeEllipseCallout">
            <a:avLst>
              <a:gd name="adj1" fmla="val -84079"/>
              <a:gd name="adj2" fmla="val 95833"/>
            </a:avLst>
          </a:prstGeom>
          <a:solidFill>
            <a:srgbClr val="FFFF00"/>
          </a:solidFill>
          <a:ln w="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solidFill>
                  <a:srgbClr val="FF3300"/>
                </a:solidFill>
                <a:latin typeface="Times New Roman" pitchFamily="18" charset="0"/>
              </a:rPr>
              <a:t>不在</a:t>
            </a:r>
            <a:endParaRPr kumimoji="1" lang="zh-CN" altLang="en-US" sz="7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5466" name="Text Box 170"/>
          <p:cNvSpPr txBox="1">
            <a:spLocks noChangeArrowheads="1"/>
          </p:cNvSpPr>
          <p:nvPr/>
        </p:nvSpPr>
        <p:spPr bwMode="auto">
          <a:xfrm>
            <a:off x="6588075" y="5585868"/>
            <a:ext cx="2641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3200" b="1" dirty="0">
                <a:solidFill>
                  <a:srgbClr val="003399"/>
                </a:solidFill>
                <a:latin typeface="Times New Roman" pitchFamily="18" charset="0"/>
              </a:rPr>
              <a:t>应用定比定理</a:t>
            </a:r>
          </a:p>
        </p:txBody>
      </p:sp>
      <p:sp>
        <p:nvSpPr>
          <p:cNvPr id="48153" name="Text Box 172"/>
          <p:cNvSpPr txBox="1">
            <a:spLocks noChangeArrowheads="1"/>
          </p:cNvSpPr>
          <p:nvPr/>
        </p:nvSpPr>
        <p:spPr bwMode="auto">
          <a:xfrm>
            <a:off x="7110362" y="4866732"/>
            <a:ext cx="2155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rgbClr val="FF3300"/>
                </a:solidFill>
                <a:latin typeface="Times New Roman" pitchFamily="18" charset="0"/>
              </a:rPr>
              <a:t>另一判断法</a:t>
            </a:r>
            <a:r>
              <a:rPr kumimoji="1" lang="en-US" altLang="zh-CN" sz="2800" b="1" dirty="0">
                <a:solidFill>
                  <a:srgbClr val="FF3300"/>
                </a:solidFill>
                <a:latin typeface="Times New Roman" pitchFamily="18" charset="0"/>
              </a:rPr>
              <a:t>?</a:t>
            </a:r>
          </a:p>
        </p:txBody>
      </p:sp>
      <p:sp>
        <p:nvSpPr>
          <p:cNvPr id="72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5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5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5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1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65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15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65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75"/>
                                        <p:tgtEl>
                                          <p:spTgt spid="55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8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33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48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6300"/>
                            </p:stCondLst>
                            <p:childTnLst>
                              <p:par>
                                <p:cTn id="80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7800"/>
                            </p:stCondLst>
                            <p:childTnLst>
                              <p:par>
                                <p:cTn id="84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55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8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8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5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5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" grpId="0" animBg="1" autoUpdateAnimBg="0"/>
      <p:bldP spid="55399" grpId="0" animBg="1" autoUpdateAnimBg="0"/>
      <p:bldP spid="55406" grpId="0" animBg="1"/>
      <p:bldP spid="55411" grpId="0" build="p" autoUpdateAnimBg="0" advAuto="1000"/>
      <p:bldP spid="55412" grpId="0" build="p" autoUpdateAnimBg="0" advAuto="1000"/>
      <p:bldP spid="55429" grpId="0" animBg="1"/>
      <p:bldP spid="55432" grpId="0" animBg="1"/>
      <p:bldP spid="55433" grpId="0" animBg="1"/>
      <p:bldP spid="55434" grpId="0" animBg="1"/>
      <p:bldP spid="55435" grpId="0" animBg="1"/>
      <p:bldP spid="55436" grpId="0" animBg="1"/>
      <p:bldP spid="55437" grpId="0" animBg="1"/>
      <p:bldP spid="55438" grpId="0" animBg="1"/>
      <p:bldP spid="55440" grpId="0" animBg="1"/>
      <p:bldP spid="55441" grpId="0" animBg="1"/>
      <p:bldP spid="55465" grpId="0" animBg="1" autoUpdateAnimBg="0"/>
      <p:bldP spid="55466" grpId="0" build="p" autoUpdateAnimBg="0"/>
      <p:bldP spid="4815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273112" y="979338"/>
            <a:ext cx="736175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</a:rPr>
              <a:t>例</a:t>
            </a:r>
            <a:r>
              <a:rPr kumimoji="1" lang="en-US" altLang="zh-CN" sz="2800" b="1" dirty="0">
                <a:latin typeface="Times New Roman" pitchFamily="18" charset="0"/>
              </a:rPr>
              <a:t>2</a:t>
            </a:r>
            <a:r>
              <a:rPr kumimoji="1" lang="zh-CN" altLang="en-US" sz="2800" b="1" dirty="0">
                <a:latin typeface="Times New Roman" pitchFamily="18" charset="0"/>
              </a:rPr>
              <a:t>：已知点</a:t>
            </a:r>
            <a:r>
              <a:rPr kumimoji="1" lang="en-US" altLang="zh-CN" sz="2800" b="1" dirty="0">
                <a:latin typeface="Times New Roman" pitchFamily="18" charset="0"/>
              </a:rPr>
              <a:t>K</a:t>
            </a:r>
            <a:r>
              <a:rPr kumimoji="1" lang="zh-CN" altLang="en-US" sz="2800" b="1" dirty="0">
                <a:latin typeface="Times New Roman" pitchFamily="18" charset="0"/>
              </a:rPr>
              <a:t>在线段</a:t>
            </a:r>
            <a:r>
              <a:rPr kumimoji="1" lang="en-US" altLang="zh-CN" sz="2800" b="1" dirty="0">
                <a:latin typeface="Times New Roman" pitchFamily="18" charset="0"/>
              </a:rPr>
              <a:t>AB</a:t>
            </a:r>
            <a:r>
              <a:rPr kumimoji="1" lang="zh-CN" altLang="en-US" sz="2800" b="1" dirty="0">
                <a:latin typeface="Times New Roman" pitchFamily="18" charset="0"/>
              </a:rPr>
              <a:t>上，求点</a:t>
            </a:r>
            <a:r>
              <a:rPr kumimoji="1" lang="en-US" altLang="zh-CN" sz="2800" b="1" dirty="0">
                <a:latin typeface="Times New Roman" pitchFamily="18" charset="0"/>
              </a:rPr>
              <a:t>K</a:t>
            </a:r>
            <a:r>
              <a:rPr kumimoji="1" lang="zh-CN" altLang="en-US" sz="2800" b="1" dirty="0">
                <a:latin typeface="Times New Roman" pitchFamily="18" charset="0"/>
              </a:rPr>
              <a:t>正面投影。</a:t>
            </a:r>
          </a:p>
        </p:txBody>
      </p:sp>
      <p:sp>
        <p:nvSpPr>
          <p:cNvPr id="90156" name="Text Box 44"/>
          <p:cNvSpPr txBox="1">
            <a:spLocks noChangeArrowheads="1"/>
          </p:cNvSpPr>
          <p:nvPr/>
        </p:nvSpPr>
        <p:spPr bwMode="auto">
          <a:xfrm>
            <a:off x="2776598" y="1947751"/>
            <a:ext cx="2659702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解法一：</a:t>
            </a:r>
          </a:p>
          <a:p>
            <a:r>
              <a:rPr kumimoji="1" lang="zh-CN" altLang="en-US" sz="2400" b="1" dirty="0">
                <a:latin typeface="Times New Roman" pitchFamily="18" charset="0"/>
              </a:rPr>
              <a:t>（应用第三投影）</a:t>
            </a:r>
          </a:p>
        </p:txBody>
      </p:sp>
      <p:sp>
        <p:nvSpPr>
          <p:cNvPr id="90157" name="Text Box 45"/>
          <p:cNvSpPr txBox="1">
            <a:spLocks noChangeArrowheads="1"/>
          </p:cNvSpPr>
          <p:nvPr/>
        </p:nvSpPr>
        <p:spPr bwMode="auto">
          <a:xfrm>
            <a:off x="6967598" y="1947750"/>
            <a:ext cx="2656794" cy="83317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r>
              <a:rPr kumimoji="1" lang="zh-CN" altLang="en-US" sz="2400" b="1">
                <a:latin typeface="Times New Roman" pitchFamily="18" charset="0"/>
              </a:rPr>
              <a:t>解法二：</a:t>
            </a:r>
          </a:p>
          <a:p>
            <a:r>
              <a:rPr kumimoji="1" lang="zh-CN" altLang="en-US" sz="2400" b="1">
                <a:latin typeface="Times New Roman" pitchFamily="18" charset="0"/>
              </a:rPr>
              <a:t>（应用定比定理）</a:t>
            </a:r>
          </a:p>
        </p:txBody>
      </p:sp>
      <p:sp>
        <p:nvSpPr>
          <p:cNvPr id="90121" name="Line 9"/>
          <p:cNvSpPr>
            <a:spLocks noChangeShapeType="1"/>
          </p:cNvSpPr>
          <p:nvPr/>
        </p:nvSpPr>
        <p:spPr bwMode="auto">
          <a:xfrm>
            <a:off x="4119066" y="2888506"/>
            <a:ext cx="0" cy="37639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9158" name="Group 64"/>
          <p:cNvGrpSpPr>
            <a:grpSpLocks/>
          </p:cNvGrpSpPr>
          <p:nvPr/>
        </p:nvGrpSpPr>
        <p:grpSpPr bwMode="auto">
          <a:xfrm>
            <a:off x="2799854" y="2863106"/>
            <a:ext cx="1668462" cy="3857626"/>
            <a:chOff x="492" y="1153"/>
            <a:chExt cx="1051" cy="2430"/>
          </a:xfrm>
        </p:grpSpPr>
        <p:sp>
          <p:nvSpPr>
            <p:cNvPr id="49204" name="Line 22"/>
            <p:cNvSpPr>
              <a:spLocks noChangeShapeType="1"/>
            </p:cNvSpPr>
            <p:nvPr/>
          </p:nvSpPr>
          <p:spPr bwMode="auto">
            <a:xfrm>
              <a:off x="809" y="2752"/>
              <a:ext cx="0" cy="65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205" name="Line 23"/>
            <p:cNvSpPr>
              <a:spLocks noChangeShapeType="1"/>
            </p:cNvSpPr>
            <p:nvPr/>
          </p:nvSpPr>
          <p:spPr bwMode="auto">
            <a:xfrm>
              <a:off x="809" y="1344"/>
              <a:ext cx="0" cy="7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206" name="Text Box 24"/>
            <p:cNvSpPr txBox="1">
              <a:spLocks noChangeArrowheads="1"/>
            </p:cNvSpPr>
            <p:nvPr/>
          </p:nvSpPr>
          <p:spPr bwMode="auto">
            <a:xfrm>
              <a:off x="711" y="3100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latin typeface="Times New Roman" pitchFamily="18" charset="0"/>
                </a:rPr>
                <a:t>●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49207" name="Line 25"/>
            <p:cNvSpPr>
              <a:spLocks noChangeShapeType="1"/>
            </p:cNvSpPr>
            <p:nvPr/>
          </p:nvSpPr>
          <p:spPr bwMode="auto">
            <a:xfrm>
              <a:off x="560" y="2497"/>
              <a:ext cx="9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208" name="Line 26"/>
            <p:cNvSpPr>
              <a:spLocks noChangeShapeType="1"/>
            </p:cNvSpPr>
            <p:nvPr/>
          </p:nvSpPr>
          <p:spPr bwMode="auto">
            <a:xfrm>
              <a:off x="809" y="2112"/>
              <a:ext cx="0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209" name="Text Box 27"/>
            <p:cNvSpPr txBox="1">
              <a:spLocks noChangeArrowheads="1"/>
            </p:cNvSpPr>
            <p:nvPr/>
          </p:nvSpPr>
          <p:spPr bwMode="auto">
            <a:xfrm>
              <a:off x="527" y="3295"/>
              <a:ext cx="32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9210" name="Text Box 28"/>
            <p:cNvSpPr txBox="1">
              <a:spLocks noChangeArrowheads="1"/>
            </p:cNvSpPr>
            <p:nvPr/>
          </p:nvSpPr>
          <p:spPr bwMode="auto">
            <a:xfrm>
              <a:off x="582" y="1153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9211" name="Text Box 29"/>
            <p:cNvSpPr txBox="1">
              <a:spLocks noChangeArrowheads="1"/>
            </p:cNvSpPr>
            <p:nvPr/>
          </p:nvSpPr>
          <p:spPr bwMode="auto">
            <a:xfrm>
              <a:off x="492" y="1966"/>
              <a:ext cx="30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 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9212" name="Text Box 30"/>
            <p:cNvSpPr txBox="1">
              <a:spLocks noChangeArrowheads="1"/>
            </p:cNvSpPr>
            <p:nvPr/>
          </p:nvSpPr>
          <p:spPr bwMode="auto">
            <a:xfrm>
              <a:off x="549" y="2620"/>
              <a:ext cx="31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9213" name="Text Box 31"/>
            <p:cNvSpPr txBox="1">
              <a:spLocks noChangeArrowheads="1"/>
            </p:cNvSpPr>
            <p:nvPr/>
          </p:nvSpPr>
          <p:spPr bwMode="auto">
            <a:xfrm>
              <a:off x="577" y="2994"/>
              <a:ext cx="2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90155" name="Line 43"/>
          <p:cNvSpPr>
            <a:spLocks noChangeShapeType="1"/>
          </p:cNvSpPr>
          <p:nvPr/>
        </p:nvSpPr>
        <p:spPr bwMode="auto">
          <a:xfrm>
            <a:off x="4458791" y="4998293"/>
            <a:ext cx="146685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58" name="Line 46"/>
          <p:cNvSpPr>
            <a:spLocks noChangeShapeType="1"/>
          </p:cNvSpPr>
          <p:nvPr/>
        </p:nvSpPr>
        <p:spPr bwMode="auto">
          <a:xfrm>
            <a:off x="4117479" y="4996706"/>
            <a:ext cx="1504950" cy="1504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59" name="Line 47"/>
          <p:cNvSpPr>
            <a:spLocks noChangeShapeType="1"/>
          </p:cNvSpPr>
          <p:nvPr/>
        </p:nvSpPr>
        <p:spPr bwMode="auto">
          <a:xfrm>
            <a:off x="3296741" y="3166318"/>
            <a:ext cx="22669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60" name="Line 48"/>
          <p:cNvSpPr>
            <a:spLocks noChangeShapeType="1"/>
          </p:cNvSpPr>
          <p:nvPr/>
        </p:nvSpPr>
        <p:spPr bwMode="auto">
          <a:xfrm>
            <a:off x="3279280" y="6452443"/>
            <a:ext cx="23066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61" name="Line 49"/>
          <p:cNvSpPr>
            <a:spLocks noChangeShapeType="1"/>
          </p:cNvSpPr>
          <p:nvPr/>
        </p:nvSpPr>
        <p:spPr bwMode="auto">
          <a:xfrm flipV="1">
            <a:off x="5571629" y="3152031"/>
            <a:ext cx="0" cy="3300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62" name="Line 50"/>
          <p:cNvSpPr>
            <a:spLocks noChangeShapeType="1"/>
          </p:cNvSpPr>
          <p:nvPr/>
        </p:nvSpPr>
        <p:spPr bwMode="auto">
          <a:xfrm>
            <a:off x="3296741" y="5407868"/>
            <a:ext cx="12144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63" name="Line 51"/>
          <p:cNvSpPr>
            <a:spLocks noChangeShapeType="1"/>
          </p:cNvSpPr>
          <p:nvPr/>
        </p:nvSpPr>
        <p:spPr bwMode="auto">
          <a:xfrm flipV="1">
            <a:off x="4527054" y="4361706"/>
            <a:ext cx="0" cy="1046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64" name="Line 52"/>
          <p:cNvSpPr>
            <a:spLocks noChangeShapeType="1"/>
          </p:cNvSpPr>
          <p:nvPr/>
        </p:nvSpPr>
        <p:spPr bwMode="auto">
          <a:xfrm>
            <a:off x="3296742" y="4377581"/>
            <a:ext cx="12303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65" name="Line 53"/>
          <p:cNvSpPr>
            <a:spLocks noChangeShapeType="1"/>
          </p:cNvSpPr>
          <p:nvPr/>
        </p:nvSpPr>
        <p:spPr bwMode="auto">
          <a:xfrm flipV="1">
            <a:off x="4527054" y="3152032"/>
            <a:ext cx="1058862" cy="12144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66" name="Text Box 54"/>
          <p:cNvSpPr txBox="1">
            <a:spLocks noChangeArrowheads="1"/>
          </p:cNvSpPr>
          <p:nvPr/>
        </p:nvSpPr>
        <p:spPr bwMode="auto">
          <a:xfrm>
            <a:off x="5553190" y="2809131"/>
            <a:ext cx="467093" cy="46384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a</a:t>
            </a:r>
            <a:r>
              <a:rPr kumimoji="1" lang="en-US" altLang="zh-CN" sz="2400" b="1">
                <a:latin typeface="Italic" pitchFamily="2" charset="0"/>
                <a:sym typeface="Symbol" pitchFamily="18" charset="2"/>
              </a:rPr>
              <a:t></a:t>
            </a:r>
            <a:endParaRPr kumimoji="1" lang="en-US" altLang="zh-CN" sz="2400" b="1">
              <a:latin typeface="Italic" pitchFamily="2" charset="0"/>
              <a:sym typeface="EuroRoman" pitchFamily="2" charset="2"/>
            </a:endParaRPr>
          </a:p>
        </p:txBody>
      </p:sp>
      <p:sp>
        <p:nvSpPr>
          <p:cNvPr id="90167" name="Text Box 55"/>
          <p:cNvSpPr txBox="1">
            <a:spLocks noChangeArrowheads="1"/>
          </p:cNvSpPr>
          <p:nvPr/>
        </p:nvSpPr>
        <p:spPr bwMode="auto">
          <a:xfrm>
            <a:off x="4570527" y="4220418"/>
            <a:ext cx="467093" cy="46384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i="1">
                <a:latin typeface="Dutch801 Rm BT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Italic" pitchFamily="2" charset="0"/>
              <a:sym typeface="CommercialPi BT" pitchFamily="18" charset="2"/>
            </a:endParaRPr>
          </a:p>
        </p:txBody>
      </p:sp>
      <p:sp>
        <p:nvSpPr>
          <p:cNvPr id="90168" name="Line 56"/>
          <p:cNvSpPr>
            <a:spLocks noChangeShapeType="1"/>
          </p:cNvSpPr>
          <p:nvPr/>
        </p:nvSpPr>
        <p:spPr bwMode="auto">
          <a:xfrm>
            <a:off x="3296741" y="6092081"/>
            <a:ext cx="19129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69" name="Line 57"/>
          <p:cNvSpPr>
            <a:spLocks noChangeShapeType="1"/>
          </p:cNvSpPr>
          <p:nvPr/>
        </p:nvSpPr>
        <p:spPr bwMode="auto">
          <a:xfrm flipV="1">
            <a:off x="5209679" y="3580657"/>
            <a:ext cx="0" cy="2528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4527054" y="3175471"/>
            <a:ext cx="996950" cy="535361"/>
            <a:chOff x="1492" y="1497"/>
            <a:chExt cx="509" cy="273"/>
          </a:xfrm>
        </p:grpSpPr>
        <p:sp>
          <p:nvSpPr>
            <p:cNvPr id="49202" name="Text Box 59"/>
            <p:cNvSpPr txBox="1">
              <a:spLocks noChangeArrowheads="1"/>
            </p:cNvSpPr>
            <p:nvPr/>
          </p:nvSpPr>
          <p:spPr bwMode="auto">
            <a:xfrm>
              <a:off x="1755" y="1645"/>
              <a:ext cx="159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9203" name="Text Box 60"/>
            <p:cNvSpPr txBox="1">
              <a:spLocks noChangeArrowheads="1"/>
            </p:cNvSpPr>
            <p:nvPr/>
          </p:nvSpPr>
          <p:spPr bwMode="auto">
            <a:xfrm>
              <a:off x="1492" y="1497"/>
              <a:ext cx="509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i="1">
                  <a:latin typeface="Dutch801 Rm BT" pitchFamily="18" charset="0"/>
                  <a:sym typeface="Symbol" pitchFamily="18" charset="2"/>
                </a:rPr>
                <a:t></a:t>
              </a:r>
              <a:endParaRPr kumimoji="1" lang="en-US" altLang="zh-CN" sz="2400" b="1">
                <a:latin typeface="Italic" pitchFamily="2" charset="0"/>
                <a:sym typeface="CommercialPi BT" pitchFamily="18" charset="2"/>
              </a:endParaRPr>
            </a:p>
          </p:txBody>
        </p:sp>
      </p:grpSp>
      <p:sp>
        <p:nvSpPr>
          <p:cNvPr id="90174" name="Line 62"/>
          <p:cNvSpPr>
            <a:spLocks noChangeShapeType="1"/>
          </p:cNvSpPr>
          <p:nvPr/>
        </p:nvSpPr>
        <p:spPr bwMode="auto">
          <a:xfrm flipH="1">
            <a:off x="3296741" y="3580656"/>
            <a:ext cx="1898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569666" y="3348881"/>
            <a:ext cx="996950" cy="457200"/>
            <a:chOff x="480" y="1309"/>
            <a:chExt cx="509" cy="233"/>
          </a:xfrm>
        </p:grpSpPr>
        <p:sp>
          <p:nvSpPr>
            <p:cNvPr id="49200" name="Text Box 8"/>
            <p:cNvSpPr txBox="1">
              <a:spLocks noChangeArrowheads="1"/>
            </p:cNvSpPr>
            <p:nvPr/>
          </p:nvSpPr>
          <p:spPr bwMode="auto">
            <a:xfrm>
              <a:off x="780" y="1359"/>
              <a:ext cx="160" cy="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9201" name="Text Box 15"/>
            <p:cNvSpPr txBox="1">
              <a:spLocks noChangeArrowheads="1"/>
            </p:cNvSpPr>
            <p:nvPr/>
          </p:nvSpPr>
          <p:spPr bwMode="auto">
            <a:xfrm>
              <a:off x="480" y="1309"/>
              <a:ext cx="5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7621729" y="2700702"/>
            <a:ext cx="1705926" cy="4042732"/>
            <a:chOff x="635" y="1072"/>
            <a:chExt cx="827" cy="1957"/>
          </a:xfrm>
        </p:grpSpPr>
        <p:sp>
          <p:nvSpPr>
            <p:cNvPr id="49190" name="Line 33"/>
            <p:cNvSpPr>
              <a:spLocks noChangeShapeType="1"/>
            </p:cNvSpPr>
            <p:nvPr/>
          </p:nvSpPr>
          <p:spPr bwMode="auto">
            <a:xfrm>
              <a:off x="868" y="2362"/>
              <a:ext cx="0" cy="5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91" name="Line 34"/>
            <p:cNvSpPr>
              <a:spLocks noChangeShapeType="1"/>
            </p:cNvSpPr>
            <p:nvPr/>
          </p:nvSpPr>
          <p:spPr bwMode="auto">
            <a:xfrm>
              <a:off x="868" y="1221"/>
              <a:ext cx="0" cy="62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92" name="Text Box 35"/>
            <p:cNvSpPr txBox="1">
              <a:spLocks noChangeArrowheads="1"/>
            </p:cNvSpPr>
            <p:nvPr/>
          </p:nvSpPr>
          <p:spPr bwMode="auto">
            <a:xfrm>
              <a:off x="785" y="2646"/>
              <a:ext cx="152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latin typeface="Times New Roman" pitchFamily="18" charset="0"/>
                </a:rPr>
                <a:t>●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  <p:sp>
          <p:nvSpPr>
            <p:cNvPr id="49193" name="Line 36"/>
            <p:cNvSpPr>
              <a:spLocks noChangeShapeType="1"/>
            </p:cNvSpPr>
            <p:nvPr/>
          </p:nvSpPr>
          <p:spPr bwMode="auto">
            <a:xfrm>
              <a:off x="666" y="2155"/>
              <a:ext cx="7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94" name="Line 37"/>
            <p:cNvSpPr>
              <a:spLocks noChangeShapeType="1"/>
            </p:cNvSpPr>
            <p:nvPr/>
          </p:nvSpPr>
          <p:spPr bwMode="auto">
            <a:xfrm>
              <a:off x="868" y="1843"/>
              <a:ext cx="0" cy="5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95" name="Text Box 38"/>
            <p:cNvSpPr txBox="1">
              <a:spLocks noChangeArrowheads="1"/>
            </p:cNvSpPr>
            <p:nvPr/>
          </p:nvSpPr>
          <p:spPr bwMode="auto">
            <a:xfrm>
              <a:off x="639" y="2806"/>
              <a:ext cx="267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9196" name="Text Box 39"/>
            <p:cNvSpPr txBox="1">
              <a:spLocks noChangeArrowheads="1"/>
            </p:cNvSpPr>
            <p:nvPr/>
          </p:nvSpPr>
          <p:spPr bwMode="auto">
            <a:xfrm>
              <a:off x="691" y="1072"/>
              <a:ext cx="204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9197" name="Text Box 40"/>
            <p:cNvSpPr txBox="1">
              <a:spLocks noChangeArrowheads="1"/>
            </p:cNvSpPr>
            <p:nvPr/>
          </p:nvSpPr>
          <p:spPr bwMode="auto">
            <a:xfrm>
              <a:off x="635" y="1730"/>
              <a:ext cx="204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9198" name="Text Box 41"/>
            <p:cNvSpPr txBox="1">
              <a:spLocks noChangeArrowheads="1"/>
            </p:cNvSpPr>
            <p:nvPr/>
          </p:nvSpPr>
          <p:spPr bwMode="auto">
            <a:xfrm>
              <a:off x="657" y="2261"/>
              <a:ext cx="252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49199" name="Text Box 42"/>
            <p:cNvSpPr txBox="1">
              <a:spLocks noChangeArrowheads="1"/>
            </p:cNvSpPr>
            <p:nvPr/>
          </p:nvSpPr>
          <p:spPr bwMode="auto">
            <a:xfrm>
              <a:off x="682" y="2563"/>
              <a:ext cx="157" cy="2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90177" name="Line 65"/>
          <p:cNvSpPr>
            <a:spLocks noChangeShapeType="1"/>
          </p:cNvSpPr>
          <p:nvPr/>
        </p:nvSpPr>
        <p:spPr bwMode="auto">
          <a:xfrm>
            <a:off x="8113216" y="3010744"/>
            <a:ext cx="1023938" cy="10271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81"/>
          <p:cNvGrpSpPr>
            <a:grpSpLocks/>
          </p:cNvGrpSpPr>
          <p:nvPr/>
        </p:nvGrpSpPr>
        <p:grpSpPr bwMode="auto">
          <a:xfrm>
            <a:off x="8094167" y="3023443"/>
            <a:ext cx="288925" cy="3430588"/>
            <a:chOff x="3866" y="1568"/>
            <a:chExt cx="140" cy="1661"/>
          </a:xfrm>
        </p:grpSpPr>
        <p:sp>
          <p:nvSpPr>
            <p:cNvPr id="49188" name="Line 68"/>
            <p:cNvSpPr>
              <a:spLocks noChangeShapeType="1"/>
            </p:cNvSpPr>
            <p:nvPr/>
          </p:nvSpPr>
          <p:spPr bwMode="auto">
            <a:xfrm>
              <a:off x="3866" y="3046"/>
              <a:ext cx="0" cy="183"/>
            </a:xfrm>
            <a:prstGeom prst="line">
              <a:avLst/>
            </a:prstGeom>
            <a:noFill/>
            <a:ln w="28575">
              <a:solidFill>
                <a:srgbClr val="CC66FF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89" name="Line 75"/>
            <p:cNvSpPr>
              <a:spLocks noChangeShapeType="1"/>
            </p:cNvSpPr>
            <p:nvPr/>
          </p:nvSpPr>
          <p:spPr bwMode="auto">
            <a:xfrm>
              <a:off x="3872" y="1568"/>
              <a:ext cx="134" cy="134"/>
            </a:xfrm>
            <a:prstGeom prst="line">
              <a:avLst/>
            </a:prstGeom>
            <a:noFill/>
            <a:ln w="28575">
              <a:solidFill>
                <a:srgbClr val="CC66FF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82"/>
          <p:cNvGrpSpPr>
            <a:grpSpLocks/>
          </p:cNvGrpSpPr>
          <p:nvPr/>
        </p:nvGrpSpPr>
        <p:grpSpPr bwMode="auto">
          <a:xfrm>
            <a:off x="8110677" y="3274268"/>
            <a:ext cx="788353" cy="2801938"/>
            <a:chOff x="3874" y="1690"/>
            <a:chExt cx="382" cy="1356"/>
          </a:xfrm>
        </p:grpSpPr>
        <p:sp>
          <p:nvSpPr>
            <p:cNvPr id="49186" name="Line 69"/>
            <p:cNvSpPr>
              <a:spLocks noChangeShapeType="1"/>
            </p:cNvSpPr>
            <p:nvPr/>
          </p:nvSpPr>
          <p:spPr bwMode="auto">
            <a:xfrm flipV="1">
              <a:off x="3874" y="2705"/>
              <a:ext cx="0" cy="341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187" name="Line 80"/>
            <p:cNvSpPr>
              <a:spLocks noChangeShapeType="1"/>
            </p:cNvSpPr>
            <p:nvPr/>
          </p:nvSpPr>
          <p:spPr bwMode="auto">
            <a:xfrm>
              <a:off x="4000" y="1690"/>
              <a:ext cx="256" cy="25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0195" name="Line 83"/>
          <p:cNvSpPr>
            <a:spLocks noChangeShapeType="1"/>
          </p:cNvSpPr>
          <p:nvPr/>
        </p:nvSpPr>
        <p:spPr bwMode="auto">
          <a:xfrm flipV="1">
            <a:off x="8106867" y="3833068"/>
            <a:ext cx="792163" cy="458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90188" name="Text Box 76"/>
          <p:cNvSpPr txBox="1">
            <a:spLocks noChangeArrowheads="1"/>
          </p:cNvSpPr>
          <p:nvPr/>
        </p:nvSpPr>
        <p:spPr bwMode="auto">
          <a:xfrm>
            <a:off x="8759967" y="3669556"/>
            <a:ext cx="297174" cy="23301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algn="ctr"/>
            <a:r>
              <a:rPr kumimoji="1" lang="en-US" altLang="zh-CN" sz="900">
                <a:solidFill>
                  <a:srgbClr val="FF3300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90196" name="Line 84"/>
          <p:cNvSpPr>
            <a:spLocks noChangeShapeType="1"/>
          </p:cNvSpPr>
          <p:nvPr/>
        </p:nvSpPr>
        <p:spPr bwMode="auto">
          <a:xfrm flipV="1">
            <a:off x="8094166" y="3293319"/>
            <a:ext cx="249238" cy="144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grpSp>
        <p:nvGrpSpPr>
          <p:cNvPr id="8" name="Group 87"/>
          <p:cNvGrpSpPr>
            <a:grpSpLocks/>
          </p:cNvGrpSpPr>
          <p:nvPr/>
        </p:nvGrpSpPr>
        <p:grpSpPr bwMode="auto">
          <a:xfrm>
            <a:off x="7627295" y="3199654"/>
            <a:ext cx="630863" cy="463406"/>
            <a:chOff x="3640" y="1654"/>
            <a:chExt cx="305" cy="224"/>
          </a:xfrm>
        </p:grpSpPr>
        <p:sp>
          <p:nvSpPr>
            <p:cNvPr id="49184" name="Text Box 85"/>
            <p:cNvSpPr txBox="1">
              <a:spLocks noChangeArrowheads="1"/>
            </p:cNvSpPr>
            <p:nvPr/>
          </p:nvSpPr>
          <p:spPr bwMode="auto">
            <a:xfrm>
              <a:off x="3795" y="1701"/>
              <a:ext cx="150" cy="12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chemeClr val="accent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9185" name="Text Box 86"/>
            <p:cNvSpPr txBox="1">
              <a:spLocks noChangeArrowheads="1"/>
            </p:cNvSpPr>
            <p:nvPr/>
          </p:nvSpPr>
          <p:spPr bwMode="auto">
            <a:xfrm>
              <a:off x="3640" y="1654"/>
              <a:ext cx="192" cy="22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90202" name="Text Box 90"/>
          <p:cNvSpPr txBox="1">
            <a:spLocks noChangeArrowheads="1"/>
          </p:cNvSpPr>
          <p:nvPr/>
        </p:nvSpPr>
        <p:spPr bwMode="auto">
          <a:xfrm>
            <a:off x="8226505" y="3121868"/>
            <a:ext cx="309998" cy="24840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algn="ctr"/>
            <a:r>
              <a:rPr kumimoji="1" lang="en-US" altLang="zh-CN" sz="1000">
                <a:solidFill>
                  <a:srgbClr val="FF3300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62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90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90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0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90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0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0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9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0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0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9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9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9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3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75"/>
                                        <p:tgtEl>
                                          <p:spTgt spid="90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75"/>
                                        <p:tgtEl>
                                          <p:spTgt spid="90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9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0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0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7" dur="500"/>
                                        <p:tgtEl>
                                          <p:spTgt spid="9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56" grpId="0" build="p" autoUpdateAnimBg="0"/>
      <p:bldP spid="90157" grpId="0" build="p" autoUpdateAnimBg="0"/>
      <p:bldP spid="90121" grpId="0" animBg="1"/>
      <p:bldP spid="90155" grpId="0" animBg="1"/>
      <p:bldP spid="90158" grpId="0" animBg="1"/>
      <p:bldP spid="90159" grpId="0" animBg="1"/>
      <p:bldP spid="90160" grpId="0" animBg="1"/>
      <p:bldP spid="90161" grpId="0" animBg="1"/>
      <p:bldP spid="90162" grpId="0" animBg="1"/>
      <p:bldP spid="90163" grpId="0" animBg="1"/>
      <p:bldP spid="90164" grpId="0" animBg="1"/>
      <p:bldP spid="90165" grpId="0" animBg="1"/>
      <p:bldP spid="90166" grpId="0" autoUpdateAnimBg="0"/>
      <p:bldP spid="90167" grpId="0" autoUpdateAnimBg="0"/>
      <p:bldP spid="90168" grpId="0" animBg="1"/>
      <p:bldP spid="90169" grpId="0" animBg="1"/>
      <p:bldP spid="90174" grpId="0" animBg="1"/>
      <p:bldP spid="90177" grpId="0" animBg="1"/>
      <p:bldP spid="90195" grpId="0" animBg="1"/>
      <p:bldP spid="90188" grpId="0" autoUpdateAnimBg="0"/>
      <p:bldP spid="90196" grpId="0" animBg="1"/>
      <p:bldP spid="90202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64"/>
          <p:cNvSpPr txBox="1">
            <a:spLocks noChangeArrowheads="1"/>
          </p:cNvSpPr>
          <p:nvPr/>
        </p:nvSpPr>
        <p:spPr bwMode="auto">
          <a:xfrm>
            <a:off x="1090515" y="947405"/>
            <a:ext cx="47214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800" b="1" dirty="0">
                <a:solidFill>
                  <a:srgbClr val="003366"/>
                </a:solidFill>
                <a:latin typeface="Times New Roman" pitchFamily="18" charset="0"/>
                <a:ea typeface="黑体" pitchFamily="49" charset="-122"/>
              </a:rPr>
              <a:t>四、两直线的相对位置</a:t>
            </a:r>
            <a:endParaRPr kumimoji="1" lang="zh-CN" altLang="en-US" sz="2800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26689" name="Text Box 65"/>
          <p:cNvSpPr txBox="1">
            <a:spLocks noChangeArrowheads="1"/>
          </p:cNvSpPr>
          <p:nvPr/>
        </p:nvSpPr>
        <p:spPr bwMode="auto">
          <a:xfrm>
            <a:off x="6236370" y="1515470"/>
            <a:ext cx="411879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空间两直线的相对位置分为：</a:t>
            </a:r>
          </a:p>
          <a:p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平行</a:t>
            </a:r>
            <a:r>
              <a:rPr kumimoji="1" lang="zh-CN" altLang="en-US" sz="2400" b="1" dirty="0">
                <a:latin typeface="Times New Roman" pitchFamily="18" charset="0"/>
              </a:rPr>
              <a:t>、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相交</a:t>
            </a:r>
            <a:r>
              <a:rPr kumimoji="1" lang="zh-CN" altLang="en-US" sz="2400" b="1" dirty="0">
                <a:latin typeface="Times New Roman" pitchFamily="18" charset="0"/>
              </a:rPr>
              <a:t>、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交叉（异面）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</a:rPr>
              <a:t>。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26691" name="Text Box 67"/>
          <p:cNvSpPr txBox="1">
            <a:spLocks noChangeArrowheads="1"/>
          </p:cNvSpPr>
          <p:nvPr/>
        </p:nvSpPr>
        <p:spPr bwMode="auto">
          <a:xfrm>
            <a:off x="1615281" y="1557692"/>
            <a:ext cx="33766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⒈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两直线平行</a:t>
            </a:r>
            <a:endParaRPr kumimoji="1"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6695" name="Text Box 71"/>
          <p:cNvSpPr txBox="1">
            <a:spLocks noChangeArrowheads="1"/>
          </p:cNvSpPr>
          <p:nvPr/>
        </p:nvSpPr>
        <p:spPr bwMode="auto">
          <a:xfrm>
            <a:off x="1566248" y="5748673"/>
            <a:ext cx="86550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空间两直线平行，则其各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同名投影</a:t>
            </a:r>
            <a:r>
              <a:rPr kumimoji="1" lang="zh-CN" altLang="en-US" sz="2400" b="1" dirty="0">
                <a:latin typeface="宋体" pitchFamily="2" charset="-122"/>
              </a:rPr>
              <a:t>必相互平行，反之亦然。</a:t>
            </a:r>
          </a:p>
        </p:txBody>
      </p:sp>
      <p:grpSp>
        <p:nvGrpSpPr>
          <p:cNvPr id="2" name="Group 215"/>
          <p:cNvGrpSpPr>
            <a:grpSpLocks/>
          </p:cNvGrpSpPr>
          <p:nvPr/>
        </p:nvGrpSpPr>
        <p:grpSpPr bwMode="auto">
          <a:xfrm>
            <a:off x="2819400" y="2501902"/>
            <a:ext cx="3683000" cy="3021013"/>
            <a:chOff x="816" y="1576"/>
            <a:chExt cx="2320" cy="1903"/>
          </a:xfrm>
        </p:grpSpPr>
        <p:sp>
          <p:nvSpPr>
            <p:cNvPr id="50207" name="AutoShape 148"/>
            <p:cNvSpPr>
              <a:spLocks noChangeArrowheads="1"/>
            </p:cNvSpPr>
            <p:nvPr/>
          </p:nvSpPr>
          <p:spPr bwMode="auto">
            <a:xfrm flipH="1">
              <a:off x="816" y="2724"/>
              <a:ext cx="2320" cy="755"/>
            </a:xfrm>
            <a:prstGeom prst="parallelogram">
              <a:avLst>
                <a:gd name="adj" fmla="val 99512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8" name="Rectangle 149"/>
            <p:cNvSpPr>
              <a:spLocks noChangeArrowheads="1"/>
            </p:cNvSpPr>
            <p:nvPr/>
          </p:nvSpPr>
          <p:spPr bwMode="auto">
            <a:xfrm>
              <a:off x="816" y="1576"/>
              <a:ext cx="1560" cy="114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9" name="Line 150"/>
            <p:cNvSpPr>
              <a:spLocks noChangeShapeType="1"/>
            </p:cNvSpPr>
            <p:nvPr/>
          </p:nvSpPr>
          <p:spPr bwMode="auto">
            <a:xfrm flipV="1">
              <a:off x="1340" y="1922"/>
              <a:ext cx="525" cy="3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0" name="Line 151"/>
            <p:cNvSpPr>
              <a:spLocks noChangeShapeType="1"/>
            </p:cNvSpPr>
            <p:nvPr/>
          </p:nvSpPr>
          <p:spPr bwMode="auto">
            <a:xfrm>
              <a:off x="1509" y="2886"/>
              <a:ext cx="678" cy="1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1" name="Line 152"/>
            <p:cNvSpPr>
              <a:spLocks noChangeShapeType="1"/>
            </p:cNvSpPr>
            <p:nvPr/>
          </p:nvSpPr>
          <p:spPr bwMode="auto">
            <a:xfrm flipV="1">
              <a:off x="956" y="1893"/>
              <a:ext cx="475" cy="27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2" name="Line 153"/>
            <p:cNvSpPr>
              <a:spLocks noChangeShapeType="1"/>
            </p:cNvSpPr>
            <p:nvPr/>
          </p:nvSpPr>
          <p:spPr bwMode="auto">
            <a:xfrm>
              <a:off x="1418" y="1880"/>
              <a:ext cx="607" cy="6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3" name="Line 154"/>
            <p:cNvSpPr>
              <a:spLocks noChangeShapeType="1"/>
            </p:cNvSpPr>
            <p:nvPr/>
          </p:nvSpPr>
          <p:spPr bwMode="auto">
            <a:xfrm flipV="1">
              <a:off x="1509" y="2229"/>
              <a:ext cx="678" cy="1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4" name="Line 155"/>
            <p:cNvSpPr>
              <a:spLocks noChangeShapeType="1"/>
            </p:cNvSpPr>
            <p:nvPr/>
          </p:nvSpPr>
          <p:spPr bwMode="auto">
            <a:xfrm>
              <a:off x="1858" y="1915"/>
              <a:ext cx="322" cy="3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5" name="Line 156"/>
            <p:cNvSpPr>
              <a:spLocks noChangeShapeType="1"/>
            </p:cNvSpPr>
            <p:nvPr/>
          </p:nvSpPr>
          <p:spPr bwMode="auto">
            <a:xfrm flipV="1">
              <a:off x="2032" y="2481"/>
              <a:ext cx="0" cy="8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6" name="Line 157"/>
            <p:cNvSpPr>
              <a:spLocks noChangeShapeType="1"/>
            </p:cNvSpPr>
            <p:nvPr/>
          </p:nvSpPr>
          <p:spPr bwMode="auto">
            <a:xfrm>
              <a:off x="1410" y="2621"/>
              <a:ext cx="0" cy="5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7" name="Line 158"/>
            <p:cNvSpPr>
              <a:spLocks noChangeShapeType="1"/>
            </p:cNvSpPr>
            <p:nvPr/>
          </p:nvSpPr>
          <p:spPr bwMode="auto">
            <a:xfrm>
              <a:off x="956" y="2152"/>
              <a:ext cx="454" cy="4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8" name="Line 159"/>
            <p:cNvSpPr>
              <a:spLocks noChangeShapeType="1"/>
            </p:cNvSpPr>
            <p:nvPr/>
          </p:nvSpPr>
          <p:spPr bwMode="auto">
            <a:xfrm>
              <a:off x="1409" y="3179"/>
              <a:ext cx="624" cy="13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19" name="Line 160"/>
            <p:cNvSpPr>
              <a:spLocks noChangeShapeType="1"/>
            </p:cNvSpPr>
            <p:nvPr/>
          </p:nvSpPr>
          <p:spPr bwMode="auto">
            <a:xfrm flipV="1">
              <a:off x="1404" y="2487"/>
              <a:ext cx="621" cy="13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20" name="Rectangle 161"/>
            <p:cNvSpPr>
              <a:spLocks noChangeArrowheads="1"/>
            </p:cNvSpPr>
            <p:nvPr/>
          </p:nvSpPr>
          <p:spPr bwMode="auto">
            <a:xfrm>
              <a:off x="2235" y="2964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21" name="Rectangle 162"/>
            <p:cNvSpPr>
              <a:spLocks noChangeArrowheads="1"/>
            </p:cNvSpPr>
            <p:nvPr/>
          </p:nvSpPr>
          <p:spPr bwMode="auto">
            <a:xfrm>
              <a:off x="1453" y="2957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22" name="Rectangle 163"/>
            <p:cNvSpPr>
              <a:spLocks noChangeArrowheads="1"/>
            </p:cNvSpPr>
            <p:nvPr/>
          </p:nvSpPr>
          <p:spPr bwMode="auto">
            <a:xfrm>
              <a:off x="2086" y="315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23" name="Rectangle 164"/>
            <p:cNvSpPr>
              <a:spLocks noChangeArrowheads="1"/>
            </p:cNvSpPr>
            <p:nvPr/>
          </p:nvSpPr>
          <p:spPr bwMode="auto">
            <a:xfrm>
              <a:off x="2780" y="3228"/>
              <a:ext cx="7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H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24" name="Rectangle 165"/>
            <p:cNvSpPr>
              <a:spLocks noChangeArrowheads="1"/>
            </p:cNvSpPr>
            <p:nvPr/>
          </p:nvSpPr>
          <p:spPr bwMode="auto">
            <a:xfrm>
              <a:off x="1541" y="2334"/>
              <a:ext cx="1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25" name="Rectangle 166"/>
            <p:cNvSpPr>
              <a:spLocks noChangeArrowheads="1"/>
            </p:cNvSpPr>
            <p:nvPr/>
          </p:nvSpPr>
          <p:spPr bwMode="auto">
            <a:xfrm>
              <a:off x="1370" y="1677"/>
              <a:ext cx="1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26" name="Rectangle 167"/>
            <p:cNvSpPr>
              <a:spLocks noChangeArrowheads="1"/>
            </p:cNvSpPr>
            <p:nvPr/>
          </p:nvSpPr>
          <p:spPr bwMode="auto">
            <a:xfrm>
              <a:off x="1548" y="2661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27" name="Rectangle 168"/>
            <p:cNvSpPr>
              <a:spLocks noChangeArrowheads="1"/>
            </p:cNvSpPr>
            <p:nvPr/>
          </p:nvSpPr>
          <p:spPr bwMode="auto">
            <a:xfrm>
              <a:off x="1214" y="2502"/>
              <a:ext cx="10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28" name="Rectangle 170"/>
            <p:cNvSpPr>
              <a:spLocks noChangeArrowheads="1"/>
            </p:cNvSpPr>
            <p:nvPr/>
          </p:nvSpPr>
          <p:spPr bwMode="auto">
            <a:xfrm>
              <a:off x="918" y="1915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29" name="Rectangle 171"/>
            <p:cNvSpPr>
              <a:spLocks noChangeArrowheads="1"/>
            </p:cNvSpPr>
            <p:nvPr/>
          </p:nvSpPr>
          <p:spPr bwMode="auto">
            <a:xfrm>
              <a:off x="860" y="1617"/>
              <a:ext cx="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V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30" name="Rectangle 172"/>
            <p:cNvSpPr>
              <a:spLocks noChangeArrowheads="1"/>
            </p:cNvSpPr>
            <p:nvPr/>
          </p:nvSpPr>
          <p:spPr bwMode="auto">
            <a:xfrm>
              <a:off x="1241" y="2011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31" name="Freeform 173"/>
            <p:cNvSpPr>
              <a:spLocks/>
            </p:cNvSpPr>
            <p:nvPr/>
          </p:nvSpPr>
          <p:spPr bwMode="auto">
            <a:xfrm>
              <a:off x="1346" y="2213"/>
              <a:ext cx="164" cy="163"/>
            </a:xfrm>
            <a:custGeom>
              <a:avLst/>
              <a:gdLst>
                <a:gd name="T0" fmla="*/ 0 w 600"/>
                <a:gd name="T1" fmla="*/ 0 h 599"/>
                <a:gd name="T2" fmla="*/ 0 w 600"/>
                <a:gd name="T3" fmla="*/ 0 h 599"/>
                <a:gd name="T4" fmla="*/ 0 w 600"/>
                <a:gd name="T5" fmla="*/ 0 h 599"/>
                <a:gd name="T6" fmla="*/ 0 60000 65536"/>
                <a:gd name="T7" fmla="*/ 0 60000 65536"/>
                <a:gd name="T8" fmla="*/ 0 60000 65536"/>
                <a:gd name="T9" fmla="*/ 0 w 600"/>
                <a:gd name="T10" fmla="*/ 0 h 599"/>
                <a:gd name="T11" fmla="*/ 600 w 600"/>
                <a:gd name="T12" fmla="*/ 599 h 5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0" h="599">
                  <a:moveTo>
                    <a:pt x="0" y="0"/>
                  </a:moveTo>
                  <a:lnTo>
                    <a:pt x="599" y="599"/>
                  </a:lnTo>
                  <a:lnTo>
                    <a:pt x="600" y="599"/>
                  </a:lnTo>
                </a:path>
              </a:pathLst>
            </a:cu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32" name="Rectangle 174"/>
            <p:cNvSpPr>
              <a:spLocks noChangeArrowheads="1"/>
            </p:cNvSpPr>
            <p:nvPr/>
          </p:nvSpPr>
          <p:spPr bwMode="auto">
            <a:xfrm>
              <a:off x="2055" y="2388"/>
              <a:ext cx="1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33" name="Rectangle 175"/>
            <p:cNvSpPr>
              <a:spLocks noChangeArrowheads="1"/>
            </p:cNvSpPr>
            <p:nvPr/>
          </p:nvSpPr>
          <p:spPr bwMode="auto">
            <a:xfrm>
              <a:off x="1878" y="1687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34" name="Rectangle 176"/>
            <p:cNvSpPr>
              <a:spLocks noChangeArrowheads="1"/>
            </p:cNvSpPr>
            <p:nvPr/>
          </p:nvSpPr>
          <p:spPr bwMode="auto">
            <a:xfrm>
              <a:off x="2235" y="2073"/>
              <a:ext cx="1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235" name="Line 177"/>
            <p:cNvSpPr>
              <a:spLocks noChangeShapeType="1"/>
            </p:cNvSpPr>
            <p:nvPr/>
          </p:nvSpPr>
          <p:spPr bwMode="auto">
            <a:xfrm flipV="1">
              <a:off x="2187" y="2236"/>
              <a:ext cx="0" cy="7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36" name="Line 178"/>
            <p:cNvSpPr>
              <a:spLocks noChangeShapeType="1"/>
            </p:cNvSpPr>
            <p:nvPr/>
          </p:nvSpPr>
          <p:spPr bwMode="auto">
            <a:xfrm>
              <a:off x="1340" y="2214"/>
              <a:ext cx="169" cy="1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37" name="Line 179"/>
            <p:cNvSpPr>
              <a:spLocks noChangeShapeType="1"/>
            </p:cNvSpPr>
            <p:nvPr/>
          </p:nvSpPr>
          <p:spPr bwMode="auto">
            <a:xfrm flipV="1">
              <a:off x="1515" y="2376"/>
              <a:ext cx="0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38" name="Text Box 180"/>
            <p:cNvSpPr txBox="1">
              <a:spLocks noChangeArrowheads="1"/>
            </p:cNvSpPr>
            <p:nvPr/>
          </p:nvSpPr>
          <p:spPr bwMode="auto">
            <a:xfrm>
              <a:off x="1486" y="1634"/>
              <a:ext cx="116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endParaRPr kumimoji="1" lang="zh-CN" altLang="zh-CN" sz="2400">
                <a:latin typeface="Times New Roman" pitchFamily="18" charset="0"/>
              </a:endParaRPr>
            </a:p>
          </p:txBody>
        </p:sp>
        <p:sp>
          <p:nvSpPr>
            <p:cNvPr id="50239" name="Text Box 181"/>
            <p:cNvSpPr txBox="1">
              <a:spLocks noChangeArrowheads="1"/>
            </p:cNvSpPr>
            <p:nvPr/>
          </p:nvSpPr>
          <p:spPr bwMode="auto">
            <a:xfrm>
              <a:off x="1293" y="2004"/>
              <a:ext cx="163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400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50240" name="Text Box 182"/>
            <p:cNvSpPr txBox="1">
              <a:spLocks noChangeArrowheads="1"/>
            </p:cNvSpPr>
            <p:nvPr/>
          </p:nvSpPr>
          <p:spPr bwMode="auto">
            <a:xfrm>
              <a:off x="1918" y="1642"/>
              <a:ext cx="163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400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50241" name="Text Box 183"/>
            <p:cNvSpPr txBox="1">
              <a:spLocks noChangeArrowheads="1"/>
            </p:cNvSpPr>
            <p:nvPr/>
          </p:nvSpPr>
          <p:spPr bwMode="auto">
            <a:xfrm>
              <a:off x="958" y="1900"/>
              <a:ext cx="163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400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50242" name="Line 184"/>
            <p:cNvSpPr>
              <a:spLocks noChangeShapeType="1"/>
            </p:cNvSpPr>
            <p:nvPr/>
          </p:nvSpPr>
          <p:spPr bwMode="auto">
            <a:xfrm>
              <a:off x="1865" y="1922"/>
              <a:ext cx="0" cy="8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43" name="Line 185"/>
            <p:cNvSpPr>
              <a:spLocks noChangeShapeType="1"/>
            </p:cNvSpPr>
            <p:nvPr/>
          </p:nvSpPr>
          <p:spPr bwMode="auto">
            <a:xfrm>
              <a:off x="1865" y="2718"/>
              <a:ext cx="300" cy="3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44" name="Line 186"/>
            <p:cNvSpPr>
              <a:spLocks noChangeShapeType="1"/>
            </p:cNvSpPr>
            <p:nvPr/>
          </p:nvSpPr>
          <p:spPr bwMode="auto">
            <a:xfrm>
              <a:off x="956" y="2159"/>
              <a:ext cx="0" cy="5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45" name="Line 187"/>
            <p:cNvSpPr>
              <a:spLocks noChangeShapeType="1"/>
            </p:cNvSpPr>
            <p:nvPr/>
          </p:nvSpPr>
          <p:spPr bwMode="auto">
            <a:xfrm>
              <a:off x="942" y="2711"/>
              <a:ext cx="462" cy="4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46" name="Line 188"/>
            <p:cNvSpPr>
              <a:spLocks noChangeShapeType="1"/>
            </p:cNvSpPr>
            <p:nvPr/>
          </p:nvSpPr>
          <p:spPr bwMode="auto">
            <a:xfrm>
              <a:off x="1340" y="2208"/>
              <a:ext cx="0" cy="3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47" name="Line 189"/>
            <p:cNvSpPr>
              <a:spLocks noChangeShapeType="1"/>
            </p:cNvSpPr>
            <p:nvPr/>
          </p:nvSpPr>
          <p:spPr bwMode="auto">
            <a:xfrm flipH="1" flipV="1">
              <a:off x="1326" y="2718"/>
              <a:ext cx="183" cy="1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48" name="Line 190"/>
            <p:cNvSpPr>
              <a:spLocks noChangeShapeType="1"/>
            </p:cNvSpPr>
            <p:nvPr/>
          </p:nvSpPr>
          <p:spPr bwMode="auto">
            <a:xfrm flipV="1">
              <a:off x="1334" y="2691"/>
              <a:ext cx="0" cy="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91"/>
          <p:cNvGrpSpPr>
            <a:grpSpLocks/>
          </p:cNvGrpSpPr>
          <p:nvPr/>
        </p:nvGrpSpPr>
        <p:grpSpPr bwMode="auto">
          <a:xfrm>
            <a:off x="6895934" y="2646364"/>
            <a:ext cx="2392695" cy="2700833"/>
            <a:chOff x="3422" y="1131"/>
            <a:chExt cx="1364" cy="1541"/>
          </a:xfrm>
        </p:grpSpPr>
        <p:sp>
          <p:nvSpPr>
            <p:cNvPr id="50184" name="Rectangle 192"/>
            <p:cNvSpPr>
              <a:spLocks noChangeArrowheads="1"/>
            </p:cNvSpPr>
            <p:nvPr/>
          </p:nvSpPr>
          <p:spPr bwMode="auto">
            <a:xfrm>
              <a:off x="3917" y="2083"/>
              <a:ext cx="90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85" name="Rectangle 193"/>
            <p:cNvSpPr>
              <a:spLocks noChangeArrowheads="1"/>
            </p:cNvSpPr>
            <p:nvPr/>
          </p:nvSpPr>
          <p:spPr bwMode="auto">
            <a:xfrm>
              <a:off x="3586" y="2367"/>
              <a:ext cx="73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86" name="Rectangle 194"/>
            <p:cNvSpPr>
              <a:spLocks noChangeArrowheads="1"/>
            </p:cNvSpPr>
            <p:nvPr/>
          </p:nvSpPr>
          <p:spPr bwMode="auto">
            <a:xfrm>
              <a:off x="4169" y="2461"/>
              <a:ext cx="90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87" name="Rectangle 195"/>
            <p:cNvSpPr>
              <a:spLocks noChangeArrowheads="1"/>
            </p:cNvSpPr>
            <p:nvPr/>
          </p:nvSpPr>
          <p:spPr bwMode="auto">
            <a:xfrm>
              <a:off x="4578" y="2249"/>
              <a:ext cx="90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88" name="Rectangle 196"/>
            <p:cNvSpPr>
              <a:spLocks noChangeArrowheads="1"/>
            </p:cNvSpPr>
            <p:nvPr/>
          </p:nvSpPr>
          <p:spPr bwMode="auto">
            <a:xfrm>
              <a:off x="3575" y="1371"/>
              <a:ext cx="116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89" name="Rectangle 197"/>
            <p:cNvSpPr>
              <a:spLocks noChangeArrowheads="1"/>
            </p:cNvSpPr>
            <p:nvPr/>
          </p:nvSpPr>
          <p:spPr bwMode="auto">
            <a:xfrm>
              <a:off x="4175" y="1183"/>
              <a:ext cx="90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90" name="Rectangle 198"/>
            <p:cNvSpPr>
              <a:spLocks noChangeArrowheads="1"/>
            </p:cNvSpPr>
            <p:nvPr/>
          </p:nvSpPr>
          <p:spPr bwMode="auto">
            <a:xfrm>
              <a:off x="3926" y="1471"/>
              <a:ext cx="90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91" name="Rectangle 199"/>
            <p:cNvSpPr>
              <a:spLocks noChangeArrowheads="1"/>
            </p:cNvSpPr>
            <p:nvPr/>
          </p:nvSpPr>
          <p:spPr bwMode="auto">
            <a:xfrm>
              <a:off x="4555" y="1176"/>
              <a:ext cx="90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92" name="Rectangle 200"/>
            <p:cNvSpPr>
              <a:spLocks noChangeArrowheads="1"/>
            </p:cNvSpPr>
            <p:nvPr/>
          </p:nvSpPr>
          <p:spPr bwMode="auto">
            <a:xfrm>
              <a:off x="4697" y="1911"/>
              <a:ext cx="8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93" name="Rectangle 201"/>
            <p:cNvSpPr>
              <a:spLocks noChangeArrowheads="1"/>
            </p:cNvSpPr>
            <p:nvPr/>
          </p:nvSpPr>
          <p:spPr bwMode="auto">
            <a:xfrm>
              <a:off x="3422" y="1898"/>
              <a:ext cx="8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X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0194" name="Text Box 202"/>
            <p:cNvSpPr txBox="1">
              <a:spLocks noChangeArrowheads="1"/>
            </p:cNvSpPr>
            <p:nvPr/>
          </p:nvSpPr>
          <p:spPr bwMode="auto">
            <a:xfrm>
              <a:off x="3585" y="1370"/>
              <a:ext cx="211" cy="26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400">
                  <a:latin typeface="Times New Roman" pitchFamily="18" charset="0"/>
                  <a:sym typeface="Symbol" pitchFamily="18" charset="2"/>
                </a:rPr>
                <a:t>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50195" name="Text Box 203"/>
            <p:cNvSpPr txBox="1">
              <a:spLocks noChangeArrowheads="1"/>
            </p:cNvSpPr>
            <p:nvPr/>
          </p:nvSpPr>
          <p:spPr bwMode="auto">
            <a:xfrm>
              <a:off x="3948" y="1454"/>
              <a:ext cx="179" cy="26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400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50196" name="Text Box 204"/>
            <p:cNvSpPr txBox="1">
              <a:spLocks noChangeArrowheads="1"/>
            </p:cNvSpPr>
            <p:nvPr/>
          </p:nvSpPr>
          <p:spPr bwMode="auto">
            <a:xfrm>
              <a:off x="4565" y="1131"/>
              <a:ext cx="179" cy="26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400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50197" name="Text Box 205"/>
            <p:cNvSpPr txBox="1">
              <a:spLocks noChangeArrowheads="1"/>
            </p:cNvSpPr>
            <p:nvPr/>
          </p:nvSpPr>
          <p:spPr bwMode="auto">
            <a:xfrm>
              <a:off x="4224" y="1132"/>
              <a:ext cx="179" cy="26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kumimoji="1" lang="en-US" altLang="zh-CN" sz="2400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50198" name="Line 206"/>
            <p:cNvSpPr>
              <a:spLocks noChangeShapeType="1"/>
            </p:cNvSpPr>
            <p:nvPr/>
          </p:nvSpPr>
          <p:spPr bwMode="auto">
            <a:xfrm>
              <a:off x="3546" y="2036"/>
              <a:ext cx="110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199" name="Line 207"/>
            <p:cNvSpPr>
              <a:spLocks noChangeShapeType="1"/>
            </p:cNvSpPr>
            <p:nvPr/>
          </p:nvSpPr>
          <p:spPr bwMode="auto">
            <a:xfrm>
              <a:off x="3693" y="1562"/>
              <a:ext cx="0" cy="8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0" name="Line 208"/>
            <p:cNvSpPr>
              <a:spLocks noChangeShapeType="1"/>
            </p:cNvSpPr>
            <p:nvPr/>
          </p:nvSpPr>
          <p:spPr bwMode="auto">
            <a:xfrm>
              <a:off x="4045" y="1600"/>
              <a:ext cx="0" cy="6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1" name="Line 209"/>
            <p:cNvSpPr>
              <a:spLocks noChangeShapeType="1"/>
            </p:cNvSpPr>
            <p:nvPr/>
          </p:nvSpPr>
          <p:spPr bwMode="auto">
            <a:xfrm>
              <a:off x="4134" y="1318"/>
              <a:ext cx="0" cy="12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2" name="Line 210"/>
            <p:cNvSpPr>
              <a:spLocks noChangeShapeType="1"/>
            </p:cNvSpPr>
            <p:nvPr/>
          </p:nvSpPr>
          <p:spPr bwMode="auto">
            <a:xfrm>
              <a:off x="4525" y="1338"/>
              <a:ext cx="0" cy="101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3" name="Line 211"/>
            <p:cNvSpPr>
              <a:spLocks noChangeShapeType="1"/>
            </p:cNvSpPr>
            <p:nvPr/>
          </p:nvSpPr>
          <p:spPr bwMode="auto">
            <a:xfrm flipV="1">
              <a:off x="3686" y="1318"/>
              <a:ext cx="442" cy="25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4" name="Line 212"/>
            <p:cNvSpPr>
              <a:spLocks noChangeShapeType="1"/>
            </p:cNvSpPr>
            <p:nvPr/>
          </p:nvSpPr>
          <p:spPr bwMode="auto">
            <a:xfrm flipV="1">
              <a:off x="4045" y="1338"/>
              <a:ext cx="473" cy="26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5" name="Line 213"/>
            <p:cNvSpPr>
              <a:spLocks noChangeShapeType="1"/>
            </p:cNvSpPr>
            <p:nvPr/>
          </p:nvSpPr>
          <p:spPr bwMode="auto">
            <a:xfrm flipH="1" flipV="1">
              <a:off x="4038" y="2206"/>
              <a:ext cx="480" cy="1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206" name="Line 214"/>
            <p:cNvSpPr>
              <a:spLocks noChangeShapeType="1"/>
            </p:cNvSpPr>
            <p:nvPr/>
          </p:nvSpPr>
          <p:spPr bwMode="auto">
            <a:xfrm>
              <a:off x="3680" y="2445"/>
              <a:ext cx="461" cy="1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3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66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66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89" grpId="0" build="p" autoUpdateAnimBg="0"/>
      <p:bldP spid="26691" grpId="0" autoUpdateAnimBg="0"/>
      <p:bldP spid="2669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80"/>
          <p:cNvSpPr txBox="1">
            <a:spLocks noChangeArrowheads="1"/>
          </p:cNvSpPr>
          <p:nvPr/>
        </p:nvSpPr>
        <p:spPr bwMode="auto">
          <a:xfrm>
            <a:off x="1082620" y="989743"/>
            <a:ext cx="55948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</a:rPr>
              <a:t>例：判断图中两条直线是否平行。</a:t>
            </a:r>
          </a:p>
        </p:txBody>
      </p:sp>
      <p:sp>
        <p:nvSpPr>
          <p:cNvPr id="28753" name="Text Box 81"/>
          <p:cNvSpPr txBox="1">
            <a:spLocks noChangeArrowheads="1"/>
          </p:cNvSpPr>
          <p:nvPr/>
        </p:nvSpPr>
        <p:spPr bwMode="auto">
          <a:xfrm>
            <a:off x="2033142" y="2301698"/>
            <a:ext cx="40576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solidFill>
                  <a:schemeClr val="tx2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itchFamily="2" charset="-122"/>
              </a:rPr>
              <a:t>对于一般位置直线，只要有两组同名投影互相平行，空间两直线就平行。</a:t>
            </a:r>
          </a:p>
        </p:txBody>
      </p:sp>
      <p:sp>
        <p:nvSpPr>
          <p:cNvPr id="28754" name="Text Box 82"/>
          <p:cNvSpPr txBox="1">
            <a:spLocks noChangeArrowheads="1"/>
          </p:cNvSpPr>
          <p:nvPr/>
        </p:nvSpPr>
        <p:spPr bwMode="auto">
          <a:xfrm>
            <a:off x="2285556" y="1811439"/>
            <a:ext cx="22958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AB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与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CD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平行。</a:t>
            </a:r>
          </a:p>
        </p:txBody>
      </p:sp>
      <p:sp>
        <p:nvSpPr>
          <p:cNvPr id="28833" name="Text Box 161"/>
          <p:cNvSpPr txBox="1">
            <a:spLocks noChangeArrowheads="1"/>
          </p:cNvSpPr>
          <p:nvPr/>
        </p:nvSpPr>
        <p:spPr bwMode="auto">
          <a:xfrm>
            <a:off x="6467227" y="5055568"/>
            <a:ext cx="2605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AB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与</a:t>
            </a:r>
            <a:r>
              <a:rPr kumimoji="1"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CD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不平行。</a:t>
            </a:r>
            <a:endParaRPr kumimoji="1" lang="zh-CN" altLang="en-US" sz="2400" b="1" dirty="0">
              <a:solidFill>
                <a:srgbClr val="FF9933"/>
              </a:solidFill>
              <a:latin typeface="Times New Roman" pitchFamily="18" charset="0"/>
            </a:endParaRPr>
          </a:p>
        </p:txBody>
      </p:sp>
      <p:sp>
        <p:nvSpPr>
          <p:cNvPr id="28834" name="Text Box 162"/>
          <p:cNvSpPr txBox="1">
            <a:spLocks noChangeArrowheads="1"/>
          </p:cNvSpPr>
          <p:nvPr/>
        </p:nvSpPr>
        <p:spPr bwMode="auto">
          <a:xfrm>
            <a:off x="6254303" y="5411170"/>
            <a:ext cx="398938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对于特殊位置直线，只有两组同名投影互相平行，空间直线不一定平行。</a:t>
            </a:r>
          </a:p>
        </p:txBody>
      </p:sp>
      <p:grpSp>
        <p:nvGrpSpPr>
          <p:cNvPr id="2" name="Group 311"/>
          <p:cNvGrpSpPr>
            <a:grpSpLocks/>
          </p:cNvGrpSpPr>
          <p:nvPr/>
        </p:nvGrpSpPr>
        <p:grpSpPr bwMode="auto">
          <a:xfrm>
            <a:off x="6573392" y="1870944"/>
            <a:ext cx="3584575" cy="2768601"/>
            <a:chOff x="531" y="463"/>
            <a:chExt cx="2258" cy="1744"/>
          </a:xfrm>
        </p:grpSpPr>
        <p:sp>
          <p:nvSpPr>
            <p:cNvPr id="51266" name="Line 202"/>
            <p:cNvSpPr>
              <a:spLocks noChangeShapeType="1"/>
            </p:cNvSpPr>
            <p:nvPr/>
          </p:nvSpPr>
          <p:spPr bwMode="auto">
            <a:xfrm>
              <a:off x="1361" y="881"/>
              <a:ext cx="103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67" name="Line 203"/>
            <p:cNvSpPr>
              <a:spLocks noChangeShapeType="1"/>
            </p:cNvSpPr>
            <p:nvPr/>
          </p:nvSpPr>
          <p:spPr bwMode="auto">
            <a:xfrm>
              <a:off x="1023" y="682"/>
              <a:ext cx="132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68" name="Line 204"/>
            <p:cNvSpPr>
              <a:spLocks noChangeShapeType="1"/>
            </p:cNvSpPr>
            <p:nvPr/>
          </p:nvSpPr>
          <p:spPr bwMode="auto">
            <a:xfrm>
              <a:off x="869" y="1364"/>
              <a:ext cx="10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69" name="Line 205"/>
            <p:cNvSpPr>
              <a:spLocks noChangeShapeType="1"/>
            </p:cNvSpPr>
            <p:nvPr/>
          </p:nvSpPr>
          <p:spPr bwMode="auto">
            <a:xfrm>
              <a:off x="531" y="1159"/>
              <a:ext cx="1341" cy="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0" name="Line 206"/>
            <p:cNvSpPr>
              <a:spLocks noChangeShapeType="1"/>
            </p:cNvSpPr>
            <p:nvPr/>
          </p:nvSpPr>
          <p:spPr bwMode="auto">
            <a:xfrm>
              <a:off x="1666" y="1441"/>
              <a:ext cx="766" cy="7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1" name="Line 207"/>
            <p:cNvSpPr>
              <a:spLocks noChangeShapeType="1"/>
            </p:cNvSpPr>
            <p:nvPr/>
          </p:nvSpPr>
          <p:spPr bwMode="auto">
            <a:xfrm>
              <a:off x="869" y="1706"/>
              <a:ext cx="10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2" name="Line 208"/>
            <p:cNvSpPr>
              <a:spLocks noChangeShapeType="1"/>
            </p:cNvSpPr>
            <p:nvPr/>
          </p:nvSpPr>
          <p:spPr bwMode="auto">
            <a:xfrm>
              <a:off x="1361" y="2178"/>
              <a:ext cx="10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3" name="Line 209"/>
            <p:cNvSpPr>
              <a:spLocks noChangeShapeType="1"/>
            </p:cNvSpPr>
            <p:nvPr/>
          </p:nvSpPr>
          <p:spPr bwMode="auto">
            <a:xfrm>
              <a:off x="531" y="1641"/>
              <a:ext cx="133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4" name="Line 210"/>
            <p:cNvSpPr>
              <a:spLocks noChangeShapeType="1"/>
            </p:cNvSpPr>
            <p:nvPr/>
          </p:nvSpPr>
          <p:spPr bwMode="auto">
            <a:xfrm>
              <a:off x="1005" y="2130"/>
              <a:ext cx="13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5" name="Line 211"/>
            <p:cNvSpPr>
              <a:spLocks noChangeShapeType="1"/>
            </p:cNvSpPr>
            <p:nvPr/>
          </p:nvSpPr>
          <p:spPr bwMode="auto">
            <a:xfrm flipV="1">
              <a:off x="1862" y="1164"/>
              <a:ext cx="0" cy="4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6" name="Line 212"/>
            <p:cNvSpPr>
              <a:spLocks noChangeShapeType="1"/>
            </p:cNvSpPr>
            <p:nvPr/>
          </p:nvSpPr>
          <p:spPr bwMode="auto">
            <a:xfrm flipV="1">
              <a:off x="2350" y="670"/>
              <a:ext cx="0" cy="14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7" name="Line 213"/>
            <p:cNvSpPr>
              <a:spLocks noChangeShapeType="1"/>
            </p:cNvSpPr>
            <p:nvPr/>
          </p:nvSpPr>
          <p:spPr bwMode="auto">
            <a:xfrm flipV="1">
              <a:off x="1932" y="1364"/>
              <a:ext cx="0" cy="3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8" name="Freeform 214"/>
            <p:cNvSpPr>
              <a:spLocks/>
            </p:cNvSpPr>
            <p:nvPr/>
          </p:nvSpPr>
          <p:spPr bwMode="auto">
            <a:xfrm flipH="1">
              <a:off x="2382" y="884"/>
              <a:ext cx="29" cy="1297"/>
            </a:xfrm>
            <a:custGeom>
              <a:avLst/>
              <a:gdLst>
                <a:gd name="T0" fmla="*/ 0 w 1"/>
                <a:gd name="T1" fmla="*/ 1318 h 1318"/>
                <a:gd name="T2" fmla="*/ 0 w 1"/>
                <a:gd name="T3" fmla="*/ 0 h 1318"/>
                <a:gd name="T4" fmla="*/ 0 60000 65536"/>
                <a:gd name="T5" fmla="*/ 0 60000 65536"/>
                <a:gd name="T6" fmla="*/ 0 w 1"/>
                <a:gd name="T7" fmla="*/ 0 h 1318"/>
                <a:gd name="T8" fmla="*/ 1 w 1"/>
                <a:gd name="T9" fmla="*/ 1318 h 131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318">
                  <a:moveTo>
                    <a:pt x="0" y="131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79" name="Line 215"/>
            <p:cNvSpPr>
              <a:spLocks noChangeShapeType="1"/>
            </p:cNvSpPr>
            <p:nvPr/>
          </p:nvSpPr>
          <p:spPr bwMode="auto">
            <a:xfrm flipV="1">
              <a:off x="1862" y="676"/>
              <a:ext cx="486" cy="48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80" name="Line 216"/>
            <p:cNvSpPr>
              <a:spLocks noChangeShapeType="1"/>
            </p:cNvSpPr>
            <p:nvPr/>
          </p:nvSpPr>
          <p:spPr bwMode="auto">
            <a:xfrm flipV="1">
              <a:off x="1932" y="882"/>
              <a:ext cx="479" cy="48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81" name="Text Box 217"/>
            <p:cNvSpPr txBox="1">
              <a:spLocks noChangeArrowheads="1"/>
            </p:cNvSpPr>
            <p:nvPr/>
          </p:nvSpPr>
          <p:spPr bwMode="auto">
            <a:xfrm>
              <a:off x="1689" y="920"/>
              <a:ext cx="2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51282" name="Text Box 218"/>
            <p:cNvSpPr txBox="1">
              <a:spLocks noChangeArrowheads="1"/>
            </p:cNvSpPr>
            <p:nvPr/>
          </p:nvSpPr>
          <p:spPr bwMode="auto">
            <a:xfrm>
              <a:off x="2307" y="463"/>
              <a:ext cx="2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51283" name="Text Box 219"/>
            <p:cNvSpPr txBox="1">
              <a:spLocks noChangeArrowheads="1"/>
            </p:cNvSpPr>
            <p:nvPr/>
          </p:nvSpPr>
          <p:spPr bwMode="auto">
            <a:xfrm>
              <a:off x="1912" y="1208"/>
              <a:ext cx="2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51284" name="Text Box 220"/>
            <p:cNvSpPr txBox="1">
              <a:spLocks noChangeArrowheads="1"/>
            </p:cNvSpPr>
            <p:nvPr/>
          </p:nvSpPr>
          <p:spPr bwMode="auto">
            <a:xfrm>
              <a:off x="2320" y="722"/>
              <a:ext cx="4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</p:grpSp>
      <p:grpSp>
        <p:nvGrpSpPr>
          <p:cNvPr id="3" name="Group 315"/>
          <p:cNvGrpSpPr>
            <a:grpSpLocks/>
          </p:cNvGrpSpPr>
          <p:nvPr/>
        </p:nvGrpSpPr>
        <p:grpSpPr bwMode="auto">
          <a:xfrm>
            <a:off x="2028826" y="3440114"/>
            <a:ext cx="3629025" cy="3206751"/>
            <a:chOff x="318" y="2167"/>
            <a:chExt cx="2286" cy="2020"/>
          </a:xfrm>
        </p:grpSpPr>
        <p:sp>
          <p:nvSpPr>
            <p:cNvPr id="51250" name="Line 227"/>
            <p:cNvSpPr>
              <a:spLocks noChangeShapeType="1"/>
            </p:cNvSpPr>
            <p:nvPr/>
          </p:nvSpPr>
          <p:spPr bwMode="auto">
            <a:xfrm>
              <a:off x="1281" y="3656"/>
              <a:ext cx="0" cy="4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51" name="Line 228"/>
            <p:cNvSpPr>
              <a:spLocks noChangeShapeType="1"/>
            </p:cNvSpPr>
            <p:nvPr/>
          </p:nvSpPr>
          <p:spPr bwMode="auto">
            <a:xfrm>
              <a:off x="956" y="3068"/>
              <a:ext cx="0" cy="4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52" name="Line 229"/>
            <p:cNvSpPr>
              <a:spLocks noChangeShapeType="1"/>
            </p:cNvSpPr>
            <p:nvPr/>
          </p:nvSpPr>
          <p:spPr bwMode="auto">
            <a:xfrm>
              <a:off x="1278" y="3022"/>
              <a:ext cx="3" cy="6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53" name="Text Box 230"/>
            <p:cNvSpPr txBox="1">
              <a:spLocks noChangeArrowheads="1"/>
            </p:cNvSpPr>
            <p:nvPr/>
          </p:nvSpPr>
          <p:spPr bwMode="auto">
            <a:xfrm>
              <a:off x="778" y="3289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1254" name="Line 231"/>
            <p:cNvSpPr>
              <a:spLocks noChangeShapeType="1"/>
            </p:cNvSpPr>
            <p:nvPr/>
          </p:nvSpPr>
          <p:spPr bwMode="auto">
            <a:xfrm>
              <a:off x="761" y="3314"/>
              <a:ext cx="184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55" name="Line 232"/>
            <p:cNvSpPr>
              <a:spLocks noChangeShapeType="1"/>
            </p:cNvSpPr>
            <p:nvPr/>
          </p:nvSpPr>
          <p:spPr bwMode="auto">
            <a:xfrm>
              <a:off x="956" y="2484"/>
              <a:ext cx="0" cy="58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56" name="Line 233"/>
            <p:cNvSpPr>
              <a:spLocks noChangeShapeType="1"/>
            </p:cNvSpPr>
            <p:nvPr/>
          </p:nvSpPr>
          <p:spPr bwMode="auto">
            <a:xfrm>
              <a:off x="955" y="3470"/>
              <a:ext cx="0" cy="476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57" name="Line 234"/>
            <p:cNvSpPr>
              <a:spLocks noChangeShapeType="1"/>
            </p:cNvSpPr>
            <p:nvPr/>
          </p:nvSpPr>
          <p:spPr bwMode="auto">
            <a:xfrm>
              <a:off x="1278" y="2612"/>
              <a:ext cx="0" cy="4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58" name="Text Box 235"/>
            <p:cNvSpPr txBox="1">
              <a:spLocks noChangeArrowheads="1"/>
            </p:cNvSpPr>
            <p:nvPr/>
          </p:nvSpPr>
          <p:spPr bwMode="auto">
            <a:xfrm>
              <a:off x="1094" y="3510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1259" name="Text Box 236"/>
            <p:cNvSpPr txBox="1">
              <a:spLocks noChangeArrowheads="1"/>
            </p:cNvSpPr>
            <p:nvPr/>
          </p:nvSpPr>
          <p:spPr bwMode="auto">
            <a:xfrm>
              <a:off x="1083" y="3896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1260" name="Text Box 237"/>
            <p:cNvSpPr txBox="1">
              <a:spLocks noChangeArrowheads="1"/>
            </p:cNvSpPr>
            <p:nvPr/>
          </p:nvSpPr>
          <p:spPr bwMode="auto">
            <a:xfrm>
              <a:off x="774" y="3793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1261" name="Text Box 238"/>
            <p:cNvSpPr txBox="1">
              <a:spLocks noChangeArrowheads="1"/>
            </p:cNvSpPr>
            <p:nvPr/>
          </p:nvSpPr>
          <p:spPr bwMode="auto">
            <a:xfrm>
              <a:off x="645" y="2935"/>
              <a:ext cx="414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UniversalMath1 BT" pitchFamily="18" charset="2"/>
              </a:endParaRPr>
            </a:p>
            <a:p>
              <a:pPr algn="ctr"/>
              <a:endParaRPr kumimoji="1" lang="en-US" altLang="zh-CN" sz="2000" b="1">
                <a:latin typeface="Times New Roman" pitchFamily="18" charset="0"/>
              </a:endParaRPr>
            </a:p>
          </p:txBody>
        </p:sp>
        <p:sp>
          <p:nvSpPr>
            <p:cNvPr id="51262" name="Text Box 239"/>
            <p:cNvSpPr txBox="1">
              <a:spLocks noChangeArrowheads="1"/>
            </p:cNvSpPr>
            <p:nvPr/>
          </p:nvSpPr>
          <p:spPr bwMode="auto">
            <a:xfrm>
              <a:off x="1028" y="3005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b</a:t>
              </a:r>
              <a:r>
                <a:rPr kumimoji="1" lang="en-US" altLang="zh-CN" sz="2400" b="1" dirty="0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1263" name="Text Box 240"/>
            <p:cNvSpPr txBox="1">
              <a:spLocks noChangeArrowheads="1"/>
            </p:cNvSpPr>
            <p:nvPr/>
          </p:nvSpPr>
          <p:spPr bwMode="auto">
            <a:xfrm>
              <a:off x="1053" y="2582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1264" name="Text Box 241"/>
            <p:cNvSpPr txBox="1">
              <a:spLocks noChangeArrowheads="1"/>
            </p:cNvSpPr>
            <p:nvPr/>
          </p:nvSpPr>
          <p:spPr bwMode="auto">
            <a:xfrm>
              <a:off x="770" y="2295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1265" name="Text Box 242"/>
            <p:cNvSpPr txBox="1">
              <a:spLocks noChangeArrowheads="1"/>
            </p:cNvSpPr>
            <p:nvPr/>
          </p:nvSpPr>
          <p:spPr bwMode="auto">
            <a:xfrm>
              <a:off x="318" y="2167"/>
              <a:ext cx="34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800" b="1">
                  <a:latin typeface="Times New Roman" pitchFamily="18" charset="0"/>
                </a:rPr>
                <a:t>②</a:t>
              </a:r>
            </a:p>
          </p:txBody>
        </p:sp>
      </p:grpSp>
      <p:grpSp>
        <p:nvGrpSpPr>
          <p:cNvPr id="4" name="Group 314"/>
          <p:cNvGrpSpPr>
            <a:grpSpLocks/>
          </p:cNvGrpSpPr>
          <p:nvPr/>
        </p:nvGrpSpPr>
        <p:grpSpPr bwMode="auto">
          <a:xfrm>
            <a:off x="3041652" y="3635377"/>
            <a:ext cx="2674937" cy="3197226"/>
            <a:chOff x="956" y="2290"/>
            <a:chExt cx="1685" cy="2014"/>
          </a:xfrm>
        </p:grpSpPr>
        <p:sp>
          <p:nvSpPr>
            <p:cNvPr id="51230" name="Line 266"/>
            <p:cNvSpPr>
              <a:spLocks noChangeShapeType="1"/>
            </p:cNvSpPr>
            <p:nvPr/>
          </p:nvSpPr>
          <p:spPr bwMode="auto">
            <a:xfrm flipV="1">
              <a:off x="1796" y="2487"/>
              <a:ext cx="0" cy="9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1" name="Line 267"/>
            <p:cNvSpPr>
              <a:spLocks noChangeShapeType="1"/>
            </p:cNvSpPr>
            <p:nvPr/>
          </p:nvSpPr>
          <p:spPr bwMode="auto">
            <a:xfrm>
              <a:off x="1631" y="2406"/>
              <a:ext cx="0" cy="18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2" name="Freeform 268"/>
            <p:cNvSpPr>
              <a:spLocks/>
            </p:cNvSpPr>
            <p:nvPr/>
          </p:nvSpPr>
          <p:spPr bwMode="auto">
            <a:xfrm>
              <a:off x="1282" y="3658"/>
              <a:ext cx="706" cy="299"/>
            </a:xfrm>
            <a:custGeom>
              <a:avLst/>
              <a:gdLst>
                <a:gd name="T0" fmla="*/ 0 w 706"/>
                <a:gd name="T1" fmla="*/ 0 h 1"/>
                <a:gd name="T2" fmla="*/ 706 w 706"/>
                <a:gd name="T3" fmla="*/ 0 h 1"/>
                <a:gd name="T4" fmla="*/ 0 60000 65536"/>
                <a:gd name="T5" fmla="*/ 0 60000 65536"/>
                <a:gd name="T6" fmla="*/ 0 w 706"/>
                <a:gd name="T7" fmla="*/ 0 h 1"/>
                <a:gd name="T8" fmla="*/ 706 w 70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06" h="1">
                  <a:moveTo>
                    <a:pt x="0" y="0"/>
                  </a:moveTo>
                  <a:lnTo>
                    <a:pt x="70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3" name="Freeform 269"/>
            <p:cNvSpPr>
              <a:spLocks/>
            </p:cNvSpPr>
            <p:nvPr/>
          </p:nvSpPr>
          <p:spPr bwMode="auto">
            <a:xfrm>
              <a:off x="1281" y="4071"/>
              <a:ext cx="1118" cy="233"/>
            </a:xfrm>
            <a:custGeom>
              <a:avLst/>
              <a:gdLst>
                <a:gd name="T0" fmla="*/ 0 w 1116"/>
                <a:gd name="T1" fmla="*/ 0 h 1"/>
                <a:gd name="T2" fmla="*/ 1116 w 1116"/>
                <a:gd name="T3" fmla="*/ 0 h 1"/>
                <a:gd name="T4" fmla="*/ 0 60000 65536"/>
                <a:gd name="T5" fmla="*/ 0 60000 65536"/>
                <a:gd name="T6" fmla="*/ 0 w 1116"/>
                <a:gd name="T7" fmla="*/ 0 h 1"/>
                <a:gd name="T8" fmla="*/ 1116 w 111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6" h="1">
                  <a:moveTo>
                    <a:pt x="0" y="0"/>
                  </a:moveTo>
                  <a:lnTo>
                    <a:pt x="111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4" name="Freeform 270"/>
            <p:cNvSpPr>
              <a:spLocks/>
            </p:cNvSpPr>
            <p:nvPr/>
          </p:nvSpPr>
          <p:spPr bwMode="auto">
            <a:xfrm>
              <a:off x="1270" y="3031"/>
              <a:ext cx="713" cy="190"/>
            </a:xfrm>
            <a:custGeom>
              <a:avLst/>
              <a:gdLst>
                <a:gd name="T0" fmla="*/ 0 w 734"/>
                <a:gd name="T1" fmla="*/ 0 h 1"/>
                <a:gd name="T2" fmla="*/ 734 w 734"/>
                <a:gd name="T3" fmla="*/ 0 h 1"/>
                <a:gd name="T4" fmla="*/ 0 60000 65536"/>
                <a:gd name="T5" fmla="*/ 0 60000 65536"/>
                <a:gd name="T6" fmla="*/ 0 w 734"/>
                <a:gd name="T7" fmla="*/ 0 h 1"/>
                <a:gd name="T8" fmla="*/ 734 w 73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4" h="1">
                  <a:moveTo>
                    <a:pt x="0" y="0"/>
                  </a:moveTo>
                  <a:lnTo>
                    <a:pt x="73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5" name="Freeform 271"/>
            <p:cNvSpPr>
              <a:spLocks/>
            </p:cNvSpPr>
            <p:nvPr/>
          </p:nvSpPr>
          <p:spPr bwMode="auto">
            <a:xfrm>
              <a:off x="1979" y="3021"/>
              <a:ext cx="142" cy="639"/>
            </a:xfrm>
            <a:custGeom>
              <a:avLst/>
              <a:gdLst>
                <a:gd name="T0" fmla="*/ 0 w 1"/>
                <a:gd name="T1" fmla="*/ 0 h 508"/>
                <a:gd name="T2" fmla="*/ 0 w 1"/>
                <a:gd name="T3" fmla="*/ 508 h 508"/>
                <a:gd name="T4" fmla="*/ 0 60000 65536"/>
                <a:gd name="T5" fmla="*/ 0 60000 65536"/>
                <a:gd name="T6" fmla="*/ 0 w 1"/>
                <a:gd name="T7" fmla="*/ 0 h 508"/>
                <a:gd name="T8" fmla="*/ 1 w 1"/>
                <a:gd name="T9" fmla="*/ 508 h 50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08">
                  <a:moveTo>
                    <a:pt x="0" y="0"/>
                  </a:moveTo>
                  <a:lnTo>
                    <a:pt x="0" y="50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6" name="Freeform 272"/>
            <p:cNvSpPr>
              <a:spLocks/>
            </p:cNvSpPr>
            <p:nvPr/>
          </p:nvSpPr>
          <p:spPr bwMode="auto">
            <a:xfrm>
              <a:off x="1265" y="2610"/>
              <a:ext cx="1128" cy="234"/>
            </a:xfrm>
            <a:custGeom>
              <a:avLst/>
              <a:gdLst>
                <a:gd name="T0" fmla="*/ 0 w 1130"/>
                <a:gd name="T1" fmla="*/ 0 h 1"/>
                <a:gd name="T2" fmla="*/ 1130 w 1130"/>
                <a:gd name="T3" fmla="*/ 0 h 1"/>
                <a:gd name="T4" fmla="*/ 0 60000 65536"/>
                <a:gd name="T5" fmla="*/ 0 60000 65536"/>
                <a:gd name="T6" fmla="*/ 0 w 1130"/>
                <a:gd name="T7" fmla="*/ 0 h 1"/>
                <a:gd name="T8" fmla="*/ 1130 w 113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30" h="1">
                  <a:moveTo>
                    <a:pt x="0" y="0"/>
                  </a:moveTo>
                  <a:lnTo>
                    <a:pt x="113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7" name="Freeform 273"/>
            <p:cNvSpPr>
              <a:spLocks/>
            </p:cNvSpPr>
            <p:nvPr/>
          </p:nvSpPr>
          <p:spPr bwMode="auto">
            <a:xfrm>
              <a:off x="2391" y="2604"/>
              <a:ext cx="146" cy="1463"/>
            </a:xfrm>
            <a:custGeom>
              <a:avLst/>
              <a:gdLst>
                <a:gd name="T0" fmla="*/ 0 w 1"/>
                <a:gd name="T1" fmla="*/ 1341 h 1341"/>
                <a:gd name="T2" fmla="*/ 0 w 1"/>
                <a:gd name="T3" fmla="*/ 0 h 1341"/>
                <a:gd name="T4" fmla="*/ 0 60000 65536"/>
                <a:gd name="T5" fmla="*/ 0 60000 65536"/>
                <a:gd name="T6" fmla="*/ 0 w 1"/>
                <a:gd name="T7" fmla="*/ 0 h 1341"/>
                <a:gd name="T8" fmla="*/ 1 w 1"/>
                <a:gd name="T9" fmla="*/ 1341 h 13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341">
                  <a:moveTo>
                    <a:pt x="0" y="134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8" name="Freeform 274"/>
            <p:cNvSpPr>
              <a:spLocks/>
            </p:cNvSpPr>
            <p:nvPr/>
          </p:nvSpPr>
          <p:spPr bwMode="auto">
            <a:xfrm>
              <a:off x="1975" y="2610"/>
              <a:ext cx="418" cy="430"/>
            </a:xfrm>
            <a:custGeom>
              <a:avLst/>
              <a:gdLst>
                <a:gd name="T0" fmla="*/ 0 w 410"/>
                <a:gd name="T1" fmla="*/ 431 h 431"/>
                <a:gd name="T2" fmla="*/ 410 w 410"/>
                <a:gd name="T3" fmla="*/ 0 h 431"/>
                <a:gd name="T4" fmla="*/ 0 60000 65536"/>
                <a:gd name="T5" fmla="*/ 0 60000 65536"/>
                <a:gd name="T6" fmla="*/ 0 w 410"/>
                <a:gd name="T7" fmla="*/ 0 h 431"/>
                <a:gd name="T8" fmla="*/ 410 w 410"/>
                <a:gd name="T9" fmla="*/ 431 h 43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10" h="431">
                  <a:moveTo>
                    <a:pt x="0" y="431"/>
                  </a:moveTo>
                  <a:lnTo>
                    <a:pt x="41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9" name="Text Box 275"/>
            <p:cNvSpPr txBox="1">
              <a:spLocks noChangeArrowheads="1"/>
            </p:cNvSpPr>
            <p:nvPr/>
          </p:nvSpPr>
          <p:spPr bwMode="auto">
            <a:xfrm>
              <a:off x="1884" y="3013"/>
              <a:ext cx="4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b</a:t>
              </a:r>
              <a:r>
                <a:rPr kumimoji="1" lang="en-US" altLang="zh-CN" sz="2400" b="1" dirty="0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51240" name="Line 276"/>
            <p:cNvSpPr>
              <a:spLocks noChangeShapeType="1"/>
            </p:cNvSpPr>
            <p:nvPr/>
          </p:nvSpPr>
          <p:spPr bwMode="auto">
            <a:xfrm>
              <a:off x="956" y="3068"/>
              <a:ext cx="130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41" name="Line 277"/>
            <p:cNvSpPr>
              <a:spLocks noChangeShapeType="1"/>
            </p:cNvSpPr>
            <p:nvPr/>
          </p:nvSpPr>
          <p:spPr bwMode="auto">
            <a:xfrm>
              <a:off x="956" y="2484"/>
              <a:ext cx="85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42" name="Freeform 278"/>
            <p:cNvSpPr>
              <a:spLocks/>
            </p:cNvSpPr>
            <p:nvPr/>
          </p:nvSpPr>
          <p:spPr bwMode="auto">
            <a:xfrm>
              <a:off x="958" y="3477"/>
              <a:ext cx="842" cy="220"/>
            </a:xfrm>
            <a:custGeom>
              <a:avLst/>
              <a:gdLst>
                <a:gd name="T0" fmla="*/ 0 w 847"/>
                <a:gd name="T1" fmla="*/ 0 h 1"/>
                <a:gd name="T2" fmla="*/ 847 w 847"/>
                <a:gd name="T3" fmla="*/ 0 h 1"/>
                <a:gd name="T4" fmla="*/ 0 60000 65536"/>
                <a:gd name="T5" fmla="*/ 0 60000 65536"/>
                <a:gd name="T6" fmla="*/ 0 w 847"/>
                <a:gd name="T7" fmla="*/ 0 h 1"/>
                <a:gd name="T8" fmla="*/ 847 w 84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47" h="1">
                  <a:moveTo>
                    <a:pt x="0" y="0"/>
                  </a:moveTo>
                  <a:lnTo>
                    <a:pt x="84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43" name="Freeform 279"/>
            <p:cNvSpPr>
              <a:spLocks/>
            </p:cNvSpPr>
            <p:nvPr/>
          </p:nvSpPr>
          <p:spPr bwMode="auto">
            <a:xfrm>
              <a:off x="959" y="3935"/>
              <a:ext cx="1296" cy="252"/>
            </a:xfrm>
            <a:custGeom>
              <a:avLst/>
              <a:gdLst>
                <a:gd name="T0" fmla="*/ 0 w 1284"/>
                <a:gd name="T1" fmla="*/ 0 h 1"/>
                <a:gd name="T2" fmla="*/ 1284 w 1284"/>
                <a:gd name="T3" fmla="*/ 0 h 1"/>
                <a:gd name="T4" fmla="*/ 0 60000 65536"/>
                <a:gd name="T5" fmla="*/ 0 60000 65536"/>
                <a:gd name="T6" fmla="*/ 0 w 1284"/>
                <a:gd name="T7" fmla="*/ 0 h 1"/>
                <a:gd name="T8" fmla="*/ 1284 w 128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84" h="1">
                  <a:moveTo>
                    <a:pt x="0" y="0"/>
                  </a:moveTo>
                  <a:lnTo>
                    <a:pt x="128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44" name="Freeform 280"/>
            <p:cNvSpPr>
              <a:spLocks/>
            </p:cNvSpPr>
            <p:nvPr/>
          </p:nvSpPr>
          <p:spPr bwMode="auto">
            <a:xfrm>
              <a:off x="2252" y="3049"/>
              <a:ext cx="77" cy="895"/>
            </a:xfrm>
            <a:custGeom>
              <a:avLst/>
              <a:gdLst>
                <a:gd name="T0" fmla="*/ 0 w 1"/>
                <a:gd name="T1" fmla="*/ 875 h 875"/>
                <a:gd name="T2" fmla="*/ 0 w 1"/>
                <a:gd name="T3" fmla="*/ 0 h 875"/>
                <a:gd name="T4" fmla="*/ 0 60000 65536"/>
                <a:gd name="T5" fmla="*/ 0 60000 65536"/>
                <a:gd name="T6" fmla="*/ 0 w 1"/>
                <a:gd name="T7" fmla="*/ 0 h 875"/>
                <a:gd name="T8" fmla="*/ 1 w 1"/>
                <a:gd name="T9" fmla="*/ 875 h 8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75">
                  <a:moveTo>
                    <a:pt x="0" y="8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45" name="Freeform 281"/>
            <p:cNvSpPr>
              <a:spLocks/>
            </p:cNvSpPr>
            <p:nvPr/>
          </p:nvSpPr>
          <p:spPr bwMode="auto">
            <a:xfrm>
              <a:off x="1803" y="2489"/>
              <a:ext cx="460" cy="587"/>
            </a:xfrm>
            <a:custGeom>
              <a:avLst/>
              <a:gdLst>
                <a:gd name="T0" fmla="*/ 0 w 452"/>
                <a:gd name="T1" fmla="*/ 0 h 578"/>
                <a:gd name="T2" fmla="*/ 452 w 452"/>
                <a:gd name="T3" fmla="*/ 578 h 578"/>
                <a:gd name="T4" fmla="*/ 0 60000 65536"/>
                <a:gd name="T5" fmla="*/ 0 60000 65536"/>
                <a:gd name="T6" fmla="*/ 0 w 452"/>
                <a:gd name="T7" fmla="*/ 0 h 578"/>
                <a:gd name="T8" fmla="*/ 452 w 452"/>
                <a:gd name="T9" fmla="*/ 578 h 5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52" h="578">
                  <a:moveTo>
                    <a:pt x="0" y="0"/>
                  </a:moveTo>
                  <a:lnTo>
                    <a:pt x="452" y="578"/>
                  </a:lnTo>
                </a:path>
              </a:pathLst>
            </a:cu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46" name="Text Box 282"/>
            <p:cNvSpPr txBox="1">
              <a:spLocks noChangeArrowheads="1"/>
            </p:cNvSpPr>
            <p:nvPr/>
          </p:nvSpPr>
          <p:spPr bwMode="auto">
            <a:xfrm>
              <a:off x="2176" y="2949"/>
              <a:ext cx="38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51247" name="Text Box 283"/>
            <p:cNvSpPr txBox="1">
              <a:spLocks noChangeArrowheads="1"/>
            </p:cNvSpPr>
            <p:nvPr/>
          </p:nvSpPr>
          <p:spPr bwMode="auto">
            <a:xfrm>
              <a:off x="1706" y="2290"/>
              <a:ext cx="41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51248" name="Text Box 284"/>
            <p:cNvSpPr txBox="1">
              <a:spLocks noChangeArrowheads="1"/>
            </p:cNvSpPr>
            <p:nvPr/>
          </p:nvSpPr>
          <p:spPr bwMode="auto">
            <a:xfrm>
              <a:off x="2345" y="2530"/>
              <a:ext cx="2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51249" name="Line 285"/>
            <p:cNvSpPr>
              <a:spLocks noChangeShapeType="1"/>
            </p:cNvSpPr>
            <p:nvPr/>
          </p:nvSpPr>
          <p:spPr bwMode="auto">
            <a:xfrm>
              <a:off x="1631" y="3314"/>
              <a:ext cx="843" cy="84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312"/>
          <p:cNvGrpSpPr>
            <a:grpSpLocks/>
          </p:cNvGrpSpPr>
          <p:nvPr/>
        </p:nvGrpSpPr>
        <p:grpSpPr bwMode="auto">
          <a:xfrm>
            <a:off x="6240016" y="1737594"/>
            <a:ext cx="3586162" cy="3203575"/>
            <a:chOff x="321" y="379"/>
            <a:chExt cx="2259" cy="2018"/>
          </a:xfrm>
        </p:grpSpPr>
        <p:sp>
          <p:nvSpPr>
            <p:cNvPr id="51211" name="Text Box 88"/>
            <p:cNvSpPr txBox="1">
              <a:spLocks noChangeArrowheads="1"/>
            </p:cNvSpPr>
            <p:nvPr/>
          </p:nvSpPr>
          <p:spPr bwMode="auto">
            <a:xfrm>
              <a:off x="330" y="379"/>
              <a:ext cx="37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800" b="1">
                  <a:latin typeface="Times New Roman" pitchFamily="18" charset="0"/>
                </a:rPr>
                <a:t>①</a:t>
              </a:r>
            </a:p>
          </p:txBody>
        </p:sp>
        <p:sp>
          <p:nvSpPr>
            <p:cNvPr id="51212" name="Line 309"/>
            <p:cNvSpPr>
              <a:spLocks noChangeShapeType="1"/>
            </p:cNvSpPr>
            <p:nvPr/>
          </p:nvSpPr>
          <p:spPr bwMode="auto">
            <a:xfrm flipV="1">
              <a:off x="1021" y="680"/>
              <a:ext cx="0" cy="14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13" name="Line 299"/>
            <p:cNvSpPr>
              <a:spLocks noChangeShapeType="1"/>
            </p:cNvSpPr>
            <p:nvPr/>
          </p:nvSpPr>
          <p:spPr bwMode="auto">
            <a:xfrm flipV="1">
              <a:off x="1361" y="869"/>
              <a:ext cx="0" cy="13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14" name="Freeform 292"/>
            <p:cNvSpPr>
              <a:spLocks/>
            </p:cNvSpPr>
            <p:nvPr/>
          </p:nvSpPr>
          <p:spPr bwMode="auto">
            <a:xfrm>
              <a:off x="869" y="1695"/>
              <a:ext cx="496" cy="492"/>
            </a:xfrm>
            <a:custGeom>
              <a:avLst/>
              <a:gdLst>
                <a:gd name="T0" fmla="*/ 0 w 485"/>
                <a:gd name="T1" fmla="*/ 0 h 486"/>
                <a:gd name="T2" fmla="*/ 485 w 485"/>
                <a:gd name="T3" fmla="*/ 486 h 486"/>
                <a:gd name="T4" fmla="*/ 0 60000 65536"/>
                <a:gd name="T5" fmla="*/ 0 60000 65536"/>
                <a:gd name="T6" fmla="*/ 0 w 485"/>
                <a:gd name="T7" fmla="*/ 0 h 486"/>
                <a:gd name="T8" fmla="*/ 485 w 485"/>
                <a:gd name="T9" fmla="*/ 486 h 4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5" h="486">
                  <a:moveTo>
                    <a:pt x="0" y="0"/>
                  </a:moveTo>
                  <a:lnTo>
                    <a:pt x="485" y="486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15" name="Line 293"/>
            <p:cNvSpPr>
              <a:spLocks noChangeShapeType="1"/>
            </p:cNvSpPr>
            <p:nvPr/>
          </p:nvSpPr>
          <p:spPr bwMode="auto">
            <a:xfrm>
              <a:off x="330" y="1441"/>
              <a:ext cx="22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16" name="Line 294"/>
            <p:cNvSpPr>
              <a:spLocks noChangeShapeType="1"/>
            </p:cNvSpPr>
            <p:nvPr/>
          </p:nvSpPr>
          <p:spPr bwMode="auto">
            <a:xfrm flipV="1">
              <a:off x="531" y="667"/>
              <a:ext cx="492" cy="49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17" name="Freeform 295"/>
            <p:cNvSpPr>
              <a:spLocks/>
            </p:cNvSpPr>
            <p:nvPr/>
          </p:nvSpPr>
          <p:spPr bwMode="auto">
            <a:xfrm>
              <a:off x="871" y="878"/>
              <a:ext cx="494" cy="496"/>
            </a:xfrm>
            <a:custGeom>
              <a:avLst/>
              <a:gdLst>
                <a:gd name="T0" fmla="*/ 0 w 487"/>
                <a:gd name="T1" fmla="*/ 702 h 477"/>
                <a:gd name="T2" fmla="*/ 595 w 487"/>
                <a:gd name="T3" fmla="*/ 0 h 477"/>
                <a:gd name="T4" fmla="*/ 0 60000 65536"/>
                <a:gd name="T5" fmla="*/ 0 60000 65536"/>
                <a:gd name="T6" fmla="*/ 0 w 487"/>
                <a:gd name="T7" fmla="*/ 0 h 477"/>
                <a:gd name="T8" fmla="*/ 487 w 487"/>
                <a:gd name="T9" fmla="*/ 477 h 4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7" h="477">
                  <a:moveTo>
                    <a:pt x="0" y="477"/>
                  </a:moveTo>
                  <a:lnTo>
                    <a:pt x="487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18" name="Line 296"/>
            <p:cNvSpPr>
              <a:spLocks noChangeShapeType="1"/>
            </p:cNvSpPr>
            <p:nvPr/>
          </p:nvSpPr>
          <p:spPr bwMode="auto">
            <a:xfrm>
              <a:off x="531" y="1159"/>
              <a:ext cx="0" cy="4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19" name="Line 297"/>
            <p:cNvSpPr>
              <a:spLocks noChangeShapeType="1"/>
            </p:cNvSpPr>
            <p:nvPr/>
          </p:nvSpPr>
          <p:spPr bwMode="auto">
            <a:xfrm>
              <a:off x="869" y="1364"/>
              <a:ext cx="0" cy="3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20" name="Line 298"/>
            <p:cNvSpPr>
              <a:spLocks noChangeShapeType="1"/>
            </p:cNvSpPr>
            <p:nvPr/>
          </p:nvSpPr>
          <p:spPr bwMode="auto">
            <a:xfrm>
              <a:off x="522" y="1632"/>
              <a:ext cx="500" cy="49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21" name="Text Box 300"/>
            <p:cNvSpPr txBox="1">
              <a:spLocks noChangeArrowheads="1"/>
            </p:cNvSpPr>
            <p:nvPr/>
          </p:nvSpPr>
          <p:spPr bwMode="auto">
            <a:xfrm>
              <a:off x="321" y="1536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51222" name="Text Box 301"/>
            <p:cNvSpPr txBox="1">
              <a:spLocks noChangeArrowheads="1"/>
            </p:cNvSpPr>
            <p:nvPr/>
          </p:nvSpPr>
          <p:spPr bwMode="auto">
            <a:xfrm>
              <a:off x="987" y="2071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51223" name="Text Box 302"/>
            <p:cNvSpPr txBox="1">
              <a:spLocks noChangeArrowheads="1"/>
            </p:cNvSpPr>
            <p:nvPr/>
          </p:nvSpPr>
          <p:spPr bwMode="auto">
            <a:xfrm>
              <a:off x="688" y="1608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000">
                <a:latin typeface="Times New Roman" pitchFamily="18" charset="0"/>
              </a:endParaRPr>
            </a:p>
          </p:txBody>
        </p:sp>
        <p:sp>
          <p:nvSpPr>
            <p:cNvPr id="51224" name="Text Box 303"/>
            <p:cNvSpPr txBox="1">
              <a:spLocks noChangeArrowheads="1"/>
            </p:cNvSpPr>
            <p:nvPr/>
          </p:nvSpPr>
          <p:spPr bwMode="auto">
            <a:xfrm>
              <a:off x="1294" y="2109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000">
                <a:latin typeface="Times New Roman" pitchFamily="18" charset="0"/>
              </a:endParaRPr>
            </a:p>
          </p:txBody>
        </p:sp>
        <p:sp>
          <p:nvSpPr>
            <p:cNvPr id="51225" name="Text Box 304"/>
            <p:cNvSpPr txBox="1">
              <a:spLocks noChangeArrowheads="1"/>
            </p:cNvSpPr>
            <p:nvPr/>
          </p:nvSpPr>
          <p:spPr bwMode="auto">
            <a:xfrm>
              <a:off x="686" y="1164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Italic" pitchFamily="2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1226" name="Text Box 305"/>
            <p:cNvSpPr txBox="1">
              <a:spLocks noChangeArrowheads="1"/>
            </p:cNvSpPr>
            <p:nvPr/>
          </p:nvSpPr>
          <p:spPr bwMode="auto">
            <a:xfrm>
              <a:off x="324" y="974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1227" name="Text Box 306"/>
            <p:cNvSpPr txBox="1">
              <a:spLocks noChangeArrowheads="1"/>
            </p:cNvSpPr>
            <p:nvPr/>
          </p:nvSpPr>
          <p:spPr bwMode="auto">
            <a:xfrm>
              <a:off x="841" y="447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1228" name="Text Box 307"/>
            <p:cNvSpPr txBox="1">
              <a:spLocks noChangeArrowheads="1"/>
            </p:cNvSpPr>
            <p:nvPr/>
          </p:nvSpPr>
          <p:spPr bwMode="auto">
            <a:xfrm>
              <a:off x="1158" y="638"/>
              <a:ext cx="3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1229" name="Line 308"/>
            <p:cNvSpPr>
              <a:spLocks noChangeShapeType="1"/>
            </p:cNvSpPr>
            <p:nvPr/>
          </p:nvSpPr>
          <p:spPr bwMode="auto">
            <a:xfrm>
              <a:off x="1666" y="562"/>
              <a:ext cx="0" cy="17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5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"/>
                                        <p:tgtEl>
                                          <p:spTgt spid="2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28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53" grpId="0" autoUpdateAnimBg="0"/>
      <p:bldP spid="28754" grpId="0" build="p" autoUpdateAnimBg="0"/>
      <p:bldP spid="28833" grpId="0" build="p" autoUpdateAnimBg="0"/>
      <p:bldP spid="2883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11"/>
          <p:cNvSpPr>
            <a:spLocks noChangeArrowheads="1"/>
          </p:cNvSpPr>
          <p:nvPr/>
        </p:nvSpPr>
        <p:spPr bwMode="auto">
          <a:xfrm>
            <a:off x="2625724" y="1814065"/>
            <a:ext cx="3285307" cy="2364584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27" name="Text Box 89"/>
          <p:cNvSpPr txBox="1">
            <a:spLocks noChangeArrowheads="1"/>
          </p:cNvSpPr>
          <p:nvPr/>
        </p:nvSpPr>
        <p:spPr bwMode="auto">
          <a:xfrm>
            <a:off x="856617" y="1254383"/>
            <a:ext cx="2529860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⒉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两直线相交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29789" name="Text Box 93"/>
          <p:cNvSpPr txBox="1">
            <a:spLocks noChangeArrowheads="1"/>
          </p:cNvSpPr>
          <p:nvPr/>
        </p:nvSpPr>
        <p:spPr bwMode="auto">
          <a:xfrm>
            <a:off x="2154238" y="5766356"/>
            <a:ext cx="76835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若空间两直线相交，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则其同名投影必相交，且交点的投影必符合空间一点的投影特性</a:t>
            </a:r>
            <a:r>
              <a:rPr kumimoji="1" lang="zh-CN" altLang="en-US" sz="2400" b="1" dirty="0">
                <a:solidFill>
                  <a:srgbClr val="FF0066"/>
                </a:solidFill>
                <a:latin typeface="宋体" pitchFamily="2" charset="-122"/>
              </a:rPr>
              <a:t>。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29802" name="AutoShape 106"/>
          <p:cNvSpPr>
            <a:spLocks noChangeArrowheads="1"/>
          </p:cNvSpPr>
          <p:nvPr/>
        </p:nvSpPr>
        <p:spPr bwMode="auto">
          <a:xfrm>
            <a:off x="7232650" y="990243"/>
            <a:ext cx="3068638" cy="1452384"/>
          </a:xfrm>
          <a:prstGeom prst="cloudCallout">
            <a:avLst>
              <a:gd name="adj1" fmla="val -5302"/>
              <a:gd name="adj2" fmla="val 100339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交点是两直线的共有点</a:t>
            </a:r>
          </a:p>
        </p:txBody>
      </p:sp>
      <p:sp>
        <p:nvSpPr>
          <p:cNvPr id="52230" name="AutoShape 110"/>
          <p:cNvSpPr>
            <a:spLocks noChangeArrowheads="1"/>
          </p:cNvSpPr>
          <p:nvPr/>
        </p:nvSpPr>
        <p:spPr bwMode="auto">
          <a:xfrm flipH="1">
            <a:off x="2625725" y="4162772"/>
            <a:ext cx="4394200" cy="1283496"/>
          </a:xfrm>
          <a:prstGeom prst="parallelogram">
            <a:avLst>
              <a:gd name="adj" fmla="val 87409"/>
            </a:avLst>
          </a:prstGeom>
          <a:solidFill>
            <a:srgbClr val="66FF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31" name="Line 112"/>
          <p:cNvSpPr>
            <a:spLocks noChangeShapeType="1"/>
          </p:cNvSpPr>
          <p:nvPr/>
        </p:nvSpPr>
        <p:spPr bwMode="auto">
          <a:xfrm flipV="1">
            <a:off x="3798889" y="4570759"/>
            <a:ext cx="1335087" cy="2936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32" name="Line 113"/>
          <p:cNvSpPr>
            <a:spLocks noChangeShapeType="1"/>
          </p:cNvSpPr>
          <p:nvPr/>
        </p:nvSpPr>
        <p:spPr bwMode="auto">
          <a:xfrm>
            <a:off x="3633788" y="4559648"/>
            <a:ext cx="2005012" cy="257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33" name="Line 114"/>
          <p:cNvSpPr>
            <a:spLocks noChangeShapeType="1"/>
          </p:cNvSpPr>
          <p:nvPr/>
        </p:nvSpPr>
        <p:spPr bwMode="auto">
          <a:xfrm flipV="1">
            <a:off x="3657600" y="3070572"/>
            <a:ext cx="1981200" cy="4810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34" name="Line 115"/>
          <p:cNvSpPr>
            <a:spLocks noChangeShapeType="1"/>
          </p:cNvSpPr>
          <p:nvPr/>
        </p:nvSpPr>
        <p:spPr bwMode="auto">
          <a:xfrm>
            <a:off x="3786189" y="3105498"/>
            <a:ext cx="1336675" cy="37623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35" name="Line 116"/>
          <p:cNvSpPr>
            <a:spLocks noChangeShapeType="1"/>
          </p:cNvSpPr>
          <p:nvPr/>
        </p:nvSpPr>
        <p:spPr bwMode="auto">
          <a:xfrm>
            <a:off x="3071814" y="2402234"/>
            <a:ext cx="1639887" cy="6683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36" name="Line 117"/>
          <p:cNvSpPr>
            <a:spLocks noChangeShapeType="1"/>
          </p:cNvSpPr>
          <p:nvPr/>
        </p:nvSpPr>
        <p:spPr bwMode="auto">
          <a:xfrm flipV="1">
            <a:off x="3236913" y="2413347"/>
            <a:ext cx="1733550" cy="7159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37" name="Line 118"/>
          <p:cNvSpPr>
            <a:spLocks noChangeShapeType="1"/>
          </p:cNvSpPr>
          <p:nvPr/>
        </p:nvSpPr>
        <p:spPr bwMode="auto">
          <a:xfrm>
            <a:off x="4043364" y="2789584"/>
            <a:ext cx="541337" cy="539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38" name="Line 119"/>
          <p:cNvSpPr>
            <a:spLocks noChangeShapeType="1"/>
          </p:cNvSpPr>
          <p:nvPr/>
        </p:nvSpPr>
        <p:spPr bwMode="auto">
          <a:xfrm>
            <a:off x="4711700" y="3057872"/>
            <a:ext cx="387350" cy="387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39" name="Line 120"/>
          <p:cNvSpPr>
            <a:spLocks noChangeShapeType="1"/>
          </p:cNvSpPr>
          <p:nvPr/>
        </p:nvSpPr>
        <p:spPr bwMode="auto">
          <a:xfrm>
            <a:off x="4981575" y="4161185"/>
            <a:ext cx="247650" cy="246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0" name="Line 121"/>
          <p:cNvSpPr>
            <a:spLocks noChangeShapeType="1"/>
          </p:cNvSpPr>
          <p:nvPr/>
        </p:nvSpPr>
        <p:spPr bwMode="auto">
          <a:xfrm>
            <a:off x="5392738" y="4581872"/>
            <a:ext cx="246062" cy="247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1" name="Line 122"/>
          <p:cNvSpPr>
            <a:spLocks noChangeShapeType="1"/>
          </p:cNvSpPr>
          <p:nvPr/>
        </p:nvSpPr>
        <p:spPr bwMode="auto">
          <a:xfrm>
            <a:off x="4981575" y="2426048"/>
            <a:ext cx="0" cy="1735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2" name="Line 124"/>
          <p:cNvSpPr>
            <a:spLocks noChangeShapeType="1"/>
          </p:cNvSpPr>
          <p:nvPr/>
        </p:nvSpPr>
        <p:spPr bwMode="auto">
          <a:xfrm>
            <a:off x="5638800" y="3081684"/>
            <a:ext cx="0" cy="1735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3" name="Line 125"/>
          <p:cNvSpPr>
            <a:spLocks noChangeShapeType="1"/>
          </p:cNvSpPr>
          <p:nvPr/>
        </p:nvSpPr>
        <p:spPr bwMode="auto">
          <a:xfrm>
            <a:off x="5133975" y="3481735"/>
            <a:ext cx="0" cy="10779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4" name="Line 126"/>
          <p:cNvSpPr>
            <a:spLocks noChangeShapeType="1"/>
          </p:cNvSpPr>
          <p:nvPr/>
        </p:nvSpPr>
        <p:spPr bwMode="auto">
          <a:xfrm>
            <a:off x="4711700" y="4161185"/>
            <a:ext cx="400050" cy="3984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5" name="Line 127"/>
          <p:cNvSpPr>
            <a:spLocks noChangeShapeType="1"/>
          </p:cNvSpPr>
          <p:nvPr/>
        </p:nvSpPr>
        <p:spPr bwMode="auto">
          <a:xfrm>
            <a:off x="4711700" y="3046759"/>
            <a:ext cx="0" cy="11255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6" name="Line 128"/>
          <p:cNvSpPr>
            <a:spLocks noChangeShapeType="1"/>
          </p:cNvSpPr>
          <p:nvPr/>
        </p:nvSpPr>
        <p:spPr bwMode="auto">
          <a:xfrm>
            <a:off x="4606925" y="3340448"/>
            <a:ext cx="0" cy="1336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7" name="Line 129"/>
          <p:cNvSpPr>
            <a:spLocks noChangeShapeType="1"/>
          </p:cNvSpPr>
          <p:nvPr/>
        </p:nvSpPr>
        <p:spPr bwMode="auto">
          <a:xfrm>
            <a:off x="3095626" y="2402235"/>
            <a:ext cx="703263" cy="703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8" name="Line 130"/>
          <p:cNvSpPr>
            <a:spLocks noChangeShapeType="1"/>
          </p:cNvSpPr>
          <p:nvPr/>
        </p:nvSpPr>
        <p:spPr bwMode="auto">
          <a:xfrm>
            <a:off x="3798888" y="3094384"/>
            <a:ext cx="0" cy="1193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49" name="Line 131"/>
          <p:cNvSpPr>
            <a:spLocks noChangeShapeType="1"/>
          </p:cNvSpPr>
          <p:nvPr/>
        </p:nvSpPr>
        <p:spPr bwMode="auto">
          <a:xfrm>
            <a:off x="3798888" y="4535835"/>
            <a:ext cx="0" cy="3286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50" name="Line 132"/>
          <p:cNvSpPr>
            <a:spLocks noChangeShapeType="1"/>
          </p:cNvSpPr>
          <p:nvPr/>
        </p:nvSpPr>
        <p:spPr bwMode="auto">
          <a:xfrm>
            <a:off x="3657600" y="3551585"/>
            <a:ext cx="0" cy="1008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51" name="Line 133"/>
          <p:cNvSpPr>
            <a:spLocks noChangeShapeType="1"/>
          </p:cNvSpPr>
          <p:nvPr/>
        </p:nvSpPr>
        <p:spPr bwMode="auto">
          <a:xfrm>
            <a:off x="3236914" y="3116610"/>
            <a:ext cx="422275" cy="423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52" name="Line 134"/>
          <p:cNvSpPr>
            <a:spLocks noChangeShapeType="1"/>
          </p:cNvSpPr>
          <p:nvPr/>
        </p:nvSpPr>
        <p:spPr bwMode="auto">
          <a:xfrm>
            <a:off x="3236914" y="4161185"/>
            <a:ext cx="409575" cy="409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53" name="Line 135"/>
          <p:cNvSpPr>
            <a:spLocks noChangeShapeType="1"/>
          </p:cNvSpPr>
          <p:nvPr/>
        </p:nvSpPr>
        <p:spPr bwMode="auto">
          <a:xfrm>
            <a:off x="3246438" y="3116610"/>
            <a:ext cx="0" cy="10445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54" name="Line 136"/>
          <p:cNvSpPr>
            <a:spLocks noChangeShapeType="1"/>
          </p:cNvSpPr>
          <p:nvPr/>
        </p:nvSpPr>
        <p:spPr bwMode="auto">
          <a:xfrm>
            <a:off x="3082926" y="4150072"/>
            <a:ext cx="703263" cy="703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55" name="Line 137"/>
          <p:cNvSpPr>
            <a:spLocks noChangeShapeType="1"/>
          </p:cNvSpPr>
          <p:nvPr/>
        </p:nvSpPr>
        <p:spPr bwMode="auto">
          <a:xfrm>
            <a:off x="3095625" y="2402235"/>
            <a:ext cx="0" cy="1770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52256" name="Rectangle 138"/>
          <p:cNvSpPr>
            <a:spLocks noChangeArrowheads="1"/>
          </p:cNvSpPr>
          <p:nvPr/>
        </p:nvSpPr>
        <p:spPr bwMode="auto">
          <a:xfrm>
            <a:off x="3152438" y="2683222"/>
            <a:ext cx="2340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a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57" name="Rectangle 139"/>
          <p:cNvSpPr>
            <a:spLocks noChangeArrowheads="1"/>
          </p:cNvSpPr>
          <p:nvPr/>
        </p:nvSpPr>
        <p:spPr bwMode="auto">
          <a:xfrm>
            <a:off x="2962084" y="2067272"/>
            <a:ext cx="2035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c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52258" name="Rectangle 140"/>
          <p:cNvSpPr>
            <a:spLocks noChangeArrowheads="1"/>
          </p:cNvSpPr>
          <p:nvPr/>
        </p:nvSpPr>
        <p:spPr bwMode="auto">
          <a:xfrm>
            <a:off x="2682916" y="2162522"/>
            <a:ext cx="1554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</a:rPr>
              <a:t>V</a:t>
            </a:r>
            <a:endParaRPr kumimoji="1" lang="en-US" altLang="zh-CN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59" name="Rectangle 141"/>
          <p:cNvSpPr>
            <a:spLocks noChangeArrowheads="1"/>
          </p:cNvSpPr>
          <p:nvPr/>
        </p:nvSpPr>
        <p:spPr bwMode="auto">
          <a:xfrm>
            <a:off x="2406691" y="3983384"/>
            <a:ext cx="1554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</a:rPr>
              <a:t>X</a:t>
            </a:r>
            <a:endParaRPr kumimoji="1" lang="en-US" altLang="zh-CN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60" name="Rectangle 142"/>
          <p:cNvSpPr>
            <a:spLocks noChangeArrowheads="1"/>
          </p:cNvSpPr>
          <p:nvPr/>
        </p:nvSpPr>
        <p:spPr bwMode="auto">
          <a:xfrm>
            <a:off x="4856620" y="2005359"/>
            <a:ext cx="2340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b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52261" name="Rectangle 143"/>
          <p:cNvSpPr>
            <a:spLocks noChangeArrowheads="1"/>
          </p:cNvSpPr>
          <p:nvPr/>
        </p:nvSpPr>
        <p:spPr bwMode="auto">
          <a:xfrm>
            <a:off x="6319879" y="5131147"/>
            <a:ext cx="1554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</a:rPr>
              <a:t>H</a:t>
            </a:r>
            <a:endParaRPr kumimoji="1" lang="en-US" altLang="zh-CN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62" name="Rectangle 144"/>
          <p:cNvSpPr>
            <a:spLocks noChangeArrowheads="1"/>
          </p:cNvSpPr>
          <p:nvPr/>
        </p:nvSpPr>
        <p:spPr bwMode="auto">
          <a:xfrm>
            <a:off x="5222730" y="3195984"/>
            <a:ext cx="19396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b="1" i="1">
                <a:solidFill>
                  <a:srgbClr val="000000"/>
                </a:solidFill>
                <a:latin typeface="Dutch801 Rm BT" pitchFamily="18" charset="0"/>
              </a:rPr>
              <a:t>D</a:t>
            </a:r>
            <a:endParaRPr kumimoji="1" lang="en-US" altLang="zh-CN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63" name="Rectangle 145"/>
          <p:cNvSpPr>
            <a:spLocks noChangeArrowheads="1"/>
          </p:cNvSpPr>
          <p:nvPr/>
        </p:nvSpPr>
        <p:spPr bwMode="auto">
          <a:xfrm>
            <a:off x="3689377" y="4210397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a</a:t>
            </a:r>
            <a:endParaRPr kumimoji="1" lang="en-US" altLang="zh-CN" sz="24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64" name="Rectangle 146"/>
          <p:cNvSpPr>
            <a:spLocks noChangeArrowheads="1"/>
          </p:cNvSpPr>
          <p:nvPr/>
        </p:nvSpPr>
        <p:spPr bwMode="auto">
          <a:xfrm>
            <a:off x="3787949" y="4753322"/>
            <a:ext cx="1282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c</a:t>
            </a:r>
            <a:endParaRPr kumimoji="1" lang="en-US" altLang="zh-CN" sz="24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65" name="Rectangle 147"/>
          <p:cNvSpPr>
            <a:spLocks noChangeArrowheads="1"/>
          </p:cNvSpPr>
          <p:nvPr/>
        </p:nvSpPr>
        <p:spPr bwMode="auto">
          <a:xfrm>
            <a:off x="5203057" y="4342159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d</a:t>
            </a:r>
            <a:endParaRPr kumimoji="1" lang="en-US" altLang="zh-CN" sz="24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66" name="Rectangle 148"/>
          <p:cNvSpPr>
            <a:spLocks noChangeArrowheads="1"/>
          </p:cNvSpPr>
          <p:nvPr/>
        </p:nvSpPr>
        <p:spPr bwMode="auto">
          <a:xfrm>
            <a:off x="4569739" y="4661247"/>
            <a:ext cx="13946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k</a:t>
            </a:r>
            <a:endParaRPr kumimoji="1" lang="en-US" altLang="zh-CN" sz="24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67" name="Rectangle 149"/>
          <p:cNvSpPr>
            <a:spLocks noChangeArrowheads="1"/>
          </p:cNvSpPr>
          <p:nvPr/>
        </p:nvSpPr>
        <p:spPr bwMode="auto">
          <a:xfrm>
            <a:off x="3556812" y="3054697"/>
            <a:ext cx="1603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b="1" i="1">
                <a:solidFill>
                  <a:srgbClr val="000000"/>
                </a:solidFill>
                <a:latin typeface="Dutch801 Rm BT" pitchFamily="18" charset="0"/>
              </a:rPr>
              <a:t>C</a:t>
            </a:r>
            <a:endParaRPr kumimoji="1" lang="en-US" altLang="zh-CN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68" name="Rectangle 150"/>
          <p:cNvSpPr>
            <a:spLocks noChangeArrowheads="1"/>
          </p:cNvSpPr>
          <p:nvPr/>
        </p:nvSpPr>
        <p:spPr bwMode="auto">
          <a:xfrm>
            <a:off x="3442389" y="3435697"/>
            <a:ext cx="18594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b="1" i="1">
                <a:solidFill>
                  <a:srgbClr val="000000"/>
                </a:solidFill>
                <a:latin typeface="Dutch801 Rm BT" pitchFamily="18" charset="0"/>
              </a:rPr>
              <a:t>A</a:t>
            </a:r>
            <a:endParaRPr kumimoji="1" lang="en-US" altLang="zh-CN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69" name="Rectangle 151"/>
          <p:cNvSpPr>
            <a:spLocks noChangeArrowheads="1"/>
          </p:cNvSpPr>
          <p:nvPr/>
        </p:nvSpPr>
        <p:spPr bwMode="auto">
          <a:xfrm>
            <a:off x="4013749" y="2351434"/>
            <a:ext cx="214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k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52270" name="Rectangle 152"/>
          <p:cNvSpPr>
            <a:spLocks noChangeArrowheads="1"/>
          </p:cNvSpPr>
          <p:nvPr/>
        </p:nvSpPr>
        <p:spPr bwMode="auto">
          <a:xfrm>
            <a:off x="4376717" y="3315047"/>
            <a:ext cx="168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b="1" i="1">
                <a:solidFill>
                  <a:srgbClr val="000000"/>
                </a:solidFill>
                <a:latin typeface="Dutch801 Rm BT" pitchFamily="18" charset="0"/>
              </a:rPr>
              <a:t>K</a:t>
            </a:r>
            <a:endParaRPr kumimoji="1" lang="en-US" altLang="zh-CN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71" name="Rectangle 153"/>
          <p:cNvSpPr>
            <a:spLocks noChangeArrowheads="1"/>
          </p:cNvSpPr>
          <p:nvPr/>
        </p:nvSpPr>
        <p:spPr bwMode="auto">
          <a:xfrm>
            <a:off x="4650244" y="2692747"/>
            <a:ext cx="2340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d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72" name="Rectangle 154"/>
          <p:cNvSpPr>
            <a:spLocks noChangeArrowheads="1"/>
          </p:cNvSpPr>
          <p:nvPr/>
        </p:nvSpPr>
        <p:spPr bwMode="auto">
          <a:xfrm>
            <a:off x="5752333" y="4670772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b</a:t>
            </a:r>
            <a:endParaRPr kumimoji="1" lang="en-US" altLang="zh-CN" sz="2400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73" name="Rectangle 155"/>
          <p:cNvSpPr>
            <a:spLocks noChangeArrowheads="1"/>
          </p:cNvSpPr>
          <p:nvPr/>
        </p:nvSpPr>
        <p:spPr bwMode="auto">
          <a:xfrm>
            <a:off x="5310229" y="3840509"/>
            <a:ext cx="1554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</a:rPr>
              <a:t>O</a:t>
            </a:r>
            <a:endParaRPr kumimoji="1" lang="en-US" altLang="zh-CN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74" name="Rectangle 156"/>
          <p:cNvSpPr>
            <a:spLocks noChangeArrowheads="1"/>
          </p:cNvSpPr>
          <p:nvPr/>
        </p:nvSpPr>
        <p:spPr bwMode="auto">
          <a:xfrm>
            <a:off x="5697494" y="2948334"/>
            <a:ext cx="1731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b="1" i="1">
                <a:solidFill>
                  <a:srgbClr val="000000"/>
                </a:solidFill>
                <a:latin typeface="Dutch801 Rm BT" pitchFamily="18" charset="0"/>
              </a:rPr>
              <a:t>B</a:t>
            </a:r>
            <a:endParaRPr kumimoji="1" lang="en-US" altLang="zh-CN" sz="24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52275" name="Line 157"/>
          <p:cNvSpPr>
            <a:spLocks noChangeShapeType="1"/>
          </p:cNvSpPr>
          <p:nvPr/>
        </p:nvSpPr>
        <p:spPr bwMode="auto">
          <a:xfrm flipH="1" flipV="1">
            <a:off x="4960939" y="2419698"/>
            <a:ext cx="663575" cy="663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82"/>
          <p:cNvGrpSpPr>
            <a:grpSpLocks/>
          </p:cNvGrpSpPr>
          <p:nvPr/>
        </p:nvGrpSpPr>
        <p:grpSpPr bwMode="auto">
          <a:xfrm>
            <a:off x="7378699" y="2611784"/>
            <a:ext cx="2587624" cy="3265488"/>
            <a:chOff x="3688" y="968"/>
            <a:chExt cx="1630" cy="2057"/>
          </a:xfrm>
        </p:grpSpPr>
        <p:sp>
          <p:nvSpPr>
            <p:cNvPr id="52277" name="Text Box 80"/>
            <p:cNvSpPr txBox="1">
              <a:spLocks noChangeArrowheads="1"/>
            </p:cNvSpPr>
            <p:nvPr/>
          </p:nvSpPr>
          <p:spPr bwMode="auto">
            <a:xfrm>
              <a:off x="3945" y="2737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2278" name="Line 77"/>
            <p:cNvSpPr>
              <a:spLocks noChangeShapeType="1"/>
            </p:cNvSpPr>
            <p:nvPr/>
          </p:nvSpPr>
          <p:spPr bwMode="auto">
            <a:xfrm flipV="1">
              <a:off x="5077" y="1141"/>
              <a:ext cx="0" cy="17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79" name="Line 159"/>
            <p:cNvSpPr>
              <a:spLocks noChangeShapeType="1"/>
            </p:cNvSpPr>
            <p:nvPr/>
          </p:nvSpPr>
          <p:spPr bwMode="auto">
            <a:xfrm>
              <a:off x="4433" y="1510"/>
              <a:ext cx="0" cy="12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0" name="Line 162"/>
            <p:cNvSpPr>
              <a:spLocks noChangeShapeType="1"/>
            </p:cNvSpPr>
            <p:nvPr/>
          </p:nvSpPr>
          <p:spPr bwMode="auto">
            <a:xfrm>
              <a:off x="4112" y="2663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1" name="Line 163"/>
            <p:cNvSpPr>
              <a:spLocks noChangeShapeType="1"/>
            </p:cNvSpPr>
            <p:nvPr/>
          </p:nvSpPr>
          <p:spPr bwMode="auto">
            <a:xfrm>
              <a:off x="3694" y="2102"/>
              <a:ext cx="157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2" name="Line 164"/>
            <p:cNvSpPr>
              <a:spLocks noChangeShapeType="1"/>
            </p:cNvSpPr>
            <p:nvPr/>
          </p:nvSpPr>
          <p:spPr bwMode="auto">
            <a:xfrm flipV="1">
              <a:off x="3880" y="1123"/>
              <a:ext cx="1197" cy="69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3" name="Line 165"/>
            <p:cNvSpPr>
              <a:spLocks noChangeShapeType="1"/>
            </p:cNvSpPr>
            <p:nvPr/>
          </p:nvSpPr>
          <p:spPr bwMode="auto">
            <a:xfrm>
              <a:off x="4112" y="1328"/>
              <a:ext cx="745" cy="43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4" name="Line 166"/>
            <p:cNvSpPr>
              <a:spLocks noChangeShapeType="1"/>
            </p:cNvSpPr>
            <p:nvPr/>
          </p:nvSpPr>
          <p:spPr bwMode="auto">
            <a:xfrm>
              <a:off x="4112" y="1348"/>
              <a:ext cx="0" cy="15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5" name="Line 167"/>
            <p:cNvSpPr>
              <a:spLocks noChangeShapeType="1"/>
            </p:cNvSpPr>
            <p:nvPr/>
          </p:nvSpPr>
          <p:spPr bwMode="auto">
            <a:xfrm>
              <a:off x="4857" y="1758"/>
              <a:ext cx="0" cy="75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6" name="Line 168"/>
            <p:cNvSpPr>
              <a:spLocks noChangeShapeType="1"/>
            </p:cNvSpPr>
            <p:nvPr/>
          </p:nvSpPr>
          <p:spPr bwMode="auto">
            <a:xfrm flipH="1">
              <a:off x="4112" y="2515"/>
              <a:ext cx="745" cy="35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7" name="Line 169"/>
            <p:cNvSpPr>
              <a:spLocks noChangeShapeType="1"/>
            </p:cNvSpPr>
            <p:nvPr/>
          </p:nvSpPr>
          <p:spPr bwMode="auto">
            <a:xfrm>
              <a:off x="3880" y="1814"/>
              <a:ext cx="0" cy="7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8" name="Line 170"/>
            <p:cNvSpPr>
              <a:spLocks noChangeShapeType="1"/>
            </p:cNvSpPr>
            <p:nvPr/>
          </p:nvSpPr>
          <p:spPr bwMode="auto">
            <a:xfrm>
              <a:off x="3880" y="2592"/>
              <a:ext cx="1197" cy="2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289" name="Text Box 171"/>
            <p:cNvSpPr txBox="1">
              <a:spLocks noChangeArrowheads="1"/>
            </p:cNvSpPr>
            <p:nvPr/>
          </p:nvSpPr>
          <p:spPr bwMode="auto">
            <a:xfrm>
              <a:off x="3688" y="2416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2290" name="Text Box 172"/>
            <p:cNvSpPr txBox="1">
              <a:spLocks noChangeArrowheads="1"/>
            </p:cNvSpPr>
            <p:nvPr/>
          </p:nvSpPr>
          <p:spPr bwMode="auto">
            <a:xfrm>
              <a:off x="5069" y="273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2291" name="Text Box 173"/>
            <p:cNvSpPr txBox="1">
              <a:spLocks noChangeArrowheads="1"/>
            </p:cNvSpPr>
            <p:nvPr/>
          </p:nvSpPr>
          <p:spPr bwMode="auto">
            <a:xfrm>
              <a:off x="4855" y="237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2292" name="Text Box 174"/>
            <p:cNvSpPr txBox="1">
              <a:spLocks noChangeArrowheads="1"/>
            </p:cNvSpPr>
            <p:nvPr/>
          </p:nvSpPr>
          <p:spPr bwMode="auto">
            <a:xfrm>
              <a:off x="5009" y="968"/>
              <a:ext cx="30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 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2293" name="Text Box 175"/>
            <p:cNvSpPr txBox="1">
              <a:spLocks noChangeArrowheads="1"/>
            </p:cNvSpPr>
            <p:nvPr/>
          </p:nvSpPr>
          <p:spPr bwMode="auto">
            <a:xfrm>
              <a:off x="3693" y="1580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2294" name="Text Box 176"/>
            <p:cNvSpPr txBox="1">
              <a:spLocks noChangeArrowheads="1"/>
            </p:cNvSpPr>
            <p:nvPr/>
          </p:nvSpPr>
          <p:spPr bwMode="auto">
            <a:xfrm>
              <a:off x="3939" y="1151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2295" name="Text Box 177"/>
            <p:cNvSpPr txBox="1">
              <a:spLocks noChangeArrowheads="1"/>
            </p:cNvSpPr>
            <p:nvPr/>
          </p:nvSpPr>
          <p:spPr bwMode="auto">
            <a:xfrm>
              <a:off x="4793" y="1508"/>
              <a:ext cx="30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2296" name="Text Box 178"/>
            <p:cNvSpPr txBox="1">
              <a:spLocks noChangeArrowheads="1"/>
            </p:cNvSpPr>
            <p:nvPr/>
          </p:nvSpPr>
          <p:spPr bwMode="auto">
            <a:xfrm>
              <a:off x="4360" y="2717"/>
              <a:ext cx="2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2297" name="Text Box 179"/>
            <p:cNvSpPr txBox="1">
              <a:spLocks noChangeArrowheads="1"/>
            </p:cNvSpPr>
            <p:nvPr/>
          </p:nvSpPr>
          <p:spPr bwMode="auto">
            <a:xfrm>
              <a:off x="4328" y="1228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74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9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89" grpId="0" build="p" autoUpdateAnimBg="0"/>
      <p:bldP spid="29802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3" name="Freeform 29"/>
          <p:cNvSpPr>
            <a:spLocks/>
          </p:cNvSpPr>
          <p:nvPr/>
        </p:nvSpPr>
        <p:spPr bwMode="auto">
          <a:xfrm>
            <a:off x="4267200" y="5151710"/>
            <a:ext cx="2135189" cy="920761"/>
          </a:xfrm>
          <a:custGeom>
            <a:avLst/>
            <a:gdLst>
              <a:gd name="T0" fmla="*/ 0 w 1369"/>
              <a:gd name="T1" fmla="*/ 2147483647 h 577"/>
              <a:gd name="T2" fmla="*/ 2147483647 w 1369"/>
              <a:gd name="T3" fmla="*/ 0 h 577"/>
              <a:gd name="T4" fmla="*/ 0 60000 65536"/>
              <a:gd name="T5" fmla="*/ 0 60000 65536"/>
              <a:gd name="T6" fmla="*/ 0 w 1369"/>
              <a:gd name="T7" fmla="*/ 0 h 577"/>
              <a:gd name="T8" fmla="*/ 1369 w 1369"/>
              <a:gd name="T9" fmla="*/ 577 h 57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69" h="577">
                <a:moveTo>
                  <a:pt x="0" y="577"/>
                </a:moveTo>
                <a:lnTo>
                  <a:pt x="1369" y="0"/>
                </a:ln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3251" name="Text Box 25"/>
          <p:cNvSpPr txBox="1">
            <a:spLocks noChangeArrowheads="1"/>
          </p:cNvSpPr>
          <p:nvPr/>
        </p:nvSpPr>
        <p:spPr bwMode="auto">
          <a:xfrm>
            <a:off x="4078289" y="5947049"/>
            <a:ext cx="312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000" b="1">
                <a:latin typeface="Times New Roman" pitchFamily="18" charset="0"/>
              </a:rPr>
              <a:t>●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53252" name="Text Box 15"/>
          <p:cNvSpPr txBox="1">
            <a:spLocks noChangeArrowheads="1"/>
          </p:cNvSpPr>
          <p:nvPr/>
        </p:nvSpPr>
        <p:spPr bwMode="auto">
          <a:xfrm>
            <a:off x="3913189" y="5835923"/>
            <a:ext cx="319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31776" name="Line 32"/>
          <p:cNvSpPr>
            <a:spLocks noChangeShapeType="1"/>
          </p:cNvSpPr>
          <p:nvPr/>
        </p:nvSpPr>
        <p:spPr bwMode="auto">
          <a:xfrm flipV="1">
            <a:off x="4222751" y="5151710"/>
            <a:ext cx="2182813" cy="9159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6337300" y="2818085"/>
            <a:ext cx="420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31766" name="Text Box 22"/>
          <p:cNvSpPr txBox="1">
            <a:spLocks noChangeArrowheads="1"/>
          </p:cNvSpPr>
          <p:nvPr/>
        </p:nvSpPr>
        <p:spPr bwMode="auto">
          <a:xfrm>
            <a:off x="5092700" y="2757760"/>
            <a:ext cx="414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  <a:sym typeface="EuroRoman" pitchFamily="2" charset="2"/>
              </a:rPr>
              <a:t>k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31781" name="Line 37"/>
          <p:cNvSpPr>
            <a:spLocks noChangeShapeType="1"/>
          </p:cNvSpPr>
          <p:nvPr/>
        </p:nvSpPr>
        <p:spPr bwMode="auto">
          <a:xfrm>
            <a:off x="4222751" y="3151460"/>
            <a:ext cx="2182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5190194" y="5570167"/>
            <a:ext cx="324127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k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31772" name="Line 28"/>
          <p:cNvSpPr>
            <a:spLocks noChangeShapeType="1"/>
          </p:cNvSpPr>
          <p:nvPr/>
        </p:nvSpPr>
        <p:spPr bwMode="auto">
          <a:xfrm>
            <a:off x="5292725" y="3151461"/>
            <a:ext cx="0" cy="24796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6296025" y="5085035"/>
            <a:ext cx="336550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31775" name="Line 31"/>
          <p:cNvSpPr>
            <a:spLocks noChangeShapeType="1"/>
          </p:cNvSpPr>
          <p:nvPr/>
        </p:nvSpPr>
        <p:spPr bwMode="auto">
          <a:xfrm>
            <a:off x="6405563" y="3151460"/>
            <a:ext cx="0" cy="20208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61" name="Text Box 34"/>
          <p:cNvSpPr txBox="1">
            <a:spLocks noChangeArrowheads="1"/>
          </p:cNvSpPr>
          <p:nvPr/>
        </p:nvSpPr>
        <p:spPr bwMode="auto">
          <a:xfrm>
            <a:off x="1325066" y="930944"/>
            <a:ext cx="559961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例</a:t>
            </a:r>
            <a:r>
              <a:rPr kumimoji="1" lang="en-US" altLang="zh-CN" sz="2800" b="1" dirty="0">
                <a:latin typeface="宋体" pitchFamily="2" charset="-122"/>
              </a:rPr>
              <a:t>1</a:t>
            </a:r>
            <a:r>
              <a:rPr kumimoji="1" lang="zh-CN" altLang="en-US" sz="2800" b="1" dirty="0">
                <a:latin typeface="宋体" pitchFamily="2" charset="-122"/>
              </a:rPr>
              <a:t>：过</a:t>
            </a:r>
            <a:r>
              <a:rPr kumimoji="1" lang="en-US" altLang="zh-CN" sz="2800" b="1" dirty="0">
                <a:latin typeface="宋体" pitchFamily="2" charset="-122"/>
              </a:rPr>
              <a:t>C</a:t>
            </a:r>
            <a:r>
              <a:rPr kumimoji="1" lang="zh-CN" altLang="en-US" sz="2800" b="1" dirty="0">
                <a:latin typeface="宋体" pitchFamily="2" charset="-122"/>
              </a:rPr>
              <a:t>点</a:t>
            </a:r>
            <a:r>
              <a:rPr kumimoji="1"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作水平线</a:t>
            </a:r>
            <a:r>
              <a:rPr kumimoji="1" lang="en-US" altLang="zh-CN" sz="2800" b="1" dirty="0">
                <a:latin typeface="宋体" pitchFamily="2" charset="-122"/>
              </a:rPr>
              <a:t>CD</a:t>
            </a:r>
            <a:r>
              <a:rPr kumimoji="1" lang="zh-CN" altLang="en-US" sz="2800" b="1" dirty="0">
                <a:latin typeface="宋体" pitchFamily="2" charset="-122"/>
              </a:rPr>
              <a:t>与</a:t>
            </a:r>
            <a:r>
              <a:rPr kumimoji="1" lang="en-US" altLang="zh-CN" sz="2800" b="1" dirty="0">
                <a:latin typeface="宋体" pitchFamily="2" charset="-122"/>
              </a:rPr>
              <a:t>AB</a:t>
            </a:r>
            <a:r>
              <a:rPr kumimoji="1" lang="zh-CN" altLang="en-US" sz="2800" b="1" dirty="0">
                <a:latin typeface="宋体" pitchFamily="2" charset="-122"/>
              </a:rPr>
              <a:t>相交。</a:t>
            </a:r>
          </a:p>
        </p:txBody>
      </p:sp>
      <p:sp>
        <p:nvSpPr>
          <p:cNvPr id="31779" name="AutoShape 35"/>
          <p:cNvSpPr>
            <a:spLocks noChangeArrowheads="1"/>
          </p:cNvSpPr>
          <p:nvPr/>
        </p:nvSpPr>
        <p:spPr bwMode="auto">
          <a:xfrm>
            <a:off x="7018337" y="4717162"/>
            <a:ext cx="3476625" cy="735747"/>
          </a:xfrm>
          <a:prstGeom prst="wedgeEllipseCallout">
            <a:avLst>
              <a:gd name="adj1" fmla="val -62957"/>
              <a:gd name="adj2" fmla="val -255585"/>
            </a:avLst>
          </a:prstGeom>
          <a:solidFill>
            <a:srgbClr val="FF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先作正面投影</a:t>
            </a:r>
          </a:p>
        </p:txBody>
      </p:sp>
      <p:grpSp>
        <p:nvGrpSpPr>
          <p:cNvPr id="53263" name="Group 82"/>
          <p:cNvGrpSpPr>
            <a:grpSpLocks/>
          </p:cNvGrpSpPr>
          <p:nvPr/>
        </p:nvGrpSpPr>
        <p:grpSpPr bwMode="auto">
          <a:xfrm>
            <a:off x="3394076" y="2216424"/>
            <a:ext cx="3825875" cy="3871913"/>
            <a:chOff x="1178" y="492"/>
            <a:chExt cx="2410" cy="2439"/>
          </a:xfrm>
        </p:grpSpPr>
        <p:sp>
          <p:nvSpPr>
            <p:cNvPr id="53264" name="Text Box 13"/>
            <p:cNvSpPr txBox="1">
              <a:spLocks noChangeArrowheads="1"/>
            </p:cNvSpPr>
            <p:nvPr/>
          </p:nvSpPr>
          <p:spPr bwMode="auto">
            <a:xfrm>
              <a:off x="1243" y="2285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3265" name="Line 71"/>
            <p:cNvSpPr>
              <a:spLocks noChangeShapeType="1"/>
            </p:cNvSpPr>
            <p:nvPr/>
          </p:nvSpPr>
          <p:spPr bwMode="auto">
            <a:xfrm flipV="1">
              <a:off x="3318" y="651"/>
              <a:ext cx="0" cy="21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66" name="Text Box 72"/>
            <p:cNvSpPr txBox="1">
              <a:spLocks noChangeArrowheads="1"/>
            </p:cNvSpPr>
            <p:nvPr/>
          </p:nvSpPr>
          <p:spPr bwMode="auto">
            <a:xfrm>
              <a:off x="1602" y="1004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b="1">
                  <a:latin typeface="Times New Roman" pitchFamily="18" charset="0"/>
                </a:rPr>
                <a:t>●</a:t>
              </a:r>
              <a:endParaRPr kumimoji="1" lang="en-US" altLang="zh-CN" sz="1000" b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53267" name="Line 73"/>
            <p:cNvSpPr>
              <a:spLocks noChangeShapeType="1"/>
            </p:cNvSpPr>
            <p:nvPr/>
          </p:nvSpPr>
          <p:spPr bwMode="auto">
            <a:xfrm>
              <a:off x="1178" y="1863"/>
              <a:ext cx="24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68" name="Line 74"/>
            <p:cNvSpPr>
              <a:spLocks noChangeShapeType="1"/>
            </p:cNvSpPr>
            <p:nvPr/>
          </p:nvSpPr>
          <p:spPr bwMode="auto">
            <a:xfrm flipV="1">
              <a:off x="1443" y="651"/>
              <a:ext cx="1875" cy="856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69" name="Line 75"/>
            <p:cNvSpPr>
              <a:spLocks noChangeShapeType="1"/>
            </p:cNvSpPr>
            <p:nvPr/>
          </p:nvSpPr>
          <p:spPr bwMode="auto">
            <a:xfrm>
              <a:off x="1443" y="1507"/>
              <a:ext cx="0" cy="9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70" name="Line 76"/>
            <p:cNvSpPr>
              <a:spLocks noChangeShapeType="1"/>
            </p:cNvSpPr>
            <p:nvPr/>
          </p:nvSpPr>
          <p:spPr bwMode="auto">
            <a:xfrm>
              <a:off x="1443" y="2469"/>
              <a:ext cx="1875" cy="342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71" name="Text Box 77"/>
            <p:cNvSpPr txBox="1">
              <a:spLocks noChangeArrowheads="1"/>
            </p:cNvSpPr>
            <p:nvPr/>
          </p:nvSpPr>
          <p:spPr bwMode="auto">
            <a:xfrm>
              <a:off x="3236" y="2643"/>
              <a:ext cx="3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3272" name="Text Box 78"/>
            <p:cNvSpPr txBox="1">
              <a:spLocks noChangeArrowheads="1"/>
            </p:cNvSpPr>
            <p:nvPr/>
          </p:nvSpPr>
          <p:spPr bwMode="auto">
            <a:xfrm>
              <a:off x="3320" y="492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3273" name="Text Box 79"/>
            <p:cNvSpPr txBox="1">
              <a:spLocks noChangeArrowheads="1"/>
            </p:cNvSpPr>
            <p:nvPr/>
          </p:nvSpPr>
          <p:spPr bwMode="auto">
            <a:xfrm>
              <a:off x="1267" y="1272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3274" name="Text Box 80"/>
            <p:cNvSpPr txBox="1">
              <a:spLocks noChangeArrowheads="1"/>
            </p:cNvSpPr>
            <p:nvPr/>
          </p:nvSpPr>
          <p:spPr bwMode="auto">
            <a:xfrm>
              <a:off x="1494" y="896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Italic" pitchFamily="2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53275" name="Line 81"/>
            <p:cNvSpPr>
              <a:spLocks noChangeShapeType="1"/>
            </p:cNvSpPr>
            <p:nvPr/>
          </p:nvSpPr>
          <p:spPr bwMode="auto">
            <a:xfrm>
              <a:off x="1700" y="1081"/>
              <a:ext cx="0" cy="18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75"/>
                                        <p:tgtEl>
                                          <p:spTgt spid="317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31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3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31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73" grpId="0" animBg="1"/>
      <p:bldP spid="31776" grpId="0" animBg="1"/>
      <p:bldP spid="31764" grpId="0" build="p" autoUpdateAnimBg="0"/>
      <p:bldP spid="31766" grpId="0" build="p" autoUpdateAnimBg="0"/>
      <p:bldP spid="31781" grpId="0" animBg="1"/>
      <p:bldP spid="31765" grpId="0" build="p" autoUpdateAnimBg="0"/>
      <p:bldP spid="31772" grpId="0" animBg="1"/>
      <p:bldP spid="31760" grpId="0" build="p" autoUpdateAnimBg="0"/>
      <p:bldP spid="31775" grpId="0" animBg="1"/>
      <p:bldP spid="31779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642054" y="1080961"/>
            <a:ext cx="5529808" cy="120982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判断直线</a:t>
            </a:r>
            <a:r>
              <a:rPr kumimoji="1" lang="en-US" altLang="zh-CN" sz="2800" b="1" dirty="0">
                <a:latin typeface="宋体" pitchFamily="2" charset="-122"/>
              </a:rPr>
              <a:t>AB</a:t>
            </a:r>
            <a:r>
              <a:rPr kumimoji="1" lang="zh-CN" altLang="en-US" sz="2800" b="1" dirty="0">
                <a:latin typeface="宋体" pitchFamily="2" charset="-122"/>
              </a:rPr>
              <a:t>、</a:t>
            </a:r>
            <a:r>
              <a:rPr kumimoji="1" lang="en-US" altLang="zh-CN" sz="2800" b="1" dirty="0">
                <a:latin typeface="宋体" pitchFamily="2" charset="-122"/>
              </a:rPr>
              <a:t>CD</a:t>
            </a:r>
            <a:r>
              <a:rPr kumimoji="1" lang="zh-CN" altLang="en-US" sz="2800" b="1" dirty="0">
                <a:latin typeface="宋体" pitchFamily="2" charset="-122"/>
              </a:rPr>
              <a:t>的相对位置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4543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此题判断方法应用定比定理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4543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latin typeface="+mn-ea"/>
                <a:ea typeface="+mn-ea"/>
                <a:sym typeface="Microsoft Yahei" panose="020B0503020204020204" pitchFamily="34" charset="-122"/>
              </a:rPr>
              <a:t>此题判断方法</a:t>
            </a:r>
            <a:r>
              <a:rPr kumimoji="1" lang="zh-CN" altLang="en-US" sz="2400" b="1" dirty="0">
                <a:latin typeface="+mn-ea"/>
                <a:ea typeface="+mn-ea"/>
              </a:rPr>
              <a:t>利用侧面投影</a:t>
            </a:r>
            <a:endParaRPr lang="zh-CN" altLang="en-US" sz="2400" b="1" dirty="0"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AB</a:t>
            </a:r>
            <a:r>
              <a:rPr lang="zh-CN" altLang="en-US" sz="26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与</a:t>
            </a:r>
            <a:r>
              <a:rPr lang="en-US" altLang="zh-CN" sz="26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CD</a:t>
            </a:r>
            <a:r>
              <a:rPr lang="zh-CN" altLang="en-US" sz="26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相交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3895328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AB</a:t>
            </a:r>
            <a:r>
              <a:rPr lang="zh-CN" altLang="en-US" sz="26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与</a:t>
            </a:r>
            <a:r>
              <a:rPr lang="en-US" altLang="zh-CN" sz="26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CD</a:t>
            </a:r>
            <a:r>
              <a:rPr lang="zh-CN" altLang="en-US" sz="26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不相交</a:t>
            </a: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01276" y="1421979"/>
            <a:ext cx="2009524" cy="2971429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5228B38-6D5D-4976-8975-EB107B2B1D4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705027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4163336" y="3623445"/>
            <a:ext cx="271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Times New Roman" pitchFamily="18" charset="0"/>
              </a:rPr>
              <a:t>′</a:t>
            </a:r>
          </a:p>
        </p:txBody>
      </p:sp>
      <p:sp>
        <p:nvSpPr>
          <p:cNvPr id="54275" name="Line 3"/>
          <p:cNvSpPr>
            <a:spLocks noChangeShapeType="1"/>
          </p:cNvSpPr>
          <p:nvPr/>
        </p:nvSpPr>
        <p:spPr bwMode="auto">
          <a:xfrm>
            <a:off x="2724150" y="4528963"/>
            <a:ext cx="4076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276" name="Line 4"/>
          <p:cNvSpPr>
            <a:spLocks noChangeShapeType="1"/>
          </p:cNvSpPr>
          <p:nvPr/>
        </p:nvSpPr>
        <p:spPr bwMode="auto">
          <a:xfrm>
            <a:off x="3962400" y="2166763"/>
            <a:ext cx="0" cy="16383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277" name="Line 5"/>
          <p:cNvSpPr>
            <a:spLocks noChangeShapeType="1"/>
          </p:cNvSpPr>
          <p:nvPr/>
        </p:nvSpPr>
        <p:spPr bwMode="auto">
          <a:xfrm>
            <a:off x="3962400" y="3805063"/>
            <a:ext cx="0" cy="1143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278" name="Line 6"/>
          <p:cNvSpPr>
            <a:spLocks noChangeShapeType="1"/>
          </p:cNvSpPr>
          <p:nvPr/>
        </p:nvSpPr>
        <p:spPr bwMode="auto">
          <a:xfrm>
            <a:off x="3962400" y="4948063"/>
            <a:ext cx="0" cy="1295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279" name="Line 7"/>
          <p:cNvSpPr>
            <a:spLocks noChangeShapeType="1"/>
          </p:cNvSpPr>
          <p:nvPr/>
        </p:nvSpPr>
        <p:spPr bwMode="auto">
          <a:xfrm flipV="1">
            <a:off x="3276600" y="2528713"/>
            <a:ext cx="1390650" cy="9715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3276600" y="4948064"/>
            <a:ext cx="1390650" cy="8032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 flipV="1">
            <a:off x="3276600" y="3500263"/>
            <a:ext cx="0" cy="144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 flipV="1">
            <a:off x="4667250" y="2528714"/>
            <a:ext cx="0" cy="3222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1031552" y="867112"/>
            <a:ext cx="57791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例</a:t>
            </a:r>
            <a:r>
              <a:rPr kumimoji="1" lang="en-US" altLang="zh-CN" sz="2800" b="1" dirty="0">
                <a:latin typeface="宋体" pitchFamily="2" charset="-122"/>
              </a:rPr>
              <a:t>2</a:t>
            </a:r>
            <a:r>
              <a:rPr kumimoji="1" lang="zh-CN" altLang="en-US" sz="2800" b="1" dirty="0">
                <a:latin typeface="宋体" pitchFamily="2" charset="-122"/>
              </a:rPr>
              <a:t>：判断直线</a:t>
            </a:r>
            <a:r>
              <a:rPr kumimoji="1" lang="en-US" altLang="zh-CN" sz="2800" b="1" dirty="0">
                <a:latin typeface="宋体" pitchFamily="2" charset="-122"/>
              </a:rPr>
              <a:t>AB</a:t>
            </a:r>
            <a:r>
              <a:rPr kumimoji="1" lang="zh-CN" altLang="en-US" sz="2800" b="1" dirty="0">
                <a:latin typeface="宋体" pitchFamily="2" charset="-122"/>
              </a:rPr>
              <a:t>、</a:t>
            </a:r>
            <a:r>
              <a:rPr kumimoji="1" lang="en-US" altLang="zh-CN" sz="2800" b="1" dirty="0">
                <a:latin typeface="宋体" pitchFamily="2" charset="-122"/>
              </a:rPr>
              <a:t>CD</a:t>
            </a:r>
            <a:r>
              <a:rPr kumimoji="1" lang="zh-CN" altLang="en-US" sz="2800" b="1" dirty="0">
                <a:latin typeface="宋体" pitchFamily="2" charset="-122"/>
              </a:rPr>
              <a:t>的相对位置。</a:t>
            </a:r>
          </a:p>
        </p:txBody>
      </p:sp>
      <p:sp>
        <p:nvSpPr>
          <p:cNvPr id="54284" name="Text Box 12"/>
          <p:cNvSpPr txBox="1">
            <a:spLocks noChangeArrowheads="1"/>
          </p:cNvSpPr>
          <p:nvPr/>
        </p:nvSpPr>
        <p:spPr bwMode="auto">
          <a:xfrm>
            <a:off x="3921125" y="1842913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4163336" y="1840682"/>
            <a:ext cx="2712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>
                <a:latin typeface="Times New Roman" pitchFamily="18" charset="0"/>
              </a:rPr>
              <a:t>′</a:t>
            </a:r>
          </a:p>
        </p:txBody>
      </p:sp>
      <p:grpSp>
        <p:nvGrpSpPr>
          <p:cNvPr id="54286" name="Group 14"/>
          <p:cNvGrpSpPr>
            <a:grpSpLocks/>
          </p:cNvGrpSpPr>
          <p:nvPr/>
        </p:nvGrpSpPr>
        <p:grpSpPr bwMode="auto">
          <a:xfrm>
            <a:off x="2836865" y="3314529"/>
            <a:ext cx="479426" cy="461963"/>
            <a:chOff x="755" y="1623"/>
            <a:chExt cx="302" cy="291"/>
          </a:xfrm>
        </p:grpSpPr>
        <p:sp>
          <p:nvSpPr>
            <p:cNvPr id="54302" name="Text Box 15"/>
            <p:cNvSpPr txBox="1">
              <a:spLocks noChangeArrowheads="1"/>
            </p:cNvSpPr>
            <p:nvPr/>
          </p:nvSpPr>
          <p:spPr bwMode="auto">
            <a:xfrm>
              <a:off x="886" y="1623"/>
              <a:ext cx="17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4303" name="Text Box 16"/>
            <p:cNvSpPr txBox="1">
              <a:spLocks noChangeArrowheads="1"/>
            </p:cNvSpPr>
            <p:nvPr/>
          </p:nvSpPr>
          <p:spPr bwMode="auto">
            <a:xfrm>
              <a:off x="755" y="1623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grpSp>
        <p:nvGrpSpPr>
          <p:cNvPr id="54287" name="Group 17"/>
          <p:cNvGrpSpPr>
            <a:grpSpLocks/>
          </p:cNvGrpSpPr>
          <p:nvPr/>
        </p:nvGrpSpPr>
        <p:grpSpPr bwMode="auto">
          <a:xfrm>
            <a:off x="4630742" y="2184228"/>
            <a:ext cx="479425" cy="500063"/>
            <a:chOff x="1945" y="935"/>
            <a:chExt cx="302" cy="315"/>
          </a:xfrm>
        </p:grpSpPr>
        <p:sp>
          <p:nvSpPr>
            <p:cNvPr id="54300" name="Text Box 18"/>
            <p:cNvSpPr txBox="1">
              <a:spLocks noChangeArrowheads="1"/>
            </p:cNvSpPr>
            <p:nvPr/>
          </p:nvSpPr>
          <p:spPr bwMode="auto">
            <a:xfrm>
              <a:off x="2076" y="935"/>
              <a:ext cx="17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4301" name="Text Box 19"/>
            <p:cNvSpPr txBox="1">
              <a:spLocks noChangeArrowheads="1"/>
            </p:cNvSpPr>
            <p:nvPr/>
          </p:nvSpPr>
          <p:spPr bwMode="auto">
            <a:xfrm>
              <a:off x="1945" y="959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54288" name="Text Box 20"/>
          <p:cNvSpPr txBox="1">
            <a:spLocks noChangeArrowheads="1"/>
          </p:cNvSpPr>
          <p:nvPr/>
        </p:nvSpPr>
        <p:spPr bwMode="auto">
          <a:xfrm>
            <a:off x="3908425" y="3625676"/>
            <a:ext cx="344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54289" name="Text Box 21"/>
          <p:cNvSpPr txBox="1">
            <a:spLocks noChangeArrowheads="1"/>
          </p:cNvSpPr>
          <p:nvPr/>
        </p:nvSpPr>
        <p:spPr bwMode="auto">
          <a:xfrm>
            <a:off x="2960456" y="4717232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sz="2800" b="1">
              <a:latin typeface="Times New Roman" pitchFamily="18" charset="0"/>
            </a:endParaRPr>
          </a:p>
        </p:txBody>
      </p:sp>
      <p:sp>
        <p:nvSpPr>
          <p:cNvPr id="54290" name="Text Box 22"/>
          <p:cNvSpPr txBox="1">
            <a:spLocks noChangeArrowheads="1"/>
          </p:cNvSpPr>
          <p:nvPr/>
        </p:nvSpPr>
        <p:spPr bwMode="auto">
          <a:xfrm>
            <a:off x="4632887" y="5558607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kumimoji="1" lang="en-US" altLang="zh-CN" sz="2800" b="1">
              <a:latin typeface="Times New Roman" pitchFamily="18" charset="0"/>
            </a:endParaRPr>
          </a:p>
        </p:txBody>
      </p:sp>
      <p:sp>
        <p:nvSpPr>
          <p:cNvPr id="54291" name="Text Box 23"/>
          <p:cNvSpPr txBox="1">
            <a:spLocks noChangeArrowheads="1"/>
          </p:cNvSpPr>
          <p:nvPr/>
        </p:nvSpPr>
        <p:spPr bwMode="auto">
          <a:xfrm>
            <a:off x="3921125" y="5995813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kumimoji="1" lang="en-US" altLang="zh-CN" sz="2800" b="1">
              <a:latin typeface="Times New Roman" pitchFamily="18" charset="0"/>
            </a:endParaRPr>
          </a:p>
        </p:txBody>
      </p:sp>
      <p:sp>
        <p:nvSpPr>
          <p:cNvPr id="54292" name="Text Box 24"/>
          <p:cNvSpPr txBox="1">
            <a:spLocks noChangeArrowheads="1"/>
          </p:cNvSpPr>
          <p:nvPr/>
        </p:nvSpPr>
        <p:spPr bwMode="auto">
          <a:xfrm>
            <a:off x="3956050" y="4671838"/>
            <a:ext cx="344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</a:p>
        </p:txBody>
      </p:sp>
      <p:sp>
        <p:nvSpPr>
          <p:cNvPr id="92185" name="Text Box 25"/>
          <p:cNvSpPr txBox="1">
            <a:spLocks noChangeArrowheads="1"/>
          </p:cNvSpPr>
          <p:nvPr/>
        </p:nvSpPr>
        <p:spPr bwMode="auto">
          <a:xfrm>
            <a:off x="7589521" y="2276873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相交吗？</a:t>
            </a:r>
          </a:p>
        </p:txBody>
      </p:sp>
      <p:sp>
        <p:nvSpPr>
          <p:cNvPr id="92186" name="Text Box 26"/>
          <p:cNvSpPr txBox="1">
            <a:spLocks noChangeArrowheads="1"/>
          </p:cNvSpPr>
          <p:nvPr/>
        </p:nvSpPr>
        <p:spPr bwMode="auto">
          <a:xfrm>
            <a:off x="7589521" y="2865872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不相交！</a:t>
            </a:r>
          </a:p>
        </p:txBody>
      </p:sp>
      <p:sp>
        <p:nvSpPr>
          <p:cNvPr id="92187" name="Text Box 27"/>
          <p:cNvSpPr txBox="1">
            <a:spLocks noChangeArrowheads="1"/>
          </p:cNvSpPr>
          <p:nvPr/>
        </p:nvSpPr>
        <p:spPr bwMode="auto">
          <a:xfrm>
            <a:off x="7589521" y="3492908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为什么？</a:t>
            </a:r>
          </a:p>
        </p:txBody>
      </p:sp>
      <p:sp>
        <p:nvSpPr>
          <p:cNvPr id="92188" name="Text Box 28"/>
          <p:cNvSpPr txBox="1">
            <a:spLocks noChangeArrowheads="1"/>
          </p:cNvSpPr>
          <p:nvPr/>
        </p:nvSpPr>
        <p:spPr bwMode="auto">
          <a:xfrm>
            <a:off x="7052782" y="3938077"/>
            <a:ext cx="437180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交点不符合空间一个点的投影特性。</a:t>
            </a:r>
          </a:p>
        </p:txBody>
      </p:sp>
      <p:sp>
        <p:nvSpPr>
          <p:cNvPr id="92189" name="Text Box 29"/>
          <p:cNvSpPr txBox="1">
            <a:spLocks noChangeArrowheads="1"/>
          </p:cNvSpPr>
          <p:nvPr/>
        </p:nvSpPr>
        <p:spPr bwMode="auto">
          <a:xfrm>
            <a:off x="7052781" y="4824141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判断方法？</a:t>
            </a:r>
          </a:p>
        </p:txBody>
      </p:sp>
      <p:sp>
        <p:nvSpPr>
          <p:cNvPr id="92190" name="Text Box 30"/>
          <p:cNvSpPr txBox="1">
            <a:spLocks noChangeArrowheads="1"/>
          </p:cNvSpPr>
          <p:nvPr/>
        </p:nvSpPr>
        <p:spPr bwMode="auto">
          <a:xfrm>
            <a:off x="6929769" y="5340873"/>
            <a:ext cx="24272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⒈ 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应用定比定理</a:t>
            </a:r>
          </a:p>
        </p:txBody>
      </p:sp>
      <p:sp>
        <p:nvSpPr>
          <p:cNvPr id="92191" name="Text Box 31"/>
          <p:cNvSpPr txBox="1">
            <a:spLocks noChangeArrowheads="1"/>
          </p:cNvSpPr>
          <p:nvPr/>
        </p:nvSpPr>
        <p:spPr bwMode="auto">
          <a:xfrm>
            <a:off x="6888089" y="5786042"/>
            <a:ext cx="24272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⒉ 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利用侧面投影</a:t>
            </a: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92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92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2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92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92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2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2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2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2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5" grpId="0" autoUpdateAnimBg="0"/>
      <p:bldP spid="92186" grpId="0" autoUpdateAnimBg="0"/>
      <p:bldP spid="92187" grpId="0" autoUpdateAnimBg="0"/>
      <p:bldP spid="92188" grpId="0" autoUpdateAnimBg="0"/>
      <p:bldP spid="92189" grpId="0" autoUpdateAnimBg="0"/>
      <p:bldP spid="92190" grpId="0" autoUpdateAnimBg="0"/>
      <p:bldP spid="9219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05" name="Text Box 37"/>
          <p:cNvSpPr txBox="1">
            <a:spLocks noChangeArrowheads="1"/>
          </p:cNvSpPr>
          <p:nvPr/>
        </p:nvSpPr>
        <p:spPr bwMode="auto">
          <a:xfrm>
            <a:off x="1324591" y="1334828"/>
            <a:ext cx="25298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⒊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两直线交叉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32857" name="Text Box 89"/>
          <p:cNvSpPr txBox="1">
            <a:spLocks noChangeArrowheads="1"/>
          </p:cNvSpPr>
          <p:nvPr/>
        </p:nvSpPr>
        <p:spPr bwMode="auto">
          <a:xfrm>
            <a:off x="5084536" y="5649828"/>
            <a:ext cx="18224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为什么？</a:t>
            </a:r>
          </a:p>
        </p:txBody>
      </p:sp>
      <p:sp>
        <p:nvSpPr>
          <p:cNvPr id="32931" name="Text Box 163"/>
          <p:cNvSpPr txBox="1">
            <a:spLocks noChangeArrowheads="1"/>
          </p:cNvSpPr>
          <p:nvPr/>
        </p:nvSpPr>
        <p:spPr bwMode="auto">
          <a:xfrm>
            <a:off x="1970427" y="5649827"/>
            <a:ext cx="23503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两直线相交吗？</a:t>
            </a:r>
          </a:p>
        </p:txBody>
      </p:sp>
      <p:sp>
        <p:nvSpPr>
          <p:cNvPr id="32957" name="Text Box 189"/>
          <p:cNvSpPr txBox="1">
            <a:spLocks noChangeArrowheads="1"/>
          </p:cNvSpPr>
          <p:nvPr/>
        </p:nvSpPr>
        <p:spPr bwMode="auto">
          <a:xfrm>
            <a:off x="4027782" y="5661249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不相交！</a:t>
            </a:r>
          </a:p>
        </p:txBody>
      </p:sp>
      <p:sp>
        <p:nvSpPr>
          <p:cNvPr id="32958" name="Text Box 190"/>
          <p:cNvSpPr txBox="1">
            <a:spLocks noChangeArrowheads="1"/>
          </p:cNvSpPr>
          <p:nvPr/>
        </p:nvSpPr>
        <p:spPr bwMode="auto">
          <a:xfrm>
            <a:off x="6351589" y="5661249"/>
            <a:ext cx="43783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交点不符合一个点的投影规律！</a:t>
            </a:r>
          </a:p>
        </p:txBody>
      </p:sp>
      <p:grpSp>
        <p:nvGrpSpPr>
          <p:cNvPr id="55303" name="Group 192"/>
          <p:cNvGrpSpPr>
            <a:grpSpLocks/>
          </p:cNvGrpSpPr>
          <p:nvPr/>
        </p:nvGrpSpPr>
        <p:grpSpPr bwMode="auto">
          <a:xfrm>
            <a:off x="2536826" y="1751112"/>
            <a:ext cx="3222625" cy="3698130"/>
            <a:chOff x="3535" y="1011"/>
            <a:chExt cx="1604" cy="1841"/>
          </a:xfrm>
        </p:grpSpPr>
        <p:sp>
          <p:nvSpPr>
            <p:cNvPr id="55342" name="Line 193"/>
            <p:cNvSpPr>
              <a:spLocks noChangeShapeType="1"/>
            </p:cNvSpPr>
            <p:nvPr/>
          </p:nvSpPr>
          <p:spPr bwMode="auto">
            <a:xfrm>
              <a:off x="3787" y="1714"/>
              <a:ext cx="0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43" name="Rectangle 194"/>
            <p:cNvSpPr>
              <a:spLocks noChangeArrowheads="1"/>
            </p:cNvSpPr>
            <p:nvPr/>
          </p:nvSpPr>
          <p:spPr bwMode="auto">
            <a:xfrm>
              <a:off x="3806" y="2612"/>
              <a:ext cx="6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44" name="Rectangle 195"/>
            <p:cNvSpPr>
              <a:spLocks noChangeArrowheads="1"/>
            </p:cNvSpPr>
            <p:nvPr/>
          </p:nvSpPr>
          <p:spPr bwMode="auto">
            <a:xfrm>
              <a:off x="3635" y="2045"/>
              <a:ext cx="79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45" name="Rectangle 196"/>
            <p:cNvSpPr>
              <a:spLocks noChangeArrowheads="1"/>
            </p:cNvSpPr>
            <p:nvPr/>
          </p:nvSpPr>
          <p:spPr bwMode="auto">
            <a:xfrm>
              <a:off x="3743" y="1314"/>
              <a:ext cx="64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46" name="Rectangle 197"/>
            <p:cNvSpPr>
              <a:spLocks noChangeArrowheads="1"/>
            </p:cNvSpPr>
            <p:nvPr/>
          </p:nvSpPr>
          <p:spPr bwMode="auto">
            <a:xfrm>
              <a:off x="3636" y="1655"/>
              <a:ext cx="79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47" name="Rectangle 198"/>
            <p:cNvSpPr>
              <a:spLocks noChangeArrowheads="1"/>
            </p:cNvSpPr>
            <p:nvPr/>
          </p:nvSpPr>
          <p:spPr bwMode="auto">
            <a:xfrm>
              <a:off x="4750" y="2668"/>
              <a:ext cx="79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48" name="Rectangle 199"/>
            <p:cNvSpPr>
              <a:spLocks noChangeArrowheads="1"/>
            </p:cNvSpPr>
            <p:nvPr/>
          </p:nvSpPr>
          <p:spPr bwMode="auto">
            <a:xfrm>
              <a:off x="4915" y="2266"/>
              <a:ext cx="79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49" name="Rectangle 200"/>
            <p:cNvSpPr>
              <a:spLocks noChangeArrowheads="1"/>
            </p:cNvSpPr>
            <p:nvPr/>
          </p:nvSpPr>
          <p:spPr bwMode="auto">
            <a:xfrm>
              <a:off x="4873" y="1464"/>
              <a:ext cx="79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50" name="Rectangle 201"/>
            <p:cNvSpPr>
              <a:spLocks noChangeArrowheads="1"/>
            </p:cNvSpPr>
            <p:nvPr/>
          </p:nvSpPr>
          <p:spPr bwMode="auto">
            <a:xfrm>
              <a:off x="4760" y="1024"/>
              <a:ext cx="138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51" name="Rectangle 202"/>
            <p:cNvSpPr>
              <a:spLocks noChangeArrowheads="1"/>
            </p:cNvSpPr>
            <p:nvPr/>
          </p:nvSpPr>
          <p:spPr bwMode="auto">
            <a:xfrm>
              <a:off x="5062" y="1862"/>
              <a:ext cx="77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52" name="Rectangle 203"/>
            <p:cNvSpPr>
              <a:spLocks noChangeArrowheads="1"/>
            </p:cNvSpPr>
            <p:nvPr/>
          </p:nvSpPr>
          <p:spPr bwMode="auto">
            <a:xfrm>
              <a:off x="3535" y="1876"/>
              <a:ext cx="56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X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53" name="Text Box 204"/>
            <p:cNvSpPr txBox="1">
              <a:spLocks noChangeArrowheads="1"/>
            </p:cNvSpPr>
            <p:nvPr/>
          </p:nvSpPr>
          <p:spPr bwMode="auto">
            <a:xfrm>
              <a:off x="4946" y="1456"/>
              <a:ext cx="186" cy="1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5354" name="Text Box 205"/>
            <p:cNvSpPr txBox="1">
              <a:spLocks noChangeArrowheads="1"/>
            </p:cNvSpPr>
            <p:nvPr/>
          </p:nvSpPr>
          <p:spPr bwMode="auto">
            <a:xfrm>
              <a:off x="4822" y="1011"/>
              <a:ext cx="186" cy="19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5355" name="Line 206"/>
            <p:cNvSpPr>
              <a:spLocks noChangeShapeType="1"/>
            </p:cNvSpPr>
            <p:nvPr/>
          </p:nvSpPr>
          <p:spPr bwMode="auto">
            <a:xfrm flipV="1">
              <a:off x="3782" y="1131"/>
              <a:ext cx="956" cy="58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6" name="Line 207"/>
            <p:cNvSpPr>
              <a:spLocks noChangeShapeType="1"/>
            </p:cNvSpPr>
            <p:nvPr/>
          </p:nvSpPr>
          <p:spPr bwMode="auto">
            <a:xfrm>
              <a:off x="3854" y="1434"/>
              <a:ext cx="984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7" name="Line 208"/>
            <p:cNvSpPr>
              <a:spLocks noChangeShapeType="1"/>
            </p:cNvSpPr>
            <p:nvPr/>
          </p:nvSpPr>
          <p:spPr bwMode="auto">
            <a:xfrm>
              <a:off x="3638" y="1997"/>
              <a:ext cx="13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8" name="Line 209"/>
            <p:cNvSpPr>
              <a:spLocks noChangeShapeType="1"/>
            </p:cNvSpPr>
            <p:nvPr/>
          </p:nvSpPr>
          <p:spPr bwMode="auto">
            <a:xfrm>
              <a:off x="3854" y="1445"/>
              <a:ext cx="0" cy="1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59" name="Line 210"/>
            <p:cNvSpPr>
              <a:spLocks noChangeShapeType="1"/>
            </p:cNvSpPr>
            <p:nvPr/>
          </p:nvSpPr>
          <p:spPr bwMode="auto">
            <a:xfrm>
              <a:off x="4742" y="1133"/>
              <a:ext cx="0" cy="15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0" name="Line 211"/>
            <p:cNvSpPr>
              <a:spLocks noChangeShapeType="1"/>
            </p:cNvSpPr>
            <p:nvPr/>
          </p:nvSpPr>
          <p:spPr bwMode="auto">
            <a:xfrm>
              <a:off x="4834" y="1541"/>
              <a:ext cx="0" cy="8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1" name="Line 212"/>
            <p:cNvSpPr>
              <a:spLocks noChangeShapeType="1"/>
            </p:cNvSpPr>
            <p:nvPr/>
          </p:nvSpPr>
          <p:spPr bwMode="auto">
            <a:xfrm flipV="1">
              <a:off x="3850" y="2390"/>
              <a:ext cx="984" cy="26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2" name="Line 213"/>
            <p:cNvSpPr>
              <a:spLocks noChangeShapeType="1"/>
            </p:cNvSpPr>
            <p:nvPr/>
          </p:nvSpPr>
          <p:spPr bwMode="auto">
            <a:xfrm>
              <a:off x="3787" y="2184"/>
              <a:ext cx="955" cy="5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63" name="Text Box 214"/>
            <p:cNvSpPr txBox="1">
              <a:spLocks noChangeArrowheads="1"/>
            </p:cNvSpPr>
            <p:nvPr/>
          </p:nvSpPr>
          <p:spPr bwMode="auto">
            <a:xfrm>
              <a:off x="3693" y="1670"/>
              <a:ext cx="186" cy="1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5364" name="Text Box 215"/>
            <p:cNvSpPr txBox="1">
              <a:spLocks noChangeArrowheads="1"/>
            </p:cNvSpPr>
            <p:nvPr/>
          </p:nvSpPr>
          <p:spPr bwMode="auto">
            <a:xfrm>
              <a:off x="3789" y="1328"/>
              <a:ext cx="186" cy="1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</p:grpSp>
      <p:sp>
        <p:nvSpPr>
          <p:cNvPr id="32985" name="Line 217"/>
          <p:cNvSpPr>
            <a:spLocks noChangeShapeType="1"/>
          </p:cNvSpPr>
          <p:nvPr/>
        </p:nvSpPr>
        <p:spPr bwMode="auto">
          <a:xfrm>
            <a:off x="3854451" y="2662338"/>
            <a:ext cx="377825" cy="2117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92"/>
          <p:cNvGrpSpPr>
            <a:grpSpLocks/>
          </p:cNvGrpSpPr>
          <p:nvPr/>
        </p:nvGrpSpPr>
        <p:grpSpPr bwMode="auto">
          <a:xfrm>
            <a:off x="6688137" y="2078138"/>
            <a:ext cx="3511549" cy="3259137"/>
            <a:chOff x="3253" y="581"/>
            <a:chExt cx="2212" cy="2053"/>
          </a:xfrm>
        </p:grpSpPr>
        <p:sp>
          <p:nvSpPr>
            <p:cNvPr id="55306" name="AutoShape 219"/>
            <p:cNvSpPr>
              <a:spLocks noChangeArrowheads="1"/>
            </p:cNvSpPr>
            <p:nvPr/>
          </p:nvSpPr>
          <p:spPr bwMode="auto">
            <a:xfrm flipH="1">
              <a:off x="3253" y="1853"/>
              <a:ext cx="2212" cy="760"/>
            </a:xfrm>
            <a:prstGeom prst="parallelogram">
              <a:avLst>
                <a:gd name="adj" fmla="val 99743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07" name="Rectangle 220"/>
            <p:cNvSpPr>
              <a:spLocks noChangeArrowheads="1"/>
            </p:cNvSpPr>
            <p:nvPr/>
          </p:nvSpPr>
          <p:spPr bwMode="auto">
            <a:xfrm>
              <a:off x="3260" y="581"/>
              <a:ext cx="1458" cy="1275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08" name="Line 228"/>
            <p:cNvSpPr>
              <a:spLocks noChangeShapeType="1"/>
            </p:cNvSpPr>
            <p:nvPr/>
          </p:nvSpPr>
          <p:spPr bwMode="auto">
            <a:xfrm>
              <a:off x="4791" y="1602"/>
              <a:ext cx="0" cy="5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09" name="Line 229"/>
            <p:cNvSpPr>
              <a:spLocks noChangeShapeType="1"/>
            </p:cNvSpPr>
            <p:nvPr/>
          </p:nvSpPr>
          <p:spPr bwMode="auto">
            <a:xfrm>
              <a:off x="4498" y="1309"/>
              <a:ext cx="298" cy="2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0" name="Line 230"/>
            <p:cNvSpPr>
              <a:spLocks noChangeShapeType="1"/>
            </p:cNvSpPr>
            <p:nvPr/>
          </p:nvSpPr>
          <p:spPr bwMode="auto">
            <a:xfrm>
              <a:off x="4896" y="1405"/>
              <a:ext cx="0" cy="6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1" name="Line 231"/>
            <p:cNvSpPr>
              <a:spLocks noChangeShapeType="1"/>
            </p:cNvSpPr>
            <p:nvPr/>
          </p:nvSpPr>
          <p:spPr bwMode="auto">
            <a:xfrm>
              <a:off x="4896" y="2217"/>
              <a:ext cx="0" cy="1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2" name="Line 232"/>
            <p:cNvSpPr>
              <a:spLocks noChangeShapeType="1"/>
            </p:cNvSpPr>
            <p:nvPr/>
          </p:nvSpPr>
          <p:spPr bwMode="auto">
            <a:xfrm>
              <a:off x="4397" y="901"/>
              <a:ext cx="504" cy="5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3" name="Line 233"/>
            <p:cNvSpPr>
              <a:spLocks noChangeShapeType="1"/>
            </p:cNvSpPr>
            <p:nvPr/>
          </p:nvSpPr>
          <p:spPr bwMode="auto">
            <a:xfrm>
              <a:off x="3442" y="1487"/>
              <a:ext cx="130" cy="1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4" name="Line 234"/>
            <p:cNvSpPr>
              <a:spLocks noChangeShapeType="1"/>
            </p:cNvSpPr>
            <p:nvPr/>
          </p:nvSpPr>
          <p:spPr bwMode="auto">
            <a:xfrm>
              <a:off x="3572" y="1972"/>
              <a:ext cx="1324" cy="3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5" name="Line 235"/>
            <p:cNvSpPr>
              <a:spLocks noChangeShapeType="1"/>
            </p:cNvSpPr>
            <p:nvPr/>
          </p:nvSpPr>
          <p:spPr bwMode="auto">
            <a:xfrm>
              <a:off x="3509" y="1204"/>
              <a:ext cx="989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6" name="Line 236"/>
            <p:cNvSpPr>
              <a:spLocks noChangeShapeType="1"/>
            </p:cNvSpPr>
            <p:nvPr/>
          </p:nvSpPr>
          <p:spPr bwMode="auto">
            <a:xfrm flipV="1">
              <a:off x="3994" y="2145"/>
              <a:ext cx="797" cy="18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7" name="Line 237"/>
            <p:cNvSpPr>
              <a:spLocks noChangeShapeType="1"/>
            </p:cNvSpPr>
            <p:nvPr/>
          </p:nvSpPr>
          <p:spPr bwMode="auto">
            <a:xfrm flipV="1">
              <a:off x="3989" y="1607"/>
              <a:ext cx="807" cy="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8" name="Line 238"/>
            <p:cNvSpPr>
              <a:spLocks noChangeShapeType="1"/>
            </p:cNvSpPr>
            <p:nvPr/>
          </p:nvSpPr>
          <p:spPr bwMode="auto">
            <a:xfrm flipV="1">
              <a:off x="3576" y="1396"/>
              <a:ext cx="1325" cy="22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19" name="Line 239"/>
            <p:cNvSpPr>
              <a:spLocks noChangeShapeType="1"/>
            </p:cNvSpPr>
            <p:nvPr/>
          </p:nvSpPr>
          <p:spPr bwMode="auto">
            <a:xfrm flipV="1">
              <a:off x="3447" y="901"/>
              <a:ext cx="960" cy="5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0" name="Line 240"/>
            <p:cNvSpPr>
              <a:spLocks noChangeShapeType="1"/>
            </p:cNvSpPr>
            <p:nvPr/>
          </p:nvSpPr>
          <p:spPr bwMode="auto">
            <a:xfrm>
              <a:off x="3514" y="1204"/>
              <a:ext cx="470" cy="4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1" name="Line 241"/>
            <p:cNvSpPr>
              <a:spLocks noChangeShapeType="1"/>
            </p:cNvSpPr>
            <p:nvPr/>
          </p:nvSpPr>
          <p:spPr bwMode="auto">
            <a:xfrm>
              <a:off x="3994" y="1684"/>
              <a:ext cx="0" cy="6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2" name="Line 242"/>
            <p:cNvSpPr>
              <a:spLocks noChangeShapeType="1"/>
            </p:cNvSpPr>
            <p:nvPr/>
          </p:nvSpPr>
          <p:spPr bwMode="auto">
            <a:xfrm>
              <a:off x="3576" y="1611"/>
              <a:ext cx="0" cy="3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323" name="Rectangle 244"/>
            <p:cNvSpPr>
              <a:spLocks noChangeArrowheads="1"/>
            </p:cNvSpPr>
            <p:nvPr/>
          </p:nvSpPr>
          <p:spPr bwMode="auto">
            <a:xfrm>
              <a:off x="3483" y="1856"/>
              <a:ext cx="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24" name="Rectangle 245"/>
            <p:cNvSpPr>
              <a:spLocks noChangeArrowheads="1"/>
            </p:cNvSpPr>
            <p:nvPr/>
          </p:nvSpPr>
          <p:spPr bwMode="auto">
            <a:xfrm>
              <a:off x="3889" y="2247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25" name="Freeform 247"/>
            <p:cNvSpPr>
              <a:spLocks/>
            </p:cNvSpPr>
            <p:nvPr/>
          </p:nvSpPr>
          <p:spPr bwMode="auto">
            <a:xfrm>
              <a:off x="3870" y="1108"/>
              <a:ext cx="199" cy="124"/>
            </a:xfrm>
            <a:custGeom>
              <a:avLst/>
              <a:gdLst>
                <a:gd name="T0" fmla="*/ 0 w 796"/>
                <a:gd name="T1" fmla="*/ 0 h 498"/>
                <a:gd name="T2" fmla="*/ 0 w 796"/>
                <a:gd name="T3" fmla="*/ 0 h 498"/>
                <a:gd name="T4" fmla="*/ 0 w 796"/>
                <a:gd name="T5" fmla="*/ 0 h 498"/>
                <a:gd name="T6" fmla="*/ 0 60000 65536"/>
                <a:gd name="T7" fmla="*/ 0 60000 65536"/>
                <a:gd name="T8" fmla="*/ 0 60000 65536"/>
                <a:gd name="T9" fmla="*/ 0 w 796"/>
                <a:gd name="T10" fmla="*/ 0 h 498"/>
                <a:gd name="T11" fmla="*/ 796 w 796"/>
                <a:gd name="T12" fmla="*/ 498 h 4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6" h="498">
                  <a:moveTo>
                    <a:pt x="0" y="498"/>
                  </a:moveTo>
                  <a:lnTo>
                    <a:pt x="795" y="0"/>
                  </a:lnTo>
                  <a:lnTo>
                    <a:pt x="796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6" name="Rectangle 248"/>
            <p:cNvSpPr>
              <a:spLocks noChangeArrowheads="1"/>
            </p:cNvSpPr>
            <p:nvPr/>
          </p:nvSpPr>
          <p:spPr bwMode="auto">
            <a:xfrm>
              <a:off x="3379" y="1060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27" name="Rectangle 250"/>
            <p:cNvSpPr>
              <a:spLocks noChangeArrowheads="1"/>
            </p:cNvSpPr>
            <p:nvPr/>
          </p:nvSpPr>
          <p:spPr bwMode="auto">
            <a:xfrm>
              <a:off x="3433" y="1575"/>
              <a:ext cx="1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28" name="Rectangle 251"/>
            <p:cNvSpPr>
              <a:spLocks noChangeArrowheads="1"/>
            </p:cNvSpPr>
            <p:nvPr/>
          </p:nvSpPr>
          <p:spPr bwMode="auto">
            <a:xfrm>
              <a:off x="3305" y="1327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 dirty="0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 dirty="0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29" name="Rectangle 252"/>
            <p:cNvSpPr>
              <a:spLocks noChangeArrowheads="1"/>
            </p:cNvSpPr>
            <p:nvPr/>
          </p:nvSpPr>
          <p:spPr bwMode="auto">
            <a:xfrm>
              <a:off x="3867" y="1634"/>
              <a:ext cx="10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30" name="Rectangle 253"/>
            <p:cNvSpPr>
              <a:spLocks noChangeArrowheads="1"/>
            </p:cNvSpPr>
            <p:nvPr/>
          </p:nvSpPr>
          <p:spPr bwMode="auto">
            <a:xfrm>
              <a:off x="3309" y="785"/>
              <a:ext cx="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V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31" name="Rectangle 257"/>
            <p:cNvSpPr>
              <a:spLocks noChangeArrowheads="1"/>
            </p:cNvSpPr>
            <p:nvPr/>
          </p:nvSpPr>
          <p:spPr bwMode="auto">
            <a:xfrm>
              <a:off x="4897" y="2330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32" name="Rectangle 258"/>
            <p:cNvSpPr>
              <a:spLocks noChangeArrowheads="1"/>
            </p:cNvSpPr>
            <p:nvPr/>
          </p:nvSpPr>
          <p:spPr bwMode="auto">
            <a:xfrm>
              <a:off x="5115" y="2401"/>
              <a:ext cx="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H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33" name="Rectangle 259"/>
            <p:cNvSpPr>
              <a:spLocks noChangeArrowheads="1"/>
            </p:cNvSpPr>
            <p:nvPr/>
          </p:nvSpPr>
          <p:spPr bwMode="auto">
            <a:xfrm>
              <a:off x="4833" y="2007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34" name="Rectangle 260"/>
            <p:cNvSpPr>
              <a:spLocks noChangeArrowheads="1"/>
            </p:cNvSpPr>
            <p:nvPr/>
          </p:nvSpPr>
          <p:spPr bwMode="auto">
            <a:xfrm>
              <a:off x="4452" y="109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35" name="Rectangle 264"/>
            <p:cNvSpPr>
              <a:spLocks noChangeArrowheads="1"/>
            </p:cNvSpPr>
            <p:nvPr/>
          </p:nvSpPr>
          <p:spPr bwMode="auto">
            <a:xfrm>
              <a:off x="4652" y="1588"/>
              <a:ext cx="1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36" name="Rectangle 265"/>
            <p:cNvSpPr>
              <a:spLocks noChangeArrowheads="1"/>
            </p:cNvSpPr>
            <p:nvPr/>
          </p:nvSpPr>
          <p:spPr bwMode="auto">
            <a:xfrm>
              <a:off x="4942" y="1285"/>
              <a:ext cx="1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37" name="Rectangle 266"/>
            <p:cNvSpPr>
              <a:spLocks noChangeArrowheads="1"/>
            </p:cNvSpPr>
            <p:nvPr/>
          </p:nvSpPr>
          <p:spPr bwMode="auto">
            <a:xfrm>
              <a:off x="4457" y="76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5338" name="Text Box 272"/>
            <p:cNvSpPr txBox="1">
              <a:spLocks noChangeArrowheads="1"/>
            </p:cNvSpPr>
            <p:nvPr/>
          </p:nvSpPr>
          <p:spPr bwMode="auto">
            <a:xfrm>
              <a:off x="3438" y="1061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5339" name="Text Box 275"/>
            <p:cNvSpPr txBox="1">
              <a:spLocks noChangeArrowheads="1"/>
            </p:cNvSpPr>
            <p:nvPr/>
          </p:nvSpPr>
          <p:spPr bwMode="auto">
            <a:xfrm>
              <a:off x="4528" y="1065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5340" name="Text Box 276"/>
            <p:cNvSpPr txBox="1">
              <a:spLocks noChangeArrowheads="1"/>
            </p:cNvSpPr>
            <p:nvPr/>
          </p:nvSpPr>
          <p:spPr bwMode="auto">
            <a:xfrm>
              <a:off x="4494" y="723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5341" name="Text Box 278"/>
            <p:cNvSpPr txBox="1">
              <a:spLocks noChangeArrowheads="1"/>
            </p:cNvSpPr>
            <p:nvPr/>
          </p:nvSpPr>
          <p:spPr bwMode="auto">
            <a:xfrm>
              <a:off x="3373" y="1322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</p:grpSp>
      <p:sp>
        <p:nvSpPr>
          <p:cNvPr id="69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9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2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2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9" dur="500"/>
                                        <p:tgtEl>
                                          <p:spTgt spid="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05" grpId="0" autoUpdateAnimBg="0"/>
      <p:bldP spid="32857" grpId="0" autoUpdateAnimBg="0"/>
      <p:bldP spid="32931" grpId="0" autoUpdateAnimBg="0"/>
      <p:bldP spid="32957" grpId="0" autoUpdateAnimBg="0"/>
      <p:bldP spid="32958" grpId="0" autoUpdateAnimBg="0"/>
      <p:bldP spid="3298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459"/>
          <p:cNvGrpSpPr>
            <a:grpSpLocks/>
          </p:cNvGrpSpPr>
          <p:nvPr/>
        </p:nvGrpSpPr>
        <p:grpSpPr bwMode="auto">
          <a:xfrm>
            <a:off x="3106564" y="1527350"/>
            <a:ext cx="3421063" cy="3036887"/>
            <a:chOff x="862" y="423"/>
            <a:chExt cx="2155" cy="1913"/>
          </a:xfrm>
        </p:grpSpPr>
        <p:sp>
          <p:nvSpPr>
            <p:cNvPr id="56410" name="AutoShape 460"/>
            <p:cNvSpPr>
              <a:spLocks noChangeArrowheads="1"/>
            </p:cNvSpPr>
            <p:nvPr/>
          </p:nvSpPr>
          <p:spPr bwMode="auto">
            <a:xfrm flipH="1">
              <a:off x="862" y="1553"/>
              <a:ext cx="2155" cy="783"/>
            </a:xfrm>
            <a:prstGeom prst="parallelogram">
              <a:avLst>
                <a:gd name="adj" fmla="val 99743"/>
              </a:avLst>
            </a:prstGeom>
            <a:solidFill>
              <a:srgbClr val="66FF3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11" name="Rectangle 461"/>
            <p:cNvSpPr>
              <a:spLocks noChangeArrowheads="1"/>
            </p:cNvSpPr>
            <p:nvPr/>
          </p:nvSpPr>
          <p:spPr bwMode="auto">
            <a:xfrm>
              <a:off x="863" y="433"/>
              <a:ext cx="1380" cy="1123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12" name="Line 462"/>
            <p:cNvSpPr>
              <a:spLocks noChangeShapeType="1"/>
            </p:cNvSpPr>
            <p:nvPr/>
          </p:nvSpPr>
          <p:spPr bwMode="auto">
            <a:xfrm>
              <a:off x="2400" y="1302"/>
              <a:ext cx="0" cy="5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13" name="Line 463"/>
            <p:cNvSpPr>
              <a:spLocks noChangeShapeType="1"/>
            </p:cNvSpPr>
            <p:nvPr/>
          </p:nvSpPr>
          <p:spPr bwMode="auto">
            <a:xfrm>
              <a:off x="2107" y="1009"/>
              <a:ext cx="298" cy="2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14" name="Line 464"/>
            <p:cNvSpPr>
              <a:spLocks noChangeShapeType="1"/>
            </p:cNvSpPr>
            <p:nvPr/>
          </p:nvSpPr>
          <p:spPr bwMode="auto">
            <a:xfrm>
              <a:off x="2505" y="1105"/>
              <a:ext cx="0" cy="6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15" name="Line 465"/>
            <p:cNvSpPr>
              <a:spLocks noChangeShapeType="1"/>
            </p:cNvSpPr>
            <p:nvPr/>
          </p:nvSpPr>
          <p:spPr bwMode="auto">
            <a:xfrm>
              <a:off x="2505" y="1917"/>
              <a:ext cx="0" cy="1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16" name="Line 466"/>
            <p:cNvSpPr>
              <a:spLocks noChangeShapeType="1"/>
            </p:cNvSpPr>
            <p:nvPr/>
          </p:nvSpPr>
          <p:spPr bwMode="auto">
            <a:xfrm>
              <a:off x="2006" y="601"/>
              <a:ext cx="504" cy="5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17" name="Line 467"/>
            <p:cNvSpPr>
              <a:spLocks noChangeShapeType="1"/>
            </p:cNvSpPr>
            <p:nvPr/>
          </p:nvSpPr>
          <p:spPr bwMode="auto">
            <a:xfrm>
              <a:off x="1051" y="1187"/>
              <a:ext cx="130" cy="1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18" name="Line 468"/>
            <p:cNvSpPr>
              <a:spLocks noChangeShapeType="1"/>
            </p:cNvSpPr>
            <p:nvPr/>
          </p:nvSpPr>
          <p:spPr bwMode="auto">
            <a:xfrm>
              <a:off x="1181" y="1672"/>
              <a:ext cx="1324" cy="3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19" name="Line 469"/>
            <p:cNvSpPr>
              <a:spLocks noChangeShapeType="1"/>
            </p:cNvSpPr>
            <p:nvPr/>
          </p:nvSpPr>
          <p:spPr bwMode="auto">
            <a:xfrm>
              <a:off x="1118" y="904"/>
              <a:ext cx="989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20" name="Line 470"/>
            <p:cNvSpPr>
              <a:spLocks noChangeShapeType="1"/>
            </p:cNvSpPr>
            <p:nvPr/>
          </p:nvSpPr>
          <p:spPr bwMode="auto">
            <a:xfrm flipV="1">
              <a:off x="1603" y="1845"/>
              <a:ext cx="797" cy="18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21" name="Line 471"/>
            <p:cNvSpPr>
              <a:spLocks noChangeShapeType="1"/>
            </p:cNvSpPr>
            <p:nvPr/>
          </p:nvSpPr>
          <p:spPr bwMode="auto">
            <a:xfrm flipV="1">
              <a:off x="1598" y="1307"/>
              <a:ext cx="807" cy="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22" name="Line 472"/>
            <p:cNvSpPr>
              <a:spLocks noChangeShapeType="1"/>
            </p:cNvSpPr>
            <p:nvPr/>
          </p:nvSpPr>
          <p:spPr bwMode="auto">
            <a:xfrm flipV="1">
              <a:off x="1185" y="1096"/>
              <a:ext cx="1325" cy="22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23" name="Line 473"/>
            <p:cNvSpPr>
              <a:spLocks noChangeShapeType="1"/>
            </p:cNvSpPr>
            <p:nvPr/>
          </p:nvSpPr>
          <p:spPr bwMode="auto">
            <a:xfrm flipV="1">
              <a:off x="1056" y="601"/>
              <a:ext cx="960" cy="59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24" name="Line 474"/>
            <p:cNvSpPr>
              <a:spLocks noChangeShapeType="1"/>
            </p:cNvSpPr>
            <p:nvPr/>
          </p:nvSpPr>
          <p:spPr bwMode="auto">
            <a:xfrm>
              <a:off x="1123" y="904"/>
              <a:ext cx="470" cy="4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25" name="Line 475"/>
            <p:cNvSpPr>
              <a:spLocks noChangeShapeType="1"/>
            </p:cNvSpPr>
            <p:nvPr/>
          </p:nvSpPr>
          <p:spPr bwMode="auto">
            <a:xfrm>
              <a:off x="1603" y="1384"/>
              <a:ext cx="0" cy="6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26" name="Line 476"/>
            <p:cNvSpPr>
              <a:spLocks noChangeShapeType="1"/>
            </p:cNvSpPr>
            <p:nvPr/>
          </p:nvSpPr>
          <p:spPr bwMode="auto">
            <a:xfrm>
              <a:off x="1185" y="1311"/>
              <a:ext cx="0" cy="3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27" name="Rectangle 477"/>
            <p:cNvSpPr>
              <a:spLocks noChangeArrowheads="1"/>
            </p:cNvSpPr>
            <p:nvPr/>
          </p:nvSpPr>
          <p:spPr bwMode="auto">
            <a:xfrm>
              <a:off x="1092" y="1556"/>
              <a:ext cx="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28" name="Rectangle 478"/>
            <p:cNvSpPr>
              <a:spLocks noChangeArrowheads="1"/>
            </p:cNvSpPr>
            <p:nvPr/>
          </p:nvSpPr>
          <p:spPr bwMode="auto">
            <a:xfrm>
              <a:off x="1498" y="1947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29" name="Rectangle 479"/>
            <p:cNvSpPr>
              <a:spLocks noChangeArrowheads="1"/>
            </p:cNvSpPr>
            <p:nvPr/>
          </p:nvSpPr>
          <p:spPr bwMode="auto">
            <a:xfrm>
              <a:off x="988" y="760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0" name="Rectangle 480"/>
            <p:cNvSpPr>
              <a:spLocks noChangeArrowheads="1"/>
            </p:cNvSpPr>
            <p:nvPr/>
          </p:nvSpPr>
          <p:spPr bwMode="auto">
            <a:xfrm>
              <a:off x="1042" y="1275"/>
              <a:ext cx="1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1" name="Rectangle 481"/>
            <p:cNvSpPr>
              <a:spLocks noChangeArrowheads="1"/>
            </p:cNvSpPr>
            <p:nvPr/>
          </p:nvSpPr>
          <p:spPr bwMode="auto">
            <a:xfrm>
              <a:off x="914" y="1027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2" name="Rectangle 482"/>
            <p:cNvSpPr>
              <a:spLocks noChangeArrowheads="1"/>
            </p:cNvSpPr>
            <p:nvPr/>
          </p:nvSpPr>
          <p:spPr bwMode="auto">
            <a:xfrm>
              <a:off x="1476" y="1334"/>
              <a:ext cx="10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3" name="Rectangle 483"/>
            <p:cNvSpPr>
              <a:spLocks noChangeArrowheads="1"/>
            </p:cNvSpPr>
            <p:nvPr/>
          </p:nvSpPr>
          <p:spPr bwMode="auto">
            <a:xfrm>
              <a:off x="918" y="485"/>
              <a:ext cx="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V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4" name="Rectangle 484"/>
            <p:cNvSpPr>
              <a:spLocks noChangeArrowheads="1"/>
            </p:cNvSpPr>
            <p:nvPr/>
          </p:nvSpPr>
          <p:spPr bwMode="auto">
            <a:xfrm>
              <a:off x="2506" y="2030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5" name="Rectangle 485"/>
            <p:cNvSpPr>
              <a:spLocks noChangeArrowheads="1"/>
            </p:cNvSpPr>
            <p:nvPr/>
          </p:nvSpPr>
          <p:spPr bwMode="auto">
            <a:xfrm>
              <a:off x="2724" y="2101"/>
              <a:ext cx="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H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6" name="Rectangle 486"/>
            <p:cNvSpPr>
              <a:spLocks noChangeArrowheads="1"/>
            </p:cNvSpPr>
            <p:nvPr/>
          </p:nvSpPr>
          <p:spPr bwMode="auto">
            <a:xfrm>
              <a:off x="2442" y="1707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7" name="Rectangle 487"/>
            <p:cNvSpPr>
              <a:spLocks noChangeArrowheads="1"/>
            </p:cNvSpPr>
            <p:nvPr/>
          </p:nvSpPr>
          <p:spPr bwMode="auto">
            <a:xfrm>
              <a:off x="2061" y="79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8" name="Rectangle 488"/>
            <p:cNvSpPr>
              <a:spLocks noChangeArrowheads="1"/>
            </p:cNvSpPr>
            <p:nvPr/>
          </p:nvSpPr>
          <p:spPr bwMode="auto">
            <a:xfrm>
              <a:off x="2261" y="1288"/>
              <a:ext cx="1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39" name="Rectangle 489"/>
            <p:cNvSpPr>
              <a:spLocks noChangeArrowheads="1"/>
            </p:cNvSpPr>
            <p:nvPr/>
          </p:nvSpPr>
          <p:spPr bwMode="auto">
            <a:xfrm>
              <a:off x="2551" y="985"/>
              <a:ext cx="1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40" name="Rectangle 490"/>
            <p:cNvSpPr>
              <a:spLocks noChangeArrowheads="1"/>
            </p:cNvSpPr>
            <p:nvPr/>
          </p:nvSpPr>
          <p:spPr bwMode="auto">
            <a:xfrm>
              <a:off x="2066" y="46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441" name="Text Box 491"/>
            <p:cNvSpPr txBox="1">
              <a:spLocks noChangeArrowheads="1"/>
            </p:cNvSpPr>
            <p:nvPr/>
          </p:nvSpPr>
          <p:spPr bwMode="auto">
            <a:xfrm>
              <a:off x="1047" y="761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6442" name="Text Box 492"/>
            <p:cNvSpPr txBox="1">
              <a:spLocks noChangeArrowheads="1"/>
            </p:cNvSpPr>
            <p:nvPr/>
          </p:nvSpPr>
          <p:spPr bwMode="auto">
            <a:xfrm>
              <a:off x="2137" y="765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6443" name="Text Box 493"/>
            <p:cNvSpPr txBox="1">
              <a:spLocks noChangeArrowheads="1"/>
            </p:cNvSpPr>
            <p:nvPr/>
          </p:nvSpPr>
          <p:spPr bwMode="auto">
            <a:xfrm>
              <a:off x="2103" y="423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6444" name="Text Box 494"/>
            <p:cNvSpPr txBox="1">
              <a:spLocks noChangeArrowheads="1"/>
            </p:cNvSpPr>
            <p:nvPr/>
          </p:nvSpPr>
          <p:spPr bwMode="auto">
            <a:xfrm>
              <a:off x="982" y="1022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</p:grpSp>
      <p:grpSp>
        <p:nvGrpSpPr>
          <p:cNvPr id="56323" name="Group 224"/>
          <p:cNvGrpSpPr>
            <a:grpSpLocks/>
          </p:cNvGrpSpPr>
          <p:nvPr/>
        </p:nvGrpSpPr>
        <p:grpSpPr bwMode="auto">
          <a:xfrm>
            <a:off x="6916565" y="1616250"/>
            <a:ext cx="2565401" cy="3041649"/>
            <a:chOff x="3535" y="985"/>
            <a:chExt cx="1616" cy="1916"/>
          </a:xfrm>
        </p:grpSpPr>
        <p:sp>
          <p:nvSpPr>
            <p:cNvPr id="56387" name="Line 225"/>
            <p:cNvSpPr>
              <a:spLocks noChangeShapeType="1"/>
            </p:cNvSpPr>
            <p:nvPr/>
          </p:nvSpPr>
          <p:spPr bwMode="auto">
            <a:xfrm>
              <a:off x="3787" y="1714"/>
              <a:ext cx="0" cy="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88" name="Rectangle 226"/>
            <p:cNvSpPr>
              <a:spLocks noChangeArrowheads="1"/>
            </p:cNvSpPr>
            <p:nvPr/>
          </p:nvSpPr>
          <p:spPr bwMode="auto">
            <a:xfrm>
              <a:off x="3798" y="2613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89" name="Rectangle 227"/>
            <p:cNvSpPr>
              <a:spLocks noChangeArrowheads="1"/>
            </p:cNvSpPr>
            <p:nvPr/>
          </p:nvSpPr>
          <p:spPr bwMode="auto">
            <a:xfrm>
              <a:off x="3625" y="204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90" name="Rectangle 228"/>
            <p:cNvSpPr>
              <a:spLocks noChangeArrowheads="1"/>
            </p:cNvSpPr>
            <p:nvPr/>
          </p:nvSpPr>
          <p:spPr bwMode="auto">
            <a:xfrm>
              <a:off x="3735" y="1314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91" name="Rectangle 229"/>
            <p:cNvSpPr>
              <a:spLocks noChangeArrowheads="1"/>
            </p:cNvSpPr>
            <p:nvPr/>
          </p:nvSpPr>
          <p:spPr bwMode="auto">
            <a:xfrm>
              <a:off x="3626" y="1655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92" name="Rectangle 230"/>
            <p:cNvSpPr>
              <a:spLocks noChangeArrowheads="1"/>
            </p:cNvSpPr>
            <p:nvPr/>
          </p:nvSpPr>
          <p:spPr bwMode="auto">
            <a:xfrm>
              <a:off x="4740" y="2668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93" name="Rectangle 231"/>
            <p:cNvSpPr>
              <a:spLocks noChangeArrowheads="1"/>
            </p:cNvSpPr>
            <p:nvPr/>
          </p:nvSpPr>
          <p:spPr bwMode="auto">
            <a:xfrm>
              <a:off x="4905" y="226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94" name="Rectangle 232"/>
            <p:cNvSpPr>
              <a:spLocks noChangeArrowheads="1"/>
            </p:cNvSpPr>
            <p:nvPr/>
          </p:nvSpPr>
          <p:spPr bwMode="auto">
            <a:xfrm>
              <a:off x="4863" y="1464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95" name="Rectangle 233"/>
            <p:cNvSpPr>
              <a:spLocks noChangeArrowheads="1"/>
            </p:cNvSpPr>
            <p:nvPr/>
          </p:nvSpPr>
          <p:spPr bwMode="auto">
            <a:xfrm>
              <a:off x="4760" y="1024"/>
              <a:ext cx="1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96" name="Rectangle 234"/>
            <p:cNvSpPr>
              <a:spLocks noChangeArrowheads="1"/>
            </p:cNvSpPr>
            <p:nvPr/>
          </p:nvSpPr>
          <p:spPr bwMode="auto">
            <a:xfrm>
              <a:off x="5053" y="1862"/>
              <a:ext cx="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97" name="Rectangle 235"/>
            <p:cNvSpPr>
              <a:spLocks noChangeArrowheads="1"/>
            </p:cNvSpPr>
            <p:nvPr/>
          </p:nvSpPr>
          <p:spPr bwMode="auto">
            <a:xfrm>
              <a:off x="3535" y="1876"/>
              <a:ext cx="5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X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98" name="Text Box 236"/>
            <p:cNvSpPr txBox="1">
              <a:spLocks noChangeArrowheads="1"/>
            </p:cNvSpPr>
            <p:nvPr/>
          </p:nvSpPr>
          <p:spPr bwMode="auto">
            <a:xfrm>
              <a:off x="4946" y="1432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6399" name="Text Box 237"/>
            <p:cNvSpPr txBox="1">
              <a:spLocks noChangeArrowheads="1"/>
            </p:cNvSpPr>
            <p:nvPr/>
          </p:nvSpPr>
          <p:spPr bwMode="auto">
            <a:xfrm>
              <a:off x="4822" y="985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6400" name="Line 238"/>
            <p:cNvSpPr>
              <a:spLocks noChangeShapeType="1"/>
            </p:cNvSpPr>
            <p:nvPr/>
          </p:nvSpPr>
          <p:spPr bwMode="auto">
            <a:xfrm flipV="1">
              <a:off x="3782" y="1131"/>
              <a:ext cx="956" cy="58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01" name="Line 239"/>
            <p:cNvSpPr>
              <a:spLocks noChangeShapeType="1"/>
            </p:cNvSpPr>
            <p:nvPr/>
          </p:nvSpPr>
          <p:spPr bwMode="auto">
            <a:xfrm>
              <a:off x="3854" y="1434"/>
              <a:ext cx="984" cy="105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02" name="Line 240"/>
            <p:cNvSpPr>
              <a:spLocks noChangeShapeType="1"/>
            </p:cNvSpPr>
            <p:nvPr/>
          </p:nvSpPr>
          <p:spPr bwMode="auto">
            <a:xfrm>
              <a:off x="3638" y="1997"/>
              <a:ext cx="138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03" name="Line 241"/>
            <p:cNvSpPr>
              <a:spLocks noChangeShapeType="1"/>
            </p:cNvSpPr>
            <p:nvPr/>
          </p:nvSpPr>
          <p:spPr bwMode="auto">
            <a:xfrm>
              <a:off x="3854" y="1445"/>
              <a:ext cx="0" cy="122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04" name="Line 242"/>
            <p:cNvSpPr>
              <a:spLocks noChangeShapeType="1"/>
            </p:cNvSpPr>
            <p:nvPr/>
          </p:nvSpPr>
          <p:spPr bwMode="auto">
            <a:xfrm>
              <a:off x="4742" y="1133"/>
              <a:ext cx="0" cy="15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05" name="Line 243"/>
            <p:cNvSpPr>
              <a:spLocks noChangeShapeType="1"/>
            </p:cNvSpPr>
            <p:nvPr/>
          </p:nvSpPr>
          <p:spPr bwMode="auto">
            <a:xfrm>
              <a:off x="4834" y="1541"/>
              <a:ext cx="0" cy="8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06" name="Line 244"/>
            <p:cNvSpPr>
              <a:spLocks noChangeShapeType="1"/>
            </p:cNvSpPr>
            <p:nvPr/>
          </p:nvSpPr>
          <p:spPr bwMode="auto">
            <a:xfrm flipV="1">
              <a:off x="3850" y="2390"/>
              <a:ext cx="984" cy="26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07" name="Line 245"/>
            <p:cNvSpPr>
              <a:spLocks noChangeShapeType="1"/>
            </p:cNvSpPr>
            <p:nvPr/>
          </p:nvSpPr>
          <p:spPr bwMode="auto">
            <a:xfrm>
              <a:off x="3787" y="2184"/>
              <a:ext cx="955" cy="5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408" name="Text Box 246"/>
            <p:cNvSpPr txBox="1">
              <a:spLocks noChangeArrowheads="1"/>
            </p:cNvSpPr>
            <p:nvPr/>
          </p:nvSpPr>
          <p:spPr bwMode="auto">
            <a:xfrm>
              <a:off x="3693" y="1645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6409" name="Text Box 247"/>
            <p:cNvSpPr txBox="1">
              <a:spLocks noChangeArrowheads="1"/>
            </p:cNvSpPr>
            <p:nvPr/>
          </p:nvSpPr>
          <p:spPr bwMode="auto">
            <a:xfrm>
              <a:off x="3789" y="1303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</p:grpSp>
      <p:sp>
        <p:nvSpPr>
          <p:cNvPr id="94330" name="Rectangle 122"/>
          <p:cNvSpPr>
            <a:spLocks noChangeArrowheads="1"/>
          </p:cNvSpPr>
          <p:nvPr/>
        </p:nvSpPr>
        <p:spPr bwMode="auto">
          <a:xfrm>
            <a:off x="8123728" y="4145137"/>
            <a:ext cx="51937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1(2)</a:t>
            </a:r>
            <a:endParaRPr kumimoji="1" lang="en-US" altLang="zh-CN" sz="20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94413" name="Text Box 205"/>
          <p:cNvSpPr txBox="1">
            <a:spLocks noChangeArrowheads="1"/>
          </p:cNvSpPr>
          <p:nvPr/>
        </p:nvSpPr>
        <p:spPr bwMode="auto">
          <a:xfrm>
            <a:off x="8134177" y="3935587"/>
            <a:ext cx="287337" cy="2143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800" b="1">
                <a:solidFill>
                  <a:schemeClr val="tx2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94461" name="Line 253"/>
          <p:cNvSpPr>
            <a:spLocks noChangeShapeType="1"/>
          </p:cNvSpPr>
          <p:nvPr/>
        </p:nvSpPr>
        <p:spPr bwMode="auto">
          <a:xfrm flipV="1">
            <a:off x="8277051" y="2186162"/>
            <a:ext cx="0" cy="18589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517"/>
          <p:cNvGrpSpPr>
            <a:grpSpLocks/>
          </p:cNvGrpSpPr>
          <p:nvPr/>
        </p:nvGrpSpPr>
        <p:grpSpPr bwMode="auto">
          <a:xfrm>
            <a:off x="8134177" y="2311574"/>
            <a:ext cx="549275" cy="463550"/>
            <a:chOff x="4029" y="917"/>
            <a:chExt cx="346" cy="292"/>
          </a:xfrm>
        </p:grpSpPr>
        <p:sp>
          <p:nvSpPr>
            <p:cNvPr id="56384" name="Rectangle 139"/>
            <p:cNvSpPr>
              <a:spLocks noChangeArrowheads="1"/>
            </p:cNvSpPr>
            <p:nvPr/>
          </p:nvSpPr>
          <p:spPr bwMode="auto">
            <a:xfrm>
              <a:off x="4133" y="984"/>
              <a:ext cx="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2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85" name="Text Box 249"/>
            <p:cNvSpPr txBox="1">
              <a:spLocks noChangeArrowheads="1"/>
            </p:cNvSpPr>
            <p:nvPr/>
          </p:nvSpPr>
          <p:spPr bwMode="auto">
            <a:xfrm>
              <a:off x="4029" y="917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6386" name="Text Box 256"/>
            <p:cNvSpPr txBox="1">
              <a:spLocks noChangeArrowheads="1"/>
            </p:cNvSpPr>
            <p:nvPr/>
          </p:nvSpPr>
          <p:spPr bwMode="auto">
            <a:xfrm>
              <a:off x="4189" y="959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</p:grpSp>
      <p:grpSp>
        <p:nvGrpSpPr>
          <p:cNvPr id="5" name="Group 549"/>
          <p:cNvGrpSpPr>
            <a:grpSpLocks/>
          </p:cNvGrpSpPr>
          <p:nvPr/>
        </p:nvGrpSpPr>
        <p:grpSpPr bwMode="auto">
          <a:xfrm>
            <a:off x="8132588" y="1733725"/>
            <a:ext cx="496888" cy="555625"/>
            <a:chOff x="4028" y="553"/>
            <a:chExt cx="313" cy="350"/>
          </a:xfrm>
        </p:grpSpPr>
        <p:sp>
          <p:nvSpPr>
            <p:cNvPr id="56381" name="Rectangle 145"/>
            <p:cNvSpPr>
              <a:spLocks noChangeArrowheads="1"/>
            </p:cNvSpPr>
            <p:nvPr/>
          </p:nvSpPr>
          <p:spPr bwMode="auto">
            <a:xfrm>
              <a:off x="4125" y="594"/>
              <a:ext cx="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1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82" name="Text Box 196"/>
            <p:cNvSpPr txBox="1">
              <a:spLocks noChangeArrowheads="1"/>
            </p:cNvSpPr>
            <p:nvPr/>
          </p:nvSpPr>
          <p:spPr bwMode="auto">
            <a:xfrm>
              <a:off x="4028" y="768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6383" name="Text Box 257"/>
            <p:cNvSpPr txBox="1">
              <a:spLocks noChangeArrowheads="1"/>
            </p:cNvSpPr>
            <p:nvPr/>
          </p:nvSpPr>
          <p:spPr bwMode="auto">
            <a:xfrm>
              <a:off x="4155" y="553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</p:grpSp>
      <p:sp>
        <p:nvSpPr>
          <p:cNvPr id="94470" name="Text Box 262"/>
          <p:cNvSpPr txBox="1">
            <a:spLocks noChangeArrowheads="1"/>
          </p:cNvSpPr>
          <p:nvPr/>
        </p:nvSpPr>
        <p:spPr bwMode="auto">
          <a:xfrm>
            <a:off x="1161083" y="4302475"/>
            <a:ext cx="2347912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投影特性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：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94471" name="Text Box 263"/>
          <p:cNvSpPr txBox="1">
            <a:spLocks noChangeArrowheads="1"/>
          </p:cNvSpPr>
          <p:nvPr/>
        </p:nvSpPr>
        <p:spPr bwMode="auto">
          <a:xfrm>
            <a:off x="2065338" y="4893802"/>
            <a:ext cx="83994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★ </a:t>
            </a:r>
            <a:r>
              <a:rPr kumimoji="1" lang="zh-CN" altLang="en-US" sz="2400" b="1" dirty="0">
                <a:latin typeface="宋体" pitchFamily="2" charset="-122"/>
              </a:rPr>
              <a:t>同名投影可能相交，但 </a:t>
            </a:r>
            <a:r>
              <a:rPr kumimoji="1"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“</a:t>
            </a:r>
            <a:r>
              <a:rPr kumimoji="1"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交点</a:t>
            </a:r>
            <a:r>
              <a:rPr kumimoji="1"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”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不符合空间一个点的投</a:t>
            </a:r>
            <a:endParaRPr kumimoji="1" lang="en-US" altLang="zh-CN" sz="2400" b="1" dirty="0">
              <a:solidFill>
                <a:srgbClr val="FF0000"/>
              </a:solidFill>
              <a:latin typeface="宋体" pitchFamily="2" charset="-122"/>
            </a:endParaRPr>
          </a:p>
          <a:p>
            <a:r>
              <a:rPr kumimoji="1"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   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影规律</a:t>
            </a:r>
            <a:r>
              <a:rPr kumimoji="1" lang="zh-CN" altLang="en-US" sz="2400" b="1" dirty="0">
                <a:solidFill>
                  <a:srgbClr val="FF0066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94472" name="Text Box 264"/>
          <p:cNvSpPr txBox="1">
            <a:spLocks noChangeArrowheads="1"/>
          </p:cNvSpPr>
          <p:nvPr/>
        </p:nvSpPr>
        <p:spPr bwMode="auto">
          <a:xfrm>
            <a:off x="2034208" y="5712425"/>
            <a:ext cx="83677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★ </a:t>
            </a:r>
            <a:r>
              <a:rPr kumimoji="1" lang="en-US" altLang="zh-CN" sz="2400" b="1" dirty="0">
                <a:solidFill>
                  <a:srgbClr val="003399"/>
                </a:solidFill>
                <a:latin typeface="Times New Roman" pitchFamily="18" charset="0"/>
              </a:rPr>
              <a:t>“</a:t>
            </a:r>
            <a:r>
              <a:rPr kumimoji="1"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交点</a:t>
            </a:r>
            <a:r>
              <a:rPr kumimoji="1"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”</a:t>
            </a:r>
            <a:r>
              <a:rPr kumimoji="1" lang="zh-CN" altLang="en-US" sz="2400" b="1" dirty="0">
                <a:latin typeface="宋体" pitchFamily="2" charset="-122"/>
              </a:rPr>
              <a:t>是两直线上的一 对</a:t>
            </a:r>
            <a:r>
              <a:rPr kumimoji="1" lang="zh-CN" altLang="en-US" sz="2400" b="1" dirty="0">
                <a:solidFill>
                  <a:srgbClr val="FF0066"/>
                </a:solidFill>
                <a:latin typeface="宋体" pitchFamily="2" charset="-122"/>
              </a:rPr>
              <a:t>重影点的投影</a:t>
            </a:r>
            <a:r>
              <a:rPr kumimoji="1" lang="zh-CN" altLang="en-US" sz="2400" b="1" dirty="0">
                <a:latin typeface="宋体" pitchFamily="2" charset="-122"/>
              </a:rPr>
              <a:t>，用其可帮助判</a:t>
            </a:r>
            <a:endParaRPr kumimoji="1" lang="en-US" altLang="zh-CN" sz="2400" b="1" dirty="0">
              <a:latin typeface="宋体" pitchFamily="2" charset="-122"/>
            </a:endParaRPr>
          </a:p>
          <a:p>
            <a:r>
              <a:rPr kumimoji="1" lang="en-US" altLang="zh-CN" sz="2400" b="1" dirty="0">
                <a:latin typeface="宋体" pitchFamily="2" charset="-122"/>
              </a:rPr>
              <a:t>   </a:t>
            </a:r>
            <a:r>
              <a:rPr kumimoji="1" lang="zh-CN" altLang="en-US" sz="2400" b="1" dirty="0">
                <a:latin typeface="宋体" pitchFamily="2" charset="-122"/>
              </a:rPr>
              <a:t>断两直线的空间位置。</a:t>
            </a:r>
          </a:p>
        </p:txBody>
      </p:sp>
      <p:grpSp>
        <p:nvGrpSpPr>
          <p:cNvPr id="6" name="Group 304"/>
          <p:cNvGrpSpPr>
            <a:grpSpLocks/>
          </p:cNvGrpSpPr>
          <p:nvPr/>
        </p:nvGrpSpPr>
        <p:grpSpPr bwMode="auto">
          <a:xfrm>
            <a:off x="4203526" y="1730550"/>
            <a:ext cx="1117599" cy="2554287"/>
            <a:chOff x="1562" y="547"/>
            <a:chExt cx="704" cy="1609"/>
          </a:xfrm>
        </p:grpSpPr>
        <p:sp>
          <p:nvSpPr>
            <p:cNvPr id="56362" name="Line 305"/>
            <p:cNvSpPr>
              <a:spLocks noChangeShapeType="1"/>
            </p:cNvSpPr>
            <p:nvPr/>
          </p:nvSpPr>
          <p:spPr bwMode="auto">
            <a:xfrm>
              <a:off x="1699" y="798"/>
              <a:ext cx="0" cy="7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63" name="Line 306"/>
            <p:cNvSpPr>
              <a:spLocks noChangeShapeType="1"/>
            </p:cNvSpPr>
            <p:nvPr/>
          </p:nvSpPr>
          <p:spPr bwMode="auto">
            <a:xfrm>
              <a:off x="1694" y="1552"/>
              <a:ext cx="365" cy="36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6364" name="Group 307"/>
            <p:cNvGrpSpPr>
              <a:grpSpLocks/>
            </p:cNvGrpSpPr>
            <p:nvPr/>
          </p:nvGrpSpPr>
          <p:grpSpPr bwMode="auto">
            <a:xfrm>
              <a:off x="1562" y="547"/>
              <a:ext cx="704" cy="1609"/>
              <a:chOff x="1562" y="547"/>
              <a:chExt cx="704" cy="1609"/>
            </a:xfrm>
          </p:grpSpPr>
          <p:sp>
            <p:nvSpPr>
              <p:cNvPr id="56365" name="Line 308"/>
              <p:cNvSpPr>
                <a:spLocks noChangeShapeType="1"/>
              </p:cNvSpPr>
              <p:nvPr/>
            </p:nvSpPr>
            <p:spPr bwMode="auto">
              <a:xfrm>
                <a:off x="1853" y="1120"/>
                <a:ext cx="211" cy="2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366" name="Line 309"/>
              <p:cNvSpPr>
                <a:spLocks noChangeShapeType="1"/>
              </p:cNvSpPr>
              <p:nvPr/>
            </p:nvSpPr>
            <p:spPr bwMode="auto">
              <a:xfrm>
                <a:off x="2064" y="1158"/>
                <a:ext cx="0" cy="77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367" name="Rectangle 310"/>
              <p:cNvSpPr>
                <a:spLocks noChangeArrowheads="1"/>
              </p:cNvSpPr>
              <p:nvPr/>
            </p:nvSpPr>
            <p:spPr bwMode="auto">
              <a:xfrm>
                <a:off x="1562" y="944"/>
                <a:ext cx="93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kumimoji="1" lang="en-US" altLang="zh-CN" sz="2000" b="1">
                    <a:solidFill>
                      <a:srgbClr val="000000"/>
                    </a:solidFill>
                    <a:latin typeface="宋体" pitchFamily="2" charset="-122"/>
                  </a:rPr>
                  <a:t>2</a:t>
                </a:r>
                <a:endParaRPr kumimoji="1" lang="en-US" altLang="zh-CN" sz="2000" b="1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6368" name="Line 311"/>
              <p:cNvSpPr>
                <a:spLocks noChangeShapeType="1"/>
              </p:cNvSpPr>
              <p:nvPr/>
            </p:nvSpPr>
            <p:spPr bwMode="auto">
              <a:xfrm>
                <a:off x="1689" y="798"/>
                <a:ext cx="379" cy="37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369" name="Rectangle 312"/>
              <p:cNvSpPr>
                <a:spLocks noChangeArrowheads="1"/>
              </p:cNvSpPr>
              <p:nvPr/>
            </p:nvSpPr>
            <p:spPr bwMode="auto">
              <a:xfrm>
                <a:off x="1656" y="588"/>
                <a:ext cx="82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kumimoji="1" lang="en-US" altLang="zh-CN" sz="2000" b="1">
                    <a:solidFill>
                      <a:srgbClr val="000000"/>
                    </a:solidFill>
                    <a:latin typeface="宋体" pitchFamily="2" charset="-122"/>
                  </a:rPr>
                  <a:t>1</a:t>
                </a:r>
                <a:endParaRPr kumimoji="1" lang="en-US" altLang="zh-CN" sz="2000" b="1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6370" name="Rectangle 313"/>
              <p:cNvSpPr>
                <a:spLocks noChangeArrowheads="1"/>
              </p:cNvSpPr>
              <p:nvPr/>
            </p:nvSpPr>
            <p:spPr bwMode="auto">
              <a:xfrm>
                <a:off x="1939" y="1962"/>
                <a:ext cx="32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kumimoji="1" lang="en-US" altLang="zh-CN" sz="2000" b="1">
                    <a:solidFill>
                      <a:srgbClr val="000000"/>
                    </a:solidFill>
                    <a:latin typeface="宋体" pitchFamily="2" charset="-122"/>
                  </a:rPr>
                  <a:t>1(2)</a:t>
                </a:r>
                <a:endParaRPr kumimoji="1" lang="en-US" altLang="zh-CN" sz="2000" b="1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6371" name="Rectangle 314"/>
              <p:cNvSpPr>
                <a:spLocks noChangeArrowheads="1"/>
              </p:cNvSpPr>
              <p:nvPr/>
            </p:nvSpPr>
            <p:spPr bwMode="auto">
              <a:xfrm>
                <a:off x="2056" y="1323"/>
                <a:ext cx="146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00"/>
                    </a:solidFill>
                    <a:latin typeface="宋体" pitchFamily="2" charset="-122"/>
                  </a:rPr>
                  <a:t>Ⅱ</a:t>
                </a:r>
                <a:endParaRPr kumimoji="1" lang="en-US" altLang="zh-CN" b="1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6372" name="Rectangle 315"/>
              <p:cNvSpPr>
                <a:spLocks noChangeArrowheads="1"/>
              </p:cNvSpPr>
              <p:nvPr/>
            </p:nvSpPr>
            <p:spPr bwMode="auto">
              <a:xfrm>
                <a:off x="1996" y="983"/>
                <a:ext cx="146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kumimoji="1" lang="en-US" altLang="zh-CN" b="1">
                    <a:solidFill>
                      <a:srgbClr val="000000"/>
                    </a:solidFill>
                    <a:latin typeface="宋体" pitchFamily="2" charset="-122"/>
                  </a:rPr>
                  <a:t>Ⅰ</a:t>
                </a:r>
                <a:endParaRPr kumimoji="1" lang="en-US" altLang="zh-CN" b="1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6373" name="Text Box 316"/>
              <p:cNvSpPr txBox="1">
                <a:spLocks noChangeArrowheads="1"/>
              </p:cNvSpPr>
              <p:nvPr/>
            </p:nvSpPr>
            <p:spPr bwMode="auto">
              <a:xfrm>
                <a:off x="1687" y="547"/>
                <a:ext cx="186" cy="25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kumimoji="1" lang="en-US" altLang="zh-CN" sz="2000" b="1">
                    <a:latin typeface="Times New Roman" pitchFamily="18" charset="0"/>
                  </a:rPr>
                  <a:t>′</a:t>
                </a:r>
              </a:p>
            </p:txBody>
          </p:sp>
          <p:sp>
            <p:nvSpPr>
              <p:cNvPr id="56374" name="Text Box 317"/>
              <p:cNvSpPr txBox="1">
                <a:spLocks noChangeArrowheads="1"/>
              </p:cNvSpPr>
              <p:nvPr/>
            </p:nvSpPr>
            <p:spPr bwMode="auto">
              <a:xfrm>
                <a:off x="1614" y="911"/>
                <a:ext cx="186" cy="250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kumimoji="1" lang="en-US" altLang="zh-CN" sz="2000" b="1">
                    <a:latin typeface="Times New Roman" pitchFamily="18" charset="0"/>
                  </a:rPr>
                  <a:t>′</a:t>
                </a:r>
              </a:p>
            </p:txBody>
          </p:sp>
          <p:sp>
            <p:nvSpPr>
              <p:cNvPr id="56375" name="Text Box 318"/>
              <p:cNvSpPr txBox="1">
                <a:spLocks noChangeArrowheads="1"/>
              </p:cNvSpPr>
              <p:nvPr/>
            </p:nvSpPr>
            <p:spPr bwMode="auto">
              <a:xfrm>
                <a:off x="1607" y="897"/>
                <a:ext cx="181" cy="13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800" b="1">
                    <a:solidFill>
                      <a:schemeClr val="tx2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56376" name="Text Box 319"/>
              <p:cNvSpPr txBox="1">
                <a:spLocks noChangeArrowheads="1"/>
              </p:cNvSpPr>
              <p:nvPr/>
            </p:nvSpPr>
            <p:spPr bwMode="auto">
              <a:xfrm>
                <a:off x="1608" y="733"/>
                <a:ext cx="181" cy="13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kumimoji="1" lang="en-US" altLang="zh-CN" sz="800" b="1">
                    <a:solidFill>
                      <a:schemeClr val="tx2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56377" name="Text Box 320"/>
              <p:cNvSpPr txBox="1">
                <a:spLocks noChangeArrowheads="1"/>
              </p:cNvSpPr>
              <p:nvPr/>
            </p:nvSpPr>
            <p:spPr bwMode="auto">
              <a:xfrm>
                <a:off x="1973" y="1851"/>
                <a:ext cx="181" cy="13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800" b="1">
                    <a:solidFill>
                      <a:schemeClr val="tx2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56378" name="Text Box 321"/>
              <p:cNvSpPr txBox="1">
                <a:spLocks noChangeArrowheads="1"/>
              </p:cNvSpPr>
              <p:nvPr/>
            </p:nvSpPr>
            <p:spPr bwMode="auto">
              <a:xfrm>
                <a:off x="1968" y="1098"/>
                <a:ext cx="181" cy="13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800" b="1">
                    <a:solidFill>
                      <a:schemeClr val="tx2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56379" name="Text Box 322"/>
              <p:cNvSpPr txBox="1">
                <a:spLocks noChangeArrowheads="1"/>
              </p:cNvSpPr>
              <p:nvPr/>
            </p:nvSpPr>
            <p:spPr bwMode="auto">
              <a:xfrm>
                <a:off x="1973" y="1270"/>
                <a:ext cx="181" cy="13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800" b="1">
                    <a:solidFill>
                      <a:schemeClr val="tx2"/>
                    </a:solidFill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56380" name="Line 323"/>
              <p:cNvSpPr>
                <a:spLocks noChangeShapeType="1"/>
              </p:cNvSpPr>
              <p:nvPr/>
            </p:nvSpPr>
            <p:spPr bwMode="auto">
              <a:xfrm>
                <a:off x="1694" y="966"/>
                <a:ext cx="72" cy="7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496"/>
          <p:cNvGrpSpPr>
            <a:grpSpLocks/>
          </p:cNvGrpSpPr>
          <p:nvPr/>
        </p:nvGrpSpPr>
        <p:grpSpPr bwMode="auto">
          <a:xfrm>
            <a:off x="3722514" y="1911525"/>
            <a:ext cx="1243013" cy="2365375"/>
            <a:chOff x="-4" y="607"/>
            <a:chExt cx="783" cy="1490"/>
          </a:xfrm>
        </p:grpSpPr>
        <p:sp>
          <p:nvSpPr>
            <p:cNvPr id="56344" name="Line 497"/>
            <p:cNvSpPr>
              <a:spLocks noChangeShapeType="1"/>
            </p:cNvSpPr>
            <p:nvPr/>
          </p:nvSpPr>
          <p:spPr bwMode="auto">
            <a:xfrm>
              <a:off x="503" y="1156"/>
              <a:ext cx="0" cy="6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45" name="Line 498"/>
            <p:cNvSpPr>
              <a:spLocks noChangeShapeType="1"/>
            </p:cNvSpPr>
            <p:nvPr/>
          </p:nvSpPr>
          <p:spPr bwMode="auto">
            <a:xfrm>
              <a:off x="628" y="1295"/>
              <a:ext cx="0" cy="6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46" name="Line 499"/>
            <p:cNvSpPr>
              <a:spLocks noChangeShapeType="1"/>
            </p:cNvSpPr>
            <p:nvPr/>
          </p:nvSpPr>
          <p:spPr bwMode="auto">
            <a:xfrm>
              <a:off x="403" y="1060"/>
              <a:ext cx="220" cy="2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47" name="Text Box 500"/>
            <p:cNvSpPr txBox="1">
              <a:spLocks noChangeArrowheads="1"/>
            </p:cNvSpPr>
            <p:nvPr/>
          </p:nvSpPr>
          <p:spPr bwMode="auto">
            <a:xfrm>
              <a:off x="204" y="607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6348" name="Line 501"/>
            <p:cNvSpPr>
              <a:spLocks noChangeShapeType="1"/>
            </p:cNvSpPr>
            <p:nvPr/>
          </p:nvSpPr>
          <p:spPr bwMode="auto">
            <a:xfrm>
              <a:off x="210" y="873"/>
              <a:ext cx="86" cy="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49" name="Text Box 502"/>
            <p:cNvSpPr txBox="1">
              <a:spLocks noChangeArrowheads="1"/>
            </p:cNvSpPr>
            <p:nvPr/>
          </p:nvSpPr>
          <p:spPr bwMode="auto">
            <a:xfrm>
              <a:off x="47" y="607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6350" name="Rectangle 503"/>
            <p:cNvSpPr>
              <a:spLocks noChangeArrowheads="1"/>
            </p:cNvSpPr>
            <p:nvPr/>
          </p:nvSpPr>
          <p:spPr bwMode="auto">
            <a:xfrm>
              <a:off x="464" y="963"/>
              <a:ext cx="145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0000"/>
                  </a:solidFill>
                  <a:latin typeface="宋体" pitchFamily="2" charset="-122"/>
                </a:rPr>
                <a:t>Ⅳ</a:t>
              </a:r>
              <a:endParaRPr kumimoji="1" lang="en-US" altLang="zh-CN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51" name="Rectangle 504"/>
            <p:cNvSpPr>
              <a:spLocks noChangeArrowheads="1"/>
            </p:cNvSpPr>
            <p:nvPr/>
          </p:nvSpPr>
          <p:spPr bwMode="auto">
            <a:xfrm>
              <a:off x="509" y="1607"/>
              <a:ext cx="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4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52" name="Rectangle 505"/>
            <p:cNvSpPr>
              <a:spLocks noChangeArrowheads="1"/>
            </p:cNvSpPr>
            <p:nvPr/>
          </p:nvSpPr>
          <p:spPr bwMode="auto">
            <a:xfrm>
              <a:off x="-4" y="638"/>
              <a:ext cx="40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3(4 )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53" name="Rectangle 506"/>
            <p:cNvSpPr>
              <a:spLocks noChangeArrowheads="1"/>
            </p:cNvSpPr>
            <p:nvPr/>
          </p:nvSpPr>
          <p:spPr bwMode="auto">
            <a:xfrm>
              <a:off x="577" y="1905"/>
              <a:ext cx="8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3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54" name="Rectangle 507"/>
            <p:cNvSpPr>
              <a:spLocks noChangeArrowheads="1"/>
            </p:cNvSpPr>
            <p:nvPr/>
          </p:nvSpPr>
          <p:spPr bwMode="auto">
            <a:xfrm>
              <a:off x="634" y="1283"/>
              <a:ext cx="145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b="1">
                  <a:solidFill>
                    <a:srgbClr val="000000"/>
                  </a:solidFill>
                  <a:latin typeface="宋体" pitchFamily="2" charset="-122"/>
                </a:rPr>
                <a:t>Ⅲ</a:t>
              </a:r>
              <a:endParaRPr kumimoji="1" lang="en-US" altLang="zh-CN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55" name="Line 508"/>
            <p:cNvSpPr>
              <a:spLocks noChangeShapeType="1"/>
            </p:cNvSpPr>
            <p:nvPr/>
          </p:nvSpPr>
          <p:spPr bwMode="auto">
            <a:xfrm flipH="1" flipV="1">
              <a:off x="215" y="1487"/>
              <a:ext cx="418" cy="4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56" name="Line 509"/>
            <p:cNvSpPr>
              <a:spLocks noChangeShapeType="1"/>
            </p:cNvSpPr>
            <p:nvPr/>
          </p:nvSpPr>
          <p:spPr bwMode="auto">
            <a:xfrm flipV="1">
              <a:off x="215" y="877"/>
              <a:ext cx="0" cy="61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57" name="Text Box 510"/>
            <p:cNvSpPr txBox="1">
              <a:spLocks noChangeArrowheads="1"/>
            </p:cNvSpPr>
            <p:nvPr/>
          </p:nvSpPr>
          <p:spPr bwMode="auto">
            <a:xfrm>
              <a:off x="536" y="1225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6358" name="Text Box 511"/>
            <p:cNvSpPr txBox="1">
              <a:spLocks noChangeArrowheads="1"/>
            </p:cNvSpPr>
            <p:nvPr/>
          </p:nvSpPr>
          <p:spPr bwMode="auto">
            <a:xfrm>
              <a:off x="412" y="1095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6359" name="Text Box 512"/>
            <p:cNvSpPr txBox="1">
              <a:spLocks noChangeArrowheads="1"/>
            </p:cNvSpPr>
            <p:nvPr/>
          </p:nvSpPr>
          <p:spPr bwMode="auto">
            <a:xfrm>
              <a:off x="537" y="1839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6360" name="Text Box 513"/>
            <p:cNvSpPr txBox="1">
              <a:spLocks noChangeArrowheads="1"/>
            </p:cNvSpPr>
            <p:nvPr/>
          </p:nvSpPr>
          <p:spPr bwMode="auto">
            <a:xfrm>
              <a:off x="408" y="1700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6361" name="Text Box 514"/>
            <p:cNvSpPr txBox="1">
              <a:spLocks noChangeArrowheads="1"/>
            </p:cNvSpPr>
            <p:nvPr/>
          </p:nvSpPr>
          <p:spPr bwMode="auto">
            <a:xfrm>
              <a:off x="130" y="813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9" name="Group 539"/>
          <p:cNvGrpSpPr>
            <a:grpSpLocks/>
          </p:cNvGrpSpPr>
          <p:nvPr/>
        </p:nvGrpSpPr>
        <p:grpSpPr bwMode="auto">
          <a:xfrm>
            <a:off x="7535692" y="1922636"/>
            <a:ext cx="649288" cy="2566988"/>
            <a:chOff x="3652" y="672"/>
            <a:chExt cx="409" cy="1617"/>
          </a:xfrm>
        </p:grpSpPr>
        <p:sp>
          <p:nvSpPr>
            <p:cNvPr id="56335" name="Text Box 540"/>
            <p:cNvSpPr txBox="1">
              <a:spLocks noChangeArrowheads="1"/>
            </p:cNvSpPr>
            <p:nvPr/>
          </p:nvSpPr>
          <p:spPr bwMode="auto">
            <a:xfrm>
              <a:off x="3812" y="898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6336" name="Rectangle 541"/>
            <p:cNvSpPr>
              <a:spLocks noChangeArrowheads="1"/>
            </p:cNvSpPr>
            <p:nvPr/>
          </p:nvSpPr>
          <p:spPr bwMode="auto">
            <a:xfrm>
              <a:off x="3652" y="719"/>
              <a:ext cx="40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3(4 )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37" name="Rectangle 542"/>
            <p:cNvSpPr>
              <a:spLocks noChangeArrowheads="1"/>
            </p:cNvSpPr>
            <p:nvPr/>
          </p:nvSpPr>
          <p:spPr bwMode="auto">
            <a:xfrm>
              <a:off x="3895" y="2095"/>
              <a:ext cx="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3</a:t>
              </a:r>
              <a:endParaRPr kumimoji="1" lang="en-US" altLang="zh-CN" sz="20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38" name="Rectangle 543"/>
            <p:cNvSpPr>
              <a:spLocks noChangeArrowheads="1"/>
            </p:cNvSpPr>
            <p:nvPr/>
          </p:nvSpPr>
          <p:spPr bwMode="auto">
            <a:xfrm>
              <a:off x="3919" y="1726"/>
              <a:ext cx="8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000" b="1">
                  <a:solidFill>
                    <a:srgbClr val="000000"/>
                  </a:solidFill>
                  <a:latin typeface="宋体" pitchFamily="2" charset="-122"/>
                </a:rPr>
                <a:t>4</a:t>
              </a:r>
              <a:endParaRPr kumimoji="1" lang="en-US" altLang="zh-CN" sz="2400" b="1">
                <a:solidFill>
                  <a:srgbClr val="FF3300"/>
                </a:solidFill>
                <a:latin typeface="Times New Roman" pitchFamily="18" charset="0"/>
              </a:endParaRPr>
            </a:p>
          </p:txBody>
        </p:sp>
        <p:sp>
          <p:nvSpPr>
            <p:cNvPr id="56339" name="Line 544"/>
            <p:cNvSpPr>
              <a:spLocks noChangeShapeType="1"/>
            </p:cNvSpPr>
            <p:nvPr/>
          </p:nvSpPr>
          <p:spPr bwMode="auto">
            <a:xfrm>
              <a:off x="3898" y="968"/>
              <a:ext cx="0" cy="11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340" name="Text Box 545"/>
            <p:cNvSpPr txBox="1">
              <a:spLocks noChangeArrowheads="1"/>
            </p:cNvSpPr>
            <p:nvPr/>
          </p:nvSpPr>
          <p:spPr bwMode="auto">
            <a:xfrm>
              <a:off x="3808" y="1819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6341" name="Text Box 546"/>
            <p:cNvSpPr txBox="1">
              <a:spLocks noChangeArrowheads="1"/>
            </p:cNvSpPr>
            <p:nvPr/>
          </p:nvSpPr>
          <p:spPr bwMode="auto">
            <a:xfrm>
              <a:off x="3812" y="1992"/>
              <a:ext cx="181" cy="13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800" b="1">
                  <a:solidFill>
                    <a:schemeClr val="tx2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6342" name="Text Box 547"/>
            <p:cNvSpPr txBox="1">
              <a:spLocks noChangeArrowheads="1"/>
            </p:cNvSpPr>
            <p:nvPr/>
          </p:nvSpPr>
          <p:spPr bwMode="auto">
            <a:xfrm>
              <a:off x="3698" y="672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  <p:sp>
          <p:nvSpPr>
            <p:cNvPr id="56343" name="Text Box 548"/>
            <p:cNvSpPr txBox="1">
              <a:spLocks noChangeArrowheads="1"/>
            </p:cNvSpPr>
            <p:nvPr/>
          </p:nvSpPr>
          <p:spPr bwMode="auto">
            <a:xfrm>
              <a:off x="3863" y="674"/>
              <a:ext cx="186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′</a:t>
              </a:r>
            </a:p>
          </p:txBody>
        </p:sp>
      </p:grpSp>
      <p:sp>
        <p:nvSpPr>
          <p:cNvPr id="125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"/>
                                        <p:tgtEl>
                                          <p:spTgt spid="9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"/>
                                        <p:tgtEl>
                                          <p:spTgt spid="9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4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4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330" grpId="0" autoUpdateAnimBg="0"/>
      <p:bldP spid="94413" grpId="0" autoUpdateAnimBg="0"/>
      <p:bldP spid="94461" grpId="0" animBg="1"/>
      <p:bldP spid="94470" grpId="0"/>
      <p:bldP spid="94471" grpId="0" autoUpdateAnimBg="0"/>
      <p:bldP spid="94472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reeform 2"/>
          <p:cNvSpPr>
            <a:spLocks/>
          </p:cNvSpPr>
          <p:nvPr/>
        </p:nvSpPr>
        <p:spPr bwMode="auto">
          <a:xfrm>
            <a:off x="9866314" y="4469036"/>
            <a:ext cx="522287" cy="811213"/>
          </a:xfrm>
          <a:custGeom>
            <a:avLst/>
            <a:gdLst>
              <a:gd name="T0" fmla="*/ 0 w 329"/>
              <a:gd name="T1" fmla="*/ 0 h 511"/>
              <a:gd name="T2" fmla="*/ 2147483647 w 329"/>
              <a:gd name="T3" fmla="*/ 2147483647 h 511"/>
              <a:gd name="T4" fmla="*/ 0 60000 65536"/>
              <a:gd name="T5" fmla="*/ 0 60000 65536"/>
              <a:gd name="T6" fmla="*/ 0 w 329"/>
              <a:gd name="T7" fmla="*/ 0 h 511"/>
              <a:gd name="T8" fmla="*/ 329 w 329"/>
              <a:gd name="T9" fmla="*/ 511 h 51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9" h="511">
                <a:moveTo>
                  <a:pt x="0" y="0"/>
                </a:moveTo>
                <a:lnTo>
                  <a:pt x="329" y="511"/>
                </a:lnTo>
              </a:path>
            </a:pathLst>
          </a:custGeom>
          <a:noFill/>
          <a:ln w="38100">
            <a:solidFill>
              <a:srgbClr val="8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3" name="Line 3"/>
          <p:cNvSpPr>
            <a:spLocks noChangeShapeType="1"/>
          </p:cNvSpPr>
          <p:nvPr/>
        </p:nvSpPr>
        <p:spPr bwMode="auto">
          <a:xfrm>
            <a:off x="5943601" y="4473799"/>
            <a:ext cx="1052513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4" name="Freeform 4"/>
          <p:cNvSpPr>
            <a:spLocks/>
          </p:cNvSpPr>
          <p:nvPr/>
        </p:nvSpPr>
        <p:spPr bwMode="auto">
          <a:xfrm>
            <a:off x="7667626" y="3360961"/>
            <a:ext cx="517525" cy="506412"/>
          </a:xfrm>
          <a:custGeom>
            <a:avLst/>
            <a:gdLst>
              <a:gd name="T0" fmla="*/ 0 w 326"/>
              <a:gd name="T1" fmla="*/ 0 h 319"/>
              <a:gd name="T2" fmla="*/ 2147483647 w 326"/>
              <a:gd name="T3" fmla="*/ 2147483647 h 319"/>
              <a:gd name="T4" fmla="*/ 0 60000 65536"/>
              <a:gd name="T5" fmla="*/ 0 60000 65536"/>
              <a:gd name="T6" fmla="*/ 0 w 326"/>
              <a:gd name="T7" fmla="*/ 0 h 319"/>
              <a:gd name="T8" fmla="*/ 326 w 326"/>
              <a:gd name="T9" fmla="*/ 319 h 31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6" h="319">
                <a:moveTo>
                  <a:pt x="0" y="0"/>
                </a:moveTo>
                <a:lnTo>
                  <a:pt x="326" y="319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1642346" y="1514095"/>
            <a:ext cx="30700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一、平面的表示法</a:t>
            </a:r>
          </a:p>
        </p:txBody>
      </p:sp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1842964" y="5661249"/>
            <a:ext cx="2092797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不在同一直线上的三个点</a:t>
            </a:r>
          </a:p>
        </p:txBody>
      </p:sp>
      <p:sp>
        <p:nvSpPr>
          <p:cNvPr id="97288" name="Freeform 8"/>
          <p:cNvSpPr>
            <a:spLocks/>
          </p:cNvSpPr>
          <p:nvPr/>
        </p:nvSpPr>
        <p:spPr bwMode="auto">
          <a:xfrm>
            <a:off x="3656013" y="4872261"/>
            <a:ext cx="1054100" cy="358775"/>
          </a:xfrm>
          <a:custGeom>
            <a:avLst/>
            <a:gdLst>
              <a:gd name="T0" fmla="*/ 0 w 664"/>
              <a:gd name="T1" fmla="*/ 0 h 226"/>
              <a:gd name="T2" fmla="*/ 2147483647 w 664"/>
              <a:gd name="T3" fmla="*/ 2147483647 h 226"/>
              <a:gd name="T4" fmla="*/ 0 60000 65536"/>
              <a:gd name="T5" fmla="*/ 0 60000 65536"/>
              <a:gd name="T6" fmla="*/ 0 w 664"/>
              <a:gd name="T7" fmla="*/ 0 h 226"/>
              <a:gd name="T8" fmla="*/ 664 w 664"/>
              <a:gd name="T9" fmla="*/ 226 h 2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4" h="226">
                <a:moveTo>
                  <a:pt x="0" y="0"/>
                </a:moveTo>
                <a:lnTo>
                  <a:pt x="664" y="226"/>
                </a:lnTo>
              </a:path>
            </a:pathLst>
          </a:cu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9" name="Freeform 9"/>
          <p:cNvSpPr>
            <a:spLocks/>
          </p:cNvSpPr>
          <p:nvPr/>
        </p:nvSpPr>
        <p:spPr bwMode="auto">
          <a:xfrm>
            <a:off x="3651250" y="2876774"/>
            <a:ext cx="1081088" cy="422275"/>
          </a:xfrm>
          <a:custGeom>
            <a:avLst/>
            <a:gdLst>
              <a:gd name="T0" fmla="*/ 0 w 678"/>
              <a:gd name="T1" fmla="*/ 2147483647 h 240"/>
              <a:gd name="T2" fmla="*/ 2147483647 w 678"/>
              <a:gd name="T3" fmla="*/ 0 h 240"/>
              <a:gd name="T4" fmla="*/ 0 60000 65536"/>
              <a:gd name="T5" fmla="*/ 0 60000 65536"/>
              <a:gd name="T6" fmla="*/ 0 w 678"/>
              <a:gd name="T7" fmla="*/ 0 h 240"/>
              <a:gd name="T8" fmla="*/ 678 w 678"/>
              <a:gd name="T9" fmla="*/ 240 h 2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78" h="240">
                <a:moveTo>
                  <a:pt x="0" y="240"/>
                </a:moveTo>
                <a:lnTo>
                  <a:pt x="678" y="0"/>
                </a:lnTo>
              </a:path>
            </a:pathLst>
          </a:cu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90" name="Text Box 10"/>
          <p:cNvSpPr txBox="1">
            <a:spLocks noChangeArrowheads="1"/>
          </p:cNvSpPr>
          <p:nvPr/>
        </p:nvSpPr>
        <p:spPr bwMode="auto">
          <a:xfrm>
            <a:off x="3949701" y="5661249"/>
            <a:ext cx="1520825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直线及线外一点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026025" y="2533874"/>
            <a:ext cx="2114550" cy="3127375"/>
            <a:chOff x="2184" y="961"/>
            <a:chExt cx="1332" cy="1970"/>
          </a:xfrm>
        </p:grpSpPr>
        <p:sp>
          <p:nvSpPr>
            <p:cNvPr id="58468" name="Line 12"/>
            <p:cNvSpPr>
              <a:spLocks noChangeShapeType="1"/>
            </p:cNvSpPr>
            <p:nvPr/>
          </p:nvSpPr>
          <p:spPr bwMode="auto">
            <a:xfrm>
              <a:off x="3077" y="1236"/>
              <a:ext cx="0" cy="14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69" name="Freeform 13"/>
            <p:cNvSpPr>
              <a:spLocks/>
            </p:cNvSpPr>
            <p:nvPr/>
          </p:nvSpPr>
          <p:spPr bwMode="auto">
            <a:xfrm>
              <a:off x="2400" y="1236"/>
              <a:ext cx="677" cy="255"/>
            </a:xfrm>
            <a:custGeom>
              <a:avLst/>
              <a:gdLst>
                <a:gd name="T0" fmla="*/ 0 w 677"/>
                <a:gd name="T1" fmla="*/ 255 h 255"/>
                <a:gd name="T2" fmla="*/ 677 w 677"/>
                <a:gd name="T3" fmla="*/ 0 h 255"/>
                <a:gd name="T4" fmla="*/ 0 60000 65536"/>
                <a:gd name="T5" fmla="*/ 0 60000 65536"/>
                <a:gd name="T6" fmla="*/ 0 w 677"/>
                <a:gd name="T7" fmla="*/ 0 h 255"/>
                <a:gd name="T8" fmla="*/ 677 w 677"/>
                <a:gd name="T9" fmla="*/ 255 h 2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77" h="255">
                  <a:moveTo>
                    <a:pt x="0" y="255"/>
                  </a:moveTo>
                  <a:lnTo>
                    <a:pt x="677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70" name="Freeform 14"/>
            <p:cNvSpPr>
              <a:spLocks/>
            </p:cNvSpPr>
            <p:nvPr/>
          </p:nvSpPr>
          <p:spPr bwMode="auto">
            <a:xfrm>
              <a:off x="2412" y="2484"/>
              <a:ext cx="684" cy="240"/>
            </a:xfrm>
            <a:custGeom>
              <a:avLst/>
              <a:gdLst>
                <a:gd name="T0" fmla="*/ 0 w 684"/>
                <a:gd name="T1" fmla="*/ 0 h 240"/>
                <a:gd name="T2" fmla="*/ 684 w 684"/>
                <a:gd name="T3" fmla="*/ 240 h 240"/>
                <a:gd name="T4" fmla="*/ 0 60000 65536"/>
                <a:gd name="T5" fmla="*/ 0 60000 65536"/>
                <a:gd name="T6" fmla="*/ 0 w 684"/>
                <a:gd name="T7" fmla="*/ 0 h 240"/>
                <a:gd name="T8" fmla="*/ 684 w 684"/>
                <a:gd name="T9" fmla="*/ 240 h 2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84" h="240">
                  <a:moveTo>
                    <a:pt x="0" y="0"/>
                  </a:moveTo>
                  <a:lnTo>
                    <a:pt x="684" y="24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71" name="Line 15"/>
            <p:cNvSpPr>
              <a:spLocks noChangeShapeType="1"/>
            </p:cNvSpPr>
            <p:nvPr/>
          </p:nvSpPr>
          <p:spPr bwMode="auto">
            <a:xfrm>
              <a:off x="2412" y="1483"/>
              <a:ext cx="0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72" name="Text Box 16"/>
            <p:cNvSpPr txBox="1">
              <a:spLocks noChangeArrowheads="1"/>
            </p:cNvSpPr>
            <p:nvPr/>
          </p:nvSpPr>
          <p:spPr bwMode="auto">
            <a:xfrm>
              <a:off x="2184" y="2307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73" name="Text Box 17"/>
            <p:cNvSpPr txBox="1">
              <a:spLocks noChangeArrowheads="1"/>
            </p:cNvSpPr>
            <p:nvPr/>
          </p:nvSpPr>
          <p:spPr bwMode="auto">
            <a:xfrm>
              <a:off x="2748" y="1971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74" name="Text Box 18"/>
            <p:cNvSpPr txBox="1">
              <a:spLocks noChangeArrowheads="1"/>
            </p:cNvSpPr>
            <p:nvPr/>
          </p:nvSpPr>
          <p:spPr bwMode="auto">
            <a:xfrm>
              <a:off x="2988" y="2643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75" name="Text Box 19"/>
            <p:cNvSpPr txBox="1">
              <a:spLocks noChangeArrowheads="1"/>
            </p:cNvSpPr>
            <p:nvPr/>
          </p:nvSpPr>
          <p:spPr bwMode="auto">
            <a:xfrm>
              <a:off x="2184" y="1297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76" name="Text Box 20"/>
            <p:cNvSpPr txBox="1">
              <a:spLocks noChangeArrowheads="1"/>
            </p:cNvSpPr>
            <p:nvPr/>
          </p:nvSpPr>
          <p:spPr bwMode="auto">
            <a:xfrm>
              <a:off x="2748" y="1729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77" name="Text Box 21"/>
            <p:cNvSpPr txBox="1">
              <a:spLocks noChangeArrowheads="1"/>
            </p:cNvSpPr>
            <p:nvPr/>
          </p:nvSpPr>
          <p:spPr bwMode="auto">
            <a:xfrm>
              <a:off x="2988" y="961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78" name="Line 22"/>
            <p:cNvSpPr>
              <a:spLocks noChangeShapeType="1"/>
            </p:cNvSpPr>
            <p:nvPr/>
          </p:nvSpPr>
          <p:spPr bwMode="auto">
            <a:xfrm>
              <a:off x="2268" y="1971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79" name="Line 23"/>
            <p:cNvSpPr>
              <a:spLocks noChangeShapeType="1"/>
            </p:cNvSpPr>
            <p:nvPr/>
          </p:nvSpPr>
          <p:spPr bwMode="auto">
            <a:xfrm>
              <a:off x="2741" y="1802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80" name="Text Box 24"/>
            <p:cNvSpPr txBox="1">
              <a:spLocks noChangeArrowheads="1"/>
            </p:cNvSpPr>
            <p:nvPr/>
          </p:nvSpPr>
          <p:spPr bwMode="auto">
            <a:xfrm>
              <a:off x="2984" y="2633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81" name="Text Box 25"/>
            <p:cNvSpPr txBox="1">
              <a:spLocks noChangeArrowheads="1"/>
            </p:cNvSpPr>
            <p:nvPr/>
          </p:nvSpPr>
          <p:spPr bwMode="auto">
            <a:xfrm>
              <a:off x="2980" y="1155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82" name="Text Box 26"/>
            <p:cNvSpPr txBox="1">
              <a:spLocks noChangeArrowheads="1"/>
            </p:cNvSpPr>
            <p:nvPr/>
          </p:nvSpPr>
          <p:spPr bwMode="auto">
            <a:xfrm>
              <a:off x="2648" y="2084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83" name="Text Box 27"/>
            <p:cNvSpPr txBox="1">
              <a:spLocks noChangeArrowheads="1"/>
            </p:cNvSpPr>
            <p:nvPr/>
          </p:nvSpPr>
          <p:spPr bwMode="auto">
            <a:xfrm>
              <a:off x="2648" y="1722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84" name="Text Box 28"/>
            <p:cNvSpPr txBox="1">
              <a:spLocks noChangeArrowheads="1"/>
            </p:cNvSpPr>
            <p:nvPr/>
          </p:nvSpPr>
          <p:spPr bwMode="auto">
            <a:xfrm>
              <a:off x="2308" y="2403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85" name="Text Box 29"/>
            <p:cNvSpPr txBox="1">
              <a:spLocks noChangeArrowheads="1"/>
            </p:cNvSpPr>
            <p:nvPr/>
          </p:nvSpPr>
          <p:spPr bwMode="auto">
            <a:xfrm>
              <a:off x="2312" y="1403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97310" name="Line 30"/>
          <p:cNvSpPr>
            <a:spLocks noChangeShapeType="1"/>
          </p:cNvSpPr>
          <p:nvPr/>
        </p:nvSpPr>
        <p:spPr bwMode="auto">
          <a:xfrm flipV="1">
            <a:off x="7000875" y="3460973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11" name="Freeform 31"/>
          <p:cNvSpPr>
            <a:spLocks/>
          </p:cNvSpPr>
          <p:nvPr/>
        </p:nvSpPr>
        <p:spPr bwMode="auto">
          <a:xfrm>
            <a:off x="5943601" y="3500661"/>
            <a:ext cx="1052513" cy="377825"/>
          </a:xfrm>
          <a:custGeom>
            <a:avLst/>
            <a:gdLst>
              <a:gd name="T0" fmla="*/ 0 w 663"/>
              <a:gd name="T1" fmla="*/ 2147483647 h 226"/>
              <a:gd name="T2" fmla="*/ 2147483647 w 663"/>
              <a:gd name="T3" fmla="*/ 0 h 226"/>
              <a:gd name="T4" fmla="*/ 0 60000 65536"/>
              <a:gd name="T5" fmla="*/ 0 60000 65536"/>
              <a:gd name="T6" fmla="*/ 0 w 663"/>
              <a:gd name="T7" fmla="*/ 0 h 226"/>
              <a:gd name="T8" fmla="*/ 663 w 663"/>
              <a:gd name="T9" fmla="*/ 226 h 2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3" h="226">
                <a:moveTo>
                  <a:pt x="0" y="226"/>
                </a:moveTo>
                <a:lnTo>
                  <a:pt x="663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6829425" y="4699223"/>
            <a:ext cx="420688" cy="533400"/>
            <a:chOff x="3312" y="2160"/>
            <a:chExt cx="265" cy="336"/>
          </a:xfrm>
        </p:grpSpPr>
        <p:sp>
          <p:nvSpPr>
            <p:cNvPr id="58466" name="Text Box 33"/>
            <p:cNvSpPr txBox="1">
              <a:spLocks noChangeArrowheads="1"/>
            </p:cNvSpPr>
            <p:nvPr/>
          </p:nvSpPr>
          <p:spPr bwMode="auto">
            <a:xfrm>
              <a:off x="3360" y="2208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67" name="Text Box 34"/>
            <p:cNvSpPr txBox="1">
              <a:spLocks noChangeArrowheads="1"/>
            </p:cNvSpPr>
            <p:nvPr/>
          </p:nvSpPr>
          <p:spPr bwMode="auto">
            <a:xfrm>
              <a:off x="3312" y="2160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6848475" y="3076799"/>
            <a:ext cx="496888" cy="536575"/>
            <a:chOff x="3324" y="1102"/>
            <a:chExt cx="313" cy="338"/>
          </a:xfrm>
        </p:grpSpPr>
        <p:sp>
          <p:nvSpPr>
            <p:cNvPr id="58464" name="Text Box 36"/>
            <p:cNvSpPr txBox="1">
              <a:spLocks noChangeArrowheads="1"/>
            </p:cNvSpPr>
            <p:nvPr/>
          </p:nvSpPr>
          <p:spPr bwMode="auto">
            <a:xfrm>
              <a:off x="3372" y="1102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65" name="Rectangle 37"/>
            <p:cNvSpPr>
              <a:spLocks noChangeArrowheads="1"/>
            </p:cNvSpPr>
            <p:nvPr/>
          </p:nvSpPr>
          <p:spPr bwMode="auto">
            <a:xfrm>
              <a:off x="3324" y="1286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97318" name="Text Box 38"/>
          <p:cNvSpPr txBox="1">
            <a:spLocks noChangeArrowheads="1"/>
          </p:cNvSpPr>
          <p:nvPr/>
        </p:nvSpPr>
        <p:spPr bwMode="auto">
          <a:xfrm>
            <a:off x="6005116" y="5706209"/>
            <a:ext cx="1243012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两平行直线</a:t>
            </a:r>
          </a:p>
        </p:txBody>
      </p:sp>
      <p:sp>
        <p:nvSpPr>
          <p:cNvPr id="97319" name="Freeform 39"/>
          <p:cNvSpPr>
            <a:spLocks/>
          </p:cNvSpPr>
          <p:nvPr/>
        </p:nvSpPr>
        <p:spPr bwMode="auto">
          <a:xfrm>
            <a:off x="7646989" y="4427762"/>
            <a:ext cx="554037" cy="492125"/>
          </a:xfrm>
          <a:custGeom>
            <a:avLst/>
            <a:gdLst>
              <a:gd name="T0" fmla="*/ 2147483647 w 349"/>
              <a:gd name="T1" fmla="*/ 0 h 310"/>
              <a:gd name="T2" fmla="*/ 0 w 349"/>
              <a:gd name="T3" fmla="*/ 2147483647 h 310"/>
              <a:gd name="T4" fmla="*/ 0 60000 65536"/>
              <a:gd name="T5" fmla="*/ 0 60000 65536"/>
              <a:gd name="T6" fmla="*/ 0 w 349"/>
              <a:gd name="T7" fmla="*/ 0 h 310"/>
              <a:gd name="T8" fmla="*/ 349 w 349"/>
              <a:gd name="T9" fmla="*/ 310 h 3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9" h="310">
                <a:moveTo>
                  <a:pt x="349" y="0"/>
                </a:moveTo>
                <a:lnTo>
                  <a:pt x="0" y="310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7305676" y="2533874"/>
            <a:ext cx="1700213" cy="3127375"/>
            <a:chOff x="3603" y="913"/>
            <a:chExt cx="1071" cy="1970"/>
          </a:xfrm>
        </p:grpSpPr>
        <p:sp>
          <p:nvSpPr>
            <p:cNvPr id="58446" name="Line 41"/>
            <p:cNvSpPr>
              <a:spLocks noChangeShapeType="1"/>
            </p:cNvSpPr>
            <p:nvPr/>
          </p:nvSpPr>
          <p:spPr bwMode="auto">
            <a:xfrm>
              <a:off x="3831" y="1451"/>
              <a:ext cx="0" cy="99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47" name="Freeform 42"/>
            <p:cNvSpPr>
              <a:spLocks/>
            </p:cNvSpPr>
            <p:nvPr/>
          </p:nvSpPr>
          <p:spPr bwMode="auto">
            <a:xfrm>
              <a:off x="3849" y="1183"/>
              <a:ext cx="655" cy="260"/>
            </a:xfrm>
            <a:custGeom>
              <a:avLst/>
              <a:gdLst>
                <a:gd name="T0" fmla="*/ 0 w 655"/>
                <a:gd name="T1" fmla="*/ 260 h 260"/>
                <a:gd name="T2" fmla="*/ 655 w 655"/>
                <a:gd name="T3" fmla="*/ 0 h 260"/>
                <a:gd name="T4" fmla="*/ 0 60000 65536"/>
                <a:gd name="T5" fmla="*/ 0 60000 65536"/>
                <a:gd name="T6" fmla="*/ 0 w 655"/>
                <a:gd name="T7" fmla="*/ 0 h 260"/>
                <a:gd name="T8" fmla="*/ 655 w 655"/>
                <a:gd name="T9" fmla="*/ 260 h 26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55" h="260">
                  <a:moveTo>
                    <a:pt x="0" y="260"/>
                  </a:moveTo>
                  <a:lnTo>
                    <a:pt x="655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48" name="Freeform 43"/>
            <p:cNvSpPr>
              <a:spLocks/>
            </p:cNvSpPr>
            <p:nvPr/>
          </p:nvSpPr>
          <p:spPr bwMode="auto">
            <a:xfrm>
              <a:off x="3855" y="2439"/>
              <a:ext cx="638" cy="232"/>
            </a:xfrm>
            <a:custGeom>
              <a:avLst/>
              <a:gdLst>
                <a:gd name="T0" fmla="*/ 0 w 638"/>
                <a:gd name="T1" fmla="*/ 0 h 232"/>
                <a:gd name="T2" fmla="*/ 638 w 638"/>
                <a:gd name="T3" fmla="*/ 232 h 232"/>
                <a:gd name="T4" fmla="*/ 0 60000 65536"/>
                <a:gd name="T5" fmla="*/ 0 60000 65536"/>
                <a:gd name="T6" fmla="*/ 0 w 638"/>
                <a:gd name="T7" fmla="*/ 0 h 232"/>
                <a:gd name="T8" fmla="*/ 638 w 638"/>
                <a:gd name="T9" fmla="*/ 232 h 2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38" h="232">
                  <a:moveTo>
                    <a:pt x="0" y="0"/>
                  </a:moveTo>
                  <a:lnTo>
                    <a:pt x="638" y="232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49" name="Line 44"/>
            <p:cNvSpPr>
              <a:spLocks noChangeShapeType="1"/>
            </p:cNvSpPr>
            <p:nvPr/>
          </p:nvSpPr>
          <p:spPr bwMode="auto">
            <a:xfrm>
              <a:off x="4508" y="1195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50" name="Text Box 45"/>
            <p:cNvSpPr txBox="1">
              <a:spLocks noChangeArrowheads="1"/>
            </p:cNvSpPr>
            <p:nvPr/>
          </p:nvSpPr>
          <p:spPr bwMode="auto">
            <a:xfrm>
              <a:off x="3603" y="2259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51" name="Text Box 46"/>
            <p:cNvSpPr txBox="1">
              <a:spLocks noChangeArrowheads="1"/>
            </p:cNvSpPr>
            <p:nvPr/>
          </p:nvSpPr>
          <p:spPr bwMode="auto">
            <a:xfrm>
              <a:off x="4185" y="1923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52" name="Text Box 47"/>
            <p:cNvSpPr txBox="1">
              <a:spLocks noChangeArrowheads="1"/>
            </p:cNvSpPr>
            <p:nvPr/>
          </p:nvSpPr>
          <p:spPr bwMode="auto">
            <a:xfrm>
              <a:off x="4425" y="2595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53" name="Text Box 48"/>
            <p:cNvSpPr txBox="1">
              <a:spLocks noChangeArrowheads="1"/>
            </p:cNvSpPr>
            <p:nvPr/>
          </p:nvSpPr>
          <p:spPr bwMode="auto">
            <a:xfrm>
              <a:off x="3612" y="1249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54" name="Text Box 49"/>
            <p:cNvSpPr txBox="1">
              <a:spLocks noChangeArrowheads="1"/>
            </p:cNvSpPr>
            <p:nvPr/>
          </p:nvSpPr>
          <p:spPr bwMode="auto">
            <a:xfrm>
              <a:off x="4185" y="1681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55" name="Text Box 50"/>
            <p:cNvSpPr txBox="1">
              <a:spLocks noChangeArrowheads="1"/>
            </p:cNvSpPr>
            <p:nvPr/>
          </p:nvSpPr>
          <p:spPr bwMode="auto">
            <a:xfrm>
              <a:off x="4425" y="913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56" name="Line 51"/>
            <p:cNvSpPr>
              <a:spLocks noChangeShapeType="1"/>
            </p:cNvSpPr>
            <p:nvPr/>
          </p:nvSpPr>
          <p:spPr bwMode="auto">
            <a:xfrm>
              <a:off x="3696" y="1923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57" name="Line 52"/>
            <p:cNvSpPr>
              <a:spLocks noChangeShapeType="1"/>
            </p:cNvSpPr>
            <p:nvPr/>
          </p:nvSpPr>
          <p:spPr bwMode="auto">
            <a:xfrm>
              <a:off x="4169" y="1754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58" name="Text Box 53"/>
            <p:cNvSpPr txBox="1">
              <a:spLocks noChangeArrowheads="1"/>
            </p:cNvSpPr>
            <p:nvPr/>
          </p:nvSpPr>
          <p:spPr bwMode="auto">
            <a:xfrm>
              <a:off x="4406" y="2585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59" name="Text Box 54"/>
            <p:cNvSpPr txBox="1">
              <a:spLocks noChangeArrowheads="1"/>
            </p:cNvSpPr>
            <p:nvPr/>
          </p:nvSpPr>
          <p:spPr bwMode="auto">
            <a:xfrm>
              <a:off x="4402" y="1107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60" name="Text Box 55"/>
            <p:cNvSpPr txBox="1">
              <a:spLocks noChangeArrowheads="1"/>
            </p:cNvSpPr>
            <p:nvPr/>
          </p:nvSpPr>
          <p:spPr bwMode="auto">
            <a:xfrm>
              <a:off x="4070" y="2036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61" name="Text Box 56"/>
            <p:cNvSpPr txBox="1">
              <a:spLocks noChangeArrowheads="1"/>
            </p:cNvSpPr>
            <p:nvPr/>
          </p:nvSpPr>
          <p:spPr bwMode="auto">
            <a:xfrm>
              <a:off x="4070" y="1674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62" name="Text Box 57"/>
            <p:cNvSpPr txBox="1">
              <a:spLocks noChangeArrowheads="1"/>
            </p:cNvSpPr>
            <p:nvPr/>
          </p:nvSpPr>
          <p:spPr bwMode="auto">
            <a:xfrm>
              <a:off x="3730" y="2355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63" name="Text Box 58"/>
            <p:cNvSpPr txBox="1">
              <a:spLocks noChangeArrowheads="1"/>
            </p:cNvSpPr>
            <p:nvPr/>
          </p:nvSpPr>
          <p:spPr bwMode="auto">
            <a:xfrm>
              <a:off x="3734" y="1364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97339" name="Text Box 59"/>
          <p:cNvSpPr txBox="1">
            <a:spLocks noChangeArrowheads="1"/>
          </p:cNvSpPr>
          <p:nvPr/>
        </p:nvSpPr>
        <p:spPr bwMode="auto">
          <a:xfrm>
            <a:off x="7820744" y="5664934"/>
            <a:ext cx="1371600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两相交直线</a:t>
            </a:r>
          </a:p>
        </p:txBody>
      </p:sp>
      <p:sp>
        <p:nvSpPr>
          <p:cNvPr id="97340" name="Freeform 60"/>
          <p:cNvSpPr>
            <a:spLocks/>
          </p:cNvSpPr>
          <p:nvPr/>
        </p:nvSpPr>
        <p:spPr bwMode="auto">
          <a:xfrm>
            <a:off x="9855200" y="2989486"/>
            <a:ext cx="547688" cy="842963"/>
          </a:xfrm>
          <a:custGeom>
            <a:avLst/>
            <a:gdLst>
              <a:gd name="T0" fmla="*/ 0 w 345"/>
              <a:gd name="T1" fmla="*/ 2147483647 h 531"/>
              <a:gd name="T2" fmla="*/ 2147483647 w 345"/>
              <a:gd name="T3" fmla="*/ 0 h 531"/>
              <a:gd name="T4" fmla="*/ 0 60000 65536"/>
              <a:gd name="T5" fmla="*/ 0 60000 65536"/>
              <a:gd name="T6" fmla="*/ 0 w 345"/>
              <a:gd name="T7" fmla="*/ 0 h 531"/>
              <a:gd name="T8" fmla="*/ 345 w 345"/>
              <a:gd name="T9" fmla="*/ 531 h 53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5" h="531">
                <a:moveTo>
                  <a:pt x="0" y="531"/>
                </a:moveTo>
                <a:lnTo>
                  <a:pt x="345" y="0"/>
                </a:lnTo>
              </a:path>
            </a:pathLst>
          </a:custGeom>
          <a:noFill/>
          <a:ln w="38100">
            <a:solidFill>
              <a:srgbClr val="8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341" name="Text Box 61"/>
          <p:cNvSpPr txBox="1">
            <a:spLocks noChangeArrowheads="1"/>
          </p:cNvSpPr>
          <p:nvPr/>
        </p:nvSpPr>
        <p:spPr bwMode="auto">
          <a:xfrm>
            <a:off x="9414198" y="5664934"/>
            <a:ext cx="930275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平面图形</a:t>
            </a:r>
          </a:p>
        </p:txBody>
      </p:sp>
      <p:grpSp>
        <p:nvGrpSpPr>
          <p:cNvPr id="6" name="Group 62"/>
          <p:cNvGrpSpPr>
            <a:grpSpLocks/>
          </p:cNvGrpSpPr>
          <p:nvPr/>
        </p:nvGrpSpPr>
        <p:grpSpPr bwMode="auto">
          <a:xfrm>
            <a:off x="8982076" y="2533874"/>
            <a:ext cx="1685925" cy="3127375"/>
            <a:chOff x="4668" y="769"/>
            <a:chExt cx="1062" cy="1970"/>
          </a:xfrm>
        </p:grpSpPr>
        <p:sp>
          <p:nvSpPr>
            <p:cNvPr id="58426" name="Line 63"/>
            <p:cNvSpPr>
              <a:spLocks noChangeShapeType="1"/>
            </p:cNvSpPr>
            <p:nvPr/>
          </p:nvSpPr>
          <p:spPr bwMode="auto">
            <a:xfrm>
              <a:off x="4886" y="1282"/>
              <a:ext cx="0" cy="10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427" name="Line 64"/>
            <p:cNvSpPr>
              <a:spLocks noChangeShapeType="1"/>
            </p:cNvSpPr>
            <p:nvPr/>
          </p:nvSpPr>
          <p:spPr bwMode="auto">
            <a:xfrm>
              <a:off x="5564" y="1051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28" name="Line 65"/>
            <p:cNvSpPr>
              <a:spLocks noChangeShapeType="1"/>
            </p:cNvSpPr>
            <p:nvPr/>
          </p:nvSpPr>
          <p:spPr bwMode="auto">
            <a:xfrm>
              <a:off x="4882" y="1299"/>
              <a:ext cx="336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29" name="Freeform 66"/>
            <p:cNvSpPr>
              <a:spLocks/>
            </p:cNvSpPr>
            <p:nvPr/>
          </p:nvSpPr>
          <p:spPr bwMode="auto">
            <a:xfrm>
              <a:off x="4886" y="1971"/>
              <a:ext cx="332" cy="327"/>
            </a:xfrm>
            <a:custGeom>
              <a:avLst/>
              <a:gdLst>
                <a:gd name="T0" fmla="*/ 332 w 332"/>
                <a:gd name="T1" fmla="*/ 0 h 327"/>
                <a:gd name="T2" fmla="*/ 0 w 332"/>
                <a:gd name="T3" fmla="*/ 327 h 327"/>
                <a:gd name="T4" fmla="*/ 0 60000 65536"/>
                <a:gd name="T5" fmla="*/ 0 60000 65536"/>
                <a:gd name="T6" fmla="*/ 0 w 332"/>
                <a:gd name="T7" fmla="*/ 0 h 327"/>
                <a:gd name="T8" fmla="*/ 332 w 332"/>
                <a:gd name="T9" fmla="*/ 327 h 3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2" h="327">
                  <a:moveTo>
                    <a:pt x="332" y="0"/>
                  </a:moveTo>
                  <a:lnTo>
                    <a:pt x="0" y="327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30" name="Freeform 67"/>
            <p:cNvSpPr>
              <a:spLocks/>
            </p:cNvSpPr>
            <p:nvPr/>
          </p:nvSpPr>
          <p:spPr bwMode="auto">
            <a:xfrm>
              <a:off x="4886" y="1056"/>
              <a:ext cx="677" cy="226"/>
            </a:xfrm>
            <a:custGeom>
              <a:avLst/>
              <a:gdLst>
                <a:gd name="T0" fmla="*/ 0 w 677"/>
                <a:gd name="T1" fmla="*/ 226 h 226"/>
                <a:gd name="T2" fmla="*/ 677 w 677"/>
                <a:gd name="T3" fmla="*/ 0 h 226"/>
                <a:gd name="T4" fmla="*/ 0 60000 65536"/>
                <a:gd name="T5" fmla="*/ 0 60000 65536"/>
                <a:gd name="T6" fmla="*/ 0 w 677"/>
                <a:gd name="T7" fmla="*/ 0 h 226"/>
                <a:gd name="T8" fmla="*/ 677 w 677"/>
                <a:gd name="T9" fmla="*/ 226 h 2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77" h="226">
                  <a:moveTo>
                    <a:pt x="0" y="226"/>
                  </a:moveTo>
                  <a:lnTo>
                    <a:pt x="677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31" name="Freeform 68"/>
            <p:cNvSpPr>
              <a:spLocks/>
            </p:cNvSpPr>
            <p:nvPr/>
          </p:nvSpPr>
          <p:spPr bwMode="auto">
            <a:xfrm>
              <a:off x="4900" y="2298"/>
              <a:ext cx="649" cy="229"/>
            </a:xfrm>
            <a:custGeom>
              <a:avLst/>
              <a:gdLst>
                <a:gd name="T0" fmla="*/ 0 w 649"/>
                <a:gd name="T1" fmla="*/ 0 h 229"/>
                <a:gd name="T2" fmla="*/ 649 w 649"/>
                <a:gd name="T3" fmla="*/ 229 h 229"/>
                <a:gd name="T4" fmla="*/ 0 60000 65536"/>
                <a:gd name="T5" fmla="*/ 0 60000 65536"/>
                <a:gd name="T6" fmla="*/ 0 w 649"/>
                <a:gd name="T7" fmla="*/ 0 h 229"/>
                <a:gd name="T8" fmla="*/ 649 w 649"/>
                <a:gd name="T9" fmla="*/ 229 h 2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49" h="229">
                  <a:moveTo>
                    <a:pt x="0" y="0"/>
                  </a:moveTo>
                  <a:lnTo>
                    <a:pt x="649" y="229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32" name="Text Box 69"/>
            <p:cNvSpPr txBox="1">
              <a:spLocks noChangeArrowheads="1"/>
            </p:cNvSpPr>
            <p:nvPr/>
          </p:nvSpPr>
          <p:spPr bwMode="auto">
            <a:xfrm>
              <a:off x="5481" y="769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33" name="Line 70"/>
            <p:cNvSpPr>
              <a:spLocks noChangeShapeType="1"/>
            </p:cNvSpPr>
            <p:nvPr/>
          </p:nvSpPr>
          <p:spPr bwMode="auto">
            <a:xfrm>
              <a:off x="5216" y="1610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34" name="Text Box 71"/>
            <p:cNvSpPr txBox="1">
              <a:spLocks noChangeArrowheads="1"/>
            </p:cNvSpPr>
            <p:nvPr/>
          </p:nvSpPr>
          <p:spPr bwMode="auto">
            <a:xfrm>
              <a:off x="5462" y="2441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35" name="Text Box 72"/>
            <p:cNvSpPr txBox="1">
              <a:spLocks noChangeArrowheads="1"/>
            </p:cNvSpPr>
            <p:nvPr/>
          </p:nvSpPr>
          <p:spPr bwMode="auto">
            <a:xfrm>
              <a:off x="4786" y="2211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36" name="Text Box 73"/>
            <p:cNvSpPr txBox="1">
              <a:spLocks noChangeArrowheads="1"/>
            </p:cNvSpPr>
            <p:nvPr/>
          </p:nvSpPr>
          <p:spPr bwMode="auto">
            <a:xfrm>
              <a:off x="4781" y="1211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37" name="Text Box 74"/>
            <p:cNvSpPr txBox="1">
              <a:spLocks noChangeArrowheads="1"/>
            </p:cNvSpPr>
            <p:nvPr/>
          </p:nvSpPr>
          <p:spPr bwMode="auto">
            <a:xfrm>
              <a:off x="4668" y="2115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38" name="Text Box 75"/>
            <p:cNvSpPr txBox="1">
              <a:spLocks noChangeArrowheads="1"/>
            </p:cNvSpPr>
            <p:nvPr/>
          </p:nvSpPr>
          <p:spPr bwMode="auto">
            <a:xfrm>
              <a:off x="5241" y="1779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39" name="Text Box 76"/>
            <p:cNvSpPr txBox="1">
              <a:spLocks noChangeArrowheads="1"/>
            </p:cNvSpPr>
            <p:nvPr/>
          </p:nvSpPr>
          <p:spPr bwMode="auto">
            <a:xfrm>
              <a:off x="5481" y="2451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40" name="Text Box 77"/>
            <p:cNvSpPr txBox="1">
              <a:spLocks noChangeArrowheads="1"/>
            </p:cNvSpPr>
            <p:nvPr/>
          </p:nvSpPr>
          <p:spPr bwMode="auto">
            <a:xfrm>
              <a:off x="4668" y="1105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41" name="Text Box 78"/>
            <p:cNvSpPr txBox="1">
              <a:spLocks noChangeArrowheads="1"/>
            </p:cNvSpPr>
            <p:nvPr/>
          </p:nvSpPr>
          <p:spPr bwMode="auto">
            <a:xfrm>
              <a:off x="5241" y="1537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42" name="Line 79"/>
            <p:cNvSpPr>
              <a:spLocks noChangeShapeType="1"/>
            </p:cNvSpPr>
            <p:nvPr/>
          </p:nvSpPr>
          <p:spPr bwMode="auto">
            <a:xfrm>
              <a:off x="4752" y="1779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43" name="Text Box 80"/>
            <p:cNvSpPr txBox="1">
              <a:spLocks noChangeArrowheads="1"/>
            </p:cNvSpPr>
            <p:nvPr/>
          </p:nvSpPr>
          <p:spPr bwMode="auto">
            <a:xfrm>
              <a:off x="5452" y="975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44" name="Text Box 81"/>
            <p:cNvSpPr txBox="1">
              <a:spLocks noChangeArrowheads="1"/>
            </p:cNvSpPr>
            <p:nvPr/>
          </p:nvSpPr>
          <p:spPr bwMode="auto">
            <a:xfrm>
              <a:off x="5120" y="1892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45" name="Text Box 82"/>
            <p:cNvSpPr txBox="1">
              <a:spLocks noChangeArrowheads="1"/>
            </p:cNvSpPr>
            <p:nvPr/>
          </p:nvSpPr>
          <p:spPr bwMode="auto">
            <a:xfrm>
              <a:off x="5120" y="1512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7" name="Group 83"/>
          <p:cNvGrpSpPr>
            <a:grpSpLocks/>
          </p:cNvGrpSpPr>
          <p:nvPr/>
        </p:nvGrpSpPr>
        <p:grpSpPr bwMode="auto">
          <a:xfrm>
            <a:off x="1703389" y="2533874"/>
            <a:ext cx="1671637" cy="3127375"/>
            <a:chOff x="83" y="1009"/>
            <a:chExt cx="1053" cy="1970"/>
          </a:xfrm>
        </p:grpSpPr>
        <p:sp>
          <p:nvSpPr>
            <p:cNvPr id="58410" name="Text Box 84"/>
            <p:cNvSpPr txBox="1">
              <a:spLocks noChangeArrowheads="1"/>
            </p:cNvSpPr>
            <p:nvPr/>
          </p:nvSpPr>
          <p:spPr bwMode="auto">
            <a:xfrm>
              <a:off x="887" y="2691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11" name="Line 85"/>
            <p:cNvSpPr>
              <a:spLocks noChangeShapeType="1"/>
            </p:cNvSpPr>
            <p:nvPr/>
          </p:nvSpPr>
          <p:spPr bwMode="auto">
            <a:xfrm>
              <a:off x="311" y="1531"/>
              <a:ext cx="0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2" name="Line 86"/>
            <p:cNvSpPr>
              <a:spLocks noChangeShapeType="1"/>
            </p:cNvSpPr>
            <p:nvPr/>
          </p:nvSpPr>
          <p:spPr bwMode="auto">
            <a:xfrm>
              <a:off x="641" y="1850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3" name="Line 87"/>
            <p:cNvSpPr>
              <a:spLocks noChangeShapeType="1"/>
            </p:cNvSpPr>
            <p:nvPr/>
          </p:nvSpPr>
          <p:spPr bwMode="auto">
            <a:xfrm>
              <a:off x="970" y="1291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4" name="Line 88"/>
            <p:cNvSpPr>
              <a:spLocks noChangeShapeType="1"/>
            </p:cNvSpPr>
            <p:nvPr/>
          </p:nvSpPr>
          <p:spPr bwMode="auto">
            <a:xfrm>
              <a:off x="167" y="2050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415" name="Text Box 89"/>
            <p:cNvSpPr txBox="1">
              <a:spLocks noChangeArrowheads="1"/>
            </p:cNvSpPr>
            <p:nvPr/>
          </p:nvSpPr>
          <p:spPr bwMode="auto">
            <a:xfrm>
              <a:off x="863" y="2681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16" name="Text Box 90"/>
            <p:cNvSpPr txBox="1">
              <a:spLocks noChangeArrowheads="1"/>
            </p:cNvSpPr>
            <p:nvPr/>
          </p:nvSpPr>
          <p:spPr bwMode="auto">
            <a:xfrm>
              <a:off x="871" y="1203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17" name="Text Box 91"/>
            <p:cNvSpPr txBox="1">
              <a:spLocks noChangeArrowheads="1"/>
            </p:cNvSpPr>
            <p:nvPr/>
          </p:nvSpPr>
          <p:spPr bwMode="auto">
            <a:xfrm>
              <a:off x="551" y="2132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18" name="Text Box 92"/>
            <p:cNvSpPr txBox="1">
              <a:spLocks noChangeArrowheads="1"/>
            </p:cNvSpPr>
            <p:nvPr/>
          </p:nvSpPr>
          <p:spPr bwMode="auto">
            <a:xfrm>
              <a:off x="551" y="1770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19" name="Text Box 93"/>
            <p:cNvSpPr txBox="1">
              <a:spLocks noChangeArrowheads="1"/>
            </p:cNvSpPr>
            <p:nvPr/>
          </p:nvSpPr>
          <p:spPr bwMode="auto">
            <a:xfrm>
              <a:off x="211" y="2451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20" name="Text Box 94"/>
            <p:cNvSpPr txBox="1">
              <a:spLocks noChangeArrowheads="1"/>
            </p:cNvSpPr>
            <p:nvPr/>
          </p:nvSpPr>
          <p:spPr bwMode="auto">
            <a:xfrm>
              <a:off x="206" y="1451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21" name="Text Box 95"/>
            <p:cNvSpPr txBox="1">
              <a:spLocks noChangeArrowheads="1"/>
            </p:cNvSpPr>
            <p:nvPr/>
          </p:nvSpPr>
          <p:spPr bwMode="auto">
            <a:xfrm>
              <a:off x="83" y="2355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22" name="Text Box 96"/>
            <p:cNvSpPr txBox="1">
              <a:spLocks noChangeArrowheads="1"/>
            </p:cNvSpPr>
            <p:nvPr/>
          </p:nvSpPr>
          <p:spPr bwMode="auto">
            <a:xfrm>
              <a:off x="647" y="2019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23" name="Text Box 97"/>
            <p:cNvSpPr txBox="1">
              <a:spLocks noChangeArrowheads="1"/>
            </p:cNvSpPr>
            <p:nvPr/>
          </p:nvSpPr>
          <p:spPr bwMode="auto">
            <a:xfrm>
              <a:off x="83" y="1345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CommercialPi BT" pitchFamily="18" charset="2"/>
              </a:endParaRPr>
            </a:p>
          </p:txBody>
        </p:sp>
        <p:sp>
          <p:nvSpPr>
            <p:cNvPr id="58424" name="Text Box 98"/>
            <p:cNvSpPr txBox="1">
              <a:spLocks noChangeArrowheads="1"/>
            </p:cNvSpPr>
            <p:nvPr/>
          </p:nvSpPr>
          <p:spPr bwMode="auto">
            <a:xfrm>
              <a:off x="647" y="1777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25" name="Text Box 99"/>
            <p:cNvSpPr txBox="1">
              <a:spLocks noChangeArrowheads="1"/>
            </p:cNvSpPr>
            <p:nvPr/>
          </p:nvSpPr>
          <p:spPr bwMode="auto">
            <a:xfrm>
              <a:off x="887" y="1009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grpSp>
        <p:nvGrpSpPr>
          <p:cNvPr id="8" name="Group 100"/>
          <p:cNvGrpSpPr>
            <a:grpSpLocks/>
          </p:cNvGrpSpPr>
          <p:nvPr/>
        </p:nvGrpSpPr>
        <p:grpSpPr bwMode="auto">
          <a:xfrm>
            <a:off x="3317875" y="2457674"/>
            <a:ext cx="1657350" cy="3127375"/>
            <a:chOff x="1100" y="961"/>
            <a:chExt cx="1044" cy="1970"/>
          </a:xfrm>
        </p:grpSpPr>
        <p:sp>
          <p:nvSpPr>
            <p:cNvPr id="58394" name="Line 101"/>
            <p:cNvSpPr>
              <a:spLocks noChangeShapeType="1"/>
            </p:cNvSpPr>
            <p:nvPr/>
          </p:nvSpPr>
          <p:spPr bwMode="auto">
            <a:xfrm>
              <a:off x="1990" y="1255"/>
              <a:ext cx="0" cy="147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395" name="Line 102"/>
            <p:cNvSpPr>
              <a:spLocks noChangeShapeType="1"/>
            </p:cNvSpPr>
            <p:nvPr/>
          </p:nvSpPr>
          <p:spPr bwMode="auto">
            <a:xfrm>
              <a:off x="1319" y="1503"/>
              <a:ext cx="0" cy="9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6" name="Line 103"/>
            <p:cNvSpPr>
              <a:spLocks noChangeShapeType="1"/>
            </p:cNvSpPr>
            <p:nvPr/>
          </p:nvSpPr>
          <p:spPr bwMode="auto">
            <a:xfrm>
              <a:off x="1175" y="2022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7" name="Text Box 104"/>
            <p:cNvSpPr txBox="1">
              <a:spLocks noChangeArrowheads="1"/>
            </p:cNvSpPr>
            <p:nvPr/>
          </p:nvSpPr>
          <p:spPr bwMode="auto">
            <a:xfrm>
              <a:off x="1655" y="1991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398" name="Line 105"/>
            <p:cNvSpPr>
              <a:spLocks noChangeShapeType="1"/>
            </p:cNvSpPr>
            <p:nvPr/>
          </p:nvSpPr>
          <p:spPr bwMode="auto">
            <a:xfrm>
              <a:off x="1661" y="1822"/>
              <a:ext cx="0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399" name="Text Box 106"/>
            <p:cNvSpPr txBox="1">
              <a:spLocks noChangeArrowheads="1"/>
            </p:cNvSpPr>
            <p:nvPr/>
          </p:nvSpPr>
          <p:spPr bwMode="auto">
            <a:xfrm>
              <a:off x="1895" y="2633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00" name="Text Box 107"/>
            <p:cNvSpPr txBox="1">
              <a:spLocks noChangeArrowheads="1"/>
            </p:cNvSpPr>
            <p:nvPr/>
          </p:nvSpPr>
          <p:spPr bwMode="auto">
            <a:xfrm>
              <a:off x="1900" y="1155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01" name="Text Box 108"/>
            <p:cNvSpPr txBox="1">
              <a:spLocks noChangeArrowheads="1"/>
            </p:cNvSpPr>
            <p:nvPr/>
          </p:nvSpPr>
          <p:spPr bwMode="auto">
            <a:xfrm>
              <a:off x="1559" y="2104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02" name="Text Box 109"/>
            <p:cNvSpPr txBox="1">
              <a:spLocks noChangeArrowheads="1"/>
            </p:cNvSpPr>
            <p:nvPr/>
          </p:nvSpPr>
          <p:spPr bwMode="auto">
            <a:xfrm>
              <a:off x="1559" y="1742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03" name="Text Box 110"/>
            <p:cNvSpPr txBox="1">
              <a:spLocks noChangeArrowheads="1"/>
            </p:cNvSpPr>
            <p:nvPr/>
          </p:nvSpPr>
          <p:spPr bwMode="auto">
            <a:xfrm>
              <a:off x="1219" y="2403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04" name="Text Box 111"/>
            <p:cNvSpPr txBox="1">
              <a:spLocks noChangeArrowheads="1"/>
            </p:cNvSpPr>
            <p:nvPr/>
          </p:nvSpPr>
          <p:spPr bwMode="auto">
            <a:xfrm>
              <a:off x="1223" y="1403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b="1">
                  <a:solidFill>
                    <a:srgbClr val="FF33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58405" name="Text Box 112"/>
            <p:cNvSpPr txBox="1">
              <a:spLocks noChangeArrowheads="1"/>
            </p:cNvSpPr>
            <p:nvPr/>
          </p:nvSpPr>
          <p:spPr bwMode="auto">
            <a:xfrm>
              <a:off x="1100" y="2307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06" name="Text Box 113"/>
            <p:cNvSpPr txBox="1">
              <a:spLocks noChangeArrowheads="1"/>
            </p:cNvSpPr>
            <p:nvPr/>
          </p:nvSpPr>
          <p:spPr bwMode="auto">
            <a:xfrm>
              <a:off x="1895" y="2643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8407" name="Text Box 114"/>
            <p:cNvSpPr txBox="1">
              <a:spLocks noChangeArrowheads="1"/>
            </p:cNvSpPr>
            <p:nvPr/>
          </p:nvSpPr>
          <p:spPr bwMode="auto">
            <a:xfrm>
              <a:off x="1100" y="1317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08" name="Text Box 115"/>
            <p:cNvSpPr txBox="1">
              <a:spLocks noChangeArrowheads="1"/>
            </p:cNvSpPr>
            <p:nvPr/>
          </p:nvSpPr>
          <p:spPr bwMode="auto">
            <a:xfrm>
              <a:off x="1655" y="1749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409" name="Text Box 116"/>
            <p:cNvSpPr txBox="1">
              <a:spLocks noChangeArrowheads="1"/>
            </p:cNvSpPr>
            <p:nvPr/>
          </p:nvSpPr>
          <p:spPr bwMode="auto">
            <a:xfrm>
              <a:off x="1895" y="961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58392" name="Text Box 2"/>
          <p:cNvSpPr txBox="1">
            <a:spLocks noChangeArrowheads="1"/>
          </p:cNvSpPr>
          <p:nvPr/>
        </p:nvSpPr>
        <p:spPr bwMode="auto">
          <a:xfrm>
            <a:off x="1319214" y="900992"/>
            <a:ext cx="327025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 </a:t>
            </a:r>
            <a:r>
              <a:rPr kumimoji="1"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平面的投影</a:t>
            </a:r>
          </a:p>
        </p:txBody>
      </p:sp>
      <p:sp>
        <p:nvSpPr>
          <p:cNvPr id="118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7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7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9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2" dur="500"/>
                                        <p:tgtEl>
                                          <p:spTgt spid="97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7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7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97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nimBg="1"/>
      <p:bldP spid="97283" grpId="0" animBg="1"/>
      <p:bldP spid="97284" grpId="0" animBg="1"/>
      <p:bldP spid="97286" grpId="0" autoUpdateAnimBg="0"/>
      <p:bldP spid="97287" grpId="0" build="p" autoUpdateAnimBg="0"/>
      <p:bldP spid="97288" grpId="0" animBg="1"/>
      <p:bldP spid="97289" grpId="0" animBg="1"/>
      <p:bldP spid="97290" grpId="0" autoUpdateAnimBg="0"/>
      <p:bldP spid="97310" grpId="0" animBg="1"/>
      <p:bldP spid="97311" grpId="0" animBg="1"/>
      <p:bldP spid="97318" grpId="0" autoUpdateAnimBg="0"/>
      <p:bldP spid="97319" grpId="0" animBg="1"/>
      <p:bldP spid="97339" grpId="0" autoUpdateAnimBg="0"/>
      <p:bldP spid="97340" grpId="0" animBg="1"/>
      <p:bldP spid="97341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1437823" y="898662"/>
            <a:ext cx="34307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二、平面的投影特性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722168" y="2180828"/>
            <a:ext cx="2514600" cy="2400300"/>
            <a:chOff x="2160" y="816"/>
            <a:chExt cx="1584" cy="1512"/>
          </a:xfrm>
        </p:grpSpPr>
        <p:sp>
          <p:nvSpPr>
            <p:cNvPr id="59433" name="AutoShape 4"/>
            <p:cNvSpPr>
              <a:spLocks noChangeArrowheads="1"/>
            </p:cNvSpPr>
            <p:nvPr/>
          </p:nvSpPr>
          <p:spPr bwMode="auto">
            <a:xfrm>
              <a:off x="2160" y="1347"/>
              <a:ext cx="1584" cy="695"/>
            </a:xfrm>
            <a:prstGeom prst="parallelogram">
              <a:avLst>
                <a:gd name="adj" fmla="val 56978"/>
              </a:avLst>
            </a:prstGeom>
            <a:gradFill>
              <a:gsLst>
                <a:gs pos="0">
                  <a:schemeClr val="accent4">
                    <a:lumMod val="0"/>
                    <a:lumOff val="100000"/>
                  </a:schemeClr>
                </a:gs>
                <a:gs pos="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l="100000" b="100000"/>
              </a:path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4" name="Freeform 5"/>
            <p:cNvSpPr>
              <a:spLocks/>
            </p:cNvSpPr>
            <p:nvPr/>
          </p:nvSpPr>
          <p:spPr bwMode="auto">
            <a:xfrm>
              <a:off x="2686" y="1061"/>
              <a:ext cx="706" cy="164"/>
            </a:xfrm>
            <a:custGeom>
              <a:avLst/>
              <a:gdLst>
                <a:gd name="T0" fmla="*/ 297 w 770"/>
                <a:gd name="T1" fmla="*/ 33 h 192"/>
                <a:gd name="T2" fmla="*/ 0 w 770"/>
                <a:gd name="T3" fmla="*/ 0 h 192"/>
                <a:gd name="T4" fmla="*/ 0 60000 65536"/>
                <a:gd name="T5" fmla="*/ 0 60000 65536"/>
                <a:gd name="T6" fmla="*/ 0 w 770"/>
                <a:gd name="T7" fmla="*/ 0 h 192"/>
                <a:gd name="T8" fmla="*/ 770 w 770"/>
                <a:gd name="T9" fmla="*/ 192 h 19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70" h="192">
                  <a:moveTo>
                    <a:pt x="770" y="19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5" name="Line 6"/>
            <p:cNvSpPr>
              <a:spLocks noChangeShapeType="1"/>
            </p:cNvSpPr>
            <p:nvPr/>
          </p:nvSpPr>
          <p:spPr bwMode="auto">
            <a:xfrm flipV="1">
              <a:off x="2688" y="816"/>
              <a:ext cx="528" cy="24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6" name="Line 7"/>
            <p:cNvSpPr>
              <a:spLocks noChangeShapeType="1"/>
            </p:cNvSpPr>
            <p:nvPr/>
          </p:nvSpPr>
          <p:spPr bwMode="auto">
            <a:xfrm>
              <a:off x="3216" y="816"/>
              <a:ext cx="176" cy="409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7" name="Line 8"/>
            <p:cNvSpPr>
              <a:spLocks noChangeShapeType="1"/>
            </p:cNvSpPr>
            <p:nvPr/>
          </p:nvSpPr>
          <p:spPr bwMode="auto">
            <a:xfrm>
              <a:off x="2688" y="1061"/>
              <a:ext cx="0" cy="7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8" name="Line 9"/>
            <p:cNvSpPr>
              <a:spLocks noChangeShapeType="1"/>
            </p:cNvSpPr>
            <p:nvPr/>
          </p:nvSpPr>
          <p:spPr bwMode="auto">
            <a:xfrm>
              <a:off x="3392" y="1225"/>
              <a:ext cx="0" cy="32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39" name="Freeform 10"/>
            <p:cNvSpPr>
              <a:spLocks/>
            </p:cNvSpPr>
            <p:nvPr/>
          </p:nvSpPr>
          <p:spPr bwMode="auto">
            <a:xfrm>
              <a:off x="2688" y="1542"/>
              <a:ext cx="710" cy="296"/>
            </a:xfrm>
            <a:custGeom>
              <a:avLst/>
              <a:gdLst>
                <a:gd name="T0" fmla="*/ 0 w 774"/>
                <a:gd name="T1" fmla="*/ 59 h 348"/>
                <a:gd name="T2" fmla="*/ 300 w 774"/>
                <a:gd name="T3" fmla="*/ 0 h 348"/>
                <a:gd name="T4" fmla="*/ 0 60000 65536"/>
                <a:gd name="T5" fmla="*/ 0 60000 65536"/>
                <a:gd name="T6" fmla="*/ 0 w 774"/>
                <a:gd name="T7" fmla="*/ 0 h 348"/>
                <a:gd name="T8" fmla="*/ 774 w 774"/>
                <a:gd name="T9" fmla="*/ 348 h 34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74" h="348">
                  <a:moveTo>
                    <a:pt x="0" y="348"/>
                  </a:moveTo>
                  <a:lnTo>
                    <a:pt x="774" y="0"/>
                  </a:lnTo>
                </a:path>
              </a:pathLst>
            </a:custGeom>
            <a:noFill/>
            <a:ln w="38100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0" name="Line 11"/>
            <p:cNvSpPr>
              <a:spLocks noChangeShapeType="1"/>
            </p:cNvSpPr>
            <p:nvPr/>
          </p:nvSpPr>
          <p:spPr bwMode="auto">
            <a:xfrm>
              <a:off x="3216" y="816"/>
              <a:ext cx="0" cy="81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41" name="Text Box 12"/>
            <p:cNvSpPr txBox="1">
              <a:spLocks noChangeArrowheads="1"/>
            </p:cNvSpPr>
            <p:nvPr/>
          </p:nvSpPr>
          <p:spPr bwMode="auto">
            <a:xfrm>
              <a:off x="2582" y="2001"/>
              <a:ext cx="69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zh-CN" altLang="en-US" sz="2800" b="1">
                  <a:latin typeface="Times New Roman" pitchFamily="18" charset="0"/>
                </a:rPr>
                <a:t>垂直</a:t>
              </a:r>
              <a:endParaRPr kumimoji="1" lang="zh-CN" altLang="en-US" sz="2400" b="1">
                <a:latin typeface="Times New Roman" pitchFamily="18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465368" y="2104628"/>
            <a:ext cx="2362200" cy="2433638"/>
            <a:chOff x="3888" y="768"/>
            <a:chExt cx="1488" cy="1533"/>
          </a:xfrm>
        </p:grpSpPr>
        <p:grpSp>
          <p:nvGrpSpPr>
            <p:cNvPr id="59421" name="Group 14"/>
            <p:cNvGrpSpPr>
              <a:grpSpLocks/>
            </p:cNvGrpSpPr>
            <p:nvPr/>
          </p:nvGrpSpPr>
          <p:grpSpPr bwMode="auto">
            <a:xfrm>
              <a:off x="3888" y="768"/>
              <a:ext cx="1488" cy="1247"/>
              <a:chOff x="3888" y="768"/>
              <a:chExt cx="1488" cy="1247"/>
            </a:xfrm>
          </p:grpSpPr>
          <p:sp>
            <p:nvSpPr>
              <p:cNvPr id="59423" name="AutoShape 15"/>
              <p:cNvSpPr>
                <a:spLocks noChangeArrowheads="1"/>
              </p:cNvSpPr>
              <p:nvPr/>
            </p:nvSpPr>
            <p:spPr bwMode="auto">
              <a:xfrm>
                <a:off x="3888" y="1331"/>
                <a:ext cx="1488" cy="684"/>
              </a:xfrm>
              <a:prstGeom prst="parallelogram">
                <a:avLst>
                  <a:gd name="adj" fmla="val 54386"/>
                </a:avLst>
              </a:prstGeom>
              <a:gradFill>
                <a:gsLst>
                  <a:gs pos="0">
                    <a:schemeClr val="accent4">
                      <a:lumMod val="0"/>
                      <a:lumOff val="100000"/>
                    </a:schemeClr>
                  </a:gs>
                  <a:gs pos="0">
                    <a:schemeClr val="accent4">
                      <a:lumMod val="0"/>
                      <a:lumOff val="100000"/>
                    </a:schemeClr>
                  </a:gs>
                  <a:gs pos="100000">
                    <a:schemeClr val="accent4">
                      <a:lumMod val="100000"/>
                    </a:schemeClr>
                  </a:gs>
                </a:gsLst>
                <a:path path="circle">
                  <a:fillToRect l="100000" b="100000"/>
                </a:path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4" name="Line 16"/>
              <p:cNvSpPr>
                <a:spLocks noChangeShapeType="1"/>
              </p:cNvSpPr>
              <p:nvPr/>
            </p:nvSpPr>
            <p:spPr bwMode="auto">
              <a:xfrm>
                <a:off x="4136" y="929"/>
                <a:ext cx="537" cy="483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5" name="Line 17"/>
              <p:cNvSpPr>
                <a:spLocks noChangeShapeType="1"/>
              </p:cNvSpPr>
              <p:nvPr/>
            </p:nvSpPr>
            <p:spPr bwMode="auto">
              <a:xfrm flipV="1">
                <a:off x="4673" y="768"/>
                <a:ext cx="496" cy="644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6" name="Freeform 18"/>
              <p:cNvSpPr>
                <a:spLocks/>
              </p:cNvSpPr>
              <p:nvPr/>
            </p:nvSpPr>
            <p:spPr bwMode="auto">
              <a:xfrm>
                <a:off x="4132" y="768"/>
                <a:ext cx="1037" cy="153"/>
              </a:xfrm>
              <a:custGeom>
                <a:avLst/>
                <a:gdLst>
                  <a:gd name="T0" fmla="*/ 231 w 1205"/>
                  <a:gd name="T1" fmla="*/ 0 h 183"/>
                  <a:gd name="T2" fmla="*/ 0 w 1205"/>
                  <a:gd name="T3" fmla="*/ 25 h 183"/>
                  <a:gd name="T4" fmla="*/ 0 60000 65536"/>
                  <a:gd name="T5" fmla="*/ 0 60000 65536"/>
                  <a:gd name="T6" fmla="*/ 0 w 1205"/>
                  <a:gd name="T7" fmla="*/ 0 h 183"/>
                  <a:gd name="T8" fmla="*/ 1205 w 1205"/>
                  <a:gd name="T9" fmla="*/ 183 h 1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5" h="183">
                    <a:moveTo>
                      <a:pt x="1205" y="0"/>
                    </a:moveTo>
                    <a:lnTo>
                      <a:pt x="0" y="183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7" name="Line 19"/>
              <p:cNvSpPr>
                <a:spLocks noChangeShapeType="1"/>
              </p:cNvSpPr>
              <p:nvPr/>
            </p:nvSpPr>
            <p:spPr bwMode="auto">
              <a:xfrm>
                <a:off x="4136" y="929"/>
                <a:ext cx="0" cy="76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8" name="Line 20"/>
              <p:cNvSpPr>
                <a:spLocks noChangeShapeType="1"/>
              </p:cNvSpPr>
              <p:nvPr/>
            </p:nvSpPr>
            <p:spPr bwMode="auto">
              <a:xfrm>
                <a:off x="4673" y="1412"/>
                <a:ext cx="0" cy="5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29" name="Line 21"/>
              <p:cNvSpPr>
                <a:spLocks noChangeShapeType="1"/>
              </p:cNvSpPr>
              <p:nvPr/>
            </p:nvSpPr>
            <p:spPr bwMode="auto">
              <a:xfrm>
                <a:off x="5169" y="768"/>
                <a:ext cx="0" cy="8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30" name="Line 22"/>
              <p:cNvSpPr>
                <a:spLocks noChangeShapeType="1"/>
              </p:cNvSpPr>
              <p:nvPr/>
            </p:nvSpPr>
            <p:spPr bwMode="auto">
              <a:xfrm flipV="1">
                <a:off x="4136" y="1613"/>
                <a:ext cx="1033" cy="80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31" name="Line 23"/>
              <p:cNvSpPr>
                <a:spLocks noChangeShapeType="1"/>
              </p:cNvSpPr>
              <p:nvPr/>
            </p:nvSpPr>
            <p:spPr bwMode="auto">
              <a:xfrm flipH="1">
                <a:off x="4673" y="1613"/>
                <a:ext cx="496" cy="322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32" name="Line 24"/>
              <p:cNvSpPr>
                <a:spLocks noChangeShapeType="1"/>
              </p:cNvSpPr>
              <p:nvPr/>
            </p:nvSpPr>
            <p:spPr bwMode="auto">
              <a:xfrm>
                <a:off x="4136" y="1693"/>
                <a:ext cx="537" cy="242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9422" name="Text Box 25"/>
            <p:cNvSpPr txBox="1">
              <a:spLocks noChangeArrowheads="1"/>
            </p:cNvSpPr>
            <p:nvPr/>
          </p:nvSpPr>
          <p:spPr bwMode="auto">
            <a:xfrm>
              <a:off x="4298" y="1974"/>
              <a:ext cx="56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sz="2800" b="1" dirty="0">
                  <a:latin typeface="Times New Roman" pitchFamily="18" charset="0"/>
                </a:rPr>
                <a:t>倾斜</a:t>
              </a:r>
              <a:endParaRPr kumimoji="1" lang="zh-CN" altLang="en-US" sz="2400" b="1" dirty="0">
                <a:latin typeface="Times New Roman" pitchFamily="18" charset="0"/>
              </a:endParaRPr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2078039" y="4753720"/>
            <a:ext cx="6594475" cy="1771624"/>
            <a:chOff x="349" y="2304"/>
            <a:chExt cx="4154" cy="1536"/>
          </a:xfrm>
        </p:grpSpPr>
        <p:sp>
          <p:nvSpPr>
            <p:cNvPr id="59416" name="Rectangle 27"/>
            <p:cNvSpPr>
              <a:spLocks noChangeArrowheads="1"/>
            </p:cNvSpPr>
            <p:nvPr/>
          </p:nvSpPr>
          <p:spPr bwMode="auto">
            <a:xfrm>
              <a:off x="349" y="2304"/>
              <a:ext cx="4154" cy="1536"/>
            </a:xfrm>
            <a:prstGeom prst="rect">
              <a:avLst/>
            </a:prstGeom>
            <a:solidFill>
              <a:srgbClr val="FFFF99"/>
            </a:solidFill>
            <a:ln w="38100">
              <a:pattFill prst="smCheck">
                <a:fgClr>
                  <a:srgbClr val="FF3300"/>
                </a:fgClr>
                <a:bgClr>
                  <a:srgbClr val="FFFF00"/>
                </a:bgClr>
              </a:patt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9417" name="Text Box 28"/>
            <p:cNvSpPr txBox="1">
              <a:spLocks noChangeArrowheads="1"/>
            </p:cNvSpPr>
            <p:nvPr/>
          </p:nvSpPr>
          <p:spPr bwMode="auto">
            <a:xfrm>
              <a:off x="1571" y="2315"/>
              <a:ext cx="1723" cy="400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rgbClr val="003399"/>
                  </a:solidFill>
                  <a:latin typeface="宋体" pitchFamily="2" charset="-122"/>
                </a:rPr>
                <a:t>投 影 特 性</a:t>
              </a:r>
              <a:endParaRPr kumimoji="1" lang="zh-CN" altLang="en-US" sz="2400" b="1" dirty="0">
                <a:solidFill>
                  <a:srgbClr val="003399"/>
                </a:solidFill>
                <a:latin typeface="Times New Roman" pitchFamily="18" charset="0"/>
              </a:endParaRPr>
            </a:p>
          </p:txBody>
        </p:sp>
        <p:sp>
          <p:nvSpPr>
            <p:cNvPr id="59418" name="Text Box 29"/>
            <p:cNvSpPr txBox="1">
              <a:spLocks noChangeArrowheads="1"/>
            </p:cNvSpPr>
            <p:nvPr/>
          </p:nvSpPr>
          <p:spPr bwMode="auto">
            <a:xfrm>
              <a:off x="445" y="2612"/>
              <a:ext cx="3427" cy="400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>
                  <a:solidFill>
                    <a:srgbClr val="FF3300"/>
                  </a:solidFill>
                  <a:latin typeface="Times New Roman" pitchFamily="18" charset="0"/>
                </a:rPr>
                <a:t>★</a:t>
              </a:r>
              <a:r>
                <a:rPr kumimoji="1" lang="zh-CN" altLang="en-US" sz="2400" b="1">
                  <a:solidFill>
                    <a:srgbClr val="FF3300"/>
                  </a:solidFill>
                  <a:latin typeface="Times New Roman" pitchFamily="18" charset="0"/>
                </a:rPr>
                <a:t>平面平行投影面</a:t>
              </a:r>
              <a:r>
                <a:rPr kumimoji="1" lang="en-US" altLang="zh-CN" sz="2400" b="1">
                  <a:solidFill>
                    <a:srgbClr val="FF3300"/>
                  </a:solidFill>
                  <a:latin typeface="Times New Roman" pitchFamily="18" charset="0"/>
                </a:rPr>
                <a:t>——</a:t>
              </a:r>
              <a:r>
                <a:rPr kumimoji="1" lang="zh-CN" altLang="en-US" sz="2400" b="1">
                  <a:solidFill>
                    <a:srgbClr val="FF3300"/>
                  </a:solidFill>
                  <a:latin typeface="Times New Roman" pitchFamily="18" charset="0"/>
                </a:rPr>
                <a:t>投影就把实形现</a:t>
              </a:r>
            </a:p>
          </p:txBody>
        </p:sp>
        <p:sp>
          <p:nvSpPr>
            <p:cNvPr id="59419" name="Text Box 30"/>
            <p:cNvSpPr txBox="1">
              <a:spLocks noChangeArrowheads="1"/>
            </p:cNvSpPr>
            <p:nvPr/>
          </p:nvSpPr>
          <p:spPr bwMode="auto">
            <a:xfrm>
              <a:off x="445" y="2996"/>
              <a:ext cx="3968" cy="400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kumimoji="1" lang="en-US" altLang="zh-CN" sz="2400" b="1">
                  <a:solidFill>
                    <a:srgbClr val="FF3300"/>
                  </a:solidFill>
                  <a:latin typeface="Times New Roman" pitchFamily="18" charset="0"/>
                </a:rPr>
                <a:t>★</a:t>
              </a:r>
              <a:r>
                <a:rPr kumimoji="1" lang="zh-CN" altLang="en-US" sz="2400" b="1">
                  <a:solidFill>
                    <a:srgbClr val="FF3300"/>
                  </a:solidFill>
                  <a:latin typeface="Times New Roman" pitchFamily="18" charset="0"/>
                </a:rPr>
                <a:t>平面垂直投影面</a:t>
              </a:r>
              <a:r>
                <a:rPr kumimoji="1" lang="en-US" altLang="zh-CN" sz="2400" b="1">
                  <a:solidFill>
                    <a:srgbClr val="FF3300"/>
                  </a:solidFill>
                  <a:latin typeface="Times New Roman" pitchFamily="18" charset="0"/>
                </a:rPr>
                <a:t>——</a:t>
              </a:r>
              <a:r>
                <a:rPr kumimoji="1" lang="zh-CN" altLang="en-US" sz="2400" b="1">
                  <a:solidFill>
                    <a:srgbClr val="FF3300"/>
                  </a:solidFill>
                  <a:latin typeface="Times New Roman" pitchFamily="18" charset="0"/>
                </a:rPr>
                <a:t>投影积聚成直线</a:t>
              </a:r>
              <a:endParaRPr kumimoji="1" lang="zh-CN" altLang="en-US" sz="2400" b="1">
                <a:latin typeface="Times New Roman" pitchFamily="18" charset="0"/>
              </a:endParaRPr>
            </a:p>
          </p:txBody>
        </p:sp>
        <p:sp>
          <p:nvSpPr>
            <p:cNvPr id="59420" name="Text Box 31"/>
            <p:cNvSpPr txBox="1">
              <a:spLocks noChangeArrowheads="1"/>
            </p:cNvSpPr>
            <p:nvPr/>
          </p:nvSpPr>
          <p:spPr bwMode="auto">
            <a:xfrm>
              <a:off x="445" y="3380"/>
              <a:ext cx="3427" cy="400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>
                  <a:solidFill>
                    <a:srgbClr val="FF3300"/>
                  </a:solidFill>
                  <a:latin typeface="Times New Roman" pitchFamily="18" charset="0"/>
                </a:rPr>
                <a:t>★</a:t>
              </a:r>
              <a:r>
                <a:rPr kumimoji="1" lang="zh-CN" altLang="en-US" sz="2400" b="1">
                  <a:solidFill>
                    <a:srgbClr val="FF3300"/>
                  </a:solidFill>
                  <a:latin typeface="Times New Roman" pitchFamily="18" charset="0"/>
                </a:rPr>
                <a:t>平面倾斜投影面</a:t>
              </a:r>
              <a:r>
                <a:rPr kumimoji="1" lang="en-US" altLang="zh-CN" sz="2400" b="1">
                  <a:solidFill>
                    <a:srgbClr val="FF3300"/>
                  </a:solidFill>
                  <a:latin typeface="Times New Roman" pitchFamily="18" charset="0"/>
                </a:rPr>
                <a:t>——</a:t>
              </a:r>
              <a:r>
                <a:rPr kumimoji="1" lang="zh-CN" altLang="en-US" sz="2400" b="1">
                  <a:solidFill>
                    <a:srgbClr val="FF3300"/>
                  </a:solidFill>
                  <a:latin typeface="Times New Roman" pitchFamily="18" charset="0"/>
                </a:rPr>
                <a:t>投影类似原平面</a:t>
              </a:r>
            </a:p>
          </p:txBody>
        </p:sp>
      </p:grpSp>
      <p:sp>
        <p:nvSpPr>
          <p:cNvPr id="98336" name="AutoShape 32"/>
          <p:cNvSpPr>
            <a:spLocks noChangeArrowheads="1"/>
          </p:cNvSpPr>
          <p:nvPr/>
        </p:nvSpPr>
        <p:spPr bwMode="auto">
          <a:xfrm>
            <a:off x="8882261" y="4551784"/>
            <a:ext cx="1187450" cy="533400"/>
          </a:xfrm>
          <a:prstGeom prst="wedgeRoundRectCallout">
            <a:avLst>
              <a:gd name="adj1" fmla="val -153151"/>
              <a:gd name="adj2" fmla="val 111096"/>
              <a:gd name="adj3" fmla="val 16667"/>
            </a:avLst>
          </a:prstGeom>
          <a:solidFill>
            <a:srgbClr val="00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实形性</a:t>
            </a:r>
          </a:p>
        </p:txBody>
      </p:sp>
      <p:sp>
        <p:nvSpPr>
          <p:cNvPr id="98337" name="AutoShape 33"/>
          <p:cNvSpPr>
            <a:spLocks noChangeArrowheads="1"/>
          </p:cNvSpPr>
          <p:nvPr/>
        </p:nvSpPr>
        <p:spPr bwMode="auto">
          <a:xfrm>
            <a:off x="8904486" y="5847928"/>
            <a:ext cx="1223962" cy="533400"/>
          </a:xfrm>
          <a:prstGeom prst="wedgeRoundRectCallout">
            <a:avLst>
              <a:gd name="adj1" fmla="val -133619"/>
              <a:gd name="adj2" fmla="val 45366"/>
              <a:gd name="adj3" fmla="val 16667"/>
            </a:avLst>
          </a:prstGeom>
          <a:solidFill>
            <a:srgbClr val="66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 dirty="0">
                <a:latin typeface="Times New Roman" pitchFamily="18" charset="0"/>
              </a:rPr>
              <a:t>仿射性</a:t>
            </a:r>
          </a:p>
        </p:txBody>
      </p:sp>
      <p:sp>
        <p:nvSpPr>
          <p:cNvPr id="98338" name="AutoShape 34"/>
          <p:cNvSpPr>
            <a:spLocks noChangeArrowheads="1"/>
          </p:cNvSpPr>
          <p:nvPr/>
        </p:nvSpPr>
        <p:spPr bwMode="auto">
          <a:xfrm>
            <a:off x="8904486" y="5199856"/>
            <a:ext cx="1223962" cy="533400"/>
          </a:xfrm>
          <a:prstGeom prst="wedgeRoundRectCallout">
            <a:avLst>
              <a:gd name="adj1" fmla="val -148646"/>
              <a:gd name="adj2" fmla="val 61053"/>
              <a:gd name="adj3" fmla="val 16667"/>
            </a:avLst>
          </a:prstGeom>
          <a:solidFill>
            <a:srgbClr val="FF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积聚性</a:t>
            </a:r>
          </a:p>
        </p:txBody>
      </p:sp>
      <p:sp>
        <p:nvSpPr>
          <p:cNvPr id="98339" name="Text Box 35"/>
          <p:cNvSpPr txBox="1">
            <a:spLocks noChangeArrowheads="1"/>
          </p:cNvSpPr>
          <p:nvPr/>
        </p:nvSpPr>
        <p:spPr bwMode="auto">
          <a:xfrm>
            <a:off x="1483885" y="1457028"/>
            <a:ext cx="46714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latin typeface="黑体" pitchFamily="49" charset="-122"/>
                <a:ea typeface="黑体" pitchFamily="49" charset="-122"/>
              </a:rPr>
              <a:t>⒈ </a:t>
            </a:r>
            <a:r>
              <a:rPr kumimoji="1" lang="zh-CN" altLang="en-US" sz="2400" b="1" dirty="0">
                <a:latin typeface="黑体" pitchFamily="49" charset="-122"/>
                <a:ea typeface="黑体" pitchFamily="49" charset="-122"/>
              </a:rPr>
              <a:t>平面对一个投影面的投影特性</a:t>
            </a:r>
          </a:p>
        </p:txBody>
      </p: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2207568" y="2252266"/>
            <a:ext cx="2362200" cy="2322512"/>
            <a:chOff x="576" y="861"/>
            <a:chExt cx="1488" cy="1463"/>
          </a:xfrm>
        </p:grpSpPr>
        <p:sp>
          <p:nvSpPr>
            <p:cNvPr id="59403" name="AutoShape 37"/>
            <p:cNvSpPr>
              <a:spLocks noChangeArrowheads="1"/>
            </p:cNvSpPr>
            <p:nvPr/>
          </p:nvSpPr>
          <p:spPr bwMode="auto">
            <a:xfrm>
              <a:off x="576" y="1365"/>
              <a:ext cx="1488" cy="642"/>
            </a:xfrm>
            <a:prstGeom prst="parallelogram">
              <a:avLst>
                <a:gd name="adj" fmla="val 57944"/>
              </a:avLst>
            </a:prstGeom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9404" name="Group 38"/>
            <p:cNvGrpSpPr>
              <a:grpSpLocks/>
            </p:cNvGrpSpPr>
            <p:nvPr/>
          </p:nvGrpSpPr>
          <p:grpSpPr bwMode="auto">
            <a:xfrm>
              <a:off x="948" y="861"/>
              <a:ext cx="723" cy="428"/>
              <a:chOff x="1144" y="704"/>
              <a:chExt cx="840" cy="544"/>
            </a:xfrm>
          </p:grpSpPr>
          <p:sp>
            <p:nvSpPr>
              <p:cNvPr id="59413" name="Freeform 39"/>
              <p:cNvSpPr>
                <a:spLocks/>
              </p:cNvSpPr>
              <p:nvPr/>
            </p:nvSpPr>
            <p:spPr bwMode="auto">
              <a:xfrm>
                <a:off x="1144" y="704"/>
                <a:ext cx="536" cy="312"/>
              </a:xfrm>
              <a:custGeom>
                <a:avLst/>
                <a:gdLst>
                  <a:gd name="T0" fmla="*/ 0 w 536"/>
                  <a:gd name="T1" fmla="*/ 312 h 312"/>
                  <a:gd name="T2" fmla="*/ 536 w 536"/>
                  <a:gd name="T3" fmla="*/ 0 h 312"/>
                  <a:gd name="T4" fmla="*/ 0 60000 65536"/>
                  <a:gd name="T5" fmla="*/ 0 60000 65536"/>
                  <a:gd name="T6" fmla="*/ 0 w 536"/>
                  <a:gd name="T7" fmla="*/ 0 h 312"/>
                  <a:gd name="T8" fmla="*/ 536 w 536"/>
                  <a:gd name="T9" fmla="*/ 312 h 3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36" h="312">
                    <a:moveTo>
                      <a:pt x="0" y="312"/>
                    </a:moveTo>
                    <a:lnTo>
                      <a:pt x="536" y="0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14" name="Line 40"/>
              <p:cNvSpPr>
                <a:spLocks noChangeShapeType="1"/>
              </p:cNvSpPr>
              <p:nvPr/>
            </p:nvSpPr>
            <p:spPr bwMode="auto">
              <a:xfrm>
                <a:off x="1680" y="720"/>
                <a:ext cx="304" cy="528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15" name="Freeform 41"/>
              <p:cNvSpPr>
                <a:spLocks/>
              </p:cNvSpPr>
              <p:nvPr/>
            </p:nvSpPr>
            <p:spPr bwMode="auto">
              <a:xfrm>
                <a:off x="1144" y="1016"/>
                <a:ext cx="833" cy="226"/>
              </a:xfrm>
              <a:custGeom>
                <a:avLst/>
                <a:gdLst>
                  <a:gd name="T0" fmla="*/ 833 w 833"/>
                  <a:gd name="T1" fmla="*/ 226 h 226"/>
                  <a:gd name="T2" fmla="*/ 0 w 833"/>
                  <a:gd name="T3" fmla="*/ 0 h 226"/>
                  <a:gd name="T4" fmla="*/ 0 60000 65536"/>
                  <a:gd name="T5" fmla="*/ 0 60000 65536"/>
                  <a:gd name="T6" fmla="*/ 0 w 833"/>
                  <a:gd name="T7" fmla="*/ 0 h 226"/>
                  <a:gd name="T8" fmla="*/ 833 w 833"/>
                  <a:gd name="T9" fmla="*/ 226 h 22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3" h="226">
                    <a:moveTo>
                      <a:pt x="833" y="226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9405" name="Group 42"/>
            <p:cNvGrpSpPr>
              <a:grpSpLocks/>
            </p:cNvGrpSpPr>
            <p:nvPr/>
          </p:nvGrpSpPr>
          <p:grpSpPr bwMode="auto">
            <a:xfrm>
              <a:off x="941" y="1466"/>
              <a:ext cx="723" cy="428"/>
              <a:chOff x="1144" y="704"/>
              <a:chExt cx="840" cy="544"/>
            </a:xfrm>
          </p:grpSpPr>
          <p:sp>
            <p:nvSpPr>
              <p:cNvPr id="59410" name="Freeform 43"/>
              <p:cNvSpPr>
                <a:spLocks/>
              </p:cNvSpPr>
              <p:nvPr/>
            </p:nvSpPr>
            <p:spPr bwMode="auto">
              <a:xfrm>
                <a:off x="1144" y="704"/>
                <a:ext cx="536" cy="312"/>
              </a:xfrm>
              <a:custGeom>
                <a:avLst/>
                <a:gdLst>
                  <a:gd name="T0" fmla="*/ 0 w 536"/>
                  <a:gd name="T1" fmla="*/ 312 h 312"/>
                  <a:gd name="T2" fmla="*/ 536 w 536"/>
                  <a:gd name="T3" fmla="*/ 0 h 312"/>
                  <a:gd name="T4" fmla="*/ 0 60000 65536"/>
                  <a:gd name="T5" fmla="*/ 0 60000 65536"/>
                  <a:gd name="T6" fmla="*/ 0 w 536"/>
                  <a:gd name="T7" fmla="*/ 0 h 312"/>
                  <a:gd name="T8" fmla="*/ 536 w 536"/>
                  <a:gd name="T9" fmla="*/ 312 h 3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36" h="312">
                    <a:moveTo>
                      <a:pt x="0" y="312"/>
                    </a:moveTo>
                    <a:lnTo>
                      <a:pt x="536" y="0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11" name="Line 44"/>
              <p:cNvSpPr>
                <a:spLocks noChangeShapeType="1"/>
              </p:cNvSpPr>
              <p:nvPr/>
            </p:nvSpPr>
            <p:spPr bwMode="auto">
              <a:xfrm>
                <a:off x="1680" y="720"/>
                <a:ext cx="304" cy="528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412" name="Freeform 45"/>
              <p:cNvSpPr>
                <a:spLocks/>
              </p:cNvSpPr>
              <p:nvPr/>
            </p:nvSpPr>
            <p:spPr bwMode="auto">
              <a:xfrm>
                <a:off x="1144" y="1016"/>
                <a:ext cx="833" cy="226"/>
              </a:xfrm>
              <a:custGeom>
                <a:avLst/>
                <a:gdLst>
                  <a:gd name="T0" fmla="*/ 833 w 833"/>
                  <a:gd name="T1" fmla="*/ 226 h 226"/>
                  <a:gd name="T2" fmla="*/ 0 w 833"/>
                  <a:gd name="T3" fmla="*/ 0 h 226"/>
                  <a:gd name="T4" fmla="*/ 0 60000 65536"/>
                  <a:gd name="T5" fmla="*/ 0 60000 65536"/>
                  <a:gd name="T6" fmla="*/ 0 w 833"/>
                  <a:gd name="T7" fmla="*/ 0 h 226"/>
                  <a:gd name="T8" fmla="*/ 833 w 833"/>
                  <a:gd name="T9" fmla="*/ 226 h 22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3" h="226">
                    <a:moveTo>
                      <a:pt x="833" y="226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9406" name="Line 46"/>
            <p:cNvSpPr>
              <a:spLocks noChangeShapeType="1"/>
            </p:cNvSpPr>
            <p:nvPr/>
          </p:nvSpPr>
          <p:spPr bwMode="auto">
            <a:xfrm>
              <a:off x="948" y="1100"/>
              <a:ext cx="0" cy="60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7" name="Line 47"/>
            <p:cNvSpPr>
              <a:spLocks noChangeShapeType="1"/>
            </p:cNvSpPr>
            <p:nvPr/>
          </p:nvSpPr>
          <p:spPr bwMode="auto">
            <a:xfrm>
              <a:off x="1394" y="874"/>
              <a:ext cx="0" cy="6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408" name="Text Box 48"/>
            <p:cNvSpPr txBox="1">
              <a:spLocks noChangeArrowheads="1"/>
            </p:cNvSpPr>
            <p:nvPr/>
          </p:nvSpPr>
          <p:spPr bwMode="auto">
            <a:xfrm>
              <a:off x="848" y="1997"/>
              <a:ext cx="76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zh-CN" altLang="en-US" sz="2800" b="1">
                  <a:latin typeface="Times New Roman" pitchFamily="18" charset="0"/>
                </a:rPr>
                <a:t>平行</a:t>
              </a:r>
              <a:endParaRPr kumimoji="1" lang="zh-CN" altLang="en-US" sz="2400" b="1">
                <a:latin typeface="Times New Roman" pitchFamily="18" charset="0"/>
              </a:endParaRPr>
            </a:p>
          </p:txBody>
        </p:sp>
        <p:sp>
          <p:nvSpPr>
            <p:cNvPr id="59409" name="Line 49"/>
            <p:cNvSpPr>
              <a:spLocks noChangeShapeType="1"/>
            </p:cNvSpPr>
            <p:nvPr/>
          </p:nvSpPr>
          <p:spPr bwMode="auto">
            <a:xfrm>
              <a:off x="1664" y="1284"/>
              <a:ext cx="0" cy="6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0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8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8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8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8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8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8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36" grpId="0" animBg="1" autoUpdateAnimBg="0"/>
      <p:bldP spid="98337" grpId="0" animBg="1" autoUpdateAnimBg="0"/>
      <p:bldP spid="98338" grpId="0" animBg="1" autoUpdateAnimBg="0"/>
      <p:bldP spid="98339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AutoShape 2"/>
          <p:cNvSpPr>
            <a:spLocks noChangeArrowheads="1"/>
          </p:cNvSpPr>
          <p:nvPr/>
        </p:nvSpPr>
        <p:spPr bwMode="auto">
          <a:xfrm>
            <a:off x="2076450" y="5678760"/>
            <a:ext cx="3181350" cy="990600"/>
          </a:xfrm>
          <a:prstGeom prst="rightArrow">
            <a:avLst>
              <a:gd name="adj1" fmla="val 50000"/>
              <a:gd name="adj2" fmla="val 71308"/>
            </a:avLst>
          </a:prstGeom>
          <a:solidFill>
            <a:srgbClr val="66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1" name="AutoShape 3"/>
          <p:cNvSpPr>
            <a:spLocks noChangeArrowheads="1"/>
          </p:cNvSpPr>
          <p:nvPr/>
        </p:nvSpPr>
        <p:spPr bwMode="auto">
          <a:xfrm>
            <a:off x="2057400" y="3926160"/>
            <a:ext cx="3352800" cy="16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2" name="AutoShape 4"/>
          <p:cNvSpPr>
            <a:spLocks noChangeArrowheads="1"/>
          </p:cNvSpPr>
          <p:nvPr/>
        </p:nvSpPr>
        <p:spPr bwMode="auto">
          <a:xfrm>
            <a:off x="2057400" y="2173560"/>
            <a:ext cx="3352800" cy="16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1314528" y="1012999"/>
            <a:ext cx="61366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⒉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平面在三投影面体系中的投影特性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99334" name="Text Box 6"/>
          <p:cNvSpPr txBox="1">
            <a:spLocks noChangeArrowheads="1"/>
          </p:cNvSpPr>
          <p:nvPr/>
        </p:nvSpPr>
        <p:spPr bwMode="auto">
          <a:xfrm>
            <a:off x="1800225" y="1580099"/>
            <a:ext cx="7219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平面对于三投影面的位置可分为三类</a:t>
            </a:r>
            <a:r>
              <a:rPr kumimoji="1" lang="zh-CN" altLang="en-US" sz="2400" b="1" dirty="0">
                <a:latin typeface="黑体" pitchFamily="49" charset="-122"/>
                <a:ea typeface="黑体" pitchFamily="49" charset="-122"/>
              </a:rPr>
              <a:t>：</a:t>
            </a:r>
          </a:p>
        </p:txBody>
      </p:sp>
      <p:sp>
        <p:nvSpPr>
          <p:cNvPr id="99335" name="Text Box 7"/>
          <p:cNvSpPr txBox="1">
            <a:spLocks noChangeArrowheads="1"/>
          </p:cNvSpPr>
          <p:nvPr/>
        </p:nvSpPr>
        <p:spPr bwMode="auto">
          <a:xfrm>
            <a:off x="5735929" y="2765847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投影面垂直面</a:t>
            </a:r>
          </a:p>
        </p:txBody>
      </p: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5334000" y="4505599"/>
            <a:ext cx="27432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3200" b="1">
                <a:latin typeface="Times New Roman" pitchFamily="18" charset="0"/>
              </a:rPr>
              <a:t> </a:t>
            </a:r>
            <a:r>
              <a:rPr kumimoji="1" lang="zh-CN" altLang="en-US" sz="3200" b="1">
                <a:latin typeface="Times New Roman" pitchFamily="18" charset="0"/>
              </a:rPr>
              <a:t>投影面平行面</a:t>
            </a:r>
          </a:p>
        </p:txBody>
      </p:sp>
      <p:sp>
        <p:nvSpPr>
          <p:cNvPr id="99337" name="Text Box 9"/>
          <p:cNvSpPr txBox="1">
            <a:spLocks noChangeArrowheads="1"/>
          </p:cNvSpPr>
          <p:nvPr/>
        </p:nvSpPr>
        <p:spPr bwMode="auto">
          <a:xfrm>
            <a:off x="5410201" y="5966247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一般</a:t>
            </a:r>
            <a:r>
              <a:rPr kumimoji="1" lang="zh-CN" altLang="en-US" sz="2400" b="1" dirty="0">
                <a:solidFill>
                  <a:srgbClr val="FF6600"/>
                </a:solidFill>
                <a:latin typeface="Times New Roman" pitchFamily="18" charset="0"/>
              </a:rPr>
              <a:t>位置</a:t>
            </a:r>
            <a:r>
              <a:rPr kumimoji="1" lang="zh-CN" altLang="en-US" sz="2400" b="1" dirty="0">
                <a:latin typeface="Times New Roman" pitchFamily="18" charset="0"/>
              </a:rPr>
              <a:t>平面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181600" y="3392760"/>
            <a:ext cx="2819400" cy="914400"/>
            <a:chOff x="2400" y="1632"/>
            <a:chExt cx="1776" cy="576"/>
          </a:xfrm>
        </p:grpSpPr>
        <p:sp>
          <p:nvSpPr>
            <p:cNvPr id="60441" name="AutoShape 11"/>
            <p:cNvSpPr>
              <a:spLocks noChangeArrowheads="1"/>
            </p:cNvSpPr>
            <p:nvPr/>
          </p:nvSpPr>
          <p:spPr bwMode="auto">
            <a:xfrm>
              <a:off x="2400" y="1632"/>
              <a:ext cx="1776" cy="576"/>
            </a:xfrm>
            <a:prstGeom prst="upDownArrowCallout">
              <a:avLst>
                <a:gd name="adj1" fmla="val 77083"/>
                <a:gd name="adj2" fmla="val 77083"/>
                <a:gd name="adj3" fmla="val 12500"/>
                <a:gd name="adj4" fmla="val 50000"/>
              </a:avLst>
            </a:prstGeom>
            <a:solidFill>
              <a:srgbClr val="FF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60442" name="Text Box 12"/>
            <p:cNvSpPr txBox="1">
              <a:spLocks noChangeArrowheads="1"/>
            </p:cNvSpPr>
            <p:nvPr/>
          </p:nvSpPr>
          <p:spPr bwMode="auto">
            <a:xfrm>
              <a:off x="2638" y="1748"/>
              <a:ext cx="128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Times New Roman" pitchFamily="18" charset="0"/>
                </a:rPr>
                <a:t>特殊</a:t>
              </a:r>
              <a:r>
                <a:rPr kumimoji="1" lang="zh-CN" altLang="en-US" sz="2400" b="1" dirty="0">
                  <a:solidFill>
                    <a:srgbClr val="FF6600"/>
                  </a:solidFill>
                  <a:latin typeface="Times New Roman" pitchFamily="18" charset="0"/>
                </a:rPr>
                <a:t>位置</a:t>
              </a:r>
              <a:r>
                <a:rPr kumimoji="1" lang="zh-CN" altLang="en-US" sz="2400" b="1" dirty="0">
                  <a:latin typeface="Times New Roman" pitchFamily="18" charset="0"/>
                </a:rPr>
                <a:t>平面</a:t>
              </a:r>
            </a:p>
          </p:txBody>
        </p:sp>
      </p:grpSp>
      <p:sp>
        <p:nvSpPr>
          <p:cNvPr id="99341" name="Text Box 13"/>
          <p:cNvSpPr txBox="1">
            <a:spLocks noChangeArrowheads="1"/>
          </p:cNvSpPr>
          <p:nvPr/>
        </p:nvSpPr>
        <p:spPr bwMode="auto">
          <a:xfrm>
            <a:off x="2209800" y="2566100"/>
            <a:ext cx="2971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垂直于某一投影面，倾斜于另两个投影面</a:t>
            </a:r>
          </a:p>
        </p:txBody>
      </p:sp>
      <p:sp>
        <p:nvSpPr>
          <p:cNvPr id="99342" name="Text Box 14"/>
          <p:cNvSpPr txBox="1">
            <a:spLocks noChangeArrowheads="1"/>
          </p:cNvSpPr>
          <p:nvPr/>
        </p:nvSpPr>
        <p:spPr bwMode="auto">
          <a:xfrm>
            <a:off x="2133600" y="4383788"/>
            <a:ext cx="3429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平行于某一投影面，</a:t>
            </a:r>
          </a:p>
          <a:p>
            <a:r>
              <a:rPr kumimoji="1" lang="zh-CN" altLang="en-US" sz="2400" b="1" dirty="0">
                <a:latin typeface="Times New Roman" pitchFamily="18" charset="0"/>
              </a:rPr>
              <a:t>垂直于另两个投影面</a:t>
            </a:r>
          </a:p>
        </p:txBody>
      </p:sp>
      <p:sp>
        <p:nvSpPr>
          <p:cNvPr id="99343" name="Text Box 15"/>
          <p:cNvSpPr txBox="1">
            <a:spLocks noChangeArrowheads="1"/>
          </p:cNvSpPr>
          <p:nvPr/>
        </p:nvSpPr>
        <p:spPr bwMode="auto">
          <a:xfrm>
            <a:off x="2057401" y="5937523"/>
            <a:ext cx="2955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与三个投影面都倾斜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8069265" y="2354534"/>
            <a:ext cx="1455738" cy="1320800"/>
            <a:chOff x="4123" y="987"/>
            <a:chExt cx="917" cy="832"/>
          </a:xfrm>
        </p:grpSpPr>
        <p:sp>
          <p:nvSpPr>
            <p:cNvPr id="60437" name="Text Box 17"/>
            <p:cNvSpPr txBox="1">
              <a:spLocks noChangeArrowheads="1"/>
            </p:cNvSpPr>
            <p:nvPr/>
          </p:nvSpPr>
          <p:spPr bwMode="auto">
            <a:xfrm>
              <a:off x="4134" y="987"/>
              <a:ext cx="9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kumimoji="1" lang="en-US" altLang="zh-CN" sz="2400" b="1">
                  <a:latin typeface="Times New Roman" pitchFamily="18" charset="0"/>
                </a:rPr>
                <a:t>  </a:t>
              </a:r>
              <a:r>
                <a:rPr kumimoji="1" lang="zh-CN" altLang="en-US" sz="2400" b="1">
                  <a:latin typeface="Times New Roman" pitchFamily="18" charset="0"/>
                </a:rPr>
                <a:t>正垂面</a:t>
              </a:r>
            </a:p>
          </p:txBody>
        </p:sp>
        <p:sp>
          <p:nvSpPr>
            <p:cNvPr id="60438" name="Text Box 18"/>
            <p:cNvSpPr txBox="1">
              <a:spLocks noChangeArrowheads="1"/>
            </p:cNvSpPr>
            <p:nvPr/>
          </p:nvSpPr>
          <p:spPr bwMode="auto">
            <a:xfrm>
              <a:off x="4134" y="1275"/>
              <a:ext cx="79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 dirty="0">
                  <a:latin typeface="Times New Roman" pitchFamily="18" charset="0"/>
                </a:rPr>
                <a:t>  </a:t>
              </a:r>
              <a:r>
                <a:rPr kumimoji="1" lang="zh-CN" altLang="en-US" sz="2400" b="1" dirty="0">
                  <a:latin typeface="Times New Roman" pitchFamily="18" charset="0"/>
                </a:rPr>
                <a:t>侧垂面</a:t>
              </a:r>
            </a:p>
          </p:txBody>
        </p:sp>
        <p:sp>
          <p:nvSpPr>
            <p:cNvPr id="60439" name="Text Box 19"/>
            <p:cNvSpPr txBox="1">
              <a:spLocks noChangeArrowheads="1"/>
            </p:cNvSpPr>
            <p:nvPr/>
          </p:nvSpPr>
          <p:spPr bwMode="auto">
            <a:xfrm>
              <a:off x="4123" y="1528"/>
              <a:ext cx="79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dirty="0">
                  <a:latin typeface="Times New Roman" pitchFamily="18" charset="0"/>
                </a:rPr>
                <a:t>  </a:t>
              </a:r>
              <a:r>
                <a:rPr kumimoji="1" lang="zh-CN" altLang="en-US" sz="2400" b="1" dirty="0">
                  <a:latin typeface="Times New Roman" pitchFamily="18" charset="0"/>
                </a:rPr>
                <a:t>铅垂面</a:t>
              </a:r>
            </a:p>
          </p:txBody>
        </p:sp>
        <p:sp>
          <p:nvSpPr>
            <p:cNvPr id="60440" name="AutoShape 20"/>
            <p:cNvSpPr>
              <a:spLocks/>
            </p:cNvSpPr>
            <p:nvPr/>
          </p:nvSpPr>
          <p:spPr bwMode="auto">
            <a:xfrm>
              <a:off x="4128" y="1104"/>
              <a:ext cx="48" cy="624"/>
            </a:xfrm>
            <a:prstGeom prst="leftBrace">
              <a:avLst>
                <a:gd name="adj1" fmla="val 108333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60431" name="AutoShape 21"/>
          <p:cNvSpPr>
            <a:spLocks/>
          </p:cNvSpPr>
          <p:nvPr/>
        </p:nvSpPr>
        <p:spPr bwMode="auto">
          <a:xfrm>
            <a:off x="8229600" y="4892233"/>
            <a:ext cx="518818" cy="430054"/>
          </a:xfrm>
          <a:prstGeom prst="leftBrace">
            <a:avLst>
              <a:gd name="adj1" fmla="val 108333"/>
              <a:gd name="adj2" fmla="val 50000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8077201" y="4045224"/>
            <a:ext cx="1641475" cy="1438275"/>
            <a:chOff x="4128" y="2091"/>
            <a:chExt cx="1034" cy="906"/>
          </a:xfrm>
        </p:grpSpPr>
        <p:sp>
          <p:nvSpPr>
            <p:cNvPr id="60433" name="Text Box 23"/>
            <p:cNvSpPr txBox="1">
              <a:spLocks noChangeArrowheads="1"/>
            </p:cNvSpPr>
            <p:nvPr/>
          </p:nvSpPr>
          <p:spPr bwMode="auto">
            <a:xfrm>
              <a:off x="4128" y="2091"/>
              <a:ext cx="79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 dirty="0">
                  <a:latin typeface="Times New Roman" pitchFamily="18" charset="0"/>
                </a:rPr>
                <a:t>  </a:t>
              </a:r>
              <a:r>
                <a:rPr kumimoji="1" lang="zh-CN" altLang="en-US" sz="2400" b="1" dirty="0">
                  <a:latin typeface="Times New Roman" pitchFamily="18" charset="0"/>
                </a:rPr>
                <a:t>正平面</a:t>
              </a:r>
            </a:p>
          </p:txBody>
        </p:sp>
        <p:sp>
          <p:nvSpPr>
            <p:cNvPr id="60434" name="Text Box 24"/>
            <p:cNvSpPr txBox="1">
              <a:spLocks noChangeArrowheads="1"/>
            </p:cNvSpPr>
            <p:nvPr/>
          </p:nvSpPr>
          <p:spPr bwMode="auto">
            <a:xfrm>
              <a:off x="4128" y="2418"/>
              <a:ext cx="103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kumimoji="1" lang="en-US" altLang="zh-CN" sz="2400" b="1" dirty="0">
                  <a:latin typeface="Times New Roman" pitchFamily="18" charset="0"/>
                </a:rPr>
                <a:t>  </a:t>
              </a:r>
              <a:r>
                <a:rPr kumimoji="1" lang="zh-CN" altLang="en-US" sz="2400" b="1" dirty="0">
                  <a:latin typeface="Times New Roman" pitchFamily="18" charset="0"/>
                </a:rPr>
                <a:t>侧平面</a:t>
              </a:r>
            </a:p>
          </p:txBody>
        </p:sp>
        <p:sp>
          <p:nvSpPr>
            <p:cNvPr id="60435" name="Text Box 25"/>
            <p:cNvSpPr txBox="1">
              <a:spLocks noChangeArrowheads="1"/>
            </p:cNvSpPr>
            <p:nvPr/>
          </p:nvSpPr>
          <p:spPr bwMode="auto">
            <a:xfrm>
              <a:off x="4128" y="2706"/>
              <a:ext cx="79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>
                  <a:latin typeface="Times New Roman" pitchFamily="18" charset="0"/>
                </a:rPr>
                <a:t>  </a:t>
              </a:r>
              <a:r>
                <a:rPr kumimoji="1" lang="zh-CN" altLang="en-US" sz="2400" b="1">
                  <a:latin typeface="Times New Roman" pitchFamily="18" charset="0"/>
                </a:rPr>
                <a:t>水平面</a:t>
              </a:r>
            </a:p>
          </p:txBody>
        </p:sp>
        <p:sp>
          <p:nvSpPr>
            <p:cNvPr id="60436" name="AutoShape 26"/>
            <p:cNvSpPr>
              <a:spLocks/>
            </p:cNvSpPr>
            <p:nvPr/>
          </p:nvSpPr>
          <p:spPr bwMode="auto">
            <a:xfrm>
              <a:off x="4145" y="2357"/>
              <a:ext cx="96" cy="339"/>
            </a:xfrm>
            <a:prstGeom prst="leftBrace">
              <a:avLst>
                <a:gd name="adj1" fmla="val 116667"/>
                <a:gd name="adj2" fmla="val 50000"/>
              </a:avLst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99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99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99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99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99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99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99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9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75"/>
                                        <p:tgtEl>
                                          <p:spTgt spid="99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" fill="hold"/>
                                        <p:tgtEl>
                                          <p:spTgt spid="99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75"/>
                                        <p:tgtEl>
                                          <p:spTgt spid="99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animBg="1"/>
      <p:bldP spid="99331" grpId="0" animBg="1"/>
      <p:bldP spid="99332" grpId="0" animBg="1"/>
      <p:bldP spid="99334" grpId="0" autoUpdateAnimBg="0"/>
      <p:bldP spid="99335" grpId="0" build="p" autoUpdateAnimBg="0" advAuto="0"/>
      <p:bldP spid="99336" grpId="0" build="p" autoUpdateAnimBg="0" advAuto="0"/>
      <p:bldP spid="99337" grpId="0" build="p" autoUpdateAnimBg="0" advAuto="0"/>
      <p:bldP spid="99341" grpId="0" autoUpdateAnimBg="0"/>
      <p:bldP spid="99342" grpId="0" autoUpdateAnimBg="0"/>
      <p:bldP spid="99343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6246813" y="3058070"/>
            <a:ext cx="444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5975350" y="3037433"/>
            <a:ext cx="395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1444" name="Line 4"/>
          <p:cNvSpPr>
            <a:spLocks noChangeShapeType="1"/>
          </p:cNvSpPr>
          <p:nvPr/>
        </p:nvSpPr>
        <p:spPr bwMode="auto">
          <a:xfrm>
            <a:off x="4294188" y="3883570"/>
            <a:ext cx="37195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>
            <a:off x="6270625" y="2283370"/>
            <a:ext cx="0" cy="294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1253188" y="1364188"/>
            <a:ext cx="289053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⑴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投影面垂直面</a:t>
            </a:r>
          </a:p>
        </p:txBody>
      </p:sp>
      <p:sp>
        <p:nvSpPr>
          <p:cNvPr id="61449" name="Line 17"/>
          <p:cNvSpPr>
            <a:spLocks noChangeShapeType="1"/>
          </p:cNvSpPr>
          <p:nvPr/>
        </p:nvSpPr>
        <p:spPr bwMode="auto">
          <a:xfrm>
            <a:off x="6062664" y="3435895"/>
            <a:ext cx="5429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0" name="Freeform 18"/>
          <p:cNvSpPr>
            <a:spLocks/>
          </p:cNvSpPr>
          <p:nvPr/>
        </p:nvSpPr>
        <p:spPr bwMode="auto">
          <a:xfrm>
            <a:off x="5656264" y="2562770"/>
            <a:ext cx="403225" cy="863600"/>
          </a:xfrm>
          <a:custGeom>
            <a:avLst/>
            <a:gdLst>
              <a:gd name="T0" fmla="*/ 2147483647 w 254"/>
              <a:gd name="T1" fmla="*/ 2147483647 h 544"/>
              <a:gd name="T2" fmla="*/ 0 w 254"/>
              <a:gd name="T3" fmla="*/ 0 h 544"/>
              <a:gd name="T4" fmla="*/ 0 60000 65536"/>
              <a:gd name="T5" fmla="*/ 0 60000 65536"/>
              <a:gd name="T6" fmla="*/ 0 w 254"/>
              <a:gd name="T7" fmla="*/ 0 h 544"/>
              <a:gd name="T8" fmla="*/ 254 w 254"/>
              <a:gd name="T9" fmla="*/ 544 h 54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4" h="544">
                <a:moveTo>
                  <a:pt x="254" y="544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1" name="Freeform 19"/>
          <p:cNvSpPr>
            <a:spLocks/>
          </p:cNvSpPr>
          <p:nvPr/>
        </p:nvSpPr>
        <p:spPr bwMode="auto">
          <a:xfrm>
            <a:off x="6861175" y="2558008"/>
            <a:ext cx="763588" cy="1060450"/>
          </a:xfrm>
          <a:custGeom>
            <a:avLst/>
            <a:gdLst>
              <a:gd name="T0" fmla="*/ 0 w 539"/>
              <a:gd name="T1" fmla="*/ 0 h 771"/>
              <a:gd name="T2" fmla="*/ 2147483647 w 539"/>
              <a:gd name="T3" fmla="*/ 2147483647 h 771"/>
              <a:gd name="T4" fmla="*/ 0 60000 65536"/>
              <a:gd name="T5" fmla="*/ 0 60000 65536"/>
              <a:gd name="T6" fmla="*/ 0 w 539"/>
              <a:gd name="T7" fmla="*/ 0 h 771"/>
              <a:gd name="T8" fmla="*/ 539 w 539"/>
              <a:gd name="T9" fmla="*/ 771 h 77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39" h="771">
                <a:moveTo>
                  <a:pt x="0" y="0"/>
                </a:moveTo>
                <a:lnTo>
                  <a:pt x="539" y="771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2" name="Freeform 20"/>
          <p:cNvSpPr>
            <a:spLocks/>
          </p:cNvSpPr>
          <p:nvPr/>
        </p:nvSpPr>
        <p:spPr bwMode="auto">
          <a:xfrm>
            <a:off x="6589713" y="3437484"/>
            <a:ext cx="1035050" cy="180975"/>
          </a:xfrm>
          <a:custGeom>
            <a:avLst/>
            <a:gdLst>
              <a:gd name="T0" fmla="*/ 0 w 652"/>
              <a:gd name="T1" fmla="*/ 0 h 114"/>
              <a:gd name="T2" fmla="*/ 2147483647 w 652"/>
              <a:gd name="T3" fmla="*/ 2147483647 h 114"/>
              <a:gd name="T4" fmla="*/ 0 60000 65536"/>
              <a:gd name="T5" fmla="*/ 0 60000 65536"/>
              <a:gd name="T6" fmla="*/ 0 w 652"/>
              <a:gd name="T7" fmla="*/ 0 h 114"/>
              <a:gd name="T8" fmla="*/ 652 w 652"/>
              <a:gd name="T9" fmla="*/ 114 h 1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2" h="114">
                <a:moveTo>
                  <a:pt x="0" y="0"/>
                </a:moveTo>
                <a:lnTo>
                  <a:pt x="652" y="114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3" name="Freeform 21"/>
          <p:cNvSpPr>
            <a:spLocks/>
          </p:cNvSpPr>
          <p:nvPr/>
        </p:nvSpPr>
        <p:spPr bwMode="auto">
          <a:xfrm>
            <a:off x="6573839" y="2559595"/>
            <a:ext cx="293687" cy="890588"/>
          </a:xfrm>
          <a:custGeom>
            <a:avLst/>
            <a:gdLst>
              <a:gd name="T0" fmla="*/ 0 w 185"/>
              <a:gd name="T1" fmla="*/ 2147483647 h 561"/>
              <a:gd name="T2" fmla="*/ 2147483647 w 185"/>
              <a:gd name="T3" fmla="*/ 0 h 561"/>
              <a:gd name="T4" fmla="*/ 0 60000 65536"/>
              <a:gd name="T5" fmla="*/ 0 60000 65536"/>
              <a:gd name="T6" fmla="*/ 0 w 185"/>
              <a:gd name="T7" fmla="*/ 0 h 561"/>
              <a:gd name="T8" fmla="*/ 185 w 185"/>
              <a:gd name="T9" fmla="*/ 561 h 5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5" h="561">
                <a:moveTo>
                  <a:pt x="0" y="561"/>
                </a:moveTo>
                <a:lnTo>
                  <a:pt x="185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4" name="Freeform 22"/>
          <p:cNvSpPr>
            <a:spLocks/>
          </p:cNvSpPr>
          <p:nvPr/>
        </p:nvSpPr>
        <p:spPr bwMode="auto">
          <a:xfrm>
            <a:off x="4567238" y="3437483"/>
            <a:ext cx="1492250" cy="182562"/>
          </a:xfrm>
          <a:custGeom>
            <a:avLst/>
            <a:gdLst>
              <a:gd name="T0" fmla="*/ 0 w 940"/>
              <a:gd name="T1" fmla="*/ 2147483647 h 115"/>
              <a:gd name="T2" fmla="*/ 2147483647 w 940"/>
              <a:gd name="T3" fmla="*/ 0 h 115"/>
              <a:gd name="T4" fmla="*/ 0 60000 65536"/>
              <a:gd name="T5" fmla="*/ 0 60000 65536"/>
              <a:gd name="T6" fmla="*/ 0 w 940"/>
              <a:gd name="T7" fmla="*/ 0 h 115"/>
              <a:gd name="T8" fmla="*/ 940 w 940"/>
              <a:gd name="T9" fmla="*/ 115 h 1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40" h="115">
                <a:moveTo>
                  <a:pt x="0" y="115"/>
                </a:moveTo>
                <a:lnTo>
                  <a:pt x="940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5" name="Text Box 23"/>
          <p:cNvSpPr txBox="1">
            <a:spLocks noChangeArrowheads="1"/>
          </p:cNvSpPr>
          <p:nvPr/>
        </p:nvSpPr>
        <p:spPr bwMode="auto">
          <a:xfrm>
            <a:off x="4295544" y="4841777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61456" name="Text Box 24"/>
          <p:cNvSpPr txBox="1">
            <a:spLocks noChangeArrowheads="1"/>
          </p:cNvSpPr>
          <p:nvPr/>
        </p:nvSpPr>
        <p:spPr bwMode="auto">
          <a:xfrm>
            <a:off x="5566337" y="4313139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61457" name="Text Box 25"/>
          <p:cNvSpPr txBox="1">
            <a:spLocks noChangeArrowheads="1"/>
          </p:cNvSpPr>
          <p:nvPr/>
        </p:nvSpPr>
        <p:spPr bwMode="auto">
          <a:xfrm>
            <a:off x="5964239" y="3985170"/>
            <a:ext cx="319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61458" name="Text Box 26"/>
          <p:cNvSpPr txBox="1">
            <a:spLocks noChangeArrowheads="1"/>
          </p:cNvSpPr>
          <p:nvPr/>
        </p:nvSpPr>
        <p:spPr bwMode="auto">
          <a:xfrm>
            <a:off x="4250722" y="3324127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1459" name="Text Box 27"/>
          <p:cNvSpPr txBox="1">
            <a:spLocks noChangeArrowheads="1"/>
          </p:cNvSpPr>
          <p:nvPr/>
        </p:nvSpPr>
        <p:spPr bwMode="auto">
          <a:xfrm>
            <a:off x="5369115" y="2209702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1460" name="Text Box 28"/>
          <p:cNvSpPr txBox="1">
            <a:spLocks noChangeArrowheads="1"/>
          </p:cNvSpPr>
          <p:nvPr/>
        </p:nvSpPr>
        <p:spPr bwMode="auto">
          <a:xfrm>
            <a:off x="6807151" y="2179539"/>
            <a:ext cx="4700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400" b="1">
              <a:latin typeface="Times New Roman" pitchFamily="18" charset="0"/>
              <a:sym typeface="CommercialPi BT" pitchFamily="18" charset="2"/>
            </a:endParaRPr>
          </a:p>
        </p:txBody>
      </p:sp>
      <p:sp>
        <p:nvSpPr>
          <p:cNvPr id="61461" name="Text Box 29"/>
          <p:cNvSpPr txBox="1">
            <a:spLocks noChangeArrowheads="1"/>
          </p:cNvSpPr>
          <p:nvPr/>
        </p:nvSpPr>
        <p:spPr bwMode="auto">
          <a:xfrm>
            <a:off x="7596932" y="3386039"/>
            <a:ext cx="47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</a:p>
        </p:txBody>
      </p:sp>
      <p:sp>
        <p:nvSpPr>
          <p:cNvPr id="61462" name="Line 30"/>
          <p:cNvSpPr>
            <a:spLocks noChangeShapeType="1"/>
          </p:cNvSpPr>
          <p:nvPr/>
        </p:nvSpPr>
        <p:spPr bwMode="auto">
          <a:xfrm flipV="1">
            <a:off x="4567239" y="4147096"/>
            <a:ext cx="1495425" cy="923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63" name="Line 31"/>
          <p:cNvSpPr>
            <a:spLocks noChangeShapeType="1"/>
          </p:cNvSpPr>
          <p:nvPr/>
        </p:nvSpPr>
        <p:spPr bwMode="auto">
          <a:xfrm flipV="1">
            <a:off x="4567239" y="2562770"/>
            <a:ext cx="1087437" cy="10556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64" name="Line 32"/>
          <p:cNvSpPr>
            <a:spLocks noChangeShapeType="1"/>
          </p:cNvSpPr>
          <p:nvPr/>
        </p:nvSpPr>
        <p:spPr bwMode="auto">
          <a:xfrm>
            <a:off x="4567238" y="3634333"/>
            <a:ext cx="0" cy="14525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65" name="Line 33"/>
          <p:cNvSpPr>
            <a:spLocks noChangeShapeType="1"/>
          </p:cNvSpPr>
          <p:nvPr/>
        </p:nvSpPr>
        <p:spPr bwMode="auto">
          <a:xfrm>
            <a:off x="5654675" y="2577059"/>
            <a:ext cx="0" cy="18494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86" name="AutoShape 34"/>
          <p:cNvSpPr>
            <a:spLocks noChangeArrowheads="1"/>
          </p:cNvSpPr>
          <p:nvPr/>
        </p:nvSpPr>
        <p:spPr bwMode="auto">
          <a:xfrm>
            <a:off x="2559050" y="2284958"/>
            <a:ext cx="1735138" cy="654050"/>
          </a:xfrm>
          <a:prstGeom prst="cloudCallout">
            <a:avLst>
              <a:gd name="adj1" fmla="val 75162"/>
              <a:gd name="adj2" fmla="val 81310"/>
            </a:avLst>
          </a:prstGeom>
          <a:solidFill>
            <a:srgbClr val="CCECFF"/>
          </a:solidFill>
          <a:ln w="317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类似性</a:t>
            </a:r>
          </a:p>
        </p:txBody>
      </p:sp>
      <p:sp>
        <p:nvSpPr>
          <p:cNvPr id="100387" name="AutoShape 35"/>
          <p:cNvSpPr>
            <a:spLocks noChangeArrowheads="1"/>
          </p:cNvSpPr>
          <p:nvPr/>
        </p:nvSpPr>
        <p:spPr bwMode="auto">
          <a:xfrm>
            <a:off x="7980363" y="2181770"/>
            <a:ext cx="1397000" cy="757238"/>
          </a:xfrm>
          <a:prstGeom prst="cloudCallout">
            <a:avLst>
              <a:gd name="adj1" fmla="val -83181"/>
              <a:gd name="adj2" fmla="val 77046"/>
            </a:avLst>
          </a:prstGeom>
          <a:solidFill>
            <a:srgbClr val="CCECFF"/>
          </a:solidFill>
          <a:ln w="317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类似性</a:t>
            </a:r>
          </a:p>
        </p:txBody>
      </p:sp>
      <p:sp>
        <p:nvSpPr>
          <p:cNvPr id="100388" name="AutoShape 36"/>
          <p:cNvSpPr>
            <a:spLocks noChangeArrowheads="1"/>
          </p:cNvSpPr>
          <p:nvPr/>
        </p:nvSpPr>
        <p:spPr bwMode="auto">
          <a:xfrm>
            <a:off x="2798763" y="3853408"/>
            <a:ext cx="1371600" cy="685800"/>
          </a:xfrm>
          <a:prstGeom prst="wedgeEllipseCallout">
            <a:avLst>
              <a:gd name="adj1" fmla="val 101852"/>
              <a:gd name="adj2" fmla="val 51389"/>
            </a:avLst>
          </a:prstGeom>
          <a:solidFill>
            <a:srgbClr val="FFFFFF"/>
          </a:solidFill>
          <a:ln w="28575">
            <a:solidFill>
              <a:srgbClr val="FF99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</a:rPr>
              <a:t>积聚性</a:t>
            </a:r>
          </a:p>
        </p:txBody>
      </p:sp>
      <p:sp>
        <p:nvSpPr>
          <p:cNvPr id="100390" name="Text Box 38"/>
          <p:cNvSpPr txBox="1">
            <a:spLocks noChangeArrowheads="1"/>
          </p:cNvSpPr>
          <p:nvPr/>
        </p:nvSpPr>
        <p:spPr bwMode="auto">
          <a:xfrm>
            <a:off x="4484642" y="4674116"/>
            <a:ext cx="304892" cy="40011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000" b="1">
                <a:latin typeface="Times New Roman" pitchFamily="18" charset="0"/>
              </a:rPr>
              <a:t>γ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00391" name="Text Box 39"/>
          <p:cNvSpPr txBox="1">
            <a:spLocks noChangeArrowheads="1"/>
          </p:cNvSpPr>
          <p:nvPr/>
        </p:nvSpPr>
        <p:spPr bwMode="auto">
          <a:xfrm>
            <a:off x="5581573" y="3994845"/>
            <a:ext cx="311304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b="1">
                <a:latin typeface="ISOCPEUR" pitchFamily="34" charset="0"/>
              </a:rPr>
              <a:t>β</a:t>
            </a:r>
            <a:endParaRPr kumimoji="1" lang="en-US" altLang="zh-CN" sz="2400" b="1">
              <a:latin typeface="ISOCPEUR" pitchFamily="34" charset="0"/>
            </a:endParaRPr>
          </a:p>
        </p:txBody>
      </p: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5451475" y="4104235"/>
            <a:ext cx="611188" cy="369887"/>
            <a:chOff x="2439" y="1598"/>
            <a:chExt cx="385" cy="233"/>
          </a:xfrm>
        </p:grpSpPr>
        <p:sp>
          <p:nvSpPr>
            <p:cNvPr id="61480" name="Line 41"/>
            <p:cNvSpPr>
              <a:spLocks noChangeShapeType="1"/>
            </p:cNvSpPr>
            <p:nvPr/>
          </p:nvSpPr>
          <p:spPr bwMode="auto">
            <a:xfrm flipH="1">
              <a:off x="2439" y="1625"/>
              <a:ext cx="3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1" name="Freeform 42"/>
            <p:cNvSpPr>
              <a:spLocks/>
            </p:cNvSpPr>
            <p:nvPr/>
          </p:nvSpPr>
          <p:spPr bwMode="auto">
            <a:xfrm>
              <a:off x="2484" y="1598"/>
              <a:ext cx="116" cy="233"/>
            </a:xfrm>
            <a:custGeom>
              <a:avLst/>
              <a:gdLst>
                <a:gd name="T0" fmla="*/ 10 w 68"/>
                <a:gd name="T1" fmla="*/ 0 h 189"/>
                <a:gd name="T2" fmla="*/ 3 w 68"/>
                <a:gd name="T3" fmla="*/ 80 h 189"/>
                <a:gd name="T4" fmla="*/ 25 w 68"/>
                <a:gd name="T5" fmla="*/ 146 h 189"/>
                <a:gd name="T6" fmla="*/ 68 w 68"/>
                <a:gd name="T7" fmla="*/ 189 h 1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8"/>
                <a:gd name="T13" fmla="*/ 0 h 189"/>
                <a:gd name="T14" fmla="*/ 68 w 68"/>
                <a:gd name="T15" fmla="*/ 189 h 1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8" h="189">
                  <a:moveTo>
                    <a:pt x="10" y="0"/>
                  </a:moveTo>
                  <a:cubicBezTo>
                    <a:pt x="10" y="13"/>
                    <a:pt x="0" y="56"/>
                    <a:pt x="3" y="80"/>
                  </a:cubicBezTo>
                  <a:cubicBezTo>
                    <a:pt x="6" y="104"/>
                    <a:pt x="14" y="128"/>
                    <a:pt x="25" y="146"/>
                  </a:cubicBezTo>
                  <a:cubicBezTo>
                    <a:pt x="36" y="164"/>
                    <a:pt x="59" y="180"/>
                    <a:pt x="68" y="189"/>
                  </a:cubicBezTo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0395" name="Freeform 43"/>
          <p:cNvSpPr>
            <a:spLocks/>
          </p:cNvSpPr>
          <p:nvPr/>
        </p:nvSpPr>
        <p:spPr bwMode="auto">
          <a:xfrm>
            <a:off x="4568826" y="4639498"/>
            <a:ext cx="184731" cy="369332"/>
          </a:xfrm>
          <a:custGeom>
            <a:avLst/>
            <a:gdLst>
              <a:gd name="T0" fmla="*/ 0 w 182"/>
              <a:gd name="T1" fmla="*/ 2147483647 h 101"/>
              <a:gd name="T2" fmla="*/ 2147483647 w 182"/>
              <a:gd name="T3" fmla="*/ 2147483647 h 101"/>
              <a:gd name="T4" fmla="*/ 2147483647 w 182"/>
              <a:gd name="T5" fmla="*/ 2147483647 h 101"/>
              <a:gd name="T6" fmla="*/ 2147483647 w 182"/>
              <a:gd name="T7" fmla="*/ 2147483647 h 101"/>
              <a:gd name="T8" fmla="*/ 0 60000 65536"/>
              <a:gd name="T9" fmla="*/ 0 60000 65536"/>
              <a:gd name="T10" fmla="*/ 0 60000 65536"/>
              <a:gd name="T11" fmla="*/ 0 60000 65536"/>
              <a:gd name="T12" fmla="*/ 0 w 182"/>
              <a:gd name="T13" fmla="*/ 0 h 101"/>
              <a:gd name="T14" fmla="*/ 182 w 182"/>
              <a:gd name="T15" fmla="*/ 101 h 10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2" h="101">
                <a:moveTo>
                  <a:pt x="0" y="6"/>
                </a:moveTo>
                <a:cubicBezTo>
                  <a:pt x="13" y="3"/>
                  <a:pt x="27" y="0"/>
                  <a:pt x="51" y="6"/>
                </a:cubicBezTo>
                <a:cubicBezTo>
                  <a:pt x="75" y="12"/>
                  <a:pt x="124" y="27"/>
                  <a:pt x="146" y="43"/>
                </a:cubicBezTo>
                <a:cubicBezTo>
                  <a:pt x="168" y="59"/>
                  <a:pt x="175" y="80"/>
                  <a:pt x="182" y="101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 type="triangle" w="sm" len="lg"/>
            <a:tailEnd type="triangle" w="sm" len="lg"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474" name="Line 44"/>
          <p:cNvSpPr>
            <a:spLocks noChangeShapeType="1"/>
          </p:cNvSpPr>
          <p:nvPr/>
        </p:nvSpPr>
        <p:spPr bwMode="auto">
          <a:xfrm>
            <a:off x="5654675" y="2559595"/>
            <a:ext cx="1212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475" name="Line 45"/>
          <p:cNvSpPr>
            <a:spLocks noChangeShapeType="1"/>
          </p:cNvSpPr>
          <p:nvPr/>
        </p:nvSpPr>
        <p:spPr bwMode="auto">
          <a:xfrm flipH="1">
            <a:off x="4567238" y="3618458"/>
            <a:ext cx="301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476" name="Line 46"/>
          <p:cNvSpPr>
            <a:spLocks noChangeShapeType="1"/>
          </p:cNvSpPr>
          <p:nvPr/>
        </p:nvSpPr>
        <p:spPr bwMode="auto">
          <a:xfrm>
            <a:off x="6062663" y="3435895"/>
            <a:ext cx="0" cy="711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0399" name="Text Box 47" descr="编织物"/>
          <p:cNvSpPr txBox="1">
            <a:spLocks noChangeArrowheads="1"/>
          </p:cNvSpPr>
          <p:nvPr/>
        </p:nvSpPr>
        <p:spPr bwMode="auto">
          <a:xfrm>
            <a:off x="2405262" y="4911552"/>
            <a:ext cx="1731564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</a:rPr>
              <a:t>投影特性：</a:t>
            </a:r>
          </a:p>
        </p:txBody>
      </p:sp>
      <p:sp>
        <p:nvSpPr>
          <p:cNvPr id="100400" name="Text Box 48"/>
          <p:cNvSpPr txBox="1">
            <a:spLocks noChangeArrowheads="1"/>
          </p:cNvSpPr>
          <p:nvPr/>
        </p:nvSpPr>
        <p:spPr bwMode="auto">
          <a:xfrm>
            <a:off x="2133600" y="5334308"/>
            <a:ext cx="8498904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在它垂直的投影面上的投影积聚成直线。该直线与投影轴的夹角反映空间平面与另外两投影面夹角的大小。</a:t>
            </a:r>
          </a:p>
        </p:txBody>
      </p:sp>
      <p:sp>
        <p:nvSpPr>
          <p:cNvPr id="100401" name="Text Box 49"/>
          <p:cNvSpPr txBox="1">
            <a:spLocks noChangeArrowheads="1"/>
          </p:cNvSpPr>
          <p:nvPr/>
        </p:nvSpPr>
        <p:spPr bwMode="auto">
          <a:xfrm>
            <a:off x="2895601" y="6192987"/>
            <a:ext cx="7459663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另外两个投影面上的投影为类似形。</a:t>
            </a:r>
          </a:p>
        </p:txBody>
      </p:sp>
      <p:sp>
        <p:nvSpPr>
          <p:cNvPr id="50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" fill="hold"/>
                                        <p:tgtEl>
                                          <p:spTgt spid="100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100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75"/>
                                        <p:tgtEl>
                                          <p:spTgt spid="10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100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75"/>
                                        <p:tgtEl>
                                          <p:spTgt spid="100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86" grpId="0" animBg="1" autoUpdateAnimBg="0"/>
      <p:bldP spid="100387" grpId="0" animBg="1" autoUpdateAnimBg="0"/>
      <p:bldP spid="100388" grpId="0" animBg="1" autoUpdateAnimBg="0"/>
      <p:bldP spid="100390" grpId="0" autoUpdateAnimBg="0"/>
      <p:bldP spid="100391" grpId="0" autoUpdateAnimBg="0"/>
      <p:bldP spid="100395" grpId="0" animBg="1"/>
      <p:bldP spid="100399" grpId="0" autoUpdateAnimBg="0"/>
      <p:bldP spid="100400" grpId="0" build="p" autoUpdateAnimBg="0"/>
      <p:bldP spid="100401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Group 2"/>
          <p:cNvGrpSpPr>
            <a:grpSpLocks/>
          </p:cNvGrpSpPr>
          <p:nvPr/>
        </p:nvGrpSpPr>
        <p:grpSpPr bwMode="auto">
          <a:xfrm>
            <a:off x="4182691" y="1956793"/>
            <a:ext cx="3983038" cy="3203575"/>
            <a:chOff x="1628" y="624"/>
            <a:chExt cx="2509" cy="2018"/>
          </a:xfrm>
        </p:grpSpPr>
        <p:sp>
          <p:nvSpPr>
            <p:cNvPr id="62475" name="Line 3"/>
            <p:cNvSpPr>
              <a:spLocks noChangeShapeType="1"/>
            </p:cNvSpPr>
            <p:nvPr/>
          </p:nvSpPr>
          <p:spPr bwMode="auto">
            <a:xfrm>
              <a:off x="1629" y="1584"/>
              <a:ext cx="2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6" name="Line 4"/>
            <p:cNvSpPr>
              <a:spLocks noChangeShapeType="1"/>
            </p:cNvSpPr>
            <p:nvPr/>
          </p:nvSpPr>
          <p:spPr bwMode="auto">
            <a:xfrm>
              <a:off x="3024" y="624"/>
              <a:ext cx="0" cy="20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7" name="Line 5"/>
            <p:cNvSpPr>
              <a:spLocks noChangeShapeType="1"/>
            </p:cNvSpPr>
            <p:nvPr/>
          </p:nvSpPr>
          <p:spPr bwMode="auto">
            <a:xfrm>
              <a:off x="1824" y="1824"/>
              <a:ext cx="1104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8" name="Line 6"/>
            <p:cNvSpPr>
              <a:spLocks noChangeShapeType="1"/>
            </p:cNvSpPr>
            <p:nvPr/>
          </p:nvSpPr>
          <p:spPr bwMode="auto">
            <a:xfrm>
              <a:off x="1824" y="1824"/>
              <a:ext cx="480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9" name="Line 7"/>
            <p:cNvSpPr>
              <a:spLocks noChangeShapeType="1"/>
            </p:cNvSpPr>
            <p:nvPr/>
          </p:nvSpPr>
          <p:spPr bwMode="auto">
            <a:xfrm flipV="1">
              <a:off x="2304" y="2064"/>
              <a:ext cx="624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0" name="Line 8"/>
            <p:cNvSpPr>
              <a:spLocks noChangeShapeType="1"/>
            </p:cNvSpPr>
            <p:nvPr/>
          </p:nvSpPr>
          <p:spPr bwMode="auto">
            <a:xfrm flipV="1">
              <a:off x="1824" y="960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1" name="Line 9"/>
            <p:cNvSpPr>
              <a:spLocks noChangeShapeType="1"/>
            </p:cNvSpPr>
            <p:nvPr/>
          </p:nvSpPr>
          <p:spPr bwMode="auto">
            <a:xfrm flipV="1">
              <a:off x="2928" y="960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2" name="Line 10"/>
            <p:cNvSpPr>
              <a:spLocks noChangeShapeType="1"/>
            </p:cNvSpPr>
            <p:nvPr/>
          </p:nvSpPr>
          <p:spPr bwMode="auto">
            <a:xfrm>
              <a:off x="1824" y="960"/>
              <a:ext cx="110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3" name="Line 11"/>
            <p:cNvSpPr>
              <a:spLocks noChangeShapeType="1"/>
            </p:cNvSpPr>
            <p:nvPr/>
          </p:nvSpPr>
          <p:spPr bwMode="auto">
            <a:xfrm flipV="1">
              <a:off x="2304" y="960"/>
              <a:ext cx="0" cy="1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4" name="Line 12"/>
            <p:cNvSpPr>
              <a:spLocks noChangeShapeType="1"/>
            </p:cNvSpPr>
            <p:nvPr/>
          </p:nvSpPr>
          <p:spPr bwMode="auto">
            <a:xfrm>
              <a:off x="3024" y="1584"/>
              <a:ext cx="864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5" name="Line 13"/>
            <p:cNvSpPr>
              <a:spLocks noChangeShapeType="1"/>
            </p:cNvSpPr>
            <p:nvPr/>
          </p:nvSpPr>
          <p:spPr bwMode="auto">
            <a:xfrm>
              <a:off x="2928" y="2064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6" name="Line 14"/>
            <p:cNvSpPr>
              <a:spLocks noChangeShapeType="1"/>
            </p:cNvSpPr>
            <p:nvPr/>
          </p:nvSpPr>
          <p:spPr bwMode="auto">
            <a:xfrm flipV="1">
              <a:off x="3504" y="960"/>
              <a:ext cx="0" cy="11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7" name="Line 15"/>
            <p:cNvSpPr>
              <a:spLocks noChangeShapeType="1"/>
            </p:cNvSpPr>
            <p:nvPr/>
          </p:nvSpPr>
          <p:spPr bwMode="auto">
            <a:xfrm>
              <a:off x="2304" y="2448"/>
              <a:ext cx="15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8" name="Line 16"/>
            <p:cNvSpPr>
              <a:spLocks noChangeShapeType="1"/>
            </p:cNvSpPr>
            <p:nvPr/>
          </p:nvSpPr>
          <p:spPr bwMode="auto">
            <a:xfrm flipV="1">
              <a:off x="3888" y="960"/>
              <a:ext cx="0" cy="1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89" name="Line 17"/>
            <p:cNvSpPr>
              <a:spLocks noChangeShapeType="1"/>
            </p:cNvSpPr>
            <p:nvPr/>
          </p:nvSpPr>
          <p:spPr bwMode="auto">
            <a:xfrm>
              <a:off x="1824" y="1824"/>
              <a:ext cx="14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0" name="Line 18"/>
            <p:cNvSpPr>
              <a:spLocks noChangeShapeType="1"/>
            </p:cNvSpPr>
            <p:nvPr/>
          </p:nvSpPr>
          <p:spPr bwMode="auto">
            <a:xfrm flipV="1">
              <a:off x="3264" y="960"/>
              <a:ext cx="0" cy="8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1" name="Line 19"/>
            <p:cNvSpPr>
              <a:spLocks noChangeShapeType="1"/>
            </p:cNvSpPr>
            <p:nvPr/>
          </p:nvSpPr>
          <p:spPr bwMode="auto">
            <a:xfrm>
              <a:off x="2928" y="96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2" name="Line 20"/>
            <p:cNvSpPr>
              <a:spLocks noChangeShapeType="1"/>
            </p:cNvSpPr>
            <p:nvPr/>
          </p:nvSpPr>
          <p:spPr bwMode="auto">
            <a:xfrm>
              <a:off x="3264" y="960"/>
              <a:ext cx="6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93" name="Text Box 21"/>
            <p:cNvSpPr txBox="1">
              <a:spLocks noChangeArrowheads="1"/>
            </p:cNvSpPr>
            <p:nvPr/>
          </p:nvSpPr>
          <p:spPr bwMode="auto">
            <a:xfrm>
              <a:off x="1638" y="767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2494" name="Text Box 22"/>
            <p:cNvSpPr txBox="1">
              <a:spLocks noChangeArrowheads="1"/>
            </p:cNvSpPr>
            <p:nvPr/>
          </p:nvSpPr>
          <p:spPr bwMode="auto">
            <a:xfrm>
              <a:off x="2226" y="719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2495" name="Text Box 23"/>
            <p:cNvSpPr txBox="1">
              <a:spLocks noChangeArrowheads="1"/>
            </p:cNvSpPr>
            <p:nvPr/>
          </p:nvSpPr>
          <p:spPr bwMode="auto">
            <a:xfrm>
              <a:off x="2804" y="702"/>
              <a:ext cx="24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CommercialPi BT" pitchFamily="18" charset="2"/>
              </a:endParaRPr>
            </a:p>
          </p:txBody>
        </p:sp>
        <p:sp>
          <p:nvSpPr>
            <p:cNvPr id="62496" name="Text Box 24"/>
            <p:cNvSpPr txBox="1">
              <a:spLocks noChangeArrowheads="1"/>
            </p:cNvSpPr>
            <p:nvPr/>
          </p:nvSpPr>
          <p:spPr bwMode="auto">
            <a:xfrm>
              <a:off x="3115" y="719"/>
              <a:ext cx="29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62497" name="Text Box 25"/>
            <p:cNvSpPr txBox="1">
              <a:spLocks noChangeArrowheads="1"/>
            </p:cNvSpPr>
            <p:nvPr/>
          </p:nvSpPr>
          <p:spPr bwMode="auto">
            <a:xfrm>
              <a:off x="3841" y="719"/>
              <a:ext cx="29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62498" name="Text Box 26"/>
            <p:cNvSpPr txBox="1">
              <a:spLocks noChangeArrowheads="1"/>
            </p:cNvSpPr>
            <p:nvPr/>
          </p:nvSpPr>
          <p:spPr bwMode="auto">
            <a:xfrm>
              <a:off x="3412" y="720"/>
              <a:ext cx="28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62499" name="Text Box 27"/>
            <p:cNvSpPr txBox="1">
              <a:spLocks noChangeArrowheads="1"/>
            </p:cNvSpPr>
            <p:nvPr/>
          </p:nvSpPr>
          <p:spPr bwMode="auto">
            <a:xfrm>
              <a:off x="1628" y="1679"/>
              <a:ext cx="21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2500" name="Text Box 28"/>
            <p:cNvSpPr txBox="1">
              <a:spLocks noChangeArrowheads="1"/>
            </p:cNvSpPr>
            <p:nvPr/>
          </p:nvSpPr>
          <p:spPr bwMode="auto">
            <a:xfrm>
              <a:off x="2138" y="2351"/>
              <a:ext cx="21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2501" name="Text Box 29"/>
            <p:cNvSpPr txBox="1">
              <a:spLocks noChangeArrowheads="1"/>
            </p:cNvSpPr>
            <p:nvPr/>
          </p:nvSpPr>
          <p:spPr bwMode="auto">
            <a:xfrm>
              <a:off x="2832" y="2016"/>
              <a:ext cx="2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62467" name="Text Box 30"/>
          <p:cNvSpPr txBox="1">
            <a:spLocks noChangeArrowheads="1"/>
          </p:cNvSpPr>
          <p:nvPr/>
        </p:nvSpPr>
        <p:spPr bwMode="auto">
          <a:xfrm>
            <a:off x="1308031" y="1117851"/>
            <a:ext cx="289053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⑵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投影面平行面</a:t>
            </a:r>
          </a:p>
        </p:txBody>
      </p:sp>
      <p:sp>
        <p:nvSpPr>
          <p:cNvPr id="101407" name="AutoShape 31"/>
          <p:cNvSpPr>
            <a:spLocks noChangeArrowheads="1"/>
          </p:cNvSpPr>
          <p:nvPr/>
        </p:nvSpPr>
        <p:spPr bwMode="auto">
          <a:xfrm>
            <a:off x="2055440" y="1956792"/>
            <a:ext cx="1676400" cy="990600"/>
          </a:xfrm>
          <a:prstGeom prst="cloudCallout">
            <a:avLst>
              <a:gd name="adj1" fmla="val 84468"/>
              <a:gd name="adj2" fmla="val 50963"/>
            </a:avLst>
          </a:prstGeom>
          <a:solidFill>
            <a:srgbClr val="CCECFF"/>
          </a:solidFill>
          <a:ln w="317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积聚性</a:t>
            </a:r>
          </a:p>
        </p:txBody>
      </p:sp>
      <p:sp>
        <p:nvSpPr>
          <p:cNvPr id="101408" name="AutoShape 32"/>
          <p:cNvSpPr>
            <a:spLocks noChangeArrowheads="1"/>
          </p:cNvSpPr>
          <p:nvPr/>
        </p:nvSpPr>
        <p:spPr bwMode="auto">
          <a:xfrm>
            <a:off x="8380040" y="1731368"/>
            <a:ext cx="1676400" cy="911225"/>
          </a:xfrm>
          <a:prstGeom prst="cloudCallout">
            <a:avLst>
              <a:gd name="adj1" fmla="val -76042"/>
              <a:gd name="adj2" fmla="val 87977"/>
            </a:avLst>
          </a:prstGeom>
          <a:solidFill>
            <a:srgbClr val="CCECFF"/>
          </a:solidFill>
          <a:ln w="31750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 dirty="0">
                <a:latin typeface="Times New Roman" pitchFamily="18" charset="0"/>
              </a:rPr>
              <a:t>积聚性</a:t>
            </a:r>
          </a:p>
        </p:txBody>
      </p:sp>
      <p:sp>
        <p:nvSpPr>
          <p:cNvPr id="101409" name="AutoShape 33"/>
          <p:cNvSpPr>
            <a:spLocks noChangeArrowheads="1"/>
          </p:cNvSpPr>
          <p:nvPr/>
        </p:nvSpPr>
        <p:spPr bwMode="auto">
          <a:xfrm>
            <a:off x="2207840" y="4242792"/>
            <a:ext cx="1752600" cy="609600"/>
          </a:xfrm>
          <a:prstGeom prst="wedgeEllipseCallout">
            <a:avLst>
              <a:gd name="adj1" fmla="val 81250"/>
              <a:gd name="adj2" fmla="val -67968"/>
            </a:avLst>
          </a:prstGeom>
          <a:solidFill>
            <a:srgbClr val="FFFFFF"/>
          </a:solidFill>
          <a:ln w="31750">
            <a:solidFill>
              <a:srgbClr val="FF9933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实形性</a:t>
            </a:r>
          </a:p>
        </p:txBody>
      </p:sp>
      <p:sp>
        <p:nvSpPr>
          <p:cNvPr id="101411" name="Text Box 35" descr="30%"/>
          <p:cNvSpPr txBox="1">
            <a:spLocks noChangeArrowheads="1"/>
          </p:cNvSpPr>
          <p:nvPr/>
        </p:nvSpPr>
        <p:spPr bwMode="auto">
          <a:xfrm>
            <a:off x="2108200" y="4911552"/>
            <a:ext cx="1731564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</a:rPr>
              <a:t>投影特性：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101412" name="Text Box 36"/>
          <p:cNvSpPr txBox="1">
            <a:spLocks noChangeArrowheads="1"/>
          </p:cNvSpPr>
          <p:nvPr/>
        </p:nvSpPr>
        <p:spPr bwMode="auto">
          <a:xfrm>
            <a:off x="2567608" y="5343600"/>
            <a:ext cx="575349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>
                <a:solidFill>
                  <a:srgbClr val="003399"/>
                </a:solidFill>
                <a:latin typeface="Times New Roman" pitchFamily="18" charset="0"/>
              </a:rPr>
              <a:t>在它所平行的投影面上的投影反映实形。</a:t>
            </a:r>
          </a:p>
        </p:txBody>
      </p:sp>
      <p:sp>
        <p:nvSpPr>
          <p:cNvPr id="101413" name="Text Box 37"/>
          <p:cNvSpPr txBox="1">
            <a:spLocks noChangeArrowheads="1"/>
          </p:cNvSpPr>
          <p:nvPr/>
        </p:nvSpPr>
        <p:spPr bwMode="auto">
          <a:xfrm>
            <a:off x="1898651" y="5838364"/>
            <a:ext cx="8367713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>
                <a:solidFill>
                  <a:srgbClr val="003399"/>
                </a:solidFill>
                <a:latin typeface="宋体" pitchFamily="2" charset="-122"/>
              </a:rPr>
              <a:t>    </a:t>
            </a:r>
            <a:r>
              <a:rPr kumimoji="1" lang="zh-CN" altLang="en-US" sz="2400" b="1">
                <a:solidFill>
                  <a:srgbClr val="003399"/>
                </a:solidFill>
                <a:latin typeface="宋体" pitchFamily="2" charset="-122"/>
              </a:rPr>
              <a:t>另两个投影面上的投影分别积聚成与相应的投影轴平行的直线。</a:t>
            </a:r>
          </a:p>
        </p:txBody>
      </p:sp>
      <p:sp>
        <p:nvSpPr>
          <p:cNvPr id="38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" fill="hold"/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101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101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07" grpId="0" animBg="1" autoUpdateAnimBg="0"/>
      <p:bldP spid="101408" grpId="0" animBg="1" autoUpdateAnimBg="0"/>
      <p:bldP spid="101409" grpId="0" animBg="1" autoUpdateAnimBg="0"/>
      <p:bldP spid="101411" grpId="0" autoUpdateAnimBg="0"/>
      <p:bldP spid="101412" grpId="0" build="p" autoUpdateAnimBg="0"/>
      <p:bldP spid="101413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2"/>
          <p:cNvSpPr>
            <a:spLocks noChangeShapeType="1"/>
          </p:cNvSpPr>
          <p:nvPr/>
        </p:nvSpPr>
        <p:spPr bwMode="auto">
          <a:xfrm>
            <a:off x="2401889" y="4191842"/>
            <a:ext cx="39766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3491" name="Group 3"/>
          <p:cNvGrpSpPr>
            <a:grpSpLocks/>
          </p:cNvGrpSpPr>
          <p:nvPr/>
        </p:nvGrpSpPr>
        <p:grpSpPr bwMode="auto">
          <a:xfrm>
            <a:off x="2320925" y="2132856"/>
            <a:ext cx="4232274" cy="3930651"/>
            <a:chOff x="502" y="604"/>
            <a:chExt cx="2666" cy="2476"/>
          </a:xfrm>
        </p:grpSpPr>
        <p:sp>
          <p:nvSpPr>
            <p:cNvPr id="63495" name="Line 4"/>
            <p:cNvSpPr>
              <a:spLocks noChangeShapeType="1"/>
            </p:cNvSpPr>
            <p:nvPr/>
          </p:nvSpPr>
          <p:spPr bwMode="auto">
            <a:xfrm>
              <a:off x="1945" y="653"/>
              <a:ext cx="0" cy="235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6" name="Line 5"/>
            <p:cNvSpPr>
              <a:spLocks noChangeShapeType="1"/>
            </p:cNvSpPr>
            <p:nvPr/>
          </p:nvSpPr>
          <p:spPr bwMode="auto">
            <a:xfrm flipV="1">
              <a:off x="697" y="2093"/>
              <a:ext cx="912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7" name="Line 6"/>
            <p:cNvSpPr>
              <a:spLocks noChangeShapeType="1"/>
            </p:cNvSpPr>
            <p:nvPr/>
          </p:nvSpPr>
          <p:spPr bwMode="auto">
            <a:xfrm>
              <a:off x="1609" y="2093"/>
              <a:ext cx="192" cy="7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8" name="Line 7"/>
            <p:cNvSpPr>
              <a:spLocks noChangeShapeType="1"/>
            </p:cNvSpPr>
            <p:nvPr/>
          </p:nvSpPr>
          <p:spPr bwMode="auto">
            <a:xfrm flipH="1" flipV="1">
              <a:off x="697" y="2477"/>
              <a:ext cx="1104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499" name="Line 8"/>
            <p:cNvSpPr>
              <a:spLocks noChangeShapeType="1"/>
            </p:cNvSpPr>
            <p:nvPr/>
          </p:nvSpPr>
          <p:spPr bwMode="auto">
            <a:xfrm flipV="1">
              <a:off x="697" y="1709"/>
              <a:ext cx="0" cy="7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0" name="Line 9"/>
            <p:cNvSpPr>
              <a:spLocks noChangeShapeType="1"/>
            </p:cNvSpPr>
            <p:nvPr/>
          </p:nvSpPr>
          <p:spPr bwMode="auto">
            <a:xfrm flipV="1">
              <a:off x="1609" y="845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1" name="Line 10"/>
            <p:cNvSpPr>
              <a:spLocks noChangeShapeType="1"/>
            </p:cNvSpPr>
            <p:nvPr/>
          </p:nvSpPr>
          <p:spPr bwMode="auto">
            <a:xfrm flipV="1">
              <a:off x="1801" y="1469"/>
              <a:ext cx="0" cy="13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2" name="Line 11"/>
            <p:cNvSpPr>
              <a:spLocks noChangeShapeType="1"/>
            </p:cNvSpPr>
            <p:nvPr/>
          </p:nvSpPr>
          <p:spPr bwMode="auto">
            <a:xfrm flipH="1">
              <a:off x="697" y="1469"/>
              <a:ext cx="1104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3" name="Line 12"/>
            <p:cNvSpPr>
              <a:spLocks noChangeShapeType="1"/>
            </p:cNvSpPr>
            <p:nvPr/>
          </p:nvSpPr>
          <p:spPr bwMode="auto">
            <a:xfrm flipV="1">
              <a:off x="697" y="845"/>
              <a:ext cx="912" cy="86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4" name="Line 13"/>
            <p:cNvSpPr>
              <a:spLocks noChangeShapeType="1"/>
            </p:cNvSpPr>
            <p:nvPr/>
          </p:nvSpPr>
          <p:spPr bwMode="auto">
            <a:xfrm>
              <a:off x="1609" y="845"/>
              <a:ext cx="192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5" name="Line 14"/>
            <p:cNvSpPr>
              <a:spLocks noChangeShapeType="1"/>
            </p:cNvSpPr>
            <p:nvPr/>
          </p:nvSpPr>
          <p:spPr bwMode="auto">
            <a:xfrm>
              <a:off x="1945" y="1901"/>
              <a:ext cx="1008" cy="10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6" name="Line 15"/>
            <p:cNvSpPr>
              <a:spLocks noChangeShapeType="1"/>
            </p:cNvSpPr>
            <p:nvPr/>
          </p:nvSpPr>
          <p:spPr bwMode="auto">
            <a:xfrm>
              <a:off x="1609" y="2093"/>
              <a:ext cx="52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7" name="Line 16"/>
            <p:cNvSpPr>
              <a:spLocks noChangeShapeType="1"/>
            </p:cNvSpPr>
            <p:nvPr/>
          </p:nvSpPr>
          <p:spPr bwMode="auto">
            <a:xfrm flipV="1">
              <a:off x="2137" y="845"/>
              <a:ext cx="0" cy="12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8" name="Line 17"/>
            <p:cNvSpPr>
              <a:spLocks noChangeShapeType="1"/>
            </p:cNvSpPr>
            <p:nvPr/>
          </p:nvSpPr>
          <p:spPr bwMode="auto">
            <a:xfrm>
              <a:off x="1609" y="845"/>
              <a:ext cx="52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09" name="Line 18"/>
            <p:cNvSpPr>
              <a:spLocks noChangeShapeType="1"/>
            </p:cNvSpPr>
            <p:nvPr/>
          </p:nvSpPr>
          <p:spPr bwMode="auto">
            <a:xfrm>
              <a:off x="697" y="2477"/>
              <a:ext cx="182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0" name="Line 19"/>
            <p:cNvSpPr>
              <a:spLocks noChangeShapeType="1"/>
            </p:cNvSpPr>
            <p:nvPr/>
          </p:nvSpPr>
          <p:spPr bwMode="auto">
            <a:xfrm>
              <a:off x="697" y="1709"/>
              <a:ext cx="182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1" name="Line 20"/>
            <p:cNvSpPr>
              <a:spLocks noChangeShapeType="1"/>
            </p:cNvSpPr>
            <p:nvPr/>
          </p:nvSpPr>
          <p:spPr bwMode="auto">
            <a:xfrm flipV="1">
              <a:off x="2521" y="1709"/>
              <a:ext cx="0" cy="7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2" name="Line 21"/>
            <p:cNvSpPr>
              <a:spLocks noChangeShapeType="1"/>
            </p:cNvSpPr>
            <p:nvPr/>
          </p:nvSpPr>
          <p:spPr bwMode="auto">
            <a:xfrm>
              <a:off x="1801" y="2861"/>
              <a:ext cx="110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3" name="Line 22"/>
            <p:cNvSpPr>
              <a:spLocks noChangeShapeType="1"/>
            </p:cNvSpPr>
            <p:nvPr/>
          </p:nvSpPr>
          <p:spPr bwMode="auto">
            <a:xfrm>
              <a:off x="1801" y="1469"/>
              <a:ext cx="110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4" name="Line 23"/>
            <p:cNvSpPr>
              <a:spLocks noChangeShapeType="1"/>
            </p:cNvSpPr>
            <p:nvPr/>
          </p:nvSpPr>
          <p:spPr bwMode="auto">
            <a:xfrm flipV="1">
              <a:off x="2905" y="1469"/>
              <a:ext cx="0" cy="13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5" name="Line 24"/>
            <p:cNvSpPr>
              <a:spLocks noChangeShapeType="1"/>
            </p:cNvSpPr>
            <p:nvPr/>
          </p:nvSpPr>
          <p:spPr bwMode="auto">
            <a:xfrm flipH="1">
              <a:off x="2521" y="1469"/>
              <a:ext cx="384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6" name="Line 25"/>
            <p:cNvSpPr>
              <a:spLocks noChangeShapeType="1"/>
            </p:cNvSpPr>
            <p:nvPr/>
          </p:nvSpPr>
          <p:spPr bwMode="auto">
            <a:xfrm>
              <a:off x="2137" y="845"/>
              <a:ext cx="768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7" name="Line 26"/>
            <p:cNvSpPr>
              <a:spLocks noChangeShapeType="1"/>
            </p:cNvSpPr>
            <p:nvPr/>
          </p:nvSpPr>
          <p:spPr bwMode="auto">
            <a:xfrm>
              <a:off x="2137" y="845"/>
              <a:ext cx="384" cy="86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518" name="Text Box 27"/>
            <p:cNvSpPr txBox="1">
              <a:spLocks noChangeArrowheads="1"/>
            </p:cNvSpPr>
            <p:nvPr/>
          </p:nvSpPr>
          <p:spPr bwMode="auto">
            <a:xfrm>
              <a:off x="502" y="1516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3519" name="Text Box 28"/>
            <p:cNvSpPr txBox="1">
              <a:spLocks noChangeArrowheads="1"/>
            </p:cNvSpPr>
            <p:nvPr/>
          </p:nvSpPr>
          <p:spPr bwMode="auto">
            <a:xfrm>
              <a:off x="1435" y="604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3520" name="Text Box 29"/>
            <p:cNvSpPr txBox="1">
              <a:spLocks noChangeArrowheads="1"/>
            </p:cNvSpPr>
            <p:nvPr/>
          </p:nvSpPr>
          <p:spPr bwMode="auto">
            <a:xfrm>
              <a:off x="1754" y="1220"/>
              <a:ext cx="24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3521" name="Text Box 30"/>
            <p:cNvSpPr txBox="1">
              <a:spLocks noChangeArrowheads="1"/>
            </p:cNvSpPr>
            <p:nvPr/>
          </p:nvSpPr>
          <p:spPr bwMode="auto">
            <a:xfrm>
              <a:off x="2518" y="1612"/>
              <a:ext cx="29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63522" name="Text Box 31"/>
            <p:cNvSpPr txBox="1">
              <a:spLocks noChangeArrowheads="1"/>
            </p:cNvSpPr>
            <p:nvPr/>
          </p:nvSpPr>
          <p:spPr bwMode="auto">
            <a:xfrm>
              <a:off x="2888" y="1277"/>
              <a:ext cx="28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63523" name="Text Box 32"/>
            <p:cNvSpPr txBox="1">
              <a:spLocks noChangeArrowheads="1"/>
            </p:cNvSpPr>
            <p:nvPr/>
          </p:nvSpPr>
          <p:spPr bwMode="auto">
            <a:xfrm>
              <a:off x="2090" y="604"/>
              <a:ext cx="29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</a:t>
              </a:r>
            </a:p>
          </p:txBody>
        </p:sp>
        <p:sp>
          <p:nvSpPr>
            <p:cNvPr id="63524" name="Text Box 33"/>
            <p:cNvSpPr txBox="1">
              <a:spLocks noChangeArrowheads="1"/>
            </p:cNvSpPr>
            <p:nvPr/>
          </p:nvSpPr>
          <p:spPr bwMode="auto">
            <a:xfrm>
              <a:off x="519" y="2284"/>
              <a:ext cx="21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3525" name="Text Box 34"/>
            <p:cNvSpPr txBox="1">
              <a:spLocks noChangeArrowheads="1"/>
            </p:cNvSpPr>
            <p:nvPr/>
          </p:nvSpPr>
          <p:spPr bwMode="auto">
            <a:xfrm>
              <a:off x="1415" y="1900"/>
              <a:ext cx="21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3526" name="Text Box 35"/>
            <p:cNvSpPr txBox="1">
              <a:spLocks noChangeArrowheads="1"/>
            </p:cNvSpPr>
            <p:nvPr/>
          </p:nvSpPr>
          <p:spPr bwMode="auto">
            <a:xfrm>
              <a:off x="1657" y="2792"/>
              <a:ext cx="2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63492" name="Text Box 36"/>
          <p:cNvSpPr txBox="1">
            <a:spLocks noChangeArrowheads="1"/>
          </p:cNvSpPr>
          <p:nvPr/>
        </p:nvSpPr>
        <p:spPr bwMode="auto">
          <a:xfrm>
            <a:off x="1340152" y="1318315"/>
            <a:ext cx="2890535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⑶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一般位置平面</a:t>
            </a:r>
          </a:p>
        </p:txBody>
      </p:sp>
      <p:sp>
        <p:nvSpPr>
          <p:cNvPr id="102437" name="Text Box 37"/>
          <p:cNvSpPr txBox="1">
            <a:spLocks noChangeArrowheads="1"/>
          </p:cNvSpPr>
          <p:nvPr/>
        </p:nvSpPr>
        <p:spPr bwMode="auto">
          <a:xfrm>
            <a:off x="7126287" y="3856238"/>
            <a:ext cx="2659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三个投影都类似。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102438" name="Text Box 38" descr="30%"/>
          <p:cNvSpPr txBox="1">
            <a:spLocks noChangeArrowheads="1"/>
          </p:cNvSpPr>
          <p:nvPr/>
        </p:nvSpPr>
        <p:spPr bwMode="auto">
          <a:xfrm>
            <a:off x="7135813" y="3289572"/>
            <a:ext cx="17315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投影特性：</a:t>
            </a:r>
          </a:p>
        </p:txBody>
      </p:sp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7" grpId="0" autoUpdateAnimBg="0"/>
      <p:bldP spid="102438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Line 2"/>
          <p:cNvSpPr>
            <a:spLocks noChangeShapeType="1"/>
          </p:cNvSpPr>
          <p:nvPr/>
        </p:nvSpPr>
        <p:spPr bwMode="auto">
          <a:xfrm flipV="1">
            <a:off x="4264025" y="2426618"/>
            <a:ext cx="1524000" cy="15240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9" name="Line 25"/>
          <p:cNvSpPr>
            <a:spLocks noChangeShapeType="1"/>
          </p:cNvSpPr>
          <p:nvPr/>
        </p:nvSpPr>
        <p:spPr bwMode="auto">
          <a:xfrm flipV="1">
            <a:off x="4289425" y="2426619"/>
            <a:ext cx="1498600" cy="1501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27" name="Text Box 3"/>
          <p:cNvSpPr txBox="1">
            <a:spLocks noChangeArrowheads="1"/>
          </p:cNvSpPr>
          <p:nvPr/>
        </p:nvSpPr>
        <p:spPr bwMode="auto">
          <a:xfrm>
            <a:off x="4648200" y="2906044"/>
            <a:ext cx="420308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5421314" y="2145630"/>
            <a:ext cx="395287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504113" y="3722019"/>
            <a:ext cx="470000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  <a:endParaRPr kumimoji="1" lang="en-US" altLang="zh-CN" sz="2000" b="1">
              <a:latin typeface="Italic" pitchFamily="2" charset="0"/>
            </a:endParaRP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7112000" y="2055143"/>
            <a:ext cx="444500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</a:p>
        </p:txBody>
      </p:sp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6078538" y="2791744"/>
            <a:ext cx="470000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</a:t>
            </a:r>
          </a:p>
        </p:txBody>
      </p:sp>
      <p:sp>
        <p:nvSpPr>
          <p:cNvPr id="103432" name="Line 8"/>
          <p:cNvSpPr>
            <a:spLocks noChangeShapeType="1"/>
          </p:cNvSpPr>
          <p:nvPr/>
        </p:nvSpPr>
        <p:spPr bwMode="auto">
          <a:xfrm flipV="1">
            <a:off x="5040313" y="3201318"/>
            <a:ext cx="0" cy="1344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 flipV="1">
            <a:off x="5802313" y="2426618"/>
            <a:ext cx="0" cy="2881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4523" name="Line 11"/>
          <p:cNvSpPr>
            <a:spLocks noChangeShapeType="1"/>
          </p:cNvSpPr>
          <p:nvPr/>
        </p:nvSpPr>
        <p:spPr bwMode="auto">
          <a:xfrm>
            <a:off x="3876675" y="4268118"/>
            <a:ext cx="41163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4524" name="Line 12"/>
          <p:cNvSpPr>
            <a:spLocks noChangeShapeType="1"/>
          </p:cNvSpPr>
          <p:nvPr/>
        </p:nvSpPr>
        <p:spPr bwMode="auto">
          <a:xfrm>
            <a:off x="6121400" y="2159919"/>
            <a:ext cx="0" cy="3730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4525" name="Line 13"/>
          <p:cNvSpPr>
            <a:spLocks noChangeShapeType="1"/>
          </p:cNvSpPr>
          <p:nvPr/>
        </p:nvSpPr>
        <p:spPr bwMode="auto">
          <a:xfrm flipV="1">
            <a:off x="4278313" y="4545930"/>
            <a:ext cx="762000" cy="1093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26" name="Line 14"/>
          <p:cNvSpPr>
            <a:spLocks noChangeShapeType="1"/>
          </p:cNvSpPr>
          <p:nvPr/>
        </p:nvSpPr>
        <p:spPr bwMode="auto">
          <a:xfrm>
            <a:off x="5040313" y="454593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27" name="Line 15"/>
          <p:cNvSpPr>
            <a:spLocks noChangeShapeType="1"/>
          </p:cNvSpPr>
          <p:nvPr/>
        </p:nvSpPr>
        <p:spPr bwMode="auto">
          <a:xfrm flipH="1">
            <a:off x="4278313" y="5307930"/>
            <a:ext cx="1524000" cy="3317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28" name="Line 16"/>
          <p:cNvSpPr>
            <a:spLocks noChangeShapeType="1"/>
          </p:cNvSpPr>
          <p:nvPr/>
        </p:nvSpPr>
        <p:spPr bwMode="auto">
          <a:xfrm flipV="1">
            <a:off x="4278313" y="3950618"/>
            <a:ext cx="0" cy="1689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4529" name="Text Box 17"/>
          <p:cNvSpPr txBox="1">
            <a:spLocks noChangeArrowheads="1"/>
          </p:cNvSpPr>
          <p:nvPr/>
        </p:nvSpPr>
        <p:spPr bwMode="auto">
          <a:xfrm>
            <a:off x="4135439" y="3825206"/>
            <a:ext cx="287337" cy="2143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800" b="1">
                <a:latin typeface="Italic" pitchFamily="2" charset="0"/>
              </a:rPr>
              <a:t>●</a:t>
            </a:r>
          </a:p>
        </p:txBody>
      </p:sp>
      <p:sp>
        <p:nvSpPr>
          <p:cNvPr id="64530" name="Text Box 18"/>
          <p:cNvSpPr txBox="1">
            <a:spLocks noChangeArrowheads="1"/>
          </p:cNvSpPr>
          <p:nvPr/>
        </p:nvSpPr>
        <p:spPr bwMode="auto">
          <a:xfrm>
            <a:off x="4691063" y="4296693"/>
            <a:ext cx="381000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sz="2000" b="1">
              <a:latin typeface="Italic" pitchFamily="2" charset="0"/>
            </a:endParaRPr>
          </a:p>
        </p:txBody>
      </p:sp>
      <p:sp>
        <p:nvSpPr>
          <p:cNvPr id="64531" name="Text Box 19"/>
          <p:cNvSpPr txBox="1">
            <a:spLocks noChangeArrowheads="1"/>
          </p:cNvSpPr>
          <p:nvPr/>
        </p:nvSpPr>
        <p:spPr bwMode="auto">
          <a:xfrm>
            <a:off x="3943350" y="5492080"/>
            <a:ext cx="363538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i="1">
                <a:latin typeface="Dutch801 Rm BT" pitchFamily="18" charset="0"/>
              </a:rPr>
              <a:t>b</a:t>
            </a:r>
            <a:endParaRPr kumimoji="1" lang="en-US" altLang="zh-CN" sz="2000" b="1">
              <a:latin typeface="Italic" pitchFamily="2" charset="0"/>
            </a:endParaRPr>
          </a:p>
        </p:txBody>
      </p:sp>
      <p:sp>
        <p:nvSpPr>
          <p:cNvPr id="64532" name="Text Box 20"/>
          <p:cNvSpPr txBox="1">
            <a:spLocks noChangeArrowheads="1"/>
          </p:cNvSpPr>
          <p:nvPr/>
        </p:nvSpPr>
        <p:spPr bwMode="auto">
          <a:xfrm>
            <a:off x="5768975" y="5144418"/>
            <a:ext cx="319088" cy="457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i="1">
                <a:latin typeface="Dutch801 Rm BT" pitchFamily="18" charset="0"/>
              </a:rPr>
              <a:t>c</a:t>
            </a:r>
            <a:endParaRPr kumimoji="1" lang="en-US" altLang="zh-CN" sz="2000" b="1">
              <a:latin typeface="Italic" pitchFamily="2" charset="0"/>
            </a:endParaRPr>
          </a:p>
        </p:txBody>
      </p:sp>
      <p:sp>
        <p:nvSpPr>
          <p:cNvPr id="64533" name="Text Box 21"/>
          <p:cNvSpPr txBox="1">
            <a:spLocks noChangeArrowheads="1"/>
          </p:cNvSpPr>
          <p:nvPr/>
        </p:nvSpPr>
        <p:spPr bwMode="auto">
          <a:xfrm>
            <a:off x="3824288" y="3764881"/>
            <a:ext cx="420308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03446" name="Line 22"/>
          <p:cNvSpPr>
            <a:spLocks noChangeShapeType="1"/>
          </p:cNvSpPr>
          <p:nvPr/>
        </p:nvSpPr>
        <p:spPr bwMode="auto">
          <a:xfrm>
            <a:off x="6121400" y="4268118"/>
            <a:ext cx="1454150" cy="1454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7" name="Line 23"/>
          <p:cNvSpPr>
            <a:spLocks noChangeShapeType="1"/>
          </p:cNvSpPr>
          <p:nvPr/>
        </p:nvSpPr>
        <p:spPr bwMode="auto">
          <a:xfrm>
            <a:off x="5040314" y="4545930"/>
            <a:ext cx="13620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48" name="Line 24"/>
          <p:cNvSpPr>
            <a:spLocks noChangeShapeType="1"/>
          </p:cNvSpPr>
          <p:nvPr/>
        </p:nvSpPr>
        <p:spPr bwMode="auto">
          <a:xfrm>
            <a:off x="5022850" y="3190205"/>
            <a:ext cx="13906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0" name="Line 26"/>
          <p:cNvSpPr>
            <a:spLocks noChangeShapeType="1"/>
          </p:cNvSpPr>
          <p:nvPr/>
        </p:nvSpPr>
        <p:spPr bwMode="auto">
          <a:xfrm flipV="1">
            <a:off x="6402388" y="3172744"/>
            <a:ext cx="0" cy="1373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451" name="Line 27"/>
          <p:cNvSpPr>
            <a:spLocks noChangeShapeType="1"/>
          </p:cNvSpPr>
          <p:nvPr/>
        </p:nvSpPr>
        <p:spPr bwMode="auto">
          <a:xfrm>
            <a:off x="5788025" y="5307930"/>
            <a:ext cx="13731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2" name="Line 28"/>
          <p:cNvSpPr>
            <a:spLocks noChangeShapeType="1"/>
          </p:cNvSpPr>
          <p:nvPr/>
        </p:nvSpPr>
        <p:spPr bwMode="auto">
          <a:xfrm flipV="1">
            <a:off x="7161213" y="2426618"/>
            <a:ext cx="0" cy="28813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453" name="Line 29"/>
          <p:cNvSpPr>
            <a:spLocks noChangeShapeType="1"/>
          </p:cNvSpPr>
          <p:nvPr/>
        </p:nvSpPr>
        <p:spPr bwMode="auto">
          <a:xfrm>
            <a:off x="5802313" y="2426618"/>
            <a:ext cx="1358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454" name="Line 30"/>
          <p:cNvSpPr>
            <a:spLocks noChangeShapeType="1"/>
          </p:cNvSpPr>
          <p:nvPr/>
        </p:nvSpPr>
        <p:spPr bwMode="auto">
          <a:xfrm>
            <a:off x="4264025" y="3950618"/>
            <a:ext cx="322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5" name="Line 31"/>
          <p:cNvSpPr>
            <a:spLocks noChangeShapeType="1"/>
          </p:cNvSpPr>
          <p:nvPr/>
        </p:nvSpPr>
        <p:spPr bwMode="auto">
          <a:xfrm>
            <a:off x="4278313" y="5639718"/>
            <a:ext cx="32115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6" name="Line 32"/>
          <p:cNvSpPr>
            <a:spLocks noChangeShapeType="1"/>
          </p:cNvSpPr>
          <p:nvPr/>
        </p:nvSpPr>
        <p:spPr bwMode="auto">
          <a:xfrm flipV="1">
            <a:off x="7489825" y="3950618"/>
            <a:ext cx="0" cy="16891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457" name="Line 33"/>
          <p:cNvSpPr>
            <a:spLocks noChangeShapeType="1"/>
          </p:cNvSpPr>
          <p:nvPr/>
        </p:nvSpPr>
        <p:spPr bwMode="auto">
          <a:xfrm>
            <a:off x="6402389" y="3190206"/>
            <a:ext cx="1087437" cy="7604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458" name="Line 34"/>
          <p:cNvSpPr>
            <a:spLocks noChangeShapeType="1"/>
          </p:cNvSpPr>
          <p:nvPr/>
        </p:nvSpPr>
        <p:spPr bwMode="auto">
          <a:xfrm flipH="1" flipV="1">
            <a:off x="7161213" y="2426618"/>
            <a:ext cx="328612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3459" name="Line 35"/>
          <p:cNvSpPr>
            <a:spLocks noChangeShapeType="1"/>
          </p:cNvSpPr>
          <p:nvPr/>
        </p:nvSpPr>
        <p:spPr bwMode="auto">
          <a:xfrm flipV="1">
            <a:off x="6402389" y="2426619"/>
            <a:ext cx="758825" cy="746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4547" name="Text Box 36"/>
          <p:cNvSpPr txBox="1">
            <a:spLocks noChangeArrowheads="1"/>
          </p:cNvSpPr>
          <p:nvPr/>
        </p:nvSpPr>
        <p:spPr bwMode="auto">
          <a:xfrm>
            <a:off x="1055441" y="1276414"/>
            <a:ext cx="10801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Italic" pitchFamily="2" charset="0"/>
              </a:rPr>
              <a:t>例</a:t>
            </a:r>
            <a:r>
              <a:rPr kumimoji="1" lang="zh-CN" altLang="en-US" sz="2400" b="1" dirty="0">
                <a:latin typeface="宋体" pitchFamily="2" charset="-122"/>
              </a:rPr>
              <a:t>：正垂面</a:t>
            </a:r>
            <a:r>
              <a:rPr kumimoji="1" lang="en-US" altLang="zh-CN" sz="2400" b="1" dirty="0">
                <a:latin typeface="宋体" pitchFamily="2" charset="-122"/>
              </a:rPr>
              <a:t>ABC</a:t>
            </a:r>
            <a:r>
              <a:rPr kumimoji="1" lang="zh-CN" altLang="en-US" sz="2400" b="1" dirty="0">
                <a:latin typeface="宋体" pitchFamily="2" charset="-122"/>
              </a:rPr>
              <a:t>与</a:t>
            </a:r>
            <a:r>
              <a:rPr kumimoji="1" lang="en-US" altLang="zh-CN" sz="2400" b="1" dirty="0">
                <a:latin typeface="宋体" pitchFamily="2" charset="-122"/>
              </a:rPr>
              <a:t>H</a:t>
            </a:r>
            <a:r>
              <a:rPr kumimoji="1" lang="zh-CN" altLang="zh-CN" sz="2400" b="1" dirty="0">
                <a:latin typeface="宋体" pitchFamily="2" charset="-122"/>
              </a:rPr>
              <a:t>面的夹角为45°</a:t>
            </a:r>
            <a:r>
              <a:rPr kumimoji="1" lang="zh-CN" altLang="en-US" sz="2400" b="1" dirty="0">
                <a:latin typeface="宋体" pitchFamily="2" charset="-122"/>
              </a:rPr>
              <a:t>，已知其水平投影及顶点</a:t>
            </a:r>
            <a:r>
              <a:rPr kumimoji="1" lang="en-US" altLang="zh-CN" sz="2400" b="1" dirty="0">
                <a:latin typeface="宋体" pitchFamily="2" charset="-122"/>
              </a:rPr>
              <a:t>B</a:t>
            </a:r>
            <a:r>
              <a:rPr kumimoji="1" lang="zh-CN" altLang="en-US" sz="2400" b="1" dirty="0">
                <a:latin typeface="宋体" pitchFamily="2" charset="-122"/>
              </a:rPr>
              <a:t>的正面投影，求△</a:t>
            </a:r>
            <a:r>
              <a:rPr kumimoji="1" lang="en-US" altLang="zh-CN" sz="2400" b="1" dirty="0">
                <a:latin typeface="宋体" pitchFamily="2" charset="-122"/>
              </a:rPr>
              <a:t>ABC</a:t>
            </a:r>
            <a:r>
              <a:rPr kumimoji="1" lang="zh-CN" altLang="en-US" sz="2400" b="1" dirty="0">
                <a:latin typeface="宋体" pitchFamily="2" charset="-122"/>
              </a:rPr>
              <a:t>的正面投影及侧面投影。</a:t>
            </a:r>
          </a:p>
        </p:txBody>
      </p:sp>
      <p:sp>
        <p:nvSpPr>
          <p:cNvPr id="103461" name="Text Box 37"/>
          <p:cNvSpPr txBox="1">
            <a:spLocks noChangeArrowheads="1"/>
          </p:cNvSpPr>
          <p:nvPr/>
        </p:nvSpPr>
        <p:spPr bwMode="auto">
          <a:xfrm>
            <a:off x="4257698" y="5847656"/>
            <a:ext cx="32784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3333CC"/>
                </a:solidFill>
                <a:latin typeface="RomanS" pitchFamily="2" charset="0"/>
              </a:rPr>
              <a:t>思考：此题有几个解？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4278313" y="3493418"/>
            <a:ext cx="868362" cy="555625"/>
            <a:chOff x="1735" y="1902"/>
            <a:chExt cx="547" cy="350"/>
          </a:xfrm>
        </p:grpSpPr>
        <p:sp>
          <p:nvSpPr>
            <p:cNvPr id="64550" name="Arc 39"/>
            <p:cNvSpPr>
              <a:spLocks/>
            </p:cNvSpPr>
            <p:nvPr/>
          </p:nvSpPr>
          <p:spPr bwMode="auto">
            <a:xfrm>
              <a:off x="1735" y="1902"/>
              <a:ext cx="441" cy="233"/>
            </a:xfrm>
            <a:custGeom>
              <a:avLst/>
              <a:gdLst>
                <a:gd name="T0" fmla="*/ 0 w 21600"/>
                <a:gd name="T1" fmla="*/ 0 h 14212"/>
                <a:gd name="T2" fmla="*/ 0 w 21600"/>
                <a:gd name="T3" fmla="*/ 0 h 14212"/>
                <a:gd name="T4" fmla="*/ 0 w 21600"/>
                <a:gd name="T5" fmla="*/ 0 h 1421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4212"/>
                <a:gd name="T11" fmla="*/ 21600 w 21600"/>
                <a:gd name="T12" fmla="*/ 14212 h 142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4212" fill="none" extrusionOk="0">
                  <a:moveTo>
                    <a:pt x="16265" y="0"/>
                  </a:moveTo>
                  <a:cubicBezTo>
                    <a:pt x="19704" y="3935"/>
                    <a:pt x="21600" y="8985"/>
                    <a:pt x="21600" y="14212"/>
                  </a:cubicBezTo>
                </a:path>
                <a:path w="21600" h="14212" stroke="0" extrusionOk="0">
                  <a:moveTo>
                    <a:pt x="16265" y="0"/>
                  </a:moveTo>
                  <a:cubicBezTo>
                    <a:pt x="19704" y="3935"/>
                    <a:pt x="21600" y="8985"/>
                    <a:pt x="21600" y="14212"/>
                  </a:cubicBezTo>
                  <a:lnTo>
                    <a:pt x="0" y="1421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551" name="Text Box 40"/>
            <p:cNvSpPr txBox="1">
              <a:spLocks noChangeArrowheads="1"/>
            </p:cNvSpPr>
            <p:nvPr/>
          </p:nvSpPr>
          <p:spPr bwMode="auto">
            <a:xfrm>
              <a:off x="1811" y="1964"/>
              <a:ext cx="471" cy="2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000" b="1" i="1">
                  <a:latin typeface="ISOCPEUR" pitchFamily="34" charset="0"/>
                </a:rPr>
                <a:t>45</a:t>
              </a:r>
              <a:r>
                <a:rPr kumimoji="1" lang="en-US" altLang="zh-CN" sz="2400" b="1" i="1">
                  <a:latin typeface="ISOCPEUR" pitchFamily="34" charset="0"/>
                </a:rPr>
                <a:t>°</a:t>
              </a:r>
            </a:p>
          </p:txBody>
        </p:sp>
        <p:sp>
          <p:nvSpPr>
            <p:cNvPr id="64552" name="Line 41"/>
            <p:cNvSpPr>
              <a:spLocks noChangeShapeType="1"/>
            </p:cNvSpPr>
            <p:nvPr/>
          </p:nvSpPr>
          <p:spPr bwMode="auto">
            <a:xfrm>
              <a:off x="1735" y="2190"/>
              <a:ext cx="5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1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3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3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0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3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0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3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0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3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03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animBg="1"/>
      <p:bldP spid="103449" grpId="0" animBg="1"/>
      <p:bldP spid="103427" grpId="0" autoUpdateAnimBg="0"/>
      <p:bldP spid="103428" grpId="0" autoUpdateAnimBg="0"/>
      <p:bldP spid="103429" grpId="0" autoUpdateAnimBg="0"/>
      <p:bldP spid="103430" grpId="0" autoUpdateAnimBg="0"/>
      <p:bldP spid="103431" grpId="0" autoUpdateAnimBg="0"/>
      <p:bldP spid="103432" grpId="0" animBg="1"/>
      <p:bldP spid="103433" grpId="0" animBg="1"/>
      <p:bldP spid="103446" grpId="0" animBg="1"/>
      <p:bldP spid="103447" grpId="0" animBg="1"/>
      <p:bldP spid="103448" grpId="0" animBg="1"/>
      <p:bldP spid="103450" grpId="0" animBg="1"/>
      <p:bldP spid="103451" grpId="0" animBg="1"/>
      <p:bldP spid="103452" grpId="0" animBg="1"/>
      <p:bldP spid="103453" grpId="0" animBg="1"/>
      <p:bldP spid="103454" grpId="0" animBg="1"/>
      <p:bldP spid="103455" grpId="0" animBg="1"/>
      <p:bldP spid="103456" grpId="0" animBg="1"/>
      <p:bldP spid="103457" grpId="0" animBg="1"/>
      <p:bldP spid="103458" grpId="0" animBg="1"/>
      <p:bldP spid="103459" grpId="0" animBg="1"/>
      <p:bldP spid="103461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1415480" y="983501"/>
            <a:ext cx="3791423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三、平面上的直线和点</a:t>
            </a: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2278701" y="2218539"/>
            <a:ext cx="48253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位于平面上的直线应满足的条件：</a:t>
            </a:r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1775520" y="1594533"/>
            <a:ext cx="36118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⒈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平面上取任意直线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235826" y="2348880"/>
            <a:ext cx="3671505" cy="1530691"/>
            <a:chOff x="969" y="1448"/>
            <a:chExt cx="2206" cy="708"/>
          </a:xfrm>
        </p:grpSpPr>
        <p:sp>
          <p:nvSpPr>
            <p:cNvPr id="65552" name="AutoShape 6"/>
            <p:cNvSpPr>
              <a:spLocks noChangeArrowheads="1"/>
            </p:cNvSpPr>
            <p:nvPr/>
          </p:nvSpPr>
          <p:spPr bwMode="auto">
            <a:xfrm>
              <a:off x="969" y="1537"/>
              <a:ext cx="2206" cy="619"/>
            </a:xfrm>
            <a:prstGeom prst="parallelogram">
              <a:avLst>
                <a:gd name="adj" fmla="val 56214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53" name="Line 7"/>
            <p:cNvSpPr>
              <a:spLocks noChangeShapeType="1"/>
            </p:cNvSpPr>
            <p:nvPr/>
          </p:nvSpPr>
          <p:spPr bwMode="auto">
            <a:xfrm flipV="1">
              <a:off x="1475" y="1652"/>
              <a:ext cx="899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54" name="Text Box 8"/>
            <p:cNvSpPr txBox="1">
              <a:spLocks noChangeArrowheads="1"/>
            </p:cNvSpPr>
            <p:nvPr/>
          </p:nvSpPr>
          <p:spPr bwMode="auto">
            <a:xfrm>
              <a:off x="2128" y="1662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>
                  <a:solidFill>
                    <a:srgbClr val="FF3300"/>
                  </a:solidFill>
                  <a:latin typeface="RomanS" pitchFamily="2" charset="0"/>
                </a:rPr>
                <a:t>●</a:t>
              </a:r>
            </a:p>
          </p:txBody>
        </p:sp>
        <p:sp>
          <p:nvSpPr>
            <p:cNvPr id="65555" name="Text Box 9"/>
            <p:cNvSpPr txBox="1">
              <a:spLocks noChangeArrowheads="1"/>
            </p:cNvSpPr>
            <p:nvPr/>
          </p:nvSpPr>
          <p:spPr bwMode="auto">
            <a:xfrm>
              <a:off x="1635" y="1879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>
                  <a:solidFill>
                    <a:srgbClr val="FF3300"/>
                  </a:solidFill>
                  <a:latin typeface="RomanS" pitchFamily="2" charset="0"/>
                </a:rPr>
                <a:t>●</a:t>
              </a:r>
            </a:p>
          </p:txBody>
        </p:sp>
        <p:sp>
          <p:nvSpPr>
            <p:cNvPr id="65556" name="Text Box 10"/>
            <p:cNvSpPr txBox="1">
              <a:spLocks noChangeArrowheads="1"/>
            </p:cNvSpPr>
            <p:nvPr/>
          </p:nvSpPr>
          <p:spPr bwMode="auto">
            <a:xfrm>
              <a:off x="1555" y="1665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solidFill>
                    <a:srgbClr val="FF3300"/>
                  </a:solidFill>
                  <a:latin typeface="宋体" pitchFamily="2" charset="-122"/>
                </a:rPr>
                <a:t>M</a:t>
              </a:r>
              <a:endParaRPr kumimoji="1" lang="en-US" altLang="zh-CN" sz="2400" b="1">
                <a:solidFill>
                  <a:srgbClr val="FF3300"/>
                </a:solidFill>
                <a:latin typeface="RomanS" pitchFamily="2" charset="0"/>
              </a:endParaRPr>
            </a:p>
          </p:txBody>
        </p:sp>
        <p:sp>
          <p:nvSpPr>
            <p:cNvPr id="65557" name="Text Box 11"/>
            <p:cNvSpPr txBox="1">
              <a:spLocks noChangeArrowheads="1"/>
            </p:cNvSpPr>
            <p:nvPr/>
          </p:nvSpPr>
          <p:spPr bwMode="auto">
            <a:xfrm>
              <a:off x="2057" y="1448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solidFill>
                    <a:srgbClr val="FF3300"/>
                  </a:solidFill>
                  <a:latin typeface="宋体" pitchFamily="2" charset="-122"/>
                </a:rPr>
                <a:t>N</a:t>
              </a:r>
              <a:endParaRPr kumimoji="1" lang="en-US" altLang="zh-CN" sz="2400" b="1">
                <a:solidFill>
                  <a:srgbClr val="FF3300"/>
                </a:solidFill>
                <a:latin typeface="RomanS" pitchFamily="2" charset="0"/>
              </a:endParaRP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7104061" y="4843187"/>
            <a:ext cx="3671886" cy="1538288"/>
            <a:chOff x="2964" y="1425"/>
            <a:chExt cx="2313" cy="969"/>
          </a:xfrm>
        </p:grpSpPr>
        <p:sp>
          <p:nvSpPr>
            <p:cNvPr id="65545" name="AutoShape 13"/>
            <p:cNvSpPr>
              <a:spLocks noChangeArrowheads="1"/>
            </p:cNvSpPr>
            <p:nvPr/>
          </p:nvSpPr>
          <p:spPr bwMode="auto">
            <a:xfrm>
              <a:off x="2964" y="1425"/>
              <a:ext cx="2313" cy="969"/>
            </a:xfrm>
            <a:prstGeom prst="parallelogram">
              <a:avLst>
                <a:gd name="adj" fmla="val 56214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46" name="Line 14"/>
            <p:cNvSpPr>
              <a:spLocks noChangeShapeType="1"/>
            </p:cNvSpPr>
            <p:nvPr/>
          </p:nvSpPr>
          <p:spPr bwMode="auto">
            <a:xfrm flipV="1">
              <a:off x="3517" y="1568"/>
              <a:ext cx="899" cy="384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547" name="Text Box 15"/>
            <p:cNvSpPr txBox="1">
              <a:spLocks noChangeArrowheads="1"/>
            </p:cNvSpPr>
            <p:nvPr/>
          </p:nvSpPr>
          <p:spPr bwMode="auto">
            <a:xfrm>
              <a:off x="3331" y="1790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solidFill>
                    <a:srgbClr val="FF3300"/>
                  </a:solidFill>
                  <a:latin typeface="宋体" pitchFamily="2" charset="-122"/>
                </a:rPr>
                <a:t>A</a:t>
              </a:r>
              <a:endParaRPr kumimoji="1" lang="en-US" altLang="zh-CN" sz="2400" b="1">
                <a:solidFill>
                  <a:srgbClr val="3333CC"/>
                </a:solidFill>
                <a:latin typeface="RomanS" pitchFamily="2" charset="0"/>
              </a:endParaRPr>
            </a:p>
          </p:txBody>
        </p:sp>
        <p:sp>
          <p:nvSpPr>
            <p:cNvPr id="65548" name="Text Box 16"/>
            <p:cNvSpPr txBox="1">
              <a:spLocks noChangeArrowheads="1"/>
            </p:cNvSpPr>
            <p:nvPr/>
          </p:nvSpPr>
          <p:spPr bwMode="auto">
            <a:xfrm>
              <a:off x="4398" y="1425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solidFill>
                    <a:srgbClr val="FF3300"/>
                  </a:solidFill>
                  <a:latin typeface="宋体" pitchFamily="2" charset="-122"/>
                </a:rPr>
                <a:t>B</a:t>
              </a:r>
              <a:endParaRPr kumimoji="1" lang="en-US" altLang="zh-CN" sz="2400" b="1">
                <a:solidFill>
                  <a:srgbClr val="3333CC"/>
                </a:solidFill>
                <a:latin typeface="RomanS" pitchFamily="2" charset="0"/>
              </a:endParaRPr>
            </a:p>
          </p:txBody>
        </p:sp>
        <p:sp>
          <p:nvSpPr>
            <p:cNvPr id="65549" name="Text Box 17"/>
            <p:cNvSpPr txBox="1">
              <a:spLocks noChangeArrowheads="1"/>
            </p:cNvSpPr>
            <p:nvPr/>
          </p:nvSpPr>
          <p:spPr bwMode="auto">
            <a:xfrm>
              <a:off x="3773" y="2163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>
                  <a:solidFill>
                    <a:srgbClr val="FF3300"/>
                  </a:solidFill>
                  <a:latin typeface="RomanS" pitchFamily="2" charset="0"/>
                </a:rPr>
                <a:t>●</a:t>
              </a:r>
            </a:p>
          </p:txBody>
        </p:sp>
        <p:sp>
          <p:nvSpPr>
            <p:cNvPr id="65550" name="Text Box 18"/>
            <p:cNvSpPr txBox="1">
              <a:spLocks noChangeArrowheads="1"/>
            </p:cNvSpPr>
            <p:nvPr/>
          </p:nvSpPr>
          <p:spPr bwMode="auto">
            <a:xfrm>
              <a:off x="3693" y="1949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solidFill>
                    <a:srgbClr val="FF3300"/>
                  </a:solidFill>
                  <a:latin typeface="宋体" pitchFamily="2" charset="-122"/>
                </a:rPr>
                <a:t>M</a:t>
              </a:r>
              <a:endParaRPr kumimoji="1" lang="en-US" altLang="zh-CN" sz="2400" b="1">
                <a:solidFill>
                  <a:srgbClr val="FF3300"/>
                </a:solidFill>
                <a:latin typeface="RomanS" pitchFamily="2" charset="0"/>
              </a:endParaRPr>
            </a:p>
          </p:txBody>
        </p:sp>
        <p:sp>
          <p:nvSpPr>
            <p:cNvPr id="65551" name="Line 19"/>
            <p:cNvSpPr>
              <a:spLocks noChangeShapeType="1"/>
            </p:cNvSpPr>
            <p:nvPr/>
          </p:nvSpPr>
          <p:spPr bwMode="auto">
            <a:xfrm flipV="1">
              <a:off x="3786" y="1889"/>
              <a:ext cx="899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2456645" y="3122058"/>
            <a:ext cx="4206092" cy="830997"/>
          </a:xfrm>
          <a:prstGeom prst="rect">
            <a:avLst/>
          </a:prstGeom>
          <a:gradFill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100000" b="100000"/>
            </a:path>
          </a:gradFill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若一直线过平面上的两点，则此直线必在该平面内。</a:t>
            </a:r>
          </a:p>
        </p:txBody>
      </p:sp>
      <p:sp>
        <p:nvSpPr>
          <p:cNvPr id="5" name="矩形 4"/>
          <p:cNvSpPr/>
          <p:nvPr/>
        </p:nvSpPr>
        <p:spPr>
          <a:xfrm>
            <a:off x="2456645" y="5000537"/>
            <a:ext cx="4206092" cy="1200329"/>
          </a:xfrm>
          <a:prstGeom prst="rect">
            <a:avLst/>
          </a:prstGeom>
          <a:gradFill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100000" b="100000"/>
            </a:path>
          </a:gradFill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若一直线过平面上的一点且平行于该平面上的另一直线，则此直线在该平面内。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4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 autoUpdateAnimBg="0"/>
      <p:bldP spid="104452" grpId="0" build="p" autoUpdateAnimBg="0"/>
      <p:bldP spid="4" grpId="0" animBg="1"/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 flipV="1">
            <a:off x="3276600" y="2689448"/>
            <a:ext cx="1066800" cy="10668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3" name="Line 3"/>
          <p:cNvSpPr>
            <a:spLocks noChangeShapeType="1"/>
          </p:cNvSpPr>
          <p:nvPr/>
        </p:nvSpPr>
        <p:spPr bwMode="auto">
          <a:xfrm flipV="1">
            <a:off x="3276600" y="3451448"/>
            <a:ext cx="1676400" cy="3048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6564" name="Group 4"/>
          <p:cNvGrpSpPr>
            <a:grpSpLocks/>
          </p:cNvGrpSpPr>
          <p:nvPr/>
        </p:nvGrpSpPr>
        <p:grpSpPr bwMode="auto">
          <a:xfrm>
            <a:off x="2873375" y="2459261"/>
            <a:ext cx="2447924" cy="3049588"/>
            <a:chOff x="850" y="1004"/>
            <a:chExt cx="1542" cy="1921"/>
          </a:xfrm>
        </p:grpSpPr>
        <p:sp>
          <p:nvSpPr>
            <p:cNvPr id="66615" name="Line 5"/>
            <p:cNvSpPr>
              <a:spLocks noChangeShapeType="1"/>
            </p:cNvSpPr>
            <p:nvPr/>
          </p:nvSpPr>
          <p:spPr bwMode="auto">
            <a:xfrm>
              <a:off x="904" y="2013"/>
              <a:ext cx="1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616" name="Line 6"/>
            <p:cNvSpPr>
              <a:spLocks noChangeShapeType="1"/>
            </p:cNvSpPr>
            <p:nvPr/>
          </p:nvSpPr>
          <p:spPr bwMode="auto">
            <a:xfrm>
              <a:off x="1104" y="1821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17" name="Line 7"/>
            <p:cNvSpPr>
              <a:spLocks noChangeShapeType="1"/>
            </p:cNvSpPr>
            <p:nvPr/>
          </p:nvSpPr>
          <p:spPr bwMode="auto">
            <a:xfrm>
              <a:off x="1776" y="1149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18" name="Line 8"/>
            <p:cNvSpPr>
              <a:spLocks noChangeShapeType="1"/>
            </p:cNvSpPr>
            <p:nvPr/>
          </p:nvSpPr>
          <p:spPr bwMode="auto">
            <a:xfrm flipV="1">
              <a:off x="1104" y="2205"/>
              <a:ext cx="672" cy="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19" name="Line 9"/>
            <p:cNvSpPr>
              <a:spLocks noChangeShapeType="1"/>
            </p:cNvSpPr>
            <p:nvPr/>
          </p:nvSpPr>
          <p:spPr bwMode="auto">
            <a:xfrm>
              <a:off x="2160" y="1629"/>
              <a:ext cx="0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0" name="Line 10"/>
            <p:cNvSpPr>
              <a:spLocks noChangeShapeType="1"/>
            </p:cNvSpPr>
            <p:nvPr/>
          </p:nvSpPr>
          <p:spPr bwMode="auto">
            <a:xfrm flipH="1" flipV="1">
              <a:off x="1104" y="2589"/>
              <a:ext cx="1056" cy="19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21" name="Text Box 11"/>
            <p:cNvSpPr txBox="1">
              <a:spLocks noChangeArrowheads="1"/>
            </p:cNvSpPr>
            <p:nvPr/>
          </p:nvSpPr>
          <p:spPr bwMode="auto">
            <a:xfrm>
              <a:off x="905" y="2444"/>
              <a:ext cx="21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6622" name="Text Box 12"/>
            <p:cNvSpPr txBox="1">
              <a:spLocks noChangeArrowheads="1"/>
            </p:cNvSpPr>
            <p:nvPr/>
          </p:nvSpPr>
          <p:spPr bwMode="auto">
            <a:xfrm>
              <a:off x="1754" y="2108"/>
              <a:ext cx="21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6623" name="Text Box 13"/>
            <p:cNvSpPr txBox="1">
              <a:spLocks noChangeArrowheads="1"/>
            </p:cNvSpPr>
            <p:nvPr/>
          </p:nvSpPr>
          <p:spPr bwMode="auto">
            <a:xfrm>
              <a:off x="2151" y="2637"/>
              <a:ext cx="2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6624" name="Text Box 14"/>
            <p:cNvSpPr txBox="1">
              <a:spLocks noChangeArrowheads="1"/>
            </p:cNvSpPr>
            <p:nvPr/>
          </p:nvSpPr>
          <p:spPr bwMode="auto">
            <a:xfrm>
              <a:off x="1746" y="1004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CommercialPi BT" pitchFamily="18" charset="2"/>
              </a:endParaRPr>
            </a:p>
          </p:txBody>
        </p:sp>
        <p:sp>
          <p:nvSpPr>
            <p:cNvPr id="66625" name="Text Box 15"/>
            <p:cNvSpPr txBox="1">
              <a:spLocks noChangeArrowheads="1"/>
            </p:cNvSpPr>
            <p:nvPr/>
          </p:nvSpPr>
          <p:spPr bwMode="auto">
            <a:xfrm>
              <a:off x="2143" y="1437"/>
              <a:ext cx="24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6626" name="Text Box 16"/>
            <p:cNvSpPr txBox="1">
              <a:spLocks noChangeArrowheads="1"/>
            </p:cNvSpPr>
            <p:nvPr/>
          </p:nvSpPr>
          <p:spPr bwMode="auto">
            <a:xfrm>
              <a:off x="850" y="1676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106513" name="Freeform 17"/>
          <p:cNvSpPr>
            <a:spLocks/>
          </p:cNvSpPr>
          <p:nvPr/>
        </p:nvSpPr>
        <p:spPr bwMode="auto">
          <a:xfrm>
            <a:off x="3733800" y="4708749"/>
            <a:ext cx="928688" cy="523875"/>
          </a:xfrm>
          <a:custGeom>
            <a:avLst/>
            <a:gdLst>
              <a:gd name="T0" fmla="*/ 0 w 585"/>
              <a:gd name="T1" fmla="*/ 0 h 330"/>
              <a:gd name="T2" fmla="*/ 2147483647 w 585"/>
              <a:gd name="T3" fmla="*/ 2147483647 h 330"/>
              <a:gd name="T4" fmla="*/ 0 60000 65536"/>
              <a:gd name="T5" fmla="*/ 0 60000 65536"/>
              <a:gd name="T6" fmla="*/ 0 w 585"/>
              <a:gd name="T7" fmla="*/ 0 h 330"/>
              <a:gd name="T8" fmla="*/ 585 w 585"/>
              <a:gd name="T9" fmla="*/ 330 h 3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5" h="330">
                <a:moveTo>
                  <a:pt x="0" y="0"/>
                </a:moveTo>
                <a:lnTo>
                  <a:pt x="585" y="33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4" name="Line 18"/>
          <p:cNvSpPr>
            <a:spLocks noChangeShapeType="1"/>
          </p:cNvSpPr>
          <p:nvPr/>
        </p:nvSpPr>
        <p:spPr bwMode="auto">
          <a:xfrm flipV="1">
            <a:off x="8686800" y="4670648"/>
            <a:ext cx="10668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5" name="Text Box 19"/>
          <p:cNvSpPr txBox="1">
            <a:spLocks noChangeArrowheads="1"/>
          </p:cNvSpPr>
          <p:nvPr/>
        </p:nvSpPr>
        <p:spPr bwMode="auto">
          <a:xfrm>
            <a:off x="9593263" y="2156048"/>
            <a:ext cx="6096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000" b="1">
                <a:latin typeface="Italic" pitchFamily="2" charset="0"/>
              </a:rPr>
              <a:t> </a:t>
            </a:r>
            <a:r>
              <a:rPr kumimoji="1" lang="en-US" altLang="zh-CN" sz="2400" i="1">
                <a:latin typeface="Dutch801 Rm BT" pitchFamily="18" charset="0"/>
              </a:rPr>
              <a:t>d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06516" name="Line 20"/>
          <p:cNvSpPr>
            <a:spLocks noChangeShapeType="1"/>
          </p:cNvSpPr>
          <p:nvPr/>
        </p:nvSpPr>
        <p:spPr bwMode="auto">
          <a:xfrm flipV="1">
            <a:off x="8686800" y="2384648"/>
            <a:ext cx="106680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7" name="Line 21"/>
          <p:cNvSpPr>
            <a:spLocks noChangeShapeType="1"/>
          </p:cNvSpPr>
          <p:nvPr/>
        </p:nvSpPr>
        <p:spPr bwMode="auto">
          <a:xfrm>
            <a:off x="3733800" y="3299048"/>
            <a:ext cx="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8" name="Line 22"/>
          <p:cNvSpPr>
            <a:spLocks noChangeShapeType="1"/>
          </p:cNvSpPr>
          <p:nvPr/>
        </p:nvSpPr>
        <p:spPr bwMode="auto">
          <a:xfrm>
            <a:off x="4648200" y="3484785"/>
            <a:ext cx="0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19" name="Freeform 23"/>
          <p:cNvSpPr>
            <a:spLocks/>
          </p:cNvSpPr>
          <p:nvPr/>
        </p:nvSpPr>
        <p:spPr bwMode="auto">
          <a:xfrm>
            <a:off x="3733800" y="3313335"/>
            <a:ext cx="928688" cy="196850"/>
          </a:xfrm>
          <a:custGeom>
            <a:avLst/>
            <a:gdLst>
              <a:gd name="T0" fmla="*/ 0 w 585"/>
              <a:gd name="T1" fmla="*/ 0 h 124"/>
              <a:gd name="T2" fmla="*/ 2147483647 w 585"/>
              <a:gd name="T3" fmla="*/ 2147483647 h 124"/>
              <a:gd name="T4" fmla="*/ 0 60000 65536"/>
              <a:gd name="T5" fmla="*/ 0 60000 65536"/>
              <a:gd name="T6" fmla="*/ 0 w 585"/>
              <a:gd name="T7" fmla="*/ 0 h 124"/>
              <a:gd name="T8" fmla="*/ 585 w 585"/>
              <a:gd name="T9" fmla="*/ 124 h 12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5" h="124">
                <a:moveTo>
                  <a:pt x="0" y="0"/>
                </a:moveTo>
                <a:lnTo>
                  <a:pt x="585" y="124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9674225" y="2384648"/>
            <a:ext cx="344488" cy="2590800"/>
            <a:chOff x="5134" y="957"/>
            <a:chExt cx="217" cy="1632"/>
          </a:xfrm>
        </p:grpSpPr>
        <p:sp>
          <p:nvSpPr>
            <p:cNvPr id="66613" name="Line 25"/>
            <p:cNvSpPr>
              <a:spLocks noChangeShapeType="1"/>
            </p:cNvSpPr>
            <p:nvPr/>
          </p:nvSpPr>
          <p:spPr bwMode="auto">
            <a:xfrm>
              <a:off x="5184" y="957"/>
              <a:ext cx="0" cy="14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614" name="Text Box 26"/>
            <p:cNvSpPr txBox="1">
              <a:spLocks noChangeArrowheads="1"/>
            </p:cNvSpPr>
            <p:nvPr/>
          </p:nvSpPr>
          <p:spPr bwMode="auto">
            <a:xfrm>
              <a:off x="5134" y="2301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66573" name="Text Box 27"/>
          <p:cNvSpPr txBox="1">
            <a:spLocks noChangeArrowheads="1"/>
          </p:cNvSpPr>
          <p:nvPr/>
        </p:nvSpPr>
        <p:spPr bwMode="auto">
          <a:xfrm>
            <a:off x="1336053" y="1341250"/>
            <a:ext cx="91154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例</a:t>
            </a:r>
            <a:r>
              <a:rPr kumimoji="1" lang="en-US" altLang="zh-CN" sz="2400" b="1" dirty="0">
                <a:latin typeface="宋体" pitchFamily="2" charset="-122"/>
              </a:rPr>
              <a:t>1</a:t>
            </a:r>
            <a:r>
              <a:rPr kumimoji="1" lang="zh-CN" altLang="en-US" sz="2400" b="1" dirty="0">
                <a:latin typeface="宋体" pitchFamily="2" charset="-122"/>
              </a:rPr>
              <a:t>：已知平面由直线</a:t>
            </a:r>
            <a:r>
              <a:rPr kumimoji="1" lang="en-US" altLang="zh-CN" sz="2400" b="1" dirty="0">
                <a:latin typeface="宋体" pitchFamily="2" charset="-122"/>
              </a:rPr>
              <a:t>AB</a:t>
            </a:r>
            <a:r>
              <a:rPr kumimoji="1" lang="zh-CN" altLang="en-US" sz="2400" b="1" dirty="0">
                <a:latin typeface="宋体" pitchFamily="2" charset="-122"/>
              </a:rPr>
              <a:t>、</a:t>
            </a:r>
            <a:r>
              <a:rPr kumimoji="1" lang="en-US" altLang="zh-CN" sz="2400" b="1" dirty="0">
                <a:latin typeface="宋体" pitchFamily="2" charset="-122"/>
              </a:rPr>
              <a:t>AC</a:t>
            </a:r>
            <a:r>
              <a:rPr kumimoji="1" lang="zh-CN" altLang="en-US" sz="2400" b="1" dirty="0">
                <a:latin typeface="宋体" pitchFamily="2" charset="-122"/>
              </a:rPr>
              <a:t>所确定，试在平面内任作一条直线。</a:t>
            </a:r>
          </a:p>
        </p:txBody>
      </p:sp>
      <p:sp>
        <p:nvSpPr>
          <p:cNvPr id="106524" name="Text Box 28"/>
          <p:cNvSpPr txBox="1">
            <a:spLocks noChangeArrowheads="1"/>
          </p:cNvSpPr>
          <p:nvPr/>
        </p:nvSpPr>
        <p:spPr bwMode="auto">
          <a:xfrm>
            <a:off x="2344259" y="2154610"/>
            <a:ext cx="12153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解法一</a:t>
            </a:r>
            <a:r>
              <a:rPr kumimoji="1" lang="en-US" altLang="zh-CN" sz="2400" b="1" dirty="0">
                <a:latin typeface="Times New Roman" pitchFamily="18" charset="0"/>
              </a:rPr>
              <a:t>:</a:t>
            </a:r>
          </a:p>
        </p:txBody>
      </p:sp>
      <p:sp>
        <p:nvSpPr>
          <p:cNvPr id="106525" name="Text Box 29"/>
          <p:cNvSpPr txBox="1">
            <a:spLocks noChangeArrowheads="1"/>
          </p:cNvSpPr>
          <p:nvPr/>
        </p:nvSpPr>
        <p:spPr bwMode="auto">
          <a:xfrm>
            <a:off x="6533671" y="2154610"/>
            <a:ext cx="12153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解法二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</p:txBody>
      </p:sp>
      <p:sp>
        <p:nvSpPr>
          <p:cNvPr id="66606" name="Text Box 38"/>
          <p:cNvSpPr txBox="1">
            <a:spLocks noChangeArrowheads="1"/>
          </p:cNvSpPr>
          <p:nvPr/>
        </p:nvSpPr>
        <p:spPr bwMode="auto">
          <a:xfrm>
            <a:off x="3983038" y="5735215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有多少解？</a:t>
            </a:r>
          </a:p>
        </p:txBody>
      </p:sp>
      <p:sp>
        <p:nvSpPr>
          <p:cNvPr id="106535" name="Text Box 39"/>
          <p:cNvSpPr txBox="1">
            <a:spLocks noChangeArrowheads="1"/>
          </p:cNvSpPr>
          <p:nvPr/>
        </p:nvSpPr>
        <p:spPr bwMode="auto">
          <a:xfrm>
            <a:off x="6054231" y="5678981"/>
            <a:ext cx="19880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800" b="1" dirty="0">
                <a:latin typeface="Times New Roman" pitchFamily="18" charset="0"/>
              </a:rPr>
              <a:t>有无数解！</a:t>
            </a:r>
          </a:p>
        </p:txBody>
      </p: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4502150" y="3070449"/>
            <a:ext cx="427038" cy="549275"/>
            <a:chOff x="1876" y="1389"/>
            <a:chExt cx="269" cy="346"/>
          </a:xfrm>
        </p:grpSpPr>
        <p:sp>
          <p:nvSpPr>
            <p:cNvPr id="66603" name="Text Box 41"/>
            <p:cNvSpPr txBox="1">
              <a:spLocks noChangeArrowheads="1"/>
            </p:cNvSpPr>
            <p:nvPr/>
          </p:nvSpPr>
          <p:spPr bwMode="auto">
            <a:xfrm>
              <a:off x="1877" y="1389"/>
              <a:ext cx="26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n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6604" name="Text Box 42"/>
            <p:cNvSpPr txBox="1">
              <a:spLocks noChangeArrowheads="1"/>
            </p:cNvSpPr>
            <p:nvPr/>
          </p:nvSpPr>
          <p:spPr bwMode="auto">
            <a:xfrm>
              <a:off x="1876" y="1581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>
                  <a:solidFill>
                    <a:srgbClr val="CC3300"/>
                  </a:solidFill>
                  <a:latin typeface="RomanS" pitchFamily="2" charset="0"/>
                </a:rPr>
                <a:t>●</a:t>
              </a: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3232150" y="2960911"/>
            <a:ext cx="750888" cy="466725"/>
            <a:chOff x="1076" y="1320"/>
            <a:chExt cx="473" cy="294"/>
          </a:xfrm>
        </p:grpSpPr>
        <p:sp>
          <p:nvSpPr>
            <p:cNvPr id="66601" name="Text Box 44"/>
            <p:cNvSpPr txBox="1">
              <a:spLocks noChangeArrowheads="1"/>
            </p:cNvSpPr>
            <p:nvPr/>
          </p:nvSpPr>
          <p:spPr bwMode="auto">
            <a:xfrm>
              <a:off x="1076" y="1320"/>
              <a:ext cx="4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m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6602" name="Text Box 45"/>
            <p:cNvSpPr txBox="1">
              <a:spLocks noChangeArrowheads="1"/>
            </p:cNvSpPr>
            <p:nvPr/>
          </p:nvSpPr>
          <p:spPr bwMode="auto">
            <a:xfrm>
              <a:off x="1282" y="1460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>
                  <a:solidFill>
                    <a:srgbClr val="CC3300"/>
                  </a:solidFill>
                  <a:latin typeface="RomanS" pitchFamily="2" charset="0"/>
                </a:rPr>
                <a:t>●</a:t>
              </a:r>
            </a:p>
          </p:txBody>
        </p:sp>
      </p:grp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4459288" y="5084985"/>
            <a:ext cx="355600" cy="457200"/>
            <a:chOff x="1849" y="2658"/>
            <a:chExt cx="224" cy="288"/>
          </a:xfrm>
        </p:grpSpPr>
        <p:sp>
          <p:nvSpPr>
            <p:cNvPr id="66599" name="Text Box 47"/>
            <p:cNvSpPr txBox="1">
              <a:spLocks noChangeArrowheads="1"/>
            </p:cNvSpPr>
            <p:nvPr/>
          </p:nvSpPr>
          <p:spPr bwMode="auto">
            <a:xfrm>
              <a:off x="1849" y="2658"/>
              <a:ext cx="2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n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6600" name="Text Box 48"/>
            <p:cNvSpPr txBox="1">
              <a:spLocks noChangeArrowheads="1"/>
            </p:cNvSpPr>
            <p:nvPr/>
          </p:nvSpPr>
          <p:spPr bwMode="auto">
            <a:xfrm>
              <a:off x="1877" y="2667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>
                  <a:solidFill>
                    <a:srgbClr val="CC3300"/>
                  </a:solidFill>
                  <a:latin typeface="RomanS" pitchFamily="2" charset="0"/>
                </a:rPr>
                <a:t>●</a:t>
              </a:r>
            </a:p>
          </p:txBody>
        </p:sp>
      </p:grpSp>
      <p:grpSp>
        <p:nvGrpSpPr>
          <p:cNvPr id="9" name="Group 49"/>
          <p:cNvGrpSpPr>
            <a:grpSpLocks/>
          </p:cNvGrpSpPr>
          <p:nvPr/>
        </p:nvGrpSpPr>
        <p:grpSpPr bwMode="auto">
          <a:xfrm>
            <a:off x="3332164" y="4365848"/>
            <a:ext cx="566737" cy="457200"/>
            <a:chOff x="1148" y="2205"/>
            <a:chExt cx="357" cy="288"/>
          </a:xfrm>
        </p:grpSpPr>
        <p:sp>
          <p:nvSpPr>
            <p:cNvPr id="66597" name="Text Box 50"/>
            <p:cNvSpPr txBox="1">
              <a:spLocks noChangeArrowheads="1"/>
            </p:cNvSpPr>
            <p:nvPr/>
          </p:nvSpPr>
          <p:spPr bwMode="auto">
            <a:xfrm>
              <a:off x="1148" y="2205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m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6598" name="Text Box 51"/>
            <p:cNvSpPr txBox="1">
              <a:spLocks noChangeArrowheads="1"/>
            </p:cNvSpPr>
            <p:nvPr/>
          </p:nvSpPr>
          <p:spPr bwMode="auto">
            <a:xfrm>
              <a:off x="1309" y="2339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>
                  <a:solidFill>
                    <a:srgbClr val="CC3300"/>
                  </a:solidFill>
                  <a:latin typeface="RomanS" pitchFamily="2" charset="0"/>
                </a:rPr>
                <a:t>●</a:t>
              </a:r>
            </a:p>
          </p:txBody>
        </p:sp>
      </p:grpSp>
      <p:grpSp>
        <p:nvGrpSpPr>
          <p:cNvPr id="10" name="Group 52"/>
          <p:cNvGrpSpPr>
            <a:grpSpLocks/>
          </p:cNvGrpSpPr>
          <p:nvPr/>
        </p:nvGrpSpPr>
        <p:grpSpPr bwMode="auto">
          <a:xfrm>
            <a:off x="6694488" y="2459261"/>
            <a:ext cx="3324226" cy="3201988"/>
            <a:chOff x="3257" y="1004"/>
            <a:chExt cx="2094" cy="2017"/>
          </a:xfrm>
        </p:grpSpPr>
        <p:sp>
          <p:nvSpPr>
            <p:cNvPr id="66583" name="Line 53"/>
            <p:cNvSpPr>
              <a:spLocks noChangeShapeType="1"/>
            </p:cNvSpPr>
            <p:nvPr/>
          </p:nvSpPr>
          <p:spPr bwMode="auto">
            <a:xfrm>
              <a:off x="3290" y="2014"/>
              <a:ext cx="20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584" name="Line 54"/>
            <p:cNvSpPr>
              <a:spLocks noChangeShapeType="1"/>
            </p:cNvSpPr>
            <p:nvPr/>
          </p:nvSpPr>
          <p:spPr bwMode="auto">
            <a:xfrm>
              <a:off x="4512" y="1629"/>
              <a:ext cx="0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5" name="Line 55"/>
            <p:cNvSpPr>
              <a:spLocks noChangeShapeType="1"/>
            </p:cNvSpPr>
            <p:nvPr/>
          </p:nvSpPr>
          <p:spPr bwMode="auto">
            <a:xfrm flipV="1">
              <a:off x="3456" y="1149"/>
              <a:ext cx="672" cy="6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6" name="Line 56"/>
            <p:cNvSpPr>
              <a:spLocks noChangeShapeType="1"/>
            </p:cNvSpPr>
            <p:nvPr/>
          </p:nvSpPr>
          <p:spPr bwMode="auto">
            <a:xfrm flipV="1">
              <a:off x="3456" y="1629"/>
              <a:ext cx="1056" cy="19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7" name="Line 57"/>
            <p:cNvSpPr>
              <a:spLocks noChangeShapeType="1"/>
            </p:cNvSpPr>
            <p:nvPr/>
          </p:nvSpPr>
          <p:spPr bwMode="auto">
            <a:xfrm>
              <a:off x="3456" y="1821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8" name="Line 58"/>
            <p:cNvSpPr>
              <a:spLocks noChangeShapeType="1"/>
            </p:cNvSpPr>
            <p:nvPr/>
          </p:nvSpPr>
          <p:spPr bwMode="auto">
            <a:xfrm>
              <a:off x="4128" y="1149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9" name="Line 59"/>
            <p:cNvSpPr>
              <a:spLocks noChangeShapeType="1"/>
            </p:cNvSpPr>
            <p:nvPr/>
          </p:nvSpPr>
          <p:spPr bwMode="auto">
            <a:xfrm flipV="1">
              <a:off x="3456" y="2205"/>
              <a:ext cx="672" cy="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90" name="Line 60"/>
            <p:cNvSpPr>
              <a:spLocks noChangeShapeType="1"/>
            </p:cNvSpPr>
            <p:nvPr/>
          </p:nvSpPr>
          <p:spPr bwMode="auto">
            <a:xfrm flipH="1" flipV="1">
              <a:off x="3456" y="2589"/>
              <a:ext cx="1056" cy="19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91" name="Text Box 61"/>
            <p:cNvSpPr txBox="1">
              <a:spLocks noChangeArrowheads="1"/>
            </p:cNvSpPr>
            <p:nvPr/>
          </p:nvSpPr>
          <p:spPr bwMode="auto">
            <a:xfrm>
              <a:off x="3257" y="2444"/>
              <a:ext cx="21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6592" name="Text Box 62"/>
            <p:cNvSpPr txBox="1">
              <a:spLocks noChangeArrowheads="1"/>
            </p:cNvSpPr>
            <p:nvPr/>
          </p:nvSpPr>
          <p:spPr bwMode="auto">
            <a:xfrm>
              <a:off x="4106" y="2108"/>
              <a:ext cx="21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6593" name="Text Box 63"/>
            <p:cNvSpPr txBox="1">
              <a:spLocks noChangeArrowheads="1"/>
            </p:cNvSpPr>
            <p:nvPr/>
          </p:nvSpPr>
          <p:spPr bwMode="auto">
            <a:xfrm>
              <a:off x="4407" y="2733"/>
              <a:ext cx="2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6594" name="Text Box 64"/>
            <p:cNvSpPr txBox="1">
              <a:spLocks noChangeArrowheads="1"/>
            </p:cNvSpPr>
            <p:nvPr/>
          </p:nvSpPr>
          <p:spPr bwMode="auto">
            <a:xfrm>
              <a:off x="4098" y="1004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6595" name="Text Box 65"/>
            <p:cNvSpPr txBox="1">
              <a:spLocks noChangeArrowheads="1"/>
            </p:cNvSpPr>
            <p:nvPr/>
          </p:nvSpPr>
          <p:spPr bwMode="auto">
            <a:xfrm>
              <a:off x="4328" y="1389"/>
              <a:ext cx="24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6596" name="Text Box 66"/>
            <p:cNvSpPr txBox="1">
              <a:spLocks noChangeArrowheads="1"/>
            </p:cNvSpPr>
            <p:nvPr/>
          </p:nvSpPr>
          <p:spPr bwMode="auto">
            <a:xfrm>
              <a:off x="3265" y="1676"/>
              <a:ext cx="265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67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6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6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106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0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"/>
                                        <p:tgtEl>
                                          <p:spTgt spid="10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75"/>
                                        <p:tgtEl>
                                          <p:spTgt spid="106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3" grpId="0" animBg="1"/>
      <p:bldP spid="106514" grpId="0" animBg="1"/>
      <p:bldP spid="106515" grpId="0" build="p" autoUpdateAnimBg="0" advAuto="0"/>
      <p:bldP spid="106516" grpId="0" animBg="1"/>
      <p:bldP spid="106517" grpId="0" animBg="1"/>
      <p:bldP spid="106518" grpId="0" animBg="1"/>
      <p:bldP spid="106519" grpId="0" animBg="1"/>
      <p:bldP spid="106524" grpId="0" build="p" autoUpdateAnimBg="0"/>
      <p:bldP spid="106525" grpId="0" build="p" autoUpdateAnimBg="0"/>
      <p:bldP spid="106535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144663" y="767956"/>
            <a:ext cx="648072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在平面</a:t>
            </a:r>
            <a:r>
              <a:rPr kumimoji="1" lang="en-US" altLang="zh-CN" sz="2800" b="1" dirty="0">
                <a:latin typeface="宋体" pitchFamily="2" charset="-122"/>
              </a:rPr>
              <a:t>ABC</a:t>
            </a:r>
            <a:r>
              <a:rPr kumimoji="1" lang="zh-CN" altLang="en-US" sz="2800" b="1" dirty="0">
                <a:latin typeface="宋体" pitchFamily="2" charset="-122"/>
              </a:rPr>
              <a:t>内作一条水平线，使其到</a:t>
            </a:r>
            <a:r>
              <a:rPr kumimoji="1" lang="en-US" altLang="zh-CN" sz="2800" b="1" dirty="0">
                <a:latin typeface="宋体" pitchFamily="2" charset="-122"/>
              </a:rPr>
              <a:t>H</a:t>
            </a:r>
            <a:r>
              <a:rPr kumimoji="1" lang="zh-CN" altLang="en-US" sz="2800" b="1" dirty="0">
                <a:latin typeface="宋体" pitchFamily="2" charset="-122"/>
              </a:rPr>
              <a:t>面的距离为</a:t>
            </a:r>
            <a:r>
              <a:rPr kumimoji="1" lang="en-US" altLang="zh-CN" sz="2800" b="1" dirty="0">
                <a:latin typeface="宋体" pitchFamily="2" charset="-122"/>
              </a:rPr>
              <a:t>10mm</a:t>
            </a:r>
            <a:r>
              <a:rPr kumimoji="1" lang="zh-CN" altLang="en-US" sz="2800" b="1" dirty="0">
                <a:latin typeface="宋体" pitchFamily="2" charset="-122"/>
              </a:rPr>
              <a:t>，解题的第一步是：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351584" y="2786063"/>
            <a:ext cx="61206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在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面的三角形投影内做一条线平行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OX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轴，且距离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OX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轴为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10mm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351584" y="3929063"/>
            <a:ext cx="5688632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在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V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面的三角形投影内做一条线平行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OX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轴，且距离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OX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轴为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10mm</a:t>
            </a:r>
            <a:endParaRPr lang="zh-CN" altLang="en-US" sz="2400" b="1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637209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637209" y="3993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5" t="23193" r="56410" b="33156"/>
          <a:stretch/>
        </p:blipFill>
        <p:spPr bwMode="auto">
          <a:xfrm>
            <a:off x="8760296" y="1567852"/>
            <a:ext cx="2523795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3331813-5B11-4307-8BCB-EB12825D569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6737889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1271464" y="1523493"/>
            <a:ext cx="81775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在平面</a:t>
            </a:r>
            <a:r>
              <a:rPr kumimoji="1" lang="en-US" altLang="zh-CN" sz="2400" b="1" dirty="0">
                <a:latin typeface="宋体" pitchFamily="2" charset="-122"/>
              </a:rPr>
              <a:t>ABC</a:t>
            </a:r>
            <a:r>
              <a:rPr kumimoji="1" lang="zh-CN" altLang="en-US" sz="2400" b="1" dirty="0">
                <a:latin typeface="宋体" pitchFamily="2" charset="-122"/>
              </a:rPr>
              <a:t>内作一条水平线，使其到</a:t>
            </a:r>
            <a:r>
              <a:rPr kumimoji="1" lang="en-US" altLang="zh-CN" sz="2400" b="1" dirty="0">
                <a:latin typeface="宋体" pitchFamily="2" charset="-122"/>
              </a:rPr>
              <a:t>H</a:t>
            </a:r>
            <a:r>
              <a:rPr kumimoji="1" lang="zh-CN" altLang="en-US" sz="2400" b="1" dirty="0">
                <a:latin typeface="宋体" pitchFamily="2" charset="-122"/>
              </a:rPr>
              <a:t>面的距离为</a:t>
            </a:r>
            <a:r>
              <a:rPr kumimoji="1" lang="en-US" altLang="zh-CN" sz="2400" b="1" dirty="0">
                <a:latin typeface="宋体" pitchFamily="2" charset="-122"/>
              </a:rPr>
              <a:t>10mm</a:t>
            </a:r>
            <a:r>
              <a:rPr kumimoji="1" lang="zh-CN" altLang="en-US" sz="2400" b="1" dirty="0">
                <a:latin typeface="宋体" pitchFamily="2" charset="-122"/>
              </a:rPr>
              <a:t>。</a:t>
            </a:r>
          </a:p>
        </p:txBody>
      </p:sp>
      <p:sp>
        <p:nvSpPr>
          <p:cNvPr id="107523" name="Line 3"/>
          <p:cNvSpPr>
            <a:spLocks noChangeShapeType="1"/>
          </p:cNvSpPr>
          <p:nvPr/>
        </p:nvSpPr>
        <p:spPr bwMode="auto">
          <a:xfrm>
            <a:off x="3145780" y="3741564"/>
            <a:ext cx="3211512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6054080" y="3328814"/>
            <a:ext cx="425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n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3496618" y="3328814"/>
            <a:ext cx="830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m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6062017" y="5254451"/>
            <a:ext cx="349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n</a:t>
            </a:r>
            <a:endParaRPr kumimoji="1" lang="en-US" altLang="zh-CN" sz="2400" b="1">
              <a:latin typeface="Times New Roman" pitchFamily="18" charset="0"/>
              <a:sym typeface="CommercialPi BT" pitchFamily="18" charset="2"/>
            </a:endParaRPr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3650606" y="5530676"/>
            <a:ext cx="433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m</a:t>
            </a:r>
            <a:endParaRPr kumimoji="1" lang="en-US" altLang="zh-CN" sz="2400" b="1">
              <a:latin typeface="Times New Roman" pitchFamily="18" charset="0"/>
              <a:sym typeface="CommercialPi BT" pitchFamily="18" charset="2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821930" y="3573016"/>
            <a:ext cx="661955" cy="1222001"/>
            <a:chOff x="671" y="1953"/>
            <a:chExt cx="379" cy="282"/>
          </a:xfrm>
        </p:grpSpPr>
        <p:sp>
          <p:nvSpPr>
            <p:cNvPr id="67623" name="Freeform 9"/>
            <p:cNvSpPr>
              <a:spLocks/>
            </p:cNvSpPr>
            <p:nvPr/>
          </p:nvSpPr>
          <p:spPr bwMode="auto">
            <a:xfrm>
              <a:off x="934" y="1991"/>
              <a:ext cx="116" cy="233"/>
            </a:xfrm>
            <a:custGeom>
              <a:avLst/>
              <a:gdLst>
                <a:gd name="T0" fmla="*/ 0 w 1"/>
                <a:gd name="T1" fmla="*/ 0 h 655"/>
                <a:gd name="T2" fmla="*/ 0 w 1"/>
                <a:gd name="T3" fmla="*/ 655 h 655"/>
                <a:gd name="T4" fmla="*/ 0 60000 65536"/>
                <a:gd name="T5" fmla="*/ 0 60000 65536"/>
                <a:gd name="T6" fmla="*/ 0 w 1"/>
                <a:gd name="T7" fmla="*/ 0 h 655"/>
                <a:gd name="T8" fmla="*/ 1 w 1"/>
                <a:gd name="T9" fmla="*/ 655 h 6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55">
                  <a:moveTo>
                    <a:pt x="0" y="0"/>
                  </a:moveTo>
                  <a:lnTo>
                    <a:pt x="0" y="655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24" name="Text Box 10"/>
            <p:cNvSpPr txBox="1">
              <a:spLocks noChangeArrowheads="1"/>
            </p:cNvSpPr>
            <p:nvPr/>
          </p:nvSpPr>
          <p:spPr bwMode="auto">
            <a:xfrm rot="-5400000">
              <a:off x="674" y="1950"/>
              <a:ext cx="2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 i="1">
                  <a:latin typeface="ISOCP" pitchFamily="2" charset="0"/>
                </a:rPr>
                <a:t>10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107531" name="Line 11"/>
          <p:cNvSpPr>
            <a:spLocks noChangeShapeType="1"/>
          </p:cNvSpPr>
          <p:nvPr/>
        </p:nvSpPr>
        <p:spPr bwMode="auto">
          <a:xfrm>
            <a:off x="3995092" y="3741564"/>
            <a:ext cx="2063750" cy="6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7532" name="Freeform 12"/>
          <p:cNvSpPr>
            <a:spLocks/>
          </p:cNvSpPr>
          <p:nvPr/>
        </p:nvSpPr>
        <p:spPr bwMode="auto">
          <a:xfrm>
            <a:off x="4010619" y="3728019"/>
            <a:ext cx="144803" cy="1977282"/>
          </a:xfrm>
          <a:custGeom>
            <a:avLst/>
            <a:gdLst>
              <a:gd name="T0" fmla="*/ 0 w 1"/>
              <a:gd name="T1" fmla="*/ 0 h 1020"/>
              <a:gd name="T2" fmla="*/ 0 w 1"/>
              <a:gd name="T3" fmla="*/ 2147483647 h 1020"/>
              <a:gd name="T4" fmla="*/ 0 60000 65536"/>
              <a:gd name="T5" fmla="*/ 0 60000 65536"/>
              <a:gd name="T6" fmla="*/ 0 w 1"/>
              <a:gd name="T7" fmla="*/ 0 h 1020"/>
              <a:gd name="T8" fmla="*/ 1 w 1"/>
              <a:gd name="T9" fmla="*/ 1020 h 10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020">
                <a:moveTo>
                  <a:pt x="0" y="0"/>
                </a:moveTo>
                <a:lnTo>
                  <a:pt x="0" y="1020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07533" name="Freeform 13"/>
          <p:cNvSpPr>
            <a:spLocks/>
          </p:cNvSpPr>
          <p:nvPr/>
        </p:nvSpPr>
        <p:spPr bwMode="auto">
          <a:xfrm>
            <a:off x="6041751" y="3723448"/>
            <a:ext cx="88526" cy="1727841"/>
          </a:xfrm>
          <a:custGeom>
            <a:avLst/>
            <a:gdLst>
              <a:gd name="T0" fmla="*/ 0 w 1"/>
              <a:gd name="T1" fmla="*/ 0 h 885"/>
              <a:gd name="T2" fmla="*/ 0 w 1"/>
              <a:gd name="T3" fmla="*/ 2147483647 h 885"/>
              <a:gd name="T4" fmla="*/ 0 60000 65536"/>
              <a:gd name="T5" fmla="*/ 0 60000 65536"/>
              <a:gd name="T6" fmla="*/ 0 w 1"/>
              <a:gd name="T7" fmla="*/ 0 h 885"/>
              <a:gd name="T8" fmla="*/ 1 w 1"/>
              <a:gd name="T9" fmla="*/ 885 h 88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85">
                <a:moveTo>
                  <a:pt x="0" y="0"/>
                </a:moveTo>
                <a:lnTo>
                  <a:pt x="0" y="885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7596" name="Text Box 14"/>
          <p:cNvSpPr txBox="1">
            <a:spLocks noChangeArrowheads="1"/>
          </p:cNvSpPr>
          <p:nvPr/>
        </p:nvSpPr>
        <p:spPr bwMode="auto">
          <a:xfrm>
            <a:off x="6363642" y="3787601"/>
            <a:ext cx="395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7597" name="Text Box 15"/>
          <p:cNvSpPr txBox="1">
            <a:spLocks noChangeArrowheads="1"/>
          </p:cNvSpPr>
          <p:nvPr/>
        </p:nvSpPr>
        <p:spPr bwMode="auto">
          <a:xfrm>
            <a:off x="4297701" y="2226445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7598" name="Text Box 16"/>
          <p:cNvSpPr txBox="1">
            <a:spLocks noChangeArrowheads="1"/>
          </p:cNvSpPr>
          <p:nvPr/>
        </p:nvSpPr>
        <p:spPr bwMode="auto">
          <a:xfrm>
            <a:off x="3299957" y="4244158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7599" name="Text Box 17"/>
          <p:cNvSpPr txBox="1">
            <a:spLocks noChangeArrowheads="1"/>
          </p:cNvSpPr>
          <p:nvPr/>
        </p:nvSpPr>
        <p:spPr bwMode="auto">
          <a:xfrm>
            <a:off x="6265217" y="4889326"/>
            <a:ext cx="45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kumimoji="1" lang="en-US" altLang="zh-CN" sz="2400" b="1">
              <a:latin typeface="Times New Roman" pitchFamily="18" charset="0"/>
              <a:sym typeface="CommercialPi BT" pitchFamily="18" charset="2"/>
            </a:endParaRPr>
          </a:p>
        </p:txBody>
      </p:sp>
      <p:sp>
        <p:nvSpPr>
          <p:cNvPr id="67600" name="Text Box 18"/>
          <p:cNvSpPr txBox="1">
            <a:spLocks noChangeArrowheads="1"/>
          </p:cNvSpPr>
          <p:nvPr/>
        </p:nvSpPr>
        <p:spPr bwMode="auto">
          <a:xfrm>
            <a:off x="4463173" y="6353945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sz="2400" b="1">
              <a:latin typeface="Times New Roman" pitchFamily="18" charset="0"/>
              <a:sym typeface="CommercialPi BT" pitchFamily="18" charset="2"/>
            </a:endParaRPr>
          </a:p>
        </p:txBody>
      </p:sp>
      <p:sp>
        <p:nvSpPr>
          <p:cNvPr id="67601" name="Text Box 19"/>
          <p:cNvSpPr txBox="1">
            <a:spLocks noChangeArrowheads="1"/>
          </p:cNvSpPr>
          <p:nvPr/>
        </p:nvSpPr>
        <p:spPr bwMode="auto">
          <a:xfrm>
            <a:off x="3313029" y="4887095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kumimoji="1" lang="en-US" altLang="zh-CN" sz="2400" b="1">
              <a:latin typeface="Times New Roman" pitchFamily="18" charset="0"/>
              <a:sym typeface="CommercialPi BT" pitchFamily="18" charset="2"/>
            </a:endParaRPr>
          </a:p>
        </p:txBody>
      </p:sp>
      <p:sp>
        <p:nvSpPr>
          <p:cNvPr id="67602" name="Line 20"/>
          <p:cNvSpPr>
            <a:spLocks noChangeShapeType="1"/>
          </p:cNvSpPr>
          <p:nvPr/>
        </p:nvSpPr>
        <p:spPr bwMode="auto">
          <a:xfrm>
            <a:off x="3055292" y="4751214"/>
            <a:ext cx="3760788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603" name="Line 21"/>
          <p:cNvSpPr>
            <a:spLocks noChangeShapeType="1"/>
          </p:cNvSpPr>
          <p:nvPr/>
        </p:nvSpPr>
        <p:spPr bwMode="auto">
          <a:xfrm flipV="1">
            <a:off x="3606156" y="4016202"/>
            <a:ext cx="2751137" cy="5508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7604" name="Line 22"/>
          <p:cNvSpPr>
            <a:spLocks noChangeShapeType="1"/>
          </p:cNvSpPr>
          <p:nvPr/>
        </p:nvSpPr>
        <p:spPr bwMode="auto">
          <a:xfrm flipV="1">
            <a:off x="3606155" y="2455690"/>
            <a:ext cx="1008062" cy="21113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605" name="Line 23"/>
          <p:cNvSpPr>
            <a:spLocks noChangeShapeType="1"/>
          </p:cNvSpPr>
          <p:nvPr/>
        </p:nvSpPr>
        <p:spPr bwMode="auto">
          <a:xfrm>
            <a:off x="4614218" y="2455689"/>
            <a:ext cx="1743075" cy="15605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606" name="Line 24"/>
          <p:cNvSpPr>
            <a:spLocks noChangeShapeType="1"/>
          </p:cNvSpPr>
          <p:nvPr/>
        </p:nvSpPr>
        <p:spPr bwMode="auto">
          <a:xfrm>
            <a:off x="4614217" y="2455689"/>
            <a:ext cx="0" cy="40386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607" name="Line 25"/>
          <p:cNvSpPr>
            <a:spLocks noChangeShapeType="1"/>
          </p:cNvSpPr>
          <p:nvPr/>
        </p:nvSpPr>
        <p:spPr bwMode="auto">
          <a:xfrm>
            <a:off x="6357292" y="4016201"/>
            <a:ext cx="0" cy="1193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608" name="Line 26"/>
          <p:cNvSpPr>
            <a:spLocks noChangeShapeType="1"/>
          </p:cNvSpPr>
          <p:nvPr/>
        </p:nvSpPr>
        <p:spPr bwMode="auto">
          <a:xfrm flipH="1">
            <a:off x="4614218" y="5210001"/>
            <a:ext cx="1743075" cy="12842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609" name="Line 27"/>
          <p:cNvSpPr>
            <a:spLocks noChangeShapeType="1"/>
          </p:cNvSpPr>
          <p:nvPr/>
        </p:nvSpPr>
        <p:spPr bwMode="auto">
          <a:xfrm>
            <a:off x="3606155" y="4567064"/>
            <a:ext cx="0" cy="550862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610" name="Line 28"/>
          <p:cNvSpPr>
            <a:spLocks noChangeShapeType="1"/>
          </p:cNvSpPr>
          <p:nvPr/>
        </p:nvSpPr>
        <p:spPr bwMode="auto">
          <a:xfrm>
            <a:off x="3606155" y="5117927"/>
            <a:ext cx="1008062" cy="13763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7611" name="Line 29"/>
          <p:cNvSpPr>
            <a:spLocks noChangeShapeType="1"/>
          </p:cNvSpPr>
          <p:nvPr/>
        </p:nvSpPr>
        <p:spPr bwMode="auto">
          <a:xfrm>
            <a:off x="3606156" y="5117927"/>
            <a:ext cx="2751137" cy="920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7550" name="Freeform 30"/>
          <p:cNvSpPr>
            <a:spLocks/>
          </p:cNvSpPr>
          <p:nvPr/>
        </p:nvSpPr>
        <p:spPr bwMode="auto">
          <a:xfrm>
            <a:off x="4010620" y="5438603"/>
            <a:ext cx="2043460" cy="241287"/>
          </a:xfrm>
          <a:custGeom>
            <a:avLst/>
            <a:gdLst>
              <a:gd name="T0" fmla="*/ 0 w 1092"/>
              <a:gd name="T1" fmla="*/ 2147483647 h 119"/>
              <a:gd name="T2" fmla="*/ 2147483647 w 1092"/>
              <a:gd name="T3" fmla="*/ 0 h 119"/>
              <a:gd name="T4" fmla="*/ 0 60000 65536"/>
              <a:gd name="T5" fmla="*/ 0 60000 65536"/>
              <a:gd name="T6" fmla="*/ 0 w 1092"/>
              <a:gd name="T7" fmla="*/ 0 h 119"/>
              <a:gd name="T8" fmla="*/ 1092 w 1092"/>
              <a:gd name="T9" fmla="*/ 119 h 11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2" h="119">
                <a:moveTo>
                  <a:pt x="0" y="119"/>
                </a:moveTo>
                <a:lnTo>
                  <a:pt x="1092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07551" name="Text Box 31"/>
          <p:cNvSpPr txBox="1">
            <a:spLocks noChangeArrowheads="1"/>
          </p:cNvSpPr>
          <p:nvPr/>
        </p:nvSpPr>
        <p:spPr bwMode="auto">
          <a:xfrm>
            <a:off x="7507335" y="4916666"/>
            <a:ext cx="17171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800" b="1" dirty="0">
                <a:latin typeface="Times New Roman" pitchFamily="18" charset="0"/>
              </a:rPr>
              <a:t> </a:t>
            </a:r>
            <a:r>
              <a:rPr kumimoji="1" lang="zh-CN" altLang="en-US" sz="2800" b="1" dirty="0">
                <a:latin typeface="Times New Roman" pitchFamily="18" charset="0"/>
              </a:rPr>
              <a:t>唯一解！</a:t>
            </a:r>
          </a:p>
        </p:txBody>
      </p:sp>
      <p:sp>
        <p:nvSpPr>
          <p:cNvPr id="67615" name="Text Box 33"/>
          <p:cNvSpPr txBox="1">
            <a:spLocks noChangeArrowheads="1"/>
          </p:cNvSpPr>
          <p:nvPr/>
        </p:nvSpPr>
        <p:spPr bwMode="auto">
          <a:xfrm>
            <a:off x="7502302" y="4306243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有多少解？</a:t>
            </a:r>
          </a:p>
        </p:txBody>
      </p:sp>
      <p:sp>
        <p:nvSpPr>
          <p:cNvPr id="41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7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07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7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107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5"/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7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7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animBg="1"/>
      <p:bldP spid="107524" grpId="0" build="p" autoUpdateAnimBg="0"/>
      <p:bldP spid="107525" grpId="0" build="p" autoUpdateAnimBg="0"/>
      <p:bldP spid="107526" grpId="0" build="p" autoUpdateAnimBg="0" advAuto="0"/>
      <p:bldP spid="107527" grpId="0" build="p" autoUpdateAnimBg="0" advAuto="0"/>
      <p:bldP spid="107531" grpId="0" animBg="1"/>
      <p:bldP spid="107532" grpId="0" animBg="1"/>
      <p:bldP spid="107533" grpId="0" animBg="1"/>
      <p:bldP spid="107550" grpId="0" animBg="1"/>
      <p:bldP spid="107551" grpId="0" autoUpdateAnimBg="0"/>
      <p:bldP spid="6761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294348" y="1314246"/>
            <a:ext cx="25298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⒉ </a:t>
            </a:r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平面上取点</a:t>
            </a:r>
          </a:p>
        </p:txBody>
      </p:sp>
      <p:sp>
        <p:nvSpPr>
          <p:cNvPr id="108547" name="Text Box 3"/>
          <p:cNvSpPr txBox="1">
            <a:spLocks noChangeArrowheads="1"/>
          </p:cNvSpPr>
          <p:nvPr/>
        </p:nvSpPr>
        <p:spPr bwMode="auto">
          <a:xfrm>
            <a:off x="1317828" y="1890954"/>
            <a:ext cx="9962748" cy="830997"/>
          </a:xfrm>
          <a:prstGeom prst="rect">
            <a:avLst/>
          </a:prstGeom>
          <a:gradFill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100000" b="100000"/>
            </a:path>
          </a:gra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solidFill>
                  <a:srgbClr val="CC3300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rgbClr val="CC3300"/>
                </a:solidFill>
                <a:latin typeface="宋体" pitchFamily="2" charset="-122"/>
              </a:rPr>
              <a:t>先找出过此点而又在平面内的一条直线作为辅助线，然后再在该直线上确定点的位置。</a:t>
            </a: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2314575" y="2708921"/>
            <a:ext cx="70359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例</a:t>
            </a:r>
            <a:r>
              <a:rPr kumimoji="1" lang="en-US" altLang="zh-CN" sz="2400" b="1" dirty="0">
                <a:latin typeface="Times New Roman" pitchFamily="18" charset="0"/>
              </a:rPr>
              <a:t>1</a:t>
            </a:r>
            <a:r>
              <a:rPr kumimoji="1" lang="zh-CN" altLang="en-US" sz="2400" b="1" dirty="0">
                <a:latin typeface="Times New Roman" pitchFamily="18" charset="0"/>
              </a:rPr>
              <a:t>：已知</a:t>
            </a:r>
            <a:r>
              <a:rPr kumimoji="1" lang="en-US" altLang="zh-CN" sz="2400" b="1" dirty="0">
                <a:latin typeface="Times New Roman" pitchFamily="18" charset="0"/>
              </a:rPr>
              <a:t>K</a:t>
            </a:r>
            <a:r>
              <a:rPr kumimoji="1" lang="zh-CN" altLang="en-US" sz="2400" b="1" dirty="0">
                <a:latin typeface="Times New Roman" pitchFamily="18" charset="0"/>
              </a:rPr>
              <a:t>点在平面</a:t>
            </a:r>
            <a:r>
              <a:rPr kumimoji="1" lang="en-US" altLang="zh-CN" sz="2400" b="1" dirty="0">
                <a:latin typeface="Times New Roman" pitchFamily="18" charset="0"/>
              </a:rPr>
              <a:t>ABC</a:t>
            </a:r>
            <a:r>
              <a:rPr kumimoji="1" lang="zh-CN" altLang="en-US" sz="2400" b="1" dirty="0">
                <a:latin typeface="Times New Roman" pitchFamily="18" charset="0"/>
              </a:rPr>
              <a:t>上，求</a:t>
            </a:r>
            <a:r>
              <a:rPr kumimoji="1" lang="en-US" altLang="zh-CN" sz="2400" b="1" dirty="0">
                <a:latin typeface="Times New Roman" pitchFamily="18" charset="0"/>
              </a:rPr>
              <a:t>K</a:t>
            </a:r>
            <a:r>
              <a:rPr kumimoji="1" lang="zh-CN" altLang="en-US" sz="2400" b="1" dirty="0">
                <a:latin typeface="Times New Roman" pitchFamily="18" charset="0"/>
              </a:rPr>
              <a:t>点的水平投影。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701925" y="3033415"/>
            <a:ext cx="2940050" cy="3201988"/>
            <a:chOff x="742" y="1713"/>
            <a:chExt cx="1852" cy="2017"/>
          </a:xfrm>
        </p:grpSpPr>
        <p:sp>
          <p:nvSpPr>
            <p:cNvPr id="68651" name="Text Box 6"/>
            <p:cNvSpPr txBox="1">
              <a:spLocks noChangeArrowheads="1"/>
            </p:cNvSpPr>
            <p:nvPr/>
          </p:nvSpPr>
          <p:spPr bwMode="auto">
            <a:xfrm>
              <a:off x="1825" y="3153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8652" name="Freeform 7"/>
            <p:cNvSpPr>
              <a:spLocks/>
            </p:cNvSpPr>
            <p:nvPr/>
          </p:nvSpPr>
          <p:spPr bwMode="auto">
            <a:xfrm>
              <a:off x="1136" y="2434"/>
              <a:ext cx="1249" cy="234"/>
            </a:xfrm>
            <a:custGeom>
              <a:avLst/>
              <a:gdLst>
                <a:gd name="T0" fmla="*/ 0 w 1249"/>
                <a:gd name="T1" fmla="*/ 234 h 234"/>
                <a:gd name="T2" fmla="*/ 1249 w 1249"/>
                <a:gd name="T3" fmla="*/ 0 h 234"/>
                <a:gd name="T4" fmla="*/ 0 60000 65536"/>
                <a:gd name="T5" fmla="*/ 0 60000 65536"/>
                <a:gd name="T6" fmla="*/ 0 w 1249"/>
                <a:gd name="T7" fmla="*/ 0 h 234"/>
                <a:gd name="T8" fmla="*/ 1249 w 1249"/>
                <a:gd name="T9" fmla="*/ 234 h 2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49" h="234">
                  <a:moveTo>
                    <a:pt x="0" y="234"/>
                  </a:moveTo>
                  <a:lnTo>
                    <a:pt x="1249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3" name="Line 8"/>
            <p:cNvSpPr>
              <a:spLocks noChangeShapeType="1"/>
            </p:cNvSpPr>
            <p:nvPr/>
          </p:nvSpPr>
          <p:spPr bwMode="auto">
            <a:xfrm flipV="1">
              <a:off x="1128" y="1906"/>
              <a:ext cx="729" cy="7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4" name="Freeform 9"/>
            <p:cNvSpPr>
              <a:spLocks/>
            </p:cNvSpPr>
            <p:nvPr/>
          </p:nvSpPr>
          <p:spPr bwMode="auto">
            <a:xfrm>
              <a:off x="1857" y="1906"/>
              <a:ext cx="532" cy="522"/>
            </a:xfrm>
            <a:custGeom>
              <a:avLst/>
              <a:gdLst>
                <a:gd name="T0" fmla="*/ 0 w 532"/>
                <a:gd name="T1" fmla="*/ 0 h 522"/>
                <a:gd name="T2" fmla="*/ 532 w 532"/>
                <a:gd name="T3" fmla="*/ 522 h 522"/>
                <a:gd name="T4" fmla="*/ 0 60000 65536"/>
                <a:gd name="T5" fmla="*/ 0 60000 65536"/>
                <a:gd name="T6" fmla="*/ 0 w 532"/>
                <a:gd name="T7" fmla="*/ 0 h 522"/>
                <a:gd name="T8" fmla="*/ 532 w 532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2" h="522">
                  <a:moveTo>
                    <a:pt x="0" y="0"/>
                  </a:moveTo>
                  <a:lnTo>
                    <a:pt x="532" y="522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5" name="Line 10"/>
            <p:cNvSpPr>
              <a:spLocks noChangeShapeType="1"/>
            </p:cNvSpPr>
            <p:nvPr/>
          </p:nvSpPr>
          <p:spPr bwMode="auto">
            <a:xfrm>
              <a:off x="2385" y="2434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6" name="Freeform 11"/>
            <p:cNvSpPr>
              <a:spLocks/>
            </p:cNvSpPr>
            <p:nvPr/>
          </p:nvSpPr>
          <p:spPr bwMode="auto">
            <a:xfrm>
              <a:off x="1128" y="3072"/>
              <a:ext cx="1257" cy="514"/>
            </a:xfrm>
            <a:custGeom>
              <a:avLst/>
              <a:gdLst>
                <a:gd name="T0" fmla="*/ 0 w 1257"/>
                <a:gd name="T1" fmla="*/ 0 h 514"/>
                <a:gd name="T2" fmla="*/ 1257 w 1257"/>
                <a:gd name="T3" fmla="*/ 514 h 514"/>
                <a:gd name="T4" fmla="*/ 0 60000 65536"/>
                <a:gd name="T5" fmla="*/ 0 60000 65536"/>
                <a:gd name="T6" fmla="*/ 0 w 1257"/>
                <a:gd name="T7" fmla="*/ 0 h 514"/>
                <a:gd name="T8" fmla="*/ 1257 w 1257"/>
                <a:gd name="T9" fmla="*/ 514 h 5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57" h="514">
                  <a:moveTo>
                    <a:pt x="0" y="0"/>
                  </a:moveTo>
                  <a:lnTo>
                    <a:pt x="1257" y="514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7" name="Text Box 12"/>
            <p:cNvSpPr txBox="1">
              <a:spLocks noChangeArrowheads="1"/>
            </p:cNvSpPr>
            <p:nvPr/>
          </p:nvSpPr>
          <p:spPr bwMode="auto">
            <a:xfrm>
              <a:off x="917" y="2913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8658" name="Text Box 13"/>
            <p:cNvSpPr txBox="1">
              <a:spLocks noChangeArrowheads="1"/>
            </p:cNvSpPr>
            <p:nvPr/>
          </p:nvSpPr>
          <p:spPr bwMode="auto">
            <a:xfrm>
              <a:off x="2376" y="3442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000" b="1">
                <a:latin typeface="Italic" pitchFamily="2" charset="0"/>
              </a:endParaRPr>
            </a:p>
          </p:txBody>
        </p:sp>
        <p:sp>
          <p:nvSpPr>
            <p:cNvPr id="68659" name="Text Box 14"/>
            <p:cNvSpPr txBox="1">
              <a:spLocks noChangeArrowheads="1"/>
            </p:cNvSpPr>
            <p:nvPr/>
          </p:nvSpPr>
          <p:spPr bwMode="auto">
            <a:xfrm>
              <a:off x="921" y="2481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8660" name="Text Box 15"/>
            <p:cNvSpPr txBox="1">
              <a:spLocks noChangeArrowheads="1"/>
            </p:cNvSpPr>
            <p:nvPr/>
          </p:nvSpPr>
          <p:spPr bwMode="auto">
            <a:xfrm>
              <a:off x="1457" y="2194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8661" name="Text Box 16"/>
            <p:cNvSpPr txBox="1">
              <a:spLocks noChangeArrowheads="1"/>
            </p:cNvSpPr>
            <p:nvPr/>
          </p:nvSpPr>
          <p:spPr bwMode="auto">
            <a:xfrm>
              <a:off x="1863" y="1713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8662" name="Rectangle 17"/>
            <p:cNvSpPr>
              <a:spLocks noChangeArrowheads="1"/>
            </p:cNvSpPr>
            <p:nvPr/>
          </p:nvSpPr>
          <p:spPr bwMode="auto">
            <a:xfrm>
              <a:off x="1607" y="2242"/>
              <a:ext cx="21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 b="1">
                  <a:solidFill>
                    <a:srgbClr val="FF0000"/>
                  </a:solidFill>
                  <a:latin typeface="Times New Roman" pitchFamily="18" charset="0"/>
                </a:rPr>
                <a:t>●</a:t>
              </a:r>
              <a:endParaRPr kumimoji="1" lang="en-US" altLang="zh-CN" sz="1200" b="1">
                <a:latin typeface="Times New Roman" pitchFamily="18" charset="0"/>
              </a:endParaRPr>
            </a:p>
          </p:txBody>
        </p:sp>
        <p:sp>
          <p:nvSpPr>
            <p:cNvPr id="68663" name="Line 18"/>
            <p:cNvSpPr>
              <a:spLocks noChangeShapeType="1"/>
            </p:cNvSpPr>
            <p:nvPr/>
          </p:nvSpPr>
          <p:spPr bwMode="auto">
            <a:xfrm>
              <a:off x="908" y="2818"/>
              <a:ext cx="16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64" name="Line 19"/>
            <p:cNvSpPr>
              <a:spLocks noChangeShapeType="1"/>
            </p:cNvSpPr>
            <p:nvPr/>
          </p:nvSpPr>
          <p:spPr bwMode="auto">
            <a:xfrm>
              <a:off x="1136" y="2662"/>
              <a:ext cx="0" cy="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665" name="Line 20"/>
            <p:cNvSpPr>
              <a:spLocks noChangeShapeType="1"/>
            </p:cNvSpPr>
            <p:nvPr/>
          </p:nvSpPr>
          <p:spPr bwMode="auto">
            <a:xfrm>
              <a:off x="1857" y="1906"/>
              <a:ext cx="0" cy="14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666" name="Text Box 21"/>
            <p:cNvSpPr txBox="1">
              <a:spLocks noChangeArrowheads="1"/>
            </p:cNvSpPr>
            <p:nvPr/>
          </p:nvSpPr>
          <p:spPr bwMode="auto">
            <a:xfrm>
              <a:off x="742" y="1858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①</a:t>
              </a:r>
            </a:p>
          </p:txBody>
        </p:sp>
        <p:sp>
          <p:nvSpPr>
            <p:cNvPr id="68667" name="Text Box 22"/>
            <p:cNvSpPr txBox="1">
              <a:spLocks noChangeArrowheads="1"/>
            </p:cNvSpPr>
            <p:nvPr/>
          </p:nvSpPr>
          <p:spPr bwMode="auto">
            <a:xfrm>
              <a:off x="2345" y="2194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108567" name="Text Box 23"/>
          <p:cNvSpPr txBox="1">
            <a:spLocks noChangeArrowheads="1"/>
          </p:cNvSpPr>
          <p:nvPr/>
        </p:nvSpPr>
        <p:spPr bwMode="auto">
          <a:xfrm>
            <a:off x="5073979" y="1383160"/>
            <a:ext cx="27366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CC3300"/>
                </a:solidFill>
                <a:latin typeface="Times New Roman" pitchFamily="18" charset="0"/>
              </a:rPr>
              <a:t> </a:t>
            </a:r>
            <a:r>
              <a:rPr kumimoji="1" lang="zh-CN" altLang="en-US" sz="2400" b="1" dirty="0">
                <a:solidFill>
                  <a:srgbClr val="CC3300"/>
                </a:solidFill>
                <a:latin typeface="Times New Roman" pitchFamily="18" charset="0"/>
              </a:rPr>
              <a:t>面上取点的方法：</a:t>
            </a:r>
          </a:p>
        </p:txBody>
      </p:sp>
      <p:sp>
        <p:nvSpPr>
          <p:cNvPr id="108576" name="Text Box 32"/>
          <p:cNvSpPr txBox="1">
            <a:spLocks noChangeArrowheads="1"/>
          </p:cNvSpPr>
          <p:nvPr/>
        </p:nvSpPr>
        <p:spPr bwMode="auto">
          <a:xfrm>
            <a:off x="2762250" y="6140152"/>
            <a:ext cx="325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利用平面的积聚性求解</a:t>
            </a:r>
          </a:p>
        </p:txBody>
      </p:sp>
      <p:sp>
        <p:nvSpPr>
          <p:cNvPr id="108577" name="Text Box 33"/>
          <p:cNvSpPr txBox="1">
            <a:spLocks noChangeArrowheads="1"/>
          </p:cNvSpPr>
          <p:nvPr/>
        </p:nvSpPr>
        <p:spPr bwMode="auto">
          <a:xfrm>
            <a:off x="6588080" y="6137921"/>
            <a:ext cx="35878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通过在面内作辅助线求解</a:t>
            </a:r>
          </a:p>
        </p:txBody>
      </p:sp>
      <p:sp>
        <p:nvSpPr>
          <p:cNvPr id="108578" name="AutoShape 34"/>
          <p:cNvSpPr>
            <a:spLocks noChangeArrowheads="1"/>
          </p:cNvSpPr>
          <p:nvPr/>
        </p:nvSpPr>
        <p:spPr bwMode="auto">
          <a:xfrm>
            <a:off x="9043988" y="2826178"/>
            <a:ext cx="1600992" cy="983873"/>
          </a:xfrm>
          <a:prstGeom prst="cloudCallout">
            <a:avLst>
              <a:gd name="adj1" fmla="val -79926"/>
              <a:gd name="adj2" fmla="val 48593"/>
            </a:avLst>
          </a:prstGeom>
          <a:solidFill>
            <a:srgbClr val="DDDDDD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kumimoji="1" lang="zh-CN" altLang="en-US" b="1">
                <a:latin typeface="Times New Roman" pitchFamily="18" charset="0"/>
              </a:rPr>
              <a:t>首先面上取线</a:t>
            </a:r>
          </a:p>
        </p:txBody>
      </p:sp>
      <p:sp>
        <p:nvSpPr>
          <p:cNvPr id="108579" name="Line 35"/>
          <p:cNvSpPr>
            <a:spLocks noChangeShapeType="1"/>
          </p:cNvSpPr>
          <p:nvPr/>
        </p:nvSpPr>
        <p:spPr bwMode="auto">
          <a:xfrm>
            <a:off x="4251325" y="4006553"/>
            <a:ext cx="0" cy="1590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3935106" y="5436893"/>
            <a:ext cx="474970" cy="505692"/>
            <a:chOff x="4054" y="3487"/>
            <a:chExt cx="249" cy="206"/>
          </a:xfrm>
        </p:grpSpPr>
        <p:sp>
          <p:nvSpPr>
            <p:cNvPr id="68649" name="Text Box 37"/>
            <p:cNvSpPr txBox="1">
              <a:spLocks noChangeArrowheads="1"/>
            </p:cNvSpPr>
            <p:nvPr/>
          </p:nvSpPr>
          <p:spPr bwMode="auto">
            <a:xfrm>
              <a:off x="4054" y="3505"/>
              <a:ext cx="170" cy="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8650" name="Rectangle 38"/>
            <p:cNvSpPr>
              <a:spLocks noChangeArrowheads="1"/>
            </p:cNvSpPr>
            <p:nvPr/>
          </p:nvSpPr>
          <p:spPr bwMode="auto">
            <a:xfrm>
              <a:off x="4126" y="3487"/>
              <a:ext cx="177" cy="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 b="1">
                  <a:solidFill>
                    <a:srgbClr val="FF0000"/>
                  </a:solidFill>
                  <a:latin typeface="Times New Roman" pitchFamily="18" charset="0"/>
                </a:rPr>
                <a:t>●</a:t>
              </a:r>
              <a:endParaRPr kumimoji="1" lang="en-US" altLang="zh-CN" sz="1200" b="1">
                <a:latin typeface="Times New Roman" pitchFamily="18" charset="0"/>
              </a:endParaRPr>
            </a:p>
          </p:txBody>
        </p:sp>
      </p:grpSp>
      <p:sp>
        <p:nvSpPr>
          <p:cNvPr id="108655" name="Freeform 111"/>
          <p:cNvSpPr>
            <a:spLocks/>
          </p:cNvSpPr>
          <p:nvPr/>
        </p:nvSpPr>
        <p:spPr bwMode="auto">
          <a:xfrm>
            <a:off x="7239000" y="5421016"/>
            <a:ext cx="1149350" cy="242887"/>
          </a:xfrm>
          <a:custGeom>
            <a:avLst/>
            <a:gdLst>
              <a:gd name="T0" fmla="*/ 0 w 724"/>
              <a:gd name="T1" fmla="*/ 2147483647 h 153"/>
              <a:gd name="T2" fmla="*/ 2147483647 w 724"/>
              <a:gd name="T3" fmla="*/ 0 h 153"/>
              <a:gd name="T4" fmla="*/ 0 60000 65536"/>
              <a:gd name="T5" fmla="*/ 0 60000 65536"/>
              <a:gd name="T6" fmla="*/ 0 w 724"/>
              <a:gd name="T7" fmla="*/ 0 h 153"/>
              <a:gd name="T8" fmla="*/ 724 w 724"/>
              <a:gd name="T9" fmla="*/ 153 h 15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24" h="153">
                <a:moveTo>
                  <a:pt x="0" y="153"/>
                </a:moveTo>
                <a:lnTo>
                  <a:pt x="724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6" name="Freeform 112"/>
          <p:cNvSpPr>
            <a:spLocks/>
          </p:cNvSpPr>
          <p:nvPr/>
        </p:nvSpPr>
        <p:spPr bwMode="auto">
          <a:xfrm>
            <a:off x="7239000" y="3695402"/>
            <a:ext cx="1149350" cy="998538"/>
          </a:xfrm>
          <a:custGeom>
            <a:avLst/>
            <a:gdLst>
              <a:gd name="T0" fmla="*/ 0 w 724"/>
              <a:gd name="T1" fmla="*/ 2147483647 h 629"/>
              <a:gd name="T2" fmla="*/ 2147483647 w 724"/>
              <a:gd name="T3" fmla="*/ 0 h 629"/>
              <a:gd name="T4" fmla="*/ 0 60000 65536"/>
              <a:gd name="T5" fmla="*/ 0 60000 65536"/>
              <a:gd name="T6" fmla="*/ 0 w 724"/>
              <a:gd name="T7" fmla="*/ 0 h 629"/>
              <a:gd name="T8" fmla="*/ 724 w 724"/>
              <a:gd name="T9" fmla="*/ 629 h 6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24" h="629">
                <a:moveTo>
                  <a:pt x="0" y="629"/>
                </a:moveTo>
                <a:lnTo>
                  <a:pt x="724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657" name="Text Box 113"/>
          <p:cNvSpPr txBox="1">
            <a:spLocks noChangeArrowheads="1"/>
          </p:cNvSpPr>
          <p:nvPr/>
        </p:nvSpPr>
        <p:spPr bwMode="auto">
          <a:xfrm>
            <a:off x="8379809" y="3370909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08658" name="Text Box 114"/>
          <p:cNvSpPr txBox="1">
            <a:spLocks noChangeArrowheads="1"/>
          </p:cNvSpPr>
          <p:nvPr/>
        </p:nvSpPr>
        <p:spPr bwMode="auto">
          <a:xfrm>
            <a:off x="8391293" y="5052071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endParaRPr kumimoji="1" lang="en-US" altLang="zh-CN" sz="2400">
              <a:latin typeface="Times New Roman" pitchFamily="18" charset="0"/>
            </a:endParaRPr>
          </a:p>
        </p:txBody>
      </p:sp>
      <p:grpSp>
        <p:nvGrpSpPr>
          <p:cNvPr id="4" name="Group 115"/>
          <p:cNvGrpSpPr>
            <a:grpSpLocks/>
          </p:cNvGrpSpPr>
          <p:nvPr/>
        </p:nvGrpSpPr>
        <p:grpSpPr bwMode="auto">
          <a:xfrm>
            <a:off x="6799264" y="3142953"/>
            <a:ext cx="2613025" cy="3201988"/>
            <a:chOff x="3323" y="1701"/>
            <a:chExt cx="1646" cy="2017"/>
          </a:xfrm>
        </p:grpSpPr>
        <p:sp>
          <p:nvSpPr>
            <p:cNvPr id="68630" name="Text Box 116"/>
            <p:cNvSpPr txBox="1">
              <a:spLocks noChangeArrowheads="1"/>
            </p:cNvSpPr>
            <p:nvPr/>
          </p:nvSpPr>
          <p:spPr bwMode="auto">
            <a:xfrm>
              <a:off x="3323" y="1749"/>
              <a:ext cx="31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②</a:t>
              </a:r>
            </a:p>
          </p:txBody>
        </p:sp>
        <p:sp>
          <p:nvSpPr>
            <p:cNvPr id="68631" name="Text Box 117"/>
            <p:cNvSpPr txBox="1">
              <a:spLocks noChangeArrowheads="1"/>
            </p:cNvSpPr>
            <p:nvPr/>
          </p:nvSpPr>
          <p:spPr bwMode="auto">
            <a:xfrm>
              <a:off x="3960" y="2182"/>
              <a:ext cx="2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 b="1">
                  <a:solidFill>
                    <a:schemeClr val="accent2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8632" name="Line 118"/>
            <p:cNvSpPr>
              <a:spLocks noChangeShapeType="1"/>
            </p:cNvSpPr>
            <p:nvPr/>
          </p:nvSpPr>
          <p:spPr bwMode="auto">
            <a:xfrm>
              <a:off x="3323" y="2806"/>
              <a:ext cx="16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3" name="Freeform 119"/>
            <p:cNvSpPr>
              <a:spLocks/>
            </p:cNvSpPr>
            <p:nvPr/>
          </p:nvSpPr>
          <p:spPr bwMode="auto">
            <a:xfrm>
              <a:off x="3585" y="2416"/>
              <a:ext cx="1144" cy="266"/>
            </a:xfrm>
            <a:custGeom>
              <a:avLst/>
              <a:gdLst>
                <a:gd name="T0" fmla="*/ 0 w 1144"/>
                <a:gd name="T1" fmla="*/ 266 h 266"/>
                <a:gd name="T2" fmla="*/ 1144 w 1144"/>
                <a:gd name="T3" fmla="*/ 0 h 266"/>
                <a:gd name="T4" fmla="*/ 0 60000 65536"/>
                <a:gd name="T5" fmla="*/ 0 60000 65536"/>
                <a:gd name="T6" fmla="*/ 0 w 1144"/>
                <a:gd name="T7" fmla="*/ 0 h 266"/>
                <a:gd name="T8" fmla="*/ 1144 w 1144"/>
                <a:gd name="T9" fmla="*/ 266 h 2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44" h="266">
                  <a:moveTo>
                    <a:pt x="0" y="266"/>
                  </a:moveTo>
                  <a:lnTo>
                    <a:pt x="1144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4" name="Freeform 120"/>
            <p:cNvSpPr>
              <a:spLocks/>
            </p:cNvSpPr>
            <p:nvPr/>
          </p:nvSpPr>
          <p:spPr bwMode="auto">
            <a:xfrm>
              <a:off x="3585" y="1942"/>
              <a:ext cx="624" cy="742"/>
            </a:xfrm>
            <a:custGeom>
              <a:avLst/>
              <a:gdLst>
                <a:gd name="T0" fmla="*/ 0 w 624"/>
                <a:gd name="T1" fmla="*/ 742 h 742"/>
                <a:gd name="T2" fmla="*/ 624 w 624"/>
                <a:gd name="T3" fmla="*/ 0 h 742"/>
                <a:gd name="T4" fmla="*/ 0 60000 65536"/>
                <a:gd name="T5" fmla="*/ 0 60000 65536"/>
                <a:gd name="T6" fmla="*/ 0 w 624"/>
                <a:gd name="T7" fmla="*/ 0 h 742"/>
                <a:gd name="T8" fmla="*/ 624 w 624"/>
                <a:gd name="T9" fmla="*/ 742 h 7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24" h="742">
                  <a:moveTo>
                    <a:pt x="0" y="742"/>
                  </a:moveTo>
                  <a:lnTo>
                    <a:pt x="624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5" name="Freeform 121"/>
            <p:cNvSpPr>
              <a:spLocks/>
            </p:cNvSpPr>
            <p:nvPr/>
          </p:nvSpPr>
          <p:spPr bwMode="auto">
            <a:xfrm>
              <a:off x="4209" y="1942"/>
              <a:ext cx="534" cy="474"/>
            </a:xfrm>
            <a:custGeom>
              <a:avLst/>
              <a:gdLst>
                <a:gd name="T0" fmla="*/ 0 w 534"/>
                <a:gd name="T1" fmla="*/ 0 h 474"/>
                <a:gd name="T2" fmla="*/ 534 w 534"/>
                <a:gd name="T3" fmla="*/ 474 h 474"/>
                <a:gd name="T4" fmla="*/ 0 60000 65536"/>
                <a:gd name="T5" fmla="*/ 0 60000 65536"/>
                <a:gd name="T6" fmla="*/ 0 w 534"/>
                <a:gd name="T7" fmla="*/ 0 h 474"/>
                <a:gd name="T8" fmla="*/ 534 w 534"/>
                <a:gd name="T9" fmla="*/ 474 h 4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4" h="474">
                  <a:moveTo>
                    <a:pt x="0" y="0"/>
                  </a:moveTo>
                  <a:lnTo>
                    <a:pt x="534" y="474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6" name="Line 122"/>
            <p:cNvSpPr>
              <a:spLocks noChangeShapeType="1"/>
            </p:cNvSpPr>
            <p:nvPr/>
          </p:nvSpPr>
          <p:spPr bwMode="auto">
            <a:xfrm>
              <a:off x="4209" y="1942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7" name="Line 123"/>
            <p:cNvSpPr>
              <a:spLocks noChangeShapeType="1"/>
            </p:cNvSpPr>
            <p:nvPr/>
          </p:nvSpPr>
          <p:spPr bwMode="auto">
            <a:xfrm>
              <a:off x="3585" y="2662"/>
              <a:ext cx="0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8" name="Line 124"/>
            <p:cNvSpPr>
              <a:spLocks noChangeShapeType="1"/>
            </p:cNvSpPr>
            <p:nvPr/>
          </p:nvSpPr>
          <p:spPr bwMode="auto">
            <a:xfrm flipV="1">
              <a:off x="3585" y="2998"/>
              <a:ext cx="62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9" name="Freeform 125"/>
            <p:cNvSpPr>
              <a:spLocks/>
            </p:cNvSpPr>
            <p:nvPr/>
          </p:nvSpPr>
          <p:spPr bwMode="auto">
            <a:xfrm>
              <a:off x="4209" y="2998"/>
              <a:ext cx="534" cy="533"/>
            </a:xfrm>
            <a:custGeom>
              <a:avLst/>
              <a:gdLst>
                <a:gd name="T0" fmla="*/ 0 w 534"/>
                <a:gd name="T1" fmla="*/ 0 h 533"/>
                <a:gd name="T2" fmla="*/ 534 w 534"/>
                <a:gd name="T3" fmla="*/ 533 h 533"/>
                <a:gd name="T4" fmla="*/ 0 60000 65536"/>
                <a:gd name="T5" fmla="*/ 0 60000 65536"/>
                <a:gd name="T6" fmla="*/ 0 w 534"/>
                <a:gd name="T7" fmla="*/ 0 h 533"/>
                <a:gd name="T8" fmla="*/ 534 w 534"/>
                <a:gd name="T9" fmla="*/ 533 h 5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4" h="533">
                  <a:moveTo>
                    <a:pt x="0" y="0"/>
                  </a:moveTo>
                  <a:lnTo>
                    <a:pt x="534" y="533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0" name="Line 126"/>
            <p:cNvSpPr>
              <a:spLocks noChangeShapeType="1"/>
            </p:cNvSpPr>
            <p:nvPr/>
          </p:nvSpPr>
          <p:spPr bwMode="auto">
            <a:xfrm flipH="1" flipV="1">
              <a:off x="3585" y="3286"/>
              <a:ext cx="115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1" name="Text Box 127"/>
            <p:cNvSpPr txBox="1">
              <a:spLocks noChangeArrowheads="1"/>
            </p:cNvSpPr>
            <p:nvPr/>
          </p:nvSpPr>
          <p:spPr bwMode="auto">
            <a:xfrm>
              <a:off x="3389" y="3141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8642" name="Text Box 128"/>
            <p:cNvSpPr txBox="1">
              <a:spLocks noChangeArrowheads="1"/>
            </p:cNvSpPr>
            <p:nvPr/>
          </p:nvSpPr>
          <p:spPr bwMode="auto">
            <a:xfrm>
              <a:off x="4034" y="2769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8643" name="Text Box 129"/>
            <p:cNvSpPr txBox="1">
              <a:spLocks noChangeArrowheads="1"/>
            </p:cNvSpPr>
            <p:nvPr/>
          </p:nvSpPr>
          <p:spPr bwMode="auto">
            <a:xfrm>
              <a:off x="4689" y="3430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8644" name="Text Box 130"/>
            <p:cNvSpPr txBox="1">
              <a:spLocks noChangeArrowheads="1"/>
            </p:cNvSpPr>
            <p:nvPr/>
          </p:nvSpPr>
          <p:spPr bwMode="auto">
            <a:xfrm>
              <a:off x="3381" y="2517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8645" name="Text Box 131"/>
            <p:cNvSpPr txBox="1">
              <a:spLocks noChangeArrowheads="1"/>
            </p:cNvSpPr>
            <p:nvPr/>
          </p:nvSpPr>
          <p:spPr bwMode="auto">
            <a:xfrm>
              <a:off x="4167" y="1701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8646" name="Text Box 132"/>
            <p:cNvSpPr txBox="1">
              <a:spLocks noChangeArrowheads="1"/>
            </p:cNvSpPr>
            <p:nvPr/>
          </p:nvSpPr>
          <p:spPr bwMode="auto">
            <a:xfrm>
              <a:off x="3996" y="2217"/>
              <a:ext cx="28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Italic" pitchFamily="2" charset="0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8647" name="Text Box 133"/>
            <p:cNvSpPr txBox="1">
              <a:spLocks noChangeArrowheads="1"/>
            </p:cNvSpPr>
            <p:nvPr/>
          </p:nvSpPr>
          <p:spPr bwMode="auto">
            <a:xfrm>
              <a:off x="4720" y="2278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8648" name="Line 134"/>
            <p:cNvSpPr>
              <a:spLocks noChangeShapeType="1"/>
            </p:cNvSpPr>
            <p:nvPr/>
          </p:nvSpPr>
          <p:spPr bwMode="auto">
            <a:xfrm>
              <a:off x="4739" y="2417"/>
              <a:ext cx="0" cy="11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8679" name="Line 135"/>
          <p:cNvSpPr>
            <a:spLocks noChangeShapeType="1"/>
          </p:cNvSpPr>
          <p:nvPr/>
        </p:nvSpPr>
        <p:spPr bwMode="auto">
          <a:xfrm>
            <a:off x="8388350" y="3677941"/>
            <a:ext cx="0" cy="174307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8680" name="Line 136"/>
          <p:cNvSpPr>
            <a:spLocks noChangeShapeType="1"/>
          </p:cNvSpPr>
          <p:nvPr/>
        </p:nvSpPr>
        <p:spPr bwMode="auto">
          <a:xfrm>
            <a:off x="7983538" y="4058940"/>
            <a:ext cx="0" cy="1447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137"/>
          <p:cNvGrpSpPr>
            <a:grpSpLocks/>
          </p:cNvGrpSpPr>
          <p:nvPr/>
        </p:nvGrpSpPr>
        <p:grpSpPr bwMode="auto">
          <a:xfrm>
            <a:off x="7816857" y="5355928"/>
            <a:ext cx="493713" cy="473075"/>
            <a:chOff x="3973" y="3113"/>
            <a:chExt cx="311" cy="298"/>
          </a:xfrm>
        </p:grpSpPr>
        <p:sp>
          <p:nvSpPr>
            <p:cNvPr id="68628" name="Text Box 138"/>
            <p:cNvSpPr txBox="1">
              <a:spLocks noChangeArrowheads="1"/>
            </p:cNvSpPr>
            <p:nvPr/>
          </p:nvSpPr>
          <p:spPr bwMode="auto">
            <a:xfrm>
              <a:off x="4080" y="3120"/>
              <a:ext cx="2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68629" name="Rectangle 139"/>
            <p:cNvSpPr>
              <a:spLocks noChangeArrowheads="1"/>
            </p:cNvSpPr>
            <p:nvPr/>
          </p:nvSpPr>
          <p:spPr bwMode="auto">
            <a:xfrm>
              <a:off x="3973" y="3113"/>
              <a:ext cx="21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 b="1">
                  <a:solidFill>
                    <a:schemeClr val="accent2"/>
                  </a:solidFill>
                  <a:latin typeface="Times New Roman" pitchFamily="18" charset="0"/>
                </a:rPr>
                <a:t>●</a:t>
              </a:r>
              <a:endParaRPr kumimoji="1" lang="en-US" altLang="zh-CN" sz="1200" b="1">
                <a:latin typeface="Times New Roman" pitchFamily="18" charset="0"/>
              </a:endParaRPr>
            </a:p>
          </p:txBody>
        </p:sp>
      </p:grpSp>
      <p:sp>
        <p:nvSpPr>
          <p:cNvPr id="60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08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8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0" dur="500"/>
                                        <p:tgtEl>
                                          <p:spTgt spid="1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0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75"/>
                                        <p:tgtEl>
                                          <p:spTgt spid="1086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0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animBg="1" autoUpdateAnimBg="0"/>
      <p:bldP spid="108548" grpId="0" autoUpdateAnimBg="0"/>
      <p:bldP spid="108567" grpId="0" build="p" autoUpdateAnimBg="0"/>
      <p:bldP spid="108576" grpId="0" autoUpdateAnimBg="0"/>
      <p:bldP spid="108577" grpId="0" autoUpdateAnimBg="0"/>
      <p:bldP spid="108578" grpId="0" animBg="1" autoUpdateAnimBg="0"/>
      <p:bldP spid="108579" grpId="0" animBg="1"/>
      <p:bldP spid="108655" grpId="0" animBg="1"/>
      <p:bldP spid="108656" grpId="0" animBg="1"/>
      <p:bldP spid="108657" grpId="0" build="p" autoUpdateAnimBg="0"/>
      <p:bldP spid="108658" grpId="0" autoUpdateAnimBg="0"/>
      <p:bldP spid="108679" grpId="0" animBg="1"/>
      <p:bldP spid="10868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3" name="Freeform 5"/>
          <p:cNvSpPr>
            <a:spLocks/>
          </p:cNvSpPr>
          <p:nvPr/>
        </p:nvSpPr>
        <p:spPr bwMode="auto">
          <a:xfrm>
            <a:off x="3772300" y="3159125"/>
            <a:ext cx="1549001" cy="1155502"/>
          </a:xfrm>
          <a:custGeom>
            <a:avLst/>
            <a:gdLst>
              <a:gd name="T0" fmla="*/ 0 w 672"/>
              <a:gd name="T1" fmla="*/ 2147483647 h 399"/>
              <a:gd name="T2" fmla="*/ 2147483647 w 672"/>
              <a:gd name="T3" fmla="*/ 0 h 399"/>
              <a:gd name="T4" fmla="*/ 0 60000 65536"/>
              <a:gd name="T5" fmla="*/ 0 60000 65536"/>
              <a:gd name="T6" fmla="*/ 0 w 672"/>
              <a:gd name="T7" fmla="*/ 0 h 399"/>
              <a:gd name="T8" fmla="*/ 672 w 672"/>
              <a:gd name="T9" fmla="*/ 399 h 3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72" h="399">
                <a:moveTo>
                  <a:pt x="0" y="399"/>
                </a:moveTo>
                <a:lnTo>
                  <a:pt x="672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4" name="Line 6"/>
          <p:cNvSpPr>
            <a:spLocks noChangeShapeType="1"/>
          </p:cNvSpPr>
          <p:nvPr/>
        </p:nvSpPr>
        <p:spPr bwMode="auto">
          <a:xfrm>
            <a:off x="2762054" y="3386559"/>
            <a:ext cx="1031081" cy="914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76" name="Text Box 8"/>
          <p:cNvSpPr txBox="1">
            <a:spLocks noChangeArrowheads="1"/>
          </p:cNvSpPr>
          <p:nvPr/>
        </p:nvSpPr>
        <p:spPr bwMode="auto">
          <a:xfrm>
            <a:off x="3965346" y="6447731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</a:rPr>
              <a:t>b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sp>
        <p:nvSpPr>
          <p:cNvPr id="109578" name="Text Box 10"/>
          <p:cNvSpPr txBox="1">
            <a:spLocks noChangeArrowheads="1"/>
          </p:cNvSpPr>
          <p:nvPr/>
        </p:nvSpPr>
        <p:spPr bwMode="auto">
          <a:xfrm>
            <a:off x="5240338" y="5649961"/>
            <a:ext cx="319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</a:rPr>
              <a:t>c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sp>
        <p:nvSpPr>
          <p:cNvPr id="109580" name="Text Box 12"/>
          <p:cNvSpPr txBox="1">
            <a:spLocks noChangeArrowheads="1"/>
          </p:cNvSpPr>
          <p:nvPr/>
        </p:nvSpPr>
        <p:spPr bwMode="auto">
          <a:xfrm>
            <a:off x="4013856" y="5589713"/>
            <a:ext cx="324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</a:rPr>
              <a:t>k</a:t>
            </a:r>
            <a:endParaRPr kumimoji="1" lang="en-US" altLang="zh-CN" sz="2400" b="1" dirty="0">
              <a:latin typeface="Times New Roman" pitchFamily="18" charset="0"/>
            </a:endParaRPr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>
            <a:off x="2529683" y="4673128"/>
            <a:ext cx="3505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6" name="Line 14"/>
          <p:cNvSpPr>
            <a:spLocks noChangeShapeType="1"/>
          </p:cNvSpPr>
          <p:nvPr/>
        </p:nvSpPr>
        <p:spPr bwMode="auto">
          <a:xfrm>
            <a:off x="2760664" y="5655444"/>
            <a:ext cx="1066800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7" name="Line 15"/>
          <p:cNvSpPr>
            <a:spLocks noChangeShapeType="1"/>
          </p:cNvSpPr>
          <p:nvPr/>
        </p:nvSpPr>
        <p:spPr bwMode="auto">
          <a:xfrm flipV="1">
            <a:off x="2752726" y="4899794"/>
            <a:ext cx="1592262" cy="7556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8" name="Line 16"/>
          <p:cNvSpPr>
            <a:spLocks noChangeShapeType="1"/>
          </p:cNvSpPr>
          <p:nvPr/>
        </p:nvSpPr>
        <p:spPr bwMode="auto">
          <a:xfrm flipV="1">
            <a:off x="3815557" y="5753562"/>
            <a:ext cx="1491457" cy="8807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9" name="Line 17"/>
          <p:cNvSpPr>
            <a:spLocks noChangeShapeType="1"/>
          </p:cNvSpPr>
          <p:nvPr/>
        </p:nvSpPr>
        <p:spPr bwMode="auto">
          <a:xfrm>
            <a:off x="4335463" y="4890576"/>
            <a:ext cx="971550" cy="85376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1" name="Line 19"/>
          <p:cNvSpPr>
            <a:spLocks noChangeShapeType="1"/>
          </p:cNvSpPr>
          <p:nvPr/>
        </p:nvSpPr>
        <p:spPr bwMode="auto">
          <a:xfrm>
            <a:off x="2760663" y="3382144"/>
            <a:ext cx="0" cy="2286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53" name="Text Box 21"/>
          <p:cNvSpPr txBox="1">
            <a:spLocks noChangeArrowheads="1"/>
          </p:cNvSpPr>
          <p:nvPr/>
        </p:nvSpPr>
        <p:spPr bwMode="auto">
          <a:xfrm>
            <a:off x="2449281" y="5437313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69654" name="Text Box 22"/>
          <p:cNvSpPr txBox="1">
            <a:spLocks noChangeArrowheads="1"/>
          </p:cNvSpPr>
          <p:nvPr/>
        </p:nvSpPr>
        <p:spPr bwMode="auto">
          <a:xfrm>
            <a:off x="4401344" y="4601885"/>
            <a:ext cx="344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</a:rPr>
              <a:t>d</a:t>
            </a:r>
          </a:p>
        </p:txBody>
      </p:sp>
      <p:sp>
        <p:nvSpPr>
          <p:cNvPr id="69655" name="Text Box 23"/>
          <p:cNvSpPr txBox="1">
            <a:spLocks noChangeArrowheads="1"/>
          </p:cNvSpPr>
          <p:nvPr/>
        </p:nvSpPr>
        <p:spPr bwMode="auto">
          <a:xfrm>
            <a:off x="2450497" y="3075113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9656" name="Text Box 24"/>
          <p:cNvSpPr txBox="1">
            <a:spLocks noChangeArrowheads="1"/>
          </p:cNvSpPr>
          <p:nvPr/>
        </p:nvSpPr>
        <p:spPr bwMode="auto">
          <a:xfrm>
            <a:off x="3392616" y="4218112"/>
            <a:ext cx="4331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anose="02020603060505020304" pitchFamily="18" charset="0"/>
                <a:sym typeface="Symbol" pitchFamily="18" charset="2"/>
              </a:rPr>
              <a:t>b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9657" name="Text Box 25"/>
          <p:cNvSpPr txBox="1">
            <a:spLocks noChangeArrowheads="1"/>
          </p:cNvSpPr>
          <p:nvPr/>
        </p:nvSpPr>
        <p:spPr bwMode="auto">
          <a:xfrm>
            <a:off x="4377706" y="2017860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  <a:sym typeface="Symbol" pitchFamily="18" charset="2"/>
              </a:rPr>
              <a:t>d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9658" name="Text Box 26"/>
          <p:cNvSpPr txBox="1">
            <a:spLocks noChangeArrowheads="1"/>
          </p:cNvSpPr>
          <p:nvPr/>
        </p:nvSpPr>
        <p:spPr bwMode="auto">
          <a:xfrm>
            <a:off x="5306141" y="2807527"/>
            <a:ext cx="395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</a:rPr>
              <a:t>c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09597" name="Text Box 29"/>
          <p:cNvSpPr txBox="1">
            <a:spLocks noChangeArrowheads="1"/>
          </p:cNvSpPr>
          <p:nvPr/>
        </p:nvSpPr>
        <p:spPr bwMode="auto">
          <a:xfrm>
            <a:off x="3670300" y="3206610"/>
            <a:ext cx="4143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</a:rPr>
              <a:t>k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69668" name="Text Box 36"/>
          <p:cNvSpPr txBox="1">
            <a:spLocks noChangeArrowheads="1"/>
          </p:cNvSpPr>
          <p:nvPr/>
        </p:nvSpPr>
        <p:spPr bwMode="auto">
          <a:xfrm>
            <a:off x="1237761" y="994201"/>
            <a:ext cx="87035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例</a:t>
            </a:r>
            <a:r>
              <a:rPr kumimoji="1" lang="en-US" altLang="zh-CN" sz="2400" b="1" dirty="0">
                <a:latin typeface="宋体" pitchFamily="2" charset="-122"/>
              </a:rPr>
              <a:t>2</a:t>
            </a:r>
            <a:r>
              <a:rPr kumimoji="1" lang="zh-CN" altLang="en-US" sz="2400" b="1" dirty="0">
                <a:latin typeface="宋体" pitchFamily="2" charset="-122"/>
              </a:rPr>
              <a:t>：</a:t>
            </a:r>
            <a:r>
              <a:rPr lang="zh-CN" altLang="zh-CN" sz="2400" dirty="0"/>
              <a:t>已知平面</a:t>
            </a:r>
            <a:r>
              <a:rPr lang="en-US" altLang="zh-CN" sz="2400" i="1" dirty="0"/>
              <a:t>ABCD</a:t>
            </a:r>
            <a:r>
              <a:rPr lang="zh-CN" altLang="zh-CN" sz="2400" dirty="0"/>
              <a:t>的水平投影</a:t>
            </a:r>
            <a:r>
              <a:rPr lang="en-US" altLang="zh-CN" sz="2400" i="1" dirty="0" err="1"/>
              <a:t>abcd</a:t>
            </a:r>
            <a:r>
              <a:rPr lang="zh-CN" altLang="zh-CN" sz="2400" dirty="0"/>
              <a:t>和</a:t>
            </a:r>
            <a:r>
              <a:rPr lang="en-US" altLang="zh-CN" sz="2400" i="1" dirty="0"/>
              <a:t>AB</a:t>
            </a:r>
            <a:r>
              <a:rPr lang="zh-CN" altLang="zh-CN" sz="2400" i="1" dirty="0"/>
              <a:t>、</a:t>
            </a:r>
            <a:r>
              <a:rPr lang="en-US" altLang="zh-CN" sz="2400" i="1" dirty="0"/>
              <a:t>BC</a:t>
            </a:r>
            <a:r>
              <a:rPr lang="zh-CN" altLang="zh-CN" sz="2400" dirty="0"/>
              <a:t>两边的正面投影</a:t>
            </a:r>
            <a:r>
              <a:rPr lang="en-US" altLang="zh-CN" sz="2400" i="1" dirty="0" err="1"/>
              <a:t>a</a:t>
            </a:r>
            <a:r>
              <a:rPr lang="en-US" altLang="zh-CN" sz="2400" dirty="0" err="1"/>
              <a:t>′</a:t>
            </a:r>
            <a:r>
              <a:rPr lang="en-US" altLang="zh-CN" sz="2400" i="1" dirty="0" err="1"/>
              <a:t>b</a:t>
            </a:r>
            <a:r>
              <a:rPr lang="en-US" altLang="zh-CN" sz="2400" dirty="0"/>
              <a:t>′</a:t>
            </a:r>
            <a:r>
              <a:rPr lang="zh-CN" altLang="zh-CN" sz="2400" i="1" dirty="0"/>
              <a:t>、</a:t>
            </a:r>
            <a:r>
              <a:rPr lang="en-US" altLang="zh-CN" sz="2400" i="1" dirty="0" err="1"/>
              <a:t>b</a:t>
            </a:r>
            <a:r>
              <a:rPr lang="en-US" altLang="zh-CN" sz="2400" dirty="0" err="1"/>
              <a:t>′</a:t>
            </a:r>
            <a:r>
              <a:rPr lang="en-US" altLang="zh-CN" sz="2400" i="1" dirty="0" err="1"/>
              <a:t>c</a:t>
            </a:r>
            <a:r>
              <a:rPr lang="en-US" altLang="zh-CN" sz="2400" dirty="0"/>
              <a:t>′</a:t>
            </a:r>
            <a:r>
              <a:rPr lang="zh-CN" altLang="zh-CN" sz="2400" dirty="0"/>
              <a:t>，完成该平面的正面投影。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109605" name="Text Box 37"/>
          <p:cNvSpPr txBox="1">
            <a:spLocks noChangeArrowheads="1"/>
          </p:cNvSpPr>
          <p:nvPr/>
        </p:nvSpPr>
        <p:spPr bwMode="auto">
          <a:xfrm>
            <a:off x="2425221" y="2155354"/>
            <a:ext cx="12153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解法一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</p:txBody>
      </p:sp>
      <p:sp>
        <p:nvSpPr>
          <p:cNvPr id="109606" name="Text Box 38"/>
          <p:cNvSpPr txBox="1">
            <a:spLocks noChangeArrowheads="1"/>
          </p:cNvSpPr>
          <p:nvPr/>
        </p:nvSpPr>
        <p:spPr bwMode="auto">
          <a:xfrm>
            <a:off x="6744285" y="2132402"/>
            <a:ext cx="121539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解法二</a:t>
            </a:r>
            <a:r>
              <a:rPr kumimoji="1" lang="en-US" altLang="zh-CN" sz="2400" b="1" dirty="0">
                <a:latin typeface="Times New Roman" pitchFamily="18" charset="0"/>
              </a:rPr>
              <a:t>:</a:t>
            </a:r>
          </a:p>
        </p:txBody>
      </p:sp>
      <p:sp>
        <p:nvSpPr>
          <p:cNvPr id="58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  <p:sp>
        <p:nvSpPr>
          <p:cNvPr id="60" name="Line 19"/>
          <p:cNvSpPr>
            <a:spLocks noChangeShapeType="1"/>
          </p:cNvSpPr>
          <p:nvPr/>
        </p:nvSpPr>
        <p:spPr bwMode="auto">
          <a:xfrm>
            <a:off x="3790950" y="4286251"/>
            <a:ext cx="7144" cy="235758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Line 19"/>
          <p:cNvSpPr>
            <a:spLocks noChangeShapeType="1"/>
          </p:cNvSpPr>
          <p:nvPr/>
        </p:nvSpPr>
        <p:spPr bwMode="auto">
          <a:xfrm flipH="1">
            <a:off x="5295900" y="3162301"/>
            <a:ext cx="0" cy="25912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Line 39"/>
          <p:cNvSpPr>
            <a:spLocks noChangeShapeType="1"/>
          </p:cNvSpPr>
          <p:nvPr/>
        </p:nvSpPr>
        <p:spPr bwMode="auto">
          <a:xfrm>
            <a:off x="2778126" y="5668342"/>
            <a:ext cx="2516188" cy="7666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3" name="Line 27"/>
          <p:cNvSpPr>
            <a:spLocks noChangeShapeType="1"/>
          </p:cNvSpPr>
          <p:nvPr/>
        </p:nvSpPr>
        <p:spPr bwMode="auto">
          <a:xfrm flipV="1">
            <a:off x="2759075" y="3169113"/>
            <a:ext cx="2547938" cy="219679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Line 39"/>
          <p:cNvSpPr>
            <a:spLocks noChangeShapeType="1"/>
          </p:cNvSpPr>
          <p:nvPr/>
        </p:nvSpPr>
        <p:spPr bwMode="auto">
          <a:xfrm flipV="1">
            <a:off x="3804445" y="4899794"/>
            <a:ext cx="540543" cy="17313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5" name="Line 39"/>
          <p:cNvSpPr>
            <a:spLocks noChangeShapeType="1"/>
          </p:cNvSpPr>
          <p:nvPr/>
        </p:nvSpPr>
        <p:spPr bwMode="auto">
          <a:xfrm flipV="1">
            <a:off x="4089798" y="3274390"/>
            <a:ext cx="0" cy="244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6" name="Line 39"/>
          <p:cNvSpPr>
            <a:spLocks noChangeShapeType="1"/>
          </p:cNvSpPr>
          <p:nvPr/>
        </p:nvSpPr>
        <p:spPr bwMode="auto">
          <a:xfrm flipV="1">
            <a:off x="3786188" y="2425700"/>
            <a:ext cx="538162" cy="18701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7" name="Line 39"/>
          <p:cNvSpPr>
            <a:spLocks noChangeShapeType="1"/>
          </p:cNvSpPr>
          <p:nvPr/>
        </p:nvSpPr>
        <p:spPr bwMode="auto">
          <a:xfrm flipH="1" flipV="1">
            <a:off x="4330701" y="2400300"/>
            <a:ext cx="4763" cy="250929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68" name="Freeform 5"/>
          <p:cNvSpPr>
            <a:spLocks/>
          </p:cNvSpPr>
          <p:nvPr/>
        </p:nvSpPr>
        <p:spPr bwMode="auto">
          <a:xfrm>
            <a:off x="2756300" y="2413968"/>
            <a:ext cx="1574400" cy="992242"/>
          </a:xfrm>
          <a:custGeom>
            <a:avLst/>
            <a:gdLst>
              <a:gd name="T0" fmla="*/ 0 w 672"/>
              <a:gd name="T1" fmla="*/ 2147483647 h 399"/>
              <a:gd name="T2" fmla="*/ 2147483647 w 672"/>
              <a:gd name="T3" fmla="*/ 0 h 399"/>
              <a:gd name="T4" fmla="*/ 0 60000 65536"/>
              <a:gd name="T5" fmla="*/ 0 60000 65536"/>
              <a:gd name="T6" fmla="*/ 0 w 672"/>
              <a:gd name="T7" fmla="*/ 0 h 399"/>
              <a:gd name="T8" fmla="*/ 672 w 672"/>
              <a:gd name="T9" fmla="*/ 399 h 3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72" h="399">
                <a:moveTo>
                  <a:pt x="0" y="399"/>
                </a:moveTo>
                <a:lnTo>
                  <a:pt x="672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Freeform 5"/>
          <p:cNvSpPr>
            <a:spLocks/>
          </p:cNvSpPr>
          <p:nvPr/>
        </p:nvSpPr>
        <p:spPr bwMode="auto">
          <a:xfrm flipH="1">
            <a:off x="4318873" y="2386981"/>
            <a:ext cx="975440" cy="780895"/>
          </a:xfrm>
          <a:custGeom>
            <a:avLst/>
            <a:gdLst>
              <a:gd name="T0" fmla="*/ 0 w 672"/>
              <a:gd name="T1" fmla="*/ 2147483647 h 399"/>
              <a:gd name="T2" fmla="*/ 2147483647 w 672"/>
              <a:gd name="T3" fmla="*/ 0 h 399"/>
              <a:gd name="T4" fmla="*/ 0 60000 65536"/>
              <a:gd name="T5" fmla="*/ 0 60000 65536"/>
              <a:gd name="T6" fmla="*/ 0 w 672"/>
              <a:gd name="T7" fmla="*/ 0 h 399"/>
              <a:gd name="T8" fmla="*/ 672 w 672"/>
              <a:gd name="T9" fmla="*/ 399 h 3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72" h="399">
                <a:moveTo>
                  <a:pt x="0" y="399"/>
                </a:moveTo>
                <a:lnTo>
                  <a:pt x="672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Text Box 25"/>
          <p:cNvSpPr txBox="1">
            <a:spLocks noChangeArrowheads="1"/>
          </p:cNvSpPr>
          <p:nvPr/>
        </p:nvSpPr>
        <p:spPr bwMode="auto">
          <a:xfrm>
            <a:off x="8756894" y="2107349"/>
            <a:ext cx="4315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anose="02020603060505020304" pitchFamily="18" charset="0"/>
                <a:cs typeface="DaunPenh" panose="01010101010101010101" pitchFamily="2" charset="0"/>
                <a:sym typeface="Symbol" pitchFamily="18" charset="2"/>
              </a:rPr>
              <a:t>d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672064" y="2796596"/>
            <a:ext cx="3505200" cy="4101868"/>
            <a:chOff x="5148064" y="2788976"/>
            <a:chExt cx="3505200" cy="4101868"/>
          </a:xfrm>
        </p:grpSpPr>
        <p:sp>
          <p:nvSpPr>
            <p:cNvPr id="70" name="Freeform 5"/>
            <p:cNvSpPr>
              <a:spLocks/>
            </p:cNvSpPr>
            <p:nvPr/>
          </p:nvSpPr>
          <p:spPr bwMode="auto">
            <a:xfrm>
              <a:off x="6623400" y="3182159"/>
              <a:ext cx="1534714" cy="1134576"/>
            </a:xfrm>
            <a:custGeom>
              <a:avLst/>
              <a:gdLst>
                <a:gd name="T0" fmla="*/ 0 w 672"/>
                <a:gd name="T1" fmla="*/ 2147483647 h 399"/>
                <a:gd name="T2" fmla="*/ 2147483647 w 672"/>
                <a:gd name="T3" fmla="*/ 0 h 399"/>
                <a:gd name="T4" fmla="*/ 0 60000 65536"/>
                <a:gd name="T5" fmla="*/ 0 60000 65536"/>
                <a:gd name="T6" fmla="*/ 0 w 672"/>
                <a:gd name="T7" fmla="*/ 0 h 399"/>
                <a:gd name="T8" fmla="*/ 672 w 672"/>
                <a:gd name="T9" fmla="*/ 399 h 3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72" h="399">
                  <a:moveTo>
                    <a:pt x="0" y="399"/>
                  </a:moveTo>
                  <a:lnTo>
                    <a:pt x="672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6"/>
            <p:cNvSpPr>
              <a:spLocks noChangeShapeType="1"/>
            </p:cNvSpPr>
            <p:nvPr/>
          </p:nvSpPr>
          <p:spPr bwMode="auto">
            <a:xfrm>
              <a:off x="5613153" y="3388667"/>
              <a:ext cx="1031081" cy="9144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Line 14"/>
            <p:cNvSpPr>
              <a:spLocks noChangeShapeType="1"/>
            </p:cNvSpPr>
            <p:nvPr/>
          </p:nvSpPr>
          <p:spPr bwMode="auto">
            <a:xfrm>
              <a:off x="5611764" y="5657552"/>
              <a:ext cx="1066800" cy="990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Line 15"/>
            <p:cNvSpPr>
              <a:spLocks noChangeShapeType="1"/>
            </p:cNvSpPr>
            <p:nvPr/>
          </p:nvSpPr>
          <p:spPr bwMode="auto">
            <a:xfrm flipV="1">
              <a:off x="5603826" y="4901902"/>
              <a:ext cx="1592262" cy="75565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16"/>
            <p:cNvSpPr>
              <a:spLocks noChangeShapeType="1"/>
            </p:cNvSpPr>
            <p:nvPr/>
          </p:nvSpPr>
          <p:spPr bwMode="auto">
            <a:xfrm flipV="1">
              <a:off x="6659036" y="5740430"/>
              <a:ext cx="1491457" cy="88075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17"/>
            <p:cNvSpPr>
              <a:spLocks noChangeShapeType="1"/>
            </p:cNvSpPr>
            <p:nvPr/>
          </p:nvSpPr>
          <p:spPr bwMode="auto">
            <a:xfrm>
              <a:off x="7186563" y="4892684"/>
              <a:ext cx="971550" cy="85376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19"/>
            <p:cNvSpPr>
              <a:spLocks noChangeShapeType="1"/>
            </p:cNvSpPr>
            <p:nvPr/>
          </p:nvSpPr>
          <p:spPr bwMode="auto">
            <a:xfrm>
              <a:off x="5611763" y="3384252"/>
              <a:ext cx="0" cy="22860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19"/>
            <p:cNvSpPr>
              <a:spLocks noChangeShapeType="1"/>
            </p:cNvSpPr>
            <p:nvPr/>
          </p:nvSpPr>
          <p:spPr bwMode="auto">
            <a:xfrm>
              <a:off x="6642050" y="4288358"/>
              <a:ext cx="7144" cy="23575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19"/>
            <p:cNvSpPr>
              <a:spLocks noChangeShapeType="1"/>
            </p:cNvSpPr>
            <p:nvPr/>
          </p:nvSpPr>
          <p:spPr bwMode="auto">
            <a:xfrm flipH="1">
              <a:off x="8147000" y="3164409"/>
              <a:ext cx="0" cy="25912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13"/>
            <p:cNvSpPr>
              <a:spLocks noChangeShapeType="1"/>
            </p:cNvSpPr>
            <p:nvPr/>
          </p:nvSpPr>
          <p:spPr bwMode="auto">
            <a:xfrm>
              <a:off x="5148064" y="4673128"/>
              <a:ext cx="3505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Text Box 8"/>
            <p:cNvSpPr txBox="1">
              <a:spLocks noChangeArrowheads="1"/>
            </p:cNvSpPr>
            <p:nvPr/>
          </p:nvSpPr>
          <p:spPr bwMode="auto">
            <a:xfrm>
              <a:off x="6823218" y="6429179"/>
              <a:ext cx="3433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b</a:t>
              </a:r>
              <a:endParaRPr kumimoji="1" lang="en-US" altLang="zh-CN" sz="2400" b="1" dirty="0">
                <a:latin typeface="Times New Roman" pitchFamily="18" charset="0"/>
              </a:endParaRPr>
            </a:p>
          </p:txBody>
        </p:sp>
        <p:sp>
          <p:nvSpPr>
            <p:cNvPr id="83" name="Text Box 10"/>
            <p:cNvSpPr txBox="1">
              <a:spLocks noChangeArrowheads="1"/>
            </p:cNvSpPr>
            <p:nvPr/>
          </p:nvSpPr>
          <p:spPr bwMode="auto">
            <a:xfrm>
              <a:off x="8098210" y="5631410"/>
              <a:ext cx="31908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c</a:t>
              </a:r>
              <a:endParaRPr kumimoji="1" lang="en-US" altLang="zh-CN" sz="2400" b="1" dirty="0">
                <a:latin typeface="Times New Roman" pitchFamily="18" charset="0"/>
              </a:endParaRPr>
            </a:p>
          </p:txBody>
        </p:sp>
        <p:sp>
          <p:nvSpPr>
            <p:cNvPr id="84" name="Text Box 21"/>
            <p:cNvSpPr txBox="1">
              <a:spLocks noChangeArrowheads="1"/>
            </p:cNvSpPr>
            <p:nvPr/>
          </p:nvSpPr>
          <p:spPr bwMode="auto">
            <a:xfrm>
              <a:off x="5307153" y="5418761"/>
              <a:ext cx="34336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85" name="Text Box 22"/>
            <p:cNvSpPr txBox="1">
              <a:spLocks noChangeArrowheads="1"/>
            </p:cNvSpPr>
            <p:nvPr/>
          </p:nvSpPr>
          <p:spPr bwMode="auto">
            <a:xfrm>
              <a:off x="7259215" y="4583334"/>
              <a:ext cx="3444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d</a:t>
              </a:r>
            </a:p>
          </p:txBody>
        </p:sp>
        <p:sp>
          <p:nvSpPr>
            <p:cNvPr id="86" name="Text Box 23"/>
            <p:cNvSpPr txBox="1">
              <a:spLocks noChangeArrowheads="1"/>
            </p:cNvSpPr>
            <p:nvPr/>
          </p:nvSpPr>
          <p:spPr bwMode="auto">
            <a:xfrm>
              <a:off x="5308369" y="3056561"/>
              <a:ext cx="42030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7" name="Text Box 24"/>
            <p:cNvSpPr txBox="1">
              <a:spLocks noChangeArrowheads="1"/>
            </p:cNvSpPr>
            <p:nvPr/>
          </p:nvSpPr>
          <p:spPr bwMode="auto">
            <a:xfrm>
              <a:off x="6250487" y="4199561"/>
              <a:ext cx="43313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anose="02020603060505020304" pitchFamily="18" charset="0"/>
                  <a:sym typeface="Symbol" pitchFamily="18" charset="2"/>
                </a:rPr>
                <a:t>b</a:t>
              </a:r>
              <a:r>
                <a:rPr kumimoji="1" lang="en-US" altLang="zh-CN" sz="2400" b="1" dirty="0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9" name="Text Box 26"/>
            <p:cNvSpPr txBox="1">
              <a:spLocks noChangeArrowheads="1"/>
            </p:cNvSpPr>
            <p:nvPr/>
          </p:nvSpPr>
          <p:spPr bwMode="auto">
            <a:xfrm>
              <a:off x="8164012" y="2788976"/>
              <a:ext cx="39528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c</a:t>
              </a:r>
              <a:r>
                <a:rPr kumimoji="1" lang="en-US" altLang="zh-CN" sz="2400" b="1" dirty="0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91" name="Line 16"/>
          <p:cNvSpPr>
            <a:spLocks noChangeShapeType="1"/>
          </p:cNvSpPr>
          <p:nvPr/>
        </p:nvSpPr>
        <p:spPr bwMode="auto">
          <a:xfrm flipV="1">
            <a:off x="7241706" y="4902053"/>
            <a:ext cx="1491457" cy="8807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Line 39"/>
          <p:cNvSpPr>
            <a:spLocks noChangeShapeType="1"/>
          </p:cNvSpPr>
          <p:nvPr/>
        </p:nvSpPr>
        <p:spPr bwMode="auto">
          <a:xfrm flipV="1">
            <a:off x="7258350" y="3497580"/>
            <a:ext cx="0" cy="22783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93" name="Line 16"/>
          <p:cNvSpPr>
            <a:spLocks noChangeShapeType="1"/>
          </p:cNvSpPr>
          <p:nvPr/>
        </p:nvSpPr>
        <p:spPr bwMode="auto">
          <a:xfrm flipV="1">
            <a:off x="7256962" y="2425700"/>
            <a:ext cx="1445982" cy="108700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Line 39"/>
          <p:cNvSpPr>
            <a:spLocks noChangeShapeType="1"/>
          </p:cNvSpPr>
          <p:nvPr/>
        </p:nvSpPr>
        <p:spPr bwMode="auto">
          <a:xfrm flipV="1">
            <a:off x="8717233" y="2425700"/>
            <a:ext cx="0" cy="2484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99" name="Freeform 5"/>
          <p:cNvSpPr>
            <a:spLocks/>
          </p:cNvSpPr>
          <p:nvPr/>
        </p:nvSpPr>
        <p:spPr bwMode="auto">
          <a:xfrm>
            <a:off x="7137453" y="2414536"/>
            <a:ext cx="1574400" cy="992242"/>
          </a:xfrm>
          <a:custGeom>
            <a:avLst/>
            <a:gdLst>
              <a:gd name="T0" fmla="*/ 0 w 672"/>
              <a:gd name="T1" fmla="*/ 2147483647 h 399"/>
              <a:gd name="T2" fmla="*/ 2147483647 w 672"/>
              <a:gd name="T3" fmla="*/ 0 h 399"/>
              <a:gd name="T4" fmla="*/ 0 60000 65536"/>
              <a:gd name="T5" fmla="*/ 0 60000 65536"/>
              <a:gd name="T6" fmla="*/ 0 w 672"/>
              <a:gd name="T7" fmla="*/ 0 h 399"/>
              <a:gd name="T8" fmla="*/ 672 w 672"/>
              <a:gd name="T9" fmla="*/ 399 h 3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72" h="399">
                <a:moveTo>
                  <a:pt x="0" y="399"/>
                </a:moveTo>
                <a:lnTo>
                  <a:pt x="672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Freeform 5"/>
          <p:cNvSpPr>
            <a:spLocks/>
          </p:cNvSpPr>
          <p:nvPr/>
        </p:nvSpPr>
        <p:spPr bwMode="auto">
          <a:xfrm flipH="1">
            <a:off x="8709421" y="2413001"/>
            <a:ext cx="975700" cy="787146"/>
          </a:xfrm>
          <a:custGeom>
            <a:avLst/>
            <a:gdLst>
              <a:gd name="T0" fmla="*/ 0 w 672"/>
              <a:gd name="T1" fmla="*/ 2147483647 h 399"/>
              <a:gd name="T2" fmla="*/ 2147483647 w 672"/>
              <a:gd name="T3" fmla="*/ 0 h 399"/>
              <a:gd name="T4" fmla="*/ 0 60000 65536"/>
              <a:gd name="T5" fmla="*/ 0 60000 65536"/>
              <a:gd name="T6" fmla="*/ 0 w 672"/>
              <a:gd name="T7" fmla="*/ 0 h 399"/>
              <a:gd name="T8" fmla="*/ 672 w 672"/>
              <a:gd name="T9" fmla="*/ 399 h 3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72" h="399">
                <a:moveTo>
                  <a:pt x="0" y="399"/>
                </a:moveTo>
                <a:lnTo>
                  <a:pt x="672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9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9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9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9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80" grpId="0"/>
      <p:bldP spid="69657" grpId="0"/>
      <p:bldP spid="109597" grpId="0"/>
      <p:bldP spid="109605" grpId="0" autoUpdateAnimBg="0"/>
      <p:bldP spid="109606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88" grpId="0"/>
      <p:bldP spid="91" grpId="0" animBg="1"/>
      <p:bldP spid="92" grpId="0" animBg="1"/>
      <p:bldP spid="93" grpId="0" animBg="1"/>
      <p:bldP spid="95" grpId="0" animBg="1"/>
      <p:bldP spid="99" grpId="0" animBg="1"/>
      <p:bldP spid="10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Line 2"/>
          <p:cNvSpPr>
            <a:spLocks noChangeShapeType="1"/>
          </p:cNvSpPr>
          <p:nvPr/>
        </p:nvSpPr>
        <p:spPr bwMode="auto">
          <a:xfrm>
            <a:off x="6532959" y="2967435"/>
            <a:ext cx="0" cy="27844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0595" name="Line 3"/>
          <p:cNvSpPr>
            <a:spLocks noChangeShapeType="1"/>
          </p:cNvSpPr>
          <p:nvPr/>
        </p:nvSpPr>
        <p:spPr bwMode="auto">
          <a:xfrm flipV="1">
            <a:off x="5747148" y="2573735"/>
            <a:ext cx="1690687" cy="714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5509022" y="5450284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d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110597" name="Rectangle 5"/>
          <p:cNvSpPr>
            <a:spLocks noChangeArrowheads="1"/>
          </p:cNvSpPr>
          <p:nvPr/>
        </p:nvSpPr>
        <p:spPr bwMode="auto">
          <a:xfrm>
            <a:off x="7520384" y="5374084"/>
            <a:ext cx="1474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e</a:t>
            </a:r>
            <a:endParaRPr kumimoji="1" lang="en-US" altLang="zh-CN" sz="2400">
              <a:latin typeface="RomanS" pitchFamily="2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509023" y="3010297"/>
            <a:ext cx="257175" cy="2727325"/>
            <a:chOff x="1907" y="1584"/>
            <a:chExt cx="162" cy="1718"/>
          </a:xfrm>
        </p:grpSpPr>
        <p:sp>
          <p:nvSpPr>
            <p:cNvPr id="70700" name="Line 7"/>
            <p:cNvSpPr>
              <a:spLocks noChangeShapeType="1"/>
            </p:cNvSpPr>
            <p:nvPr/>
          </p:nvSpPr>
          <p:spPr bwMode="auto">
            <a:xfrm>
              <a:off x="2069" y="1759"/>
              <a:ext cx="0" cy="15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701" name="Rectangle 8"/>
            <p:cNvSpPr>
              <a:spLocks noChangeArrowheads="1"/>
            </p:cNvSpPr>
            <p:nvPr/>
          </p:nvSpPr>
          <p:spPr bwMode="auto">
            <a:xfrm>
              <a:off x="1907" y="1584"/>
              <a:ext cx="1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CommercialPi BT" pitchFamily="18" charset="2"/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7434659" y="2273697"/>
            <a:ext cx="520700" cy="3482975"/>
            <a:chOff x="3120" y="1120"/>
            <a:chExt cx="328" cy="2194"/>
          </a:xfrm>
        </p:grpSpPr>
        <p:sp>
          <p:nvSpPr>
            <p:cNvPr id="70698" name="Line 10"/>
            <p:cNvSpPr>
              <a:spLocks noChangeShapeType="1"/>
            </p:cNvSpPr>
            <p:nvPr/>
          </p:nvSpPr>
          <p:spPr bwMode="auto">
            <a:xfrm>
              <a:off x="3120" y="1301"/>
              <a:ext cx="2" cy="20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99" name="Rectangle 11"/>
            <p:cNvSpPr>
              <a:spLocks noChangeArrowheads="1"/>
            </p:cNvSpPr>
            <p:nvPr/>
          </p:nvSpPr>
          <p:spPr bwMode="auto">
            <a:xfrm>
              <a:off x="3190" y="1120"/>
              <a:ext cx="2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e</a:t>
              </a:r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CommercialPi BT" pitchFamily="18" charset="2"/>
              </a:endParaRP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623322" y="2967435"/>
            <a:ext cx="3668712" cy="1379537"/>
            <a:chOff x="1979" y="1557"/>
            <a:chExt cx="2311" cy="869"/>
          </a:xfrm>
        </p:grpSpPr>
        <p:sp>
          <p:nvSpPr>
            <p:cNvPr id="70695" name="Line 13"/>
            <p:cNvSpPr>
              <a:spLocks noChangeShapeType="1"/>
            </p:cNvSpPr>
            <p:nvPr/>
          </p:nvSpPr>
          <p:spPr bwMode="auto">
            <a:xfrm>
              <a:off x="1979" y="1557"/>
              <a:ext cx="23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96" name="Text Box 14"/>
            <p:cNvSpPr txBox="1">
              <a:spLocks noChangeArrowheads="1"/>
            </p:cNvSpPr>
            <p:nvPr/>
          </p:nvSpPr>
          <p:spPr bwMode="auto">
            <a:xfrm rot="16200000">
              <a:off x="3884" y="1911"/>
              <a:ext cx="312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ISOCPEUR" pitchFamily="34" charset="0"/>
                </a:rPr>
                <a:t>10</a:t>
              </a:r>
              <a:endParaRPr kumimoji="1" lang="en-US" altLang="zh-CN" sz="2400" b="1">
                <a:latin typeface="ISOCPEUR" pitchFamily="34" charset="0"/>
              </a:endParaRPr>
            </a:p>
          </p:txBody>
        </p:sp>
        <p:sp>
          <p:nvSpPr>
            <p:cNvPr id="70697" name="Line 15"/>
            <p:cNvSpPr>
              <a:spLocks noChangeShapeType="1"/>
            </p:cNvSpPr>
            <p:nvPr/>
          </p:nvSpPr>
          <p:spPr bwMode="auto">
            <a:xfrm>
              <a:off x="4168" y="1557"/>
              <a:ext cx="0" cy="8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5747148" y="4346971"/>
            <a:ext cx="3544887" cy="1404938"/>
            <a:chOff x="2057" y="2426"/>
            <a:chExt cx="2233" cy="885"/>
          </a:xfrm>
        </p:grpSpPr>
        <p:sp>
          <p:nvSpPr>
            <p:cNvPr id="70692" name="Line 17"/>
            <p:cNvSpPr>
              <a:spLocks noChangeShapeType="1"/>
            </p:cNvSpPr>
            <p:nvPr/>
          </p:nvSpPr>
          <p:spPr bwMode="auto">
            <a:xfrm>
              <a:off x="2057" y="3300"/>
              <a:ext cx="22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93" name="Text Box 18"/>
            <p:cNvSpPr txBox="1">
              <a:spLocks noChangeArrowheads="1"/>
            </p:cNvSpPr>
            <p:nvPr/>
          </p:nvSpPr>
          <p:spPr bwMode="auto">
            <a:xfrm rot="16200000">
              <a:off x="3880" y="2760"/>
              <a:ext cx="312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ISOCPEUR" pitchFamily="34" charset="0"/>
                </a:rPr>
                <a:t>10</a:t>
              </a:r>
              <a:endParaRPr kumimoji="1" lang="en-US" altLang="zh-CN" sz="2400" b="1">
                <a:latin typeface="ISOCPEUR" pitchFamily="34" charset="0"/>
              </a:endParaRPr>
            </a:p>
          </p:txBody>
        </p:sp>
        <p:sp>
          <p:nvSpPr>
            <p:cNvPr id="70694" name="Line 19"/>
            <p:cNvSpPr>
              <a:spLocks noChangeShapeType="1"/>
            </p:cNvSpPr>
            <p:nvPr/>
          </p:nvSpPr>
          <p:spPr bwMode="auto">
            <a:xfrm>
              <a:off x="4168" y="2426"/>
              <a:ext cx="0" cy="8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6361509" y="2557860"/>
            <a:ext cx="331788" cy="517525"/>
            <a:chOff x="2444" y="1299"/>
            <a:chExt cx="209" cy="326"/>
          </a:xfrm>
        </p:grpSpPr>
        <p:sp>
          <p:nvSpPr>
            <p:cNvPr id="70690" name="Rectangle 21"/>
            <p:cNvSpPr>
              <a:spLocks noChangeArrowheads="1"/>
            </p:cNvSpPr>
            <p:nvPr/>
          </p:nvSpPr>
          <p:spPr bwMode="auto">
            <a:xfrm>
              <a:off x="2444" y="1299"/>
              <a:ext cx="20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m</a:t>
              </a:r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CommercialPi BT" pitchFamily="18" charset="2"/>
              </a:endParaRPr>
            </a:p>
          </p:txBody>
        </p:sp>
        <p:sp>
          <p:nvSpPr>
            <p:cNvPr id="70691" name="Text Box 22"/>
            <p:cNvSpPr txBox="1">
              <a:spLocks noChangeArrowheads="1"/>
            </p:cNvSpPr>
            <p:nvPr/>
          </p:nvSpPr>
          <p:spPr bwMode="auto">
            <a:xfrm>
              <a:off x="2457" y="1471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>
                  <a:solidFill>
                    <a:srgbClr val="FF6600"/>
                  </a:solidFill>
                  <a:latin typeface="RomanS" pitchFamily="2" charset="0"/>
                </a:rPr>
                <a:t>●</a:t>
              </a:r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6364684" y="5605853"/>
            <a:ext cx="323850" cy="447674"/>
            <a:chOff x="2446" y="3219"/>
            <a:chExt cx="204" cy="282"/>
          </a:xfrm>
        </p:grpSpPr>
        <p:sp>
          <p:nvSpPr>
            <p:cNvPr id="70688" name="Rectangle 24"/>
            <p:cNvSpPr>
              <a:spLocks noChangeArrowheads="1"/>
            </p:cNvSpPr>
            <p:nvPr/>
          </p:nvSpPr>
          <p:spPr bwMode="auto">
            <a:xfrm>
              <a:off x="2446" y="3268"/>
              <a:ext cx="1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m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70689" name="Text Box 25"/>
            <p:cNvSpPr txBox="1">
              <a:spLocks noChangeArrowheads="1"/>
            </p:cNvSpPr>
            <p:nvPr/>
          </p:nvSpPr>
          <p:spPr bwMode="auto">
            <a:xfrm>
              <a:off x="2454" y="3219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000" dirty="0">
                  <a:solidFill>
                    <a:srgbClr val="FF6600"/>
                  </a:solidFill>
                  <a:latin typeface="RomanS" pitchFamily="2" charset="0"/>
                </a:rPr>
                <a:t>●</a:t>
              </a:r>
            </a:p>
          </p:txBody>
        </p:sp>
      </p:grpSp>
      <p:sp>
        <p:nvSpPr>
          <p:cNvPr id="70668" name="Text Box 26"/>
          <p:cNvSpPr txBox="1">
            <a:spLocks noChangeArrowheads="1"/>
          </p:cNvSpPr>
          <p:nvPr/>
        </p:nvSpPr>
        <p:spPr bwMode="auto">
          <a:xfrm>
            <a:off x="1378294" y="940623"/>
            <a:ext cx="4289426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例</a:t>
            </a:r>
            <a:r>
              <a:rPr kumimoji="1" lang="en-US" altLang="zh-CN" sz="2400" b="1" dirty="0">
                <a:latin typeface="宋体" pitchFamily="2" charset="-122"/>
              </a:rPr>
              <a:t>3</a:t>
            </a:r>
            <a:r>
              <a:rPr kumimoji="1" lang="zh-CN" altLang="en-US" sz="2400" b="1" dirty="0">
                <a:latin typeface="宋体" pitchFamily="2" charset="-122"/>
              </a:rPr>
              <a:t>：在△</a:t>
            </a:r>
            <a:r>
              <a:rPr kumimoji="1" lang="en-US" altLang="zh-CN" sz="2400" b="1" dirty="0">
                <a:latin typeface="宋体" pitchFamily="2" charset="-122"/>
              </a:rPr>
              <a:t>ABC</a:t>
            </a:r>
            <a:r>
              <a:rPr kumimoji="1" lang="zh-CN" altLang="en-US" sz="2400" b="1" dirty="0">
                <a:latin typeface="宋体" pitchFamily="2" charset="-122"/>
              </a:rPr>
              <a:t>内取一点</a:t>
            </a:r>
            <a:r>
              <a:rPr kumimoji="1" lang="en-US" altLang="zh-CN" sz="2400" b="1" dirty="0">
                <a:latin typeface="宋体" pitchFamily="2" charset="-122"/>
              </a:rPr>
              <a:t>M</a:t>
            </a:r>
            <a:r>
              <a:rPr kumimoji="1" lang="zh-CN" altLang="en-US" sz="2400" b="1" dirty="0">
                <a:latin typeface="宋体" pitchFamily="2" charset="-122"/>
              </a:rPr>
              <a:t>，并使其到</a:t>
            </a:r>
            <a:r>
              <a:rPr kumimoji="1" lang="en-US" altLang="zh-CN" sz="2400" b="1" dirty="0">
                <a:latin typeface="宋体" pitchFamily="2" charset="-122"/>
              </a:rPr>
              <a:t>H</a:t>
            </a:r>
            <a:r>
              <a:rPr kumimoji="1" lang="zh-CN" altLang="en-US" sz="2400" b="1" dirty="0">
                <a:latin typeface="宋体" pitchFamily="2" charset="-122"/>
              </a:rPr>
              <a:t>面</a:t>
            </a:r>
            <a:r>
              <a:rPr kumimoji="1" lang="en-US" altLang="zh-CN" sz="2400" b="1" dirty="0">
                <a:latin typeface="宋体" pitchFamily="2" charset="-122"/>
              </a:rPr>
              <a:t>V</a:t>
            </a:r>
            <a:r>
              <a:rPr kumimoji="1" lang="zh-CN" altLang="en-US" sz="2400" b="1" dirty="0">
                <a:latin typeface="宋体" pitchFamily="2" charset="-122"/>
              </a:rPr>
              <a:t>面的距离均为</a:t>
            </a:r>
            <a:r>
              <a:rPr kumimoji="1" lang="en-US" altLang="zh-CN" sz="2400" b="1" dirty="0">
                <a:latin typeface="宋体" pitchFamily="2" charset="-122"/>
              </a:rPr>
              <a:t>10mm</a:t>
            </a:r>
            <a:r>
              <a:rPr kumimoji="1" lang="zh-CN" altLang="en-US" sz="2400" b="1" dirty="0">
                <a:latin typeface="宋体" pitchFamily="2" charset="-122"/>
              </a:rPr>
              <a:t>。</a:t>
            </a:r>
          </a:p>
        </p:txBody>
      </p:sp>
      <p:grpSp>
        <p:nvGrpSpPr>
          <p:cNvPr id="70669" name="Group 27"/>
          <p:cNvGrpSpPr>
            <a:grpSpLocks/>
          </p:cNvGrpSpPr>
          <p:nvPr/>
        </p:nvGrpSpPr>
        <p:grpSpPr bwMode="auto">
          <a:xfrm>
            <a:off x="4581923" y="1484709"/>
            <a:ext cx="4973637" cy="5405438"/>
            <a:chOff x="1323" y="623"/>
            <a:chExt cx="3133" cy="3405"/>
          </a:xfrm>
        </p:grpSpPr>
        <p:sp>
          <p:nvSpPr>
            <p:cNvPr id="70670" name="Line 28"/>
            <p:cNvSpPr>
              <a:spLocks noChangeShapeType="1"/>
            </p:cNvSpPr>
            <p:nvPr/>
          </p:nvSpPr>
          <p:spPr bwMode="auto">
            <a:xfrm>
              <a:off x="2778" y="2691"/>
              <a:ext cx="683" cy="1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71" name="Line 29"/>
            <p:cNvSpPr>
              <a:spLocks noChangeShapeType="1"/>
            </p:cNvSpPr>
            <p:nvPr/>
          </p:nvSpPr>
          <p:spPr bwMode="auto">
            <a:xfrm>
              <a:off x="1688" y="3631"/>
              <a:ext cx="1773" cy="3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72" name="Line 30"/>
            <p:cNvSpPr>
              <a:spLocks noChangeShapeType="1"/>
            </p:cNvSpPr>
            <p:nvPr/>
          </p:nvSpPr>
          <p:spPr bwMode="auto">
            <a:xfrm flipH="1">
              <a:off x="1688" y="2691"/>
              <a:ext cx="1090" cy="9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73" name="Line 31"/>
            <p:cNvSpPr>
              <a:spLocks noChangeShapeType="1"/>
            </p:cNvSpPr>
            <p:nvPr/>
          </p:nvSpPr>
          <p:spPr bwMode="auto">
            <a:xfrm>
              <a:off x="2778" y="820"/>
              <a:ext cx="683" cy="9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74" name="Line 32"/>
            <p:cNvSpPr>
              <a:spLocks noChangeShapeType="1"/>
            </p:cNvSpPr>
            <p:nvPr/>
          </p:nvSpPr>
          <p:spPr bwMode="auto">
            <a:xfrm flipV="1">
              <a:off x="1676" y="1759"/>
              <a:ext cx="1785" cy="48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75" name="Line 33"/>
            <p:cNvSpPr>
              <a:spLocks noChangeShapeType="1"/>
            </p:cNvSpPr>
            <p:nvPr/>
          </p:nvSpPr>
          <p:spPr bwMode="auto">
            <a:xfrm flipH="1">
              <a:off x="1676" y="820"/>
              <a:ext cx="1102" cy="14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76" name="Line 34"/>
            <p:cNvSpPr>
              <a:spLocks noChangeShapeType="1"/>
            </p:cNvSpPr>
            <p:nvPr/>
          </p:nvSpPr>
          <p:spPr bwMode="auto">
            <a:xfrm>
              <a:off x="3461" y="1759"/>
              <a:ext cx="0" cy="21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77" name="Line 35"/>
            <p:cNvSpPr>
              <a:spLocks noChangeShapeType="1"/>
            </p:cNvSpPr>
            <p:nvPr/>
          </p:nvSpPr>
          <p:spPr bwMode="auto">
            <a:xfrm>
              <a:off x="2778" y="820"/>
              <a:ext cx="0" cy="18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78" name="Line 36"/>
            <p:cNvSpPr>
              <a:spLocks noChangeShapeType="1"/>
            </p:cNvSpPr>
            <p:nvPr/>
          </p:nvSpPr>
          <p:spPr bwMode="auto">
            <a:xfrm>
              <a:off x="1688" y="2248"/>
              <a:ext cx="0" cy="13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79" name="Line 37"/>
            <p:cNvSpPr>
              <a:spLocks noChangeShapeType="1"/>
            </p:cNvSpPr>
            <p:nvPr/>
          </p:nvSpPr>
          <p:spPr bwMode="auto">
            <a:xfrm>
              <a:off x="1509" y="2426"/>
              <a:ext cx="2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680" name="Rectangle 38"/>
            <p:cNvSpPr>
              <a:spLocks noChangeArrowheads="1"/>
            </p:cNvSpPr>
            <p:nvPr/>
          </p:nvSpPr>
          <p:spPr bwMode="auto">
            <a:xfrm>
              <a:off x="1550" y="349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70681" name="Rectangle 39"/>
            <p:cNvSpPr>
              <a:spLocks noChangeArrowheads="1"/>
            </p:cNvSpPr>
            <p:nvPr/>
          </p:nvSpPr>
          <p:spPr bwMode="auto">
            <a:xfrm>
              <a:off x="3530" y="3795"/>
              <a:ext cx="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70682" name="Rectangle 40"/>
            <p:cNvSpPr>
              <a:spLocks noChangeArrowheads="1"/>
            </p:cNvSpPr>
            <p:nvPr/>
          </p:nvSpPr>
          <p:spPr bwMode="auto">
            <a:xfrm>
              <a:off x="1323" y="2300"/>
              <a:ext cx="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b="1">
                  <a:latin typeface="宋体" pitchFamily="2" charset="-122"/>
                </a:rPr>
                <a:t>X</a:t>
              </a:r>
              <a:endParaRPr kumimoji="1" lang="en-US" altLang="zh-CN" sz="2400" b="1">
                <a:latin typeface="RomanS" pitchFamily="2" charset="0"/>
              </a:endParaRPr>
            </a:p>
          </p:txBody>
        </p:sp>
        <p:sp>
          <p:nvSpPr>
            <p:cNvPr id="70683" name="Rectangle 41"/>
            <p:cNvSpPr>
              <a:spLocks noChangeArrowheads="1"/>
            </p:cNvSpPr>
            <p:nvPr/>
          </p:nvSpPr>
          <p:spPr bwMode="auto">
            <a:xfrm>
              <a:off x="1509" y="2106"/>
              <a:ext cx="1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CommercialPi BT" pitchFamily="18" charset="2"/>
              </a:endParaRPr>
            </a:p>
          </p:txBody>
        </p:sp>
        <p:sp>
          <p:nvSpPr>
            <p:cNvPr id="70684" name="Rectangle 42"/>
            <p:cNvSpPr>
              <a:spLocks noChangeArrowheads="1"/>
            </p:cNvSpPr>
            <p:nvPr/>
          </p:nvSpPr>
          <p:spPr bwMode="auto">
            <a:xfrm>
              <a:off x="3512" y="1608"/>
              <a:ext cx="1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CommercialPi BT" pitchFamily="18" charset="2"/>
              </a:endParaRPr>
            </a:p>
          </p:txBody>
        </p:sp>
        <p:sp>
          <p:nvSpPr>
            <p:cNvPr id="70685" name="Rectangle 43"/>
            <p:cNvSpPr>
              <a:spLocks noChangeArrowheads="1"/>
            </p:cNvSpPr>
            <p:nvPr/>
          </p:nvSpPr>
          <p:spPr bwMode="auto">
            <a:xfrm>
              <a:off x="2836" y="2520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70686" name="Rectangle 44"/>
            <p:cNvSpPr>
              <a:spLocks noChangeArrowheads="1"/>
            </p:cNvSpPr>
            <p:nvPr/>
          </p:nvSpPr>
          <p:spPr bwMode="auto">
            <a:xfrm>
              <a:off x="2685" y="623"/>
              <a:ext cx="1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70687" name="Rectangle 45"/>
            <p:cNvSpPr>
              <a:spLocks noChangeArrowheads="1"/>
            </p:cNvSpPr>
            <p:nvPr/>
          </p:nvSpPr>
          <p:spPr bwMode="auto">
            <a:xfrm>
              <a:off x="4358" y="2301"/>
              <a:ext cx="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kumimoji="1" lang="en-US" altLang="zh-CN" sz="2400" b="1">
                  <a:latin typeface="宋体" pitchFamily="2" charset="-122"/>
                </a:rPr>
                <a:t>O</a:t>
              </a:r>
              <a:endParaRPr kumimoji="1" lang="en-US" altLang="zh-CN" sz="2400" b="1">
                <a:latin typeface="RomanS" pitchFamily="2" charset="0"/>
              </a:endParaRPr>
            </a:p>
          </p:txBody>
        </p:sp>
      </p:grpSp>
      <p:sp>
        <p:nvSpPr>
          <p:cNvPr id="48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animBg="1"/>
      <p:bldP spid="110595" grpId="0" animBg="1"/>
      <p:bldP spid="110596" grpId="0" autoUpdateAnimBg="0"/>
      <p:bldP spid="110597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1343472" y="1128846"/>
            <a:ext cx="5862072" cy="52322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800" b="1" dirty="0">
                <a:latin typeface="黑体" pitchFamily="49" charset="-122"/>
                <a:ea typeface="黑体" pitchFamily="49" charset="-122"/>
              </a:rPr>
              <a:t>5 </a:t>
            </a:r>
            <a:r>
              <a:rPr kumimoji="1" lang="zh-CN" altLang="zh-CN" sz="2800" b="1" dirty="0">
                <a:latin typeface="Times New Roman" pitchFamily="18" charset="0"/>
                <a:ea typeface="黑体" pitchFamily="49" charset="-122"/>
              </a:rPr>
              <a:t>直线与平面及两平面的相对位置</a:t>
            </a:r>
            <a:endParaRPr kumimoji="1" lang="zh-CN" altLang="en-US" sz="2800" b="1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2312677" y="2041684"/>
            <a:ext cx="559480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</a:rPr>
              <a:t>相对位置包括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平行</a:t>
            </a:r>
            <a:r>
              <a:rPr kumimoji="1" lang="zh-CN" altLang="en-US" sz="2800" b="1" dirty="0">
                <a:latin typeface="Times New Roman" pitchFamily="18" charset="0"/>
              </a:rPr>
              <a:t>、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相交</a:t>
            </a:r>
            <a:r>
              <a:rPr kumimoji="1" lang="zh-CN" altLang="en-US" sz="2800" b="1" dirty="0">
                <a:latin typeface="Times New Roman" pitchFamily="18" charset="0"/>
              </a:rPr>
              <a:t>和</a:t>
            </a:r>
            <a:r>
              <a:rPr kumimoji="1" lang="zh-CN" altLang="en-US" sz="2800" b="1" dirty="0">
                <a:solidFill>
                  <a:srgbClr val="333399"/>
                </a:solidFill>
                <a:latin typeface="Times New Roman" pitchFamily="18" charset="0"/>
              </a:rPr>
              <a:t>垂直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pitchFamily="18" charset="0"/>
              </a:rPr>
              <a:t>。</a:t>
            </a:r>
            <a:endParaRPr kumimoji="1" lang="zh-CN" altLang="en-US" sz="2800" b="1" dirty="0">
              <a:latin typeface="Times New Roman" pitchFamily="18" charset="0"/>
            </a:endParaRP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2207569" y="2877566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黑体" pitchFamily="49" charset="-122"/>
                <a:ea typeface="黑体" pitchFamily="49" charset="-122"/>
              </a:rPr>
              <a:t>一、平行问题  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4995512" y="2728190"/>
            <a:ext cx="23503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直线与平面平行</a:t>
            </a:r>
          </a:p>
        </p:txBody>
      </p:sp>
      <p:sp>
        <p:nvSpPr>
          <p:cNvPr id="111622" name="Text Box 6"/>
          <p:cNvSpPr txBox="1">
            <a:spLocks noChangeArrowheads="1"/>
          </p:cNvSpPr>
          <p:nvPr/>
        </p:nvSpPr>
        <p:spPr bwMode="auto">
          <a:xfrm>
            <a:off x="4918568" y="3399384"/>
            <a:ext cx="24272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003399"/>
                </a:solidFill>
                <a:latin typeface="Times New Roman" pitchFamily="18" charset="0"/>
              </a:rPr>
              <a:t> </a:t>
            </a:r>
            <a:r>
              <a:rPr kumimoji="1"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平面与平面平行</a:t>
            </a:r>
          </a:p>
        </p:txBody>
      </p:sp>
      <p:sp>
        <p:nvSpPr>
          <p:cNvPr id="111626" name="Text Box 10"/>
          <p:cNvSpPr txBox="1">
            <a:spLocks noChangeArrowheads="1"/>
          </p:cNvSpPr>
          <p:nvPr/>
        </p:nvSpPr>
        <p:spPr bwMode="auto">
          <a:xfrm>
            <a:off x="2098914" y="3975448"/>
            <a:ext cx="27366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⒈ </a:t>
            </a:r>
            <a:r>
              <a:rPr kumimoji="1" lang="zh-CN" altLang="en-US" sz="2400" b="1" dirty="0">
                <a:latin typeface="Times New Roman" pitchFamily="18" charset="0"/>
              </a:rPr>
              <a:t>直线与平面平行</a:t>
            </a:r>
            <a:endParaRPr kumimoji="1" lang="zh-CN" altLang="en-US" sz="2400" b="1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639616" y="4595320"/>
            <a:ext cx="7560568" cy="1627188"/>
            <a:chOff x="384" y="3038"/>
            <a:chExt cx="4944" cy="1025"/>
          </a:xfrm>
        </p:grpSpPr>
        <p:sp>
          <p:nvSpPr>
            <p:cNvPr id="71690" name="AutoShape 12"/>
            <p:cNvSpPr>
              <a:spLocks noChangeArrowheads="1"/>
            </p:cNvSpPr>
            <p:nvPr/>
          </p:nvSpPr>
          <p:spPr bwMode="auto">
            <a:xfrm flipH="1">
              <a:off x="384" y="3038"/>
              <a:ext cx="4944" cy="1025"/>
            </a:xfrm>
            <a:prstGeom prst="horizontalScroll">
              <a:avLst>
                <a:gd name="adj" fmla="val 12500"/>
              </a:avLst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691" name="Text Box 13"/>
            <p:cNvSpPr txBox="1">
              <a:spLocks noChangeArrowheads="1"/>
            </p:cNvSpPr>
            <p:nvPr/>
          </p:nvSpPr>
          <p:spPr bwMode="auto">
            <a:xfrm>
              <a:off x="656" y="3247"/>
              <a:ext cx="4330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kumimoji="1" lang="en-US" altLang="zh-CN" sz="2800" b="1" dirty="0">
                  <a:solidFill>
                    <a:srgbClr val="CC0000"/>
                  </a:solidFill>
                  <a:latin typeface="宋体" pitchFamily="2" charset="-122"/>
                </a:rPr>
                <a:t>    </a:t>
              </a:r>
              <a:r>
                <a:rPr kumimoji="1" lang="zh-CN" altLang="en-US" sz="2800" b="1" dirty="0">
                  <a:solidFill>
                    <a:srgbClr val="CC0000"/>
                  </a:solidFill>
                  <a:latin typeface="Times New Roman" pitchFamily="18" charset="0"/>
                </a:rPr>
                <a:t>若平面外的一直线平行于平面内的某一直线，则该直线与该平面平行。</a:t>
              </a:r>
            </a:p>
          </p:txBody>
        </p:sp>
      </p:grpSp>
      <p:sp>
        <p:nvSpPr>
          <p:cNvPr id="4" name="左大括号 3"/>
          <p:cNvSpPr/>
          <p:nvPr/>
        </p:nvSpPr>
        <p:spPr>
          <a:xfrm>
            <a:off x="4774551" y="2815514"/>
            <a:ext cx="144016" cy="902026"/>
          </a:xfrm>
          <a:prstGeom prst="leftBrace">
            <a:avLst>
              <a:gd name="adj1" fmla="val 62634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75"/>
                                        <p:tgtEl>
                                          <p:spTgt spid="111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"/>
                                        <p:tgtEl>
                                          <p:spTgt spid="111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11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autoUpdateAnimBg="0"/>
      <p:bldP spid="111620" grpId="0" autoUpdateAnimBg="0"/>
      <p:bldP spid="111621" grpId="0" build="p" autoUpdateAnimBg="0"/>
      <p:bldP spid="111622" grpId="0" build="p" autoUpdateAnimBg="0"/>
      <p:bldP spid="111626" grpId="0" autoUpdateAnimBg="0"/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Line 2"/>
          <p:cNvSpPr>
            <a:spLocks noChangeShapeType="1"/>
          </p:cNvSpPr>
          <p:nvPr/>
        </p:nvSpPr>
        <p:spPr bwMode="auto">
          <a:xfrm>
            <a:off x="6448425" y="3436838"/>
            <a:ext cx="0" cy="1935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643" name="Freeform 3"/>
          <p:cNvSpPr>
            <a:spLocks/>
          </p:cNvSpPr>
          <p:nvPr/>
        </p:nvSpPr>
        <p:spPr bwMode="auto">
          <a:xfrm>
            <a:off x="6434138" y="4881090"/>
            <a:ext cx="1574801" cy="492126"/>
          </a:xfrm>
          <a:custGeom>
            <a:avLst/>
            <a:gdLst>
              <a:gd name="T0" fmla="*/ 0 w 770"/>
              <a:gd name="T1" fmla="*/ 2147483647 h 252"/>
              <a:gd name="T2" fmla="*/ 2147483647 w 770"/>
              <a:gd name="T3" fmla="*/ 0 h 252"/>
              <a:gd name="T4" fmla="*/ 0 60000 65536"/>
              <a:gd name="T5" fmla="*/ 0 60000 65536"/>
              <a:gd name="T6" fmla="*/ 0 w 770"/>
              <a:gd name="T7" fmla="*/ 0 h 252"/>
              <a:gd name="T8" fmla="*/ 770 w 770"/>
              <a:gd name="T9" fmla="*/ 252 h 2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70" h="252">
                <a:moveTo>
                  <a:pt x="0" y="252"/>
                </a:moveTo>
                <a:lnTo>
                  <a:pt x="770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2644" name="Freeform 4"/>
          <p:cNvSpPr>
            <a:spLocks/>
          </p:cNvSpPr>
          <p:nvPr/>
        </p:nvSpPr>
        <p:spPr bwMode="auto">
          <a:xfrm>
            <a:off x="3667126" y="2625626"/>
            <a:ext cx="1763713" cy="868363"/>
          </a:xfrm>
          <a:custGeom>
            <a:avLst/>
            <a:gdLst>
              <a:gd name="T0" fmla="*/ 0 w 884"/>
              <a:gd name="T1" fmla="*/ 2147483647 h 435"/>
              <a:gd name="T2" fmla="*/ 2147483647 w 884"/>
              <a:gd name="T3" fmla="*/ 0 h 435"/>
              <a:gd name="T4" fmla="*/ 0 60000 65536"/>
              <a:gd name="T5" fmla="*/ 0 60000 65536"/>
              <a:gd name="T6" fmla="*/ 0 w 884"/>
              <a:gd name="T7" fmla="*/ 0 h 435"/>
              <a:gd name="T8" fmla="*/ 884 w 884"/>
              <a:gd name="T9" fmla="*/ 435 h 43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84" h="435">
                <a:moveTo>
                  <a:pt x="0" y="435"/>
                </a:moveTo>
                <a:lnTo>
                  <a:pt x="884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5" name="Freeform 5"/>
          <p:cNvSpPr>
            <a:spLocks/>
          </p:cNvSpPr>
          <p:nvPr/>
        </p:nvSpPr>
        <p:spPr bwMode="auto">
          <a:xfrm>
            <a:off x="3667126" y="4879876"/>
            <a:ext cx="1763713" cy="530225"/>
          </a:xfrm>
          <a:custGeom>
            <a:avLst/>
            <a:gdLst>
              <a:gd name="T0" fmla="*/ 0 w 884"/>
              <a:gd name="T1" fmla="*/ 2147483647 h 266"/>
              <a:gd name="T2" fmla="*/ 2147483647 w 884"/>
              <a:gd name="T3" fmla="*/ 0 h 266"/>
              <a:gd name="T4" fmla="*/ 0 60000 65536"/>
              <a:gd name="T5" fmla="*/ 0 60000 65536"/>
              <a:gd name="T6" fmla="*/ 0 w 884"/>
              <a:gd name="T7" fmla="*/ 0 h 266"/>
              <a:gd name="T8" fmla="*/ 884 w 884"/>
              <a:gd name="T9" fmla="*/ 266 h 2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84" h="266">
                <a:moveTo>
                  <a:pt x="0" y="266"/>
                </a:moveTo>
                <a:lnTo>
                  <a:pt x="884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646" name="Freeform 6"/>
          <p:cNvSpPr>
            <a:spLocks/>
          </p:cNvSpPr>
          <p:nvPr/>
        </p:nvSpPr>
        <p:spPr bwMode="auto">
          <a:xfrm>
            <a:off x="6457950" y="4870351"/>
            <a:ext cx="1498600" cy="492125"/>
          </a:xfrm>
          <a:custGeom>
            <a:avLst/>
            <a:gdLst>
              <a:gd name="T0" fmla="*/ 0 w 751"/>
              <a:gd name="T1" fmla="*/ 2147483647 h 247"/>
              <a:gd name="T2" fmla="*/ 2147483647 w 751"/>
              <a:gd name="T3" fmla="*/ 0 h 247"/>
              <a:gd name="T4" fmla="*/ 0 60000 65536"/>
              <a:gd name="T5" fmla="*/ 0 60000 65536"/>
              <a:gd name="T6" fmla="*/ 0 w 751"/>
              <a:gd name="T7" fmla="*/ 0 h 247"/>
              <a:gd name="T8" fmla="*/ 751 w 751"/>
              <a:gd name="T9" fmla="*/ 247 h 24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51" h="247">
                <a:moveTo>
                  <a:pt x="0" y="247"/>
                </a:moveTo>
                <a:lnTo>
                  <a:pt x="751" y="0"/>
                </a:lnTo>
              </a:path>
            </a:pathLst>
          </a:custGeom>
          <a:noFill/>
          <a:ln w="38100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434138" y="2355751"/>
            <a:ext cx="1839912" cy="1096963"/>
            <a:chOff x="4279" y="270"/>
            <a:chExt cx="922" cy="549"/>
          </a:xfrm>
        </p:grpSpPr>
        <p:sp>
          <p:nvSpPr>
            <p:cNvPr id="72749" name="Freeform 8"/>
            <p:cNvSpPr>
              <a:spLocks/>
            </p:cNvSpPr>
            <p:nvPr/>
          </p:nvSpPr>
          <p:spPr bwMode="auto">
            <a:xfrm>
              <a:off x="4279" y="466"/>
              <a:ext cx="762" cy="353"/>
            </a:xfrm>
            <a:custGeom>
              <a:avLst/>
              <a:gdLst>
                <a:gd name="T0" fmla="*/ 0 w 762"/>
                <a:gd name="T1" fmla="*/ 353 h 353"/>
                <a:gd name="T2" fmla="*/ 762 w 762"/>
                <a:gd name="T3" fmla="*/ 0 h 353"/>
                <a:gd name="T4" fmla="*/ 0 60000 65536"/>
                <a:gd name="T5" fmla="*/ 0 60000 65536"/>
                <a:gd name="T6" fmla="*/ 0 w 762"/>
                <a:gd name="T7" fmla="*/ 0 h 353"/>
                <a:gd name="T8" fmla="*/ 762 w 762"/>
                <a:gd name="T9" fmla="*/ 353 h 35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62" h="353">
                  <a:moveTo>
                    <a:pt x="0" y="353"/>
                  </a:moveTo>
                  <a:lnTo>
                    <a:pt x="762" y="0"/>
                  </a:lnTo>
                </a:path>
              </a:pathLst>
            </a:custGeom>
            <a:noFill/>
            <a:ln w="38100">
              <a:solidFill>
                <a:srgbClr val="FF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750" name="Text Box 9"/>
            <p:cNvSpPr txBox="1">
              <a:spLocks noChangeArrowheads="1"/>
            </p:cNvSpPr>
            <p:nvPr/>
          </p:nvSpPr>
          <p:spPr bwMode="auto">
            <a:xfrm>
              <a:off x="4988" y="270"/>
              <a:ext cx="213" cy="2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n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72712" name="Line 10"/>
          <p:cNvSpPr>
            <a:spLocks noChangeShapeType="1"/>
          </p:cNvSpPr>
          <p:nvPr/>
        </p:nvSpPr>
        <p:spPr bwMode="auto">
          <a:xfrm flipV="1">
            <a:off x="3667125" y="2152550"/>
            <a:ext cx="1339850" cy="1341438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3" name="Line 11"/>
          <p:cNvSpPr>
            <a:spLocks noChangeShapeType="1"/>
          </p:cNvSpPr>
          <p:nvPr/>
        </p:nvSpPr>
        <p:spPr bwMode="auto">
          <a:xfrm>
            <a:off x="5006975" y="2152550"/>
            <a:ext cx="958850" cy="10541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4" name="Line 12"/>
          <p:cNvSpPr>
            <a:spLocks noChangeShapeType="1"/>
          </p:cNvSpPr>
          <p:nvPr/>
        </p:nvSpPr>
        <p:spPr bwMode="auto">
          <a:xfrm flipV="1">
            <a:off x="3667125" y="3206650"/>
            <a:ext cx="2298700" cy="287338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5" name="Line 13"/>
          <p:cNvSpPr>
            <a:spLocks noChangeShapeType="1"/>
          </p:cNvSpPr>
          <p:nvPr/>
        </p:nvSpPr>
        <p:spPr bwMode="auto">
          <a:xfrm>
            <a:off x="3667125" y="3493988"/>
            <a:ext cx="0" cy="19161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6" name="Line 14"/>
          <p:cNvSpPr>
            <a:spLocks noChangeShapeType="1"/>
          </p:cNvSpPr>
          <p:nvPr/>
        </p:nvSpPr>
        <p:spPr bwMode="auto">
          <a:xfrm>
            <a:off x="5006975" y="2152550"/>
            <a:ext cx="0" cy="2108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7" name="Line 15"/>
          <p:cNvSpPr>
            <a:spLocks noChangeShapeType="1"/>
          </p:cNvSpPr>
          <p:nvPr/>
        </p:nvSpPr>
        <p:spPr bwMode="auto">
          <a:xfrm>
            <a:off x="5965825" y="3206650"/>
            <a:ext cx="0" cy="24907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8" name="Line 16"/>
          <p:cNvSpPr>
            <a:spLocks noChangeShapeType="1"/>
          </p:cNvSpPr>
          <p:nvPr/>
        </p:nvSpPr>
        <p:spPr bwMode="auto">
          <a:xfrm flipV="1">
            <a:off x="3667125" y="4260750"/>
            <a:ext cx="1339850" cy="114935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19" name="Line 17"/>
          <p:cNvSpPr>
            <a:spLocks noChangeShapeType="1"/>
          </p:cNvSpPr>
          <p:nvPr/>
        </p:nvSpPr>
        <p:spPr bwMode="auto">
          <a:xfrm>
            <a:off x="5006975" y="4260750"/>
            <a:ext cx="958850" cy="1436688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0" name="Line 18"/>
          <p:cNvSpPr>
            <a:spLocks noChangeShapeType="1"/>
          </p:cNvSpPr>
          <p:nvPr/>
        </p:nvSpPr>
        <p:spPr bwMode="auto">
          <a:xfrm>
            <a:off x="3667125" y="5410100"/>
            <a:ext cx="2298700" cy="287338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1" name="Line 19"/>
          <p:cNvSpPr>
            <a:spLocks noChangeShapeType="1"/>
          </p:cNvSpPr>
          <p:nvPr/>
        </p:nvSpPr>
        <p:spPr bwMode="auto">
          <a:xfrm>
            <a:off x="3379789" y="4068663"/>
            <a:ext cx="488473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722" name="Text Box 20"/>
          <p:cNvSpPr txBox="1">
            <a:spLocks noChangeArrowheads="1"/>
          </p:cNvSpPr>
          <p:nvPr/>
        </p:nvSpPr>
        <p:spPr bwMode="auto">
          <a:xfrm>
            <a:off x="6288089" y="3332063"/>
            <a:ext cx="30003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chemeClr val="accent2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72723" name="Text Box 21"/>
          <p:cNvSpPr txBox="1">
            <a:spLocks noChangeArrowheads="1"/>
          </p:cNvSpPr>
          <p:nvPr/>
        </p:nvSpPr>
        <p:spPr bwMode="auto">
          <a:xfrm>
            <a:off x="6288089" y="5246588"/>
            <a:ext cx="30003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chemeClr val="accent2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72724" name="Text Box 22"/>
          <p:cNvSpPr txBox="1">
            <a:spLocks noChangeArrowheads="1"/>
          </p:cNvSpPr>
          <p:nvPr/>
        </p:nvSpPr>
        <p:spPr bwMode="auto">
          <a:xfrm>
            <a:off x="3323622" y="3264744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2725" name="Text Box 23"/>
          <p:cNvSpPr txBox="1">
            <a:spLocks noChangeArrowheads="1"/>
          </p:cNvSpPr>
          <p:nvPr/>
        </p:nvSpPr>
        <p:spPr bwMode="auto">
          <a:xfrm>
            <a:off x="5886450" y="2785963"/>
            <a:ext cx="395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2726" name="Text Box 24"/>
          <p:cNvSpPr txBox="1">
            <a:spLocks noChangeArrowheads="1"/>
          </p:cNvSpPr>
          <p:nvPr/>
        </p:nvSpPr>
        <p:spPr bwMode="auto">
          <a:xfrm>
            <a:off x="4713478" y="1824882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2727" name="Text Box 25"/>
          <p:cNvSpPr txBox="1">
            <a:spLocks noChangeArrowheads="1"/>
          </p:cNvSpPr>
          <p:nvPr/>
        </p:nvSpPr>
        <p:spPr bwMode="auto">
          <a:xfrm>
            <a:off x="6061075" y="2979638"/>
            <a:ext cx="83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m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2728" name="Text Box 26"/>
          <p:cNvSpPr txBox="1">
            <a:spLocks noChangeArrowheads="1"/>
          </p:cNvSpPr>
          <p:nvPr/>
        </p:nvSpPr>
        <p:spPr bwMode="auto">
          <a:xfrm>
            <a:off x="3368444" y="5180857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72729" name="Text Box 27"/>
          <p:cNvSpPr txBox="1">
            <a:spLocks noChangeArrowheads="1"/>
          </p:cNvSpPr>
          <p:nvPr/>
        </p:nvSpPr>
        <p:spPr bwMode="auto">
          <a:xfrm>
            <a:off x="5045637" y="4028332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72730" name="Text Box 28"/>
          <p:cNvSpPr txBox="1">
            <a:spLocks noChangeArrowheads="1"/>
          </p:cNvSpPr>
          <p:nvPr/>
        </p:nvSpPr>
        <p:spPr bwMode="auto">
          <a:xfrm>
            <a:off x="5891214" y="5564088"/>
            <a:ext cx="319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72731" name="Text Box 29"/>
          <p:cNvSpPr txBox="1">
            <a:spLocks noChangeArrowheads="1"/>
          </p:cNvSpPr>
          <p:nvPr/>
        </p:nvSpPr>
        <p:spPr bwMode="auto">
          <a:xfrm>
            <a:off x="6346825" y="5276750"/>
            <a:ext cx="43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m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2670" name="Text Box 30"/>
          <p:cNvSpPr txBox="1">
            <a:spLocks noChangeArrowheads="1"/>
          </p:cNvSpPr>
          <p:nvPr/>
        </p:nvSpPr>
        <p:spPr bwMode="auto">
          <a:xfrm>
            <a:off x="7878763" y="4702075"/>
            <a:ext cx="349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n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72733" name="Text Box 31"/>
          <p:cNvSpPr txBox="1">
            <a:spLocks noChangeArrowheads="1"/>
          </p:cNvSpPr>
          <p:nvPr/>
        </p:nvSpPr>
        <p:spPr bwMode="auto">
          <a:xfrm>
            <a:off x="1245121" y="984645"/>
            <a:ext cx="5203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例</a:t>
            </a:r>
            <a:r>
              <a:rPr kumimoji="1" lang="en-US" altLang="zh-CN" sz="2400" b="1" dirty="0">
                <a:latin typeface="宋体" pitchFamily="2" charset="-122"/>
              </a:rPr>
              <a:t>1</a:t>
            </a:r>
            <a:r>
              <a:rPr kumimoji="1" lang="zh-CN" altLang="en-US" sz="2400" b="1" dirty="0">
                <a:latin typeface="宋体" pitchFamily="2" charset="-122"/>
              </a:rPr>
              <a:t>：过</a:t>
            </a:r>
            <a:r>
              <a:rPr kumimoji="1" lang="en-US" altLang="zh-CN" sz="2400" b="1" dirty="0">
                <a:latin typeface="宋体" pitchFamily="2" charset="-122"/>
              </a:rPr>
              <a:t>M</a:t>
            </a:r>
            <a:r>
              <a:rPr kumimoji="1" lang="zh-CN" altLang="en-US" sz="2400" b="1" dirty="0">
                <a:latin typeface="宋体" pitchFamily="2" charset="-122"/>
              </a:rPr>
              <a:t>点作直线</a:t>
            </a:r>
            <a:r>
              <a:rPr kumimoji="1" lang="en-US" altLang="zh-CN" sz="2400" b="1" dirty="0">
                <a:latin typeface="宋体" pitchFamily="2" charset="-122"/>
              </a:rPr>
              <a:t>MN</a:t>
            </a:r>
            <a:r>
              <a:rPr kumimoji="1" lang="zh-CN" altLang="en-US" sz="2400" b="1" dirty="0">
                <a:latin typeface="宋体" pitchFamily="2" charset="-122"/>
              </a:rPr>
              <a:t>平行于平面</a:t>
            </a:r>
            <a:r>
              <a:rPr kumimoji="1" lang="en-US" altLang="zh-CN" sz="2400" b="1" dirty="0">
                <a:latin typeface="宋体" pitchFamily="2" charset="-122"/>
              </a:rPr>
              <a:t>ABC</a:t>
            </a:r>
            <a:r>
              <a:rPr kumimoji="1" lang="zh-CN" altLang="en-US" sz="2400" b="1" dirty="0">
                <a:latin typeface="宋体" pitchFamily="2" charset="-122"/>
              </a:rPr>
              <a:t>。</a:t>
            </a:r>
          </a:p>
        </p:txBody>
      </p:sp>
      <p:sp>
        <p:nvSpPr>
          <p:cNvPr id="72735" name="Line 33"/>
          <p:cNvSpPr>
            <a:spLocks noChangeShapeType="1"/>
          </p:cNvSpPr>
          <p:nvPr/>
        </p:nvSpPr>
        <p:spPr bwMode="auto">
          <a:xfrm>
            <a:off x="3810000" y="6324600"/>
            <a:ext cx="3581400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741" name="Text Box 35"/>
          <p:cNvSpPr txBox="1">
            <a:spLocks noChangeArrowheads="1"/>
          </p:cNvSpPr>
          <p:nvPr/>
        </p:nvSpPr>
        <p:spPr bwMode="auto">
          <a:xfrm>
            <a:off x="6806656" y="5822359"/>
            <a:ext cx="1724237" cy="45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有多少解？</a:t>
            </a:r>
          </a:p>
        </p:txBody>
      </p:sp>
      <p:sp>
        <p:nvSpPr>
          <p:cNvPr id="112683" name="Line 43"/>
          <p:cNvSpPr>
            <a:spLocks noChangeShapeType="1"/>
          </p:cNvSpPr>
          <p:nvPr/>
        </p:nvSpPr>
        <p:spPr bwMode="auto">
          <a:xfrm>
            <a:off x="5430838" y="2625625"/>
            <a:ext cx="0" cy="2254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684" name="Text Box 44"/>
          <p:cNvSpPr txBox="1">
            <a:spLocks noChangeArrowheads="1"/>
          </p:cNvSpPr>
          <p:nvPr/>
        </p:nvSpPr>
        <p:spPr bwMode="auto">
          <a:xfrm>
            <a:off x="5416550" y="2309713"/>
            <a:ext cx="420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12685" name="Text Box 45"/>
          <p:cNvSpPr txBox="1">
            <a:spLocks noChangeArrowheads="1"/>
          </p:cNvSpPr>
          <p:nvPr/>
        </p:nvSpPr>
        <p:spPr bwMode="auto">
          <a:xfrm>
            <a:off x="5426075" y="4602063"/>
            <a:ext cx="344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112686" name="Line 46"/>
          <p:cNvSpPr>
            <a:spLocks noChangeShapeType="1"/>
          </p:cNvSpPr>
          <p:nvPr/>
        </p:nvSpPr>
        <p:spPr bwMode="auto">
          <a:xfrm>
            <a:off x="7961313" y="2747863"/>
            <a:ext cx="0" cy="2132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429070" y="5789554"/>
            <a:ext cx="16273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2800" b="1" dirty="0">
                <a:latin typeface="Times New Roman" pitchFamily="18" charset="0"/>
              </a:rPr>
              <a:t>有无数解</a:t>
            </a:r>
          </a:p>
        </p:txBody>
      </p:sp>
      <p:sp>
        <p:nvSpPr>
          <p:cNvPr id="49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2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2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12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2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animBg="1"/>
      <p:bldP spid="112644" grpId="0" animBg="1"/>
      <p:bldP spid="112645" grpId="0" animBg="1"/>
      <p:bldP spid="112646" grpId="0" animBg="1"/>
      <p:bldP spid="112670" grpId="0" build="p" autoUpdateAnimBg="0" advAuto="0"/>
      <p:bldP spid="72741" grpId="0"/>
      <p:bldP spid="112683" grpId="0" animBg="1"/>
      <p:bldP spid="112684" grpId="0" autoUpdateAnimBg="0"/>
      <p:bldP spid="112685" grpId="0" autoUpdateAnimBg="0"/>
      <p:bldP spid="112686" grpId="0" animBg="1"/>
      <p:bldP spid="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Line 2"/>
          <p:cNvSpPr>
            <a:spLocks noChangeShapeType="1"/>
          </p:cNvSpPr>
          <p:nvPr/>
        </p:nvSpPr>
        <p:spPr bwMode="auto">
          <a:xfrm>
            <a:off x="2849564" y="4465339"/>
            <a:ext cx="501808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1" name="Line 3"/>
          <p:cNvSpPr>
            <a:spLocks noChangeShapeType="1"/>
          </p:cNvSpPr>
          <p:nvPr/>
        </p:nvSpPr>
        <p:spPr bwMode="auto">
          <a:xfrm>
            <a:off x="2667000" y="3912889"/>
            <a:ext cx="3581400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668" name="AutoShape 4"/>
          <p:cNvSpPr>
            <a:spLocks noChangeArrowheads="1"/>
          </p:cNvSpPr>
          <p:nvPr/>
        </p:nvSpPr>
        <p:spPr bwMode="auto">
          <a:xfrm>
            <a:off x="7415214" y="2260557"/>
            <a:ext cx="2174875" cy="735747"/>
          </a:xfrm>
          <a:prstGeom prst="wedgeEllipseCallout">
            <a:avLst>
              <a:gd name="adj1" fmla="val -74712"/>
              <a:gd name="adj2" fmla="val -14229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800" b="1">
                <a:latin typeface="Times New Roman" pitchFamily="18" charset="0"/>
              </a:rPr>
              <a:t>正平线</a:t>
            </a:r>
            <a:endParaRPr kumimoji="1" lang="zh-CN" altLang="en-US" sz="2400" b="1">
              <a:latin typeface="Times New Roman" pitchFamily="18" charset="0"/>
            </a:endParaRPr>
          </a:p>
        </p:txBody>
      </p:sp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1411298" y="1123316"/>
            <a:ext cx="7772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例</a:t>
            </a:r>
            <a:r>
              <a:rPr kumimoji="1" lang="en-US" altLang="zh-CN" sz="2800" b="1" dirty="0">
                <a:latin typeface="宋体" pitchFamily="2" charset="-122"/>
              </a:rPr>
              <a:t>2</a:t>
            </a:r>
            <a:r>
              <a:rPr kumimoji="1" lang="zh-CN" altLang="en-US" sz="2800" b="1" dirty="0">
                <a:latin typeface="宋体" pitchFamily="2" charset="-122"/>
              </a:rPr>
              <a:t>：过</a:t>
            </a:r>
            <a:r>
              <a:rPr kumimoji="1" lang="en-US" altLang="zh-CN" sz="2800" b="1" dirty="0">
                <a:latin typeface="宋体" pitchFamily="2" charset="-122"/>
              </a:rPr>
              <a:t>M</a:t>
            </a:r>
            <a:r>
              <a:rPr kumimoji="1" lang="zh-CN" altLang="en-US" sz="2800" b="1" dirty="0">
                <a:latin typeface="宋体" pitchFamily="2" charset="-122"/>
              </a:rPr>
              <a:t>点作直线</a:t>
            </a:r>
            <a:r>
              <a:rPr kumimoji="1" lang="en-US" altLang="zh-CN" sz="2800" b="1" dirty="0">
                <a:latin typeface="宋体" pitchFamily="2" charset="-122"/>
              </a:rPr>
              <a:t>MN</a:t>
            </a:r>
            <a:r>
              <a:rPr kumimoji="1" lang="zh-CN" altLang="en-US" sz="2800" b="1" dirty="0">
                <a:latin typeface="宋体" pitchFamily="2" charset="-122"/>
              </a:rPr>
              <a:t>平行于</a:t>
            </a:r>
            <a:r>
              <a:rPr kumimoji="1" lang="en-US" altLang="zh-CN" sz="2800" b="1" dirty="0">
                <a:latin typeface="宋体" pitchFamily="2" charset="-122"/>
              </a:rPr>
              <a:t>V</a:t>
            </a:r>
            <a:r>
              <a:rPr kumimoji="1" lang="zh-CN" altLang="en-US" sz="2800" b="1" dirty="0">
                <a:latin typeface="宋体" pitchFamily="2" charset="-122"/>
              </a:rPr>
              <a:t>面和平面</a:t>
            </a:r>
            <a:r>
              <a:rPr kumimoji="1" lang="en-US" altLang="zh-CN" sz="2800" b="1" dirty="0">
                <a:latin typeface="宋体" pitchFamily="2" charset="-122"/>
              </a:rPr>
              <a:t>ABC</a:t>
            </a:r>
            <a:r>
              <a:rPr kumimoji="1" lang="zh-CN" altLang="en-US" sz="2800" b="1" dirty="0">
                <a:latin typeface="宋体" pitchFamily="2" charset="-122"/>
              </a:rPr>
              <a:t>。</a:t>
            </a:r>
          </a:p>
        </p:txBody>
      </p:sp>
      <p:sp>
        <p:nvSpPr>
          <p:cNvPr id="113670" name="AutoShape 6"/>
          <p:cNvSpPr>
            <a:spLocks noChangeArrowheads="1"/>
          </p:cNvSpPr>
          <p:nvPr/>
        </p:nvSpPr>
        <p:spPr bwMode="auto">
          <a:xfrm>
            <a:off x="8134361" y="5070419"/>
            <a:ext cx="2098675" cy="735747"/>
          </a:xfrm>
          <a:prstGeom prst="wedgeEllipseCallout">
            <a:avLst>
              <a:gd name="adj1" fmla="val -25851"/>
              <a:gd name="adj2" fmla="val -30407"/>
            </a:avLst>
          </a:prstGeom>
          <a:solidFill>
            <a:srgbClr val="FF99FF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800" b="1" dirty="0">
                <a:latin typeface="Times New Roman" pitchFamily="18" charset="0"/>
              </a:rPr>
              <a:t>唯一解</a:t>
            </a:r>
          </a:p>
        </p:txBody>
      </p:sp>
      <p:sp>
        <p:nvSpPr>
          <p:cNvPr id="113671" name="Freeform 7"/>
          <p:cNvSpPr>
            <a:spLocks/>
          </p:cNvSpPr>
          <p:nvPr/>
        </p:nvSpPr>
        <p:spPr bwMode="auto">
          <a:xfrm>
            <a:off x="6338889" y="3654554"/>
            <a:ext cx="1155027" cy="337433"/>
          </a:xfrm>
          <a:custGeom>
            <a:avLst/>
            <a:gdLst>
              <a:gd name="T0" fmla="*/ 0 w 526"/>
              <a:gd name="T1" fmla="*/ 2147483647 h 125"/>
              <a:gd name="T2" fmla="*/ 2147483647 w 526"/>
              <a:gd name="T3" fmla="*/ 0 h 125"/>
              <a:gd name="T4" fmla="*/ 0 60000 65536"/>
              <a:gd name="T5" fmla="*/ 0 60000 65536"/>
              <a:gd name="T6" fmla="*/ 0 w 526"/>
              <a:gd name="T7" fmla="*/ 0 h 125"/>
              <a:gd name="T8" fmla="*/ 526 w 526"/>
              <a:gd name="T9" fmla="*/ 125 h 1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26" h="125">
                <a:moveTo>
                  <a:pt x="0" y="125"/>
                </a:moveTo>
                <a:lnTo>
                  <a:pt x="526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3672" name="Freeform 8"/>
          <p:cNvSpPr>
            <a:spLocks/>
          </p:cNvSpPr>
          <p:nvPr/>
        </p:nvSpPr>
        <p:spPr bwMode="auto">
          <a:xfrm>
            <a:off x="3223082" y="3371980"/>
            <a:ext cx="2337924" cy="677432"/>
          </a:xfrm>
          <a:custGeom>
            <a:avLst/>
            <a:gdLst>
              <a:gd name="T0" fmla="*/ 0 w 1091"/>
              <a:gd name="T1" fmla="*/ 2147483647 h 322"/>
              <a:gd name="T2" fmla="*/ 2147483647 w 1091"/>
              <a:gd name="T3" fmla="*/ 0 h 322"/>
              <a:gd name="T4" fmla="*/ 0 60000 65536"/>
              <a:gd name="T5" fmla="*/ 0 60000 65536"/>
              <a:gd name="T6" fmla="*/ 0 w 1091"/>
              <a:gd name="T7" fmla="*/ 0 h 322"/>
              <a:gd name="T8" fmla="*/ 1091 w 1091"/>
              <a:gd name="T9" fmla="*/ 322 h 3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1" h="322">
                <a:moveTo>
                  <a:pt x="0" y="322"/>
                </a:moveTo>
                <a:lnTo>
                  <a:pt x="1091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3673" name="Freeform 9"/>
          <p:cNvSpPr>
            <a:spLocks/>
          </p:cNvSpPr>
          <p:nvPr/>
        </p:nvSpPr>
        <p:spPr bwMode="auto">
          <a:xfrm>
            <a:off x="6338681" y="3662629"/>
            <a:ext cx="1139576" cy="330289"/>
          </a:xfrm>
          <a:custGeom>
            <a:avLst/>
            <a:gdLst>
              <a:gd name="T0" fmla="*/ 0 w 526"/>
              <a:gd name="T1" fmla="*/ 2147483647 h 125"/>
              <a:gd name="T2" fmla="*/ 2147483647 w 526"/>
              <a:gd name="T3" fmla="*/ 0 h 125"/>
              <a:gd name="T4" fmla="*/ 0 60000 65536"/>
              <a:gd name="T5" fmla="*/ 0 60000 65536"/>
              <a:gd name="T6" fmla="*/ 0 w 526"/>
              <a:gd name="T7" fmla="*/ 0 h 125"/>
              <a:gd name="T8" fmla="*/ 526 w 526"/>
              <a:gd name="T9" fmla="*/ 125 h 1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26" h="125">
                <a:moveTo>
                  <a:pt x="0" y="125"/>
                </a:moveTo>
                <a:lnTo>
                  <a:pt x="526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73738" name="Line 10"/>
          <p:cNvSpPr>
            <a:spLocks noChangeShapeType="1"/>
          </p:cNvSpPr>
          <p:nvPr/>
        </p:nvSpPr>
        <p:spPr bwMode="auto">
          <a:xfrm>
            <a:off x="6335713" y="4008139"/>
            <a:ext cx="0" cy="1663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5921375" y="3298527"/>
            <a:ext cx="395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3740" name="Line 12"/>
          <p:cNvSpPr>
            <a:spLocks noChangeShapeType="1"/>
          </p:cNvSpPr>
          <p:nvPr/>
        </p:nvSpPr>
        <p:spPr bwMode="auto">
          <a:xfrm flipV="1">
            <a:off x="3216276" y="2490490"/>
            <a:ext cx="1560513" cy="1558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41" name="Line 13"/>
          <p:cNvSpPr>
            <a:spLocks noChangeShapeType="1"/>
          </p:cNvSpPr>
          <p:nvPr/>
        </p:nvSpPr>
        <p:spPr bwMode="auto">
          <a:xfrm>
            <a:off x="4776788" y="2490490"/>
            <a:ext cx="1143000" cy="124777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42" name="Line 14"/>
          <p:cNvSpPr>
            <a:spLocks noChangeShapeType="1"/>
          </p:cNvSpPr>
          <p:nvPr/>
        </p:nvSpPr>
        <p:spPr bwMode="auto">
          <a:xfrm flipV="1">
            <a:off x="3216276" y="3738264"/>
            <a:ext cx="2703513" cy="31115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43" name="Line 15"/>
          <p:cNvSpPr>
            <a:spLocks noChangeShapeType="1"/>
          </p:cNvSpPr>
          <p:nvPr/>
        </p:nvSpPr>
        <p:spPr bwMode="auto">
          <a:xfrm>
            <a:off x="5919788" y="3738264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44" name="Line 16"/>
          <p:cNvSpPr>
            <a:spLocks noChangeShapeType="1"/>
          </p:cNvSpPr>
          <p:nvPr/>
        </p:nvSpPr>
        <p:spPr bwMode="auto">
          <a:xfrm>
            <a:off x="3216275" y="4049415"/>
            <a:ext cx="0" cy="1262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45" name="Line 17"/>
          <p:cNvSpPr>
            <a:spLocks noChangeShapeType="1"/>
          </p:cNvSpPr>
          <p:nvPr/>
        </p:nvSpPr>
        <p:spPr bwMode="auto">
          <a:xfrm>
            <a:off x="4776788" y="2490490"/>
            <a:ext cx="0" cy="37433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46" name="Line 18"/>
          <p:cNvSpPr>
            <a:spLocks noChangeShapeType="1"/>
          </p:cNvSpPr>
          <p:nvPr/>
        </p:nvSpPr>
        <p:spPr bwMode="auto">
          <a:xfrm flipV="1">
            <a:off x="3216276" y="4881265"/>
            <a:ext cx="2703513" cy="415925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47" name="Line 19"/>
          <p:cNvSpPr>
            <a:spLocks noChangeShapeType="1"/>
          </p:cNvSpPr>
          <p:nvPr/>
        </p:nvSpPr>
        <p:spPr bwMode="auto">
          <a:xfrm>
            <a:off x="3216276" y="5311478"/>
            <a:ext cx="1560513" cy="922337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48" name="Line 20"/>
          <p:cNvSpPr>
            <a:spLocks noChangeShapeType="1"/>
          </p:cNvSpPr>
          <p:nvPr/>
        </p:nvSpPr>
        <p:spPr bwMode="auto">
          <a:xfrm flipV="1">
            <a:off x="4776788" y="4881264"/>
            <a:ext cx="1143000" cy="135255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749" name="Text Box 21"/>
          <p:cNvSpPr txBox="1">
            <a:spLocks noChangeArrowheads="1"/>
          </p:cNvSpPr>
          <p:nvPr/>
        </p:nvSpPr>
        <p:spPr bwMode="auto">
          <a:xfrm>
            <a:off x="6180139" y="3882727"/>
            <a:ext cx="30003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chemeClr val="accent2"/>
                </a:solidFill>
                <a:latin typeface="Times New Roman" pitchFamily="18" charset="0"/>
              </a:rPr>
              <a:t>●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73750" name="Text Box 22"/>
          <p:cNvSpPr txBox="1">
            <a:spLocks noChangeArrowheads="1"/>
          </p:cNvSpPr>
          <p:nvPr/>
        </p:nvSpPr>
        <p:spPr bwMode="auto">
          <a:xfrm>
            <a:off x="6189664" y="5546427"/>
            <a:ext cx="30003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 b="1">
                <a:solidFill>
                  <a:schemeClr val="accent2"/>
                </a:solidFill>
                <a:latin typeface="Times New Roman" pitchFamily="18" charset="0"/>
              </a:rPr>
              <a:t>●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73751" name="Text Box 23"/>
          <p:cNvSpPr txBox="1">
            <a:spLocks noChangeArrowheads="1"/>
          </p:cNvSpPr>
          <p:nvPr/>
        </p:nvSpPr>
        <p:spPr bwMode="auto">
          <a:xfrm>
            <a:off x="4559490" y="2107258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3752" name="Text Box 24"/>
          <p:cNvSpPr txBox="1">
            <a:spLocks noChangeArrowheads="1"/>
          </p:cNvSpPr>
          <p:nvPr/>
        </p:nvSpPr>
        <p:spPr bwMode="auto">
          <a:xfrm>
            <a:off x="2863247" y="3742383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3753" name="Text Box 25"/>
          <p:cNvSpPr txBox="1">
            <a:spLocks noChangeArrowheads="1"/>
          </p:cNvSpPr>
          <p:nvPr/>
        </p:nvSpPr>
        <p:spPr bwMode="auto">
          <a:xfrm>
            <a:off x="5867302" y="3571105"/>
            <a:ext cx="78421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</a:rPr>
              <a:t>m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3754" name="Text Box 26"/>
          <p:cNvSpPr txBox="1">
            <a:spLocks noChangeArrowheads="1"/>
          </p:cNvSpPr>
          <p:nvPr/>
        </p:nvSpPr>
        <p:spPr bwMode="auto">
          <a:xfrm>
            <a:off x="2909656" y="5066358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73755" name="Text Box 27"/>
          <p:cNvSpPr txBox="1">
            <a:spLocks noChangeArrowheads="1"/>
          </p:cNvSpPr>
          <p:nvPr/>
        </p:nvSpPr>
        <p:spPr bwMode="auto">
          <a:xfrm>
            <a:off x="4710675" y="6137921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73756" name="Text Box 28"/>
          <p:cNvSpPr txBox="1">
            <a:spLocks noChangeArrowheads="1"/>
          </p:cNvSpPr>
          <p:nvPr/>
        </p:nvSpPr>
        <p:spPr bwMode="auto">
          <a:xfrm>
            <a:off x="5878514" y="4754264"/>
            <a:ext cx="319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73757" name="Text Box 29"/>
          <p:cNvSpPr txBox="1">
            <a:spLocks noChangeArrowheads="1"/>
          </p:cNvSpPr>
          <p:nvPr/>
        </p:nvSpPr>
        <p:spPr bwMode="auto">
          <a:xfrm>
            <a:off x="5973764" y="5544839"/>
            <a:ext cx="433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m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6335714" y="5486102"/>
            <a:ext cx="1506537" cy="457200"/>
            <a:chOff x="4656" y="3639"/>
            <a:chExt cx="694" cy="211"/>
          </a:xfrm>
        </p:grpSpPr>
        <p:sp>
          <p:nvSpPr>
            <p:cNvPr id="73765" name="Line 31"/>
            <p:cNvSpPr>
              <a:spLocks noChangeShapeType="1"/>
            </p:cNvSpPr>
            <p:nvPr/>
          </p:nvSpPr>
          <p:spPr bwMode="auto">
            <a:xfrm>
              <a:off x="4656" y="3725"/>
              <a:ext cx="5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3766" name="Text Box 32"/>
            <p:cNvSpPr txBox="1">
              <a:spLocks noChangeArrowheads="1"/>
            </p:cNvSpPr>
            <p:nvPr/>
          </p:nvSpPr>
          <p:spPr bwMode="auto">
            <a:xfrm>
              <a:off x="5189" y="3639"/>
              <a:ext cx="16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n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sp>
        <p:nvSpPr>
          <p:cNvPr id="113697" name="Line 33"/>
          <p:cNvSpPr>
            <a:spLocks noChangeShapeType="1"/>
          </p:cNvSpPr>
          <p:nvPr/>
        </p:nvSpPr>
        <p:spPr bwMode="auto">
          <a:xfrm>
            <a:off x="3233739" y="5311477"/>
            <a:ext cx="23463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3698" name="Line 34"/>
          <p:cNvSpPr>
            <a:spLocks noChangeShapeType="1"/>
          </p:cNvSpPr>
          <p:nvPr/>
        </p:nvSpPr>
        <p:spPr bwMode="auto">
          <a:xfrm>
            <a:off x="5565775" y="3352503"/>
            <a:ext cx="0" cy="1944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699" name="Line 35"/>
          <p:cNvSpPr>
            <a:spLocks noChangeShapeType="1"/>
          </p:cNvSpPr>
          <p:nvPr/>
        </p:nvSpPr>
        <p:spPr bwMode="auto">
          <a:xfrm flipV="1">
            <a:off x="7485062" y="3653626"/>
            <a:ext cx="4033" cy="2018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3700" name="Text Box 36"/>
          <p:cNvSpPr txBox="1">
            <a:spLocks noChangeArrowheads="1"/>
          </p:cNvSpPr>
          <p:nvPr/>
        </p:nvSpPr>
        <p:spPr bwMode="auto">
          <a:xfrm>
            <a:off x="7235825" y="3377902"/>
            <a:ext cx="850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n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13701" name="Text Box 37"/>
          <p:cNvSpPr txBox="1">
            <a:spLocks noChangeArrowheads="1"/>
          </p:cNvSpPr>
          <p:nvPr/>
        </p:nvSpPr>
        <p:spPr bwMode="auto">
          <a:xfrm>
            <a:off x="5561014" y="3049289"/>
            <a:ext cx="420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13702" name="Text Box 38"/>
          <p:cNvSpPr txBox="1">
            <a:spLocks noChangeArrowheads="1"/>
          </p:cNvSpPr>
          <p:nvPr/>
        </p:nvSpPr>
        <p:spPr bwMode="auto">
          <a:xfrm>
            <a:off x="5564189" y="5140027"/>
            <a:ext cx="338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endParaRPr kumimoji="1" lang="en-US" altLang="zh-CN" sz="2400" b="1">
              <a:latin typeface="Times New Roman" pitchFamily="18" charset="0"/>
            </a:endParaRPr>
          </a:p>
        </p:txBody>
      </p:sp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3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3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3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6" dur="500"/>
                                        <p:tgtEl>
                                          <p:spTgt spid="113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 animBg="1" autoUpdateAnimBg="0"/>
      <p:bldP spid="113670" grpId="0" animBg="1" autoUpdateAnimBg="0"/>
      <p:bldP spid="113671" grpId="0" animBg="1"/>
      <p:bldP spid="113672" grpId="0" animBg="1"/>
      <p:bldP spid="113673" grpId="0" animBg="1"/>
      <p:bldP spid="113697" grpId="0" animBg="1"/>
      <p:bldP spid="113698" grpId="0" animBg="1"/>
      <p:bldP spid="113699" grpId="0" animBg="1"/>
      <p:bldP spid="113700" grpId="0" autoUpdateAnimBg="0"/>
      <p:bldP spid="113701" grpId="0" autoUpdateAnimBg="0"/>
      <p:bldP spid="113702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1148633" y="1357430"/>
            <a:ext cx="25282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800" b="1" dirty="0">
                <a:latin typeface="Times New Roman" pitchFamily="18" charset="0"/>
              </a:rPr>
              <a:t>⒉  </a:t>
            </a:r>
            <a:r>
              <a:rPr kumimoji="1" lang="zh-CN" altLang="en-US" sz="2800" b="1" dirty="0">
                <a:latin typeface="Times New Roman" pitchFamily="18" charset="0"/>
              </a:rPr>
              <a:t>两平面平行</a:t>
            </a:r>
          </a:p>
        </p:txBody>
      </p:sp>
      <p:sp>
        <p:nvSpPr>
          <p:cNvPr id="114691" name="Text Box 3"/>
          <p:cNvSpPr txBox="1">
            <a:spLocks noChangeArrowheads="1"/>
          </p:cNvSpPr>
          <p:nvPr/>
        </p:nvSpPr>
        <p:spPr bwMode="auto">
          <a:xfrm>
            <a:off x="2286770" y="2181944"/>
            <a:ext cx="40735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①</a:t>
            </a:r>
            <a:r>
              <a:rPr kumimoji="1" lang="zh-CN" altLang="en-US" sz="2400" b="1" dirty="0">
                <a:latin typeface="宋体" pitchFamily="2" charset="-122"/>
              </a:rPr>
              <a:t>若一平面上的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两相交直线</a:t>
            </a:r>
            <a:r>
              <a:rPr kumimoji="1" lang="zh-CN" altLang="en-US" sz="2400" b="1" dirty="0">
                <a:latin typeface="宋体" pitchFamily="2" charset="-122"/>
              </a:rPr>
              <a:t>分别平行于另一平面上的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两相交直线</a:t>
            </a:r>
            <a:r>
              <a:rPr kumimoji="1" lang="zh-CN" altLang="en-US" sz="2400" b="1" dirty="0">
                <a:latin typeface="宋体" pitchFamily="2" charset="-122"/>
              </a:rPr>
              <a:t>，则这两平面相互平行。</a:t>
            </a:r>
          </a:p>
        </p:txBody>
      </p:sp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6309757" y="4703257"/>
            <a:ext cx="407352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②</a:t>
            </a:r>
            <a:r>
              <a:rPr kumimoji="1" lang="zh-CN" altLang="en-US" sz="2400" b="1" dirty="0">
                <a:latin typeface="宋体" pitchFamily="2" charset="-122"/>
              </a:rPr>
              <a:t>若两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投影面垂直面</a:t>
            </a:r>
            <a:r>
              <a:rPr kumimoji="1" lang="zh-CN" altLang="en-US" sz="2400" b="1" dirty="0">
                <a:latin typeface="宋体" pitchFamily="2" charset="-122"/>
              </a:rPr>
              <a:t>相互平行，则它们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具有积聚性</a:t>
            </a:r>
            <a:r>
              <a:rPr kumimoji="1" lang="zh-CN" altLang="en-US" sz="2400" b="1" dirty="0">
                <a:latin typeface="宋体" pitchFamily="2" charset="-122"/>
              </a:rPr>
              <a:t>的那组投影必相互平行。</a:t>
            </a:r>
          </a:p>
        </p:txBody>
      </p:sp>
      <p:sp>
        <p:nvSpPr>
          <p:cNvPr id="74757" name="Line 5"/>
          <p:cNvSpPr>
            <a:spLocks noChangeShapeType="1"/>
          </p:cNvSpPr>
          <p:nvPr/>
        </p:nvSpPr>
        <p:spPr bwMode="auto">
          <a:xfrm>
            <a:off x="5333443" y="4371558"/>
            <a:ext cx="0" cy="175260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405830" y="1726784"/>
            <a:ext cx="3417889" cy="2859088"/>
            <a:chOff x="3045" y="378"/>
            <a:chExt cx="2153" cy="1801"/>
          </a:xfrm>
        </p:grpSpPr>
        <p:sp>
          <p:nvSpPr>
            <p:cNvPr id="74789" name="Line 7"/>
            <p:cNvSpPr>
              <a:spLocks noChangeShapeType="1"/>
            </p:cNvSpPr>
            <p:nvPr/>
          </p:nvSpPr>
          <p:spPr bwMode="auto">
            <a:xfrm>
              <a:off x="3112" y="1315"/>
              <a:ext cx="1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0" name="Line 8"/>
            <p:cNvSpPr>
              <a:spLocks noChangeShapeType="1"/>
            </p:cNvSpPr>
            <p:nvPr/>
          </p:nvSpPr>
          <p:spPr bwMode="auto">
            <a:xfrm flipV="1">
              <a:off x="3268" y="677"/>
              <a:ext cx="398" cy="47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1" name="Line 9"/>
            <p:cNvSpPr>
              <a:spLocks noChangeShapeType="1"/>
            </p:cNvSpPr>
            <p:nvPr/>
          </p:nvSpPr>
          <p:spPr bwMode="auto">
            <a:xfrm flipV="1">
              <a:off x="3268" y="956"/>
              <a:ext cx="664" cy="2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2" name="Line 10"/>
            <p:cNvSpPr>
              <a:spLocks noChangeShapeType="1"/>
            </p:cNvSpPr>
            <p:nvPr/>
          </p:nvSpPr>
          <p:spPr bwMode="auto">
            <a:xfrm>
              <a:off x="3268" y="1156"/>
              <a:ext cx="0" cy="6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3" name="Line 11"/>
            <p:cNvSpPr>
              <a:spLocks noChangeShapeType="1"/>
            </p:cNvSpPr>
            <p:nvPr/>
          </p:nvSpPr>
          <p:spPr bwMode="auto">
            <a:xfrm>
              <a:off x="3932" y="956"/>
              <a:ext cx="0" cy="5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4" name="Line 12"/>
            <p:cNvSpPr>
              <a:spLocks noChangeShapeType="1"/>
            </p:cNvSpPr>
            <p:nvPr/>
          </p:nvSpPr>
          <p:spPr bwMode="auto">
            <a:xfrm flipV="1">
              <a:off x="3268" y="1475"/>
              <a:ext cx="664" cy="3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5" name="Line 13"/>
            <p:cNvSpPr>
              <a:spLocks noChangeShapeType="1"/>
            </p:cNvSpPr>
            <p:nvPr/>
          </p:nvSpPr>
          <p:spPr bwMode="auto">
            <a:xfrm>
              <a:off x="3666" y="677"/>
              <a:ext cx="0" cy="1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6" name="Line 14"/>
            <p:cNvSpPr>
              <a:spLocks noChangeShapeType="1"/>
            </p:cNvSpPr>
            <p:nvPr/>
          </p:nvSpPr>
          <p:spPr bwMode="auto">
            <a:xfrm>
              <a:off x="3268" y="1793"/>
              <a:ext cx="398" cy="16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7" name="Line 15"/>
            <p:cNvSpPr>
              <a:spLocks noChangeShapeType="1"/>
            </p:cNvSpPr>
            <p:nvPr/>
          </p:nvSpPr>
          <p:spPr bwMode="auto">
            <a:xfrm>
              <a:off x="4331" y="956"/>
              <a:ext cx="0" cy="8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8" name="Freeform 16"/>
            <p:cNvSpPr>
              <a:spLocks/>
            </p:cNvSpPr>
            <p:nvPr/>
          </p:nvSpPr>
          <p:spPr bwMode="auto">
            <a:xfrm>
              <a:off x="4324" y="601"/>
              <a:ext cx="319" cy="368"/>
            </a:xfrm>
            <a:custGeom>
              <a:avLst/>
              <a:gdLst>
                <a:gd name="T0" fmla="*/ 0 w 346"/>
                <a:gd name="T1" fmla="*/ 58 h 455"/>
                <a:gd name="T2" fmla="*/ 141 w 346"/>
                <a:gd name="T3" fmla="*/ 0 h 455"/>
                <a:gd name="T4" fmla="*/ 0 60000 65536"/>
                <a:gd name="T5" fmla="*/ 0 60000 65536"/>
                <a:gd name="T6" fmla="*/ 0 w 346"/>
                <a:gd name="T7" fmla="*/ 0 h 455"/>
                <a:gd name="T8" fmla="*/ 346 w 346"/>
                <a:gd name="T9" fmla="*/ 455 h 4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455">
                  <a:moveTo>
                    <a:pt x="0" y="455"/>
                  </a:moveTo>
                  <a:lnTo>
                    <a:pt x="346" y="0"/>
                  </a:lnTo>
                </a:path>
              </a:pathLst>
            </a:custGeom>
            <a:solidFill>
              <a:srgbClr val="0066FF"/>
            </a:solidFill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9" name="Freeform 17"/>
            <p:cNvSpPr>
              <a:spLocks/>
            </p:cNvSpPr>
            <p:nvPr/>
          </p:nvSpPr>
          <p:spPr bwMode="auto">
            <a:xfrm>
              <a:off x="4329" y="1775"/>
              <a:ext cx="312" cy="138"/>
            </a:xfrm>
            <a:custGeom>
              <a:avLst/>
              <a:gdLst>
                <a:gd name="T0" fmla="*/ 0 w 346"/>
                <a:gd name="T1" fmla="*/ 0 h 147"/>
                <a:gd name="T2" fmla="*/ 141 w 346"/>
                <a:gd name="T3" fmla="*/ 18 h 147"/>
                <a:gd name="T4" fmla="*/ 0 60000 65536"/>
                <a:gd name="T5" fmla="*/ 0 60000 65536"/>
                <a:gd name="T6" fmla="*/ 0 w 346"/>
                <a:gd name="T7" fmla="*/ 0 h 147"/>
                <a:gd name="T8" fmla="*/ 346 w 346"/>
                <a:gd name="T9" fmla="*/ 147 h 14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147">
                  <a:moveTo>
                    <a:pt x="0" y="0"/>
                  </a:moveTo>
                  <a:lnTo>
                    <a:pt x="346" y="147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800" name="Line 18"/>
            <p:cNvSpPr>
              <a:spLocks noChangeShapeType="1"/>
            </p:cNvSpPr>
            <p:nvPr/>
          </p:nvSpPr>
          <p:spPr bwMode="auto">
            <a:xfrm>
              <a:off x="4641" y="598"/>
              <a:ext cx="0" cy="1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801" name="Line 19"/>
            <p:cNvSpPr>
              <a:spLocks noChangeShapeType="1"/>
            </p:cNvSpPr>
            <p:nvPr/>
          </p:nvSpPr>
          <p:spPr bwMode="auto">
            <a:xfrm flipV="1">
              <a:off x="4331" y="757"/>
              <a:ext cx="664" cy="19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802" name="Freeform 20"/>
            <p:cNvSpPr>
              <a:spLocks/>
            </p:cNvSpPr>
            <p:nvPr/>
          </p:nvSpPr>
          <p:spPr bwMode="auto">
            <a:xfrm>
              <a:off x="4324" y="1462"/>
              <a:ext cx="671" cy="329"/>
            </a:xfrm>
            <a:custGeom>
              <a:avLst/>
              <a:gdLst>
                <a:gd name="T0" fmla="*/ 0 w 727"/>
                <a:gd name="T1" fmla="*/ 49 h 390"/>
                <a:gd name="T2" fmla="*/ 296 w 727"/>
                <a:gd name="T3" fmla="*/ 0 h 390"/>
                <a:gd name="T4" fmla="*/ 0 60000 65536"/>
                <a:gd name="T5" fmla="*/ 0 60000 65536"/>
                <a:gd name="T6" fmla="*/ 0 w 727"/>
                <a:gd name="T7" fmla="*/ 0 h 390"/>
                <a:gd name="T8" fmla="*/ 727 w 727"/>
                <a:gd name="T9" fmla="*/ 390 h 3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27" h="390">
                  <a:moveTo>
                    <a:pt x="0" y="390"/>
                  </a:moveTo>
                  <a:lnTo>
                    <a:pt x="727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803" name="Line 21"/>
            <p:cNvSpPr>
              <a:spLocks noChangeShapeType="1"/>
            </p:cNvSpPr>
            <p:nvPr/>
          </p:nvSpPr>
          <p:spPr bwMode="auto">
            <a:xfrm>
              <a:off x="4995" y="757"/>
              <a:ext cx="0" cy="71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804" name="Text Box 22"/>
            <p:cNvSpPr txBox="1">
              <a:spLocks noChangeArrowheads="1"/>
            </p:cNvSpPr>
            <p:nvPr/>
          </p:nvSpPr>
          <p:spPr bwMode="auto">
            <a:xfrm>
              <a:off x="3907" y="773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805" name="Text Box 23"/>
            <p:cNvSpPr txBox="1">
              <a:spLocks noChangeArrowheads="1"/>
            </p:cNvSpPr>
            <p:nvPr/>
          </p:nvSpPr>
          <p:spPr bwMode="auto">
            <a:xfrm>
              <a:off x="4974" y="479"/>
              <a:ext cx="2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806" name="Text Box 24"/>
            <p:cNvSpPr txBox="1">
              <a:spLocks noChangeArrowheads="1"/>
            </p:cNvSpPr>
            <p:nvPr/>
          </p:nvSpPr>
          <p:spPr bwMode="auto">
            <a:xfrm>
              <a:off x="3496" y="473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807" name="Text Box 25"/>
            <p:cNvSpPr txBox="1">
              <a:spLocks noChangeArrowheads="1"/>
            </p:cNvSpPr>
            <p:nvPr/>
          </p:nvSpPr>
          <p:spPr bwMode="auto">
            <a:xfrm>
              <a:off x="4153" y="755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808" name="Text Box 26"/>
            <p:cNvSpPr txBox="1">
              <a:spLocks noChangeArrowheads="1"/>
            </p:cNvSpPr>
            <p:nvPr/>
          </p:nvSpPr>
          <p:spPr bwMode="auto">
            <a:xfrm>
              <a:off x="4610" y="378"/>
              <a:ext cx="25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809" name="Text Box 27"/>
            <p:cNvSpPr txBox="1">
              <a:spLocks noChangeArrowheads="1"/>
            </p:cNvSpPr>
            <p:nvPr/>
          </p:nvSpPr>
          <p:spPr bwMode="auto">
            <a:xfrm>
              <a:off x="3045" y="1010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4810" name="Text Box 28"/>
            <p:cNvSpPr txBox="1">
              <a:spLocks noChangeArrowheads="1"/>
            </p:cNvSpPr>
            <p:nvPr/>
          </p:nvSpPr>
          <p:spPr bwMode="auto">
            <a:xfrm>
              <a:off x="3102" y="1689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811" name="Text Box 29"/>
            <p:cNvSpPr txBox="1">
              <a:spLocks noChangeArrowheads="1"/>
            </p:cNvSpPr>
            <p:nvPr/>
          </p:nvSpPr>
          <p:spPr bwMode="auto">
            <a:xfrm>
              <a:off x="3639" y="1888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812" name="Text Box 30"/>
            <p:cNvSpPr txBox="1">
              <a:spLocks noChangeArrowheads="1"/>
            </p:cNvSpPr>
            <p:nvPr/>
          </p:nvSpPr>
          <p:spPr bwMode="auto">
            <a:xfrm>
              <a:off x="3872" y="1372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813" name="Text Box 31"/>
            <p:cNvSpPr txBox="1">
              <a:spLocks noChangeArrowheads="1"/>
            </p:cNvSpPr>
            <p:nvPr/>
          </p:nvSpPr>
          <p:spPr bwMode="auto">
            <a:xfrm>
              <a:off x="4143" y="1649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814" name="Text Box 32"/>
            <p:cNvSpPr txBox="1">
              <a:spLocks noChangeArrowheads="1"/>
            </p:cNvSpPr>
            <p:nvPr/>
          </p:nvSpPr>
          <p:spPr bwMode="auto">
            <a:xfrm>
              <a:off x="4603" y="1808"/>
              <a:ext cx="20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815" name="Text Box 33"/>
            <p:cNvSpPr txBox="1">
              <a:spLocks noChangeArrowheads="1"/>
            </p:cNvSpPr>
            <p:nvPr/>
          </p:nvSpPr>
          <p:spPr bwMode="auto">
            <a:xfrm>
              <a:off x="4959" y="1390"/>
              <a:ext cx="1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grpSp>
        <p:nvGrpSpPr>
          <p:cNvPr id="3" name="Group 64"/>
          <p:cNvGrpSpPr>
            <a:grpSpLocks/>
          </p:cNvGrpSpPr>
          <p:nvPr/>
        </p:nvGrpSpPr>
        <p:grpSpPr bwMode="auto">
          <a:xfrm>
            <a:off x="2194957" y="3809584"/>
            <a:ext cx="3562351" cy="2706688"/>
            <a:chOff x="3111" y="2094"/>
            <a:chExt cx="2244" cy="1705"/>
          </a:xfrm>
        </p:grpSpPr>
        <p:sp>
          <p:nvSpPr>
            <p:cNvPr id="74760" name="Line 35"/>
            <p:cNvSpPr>
              <a:spLocks noChangeShapeType="1"/>
            </p:cNvSpPr>
            <p:nvPr/>
          </p:nvSpPr>
          <p:spPr bwMode="auto">
            <a:xfrm>
              <a:off x="3517" y="2950"/>
              <a:ext cx="0" cy="5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1" name="Freeform 36"/>
            <p:cNvSpPr>
              <a:spLocks/>
            </p:cNvSpPr>
            <p:nvPr/>
          </p:nvSpPr>
          <p:spPr bwMode="auto">
            <a:xfrm>
              <a:off x="4293" y="3206"/>
              <a:ext cx="820" cy="418"/>
            </a:xfrm>
            <a:custGeom>
              <a:avLst/>
              <a:gdLst>
                <a:gd name="T0" fmla="*/ 0 w 916"/>
                <a:gd name="T1" fmla="*/ 135 h 472"/>
                <a:gd name="T2" fmla="*/ 286 w 916"/>
                <a:gd name="T3" fmla="*/ 0 h 472"/>
                <a:gd name="T4" fmla="*/ 0 60000 65536"/>
                <a:gd name="T5" fmla="*/ 0 60000 65536"/>
                <a:gd name="T6" fmla="*/ 0 w 916"/>
                <a:gd name="T7" fmla="*/ 0 h 472"/>
                <a:gd name="T8" fmla="*/ 916 w 916"/>
                <a:gd name="T9" fmla="*/ 472 h 47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16" h="472">
                  <a:moveTo>
                    <a:pt x="0" y="472"/>
                  </a:moveTo>
                  <a:lnTo>
                    <a:pt x="916" y="0"/>
                  </a:lnTo>
                </a:path>
              </a:pathLst>
            </a:custGeom>
            <a:solidFill>
              <a:srgbClr val="0066FF"/>
            </a:solidFill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2" name="Text Box 37"/>
            <p:cNvSpPr txBox="1">
              <a:spLocks noChangeArrowheads="1"/>
            </p:cNvSpPr>
            <p:nvPr/>
          </p:nvSpPr>
          <p:spPr bwMode="auto">
            <a:xfrm>
              <a:off x="4874" y="2094"/>
              <a:ext cx="2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763" name="Text Box 38"/>
            <p:cNvSpPr txBox="1">
              <a:spLocks noChangeArrowheads="1"/>
            </p:cNvSpPr>
            <p:nvPr/>
          </p:nvSpPr>
          <p:spPr bwMode="auto">
            <a:xfrm>
              <a:off x="5088" y="2550"/>
              <a:ext cx="26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h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764" name="Line 39"/>
            <p:cNvSpPr>
              <a:spLocks noChangeShapeType="1"/>
            </p:cNvSpPr>
            <p:nvPr/>
          </p:nvSpPr>
          <p:spPr bwMode="auto">
            <a:xfrm>
              <a:off x="3215" y="3035"/>
              <a:ext cx="20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5" name="Line 40"/>
            <p:cNvSpPr>
              <a:spLocks noChangeShapeType="1"/>
            </p:cNvSpPr>
            <p:nvPr/>
          </p:nvSpPr>
          <p:spPr bwMode="auto">
            <a:xfrm flipV="1">
              <a:off x="3301" y="2393"/>
              <a:ext cx="518" cy="4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6" name="Line 41"/>
            <p:cNvSpPr>
              <a:spLocks noChangeShapeType="1"/>
            </p:cNvSpPr>
            <p:nvPr/>
          </p:nvSpPr>
          <p:spPr bwMode="auto">
            <a:xfrm flipV="1">
              <a:off x="3517" y="2479"/>
              <a:ext cx="517" cy="4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7" name="Line 42"/>
            <p:cNvSpPr>
              <a:spLocks noChangeShapeType="1"/>
            </p:cNvSpPr>
            <p:nvPr/>
          </p:nvSpPr>
          <p:spPr bwMode="auto">
            <a:xfrm>
              <a:off x="3301" y="2864"/>
              <a:ext cx="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8" name="Line 43"/>
            <p:cNvSpPr>
              <a:spLocks noChangeShapeType="1"/>
            </p:cNvSpPr>
            <p:nvPr/>
          </p:nvSpPr>
          <p:spPr bwMode="auto">
            <a:xfrm flipH="1">
              <a:off x="4293" y="2350"/>
              <a:ext cx="561" cy="60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9" name="Line 44"/>
            <p:cNvSpPr>
              <a:spLocks noChangeShapeType="1"/>
            </p:cNvSpPr>
            <p:nvPr/>
          </p:nvSpPr>
          <p:spPr bwMode="auto">
            <a:xfrm flipV="1">
              <a:off x="4293" y="2778"/>
              <a:ext cx="820" cy="1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70" name="Line 45"/>
            <p:cNvSpPr>
              <a:spLocks noChangeShapeType="1"/>
            </p:cNvSpPr>
            <p:nvPr/>
          </p:nvSpPr>
          <p:spPr bwMode="auto">
            <a:xfrm>
              <a:off x="4854" y="2350"/>
              <a:ext cx="259" cy="428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71" name="Line 46"/>
            <p:cNvSpPr>
              <a:spLocks noChangeShapeType="1"/>
            </p:cNvSpPr>
            <p:nvPr/>
          </p:nvSpPr>
          <p:spPr bwMode="auto">
            <a:xfrm>
              <a:off x="4293" y="2950"/>
              <a:ext cx="0" cy="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72" name="Line 47"/>
            <p:cNvSpPr>
              <a:spLocks noChangeShapeType="1"/>
            </p:cNvSpPr>
            <p:nvPr/>
          </p:nvSpPr>
          <p:spPr bwMode="auto">
            <a:xfrm>
              <a:off x="5113" y="2778"/>
              <a:ext cx="0" cy="4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73" name="Text Box 48"/>
            <p:cNvSpPr txBox="1">
              <a:spLocks noChangeArrowheads="1"/>
            </p:cNvSpPr>
            <p:nvPr/>
          </p:nvSpPr>
          <p:spPr bwMode="auto">
            <a:xfrm>
              <a:off x="3111" y="3490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774" name="Text Box 49"/>
            <p:cNvSpPr txBox="1">
              <a:spLocks noChangeArrowheads="1"/>
            </p:cNvSpPr>
            <p:nvPr/>
          </p:nvSpPr>
          <p:spPr bwMode="auto">
            <a:xfrm>
              <a:off x="3720" y="3337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775" name="Text Box 50"/>
            <p:cNvSpPr txBox="1">
              <a:spLocks noChangeArrowheads="1"/>
            </p:cNvSpPr>
            <p:nvPr/>
          </p:nvSpPr>
          <p:spPr bwMode="auto">
            <a:xfrm>
              <a:off x="3421" y="3449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776" name="Text Box 51"/>
            <p:cNvSpPr txBox="1">
              <a:spLocks noChangeArrowheads="1"/>
            </p:cNvSpPr>
            <p:nvPr/>
          </p:nvSpPr>
          <p:spPr bwMode="auto">
            <a:xfrm>
              <a:off x="3936" y="3190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777" name="Text Box 52"/>
            <p:cNvSpPr txBox="1">
              <a:spLocks noChangeArrowheads="1"/>
            </p:cNvSpPr>
            <p:nvPr/>
          </p:nvSpPr>
          <p:spPr bwMode="auto">
            <a:xfrm>
              <a:off x="4105" y="3508"/>
              <a:ext cx="20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778" name="Text Box 53"/>
            <p:cNvSpPr txBox="1">
              <a:spLocks noChangeArrowheads="1"/>
            </p:cNvSpPr>
            <p:nvPr/>
          </p:nvSpPr>
          <p:spPr bwMode="auto">
            <a:xfrm>
              <a:off x="4768" y="3294"/>
              <a:ext cx="1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779" name="Text Box 54"/>
            <p:cNvSpPr txBox="1">
              <a:spLocks noChangeArrowheads="1"/>
            </p:cNvSpPr>
            <p:nvPr/>
          </p:nvSpPr>
          <p:spPr bwMode="auto">
            <a:xfrm>
              <a:off x="5075" y="3148"/>
              <a:ext cx="2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h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4780" name="Text Box 55"/>
            <p:cNvSpPr txBox="1">
              <a:spLocks noChangeArrowheads="1"/>
            </p:cNvSpPr>
            <p:nvPr/>
          </p:nvSpPr>
          <p:spPr bwMode="auto">
            <a:xfrm>
              <a:off x="3126" y="2626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781" name="Text Box 56"/>
            <p:cNvSpPr txBox="1">
              <a:spLocks noChangeArrowheads="1"/>
            </p:cNvSpPr>
            <p:nvPr/>
          </p:nvSpPr>
          <p:spPr bwMode="auto">
            <a:xfrm>
              <a:off x="3797" y="2195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782" name="Text Box 57"/>
            <p:cNvSpPr txBox="1">
              <a:spLocks noChangeArrowheads="1"/>
            </p:cNvSpPr>
            <p:nvPr/>
          </p:nvSpPr>
          <p:spPr bwMode="auto">
            <a:xfrm>
              <a:off x="3346" y="2763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783" name="Text Box 58"/>
            <p:cNvSpPr txBox="1">
              <a:spLocks noChangeArrowheads="1"/>
            </p:cNvSpPr>
            <p:nvPr/>
          </p:nvSpPr>
          <p:spPr bwMode="auto">
            <a:xfrm>
              <a:off x="4037" y="2293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784" name="Text Box 59"/>
            <p:cNvSpPr txBox="1">
              <a:spLocks noChangeArrowheads="1"/>
            </p:cNvSpPr>
            <p:nvPr/>
          </p:nvSpPr>
          <p:spPr bwMode="auto">
            <a:xfrm>
              <a:off x="4112" y="2719"/>
              <a:ext cx="25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4785" name="Line 60"/>
            <p:cNvSpPr>
              <a:spLocks noChangeShapeType="1"/>
            </p:cNvSpPr>
            <p:nvPr/>
          </p:nvSpPr>
          <p:spPr bwMode="auto">
            <a:xfrm flipV="1">
              <a:off x="3301" y="3238"/>
              <a:ext cx="733" cy="38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6" name="Line 61"/>
            <p:cNvSpPr>
              <a:spLocks noChangeShapeType="1"/>
            </p:cNvSpPr>
            <p:nvPr/>
          </p:nvSpPr>
          <p:spPr bwMode="auto">
            <a:xfrm flipV="1">
              <a:off x="4034" y="2479"/>
              <a:ext cx="0" cy="7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7" name="Line 62"/>
            <p:cNvSpPr>
              <a:spLocks noChangeShapeType="1"/>
            </p:cNvSpPr>
            <p:nvPr/>
          </p:nvSpPr>
          <p:spPr bwMode="auto">
            <a:xfrm>
              <a:off x="3819" y="2393"/>
              <a:ext cx="0" cy="9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8" name="Line 63"/>
            <p:cNvSpPr>
              <a:spLocks noChangeShapeType="1"/>
            </p:cNvSpPr>
            <p:nvPr/>
          </p:nvSpPr>
          <p:spPr bwMode="auto">
            <a:xfrm>
              <a:off x="4854" y="2350"/>
              <a:ext cx="0" cy="9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4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autoUpdateAnimBg="0"/>
      <p:bldP spid="114692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Line 2"/>
          <p:cNvSpPr>
            <a:spLocks noChangeShapeType="1"/>
          </p:cNvSpPr>
          <p:nvPr/>
        </p:nvSpPr>
        <p:spPr bwMode="auto">
          <a:xfrm flipV="1">
            <a:off x="6442075" y="5033541"/>
            <a:ext cx="871538" cy="8953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5779" name="Line 3"/>
          <p:cNvSpPr>
            <a:spLocks noChangeShapeType="1"/>
          </p:cNvSpPr>
          <p:nvPr/>
        </p:nvSpPr>
        <p:spPr bwMode="auto">
          <a:xfrm flipV="1">
            <a:off x="5283201" y="5201817"/>
            <a:ext cx="760413" cy="788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0" name="Line 4"/>
          <p:cNvSpPr>
            <a:spLocks noChangeShapeType="1"/>
          </p:cNvSpPr>
          <p:nvPr/>
        </p:nvSpPr>
        <p:spPr bwMode="auto">
          <a:xfrm>
            <a:off x="6442075" y="2134766"/>
            <a:ext cx="865188" cy="11668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5781" name="Line 5"/>
          <p:cNvSpPr>
            <a:spLocks noChangeShapeType="1"/>
          </p:cNvSpPr>
          <p:nvPr/>
        </p:nvSpPr>
        <p:spPr bwMode="auto">
          <a:xfrm>
            <a:off x="5283200" y="2561803"/>
            <a:ext cx="762000" cy="1028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5718" name="Line 6"/>
          <p:cNvSpPr>
            <a:spLocks noChangeShapeType="1"/>
          </p:cNvSpPr>
          <p:nvPr/>
        </p:nvSpPr>
        <p:spPr bwMode="auto">
          <a:xfrm>
            <a:off x="5283201" y="2561803"/>
            <a:ext cx="1590675" cy="1539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5719" name="Line 7"/>
          <p:cNvSpPr>
            <a:spLocks noChangeShapeType="1"/>
          </p:cNvSpPr>
          <p:nvPr/>
        </p:nvSpPr>
        <p:spPr bwMode="auto">
          <a:xfrm flipV="1">
            <a:off x="5283201" y="5482803"/>
            <a:ext cx="1590675" cy="508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4" name="Line 8"/>
          <p:cNvSpPr>
            <a:spLocks noChangeShapeType="1"/>
          </p:cNvSpPr>
          <p:nvPr/>
        </p:nvSpPr>
        <p:spPr bwMode="auto">
          <a:xfrm>
            <a:off x="2317751" y="4147716"/>
            <a:ext cx="53117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5785" name="Line 9"/>
          <p:cNvSpPr>
            <a:spLocks noChangeShapeType="1"/>
          </p:cNvSpPr>
          <p:nvPr/>
        </p:nvSpPr>
        <p:spPr bwMode="auto">
          <a:xfrm>
            <a:off x="7307263" y="3301579"/>
            <a:ext cx="0" cy="17383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5722" name="Line 10"/>
          <p:cNvSpPr>
            <a:spLocks noChangeShapeType="1"/>
          </p:cNvSpPr>
          <p:nvPr/>
        </p:nvSpPr>
        <p:spPr bwMode="auto">
          <a:xfrm>
            <a:off x="6873875" y="2715791"/>
            <a:ext cx="0" cy="27670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7" name="Line 11"/>
          <p:cNvSpPr>
            <a:spLocks noChangeShapeType="1"/>
          </p:cNvSpPr>
          <p:nvPr/>
        </p:nvSpPr>
        <p:spPr bwMode="auto">
          <a:xfrm flipH="1">
            <a:off x="6442075" y="2134767"/>
            <a:ext cx="1588" cy="37941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5788" name="Line 12"/>
          <p:cNvSpPr>
            <a:spLocks noChangeShapeType="1"/>
          </p:cNvSpPr>
          <p:nvPr/>
        </p:nvSpPr>
        <p:spPr bwMode="auto">
          <a:xfrm>
            <a:off x="6043613" y="3574628"/>
            <a:ext cx="0" cy="16271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89" name="Line 13"/>
          <p:cNvSpPr>
            <a:spLocks noChangeShapeType="1"/>
          </p:cNvSpPr>
          <p:nvPr/>
        </p:nvSpPr>
        <p:spPr bwMode="auto">
          <a:xfrm>
            <a:off x="5283200" y="2561803"/>
            <a:ext cx="0" cy="3448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90" name="Line 14"/>
          <p:cNvSpPr>
            <a:spLocks noChangeShapeType="1"/>
          </p:cNvSpPr>
          <p:nvPr/>
        </p:nvSpPr>
        <p:spPr bwMode="auto">
          <a:xfrm flipV="1">
            <a:off x="2620964" y="4623967"/>
            <a:ext cx="1031875" cy="106997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91" name="Line 15"/>
          <p:cNvSpPr>
            <a:spLocks noChangeShapeType="1"/>
          </p:cNvSpPr>
          <p:nvPr/>
        </p:nvSpPr>
        <p:spPr bwMode="auto">
          <a:xfrm>
            <a:off x="2620963" y="2244303"/>
            <a:ext cx="1033462" cy="139858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5728" name="Line 16"/>
          <p:cNvSpPr>
            <a:spLocks noChangeShapeType="1"/>
          </p:cNvSpPr>
          <p:nvPr/>
        </p:nvSpPr>
        <p:spPr bwMode="auto">
          <a:xfrm>
            <a:off x="2620964" y="2244303"/>
            <a:ext cx="1195387" cy="120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5729" name="Line 17"/>
          <p:cNvSpPr>
            <a:spLocks noChangeShapeType="1"/>
          </p:cNvSpPr>
          <p:nvPr/>
        </p:nvSpPr>
        <p:spPr bwMode="auto">
          <a:xfrm>
            <a:off x="2620964" y="5693942"/>
            <a:ext cx="1195387" cy="3206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5794" name="Line 18"/>
          <p:cNvSpPr>
            <a:spLocks noChangeShapeType="1"/>
          </p:cNvSpPr>
          <p:nvPr/>
        </p:nvSpPr>
        <p:spPr bwMode="auto">
          <a:xfrm>
            <a:off x="4845050" y="3758779"/>
            <a:ext cx="0" cy="1185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5795" name="Line 19"/>
          <p:cNvSpPr>
            <a:spLocks noChangeShapeType="1"/>
          </p:cNvSpPr>
          <p:nvPr/>
        </p:nvSpPr>
        <p:spPr bwMode="auto">
          <a:xfrm>
            <a:off x="3816350" y="2364953"/>
            <a:ext cx="0" cy="3644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96" name="Line 20"/>
          <p:cNvSpPr>
            <a:spLocks noChangeShapeType="1"/>
          </p:cNvSpPr>
          <p:nvPr/>
        </p:nvSpPr>
        <p:spPr bwMode="auto">
          <a:xfrm>
            <a:off x="3654425" y="3642892"/>
            <a:ext cx="0" cy="987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97" name="Line 21"/>
          <p:cNvSpPr>
            <a:spLocks noChangeShapeType="1"/>
          </p:cNvSpPr>
          <p:nvPr/>
        </p:nvSpPr>
        <p:spPr bwMode="auto">
          <a:xfrm>
            <a:off x="2620963" y="2244303"/>
            <a:ext cx="0" cy="34496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798" name="Rectangle 22"/>
          <p:cNvSpPr>
            <a:spLocks noChangeArrowheads="1"/>
          </p:cNvSpPr>
          <p:nvPr/>
        </p:nvSpPr>
        <p:spPr bwMode="auto">
          <a:xfrm>
            <a:off x="2403475" y="5520903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a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75799" name="Rectangle 23"/>
          <p:cNvSpPr>
            <a:spLocks noChangeArrowheads="1"/>
          </p:cNvSpPr>
          <p:nvPr/>
        </p:nvSpPr>
        <p:spPr bwMode="auto">
          <a:xfrm>
            <a:off x="3629025" y="5873328"/>
            <a:ext cx="12824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c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75800" name="Rectangle 24"/>
          <p:cNvSpPr>
            <a:spLocks noChangeArrowheads="1"/>
          </p:cNvSpPr>
          <p:nvPr/>
        </p:nvSpPr>
        <p:spPr bwMode="auto">
          <a:xfrm>
            <a:off x="5078413" y="5886028"/>
            <a:ext cx="1474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e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75801" name="Rectangle 25"/>
          <p:cNvSpPr>
            <a:spLocks noChangeArrowheads="1"/>
          </p:cNvSpPr>
          <p:nvPr/>
        </p:nvSpPr>
        <p:spPr bwMode="auto">
          <a:xfrm>
            <a:off x="3443288" y="4336628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b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75802" name="Rectangle 26"/>
          <p:cNvSpPr>
            <a:spLocks noChangeArrowheads="1"/>
          </p:cNvSpPr>
          <p:nvPr/>
        </p:nvSpPr>
        <p:spPr bwMode="auto">
          <a:xfrm>
            <a:off x="3284538" y="3574628"/>
            <a:ext cx="2340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b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75803" name="Rectangle 27"/>
          <p:cNvSpPr>
            <a:spLocks noChangeArrowheads="1"/>
          </p:cNvSpPr>
          <p:nvPr/>
        </p:nvSpPr>
        <p:spPr bwMode="auto">
          <a:xfrm>
            <a:off x="2408238" y="1979191"/>
            <a:ext cx="2340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a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75804" name="Rectangle 28"/>
          <p:cNvSpPr>
            <a:spLocks noChangeArrowheads="1"/>
          </p:cNvSpPr>
          <p:nvPr/>
        </p:nvSpPr>
        <p:spPr bwMode="auto">
          <a:xfrm>
            <a:off x="4503738" y="3676228"/>
            <a:ext cx="550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d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75805" name="Rectangle 29"/>
          <p:cNvSpPr>
            <a:spLocks noChangeArrowheads="1"/>
          </p:cNvSpPr>
          <p:nvPr/>
        </p:nvSpPr>
        <p:spPr bwMode="auto">
          <a:xfrm>
            <a:off x="4927600" y="4674766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d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75806" name="Rectangle 30"/>
          <p:cNvSpPr>
            <a:spLocks noChangeArrowheads="1"/>
          </p:cNvSpPr>
          <p:nvPr/>
        </p:nvSpPr>
        <p:spPr bwMode="auto">
          <a:xfrm>
            <a:off x="6143625" y="4850978"/>
            <a:ext cx="945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f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75807" name="Rectangle 31"/>
          <p:cNvSpPr>
            <a:spLocks noChangeArrowheads="1"/>
          </p:cNvSpPr>
          <p:nvPr/>
        </p:nvSpPr>
        <p:spPr bwMode="auto">
          <a:xfrm>
            <a:off x="3811588" y="2022053"/>
            <a:ext cx="2035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c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75808" name="Rectangle 32"/>
          <p:cNvSpPr>
            <a:spLocks noChangeArrowheads="1"/>
          </p:cNvSpPr>
          <p:nvPr/>
        </p:nvSpPr>
        <p:spPr bwMode="auto">
          <a:xfrm>
            <a:off x="5764213" y="3511128"/>
            <a:ext cx="1699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f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75809" name="Rectangle 33"/>
          <p:cNvSpPr>
            <a:spLocks noChangeArrowheads="1"/>
          </p:cNvSpPr>
          <p:nvPr/>
        </p:nvSpPr>
        <p:spPr bwMode="auto">
          <a:xfrm>
            <a:off x="5106988" y="2260178"/>
            <a:ext cx="2228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e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115746" name="Rectangle 34"/>
          <p:cNvSpPr>
            <a:spLocks noChangeArrowheads="1"/>
          </p:cNvSpPr>
          <p:nvPr/>
        </p:nvSpPr>
        <p:spPr bwMode="auto">
          <a:xfrm>
            <a:off x="6891338" y="5397078"/>
            <a:ext cx="1394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k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75811" name="Rectangle 35"/>
          <p:cNvSpPr>
            <a:spLocks noChangeArrowheads="1"/>
          </p:cNvSpPr>
          <p:nvPr/>
        </p:nvSpPr>
        <p:spPr bwMode="auto">
          <a:xfrm>
            <a:off x="7356475" y="4897016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h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115748" name="Rectangle 36"/>
          <p:cNvSpPr>
            <a:spLocks noChangeArrowheads="1"/>
          </p:cNvSpPr>
          <p:nvPr/>
        </p:nvSpPr>
        <p:spPr bwMode="auto">
          <a:xfrm>
            <a:off x="6973888" y="2474491"/>
            <a:ext cx="2148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k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75813" name="Rectangle 37"/>
          <p:cNvSpPr>
            <a:spLocks noChangeArrowheads="1"/>
          </p:cNvSpPr>
          <p:nvPr/>
        </p:nvSpPr>
        <p:spPr bwMode="auto">
          <a:xfrm>
            <a:off x="7391400" y="3122191"/>
            <a:ext cx="2340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h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75814" name="Rectangle 38"/>
          <p:cNvSpPr>
            <a:spLocks noChangeArrowheads="1"/>
          </p:cNvSpPr>
          <p:nvPr/>
        </p:nvSpPr>
        <p:spPr bwMode="auto">
          <a:xfrm>
            <a:off x="7739063" y="3931816"/>
            <a:ext cx="1554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</a:rPr>
              <a:t>O</a:t>
            </a:r>
            <a:endParaRPr kumimoji="1" lang="en-US" altLang="zh-CN" sz="2400" b="1">
              <a:latin typeface="RomanS" pitchFamily="2" charset="0"/>
            </a:endParaRPr>
          </a:p>
        </p:txBody>
      </p:sp>
      <p:sp>
        <p:nvSpPr>
          <p:cNvPr id="75815" name="Rectangle 39"/>
          <p:cNvSpPr>
            <a:spLocks noChangeArrowheads="1"/>
          </p:cNvSpPr>
          <p:nvPr/>
        </p:nvSpPr>
        <p:spPr bwMode="auto">
          <a:xfrm>
            <a:off x="2049463" y="3901653"/>
            <a:ext cx="15549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</a:rPr>
              <a:t>X</a:t>
            </a:r>
            <a:endParaRPr kumimoji="1" lang="en-US" altLang="zh-CN" sz="2400" b="1">
              <a:latin typeface="RomanS" pitchFamily="2" charset="0"/>
            </a:endParaRPr>
          </a:p>
        </p:txBody>
      </p:sp>
      <p:sp>
        <p:nvSpPr>
          <p:cNvPr id="75816" name="Rectangle 40"/>
          <p:cNvSpPr>
            <a:spLocks noChangeArrowheads="1"/>
          </p:cNvSpPr>
          <p:nvPr/>
        </p:nvSpPr>
        <p:spPr bwMode="auto">
          <a:xfrm>
            <a:off x="6370638" y="1772816"/>
            <a:ext cx="3189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m</a:t>
            </a:r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  <a:sym typeface="Symbol" pitchFamily="18" charset="2"/>
              </a:rPr>
              <a:t></a:t>
            </a:r>
            <a:endParaRPr kumimoji="1" lang="en-US" altLang="zh-CN" sz="2400" i="1">
              <a:solidFill>
                <a:srgbClr val="000000"/>
              </a:solidFill>
              <a:latin typeface="Dutch801 Rm BT" pitchFamily="18" charset="0"/>
              <a:sym typeface="CommercialPi BT" pitchFamily="18" charset="2"/>
            </a:endParaRPr>
          </a:p>
        </p:txBody>
      </p:sp>
      <p:sp>
        <p:nvSpPr>
          <p:cNvPr id="75817" name="Rectangle 41"/>
          <p:cNvSpPr>
            <a:spLocks noChangeArrowheads="1"/>
          </p:cNvSpPr>
          <p:nvPr/>
        </p:nvSpPr>
        <p:spPr bwMode="auto">
          <a:xfrm>
            <a:off x="6280150" y="5844753"/>
            <a:ext cx="2436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m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75818" name="Line 42"/>
          <p:cNvSpPr>
            <a:spLocks noChangeShapeType="1"/>
          </p:cNvSpPr>
          <p:nvPr/>
        </p:nvSpPr>
        <p:spPr bwMode="auto">
          <a:xfrm>
            <a:off x="3816351" y="2360192"/>
            <a:ext cx="1033463" cy="139858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819" name="Line 43"/>
          <p:cNvSpPr>
            <a:spLocks noChangeShapeType="1"/>
          </p:cNvSpPr>
          <p:nvPr/>
        </p:nvSpPr>
        <p:spPr bwMode="auto">
          <a:xfrm flipV="1">
            <a:off x="3817939" y="4944642"/>
            <a:ext cx="1031875" cy="1069975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821" name="Text Box 45"/>
          <p:cNvSpPr txBox="1">
            <a:spLocks noChangeArrowheads="1"/>
          </p:cNvSpPr>
          <p:nvPr/>
        </p:nvSpPr>
        <p:spPr bwMode="auto">
          <a:xfrm>
            <a:off x="1032284" y="1256641"/>
            <a:ext cx="1012743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800" b="1" dirty="0">
                <a:latin typeface="宋体" pitchFamily="2" charset="-122"/>
              </a:rPr>
              <a:t>例：已知</a:t>
            </a:r>
            <a:r>
              <a:rPr kumimoji="1" lang="en-US" altLang="zh-CN" sz="2800" b="1" dirty="0">
                <a:latin typeface="宋体" pitchFamily="2" charset="-122"/>
              </a:rPr>
              <a:t>AB∥CD∥EF∥MH</a:t>
            </a:r>
            <a:r>
              <a:rPr kumimoji="1" lang="zh-CN" altLang="en-US" sz="2800" b="1" dirty="0">
                <a:latin typeface="宋体" pitchFamily="2" charset="-122"/>
              </a:rPr>
              <a:t>，判断平面</a:t>
            </a:r>
            <a:r>
              <a:rPr kumimoji="1" lang="en-US" altLang="zh-CN" sz="2800" b="1" dirty="0">
                <a:latin typeface="宋体" pitchFamily="2" charset="-122"/>
              </a:rPr>
              <a:t>ABDC</a:t>
            </a:r>
            <a:r>
              <a:rPr kumimoji="1" lang="zh-CN" altLang="en-US" sz="2800" b="1" dirty="0">
                <a:latin typeface="宋体" pitchFamily="2" charset="-122"/>
              </a:rPr>
              <a:t>与平面</a:t>
            </a:r>
            <a:r>
              <a:rPr kumimoji="1" lang="en-US" altLang="zh-CN" sz="2800" b="1" dirty="0">
                <a:latin typeface="宋体" pitchFamily="2" charset="-122"/>
              </a:rPr>
              <a:t>EFHM</a:t>
            </a:r>
            <a:r>
              <a:rPr kumimoji="1" lang="zh-CN" altLang="en-US" sz="2800" b="1" dirty="0">
                <a:latin typeface="宋体" pitchFamily="2" charset="-122"/>
              </a:rPr>
              <a:t>是否平行</a:t>
            </a:r>
            <a:endParaRPr kumimoji="1" lang="en-US" altLang="zh-CN" sz="2800" b="1" dirty="0">
              <a:latin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493177" y="3842806"/>
            <a:ext cx="3126507" cy="95410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b="1" dirty="0">
                <a:latin typeface="RomanS" pitchFamily="2" charset="0"/>
              </a:rPr>
              <a:t>由于</a:t>
            </a:r>
            <a:r>
              <a:rPr kumimoji="1" lang="en-US" altLang="zh-CN" sz="2800" i="1" dirty="0" err="1">
                <a:solidFill>
                  <a:srgbClr val="000000"/>
                </a:solidFill>
                <a:latin typeface="Dutch801 Rm BT" pitchFamily="18" charset="0"/>
              </a:rPr>
              <a:t>ek</a:t>
            </a:r>
            <a:r>
              <a:rPr kumimoji="1" lang="zh-CN" altLang="en-US" sz="2800" b="1" dirty="0">
                <a:latin typeface="RomanS" pitchFamily="2" charset="0"/>
              </a:rPr>
              <a:t>不平行于</a:t>
            </a:r>
            <a:r>
              <a:rPr kumimoji="1" lang="en-US" altLang="zh-CN" sz="2800" i="1" dirty="0">
                <a:solidFill>
                  <a:srgbClr val="000000"/>
                </a:solidFill>
                <a:latin typeface="Dutch801 Rm BT" pitchFamily="18" charset="0"/>
              </a:rPr>
              <a:t>ac</a:t>
            </a:r>
            <a:r>
              <a:rPr kumimoji="1" lang="en-US" altLang="zh-CN" sz="2800" b="1" dirty="0">
                <a:latin typeface="RomanS" pitchFamily="2" charset="0"/>
              </a:rPr>
              <a:t>,</a:t>
            </a:r>
            <a:r>
              <a:rPr kumimoji="1" lang="zh-CN" altLang="en-US" sz="2800" b="1" dirty="0">
                <a:latin typeface="RomanS" pitchFamily="2" charset="0"/>
              </a:rPr>
              <a:t>故两平面不平行。</a:t>
            </a:r>
          </a:p>
        </p:txBody>
      </p:sp>
      <p:sp>
        <p:nvSpPr>
          <p:cNvPr id="48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8" grpId="0" animBg="1"/>
      <p:bldP spid="115719" grpId="0" animBg="1"/>
      <p:bldP spid="115722" grpId="0" animBg="1"/>
      <p:bldP spid="115728" grpId="0" animBg="1"/>
      <p:bldP spid="115729" grpId="0" animBg="1"/>
      <p:bldP spid="115746" grpId="0" autoUpdateAnimBg="0"/>
      <p:bldP spid="115748" grpId="0" autoUpdateAnimBg="0"/>
      <p:bldP spid="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1231815" y="901368"/>
            <a:ext cx="23487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800" b="1" dirty="0">
                <a:latin typeface="Times New Roman" pitchFamily="18" charset="0"/>
                <a:ea typeface="黑体" pitchFamily="49" charset="-122"/>
              </a:rPr>
              <a:t>二、相交问题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70263" y="1412776"/>
            <a:ext cx="2829066" cy="1035985"/>
            <a:chOff x="2790" y="667"/>
            <a:chExt cx="1968" cy="497"/>
          </a:xfrm>
        </p:grpSpPr>
        <p:sp>
          <p:nvSpPr>
            <p:cNvPr id="76822" name="Text Box 5"/>
            <p:cNvSpPr txBox="1">
              <a:spLocks noChangeArrowheads="1"/>
            </p:cNvSpPr>
            <p:nvPr/>
          </p:nvSpPr>
          <p:spPr bwMode="auto">
            <a:xfrm>
              <a:off x="2812" y="667"/>
              <a:ext cx="1635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zh-CN" altLang="en-US" sz="2400" b="1" dirty="0">
                  <a:solidFill>
                    <a:srgbClr val="003399"/>
                  </a:solidFill>
                  <a:latin typeface="Times New Roman" pitchFamily="18" charset="0"/>
                </a:rPr>
                <a:t>直线与平面相交</a:t>
              </a:r>
            </a:p>
          </p:txBody>
        </p:sp>
        <p:sp>
          <p:nvSpPr>
            <p:cNvPr id="76823" name="Text Box 6"/>
            <p:cNvSpPr txBox="1">
              <a:spLocks noChangeArrowheads="1"/>
            </p:cNvSpPr>
            <p:nvPr/>
          </p:nvSpPr>
          <p:spPr bwMode="auto">
            <a:xfrm>
              <a:off x="2790" y="943"/>
              <a:ext cx="1968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kumimoji="1" lang="zh-CN" altLang="en-US" sz="2400" b="1">
                  <a:solidFill>
                    <a:srgbClr val="003399"/>
                  </a:solidFill>
                  <a:latin typeface="Times New Roman" pitchFamily="18" charset="0"/>
                </a:rPr>
                <a:t>平面与平面相交</a:t>
              </a:r>
            </a:p>
          </p:txBody>
        </p:sp>
      </p:grpSp>
      <p:sp>
        <p:nvSpPr>
          <p:cNvPr id="116744" name="Text Box 8"/>
          <p:cNvSpPr txBox="1">
            <a:spLocks noChangeArrowheads="1"/>
          </p:cNvSpPr>
          <p:nvPr/>
        </p:nvSpPr>
        <p:spPr bwMode="auto">
          <a:xfrm>
            <a:off x="1810606" y="2655212"/>
            <a:ext cx="28135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⒈  </a:t>
            </a:r>
            <a:r>
              <a:rPr kumimoji="1" lang="zh-CN" altLang="en-US" sz="2400" b="1" dirty="0">
                <a:latin typeface="Times New Roman" pitchFamily="18" charset="0"/>
              </a:rPr>
              <a:t>直线与平面相交</a:t>
            </a:r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2254048" y="4250505"/>
            <a:ext cx="23503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要讨论的问题：</a:t>
            </a:r>
          </a:p>
        </p:txBody>
      </p: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2209800" y="4852422"/>
            <a:ext cx="35878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★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求</a:t>
            </a:r>
            <a:r>
              <a:rPr kumimoji="1" lang="zh-CN" altLang="en-US" sz="2400" b="1" dirty="0">
                <a:latin typeface="Times New Roman" pitchFamily="18" charset="0"/>
              </a:rPr>
              <a:t>直线与平面的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交点。</a:t>
            </a:r>
            <a:endParaRPr kumimoji="1" lang="zh-CN" altLang="en-US" sz="2400" b="1" dirty="0">
              <a:latin typeface="Times New Roman" pitchFamily="18" charset="0"/>
            </a:endParaRPr>
          </a:p>
        </p:txBody>
      </p:sp>
      <p:sp>
        <p:nvSpPr>
          <p:cNvPr id="76808" name="Text Box 11"/>
          <p:cNvSpPr txBox="1">
            <a:spLocks noChangeArrowheads="1"/>
          </p:cNvSpPr>
          <p:nvPr/>
        </p:nvSpPr>
        <p:spPr bwMode="auto">
          <a:xfrm>
            <a:off x="2590800" y="4891088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>
                <a:latin typeface="Times New Roman" pitchFamily="18" charset="0"/>
              </a:rPr>
              <a:t>   </a:t>
            </a:r>
          </a:p>
        </p:txBody>
      </p:sp>
      <p:sp>
        <p:nvSpPr>
          <p:cNvPr id="116748" name="Text Box 12"/>
          <p:cNvSpPr txBox="1">
            <a:spLocks noChangeArrowheads="1"/>
          </p:cNvSpPr>
          <p:nvPr/>
        </p:nvSpPr>
        <p:spPr bwMode="auto">
          <a:xfrm>
            <a:off x="2209800" y="5339064"/>
            <a:ext cx="77026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★判别两者之间的相互遮挡关系，即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判别可见性。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116749" name="Text Box 13"/>
          <p:cNvSpPr txBox="1">
            <a:spLocks noChangeArrowheads="1"/>
          </p:cNvSpPr>
          <p:nvPr/>
        </p:nvSpPr>
        <p:spPr bwMode="auto">
          <a:xfrm>
            <a:off x="1991544" y="5845798"/>
            <a:ext cx="83548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这里只讨论直线与平面中至少有一个处于特殊位置的情况。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6816080" y="2852936"/>
            <a:ext cx="3767869" cy="1870023"/>
            <a:chOff x="3329" y="1864"/>
            <a:chExt cx="1884" cy="1051"/>
          </a:xfrm>
        </p:grpSpPr>
        <p:grpSp>
          <p:nvGrpSpPr>
            <p:cNvPr id="76812" name="Group 15"/>
            <p:cNvGrpSpPr>
              <a:grpSpLocks/>
            </p:cNvGrpSpPr>
            <p:nvPr/>
          </p:nvGrpSpPr>
          <p:grpSpPr bwMode="auto">
            <a:xfrm>
              <a:off x="3329" y="1865"/>
              <a:ext cx="792" cy="1019"/>
              <a:chOff x="3329" y="1865"/>
              <a:chExt cx="792" cy="1019"/>
            </a:xfrm>
          </p:grpSpPr>
          <p:sp>
            <p:nvSpPr>
              <p:cNvPr id="76818" name="Line 16"/>
              <p:cNvSpPr>
                <a:spLocks noChangeShapeType="1"/>
              </p:cNvSpPr>
              <p:nvPr/>
            </p:nvSpPr>
            <p:spPr bwMode="auto">
              <a:xfrm flipH="1">
                <a:off x="3728" y="1974"/>
                <a:ext cx="393" cy="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76819" name="AutoShape 17"/>
              <p:cNvSpPr>
                <a:spLocks noChangeArrowheads="1"/>
              </p:cNvSpPr>
              <p:nvPr/>
            </p:nvSpPr>
            <p:spPr bwMode="auto">
              <a:xfrm rot="16200000">
                <a:off x="3225" y="2202"/>
                <a:ext cx="1019" cy="345"/>
              </a:xfrm>
              <a:prstGeom prst="parallelogram">
                <a:avLst>
                  <a:gd name="adj" fmla="val 53499"/>
                </a:avLst>
              </a:prstGeom>
              <a:solidFill>
                <a:srgbClr val="66FF33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endParaRPr kumimoji="1" lang="zh-CN" altLang="zh-CN" sz="2400">
                  <a:latin typeface="RomanS" pitchFamily="2" charset="0"/>
                </a:endParaRPr>
              </a:p>
            </p:txBody>
          </p:sp>
          <p:sp>
            <p:nvSpPr>
              <p:cNvPr id="76820" name="Line 18"/>
              <p:cNvSpPr>
                <a:spLocks noChangeShapeType="1"/>
              </p:cNvSpPr>
              <p:nvPr/>
            </p:nvSpPr>
            <p:spPr bwMode="auto">
              <a:xfrm flipH="1">
                <a:off x="3329" y="2367"/>
                <a:ext cx="393" cy="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76821" name="Text Box 19"/>
              <p:cNvSpPr txBox="1">
                <a:spLocks noChangeArrowheads="1"/>
              </p:cNvSpPr>
              <p:nvPr/>
            </p:nvSpPr>
            <p:spPr bwMode="auto">
              <a:xfrm>
                <a:off x="3648" y="2289"/>
                <a:ext cx="163" cy="14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100" dirty="0">
                    <a:solidFill>
                      <a:srgbClr val="FF6600"/>
                    </a:solidFill>
                    <a:latin typeface="RomanS" pitchFamily="2" charset="0"/>
                  </a:rPr>
                  <a:t>●</a:t>
                </a:r>
              </a:p>
            </p:txBody>
          </p:sp>
        </p:grpSp>
        <p:grpSp>
          <p:nvGrpSpPr>
            <p:cNvPr id="76813" name="Group 20"/>
            <p:cNvGrpSpPr>
              <a:grpSpLocks/>
            </p:cNvGrpSpPr>
            <p:nvPr/>
          </p:nvGrpSpPr>
          <p:grpSpPr bwMode="auto">
            <a:xfrm>
              <a:off x="4421" y="1864"/>
              <a:ext cx="792" cy="1051"/>
              <a:chOff x="4421" y="1864"/>
              <a:chExt cx="792" cy="1051"/>
            </a:xfrm>
          </p:grpSpPr>
          <p:sp>
            <p:nvSpPr>
              <p:cNvPr id="76814" name="Line 21"/>
              <p:cNvSpPr>
                <a:spLocks noChangeShapeType="1"/>
              </p:cNvSpPr>
              <p:nvPr/>
            </p:nvSpPr>
            <p:spPr bwMode="auto">
              <a:xfrm flipH="1">
                <a:off x="4421" y="2418"/>
                <a:ext cx="393" cy="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76815" name="AutoShape 22"/>
              <p:cNvSpPr>
                <a:spLocks noChangeArrowheads="1"/>
              </p:cNvSpPr>
              <p:nvPr/>
            </p:nvSpPr>
            <p:spPr bwMode="auto">
              <a:xfrm rot="5400000">
                <a:off x="4287" y="2220"/>
                <a:ext cx="1051" cy="340"/>
              </a:xfrm>
              <a:prstGeom prst="parallelogram">
                <a:avLst>
                  <a:gd name="adj" fmla="val 52977"/>
                </a:avLst>
              </a:prstGeom>
              <a:solidFill>
                <a:srgbClr val="66FF33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76816" name="Line 23"/>
              <p:cNvSpPr>
                <a:spLocks noChangeShapeType="1"/>
              </p:cNvSpPr>
              <p:nvPr/>
            </p:nvSpPr>
            <p:spPr bwMode="auto">
              <a:xfrm flipH="1">
                <a:off x="4820" y="2025"/>
                <a:ext cx="393" cy="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76817" name="Text Box 24"/>
              <p:cNvSpPr txBox="1">
                <a:spLocks noChangeArrowheads="1"/>
              </p:cNvSpPr>
              <p:nvPr/>
            </p:nvSpPr>
            <p:spPr bwMode="auto">
              <a:xfrm>
                <a:off x="4740" y="2340"/>
                <a:ext cx="163" cy="14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100" dirty="0">
                    <a:solidFill>
                      <a:srgbClr val="FF6600"/>
                    </a:solidFill>
                    <a:latin typeface="RomanS" pitchFamily="2" charset="0"/>
                  </a:rPr>
                  <a:t>●</a:t>
                </a: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3745782" y="1477420"/>
            <a:ext cx="1374455" cy="902026"/>
            <a:chOff x="2221781" y="1852460"/>
            <a:chExt cx="1374455" cy="902026"/>
          </a:xfrm>
        </p:grpSpPr>
        <p:sp>
          <p:nvSpPr>
            <p:cNvPr id="25" name="Text Box 3"/>
            <p:cNvSpPr txBox="1">
              <a:spLocks noChangeArrowheads="1"/>
            </p:cNvSpPr>
            <p:nvPr/>
          </p:nvSpPr>
          <p:spPr bwMode="auto">
            <a:xfrm>
              <a:off x="2221781" y="2041863"/>
              <a:ext cx="126669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zh-CN" altLang="en-US" sz="2800" b="1" dirty="0">
                  <a:latin typeface="Times New Roman" pitchFamily="18" charset="0"/>
                  <a:ea typeface="黑体" pitchFamily="49" charset="-122"/>
                </a:rPr>
                <a:t>包括：</a:t>
              </a:r>
            </a:p>
          </p:txBody>
        </p:sp>
        <p:sp>
          <p:nvSpPr>
            <p:cNvPr id="26" name="左大括号 25"/>
            <p:cNvSpPr/>
            <p:nvPr/>
          </p:nvSpPr>
          <p:spPr>
            <a:xfrm>
              <a:off x="3452220" y="1852460"/>
              <a:ext cx="144016" cy="902026"/>
            </a:xfrm>
            <a:prstGeom prst="leftBrace">
              <a:avLst>
                <a:gd name="adj1" fmla="val 62634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  <p:sp>
        <p:nvSpPr>
          <p:cNvPr id="5" name="矩形 4"/>
          <p:cNvSpPr/>
          <p:nvPr/>
        </p:nvSpPr>
        <p:spPr>
          <a:xfrm>
            <a:off x="2269134" y="3219470"/>
            <a:ext cx="3808723" cy="83099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itchFamily="2" charset="-122"/>
              </a:rPr>
              <a:t>直线与平面相交，其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交点是直线与平面的共有点。</a:t>
            </a:r>
            <a:endParaRPr kumimoji="1" lang="zh-CN" altLang="en-US" sz="24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116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75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4" grpId="0" autoUpdateAnimBg="0"/>
      <p:bldP spid="116745" grpId="0" autoUpdateAnimBg="0"/>
      <p:bldP spid="116746" grpId="0" build="p" autoUpdateAnimBg="0"/>
      <p:bldP spid="116748" grpId="0" autoUpdateAnimBg="0"/>
      <p:bldP spid="116749" grpId="0" autoUpdateAnimBg="0"/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2"/>
          <p:cNvSpPr txBox="1">
            <a:spLocks noChangeArrowheads="1"/>
          </p:cNvSpPr>
          <p:nvPr/>
        </p:nvSpPr>
        <p:spPr bwMode="auto">
          <a:xfrm>
            <a:off x="1254255" y="1137588"/>
            <a:ext cx="831189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</a:rPr>
              <a:t>例：求直线</a:t>
            </a:r>
            <a:r>
              <a:rPr lang="en-US" altLang="zh-CN" sz="2800" b="1" dirty="0">
                <a:latin typeface="Times New Roman" pitchFamily="18" charset="0"/>
              </a:rPr>
              <a:t>MN</a:t>
            </a:r>
            <a:r>
              <a:rPr lang="zh-CN" altLang="en-US" sz="2800" b="1" dirty="0">
                <a:latin typeface="Times New Roman" pitchFamily="18" charset="0"/>
              </a:rPr>
              <a:t>与平面</a:t>
            </a:r>
            <a:r>
              <a:rPr lang="en-US" altLang="zh-CN" sz="2800" b="1" dirty="0">
                <a:latin typeface="Times New Roman" pitchFamily="18" charset="0"/>
              </a:rPr>
              <a:t>ABC</a:t>
            </a:r>
            <a:r>
              <a:rPr lang="zh-CN" altLang="en-US" sz="2800" b="1" dirty="0">
                <a:latin typeface="Times New Roman" pitchFamily="18" charset="0"/>
              </a:rPr>
              <a:t>的交点</a:t>
            </a:r>
            <a:r>
              <a:rPr lang="en-US" altLang="zh-CN" sz="2800" b="1" dirty="0">
                <a:latin typeface="Times New Roman" pitchFamily="18" charset="0"/>
              </a:rPr>
              <a:t>K</a:t>
            </a:r>
            <a:r>
              <a:rPr lang="zh-CN" altLang="en-US" sz="2800" b="1" dirty="0">
                <a:latin typeface="Times New Roman" pitchFamily="18" charset="0"/>
              </a:rPr>
              <a:t>并判别可见性。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7168476" y="2120305"/>
            <a:ext cx="2709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</a:rPr>
              <a:t>空间及投影分析</a:t>
            </a:r>
          </a:p>
        </p:txBody>
      </p:sp>
      <p:sp>
        <p:nvSpPr>
          <p:cNvPr id="117764" name="Text Box 4"/>
          <p:cNvSpPr txBox="1">
            <a:spLocks noChangeArrowheads="1"/>
          </p:cNvSpPr>
          <p:nvPr/>
        </p:nvSpPr>
        <p:spPr bwMode="auto">
          <a:xfrm>
            <a:off x="6037263" y="2643526"/>
            <a:ext cx="448014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    </a:t>
            </a:r>
            <a:r>
              <a:rPr lang="zh-CN" altLang="en-US" sz="2400" b="1" dirty="0">
                <a:solidFill>
                  <a:srgbClr val="003399"/>
                </a:solidFill>
                <a:latin typeface="ISOCPEUR" pitchFamily="34" charset="0"/>
              </a:rPr>
              <a:t>平面</a:t>
            </a:r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ABC</a:t>
            </a:r>
            <a:r>
              <a:rPr lang="zh-CN" altLang="en-US" sz="2400" b="1" dirty="0">
                <a:solidFill>
                  <a:srgbClr val="003399"/>
                </a:solidFill>
                <a:latin typeface="ISOCPEUR" pitchFamily="34" charset="0"/>
              </a:rPr>
              <a:t>是一铅垂面，其水平投影积聚成一条直线，该直线与</a:t>
            </a:r>
            <a:r>
              <a:rPr kumimoji="1" lang="en-US" altLang="zh-CN" sz="2400" i="1" dirty="0" err="1">
                <a:latin typeface="宋体" pitchFamily="2" charset="-122"/>
              </a:rPr>
              <a:t>mn</a:t>
            </a:r>
            <a:r>
              <a:rPr lang="zh-CN" altLang="en-US" sz="2400" b="1" dirty="0">
                <a:solidFill>
                  <a:srgbClr val="003399"/>
                </a:solidFill>
                <a:latin typeface="ISOCPEUR" pitchFamily="34" charset="0"/>
              </a:rPr>
              <a:t>的交点即为</a:t>
            </a:r>
            <a:r>
              <a:rPr lang="en-US" altLang="zh-CN" sz="2400" b="1" dirty="0">
                <a:solidFill>
                  <a:srgbClr val="003399"/>
                </a:solidFill>
                <a:latin typeface="ISOCPEUR" pitchFamily="34" charset="0"/>
              </a:rPr>
              <a:t>K</a:t>
            </a:r>
            <a:r>
              <a:rPr lang="zh-CN" altLang="en-US" sz="2400" b="1" dirty="0">
                <a:solidFill>
                  <a:srgbClr val="003399"/>
                </a:solidFill>
                <a:latin typeface="ISOCPEUR" pitchFamily="34" charset="0"/>
              </a:rPr>
              <a:t>点的水平投影。</a:t>
            </a:r>
          </a:p>
        </p:txBody>
      </p:sp>
      <p:sp>
        <p:nvSpPr>
          <p:cNvPr id="117765" name="Text Box 5"/>
          <p:cNvSpPr txBox="1">
            <a:spLocks noChangeArrowheads="1"/>
          </p:cNvSpPr>
          <p:nvPr/>
        </p:nvSpPr>
        <p:spPr bwMode="auto">
          <a:xfrm>
            <a:off x="6019800" y="4479504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</a:rPr>
              <a:t>①</a:t>
            </a:r>
            <a:r>
              <a:rPr lang="zh-CN" altLang="en-US" sz="2400" b="1" dirty="0">
                <a:latin typeface="Times New Roman" pitchFamily="18" charset="0"/>
              </a:rPr>
              <a:t>求交点</a:t>
            </a:r>
          </a:p>
        </p:txBody>
      </p:sp>
      <p:sp>
        <p:nvSpPr>
          <p:cNvPr id="117766" name="Text Box 6"/>
          <p:cNvSpPr txBox="1">
            <a:spLocks noChangeArrowheads="1"/>
          </p:cNvSpPr>
          <p:nvPr/>
        </p:nvSpPr>
        <p:spPr bwMode="auto">
          <a:xfrm>
            <a:off x="6035231" y="4941169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</a:rPr>
              <a:t>②</a:t>
            </a:r>
            <a:r>
              <a:rPr lang="zh-CN" altLang="en-US" sz="2400" b="1" dirty="0">
                <a:latin typeface="Times New Roman" pitchFamily="18" charset="0"/>
              </a:rPr>
              <a:t>判别可见性</a:t>
            </a:r>
          </a:p>
        </p:txBody>
      </p:sp>
      <p:sp>
        <p:nvSpPr>
          <p:cNvPr id="117767" name="Text Box 7"/>
          <p:cNvSpPr txBox="1">
            <a:spLocks noChangeArrowheads="1"/>
          </p:cNvSpPr>
          <p:nvPr/>
        </p:nvSpPr>
        <p:spPr bwMode="auto">
          <a:xfrm>
            <a:off x="5943600" y="5336166"/>
            <a:ext cx="4616896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由水平投影可知，</a:t>
            </a: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KN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段在平面前，故正面投影上</a:t>
            </a:r>
            <a:r>
              <a:rPr kumimoji="1" lang="en-US" altLang="zh-CN" sz="2400" i="1" dirty="0" err="1">
                <a:solidFill>
                  <a:srgbClr val="FF3300"/>
                </a:solidFill>
                <a:latin typeface="宋体" pitchFamily="2" charset="-122"/>
              </a:rPr>
              <a:t>k</a:t>
            </a:r>
            <a:r>
              <a:rPr kumimoji="1" lang="en-US" altLang="zh-CN" sz="2400" b="1" dirty="0" err="1">
                <a:solidFill>
                  <a:srgbClr val="FF3300"/>
                </a:solidFill>
                <a:latin typeface="宋体" pitchFamily="2" charset="-122"/>
                <a:sym typeface="Symbol" pitchFamily="18" charset="2"/>
              </a:rPr>
              <a:t></a:t>
            </a:r>
            <a:r>
              <a:rPr kumimoji="1" lang="en-US" altLang="zh-CN" sz="2400" i="1" dirty="0" err="1">
                <a:solidFill>
                  <a:srgbClr val="FF3300"/>
                </a:solidFill>
                <a:latin typeface="宋体" pitchFamily="2" charset="-122"/>
              </a:rPr>
              <a:t>n</a:t>
            </a:r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  <a:sym typeface="Symbol" pitchFamily="18" charset="2"/>
              </a:rPr>
              <a:t>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为可见。</a:t>
            </a:r>
          </a:p>
        </p:txBody>
      </p:sp>
      <p:sp>
        <p:nvSpPr>
          <p:cNvPr id="117768" name="Text Box 8"/>
          <p:cNvSpPr txBox="1">
            <a:spLocks noChangeArrowheads="1"/>
          </p:cNvSpPr>
          <p:nvPr/>
        </p:nvSpPr>
        <p:spPr bwMode="auto">
          <a:xfrm>
            <a:off x="6477004" y="6038483"/>
            <a:ext cx="42642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</a:rPr>
              <a:t>还可通过重影点判别可见性。</a:t>
            </a:r>
          </a:p>
        </p:txBody>
      </p:sp>
      <p:sp>
        <p:nvSpPr>
          <p:cNvPr id="117769" name="Text Box 9"/>
          <p:cNvSpPr txBox="1">
            <a:spLocks noChangeArrowheads="1"/>
          </p:cNvSpPr>
          <p:nvPr/>
        </p:nvSpPr>
        <p:spPr bwMode="auto">
          <a:xfrm>
            <a:off x="6051476" y="4041354"/>
            <a:ext cx="80342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作图</a:t>
            </a:r>
          </a:p>
        </p:txBody>
      </p:sp>
      <p:sp>
        <p:nvSpPr>
          <p:cNvPr id="117770" name="Freeform 10"/>
          <p:cNvSpPr>
            <a:spLocks/>
          </p:cNvSpPr>
          <p:nvPr/>
        </p:nvSpPr>
        <p:spPr bwMode="auto">
          <a:xfrm>
            <a:off x="4064000" y="3573042"/>
            <a:ext cx="215900" cy="2000654"/>
          </a:xfrm>
          <a:custGeom>
            <a:avLst/>
            <a:gdLst>
              <a:gd name="T0" fmla="*/ 0 w 1"/>
              <a:gd name="T1" fmla="*/ 2147483647 h 1256"/>
              <a:gd name="T2" fmla="*/ 0 w 1"/>
              <a:gd name="T3" fmla="*/ 0 h 1256"/>
              <a:gd name="T4" fmla="*/ 0 60000 65536"/>
              <a:gd name="T5" fmla="*/ 0 60000 65536"/>
              <a:gd name="T6" fmla="*/ 0 w 1"/>
              <a:gd name="T7" fmla="*/ 0 h 1256"/>
              <a:gd name="T8" fmla="*/ 1 w 1"/>
              <a:gd name="T9" fmla="*/ 1256 h 12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256">
                <a:moveTo>
                  <a:pt x="0" y="125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7771" name="Freeform 11"/>
          <p:cNvSpPr>
            <a:spLocks/>
          </p:cNvSpPr>
          <p:nvPr/>
        </p:nvSpPr>
        <p:spPr bwMode="auto">
          <a:xfrm>
            <a:off x="3473450" y="3895311"/>
            <a:ext cx="330844" cy="1867990"/>
          </a:xfrm>
          <a:custGeom>
            <a:avLst/>
            <a:gdLst>
              <a:gd name="T0" fmla="*/ 0 w 1"/>
              <a:gd name="T1" fmla="*/ 0 h 1186"/>
              <a:gd name="T2" fmla="*/ 0 w 1"/>
              <a:gd name="T3" fmla="*/ 2147483647 h 1186"/>
              <a:gd name="T4" fmla="*/ 0 60000 65536"/>
              <a:gd name="T5" fmla="*/ 0 60000 65536"/>
              <a:gd name="T6" fmla="*/ 0 w 1"/>
              <a:gd name="T7" fmla="*/ 0 h 1186"/>
              <a:gd name="T8" fmla="*/ 1 w 1"/>
              <a:gd name="T9" fmla="*/ 1186 h 1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186">
                <a:moveTo>
                  <a:pt x="0" y="0"/>
                </a:moveTo>
                <a:lnTo>
                  <a:pt x="0" y="1186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7773" name="AutoShape 13"/>
          <p:cNvSpPr>
            <a:spLocks noChangeArrowheads="1"/>
          </p:cNvSpPr>
          <p:nvPr/>
        </p:nvSpPr>
        <p:spPr bwMode="auto">
          <a:xfrm>
            <a:off x="8400361" y="4025410"/>
            <a:ext cx="1765300" cy="1168539"/>
          </a:xfrm>
          <a:prstGeom prst="wedgeEllipseCallout">
            <a:avLst>
              <a:gd name="adj1" fmla="val -98138"/>
              <a:gd name="adj2" fmla="val 13448"/>
            </a:avLst>
          </a:prstGeom>
          <a:solidFill>
            <a:srgbClr val="FF99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用线上取点法</a:t>
            </a:r>
          </a:p>
        </p:txBody>
      </p:sp>
      <p:grpSp>
        <p:nvGrpSpPr>
          <p:cNvPr id="77837" name="Group 14"/>
          <p:cNvGrpSpPr>
            <a:grpSpLocks/>
          </p:cNvGrpSpPr>
          <p:nvPr/>
        </p:nvGrpSpPr>
        <p:grpSpPr bwMode="auto">
          <a:xfrm>
            <a:off x="1981200" y="1958554"/>
            <a:ext cx="3962400" cy="4422775"/>
            <a:chOff x="288" y="517"/>
            <a:chExt cx="2496" cy="2786"/>
          </a:xfrm>
        </p:grpSpPr>
        <p:sp>
          <p:nvSpPr>
            <p:cNvPr id="77855" name="Text Box 15"/>
            <p:cNvSpPr txBox="1">
              <a:spLocks noChangeArrowheads="1"/>
            </p:cNvSpPr>
            <p:nvPr/>
          </p:nvSpPr>
          <p:spPr bwMode="auto">
            <a:xfrm>
              <a:off x="288" y="517"/>
              <a:ext cx="17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</a:rPr>
                <a:t>⑴ </a:t>
              </a:r>
              <a:r>
                <a:rPr lang="zh-CN" altLang="en-US" sz="2400" b="1" dirty="0">
                  <a:latin typeface="Times New Roman" pitchFamily="18" charset="0"/>
                </a:rPr>
                <a:t>平面为特殊位置</a:t>
              </a:r>
            </a:p>
          </p:txBody>
        </p:sp>
        <p:grpSp>
          <p:nvGrpSpPr>
            <p:cNvPr id="77856" name="Group 16"/>
            <p:cNvGrpSpPr>
              <a:grpSpLocks/>
            </p:cNvGrpSpPr>
            <p:nvPr/>
          </p:nvGrpSpPr>
          <p:grpSpPr bwMode="auto">
            <a:xfrm>
              <a:off x="384" y="951"/>
              <a:ext cx="2400" cy="2208"/>
              <a:chOff x="384" y="951"/>
              <a:chExt cx="2400" cy="2208"/>
            </a:xfrm>
          </p:grpSpPr>
          <p:sp>
            <p:nvSpPr>
              <p:cNvPr id="77867" name="Line 17"/>
              <p:cNvSpPr>
                <a:spLocks noChangeShapeType="1"/>
              </p:cNvSpPr>
              <p:nvPr/>
            </p:nvSpPr>
            <p:spPr bwMode="auto">
              <a:xfrm>
                <a:off x="384" y="2103"/>
                <a:ext cx="24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68" name="Line 18"/>
              <p:cNvSpPr>
                <a:spLocks noChangeShapeType="1"/>
              </p:cNvSpPr>
              <p:nvPr/>
            </p:nvSpPr>
            <p:spPr bwMode="auto">
              <a:xfrm>
                <a:off x="672" y="1671"/>
                <a:ext cx="1584" cy="240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69" name="Line 19"/>
              <p:cNvSpPr>
                <a:spLocks noChangeShapeType="1"/>
              </p:cNvSpPr>
              <p:nvPr/>
            </p:nvSpPr>
            <p:spPr bwMode="auto">
              <a:xfrm flipV="1">
                <a:off x="672" y="951"/>
                <a:ext cx="720" cy="720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0" name="Line 20"/>
              <p:cNvSpPr>
                <a:spLocks noChangeShapeType="1"/>
              </p:cNvSpPr>
              <p:nvPr/>
            </p:nvSpPr>
            <p:spPr bwMode="auto">
              <a:xfrm>
                <a:off x="1392" y="951"/>
                <a:ext cx="864" cy="960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1" name="Line 21"/>
              <p:cNvSpPr>
                <a:spLocks noChangeShapeType="1"/>
              </p:cNvSpPr>
              <p:nvPr/>
            </p:nvSpPr>
            <p:spPr bwMode="auto">
              <a:xfrm>
                <a:off x="672" y="1671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2" name="Line 22"/>
              <p:cNvSpPr>
                <a:spLocks noChangeShapeType="1"/>
              </p:cNvSpPr>
              <p:nvPr/>
            </p:nvSpPr>
            <p:spPr bwMode="auto">
              <a:xfrm>
                <a:off x="2256" y="1911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3" name="Line 23"/>
              <p:cNvSpPr>
                <a:spLocks noChangeShapeType="1"/>
              </p:cNvSpPr>
              <p:nvPr/>
            </p:nvSpPr>
            <p:spPr bwMode="auto">
              <a:xfrm flipV="1">
                <a:off x="672" y="2535"/>
                <a:ext cx="1584" cy="576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4" name="Line 24"/>
              <p:cNvSpPr>
                <a:spLocks noChangeShapeType="1"/>
              </p:cNvSpPr>
              <p:nvPr/>
            </p:nvSpPr>
            <p:spPr bwMode="auto">
              <a:xfrm>
                <a:off x="1392" y="951"/>
                <a:ext cx="0" cy="192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5" name="Line 25"/>
              <p:cNvSpPr>
                <a:spLocks noChangeShapeType="1"/>
              </p:cNvSpPr>
              <p:nvPr/>
            </p:nvSpPr>
            <p:spPr bwMode="auto">
              <a:xfrm>
                <a:off x="912" y="2487"/>
                <a:ext cx="1584" cy="67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6" name="Line 26"/>
              <p:cNvSpPr>
                <a:spLocks noChangeShapeType="1"/>
              </p:cNvSpPr>
              <p:nvPr/>
            </p:nvSpPr>
            <p:spPr bwMode="auto">
              <a:xfrm flipV="1">
                <a:off x="912" y="1911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7" name="Line 27"/>
              <p:cNvSpPr>
                <a:spLocks noChangeShapeType="1"/>
              </p:cNvSpPr>
              <p:nvPr/>
            </p:nvSpPr>
            <p:spPr bwMode="auto">
              <a:xfrm flipV="1">
                <a:off x="2496" y="1047"/>
                <a:ext cx="0" cy="21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8" name="Line 28"/>
              <p:cNvSpPr>
                <a:spLocks noChangeShapeType="1"/>
              </p:cNvSpPr>
              <p:nvPr/>
            </p:nvSpPr>
            <p:spPr bwMode="auto">
              <a:xfrm flipV="1">
                <a:off x="912" y="1056"/>
                <a:ext cx="1584" cy="86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79" name="Freeform 29"/>
              <p:cNvSpPr>
                <a:spLocks/>
              </p:cNvSpPr>
              <p:nvPr/>
            </p:nvSpPr>
            <p:spPr bwMode="auto">
              <a:xfrm>
                <a:off x="1828" y="1052"/>
                <a:ext cx="675" cy="367"/>
              </a:xfrm>
              <a:custGeom>
                <a:avLst/>
                <a:gdLst>
                  <a:gd name="T0" fmla="*/ 0 w 672"/>
                  <a:gd name="T1" fmla="*/ 375 h 375"/>
                  <a:gd name="T2" fmla="*/ 672 w 672"/>
                  <a:gd name="T3" fmla="*/ 0 h 375"/>
                  <a:gd name="T4" fmla="*/ 0 60000 65536"/>
                  <a:gd name="T5" fmla="*/ 0 60000 65536"/>
                  <a:gd name="T6" fmla="*/ 0 w 672"/>
                  <a:gd name="T7" fmla="*/ 0 h 375"/>
                  <a:gd name="T8" fmla="*/ 672 w 672"/>
                  <a:gd name="T9" fmla="*/ 375 h 37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72" h="375">
                    <a:moveTo>
                      <a:pt x="0" y="375"/>
                    </a:moveTo>
                    <a:lnTo>
                      <a:pt x="672" y="0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7880" name="Freeform 30"/>
              <p:cNvSpPr>
                <a:spLocks/>
              </p:cNvSpPr>
              <p:nvPr/>
            </p:nvSpPr>
            <p:spPr bwMode="auto">
              <a:xfrm>
                <a:off x="907" y="1744"/>
                <a:ext cx="332" cy="180"/>
              </a:xfrm>
              <a:custGeom>
                <a:avLst/>
                <a:gdLst>
                  <a:gd name="T0" fmla="*/ 0 w 319"/>
                  <a:gd name="T1" fmla="*/ 164 h 164"/>
                  <a:gd name="T2" fmla="*/ 319 w 319"/>
                  <a:gd name="T3" fmla="*/ 0 h 164"/>
                  <a:gd name="T4" fmla="*/ 0 60000 65536"/>
                  <a:gd name="T5" fmla="*/ 0 60000 65536"/>
                  <a:gd name="T6" fmla="*/ 0 w 319"/>
                  <a:gd name="T7" fmla="*/ 0 h 164"/>
                  <a:gd name="T8" fmla="*/ 319 w 319"/>
                  <a:gd name="T9" fmla="*/ 164 h 1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19" h="164">
                    <a:moveTo>
                      <a:pt x="0" y="164"/>
                    </a:moveTo>
                    <a:lnTo>
                      <a:pt x="319" y="0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7857" name="Text Box 31"/>
            <p:cNvSpPr txBox="1">
              <a:spLocks noChangeArrowheads="1"/>
            </p:cNvSpPr>
            <p:nvPr/>
          </p:nvSpPr>
          <p:spPr bwMode="auto">
            <a:xfrm>
              <a:off x="494" y="2966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</a:p>
          </p:txBody>
        </p:sp>
        <p:sp>
          <p:nvSpPr>
            <p:cNvPr id="77858" name="Text Box 32"/>
            <p:cNvSpPr txBox="1">
              <a:spLocks noChangeArrowheads="1"/>
            </p:cNvSpPr>
            <p:nvPr/>
          </p:nvSpPr>
          <p:spPr bwMode="auto">
            <a:xfrm>
              <a:off x="1294" y="2822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7859" name="Text Box 33"/>
            <p:cNvSpPr txBox="1">
              <a:spLocks noChangeArrowheads="1"/>
            </p:cNvSpPr>
            <p:nvPr/>
          </p:nvSpPr>
          <p:spPr bwMode="auto">
            <a:xfrm>
              <a:off x="2247" y="2391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7860" name="Text Box 34"/>
            <p:cNvSpPr txBox="1">
              <a:spLocks noChangeArrowheads="1"/>
            </p:cNvSpPr>
            <p:nvPr/>
          </p:nvSpPr>
          <p:spPr bwMode="auto">
            <a:xfrm>
              <a:off x="716" y="2391"/>
              <a:ext cx="2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m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7861" name="Text Box 35"/>
            <p:cNvSpPr txBox="1">
              <a:spLocks noChangeArrowheads="1"/>
            </p:cNvSpPr>
            <p:nvPr/>
          </p:nvSpPr>
          <p:spPr bwMode="auto">
            <a:xfrm>
              <a:off x="2493" y="3015"/>
              <a:ext cx="2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n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7862" name="Text Box 36"/>
            <p:cNvSpPr txBox="1">
              <a:spLocks noChangeArrowheads="1"/>
            </p:cNvSpPr>
            <p:nvPr/>
          </p:nvSpPr>
          <p:spPr bwMode="auto">
            <a:xfrm>
              <a:off x="2239" y="1767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7863" name="Text Box 37"/>
            <p:cNvSpPr txBox="1">
              <a:spLocks noChangeArrowheads="1"/>
            </p:cNvSpPr>
            <p:nvPr/>
          </p:nvSpPr>
          <p:spPr bwMode="auto">
            <a:xfrm>
              <a:off x="2459" y="855"/>
              <a:ext cx="26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n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7864" name="Text Box 38"/>
            <p:cNvSpPr txBox="1">
              <a:spLocks noChangeArrowheads="1"/>
            </p:cNvSpPr>
            <p:nvPr/>
          </p:nvSpPr>
          <p:spPr bwMode="auto">
            <a:xfrm>
              <a:off x="1218" y="758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7865" name="Text Box 39"/>
            <p:cNvSpPr txBox="1">
              <a:spLocks noChangeArrowheads="1"/>
            </p:cNvSpPr>
            <p:nvPr/>
          </p:nvSpPr>
          <p:spPr bwMode="auto">
            <a:xfrm>
              <a:off x="446" y="1526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7866" name="Text Box 40"/>
            <p:cNvSpPr txBox="1">
              <a:spLocks noChangeArrowheads="1"/>
            </p:cNvSpPr>
            <p:nvPr/>
          </p:nvSpPr>
          <p:spPr bwMode="auto">
            <a:xfrm>
              <a:off x="635" y="1815"/>
              <a:ext cx="3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m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117801" name="Freeform 41"/>
          <p:cNvSpPr>
            <a:spLocks/>
          </p:cNvSpPr>
          <p:nvPr/>
        </p:nvSpPr>
        <p:spPr bwMode="auto">
          <a:xfrm>
            <a:off x="3460750" y="3589434"/>
            <a:ext cx="609600" cy="339721"/>
          </a:xfrm>
          <a:custGeom>
            <a:avLst/>
            <a:gdLst>
              <a:gd name="T0" fmla="*/ 0 w 368"/>
              <a:gd name="T1" fmla="*/ 2147483647 h 212"/>
              <a:gd name="T2" fmla="*/ 2147483647 w 368"/>
              <a:gd name="T3" fmla="*/ 0 h 212"/>
              <a:gd name="T4" fmla="*/ 0 60000 65536"/>
              <a:gd name="T5" fmla="*/ 0 60000 65536"/>
              <a:gd name="T6" fmla="*/ 0 w 368"/>
              <a:gd name="T7" fmla="*/ 0 h 212"/>
              <a:gd name="T8" fmla="*/ 368 w 368"/>
              <a:gd name="T9" fmla="*/ 212 h 21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8" h="212">
                <a:moveTo>
                  <a:pt x="0" y="212"/>
                </a:moveTo>
                <a:lnTo>
                  <a:pt x="368" y="0"/>
                </a:lnTo>
              </a:path>
            </a:pathLst>
          </a:custGeom>
          <a:noFill/>
          <a:ln w="38100">
            <a:solidFill>
              <a:srgbClr val="33CCFF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3233739" y="3171403"/>
            <a:ext cx="1660525" cy="527050"/>
            <a:chOff x="624" y="1968"/>
            <a:chExt cx="1968" cy="332"/>
          </a:xfrm>
        </p:grpSpPr>
        <p:sp>
          <p:nvSpPr>
            <p:cNvPr id="77853" name="Text Box 43"/>
            <p:cNvSpPr txBox="1">
              <a:spLocks noChangeArrowheads="1"/>
            </p:cNvSpPr>
            <p:nvPr/>
          </p:nvSpPr>
          <p:spPr bwMode="auto">
            <a:xfrm>
              <a:off x="1346" y="1968"/>
              <a:ext cx="4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7854" name="Text Box 44"/>
            <p:cNvSpPr txBox="1">
              <a:spLocks noChangeArrowheads="1"/>
            </p:cNvSpPr>
            <p:nvPr/>
          </p:nvSpPr>
          <p:spPr bwMode="auto">
            <a:xfrm>
              <a:off x="624" y="2146"/>
              <a:ext cx="196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000" b="1"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3549650" y="5441526"/>
            <a:ext cx="998538" cy="570333"/>
            <a:chOff x="768" y="3430"/>
            <a:chExt cx="1680" cy="284"/>
          </a:xfrm>
        </p:grpSpPr>
        <p:sp>
          <p:nvSpPr>
            <p:cNvPr id="77851" name="Text Box 46"/>
            <p:cNvSpPr txBox="1">
              <a:spLocks noChangeArrowheads="1"/>
            </p:cNvSpPr>
            <p:nvPr/>
          </p:nvSpPr>
          <p:spPr bwMode="auto">
            <a:xfrm>
              <a:off x="1346" y="3484"/>
              <a:ext cx="54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77852" name="Text Box 47"/>
            <p:cNvSpPr txBox="1">
              <a:spLocks noChangeArrowheads="1"/>
            </p:cNvSpPr>
            <p:nvPr/>
          </p:nvSpPr>
          <p:spPr bwMode="auto">
            <a:xfrm flipV="1">
              <a:off x="768" y="3430"/>
              <a:ext cx="1680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1000" b="1"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117808" name="Freeform 48"/>
          <p:cNvSpPr>
            <a:spLocks/>
          </p:cNvSpPr>
          <p:nvPr/>
        </p:nvSpPr>
        <p:spPr bwMode="auto">
          <a:xfrm>
            <a:off x="3540204" y="3598959"/>
            <a:ext cx="512683" cy="282669"/>
          </a:xfrm>
          <a:custGeom>
            <a:avLst/>
            <a:gdLst>
              <a:gd name="T0" fmla="*/ 0 w 375"/>
              <a:gd name="T1" fmla="*/ 2147483647 h 206"/>
              <a:gd name="T2" fmla="*/ 2147483647 w 375"/>
              <a:gd name="T3" fmla="*/ 0 h 206"/>
              <a:gd name="T4" fmla="*/ 0 60000 65536"/>
              <a:gd name="T5" fmla="*/ 0 60000 65536"/>
              <a:gd name="T6" fmla="*/ 0 w 375"/>
              <a:gd name="T7" fmla="*/ 0 h 206"/>
              <a:gd name="T8" fmla="*/ 375 w 375"/>
              <a:gd name="T9" fmla="*/ 206 h 2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5" h="206">
                <a:moveTo>
                  <a:pt x="0" y="206"/>
                </a:moveTo>
                <a:lnTo>
                  <a:pt x="375" y="0"/>
                </a:lnTo>
              </a:path>
            </a:pathLst>
          </a:cu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7809" name="Text Box 49"/>
          <p:cNvSpPr txBox="1">
            <a:spLocks noChangeArrowheads="1"/>
          </p:cNvSpPr>
          <p:nvPr/>
        </p:nvSpPr>
        <p:spPr bwMode="auto">
          <a:xfrm>
            <a:off x="1738313" y="2721718"/>
            <a:ext cx="116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en-US" sz="2000" b="1" dirty="0">
                <a:latin typeface="宋体" pitchFamily="2" charset="-122"/>
              </a:rPr>
              <a:t>1</a:t>
            </a:r>
            <a:r>
              <a:rPr kumimoji="1" lang="en-US" altLang="zh-CN" sz="2000" b="1" dirty="0">
                <a:latin typeface="宋体" pitchFamily="2" charset="-122"/>
                <a:sym typeface="Symbol" pitchFamily="18" charset="2"/>
              </a:rPr>
              <a:t></a:t>
            </a:r>
            <a:r>
              <a:rPr lang="en-US" altLang="zh-CN" sz="2000" b="1" dirty="0">
                <a:latin typeface="宋体" pitchFamily="2" charset="-122"/>
              </a:rPr>
              <a:t>(</a:t>
            </a:r>
            <a:r>
              <a:rPr kumimoji="1" lang="en-US" altLang="en-US" sz="2000" b="1" dirty="0">
                <a:latin typeface="宋体" pitchFamily="2" charset="-122"/>
              </a:rPr>
              <a:t>2</a:t>
            </a:r>
            <a:r>
              <a:rPr kumimoji="1" lang="en-US" altLang="zh-CN" sz="2000" b="1" dirty="0">
                <a:latin typeface="宋体" pitchFamily="2" charset="-122"/>
                <a:sym typeface="Symbol" pitchFamily="18" charset="2"/>
              </a:rPr>
              <a:t></a:t>
            </a:r>
            <a:r>
              <a:rPr lang="en-US" altLang="zh-CN" sz="2000" b="1" dirty="0">
                <a:latin typeface="宋体" pitchFamily="2" charset="-122"/>
              </a:rPr>
              <a:t>)</a:t>
            </a:r>
          </a:p>
        </p:txBody>
      </p: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3308352" y="4957345"/>
            <a:ext cx="415926" cy="481013"/>
            <a:chOff x="1124" y="2406"/>
            <a:chExt cx="262" cy="303"/>
          </a:xfrm>
        </p:grpSpPr>
        <p:sp>
          <p:nvSpPr>
            <p:cNvPr id="77849" name="Text Box 51"/>
            <p:cNvSpPr txBox="1">
              <a:spLocks noChangeArrowheads="1"/>
            </p:cNvSpPr>
            <p:nvPr/>
          </p:nvSpPr>
          <p:spPr bwMode="auto">
            <a:xfrm>
              <a:off x="1188" y="2406"/>
              <a:ext cx="19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宋体" pitchFamily="2" charset="-122"/>
                </a:rPr>
                <a:t>2</a:t>
              </a:r>
              <a:endParaRPr lang="en-US" altLang="zh-CN" sz="2400" b="1">
                <a:latin typeface="宋体" pitchFamily="2" charset="-122"/>
              </a:endParaRPr>
            </a:p>
          </p:txBody>
        </p:sp>
        <p:sp>
          <p:nvSpPr>
            <p:cNvPr id="77850" name="Text Box 52"/>
            <p:cNvSpPr txBox="1">
              <a:spLocks noChangeArrowheads="1"/>
            </p:cNvSpPr>
            <p:nvPr/>
          </p:nvSpPr>
          <p:spPr bwMode="auto">
            <a:xfrm>
              <a:off x="1124" y="2536"/>
              <a:ext cx="2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CC00CC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7" name="Group 53"/>
          <p:cNvGrpSpPr>
            <a:grpSpLocks/>
          </p:cNvGrpSpPr>
          <p:nvPr/>
        </p:nvGrpSpPr>
        <p:grpSpPr bwMode="auto">
          <a:xfrm>
            <a:off x="3308353" y="5625674"/>
            <a:ext cx="338138" cy="498474"/>
            <a:chOff x="1124" y="2827"/>
            <a:chExt cx="213" cy="314"/>
          </a:xfrm>
        </p:grpSpPr>
        <p:sp>
          <p:nvSpPr>
            <p:cNvPr id="77847" name="Text Box 54"/>
            <p:cNvSpPr txBox="1">
              <a:spLocks noChangeArrowheads="1"/>
            </p:cNvSpPr>
            <p:nvPr/>
          </p:nvSpPr>
          <p:spPr bwMode="auto">
            <a:xfrm>
              <a:off x="1139" y="2889"/>
              <a:ext cx="19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宋体" pitchFamily="2" charset="-122"/>
                </a:rPr>
                <a:t>1</a:t>
              </a:r>
              <a:endParaRPr lang="en-US" altLang="zh-CN" sz="2400" b="1">
                <a:latin typeface="宋体" pitchFamily="2" charset="-122"/>
              </a:endParaRPr>
            </a:p>
          </p:txBody>
        </p:sp>
        <p:sp>
          <p:nvSpPr>
            <p:cNvPr id="77848" name="Text Box 55"/>
            <p:cNvSpPr txBox="1">
              <a:spLocks noChangeArrowheads="1"/>
            </p:cNvSpPr>
            <p:nvPr/>
          </p:nvSpPr>
          <p:spPr bwMode="auto">
            <a:xfrm>
              <a:off x="1124" y="2827"/>
              <a:ext cx="21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CC00CC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117816" name="Text Box 56"/>
          <p:cNvSpPr txBox="1">
            <a:spLocks noChangeArrowheads="1"/>
          </p:cNvSpPr>
          <p:nvPr/>
        </p:nvSpPr>
        <p:spPr bwMode="auto">
          <a:xfrm>
            <a:off x="3308350" y="3766715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200">
                <a:solidFill>
                  <a:srgbClr val="CC00CC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117772" name="Freeform 12"/>
          <p:cNvSpPr>
            <a:spLocks/>
          </p:cNvSpPr>
          <p:nvPr/>
        </p:nvSpPr>
        <p:spPr bwMode="auto">
          <a:xfrm>
            <a:off x="4092575" y="3396829"/>
            <a:ext cx="327025" cy="176213"/>
          </a:xfrm>
          <a:custGeom>
            <a:avLst/>
            <a:gdLst>
              <a:gd name="T0" fmla="*/ 0 w 212"/>
              <a:gd name="T1" fmla="*/ 2147483647 h 113"/>
              <a:gd name="T2" fmla="*/ 2147483647 w 212"/>
              <a:gd name="T3" fmla="*/ 0 h 113"/>
              <a:gd name="T4" fmla="*/ 0 60000 65536"/>
              <a:gd name="T5" fmla="*/ 0 60000 65536"/>
              <a:gd name="T6" fmla="*/ 0 w 212"/>
              <a:gd name="T7" fmla="*/ 0 h 113"/>
              <a:gd name="T8" fmla="*/ 212 w 212"/>
              <a:gd name="T9" fmla="*/ 113 h 11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2" h="113">
                <a:moveTo>
                  <a:pt x="0" y="113"/>
                </a:moveTo>
                <a:lnTo>
                  <a:pt x="212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7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75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1177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7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117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7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75"/>
                                        <p:tgtEl>
                                          <p:spTgt spid="1177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7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7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1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7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78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autoUpdateAnimBg="0"/>
      <p:bldP spid="117764" grpId="0" autoUpdateAnimBg="0"/>
      <p:bldP spid="117765" grpId="0" autoUpdateAnimBg="0"/>
      <p:bldP spid="117766" grpId="0" autoUpdateAnimBg="0"/>
      <p:bldP spid="117767" grpId="0" build="p" autoUpdateAnimBg="0"/>
      <p:bldP spid="117768" grpId="0" build="p" autoUpdateAnimBg="0"/>
      <p:bldP spid="117769" grpId="0" build="p" autoUpdateAnimBg="0"/>
      <p:bldP spid="117770" grpId="0" animBg="1"/>
      <p:bldP spid="117771" grpId="0" animBg="1"/>
      <p:bldP spid="117773" grpId="0" animBg="1" autoUpdateAnimBg="0"/>
      <p:bldP spid="117801" grpId="0" animBg="1"/>
      <p:bldP spid="117808" grpId="0" animBg="1"/>
      <p:bldP spid="117809" grpId="0" build="p" autoUpdateAnimBg="0"/>
      <p:bldP spid="117816" grpId="0" build="p" autoUpdateAnimBg="0"/>
      <p:bldP spid="11777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828800" y="1283343"/>
            <a:ext cx="7315200" cy="84978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分析直线与平面相交，下面说法正确的是：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209976" y="2786063"/>
            <a:ext cx="4686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此题需要在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H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面的投影中作辅助线求交点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209976" y="3929063"/>
            <a:ext cx="4486224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交点积聚在直线</a:t>
            </a:r>
            <a:r>
              <a:rPr lang="en-US" altLang="zh-CN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AB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的水平投影上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495600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495600" y="3993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8" t="20581" r="46499" b="31824"/>
          <a:stretch/>
        </p:blipFill>
        <p:spPr bwMode="auto">
          <a:xfrm>
            <a:off x="8278836" y="1679556"/>
            <a:ext cx="3065537" cy="349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110E31D-BFAB-4EE1-8368-ED0D614370E9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3986119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3805334" y="4005690"/>
            <a:ext cx="7681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en-US" b="1">
                <a:latin typeface="宋体" pitchFamily="2" charset="-122"/>
              </a:rPr>
              <a:t>1</a:t>
            </a:r>
            <a:r>
              <a:rPr kumimoji="1" lang="en-US" altLang="zh-CN" b="1">
                <a:latin typeface="宋体" pitchFamily="2" charset="-122"/>
                <a:sym typeface="Symbol" pitchFamily="18" charset="2"/>
              </a:rPr>
              <a:t></a:t>
            </a:r>
            <a:r>
              <a:rPr lang="en-US" altLang="zh-CN" b="1">
                <a:latin typeface="宋体" pitchFamily="2" charset="-122"/>
              </a:rPr>
              <a:t>(</a:t>
            </a:r>
            <a:r>
              <a:rPr kumimoji="1" lang="en-US" altLang="en-US" b="1">
                <a:latin typeface="宋体" pitchFamily="2" charset="-122"/>
              </a:rPr>
              <a:t>2</a:t>
            </a:r>
            <a:r>
              <a:rPr kumimoji="1" lang="en-US" altLang="zh-CN" b="1">
                <a:latin typeface="宋体" pitchFamily="2" charset="-122"/>
                <a:sym typeface="Symbol" pitchFamily="18" charset="2"/>
              </a:rPr>
              <a:t></a:t>
            </a:r>
            <a:r>
              <a:rPr lang="en-US" altLang="zh-CN" b="1">
                <a:latin typeface="宋体" pitchFamily="2" charset="-122"/>
              </a:rPr>
              <a:t>)</a:t>
            </a:r>
          </a:p>
        </p:txBody>
      </p:sp>
      <p:sp>
        <p:nvSpPr>
          <p:cNvPr id="78851" name="Line 3"/>
          <p:cNvSpPr>
            <a:spLocks noChangeShapeType="1"/>
          </p:cNvSpPr>
          <p:nvPr/>
        </p:nvSpPr>
        <p:spPr bwMode="auto">
          <a:xfrm>
            <a:off x="3886200" y="2795736"/>
            <a:ext cx="0" cy="2819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3588406" y="5231905"/>
            <a:ext cx="3241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k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2971800" y="5538936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m</a:t>
            </a:r>
            <a:r>
              <a:rPr lang="en-US" altLang="zh-CN" sz="2400" b="1">
                <a:latin typeface="Times New Roman" pitchFamily="18" charset="0"/>
              </a:rPr>
              <a:t>(</a:t>
            </a:r>
            <a:r>
              <a:rPr kumimoji="1" lang="en-US" altLang="zh-CN" sz="2400" i="1">
                <a:latin typeface="Dutch801 Rm BT" pitchFamily="18" charset="0"/>
              </a:rPr>
              <a:t>n</a:t>
            </a:r>
            <a:r>
              <a:rPr lang="en-US" altLang="zh-CN" sz="2400" b="1">
                <a:latin typeface="Times New Roman" pitchFamily="18" charset="0"/>
              </a:rPr>
              <a:t>)</a:t>
            </a:r>
          </a:p>
        </p:txBody>
      </p:sp>
      <p:sp>
        <p:nvSpPr>
          <p:cNvPr id="118790" name="Line 6"/>
          <p:cNvSpPr>
            <a:spLocks noChangeShapeType="1"/>
          </p:cNvSpPr>
          <p:nvPr/>
        </p:nvSpPr>
        <p:spPr bwMode="auto">
          <a:xfrm flipV="1">
            <a:off x="2667000" y="5462736"/>
            <a:ext cx="144780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8791" name="Line 7"/>
          <p:cNvSpPr>
            <a:spLocks noChangeShapeType="1"/>
          </p:cNvSpPr>
          <p:nvPr/>
        </p:nvSpPr>
        <p:spPr bwMode="auto">
          <a:xfrm>
            <a:off x="3886200" y="4091136"/>
            <a:ext cx="0" cy="1905000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3242237" y="4774705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118793" name="Freeform 9"/>
          <p:cNvSpPr>
            <a:spLocks/>
          </p:cNvSpPr>
          <p:nvPr/>
        </p:nvSpPr>
        <p:spPr bwMode="auto">
          <a:xfrm>
            <a:off x="2666998" y="3455194"/>
            <a:ext cx="1443019" cy="775639"/>
          </a:xfrm>
          <a:custGeom>
            <a:avLst/>
            <a:gdLst>
              <a:gd name="T0" fmla="*/ 0 w 938"/>
              <a:gd name="T1" fmla="*/ 2147483647 h 490"/>
              <a:gd name="T2" fmla="*/ 2147483647 w 938"/>
              <a:gd name="T3" fmla="*/ 2147483647 h 490"/>
              <a:gd name="T4" fmla="*/ 2147483647 w 938"/>
              <a:gd name="T5" fmla="*/ 0 h 490"/>
              <a:gd name="T6" fmla="*/ 0 60000 65536"/>
              <a:gd name="T7" fmla="*/ 0 60000 65536"/>
              <a:gd name="T8" fmla="*/ 0 60000 65536"/>
              <a:gd name="T9" fmla="*/ 0 w 938"/>
              <a:gd name="T10" fmla="*/ 0 h 490"/>
              <a:gd name="T11" fmla="*/ 938 w 938"/>
              <a:gd name="T12" fmla="*/ 490 h 4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38" h="490">
                <a:moveTo>
                  <a:pt x="0" y="490"/>
                </a:moveTo>
                <a:lnTo>
                  <a:pt x="785" y="77"/>
                </a:lnTo>
                <a:lnTo>
                  <a:pt x="938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18794" name="Freeform 10"/>
          <p:cNvSpPr>
            <a:spLocks/>
          </p:cNvSpPr>
          <p:nvPr/>
        </p:nvSpPr>
        <p:spPr bwMode="auto">
          <a:xfrm>
            <a:off x="4110036" y="3438526"/>
            <a:ext cx="66485" cy="2028973"/>
          </a:xfrm>
          <a:custGeom>
            <a:avLst/>
            <a:gdLst>
              <a:gd name="T0" fmla="*/ 0 w 1"/>
              <a:gd name="T1" fmla="*/ 2147483647 h 1258"/>
              <a:gd name="T2" fmla="*/ 0 w 1"/>
              <a:gd name="T3" fmla="*/ 0 h 1258"/>
              <a:gd name="T4" fmla="*/ 0 60000 65536"/>
              <a:gd name="T5" fmla="*/ 0 60000 65536"/>
              <a:gd name="T6" fmla="*/ 0 w 1"/>
              <a:gd name="T7" fmla="*/ 0 h 1258"/>
              <a:gd name="T8" fmla="*/ 1 w 1"/>
              <a:gd name="T9" fmla="*/ 1258 h 12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258">
                <a:moveTo>
                  <a:pt x="0" y="1258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78859" name="Line 11"/>
          <p:cNvSpPr>
            <a:spLocks noChangeShapeType="1"/>
          </p:cNvSpPr>
          <p:nvPr/>
        </p:nvSpPr>
        <p:spPr bwMode="auto">
          <a:xfrm>
            <a:off x="3505200" y="5081736"/>
            <a:ext cx="1219200" cy="7620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60" name="Text Box 12"/>
          <p:cNvSpPr txBox="1">
            <a:spLocks noChangeArrowheads="1"/>
          </p:cNvSpPr>
          <p:nvPr/>
        </p:nvSpPr>
        <p:spPr bwMode="auto">
          <a:xfrm>
            <a:off x="3735389" y="5486548"/>
            <a:ext cx="300037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900" b="1">
                <a:solidFill>
                  <a:srgbClr val="FF0000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78861" name="Freeform 13"/>
          <p:cNvSpPr>
            <a:spLocks/>
          </p:cNvSpPr>
          <p:nvPr/>
        </p:nvSpPr>
        <p:spPr bwMode="auto">
          <a:xfrm>
            <a:off x="2308226" y="4672440"/>
            <a:ext cx="2963262" cy="409296"/>
          </a:xfrm>
          <a:custGeom>
            <a:avLst/>
            <a:gdLst>
              <a:gd name="T0" fmla="*/ 0 w 1751"/>
              <a:gd name="T1" fmla="*/ 0 h 1"/>
              <a:gd name="T2" fmla="*/ 2147483647 w 1751"/>
              <a:gd name="T3" fmla="*/ 0 h 1"/>
              <a:gd name="T4" fmla="*/ 0 60000 65536"/>
              <a:gd name="T5" fmla="*/ 0 60000 65536"/>
              <a:gd name="T6" fmla="*/ 0 w 1751"/>
              <a:gd name="T7" fmla="*/ 0 h 1"/>
              <a:gd name="T8" fmla="*/ 1751 w 175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51" h="1">
                <a:moveTo>
                  <a:pt x="0" y="0"/>
                </a:moveTo>
                <a:lnTo>
                  <a:pt x="1751" y="0"/>
                </a:ln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78862" name="Line 14"/>
          <p:cNvSpPr>
            <a:spLocks noChangeShapeType="1"/>
          </p:cNvSpPr>
          <p:nvPr/>
        </p:nvSpPr>
        <p:spPr bwMode="auto">
          <a:xfrm flipV="1">
            <a:off x="2667000" y="3938736"/>
            <a:ext cx="2057400" cy="3048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63" name="Line 15"/>
          <p:cNvSpPr>
            <a:spLocks noChangeShapeType="1"/>
          </p:cNvSpPr>
          <p:nvPr/>
        </p:nvSpPr>
        <p:spPr bwMode="auto">
          <a:xfrm flipV="1">
            <a:off x="2667000" y="2948136"/>
            <a:ext cx="838200" cy="12954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64" name="Freeform 16"/>
          <p:cNvSpPr>
            <a:spLocks/>
          </p:cNvSpPr>
          <p:nvPr/>
        </p:nvSpPr>
        <p:spPr bwMode="auto">
          <a:xfrm>
            <a:off x="3505200" y="2980094"/>
            <a:ext cx="1219199" cy="976101"/>
          </a:xfrm>
          <a:custGeom>
            <a:avLst/>
            <a:gdLst>
              <a:gd name="T0" fmla="*/ 0 w 763"/>
              <a:gd name="T1" fmla="*/ 0 h 632"/>
              <a:gd name="T2" fmla="*/ 2147483647 w 763"/>
              <a:gd name="T3" fmla="*/ 2147483647 h 632"/>
              <a:gd name="T4" fmla="*/ 0 60000 65536"/>
              <a:gd name="T5" fmla="*/ 0 60000 65536"/>
              <a:gd name="T6" fmla="*/ 0 w 763"/>
              <a:gd name="T7" fmla="*/ 0 h 632"/>
              <a:gd name="T8" fmla="*/ 763 w 763"/>
              <a:gd name="T9" fmla="*/ 632 h 6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3" h="632">
                <a:moveTo>
                  <a:pt x="0" y="0"/>
                </a:moveTo>
                <a:lnTo>
                  <a:pt x="763" y="632"/>
                </a:lnTo>
              </a:path>
            </a:pathLst>
          </a:cu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78865" name="Line 17"/>
          <p:cNvSpPr>
            <a:spLocks noChangeShapeType="1"/>
          </p:cNvSpPr>
          <p:nvPr/>
        </p:nvSpPr>
        <p:spPr bwMode="auto">
          <a:xfrm>
            <a:off x="2667000" y="4243536"/>
            <a:ext cx="0" cy="1981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66" name="Line 18"/>
          <p:cNvSpPr>
            <a:spLocks noChangeShapeType="1"/>
          </p:cNvSpPr>
          <p:nvPr/>
        </p:nvSpPr>
        <p:spPr bwMode="auto">
          <a:xfrm>
            <a:off x="3505200" y="2988146"/>
            <a:ext cx="0" cy="2133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67" name="Line 19"/>
          <p:cNvSpPr>
            <a:spLocks noChangeShapeType="1"/>
          </p:cNvSpPr>
          <p:nvPr/>
        </p:nvSpPr>
        <p:spPr bwMode="auto">
          <a:xfrm>
            <a:off x="4724400" y="3938736"/>
            <a:ext cx="0" cy="1905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68" name="Line 20"/>
          <p:cNvSpPr>
            <a:spLocks noChangeShapeType="1"/>
          </p:cNvSpPr>
          <p:nvPr/>
        </p:nvSpPr>
        <p:spPr bwMode="auto">
          <a:xfrm flipV="1">
            <a:off x="2667000" y="5081736"/>
            <a:ext cx="838200" cy="11430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69" name="Line 21"/>
          <p:cNvSpPr>
            <a:spLocks noChangeShapeType="1"/>
          </p:cNvSpPr>
          <p:nvPr/>
        </p:nvSpPr>
        <p:spPr bwMode="auto">
          <a:xfrm flipV="1">
            <a:off x="2667000" y="5843736"/>
            <a:ext cx="2057400" cy="3810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70" name="Line 22"/>
          <p:cNvSpPr>
            <a:spLocks noChangeShapeType="1"/>
          </p:cNvSpPr>
          <p:nvPr/>
        </p:nvSpPr>
        <p:spPr bwMode="auto">
          <a:xfrm>
            <a:off x="3886200" y="2805261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71" name="Text Box 23"/>
          <p:cNvSpPr txBox="1">
            <a:spLocks noChangeArrowheads="1"/>
          </p:cNvSpPr>
          <p:nvPr/>
        </p:nvSpPr>
        <p:spPr bwMode="auto">
          <a:xfrm>
            <a:off x="3851275" y="2414736"/>
            <a:ext cx="509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m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3484563" y="4238773"/>
            <a:ext cx="425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n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8873" name="Text Box 25"/>
          <p:cNvSpPr txBox="1">
            <a:spLocks noChangeArrowheads="1"/>
          </p:cNvSpPr>
          <p:nvPr/>
        </p:nvSpPr>
        <p:spPr bwMode="auto">
          <a:xfrm>
            <a:off x="4699000" y="3633936"/>
            <a:ext cx="395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8874" name="Text Box 26"/>
          <p:cNvSpPr txBox="1">
            <a:spLocks noChangeArrowheads="1"/>
          </p:cNvSpPr>
          <p:nvPr/>
        </p:nvSpPr>
        <p:spPr bwMode="auto">
          <a:xfrm>
            <a:off x="3210115" y="2622055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8875" name="Text Box 27"/>
          <p:cNvSpPr txBox="1">
            <a:spLocks noChangeArrowheads="1"/>
          </p:cNvSpPr>
          <p:nvPr/>
        </p:nvSpPr>
        <p:spPr bwMode="auto">
          <a:xfrm>
            <a:off x="2323497" y="3936505"/>
            <a:ext cx="4203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78876" name="Text Box 28"/>
          <p:cNvSpPr txBox="1">
            <a:spLocks noChangeArrowheads="1"/>
          </p:cNvSpPr>
          <p:nvPr/>
        </p:nvSpPr>
        <p:spPr bwMode="auto">
          <a:xfrm>
            <a:off x="2374669" y="5993905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78877" name="Text Box 29"/>
          <p:cNvSpPr txBox="1">
            <a:spLocks noChangeArrowheads="1"/>
          </p:cNvSpPr>
          <p:nvPr/>
        </p:nvSpPr>
        <p:spPr bwMode="auto">
          <a:xfrm>
            <a:off x="4689475" y="5645299"/>
            <a:ext cx="3381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000" b="1">
                <a:latin typeface="Italic" pitchFamily="2" charset="0"/>
              </a:rPr>
              <a:t>c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118814" name="Line 30"/>
          <p:cNvSpPr>
            <a:spLocks noChangeShapeType="1"/>
          </p:cNvSpPr>
          <p:nvPr/>
        </p:nvSpPr>
        <p:spPr bwMode="auto">
          <a:xfrm>
            <a:off x="3886200" y="3252936"/>
            <a:ext cx="0" cy="3238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8815" name="Freeform 31"/>
          <p:cNvSpPr>
            <a:spLocks/>
          </p:cNvSpPr>
          <p:nvPr/>
        </p:nvSpPr>
        <p:spPr bwMode="auto">
          <a:xfrm>
            <a:off x="3883026" y="3576786"/>
            <a:ext cx="0" cy="468000"/>
          </a:xfrm>
          <a:custGeom>
            <a:avLst/>
            <a:gdLst>
              <a:gd name="T0" fmla="*/ 2147483647 w 5"/>
              <a:gd name="T1" fmla="*/ 0 h 257"/>
              <a:gd name="T2" fmla="*/ 0 w 5"/>
              <a:gd name="T3" fmla="*/ 2147483647 h 257"/>
              <a:gd name="T4" fmla="*/ 0 60000 65536"/>
              <a:gd name="T5" fmla="*/ 0 60000 65536"/>
              <a:gd name="T6" fmla="*/ 0 w 5"/>
              <a:gd name="T7" fmla="*/ 0 h 257"/>
              <a:gd name="T8" fmla="*/ 5 w 5"/>
              <a:gd name="T9" fmla="*/ 257 h 25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" h="257">
                <a:moveTo>
                  <a:pt x="5" y="0"/>
                </a:moveTo>
                <a:lnTo>
                  <a:pt x="0" y="257"/>
                </a:lnTo>
              </a:path>
            </a:pathLst>
          </a:custGeom>
          <a:noFill/>
          <a:ln w="38100">
            <a:solidFill>
              <a:srgbClr val="33CCFF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78880" name="Text Box 32"/>
          <p:cNvSpPr txBox="1">
            <a:spLocks noChangeArrowheads="1"/>
          </p:cNvSpPr>
          <p:nvPr/>
        </p:nvSpPr>
        <p:spPr bwMode="auto">
          <a:xfrm>
            <a:off x="1114115" y="1392563"/>
            <a:ext cx="36102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</a:rPr>
              <a:t>（</a:t>
            </a:r>
            <a:r>
              <a:rPr lang="en-US" altLang="zh-CN" sz="2800" b="1" dirty="0">
                <a:latin typeface="Times New Roman" pitchFamily="18" charset="0"/>
              </a:rPr>
              <a:t>2</a:t>
            </a:r>
            <a:r>
              <a:rPr lang="zh-CN" altLang="en-US" sz="2800" b="1" dirty="0">
                <a:latin typeface="Times New Roman" pitchFamily="18" charset="0"/>
              </a:rPr>
              <a:t>）直线为特殊位置</a:t>
            </a:r>
          </a:p>
        </p:txBody>
      </p:sp>
      <p:sp>
        <p:nvSpPr>
          <p:cNvPr id="118817" name="Text Box 33"/>
          <p:cNvSpPr txBox="1">
            <a:spLocks noChangeArrowheads="1"/>
          </p:cNvSpPr>
          <p:nvPr/>
        </p:nvSpPr>
        <p:spPr bwMode="auto">
          <a:xfrm>
            <a:off x="6627252" y="1700808"/>
            <a:ext cx="2709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空间及投影分析</a:t>
            </a:r>
          </a:p>
        </p:txBody>
      </p:sp>
      <p:sp>
        <p:nvSpPr>
          <p:cNvPr id="118818" name="Text Box 34"/>
          <p:cNvSpPr txBox="1">
            <a:spLocks noChangeArrowheads="1"/>
          </p:cNvSpPr>
          <p:nvPr/>
        </p:nvSpPr>
        <p:spPr bwMode="auto">
          <a:xfrm>
            <a:off x="5888038" y="2282251"/>
            <a:ext cx="483552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    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直线</a:t>
            </a:r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MN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为铅垂线，其水平投影积聚成一个点，故交点</a:t>
            </a:r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K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的水平投影也积聚在该点上。</a:t>
            </a:r>
          </a:p>
        </p:txBody>
      </p:sp>
      <p:sp>
        <p:nvSpPr>
          <p:cNvPr id="118819" name="Text Box 35"/>
          <p:cNvSpPr txBox="1">
            <a:spLocks noChangeArrowheads="1"/>
          </p:cNvSpPr>
          <p:nvPr/>
        </p:nvSpPr>
        <p:spPr bwMode="auto">
          <a:xfrm>
            <a:off x="5919564" y="4150129"/>
            <a:ext cx="1577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① </a:t>
            </a:r>
            <a:r>
              <a:rPr lang="zh-CN" altLang="en-US" sz="2400" b="1" dirty="0">
                <a:latin typeface="宋体" pitchFamily="2" charset="-122"/>
              </a:rPr>
              <a:t>求交点</a:t>
            </a:r>
          </a:p>
        </p:txBody>
      </p:sp>
      <p:sp>
        <p:nvSpPr>
          <p:cNvPr id="118820" name="Text Box 36"/>
          <p:cNvSpPr txBox="1">
            <a:spLocks noChangeArrowheads="1"/>
          </p:cNvSpPr>
          <p:nvPr/>
        </p:nvSpPr>
        <p:spPr bwMode="auto">
          <a:xfrm>
            <a:off x="5948878" y="4582177"/>
            <a:ext cx="21964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② </a:t>
            </a:r>
            <a:r>
              <a:rPr lang="zh-CN" altLang="en-US" sz="2400" b="1" dirty="0">
                <a:latin typeface="宋体" pitchFamily="2" charset="-122"/>
              </a:rPr>
              <a:t>判别可见性</a:t>
            </a:r>
          </a:p>
        </p:txBody>
      </p:sp>
      <p:sp>
        <p:nvSpPr>
          <p:cNvPr id="118821" name="Text Box 37"/>
          <p:cNvSpPr txBox="1">
            <a:spLocks noChangeArrowheads="1"/>
          </p:cNvSpPr>
          <p:nvPr/>
        </p:nvSpPr>
        <p:spPr bwMode="auto">
          <a:xfrm>
            <a:off x="5724971" y="5076941"/>
            <a:ext cx="48355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    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点</a:t>
            </a:r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Ⅰ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位于平面上，在前；点</a:t>
            </a:r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Ⅱ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位于</a:t>
            </a:r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MN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上，在后。故</a:t>
            </a:r>
            <a:r>
              <a:rPr kumimoji="1" lang="en-US" altLang="zh-CN" sz="2400" i="1" dirty="0">
                <a:solidFill>
                  <a:srgbClr val="FF3300"/>
                </a:solidFill>
                <a:latin typeface="宋体" pitchFamily="2" charset="-122"/>
              </a:rPr>
              <a:t>k</a:t>
            </a:r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  <a:sym typeface="Symbol" pitchFamily="18" charset="2"/>
              </a:rPr>
              <a:t></a:t>
            </a:r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2</a:t>
            </a:r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  <a:sym typeface="Symbol" pitchFamily="18" charset="2"/>
              </a:rPr>
              <a:t>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为不可见。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3521103" y="3243307"/>
            <a:ext cx="503237" cy="457200"/>
            <a:chOff x="1268" y="1536"/>
            <a:chExt cx="317" cy="288"/>
          </a:xfrm>
        </p:grpSpPr>
        <p:sp>
          <p:nvSpPr>
            <p:cNvPr id="78898" name="Text Box 39"/>
            <p:cNvSpPr txBox="1">
              <a:spLocks noChangeArrowheads="1"/>
            </p:cNvSpPr>
            <p:nvPr/>
          </p:nvSpPr>
          <p:spPr bwMode="auto">
            <a:xfrm>
              <a:off x="1268" y="1536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78899" name="Text Box 40"/>
            <p:cNvSpPr txBox="1">
              <a:spLocks noChangeArrowheads="1"/>
            </p:cNvSpPr>
            <p:nvPr/>
          </p:nvSpPr>
          <p:spPr bwMode="auto">
            <a:xfrm>
              <a:off x="1396" y="1680"/>
              <a:ext cx="189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900" b="1" dirty="0">
                  <a:solidFill>
                    <a:srgbClr val="FF0000"/>
                  </a:solidFill>
                  <a:latin typeface="Times New Roman" pitchFamily="18" charset="0"/>
                </a:rPr>
                <a:t>●</a:t>
              </a:r>
              <a:endParaRPr lang="en-US" altLang="zh-CN" sz="2400" b="1" dirty="0">
                <a:latin typeface="Times New Roman" pitchFamily="18" charset="0"/>
              </a:endParaRPr>
            </a:p>
          </p:txBody>
        </p:sp>
      </p:grpSp>
      <p:sp>
        <p:nvSpPr>
          <p:cNvPr id="118825" name="Line 41"/>
          <p:cNvSpPr>
            <a:spLocks noChangeShapeType="1"/>
          </p:cNvSpPr>
          <p:nvPr/>
        </p:nvSpPr>
        <p:spPr bwMode="auto">
          <a:xfrm>
            <a:off x="3878245" y="3576786"/>
            <a:ext cx="9543" cy="51435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732213" y="5438924"/>
            <a:ext cx="514350" cy="400050"/>
            <a:chOff x="1406" y="2399"/>
            <a:chExt cx="324" cy="252"/>
          </a:xfrm>
        </p:grpSpPr>
        <p:sp>
          <p:nvSpPr>
            <p:cNvPr id="78896" name="Text Box 43"/>
            <p:cNvSpPr txBox="1">
              <a:spLocks noChangeArrowheads="1"/>
            </p:cNvSpPr>
            <p:nvPr/>
          </p:nvSpPr>
          <p:spPr bwMode="auto">
            <a:xfrm>
              <a:off x="1485" y="2399"/>
              <a:ext cx="24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>
                  <a:latin typeface="宋体" pitchFamily="2" charset="-122"/>
                </a:rPr>
                <a:t>2</a:t>
              </a:r>
              <a:r>
                <a:rPr lang="en-US" altLang="zh-CN" sz="2000" b="1">
                  <a:latin typeface="ISOCP" pitchFamily="2" charset="0"/>
                </a:rPr>
                <a:t> </a:t>
              </a:r>
            </a:p>
          </p:txBody>
        </p:sp>
        <p:sp>
          <p:nvSpPr>
            <p:cNvPr id="78897" name="Text Box 44"/>
            <p:cNvSpPr txBox="1">
              <a:spLocks noChangeArrowheads="1"/>
            </p:cNvSpPr>
            <p:nvPr/>
          </p:nvSpPr>
          <p:spPr bwMode="auto">
            <a:xfrm>
              <a:off x="1406" y="2424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CC00CC"/>
                  </a:solidFill>
                  <a:latin typeface="ISOCP" pitchFamily="2" charset="0"/>
                </a:rPr>
                <a:t>●</a:t>
              </a:r>
            </a:p>
          </p:txBody>
        </p:sp>
      </p:grp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3727450" y="5858027"/>
            <a:ext cx="323850" cy="490538"/>
            <a:chOff x="1388" y="2678"/>
            <a:chExt cx="204" cy="309"/>
          </a:xfrm>
        </p:grpSpPr>
        <p:sp>
          <p:nvSpPr>
            <p:cNvPr id="78894" name="Text Box 46"/>
            <p:cNvSpPr txBox="1">
              <a:spLocks noChangeArrowheads="1"/>
            </p:cNvSpPr>
            <p:nvPr/>
          </p:nvSpPr>
          <p:spPr bwMode="auto">
            <a:xfrm>
              <a:off x="1388" y="2735"/>
              <a:ext cx="19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>
                  <a:latin typeface="ISOCPEUR" pitchFamily="34" charset="0"/>
                </a:rPr>
                <a:t>1</a:t>
              </a:r>
              <a:endParaRPr lang="en-US" altLang="zh-CN" sz="2000" b="1">
                <a:latin typeface="ISOCP" pitchFamily="2" charset="0"/>
              </a:endParaRPr>
            </a:p>
          </p:txBody>
        </p:sp>
        <p:sp>
          <p:nvSpPr>
            <p:cNvPr id="78895" name="Text Box 47"/>
            <p:cNvSpPr txBox="1">
              <a:spLocks noChangeArrowheads="1"/>
            </p:cNvSpPr>
            <p:nvPr/>
          </p:nvSpPr>
          <p:spPr bwMode="auto">
            <a:xfrm>
              <a:off x="1396" y="2678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CC00CC"/>
                  </a:solidFill>
                  <a:latin typeface="ISOCP" pitchFamily="2" charset="0"/>
                </a:rPr>
                <a:t>●</a:t>
              </a:r>
            </a:p>
          </p:txBody>
        </p:sp>
      </p:grpSp>
      <p:sp>
        <p:nvSpPr>
          <p:cNvPr id="118832" name="Text Box 48"/>
          <p:cNvSpPr txBox="1">
            <a:spLocks noChangeArrowheads="1"/>
          </p:cNvSpPr>
          <p:nvPr/>
        </p:nvSpPr>
        <p:spPr bwMode="auto">
          <a:xfrm>
            <a:off x="5913065" y="3718081"/>
            <a:ext cx="8034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作图</a:t>
            </a:r>
          </a:p>
        </p:txBody>
      </p:sp>
      <p:sp>
        <p:nvSpPr>
          <p:cNvPr id="118833" name="AutoShape 49"/>
          <p:cNvSpPr>
            <a:spLocks noChangeArrowheads="1"/>
          </p:cNvSpPr>
          <p:nvPr/>
        </p:nvSpPr>
        <p:spPr bwMode="auto">
          <a:xfrm>
            <a:off x="7528743" y="3855151"/>
            <a:ext cx="2869955" cy="649188"/>
          </a:xfrm>
          <a:prstGeom prst="wedgeEllipseCallout">
            <a:avLst>
              <a:gd name="adj1" fmla="val -56278"/>
              <a:gd name="adj2" fmla="val 53333"/>
            </a:avLst>
          </a:prstGeom>
          <a:solidFill>
            <a:srgbClr val="FF99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用面上取点法</a:t>
            </a:r>
          </a:p>
        </p:txBody>
      </p:sp>
      <p:sp>
        <p:nvSpPr>
          <p:cNvPr id="78892" name="Line 50"/>
          <p:cNvSpPr>
            <a:spLocks noChangeShapeType="1"/>
          </p:cNvSpPr>
          <p:nvPr/>
        </p:nvSpPr>
        <p:spPr bwMode="auto">
          <a:xfrm>
            <a:off x="3886200" y="4062562"/>
            <a:ext cx="0" cy="3571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8835" name="Text Box 51"/>
          <p:cNvSpPr txBox="1">
            <a:spLocks noChangeArrowheads="1"/>
          </p:cNvSpPr>
          <p:nvPr/>
        </p:nvSpPr>
        <p:spPr bwMode="auto">
          <a:xfrm>
            <a:off x="3730625" y="3941912"/>
            <a:ext cx="311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000">
                <a:solidFill>
                  <a:srgbClr val="CC00CC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52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"/>
                                        <p:tgtEl>
                                          <p:spTgt spid="1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118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"/>
                                        <p:tgtEl>
                                          <p:spTgt spid="118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8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75"/>
                                        <p:tgtEl>
                                          <p:spTgt spid="1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18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 build="p" autoUpdateAnimBg="0"/>
      <p:bldP spid="118788" grpId="0" autoUpdateAnimBg="0"/>
      <p:bldP spid="118790" grpId="0" animBg="1"/>
      <p:bldP spid="118791" grpId="0" animBg="1"/>
      <p:bldP spid="118793" grpId="0" animBg="1"/>
      <p:bldP spid="118794" grpId="0" animBg="1"/>
      <p:bldP spid="118814" grpId="0" animBg="1"/>
      <p:bldP spid="118815" grpId="0" animBg="1"/>
      <p:bldP spid="118817" grpId="0" autoUpdateAnimBg="0"/>
      <p:bldP spid="118818" grpId="0" autoUpdateAnimBg="0"/>
      <p:bldP spid="118819" grpId="0" build="p" autoUpdateAnimBg="0"/>
      <p:bldP spid="118820" grpId="0" build="p" autoUpdateAnimBg="0"/>
      <p:bldP spid="118821" grpId="0" autoUpdateAnimBg="0"/>
      <p:bldP spid="118825" grpId="0" animBg="1"/>
      <p:bldP spid="118832" grpId="0" build="p" autoUpdateAnimBg="0"/>
      <p:bldP spid="118833" grpId="0" animBg="1" autoUpdateAnimBg="0"/>
      <p:bldP spid="118835" grpId="0" build="p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921" y="1603226"/>
            <a:ext cx="2578318" cy="3146021"/>
          </a:xfrm>
          <a:prstGeom prst="rect">
            <a:avLst/>
          </a:prstGeom>
        </p:spPr>
      </p:pic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1165341" y="1327909"/>
            <a:ext cx="25282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Times New Roman" pitchFamily="18" charset="0"/>
              </a:rPr>
              <a:t>⒉  </a:t>
            </a:r>
            <a:r>
              <a:rPr lang="zh-CN" altLang="en-US" sz="2800" b="1" dirty="0">
                <a:latin typeface="Times New Roman" pitchFamily="18" charset="0"/>
              </a:rPr>
              <a:t>两平面相交</a:t>
            </a:r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1775520" y="3050710"/>
            <a:ext cx="23503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003399"/>
                </a:solidFill>
                <a:latin typeface="Times New Roman" pitchFamily="18" charset="0"/>
              </a:rPr>
              <a:t>要讨论的问题：</a:t>
            </a:r>
          </a:p>
        </p:txBody>
      </p:sp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2286000" y="3506367"/>
            <a:ext cx="28151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>
                <a:latin typeface="宋体" pitchFamily="2" charset="-122"/>
              </a:rPr>
              <a:t>⑴ 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求</a:t>
            </a:r>
            <a:r>
              <a:rPr lang="zh-CN" altLang="en-US" sz="2400" b="1">
                <a:latin typeface="宋体" pitchFamily="2" charset="-122"/>
              </a:rPr>
              <a:t>两平面的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交线</a:t>
            </a:r>
          </a:p>
        </p:txBody>
      </p:sp>
      <p:sp>
        <p:nvSpPr>
          <p:cNvPr id="119814" name="Text Box 6"/>
          <p:cNvSpPr txBox="1">
            <a:spLocks noChangeArrowheads="1"/>
          </p:cNvSpPr>
          <p:nvPr/>
        </p:nvSpPr>
        <p:spPr bwMode="auto">
          <a:xfrm>
            <a:off x="2711625" y="3990554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方法：</a:t>
            </a:r>
            <a:endParaRPr lang="zh-CN" altLang="en-US" sz="2400" b="1" dirty="0">
              <a:latin typeface="Times New Roman" pitchFamily="18" charset="0"/>
            </a:endParaRPr>
          </a:p>
        </p:txBody>
      </p:sp>
      <p:sp>
        <p:nvSpPr>
          <p:cNvPr id="119815" name="Text Box 7"/>
          <p:cNvSpPr txBox="1">
            <a:spLocks noChangeArrowheads="1"/>
          </p:cNvSpPr>
          <p:nvPr/>
        </p:nvSpPr>
        <p:spPr bwMode="auto">
          <a:xfrm>
            <a:off x="3615689" y="4022304"/>
            <a:ext cx="436209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① </a:t>
            </a:r>
            <a:r>
              <a:rPr lang="zh-CN" altLang="en-US" sz="2400" b="1" dirty="0">
                <a:latin typeface="宋体" pitchFamily="2" charset="-122"/>
              </a:rPr>
              <a:t>确定两平面的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两个共有点。</a:t>
            </a:r>
          </a:p>
        </p:txBody>
      </p:sp>
      <p:sp>
        <p:nvSpPr>
          <p:cNvPr id="119816" name="Text Box 8"/>
          <p:cNvSpPr txBox="1">
            <a:spLocks noChangeArrowheads="1"/>
          </p:cNvSpPr>
          <p:nvPr/>
        </p:nvSpPr>
        <p:spPr bwMode="auto">
          <a:xfrm>
            <a:off x="3606165" y="4479504"/>
            <a:ext cx="49808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② </a:t>
            </a:r>
            <a:r>
              <a:rPr lang="zh-CN" altLang="en-US" sz="2400" b="1" dirty="0">
                <a:latin typeface="宋体" pitchFamily="2" charset="-122"/>
              </a:rPr>
              <a:t>确定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一个共有点及交线的方向。</a:t>
            </a:r>
          </a:p>
        </p:txBody>
      </p:sp>
      <p:sp>
        <p:nvSpPr>
          <p:cNvPr id="119817" name="Text Box 9"/>
          <p:cNvSpPr txBox="1">
            <a:spLocks noChangeArrowheads="1"/>
          </p:cNvSpPr>
          <p:nvPr/>
        </p:nvSpPr>
        <p:spPr bwMode="auto">
          <a:xfrm>
            <a:off x="2063552" y="5847655"/>
            <a:ext cx="74072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solidFill>
                  <a:srgbClr val="003399"/>
                </a:solidFill>
                <a:latin typeface="宋体" pitchFamily="2" charset="-122"/>
              </a:rPr>
              <a:t>    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只讨论两平面中至少有一个处于特殊位置的情况。</a:t>
            </a:r>
          </a:p>
        </p:txBody>
      </p:sp>
      <p:sp>
        <p:nvSpPr>
          <p:cNvPr id="119818" name="Text Box 10"/>
          <p:cNvSpPr txBox="1">
            <a:spLocks noChangeArrowheads="1"/>
          </p:cNvSpPr>
          <p:nvPr/>
        </p:nvSpPr>
        <p:spPr bwMode="auto">
          <a:xfrm>
            <a:off x="2286001" y="5046276"/>
            <a:ext cx="79533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⑵ </a:t>
            </a:r>
            <a:r>
              <a:rPr lang="zh-CN" altLang="en-US" sz="2400" b="1" dirty="0">
                <a:latin typeface="宋体" pitchFamily="2" charset="-122"/>
              </a:rPr>
              <a:t>判别两平面之间的相互遮挡关系，即：</a:t>
            </a:r>
          </a:p>
          <a:p>
            <a:r>
              <a:rPr lang="zh-CN" altLang="en-US" sz="2400" b="1" dirty="0">
                <a:latin typeface="宋体" pitchFamily="2" charset="-12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判别可见性。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  <p:sp>
        <p:nvSpPr>
          <p:cNvPr id="3" name="矩形 2"/>
          <p:cNvSpPr/>
          <p:nvPr/>
        </p:nvSpPr>
        <p:spPr>
          <a:xfrm>
            <a:off x="1271464" y="1839015"/>
            <a:ext cx="6260693" cy="120032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itchFamily="2" charset="-122"/>
              </a:rPr>
              <a:t>   两平面相交其交线为直线，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交线是两平面的共有线，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同时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交线上的点都是两平面的共有点。</a:t>
            </a:r>
            <a:endParaRPr lang="zh-CN" altLang="en-US" sz="2400" b="1" dirty="0"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19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119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1198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 autoUpdateAnimBg="0"/>
      <p:bldP spid="119813" grpId="0" build="p" autoUpdateAnimBg="0"/>
      <p:bldP spid="119814" grpId="0" build="p" autoUpdateAnimBg="0"/>
      <p:bldP spid="119815" grpId="0" build="p" autoUpdateAnimBg="0"/>
      <p:bldP spid="119816" grpId="0" build="p" autoUpdateAnimBg="0"/>
      <p:bldP spid="119817" grpId="0" autoUpdateAnimBg="0"/>
      <p:bldP spid="119818" grpId="0" autoUpdateAnimBg="0"/>
      <p:bldP spid="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2393719" y="4571058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>
            <a:off x="3426387" y="6137921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5453064" y="4954289"/>
            <a:ext cx="319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2103439" y="5335289"/>
            <a:ext cx="344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4645642" y="4323408"/>
            <a:ext cx="3321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e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5261847" y="6018858"/>
            <a:ext cx="279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f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0905" name="Text Box 9"/>
          <p:cNvSpPr txBox="1">
            <a:spLocks noChangeArrowheads="1"/>
          </p:cNvSpPr>
          <p:nvPr/>
        </p:nvSpPr>
        <p:spPr bwMode="auto">
          <a:xfrm>
            <a:off x="5480050" y="3049289"/>
            <a:ext cx="395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0906" name="Text Box 10"/>
          <p:cNvSpPr txBox="1">
            <a:spLocks noChangeArrowheads="1"/>
          </p:cNvSpPr>
          <p:nvPr/>
        </p:nvSpPr>
        <p:spPr bwMode="auto">
          <a:xfrm>
            <a:off x="5278938" y="2437458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f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0907" name="Text Box 11"/>
          <p:cNvSpPr txBox="1">
            <a:spLocks noChangeArrowheads="1"/>
          </p:cNvSpPr>
          <p:nvPr/>
        </p:nvSpPr>
        <p:spPr bwMode="auto">
          <a:xfrm>
            <a:off x="2066925" y="3620789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 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0908" name="Text Box 12"/>
          <p:cNvSpPr txBox="1">
            <a:spLocks noChangeArrowheads="1"/>
          </p:cNvSpPr>
          <p:nvPr/>
        </p:nvSpPr>
        <p:spPr bwMode="auto">
          <a:xfrm>
            <a:off x="3465513" y="2592089"/>
            <a:ext cx="520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4592638" y="2806402"/>
            <a:ext cx="531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e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0910" name="Text Box 14"/>
          <p:cNvSpPr txBox="1">
            <a:spLocks noChangeArrowheads="1"/>
          </p:cNvSpPr>
          <p:nvPr/>
        </p:nvSpPr>
        <p:spPr bwMode="auto">
          <a:xfrm>
            <a:off x="2346326" y="2515889"/>
            <a:ext cx="473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0911" name="Line 15"/>
          <p:cNvSpPr>
            <a:spLocks noChangeShapeType="1"/>
          </p:cNvSpPr>
          <p:nvPr/>
        </p:nvSpPr>
        <p:spPr bwMode="auto">
          <a:xfrm>
            <a:off x="2057400" y="4420889"/>
            <a:ext cx="3962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12" name="Line 16"/>
          <p:cNvSpPr>
            <a:spLocks noChangeShapeType="1"/>
          </p:cNvSpPr>
          <p:nvPr/>
        </p:nvSpPr>
        <p:spPr bwMode="auto">
          <a:xfrm>
            <a:off x="2667000" y="4801889"/>
            <a:ext cx="990600" cy="1447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13" name="Line 17"/>
          <p:cNvSpPr>
            <a:spLocks noChangeShapeType="1"/>
          </p:cNvSpPr>
          <p:nvPr/>
        </p:nvSpPr>
        <p:spPr bwMode="auto">
          <a:xfrm>
            <a:off x="2667000" y="4801889"/>
            <a:ext cx="281940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14" name="Line 18"/>
          <p:cNvSpPr>
            <a:spLocks noChangeShapeType="1"/>
          </p:cNvSpPr>
          <p:nvPr/>
        </p:nvSpPr>
        <p:spPr bwMode="auto">
          <a:xfrm flipV="1">
            <a:off x="3657600" y="5194003"/>
            <a:ext cx="1828800" cy="10556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15" name="Line 19"/>
          <p:cNvSpPr>
            <a:spLocks noChangeShapeType="1"/>
          </p:cNvSpPr>
          <p:nvPr/>
        </p:nvSpPr>
        <p:spPr bwMode="auto">
          <a:xfrm flipH="1">
            <a:off x="2438400" y="4573289"/>
            <a:ext cx="2209800" cy="990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16" name="Line 20"/>
          <p:cNvSpPr>
            <a:spLocks noChangeShapeType="1"/>
          </p:cNvSpPr>
          <p:nvPr/>
        </p:nvSpPr>
        <p:spPr bwMode="auto">
          <a:xfrm>
            <a:off x="2438400" y="5563889"/>
            <a:ext cx="2819400" cy="762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17" name="Line 21"/>
          <p:cNvSpPr>
            <a:spLocks noChangeShapeType="1"/>
          </p:cNvSpPr>
          <p:nvPr/>
        </p:nvSpPr>
        <p:spPr bwMode="auto">
          <a:xfrm>
            <a:off x="4630738" y="4573289"/>
            <a:ext cx="609600" cy="1752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18" name="Line 22"/>
          <p:cNvSpPr>
            <a:spLocks noChangeShapeType="1"/>
          </p:cNvSpPr>
          <p:nvPr/>
        </p:nvSpPr>
        <p:spPr bwMode="auto">
          <a:xfrm flipV="1">
            <a:off x="5257800" y="2744489"/>
            <a:ext cx="0" cy="3581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19" name="Line 23"/>
          <p:cNvSpPr>
            <a:spLocks noChangeShapeType="1"/>
          </p:cNvSpPr>
          <p:nvPr/>
        </p:nvSpPr>
        <p:spPr bwMode="auto">
          <a:xfrm flipV="1">
            <a:off x="2438400" y="3887489"/>
            <a:ext cx="0" cy="1676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20" name="Line 24"/>
          <p:cNvSpPr>
            <a:spLocks noChangeShapeType="1"/>
          </p:cNvSpPr>
          <p:nvPr/>
        </p:nvSpPr>
        <p:spPr bwMode="auto">
          <a:xfrm flipV="1">
            <a:off x="2438400" y="2744489"/>
            <a:ext cx="2819400" cy="11430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21" name="Line 25"/>
          <p:cNvSpPr>
            <a:spLocks noChangeShapeType="1"/>
          </p:cNvSpPr>
          <p:nvPr/>
        </p:nvSpPr>
        <p:spPr bwMode="auto">
          <a:xfrm flipV="1">
            <a:off x="4648200" y="2973089"/>
            <a:ext cx="0" cy="1600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22" name="Line 26"/>
          <p:cNvSpPr>
            <a:spLocks noChangeShapeType="1"/>
          </p:cNvSpPr>
          <p:nvPr/>
        </p:nvSpPr>
        <p:spPr bwMode="auto">
          <a:xfrm flipV="1">
            <a:off x="5486400" y="3277889"/>
            <a:ext cx="0" cy="1905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23" name="Line 27"/>
          <p:cNvSpPr>
            <a:spLocks noChangeShapeType="1"/>
          </p:cNvSpPr>
          <p:nvPr/>
        </p:nvSpPr>
        <p:spPr bwMode="auto">
          <a:xfrm flipH="1" flipV="1">
            <a:off x="2667000" y="2820689"/>
            <a:ext cx="28194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24" name="Line 28"/>
          <p:cNvSpPr>
            <a:spLocks noChangeShapeType="1"/>
          </p:cNvSpPr>
          <p:nvPr/>
        </p:nvSpPr>
        <p:spPr bwMode="auto">
          <a:xfrm flipV="1">
            <a:off x="2667000" y="2820689"/>
            <a:ext cx="0" cy="1981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25" name="Freeform 29"/>
          <p:cNvSpPr>
            <a:spLocks/>
          </p:cNvSpPr>
          <p:nvPr/>
        </p:nvSpPr>
        <p:spPr bwMode="auto">
          <a:xfrm>
            <a:off x="4819650" y="5100338"/>
            <a:ext cx="673102" cy="77787"/>
          </a:xfrm>
          <a:custGeom>
            <a:avLst/>
            <a:gdLst>
              <a:gd name="T0" fmla="*/ 2147483647 w 428"/>
              <a:gd name="T1" fmla="*/ 2147483647 h 54"/>
              <a:gd name="T2" fmla="*/ 0 w 428"/>
              <a:gd name="T3" fmla="*/ 0 h 54"/>
              <a:gd name="T4" fmla="*/ 0 60000 65536"/>
              <a:gd name="T5" fmla="*/ 0 60000 65536"/>
              <a:gd name="T6" fmla="*/ 0 w 428"/>
              <a:gd name="T7" fmla="*/ 0 h 54"/>
              <a:gd name="T8" fmla="*/ 428 w 428"/>
              <a:gd name="T9" fmla="*/ 54 h 5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28" h="54">
                <a:moveTo>
                  <a:pt x="428" y="54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0926" name="Freeform 30"/>
          <p:cNvSpPr>
            <a:spLocks/>
          </p:cNvSpPr>
          <p:nvPr/>
        </p:nvSpPr>
        <p:spPr bwMode="auto">
          <a:xfrm>
            <a:off x="2441576" y="5560088"/>
            <a:ext cx="900103" cy="251449"/>
          </a:xfrm>
          <a:custGeom>
            <a:avLst/>
            <a:gdLst>
              <a:gd name="T0" fmla="*/ 0 w 588"/>
              <a:gd name="T1" fmla="*/ 0 h 158"/>
              <a:gd name="T2" fmla="*/ 2147483647 w 588"/>
              <a:gd name="T3" fmla="*/ 2147483647 h 158"/>
              <a:gd name="T4" fmla="*/ 0 60000 65536"/>
              <a:gd name="T5" fmla="*/ 0 60000 65536"/>
              <a:gd name="T6" fmla="*/ 0 w 588"/>
              <a:gd name="T7" fmla="*/ 0 h 158"/>
              <a:gd name="T8" fmla="*/ 588 w 588"/>
              <a:gd name="T9" fmla="*/ 158 h 1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8" h="158">
                <a:moveTo>
                  <a:pt x="0" y="0"/>
                </a:moveTo>
                <a:lnTo>
                  <a:pt x="588" y="158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0927" name="Freeform 31"/>
          <p:cNvSpPr>
            <a:spLocks/>
          </p:cNvSpPr>
          <p:nvPr/>
        </p:nvSpPr>
        <p:spPr bwMode="auto">
          <a:xfrm>
            <a:off x="4096777" y="6015810"/>
            <a:ext cx="1164612" cy="300037"/>
          </a:xfrm>
          <a:custGeom>
            <a:avLst/>
            <a:gdLst>
              <a:gd name="T0" fmla="*/ 2147483647 w 736"/>
              <a:gd name="T1" fmla="*/ 2147483647 h 195"/>
              <a:gd name="T2" fmla="*/ 0 w 736"/>
              <a:gd name="T3" fmla="*/ 0 h 195"/>
              <a:gd name="T4" fmla="*/ 0 60000 65536"/>
              <a:gd name="T5" fmla="*/ 0 60000 65536"/>
              <a:gd name="T6" fmla="*/ 0 w 736"/>
              <a:gd name="T7" fmla="*/ 0 h 195"/>
              <a:gd name="T8" fmla="*/ 736 w 736"/>
              <a:gd name="T9" fmla="*/ 195 h 19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6" h="195">
                <a:moveTo>
                  <a:pt x="736" y="19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0928" name="Line 32"/>
          <p:cNvSpPr>
            <a:spLocks noChangeShapeType="1"/>
          </p:cNvSpPr>
          <p:nvPr/>
        </p:nvSpPr>
        <p:spPr bwMode="auto">
          <a:xfrm flipH="1">
            <a:off x="3810000" y="4573289"/>
            <a:ext cx="838200" cy="3810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29" name="Freeform 33"/>
          <p:cNvSpPr>
            <a:spLocks/>
          </p:cNvSpPr>
          <p:nvPr/>
        </p:nvSpPr>
        <p:spPr bwMode="auto">
          <a:xfrm>
            <a:off x="2434811" y="5311479"/>
            <a:ext cx="563979" cy="258758"/>
          </a:xfrm>
          <a:custGeom>
            <a:avLst/>
            <a:gdLst>
              <a:gd name="T0" fmla="*/ 0 w 376"/>
              <a:gd name="T1" fmla="*/ 2147483647 h 167"/>
              <a:gd name="T2" fmla="*/ 2147483647 w 376"/>
              <a:gd name="T3" fmla="*/ 0 h 167"/>
              <a:gd name="T4" fmla="*/ 0 60000 65536"/>
              <a:gd name="T5" fmla="*/ 0 60000 65536"/>
              <a:gd name="T6" fmla="*/ 0 w 376"/>
              <a:gd name="T7" fmla="*/ 0 h 167"/>
              <a:gd name="T8" fmla="*/ 376 w 376"/>
              <a:gd name="T9" fmla="*/ 167 h 1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6" h="167">
                <a:moveTo>
                  <a:pt x="0" y="167"/>
                </a:moveTo>
                <a:lnTo>
                  <a:pt x="376" y="0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0866" name="Freeform 34"/>
          <p:cNvSpPr>
            <a:spLocks/>
          </p:cNvSpPr>
          <p:nvPr/>
        </p:nvSpPr>
        <p:spPr bwMode="auto">
          <a:xfrm>
            <a:off x="4370390" y="3105366"/>
            <a:ext cx="184148" cy="2742170"/>
          </a:xfrm>
          <a:custGeom>
            <a:avLst/>
            <a:gdLst>
              <a:gd name="T0" fmla="*/ 0 w 1"/>
              <a:gd name="T1" fmla="*/ 0 h 1750"/>
              <a:gd name="T2" fmla="*/ 0 w 1"/>
              <a:gd name="T3" fmla="*/ 2147483647 h 1750"/>
              <a:gd name="T4" fmla="*/ 0 60000 65536"/>
              <a:gd name="T5" fmla="*/ 0 60000 65536"/>
              <a:gd name="T6" fmla="*/ 0 w 1"/>
              <a:gd name="T7" fmla="*/ 0 h 1750"/>
              <a:gd name="T8" fmla="*/ 1 w 1"/>
              <a:gd name="T9" fmla="*/ 1750 h 175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50">
                <a:moveTo>
                  <a:pt x="0" y="0"/>
                </a:moveTo>
                <a:lnTo>
                  <a:pt x="0" y="175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0867" name="Freeform 35"/>
          <p:cNvSpPr>
            <a:spLocks/>
          </p:cNvSpPr>
          <p:nvPr/>
        </p:nvSpPr>
        <p:spPr bwMode="auto">
          <a:xfrm>
            <a:off x="4071940" y="5847536"/>
            <a:ext cx="293687" cy="168276"/>
          </a:xfrm>
          <a:custGeom>
            <a:avLst/>
            <a:gdLst>
              <a:gd name="T0" fmla="*/ 0 w 197"/>
              <a:gd name="T1" fmla="*/ 2147483647 h 113"/>
              <a:gd name="T2" fmla="*/ 2147483647 w 197"/>
              <a:gd name="T3" fmla="*/ 0 h 113"/>
              <a:gd name="T4" fmla="*/ 0 60000 65536"/>
              <a:gd name="T5" fmla="*/ 0 60000 65536"/>
              <a:gd name="T6" fmla="*/ 0 w 197"/>
              <a:gd name="T7" fmla="*/ 0 h 113"/>
              <a:gd name="T8" fmla="*/ 197 w 197"/>
              <a:gd name="T9" fmla="*/ 113 h 11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7" h="113">
                <a:moveTo>
                  <a:pt x="0" y="113"/>
                </a:moveTo>
                <a:lnTo>
                  <a:pt x="197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0868" name="Freeform 36"/>
          <p:cNvSpPr>
            <a:spLocks/>
          </p:cNvSpPr>
          <p:nvPr/>
        </p:nvSpPr>
        <p:spPr bwMode="auto">
          <a:xfrm>
            <a:off x="3009607" y="5300789"/>
            <a:ext cx="355892" cy="516862"/>
          </a:xfrm>
          <a:custGeom>
            <a:avLst/>
            <a:gdLst>
              <a:gd name="T0" fmla="*/ 0 w 226"/>
              <a:gd name="T1" fmla="*/ 0 h 325"/>
              <a:gd name="T2" fmla="*/ 2147483647 w 226"/>
              <a:gd name="T3" fmla="*/ 2147483647 h 325"/>
              <a:gd name="T4" fmla="*/ 0 60000 65536"/>
              <a:gd name="T5" fmla="*/ 0 60000 65536"/>
              <a:gd name="T6" fmla="*/ 0 w 226"/>
              <a:gd name="T7" fmla="*/ 0 h 325"/>
              <a:gd name="T8" fmla="*/ 226 w 226"/>
              <a:gd name="T9" fmla="*/ 325 h 3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" h="325">
                <a:moveTo>
                  <a:pt x="0" y="0"/>
                </a:moveTo>
                <a:lnTo>
                  <a:pt x="226" y="325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3003551" y="4952702"/>
            <a:ext cx="1944688" cy="1052513"/>
            <a:chOff x="932" y="2591"/>
            <a:chExt cx="1225" cy="663"/>
          </a:xfrm>
        </p:grpSpPr>
        <p:sp>
          <p:nvSpPr>
            <p:cNvPr id="81029" name="Freeform 38"/>
            <p:cNvSpPr>
              <a:spLocks/>
            </p:cNvSpPr>
            <p:nvPr/>
          </p:nvSpPr>
          <p:spPr bwMode="auto">
            <a:xfrm>
              <a:off x="1145" y="3134"/>
              <a:ext cx="460" cy="120"/>
            </a:xfrm>
            <a:custGeom>
              <a:avLst/>
              <a:gdLst>
                <a:gd name="T0" fmla="*/ 0 w 438"/>
                <a:gd name="T1" fmla="*/ 0 h 127"/>
                <a:gd name="T2" fmla="*/ 438 w 438"/>
                <a:gd name="T3" fmla="*/ 127 h 127"/>
                <a:gd name="T4" fmla="*/ 0 60000 65536"/>
                <a:gd name="T5" fmla="*/ 0 60000 65536"/>
                <a:gd name="T6" fmla="*/ 0 w 438"/>
                <a:gd name="T7" fmla="*/ 0 h 127"/>
                <a:gd name="T8" fmla="*/ 438 w 438"/>
                <a:gd name="T9" fmla="*/ 127 h 1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8" h="127">
                  <a:moveTo>
                    <a:pt x="0" y="0"/>
                  </a:moveTo>
                  <a:lnTo>
                    <a:pt x="438" y="127"/>
                  </a:lnTo>
                </a:path>
              </a:pathLst>
            </a:custGeom>
            <a:noFill/>
            <a:ln w="38100">
              <a:solidFill>
                <a:srgbClr val="33CCFF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030" name="Freeform 39"/>
            <p:cNvSpPr>
              <a:spLocks/>
            </p:cNvSpPr>
            <p:nvPr/>
          </p:nvSpPr>
          <p:spPr bwMode="auto">
            <a:xfrm>
              <a:off x="932" y="2591"/>
              <a:ext cx="506" cy="230"/>
            </a:xfrm>
            <a:custGeom>
              <a:avLst/>
              <a:gdLst>
                <a:gd name="T0" fmla="*/ 0 w 494"/>
                <a:gd name="T1" fmla="*/ 217 h 217"/>
                <a:gd name="T2" fmla="*/ 494 w 494"/>
                <a:gd name="T3" fmla="*/ 0 h 217"/>
                <a:gd name="T4" fmla="*/ 0 60000 65536"/>
                <a:gd name="T5" fmla="*/ 0 60000 65536"/>
                <a:gd name="T6" fmla="*/ 0 w 494"/>
                <a:gd name="T7" fmla="*/ 0 h 217"/>
                <a:gd name="T8" fmla="*/ 494 w 494"/>
                <a:gd name="T9" fmla="*/ 217 h 21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94" h="217">
                  <a:moveTo>
                    <a:pt x="0" y="217"/>
                  </a:moveTo>
                  <a:lnTo>
                    <a:pt x="494" y="0"/>
                  </a:lnTo>
                </a:path>
              </a:pathLst>
            </a:custGeom>
            <a:noFill/>
            <a:ln w="38100">
              <a:solidFill>
                <a:srgbClr val="33CCFF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031" name="Freeform 40"/>
            <p:cNvSpPr>
              <a:spLocks/>
            </p:cNvSpPr>
            <p:nvPr/>
          </p:nvSpPr>
          <p:spPr bwMode="auto">
            <a:xfrm>
              <a:off x="1788" y="2646"/>
              <a:ext cx="294" cy="41"/>
            </a:xfrm>
            <a:custGeom>
              <a:avLst/>
              <a:gdLst>
                <a:gd name="T0" fmla="*/ 0 w 225"/>
                <a:gd name="T1" fmla="*/ 0 h 28"/>
                <a:gd name="T2" fmla="*/ 225 w 225"/>
                <a:gd name="T3" fmla="*/ 28 h 28"/>
                <a:gd name="T4" fmla="*/ 0 60000 65536"/>
                <a:gd name="T5" fmla="*/ 0 60000 65536"/>
                <a:gd name="T6" fmla="*/ 0 w 225"/>
                <a:gd name="T7" fmla="*/ 0 h 28"/>
                <a:gd name="T8" fmla="*/ 225 w 225"/>
                <a:gd name="T9" fmla="*/ 28 h 2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5" h="28">
                  <a:moveTo>
                    <a:pt x="0" y="0"/>
                  </a:moveTo>
                  <a:lnTo>
                    <a:pt x="225" y="28"/>
                  </a:lnTo>
                </a:path>
              </a:pathLst>
            </a:custGeom>
            <a:noFill/>
            <a:ln w="57150">
              <a:solidFill>
                <a:srgbClr val="33CCFF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032" name="Freeform 41"/>
            <p:cNvSpPr>
              <a:spLocks/>
            </p:cNvSpPr>
            <p:nvPr/>
          </p:nvSpPr>
          <p:spPr bwMode="auto">
            <a:xfrm>
              <a:off x="1793" y="2941"/>
              <a:ext cx="364" cy="214"/>
            </a:xfrm>
            <a:custGeom>
              <a:avLst/>
              <a:gdLst>
                <a:gd name="T0" fmla="*/ 0 w 367"/>
                <a:gd name="T1" fmla="*/ 220 h 220"/>
                <a:gd name="T2" fmla="*/ 367 w 367"/>
                <a:gd name="T3" fmla="*/ 0 h 220"/>
                <a:gd name="T4" fmla="*/ 0 60000 65536"/>
                <a:gd name="T5" fmla="*/ 0 60000 65536"/>
                <a:gd name="T6" fmla="*/ 0 w 367"/>
                <a:gd name="T7" fmla="*/ 0 h 220"/>
                <a:gd name="T8" fmla="*/ 367 w 367"/>
                <a:gd name="T9" fmla="*/ 220 h 22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7" h="220">
                  <a:moveTo>
                    <a:pt x="0" y="220"/>
                  </a:moveTo>
                  <a:lnTo>
                    <a:pt x="367" y="0"/>
                  </a:lnTo>
                </a:path>
              </a:pathLst>
            </a:custGeom>
            <a:noFill/>
            <a:ln w="38100">
              <a:solidFill>
                <a:srgbClr val="33CCFF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0874" name="Freeform 42"/>
          <p:cNvSpPr>
            <a:spLocks/>
          </p:cNvSpPr>
          <p:nvPr/>
        </p:nvSpPr>
        <p:spPr bwMode="auto">
          <a:xfrm>
            <a:off x="4362453" y="5033839"/>
            <a:ext cx="241298" cy="837130"/>
          </a:xfrm>
          <a:custGeom>
            <a:avLst/>
            <a:gdLst>
              <a:gd name="T0" fmla="*/ 0 w 1"/>
              <a:gd name="T1" fmla="*/ 0 h 508"/>
              <a:gd name="T2" fmla="*/ 0 w 1"/>
              <a:gd name="T3" fmla="*/ 2147483647 h 508"/>
              <a:gd name="T4" fmla="*/ 0 60000 65536"/>
              <a:gd name="T5" fmla="*/ 0 60000 65536"/>
              <a:gd name="T6" fmla="*/ 0 w 1"/>
              <a:gd name="T7" fmla="*/ 0 h 508"/>
              <a:gd name="T8" fmla="*/ 1 w 1"/>
              <a:gd name="T9" fmla="*/ 508 h 5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08">
                <a:moveTo>
                  <a:pt x="0" y="0"/>
                </a:moveTo>
                <a:lnTo>
                  <a:pt x="0" y="508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0935" name="Line 43"/>
          <p:cNvSpPr>
            <a:spLocks noChangeShapeType="1"/>
          </p:cNvSpPr>
          <p:nvPr/>
        </p:nvSpPr>
        <p:spPr bwMode="auto">
          <a:xfrm flipH="1">
            <a:off x="4953000" y="5182889"/>
            <a:ext cx="533400" cy="3111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0936" name="Freeform 44"/>
          <p:cNvSpPr>
            <a:spLocks/>
          </p:cNvSpPr>
          <p:nvPr/>
        </p:nvSpPr>
        <p:spPr bwMode="auto">
          <a:xfrm>
            <a:off x="3652838" y="6004698"/>
            <a:ext cx="425450" cy="250764"/>
          </a:xfrm>
          <a:custGeom>
            <a:avLst/>
            <a:gdLst>
              <a:gd name="T0" fmla="*/ 0 w 286"/>
              <a:gd name="T1" fmla="*/ 2147483647 h 161"/>
              <a:gd name="T2" fmla="*/ 2147483647 w 286"/>
              <a:gd name="T3" fmla="*/ 0 h 161"/>
              <a:gd name="T4" fmla="*/ 0 60000 65536"/>
              <a:gd name="T5" fmla="*/ 0 60000 65536"/>
              <a:gd name="T6" fmla="*/ 0 w 286"/>
              <a:gd name="T7" fmla="*/ 0 h 161"/>
              <a:gd name="T8" fmla="*/ 286 w 286"/>
              <a:gd name="T9" fmla="*/ 161 h 1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6" h="161">
                <a:moveTo>
                  <a:pt x="0" y="161"/>
                </a:moveTo>
                <a:lnTo>
                  <a:pt x="286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0937" name="Line 45"/>
          <p:cNvSpPr>
            <a:spLocks noChangeShapeType="1"/>
          </p:cNvSpPr>
          <p:nvPr/>
        </p:nvSpPr>
        <p:spPr bwMode="auto">
          <a:xfrm flipV="1">
            <a:off x="3657600" y="2973089"/>
            <a:ext cx="0" cy="3276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38" name="Line 46"/>
          <p:cNvSpPr>
            <a:spLocks noChangeShapeType="1"/>
          </p:cNvSpPr>
          <p:nvPr/>
        </p:nvSpPr>
        <p:spPr bwMode="auto">
          <a:xfrm>
            <a:off x="2667000" y="4801889"/>
            <a:ext cx="11430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0879" name="Freeform 47"/>
          <p:cNvSpPr>
            <a:spLocks/>
          </p:cNvSpPr>
          <p:nvPr/>
        </p:nvSpPr>
        <p:spPr bwMode="auto">
          <a:xfrm>
            <a:off x="3797050" y="4952056"/>
            <a:ext cx="570758" cy="85476"/>
          </a:xfrm>
          <a:custGeom>
            <a:avLst/>
            <a:gdLst>
              <a:gd name="T0" fmla="*/ 0 w 367"/>
              <a:gd name="T1" fmla="*/ 0 h 48"/>
              <a:gd name="T2" fmla="*/ 2147483647 w 367"/>
              <a:gd name="T3" fmla="*/ 2147483647 h 48"/>
              <a:gd name="T4" fmla="*/ 0 60000 65536"/>
              <a:gd name="T5" fmla="*/ 0 60000 65536"/>
              <a:gd name="T6" fmla="*/ 0 w 367"/>
              <a:gd name="T7" fmla="*/ 0 h 48"/>
              <a:gd name="T8" fmla="*/ 367 w 367"/>
              <a:gd name="T9" fmla="*/ 48 h 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7" h="48">
                <a:moveTo>
                  <a:pt x="0" y="0"/>
                </a:moveTo>
                <a:lnTo>
                  <a:pt x="367" y="48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0940" name="Freeform 48"/>
          <p:cNvSpPr>
            <a:spLocks/>
          </p:cNvSpPr>
          <p:nvPr/>
        </p:nvSpPr>
        <p:spPr bwMode="auto">
          <a:xfrm>
            <a:off x="3368081" y="5825826"/>
            <a:ext cx="297456" cy="433390"/>
          </a:xfrm>
          <a:custGeom>
            <a:avLst/>
            <a:gdLst>
              <a:gd name="T0" fmla="*/ 2147483647 w 186"/>
              <a:gd name="T1" fmla="*/ 2147483647 h 274"/>
              <a:gd name="T2" fmla="*/ 0 w 186"/>
              <a:gd name="T3" fmla="*/ 0 h 274"/>
              <a:gd name="T4" fmla="*/ 0 60000 65536"/>
              <a:gd name="T5" fmla="*/ 0 60000 65536"/>
              <a:gd name="T6" fmla="*/ 0 w 186"/>
              <a:gd name="T7" fmla="*/ 0 h 274"/>
              <a:gd name="T8" fmla="*/ 186 w 186"/>
              <a:gd name="T9" fmla="*/ 274 h 2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6" h="274">
                <a:moveTo>
                  <a:pt x="186" y="274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0881" name="Text Box 49"/>
          <p:cNvSpPr txBox="1">
            <a:spLocks noChangeArrowheads="1"/>
          </p:cNvSpPr>
          <p:nvPr/>
        </p:nvSpPr>
        <p:spPr bwMode="auto">
          <a:xfrm>
            <a:off x="3724276" y="2588914"/>
            <a:ext cx="127317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m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400" b="1">
                <a:latin typeface="Times New Roman" pitchFamily="18" charset="0"/>
              </a:rPr>
              <a:t>(</a:t>
            </a:r>
            <a:r>
              <a:rPr kumimoji="1" lang="en-US" altLang="zh-CN" sz="2400" i="1">
                <a:latin typeface="Dutch801 Rm BT" pitchFamily="18" charset="0"/>
              </a:rPr>
              <a:t>n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400" b="1">
                <a:latin typeface="Times New Roman" pitchFamily="18" charset="0"/>
              </a:rPr>
              <a:t>)</a:t>
            </a:r>
          </a:p>
        </p:txBody>
      </p:sp>
      <p:sp>
        <p:nvSpPr>
          <p:cNvPr id="80942" name="Freeform 50"/>
          <p:cNvSpPr>
            <a:spLocks/>
          </p:cNvSpPr>
          <p:nvPr/>
        </p:nvSpPr>
        <p:spPr bwMode="auto">
          <a:xfrm>
            <a:off x="2669584" y="4797771"/>
            <a:ext cx="356608" cy="529040"/>
          </a:xfrm>
          <a:custGeom>
            <a:avLst/>
            <a:gdLst>
              <a:gd name="T0" fmla="*/ 0 w 226"/>
              <a:gd name="T1" fmla="*/ 0 h 327"/>
              <a:gd name="T2" fmla="*/ 2147483647 w 226"/>
              <a:gd name="T3" fmla="*/ 2147483647 h 327"/>
              <a:gd name="T4" fmla="*/ 0 60000 65536"/>
              <a:gd name="T5" fmla="*/ 0 60000 65536"/>
              <a:gd name="T6" fmla="*/ 0 w 226"/>
              <a:gd name="T7" fmla="*/ 0 h 327"/>
              <a:gd name="T8" fmla="*/ 226 w 226"/>
              <a:gd name="T9" fmla="*/ 327 h 32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" h="327">
                <a:moveTo>
                  <a:pt x="0" y="0"/>
                </a:moveTo>
                <a:lnTo>
                  <a:pt x="226" y="327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0883" name="Rectangle 51"/>
          <p:cNvSpPr>
            <a:spLocks noChangeArrowheads="1"/>
          </p:cNvSpPr>
          <p:nvPr/>
        </p:nvSpPr>
        <p:spPr bwMode="auto">
          <a:xfrm>
            <a:off x="6432556" y="1639645"/>
            <a:ext cx="342900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空间及投影分析</a:t>
            </a:r>
          </a:p>
        </p:txBody>
      </p:sp>
      <p:sp>
        <p:nvSpPr>
          <p:cNvPr id="120884" name="Text Box 52"/>
          <p:cNvSpPr txBox="1">
            <a:spLocks noChangeArrowheads="1"/>
          </p:cNvSpPr>
          <p:nvPr/>
        </p:nvSpPr>
        <p:spPr bwMode="auto">
          <a:xfrm>
            <a:off x="6391275" y="2180257"/>
            <a:ext cx="4063075" cy="193899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平面</a:t>
            </a:r>
            <a:r>
              <a:rPr lang="en-US" altLang="zh-CN" sz="2400" b="1" dirty="0">
                <a:latin typeface="宋体" pitchFamily="2" charset="-122"/>
              </a:rPr>
              <a:t>ABC</a:t>
            </a:r>
            <a:r>
              <a:rPr lang="zh-CN" altLang="en-US" sz="2400" b="1" dirty="0">
                <a:latin typeface="宋体" pitchFamily="2" charset="-122"/>
              </a:rPr>
              <a:t>与</a:t>
            </a:r>
            <a:r>
              <a:rPr lang="en-US" altLang="zh-CN" sz="2400" b="1" dirty="0">
                <a:latin typeface="宋体" pitchFamily="2" charset="-122"/>
              </a:rPr>
              <a:t>DEF</a:t>
            </a:r>
            <a:r>
              <a:rPr lang="zh-CN" altLang="en-US" sz="2400" b="1" dirty="0">
                <a:latin typeface="宋体" pitchFamily="2" charset="-122"/>
              </a:rPr>
              <a:t>都为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正垂面</a:t>
            </a:r>
            <a:r>
              <a:rPr lang="zh-CN" altLang="en-US" sz="2400" b="1" dirty="0">
                <a:latin typeface="宋体" pitchFamily="2" charset="-122"/>
              </a:rPr>
              <a:t>，它们的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交线为一条正垂线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，两平面</a:t>
            </a:r>
            <a:r>
              <a:rPr lang="zh-CN" altLang="en-US" sz="2400" b="1" dirty="0">
                <a:latin typeface="宋体" pitchFamily="2" charset="-122"/>
              </a:rPr>
              <a:t>正面投影的交点即为交线的正面投影，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交线的水平投影垂直于</a:t>
            </a: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OX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轴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120885" name="Text Box 53"/>
          <p:cNvSpPr txBox="1">
            <a:spLocks noChangeArrowheads="1"/>
          </p:cNvSpPr>
          <p:nvPr/>
        </p:nvSpPr>
        <p:spPr bwMode="auto">
          <a:xfrm>
            <a:off x="6986122" y="4594507"/>
            <a:ext cx="1577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① </a:t>
            </a:r>
            <a:r>
              <a:rPr lang="zh-CN" altLang="en-US" sz="2400" b="1" dirty="0">
                <a:latin typeface="宋体" pitchFamily="2" charset="-122"/>
              </a:rPr>
              <a:t>求交线</a:t>
            </a:r>
          </a:p>
        </p:txBody>
      </p:sp>
      <p:sp>
        <p:nvSpPr>
          <p:cNvPr id="120886" name="Text Box 54"/>
          <p:cNvSpPr txBox="1">
            <a:spLocks noChangeArrowheads="1"/>
          </p:cNvSpPr>
          <p:nvPr/>
        </p:nvSpPr>
        <p:spPr bwMode="auto">
          <a:xfrm>
            <a:off x="6964702" y="5041658"/>
            <a:ext cx="21964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宋体" pitchFamily="2" charset="-122"/>
              </a:rPr>
              <a:t>② </a:t>
            </a:r>
            <a:r>
              <a:rPr lang="zh-CN" altLang="en-US" sz="2400" b="1" dirty="0">
                <a:latin typeface="宋体" pitchFamily="2" charset="-122"/>
              </a:rPr>
              <a:t>判别可见性</a:t>
            </a:r>
          </a:p>
        </p:txBody>
      </p:sp>
      <p:sp>
        <p:nvSpPr>
          <p:cNvPr id="120887" name="Text Box 55"/>
          <p:cNvSpPr txBox="1">
            <a:spLocks noChangeArrowheads="1"/>
          </p:cNvSpPr>
          <p:nvPr/>
        </p:nvSpPr>
        <p:spPr bwMode="auto">
          <a:xfrm>
            <a:off x="6971536" y="4156966"/>
            <a:ext cx="80342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作图</a:t>
            </a:r>
          </a:p>
        </p:txBody>
      </p:sp>
      <p:sp>
        <p:nvSpPr>
          <p:cNvPr id="120888" name="Text Box 56"/>
          <p:cNvSpPr txBox="1">
            <a:spLocks noChangeArrowheads="1"/>
          </p:cNvSpPr>
          <p:nvPr/>
        </p:nvSpPr>
        <p:spPr bwMode="auto">
          <a:xfrm>
            <a:off x="6432397" y="5503323"/>
            <a:ext cx="4114800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从正面投影上可看出，在交线左侧，平面</a:t>
            </a:r>
            <a:r>
              <a:rPr lang="en-US" altLang="zh-CN" sz="2400" b="1" dirty="0">
                <a:latin typeface="宋体" pitchFamily="2" charset="-122"/>
              </a:rPr>
              <a:t>ABC</a:t>
            </a:r>
            <a:r>
              <a:rPr lang="zh-CN" altLang="en-US" sz="2400" b="1" dirty="0">
                <a:latin typeface="宋体" pitchFamily="2" charset="-122"/>
              </a:rPr>
              <a:t>在上，其水平投影可见。</a:t>
            </a:r>
          </a:p>
        </p:txBody>
      </p: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3017838" y="4941591"/>
            <a:ext cx="1922463" cy="1074738"/>
            <a:chOff x="949" y="2581"/>
            <a:chExt cx="1211" cy="677"/>
          </a:xfrm>
        </p:grpSpPr>
        <p:sp>
          <p:nvSpPr>
            <p:cNvPr id="81025" name="Freeform 58"/>
            <p:cNvSpPr>
              <a:spLocks/>
            </p:cNvSpPr>
            <p:nvPr/>
          </p:nvSpPr>
          <p:spPr bwMode="auto">
            <a:xfrm>
              <a:off x="949" y="2581"/>
              <a:ext cx="507" cy="233"/>
            </a:xfrm>
            <a:custGeom>
              <a:avLst/>
              <a:gdLst>
                <a:gd name="T0" fmla="*/ 0 w 480"/>
                <a:gd name="T1" fmla="*/ 217 h 217"/>
                <a:gd name="T2" fmla="*/ 480 w 480"/>
                <a:gd name="T3" fmla="*/ 0 h 217"/>
                <a:gd name="T4" fmla="*/ 0 60000 65536"/>
                <a:gd name="T5" fmla="*/ 0 60000 65536"/>
                <a:gd name="T6" fmla="*/ 0 w 480"/>
                <a:gd name="T7" fmla="*/ 0 h 217"/>
                <a:gd name="T8" fmla="*/ 480 w 480"/>
                <a:gd name="T9" fmla="*/ 217 h 21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0" h="217">
                  <a:moveTo>
                    <a:pt x="0" y="217"/>
                  </a:moveTo>
                  <a:lnTo>
                    <a:pt x="48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026" name="Freeform 59"/>
            <p:cNvSpPr>
              <a:spLocks/>
            </p:cNvSpPr>
            <p:nvPr/>
          </p:nvSpPr>
          <p:spPr bwMode="auto">
            <a:xfrm>
              <a:off x="1158" y="3133"/>
              <a:ext cx="483" cy="125"/>
            </a:xfrm>
            <a:custGeom>
              <a:avLst/>
              <a:gdLst>
                <a:gd name="T0" fmla="*/ 0 w 488"/>
                <a:gd name="T1" fmla="*/ 0 h 130"/>
                <a:gd name="T2" fmla="*/ 488 w 488"/>
                <a:gd name="T3" fmla="*/ 130 h 130"/>
                <a:gd name="T4" fmla="*/ 0 60000 65536"/>
                <a:gd name="T5" fmla="*/ 0 60000 65536"/>
                <a:gd name="T6" fmla="*/ 0 w 488"/>
                <a:gd name="T7" fmla="*/ 0 h 130"/>
                <a:gd name="T8" fmla="*/ 488 w 488"/>
                <a:gd name="T9" fmla="*/ 130 h 13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8" h="130">
                  <a:moveTo>
                    <a:pt x="0" y="0"/>
                  </a:moveTo>
                  <a:lnTo>
                    <a:pt x="488" y="13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027" name="Line 60"/>
            <p:cNvSpPr>
              <a:spLocks noChangeShapeType="1"/>
            </p:cNvSpPr>
            <p:nvPr/>
          </p:nvSpPr>
          <p:spPr bwMode="auto">
            <a:xfrm flipV="1">
              <a:off x="1776" y="2928"/>
              <a:ext cx="384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1028" name="Line 61"/>
            <p:cNvSpPr>
              <a:spLocks noChangeShapeType="1"/>
            </p:cNvSpPr>
            <p:nvPr/>
          </p:nvSpPr>
          <p:spPr bwMode="auto">
            <a:xfrm>
              <a:off x="1776" y="2640"/>
              <a:ext cx="310" cy="4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3969022" y="4902937"/>
            <a:ext cx="562520" cy="475421"/>
            <a:chOff x="1553" y="2054"/>
            <a:chExt cx="324" cy="287"/>
          </a:xfrm>
        </p:grpSpPr>
        <p:sp>
          <p:nvSpPr>
            <p:cNvPr id="81023" name="Text Box 63"/>
            <p:cNvSpPr txBox="1">
              <a:spLocks noChangeArrowheads="1"/>
            </p:cNvSpPr>
            <p:nvPr/>
          </p:nvSpPr>
          <p:spPr bwMode="auto">
            <a:xfrm>
              <a:off x="1553" y="2062"/>
              <a:ext cx="249" cy="27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n</a:t>
              </a:r>
              <a:endParaRPr lang="en-US" altLang="zh-CN" sz="2400" b="1" dirty="0">
                <a:latin typeface="Times New Roman" pitchFamily="18" charset="0"/>
              </a:endParaRPr>
            </a:p>
          </p:txBody>
        </p:sp>
        <p:sp>
          <p:nvSpPr>
            <p:cNvPr id="81024" name="Text Box 64"/>
            <p:cNvSpPr txBox="1">
              <a:spLocks noChangeArrowheads="1"/>
            </p:cNvSpPr>
            <p:nvPr/>
          </p:nvSpPr>
          <p:spPr bwMode="auto">
            <a:xfrm>
              <a:off x="1681" y="2054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rgbClr val="996633"/>
                  </a:solidFill>
                  <a:latin typeface="Times New Roman" pitchFamily="18" charset="0"/>
                </a:rPr>
                <a:t>●</a:t>
              </a:r>
              <a:endParaRPr kumimoji="1" lang="en-US" altLang="zh-CN" sz="1000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" name="Group 65"/>
          <p:cNvGrpSpPr>
            <a:grpSpLocks/>
          </p:cNvGrpSpPr>
          <p:nvPr/>
        </p:nvGrpSpPr>
        <p:grpSpPr bwMode="auto">
          <a:xfrm>
            <a:off x="4206876" y="5716289"/>
            <a:ext cx="506413" cy="457200"/>
            <a:chOff x="1690" y="2573"/>
            <a:chExt cx="319" cy="288"/>
          </a:xfrm>
        </p:grpSpPr>
        <p:sp>
          <p:nvSpPr>
            <p:cNvPr id="81021" name="Text Box 66"/>
            <p:cNvSpPr txBox="1">
              <a:spLocks noChangeArrowheads="1"/>
            </p:cNvSpPr>
            <p:nvPr/>
          </p:nvSpPr>
          <p:spPr bwMode="auto">
            <a:xfrm>
              <a:off x="1736" y="2573"/>
              <a:ext cx="27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m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81022" name="Text Box 67"/>
            <p:cNvSpPr txBox="1">
              <a:spLocks noChangeArrowheads="1"/>
            </p:cNvSpPr>
            <p:nvPr/>
          </p:nvSpPr>
          <p:spPr bwMode="auto">
            <a:xfrm>
              <a:off x="1690" y="2583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996633"/>
                  </a:solidFill>
                  <a:latin typeface="Times New Roman" pitchFamily="18" charset="0"/>
                </a:rPr>
                <a:t>●</a:t>
              </a:r>
              <a:endParaRPr kumimoji="1" lang="en-US" altLang="zh-CN" sz="100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</p:grpSp>
      <p:sp>
        <p:nvSpPr>
          <p:cNvPr id="120900" name="Text Box 68"/>
          <p:cNvSpPr txBox="1">
            <a:spLocks noChangeArrowheads="1"/>
          </p:cNvSpPr>
          <p:nvPr/>
        </p:nvSpPr>
        <p:spPr bwMode="auto">
          <a:xfrm>
            <a:off x="4230688" y="2973090"/>
            <a:ext cx="311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000">
                <a:solidFill>
                  <a:schemeClr val="tx2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80955" name="Text Box 130"/>
          <p:cNvSpPr txBox="1">
            <a:spLocks noChangeArrowheads="1"/>
          </p:cNvSpPr>
          <p:nvPr/>
        </p:nvSpPr>
        <p:spPr bwMode="auto">
          <a:xfrm>
            <a:off x="1379763" y="1036382"/>
            <a:ext cx="38605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Times New Roman" pitchFamily="18" charset="0"/>
              </a:rPr>
              <a:t>例：求两平面的交线</a:t>
            </a:r>
          </a:p>
          <a:p>
            <a:r>
              <a:rPr lang="zh-CN" altLang="en-US" sz="2400" b="1" dirty="0">
                <a:latin typeface="宋体" pitchFamily="2" charset="-122"/>
              </a:rPr>
              <a:t>    </a:t>
            </a:r>
            <a:r>
              <a:rPr lang="en-US" altLang="zh-CN" sz="2400" b="1" dirty="0">
                <a:latin typeface="Times New Roman" pitchFamily="18" charset="0"/>
              </a:rPr>
              <a:t>MN</a:t>
            </a:r>
            <a:r>
              <a:rPr lang="zh-CN" altLang="en-US" sz="2400" b="1" dirty="0">
                <a:latin typeface="Times New Roman" pitchFamily="18" charset="0"/>
              </a:rPr>
              <a:t>并判别可见性。</a:t>
            </a:r>
          </a:p>
        </p:txBody>
      </p:sp>
      <p:sp>
        <p:nvSpPr>
          <p:cNvPr id="80956" name="Text Box 131"/>
          <p:cNvSpPr txBox="1">
            <a:spLocks noChangeArrowheads="1"/>
          </p:cNvSpPr>
          <p:nvPr/>
        </p:nvSpPr>
        <p:spPr bwMode="auto">
          <a:xfrm>
            <a:off x="1812925" y="2280939"/>
            <a:ext cx="615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3200" b="1">
                <a:latin typeface="Times New Roman" pitchFamily="18" charset="0"/>
              </a:rPr>
              <a:t>⑴</a:t>
            </a:r>
          </a:p>
        </p:txBody>
      </p:sp>
      <p:sp>
        <p:nvSpPr>
          <p:cNvPr id="80957" name="Line 132"/>
          <p:cNvSpPr>
            <a:spLocks noChangeShapeType="1"/>
          </p:cNvSpPr>
          <p:nvPr/>
        </p:nvSpPr>
        <p:spPr bwMode="auto">
          <a:xfrm>
            <a:off x="4630738" y="4573289"/>
            <a:ext cx="188912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0958" name="Line 133"/>
          <p:cNvSpPr>
            <a:spLocks noChangeShapeType="1"/>
          </p:cNvSpPr>
          <p:nvPr/>
        </p:nvSpPr>
        <p:spPr bwMode="auto">
          <a:xfrm>
            <a:off x="4953000" y="5494039"/>
            <a:ext cx="304800" cy="8318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0966" name="Line 134"/>
          <p:cNvSpPr>
            <a:spLocks noChangeShapeType="1"/>
          </p:cNvSpPr>
          <p:nvPr/>
        </p:nvSpPr>
        <p:spPr bwMode="auto">
          <a:xfrm>
            <a:off x="4822244" y="5102295"/>
            <a:ext cx="130756" cy="391744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0961" name="Text Box 136"/>
          <p:cNvSpPr txBox="1">
            <a:spLocks noChangeArrowheads="1"/>
          </p:cNvSpPr>
          <p:nvPr/>
        </p:nvSpPr>
        <p:spPr bwMode="auto">
          <a:xfrm>
            <a:off x="5706846" y="4056708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宋体" pitchFamily="2" charset="-122"/>
              </a:rPr>
              <a:t>O</a:t>
            </a:r>
          </a:p>
        </p:txBody>
      </p:sp>
      <p:sp>
        <p:nvSpPr>
          <p:cNvPr id="80962" name="Text Box 137"/>
          <p:cNvSpPr txBox="1">
            <a:spLocks noChangeArrowheads="1"/>
          </p:cNvSpPr>
          <p:nvPr/>
        </p:nvSpPr>
        <p:spPr bwMode="auto">
          <a:xfrm>
            <a:off x="1888909" y="4044008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宋体" pitchFamily="2" charset="-122"/>
              </a:rPr>
              <a:t>X</a:t>
            </a:r>
          </a:p>
        </p:txBody>
      </p:sp>
      <p:sp>
        <p:nvSpPr>
          <p:cNvPr id="137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0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0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08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0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20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2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0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0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20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0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0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75"/>
                                        <p:tgtEl>
                                          <p:spTgt spid="1208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0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66" grpId="0" animBg="1"/>
      <p:bldP spid="120867" grpId="0" animBg="1"/>
      <p:bldP spid="120868" grpId="0" animBg="1"/>
      <p:bldP spid="120874" grpId="0" animBg="1"/>
      <p:bldP spid="120879" grpId="0" animBg="1"/>
      <p:bldP spid="120881" grpId="0" build="p" autoUpdateAnimBg="0"/>
      <p:bldP spid="120883" grpId="0" autoUpdateAnimBg="0"/>
      <p:bldP spid="120884" grpId="0" build="p" autoUpdateAnimBg="0"/>
      <p:bldP spid="120885" grpId="0" autoUpdateAnimBg="0"/>
      <p:bldP spid="120886" grpId="0" build="p" autoUpdateAnimBg="0"/>
      <p:bldP spid="120887" grpId="0" build="p" autoUpdateAnimBg="0"/>
      <p:bldP spid="120888" grpId="0" build="p" autoUpdateAnimBg="0"/>
      <p:bldP spid="120900" grpId="0" build="p" autoUpdateAnimBg="0"/>
      <p:bldP spid="12096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reeform 2"/>
          <p:cNvSpPr>
            <a:spLocks/>
          </p:cNvSpPr>
          <p:nvPr/>
        </p:nvSpPr>
        <p:spPr bwMode="auto">
          <a:xfrm>
            <a:off x="2435346" y="5119031"/>
            <a:ext cx="1449066" cy="867659"/>
          </a:xfrm>
          <a:custGeom>
            <a:avLst/>
            <a:gdLst>
              <a:gd name="T0" fmla="*/ 0 w 568"/>
              <a:gd name="T1" fmla="*/ 2147483647 h 305"/>
              <a:gd name="T2" fmla="*/ 2147483647 w 568"/>
              <a:gd name="T3" fmla="*/ 0 h 305"/>
              <a:gd name="T4" fmla="*/ 2147483647 w 568"/>
              <a:gd name="T5" fmla="*/ 2147483647 h 305"/>
              <a:gd name="T6" fmla="*/ 0 w 568"/>
              <a:gd name="T7" fmla="*/ 2147483647 h 305"/>
              <a:gd name="T8" fmla="*/ 0 60000 65536"/>
              <a:gd name="T9" fmla="*/ 0 60000 65536"/>
              <a:gd name="T10" fmla="*/ 0 60000 65536"/>
              <a:gd name="T11" fmla="*/ 0 60000 65536"/>
              <a:gd name="T12" fmla="*/ 0 w 568"/>
              <a:gd name="T13" fmla="*/ 0 h 305"/>
              <a:gd name="T14" fmla="*/ 568 w 568"/>
              <a:gd name="T15" fmla="*/ 305 h 3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8" h="305">
                <a:moveTo>
                  <a:pt x="0" y="160"/>
                </a:moveTo>
                <a:lnTo>
                  <a:pt x="364" y="0"/>
                </a:lnTo>
                <a:lnTo>
                  <a:pt x="568" y="305"/>
                </a:lnTo>
                <a:lnTo>
                  <a:pt x="0" y="160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1923" name="Freeform 3"/>
          <p:cNvSpPr>
            <a:spLocks/>
          </p:cNvSpPr>
          <p:nvPr/>
        </p:nvSpPr>
        <p:spPr bwMode="auto">
          <a:xfrm>
            <a:off x="2673818" y="4819353"/>
            <a:ext cx="1709068" cy="1430336"/>
          </a:xfrm>
          <a:custGeom>
            <a:avLst/>
            <a:gdLst>
              <a:gd name="T0" fmla="*/ 0 w 1090"/>
              <a:gd name="T1" fmla="*/ 0 h 894"/>
              <a:gd name="T2" fmla="*/ 2147483647 w 1090"/>
              <a:gd name="T3" fmla="*/ 2147483647 h 894"/>
              <a:gd name="T4" fmla="*/ 2147483647 w 1090"/>
              <a:gd name="T5" fmla="*/ 2147483647 h 894"/>
              <a:gd name="T6" fmla="*/ 2147483647 w 1090"/>
              <a:gd name="T7" fmla="*/ 2147483647 h 894"/>
              <a:gd name="T8" fmla="*/ 0 w 1090"/>
              <a:gd name="T9" fmla="*/ 0 h 8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90"/>
              <a:gd name="T16" fmla="*/ 0 h 894"/>
              <a:gd name="T17" fmla="*/ 1090 w 1090"/>
              <a:gd name="T18" fmla="*/ 894 h 8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90" h="894">
                <a:moveTo>
                  <a:pt x="0" y="0"/>
                </a:moveTo>
                <a:lnTo>
                  <a:pt x="625" y="894"/>
                </a:lnTo>
                <a:lnTo>
                  <a:pt x="1076" y="647"/>
                </a:lnTo>
                <a:lnTo>
                  <a:pt x="1090" y="138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1924" name="Freeform 4"/>
          <p:cNvSpPr>
            <a:spLocks/>
          </p:cNvSpPr>
          <p:nvPr/>
        </p:nvSpPr>
        <p:spPr bwMode="auto">
          <a:xfrm>
            <a:off x="4793535" y="5088527"/>
            <a:ext cx="692865" cy="513425"/>
          </a:xfrm>
          <a:custGeom>
            <a:avLst/>
            <a:gdLst>
              <a:gd name="T0" fmla="*/ 0 w 421"/>
              <a:gd name="T1" fmla="*/ 0 h 269"/>
              <a:gd name="T2" fmla="*/ 2147483647 w 421"/>
              <a:gd name="T3" fmla="*/ 2147483647 h 269"/>
              <a:gd name="T4" fmla="*/ 2147483647 w 421"/>
              <a:gd name="T5" fmla="*/ 2147483647 h 269"/>
              <a:gd name="T6" fmla="*/ 0 w 421"/>
              <a:gd name="T7" fmla="*/ 0 h 269"/>
              <a:gd name="T8" fmla="*/ 0 60000 65536"/>
              <a:gd name="T9" fmla="*/ 0 60000 65536"/>
              <a:gd name="T10" fmla="*/ 0 60000 65536"/>
              <a:gd name="T11" fmla="*/ 0 60000 65536"/>
              <a:gd name="T12" fmla="*/ 0 w 421"/>
              <a:gd name="T13" fmla="*/ 0 h 269"/>
              <a:gd name="T14" fmla="*/ 421 w 421"/>
              <a:gd name="T15" fmla="*/ 269 h 26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1" h="269">
                <a:moveTo>
                  <a:pt x="0" y="0"/>
                </a:moveTo>
                <a:lnTo>
                  <a:pt x="421" y="58"/>
                </a:lnTo>
                <a:lnTo>
                  <a:pt x="80" y="269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2398481" y="4571058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1926" name="Text Box 6"/>
          <p:cNvSpPr txBox="1">
            <a:spLocks noChangeArrowheads="1"/>
          </p:cNvSpPr>
          <p:nvPr/>
        </p:nvSpPr>
        <p:spPr bwMode="auto">
          <a:xfrm>
            <a:off x="3440675" y="6137921"/>
            <a:ext cx="3433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5453064" y="4954289"/>
            <a:ext cx="319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1928" name="Text Box 8"/>
          <p:cNvSpPr txBox="1">
            <a:spLocks noChangeArrowheads="1"/>
          </p:cNvSpPr>
          <p:nvPr/>
        </p:nvSpPr>
        <p:spPr bwMode="auto">
          <a:xfrm>
            <a:off x="2132014" y="5335289"/>
            <a:ext cx="344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1929" name="Text Box 9"/>
          <p:cNvSpPr txBox="1">
            <a:spLocks noChangeArrowheads="1"/>
          </p:cNvSpPr>
          <p:nvPr/>
        </p:nvSpPr>
        <p:spPr bwMode="auto">
          <a:xfrm>
            <a:off x="4626592" y="4342458"/>
            <a:ext cx="3321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e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1930" name="Text Box 10"/>
          <p:cNvSpPr txBox="1">
            <a:spLocks noChangeArrowheads="1"/>
          </p:cNvSpPr>
          <p:nvPr/>
        </p:nvSpPr>
        <p:spPr bwMode="auto">
          <a:xfrm>
            <a:off x="5228510" y="6018858"/>
            <a:ext cx="279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f</a:t>
            </a:r>
            <a:endParaRPr kumimoji="1" lang="en-US" altLang="zh-CN" sz="2000" b="1">
              <a:latin typeface="Italic" pitchFamily="2" charset="0"/>
            </a:endParaRPr>
          </a:p>
        </p:txBody>
      </p:sp>
      <p:sp>
        <p:nvSpPr>
          <p:cNvPr id="81931" name="Text Box 11"/>
          <p:cNvSpPr txBox="1">
            <a:spLocks noChangeArrowheads="1"/>
          </p:cNvSpPr>
          <p:nvPr/>
        </p:nvSpPr>
        <p:spPr bwMode="auto">
          <a:xfrm>
            <a:off x="5422900" y="3049289"/>
            <a:ext cx="395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1932" name="Text Box 12"/>
          <p:cNvSpPr txBox="1">
            <a:spLocks noChangeArrowheads="1"/>
          </p:cNvSpPr>
          <p:nvPr/>
        </p:nvSpPr>
        <p:spPr bwMode="auto">
          <a:xfrm>
            <a:off x="5269413" y="2437458"/>
            <a:ext cx="3561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f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1933" name="Text Box 13"/>
          <p:cNvSpPr txBox="1">
            <a:spLocks noChangeArrowheads="1"/>
          </p:cNvSpPr>
          <p:nvPr/>
        </p:nvSpPr>
        <p:spPr bwMode="auto">
          <a:xfrm>
            <a:off x="1852613" y="3522792"/>
            <a:ext cx="10271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  <a:p>
            <a:pPr algn="ctr"/>
            <a:endParaRPr kumimoji="1" lang="en-US" altLang="zh-CN" sz="2400" b="1">
              <a:latin typeface="Times New Roman" pitchFamily="18" charset="0"/>
              <a:sym typeface="CommercialPi BT" pitchFamily="18" charset="2"/>
            </a:endParaRPr>
          </a:p>
        </p:txBody>
      </p:sp>
      <p:sp>
        <p:nvSpPr>
          <p:cNvPr id="81934" name="Text Box 14"/>
          <p:cNvSpPr txBox="1">
            <a:spLocks noChangeArrowheads="1"/>
          </p:cNvSpPr>
          <p:nvPr/>
        </p:nvSpPr>
        <p:spPr bwMode="auto">
          <a:xfrm>
            <a:off x="3465513" y="2592089"/>
            <a:ext cx="520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1935" name="Text Box 15"/>
          <p:cNvSpPr txBox="1">
            <a:spLocks noChangeArrowheads="1"/>
          </p:cNvSpPr>
          <p:nvPr/>
        </p:nvSpPr>
        <p:spPr bwMode="auto">
          <a:xfrm>
            <a:off x="4564063" y="2792114"/>
            <a:ext cx="531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e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1936" name="Text Box 16"/>
          <p:cNvSpPr txBox="1">
            <a:spLocks noChangeArrowheads="1"/>
          </p:cNvSpPr>
          <p:nvPr/>
        </p:nvSpPr>
        <p:spPr bwMode="auto">
          <a:xfrm>
            <a:off x="2365376" y="2515889"/>
            <a:ext cx="473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1937" name="Line 17"/>
          <p:cNvSpPr>
            <a:spLocks noChangeShapeType="1"/>
          </p:cNvSpPr>
          <p:nvPr/>
        </p:nvSpPr>
        <p:spPr bwMode="auto">
          <a:xfrm>
            <a:off x="2057400" y="4420889"/>
            <a:ext cx="39624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38" name="Line 18"/>
          <p:cNvSpPr>
            <a:spLocks noChangeShapeType="1"/>
          </p:cNvSpPr>
          <p:nvPr/>
        </p:nvSpPr>
        <p:spPr bwMode="auto">
          <a:xfrm flipV="1">
            <a:off x="5257800" y="2744489"/>
            <a:ext cx="0" cy="3581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39" name="Line 19"/>
          <p:cNvSpPr>
            <a:spLocks noChangeShapeType="1"/>
          </p:cNvSpPr>
          <p:nvPr/>
        </p:nvSpPr>
        <p:spPr bwMode="auto">
          <a:xfrm flipV="1">
            <a:off x="2438400" y="3887490"/>
            <a:ext cx="0" cy="16859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1940" name="Line 20"/>
          <p:cNvSpPr>
            <a:spLocks noChangeShapeType="1"/>
          </p:cNvSpPr>
          <p:nvPr/>
        </p:nvSpPr>
        <p:spPr bwMode="auto">
          <a:xfrm flipV="1">
            <a:off x="2438400" y="2744489"/>
            <a:ext cx="2819400" cy="11430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1941" name="Line 21"/>
          <p:cNvSpPr>
            <a:spLocks noChangeShapeType="1"/>
          </p:cNvSpPr>
          <p:nvPr/>
        </p:nvSpPr>
        <p:spPr bwMode="auto">
          <a:xfrm flipV="1">
            <a:off x="4648200" y="3008014"/>
            <a:ext cx="0" cy="1600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42" name="Line 22"/>
          <p:cNvSpPr>
            <a:spLocks noChangeShapeType="1"/>
          </p:cNvSpPr>
          <p:nvPr/>
        </p:nvSpPr>
        <p:spPr bwMode="auto">
          <a:xfrm flipV="1">
            <a:off x="5486400" y="3277890"/>
            <a:ext cx="0" cy="1927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1943" name="Line 23"/>
          <p:cNvSpPr>
            <a:spLocks noChangeShapeType="1"/>
          </p:cNvSpPr>
          <p:nvPr/>
        </p:nvSpPr>
        <p:spPr bwMode="auto">
          <a:xfrm flipH="1" flipV="1">
            <a:off x="2667000" y="2820689"/>
            <a:ext cx="28194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44" name="Line 24"/>
          <p:cNvSpPr>
            <a:spLocks noChangeShapeType="1"/>
          </p:cNvSpPr>
          <p:nvPr/>
        </p:nvSpPr>
        <p:spPr bwMode="auto">
          <a:xfrm flipV="1">
            <a:off x="2695575" y="2820690"/>
            <a:ext cx="0" cy="19986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1945" name="Line 25"/>
          <p:cNvSpPr>
            <a:spLocks noChangeShapeType="1"/>
          </p:cNvSpPr>
          <p:nvPr/>
        </p:nvSpPr>
        <p:spPr bwMode="auto">
          <a:xfrm flipV="1">
            <a:off x="3657600" y="2973089"/>
            <a:ext cx="0" cy="3276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46" name="Text Box 26"/>
          <p:cNvSpPr txBox="1">
            <a:spLocks noChangeArrowheads="1"/>
          </p:cNvSpPr>
          <p:nvPr/>
        </p:nvSpPr>
        <p:spPr bwMode="auto">
          <a:xfrm>
            <a:off x="3709988" y="2577802"/>
            <a:ext cx="1276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m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400" b="1">
                <a:latin typeface="Times New Roman" pitchFamily="18" charset="0"/>
              </a:rPr>
              <a:t>(</a:t>
            </a:r>
            <a:r>
              <a:rPr kumimoji="1" lang="en-US" altLang="zh-CN" sz="2400" i="1">
                <a:latin typeface="Dutch801 Rm BT" pitchFamily="18" charset="0"/>
              </a:rPr>
              <a:t>n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  <a:r>
              <a:rPr lang="en-US" altLang="zh-CN" sz="2400" b="1">
                <a:latin typeface="Times New Roman" pitchFamily="18" charset="0"/>
              </a:rPr>
              <a:t>)</a:t>
            </a:r>
          </a:p>
        </p:txBody>
      </p:sp>
      <p:sp>
        <p:nvSpPr>
          <p:cNvPr id="81947" name="Text Box 27"/>
          <p:cNvSpPr txBox="1">
            <a:spLocks noChangeArrowheads="1"/>
          </p:cNvSpPr>
          <p:nvPr/>
        </p:nvSpPr>
        <p:spPr bwMode="auto">
          <a:xfrm>
            <a:off x="4230688" y="2973090"/>
            <a:ext cx="311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1000">
                <a:solidFill>
                  <a:schemeClr val="tx2"/>
                </a:solidFill>
                <a:latin typeface="Times New Roman" pitchFamily="18" charset="0"/>
              </a:rPr>
              <a:t>●</a:t>
            </a:r>
          </a:p>
        </p:txBody>
      </p:sp>
      <p:sp>
        <p:nvSpPr>
          <p:cNvPr id="81948" name="Text Box 28"/>
          <p:cNvSpPr txBox="1">
            <a:spLocks noChangeArrowheads="1"/>
          </p:cNvSpPr>
          <p:nvPr/>
        </p:nvSpPr>
        <p:spPr bwMode="auto">
          <a:xfrm>
            <a:off x="1656912" y="1208385"/>
            <a:ext cx="55723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宋体" pitchFamily="2" charset="-122"/>
              </a:rPr>
              <a:t>例：求两平面的交线</a:t>
            </a:r>
            <a:r>
              <a:rPr lang="en-US" altLang="zh-CN" sz="2400" b="1" dirty="0">
                <a:latin typeface="宋体" pitchFamily="2" charset="-122"/>
              </a:rPr>
              <a:t>MN</a:t>
            </a:r>
            <a:r>
              <a:rPr lang="zh-CN" altLang="en-US" sz="2400" b="1" dirty="0">
                <a:latin typeface="宋体" pitchFamily="2" charset="-122"/>
              </a:rPr>
              <a:t>并判别可见性。</a:t>
            </a:r>
          </a:p>
        </p:txBody>
      </p:sp>
      <p:sp>
        <p:nvSpPr>
          <p:cNvPr id="81949" name="Text Box 29"/>
          <p:cNvSpPr txBox="1">
            <a:spLocks noChangeArrowheads="1"/>
          </p:cNvSpPr>
          <p:nvPr/>
        </p:nvSpPr>
        <p:spPr bwMode="auto">
          <a:xfrm>
            <a:off x="1812925" y="2280939"/>
            <a:ext cx="615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3200" b="1">
                <a:latin typeface="Times New Roman" pitchFamily="18" charset="0"/>
              </a:rPr>
              <a:t>⑴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1950" name="Text Box 32"/>
          <p:cNvSpPr txBox="1">
            <a:spLocks noChangeArrowheads="1"/>
          </p:cNvSpPr>
          <p:nvPr/>
        </p:nvSpPr>
        <p:spPr bwMode="auto">
          <a:xfrm>
            <a:off x="6816081" y="4623520"/>
            <a:ext cx="219964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① </a:t>
            </a:r>
            <a:r>
              <a:rPr lang="zh-CN" altLang="en-US" sz="2400" b="1" dirty="0">
                <a:latin typeface="宋体" pitchFamily="2" charset="-122"/>
              </a:rPr>
              <a:t>求交线    </a:t>
            </a:r>
          </a:p>
        </p:txBody>
      </p:sp>
      <p:sp>
        <p:nvSpPr>
          <p:cNvPr id="81951" name="Text Box 33"/>
          <p:cNvSpPr txBox="1">
            <a:spLocks noChangeArrowheads="1"/>
          </p:cNvSpPr>
          <p:nvPr/>
        </p:nvSpPr>
        <p:spPr bwMode="auto">
          <a:xfrm>
            <a:off x="6779886" y="5055568"/>
            <a:ext cx="21964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宋体" pitchFamily="2" charset="-122"/>
              </a:rPr>
              <a:t>② </a:t>
            </a:r>
            <a:r>
              <a:rPr lang="zh-CN" altLang="en-US" sz="2400" b="1" dirty="0">
                <a:latin typeface="宋体" pitchFamily="2" charset="-122"/>
              </a:rPr>
              <a:t>判别可见性</a:t>
            </a:r>
          </a:p>
        </p:txBody>
      </p:sp>
      <p:sp>
        <p:nvSpPr>
          <p:cNvPr id="81952" name="Text Box 34"/>
          <p:cNvSpPr txBox="1">
            <a:spLocks noChangeArrowheads="1"/>
          </p:cNvSpPr>
          <p:nvPr/>
        </p:nvSpPr>
        <p:spPr bwMode="auto">
          <a:xfrm>
            <a:off x="6764785" y="4160694"/>
            <a:ext cx="906017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作图</a:t>
            </a:r>
          </a:p>
        </p:txBody>
      </p:sp>
      <p:sp>
        <p:nvSpPr>
          <p:cNvPr id="81953" name="Text Box 35"/>
          <p:cNvSpPr txBox="1">
            <a:spLocks noChangeArrowheads="1"/>
          </p:cNvSpPr>
          <p:nvPr/>
        </p:nvSpPr>
        <p:spPr bwMode="auto">
          <a:xfrm>
            <a:off x="6188396" y="5541040"/>
            <a:ext cx="4228083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从正面投影上可看出，在交线左侧，平面</a:t>
            </a:r>
            <a:r>
              <a:rPr lang="en-US" altLang="zh-CN" sz="2400" b="1" dirty="0">
                <a:latin typeface="宋体" pitchFamily="2" charset="-122"/>
              </a:rPr>
              <a:t>ABC</a:t>
            </a:r>
            <a:r>
              <a:rPr lang="zh-CN" altLang="en-US" sz="2400" b="1" dirty="0">
                <a:latin typeface="宋体" pitchFamily="2" charset="-122"/>
              </a:rPr>
              <a:t>在上，其水平投影可见。</a:t>
            </a:r>
          </a:p>
        </p:txBody>
      </p:sp>
      <p:sp>
        <p:nvSpPr>
          <p:cNvPr id="81954" name="Freeform 36"/>
          <p:cNvSpPr>
            <a:spLocks/>
          </p:cNvSpPr>
          <p:nvPr/>
        </p:nvSpPr>
        <p:spPr bwMode="auto">
          <a:xfrm>
            <a:off x="3809357" y="4561107"/>
            <a:ext cx="1481915" cy="1754829"/>
          </a:xfrm>
          <a:custGeom>
            <a:avLst/>
            <a:gdLst>
              <a:gd name="T0" fmla="*/ 0 w 916"/>
              <a:gd name="T1" fmla="*/ 2147483647 h 1098"/>
              <a:gd name="T2" fmla="*/ 2147483647 w 916"/>
              <a:gd name="T3" fmla="*/ 2147483647 h 1098"/>
              <a:gd name="T4" fmla="*/ 2147483647 w 916"/>
              <a:gd name="T5" fmla="*/ 2147483647 h 1098"/>
              <a:gd name="T6" fmla="*/ 2147483647 w 916"/>
              <a:gd name="T7" fmla="*/ 2147483647 h 1098"/>
              <a:gd name="T8" fmla="*/ 2147483647 w 916"/>
              <a:gd name="T9" fmla="*/ 2147483647 h 1098"/>
              <a:gd name="T10" fmla="*/ 2147483647 w 916"/>
              <a:gd name="T11" fmla="*/ 0 h 1098"/>
              <a:gd name="T12" fmla="*/ 0 w 916"/>
              <a:gd name="T13" fmla="*/ 2147483647 h 10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16"/>
              <a:gd name="T22" fmla="*/ 0 h 1098"/>
              <a:gd name="T23" fmla="*/ 916 w 916"/>
              <a:gd name="T24" fmla="*/ 1098 h 10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16" h="1098">
                <a:moveTo>
                  <a:pt x="0" y="240"/>
                </a:moveTo>
                <a:lnTo>
                  <a:pt x="363" y="291"/>
                </a:lnTo>
                <a:lnTo>
                  <a:pt x="363" y="807"/>
                </a:lnTo>
                <a:lnTo>
                  <a:pt x="152" y="909"/>
                </a:lnTo>
                <a:lnTo>
                  <a:pt x="916" y="1098"/>
                </a:lnTo>
                <a:lnTo>
                  <a:pt x="530" y="0"/>
                </a:lnTo>
                <a:lnTo>
                  <a:pt x="0" y="240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1955" name="Freeform 37"/>
          <p:cNvSpPr>
            <a:spLocks/>
          </p:cNvSpPr>
          <p:nvPr/>
        </p:nvSpPr>
        <p:spPr bwMode="auto">
          <a:xfrm>
            <a:off x="4375150" y="3063577"/>
            <a:ext cx="212039" cy="1991991"/>
          </a:xfrm>
          <a:custGeom>
            <a:avLst/>
            <a:gdLst>
              <a:gd name="T0" fmla="*/ 0 w 1"/>
              <a:gd name="T1" fmla="*/ 0 h 1750"/>
              <a:gd name="T2" fmla="*/ 0 w 1"/>
              <a:gd name="T3" fmla="*/ 2147483647 h 1750"/>
              <a:gd name="T4" fmla="*/ 0 60000 65536"/>
              <a:gd name="T5" fmla="*/ 0 60000 65536"/>
              <a:gd name="T6" fmla="*/ 0 w 1"/>
              <a:gd name="T7" fmla="*/ 0 h 1750"/>
              <a:gd name="T8" fmla="*/ 1 w 1"/>
              <a:gd name="T9" fmla="*/ 1750 h 175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50">
                <a:moveTo>
                  <a:pt x="0" y="0"/>
                </a:moveTo>
                <a:lnTo>
                  <a:pt x="0" y="175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1956" name="Freeform 38"/>
          <p:cNvSpPr>
            <a:spLocks/>
          </p:cNvSpPr>
          <p:nvPr/>
        </p:nvSpPr>
        <p:spPr bwMode="auto">
          <a:xfrm>
            <a:off x="4374597" y="5087977"/>
            <a:ext cx="204876" cy="747585"/>
          </a:xfrm>
          <a:custGeom>
            <a:avLst/>
            <a:gdLst>
              <a:gd name="T0" fmla="*/ 0 w 1"/>
              <a:gd name="T1" fmla="*/ 0 h 508"/>
              <a:gd name="T2" fmla="*/ 0 w 1"/>
              <a:gd name="T3" fmla="*/ 2147483647 h 508"/>
              <a:gd name="T4" fmla="*/ 0 60000 65536"/>
              <a:gd name="T5" fmla="*/ 0 60000 65536"/>
              <a:gd name="T6" fmla="*/ 0 w 1"/>
              <a:gd name="T7" fmla="*/ 0 h 508"/>
              <a:gd name="T8" fmla="*/ 1 w 1"/>
              <a:gd name="T9" fmla="*/ 508 h 5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08">
                <a:moveTo>
                  <a:pt x="0" y="0"/>
                </a:moveTo>
                <a:lnTo>
                  <a:pt x="0" y="508"/>
                </a:lnTo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81957" name="Group 39"/>
          <p:cNvGrpSpPr>
            <a:grpSpLocks/>
          </p:cNvGrpSpPr>
          <p:nvPr/>
        </p:nvGrpSpPr>
        <p:grpSpPr bwMode="auto">
          <a:xfrm>
            <a:off x="4212198" y="5662784"/>
            <a:ext cx="569913" cy="457200"/>
            <a:chOff x="1622" y="2420"/>
            <a:chExt cx="359" cy="288"/>
          </a:xfrm>
        </p:grpSpPr>
        <p:sp>
          <p:nvSpPr>
            <p:cNvPr id="81965" name="Text Box 40"/>
            <p:cNvSpPr txBox="1">
              <a:spLocks noChangeArrowheads="1"/>
            </p:cNvSpPr>
            <p:nvPr/>
          </p:nvSpPr>
          <p:spPr bwMode="auto">
            <a:xfrm>
              <a:off x="1708" y="2420"/>
              <a:ext cx="27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solidFill>
                    <a:srgbClr val="FFFF00"/>
                  </a:solidFill>
                  <a:latin typeface="Dutch801 Rm BT" pitchFamily="18" charset="0"/>
                </a:rPr>
                <a:t>m</a:t>
              </a:r>
              <a:endParaRPr lang="en-US" altLang="zh-CN" sz="2400" b="1" dirty="0">
                <a:latin typeface="Times New Roman" pitchFamily="18" charset="0"/>
              </a:endParaRPr>
            </a:p>
          </p:txBody>
        </p:sp>
        <p:sp>
          <p:nvSpPr>
            <p:cNvPr id="81966" name="Text Box 41"/>
            <p:cNvSpPr txBox="1">
              <a:spLocks noChangeArrowheads="1"/>
            </p:cNvSpPr>
            <p:nvPr/>
          </p:nvSpPr>
          <p:spPr bwMode="auto">
            <a:xfrm>
              <a:off x="1622" y="2456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rgbClr val="FFFF00"/>
                  </a:solidFill>
                  <a:latin typeface="Times New Roman" pitchFamily="18" charset="0"/>
                </a:rPr>
                <a:t>●</a:t>
              </a:r>
              <a:endParaRPr kumimoji="1" lang="en-US" altLang="zh-CN" sz="1000" dirty="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1958" name="Group 42"/>
          <p:cNvGrpSpPr>
            <a:grpSpLocks/>
          </p:cNvGrpSpPr>
          <p:nvPr/>
        </p:nvGrpSpPr>
        <p:grpSpPr bwMode="auto">
          <a:xfrm>
            <a:off x="4235451" y="4673303"/>
            <a:ext cx="523875" cy="511175"/>
            <a:chOff x="1690" y="1901"/>
            <a:chExt cx="330" cy="322"/>
          </a:xfrm>
        </p:grpSpPr>
        <p:sp>
          <p:nvSpPr>
            <p:cNvPr id="81963" name="Text Box 43"/>
            <p:cNvSpPr txBox="1">
              <a:spLocks noChangeArrowheads="1"/>
            </p:cNvSpPr>
            <p:nvPr/>
          </p:nvSpPr>
          <p:spPr bwMode="auto">
            <a:xfrm>
              <a:off x="1800" y="1901"/>
              <a:ext cx="22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FFFF00"/>
                  </a:solidFill>
                  <a:latin typeface="Dutch801 Rm BT" pitchFamily="18" charset="0"/>
                </a:rPr>
                <a:t>n</a:t>
              </a:r>
              <a:endParaRPr lang="en-US" altLang="zh-CN" sz="2400" b="1">
                <a:solidFill>
                  <a:srgbClr val="FFFF00"/>
                </a:solidFill>
                <a:latin typeface="Times New Roman" pitchFamily="18" charset="0"/>
              </a:endParaRPr>
            </a:p>
          </p:txBody>
        </p:sp>
        <p:sp>
          <p:nvSpPr>
            <p:cNvPr id="81964" name="Text Box 44"/>
            <p:cNvSpPr txBox="1">
              <a:spLocks noChangeArrowheads="1"/>
            </p:cNvSpPr>
            <p:nvPr/>
          </p:nvSpPr>
          <p:spPr bwMode="auto">
            <a:xfrm>
              <a:off x="1690" y="2069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FFFF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81959" name="Rectangle 45"/>
          <p:cNvSpPr>
            <a:spLocks noChangeArrowheads="1"/>
          </p:cNvSpPr>
          <p:nvPr/>
        </p:nvSpPr>
        <p:spPr bwMode="auto">
          <a:xfrm>
            <a:off x="6816081" y="1650583"/>
            <a:ext cx="342900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空间及投影分析</a:t>
            </a:r>
          </a:p>
        </p:txBody>
      </p:sp>
      <p:sp>
        <p:nvSpPr>
          <p:cNvPr id="81960" name="Text Box 46"/>
          <p:cNvSpPr txBox="1">
            <a:spLocks noChangeArrowheads="1"/>
          </p:cNvSpPr>
          <p:nvPr/>
        </p:nvSpPr>
        <p:spPr bwMode="auto">
          <a:xfrm>
            <a:off x="6225480" y="2138080"/>
            <a:ext cx="4191000" cy="193899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平面</a:t>
            </a:r>
            <a:r>
              <a:rPr lang="en-US" altLang="zh-CN" sz="2400" b="1" dirty="0">
                <a:latin typeface="宋体" pitchFamily="2" charset="-122"/>
              </a:rPr>
              <a:t>ABC</a:t>
            </a:r>
            <a:r>
              <a:rPr lang="zh-CN" altLang="en-US" sz="2400" b="1" dirty="0">
                <a:latin typeface="宋体" pitchFamily="2" charset="-122"/>
              </a:rPr>
              <a:t>与</a:t>
            </a:r>
            <a:r>
              <a:rPr lang="en-US" altLang="zh-CN" sz="2400" b="1" dirty="0">
                <a:latin typeface="宋体" pitchFamily="2" charset="-122"/>
              </a:rPr>
              <a:t>DEF</a:t>
            </a:r>
            <a:r>
              <a:rPr lang="zh-CN" altLang="en-US" sz="2400" b="1" dirty="0">
                <a:latin typeface="宋体" pitchFamily="2" charset="-122"/>
              </a:rPr>
              <a:t>都为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正垂面</a:t>
            </a:r>
            <a:r>
              <a:rPr lang="zh-CN" altLang="en-US" sz="2400" b="1" dirty="0">
                <a:latin typeface="宋体" pitchFamily="2" charset="-122"/>
              </a:rPr>
              <a:t>，它们的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交线为一条正垂线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，两平面</a:t>
            </a:r>
            <a:r>
              <a:rPr lang="zh-CN" altLang="en-US" sz="2400" b="1" dirty="0">
                <a:latin typeface="宋体" pitchFamily="2" charset="-122"/>
              </a:rPr>
              <a:t>正面投影的交点即为交线的正面投影，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交线的水平投影垂直于</a:t>
            </a:r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OX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轴</a:t>
            </a:r>
            <a:r>
              <a:rPr lang="zh-CN" altLang="en-US" sz="2400" b="1" dirty="0">
                <a:solidFill>
                  <a:srgbClr val="003399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81961" name="Text Box 47"/>
          <p:cNvSpPr txBox="1">
            <a:spLocks noChangeArrowheads="1"/>
          </p:cNvSpPr>
          <p:nvPr/>
        </p:nvSpPr>
        <p:spPr bwMode="auto">
          <a:xfrm>
            <a:off x="5706846" y="4059883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宋体" pitchFamily="2" charset="-122"/>
              </a:rPr>
              <a:t>O</a:t>
            </a:r>
          </a:p>
        </p:txBody>
      </p:sp>
      <p:sp>
        <p:nvSpPr>
          <p:cNvPr id="81962" name="Text Box 48"/>
          <p:cNvSpPr txBox="1">
            <a:spLocks noChangeArrowheads="1"/>
          </p:cNvSpPr>
          <p:nvPr/>
        </p:nvSpPr>
        <p:spPr bwMode="auto">
          <a:xfrm>
            <a:off x="1887321" y="4047183"/>
            <a:ext cx="34015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latin typeface="宋体" pitchFamily="2" charset="-122"/>
              </a:rPr>
              <a:t>X</a:t>
            </a:r>
          </a:p>
        </p:txBody>
      </p:sp>
      <p:sp>
        <p:nvSpPr>
          <p:cNvPr id="47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判断平面和平面相交的可见性，说法正确的是：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利用重影点判断可见性是唯一的方法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929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直接利用投影关系也可以判断可见性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2638425" y="3993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5A628FC-9479-47F5-B2B1-4E529A60FB4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0701078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Line 2"/>
          <p:cNvSpPr>
            <a:spLocks noChangeShapeType="1"/>
          </p:cNvSpPr>
          <p:nvPr/>
        </p:nvSpPr>
        <p:spPr bwMode="auto">
          <a:xfrm flipV="1">
            <a:off x="3151188" y="3577604"/>
            <a:ext cx="0" cy="267970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883" name="Line 3"/>
          <p:cNvSpPr>
            <a:spLocks noChangeShapeType="1"/>
          </p:cNvSpPr>
          <p:nvPr/>
        </p:nvSpPr>
        <p:spPr bwMode="auto">
          <a:xfrm flipV="1">
            <a:off x="3152776" y="2888630"/>
            <a:ext cx="1090613" cy="688975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884" name="Line 4"/>
          <p:cNvSpPr>
            <a:spLocks noChangeShapeType="1"/>
          </p:cNvSpPr>
          <p:nvPr/>
        </p:nvSpPr>
        <p:spPr bwMode="auto">
          <a:xfrm flipV="1">
            <a:off x="4243388" y="2888630"/>
            <a:ext cx="0" cy="2881313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82949" name="Group 5"/>
          <p:cNvGrpSpPr>
            <a:grpSpLocks/>
          </p:cNvGrpSpPr>
          <p:nvPr/>
        </p:nvGrpSpPr>
        <p:grpSpPr bwMode="auto">
          <a:xfrm>
            <a:off x="2027238" y="1594818"/>
            <a:ext cx="3640138" cy="5260975"/>
            <a:chOff x="596" y="575"/>
            <a:chExt cx="2293" cy="3314"/>
          </a:xfrm>
        </p:grpSpPr>
        <p:sp>
          <p:nvSpPr>
            <p:cNvPr id="82996" name="Line 6"/>
            <p:cNvSpPr>
              <a:spLocks noChangeShapeType="1"/>
            </p:cNvSpPr>
            <p:nvPr/>
          </p:nvSpPr>
          <p:spPr bwMode="auto">
            <a:xfrm flipH="1" flipV="1">
              <a:off x="1494" y="944"/>
              <a:ext cx="733" cy="6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97" name="Line 7"/>
            <p:cNvSpPr>
              <a:spLocks noChangeShapeType="1"/>
            </p:cNvSpPr>
            <p:nvPr/>
          </p:nvSpPr>
          <p:spPr bwMode="auto">
            <a:xfrm>
              <a:off x="1494" y="944"/>
              <a:ext cx="0" cy="18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98" name="Line 8"/>
            <p:cNvSpPr>
              <a:spLocks noChangeShapeType="1"/>
            </p:cNvSpPr>
            <p:nvPr/>
          </p:nvSpPr>
          <p:spPr bwMode="auto">
            <a:xfrm>
              <a:off x="2636" y="1967"/>
              <a:ext cx="0" cy="18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99" name="Line 9"/>
            <p:cNvSpPr>
              <a:spLocks noChangeShapeType="1"/>
            </p:cNvSpPr>
            <p:nvPr/>
          </p:nvSpPr>
          <p:spPr bwMode="auto">
            <a:xfrm>
              <a:off x="2230" y="2158"/>
              <a:ext cx="0" cy="9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0" name="Line 10"/>
            <p:cNvSpPr>
              <a:spLocks noChangeShapeType="1"/>
            </p:cNvSpPr>
            <p:nvPr/>
          </p:nvSpPr>
          <p:spPr bwMode="auto">
            <a:xfrm>
              <a:off x="1056" y="2158"/>
              <a:ext cx="0" cy="14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1" name="Line 11"/>
            <p:cNvSpPr>
              <a:spLocks noChangeShapeType="1"/>
            </p:cNvSpPr>
            <p:nvPr/>
          </p:nvSpPr>
          <p:spPr bwMode="auto">
            <a:xfrm>
              <a:off x="1494" y="2760"/>
              <a:ext cx="1141" cy="102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2" name="Line 12"/>
            <p:cNvSpPr>
              <a:spLocks noChangeShapeType="1"/>
            </p:cNvSpPr>
            <p:nvPr/>
          </p:nvSpPr>
          <p:spPr bwMode="auto">
            <a:xfrm>
              <a:off x="734" y="3389"/>
              <a:ext cx="1901" cy="3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3" name="Line 13"/>
            <p:cNvSpPr>
              <a:spLocks noChangeShapeType="1"/>
            </p:cNvSpPr>
            <p:nvPr/>
          </p:nvSpPr>
          <p:spPr bwMode="auto">
            <a:xfrm flipV="1">
              <a:off x="734" y="2760"/>
              <a:ext cx="760" cy="63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4" name="Line 14"/>
            <p:cNvSpPr>
              <a:spLocks noChangeShapeType="1"/>
            </p:cNvSpPr>
            <p:nvPr/>
          </p:nvSpPr>
          <p:spPr bwMode="auto">
            <a:xfrm flipV="1">
              <a:off x="1056" y="3100"/>
              <a:ext cx="1183" cy="51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5" name="Line 15"/>
            <p:cNvSpPr>
              <a:spLocks noChangeShapeType="1"/>
            </p:cNvSpPr>
            <p:nvPr/>
          </p:nvSpPr>
          <p:spPr bwMode="auto">
            <a:xfrm>
              <a:off x="1056" y="1791"/>
              <a:ext cx="1171" cy="1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6" name="Line 16"/>
            <p:cNvSpPr>
              <a:spLocks noChangeShapeType="1"/>
            </p:cNvSpPr>
            <p:nvPr/>
          </p:nvSpPr>
          <p:spPr bwMode="auto">
            <a:xfrm>
              <a:off x="711" y="1752"/>
              <a:ext cx="345" cy="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7" name="Line 17"/>
            <p:cNvSpPr>
              <a:spLocks noChangeShapeType="1"/>
            </p:cNvSpPr>
            <p:nvPr/>
          </p:nvSpPr>
          <p:spPr bwMode="auto">
            <a:xfrm flipH="1">
              <a:off x="734" y="1416"/>
              <a:ext cx="322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8" name="Line 18"/>
            <p:cNvSpPr>
              <a:spLocks noChangeShapeType="1"/>
            </p:cNvSpPr>
            <p:nvPr/>
          </p:nvSpPr>
          <p:spPr bwMode="auto">
            <a:xfrm>
              <a:off x="2227" y="1924"/>
              <a:ext cx="0" cy="23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09" name="Line 19"/>
            <p:cNvSpPr>
              <a:spLocks noChangeShapeType="1"/>
            </p:cNvSpPr>
            <p:nvPr/>
          </p:nvSpPr>
          <p:spPr bwMode="auto">
            <a:xfrm>
              <a:off x="1056" y="2158"/>
              <a:ext cx="1171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10" name="Line 20"/>
            <p:cNvSpPr>
              <a:spLocks noChangeShapeType="1"/>
            </p:cNvSpPr>
            <p:nvPr/>
          </p:nvSpPr>
          <p:spPr bwMode="auto">
            <a:xfrm>
              <a:off x="1056" y="769"/>
              <a:ext cx="0" cy="65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11" name="Line 21"/>
            <p:cNvSpPr>
              <a:spLocks noChangeShapeType="1"/>
            </p:cNvSpPr>
            <p:nvPr/>
          </p:nvSpPr>
          <p:spPr bwMode="auto">
            <a:xfrm>
              <a:off x="734" y="1752"/>
              <a:ext cx="0" cy="16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12" name="Rectangle 22"/>
            <p:cNvSpPr>
              <a:spLocks noChangeArrowheads="1"/>
            </p:cNvSpPr>
            <p:nvPr/>
          </p:nvSpPr>
          <p:spPr bwMode="auto">
            <a:xfrm>
              <a:off x="1621" y="786"/>
              <a:ext cx="1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3013" name="Rectangle 23"/>
            <p:cNvSpPr>
              <a:spLocks noChangeArrowheads="1"/>
            </p:cNvSpPr>
            <p:nvPr/>
          </p:nvSpPr>
          <p:spPr bwMode="auto">
            <a:xfrm>
              <a:off x="1561" y="2563"/>
              <a:ext cx="18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  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83014" name="Rectangle 24"/>
            <p:cNvSpPr>
              <a:spLocks noChangeArrowheads="1"/>
            </p:cNvSpPr>
            <p:nvPr/>
          </p:nvSpPr>
          <p:spPr bwMode="auto">
            <a:xfrm>
              <a:off x="596" y="3289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83015" name="Rectangle 25"/>
            <p:cNvSpPr>
              <a:spLocks noChangeArrowheads="1"/>
            </p:cNvSpPr>
            <p:nvPr/>
          </p:nvSpPr>
          <p:spPr bwMode="auto">
            <a:xfrm>
              <a:off x="962" y="3602"/>
              <a:ext cx="31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d(e)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83016" name="Rectangle 26"/>
            <p:cNvSpPr>
              <a:spLocks noChangeArrowheads="1"/>
            </p:cNvSpPr>
            <p:nvPr/>
          </p:nvSpPr>
          <p:spPr bwMode="auto">
            <a:xfrm>
              <a:off x="936" y="2025"/>
              <a:ext cx="14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e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3017" name="Rectangle 27"/>
            <p:cNvSpPr>
              <a:spLocks noChangeArrowheads="1"/>
            </p:cNvSpPr>
            <p:nvPr/>
          </p:nvSpPr>
          <p:spPr bwMode="auto">
            <a:xfrm>
              <a:off x="615" y="1621"/>
              <a:ext cx="1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3018" name="Rectangle 28"/>
            <p:cNvSpPr>
              <a:spLocks noChangeArrowheads="1"/>
            </p:cNvSpPr>
            <p:nvPr/>
          </p:nvSpPr>
          <p:spPr bwMode="auto">
            <a:xfrm>
              <a:off x="979" y="575"/>
              <a:ext cx="1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3019" name="Rectangle 29"/>
            <p:cNvSpPr>
              <a:spLocks noChangeArrowheads="1"/>
            </p:cNvSpPr>
            <p:nvPr/>
          </p:nvSpPr>
          <p:spPr bwMode="auto">
            <a:xfrm>
              <a:off x="2331" y="2964"/>
              <a:ext cx="28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h(f)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83020" name="Rectangle 30"/>
            <p:cNvSpPr>
              <a:spLocks noChangeArrowheads="1"/>
            </p:cNvSpPr>
            <p:nvPr/>
          </p:nvSpPr>
          <p:spPr bwMode="auto">
            <a:xfrm>
              <a:off x="2696" y="3637"/>
              <a:ext cx="8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6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83021" name="Rectangle 31"/>
            <p:cNvSpPr>
              <a:spLocks noChangeArrowheads="1"/>
            </p:cNvSpPr>
            <p:nvPr/>
          </p:nvSpPr>
          <p:spPr bwMode="auto">
            <a:xfrm>
              <a:off x="2370" y="2025"/>
              <a:ext cx="1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f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3022" name="Rectangle 32"/>
            <p:cNvSpPr>
              <a:spLocks noChangeArrowheads="1"/>
            </p:cNvSpPr>
            <p:nvPr/>
          </p:nvSpPr>
          <p:spPr bwMode="auto">
            <a:xfrm>
              <a:off x="2752" y="1805"/>
              <a:ext cx="13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6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3023" name="Rectangle 33"/>
            <p:cNvSpPr>
              <a:spLocks noChangeArrowheads="1"/>
            </p:cNvSpPr>
            <p:nvPr/>
          </p:nvSpPr>
          <p:spPr bwMode="auto">
            <a:xfrm>
              <a:off x="2357" y="594"/>
              <a:ext cx="1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h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3024" name="Line 34"/>
            <p:cNvSpPr>
              <a:spLocks noChangeShapeType="1"/>
            </p:cNvSpPr>
            <p:nvPr/>
          </p:nvSpPr>
          <p:spPr bwMode="auto">
            <a:xfrm>
              <a:off x="597" y="2494"/>
              <a:ext cx="22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25" name="Line 35"/>
            <p:cNvSpPr>
              <a:spLocks noChangeShapeType="1"/>
            </p:cNvSpPr>
            <p:nvPr/>
          </p:nvSpPr>
          <p:spPr bwMode="auto">
            <a:xfrm>
              <a:off x="1056" y="769"/>
              <a:ext cx="117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26" name="Line 36"/>
            <p:cNvSpPr>
              <a:spLocks noChangeShapeType="1"/>
            </p:cNvSpPr>
            <p:nvPr/>
          </p:nvSpPr>
          <p:spPr bwMode="auto">
            <a:xfrm>
              <a:off x="2227" y="769"/>
              <a:ext cx="0" cy="84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27" name="Line 37"/>
            <p:cNvSpPr>
              <a:spLocks noChangeShapeType="1"/>
            </p:cNvSpPr>
            <p:nvPr/>
          </p:nvSpPr>
          <p:spPr bwMode="auto">
            <a:xfrm flipV="1">
              <a:off x="1056" y="1791"/>
              <a:ext cx="0" cy="36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28" name="Line 38"/>
            <p:cNvSpPr>
              <a:spLocks noChangeShapeType="1"/>
            </p:cNvSpPr>
            <p:nvPr/>
          </p:nvSpPr>
          <p:spPr bwMode="auto">
            <a:xfrm flipH="1">
              <a:off x="1057" y="944"/>
              <a:ext cx="437" cy="4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29" name="Line 39"/>
            <p:cNvSpPr>
              <a:spLocks noChangeShapeType="1"/>
            </p:cNvSpPr>
            <p:nvPr/>
          </p:nvSpPr>
          <p:spPr bwMode="auto">
            <a:xfrm>
              <a:off x="2239" y="1924"/>
              <a:ext cx="396" cy="4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30" name="Line 40"/>
            <p:cNvSpPr>
              <a:spLocks noChangeShapeType="1"/>
            </p:cNvSpPr>
            <p:nvPr/>
          </p:nvSpPr>
          <p:spPr bwMode="auto">
            <a:xfrm>
              <a:off x="2226" y="1617"/>
              <a:ext cx="400" cy="35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31" name="Line 41"/>
            <p:cNvSpPr>
              <a:spLocks noChangeShapeType="1"/>
            </p:cNvSpPr>
            <p:nvPr/>
          </p:nvSpPr>
          <p:spPr bwMode="auto">
            <a:xfrm flipV="1">
              <a:off x="1056" y="1416"/>
              <a:ext cx="0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3032" name="Line 42"/>
            <p:cNvSpPr>
              <a:spLocks noChangeShapeType="1"/>
            </p:cNvSpPr>
            <p:nvPr/>
          </p:nvSpPr>
          <p:spPr bwMode="auto">
            <a:xfrm>
              <a:off x="2230" y="1594"/>
              <a:ext cx="0" cy="3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4657727" y="2960070"/>
            <a:ext cx="731838" cy="474663"/>
            <a:chOff x="2301" y="1389"/>
            <a:chExt cx="461" cy="299"/>
          </a:xfrm>
        </p:grpSpPr>
        <p:sp>
          <p:nvSpPr>
            <p:cNvPr id="82993" name="Rectangle 44"/>
            <p:cNvSpPr>
              <a:spLocks noChangeArrowheads="1"/>
            </p:cNvSpPr>
            <p:nvPr/>
          </p:nvSpPr>
          <p:spPr bwMode="auto">
            <a:xfrm>
              <a:off x="2301" y="1426"/>
              <a:ext cx="46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ISOCP" pitchFamily="2" charset="0"/>
                </a:rPr>
                <a:t>1</a:t>
              </a:r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(</a:t>
              </a:r>
              <a:r>
                <a:rPr kumimoji="1" lang="en-US" altLang="zh-CN" sz="2400" b="1">
                  <a:solidFill>
                    <a:srgbClr val="000000"/>
                  </a:solidFill>
                  <a:latin typeface="ISOCP" pitchFamily="2" charset="0"/>
                </a:rPr>
                <a:t>2</a:t>
              </a:r>
              <a:r>
                <a:rPr kumimoji="1" lang="en-US" altLang="zh-CN" sz="2400" b="1">
                  <a:solidFill>
                    <a:srgbClr val="000000"/>
                  </a:solidFill>
                  <a:latin typeface="宋体" pitchFamily="2" charset="-122"/>
                </a:rPr>
                <a:t> )</a:t>
              </a:r>
              <a:endParaRPr kumimoji="1" lang="en-US" altLang="zh-CN" sz="2400" b="1">
                <a:latin typeface="宋体" pitchFamily="2" charset="-122"/>
              </a:endParaRPr>
            </a:p>
          </p:txBody>
        </p:sp>
        <p:sp>
          <p:nvSpPr>
            <p:cNvPr id="82994" name="Text Box 45"/>
            <p:cNvSpPr txBox="1">
              <a:spLocks noChangeArrowheads="1"/>
            </p:cNvSpPr>
            <p:nvPr/>
          </p:nvSpPr>
          <p:spPr bwMode="auto">
            <a:xfrm>
              <a:off x="2596" y="1389"/>
              <a:ext cx="166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2995" name="Text Box 46"/>
            <p:cNvSpPr txBox="1">
              <a:spLocks noChangeArrowheads="1"/>
            </p:cNvSpPr>
            <p:nvPr/>
          </p:nvSpPr>
          <p:spPr bwMode="auto">
            <a:xfrm>
              <a:off x="2368" y="1397"/>
              <a:ext cx="166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</p:grpSp>
      <p:sp>
        <p:nvSpPr>
          <p:cNvPr id="122927" name="Text Box 47"/>
          <p:cNvSpPr txBox="1">
            <a:spLocks noChangeArrowheads="1"/>
          </p:cNvSpPr>
          <p:nvPr/>
        </p:nvSpPr>
        <p:spPr bwMode="auto">
          <a:xfrm>
            <a:off x="6637188" y="1410350"/>
            <a:ext cx="2709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</a:rPr>
              <a:t>空间及投影分析</a:t>
            </a:r>
          </a:p>
        </p:txBody>
      </p:sp>
      <p:sp>
        <p:nvSpPr>
          <p:cNvPr id="122928" name="Text Box 48"/>
          <p:cNvSpPr txBox="1">
            <a:spLocks noChangeArrowheads="1"/>
          </p:cNvSpPr>
          <p:nvPr/>
        </p:nvSpPr>
        <p:spPr bwMode="auto">
          <a:xfrm>
            <a:off x="5920680" y="2014390"/>
            <a:ext cx="4495800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400" b="1" dirty="0">
                <a:latin typeface="宋体" pitchFamily="2" charset="-122"/>
              </a:rPr>
              <a:t>   </a:t>
            </a:r>
            <a:r>
              <a:rPr lang="zh-CN" altLang="en-US" sz="2400" b="1" dirty="0">
                <a:latin typeface="宋体" pitchFamily="2" charset="-122"/>
              </a:rPr>
              <a:t>平面</a:t>
            </a:r>
            <a:r>
              <a:rPr lang="en-US" altLang="zh-CN" sz="2400" b="1" dirty="0">
                <a:latin typeface="宋体" pitchFamily="2" charset="-122"/>
              </a:rPr>
              <a:t>DEFH</a:t>
            </a:r>
            <a:r>
              <a:rPr lang="zh-CN" altLang="en-US" sz="2400" b="1" dirty="0">
                <a:latin typeface="宋体" pitchFamily="2" charset="-122"/>
              </a:rPr>
              <a:t>是一铅垂面，它的水平投影有积聚性，其与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Dutch801 Rm BT" pitchFamily="18" charset="0"/>
              </a:rPr>
              <a:t>a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宋体" pitchFamily="2" charset="-122"/>
              </a:rPr>
              <a:t>c</a:t>
            </a:r>
            <a:r>
              <a:rPr lang="zh-CN" altLang="en-US" sz="2400" b="1" dirty="0">
                <a:latin typeface="宋体" pitchFamily="2" charset="-122"/>
              </a:rPr>
              <a:t>、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宋体" pitchFamily="2" charset="-122"/>
              </a:rPr>
              <a:t>bc</a:t>
            </a:r>
            <a:r>
              <a:rPr lang="zh-CN" altLang="en-US" sz="2400" b="1" dirty="0">
                <a:latin typeface="宋体" pitchFamily="2" charset="-122"/>
              </a:rPr>
              <a:t>的交点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宋体" pitchFamily="2" charset="-122"/>
              </a:rPr>
              <a:t>m</a:t>
            </a:r>
            <a:r>
              <a:rPr lang="en-US" altLang="zh-CN" sz="2400" b="1" dirty="0">
                <a:latin typeface="宋体" pitchFamily="2" charset="-122"/>
              </a:rPr>
              <a:t> </a:t>
            </a:r>
            <a:r>
              <a:rPr lang="zh-CN" altLang="en-US" sz="2400" b="1" dirty="0">
                <a:latin typeface="宋体" pitchFamily="2" charset="-122"/>
              </a:rPr>
              <a:t>、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宋体" pitchFamily="2" charset="-122"/>
              </a:rPr>
              <a:t>n</a:t>
            </a:r>
            <a:r>
              <a:rPr kumimoji="1" lang="en-US" altLang="zh-CN" sz="2400" b="1" dirty="0">
                <a:latin typeface="宋体" pitchFamily="2" charset="-122"/>
              </a:rPr>
              <a:t> </a:t>
            </a:r>
            <a:r>
              <a:rPr lang="zh-CN" altLang="en-US" sz="2400" b="1" dirty="0">
                <a:latin typeface="宋体" pitchFamily="2" charset="-122"/>
              </a:rPr>
              <a:t>即为两个共有点的水平投影，故</a:t>
            </a:r>
            <a:r>
              <a:rPr kumimoji="1" lang="en-US" altLang="zh-CN" sz="2400" b="1" i="1" dirty="0" err="1">
                <a:solidFill>
                  <a:srgbClr val="FF3300"/>
                </a:solidFill>
                <a:latin typeface="宋体" pitchFamily="2" charset="-122"/>
              </a:rPr>
              <a:t>mn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即为交线</a:t>
            </a: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MN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的水平投影</a:t>
            </a:r>
            <a:r>
              <a:rPr lang="zh-CN" altLang="en-US" sz="2400" b="1" dirty="0">
                <a:solidFill>
                  <a:srgbClr val="FF0066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122929" name="Text Box 49"/>
          <p:cNvSpPr txBox="1">
            <a:spLocks noChangeArrowheads="1"/>
          </p:cNvSpPr>
          <p:nvPr/>
        </p:nvSpPr>
        <p:spPr bwMode="auto">
          <a:xfrm>
            <a:off x="6246516" y="4581129"/>
            <a:ext cx="1577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① </a:t>
            </a:r>
            <a:r>
              <a:rPr lang="zh-CN" altLang="en-US" sz="2400" b="1" dirty="0">
                <a:latin typeface="宋体" pitchFamily="2" charset="-122"/>
              </a:rPr>
              <a:t>求交线</a:t>
            </a:r>
          </a:p>
        </p:txBody>
      </p:sp>
      <p:sp>
        <p:nvSpPr>
          <p:cNvPr id="122930" name="Text Box 50"/>
          <p:cNvSpPr txBox="1">
            <a:spLocks noChangeArrowheads="1"/>
          </p:cNvSpPr>
          <p:nvPr/>
        </p:nvSpPr>
        <p:spPr bwMode="auto">
          <a:xfrm>
            <a:off x="6240017" y="5013177"/>
            <a:ext cx="21964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宋体" pitchFamily="2" charset="-122"/>
              </a:rPr>
              <a:t>② </a:t>
            </a:r>
            <a:r>
              <a:rPr lang="zh-CN" altLang="en-US" sz="2400" b="1" dirty="0">
                <a:latin typeface="宋体" pitchFamily="2" charset="-122"/>
              </a:rPr>
              <a:t>判别可见性</a:t>
            </a:r>
          </a:p>
        </p:txBody>
      </p:sp>
      <p:sp>
        <p:nvSpPr>
          <p:cNvPr id="122931" name="Text Box 51"/>
          <p:cNvSpPr txBox="1">
            <a:spLocks noChangeArrowheads="1"/>
          </p:cNvSpPr>
          <p:nvPr/>
        </p:nvSpPr>
        <p:spPr bwMode="auto">
          <a:xfrm>
            <a:off x="5591944" y="5341801"/>
            <a:ext cx="4824536" cy="1144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5000"/>
              </a:lnSpc>
            </a:pPr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点</a:t>
            </a:r>
            <a:r>
              <a:rPr lang="en-US" altLang="zh-CN" sz="2400" b="1" dirty="0">
                <a:latin typeface="宋体" pitchFamily="2" charset="-122"/>
              </a:rPr>
              <a:t>Ⅰ</a:t>
            </a:r>
            <a:r>
              <a:rPr lang="zh-CN" altLang="en-US" sz="2400" b="1" dirty="0">
                <a:latin typeface="宋体" pitchFamily="2" charset="-122"/>
              </a:rPr>
              <a:t>在</a:t>
            </a:r>
            <a:r>
              <a:rPr lang="en-US" altLang="zh-CN" sz="2400" b="1" dirty="0">
                <a:latin typeface="宋体" pitchFamily="2" charset="-122"/>
              </a:rPr>
              <a:t>MC</a:t>
            </a:r>
            <a:r>
              <a:rPr lang="zh-CN" altLang="en-US" sz="2400" b="1" dirty="0">
                <a:latin typeface="宋体" pitchFamily="2" charset="-122"/>
              </a:rPr>
              <a:t>上，点</a:t>
            </a:r>
            <a:r>
              <a:rPr lang="en-US" altLang="zh-CN" sz="2400" b="1" dirty="0">
                <a:latin typeface="宋体" pitchFamily="2" charset="-122"/>
              </a:rPr>
              <a:t>Ⅱ</a:t>
            </a:r>
            <a:r>
              <a:rPr lang="zh-CN" altLang="en-US" sz="2400" b="1" dirty="0">
                <a:latin typeface="宋体" pitchFamily="2" charset="-122"/>
              </a:rPr>
              <a:t>在</a:t>
            </a:r>
            <a:r>
              <a:rPr lang="en-US" altLang="zh-CN" sz="2400" b="1" dirty="0">
                <a:latin typeface="宋体" pitchFamily="2" charset="-122"/>
              </a:rPr>
              <a:t>FH</a:t>
            </a:r>
            <a:r>
              <a:rPr lang="zh-CN" altLang="en-US" sz="2400" b="1" dirty="0">
                <a:latin typeface="宋体" pitchFamily="2" charset="-122"/>
              </a:rPr>
              <a:t>上，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点</a:t>
            </a: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Ⅰ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在前，点</a:t>
            </a: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Ⅱ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在后，故</a:t>
            </a:r>
            <a:r>
              <a:rPr kumimoji="1" lang="en-US" altLang="zh-CN" sz="2400" b="1" i="1" dirty="0" err="1">
                <a:solidFill>
                  <a:srgbClr val="FF3300"/>
                </a:solidFill>
                <a:latin typeface="宋体" pitchFamily="2" charset="-122"/>
              </a:rPr>
              <a:t>m</a:t>
            </a:r>
            <a:r>
              <a:rPr kumimoji="1" lang="en-US" altLang="zh-CN" sz="2400" i="1" dirty="0" err="1">
                <a:solidFill>
                  <a:srgbClr val="FF3300"/>
                </a:solidFill>
                <a:latin typeface="宋体" pitchFamily="2" charset="-122"/>
                <a:sym typeface="CommercialPi BT" pitchFamily="18" charset="2"/>
              </a:rPr>
              <a:t></a:t>
            </a:r>
            <a:r>
              <a:rPr kumimoji="1" lang="en-US" altLang="zh-CN" sz="2400" b="1" i="1" dirty="0" err="1">
                <a:solidFill>
                  <a:srgbClr val="FF3300"/>
                </a:solidFill>
                <a:latin typeface="宋体" pitchFamily="2" charset="-122"/>
                <a:sym typeface="CommercialPi BT" pitchFamily="18" charset="2"/>
              </a:rPr>
              <a:t>c</a:t>
            </a:r>
            <a:r>
              <a:rPr kumimoji="1" lang="en-US" altLang="zh-CN" sz="2400" i="1" dirty="0">
                <a:solidFill>
                  <a:srgbClr val="FF3300"/>
                </a:solidFill>
                <a:latin typeface="宋体" pitchFamily="2" charset="-122"/>
                <a:sym typeface="CommercialPi BT" pitchFamily="18" charset="2"/>
              </a:rPr>
              <a:t>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可见。</a:t>
            </a:r>
          </a:p>
        </p:txBody>
      </p:sp>
      <p:sp>
        <p:nvSpPr>
          <p:cNvPr id="122932" name="Text Box 52"/>
          <p:cNvSpPr txBox="1">
            <a:spLocks noChangeArrowheads="1"/>
          </p:cNvSpPr>
          <p:nvPr/>
        </p:nvSpPr>
        <p:spPr bwMode="auto">
          <a:xfrm>
            <a:off x="6168008" y="4005064"/>
            <a:ext cx="120650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</a:rPr>
              <a:t>作图</a:t>
            </a:r>
          </a:p>
        </p:txBody>
      </p:sp>
      <p:sp>
        <p:nvSpPr>
          <p:cNvPr id="122934" name="Freeform 54"/>
          <p:cNvSpPr>
            <a:spLocks/>
          </p:cNvSpPr>
          <p:nvPr/>
        </p:nvSpPr>
        <p:spPr bwMode="auto">
          <a:xfrm>
            <a:off x="4618039" y="4117355"/>
            <a:ext cx="319086" cy="1958975"/>
          </a:xfrm>
          <a:custGeom>
            <a:avLst/>
            <a:gdLst>
              <a:gd name="T0" fmla="*/ 0 w 1"/>
              <a:gd name="T1" fmla="*/ 0 h 1778"/>
              <a:gd name="T2" fmla="*/ 0 w 1"/>
              <a:gd name="T3" fmla="*/ 2147483647 h 1778"/>
              <a:gd name="T4" fmla="*/ 0 60000 65536"/>
              <a:gd name="T5" fmla="*/ 0 60000 65536"/>
              <a:gd name="T6" fmla="*/ 0 w 1"/>
              <a:gd name="T7" fmla="*/ 0 h 1778"/>
              <a:gd name="T8" fmla="*/ 1 w 1"/>
              <a:gd name="T9" fmla="*/ 1778 h 177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778">
                <a:moveTo>
                  <a:pt x="0" y="0"/>
                </a:moveTo>
                <a:lnTo>
                  <a:pt x="0" y="1778"/>
                </a:lnTo>
              </a:path>
            </a:pathLst>
          </a:custGeom>
          <a:noFill/>
          <a:ln w="19050">
            <a:solidFill>
              <a:srgbClr val="9900CC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4386264" y="5246067"/>
            <a:ext cx="371475" cy="487362"/>
            <a:chOff x="1812" y="2875"/>
            <a:chExt cx="234" cy="307"/>
          </a:xfrm>
        </p:grpSpPr>
        <p:sp>
          <p:nvSpPr>
            <p:cNvPr id="82991" name="Rectangle 56"/>
            <p:cNvSpPr>
              <a:spLocks noChangeArrowheads="1"/>
            </p:cNvSpPr>
            <p:nvPr/>
          </p:nvSpPr>
          <p:spPr bwMode="auto">
            <a:xfrm>
              <a:off x="1812" y="2875"/>
              <a:ext cx="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ISOCP" pitchFamily="2" charset="0"/>
                </a:rPr>
                <a:t>2</a:t>
              </a:r>
              <a:endParaRPr kumimoji="1" lang="en-US" altLang="zh-CN" sz="2400" b="1">
                <a:latin typeface="宋体" pitchFamily="2" charset="-122"/>
              </a:endParaRPr>
            </a:p>
          </p:txBody>
        </p:sp>
        <p:sp>
          <p:nvSpPr>
            <p:cNvPr id="82992" name="Text Box 57"/>
            <p:cNvSpPr txBox="1">
              <a:spLocks noChangeArrowheads="1"/>
            </p:cNvSpPr>
            <p:nvPr/>
          </p:nvSpPr>
          <p:spPr bwMode="auto">
            <a:xfrm>
              <a:off x="1858" y="3038"/>
              <a:ext cx="188" cy="1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>
                  <a:solidFill>
                    <a:srgbClr val="CC0000"/>
                  </a:solidFill>
                  <a:latin typeface="RomanS" pitchFamily="2" charset="0"/>
                </a:rPr>
                <a:t>●</a:t>
              </a:r>
              <a:endParaRPr kumimoji="1" lang="en-US" altLang="zh-CN" sz="1200">
                <a:solidFill>
                  <a:srgbClr val="CC0000"/>
                </a:solidFill>
                <a:latin typeface="RomanS" pitchFamily="2" charset="0"/>
              </a:endParaRPr>
            </a:p>
          </p:txBody>
        </p:sp>
      </p:grpSp>
      <p:grpSp>
        <p:nvGrpSpPr>
          <p:cNvPr id="5" name="Group 58"/>
          <p:cNvGrpSpPr>
            <a:grpSpLocks/>
          </p:cNvGrpSpPr>
          <p:nvPr/>
        </p:nvGrpSpPr>
        <p:grpSpPr bwMode="auto">
          <a:xfrm>
            <a:off x="4471988" y="5833443"/>
            <a:ext cx="392112" cy="384175"/>
            <a:chOff x="1858" y="3237"/>
            <a:chExt cx="247" cy="242"/>
          </a:xfrm>
        </p:grpSpPr>
        <p:sp>
          <p:nvSpPr>
            <p:cNvPr id="82989" name="Rectangle 59"/>
            <p:cNvSpPr>
              <a:spLocks noChangeArrowheads="1"/>
            </p:cNvSpPr>
            <p:nvPr/>
          </p:nvSpPr>
          <p:spPr bwMode="auto">
            <a:xfrm>
              <a:off x="1980" y="3237"/>
              <a:ext cx="12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b="1">
                  <a:solidFill>
                    <a:srgbClr val="000000"/>
                  </a:solidFill>
                  <a:latin typeface="ISOCP" pitchFamily="2" charset="0"/>
                </a:rPr>
                <a:t>1 </a:t>
              </a:r>
              <a:endParaRPr kumimoji="1" lang="en-US" altLang="zh-CN" sz="2400" b="1">
                <a:latin typeface="宋体" pitchFamily="2" charset="-122"/>
              </a:endParaRPr>
            </a:p>
          </p:txBody>
        </p:sp>
        <p:sp>
          <p:nvSpPr>
            <p:cNvPr id="82990" name="Text Box 60"/>
            <p:cNvSpPr txBox="1">
              <a:spLocks noChangeArrowheads="1"/>
            </p:cNvSpPr>
            <p:nvPr/>
          </p:nvSpPr>
          <p:spPr bwMode="auto">
            <a:xfrm>
              <a:off x="1858" y="3335"/>
              <a:ext cx="188" cy="1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>
                  <a:solidFill>
                    <a:srgbClr val="CC0000"/>
                  </a:solidFill>
                  <a:latin typeface="RomanS" pitchFamily="2" charset="0"/>
                </a:rPr>
                <a:t>●</a:t>
              </a:r>
              <a:endParaRPr kumimoji="1" lang="en-US" altLang="zh-CN" sz="1200">
                <a:solidFill>
                  <a:srgbClr val="CC0000"/>
                </a:solidFill>
                <a:latin typeface="RomanS" pitchFamily="2" charset="0"/>
              </a:endParaRPr>
            </a:p>
          </p:txBody>
        </p:sp>
      </p:grpSp>
      <p:grpSp>
        <p:nvGrpSpPr>
          <p:cNvPr id="6" name="Group 61"/>
          <p:cNvGrpSpPr>
            <a:grpSpLocks/>
          </p:cNvGrpSpPr>
          <p:nvPr/>
        </p:nvGrpSpPr>
        <p:grpSpPr bwMode="auto">
          <a:xfrm>
            <a:off x="2757488" y="2872754"/>
            <a:ext cx="1878012" cy="863600"/>
            <a:chOff x="777" y="1380"/>
            <a:chExt cx="1183" cy="544"/>
          </a:xfrm>
        </p:grpSpPr>
        <p:sp>
          <p:nvSpPr>
            <p:cNvPr id="82986" name="Line 62"/>
            <p:cNvSpPr>
              <a:spLocks noChangeShapeType="1"/>
            </p:cNvSpPr>
            <p:nvPr/>
          </p:nvSpPr>
          <p:spPr bwMode="auto">
            <a:xfrm>
              <a:off x="1026" y="1824"/>
              <a:ext cx="925" cy="1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87" name="Line 63"/>
            <p:cNvSpPr>
              <a:spLocks noChangeShapeType="1"/>
            </p:cNvSpPr>
            <p:nvPr/>
          </p:nvSpPr>
          <p:spPr bwMode="auto">
            <a:xfrm>
              <a:off x="777" y="1380"/>
              <a:ext cx="0" cy="4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88" name="Line 64"/>
            <p:cNvSpPr>
              <a:spLocks noChangeShapeType="1"/>
            </p:cNvSpPr>
            <p:nvPr/>
          </p:nvSpPr>
          <p:spPr bwMode="auto">
            <a:xfrm>
              <a:off x="1713" y="1398"/>
              <a:ext cx="247" cy="2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4081467" y="2521918"/>
            <a:ext cx="576263" cy="485775"/>
            <a:chOff x="1901" y="1159"/>
            <a:chExt cx="363" cy="306"/>
          </a:xfrm>
        </p:grpSpPr>
        <p:sp>
          <p:nvSpPr>
            <p:cNvPr id="82984" name="Rectangle 66"/>
            <p:cNvSpPr>
              <a:spLocks noChangeArrowheads="1"/>
            </p:cNvSpPr>
            <p:nvPr/>
          </p:nvSpPr>
          <p:spPr bwMode="auto">
            <a:xfrm>
              <a:off x="2061" y="1159"/>
              <a:ext cx="20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m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2985" name="Text Box 67"/>
            <p:cNvSpPr txBox="1">
              <a:spLocks noChangeArrowheads="1"/>
            </p:cNvSpPr>
            <p:nvPr/>
          </p:nvSpPr>
          <p:spPr bwMode="auto">
            <a:xfrm>
              <a:off x="1901" y="1321"/>
              <a:ext cx="188" cy="1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>
                  <a:solidFill>
                    <a:srgbClr val="CC0000"/>
                  </a:solidFill>
                  <a:latin typeface="RomanS" pitchFamily="2" charset="0"/>
                </a:rPr>
                <a:t>●</a:t>
              </a:r>
              <a:endParaRPr kumimoji="1" lang="en-US" altLang="zh-CN" sz="1200">
                <a:solidFill>
                  <a:srgbClr val="CC0000"/>
                </a:solidFill>
                <a:latin typeface="RomanS" pitchFamily="2" charset="0"/>
              </a:endParaRPr>
            </a:p>
          </p:txBody>
        </p: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4094158" y="5641360"/>
            <a:ext cx="311150" cy="450851"/>
            <a:chOff x="1619" y="3141"/>
            <a:chExt cx="196" cy="284"/>
          </a:xfrm>
        </p:grpSpPr>
        <p:sp>
          <p:nvSpPr>
            <p:cNvPr id="82982" name="Rectangle 69"/>
            <p:cNvSpPr>
              <a:spLocks noChangeArrowheads="1"/>
            </p:cNvSpPr>
            <p:nvPr/>
          </p:nvSpPr>
          <p:spPr bwMode="auto">
            <a:xfrm>
              <a:off x="1620" y="3192"/>
              <a:ext cx="1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m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82983" name="Text Box 70"/>
            <p:cNvSpPr txBox="1">
              <a:spLocks noChangeArrowheads="1"/>
            </p:cNvSpPr>
            <p:nvPr/>
          </p:nvSpPr>
          <p:spPr bwMode="auto">
            <a:xfrm>
              <a:off x="1619" y="3141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CC0000"/>
                  </a:solidFill>
                  <a:latin typeface="RomanS" pitchFamily="2" charset="0"/>
                </a:rPr>
                <a:t>●</a:t>
              </a:r>
              <a:endParaRPr kumimoji="1" lang="en-US" altLang="zh-CN" sz="1400">
                <a:solidFill>
                  <a:srgbClr val="CC0000"/>
                </a:solidFill>
                <a:latin typeface="RomanS" pitchFamily="2" charset="0"/>
              </a:endParaRPr>
            </a:p>
          </p:txBody>
        </p:sp>
      </p:grpSp>
      <p:grpSp>
        <p:nvGrpSpPr>
          <p:cNvPr id="9" name="Group 71"/>
          <p:cNvGrpSpPr>
            <a:grpSpLocks/>
          </p:cNvGrpSpPr>
          <p:nvPr/>
        </p:nvGrpSpPr>
        <p:grpSpPr bwMode="auto">
          <a:xfrm>
            <a:off x="2913064" y="5876304"/>
            <a:ext cx="396875" cy="495300"/>
            <a:chOff x="875" y="3264"/>
            <a:chExt cx="250" cy="312"/>
          </a:xfrm>
        </p:grpSpPr>
        <p:sp>
          <p:nvSpPr>
            <p:cNvPr id="82980" name="Rectangle 72"/>
            <p:cNvSpPr>
              <a:spLocks noChangeArrowheads="1"/>
            </p:cNvSpPr>
            <p:nvPr/>
          </p:nvSpPr>
          <p:spPr bwMode="auto">
            <a:xfrm>
              <a:off x="875" y="3264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n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82981" name="Text Box 73"/>
            <p:cNvSpPr txBox="1">
              <a:spLocks noChangeArrowheads="1"/>
            </p:cNvSpPr>
            <p:nvPr/>
          </p:nvSpPr>
          <p:spPr bwMode="auto">
            <a:xfrm>
              <a:off x="929" y="3422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CC0000"/>
                  </a:solidFill>
                  <a:latin typeface="RomanS" pitchFamily="2" charset="0"/>
                </a:rPr>
                <a:t>●</a:t>
              </a:r>
              <a:endParaRPr kumimoji="1" lang="en-US" altLang="zh-CN" sz="1400">
                <a:solidFill>
                  <a:srgbClr val="CC0000"/>
                </a:solidFill>
                <a:latin typeface="RomanS" pitchFamily="2" charset="0"/>
              </a:endParaRPr>
            </a:p>
          </p:txBody>
        </p:sp>
      </p:grpSp>
      <p:grpSp>
        <p:nvGrpSpPr>
          <p:cNvPr id="10" name="Group 74"/>
          <p:cNvGrpSpPr>
            <a:grpSpLocks/>
          </p:cNvGrpSpPr>
          <p:nvPr/>
        </p:nvGrpSpPr>
        <p:grpSpPr bwMode="auto">
          <a:xfrm>
            <a:off x="2759076" y="2180604"/>
            <a:ext cx="1870075" cy="1555750"/>
            <a:chOff x="778" y="944"/>
            <a:chExt cx="1178" cy="980"/>
          </a:xfrm>
        </p:grpSpPr>
        <p:grpSp>
          <p:nvGrpSpPr>
            <p:cNvPr id="82970" name="Group 75"/>
            <p:cNvGrpSpPr>
              <a:grpSpLocks/>
            </p:cNvGrpSpPr>
            <p:nvPr/>
          </p:nvGrpSpPr>
          <p:grpSpPr bwMode="auto">
            <a:xfrm>
              <a:off x="778" y="944"/>
              <a:ext cx="1178" cy="980"/>
              <a:chOff x="778" y="944"/>
              <a:chExt cx="1178" cy="980"/>
            </a:xfrm>
          </p:grpSpPr>
          <p:sp>
            <p:nvSpPr>
              <p:cNvPr id="82977" name="Line 76"/>
              <p:cNvSpPr>
                <a:spLocks noChangeShapeType="1"/>
              </p:cNvSpPr>
              <p:nvPr/>
            </p:nvSpPr>
            <p:spPr bwMode="auto">
              <a:xfrm flipH="1">
                <a:off x="778" y="944"/>
                <a:ext cx="437" cy="473"/>
              </a:xfrm>
              <a:prstGeom prst="line">
                <a:avLst/>
              </a:prstGeom>
              <a:noFill/>
              <a:ln w="38100">
                <a:solidFill>
                  <a:srgbClr val="66CCFF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978" name="Line 77"/>
              <p:cNvSpPr>
                <a:spLocks noChangeShapeType="1"/>
              </p:cNvSpPr>
              <p:nvPr/>
            </p:nvSpPr>
            <p:spPr bwMode="auto">
              <a:xfrm>
                <a:off x="1215" y="944"/>
                <a:ext cx="498" cy="445"/>
              </a:xfrm>
              <a:prstGeom prst="line">
                <a:avLst/>
              </a:prstGeom>
              <a:noFill/>
              <a:ln w="38100">
                <a:solidFill>
                  <a:srgbClr val="66CCFF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979" name="Line 78"/>
              <p:cNvSpPr>
                <a:spLocks noChangeShapeType="1"/>
              </p:cNvSpPr>
              <p:nvPr/>
            </p:nvSpPr>
            <p:spPr bwMode="auto">
              <a:xfrm>
                <a:off x="1956" y="1617"/>
                <a:ext cx="0" cy="307"/>
              </a:xfrm>
              <a:prstGeom prst="line">
                <a:avLst/>
              </a:prstGeom>
              <a:noFill/>
              <a:ln w="57150">
                <a:solidFill>
                  <a:srgbClr val="66CCFF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2971" name="Group 79"/>
            <p:cNvGrpSpPr>
              <a:grpSpLocks/>
            </p:cNvGrpSpPr>
            <p:nvPr/>
          </p:nvGrpSpPr>
          <p:grpSpPr bwMode="auto">
            <a:xfrm>
              <a:off x="789" y="944"/>
              <a:ext cx="1158" cy="980"/>
              <a:chOff x="789" y="944"/>
              <a:chExt cx="1158" cy="980"/>
            </a:xfrm>
          </p:grpSpPr>
          <p:sp>
            <p:nvSpPr>
              <p:cNvPr id="82974" name="Freeform 80"/>
              <p:cNvSpPr>
                <a:spLocks/>
              </p:cNvSpPr>
              <p:nvPr/>
            </p:nvSpPr>
            <p:spPr bwMode="auto">
              <a:xfrm>
                <a:off x="789" y="949"/>
                <a:ext cx="427" cy="455"/>
              </a:xfrm>
              <a:custGeom>
                <a:avLst/>
                <a:gdLst>
                  <a:gd name="T0" fmla="*/ 0 w 427"/>
                  <a:gd name="T1" fmla="*/ 457 h 457"/>
                  <a:gd name="T2" fmla="*/ 427 w 427"/>
                  <a:gd name="T3" fmla="*/ 0 h 457"/>
                  <a:gd name="T4" fmla="*/ 0 60000 65536"/>
                  <a:gd name="T5" fmla="*/ 0 60000 65536"/>
                  <a:gd name="T6" fmla="*/ 0 w 427"/>
                  <a:gd name="T7" fmla="*/ 0 h 457"/>
                  <a:gd name="T8" fmla="*/ 427 w 427"/>
                  <a:gd name="T9" fmla="*/ 457 h 45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27" h="457">
                    <a:moveTo>
                      <a:pt x="0" y="457"/>
                    </a:moveTo>
                    <a:lnTo>
                      <a:pt x="427" y="0"/>
                    </a:lnTo>
                  </a:path>
                </a:pathLst>
              </a:custGeom>
              <a:noFill/>
              <a:ln w="19050">
                <a:solidFill>
                  <a:srgbClr val="003399"/>
                </a:solidFill>
                <a:prstDash val="dash"/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975" name="Freeform 81"/>
              <p:cNvSpPr>
                <a:spLocks/>
              </p:cNvSpPr>
              <p:nvPr/>
            </p:nvSpPr>
            <p:spPr bwMode="auto">
              <a:xfrm>
                <a:off x="1216" y="944"/>
                <a:ext cx="494" cy="442"/>
              </a:xfrm>
              <a:custGeom>
                <a:avLst/>
                <a:gdLst>
                  <a:gd name="T0" fmla="*/ 496 w 496"/>
                  <a:gd name="T1" fmla="*/ 439 h 439"/>
                  <a:gd name="T2" fmla="*/ 0 w 496"/>
                  <a:gd name="T3" fmla="*/ 0 h 439"/>
                  <a:gd name="T4" fmla="*/ 0 60000 65536"/>
                  <a:gd name="T5" fmla="*/ 0 60000 65536"/>
                  <a:gd name="T6" fmla="*/ 0 w 496"/>
                  <a:gd name="T7" fmla="*/ 0 h 439"/>
                  <a:gd name="T8" fmla="*/ 496 w 496"/>
                  <a:gd name="T9" fmla="*/ 439 h 43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96" h="439">
                    <a:moveTo>
                      <a:pt x="496" y="43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3399"/>
                </a:solidFill>
                <a:prstDash val="dash"/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976" name="Line 82"/>
              <p:cNvSpPr>
                <a:spLocks noChangeShapeType="1"/>
              </p:cNvSpPr>
              <p:nvPr/>
            </p:nvSpPr>
            <p:spPr bwMode="auto">
              <a:xfrm>
                <a:off x="1947" y="1617"/>
                <a:ext cx="0" cy="307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prstDash val="dash"/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2972" name="Line 83"/>
            <p:cNvSpPr>
              <a:spLocks noChangeShapeType="1"/>
            </p:cNvSpPr>
            <p:nvPr/>
          </p:nvSpPr>
          <p:spPr bwMode="auto">
            <a:xfrm>
              <a:off x="778" y="1800"/>
              <a:ext cx="226" cy="14"/>
            </a:xfrm>
            <a:prstGeom prst="line">
              <a:avLst/>
            </a:prstGeom>
            <a:noFill/>
            <a:ln w="38100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973" name="Line 84"/>
            <p:cNvSpPr>
              <a:spLocks noChangeShapeType="1"/>
            </p:cNvSpPr>
            <p:nvPr/>
          </p:nvSpPr>
          <p:spPr bwMode="auto">
            <a:xfrm>
              <a:off x="778" y="1798"/>
              <a:ext cx="226" cy="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2965" name="Text Box 85"/>
          <p:cNvSpPr txBox="1">
            <a:spLocks noChangeArrowheads="1"/>
          </p:cNvSpPr>
          <p:nvPr/>
        </p:nvSpPr>
        <p:spPr bwMode="auto">
          <a:xfrm>
            <a:off x="4467225" y="3139454"/>
            <a:ext cx="298450" cy="2286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900">
                <a:solidFill>
                  <a:srgbClr val="CC0000"/>
                </a:solidFill>
                <a:latin typeface="RomanS" pitchFamily="2" charset="0"/>
              </a:rPr>
              <a:t>●</a:t>
            </a:r>
            <a:endParaRPr kumimoji="1" lang="en-US" altLang="zh-CN" sz="1200">
              <a:solidFill>
                <a:srgbClr val="CC0000"/>
              </a:solidFill>
              <a:latin typeface="RomanS" pitchFamily="2" charset="0"/>
            </a:endParaRPr>
          </a:p>
        </p:txBody>
      </p:sp>
      <p:grpSp>
        <p:nvGrpSpPr>
          <p:cNvPr id="13" name="Group 86"/>
          <p:cNvGrpSpPr>
            <a:grpSpLocks/>
          </p:cNvGrpSpPr>
          <p:nvPr/>
        </p:nvGrpSpPr>
        <p:grpSpPr bwMode="auto">
          <a:xfrm>
            <a:off x="3005141" y="3158504"/>
            <a:ext cx="347663" cy="539750"/>
            <a:chOff x="1221" y="1561"/>
            <a:chExt cx="219" cy="340"/>
          </a:xfrm>
        </p:grpSpPr>
        <p:sp>
          <p:nvSpPr>
            <p:cNvPr id="82968" name="Rectangle 87"/>
            <p:cNvSpPr>
              <a:spLocks noChangeArrowheads="1"/>
            </p:cNvSpPr>
            <p:nvPr/>
          </p:nvSpPr>
          <p:spPr bwMode="auto">
            <a:xfrm>
              <a:off x="1291" y="1561"/>
              <a:ext cx="1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n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82969" name="Text Box 88"/>
            <p:cNvSpPr txBox="1">
              <a:spLocks noChangeArrowheads="1"/>
            </p:cNvSpPr>
            <p:nvPr/>
          </p:nvSpPr>
          <p:spPr bwMode="auto">
            <a:xfrm>
              <a:off x="1221" y="1757"/>
              <a:ext cx="188" cy="1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900">
                  <a:solidFill>
                    <a:srgbClr val="CC0000"/>
                  </a:solidFill>
                  <a:latin typeface="RomanS" pitchFamily="2" charset="0"/>
                </a:rPr>
                <a:t>●</a:t>
              </a:r>
              <a:endParaRPr kumimoji="1" lang="en-US" altLang="zh-CN" sz="1200">
                <a:solidFill>
                  <a:srgbClr val="CC0000"/>
                </a:solidFill>
                <a:latin typeface="RomanS" pitchFamily="2" charset="0"/>
              </a:endParaRPr>
            </a:p>
          </p:txBody>
        </p:sp>
      </p:grpSp>
      <p:sp>
        <p:nvSpPr>
          <p:cNvPr id="82967" name="Text Box 38"/>
          <p:cNvSpPr txBox="1">
            <a:spLocks noChangeArrowheads="1"/>
          </p:cNvSpPr>
          <p:nvPr/>
        </p:nvSpPr>
        <p:spPr bwMode="auto">
          <a:xfrm>
            <a:off x="1781986" y="1383945"/>
            <a:ext cx="596638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dirty="0">
                <a:latin typeface="Times New Roman" pitchFamily="18" charset="0"/>
              </a:rPr>
              <a:t>⑵</a:t>
            </a:r>
            <a:endParaRPr lang="en-US" altLang="zh-CN" sz="2400" b="1" dirty="0">
              <a:latin typeface="Times New Roman" pitchFamily="18" charset="0"/>
            </a:endParaRPr>
          </a:p>
        </p:txBody>
      </p:sp>
      <p:sp>
        <p:nvSpPr>
          <p:cNvPr id="89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2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122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122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2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75"/>
                                        <p:tgtEl>
                                          <p:spTgt spid="12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 animBg="1"/>
      <p:bldP spid="122883" grpId="0" animBg="1"/>
      <p:bldP spid="122884" grpId="0" animBg="1"/>
      <p:bldP spid="122927" grpId="0" autoUpdateAnimBg="0"/>
      <p:bldP spid="122928" grpId="0" autoUpdateAnimBg="0"/>
      <p:bldP spid="122929" grpId="0" autoUpdateAnimBg="0"/>
      <p:bldP spid="122930" grpId="0" autoUpdateAnimBg="0"/>
      <p:bldP spid="122931" grpId="0" autoUpdateAnimBg="0"/>
      <p:bldP spid="122932" grpId="0" build="p" autoUpdateAnimBg="0"/>
      <p:bldP spid="122934" grpId="0" animBg="1"/>
      <p:bldP spid="122965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Freeform 3"/>
          <p:cNvSpPr>
            <a:spLocks/>
          </p:cNvSpPr>
          <p:nvPr/>
        </p:nvSpPr>
        <p:spPr bwMode="auto">
          <a:xfrm>
            <a:off x="2244725" y="1972072"/>
            <a:ext cx="1208087" cy="1502554"/>
          </a:xfrm>
          <a:custGeom>
            <a:avLst/>
            <a:gdLst>
              <a:gd name="T0" fmla="*/ 2147483647 w 305"/>
              <a:gd name="T1" fmla="*/ 0 h 384"/>
              <a:gd name="T2" fmla="*/ 2147483647 w 305"/>
              <a:gd name="T3" fmla="*/ 2147483647 h 384"/>
              <a:gd name="T4" fmla="*/ 0 w 305"/>
              <a:gd name="T5" fmla="*/ 2147483647 h 384"/>
              <a:gd name="T6" fmla="*/ 2147483647 w 305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305"/>
              <a:gd name="T13" fmla="*/ 0 h 384"/>
              <a:gd name="T14" fmla="*/ 305 w 305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5" h="384">
                <a:moveTo>
                  <a:pt x="305" y="0"/>
                </a:moveTo>
                <a:lnTo>
                  <a:pt x="305" y="384"/>
                </a:lnTo>
                <a:lnTo>
                  <a:pt x="0" y="34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3971" name="Freeform 4"/>
          <p:cNvSpPr>
            <a:spLocks/>
          </p:cNvSpPr>
          <p:nvPr/>
        </p:nvSpPr>
        <p:spPr bwMode="auto">
          <a:xfrm>
            <a:off x="2754489" y="1719441"/>
            <a:ext cx="1906587" cy="2274874"/>
          </a:xfrm>
          <a:custGeom>
            <a:avLst/>
            <a:gdLst>
              <a:gd name="T0" fmla="*/ 2147483647 w 1187"/>
              <a:gd name="T1" fmla="*/ 2147483647 h 1387"/>
              <a:gd name="T2" fmla="*/ 2147483647 w 1187"/>
              <a:gd name="T3" fmla="*/ 2147483647 h 1387"/>
              <a:gd name="T4" fmla="*/ 2147483647 w 1187"/>
              <a:gd name="T5" fmla="*/ 0 h 1387"/>
              <a:gd name="T6" fmla="*/ 0 w 1187"/>
              <a:gd name="T7" fmla="*/ 0 h 1387"/>
              <a:gd name="T8" fmla="*/ 0 w 1187"/>
              <a:gd name="T9" fmla="*/ 2147483647 h 1387"/>
              <a:gd name="T10" fmla="*/ 2147483647 w 1187"/>
              <a:gd name="T11" fmla="*/ 2147483647 h 1387"/>
              <a:gd name="T12" fmla="*/ 2147483647 w 1187"/>
              <a:gd name="T13" fmla="*/ 2147483647 h 1387"/>
              <a:gd name="T14" fmla="*/ 2147483647 w 1187"/>
              <a:gd name="T15" fmla="*/ 2147483647 h 1387"/>
              <a:gd name="T16" fmla="*/ 2147483647 w 1187"/>
              <a:gd name="T17" fmla="*/ 2147483647 h 138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87"/>
              <a:gd name="T28" fmla="*/ 0 h 1387"/>
              <a:gd name="T29" fmla="*/ 1187 w 1187"/>
              <a:gd name="T30" fmla="*/ 1387 h 138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87" h="1387">
                <a:moveTo>
                  <a:pt x="943" y="619"/>
                </a:moveTo>
                <a:lnTo>
                  <a:pt x="1187" y="855"/>
                </a:lnTo>
                <a:lnTo>
                  <a:pt x="1187" y="0"/>
                </a:lnTo>
                <a:lnTo>
                  <a:pt x="0" y="0"/>
                </a:lnTo>
                <a:lnTo>
                  <a:pt x="0" y="1387"/>
                </a:lnTo>
                <a:lnTo>
                  <a:pt x="1187" y="1387"/>
                </a:lnTo>
                <a:lnTo>
                  <a:pt x="1187" y="1152"/>
                </a:lnTo>
                <a:lnTo>
                  <a:pt x="280" y="1047"/>
                </a:lnTo>
                <a:lnTo>
                  <a:pt x="943" y="619"/>
                </a:lnTo>
                <a:close/>
              </a:path>
            </a:pathLst>
          </a:custGeom>
          <a:solidFill>
            <a:srgbClr val="FF3300"/>
          </a:solidFill>
          <a:ln w="19050">
            <a:solidFill>
              <a:srgbClr val="FF33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3972" name="Line 6"/>
          <p:cNvSpPr>
            <a:spLocks noChangeShapeType="1"/>
          </p:cNvSpPr>
          <p:nvPr/>
        </p:nvSpPr>
        <p:spPr bwMode="auto">
          <a:xfrm>
            <a:off x="4614863" y="3954859"/>
            <a:ext cx="0" cy="1555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3973" name="Line 7"/>
          <p:cNvSpPr>
            <a:spLocks noChangeShapeType="1"/>
          </p:cNvSpPr>
          <p:nvPr/>
        </p:nvSpPr>
        <p:spPr bwMode="auto">
          <a:xfrm>
            <a:off x="3452813" y="3973909"/>
            <a:ext cx="0" cy="957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3974" name="Line 8"/>
          <p:cNvSpPr>
            <a:spLocks noChangeShapeType="1"/>
          </p:cNvSpPr>
          <p:nvPr/>
        </p:nvSpPr>
        <p:spPr bwMode="auto">
          <a:xfrm flipV="1">
            <a:off x="3151188" y="3445271"/>
            <a:ext cx="0" cy="2679700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5" name="Line 10"/>
          <p:cNvSpPr>
            <a:spLocks noChangeShapeType="1"/>
          </p:cNvSpPr>
          <p:nvPr/>
        </p:nvSpPr>
        <p:spPr bwMode="auto">
          <a:xfrm>
            <a:off x="5265738" y="3672285"/>
            <a:ext cx="0" cy="2879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6" name="Line 11"/>
          <p:cNvSpPr>
            <a:spLocks noChangeShapeType="1"/>
          </p:cNvSpPr>
          <p:nvPr/>
        </p:nvSpPr>
        <p:spPr bwMode="auto">
          <a:xfrm>
            <a:off x="2757488" y="3975496"/>
            <a:ext cx="0" cy="23256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7" name="Line 12"/>
          <p:cNvSpPr>
            <a:spLocks noChangeShapeType="1"/>
          </p:cNvSpPr>
          <p:nvPr/>
        </p:nvSpPr>
        <p:spPr bwMode="auto">
          <a:xfrm>
            <a:off x="3452814" y="4931171"/>
            <a:ext cx="1811337" cy="16208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8" name="Line 13"/>
          <p:cNvSpPr>
            <a:spLocks noChangeShapeType="1"/>
          </p:cNvSpPr>
          <p:nvPr/>
        </p:nvSpPr>
        <p:spPr bwMode="auto">
          <a:xfrm>
            <a:off x="2246314" y="5929709"/>
            <a:ext cx="3017837" cy="6223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79" name="Line 14"/>
          <p:cNvSpPr>
            <a:spLocks noChangeShapeType="1"/>
          </p:cNvSpPr>
          <p:nvPr/>
        </p:nvSpPr>
        <p:spPr bwMode="auto">
          <a:xfrm flipV="1">
            <a:off x="2246313" y="4931172"/>
            <a:ext cx="1206500" cy="10128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80" name="Line 15"/>
          <p:cNvSpPr>
            <a:spLocks noChangeShapeType="1"/>
          </p:cNvSpPr>
          <p:nvPr/>
        </p:nvSpPr>
        <p:spPr bwMode="auto">
          <a:xfrm flipV="1">
            <a:off x="2757488" y="5470922"/>
            <a:ext cx="1878012" cy="8239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81" name="Line 16"/>
          <p:cNvSpPr>
            <a:spLocks noChangeShapeType="1"/>
          </p:cNvSpPr>
          <p:nvPr/>
        </p:nvSpPr>
        <p:spPr bwMode="auto">
          <a:xfrm>
            <a:off x="4616450" y="3604022"/>
            <a:ext cx="0" cy="3714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3982" name="Line 17"/>
          <p:cNvSpPr>
            <a:spLocks noChangeShapeType="1"/>
          </p:cNvSpPr>
          <p:nvPr/>
        </p:nvSpPr>
        <p:spPr bwMode="auto">
          <a:xfrm>
            <a:off x="2757488" y="3975496"/>
            <a:ext cx="1858962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83" name="Line 18"/>
          <p:cNvSpPr>
            <a:spLocks noChangeShapeType="1"/>
          </p:cNvSpPr>
          <p:nvPr/>
        </p:nvSpPr>
        <p:spPr bwMode="auto">
          <a:xfrm>
            <a:off x="2246313" y="3330972"/>
            <a:ext cx="0" cy="2613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84" name="Rectangle 19"/>
          <p:cNvSpPr>
            <a:spLocks noChangeArrowheads="1"/>
          </p:cNvSpPr>
          <p:nvPr/>
        </p:nvSpPr>
        <p:spPr bwMode="auto">
          <a:xfrm>
            <a:off x="3540152" y="4653359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a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83985" name="Rectangle 20"/>
          <p:cNvSpPr>
            <a:spLocks noChangeArrowheads="1"/>
          </p:cNvSpPr>
          <p:nvPr/>
        </p:nvSpPr>
        <p:spPr bwMode="auto">
          <a:xfrm>
            <a:off x="2043933" y="5770959"/>
            <a:ext cx="1586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b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83986" name="Rectangle 21"/>
          <p:cNvSpPr>
            <a:spLocks noChangeArrowheads="1"/>
          </p:cNvSpPr>
          <p:nvPr/>
        </p:nvSpPr>
        <p:spPr bwMode="auto">
          <a:xfrm>
            <a:off x="2607470" y="6267846"/>
            <a:ext cx="49212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d(e)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83987" name="Rectangle 22"/>
          <p:cNvSpPr>
            <a:spLocks noChangeArrowheads="1"/>
          </p:cNvSpPr>
          <p:nvPr/>
        </p:nvSpPr>
        <p:spPr bwMode="auto">
          <a:xfrm>
            <a:off x="2566688" y="3764359"/>
            <a:ext cx="2260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e</a:t>
            </a:r>
            <a:r>
              <a:rPr kumimoji="1" lang="en-US" altLang="zh-CN" sz="2400">
                <a:latin typeface="RomanS" pitchFamily="2" charset="0"/>
              </a:rPr>
              <a:t>′</a:t>
            </a:r>
          </a:p>
        </p:txBody>
      </p:sp>
      <p:sp>
        <p:nvSpPr>
          <p:cNvPr id="83988" name="Rectangle 23"/>
          <p:cNvSpPr>
            <a:spLocks noChangeArrowheads="1"/>
          </p:cNvSpPr>
          <p:nvPr/>
        </p:nvSpPr>
        <p:spPr bwMode="auto">
          <a:xfrm>
            <a:off x="2144359" y="3123009"/>
            <a:ext cx="2372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b</a:t>
            </a:r>
            <a:r>
              <a:rPr kumimoji="1" lang="en-US" altLang="zh-CN" sz="2400">
                <a:latin typeface="RomanS" pitchFamily="2" charset="0"/>
              </a:rPr>
              <a:t>′</a:t>
            </a:r>
          </a:p>
        </p:txBody>
      </p:sp>
      <p:sp>
        <p:nvSpPr>
          <p:cNvPr id="83989" name="Rectangle 24"/>
          <p:cNvSpPr>
            <a:spLocks noChangeArrowheads="1"/>
          </p:cNvSpPr>
          <p:nvPr/>
        </p:nvSpPr>
        <p:spPr bwMode="auto">
          <a:xfrm>
            <a:off x="2669822" y="1462484"/>
            <a:ext cx="2372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d</a:t>
            </a:r>
            <a:r>
              <a:rPr kumimoji="1" lang="en-US" altLang="zh-CN" sz="2400">
                <a:latin typeface="RomanS" pitchFamily="2" charset="0"/>
              </a:rPr>
              <a:t>′</a:t>
            </a:r>
          </a:p>
        </p:txBody>
      </p:sp>
      <p:sp>
        <p:nvSpPr>
          <p:cNvPr id="83990" name="Rectangle 25"/>
          <p:cNvSpPr>
            <a:spLocks noChangeArrowheads="1"/>
          </p:cNvSpPr>
          <p:nvPr/>
        </p:nvSpPr>
        <p:spPr bwMode="auto">
          <a:xfrm>
            <a:off x="4781850" y="5255021"/>
            <a:ext cx="44390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h(f)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83991" name="Rectangle 26"/>
          <p:cNvSpPr>
            <a:spLocks noChangeArrowheads="1"/>
          </p:cNvSpPr>
          <p:nvPr/>
        </p:nvSpPr>
        <p:spPr bwMode="auto">
          <a:xfrm>
            <a:off x="5326182" y="6323409"/>
            <a:ext cx="1394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600" i="1">
                <a:solidFill>
                  <a:srgbClr val="000000"/>
                </a:solidFill>
                <a:latin typeface="Dutch801 Rm BT" pitchFamily="18" charset="0"/>
              </a:rPr>
              <a:t>c</a:t>
            </a:r>
            <a:endParaRPr kumimoji="1" lang="en-US" altLang="zh-CN" sz="2400">
              <a:latin typeface="RomanS" pitchFamily="2" charset="0"/>
            </a:endParaRPr>
          </a:p>
        </p:txBody>
      </p:sp>
      <p:sp>
        <p:nvSpPr>
          <p:cNvPr id="83992" name="Rectangle 27"/>
          <p:cNvSpPr>
            <a:spLocks noChangeArrowheads="1"/>
          </p:cNvSpPr>
          <p:nvPr/>
        </p:nvSpPr>
        <p:spPr bwMode="auto">
          <a:xfrm>
            <a:off x="4843419" y="3764359"/>
            <a:ext cx="1731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f</a:t>
            </a:r>
            <a:r>
              <a:rPr kumimoji="1" lang="en-US" altLang="zh-CN" sz="2400">
                <a:latin typeface="RomanS" pitchFamily="2" charset="0"/>
              </a:rPr>
              <a:t>′</a:t>
            </a:r>
          </a:p>
        </p:txBody>
      </p:sp>
      <p:sp>
        <p:nvSpPr>
          <p:cNvPr id="83993" name="Rectangle 28"/>
          <p:cNvSpPr>
            <a:spLocks noChangeArrowheads="1"/>
          </p:cNvSpPr>
          <p:nvPr/>
        </p:nvSpPr>
        <p:spPr bwMode="auto">
          <a:xfrm>
            <a:off x="5450421" y="3415109"/>
            <a:ext cx="21800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600" i="1">
                <a:solidFill>
                  <a:srgbClr val="000000"/>
                </a:solidFill>
                <a:latin typeface="Dutch801 Rm BT" pitchFamily="18" charset="0"/>
              </a:rPr>
              <a:t>c</a:t>
            </a:r>
            <a:r>
              <a:rPr kumimoji="1" lang="en-US" altLang="zh-CN" sz="2400">
                <a:latin typeface="RomanS" pitchFamily="2" charset="0"/>
              </a:rPr>
              <a:t>′</a:t>
            </a:r>
          </a:p>
        </p:txBody>
      </p:sp>
      <p:sp>
        <p:nvSpPr>
          <p:cNvPr id="83994" name="Rectangle 29"/>
          <p:cNvSpPr>
            <a:spLocks noChangeArrowheads="1"/>
          </p:cNvSpPr>
          <p:nvPr/>
        </p:nvSpPr>
        <p:spPr bwMode="auto">
          <a:xfrm>
            <a:off x="4805009" y="1492646"/>
            <a:ext cx="2372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kumimoji="1" lang="en-US" altLang="zh-CN" sz="2400" i="1">
                <a:solidFill>
                  <a:srgbClr val="000000"/>
                </a:solidFill>
                <a:latin typeface="Dutch801 Rm BT" pitchFamily="18" charset="0"/>
              </a:rPr>
              <a:t>h</a:t>
            </a:r>
            <a:r>
              <a:rPr kumimoji="1" lang="en-US" altLang="zh-CN" sz="2400">
                <a:latin typeface="RomanS" pitchFamily="2" charset="0"/>
              </a:rPr>
              <a:t>′</a:t>
            </a:r>
          </a:p>
        </p:txBody>
      </p:sp>
      <p:sp>
        <p:nvSpPr>
          <p:cNvPr id="83995" name="Line 30"/>
          <p:cNvSpPr>
            <a:spLocks noChangeShapeType="1"/>
          </p:cNvSpPr>
          <p:nvPr/>
        </p:nvSpPr>
        <p:spPr bwMode="auto">
          <a:xfrm>
            <a:off x="2028825" y="4508896"/>
            <a:ext cx="36131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96" name="Line 31"/>
          <p:cNvSpPr>
            <a:spLocks noChangeShapeType="1"/>
          </p:cNvSpPr>
          <p:nvPr/>
        </p:nvSpPr>
        <p:spPr bwMode="auto">
          <a:xfrm flipV="1">
            <a:off x="2757488" y="3392884"/>
            <a:ext cx="0" cy="5826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997" name="Text Box 32"/>
          <p:cNvSpPr txBox="1">
            <a:spLocks noChangeArrowheads="1"/>
          </p:cNvSpPr>
          <p:nvPr/>
        </p:nvSpPr>
        <p:spPr bwMode="auto">
          <a:xfrm>
            <a:off x="6428963" y="1303416"/>
            <a:ext cx="27093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</a:rPr>
              <a:t>空间及投影分析</a:t>
            </a:r>
          </a:p>
        </p:txBody>
      </p:sp>
      <p:sp>
        <p:nvSpPr>
          <p:cNvPr id="83998" name="Text Box 33"/>
          <p:cNvSpPr txBox="1">
            <a:spLocks noChangeArrowheads="1"/>
          </p:cNvSpPr>
          <p:nvPr/>
        </p:nvSpPr>
        <p:spPr bwMode="auto">
          <a:xfrm>
            <a:off x="5784851" y="1834425"/>
            <a:ext cx="477564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Times New Roman" pitchFamily="18" charset="0"/>
              </a:rPr>
              <a:t>平面</a:t>
            </a:r>
            <a:r>
              <a:rPr lang="en-US" altLang="zh-CN" sz="2400" b="1" dirty="0">
                <a:latin typeface="Times New Roman" pitchFamily="18" charset="0"/>
              </a:rPr>
              <a:t>DEFH</a:t>
            </a:r>
            <a:r>
              <a:rPr lang="zh-CN" altLang="en-US" sz="2400" b="1" dirty="0">
                <a:latin typeface="Times New Roman" pitchFamily="18" charset="0"/>
              </a:rPr>
              <a:t>是一铅垂面，它的水平投影有积聚性，其与</a:t>
            </a:r>
            <a:r>
              <a:rPr kumimoji="1" lang="en-US" altLang="zh-CN" sz="2400" i="1" dirty="0">
                <a:solidFill>
                  <a:srgbClr val="000000"/>
                </a:solidFill>
                <a:latin typeface="Dutch801 Rm BT" pitchFamily="18" charset="0"/>
              </a:rPr>
              <a:t>ac</a:t>
            </a:r>
            <a:r>
              <a:rPr lang="zh-CN" altLang="en-US" sz="2400" b="1" dirty="0">
                <a:latin typeface="Times New Roman" pitchFamily="18" charset="0"/>
              </a:rPr>
              <a:t>、</a:t>
            </a:r>
            <a:r>
              <a:rPr kumimoji="1" lang="en-US" altLang="zh-CN" sz="2400" i="1" dirty="0" err="1">
                <a:solidFill>
                  <a:srgbClr val="000000"/>
                </a:solidFill>
                <a:latin typeface="Dutch801 Rm BT" pitchFamily="18" charset="0"/>
              </a:rPr>
              <a:t>bc</a:t>
            </a:r>
            <a:r>
              <a:rPr lang="zh-CN" altLang="en-US" sz="2400" b="1" dirty="0">
                <a:latin typeface="Times New Roman" pitchFamily="18" charset="0"/>
              </a:rPr>
              <a:t>的交点</a:t>
            </a:r>
            <a:r>
              <a:rPr kumimoji="1" lang="en-US" altLang="zh-CN" sz="2400" i="1" dirty="0">
                <a:solidFill>
                  <a:srgbClr val="000000"/>
                </a:solidFill>
                <a:latin typeface="Dutch801 Rm BT" pitchFamily="18" charset="0"/>
              </a:rPr>
              <a:t>m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、</a:t>
            </a:r>
            <a:r>
              <a:rPr kumimoji="1" lang="en-US" altLang="zh-CN" sz="2400" i="1" dirty="0">
                <a:solidFill>
                  <a:srgbClr val="000000"/>
                </a:solidFill>
                <a:latin typeface="Dutch801 Rm BT" pitchFamily="18" charset="0"/>
              </a:rPr>
              <a:t>n</a:t>
            </a:r>
            <a:r>
              <a:rPr kumimoji="1" lang="en-US" altLang="zh-CN" sz="2400" b="1" dirty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即为两个共有点的水平投影，故</a:t>
            </a:r>
            <a:r>
              <a:rPr kumimoji="1" lang="en-US" altLang="zh-CN" sz="2400" i="1" dirty="0" err="1">
                <a:solidFill>
                  <a:srgbClr val="FF3300"/>
                </a:solidFill>
                <a:latin typeface="Dutch801 Rm BT" pitchFamily="18" charset="0"/>
              </a:rPr>
              <a:t>mn</a:t>
            </a:r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即为交线</a:t>
            </a:r>
            <a:r>
              <a:rPr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MN</a:t>
            </a:r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的水平投影</a:t>
            </a:r>
            <a:r>
              <a:rPr lang="zh-CN" altLang="en-US" sz="2400" b="1" dirty="0">
                <a:solidFill>
                  <a:srgbClr val="FF0066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83999" name="Text Box 34"/>
          <p:cNvSpPr txBox="1">
            <a:spLocks noChangeArrowheads="1"/>
          </p:cNvSpPr>
          <p:nvPr/>
        </p:nvSpPr>
        <p:spPr bwMode="auto">
          <a:xfrm>
            <a:off x="6168008" y="4458082"/>
            <a:ext cx="15760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</a:rPr>
              <a:t>①  </a:t>
            </a:r>
            <a:r>
              <a:rPr lang="zh-CN" altLang="en-US" sz="2400" b="1" dirty="0">
                <a:latin typeface="Times New Roman" pitchFamily="18" charset="0"/>
              </a:rPr>
              <a:t>求交线</a:t>
            </a:r>
          </a:p>
        </p:txBody>
      </p:sp>
      <p:sp>
        <p:nvSpPr>
          <p:cNvPr id="84000" name="Text Box 35"/>
          <p:cNvSpPr txBox="1">
            <a:spLocks noChangeArrowheads="1"/>
          </p:cNvSpPr>
          <p:nvPr/>
        </p:nvSpPr>
        <p:spPr bwMode="auto">
          <a:xfrm>
            <a:off x="6168008" y="4924807"/>
            <a:ext cx="21948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Times New Roman" pitchFamily="18" charset="0"/>
              </a:rPr>
              <a:t>②  </a:t>
            </a:r>
            <a:r>
              <a:rPr lang="zh-CN" altLang="en-US" sz="2400" b="1" dirty="0">
                <a:latin typeface="Times New Roman" pitchFamily="18" charset="0"/>
              </a:rPr>
              <a:t>判别可见性</a:t>
            </a:r>
          </a:p>
        </p:txBody>
      </p:sp>
      <p:sp>
        <p:nvSpPr>
          <p:cNvPr id="84001" name="Text Box 36"/>
          <p:cNvSpPr txBox="1">
            <a:spLocks noChangeArrowheads="1"/>
          </p:cNvSpPr>
          <p:nvPr/>
        </p:nvSpPr>
        <p:spPr bwMode="auto">
          <a:xfrm>
            <a:off x="5591944" y="5270044"/>
            <a:ext cx="496855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Times New Roman" pitchFamily="18" charset="0"/>
              </a:rPr>
              <a:t>点</a:t>
            </a:r>
            <a:r>
              <a:rPr lang="en-US" altLang="zh-CN" sz="2400" b="1" dirty="0">
                <a:latin typeface="Times New Roman" pitchFamily="18" charset="0"/>
              </a:rPr>
              <a:t>Ⅰ</a:t>
            </a:r>
            <a:r>
              <a:rPr lang="zh-CN" altLang="en-US" sz="2400" b="1" dirty="0">
                <a:latin typeface="Times New Roman" pitchFamily="18" charset="0"/>
              </a:rPr>
              <a:t>在</a:t>
            </a:r>
            <a:r>
              <a:rPr lang="en-US" altLang="zh-CN" sz="2400" b="1" dirty="0">
                <a:latin typeface="Times New Roman" pitchFamily="18" charset="0"/>
              </a:rPr>
              <a:t>MC</a:t>
            </a:r>
            <a:r>
              <a:rPr lang="zh-CN" altLang="en-US" sz="2400" b="1" dirty="0">
                <a:latin typeface="Times New Roman" pitchFamily="18" charset="0"/>
              </a:rPr>
              <a:t>上</a:t>
            </a:r>
            <a:r>
              <a:rPr lang="en-US" altLang="zh-CN" sz="2400" b="1" dirty="0">
                <a:latin typeface="Times New Roman" pitchFamily="18" charset="0"/>
              </a:rPr>
              <a:t>,</a:t>
            </a:r>
            <a:r>
              <a:rPr lang="en-US" altLang="zh-CN" sz="2400" b="1" dirty="0">
                <a:latin typeface="宋体" pitchFamily="2" charset="-122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点</a:t>
            </a:r>
            <a:r>
              <a:rPr lang="en-US" altLang="zh-CN" sz="2400" b="1" dirty="0">
                <a:latin typeface="Times New Roman" pitchFamily="18" charset="0"/>
              </a:rPr>
              <a:t>Ⅱ</a:t>
            </a:r>
            <a:r>
              <a:rPr lang="zh-CN" altLang="en-US" sz="2400" b="1" dirty="0">
                <a:latin typeface="Times New Roman" pitchFamily="18" charset="0"/>
              </a:rPr>
              <a:t>在</a:t>
            </a:r>
            <a:r>
              <a:rPr lang="en-US" altLang="zh-CN" sz="2400" b="1" dirty="0">
                <a:latin typeface="Times New Roman" pitchFamily="18" charset="0"/>
              </a:rPr>
              <a:t>FH</a:t>
            </a:r>
            <a:r>
              <a:rPr lang="zh-CN" altLang="en-US" sz="2400" b="1" dirty="0">
                <a:latin typeface="Times New Roman" pitchFamily="18" charset="0"/>
              </a:rPr>
              <a:t>上，</a:t>
            </a:r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点</a:t>
            </a:r>
            <a:r>
              <a:rPr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Ⅰ</a:t>
            </a:r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在前，点</a:t>
            </a:r>
            <a:r>
              <a:rPr lang="en-US" altLang="zh-CN" sz="2400" b="1" dirty="0">
                <a:solidFill>
                  <a:srgbClr val="FF3300"/>
                </a:solidFill>
                <a:latin typeface="Times New Roman" pitchFamily="18" charset="0"/>
              </a:rPr>
              <a:t>Ⅱ</a:t>
            </a:r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在后，故</a:t>
            </a:r>
            <a:r>
              <a:rPr kumimoji="1" lang="en-US" altLang="zh-CN" sz="2400" i="1" dirty="0" err="1">
                <a:solidFill>
                  <a:srgbClr val="FF3300"/>
                </a:solidFill>
                <a:latin typeface="Dutch801 Rm BT" pitchFamily="18" charset="0"/>
              </a:rPr>
              <a:t>m</a:t>
            </a:r>
            <a:r>
              <a:rPr kumimoji="1" lang="en-US" altLang="zh-CN" sz="2400" i="1" dirty="0" err="1">
                <a:solidFill>
                  <a:srgbClr val="FF3300"/>
                </a:solidFill>
                <a:latin typeface="Dutch801 Rm BT" pitchFamily="18" charset="0"/>
                <a:sym typeface="CommercialPi BT" pitchFamily="18" charset="2"/>
              </a:rPr>
              <a:t>c</a:t>
            </a:r>
            <a:r>
              <a:rPr kumimoji="1" lang="en-US" altLang="zh-CN" sz="2400" i="1" dirty="0">
                <a:solidFill>
                  <a:srgbClr val="FF3300"/>
                </a:solidFill>
                <a:latin typeface="Dutch801 Rm BT" pitchFamily="18" charset="0"/>
                <a:sym typeface="CommercialPi BT" pitchFamily="18" charset="2"/>
              </a:rPr>
              <a:t> </a:t>
            </a:r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</a:rPr>
              <a:t>可见。</a:t>
            </a:r>
          </a:p>
        </p:txBody>
      </p:sp>
      <p:sp>
        <p:nvSpPr>
          <p:cNvPr id="84002" name="Text Box 37"/>
          <p:cNvSpPr txBox="1">
            <a:spLocks noChangeArrowheads="1"/>
          </p:cNvSpPr>
          <p:nvPr/>
        </p:nvSpPr>
        <p:spPr bwMode="auto">
          <a:xfrm>
            <a:off x="6016331" y="3861573"/>
            <a:ext cx="1206500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3300"/>
                </a:solidFill>
                <a:latin typeface="Times New Roman" pitchFamily="18" charset="0"/>
              </a:rPr>
              <a:t>作图</a:t>
            </a:r>
          </a:p>
        </p:txBody>
      </p:sp>
      <p:sp>
        <p:nvSpPr>
          <p:cNvPr id="84003" name="Text Box 38"/>
          <p:cNvSpPr txBox="1">
            <a:spLocks noChangeArrowheads="1"/>
          </p:cNvSpPr>
          <p:nvPr/>
        </p:nvSpPr>
        <p:spPr bwMode="auto">
          <a:xfrm>
            <a:off x="1247728" y="1170096"/>
            <a:ext cx="596638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dirty="0">
                <a:latin typeface="Times New Roman" pitchFamily="18" charset="0"/>
              </a:rPr>
              <a:t>⑵</a:t>
            </a:r>
            <a:endParaRPr lang="en-US" altLang="zh-CN" sz="2400" b="1" dirty="0">
              <a:latin typeface="Times New Roman" pitchFamily="18" charset="0"/>
            </a:endParaRPr>
          </a:p>
        </p:txBody>
      </p:sp>
      <p:grpSp>
        <p:nvGrpSpPr>
          <p:cNvPr id="84004" name="Group 39"/>
          <p:cNvGrpSpPr>
            <a:grpSpLocks/>
          </p:cNvGrpSpPr>
          <p:nvPr/>
        </p:nvGrpSpPr>
        <p:grpSpPr bwMode="auto">
          <a:xfrm>
            <a:off x="4094158" y="5521727"/>
            <a:ext cx="311150" cy="450851"/>
            <a:chOff x="1619" y="3141"/>
            <a:chExt cx="196" cy="284"/>
          </a:xfrm>
        </p:grpSpPr>
        <p:sp>
          <p:nvSpPr>
            <p:cNvPr id="84017" name="Rectangle 40"/>
            <p:cNvSpPr>
              <a:spLocks noChangeArrowheads="1"/>
            </p:cNvSpPr>
            <p:nvPr/>
          </p:nvSpPr>
          <p:spPr bwMode="auto">
            <a:xfrm>
              <a:off x="1620" y="3192"/>
              <a:ext cx="1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m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84018" name="Text Box 41"/>
            <p:cNvSpPr txBox="1">
              <a:spLocks noChangeArrowheads="1"/>
            </p:cNvSpPr>
            <p:nvPr/>
          </p:nvSpPr>
          <p:spPr bwMode="auto">
            <a:xfrm>
              <a:off x="1619" y="3141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CC0000"/>
                  </a:solidFill>
                  <a:latin typeface="RomanS" pitchFamily="2" charset="0"/>
                </a:rPr>
                <a:t>●</a:t>
              </a:r>
              <a:endParaRPr kumimoji="1" lang="en-US" altLang="zh-CN" sz="1400">
                <a:solidFill>
                  <a:srgbClr val="CC0000"/>
                </a:solidFill>
                <a:latin typeface="RomanS" pitchFamily="2" charset="0"/>
              </a:endParaRPr>
            </a:p>
          </p:txBody>
        </p:sp>
      </p:grpSp>
      <p:grpSp>
        <p:nvGrpSpPr>
          <p:cNvPr id="84005" name="Group 42"/>
          <p:cNvGrpSpPr>
            <a:grpSpLocks/>
          </p:cNvGrpSpPr>
          <p:nvPr/>
        </p:nvGrpSpPr>
        <p:grpSpPr bwMode="auto">
          <a:xfrm>
            <a:off x="2913064" y="5731271"/>
            <a:ext cx="396875" cy="495300"/>
            <a:chOff x="875" y="3264"/>
            <a:chExt cx="250" cy="312"/>
          </a:xfrm>
        </p:grpSpPr>
        <p:sp>
          <p:nvSpPr>
            <p:cNvPr id="84015" name="Rectangle 43"/>
            <p:cNvSpPr>
              <a:spLocks noChangeArrowheads="1"/>
            </p:cNvSpPr>
            <p:nvPr/>
          </p:nvSpPr>
          <p:spPr bwMode="auto">
            <a:xfrm>
              <a:off x="875" y="3264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n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84016" name="Text Box 44"/>
            <p:cNvSpPr txBox="1">
              <a:spLocks noChangeArrowheads="1"/>
            </p:cNvSpPr>
            <p:nvPr/>
          </p:nvSpPr>
          <p:spPr bwMode="auto">
            <a:xfrm>
              <a:off x="929" y="3422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CC0000"/>
                  </a:solidFill>
                  <a:latin typeface="RomanS" pitchFamily="2" charset="0"/>
                </a:rPr>
                <a:t>●</a:t>
              </a:r>
              <a:endParaRPr kumimoji="1" lang="en-US" altLang="zh-CN" sz="1400">
                <a:solidFill>
                  <a:srgbClr val="CC0000"/>
                </a:solidFill>
                <a:latin typeface="RomanS" pitchFamily="2" charset="0"/>
              </a:endParaRPr>
            </a:p>
          </p:txBody>
        </p:sp>
      </p:grpSp>
      <p:sp>
        <p:nvSpPr>
          <p:cNvPr id="84006" name="Line 51"/>
          <p:cNvSpPr>
            <a:spLocks noChangeShapeType="1"/>
          </p:cNvSpPr>
          <p:nvPr/>
        </p:nvSpPr>
        <p:spPr bwMode="auto">
          <a:xfrm flipV="1">
            <a:off x="4243388" y="2756297"/>
            <a:ext cx="0" cy="2881313"/>
          </a:xfrm>
          <a:prstGeom prst="line">
            <a:avLst/>
          </a:prstGeom>
          <a:noFill/>
          <a:ln w="19050">
            <a:solidFill>
              <a:srgbClr val="9900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007" name="Freeform 5"/>
          <p:cNvSpPr>
            <a:spLocks/>
          </p:cNvSpPr>
          <p:nvPr/>
        </p:nvSpPr>
        <p:spPr bwMode="auto">
          <a:xfrm>
            <a:off x="3180474" y="2762047"/>
            <a:ext cx="2091608" cy="896977"/>
          </a:xfrm>
          <a:custGeom>
            <a:avLst/>
            <a:gdLst>
              <a:gd name="T0" fmla="*/ 2147483647 w 1344"/>
              <a:gd name="T1" fmla="*/ 0 h 564"/>
              <a:gd name="T2" fmla="*/ 0 w 1344"/>
              <a:gd name="T3" fmla="*/ 2147483647 h 564"/>
              <a:gd name="T4" fmla="*/ 2147483647 w 1344"/>
              <a:gd name="T5" fmla="*/ 2147483647 h 564"/>
              <a:gd name="T6" fmla="*/ 2147483647 w 1344"/>
              <a:gd name="T7" fmla="*/ 0 h 564"/>
              <a:gd name="T8" fmla="*/ 0 60000 65536"/>
              <a:gd name="T9" fmla="*/ 0 60000 65536"/>
              <a:gd name="T10" fmla="*/ 0 60000 65536"/>
              <a:gd name="T11" fmla="*/ 0 60000 65536"/>
              <a:gd name="T12" fmla="*/ 0 w 1344"/>
              <a:gd name="T13" fmla="*/ 0 h 564"/>
              <a:gd name="T14" fmla="*/ 1344 w 1344"/>
              <a:gd name="T15" fmla="*/ 564 h 5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44" h="564">
                <a:moveTo>
                  <a:pt x="701" y="0"/>
                </a:moveTo>
                <a:lnTo>
                  <a:pt x="0" y="441"/>
                </a:lnTo>
                <a:lnTo>
                  <a:pt x="1344" y="564"/>
                </a:lnTo>
                <a:lnTo>
                  <a:pt x="701" y="0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4008" name="Line 9"/>
          <p:cNvSpPr>
            <a:spLocks noChangeShapeType="1"/>
          </p:cNvSpPr>
          <p:nvPr/>
        </p:nvSpPr>
        <p:spPr bwMode="auto">
          <a:xfrm flipV="1">
            <a:off x="3152776" y="2753121"/>
            <a:ext cx="1090613" cy="69215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84009" name="Group 45"/>
          <p:cNvGrpSpPr>
            <a:grpSpLocks/>
          </p:cNvGrpSpPr>
          <p:nvPr/>
        </p:nvGrpSpPr>
        <p:grpSpPr bwMode="auto">
          <a:xfrm>
            <a:off x="2998789" y="2977952"/>
            <a:ext cx="357167" cy="590545"/>
            <a:chOff x="1217" y="1561"/>
            <a:chExt cx="223" cy="345"/>
          </a:xfrm>
        </p:grpSpPr>
        <p:sp>
          <p:nvSpPr>
            <p:cNvPr id="84013" name="Rectangle 46"/>
            <p:cNvSpPr>
              <a:spLocks noChangeArrowheads="1"/>
            </p:cNvSpPr>
            <p:nvPr/>
          </p:nvSpPr>
          <p:spPr bwMode="auto">
            <a:xfrm>
              <a:off x="1291" y="1561"/>
              <a:ext cx="1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 dirty="0">
                  <a:solidFill>
                    <a:srgbClr val="FFFF00"/>
                  </a:solidFill>
                  <a:latin typeface="Dutch801 Rm BT" pitchFamily="18" charset="0"/>
                </a:rPr>
                <a:t>n</a:t>
              </a:r>
              <a:r>
                <a:rPr kumimoji="1" lang="en-US" altLang="zh-CN" sz="2400" dirty="0">
                  <a:solidFill>
                    <a:srgbClr val="FFFF00"/>
                  </a:solidFill>
                  <a:latin typeface="RomanS" pitchFamily="2" charset="0"/>
                </a:rPr>
                <a:t>′</a:t>
              </a:r>
            </a:p>
          </p:txBody>
        </p:sp>
        <p:sp>
          <p:nvSpPr>
            <p:cNvPr id="84014" name="Text Box 47"/>
            <p:cNvSpPr txBox="1">
              <a:spLocks noChangeArrowheads="1"/>
            </p:cNvSpPr>
            <p:nvPr/>
          </p:nvSpPr>
          <p:spPr bwMode="auto">
            <a:xfrm>
              <a:off x="1217" y="1752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FFFF00"/>
                  </a:solidFill>
                  <a:latin typeface="RomanS" pitchFamily="2" charset="0"/>
                </a:rPr>
                <a:t>●</a:t>
              </a:r>
              <a:endParaRPr kumimoji="1" lang="en-US" altLang="zh-CN" sz="1200">
                <a:solidFill>
                  <a:srgbClr val="FFFF00"/>
                </a:solidFill>
                <a:latin typeface="RomanS" pitchFamily="2" charset="0"/>
              </a:endParaRPr>
            </a:p>
          </p:txBody>
        </p:sp>
      </p:grpSp>
      <p:grpSp>
        <p:nvGrpSpPr>
          <p:cNvPr id="84010" name="Group 48"/>
          <p:cNvGrpSpPr>
            <a:grpSpLocks/>
          </p:cNvGrpSpPr>
          <p:nvPr/>
        </p:nvGrpSpPr>
        <p:grpSpPr bwMode="auto">
          <a:xfrm>
            <a:off x="4092579" y="2389584"/>
            <a:ext cx="582613" cy="493712"/>
            <a:chOff x="1897" y="1159"/>
            <a:chExt cx="367" cy="311"/>
          </a:xfrm>
        </p:grpSpPr>
        <p:sp>
          <p:nvSpPr>
            <p:cNvPr id="84011" name="Rectangle 49"/>
            <p:cNvSpPr>
              <a:spLocks noChangeArrowheads="1"/>
            </p:cNvSpPr>
            <p:nvPr/>
          </p:nvSpPr>
          <p:spPr bwMode="auto">
            <a:xfrm>
              <a:off x="2061" y="1159"/>
              <a:ext cx="20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en-US" altLang="zh-CN" sz="2400" i="1">
                  <a:solidFill>
                    <a:srgbClr val="FFFF00"/>
                  </a:solidFill>
                  <a:latin typeface="Dutch801 Rm BT" pitchFamily="18" charset="0"/>
                </a:rPr>
                <a:t>m</a:t>
              </a:r>
              <a:r>
                <a:rPr kumimoji="1" lang="en-US" altLang="zh-CN" sz="2400">
                  <a:solidFill>
                    <a:srgbClr val="FFFF00"/>
                  </a:solidFill>
                  <a:latin typeface="RomanS" pitchFamily="2" charset="0"/>
                </a:rPr>
                <a:t>′</a:t>
              </a:r>
            </a:p>
          </p:txBody>
        </p:sp>
        <p:sp>
          <p:nvSpPr>
            <p:cNvPr id="84012" name="Text Box 50"/>
            <p:cNvSpPr txBox="1">
              <a:spLocks noChangeArrowheads="1"/>
            </p:cNvSpPr>
            <p:nvPr/>
          </p:nvSpPr>
          <p:spPr bwMode="auto">
            <a:xfrm>
              <a:off x="1897" y="1316"/>
              <a:ext cx="196" cy="15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FFFF00"/>
                  </a:solidFill>
                  <a:latin typeface="RomanS" pitchFamily="2" charset="0"/>
                </a:rPr>
                <a:t>●</a:t>
              </a:r>
              <a:endParaRPr kumimoji="1" lang="en-US" altLang="zh-CN" sz="1200">
                <a:solidFill>
                  <a:srgbClr val="FFFF00"/>
                </a:solidFill>
                <a:latin typeface="RomanS" pitchFamily="2" charset="0"/>
              </a:endParaRPr>
            </a:p>
          </p:txBody>
        </p:sp>
      </p:grpSp>
      <p:sp>
        <p:nvSpPr>
          <p:cNvPr id="51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reeform 2"/>
          <p:cNvSpPr>
            <a:spLocks/>
          </p:cNvSpPr>
          <p:nvPr/>
        </p:nvSpPr>
        <p:spPr bwMode="auto">
          <a:xfrm>
            <a:off x="4162134" y="1650465"/>
            <a:ext cx="1472874" cy="1405872"/>
          </a:xfrm>
          <a:custGeom>
            <a:avLst/>
            <a:gdLst>
              <a:gd name="T0" fmla="*/ 0 w 912"/>
              <a:gd name="T1" fmla="*/ 0 h 894"/>
              <a:gd name="T2" fmla="*/ 2147483647 w 912"/>
              <a:gd name="T3" fmla="*/ 2147483647 h 894"/>
              <a:gd name="T4" fmla="*/ 0 60000 65536"/>
              <a:gd name="T5" fmla="*/ 0 60000 65536"/>
              <a:gd name="T6" fmla="*/ 0 w 912"/>
              <a:gd name="T7" fmla="*/ 0 h 894"/>
              <a:gd name="T8" fmla="*/ 912 w 912"/>
              <a:gd name="T9" fmla="*/ 894 h 8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12" h="894">
                <a:moveTo>
                  <a:pt x="0" y="0"/>
                </a:moveTo>
                <a:lnTo>
                  <a:pt x="912" y="894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4995" name="Line 3"/>
          <p:cNvSpPr>
            <a:spLocks noChangeShapeType="1"/>
          </p:cNvSpPr>
          <p:nvPr/>
        </p:nvSpPr>
        <p:spPr bwMode="auto">
          <a:xfrm flipV="1">
            <a:off x="2343150" y="4318396"/>
            <a:ext cx="1828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>
            <a:off x="4171950" y="4318396"/>
            <a:ext cx="14478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7" name="Freeform 5"/>
          <p:cNvSpPr>
            <a:spLocks/>
          </p:cNvSpPr>
          <p:nvPr/>
        </p:nvSpPr>
        <p:spPr bwMode="auto">
          <a:xfrm>
            <a:off x="3827470" y="4315223"/>
            <a:ext cx="344479" cy="238558"/>
          </a:xfrm>
          <a:custGeom>
            <a:avLst/>
            <a:gdLst>
              <a:gd name="T0" fmla="*/ 2147483647 w 194"/>
              <a:gd name="T1" fmla="*/ 0 h 118"/>
              <a:gd name="T2" fmla="*/ 0 w 194"/>
              <a:gd name="T3" fmla="*/ 2147483647 h 118"/>
              <a:gd name="T4" fmla="*/ 0 60000 65536"/>
              <a:gd name="T5" fmla="*/ 0 60000 65536"/>
              <a:gd name="T6" fmla="*/ 0 w 194"/>
              <a:gd name="T7" fmla="*/ 0 h 118"/>
              <a:gd name="T8" fmla="*/ 194 w 194"/>
              <a:gd name="T9" fmla="*/ 118 h 1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" h="118">
                <a:moveTo>
                  <a:pt x="194" y="0"/>
                </a:moveTo>
                <a:lnTo>
                  <a:pt x="0" y="118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4998" name="Line 6"/>
          <p:cNvSpPr>
            <a:spLocks noChangeShapeType="1"/>
          </p:cNvSpPr>
          <p:nvPr/>
        </p:nvSpPr>
        <p:spPr bwMode="auto">
          <a:xfrm flipV="1">
            <a:off x="2343150" y="1651396"/>
            <a:ext cx="1828800" cy="1676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999" name="Line 7"/>
          <p:cNvSpPr>
            <a:spLocks noChangeShapeType="1"/>
          </p:cNvSpPr>
          <p:nvPr/>
        </p:nvSpPr>
        <p:spPr bwMode="auto">
          <a:xfrm>
            <a:off x="2343150" y="3327796"/>
            <a:ext cx="0" cy="220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000" name="Line 8"/>
          <p:cNvSpPr>
            <a:spLocks noChangeShapeType="1"/>
          </p:cNvSpPr>
          <p:nvPr/>
        </p:nvSpPr>
        <p:spPr bwMode="auto">
          <a:xfrm>
            <a:off x="4171950" y="1651396"/>
            <a:ext cx="0" cy="2667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001" name="Line 9"/>
          <p:cNvSpPr>
            <a:spLocks noChangeShapeType="1"/>
          </p:cNvSpPr>
          <p:nvPr/>
        </p:nvSpPr>
        <p:spPr bwMode="auto">
          <a:xfrm>
            <a:off x="2343150" y="5537596"/>
            <a:ext cx="3276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002" name="Line 10"/>
          <p:cNvSpPr>
            <a:spLocks noChangeShapeType="1"/>
          </p:cNvSpPr>
          <p:nvPr/>
        </p:nvSpPr>
        <p:spPr bwMode="auto">
          <a:xfrm>
            <a:off x="5619750" y="3049984"/>
            <a:ext cx="0" cy="3173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5003" name="Freeform 11"/>
          <p:cNvSpPr>
            <a:spLocks/>
          </p:cNvSpPr>
          <p:nvPr/>
        </p:nvSpPr>
        <p:spPr bwMode="auto">
          <a:xfrm>
            <a:off x="2339988" y="3059509"/>
            <a:ext cx="3277558" cy="266054"/>
          </a:xfrm>
          <a:custGeom>
            <a:avLst/>
            <a:gdLst>
              <a:gd name="T0" fmla="*/ 0 w 2073"/>
              <a:gd name="T1" fmla="*/ 2147483647 h 175"/>
              <a:gd name="T2" fmla="*/ 2147483647 w 2073"/>
              <a:gd name="T3" fmla="*/ 0 h 175"/>
              <a:gd name="T4" fmla="*/ 0 60000 65536"/>
              <a:gd name="T5" fmla="*/ 0 60000 65536"/>
              <a:gd name="T6" fmla="*/ 0 w 2073"/>
              <a:gd name="T7" fmla="*/ 0 h 175"/>
              <a:gd name="T8" fmla="*/ 2073 w 2073"/>
              <a:gd name="T9" fmla="*/ 175 h 1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73" h="175">
                <a:moveTo>
                  <a:pt x="0" y="175"/>
                </a:moveTo>
                <a:lnTo>
                  <a:pt x="2073" y="0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04" name="Freeform 12"/>
          <p:cNvSpPr>
            <a:spLocks/>
          </p:cNvSpPr>
          <p:nvPr/>
        </p:nvSpPr>
        <p:spPr bwMode="auto">
          <a:xfrm>
            <a:off x="4241041" y="5384068"/>
            <a:ext cx="801647" cy="546529"/>
          </a:xfrm>
          <a:custGeom>
            <a:avLst/>
            <a:gdLst>
              <a:gd name="T0" fmla="*/ 0 w 1322"/>
              <a:gd name="T1" fmla="*/ 2147483647 h 904"/>
              <a:gd name="T2" fmla="*/ 2147483647 w 1322"/>
              <a:gd name="T3" fmla="*/ 0 h 904"/>
              <a:gd name="T4" fmla="*/ 0 60000 65536"/>
              <a:gd name="T5" fmla="*/ 0 60000 65536"/>
              <a:gd name="T6" fmla="*/ 0 w 1322"/>
              <a:gd name="T7" fmla="*/ 0 h 904"/>
              <a:gd name="T8" fmla="*/ 1322 w 1322"/>
              <a:gd name="T9" fmla="*/ 904 h 90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22" h="904">
                <a:moveTo>
                  <a:pt x="0" y="904"/>
                </a:moveTo>
                <a:lnTo>
                  <a:pt x="132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05" name="Freeform 13"/>
          <p:cNvSpPr>
            <a:spLocks/>
          </p:cNvSpPr>
          <p:nvPr/>
        </p:nvSpPr>
        <p:spPr bwMode="auto">
          <a:xfrm>
            <a:off x="3849239" y="4531504"/>
            <a:ext cx="590923" cy="102804"/>
          </a:xfrm>
          <a:custGeom>
            <a:avLst/>
            <a:gdLst>
              <a:gd name="T0" fmla="*/ 2147483647 w 1980"/>
              <a:gd name="T1" fmla="*/ 2147483647 h 358"/>
              <a:gd name="T2" fmla="*/ 0 w 1980"/>
              <a:gd name="T3" fmla="*/ 0 h 358"/>
              <a:gd name="T4" fmla="*/ 0 60000 65536"/>
              <a:gd name="T5" fmla="*/ 0 60000 65536"/>
              <a:gd name="T6" fmla="*/ 0 w 1980"/>
              <a:gd name="T7" fmla="*/ 0 h 358"/>
              <a:gd name="T8" fmla="*/ 1980 w 1980"/>
              <a:gd name="T9" fmla="*/ 358 h 3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80" h="358">
                <a:moveTo>
                  <a:pt x="1980" y="358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06" name="Line 14"/>
          <p:cNvSpPr>
            <a:spLocks noChangeShapeType="1"/>
          </p:cNvSpPr>
          <p:nvPr/>
        </p:nvSpPr>
        <p:spPr bwMode="auto">
          <a:xfrm>
            <a:off x="2646370" y="4316218"/>
            <a:ext cx="106680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007" name="Freeform 15"/>
          <p:cNvSpPr>
            <a:spLocks/>
          </p:cNvSpPr>
          <p:nvPr/>
        </p:nvSpPr>
        <p:spPr bwMode="auto">
          <a:xfrm>
            <a:off x="2656467" y="2309271"/>
            <a:ext cx="3136936" cy="391462"/>
          </a:xfrm>
          <a:custGeom>
            <a:avLst/>
            <a:gdLst>
              <a:gd name="T0" fmla="*/ 0 w 1991"/>
              <a:gd name="T1" fmla="*/ 0 h 296"/>
              <a:gd name="T2" fmla="*/ 2147483647 w 1991"/>
              <a:gd name="T3" fmla="*/ 2147483647 h 296"/>
              <a:gd name="T4" fmla="*/ 0 60000 65536"/>
              <a:gd name="T5" fmla="*/ 0 60000 65536"/>
              <a:gd name="T6" fmla="*/ 0 w 1991"/>
              <a:gd name="T7" fmla="*/ 0 h 296"/>
              <a:gd name="T8" fmla="*/ 1991 w 1991"/>
              <a:gd name="T9" fmla="*/ 296 h 2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91" h="296">
                <a:moveTo>
                  <a:pt x="0" y="0"/>
                </a:moveTo>
                <a:lnTo>
                  <a:pt x="1991" y="296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08" name="Line 16"/>
          <p:cNvSpPr>
            <a:spLocks noChangeShapeType="1"/>
          </p:cNvSpPr>
          <p:nvPr/>
        </p:nvSpPr>
        <p:spPr bwMode="auto">
          <a:xfrm flipV="1">
            <a:off x="2647950" y="2287984"/>
            <a:ext cx="0" cy="20304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5009" name="Freeform 17"/>
          <p:cNvSpPr>
            <a:spLocks/>
          </p:cNvSpPr>
          <p:nvPr/>
        </p:nvSpPr>
        <p:spPr bwMode="auto">
          <a:xfrm>
            <a:off x="5003801" y="4877472"/>
            <a:ext cx="785195" cy="534708"/>
          </a:xfrm>
          <a:custGeom>
            <a:avLst/>
            <a:gdLst>
              <a:gd name="T0" fmla="*/ 2147483647 w 494"/>
              <a:gd name="T1" fmla="*/ 0 h 339"/>
              <a:gd name="T2" fmla="*/ 0 w 494"/>
              <a:gd name="T3" fmla="*/ 2147483647 h 339"/>
              <a:gd name="T4" fmla="*/ 0 60000 65536"/>
              <a:gd name="T5" fmla="*/ 0 60000 65536"/>
              <a:gd name="T6" fmla="*/ 0 w 494"/>
              <a:gd name="T7" fmla="*/ 0 h 339"/>
              <a:gd name="T8" fmla="*/ 494 w 494"/>
              <a:gd name="T9" fmla="*/ 339 h 33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94" h="339">
                <a:moveTo>
                  <a:pt x="494" y="0"/>
                </a:moveTo>
                <a:lnTo>
                  <a:pt x="0" y="339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10" name="Freeform 18"/>
          <p:cNvSpPr>
            <a:spLocks/>
          </p:cNvSpPr>
          <p:nvPr/>
        </p:nvSpPr>
        <p:spPr bwMode="auto">
          <a:xfrm>
            <a:off x="2639434" y="4297755"/>
            <a:ext cx="1211224" cy="240753"/>
          </a:xfrm>
          <a:custGeom>
            <a:avLst/>
            <a:gdLst>
              <a:gd name="T0" fmla="*/ 0 w 766"/>
              <a:gd name="T1" fmla="*/ 0 h 132"/>
              <a:gd name="T2" fmla="*/ 2147483647 w 766"/>
              <a:gd name="T3" fmla="*/ 2147483647 h 132"/>
              <a:gd name="T4" fmla="*/ 0 60000 65536"/>
              <a:gd name="T5" fmla="*/ 0 60000 65536"/>
              <a:gd name="T6" fmla="*/ 0 w 766"/>
              <a:gd name="T7" fmla="*/ 0 h 132"/>
              <a:gd name="T8" fmla="*/ 766 w 766"/>
              <a:gd name="T9" fmla="*/ 132 h 1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66" h="132">
                <a:moveTo>
                  <a:pt x="0" y="0"/>
                </a:moveTo>
                <a:lnTo>
                  <a:pt x="766" y="132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11" name="Freeform 19"/>
          <p:cNvSpPr>
            <a:spLocks/>
          </p:cNvSpPr>
          <p:nvPr/>
        </p:nvSpPr>
        <p:spPr bwMode="auto">
          <a:xfrm>
            <a:off x="4213224" y="5929708"/>
            <a:ext cx="1391269" cy="282573"/>
          </a:xfrm>
          <a:custGeom>
            <a:avLst/>
            <a:gdLst>
              <a:gd name="T0" fmla="*/ 2147483647 w 880"/>
              <a:gd name="T1" fmla="*/ 2147483647 h 178"/>
              <a:gd name="T2" fmla="*/ 0 w 880"/>
              <a:gd name="T3" fmla="*/ 0 h 178"/>
              <a:gd name="T4" fmla="*/ 0 60000 65536"/>
              <a:gd name="T5" fmla="*/ 0 60000 65536"/>
              <a:gd name="T6" fmla="*/ 0 w 880"/>
              <a:gd name="T7" fmla="*/ 0 h 178"/>
              <a:gd name="T8" fmla="*/ 880 w 880"/>
              <a:gd name="T9" fmla="*/ 178 h 17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80" h="178">
                <a:moveTo>
                  <a:pt x="880" y="17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12" name="Freeform 20"/>
          <p:cNvSpPr>
            <a:spLocks/>
          </p:cNvSpPr>
          <p:nvPr/>
        </p:nvSpPr>
        <p:spPr bwMode="auto">
          <a:xfrm>
            <a:off x="5213958" y="5701108"/>
            <a:ext cx="398471" cy="503234"/>
          </a:xfrm>
          <a:custGeom>
            <a:avLst/>
            <a:gdLst>
              <a:gd name="T0" fmla="*/ 2147483647 w 386"/>
              <a:gd name="T1" fmla="*/ 2147483647 h 503"/>
              <a:gd name="T2" fmla="*/ 0 w 386"/>
              <a:gd name="T3" fmla="*/ 0 h 503"/>
              <a:gd name="T4" fmla="*/ 0 60000 65536"/>
              <a:gd name="T5" fmla="*/ 0 60000 65536"/>
              <a:gd name="T6" fmla="*/ 0 w 386"/>
              <a:gd name="T7" fmla="*/ 0 h 503"/>
              <a:gd name="T8" fmla="*/ 386 w 386"/>
              <a:gd name="T9" fmla="*/ 503 h 50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6" h="503">
                <a:moveTo>
                  <a:pt x="386" y="503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13" name="Line 21"/>
          <p:cNvSpPr>
            <a:spLocks noChangeShapeType="1"/>
          </p:cNvSpPr>
          <p:nvPr/>
        </p:nvSpPr>
        <p:spPr bwMode="auto">
          <a:xfrm>
            <a:off x="2343150" y="5537596"/>
            <a:ext cx="1066800" cy="22860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4950" name="Line 22"/>
          <p:cNvSpPr>
            <a:spLocks noChangeShapeType="1"/>
          </p:cNvSpPr>
          <p:nvPr/>
        </p:nvSpPr>
        <p:spPr bwMode="auto">
          <a:xfrm>
            <a:off x="3333750" y="4851797"/>
            <a:ext cx="1905000" cy="887413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3360739" y="4539060"/>
            <a:ext cx="1641476" cy="873125"/>
            <a:chOff x="1157" y="2389"/>
            <a:chExt cx="1034" cy="550"/>
          </a:xfrm>
        </p:grpSpPr>
        <p:sp>
          <p:nvSpPr>
            <p:cNvPr id="85078" name="Freeform 24"/>
            <p:cNvSpPr>
              <a:spLocks/>
            </p:cNvSpPr>
            <p:nvPr/>
          </p:nvSpPr>
          <p:spPr bwMode="auto">
            <a:xfrm>
              <a:off x="1822" y="2452"/>
              <a:ext cx="369" cy="487"/>
            </a:xfrm>
            <a:custGeom>
              <a:avLst/>
              <a:gdLst>
                <a:gd name="T0" fmla="*/ 0 w 367"/>
                <a:gd name="T1" fmla="*/ 0 h 480"/>
                <a:gd name="T2" fmla="*/ 367 w 367"/>
                <a:gd name="T3" fmla="*/ 480 h 480"/>
                <a:gd name="T4" fmla="*/ 0 60000 65536"/>
                <a:gd name="T5" fmla="*/ 0 60000 65536"/>
                <a:gd name="T6" fmla="*/ 0 w 367"/>
                <a:gd name="T7" fmla="*/ 0 h 480"/>
                <a:gd name="T8" fmla="*/ 367 w 367"/>
                <a:gd name="T9" fmla="*/ 480 h 4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7" h="480">
                  <a:moveTo>
                    <a:pt x="0" y="0"/>
                  </a:moveTo>
                  <a:lnTo>
                    <a:pt x="367" y="480"/>
                  </a:lnTo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079" name="Freeform 25"/>
            <p:cNvSpPr>
              <a:spLocks/>
            </p:cNvSpPr>
            <p:nvPr/>
          </p:nvSpPr>
          <p:spPr bwMode="auto">
            <a:xfrm>
              <a:off x="1157" y="2389"/>
              <a:ext cx="305" cy="207"/>
            </a:xfrm>
            <a:custGeom>
              <a:avLst/>
              <a:gdLst>
                <a:gd name="T0" fmla="*/ 325 w 325"/>
                <a:gd name="T1" fmla="*/ 0 h 226"/>
                <a:gd name="T2" fmla="*/ 14 w 325"/>
                <a:gd name="T3" fmla="*/ 212 h 226"/>
                <a:gd name="T4" fmla="*/ 0 w 325"/>
                <a:gd name="T5" fmla="*/ 226 h 226"/>
                <a:gd name="T6" fmla="*/ 0 60000 65536"/>
                <a:gd name="T7" fmla="*/ 0 60000 65536"/>
                <a:gd name="T8" fmla="*/ 0 60000 65536"/>
                <a:gd name="T9" fmla="*/ 0 w 325"/>
                <a:gd name="T10" fmla="*/ 0 h 226"/>
                <a:gd name="T11" fmla="*/ 325 w 325"/>
                <a:gd name="T12" fmla="*/ 226 h 2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5" h="226">
                  <a:moveTo>
                    <a:pt x="325" y="0"/>
                  </a:moveTo>
                  <a:lnTo>
                    <a:pt x="14" y="212"/>
                  </a:lnTo>
                  <a:lnTo>
                    <a:pt x="0" y="226"/>
                  </a:lnTo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5016" name="Freeform 26"/>
          <p:cNvSpPr>
            <a:spLocks/>
          </p:cNvSpPr>
          <p:nvPr/>
        </p:nvSpPr>
        <p:spPr bwMode="auto">
          <a:xfrm>
            <a:off x="4432300" y="4640658"/>
            <a:ext cx="1357557" cy="236813"/>
          </a:xfrm>
          <a:custGeom>
            <a:avLst/>
            <a:gdLst>
              <a:gd name="T0" fmla="*/ 2147483647 w 861"/>
              <a:gd name="T1" fmla="*/ 2147483647 h 155"/>
              <a:gd name="T2" fmla="*/ 0 w 861"/>
              <a:gd name="T3" fmla="*/ 0 h 155"/>
              <a:gd name="T4" fmla="*/ 0 60000 65536"/>
              <a:gd name="T5" fmla="*/ 0 60000 65536"/>
              <a:gd name="T6" fmla="*/ 0 w 861"/>
              <a:gd name="T7" fmla="*/ 0 h 155"/>
              <a:gd name="T8" fmla="*/ 861 w 861"/>
              <a:gd name="T9" fmla="*/ 155 h 15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61" h="155">
                <a:moveTo>
                  <a:pt x="861" y="15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028950" y="4546996"/>
            <a:ext cx="1970088" cy="1385888"/>
            <a:chOff x="948" y="2394"/>
            <a:chExt cx="1241" cy="873"/>
          </a:xfrm>
        </p:grpSpPr>
        <p:sp>
          <p:nvSpPr>
            <p:cNvPr id="85074" name="Line 28"/>
            <p:cNvSpPr>
              <a:spLocks noChangeShapeType="1"/>
            </p:cNvSpPr>
            <p:nvPr/>
          </p:nvSpPr>
          <p:spPr bwMode="auto">
            <a:xfrm>
              <a:off x="1188" y="3162"/>
              <a:ext cx="501" cy="105"/>
            </a:xfrm>
            <a:prstGeom prst="line">
              <a:avLst/>
            </a:prstGeom>
            <a:noFill/>
            <a:ln w="57150">
              <a:solidFill>
                <a:srgbClr val="66CC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075" name="Line 29"/>
            <p:cNvSpPr>
              <a:spLocks noChangeShapeType="1"/>
            </p:cNvSpPr>
            <p:nvPr/>
          </p:nvSpPr>
          <p:spPr bwMode="auto">
            <a:xfrm>
              <a:off x="1467" y="2394"/>
              <a:ext cx="365" cy="59"/>
            </a:xfrm>
            <a:prstGeom prst="line">
              <a:avLst/>
            </a:prstGeom>
            <a:noFill/>
            <a:ln w="57150">
              <a:solidFill>
                <a:srgbClr val="66CC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076" name="Line 30"/>
            <p:cNvSpPr>
              <a:spLocks noChangeShapeType="1"/>
            </p:cNvSpPr>
            <p:nvPr/>
          </p:nvSpPr>
          <p:spPr bwMode="auto">
            <a:xfrm flipV="1">
              <a:off x="948" y="2608"/>
              <a:ext cx="192" cy="122"/>
            </a:xfrm>
            <a:prstGeom prst="line">
              <a:avLst/>
            </a:prstGeom>
            <a:noFill/>
            <a:ln w="57150">
              <a:solidFill>
                <a:srgbClr val="66CC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077" name="Line 31"/>
            <p:cNvSpPr>
              <a:spLocks noChangeShapeType="1"/>
            </p:cNvSpPr>
            <p:nvPr/>
          </p:nvSpPr>
          <p:spPr bwMode="auto">
            <a:xfrm flipH="1">
              <a:off x="2052" y="2946"/>
              <a:ext cx="137" cy="81"/>
            </a:xfrm>
            <a:prstGeom prst="line">
              <a:avLst/>
            </a:prstGeom>
            <a:noFill/>
            <a:ln w="76200">
              <a:solidFill>
                <a:srgbClr val="66CC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4960" name="Line 32"/>
          <p:cNvSpPr>
            <a:spLocks noChangeShapeType="1"/>
          </p:cNvSpPr>
          <p:nvPr/>
        </p:nvSpPr>
        <p:spPr bwMode="auto">
          <a:xfrm>
            <a:off x="3333751" y="4851796"/>
            <a:ext cx="1457325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5019" name="Text Box 33"/>
          <p:cNvSpPr txBox="1">
            <a:spLocks noChangeArrowheads="1"/>
          </p:cNvSpPr>
          <p:nvPr/>
        </p:nvSpPr>
        <p:spPr bwMode="auto">
          <a:xfrm>
            <a:off x="5287964" y="3022996"/>
            <a:ext cx="395287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5020" name="Text Box 34"/>
          <p:cNvSpPr txBox="1">
            <a:spLocks noChangeArrowheads="1"/>
          </p:cNvSpPr>
          <p:nvPr/>
        </p:nvSpPr>
        <p:spPr bwMode="auto">
          <a:xfrm>
            <a:off x="3590925" y="2032396"/>
            <a:ext cx="42068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d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5021" name="Text Box 35"/>
          <p:cNvSpPr txBox="1">
            <a:spLocks noChangeArrowheads="1"/>
          </p:cNvSpPr>
          <p:nvPr/>
        </p:nvSpPr>
        <p:spPr bwMode="auto">
          <a:xfrm>
            <a:off x="5743820" y="2487365"/>
            <a:ext cx="409087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</a:rPr>
              <a:t>e</a:t>
            </a:r>
            <a:r>
              <a:rPr kumimoji="1" lang="en-US" altLang="zh-CN" sz="2400" b="1" dirty="0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5022" name="Text Box 36"/>
          <p:cNvSpPr txBox="1">
            <a:spLocks noChangeArrowheads="1"/>
          </p:cNvSpPr>
          <p:nvPr/>
        </p:nvSpPr>
        <p:spPr bwMode="auto">
          <a:xfrm>
            <a:off x="2394450" y="2030165"/>
            <a:ext cx="35618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f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5023" name="Text Box 37"/>
          <p:cNvSpPr txBox="1">
            <a:spLocks noChangeArrowheads="1"/>
          </p:cNvSpPr>
          <p:nvPr/>
        </p:nvSpPr>
        <p:spPr bwMode="auto">
          <a:xfrm>
            <a:off x="2039334" y="3020765"/>
            <a:ext cx="42030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5024" name="Text Box 38"/>
          <p:cNvSpPr txBox="1">
            <a:spLocks noChangeArrowheads="1"/>
          </p:cNvSpPr>
          <p:nvPr/>
        </p:nvSpPr>
        <p:spPr bwMode="auto">
          <a:xfrm>
            <a:off x="3895915" y="1315790"/>
            <a:ext cx="420308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85025" name="Line 39"/>
          <p:cNvSpPr>
            <a:spLocks noChangeShapeType="1"/>
          </p:cNvSpPr>
          <p:nvPr/>
        </p:nvSpPr>
        <p:spPr bwMode="auto">
          <a:xfrm flipV="1">
            <a:off x="3722687" y="2429269"/>
            <a:ext cx="0" cy="38862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026" name="Text Box 40"/>
          <p:cNvSpPr txBox="1">
            <a:spLocks noChangeArrowheads="1"/>
          </p:cNvSpPr>
          <p:nvPr/>
        </p:nvSpPr>
        <p:spPr bwMode="auto">
          <a:xfrm>
            <a:off x="2046056" y="5306765"/>
            <a:ext cx="343364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a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5027" name="Text Box 41"/>
          <p:cNvSpPr txBox="1">
            <a:spLocks noChangeArrowheads="1"/>
          </p:cNvSpPr>
          <p:nvPr/>
        </p:nvSpPr>
        <p:spPr bwMode="auto">
          <a:xfrm>
            <a:off x="4137587" y="4011365"/>
            <a:ext cx="343364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b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5028" name="Text Box 42"/>
          <p:cNvSpPr txBox="1">
            <a:spLocks noChangeArrowheads="1"/>
          </p:cNvSpPr>
          <p:nvPr/>
        </p:nvSpPr>
        <p:spPr bwMode="auto">
          <a:xfrm>
            <a:off x="5586414" y="5994796"/>
            <a:ext cx="319087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c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5029" name="Text Box 43"/>
          <p:cNvSpPr txBox="1">
            <a:spLocks noChangeArrowheads="1"/>
          </p:cNvSpPr>
          <p:nvPr/>
        </p:nvSpPr>
        <p:spPr bwMode="auto">
          <a:xfrm>
            <a:off x="3543300" y="6223396"/>
            <a:ext cx="34448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 dirty="0">
                <a:latin typeface="Dutch801 Rm BT" pitchFamily="18" charset="0"/>
              </a:rPr>
              <a:t>d</a:t>
            </a:r>
            <a:endParaRPr lang="en-US" altLang="zh-CN" sz="2400" b="1" dirty="0">
              <a:latin typeface="Times New Roman" pitchFamily="18" charset="0"/>
            </a:endParaRPr>
          </a:p>
        </p:txBody>
      </p:sp>
      <p:sp>
        <p:nvSpPr>
          <p:cNvPr id="85030" name="Text Box 44"/>
          <p:cNvSpPr txBox="1">
            <a:spLocks noChangeArrowheads="1"/>
          </p:cNvSpPr>
          <p:nvPr/>
        </p:nvSpPr>
        <p:spPr bwMode="auto">
          <a:xfrm>
            <a:off x="5793405" y="4620965"/>
            <a:ext cx="332143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400" i="1">
                <a:latin typeface="Dutch801 Rm BT" pitchFamily="18" charset="0"/>
              </a:rPr>
              <a:t>e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85031" name="Text Box 45"/>
          <p:cNvSpPr txBox="1">
            <a:spLocks noChangeArrowheads="1"/>
          </p:cNvSpPr>
          <p:nvPr/>
        </p:nvSpPr>
        <p:spPr bwMode="auto">
          <a:xfrm>
            <a:off x="2346325" y="4119960"/>
            <a:ext cx="31908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CN" sz="2000" b="1">
                <a:latin typeface="Italic" pitchFamily="2" charset="0"/>
              </a:rPr>
              <a:t>f</a:t>
            </a:r>
            <a:endParaRPr lang="en-US" altLang="zh-CN" sz="2400" b="1">
              <a:latin typeface="Times New Roman" pitchFamily="18" charset="0"/>
            </a:endParaRP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3058316" y="5071153"/>
            <a:ext cx="1722438" cy="850901"/>
            <a:chOff x="641" y="3008"/>
            <a:chExt cx="1085" cy="536"/>
          </a:xfrm>
        </p:grpSpPr>
        <p:sp>
          <p:nvSpPr>
            <p:cNvPr id="85072" name="Line 47"/>
            <p:cNvSpPr>
              <a:spLocks noChangeShapeType="1"/>
            </p:cNvSpPr>
            <p:nvPr/>
          </p:nvSpPr>
          <p:spPr bwMode="auto">
            <a:xfrm flipV="1">
              <a:off x="1390" y="3313"/>
              <a:ext cx="336" cy="23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073" name="Freeform 48"/>
            <p:cNvSpPr>
              <a:spLocks/>
            </p:cNvSpPr>
            <p:nvPr/>
          </p:nvSpPr>
          <p:spPr bwMode="auto">
            <a:xfrm>
              <a:off x="641" y="3008"/>
              <a:ext cx="244" cy="449"/>
            </a:xfrm>
            <a:custGeom>
              <a:avLst/>
              <a:gdLst>
                <a:gd name="T0" fmla="*/ 0 w 212"/>
                <a:gd name="T1" fmla="*/ 0 h 396"/>
                <a:gd name="T2" fmla="*/ 429 w 212"/>
                <a:gd name="T3" fmla="*/ 981 h 396"/>
                <a:gd name="T4" fmla="*/ 0 60000 65536"/>
                <a:gd name="T5" fmla="*/ 0 60000 65536"/>
                <a:gd name="T6" fmla="*/ 0 w 212"/>
                <a:gd name="T7" fmla="*/ 0 h 396"/>
                <a:gd name="T8" fmla="*/ 212 w 212"/>
                <a:gd name="T9" fmla="*/ 396 h 3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2" h="396">
                  <a:moveTo>
                    <a:pt x="0" y="0"/>
                  </a:moveTo>
                  <a:lnTo>
                    <a:pt x="212" y="396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4977" name="Line 49"/>
          <p:cNvSpPr>
            <a:spLocks noChangeShapeType="1"/>
          </p:cNvSpPr>
          <p:nvPr/>
        </p:nvSpPr>
        <p:spPr bwMode="auto">
          <a:xfrm flipV="1">
            <a:off x="3344863" y="2413396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4978" name="Line 50"/>
          <p:cNvSpPr>
            <a:spLocks noChangeShapeType="1"/>
          </p:cNvSpPr>
          <p:nvPr/>
        </p:nvSpPr>
        <p:spPr bwMode="auto">
          <a:xfrm flipV="1">
            <a:off x="5200651" y="2641996"/>
            <a:ext cx="0" cy="3124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4979" name="Freeform 51"/>
          <p:cNvSpPr>
            <a:spLocks/>
          </p:cNvSpPr>
          <p:nvPr/>
        </p:nvSpPr>
        <p:spPr bwMode="auto">
          <a:xfrm>
            <a:off x="4813269" y="2581571"/>
            <a:ext cx="405123" cy="47198"/>
          </a:xfrm>
          <a:custGeom>
            <a:avLst/>
            <a:gdLst>
              <a:gd name="T0" fmla="*/ 0 w 270"/>
              <a:gd name="T1" fmla="*/ 0 h 44"/>
              <a:gd name="T2" fmla="*/ 2147483647 w 270"/>
              <a:gd name="T3" fmla="*/ 2147483647 h 44"/>
              <a:gd name="T4" fmla="*/ 0 60000 65536"/>
              <a:gd name="T5" fmla="*/ 0 60000 65536"/>
              <a:gd name="T6" fmla="*/ 0 w 270"/>
              <a:gd name="T7" fmla="*/ 0 h 44"/>
              <a:gd name="T8" fmla="*/ 270 w 270"/>
              <a:gd name="T9" fmla="*/ 44 h 4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0" h="44">
                <a:moveTo>
                  <a:pt x="0" y="0"/>
                </a:moveTo>
                <a:lnTo>
                  <a:pt x="270" y="44"/>
                </a:lnTo>
              </a:path>
            </a:pathLst>
          </a:custGeom>
          <a:noFill/>
          <a:ln w="57150">
            <a:solidFill>
              <a:srgbClr val="66CCFF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4980" name="Line 52"/>
          <p:cNvSpPr>
            <a:spLocks noChangeShapeType="1"/>
          </p:cNvSpPr>
          <p:nvPr/>
        </p:nvSpPr>
        <p:spPr bwMode="auto">
          <a:xfrm flipV="1">
            <a:off x="4799013" y="2565796"/>
            <a:ext cx="0" cy="2971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037" name="Line 53"/>
          <p:cNvSpPr>
            <a:spLocks noChangeShapeType="1"/>
          </p:cNvSpPr>
          <p:nvPr/>
        </p:nvSpPr>
        <p:spPr bwMode="auto">
          <a:xfrm>
            <a:off x="1885950" y="3784996"/>
            <a:ext cx="4343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038" name="Text Box 54"/>
          <p:cNvSpPr txBox="1">
            <a:spLocks noChangeArrowheads="1"/>
          </p:cNvSpPr>
          <p:nvPr/>
        </p:nvSpPr>
        <p:spPr bwMode="auto">
          <a:xfrm>
            <a:off x="1268449" y="1315790"/>
            <a:ext cx="596638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3200" b="1" dirty="0">
                <a:latin typeface="Times New Roman" pitchFamily="18" charset="0"/>
              </a:rPr>
              <a:t>⑶</a:t>
            </a:r>
          </a:p>
        </p:txBody>
      </p:sp>
      <p:sp>
        <p:nvSpPr>
          <p:cNvPr id="124983" name="Text Box 55"/>
          <p:cNvSpPr txBox="1">
            <a:spLocks noChangeArrowheads="1"/>
          </p:cNvSpPr>
          <p:nvPr/>
        </p:nvSpPr>
        <p:spPr bwMode="auto">
          <a:xfrm>
            <a:off x="7939368" y="2209007"/>
            <a:ext cx="1627369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投影分析</a:t>
            </a:r>
          </a:p>
        </p:txBody>
      </p:sp>
      <p:sp>
        <p:nvSpPr>
          <p:cNvPr id="124984" name="Text Box 56"/>
          <p:cNvSpPr txBox="1">
            <a:spLocks noChangeArrowheads="1"/>
          </p:cNvSpPr>
          <p:nvPr/>
        </p:nvSpPr>
        <p:spPr bwMode="auto">
          <a:xfrm>
            <a:off x="7092195" y="2918679"/>
            <a:ext cx="3530137" cy="267765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 </a:t>
            </a:r>
            <a:r>
              <a:rPr lang="en-US" altLang="zh-CN" sz="2400" b="1" dirty="0">
                <a:latin typeface="Times New Roman" pitchFamily="18" charset="0"/>
              </a:rPr>
              <a:t>N</a:t>
            </a:r>
            <a:r>
              <a:rPr lang="zh-CN" altLang="en-US" sz="2400" b="1" dirty="0">
                <a:latin typeface="Times New Roman" pitchFamily="18" charset="0"/>
              </a:rPr>
              <a:t>点的水平投影</a:t>
            </a:r>
            <a:r>
              <a:rPr kumimoji="1" lang="en-US" altLang="zh-CN" sz="2400" i="1" dirty="0">
                <a:latin typeface="Dutch801 Rm BT" pitchFamily="18" charset="0"/>
              </a:rPr>
              <a:t>n</a:t>
            </a:r>
            <a:r>
              <a:rPr lang="zh-CN" altLang="en-US" sz="2400" b="1" dirty="0">
                <a:latin typeface="Times New Roman" pitchFamily="18" charset="0"/>
              </a:rPr>
              <a:t>位于</a:t>
            </a:r>
            <a:r>
              <a:rPr lang="en-US" altLang="zh-CN" sz="2400" b="1" dirty="0" err="1">
                <a:latin typeface="Times New Roman" pitchFamily="18" charset="0"/>
              </a:rPr>
              <a:t>Δ</a:t>
            </a:r>
            <a:r>
              <a:rPr kumimoji="1" lang="en-US" altLang="zh-CN" sz="2400" i="1" dirty="0" err="1">
                <a:latin typeface="Dutch801 Rm BT" pitchFamily="18" charset="0"/>
              </a:rPr>
              <a:t>def</a:t>
            </a:r>
            <a:r>
              <a:rPr kumimoji="1" lang="en-US" altLang="zh-CN" sz="2400" i="1" dirty="0">
                <a:latin typeface="Dutch801 Rm BT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的外面，说明点</a:t>
            </a:r>
            <a:r>
              <a:rPr lang="en-US" altLang="zh-CN" sz="2400" b="1" dirty="0">
                <a:latin typeface="Times New Roman" pitchFamily="18" charset="0"/>
              </a:rPr>
              <a:t>N</a:t>
            </a:r>
            <a:r>
              <a:rPr lang="zh-CN" altLang="en-US" sz="2400" b="1" dirty="0">
                <a:latin typeface="Times New Roman" pitchFamily="18" charset="0"/>
              </a:rPr>
              <a:t>位于</a:t>
            </a:r>
            <a:r>
              <a:rPr lang="en-US" altLang="zh-CN" sz="2400" b="1" dirty="0">
                <a:latin typeface="Times New Roman" pitchFamily="18" charset="0"/>
              </a:rPr>
              <a:t>ΔDEF</a:t>
            </a:r>
            <a:r>
              <a:rPr lang="zh-CN" altLang="en-US" sz="2400" b="1" dirty="0">
                <a:latin typeface="Times New Roman" pitchFamily="18" charset="0"/>
              </a:rPr>
              <a:t>所确定的平面内，但不位于</a:t>
            </a:r>
            <a:r>
              <a:rPr lang="en-US" altLang="zh-CN" sz="2400" b="1" dirty="0">
                <a:latin typeface="Times New Roman" pitchFamily="18" charset="0"/>
              </a:rPr>
              <a:t>ΔDEF</a:t>
            </a:r>
            <a:r>
              <a:rPr lang="zh-CN" altLang="en-US" sz="2400" b="1" dirty="0">
                <a:latin typeface="Times New Roman" pitchFamily="18" charset="0"/>
              </a:rPr>
              <a:t>这个图形内。</a:t>
            </a:r>
          </a:p>
          <a:p>
            <a:r>
              <a:rPr lang="zh-CN" altLang="en-US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Times New Roman" pitchFamily="18" charset="0"/>
              </a:rPr>
              <a:t>所以</a:t>
            </a:r>
            <a:r>
              <a:rPr lang="en-US" altLang="zh-CN" sz="2400" b="1" dirty="0">
                <a:latin typeface="Times New Roman" pitchFamily="18" charset="0"/>
              </a:rPr>
              <a:t>ΔABC</a:t>
            </a:r>
            <a:r>
              <a:rPr lang="zh-CN" altLang="en-US" sz="2400" b="1" dirty="0">
                <a:latin typeface="Times New Roman" pitchFamily="18" charset="0"/>
              </a:rPr>
              <a:t>和</a:t>
            </a:r>
            <a:r>
              <a:rPr lang="en-US" altLang="zh-CN" sz="2400" b="1" dirty="0">
                <a:latin typeface="Times New Roman" pitchFamily="18" charset="0"/>
              </a:rPr>
              <a:t>ΔDEF</a:t>
            </a:r>
            <a:r>
              <a:rPr lang="zh-CN" altLang="en-US" sz="2400" b="1" dirty="0">
                <a:latin typeface="Times New Roman" pitchFamily="18" charset="0"/>
              </a:rPr>
              <a:t>的交线应为</a:t>
            </a:r>
            <a:r>
              <a:rPr lang="en-US" altLang="zh-CN" sz="2400" b="1" dirty="0">
                <a:latin typeface="Times New Roman" pitchFamily="18" charset="0"/>
              </a:rPr>
              <a:t>MK</a:t>
            </a:r>
            <a:r>
              <a:rPr lang="zh-CN" altLang="en-US" sz="2400" b="1" dirty="0">
                <a:latin typeface="Times New Roman" pitchFamily="18" charset="0"/>
              </a:rPr>
              <a:t>。</a:t>
            </a:r>
          </a:p>
        </p:txBody>
      </p:sp>
      <p:sp>
        <p:nvSpPr>
          <p:cNvPr id="85041" name="Freeform 57"/>
          <p:cNvSpPr>
            <a:spLocks/>
          </p:cNvSpPr>
          <p:nvPr/>
        </p:nvSpPr>
        <p:spPr bwMode="auto">
          <a:xfrm>
            <a:off x="4158644" y="4306738"/>
            <a:ext cx="275605" cy="348970"/>
          </a:xfrm>
          <a:custGeom>
            <a:avLst/>
            <a:gdLst>
              <a:gd name="T0" fmla="*/ 0 w 173"/>
              <a:gd name="T1" fmla="*/ 0 h 231"/>
              <a:gd name="T2" fmla="*/ 2147483647 w 173"/>
              <a:gd name="T3" fmla="*/ 2147483647 h 231"/>
              <a:gd name="T4" fmla="*/ 0 60000 65536"/>
              <a:gd name="T5" fmla="*/ 0 60000 65536"/>
              <a:gd name="T6" fmla="*/ 0 w 173"/>
              <a:gd name="T7" fmla="*/ 0 h 231"/>
              <a:gd name="T8" fmla="*/ 173 w 173"/>
              <a:gd name="T9" fmla="*/ 231 h 23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3" h="231">
                <a:moveTo>
                  <a:pt x="0" y="0"/>
                </a:moveTo>
                <a:lnTo>
                  <a:pt x="173" y="231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42" name="Line 58"/>
          <p:cNvSpPr>
            <a:spLocks noChangeShapeType="1"/>
          </p:cNvSpPr>
          <p:nvPr/>
        </p:nvSpPr>
        <p:spPr bwMode="auto">
          <a:xfrm flipV="1">
            <a:off x="2343151" y="5070872"/>
            <a:ext cx="722313" cy="466725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5043" name="Freeform 59"/>
          <p:cNvSpPr>
            <a:spLocks/>
          </p:cNvSpPr>
          <p:nvPr/>
        </p:nvSpPr>
        <p:spPr bwMode="auto">
          <a:xfrm>
            <a:off x="2644776" y="4316162"/>
            <a:ext cx="411161" cy="763679"/>
          </a:xfrm>
          <a:custGeom>
            <a:avLst/>
            <a:gdLst>
              <a:gd name="T0" fmla="*/ 0 w 263"/>
              <a:gd name="T1" fmla="*/ 0 h 499"/>
              <a:gd name="T2" fmla="*/ 2147483647 w 263"/>
              <a:gd name="T3" fmla="*/ 2147483647 h 499"/>
              <a:gd name="T4" fmla="*/ 0 60000 65536"/>
              <a:gd name="T5" fmla="*/ 0 60000 65536"/>
              <a:gd name="T6" fmla="*/ 0 w 263"/>
              <a:gd name="T7" fmla="*/ 0 h 499"/>
              <a:gd name="T8" fmla="*/ 263 w 263"/>
              <a:gd name="T9" fmla="*/ 499 h 49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3" h="499">
                <a:moveTo>
                  <a:pt x="0" y="0"/>
                </a:moveTo>
                <a:lnTo>
                  <a:pt x="263" y="499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44" name="Freeform 60"/>
          <p:cNvSpPr>
            <a:spLocks/>
          </p:cNvSpPr>
          <p:nvPr/>
        </p:nvSpPr>
        <p:spPr bwMode="auto">
          <a:xfrm>
            <a:off x="3425208" y="5766195"/>
            <a:ext cx="297473" cy="543442"/>
          </a:xfrm>
          <a:custGeom>
            <a:avLst/>
            <a:gdLst>
              <a:gd name="T0" fmla="*/ 2147483647 w 197"/>
              <a:gd name="T1" fmla="*/ 2147483647 h 353"/>
              <a:gd name="T2" fmla="*/ 0 w 197"/>
              <a:gd name="T3" fmla="*/ 0 h 353"/>
              <a:gd name="T4" fmla="*/ 0 60000 65536"/>
              <a:gd name="T5" fmla="*/ 0 60000 65536"/>
              <a:gd name="T6" fmla="*/ 0 w 197"/>
              <a:gd name="T7" fmla="*/ 0 h 353"/>
              <a:gd name="T8" fmla="*/ 197 w 197"/>
              <a:gd name="T9" fmla="*/ 353 h 35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7" h="353">
                <a:moveTo>
                  <a:pt x="197" y="353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5045" name="Line 61"/>
          <p:cNvSpPr>
            <a:spLocks noChangeShapeType="1"/>
          </p:cNvSpPr>
          <p:nvPr/>
        </p:nvSpPr>
        <p:spPr bwMode="auto">
          <a:xfrm flipV="1">
            <a:off x="3717350" y="5920602"/>
            <a:ext cx="533400" cy="381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" name="Group 62"/>
          <p:cNvGrpSpPr>
            <a:grpSpLocks/>
          </p:cNvGrpSpPr>
          <p:nvPr/>
        </p:nvGrpSpPr>
        <p:grpSpPr bwMode="auto">
          <a:xfrm>
            <a:off x="3070225" y="4546997"/>
            <a:ext cx="1947863" cy="1389062"/>
            <a:chOff x="974" y="2394"/>
            <a:chExt cx="1227" cy="875"/>
          </a:xfrm>
        </p:grpSpPr>
        <p:sp>
          <p:nvSpPr>
            <p:cNvPr id="85068" name="Freeform 63"/>
            <p:cNvSpPr>
              <a:spLocks/>
            </p:cNvSpPr>
            <p:nvPr/>
          </p:nvSpPr>
          <p:spPr bwMode="auto">
            <a:xfrm>
              <a:off x="1463" y="2394"/>
              <a:ext cx="355" cy="59"/>
            </a:xfrm>
            <a:custGeom>
              <a:avLst/>
              <a:gdLst>
                <a:gd name="T0" fmla="*/ 0 w 353"/>
                <a:gd name="T1" fmla="*/ 0 h 68"/>
                <a:gd name="T2" fmla="*/ 353 w 353"/>
                <a:gd name="T3" fmla="*/ 68 h 68"/>
                <a:gd name="T4" fmla="*/ 0 60000 65536"/>
                <a:gd name="T5" fmla="*/ 0 60000 65536"/>
                <a:gd name="T6" fmla="*/ 0 w 353"/>
                <a:gd name="T7" fmla="*/ 0 h 68"/>
                <a:gd name="T8" fmla="*/ 353 w 353"/>
                <a:gd name="T9" fmla="*/ 68 h 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3" h="68">
                  <a:moveTo>
                    <a:pt x="0" y="0"/>
                  </a:moveTo>
                  <a:lnTo>
                    <a:pt x="353" y="68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069" name="Freeform 64"/>
            <p:cNvSpPr>
              <a:spLocks/>
            </p:cNvSpPr>
            <p:nvPr/>
          </p:nvSpPr>
          <p:spPr bwMode="auto">
            <a:xfrm>
              <a:off x="1193" y="3162"/>
              <a:ext cx="513" cy="107"/>
            </a:xfrm>
            <a:custGeom>
              <a:avLst/>
              <a:gdLst>
                <a:gd name="T0" fmla="*/ 0 w 537"/>
                <a:gd name="T1" fmla="*/ 0 h 103"/>
                <a:gd name="T2" fmla="*/ 273 w 537"/>
                <a:gd name="T3" fmla="*/ 156 h 103"/>
                <a:gd name="T4" fmla="*/ 0 60000 65536"/>
                <a:gd name="T5" fmla="*/ 0 60000 65536"/>
                <a:gd name="T6" fmla="*/ 0 w 537"/>
                <a:gd name="T7" fmla="*/ 0 h 103"/>
                <a:gd name="T8" fmla="*/ 537 w 537"/>
                <a:gd name="T9" fmla="*/ 103 h 10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7" h="103">
                  <a:moveTo>
                    <a:pt x="0" y="0"/>
                  </a:moveTo>
                  <a:lnTo>
                    <a:pt x="537" y="103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070" name="Freeform 65"/>
            <p:cNvSpPr>
              <a:spLocks/>
            </p:cNvSpPr>
            <p:nvPr/>
          </p:nvSpPr>
          <p:spPr bwMode="auto">
            <a:xfrm>
              <a:off x="974" y="2606"/>
              <a:ext cx="181" cy="112"/>
            </a:xfrm>
            <a:custGeom>
              <a:avLst/>
              <a:gdLst>
                <a:gd name="T0" fmla="*/ 0 w 181"/>
                <a:gd name="T1" fmla="*/ 132 h 132"/>
                <a:gd name="T2" fmla="*/ 181 w 181"/>
                <a:gd name="T3" fmla="*/ 0 h 132"/>
                <a:gd name="T4" fmla="*/ 0 60000 65536"/>
                <a:gd name="T5" fmla="*/ 0 60000 65536"/>
                <a:gd name="T6" fmla="*/ 0 w 181"/>
                <a:gd name="T7" fmla="*/ 0 h 132"/>
                <a:gd name="T8" fmla="*/ 181 w 181"/>
                <a:gd name="T9" fmla="*/ 132 h 1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1" h="132">
                  <a:moveTo>
                    <a:pt x="0" y="132"/>
                  </a:moveTo>
                  <a:lnTo>
                    <a:pt x="181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071" name="Freeform 66"/>
            <p:cNvSpPr>
              <a:spLocks/>
            </p:cNvSpPr>
            <p:nvPr/>
          </p:nvSpPr>
          <p:spPr bwMode="auto">
            <a:xfrm>
              <a:off x="2077" y="2935"/>
              <a:ext cx="124" cy="79"/>
            </a:xfrm>
            <a:custGeom>
              <a:avLst/>
              <a:gdLst>
                <a:gd name="T0" fmla="*/ 0 w 116"/>
                <a:gd name="T1" fmla="*/ 71 h 71"/>
                <a:gd name="T2" fmla="*/ 116 w 116"/>
                <a:gd name="T3" fmla="*/ 0 h 71"/>
                <a:gd name="T4" fmla="*/ 0 60000 65536"/>
                <a:gd name="T5" fmla="*/ 0 60000 65536"/>
                <a:gd name="T6" fmla="*/ 0 w 116"/>
                <a:gd name="T7" fmla="*/ 0 h 71"/>
                <a:gd name="T8" fmla="*/ 116 w 116"/>
                <a:gd name="T9" fmla="*/ 71 h 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6" h="71">
                  <a:moveTo>
                    <a:pt x="0" y="71"/>
                  </a:moveTo>
                  <a:lnTo>
                    <a:pt x="116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4995" name="Freeform 67"/>
          <p:cNvSpPr>
            <a:spLocks/>
          </p:cNvSpPr>
          <p:nvPr/>
        </p:nvSpPr>
        <p:spPr bwMode="auto">
          <a:xfrm>
            <a:off x="4810610" y="2583395"/>
            <a:ext cx="417513" cy="48272"/>
          </a:xfrm>
          <a:custGeom>
            <a:avLst/>
            <a:gdLst>
              <a:gd name="T0" fmla="*/ 0 w 318"/>
              <a:gd name="T1" fmla="*/ 0 h 51"/>
              <a:gd name="T2" fmla="*/ 2147483647 w 318"/>
              <a:gd name="T3" fmla="*/ 2147483647 h 51"/>
              <a:gd name="T4" fmla="*/ 0 60000 65536"/>
              <a:gd name="T5" fmla="*/ 0 60000 65536"/>
              <a:gd name="T6" fmla="*/ 0 w 318"/>
              <a:gd name="T7" fmla="*/ 0 h 51"/>
              <a:gd name="T8" fmla="*/ 318 w 318"/>
              <a:gd name="T9" fmla="*/ 51 h 5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51">
                <a:moveTo>
                  <a:pt x="0" y="0"/>
                </a:moveTo>
                <a:lnTo>
                  <a:pt x="318" y="51"/>
                </a:lnTo>
              </a:path>
            </a:pathLst>
          </a:custGeom>
          <a:noFill/>
          <a:ln w="19050">
            <a:solidFill>
              <a:schemeClr val="accent2"/>
            </a:solidFill>
            <a:prstDash val="dash"/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68"/>
          <p:cNvGrpSpPr>
            <a:grpSpLocks/>
          </p:cNvGrpSpPr>
          <p:nvPr/>
        </p:nvGrpSpPr>
        <p:grpSpPr bwMode="auto">
          <a:xfrm>
            <a:off x="5059356" y="5474097"/>
            <a:ext cx="617538" cy="396875"/>
            <a:chOff x="2284" y="2755"/>
            <a:chExt cx="389" cy="250"/>
          </a:xfrm>
        </p:grpSpPr>
        <p:sp>
          <p:nvSpPr>
            <p:cNvPr id="85066" name="Text Box 69"/>
            <p:cNvSpPr txBox="1">
              <a:spLocks noChangeArrowheads="1"/>
            </p:cNvSpPr>
            <p:nvPr/>
          </p:nvSpPr>
          <p:spPr bwMode="auto">
            <a:xfrm>
              <a:off x="2302" y="2755"/>
              <a:ext cx="371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000" b="1">
                  <a:latin typeface="Italic" pitchFamily="2" charset="0"/>
                </a:rPr>
                <a:t> n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85067" name="Text Box 70"/>
            <p:cNvSpPr txBox="1">
              <a:spLocks noChangeArrowheads="1"/>
            </p:cNvSpPr>
            <p:nvPr/>
          </p:nvSpPr>
          <p:spPr bwMode="auto">
            <a:xfrm>
              <a:off x="2284" y="2832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rgbClr val="CC00CC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7" name="Group 71"/>
          <p:cNvGrpSpPr>
            <a:grpSpLocks/>
          </p:cNvGrpSpPr>
          <p:nvPr/>
        </p:nvGrpSpPr>
        <p:grpSpPr bwMode="auto">
          <a:xfrm>
            <a:off x="5032450" y="2260998"/>
            <a:ext cx="563573" cy="496888"/>
            <a:chOff x="2270" y="720"/>
            <a:chExt cx="355" cy="313"/>
          </a:xfrm>
        </p:grpSpPr>
        <p:sp>
          <p:nvSpPr>
            <p:cNvPr id="85064" name="Text Box 72"/>
            <p:cNvSpPr txBox="1">
              <a:spLocks noChangeArrowheads="1"/>
            </p:cNvSpPr>
            <p:nvPr/>
          </p:nvSpPr>
          <p:spPr bwMode="auto">
            <a:xfrm>
              <a:off x="2357" y="720"/>
              <a:ext cx="26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n</a:t>
              </a:r>
              <a:r>
                <a:rPr kumimoji="1" lang="en-US" altLang="zh-CN" sz="2400" b="1" dirty="0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5065" name="Text Box 73"/>
            <p:cNvSpPr txBox="1">
              <a:spLocks noChangeArrowheads="1"/>
            </p:cNvSpPr>
            <p:nvPr/>
          </p:nvSpPr>
          <p:spPr bwMode="auto">
            <a:xfrm>
              <a:off x="2270" y="879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rgbClr val="CC00CC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8" name="Group 74"/>
          <p:cNvGrpSpPr>
            <a:grpSpLocks/>
          </p:cNvGrpSpPr>
          <p:nvPr/>
        </p:nvGrpSpPr>
        <p:grpSpPr bwMode="auto">
          <a:xfrm>
            <a:off x="2994025" y="1967309"/>
            <a:ext cx="609600" cy="571500"/>
            <a:chOff x="1000" y="528"/>
            <a:chExt cx="384" cy="360"/>
          </a:xfrm>
        </p:grpSpPr>
        <p:sp>
          <p:nvSpPr>
            <p:cNvPr id="85062" name="Text Box 75"/>
            <p:cNvSpPr txBox="1">
              <a:spLocks noChangeArrowheads="1"/>
            </p:cNvSpPr>
            <p:nvPr/>
          </p:nvSpPr>
          <p:spPr bwMode="auto">
            <a:xfrm>
              <a:off x="1000" y="528"/>
              <a:ext cx="3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m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5063" name="Text Box 76"/>
            <p:cNvSpPr txBox="1">
              <a:spLocks noChangeArrowheads="1"/>
            </p:cNvSpPr>
            <p:nvPr/>
          </p:nvSpPr>
          <p:spPr bwMode="auto">
            <a:xfrm>
              <a:off x="1122" y="734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rgbClr val="CC00CC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4651380" y="5423297"/>
            <a:ext cx="366713" cy="512763"/>
            <a:chOff x="2021" y="2703"/>
            <a:chExt cx="231" cy="323"/>
          </a:xfrm>
        </p:grpSpPr>
        <p:sp>
          <p:nvSpPr>
            <p:cNvPr id="85060" name="Text Box 78"/>
            <p:cNvSpPr txBox="1">
              <a:spLocks noChangeArrowheads="1"/>
            </p:cNvSpPr>
            <p:nvPr/>
          </p:nvSpPr>
          <p:spPr bwMode="auto">
            <a:xfrm>
              <a:off x="2048" y="2735"/>
              <a:ext cx="204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85061" name="Text Box 79"/>
            <p:cNvSpPr txBox="1">
              <a:spLocks noChangeArrowheads="1"/>
            </p:cNvSpPr>
            <p:nvPr/>
          </p:nvSpPr>
          <p:spPr bwMode="auto">
            <a:xfrm>
              <a:off x="2021" y="2703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CC00CC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10" name="Group 80"/>
          <p:cNvGrpSpPr>
            <a:grpSpLocks/>
          </p:cNvGrpSpPr>
          <p:nvPr/>
        </p:nvGrpSpPr>
        <p:grpSpPr bwMode="auto">
          <a:xfrm>
            <a:off x="2965451" y="4546996"/>
            <a:ext cx="555625" cy="457200"/>
            <a:chOff x="979" y="2160"/>
            <a:chExt cx="350" cy="288"/>
          </a:xfrm>
        </p:grpSpPr>
        <p:sp>
          <p:nvSpPr>
            <p:cNvPr id="85058" name="Text Box 81"/>
            <p:cNvSpPr txBox="1">
              <a:spLocks noChangeArrowheads="1"/>
            </p:cNvSpPr>
            <p:nvPr/>
          </p:nvSpPr>
          <p:spPr bwMode="auto">
            <a:xfrm>
              <a:off x="979" y="2160"/>
              <a:ext cx="27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 dirty="0">
                  <a:latin typeface="Dutch801 Rm BT" pitchFamily="18" charset="0"/>
                </a:rPr>
                <a:t>m</a:t>
              </a:r>
              <a:endParaRPr lang="en-US" altLang="zh-CN" sz="2400" b="1" dirty="0">
                <a:latin typeface="Times New Roman" pitchFamily="18" charset="0"/>
              </a:endParaRPr>
            </a:p>
          </p:txBody>
        </p:sp>
        <p:sp>
          <p:nvSpPr>
            <p:cNvPr id="85059" name="Text Box 82"/>
            <p:cNvSpPr txBox="1">
              <a:spLocks noChangeArrowheads="1"/>
            </p:cNvSpPr>
            <p:nvPr/>
          </p:nvSpPr>
          <p:spPr bwMode="auto">
            <a:xfrm>
              <a:off x="1133" y="2279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>
                  <a:solidFill>
                    <a:srgbClr val="CC00CC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11" name="Group 83"/>
          <p:cNvGrpSpPr>
            <a:grpSpLocks/>
          </p:cNvGrpSpPr>
          <p:nvPr/>
        </p:nvGrpSpPr>
        <p:grpSpPr bwMode="auto">
          <a:xfrm>
            <a:off x="4489450" y="2184797"/>
            <a:ext cx="461963" cy="515938"/>
            <a:chOff x="1928" y="672"/>
            <a:chExt cx="291" cy="325"/>
          </a:xfrm>
        </p:grpSpPr>
        <p:sp>
          <p:nvSpPr>
            <p:cNvPr id="85056" name="Text Box 84"/>
            <p:cNvSpPr txBox="1">
              <a:spLocks noChangeArrowheads="1"/>
            </p:cNvSpPr>
            <p:nvPr/>
          </p:nvSpPr>
          <p:spPr bwMode="auto">
            <a:xfrm>
              <a:off x="1928" y="672"/>
              <a:ext cx="26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5057" name="Text Box 85"/>
            <p:cNvSpPr txBox="1">
              <a:spLocks noChangeArrowheads="1"/>
            </p:cNvSpPr>
            <p:nvPr/>
          </p:nvSpPr>
          <p:spPr bwMode="auto">
            <a:xfrm>
              <a:off x="2023" y="843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rgbClr val="CC00CC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85055" name="Line 87"/>
          <p:cNvSpPr>
            <a:spLocks noChangeShapeType="1"/>
          </p:cNvSpPr>
          <p:nvPr/>
        </p:nvSpPr>
        <p:spPr bwMode="auto">
          <a:xfrm>
            <a:off x="5785529" y="2700733"/>
            <a:ext cx="5671" cy="218598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88" name="Rectangle 2"/>
          <p:cNvSpPr txBox="1">
            <a:spLocks noChangeArrowheads="1"/>
          </p:cNvSpPr>
          <p:nvPr/>
        </p:nvSpPr>
        <p:spPr bwMode="auto">
          <a:xfrm>
            <a:off x="3107598" y="401851"/>
            <a:ext cx="5572348" cy="577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zh-CN" altLang="en-US" sz="3200" b="1" dirty="0">
                <a:latin typeface="黑体" pitchFamily="2" charset="-122"/>
                <a:ea typeface="黑体" pitchFamily="2" charset="-122"/>
                <a:cs typeface="+mj-cs"/>
              </a:rPr>
              <a:t>点、直线、平面的投影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4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75"/>
                                        <p:tgtEl>
                                          <p:spTgt spid="1249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75"/>
                                        <p:tgtEl>
                                          <p:spTgt spid="1249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2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0" grpId="0" animBg="1"/>
      <p:bldP spid="124960" grpId="0" animBg="1"/>
      <p:bldP spid="124977" grpId="0" animBg="1"/>
      <p:bldP spid="124978" grpId="0" animBg="1"/>
      <p:bldP spid="124979" grpId="0" animBg="1"/>
      <p:bldP spid="124980" grpId="0" animBg="1"/>
      <p:bldP spid="124983" grpId="0" autoUpdateAnimBg="0"/>
      <p:bldP spid="124984" grpId="0" build="p" autoUpdateAnimBg="0"/>
      <p:bldP spid="12499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>
            <a:extLst>
              <a:ext uri="{FF2B5EF4-FFF2-40B4-BE49-F238E27FC236}">
                <a16:creationId xmlns:a16="http://schemas.microsoft.com/office/drawing/2014/main" id="{383B10D7-44B0-469A-A7D0-FF43AEAB0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6135" y="3062748"/>
            <a:ext cx="552450" cy="746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BC81270F-E359-4BE6-919D-65ADCD3400DD}"/>
              </a:ext>
            </a:extLst>
          </p:cNvPr>
          <p:cNvSpPr>
            <a:spLocks/>
          </p:cNvSpPr>
          <p:nvPr/>
        </p:nvSpPr>
        <p:spPr bwMode="auto">
          <a:xfrm>
            <a:off x="3285260" y="4728035"/>
            <a:ext cx="2317750" cy="1905000"/>
          </a:xfrm>
          <a:custGeom>
            <a:avLst/>
            <a:gdLst>
              <a:gd name="T0" fmla="*/ 2147483646 w 1460"/>
              <a:gd name="T1" fmla="*/ 0 h 1200"/>
              <a:gd name="T2" fmla="*/ 2147483646 w 1460"/>
              <a:gd name="T3" fmla="*/ 2147483646 h 1200"/>
              <a:gd name="T4" fmla="*/ 2147483646 w 1460"/>
              <a:gd name="T5" fmla="*/ 2147483646 h 1200"/>
              <a:gd name="T6" fmla="*/ 2147483646 w 1460"/>
              <a:gd name="T7" fmla="*/ 2147483646 h 1200"/>
              <a:gd name="T8" fmla="*/ 0 w 1460"/>
              <a:gd name="T9" fmla="*/ 2147483646 h 1200"/>
              <a:gd name="T10" fmla="*/ 2147483646 w 1460"/>
              <a:gd name="T11" fmla="*/ 0 h 12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60"/>
              <a:gd name="T19" fmla="*/ 0 h 1200"/>
              <a:gd name="T20" fmla="*/ 1460 w 1460"/>
              <a:gd name="T21" fmla="*/ 1200 h 12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60" h="1200">
                <a:moveTo>
                  <a:pt x="538" y="0"/>
                </a:moveTo>
                <a:lnTo>
                  <a:pt x="1460" y="1200"/>
                </a:lnTo>
                <a:lnTo>
                  <a:pt x="528" y="1018"/>
                </a:lnTo>
                <a:lnTo>
                  <a:pt x="932" y="749"/>
                </a:lnTo>
                <a:lnTo>
                  <a:pt x="0" y="317"/>
                </a:lnTo>
                <a:lnTo>
                  <a:pt x="538" y="0"/>
                </a:lnTo>
                <a:close/>
              </a:path>
            </a:pathLst>
          </a:custGeom>
          <a:solidFill>
            <a:srgbClr val="FF3300"/>
          </a:solidFill>
          <a:ln w="317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58C56FB0-DEB3-43EA-BEF2-586503D45F97}"/>
              </a:ext>
            </a:extLst>
          </p:cNvPr>
          <p:cNvSpPr>
            <a:spLocks/>
          </p:cNvSpPr>
          <p:nvPr/>
        </p:nvSpPr>
        <p:spPr bwMode="auto">
          <a:xfrm>
            <a:off x="4367935" y="5018548"/>
            <a:ext cx="1387475" cy="762000"/>
          </a:xfrm>
          <a:custGeom>
            <a:avLst/>
            <a:gdLst>
              <a:gd name="T0" fmla="*/ 0 w 874"/>
              <a:gd name="T1" fmla="*/ 0 h 480"/>
              <a:gd name="T2" fmla="*/ 2147483646 w 874"/>
              <a:gd name="T3" fmla="*/ 2147483646 h 480"/>
              <a:gd name="T4" fmla="*/ 2147483646 w 874"/>
              <a:gd name="T5" fmla="*/ 2147483646 h 480"/>
              <a:gd name="T6" fmla="*/ 0 w 874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874"/>
              <a:gd name="T13" fmla="*/ 0 h 480"/>
              <a:gd name="T14" fmla="*/ 874 w 874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74" h="480">
                <a:moveTo>
                  <a:pt x="0" y="0"/>
                </a:moveTo>
                <a:lnTo>
                  <a:pt x="365" y="480"/>
                </a:lnTo>
                <a:lnTo>
                  <a:pt x="874" y="144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  <a:ln w="9525">
            <a:solidFill>
              <a:srgbClr val="3333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CA380132-58DB-48E8-AA8A-6BB9518E6578}"/>
              </a:ext>
            </a:extLst>
          </p:cNvPr>
          <p:cNvSpPr>
            <a:spLocks/>
          </p:cNvSpPr>
          <p:nvPr/>
        </p:nvSpPr>
        <p:spPr bwMode="auto">
          <a:xfrm>
            <a:off x="2296248" y="5443998"/>
            <a:ext cx="1066800" cy="685800"/>
          </a:xfrm>
          <a:custGeom>
            <a:avLst/>
            <a:gdLst>
              <a:gd name="T0" fmla="*/ 2147483646 w 672"/>
              <a:gd name="T1" fmla="*/ 0 h 432"/>
              <a:gd name="T2" fmla="*/ 0 w 672"/>
              <a:gd name="T3" fmla="*/ 2147483646 h 432"/>
              <a:gd name="T4" fmla="*/ 2147483646 w 672"/>
              <a:gd name="T5" fmla="*/ 2147483646 h 432"/>
              <a:gd name="T6" fmla="*/ 2147483646 w 672"/>
              <a:gd name="T7" fmla="*/ 0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432"/>
              <a:gd name="T14" fmla="*/ 672 w 672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432">
                <a:moveTo>
                  <a:pt x="451" y="0"/>
                </a:moveTo>
                <a:lnTo>
                  <a:pt x="0" y="298"/>
                </a:lnTo>
                <a:lnTo>
                  <a:pt x="672" y="432"/>
                </a:lnTo>
                <a:lnTo>
                  <a:pt x="451" y="0"/>
                </a:lnTo>
                <a:close/>
              </a:path>
            </a:pathLst>
          </a:custGeom>
          <a:solidFill>
            <a:srgbClr val="FF3300"/>
          </a:solidFill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B0FB6B6E-D551-4A67-BDDB-D36A1C2FC314}"/>
              </a:ext>
            </a:extLst>
          </p:cNvPr>
          <p:cNvSpPr>
            <a:spLocks/>
          </p:cNvSpPr>
          <p:nvPr/>
        </p:nvSpPr>
        <p:spPr bwMode="auto">
          <a:xfrm>
            <a:off x="2294660" y="2046748"/>
            <a:ext cx="3292475" cy="1644650"/>
          </a:xfrm>
          <a:custGeom>
            <a:avLst/>
            <a:gdLst>
              <a:gd name="T0" fmla="*/ 2147483646 w 2074"/>
              <a:gd name="T1" fmla="*/ 0 h 1036"/>
              <a:gd name="T2" fmla="*/ 2147483646 w 2074"/>
              <a:gd name="T3" fmla="*/ 2147483646 h 1036"/>
              <a:gd name="T4" fmla="*/ 0 w 2074"/>
              <a:gd name="T5" fmla="*/ 2147483646 h 1036"/>
              <a:gd name="T6" fmla="*/ 2147483646 w 2074"/>
              <a:gd name="T7" fmla="*/ 0 h 1036"/>
              <a:gd name="T8" fmla="*/ 0 60000 65536"/>
              <a:gd name="T9" fmla="*/ 0 60000 65536"/>
              <a:gd name="T10" fmla="*/ 0 60000 65536"/>
              <a:gd name="T11" fmla="*/ 0 60000 65536"/>
              <a:gd name="T12" fmla="*/ 0 w 2074"/>
              <a:gd name="T13" fmla="*/ 0 h 1036"/>
              <a:gd name="T14" fmla="*/ 2074 w 2074"/>
              <a:gd name="T15" fmla="*/ 1036 h 10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74" h="1036">
                <a:moveTo>
                  <a:pt x="1172" y="0"/>
                </a:moveTo>
                <a:lnTo>
                  <a:pt x="2074" y="883"/>
                </a:lnTo>
                <a:lnTo>
                  <a:pt x="0" y="1036"/>
                </a:lnTo>
                <a:lnTo>
                  <a:pt x="1172" y="0"/>
                </a:lnTo>
                <a:close/>
              </a:path>
            </a:pathLst>
          </a:custGeom>
          <a:solidFill>
            <a:srgbClr val="FF3300"/>
          </a:solidFill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7BFB9CE1-F118-48C0-AB5F-9A92C3FFE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2435" y="3707273"/>
            <a:ext cx="0" cy="2209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964B7BEB-87B2-4F2D-80FA-BDF578EE4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9335" y="2030873"/>
            <a:ext cx="0" cy="2697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A9FEF867-8F31-4BE3-ADAD-8C3EA6A12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4598" y="3454860"/>
            <a:ext cx="0" cy="3200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A185AD29-CA84-40FB-AD7A-D45601192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5335" y="2667460"/>
            <a:ext cx="0" cy="20304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E17D74AB-E242-4345-AB54-730A89050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5348" y="3402473"/>
            <a:ext cx="395287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c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35CA5B0E-38F1-4A32-B174-97DB8761A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8310" y="2411873"/>
            <a:ext cx="42068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d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8154B05D-A7E8-43E4-900B-E661DD403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773" y="2869073"/>
            <a:ext cx="39052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e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3F0AF8A0-A80A-4421-A258-897CA5D9F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510" y="2411873"/>
            <a:ext cx="35083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f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1E6DD9EF-6681-4494-9E89-309EB6522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710" y="3402473"/>
            <a:ext cx="41592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a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BCFEE4EF-790D-489A-B284-91B61D071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285" y="1726073"/>
            <a:ext cx="41433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b</a:t>
            </a:r>
            <a:r>
              <a:rPr kumimoji="1" lang="en-US" altLang="zh-CN" sz="2400" b="1">
                <a:latin typeface="Times New Roman" pitchFamily="18" charset="0"/>
                <a:sym typeface="Symbol" pitchFamily="18" charset="2"/>
              </a:rPr>
              <a:t></a:t>
            </a: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id="{0ADC73AE-0B2D-413E-A415-E9AA93377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923" y="5688473"/>
            <a:ext cx="33972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a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18" name="Text Box 21">
            <a:extLst>
              <a:ext uri="{FF2B5EF4-FFF2-40B4-BE49-F238E27FC236}">
                <a16:creationId xmlns:a16="http://schemas.microsoft.com/office/drawing/2014/main" id="{E1BE8400-C50C-42EA-A5AE-9783DC608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7585" y="4393073"/>
            <a:ext cx="33813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b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7502A93A-3726-4390-9D76-B4480075B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085" y="6374273"/>
            <a:ext cx="31908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c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20" name="Text Box 24">
            <a:extLst>
              <a:ext uri="{FF2B5EF4-FFF2-40B4-BE49-F238E27FC236}">
                <a16:creationId xmlns:a16="http://schemas.microsoft.com/office/drawing/2014/main" id="{3E267DBA-337E-41EE-A4A0-DC0C51C47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835" y="5002673"/>
            <a:ext cx="31432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e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21" name="Text Box 25">
            <a:extLst>
              <a:ext uri="{FF2B5EF4-FFF2-40B4-BE49-F238E27FC236}">
                <a16:creationId xmlns:a16="http://schemas.microsoft.com/office/drawing/2014/main" id="{3CD47FCC-407D-4508-9EA0-91F9672F2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935" y="4469273"/>
            <a:ext cx="274638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1" lang="en-US" altLang="zh-CN" sz="2400" i="1">
                <a:latin typeface="Dutch801 Rm BT" pitchFamily="18" charset="0"/>
              </a:rPr>
              <a:t>f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22" name="Line 26">
            <a:extLst>
              <a:ext uri="{FF2B5EF4-FFF2-40B4-BE49-F238E27FC236}">
                <a16:creationId xmlns:a16="http://schemas.microsoft.com/office/drawing/2014/main" id="{CD48B014-9C76-4176-AD7B-D81C200A4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48935" y="2945273"/>
            <a:ext cx="0" cy="2971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Line 27">
            <a:extLst>
              <a:ext uri="{FF2B5EF4-FFF2-40B4-BE49-F238E27FC236}">
                <a16:creationId xmlns:a16="http://schemas.microsoft.com/office/drawing/2014/main" id="{AEAD8776-BAE6-4E6C-9802-6DC2187EEB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13673" y="4164473"/>
            <a:ext cx="4040187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8A0FF3CB-4545-42C3-BDBE-BADCEF89C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248" y="1375235"/>
            <a:ext cx="593725" cy="57943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sz="3200" b="1" dirty="0">
                <a:latin typeface="Times New Roman" pitchFamily="18" charset="0"/>
              </a:rPr>
              <a:t>⑶</a:t>
            </a:r>
          </a:p>
        </p:txBody>
      </p:sp>
      <p:sp>
        <p:nvSpPr>
          <p:cNvPr id="25" name="Freeform 32">
            <a:extLst>
              <a:ext uri="{FF2B5EF4-FFF2-40B4-BE49-F238E27FC236}">
                <a16:creationId xmlns:a16="http://schemas.microsoft.com/office/drawing/2014/main" id="{C0C55D9A-4EE5-472E-B281-A229A343EC6C}"/>
              </a:ext>
            </a:extLst>
          </p:cNvPr>
          <p:cNvSpPr>
            <a:spLocks/>
          </p:cNvSpPr>
          <p:nvPr/>
        </p:nvSpPr>
        <p:spPr bwMode="auto">
          <a:xfrm>
            <a:off x="2615335" y="4681998"/>
            <a:ext cx="2141538" cy="2027237"/>
          </a:xfrm>
          <a:custGeom>
            <a:avLst/>
            <a:gdLst>
              <a:gd name="T0" fmla="*/ 0 w 1349"/>
              <a:gd name="T1" fmla="*/ 0 h 1277"/>
              <a:gd name="T2" fmla="*/ 2147483646 w 1349"/>
              <a:gd name="T3" fmla="*/ 2147483646 h 1277"/>
              <a:gd name="T4" fmla="*/ 2147483646 w 1349"/>
              <a:gd name="T5" fmla="*/ 2147483646 h 1277"/>
              <a:gd name="T6" fmla="*/ 2147483646 w 1349"/>
              <a:gd name="T7" fmla="*/ 2147483646 h 1277"/>
              <a:gd name="T8" fmla="*/ 2147483646 w 1349"/>
              <a:gd name="T9" fmla="*/ 2147483646 h 1277"/>
              <a:gd name="T10" fmla="*/ 0 w 1349"/>
              <a:gd name="T11" fmla="*/ 0 h 127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49"/>
              <a:gd name="T19" fmla="*/ 0 h 1277"/>
              <a:gd name="T20" fmla="*/ 1349 w 1349"/>
              <a:gd name="T21" fmla="*/ 1277 h 127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49" h="1277">
                <a:moveTo>
                  <a:pt x="0" y="0"/>
                </a:moveTo>
                <a:lnTo>
                  <a:pt x="659" y="1277"/>
                </a:lnTo>
                <a:lnTo>
                  <a:pt x="1349" y="778"/>
                </a:lnTo>
                <a:lnTo>
                  <a:pt x="442" y="346"/>
                </a:lnTo>
                <a:lnTo>
                  <a:pt x="768" y="135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  <a:ln w="9525">
            <a:solidFill>
              <a:srgbClr val="3333CC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" name="Freeform 33">
            <a:extLst>
              <a:ext uri="{FF2B5EF4-FFF2-40B4-BE49-F238E27FC236}">
                <a16:creationId xmlns:a16="http://schemas.microsoft.com/office/drawing/2014/main" id="{0AF7C234-B3FD-40AC-8624-BC9C4D1EC4CA}"/>
              </a:ext>
            </a:extLst>
          </p:cNvPr>
          <p:cNvSpPr>
            <a:spLocks/>
          </p:cNvSpPr>
          <p:nvPr/>
        </p:nvSpPr>
        <p:spPr bwMode="auto">
          <a:xfrm>
            <a:off x="3312248" y="5226510"/>
            <a:ext cx="1435100" cy="671513"/>
          </a:xfrm>
          <a:custGeom>
            <a:avLst/>
            <a:gdLst>
              <a:gd name="T0" fmla="*/ 0 w 904"/>
              <a:gd name="T1" fmla="*/ 0 h 423"/>
              <a:gd name="T2" fmla="*/ 2147483646 w 904"/>
              <a:gd name="T3" fmla="*/ 2147483646 h 423"/>
              <a:gd name="T4" fmla="*/ 0 60000 65536"/>
              <a:gd name="T5" fmla="*/ 0 60000 65536"/>
              <a:gd name="T6" fmla="*/ 0 w 904"/>
              <a:gd name="T7" fmla="*/ 0 h 423"/>
              <a:gd name="T8" fmla="*/ 904 w 904"/>
              <a:gd name="T9" fmla="*/ 423 h 42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04" h="423">
                <a:moveTo>
                  <a:pt x="0" y="0"/>
                </a:moveTo>
                <a:lnTo>
                  <a:pt x="904" y="423"/>
                </a:lnTo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34">
            <a:extLst>
              <a:ext uri="{FF2B5EF4-FFF2-40B4-BE49-F238E27FC236}">
                <a16:creationId xmlns:a16="http://schemas.microsoft.com/office/drawing/2014/main" id="{0FE3F0E1-4530-42DC-8D32-E45EEEFF23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1773" y="2792873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8" name="Group 35">
            <a:extLst>
              <a:ext uri="{FF2B5EF4-FFF2-40B4-BE49-F238E27FC236}">
                <a16:creationId xmlns:a16="http://schemas.microsoft.com/office/drawing/2014/main" id="{9CD8145C-1E53-440F-9892-5D0FE16557D8}"/>
              </a:ext>
            </a:extLst>
          </p:cNvPr>
          <p:cNvGrpSpPr>
            <a:grpSpLocks/>
          </p:cNvGrpSpPr>
          <p:nvPr/>
        </p:nvGrpSpPr>
        <p:grpSpPr bwMode="auto">
          <a:xfrm>
            <a:off x="2924898" y="4926473"/>
            <a:ext cx="555625" cy="457200"/>
            <a:chOff x="979" y="2160"/>
            <a:chExt cx="350" cy="288"/>
          </a:xfrm>
        </p:grpSpPr>
        <p:sp>
          <p:nvSpPr>
            <p:cNvPr id="29" name="Text Box 36">
              <a:extLst>
                <a:ext uri="{FF2B5EF4-FFF2-40B4-BE49-F238E27FC236}">
                  <a16:creationId xmlns:a16="http://schemas.microsoft.com/office/drawing/2014/main" id="{3FA9B227-0181-46FB-B472-452BF3AF2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9" y="2160"/>
              <a:ext cx="27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FFFF00"/>
                  </a:solidFill>
                  <a:latin typeface="Dutch801 Rm BT" pitchFamily="18" charset="0"/>
                </a:rPr>
                <a:t>m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30" name="Text Box 37">
              <a:extLst>
                <a:ext uri="{FF2B5EF4-FFF2-40B4-BE49-F238E27FC236}">
                  <a16:creationId xmlns:a16="http://schemas.microsoft.com/office/drawing/2014/main" id="{AC57DA36-4B7D-4CC2-BCF5-43F0C5A5C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3" y="2279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1000">
                  <a:solidFill>
                    <a:srgbClr val="FFFF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grpSp>
        <p:nvGrpSpPr>
          <p:cNvPr id="31" name="Group 38">
            <a:extLst>
              <a:ext uri="{FF2B5EF4-FFF2-40B4-BE49-F238E27FC236}">
                <a16:creationId xmlns:a16="http://schemas.microsoft.com/office/drawing/2014/main" id="{B8D48E32-F78B-47FD-A7C3-A9ED93B848B7}"/>
              </a:ext>
            </a:extLst>
          </p:cNvPr>
          <p:cNvGrpSpPr>
            <a:grpSpLocks/>
          </p:cNvGrpSpPr>
          <p:nvPr/>
        </p:nvGrpSpPr>
        <p:grpSpPr bwMode="auto">
          <a:xfrm>
            <a:off x="4607648" y="5791660"/>
            <a:ext cx="374650" cy="509588"/>
            <a:chOff x="2021" y="2703"/>
            <a:chExt cx="236" cy="321"/>
          </a:xfrm>
        </p:grpSpPr>
        <p:sp>
          <p:nvSpPr>
            <p:cNvPr id="32" name="Text Box 39">
              <a:extLst>
                <a:ext uri="{FF2B5EF4-FFF2-40B4-BE49-F238E27FC236}">
                  <a16:creationId xmlns:a16="http://schemas.microsoft.com/office/drawing/2014/main" id="{193AA0E6-0D1E-4EE3-87C7-C61314A69E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4" y="2736"/>
              <a:ext cx="21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FFFF00"/>
                  </a:solidFill>
                  <a:latin typeface="Dutch801 Rm BT" pitchFamily="18" charset="0"/>
                </a:rPr>
                <a:t>k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33" name="Text Box 40">
              <a:extLst>
                <a:ext uri="{FF2B5EF4-FFF2-40B4-BE49-F238E27FC236}">
                  <a16:creationId xmlns:a16="http://schemas.microsoft.com/office/drawing/2014/main" id="{7AE2614A-D4D1-460A-87FD-2636D7628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1" y="2703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1000">
                  <a:solidFill>
                    <a:srgbClr val="FFFF00"/>
                  </a:solidFill>
                  <a:latin typeface="Times New Roman" pitchFamily="18" charset="0"/>
                </a:rPr>
                <a:t>●</a:t>
              </a:r>
              <a:endParaRPr kumimoji="1" lang="en-US" altLang="zh-CN" sz="100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</p:grpSp>
      <p:sp>
        <p:nvSpPr>
          <p:cNvPr id="34" name="Line 41">
            <a:extLst>
              <a:ext uri="{FF2B5EF4-FFF2-40B4-BE49-F238E27FC236}">
                <a16:creationId xmlns:a16="http://schemas.microsoft.com/office/drawing/2014/main" id="{89F6D968-3CAB-4CAD-95C9-8D5F90063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7398" y="2667460"/>
            <a:ext cx="2149475" cy="3286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5" name="Group 42">
            <a:extLst>
              <a:ext uri="{FF2B5EF4-FFF2-40B4-BE49-F238E27FC236}">
                <a16:creationId xmlns:a16="http://schemas.microsoft.com/office/drawing/2014/main" id="{8D8359C1-996F-4576-B13A-C05721C94228}"/>
              </a:ext>
            </a:extLst>
          </p:cNvPr>
          <p:cNvGrpSpPr>
            <a:grpSpLocks/>
          </p:cNvGrpSpPr>
          <p:nvPr/>
        </p:nvGrpSpPr>
        <p:grpSpPr bwMode="auto">
          <a:xfrm>
            <a:off x="4456835" y="2584910"/>
            <a:ext cx="458788" cy="533400"/>
            <a:chOff x="1928" y="672"/>
            <a:chExt cx="289" cy="336"/>
          </a:xfrm>
        </p:grpSpPr>
        <p:sp>
          <p:nvSpPr>
            <p:cNvPr id="36" name="Text Box 43">
              <a:extLst>
                <a:ext uri="{FF2B5EF4-FFF2-40B4-BE49-F238E27FC236}">
                  <a16:creationId xmlns:a16="http://schemas.microsoft.com/office/drawing/2014/main" id="{2223B7A0-44C4-42A2-B118-F46870F7B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" y="672"/>
              <a:ext cx="26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b="1">
                  <a:solidFill>
                    <a:srgbClr val="FFFF00"/>
                  </a:solidFill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37" name="Text Box 44">
              <a:extLst>
                <a:ext uri="{FF2B5EF4-FFF2-40B4-BE49-F238E27FC236}">
                  <a16:creationId xmlns:a16="http://schemas.microsoft.com/office/drawing/2014/main" id="{BBE29CD4-1035-4D0D-ADCB-061933392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1" y="854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1000">
                  <a:solidFill>
                    <a:srgbClr val="FFFF00"/>
                  </a:solidFill>
                  <a:latin typeface="Times New Roman" pitchFamily="18" charset="0"/>
                </a:rPr>
                <a:t>●</a:t>
              </a:r>
              <a:endParaRPr kumimoji="1" lang="en-US" altLang="zh-CN" sz="1000">
                <a:solidFill>
                  <a:srgbClr val="CC00CC"/>
                </a:solidFill>
                <a:latin typeface="Times New Roman" pitchFamily="18" charset="0"/>
              </a:endParaRPr>
            </a:p>
          </p:txBody>
        </p:sp>
      </p:grpSp>
      <p:sp>
        <p:nvSpPr>
          <p:cNvPr id="38" name="Freeform 45">
            <a:extLst>
              <a:ext uri="{FF2B5EF4-FFF2-40B4-BE49-F238E27FC236}">
                <a16:creationId xmlns:a16="http://schemas.microsoft.com/office/drawing/2014/main" id="{139BB7C1-8AD0-4CB4-8DE8-F8305F52CDFE}"/>
              </a:ext>
            </a:extLst>
          </p:cNvPr>
          <p:cNvSpPr>
            <a:spLocks/>
          </p:cNvSpPr>
          <p:nvPr/>
        </p:nvSpPr>
        <p:spPr bwMode="auto">
          <a:xfrm>
            <a:off x="3678960" y="2813510"/>
            <a:ext cx="1588" cy="3892550"/>
          </a:xfrm>
          <a:custGeom>
            <a:avLst/>
            <a:gdLst>
              <a:gd name="T0" fmla="*/ 0 w 1"/>
              <a:gd name="T1" fmla="*/ 2147483646 h 2452"/>
              <a:gd name="T2" fmla="*/ 0 w 1"/>
              <a:gd name="T3" fmla="*/ 0 h 2452"/>
              <a:gd name="T4" fmla="*/ 0 60000 65536"/>
              <a:gd name="T5" fmla="*/ 0 60000 65536"/>
              <a:gd name="T6" fmla="*/ 0 w 1"/>
              <a:gd name="T7" fmla="*/ 0 h 2452"/>
              <a:gd name="T8" fmla="*/ 1 w 1"/>
              <a:gd name="T9" fmla="*/ 2452 h 24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452">
                <a:moveTo>
                  <a:pt x="0" y="2452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" name="Line 46">
            <a:extLst>
              <a:ext uri="{FF2B5EF4-FFF2-40B4-BE49-F238E27FC236}">
                <a16:creationId xmlns:a16="http://schemas.microsoft.com/office/drawing/2014/main" id="{9689109F-95EE-4E6D-AED0-2607A2141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5410" y="3151648"/>
            <a:ext cx="0" cy="20939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40" name="Group 2">
            <a:extLst>
              <a:ext uri="{FF2B5EF4-FFF2-40B4-BE49-F238E27FC236}">
                <a16:creationId xmlns:a16="http://schemas.microsoft.com/office/drawing/2014/main" id="{6BF8B7FB-98B9-4827-8328-1CE5CFFC5BA3}"/>
              </a:ext>
            </a:extLst>
          </p:cNvPr>
          <p:cNvGrpSpPr>
            <a:grpSpLocks/>
          </p:cNvGrpSpPr>
          <p:nvPr/>
        </p:nvGrpSpPr>
        <p:grpSpPr bwMode="auto">
          <a:xfrm>
            <a:off x="3072535" y="2335673"/>
            <a:ext cx="609600" cy="552450"/>
            <a:chOff x="1056" y="528"/>
            <a:chExt cx="384" cy="348"/>
          </a:xfrm>
        </p:grpSpPr>
        <p:sp>
          <p:nvSpPr>
            <p:cNvPr id="41" name="Text Box 3">
              <a:extLst>
                <a:ext uri="{FF2B5EF4-FFF2-40B4-BE49-F238E27FC236}">
                  <a16:creationId xmlns:a16="http://schemas.microsoft.com/office/drawing/2014/main" id="{608A539E-FD11-4058-B430-39C049D47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528"/>
              <a:ext cx="3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FFFF00"/>
                  </a:solidFill>
                  <a:latin typeface="Dutch801 Rm BT" pitchFamily="18" charset="0"/>
                </a:rPr>
                <a:t>m</a:t>
              </a:r>
              <a:r>
                <a:rPr kumimoji="1" lang="en-US" altLang="zh-CN" sz="2400" b="1">
                  <a:solidFill>
                    <a:srgbClr val="FFFF00"/>
                  </a:solidFill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2" name="Text Box 4">
              <a:extLst>
                <a:ext uri="{FF2B5EF4-FFF2-40B4-BE49-F238E27FC236}">
                  <a16:creationId xmlns:a16="http://schemas.microsoft.com/office/drawing/2014/main" id="{50E79A9D-A6F6-4AC7-BC48-6706B4322B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" y="722"/>
              <a:ext cx="19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1000">
                  <a:solidFill>
                    <a:srgbClr val="FFFF00"/>
                  </a:solidFill>
                  <a:latin typeface="Times New Roman" pitchFamily="18" charset="0"/>
                </a:rPr>
                <a:t>●</a:t>
              </a:r>
            </a:p>
          </p:txBody>
        </p:sp>
      </p:grpSp>
      <p:sp>
        <p:nvSpPr>
          <p:cNvPr id="43" name="Text Box 53">
            <a:extLst>
              <a:ext uri="{FF2B5EF4-FFF2-40B4-BE49-F238E27FC236}">
                <a16:creationId xmlns:a16="http://schemas.microsoft.com/office/drawing/2014/main" id="{C1193DEE-C81D-4E56-BB0D-D40A23E49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0121" y="2243125"/>
            <a:ext cx="1627369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</a:rPr>
              <a:t>投影分析</a:t>
            </a:r>
          </a:p>
        </p:txBody>
      </p:sp>
      <p:sp>
        <p:nvSpPr>
          <p:cNvPr id="44" name="Text Box 54">
            <a:extLst>
              <a:ext uri="{FF2B5EF4-FFF2-40B4-BE49-F238E27FC236}">
                <a16:creationId xmlns:a16="http://schemas.microsoft.com/office/drawing/2014/main" id="{51D21568-DF0E-470E-BAC0-C313054E9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485" y="2946600"/>
            <a:ext cx="3922329" cy="230832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 </a:t>
            </a:r>
            <a:r>
              <a:rPr lang="en-US" altLang="zh-CN" sz="2400" b="1" dirty="0">
                <a:latin typeface="Times New Roman" pitchFamily="18" charset="0"/>
              </a:rPr>
              <a:t>N</a:t>
            </a:r>
            <a:r>
              <a:rPr lang="zh-CN" altLang="en-US" sz="2400" b="1" dirty="0">
                <a:latin typeface="Times New Roman" pitchFamily="18" charset="0"/>
              </a:rPr>
              <a:t>点的水平投影</a:t>
            </a:r>
            <a:r>
              <a:rPr kumimoji="1" lang="en-US" altLang="zh-CN" sz="2400" i="1" dirty="0">
                <a:latin typeface="Dutch801 Rm BT" pitchFamily="18" charset="0"/>
              </a:rPr>
              <a:t>n</a:t>
            </a:r>
            <a:r>
              <a:rPr lang="zh-CN" altLang="en-US" sz="2400" b="1" dirty="0">
                <a:latin typeface="Times New Roman" pitchFamily="18" charset="0"/>
              </a:rPr>
              <a:t>位于</a:t>
            </a:r>
            <a:r>
              <a:rPr lang="en-US" altLang="zh-CN" sz="2400" b="1" dirty="0" err="1">
                <a:latin typeface="Times New Roman" pitchFamily="18" charset="0"/>
              </a:rPr>
              <a:t>Δ</a:t>
            </a:r>
            <a:r>
              <a:rPr kumimoji="1" lang="en-US" altLang="zh-CN" sz="2400" i="1" dirty="0" err="1">
                <a:latin typeface="Dutch801 Rm BT" pitchFamily="18" charset="0"/>
              </a:rPr>
              <a:t>def</a:t>
            </a:r>
            <a:r>
              <a:rPr kumimoji="1" lang="en-US" altLang="zh-CN" sz="2400" i="1" dirty="0">
                <a:latin typeface="Dutch801 Rm BT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的外面，说明点</a:t>
            </a:r>
            <a:r>
              <a:rPr lang="en-US" altLang="zh-CN" sz="2400" b="1" dirty="0">
                <a:latin typeface="Times New Roman" pitchFamily="18" charset="0"/>
              </a:rPr>
              <a:t>N</a:t>
            </a:r>
            <a:r>
              <a:rPr lang="zh-CN" altLang="en-US" sz="2400" b="1" dirty="0">
                <a:latin typeface="Times New Roman" pitchFamily="18" charset="0"/>
              </a:rPr>
              <a:t>位于</a:t>
            </a:r>
            <a:r>
              <a:rPr lang="en-US" altLang="zh-CN" sz="2400" b="1" dirty="0">
                <a:latin typeface="Times New Roman" pitchFamily="18" charset="0"/>
              </a:rPr>
              <a:t>ΔDEF</a:t>
            </a:r>
            <a:r>
              <a:rPr lang="zh-CN" altLang="en-US" sz="2400" b="1" dirty="0">
                <a:latin typeface="Times New Roman" pitchFamily="18" charset="0"/>
              </a:rPr>
              <a:t>所确定的平面内，但不位于</a:t>
            </a:r>
            <a:r>
              <a:rPr lang="en-US" altLang="zh-CN" sz="2400" b="1" dirty="0">
                <a:latin typeface="Times New Roman" pitchFamily="18" charset="0"/>
              </a:rPr>
              <a:t>ΔDEF</a:t>
            </a:r>
            <a:r>
              <a:rPr lang="zh-CN" altLang="en-US" sz="2400" b="1" dirty="0">
                <a:latin typeface="Times New Roman" pitchFamily="18" charset="0"/>
              </a:rPr>
              <a:t>这个图形内。</a:t>
            </a:r>
          </a:p>
          <a:p>
            <a:r>
              <a:rPr lang="zh-CN" altLang="en-US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Times New Roman" pitchFamily="18" charset="0"/>
              </a:rPr>
              <a:t>所以</a:t>
            </a:r>
            <a:r>
              <a:rPr lang="en-US" altLang="zh-CN" sz="2400" b="1" dirty="0">
                <a:latin typeface="Times New Roman" pitchFamily="18" charset="0"/>
              </a:rPr>
              <a:t>ΔABC</a:t>
            </a:r>
            <a:r>
              <a:rPr lang="zh-CN" altLang="en-US" sz="2400" b="1" dirty="0">
                <a:latin typeface="Times New Roman" pitchFamily="18" charset="0"/>
              </a:rPr>
              <a:t>和</a:t>
            </a:r>
            <a:r>
              <a:rPr lang="en-US" altLang="zh-CN" sz="2400" b="1" dirty="0">
                <a:latin typeface="Times New Roman" pitchFamily="18" charset="0"/>
              </a:rPr>
              <a:t>ΔDEF</a:t>
            </a:r>
            <a:r>
              <a:rPr lang="zh-CN" altLang="en-US" sz="2400" b="1" dirty="0">
                <a:latin typeface="Times New Roman" pitchFamily="18" charset="0"/>
              </a:rPr>
              <a:t>的交线应为</a:t>
            </a:r>
            <a:r>
              <a:rPr lang="en-US" altLang="zh-CN" sz="2400" b="1" dirty="0">
                <a:latin typeface="Times New Roman" pitchFamily="18" charset="0"/>
              </a:rPr>
              <a:t>MK</a:t>
            </a:r>
            <a:r>
              <a:rPr lang="zh-CN" altLang="en-US" sz="2400" b="1" dirty="0">
                <a:latin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74935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2462213" y="29845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kumimoji="1" lang="zh-CN" altLang="zh-CN" sz="2400" b="1">
              <a:latin typeface="Times New Roman" pitchFamily="18" charset="0"/>
            </a:endParaRPr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2549526" y="4316414"/>
            <a:ext cx="3108325" cy="2206625"/>
            <a:chOff x="646" y="2785"/>
            <a:chExt cx="1958" cy="1390"/>
          </a:xfrm>
        </p:grpSpPr>
        <p:grpSp>
          <p:nvGrpSpPr>
            <p:cNvPr id="87067" name="Group 48"/>
            <p:cNvGrpSpPr>
              <a:grpSpLocks/>
            </p:cNvGrpSpPr>
            <p:nvPr/>
          </p:nvGrpSpPr>
          <p:grpSpPr bwMode="auto">
            <a:xfrm>
              <a:off x="1088" y="3006"/>
              <a:ext cx="1092" cy="1169"/>
              <a:chOff x="1088" y="3072"/>
              <a:chExt cx="1092" cy="1169"/>
            </a:xfrm>
          </p:grpSpPr>
          <p:sp>
            <p:nvSpPr>
              <p:cNvPr id="87069" name="Freeform 8"/>
              <p:cNvSpPr>
                <a:spLocks/>
              </p:cNvSpPr>
              <p:nvPr/>
            </p:nvSpPr>
            <p:spPr bwMode="auto">
              <a:xfrm>
                <a:off x="1543" y="3433"/>
                <a:ext cx="152" cy="569"/>
              </a:xfrm>
              <a:custGeom>
                <a:avLst/>
                <a:gdLst>
                  <a:gd name="T0" fmla="*/ 0 w 1"/>
                  <a:gd name="T1" fmla="*/ 0 h 766"/>
                  <a:gd name="T2" fmla="*/ 0 w 1"/>
                  <a:gd name="T3" fmla="*/ 47 h 766"/>
                  <a:gd name="T4" fmla="*/ 0 60000 65536"/>
                  <a:gd name="T5" fmla="*/ 0 60000 65536"/>
                  <a:gd name="T6" fmla="*/ 0 w 1"/>
                  <a:gd name="T7" fmla="*/ 0 h 766"/>
                  <a:gd name="T8" fmla="*/ 1 w 1"/>
                  <a:gd name="T9" fmla="*/ 766 h 76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766">
                    <a:moveTo>
                      <a:pt x="0" y="0"/>
                    </a:moveTo>
                    <a:lnTo>
                      <a:pt x="0" y="766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070" name="Line 9"/>
              <p:cNvSpPr>
                <a:spLocks noChangeShapeType="1"/>
              </p:cNvSpPr>
              <p:nvPr/>
            </p:nvSpPr>
            <p:spPr bwMode="auto">
              <a:xfrm flipV="1">
                <a:off x="1251" y="3278"/>
                <a:ext cx="698" cy="25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071" name="Line 10"/>
              <p:cNvSpPr>
                <a:spLocks noChangeShapeType="1"/>
              </p:cNvSpPr>
              <p:nvPr/>
            </p:nvSpPr>
            <p:spPr bwMode="auto">
              <a:xfrm flipV="1">
                <a:off x="1251" y="3861"/>
                <a:ext cx="698" cy="25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072" name="Line 11"/>
              <p:cNvSpPr>
                <a:spLocks noChangeShapeType="1"/>
              </p:cNvSpPr>
              <p:nvPr/>
            </p:nvSpPr>
            <p:spPr bwMode="auto">
              <a:xfrm>
                <a:off x="1142" y="3709"/>
                <a:ext cx="9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073" name="Line 12"/>
              <p:cNvSpPr>
                <a:spLocks noChangeShapeType="1"/>
              </p:cNvSpPr>
              <p:nvPr/>
            </p:nvSpPr>
            <p:spPr bwMode="auto">
              <a:xfrm>
                <a:off x="1251" y="3528"/>
                <a:ext cx="0" cy="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074" name="Line 13"/>
              <p:cNvSpPr>
                <a:spLocks noChangeShapeType="1"/>
              </p:cNvSpPr>
              <p:nvPr/>
            </p:nvSpPr>
            <p:spPr bwMode="auto">
              <a:xfrm flipV="1">
                <a:off x="1949" y="3278"/>
                <a:ext cx="0" cy="58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075" name="Text Box 14"/>
              <p:cNvSpPr txBox="1">
                <a:spLocks noChangeArrowheads="1"/>
              </p:cNvSpPr>
              <p:nvPr/>
            </p:nvSpPr>
            <p:spPr bwMode="auto">
              <a:xfrm>
                <a:off x="1088" y="3950"/>
                <a:ext cx="216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a</a:t>
                </a:r>
                <a:endParaRPr kumimoji="1" lang="en-US" altLang="zh-CN" sz="2000" b="1">
                  <a:latin typeface="Italic" pitchFamily="2" charset="0"/>
                </a:endParaRPr>
              </a:p>
            </p:txBody>
          </p:sp>
          <p:sp>
            <p:nvSpPr>
              <p:cNvPr id="87076" name="Text Box 15"/>
              <p:cNvSpPr txBox="1">
                <a:spLocks noChangeArrowheads="1"/>
              </p:cNvSpPr>
              <p:nvPr/>
            </p:nvSpPr>
            <p:spPr bwMode="auto">
              <a:xfrm>
                <a:off x="1921" y="3666"/>
                <a:ext cx="216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b</a:t>
                </a:r>
                <a:endParaRPr kumimoji="1" lang="en-US" altLang="zh-CN" sz="2400" b="1">
                  <a:latin typeface="Times New Roman" pitchFamily="18" charset="0"/>
                </a:endParaRPr>
              </a:p>
            </p:txBody>
          </p:sp>
          <p:sp>
            <p:nvSpPr>
              <p:cNvPr id="87077" name="Text Box 16"/>
              <p:cNvSpPr txBox="1">
                <a:spLocks noChangeArrowheads="1"/>
              </p:cNvSpPr>
              <p:nvPr/>
            </p:nvSpPr>
            <p:spPr bwMode="auto">
              <a:xfrm>
                <a:off x="1500" y="3755"/>
                <a:ext cx="201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c</a:t>
                </a:r>
              </a:p>
            </p:txBody>
          </p:sp>
          <p:sp>
            <p:nvSpPr>
              <p:cNvPr id="87078" name="Text Box 17"/>
              <p:cNvSpPr txBox="1">
                <a:spLocks noChangeArrowheads="1"/>
              </p:cNvSpPr>
              <p:nvPr/>
            </p:nvSpPr>
            <p:spPr bwMode="auto">
              <a:xfrm>
                <a:off x="1088" y="3333"/>
                <a:ext cx="265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  <a:sym typeface="EuroRoman" pitchFamily="2" charset="2"/>
                  </a:rPr>
                  <a:t>a</a:t>
                </a:r>
                <a:r>
                  <a:rPr kumimoji="1" lang="en-US" altLang="zh-CN" sz="2400" b="1">
                    <a:latin typeface="Times New Roman" pitchFamily="18" charset="0"/>
                    <a:sym typeface="Symbol" pitchFamily="18" charset="2"/>
                  </a:rPr>
                  <a:t></a:t>
                </a:r>
              </a:p>
            </p:txBody>
          </p:sp>
          <p:sp>
            <p:nvSpPr>
              <p:cNvPr id="87079" name="Text Box 18"/>
              <p:cNvSpPr txBox="1">
                <a:spLocks noChangeArrowheads="1"/>
              </p:cNvSpPr>
              <p:nvPr/>
            </p:nvSpPr>
            <p:spPr bwMode="auto">
              <a:xfrm>
                <a:off x="1915" y="3072"/>
                <a:ext cx="265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b</a:t>
                </a:r>
                <a:r>
                  <a:rPr kumimoji="1" lang="en-US" altLang="zh-CN" sz="2400" b="1">
                    <a:latin typeface="Times New Roman" pitchFamily="18" charset="0"/>
                    <a:sym typeface="Symbol" pitchFamily="18" charset="2"/>
                  </a:rPr>
                  <a:t></a:t>
                </a:r>
              </a:p>
            </p:txBody>
          </p:sp>
          <p:sp>
            <p:nvSpPr>
              <p:cNvPr id="87080" name="Text Box 19"/>
              <p:cNvSpPr txBox="1">
                <a:spLocks noChangeArrowheads="1"/>
              </p:cNvSpPr>
              <p:nvPr/>
            </p:nvSpPr>
            <p:spPr bwMode="auto">
              <a:xfrm>
                <a:off x="1424" y="3179"/>
                <a:ext cx="249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  <a:sym typeface="EuroRoman" pitchFamily="2" charset="2"/>
                  </a:rPr>
                  <a:t>c</a:t>
                </a:r>
                <a:r>
                  <a:rPr kumimoji="1" lang="en-US" altLang="zh-CN" sz="2400" b="1">
                    <a:latin typeface="Times New Roman" pitchFamily="18" charset="0"/>
                    <a:sym typeface="Symbol" pitchFamily="18" charset="2"/>
                  </a:rPr>
                  <a:t></a:t>
                </a:r>
              </a:p>
            </p:txBody>
          </p:sp>
        </p:grpSp>
        <p:sp>
          <p:nvSpPr>
            <p:cNvPr id="87068" name="Text Box 20"/>
            <p:cNvSpPr txBox="1">
              <a:spLocks noChangeArrowheads="1"/>
            </p:cNvSpPr>
            <p:nvPr/>
          </p:nvSpPr>
          <p:spPr bwMode="auto">
            <a:xfrm>
              <a:off x="646" y="2785"/>
              <a:ext cx="1958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宋体" pitchFamily="2" charset="-122"/>
                </a:rPr>
                <a:t>① </a:t>
              </a:r>
              <a:r>
                <a:rPr kumimoji="1" lang="zh-CN" altLang="en-US" sz="2400" b="1">
                  <a:latin typeface="宋体" pitchFamily="2" charset="-122"/>
                </a:rPr>
                <a:t>直线为一般位置时</a:t>
              </a:r>
              <a:endParaRPr kumimoji="1" lang="zh-CN" altLang="en-US" sz="2400" b="1">
                <a:latin typeface="Times New Roman" pitchFamily="18" charset="0"/>
              </a:endParaRPr>
            </a:p>
          </p:txBody>
        </p:sp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6137276" y="4316414"/>
            <a:ext cx="3108325" cy="2306637"/>
            <a:chOff x="2906" y="2785"/>
            <a:chExt cx="1958" cy="1453"/>
          </a:xfrm>
        </p:grpSpPr>
        <p:sp>
          <p:nvSpPr>
            <p:cNvPr id="87053" name="Text Box 35"/>
            <p:cNvSpPr txBox="1">
              <a:spLocks noChangeArrowheads="1"/>
            </p:cNvSpPr>
            <p:nvPr/>
          </p:nvSpPr>
          <p:spPr bwMode="auto">
            <a:xfrm>
              <a:off x="2906" y="2785"/>
              <a:ext cx="195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b="1">
                  <a:latin typeface="宋体" pitchFamily="2" charset="-122"/>
                </a:rPr>
                <a:t>② </a:t>
              </a:r>
              <a:r>
                <a:rPr kumimoji="1" lang="zh-CN" altLang="en-US" sz="2400" b="1">
                  <a:latin typeface="宋体" pitchFamily="2" charset="-122"/>
                </a:rPr>
                <a:t>直线为特殊位置时</a:t>
              </a:r>
              <a:endParaRPr kumimoji="1" lang="zh-CN" altLang="en-US" sz="2400" b="1">
                <a:latin typeface="Times New Roman" pitchFamily="18" charset="0"/>
              </a:endParaRPr>
            </a:p>
          </p:txBody>
        </p:sp>
        <p:grpSp>
          <p:nvGrpSpPr>
            <p:cNvPr id="87054" name="Group 50"/>
            <p:cNvGrpSpPr>
              <a:grpSpLocks/>
            </p:cNvGrpSpPr>
            <p:nvPr/>
          </p:nvGrpSpPr>
          <p:grpSpPr bwMode="auto">
            <a:xfrm>
              <a:off x="3557" y="2994"/>
              <a:ext cx="865" cy="1244"/>
              <a:chOff x="3250" y="2718"/>
              <a:chExt cx="865" cy="1244"/>
            </a:xfrm>
          </p:grpSpPr>
          <p:sp>
            <p:nvSpPr>
              <p:cNvPr id="87055" name="Text Box 27"/>
              <p:cNvSpPr txBox="1">
                <a:spLocks noChangeArrowheads="1"/>
              </p:cNvSpPr>
              <p:nvPr/>
            </p:nvSpPr>
            <p:spPr bwMode="auto">
              <a:xfrm>
                <a:off x="3468" y="3671"/>
                <a:ext cx="2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b</a:t>
                </a:r>
                <a:endParaRPr kumimoji="1" lang="en-US" altLang="zh-CN" sz="2400" b="1">
                  <a:latin typeface="Times New Roman" pitchFamily="18" charset="0"/>
                </a:endParaRPr>
              </a:p>
            </p:txBody>
          </p:sp>
          <p:sp>
            <p:nvSpPr>
              <p:cNvPr id="87056" name="Text Box 26"/>
              <p:cNvSpPr txBox="1">
                <a:spLocks noChangeArrowheads="1"/>
              </p:cNvSpPr>
              <p:nvPr/>
            </p:nvSpPr>
            <p:spPr bwMode="auto">
              <a:xfrm>
                <a:off x="3476" y="3312"/>
                <a:ext cx="2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a</a:t>
                </a:r>
                <a:endParaRPr kumimoji="1" lang="en-US" altLang="zh-CN" sz="2400" b="1">
                  <a:latin typeface="Times New Roman" pitchFamily="18" charset="0"/>
                </a:endParaRPr>
              </a:p>
            </p:txBody>
          </p:sp>
          <p:sp>
            <p:nvSpPr>
              <p:cNvPr id="87057" name="Text Box 30"/>
              <p:cNvSpPr txBox="1">
                <a:spLocks noChangeArrowheads="1"/>
              </p:cNvSpPr>
              <p:nvPr/>
            </p:nvSpPr>
            <p:spPr bwMode="auto">
              <a:xfrm>
                <a:off x="3471" y="3146"/>
                <a:ext cx="26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b</a:t>
                </a:r>
                <a:r>
                  <a:rPr kumimoji="1" lang="en-US" altLang="zh-CN" sz="2400" b="1">
                    <a:latin typeface="Times New Roman" pitchFamily="18" charset="0"/>
                    <a:sym typeface="Symbol" pitchFamily="18" charset="2"/>
                  </a:rPr>
                  <a:t></a:t>
                </a:r>
              </a:p>
            </p:txBody>
          </p:sp>
          <p:sp>
            <p:nvSpPr>
              <p:cNvPr id="87058" name="Line 23"/>
              <p:cNvSpPr>
                <a:spLocks noChangeShapeType="1"/>
              </p:cNvSpPr>
              <p:nvPr/>
            </p:nvSpPr>
            <p:spPr bwMode="auto">
              <a:xfrm>
                <a:off x="3498" y="2954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059" name="Line 24"/>
              <p:cNvSpPr>
                <a:spLocks noChangeShapeType="1"/>
              </p:cNvSpPr>
              <p:nvPr/>
            </p:nvSpPr>
            <p:spPr bwMode="auto">
              <a:xfrm>
                <a:off x="3498" y="3266"/>
                <a:ext cx="0" cy="26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060" name="Line 25"/>
              <p:cNvSpPr>
                <a:spLocks noChangeShapeType="1"/>
              </p:cNvSpPr>
              <p:nvPr/>
            </p:nvSpPr>
            <p:spPr bwMode="auto">
              <a:xfrm>
                <a:off x="3498" y="3528"/>
                <a:ext cx="0" cy="26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7061" name="Text Box 28"/>
              <p:cNvSpPr txBox="1">
                <a:spLocks noChangeArrowheads="1"/>
              </p:cNvSpPr>
              <p:nvPr/>
            </p:nvSpPr>
            <p:spPr bwMode="auto">
              <a:xfrm>
                <a:off x="3283" y="3454"/>
                <a:ext cx="20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k</a:t>
                </a:r>
                <a:endParaRPr kumimoji="1" lang="en-US" altLang="zh-CN" sz="2800" b="1">
                  <a:latin typeface="Times New Roman" pitchFamily="18" charset="0"/>
                </a:endParaRPr>
              </a:p>
            </p:txBody>
          </p:sp>
          <p:sp>
            <p:nvSpPr>
              <p:cNvPr id="87062" name="Text Box 29"/>
              <p:cNvSpPr txBox="1">
                <a:spLocks noChangeArrowheads="1"/>
              </p:cNvSpPr>
              <p:nvPr/>
            </p:nvSpPr>
            <p:spPr bwMode="auto">
              <a:xfrm>
                <a:off x="3461" y="2718"/>
                <a:ext cx="26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  <a:sym typeface="EuroRoman" pitchFamily="2" charset="2"/>
                  </a:rPr>
                  <a:t>a</a:t>
                </a:r>
                <a:r>
                  <a:rPr kumimoji="1" lang="en-US" altLang="zh-CN" sz="2400" b="1">
                    <a:latin typeface="Times New Roman" pitchFamily="18" charset="0"/>
                    <a:sym typeface="Symbol" pitchFamily="18" charset="2"/>
                  </a:rPr>
                  <a:t></a:t>
                </a:r>
              </a:p>
            </p:txBody>
          </p:sp>
          <p:sp>
            <p:nvSpPr>
              <p:cNvPr id="87063" name="Text Box 31"/>
              <p:cNvSpPr txBox="1">
                <a:spLocks noChangeArrowheads="1"/>
              </p:cNvSpPr>
              <p:nvPr/>
            </p:nvSpPr>
            <p:spPr bwMode="auto">
              <a:xfrm>
                <a:off x="3250" y="2973"/>
                <a:ext cx="28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kumimoji="1" lang="en-US" altLang="zh-CN" sz="2400" i="1">
                    <a:latin typeface="Dutch801 Rm BT" pitchFamily="18" charset="0"/>
                  </a:rPr>
                  <a:t>k</a:t>
                </a:r>
                <a:r>
                  <a:rPr kumimoji="1" lang="en-US" altLang="zh-CN" sz="2400" b="1">
                    <a:latin typeface="Times New Roman" pitchFamily="18" charset="0"/>
                    <a:sym typeface="Symbol" pitchFamily="18" charset="2"/>
                  </a:rPr>
                  <a:t></a:t>
                </a:r>
              </a:p>
            </p:txBody>
          </p:sp>
          <p:sp>
            <p:nvSpPr>
              <p:cNvPr id="87064" name="Text Box 33"/>
              <p:cNvSpPr txBox="1">
                <a:spLocks noChangeArrowheads="1"/>
              </p:cNvSpPr>
              <p:nvPr/>
            </p:nvSpPr>
            <p:spPr bwMode="auto">
              <a:xfrm>
                <a:off x="3398" y="3515"/>
                <a:ext cx="197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latin typeface="Times New Roman" pitchFamily="18" charset="0"/>
                  </a:rPr>
                  <a:t>●</a:t>
                </a:r>
                <a:endParaRPr kumimoji="1" lang="en-US" altLang="zh-CN" b="1">
                  <a:latin typeface="Times New Roman" pitchFamily="18" charset="0"/>
                </a:endParaRPr>
              </a:p>
            </p:txBody>
          </p:sp>
          <p:sp>
            <p:nvSpPr>
              <p:cNvPr id="87065" name="Text Box 34"/>
              <p:cNvSpPr txBox="1">
                <a:spLocks noChangeArrowheads="1"/>
              </p:cNvSpPr>
              <p:nvPr/>
            </p:nvSpPr>
            <p:spPr bwMode="auto">
              <a:xfrm>
                <a:off x="3397" y="3079"/>
                <a:ext cx="197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kumimoji="1" lang="en-US" altLang="zh-CN" sz="1000" b="1">
                    <a:latin typeface="Times New Roman" pitchFamily="18" charset="0"/>
                  </a:rPr>
                  <a:t>●</a:t>
                </a:r>
              </a:p>
            </p:txBody>
          </p:sp>
          <p:sp>
            <p:nvSpPr>
              <p:cNvPr id="87066" name="Line 36"/>
              <p:cNvSpPr>
                <a:spLocks noChangeShapeType="1"/>
              </p:cNvSpPr>
              <p:nvPr/>
            </p:nvSpPr>
            <p:spPr bwMode="auto">
              <a:xfrm>
                <a:off x="3297" y="3385"/>
                <a:ext cx="81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87045" name="Text Box 38"/>
          <p:cNvSpPr txBox="1">
            <a:spLocks noChangeArrowheads="1"/>
          </p:cNvSpPr>
          <p:nvPr/>
        </p:nvSpPr>
        <p:spPr bwMode="auto">
          <a:xfrm>
            <a:off x="4243388" y="87314"/>
            <a:ext cx="3733800" cy="584775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sz="32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  结  </a:t>
            </a:r>
            <a:endParaRPr kumimoji="1" lang="zh-CN" altLang="en-US" sz="32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  <a:sym typeface="Monotype Sorts" pitchFamily="2" charset="2"/>
            </a:endParaRPr>
          </a:p>
        </p:txBody>
      </p:sp>
      <p:sp>
        <p:nvSpPr>
          <p:cNvPr id="134183" name="Text Box 39"/>
          <p:cNvSpPr txBox="1">
            <a:spLocks noChangeArrowheads="1"/>
          </p:cNvSpPr>
          <p:nvPr/>
        </p:nvSpPr>
        <p:spPr bwMode="auto">
          <a:xfrm>
            <a:off x="2014216" y="1408331"/>
            <a:ext cx="8246120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宋体" pitchFamily="2" charset="-122"/>
              </a:rPr>
              <a:t>★ </a:t>
            </a:r>
            <a:r>
              <a:rPr kumimoji="1" lang="zh-CN" altLang="en-US" sz="2400" b="1" dirty="0">
                <a:latin typeface="宋体" pitchFamily="2" charset="-122"/>
              </a:rPr>
              <a:t>点、直线、平面的投影特性，尤其是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特殊位置直线与平</a:t>
            </a:r>
            <a:endParaRPr kumimoji="1" lang="en-US" altLang="zh-CN" sz="2400" b="1" dirty="0">
              <a:solidFill>
                <a:srgbClr val="FF3300"/>
              </a:solidFill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kumimoji="1"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   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面的投影特性</a:t>
            </a:r>
            <a:r>
              <a:rPr kumimoji="1" lang="zh-CN" altLang="en-US" sz="2400" b="1" dirty="0">
                <a:latin typeface="宋体" pitchFamily="2" charset="-122"/>
              </a:rPr>
              <a:t>。</a:t>
            </a:r>
          </a:p>
        </p:txBody>
      </p:sp>
      <p:sp>
        <p:nvSpPr>
          <p:cNvPr id="134184" name="Text Box 40"/>
          <p:cNvSpPr txBox="1">
            <a:spLocks noChangeArrowheads="1"/>
          </p:cNvSpPr>
          <p:nvPr/>
        </p:nvSpPr>
        <p:spPr bwMode="auto">
          <a:xfrm>
            <a:off x="1917206" y="763885"/>
            <a:ext cx="19880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1" lang="zh-CN" altLang="en-US" sz="2800" b="1" dirty="0">
                <a:latin typeface="Times New Roman" pitchFamily="18" charset="0"/>
              </a:rPr>
              <a:t>重点掌握：</a:t>
            </a:r>
          </a:p>
        </p:txBody>
      </p:sp>
      <p:sp>
        <p:nvSpPr>
          <p:cNvPr id="134185" name="Text Box 41"/>
          <p:cNvSpPr txBox="1">
            <a:spLocks noChangeArrowheads="1"/>
          </p:cNvSpPr>
          <p:nvPr/>
        </p:nvSpPr>
        <p:spPr bwMode="auto">
          <a:xfrm>
            <a:off x="2048570" y="2132856"/>
            <a:ext cx="7935863" cy="4247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宋体" pitchFamily="2" charset="-122"/>
              </a:rPr>
              <a:t>★ </a:t>
            </a:r>
            <a:r>
              <a:rPr kumimoji="1" lang="zh-CN" altLang="en-US" sz="2400" b="1" dirty="0">
                <a:latin typeface="宋体" pitchFamily="2" charset="-122"/>
              </a:rPr>
              <a:t>点、直线、平面的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相对位置的判断方法及投影特性</a:t>
            </a:r>
            <a:r>
              <a:rPr kumimoji="1" lang="zh-CN" altLang="en-US" sz="2400" b="1" dirty="0">
                <a:latin typeface="宋体" pitchFamily="2" charset="-122"/>
              </a:rPr>
              <a:t>。</a:t>
            </a:r>
          </a:p>
        </p:txBody>
      </p:sp>
      <p:sp>
        <p:nvSpPr>
          <p:cNvPr id="134186" name="Text Box 42"/>
          <p:cNvSpPr txBox="1">
            <a:spLocks noChangeArrowheads="1"/>
          </p:cNvSpPr>
          <p:nvPr/>
        </p:nvSpPr>
        <p:spPr bwMode="auto">
          <a:xfrm>
            <a:off x="2537107" y="2492897"/>
            <a:ext cx="2350322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3366CC"/>
                </a:solidFill>
                <a:latin typeface="宋体" pitchFamily="2" charset="-122"/>
              </a:rPr>
              <a:t>一、直线上的点</a:t>
            </a:r>
          </a:p>
        </p:txBody>
      </p:sp>
      <p:sp>
        <p:nvSpPr>
          <p:cNvPr id="134187" name="Text Box 43"/>
          <p:cNvSpPr txBox="1">
            <a:spLocks noChangeArrowheads="1"/>
          </p:cNvSpPr>
          <p:nvPr/>
        </p:nvSpPr>
        <p:spPr bwMode="auto">
          <a:xfrm>
            <a:off x="2531170" y="2987453"/>
            <a:ext cx="49808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b="1">
                <a:latin typeface="宋体" pitchFamily="2" charset="-122"/>
              </a:rPr>
              <a:t>⒈ </a:t>
            </a:r>
            <a:r>
              <a:rPr kumimoji="1" lang="zh-CN" altLang="en-US" sz="2400" b="1">
                <a:latin typeface="宋体" pitchFamily="2" charset="-122"/>
              </a:rPr>
              <a:t>点的投影在直线的同名投影上。</a:t>
            </a:r>
          </a:p>
        </p:txBody>
      </p:sp>
      <p:sp>
        <p:nvSpPr>
          <p:cNvPr id="134188" name="Text Box 44"/>
          <p:cNvSpPr txBox="1">
            <a:spLocks noChangeArrowheads="1"/>
          </p:cNvSpPr>
          <p:nvPr/>
        </p:nvSpPr>
        <p:spPr bwMode="auto">
          <a:xfrm>
            <a:off x="2531170" y="3433540"/>
            <a:ext cx="84613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latin typeface="宋体" pitchFamily="2" charset="-122"/>
              </a:rPr>
              <a:t>⒉ </a:t>
            </a:r>
            <a:r>
              <a:rPr kumimoji="1" lang="zh-CN" altLang="en-US" sz="2400" b="1">
                <a:latin typeface="宋体" pitchFamily="2" charset="-122"/>
              </a:rPr>
              <a:t>点的投影必分线段的投影成定比</a:t>
            </a:r>
            <a:r>
              <a:rPr kumimoji="1" lang="en-US" altLang="zh-CN" sz="2400" b="1">
                <a:latin typeface="Times New Roman" pitchFamily="18" charset="0"/>
              </a:rPr>
              <a:t>——</a:t>
            </a:r>
            <a:r>
              <a:rPr kumimoji="1" lang="zh-CN" altLang="en-US" sz="2400" b="1">
                <a:latin typeface="宋体" pitchFamily="2" charset="-122"/>
              </a:rPr>
              <a:t>定比定理。</a:t>
            </a:r>
          </a:p>
        </p:txBody>
      </p:sp>
      <p:sp>
        <p:nvSpPr>
          <p:cNvPr id="134189" name="Text Box 45"/>
          <p:cNvSpPr txBox="1">
            <a:spLocks noChangeArrowheads="1"/>
          </p:cNvSpPr>
          <p:nvPr/>
        </p:nvSpPr>
        <p:spPr bwMode="auto">
          <a:xfrm>
            <a:off x="2531169" y="3903440"/>
            <a:ext cx="55610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latin typeface="宋体" pitchFamily="2" charset="-122"/>
              </a:rPr>
              <a:t>⒊ </a:t>
            </a:r>
            <a:r>
              <a:rPr kumimoji="1" lang="zh-CN" altLang="en-US" sz="2400" b="1">
                <a:latin typeface="宋体" pitchFamily="2" charset="-122"/>
              </a:rPr>
              <a:t>判断方法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3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3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3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3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83" grpId="0" autoUpdateAnimBg="0"/>
      <p:bldP spid="134184" grpId="0" autoUpdateAnimBg="0"/>
      <p:bldP spid="134185" grpId="0" autoUpdateAnimBg="0"/>
      <p:bldP spid="134186" grpId="0" autoUpdateAnimBg="0"/>
      <p:bldP spid="134187" grpId="0" autoUpdateAnimBg="0"/>
      <p:bldP spid="134188" grpId="0" autoUpdateAnimBg="0"/>
      <p:bldP spid="134189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/>
          <p:cNvSpPr txBox="1">
            <a:spLocks noChangeArrowheads="1"/>
          </p:cNvSpPr>
          <p:nvPr/>
        </p:nvSpPr>
        <p:spPr bwMode="auto">
          <a:xfrm>
            <a:off x="2462213" y="29845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endParaRPr kumimoji="1" lang="zh-CN" altLang="zh-CN" sz="2400" b="1">
              <a:latin typeface="Times New Roman" pitchFamily="18" charset="0"/>
            </a:endParaRP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1403710" y="676024"/>
            <a:ext cx="3791423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3366CC"/>
                </a:solidFill>
                <a:latin typeface="Times New Roman" pitchFamily="18" charset="0"/>
              </a:rPr>
              <a:t>二、两直线的相对位置</a:t>
            </a:r>
          </a:p>
        </p:txBody>
      </p:sp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1722076" y="1283391"/>
            <a:ext cx="11897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zh-CN" sz="2400" b="1" dirty="0">
                <a:latin typeface="Times New Roman" pitchFamily="18" charset="0"/>
              </a:rPr>
              <a:t>⒈ </a:t>
            </a:r>
            <a:r>
              <a:rPr kumimoji="1" lang="zh-CN" altLang="en-US" sz="2400" b="1" dirty="0">
                <a:latin typeface="Times New Roman" pitchFamily="18" charset="0"/>
              </a:rPr>
              <a:t>平行</a:t>
            </a:r>
          </a:p>
        </p:txBody>
      </p:sp>
      <p:sp>
        <p:nvSpPr>
          <p:cNvPr id="135173" name="Text Box 5"/>
          <p:cNvSpPr txBox="1">
            <a:spLocks noChangeArrowheads="1"/>
          </p:cNvSpPr>
          <p:nvPr/>
        </p:nvSpPr>
        <p:spPr bwMode="auto">
          <a:xfrm>
            <a:off x="2518668" y="1749293"/>
            <a:ext cx="38369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latin typeface="Times New Roman" pitchFamily="18" charset="0"/>
              </a:rPr>
              <a:t>同名投影互相平行。</a:t>
            </a:r>
          </a:p>
        </p:txBody>
      </p:sp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1999555" y="5259448"/>
            <a:ext cx="43561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kumimoji="1" lang="en-US" altLang="zh-CN" sz="2400" b="1" dirty="0">
                <a:solidFill>
                  <a:schemeClr val="tx2"/>
                </a:solidFill>
                <a:latin typeface="宋体" pitchFamily="2" charset="-122"/>
              </a:rPr>
              <a:t>   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itchFamily="2" charset="-122"/>
              </a:rPr>
              <a:t>对于一般位置直线，只</a:t>
            </a:r>
          </a:p>
          <a:p>
            <a:r>
              <a:rPr kumimoji="1" lang="zh-CN" altLang="en-US" sz="2400" b="1" dirty="0">
                <a:solidFill>
                  <a:schemeClr val="tx2"/>
                </a:solidFill>
                <a:latin typeface="宋体" pitchFamily="2" charset="-122"/>
              </a:rPr>
              <a:t>要有两个同名投影互相平行，空间两直线就平行。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385319" y="2484340"/>
            <a:ext cx="3182937" cy="2501055"/>
            <a:chOff x="507" y="1256"/>
            <a:chExt cx="1817" cy="1363"/>
          </a:xfrm>
        </p:grpSpPr>
        <p:sp>
          <p:nvSpPr>
            <p:cNvPr id="88090" name="Line 8"/>
            <p:cNvSpPr>
              <a:spLocks noChangeShapeType="1"/>
            </p:cNvSpPr>
            <p:nvPr/>
          </p:nvSpPr>
          <p:spPr bwMode="auto">
            <a:xfrm>
              <a:off x="538" y="2029"/>
              <a:ext cx="178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91" name="Line 9"/>
            <p:cNvSpPr>
              <a:spLocks noChangeShapeType="1"/>
            </p:cNvSpPr>
            <p:nvPr/>
          </p:nvSpPr>
          <p:spPr bwMode="auto">
            <a:xfrm flipV="1">
              <a:off x="880" y="1458"/>
              <a:ext cx="501" cy="361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92" name="Line 10"/>
            <p:cNvSpPr>
              <a:spLocks noChangeShapeType="1"/>
            </p:cNvSpPr>
            <p:nvPr/>
          </p:nvSpPr>
          <p:spPr bwMode="auto">
            <a:xfrm flipV="1">
              <a:off x="1473" y="1611"/>
              <a:ext cx="502" cy="361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93" name="Line 11"/>
            <p:cNvSpPr>
              <a:spLocks noChangeShapeType="1"/>
            </p:cNvSpPr>
            <p:nvPr/>
          </p:nvSpPr>
          <p:spPr bwMode="auto">
            <a:xfrm>
              <a:off x="880" y="1819"/>
              <a:ext cx="0" cy="4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94" name="Line 12"/>
            <p:cNvSpPr>
              <a:spLocks noChangeShapeType="1"/>
            </p:cNvSpPr>
            <p:nvPr/>
          </p:nvSpPr>
          <p:spPr bwMode="auto">
            <a:xfrm>
              <a:off x="1381" y="1458"/>
              <a:ext cx="0" cy="9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95" name="Line 13"/>
            <p:cNvSpPr>
              <a:spLocks noChangeShapeType="1"/>
            </p:cNvSpPr>
            <p:nvPr/>
          </p:nvSpPr>
          <p:spPr bwMode="auto">
            <a:xfrm>
              <a:off x="1473" y="1972"/>
              <a:ext cx="0" cy="25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96" name="Line 14"/>
            <p:cNvSpPr>
              <a:spLocks noChangeShapeType="1"/>
            </p:cNvSpPr>
            <p:nvPr/>
          </p:nvSpPr>
          <p:spPr bwMode="auto">
            <a:xfrm>
              <a:off x="880" y="2223"/>
              <a:ext cx="501" cy="21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97" name="Line 15"/>
            <p:cNvSpPr>
              <a:spLocks noChangeShapeType="1"/>
            </p:cNvSpPr>
            <p:nvPr/>
          </p:nvSpPr>
          <p:spPr bwMode="auto">
            <a:xfrm>
              <a:off x="1473" y="2227"/>
              <a:ext cx="502" cy="21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98" name="Line 16"/>
            <p:cNvSpPr>
              <a:spLocks noChangeShapeType="1"/>
            </p:cNvSpPr>
            <p:nvPr/>
          </p:nvSpPr>
          <p:spPr bwMode="auto">
            <a:xfrm flipV="1">
              <a:off x="1975" y="1603"/>
              <a:ext cx="0" cy="8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99" name="Text Box 17"/>
            <p:cNvSpPr txBox="1">
              <a:spLocks noChangeArrowheads="1"/>
            </p:cNvSpPr>
            <p:nvPr/>
          </p:nvSpPr>
          <p:spPr bwMode="auto">
            <a:xfrm>
              <a:off x="727" y="2110"/>
              <a:ext cx="1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88100" name="Text Box 18"/>
            <p:cNvSpPr txBox="1">
              <a:spLocks noChangeArrowheads="1"/>
            </p:cNvSpPr>
            <p:nvPr/>
          </p:nvSpPr>
          <p:spPr bwMode="auto">
            <a:xfrm>
              <a:off x="1344" y="2366"/>
              <a:ext cx="1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>
                <a:latin typeface="Times New Roman" pitchFamily="18" charset="0"/>
              </a:endParaRPr>
            </a:p>
          </p:txBody>
        </p:sp>
        <p:sp>
          <p:nvSpPr>
            <p:cNvPr id="88101" name="Text Box 19"/>
            <p:cNvSpPr txBox="1">
              <a:spLocks noChangeArrowheads="1"/>
            </p:cNvSpPr>
            <p:nvPr/>
          </p:nvSpPr>
          <p:spPr bwMode="auto">
            <a:xfrm>
              <a:off x="1363" y="2157"/>
              <a:ext cx="17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000">
                <a:latin typeface="Times New Roman" pitchFamily="18" charset="0"/>
              </a:endParaRPr>
            </a:p>
          </p:txBody>
        </p:sp>
        <p:sp>
          <p:nvSpPr>
            <p:cNvPr id="88102" name="Text Box 20"/>
            <p:cNvSpPr txBox="1">
              <a:spLocks noChangeArrowheads="1"/>
            </p:cNvSpPr>
            <p:nvPr/>
          </p:nvSpPr>
          <p:spPr bwMode="auto">
            <a:xfrm>
              <a:off x="1915" y="2367"/>
              <a:ext cx="1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000">
                <a:latin typeface="Times New Roman" pitchFamily="18" charset="0"/>
              </a:endParaRPr>
            </a:p>
          </p:txBody>
        </p:sp>
        <p:sp>
          <p:nvSpPr>
            <p:cNvPr id="88103" name="Text Box 21"/>
            <p:cNvSpPr txBox="1">
              <a:spLocks noChangeArrowheads="1"/>
            </p:cNvSpPr>
            <p:nvPr/>
          </p:nvSpPr>
          <p:spPr bwMode="auto">
            <a:xfrm>
              <a:off x="1361" y="1741"/>
              <a:ext cx="22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8104" name="Text Box 22"/>
            <p:cNvSpPr txBox="1">
              <a:spLocks noChangeArrowheads="1"/>
            </p:cNvSpPr>
            <p:nvPr/>
          </p:nvSpPr>
          <p:spPr bwMode="auto">
            <a:xfrm>
              <a:off x="721" y="1664"/>
              <a:ext cx="24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8105" name="Text Box 23"/>
            <p:cNvSpPr txBox="1">
              <a:spLocks noChangeArrowheads="1"/>
            </p:cNvSpPr>
            <p:nvPr/>
          </p:nvSpPr>
          <p:spPr bwMode="auto">
            <a:xfrm>
              <a:off x="1212" y="1266"/>
              <a:ext cx="24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8106" name="Text Box 24"/>
            <p:cNvSpPr txBox="1">
              <a:spLocks noChangeArrowheads="1"/>
            </p:cNvSpPr>
            <p:nvPr/>
          </p:nvSpPr>
          <p:spPr bwMode="auto">
            <a:xfrm>
              <a:off x="1769" y="1385"/>
              <a:ext cx="51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8107" name="Text Box 25"/>
            <p:cNvSpPr txBox="1">
              <a:spLocks noChangeArrowheads="1"/>
            </p:cNvSpPr>
            <p:nvPr/>
          </p:nvSpPr>
          <p:spPr bwMode="auto">
            <a:xfrm>
              <a:off x="507" y="1256"/>
              <a:ext cx="35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①</a:t>
              </a:r>
              <a:endParaRPr kumimoji="1" lang="en-US" altLang="zh-CN" sz="3200" b="1">
                <a:latin typeface="Times New Roman" pitchFamily="18" charset="0"/>
              </a:endParaRPr>
            </a:p>
          </p:txBody>
        </p:sp>
      </p:grpSp>
      <p:sp>
        <p:nvSpPr>
          <p:cNvPr id="135194" name="Text Box 26"/>
          <p:cNvSpPr txBox="1">
            <a:spLocks noChangeArrowheads="1"/>
          </p:cNvSpPr>
          <p:nvPr/>
        </p:nvSpPr>
        <p:spPr bwMode="auto">
          <a:xfrm>
            <a:off x="6468368" y="5259448"/>
            <a:ext cx="39481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对于特殊位置直线，只有两个同名投影互相平行，空间直线不一定平行。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6950969" y="2151211"/>
            <a:ext cx="2001837" cy="2965450"/>
            <a:chOff x="3287" y="915"/>
            <a:chExt cx="1261" cy="1868"/>
          </a:xfrm>
        </p:grpSpPr>
        <p:sp>
          <p:nvSpPr>
            <p:cNvPr id="88074" name="Text Box 28"/>
            <p:cNvSpPr txBox="1">
              <a:spLocks noChangeArrowheads="1"/>
            </p:cNvSpPr>
            <p:nvPr/>
          </p:nvSpPr>
          <p:spPr bwMode="auto">
            <a:xfrm>
              <a:off x="3682" y="1909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88075" name="Line 29"/>
            <p:cNvSpPr>
              <a:spLocks noChangeShapeType="1"/>
            </p:cNvSpPr>
            <p:nvPr/>
          </p:nvSpPr>
          <p:spPr bwMode="auto">
            <a:xfrm>
              <a:off x="4185" y="2261"/>
              <a:ext cx="0" cy="4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76" name="Line 30"/>
            <p:cNvSpPr>
              <a:spLocks noChangeShapeType="1"/>
            </p:cNvSpPr>
            <p:nvPr/>
          </p:nvSpPr>
          <p:spPr bwMode="auto">
            <a:xfrm>
              <a:off x="3629" y="1934"/>
              <a:ext cx="91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77" name="Line 31"/>
            <p:cNvSpPr>
              <a:spLocks noChangeShapeType="1"/>
            </p:cNvSpPr>
            <p:nvPr/>
          </p:nvSpPr>
          <p:spPr bwMode="auto">
            <a:xfrm>
              <a:off x="3860" y="1104"/>
              <a:ext cx="0" cy="58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78" name="Line 32"/>
            <p:cNvSpPr>
              <a:spLocks noChangeShapeType="1"/>
            </p:cNvSpPr>
            <p:nvPr/>
          </p:nvSpPr>
          <p:spPr bwMode="auto">
            <a:xfrm>
              <a:off x="3860" y="1688"/>
              <a:ext cx="0" cy="4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79" name="Line 33"/>
            <p:cNvSpPr>
              <a:spLocks noChangeShapeType="1"/>
            </p:cNvSpPr>
            <p:nvPr/>
          </p:nvSpPr>
          <p:spPr bwMode="auto">
            <a:xfrm>
              <a:off x="3860" y="2090"/>
              <a:ext cx="0" cy="454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80" name="Line 34"/>
            <p:cNvSpPr>
              <a:spLocks noChangeShapeType="1"/>
            </p:cNvSpPr>
            <p:nvPr/>
          </p:nvSpPr>
          <p:spPr bwMode="auto">
            <a:xfrm>
              <a:off x="4185" y="1351"/>
              <a:ext cx="0" cy="4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81" name="Line 35"/>
            <p:cNvSpPr>
              <a:spLocks noChangeShapeType="1"/>
            </p:cNvSpPr>
            <p:nvPr/>
          </p:nvSpPr>
          <p:spPr bwMode="auto">
            <a:xfrm>
              <a:off x="4185" y="1779"/>
              <a:ext cx="0" cy="4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8082" name="Text Box 36"/>
            <p:cNvSpPr txBox="1">
              <a:spLocks noChangeArrowheads="1"/>
            </p:cNvSpPr>
            <p:nvPr/>
          </p:nvSpPr>
          <p:spPr bwMode="auto">
            <a:xfrm>
              <a:off x="3998" y="2130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88083" name="Text Box 37"/>
            <p:cNvSpPr txBox="1">
              <a:spLocks noChangeArrowheads="1"/>
            </p:cNvSpPr>
            <p:nvPr/>
          </p:nvSpPr>
          <p:spPr bwMode="auto">
            <a:xfrm>
              <a:off x="3678" y="2412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88084" name="Text Box 38"/>
            <p:cNvSpPr txBox="1">
              <a:spLocks noChangeArrowheads="1"/>
            </p:cNvSpPr>
            <p:nvPr/>
          </p:nvSpPr>
          <p:spPr bwMode="auto">
            <a:xfrm>
              <a:off x="3561" y="1555"/>
              <a:ext cx="4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  <a:endParaRPr kumimoji="1" lang="en-US" altLang="zh-CN" sz="2000" b="1">
                <a:latin typeface="Times New Roman" pitchFamily="18" charset="0"/>
              </a:endParaRPr>
            </a:p>
          </p:txBody>
        </p:sp>
        <p:sp>
          <p:nvSpPr>
            <p:cNvPr id="88085" name="Text Box 39"/>
            <p:cNvSpPr txBox="1">
              <a:spLocks noChangeArrowheads="1"/>
            </p:cNvSpPr>
            <p:nvPr/>
          </p:nvSpPr>
          <p:spPr bwMode="auto">
            <a:xfrm>
              <a:off x="3938" y="1660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8086" name="Text Box 40"/>
            <p:cNvSpPr txBox="1">
              <a:spLocks noChangeArrowheads="1"/>
            </p:cNvSpPr>
            <p:nvPr/>
          </p:nvSpPr>
          <p:spPr bwMode="auto">
            <a:xfrm>
              <a:off x="3957" y="1202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8087" name="Text Box 41"/>
            <p:cNvSpPr txBox="1">
              <a:spLocks noChangeArrowheads="1"/>
            </p:cNvSpPr>
            <p:nvPr/>
          </p:nvSpPr>
          <p:spPr bwMode="auto">
            <a:xfrm>
              <a:off x="3674" y="915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88088" name="Text Box 42"/>
            <p:cNvSpPr txBox="1">
              <a:spLocks noChangeArrowheads="1"/>
            </p:cNvSpPr>
            <p:nvPr/>
          </p:nvSpPr>
          <p:spPr bwMode="auto">
            <a:xfrm>
              <a:off x="3287" y="975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②</a:t>
              </a:r>
            </a:p>
          </p:txBody>
        </p:sp>
        <p:sp>
          <p:nvSpPr>
            <p:cNvPr id="88089" name="Text Box 43"/>
            <p:cNvSpPr txBox="1">
              <a:spLocks noChangeArrowheads="1"/>
            </p:cNvSpPr>
            <p:nvPr/>
          </p:nvSpPr>
          <p:spPr bwMode="auto">
            <a:xfrm>
              <a:off x="3995" y="2492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35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75"/>
                                        <p:tgtEl>
                                          <p:spTgt spid="135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135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"/>
                                        <p:tgtEl>
                                          <p:spTgt spid="135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 build="p" autoUpdateAnimBg="0"/>
      <p:bldP spid="135173" grpId="0" autoUpdateAnimBg="0"/>
      <p:bldP spid="135174" grpId="0" build="p" autoUpdateAnimBg="0"/>
      <p:bldP spid="135194" grpId="0" build="p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Box 2">
            <a:extLst>
              <a:ext uri="{FF2B5EF4-FFF2-40B4-BE49-F238E27FC236}">
                <a16:creationId xmlns:a16="http://schemas.microsoft.com/office/drawing/2014/main" id="{7FAB9575-9D5D-4346-8ECE-A3AE690E0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032" y="1269732"/>
            <a:ext cx="1447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 b="1" dirty="0">
                <a:latin typeface="宋体" pitchFamily="2" charset="-122"/>
              </a:rPr>
              <a:t>⒉ </a:t>
            </a:r>
            <a:r>
              <a:rPr kumimoji="1" lang="zh-CN" altLang="en-US" sz="2800" b="1" dirty="0">
                <a:latin typeface="宋体" pitchFamily="2" charset="-122"/>
              </a:rPr>
              <a:t>相交</a:t>
            </a:r>
          </a:p>
        </p:txBody>
      </p:sp>
      <p:sp>
        <p:nvSpPr>
          <p:cNvPr id="33" name="Text Box 3">
            <a:extLst>
              <a:ext uri="{FF2B5EF4-FFF2-40B4-BE49-F238E27FC236}">
                <a16:creationId xmlns:a16="http://schemas.microsoft.com/office/drawing/2014/main" id="{2B3AA452-8EB9-4DE3-A9A9-517E208AE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007" y="2516304"/>
            <a:ext cx="2890838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2800" b="1" dirty="0">
                <a:latin typeface="宋体" pitchFamily="2" charset="-122"/>
              </a:rPr>
              <a:t>⒊ </a:t>
            </a:r>
            <a:r>
              <a:rPr kumimoji="1" lang="zh-CN" altLang="en-US" sz="2800" b="1" dirty="0">
                <a:latin typeface="宋体" pitchFamily="2" charset="-122"/>
              </a:rPr>
              <a:t>交叉（异面）</a:t>
            </a:r>
          </a:p>
        </p:txBody>
      </p:sp>
      <p:sp>
        <p:nvSpPr>
          <p:cNvPr id="34" name="Text Box 4">
            <a:extLst>
              <a:ext uri="{FF2B5EF4-FFF2-40B4-BE49-F238E27FC236}">
                <a16:creationId xmlns:a16="http://schemas.microsoft.com/office/drawing/2014/main" id="{603F49C0-3904-4462-943E-40194443A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519" y="1698776"/>
            <a:ext cx="902198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同名投影相交，交点是两直线的共有点，且符合空间一个点的投影规律。</a:t>
            </a:r>
          </a:p>
        </p:txBody>
      </p:sp>
      <p:sp>
        <p:nvSpPr>
          <p:cNvPr id="35" name="Text Box 5">
            <a:extLst>
              <a:ext uri="{FF2B5EF4-FFF2-40B4-BE49-F238E27FC236}">
                <a16:creationId xmlns:a16="http://schemas.microsoft.com/office/drawing/2014/main" id="{3C652631-58B2-4F76-9F53-89A21F551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1582" y="2950436"/>
            <a:ext cx="8466906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同名投影可能相交，但</a:t>
            </a:r>
            <a:r>
              <a:rPr kumimoji="1" lang="zh-CN" altLang="en-US" sz="2400" b="1" dirty="0">
                <a:latin typeface="Times New Roman" pitchFamily="18" charset="0"/>
              </a:rPr>
              <a:t>“</a:t>
            </a:r>
            <a:r>
              <a:rPr kumimoji="1" lang="zh-CN" altLang="en-US" sz="2400" b="1" dirty="0">
                <a:latin typeface="宋体" pitchFamily="2" charset="-122"/>
              </a:rPr>
              <a:t>交点</a:t>
            </a:r>
            <a:r>
              <a:rPr kumimoji="1" lang="zh-CN" altLang="en-US" sz="2400" b="1" dirty="0">
                <a:latin typeface="Times New Roman" pitchFamily="18" charset="0"/>
              </a:rPr>
              <a:t>”</a:t>
            </a:r>
            <a:r>
              <a:rPr kumimoji="1" lang="zh-CN" altLang="en-US" sz="2400" b="1" dirty="0">
                <a:latin typeface="宋体" pitchFamily="2" charset="-122"/>
              </a:rPr>
              <a:t>不符合空间一个点的投影规律。</a:t>
            </a:r>
            <a:r>
              <a:rPr kumimoji="1" lang="zh-CN" altLang="en-US" sz="2400" b="1" dirty="0">
                <a:latin typeface="Times New Roman" pitchFamily="18" charset="0"/>
              </a:rPr>
              <a:t>“</a:t>
            </a:r>
            <a:r>
              <a:rPr kumimoji="1" lang="zh-CN" altLang="en-US" sz="2400" b="1" dirty="0">
                <a:latin typeface="宋体" pitchFamily="2" charset="-122"/>
              </a:rPr>
              <a:t>交点</a:t>
            </a:r>
            <a:r>
              <a:rPr kumimoji="1" lang="zh-CN" altLang="en-US" sz="2400" b="1" dirty="0">
                <a:latin typeface="Times New Roman" pitchFamily="18" charset="0"/>
              </a:rPr>
              <a:t>”</a:t>
            </a:r>
            <a:r>
              <a:rPr kumimoji="1" lang="zh-CN" altLang="en-US" sz="2400" b="1" dirty="0">
                <a:latin typeface="宋体" pitchFamily="2" charset="-122"/>
              </a:rPr>
              <a:t>是两直线上一对重影点的投影。</a:t>
            </a:r>
          </a:p>
        </p:txBody>
      </p:sp>
      <p:grpSp>
        <p:nvGrpSpPr>
          <p:cNvPr id="36" name="Group 6">
            <a:extLst>
              <a:ext uri="{FF2B5EF4-FFF2-40B4-BE49-F238E27FC236}">
                <a16:creationId xmlns:a16="http://schemas.microsoft.com/office/drawing/2014/main" id="{EB91CB13-0440-406F-BC65-08AD398A8D17}"/>
              </a:ext>
            </a:extLst>
          </p:cNvPr>
          <p:cNvGrpSpPr>
            <a:grpSpLocks/>
          </p:cNvGrpSpPr>
          <p:nvPr/>
        </p:nvGrpSpPr>
        <p:grpSpPr bwMode="auto">
          <a:xfrm>
            <a:off x="2670076" y="3883058"/>
            <a:ext cx="2852738" cy="2455761"/>
            <a:chOff x="1278" y="1617"/>
            <a:chExt cx="1797" cy="1561"/>
          </a:xfrm>
        </p:grpSpPr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B644E1BD-6885-4F32-8929-28FA9CD94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8" y="2710"/>
              <a:ext cx="805" cy="289"/>
            </a:xfrm>
            <a:custGeom>
              <a:avLst/>
              <a:gdLst>
                <a:gd name="T0" fmla="*/ 0 w 1369"/>
                <a:gd name="T1" fmla="*/ 1 h 577"/>
                <a:gd name="T2" fmla="*/ 2 w 1369"/>
                <a:gd name="T3" fmla="*/ 0 h 577"/>
                <a:gd name="T4" fmla="*/ 0 60000 65536"/>
                <a:gd name="T5" fmla="*/ 0 60000 65536"/>
                <a:gd name="T6" fmla="*/ 0 w 1369"/>
                <a:gd name="T7" fmla="*/ 0 h 577"/>
                <a:gd name="T8" fmla="*/ 1369 w 1369"/>
                <a:gd name="T9" fmla="*/ 577 h 5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69" h="577">
                  <a:moveTo>
                    <a:pt x="0" y="577"/>
                  </a:moveTo>
                  <a:lnTo>
                    <a:pt x="1369" y="0"/>
                  </a:lnTo>
                </a:path>
              </a:pathLst>
            </a:custGeom>
            <a:noFill/>
            <a:ln w="952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Text Box 8">
              <a:extLst>
                <a:ext uri="{FF2B5EF4-FFF2-40B4-BE49-F238E27FC236}">
                  <a16:creationId xmlns:a16="http://schemas.microsoft.com/office/drawing/2014/main" id="{A1024B9E-80E1-4597-A4D4-911D28675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1" y="2923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1000" b="1">
                  <a:latin typeface="Times New Roman" pitchFamily="18" charset="0"/>
                </a:rPr>
                <a:t>●</a:t>
              </a:r>
              <a:endParaRPr kumimoji="1" lang="en-US" altLang="zh-CN" sz="2000" b="1">
                <a:latin typeface="Times New Roman" pitchFamily="18" charset="0"/>
              </a:endParaRPr>
            </a:p>
          </p:txBody>
        </p:sp>
        <p:sp>
          <p:nvSpPr>
            <p:cNvPr id="39" name="Text Box 9">
              <a:extLst>
                <a:ext uri="{FF2B5EF4-FFF2-40B4-BE49-F238E27FC236}">
                  <a16:creationId xmlns:a16="http://schemas.microsoft.com/office/drawing/2014/main" id="{16405D57-6ACF-4473-B153-FF819CDB09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" y="2003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1000" b="1">
                  <a:latin typeface="Times New Roman" pitchFamily="18" charset="0"/>
                </a:rPr>
                <a:t>●</a:t>
              </a:r>
              <a:endParaRPr kumimoji="1" lang="en-US" altLang="zh-CN" sz="1000" b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40" name="Line 10">
              <a:extLst>
                <a:ext uri="{FF2B5EF4-FFF2-40B4-BE49-F238E27FC236}">
                  <a16:creationId xmlns:a16="http://schemas.microsoft.com/office/drawing/2014/main" id="{20BD1CA8-AAD2-4985-BA9C-6E9589FDD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6" y="1876"/>
              <a:ext cx="0" cy="10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Text Box 11">
              <a:extLst>
                <a:ext uri="{FF2B5EF4-FFF2-40B4-BE49-F238E27FC236}">
                  <a16:creationId xmlns:a16="http://schemas.microsoft.com/office/drawing/2014/main" id="{B63355E0-64DD-4C3D-9195-15975E054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2890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2" name="Line 12">
              <a:extLst>
                <a:ext uri="{FF2B5EF4-FFF2-40B4-BE49-F238E27FC236}">
                  <a16:creationId xmlns:a16="http://schemas.microsoft.com/office/drawing/2014/main" id="{DEA2779E-8274-489B-835B-28614201C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4" y="2471"/>
              <a:ext cx="178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3EB2843D-ACEC-4BE1-8799-A8D0AF9C1D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3" y="1864"/>
              <a:ext cx="1103" cy="429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14">
              <a:extLst>
                <a:ext uri="{FF2B5EF4-FFF2-40B4-BE49-F238E27FC236}">
                  <a16:creationId xmlns:a16="http://schemas.microsoft.com/office/drawing/2014/main" id="{2F39E5B6-AEE6-4B6D-8EEF-E27345BE0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3" y="2293"/>
              <a:ext cx="0" cy="4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15">
              <a:extLst>
                <a:ext uri="{FF2B5EF4-FFF2-40B4-BE49-F238E27FC236}">
                  <a16:creationId xmlns:a16="http://schemas.microsoft.com/office/drawing/2014/main" id="{7447C079-E223-4B45-9EC9-5EDEACACA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3" y="2774"/>
              <a:ext cx="1103" cy="171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Text Box 16">
              <a:extLst>
                <a:ext uri="{FF2B5EF4-FFF2-40B4-BE49-F238E27FC236}">
                  <a16:creationId xmlns:a16="http://schemas.microsoft.com/office/drawing/2014/main" id="{DDD7F488-DDBD-4091-81AF-668CAA058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2" y="2611"/>
              <a:ext cx="2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7" name="Text Box 17">
              <a:extLst>
                <a:ext uri="{FF2B5EF4-FFF2-40B4-BE49-F238E27FC236}">
                  <a16:creationId xmlns:a16="http://schemas.microsoft.com/office/drawing/2014/main" id="{736F9D29-299A-4122-A539-25ACB5F30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4" y="2825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8" name="Text Box 18">
              <a:extLst>
                <a:ext uri="{FF2B5EF4-FFF2-40B4-BE49-F238E27FC236}">
                  <a16:creationId xmlns:a16="http://schemas.microsoft.com/office/drawing/2014/main" id="{422966DF-5C55-4874-AEC9-E78803D36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7" y="1617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49" name="Text Box 19">
              <a:extLst>
                <a:ext uri="{FF2B5EF4-FFF2-40B4-BE49-F238E27FC236}">
                  <a16:creationId xmlns:a16="http://schemas.microsoft.com/office/drawing/2014/main" id="{BF8CC2DB-754D-4D01-A4B9-8524D6993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3" y="2104"/>
              <a:ext cx="26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0" name="Text Box 20">
              <a:extLst>
                <a:ext uri="{FF2B5EF4-FFF2-40B4-BE49-F238E27FC236}">
                  <a16:creationId xmlns:a16="http://schemas.microsoft.com/office/drawing/2014/main" id="{9E8A3B10-DFFA-4529-A4C9-A06777D34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5" y="1915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1" name="Line 21">
              <a:extLst>
                <a:ext uri="{FF2B5EF4-FFF2-40B4-BE49-F238E27FC236}">
                  <a16:creationId xmlns:a16="http://schemas.microsoft.com/office/drawing/2014/main" id="{0294A838-D5B4-4456-AE44-EDB78732ED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" y="2079"/>
              <a:ext cx="0" cy="9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22">
              <a:extLst>
                <a:ext uri="{FF2B5EF4-FFF2-40B4-BE49-F238E27FC236}">
                  <a16:creationId xmlns:a16="http://schemas.microsoft.com/office/drawing/2014/main" id="{A0F347FD-77A1-4376-83DF-872195F93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4" y="2710"/>
              <a:ext cx="809" cy="28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Text Box 23">
              <a:extLst>
                <a:ext uri="{FF2B5EF4-FFF2-40B4-BE49-F238E27FC236}">
                  <a16:creationId xmlns:a16="http://schemas.microsoft.com/office/drawing/2014/main" id="{CD513C8B-368B-4D6D-83A5-8870156B8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" y="2034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4" name="Text Box 24">
              <a:extLst>
                <a:ext uri="{FF2B5EF4-FFF2-40B4-BE49-F238E27FC236}">
                  <a16:creationId xmlns:a16="http://schemas.microsoft.com/office/drawing/2014/main" id="{736F7FBE-2C3A-498F-BF79-F3832FA62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4" y="1823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  <a:sym typeface="EuroRoman" pitchFamily="2" charset="2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5" name="Line 25">
              <a:extLst>
                <a:ext uri="{FF2B5EF4-FFF2-40B4-BE49-F238E27FC236}">
                  <a16:creationId xmlns:a16="http://schemas.microsoft.com/office/drawing/2014/main" id="{64DF31E4-BE48-4463-817D-AF782A73B9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4" y="2079"/>
              <a:ext cx="80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Text Box 26">
              <a:extLst>
                <a:ext uri="{FF2B5EF4-FFF2-40B4-BE49-F238E27FC236}">
                  <a16:creationId xmlns:a16="http://schemas.microsoft.com/office/drawing/2014/main" id="{FD103E87-002C-43B3-BD3F-788E4B75A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6" y="2819"/>
              <a:ext cx="21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BF0C45E7-D139-4E1E-B7D0-CCC0B1D2E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1" y="2079"/>
              <a:ext cx="0" cy="7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Text Box 28">
              <a:extLst>
                <a:ext uri="{FF2B5EF4-FFF2-40B4-BE49-F238E27FC236}">
                  <a16:creationId xmlns:a16="http://schemas.microsoft.com/office/drawing/2014/main" id="{A6809480-BB89-40B3-A713-C0B39E9A6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9" y="2485"/>
              <a:ext cx="1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kumimoji="1" lang="en-US" altLang="zh-CN" sz="2400" i="1" dirty="0">
                  <a:latin typeface="Dutch801 Rm BT" pitchFamily="18" charset="0"/>
                </a:rPr>
                <a:t>d</a:t>
              </a:r>
              <a:endParaRPr kumimoji="1" lang="en-US" altLang="zh-CN" sz="2400" b="1" dirty="0">
                <a:latin typeface="Times New Roman" pitchFamily="18" charset="0"/>
              </a:endParaRPr>
            </a:p>
          </p:txBody>
        </p:sp>
        <p:sp>
          <p:nvSpPr>
            <p:cNvPr id="59" name="Line 29">
              <a:extLst>
                <a:ext uri="{FF2B5EF4-FFF2-40B4-BE49-F238E27FC236}">
                  <a16:creationId xmlns:a16="http://schemas.microsoft.com/office/drawing/2014/main" id="{5B2B8A4B-4176-43BB-8C01-34E04F3F9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3" y="2079"/>
              <a:ext cx="0" cy="6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Text Box 30">
              <a:extLst>
                <a:ext uri="{FF2B5EF4-FFF2-40B4-BE49-F238E27FC236}">
                  <a16:creationId xmlns:a16="http://schemas.microsoft.com/office/drawing/2014/main" id="{BFD3DE0E-F6D9-4F63-AEBC-17BA774E6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8" y="1643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b="1">
                  <a:latin typeface="Times New Roman" pitchFamily="18" charset="0"/>
                </a:rPr>
                <a:t>①</a:t>
              </a:r>
            </a:p>
          </p:txBody>
        </p:sp>
      </p:grpSp>
      <p:grpSp>
        <p:nvGrpSpPr>
          <p:cNvPr id="61" name="Group 31">
            <a:extLst>
              <a:ext uri="{FF2B5EF4-FFF2-40B4-BE49-F238E27FC236}">
                <a16:creationId xmlns:a16="http://schemas.microsoft.com/office/drawing/2014/main" id="{0FD5D75C-2CF4-48E5-9694-DACF67BB4EFD}"/>
              </a:ext>
            </a:extLst>
          </p:cNvPr>
          <p:cNvGrpSpPr>
            <a:grpSpLocks/>
          </p:cNvGrpSpPr>
          <p:nvPr/>
        </p:nvGrpSpPr>
        <p:grpSpPr bwMode="auto">
          <a:xfrm>
            <a:off x="6384032" y="3882298"/>
            <a:ext cx="2390775" cy="2968625"/>
            <a:chOff x="2742" y="1306"/>
            <a:chExt cx="1506" cy="1887"/>
          </a:xfrm>
        </p:grpSpPr>
        <p:sp>
          <p:nvSpPr>
            <p:cNvPr id="62" name="Line 32">
              <a:extLst>
                <a:ext uri="{FF2B5EF4-FFF2-40B4-BE49-F238E27FC236}">
                  <a16:creationId xmlns:a16="http://schemas.microsoft.com/office/drawing/2014/main" id="{28126260-62A9-4323-98B6-AC2DC3F5B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6" y="2408"/>
              <a:ext cx="1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Line 33">
              <a:extLst>
                <a:ext uri="{FF2B5EF4-FFF2-40B4-BE49-F238E27FC236}">
                  <a16:creationId xmlns:a16="http://schemas.microsoft.com/office/drawing/2014/main" id="{A1145C3D-C131-46AE-821C-5A60BCCFF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1515"/>
              <a:ext cx="0" cy="619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Line 34">
              <a:extLst>
                <a:ext uri="{FF2B5EF4-FFF2-40B4-BE49-F238E27FC236}">
                  <a16:creationId xmlns:a16="http://schemas.microsoft.com/office/drawing/2014/main" id="{5D4F8C03-4125-4402-911D-D7FFB0E61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134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" name="Line 35">
              <a:extLst>
                <a:ext uri="{FF2B5EF4-FFF2-40B4-BE49-F238E27FC236}">
                  <a16:creationId xmlns:a16="http://schemas.microsoft.com/office/drawing/2014/main" id="{5B03A802-1909-423A-94AE-476CC1F5A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5" y="2566"/>
              <a:ext cx="0" cy="49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Line 36">
              <a:extLst>
                <a:ext uri="{FF2B5EF4-FFF2-40B4-BE49-F238E27FC236}">
                  <a16:creationId xmlns:a16="http://schemas.microsoft.com/office/drawing/2014/main" id="{302E8616-474D-4D94-B574-87DA1E319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9" y="1652"/>
              <a:ext cx="661" cy="36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37">
              <a:extLst>
                <a:ext uri="{FF2B5EF4-FFF2-40B4-BE49-F238E27FC236}">
                  <a16:creationId xmlns:a16="http://schemas.microsoft.com/office/drawing/2014/main" id="{81D84EAA-D07D-464D-9CAD-3A0D715FCD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9" y="2566"/>
              <a:ext cx="661" cy="30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Line 38">
              <a:extLst>
                <a:ext uri="{FF2B5EF4-FFF2-40B4-BE49-F238E27FC236}">
                  <a16:creationId xmlns:a16="http://schemas.microsoft.com/office/drawing/2014/main" id="{13ACA470-558B-412D-9E06-6F4BEAD994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9" y="2019"/>
              <a:ext cx="0" cy="5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Line 39">
              <a:extLst>
                <a:ext uri="{FF2B5EF4-FFF2-40B4-BE49-F238E27FC236}">
                  <a16:creationId xmlns:a16="http://schemas.microsoft.com/office/drawing/2014/main" id="{49B289A5-66CA-4B14-B833-09DFF980A9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0" y="1652"/>
              <a:ext cx="0" cy="12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09161F51-DAF9-4E9F-8EAB-BE7A9B9CBC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0" y="1306"/>
              <a:ext cx="377" cy="289"/>
              <a:chOff x="3390" y="1306"/>
              <a:chExt cx="377" cy="289"/>
            </a:xfrm>
          </p:grpSpPr>
          <p:sp>
            <p:nvSpPr>
              <p:cNvPr id="85" name="Text Box 41">
                <a:extLst>
                  <a:ext uri="{FF2B5EF4-FFF2-40B4-BE49-F238E27FC236}">
                    <a16:creationId xmlns:a16="http://schemas.microsoft.com/office/drawing/2014/main" id="{A682E525-91F7-4CA5-9E4D-56B092B033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0" y="1307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kumimoji="1" lang="en-US" altLang="zh-CN" sz="2400" i="1">
                    <a:latin typeface="Dutch801 Rm BT" pitchFamily="18" charset="0"/>
                  </a:rPr>
                  <a:t>c</a:t>
                </a:r>
                <a:endParaRPr kumimoji="1" lang="en-US" altLang="zh-CN" sz="2400" b="1">
                  <a:latin typeface="Times New Roman" pitchFamily="18" charset="0"/>
                </a:endParaRPr>
              </a:p>
            </p:txBody>
          </p:sp>
          <p:sp>
            <p:nvSpPr>
              <p:cNvPr id="86" name="Text Box 42">
                <a:extLst>
                  <a:ext uri="{FF2B5EF4-FFF2-40B4-BE49-F238E27FC236}">
                    <a16:creationId xmlns:a16="http://schemas.microsoft.com/office/drawing/2014/main" id="{36ED25E4-7D1A-4891-9B48-901FBBB904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7" y="1306"/>
                <a:ext cx="31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kumimoji="1" lang="en-US" altLang="zh-CN" sz="2400" b="1">
                    <a:latin typeface="Times New Roman" pitchFamily="18" charset="0"/>
                  </a:rPr>
                  <a:t>′</a:t>
                </a:r>
              </a:p>
            </p:txBody>
          </p:sp>
        </p:grpSp>
        <p:grpSp>
          <p:nvGrpSpPr>
            <p:cNvPr id="71" name="Group 43">
              <a:extLst>
                <a:ext uri="{FF2B5EF4-FFF2-40B4-BE49-F238E27FC236}">
                  <a16:creationId xmlns:a16="http://schemas.microsoft.com/office/drawing/2014/main" id="{0A9D4780-E296-4C59-9828-0B49D3C8B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5" y="1882"/>
              <a:ext cx="383" cy="298"/>
              <a:chOff x="2845" y="1882"/>
              <a:chExt cx="383" cy="298"/>
            </a:xfrm>
          </p:grpSpPr>
          <p:sp>
            <p:nvSpPr>
              <p:cNvPr id="83" name="Text Box 44">
                <a:extLst>
                  <a:ext uri="{FF2B5EF4-FFF2-40B4-BE49-F238E27FC236}">
                    <a16:creationId xmlns:a16="http://schemas.microsoft.com/office/drawing/2014/main" id="{8F907526-0294-41E7-9DCD-3036FE5707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8" y="1882"/>
                <a:ext cx="31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kumimoji="1" lang="en-US" altLang="zh-CN" sz="2400" b="1">
                    <a:latin typeface="Times New Roman" pitchFamily="18" charset="0"/>
                  </a:rPr>
                  <a:t>′</a:t>
                </a:r>
              </a:p>
            </p:txBody>
          </p:sp>
          <p:sp>
            <p:nvSpPr>
              <p:cNvPr id="84" name="Text Box 45">
                <a:extLst>
                  <a:ext uri="{FF2B5EF4-FFF2-40B4-BE49-F238E27FC236}">
                    <a16:creationId xmlns:a16="http://schemas.microsoft.com/office/drawing/2014/main" id="{DD2E3641-D50E-49CE-8467-B806EDABEF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5" y="1892"/>
                <a:ext cx="21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kumimoji="1" lang="en-US" altLang="zh-CN" sz="2400" i="1">
                    <a:latin typeface="Dutch801 Rm BT" pitchFamily="18" charset="0"/>
                  </a:rPr>
                  <a:t>a</a:t>
                </a:r>
                <a:endParaRPr kumimoji="1" lang="en-US" altLang="zh-CN" sz="2400" b="1">
                  <a:latin typeface="Times New Roman" pitchFamily="18" charset="0"/>
                </a:endParaRPr>
              </a:p>
            </p:txBody>
          </p:sp>
        </p:grpSp>
        <p:grpSp>
          <p:nvGrpSpPr>
            <p:cNvPr id="72" name="Group 46">
              <a:extLst>
                <a:ext uri="{FF2B5EF4-FFF2-40B4-BE49-F238E27FC236}">
                  <a16:creationId xmlns:a16="http://schemas.microsoft.com/office/drawing/2014/main" id="{27E19D80-FC42-489A-9AF9-EBB619B0B1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9" y="1456"/>
              <a:ext cx="373" cy="302"/>
              <a:chOff x="3719" y="1456"/>
              <a:chExt cx="373" cy="302"/>
            </a:xfrm>
          </p:grpSpPr>
          <p:sp>
            <p:nvSpPr>
              <p:cNvPr id="81" name="Text Box 47">
                <a:extLst>
                  <a:ext uri="{FF2B5EF4-FFF2-40B4-BE49-F238E27FC236}">
                    <a16:creationId xmlns:a16="http://schemas.microsoft.com/office/drawing/2014/main" id="{82515DB8-966E-4795-A3D5-C665490F46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" y="1456"/>
                <a:ext cx="31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kumimoji="1" lang="en-US" altLang="zh-CN" sz="2400" b="1">
                    <a:latin typeface="Times New Roman" pitchFamily="18" charset="0"/>
                  </a:rPr>
                  <a:t>′</a:t>
                </a:r>
              </a:p>
            </p:txBody>
          </p:sp>
          <p:sp>
            <p:nvSpPr>
              <p:cNvPr id="82" name="Text Box 48">
                <a:extLst>
                  <a:ext uri="{FF2B5EF4-FFF2-40B4-BE49-F238E27FC236}">
                    <a16:creationId xmlns:a16="http://schemas.microsoft.com/office/drawing/2014/main" id="{F199EAF0-4CB2-43D1-BAB1-F059BDDA61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19" y="1470"/>
                <a:ext cx="21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kumimoji="1" lang="en-US" altLang="zh-CN" sz="2400" i="1">
                    <a:latin typeface="Dutch801 Rm BT" pitchFamily="18" charset="0"/>
                  </a:rPr>
                  <a:t>b</a:t>
                </a:r>
                <a:endParaRPr kumimoji="1" lang="en-US" altLang="zh-CN" sz="2400" b="1">
                  <a:latin typeface="Times New Roman" pitchFamily="18" charset="0"/>
                </a:endParaRPr>
              </a:p>
            </p:txBody>
          </p:sp>
        </p:grpSp>
        <p:grpSp>
          <p:nvGrpSpPr>
            <p:cNvPr id="73" name="Group 49">
              <a:extLst>
                <a:ext uri="{FF2B5EF4-FFF2-40B4-BE49-F238E27FC236}">
                  <a16:creationId xmlns:a16="http://schemas.microsoft.com/office/drawing/2014/main" id="{617FAA40-6C1E-499D-A0E9-44D5152B6F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5" y="1980"/>
              <a:ext cx="403" cy="317"/>
              <a:chOff x="3395" y="1980"/>
              <a:chExt cx="403" cy="317"/>
            </a:xfrm>
          </p:grpSpPr>
          <p:sp>
            <p:nvSpPr>
              <p:cNvPr id="79" name="Text Box 50">
                <a:extLst>
                  <a:ext uri="{FF2B5EF4-FFF2-40B4-BE49-F238E27FC236}">
                    <a16:creationId xmlns:a16="http://schemas.microsoft.com/office/drawing/2014/main" id="{7A2F0548-5F79-471F-9C29-6F1D1682E3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5" y="2009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kumimoji="1" lang="en-US" altLang="zh-CN" sz="2400" b="1" i="1">
                    <a:latin typeface="Dutch801 Rm BT" pitchFamily="18" charset="0"/>
                  </a:rPr>
                  <a:t>d</a:t>
                </a:r>
                <a:endParaRPr kumimoji="1" lang="en-US" altLang="zh-CN" sz="2400" b="1">
                  <a:latin typeface="Times New Roman" pitchFamily="18" charset="0"/>
                </a:endParaRPr>
              </a:p>
            </p:txBody>
          </p:sp>
          <p:sp>
            <p:nvSpPr>
              <p:cNvPr id="80" name="Text Box 51">
                <a:extLst>
                  <a:ext uri="{FF2B5EF4-FFF2-40B4-BE49-F238E27FC236}">
                    <a16:creationId xmlns:a16="http://schemas.microsoft.com/office/drawing/2014/main" id="{B933CC88-0F94-42D6-B8CF-99AD77E880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8" y="1980"/>
                <a:ext cx="31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kumimoji="1" lang="en-US" altLang="zh-CN" sz="2400" b="1">
                    <a:latin typeface="Times New Roman" pitchFamily="18" charset="0"/>
                  </a:rPr>
                  <a:t>′</a:t>
                </a:r>
              </a:p>
            </p:txBody>
          </p:sp>
        </p:grpSp>
        <p:sp>
          <p:nvSpPr>
            <p:cNvPr id="74" name="Text Box 52">
              <a:extLst>
                <a:ext uri="{FF2B5EF4-FFF2-40B4-BE49-F238E27FC236}">
                  <a16:creationId xmlns:a16="http://schemas.microsoft.com/office/drawing/2014/main" id="{51FD512F-BF2F-4C04-8AFD-21D892FEE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5" y="242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b="1" i="1">
                  <a:latin typeface="Dutch801 Rm BT" pitchFamily="18" charset="0"/>
                </a:rPr>
                <a:t>a</a:t>
              </a:r>
              <a:endParaRPr kumimoji="1" lang="en-US" altLang="zh-CN" sz="2800" b="1">
                <a:latin typeface="Times New Roman" pitchFamily="18" charset="0"/>
              </a:endParaRPr>
            </a:p>
          </p:txBody>
        </p:sp>
        <p:sp>
          <p:nvSpPr>
            <p:cNvPr id="75" name="Text Box 53">
              <a:extLst>
                <a:ext uri="{FF2B5EF4-FFF2-40B4-BE49-F238E27FC236}">
                  <a16:creationId xmlns:a16="http://schemas.microsoft.com/office/drawing/2014/main" id="{454D7F03-F378-45A1-9477-3A403F3FC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9" y="2741"/>
              <a:ext cx="21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b</a:t>
              </a:r>
            </a:p>
          </p:txBody>
        </p:sp>
        <p:sp>
          <p:nvSpPr>
            <p:cNvPr id="76" name="Text Box 54">
              <a:extLst>
                <a:ext uri="{FF2B5EF4-FFF2-40B4-BE49-F238E27FC236}">
                  <a16:creationId xmlns:a16="http://schemas.microsoft.com/office/drawing/2014/main" id="{249BEE99-6D7A-4611-BB91-74AB6033B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4" y="2905"/>
              <a:ext cx="19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b="1" i="1">
                  <a:latin typeface="Dutch801 Rm BT" pitchFamily="18" charset="0"/>
                </a:rPr>
                <a:t>c</a:t>
              </a:r>
              <a:endParaRPr kumimoji="1" lang="en-US" altLang="zh-CN" sz="2800" b="1">
                <a:latin typeface="Times New Roman" pitchFamily="18" charset="0"/>
              </a:endParaRPr>
            </a:p>
          </p:txBody>
        </p:sp>
        <p:sp>
          <p:nvSpPr>
            <p:cNvPr id="77" name="Text Box 55">
              <a:extLst>
                <a:ext uri="{FF2B5EF4-FFF2-40B4-BE49-F238E27FC236}">
                  <a16:creationId xmlns:a16="http://schemas.microsoft.com/office/drawing/2014/main" id="{8ECACAE6-FEE0-48F3-99A9-E1636B655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5" y="241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b="1" i="1">
                  <a:latin typeface="Dutch801 Rm BT" pitchFamily="18" charset="0"/>
                </a:rPr>
                <a:t>d</a:t>
              </a:r>
              <a:endParaRPr kumimoji="1" lang="en-US" altLang="zh-CN" sz="2800" b="1">
                <a:latin typeface="Times New Roman" pitchFamily="18" charset="0"/>
              </a:endParaRPr>
            </a:p>
          </p:txBody>
        </p:sp>
        <p:sp>
          <p:nvSpPr>
            <p:cNvPr id="78" name="Text Box 56">
              <a:extLst>
                <a:ext uri="{FF2B5EF4-FFF2-40B4-BE49-F238E27FC236}">
                  <a16:creationId xmlns:a16="http://schemas.microsoft.com/office/drawing/2014/main" id="{BDD3BEB1-F6D2-42E7-8E3C-10D483A19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2" y="1307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b="1">
                  <a:latin typeface="Times New Roman" pitchFamily="18" charset="0"/>
                </a:rPr>
                <a:t>②</a:t>
              </a:r>
            </a:p>
          </p:txBody>
        </p:sp>
      </p:grpSp>
      <p:sp>
        <p:nvSpPr>
          <p:cNvPr id="87" name="Text Box 3">
            <a:extLst>
              <a:ext uri="{FF2B5EF4-FFF2-40B4-BE49-F238E27FC236}">
                <a16:creationId xmlns:a16="http://schemas.microsoft.com/office/drawing/2014/main" id="{D9D621C9-D962-422C-B5A2-FC433E0C7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007" y="605842"/>
            <a:ext cx="3790950" cy="523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2800" b="1" dirty="0">
                <a:solidFill>
                  <a:srgbClr val="3366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二、两直线的相对位置</a:t>
            </a:r>
          </a:p>
        </p:txBody>
      </p:sp>
    </p:spTree>
    <p:extLst>
      <p:ext uri="{BB962C8B-B14F-4D97-AF65-F5344CB8AC3E}">
        <p14:creationId xmlns:p14="http://schemas.microsoft.com/office/powerpoint/2010/main" val="364380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 autoUpdateAnimBg="0"/>
      <p:bldP spid="34" grpId="0" autoUpdateAnimBg="0"/>
      <p:bldP spid="35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/>
          <p:cNvSpPr txBox="1">
            <a:spLocks noChangeArrowheads="1"/>
          </p:cNvSpPr>
          <p:nvPr/>
        </p:nvSpPr>
        <p:spPr bwMode="auto">
          <a:xfrm>
            <a:off x="1489877" y="772330"/>
            <a:ext cx="4152099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3366CC"/>
                </a:solidFill>
                <a:latin typeface="Times New Roman" pitchFamily="18" charset="0"/>
              </a:rPr>
              <a:t>三、点与平面的相对位置</a:t>
            </a:r>
          </a:p>
        </p:txBody>
      </p:sp>
      <p:sp>
        <p:nvSpPr>
          <p:cNvPr id="141315" name="Text Box 3"/>
          <p:cNvSpPr txBox="1">
            <a:spLocks noChangeArrowheads="1"/>
          </p:cNvSpPr>
          <p:nvPr/>
        </p:nvSpPr>
        <p:spPr bwMode="auto">
          <a:xfrm>
            <a:off x="2242315" y="1415361"/>
            <a:ext cx="235032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zh-CN" altLang="en-US" sz="2400" b="1" dirty="0">
                <a:latin typeface="Dutch801 Rm BT" pitchFamily="18" charset="0"/>
              </a:rPr>
              <a:t>面上取点的方法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717800" y="2015887"/>
            <a:ext cx="2940050" cy="3201988"/>
            <a:chOff x="742" y="1713"/>
            <a:chExt cx="1852" cy="2017"/>
          </a:xfrm>
        </p:grpSpPr>
        <p:sp>
          <p:nvSpPr>
            <p:cNvPr id="90139" name="Text Box 5"/>
            <p:cNvSpPr txBox="1">
              <a:spLocks noChangeArrowheads="1"/>
            </p:cNvSpPr>
            <p:nvPr/>
          </p:nvSpPr>
          <p:spPr bwMode="auto">
            <a:xfrm>
              <a:off x="1825" y="3153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90140" name="Freeform 6"/>
            <p:cNvSpPr>
              <a:spLocks/>
            </p:cNvSpPr>
            <p:nvPr/>
          </p:nvSpPr>
          <p:spPr bwMode="auto">
            <a:xfrm>
              <a:off x="1136" y="2434"/>
              <a:ext cx="1249" cy="234"/>
            </a:xfrm>
            <a:custGeom>
              <a:avLst/>
              <a:gdLst>
                <a:gd name="T0" fmla="*/ 0 w 1249"/>
                <a:gd name="T1" fmla="*/ 234 h 234"/>
                <a:gd name="T2" fmla="*/ 1249 w 1249"/>
                <a:gd name="T3" fmla="*/ 0 h 234"/>
                <a:gd name="T4" fmla="*/ 0 60000 65536"/>
                <a:gd name="T5" fmla="*/ 0 60000 65536"/>
                <a:gd name="T6" fmla="*/ 0 w 1249"/>
                <a:gd name="T7" fmla="*/ 0 h 234"/>
                <a:gd name="T8" fmla="*/ 1249 w 1249"/>
                <a:gd name="T9" fmla="*/ 234 h 2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49" h="234">
                  <a:moveTo>
                    <a:pt x="0" y="234"/>
                  </a:moveTo>
                  <a:lnTo>
                    <a:pt x="1249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1" name="Line 7"/>
            <p:cNvSpPr>
              <a:spLocks noChangeShapeType="1"/>
            </p:cNvSpPr>
            <p:nvPr/>
          </p:nvSpPr>
          <p:spPr bwMode="auto">
            <a:xfrm flipV="1">
              <a:off x="1128" y="1906"/>
              <a:ext cx="729" cy="75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2" name="Freeform 8"/>
            <p:cNvSpPr>
              <a:spLocks/>
            </p:cNvSpPr>
            <p:nvPr/>
          </p:nvSpPr>
          <p:spPr bwMode="auto">
            <a:xfrm>
              <a:off x="1857" y="1906"/>
              <a:ext cx="532" cy="522"/>
            </a:xfrm>
            <a:custGeom>
              <a:avLst/>
              <a:gdLst>
                <a:gd name="T0" fmla="*/ 0 w 532"/>
                <a:gd name="T1" fmla="*/ 0 h 522"/>
                <a:gd name="T2" fmla="*/ 532 w 532"/>
                <a:gd name="T3" fmla="*/ 522 h 522"/>
                <a:gd name="T4" fmla="*/ 0 60000 65536"/>
                <a:gd name="T5" fmla="*/ 0 60000 65536"/>
                <a:gd name="T6" fmla="*/ 0 w 532"/>
                <a:gd name="T7" fmla="*/ 0 h 522"/>
                <a:gd name="T8" fmla="*/ 532 w 532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2" h="522">
                  <a:moveTo>
                    <a:pt x="0" y="0"/>
                  </a:moveTo>
                  <a:lnTo>
                    <a:pt x="532" y="522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3" name="Line 9"/>
            <p:cNvSpPr>
              <a:spLocks noChangeShapeType="1"/>
            </p:cNvSpPr>
            <p:nvPr/>
          </p:nvSpPr>
          <p:spPr bwMode="auto">
            <a:xfrm>
              <a:off x="2385" y="2434"/>
              <a:ext cx="0" cy="11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4" name="Freeform 10"/>
            <p:cNvSpPr>
              <a:spLocks/>
            </p:cNvSpPr>
            <p:nvPr/>
          </p:nvSpPr>
          <p:spPr bwMode="auto">
            <a:xfrm>
              <a:off x="1128" y="3072"/>
              <a:ext cx="1257" cy="514"/>
            </a:xfrm>
            <a:custGeom>
              <a:avLst/>
              <a:gdLst>
                <a:gd name="T0" fmla="*/ 0 w 1257"/>
                <a:gd name="T1" fmla="*/ 0 h 514"/>
                <a:gd name="T2" fmla="*/ 1257 w 1257"/>
                <a:gd name="T3" fmla="*/ 514 h 514"/>
                <a:gd name="T4" fmla="*/ 0 60000 65536"/>
                <a:gd name="T5" fmla="*/ 0 60000 65536"/>
                <a:gd name="T6" fmla="*/ 0 w 1257"/>
                <a:gd name="T7" fmla="*/ 0 h 514"/>
                <a:gd name="T8" fmla="*/ 1257 w 1257"/>
                <a:gd name="T9" fmla="*/ 514 h 5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57" h="514">
                  <a:moveTo>
                    <a:pt x="0" y="0"/>
                  </a:moveTo>
                  <a:lnTo>
                    <a:pt x="1257" y="514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45" name="Text Box 11"/>
            <p:cNvSpPr txBox="1">
              <a:spLocks noChangeArrowheads="1"/>
            </p:cNvSpPr>
            <p:nvPr/>
          </p:nvSpPr>
          <p:spPr bwMode="auto">
            <a:xfrm>
              <a:off x="917" y="2913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90146" name="Text Box 12"/>
            <p:cNvSpPr txBox="1">
              <a:spLocks noChangeArrowheads="1"/>
            </p:cNvSpPr>
            <p:nvPr/>
          </p:nvSpPr>
          <p:spPr bwMode="auto">
            <a:xfrm>
              <a:off x="2376" y="3442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000" b="1">
                <a:latin typeface="Italic" pitchFamily="2" charset="0"/>
              </a:endParaRPr>
            </a:p>
          </p:txBody>
        </p:sp>
        <p:sp>
          <p:nvSpPr>
            <p:cNvPr id="90147" name="Text Box 13"/>
            <p:cNvSpPr txBox="1">
              <a:spLocks noChangeArrowheads="1"/>
            </p:cNvSpPr>
            <p:nvPr/>
          </p:nvSpPr>
          <p:spPr bwMode="auto">
            <a:xfrm>
              <a:off x="921" y="2481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90148" name="Text Box 14"/>
            <p:cNvSpPr txBox="1">
              <a:spLocks noChangeArrowheads="1"/>
            </p:cNvSpPr>
            <p:nvPr/>
          </p:nvSpPr>
          <p:spPr bwMode="auto">
            <a:xfrm>
              <a:off x="1457" y="2194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90149" name="Text Box 15"/>
            <p:cNvSpPr txBox="1">
              <a:spLocks noChangeArrowheads="1"/>
            </p:cNvSpPr>
            <p:nvPr/>
          </p:nvSpPr>
          <p:spPr bwMode="auto">
            <a:xfrm>
              <a:off x="1863" y="1713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90150" name="Rectangle 16"/>
            <p:cNvSpPr>
              <a:spLocks noChangeArrowheads="1"/>
            </p:cNvSpPr>
            <p:nvPr/>
          </p:nvSpPr>
          <p:spPr bwMode="auto">
            <a:xfrm>
              <a:off x="1607" y="2242"/>
              <a:ext cx="21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 b="1">
                  <a:solidFill>
                    <a:srgbClr val="FF0000"/>
                  </a:solidFill>
                  <a:latin typeface="Times New Roman" pitchFamily="18" charset="0"/>
                </a:rPr>
                <a:t>●</a:t>
              </a:r>
              <a:endParaRPr kumimoji="1" lang="en-US" altLang="zh-CN" sz="1200" b="1">
                <a:latin typeface="Times New Roman" pitchFamily="18" charset="0"/>
              </a:endParaRPr>
            </a:p>
          </p:txBody>
        </p:sp>
        <p:sp>
          <p:nvSpPr>
            <p:cNvPr id="90151" name="Line 17"/>
            <p:cNvSpPr>
              <a:spLocks noChangeShapeType="1"/>
            </p:cNvSpPr>
            <p:nvPr/>
          </p:nvSpPr>
          <p:spPr bwMode="auto">
            <a:xfrm>
              <a:off x="908" y="2818"/>
              <a:ext cx="16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52" name="Line 18"/>
            <p:cNvSpPr>
              <a:spLocks noChangeShapeType="1"/>
            </p:cNvSpPr>
            <p:nvPr/>
          </p:nvSpPr>
          <p:spPr bwMode="auto">
            <a:xfrm>
              <a:off x="1136" y="2662"/>
              <a:ext cx="0" cy="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53" name="Line 19"/>
            <p:cNvSpPr>
              <a:spLocks noChangeShapeType="1"/>
            </p:cNvSpPr>
            <p:nvPr/>
          </p:nvSpPr>
          <p:spPr bwMode="auto">
            <a:xfrm>
              <a:off x="1857" y="1906"/>
              <a:ext cx="0" cy="14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154" name="Text Box 20"/>
            <p:cNvSpPr txBox="1">
              <a:spLocks noChangeArrowheads="1"/>
            </p:cNvSpPr>
            <p:nvPr/>
          </p:nvSpPr>
          <p:spPr bwMode="auto">
            <a:xfrm>
              <a:off x="742" y="1858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①</a:t>
              </a:r>
            </a:p>
          </p:txBody>
        </p:sp>
        <p:sp>
          <p:nvSpPr>
            <p:cNvPr id="90155" name="Text Box 21"/>
            <p:cNvSpPr txBox="1">
              <a:spLocks noChangeArrowheads="1"/>
            </p:cNvSpPr>
            <p:nvPr/>
          </p:nvSpPr>
          <p:spPr bwMode="auto">
            <a:xfrm>
              <a:off x="2345" y="2194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141334" name="Text Box 22"/>
          <p:cNvSpPr txBox="1">
            <a:spLocks noChangeArrowheads="1"/>
          </p:cNvSpPr>
          <p:nvPr/>
        </p:nvSpPr>
        <p:spPr bwMode="auto">
          <a:xfrm>
            <a:off x="2755900" y="5543550"/>
            <a:ext cx="3263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 dirty="0">
                <a:latin typeface="Times New Roman" pitchFamily="18" charset="0"/>
              </a:rPr>
              <a:t>利用平面的积聚性求解</a:t>
            </a:r>
          </a:p>
        </p:txBody>
      </p:sp>
      <p:sp>
        <p:nvSpPr>
          <p:cNvPr id="141335" name="Text Box 23"/>
          <p:cNvSpPr txBox="1">
            <a:spLocks noChangeArrowheads="1"/>
          </p:cNvSpPr>
          <p:nvPr/>
        </p:nvSpPr>
        <p:spPr bwMode="auto">
          <a:xfrm>
            <a:off x="6596064" y="5543550"/>
            <a:ext cx="3571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通过在面内作辅助线求解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6815139" y="1996837"/>
            <a:ext cx="2613025" cy="3201988"/>
            <a:chOff x="3323" y="1701"/>
            <a:chExt cx="1646" cy="2017"/>
          </a:xfrm>
        </p:grpSpPr>
        <p:sp>
          <p:nvSpPr>
            <p:cNvPr id="90120" name="Text Box 25"/>
            <p:cNvSpPr txBox="1">
              <a:spLocks noChangeArrowheads="1"/>
            </p:cNvSpPr>
            <p:nvPr/>
          </p:nvSpPr>
          <p:spPr bwMode="auto">
            <a:xfrm>
              <a:off x="3324" y="1750"/>
              <a:ext cx="3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b="1">
                  <a:latin typeface="Times New Roman" pitchFamily="18" charset="0"/>
                </a:rPr>
                <a:t>②</a:t>
              </a:r>
            </a:p>
          </p:txBody>
        </p:sp>
        <p:sp>
          <p:nvSpPr>
            <p:cNvPr id="90121" name="Text Box 26"/>
            <p:cNvSpPr txBox="1">
              <a:spLocks noChangeArrowheads="1"/>
            </p:cNvSpPr>
            <p:nvPr/>
          </p:nvSpPr>
          <p:spPr bwMode="auto">
            <a:xfrm>
              <a:off x="3960" y="2182"/>
              <a:ext cx="213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1200" b="1">
                  <a:solidFill>
                    <a:schemeClr val="accent2"/>
                  </a:solidFill>
                  <a:latin typeface="Times New Roman" pitchFamily="18" charset="0"/>
                </a:rPr>
                <a:t>●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90122" name="Line 27"/>
            <p:cNvSpPr>
              <a:spLocks noChangeShapeType="1"/>
            </p:cNvSpPr>
            <p:nvPr/>
          </p:nvSpPr>
          <p:spPr bwMode="auto">
            <a:xfrm>
              <a:off x="3323" y="2806"/>
              <a:ext cx="16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3" name="Freeform 28"/>
            <p:cNvSpPr>
              <a:spLocks/>
            </p:cNvSpPr>
            <p:nvPr/>
          </p:nvSpPr>
          <p:spPr bwMode="auto">
            <a:xfrm>
              <a:off x="3585" y="2416"/>
              <a:ext cx="1144" cy="266"/>
            </a:xfrm>
            <a:custGeom>
              <a:avLst/>
              <a:gdLst>
                <a:gd name="T0" fmla="*/ 0 w 1144"/>
                <a:gd name="T1" fmla="*/ 266 h 266"/>
                <a:gd name="T2" fmla="*/ 1144 w 1144"/>
                <a:gd name="T3" fmla="*/ 0 h 266"/>
                <a:gd name="T4" fmla="*/ 0 60000 65536"/>
                <a:gd name="T5" fmla="*/ 0 60000 65536"/>
                <a:gd name="T6" fmla="*/ 0 w 1144"/>
                <a:gd name="T7" fmla="*/ 0 h 266"/>
                <a:gd name="T8" fmla="*/ 1144 w 1144"/>
                <a:gd name="T9" fmla="*/ 266 h 2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44" h="266">
                  <a:moveTo>
                    <a:pt x="0" y="266"/>
                  </a:moveTo>
                  <a:lnTo>
                    <a:pt x="1144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4" name="Freeform 29"/>
            <p:cNvSpPr>
              <a:spLocks/>
            </p:cNvSpPr>
            <p:nvPr/>
          </p:nvSpPr>
          <p:spPr bwMode="auto">
            <a:xfrm>
              <a:off x="3585" y="1942"/>
              <a:ext cx="624" cy="742"/>
            </a:xfrm>
            <a:custGeom>
              <a:avLst/>
              <a:gdLst>
                <a:gd name="T0" fmla="*/ 0 w 624"/>
                <a:gd name="T1" fmla="*/ 742 h 742"/>
                <a:gd name="T2" fmla="*/ 624 w 624"/>
                <a:gd name="T3" fmla="*/ 0 h 742"/>
                <a:gd name="T4" fmla="*/ 0 60000 65536"/>
                <a:gd name="T5" fmla="*/ 0 60000 65536"/>
                <a:gd name="T6" fmla="*/ 0 w 624"/>
                <a:gd name="T7" fmla="*/ 0 h 742"/>
                <a:gd name="T8" fmla="*/ 624 w 624"/>
                <a:gd name="T9" fmla="*/ 742 h 7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24" h="742">
                  <a:moveTo>
                    <a:pt x="0" y="742"/>
                  </a:moveTo>
                  <a:lnTo>
                    <a:pt x="624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5" name="Freeform 30"/>
            <p:cNvSpPr>
              <a:spLocks/>
            </p:cNvSpPr>
            <p:nvPr/>
          </p:nvSpPr>
          <p:spPr bwMode="auto">
            <a:xfrm>
              <a:off x="4209" y="1942"/>
              <a:ext cx="534" cy="474"/>
            </a:xfrm>
            <a:custGeom>
              <a:avLst/>
              <a:gdLst>
                <a:gd name="T0" fmla="*/ 0 w 534"/>
                <a:gd name="T1" fmla="*/ 0 h 474"/>
                <a:gd name="T2" fmla="*/ 534 w 534"/>
                <a:gd name="T3" fmla="*/ 474 h 474"/>
                <a:gd name="T4" fmla="*/ 0 60000 65536"/>
                <a:gd name="T5" fmla="*/ 0 60000 65536"/>
                <a:gd name="T6" fmla="*/ 0 w 534"/>
                <a:gd name="T7" fmla="*/ 0 h 474"/>
                <a:gd name="T8" fmla="*/ 534 w 534"/>
                <a:gd name="T9" fmla="*/ 474 h 4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4" h="474">
                  <a:moveTo>
                    <a:pt x="0" y="0"/>
                  </a:moveTo>
                  <a:lnTo>
                    <a:pt x="534" y="474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6" name="Line 31"/>
            <p:cNvSpPr>
              <a:spLocks noChangeShapeType="1"/>
            </p:cNvSpPr>
            <p:nvPr/>
          </p:nvSpPr>
          <p:spPr bwMode="auto">
            <a:xfrm>
              <a:off x="4209" y="1942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7" name="Line 32"/>
            <p:cNvSpPr>
              <a:spLocks noChangeShapeType="1"/>
            </p:cNvSpPr>
            <p:nvPr/>
          </p:nvSpPr>
          <p:spPr bwMode="auto">
            <a:xfrm>
              <a:off x="3585" y="2662"/>
              <a:ext cx="0" cy="6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8" name="Line 33"/>
            <p:cNvSpPr>
              <a:spLocks noChangeShapeType="1"/>
            </p:cNvSpPr>
            <p:nvPr/>
          </p:nvSpPr>
          <p:spPr bwMode="auto">
            <a:xfrm flipV="1">
              <a:off x="3585" y="2998"/>
              <a:ext cx="624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29" name="Freeform 34"/>
            <p:cNvSpPr>
              <a:spLocks/>
            </p:cNvSpPr>
            <p:nvPr/>
          </p:nvSpPr>
          <p:spPr bwMode="auto">
            <a:xfrm>
              <a:off x="4209" y="2998"/>
              <a:ext cx="534" cy="533"/>
            </a:xfrm>
            <a:custGeom>
              <a:avLst/>
              <a:gdLst>
                <a:gd name="T0" fmla="*/ 0 w 534"/>
                <a:gd name="T1" fmla="*/ 0 h 533"/>
                <a:gd name="T2" fmla="*/ 534 w 534"/>
                <a:gd name="T3" fmla="*/ 533 h 533"/>
                <a:gd name="T4" fmla="*/ 0 60000 65536"/>
                <a:gd name="T5" fmla="*/ 0 60000 65536"/>
                <a:gd name="T6" fmla="*/ 0 w 534"/>
                <a:gd name="T7" fmla="*/ 0 h 533"/>
                <a:gd name="T8" fmla="*/ 534 w 534"/>
                <a:gd name="T9" fmla="*/ 533 h 5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4" h="533">
                  <a:moveTo>
                    <a:pt x="0" y="0"/>
                  </a:moveTo>
                  <a:lnTo>
                    <a:pt x="534" y="533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0" name="Line 35"/>
            <p:cNvSpPr>
              <a:spLocks noChangeShapeType="1"/>
            </p:cNvSpPr>
            <p:nvPr/>
          </p:nvSpPr>
          <p:spPr bwMode="auto">
            <a:xfrm flipH="1" flipV="1">
              <a:off x="3585" y="3286"/>
              <a:ext cx="115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131" name="Text Box 36"/>
            <p:cNvSpPr txBox="1">
              <a:spLocks noChangeArrowheads="1"/>
            </p:cNvSpPr>
            <p:nvPr/>
          </p:nvSpPr>
          <p:spPr bwMode="auto">
            <a:xfrm>
              <a:off x="3389" y="3141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90132" name="Text Box 37"/>
            <p:cNvSpPr txBox="1">
              <a:spLocks noChangeArrowheads="1"/>
            </p:cNvSpPr>
            <p:nvPr/>
          </p:nvSpPr>
          <p:spPr bwMode="auto">
            <a:xfrm>
              <a:off x="4034" y="2769"/>
              <a:ext cx="2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90133" name="Text Box 38"/>
            <p:cNvSpPr txBox="1">
              <a:spLocks noChangeArrowheads="1"/>
            </p:cNvSpPr>
            <p:nvPr/>
          </p:nvSpPr>
          <p:spPr bwMode="auto">
            <a:xfrm>
              <a:off x="4689" y="3430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90134" name="Text Box 39"/>
            <p:cNvSpPr txBox="1">
              <a:spLocks noChangeArrowheads="1"/>
            </p:cNvSpPr>
            <p:nvPr/>
          </p:nvSpPr>
          <p:spPr bwMode="auto">
            <a:xfrm>
              <a:off x="3381" y="2517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90135" name="Text Box 40"/>
            <p:cNvSpPr txBox="1">
              <a:spLocks noChangeArrowheads="1"/>
            </p:cNvSpPr>
            <p:nvPr/>
          </p:nvSpPr>
          <p:spPr bwMode="auto">
            <a:xfrm>
              <a:off x="4167" y="1701"/>
              <a:ext cx="2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90136" name="Text Box 41"/>
            <p:cNvSpPr txBox="1">
              <a:spLocks noChangeArrowheads="1"/>
            </p:cNvSpPr>
            <p:nvPr/>
          </p:nvSpPr>
          <p:spPr bwMode="auto">
            <a:xfrm>
              <a:off x="4008" y="2218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k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90137" name="Text Box 42"/>
            <p:cNvSpPr txBox="1">
              <a:spLocks noChangeArrowheads="1"/>
            </p:cNvSpPr>
            <p:nvPr/>
          </p:nvSpPr>
          <p:spPr bwMode="auto">
            <a:xfrm>
              <a:off x="4720" y="2278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90138" name="Line 43"/>
            <p:cNvSpPr>
              <a:spLocks noChangeShapeType="1"/>
            </p:cNvSpPr>
            <p:nvPr/>
          </p:nvSpPr>
          <p:spPr bwMode="auto">
            <a:xfrm>
              <a:off x="4739" y="2417"/>
              <a:ext cx="0" cy="11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 autoUpdateAnimBg="0"/>
      <p:bldP spid="141334" grpId="0" autoUpdateAnimBg="0"/>
      <p:bldP spid="141335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EB5C1B1-ABF0-4FBF-B3A4-013059EB9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577255"/>
            <a:ext cx="4513262" cy="5222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1" lang="zh-CN" altLang="en-US" sz="2800" b="1" dirty="0">
                <a:solidFill>
                  <a:srgbClr val="3366CC"/>
                </a:solidFill>
                <a:latin typeface="Dutch801 Rm BT" pitchFamily="18" charset="0"/>
              </a:rPr>
              <a:t>四、直线与平面的相对位置</a:t>
            </a:r>
            <a:endParaRPr kumimoji="1" lang="zh-CN" altLang="en-US" sz="2800" b="1" i="1" dirty="0">
              <a:solidFill>
                <a:srgbClr val="3366CC"/>
              </a:solidFill>
              <a:latin typeface="Dutch801 Rm BT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56D74B9-9951-4244-93CC-4901FA5C2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132" y="1353189"/>
            <a:ext cx="6567488" cy="830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kumimoji="1" lang="en-US" altLang="zh-CN" sz="2400" b="1" dirty="0">
                <a:latin typeface="宋体" pitchFamily="2" charset="-122"/>
              </a:rPr>
              <a:t>⒈ </a:t>
            </a:r>
            <a:r>
              <a:rPr kumimoji="1" lang="zh-CN" altLang="en-US" sz="2400" b="1" dirty="0">
                <a:latin typeface="宋体" pitchFamily="2" charset="-122"/>
              </a:rPr>
              <a:t>直线与平面平行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  直线平行于</a:t>
            </a:r>
            <a:r>
              <a:rPr kumimoji="1"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平面内</a:t>
            </a:r>
            <a:r>
              <a:rPr kumimoji="1" lang="zh-CN" altLang="en-US" sz="2400" b="1" dirty="0">
                <a:latin typeface="宋体" pitchFamily="2" charset="-122"/>
              </a:rPr>
              <a:t>的一条直线。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A96F63C-CBB0-4A8E-8BA3-48C6C0A56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9248" y="2397891"/>
            <a:ext cx="273685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1" lang="en-US" altLang="zh-CN" sz="2400" b="1" dirty="0">
                <a:solidFill>
                  <a:schemeClr val="tx2"/>
                </a:solidFill>
                <a:latin typeface="Times New Roman" pitchFamily="18" charset="0"/>
              </a:rPr>
              <a:t>⒉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</a:rPr>
              <a:t>直线与平面相交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DE9F7D4-D787-4254-8DD9-E7258763D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0870" y="4662810"/>
            <a:ext cx="5495925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kumimoji="1" lang="en-US" altLang="zh-CN" sz="2400" b="1" dirty="0">
                <a:latin typeface="宋体" pitchFamily="2" charset="-122"/>
              </a:rPr>
              <a:t>⑵ </a:t>
            </a:r>
            <a:r>
              <a:rPr kumimoji="1" lang="zh-CN" altLang="en-US" sz="2400" b="1" dirty="0">
                <a:latin typeface="宋体" pitchFamily="2" charset="-122"/>
              </a:rPr>
              <a:t>投影面垂直线与一般位置平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面求交点，利用交点的共有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性和直线的积聚性，采取平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面上取点的方法求解。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FBA2C5CE-5DE0-4F8F-BB37-F0BD1023C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6552" y="2975519"/>
            <a:ext cx="482752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kumimoji="1" lang="en-US" altLang="zh-CN" sz="2400" b="1" dirty="0">
                <a:latin typeface="宋体" pitchFamily="2" charset="-122"/>
              </a:rPr>
              <a:t>⑴ </a:t>
            </a:r>
            <a:r>
              <a:rPr kumimoji="1" lang="zh-CN" altLang="en-US" sz="2400" b="1" dirty="0">
                <a:latin typeface="宋体" pitchFamily="2" charset="-122"/>
              </a:rPr>
              <a:t>一般位置直线与特殊位置平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面求交点，利用交点的共有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性和平面的积聚性，采用直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线上取点的方法求解。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9C52D0A2-80FF-418D-92D3-9C18C4B04E84}"/>
              </a:ext>
            </a:extLst>
          </p:cNvPr>
          <p:cNvGrpSpPr>
            <a:grpSpLocks/>
          </p:cNvGrpSpPr>
          <p:nvPr/>
        </p:nvGrpSpPr>
        <p:grpSpPr bwMode="auto">
          <a:xfrm>
            <a:off x="7607226" y="1902817"/>
            <a:ext cx="2328863" cy="2319337"/>
            <a:chOff x="3796" y="1089"/>
            <a:chExt cx="1154" cy="1236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5DAF48F6-36AF-418C-B029-EB46C96A48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3" y="1274"/>
              <a:ext cx="980" cy="926"/>
              <a:chOff x="3873" y="1274"/>
              <a:chExt cx="980" cy="926"/>
            </a:xfrm>
          </p:grpSpPr>
          <p:sp>
            <p:nvSpPr>
              <p:cNvPr id="19" name="Line 9">
                <a:extLst>
                  <a:ext uri="{FF2B5EF4-FFF2-40B4-BE49-F238E27FC236}">
                    <a16:creationId xmlns:a16="http://schemas.microsoft.com/office/drawing/2014/main" id="{854788FB-0B01-42ED-A78F-C5DFF8537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3" y="1757"/>
                <a:ext cx="9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Line 10">
                <a:extLst>
                  <a:ext uri="{FF2B5EF4-FFF2-40B4-BE49-F238E27FC236}">
                    <a16:creationId xmlns:a16="http://schemas.microsoft.com/office/drawing/2014/main" id="{425A8E13-1A99-4C90-BE06-FAF04F212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1" y="1576"/>
                <a:ext cx="646" cy="101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" name="Line 11">
                <a:extLst>
                  <a:ext uri="{FF2B5EF4-FFF2-40B4-BE49-F238E27FC236}">
                    <a16:creationId xmlns:a16="http://schemas.microsoft.com/office/drawing/2014/main" id="{51FA9E35-C55C-4C09-9735-00F4F0346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1" y="1274"/>
                <a:ext cx="294" cy="302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" name="Line 12">
                <a:extLst>
                  <a:ext uri="{FF2B5EF4-FFF2-40B4-BE49-F238E27FC236}">
                    <a16:creationId xmlns:a16="http://schemas.microsoft.com/office/drawing/2014/main" id="{E03F2C13-C4F5-4B48-AC46-4C06D341AF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1274"/>
                <a:ext cx="352" cy="403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" name="Line 13">
                <a:extLst>
                  <a:ext uri="{FF2B5EF4-FFF2-40B4-BE49-F238E27FC236}">
                    <a16:creationId xmlns:a16="http://schemas.microsoft.com/office/drawing/2014/main" id="{6887DBA9-55E4-44A7-B3BF-09FA3D0B50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1" y="1576"/>
                <a:ext cx="0" cy="6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Line 14">
                <a:extLst>
                  <a:ext uri="{FF2B5EF4-FFF2-40B4-BE49-F238E27FC236}">
                    <a16:creationId xmlns:a16="http://schemas.microsoft.com/office/drawing/2014/main" id="{905754C1-DAF9-407E-BF30-0FE48C3F70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7" y="1677"/>
                <a:ext cx="0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5" name="Line 15">
                <a:extLst>
                  <a:ext uri="{FF2B5EF4-FFF2-40B4-BE49-F238E27FC236}">
                    <a16:creationId xmlns:a16="http://schemas.microsoft.com/office/drawing/2014/main" id="{3CFB09CC-5600-4885-8E86-9D9238D49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1" y="1938"/>
                <a:ext cx="646" cy="242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" name="Line 16">
                <a:extLst>
                  <a:ext uri="{FF2B5EF4-FFF2-40B4-BE49-F238E27FC236}">
                    <a16:creationId xmlns:a16="http://schemas.microsoft.com/office/drawing/2014/main" id="{743CB2D8-B826-4C6E-90C0-AF11134E0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5" y="1274"/>
                <a:ext cx="0" cy="80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Line 17">
                <a:extLst>
                  <a:ext uri="{FF2B5EF4-FFF2-40B4-BE49-F238E27FC236}">
                    <a16:creationId xmlns:a16="http://schemas.microsoft.com/office/drawing/2014/main" id="{005A197A-A410-483C-AEDA-FDC8757277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9" y="1918"/>
                <a:ext cx="646" cy="28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Line 18">
                <a:extLst>
                  <a:ext uri="{FF2B5EF4-FFF2-40B4-BE49-F238E27FC236}">
                    <a16:creationId xmlns:a16="http://schemas.microsoft.com/office/drawing/2014/main" id="{FCFFD3FC-D69B-41AB-85E8-3CCB09AEE6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9" y="1677"/>
                <a:ext cx="0" cy="2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Line 19">
                <a:extLst>
                  <a:ext uri="{FF2B5EF4-FFF2-40B4-BE49-F238E27FC236}">
                    <a16:creationId xmlns:a16="http://schemas.microsoft.com/office/drawing/2014/main" id="{100DF804-20F6-45B8-AEB2-94A8BB759C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35" y="1314"/>
                <a:ext cx="0" cy="8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0" name="Line 20">
                <a:extLst>
                  <a:ext uri="{FF2B5EF4-FFF2-40B4-BE49-F238E27FC236}">
                    <a16:creationId xmlns:a16="http://schemas.microsoft.com/office/drawing/2014/main" id="{EE2A7C63-0F60-419C-A87E-C34B1EF9E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9" y="1314"/>
                <a:ext cx="646" cy="36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21">
                <a:extLst>
                  <a:ext uri="{FF2B5EF4-FFF2-40B4-BE49-F238E27FC236}">
                    <a16:creationId xmlns:a16="http://schemas.microsoft.com/office/drawing/2014/main" id="{C32A3788-9991-4E9F-BD4F-23465D7F6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" y="1314"/>
                <a:ext cx="274" cy="158"/>
              </a:xfrm>
              <a:custGeom>
                <a:avLst/>
                <a:gdLst>
                  <a:gd name="T0" fmla="*/ 0 w 672"/>
                  <a:gd name="T1" fmla="*/ 0 h 375"/>
                  <a:gd name="T2" fmla="*/ 0 w 672"/>
                  <a:gd name="T3" fmla="*/ 0 h 375"/>
                  <a:gd name="T4" fmla="*/ 0 60000 65536"/>
                  <a:gd name="T5" fmla="*/ 0 60000 65536"/>
                  <a:gd name="T6" fmla="*/ 0 w 672"/>
                  <a:gd name="T7" fmla="*/ 0 h 375"/>
                  <a:gd name="T8" fmla="*/ 672 w 672"/>
                  <a:gd name="T9" fmla="*/ 375 h 37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72" h="375">
                    <a:moveTo>
                      <a:pt x="0" y="375"/>
                    </a:moveTo>
                    <a:lnTo>
                      <a:pt x="672" y="0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22">
                <a:extLst>
                  <a:ext uri="{FF2B5EF4-FFF2-40B4-BE49-F238E27FC236}">
                    <a16:creationId xmlns:a16="http://schemas.microsoft.com/office/drawing/2014/main" id="{CFF92E6E-5DBA-423B-AB89-0F71619DD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9" y="1608"/>
                <a:ext cx="130" cy="69"/>
              </a:xfrm>
              <a:custGeom>
                <a:avLst/>
                <a:gdLst>
                  <a:gd name="T0" fmla="*/ 0 w 319"/>
                  <a:gd name="T1" fmla="*/ 0 h 164"/>
                  <a:gd name="T2" fmla="*/ 0 w 319"/>
                  <a:gd name="T3" fmla="*/ 0 h 164"/>
                  <a:gd name="T4" fmla="*/ 0 60000 65536"/>
                  <a:gd name="T5" fmla="*/ 0 60000 65536"/>
                  <a:gd name="T6" fmla="*/ 0 w 319"/>
                  <a:gd name="T7" fmla="*/ 0 h 164"/>
                  <a:gd name="T8" fmla="*/ 319 w 319"/>
                  <a:gd name="T9" fmla="*/ 164 h 1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19" h="164">
                    <a:moveTo>
                      <a:pt x="0" y="164"/>
                    </a:moveTo>
                    <a:lnTo>
                      <a:pt x="319" y="0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" name="Text Box 23">
              <a:extLst>
                <a:ext uri="{FF2B5EF4-FFF2-40B4-BE49-F238E27FC236}">
                  <a16:creationId xmlns:a16="http://schemas.microsoft.com/office/drawing/2014/main" id="{EE87EE9A-FAE8-4D86-8142-AD2808545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" y="2054"/>
              <a:ext cx="1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a</a:t>
              </a:r>
              <a:endParaRPr kumimoji="1" lang="en-US" altLang="zh-CN" sz="2000" b="1">
                <a:latin typeface="Times New Roman" pitchFamily="18" charset="0"/>
              </a:endParaRPr>
            </a:p>
          </p:txBody>
        </p:sp>
        <p:sp>
          <p:nvSpPr>
            <p:cNvPr id="10" name="Text Box 24">
              <a:extLst>
                <a:ext uri="{FF2B5EF4-FFF2-40B4-BE49-F238E27FC236}">
                  <a16:creationId xmlns:a16="http://schemas.microsoft.com/office/drawing/2014/main" id="{AB5C58A1-004F-4836-B2BA-E127BE255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2039"/>
              <a:ext cx="1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b</a:t>
              </a:r>
              <a:endParaRPr kumimoji="1" lang="en-US" altLang="zh-CN" sz="2000" b="1">
                <a:latin typeface="Times New Roman" pitchFamily="18" charset="0"/>
              </a:endParaRPr>
            </a:p>
          </p:txBody>
        </p:sp>
        <p:sp>
          <p:nvSpPr>
            <p:cNvPr id="11" name="Text Box 25">
              <a:extLst>
                <a:ext uri="{FF2B5EF4-FFF2-40B4-BE49-F238E27FC236}">
                  <a16:creationId xmlns:a16="http://schemas.microsoft.com/office/drawing/2014/main" id="{76073D1B-104B-4F0F-8842-1A9DAA464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1832"/>
              <a:ext cx="18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c</a:t>
              </a:r>
              <a:endParaRPr kumimoji="1" lang="en-US" altLang="zh-CN" sz="2000" b="1">
                <a:latin typeface="Times New Roman" pitchFamily="18" charset="0"/>
              </a:endParaRPr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FB06896B-E0A2-45EE-9262-3E6686F20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9" y="1847"/>
              <a:ext cx="2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m</a:t>
              </a:r>
              <a:endParaRPr kumimoji="1" lang="en-US" altLang="zh-CN" sz="2000" b="1">
                <a:latin typeface="Times New Roman" pitchFamily="18" charset="0"/>
              </a:endParaRPr>
            </a:p>
          </p:txBody>
        </p:sp>
        <p:sp>
          <p:nvSpPr>
            <p:cNvPr id="13" name="Text Box 27">
              <a:extLst>
                <a:ext uri="{FF2B5EF4-FFF2-40B4-BE49-F238E27FC236}">
                  <a16:creationId xmlns:a16="http://schemas.microsoft.com/office/drawing/2014/main" id="{44D023E6-15DD-4762-A8E4-354D1F9CA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5" y="2075"/>
              <a:ext cx="19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n</a:t>
              </a:r>
              <a:endParaRPr kumimoji="1" lang="en-US" altLang="zh-CN" sz="2000" b="1">
                <a:latin typeface="Times New Roman" pitchFamily="18" charset="0"/>
              </a:endParaRPr>
            </a:p>
          </p:txBody>
        </p:sp>
        <p:sp>
          <p:nvSpPr>
            <p:cNvPr id="14" name="Text Box 28">
              <a:extLst>
                <a:ext uri="{FF2B5EF4-FFF2-40B4-BE49-F238E27FC236}">
                  <a16:creationId xmlns:a16="http://schemas.microsoft.com/office/drawing/2014/main" id="{98CE9242-B8CD-49B9-B006-B986D8894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1454"/>
              <a:ext cx="22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c</a:t>
              </a:r>
              <a:r>
                <a:rPr kumimoji="1" lang="en-US" altLang="zh-CN" sz="20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15" name="Text Box 29">
              <a:extLst>
                <a:ext uri="{FF2B5EF4-FFF2-40B4-BE49-F238E27FC236}">
                  <a16:creationId xmlns:a16="http://schemas.microsoft.com/office/drawing/2014/main" id="{CE78818A-FD27-4EF3-AD97-8F1FD1DDF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" y="1170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n</a:t>
              </a:r>
              <a:r>
                <a:rPr kumimoji="1" lang="en-US" altLang="zh-CN" sz="20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16" name="Text Box 30">
              <a:extLst>
                <a:ext uri="{FF2B5EF4-FFF2-40B4-BE49-F238E27FC236}">
                  <a16:creationId xmlns:a16="http://schemas.microsoft.com/office/drawing/2014/main" id="{74CAC71F-E919-435C-824F-60D859CA0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089"/>
              <a:ext cx="23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b</a:t>
              </a:r>
              <a:r>
                <a:rPr kumimoji="1" lang="en-US" altLang="zh-CN" sz="20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17" name="Text Box 31">
              <a:extLst>
                <a:ext uri="{FF2B5EF4-FFF2-40B4-BE49-F238E27FC236}">
                  <a16:creationId xmlns:a16="http://schemas.microsoft.com/office/drawing/2014/main" id="{B5DB0883-3754-4B9B-A655-8E85FA214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6" y="1431"/>
              <a:ext cx="23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a</a:t>
              </a:r>
              <a:r>
                <a:rPr kumimoji="1" lang="en-US" altLang="zh-CN" sz="2000" i="1"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000" b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18" name="Text Box 32">
              <a:extLst>
                <a:ext uri="{FF2B5EF4-FFF2-40B4-BE49-F238E27FC236}">
                  <a16:creationId xmlns:a16="http://schemas.microsoft.com/office/drawing/2014/main" id="{9F40941B-E7DB-4B9F-9FBA-E5BC906BFA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4" y="1561"/>
              <a:ext cx="2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m</a:t>
              </a:r>
              <a:r>
                <a:rPr kumimoji="1" lang="en-US" altLang="zh-CN" sz="20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AB5F3D2A-DD03-4B20-BB37-802914C9F92F}"/>
              </a:ext>
            </a:extLst>
          </p:cNvPr>
          <p:cNvGrpSpPr>
            <a:grpSpLocks/>
          </p:cNvGrpSpPr>
          <p:nvPr/>
        </p:nvGrpSpPr>
        <p:grpSpPr bwMode="auto">
          <a:xfrm>
            <a:off x="7678664" y="4228504"/>
            <a:ext cx="2060575" cy="2498725"/>
            <a:chOff x="3986" y="2527"/>
            <a:chExt cx="1119" cy="1415"/>
          </a:xfrm>
        </p:grpSpPr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C1C205B5-4BC5-4B2B-B7DE-9FDF8F877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3" y="3081"/>
              <a:ext cx="0" cy="63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30B8D6AF-5198-4C62-9FEF-B78303370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258"/>
              <a:ext cx="0" cy="37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23F8E2E7-23B7-4FB9-A2DC-0F57F134B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3564"/>
              <a:ext cx="6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m</a:t>
              </a:r>
              <a:r>
                <a:rPr lang="en-US" altLang="zh-CN" sz="2000" b="1">
                  <a:latin typeface="Times New Roman" pitchFamily="18" charset="0"/>
                </a:rPr>
                <a:t>(</a:t>
              </a:r>
              <a:r>
                <a:rPr kumimoji="1" lang="en-US" altLang="zh-CN" sz="2000" i="1">
                  <a:latin typeface="Dutch801 Rm BT" pitchFamily="18" charset="0"/>
                </a:rPr>
                <a:t>n</a:t>
              </a:r>
              <a:r>
                <a:rPr lang="en-US" altLang="zh-CN" sz="2000" b="1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37" name="Text Box 37">
              <a:extLst>
                <a:ext uri="{FF2B5EF4-FFF2-40B4-BE49-F238E27FC236}">
                  <a16:creationId xmlns:a16="http://schemas.microsoft.com/office/drawing/2014/main" id="{569509BA-A8B8-41BE-BC6C-3E0143804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3" y="3329"/>
              <a:ext cx="1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b</a:t>
              </a:r>
              <a:endParaRPr lang="en-US" altLang="zh-CN" sz="2000" b="1">
                <a:latin typeface="Times New Roman" pitchFamily="18" charset="0"/>
              </a:endParaRPr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83DE22BE-5DA3-431D-B250-432F2D875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3461"/>
              <a:ext cx="459" cy="25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84DBF088-F0C0-4A0A-87AC-397843F1D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7" y="3562"/>
              <a:ext cx="189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zh-CN" sz="900" b="1">
                  <a:solidFill>
                    <a:srgbClr val="FF0000"/>
                  </a:solidFill>
                  <a:latin typeface="Times New Roman" pitchFamily="18" charset="0"/>
                </a:rPr>
                <a:t>●</a:t>
              </a:r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6B418A2D-5D1D-4768-949E-6A391DA4B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3385"/>
              <a:ext cx="1049" cy="1"/>
            </a:xfrm>
            <a:custGeom>
              <a:avLst/>
              <a:gdLst>
                <a:gd name="T0" fmla="*/ 0 w 1751"/>
                <a:gd name="T1" fmla="*/ 0 h 1"/>
                <a:gd name="T2" fmla="*/ 4 w 1751"/>
                <a:gd name="T3" fmla="*/ 0 h 1"/>
                <a:gd name="T4" fmla="*/ 0 60000 65536"/>
                <a:gd name="T5" fmla="*/ 0 60000 65536"/>
                <a:gd name="T6" fmla="*/ 0 w 1751"/>
                <a:gd name="T7" fmla="*/ 0 h 1"/>
                <a:gd name="T8" fmla="*/ 1751 w 175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51" h="1">
                  <a:moveTo>
                    <a:pt x="0" y="0"/>
                  </a:moveTo>
                  <a:lnTo>
                    <a:pt x="175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3745D3BE-A66E-4D52-A602-D9AA60930C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7" y="3081"/>
              <a:ext cx="776" cy="101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83290F65-7AE5-40F6-A61E-E44FF76BF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7" y="2752"/>
              <a:ext cx="317" cy="43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1B72D692-7A09-4639-9C25-E7EDDC4BF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2752"/>
              <a:ext cx="457" cy="333"/>
            </a:xfrm>
            <a:custGeom>
              <a:avLst/>
              <a:gdLst>
                <a:gd name="T0" fmla="*/ 0 w 763"/>
                <a:gd name="T1" fmla="*/ 0 h 632"/>
                <a:gd name="T2" fmla="*/ 2 w 763"/>
                <a:gd name="T3" fmla="*/ 1 h 632"/>
                <a:gd name="T4" fmla="*/ 0 60000 65536"/>
                <a:gd name="T5" fmla="*/ 0 60000 65536"/>
                <a:gd name="T6" fmla="*/ 0 w 763"/>
                <a:gd name="T7" fmla="*/ 0 h 632"/>
                <a:gd name="T8" fmla="*/ 763 w 763"/>
                <a:gd name="T9" fmla="*/ 632 h 6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63" h="632">
                  <a:moveTo>
                    <a:pt x="0" y="0"/>
                  </a:moveTo>
                  <a:lnTo>
                    <a:pt x="763" y="632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DBB34AD7-A9C0-4B36-B100-34F19A941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7" y="3182"/>
              <a:ext cx="0" cy="6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198CB7E7-DFFD-4695-A590-EE869A370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752"/>
              <a:ext cx="0" cy="7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475AC673-6B87-475D-AAFC-6AB4667F1C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7" y="3461"/>
              <a:ext cx="317" cy="38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5D7A7FCA-6C75-487E-A617-ECB9F97E0D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7" y="3714"/>
              <a:ext cx="776" cy="12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50820D78-04D3-4B1B-9DE4-3B5B9CB1A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702"/>
              <a:ext cx="0" cy="15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84815376-0B3E-44FC-85DF-E82B32A3DF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132"/>
              <a:ext cx="0" cy="12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Text Box 50">
              <a:extLst>
                <a:ext uri="{FF2B5EF4-FFF2-40B4-BE49-F238E27FC236}">
                  <a16:creationId xmlns:a16="http://schemas.microsoft.com/office/drawing/2014/main" id="{53F1F8E0-E914-46AF-955C-5F28DF6B8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6" y="2527"/>
              <a:ext cx="2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m</a:t>
              </a:r>
              <a:r>
                <a:rPr kumimoji="1" lang="en-US" altLang="zh-CN" sz="20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1" name="Text Box 51">
              <a:extLst>
                <a:ext uri="{FF2B5EF4-FFF2-40B4-BE49-F238E27FC236}">
                  <a16:creationId xmlns:a16="http://schemas.microsoft.com/office/drawing/2014/main" id="{806D15CE-B415-4A68-92B4-300B83CF1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5" y="3136"/>
              <a:ext cx="2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n</a:t>
              </a:r>
              <a:r>
                <a:rPr kumimoji="1" lang="en-US" altLang="zh-CN" sz="20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2" name="Text Box 52">
              <a:extLst>
                <a:ext uri="{FF2B5EF4-FFF2-40B4-BE49-F238E27FC236}">
                  <a16:creationId xmlns:a16="http://schemas.microsoft.com/office/drawing/2014/main" id="{C4848FC9-DB6C-45A3-9316-E32F20214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8" y="2931"/>
              <a:ext cx="22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c</a:t>
              </a:r>
              <a:r>
                <a:rPr kumimoji="1" lang="en-US" altLang="zh-CN" sz="20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3" name="Text Box 53">
              <a:extLst>
                <a:ext uri="{FF2B5EF4-FFF2-40B4-BE49-F238E27FC236}">
                  <a16:creationId xmlns:a16="http://schemas.microsoft.com/office/drawing/2014/main" id="{E873E33E-F734-4A90-B707-ED11B9A30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4" y="2600"/>
              <a:ext cx="23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b</a:t>
              </a:r>
              <a:r>
                <a:rPr kumimoji="1" lang="en-US" altLang="zh-CN" sz="20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4" name="Text Box 54">
              <a:extLst>
                <a:ext uri="{FF2B5EF4-FFF2-40B4-BE49-F238E27FC236}">
                  <a16:creationId xmlns:a16="http://schemas.microsoft.com/office/drawing/2014/main" id="{5E01BAE0-6947-4A56-960A-A98519231C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3033"/>
              <a:ext cx="23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a</a:t>
              </a:r>
              <a:r>
                <a:rPr kumimoji="1" lang="en-US" altLang="zh-CN" sz="20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5" name="Text Box 55">
              <a:extLst>
                <a:ext uri="{FF2B5EF4-FFF2-40B4-BE49-F238E27FC236}">
                  <a16:creationId xmlns:a16="http://schemas.microsoft.com/office/drawing/2014/main" id="{D1DB7E16-8D65-4886-9D46-6C01DECEE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2" y="3692"/>
              <a:ext cx="19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a</a:t>
              </a:r>
              <a:endParaRPr lang="en-US" altLang="zh-CN" sz="2000" b="1">
                <a:latin typeface="Times New Roman" pitchFamily="18" charset="0"/>
              </a:endParaRPr>
            </a:p>
          </p:txBody>
        </p:sp>
        <p:sp>
          <p:nvSpPr>
            <p:cNvPr id="56" name="Text Box 56">
              <a:extLst>
                <a:ext uri="{FF2B5EF4-FFF2-40B4-BE49-F238E27FC236}">
                  <a16:creationId xmlns:a16="http://schemas.microsoft.com/office/drawing/2014/main" id="{DFBDED4F-C37B-4A7A-A1E6-1069FCC87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3589"/>
              <a:ext cx="18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000" i="1">
                  <a:latin typeface="Dutch801 Rm BT" pitchFamily="18" charset="0"/>
                </a:rPr>
                <a:t>c</a:t>
              </a:r>
              <a:endParaRPr lang="en-US" altLang="zh-CN" sz="2000" b="1">
                <a:latin typeface="Times New Roman" pitchFamily="18" charset="0"/>
              </a:endParaRPr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A78FCBFC-7A78-4A4D-A681-7A69F5E7C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850"/>
              <a:ext cx="0" cy="282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175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3">
            <a:extLst>
              <a:ext uri="{FF2B5EF4-FFF2-40B4-BE49-F238E27FC236}">
                <a16:creationId xmlns:a16="http://schemas.microsoft.com/office/drawing/2014/main" id="{FA84EE84-D1CA-4769-BB4D-1D684545E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012" y="600756"/>
            <a:ext cx="3790950" cy="5222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1" lang="zh-CN" altLang="en-US" sz="2800" b="1" dirty="0">
                <a:solidFill>
                  <a:srgbClr val="3366CC"/>
                </a:solidFill>
                <a:latin typeface="Dutch801 Rm BT" pitchFamily="18" charset="0"/>
              </a:rPr>
              <a:t>五、两平面的相对位置</a:t>
            </a:r>
          </a:p>
        </p:txBody>
      </p:sp>
      <p:sp>
        <p:nvSpPr>
          <p:cNvPr id="3" name="Text Box 64">
            <a:extLst>
              <a:ext uri="{FF2B5EF4-FFF2-40B4-BE49-F238E27FC236}">
                <a16:creationId xmlns:a16="http://schemas.microsoft.com/office/drawing/2014/main" id="{4A70B358-699B-4823-88DB-D30A7EC70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768" y="1461244"/>
            <a:ext cx="2438400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1" lang="en-US" altLang="zh-CN" sz="2800" b="1" dirty="0">
                <a:latin typeface="Dutch801 Rm BT" pitchFamily="18" charset="0"/>
              </a:rPr>
              <a:t>⒈ </a:t>
            </a:r>
            <a:r>
              <a:rPr kumimoji="1" lang="zh-CN" altLang="en-US" sz="2800" b="1" dirty="0">
                <a:latin typeface="Dutch801 Rm BT" pitchFamily="18" charset="0"/>
              </a:rPr>
              <a:t>两平面平行</a:t>
            </a:r>
            <a:endParaRPr kumimoji="1" lang="zh-CN" altLang="en-US" sz="2800" b="1" i="1" dirty="0">
              <a:latin typeface="Dutch801 Rm BT" pitchFamily="18" charset="0"/>
            </a:endParaRPr>
          </a:p>
        </p:txBody>
      </p:sp>
      <p:sp>
        <p:nvSpPr>
          <p:cNvPr id="4" name="Text Box 66">
            <a:extLst>
              <a:ext uri="{FF2B5EF4-FFF2-40B4-BE49-F238E27FC236}">
                <a16:creationId xmlns:a16="http://schemas.microsoft.com/office/drawing/2014/main" id="{BFA21215-9063-4D87-9BCD-6A839ADA9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562" y="2094722"/>
            <a:ext cx="3884613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kumimoji="1" lang="en-US" altLang="zh-CN" sz="2400" b="1" dirty="0">
                <a:latin typeface="宋体" pitchFamily="2" charset="-122"/>
              </a:rPr>
              <a:t>⑴ </a:t>
            </a:r>
            <a:r>
              <a:rPr kumimoji="1" lang="zh-CN" altLang="en-US" sz="2400" b="1" dirty="0">
                <a:latin typeface="宋体" pitchFamily="2" charset="-122"/>
              </a:rPr>
              <a:t>若一平面上的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两相交</a:t>
            </a:r>
          </a:p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   直线</a:t>
            </a:r>
            <a:r>
              <a:rPr kumimoji="1" lang="zh-CN" altLang="en-US" sz="2400" b="1" dirty="0">
                <a:latin typeface="宋体" pitchFamily="2" charset="-122"/>
              </a:rPr>
              <a:t>分别平行于另一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平面上的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两相交直线</a:t>
            </a:r>
            <a:r>
              <a:rPr kumimoji="1" lang="zh-CN" altLang="en-US" sz="2400" b="1" dirty="0">
                <a:latin typeface="宋体" pitchFamily="2" charset="-122"/>
              </a:rPr>
              <a:t>，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则这两平面相互平行。</a:t>
            </a:r>
          </a:p>
        </p:txBody>
      </p:sp>
      <p:sp>
        <p:nvSpPr>
          <p:cNvPr id="5" name="Text Box 67">
            <a:extLst>
              <a:ext uri="{FF2B5EF4-FFF2-40B4-BE49-F238E27FC236}">
                <a16:creationId xmlns:a16="http://schemas.microsoft.com/office/drawing/2014/main" id="{C2E72075-4E1C-423F-AFD8-912F8E64C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636" y="3932139"/>
            <a:ext cx="392747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kumimoji="1" lang="en-US" altLang="zh-CN" sz="2400" b="1" dirty="0">
                <a:latin typeface="宋体" pitchFamily="2" charset="-122"/>
              </a:rPr>
              <a:t>⑵ </a:t>
            </a:r>
            <a:r>
              <a:rPr kumimoji="1" lang="zh-CN" altLang="en-US" sz="2400" b="1" dirty="0">
                <a:latin typeface="宋体" pitchFamily="2" charset="-122"/>
              </a:rPr>
              <a:t>若两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投影面垂直面</a:t>
            </a:r>
            <a:r>
              <a:rPr kumimoji="1" lang="zh-CN" altLang="en-US" sz="2400" b="1" dirty="0">
                <a:latin typeface="宋体" pitchFamily="2" charset="-122"/>
              </a:rPr>
              <a:t>相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互平行，则它们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具有</a:t>
            </a:r>
          </a:p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   积聚性</a:t>
            </a:r>
            <a:r>
              <a:rPr kumimoji="1" lang="zh-CN" altLang="en-US" sz="2400" b="1" dirty="0">
                <a:latin typeface="宋体" pitchFamily="2" charset="-122"/>
              </a:rPr>
              <a:t>的那组投影必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相互平行。</a:t>
            </a:r>
          </a:p>
        </p:txBody>
      </p:sp>
      <p:grpSp>
        <p:nvGrpSpPr>
          <p:cNvPr id="6" name="Group 68">
            <a:extLst>
              <a:ext uri="{FF2B5EF4-FFF2-40B4-BE49-F238E27FC236}">
                <a16:creationId xmlns:a16="http://schemas.microsoft.com/office/drawing/2014/main" id="{194BD5BB-C8F4-4E9B-AE81-5A12533B9F8B}"/>
              </a:ext>
            </a:extLst>
          </p:cNvPr>
          <p:cNvGrpSpPr>
            <a:grpSpLocks/>
          </p:cNvGrpSpPr>
          <p:nvPr/>
        </p:nvGrpSpPr>
        <p:grpSpPr bwMode="auto">
          <a:xfrm>
            <a:off x="6567487" y="1265982"/>
            <a:ext cx="3414713" cy="2854325"/>
            <a:chOff x="3046" y="379"/>
            <a:chExt cx="2151" cy="1798"/>
          </a:xfrm>
        </p:grpSpPr>
        <p:sp>
          <p:nvSpPr>
            <p:cNvPr id="7" name="Line 69">
              <a:extLst>
                <a:ext uri="{FF2B5EF4-FFF2-40B4-BE49-F238E27FC236}">
                  <a16:creationId xmlns:a16="http://schemas.microsoft.com/office/drawing/2014/main" id="{ECBFBA3A-EDF2-45F0-8EFA-AD0BF2583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2" y="1315"/>
              <a:ext cx="19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70">
              <a:extLst>
                <a:ext uri="{FF2B5EF4-FFF2-40B4-BE49-F238E27FC236}">
                  <a16:creationId xmlns:a16="http://schemas.microsoft.com/office/drawing/2014/main" id="{2038D326-EF93-4447-80E6-72A22E1B8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677"/>
              <a:ext cx="398" cy="47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71">
              <a:extLst>
                <a:ext uri="{FF2B5EF4-FFF2-40B4-BE49-F238E27FC236}">
                  <a16:creationId xmlns:a16="http://schemas.microsoft.com/office/drawing/2014/main" id="{473AD3C4-6B1C-4A25-A169-5FFCCA40A1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956"/>
              <a:ext cx="664" cy="2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72">
              <a:extLst>
                <a:ext uri="{FF2B5EF4-FFF2-40B4-BE49-F238E27FC236}">
                  <a16:creationId xmlns:a16="http://schemas.microsoft.com/office/drawing/2014/main" id="{772D685C-8CEF-4641-9F8F-8F7C8E7DA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156"/>
              <a:ext cx="0" cy="6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73">
              <a:extLst>
                <a:ext uri="{FF2B5EF4-FFF2-40B4-BE49-F238E27FC236}">
                  <a16:creationId xmlns:a16="http://schemas.microsoft.com/office/drawing/2014/main" id="{629A37EB-6BFB-402E-95A5-E627C83FF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2" y="956"/>
              <a:ext cx="0" cy="5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74">
              <a:extLst>
                <a:ext uri="{FF2B5EF4-FFF2-40B4-BE49-F238E27FC236}">
                  <a16:creationId xmlns:a16="http://schemas.microsoft.com/office/drawing/2014/main" id="{76E3DB48-C1A3-45FE-A663-BF0E93A4D8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1475"/>
              <a:ext cx="664" cy="31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75">
              <a:extLst>
                <a:ext uri="{FF2B5EF4-FFF2-40B4-BE49-F238E27FC236}">
                  <a16:creationId xmlns:a16="http://schemas.microsoft.com/office/drawing/2014/main" id="{ABF952BE-0857-4367-A617-2F8F0716A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677"/>
              <a:ext cx="0" cy="12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76">
              <a:extLst>
                <a:ext uri="{FF2B5EF4-FFF2-40B4-BE49-F238E27FC236}">
                  <a16:creationId xmlns:a16="http://schemas.microsoft.com/office/drawing/2014/main" id="{5429B365-BE7C-4F8A-927E-74D6EA5B9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793"/>
              <a:ext cx="398" cy="16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77">
              <a:extLst>
                <a:ext uri="{FF2B5EF4-FFF2-40B4-BE49-F238E27FC236}">
                  <a16:creationId xmlns:a16="http://schemas.microsoft.com/office/drawing/2014/main" id="{3BB790D1-C610-47E5-A6D1-DD5D8965A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1" y="956"/>
              <a:ext cx="0" cy="8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Freeform 78">
              <a:extLst>
                <a:ext uri="{FF2B5EF4-FFF2-40B4-BE49-F238E27FC236}">
                  <a16:creationId xmlns:a16="http://schemas.microsoft.com/office/drawing/2014/main" id="{F6646EF0-BCD3-45F3-A5CA-40932A732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579"/>
              <a:ext cx="319" cy="377"/>
            </a:xfrm>
            <a:custGeom>
              <a:avLst/>
              <a:gdLst>
                <a:gd name="T0" fmla="*/ 0 w 346"/>
                <a:gd name="T1" fmla="*/ 48 h 455"/>
                <a:gd name="T2" fmla="*/ 130 w 346"/>
                <a:gd name="T3" fmla="*/ 0 h 455"/>
                <a:gd name="T4" fmla="*/ 0 60000 65536"/>
                <a:gd name="T5" fmla="*/ 0 60000 65536"/>
                <a:gd name="T6" fmla="*/ 0 w 346"/>
                <a:gd name="T7" fmla="*/ 0 h 455"/>
                <a:gd name="T8" fmla="*/ 346 w 346"/>
                <a:gd name="T9" fmla="*/ 455 h 4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455">
                  <a:moveTo>
                    <a:pt x="0" y="455"/>
                  </a:moveTo>
                  <a:lnTo>
                    <a:pt x="346" y="0"/>
                  </a:lnTo>
                </a:path>
              </a:pathLst>
            </a:custGeom>
            <a:solidFill>
              <a:srgbClr val="0066FF"/>
            </a:solidFill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Freeform 79">
              <a:extLst>
                <a:ext uri="{FF2B5EF4-FFF2-40B4-BE49-F238E27FC236}">
                  <a16:creationId xmlns:a16="http://schemas.microsoft.com/office/drawing/2014/main" id="{0C140B85-68FD-4883-8D99-42AFBF653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1793"/>
              <a:ext cx="319" cy="122"/>
            </a:xfrm>
            <a:custGeom>
              <a:avLst/>
              <a:gdLst>
                <a:gd name="T0" fmla="*/ 0 w 346"/>
                <a:gd name="T1" fmla="*/ 0 h 147"/>
                <a:gd name="T2" fmla="*/ 130 w 346"/>
                <a:gd name="T3" fmla="*/ 15 h 147"/>
                <a:gd name="T4" fmla="*/ 0 60000 65536"/>
                <a:gd name="T5" fmla="*/ 0 60000 65536"/>
                <a:gd name="T6" fmla="*/ 0 w 346"/>
                <a:gd name="T7" fmla="*/ 0 h 147"/>
                <a:gd name="T8" fmla="*/ 346 w 346"/>
                <a:gd name="T9" fmla="*/ 147 h 14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147">
                  <a:moveTo>
                    <a:pt x="0" y="0"/>
                  </a:moveTo>
                  <a:lnTo>
                    <a:pt x="346" y="147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80">
              <a:extLst>
                <a:ext uri="{FF2B5EF4-FFF2-40B4-BE49-F238E27FC236}">
                  <a16:creationId xmlns:a16="http://schemas.microsoft.com/office/drawing/2014/main" id="{1A663A7A-4013-4BC3-AFCB-B6C473030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1" y="598"/>
              <a:ext cx="0" cy="13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81">
              <a:extLst>
                <a:ext uri="{FF2B5EF4-FFF2-40B4-BE49-F238E27FC236}">
                  <a16:creationId xmlns:a16="http://schemas.microsoft.com/office/drawing/2014/main" id="{7EF7E1C0-6356-4B3B-981D-1EA834F428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1" y="757"/>
              <a:ext cx="664" cy="19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Freeform 82">
              <a:extLst>
                <a:ext uri="{FF2B5EF4-FFF2-40B4-BE49-F238E27FC236}">
                  <a16:creationId xmlns:a16="http://schemas.microsoft.com/office/drawing/2014/main" id="{EA2147DC-373A-48DF-B713-39530DF7C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1470"/>
              <a:ext cx="670" cy="323"/>
            </a:xfrm>
            <a:custGeom>
              <a:avLst/>
              <a:gdLst>
                <a:gd name="T0" fmla="*/ 0 w 727"/>
                <a:gd name="T1" fmla="*/ 41 h 390"/>
                <a:gd name="T2" fmla="*/ 273 w 727"/>
                <a:gd name="T3" fmla="*/ 0 h 390"/>
                <a:gd name="T4" fmla="*/ 0 60000 65536"/>
                <a:gd name="T5" fmla="*/ 0 60000 65536"/>
                <a:gd name="T6" fmla="*/ 0 w 727"/>
                <a:gd name="T7" fmla="*/ 0 h 390"/>
                <a:gd name="T8" fmla="*/ 727 w 727"/>
                <a:gd name="T9" fmla="*/ 390 h 3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27" h="390">
                  <a:moveTo>
                    <a:pt x="0" y="390"/>
                  </a:moveTo>
                  <a:lnTo>
                    <a:pt x="727" y="0"/>
                  </a:lnTo>
                </a:path>
              </a:pathLst>
            </a:cu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83">
              <a:extLst>
                <a:ext uri="{FF2B5EF4-FFF2-40B4-BE49-F238E27FC236}">
                  <a16:creationId xmlns:a16="http://schemas.microsoft.com/office/drawing/2014/main" id="{D0BF59A5-D6EE-4D4F-9DA6-414C9C6532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5" y="757"/>
              <a:ext cx="0" cy="71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Text Box 84">
              <a:extLst>
                <a:ext uri="{FF2B5EF4-FFF2-40B4-BE49-F238E27FC236}">
                  <a16:creationId xmlns:a16="http://schemas.microsoft.com/office/drawing/2014/main" id="{8C07F555-1646-4B47-AE2E-F8E5A589EE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7" y="773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23" name="Text Box 85">
              <a:extLst>
                <a:ext uri="{FF2B5EF4-FFF2-40B4-BE49-F238E27FC236}">
                  <a16:creationId xmlns:a16="http://schemas.microsoft.com/office/drawing/2014/main" id="{FDC7C77E-8DB3-401F-94B1-3621B7298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6" y="480"/>
              <a:ext cx="2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24" name="Text Box 86">
              <a:extLst>
                <a:ext uri="{FF2B5EF4-FFF2-40B4-BE49-F238E27FC236}">
                  <a16:creationId xmlns:a16="http://schemas.microsoft.com/office/drawing/2014/main" id="{DC23E505-8304-49D8-9AB1-B94789C975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474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25" name="Text Box 87">
              <a:extLst>
                <a:ext uri="{FF2B5EF4-FFF2-40B4-BE49-F238E27FC236}">
                  <a16:creationId xmlns:a16="http://schemas.microsoft.com/office/drawing/2014/main" id="{DF49C7E9-0C61-455A-8783-F685DCCF75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3" y="755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26" name="Text Box 88">
              <a:extLst>
                <a:ext uri="{FF2B5EF4-FFF2-40B4-BE49-F238E27FC236}">
                  <a16:creationId xmlns:a16="http://schemas.microsoft.com/office/drawing/2014/main" id="{FF184F8E-46F0-42E5-8282-39FFF13CC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6" y="379"/>
              <a:ext cx="24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27" name="Text Box 89">
              <a:extLst>
                <a:ext uri="{FF2B5EF4-FFF2-40B4-BE49-F238E27FC236}">
                  <a16:creationId xmlns:a16="http://schemas.microsoft.com/office/drawing/2014/main" id="{70BCDA94-A75C-44C5-9558-42CAAD26E3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6" y="1011"/>
              <a:ext cx="26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Dutch801 Rm BT" pitchFamily="18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28" name="Text Box 90">
              <a:extLst>
                <a:ext uri="{FF2B5EF4-FFF2-40B4-BE49-F238E27FC236}">
                  <a16:creationId xmlns:a16="http://schemas.microsoft.com/office/drawing/2014/main" id="{C4128C59-90C3-44E0-9508-524FFCA8F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3" y="1690"/>
              <a:ext cx="2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29" name="Text Box 91">
              <a:extLst>
                <a:ext uri="{FF2B5EF4-FFF2-40B4-BE49-F238E27FC236}">
                  <a16:creationId xmlns:a16="http://schemas.microsoft.com/office/drawing/2014/main" id="{561D7AB0-1D63-4DFE-8A14-2D64611EE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1889"/>
              <a:ext cx="21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30" name="Text Box 92">
              <a:extLst>
                <a:ext uri="{FF2B5EF4-FFF2-40B4-BE49-F238E27FC236}">
                  <a16:creationId xmlns:a16="http://schemas.microsoft.com/office/drawing/2014/main" id="{64551993-8DE4-407A-AD0F-117DA4B04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2" y="1372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31" name="Text Box 93">
              <a:extLst>
                <a:ext uri="{FF2B5EF4-FFF2-40B4-BE49-F238E27FC236}">
                  <a16:creationId xmlns:a16="http://schemas.microsoft.com/office/drawing/2014/main" id="{37F88340-F8F3-4C45-8121-48D9989EB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1649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32" name="Text Box 94">
              <a:extLst>
                <a:ext uri="{FF2B5EF4-FFF2-40B4-BE49-F238E27FC236}">
                  <a16:creationId xmlns:a16="http://schemas.microsoft.com/office/drawing/2014/main" id="{2B89C781-0022-4782-A4B6-77DDE10EA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9" y="1809"/>
              <a:ext cx="1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33" name="Text Box 95">
              <a:extLst>
                <a:ext uri="{FF2B5EF4-FFF2-40B4-BE49-F238E27FC236}">
                  <a16:creationId xmlns:a16="http://schemas.microsoft.com/office/drawing/2014/main" id="{2A25B005-2083-494A-8478-DF0F6D5BE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0" y="1391"/>
              <a:ext cx="1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</p:grpSp>
      <p:grpSp>
        <p:nvGrpSpPr>
          <p:cNvPr id="34" name="Group 96">
            <a:extLst>
              <a:ext uri="{FF2B5EF4-FFF2-40B4-BE49-F238E27FC236}">
                <a16:creationId xmlns:a16="http://schemas.microsoft.com/office/drawing/2014/main" id="{9F82B9EF-3F0D-4980-A70D-1DBC0CE4B541}"/>
              </a:ext>
            </a:extLst>
          </p:cNvPr>
          <p:cNvGrpSpPr>
            <a:grpSpLocks/>
          </p:cNvGrpSpPr>
          <p:nvPr/>
        </p:nvGrpSpPr>
        <p:grpSpPr bwMode="auto">
          <a:xfrm>
            <a:off x="6672262" y="4025057"/>
            <a:ext cx="3560763" cy="2701925"/>
            <a:chOff x="3112" y="2095"/>
            <a:chExt cx="2243" cy="1702"/>
          </a:xfrm>
        </p:grpSpPr>
        <p:sp>
          <p:nvSpPr>
            <p:cNvPr id="35" name="Line 97">
              <a:extLst>
                <a:ext uri="{FF2B5EF4-FFF2-40B4-BE49-F238E27FC236}">
                  <a16:creationId xmlns:a16="http://schemas.microsoft.com/office/drawing/2014/main" id="{319264BE-539A-4035-B85A-DC7C301B70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7" y="2950"/>
              <a:ext cx="0" cy="5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Freeform 98">
              <a:extLst>
                <a:ext uri="{FF2B5EF4-FFF2-40B4-BE49-F238E27FC236}">
                  <a16:creationId xmlns:a16="http://schemas.microsoft.com/office/drawing/2014/main" id="{53FFEE85-B9B7-46D4-8DE3-06739C2C6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3214"/>
              <a:ext cx="824" cy="421"/>
            </a:xfrm>
            <a:custGeom>
              <a:avLst/>
              <a:gdLst>
                <a:gd name="T0" fmla="*/ 0 w 916"/>
                <a:gd name="T1" fmla="*/ 120 h 472"/>
                <a:gd name="T2" fmla="*/ 257 w 916"/>
                <a:gd name="T3" fmla="*/ 0 h 472"/>
                <a:gd name="T4" fmla="*/ 0 60000 65536"/>
                <a:gd name="T5" fmla="*/ 0 60000 65536"/>
                <a:gd name="T6" fmla="*/ 0 w 916"/>
                <a:gd name="T7" fmla="*/ 0 h 472"/>
                <a:gd name="T8" fmla="*/ 916 w 916"/>
                <a:gd name="T9" fmla="*/ 472 h 47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16" h="472">
                  <a:moveTo>
                    <a:pt x="0" y="472"/>
                  </a:moveTo>
                  <a:lnTo>
                    <a:pt x="916" y="0"/>
                  </a:lnTo>
                </a:path>
              </a:pathLst>
            </a:custGeom>
            <a:solidFill>
              <a:srgbClr val="0066FF"/>
            </a:solidFill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Text Box 99">
              <a:extLst>
                <a:ext uri="{FF2B5EF4-FFF2-40B4-BE49-F238E27FC236}">
                  <a16:creationId xmlns:a16="http://schemas.microsoft.com/office/drawing/2014/main" id="{98C75DB8-AC6F-495C-BE07-F046DD758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2095"/>
              <a:ext cx="2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38" name="Text Box 100">
              <a:extLst>
                <a:ext uri="{FF2B5EF4-FFF2-40B4-BE49-F238E27FC236}">
                  <a16:creationId xmlns:a16="http://schemas.microsoft.com/office/drawing/2014/main" id="{CE6745EA-BC0A-428A-9A28-033973F5C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550"/>
              <a:ext cx="26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h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39" name="Line 101">
              <a:extLst>
                <a:ext uri="{FF2B5EF4-FFF2-40B4-BE49-F238E27FC236}">
                  <a16:creationId xmlns:a16="http://schemas.microsoft.com/office/drawing/2014/main" id="{54692041-3664-4916-9C6A-92D1FB8A6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5" y="3035"/>
              <a:ext cx="20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102">
              <a:extLst>
                <a:ext uri="{FF2B5EF4-FFF2-40B4-BE49-F238E27FC236}">
                  <a16:creationId xmlns:a16="http://schemas.microsoft.com/office/drawing/2014/main" id="{C1890386-79F2-4FA2-B540-4ECD876A45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1" y="2393"/>
              <a:ext cx="518" cy="4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103">
              <a:extLst>
                <a:ext uri="{FF2B5EF4-FFF2-40B4-BE49-F238E27FC236}">
                  <a16:creationId xmlns:a16="http://schemas.microsoft.com/office/drawing/2014/main" id="{B19130FB-C8EB-4725-9FCE-52735FD24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7" y="2479"/>
              <a:ext cx="517" cy="4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104">
              <a:extLst>
                <a:ext uri="{FF2B5EF4-FFF2-40B4-BE49-F238E27FC236}">
                  <a16:creationId xmlns:a16="http://schemas.microsoft.com/office/drawing/2014/main" id="{3DA21FEB-8B6E-4458-982D-6E813033F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1" y="2864"/>
              <a:ext cx="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105">
              <a:extLst>
                <a:ext uri="{FF2B5EF4-FFF2-40B4-BE49-F238E27FC236}">
                  <a16:creationId xmlns:a16="http://schemas.microsoft.com/office/drawing/2014/main" id="{44B76048-722B-4947-89B2-4F94000E9C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3" y="2350"/>
              <a:ext cx="561" cy="60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106">
              <a:extLst>
                <a:ext uri="{FF2B5EF4-FFF2-40B4-BE49-F238E27FC236}">
                  <a16:creationId xmlns:a16="http://schemas.microsoft.com/office/drawing/2014/main" id="{ABA56AAC-5915-4C8A-B6F0-2CEFFF3CD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3" y="2778"/>
              <a:ext cx="820" cy="17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107">
              <a:extLst>
                <a:ext uri="{FF2B5EF4-FFF2-40B4-BE49-F238E27FC236}">
                  <a16:creationId xmlns:a16="http://schemas.microsoft.com/office/drawing/2014/main" id="{95D02A12-CB5E-42F7-A525-E444D3B004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2350"/>
              <a:ext cx="259" cy="428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108">
              <a:extLst>
                <a:ext uri="{FF2B5EF4-FFF2-40B4-BE49-F238E27FC236}">
                  <a16:creationId xmlns:a16="http://schemas.microsoft.com/office/drawing/2014/main" id="{D5E59E05-8639-4E2D-94AB-AA100774B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3" y="2950"/>
              <a:ext cx="0" cy="6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109">
              <a:extLst>
                <a:ext uri="{FF2B5EF4-FFF2-40B4-BE49-F238E27FC236}">
                  <a16:creationId xmlns:a16="http://schemas.microsoft.com/office/drawing/2014/main" id="{122A593F-3B53-4EC9-B879-500F3CF90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3" y="2778"/>
              <a:ext cx="0" cy="4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Text Box 110">
              <a:extLst>
                <a:ext uri="{FF2B5EF4-FFF2-40B4-BE49-F238E27FC236}">
                  <a16:creationId xmlns:a16="http://schemas.microsoft.com/office/drawing/2014/main" id="{7352AED4-5C03-4FF1-A48F-6126F6D01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2" y="3491"/>
              <a:ext cx="2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49" name="Text Box 111">
              <a:extLst>
                <a:ext uri="{FF2B5EF4-FFF2-40B4-BE49-F238E27FC236}">
                  <a16:creationId xmlns:a16="http://schemas.microsoft.com/office/drawing/2014/main" id="{D4537F03-07A0-4228-ADCD-58C6BFE86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2" y="3338"/>
              <a:ext cx="21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0" name="Text Box 112">
              <a:extLst>
                <a:ext uri="{FF2B5EF4-FFF2-40B4-BE49-F238E27FC236}">
                  <a16:creationId xmlns:a16="http://schemas.microsoft.com/office/drawing/2014/main" id="{96EBDCC2-5B64-43A4-8AB5-994699E6E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1" y="3449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1" name="Text Box 113">
              <a:extLst>
                <a:ext uri="{FF2B5EF4-FFF2-40B4-BE49-F238E27FC236}">
                  <a16:creationId xmlns:a16="http://schemas.microsoft.com/office/drawing/2014/main" id="{08B12BE5-3D4F-4FB5-A893-86F48C141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190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2" name="Text Box 114">
              <a:extLst>
                <a:ext uri="{FF2B5EF4-FFF2-40B4-BE49-F238E27FC236}">
                  <a16:creationId xmlns:a16="http://schemas.microsoft.com/office/drawing/2014/main" id="{28632B77-6595-441E-B355-C7CB7A1D4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" y="3509"/>
              <a:ext cx="1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3" name="Text Box 115">
              <a:extLst>
                <a:ext uri="{FF2B5EF4-FFF2-40B4-BE49-F238E27FC236}">
                  <a16:creationId xmlns:a16="http://schemas.microsoft.com/office/drawing/2014/main" id="{21BE8444-A13F-4B68-AC5D-934B11FDE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9" y="3295"/>
              <a:ext cx="17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f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4" name="Text Box 116">
              <a:extLst>
                <a:ext uri="{FF2B5EF4-FFF2-40B4-BE49-F238E27FC236}">
                  <a16:creationId xmlns:a16="http://schemas.microsoft.com/office/drawing/2014/main" id="{1124478F-5DBE-4E15-8B47-88C949CB2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" y="3148"/>
              <a:ext cx="2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h</a:t>
              </a:r>
              <a:endParaRPr kumimoji="1" lang="en-US" altLang="zh-CN" sz="2400" b="1">
                <a:latin typeface="Times New Roman" pitchFamily="18" charset="0"/>
              </a:endParaRPr>
            </a:p>
          </p:txBody>
        </p:sp>
        <p:sp>
          <p:nvSpPr>
            <p:cNvPr id="55" name="Text Box 117">
              <a:extLst>
                <a:ext uri="{FF2B5EF4-FFF2-40B4-BE49-F238E27FC236}">
                  <a16:creationId xmlns:a16="http://schemas.microsoft.com/office/drawing/2014/main" id="{3C075B5E-C366-44F5-BE88-BC4B44DAC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7" y="2627"/>
              <a:ext cx="26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6" name="Text Box 118">
              <a:extLst>
                <a:ext uri="{FF2B5EF4-FFF2-40B4-BE49-F238E27FC236}">
                  <a16:creationId xmlns:a16="http://schemas.microsoft.com/office/drawing/2014/main" id="{B06D6F09-A253-4F9C-9DA9-AC7D71DC4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9" y="2196"/>
              <a:ext cx="2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7" name="Text Box 119">
              <a:extLst>
                <a:ext uri="{FF2B5EF4-FFF2-40B4-BE49-F238E27FC236}">
                  <a16:creationId xmlns:a16="http://schemas.microsoft.com/office/drawing/2014/main" id="{AC2EB571-C3BF-4732-849D-AE68335E2E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" y="2763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8" name="Text Box 120">
              <a:extLst>
                <a:ext uri="{FF2B5EF4-FFF2-40B4-BE49-F238E27FC236}">
                  <a16:creationId xmlns:a16="http://schemas.microsoft.com/office/drawing/2014/main" id="{75AADB58-71E6-4010-AF13-7BFF7C548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7" y="2293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d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59" name="Text Box 121">
              <a:extLst>
                <a:ext uri="{FF2B5EF4-FFF2-40B4-BE49-F238E27FC236}">
                  <a16:creationId xmlns:a16="http://schemas.microsoft.com/office/drawing/2014/main" id="{A92AEB76-1F86-4516-B6B1-24C31AB31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8" y="2720"/>
              <a:ext cx="24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latin typeface="Dutch801 Rm BT" pitchFamily="18" charset="0"/>
                </a:rPr>
                <a:t>e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60" name="Line 122">
              <a:extLst>
                <a:ext uri="{FF2B5EF4-FFF2-40B4-BE49-F238E27FC236}">
                  <a16:creationId xmlns:a16="http://schemas.microsoft.com/office/drawing/2014/main" id="{54E3C07A-0517-4199-8416-EF8B4560BA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1" y="3238"/>
              <a:ext cx="733" cy="38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Line 123">
              <a:extLst>
                <a:ext uri="{FF2B5EF4-FFF2-40B4-BE49-F238E27FC236}">
                  <a16:creationId xmlns:a16="http://schemas.microsoft.com/office/drawing/2014/main" id="{D31296B9-EDD1-40C4-8773-9D5D749455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4" y="2479"/>
              <a:ext cx="0" cy="7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Line 124">
              <a:extLst>
                <a:ext uri="{FF2B5EF4-FFF2-40B4-BE49-F238E27FC236}">
                  <a16:creationId xmlns:a16="http://schemas.microsoft.com/office/drawing/2014/main" id="{750F1452-C39A-4558-838D-DBB2A228A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9" y="2393"/>
              <a:ext cx="0" cy="9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Line 125">
              <a:extLst>
                <a:ext uri="{FF2B5EF4-FFF2-40B4-BE49-F238E27FC236}">
                  <a16:creationId xmlns:a16="http://schemas.microsoft.com/office/drawing/2014/main" id="{B1D98F11-EDE5-4547-8F92-7F969D42B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4" y="2350"/>
              <a:ext cx="0" cy="9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648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345CC397-BE48-4775-80D9-4C4CC0E6C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597" y="1417213"/>
            <a:ext cx="2438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1" lang="en-US" altLang="zh-CN" sz="2800" b="1" dirty="0">
                <a:solidFill>
                  <a:schemeClr val="tx2"/>
                </a:solidFill>
                <a:latin typeface="Times New Roman" pitchFamily="18" charset="0"/>
              </a:rPr>
              <a:t>⒉ 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itchFamily="18" charset="0"/>
              </a:rPr>
              <a:t>两平面相交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7CC54B9-7D3C-4D3E-8C25-D1E7CDFEC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326" y="1946332"/>
            <a:ext cx="4310063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kumimoji="1" lang="en-US" altLang="zh-CN" sz="2400" b="1" dirty="0">
                <a:latin typeface="宋体" pitchFamily="2" charset="-122"/>
              </a:rPr>
              <a:t>⑴ </a:t>
            </a:r>
            <a:r>
              <a:rPr kumimoji="1" lang="zh-CN" altLang="en-US" sz="2400" b="1" dirty="0">
                <a:latin typeface="宋体" pitchFamily="2" charset="-122"/>
              </a:rPr>
              <a:t>两特殊位置平面相交，分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析交线的空间位置，有时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可找出两平面的一个共有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点，根据交线的投影特性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画出交线的投影。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0FF8F6E9-517F-4689-9C10-54A892610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296" y="3984993"/>
            <a:ext cx="4335463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kumimoji="1" lang="en-US" altLang="zh-CN" sz="2400" b="1" dirty="0">
                <a:latin typeface="宋体" pitchFamily="2" charset="-122"/>
              </a:rPr>
              <a:t>⑵ </a:t>
            </a:r>
            <a:r>
              <a:rPr kumimoji="1" lang="zh-CN" altLang="en-US" sz="2400" b="1" dirty="0">
                <a:latin typeface="宋体" pitchFamily="2" charset="-122"/>
              </a:rPr>
              <a:t>一般位置平面与特殊位置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平面相交，可利用特殊位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置平面的积聚性找出两平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面的两个共有点，求出交</a:t>
            </a:r>
          </a:p>
          <a:p>
            <a:pPr eaLnBrk="1" hangingPunct="1"/>
            <a:r>
              <a:rPr kumimoji="1" lang="zh-CN" altLang="en-US" sz="2400" b="1" dirty="0">
                <a:latin typeface="宋体" pitchFamily="2" charset="-122"/>
              </a:rPr>
              <a:t>   线。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D7AAA89-A2DF-4401-AAB0-639B8FF9B931}"/>
              </a:ext>
            </a:extLst>
          </p:cNvPr>
          <p:cNvGrpSpPr>
            <a:grpSpLocks/>
          </p:cNvGrpSpPr>
          <p:nvPr/>
        </p:nvGrpSpPr>
        <p:grpSpPr bwMode="auto">
          <a:xfrm>
            <a:off x="6632377" y="1046531"/>
            <a:ext cx="2892425" cy="2651125"/>
            <a:chOff x="3459" y="388"/>
            <a:chExt cx="1822" cy="1670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52BA4259-1A09-4B7A-98DC-2DD320204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" y="1192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796CA036-DCBD-4E5E-A875-FB69A7920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177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BC621466-4029-4632-BB02-F6704E641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5" y="1349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F980EEB5-F58E-4F0B-BCA2-EB48D730D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9" y="148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11F09448-2763-43F6-8AD1-185EAFB36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7" y="1072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e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6F12BCA2-AA24-4C48-8836-A8D267968E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0" y="1763"/>
              <a:ext cx="16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f</a:t>
              </a:r>
              <a:endParaRPr lang="en-US" altLang="zh-CN" sz="2400" b="1">
                <a:latin typeface="Times New Roman" pitchFamily="18" charset="0"/>
              </a:endParaRP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EE6537CB-3C88-4EE8-B6BA-0408352797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2" y="652"/>
              <a:ext cx="2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7834D4D9-198F-406A-97D2-5E7E60142A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0" y="439"/>
              <a:ext cx="2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f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F9F9123D-6B31-4FD5-8D05-611DEFFE2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" y="859"/>
              <a:ext cx="2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r>
                <a:rPr kumimoji="1" lang="en-US" altLang="zh-CN" sz="2000" b="1">
                  <a:latin typeface="Italic" pitchFamily="2" charset="0"/>
                  <a:sym typeface="Symbol" pitchFamily="18" charset="2"/>
                </a:rPr>
                <a:t></a:t>
              </a:r>
              <a:endParaRPr kumimoji="1" lang="en-US" altLang="zh-CN" sz="2400" b="1">
                <a:latin typeface="Times New Roman" pitchFamily="18" charset="0"/>
                <a:sym typeface="CommercialPi BT" pitchFamily="18" charset="2"/>
              </a:endParaRP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C477CD24-E1B9-44E4-A5A3-DBC8E24EA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" y="438"/>
              <a:ext cx="3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2A2B9AEC-5099-461E-B41E-204C95D9A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3" y="452"/>
              <a:ext cx="25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e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80EAA884-CE1E-4BF0-991B-B006816E86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9" y="388"/>
              <a:ext cx="3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itchFamily="18" charset="0"/>
                  <a:sym typeface="Symbol" pitchFamily="18" charset="2"/>
                </a:rPr>
                <a:t></a:t>
              </a: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C15E63F6-90A4-43AF-8F75-923E3701EE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7" y="609"/>
              <a:ext cx="0" cy="12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18ED723D-7CB8-4DEF-9C8B-5707F93F5C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4" y="1023"/>
              <a:ext cx="0" cy="6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226AF4CA-BC8E-4F53-8614-14277E90C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4" y="609"/>
              <a:ext cx="1333" cy="414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FC636D22-21FC-45FE-9FDE-7E89B2489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69" y="692"/>
              <a:ext cx="0" cy="5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BFBD5371-BED0-41BE-AAF2-96659467F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65" y="802"/>
              <a:ext cx="0" cy="6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E259EF99-990C-4177-82E3-A9DC595A7B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32" y="637"/>
              <a:ext cx="1333" cy="16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D82AED97-5EEA-42D4-9AD2-FB2EECDA4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2" y="637"/>
              <a:ext cx="0" cy="7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76B5CC8A-8CB6-4B89-9A87-9741A815D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4" y="1461"/>
              <a:ext cx="321" cy="31"/>
            </a:xfrm>
            <a:custGeom>
              <a:avLst/>
              <a:gdLst>
                <a:gd name="T0" fmla="*/ 14 w 428"/>
                <a:gd name="T1" fmla="*/ 1 h 54"/>
                <a:gd name="T2" fmla="*/ 0 w 428"/>
                <a:gd name="T3" fmla="*/ 0 h 54"/>
                <a:gd name="T4" fmla="*/ 0 60000 65536"/>
                <a:gd name="T5" fmla="*/ 0 60000 65536"/>
                <a:gd name="T6" fmla="*/ 0 w 428"/>
                <a:gd name="T7" fmla="*/ 0 h 54"/>
                <a:gd name="T8" fmla="*/ 428 w 428"/>
                <a:gd name="T9" fmla="*/ 54 h 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28" h="54">
                  <a:moveTo>
                    <a:pt x="428" y="54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C863E5D-028A-4B1C-A250-5D41ABBD5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1630"/>
              <a:ext cx="442" cy="91"/>
            </a:xfrm>
            <a:custGeom>
              <a:avLst/>
              <a:gdLst>
                <a:gd name="T0" fmla="*/ 0 w 588"/>
                <a:gd name="T1" fmla="*/ 0 h 158"/>
                <a:gd name="T2" fmla="*/ 20 w 588"/>
                <a:gd name="T3" fmla="*/ 1 h 158"/>
                <a:gd name="T4" fmla="*/ 0 60000 65536"/>
                <a:gd name="T5" fmla="*/ 0 60000 65536"/>
                <a:gd name="T6" fmla="*/ 0 w 588"/>
                <a:gd name="T7" fmla="*/ 0 h 158"/>
                <a:gd name="T8" fmla="*/ 588 w 588"/>
                <a:gd name="T9" fmla="*/ 158 h 15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8" h="158">
                  <a:moveTo>
                    <a:pt x="0" y="0"/>
                  </a:moveTo>
                  <a:lnTo>
                    <a:pt x="588" y="158"/>
                  </a:lnTo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E1006458-9DF9-4836-923D-814782131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" y="1794"/>
              <a:ext cx="552" cy="112"/>
            </a:xfrm>
            <a:custGeom>
              <a:avLst/>
              <a:gdLst>
                <a:gd name="T0" fmla="*/ 23 w 736"/>
                <a:gd name="T1" fmla="*/ 1 h 195"/>
                <a:gd name="T2" fmla="*/ 0 w 736"/>
                <a:gd name="T3" fmla="*/ 0 h 195"/>
                <a:gd name="T4" fmla="*/ 0 60000 65536"/>
                <a:gd name="T5" fmla="*/ 0 60000 65536"/>
                <a:gd name="T6" fmla="*/ 0 w 736"/>
                <a:gd name="T7" fmla="*/ 0 h 195"/>
                <a:gd name="T8" fmla="*/ 736 w 736"/>
                <a:gd name="T9" fmla="*/ 195 h 1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6" h="195">
                  <a:moveTo>
                    <a:pt x="736" y="19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3DC0315A-27DB-4ED2-99A2-39B726BEEF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3" y="1271"/>
              <a:ext cx="396" cy="13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ED4C676-A61E-47B4-9988-DC5F8F752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1271"/>
              <a:ext cx="81" cy="198"/>
            </a:xfrm>
            <a:custGeom>
              <a:avLst/>
              <a:gdLst>
                <a:gd name="T0" fmla="*/ 0 w 108"/>
                <a:gd name="T1" fmla="*/ 0 h 344"/>
                <a:gd name="T2" fmla="*/ 4 w 108"/>
                <a:gd name="T3" fmla="*/ 1 h 344"/>
                <a:gd name="T4" fmla="*/ 0 60000 65536"/>
                <a:gd name="T5" fmla="*/ 0 60000 65536"/>
                <a:gd name="T6" fmla="*/ 0 w 108"/>
                <a:gd name="T7" fmla="*/ 0 h 344"/>
                <a:gd name="T8" fmla="*/ 108 w 108"/>
                <a:gd name="T9" fmla="*/ 344 h 34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8" h="344">
                  <a:moveTo>
                    <a:pt x="0" y="0"/>
                  </a:moveTo>
                  <a:lnTo>
                    <a:pt x="108" y="344"/>
                  </a:lnTo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7FCE0742-255F-413C-8BFF-264BACAF1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4" y="1534"/>
              <a:ext cx="283" cy="96"/>
            </a:xfrm>
            <a:custGeom>
              <a:avLst/>
              <a:gdLst>
                <a:gd name="T0" fmla="*/ 0 w 376"/>
                <a:gd name="T1" fmla="*/ 1 h 167"/>
                <a:gd name="T2" fmla="*/ 13 w 376"/>
                <a:gd name="T3" fmla="*/ 0 h 167"/>
                <a:gd name="T4" fmla="*/ 0 60000 65536"/>
                <a:gd name="T5" fmla="*/ 0 60000 65536"/>
                <a:gd name="T6" fmla="*/ 0 w 376"/>
                <a:gd name="T7" fmla="*/ 0 h 167"/>
                <a:gd name="T8" fmla="*/ 376 w 376"/>
                <a:gd name="T9" fmla="*/ 167 h 1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6" h="167">
                  <a:moveTo>
                    <a:pt x="0" y="167"/>
                  </a:moveTo>
                  <a:lnTo>
                    <a:pt x="376" y="0"/>
                  </a:lnTo>
                </a:path>
              </a:pathLst>
            </a:custGeom>
            <a:noFill/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1">
              <a:extLst>
                <a:ext uri="{FF2B5EF4-FFF2-40B4-BE49-F238E27FC236}">
                  <a16:creationId xmlns:a16="http://schemas.microsoft.com/office/drawing/2014/main" id="{A3281170-7DB2-4F99-A7E7-ABA006C5F9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3" y="1492"/>
              <a:ext cx="252" cy="11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2">
              <a:extLst>
                <a:ext uri="{FF2B5EF4-FFF2-40B4-BE49-F238E27FC236}">
                  <a16:creationId xmlns:a16="http://schemas.microsoft.com/office/drawing/2014/main" id="{CFCCD3D4-4C66-4D97-9778-E90CC9FF4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13" y="1603"/>
              <a:ext cx="144" cy="303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8CB4D162-2369-43A3-B580-95B6A7425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1786"/>
              <a:ext cx="214" cy="93"/>
            </a:xfrm>
            <a:custGeom>
              <a:avLst/>
              <a:gdLst>
                <a:gd name="T0" fmla="*/ 0 w 286"/>
                <a:gd name="T1" fmla="*/ 1 h 161"/>
                <a:gd name="T2" fmla="*/ 9 w 286"/>
                <a:gd name="T3" fmla="*/ 0 h 161"/>
                <a:gd name="T4" fmla="*/ 0 60000 65536"/>
                <a:gd name="T5" fmla="*/ 0 60000 65536"/>
                <a:gd name="T6" fmla="*/ 0 w 286"/>
                <a:gd name="T7" fmla="*/ 0 h 161"/>
                <a:gd name="T8" fmla="*/ 286 w 286"/>
                <a:gd name="T9" fmla="*/ 161 h 16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6" h="161">
                  <a:moveTo>
                    <a:pt x="0" y="161"/>
                  </a:moveTo>
                  <a:lnTo>
                    <a:pt x="286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4">
              <a:extLst>
                <a:ext uri="{FF2B5EF4-FFF2-40B4-BE49-F238E27FC236}">
                  <a16:creationId xmlns:a16="http://schemas.microsoft.com/office/drawing/2014/main" id="{BA9501E5-0F14-4711-81ED-22BB1C04BF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1" y="692"/>
              <a:ext cx="0" cy="11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A7E28084-9806-4F92-B501-802A5DC641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2" y="1354"/>
              <a:ext cx="541" cy="5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843992B0-12AE-496F-AC75-DC69BBCAE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1721"/>
              <a:ext cx="140" cy="158"/>
            </a:xfrm>
            <a:custGeom>
              <a:avLst/>
              <a:gdLst>
                <a:gd name="T0" fmla="*/ 6 w 186"/>
                <a:gd name="T1" fmla="*/ 1 h 274"/>
                <a:gd name="T2" fmla="*/ 0 w 186"/>
                <a:gd name="T3" fmla="*/ 0 h 274"/>
                <a:gd name="T4" fmla="*/ 0 60000 65536"/>
                <a:gd name="T5" fmla="*/ 0 60000 65536"/>
                <a:gd name="T6" fmla="*/ 0 w 186"/>
                <a:gd name="T7" fmla="*/ 0 h 274"/>
                <a:gd name="T8" fmla="*/ 186 w 186"/>
                <a:gd name="T9" fmla="*/ 274 h 2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6" h="274">
                  <a:moveTo>
                    <a:pt x="186" y="274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EFEA90D-5DDF-4F10-8BAE-C54D3C6FE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1354"/>
              <a:ext cx="170" cy="188"/>
            </a:xfrm>
            <a:custGeom>
              <a:avLst/>
              <a:gdLst>
                <a:gd name="T0" fmla="*/ 0 w 226"/>
                <a:gd name="T1" fmla="*/ 0 h 327"/>
                <a:gd name="T2" fmla="*/ 8 w 226"/>
                <a:gd name="T3" fmla="*/ 1 h 327"/>
                <a:gd name="T4" fmla="*/ 0 60000 65536"/>
                <a:gd name="T5" fmla="*/ 0 60000 65536"/>
                <a:gd name="T6" fmla="*/ 0 w 226"/>
                <a:gd name="T7" fmla="*/ 0 h 327"/>
                <a:gd name="T8" fmla="*/ 226 w 226"/>
                <a:gd name="T9" fmla="*/ 327 h 3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6" h="327">
                  <a:moveTo>
                    <a:pt x="0" y="0"/>
                  </a:moveTo>
                  <a:lnTo>
                    <a:pt x="226" y="327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74EA3A38-52A2-410E-9678-6E81BDE4C3D0}"/>
              </a:ext>
            </a:extLst>
          </p:cNvPr>
          <p:cNvGrpSpPr>
            <a:grpSpLocks/>
          </p:cNvGrpSpPr>
          <p:nvPr/>
        </p:nvGrpSpPr>
        <p:grpSpPr bwMode="auto">
          <a:xfrm>
            <a:off x="7051477" y="3656381"/>
            <a:ext cx="2617788" cy="3197225"/>
            <a:chOff x="3723" y="2032"/>
            <a:chExt cx="1649" cy="2014"/>
          </a:xfrm>
        </p:grpSpPr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5A4E108A-0A6C-4A2F-AB3F-8AD679DA3F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51" y="2258"/>
              <a:ext cx="418" cy="38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en-US" altLang="zh-CN" dirty="0"/>
                <a:t> </a:t>
              </a:r>
              <a:endParaRPr lang="zh-CN" altLang="en-US" dirty="0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5E7BAF47-9856-407D-B6F5-CB7DE0E2F1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2258"/>
              <a:ext cx="0" cy="10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70B5B1D3-4967-40EA-AC95-D1A440203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4" y="3661"/>
              <a:ext cx="0" cy="2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1A212F01-8F50-4A5C-8DC2-96F4F1720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2" y="2952"/>
              <a:ext cx="0" cy="5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0A03DD21-B267-424B-B752-7347675A92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952"/>
              <a:ext cx="0" cy="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ACA1276C-0E5B-4ABE-9C0E-BF02AB343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1" y="3296"/>
              <a:ext cx="653" cy="5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CE9BD93D-1E73-400C-8F07-5671D37E5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7" y="3656"/>
              <a:ext cx="1087" cy="22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BE816E58-F068-43B1-A402-B90639A366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7" y="3296"/>
              <a:ext cx="434" cy="36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67E46498-BAEE-4CD6-8A3C-AE83A36752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1" y="3491"/>
              <a:ext cx="676" cy="29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BA910971-3939-4296-8684-191C35E47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4" y="2720"/>
              <a:ext cx="197" cy="2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2D735271-A5EE-481E-A324-ACD1EF1A34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17" y="2528"/>
              <a:ext cx="184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2E1C7F28-06CC-4546-B069-81C50B320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1" y="2817"/>
              <a:ext cx="0" cy="13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D8ED0CF6-5349-43CB-B1A4-12698AE9D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952"/>
              <a:ext cx="670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6F0274A6-1918-4616-AB4B-CC6828424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157"/>
              <a:ext cx="0" cy="37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235F5846-557A-4052-B6E2-20F8F46CE0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7" y="2720"/>
              <a:ext cx="0" cy="9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Rectangle 54">
              <a:extLst>
                <a:ext uri="{FF2B5EF4-FFF2-40B4-BE49-F238E27FC236}">
                  <a16:creationId xmlns:a16="http://schemas.microsoft.com/office/drawing/2014/main" id="{49A423A2-6A1F-47CA-8E55-D30B9D48C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9" y="2124"/>
              <a:ext cx="29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55" name="Rectangle 55">
              <a:extLst>
                <a:ext uri="{FF2B5EF4-FFF2-40B4-BE49-F238E27FC236}">
                  <a16:creationId xmlns:a16="http://schemas.microsoft.com/office/drawing/2014/main" id="{77E18C59-34AB-42B6-B4B0-3CB986503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8" y="3115"/>
              <a:ext cx="9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56" name="Rectangle 56">
              <a:extLst>
                <a:ext uri="{FF2B5EF4-FFF2-40B4-BE49-F238E27FC236}">
                  <a16:creationId xmlns:a16="http://schemas.microsoft.com/office/drawing/2014/main" id="{D89FF1D2-D620-42BE-B7FB-805D93D08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" y="3598"/>
              <a:ext cx="97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57" name="Rectangle 57">
              <a:extLst>
                <a:ext uri="{FF2B5EF4-FFF2-40B4-BE49-F238E27FC236}">
                  <a16:creationId xmlns:a16="http://schemas.microsoft.com/office/drawing/2014/main" id="{5E7845DE-C0B9-459C-9EA4-0E07F71B5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" y="3778"/>
              <a:ext cx="333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d(e)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58" name="Rectangle 58">
              <a:extLst>
                <a:ext uri="{FF2B5EF4-FFF2-40B4-BE49-F238E27FC236}">
                  <a16:creationId xmlns:a16="http://schemas.microsoft.com/office/drawing/2014/main" id="{7347DCE8-15C7-412F-9441-216A080DC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" y="2876"/>
              <a:ext cx="274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e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68A2BCAF-9A63-477A-B036-E07115685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3" y="2645"/>
              <a:ext cx="289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5F62C85D-A1F7-4D99-9C40-44C9EE460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047"/>
              <a:ext cx="293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61" name="Rectangle 61">
              <a:extLst>
                <a:ext uri="{FF2B5EF4-FFF2-40B4-BE49-F238E27FC236}">
                  <a16:creationId xmlns:a16="http://schemas.microsoft.com/office/drawing/2014/main" id="{514F7E17-A777-4D4E-A275-75893DE62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" y="3355"/>
              <a:ext cx="310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h(f)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62" name="Rectangle 62">
              <a:extLst>
                <a:ext uri="{FF2B5EF4-FFF2-40B4-BE49-F238E27FC236}">
                  <a16:creationId xmlns:a16="http://schemas.microsoft.com/office/drawing/2014/main" id="{5D8FED88-39ED-42B5-8152-E5A7DBA74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796"/>
              <a:ext cx="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6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>
                <a:latin typeface="RomanS" pitchFamily="2" charset="0"/>
              </a:endParaRPr>
            </a:p>
          </p:txBody>
        </p:sp>
        <p:sp>
          <p:nvSpPr>
            <p:cNvPr id="63" name="Rectangle 63">
              <a:extLst>
                <a:ext uri="{FF2B5EF4-FFF2-40B4-BE49-F238E27FC236}">
                  <a16:creationId xmlns:a16="http://schemas.microsoft.com/office/drawing/2014/main" id="{2D6732AE-B8B8-4B13-BB59-07655CD38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850"/>
              <a:ext cx="249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f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64" name="Rectangle 64">
              <a:extLst>
                <a:ext uri="{FF2B5EF4-FFF2-40B4-BE49-F238E27FC236}">
                  <a16:creationId xmlns:a16="http://schemas.microsoft.com/office/drawing/2014/main" id="{7DA8465B-11F4-4B4C-AB53-262232DF7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657"/>
              <a:ext cx="28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600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177CD5B9-861D-4857-9F48-2D856D637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9" y="2032"/>
              <a:ext cx="295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 eaLnBrk="1" hangingPunct="1"/>
              <a:r>
                <a:rPr kumimoji="1" lang="en-US" altLang="zh-CN" sz="2400" i="1">
                  <a:solidFill>
                    <a:srgbClr val="000000"/>
                  </a:solidFill>
                  <a:latin typeface="Dutch801 Rm BT" pitchFamily="18" charset="0"/>
                </a:rPr>
                <a:t>h</a:t>
              </a:r>
              <a:r>
                <a:rPr kumimoji="1" lang="en-US" altLang="zh-CN" sz="2400">
                  <a:latin typeface="RomanS" pitchFamily="2" charset="0"/>
                </a:rPr>
                <a:t>′</a:t>
              </a:r>
            </a:p>
          </p:txBody>
        </p:sp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9C146F90-26A7-4F1E-BD52-4A6FB4917F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3144"/>
              <a:ext cx="1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F81B3809-71F7-4C7D-A7F9-96D0BAFFD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2157"/>
              <a:ext cx="668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Line 68">
              <a:extLst>
                <a:ext uri="{FF2B5EF4-FFF2-40B4-BE49-F238E27FC236}">
                  <a16:creationId xmlns:a16="http://schemas.microsoft.com/office/drawing/2014/main" id="{BFA96216-96C1-4E3F-A58D-2F33F0A6F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1" y="2157"/>
              <a:ext cx="0" cy="48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Line 69">
              <a:extLst>
                <a:ext uri="{FF2B5EF4-FFF2-40B4-BE49-F238E27FC236}">
                  <a16:creationId xmlns:a16="http://schemas.microsoft.com/office/drawing/2014/main" id="{9587BB91-E556-4D6A-9C95-616C2EB1E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1" y="2742"/>
              <a:ext cx="0" cy="21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Line 70">
              <a:extLst>
                <a:ext uri="{FF2B5EF4-FFF2-40B4-BE49-F238E27FC236}">
                  <a16:creationId xmlns:a16="http://schemas.microsoft.com/office/drawing/2014/main" id="{1D363B36-0CF8-466C-AF6D-F33C74692A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3" y="2258"/>
              <a:ext cx="248" cy="2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Line 71">
              <a:extLst>
                <a:ext uri="{FF2B5EF4-FFF2-40B4-BE49-F238E27FC236}">
                  <a16:creationId xmlns:a16="http://schemas.microsoft.com/office/drawing/2014/main" id="{C080C2FD-3CFE-4E8C-9579-5BF73D0B5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7" y="2817"/>
              <a:ext cx="227" cy="2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Line 72">
              <a:extLst>
                <a:ext uri="{FF2B5EF4-FFF2-40B4-BE49-F238E27FC236}">
                  <a16:creationId xmlns:a16="http://schemas.microsoft.com/office/drawing/2014/main" id="{6A13CDC7-1181-484B-95B0-AEE0644AD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9" y="2642"/>
              <a:ext cx="229" cy="20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E4D9A8EC-B09B-4958-88B6-4C8C9E6FF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8" y="2843"/>
              <a:ext cx="0" cy="5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4" name="Text Box 63">
            <a:extLst>
              <a:ext uri="{FF2B5EF4-FFF2-40B4-BE49-F238E27FC236}">
                <a16:creationId xmlns:a16="http://schemas.microsoft.com/office/drawing/2014/main" id="{1871E946-0339-4B65-AE99-CE998F75B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625844"/>
            <a:ext cx="3790950" cy="5222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1" lang="zh-CN" altLang="en-US" sz="2800" b="1" dirty="0">
                <a:solidFill>
                  <a:srgbClr val="3366CC"/>
                </a:solidFill>
                <a:latin typeface="Dutch801 Rm BT" pitchFamily="18" charset="0"/>
              </a:rPr>
              <a:t>五、两平面的相对位置</a:t>
            </a:r>
          </a:p>
        </p:txBody>
      </p:sp>
    </p:spTree>
    <p:extLst>
      <p:ext uri="{BB962C8B-B14F-4D97-AF65-F5344CB8AC3E}">
        <p14:creationId xmlns:p14="http://schemas.microsoft.com/office/powerpoint/2010/main" val="233552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b76880d17a355215c19a97385ac6eda0daff0e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" val="{EA4830FD-A81F-4456-BBD0-58D4D2EC253E}"/>
  <p:tag name="GENSWF_ADVANCE_TIME" val="8.501"/>
  <p:tag name="TIMING" val="|0.001|0.5|0.5|0.5|0.5|0.5|0.5|0.5|0.5|0.5|0.5|0.5|0.5|0.5|0.5|0.5|0.5|0.5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" val="{E4448408-7BF2-4FE6-96B9-2DB2F56B9211}"/>
  <p:tag name="GENSWF_ADVANCE_TIME" val="2.139"/>
  <p:tag name="TIMING" val="|0.001|0.5|0.5|0.5|0.413|0.22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" val="{2B67A837-6D9C-458E-B92C-1AF7949FEBB2}"/>
  <p:tag name="GENSWF_ADVANCE_TIME" val="2.169"/>
  <p:tag name="TIMING" val="|0.001|0.5|0.5|0.5|0.375|0.293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" val="{2B67A837-6D9C-458E-B92C-1AF7949FEBB2}"/>
  <p:tag name="GENSWF_ADVANCE_TIME" val="2.169"/>
  <p:tag name="TIMING" val="|0.001|0.5|0.5|0.5|0.375|0.293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" val="{AE87E774-9D50-4633-8A02-3093E9A2E898}"/>
  <p:tag name="GENSWF_ADVANCE_TIME" val="3.41"/>
  <p:tag name="TIMING" val="|0.001|0.173|0.5|0.188|0.188|0.5|0.18|0.18|0.5|0.5|0.5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1998</TotalTime>
  <Words>6716</Words>
  <Application>Microsoft Office PowerPoint</Application>
  <PresentationFormat>宽屏</PresentationFormat>
  <Paragraphs>1916</Paragraphs>
  <Slides>84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84</vt:i4>
      </vt:variant>
    </vt:vector>
  </HeadingPairs>
  <TitlesOfParts>
    <vt:vector size="104" baseType="lpstr">
      <vt:lpstr>Gulim</vt:lpstr>
      <vt:lpstr>方正隶书简体</vt:lpstr>
      <vt:lpstr>黑体</vt:lpstr>
      <vt:lpstr>华文行楷</vt:lpstr>
      <vt:lpstr>宋体</vt:lpstr>
      <vt:lpstr>Microsoft Yahei</vt:lpstr>
      <vt:lpstr>Arial</vt:lpstr>
      <vt:lpstr>Calibri</vt:lpstr>
      <vt:lpstr>Dutch801 Rm BT</vt:lpstr>
      <vt:lpstr>ISOCP</vt:lpstr>
      <vt:lpstr>ISOCPEUR</vt:lpstr>
      <vt:lpstr>Italic</vt:lpstr>
      <vt:lpstr>RomanS</vt:lpstr>
      <vt:lpstr>Segoe Print</vt:lpstr>
      <vt:lpstr>Shruti</vt:lpstr>
      <vt:lpstr>Times New Roman</vt:lpstr>
      <vt:lpstr>Wingdings</vt:lpstr>
      <vt:lpstr>1_Office 主题</vt:lpstr>
      <vt:lpstr>文档</vt:lpstr>
      <vt:lpstr>AutoCAD.Drawing.18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点、直线、平面</dc:title>
  <dc:creator>穆浩志</dc:creator>
  <cp:keywords>天津理工</cp:keywords>
  <cp:lastModifiedBy>Lenovo</cp:lastModifiedBy>
  <cp:revision>188</cp:revision>
  <dcterms:created xsi:type="dcterms:W3CDTF">2014-03-20T09:34:50Z</dcterms:created>
  <dcterms:modified xsi:type="dcterms:W3CDTF">2021-09-27T01:39:12Z</dcterms:modified>
</cp:coreProperties>
</file>
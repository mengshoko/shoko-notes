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9" r:id="rId1"/>
  </p:sldMasterIdLst>
  <p:notesMasterIdLst>
    <p:notesMasterId r:id="rId27"/>
  </p:notesMasterIdLst>
  <p:sldIdLst>
    <p:sldId id="556" r:id="rId2"/>
    <p:sldId id="557" r:id="rId3"/>
    <p:sldId id="558" r:id="rId4"/>
    <p:sldId id="559" r:id="rId5"/>
    <p:sldId id="560" r:id="rId6"/>
    <p:sldId id="561" r:id="rId7"/>
    <p:sldId id="562" r:id="rId8"/>
    <p:sldId id="591" r:id="rId9"/>
    <p:sldId id="563" r:id="rId10"/>
    <p:sldId id="564" r:id="rId11"/>
    <p:sldId id="565" r:id="rId12"/>
    <p:sldId id="566" r:id="rId13"/>
    <p:sldId id="567" r:id="rId14"/>
    <p:sldId id="592" r:id="rId15"/>
    <p:sldId id="569" r:id="rId16"/>
    <p:sldId id="570" r:id="rId17"/>
    <p:sldId id="571" r:id="rId18"/>
    <p:sldId id="572" r:id="rId19"/>
    <p:sldId id="573" r:id="rId20"/>
    <p:sldId id="574" r:id="rId21"/>
    <p:sldId id="575" r:id="rId22"/>
    <p:sldId id="576" r:id="rId23"/>
    <p:sldId id="577" r:id="rId24"/>
    <p:sldId id="578" r:id="rId25"/>
    <p:sldId id="579" r:id="rId26"/>
  </p:sldIdLst>
  <p:sldSz cx="12192000" cy="6858000"/>
  <p:notesSz cx="6858000" cy="9144000"/>
  <p:custDataLst>
    <p:tags r:id="rId28"/>
  </p:custDataLst>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modifyVerifier cryptProviderType="rsaFull" cryptAlgorithmClass="hash" cryptAlgorithmType="typeAny" cryptAlgorithmSid="4" spinCount="50000" saltData="mO70nCLIcukbO/AWMqOVBA==" hashData="3UCDgBbuXkPhh88f0aBJLmsLrss="/>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78" autoAdjust="0"/>
    <p:restoredTop sz="93902" autoAdjust="0"/>
  </p:normalViewPr>
  <p:slideViewPr>
    <p:cSldViewPr>
      <p:cViewPr varScale="1">
        <p:scale>
          <a:sx n="74" d="100"/>
          <a:sy n="74" d="100"/>
        </p:scale>
        <p:origin x="372" y="60"/>
      </p:cViewPr>
      <p:guideLst>
        <p:guide orient="horz" pos="2160"/>
        <p:guide pos="3840"/>
      </p:guideLst>
    </p:cSldViewPr>
  </p:slideViewPr>
  <p:notesTextViewPr>
    <p:cViewPr>
      <p:scale>
        <a:sx n="50" d="100"/>
        <a:sy n="50" d="100"/>
      </p:scale>
      <p:origin x="0" y="0"/>
    </p:cViewPr>
  </p:notesTextViewPr>
  <p:sorterViewPr>
    <p:cViewPr>
      <p:scale>
        <a:sx n="66" d="100"/>
        <a:sy n="66" d="100"/>
      </p:scale>
      <p:origin x="0" y="0"/>
    </p:cViewPr>
  </p:sorterViewPr>
  <p:notesViewPr>
    <p:cSldViewPr>
      <p:cViewPr varScale="1">
        <p:scale>
          <a:sx n="68" d="100"/>
          <a:sy n="68" d="100"/>
        </p:scale>
        <p:origin x="-280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ea typeface="宋体" pitchFamily="2" charset="-122"/>
              </a:defRPr>
            </a:lvl1pPr>
          </a:lstStyle>
          <a:p>
            <a:pPr>
              <a:defRPr/>
            </a:pPr>
            <a:fld id="{D994F821-7148-4155-8A4B-3568DDD25123}" type="datetimeFigureOut">
              <a:rPr lang="zh-CN" altLang="en-US"/>
              <a:pPr>
                <a:defRPr/>
              </a:pPr>
              <a:t>2020/3/27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宋体" pitchFamily="2" charset="-122"/>
              </a:defRPr>
            </a:lvl1pPr>
          </a:lstStyle>
          <a:p>
            <a:pPr>
              <a:defRPr/>
            </a:pPr>
            <a:fld id="{350BB752-86F0-4A2B-B1F4-3D725A534A06}" type="slidenum">
              <a:rPr lang="zh-CN" altLang="en-US"/>
              <a:pPr>
                <a:defRPr/>
              </a:pPr>
              <a:t>‹#›</a:t>
            </a:fld>
            <a:endParaRPr lang="zh-CN" altLang="en-US"/>
          </a:p>
        </p:txBody>
      </p:sp>
    </p:spTree>
    <p:extLst>
      <p:ext uri="{BB962C8B-B14F-4D97-AF65-F5344CB8AC3E}">
        <p14:creationId xmlns:p14="http://schemas.microsoft.com/office/powerpoint/2010/main" val="1454908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a:defRPr>
                <a:ea typeface="宋体" pitchFamily="2" charset="-122"/>
              </a:defRPr>
            </a:lvl1pPr>
          </a:lstStyle>
          <a:p>
            <a:pPr>
              <a:defRPr/>
            </a:pPr>
            <a:endParaRPr lang="en-US" altLang="zh-CN"/>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a:defRPr>
                <a:ea typeface="宋体" pitchFamily="2" charset="-122"/>
              </a:defRPr>
            </a:lvl1pPr>
          </a:lstStyle>
          <a:p>
            <a:pPr>
              <a:defRPr/>
            </a:pPr>
            <a:endParaRPr lang="en-US" altLang="zh-CN"/>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lvl1pPr>
              <a:defRPr>
                <a:ea typeface="宋体" pitchFamily="2" charset="-122"/>
              </a:defRPr>
            </a:lvl1pPr>
          </a:lstStyle>
          <a:p>
            <a:pPr>
              <a:defRPr/>
            </a:pPr>
            <a:fld id="{05882894-31D0-4353-8FC4-53FD4467D42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lvl1pPr>
              <a:defRPr>
                <a:ea typeface="宋体" pitchFamily="2" charset="-122"/>
              </a:defRPr>
            </a:lvl1pPr>
          </a:lstStyle>
          <a:p>
            <a:pPr>
              <a:defRPr/>
            </a:pPr>
            <a:endParaRPr lang="en-US" altLang="zh-CN"/>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a:defRPr>
                <a:ea typeface="宋体" pitchFamily="2" charset="-122"/>
              </a:defRPr>
            </a:lvl1pPr>
          </a:lstStyle>
          <a:p>
            <a:pPr>
              <a:defRPr/>
            </a:pPr>
            <a:endParaRPr lang="en-US" altLang="zh-CN"/>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lvl1pPr>
              <a:defRPr>
                <a:ea typeface="宋体" pitchFamily="2" charset="-122"/>
              </a:defRPr>
            </a:lvl1pPr>
          </a:lstStyle>
          <a:p>
            <a:pPr>
              <a:defRPr/>
            </a:pPr>
            <a:fld id="{51325CCF-3893-4AF4-9378-6503525C1C9B}"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1528D238-9626-4573-9B0E-3A01311DAB9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7BC39A87-C04B-44B8-8492-59308235E3AF}"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91C292D2-F234-45FE-9C8F-D7CD6A71BCD9}"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EB59C782-E5B5-4D1E-84E8-00EB87A66F40}"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23F1626B-87FC-4106-99C3-08CD08C6CED0}"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7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3D8AFA40-474E-4131-9465-1772CE74A121}"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44624BEE-B42A-4D24-A6A0-A13054AF2E7F}"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ED04EAC3-810B-4186-9CDC-14BAD1372505}"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83A06682-6D3C-44FE-A8FD-CF179FE872DB}"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B73827A9-F015-4526-A947-A7D0641A6721}"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7730E9EB-F9AD-4188-B464-117A56F21EC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37FC85D4-21D3-4B1F-9919-8F298A4744B2}"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B4B1C4B7-372D-48C2-8DDA-B810BF3CD4BB}"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44E84D88-8CA2-4D77-8F92-4C576078AA85}"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AE7EA432-7B9C-4122-898F-523AEF872E20}"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ea typeface="宋体" pitchFamily="2" charset="-122"/>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ea typeface="宋体" pitchFamily="2" charset="-122"/>
              </a:defRPr>
            </a:lvl1pPr>
          </a:lstStyle>
          <a:p>
            <a:pPr>
              <a:defRPr/>
            </a:pPr>
            <a:fld id="{0623D218-3769-4A9E-A4E2-A5A466000D89}"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ea typeface="宋体" pitchFamily="2" charset="-122"/>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47700" y="1428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609600" y="197485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 name="Rectangle 2"/>
          <p:cNvSpPr>
            <a:spLocks noChangeArrowheads="1"/>
          </p:cNvSpPr>
          <p:nvPr userDrawn="1"/>
        </p:nvSpPr>
        <p:spPr bwMode="ltGray">
          <a:xfrm>
            <a:off x="556684" y="679451"/>
            <a:ext cx="584200" cy="473075"/>
          </a:xfrm>
          <a:prstGeom prst="rect">
            <a:avLst/>
          </a:prstGeom>
          <a:solidFill>
            <a:schemeClr val="accent2"/>
          </a:solidFill>
          <a:ln w="9525">
            <a:noFill/>
            <a:miter lim="800000"/>
            <a:headEnd/>
            <a:tailEnd/>
          </a:ln>
          <a:effectLst/>
        </p:spPr>
        <p:txBody>
          <a:bodyPr wrap="none" anchor="ctr"/>
          <a:lstStyle/>
          <a:p>
            <a:pPr algn="ctr">
              <a:defRPr/>
            </a:pPr>
            <a:endParaRPr lang="zh-CN" altLang="zh-CN">
              <a:ea typeface="宋体" pitchFamily="2" charset="-122"/>
            </a:endParaRPr>
          </a:p>
        </p:txBody>
      </p:sp>
      <p:sp>
        <p:nvSpPr>
          <p:cNvPr id="23" name="Rectangle 3"/>
          <p:cNvSpPr>
            <a:spLocks noChangeArrowheads="1"/>
          </p:cNvSpPr>
          <p:nvPr userDrawn="1"/>
        </p:nvSpPr>
        <p:spPr bwMode="ltGray">
          <a:xfrm>
            <a:off x="1066801" y="679450"/>
            <a:ext cx="438151"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a:ea typeface="宋体" pitchFamily="2" charset="-122"/>
            </a:endParaRPr>
          </a:p>
        </p:txBody>
      </p:sp>
      <p:sp>
        <p:nvSpPr>
          <p:cNvPr id="24" name="Rectangle 4"/>
          <p:cNvSpPr>
            <a:spLocks noChangeArrowheads="1"/>
          </p:cNvSpPr>
          <p:nvPr userDrawn="1"/>
        </p:nvSpPr>
        <p:spPr bwMode="ltGray">
          <a:xfrm>
            <a:off x="721785" y="1101726"/>
            <a:ext cx="563033" cy="474663"/>
          </a:xfrm>
          <a:prstGeom prst="rect">
            <a:avLst/>
          </a:prstGeom>
          <a:solidFill>
            <a:schemeClr val="folHlink"/>
          </a:solidFill>
          <a:ln w="9525">
            <a:noFill/>
            <a:miter lim="800000"/>
            <a:headEnd/>
            <a:tailEnd/>
          </a:ln>
          <a:effectLst/>
        </p:spPr>
        <p:txBody>
          <a:bodyPr wrap="none" anchor="ctr"/>
          <a:lstStyle/>
          <a:p>
            <a:pPr algn="ctr">
              <a:defRPr/>
            </a:pPr>
            <a:endParaRPr lang="zh-CN" altLang="zh-CN">
              <a:ea typeface="宋体" pitchFamily="2" charset="-122"/>
            </a:endParaRPr>
          </a:p>
        </p:txBody>
      </p:sp>
      <p:sp>
        <p:nvSpPr>
          <p:cNvPr id="25" name="Rectangle 5"/>
          <p:cNvSpPr>
            <a:spLocks noChangeArrowheads="1"/>
          </p:cNvSpPr>
          <p:nvPr userDrawn="1"/>
        </p:nvSpPr>
        <p:spPr bwMode="ltGray">
          <a:xfrm>
            <a:off x="1214967" y="1101726"/>
            <a:ext cx="491067" cy="473075"/>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a:ea typeface="宋体" pitchFamily="2" charset="-122"/>
            </a:endParaRPr>
          </a:p>
        </p:txBody>
      </p:sp>
      <p:sp>
        <p:nvSpPr>
          <p:cNvPr id="26" name="Rectangle 6"/>
          <p:cNvSpPr>
            <a:spLocks noChangeArrowheads="1"/>
          </p:cNvSpPr>
          <p:nvPr userDrawn="1"/>
        </p:nvSpPr>
        <p:spPr bwMode="ltGray">
          <a:xfrm>
            <a:off x="169333" y="1028700"/>
            <a:ext cx="747184" cy="420688"/>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a:ea typeface="宋体" pitchFamily="2" charset="-122"/>
            </a:endParaRPr>
          </a:p>
        </p:txBody>
      </p:sp>
      <p:sp>
        <p:nvSpPr>
          <p:cNvPr id="27" name="Rectangle 7"/>
          <p:cNvSpPr>
            <a:spLocks noChangeArrowheads="1"/>
          </p:cNvSpPr>
          <p:nvPr userDrawn="1"/>
        </p:nvSpPr>
        <p:spPr bwMode="gray">
          <a:xfrm>
            <a:off x="1016000" y="571500"/>
            <a:ext cx="42333" cy="1049338"/>
          </a:xfrm>
          <a:prstGeom prst="rect">
            <a:avLst/>
          </a:prstGeom>
          <a:solidFill>
            <a:schemeClr val="bg2"/>
          </a:solidFill>
          <a:ln w="9525">
            <a:noFill/>
            <a:miter lim="800000"/>
            <a:headEnd/>
            <a:tailEnd/>
          </a:ln>
          <a:effectLst/>
        </p:spPr>
        <p:txBody>
          <a:bodyPr wrap="none" anchor="ctr"/>
          <a:lstStyle/>
          <a:p>
            <a:pPr algn="ctr">
              <a:defRPr/>
            </a:pPr>
            <a:endParaRPr lang="zh-CN" altLang="zh-CN">
              <a:ea typeface="宋体" pitchFamily="2" charset="-122"/>
            </a:endParaRPr>
          </a:p>
        </p:txBody>
      </p:sp>
      <p:sp>
        <p:nvSpPr>
          <p:cNvPr id="28" name="Rectangle 8"/>
          <p:cNvSpPr>
            <a:spLocks noChangeArrowheads="1"/>
          </p:cNvSpPr>
          <p:nvPr userDrawn="1"/>
        </p:nvSpPr>
        <p:spPr bwMode="gray">
          <a:xfrm>
            <a:off x="590551" y="1362075"/>
            <a:ext cx="10968567" cy="46038"/>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a:ea typeface="宋体" pitchFamily="2" charset="-122"/>
            </a:endParaRPr>
          </a:p>
        </p:txBody>
      </p:sp>
      <p:pic>
        <p:nvPicPr>
          <p:cNvPr id="1035" name="图片 4" descr="D:\工作\2013年工作\2013.12\2013年办公室总结\蓝色校徽空白小版.jpg蓝色校徽空白小版"/>
          <p:cNvPicPr>
            <a:picLocks noChangeArrowheads="1"/>
          </p:cNvPicPr>
          <p:nvPr userDrawn="1"/>
        </p:nvPicPr>
        <p:blipFill>
          <a:blip r:embed="rId20"/>
          <a:srcRect l="-2803" r="3134"/>
          <a:stretch>
            <a:fillRect/>
          </a:stretch>
        </p:blipFill>
        <p:spPr bwMode="auto">
          <a:xfrm>
            <a:off x="11167531" y="1"/>
            <a:ext cx="1024469" cy="1000125"/>
          </a:xfrm>
          <a:prstGeom prst="rect">
            <a:avLst/>
          </a:prstGeom>
          <a:noFill/>
          <a:ln w="9525">
            <a:noFill/>
            <a:miter lim="800000"/>
            <a:headEnd/>
            <a:tailEnd/>
          </a:ln>
        </p:spPr>
      </p:pic>
      <p:sp>
        <p:nvSpPr>
          <p:cNvPr id="12" name="矩形 11"/>
          <p:cNvSpPr/>
          <p:nvPr userDrawn="1"/>
        </p:nvSpPr>
        <p:spPr>
          <a:xfrm>
            <a:off x="10136772" y="1128681"/>
            <a:ext cx="1849992" cy="292104"/>
          </a:xfrm>
          <a:prstGeom prst="rect">
            <a:avLst/>
          </a:prstGeom>
          <a:noFill/>
        </p:spPr>
        <p:txBody>
          <a:bodyPr wrap="none">
            <a:prstTxWarp prst="textPlain">
              <a:avLst/>
            </a:prstTxWarp>
            <a:spAutoFit/>
            <a:scene3d>
              <a:camera prst="orthographicFront"/>
              <a:lightRig rig="glow" dir="tl">
                <a:rot lat="0" lon="0" rev="5400000"/>
              </a:lightRig>
            </a:scene3d>
            <a:sp3d contourW="12700">
              <a:bevelT w="25400" h="25400"/>
              <a:contourClr>
                <a:schemeClr val="accent6">
                  <a:shade val="73000"/>
                </a:schemeClr>
              </a:contourClr>
            </a:sp3d>
          </a:bodyPr>
          <a:lstStyle/>
          <a:p>
            <a:pPr>
              <a:defRPr/>
            </a:pPr>
            <a:r>
              <a:rPr lang="zh-CN" altLang="en-US" sz="5400" dirty="0">
                <a:ln w="11430"/>
                <a:solidFill>
                  <a:srgbClr val="C00000"/>
                </a:solidFill>
                <a:latin typeface="华文行楷" pitchFamily="2" charset="-122"/>
                <a:ea typeface="华文行楷" pitchFamily="2" charset="-122"/>
              </a:rPr>
              <a:t>主讲：穆浩志</a:t>
            </a:r>
          </a:p>
        </p:txBody>
      </p:sp>
    </p:spTree>
  </p:cSld>
  <p:clrMap bg1="lt1" tx1="dk1" bg2="lt2" tx2="dk2" accent1="accent1" accent2="accent2" accent3="accent3" accent4="accent4" accent5="accent5" accent6="accent6" hlink="hlink" folHlink="folHlink"/>
  <p:sldLayoutIdLst>
    <p:sldLayoutId id="2147484728" r:id="rId1"/>
    <p:sldLayoutId id="2147484729" r:id="rId2"/>
    <p:sldLayoutId id="2147484730" r:id="rId3"/>
    <p:sldLayoutId id="2147484731" r:id="rId4"/>
    <p:sldLayoutId id="2147484732" r:id="rId5"/>
    <p:sldLayoutId id="2147484733" r:id="rId6"/>
    <p:sldLayoutId id="2147484734" r:id="rId7"/>
    <p:sldLayoutId id="2147484735" r:id="rId8"/>
    <p:sldLayoutId id="2147484736" r:id="rId9"/>
    <p:sldLayoutId id="2147484737" r:id="rId10"/>
    <p:sldLayoutId id="2147484738" r:id="rId11"/>
    <p:sldLayoutId id="2147484739" r:id="rId12"/>
    <p:sldLayoutId id="2147484740" r:id="rId13"/>
    <p:sldLayoutId id="2147484741" r:id="rId14"/>
    <p:sldLayoutId id="2147484742" r:id="rId15"/>
    <p:sldLayoutId id="2147484743" r:id="rId16"/>
    <p:sldLayoutId id="2147484744" r:id="rId17"/>
    <p:sldLayoutId id="2147484745" r:id="rId18"/>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2.xml"/><Relationship Id="rId3" Type="http://schemas.openxmlformats.org/officeDocument/2006/relationships/tags" Target="../tags/tag4.xml"/><Relationship Id="rId21" Type="http://schemas.openxmlformats.org/officeDocument/2006/relationships/image" Target="../media/image11.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10.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13.png"/><Relationship Id="rId10" Type="http://schemas.openxmlformats.org/officeDocument/2006/relationships/tags" Target="../tags/tag11.xml"/><Relationship Id="rId19" Type="http://schemas.openxmlformats.org/officeDocument/2006/relationships/image" Target="../media/image9.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image" Target="../media/image27.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image" Target="../media/image26.png"/><Relationship Id="rId2" Type="http://schemas.openxmlformats.org/officeDocument/2006/relationships/tags" Target="../tags/tag20.xml"/><Relationship Id="rId16" Type="http://schemas.openxmlformats.org/officeDocument/2006/relationships/slideLayout" Target="../slideLayouts/slideLayout2.xml"/><Relationship Id="rId20" Type="http://schemas.openxmlformats.org/officeDocument/2006/relationships/image" Target="../media/image13.pn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19" Type="http://schemas.openxmlformats.org/officeDocument/2006/relationships/image" Target="../media/image28.pn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slideLayout" Target="../slideLayouts/slideLayout2.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 Type="http://schemas.openxmlformats.org/officeDocument/2006/relationships/tags" Target="../tags/tag35.xml"/><Relationship Id="rId16" Type="http://schemas.openxmlformats.org/officeDocument/2006/relationships/tags" Target="../tags/tag49.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19" Type="http://schemas.openxmlformats.org/officeDocument/2006/relationships/image" Target="../media/image13.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s>
</file>

<file path=ppt/slides/_rels/slide20.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33.png"/><Relationship Id="rId2" Type="http://schemas.openxmlformats.org/officeDocument/2006/relationships/audio" Target="../media/audio2.wav"/><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2">
            <a:extLst>
              <a:ext uri="{FF2B5EF4-FFF2-40B4-BE49-F238E27FC236}">
                <a16:creationId xmlns:a16="http://schemas.microsoft.com/office/drawing/2014/main" xmlns="" id="{27E4F4E9-EA7C-4FAD-99E2-C53FB0A43751}"/>
              </a:ext>
            </a:extLst>
          </p:cNvPr>
          <p:cNvSpPr txBox="1">
            <a:spLocks noChangeArrowheads="1"/>
          </p:cNvSpPr>
          <p:nvPr/>
        </p:nvSpPr>
        <p:spPr bwMode="auto">
          <a:xfrm>
            <a:off x="2955924" y="356134"/>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25" name="矩形 24">
            <a:extLst>
              <a:ext uri="{FF2B5EF4-FFF2-40B4-BE49-F238E27FC236}">
                <a16:creationId xmlns:a16="http://schemas.microsoft.com/office/drawing/2014/main" xmlns="" id="{ADA6553F-E1BD-4498-AD9F-4F3248136C15}"/>
              </a:ext>
            </a:extLst>
          </p:cNvPr>
          <p:cNvSpPr/>
          <p:nvPr/>
        </p:nvSpPr>
        <p:spPr>
          <a:xfrm>
            <a:off x="1539576" y="1792077"/>
            <a:ext cx="4324648" cy="1384995"/>
          </a:xfrm>
          <a:prstGeom prst="rect">
            <a:avLst/>
          </a:prstGeom>
        </p:spPr>
        <p:txBody>
          <a:bodyPr wrap="square">
            <a:spAutoFit/>
          </a:bodyPr>
          <a:lstStyle/>
          <a:p>
            <a:pPr>
              <a:defRPr/>
            </a:pPr>
            <a:r>
              <a:rPr lang="zh-CN" altLang="en-US" sz="2800" b="0" dirty="0">
                <a:solidFill>
                  <a:schemeClr val="tx1"/>
                </a:solidFill>
                <a:latin typeface="+mn-ea"/>
                <a:ea typeface="+mn-ea"/>
              </a:rPr>
              <a:t>    零件图中需要给出零件在制造、装配、检验时应达到的技术要求。</a:t>
            </a:r>
            <a:endParaRPr lang="en-US" altLang="zh-CN" sz="2800" b="0" dirty="0">
              <a:solidFill>
                <a:schemeClr val="tx1"/>
              </a:solidFill>
              <a:latin typeface="+mn-ea"/>
              <a:ea typeface="+mn-ea"/>
            </a:endParaRPr>
          </a:p>
        </p:txBody>
      </p:sp>
      <p:sp>
        <p:nvSpPr>
          <p:cNvPr id="26" name="矩形 25">
            <a:extLst>
              <a:ext uri="{FF2B5EF4-FFF2-40B4-BE49-F238E27FC236}">
                <a16:creationId xmlns:a16="http://schemas.microsoft.com/office/drawing/2014/main" xmlns="" id="{AB782F64-D554-4B7E-BDF8-6A7817D7A326}"/>
              </a:ext>
            </a:extLst>
          </p:cNvPr>
          <p:cNvSpPr/>
          <p:nvPr/>
        </p:nvSpPr>
        <p:spPr>
          <a:xfrm>
            <a:off x="1496158" y="3994917"/>
            <a:ext cx="9354218" cy="2246312"/>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spPr>
        <p:txBody>
          <a:bodyPr wrap="square">
            <a:spAutoFit/>
          </a:bodyPr>
          <a:lstStyle/>
          <a:p>
            <a:pPr>
              <a:defRPr/>
            </a:pPr>
            <a:r>
              <a:rPr lang="zh-CN" altLang="en-US" sz="2800" b="0" dirty="0">
                <a:solidFill>
                  <a:schemeClr val="tx1"/>
                </a:solidFill>
                <a:latin typeface="+mn-ea"/>
                <a:ea typeface="+mn-ea"/>
              </a:rPr>
              <a:t>绘制零件图时：</a:t>
            </a:r>
            <a:endParaRPr lang="en-US" altLang="zh-CN" sz="2800" b="0" dirty="0">
              <a:solidFill>
                <a:schemeClr val="tx1"/>
              </a:solidFill>
              <a:latin typeface="+mn-ea"/>
              <a:ea typeface="+mn-ea"/>
            </a:endParaRPr>
          </a:p>
          <a:p>
            <a:pPr>
              <a:defRPr/>
            </a:pPr>
            <a:r>
              <a:rPr lang="en-US" altLang="zh-CN" sz="2800" b="0" dirty="0">
                <a:solidFill>
                  <a:schemeClr val="tx1"/>
                </a:solidFill>
                <a:latin typeface="+mn-ea"/>
                <a:ea typeface="+mn-ea"/>
              </a:rPr>
              <a:t>    </a:t>
            </a:r>
            <a:r>
              <a:rPr lang="zh-CN" altLang="en-US" sz="2800" b="0" dirty="0">
                <a:solidFill>
                  <a:schemeClr val="tx1"/>
                </a:solidFill>
                <a:latin typeface="+mn-ea"/>
                <a:ea typeface="+mn-ea"/>
              </a:rPr>
              <a:t>对有规定标记的技术要求，用规定的代（符）号直接标注在视图中。</a:t>
            </a:r>
            <a:endParaRPr lang="en-US" altLang="zh-CN" sz="2800" b="0" dirty="0">
              <a:solidFill>
                <a:schemeClr val="tx1"/>
              </a:solidFill>
              <a:latin typeface="+mn-ea"/>
              <a:ea typeface="+mn-ea"/>
            </a:endParaRPr>
          </a:p>
          <a:p>
            <a:pPr>
              <a:defRPr/>
            </a:pPr>
            <a:r>
              <a:rPr lang="en-US" altLang="zh-CN" sz="2800" b="0" dirty="0">
                <a:solidFill>
                  <a:schemeClr val="tx1"/>
                </a:solidFill>
                <a:latin typeface="+mn-ea"/>
                <a:ea typeface="+mn-ea"/>
              </a:rPr>
              <a:t>    </a:t>
            </a:r>
            <a:r>
              <a:rPr lang="zh-CN" altLang="en-US" sz="2800" b="0" dirty="0">
                <a:solidFill>
                  <a:schemeClr val="tx1"/>
                </a:solidFill>
                <a:latin typeface="+mn-ea"/>
                <a:ea typeface="+mn-ea"/>
              </a:rPr>
              <a:t>没有规定标记的以简明的文字说明注写在标题栏的上方或左侧。</a:t>
            </a:r>
          </a:p>
        </p:txBody>
      </p:sp>
      <p:sp>
        <p:nvSpPr>
          <p:cNvPr id="27" name="AutoShape 20">
            <a:extLst>
              <a:ext uri="{FF2B5EF4-FFF2-40B4-BE49-F238E27FC236}">
                <a16:creationId xmlns:a16="http://schemas.microsoft.com/office/drawing/2014/main" xmlns="" id="{4F4B60FA-09C7-43B3-927C-781AF637BEF7}"/>
              </a:ext>
            </a:extLst>
          </p:cNvPr>
          <p:cNvSpPr>
            <a:spLocks/>
          </p:cNvSpPr>
          <p:nvPr/>
        </p:nvSpPr>
        <p:spPr bwMode="auto">
          <a:xfrm>
            <a:off x="6375362" y="1662670"/>
            <a:ext cx="226557" cy="1504950"/>
          </a:xfrm>
          <a:prstGeom prst="leftBrace">
            <a:avLst>
              <a:gd name="adj1" fmla="val 108400"/>
              <a:gd name="adj2" fmla="val 50000"/>
            </a:avLst>
          </a:prstGeom>
          <a:ln>
            <a:headEnd/>
            <a:tailEnd/>
          </a:ln>
        </p:spPr>
        <p:style>
          <a:lnRef idx="3">
            <a:schemeClr val="dk1"/>
          </a:lnRef>
          <a:fillRef idx="0">
            <a:schemeClr val="dk1"/>
          </a:fillRef>
          <a:effectRef idx="2">
            <a:schemeClr val="dk1"/>
          </a:effectRef>
          <a:fontRef idx="minor">
            <a:schemeClr val="tx1"/>
          </a:fontRef>
        </p:style>
        <p:txBody>
          <a:bodyPr wrap="none" anchor="ctr"/>
          <a:lstStyle/>
          <a:p>
            <a:pPr algn="ctr">
              <a:defRPr/>
            </a:pPr>
            <a:endParaRPr lang="zh-CN" altLang="en-US" sz="2800"/>
          </a:p>
        </p:txBody>
      </p:sp>
      <p:sp>
        <p:nvSpPr>
          <p:cNvPr id="28" name="矩形 27">
            <a:extLst>
              <a:ext uri="{FF2B5EF4-FFF2-40B4-BE49-F238E27FC236}">
                <a16:creationId xmlns:a16="http://schemas.microsoft.com/office/drawing/2014/main" xmlns="" id="{64263D88-514E-4855-86F9-76A83D38E9C7}"/>
              </a:ext>
            </a:extLst>
          </p:cNvPr>
          <p:cNvSpPr>
            <a:spLocks noChangeArrowheads="1"/>
          </p:cNvSpPr>
          <p:nvPr/>
        </p:nvSpPr>
        <p:spPr bwMode="auto">
          <a:xfrm>
            <a:off x="6699398" y="1538845"/>
            <a:ext cx="1989137" cy="523875"/>
          </a:xfrm>
          <a:prstGeom prst="rect">
            <a:avLst/>
          </a:prstGeom>
          <a:noFill/>
          <a:ln w="9525">
            <a:noFill/>
            <a:miter lim="800000"/>
            <a:headEnd/>
            <a:tailEnd/>
          </a:ln>
        </p:spPr>
        <p:txBody>
          <a:bodyPr wrap="none">
            <a:spAutoFit/>
          </a:bodyPr>
          <a:lstStyle/>
          <a:p>
            <a:pPr algn="ctr"/>
            <a:r>
              <a:rPr lang="en-US" altLang="zh-CN" sz="2800">
                <a:solidFill>
                  <a:srgbClr val="FF3300"/>
                </a:solidFill>
                <a:latin typeface="宋体" pitchFamily="2" charset="-122"/>
                <a:ea typeface="宋体" pitchFamily="2" charset="-122"/>
              </a:rPr>
              <a:t>1.</a:t>
            </a:r>
            <a:r>
              <a:rPr lang="zh-CN" altLang="en-US" sz="2800">
                <a:solidFill>
                  <a:srgbClr val="FF3300"/>
                </a:solidFill>
                <a:latin typeface="宋体" pitchFamily="2" charset="-122"/>
                <a:ea typeface="宋体" pitchFamily="2" charset="-122"/>
              </a:rPr>
              <a:t>表面结构</a:t>
            </a:r>
            <a:endParaRPr lang="zh-CN" altLang="en-US" sz="2800"/>
          </a:p>
        </p:txBody>
      </p:sp>
      <p:sp>
        <p:nvSpPr>
          <p:cNvPr id="29" name="矩形 28">
            <a:extLst>
              <a:ext uri="{FF2B5EF4-FFF2-40B4-BE49-F238E27FC236}">
                <a16:creationId xmlns:a16="http://schemas.microsoft.com/office/drawing/2014/main" xmlns="" id="{D9A03B2A-2107-479F-82D0-77B8CA971D1A}"/>
              </a:ext>
            </a:extLst>
          </p:cNvPr>
          <p:cNvSpPr>
            <a:spLocks noChangeArrowheads="1"/>
          </p:cNvSpPr>
          <p:nvPr/>
        </p:nvSpPr>
        <p:spPr bwMode="auto">
          <a:xfrm>
            <a:off x="6699398" y="2121457"/>
            <a:ext cx="5078412" cy="522288"/>
          </a:xfrm>
          <a:prstGeom prst="rect">
            <a:avLst/>
          </a:prstGeom>
          <a:noFill/>
          <a:ln w="9525">
            <a:noFill/>
            <a:miter lim="800000"/>
            <a:headEnd/>
            <a:tailEnd/>
          </a:ln>
        </p:spPr>
        <p:txBody>
          <a:bodyPr>
            <a:spAutoFit/>
          </a:bodyPr>
          <a:lstStyle/>
          <a:p>
            <a:r>
              <a:rPr lang="en-US" altLang="zh-CN" sz="2800">
                <a:solidFill>
                  <a:srgbClr val="FF3300"/>
                </a:solidFill>
                <a:latin typeface="宋体" pitchFamily="2" charset="-122"/>
                <a:ea typeface="宋体" pitchFamily="2" charset="-122"/>
              </a:rPr>
              <a:t>2.</a:t>
            </a:r>
            <a:r>
              <a:rPr lang="zh-CN" altLang="en-US" sz="2800">
                <a:solidFill>
                  <a:srgbClr val="FF3300"/>
                </a:solidFill>
                <a:latin typeface="宋体" pitchFamily="2" charset="-122"/>
                <a:ea typeface="宋体" pitchFamily="2" charset="-122"/>
              </a:rPr>
              <a:t>尺寸公差、几何公差</a:t>
            </a:r>
            <a:endParaRPr lang="zh-CN" altLang="en-US" sz="2800"/>
          </a:p>
        </p:txBody>
      </p:sp>
      <p:sp>
        <p:nvSpPr>
          <p:cNvPr id="30" name="矩形 29">
            <a:extLst>
              <a:ext uri="{FF2B5EF4-FFF2-40B4-BE49-F238E27FC236}">
                <a16:creationId xmlns:a16="http://schemas.microsoft.com/office/drawing/2014/main" xmlns="" id="{BEA6B658-F656-47FD-B5AB-F95EFB5DAC9C}"/>
              </a:ext>
            </a:extLst>
          </p:cNvPr>
          <p:cNvSpPr>
            <a:spLocks noChangeArrowheads="1"/>
          </p:cNvSpPr>
          <p:nvPr/>
        </p:nvSpPr>
        <p:spPr bwMode="auto">
          <a:xfrm>
            <a:off x="6699398" y="2643745"/>
            <a:ext cx="3851275" cy="523875"/>
          </a:xfrm>
          <a:prstGeom prst="rect">
            <a:avLst/>
          </a:prstGeom>
          <a:noFill/>
          <a:ln w="9525">
            <a:noFill/>
            <a:miter lim="800000"/>
            <a:headEnd/>
            <a:tailEnd/>
          </a:ln>
        </p:spPr>
        <p:txBody>
          <a:bodyPr>
            <a:spAutoFit/>
          </a:bodyPr>
          <a:lstStyle/>
          <a:p>
            <a:r>
              <a:rPr lang="en-US" altLang="zh-CN" sz="2800">
                <a:solidFill>
                  <a:srgbClr val="FF3300"/>
                </a:solidFill>
                <a:latin typeface="宋体" pitchFamily="2" charset="-122"/>
                <a:ea typeface="宋体" pitchFamily="2" charset="-122"/>
              </a:rPr>
              <a:t>3.</a:t>
            </a:r>
            <a:r>
              <a:rPr lang="zh-CN" altLang="en-US" sz="2800">
                <a:solidFill>
                  <a:srgbClr val="FF3300"/>
                </a:solidFill>
                <a:latin typeface="宋体" pitchFamily="2" charset="-122"/>
                <a:ea typeface="宋体" pitchFamily="2" charset="-122"/>
              </a:rPr>
              <a:t>材料热处理要求</a:t>
            </a:r>
            <a:r>
              <a:rPr lang="zh-CN" altLang="en-US" sz="2800">
                <a:solidFill>
                  <a:srgbClr val="000000"/>
                </a:solidFill>
                <a:latin typeface="宋体" pitchFamily="2" charset="-122"/>
                <a:ea typeface="宋体" pitchFamily="2" charset="-122"/>
              </a:rPr>
              <a:t>等</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par>
                          <p:cTn id="13" fill="hold">
                            <p:stCondLst>
                              <p:cond delay="500"/>
                            </p:stCondLst>
                            <p:childTnLst>
                              <p:par>
                                <p:cTn id="14" presetID="55"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p:cTn id="16" dur="1000" fill="hold"/>
                                        <p:tgtEl>
                                          <p:spTgt spid="28"/>
                                        </p:tgtEl>
                                        <p:attrNameLst>
                                          <p:attrName>ppt_w</p:attrName>
                                        </p:attrNameLst>
                                      </p:cBhvr>
                                      <p:tavLst>
                                        <p:tav tm="0">
                                          <p:val>
                                            <p:strVal val="#ppt_w*0.70"/>
                                          </p:val>
                                        </p:tav>
                                        <p:tav tm="100000">
                                          <p:val>
                                            <p:strVal val="#ppt_w"/>
                                          </p:val>
                                        </p:tav>
                                      </p:tavLst>
                                    </p:anim>
                                    <p:anim calcmode="lin" valueType="num">
                                      <p:cBhvr>
                                        <p:cTn id="17" dur="1000" fill="hold"/>
                                        <p:tgtEl>
                                          <p:spTgt spid="28"/>
                                        </p:tgtEl>
                                        <p:attrNameLst>
                                          <p:attrName>ppt_h</p:attrName>
                                        </p:attrNameLst>
                                      </p:cBhvr>
                                      <p:tavLst>
                                        <p:tav tm="0">
                                          <p:val>
                                            <p:strVal val="#ppt_h"/>
                                          </p:val>
                                        </p:tav>
                                        <p:tav tm="100000">
                                          <p:val>
                                            <p:strVal val="#ppt_h"/>
                                          </p:val>
                                        </p:tav>
                                      </p:tavLst>
                                    </p:anim>
                                    <p:animEffect transition="in" filter="fade">
                                      <p:cBhvr>
                                        <p:cTn id="18" dur="1000"/>
                                        <p:tgtEl>
                                          <p:spTgt spid="28"/>
                                        </p:tgtEl>
                                      </p:cBhvr>
                                    </p:animEffect>
                                  </p:childTnLst>
                                  <p:subTnLst>
                                    <p:audio>
                                      <p:cMediaNode>
                                        <p:cTn display="0" masterRel="sameClick">
                                          <p:stCondLst>
                                            <p:cond evt="begin" delay="0">
                                              <p:tn val="14"/>
                                            </p:cond>
                                          </p:stCondLst>
                                          <p:endCondLst>
                                            <p:cond evt="onStopAudio" delay="0">
                                              <p:tgtEl>
                                                <p:sldTgt/>
                                              </p:tgtEl>
                                            </p:cond>
                                          </p:endCondLst>
                                        </p:cTn>
                                        <p:tgtEl>
                                          <p:sndTgt r:embed="rId2" name="hammer.wav"/>
                                        </p:tgtEl>
                                      </p:cMediaNode>
                                    </p:audio>
                                  </p:subTnLst>
                                </p:cTn>
                              </p:par>
                            </p:childTnLst>
                          </p:cTn>
                        </p:par>
                        <p:par>
                          <p:cTn id="19" fill="hold">
                            <p:stCondLst>
                              <p:cond delay="1500"/>
                            </p:stCondLst>
                            <p:childTnLst>
                              <p:par>
                                <p:cTn id="20" presetID="55" presetClass="entr" presetSubtype="0" fill="hold" grpId="0" nodeType="after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p:cTn id="22" dur="1000" fill="hold"/>
                                        <p:tgtEl>
                                          <p:spTgt spid="29"/>
                                        </p:tgtEl>
                                        <p:attrNameLst>
                                          <p:attrName>ppt_w</p:attrName>
                                        </p:attrNameLst>
                                      </p:cBhvr>
                                      <p:tavLst>
                                        <p:tav tm="0">
                                          <p:val>
                                            <p:strVal val="#ppt_w*0.70"/>
                                          </p:val>
                                        </p:tav>
                                        <p:tav tm="100000">
                                          <p:val>
                                            <p:strVal val="#ppt_w"/>
                                          </p:val>
                                        </p:tav>
                                      </p:tavLst>
                                    </p:anim>
                                    <p:anim calcmode="lin" valueType="num">
                                      <p:cBhvr>
                                        <p:cTn id="23" dur="1000" fill="hold"/>
                                        <p:tgtEl>
                                          <p:spTgt spid="29"/>
                                        </p:tgtEl>
                                        <p:attrNameLst>
                                          <p:attrName>ppt_h</p:attrName>
                                        </p:attrNameLst>
                                      </p:cBhvr>
                                      <p:tavLst>
                                        <p:tav tm="0">
                                          <p:val>
                                            <p:strVal val="#ppt_h"/>
                                          </p:val>
                                        </p:tav>
                                        <p:tav tm="100000">
                                          <p:val>
                                            <p:strVal val="#ppt_h"/>
                                          </p:val>
                                        </p:tav>
                                      </p:tavLst>
                                    </p:anim>
                                    <p:animEffect transition="in" filter="fade">
                                      <p:cBhvr>
                                        <p:cTn id="24" dur="1000"/>
                                        <p:tgtEl>
                                          <p:spTgt spid="29"/>
                                        </p:tgtEl>
                                      </p:cBhvr>
                                    </p:animEffect>
                                  </p:childTnLst>
                                  <p:subTnLst>
                                    <p:audio>
                                      <p:cMediaNode>
                                        <p:cTn display="0" masterRel="sameClick">
                                          <p:stCondLst>
                                            <p:cond evt="begin" delay="0">
                                              <p:tn val="20"/>
                                            </p:cond>
                                          </p:stCondLst>
                                          <p:endCondLst>
                                            <p:cond evt="onStopAudio" delay="0">
                                              <p:tgtEl>
                                                <p:sldTgt/>
                                              </p:tgtEl>
                                            </p:cond>
                                          </p:endCondLst>
                                        </p:cTn>
                                        <p:tgtEl>
                                          <p:sndTgt r:embed="rId2" name="hammer.wav"/>
                                        </p:tgtEl>
                                      </p:cMediaNode>
                                    </p:audio>
                                  </p:subTnLst>
                                </p:cTn>
                              </p:par>
                            </p:childTnLst>
                          </p:cTn>
                        </p:par>
                        <p:par>
                          <p:cTn id="25" fill="hold">
                            <p:stCondLst>
                              <p:cond delay="2500"/>
                            </p:stCondLst>
                            <p:childTnLst>
                              <p:par>
                                <p:cTn id="26" presetID="55" presetClass="entr" presetSubtype="0" fill="hold" grpId="0"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p:cTn id="28" dur="1000" fill="hold"/>
                                        <p:tgtEl>
                                          <p:spTgt spid="30"/>
                                        </p:tgtEl>
                                        <p:attrNameLst>
                                          <p:attrName>ppt_w</p:attrName>
                                        </p:attrNameLst>
                                      </p:cBhvr>
                                      <p:tavLst>
                                        <p:tav tm="0">
                                          <p:val>
                                            <p:strVal val="#ppt_w*0.70"/>
                                          </p:val>
                                        </p:tav>
                                        <p:tav tm="100000">
                                          <p:val>
                                            <p:strVal val="#ppt_w"/>
                                          </p:val>
                                        </p:tav>
                                      </p:tavLst>
                                    </p:anim>
                                    <p:anim calcmode="lin" valueType="num">
                                      <p:cBhvr>
                                        <p:cTn id="29" dur="1000" fill="hold"/>
                                        <p:tgtEl>
                                          <p:spTgt spid="30"/>
                                        </p:tgtEl>
                                        <p:attrNameLst>
                                          <p:attrName>ppt_h</p:attrName>
                                        </p:attrNameLst>
                                      </p:cBhvr>
                                      <p:tavLst>
                                        <p:tav tm="0">
                                          <p:val>
                                            <p:strVal val="#ppt_h"/>
                                          </p:val>
                                        </p:tav>
                                        <p:tav tm="100000">
                                          <p:val>
                                            <p:strVal val="#ppt_h"/>
                                          </p:val>
                                        </p:tav>
                                      </p:tavLst>
                                    </p:anim>
                                    <p:animEffect transition="in" filter="fade">
                                      <p:cBhvr>
                                        <p:cTn id="30" dur="1000"/>
                                        <p:tgtEl>
                                          <p:spTgt spid="30"/>
                                        </p:tgtEl>
                                      </p:cBhvr>
                                    </p:animEffect>
                                  </p:childTnLst>
                                  <p:subTnLst>
                                    <p:audio>
                                      <p:cMediaNode>
                                        <p:cTn display="0" masterRel="sameClick">
                                          <p:stCondLst>
                                            <p:cond evt="begin" delay="0">
                                              <p:tn val="26"/>
                                            </p:cond>
                                          </p:stCondLst>
                                          <p:endCondLst>
                                            <p:cond evt="onStopAudio" delay="0">
                                              <p:tgtEl>
                                                <p:sldTgt/>
                                              </p:tgtEl>
                                            </p:cond>
                                          </p:endCondLst>
                                        </p:cTn>
                                        <p:tgtEl>
                                          <p:sndTgt r:embed="rId2" name="hammer.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up)">
                                      <p:cBhvr>
                                        <p:cTn id="35"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animBg="1"/>
      <p:bldP spid="28" grpId="0"/>
      <p:bldP spid="29" grpId="0"/>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xmlns="" id="{BC61C4EF-2447-4BC4-B1B4-8B039D6F5C24}"/>
              </a:ext>
            </a:extLst>
          </p:cNvPr>
          <p:cNvSpPr txBox="1">
            <a:spLocks noChangeArrowheads="1"/>
          </p:cNvSpPr>
          <p:nvPr/>
        </p:nvSpPr>
        <p:spPr bwMode="auto">
          <a:xfrm>
            <a:off x="1055440" y="1380752"/>
            <a:ext cx="4896544" cy="522288"/>
          </a:xfrm>
          <a:prstGeom prst="rect">
            <a:avLst/>
          </a:prstGeom>
          <a:noFill/>
          <a:ln w="9525">
            <a:noFill/>
            <a:miter lim="800000"/>
            <a:headEnd/>
            <a:tailEnd/>
          </a:ln>
        </p:spPr>
        <p:txBody>
          <a:bodyPr wrap="square">
            <a:spAutoFit/>
          </a:bodyPr>
          <a:lstStyle/>
          <a:p>
            <a:r>
              <a:rPr lang="zh-CN" altLang="en-US" sz="2800" b="1" dirty="0">
                <a:solidFill>
                  <a:srgbClr val="FF3300"/>
                </a:solidFill>
                <a:latin typeface="Times New Roman" pitchFamily="18" charset="0"/>
              </a:rPr>
              <a:t>一、表面微观结构的概念</a:t>
            </a:r>
          </a:p>
        </p:txBody>
      </p:sp>
      <p:sp>
        <p:nvSpPr>
          <p:cNvPr id="3" name="Text Box 4">
            <a:extLst>
              <a:ext uri="{FF2B5EF4-FFF2-40B4-BE49-F238E27FC236}">
                <a16:creationId xmlns:a16="http://schemas.microsoft.com/office/drawing/2014/main" xmlns="" id="{35477B24-66EE-4BCB-AE64-CAE25CB86369}"/>
              </a:ext>
            </a:extLst>
          </p:cNvPr>
          <p:cNvSpPr txBox="1">
            <a:spLocks noChangeArrowheads="1"/>
          </p:cNvSpPr>
          <p:nvPr/>
        </p:nvSpPr>
        <p:spPr bwMode="auto">
          <a:xfrm>
            <a:off x="1225759" y="2167913"/>
            <a:ext cx="5427662" cy="1570037"/>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w="9525">
            <a:noFill/>
            <a:miter lim="800000"/>
            <a:headEnd/>
            <a:tailEnd/>
          </a:ln>
        </p:spPr>
        <p:txBody>
          <a:bodyPr>
            <a:spAutoFit/>
          </a:bodyPr>
          <a:lstStyle/>
          <a:p>
            <a:pPr>
              <a:defRPr/>
            </a:pPr>
            <a:r>
              <a:rPr lang="zh-CN" altLang="en-US" sz="2400" dirty="0">
                <a:solidFill>
                  <a:schemeClr val="tx1"/>
                </a:solidFill>
                <a:latin typeface="+mn-ea"/>
                <a:ea typeface="+mn-ea"/>
              </a:rPr>
              <a:t>    加工零件时，由于刀具在零件表面上留下刀痕和切削分裂时表面金属的塑性变形等影响，</a:t>
            </a:r>
            <a:r>
              <a:rPr lang="zh-CN" altLang="en-US" sz="2400" dirty="0">
                <a:solidFill>
                  <a:srgbClr val="FF0000"/>
                </a:solidFill>
                <a:latin typeface="黑体" pitchFamily="2" charset="-122"/>
                <a:ea typeface="黑体" pitchFamily="2" charset="-122"/>
              </a:rPr>
              <a:t>使零件表面存在着间距较小的轮廓峰谷</a:t>
            </a:r>
            <a:r>
              <a:rPr lang="zh-CN" altLang="en-US" sz="2400" dirty="0">
                <a:solidFill>
                  <a:schemeClr val="tx1"/>
                </a:solidFill>
                <a:latin typeface="+mn-ea"/>
                <a:ea typeface="+mn-ea"/>
              </a:rPr>
              <a:t>。</a:t>
            </a:r>
          </a:p>
        </p:txBody>
      </p:sp>
      <p:pic>
        <p:nvPicPr>
          <p:cNvPr id="4" name="Picture 5" descr="snap">
            <a:extLst>
              <a:ext uri="{FF2B5EF4-FFF2-40B4-BE49-F238E27FC236}">
                <a16:creationId xmlns:a16="http://schemas.microsoft.com/office/drawing/2014/main" xmlns="" id="{293A4085-0270-4072-B4B4-CB004B15181C}"/>
              </a:ext>
            </a:extLst>
          </p:cNvPr>
          <p:cNvPicPr>
            <a:picLocks noChangeAspect="1" noChangeArrowheads="1"/>
          </p:cNvPicPr>
          <p:nvPr/>
        </p:nvPicPr>
        <p:blipFill>
          <a:blip r:embed="rId3">
            <a:duotone>
              <a:schemeClr val="accent2">
                <a:shade val="45000"/>
                <a:satMod val="135000"/>
              </a:schemeClr>
              <a:prstClr val="white"/>
            </a:duotone>
          </a:blip>
          <a:srcRect/>
          <a:stretch>
            <a:fillRect/>
          </a:stretch>
        </p:blipFill>
        <p:spPr bwMode="auto">
          <a:xfrm>
            <a:off x="6919220" y="1903040"/>
            <a:ext cx="4170160" cy="2096054"/>
          </a:xfrm>
          <a:prstGeom prst="rect">
            <a:avLst/>
          </a:prstGeom>
          <a:noFill/>
          <a:ln w="9525">
            <a:noFill/>
            <a:miter lim="800000"/>
            <a:headEnd/>
            <a:tailEnd/>
          </a:ln>
        </p:spPr>
      </p:pic>
      <p:sp>
        <p:nvSpPr>
          <p:cNvPr id="5" name="矩形 4">
            <a:extLst>
              <a:ext uri="{FF2B5EF4-FFF2-40B4-BE49-F238E27FC236}">
                <a16:creationId xmlns:a16="http://schemas.microsoft.com/office/drawing/2014/main" xmlns="" id="{64518056-EF6D-4AE9-A062-D9C1784BF97E}"/>
              </a:ext>
            </a:extLst>
          </p:cNvPr>
          <p:cNvSpPr>
            <a:spLocks noChangeArrowheads="1"/>
          </p:cNvSpPr>
          <p:nvPr/>
        </p:nvSpPr>
        <p:spPr bwMode="auto">
          <a:xfrm>
            <a:off x="1225759" y="4378500"/>
            <a:ext cx="10225136" cy="461665"/>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w="9525">
            <a:noFill/>
            <a:miter lim="800000"/>
            <a:headEnd/>
            <a:tailEnd/>
          </a:ln>
        </p:spPr>
        <p:txBody>
          <a:bodyPr wrap="square">
            <a:spAutoFit/>
          </a:bodyPr>
          <a:lstStyle/>
          <a:p>
            <a:pPr algn="just">
              <a:defRPr/>
            </a:pPr>
            <a:r>
              <a:rPr lang="zh-CN" altLang="en-US" sz="2400" dirty="0">
                <a:solidFill>
                  <a:schemeClr val="tx1"/>
                </a:solidFill>
                <a:latin typeface="+mn-ea"/>
                <a:ea typeface="+mn-ea"/>
              </a:rPr>
              <a:t>这种表面上具有较小间距的峰谷所组成的微观几何形状特性称为</a:t>
            </a:r>
            <a:r>
              <a:rPr lang="zh-CN" altLang="en-US" sz="2400" dirty="0">
                <a:solidFill>
                  <a:srgbClr val="FF0000"/>
                </a:solidFill>
                <a:latin typeface="黑体" pitchFamily="2" charset="-122"/>
                <a:ea typeface="黑体" pitchFamily="2" charset="-122"/>
              </a:rPr>
              <a:t>表面结构</a:t>
            </a:r>
            <a:r>
              <a:rPr lang="zh-CN" altLang="en-US" sz="2400" dirty="0">
                <a:latin typeface="黑体" pitchFamily="2" charset="-122"/>
                <a:ea typeface="黑体" pitchFamily="2" charset="-122"/>
              </a:rPr>
              <a:t> </a:t>
            </a:r>
          </a:p>
        </p:txBody>
      </p:sp>
      <p:sp>
        <p:nvSpPr>
          <p:cNvPr id="6" name="Text Box 2">
            <a:extLst>
              <a:ext uri="{FF2B5EF4-FFF2-40B4-BE49-F238E27FC236}">
                <a16:creationId xmlns:a16="http://schemas.microsoft.com/office/drawing/2014/main" xmlns="" id="{46DF8A73-0538-40C4-AC9C-205889E595FC}"/>
              </a:ext>
            </a:extLst>
          </p:cNvPr>
          <p:cNvSpPr txBox="1">
            <a:spLocks noChangeArrowheads="1"/>
          </p:cNvSpPr>
          <p:nvPr/>
        </p:nvSpPr>
        <p:spPr bwMode="auto">
          <a:xfrm>
            <a:off x="3187700" y="476672"/>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7" name="矩形 6">
            <a:extLst>
              <a:ext uri="{FF2B5EF4-FFF2-40B4-BE49-F238E27FC236}">
                <a16:creationId xmlns:a16="http://schemas.microsoft.com/office/drawing/2014/main" xmlns="" id="{2D82D608-9EE3-4D5E-A8C1-AFC26E1E0181}"/>
              </a:ext>
            </a:extLst>
          </p:cNvPr>
          <p:cNvSpPr/>
          <p:nvPr/>
        </p:nvSpPr>
        <p:spPr>
          <a:xfrm>
            <a:off x="1229849" y="5220668"/>
            <a:ext cx="10225136" cy="830997"/>
          </a:xfrm>
          <a:prstGeom prst="rect">
            <a:avLst/>
          </a:prstGeom>
          <a:solidFill>
            <a:srgbClr val="FFC000"/>
          </a:solidFill>
        </p:spPr>
        <p:txBody>
          <a:bodyPr wrap="square">
            <a:spAutoFit/>
          </a:bodyPr>
          <a:lstStyle/>
          <a:p>
            <a:pPr algn="just">
              <a:spcAft>
                <a:spcPts val="0"/>
              </a:spcAft>
              <a:defRPr/>
            </a:pPr>
            <a:r>
              <a:rPr lang="en-US" altLang="zh-CN" sz="2400" kern="100" dirty="0">
                <a:solidFill>
                  <a:schemeClr val="tx1"/>
                </a:solidFill>
              </a:rPr>
              <a:t>    </a:t>
            </a:r>
            <a:r>
              <a:rPr lang="zh-CN" altLang="zh-CN" sz="2400" kern="100" dirty="0">
                <a:solidFill>
                  <a:srgbClr val="FF3300"/>
                </a:solidFill>
              </a:rPr>
              <a:t>表面结构</a:t>
            </a:r>
            <a:r>
              <a:rPr lang="zh-CN" altLang="zh-CN" sz="2400" kern="100" dirty="0">
                <a:solidFill>
                  <a:schemeClr val="tx1"/>
                </a:solidFill>
              </a:rPr>
              <a:t>的几何特征直接</a:t>
            </a:r>
            <a:r>
              <a:rPr lang="zh-CN" altLang="zh-CN" sz="2400" kern="100" dirty="0">
                <a:solidFill>
                  <a:srgbClr val="FF3300"/>
                </a:solidFill>
              </a:rPr>
              <a:t>影响</a:t>
            </a:r>
            <a:r>
              <a:rPr lang="zh-CN" altLang="zh-CN" sz="2400" kern="100" dirty="0">
                <a:solidFill>
                  <a:schemeClr val="tx1"/>
                </a:solidFill>
              </a:rPr>
              <a:t>机械零件的</a:t>
            </a:r>
            <a:r>
              <a:rPr lang="zh-CN" altLang="zh-CN" sz="2400" kern="100" dirty="0">
                <a:solidFill>
                  <a:srgbClr val="FF3300"/>
                </a:solidFill>
              </a:rPr>
              <a:t>功能</a:t>
            </a:r>
            <a:r>
              <a:rPr lang="zh-CN" altLang="zh-CN" sz="2400" kern="100" dirty="0">
                <a:solidFill>
                  <a:schemeClr val="tx1"/>
                </a:solidFill>
              </a:rPr>
              <a:t>、使用</a:t>
            </a:r>
            <a:r>
              <a:rPr lang="zh-CN" altLang="zh-CN" sz="2400" kern="100" dirty="0">
                <a:solidFill>
                  <a:srgbClr val="FF3300"/>
                </a:solidFill>
              </a:rPr>
              <a:t>性能</a:t>
            </a:r>
            <a:r>
              <a:rPr lang="zh-CN" altLang="zh-CN" sz="2400" kern="100" dirty="0">
                <a:solidFill>
                  <a:schemeClr val="tx1"/>
                </a:solidFill>
              </a:rPr>
              <a:t>和工作</a:t>
            </a:r>
            <a:r>
              <a:rPr lang="zh-CN" altLang="zh-CN" sz="2400" kern="100" dirty="0">
                <a:solidFill>
                  <a:srgbClr val="FF3300"/>
                </a:solidFill>
              </a:rPr>
              <a:t>寿命</a:t>
            </a:r>
            <a:r>
              <a:rPr lang="zh-CN" altLang="zh-CN" sz="2400" kern="100" dirty="0">
                <a:solidFill>
                  <a:schemeClr val="tx1"/>
                </a:solidFill>
              </a:rPr>
              <a:t>。因此，在</a:t>
            </a:r>
            <a:r>
              <a:rPr lang="zh-CN" altLang="zh-CN" sz="2400" kern="100" dirty="0">
                <a:solidFill>
                  <a:srgbClr val="FF3300"/>
                </a:solidFill>
              </a:rPr>
              <a:t>零件图中</a:t>
            </a:r>
            <a:r>
              <a:rPr lang="zh-CN" altLang="zh-CN" sz="2400" kern="100" dirty="0">
                <a:solidFill>
                  <a:schemeClr val="tx1"/>
                </a:solidFill>
              </a:rPr>
              <a:t>必须加以</a:t>
            </a:r>
            <a:r>
              <a:rPr lang="zh-CN" altLang="zh-CN" sz="2400" kern="100" dirty="0">
                <a:solidFill>
                  <a:srgbClr val="FF3300"/>
                </a:solidFill>
              </a:rPr>
              <a:t>标注</a:t>
            </a:r>
            <a:r>
              <a:rPr lang="zh-CN" altLang="zh-CN" sz="2400" kern="100" dirty="0">
                <a:solidFill>
                  <a:schemeClr val="tx1"/>
                </a:solidFill>
              </a:rPr>
              <a:t>或在</a:t>
            </a:r>
            <a:r>
              <a:rPr lang="zh-CN" altLang="zh-CN" sz="2400" kern="100" dirty="0">
                <a:solidFill>
                  <a:srgbClr val="FF3300"/>
                </a:solidFill>
              </a:rPr>
              <a:t>技术要求中</a:t>
            </a:r>
            <a:r>
              <a:rPr lang="zh-CN" altLang="zh-CN" sz="2400" kern="100" dirty="0">
                <a:solidFill>
                  <a:schemeClr val="tx1"/>
                </a:solidFill>
              </a:rPr>
              <a:t>用文字</a:t>
            </a:r>
            <a:r>
              <a:rPr lang="zh-CN" altLang="zh-CN" sz="2400" kern="100" dirty="0">
                <a:solidFill>
                  <a:srgbClr val="FF3300"/>
                </a:solidFill>
              </a:rPr>
              <a:t>提出要求</a:t>
            </a:r>
            <a:r>
              <a:rPr lang="zh-CN" altLang="zh-CN" sz="2400" kern="100" dirty="0">
                <a:solidFill>
                  <a:schemeClr val="tx1"/>
                </a:solidFill>
              </a:rPr>
              <a:t>。</a:t>
            </a:r>
          </a:p>
        </p:txBody>
      </p:sp>
    </p:spTree>
    <p:extLst>
      <p:ext uri="{BB962C8B-B14F-4D97-AF65-F5344CB8AC3E}">
        <p14:creationId xmlns:p14="http://schemas.microsoft.com/office/powerpoint/2010/main" val="192807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iterate type="lt">
                                    <p:tmPct val="10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75"/>
                                        <p:tgtEl>
                                          <p:spTgt spid="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heckerboard(across)">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 grpId="0" animBg="1" autoUpdateAnimBg="0"/>
      <p:bldP spid="5"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xmlns="" id="{A1E44D90-7B0B-43AC-A30D-1F0C13FA2C07}"/>
              </a:ext>
            </a:extLst>
          </p:cNvPr>
          <p:cNvSpPr>
            <a:spLocks noChangeArrowheads="1"/>
          </p:cNvSpPr>
          <p:nvPr/>
        </p:nvSpPr>
        <p:spPr bwMode="auto">
          <a:xfrm>
            <a:off x="1793094" y="1907328"/>
            <a:ext cx="8731398" cy="919867"/>
          </a:xfrm>
          <a:prstGeom prst="rect">
            <a:avLst/>
          </a:prstGeom>
          <a:noFill/>
          <a:ln w="9525">
            <a:noFill/>
            <a:miter lim="800000"/>
            <a:headEnd/>
            <a:tailEnd/>
          </a:ln>
        </p:spPr>
        <p:txBody>
          <a:bodyPr wrap="square">
            <a:spAutoFit/>
          </a:bodyPr>
          <a:lstStyle/>
          <a:p>
            <a:pPr>
              <a:lnSpc>
                <a:spcPct val="120000"/>
              </a:lnSpc>
              <a:defRPr/>
            </a:pPr>
            <a:r>
              <a:rPr lang="zh-CN" altLang="en-US" sz="2400" b="1" dirty="0">
                <a:solidFill>
                  <a:schemeClr val="tx1"/>
                </a:solidFill>
                <a:latin typeface="+mn-ea"/>
                <a:ea typeface="+mn-ea"/>
              </a:rPr>
              <a:t>在满足零件表面功能的前提下，合理选用</a:t>
            </a:r>
            <a:r>
              <a:rPr lang="zh-CN" altLang="en-US" sz="2400" b="1" dirty="0">
                <a:solidFill>
                  <a:srgbClr val="FF0000"/>
                </a:solidFill>
                <a:latin typeface="黑体" pitchFamily="2" charset="-122"/>
                <a:ea typeface="黑体" pitchFamily="2" charset="-122"/>
              </a:rPr>
              <a:t>表面结构参数</a:t>
            </a:r>
            <a:r>
              <a:rPr lang="zh-CN" altLang="en-US" sz="2400" b="1" dirty="0">
                <a:solidFill>
                  <a:schemeClr val="tx1"/>
                </a:solidFill>
                <a:latin typeface="黑体" pitchFamily="2" charset="-122"/>
                <a:ea typeface="黑体" pitchFamily="2" charset="-122"/>
              </a:rPr>
              <a:t>并</a:t>
            </a:r>
            <a:r>
              <a:rPr lang="zh-CN" altLang="en-US" sz="2400" b="1" dirty="0">
                <a:solidFill>
                  <a:srgbClr val="FF0000"/>
                </a:solidFill>
                <a:latin typeface="黑体" pitchFamily="2" charset="-122"/>
                <a:ea typeface="黑体" pitchFamily="2" charset="-122"/>
              </a:rPr>
              <a:t>标注在零件图中</a:t>
            </a:r>
            <a:r>
              <a:rPr lang="zh-CN" altLang="en-US" sz="2400" b="1" dirty="0">
                <a:latin typeface="黑体" pitchFamily="2" charset="-122"/>
                <a:ea typeface="黑体" pitchFamily="2" charset="-122"/>
              </a:rPr>
              <a:t>。 </a:t>
            </a:r>
            <a:endParaRPr lang="zh-CN" altLang="en-US" sz="2400" b="1" dirty="0">
              <a:solidFill>
                <a:srgbClr val="0033CC"/>
              </a:solidFill>
              <a:latin typeface="黑体" pitchFamily="2" charset="-122"/>
              <a:ea typeface="黑体" pitchFamily="2" charset="-122"/>
            </a:endParaRPr>
          </a:p>
        </p:txBody>
      </p:sp>
      <p:sp>
        <p:nvSpPr>
          <p:cNvPr id="3" name="矩形 2">
            <a:extLst>
              <a:ext uri="{FF2B5EF4-FFF2-40B4-BE49-F238E27FC236}">
                <a16:creationId xmlns:a16="http://schemas.microsoft.com/office/drawing/2014/main" xmlns="" id="{CA4F6B9E-6AC9-43BB-9BFA-BB2BC3483C80}"/>
              </a:ext>
            </a:extLst>
          </p:cNvPr>
          <p:cNvSpPr>
            <a:spLocks noChangeArrowheads="1"/>
          </p:cNvSpPr>
          <p:nvPr/>
        </p:nvSpPr>
        <p:spPr bwMode="auto">
          <a:xfrm>
            <a:off x="1793094" y="2931170"/>
            <a:ext cx="4521200" cy="534988"/>
          </a:xfrm>
          <a:prstGeom prst="rect">
            <a:avLst/>
          </a:prstGeom>
          <a:noFill/>
          <a:ln w="9525">
            <a:noFill/>
            <a:miter lim="800000"/>
            <a:headEnd/>
            <a:tailEnd/>
          </a:ln>
        </p:spPr>
        <p:txBody>
          <a:bodyPr>
            <a:spAutoFit/>
          </a:bodyPr>
          <a:lstStyle/>
          <a:p>
            <a:pPr>
              <a:lnSpc>
                <a:spcPct val="120000"/>
              </a:lnSpc>
              <a:defRPr/>
            </a:pPr>
            <a:r>
              <a:rPr lang="zh-CN" altLang="en-US" sz="2400" dirty="0">
                <a:solidFill>
                  <a:schemeClr val="tx1"/>
                </a:solidFill>
                <a:latin typeface="+mn-ea"/>
                <a:ea typeface="+mn-ea"/>
              </a:rPr>
              <a:t>国家标准规定了</a:t>
            </a:r>
            <a:r>
              <a:rPr lang="zh-CN" altLang="en-US" sz="2400" dirty="0">
                <a:latin typeface="黑体" pitchFamily="2" charset="-122"/>
                <a:ea typeface="黑体" pitchFamily="2" charset="-122"/>
              </a:rPr>
              <a:t>三种轮廓类型：</a:t>
            </a:r>
          </a:p>
        </p:txBody>
      </p:sp>
      <p:sp>
        <p:nvSpPr>
          <p:cNvPr id="4" name="Text Box 3">
            <a:extLst>
              <a:ext uri="{FF2B5EF4-FFF2-40B4-BE49-F238E27FC236}">
                <a16:creationId xmlns:a16="http://schemas.microsoft.com/office/drawing/2014/main" xmlns="" id="{7D39F48A-1D8A-466C-8E9C-88B91E87800B}"/>
              </a:ext>
            </a:extLst>
          </p:cNvPr>
          <p:cNvSpPr txBox="1">
            <a:spLocks noChangeArrowheads="1"/>
          </p:cNvSpPr>
          <p:nvPr/>
        </p:nvSpPr>
        <p:spPr bwMode="auto">
          <a:xfrm>
            <a:off x="1088244" y="1338172"/>
            <a:ext cx="5295788" cy="522288"/>
          </a:xfrm>
          <a:prstGeom prst="rect">
            <a:avLst/>
          </a:prstGeom>
          <a:noFill/>
          <a:ln w="9525">
            <a:noFill/>
            <a:miter lim="800000"/>
            <a:headEnd/>
            <a:tailEnd/>
          </a:ln>
        </p:spPr>
        <p:txBody>
          <a:bodyPr wrap="square">
            <a:spAutoFit/>
          </a:bodyPr>
          <a:lstStyle/>
          <a:p>
            <a:r>
              <a:rPr lang="zh-CN" altLang="en-US" sz="2800" b="1" dirty="0">
                <a:solidFill>
                  <a:srgbClr val="FF3300"/>
                </a:solidFill>
                <a:latin typeface="Times New Roman" pitchFamily="18" charset="0"/>
              </a:rPr>
              <a:t>一、表面微观结构的概念</a:t>
            </a:r>
          </a:p>
        </p:txBody>
      </p:sp>
      <p:sp>
        <p:nvSpPr>
          <p:cNvPr id="5" name="Text Box 2">
            <a:extLst>
              <a:ext uri="{FF2B5EF4-FFF2-40B4-BE49-F238E27FC236}">
                <a16:creationId xmlns:a16="http://schemas.microsoft.com/office/drawing/2014/main" xmlns="" id="{5A306998-DC61-4F85-A59D-E3C5015A3C5E}"/>
              </a:ext>
            </a:extLst>
          </p:cNvPr>
          <p:cNvSpPr txBox="1">
            <a:spLocks noChangeArrowheads="1"/>
          </p:cNvSpPr>
          <p:nvPr/>
        </p:nvSpPr>
        <p:spPr bwMode="auto">
          <a:xfrm>
            <a:off x="2891644" y="404664"/>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6" name="矩形 5">
            <a:extLst>
              <a:ext uri="{FF2B5EF4-FFF2-40B4-BE49-F238E27FC236}">
                <a16:creationId xmlns:a16="http://schemas.microsoft.com/office/drawing/2014/main" xmlns="" id="{C756368E-4538-4D3B-8A5A-7BAE2A206936}"/>
              </a:ext>
            </a:extLst>
          </p:cNvPr>
          <p:cNvSpPr/>
          <p:nvPr/>
        </p:nvSpPr>
        <p:spPr>
          <a:xfrm>
            <a:off x="4320394" y="3497114"/>
            <a:ext cx="4003675" cy="1363065"/>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spPr>
        <p:txBody>
          <a:bodyPr>
            <a:spAutoFit/>
          </a:bodyPr>
          <a:lstStyle/>
          <a:p>
            <a:pPr>
              <a:lnSpc>
                <a:spcPct val="120000"/>
              </a:lnSpc>
              <a:defRPr/>
            </a:pPr>
            <a:r>
              <a:rPr lang="en-US" altLang="zh-CN" sz="2400" b="1" i="1" dirty="0">
                <a:solidFill>
                  <a:srgbClr val="FF0000"/>
                </a:solidFill>
                <a:latin typeface="+mn-ea"/>
                <a:ea typeface="+mn-ea"/>
              </a:rPr>
              <a:t>R </a:t>
            </a:r>
            <a:r>
              <a:rPr lang="zh-CN" altLang="en-US" sz="2400" b="1" dirty="0">
                <a:solidFill>
                  <a:srgbClr val="FF0000"/>
                </a:solidFill>
                <a:latin typeface="+mn-ea"/>
                <a:ea typeface="+mn-ea"/>
              </a:rPr>
              <a:t>轮廓</a:t>
            </a:r>
            <a:r>
              <a:rPr lang="en-US" altLang="zh-CN" sz="2400" b="1" dirty="0">
                <a:solidFill>
                  <a:srgbClr val="FF0000"/>
                </a:solidFill>
                <a:latin typeface="+mn-ea"/>
                <a:ea typeface="+mn-ea"/>
              </a:rPr>
              <a:t>——</a:t>
            </a:r>
            <a:r>
              <a:rPr lang="zh-CN" altLang="en-US" sz="2400" b="1" dirty="0">
                <a:solidFill>
                  <a:srgbClr val="FF0000"/>
                </a:solidFill>
                <a:latin typeface="+mn-ea"/>
                <a:ea typeface="+mn-ea"/>
              </a:rPr>
              <a:t>粗糙度参数</a:t>
            </a:r>
          </a:p>
          <a:p>
            <a:pPr>
              <a:lnSpc>
                <a:spcPct val="120000"/>
              </a:lnSpc>
              <a:defRPr/>
            </a:pPr>
            <a:r>
              <a:rPr lang="en-US" altLang="zh-CN" sz="2400" b="1" i="1" dirty="0">
                <a:solidFill>
                  <a:srgbClr val="FF0000"/>
                </a:solidFill>
                <a:latin typeface="+mn-ea"/>
                <a:ea typeface="+mn-ea"/>
              </a:rPr>
              <a:t>W </a:t>
            </a:r>
            <a:r>
              <a:rPr lang="zh-CN" altLang="en-US" sz="2400" b="1" dirty="0">
                <a:solidFill>
                  <a:srgbClr val="FF0000"/>
                </a:solidFill>
                <a:latin typeface="+mn-ea"/>
                <a:ea typeface="+mn-ea"/>
              </a:rPr>
              <a:t>轮廓</a:t>
            </a:r>
            <a:r>
              <a:rPr lang="en-US" altLang="zh-CN" sz="2400" b="1" dirty="0">
                <a:solidFill>
                  <a:srgbClr val="FF0000"/>
                </a:solidFill>
                <a:latin typeface="+mn-ea"/>
                <a:ea typeface="+mn-ea"/>
              </a:rPr>
              <a:t>——</a:t>
            </a:r>
            <a:r>
              <a:rPr lang="zh-CN" altLang="en-US" sz="2400" b="1" dirty="0">
                <a:solidFill>
                  <a:srgbClr val="FF0000"/>
                </a:solidFill>
                <a:latin typeface="+mn-ea"/>
                <a:ea typeface="+mn-ea"/>
              </a:rPr>
              <a:t>波纹度参数</a:t>
            </a:r>
          </a:p>
          <a:p>
            <a:pPr>
              <a:lnSpc>
                <a:spcPct val="120000"/>
              </a:lnSpc>
              <a:defRPr/>
            </a:pPr>
            <a:r>
              <a:rPr lang="en-US" altLang="zh-CN" sz="2400" b="1" i="1" dirty="0">
                <a:solidFill>
                  <a:srgbClr val="FF0000"/>
                </a:solidFill>
                <a:latin typeface="+mn-ea"/>
                <a:ea typeface="+mn-ea"/>
              </a:rPr>
              <a:t>P </a:t>
            </a:r>
            <a:r>
              <a:rPr lang="zh-CN" altLang="en-US" sz="2400" b="1" dirty="0">
                <a:solidFill>
                  <a:srgbClr val="FF0000"/>
                </a:solidFill>
                <a:latin typeface="+mn-ea"/>
                <a:ea typeface="+mn-ea"/>
              </a:rPr>
              <a:t>轮廓</a:t>
            </a:r>
            <a:r>
              <a:rPr lang="en-US" altLang="zh-CN" sz="2400" b="1" dirty="0">
                <a:solidFill>
                  <a:srgbClr val="FF0000"/>
                </a:solidFill>
                <a:latin typeface="+mn-ea"/>
                <a:ea typeface="+mn-ea"/>
              </a:rPr>
              <a:t>——</a:t>
            </a:r>
            <a:r>
              <a:rPr lang="zh-CN" altLang="en-US" sz="2400" b="1" dirty="0">
                <a:solidFill>
                  <a:srgbClr val="FF0000"/>
                </a:solidFill>
                <a:latin typeface="+mn-ea"/>
                <a:ea typeface="+mn-ea"/>
              </a:rPr>
              <a:t>原始轮廓参数</a:t>
            </a:r>
          </a:p>
        </p:txBody>
      </p:sp>
      <p:sp>
        <p:nvSpPr>
          <p:cNvPr id="7" name="矩形 6">
            <a:extLst>
              <a:ext uri="{FF2B5EF4-FFF2-40B4-BE49-F238E27FC236}">
                <a16:creationId xmlns:a16="http://schemas.microsoft.com/office/drawing/2014/main" xmlns="" id="{6CB3CDA5-A7DD-41F0-B8B2-316E2070D851}"/>
              </a:ext>
            </a:extLst>
          </p:cNvPr>
          <p:cNvSpPr>
            <a:spLocks noChangeArrowheads="1"/>
          </p:cNvSpPr>
          <p:nvPr/>
        </p:nvSpPr>
        <p:spPr bwMode="auto">
          <a:xfrm>
            <a:off x="1793094" y="5697252"/>
            <a:ext cx="8964996" cy="540725"/>
          </a:xfrm>
          <a:prstGeom prst="rect">
            <a:avLst/>
          </a:prstGeom>
          <a:noFill/>
          <a:ln w="9525">
            <a:noFill/>
            <a:miter lim="800000"/>
            <a:headEnd/>
            <a:tailEnd/>
          </a:ln>
        </p:spPr>
        <p:txBody>
          <a:bodyPr wrap="square">
            <a:spAutoFit/>
          </a:bodyPr>
          <a:lstStyle/>
          <a:p>
            <a:pPr>
              <a:lnSpc>
                <a:spcPct val="120000"/>
              </a:lnSpc>
              <a:defRPr/>
            </a:pPr>
            <a:r>
              <a:rPr lang="zh-CN" altLang="en-US" sz="2800" dirty="0">
                <a:solidFill>
                  <a:schemeClr val="tx1"/>
                </a:solidFill>
                <a:latin typeface="+mn-ea"/>
                <a:ea typeface="+mn-ea"/>
              </a:rPr>
              <a:t>这里仅介绍评定</a:t>
            </a:r>
            <a:r>
              <a:rPr lang="zh-CN" altLang="en-US" sz="2800" dirty="0">
                <a:solidFill>
                  <a:srgbClr val="FF3300"/>
                </a:solidFill>
                <a:latin typeface="+mn-ea"/>
                <a:ea typeface="+mn-ea"/>
              </a:rPr>
              <a:t>粗糙度轮廓</a:t>
            </a:r>
            <a:r>
              <a:rPr lang="en-US" altLang="zh-CN" sz="2800" dirty="0">
                <a:solidFill>
                  <a:schemeClr val="tx1"/>
                </a:solidFill>
                <a:latin typeface="+mn-ea"/>
                <a:ea typeface="+mn-ea"/>
              </a:rPr>
              <a:t>(R</a:t>
            </a:r>
            <a:r>
              <a:rPr lang="zh-CN" altLang="en-US" sz="2800" dirty="0">
                <a:solidFill>
                  <a:schemeClr val="tx1"/>
                </a:solidFill>
                <a:latin typeface="+mn-ea"/>
                <a:ea typeface="+mn-ea"/>
              </a:rPr>
              <a:t>轮廓</a:t>
            </a:r>
            <a:r>
              <a:rPr lang="en-US" altLang="zh-CN" sz="2800" dirty="0">
                <a:solidFill>
                  <a:schemeClr val="tx1"/>
                </a:solidFill>
                <a:latin typeface="+mn-ea"/>
                <a:ea typeface="+mn-ea"/>
              </a:rPr>
              <a:t>)</a:t>
            </a:r>
            <a:r>
              <a:rPr lang="zh-CN" altLang="en-US" sz="2800" dirty="0">
                <a:solidFill>
                  <a:schemeClr val="tx1"/>
                </a:solidFill>
                <a:latin typeface="+mn-ea"/>
                <a:ea typeface="+mn-ea"/>
              </a:rPr>
              <a:t>中的</a:t>
            </a:r>
            <a:r>
              <a:rPr lang="zh-CN" altLang="en-US" sz="2800" dirty="0">
                <a:solidFill>
                  <a:srgbClr val="FF3300"/>
                </a:solidFill>
                <a:latin typeface="+mn-ea"/>
                <a:ea typeface="+mn-ea"/>
              </a:rPr>
              <a:t>一个高度参数</a:t>
            </a:r>
            <a:r>
              <a:rPr lang="en-US" altLang="zh-CN" sz="2800" i="1" dirty="0">
                <a:solidFill>
                  <a:srgbClr val="FF3300"/>
                </a:solidFill>
                <a:latin typeface="+mn-ea"/>
                <a:ea typeface="+mn-ea"/>
              </a:rPr>
              <a:t>Ra</a:t>
            </a:r>
            <a:r>
              <a:rPr lang="zh-CN" altLang="en-US" sz="2800" dirty="0">
                <a:solidFill>
                  <a:schemeClr val="tx1"/>
                </a:solidFill>
                <a:latin typeface="+mn-ea"/>
                <a:ea typeface="+mn-ea"/>
              </a:rPr>
              <a:t>。  </a:t>
            </a:r>
          </a:p>
        </p:txBody>
      </p:sp>
      <p:sp>
        <p:nvSpPr>
          <p:cNvPr id="8" name="矩形 7">
            <a:extLst>
              <a:ext uri="{FF2B5EF4-FFF2-40B4-BE49-F238E27FC236}">
                <a16:creationId xmlns:a16="http://schemas.microsoft.com/office/drawing/2014/main" xmlns="" id="{E7B06784-1940-4592-BBDA-B5B04FBCD9D1}"/>
              </a:ext>
            </a:extLst>
          </p:cNvPr>
          <p:cNvSpPr>
            <a:spLocks noChangeArrowheads="1"/>
          </p:cNvSpPr>
          <p:nvPr/>
        </p:nvSpPr>
        <p:spPr bwMode="auto">
          <a:xfrm>
            <a:off x="1793094" y="4961790"/>
            <a:ext cx="8964996" cy="558038"/>
          </a:xfrm>
          <a:prstGeom prst="rect">
            <a:avLst/>
          </a:prstGeom>
          <a:noFill/>
          <a:ln w="9525">
            <a:noFill/>
            <a:miter lim="800000"/>
            <a:headEnd/>
            <a:tailEnd/>
          </a:ln>
        </p:spPr>
        <p:txBody>
          <a:bodyPr wrap="square">
            <a:spAutoFit/>
          </a:bodyPr>
          <a:lstStyle/>
          <a:p>
            <a:pPr>
              <a:lnSpc>
                <a:spcPct val="120000"/>
              </a:lnSpc>
            </a:pPr>
            <a:r>
              <a:rPr lang="zh-CN" altLang="en-US" sz="2800" dirty="0">
                <a:solidFill>
                  <a:srgbClr val="0033CC"/>
                </a:solidFill>
              </a:rPr>
              <a:t>衡量零件表面质量的常用参数为</a:t>
            </a:r>
            <a:r>
              <a:rPr lang="en-US" altLang="zh-CN" sz="2800" i="1" dirty="0">
                <a:solidFill>
                  <a:srgbClr val="FF0000"/>
                </a:solidFill>
              </a:rPr>
              <a:t>R </a:t>
            </a:r>
            <a:r>
              <a:rPr lang="zh-CN" altLang="en-US" sz="2800" dirty="0">
                <a:solidFill>
                  <a:srgbClr val="FF0000"/>
                </a:solidFill>
              </a:rPr>
              <a:t>轮廓</a:t>
            </a:r>
            <a:r>
              <a:rPr lang="en-US" altLang="zh-CN" sz="2800" dirty="0">
                <a:solidFill>
                  <a:srgbClr val="FF0000"/>
                </a:solidFill>
              </a:rPr>
              <a:t>——</a:t>
            </a:r>
            <a:r>
              <a:rPr lang="zh-CN" altLang="en-US" sz="2800" dirty="0">
                <a:solidFill>
                  <a:srgbClr val="FF0000"/>
                </a:solidFill>
              </a:rPr>
              <a:t>粗糙度参数</a:t>
            </a:r>
          </a:p>
        </p:txBody>
      </p:sp>
    </p:spTree>
    <p:extLst>
      <p:ext uri="{BB962C8B-B14F-4D97-AF65-F5344CB8AC3E}">
        <p14:creationId xmlns:p14="http://schemas.microsoft.com/office/powerpoint/2010/main" val="332086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iterate type="lt">
                                    <p:tmPct val="0"/>
                                  </p:iterate>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ppt_x</p:attrName>
                                        </p:attrNameLst>
                                      </p:cBhvr>
                                      <p:tavLst>
                                        <p:tav tm="0">
                                          <p:val>
                                            <p:fltVal val="0.5"/>
                                          </p:val>
                                        </p:tav>
                                        <p:tav tm="100000">
                                          <p:val>
                                            <p:strVal val="#ppt_x"/>
                                          </p:val>
                                        </p:tav>
                                      </p:tavLst>
                                    </p:anim>
                                    <p:anim calcmode="lin" valueType="num">
                                      <p:cBhvr>
                                        <p:cTn id="15" dur="1000" fill="hold"/>
                                        <p:tgtEl>
                                          <p:spTgt spid="3"/>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p:tgtEl>
                                          <p:spTgt spid="6"/>
                                        </p:tgtEl>
                                        <p:attrNameLst>
                                          <p:attrName>ppt_x</p:attrName>
                                        </p:attrNameLst>
                                      </p:cBhvr>
                                      <p:tavLst>
                                        <p:tav tm="0">
                                          <p:val>
                                            <p:strVal val="#ppt_x-#ppt_w*1.125000"/>
                                          </p:val>
                                        </p:tav>
                                        <p:tav tm="100000">
                                          <p:val>
                                            <p:strVal val="#ppt_x"/>
                                          </p:val>
                                        </p:tav>
                                      </p:tavLst>
                                    </p:anim>
                                    <p:animEffect transition="in" filter="wipe(righ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arn(outVertic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animBg="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5">
            <a:extLst>
              <a:ext uri="{FF2B5EF4-FFF2-40B4-BE49-F238E27FC236}">
                <a16:creationId xmlns:a16="http://schemas.microsoft.com/office/drawing/2014/main" xmlns="" id="{888EA797-D7AE-4B90-814C-8BC5858D129D}"/>
              </a:ext>
            </a:extLst>
          </p:cNvPr>
          <p:cNvSpPr txBox="1">
            <a:spLocks noChangeArrowheads="1"/>
          </p:cNvSpPr>
          <p:nvPr/>
        </p:nvSpPr>
        <p:spPr bwMode="auto">
          <a:xfrm>
            <a:off x="1703512" y="1972085"/>
            <a:ext cx="9433048" cy="558038"/>
          </a:xfrm>
          <a:prstGeom prst="rect">
            <a:avLst/>
          </a:prstGeom>
          <a:noFill/>
          <a:ln w="9525">
            <a:noFill/>
            <a:miter lim="800000"/>
            <a:headEnd/>
            <a:tailEnd/>
          </a:ln>
        </p:spPr>
        <p:txBody>
          <a:bodyPr wrap="square">
            <a:spAutoFit/>
          </a:bodyPr>
          <a:lstStyle/>
          <a:p>
            <a:pPr>
              <a:lnSpc>
                <a:spcPct val="120000"/>
              </a:lnSpc>
            </a:pPr>
            <a:r>
              <a:rPr lang="en-US" altLang="zh-CN" sz="2800" b="1" i="1" dirty="0"/>
              <a:t>Ra </a:t>
            </a:r>
            <a:r>
              <a:rPr lang="zh-CN" altLang="en-US" sz="2800" b="1" dirty="0"/>
              <a:t>指在一个取样长度内纵坐标值</a:t>
            </a:r>
            <a:r>
              <a:rPr lang="en-US" altLang="zh-CN" sz="2800" b="1" i="1" dirty="0"/>
              <a:t>Z(x)</a:t>
            </a:r>
            <a:r>
              <a:rPr lang="zh-CN" altLang="en-US" sz="2800" b="1" dirty="0"/>
              <a:t>绝对值的算术平均值 </a:t>
            </a:r>
          </a:p>
        </p:txBody>
      </p:sp>
      <p:sp>
        <p:nvSpPr>
          <p:cNvPr id="3" name="Text Box 65">
            <a:extLst>
              <a:ext uri="{FF2B5EF4-FFF2-40B4-BE49-F238E27FC236}">
                <a16:creationId xmlns:a16="http://schemas.microsoft.com/office/drawing/2014/main" xmlns="" id="{69353A65-FCEE-463C-8482-92662AB5F966}"/>
              </a:ext>
            </a:extLst>
          </p:cNvPr>
          <p:cNvSpPr txBox="1">
            <a:spLocks noChangeArrowheads="1"/>
          </p:cNvSpPr>
          <p:nvPr/>
        </p:nvSpPr>
        <p:spPr bwMode="auto">
          <a:xfrm>
            <a:off x="1091444" y="2852936"/>
            <a:ext cx="2047399" cy="2677656"/>
          </a:xfrm>
          <a:prstGeom prst="rect">
            <a:avLst/>
          </a:prstGeom>
          <a:noFill/>
          <a:ln w="9525">
            <a:noFill/>
            <a:miter lim="800000"/>
            <a:headEnd/>
            <a:tailEnd/>
          </a:ln>
        </p:spPr>
        <p:txBody>
          <a:bodyPr wrap="square">
            <a:spAutoFit/>
          </a:bodyPr>
          <a:lstStyle/>
          <a:p>
            <a:r>
              <a:rPr lang="zh-CN" altLang="en-US" sz="2400" dirty="0">
                <a:solidFill>
                  <a:schemeClr val="tx1"/>
                </a:solidFill>
                <a:latin typeface="宋体" pitchFamily="2" charset="-122"/>
                <a:ea typeface="宋体" pitchFamily="2" charset="-122"/>
              </a:rPr>
              <a:t>在一个取样长度内</a:t>
            </a:r>
            <a:r>
              <a:rPr lang="en-US" altLang="zh-CN" sz="2400" dirty="0">
                <a:solidFill>
                  <a:schemeClr val="tx1"/>
                </a:solidFill>
                <a:latin typeface="宋体" pitchFamily="2" charset="-122"/>
                <a:ea typeface="宋体" pitchFamily="2" charset="-122"/>
              </a:rPr>
              <a:t>,</a:t>
            </a:r>
            <a:r>
              <a:rPr lang="zh-CN" altLang="en-US" sz="2400" dirty="0">
                <a:solidFill>
                  <a:schemeClr val="tx1"/>
                </a:solidFill>
                <a:latin typeface="宋体" pitchFamily="2" charset="-122"/>
                <a:ea typeface="宋体" pitchFamily="2" charset="-122"/>
              </a:rPr>
              <a:t>轮廓偏距</a:t>
            </a:r>
            <a:r>
              <a:rPr lang="en-US" altLang="zh-CN" sz="2400" dirty="0">
                <a:solidFill>
                  <a:schemeClr val="tx1"/>
                </a:solidFill>
                <a:latin typeface="宋体" pitchFamily="2" charset="-122"/>
                <a:ea typeface="宋体" pitchFamily="2" charset="-122"/>
              </a:rPr>
              <a:t>(Y</a:t>
            </a:r>
            <a:r>
              <a:rPr lang="zh-CN" altLang="en-US" sz="2400" dirty="0">
                <a:solidFill>
                  <a:schemeClr val="tx1"/>
                </a:solidFill>
                <a:latin typeface="宋体" pitchFamily="2" charset="-122"/>
                <a:ea typeface="宋体" pitchFamily="2" charset="-122"/>
              </a:rPr>
              <a:t>方向上轮廓线上的点与基准线之间的距离</a:t>
            </a:r>
            <a:r>
              <a:rPr lang="en-US" altLang="zh-CN" sz="2400" dirty="0">
                <a:solidFill>
                  <a:schemeClr val="tx1"/>
                </a:solidFill>
                <a:latin typeface="宋体" pitchFamily="2" charset="-122"/>
                <a:ea typeface="宋体" pitchFamily="2" charset="-122"/>
              </a:rPr>
              <a:t>)</a:t>
            </a:r>
            <a:r>
              <a:rPr lang="zh-CN" altLang="en-US" sz="2400" dirty="0">
                <a:solidFill>
                  <a:schemeClr val="tx1"/>
                </a:solidFill>
                <a:latin typeface="宋体" pitchFamily="2" charset="-122"/>
                <a:ea typeface="宋体" pitchFamily="2" charset="-122"/>
              </a:rPr>
              <a:t>绝对值的算术平均值。</a:t>
            </a:r>
          </a:p>
        </p:txBody>
      </p:sp>
      <p:sp>
        <p:nvSpPr>
          <p:cNvPr id="4" name="Text Box 3">
            <a:extLst>
              <a:ext uri="{FF2B5EF4-FFF2-40B4-BE49-F238E27FC236}">
                <a16:creationId xmlns:a16="http://schemas.microsoft.com/office/drawing/2014/main" xmlns="" id="{07F4E01E-4462-4CA2-A5A9-73AE4923E159}"/>
              </a:ext>
            </a:extLst>
          </p:cNvPr>
          <p:cNvSpPr txBox="1">
            <a:spLocks noChangeArrowheads="1"/>
          </p:cNvSpPr>
          <p:nvPr/>
        </p:nvSpPr>
        <p:spPr bwMode="auto">
          <a:xfrm>
            <a:off x="1091444" y="1431166"/>
            <a:ext cx="4896544" cy="522288"/>
          </a:xfrm>
          <a:prstGeom prst="rect">
            <a:avLst/>
          </a:prstGeom>
          <a:noFill/>
          <a:ln w="9525">
            <a:noFill/>
            <a:miter lim="800000"/>
            <a:headEnd/>
            <a:tailEnd/>
          </a:ln>
        </p:spPr>
        <p:txBody>
          <a:bodyPr wrap="square">
            <a:spAutoFit/>
          </a:bodyPr>
          <a:lstStyle/>
          <a:p>
            <a:r>
              <a:rPr lang="zh-CN" altLang="en-US" sz="2800" b="1" dirty="0">
                <a:solidFill>
                  <a:srgbClr val="FF3300"/>
                </a:solidFill>
                <a:latin typeface="Times New Roman" pitchFamily="18" charset="0"/>
              </a:rPr>
              <a:t>一、表面微观结构的概念</a:t>
            </a:r>
          </a:p>
        </p:txBody>
      </p:sp>
      <p:sp>
        <p:nvSpPr>
          <p:cNvPr id="5" name="Text Box 2">
            <a:extLst>
              <a:ext uri="{FF2B5EF4-FFF2-40B4-BE49-F238E27FC236}">
                <a16:creationId xmlns:a16="http://schemas.microsoft.com/office/drawing/2014/main" xmlns="" id="{4E3464FD-4FCC-4C88-A25C-27E8FB3113C8}"/>
              </a:ext>
            </a:extLst>
          </p:cNvPr>
          <p:cNvSpPr txBox="1">
            <a:spLocks noChangeArrowheads="1"/>
          </p:cNvSpPr>
          <p:nvPr/>
        </p:nvSpPr>
        <p:spPr bwMode="auto">
          <a:xfrm>
            <a:off x="2963652" y="296652"/>
            <a:ext cx="5816600" cy="584775"/>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pic>
        <p:nvPicPr>
          <p:cNvPr id="6" name="图片 5">
            <a:extLst>
              <a:ext uri="{FF2B5EF4-FFF2-40B4-BE49-F238E27FC236}">
                <a16:creationId xmlns:a16="http://schemas.microsoft.com/office/drawing/2014/main" xmlns="" id="{79F71E6C-7AFE-43BA-9555-67A8A84F4B9B}"/>
              </a:ext>
            </a:extLst>
          </p:cNvPr>
          <p:cNvPicPr>
            <a:picLocks noChangeAspect="1"/>
          </p:cNvPicPr>
          <p:nvPr/>
        </p:nvPicPr>
        <p:blipFill>
          <a:blip r:embed="rId3"/>
          <a:srcRect/>
          <a:stretch>
            <a:fillRect/>
          </a:stretch>
        </p:blipFill>
        <p:spPr bwMode="auto">
          <a:xfrm>
            <a:off x="3143672" y="2560924"/>
            <a:ext cx="8454555" cy="3496368"/>
          </a:xfrm>
          <a:prstGeom prst="rect">
            <a:avLst/>
          </a:prstGeom>
          <a:noFill/>
          <a:ln w="9525">
            <a:noFill/>
            <a:miter lim="800000"/>
            <a:headEnd/>
            <a:tailEnd/>
          </a:ln>
        </p:spPr>
      </p:pic>
    </p:spTree>
    <p:extLst>
      <p:ext uri="{BB962C8B-B14F-4D97-AF65-F5344CB8AC3E}">
        <p14:creationId xmlns:p14="http://schemas.microsoft.com/office/powerpoint/2010/main" val="287394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75"/>
                                        <p:tgtEl>
                                          <p:spTgt spid="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a:extLst>
              <a:ext uri="{FF2B5EF4-FFF2-40B4-BE49-F238E27FC236}">
                <a16:creationId xmlns:a16="http://schemas.microsoft.com/office/drawing/2014/main" xmlns="" id="{35DED1F7-F690-4E0F-98B8-A5385D90EAEB}"/>
              </a:ext>
            </a:extLst>
          </p:cNvPr>
          <p:cNvSpPr txBox="1">
            <a:spLocks noChangeArrowheads="1"/>
          </p:cNvSpPr>
          <p:nvPr/>
        </p:nvSpPr>
        <p:spPr bwMode="auto">
          <a:xfrm>
            <a:off x="5209022" y="1840557"/>
            <a:ext cx="1524000" cy="461962"/>
          </a:xfrm>
          <a:prstGeom prst="rect">
            <a:avLst/>
          </a:prstGeom>
          <a:noFill/>
          <a:ln w="9525">
            <a:noFill/>
            <a:miter lim="800000"/>
            <a:headEnd/>
            <a:tailEnd/>
          </a:ln>
        </p:spPr>
        <p:txBody>
          <a:bodyPr wrap="none">
            <a:spAutoFit/>
          </a:bodyPr>
          <a:lstStyle/>
          <a:p>
            <a:r>
              <a:rPr lang="zh-CN" altLang="en-US" sz="2400" b="1">
                <a:solidFill>
                  <a:schemeClr val="tx1"/>
                </a:solidFill>
                <a:latin typeface="Times New Roman" pitchFamily="18" charset="0"/>
                <a:ea typeface="宋体" pitchFamily="2" charset="-122"/>
              </a:rPr>
              <a:t>基本符号</a:t>
            </a:r>
            <a:r>
              <a:rPr lang="en-US" altLang="zh-CN" sz="2400" b="1">
                <a:solidFill>
                  <a:schemeClr val="tx1"/>
                </a:solidFill>
                <a:latin typeface="Times New Roman" pitchFamily="18" charset="0"/>
                <a:ea typeface="宋体" pitchFamily="2" charset="-122"/>
              </a:rPr>
              <a:t>:</a:t>
            </a:r>
          </a:p>
        </p:txBody>
      </p:sp>
      <p:sp>
        <p:nvSpPr>
          <p:cNvPr id="3" name="Text Box 1040">
            <a:extLst>
              <a:ext uri="{FF2B5EF4-FFF2-40B4-BE49-F238E27FC236}">
                <a16:creationId xmlns:a16="http://schemas.microsoft.com/office/drawing/2014/main" xmlns="" id="{8EF84F8A-3557-4F92-8C70-59E6C4CAB1A2}"/>
              </a:ext>
            </a:extLst>
          </p:cNvPr>
          <p:cNvSpPr txBox="1">
            <a:spLocks noChangeArrowheads="1"/>
          </p:cNvSpPr>
          <p:nvPr/>
        </p:nvSpPr>
        <p:spPr bwMode="auto">
          <a:xfrm>
            <a:off x="1378385" y="1826086"/>
            <a:ext cx="4159250" cy="522287"/>
          </a:xfrm>
          <a:prstGeom prst="rect">
            <a:avLst/>
          </a:prstGeom>
          <a:noFill/>
          <a:ln w="12700">
            <a:noFill/>
            <a:miter lim="800000"/>
            <a:headEnd type="none" w="sm" len="lg"/>
            <a:tailEnd type="none" w="sm" len="lg"/>
          </a:ln>
        </p:spPr>
        <p:txBody>
          <a:bodyPr anchor="ctr">
            <a:spAutoFit/>
          </a:bodyPr>
          <a:lstStyle/>
          <a:p>
            <a:r>
              <a:rPr lang="en-US" altLang="zh-CN" sz="2800" dirty="0">
                <a:solidFill>
                  <a:srgbClr val="00B0F0"/>
                </a:solidFill>
                <a:latin typeface="宋体" pitchFamily="2" charset="-122"/>
                <a:ea typeface="宋体" pitchFamily="2" charset="-122"/>
              </a:rPr>
              <a:t>⑴ </a:t>
            </a:r>
            <a:r>
              <a:rPr lang="zh-CN" altLang="en-US" sz="2800" dirty="0">
                <a:solidFill>
                  <a:srgbClr val="00B0F0"/>
                </a:solidFill>
                <a:latin typeface="宋体" pitchFamily="2" charset="-122"/>
                <a:ea typeface="宋体" pitchFamily="2" charset="-122"/>
              </a:rPr>
              <a:t>表面结构符号</a:t>
            </a:r>
          </a:p>
        </p:txBody>
      </p:sp>
      <p:pic>
        <p:nvPicPr>
          <p:cNvPr id="4" name="图片 3">
            <a:extLst>
              <a:ext uri="{FF2B5EF4-FFF2-40B4-BE49-F238E27FC236}">
                <a16:creationId xmlns:a16="http://schemas.microsoft.com/office/drawing/2014/main" xmlns="" id="{7A22BB91-555B-40E9-BC1A-346D7F90EB0E}"/>
              </a:ext>
            </a:extLst>
          </p:cNvPr>
          <p:cNvPicPr>
            <a:picLocks noChangeAspect="1"/>
          </p:cNvPicPr>
          <p:nvPr/>
        </p:nvPicPr>
        <p:blipFill>
          <a:blip r:embed="rId2"/>
          <a:srcRect/>
          <a:stretch>
            <a:fillRect/>
          </a:stretch>
        </p:blipFill>
        <p:spPr bwMode="auto">
          <a:xfrm>
            <a:off x="1575234" y="4131457"/>
            <a:ext cx="9201286" cy="2401887"/>
          </a:xfrm>
          <a:prstGeom prst="rect">
            <a:avLst/>
          </a:prstGeom>
          <a:noFill/>
          <a:ln w="9525">
            <a:noFill/>
            <a:miter lim="800000"/>
            <a:headEnd/>
            <a:tailEnd/>
          </a:ln>
        </p:spPr>
      </p:pic>
      <p:sp>
        <p:nvSpPr>
          <p:cNvPr id="5" name="Text Box 3">
            <a:extLst>
              <a:ext uri="{FF2B5EF4-FFF2-40B4-BE49-F238E27FC236}">
                <a16:creationId xmlns:a16="http://schemas.microsoft.com/office/drawing/2014/main" xmlns="" id="{89FA70EB-FCB3-4DC0-9F55-AE344A8BDDB3}"/>
              </a:ext>
            </a:extLst>
          </p:cNvPr>
          <p:cNvSpPr txBox="1">
            <a:spLocks noChangeArrowheads="1"/>
          </p:cNvSpPr>
          <p:nvPr/>
        </p:nvSpPr>
        <p:spPr bwMode="auto">
          <a:xfrm>
            <a:off x="983432" y="1311436"/>
            <a:ext cx="6635750" cy="522288"/>
          </a:xfrm>
          <a:prstGeom prst="rect">
            <a:avLst/>
          </a:prstGeom>
          <a:noFill/>
          <a:ln w="9525">
            <a:noFill/>
            <a:miter lim="800000"/>
            <a:headEnd/>
            <a:tailEnd/>
          </a:ln>
        </p:spPr>
        <p:txBody>
          <a:bodyPr>
            <a:spAutoFit/>
          </a:bodyPr>
          <a:lstStyle/>
          <a:p>
            <a:r>
              <a:rPr lang="zh-CN" altLang="en-US" sz="2800" b="1" dirty="0">
                <a:solidFill>
                  <a:srgbClr val="FF0000"/>
                </a:solidFill>
              </a:rPr>
              <a:t>二、表面微观结构代（符）号及其注法</a:t>
            </a:r>
          </a:p>
        </p:txBody>
      </p:sp>
      <p:sp>
        <p:nvSpPr>
          <p:cNvPr id="6" name="Text Box 2">
            <a:extLst>
              <a:ext uri="{FF2B5EF4-FFF2-40B4-BE49-F238E27FC236}">
                <a16:creationId xmlns:a16="http://schemas.microsoft.com/office/drawing/2014/main" xmlns="" id="{F2E83625-D27A-452A-9A6A-44FF07D26BF1}"/>
              </a:ext>
            </a:extLst>
          </p:cNvPr>
          <p:cNvSpPr txBox="1">
            <a:spLocks noChangeArrowheads="1"/>
          </p:cNvSpPr>
          <p:nvPr/>
        </p:nvSpPr>
        <p:spPr bwMode="auto">
          <a:xfrm>
            <a:off x="3062722" y="266862"/>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pic>
        <p:nvPicPr>
          <p:cNvPr id="7" name="图片 6">
            <a:extLst>
              <a:ext uri="{FF2B5EF4-FFF2-40B4-BE49-F238E27FC236}">
                <a16:creationId xmlns:a16="http://schemas.microsoft.com/office/drawing/2014/main" xmlns="" id="{D52ACC98-D471-4458-8088-121D4E2EA97E}"/>
              </a:ext>
            </a:extLst>
          </p:cNvPr>
          <p:cNvPicPr>
            <a:picLocks noChangeAspect="1"/>
          </p:cNvPicPr>
          <p:nvPr/>
        </p:nvPicPr>
        <p:blipFill>
          <a:blip r:embed="rId3"/>
          <a:srcRect/>
          <a:stretch>
            <a:fillRect/>
          </a:stretch>
        </p:blipFill>
        <p:spPr bwMode="auto">
          <a:xfrm>
            <a:off x="1696603" y="2465757"/>
            <a:ext cx="6111875" cy="1720850"/>
          </a:xfrm>
          <a:prstGeom prst="rect">
            <a:avLst/>
          </a:prstGeom>
          <a:noFill/>
          <a:ln w="9525">
            <a:noFill/>
            <a:miter lim="800000"/>
            <a:headEnd/>
            <a:tailEnd/>
          </a:ln>
        </p:spPr>
      </p:pic>
      <p:sp>
        <p:nvSpPr>
          <p:cNvPr id="8" name="Text Box 1041">
            <a:extLst>
              <a:ext uri="{FF2B5EF4-FFF2-40B4-BE49-F238E27FC236}">
                <a16:creationId xmlns:a16="http://schemas.microsoft.com/office/drawing/2014/main" xmlns="" id="{7145C2D0-378E-4264-8510-5D4217472459}"/>
              </a:ext>
            </a:extLst>
          </p:cNvPr>
          <p:cNvSpPr txBox="1">
            <a:spLocks noChangeArrowheads="1"/>
          </p:cNvSpPr>
          <p:nvPr/>
        </p:nvSpPr>
        <p:spPr bwMode="auto">
          <a:xfrm>
            <a:off x="8220236" y="2623859"/>
            <a:ext cx="1836204" cy="1200329"/>
          </a:xfrm>
          <a:prstGeom prst="rect">
            <a:avLst/>
          </a:prstGeom>
          <a:noFill/>
          <a:ln w="12700">
            <a:noFill/>
            <a:miter lim="800000"/>
            <a:headEnd type="none" w="sm" len="lg"/>
            <a:tailEnd type="none" w="sm" len="lg"/>
          </a:ln>
        </p:spPr>
        <p:txBody>
          <a:bodyPr wrap="square" anchor="ctr">
            <a:spAutoFit/>
          </a:bodyPr>
          <a:lstStyle/>
          <a:p>
            <a:r>
              <a:rPr lang="en-US" altLang="zh-CN" sz="2400" i="1" dirty="0">
                <a:solidFill>
                  <a:schemeClr val="tx2"/>
                </a:solidFill>
                <a:latin typeface="ISOCPEUR" pitchFamily="34" charset="0"/>
                <a:ea typeface="宋体" pitchFamily="2" charset="-122"/>
              </a:rPr>
              <a:t>H</a:t>
            </a:r>
            <a:r>
              <a:rPr lang="en-US" altLang="zh-CN" sz="2400" i="1" baseline="-25000" dirty="0">
                <a:solidFill>
                  <a:schemeClr val="tx2"/>
                </a:solidFill>
                <a:latin typeface="ISOCPEUR" pitchFamily="34" charset="0"/>
                <a:ea typeface="宋体" pitchFamily="2" charset="-122"/>
              </a:rPr>
              <a:t>1 </a:t>
            </a:r>
            <a:r>
              <a:rPr lang="en-US" altLang="zh-CN" sz="2400" dirty="0">
                <a:solidFill>
                  <a:schemeClr val="tx2"/>
                </a:solidFill>
                <a:latin typeface="ISOCPEUR" pitchFamily="34" charset="0"/>
                <a:ea typeface="宋体" pitchFamily="2" charset="-122"/>
              </a:rPr>
              <a:t>≈</a:t>
            </a:r>
            <a:r>
              <a:rPr lang="en-US" altLang="zh-CN" sz="2400" i="1" dirty="0">
                <a:solidFill>
                  <a:schemeClr val="tx2"/>
                </a:solidFill>
                <a:latin typeface="ISOCPEUR" pitchFamily="34" charset="0"/>
                <a:ea typeface="宋体" pitchFamily="2" charset="-122"/>
              </a:rPr>
              <a:t>1.4h</a:t>
            </a:r>
          </a:p>
          <a:p>
            <a:r>
              <a:rPr lang="en-US" altLang="zh-CN" sz="2400" i="1" dirty="0">
                <a:solidFill>
                  <a:schemeClr val="tx2"/>
                </a:solidFill>
                <a:latin typeface="ISOCPEUR" pitchFamily="34" charset="0"/>
                <a:ea typeface="宋体" pitchFamily="2" charset="-122"/>
              </a:rPr>
              <a:t>H</a:t>
            </a:r>
            <a:r>
              <a:rPr lang="en-US" altLang="zh-CN" sz="2400" i="1" baseline="-25000" dirty="0">
                <a:solidFill>
                  <a:schemeClr val="tx2"/>
                </a:solidFill>
                <a:latin typeface="ISOCPEUR" pitchFamily="34" charset="0"/>
                <a:ea typeface="宋体" pitchFamily="2" charset="-122"/>
              </a:rPr>
              <a:t>2</a:t>
            </a:r>
            <a:r>
              <a:rPr lang="en-US" altLang="zh-CN" sz="2400" dirty="0">
                <a:solidFill>
                  <a:schemeClr val="tx2"/>
                </a:solidFill>
                <a:latin typeface="ISOCPEUR" pitchFamily="34" charset="0"/>
                <a:ea typeface="宋体" pitchFamily="2" charset="-122"/>
              </a:rPr>
              <a:t>=</a:t>
            </a:r>
            <a:r>
              <a:rPr lang="en-US" altLang="zh-CN" sz="2400" i="1" dirty="0">
                <a:solidFill>
                  <a:schemeClr val="tx2"/>
                </a:solidFill>
                <a:latin typeface="ISOCPEUR" pitchFamily="34" charset="0"/>
                <a:ea typeface="宋体" pitchFamily="2" charset="-122"/>
              </a:rPr>
              <a:t>2 H</a:t>
            </a:r>
            <a:r>
              <a:rPr lang="en-US" altLang="zh-CN" sz="2400" i="1" baseline="-25000" dirty="0">
                <a:solidFill>
                  <a:schemeClr val="tx2"/>
                </a:solidFill>
                <a:latin typeface="ISOCPEUR" pitchFamily="34" charset="0"/>
                <a:ea typeface="宋体" pitchFamily="2" charset="-122"/>
              </a:rPr>
              <a:t>1</a:t>
            </a:r>
          </a:p>
          <a:p>
            <a:r>
              <a:rPr lang="en-US" altLang="zh-CN" sz="2400" i="1" dirty="0">
                <a:solidFill>
                  <a:schemeClr val="tx2"/>
                </a:solidFill>
                <a:latin typeface="ISOCPEUR" pitchFamily="34" charset="0"/>
                <a:ea typeface="宋体" pitchFamily="2" charset="-122"/>
              </a:rPr>
              <a:t>h</a:t>
            </a:r>
            <a:r>
              <a:rPr lang="en-US" altLang="zh-CN" sz="2400" dirty="0">
                <a:solidFill>
                  <a:schemeClr val="tx2"/>
                </a:solidFill>
                <a:latin typeface="Times New Roman" pitchFamily="18" charset="0"/>
                <a:ea typeface="宋体" pitchFamily="2" charset="-122"/>
              </a:rPr>
              <a:t> —— </a:t>
            </a:r>
            <a:r>
              <a:rPr lang="zh-CN" altLang="en-US" sz="2400" dirty="0">
                <a:solidFill>
                  <a:schemeClr val="tx2"/>
                </a:solidFill>
                <a:latin typeface="Times New Roman" pitchFamily="18" charset="0"/>
                <a:ea typeface="宋体" pitchFamily="2" charset="-122"/>
              </a:rPr>
              <a:t>字高</a:t>
            </a:r>
            <a:endParaRPr lang="zh-CN" altLang="en-US" sz="2400" baseline="-25000" dirty="0">
              <a:solidFill>
                <a:schemeClr val="tx2"/>
              </a:solidFill>
              <a:latin typeface="Times New Roman" pitchFamily="18" charset="0"/>
              <a:ea typeface="宋体" pitchFamily="2" charset="-122"/>
            </a:endParaRPr>
          </a:p>
        </p:txBody>
      </p:sp>
    </p:spTree>
    <p:extLst>
      <p:ext uri="{BB962C8B-B14F-4D97-AF65-F5344CB8AC3E}">
        <p14:creationId xmlns:p14="http://schemas.microsoft.com/office/powerpoint/2010/main" val="40944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p:tgtEl>
                                          <p:spTgt spid="7"/>
                                        </p:tgtEl>
                                        <p:attrNameLst>
                                          <p:attrName>ppt_x</p:attrName>
                                        </p:attrNameLst>
                                      </p:cBhvr>
                                      <p:tavLst>
                                        <p:tav tm="0">
                                          <p:val>
                                            <p:strVal val="#ppt_x-#ppt_w*1.125000"/>
                                          </p:val>
                                        </p:tav>
                                        <p:tav tm="100000">
                                          <p:val>
                                            <p:strVal val="#ppt_x"/>
                                          </p:val>
                                        </p:tav>
                                      </p:tavLst>
                                    </p:anim>
                                    <p:animEffect transition="in" filter="wipe(righ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C2D11E93-2F7C-4B6B-AD42-8E3FE77019C7}"/>
              </a:ext>
            </a:extLst>
          </p:cNvPr>
          <p:cNvSpPr txBox="1">
            <a:spLocks noChangeArrowheads="1"/>
          </p:cNvSpPr>
          <p:nvPr/>
        </p:nvSpPr>
        <p:spPr>
          <a:xfrm>
            <a:off x="4716833" y="3284984"/>
            <a:ext cx="6635751" cy="3016240"/>
          </a:xfrm>
          <a:prstGeom prst="rect">
            <a:avLst/>
          </a:prstGeom>
        </p:spPr>
        <p:txBody>
          <a:bodyPr rtlCol="0">
            <a:no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609600" eaLnBrk="1" fontAlgn="auto" hangingPunct="1">
              <a:lnSpc>
                <a:spcPct val="160000"/>
              </a:lnSpc>
              <a:spcBef>
                <a:spcPts val="0"/>
              </a:spcBef>
              <a:spcAft>
                <a:spcPts val="0"/>
              </a:spcAft>
              <a:buFont typeface="Wingdings 2"/>
              <a:buNone/>
              <a:defRPr/>
            </a:pPr>
            <a:r>
              <a:rPr lang="zh-CN" altLang="en-US" sz="2400" b="1" dirty="0">
                <a:solidFill>
                  <a:srgbClr val="FF0000"/>
                </a:solidFill>
                <a:latin typeface="宋体" pitchFamily="2" charset="-122"/>
              </a:rPr>
              <a:t>位置</a:t>
            </a:r>
            <a:r>
              <a:rPr lang="en-US" altLang="zh-CN" sz="2400" b="1" i="1" dirty="0">
                <a:solidFill>
                  <a:srgbClr val="FF0000"/>
                </a:solidFill>
                <a:latin typeface="宋体" pitchFamily="2" charset="-122"/>
              </a:rPr>
              <a:t>a</a:t>
            </a:r>
            <a:r>
              <a:rPr lang="zh-CN" altLang="en-US" sz="2400" b="1" dirty="0">
                <a:solidFill>
                  <a:srgbClr val="FF0000"/>
                </a:solidFill>
                <a:latin typeface="宋体" pitchFamily="2" charset="-122"/>
              </a:rPr>
              <a:t>：</a:t>
            </a:r>
            <a:r>
              <a:rPr lang="zh-CN" altLang="en-US" sz="2400" b="1" dirty="0">
                <a:latin typeface="宋体" pitchFamily="2" charset="-122"/>
              </a:rPr>
              <a:t>注写表面结构的单一要求</a:t>
            </a:r>
            <a:r>
              <a:rPr lang="zh-CN" altLang="en-US" sz="2400" dirty="0"/>
              <a:t> </a:t>
            </a:r>
          </a:p>
          <a:p>
            <a:pPr indent="-609600" eaLnBrk="1" fontAlgn="auto" hangingPunct="1">
              <a:lnSpc>
                <a:spcPct val="160000"/>
              </a:lnSpc>
              <a:spcBef>
                <a:spcPts val="0"/>
              </a:spcBef>
              <a:spcAft>
                <a:spcPts val="0"/>
              </a:spcAft>
              <a:buFont typeface="Wingdings 2"/>
              <a:buNone/>
              <a:defRPr/>
            </a:pPr>
            <a:r>
              <a:rPr lang="zh-CN" altLang="en-US" sz="2400" b="1" dirty="0">
                <a:solidFill>
                  <a:srgbClr val="FF0000"/>
                </a:solidFill>
              </a:rPr>
              <a:t>位置</a:t>
            </a:r>
            <a:r>
              <a:rPr lang="en-US" altLang="zh-CN" sz="2400" b="1" i="1" dirty="0">
                <a:solidFill>
                  <a:srgbClr val="FF0000"/>
                </a:solidFill>
              </a:rPr>
              <a:t>a</a:t>
            </a:r>
            <a:r>
              <a:rPr lang="zh-CN" altLang="en-US" sz="2400" b="1" dirty="0">
                <a:solidFill>
                  <a:srgbClr val="FF0000"/>
                </a:solidFill>
              </a:rPr>
              <a:t>和</a:t>
            </a:r>
            <a:r>
              <a:rPr lang="en-US" altLang="zh-CN" sz="2400" b="1" i="1" dirty="0">
                <a:solidFill>
                  <a:srgbClr val="FF0000"/>
                </a:solidFill>
              </a:rPr>
              <a:t>b</a:t>
            </a:r>
            <a:r>
              <a:rPr lang="zh-CN" altLang="en-US" sz="2400" b="1" dirty="0">
                <a:solidFill>
                  <a:srgbClr val="FF0000"/>
                </a:solidFill>
              </a:rPr>
              <a:t>：</a:t>
            </a:r>
            <a:r>
              <a:rPr lang="zh-CN" altLang="en-US" sz="2400" b="1" dirty="0"/>
              <a:t>注写两个或多个表面结构要求</a:t>
            </a:r>
            <a:endParaRPr lang="zh-CN" altLang="en-US" sz="2400" dirty="0"/>
          </a:p>
          <a:p>
            <a:pPr indent="-609600" eaLnBrk="1" fontAlgn="auto" hangingPunct="1">
              <a:lnSpc>
                <a:spcPct val="160000"/>
              </a:lnSpc>
              <a:spcBef>
                <a:spcPts val="0"/>
              </a:spcBef>
              <a:spcAft>
                <a:spcPts val="0"/>
              </a:spcAft>
              <a:buFont typeface="Wingdings 2"/>
              <a:buNone/>
              <a:defRPr/>
            </a:pPr>
            <a:r>
              <a:rPr lang="zh-CN" altLang="en-US" sz="2400" b="1" dirty="0">
                <a:solidFill>
                  <a:srgbClr val="FF0000"/>
                </a:solidFill>
              </a:rPr>
              <a:t>位置</a:t>
            </a:r>
            <a:r>
              <a:rPr lang="en-US" altLang="zh-CN" sz="2400" b="1" i="1" dirty="0">
                <a:solidFill>
                  <a:srgbClr val="FF0000"/>
                </a:solidFill>
              </a:rPr>
              <a:t>c</a:t>
            </a:r>
            <a:r>
              <a:rPr lang="zh-CN" altLang="en-US" sz="2400" b="1" dirty="0">
                <a:solidFill>
                  <a:srgbClr val="FF0000"/>
                </a:solidFill>
              </a:rPr>
              <a:t>：</a:t>
            </a:r>
            <a:r>
              <a:rPr lang="zh-CN" altLang="en-US" sz="2400" b="1" dirty="0"/>
              <a:t>注写加工方法。例如：车、磨、镀等</a:t>
            </a:r>
          </a:p>
          <a:p>
            <a:pPr eaLnBrk="1" fontAlgn="auto" hangingPunct="1">
              <a:lnSpc>
                <a:spcPct val="160000"/>
              </a:lnSpc>
              <a:spcBef>
                <a:spcPts val="0"/>
              </a:spcBef>
              <a:spcAft>
                <a:spcPts val="0"/>
              </a:spcAft>
              <a:buFont typeface="Wingdings 2"/>
              <a:buNone/>
              <a:defRPr/>
            </a:pPr>
            <a:r>
              <a:rPr lang="zh-CN" altLang="en-US" sz="2400" b="1" dirty="0">
                <a:solidFill>
                  <a:srgbClr val="FF0000"/>
                </a:solidFill>
              </a:rPr>
              <a:t>位置</a:t>
            </a:r>
            <a:r>
              <a:rPr lang="en-US" altLang="zh-CN" sz="2400" b="1" i="1" dirty="0">
                <a:solidFill>
                  <a:srgbClr val="FF0000"/>
                </a:solidFill>
              </a:rPr>
              <a:t>d</a:t>
            </a:r>
            <a:r>
              <a:rPr lang="zh-CN" altLang="en-US" sz="2400" b="1" dirty="0">
                <a:solidFill>
                  <a:srgbClr val="FF0000"/>
                </a:solidFill>
              </a:rPr>
              <a:t>：</a:t>
            </a:r>
            <a:r>
              <a:rPr lang="zh-CN" altLang="en-US" sz="2400" b="1" dirty="0"/>
              <a:t>注写表面纹理和方向。例如：“</a:t>
            </a:r>
            <a:r>
              <a:rPr lang="en-US" altLang="zh-CN" sz="2400" b="1" dirty="0"/>
              <a:t>=”</a:t>
            </a:r>
            <a:r>
              <a:rPr lang="zh-CN" altLang="en-US" sz="2400" b="1" dirty="0"/>
              <a:t>“</a:t>
            </a:r>
            <a:r>
              <a:rPr lang="en-US" altLang="zh-CN" sz="2400" b="1" dirty="0"/>
              <a:t>X”</a:t>
            </a:r>
            <a:r>
              <a:rPr lang="zh-CN" altLang="en-US" sz="2400" b="1" dirty="0"/>
              <a:t>，</a:t>
            </a:r>
            <a:endParaRPr lang="en-US" altLang="zh-CN" sz="2400" b="1" dirty="0"/>
          </a:p>
          <a:p>
            <a:pPr eaLnBrk="1" fontAlgn="auto" hangingPunct="1">
              <a:lnSpc>
                <a:spcPct val="160000"/>
              </a:lnSpc>
              <a:spcBef>
                <a:spcPts val="0"/>
              </a:spcBef>
              <a:spcAft>
                <a:spcPts val="0"/>
              </a:spcAft>
              <a:buFont typeface="Wingdings 2"/>
              <a:buNone/>
              <a:defRPr/>
            </a:pPr>
            <a:r>
              <a:rPr lang="zh-CN" altLang="en-US" sz="2400" b="1" dirty="0">
                <a:solidFill>
                  <a:srgbClr val="FF0000"/>
                </a:solidFill>
              </a:rPr>
              <a:t>位置</a:t>
            </a:r>
            <a:r>
              <a:rPr lang="en-US" altLang="zh-CN" sz="2400" b="1" i="1" dirty="0">
                <a:solidFill>
                  <a:srgbClr val="FF0000"/>
                </a:solidFill>
              </a:rPr>
              <a:t>e</a:t>
            </a:r>
            <a:r>
              <a:rPr lang="zh-CN" altLang="en-US" sz="2400" b="1" dirty="0">
                <a:solidFill>
                  <a:srgbClr val="FF0000"/>
                </a:solidFill>
              </a:rPr>
              <a:t>：</a:t>
            </a:r>
            <a:r>
              <a:rPr lang="zh-CN" altLang="en-US" sz="2400" b="1" dirty="0"/>
              <a:t>注写加工余量，以毫米为单位给出数值</a:t>
            </a:r>
            <a:r>
              <a:rPr lang="zh-CN" altLang="en-US" sz="2400" dirty="0"/>
              <a:t> </a:t>
            </a:r>
            <a:endParaRPr lang="zh-CN" altLang="en-US" sz="2400" b="1" dirty="0"/>
          </a:p>
        </p:txBody>
      </p:sp>
      <p:sp>
        <p:nvSpPr>
          <p:cNvPr id="3" name="Text Box 3">
            <a:extLst>
              <a:ext uri="{FF2B5EF4-FFF2-40B4-BE49-F238E27FC236}">
                <a16:creationId xmlns:a16="http://schemas.microsoft.com/office/drawing/2014/main" xmlns="" id="{838E0936-365C-467E-8168-2EBEC0D77B71}"/>
              </a:ext>
            </a:extLst>
          </p:cNvPr>
          <p:cNvSpPr txBox="1">
            <a:spLocks noChangeArrowheads="1"/>
          </p:cNvSpPr>
          <p:nvPr/>
        </p:nvSpPr>
        <p:spPr bwMode="auto">
          <a:xfrm>
            <a:off x="1051901" y="1404727"/>
            <a:ext cx="6635750" cy="522288"/>
          </a:xfrm>
          <a:prstGeom prst="rect">
            <a:avLst/>
          </a:prstGeom>
          <a:noFill/>
          <a:ln w="9525">
            <a:noFill/>
            <a:miter lim="800000"/>
            <a:headEnd/>
            <a:tailEnd/>
          </a:ln>
        </p:spPr>
        <p:txBody>
          <a:bodyPr>
            <a:spAutoFit/>
          </a:bodyPr>
          <a:lstStyle/>
          <a:p>
            <a:r>
              <a:rPr lang="zh-CN" altLang="en-US" sz="2800" b="1" dirty="0">
                <a:solidFill>
                  <a:srgbClr val="FF0000"/>
                </a:solidFill>
              </a:rPr>
              <a:t>二、表面微观结构代（符）号及其注法</a:t>
            </a:r>
          </a:p>
        </p:txBody>
      </p:sp>
      <p:sp>
        <p:nvSpPr>
          <p:cNvPr id="4" name="Text Box 2">
            <a:extLst>
              <a:ext uri="{FF2B5EF4-FFF2-40B4-BE49-F238E27FC236}">
                <a16:creationId xmlns:a16="http://schemas.microsoft.com/office/drawing/2014/main" xmlns="" id="{C153BF01-78C6-4FB1-9181-B89942099895}"/>
              </a:ext>
            </a:extLst>
          </p:cNvPr>
          <p:cNvSpPr txBox="1">
            <a:spLocks noChangeArrowheads="1"/>
          </p:cNvSpPr>
          <p:nvPr/>
        </p:nvSpPr>
        <p:spPr bwMode="auto">
          <a:xfrm>
            <a:off x="2927648" y="296652"/>
            <a:ext cx="5816600" cy="584775"/>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5" name="矩形 4">
            <a:extLst>
              <a:ext uri="{FF2B5EF4-FFF2-40B4-BE49-F238E27FC236}">
                <a16:creationId xmlns:a16="http://schemas.microsoft.com/office/drawing/2014/main" xmlns="" id="{CAC5BF60-A9E7-4FAA-8C29-228F9180FE04}"/>
              </a:ext>
            </a:extLst>
          </p:cNvPr>
          <p:cNvSpPr/>
          <p:nvPr/>
        </p:nvSpPr>
        <p:spPr>
          <a:xfrm>
            <a:off x="1415480" y="2169740"/>
            <a:ext cx="6272171" cy="523220"/>
          </a:xfrm>
          <a:prstGeom prst="rect">
            <a:avLst/>
          </a:prstGeom>
        </p:spPr>
        <p:txBody>
          <a:bodyPr wrap="square">
            <a:spAutoFit/>
          </a:bodyPr>
          <a:lstStyle/>
          <a:p>
            <a:pPr algn="just">
              <a:spcAft>
                <a:spcPts val="0"/>
              </a:spcAft>
              <a:defRPr/>
            </a:pPr>
            <a:r>
              <a:rPr lang="zh-CN" altLang="zh-CN" sz="2800" b="1" kern="100" dirty="0"/>
              <a:t>（</a:t>
            </a:r>
            <a:r>
              <a:rPr lang="en-US" altLang="zh-CN" sz="2800" b="1" kern="100" dirty="0"/>
              <a:t>2</a:t>
            </a:r>
            <a:r>
              <a:rPr lang="zh-CN" altLang="zh-CN" sz="2800" b="1" kern="100" dirty="0"/>
              <a:t>）表面结构完整图形符号的组成</a:t>
            </a:r>
          </a:p>
        </p:txBody>
      </p:sp>
      <p:pic>
        <p:nvPicPr>
          <p:cNvPr id="6" name="图片 2">
            <a:extLst>
              <a:ext uri="{FF2B5EF4-FFF2-40B4-BE49-F238E27FC236}">
                <a16:creationId xmlns:a16="http://schemas.microsoft.com/office/drawing/2014/main" xmlns="" id="{A8DE74A2-7836-4736-8E62-3A538E9A332D}"/>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839416" y="2698603"/>
            <a:ext cx="3949891" cy="2232248"/>
          </a:xfrm>
          <a:prstGeom prst="rect">
            <a:avLst/>
          </a:prstGeom>
          <a:noFill/>
          <a:ln w="9525">
            <a:noFill/>
            <a:miter lim="800000"/>
            <a:headEnd/>
            <a:tailEnd/>
          </a:ln>
        </p:spPr>
      </p:pic>
    </p:spTree>
    <p:extLst>
      <p:ext uri="{BB962C8B-B14F-4D97-AF65-F5344CB8AC3E}">
        <p14:creationId xmlns:p14="http://schemas.microsoft.com/office/powerpoint/2010/main" val="242026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xmlns="" id="{562ECBA1-D84A-47AB-9A06-BFA498813824}"/>
              </a:ext>
            </a:extLst>
          </p:cNvPr>
          <p:cNvPicPr>
            <a:picLocks noChangeAspect="1"/>
          </p:cNvPicPr>
          <p:nvPr/>
        </p:nvPicPr>
        <p:blipFill rotWithShape="1">
          <a:blip r:embed="rId2"/>
          <a:srcRect r="63527"/>
          <a:stretch/>
        </p:blipFill>
        <p:spPr bwMode="auto">
          <a:xfrm>
            <a:off x="2198615" y="2052625"/>
            <a:ext cx="2889274" cy="4792663"/>
          </a:xfrm>
          <a:prstGeom prst="rect">
            <a:avLst/>
          </a:prstGeom>
          <a:noFill/>
          <a:ln w="9525">
            <a:noFill/>
            <a:miter lim="800000"/>
            <a:headEnd/>
            <a:tailEnd/>
          </a:ln>
        </p:spPr>
      </p:pic>
      <p:sp>
        <p:nvSpPr>
          <p:cNvPr id="3" name="Text Box 3">
            <a:extLst>
              <a:ext uri="{FF2B5EF4-FFF2-40B4-BE49-F238E27FC236}">
                <a16:creationId xmlns:a16="http://schemas.microsoft.com/office/drawing/2014/main" xmlns="" id="{4A3AC64C-6D08-438A-B66D-DF5E04EC49C2}"/>
              </a:ext>
            </a:extLst>
          </p:cNvPr>
          <p:cNvSpPr txBox="1">
            <a:spLocks noChangeArrowheads="1"/>
          </p:cNvSpPr>
          <p:nvPr/>
        </p:nvSpPr>
        <p:spPr bwMode="auto">
          <a:xfrm>
            <a:off x="1131813" y="938188"/>
            <a:ext cx="6635750" cy="522288"/>
          </a:xfrm>
          <a:prstGeom prst="rect">
            <a:avLst/>
          </a:prstGeom>
          <a:noFill/>
          <a:ln w="9525">
            <a:noFill/>
            <a:miter lim="800000"/>
            <a:headEnd/>
            <a:tailEnd/>
          </a:ln>
        </p:spPr>
        <p:txBody>
          <a:bodyPr>
            <a:spAutoFit/>
          </a:bodyPr>
          <a:lstStyle/>
          <a:p>
            <a:r>
              <a:rPr lang="zh-CN" altLang="en-US" sz="2800" b="1" dirty="0">
                <a:solidFill>
                  <a:srgbClr val="FF0000"/>
                </a:solidFill>
              </a:rPr>
              <a:t>二、表面微观结构代（符）号及其注法</a:t>
            </a:r>
          </a:p>
        </p:txBody>
      </p:sp>
      <p:sp>
        <p:nvSpPr>
          <p:cNvPr id="4" name="Text Box 2">
            <a:extLst>
              <a:ext uri="{FF2B5EF4-FFF2-40B4-BE49-F238E27FC236}">
                <a16:creationId xmlns:a16="http://schemas.microsoft.com/office/drawing/2014/main" xmlns="" id="{FE6D3E89-0AA4-4E1A-99C7-E27B058775D7}"/>
              </a:ext>
            </a:extLst>
          </p:cNvPr>
          <p:cNvSpPr txBox="1">
            <a:spLocks noChangeArrowheads="1"/>
          </p:cNvSpPr>
          <p:nvPr/>
        </p:nvSpPr>
        <p:spPr bwMode="auto">
          <a:xfrm>
            <a:off x="3098726" y="244463"/>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5" name="矩形 4">
            <a:extLst>
              <a:ext uri="{FF2B5EF4-FFF2-40B4-BE49-F238E27FC236}">
                <a16:creationId xmlns:a16="http://schemas.microsoft.com/office/drawing/2014/main" xmlns="" id="{96687C1D-0911-4B97-9593-8077FDECE1D0}"/>
              </a:ext>
            </a:extLst>
          </p:cNvPr>
          <p:cNvSpPr/>
          <p:nvPr/>
        </p:nvSpPr>
        <p:spPr>
          <a:xfrm>
            <a:off x="1271464" y="1472359"/>
            <a:ext cx="5026025" cy="461962"/>
          </a:xfrm>
          <a:prstGeom prst="rect">
            <a:avLst/>
          </a:prstGeom>
        </p:spPr>
        <p:txBody>
          <a:bodyPr>
            <a:spAutoFit/>
          </a:bodyPr>
          <a:lstStyle/>
          <a:p>
            <a:pPr algn="just">
              <a:spcAft>
                <a:spcPts val="0"/>
              </a:spcAft>
              <a:defRPr/>
            </a:pPr>
            <a:r>
              <a:rPr lang="zh-CN" altLang="zh-CN" sz="2400" b="1" kern="100" dirty="0"/>
              <a:t>（</a:t>
            </a:r>
            <a:r>
              <a:rPr lang="en-US" altLang="zh-CN" sz="2400" b="1" kern="100" dirty="0"/>
              <a:t>3</a:t>
            </a:r>
            <a:r>
              <a:rPr lang="zh-CN" altLang="zh-CN" sz="2400" b="1" kern="100" dirty="0"/>
              <a:t>）</a:t>
            </a:r>
            <a:r>
              <a:rPr lang="zh-CN" altLang="en-US" sz="2400" b="1" kern="100" dirty="0"/>
              <a:t>常见</a:t>
            </a:r>
            <a:r>
              <a:rPr lang="zh-CN" altLang="zh-CN" sz="2400" b="1" kern="100" dirty="0"/>
              <a:t>表面结构图形符号</a:t>
            </a:r>
            <a:r>
              <a:rPr lang="zh-CN" altLang="en-US" sz="2400" b="1" kern="100" dirty="0"/>
              <a:t>及含义</a:t>
            </a:r>
            <a:endParaRPr lang="zh-CN" altLang="zh-CN" sz="2400" b="1" kern="100" dirty="0"/>
          </a:p>
        </p:txBody>
      </p:sp>
      <p:pic>
        <p:nvPicPr>
          <p:cNvPr id="6" name="图片 5">
            <a:extLst>
              <a:ext uri="{FF2B5EF4-FFF2-40B4-BE49-F238E27FC236}">
                <a16:creationId xmlns:a16="http://schemas.microsoft.com/office/drawing/2014/main" xmlns="" id="{CA9C1378-2E40-4811-A8A4-1707659F3317}"/>
              </a:ext>
            </a:extLst>
          </p:cNvPr>
          <p:cNvPicPr>
            <a:picLocks noChangeAspect="1"/>
          </p:cNvPicPr>
          <p:nvPr/>
        </p:nvPicPr>
        <p:blipFill rotWithShape="1">
          <a:blip r:embed="rId2"/>
          <a:srcRect l="34550"/>
          <a:stretch/>
        </p:blipFill>
        <p:spPr bwMode="auto">
          <a:xfrm>
            <a:off x="4979876" y="2044512"/>
            <a:ext cx="5184751" cy="4792663"/>
          </a:xfrm>
          <a:prstGeom prst="rect">
            <a:avLst/>
          </a:prstGeom>
          <a:noFill/>
          <a:ln w="9525">
            <a:noFill/>
            <a:miter lim="800000"/>
            <a:headEnd/>
            <a:tailEnd/>
          </a:ln>
        </p:spPr>
      </p:pic>
    </p:spTree>
    <p:extLst>
      <p:ext uri="{BB962C8B-B14F-4D97-AF65-F5344CB8AC3E}">
        <p14:creationId xmlns:p14="http://schemas.microsoft.com/office/powerpoint/2010/main" val="29577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a:extLst>
              <a:ext uri="{FF2B5EF4-FFF2-40B4-BE49-F238E27FC236}">
                <a16:creationId xmlns:a16="http://schemas.microsoft.com/office/drawing/2014/main" xmlns="" id="{BFAA4011-7A06-4FFA-BC67-1CDA7435E45D}"/>
              </a:ext>
            </a:extLst>
          </p:cNvPr>
          <p:cNvSpPr txBox="1">
            <a:spLocks noChangeArrowheads="1"/>
          </p:cNvSpPr>
          <p:nvPr/>
        </p:nvSpPr>
        <p:spPr bwMode="auto">
          <a:xfrm>
            <a:off x="1091444" y="1301539"/>
            <a:ext cx="6116637" cy="523875"/>
          </a:xfrm>
          <a:prstGeom prst="rect">
            <a:avLst/>
          </a:prstGeom>
          <a:noFill/>
          <a:ln w="9525">
            <a:noFill/>
            <a:miter lim="800000"/>
            <a:headEnd/>
            <a:tailEnd/>
          </a:ln>
        </p:spPr>
        <p:txBody>
          <a:bodyPr>
            <a:spAutoFit/>
          </a:bodyPr>
          <a:lstStyle/>
          <a:p>
            <a:r>
              <a:rPr lang="zh-CN" altLang="en-US" sz="2800" b="1" dirty="0">
                <a:solidFill>
                  <a:srgbClr val="FF0000"/>
                </a:solidFill>
              </a:rPr>
              <a:t>三、表面微观结构参数的选用</a:t>
            </a:r>
          </a:p>
        </p:txBody>
      </p:sp>
      <p:sp>
        <p:nvSpPr>
          <p:cNvPr id="14" name="Text Box 3">
            <a:extLst>
              <a:ext uri="{FF2B5EF4-FFF2-40B4-BE49-F238E27FC236}">
                <a16:creationId xmlns:a16="http://schemas.microsoft.com/office/drawing/2014/main" xmlns="" id="{E9C9CB61-459A-442A-B53A-FD6D9B215A02}"/>
              </a:ext>
            </a:extLst>
          </p:cNvPr>
          <p:cNvSpPr txBox="1">
            <a:spLocks noChangeArrowheads="1"/>
          </p:cNvSpPr>
          <p:nvPr/>
        </p:nvSpPr>
        <p:spPr bwMode="auto">
          <a:xfrm>
            <a:off x="5519160" y="1801759"/>
            <a:ext cx="5133975" cy="461963"/>
          </a:xfrm>
          <a:prstGeom prst="rect">
            <a:avLst/>
          </a:prstGeom>
          <a:noFill/>
          <a:ln w="9525">
            <a:noFill/>
            <a:miter lim="800000"/>
            <a:headEnd/>
            <a:tailEnd/>
          </a:ln>
        </p:spPr>
        <p:txBody>
          <a:bodyPr wrap="none">
            <a:spAutoFit/>
          </a:bodyPr>
          <a:lstStyle/>
          <a:p>
            <a:r>
              <a:rPr lang="zh-CN" altLang="en-US" sz="2400" b="1" dirty="0">
                <a:solidFill>
                  <a:schemeClr val="tx1"/>
                </a:solidFill>
                <a:latin typeface="宋体" pitchFamily="2" charset="-122"/>
                <a:ea typeface="宋体" pitchFamily="2" charset="-122"/>
              </a:rPr>
              <a:t>参照生产中的实例，用</a:t>
            </a:r>
            <a:r>
              <a:rPr lang="zh-CN" altLang="en-US" sz="2400" b="1" dirty="0">
                <a:solidFill>
                  <a:srgbClr val="FF0000"/>
                </a:solidFill>
                <a:latin typeface="宋体" pitchFamily="2" charset="-122"/>
                <a:ea typeface="宋体" pitchFamily="2" charset="-122"/>
              </a:rPr>
              <a:t>类比法</a:t>
            </a:r>
            <a:r>
              <a:rPr lang="zh-CN" altLang="en-US" sz="2400" b="1" dirty="0">
                <a:solidFill>
                  <a:schemeClr val="tx1"/>
                </a:solidFill>
                <a:latin typeface="宋体" pitchFamily="2" charset="-122"/>
                <a:ea typeface="宋体" pitchFamily="2" charset="-122"/>
              </a:rPr>
              <a:t>确定。</a:t>
            </a:r>
          </a:p>
        </p:txBody>
      </p:sp>
      <p:sp>
        <p:nvSpPr>
          <p:cNvPr id="15" name="Text Box 4">
            <a:extLst>
              <a:ext uri="{FF2B5EF4-FFF2-40B4-BE49-F238E27FC236}">
                <a16:creationId xmlns:a16="http://schemas.microsoft.com/office/drawing/2014/main" xmlns="" id="{4488FD28-B7A0-40AB-A8BF-599DDEF498C1}"/>
              </a:ext>
            </a:extLst>
          </p:cNvPr>
          <p:cNvSpPr txBox="1">
            <a:spLocks noChangeArrowheads="1"/>
          </p:cNvSpPr>
          <p:nvPr/>
        </p:nvSpPr>
        <p:spPr bwMode="auto">
          <a:xfrm>
            <a:off x="1175313" y="2255803"/>
            <a:ext cx="4826000" cy="460375"/>
          </a:xfrm>
          <a:prstGeom prst="rect">
            <a:avLst/>
          </a:prstGeom>
          <a:noFill/>
          <a:ln w="9525">
            <a:noFill/>
            <a:miter lim="800000"/>
            <a:headEnd/>
            <a:tailEnd/>
          </a:ln>
        </p:spPr>
        <p:txBody>
          <a:bodyPr wrap="none">
            <a:spAutoFit/>
          </a:bodyPr>
          <a:lstStyle/>
          <a:p>
            <a:r>
              <a:rPr lang="zh-CN" altLang="en-US" sz="2400" b="1" dirty="0">
                <a:solidFill>
                  <a:srgbClr val="0070C0"/>
                </a:solidFill>
                <a:latin typeface="宋体" pitchFamily="2" charset="-122"/>
                <a:ea typeface="宋体" pitchFamily="2" charset="-122"/>
              </a:rPr>
              <a:t>确定表面微观结构的参数的原则：</a:t>
            </a:r>
          </a:p>
        </p:txBody>
      </p:sp>
      <p:sp>
        <p:nvSpPr>
          <p:cNvPr id="16" name="Text Box 5">
            <a:extLst>
              <a:ext uri="{FF2B5EF4-FFF2-40B4-BE49-F238E27FC236}">
                <a16:creationId xmlns:a16="http://schemas.microsoft.com/office/drawing/2014/main" xmlns="" id="{333B089E-C731-4CBC-B274-4B3EB1D5B750}"/>
              </a:ext>
            </a:extLst>
          </p:cNvPr>
          <p:cNvSpPr txBox="1">
            <a:spLocks noChangeArrowheads="1"/>
          </p:cNvSpPr>
          <p:nvPr/>
        </p:nvSpPr>
        <p:spPr bwMode="auto">
          <a:xfrm>
            <a:off x="1088840" y="2702032"/>
            <a:ext cx="8829675" cy="460375"/>
          </a:xfrm>
          <a:prstGeom prst="rect">
            <a:avLst/>
          </a:prstGeom>
          <a:noFill/>
          <a:ln w="9525">
            <a:noFill/>
            <a:miter lim="800000"/>
            <a:headEnd/>
            <a:tailEnd/>
          </a:ln>
        </p:spPr>
        <p:txBody>
          <a:bodyPr>
            <a:spAutoFit/>
          </a:bodyPr>
          <a:lstStyle/>
          <a:p>
            <a:r>
              <a:rPr lang="en-US" altLang="zh-CN" sz="2400" dirty="0">
                <a:solidFill>
                  <a:schemeClr val="tx1"/>
                </a:solidFill>
                <a:latin typeface="宋体" pitchFamily="2" charset="-122"/>
                <a:ea typeface="宋体" pitchFamily="2" charset="-122"/>
              </a:rPr>
              <a:t>⒈ </a:t>
            </a:r>
            <a:r>
              <a:rPr lang="zh-CN" altLang="en-US" sz="2400" dirty="0">
                <a:solidFill>
                  <a:schemeClr val="tx1"/>
                </a:solidFill>
                <a:latin typeface="宋体" pitchFamily="2" charset="-122"/>
                <a:ea typeface="宋体" pitchFamily="2" charset="-122"/>
              </a:rPr>
              <a:t>满足表面性能要求下，应尽量</a:t>
            </a:r>
            <a:r>
              <a:rPr lang="zh-CN" altLang="en-US" sz="2400" dirty="0">
                <a:solidFill>
                  <a:srgbClr val="FF0000"/>
                </a:solidFill>
                <a:latin typeface="宋体" pitchFamily="2" charset="-122"/>
                <a:ea typeface="宋体" pitchFamily="2" charset="-122"/>
              </a:rPr>
              <a:t>选</a:t>
            </a:r>
            <a:r>
              <a:rPr lang="zh-CN" altLang="en-US" sz="2400" dirty="0">
                <a:solidFill>
                  <a:schemeClr val="tx1"/>
                </a:solidFill>
                <a:latin typeface="宋体" pitchFamily="2" charset="-122"/>
                <a:ea typeface="宋体" pitchFamily="2" charset="-122"/>
              </a:rPr>
              <a:t>用</a:t>
            </a:r>
            <a:r>
              <a:rPr lang="zh-CN" altLang="en-US" sz="2400" dirty="0">
                <a:solidFill>
                  <a:srgbClr val="FF0000"/>
                </a:solidFill>
                <a:latin typeface="宋体" pitchFamily="2" charset="-122"/>
                <a:ea typeface="宋体" pitchFamily="2" charset="-122"/>
              </a:rPr>
              <a:t>较大</a:t>
            </a:r>
            <a:r>
              <a:rPr lang="zh-CN" altLang="en-US" sz="2400" dirty="0">
                <a:solidFill>
                  <a:schemeClr val="tx1"/>
                </a:solidFill>
                <a:latin typeface="宋体" pitchFamily="2" charset="-122"/>
                <a:ea typeface="宋体" pitchFamily="2" charset="-122"/>
              </a:rPr>
              <a:t>的微观结构</a:t>
            </a:r>
            <a:r>
              <a:rPr lang="zh-CN" altLang="en-US" sz="2400" dirty="0">
                <a:solidFill>
                  <a:srgbClr val="FF0000"/>
                </a:solidFill>
                <a:latin typeface="宋体" pitchFamily="2" charset="-122"/>
                <a:ea typeface="宋体" pitchFamily="2" charset="-122"/>
              </a:rPr>
              <a:t>参数值</a:t>
            </a:r>
            <a:r>
              <a:rPr lang="zh-CN" altLang="en-US" sz="2400" dirty="0">
                <a:solidFill>
                  <a:schemeClr val="tx1"/>
                </a:solidFill>
                <a:latin typeface="宋体" pitchFamily="2" charset="-122"/>
                <a:ea typeface="宋体" pitchFamily="2" charset="-122"/>
              </a:rPr>
              <a:t>。</a:t>
            </a:r>
          </a:p>
        </p:txBody>
      </p:sp>
      <p:sp>
        <p:nvSpPr>
          <p:cNvPr id="17" name="Text Box 6">
            <a:extLst>
              <a:ext uri="{FF2B5EF4-FFF2-40B4-BE49-F238E27FC236}">
                <a16:creationId xmlns:a16="http://schemas.microsoft.com/office/drawing/2014/main" xmlns="" id="{E43E5768-F904-493B-8D0B-0806AC00A951}"/>
              </a:ext>
            </a:extLst>
          </p:cNvPr>
          <p:cNvSpPr txBox="1">
            <a:spLocks noChangeArrowheads="1"/>
          </p:cNvSpPr>
          <p:nvPr/>
        </p:nvSpPr>
        <p:spPr bwMode="auto">
          <a:xfrm>
            <a:off x="1091444" y="3192711"/>
            <a:ext cx="9494639" cy="461665"/>
          </a:xfrm>
          <a:prstGeom prst="rect">
            <a:avLst/>
          </a:prstGeom>
          <a:noFill/>
          <a:ln w="9525">
            <a:noFill/>
            <a:miter lim="800000"/>
            <a:headEnd/>
            <a:tailEnd/>
          </a:ln>
        </p:spPr>
        <p:txBody>
          <a:bodyPr wrap="square">
            <a:spAutoFit/>
          </a:bodyPr>
          <a:lstStyle/>
          <a:p>
            <a:r>
              <a:rPr lang="en-US" altLang="zh-CN" sz="2400" dirty="0">
                <a:solidFill>
                  <a:schemeClr val="tx1"/>
                </a:solidFill>
                <a:latin typeface="宋体" pitchFamily="2" charset="-122"/>
                <a:ea typeface="宋体" pitchFamily="2" charset="-122"/>
              </a:rPr>
              <a:t>⒉ </a:t>
            </a:r>
            <a:r>
              <a:rPr lang="zh-CN" altLang="en-US" sz="2400" dirty="0">
                <a:solidFill>
                  <a:srgbClr val="FF0000"/>
                </a:solidFill>
                <a:latin typeface="宋体" pitchFamily="2" charset="-122"/>
                <a:ea typeface="宋体" pitchFamily="2" charset="-122"/>
              </a:rPr>
              <a:t>工作表面的</a:t>
            </a:r>
            <a:r>
              <a:rPr lang="zh-CN" altLang="en-US" sz="2400" dirty="0">
                <a:solidFill>
                  <a:schemeClr val="tx1"/>
                </a:solidFill>
                <a:latin typeface="宋体" pitchFamily="2" charset="-122"/>
                <a:ea typeface="宋体" pitchFamily="2" charset="-122"/>
              </a:rPr>
              <a:t>微观结构参数值应</a:t>
            </a:r>
            <a:r>
              <a:rPr lang="zh-CN" altLang="en-US" sz="2400" dirty="0">
                <a:solidFill>
                  <a:srgbClr val="FF0000"/>
                </a:solidFill>
                <a:latin typeface="宋体" pitchFamily="2" charset="-122"/>
                <a:ea typeface="宋体" pitchFamily="2" charset="-122"/>
              </a:rPr>
              <a:t>小于非工作表面的</a:t>
            </a:r>
            <a:r>
              <a:rPr lang="zh-CN" altLang="en-US" sz="2400" dirty="0">
                <a:solidFill>
                  <a:schemeClr val="tx1"/>
                </a:solidFill>
                <a:latin typeface="宋体" pitchFamily="2" charset="-122"/>
                <a:ea typeface="宋体" pitchFamily="2" charset="-122"/>
              </a:rPr>
              <a:t>微观结构参数值。</a:t>
            </a:r>
          </a:p>
        </p:txBody>
      </p:sp>
      <p:sp>
        <p:nvSpPr>
          <p:cNvPr id="18" name="Text Box 7">
            <a:extLst>
              <a:ext uri="{FF2B5EF4-FFF2-40B4-BE49-F238E27FC236}">
                <a16:creationId xmlns:a16="http://schemas.microsoft.com/office/drawing/2014/main" xmlns="" id="{B1D26C5A-AF6C-4706-B245-053AFE47F83B}"/>
              </a:ext>
            </a:extLst>
          </p:cNvPr>
          <p:cNvSpPr txBox="1">
            <a:spLocks noChangeArrowheads="1"/>
          </p:cNvSpPr>
          <p:nvPr/>
        </p:nvSpPr>
        <p:spPr bwMode="auto">
          <a:xfrm>
            <a:off x="1088840" y="3762567"/>
            <a:ext cx="6511925" cy="461962"/>
          </a:xfrm>
          <a:prstGeom prst="rect">
            <a:avLst/>
          </a:prstGeom>
          <a:noFill/>
          <a:ln w="9525">
            <a:noFill/>
            <a:miter lim="800000"/>
            <a:headEnd/>
            <a:tailEnd/>
          </a:ln>
        </p:spPr>
        <p:txBody>
          <a:bodyPr>
            <a:spAutoFit/>
          </a:bodyPr>
          <a:lstStyle/>
          <a:p>
            <a:r>
              <a:rPr lang="en-US" altLang="zh-CN" sz="2400" dirty="0">
                <a:solidFill>
                  <a:schemeClr val="tx1"/>
                </a:solidFill>
                <a:latin typeface="宋体" pitchFamily="2" charset="-122"/>
                <a:ea typeface="宋体" pitchFamily="2" charset="-122"/>
              </a:rPr>
              <a:t>⒊ </a:t>
            </a:r>
            <a:r>
              <a:rPr lang="zh-CN" altLang="en-US" sz="2400" dirty="0">
                <a:solidFill>
                  <a:srgbClr val="FF0000"/>
                </a:solidFill>
                <a:latin typeface="宋体" pitchFamily="2" charset="-122"/>
                <a:ea typeface="宋体" pitchFamily="2" charset="-122"/>
              </a:rPr>
              <a:t>配合表面</a:t>
            </a:r>
            <a:r>
              <a:rPr lang="zh-CN" altLang="en-US" sz="2400" dirty="0">
                <a:solidFill>
                  <a:schemeClr val="tx1"/>
                </a:solidFill>
                <a:latin typeface="宋体" pitchFamily="2" charset="-122"/>
                <a:ea typeface="宋体" pitchFamily="2" charset="-122"/>
              </a:rPr>
              <a:t>的参数值应</a:t>
            </a:r>
            <a:r>
              <a:rPr lang="zh-CN" altLang="en-US" sz="2400" dirty="0">
                <a:solidFill>
                  <a:srgbClr val="FF0000"/>
                </a:solidFill>
                <a:latin typeface="宋体" pitchFamily="2" charset="-122"/>
                <a:ea typeface="宋体" pitchFamily="2" charset="-122"/>
              </a:rPr>
              <a:t>小于非配合表面</a:t>
            </a:r>
            <a:r>
              <a:rPr lang="zh-CN" altLang="en-US" sz="2400" dirty="0">
                <a:solidFill>
                  <a:schemeClr val="tx1"/>
                </a:solidFill>
                <a:latin typeface="宋体" pitchFamily="2" charset="-122"/>
                <a:ea typeface="宋体" pitchFamily="2" charset="-122"/>
              </a:rPr>
              <a:t>的。</a:t>
            </a:r>
          </a:p>
        </p:txBody>
      </p:sp>
      <p:sp>
        <p:nvSpPr>
          <p:cNvPr id="19" name="Text Box 8">
            <a:extLst>
              <a:ext uri="{FF2B5EF4-FFF2-40B4-BE49-F238E27FC236}">
                <a16:creationId xmlns:a16="http://schemas.microsoft.com/office/drawing/2014/main" xmlns="" id="{9C44A11B-F2A7-4727-9058-F4A8F68DF0F3}"/>
              </a:ext>
            </a:extLst>
          </p:cNvPr>
          <p:cNvSpPr txBox="1">
            <a:spLocks noChangeArrowheads="1"/>
          </p:cNvSpPr>
          <p:nvPr/>
        </p:nvSpPr>
        <p:spPr bwMode="auto">
          <a:xfrm>
            <a:off x="1072410" y="4299986"/>
            <a:ext cx="9513673" cy="831850"/>
          </a:xfrm>
          <a:prstGeom prst="rect">
            <a:avLst/>
          </a:prstGeom>
          <a:noFill/>
          <a:ln w="9525">
            <a:noFill/>
            <a:miter lim="800000"/>
            <a:headEnd/>
            <a:tailEnd/>
          </a:ln>
        </p:spPr>
        <p:txBody>
          <a:bodyPr wrap="square">
            <a:spAutoFit/>
          </a:bodyPr>
          <a:lstStyle/>
          <a:p>
            <a:r>
              <a:rPr lang="en-US" altLang="zh-CN" sz="2400" dirty="0">
                <a:solidFill>
                  <a:schemeClr val="tx1"/>
                </a:solidFill>
                <a:latin typeface="宋体" pitchFamily="2" charset="-122"/>
                <a:ea typeface="宋体" pitchFamily="2" charset="-122"/>
              </a:rPr>
              <a:t>⒋ </a:t>
            </a:r>
            <a:r>
              <a:rPr lang="zh-CN" altLang="en-US" sz="2400" dirty="0">
                <a:solidFill>
                  <a:schemeClr val="tx1"/>
                </a:solidFill>
                <a:latin typeface="宋体" pitchFamily="2" charset="-122"/>
                <a:ea typeface="宋体" pitchFamily="2" charset="-122"/>
              </a:rPr>
              <a:t>运动</a:t>
            </a:r>
            <a:r>
              <a:rPr lang="zh-CN" altLang="en-US" sz="2400" dirty="0">
                <a:solidFill>
                  <a:srgbClr val="FF0000"/>
                </a:solidFill>
                <a:latin typeface="宋体" pitchFamily="2" charset="-122"/>
                <a:ea typeface="宋体" pitchFamily="2" charset="-122"/>
              </a:rPr>
              <a:t>速度高</a:t>
            </a:r>
            <a:r>
              <a:rPr lang="zh-CN" altLang="en-US" sz="2400" dirty="0">
                <a:solidFill>
                  <a:schemeClr val="tx1"/>
                </a:solidFill>
                <a:latin typeface="宋体" pitchFamily="2" charset="-122"/>
                <a:ea typeface="宋体" pitchFamily="2" charset="-122"/>
              </a:rPr>
              <a:t>、</a:t>
            </a:r>
            <a:r>
              <a:rPr lang="zh-CN" altLang="en-US" sz="2400" dirty="0">
                <a:solidFill>
                  <a:srgbClr val="FF0000"/>
                </a:solidFill>
                <a:latin typeface="宋体" pitchFamily="2" charset="-122"/>
                <a:ea typeface="宋体" pitchFamily="2" charset="-122"/>
              </a:rPr>
              <a:t>单位压力大</a:t>
            </a:r>
            <a:r>
              <a:rPr lang="zh-CN" altLang="en-US" sz="2400" dirty="0">
                <a:solidFill>
                  <a:schemeClr val="tx1"/>
                </a:solidFill>
                <a:latin typeface="宋体" pitchFamily="2" charset="-122"/>
                <a:ea typeface="宋体" pitchFamily="2" charset="-122"/>
              </a:rPr>
              <a:t>的摩擦</a:t>
            </a:r>
            <a:r>
              <a:rPr lang="zh-CN" altLang="en-US" sz="2400" dirty="0">
                <a:solidFill>
                  <a:srgbClr val="FF0000"/>
                </a:solidFill>
                <a:latin typeface="宋体" pitchFamily="2" charset="-122"/>
                <a:ea typeface="宋体" pitchFamily="2" charset="-122"/>
              </a:rPr>
              <a:t>表面</a:t>
            </a:r>
            <a:r>
              <a:rPr lang="zh-CN" altLang="en-US" sz="2400" dirty="0">
                <a:solidFill>
                  <a:schemeClr val="tx1"/>
                </a:solidFill>
                <a:latin typeface="宋体" pitchFamily="2" charset="-122"/>
                <a:ea typeface="宋体" pitchFamily="2" charset="-122"/>
              </a:rPr>
              <a:t>的微观结构</a:t>
            </a:r>
            <a:r>
              <a:rPr lang="zh-CN" altLang="en-US" sz="2400" dirty="0">
                <a:solidFill>
                  <a:srgbClr val="FF0000"/>
                </a:solidFill>
                <a:latin typeface="宋体" pitchFamily="2" charset="-122"/>
                <a:ea typeface="宋体" pitchFamily="2" charset="-122"/>
              </a:rPr>
              <a:t>参数值</a:t>
            </a:r>
            <a:r>
              <a:rPr lang="zh-CN" altLang="en-US" sz="2400" dirty="0">
                <a:solidFill>
                  <a:schemeClr val="tx1"/>
                </a:solidFill>
                <a:latin typeface="宋体" pitchFamily="2" charset="-122"/>
                <a:ea typeface="宋体" pitchFamily="2" charset="-122"/>
              </a:rPr>
              <a:t>应</a:t>
            </a:r>
            <a:r>
              <a:rPr lang="zh-CN" altLang="en-US" sz="2400" dirty="0">
                <a:solidFill>
                  <a:srgbClr val="FF0000"/>
                </a:solidFill>
                <a:latin typeface="宋体" pitchFamily="2" charset="-122"/>
                <a:ea typeface="宋体" pitchFamily="2" charset="-122"/>
              </a:rPr>
              <a:t>小于</a:t>
            </a:r>
            <a:r>
              <a:rPr lang="zh-CN" altLang="en-US" sz="2400" dirty="0">
                <a:solidFill>
                  <a:schemeClr val="tx1"/>
                </a:solidFill>
                <a:latin typeface="宋体" pitchFamily="2" charset="-122"/>
                <a:ea typeface="宋体" pitchFamily="2" charset="-122"/>
              </a:rPr>
              <a:t>运动</a:t>
            </a:r>
            <a:endParaRPr lang="en-US" altLang="zh-CN" sz="2400" dirty="0">
              <a:solidFill>
                <a:schemeClr val="tx1"/>
              </a:solidFill>
              <a:latin typeface="宋体" pitchFamily="2" charset="-122"/>
              <a:ea typeface="宋体" pitchFamily="2" charset="-122"/>
            </a:endParaRPr>
          </a:p>
          <a:p>
            <a:r>
              <a:rPr lang="en-US" altLang="zh-CN" sz="2400" dirty="0">
                <a:latin typeface="宋体" pitchFamily="2" charset="-122"/>
                <a:ea typeface="宋体" pitchFamily="2" charset="-122"/>
              </a:rPr>
              <a:t>   </a:t>
            </a:r>
            <a:r>
              <a:rPr lang="zh-CN" altLang="en-US" sz="2400" dirty="0">
                <a:solidFill>
                  <a:schemeClr val="tx1"/>
                </a:solidFill>
                <a:latin typeface="宋体" pitchFamily="2" charset="-122"/>
                <a:ea typeface="宋体" pitchFamily="2" charset="-122"/>
              </a:rPr>
              <a:t>速度</a:t>
            </a:r>
            <a:r>
              <a:rPr lang="zh-CN" altLang="en-US" sz="2400" dirty="0">
                <a:solidFill>
                  <a:srgbClr val="FF0000"/>
                </a:solidFill>
                <a:latin typeface="宋体" pitchFamily="2" charset="-122"/>
                <a:ea typeface="宋体" pitchFamily="2" charset="-122"/>
              </a:rPr>
              <a:t>低</a:t>
            </a:r>
            <a:r>
              <a:rPr lang="zh-CN" altLang="en-US" sz="2400" dirty="0">
                <a:solidFill>
                  <a:schemeClr val="tx1"/>
                </a:solidFill>
                <a:latin typeface="宋体" pitchFamily="2" charset="-122"/>
                <a:ea typeface="宋体" pitchFamily="2" charset="-122"/>
              </a:rPr>
              <a:t>、单位压力</a:t>
            </a:r>
            <a:r>
              <a:rPr lang="zh-CN" altLang="en-US" sz="2400" dirty="0">
                <a:solidFill>
                  <a:srgbClr val="FF0000"/>
                </a:solidFill>
                <a:latin typeface="宋体" pitchFamily="2" charset="-122"/>
                <a:ea typeface="宋体" pitchFamily="2" charset="-122"/>
              </a:rPr>
              <a:t>小</a:t>
            </a:r>
            <a:r>
              <a:rPr lang="zh-CN" altLang="en-US" sz="2400" dirty="0">
                <a:solidFill>
                  <a:schemeClr val="tx1"/>
                </a:solidFill>
                <a:latin typeface="宋体" pitchFamily="2" charset="-122"/>
                <a:ea typeface="宋体" pitchFamily="2" charset="-122"/>
              </a:rPr>
              <a:t>的摩擦表面的参数值。</a:t>
            </a:r>
          </a:p>
        </p:txBody>
      </p:sp>
      <p:grpSp>
        <p:nvGrpSpPr>
          <p:cNvPr id="20" name="组合 19">
            <a:extLst>
              <a:ext uri="{FF2B5EF4-FFF2-40B4-BE49-F238E27FC236}">
                <a16:creationId xmlns:a16="http://schemas.microsoft.com/office/drawing/2014/main" xmlns="" id="{B206A8F7-6749-40E4-BD12-02A63E031837}"/>
              </a:ext>
            </a:extLst>
          </p:cNvPr>
          <p:cNvGrpSpPr/>
          <p:nvPr/>
        </p:nvGrpSpPr>
        <p:grpSpPr>
          <a:xfrm>
            <a:off x="1631505" y="5277357"/>
            <a:ext cx="9021629" cy="923330"/>
            <a:chOff x="709645" y="5282800"/>
            <a:chExt cx="4531031" cy="923330"/>
          </a:xfr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grpSpPr>
        <p:sp>
          <p:nvSpPr>
            <p:cNvPr id="21" name="Text Box 9">
              <a:extLst>
                <a:ext uri="{FF2B5EF4-FFF2-40B4-BE49-F238E27FC236}">
                  <a16:creationId xmlns:a16="http://schemas.microsoft.com/office/drawing/2014/main" xmlns="" id="{52D14BCD-0DD3-4F80-B267-17D90CE6CCAE}"/>
                </a:ext>
              </a:extLst>
            </p:cNvPr>
            <p:cNvSpPr txBox="1">
              <a:spLocks noChangeArrowheads="1"/>
            </p:cNvSpPr>
            <p:nvPr/>
          </p:nvSpPr>
          <p:spPr bwMode="auto">
            <a:xfrm>
              <a:off x="709645" y="5282800"/>
              <a:ext cx="4531030" cy="461665"/>
            </a:xfrm>
            <a:prstGeom prst="rect">
              <a:avLst/>
            </a:prstGeom>
            <a:grp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zh-CN" altLang="en-US" sz="2400" dirty="0">
                  <a:latin typeface="宋体" panose="02010600030101010101" pitchFamily="2" charset="-122"/>
                </a:rPr>
                <a:t>一般接触面</a:t>
              </a:r>
              <a:r>
                <a:rPr lang="en-US" altLang="zh-CN" sz="2400" i="1" dirty="0">
                  <a:latin typeface="宋体" panose="02010600030101010101" pitchFamily="2" charset="-122"/>
                </a:rPr>
                <a:t>Ra </a:t>
              </a:r>
              <a:r>
                <a:rPr lang="zh-CN" altLang="en-US" sz="2400" dirty="0">
                  <a:latin typeface="宋体" panose="02010600030101010101" pitchFamily="2" charset="-122"/>
                </a:rPr>
                <a:t>值取 </a:t>
              </a:r>
              <a:r>
                <a:rPr lang="en-US" altLang="zh-CN" sz="2400" dirty="0">
                  <a:latin typeface="宋体" panose="02010600030101010101" pitchFamily="2" charset="-122"/>
                </a:rPr>
                <a:t>6.3</a:t>
              </a:r>
              <a:r>
                <a:rPr lang="zh-CN" altLang="en-US" sz="2400" dirty="0">
                  <a:latin typeface="宋体" panose="02010600030101010101" pitchFamily="2" charset="-122"/>
                </a:rPr>
                <a:t>～</a:t>
              </a:r>
              <a:r>
                <a:rPr lang="en-US" altLang="zh-CN" sz="2400" dirty="0">
                  <a:latin typeface="宋体" panose="02010600030101010101" pitchFamily="2" charset="-122"/>
                </a:rPr>
                <a:t>3.2</a:t>
              </a:r>
            </a:p>
          </p:txBody>
        </p:sp>
        <p:sp>
          <p:nvSpPr>
            <p:cNvPr id="22" name="Text Box 10">
              <a:extLst>
                <a:ext uri="{FF2B5EF4-FFF2-40B4-BE49-F238E27FC236}">
                  <a16:creationId xmlns:a16="http://schemas.microsoft.com/office/drawing/2014/main" xmlns="" id="{FDA5DD26-D177-4A28-A363-9917DBCCB358}"/>
                </a:ext>
              </a:extLst>
            </p:cNvPr>
            <p:cNvSpPr txBox="1">
              <a:spLocks noChangeArrowheads="1"/>
            </p:cNvSpPr>
            <p:nvPr/>
          </p:nvSpPr>
          <p:spPr bwMode="auto">
            <a:xfrm>
              <a:off x="3047296" y="5288126"/>
              <a:ext cx="1808268" cy="461665"/>
            </a:xfrm>
            <a:prstGeom prst="rect">
              <a:avLst/>
            </a:prstGeom>
            <a:grp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zh-CN" altLang="en-US" sz="2400" dirty="0">
                  <a:latin typeface="宋体" panose="02010600030101010101" pitchFamily="2" charset="-122"/>
                </a:rPr>
                <a:t>配合面</a:t>
              </a:r>
              <a:r>
                <a:rPr lang="en-US" altLang="zh-CN" sz="2400" i="1" dirty="0">
                  <a:latin typeface="宋体" panose="02010600030101010101" pitchFamily="2" charset="-122"/>
                </a:rPr>
                <a:t>Ra</a:t>
              </a:r>
              <a:r>
                <a:rPr lang="zh-CN" altLang="en-US" sz="2400" dirty="0">
                  <a:latin typeface="宋体" panose="02010600030101010101" pitchFamily="2" charset="-122"/>
                </a:rPr>
                <a:t>值取 </a:t>
              </a:r>
              <a:r>
                <a:rPr lang="en-US" altLang="zh-CN" sz="2400" dirty="0">
                  <a:latin typeface="宋体" panose="02010600030101010101" pitchFamily="2" charset="-122"/>
                </a:rPr>
                <a:t>0.8</a:t>
              </a:r>
              <a:r>
                <a:rPr lang="zh-CN" altLang="en-US" sz="2400" dirty="0">
                  <a:latin typeface="宋体" panose="02010600030101010101" pitchFamily="2" charset="-122"/>
                </a:rPr>
                <a:t>～</a:t>
              </a:r>
              <a:r>
                <a:rPr lang="en-US" altLang="zh-CN" sz="2400" dirty="0">
                  <a:latin typeface="宋体" panose="02010600030101010101" pitchFamily="2" charset="-122"/>
                </a:rPr>
                <a:t>1.6</a:t>
              </a:r>
            </a:p>
          </p:txBody>
        </p:sp>
        <p:sp>
          <p:nvSpPr>
            <p:cNvPr id="23" name="Text Box 11">
              <a:extLst>
                <a:ext uri="{FF2B5EF4-FFF2-40B4-BE49-F238E27FC236}">
                  <a16:creationId xmlns:a16="http://schemas.microsoft.com/office/drawing/2014/main" xmlns="" id="{08240140-8877-4D05-B141-392B53B0DC8E}"/>
                </a:ext>
              </a:extLst>
            </p:cNvPr>
            <p:cNvSpPr txBox="1">
              <a:spLocks noChangeArrowheads="1"/>
            </p:cNvSpPr>
            <p:nvPr/>
          </p:nvSpPr>
          <p:spPr bwMode="auto">
            <a:xfrm>
              <a:off x="709645" y="5744465"/>
              <a:ext cx="4531031" cy="461665"/>
            </a:xfrm>
            <a:prstGeom prst="rect">
              <a:avLst/>
            </a:prstGeom>
            <a:grp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zh-CN" altLang="en-US" sz="2400" dirty="0">
                  <a:latin typeface="宋体" panose="02010600030101010101" pitchFamily="2" charset="-122"/>
                </a:rPr>
                <a:t>钻孔表面</a:t>
              </a:r>
              <a:r>
                <a:rPr lang="en-US" altLang="zh-CN" sz="2400" i="1" dirty="0">
                  <a:latin typeface="宋体" panose="02010600030101010101" pitchFamily="2" charset="-122"/>
                </a:rPr>
                <a:t>Ra</a:t>
              </a:r>
              <a:r>
                <a:rPr lang="zh-CN" altLang="en-US" sz="2400" dirty="0">
                  <a:latin typeface="宋体" panose="02010600030101010101" pitchFamily="2" charset="-122"/>
                </a:rPr>
                <a:t>值取 </a:t>
              </a:r>
              <a:r>
                <a:rPr lang="en-US" altLang="zh-CN" sz="2400" dirty="0">
                  <a:latin typeface="宋体" panose="02010600030101010101" pitchFamily="2" charset="-122"/>
                </a:rPr>
                <a:t>12.5</a:t>
              </a:r>
            </a:p>
          </p:txBody>
        </p:sp>
      </p:grpSp>
      <p:sp>
        <p:nvSpPr>
          <p:cNvPr id="24" name="Text Box 2">
            <a:extLst>
              <a:ext uri="{FF2B5EF4-FFF2-40B4-BE49-F238E27FC236}">
                <a16:creationId xmlns:a16="http://schemas.microsoft.com/office/drawing/2014/main" xmlns="" id="{E6BA03FE-34B1-42B5-8A44-699409559535}"/>
              </a:ext>
            </a:extLst>
          </p:cNvPr>
          <p:cNvSpPr txBox="1">
            <a:spLocks noChangeArrowheads="1"/>
          </p:cNvSpPr>
          <p:nvPr/>
        </p:nvSpPr>
        <p:spPr bwMode="auto">
          <a:xfrm>
            <a:off x="3187700" y="296652"/>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Tree>
    <p:extLst>
      <p:ext uri="{BB962C8B-B14F-4D97-AF65-F5344CB8AC3E}">
        <p14:creationId xmlns:p14="http://schemas.microsoft.com/office/powerpoint/2010/main" val="382182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up)">
                                      <p:cBhvr>
                                        <p:cTn id="7" dur="75"/>
                                        <p:tgtEl>
                                          <p:spTgt spid="1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75"/>
                                        <p:tgtEl>
                                          <p:spTgt spid="15"/>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P spid="15" grpId="0" autoUpdateAnimBg="0"/>
      <p:bldP spid="16" grpId="0" autoUpdateAnimBg="0"/>
      <p:bldP spid="17" grpId="0" autoUpdateAnimBg="0"/>
      <p:bldP spid="18" grpId="0" autoUpdateAnimBg="0"/>
      <p:bldP spid="1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xmlns="" id="{E1107A39-B98C-42CB-9178-91B50B7C618D}"/>
              </a:ext>
            </a:extLst>
          </p:cNvPr>
          <p:cNvSpPr txBox="1">
            <a:spLocks noChangeArrowheads="1"/>
          </p:cNvSpPr>
          <p:nvPr/>
        </p:nvSpPr>
        <p:spPr bwMode="auto">
          <a:xfrm>
            <a:off x="983432" y="1347207"/>
            <a:ext cx="6116637" cy="523875"/>
          </a:xfrm>
          <a:prstGeom prst="rect">
            <a:avLst/>
          </a:prstGeom>
          <a:noFill/>
          <a:ln w="9525">
            <a:noFill/>
            <a:miter lim="800000"/>
            <a:headEnd/>
            <a:tailEnd/>
          </a:ln>
        </p:spPr>
        <p:txBody>
          <a:bodyPr>
            <a:spAutoFit/>
          </a:bodyPr>
          <a:lstStyle/>
          <a:p>
            <a:r>
              <a:rPr lang="zh-CN" altLang="en-US" sz="2800" b="1" dirty="0">
                <a:solidFill>
                  <a:srgbClr val="FF0000"/>
                </a:solidFill>
              </a:rPr>
              <a:t>三、表面微观结构参数的选用</a:t>
            </a:r>
          </a:p>
        </p:txBody>
      </p:sp>
      <p:sp>
        <p:nvSpPr>
          <p:cNvPr id="3" name="Text Box 2">
            <a:extLst>
              <a:ext uri="{FF2B5EF4-FFF2-40B4-BE49-F238E27FC236}">
                <a16:creationId xmlns:a16="http://schemas.microsoft.com/office/drawing/2014/main" xmlns="" id="{6B9206F0-B335-4929-B45D-D9FAE2499BEA}"/>
              </a:ext>
            </a:extLst>
          </p:cNvPr>
          <p:cNvSpPr txBox="1">
            <a:spLocks noChangeArrowheads="1"/>
          </p:cNvSpPr>
          <p:nvPr/>
        </p:nvSpPr>
        <p:spPr bwMode="auto">
          <a:xfrm>
            <a:off x="3187700" y="311363"/>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pic>
        <p:nvPicPr>
          <p:cNvPr id="4" name="图片 3">
            <a:extLst>
              <a:ext uri="{FF2B5EF4-FFF2-40B4-BE49-F238E27FC236}">
                <a16:creationId xmlns:a16="http://schemas.microsoft.com/office/drawing/2014/main" xmlns="" id="{EDD7059D-3C50-4096-A734-CDC6E7D4B344}"/>
              </a:ext>
            </a:extLst>
          </p:cNvPr>
          <p:cNvPicPr>
            <a:picLocks noChangeAspect="1"/>
          </p:cNvPicPr>
          <p:nvPr/>
        </p:nvPicPr>
        <p:blipFill>
          <a:blip r:embed="rId2"/>
          <a:srcRect/>
          <a:stretch>
            <a:fillRect/>
          </a:stretch>
        </p:blipFill>
        <p:spPr bwMode="auto">
          <a:xfrm>
            <a:off x="2110581" y="1871081"/>
            <a:ext cx="8917967" cy="4944335"/>
          </a:xfrm>
          <a:prstGeom prst="rect">
            <a:avLst/>
          </a:prstGeom>
          <a:noFill/>
          <a:ln w="9525">
            <a:noFill/>
            <a:miter lim="800000"/>
            <a:headEnd/>
            <a:tailEnd/>
          </a:ln>
        </p:spPr>
      </p:pic>
      <p:sp>
        <p:nvSpPr>
          <p:cNvPr id="5" name="矩形 4">
            <a:extLst>
              <a:ext uri="{FF2B5EF4-FFF2-40B4-BE49-F238E27FC236}">
                <a16:creationId xmlns:a16="http://schemas.microsoft.com/office/drawing/2014/main" xmlns="" id="{8E6D807A-F0AD-462E-9B80-0F6FDD80F253}"/>
              </a:ext>
            </a:extLst>
          </p:cNvPr>
          <p:cNvSpPr/>
          <p:nvPr/>
        </p:nvSpPr>
        <p:spPr>
          <a:xfrm>
            <a:off x="1163452" y="2194621"/>
            <a:ext cx="821854" cy="4154984"/>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spPr>
        <p:txBody>
          <a:bodyPr wrap="square">
            <a:spAutoFit/>
          </a:bodyPr>
          <a:lstStyle/>
          <a:p>
            <a:pPr>
              <a:defRPr/>
            </a:pPr>
            <a:r>
              <a:rPr lang="zh-CN" altLang="zh-CN" sz="2400" b="0" kern="100" dirty="0">
                <a:solidFill>
                  <a:schemeClr val="tx1"/>
                </a:solidFill>
                <a:cs typeface="Times New Roman" panose="02020603050405020304" pitchFamily="18" charset="0"/>
              </a:rPr>
              <a:t>常用</a:t>
            </a:r>
            <a:r>
              <a:rPr lang="en-US" altLang="zh-CN" sz="2400" b="0" i="1" kern="100" dirty="0">
                <a:solidFill>
                  <a:schemeClr val="tx1"/>
                </a:solidFill>
                <a:cs typeface="Times New Roman" panose="02020603050405020304" pitchFamily="18" charset="0"/>
              </a:rPr>
              <a:t>Ra</a:t>
            </a:r>
            <a:r>
              <a:rPr lang="zh-CN" altLang="zh-CN" sz="2400" b="0" kern="100" dirty="0">
                <a:solidFill>
                  <a:schemeClr val="tx1"/>
                </a:solidFill>
                <a:cs typeface="Times New Roman" panose="02020603050405020304" pitchFamily="18" charset="0"/>
              </a:rPr>
              <a:t>数值对应零件表面情况及相应加工方法</a:t>
            </a:r>
            <a:endParaRPr lang="zh-CN" altLang="en-US" sz="2400" b="0" dirty="0">
              <a:solidFill>
                <a:schemeClr val="tx1"/>
              </a:solidFill>
            </a:endParaRPr>
          </a:p>
        </p:txBody>
      </p:sp>
    </p:spTree>
    <p:extLst>
      <p:ext uri="{BB962C8B-B14F-4D97-AF65-F5344CB8AC3E}">
        <p14:creationId xmlns:p14="http://schemas.microsoft.com/office/powerpoint/2010/main" val="313979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a:extLst>
              <a:ext uri="{FF2B5EF4-FFF2-40B4-BE49-F238E27FC236}">
                <a16:creationId xmlns:a16="http://schemas.microsoft.com/office/drawing/2014/main" xmlns="" id="{2A61245E-B7D6-4ECE-93A6-418BD7DB701B}"/>
              </a:ext>
            </a:extLst>
          </p:cNvPr>
          <p:cNvSpPr txBox="1">
            <a:spLocks noChangeArrowheads="1"/>
          </p:cNvSpPr>
          <p:nvPr>
            <p:custDataLst>
              <p:tags r:id="rId2"/>
            </p:custDataLst>
          </p:nvPr>
        </p:nvSpPr>
        <p:spPr bwMode="auto">
          <a:xfrm>
            <a:off x="2953866" y="722411"/>
            <a:ext cx="7315200" cy="2143125"/>
          </a:xfrm>
          <a:prstGeom prst="rect">
            <a:avLst/>
          </a:prstGeom>
          <a:noFill/>
          <a:ln w="9525">
            <a:noFill/>
            <a:miter lim="800000"/>
            <a:headEnd/>
            <a:tailEnd/>
          </a:ln>
        </p:spPr>
        <p:txBody>
          <a:bodyPr anchor="ctr"/>
          <a:lstStyle/>
          <a:p>
            <a:r>
              <a:rPr lang="zh-CN" altLang="zh-CN" sz="2400">
                <a:solidFill>
                  <a:schemeClr val="tx1"/>
                </a:solidFill>
              </a:rPr>
              <a:t>表示表面结构的图形符号及其含义</a:t>
            </a:r>
            <a:r>
              <a:rPr lang="zh-CN" altLang="en-US" sz="2400">
                <a:solidFill>
                  <a:schemeClr val="tx1"/>
                </a:solidFill>
              </a:rPr>
              <a:t>正确的是：</a:t>
            </a:r>
            <a:endParaRPr kumimoji="0" lang="zh-CN" altLang="en-US" sz="2400">
              <a:solidFill>
                <a:schemeClr val="tx1"/>
              </a:solidFill>
              <a:latin typeface="Microsoft Yahei" pitchFamily="34" charset="-122"/>
              <a:ea typeface="Microsoft Yahei" pitchFamily="34" charset="-122"/>
              <a:sym typeface="Microsoft Yahei" pitchFamily="34" charset="-122"/>
            </a:endParaRPr>
          </a:p>
        </p:txBody>
      </p:sp>
      <p:sp>
        <p:nvSpPr>
          <p:cNvPr id="3" name="文本框 2">
            <a:extLst>
              <a:ext uri="{FF2B5EF4-FFF2-40B4-BE49-F238E27FC236}">
                <a16:creationId xmlns:a16="http://schemas.microsoft.com/office/drawing/2014/main" xmlns="" id="{68606DEB-1EB7-415C-8479-BF35E9A61E53}"/>
              </a:ext>
            </a:extLst>
          </p:cNvPr>
          <p:cNvSpPr txBox="1"/>
          <p:nvPr>
            <p:custDataLst>
              <p:tags r:id="rId3"/>
            </p:custDataLst>
          </p:nvPr>
        </p:nvSpPr>
        <p:spPr>
          <a:xfrm>
            <a:off x="3431704" y="5445224"/>
            <a:ext cx="7535862" cy="642937"/>
          </a:xfrm>
          <a:prstGeom prst="rect">
            <a:avLst/>
          </a:prstGeom>
        </p:spPr>
        <p:txBody>
          <a:bodyPr anchor="ctr"/>
          <a:lstStyle/>
          <a:p>
            <a:pPr fontAlgn="auto">
              <a:spcAft>
                <a:spcPts val="0"/>
              </a:spcAft>
              <a:defRPr/>
            </a:pPr>
            <a:r>
              <a:rPr lang="en-US" altLang="zh-CN" sz="2400" dirty="0">
                <a:solidFill>
                  <a:schemeClr val="tx1"/>
                </a:solidFill>
              </a:rPr>
              <a:t>     </a:t>
            </a:r>
            <a:r>
              <a:rPr lang="zh-CN" altLang="zh-CN" sz="2400" dirty="0">
                <a:solidFill>
                  <a:schemeClr val="tx1"/>
                </a:solidFill>
              </a:rPr>
              <a:t>完整图形符号</a:t>
            </a:r>
            <a:r>
              <a:rPr lang="zh-CN" altLang="en-US" sz="2400" dirty="0">
                <a:solidFill>
                  <a:schemeClr val="tx1"/>
                </a:solidFill>
              </a:rPr>
              <a:t>，可</a:t>
            </a:r>
            <a:r>
              <a:rPr lang="zh-CN" altLang="zh-CN" sz="2400" dirty="0">
                <a:solidFill>
                  <a:schemeClr val="tx1"/>
                </a:solidFill>
              </a:rPr>
              <a:t>注写对表面结构的各种要求</a:t>
            </a:r>
            <a:r>
              <a:rPr lang="zh-CN" altLang="en-US" sz="2400" dirty="0">
                <a:solidFill>
                  <a:schemeClr val="tx1"/>
                </a:solidFill>
              </a:rPr>
              <a:t>。</a:t>
            </a:r>
            <a:endParaRPr kumimoji="0" lang="zh-CN" altLang="en-US" sz="2400" dirty="0">
              <a:solidFill>
                <a:schemeClr val="tx1"/>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4" name="矩形 7">
            <a:extLst>
              <a:ext uri="{FF2B5EF4-FFF2-40B4-BE49-F238E27FC236}">
                <a16:creationId xmlns:a16="http://schemas.microsoft.com/office/drawing/2014/main" xmlns="" id="{047857C2-89F0-4436-8BA0-3B9A4E99923B}"/>
              </a:ext>
            </a:extLst>
          </p:cNvPr>
          <p:cNvSpPr>
            <a:spLocks noChangeAspect="1"/>
          </p:cNvSpPr>
          <p:nvPr>
            <p:custDataLst>
              <p:tags r:id="rId4"/>
            </p:custDataLst>
          </p:nvPr>
        </p:nvSpPr>
        <p:spPr bwMode="auto">
          <a:xfrm>
            <a:off x="2717329" y="2936974"/>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A</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5" name="矩形 8">
            <a:extLst>
              <a:ext uri="{FF2B5EF4-FFF2-40B4-BE49-F238E27FC236}">
                <a16:creationId xmlns:a16="http://schemas.microsoft.com/office/drawing/2014/main" xmlns="" id="{A2DA0353-E3A2-4F78-AC24-0B5FB6209C9A}"/>
              </a:ext>
            </a:extLst>
          </p:cNvPr>
          <p:cNvSpPr>
            <a:spLocks noChangeAspect="1"/>
          </p:cNvSpPr>
          <p:nvPr>
            <p:custDataLst>
              <p:tags r:id="rId5"/>
            </p:custDataLst>
          </p:nvPr>
        </p:nvSpPr>
        <p:spPr bwMode="auto">
          <a:xfrm>
            <a:off x="2717329" y="3794224"/>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B</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6" name="矩形 9">
            <a:extLst>
              <a:ext uri="{FF2B5EF4-FFF2-40B4-BE49-F238E27FC236}">
                <a16:creationId xmlns:a16="http://schemas.microsoft.com/office/drawing/2014/main" xmlns="" id="{7C71A944-DE9E-4C71-812C-3CB13F9C0C4E}"/>
              </a:ext>
            </a:extLst>
          </p:cNvPr>
          <p:cNvSpPr>
            <a:spLocks noChangeAspect="1"/>
          </p:cNvSpPr>
          <p:nvPr>
            <p:custDataLst>
              <p:tags r:id="rId6"/>
            </p:custDataLst>
          </p:nvPr>
        </p:nvSpPr>
        <p:spPr bwMode="auto">
          <a:xfrm>
            <a:off x="2717329" y="4651474"/>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C</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7" name="矩形 10">
            <a:extLst>
              <a:ext uri="{FF2B5EF4-FFF2-40B4-BE49-F238E27FC236}">
                <a16:creationId xmlns:a16="http://schemas.microsoft.com/office/drawing/2014/main" xmlns="" id="{69E34740-4F2D-4738-BEF2-BB67B97FB163}"/>
              </a:ext>
            </a:extLst>
          </p:cNvPr>
          <p:cNvSpPr>
            <a:spLocks noChangeAspect="1"/>
          </p:cNvSpPr>
          <p:nvPr>
            <p:custDataLst>
              <p:tags r:id="rId7"/>
            </p:custDataLst>
          </p:nvPr>
        </p:nvSpPr>
        <p:spPr bwMode="auto">
          <a:xfrm>
            <a:off x="2717329" y="5508724"/>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D</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8" name="圆角矩形 11">
            <a:extLst>
              <a:ext uri="{FF2B5EF4-FFF2-40B4-BE49-F238E27FC236}">
                <a16:creationId xmlns:a16="http://schemas.microsoft.com/office/drawing/2014/main" xmlns="" id="{51A65D8E-3A3A-4702-84F1-22BE2DEFFAC0}"/>
              </a:ext>
            </a:extLst>
          </p:cNvPr>
          <p:cNvSpPr>
            <a:spLocks noChangeArrowheads="1"/>
          </p:cNvSpPr>
          <p:nvPr>
            <p:custDataLst>
              <p:tags r:id="rId8"/>
            </p:custDataLst>
          </p:nvPr>
        </p:nvSpPr>
        <p:spPr bwMode="auto">
          <a:xfrm>
            <a:off x="7775104" y="6302474"/>
            <a:ext cx="1543050" cy="411162"/>
          </a:xfrm>
          <a:prstGeom prst="roundRect">
            <a:avLst>
              <a:gd name="adj" fmla="val 16667"/>
            </a:avLst>
          </a:prstGeom>
          <a:solidFill>
            <a:srgbClr val="808080"/>
          </a:solidFill>
          <a:ln w="38100">
            <a:solidFill>
              <a:srgbClr val="000000"/>
            </a:solidFill>
            <a:miter lim="800000"/>
            <a:headEnd/>
            <a:tailEnd/>
          </a:ln>
        </p:spPr>
        <p:txBody>
          <a:bodyPr wrap="none" anchor="ctr" anchorCtr="1"/>
          <a:lstStyle/>
          <a:p>
            <a:pPr algn="ctr"/>
            <a:r>
              <a:rPr lang="zh-CN" altLang="en-US" sz="1600">
                <a:solidFill>
                  <a:srgbClr val="FFFFFF"/>
                </a:solidFill>
                <a:latin typeface="Microsoft Yahei" pitchFamily="34" charset="-122"/>
                <a:ea typeface="Microsoft Yahei" pitchFamily="34" charset="-122"/>
                <a:sym typeface="Microsoft Yahei" pitchFamily="34" charset="-122"/>
              </a:rPr>
              <a:t>提交</a:t>
            </a:r>
          </a:p>
        </p:txBody>
      </p:sp>
      <p:grpSp>
        <p:nvGrpSpPr>
          <p:cNvPr id="9" name="组合 18">
            <a:extLst>
              <a:ext uri="{FF2B5EF4-FFF2-40B4-BE49-F238E27FC236}">
                <a16:creationId xmlns:a16="http://schemas.microsoft.com/office/drawing/2014/main" xmlns="" id="{45199557-C1D1-4EEC-977B-5AA7CC579040}"/>
              </a:ext>
            </a:extLst>
          </p:cNvPr>
          <p:cNvGrpSpPr>
            <a:grpSpLocks/>
          </p:cNvGrpSpPr>
          <p:nvPr/>
        </p:nvGrpSpPr>
        <p:grpSpPr bwMode="auto">
          <a:xfrm>
            <a:off x="3549179" y="2659161"/>
            <a:ext cx="7507287" cy="642938"/>
            <a:chOff x="1972702" y="2721768"/>
            <a:chExt cx="6740992" cy="642938"/>
          </a:xfrm>
        </p:grpSpPr>
        <p:sp>
          <p:nvSpPr>
            <p:cNvPr id="10" name="文本框 9">
              <a:extLst>
                <a:ext uri="{FF2B5EF4-FFF2-40B4-BE49-F238E27FC236}">
                  <a16:creationId xmlns:a16="http://schemas.microsoft.com/office/drawing/2014/main" xmlns="" id="{9D961464-6FDD-4EA6-9722-1371B9C2A890}"/>
                </a:ext>
              </a:extLst>
            </p:cNvPr>
            <p:cNvSpPr txBox="1"/>
            <p:nvPr>
              <p:custDataLst>
                <p:tags r:id="rId17"/>
              </p:custDataLst>
            </p:nvPr>
          </p:nvSpPr>
          <p:spPr>
            <a:xfrm>
              <a:off x="1972702" y="2721768"/>
              <a:ext cx="6740992" cy="642938"/>
            </a:xfrm>
            <a:prstGeom prst="rect">
              <a:avLst/>
            </a:prstGeom>
          </p:spPr>
          <p:txBody>
            <a:bodyPr anchor="ctr"/>
            <a:lstStyle/>
            <a:p>
              <a:pPr fontAlgn="auto">
                <a:spcAft>
                  <a:spcPts val="0"/>
                </a:spcAft>
                <a:defRPr/>
              </a:pPr>
              <a:r>
                <a:rPr lang="en-US" altLang="zh-CN" sz="2400" dirty="0">
                  <a:solidFill>
                    <a:schemeClr val="tx1"/>
                  </a:solidFill>
                </a:rPr>
                <a:t>   </a:t>
              </a:r>
              <a:r>
                <a:rPr lang="zh-CN" altLang="zh-CN" sz="2400" dirty="0">
                  <a:solidFill>
                    <a:schemeClr val="tx1"/>
                  </a:solidFill>
                </a:rPr>
                <a:t>基本图形符号，当通过一个注释解释时可单独用</a:t>
              </a:r>
              <a:r>
                <a:rPr lang="zh-CN" altLang="en-US" sz="2400" dirty="0">
                  <a:solidFill>
                    <a:schemeClr val="tx1"/>
                  </a:solidFill>
                </a:rPr>
                <a:t>。</a:t>
              </a:r>
              <a:endParaRPr kumimoji="0" lang="zh-CN" altLang="en-US" sz="2400" dirty="0">
                <a:solidFill>
                  <a:schemeClr val="tx1"/>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pic>
          <p:nvPicPr>
            <p:cNvPr id="11" name="图片 171" descr="b10-2(a)">
              <a:extLst>
                <a:ext uri="{FF2B5EF4-FFF2-40B4-BE49-F238E27FC236}">
                  <a16:creationId xmlns:a16="http://schemas.microsoft.com/office/drawing/2014/main" xmlns="" id="{79715343-EF91-45EA-A67D-2D0C45059099}"/>
                </a:ext>
              </a:extLst>
            </p:cNvPr>
            <p:cNvPicPr>
              <a:picLocks noChangeAspect="1" noChangeArrowheads="1"/>
            </p:cNvPicPr>
            <p:nvPr/>
          </p:nvPicPr>
          <p:blipFill>
            <a:blip r:embed="rId19"/>
            <a:srcRect/>
            <a:stretch>
              <a:fillRect/>
            </a:stretch>
          </p:blipFill>
          <p:spPr bwMode="auto">
            <a:xfrm>
              <a:off x="1972702" y="2822178"/>
              <a:ext cx="485775" cy="523875"/>
            </a:xfrm>
            <a:prstGeom prst="rect">
              <a:avLst/>
            </a:prstGeom>
            <a:noFill/>
            <a:ln w="9525">
              <a:noFill/>
              <a:miter lim="800000"/>
              <a:headEnd/>
              <a:tailEnd/>
            </a:ln>
          </p:spPr>
        </p:pic>
      </p:grpSp>
      <p:grpSp>
        <p:nvGrpSpPr>
          <p:cNvPr id="12" name="组合 19">
            <a:extLst>
              <a:ext uri="{FF2B5EF4-FFF2-40B4-BE49-F238E27FC236}">
                <a16:creationId xmlns:a16="http://schemas.microsoft.com/office/drawing/2014/main" xmlns="" id="{5677050F-1F10-428A-B7BB-9C302F42ED0D}"/>
              </a:ext>
            </a:extLst>
          </p:cNvPr>
          <p:cNvGrpSpPr>
            <a:grpSpLocks/>
          </p:cNvGrpSpPr>
          <p:nvPr/>
        </p:nvGrpSpPr>
        <p:grpSpPr bwMode="auto">
          <a:xfrm>
            <a:off x="3431704" y="3730724"/>
            <a:ext cx="6400800" cy="642937"/>
            <a:chOff x="1392378" y="3643313"/>
            <a:chExt cx="6400800" cy="642938"/>
          </a:xfrm>
        </p:grpSpPr>
        <p:sp>
          <p:nvSpPr>
            <p:cNvPr id="13" name="文本框 12">
              <a:extLst>
                <a:ext uri="{FF2B5EF4-FFF2-40B4-BE49-F238E27FC236}">
                  <a16:creationId xmlns:a16="http://schemas.microsoft.com/office/drawing/2014/main" xmlns="" id="{1E1EFFC4-63AB-4924-B354-5B39816BD459}"/>
                </a:ext>
              </a:extLst>
            </p:cNvPr>
            <p:cNvSpPr txBox="1"/>
            <p:nvPr>
              <p:custDataLst>
                <p:tags r:id="rId16"/>
              </p:custDataLst>
            </p:nvPr>
          </p:nvSpPr>
          <p:spPr>
            <a:xfrm>
              <a:off x="1392378" y="3643313"/>
              <a:ext cx="6400800" cy="642938"/>
            </a:xfrm>
            <a:prstGeom prst="rect">
              <a:avLst/>
            </a:prstGeom>
          </p:spPr>
          <p:txBody>
            <a:bodyPr anchor="ctr"/>
            <a:lstStyle/>
            <a:p>
              <a:pPr fontAlgn="auto">
                <a:spcAft>
                  <a:spcPts val="0"/>
                </a:spcAft>
                <a:defRPr/>
              </a:pPr>
              <a:r>
                <a:rPr lang="en-US" altLang="zh-CN" sz="2400" dirty="0">
                  <a:solidFill>
                    <a:schemeClr val="tx1"/>
                  </a:solidFill>
                </a:rPr>
                <a:t>    </a:t>
              </a:r>
              <a:r>
                <a:rPr lang="zh-CN" altLang="zh-CN" sz="2400" dirty="0">
                  <a:solidFill>
                    <a:schemeClr val="tx1"/>
                  </a:solidFill>
                </a:rPr>
                <a:t>表示表面是用去除材料的方法获得。</a:t>
              </a:r>
              <a:endParaRPr kumimoji="0" lang="zh-CN" altLang="en-US" sz="2400" dirty="0">
                <a:solidFill>
                  <a:schemeClr val="tx1"/>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pic>
          <p:nvPicPr>
            <p:cNvPr id="14" name="图片 172" descr="b10-2(b)">
              <a:extLst>
                <a:ext uri="{FF2B5EF4-FFF2-40B4-BE49-F238E27FC236}">
                  <a16:creationId xmlns:a16="http://schemas.microsoft.com/office/drawing/2014/main" xmlns="" id="{41552FBC-7263-40E5-89CD-10C9C52B6A27}"/>
                </a:ext>
              </a:extLst>
            </p:cNvPr>
            <p:cNvPicPr>
              <a:picLocks noChangeAspect="1" noChangeArrowheads="1"/>
            </p:cNvPicPr>
            <p:nvPr/>
          </p:nvPicPr>
          <p:blipFill>
            <a:blip r:embed="rId20"/>
            <a:srcRect/>
            <a:stretch>
              <a:fillRect/>
            </a:stretch>
          </p:blipFill>
          <p:spPr bwMode="auto">
            <a:xfrm>
              <a:off x="1509386" y="3737843"/>
              <a:ext cx="517525" cy="523875"/>
            </a:xfrm>
            <a:prstGeom prst="rect">
              <a:avLst/>
            </a:prstGeom>
            <a:noFill/>
            <a:ln w="9525">
              <a:noFill/>
              <a:miter lim="800000"/>
              <a:headEnd/>
              <a:tailEnd/>
            </a:ln>
          </p:spPr>
        </p:pic>
      </p:grpSp>
      <p:grpSp>
        <p:nvGrpSpPr>
          <p:cNvPr id="15" name="组合 20">
            <a:extLst>
              <a:ext uri="{FF2B5EF4-FFF2-40B4-BE49-F238E27FC236}">
                <a16:creationId xmlns:a16="http://schemas.microsoft.com/office/drawing/2014/main" xmlns="" id="{A0944BB8-0C9A-4A48-92FF-6FBD2827AACB}"/>
              </a:ext>
            </a:extLst>
          </p:cNvPr>
          <p:cNvGrpSpPr>
            <a:grpSpLocks/>
          </p:cNvGrpSpPr>
          <p:nvPr/>
        </p:nvGrpSpPr>
        <p:grpSpPr bwMode="auto">
          <a:xfrm>
            <a:off x="3431704" y="4587974"/>
            <a:ext cx="6400800" cy="642937"/>
            <a:chOff x="1392378" y="4500563"/>
            <a:chExt cx="6400800" cy="642938"/>
          </a:xfrm>
        </p:grpSpPr>
        <p:sp>
          <p:nvSpPr>
            <p:cNvPr id="16" name="文本框 15">
              <a:extLst>
                <a:ext uri="{FF2B5EF4-FFF2-40B4-BE49-F238E27FC236}">
                  <a16:creationId xmlns:a16="http://schemas.microsoft.com/office/drawing/2014/main" xmlns="" id="{666724C2-178C-44AC-B86A-39155BDD3260}"/>
                </a:ext>
              </a:extLst>
            </p:cNvPr>
            <p:cNvSpPr txBox="1"/>
            <p:nvPr>
              <p:custDataLst>
                <p:tags r:id="rId15"/>
              </p:custDataLst>
            </p:nvPr>
          </p:nvSpPr>
          <p:spPr>
            <a:xfrm>
              <a:off x="1392378" y="4500563"/>
              <a:ext cx="6400800" cy="642938"/>
            </a:xfrm>
            <a:prstGeom prst="rect">
              <a:avLst/>
            </a:prstGeom>
          </p:spPr>
          <p:txBody>
            <a:bodyPr anchor="ctr"/>
            <a:lstStyle/>
            <a:p>
              <a:pPr fontAlgn="auto">
                <a:spcAft>
                  <a:spcPts val="0"/>
                </a:spcAft>
                <a:defRPr/>
              </a:pPr>
              <a:r>
                <a:rPr lang="en-US" altLang="zh-CN" sz="2400" dirty="0">
                  <a:solidFill>
                    <a:schemeClr val="tx1"/>
                  </a:solidFill>
                </a:rPr>
                <a:t>    </a:t>
              </a:r>
              <a:r>
                <a:rPr lang="zh-CN" altLang="zh-CN" sz="2400" dirty="0">
                  <a:solidFill>
                    <a:schemeClr val="tx1"/>
                  </a:solidFill>
                </a:rPr>
                <a:t>表示用不去除材料方法获得的表面</a:t>
              </a:r>
              <a:r>
                <a:rPr lang="zh-CN" altLang="en-US" sz="2400" dirty="0">
                  <a:solidFill>
                    <a:schemeClr val="tx1"/>
                  </a:solidFill>
                </a:rPr>
                <a:t>。</a:t>
              </a:r>
              <a:endParaRPr kumimoji="0" lang="zh-CN" altLang="en-US" sz="2400" dirty="0">
                <a:solidFill>
                  <a:schemeClr val="tx1"/>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pic>
          <p:nvPicPr>
            <p:cNvPr id="17" name="图片 173" descr="b10-2(c)">
              <a:extLst>
                <a:ext uri="{FF2B5EF4-FFF2-40B4-BE49-F238E27FC236}">
                  <a16:creationId xmlns:a16="http://schemas.microsoft.com/office/drawing/2014/main" xmlns="" id="{F37BEB6F-2BAD-44B5-9D30-43EF2BEF8F0A}"/>
                </a:ext>
              </a:extLst>
            </p:cNvPr>
            <p:cNvPicPr>
              <a:picLocks noChangeAspect="1" noChangeArrowheads="1"/>
            </p:cNvPicPr>
            <p:nvPr/>
          </p:nvPicPr>
          <p:blipFill>
            <a:blip r:embed="rId21"/>
            <a:srcRect/>
            <a:stretch>
              <a:fillRect/>
            </a:stretch>
          </p:blipFill>
          <p:spPr bwMode="auto">
            <a:xfrm>
              <a:off x="1574156" y="4577556"/>
              <a:ext cx="476250" cy="501650"/>
            </a:xfrm>
            <a:prstGeom prst="rect">
              <a:avLst/>
            </a:prstGeom>
            <a:noFill/>
            <a:ln w="9525">
              <a:noFill/>
              <a:miter lim="800000"/>
              <a:headEnd/>
              <a:tailEnd/>
            </a:ln>
          </p:spPr>
        </p:pic>
      </p:grpSp>
      <p:pic>
        <p:nvPicPr>
          <p:cNvPr id="18" name="图片 174" descr="b10-2(d)">
            <a:extLst>
              <a:ext uri="{FF2B5EF4-FFF2-40B4-BE49-F238E27FC236}">
                <a16:creationId xmlns:a16="http://schemas.microsoft.com/office/drawing/2014/main" xmlns="" id="{554308D5-AA26-4C74-B8CE-9FBDC3042355}"/>
              </a:ext>
            </a:extLst>
          </p:cNvPr>
          <p:cNvPicPr>
            <a:picLocks noChangeAspect="1" noChangeArrowheads="1"/>
          </p:cNvPicPr>
          <p:nvPr/>
        </p:nvPicPr>
        <p:blipFill>
          <a:blip r:embed="rId22"/>
          <a:srcRect l="67921"/>
          <a:stretch>
            <a:fillRect/>
          </a:stretch>
        </p:blipFill>
        <p:spPr bwMode="auto">
          <a:xfrm>
            <a:off x="3614266" y="5513486"/>
            <a:ext cx="585788" cy="588963"/>
          </a:xfrm>
          <a:prstGeom prst="rect">
            <a:avLst/>
          </a:prstGeom>
          <a:noFill/>
          <a:ln w="9525">
            <a:noFill/>
            <a:miter lim="800000"/>
            <a:headEnd/>
            <a:tailEnd/>
          </a:ln>
        </p:spPr>
      </p:pic>
      <p:grpSp>
        <p:nvGrpSpPr>
          <p:cNvPr id="24" name="组合 23">
            <a:extLst>
              <a:ext uri="{FF2B5EF4-FFF2-40B4-BE49-F238E27FC236}">
                <a16:creationId xmlns:a16="http://schemas.microsoft.com/office/drawing/2014/main" xmlns="" id="{A668C0BF-BA9F-434A-B435-26800F375A29}"/>
              </a:ext>
            </a:extLst>
          </p:cNvPr>
          <p:cNvGrpSpPr/>
          <p:nvPr>
            <p:custDataLst>
              <p:tags r:id="rId9"/>
            </p:custDataLst>
          </p:nvPr>
        </p:nvGrpSpPr>
        <p:grpSpPr>
          <a:xfrm>
            <a:off x="0" y="0"/>
            <a:ext cx="12192000" cy="635000"/>
            <a:chOff x="0" y="0"/>
            <a:chExt cx="12192000" cy="635000"/>
          </a:xfrm>
        </p:grpSpPr>
        <p:sp>
          <p:nvSpPr>
            <p:cNvPr id="20" name="TitleBackground">
              <a:extLst>
                <a:ext uri="{FF2B5EF4-FFF2-40B4-BE49-F238E27FC236}">
                  <a16:creationId xmlns:a16="http://schemas.microsoft.com/office/drawing/2014/main" xmlns="" id="{8D930A64-B7F7-41DC-818B-44E79615BB5A}"/>
                </a:ext>
              </a:extLst>
            </p:cNvPr>
            <p:cNvSpPr/>
            <p:nvPr>
              <p:custDataLst>
                <p:tags r:id="rId11"/>
              </p:custDataLst>
            </p:nvPr>
          </p:nvSpPr>
          <p:spPr bwMode="auto">
            <a:xfrm>
              <a:off x="0" y="0"/>
              <a:ext cx="12192000" cy="635000"/>
            </a:xfrm>
            <a:prstGeom prst="rect">
              <a:avLst/>
            </a:prstGeom>
            <a:solidFill>
              <a:srgbClr val="F6F7F8"/>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21" name="ColorBlock">
              <a:extLst>
                <a:ext uri="{FF2B5EF4-FFF2-40B4-BE49-F238E27FC236}">
                  <a16:creationId xmlns:a16="http://schemas.microsoft.com/office/drawing/2014/main" xmlns="" id="{B3EADEAB-E5E5-450F-A08A-292086AB8D6D}"/>
                </a:ext>
              </a:extLst>
            </p:cNvPr>
            <p:cNvSpPr/>
            <p:nvPr>
              <p:custDataLst>
                <p:tags r:id="rId12"/>
              </p:custDataLst>
            </p:nvPr>
          </p:nvSpPr>
          <p:spPr bwMode="auto">
            <a:xfrm>
              <a:off x="0" y="0"/>
              <a:ext cx="190500" cy="635000"/>
            </a:xfrm>
            <a:prstGeom prst="rect">
              <a:avLst/>
            </a:prstGeom>
            <a:solidFill>
              <a:srgbClr val="639EF4"/>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22" name="TypeText">
              <a:extLst>
                <a:ext uri="{FF2B5EF4-FFF2-40B4-BE49-F238E27FC236}">
                  <a16:creationId xmlns:a16="http://schemas.microsoft.com/office/drawing/2014/main" xmlns="" id="{44AB1D8A-BDF0-4DC3-B7F6-FD77C9208BAE}"/>
                </a:ext>
              </a:extLst>
            </p:cNvPr>
            <p:cNvSpPr txBox="1"/>
            <p:nvPr>
              <p:custDataLst>
                <p:tags r:id="rId13"/>
              </p:custDataLst>
            </p:nvPr>
          </p:nvSpPr>
          <p:spPr>
            <a:xfrm>
              <a:off x="254000" y="0"/>
              <a:ext cx="1905000" cy="635000"/>
            </a:xfrm>
            <a:prstGeom prst="rect">
              <a:avLst/>
            </a:prstGeom>
          </p:spPr>
          <p:txBody>
            <a:bodyPr vert="horz" wrap="none" rtlCol="0" anchor="ctr" anchorCtr="0">
              <a:noAutofit/>
            </a:bodyPr>
            <a:lstStyle/>
            <a:p>
              <a:pPr fontAlgn="auto">
                <a:spcAft>
                  <a:spcPts val="0"/>
                </a:spcAft>
              </a:pPr>
              <a:r>
                <a:rPr kumimoji="0" lang="zh-CN" altLang="en-US" sz="2600" b="1">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多选题</a:t>
              </a:r>
              <a:endParaRPr kumimoji="0"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23" name="TipText">
              <a:extLst>
                <a:ext uri="{FF2B5EF4-FFF2-40B4-BE49-F238E27FC236}">
                  <a16:creationId xmlns:a16="http://schemas.microsoft.com/office/drawing/2014/main" xmlns="" id="{0630B31C-0019-4CEE-BD0A-7971F7FA31D9}"/>
                </a:ext>
              </a:extLst>
            </p:cNvPr>
            <p:cNvSpPr txBox="1"/>
            <p:nvPr>
              <p:custDataLst>
                <p:tags r:id="rId14"/>
              </p:custDataLst>
            </p:nvPr>
          </p:nvSpPr>
          <p:spPr>
            <a:xfrm>
              <a:off x="1525905" y="109220"/>
              <a:ext cx="2286000" cy="508000"/>
            </a:xfrm>
            <a:prstGeom prst="rect">
              <a:avLst/>
            </a:prstGeom>
          </p:spPr>
          <p:txBody>
            <a:bodyPr vert="horz" wrap="none" rtlCol="0" anchor="ctr" anchorCtr="0">
              <a:noAutofit/>
            </a:bodyPr>
            <a:lstStyle/>
            <a:p>
              <a:pPr fontAlgn="auto">
                <a:spcAft>
                  <a:spcPts val="0"/>
                </a:spcAft>
              </a:pPr>
              <a:r>
                <a:rPr kumimoji="0" lang="en-US" altLang="zh-CN"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1</a:t>
              </a:r>
              <a:r>
                <a:rPr kumimoji="0" lang="zh-CN" altLang="en-US"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kumimoji="0" lang="zh-CN" altLang="en-US" sz="2000" b="1"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19" name="图片 1">
            <a:extLst>
              <a:ext uri="{FF2B5EF4-FFF2-40B4-BE49-F238E27FC236}">
                <a16:creationId xmlns:a16="http://schemas.microsoft.com/office/drawing/2014/main" xmlns="" id="{1CC5BCA4-DED4-4367-A1B4-F1564995F9B2}"/>
              </a:ext>
            </a:extLst>
          </p:cNvPr>
          <p:cNvPicPr>
            <a:picLocks/>
          </p:cNvPicPr>
          <p:nvPr>
            <p:custDataLst>
              <p:tags r:id="rId10"/>
            </p:custDataLst>
          </p:nvPr>
        </p:nvPicPr>
        <p:blipFill>
          <a:blip r:embed="rId23"/>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001702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a:extLst>
              <a:ext uri="{FF2B5EF4-FFF2-40B4-BE49-F238E27FC236}">
                <a16:creationId xmlns:a16="http://schemas.microsoft.com/office/drawing/2014/main" xmlns="" id="{4DE50DCE-8B48-466F-B7E7-AD7639771233}"/>
              </a:ext>
            </a:extLst>
          </p:cNvPr>
          <p:cNvSpPr txBox="1">
            <a:spLocks noChangeArrowheads="1"/>
          </p:cNvSpPr>
          <p:nvPr/>
        </p:nvSpPr>
        <p:spPr bwMode="auto">
          <a:xfrm>
            <a:off x="1004739" y="1289286"/>
            <a:ext cx="5664200" cy="523875"/>
          </a:xfrm>
          <a:prstGeom prst="rect">
            <a:avLst/>
          </a:prstGeom>
          <a:noFill/>
          <a:ln w="9525">
            <a:noFill/>
            <a:miter lim="800000"/>
            <a:headEnd/>
            <a:tailEnd/>
          </a:ln>
        </p:spPr>
        <p:txBody>
          <a:bodyPr>
            <a:spAutoFit/>
          </a:bodyPr>
          <a:lstStyle/>
          <a:p>
            <a:r>
              <a:rPr lang="zh-CN" altLang="en-US" sz="2800" b="1" dirty="0">
                <a:solidFill>
                  <a:srgbClr val="FF0000"/>
                </a:solidFill>
              </a:rPr>
              <a:t>四、</a:t>
            </a:r>
            <a:r>
              <a:rPr lang="zh-CN" altLang="zh-CN" sz="2800" b="1" dirty="0">
                <a:solidFill>
                  <a:srgbClr val="FF0000"/>
                </a:solidFill>
              </a:rPr>
              <a:t>表面结构要求在图样中的标注</a:t>
            </a:r>
            <a:endParaRPr lang="zh-CN" altLang="en-US" sz="2800" b="1" dirty="0">
              <a:solidFill>
                <a:srgbClr val="FF0000"/>
              </a:solidFill>
            </a:endParaRPr>
          </a:p>
        </p:txBody>
      </p:sp>
      <p:sp>
        <p:nvSpPr>
          <p:cNvPr id="3" name="Text Box 1027">
            <a:extLst>
              <a:ext uri="{FF2B5EF4-FFF2-40B4-BE49-F238E27FC236}">
                <a16:creationId xmlns:a16="http://schemas.microsoft.com/office/drawing/2014/main" xmlns="" id="{E2AB5E86-5363-4A09-B98B-88E1FB390B4C}"/>
              </a:ext>
            </a:extLst>
          </p:cNvPr>
          <p:cNvSpPr txBox="1">
            <a:spLocks noChangeArrowheads="1"/>
          </p:cNvSpPr>
          <p:nvPr/>
        </p:nvSpPr>
        <p:spPr bwMode="auto">
          <a:xfrm>
            <a:off x="1771699" y="1862373"/>
            <a:ext cx="4487862" cy="1570037"/>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en-US" altLang="zh-CN" sz="2400" dirty="0">
                <a:latin typeface="Times New Roman" panose="02020603050405020304" pitchFamily="18" charset="0"/>
              </a:rPr>
              <a:t>1</a:t>
            </a:r>
            <a:r>
              <a:rPr lang="zh-CN" altLang="en-US" sz="2400" dirty="0">
                <a:latin typeface="Times New Roman" panose="02020603050405020304" pitchFamily="18" charset="0"/>
              </a:rPr>
              <a:t>）标注原则</a:t>
            </a:r>
          </a:p>
          <a:p>
            <a:pPr>
              <a:spcBef>
                <a:spcPct val="0"/>
              </a:spcBef>
              <a:buFontTx/>
              <a:buNone/>
              <a:defRPr/>
            </a:pPr>
            <a:r>
              <a:rPr lang="zh-CN" altLang="en-US" sz="2400" dirty="0">
                <a:latin typeface="Times New Roman" panose="02020603050405020304" pitchFamily="18" charset="0"/>
              </a:rPr>
              <a:t>根据</a:t>
            </a:r>
            <a:r>
              <a:rPr lang="en-US" altLang="zh-CN" sz="2400" dirty="0">
                <a:latin typeface="Times New Roman" panose="02020603050405020304" pitchFamily="18" charset="0"/>
              </a:rPr>
              <a:t>GB/T 4458.4</a:t>
            </a:r>
            <a:r>
              <a:rPr lang="zh-CN" altLang="en-US" sz="2400" dirty="0">
                <a:latin typeface="Times New Roman" panose="02020603050405020304" pitchFamily="18" charset="0"/>
              </a:rPr>
              <a:t>规定，使表面结构的注写和读取方向与尺寸的注写和读取方向一致。</a:t>
            </a:r>
          </a:p>
        </p:txBody>
      </p:sp>
      <p:sp>
        <p:nvSpPr>
          <p:cNvPr id="4" name="Text Box 2">
            <a:extLst>
              <a:ext uri="{FF2B5EF4-FFF2-40B4-BE49-F238E27FC236}">
                <a16:creationId xmlns:a16="http://schemas.microsoft.com/office/drawing/2014/main" xmlns="" id="{DF037CBF-5385-4B5E-B10D-4D086FDB86FF}"/>
              </a:ext>
            </a:extLst>
          </p:cNvPr>
          <p:cNvSpPr txBox="1">
            <a:spLocks noChangeArrowheads="1"/>
          </p:cNvSpPr>
          <p:nvPr/>
        </p:nvSpPr>
        <p:spPr bwMode="auto">
          <a:xfrm>
            <a:off x="3071664" y="477309"/>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pic>
        <p:nvPicPr>
          <p:cNvPr id="5" name="图片 1">
            <a:extLst>
              <a:ext uri="{FF2B5EF4-FFF2-40B4-BE49-F238E27FC236}">
                <a16:creationId xmlns:a16="http://schemas.microsoft.com/office/drawing/2014/main" xmlns="" id="{4E9028E8-9A20-4E61-B4DD-B2EF58DD5E14}"/>
              </a:ext>
            </a:extLst>
          </p:cNvPr>
          <p:cNvPicPr>
            <a:picLocks noChangeAspect="1"/>
          </p:cNvPicPr>
          <p:nvPr/>
        </p:nvPicPr>
        <p:blipFill>
          <a:blip r:embed="rId2"/>
          <a:srcRect/>
          <a:stretch>
            <a:fillRect/>
          </a:stretch>
        </p:blipFill>
        <p:spPr bwMode="auto">
          <a:xfrm>
            <a:off x="7032104" y="1551223"/>
            <a:ext cx="4036415" cy="2563812"/>
          </a:xfrm>
          <a:prstGeom prst="rect">
            <a:avLst/>
          </a:prstGeom>
          <a:noFill/>
          <a:ln w="9525">
            <a:noFill/>
            <a:miter lim="800000"/>
            <a:headEnd/>
            <a:tailEnd/>
          </a:ln>
        </p:spPr>
      </p:pic>
      <p:sp>
        <p:nvSpPr>
          <p:cNvPr id="6" name="Rectangle 7">
            <a:extLst>
              <a:ext uri="{FF2B5EF4-FFF2-40B4-BE49-F238E27FC236}">
                <a16:creationId xmlns:a16="http://schemas.microsoft.com/office/drawing/2014/main" xmlns="" id="{731255B0-A53B-4146-B3F8-09333A08A685}"/>
              </a:ext>
            </a:extLst>
          </p:cNvPr>
          <p:cNvSpPr>
            <a:spLocks noChangeArrowheads="1"/>
          </p:cNvSpPr>
          <p:nvPr/>
        </p:nvSpPr>
        <p:spPr bwMode="auto">
          <a:xfrm>
            <a:off x="7535629" y="4981825"/>
            <a:ext cx="3643313" cy="1200150"/>
          </a:xfrm>
          <a:prstGeom prst="rect">
            <a:avLst/>
          </a:prstGeom>
          <a:noFill/>
          <a:ln w="57150" algn="ctr">
            <a:noFill/>
            <a:miter lim="800000"/>
            <a:headEnd/>
            <a:tailEnd/>
          </a:ln>
        </p:spPr>
        <p:txBody>
          <a:bodyPr>
            <a:spAutoFit/>
          </a:bodyPr>
          <a:lstStyle/>
          <a:p>
            <a:r>
              <a:rPr kumimoji="0" lang="zh-CN" altLang="en-US" sz="2400" dirty="0">
                <a:solidFill>
                  <a:schemeClr val="tx1"/>
                </a:solidFill>
                <a:latin typeface="宋体" pitchFamily="2" charset="-122"/>
                <a:ea typeface="宋体" pitchFamily="2" charset="-122"/>
              </a:rPr>
              <a:t>表面结构要求可标注在轮廓线上，其</a:t>
            </a:r>
            <a:r>
              <a:rPr kumimoji="0" lang="zh-CN" altLang="en-US" sz="2400" dirty="0">
                <a:solidFill>
                  <a:srgbClr val="FF0000"/>
                </a:solidFill>
                <a:latin typeface="宋体" pitchFamily="2" charset="-122"/>
                <a:ea typeface="宋体" pitchFamily="2" charset="-122"/>
              </a:rPr>
              <a:t>符号应从材料外指向并接触表面</a:t>
            </a:r>
          </a:p>
        </p:txBody>
      </p:sp>
      <p:sp>
        <p:nvSpPr>
          <p:cNvPr id="7" name="矩形 6">
            <a:extLst>
              <a:ext uri="{FF2B5EF4-FFF2-40B4-BE49-F238E27FC236}">
                <a16:creationId xmlns:a16="http://schemas.microsoft.com/office/drawing/2014/main" xmlns="" id="{D35F2609-B13B-4D10-A3B0-972942334248}"/>
              </a:ext>
            </a:extLst>
          </p:cNvPr>
          <p:cNvSpPr/>
          <p:nvPr/>
        </p:nvSpPr>
        <p:spPr>
          <a:xfrm>
            <a:off x="1771699" y="3429000"/>
            <a:ext cx="4487862" cy="461963"/>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spPr>
        <p:txBody>
          <a:bodyPr>
            <a:spAutoFit/>
          </a:bodyPr>
          <a:lstStyle/>
          <a:p>
            <a:pPr algn="just">
              <a:spcAft>
                <a:spcPts val="0"/>
              </a:spcAft>
              <a:defRPr/>
            </a:pPr>
            <a:r>
              <a:rPr lang="en-US" altLang="zh-CN" sz="2400" kern="100" dirty="0">
                <a:solidFill>
                  <a:schemeClr val="tx1"/>
                </a:solidFill>
                <a:latin typeface="+mn-ea"/>
                <a:ea typeface="+mn-ea"/>
              </a:rPr>
              <a:t>2</a:t>
            </a:r>
            <a:r>
              <a:rPr lang="zh-CN" altLang="zh-CN" sz="2400" kern="100" dirty="0">
                <a:solidFill>
                  <a:schemeClr val="tx1"/>
                </a:solidFill>
                <a:latin typeface="+mn-ea"/>
                <a:ea typeface="+mn-ea"/>
              </a:rPr>
              <a:t>）标注在轮廓线上或指引线上</a:t>
            </a:r>
          </a:p>
        </p:txBody>
      </p:sp>
      <p:pic>
        <p:nvPicPr>
          <p:cNvPr id="8" name="图片 7">
            <a:extLst>
              <a:ext uri="{FF2B5EF4-FFF2-40B4-BE49-F238E27FC236}">
                <a16:creationId xmlns:a16="http://schemas.microsoft.com/office/drawing/2014/main" xmlns="" id="{9F1822A9-376D-4DF2-B5A9-963F1D988C13}"/>
              </a:ext>
            </a:extLst>
          </p:cNvPr>
          <p:cNvPicPr>
            <a:picLocks noChangeAspect="1"/>
          </p:cNvPicPr>
          <p:nvPr/>
        </p:nvPicPr>
        <p:blipFill>
          <a:blip r:embed="rId3"/>
          <a:srcRect/>
          <a:stretch>
            <a:fillRect/>
          </a:stretch>
        </p:blipFill>
        <p:spPr bwMode="auto">
          <a:xfrm>
            <a:off x="2368931" y="4005064"/>
            <a:ext cx="3546475" cy="2563812"/>
          </a:xfrm>
          <a:prstGeom prst="rect">
            <a:avLst/>
          </a:prstGeom>
          <a:noFill/>
          <a:ln w="9525">
            <a:noFill/>
            <a:miter lim="800000"/>
            <a:headEnd/>
            <a:tailEnd/>
          </a:ln>
        </p:spPr>
      </p:pic>
      <p:pic>
        <p:nvPicPr>
          <p:cNvPr id="9" name="图片 8">
            <a:extLst>
              <a:ext uri="{FF2B5EF4-FFF2-40B4-BE49-F238E27FC236}">
                <a16:creationId xmlns:a16="http://schemas.microsoft.com/office/drawing/2014/main" xmlns="" id="{E768A30F-9ADD-4B36-B965-8E8C16B7D641}"/>
              </a:ext>
            </a:extLst>
          </p:cNvPr>
          <p:cNvPicPr>
            <a:picLocks noChangeAspect="1"/>
          </p:cNvPicPr>
          <p:nvPr/>
        </p:nvPicPr>
        <p:blipFill>
          <a:blip r:embed="rId4"/>
          <a:srcRect/>
          <a:stretch>
            <a:fillRect/>
          </a:stretch>
        </p:blipFill>
        <p:spPr bwMode="auto">
          <a:xfrm>
            <a:off x="1410532" y="3898010"/>
            <a:ext cx="6902407" cy="2670866"/>
          </a:xfrm>
          <a:prstGeom prst="rect">
            <a:avLst/>
          </a:prstGeom>
          <a:noFill/>
          <a:ln w="9525">
            <a:noFill/>
            <a:miter lim="800000"/>
            <a:headEnd/>
            <a:tailEnd/>
          </a:ln>
        </p:spPr>
      </p:pic>
      <p:sp>
        <p:nvSpPr>
          <p:cNvPr id="10" name="Rectangle 6">
            <a:extLst>
              <a:ext uri="{FF2B5EF4-FFF2-40B4-BE49-F238E27FC236}">
                <a16:creationId xmlns:a16="http://schemas.microsoft.com/office/drawing/2014/main" xmlns="" id="{2606F1E7-CB72-4D1B-A1EF-5B440A3FA1FB}"/>
              </a:ext>
            </a:extLst>
          </p:cNvPr>
          <p:cNvSpPr>
            <a:spLocks noChangeArrowheads="1"/>
          </p:cNvSpPr>
          <p:nvPr/>
        </p:nvSpPr>
        <p:spPr bwMode="auto">
          <a:xfrm>
            <a:off x="8564975" y="4871493"/>
            <a:ext cx="2516187" cy="1420813"/>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FontTx/>
              <a:buNone/>
              <a:defRPr/>
            </a:pPr>
            <a:r>
              <a:rPr kumimoji="0" lang="zh-CN" altLang="en-US" sz="2400" dirty="0">
                <a:latin typeface="+mn-ea"/>
                <a:ea typeface="+mn-ea"/>
              </a:rPr>
              <a:t>必要时，表面结构符号也可带箭头或黑点的指引线引出标注</a:t>
            </a:r>
            <a:r>
              <a:rPr kumimoji="0" lang="zh-CN" altLang="en-US" sz="2400" dirty="0">
                <a:solidFill>
                  <a:schemeClr val="accent2"/>
                </a:solidFill>
                <a:latin typeface="+mn-ea"/>
                <a:ea typeface="+mn-ea"/>
              </a:rPr>
              <a:t> </a:t>
            </a:r>
          </a:p>
        </p:txBody>
      </p:sp>
    </p:spTree>
    <p:extLst>
      <p:ext uri="{BB962C8B-B14F-4D97-AF65-F5344CB8AC3E}">
        <p14:creationId xmlns:p14="http://schemas.microsoft.com/office/powerpoint/2010/main" val="409318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ppt_y-#ppt_h/2"/>
                                          </p:val>
                                        </p:tav>
                                        <p:tav tm="100000">
                                          <p:val>
                                            <p:strVal val="#ppt_y"/>
                                          </p:val>
                                        </p:tav>
                                      </p:tavLst>
                                    </p:anim>
                                    <p:anim calcmode="lin" valueType="num">
                                      <p:cBhvr>
                                        <p:cTn id="9" dur="500" fill="hold"/>
                                        <p:tgtEl>
                                          <p:spTgt spid="3"/>
                                        </p:tgtEl>
                                        <p:attrNameLst>
                                          <p:attrName>ppt_w</p:attrName>
                                        </p:attrNameLst>
                                      </p:cBhvr>
                                      <p:tavLst>
                                        <p:tav tm="0">
                                          <p:val>
                                            <p:strVal val="#ppt_w"/>
                                          </p:val>
                                        </p:tav>
                                        <p:tav tm="100000">
                                          <p:val>
                                            <p:strVal val="#ppt_w"/>
                                          </p:val>
                                        </p:tav>
                                      </p:tavLst>
                                    </p:anim>
                                    <p:anim calcmode="lin" valueType="num">
                                      <p:cBhvr>
                                        <p:cTn id="10"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dissolve">
                                      <p:cBhvr>
                                        <p:cTn id="30" dur="500"/>
                                        <p:tgtEl>
                                          <p:spTgt spid="9"/>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6" grpId="0"/>
      <p:bldP spid="7"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a:extLst>
              <a:ext uri="{FF2B5EF4-FFF2-40B4-BE49-F238E27FC236}">
                <a16:creationId xmlns:a16="http://schemas.microsoft.com/office/drawing/2014/main" xmlns="" id="{B00459AD-127B-4BDF-A734-25432F37A2ED}"/>
              </a:ext>
            </a:extLst>
          </p:cNvPr>
          <p:cNvSpPr txBox="1">
            <a:spLocks noChangeArrowheads="1"/>
          </p:cNvSpPr>
          <p:nvPr/>
        </p:nvSpPr>
        <p:spPr bwMode="auto">
          <a:xfrm>
            <a:off x="956517" y="1299085"/>
            <a:ext cx="5664200" cy="523875"/>
          </a:xfrm>
          <a:prstGeom prst="rect">
            <a:avLst/>
          </a:prstGeom>
          <a:noFill/>
          <a:ln w="9525">
            <a:noFill/>
            <a:miter lim="800000"/>
            <a:headEnd/>
            <a:tailEnd/>
          </a:ln>
        </p:spPr>
        <p:txBody>
          <a:bodyPr>
            <a:spAutoFit/>
          </a:bodyPr>
          <a:lstStyle/>
          <a:p>
            <a:r>
              <a:rPr lang="zh-CN" altLang="en-US" sz="2800" b="1" dirty="0">
                <a:solidFill>
                  <a:srgbClr val="FF0000"/>
                </a:solidFill>
              </a:rPr>
              <a:t>四、</a:t>
            </a:r>
            <a:r>
              <a:rPr lang="zh-CN" altLang="zh-CN" sz="2800" b="1" dirty="0">
                <a:solidFill>
                  <a:srgbClr val="FF0000"/>
                </a:solidFill>
              </a:rPr>
              <a:t>表面结构要求在图样中的标注</a:t>
            </a:r>
            <a:endParaRPr lang="zh-CN" altLang="en-US" sz="2800" b="1" dirty="0">
              <a:solidFill>
                <a:srgbClr val="FF0000"/>
              </a:solidFill>
            </a:endParaRPr>
          </a:p>
        </p:txBody>
      </p:sp>
      <p:sp>
        <p:nvSpPr>
          <p:cNvPr id="3" name="Text Box 2">
            <a:extLst>
              <a:ext uri="{FF2B5EF4-FFF2-40B4-BE49-F238E27FC236}">
                <a16:creationId xmlns:a16="http://schemas.microsoft.com/office/drawing/2014/main" xmlns="" id="{5FB6953C-FC07-4873-877A-6C9BF42B625C}"/>
              </a:ext>
            </a:extLst>
          </p:cNvPr>
          <p:cNvSpPr txBox="1">
            <a:spLocks noChangeArrowheads="1"/>
          </p:cNvSpPr>
          <p:nvPr/>
        </p:nvSpPr>
        <p:spPr bwMode="auto">
          <a:xfrm>
            <a:off x="2914147" y="292100"/>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4" name="Text Box 105">
            <a:extLst>
              <a:ext uri="{FF2B5EF4-FFF2-40B4-BE49-F238E27FC236}">
                <a16:creationId xmlns:a16="http://schemas.microsoft.com/office/drawing/2014/main" xmlns="" id="{72D4CA2F-200C-4EB5-BC53-4083680E852A}"/>
              </a:ext>
            </a:extLst>
          </p:cNvPr>
          <p:cNvSpPr txBox="1">
            <a:spLocks noChangeArrowheads="1"/>
          </p:cNvSpPr>
          <p:nvPr/>
        </p:nvSpPr>
        <p:spPr bwMode="auto">
          <a:xfrm>
            <a:off x="1235460" y="1786618"/>
            <a:ext cx="6048672" cy="1200329"/>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en-US" altLang="zh-CN" sz="2400" dirty="0">
                <a:latin typeface="+mn-ea"/>
                <a:ea typeface="+mn-ea"/>
              </a:rPr>
              <a:t>3</a:t>
            </a:r>
            <a:r>
              <a:rPr lang="zh-CN" altLang="en-US" sz="2400" dirty="0">
                <a:latin typeface="+mn-ea"/>
                <a:ea typeface="+mn-ea"/>
              </a:rPr>
              <a:t>）标在特征尺寸的尺寸线上</a:t>
            </a:r>
            <a:r>
              <a:rPr lang="en-US" altLang="zh-CN" sz="2400" dirty="0">
                <a:latin typeface="+mn-ea"/>
                <a:ea typeface="+mn-ea"/>
              </a:rPr>
              <a:t>,</a:t>
            </a:r>
            <a:r>
              <a:rPr lang="zh-CN" altLang="en-US" sz="2400" dirty="0">
                <a:latin typeface="+mn-ea"/>
                <a:ea typeface="+mn-ea"/>
              </a:rPr>
              <a:t>在不至于引起</a:t>
            </a:r>
            <a:endParaRPr lang="en-US" altLang="zh-CN" sz="2400" dirty="0">
              <a:latin typeface="+mn-ea"/>
              <a:ea typeface="+mn-ea"/>
            </a:endParaRPr>
          </a:p>
          <a:p>
            <a:pPr>
              <a:spcBef>
                <a:spcPct val="0"/>
              </a:spcBef>
              <a:buFontTx/>
              <a:buNone/>
              <a:defRPr/>
            </a:pPr>
            <a:r>
              <a:rPr lang="en-US" altLang="zh-CN" sz="2400" dirty="0">
                <a:latin typeface="+mn-ea"/>
                <a:ea typeface="+mn-ea"/>
              </a:rPr>
              <a:t>   </a:t>
            </a:r>
            <a:r>
              <a:rPr lang="zh-CN" altLang="en-US" sz="2400" dirty="0">
                <a:latin typeface="+mn-ea"/>
                <a:ea typeface="+mn-ea"/>
              </a:rPr>
              <a:t>误解的情况下，表面结构要求可以可以</a:t>
            </a:r>
            <a:endParaRPr lang="en-US" altLang="zh-CN" sz="2400" dirty="0">
              <a:latin typeface="+mn-ea"/>
              <a:ea typeface="+mn-ea"/>
            </a:endParaRPr>
          </a:p>
          <a:p>
            <a:pPr>
              <a:spcBef>
                <a:spcPct val="0"/>
              </a:spcBef>
              <a:buFontTx/>
              <a:buNone/>
              <a:defRPr/>
            </a:pPr>
            <a:r>
              <a:rPr lang="en-US" altLang="zh-CN" sz="2400" dirty="0">
                <a:latin typeface="+mn-ea"/>
                <a:ea typeface="+mn-ea"/>
              </a:rPr>
              <a:t>   </a:t>
            </a:r>
            <a:r>
              <a:rPr lang="zh-CN" altLang="en-US" sz="2400" dirty="0">
                <a:latin typeface="+mn-ea"/>
                <a:ea typeface="+mn-ea"/>
              </a:rPr>
              <a:t>注在要求的尺寸线上。</a:t>
            </a:r>
          </a:p>
        </p:txBody>
      </p:sp>
      <p:sp>
        <p:nvSpPr>
          <p:cNvPr id="5" name="矩形 4">
            <a:extLst>
              <a:ext uri="{FF2B5EF4-FFF2-40B4-BE49-F238E27FC236}">
                <a16:creationId xmlns:a16="http://schemas.microsoft.com/office/drawing/2014/main" xmlns="" id="{7D4CED3F-2EDF-4F2F-99AE-9A9C71503748}"/>
              </a:ext>
            </a:extLst>
          </p:cNvPr>
          <p:cNvSpPr>
            <a:spLocks noChangeArrowheads="1"/>
          </p:cNvSpPr>
          <p:nvPr/>
        </p:nvSpPr>
        <p:spPr bwMode="auto">
          <a:xfrm>
            <a:off x="1235460" y="3121025"/>
            <a:ext cx="6336704" cy="461665"/>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en-US" altLang="zh-CN" sz="2400" dirty="0">
                <a:latin typeface="+mn-ea"/>
                <a:ea typeface="+mn-ea"/>
              </a:rPr>
              <a:t>4</a:t>
            </a:r>
            <a:r>
              <a:rPr lang="zh-CN" altLang="en-US" sz="2400" dirty="0">
                <a:latin typeface="+mn-ea"/>
                <a:ea typeface="+mn-ea"/>
              </a:rPr>
              <a:t>）表面结构可以标注在形位公差框格的上方。</a:t>
            </a:r>
          </a:p>
        </p:txBody>
      </p:sp>
      <p:pic>
        <p:nvPicPr>
          <p:cNvPr id="6" name="图片 5">
            <a:extLst>
              <a:ext uri="{FF2B5EF4-FFF2-40B4-BE49-F238E27FC236}">
                <a16:creationId xmlns:a16="http://schemas.microsoft.com/office/drawing/2014/main" xmlns="" id="{1A98E14F-0116-4190-A77B-206D1D60F2FA}"/>
              </a:ext>
            </a:extLst>
          </p:cNvPr>
          <p:cNvPicPr>
            <a:picLocks noChangeAspect="1"/>
          </p:cNvPicPr>
          <p:nvPr/>
        </p:nvPicPr>
        <p:blipFill>
          <a:blip r:embed="rId2"/>
          <a:srcRect/>
          <a:stretch>
            <a:fillRect/>
          </a:stretch>
        </p:blipFill>
        <p:spPr bwMode="auto">
          <a:xfrm>
            <a:off x="7788188" y="1571625"/>
            <a:ext cx="2719387" cy="1857375"/>
          </a:xfrm>
          <a:prstGeom prst="rect">
            <a:avLst/>
          </a:prstGeom>
          <a:noFill/>
          <a:ln w="9525">
            <a:noFill/>
            <a:miter lim="800000"/>
            <a:headEnd/>
            <a:tailEnd/>
          </a:ln>
        </p:spPr>
      </p:pic>
      <p:pic>
        <p:nvPicPr>
          <p:cNvPr id="7" name="图片 6">
            <a:extLst>
              <a:ext uri="{FF2B5EF4-FFF2-40B4-BE49-F238E27FC236}">
                <a16:creationId xmlns:a16="http://schemas.microsoft.com/office/drawing/2014/main" xmlns="" id="{4CD55289-CE91-412B-92E0-EE2DCCBA9231}"/>
              </a:ext>
            </a:extLst>
          </p:cNvPr>
          <p:cNvPicPr>
            <a:picLocks noChangeAspect="1"/>
          </p:cNvPicPr>
          <p:nvPr/>
        </p:nvPicPr>
        <p:blipFill>
          <a:blip r:embed="rId3"/>
          <a:srcRect/>
          <a:stretch>
            <a:fillRect/>
          </a:stretch>
        </p:blipFill>
        <p:spPr bwMode="auto">
          <a:xfrm>
            <a:off x="6934177" y="3870622"/>
            <a:ext cx="3375025" cy="2222500"/>
          </a:xfrm>
          <a:prstGeom prst="rect">
            <a:avLst/>
          </a:prstGeom>
          <a:noFill/>
          <a:ln w="9525">
            <a:noFill/>
            <a:miter lim="800000"/>
            <a:headEnd/>
            <a:tailEnd/>
          </a:ln>
        </p:spPr>
      </p:pic>
      <p:sp>
        <p:nvSpPr>
          <p:cNvPr id="8" name="Text Box 113">
            <a:extLst>
              <a:ext uri="{FF2B5EF4-FFF2-40B4-BE49-F238E27FC236}">
                <a16:creationId xmlns:a16="http://schemas.microsoft.com/office/drawing/2014/main" xmlns="" id="{FA799116-F866-4C9B-B551-F9551EE28310}"/>
              </a:ext>
            </a:extLst>
          </p:cNvPr>
          <p:cNvSpPr txBox="1">
            <a:spLocks noChangeArrowheads="1"/>
          </p:cNvSpPr>
          <p:nvPr/>
        </p:nvSpPr>
        <p:spPr bwMode="auto">
          <a:xfrm>
            <a:off x="1251037" y="3833304"/>
            <a:ext cx="4520927" cy="830997"/>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en-US" altLang="zh-CN" sz="2400" dirty="0">
                <a:latin typeface="+mn-ea"/>
                <a:ea typeface="+mn-ea"/>
              </a:rPr>
              <a:t>5</a:t>
            </a:r>
            <a:r>
              <a:rPr lang="zh-CN" altLang="en-US" sz="2400" dirty="0">
                <a:latin typeface="+mn-ea"/>
                <a:ea typeface="+mn-ea"/>
              </a:rPr>
              <a:t>）圆柱和棱柱表面的表面结构</a:t>
            </a:r>
            <a:endParaRPr lang="en-US" altLang="zh-CN" sz="2400" dirty="0">
              <a:latin typeface="+mn-ea"/>
              <a:ea typeface="+mn-ea"/>
            </a:endParaRPr>
          </a:p>
          <a:p>
            <a:pPr>
              <a:spcBef>
                <a:spcPct val="0"/>
              </a:spcBef>
              <a:buFontTx/>
              <a:buNone/>
              <a:defRPr/>
            </a:pPr>
            <a:r>
              <a:rPr lang="en-US" altLang="zh-CN" sz="2400" dirty="0">
                <a:latin typeface="+mn-ea"/>
                <a:ea typeface="+mn-ea"/>
              </a:rPr>
              <a:t>   </a:t>
            </a:r>
            <a:r>
              <a:rPr lang="zh-CN" altLang="en-US" sz="2400" dirty="0">
                <a:latin typeface="+mn-ea"/>
                <a:ea typeface="+mn-ea"/>
              </a:rPr>
              <a:t>要求只注一次。</a:t>
            </a:r>
          </a:p>
        </p:txBody>
      </p:sp>
      <p:pic>
        <p:nvPicPr>
          <p:cNvPr id="9" name="图片 8">
            <a:extLst>
              <a:ext uri="{FF2B5EF4-FFF2-40B4-BE49-F238E27FC236}">
                <a16:creationId xmlns:a16="http://schemas.microsoft.com/office/drawing/2014/main" xmlns="" id="{412AE10C-40FD-4A76-B1DD-265C3E91964D}"/>
              </a:ext>
            </a:extLst>
          </p:cNvPr>
          <p:cNvPicPr>
            <a:picLocks noChangeAspect="1"/>
          </p:cNvPicPr>
          <p:nvPr/>
        </p:nvPicPr>
        <p:blipFill>
          <a:blip r:embed="rId4"/>
          <a:srcRect/>
          <a:stretch>
            <a:fillRect/>
          </a:stretch>
        </p:blipFill>
        <p:spPr bwMode="auto">
          <a:xfrm>
            <a:off x="6189147" y="3794813"/>
            <a:ext cx="4716463" cy="2500313"/>
          </a:xfrm>
          <a:prstGeom prst="rect">
            <a:avLst/>
          </a:prstGeom>
          <a:noFill/>
          <a:ln w="9525">
            <a:noFill/>
            <a:miter lim="800000"/>
            <a:headEnd/>
            <a:tailEnd/>
          </a:ln>
        </p:spPr>
      </p:pic>
      <p:sp>
        <p:nvSpPr>
          <p:cNvPr id="10" name="Text Box 113">
            <a:extLst>
              <a:ext uri="{FF2B5EF4-FFF2-40B4-BE49-F238E27FC236}">
                <a16:creationId xmlns:a16="http://schemas.microsoft.com/office/drawing/2014/main" xmlns="" id="{05639EC2-2174-4A9E-869C-A76F030DB72D}"/>
              </a:ext>
            </a:extLst>
          </p:cNvPr>
          <p:cNvSpPr txBox="1">
            <a:spLocks noChangeArrowheads="1"/>
          </p:cNvSpPr>
          <p:nvPr/>
        </p:nvSpPr>
        <p:spPr bwMode="auto">
          <a:xfrm>
            <a:off x="1423322" y="4981872"/>
            <a:ext cx="4348642" cy="830997"/>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lang="zh-CN" altLang="en-US" sz="2400" b="1" dirty="0">
                <a:solidFill>
                  <a:srgbClr val="0070C0"/>
                </a:solidFill>
                <a:latin typeface="+mn-ea"/>
                <a:ea typeface="+mn-ea"/>
              </a:rPr>
              <a:t>如果每个棱柱表面有不同的表面结构要求，则应分别标注。</a:t>
            </a:r>
          </a:p>
        </p:txBody>
      </p:sp>
      <p:pic>
        <p:nvPicPr>
          <p:cNvPr id="11" name="图片 10">
            <a:extLst>
              <a:ext uri="{FF2B5EF4-FFF2-40B4-BE49-F238E27FC236}">
                <a16:creationId xmlns:a16="http://schemas.microsoft.com/office/drawing/2014/main" xmlns="" id="{DEDF6A1F-0905-4EE2-AB9E-0C47F237920C}"/>
              </a:ext>
            </a:extLst>
          </p:cNvPr>
          <p:cNvPicPr>
            <a:picLocks noChangeAspect="1"/>
          </p:cNvPicPr>
          <p:nvPr/>
        </p:nvPicPr>
        <p:blipFill>
          <a:blip r:embed="rId5"/>
          <a:srcRect/>
          <a:stretch>
            <a:fillRect/>
          </a:stretch>
        </p:blipFill>
        <p:spPr bwMode="auto">
          <a:xfrm>
            <a:off x="7572164" y="3802063"/>
            <a:ext cx="2595563" cy="2463800"/>
          </a:xfrm>
          <a:prstGeom prst="rect">
            <a:avLst/>
          </a:prstGeom>
          <a:noFill/>
          <a:ln w="9525">
            <a:noFill/>
            <a:miter lim="800000"/>
            <a:headEnd/>
            <a:tailEnd/>
          </a:ln>
        </p:spPr>
      </p:pic>
    </p:spTree>
    <p:extLst>
      <p:ext uri="{BB962C8B-B14F-4D97-AF65-F5344CB8AC3E}">
        <p14:creationId xmlns:p14="http://schemas.microsoft.com/office/powerpoint/2010/main" val="285582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box(in)">
                                      <p:cBhvr>
                                        <p:cTn id="37" dur="500"/>
                                        <p:tgtEl>
                                          <p:spTgt spid="10">
                                            <p:txEl>
                                              <p:pRg st="0" end="0"/>
                                            </p:txEl>
                                          </p:spTgt>
                                        </p:tgtEl>
                                      </p:cBhvr>
                                    </p:animEffect>
                                  </p:childTnLst>
                                </p:cTn>
                              </p:par>
                            </p:childTnLst>
                          </p:cTn>
                        </p:par>
                        <p:par>
                          <p:cTn id="38" fill="hold">
                            <p:stCondLst>
                              <p:cond delay="500"/>
                            </p:stCondLst>
                            <p:childTnLst>
                              <p:par>
                                <p:cTn id="39" presetID="1" presetClass="exit" presetSubtype="0" fill="hold" nodeType="after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par>
                          <p:cTn id="41" fill="hold">
                            <p:stCondLst>
                              <p:cond delay="500"/>
                            </p:stCondLst>
                            <p:childTnLst>
                              <p:par>
                                <p:cTn id="42" presetID="1" presetClass="exit" presetSubtype="0" fill="hold" nodeType="afterEffect">
                                  <p:stCondLst>
                                    <p:cond delay="0"/>
                                  </p:stCondLst>
                                  <p:childTnLst>
                                    <p:set>
                                      <p:cBhvr>
                                        <p:cTn id="43" dur="1" fill="hold">
                                          <p:stCondLst>
                                            <p:cond delay="0"/>
                                          </p:stCondLst>
                                        </p:cTn>
                                        <p:tgtEl>
                                          <p:spTgt spid="7"/>
                                        </p:tgtEl>
                                        <p:attrNameLst>
                                          <p:attrName>style.visibility</p:attrName>
                                        </p:attrNameLst>
                                      </p:cBhvr>
                                      <p:to>
                                        <p:strVal val="hidden"/>
                                      </p:to>
                                    </p:set>
                                  </p:childTnLst>
                                </p:cTn>
                              </p:par>
                            </p:childTnLst>
                          </p:cTn>
                        </p:par>
                        <p:par>
                          <p:cTn id="44" fill="hold">
                            <p:stCondLst>
                              <p:cond delay="500"/>
                            </p:stCondLst>
                            <p:childTnLst>
                              <p:par>
                                <p:cTn id="45" presetID="2" presetClass="entr" presetSubtype="2" fill="hold" nodeType="after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1+#ppt_w/2"/>
                                          </p:val>
                                        </p:tav>
                                        <p:tav tm="100000">
                                          <p:val>
                                            <p:strVal val="#ppt_x"/>
                                          </p:val>
                                        </p:tav>
                                      </p:tavLst>
                                    </p:anim>
                                    <p:anim calcmode="lin" valueType="num">
                                      <p:cBhvr additive="base">
                                        <p:cTn id="4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95E3EF72-6469-4A29-A08C-E3939E20A91B}"/>
              </a:ext>
            </a:extLst>
          </p:cNvPr>
          <p:cNvSpPr txBox="1">
            <a:spLocks noChangeArrowheads="1"/>
          </p:cNvSpPr>
          <p:nvPr/>
        </p:nvSpPr>
        <p:spPr>
          <a:xfrm>
            <a:off x="1523492" y="1877668"/>
            <a:ext cx="6059487" cy="506413"/>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90000"/>
              </a:lnSpc>
              <a:buFontTx/>
              <a:buNone/>
              <a:defRPr/>
            </a:pPr>
            <a:r>
              <a:rPr lang="en-US" altLang="zh-CN" sz="2400" b="1" dirty="0">
                <a:latin typeface="+mn-ea"/>
              </a:rPr>
              <a:t>6</a:t>
            </a:r>
            <a:r>
              <a:rPr lang="zh-CN" altLang="en-US" sz="2400" b="1" dirty="0">
                <a:latin typeface="+mn-ea"/>
              </a:rPr>
              <a:t>）有相同表面结构要求的简化注法。</a:t>
            </a:r>
            <a:endParaRPr lang="en-US" altLang="zh-CN" sz="2400" b="1" dirty="0">
              <a:latin typeface="+mn-ea"/>
            </a:endParaRPr>
          </a:p>
        </p:txBody>
      </p:sp>
      <p:sp>
        <p:nvSpPr>
          <p:cNvPr id="3" name="Rectangle 8">
            <a:extLst>
              <a:ext uri="{FF2B5EF4-FFF2-40B4-BE49-F238E27FC236}">
                <a16:creationId xmlns:a16="http://schemas.microsoft.com/office/drawing/2014/main" xmlns="" id="{D1CF1298-6724-40EA-96EE-594B9AD8A886}"/>
              </a:ext>
            </a:extLst>
          </p:cNvPr>
          <p:cNvSpPr>
            <a:spLocks noChangeArrowheads="1"/>
          </p:cNvSpPr>
          <p:nvPr/>
        </p:nvSpPr>
        <p:spPr bwMode="auto">
          <a:xfrm>
            <a:off x="1527481" y="2334474"/>
            <a:ext cx="9181020" cy="830263"/>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r>
              <a:rPr kumimoji="0" lang="zh-CN" altLang="en-US" sz="2400" b="0" dirty="0">
                <a:latin typeface="+mn-ea"/>
                <a:ea typeface="+mn-ea"/>
              </a:rPr>
              <a:t>如果工件的多数表面（包括全部）有相同的表面结构要求，则其表面结构要求可统一注在图样标题栏附近。</a:t>
            </a:r>
          </a:p>
        </p:txBody>
      </p:sp>
      <p:sp>
        <p:nvSpPr>
          <p:cNvPr id="4" name="Rectangle 9">
            <a:extLst>
              <a:ext uri="{FF2B5EF4-FFF2-40B4-BE49-F238E27FC236}">
                <a16:creationId xmlns:a16="http://schemas.microsoft.com/office/drawing/2014/main" xmlns="" id="{A44ACA43-05AD-4514-8457-D37FD37130D0}"/>
              </a:ext>
            </a:extLst>
          </p:cNvPr>
          <p:cNvSpPr>
            <a:spLocks noChangeArrowheads="1"/>
          </p:cNvSpPr>
          <p:nvPr/>
        </p:nvSpPr>
        <p:spPr bwMode="auto">
          <a:xfrm>
            <a:off x="8217217" y="3586252"/>
            <a:ext cx="3537036" cy="830997"/>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kumimoji="0" lang="zh-CN" altLang="en-US" sz="2400" b="0" dirty="0">
                <a:latin typeface="+mn-ea"/>
                <a:ea typeface="+mn-ea"/>
              </a:rPr>
              <a:t>在圆括号内给出无任何其他标注的基本符号。</a:t>
            </a:r>
          </a:p>
        </p:txBody>
      </p:sp>
      <p:sp>
        <p:nvSpPr>
          <p:cNvPr id="5" name="Text Box 1026">
            <a:extLst>
              <a:ext uri="{FF2B5EF4-FFF2-40B4-BE49-F238E27FC236}">
                <a16:creationId xmlns:a16="http://schemas.microsoft.com/office/drawing/2014/main" xmlns="" id="{F4F310FA-3294-46F5-A05D-D8FBA3E212C9}"/>
              </a:ext>
            </a:extLst>
          </p:cNvPr>
          <p:cNvSpPr txBox="1">
            <a:spLocks noChangeArrowheads="1"/>
          </p:cNvSpPr>
          <p:nvPr/>
        </p:nvSpPr>
        <p:spPr bwMode="auto">
          <a:xfrm>
            <a:off x="1019436" y="1365090"/>
            <a:ext cx="5664200" cy="523875"/>
          </a:xfrm>
          <a:prstGeom prst="rect">
            <a:avLst/>
          </a:prstGeom>
          <a:noFill/>
          <a:ln w="9525">
            <a:noFill/>
            <a:miter lim="800000"/>
            <a:headEnd/>
            <a:tailEnd/>
          </a:ln>
        </p:spPr>
        <p:txBody>
          <a:bodyPr>
            <a:spAutoFit/>
          </a:bodyPr>
          <a:lstStyle/>
          <a:p>
            <a:r>
              <a:rPr lang="zh-CN" altLang="en-US" sz="2800" b="1" dirty="0">
                <a:solidFill>
                  <a:srgbClr val="FF0000"/>
                </a:solidFill>
              </a:rPr>
              <a:t>四、</a:t>
            </a:r>
            <a:r>
              <a:rPr lang="zh-CN" altLang="zh-CN" sz="2800" b="1" dirty="0">
                <a:solidFill>
                  <a:srgbClr val="FF0000"/>
                </a:solidFill>
              </a:rPr>
              <a:t>表面结构要求在图样中的标注</a:t>
            </a:r>
            <a:endParaRPr lang="zh-CN" altLang="en-US" sz="2800" b="1" dirty="0">
              <a:solidFill>
                <a:srgbClr val="FF0000"/>
              </a:solidFill>
            </a:endParaRPr>
          </a:p>
        </p:txBody>
      </p:sp>
      <p:sp>
        <p:nvSpPr>
          <p:cNvPr id="6" name="Text Box 2">
            <a:extLst>
              <a:ext uri="{FF2B5EF4-FFF2-40B4-BE49-F238E27FC236}">
                <a16:creationId xmlns:a16="http://schemas.microsoft.com/office/drawing/2014/main" xmlns="" id="{A67531AB-7CAE-42F0-9D0F-F62BFCA874FD}"/>
              </a:ext>
            </a:extLst>
          </p:cNvPr>
          <p:cNvSpPr txBox="1">
            <a:spLocks noChangeArrowheads="1"/>
          </p:cNvSpPr>
          <p:nvPr/>
        </p:nvSpPr>
        <p:spPr bwMode="auto">
          <a:xfrm>
            <a:off x="3035660" y="404664"/>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pic>
        <p:nvPicPr>
          <p:cNvPr id="7" name="图片 6">
            <a:extLst>
              <a:ext uri="{FF2B5EF4-FFF2-40B4-BE49-F238E27FC236}">
                <a16:creationId xmlns:a16="http://schemas.microsoft.com/office/drawing/2014/main" xmlns="" id="{8AA53A00-AB50-437D-887E-2D31644B05C1}"/>
              </a:ext>
            </a:extLst>
          </p:cNvPr>
          <p:cNvPicPr>
            <a:picLocks noChangeAspect="1"/>
          </p:cNvPicPr>
          <p:nvPr/>
        </p:nvPicPr>
        <p:blipFill>
          <a:blip r:embed="rId2"/>
          <a:srcRect/>
          <a:stretch>
            <a:fillRect/>
          </a:stretch>
        </p:blipFill>
        <p:spPr bwMode="auto">
          <a:xfrm>
            <a:off x="1181616" y="3429000"/>
            <a:ext cx="6717251" cy="1756666"/>
          </a:xfrm>
          <a:prstGeom prst="rect">
            <a:avLst/>
          </a:prstGeom>
          <a:noFill/>
          <a:ln w="9525">
            <a:noFill/>
            <a:miter lim="800000"/>
            <a:headEnd/>
            <a:tailEnd/>
          </a:ln>
        </p:spPr>
      </p:pic>
      <p:pic>
        <p:nvPicPr>
          <p:cNvPr id="8" name="图片 7">
            <a:extLst>
              <a:ext uri="{FF2B5EF4-FFF2-40B4-BE49-F238E27FC236}">
                <a16:creationId xmlns:a16="http://schemas.microsoft.com/office/drawing/2014/main" xmlns="" id="{6BB0D471-F432-4D41-B225-48202E3CA24F}"/>
              </a:ext>
            </a:extLst>
          </p:cNvPr>
          <p:cNvPicPr>
            <a:picLocks noChangeAspect="1"/>
          </p:cNvPicPr>
          <p:nvPr/>
        </p:nvPicPr>
        <p:blipFill>
          <a:blip r:embed="rId3"/>
          <a:srcRect/>
          <a:stretch>
            <a:fillRect/>
          </a:stretch>
        </p:blipFill>
        <p:spPr bwMode="auto">
          <a:xfrm>
            <a:off x="1415480" y="5410492"/>
            <a:ext cx="2054225" cy="704850"/>
          </a:xfrm>
          <a:prstGeom prst="rect">
            <a:avLst/>
          </a:prstGeom>
          <a:noFill/>
          <a:ln w="9525">
            <a:noFill/>
            <a:miter lim="800000"/>
            <a:headEnd/>
            <a:tailEnd/>
          </a:ln>
        </p:spPr>
      </p:pic>
      <p:pic>
        <p:nvPicPr>
          <p:cNvPr id="9" name="图片 8">
            <a:extLst>
              <a:ext uri="{FF2B5EF4-FFF2-40B4-BE49-F238E27FC236}">
                <a16:creationId xmlns:a16="http://schemas.microsoft.com/office/drawing/2014/main" xmlns="" id="{874766F9-083F-4253-BB34-51C7B04493C1}"/>
              </a:ext>
            </a:extLst>
          </p:cNvPr>
          <p:cNvPicPr>
            <a:picLocks noChangeAspect="1"/>
          </p:cNvPicPr>
          <p:nvPr/>
        </p:nvPicPr>
        <p:blipFill>
          <a:blip r:embed="rId4"/>
          <a:srcRect/>
          <a:stretch>
            <a:fillRect/>
          </a:stretch>
        </p:blipFill>
        <p:spPr bwMode="auto">
          <a:xfrm>
            <a:off x="4485146" y="5492910"/>
            <a:ext cx="3592512" cy="581025"/>
          </a:xfrm>
          <a:prstGeom prst="rect">
            <a:avLst/>
          </a:prstGeom>
          <a:noFill/>
          <a:ln w="9525">
            <a:noFill/>
            <a:miter lim="800000"/>
            <a:headEnd/>
            <a:tailEnd/>
          </a:ln>
        </p:spPr>
      </p:pic>
      <p:sp>
        <p:nvSpPr>
          <p:cNvPr id="10" name="矩形 9">
            <a:extLst>
              <a:ext uri="{FF2B5EF4-FFF2-40B4-BE49-F238E27FC236}">
                <a16:creationId xmlns:a16="http://schemas.microsoft.com/office/drawing/2014/main" xmlns="" id="{CF25F1D9-50EA-46AF-A5E2-7420A72EB62D}"/>
              </a:ext>
            </a:extLst>
          </p:cNvPr>
          <p:cNvSpPr/>
          <p:nvPr/>
        </p:nvSpPr>
        <p:spPr>
          <a:xfrm>
            <a:off x="8217217" y="4844780"/>
            <a:ext cx="3537036" cy="830997"/>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p:spPr>
        <p:txBody>
          <a:bodyPr wrap="square">
            <a:spAutoFit/>
          </a:bodyPr>
          <a:lstStyle/>
          <a:p>
            <a:pPr algn="ctr">
              <a:spcBef>
                <a:spcPct val="50000"/>
              </a:spcBef>
              <a:defRPr/>
            </a:pPr>
            <a:r>
              <a:rPr lang="zh-CN" altLang="en-US" sz="2400" b="0" dirty="0">
                <a:solidFill>
                  <a:schemeClr val="tx1"/>
                </a:solidFill>
                <a:latin typeface="+mn-ea"/>
                <a:ea typeface="+mn-ea"/>
              </a:rPr>
              <a:t>圆括号内给出不同的表面结构要求。 </a:t>
            </a:r>
          </a:p>
        </p:txBody>
      </p:sp>
    </p:spTree>
    <p:extLst>
      <p:ext uri="{BB962C8B-B14F-4D97-AF65-F5344CB8AC3E}">
        <p14:creationId xmlns:p14="http://schemas.microsoft.com/office/powerpoint/2010/main" val="308109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7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p:tgtEl>
                                          <p:spTgt spid="9"/>
                                        </p:tgtEl>
                                        <p:attrNameLst>
                                          <p:attrName>ppt_y</p:attrName>
                                        </p:attrNameLst>
                                      </p:cBhvr>
                                      <p:tavLst>
                                        <p:tav tm="0">
                                          <p:val>
                                            <p:strVal val="#ppt_y-#ppt_h*1.125000"/>
                                          </p:val>
                                        </p:tav>
                                        <p:tav tm="100000">
                                          <p:val>
                                            <p:strVal val="#ppt_y"/>
                                          </p:val>
                                        </p:tav>
                                      </p:tavLst>
                                    </p:anim>
                                    <p:animEffect transition="in" filter="wipe(down)">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C3D07222-4252-4134-A80E-B7FB4AA16F5E}"/>
              </a:ext>
            </a:extLst>
          </p:cNvPr>
          <p:cNvSpPr/>
          <p:nvPr/>
        </p:nvSpPr>
        <p:spPr>
          <a:xfrm>
            <a:off x="1328270" y="1903906"/>
            <a:ext cx="4635500" cy="461963"/>
          </a:xfrm>
          <a:prstGeom prst="rect">
            <a:avLst/>
          </a:prstGeom>
        </p:spPr>
        <p:txBody>
          <a:bodyPr>
            <a:spAutoFit/>
          </a:bodyPr>
          <a:lstStyle/>
          <a:p>
            <a:pPr eaLnBrk="1" hangingPunct="1">
              <a:defRPr/>
            </a:pPr>
            <a:r>
              <a:rPr lang="en-US" altLang="zh-CN" sz="2400" b="1" dirty="0">
                <a:solidFill>
                  <a:schemeClr val="tx1"/>
                </a:solidFill>
                <a:latin typeface="+mn-ea"/>
              </a:rPr>
              <a:t>7</a:t>
            </a:r>
            <a:r>
              <a:rPr lang="zh-CN" altLang="en-US" sz="2400" b="1" dirty="0">
                <a:solidFill>
                  <a:schemeClr val="tx1"/>
                </a:solidFill>
                <a:latin typeface="+mn-ea"/>
              </a:rPr>
              <a:t>）多数表面有共同要求的注法</a:t>
            </a:r>
          </a:p>
        </p:txBody>
      </p:sp>
      <p:sp>
        <p:nvSpPr>
          <p:cNvPr id="3" name="Text Box 1026">
            <a:extLst>
              <a:ext uri="{FF2B5EF4-FFF2-40B4-BE49-F238E27FC236}">
                <a16:creationId xmlns="" xmlns:a16="http://schemas.microsoft.com/office/drawing/2014/main" id="{56B213F1-0E26-424D-84EF-3CD564511685}"/>
              </a:ext>
            </a:extLst>
          </p:cNvPr>
          <p:cNvSpPr txBox="1">
            <a:spLocks noChangeArrowheads="1"/>
          </p:cNvSpPr>
          <p:nvPr/>
        </p:nvSpPr>
        <p:spPr bwMode="auto">
          <a:xfrm>
            <a:off x="925418" y="1380031"/>
            <a:ext cx="5664200" cy="523875"/>
          </a:xfrm>
          <a:prstGeom prst="rect">
            <a:avLst/>
          </a:prstGeom>
          <a:noFill/>
          <a:ln w="9525">
            <a:noFill/>
            <a:miter lim="800000"/>
            <a:headEnd/>
            <a:tailEnd/>
          </a:ln>
        </p:spPr>
        <p:txBody>
          <a:bodyPr>
            <a:spAutoFit/>
          </a:bodyPr>
          <a:lstStyle/>
          <a:p>
            <a:r>
              <a:rPr lang="zh-CN" altLang="en-US" sz="2800" b="1" dirty="0">
                <a:solidFill>
                  <a:srgbClr val="FF0000"/>
                </a:solidFill>
              </a:rPr>
              <a:t>四、</a:t>
            </a:r>
            <a:r>
              <a:rPr lang="zh-CN" altLang="zh-CN" sz="2800" b="1" dirty="0">
                <a:solidFill>
                  <a:srgbClr val="FF0000"/>
                </a:solidFill>
              </a:rPr>
              <a:t>表面结构要求在图样中的标注</a:t>
            </a:r>
            <a:endParaRPr lang="zh-CN" altLang="en-US" sz="2800" b="1" dirty="0">
              <a:solidFill>
                <a:srgbClr val="FF0000"/>
              </a:solidFill>
            </a:endParaRPr>
          </a:p>
        </p:txBody>
      </p:sp>
      <p:sp>
        <p:nvSpPr>
          <p:cNvPr id="4" name="Text Box 2">
            <a:extLst>
              <a:ext uri="{FF2B5EF4-FFF2-40B4-BE49-F238E27FC236}">
                <a16:creationId xmlns="" xmlns:a16="http://schemas.microsoft.com/office/drawing/2014/main" id="{319E1EC8-010F-4E1C-BFE0-A80858E547A6}"/>
              </a:ext>
            </a:extLst>
          </p:cNvPr>
          <p:cNvSpPr txBox="1">
            <a:spLocks noChangeArrowheads="1"/>
          </p:cNvSpPr>
          <p:nvPr/>
        </p:nvSpPr>
        <p:spPr bwMode="auto">
          <a:xfrm>
            <a:off x="3071664" y="436775"/>
            <a:ext cx="5816600" cy="58420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76200">
            <a:no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solidFill>
                  <a:srgbClr val="FF3300"/>
                </a:solidFill>
                <a:latin typeface="黑体" panose="02010609060101010101" pitchFamily="49" charset="-122"/>
                <a:ea typeface="黑体" panose="02010609060101010101" pitchFamily="49" charset="-122"/>
              </a:rPr>
              <a:t>零件的技术要求</a:t>
            </a:r>
          </a:p>
        </p:txBody>
      </p:sp>
      <p:sp>
        <p:nvSpPr>
          <p:cNvPr id="5" name="矩形 4">
            <a:extLst>
              <a:ext uri="{FF2B5EF4-FFF2-40B4-BE49-F238E27FC236}">
                <a16:creationId xmlns="" xmlns:a16="http://schemas.microsoft.com/office/drawing/2014/main" id="{2450E1EC-4AAC-4610-B963-592D80DD928B}"/>
              </a:ext>
            </a:extLst>
          </p:cNvPr>
          <p:cNvSpPr/>
          <p:nvPr/>
        </p:nvSpPr>
        <p:spPr>
          <a:xfrm>
            <a:off x="767408" y="5308531"/>
            <a:ext cx="10657184" cy="1200329"/>
          </a:xfrm>
          <a:prstGeom prst="rect">
            <a:avLst/>
          </a:prstGeom>
        </p:spPr>
        <p:txBody>
          <a:bodyPr wrap="square">
            <a:spAutoFit/>
          </a:bodyPr>
          <a:lstStyle/>
          <a:p>
            <a:pPr eaLnBrk="1" hangingPunct="1">
              <a:spcBef>
                <a:spcPts val="0"/>
              </a:spcBef>
              <a:defRPr/>
            </a:pPr>
            <a:r>
              <a:rPr lang="zh-CN" altLang="en-US" sz="2400" dirty="0">
                <a:latin typeface="+mn-ea"/>
              </a:rPr>
              <a:t>    当</a:t>
            </a:r>
            <a:r>
              <a:rPr lang="zh-CN" altLang="en-US" sz="2400" dirty="0">
                <a:solidFill>
                  <a:srgbClr val="FF0000"/>
                </a:solidFill>
                <a:latin typeface="+mn-ea"/>
              </a:rPr>
              <a:t>多个</a:t>
            </a:r>
            <a:r>
              <a:rPr lang="zh-CN" altLang="en-US" sz="2400" dirty="0">
                <a:latin typeface="+mn-ea"/>
              </a:rPr>
              <a:t>表面具有</a:t>
            </a:r>
            <a:r>
              <a:rPr lang="zh-CN" altLang="en-US" sz="2400" dirty="0">
                <a:solidFill>
                  <a:srgbClr val="FF0000"/>
                </a:solidFill>
                <a:latin typeface="+mn-ea"/>
              </a:rPr>
              <a:t>相同</a:t>
            </a:r>
            <a:r>
              <a:rPr lang="zh-CN" altLang="en-US" sz="2400" dirty="0">
                <a:latin typeface="+mn-ea"/>
              </a:rPr>
              <a:t>的</a:t>
            </a:r>
            <a:r>
              <a:rPr lang="zh-CN" altLang="en-US" sz="2400" dirty="0">
                <a:solidFill>
                  <a:srgbClr val="FF0000"/>
                </a:solidFill>
                <a:latin typeface="+mn-ea"/>
              </a:rPr>
              <a:t>表面结构</a:t>
            </a:r>
            <a:r>
              <a:rPr lang="zh-CN" altLang="en-US" sz="2400" dirty="0">
                <a:latin typeface="+mn-ea"/>
              </a:rPr>
              <a:t>要求或图纸空间有限时，可以采用</a:t>
            </a:r>
            <a:r>
              <a:rPr lang="zh-CN" altLang="en-US" sz="2400" dirty="0">
                <a:solidFill>
                  <a:srgbClr val="FF0000"/>
                </a:solidFill>
                <a:latin typeface="+mn-ea"/>
              </a:rPr>
              <a:t>简化注法</a:t>
            </a:r>
            <a:r>
              <a:rPr lang="zh-CN" altLang="en-US" sz="2400" dirty="0">
                <a:latin typeface="+mn-ea"/>
              </a:rPr>
              <a:t>。用带字母的完整符号，</a:t>
            </a:r>
            <a:r>
              <a:rPr lang="zh-CN" altLang="en-US" sz="2400" dirty="0">
                <a:solidFill>
                  <a:srgbClr val="FF0000"/>
                </a:solidFill>
                <a:latin typeface="+mn-ea"/>
              </a:rPr>
              <a:t>以等式的形式</a:t>
            </a:r>
            <a:r>
              <a:rPr lang="zh-CN" altLang="en-US" sz="2400" dirty="0">
                <a:latin typeface="+mn-ea"/>
              </a:rPr>
              <a:t>，在图形或</a:t>
            </a:r>
            <a:r>
              <a:rPr lang="zh-CN" altLang="en-US" sz="2400" dirty="0">
                <a:solidFill>
                  <a:srgbClr val="FF0000"/>
                </a:solidFill>
                <a:latin typeface="+mn-ea"/>
              </a:rPr>
              <a:t>标题栏附近</a:t>
            </a:r>
            <a:r>
              <a:rPr lang="zh-CN" altLang="en-US" sz="2400" dirty="0">
                <a:latin typeface="+mn-ea"/>
              </a:rPr>
              <a:t>，对有相同表面结构要求的表面进行</a:t>
            </a:r>
            <a:r>
              <a:rPr lang="zh-CN" altLang="en-US" sz="2400" dirty="0">
                <a:solidFill>
                  <a:srgbClr val="FF0000"/>
                </a:solidFill>
                <a:latin typeface="+mn-ea"/>
              </a:rPr>
              <a:t>简化标注。</a:t>
            </a:r>
          </a:p>
        </p:txBody>
      </p:sp>
      <p:pic>
        <p:nvPicPr>
          <p:cNvPr id="6" name="图片 5">
            <a:extLst>
              <a:ext uri="{FF2B5EF4-FFF2-40B4-BE49-F238E27FC236}">
                <a16:creationId xmlns="" xmlns:a16="http://schemas.microsoft.com/office/drawing/2014/main" id="{B9F39C73-25CE-43CE-B185-B5608CE7FD45}"/>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817571" y="2428368"/>
            <a:ext cx="5495371" cy="2588226"/>
          </a:xfrm>
          <a:prstGeom prst="rect">
            <a:avLst/>
          </a:prstGeom>
          <a:noFill/>
          <a:ln w="9525">
            <a:noFill/>
            <a:miter lim="800000"/>
            <a:headEnd/>
            <a:tailEnd/>
          </a:ln>
        </p:spPr>
      </p:pic>
      <p:pic>
        <p:nvPicPr>
          <p:cNvPr id="7" name="图片 6"/>
          <p:cNvPicPr>
            <a:picLocks noChangeAspect="1"/>
          </p:cNvPicPr>
          <p:nvPr/>
        </p:nvPicPr>
        <p:blipFill>
          <a:blip r:embed="rId3"/>
          <a:stretch>
            <a:fillRect/>
          </a:stretch>
        </p:blipFill>
        <p:spPr>
          <a:xfrm>
            <a:off x="6456040" y="2365869"/>
            <a:ext cx="4596950" cy="2878745"/>
          </a:xfrm>
          <a:prstGeom prst="rect">
            <a:avLst/>
          </a:prstGeom>
        </p:spPr>
      </p:pic>
    </p:spTree>
    <p:extLst>
      <p:ext uri="{BB962C8B-B14F-4D97-AF65-F5344CB8AC3E}">
        <p14:creationId xmlns:p14="http://schemas.microsoft.com/office/powerpoint/2010/main" val="157824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AA5287E9-D4BA-476B-B81F-FDA9D7791949}"/>
              </a:ext>
            </a:extLst>
          </p:cNvPr>
          <p:cNvSpPr txBox="1"/>
          <p:nvPr>
            <p:custDataLst>
              <p:tags r:id="rId2"/>
            </p:custDataLst>
          </p:nvPr>
        </p:nvSpPr>
        <p:spPr>
          <a:xfrm>
            <a:off x="2661320" y="859372"/>
            <a:ext cx="7785100" cy="2143125"/>
          </a:xfrm>
          <a:prstGeom prst="rect">
            <a:avLst/>
          </a:prstGeom>
        </p:spPr>
        <p:txBody>
          <a:bodyPr anchor="ctr"/>
          <a:lstStyle/>
          <a:p>
            <a:pPr fontAlgn="auto">
              <a:spcAft>
                <a:spcPts val="0"/>
              </a:spcAft>
              <a:defRPr/>
            </a:pP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下面的视图中，表面结构符号标注使用正确的是：</a:t>
            </a:r>
          </a:p>
        </p:txBody>
      </p:sp>
      <p:sp>
        <p:nvSpPr>
          <p:cNvPr id="3" name="文本框 2">
            <a:extLst>
              <a:ext uri="{FF2B5EF4-FFF2-40B4-BE49-F238E27FC236}">
                <a16:creationId xmlns:a16="http://schemas.microsoft.com/office/drawing/2014/main" xmlns="" id="{71D1AC71-0674-4C68-9186-E4736C2DA04D}"/>
              </a:ext>
            </a:extLst>
          </p:cNvPr>
          <p:cNvSpPr txBox="1"/>
          <p:nvPr>
            <p:custDataLst>
              <p:tags r:id="rId3"/>
            </p:custDataLst>
          </p:nvPr>
        </p:nvSpPr>
        <p:spPr>
          <a:xfrm>
            <a:off x="3575720" y="3010435"/>
            <a:ext cx="6400800" cy="642937"/>
          </a:xfrm>
          <a:prstGeom prst="rect">
            <a:avLst/>
          </a:prstGeom>
        </p:spPr>
        <p:txBody>
          <a:bodyPr anchor="ctr"/>
          <a:lstStyle/>
          <a:p>
            <a:pPr fontAlgn="auto">
              <a:spcAft>
                <a:spcPts val="0"/>
              </a:spcAft>
              <a:defRPr/>
            </a:pP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kumimoji="0" lang="en-US" altLang="zh-CN"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a:t>
            </a: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4" name="文本框 3">
            <a:extLst>
              <a:ext uri="{FF2B5EF4-FFF2-40B4-BE49-F238E27FC236}">
                <a16:creationId xmlns:a16="http://schemas.microsoft.com/office/drawing/2014/main" xmlns="" id="{D8CD4A2D-FA84-4F56-B70B-4D91DBBFD0F8}"/>
              </a:ext>
            </a:extLst>
          </p:cNvPr>
          <p:cNvSpPr txBox="1"/>
          <p:nvPr>
            <p:custDataLst>
              <p:tags r:id="rId4"/>
            </p:custDataLst>
          </p:nvPr>
        </p:nvSpPr>
        <p:spPr>
          <a:xfrm>
            <a:off x="3575720" y="3867685"/>
            <a:ext cx="6400800" cy="642937"/>
          </a:xfrm>
          <a:prstGeom prst="rect">
            <a:avLst/>
          </a:prstGeom>
        </p:spPr>
        <p:txBody>
          <a:bodyPr anchor="ctr"/>
          <a:lstStyle/>
          <a:p>
            <a:pPr fontAlgn="auto">
              <a:spcAft>
                <a:spcPts val="0"/>
              </a:spcAft>
              <a:defRPr/>
            </a:pP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kumimoji="0" lang="en-US" altLang="zh-CN"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b</a:t>
            </a: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5" name="文本框 4">
            <a:extLst>
              <a:ext uri="{FF2B5EF4-FFF2-40B4-BE49-F238E27FC236}">
                <a16:creationId xmlns:a16="http://schemas.microsoft.com/office/drawing/2014/main" xmlns="" id="{CD1FF654-FC1C-4EE9-B0C8-F152EDBE5EA7}"/>
              </a:ext>
            </a:extLst>
          </p:cNvPr>
          <p:cNvSpPr txBox="1"/>
          <p:nvPr>
            <p:custDataLst>
              <p:tags r:id="rId5"/>
            </p:custDataLst>
          </p:nvPr>
        </p:nvSpPr>
        <p:spPr>
          <a:xfrm>
            <a:off x="3575720" y="4724935"/>
            <a:ext cx="6400800" cy="642937"/>
          </a:xfrm>
          <a:prstGeom prst="rect">
            <a:avLst/>
          </a:prstGeom>
        </p:spPr>
        <p:txBody>
          <a:bodyPr anchor="ctr"/>
          <a:lstStyle/>
          <a:p>
            <a:pPr fontAlgn="auto">
              <a:spcAft>
                <a:spcPts val="0"/>
              </a:spcAft>
              <a:defRPr/>
            </a:pP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r>
              <a:rPr kumimoji="0" lang="en-US" altLang="zh-CN"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c</a:t>
            </a:r>
            <a:r>
              <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t>
            </a:r>
          </a:p>
        </p:txBody>
      </p:sp>
      <p:sp>
        <p:nvSpPr>
          <p:cNvPr id="6" name="椭圆 9">
            <a:extLst>
              <a:ext uri="{FF2B5EF4-FFF2-40B4-BE49-F238E27FC236}">
                <a16:creationId xmlns:a16="http://schemas.microsoft.com/office/drawing/2014/main" xmlns="" id="{9F1E591C-7090-436A-8D93-BC203251C3CD}"/>
              </a:ext>
            </a:extLst>
          </p:cNvPr>
          <p:cNvSpPr>
            <a:spLocks noChangeAspect="1"/>
          </p:cNvSpPr>
          <p:nvPr>
            <p:custDataLst>
              <p:tags r:id="rId6"/>
            </p:custDataLst>
          </p:nvPr>
        </p:nvSpPr>
        <p:spPr bwMode="auto">
          <a:xfrm>
            <a:off x="2861345" y="3073935"/>
            <a:ext cx="514350" cy="514350"/>
          </a:xfrm>
          <a:prstGeom prst="ellipse">
            <a:avLst/>
          </a:prstGeom>
          <a:solidFill>
            <a:srgbClr val="808080"/>
          </a:solidFill>
          <a:ln w="127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A</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7" name="椭圆 10">
            <a:extLst>
              <a:ext uri="{FF2B5EF4-FFF2-40B4-BE49-F238E27FC236}">
                <a16:creationId xmlns:a16="http://schemas.microsoft.com/office/drawing/2014/main" xmlns="" id="{FE27B5F0-CB66-4FF0-96B0-DEAB755AEC97}"/>
              </a:ext>
            </a:extLst>
          </p:cNvPr>
          <p:cNvSpPr>
            <a:spLocks noChangeAspect="1"/>
          </p:cNvSpPr>
          <p:nvPr>
            <p:custDataLst>
              <p:tags r:id="rId7"/>
            </p:custDataLst>
          </p:nvPr>
        </p:nvSpPr>
        <p:spPr bwMode="auto">
          <a:xfrm>
            <a:off x="2861345" y="3931185"/>
            <a:ext cx="514350" cy="514350"/>
          </a:xfrm>
          <a:prstGeom prst="ellipse">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B</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8" name="椭圆 11">
            <a:extLst>
              <a:ext uri="{FF2B5EF4-FFF2-40B4-BE49-F238E27FC236}">
                <a16:creationId xmlns:a16="http://schemas.microsoft.com/office/drawing/2014/main" xmlns="" id="{2C4FEDE0-8286-468D-8618-936CA295CE1F}"/>
              </a:ext>
            </a:extLst>
          </p:cNvPr>
          <p:cNvSpPr>
            <a:spLocks noChangeAspect="1"/>
          </p:cNvSpPr>
          <p:nvPr>
            <p:custDataLst>
              <p:tags r:id="rId8"/>
            </p:custDataLst>
          </p:nvPr>
        </p:nvSpPr>
        <p:spPr bwMode="auto">
          <a:xfrm>
            <a:off x="2861345" y="4788435"/>
            <a:ext cx="514350" cy="514350"/>
          </a:xfrm>
          <a:prstGeom prst="ellipse">
            <a:avLst/>
          </a:prstGeom>
          <a:solidFill>
            <a:srgbClr val="808080"/>
          </a:solidFill>
          <a:ln w="127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C</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9" name="圆角矩形 13">
            <a:extLst>
              <a:ext uri="{FF2B5EF4-FFF2-40B4-BE49-F238E27FC236}">
                <a16:creationId xmlns:a16="http://schemas.microsoft.com/office/drawing/2014/main" xmlns="" id="{C7FE0951-B2FA-40D3-896D-DDD5CEE51A69}"/>
              </a:ext>
            </a:extLst>
          </p:cNvPr>
          <p:cNvSpPr>
            <a:spLocks noChangeArrowheads="1"/>
          </p:cNvSpPr>
          <p:nvPr>
            <p:custDataLst>
              <p:tags r:id="rId9"/>
            </p:custDataLst>
          </p:nvPr>
        </p:nvSpPr>
        <p:spPr bwMode="auto">
          <a:xfrm>
            <a:off x="7919120" y="6439435"/>
            <a:ext cx="1543050" cy="411162"/>
          </a:xfrm>
          <a:prstGeom prst="roundRect">
            <a:avLst>
              <a:gd name="adj" fmla="val 16667"/>
            </a:avLst>
          </a:prstGeom>
          <a:solidFill>
            <a:srgbClr val="808080"/>
          </a:solidFill>
          <a:ln w="38100">
            <a:solidFill>
              <a:srgbClr val="000000"/>
            </a:solidFill>
            <a:miter lim="800000"/>
            <a:headEnd/>
            <a:tailEnd/>
          </a:ln>
        </p:spPr>
        <p:txBody>
          <a:bodyPr wrap="none" anchor="ctr" anchorCtr="1"/>
          <a:lstStyle/>
          <a:p>
            <a:pPr algn="ctr"/>
            <a:r>
              <a:rPr lang="zh-CN" altLang="en-US" sz="1600">
                <a:solidFill>
                  <a:srgbClr val="FFFFFF"/>
                </a:solidFill>
                <a:latin typeface="Microsoft Yahei" pitchFamily="34" charset="-122"/>
                <a:ea typeface="Microsoft Yahei" pitchFamily="34" charset="-122"/>
                <a:sym typeface="Microsoft Yahei" pitchFamily="34" charset="-122"/>
              </a:rPr>
              <a:t>提交</a:t>
            </a:r>
          </a:p>
        </p:txBody>
      </p:sp>
      <p:pic>
        <p:nvPicPr>
          <p:cNvPr id="10" name="图片 21">
            <a:extLst>
              <a:ext uri="{FF2B5EF4-FFF2-40B4-BE49-F238E27FC236}">
                <a16:creationId xmlns:a16="http://schemas.microsoft.com/office/drawing/2014/main" xmlns="" id="{679F940D-7412-4F33-B426-77B29D116D7B}"/>
              </a:ext>
            </a:extLst>
          </p:cNvPr>
          <p:cNvPicPr>
            <a:picLocks noChangeAspect="1"/>
          </p:cNvPicPr>
          <p:nvPr/>
        </p:nvPicPr>
        <p:blipFill>
          <a:blip r:embed="rId17"/>
          <a:srcRect/>
          <a:stretch>
            <a:fillRect/>
          </a:stretch>
        </p:blipFill>
        <p:spPr bwMode="auto">
          <a:xfrm>
            <a:off x="8312820" y="2950110"/>
            <a:ext cx="2057400" cy="2247900"/>
          </a:xfrm>
          <a:prstGeom prst="rect">
            <a:avLst/>
          </a:prstGeom>
          <a:noFill/>
          <a:ln w="9525">
            <a:noFill/>
            <a:miter lim="800000"/>
            <a:headEnd/>
            <a:tailEnd/>
          </a:ln>
        </p:spPr>
      </p:pic>
      <p:pic>
        <p:nvPicPr>
          <p:cNvPr id="11" name="图片 22">
            <a:extLst>
              <a:ext uri="{FF2B5EF4-FFF2-40B4-BE49-F238E27FC236}">
                <a16:creationId xmlns:a16="http://schemas.microsoft.com/office/drawing/2014/main" xmlns="" id="{DAA5B9EE-6178-421C-B5E6-9BBCF2913A91}"/>
              </a:ext>
            </a:extLst>
          </p:cNvPr>
          <p:cNvPicPr>
            <a:picLocks noChangeAspect="1"/>
          </p:cNvPicPr>
          <p:nvPr/>
        </p:nvPicPr>
        <p:blipFill>
          <a:blip r:embed="rId18"/>
          <a:srcRect/>
          <a:stretch>
            <a:fillRect/>
          </a:stretch>
        </p:blipFill>
        <p:spPr bwMode="auto">
          <a:xfrm>
            <a:off x="5087020" y="4451885"/>
            <a:ext cx="2046288" cy="2263775"/>
          </a:xfrm>
          <a:prstGeom prst="rect">
            <a:avLst/>
          </a:prstGeom>
          <a:noFill/>
          <a:ln w="9525">
            <a:noFill/>
            <a:miter lim="800000"/>
            <a:headEnd/>
            <a:tailEnd/>
          </a:ln>
        </p:spPr>
      </p:pic>
      <p:pic>
        <p:nvPicPr>
          <p:cNvPr id="12" name="图片 23">
            <a:extLst>
              <a:ext uri="{FF2B5EF4-FFF2-40B4-BE49-F238E27FC236}">
                <a16:creationId xmlns:a16="http://schemas.microsoft.com/office/drawing/2014/main" xmlns="" id="{1E2823F0-C7EB-4328-8671-239869D631D9}"/>
              </a:ext>
            </a:extLst>
          </p:cNvPr>
          <p:cNvPicPr>
            <a:picLocks noChangeAspect="1"/>
          </p:cNvPicPr>
          <p:nvPr/>
        </p:nvPicPr>
        <p:blipFill>
          <a:blip r:embed="rId19"/>
          <a:srcRect/>
          <a:stretch>
            <a:fillRect/>
          </a:stretch>
        </p:blipFill>
        <p:spPr bwMode="auto">
          <a:xfrm>
            <a:off x="5087020" y="2203985"/>
            <a:ext cx="2286000" cy="2259012"/>
          </a:xfrm>
          <a:prstGeom prst="rect">
            <a:avLst/>
          </a:prstGeom>
          <a:noFill/>
          <a:ln w="9525">
            <a:noFill/>
            <a:miter lim="800000"/>
            <a:headEnd/>
            <a:tailEnd/>
          </a:ln>
        </p:spPr>
      </p:pic>
      <p:grpSp>
        <p:nvGrpSpPr>
          <p:cNvPr id="13" name="组合 18">
            <a:extLst>
              <a:ext uri="{FF2B5EF4-FFF2-40B4-BE49-F238E27FC236}">
                <a16:creationId xmlns:a16="http://schemas.microsoft.com/office/drawing/2014/main" xmlns="" id="{72BA8CE7-75B5-4200-8CB0-986D6D8397FC}"/>
              </a:ext>
            </a:extLst>
          </p:cNvPr>
          <p:cNvGrpSpPr>
            <a:grpSpLocks/>
          </p:cNvGrpSpPr>
          <p:nvPr>
            <p:custDataLst>
              <p:tags r:id="rId10"/>
            </p:custDataLst>
          </p:nvPr>
        </p:nvGrpSpPr>
        <p:grpSpPr bwMode="auto">
          <a:xfrm>
            <a:off x="0" y="0"/>
            <a:ext cx="9144000" cy="635000"/>
            <a:chOff x="-1746920" y="-224372"/>
            <a:chExt cx="9144000" cy="635000"/>
          </a:xfrm>
        </p:grpSpPr>
        <p:sp>
          <p:nvSpPr>
            <p:cNvPr id="14" name="TitleBackground">
              <a:extLst>
                <a:ext uri="{FF2B5EF4-FFF2-40B4-BE49-F238E27FC236}">
                  <a16:creationId xmlns:a16="http://schemas.microsoft.com/office/drawing/2014/main" xmlns="" id="{A31249D2-441B-4DCC-A79A-2CCFB154D225}"/>
                </a:ext>
              </a:extLst>
            </p:cNvPr>
            <p:cNvSpPr>
              <a:spLocks noChangeArrowheads="1"/>
            </p:cNvSpPr>
            <p:nvPr>
              <p:custDataLst>
                <p:tags r:id="rId12"/>
              </p:custDataLst>
            </p:nvPr>
          </p:nvSpPr>
          <p:spPr bwMode="auto">
            <a:xfrm>
              <a:off x="-1746920" y="-224372"/>
              <a:ext cx="9144000" cy="635000"/>
            </a:xfrm>
            <a:prstGeom prst="rect">
              <a:avLst/>
            </a:prstGeom>
            <a:solidFill>
              <a:srgbClr val="F6F7F8"/>
            </a:solidFill>
            <a:ln w="38100">
              <a:noFill/>
              <a:miter lim="800000"/>
              <a:headEnd/>
              <a:tailEnd/>
            </a:ln>
          </p:spPr>
          <p:txBody>
            <a:bodyPr wrap="none" anchor="ctr"/>
            <a:lstStyle/>
            <a:p>
              <a:pPr algn="ctr"/>
              <a:endParaRPr lang="zh-CN" altLang="en-US"/>
            </a:p>
          </p:txBody>
        </p:sp>
        <p:sp>
          <p:nvSpPr>
            <p:cNvPr id="15" name="ColorBlock">
              <a:extLst>
                <a:ext uri="{FF2B5EF4-FFF2-40B4-BE49-F238E27FC236}">
                  <a16:creationId xmlns:a16="http://schemas.microsoft.com/office/drawing/2014/main" xmlns="" id="{C9C4CE25-CFC8-4D31-8161-0776BC8A0A6E}"/>
                </a:ext>
              </a:extLst>
            </p:cNvPr>
            <p:cNvSpPr>
              <a:spLocks noChangeArrowheads="1"/>
            </p:cNvSpPr>
            <p:nvPr>
              <p:custDataLst>
                <p:tags r:id="rId13"/>
              </p:custDataLst>
            </p:nvPr>
          </p:nvSpPr>
          <p:spPr bwMode="auto">
            <a:xfrm>
              <a:off x="-1746920" y="-224372"/>
              <a:ext cx="190500" cy="635000"/>
            </a:xfrm>
            <a:prstGeom prst="rect">
              <a:avLst/>
            </a:prstGeom>
            <a:solidFill>
              <a:srgbClr val="639EF4"/>
            </a:solidFill>
            <a:ln w="38100">
              <a:noFill/>
              <a:miter lim="800000"/>
              <a:headEnd/>
              <a:tailEnd/>
            </a:ln>
          </p:spPr>
          <p:txBody>
            <a:bodyPr wrap="none" anchor="ctr"/>
            <a:lstStyle/>
            <a:p>
              <a:pPr algn="ctr"/>
              <a:endParaRPr lang="zh-CN" altLang="en-US"/>
            </a:p>
          </p:txBody>
        </p:sp>
        <p:sp>
          <p:nvSpPr>
            <p:cNvPr id="16" name="TypeText">
              <a:extLst>
                <a:ext uri="{FF2B5EF4-FFF2-40B4-BE49-F238E27FC236}">
                  <a16:creationId xmlns:a16="http://schemas.microsoft.com/office/drawing/2014/main" xmlns="" id="{3FEF643B-4179-47CD-8992-855C6BAD0CD0}"/>
                </a:ext>
              </a:extLst>
            </p:cNvPr>
            <p:cNvSpPr txBox="1"/>
            <p:nvPr>
              <p:custDataLst>
                <p:tags r:id="rId14"/>
              </p:custDataLst>
            </p:nvPr>
          </p:nvSpPr>
          <p:spPr>
            <a:xfrm>
              <a:off x="-1492920" y="-224372"/>
              <a:ext cx="1905000" cy="635000"/>
            </a:xfrm>
            <a:prstGeom prst="rect">
              <a:avLst/>
            </a:prstGeom>
          </p:spPr>
          <p:txBody>
            <a:bodyPr wrap="none" anchor="ctr"/>
            <a:lstStyle/>
            <a:p>
              <a:pPr fontAlgn="auto">
                <a:spcAft>
                  <a:spcPts val="0"/>
                </a:spcAft>
                <a:defRPr/>
              </a:pPr>
              <a:r>
                <a:rPr kumimoji="0" lang="zh-CN" altLang="en-US" sz="260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单选题</a:t>
              </a:r>
              <a:endParaRPr kumimoji="0" lang="zh-CN" altLang="en-US" sz="2600"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17" name="TipText">
              <a:extLst>
                <a:ext uri="{FF2B5EF4-FFF2-40B4-BE49-F238E27FC236}">
                  <a16:creationId xmlns:a16="http://schemas.microsoft.com/office/drawing/2014/main" xmlns="" id="{A1C07339-F269-4CA4-9CDE-F1DA5D6E8EFC}"/>
                </a:ext>
              </a:extLst>
            </p:cNvPr>
            <p:cNvSpPr txBox="1"/>
            <p:nvPr>
              <p:custDataLst>
                <p:tags r:id="rId15"/>
              </p:custDataLst>
            </p:nvPr>
          </p:nvSpPr>
          <p:spPr>
            <a:xfrm>
              <a:off x="-221015" y="-115152"/>
              <a:ext cx="2286000" cy="508000"/>
            </a:xfrm>
            <a:prstGeom prst="rect">
              <a:avLst/>
            </a:prstGeom>
          </p:spPr>
          <p:txBody>
            <a:bodyPr wrap="none" anchor="ctr"/>
            <a:lstStyle/>
            <a:p>
              <a:pPr fontAlgn="auto">
                <a:spcAft>
                  <a:spcPts val="0"/>
                </a:spcAft>
                <a:defRPr/>
              </a:pPr>
              <a:r>
                <a:rPr kumimoji="0" lang="en-US" altLang="zh-CN" sz="200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1</a:t>
              </a:r>
              <a:r>
                <a:rPr kumimoji="0" lang="zh-CN" altLang="en-US" sz="200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kumimoji="0" lang="zh-CN" altLang="en-US" sz="2000"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18" name="图片 3">
            <a:extLst>
              <a:ext uri="{FF2B5EF4-FFF2-40B4-BE49-F238E27FC236}">
                <a16:creationId xmlns:a16="http://schemas.microsoft.com/office/drawing/2014/main" xmlns="" id="{B1A498C9-BF5B-4344-B664-508959A82F55}"/>
              </a:ext>
            </a:extLst>
          </p:cNvPr>
          <p:cNvPicPr>
            <a:picLocks/>
          </p:cNvPicPr>
          <p:nvPr>
            <p:custDataLst>
              <p:tags r:id="rId11"/>
            </p:custDataLst>
          </p:nvPr>
        </p:nvPicPr>
        <p:blipFill>
          <a:blip r:embed="rId20"/>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163793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xmlns="" id="{E6AEE721-91ED-46E3-A8EB-A52BC4929F41}"/>
              </a:ext>
            </a:extLst>
          </p:cNvPr>
          <p:cNvSpPr txBox="1">
            <a:spLocks noChangeArrowheads="1"/>
          </p:cNvSpPr>
          <p:nvPr/>
        </p:nvSpPr>
        <p:spPr bwMode="auto">
          <a:xfrm>
            <a:off x="3737868" y="356412"/>
            <a:ext cx="4549775"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3" name="Text Box 6">
            <a:extLst>
              <a:ext uri="{FF2B5EF4-FFF2-40B4-BE49-F238E27FC236}">
                <a16:creationId xmlns:a16="http://schemas.microsoft.com/office/drawing/2014/main" xmlns="" id="{9A6ACCAC-786C-4A58-B6E1-D374DAF41989}"/>
              </a:ext>
            </a:extLst>
          </p:cNvPr>
          <p:cNvSpPr txBox="1">
            <a:spLocks noChangeArrowheads="1"/>
          </p:cNvSpPr>
          <p:nvPr/>
        </p:nvSpPr>
        <p:spPr bwMode="auto">
          <a:xfrm>
            <a:off x="1235971" y="941187"/>
            <a:ext cx="1628775" cy="523875"/>
          </a:xfrm>
          <a:prstGeom prst="rect">
            <a:avLst/>
          </a:prstGeom>
          <a:noFill/>
          <a:ln w="9525">
            <a:noFill/>
            <a:miter lim="800000"/>
            <a:headEnd/>
            <a:tailEnd/>
          </a:ln>
        </p:spPr>
        <p:txBody>
          <a:bodyPr wrap="none">
            <a:spAutoFit/>
          </a:bodyPr>
          <a:lstStyle/>
          <a:p>
            <a:r>
              <a:rPr lang="en-US" altLang="zh-CN" sz="2800" b="1" dirty="0">
                <a:solidFill>
                  <a:srgbClr val="FF3300"/>
                </a:solidFill>
              </a:rPr>
              <a:t>1.</a:t>
            </a:r>
            <a:r>
              <a:rPr lang="zh-CN" altLang="en-US" sz="2800" b="1" dirty="0">
                <a:solidFill>
                  <a:srgbClr val="FF3300"/>
                </a:solidFill>
              </a:rPr>
              <a:t>互换性</a:t>
            </a:r>
          </a:p>
        </p:txBody>
      </p:sp>
      <p:sp>
        <p:nvSpPr>
          <p:cNvPr id="4" name="Text Box 8">
            <a:extLst>
              <a:ext uri="{FF2B5EF4-FFF2-40B4-BE49-F238E27FC236}">
                <a16:creationId xmlns:a16="http://schemas.microsoft.com/office/drawing/2014/main" xmlns="" id="{C588D6DE-B2D6-4F38-B1E3-0E235D4FE303}"/>
              </a:ext>
            </a:extLst>
          </p:cNvPr>
          <p:cNvSpPr txBox="1">
            <a:spLocks noChangeArrowheads="1"/>
          </p:cNvSpPr>
          <p:nvPr/>
        </p:nvSpPr>
        <p:spPr bwMode="auto">
          <a:xfrm>
            <a:off x="1419478" y="1585103"/>
            <a:ext cx="2890535" cy="523220"/>
          </a:xfrm>
          <a:prstGeom prst="rect">
            <a:avLst/>
          </a:prstGeom>
          <a:noFill/>
          <a:ln w="9525">
            <a:noFill/>
            <a:miter lim="800000"/>
            <a:headEnd/>
            <a:tailEnd/>
          </a:ln>
        </p:spPr>
        <p:txBody>
          <a:bodyPr wrap="none">
            <a:spAutoFit/>
          </a:bodyPr>
          <a:lstStyle/>
          <a:p>
            <a:r>
              <a:rPr lang="en-US" altLang="zh-CN" sz="2800" b="1" dirty="0">
                <a:solidFill>
                  <a:srgbClr val="0070C0"/>
                </a:solidFill>
                <a:latin typeface="宋体" pitchFamily="2" charset="-122"/>
                <a:ea typeface="宋体" pitchFamily="2" charset="-122"/>
              </a:rPr>
              <a:t>● </a:t>
            </a:r>
            <a:r>
              <a:rPr lang="zh-CN" altLang="en-US" sz="2800" b="1" dirty="0">
                <a:solidFill>
                  <a:srgbClr val="0070C0"/>
                </a:solidFill>
                <a:latin typeface="宋体" pitchFamily="2" charset="-122"/>
                <a:ea typeface="宋体" pitchFamily="2" charset="-122"/>
              </a:rPr>
              <a:t>互换性要求：</a:t>
            </a:r>
          </a:p>
        </p:txBody>
      </p:sp>
      <p:sp>
        <p:nvSpPr>
          <p:cNvPr id="5" name="Text Box 9">
            <a:extLst>
              <a:ext uri="{FF2B5EF4-FFF2-40B4-BE49-F238E27FC236}">
                <a16:creationId xmlns:a16="http://schemas.microsoft.com/office/drawing/2014/main" xmlns="" id="{6445C5A2-5DE0-4561-B9E9-BDDFC8718EFF}"/>
              </a:ext>
            </a:extLst>
          </p:cNvPr>
          <p:cNvSpPr txBox="1">
            <a:spLocks noChangeArrowheads="1"/>
          </p:cNvSpPr>
          <p:nvPr/>
        </p:nvSpPr>
        <p:spPr bwMode="auto">
          <a:xfrm>
            <a:off x="1421258" y="3955355"/>
            <a:ext cx="5416550" cy="522288"/>
          </a:xfrm>
          <a:prstGeom prst="rect">
            <a:avLst/>
          </a:prstGeom>
          <a:noFill/>
          <a:ln w="9525">
            <a:noFill/>
            <a:miter lim="800000"/>
            <a:headEnd/>
            <a:tailEnd/>
          </a:ln>
        </p:spPr>
        <p:txBody>
          <a:bodyPr wrap="none">
            <a:spAutoFit/>
          </a:bodyPr>
          <a:lstStyle/>
          <a:p>
            <a:r>
              <a:rPr lang="en-US" altLang="zh-CN" sz="2800" b="1" dirty="0">
                <a:solidFill>
                  <a:srgbClr val="0070C0"/>
                </a:solidFill>
                <a:latin typeface="宋体" pitchFamily="2" charset="-122"/>
                <a:ea typeface="宋体" pitchFamily="2" charset="-122"/>
              </a:rPr>
              <a:t>● </a:t>
            </a:r>
            <a:r>
              <a:rPr lang="zh-CN" altLang="en-US" sz="2800" b="1" dirty="0">
                <a:solidFill>
                  <a:srgbClr val="0070C0"/>
                </a:solidFill>
                <a:latin typeface="宋体" pitchFamily="2" charset="-122"/>
                <a:ea typeface="宋体" pitchFamily="2" charset="-122"/>
              </a:rPr>
              <a:t>保证零件具有互换性的措施：</a:t>
            </a:r>
          </a:p>
        </p:txBody>
      </p:sp>
      <p:sp>
        <p:nvSpPr>
          <p:cNvPr id="6" name="Text Box 10">
            <a:extLst>
              <a:ext uri="{FF2B5EF4-FFF2-40B4-BE49-F238E27FC236}">
                <a16:creationId xmlns:a16="http://schemas.microsoft.com/office/drawing/2014/main" xmlns="" id="{FBD8251E-C172-4EE8-BD64-FA83D0B88192}"/>
              </a:ext>
            </a:extLst>
          </p:cNvPr>
          <p:cNvSpPr txBox="1">
            <a:spLocks noChangeArrowheads="1"/>
          </p:cNvSpPr>
          <p:nvPr/>
        </p:nvSpPr>
        <p:spPr bwMode="auto">
          <a:xfrm>
            <a:off x="1240579" y="4947362"/>
            <a:ext cx="9983889" cy="1200329"/>
          </a:xfrm>
          <a:prstGeom prst="rect">
            <a:avLst/>
          </a:prstGeom>
          <a:noFill/>
          <a:ln w="9525">
            <a:noFill/>
            <a:miter lim="800000"/>
            <a:headEnd/>
            <a:tailEnd/>
          </a:ln>
        </p:spPr>
        <p:txBody>
          <a:bodyPr wrap="square">
            <a:spAutoFit/>
          </a:bodyPr>
          <a:lstStyle/>
          <a:p>
            <a:r>
              <a:rPr lang="zh-CN" altLang="zh-CN" sz="2400" dirty="0">
                <a:solidFill>
                  <a:schemeClr val="tx1"/>
                </a:solidFill>
                <a:latin typeface="Calibri" pitchFamily="34" charset="0"/>
                <a:ea typeface="宋体" pitchFamily="2" charset="-122"/>
              </a:rPr>
              <a:t>国家标准《极限与配合》保证了零件的互换性</a:t>
            </a:r>
            <a:r>
              <a:rPr lang="zh-CN" altLang="en-US" sz="2400" dirty="0">
                <a:solidFill>
                  <a:schemeClr val="tx1"/>
                </a:solidFill>
                <a:latin typeface="Calibri" pitchFamily="34" charset="0"/>
                <a:ea typeface="宋体" pitchFamily="2" charset="-122"/>
              </a:rPr>
              <a:t>。</a:t>
            </a:r>
            <a:r>
              <a:rPr lang="zh-CN" altLang="zh-CN" sz="2400" dirty="0">
                <a:solidFill>
                  <a:schemeClr val="tx1"/>
                </a:solidFill>
                <a:latin typeface="Calibri" pitchFamily="34" charset="0"/>
                <a:ea typeface="宋体" pitchFamily="2" charset="-122"/>
              </a:rPr>
              <a:t>为保证零件的互换性及零件的加工精度，设计时应根据零件使用要求和加工条件，将零件的误差限制在一定的范围内</a:t>
            </a:r>
            <a:r>
              <a:rPr lang="zh-CN" altLang="en-US" sz="2400" dirty="0">
                <a:solidFill>
                  <a:schemeClr val="tx1"/>
                </a:solidFill>
                <a:latin typeface="Calibri" pitchFamily="34" charset="0"/>
                <a:ea typeface="宋体" pitchFamily="2" charset="-122"/>
              </a:rPr>
              <a:t>，</a:t>
            </a:r>
            <a:r>
              <a:rPr lang="zh-CN" altLang="en-US" sz="2400" dirty="0">
                <a:solidFill>
                  <a:schemeClr val="tx1"/>
                </a:solidFill>
                <a:latin typeface="宋体" pitchFamily="2" charset="-122"/>
                <a:ea typeface="宋体" pitchFamily="2" charset="-122"/>
              </a:rPr>
              <a:t>确定零件</a:t>
            </a:r>
            <a:r>
              <a:rPr lang="zh-CN" altLang="en-US" sz="2400" dirty="0">
                <a:solidFill>
                  <a:srgbClr val="FF3300"/>
                </a:solidFill>
                <a:latin typeface="宋体" pitchFamily="2" charset="-122"/>
                <a:ea typeface="宋体" pitchFamily="2" charset="-122"/>
              </a:rPr>
              <a:t>合理的配合要求和尺寸极限</a:t>
            </a:r>
            <a:r>
              <a:rPr lang="zh-CN" altLang="en-US" sz="2400" dirty="0">
                <a:solidFill>
                  <a:schemeClr val="tx1"/>
                </a:solidFill>
                <a:latin typeface="宋体" pitchFamily="2" charset="-122"/>
                <a:ea typeface="宋体" pitchFamily="2" charset="-122"/>
              </a:rPr>
              <a:t>。</a:t>
            </a:r>
          </a:p>
        </p:txBody>
      </p:sp>
      <p:sp>
        <p:nvSpPr>
          <p:cNvPr id="7" name="Text Box 7">
            <a:extLst>
              <a:ext uri="{FF2B5EF4-FFF2-40B4-BE49-F238E27FC236}">
                <a16:creationId xmlns:a16="http://schemas.microsoft.com/office/drawing/2014/main" xmlns="" id="{F2364839-D68B-477A-9BBF-D6DC31E7F3A9}"/>
              </a:ext>
            </a:extLst>
          </p:cNvPr>
          <p:cNvSpPr txBox="1">
            <a:spLocks noChangeArrowheads="1"/>
          </p:cNvSpPr>
          <p:nvPr/>
        </p:nvSpPr>
        <p:spPr bwMode="auto">
          <a:xfrm>
            <a:off x="1413218" y="2207402"/>
            <a:ext cx="4367908" cy="1570037"/>
          </a:xfrm>
          <a:prstGeom prst="rect">
            <a:avLst/>
          </a:prstGeom>
          <a:noFill/>
          <a:ln w="9525">
            <a:noFill/>
            <a:miter lim="800000"/>
            <a:headEnd/>
            <a:tailEnd/>
          </a:ln>
        </p:spPr>
        <p:txBody>
          <a:bodyPr wrap="square">
            <a:spAutoFit/>
          </a:bodyPr>
          <a:lstStyle/>
          <a:p>
            <a:pPr>
              <a:buFont typeface="Arial" charset="0"/>
              <a:buNone/>
            </a:pPr>
            <a:r>
              <a:rPr lang="en-US" altLang="zh-CN" sz="2400" dirty="0">
                <a:solidFill>
                  <a:schemeClr val="tx1"/>
                </a:solidFill>
                <a:latin typeface="宋体" pitchFamily="2" charset="-122"/>
                <a:ea typeface="宋体" pitchFamily="2" charset="-122"/>
              </a:rPr>
              <a:t>    </a:t>
            </a:r>
            <a:r>
              <a:rPr lang="zh-CN" altLang="en-US" sz="2400" dirty="0">
                <a:solidFill>
                  <a:schemeClr val="tx1"/>
                </a:solidFill>
                <a:latin typeface="宋体" pitchFamily="2" charset="-122"/>
                <a:ea typeface="宋体" pitchFamily="2" charset="-122"/>
              </a:rPr>
              <a:t>同一批零件，</a:t>
            </a:r>
            <a:r>
              <a:rPr lang="zh-CN" altLang="en-US" sz="2400" dirty="0">
                <a:solidFill>
                  <a:srgbClr val="FF3300"/>
                </a:solidFill>
                <a:latin typeface="宋体" pitchFamily="2" charset="-122"/>
                <a:ea typeface="宋体" pitchFamily="2" charset="-122"/>
              </a:rPr>
              <a:t>不经挑选</a:t>
            </a:r>
            <a:r>
              <a:rPr lang="zh-CN" altLang="en-US" sz="2400" dirty="0">
                <a:solidFill>
                  <a:schemeClr val="tx1"/>
                </a:solidFill>
                <a:latin typeface="宋体" pitchFamily="2" charset="-122"/>
                <a:ea typeface="宋体" pitchFamily="2" charset="-122"/>
              </a:rPr>
              <a:t>和</a:t>
            </a:r>
            <a:r>
              <a:rPr lang="zh-CN" altLang="en-US" sz="2400" dirty="0">
                <a:solidFill>
                  <a:srgbClr val="FF3300"/>
                </a:solidFill>
                <a:latin typeface="宋体" pitchFamily="2" charset="-122"/>
                <a:ea typeface="宋体" pitchFamily="2" charset="-122"/>
              </a:rPr>
              <a:t>辅助加工</a:t>
            </a:r>
            <a:r>
              <a:rPr lang="zh-CN" altLang="en-US" sz="2400" dirty="0">
                <a:solidFill>
                  <a:schemeClr val="tx1"/>
                </a:solidFill>
                <a:latin typeface="宋体" pitchFamily="2" charset="-122"/>
                <a:ea typeface="宋体" pitchFamily="2" charset="-122"/>
              </a:rPr>
              <a:t>，任取一个就可</a:t>
            </a:r>
            <a:r>
              <a:rPr lang="zh-CN" altLang="en-US" sz="2400" dirty="0">
                <a:solidFill>
                  <a:srgbClr val="FF3300"/>
                </a:solidFill>
                <a:latin typeface="宋体" pitchFamily="2" charset="-122"/>
                <a:ea typeface="宋体" pitchFamily="2" charset="-122"/>
              </a:rPr>
              <a:t>顺利地装到机器上去</a:t>
            </a:r>
            <a:r>
              <a:rPr lang="zh-CN" altLang="en-US" sz="2400" dirty="0">
                <a:solidFill>
                  <a:schemeClr val="tx1"/>
                </a:solidFill>
                <a:latin typeface="宋体" pitchFamily="2" charset="-122"/>
                <a:ea typeface="宋体" pitchFamily="2" charset="-122"/>
              </a:rPr>
              <a:t>并</a:t>
            </a:r>
            <a:r>
              <a:rPr lang="zh-CN" altLang="en-US" sz="2400" dirty="0">
                <a:solidFill>
                  <a:srgbClr val="FF3300"/>
                </a:solidFill>
                <a:latin typeface="宋体" pitchFamily="2" charset="-122"/>
                <a:ea typeface="宋体" pitchFamily="2" charset="-122"/>
              </a:rPr>
              <a:t>满足机器的性能要求</a:t>
            </a:r>
            <a:r>
              <a:rPr lang="zh-CN" altLang="en-US" sz="2400" dirty="0">
                <a:solidFill>
                  <a:schemeClr val="tx1"/>
                </a:solidFill>
                <a:latin typeface="宋体" pitchFamily="2" charset="-122"/>
                <a:ea typeface="宋体" pitchFamily="2" charset="-122"/>
              </a:rPr>
              <a:t>。</a:t>
            </a:r>
            <a:endParaRPr lang="zh-CN" altLang="en-US" sz="2400" dirty="0">
              <a:solidFill>
                <a:srgbClr val="FF3300"/>
              </a:solidFill>
              <a:latin typeface="宋体" pitchFamily="2" charset="-122"/>
              <a:ea typeface="宋体" pitchFamily="2" charset="-122"/>
            </a:endParaRPr>
          </a:p>
        </p:txBody>
      </p:sp>
      <p:pic>
        <p:nvPicPr>
          <p:cNvPr id="8" name="Picture 11">
            <a:extLst>
              <a:ext uri="{FF2B5EF4-FFF2-40B4-BE49-F238E27FC236}">
                <a16:creationId xmlns:a16="http://schemas.microsoft.com/office/drawing/2014/main" xmlns="" id="{CC08D2B4-EDE0-4E91-998F-B55213859CE7}"/>
              </a:ext>
            </a:extLst>
          </p:cNvPr>
          <p:cNvPicPr>
            <a:picLocks noChangeAspect="1" noChangeArrowheads="1"/>
          </p:cNvPicPr>
          <p:nvPr/>
        </p:nvPicPr>
        <p:blipFill>
          <a:blip r:embed="rId3"/>
          <a:srcRect/>
          <a:stretch>
            <a:fillRect/>
          </a:stretch>
        </p:blipFill>
        <p:spPr bwMode="auto">
          <a:xfrm>
            <a:off x="6417546" y="1585103"/>
            <a:ext cx="4549775" cy="2814637"/>
          </a:xfrm>
          <a:prstGeom prst="rect">
            <a:avLst/>
          </a:prstGeom>
          <a:noFill/>
          <a:ln w="9525">
            <a:noFill/>
            <a:miter lim="800000"/>
            <a:headEnd/>
            <a:tailEnd/>
          </a:ln>
        </p:spPr>
      </p:pic>
    </p:spTree>
    <p:extLst>
      <p:ext uri="{BB962C8B-B14F-4D97-AF65-F5344CB8AC3E}">
        <p14:creationId xmlns:p14="http://schemas.microsoft.com/office/powerpoint/2010/main" val="30994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75"/>
                                        <p:tgtEl>
                                          <p:spTgt spid="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up)">
                                      <p:cBhvr>
                                        <p:cTn id="17" dur="75"/>
                                        <p:tgtEl>
                                          <p:spTgt spid="5">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up)">
                                      <p:cBhvr>
                                        <p:cTn id="22" dur="75"/>
                                        <p:tgtEl>
                                          <p:spTgt spid="6">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build="p" autoUpdateAnimBg="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2">
            <a:extLst>
              <a:ext uri="{FF2B5EF4-FFF2-40B4-BE49-F238E27FC236}">
                <a16:creationId xmlns:a16="http://schemas.microsoft.com/office/drawing/2014/main" xmlns="" id="{91735D12-0743-4150-B3EF-5C7C525184B4}"/>
              </a:ext>
            </a:extLst>
          </p:cNvPr>
          <p:cNvPicPr>
            <a:picLocks noChangeAspect="1" noChangeArrowheads="1"/>
          </p:cNvPicPr>
          <p:nvPr/>
        </p:nvPicPr>
        <p:blipFill>
          <a:blip r:embed="rId3"/>
          <a:srcRect/>
          <a:stretch>
            <a:fillRect/>
          </a:stretch>
        </p:blipFill>
        <p:spPr bwMode="auto">
          <a:xfrm>
            <a:off x="6996113" y="1803470"/>
            <a:ext cx="2235200" cy="1627187"/>
          </a:xfrm>
          <a:prstGeom prst="rect">
            <a:avLst/>
          </a:prstGeom>
          <a:noFill/>
          <a:ln w="9525">
            <a:noFill/>
            <a:miter lim="800000"/>
            <a:headEnd/>
            <a:tailEnd/>
          </a:ln>
        </p:spPr>
      </p:pic>
      <p:sp>
        <p:nvSpPr>
          <p:cNvPr id="3" name="Text Box 2">
            <a:extLst>
              <a:ext uri="{FF2B5EF4-FFF2-40B4-BE49-F238E27FC236}">
                <a16:creationId xmlns:a16="http://schemas.microsoft.com/office/drawing/2014/main" xmlns="" id="{7D2993BA-D134-47D2-9739-BE7B78B14043}"/>
              </a:ext>
            </a:extLst>
          </p:cNvPr>
          <p:cNvSpPr txBox="1">
            <a:spLocks noChangeArrowheads="1"/>
          </p:cNvSpPr>
          <p:nvPr/>
        </p:nvSpPr>
        <p:spPr bwMode="auto">
          <a:xfrm>
            <a:off x="1280877" y="2203253"/>
            <a:ext cx="4726938" cy="708025"/>
          </a:xfrm>
          <a:prstGeom prst="rect">
            <a:avLst/>
          </a:prstGeom>
          <a:noFill/>
          <a:ln w="9525">
            <a:noFill/>
            <a:miter lim="800000"/>
            <a:headEnd/>
            <a:tailEnd/>
          </a:ln>
        </p:spPr>
        <p:txBody>
          <a:bodyPr wrap="square">
            <a:spAutoFit/>
          </a:bodyPr>
          <a:lstStyle/>
          <a:p>
            <a:r>
              <a:rPr lang="en-US" altLang="zh-CN" sz="2000" b="1" dirty="0">
                <a:solidFill>
                  <a:srgbClr val="FF0000"/>
                </a:solidFill>
                <a:latin typeface="+mn-ea"/>
                <a:ea typeface="+mn-ea"/>
              </a:rPr>
              <a:t>1</a:t>
            </a:r>
            <a:r>
              <a:rPr lang="zh-CN" altLang="en-US" sz="2000" b="1" dirty="0">
                <a:solidFill>
                  <a:srgbClr val="FF0000"/>
                </a:solidFill>
                <a:latin typeface="+mn-ea"/>
                <a:ea typeface="+mn-ea"/>
              </a:rPr>
              <a:t>）</a:t>
            </a:r>
            <a:r>
              <a:rPr lang="zh-CN" altLang="en-US" sz="2000" b="1" dirty="0">
                <a:solidFill>
                  <a:srgbClr val="FF0000"/>
                </a:solidFill>
              </a:rPr>
              <a:t>尺寸要素</a:t>
            </a:r>
            <a:r>
              <a:rPr lang="en-US" altLang="zh-CN" sz="2000" b="1" dirty="0">
                <a:solidFill>
                  <a:srgbClr val="FF0000"/>
                </a:solidFill>
              </a:rPr>
              <a:t>:</a:t>
            </a:r>
            <a:r>
              <a:rPr lang="zh-CN" altLang="en-US" sz="2000" b="1" dirty="0">
                <a:solidFill>
                  <a:schemeClr val="tx1"/>
                </a:solidFill>
                <a:latin typeface="宋体" pitchFamily="2" charset="-122"/>
                <a:ea typeface="宋体" pitchFamily="2" charset="-122"/>
              </a:rPr>
              <a:t>由一定大小的线性尺寸或角度尺寸确定的几何形状。</a:t>
            </a:r>
          </a:p>
        </p:txBody>
      </p:sp>
      <p:sp>
        <p:nvSpPr>
          <p:cNvPr id="4" name="Text Box 3">
            <a:extLst>
              <a:ext uri="{FF2B5EF4-FFF2-40B4-BE49-F238E27FC236}">
                <a16:creationId xmlns:a16="http://schemas.microsoft.com/office/drawing/2014/main" xmlns="" id="{FA310D36-F9EF-43A9-8B3B-7A238B7B6995}"/>
              </a:ext>
            </a:extLst>
          </p:cNvPr>
          <p:cNvSpPr txBox="1">
            <a:spLocks noChangeArrowheads="1"/>
          </p:cNvSpPr>
          <p:nvPr/>
        </p:nvSpPr>
        <p:spPr bwMode="auto">
          <a:xfrm>
            <a:off x="1261113" y="3986015"/>
            <a:ext cx="1696777" cy="400110"/>
          </a:xfrm>
          <a:prstGeom prst="rect">
            <a:avLst/>
          </a:prstGeom>
          <a:noFill/>
          <a:ln w="9525">
            <a:noFill/>
            <a:miter lim="800000"/>
            <a:headEnd/>
            <a:tailEnd/>
          </a:ln>
        </p:spPr>
        <p:txBody>
          <a:bodyPr wrap="square">
            <a:spAutoFit/>
          </a:bodyPr>
          <a:lstStyle/>
          <a:p>
            <a:r>
              <a:rPr lang="en-US" altLang="zh-CN" sz="2000" b="1" dirty="0">
                <a:solidFill>
                  <a:srgbClr val="FF0000"/>
                </a:solidFill>
                <a:latin typeface="+mn-ea"/>
                <a:ea typeface="+mn-ea"/>
              </a:rPr>
              <a:t>3</a:t>
            </a:r>
            <a:r>
              <a:rPr lang="zh-CN" altLang="en-US" sz="2000" b="1" dirty="0">
                <a:solidFill>
                  <a:srgbClr val="FF0000"/>
                </a:solidFill>
                <a:latin typeface="+mn-ea"/>
                <a:ea typeface="+mn-ea"/>
              </a:rPr>
              <a:t>）</a:t>
            </a:r>
            <a:r>
              <a:rPr lang="zh-CN" altLang="en-US" sz="2000" b="1" dirty="0">
                <a:solidFill>
                  <a:srgbClr val="FF0000"/>
                </a:solidFill>
              </a:rPr>
              <a:t>实际尺寸</a:t>
            </a:r>
            <a:r>
              <a:rPr lang="en-US" altLang="zh-CN" sz="2000" b="1" dirty="0">
                <a:solidFill>
                  <a:srgbClr val="FF0000"/>
                </a:solidFill>
              </a:rPr>
              <a:t>:</a:t>
            </a:r>
          </a:p>
        </p:txBody>
      </p:sp>
      <p:sp>
        <p:nvSpPr>
          <p:cNvPr id="5" name="Text Box 4">
            <a:extLst>
              <a:ext uri="{FF2B5EF4-FFF2-40B4-BE49-F238E27FC236}">
                <a16:creationId xmlns:a16="http://schemas.microsoft.com/office/drawing/2014/main" xmlns="" id="{456CFB35-D517-4A75-93C2-DC348F4574AB}"/>
              </a:ext>
            </a:extLst>
          </p:cNvPr>
          <p:cNvSpPr txBox="1">
            <a:spLocks noChangeArrowheads="1"/>
          </p:cNvSpPr>
          <p:nvPr/>
        </p:nvSpPr>
        <p:spPr bwMode="auto">
          <a:xfrm>
            <a:off x="1261113" y="4518678"/>
            <a:ext cx="1696777" cy="400110"/>
          </a:xfrm>
          <a:prstGeom prst="rect">
            <a:avLst/>
          </a:prstGeom>
          <a:noFill/>
          <a:ln w="9525">
            <a:noFill/>
            <a:miter lim="800000"/>
            <a:headEnd/>
            <a:tailEnd/>
          </a:ln>
        </p:spPr>
        <p:txBody>
          <a:bodyPr wrap="square">
            <a:spAutoFit/>
          </a:bodyPr>
          <a:lstStyle/>
          <a:p>
            <a:r>
              <a:rPr lang="en-US" altLang="zh-CN" sz="2000" b="1" dirty="0">
                <a:solidFill>
                  <a:srgbClr val="FF0000"/>
                </a:solidFill>
                <a:latin typeface="+mn-ea"/>
                <a:ea typeface="+mn-ea"/>
              </a:rPr>
              <a:t>4</a:t>
            </a:r>
            <a:r>
              <a:rPr lang="zh-CN" altLang="en-US" sz="2000" b="1" dirty="0">
                <a:solidFill>
                  <a:srgbClr val="FF0000"/>
                </a:solidFill>
                <a:latin typeface="+mn-ea"/>
                <a:ea typeface="+mn-ea"/>
              </a:rPr>
              <a:t>）</a:t>
            </a:r>
            <a:r>
              <a:rPr lang="zh-CN" altLang="en-US" sz="2000" b="1" dirty="0">
                <a:solidFill>
                  <a:srgbClr val="FF0000"/>
                </a:solidFill>
              </a:rPr>
              <a:t>极限尺寸</a:t>
            </a:r>
            <a:r>
              <a:rPr lang="en-US" altLang="zh-CN" sz="2000" b="1" dirty="0">
                <a:solidFill>
                  <a:srgbClr val="FF0000"/>
                </a:solidFill>
              </a:rPr>
              <a:t>:</a:t>
            </a:r>
          </a:p>
        </p:txBody>
      </p:sp>
      <p:sp>
        <p:nvSpPr>
          <p:cNvPr id="6" name="Text Box 5">
            <a:extLst>
              <a:ext uri="{FF2B5EF4-FFF2-40B4-BE49-F238E27FC236}">
                <a16:creationId xmlns:a16="http://schemas.microsoft.com/office/drawing/2014/main" xmlns="" id="{6BC9256C-4963-4CF9-962D-00F3205D0575}"/>
              </a:ext>
            </a:extLst>
          </p:cNvPr>
          <p:cNvSpPr txBox="1">
            <a:spLocks noChangeArrowheads="1"/>
          </p:cNvSpPr>
          <p:nvPr/>
        </p:nvSpPr>
        <p:spPr bwMode="auto">
          <a:xfrm>
            <a:off x="1261113" y="5017759"/>
            <a:ext cx="1992853" cy="400110"/>
          </a:xfrm>
          <a:prstGeom prst="rect">
            <a:avLst/>
          </a:prstGeom>
          <a:noFill/>
          <a:ln w="9525">
            <a:noFill/>
            <a:miter lim="800000"/>
            <a:headEnd/>
            <a:tailEnd/>
          </a:ln>
        </p:spPr>
        <p:txBody>
          <a:bodyPr wrap="none">
            <a:spAutoFit/>
          </a:bodyPr>
          <a:lstStyle/>
          <a:p>
            <a:r>
              <a:rPr lang="en-US" altLang="zh-CN" sz="2000" b="1" dirty="0">
                <a:solidFill>
                  <a:srgbClr val="FF0000"/>
                </a:solidFill>
                <a:latin typeface="宋体" pitchFamily="2" charset="-122"/>
                <a:ea typeface="宋体" pitchFamily="2" charset="-122"/>
              </a:rPr>
              <a:t>5</a:t>
            </a:r>
            <a:r>
              <a:rPr lang="zh-CN" altLang="en-US" sz="2000" b="1" dirty="0">
                <a:solidFill>
                  <a:srgbClr val="FF0000"/>
                </a:solidFill>
                <a:latin typeface="宋体" pitchFamily="2" charset="-122"/>
                <a:ea typeface="宋体" pitchFamily="2" charset="-122"/>
              </a:rPr>
              <a:t>）上极限尺寸</a:t>
            </a:r>
            <a:r>
              <a:rPr lang="en-US" altLang="zh-CN" sz="2000" b="1" dirty="0">
                <a:solidFill>
                  <a:srgbClr val="FF0000"/>
                </a:solidFill>
                <a:latin typeface="宋体" pitchFamily="2" charset="-122"/>
                <a:ea typeface="宋体" pitchFamily="2" charset="-122"/>
              </a:rPr>
              <a:t>:</a:t>
            </a:r>
          </a:p>
        </p:txBody>
      </p:sp>
      <p:sp>
        <p:nvSpPr>
          <p:cNvPr id="7" name="Text Box 6">
            <a:extLst>
              <a:ext uri="{FF2B5EF4-FFF2-40B4-BE49-F238E27FC236}">
                <a16:creationId xmlns:a16="http://schemas.microsoft.com/office/drawing/2014/main" xmlns="" id="{9B89581B-0F95-4E22-91AA-F1F95AAFF0CB}"/>
              </a:ext>
            </a:extLst>
          </p:cNvPr>
          <p:cNvSpPr txBox="1">
            <a:spLocks noChangeArrowheads="1"/>
          </p:cNvSpPr>
          <p:nvPr/>
        </p:nvSpPr>
        <p:spPr bwMode="auto">
          <a:xfrm>
            <a:off x="2063750" y="5984945"/>
            <a:ext cx="2659063" cy="461962"/>
          </a:xfrm>
          <a:prstGeom prst="rect">
            <a:avLst/>
          </a:prstGeom>
          <a:noFill/>
          <a:ln w="9525">
            <a:noFill/>
            <a:miter lim="800000"/>
            <a:headEnd/>
            <a:tailEnd/>
          </a:ln>
        </p:spPr>
        <p:txBody>
          <a:bodyPr wrap="none">
            <a:spAutoFit/>
          </a:bodyPr>
          <a:lstStyle/>
          <a:p>
            <a:r>
              <a:rPr lang="zh-CN" altLang="en-US" sz="2400">
                <a:solidFill>
                  <a:schemeClr val="tx1"/>
                </a:solidFill>
                <a:latin typeface="宋体" pitchFamily="2" charset="-122"/>
                <a:ea typeface="宋体" pitchFamily="2" charset="-122"/>
              </a:rPr>
              <a:t>零件合格的条件：</a:t>
            </a:r>
          </a:p>
        </p:txBody>
      </p:sp>
      <p:sp>
        <p:nvSpPr>
          <p:cNvPr id="8" name="Text Box 7">
            <a:extLst>
              <a:ext uri="{FF2B5EF4-FFF2-40B4-BE49-F238E27FC236}">
                <a16:creationId xmlns:a16="http://schemas.microsoft.com/office/drawing/2014/main" xmlns="" id="{31A99EFC-082D-4DED-9CB3-AABE63A70586}"/>
              </a:ext>
            </a:extLst>
          </p:cNvPr>
          <p:cNvSpPr txBox="1">
            <a:spLocks noChangeArrowheads="1"/>
          </p:cNvSpPr>
          <p:nvPr/>
        </p:nvSpPr>
        <p:spPr bwMode="auto">
          <a:xfrm>
            <a:off x="4551363" y="6011932"/>
            <a:ext cx="5614987" cy="461963"/>
          </a:xfrm>
          <a:prstGeom prst="rect">
            <a:avLst/>
          </a:prstGeom>
          <a:noFill/>
          <a:ln w="9525">
            <a:noFill/>
            <a:miter lim="800000"/>
            <a:headEnd/>
            <a:tailEnd/>
          </a:ln>
        </p:spPr>
        <p:txBody>
          <a:bodyPr>
            <a:spAutoFit/>
          </a:bodyPr>
          <a:lstStyle/>
          <a:p>
            <a:r>
              <a:rPr lang="zh-CN" altLang="en-US" sz="2400" b="1" dirty="0">
                <a:solidFill>
                  <a:srgbClr val="FF3300"/>
                </a:solidFill>
                <a:latin typeface="宋体" pitchFamily="2" charset="-122"/>
                <a:ea typeface="宋体" pitchFamily="2" charset="-122"/>
              </a:rPr>
              <a:t>上极限尺寸≥实际尺寸≥下极限尺寸。</a:t>
            </a:r>
          </a:p>
        </p:txBody>
      </p:sp>
      <p:sp>
        <p:nvSpPr>
          <p:cNvPr id="9" name="Text Box 8">
            <a:extLst>
              <a:ext uri="{FF2B5EF4-FFF2-40B4-BE49-F238E27FC236}">
                <a16:creationId xmlns:a16="http://schemas.microsoft.com/office/drawing/2014/main" xmlns="" id="{EF1DDB2D-45DD-4C9C-8403-0799769D8F36}"/>
              </a:ext>
            </a:extLst>
          </p:cNvPr>
          <p:cNvSpPr txBox="1">
            <a:spLocks noChangeArrowheads="1"/>
          </p:cNvSpPr>
          <p:nvPr/>
        </p:nvSpPr>
        <p:spPr bwMode="auto">
          <a:xfrm>
            <a:off x="2959896" y="3961314"/>
            <a:ext cx="3554412" cy="400050"/>
          </a:xfrm>
          <a:prstGeom prst="rect">
            <a:avLst/>
          </a:prstGeom>
          <a:noFill/>
          <a:ln w="9525">
            <a:noFill/>
            <a:miter lim="800000"/>
            <a:headEnd/>
            <a:tailEnd/>
          </a:ln>
        </p:spPr>
        <p:txBody>
          <a:bodyPr>
            <a:spAutoFit/>
          </a:bodyPr>
          <a:lstStyle/>
          <a:p>
            <a:r>
              <a:rPr lang="zh-CN" altLang="en-US" sz="2000" b="1" dirty="0">
                <a:solidFill>
                  <a:schemeClr val="tx1"/>
                </a:solidFill>
                <a:latin typeface="宋体" pitchFamily="2" charset="-122"/>
                <a:ea typeface="宋体" pitchFamily="2" charset="-122"/>
              </a:rPr>
              <a:t>加工完成后实际测得的尺寸。</a:t>
            </a:r>
          </a:p>
        </p:txBody>
      </p:sp>
      <p:sp>
        <p:nvSpPr>
          <p:cNvPr id="10" name="Text Box 9">
            <a:extLst>
              <a:ext uri="{FF2B5EF4-FFF2-40B4-BE49-F238E27FC236}">
                <a16:creationId xmlns:a16="http://schemas.microsoft.com/office/drawing/2014/main" xmlns="" id="{664621B9-0EDD-4D1A-B80B-ABCD811A3DC3}"/>
              </a:ext>
            </a:extLst>
          </p:cNvPr>
          <p:cNvSpPr txBox="1">
            <a:spLocks noChangeArrowheads="1"/>
          </p:cNvSpPr>
          <p:nvPr/>
        </p:nvSpPr>
        <p:spPr bwMode="auto">
          <a:xfrm>
            <a:off x="2957890" y="4505687"/>
            <a:ext cx="4214812" cy="400050"/>
          </a:xfrm>
          <a:prstGeom prst="rect">
            <a:avLst/>
          </a:prstGeom>
          <a:noFill/>
          <a:ln w="9525">
            <a:noFill/>
            <a:miter lim="800000"/>
            <a:headEnd/>
            <a:tailEnd/>
          </a:ln>
        </p:spPr>
        <p:txBody>
          <a:bodyPr wrap="square">
            <a:spAutoFit/>
          </a:bodyPr>
          <a:lstStyle/>
          <a:p>
            <a:r>
              <a:rPr lang="zh-CN" altLang="en-US" sz="2000" b="1" dirty="0">
                <a:solidFill>
                  <a:schemeClr val="tx1"/>
                </a:solidFill>
                <a:latin typeface="宋体" pitchFamily="2" charset="-122"/>
                <a:ea typeface="宋体" pitchFamily="2" charset="-122"/>
              </a:rPr>
              <a:t>尺寸要素允许的尺寸的两个极端。</a:t>
            </a:r>
          </a:p>
        </p:txBody>
      </p:sp>
      <p:sp>
        <p:nvSpPr>
          <p:cNvPr id="11" name="Text Box 10">
            <a:extLst>
              <a:ext uri="{FF2B5EF4-FFF2-40B4-BE49-F238E27FC236}">
                <a16:creationId xmlns:a16="http://schemas.microsoft.com/office/drawing/2014/main" xmlns="" id="{DD390F5B-9F64-4E53-86D1-306C5898FC77}"/>
              </a:ext>
            </a:extLst>
          </p:cNvPr>
          <p:cNvSpPr txBox="1">
            <a:spLocks noChangeArrowheads="1"/>
          </p:cNvSpPr>
          <p:nvPr/>
        </p:nvSpPr>
        <p:spPr bwMode="auto">
          <a:xfrm>
            <a:off x="3128169" y="5011508"/>
            <a:ext cx="3759200" cy="400050"/>
          </a:xfrm>
          <a:prstGeom prst="rect">
            <a:avLst/>
          </a:prstGeom>
          <a:noFill/>
          <a:ln w="9525">
            <a:noFill/>
            <a:miter lim="800000"/>
            <a:headEnd/>
            <a:tailEnd/>
          </a:ln>
        </p:spPr>
        <p:txBody>
          <a:bodyPr>
            <a:spAutoFit/>
          </a:bodyPr>
          <a:lstStyle/>
          <a:p>
            <a:r>
              <a:rPr lang="zh-CN" altLang="en-US" sz="2000" b="1" dirty="0">
                <a:solidFill>
                  <a:schemeClr val="tx1"/>
                </a:solidFill>
                <a:latin typeface="宋体" pitchFamily="2" charset="-122"/>
                <a:ea typeface="宋体" pitchFamily="2" charset="-122"/>
              </a:rPr>
              <a:t>尺寸要素允许的最大尺寸。</a:t>
            </a:r>
          </a:p>
        </p:txBody>
      </p:sp>
      <p:sp>
        <p:nvSpPr>
          <p:cNvPr id="12" name="Text Box 11">
            <a:extLst>
              <a:ext uri="{FF2B5EF4-FFF2-40B4-BE49-F238E27FC236}">
                <a16:creationId xmlns:a16="http://schemas.microsoft.com/office/drawing/2014/main" xmlns="" id="{B13B874F-938D-48D9-9BD8-E814AA736FDD}"/>
              </a:ext>
            </a:extLst>
          </p:cNvPr>
          <p:cNvSpPr txBox="1">
            <a:spLocks noChangeArrowheads="1"/>
          </p:cNvSpPr>
          <p:nvPr/>
        </p:nvSpPr>
        <p:spPr bwMode="auto">
          <a:xfrm>
            <a:off x="3128169" y="5489929"/>
            <a:ext cx="3281363" cy="400050"/>
          </a:xfrm>
          <a:prstGeom prst="rect">
            <a:avLst/>
          </a:prstGeom>
          <a:noFill/>
          <a:ln w="9525">
            <a:noFill/>
            <a:miter lim="800000"/>
            <a:headEnd/>
            <a:tailEnd/>
          </a:ln>
        </p:spPr>
        <p:txBody>
          <a:bodyPr wrap="none">
            <a:spAutoFit/>
          </a:bodyPr>
          <a:lstStyle/>
          <a:p>
            <a:r>
              <a:rPr lang="zh-CN" altLang="en-US" sz="2000" b="1" dirty="0">
                <a:solidFill>
                  <a:schemeClr val="tx1"/>
                </a:solidFill>
                <a:latin typeface="宋体" pitchFamily="2" charset="-122"/>
                <a:ea typeface="宋体" pitchFamily="2" charset="-122"/>
              </a:rPr>
              <a:t>尺寸要素允许的最小尺寸。</a:t>
            </a:r>
          </a:p>
        </p:txBody>
      </p:sp>
      <p:sp>
        <p:nvSpPr>
          <p:cNvPr id="13" name="Text Box 13">
            <a:extLst>
              <a:ext uri="{FF2B5EF4-FFF2-40B4-BE49-F238E27FC236}">
                <a16:creationId xmlns:a16="http://schemas.microsoft.com/office/drawing/2014/main" xmlns="" id="{D2D8A4F0-2EBB-44D6-BE84-EF224C2265BA}"/>
              </a:ext>
            </a:extLst>
          </p:cNvPr>
          <p:cNvSpPr txBox="1">
            <a:spLocks noChangeArrowheads="1"/>
          </p:cNvSpPr>
          <p:nvPr/>
        </p:nvSpPr>
        <p:spPr bwMode="auto">
          <a:xfrm>
            <a:off x="1261113" y="5487139"/>
            <a:ext cx="1992853" cy="400110"/>
          </a:xfrm>
          <a:prstGeom prst="rect">
            <a:avLst/>
          </a:prstGeom>
          <a:noFill/>
          <a:ln w="9525">
            <a:noFill/>
            <a:miter lim="800000"/>
            <a:headEnd/>
            <a:tailEnd/>
          </a:ln>
        </p:spPr>
        <p:txBody>
          <a:bodyPr wrap="none">
            <a:spAutoFit/>
          </a:bodyPr>
          <a:lstStyle/>
          <a:p>
            <a:r>
              <a:rPr lang="en-US" altLang="zh-CN" sz="2000" b="1" dirty="0">
                <a:solidFill>
                  <a:srgbClr val="FF0000"/>
                </a:solidFill>
                <a:latin typeface="宋体" pitchFamily="2" charset="-122"/>
                <a:ea typeface="宋体" pitchFamily="2" charset="-122"/>
              </a:rPr>
              <a:t>6</a:t>
            </a:r>
            <a:r>
              <a:rPr lang="zh-CN" altLang="en-US" sz="2000" b="1" dirty="0">
                <a:solidFill>
                  <a:srgbClr val="FF0000"/>
                </a:solidFill>
                <a:latin typeface="宋体" pitchFamily="2" charset="-122"/>
                <a:ea typeface="宋体" pitchFamily="2" charset="-122"/>
              </a:rPr>
              <a:t>）下极限尺寸</a:t>
            </a:r>
            <a:r>
              <a:rPr lang="en-US" altLang="zh-CN" sz="2000" b="1" dirty="0">
                <a:solidFill>
                  <a:srgbClr val="FF0000"/>
                </a:solidFill>
                <a:latin typeface="宋体" pitchFamily="2" charset="-122"/>
                <a:ea typeface="宋体" pitchFamily="2" charset="-122"/>
              </a:rPr>
              <a:t>:</a:t>
            </a:r>
          </a:p>
        </p:txBody>
      </p:sp>
      <p:sp>
        <p:nvSpPr>
          <p:cNvPr id="14" name="Text Box 14">
            <a:extLst>
              <a:ext uri="{FF2B5EF4-FFF2-40B4-BE49-F238E27FC236}">
                <a16:creationId xmlns:a16="http://schemas.microsoft.com/office/drawing/2014/main" xmlns="" id="{ADCABE8B-8AD2-4370-874D-9AA7D1C2672E}"/>
              </a:ext>
            </a:extLst>
          </p:cNvPr>
          <p:cNvSpPr txBox="1">
            <a:spLocks noChangeArrowheads="1"/>
          </p:cNvSpPr>
          <p:nvPr/>
        </p:nvSpPr>
        <p:spPr bwMode="auto">
          <a:xfrm>
            <a:off x="1261113" y="3063413"/>
            <a:ext cx="4512466" cy="708025"/>
          </a:xfrm>
          <a:prstGeom prst="rect">
            <a:avLst/>
          </a:prstGeom>
          <a:noFill/>
          <a:ln w="9525">
            <a:noFill/>
            <a:miter lim="800000"/>
            <a:headEnd/>
            <a:tailEnd/>
          </a:ln>
        </p:spPr>
        <p:txBody>
          <a:bodyPr wrap="square">
            <a:spAutoFit/>
          </a:bodyPr>
          <a:lstStyle/>
          <a:p>
            <a:r>
              <a:rPr lang="en-US" altLang="zh-CN" sz="2000" b="1" dirty="0">
                <a:solidFill>
                  <a:srgbClr val="FF0000"/>
                </a:solidFill>
                <a:latin typeface="+mn-ea"/>
                <a:ea typeface="+mn-ea"/>
              </a:rPr>
              <a:t>2</a:t>
            </a:r>
            <a:r>
              <a:rPr lang="zh-CN" altLang="en-US" sz="2000" b="1" dirty="0">
                <a:solidFill>
                  <a:srgbClr val="FF0000"/>
                </a:solidFill>
                <a:latin typeface="+mn-ea"/>
                <a:ea typeface="+mn-ea"/>
              </a:rPr>
              <a:t>）</a:t>
            </a:r>
            <a:r>
              <a:rPr lang="zh-CN" altLang="en-US" sz="2000" b="1" dirty="0">
                <a:solidFill>
                  <a:srgbClr val="FF0000"/>
                </a:solidFill>
              </a:rPr>
              <a:t>公称尺寸</a:t>
            </a:r>
            <a:r>
              <a:rPr lang="en-US" altLang="zh-CN" sz="2000" b="1" dirty="0">
                <a:solidFill>
                  <a:srgbClr val="FF0000"/>
                </a:solidFill>
              </a:rPr>
              <a:t>:</a:t>
            </a:r>
            <a:r>
              <a:rPr lang="zh-CN" altLang="en-US" sz="2000" b="1" dirty="0">
                <a:solidFill>
                  <a:schemeClr val="tx1"/>
                </a:solidFill>
                <a:latin typeface="宋体" pitchFamily="2" charset="-122"/>
                <a:ea typeface="宋体" pitchFamily="2" charset="-122"/>
              </a:rPr>
              <a:t>由图样规范确定的理想形状要素的尺寸。</a:t>
            </a:r>
          </a:p>
        </p:txBody>
      </p:sp>
      <p:grpSp>
        <p:nvGrpSpPr>
          <p:cNvPr id="15" name="Group 18">
            <a:extLst>
              <a:ext uri="{FF2B5EF4-FFF2-40B4-BE49-F238E27FC236}">
                <a16:creationId xmlns:a16="http://schemas.microsoft.com/office/drawing/2014/main" xmlns="" id="{93A6D236-FA11-4C5C-A249-DCF8663132EC}"/>
              </a:ext>
            </a:extLst>
          </p:cNvPr>
          <p:cNvGrpSpPr>
            <a:grpSpLocks/>
          </p:cNvGrpSpPr>
          <p:nvPr/>
        </p:nvGrpSpPr>
        <p:grpSpPr bwMode="auto">
          <a:xfrm>
            <a:off x="9877425" y="3362395"/>
            <a:ext cx="403225" cy="1725612"/>
            <a:chOff x="5303" y="2501"/>
            <a:chExt cx="254" cy="1087"/>
          </a:xfrm>
        </p:grpSpPr>
        <p:sp>
          <p:nvSpPr>
            <p:cNvPr id="16" name="Text Box 19">
              <a:extLst>
                <a:ext uri="{FF2B5EF4-FFF2-40B4-BE49-F238E27FC236}">
                  <a16:creationId xmlns:a16="http://schemas.microsoft.com/office/drawing/2014/main" xmlns="" id="{51097521-26E8-4050-A800-153FC621B9EB}"/>
                </a:ext>
              </a:extLst>
            </p:cNvPr>
            <p:cNvSpPr txBox="1">
              <a:spLocks noChangeArrowheads="1"/>
            </p:cNvSpPr>
            <p:nvPr/>
          </p:nvSpPr>
          <p:spPr bwMode="auto">
            <a:xfrm rot="-5400000">
              <a:off x="4996" y="2973"/>
              <a:ext cx="848" cy="233"/>
            </a:xfrm>
            <a:prstGeom prst="rect">
              <a:avLst/>
            </a:prstGeom>
            <a:noFill/>
            <a:ln w="9525">
              <a:noFill/>
              <a:miter lim="800000"/>
              <a:headEnd/>
              <a:tailEnd/>
            </a:ln>
          </p:spPr>
          <p:txBody>
            <a:bodyPr wrap="none">
              <a:spAutoFit/>
            </a:bodyPr>
            <a:lstStyle/>
            <a:p>
              <a:r>
                <a:rPr lang="zh-CN" altLang="en-US" sz="1800" b="1">
                  <a:solidFill>
                    <a:srgbClr val="FF0000"/>
                  </a:solidFill>
                  <a:latin typeface="Times New Roman" pitchFamily="18" charset="0"/>
                  <a:ea typeface="宋体" pitchFamily="2" charset="-122"/>
                </a:rPr>
                <a:t>上极限尺寸</a:t>
              </a:r>
            </a:p>
          </p:txBody>
        </p:sp>
        <p:sp>
          <p:nvSpPr>
            <p:cNvPr id="17" name="Line 20">
              <a:extLst>
                <a:ext uri="{FF2B5EF4-FFF2-40B4-BE49-F238E27FC236}">
                  <a16:creationId xmlns:a16="http://schemas.microsoft.com/office/drawing/2014/main" xmlns="" id="{7C0AA86C-C690-4E03-BE5D-37B70558F818}"/>
                </a:ext>
              </a:extLst>
            </p:cNvPr>
            <p:cNvSpPr>
              <a:spLocks noChangeShapeType="1"/>
            </p:cNvSpPr>
            <p:nvPr/>
          </p:nvSpPr>
          <p:spPr bwMode="auto">
            <a:xfrm>
              <a:off x="5557" y="2501"/>
              <a:ext cx="0" cy="1087"/>
            </a:xfrm>
            <a:prstGeom prst="line">
              <a:avLst/>
            </a:prstGeom>
            <a:noFill/>
            <a:ln w="19050">
              <a:solidFill>
                <a:srgbClr val="FF0000"/>
              </a:solidFill>
              <a:round/>
              <a:headEnd/>
              <a:tailEnd/>
            </a:ln>
          </p:spPr>
          <p:txBody>
            <a:bodyPr wrap="none" anchor="ctr"/>
            <a:lstStyle/>
            <a:p>
              <a:endParaRPr lang="zh-CN" altLang="en-US" b="1"/>
            </a:p>
          </p:txBody>
        </p:sp>
      </p:grpSp>
      <p:sp>
        <p:nvSpPr>
          <p:cNvPr id="18" name="Text Box 8">
            <a:extLst>
              <a:ext uri="{FF2B5EF4-FFF2-40B4-BE49-F238E27FC236}">
                <a16:creationId xmlns:a16="http://schemas.microsoft.com/office/drawing/2014/main" xmlns="" id="{C6318694-48FA-405E-987B-22645E000655}"/>
              </a:ext>
            </a:extLst>
          </p:cNvPr>
          <p:cNvSpPr txBox="1">
            <a:spLocks noChangeArrowheads="1"/>
          </p:cNvSpPr>
          <p:nvPr/>
        </p:nvSpPr>
        <p:spPr bwMode="auto">
          <a:xfrm>
            <a:off x="1261113" y="1564312"/>
            <a:ext cx="3194050" cy="461963"/>
          </a:xfrm>
          <a:prstGeom prst="rect">
            <a:avLst/>
          </a:prstGeom>
          <a:noFill/>
          <a:ln w="9525">
            <a:noFill/>
            <a:miter lim="800000"/>
            <a:headEnd/>
            <a:tailEnd/>
          </a:ln>
        </p:spPr>
        <p:txBody>
          <a:bodyPr>
            <a:spAutoFit/>
          </a:bodyPr>
          <a:lstStyle/>
          <a:p>
            <a:r>
              <a:rPr lang="en-US" altLang="zh-CN" sz="2400" b="1" dirty="0">
                <a:solidFill>
                  <a:srgbClr val="0070C0"/>
                </a:solidFill>
                <a:latin typeface="宋体" pitchFamily="2" charset="-122"/>
                <a:ea typeface="宋体" pitchFamily="2" charset="-122"/>
              </a:rPr>
              <a:t>●</a:t>
            </a:r>
            <a:r>
              <a:rPr lang="zh-CN" altLang="en-US" sz="2400" b="1" dirty="0">
                <a:solidFill>
                  <a:srgbClr val="0070C0"/>
                </a:solidFill>
                <a:latin typeface="宋体" pitchFamily="2" charset="-122"/>
                <a:cs typeface="Times New Roman" pitchFamily="18" charset="0"/>
              </a:rPr>
              <a:t>相关术语和定义</a:t>
            </a:r>
            <a:endParaRPr lang="zh-CN" altLang="en-US" sz="2400" b="1" dirty="0">
              <a:solidFill>
                <a:srgbClr val="0070C0"/>
              </a:solidFill>
              <a:latin typeface="宋体" pitchFamily="2" charset="-122"/>
              <a:ea typeface="宋体" pitchFamily="2" charset="-122"/>
            </a:endParaRPr>
          </a:p>
        </p:txBody>
      </p:sp>
      <p:sp>
        <p:nvSpPr>
          <p:cNvPr id="19" name="Text Box 5">
            <a:extLst>
              <a:ext uri="{FF2B5EF4-FFF2-40B4-BE49-F238E27FC236}">
                <a16:creationId xmlns:a16="http://schemas.microsoft.com/office/drawing/2014/main" xmlns="" id="{C19E950C-EC74-4C6B-A1AA-6C8E435F169E}"/>
              </a:ext>
            </a:extLst>
          </p:cNvPr>
          <p:cNvSpPr txBox="1">
            <a:spLocks noChangeArrowheads="1"/>
          </p:cNvSpPr>
          <p:nvPr/>
        </p:nvSpPr>
        <p:spPr bwMode="auto">
          <a:xfrm>
            <a:off x="3476625" y="404664"/>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20" name="Text Box 6">
            <a:extLst>
              <a:ext uri="{FF2B5EF4-FFF2-40B4-BE49-F238E27FC236}">
                <a16:creationId xmlns:a16="http://schemas.microsoft.com/office/drawing/2014/main" xmlns="" id="{35FF3A76-C941-4C57-99F3-3BA409D5425F}"/>
              </a:ext>
            </a:extLst>
          </p:cNvPr>
          <p:cNvSpPr txBox="1">
            <a:spLocks noChangeArrowheads="1"/>
          </p:cNvSpPr>
          <p:nvPr/>
        </p:nvSpPr>
        <p:spPr bwMode="auto">
          <a:xfrm>
            <a:off x="1091444" y="943222"/>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grpSp>
        <p:nvGrpSpPr>
          <p:cNvPr id="21" name="Group 36">
            <a:extLst>
              <a:ext uri="{FF2B5EF4-FFF2-40B4-BE49-F238E27FC236}">
                <a16:creationId xmlns:a16="http://schemas.microsoft.com/office/drawing/2014/main" xmlns="" id="{D1C20F24-7754-49FA-B2DE-D35806027CAC}"/>
              </a:ext>
            </a:extLst>
          </p:cNvPr>
          <p:cNvGrpSpPr>
            <a:grpSpLocks/>
          </p:cNvGrpSpPr>
          <p:nvPr/>
        </p:nvGrpSpPr>
        <p:grpSpPr bwMode="auto">
          <a:xfrm>
            <a:off x="6516688" y="3354457"/>
            <a:ext cx="373062" cy="1238250"/>
            <a:chOff x="3137" y="2448"/>
            <a:chExt cx="235" cy="780"/>
          </a:xfrm>
        </p:grpSpPr>
        <p:sp>
          <p:nvSpPr>
            <p:cNvPr id="22" name="Text Box 37">
              <a:extLst>
                <a:ext uri="{FF2B5EF4-FFF2-40B4-BE49-F238E27FC236}">
                  <a16:creationId xmlns:a16="http://schemas.microsoft.com/office/drawing/2014/main" xmlns="" id="{D382C337-0AB7-40A4-9954-84E1FEF9CA51}"/>
                </a:ext>
              </a:extLst>
            </p:cNvPr>
            <p:cNvSpPr txBox="1">
              <a:spLocks noChangeArrowheads="1"/>
            </p:cNvSpPr>
            <p:nvPr/>
          </p:nvSpPr>
          <p:spPr bwMode="auto">
            <a:xfrm rot="-5400000">
              <a:off x="2903" y="2701"/>
              <a:ext cx="702" cy="233"/>
            </a:xfrm>
            <a:prstGeom prst="rect">
              <a:avLst/>
            </a:prstGeom>
            <a:noFill/>
            <a:ln w="9525">
              <a:noFill/>
              <a:miter lim="800000"/>
              <a:headEnd/>
              <a:tailEnd/>
            </a:ln>
          </p:spPr>
          <p:txBody>
            <a:bodyPr wrap="none">
              <a:spAutoFit/>
            </a:bodyPr>
            <a:lstStyle/>
            <a:p>
              <a:r>
                <a:rPr lang="zh-CN" altLang="en-US" sz="1800" b="1">
                  <a:solidFill>
                    <a:srgbClr val="FF0000"/>
                  </a:solidFill>
                  <a:latin typeface="Times New Roman" pitchFamily="18" charset="0"/>
                  <a:ea typeface="宋体" pitchFamily="2" charset="-122"/>
                </a:rPr>
                <a:t>公称尺寸</a:t>
              </a:r>
            </a:p>
          </p:txBody>
        </p:sp>
        <p:sp>
          <p:nvSpPr>
            <p:cNvPr id="23" name="Line 38">
              <a:extLst>
                <a:ext uri="{FF2B5EF4-FFF2-40B4-BE49-F238E27FC236}">
                  <a16:creationId xmlns:a16="http://schemas.microsoft.com/office/drawing/2014/main" xmlns="" id="{C639DB7A-A234-4795-BAE2-A908FE66E7AD}"/>
                </a:ext>
              </a:extLst>
            </p:cNvPr>
            <p:cNvSpPr>
              <a:spLocks noChangeShapeType="1"/>
            </p:cNvSpPr>
            <p:nvPr/>
          </p:nvSpPr>
          <p:spPr bwMode="auto">
            <a:xfrm>
              <a:off x="3372" y="2448"/>
              <a:ext cx="0" cy="780"/>
            </a:xfrm>
            <a:prstGeom prst="line">
              <a:avLst/>
            </a:prstGeom>
            <a:noFill/>
            <a:ln w="19050">
              <a:solidFill>
                <a:srgbClr val="FF0000"/>
              </a:solidFill>
              <a:round/>
              <a:headEnd/>
              <a:tailEnd/>
            </a:ln>
          </p:spPr>
          <p:txBody>
            <a:bodyPr wrap="none" anchor="ctr"/>
            <a:lstStyle/>
            <a:p>
              <a:endParaRPr lang="zh-CN" altLang="en-US" b="1"/>
            </a:p>
          </p:txBody>
        </p:sp>
      </p:grpSp>
      <p:pic>
        <p:nvPicPr>
          <p:cNvPr id="24" name="Picture 43">
            <a:extLst>
              <a:ext uri="{FF2B5EF4-FFF2-40B4-BE49-F238E27FC236}">
                <a16:creationId xmlns:a16="http://schemas.microsoft.com/office/drawing/2014/main" xmlns="" id="{6A89AB72-1B9C-4F42-BDBF-261D47F26DF6}"/>
              </a:ext>
            </a:extLst>
          </p:cNvPr>
          <p:cNvPicPr>
            <a:picLocks noChangeAspect="1" noChangeArrowheads="1"/>
          </p:cNvPicPr>
          <p:nvPr/>
        </p:nvPicPr>
        <p:blipFill>
          <a:blip r:embed="rId4"/>
          <a:srcRect/>
          <a:stretch>
            <a:fillRect/>
          </a:stretch>
        </p:blipFill>
        <p:spPr bwMode="auto">
          <a:xfrm>
            <a:off x="7227888" y="1917770"/>
            <a:ext cx="1843087" cy="180975"/>
          </a:xfrm>
          <a:prstGeom prst="rect">
            <a:avLst/>
          </a:prstGeom>
          <a:noFill/>
          <a:ln w="9525">
            <a:noFill/>
            <a:miter lim="800000"/>
            <a:headEnd/>
            <a:tailEnd/>
          </a:ln>
        </p:spPr>
      </p:pic>
      <p:pic>
        <p:nvPicPr>
          <p:cNvPr id="25" name="Picture 44">
            <a:extLst>
              <a:ext uri="{FF2B5EF4-FFF2-40B4-BE49-F238E27FC236}">
                <a16:creationId xmlns:a16="http://schemas.microsoft.com/office/drawing/2014/main" xmlns="" id="{C8A552A3-EF20-46E5-9D3B-A6A127C5A064}"/>
              </a:ext>
            </a:extLst>
          </p:cNvPr>
          <p:cNvPicPr>
            <a:picLocks noChangeAspect="1" noChangeArrowheads="1"/>
          </p:cNvPicPr>
          <p:nvPr/>
        </p:nvPicPr>
        <p:blipFill>
          <a:blip r:embed="rId5"/>
          <a:srcRect/>
          <a:stretch>
            <a:fillRect/>
          </a:stretch>
        </p:blipFill>
        <p:spPr bwMode="auto">
          <a:xfrm>
            <a:off x="7204075" y="1781245"/>
            <a:ext cx="1800225" cy="209550"/>
          </a:xfrm>
          <a:prstGeom prst="rect">
            <a:avLst/>
          </a:prstGeom>
          <a:noFill/>
          <a:ln w="9525">
            <a:noFill/>
            <a:miter lim="800000"/>
            <a:headEnd/>
            <a:tailEnd/>
          </a:ln>
        </p:spPr>
      </p:pic>
      <p:grpSp>
        <p:nvGrpSpPr>
          <p:cNvPr id="26" name="Group 15">
            <a:extLst>
              <a:ext uri="{FF2B5EF4-FFF2-40B4-BE49-F238E27FC236}">
                <a16:creationId xmlns:a16="http://schemas.microsoft.com/office/drawing/2014/main" xmlns="" id="{8864F109-9A24-4647-8B40-BBD922197623}"/>
              </a:ext>
            </a:extLst>
          </p:cNvPr>
          <p:cNvGrpSpPr>
            <a:grpSpLocks/>
          </p:cNvGrpSpPr>
          <p:nvPr/>
        </p:nvGrpSpPr>
        <p:grpSpPr bwMode="auto">
          <a:xfrm>
            <a:off x="9197975" y="3340170"/>
            <a:ext cx="449263" cy="1768475"/>
            <a:chOff x="4697" y="2445"/>
            <a:chExt cx="283" cy="1114"/>
          </a:xfrm>
        </p:grpSpPr>
        <p:sp>
          <p:nvSpPr>
            <p:cNvPr id="27" name="Text Box 16">
              <a:extLst>
                <a:ext uri="{FF2B5EF4-FFF2-40B4-BE49-F238E27FC236}">
                  <a16:creationId xmlns:a16="http://schemas.microsoft.com/office/drawing/2014/main" xmlns="" id="{1EEEF156-7413-48E0-8C54-26FC378444D1}"/>
                </a:ext>
              </a:extLst>
            </p:cNvPr>
            <p:cNvSpPr txBox="1">
              <a:spLocks noChangeArrowheads="1"/>
            </p:cNvSpPr>
            <p:nvPr/>
          </p:nvSpPr>
          <p:spPr bwMode="auto">
            <a:xfrm rot="-5400000">
              <a:off x="4390" y="2984"/>
              <a:ext cx="848" cy="233"/>
            </a:xfrm>
            <a:prstGeom prst="rect">
              <a:avLst/>
            </a:prstGeom>
            <a:noFill/>
            <a:ln w="9525">
              <a:noFill/>
              <a:miter lim="800000"/>
              <a:headEnd/>
              <a:tailEnd/>
            </a:ln>
          </p:spPr>
          <p:txBody>
            <a:bodyPr wrap="none">
              <a:spAutoFit/>
            </a:bodyPr>
            <a:lstStyle/>
            <a:p>
              <a:r>
                <a:rPr lang="zh-CN" altLang="en-US" sz="1800" b="1">
                  <a:solidFill>
                    <a:srgbClr val="FF0000"/>
                  </a:solidFill>
                  <a:latin typeface="Times New Roman" pitchFamily="18" charset="0"/>
                  <a:ea typeface="宋体" pitchFamily="2" charset="-122"/>
                </a:rPr>
                <a:t>下极限尺寸</a:t>
              </a:r>
            </a:p>
          </p:txBody>
        </p:sp>
        <p:sp>
          <p:nvSpPr>
            <p:cNvPr id="28" name="Line 17">
              <a:extLst>
                <a:ext uri="{FF2B5EF4-FFF2-40B4-BE49-F238E27FC236}">
                  <a16:creationId xmlns:a16="http://schemas.microsoft.com/office/drawing/2014/main" xmlns="" id="{E54C30D7-66BD-4D07-B36F-FEC2E74326BC}"/>
                </a:ext>
              </a:extLst>
            </p:cNvPr>
            <p:cNvSpPr>
              <a:spLocks noChangeShapeType="1"/>
            </p:cNvSpPr>
            <p:nvPr/>
          </p:nvSpPr>
          <p:spPr bwMode="auto">
            <a:xfrm>
              <a:off x="4980" y="2445"/>
              <a:ext cx="0" cy="1114"/>
            </a:xfrm>
            <a:prstGeom prst="line">
              <a:avLst/>
            </a:prstGeom>
            <a:noFill/>
            <a:ln w="19050">
              <a:solidFill>
                <a:srgbClr val="FF0000"/>
              </a:solidFill>
              <a:round/>
              <a:headEnd/>
              <a:tailEnd/>
            </a:ln>
          </p:spPr>
          <p:txBody>
            <a:bodyPr wrap="none" anchor="ctr"/>
            <a:lstStyle/>
            <a:p>
              <a:endParaRPr lang="zh-CN" altLang="en-US" b="1"/>
            </a:p>
          </p:txBody>
        </p:sp>
      </p:grpSp>
      <p:grpSp>
        <p:nvGrpSpPr>
          <p:cNvPr id="29" name="Group 39">
            <a:extLst>
              <a:ext uri="{FF2B5EF4-FFF2-40B4-BE49-F238E27FC236}">
                <a16:creationId xmlns:a16="http://schemas.microsoft.com/office/drawing/2014/main" xmlns="" id="{49AC9D4B-787D-445E-A0AE-0C0A56C83E12}"/>
              </a:ext>
            </a:extLst>
          </p:cNvPr>
          <p:cNvGrpSpPr>
            <a:grpSpLocks/>
          </p:cNvGrpSpPr>
          <p:nvPr/>
        </p:nvGrpSpPr>
        <p:grpSpPr bwMode="auto">
          <a:xfrm>
            <a:off x="9004300" y="2063820"/>
            <a:ext cx="776288" cy="1295400"/>
            <a:chOff x="4581" y="1657"/>
            <a:chExt cx="489" cy="837"/>
          </a:xfrm>
        </p:grpSpPr>
        <p:sp>
          <p:nvSpPr>
            <p:cNvPr id="30" name="Line 40">
              <a:extLst>
                <a:ext uri="{FF2B5EF4-FFF2-40B4-BE49-F238E27FC236}">
                  <a16:creationId xmlns:a16="http://schemas.microsoft.com/office/drawing/2014/main" xmlns="" id="{713FEE48-0212-4BCC-96BC-EC17D4ED69F9}"/>
                </a:ext>
              </a:extLst>
            </p:cNvPr>
            <p:cNvSpPr>
              <a:spLocks noChangeShapeType="1"/>
            </p:cNvSpPr>
            <p:nvPr/>
          </p:nvSpPr>
          <p:spPr bwMode="auto">
            <a:xfrm>
              <a:off x="4982" y="1657"/>
              <a:ext cx="0" cy="837"/>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sp>
          <p:nvSpPr>
            <p:cNvPr id="31" name="Text Box 41">
              <a:extLst>
                <a:ext uri="{FF2B5EF4-FFF2-40B4-BE49-F238E27FC236}">
                  <a16:creationId xmlns:a16="http://schemas.microsoft.com/office/drawing/2014/main" xmlns="" id="{86FF6DC3-2AA4-46C6-A702-D4A31E5094C6}"/>
                </a:ext>
              </a:extLst>
            </p:cNvPr>
            <p:cNvSpPr txBox="1">
              <a:spLocks noChangeArrowheads="1"/>
            </p:cNvSpPr>
            <p:nvPr/>
          </p:nvSpPr>
          <p:spPr bwMode="auto">
            <a:xfrm rot="-5400000">
              <a:off x="4537" y="1983"/>
              <a:ext cx="659" cy="233"/>
            </a:xfrm>
            <a:prstGeom prst="rect">
              <a:avLst/>
            </a:prstGeom>
            <a:noFill/>
            <a:ln w="9525">
              <a:noFill/>
              <a:miter lim="800000"/>
              <a:headEnd/>
              <a:tailEnd/>
            </a:ln>
          </p:spPr>
          <p:txBody>
            <a:bodyPr wrap="none">
              <a:spAutoFit/>
            </a:bodyPr>
            <a:lstStyle/>
            <a:p>
              <a:r>
                <a:rPr lang="en-US" altLang="zh-CN" sz="1800" i="1">
                  <a:solidFill>
                    <a:srgbClr val="FF0000"/>
                  </a:solidFill>
                  <a:latin typeface="Times New Roman" pitchFamily="18" charset="0"/>
                  <a:ea typeface="宋体" pitchFamily="2" charset="-122"/>
                </a:rPr>
                <a:t>  </a:t>
              </a:r>
              <a:r>
                <a:rPr lang="en-US" altLang="zh-CN" sz="1800" i="1">
                  <a:solidFill>
                    <a:srgbClr val="FF0000"/>
                  </a:solidFill>
                  <a:latin typeface="Times New Roman" pitchFamily="18"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49.992</a:t>
              </a:r>
              <a:endParaRPr lang="en-US" altLang="zh-CN" sz="1800">
                <a:solidFill>
                  <a:srgbClr val="FF0000"/>
                </a:solidFill>
                <a:latin typeface="ISOCPEUR" pitchFamily="34" charset="0"/>
                <a:ea typeface="宋体" pitchFamily="2" charset="-122"/>
              </a:endParaRPr>
            </a:p>
          </p:txBody>
        </p:sp>
        <p:sp>
          <p:nvSpPr>
            <p:cNvPr id="32" name="Line 42">
              <a:extLst>
                <a:ext uri="{FF2B5EF4-FFF2-40B4-BE49-F238E27FC236}">
                  <a16:creationId xmlns:a16="http://schemas.microsoft.com/office/drawing/2014/main" xmlns="" id="{53BF1D6C-B558-4299-99D9-714740894E15}"/>
                </a:ext>
              </a:extLst>
            </p:cNvPr>
            <p:cNvSpPr>
              <a:spLocks noChangeShapeType="1"/>
            </p:cNvSpPr>
            <p:nvPr/>
          </p:nvSpPr>
          <p:spPr bwMode="auto">
            <a:xfrm flipV="1">
              <a:off x="4581" y="1662"/>
              <a:ext cx="489" cy="0"/>
            </a:xfrm>
            <a:prstGeom prst="line">
              <a:avLst/>
            </a:prstGeom>
            <a:noFill/>
            <a:ln w="19050">
              <a:solidFill>
                <a:srgbClr val="FF0000"/>
              </a:solidFill>
              <a:round/>
              <a:headEnd/>
              <a:tailEnd/>
            </a:ln>
          </p:spPr>
          <p:txBody>
            <a:bodyPr wrap="none" anchor="ctr"/>
            <a:lstStyle/>
            <a:p>
              <a:endParaRPr lang="zh-CN" altLang="en-US"/>
            </a:p>
          </p:txBody>
        </p:sp>
      </p:grpSp>
      <p:grpSp>
        <p:nvGrpSpPr>
          <p:cNvPr id="33" name="Group 21">
            <a:extLst>
              <a:ext uri="{FF2B5EF4-FFF2-40B4-BE49-F238E27FC236}">
                <a16:creationId xmlns:a16="http://schemas.microsoft.com/office/drawing/2014/main" xmlns="" id="{29DAF607-390E-4283-9769-0AA30C81C6B0}"/>
              </a:ext>
            </a:extLst>
          </p:cNvPr>
          <p:cNvGrpSpPr>
            <a:grpSpLocks/>
          </p:cNvGrpSpPr>
          <p:nvPr/>
        </p:nvGrpSpPr>
        <p:grpSpPr bwMode="auto">
          <a:xfrm>
            <a:off x="8875713" y="1828870"/>
            <a:ext cx="1619250" cy="1512887"/>
            <a:chOff x="4672" y="1535"/>
            <a:chExt cx="1020" cy="953"/>
          </a:xfrm>
        </p:grpSpPr>
        <p:sp>
          <p:nvSpPr>
            <p:cNvPr id="34" name="Line 22">
              <a:extLst>
                <a:ext uri="{FF2B5EF4-FFF2-40B4-BE49-F238E27FC236}">
                  <a16:creationId xmlns:a16="http://schemas.microsoft.com/office/drawing/2014/main" xmlns="" id="{D6B5784C-98BB-46B3-B709-38A157700245}"/>
                </a:ext>
              </a:extLst>
            </p:cNvPr>
            <p:cNvSpPr>
              <a:spLocks noChangeShapeType="1"/>
            </p:cNvSpPr>
            <p:nvPr/>
          </p:nvSpPr>
          <p:spPr bwMode="auto">
            <a:xfrm>
              <a:off x="4717" y="1535"/>
              <a:ext cx="975" cy="0"/>
            </a:xfrm>
            <a:prstGeom prst="line">
              <a:avLst/>
            </a:prstGeom>
            <a:noFill/>
            <a:ln w="19050">
              <a:solidFill>
                <a:srgbClr val="FF0000"/>
              </a:solidFill>
              <a:round/>
              <a:headEnd/>
              <a:tailEnd/>
            </a:ln>
          </p:spPr>
          <p:txBody>
            <a:bodyPr wrap="none" anchor="ctr"/>
            <a:lstStyle/>
            <a:p>
              <a:endParaRPr lang="zh-CN" altLang="en-US"/>
            </a:p>
          </p:txBody>
        </p:sp>
        <p:sp>
          <p:nvSpPr>
            <p:cNvPr id="35" name="Line 23">
              <a:extLst>
                <a:ext uri="{FF2B5EF4-FFF2-40B4-BE49-F238E27FC236}">
                  <a16:creationId xmlns:a16="http://schemas.microsoft.com/office/drawing/2014/main" xmlns="" id="{8516B06F-BC88-4869-9F0D-6842404C8A18}"/>
                </a:ext>
              </a:extLst>
            </p:cNvPr>
            <p:cNvSpPr>
              <a:spLocks noChangeShapeType="1"/>
            </p:cNvSpPr>
            <p:nvPr/>
          </p:nvSpPr>
          <p:spPr bwMode="auto">
            <a:xfrm>
              <a:off x="5558" y="1536"/>
              <a:ext cx="0" cy="952"/>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sp>
          <p:nvSpPr>
            <p:cNvPr id="36" name="Text Box 24">
              <a:extLst>
                <a:ext uri="{FF2B5EF4-FFF2-40B4-BE49-F238E27FC236}">
                  <a16:creationId xmlns:a16="http://schemas.microsoft.com/office/drawing/2014/main" xmlns="" id="{EFE11BE3-2106-4B36-80B7-19A2C6DDE47F}"/>
                </a:ext>
              </a:extLst>
            </p:cNvPr>
            <p:cNvSpPr txBox="1">
              <a:spLocks noChangeArrowheads="1"/>
            </p:cNvSpPr>
            <p:nvPr/>
          </p:nvSpPr>
          <p:spPr bwMode="auto">
            <a:xfrm rot="-5400000">
              <a:off x="5115" y="1944"/>
              <a:ext cx="632" cy="233"/>
            </a:xfrm>
            <a:prstGeom prst="rect">
              <a:avLst/>
            </a:prstGeom>
            <a:noFill/>
            <a:ln w="9525">
              <a:noFill/>
              <a:miter lim="800000"/>
              <a:headEnd/>
              <a:tailEnd/>
            </a:ln>
          </p:spPr>
          <p:txBody>
            <a:bodyPr wrap="none">
              <a:spAutoFit/>
            </a:bodyPr>
            <a:lstStyle/>
            <a:p>
              <a:r>
                <a:rPr lang="en-US" altLang="zh-CN" sz="1800">
                  <a:solidFill>
                    <a:srgbClr val="FF0000"/>
                  </a:solidFill>
                  <a:latin typeface="Times New Roman" pitchFamily="18" charset="0"/>
                  <a:ea typeface="宋体" pitchFamily="2" charset="-122"/>
                </a:rPr>
                <a:t>  </a:t>
              </a:r>
              <a:r>
                <a:rPr lang="en-US" altLang="zh-CN" sz="1800" i="1">
                  <a:solidFill>
                    <a:srgbClr val="FF0000"/>
                  </a:solidFill>
                  <a:latin typeface="ISOCP" pitchFamily="2"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50.008</a:t>
              </a:r>
              <a:endParaRPr lang="en-US" altLang="zh-CN" sz="1800">
                <a:solidFill>
                  <a:srgbClr val="FF0000"/>
                </a:solidFill>
                <a:latin typeface="ISOCPEUR" pitchFamily="34" charset="0"/>
                <a:ea typeface="宋体" pitchFamily="2" charset="-122"/>
              </a:endParaRPr>
            </a:p>
          </p:txBody>
        </p:sp>
        <p:sp>
          <p:nvSpPr>
            <p:cNvPr id="37" name="Line 25">
              <a:extLst>
                <a:ext uri="{FF2B5EF4-FFF2-40B4-BE49-F238E27FC236}">
                  <a16:creationId xmlns:a16="http://schemas.microsoft.com/office/drawing/2014/main" xmlns="" id="{90BBE8A7-0908-414A-98B6-7E6AE9D7C4C5}"/>
                </a:ext>
              </a:extLst>
            </p:cNvPr>
            <p:cNvSpPr>
              <a:spLocks noChangeShapeType="1"/>
            </p:cNvSpPr>
            <p:nvPr/>
          </p:nvSpPr>
          <p:spPr bwMode="auto">
            <a:xfrm>
              <a:off x="4672" y="2488"/>
              <a:ext cx="1020" cy="0"/>
            </a:xfrm>
            <a:prstGeom prst="line">
              <a:avLst/>
            </a:prstGeom>
            <a:noFill/>
            <a:ln w="19050">
              <a:solidFill>
                <a:srgbClr val="FF0000"/>
              </a:solidFill>
              <a:round/>
              <a:headEnd/>
              <a:tailEnd/>
            </a:ln>
          </p:spPr>
          <p:txBody>
            <a:bodyPr wrap="none" anchor="ctr"/>
            <a:lstStyle/>
            <a:p>
              <a:endParaRPr lang="zh-CN" altLang="en-US"/>
            </a:p>
          </p:txBody>
        </p:sp>
      </p:grpSp>
      <p:grpSp>
        <p:nvGrpSpPr>
          <p:cNvPr id="38" name="Group 31">
            <a:extLst>
              <a:ext uri="{FF2B5EF4-FFF2-40B4-BE49-F238E27FC236}">
                <a16:creationId xmlns:a16="http://schemas.microsoft.com/office/drawing/2014/main" xmlns="" id="{B1CD107A-637A-48CB-83D5-246AADB05E1F}"/>
              </a:ext>
            </a:extLst>
          </p:cNvPr>
          <p:cNvGrpSpPr>
            <a:grpSpLocks/>
          </p:cNvGrpSpPr>
          <p:nvPr/>
        </p:nvGrpSpPr>
        <p:grpSpPr bwMode="auto">
          <a:xfrm>
            <a:off x="6565900" y="1925707"/>
            <a:ext cx="755650" cy="1428750"/>
            <a:chOff x="3168" y="1548"/>
            <a:chExt cx="476" cy="900"/>
          </a:xfrm>
        </p:grpSpPr>
        <p:sp>
          <p:nvSpPr>
            <p:cNvPr id="39" name="Text Box 32">
              <a:extLst>
                <a:ext uri="{FF2B5EF4-FFF2-40B4-BE49-F238E27FC236}">
                  <a16:creationId xmlns:a16="http://schemas.microsoft.com/office/drawing/2014/main" xmlns="" id="{443B3B3A-EFEE-4499-B2A2-E473C9A9BBEB}"/>
                </a:ext>
              </a:extLst>
            </p:cNvPr>
            <p:cNvSpPr txBox="1">
              <a:spLocks noChangeArrowheads="1"/>
            </p:cNvSpPr>
            <p:nvPr/>
          </p:nvSpPr>
          <p:spPr bwMode="auto">
            <a:xfrm rot="-5400000">
              <a:off x="3121" y="1924"/>
              <a:ext cx="327" cy="233"/>
            </a:xfrm>
            <a:prstGeom prst="rect">
              <a:avLst/>
            </a:prstGeom>
            <a:noFill/>
            <a:ln w="9525">
              <a:noFill/>
              <a:miter lim="800000"/>
              <a:headEnd/>
              <a:tailEnd/>
            </a:ln>
          </p:spPr>
          <p:txBody>
            <a:bodyPr wrap="none">
              <a:spAutoFit/>
            </a:bodyPr>
            <a:lstStyle/>
            <a:p>
              <a:r>
                <a:rPr lang="en-US" altLang="zh-CN" sz="1800" i="1">
                  <a:solidFill>
                    <a:srgbClr val="FF0000"/>
                  </a:solidFill>
                  <a:latin typeface="Times New Roman" pitchFamily="18"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50</a:t>
              </a:r>
              <a:endParaRPr lang="en-US" altLang="zh-CN" sz="1800">
                <a:solidFill>
                  <a:srgbClr val="FF0000"/>
                </a:solidFill>
                <a:latin typeface="ISOCPEUR" pitchFamily="34" charset="0"/>
                <a:ea typeface="宋体" pitchFamily="2" charset="-122"/>
              </a:endParaRPr>
            </a:p>
          </p:txBody>
        </p:sp>
        <p:sp>
          <p:nvSpPr>
            <p:cNvPr id="40" name="Line 33">
              <a:extLst>
                <a:ext uri="{FF2B5EF4-FFF2-40B4-BE49-F238E27FC236}">
                  <a16:creationId xmlns:a16="http://schemas.microsoft.com/office/drawing/2014/main" xmlns="" id="{D82E0163-FA7B-40BE-86FC-5E3A9FC894B1}"/>
                </a:ext>
              </a:extLst>
            </p:cNvPr>
            <p:cNvSpPr>
              <a:spLocks noChangeShapeType="1"/>
            </p:cNvSpPr>
            <p:nvPr/>
          </p:nvSpPr>
          <p:spPr bwMode="auto">
            <a:xfrm flipH="1" flipV="1">
              <a:off x="3297" y="2447"/>
              <a:ext cx="347" cy="1"/>
            </a:xfrm>
            <a:prstGeom prst="line">
              <a:avLst/>
            </a:prstGeom>
            <a:noFill/>
            <a:ln w="19050">
              <a:solidFill>
                <a:srgbClr val="FF0000"/>
              </a:solidFill>
              <a:round/>
              <a:headEnd/>
              <a:tailEnd/>
            </a:ln>
          </p:spPr>
          <p:txBody>
            <a:bodyPr wrap="none" anchor="ctr"/>
            <a:lstStyle/>
            <a:p>
              <a:endParaRPr lang="zh-CN" altLang="en-US"/>
            </a:p>
          </p:txBody>
        </p:sp>
        <p:sp>
          <p:nvSpPr>
            <p:cNvPr id="41" name="Line 34">
              <a:extLst>
                <a:ext uri="{FF2B5EF4-FFF2-40B4-BE49-F238E27FC236}">
                  <a16:creationId xmlns:a16="http://schemas.microsoft.com/office/drawing/2014/main" xmlns="" id="{1AD0C889-43F1-4428-9CFF-476F043D351B}"/>
                </a:ext>
              </a:extLst>
            </p:cNvPr>
            <p:cNvSpPr>
              <a:spLocks noChangeShapeType="1"/>
            </p:cNvSpPr>
            <p:nvPr/>
          </p:nvSpPr>
          <p:spPr bwMode="auto">
            <a:xfrm flipH="1">
              <a:off x="3288" y="1560"/>
              <a:ext cx="300" cy="0"/>
            </a:xfrm>
            <a:prstGeom prst="line">
              <a:avLst/>
            </a:prstGeom>
            <a:noFill/>
            <a:ln w="19050">
              <a:solidFill>
                <a:srgbClr val="FF0000"/>
              </a:solidFill>
              <a:round/>
              <a:headEnd/>
              <a:tailEnd/>
            </a:ln>
          </p:spPr>
          <p:txBody>
            <a:bodyPr wrap="none" anchor="ctr"/>
            <a:lstStyle/>
            <a:p>
              <a:endParaRPr lang="zh-CN" altLang="en-US"/>
            </a:p>
          </p:txBody>
        </p:sp>
        <p:sp>
          <p:nvSpPr>
            <p:cNvPr id="42" name="Line 35">
              <a:extLst>
                <a:ext uri="{FF2B5EF4-FFF2-40B4-BE49-F238E27FC236}">
                  <a16:creationId xmlns:a16="http://schemas.microsoft.com/office/drawing/2014/main" xmlns="" id="{F56E1976-FF97-4F5A-A2BD-A0BCA53B6E61}"/>
                </a:ext>
              </a:extLst>
            </p:cNvPr>
            <p:cNvSpPr>
              <a:spLocks noChangeShapeType="1"/>
            </p:cNvSpPr>
            <p:nvPr/>
          </p:nvSpPr>
          <p:spPr bwMode="auto">
            <a:xfrm>
              <a:off x="3372" y="1548"/>
              <a:ext cx="0" cy="900"/>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grpSp>
    </p:spTree>
    <p:extLst>
      <p:ext uri="{BB962C8B-B14F-4D97-AF65-F5344CB8AC3E}">
        <p14:creationId xmlns:p14="http://schemas.microsoft.com/office/powerpoint/2010/main" val="767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75"/>
                                        <p:tgtEl>
                                          <p:spTgt spid="18">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75"/>
                                        <p:tgtEl>
                                          <p:spTgt spid="3"/>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Righ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right)">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iterate type="lt">
                                    <p:tmPct val="100000"/>
                                  </p:iterate>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75"/>
                                        <p:tgtEl>
                                          <p:spTgt spid="14"/>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iterate type="lt">
                                    <p:tmPct val="100000"/>
                                  </p:iterate>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75"/>
                                        <p:tgtEl>
                                          <p:spTgt spid="4"/>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iterate type="lt">
                                    <p:tmPct val="100000"/>
                                  </p:iterate>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75"/>
                                        <p:tgtEl>
                                          <p:spTgt spid="9"/>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iterate type="lt">
                                    <p:tmPct val="100000"/>
                                  </p:iterate>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75"/>
                                        <p:tgtEl>
                                          <p:spTgt spid="5"/>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slide(fromTop)">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slide(fromBottom)">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iterate type="lt">
                                    <p:tmPct val="100000"/>
                                  </p:iterate>
                                  <p:childTnLst>
                                    <p:set>
                                      <p:cBhvr>
                                        <p:cTn id="61" dur="1" fill="hold">
                                          <p:stCondLst>
                                            <p:cond delay="0"/>
                                          </p:stCondLst>
                                        </p:cTn>
                                        <p:tgtEl>
                                          <p:spTgt spid="10"/>
                                        </p:tgtEl>
                                        <p:attrNameLst>
                                          <p:attrName>style.visibility</p:attrName>
                                        </p:attrNameLst>
                                      </p:cBhvr>
                                      <p:to>
                                        <p:strVal val="visible"/>
                                      </p:to>
                                    </p:set>
                                    <p:animEffect transition="in" filter="blinds(horizontal)">
                                      <p:cBhvr>
                                        <p:cTn id="62" dur="75"/>
                                        <p:tgtEl>
                                          <p:spTgt spid="10"/>
                                        </p:tgtEl>
                                      </p:cBhvr>
                                    </p:animEffect>
                                  </p:childTnLst>
                                  <p:subTnLst>
                                    <p:audio>
                                      <p:cMediaNode>
                                        <p:cTn display="0" masterRel="sameClick">
                                          <p:stCondLst>
                                            <p:cond evt="begin" delay="0">
                                              <p:tn val="60"/>
                                            </p:cond>
                                          </p:stCondLst>
                                          <p:endCondLst>
                                            <p:cond evt="onStopAudio" delay="0">
                                              <p:tgtEl>
                                                <p:sldTgt/>
                                              </p:tgtEl>
                                            </p:cond>
                                          </p:endCondLst>
                                        </p:cTn>
                                        <p:tgtEl>
                                          <p:sndTgt r:embed="rId2" name="TYPE.WAV"/>
                                        </p:tgtEl>
                                      </p:cMediaNode>
                                    </p:audio>
                                  </p:sub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iterate type="lt">
                                    <p:tmPct val="100000"/>
                                  </p:iterate>
                                  <p:childTnLst>
                                    <p:set>
                                      <p:cBhvr>
                                        <p:cTn id="66" dur="1" fill="hold">
                                          <p:stCondLst>
                                            <p:cond delay="0"/>
                                          </p:stCondLst>
                                        </p:cTn>
                                        <p:tgtEl>
                                          <p:spTgt spid="6"/>
                                        </p:tgtEl>
                                        <p:attrNameLst>
                                          <p:attrName>style.visibility</p:attrName>
                                        </p:attrNameLst>
                                      </p:cBhvr>
                                      <p:to>
                                        <p:strVal val="visible"/>
                                      </p:to>
                                    </p:set>
                                    <p:animEffect transition="in" filter="blinds(horizontal)">
                                      <p:cBhvr>
                                        <p:cTn id="67" dur="75"/>
                                        <p:tgtEl>
                                          <p:spTgt spid="6"/>
                                        </p:tgtEl>
                                      </p:cBhvr>
                                    </p:animEffect>
                                  </p:childTnLst>
                                  <p:subTnLst>
                                    <p:audio>
                                      <p:cMediaNode>
                                        <p:cTn display="0" masterRel="sameClick">
                                          <p:stCondLst>
                                            <p:cond evt="begin" delay="0">
                                              <p:tn val="65"/>
                                            </p:cond>
                                          </p:stCondLst>
                                          <p:endCondLst>
                                            <p:cond evt="onStopAudio" delay="0">
                                              <p:tgtEl>
                                                <p:sldTgt/>
                                              </p:tgtEl>
                                            </p:cond>
                                          </p:endCondLst>
                                        </p:cTn>
                                        <p:tgtEl>
                                          <p:sndTgt r:embed="rId2" name="TYPE.WAV"/>
                                        </p:tgtEl>
                                      </p:cMediaNode>
                                    </p:audio>
                                  </p:sub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iterate type="lt">
                                    <p:tmPct val="100000"/>
                                  </p:iterate>
                                  <p:childTnLst>
                                    <p:set>
                                      <p:cBhvr>
                                        <p:cTn id="71" dur="1" fill="hold">
                                          <p:stCondLst>
                                            <p:cond delay="0"/>
                                          </p:stCondLst>
                                        </p:cTn>
                                        <p:tgtEl>
                                          <p:spTgt spid="11"/>
                                        </p:tgtEl>
                                        <p:attrNameLst>
                                          <p:attrName>style.visibility</p:attrName>
                                        </p:attrNameLst>
                                      </p:cBhvr>
                                      <p:to>
                                        <p:strVal val="visible"/>
                                      </p:to>
                                    </p:set>
                                    <p:animEffect transition="in" filter="blinds(horizontal)">
                                      <p:cBhvr>
                                        <p:cTn id="72" dur="75"/>
                                        <p:tgtEl>
                                          <p:spTgt spid="11"/>
                                        </p:tgtEl>
                                      </p:cBhvr>
                                    </p:animEffect>
                                  </p:childTnLst>
                                  <p:subTnLst>
                                    <p:audio>
                                      <p:cMediaNode>
                                        <p:cTn display="0" masterRel="sameClick">
                                          <p:stCondLst>
                                            <p:cond evt="begin" delay="0">
                                              <p:tn val="70"/>
                                            </p:cond>
                                          </p:stCondLst>
                                          <p:endCondLst>
                                            <p:cond evt="onStopAudio" delay="0">
                                              <p:tgtEl>
                                                <p:sldTgt/>
                                              </p:tgtEl>
                                            </p:cond>
                                          </p:endCondLst>
                                        </p:cTn>
                                        <p:tgtEl>
                                          <p:sndTgt r:embed="rId2" name="TYPE.WAV"/>
                                        </p:tgtEl>
                                      </p:cMediaNode>
                                    </p:audio>
                                  </p:sub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left)">
                                      <p:cBhvr>
                                        <p:cTn id="77" dur="500"/>
                                        <p:tgtEl>
                                          <p:spTgt spid="33"/>
                                        </p:tgtEl>
                                      </p:cBhvr>
                                    </p:animEffect>
                                  </p:childTnLst>
                                </p:cTn>
                              </p:par>
                            </p:childTnLst>
                          </p:cTn>
                        </p:par>
                        <p:par>
                          <p:cTn id="78" fill="hold">
                            <p:stCondLst>
                              <p:cond delay="500"/>
                            </p:stCondLst>
                            <p:childTnLst>
                              <p:par>
                                <p:cTn id="79" presetID="22" presetClass="entr" presetSubtype="1" fill="hold"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up)">
                                      <p:cBhvr>
                                        <p:cTn id="81" dur="500"/>
                                        <p:tgtEl>
                                          <p:spTgt spid="15"/>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iterate type="lt">
                                    <p:tmPct val="100000"/>
                                  </p:iterate>
                                  <p:childTnLst>
                                    <p:set>
                                      <p:cBhvr>
                                        <p:cTn id="85" dur="1" fill="hold">
                                          <p:stCondLst>
                                            <p:cond delay="0"/>
                                          </p:stCondLst>
                                        </p:cTn>
                                        <p:tgtEl>
                                          <p:spTgt spid="13"/>
                                        </p:tgtEl>
                                        <p:attrNameLst>
                                          <p:attrName>style.visibility</p:attrName>
                                        </p:attrNameLst>
                                      </p:cBhvr>
                                      <p:to>
                                        <p:strVal val="visible"/>
                                      </p:to>
                                    </p:set>
                                    <p:animEffect transition="in" filter="blinds(horizontal)">
                                      <p:cBhvr>
                                        <p:cTn id="86" dur="75"/>
                                        <p:tgtEl>
                                          <p:spTgt spid="13"/>
                                        </p:tgtEl>
                                      </p:cBhvr>
                                    </p:animEffect>
                                  </p:childTnLst>
                                  <p:subTnLst>
                                    <p:audio>
                                      <p:cMediaNode>
                                        <p:cTn display="0" masterRel="sameClick">
                                          <p:stCondLst>
                                            <p:cond evt="begin" delay="0">
                                              <p:tn val="84"/>
                                            </p:cond>
                                          </p:stCondLst>
                                          <p:endCondLst>
                                            <p:cond evt="onStopAudio" delay="0">
                                              <p:tgtEl>
                                                <p:sldTgt/>
                                              </p:tgtEl>
                                            </p:cond>
                                          </p:endCondLst>
                                        </p:cTn>
                                        <p:tgtEl>
                                          <p:sndTgt r:embed="rId2" name="TYPE.WAV"/>
                                        </p:tgtEl>
                                      </p:cMediaNode>
                                    </p:audio>
                                  </p:sub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iterate type="lt">
                                    <p:tmPct val="100000"/>
                                  </p:iterate>
                                  <p:childTnLst>
                                    <p:set>
                                      <p:cBhvr>
                                        <p:cTn id="90" dur="1" fill="hold">
                                          <p:stCondLst>
                                            <p:cond delay="0"/>
                                          </p:stCondLst>
                                        </p:cTn>
                                        <p:tgtEl>
                                          <p:spTgt spid="12"/>
                                        </p:tgtEl>
                                        <p:attrNameLst>
                                          <p:attrName>style.visibility</p:attrName>
                                        </p:attrNameLst>
                                      </p:cBhvr>
                                      <p:to>
                                        <p:strVal val="visible"/>
                                      </p:to>
                                    </p:set>
                                    <p:animEffect transition="in" filter="blinds(horizontal)">
                                      <p:cBhvr>
                                        <p:cTn id="91" dur="75"/>
                                        <p:tgtEl>
                                          <p:spTgt spid="12"/>
                                        </p:tgtEl>
                                      </p:cBhvr>
                                    </p:animEffect>
                                  </p:childTnLst>
                                  <p:subTnLst>
                                    <p:audio>
                                      <p:cMediaNode>
                                        <p:cTn display="0" masterRel="sameClick">
                                          <p:stCondLst>
                                            <p:cond evt="begin" delay="0">
                                              <p:tn val="89"/>
                                            </p:cond>
                                          </p:stCondLst>
                                          <p:endCondLst>
                                            <p:cond evt="onStopAudio" delay="0">
                                              <p:tgtEl>
                                                <p:sldTgt/>
                                              </p:tgtEl>
                                            </p:cond>
                                          </p:endCondLst>
                                        </p:cTn>
                                        <p:tgtEl>
                                          <p:sndTgt r:embed="rId2" name="TYPE.WAV"/>
                                        </p:tgtEl>
                                      </p:cMediaNode>
                                    </p:audio>
                                  </p:sub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wipe(left)">
                                      <p:cBhvr>
                                        <p:cTn id="96" dur="500"/>
                                        <p:tgtEl>
                                          <p:spTgt spid="29"/>
                                        </p:tgtEl>
                                      </p:cBhvr>
                                    </p:animEffect>
                                  </p:childTnLst>
                                </p:cTn>
                              </p:par>
                            </p:childTnLst>
                          </p:cTn>
                        </p:par>
                        <p:par>
                          <p:cTn id="97" fill="hold">
                            <p:stCondLst>
                              <p:cond delay="500"/>
                            </p:stCondLst>
                            <p:childTnLst>
                              <p:par>
                                <p:cTn id="98" presetID="22" presetClass="entr" presetSubtype="1" fill="hold" nodeType="after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wipe(up)">
                                      <p:cBhvr>
                                        <p:cTn id="100" dur="500"/>
                                        <p:tgtEl>
                                          <p:spTgt spid="26"/>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iterate type="lt">
                                    <p:tmPct val="100000"/>
                                  </p:iterate>
                                  <p:childTnLst>
                                    <p:set>
                                      <p:cBhvr>
                                        <p:cTn id="104" dur="1" fill="hold">
                                          <p:stCondLst>
                                            <p:cond delay="0"/>
                                          </p:stCondLst>
                                        </p:cTn>
                                        <p:tgtEl>
                                          <p:spTgt spid="7">
                                            <p:txEl>
                                              <p:pRg st="0" end="0"/>
                                            </p:txEl>
                                          </p:spTgt>
                                        </p:tgtEl>
                                        <p:attrNameLst>
                                          <p:attrName>style.visibility</p:attrName>
                                        </p:attrNameLst>
                                      </p:cBhvr>
                                      <p:to>
                                        <p:strVal val="visible"/>
                                      </p:to>
                                    </p:set>
                                    <p:animEffect transition="in" filter="wipe(up)">
                                      <p:cBhvr>
                                        <p:cTn id="105" dur="75"/>
                                        <p:tgtEl>
                                          <p:spTgt spid="7">
                                            <p:txEl>
                                              <p:pRg st="0" end="0"/>
                                            </p:txEl>
                                          </p:spTgt>
                                        </p:tgtEl>
                                      </p:cBhvr>
                                    </p:animEffect>
                                  </p:childTnLst>
                                  <p:subTnLst>
                                    <p:audio>
                                      <p:cMediaNode>
                                        <p:cTn display="0" masterRel="sameClick">
                                          <p:stCondLst>
                                            <p:cond evt="begin" delay="0">
                                              <p:tn val="103"/>
                                            </p:cond>
                                          </p:stCondLst>
                                          <p:endCondLst>
                                            <p:cond evt="onStopAudio" delay="0">
                                              <p:tgtEl>
                                                <p:sldTgt/>
                                              </p:tgtEl>
                                            </p:cond>
                                          </p:endCondLst>
                                        </p:cTn>
                                        <p:tgtEl>
                                          <p:sndTgt r:embed="rId2" name="TYPE.WAV"/>
                                        </p:tgtEl>
                                      </p:cMediaNode>
                                    </p:audio>
                                  </p:subTnLst>
                                </p:cTn>
                              </p:par>
                            </p:childTnLst>
                          </p:cTn>
                        </p:par>
                      </p:childTnLst>
                    </p:cTn>
                  </p:par>
                  <p:par>
                    <p:cTn id="106" fill="hold">
                      <p:stCondLst>
                        <p:cond delay="indefinite"/>
                      </p:stCondLst>
                      <p:childTnLst>
                        <p:par>
                          <p:cTn id="107" fill="hold">
                            <p:stCondLst>
                              <p:cond delay="0"/>
                            </p:stCondLst>
                            <p:childTnLst>
                              <p:par>
                                <p:cTn id="108" presetID="2" presetClass="entr" presetSubtype="8" fill="hold" grpId="0" nodeType="clickEffect">
                                  <p:stCondLst>
                                    <p:cond delay="0"/>
                                  </p:stCondLst>
                                  <p:childTnLst>
                                    <p:set>
                                      <p:cBhvr>
                                        <p:cTn id="109" dur="1" fill="hold">
                                          <p:stCondLst>
                                            <p:cond delay="0"/>
                                          </p:stCondLst>
                                        </p:cTn>
                                        <p:tgtEl>
                                          <p:spTgt spid="8"/>
                                        </p:tgtEl>
                                        <p:attrNameLst>
                                          <p:attrName>style.visibility</p:attrName>
                                        </p:attrNameLst>
                                      </p:cBhvr>
                                      <p:to>
                                        <p:strVal val="visible"/>
                                      </p:to>
                                    </p:set>
                                    <p:anim calcmode="lin" valueType="num">
                                      <p:cBhvr additive="base">
                                        <p:cTn id="110" dur="500" fill="hold"/>
                                        <p:tgtEl>
                                          <p:spTgt spid="8"/>
                                        </p:tgtEl>
                                        <p:attrNameLst>
                                          <p:attrName>ppt_x</p:attrName>
                                        </p:attrNameLst>
                                      </p:cBhvr>
                                      <p:tavLst>
                                        <p:tav tm="0">
                                          <p:val>
                                            <p:strVal val="0-#ppt_w/2"/>
                                          </p:val>
                                        </p:tav>
                                        <p:tav tm="100000">
                                          <p:val>
                                            <p:strVal val="#ppt_x"/>
                                          </p:val>
                                        </p:tav>
                                      </p:tavLst>
                                    </p:anim>
                                    <p:anim calcmode="lin" valueType="num">
                                      <p:cBhvr additive="base">
                                        <p:cTn id="111"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utoUpdateAnimBg="0"/>
      <p:bldP spid="5" grpId="0" autoUpdateAnimBg="0"/>
      <p:bldP spid="6" grpId="0" autoUpdateAnimBg="0"/>
      <p:bldP spid="7" grpId="0" build="p" autoUpdateAnimBg="0"/>
      <p:bldP spid="8" grpId="0" autoUpdateAnimBg="0"/>
      <p:bldP spid="9" grpId="0" autoUpdateAnimBg="0"/>
      <p:bldP spid="10" grpId="0" autoUpdateAnimBg="0"/>
      <p:bldP spid="11" grpId="0" autoUpdateAnimBg="0"/>
      <p:bldP spid="12" grpId="0" autoUpdateAnimBg="0"/>
      <p:bldP spid="13" grpId="0" autoUpdateAnimBg="0"/>
      <p:bldP spid="14" grpId="0" autoUpdateAnimBg="0"/>
      <p:bldP spid="18"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a:extLst>
              <a:ext uri="{FF2B5EF4-FFF2-40B4-BE49-F238E27FC236}">
                <a16:creationId xmlns:a16="http://schemas.microsoft.com/office/drawing/2014/main" xmlns="" id="{D94BE50F-29A4-4D25-B791-C3B5358FA55C}"/>
              </a:ext>
            </a:extLst>
          </p:cNvPr>
          <p:cNvSpPr txBox="1">
            <a:spLocks noChangeArrowheads="1"/>
          </p:cNvSpPr>
          <p:nvPr/>
        </p:nvSpPr>
        <p:spPr bwMode="auto">
          <a:xfrm>
            <a:off x="1333502" y="1813559"/>
            <a:ext cx="6724650" cy="400110"/>
          </a:xfrm>
          <a:prstGeom prst="rect">
            <a:avLst/>
          </a:prstGeom>
          <a:noFill/>
          <a:ln w="9525">
            <a:noFill/>
            <a:miter lim="800000"/>
            <a:headEnd/>
            <a:tailEnd/>
          </a:ln>
        </p:spPr>
        <p:txBody>
          <a:bodyPr>
            <a:spAutoFit/>
          </a:bodyPr>
          <a:lstStyle/>
          <a:p>
            <a:pPr>
              <a:defRPr/>
            </a:pPr>
            <a:r>
              <a:rPr lang="en-US" altLang="zh-CN" sz="2000" b="1" dirty="0">
                <a:solidFill>
                  <a:srgbClr val="FF0000"/>
                </a:solidFill>
                <a:latin typeface="+mn-ea"/>
                <a:ea typeface="+mn-ea"/>
              </a:rPr>
              <a:t>7) </a:t>
            </a:r>
            <a:r>
              <a:rPr lang="zh-CN" altLang="en-US" sz="2000" b="1" dirty="0">
                <a:solidFill>
                  <a:srgbClr val="FF0000"/>
                </a:solidFill>
                <a:latin typeface="+mn-ea"/>
                <a:ea typeface="+mn-ea"/>
              </a:rPr>
              <a:t>尺寸偏差</a:t>
            </a:r>
            <a:r>
              <a:rPr lang="en-US" altLang="zh-CN" sz="2000" b="1" dirty="0">
                <a:solidFill>
                  <a:srgbClr val="FF0000"/>
                </a:solidFill>
                <a:latin typeface="+mn-ea"/>
                <a:ea typeface="+mn-ea"/>
              </a:rPr>
              <a:t>:</a:t>
            </a:r>
            <a:r>
              <a:rPr lang="zh-CN" altLang="en-US" sz="2000" b="1" dirty="0">
                <a:latin typeface="+mn-ea"/>
                <a:ea typeface="+mn-ea"/>
              </a:rPr>
              <a:t>某一尺寸减去其公称尺寸所得的代数差</a:t>
            </a:r>
            <a:endParaRPr lang="zh-CN" altLang="en-US" sz="2000" b="1" dirty="0">
              <a:solidFill>
                <a:srgbClr val="FF0000"/>
              </a:solidFill>
              <a:latin typeface="+mn-ea"/>
              <a:ea typeface="+mn-ea"/>
            </a:endParaRPr>
          </a:p>
        </p:txBody>
      </p:sp>
      <p:sp>
        <p:nvSpPr>
          <p:cNvPr id="3" name="Text Box 5">
            <a:extLst>
              <a:ext uri="{FF2B5EF4-FFF2-40B4-BE49-F238E27FC236}">
                <a16:creationId xmlns:a16="http://schemas.microsoft.com/office/drawing/2014/main" xmlns="" id="{064B4B2A-D7C9-4260-A35F-D61969AADAE7}"/>
              </a:ext>
            </a:extLst>
          </p:cNvPr>
          <p:cNvSpPr txBox="1">
            <a:spLocks noChangeArrowheads="1"/>
          </p:cNvSpPr>
          <p:nvPr/>
        </p:nvSpPr>
        <p:spPr bwMode="auto">
          <a:xfrm>
            <a:off x="3362667" y="288824"/>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4" name="Text Box 6">
            <a:extLst>
              <a:ext uri="{FF2B5EF4-FFF2-40B4-BE49-F238E27FC236}">
                <a16:creationId xmlns:a16="http://schemas.microsoft.com/office/drawing/2014/main" xmlns="" id="{35277DF2-EECB-404B-A37C-D8911E38081C}"/>
              </a:ext>
            </a:extLst>
          </p:cNvPr>
          <p:cNvSpPr txBox="1">
            <a:spLocks noChangeArrowheads="1"/>
          </p:cNvSpPr>
          <p:nvPr/>
        </p:nvSpPr>
        <p:spPr bwMode="auto">
          <a:xfrm>
            <a:off x="1042989" y="948211"/>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grpSp>
        <p:nvGrpSpPr>
          <p:cNvPr id="5" name="组合 57">
            <a:extLst>
              <a:ext uri="{FF2B5EF4-FFF2-40B4-BE49-F238E27FC236}">
                <a16:creationId xmlns:a16="http://schemas.microsoft.com/office/drawing/2014/main" xmlns="" id="{D4BB95CF-6370-4807-8399-0EFF3EC3C191}"/>
              </a:ext>
            </a:extLst>
          </p:cNvPr>
          <p:cNvGrpSpPr>
            <a:grpSpLocks/>
          </p:cNvGrpSpPr>
          <p:nvPr/>
        </p:nvGrpSpPr>
        <p:grpSpPr bwMode="auto">
          <a:xfrm>
            <a:off x="6890092" y="2710665"/>
            <a:ext cx="3978275" cy="3327400"/>
            <a:chOff x="4999044" y="1576387"/>
            <a:chExt cx="3978266" cy="3327402"/>
          </a:xfrm>
        </p:grpSpPr>
        <p:pic>
          <p:nvPicPr>
            <p:cNvPr id="6" name="Picture 42">
              <a:extLst>
                <a:ext uri="{FF2B5EF4-FFF2-40B4-BE49-F238E27FC236}">
                  <a16:creationId xmlns:a16="http://schemas.microsoft.com/office/drawing/2014/main" xmlns="" id="{D5CA24AD-DFC2-4744-85D5-56FC22C41832}"/>
                </a:ext>
              </a:extLst>
            </p:cNvPr>
            <p:cNvPicPr>
              <a:picLocks noChangeAspect="1" noChangeArrowheads="1"/>
            </p:cNvPicPr>
            <p:nvPr/>
          </p:nvPicPr>
          <p:blipFill>
            <a:blip r:embed="rId3"/>
            <a:srcRect/>
            <a:stretch>
              <a:fillRect/>
            </a:stretch>
          </p:blipFill>
          <p:spPr bwMode="auto">
            <a:xfrm>
              <a:off x="5478462" y="1598613"/>
              <a:ext cx="2235919" cy="1627187"/>
            </a:xfrm>
            <a:prstGeom prst="rect">
              <a:avLst/>
            </a:prstGeom>
            <a:noFill/>
            <a:ln w="9525">
              <a:noFill/>
              <a:miter lim="800000"/>
              <a:headEnd/>
              <a:tailEnd/>
            </a:ln>
          </p:spPr>
        </p:pic>
        <p:grpSp>
          <p:nvGrpSpPr>
            <p:cNvPr id="7" name="Group 18">
              <a:extLst>
                <a:ext uri="{FF2B5EF4-FFF2-40B4-BE49-F238E27FC236}">
                  <a16:creationId xmlns:a16="http://schemas.microsoft.com/office/drawing/2014/main" xmlns="" id="{C0B26122-1E1E-444C-AB20-DB2FC54150E8}"/>
                </a:ext>
              </a:extLst>
            </p:cNvPr>
            <p:cNvGrpSpPr>
              <a:grpSpLocks/>
            </p:cNvGrpSpPr>
            <p:nvPr/>
          </p:nvGrpSpPr>
          <p:grpSpPr bwMode="auto">
            <a:xfrm>
              <a:off x="8359775" y="3157539"/>
              <a:ext cx="403225" cy="1725613"/>
              <a:chOff x="5303" y="2501"/>
              <a:chExt cx="254" cy="1087"/>
            </a:xfrm>
          </p:grpSpPr>
          <p:sp>
            <p:nvSpPr>
              <p:cNvPr id="30" name="Text Box 19">
                <a:extLst>
                  <a:ext uri="{FF2B5EF4-FFF2-40B4-BE49-F238E27FC236}">
                    <a16:creationId xmlns:a16="http://schemas.microsoft.com/office/drawing/2014/main" xmlns="" id="{E21A6199-CA94-401B-B3EB-039AAE885496}"/>
                  </a:ext>
                </a:extLst>
              </p:cNvPr>
              <p:cNvSpPr txBox="1">
                <a:spLocks noChangeArrowheads="1"/>
              </p:cNvSpPr>
              <p:nvPr/>
            </p:nvSpPr>
            <p:spPr bwMode="auto">
              <a:xfrm rot="-5400000">
                <a:off x="4996" y="2973"/>
                <a:ext cx="848" cy="233"/>
              </a:xfrm>
              <a:prstGeom prst="rect">
                <a:avLst/>
              </a:prstGeom>
              <a:noFill/>
              <a:ln w="9525">
                <a:noFill/>
                <a:miter lim="800000"/>
                <a:headEnd/>
                <a:tailEnd/>
              </a:ln>
            </p:spPr>
            <p:txBody>
              <a:bodyPr wrap="none">
                <a:spAutoFit/>
              </a:bodyPr>
              <a:lstStyle/>
              <a:p>
                <a:r>
                  <a:rPr lang="zh-CN" altLang="en-US" sz="1800">
                    <a:solidFill>
                      <a:srgbClr val="FF0000"/>
                    </a:solidFill>
                    <a:latin typeface="Times New Roman" pitchFamily="18" charset="0"/>
                    <a:ea typeface="宋体" pitchFamily="2" charset="-122"/>
                  </a:rPr>
                  <a:t>上极限尺寸</a:t>
                </a:r>
              </a:p>
            </p:txBody>
          </p:sp>
          <p:sp>
            <p:nvSpPr>
              <p:cNvPr id="31" name="Line 20">
                <a:extLst>
                  <a:ext uri="{FF2B5EF4-FFF2-40B4-BE49-F238E27FC236}">
                    <a16:creationId xmlns:a16="http://schemas.microsoft.com/office/drawing/2014/main" xmlns="" id="{9317F35D-4300-40C0-BB1B-FB15E10FB50A}"/>
                  </a:ext>
                </a:extLst>
              </p:cNvPr>
              <p:cNvSpPr>
                <a:spLocks noChangeShapeType="1"/>
              </p:cNvSpPr>
              <p:nvPr/>
            </p:nvSpPr>
            <p:spPr bwMode="auto">
              <a:xfrm>
                <a:off x="5557" y="2501"/>
                <a:ext cx="0" cy="1087"/>
              </a:xfrm>
              <a:prstGeom prst="line">
                <a:avLst/>
              </a:prstGeom>
              <a:noFill/>
              <a:ln w="19050">
                <a:solidFill>
                  <a:srgbClr val="FF0000"/>
                </a:solidFill>
                <a:round/>
                <a:headEnd/>
                <a:tailEnd/>
              </a:ln>
            </p:spPr>
            <p:txBody>
              <a:bodyPr wrap="none" anchor="ctr"/>
              <a:lstStyle/>
              <a:p>
                <a:endParaRPr lang="zh-CN" altLang="en-US"/>
              </a:p>
            </p:txBody>
          </p:sp>
        </p:grpSp>
        <p:grpSp>
          <p:nvGrpSpPr>
            <p:cNvPr id="8" name="Group 36">
              <a:extLst>
                <a:ext uri="{FF2B5EF4-FFF2-40B4-BE49-F238E27FC236}">
                  <a16:creationId xmlns:a16="http://schemas.microsoft.com/office/drawing/2014/main" xmlns="" id="{51EC4A79-DDE4-4683-9EBF-F48B6C949ABE}"/>
                </a:ext>
              </a:extLst>
            </p:cNvPr>
            <p:cNvGrpSpPr>
              <a:grpSpLocks/>
            </p:cNvGrpSpPr>
            <p:nvPr/>
          </p:nvGrpSpPr>
          <p:grpSpPr bwMode="auto">
            <a:xfrm>
              <a:off x="4999044" y="3149601"/>
              <a:ext cx="373063" cy="1238250"/>
              <a:chOff x="3137" y="2448"/>
              <a:chExt cx="235" cy="780"/>
            </a:xfrm>
          </p:grpSpPr>
          <p:sp>
            <p:nvSpPr>
              <p:cNvPr id="28" name="Text Box 37">
                <a:extLst>
                  <a:ext uri="{FF2B5EF4-FFF2-40B4-BE49-F238E27FC236}">
                    <a16:creationId xmlns:a16="http://schemas.microsoft.com/office/drawing/2014/main" xmlns="" id="{0B4B18C3-66BF-4AB8-AAFA-988E6C5A762E}"/>
                  </a:ext>
                </a:extLst>
              </p:cNvPr>
              <p:cNvSpPr txBox="1">
                <a:spLocks noChangeArrowheads="1"/>
              </p:cNvSpPr>
              <p:nvPr/>
            </p:nvSpPr>
            <p:spPr bwMode="auto">
              <a:xfrm rot="-5400000">
                <a:off x="2903" y="2701"/>
                <a:ext cx="702" cy="233"/>
              </a:xfrm>
              <a:prstGeom prst="rect">
                <a:avLst/>
              </a:prstGeom>
              <a:noFill/>
              <a:ln w="9525">
                <a:noFill/>
                <a:miter lim="800000"/>
                <a:headEnd/>
                <a:tailEnd/>
              </a:ln>
            </p:spPr>
            <p:txBody>
              <a:bodyPr wrap="none">
                <a:spAutoFit/>
              </a:bodyPr>
              <a:lstStyle/>
              <a:p>
                <a:r>
                  <a:rPr lang="zh-CN" altLang="en-US" sz="1800">
                    <a:solidFill>
                      <a:srgbClr val="FF0000"/>
                    </a:solidFill>
                    <a:latin typeface="Times New Roman" pitchFamily="18" charset="0"/>
                    <a:ea typeface="宋体" pitchFamily="2" charset="-122"/>
                  </a:rPr>
                  <a:t>公称尺寸</a:t>
                </a:r>
              </a:p>
            </p:txBody>
          </p:sp>
          <p:sp>
            <p:nvSpPr>
              <p:cNvPr id="29" name="Line 38">
                <a:extLst>
                  <a:ext uri="{FF2B5EF4-FFF2-40B4-BE49-F238E27FC236}">
                    <a16:creationId xmlns:a16="http://schemas.microsoft.com/office/drawing/2014/main" xmlns="" id="{BBD429AA-215A-4CAF-8E3C-BAA5CCDE2D85}"/>
                  </a:ext>
                </a:extLst>
              </p:cNvPr>
              <p:cNvSpPr>
                <a:spLocks noChangeShapeType="1"/>
              </p:cNvSpPr>
              <p:nvPr/>
            </p:nvSpPr>
            <p:spPr bwMode="auto">
              <a:xfrm>
                <a:off x="3372" y="2448"/>
                <a:ext cx="0" cy="780"/>
              </a:xfrm>
              <a:prstGeom prst="line">
                <a:avLst/>
              </a:prstGeom>
              <a:noFill/>
              <a:ln w="19050">
                <a:solidFill>
                  <a:srgbClr val="FF0000"/>
                </a:solidFill>
                <a:round/>
                <a:headEnd/>
                <a:tailEnd/>
              </a:ln>
            </p:spPr>
            <p:txBody>
              <a:bodyPr wrap="none" anchor="ctr"/>
              <a:lstStyle/>
              <a:p>
                <a:endParaRPr lang="zh-CN" altLang="en-US"/>
              </a:p>
            </p:txBody>
          </p:sp>
        </p:grpSp>
        <p:pic>
          <p:nvPicPr>
            <p:cNvPr id="9" name="Picture 43">
              <a:extLst>
                <a:ext uri="{FF2B5EF4-FFF2-40B4-BE49-F238E27FC236}">
                  <a16:creationId xmlns:a16="http://schemas.microsoft.com/office/drawing/2014/main" xmlns="" id="{9B4950C1-39EC-471D-8EEE-EA256268ED4E}"/>
                </a:ext>
              </a:extLst>
            </p:cNvPr>
            <p:cNvPicPr>
              <a:picLocks noChangeAspect="1" noChangeArrowheads="1"/>
            </p:cNvPicPr>
            <p:nvPr/>
          </p:nvPicPr>
          <p:blipFill>
            <a:blip r:embed="rId4"/>
            <a:srcRect/>
            <a:stretch>
              <a:fillRect/>
            </a:stretch>
          </p:blipFill>
          <p:spPr bwMode="auto">
            <a:xfrm>
              <a:off x="5710238" y="1712913"/>
              <a:ext cx="1843087" cy="180975"/>
            </a:xfrm>
            <a:prstGeom prst="rect">
              <a:avLst/>
            </a:prstGeom>
            <a:noFill/>
            <a:ln w="9525">
              <a:noFill/>
              <a:miter lim="800000"/>
              <a:headEnd/>
              <a:tailEnd/>
            </a:ln>
          </p:spPr>
        </p:pic>
        <p:pic>
          <p:nvPicPr>
            <p:cNvPr id="10" name="Picture 44">
              <a:extLst>
                <a:ext uri="{FF2B5EF4-FFF2-40B4-BE49-F238E27FC236}">
                  <a16:creationId xmlns:a16="http://schemas.microsoft.com/office/drawing/2014/main" xmlns="" id="{0F361FE6-BB24-4F22-87C1-A4919FF78AB7}"/>
                </a:ext>
              </a:extLst>
            </p:cNvPr>
            <p:cNvPicPr>
              <a:picLocks noChangeAspect="1" noChangeArrowheads="1"/>
            </p:cNvPicPr>
            <p:nvPr/>
          </p:nvPicPr>
          <p:blipFill>
            <a:blip r:embed="rId5"/>
            <a:srcRect/>
            <a:stretch>
              <a:fillRect/>
            </a:stretch>
          </p:blipFill>
          <p:spPr bwMode="auto">
            <a:xfrm>
              <a:off x="5686423" y="1576387"/>
              <a:ext cx="1800225" cy="209550"/>
            </a:xfrm>
            <a:prstGeom prst="rect">
              <a:avLst/>
            </a:prstGeom>
            <a:noFill/>
            <a:ln w="9525">
              <a:noFill/>
              <a:miter lim="800000"/>
              <a:headEnd/>
              <a:tailEnd/>
            </a:ln>
          </p:spPr>
        </p:pic>
        <p:grpSp>
          <p:nvGrpSpPr>
            <p:cNvPr id="11" name="Group 15">
              <a:extLst>
                <a:ext uri="{FF2B5EF4-FFF2-40B4-BE49-F238E27FC236}">
                  <a16:creationId xmlns:a16="http://schemas.microsoft.com/office/drawing/2014/main" xmlns="" id="{BCA254D4-508B-430E-A14C-912569088370}"/>
                </a:ext>
              </a:extLst>
            </p:cNvPr>
            <p:cNvGrpSpPr>
              <a:grpSpLocks/>
            </p:cNvGrpSpPr>
            <p:nvPr/>
          </p:nvGrpSpPr>
          <p:grpSpPr bwMode="auto">
            <a:xfrm>
              <a:off x="7680326" y="3135314"/>
              <a:ext cx="449263" cy="1768475"/>
              <a:chOff x="4697" y="2445"/>
              <a:chExt cx="283" cy="1114"/>
            </a:xfrm>
          </p:grpSpPr>
          <p:sp>
            <p:nvSpPr>
              <p:cNvPr id="26" name="Text Box 16">
                <a:extLst>
                  <a:ext uri="{FF2B5EF4-FFF2-40B4-BE49-F238E27FC236}">
                    <a16:creationId xmlns:a16="http://schemas.microsoft.com/office/drawing/2014/main" xmlns="" id="{FA1695AD-C667-4B65-A63E-5E736BC6C971}"/>
                  </a:ext>
                </a:extLst>
              </p:cNvPr>
              <p:cNvSpPr txBox="1">
                <a:spLocks noChangeArrowheads="1"/>
              </p:cNvSpPr>
              <p:nvPr/>
            </p:nvSpPr>
            <p:spPr bwMode="auto">
              <a:xfrm rot="-5400000">
                <a:off x="4390" y="2984"/>
                <a:ext cx="848" cy="233"/>
              </a:xfrm>
              <a:prstGeom prst="rect">
                <a:avLst/>
              </a:prstGeom>
              <a:noFill/>
              <a:ln w="9525">
                <a:noFill/>
                <a:miter lim="800000"/>
                <a:headEnd/>
                <a:tailEnd/>
              </a:ln>
            </p:spPr>
            <p:txBody>
              <a:bodyPr wrap="none">
                <a:spAutoFit/>
              </a:bodyPr>
              <a:lstStyle/>
              <a:p>
                <a:r>
                  <a:rPr lang="zh-CN" altLang="en-US" sz="1800">
                    <a:solidFill>
                      <a:srgbClr val="FF0000"/>
                    </a:solidFill>
                    <a:latin typeface="Times New Roman" pitchFamily="18" charset="0"/>
                    <a:ea typeface="宋体" pitchFamily="2" charset="-122"/>
                  </a:rPr>
                  <a:t>下极限尺寸</a:t>
                </a:r>
              </a:p>
            </p:txBody>
          </p:sp>
          <p:sp>
            <p:nvSpPr>
              <p:cNvPr id="27" name="Line 17">
                <a:extLst>
                  <a:ext uri="{FF2B5EF4-FFF2-40B4-BE49-F238E27FC236}">
                    <a16:creationId xmlns:a16="http://schemas.microsoft.com/office/drawing/2014/main" xmlns="" id="{EB2D4E79-ABEA-4063-A632-33A106CEC70C}"/>
                  </a:ext>
                </a:extLst>
              </p:cNvPr>
              <p:cNvSpPr>
                <a:spLocks noChangeShapeType="1"/>
              </p:cNvSpPr>
              <p:nvPr/>
            </p:nvSpPr>
            <p:spPr bwMode="auto">
              <a:xfrm>
                <a:off x="4980" y="2445"/>
                <a:ext cx="0" cy="1114"/>
              </a:xfrm>
              <a:prstGeom prst="line">
                <a:avLst/>
              </a:prstGeom>
              <a:noFill/>
              <a:ln w="19050">
                <a:solidFill>
                  <a:srgbClr val="FF0000"/>
                </a:solidFill>
                <a:round/>
                <a:headEnd/>
                <a:tailEnd/>
              </a:ln>
            </p:spPr>
            <p:txBody>
              <a:bodyPr wrap="none" anchor="ctr"/>
              <a:lstStyle/>
              <a:p>
                <a:endParaRPr lang="zh-CN" altLang="en-US"/>
              </a:p>
            </p:txBody>
          </p:sp>
        </p:grpSp>
        <p:grpSp>
          <p:nvGrpSpPr>
            <p:cNvPr id="12" name="Group 39">
              <a:extLst>
                <a:ext uri="{FF2B5EF4-FFF2-40B4-BE49-F238E27FC236}">
                  <a16:creationId xmlns:a16="http://schemas.microsoft.com/office/drawing/2014/main" xmlns="" id="{E272BDAB-6DE2-4DE6-AE3E-62C46A58DF86}"/>
                </a:ext>
              </a:extLst>
            </p:cNvPr>
            <p:cNvGrpSpPr>
              <a:grpSpLocks/>
            </p:cNvGrpSpPr>
            <p:nvPr/>
          </p:nvGrpSpPr>
          <p:grpSpPr bwMode="auto">
            <a:xfrm>
              <a:off x="7486655" y="1859326"/>
              <a:ext cx="776288" cy="1295602"/>
              <a:chOff x="4581" y="1657"/>
              <a:chExt cx="489" cy="837"/>
            </a:xfrm>
          </p:grpSpPr>
          <p:sp>
            <p:nvSpPr>
              <p:cNvPr id="23" name="Line 40">
                <a:extLst>
                  <a:ext uri="{FF2B5EF4-FFF2-40B4-BE49-F238E27FC236}">
                    <a16:creationId xmlns:a16="http://schemas.microsoft.com/office/drawing/2014/main" xmlns="" id="{8C283465-D9E9-4E04-AB73-B5EF5ED0AA3E}"/>
                  </a:ext>
                </a:extLst>
              </p:cNvPr>
              <p:cNvSpPr>
                <a:spLocks noChangeShapeType="1"/>
              </p:cNvSpPr>
              <p:nvPr/>
            </p:nvSpPr>
            <p:spPr bwMode="auto">
              <a:xfrm>
                <a:off x="4982" y="1657"/>
                <a:ext cx="0" cy="837"/>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sp>
            <p:nvSpPr>
              <p:cNvPr id="24" name="Text Box 41">
                <a:extLst>
                  <a:ext uri="{FF2B5EF4-FFF2-40B4-BE49-F238E27FC236}">
                    <a16:creationId xmlns:a16="http://schemas.microsoft.com/office/drawing/2014/main" xmlns="" id="{F08D2D4A-DE3E-4CA8-89D6-10F1AEC37C39}"/>
                  </a:ext>
                </a:extLst>
              </p:cNvPr>
              <p:cNvSpPr txBox="1">
                <a:spLocks noChangeArrowheads="1"/>
              </p:cNvSpPr>
              <p:nvPr/>
            </p:nvSpPr>
            <p:spPr bwMode="auto">
              <a:xfrm rot="-5400000">
                <a:off x="4537" y="1983"/>
                <a:ext cx="659" cy="233"/>
              </a:xfrm>
              <a:prstGeom prst="rect">
                <a:avLst/>
              </a:prstGeom>
              <a:noFill/>
              <a:ln w="9525">
                <a:noFill/>
                <a:miter lim="800000"/>
                <a:headEnd/>
                <a:tailEnd/>
              </a:ln>
            </p:spPr>
            <p:txBody>
              <a:bodyPr wrap="none">
                <a:spAutoFit/>
              </a:bodyPr>
              <a:lstStyle/>
              <a:p>
                <a:r>
                  <a:rPr lang="en-US" altLang="zh-CN" sz="1800" i="1">
                    <a:solidFill>
                      <a:srgbClr val="FF0000"/>
                    </a:solidFill>
                    <a:latin typeface="Times New Roman" pitchFamily="18" charset="0"/>
                    <a:ea typeface="宋体" pitchFamily="2" charset="-122"/>
                  </a:rPr>
                  <a:t>  </a:t>
                </a:r>
                <a:r>
                  <a:rPr lang="en-US" altLang="zh-CN" sz="1800" i="1">
                    <a:solidFill>
                      <a:srgbClr val="FF0000"/>
                    </a:solidFill>
                    <a:latin typeface="Times New Roman" pitchFamily="18"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49.992</a:t>
                </a:r>
                <a:endParaRPr lang="en-US" altLang="zh-CN" sz="1800">
                  <a:solidFill>
                    <a:srgbClr val="FF0000"/>
                  </a:solidFill>
                  <a:latin typeface="ISOCPEUR" pitchFamily="34" charset="0"/>
                  <a:ea typeface="宋体" pitchFamily="2" charset="-122"/>
                </a:endParaRPr>
              </a:p>
            </p:txBody>
          </p:sp>
          <p:sp>
            <p:nvSpPr>
              <p:cNvPr id="25" name="Line 42">
                <a:extLst>
                  <a:ext uri="{FF2B5EF4-FFF2-40B4-BE49-F238E27FC236}">
                    <a16:creationId xmlns:a16="http://schemas.microsoft.com/office/drawing/2014/main" xmlns="" id="{C283A1A5-858D-42B2-B31F-217CF398F855}"/>
                  </a:ext>
                </a:extLst>
              </p:cNvPr>
              <p:cNvSpPr>
                <a:spLocks noChangeShapeType="1"/>
              </p:cNvSpPr>
              <p:nvPr/>
            </p:nvSpPr>
            <p:spPr bwMode="auto">
              <a:xfrm flipV="1">
                <a:off x="4581" y="1662"/>
                <a:ext cx="489" cy="0"/>
              </a:xfrm>
              <a:prstGeom prst="line">
                <a:avLst/>
              </a:prstGeom>
              <a:noFill/>
              <a:ln w="19050">
                <a:solidFill>
                  <a:srgbClr val="FF0000"/>
                </a:solidFill>
                <a:round/>
                <a:headEnd/>
                <a:tailEnd/>
              </a:ln>
            </p:spPr>
            <p:txBody>
              <a:bodyPr wrap="none" anchor="ctr"/>
              <a:lstStyle/>
              <a:p>
                <a:endParaRPr lang="zh-CN" altLang="en-US"/>
              </a:p>
            </p:txBody>
          </p:sp>
        </p:grpSp>
        <p:grpSp>
          <p:nvGrpSpPr>
            <p:cNvPr id="13" name="Group 21">
              <a:extLst>
                <a:ext uri="{FF2B5EF4-FFF2-40B4-BE49-F238E27FC236}">
                  <a16:creationId xmlns:a16="http://schemas.microsoft.com/office/drawing/2014/main" xmlns="" id="{2657985D-E4D3-4FEE-8166-FBD0AB52FD71}"/>
                </a:ext>
              </a:extLst>
            </p:cNvPr>
            <p:cNvGrpSpPr>
              <a:grpSpLocks/>
            </p:cNvGrpSpPr>
            <p:nvPr/>
          </p:nvGrpSpPr>
          <p:grpSpPr bwMode="auto">
            <a:xfrm>
              <a:off x="7358060" y="1624013"/>
              <a:ext cx="1619250" cy="1512888"/>
              <a:chOff x="4672" y="1535"/>
              <a:chExt cx="1020" cy="953"/>
            </a:xfrm>
          </p:grpSpPr>
          <p:sp>
            <p:nvSpPr>
              <p:cNvPr id="19" name="Line 22">
                <a:extLst>
                  <a:ext uri="{FF2B5EF4-FFF2-40B4-BE49-F238E27FC236}">
                    <a16:creationId xmlns:a16="http://schemas.microsoft.com/office/drawing/2014/main" xmlns="" id="{BEE13971-402A-4A7E-B6BD-72A834B4362A}"/>
                  </a:ext>
                </a:extLst>
              </p:cNvPr>
              <p:cNvSpPr>
                <a:spLocks noChangeShapeType="1"/>
              </p:cNvSpPr>
              <p:nvPr/>
            </p:nvSpPr>
            <p:spPr bwMode="auto">
              <a:xfrm>
                <a:off x="4717" y="1535"/>
                <a:ext cx="975" cy="0"/>
              </a:xfrm>
              <a:prstGeom prst="line">
                <a:avLst/>
              </a:prstGeom>
              <a:noFill/>
              <a:ln w="19050">
                <a:solidFill>
                  <a:srgbClr val="FF0000"/>
                </a:solidFill>
                <a:round/>
                <a:headEnd/>
                <a:tailEnd/>
              </a:ln>
            </p:spPr>
            <p:txBody>
              <a:bodyPr wrap="none" anchor="ctr"/>
              <a:lstStyle/>
              <a:p>
                <a:endParaRPr lang="zh-CN" altLang="en-US"/>
              </a:p>
            </p:txBody>
          </p:sp>
          <p:sp>
            <p:nvSpPr>
              <p:cNvPr id="20" name="Line 23">
                <a:extLst>
                  <a:ext uri="{FF2B5EF4-FFF2-40B4-BE49-F238E27FC236}">
                    <a16:creationId xmlns:a16="http://schemas.microsoft.com/office/drawing/2014/main" xmlns="" id="{B18CB21F-8B69-45AA-A45E-A27945D2393F}"/>
                  </a:ext>
                </a:extLst>
              </p:cNvPr>
              <p:cNvSpPr>
                <a:spLocks noChangeShapeType="1"/>
              </p:cNvSpPr>
              <p:nvPr/>
            </p:nvSpPr>
            <p:spPr bwMode="auto">
              <a:xfrm>
                <a:off x="5558" y="1536"/>
                <a:ext cx="0" cy="952"/>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sp>
            <p:nvSpPr>
              <p:cNvPr id="21" name="Text Box 24">
                <a:extLst>
                  <a:ext uri="{FF2B5EF4-FFF2-40B4-BE49-F238E27FC236}">
                    <a16:creationId xmlns:a16="http://schemas.microsoft.com/office/drawing/2014/main" xmlns="" id="{63258D11-AEC5-4DF5-8B7C-589E9390E5FD}"/>
                  </a:ext>
                </a:extLst>
              </p:cNvPr>
              <p:cNvSpPr txBox="1">
                <a:spLocks noChangeArrowheads="1"/>
              </p:cNvSpPr>
              <p:nvPr/>
            </p:nvSpPr>
            <p:spPr bwMode="auto">
              <a:xfrm rot="-5400000">
                <a:off x="5115" y="1944"/>
                <a:ext cx="632" cy="233"/>
              </a:xfrm>
              <a:prstGeom prst="rect">
                <a:avLst/>
              </a:prstGeom>
              <a:noFill/>
              <a:ln w="9525">
                <a:noFill/>
                <a:miter lim="800000"/>
                <a:headEnd/>
                <a:tailEnd/>
              </a:ln>
            </p:spPr>
            <p:txBody>
              <a:bodyPr wrap="none">
                <a:spAutoFit/>
              </a:bodyPr>
              <a:lstStyle/>
              <a:p>
                <a:r>
                  <a:rPr lang="en-US" altLang="zh-CN" sz="1800">
                    <a:solidFill>
                      <a:srgbClr val="FF0000"/>
                    </a:solidFill>
                    <a:latin typeface="Times New Roman" pitchFamily="18" charset="0"/>
                    <a:ea typeface="宋体" pitchFamily="2" charset="-122"/>
                  </a:rPr>
                  <a:t>  </a:t>
                </a:r>
                <a:r>
                  <a:rPr lang="en-US" altLang="zh-CN" sz="1800" i="1">
                    <a:solidFill>
                      <a:srgbClr val="FF0000"/>
                    </a:solidFill>
                    <a:latin typeface="ISOCP" pitchFamily="2"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50.008</a:t>
                </a:r>
                <a:endParaRPr lang="en-US" altLang="zh-CN" sz="1800">
                  <a:solidFill>
                    <a:srgbClr val="FF0000"/>
                  </a:solidFill>
                  <a:latin typeface="ISOCPEUR" pitchFamily="34" charset="0"/>
                  <a:ea typeface="宋体" pitchFamily="2" charset="-122"/>
                </a:endParaRPr>
              </a:p>
            </p:txBody>
          </p:sp>
          <p:sp>
            <p:nvSpPr>
              <p:cNvPr id="22" name="Line 25">
                <a:extLst>
                  <a:ext uri="{FF2B5EF4-FFF2-40B4-BE49-F238E27FC236}">
                    <a16:creationId xmlns:a16="http://schemas.microsoft.com/office/drawing/2014/main" xmlns="" id="{A09BD2A7-8FA2-487A-AD16-11DA3EA03A60}"/>
                  </a:ext>
                </a:extLst>
              </p:cNvPr>
              <p:cNvSpPr>
                <a:spLocks noChangeShapeType="1"/>
              </p:cNvSpPr>
              <p:nvPr/>
            </p:nvSpPr>
            <p:spPr bwMode="auto">
              <a:xfrm>
                <a:off x="4672" y="2488"/>
                <a:ext cx="1020" cy="0"/>
              </a:xfrm>
              <a:prstGeom prst="line">
                <a:avLst/>
              </a:prstGeom>
              <a:noFill/>
              <a:ln w="19050">
                <a:solidFill>
                  <a:srgbClr val="FF0000"/>
                </a:solidFill>
                <a:round/>
                <a:headEnd/>
                <a:tailEnd/>
              </a:ln>
            </p:spPr>
            <p:txBody>
              <a:bodyPr wrap="none" anchor="ctr"/>
              <a:lstStyle/>
              <a:p>
                <a:endParaRPr lang="zh-CN" altLang="en-US"/>
              </a:p>
            </p:txBody>
          </p:sp>
        </p:grpSp>
        <p:grpSp>
          <p:nvGrpSpPr>
            <p:cNvPr id="14" name="Group 31">
              <a:extLst>
                <a:ext uri="{FF2B5EF4-FFF2-40B4-BE49-F238E27FC236}">
                  <a16:creationId xmlns:a16="http://schemas.microsoft.com/office/drawing/2014/main" xmlns="" id="{5BA404EC-01A4-43C4-A426-BEAFE21CB5A5}"/>
                </a:ext>
              </a:extLst>
            </p:cNvPr>
            <p:cNvGrpSpPr>
              <a:grpSpLocks/>
            </p:cNvGrpSpPr>
            <p:nvPr/>
          </p:nvGrpSpPr>
          <p:grpSpPr bwMode="auto">
            <a:xfrm>
              <a:off x="5048254" y="1720850"/>
              <a:ext cx="755650" cy="1428750"/>
              <a:chOff x="3168" y="1548"/>
              <a:chExt cx="476" cy="900"/>
            </a:xfrm>
          </p:grpSpPr>
          <p:sp>
            <p:nvSpPr>
              <p:cNvPr id="15" name="Text Box 32">
                <a:extLst>
                  <a:ext uri="{FF2B5EF4-FFF2-40B4-BE49-F238E27FC236}">
                    <a16:creationId xmlns:a16="http://schemas.microsoft.com/office/drawing/2014/main" xmlns="" id="{F7882067-F1D8-434D-AEA1-5FD70812706A}"/>
                  </a:ext>
                </a:extLst>
              </p:cNvPr>
              <p:cNvSpPr txBox="1">
                <a:spLocks noChangeArrowheads="1"/>
              </p:cNvSpPr>
              <p:nvPr/>
            </p:nvSpPr>
            <p:spPr bwMode="auto">
              <a:xfrm rot="-5400000">
                <a:off x="3121" y="1924"/>
                <a:ext cx="327" cy="233"/>
              </a:xfrm>
              <a:prstGeom prst="rect">
                <a:avLst/>
              </a:prstGeom>
              <a:noFill/>
              <a:ln w="9525">
                <a:noFill/>
                <a:miter lim="800000"/>
                <a:headEnd/>
                <a:tailEnd/>
              </a:ln>
            </p:spPr>
            <p:txBody>
              <a:bodyPr wrap="none">
                <a:spAutoFit/>
              </a:bodyPr>
              <a:lstStyle/>
              <a:p>
                <a:r>
                  <a:rPr lang="en-US" altLang="zh-CN" sz="1800" i="1">
                    <a:solidFill>
                      <a:srgbClr val="FF0000"/>
                    </a:solidFill>
                    <a:latin typeface="Times New Roman" pitchFamily="18"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50</a:t>
                </a:r>
                <a:endParaRPr lang="en-US" altLang="zh-CN" sz="1800">
                  <a:solidFill>
                    <a:srgbClr val="FF0000"/>
                  </a:solidFill>
                  <a:latin typeface="ISOCPEUR" pitchFamily="34" charset="0"/>
                  <a:ea typeface="宋体" pitchFamily="2" charset="-122"/>
                </a:endParaRPr>
              </a:p>
            </p:txBody>
          </p:sp>
          <p:sp>
            <p:nvSpPr>
              <p:cNvPr id="16" name="Line 33">
                <a:extLst>
                  <a:ext uri="{FF2B5EF4-FFF2-40B4-BE49-F238E27FC236}">
                    <a16:creationId xmlns:a16="http://schemas.microsoft.com/office/drawing/2014/main" xmlns="" id="{5250A80E-C7AF-4312-9D5B-01267502738E}"/>
                  </a:ext>
                </a:extLst>
              </p:cNvPr>
              <p:cNvSpPr>
                <a:spLocks noChangeShapeType="1"/>
              </p:cNvSpPr>
              <p:nvPr/>
            </p:nvSpPr>
            <p:spPr bwMode="auto">
              <a:xfrm flipH="1" flipV="1">
                <a:off x="3297" y="2447"/>
                <a:ext cx="347" cy="1"/>
              </a:xfrm>
              <a:prstGeom prst="line">
                <a:avLst/>
              </a:prstGeom>
              <a:noFill/>
              <a:ln w="19050">
                <a:solidFill>
                  <a:srgbClr val="FF0000"/>
                </a:solidFill>
                <a:round/>
                <a:headEnd/>
                <a:tailEnd/>
              </a:ln>
            </p:spPr>
            <p:txBody>
              <a:bodyPr wrap="none" anchor="ctr"/>
              <a:lstStyle/>
              <a:p>
                <a:endParaRPr lang="zh-CN" altLang="en-US"/>
              </a:p>
            </p:txBody>
          </p:sp>
          <p:sp>
            <p:nvSpPr>
              <p:cNvPr id="17" name="Line 34">
                <a:extLst>
                  <a:ext uri="{FF2B5EF4-FFF2-40B4-BE49-F238E27FC236}">
                    <a16:creationId xmlns:a16="http://schemas.microsoft.com/office/drawing/2014/main" xmlns="" id="{4CE26525-66E9-41AF-B64A-002C131EA936}"/>
                  </a:ext>
                </a:extLst>
              </p:cNvPr>
              <p:cNvSpPr>
                <a:spLocks noChangeShapeType="1"/>
              </p:cNvSpPr>
              <p:nvPr/>
            </p:nvSpPr>
            <p:spPr bwMode="auto">
              <a:xfrm flipH="1">
                <a:off x="3288" y="1560"/>
                <a:ext cx="300" cy="0"/>
              </a:xfrm>
              <a:prstGeom prst="line">
                <a:avLst/>
              </a:prstGeom>
              <a:noFill/>
              <a:ln w="19050">
                <a:solidFill>
                  <a:srgbClr val="FF0000"/>
                </a:solidFill>
                <a:round/>
                <a:headEnd/>
                <a:tailEnd/>
              </a:ln>
            </p:spPr>
            <p:txBody>
              <a:bodyPr wrap="none" anchor="ctr"/>
              <a:lstStyle/>
              <a:p>
                <a:endParaRPr lang="zh-CN" altLang="en-US"/>
              </a:p>
            </p:txBody>
          </p:sp>
          <p:sp>
            <p:nvSpPr>
              <p:cNvPr id="18" name="Line 35">
                <a:extLst>
                  <a:ext uri="{FF2B5EF4-FFF2-40B4-BE49-F238E27FC236}">
                    <a16:creationId xmlns:a16="http://schemas.microsoft.com/office/drawing/2014/main" xmlns="" id="{E22E7982-F20A-4770-9170-DB5A92BC544F}"/>
                  </a:ext>
                </a:extLst>
              </p:cNvPr>
              <p:cNvSpPr>
                <a:spLocks noChangeShapeType="1"/>
              </p:cNvSpPr>
              <p:nvPr/>
            </p:nvSpPr>
            <p:spPr bwMode="auto">
              <a:xfrm>
                <a:off x="3372" y="1548"/>
                <a:ext cx="0" cy="900"/>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grpSp>
      </p:grpSp>
      <p:sp>
        <p:nvSpPr>
          <p:cNvPr id="32" name="Text Box 42">
            <a:extLst>
              <a:ext uri="{FF2B5EF4-FFF2-40B4-BE49-F238E27FC236}">
                <a16:creationId xmlns:a16="http://schemas.microsoft.com/office/drawing/2014/main" xmlns="" id="{72AFADB1-DA14-4A9A-83A9-49884C08FCEF}"/>
              </a:ext>
            </a:extLst>
          </p:cNvPr>
          <p:cNvSpPr txBox="1">
            <a:spLocks noChangeArrowheads="1"/>
          </p:cNvSpPr>
          <p:nvPr/>
        </p:nvSpPr>
        <p:spPr bwMode="auto">
          <a:xfrm>
            <a:off x="1695140" y="2291565"/>
            <a:ext cx="1357313" cy="400050"/>
          </a:xfrm>
          <a:prstGeom prst="rect">
            <a:avLst/>
          </a:prstGeom>
          <a:noFill/>
          <a:ln w="9525">
            <a:noFill/>
            <a:miter lim="800000"/>
            <a:headEnd/>
            <a:tailEnd/>
          </a:ln>
        </p:spPr>
        <p:txBody>
          <a:bodyPr>
            <a:spAutoFit/>
          </a:bodyPr>
          <a:lstStyle/>
          <a:p>
            <a:r>
              <a:rPr lang="zh-CN" altLang="en-US" sz="2000" b="1" dirty="0">
                <a:solidFill>
                  <a:schemeClr val="tx1"/>
                </a:solidFill>
                <a:latin typeface="Times New Roman" pitchFamily="18" charset="0"/>
                <a:ea typeface="宋体" pitchFamily="2" charset="-122"/>
              </a:rPr>
              <a:t>上偏差</a:t>
            </a:r>
          </a:p>
        </p:txBody>
      </p:sp>
      <p:sp>
        <p:nvSpPr>
          <p:cNvPr id="33" name="Text Box 43">
            <a:extLst>
              <a:ext uri="{FF2B5EF4-FFF2-40B4-BE49-F238E27FC236}">
                <a16:creationId xmlns:a16="http://schemas.microsoft.com/office/drawing/2014/main" xmlns="" id="{400FAA43-D155-480B-98BC-226FCCE3BE61}"/>
              </a:ext>
            </a:extLst>
          </p:cNvPr>
          <p:cNvSpPr txBox="1">
            <a:spLocks noChangeArrowheads="1"/>
          </p:cNvSpPr>
          <p:nvPr/>
        </p:nvSpPr>
        <p:spPr bwMode="auto">
          <a:xfrm>
            <a:off x="2660340" y="2310615"/>
            <a:ext cx="2895600" cy="400050"/>
          </a:xfrm>
          <a:prstGeom prst="rect">
            <a:avLst/>
          </a:prstGeom>
          <a:noFill/>
          <a:ln w="9525">
            <a:noFill/>
            <a:miter lim="800000"/>
            <a:headEnd/>
            <a:tailEnd/>
          </a:ln>
        </p:spPr>
        <p:txBody>
          <a:bodyPr wrap="none">
            <a:spAutoFit/>
          </a:bodyPr>
          <a:lstStyle/>
          <a:p>
            <a:r>
              <a:rPr lang="en-US" altLang="zh-CN" sz="2000" b="1">
                <a:solidFill>
                  <a:schemeClr val="tx1"/>
                </a:solidFill>
                <a:latin typeface="宋体" pitchFamily="2" charset="-122"/>
                <a:ea typeface="宋体" pitchFamily="2" charset="-122"/>
              </a:rPr>
              <a:t>=</a:t>
            </a:r>
            <a:r>
              <a:rPr lang="zh-CN" altLang="en-US" sz="2000" b="1">
                <a:solidFill>
                  <a:schemeClr val="tx1"/>
                </a:solidFill>
                <a:latin typeface="宋体" pitchFamily="2" charset="-122"/>
                <a:ea typeface="宋体" pitchFamily="2" charset="-122"/>
              </a:rPr>
              <a:t>上极限尺寸－公称尺寸</a:t>
            </a:r>
          </a:p>
        </p:txBody>
      </p:sp>
      <p:grpSp>
        <p:nvGrpSpPr>
          <p:cNvPr id="34" name="Group 69">
            <a:extLst>
              <a:ext uri="{FF2B5EF4-FFF2-40B4-BE49-F238E27FC236}">
                <a16:creationId xmlns:a16="http://schemas.microsoft.com/office/drawing/2014/main" xmlns="" id="{76742B0C-88D2-40E7-8C31-36C19E41CEDC}"/>
              </a:ext>
            </a:extLst>
          </p:cNvPr>
          <p:cNvGrpSpPr>
            <a:grpSpLocks/>
          </p:cNvGrpSpPr>
          <p:nvPr/>
        </p:nvGrpSpPr>
        <p:grpSpPr bwMode="auto">
          <a:xfrm>
            <a:off x="9973017" y="1808965"/>
            <a:ext cx="369887" cy="1604962"/>
            <a:chOff x="4909" y="761"/>
            <a:chExt cx="233" cy="1011"/>
          </a:xfrm>
        </p:grpSpPr>
        <p:sp>
          <p:nvSpPr>
            <p:cNvPr id="35" name="Text Box 70">
              <a:extLst>
                <a:ext uri="{FF2B5EF4-FFF2-40B4-BE49-F238E27FC236}">
                  <a16:creationId xmlns:a16="http://schemas.microsoft.com/office/drawing/2014/main" xmlns="" id="{DA21646D-3D68-4056-9008-14FA59F72884}"/>
                </a:ext>
              </a:extLst>
            </p:cNvPr>
            <p:cNvSpPr txBox="1">
              <a:spLocks noChangeArrowheads="1"/>
            </p:cNvSpPr>
            <p:nvPr/>
          </p:nvSpPr>
          <p:spPr bwMode="auto">
            <a:xfrm rot="-5400000">
              <a:off x="4784" y="938"/>
              <a:ext cx="484" cy="233"/>
            </a:xfrm>
            <a:prstGeom prst="rect">
              <a:avLst/>
            </a:prstGeom>
            <a:noFill/>
            <a:ln w="9525">
              <a:noFill/>
              <a:miter lim="800000"/>
              <a:headEnd/>
              <a:tailEnd/>
            </a:ln>
          </p:spPr>
          <p:txBody>
            <a:bodyPr wrap="none">
              <a:spAutoFit/>
            </a:bodyPr>
            <a:lstStyle/>
            <a:p>
              <a:r>
                <a:rPr lang="en-US" altLang="zh-CN" sz="1800" i="1">
                  <a:solidFill>
                    <a:srgbClr val="0070C0"/>
                  </a:solidFill>
                  <a:latin typeface="ISOCPEUR" pitchFamily="34" charset="0"/>
                  <a:ea typeface="宋体" pitchFamily="2" charset="-122"/>
                </a:rPr>
                <a:t>+0.008</a:t>
              </a:r>
              <a:endParaRPr lang="en-US" altLang="zh-CN" sz="1800">
                <a:solidFill>
                  <a:srgbClr val="0070C0"/>
                </a:solidFill>
                <a:latin typeface="ISOCPEUR" pitchFamily="34" charset="0"/>
                <a:ea typeface="宋体" pitchFamily="2" charset="-122"/>
              </a:endParaRPr>
            </a:p>
          </p:txBody>
        </p:sp>
        <p:sp>
          <p:nvSpPr>
            <p:cNvPr id="36" name="Line 71">
              <a:extLst>
                <a:ext uri="{FF2B5EF4-FFF2-40B4-BE49-F238E27FC236}">
                  <a16:creationId xmlns:a16="http://schemas.microsoft.com/office/drawing/2014/main" xmlns="" id="{234992FD-8C9B-432E-9B8F-9E60B3C7A925}"/>
                </a:ext>
              </a:extLst>
            </p:cNvPr>
            <p:cNvSpPr>
              <a:spLocks noChangeShapeType="1"/>
            </p:cNvSpPr>
            <p:nvPr/>
          </p:nvSpPr>
          <p:spPr bwMode="auto">
            <a:xfrm>
              <a:off x="5116" y="761"/>
              <a:ext cx="0" cy="1011"/>
            </a:xfrm>
            <a:prstGeom prst="line">
              <a:avLst/>
            </a:prstGeom>
            <a:noFill/>
            <a:ln w="19050">
              <a:solidFill>
                <a:srgbClr val="0000CC"/>
              </a:solidFill>
              <a:round/>
              <a:headEnd/>
              <a:tailEnd/>
            </a:ln>
          </p:spPr>
          <p:txBody>
            <a:bodyPr wrap="none" anchor="ctr"/>
            <a:lstStyle/>
            <a:p>
              <a:endParaRPr lang="zh-CN" altLang="en-US"/>
            </a:p>
          </p:txBody>
        </p:sp>
        <p:sp>
          <p:nvSpPr>
            <p:cNvPr id="37" name="Line 72">
              <a:extLst>
                <a:ext uri="{FF2B5EF4-FFF2-40B4-BE49-F238E27FC236}">
                  <a16:creationId xmlns:a16="http://schemas.microsoft.com/office/drawing/2014/main" xmlns="" id="{4DBFA06A-510D-4C20-8FC1-0FBC12656D22}"/>
                </a:ext>
              </a:extLst>
            </p:cNvPr>
            <p:cNvSpPr>
              <a:spLocks noChangeShapeType="1"/>
            </p:cNvSpPr>
            <p:nvPr/>
          </p:nvSpPr>
          <p:spPr bwMode="auto">
            <a:xfrm>
              <a:off x="5116" y="1217"/>
              <a:ext cx="0" cy="133"/>
            </a:xfrm>
            <a:prstGeom prst="line">
              <a:avLst/>
            </a:prstGeom>
            <a:noFill/>
            <a:ln w="19050">
              <a:solidFill>
                <a:srgbClr val="0000CC"/>
              </a:solidFill>
              <a:round/>
              <a:headEnd/>
              <a:tailEnd type="triangle" w="sm" len="lg"/>
            </a:ln>
          </p:spPr>
          <p:txBody>
            <a:bodyPr wrap="none" anchor="ctr"/>
            <a:lstStyle/>
            <a:p>
              <a:endParaRPr lang="zh-CN" altLang="en-US"/>
            </a:p>
          </p:txBody>
        </p:sp>
        <p:sp>
          <p:nvSpPr>
            <p:cNvPr id="38" name="Line 73">
              <a:extLst>
                <a:ext uri="{FF2B5EF4-FFF2-40B4-BE49-F238E27FC236}">
                  <a16:creationId xmlns:a16="http://schemas.microsoft.com/office/drawing/2014/main" xmlns="" id="{E055F556-3B7A-45DE-89E0-A6AFBFC6A130}"/>
                </a:ext>
              </a:extLst>
            </p:cNvPr>
            <p:cNvSpPr>
              <a:spLocks noChangeShapeType="1"/>
            </p:cNvSpPr>
            <p:nvPr/>
          </p:nvSpPr>
          <p:spPr bwMode="auto">
            <a:xfrm flipV="1">
              <a:off x="5116" y="1432"/>
              <a:ext cx="0" cy="89"/>
            </a:xfrm>
            <a:prstGeom prst="line">
              <a:avLst/>
            </a:prstGeom>
            <a:noFill/>
            <a:ln w="19050">
              <a:solidFill>
                <a:srgbClr val="0000CC"/>
              </a:solidFill>
              <a:round/>
              <a:headEnd/>
              <a:tailEnd type="triangle" w="sm" len="lg"/>
            </a:ln>
          </p:spPr>
          <p:txBody>
            <a:bodyPr wrap="none" anchor="ctr"/>
            <a:lstStyle/>
            <a:p>
              <a:endParaRPr lang="zh-CN" altLang="en-US"/>
            </a:p>
          </p:txBody>
        </p:sp>
      </p:grpSp>
      <p:sp>
        <p:nvSpPr>
          <p:cNvPr id="39" name="Line 74">
            <a:extLst>
              <a:ext uri="{FF2B5EF4-FFF2-40B4-BE49-F238E27FC236}">
                <a16:creationId xmlns:a16="http://schemas.microsoft.com/office/drawing/2014/main" xmlns="" id="{CA6A47DF-FDD5-47E9-B18F-1824A1BC9031}"/>
              </a:ext>
            </a:extLst>
          </p:cNvPr>
          <p:cNvSpPr>
            <a:spLocks noChangeShapeType="1"/>
          </p:cNvSpPr>
          <p:nvPr/>
        </p:nvSpPr>
        <p:spPr bwMode="auto">
          <a:xfrm>
            <a:off x="9217367" y="2875765"/>
            <a:ext cx="1331912" cy="0"/>
          </a:xfrm>
          <a:prstGeom prst="line">
            <a:avLst/>
          </a:prstGeom>
          <a:noFill/>
          <a:ln w="19050">
            <a:solidFill>
              <a:srgbClr val="0000CC"/>
            </a:solidFill>
            <a:round/>
            <a:headEnd/>
            <a:tailEnd/>
          </a:ln>
        </p:spPr>
        <p:txBody>
          <a:bodyPr wrap="none" anchor="ctr"/>
          <a:lstStyle/>
          <a:p>
            <a:endParaRPr lang="zh-CN" altLang="en-US"/>
          </a:p>
        </p:txBody>
      </p:sp>
      <p:sp>
        <p:nvSpPr>
          <p:cNvPr id="40" name="Text Box 44">
            <a:extLst>
              <a:ext uri="{FF2B5EF4-FFF2-40B4-BE49-F238E27FC236}">
                <a16:creationId xmlns:a16="http://schemas.microsoft.com/office/drawing/2014/main" xmlns="" id="{C2B699F0-2C9F-47B8-BDA9-5281D6CA1DAA}"/>
              </a:ext>
            </a:extLst>
          </p:cNvPr>
          <p:cNvSpPr txBox="1">
            <a:spLocks noChangeArrowheads="1"/>
          </p:cNvSpPr>
          <p:nvPr/>
        </p:nvSpPr>
        <p:spPr bwMode="auto">
          <a:xfrm>
            <a:off x="1688790" y="3044040"/>
            <a:ext cx="1630363" cy="400050"/>
          </a:xfrm>
          <a:prstGeom prst="rect">
            <a:avLst/>
          </a:prstGeom>
          <a:noFill/>
          <a:ln w="9525">
            <a:noFill/>
            <a:miter lim="800000"/>
            <a:headEnd/>
            <a:tailEnd/>
          </a:ln>
        </p:spPr>
        <p:txBody>
          <a:bodyPr>
            <a:spAutoFit/>
          </a:bodyPr>
          <a:lstStyle/>
          <a:p>
            <a:r>
              <a:rPr lang="zh-CN" altLang="en-US" sz="2000" b="1" dirty="0">
                <a:solidFill>
                  <a:schemeClr val="tx1"/>
                </a:solidFill>
                <a:latin typeface="宋体" pitchFamily="2" charset="-122"/>
                <a:ea typeface="宋体" pitchFamily="2" charset="-122"/>
              </a:rPr>
              <a:t>下偏差</a:t>
            </a:r>
          </a:p>
        </p:txBody>
      </p:sp>
      <p:sp>
        <p:nvSpPr>
          <p:cNvPr id="41" name="Text Box 45">
            <a:extLst>
              <a:ext uri="{FF2B5EF4-FFF2-40B4-BE49-F238E27FC236}">
                <a16:creationId xmlns:a16="http://schemas.microsoft.com/office/drawing/2014/main" xmlns="" id="{37E58770-4BB3-4E39-A351-43FA80AFA2FF}"/>
              </a:ext>
            </a:extLst>
          </p:cNvPr>
          <p:cNvSpPr txBox="1">
            <a:spLocks noChangeArrowheads="1"/>
          </p:cNvSpPr>
          <p:nvPr/>
        </p:nvSpPr>
        <p:spPr bwMode="auto">
          <a:xfrm>
            <a:off x="2660340" y="3059915"/>
            <a:ext cx="2895600" cy="400050"/>
          </a:xfrm>
          <a:prstGeom prst="rect">
            <a:avLst/>
          </a:prstGeom>
          <a:noFill/>
          <a:ln w="9525">
            <a:noFill/>
            <a:miter lim="800000"/>
            <a:headEnd/>
            <a:tailEnd/>
          </a:ln>
        </p:spPr>
        <p:txBody>
          <a:bodyPr wrap="none">
            <a:spAutoFit/>
          </a:bodyPr>
          <a:lstStyle/>
          <a:p>
            <a:r>
              <a:rPr lang="en-US" altLang="zh-CN" sz="2000" b="1">
                <a:solidFill>
                  <a:schemeClr val="tx1"/>
                </a:solidFill>
                <a:latin typeface="宋体" pitchFamily="2" charset="-122"/>
                <a:ea typeface="宋体" pitchFamily="2" charset="-122"/>
              </a:rPr>
              <a:t>=</a:t>
            </a:r>
            <a:r>
              <a:rPr lang="zh-CN" altLang="en-US" sz="2000" b="1">
                <a:solidFill>
                  <a:schemeClr val="tx1"/>
                </a:solidFill>
                <a:latin typeface="宋体" pitchFamily="2" charset="-122"/>
                <a:ea typeface="宋体" pitchFamily="2" charset="-122"/>
              </a:rPr>
              <a:t>下极限尺寸－公称尺寸</a:t>
            </a:r>
          </a:p>
        </p:txBody>
      </p:sp>
      <p:sp>
        <p:nvSpPr>
          <p:cNvPr id="42" name="Text Box 46">
            <a:extLst>
              <a:ext uri="{FF2B5EF4-FFF2-40B4-BE49-F238E27FC236}">
                <a16:creationId xmlns:a16="http://schemas.microsoft.com/office/drawing/2014/main" xmlns="" id="{8CDE4533-F42F-45D3-857F-1853B9A9A059}"/>
              </a:ext>
            </a:extLst>
          </p:cNvPr>
          <p:cNvSpPr txBox="1">
            <a:spLocks noChangeArrowheads="1"/>
          </p:cNvSpPr>
          <p:nvPr/>
        </p:nvSpPr>
        <p:spPr bwMode="auto">
          <a:xfrm>
            <a:off x="1966603" y="2656690"/>
            <a:ext cx="958850" cy="400050"/>
          </a:xfrm>
          <a:prstGeom prst="rect">
            <a:avLst/>
          </a:prstGeom>
          <a:noFill/>
          <a:ln w="9525">
            <a:noFill/>
            <a:miter lim="800000"/>
            <a:headEnd/>
            <a:tailEnd/>
          </a:ln>
        </p:spPr>
        <p:txBody>
          <a:bodyPr wrap="none">
            <a:spAutoFit/>
          </a:bodyPr>
          <a:lstStyle/>
          <a:p>
            <a:r>
              <a:rPr lang="zh-CN" altLang="en-US" sz="2000" b="1">
                <a:solidFill>
                  <a:srgbClr val="FF6600"/>
                </a:solidFill>
                <a:latin typeface="宋体" pitchFamily="2" charset="-122"/>
                <a:ea typeface="宋体" pitchFamily="2" charset="-122"/>
              </a:rPr>
              <a:t>代号：</a:t>
            </a:r>
            <a:endParaRPr lang="zh-CN" altLang="en-US" sz="2000" b="1">
              <a:solidFill>
                <a:schemeClr val="tx1"/>
              </a:solidFill>
              <a:latin typeface="宋体" pitchFamily="2" charset="-122"/>
              <a:ea typeface="宋体" pitchFamily="2" charset="-122"/>
            </a:endParaRPr>
          </a:p>
        </p:txBody>
      </p:sp>
      <p:sp>
        <p:nvSpPr>
          <p:cNvPr id="43" name="Text Box 47">
            <a:extLst>
              <a:ext uri="{FF2B5EF4-FFF2-40B4-BE49-F238E27FC236}">
                <a16:creationId xmlns:a16="http://schemas.microsoft.com/office/drawing/2014/main" xmlns="" id="{C94DF92C-8AD1-4662-80FE-565D10F2D278}"/>
              </a:ext>
            </a:extLst>
          </p:cNvPr>
          <p:cNvSpPr txBox="1">
            <a:spLocks noChangeArrowheads="1"/>
          </p:cNvSpPr>
          <p:nvPr/>
        </p:nvSpPr>
        <p:spPr bwMode="auto">
          <a:xfrm>
            <a:off x="3108015" y="2677327"/>
            <a:ext cx="1866900" cy="400050"/>
          </a:xfrm>
          <a:prstGeom prst="rect">
            <a:avLst/>
          </a:prstGeom>
          <a:noFill/>
          <a:ln w="9525">
            <a:noFill/>
            <a:miter lim="800000"/>
            <a:headEnd/>
            <a:tailEnd/>
          </a:ln>
        </p:spPr>
        <p:txBody>
          <a:bodyPr wrap="none">
            <a:spAutoFit/>
          </a:bodyPr>
          <a:lstStyle/>
          <a:p>
            <a:r>
              <a:rPr lang="zh-CN" altLang="en-US" sz="2000" b="1">
                <a:solidFill>
                  <a:srgbClr val="FF6600"/>
                </a:solidFill>
                <a:latin typeface="宋体" pitchFamily="2" charset="-122"/>
                <a:ea typeface="宋体" pitchFamily="2" charset="-122"/>
              </a:rPr>
              <a:t>孔</a:t>
            </a:r>
            <a:r>
              <a:rPr lang="zh-CN" altLang="en-US" sz="2000" b="1">
                <a:solidFill>
                  <a:schemeClr val="tx1"/>
                </a:solidFill>
                <a:latin typeface="宋体" pitchFamily="2" charset="-122"/>
                <a:ea typeface="宋体" pitchFamily="2" charset="-122"/>
              </a:rPr>
              <a:t>为</a:t>
            </a:r>
            <a:r>
              <a:rPr lang="en-US" altLang="zh-CN" sz="2000" b="1">
                <a:solidFill>
                  <a:srgbClr val="FF6600"/>
                </a:solidFill>
                <a:latin typeface="宋体" pitchFamily="2" charset="-122"/>
                <a:ea typeface="宋体" pitchFamily="2" charset="-122"/>
              </a:rPr>
              <a:t>ES</a:t>
            </a:r>
            <a:r>
              <a:rPr lang="en-US" altLang="zh-CN" sz="2000" b="1">
                <a:solidFill>
                  <a:schemeClr val="tx1"/>
                </a:solidFill>
                <a:latin typeface="宋体" pitchFamily="2" charset="-122"/>
                <a:ea typeface="宋体" pitchFamily="2" charset="-122"/>
              </a:rPr>
              <a:t> </a:t>
            </a:r>
            <a:r>
              <a:rPr lang="zh-CN" altLang="en-US" sz="2000" b="1">
                <a:latin typeface="宋体" pitchFamily="2" charset="-122"/>
                <a:ea typeface="宋体" pitchFamily="2" charset="-122"/>
              </a:rPr>
              <a:t>轴</a:t>
            </a:r>
            <a:r>
              <a:rPr lang="zh-CN" altLang="en-US" sz="2000" b="1">
                <a:solidFill>
                  <a:schemeClr val="tx1"/>
                </a:solidFill>
                <a:latin typeface="宋体" pitchFamily="2" charset="-122"/>
                <a:ea typeface="宋体" pitchFamily="2" charset="-122"/>
              </a:rPr>
              <a:t>为</a:t>
            </a:r>
            <a:r>
              <a:rPr lang="en-US" altLang="zh-CN" sz="2000" b="1">
                <a:latin typeface="宋体" pitchFamily="2" charset="-122"/>
                <a:ea typeface="宋体" pitchFamily="2" charset="-122"/>
              </a:rPr>
              <a:t>es</a:t>
            </a:r>
            <a:endParaRPr lang="en-US" altLang="zh-CN" sz="2000" b="1">
              <a:solidFill>
                <a:schemeClr val="tx1"/>
              </a:solidFill>
              <a:latin typeface="宋体" pitchFamily="2" charset="-122"/>
              <a:ea typeface="宋体" pitchFamily="2" charset="-122"/>
            </a:endParaRPr>
          </a:p>
        </p:txBody>
      </p:sp>
      <p:grpSp>
        <p:nvGrpSpPr>
          <p:cNvPr id="44" name="Group 57">
            <a:extLst>
              <a:ext uri="{FF2B5EF4-FFF2-40B4-BE49-F238E27FC236}">
                <a16:creationId xmlns:a16="http://schemas.microsoft.com/office/drawing/2014/main" xmlns="" id="{2674DC61-15A7-4948-B8D5-9B7C6C54B316}"/>
              </a:ext>
            </a:extLst>
          </p:cNvPr>
          <p:cNvGrpSpPr>
            <a:grpSpLocks/>
          </p:cNvGrpSpPr>
          <p:nvPr/>
        </p:nvGrpSpPr>
        <p:grpSpPr bwMode="auto">
          <a:xfrm>
            <a:off x="9369767" y="2624940"/>
            <a:ext cx="369887" cy="1308100"/>
            <a:chOff x="4399" y="1273"/>
            <a:chExt cx="233" cy="824"/>
          </a:xfrm>
        </p:grpSpPr>
        <p:sp>
          <p:nvSpPr>
            <p:cNvPr id="45" name="Line 58">
              <a:extLst>
                <a:ext uri="{FF2B5EF4-FFF2-40B4-BE49-F238E27FC236}">
                  <a16:creationId xmlns:a16="http://schemas.microsoft.com/office/drawing/2014/main" xmlns="" id="{9F1B5A5B-C29A-4B9C-9C23-8CA86D2C6DB5}"/>
                </a:ext>
              </a:extLst>
            </p:cNvPr>
            <p:cNvSpPr>
              <a:spLocks noChangeShapeType="1"/>
            </p:cNvSpPr>
            <p:nvPr/>
          </p:nvSpPr>
          <p:spPr bwMode="auto">
            <a:xfrm flipV="1">
              <a:off x="4599" y="1273"/>
              <a:ext cx="0" cy="803"/>
            </a:xfrm>
            <a:prstGeom prst="line">
              <a:avLst/>
            </a:prstGeom>
            <a:noFill/>
            <a:ln w="19050">
              <a:solidFill>
                <a:srgbClr val="0000CC"/>
              </a:solidFill>
              <a:round/>
              <a:headEnd/>
              <a:tailEnd/>
            </a:ln>
          </p:spPr>
          <p:txBody>
            <a:bodyPr wrap="none" anchor="ctr"/>
            <a:lstStyle/>
            <a:p>
              <a:endParaRPr lang="zh-CN" altLang="en-US"/>
            </a:p>
          </p:txBody>
        </p:sp>
        <p:sp>
          <p:nvSpPr>
            <p:cNvPr id="46" name="Line 59">
              <a:extLst>
                <a:ext uri="{FF2B5EF4-FFF2-40B4-BE49-F238E27FC236}">
                  <a16:creationId xmlns:a16="http://schemas.microsoft.com/office/drawing/2014/main" xmlns="" id="{97FC070F-C869-43B5-9F43-D707334D5375}"/>
                </a:ext>
              </a:extLst>
            </p:cNvPr>
            <p:cNvSpPr>
              <a:spLocks noChangeShapeType="1"/>
            </p:cNvSpPr>
            <p:nvPr/>
          </p:nvSpPr>
          <p:spPr bwMode="auto">
            <a:xfrm flipV="1">
              <a:off x="4599" y="1506"/>
              <a:ext cx="0" cy="89"/>
            </a:xfrm>
            <a:prstGeom prst="line">
              <a:avLst/>
            </a:prstGeom>
            <a:noFill/>
            <a:ln w="19050">
              <a:solidFill>
                <a:srgbClr val="0000CC"/>
              </a:solidFill>
              <a:round/>
              <a:headEnd/>
              <a:tailEnd type="triangle" w="sm" len="lg"/>
            </a:ln>
          </p:spPr>
          <p:txBody>
            <a:bodyPr wrap="none" anchor="ctr"/>
            <a:lstStyle/>
            <a:p>
              <a:endParaRPr lang="zh-CN" altLang="en-US"/>
            </a:p>
          </p:txBody>
        </p:sp>
        <p:sp>
          <p:nvSpPr>
            <p:cNvPr id="47" name="Line 60">
              <a:extLst>
                <a:ext uri="{FF2B5EF4-FFF2-40B4-BE49-F238E27FC236}">
                  <a16:creationId xmlns:a16="http://schemas.microsoft.com/office/drawing/2014/main" xmlns="" id="{6F24D8E0-8744-4FC8-94CD-9B878298A24A}"/>
                </a:ext>
              </a:extLst>
            </p:cNvPr>
            <p:cNvSpPr>
              <a:spLocks noChangeShapeType="1"/>
            </p:cNvSpPr>
            <p:nvPr/>
          </p:nvSpPr>
          <p:spPr bwMode="auto">
            <a:xfrm>
              <a:off x="4599" y="1307"/>
              <a:ext cx="0" cy="132"/>
            </a:xfrm>
            <a:prstGeom prst="line">
              <a:avLst/>
            </a:prstGeom>
            <a:noFill/>
            <a:ln w="19050">
              <a:solidFill>
                <a:srgbClr val="0000CC"/>
              </a:solidFill>
              <a:round/>
              <a:headEnd/>
              <a:tailEnd type="triangle" w="sm" len="lg"/>
            </a:ln>
          </p:spPr>
          <p:txBody>
            <a:bodyPr wrap="none" anchor="ctr"/>
            <a:lstStyle/>
            <a:p>
              <a:endParaRPr lang="zh-CN" altLang="en-US"/>
            </a:p>
          </p:txBody>
        </p:sp>
        <p:sp>
          <p:nvSpPr>
            <p:cNvPr id="48" name="Text Box 61">
              <a:extLst>
                <a:ext uri="{FF2B5EF4-FFF2-40B4-BE49-F238E27FC236}">
                  <a16:creationId xmlns:a16="http://schemas.microsoft.com/office/drawing/2014/main" xmlns="" id="{EA6AEBA0-7E0C-469E-B0DF-13D022D92103}"/>
                </a:ext>
              </a:extLst>
            </p:cNvPr>
            <p:cNvSpPr txBox="1">
              <a:spLocks noChangeArrowheads="1"/>
            </p:cNvSpPr>
            <p:nvPr/>
          </p:nvSpPr>
          <p:spPr bwMode="auto">
            <a:xfrm rot="-5400000">
              <a:off x="4270" y="1735"/>
              <a:ext cx="491" cy="233"/>
            </a:xfrm>
            <a:prstGeom prst="rect">
              <a:avLst/>
            </a:prstGeom>
            <a:noFill/>
            <a:ln w="9525">
              <a:noFill/>
              <a:miter lim="800000"/>
              <a:headEnd/>
              <a:tailEnd/>
            </a:ln>
          </p:spPr>
          <p:txBody>
            <a:bodyPr wrap="none">
              <a:spAutoFit/>
            </a:bodyPr>
            <a:lstStyle/>
            <a:p>
              <a:r>
                <a:rPr lang="en-US" altLang="zh-CN" sz="1800">
                  <a:solidFill>
                    <a:srgbClr val="0070C0"/>
                  </a:solidFill>
                  <a:latin typeface="ISOCPEUR" pitchFamily="34" charset="0"/>
                  <a:ea typeface="宋体" pitchFamily="2" charset="-122"/>
                </a:rPr>
                <a:t>–</a:t>
              </a:r>
              <a:r>
                <a:rPr lang="en-US" altLang="zh-CN" sz="1800" i="1">
                  <a:solidFill>
                    <a:srgbClr val="0070C0"/>
                  </a:solidFill>
                  <a:latin typeface="ISOCPEUR" pitchFamily="34" charset="0"/>
                  <a:ea typeface="宋体" pitchFamily="2" charset="-122"/>
                </a:rPr>
                <a:t>0.008</a:t>
              </a:r>
              <a:endParaRPr lang="en-US" altLang="zh-CN" sz="1800">
                <a:solidFill>
                  <a:srgbClr val="0070C0"/>
                </a:solidFill>
                <a:latin typeface="ISOCPEUR" pitchFamily="34" charset="0"/>
                <a:ea typeface="宋体" pitchFamily="2" charset="-122"/>
              </a:endParaRPr>
            </a:p>
          </p:txBody>
        </p:sp>
      </p:grpSp>
      <p:sp>
        <p:nvSpPr>
          <p:cNvPr id="49" name="Text Box 48">
            <a:extLst>
              <a:ext uri="{FF2B5EF4-FFF2-40B4-BE49-F238E27FC236}">
                <a16:creationId xmlns:a16="http://schemas.microsoft.com/office/drawing/2014/main" xmlns="" id="{3544A43B-392D-49E9-BD4E-95BA717846CF}"/>
              </a:ext>
            </a:extLst>
          </p:cNvPr>
          <p:cNvSpPr txBox="1">
            <a:spLocks noChangeArrowheads="1"/>
          </p:cNvSpPr>
          <p:nvPr/>
        </p:nvSpPr>
        <p:spPr bwMode="auto">
          <a:xfrm>
            <a:off x="1972953" y="3461552"/>
            <a:ext cx="958850" cy="400050"/>
          </a:xfrm>
          <a:prstGeom prst="rect">
            <a:avLst/>
          </a:prstGeom>
          <a:noFill/>
          <a:ln w="9525">
            <a:noFill/>
            <a:miter lim="800000"/>
            <a:headEnd/>
            <a:tailEnd/>
          </a:ln>
        </p:spPr>
        <p:txBody>
          <a:bodyPr wrap="none">
            <a:spAutoFit/>
          </a:bodyPr>
          <a:lstStyle/>
          <a:p>
            <a:r>
              <a:rPr lang="zh-CN" altLang="en-US" sz="2000" b="1">
                <a:solidFill>
                  <a:srgbClr val="FF6600"/>
                </a:solidFill>
                <a:latin typeface="宋体" pitchFamily="2" charset="-122"/>
                <a:ea typeface="宋体" pitchFamily="2" charset="-122"/>
              </a:rPr>
              <a:t>代号</a:t>
            </a:r>
            <a:r>
              <a:rPr lang="zh-CN" altLang="en-US" sz="2000" b="1">
                <a:solidFill>
                  <a:schemeClr val="tx1"/>
                </a:solidFill>
                <a:latin typeface="宋体" pitchFamily="2" charset="-122"/>
                <a:ea typeface="宋体" pitchFamily="2" charset="-122"/>
              </a:rPr>
              <a:t>：</a:t>
            </a:r>
          </a:p>
        </p:txBody>
      </p:sp>
      <p:sp>
        <p:nvSpPr>
          <p:cNvPr id="50" name="Text Box 49">
            <a:extLst>
              <a:ext uri="{FF2B5EF4-FFF2-40B4-BE49-F238E27FC236}">
                <a16:creationId xmlns:a16="http://schemas.microsoft.com/office/drawing/2014/main" xmlns="" id="{FCFCAA2D-D106-4584-9EE2-F0D5C96D3A38}"/>
              </a:ext>
            </a:extLst>
          </p:cNvPr>
          <p:cNvSpPr txBox="1">
            <a:spLocks noChangeArrowheads="1"/>
          </p:cNvSpPr>
          <p:nvPr/>
        </p:nvSpPr>
        <p:spPr bwMode="auto">
          <a:xfrm>
            <a:off x="3093728" y="3461552"/>
            <a:ext cx="1866900" cy="400050"/>
          </a:xfrm>
          <a:prstGeom prst="rect">
            <a:avLst/>
          </a:prstGeom>
          <a:noFill/>
          <a:ln w="9525">
            <a:noFill/>
            <a:miter lim="800000"/>
            <a:headEnd/>
            <a:tailEnd/>
          </a:ln>
        </p:spPr>
        <p:txBody>
          <a:bodyPr wrap="none">
            <a:spAutoFit/>
          </a:bodyPr>
          <a:lstStyle/>
          <a:p>
            <a:r>
              <a:rPr lang="zh-CN" altLang="en-US" sz="2000" b="1">
                <a:solidFill>
                  <a:srgbClr val="FF6600"/>
                </a:solidFill>
                <a:latin typeface="宋体" pitchFamily="2" charset="-122"/>
                <a:ea typeface="宋体" pitchFamily="2" charset="-122"/>
              </a:rPr>
              <a:t>孔</a:t>
            </a:r>
            <a:r>
              <a:rPr lang="zh-CN" altLang="en-US" sz="2000" b="1">
                <a:solidFill>
                  <a:schemeClr val="tx1"/>
                </a:solidFill>
                <a:latin typeface="宋体" pitchFamily="2" charset="-122"/>
                <a:ea typeface="宋体" pitchFamily="2" charset="-122"/>
              </a:rPr>
              <a:t>为</a:t>
            </a:r>
            <a:r>
              <a:rPr lang="en-US" altLang="zh-CN" sz="2000" b="1">
                <a:solidFill>
                  <a:srgbClr val="FF6600"/>
                </a:solidFill>
                <a:latin typeface="宋体" pitchFamily="2" charset="-122"/>
                <a:ea typeface="宋体" pitchFamily="2" charset="-122"/>
              </a:rPr>
              <a:t>EI</a:t>
            </a:r>
            <a:r>
              <a:rPr lang="en-US" altLang="zh-CN" sz="2000" b="1">
                <a:solidFill>
                  <a:schemeClr val="tx1"/>
                </a:solidFill>
                <a:latin typeface="宋体" pitchFamily="2" charset="-122"/>
                <a:ea typeface="宋体" pitchFamily="2" charset="-122"/>
              </a:rPr>
              <a:t> </a:t>
            </a:r>
            <a:r>
              <a:rPr lang="zh-CN" altLang="en-US" sz="2000" b="1">
                <a:latin typeface="宋体" pitchFamily="2" charset="-122"/>
                <a:ea typeface="宋体" pitchFamily="2" charset="-122"/>
              </a:rPr>
              <a:t>轴</a:t>
            </a:r>
            <a:r>
              <a:rPr lang="zh-CN" altLang="en-US" sz="2000" b="1">
                <a:solidFill>
                  <a:schemeClr val="tx1"/>
                </a:solidFill>
                <a:latin typeface="宋体" pitchFamily="2" charset="-122"/>
                <a:ea typeface="宋体" pitchFamily="2" charset="-122"/>
              </a:rPr>
              <a:t>为</a:t>
            </a:r>
            <a:r>
              <a:rPr lang="en-US" altLang="zh-CN" sz="2000" b="1">
                <a:latin typeface="宋体" pitchFamily="2" charset="-122"/>
                <a:ea typeface="宋体" pitchFamily="2" charset="-122"/>
              </a:rPr>
              <a:t>ei</a:t>
            </a:r>
            <a:endParaRPr lang="en-US" altLang="zh-CN" sz="2000" b="1">
              <a:solidFill>
                <a:srgbClr val="FF6600"/>
              </a:solidFill>
              <a:latin typeface="宋体" pitchFamily="2" charset="-122"/>
              <a:ea typeface="宋体" pitchFamily="2" charset="-122"/>
            </a:endParaRPr>
          </a:p>
        </p:txBody>
      </p:sp>
      <p:sp>
        <p:nvSpPr>
          <p:cNvPr id="51" name="Text Box 50">
            <a:extLst>
              <a:ext uri="{FF2B5EF4-FFF2-40B4-BE49-F238E27FC236}">
                <a16:creationId xmlns:a16="http://schemas.microsoft.com/office/drawing/2014/main" xmlns="" id="{1FB92BD0-4A7B-47D6-9430-5E1B3EC1197C}"/>
              </a:ext>
            </a:extLst>
          </p:cNvPr>
          <p:cNvSpPr txBox="1">
            <a:spLocks noChangeArrowheads="1"/>
          </p:cNvSpPr>
          <p:nvPr/>
        </p:nvSpPr>
        <p:spPr bwMode="auto">
          <a:xfrm>
            <a:off x="1293021" y="4691865"/>
            <a:ext cx="3192462" cy="461962"/>
          </a:xfrm>
          <a:prstGeom prst="rect">
            <a:avLst/>
          </a:prstGeom>
          <a:noFill/>
          <a:ln w="9525">
            <a:noFill/>
            <a:miter lim="800000"/>
            <a:headEnd/>
            <a:tailEnd/>
          </a:ln>
        </p:spPr>
        <p:txBody>
          <a:bodyPr>
            <a:spAutoFit/>
          </a:bodyPr>
          <a:lstStyle/>
          <a:p>
            <a:r>
              <a:rPr lang="en-US" altLang="zh-CN" sz="2000" b="1" dirty="0">
                <a:solidFill>
                  <a:srgbClr val="FF0000"/>
                </a:solidFill>
                <a:latin typeface="宋体" pitchFamily="2" charset="-122"/>
                <a:ea typeface="宋体" pitchFamily="2" charset="-122"/>
              </a:rPr>
              <a:t>8) </a:t>
            </a:r>
            <a:r>
              <a:rPr lang="zh-CN" altLang="en-US" sz="2000" b="1" dirty="0">
                <a:solidFill>
                  <a:srgbClr val="FF0000"/>
                </a:solidFill>
                <a:latin typeface="宋体" pitchFamily="2" charset="-122"/>
                <a:ea typeface="宋体" pitchFamily="2" charset="-122"/>
              </a:rPr>
              <a:t>尺寸公差</a:t>
            </a:r>
            <a:r>
              <a:rPr lang="en-US" altLang="zh-CN" sz="2000" b="1" dirty="0">
                <a:solidFill>
                  <a:schemeClr val="tx1"/>
                </a:solidFill>
                <a:latin typeface="宋体" pitchFamily="2" charset="-122"/>
                <a:ea typeface="宋体" pitchFamily="2" charset="-122"/>
              </a:rPr>
              <a:t>(</a:t>
            </a:r>
            <a:r>
              <a:rPr lang="zh-CN" altLang="en-US" sz="2000" b="1" dirty="0">
                <a:solidFill>
                  <a:schemeClr val="tx1"/>
                </a:solidFill>
                <a:latin typeface="宋体" pitchFamily="2" charset="-122"/>
                <a:ea typeface="宋体" pitchFamily="2" charset="-122"/>
              </a:rPr>
              <a:t>简称</a:t>
            </a:r>
            <a:r>
              <a:rPr lang="zh-CN" altLang="en-US" sz="2400" b="1" dirty="0">
                <a:solidFill>
                  <a:srgbClr val="FF0000"/>
                </a:solidFill>
                <a:latin typeface="宋体" pitchFamily="2" charset="-122"/>
                <a:ea typeface="宋体" pitchFamily="2" charset="-122"/>
              </a:rPr>
              <a:t>公差</a:t>
            </a:r>
            <a:r>
              <a:rPr lang="en-US" altLang="zh-CN" sz="2000" b="1" dirty="0">
                <a:solidFill>
                  <a:schemeClr val="tx1"/>
                </a:solidFill>
                <a:latin typeface="宋体" pitchFamily="2" charset="-122"/>
                <a:ea typeface="宋体" pitchFamily="2" charset="-122"/>
              </a:rPr>
              <a:t>):</a:t>
            </a:r>
          </a:p>
        </p:txBody>
      </p:sp>
      <p:sp>
        <p:nvSpPr>
          <p:cNvPr id="52" name="Text Box 51">
            <a:extLst>
              <a:ext uri="{FF2B5EF4-FFF2-40B4-BE49-F238E27FC236}">
                <a16:creationId xmlns:a16="http://schemas.microsoft.com/office/drawing/2014/main" xmlns="" id="{E07AC95F-013B-4FB7-91D7-A7EA91045586}"/>
              </a:ext>
            </a:extLst>
          </p:cNvPr>
          <p:cNvSpPr txBox="1">
            <a:spLocks noChangeArrowheads="1"/>
          </p:cNvSpPr>
          <p:nvPr/>
        </p:nvSpPr>
        <p:spPr bwMode="auto">
          <a:xfrm>
            <a:off x="1662364" y="5156171"/>
            <a:ext cx="3490912" cy="400050"/>
          </a:xfrm>
          <a:prstGeom prst="rect">
            <a:avLst/>
          </a:prstGeom>
          <a:noFill/>
          <a:ln w="9525">
            <a:noFill/>
            <a:miter lim="800000"/>
            <a:headEnd/>
            <a:tailEnd/>
          </a:ln>
        </p:spPr>
        <p:txBody>
          <a:bodyPr>
            <a:spAutoFit/>
          </a:bodyPr>
          <a:lstStyle/>
          <a:p>
            <a:r>
              <a:rPr lang="zh-CN" altLang="en-US" sz="2000" b="1" dirty="0">
                <a:solidFill>
                  <a:schemeClr val="tx1"/>
                </a:solidFill>
                <a:latin typeface="宋体" pitchFamily="2" charset="-122"/>
                <a:ea typeface="宋体" pitchFamily="2" charset="-122"/>
              </a:rPr>
              <a:t>允许实际尺寸的变动量。</a:t>
            </a:r>
          </a:p>
        </p:txBody>
      </p:sp>
      <p:sp>
        <p:nvSpPr>
          <p:cNvPr id="53" name="Text Box 53">
            <a:extLst>
              <a:ext uri="{FF2B5EF4-FFF2-40B4-BE49-F238E27FC236}">
                <a16:creationId xmlns:a16="http://schemas.microsoft.com/office/drawing/2014/main" xmlns="" id="{246593D2-5E93-408F-90CC-9B68E2CC3670}"/>
              </a:ext>
            </a:extLst>
          </p:cNvPr>
          <p:cNvSpPr txBox="1">
            <a:spLocks noChangeArrowheads="1"/>
          </p:cNvSpPr>
          <p:nvPr/>
        </p:nvSpPr>
        <p:spPr bwMode="auto">
          <a:xfrm>
            <a:off x="1660215" y="3798102"/>
            <a:ext cx="1138238" cy="400050"/>
          </a:xfrm>
          <a:prstGeom prst="rect">
            <a:avLst/>
          </a:prstGeom>
          <a:noFill/>
          <a:ln w="9525">
            <a:noFill/>
            <a:miter lim="800000"/>
            <a:headEnd/>
            <a:tailEnd/>
          </a:ln>
        </p:spPr>
        <p:txBody>
          <a:bodyPr>
            <a:spAutoFit/>
          </a:bodyPr>
          <a:lstStyle/>
          <a:p>
            <a:r>
              <a:rPr lang="zh-CN" altLang="en-US" sz="2000" b="1">
                <a:solidFill>
                  <a:srgbClr val="0070C0"/>
                </a:solidFill>
                <a:latin typeface="宋体" pitchFamily="2" charset="-122"/>
                <a:ea typeface="宋体" pitchFamily="2" charset="-122"/>
              </a:rPr>
              <a:t>上偏差</a:t>
            </a:r>
          </a:p>
        </p:txBody>
      </p:sp>
      <p:sp>
        <p:nvSpPr>
          <p:cNvPr id="54" name="Text Box 54">
            <a:extLst>
              <a:ext uri="{FF2B5EF4-FFF2-40B4-BE49-F238E27FC236}">
                <a16:creationId xmlns:a16="http://schemas.microsoft.com/office/drawing/2014/main" xmlns="" id="{E0ED1991-ED9A-4811-8FEC-698DF3086BD2}"/>
              </a:ext>
            </a:extLst>
          </p:cNvPr>
          <p:cNvSpPr txBox="1">
            <a:spLocks noChangeArrowheads="1"/>
          </p:cNvSpPr>
          <p:nvPr/>
        </p:nvSpPr>
        <p:spPr bwMode="auto">
          <a:xfrm>
            <a:off x="1647515" y="4287052"/>
            <a:ext cx="1138238" cy="400050"/>
          </a:xfrm>
          <a:prstGeom prst="rect">
            <a:avLst/>
          </a:prstGeom>
          <a:noFill/>
          <a:ln w="9525">
            <a:noFill/>
            <a:miter lim="800000"/>
            <a:headEnd/>
            <a:tailEnd/>
          </a:ln>
        </p:spPr>
        <p:txBody>
          <a:bodyPr>
            <a:spAutoFit/>
          </a:bodyPr>
          <a:lstStyle/>
          <a:p>
            <a:r>
              <a:rPr lang="zh-CN" altLang="en-US" sz="2000" b="1">
                <a:solidFill>
                  <a:srgbClr val="0070C0"/>
                </a:solidFill>
                <a:latin typeface="宋体" pitchFamily="2" charset="-122"/>
                <a:ea typeface="宋体" pitchFamily="2" charset="-122"/>
              </a:rPr>
              <a:t>下偏差</a:t>
            </a:r>
          </a:p>
        </p:txBody>
      </p:sp>
      <p:sp>
        <p:nvSpPr>
          <p:cNvPr id="55" name="Text Box 55">
            <a:extLst>
              <a:ext uri="{FF2B5EF4-FFF2-40B4-BE49-F238E27FC236}">
                <a16:creationId xmlns:a16="http://schemas.microsoft.com/office/drawing/2014/main" xmlns="" id="{0A5F65FF-1DBA-48EA-A5D2-ADD56F73E666}"/>
              </a:ext>
            </a:extLst>
          </p:cNvPr>
          <p:cNvSpPr txBox="1">
            <a:spLocks noChangeArrowheads="1"/>
          </p:cNvSpPr>
          <p:nvPr/>
        </p:nvSpPr>
        <p:spPr bwMode="auto">
          <a:xfrm>
            <a:off x="2981015" y="4061627"/>
            <a:ext cx="2054225" cy="400050"/>
          </a:xfrm>
          <a:prstGeom prst="rect">
            <a:avLst/>
          </a:prstGeom>
          <a:noFill/>
          <a:ln w="9525">
            <a:noFill/>
            <a:miter lim="800000"/>
            <a:headEnd/>
            <a:tailEnd/>
          </a:ln>
        </p:spPr>
        <p:txBody>
          <a:bodyPr>
            <a:spAutoFit/>
          </a:bodyPr>
          <a:lstStyle/>
          <a:p>
            <a:r>
              <a:rPr lang="zh-CN" altLang="en-US" sz="2000" b="1">
                <a:solidFill>
                  <a:srgbClr val="0070C0"/>
                </a:solidFill>
                <a:latin typeface="宋体" pitchFamily="2" charset="-122"/>
                <a:ea typeface="宋体" pitchFamily="2" charset="-122"/>
              </a:rPr>
              <a:t>统称极限偏差</a:t>
            </a:r>
          </a:p>
        </p:txBody>
      </p:sp>
      <p:sp>
        <p:nvSpPr>
          <p:cNvPr id="56" name="AutoShape 56">
            <a:extLst>
              <a:ext uri="{FF2B5EF4-FFF2-40B4-BE49-F238E27FC236}">
                <a16:creationId xmlns:a16="http://schemas.microsoft.com/office/drawing/2014/main" xmlns="" id="{A563DA8D-0FBC-4B39-80A2-1F1A41F8CD1E}"/>
              </a:ext>
            </a:extLst>
          </p:cNvPr>
          <p:cNvSpPr>
            <a:spLocks/>
          </p:cNvSpPr>
          <p:nvPr/>
        </p:nvSpPr>
        <p:spPr bwMode="auto">
          <a:xfrm>
            <a:off x="2711140" y="3931452"/>
            <a:ext cx="263525" cy="679450"/>
          </a:xfrm>
          <a:prstGeom prst="rightBrace">
            <a:avLst>
              <a:gd name="adj1" fmla="val 38340"/>
              <a:gd name="adj2" fmla="val 50000"/>
            </a:avLst>
          </a:prstGeom>
          <a:noFill/>
          <a:ln w="28575">
            <a:solidFill>
              <a:schemeClr val="tx1"/>
            </a:solidFill>
            <a:round/>
            <a:headEnd/>
            <a:tailEnd/>
          </a:ln>
        </p:spPr>
        <p:txBody>
          <a:bodyPr wrap="none" anchor="ctr"/>
          <a:lstStyle/>
          <a:p>
            <a:pPr algn="ctr"/>
            <a:endParaRPr lang="zh-CN" altLang="en-US" sz="2000" b="1">
              <a:solidFill>
                <a:srgbClr val="0070C0"/>
              </a:solidFill>
            </a:endParaRPr>
          </a:p>
        </p:txBody>
      </p:sp>
      <p:grpSp>
        <p:nvGrpSpPr>
          <p:cNvPr id="57" name="Group 62">
            <a:extLst>
              <a:ext uri="{FF2B5EF4-FFF2-40B4-BE49-F238E27FC236}">
                <a16:creationId xmlns:a16="http://schemas.microsoft.com/office/drawing/2014/main" xmlns="" id="{A9D542D7-5E8E-44A1-9A06-6306F3AF92A4}"/>
              </a:ext>
            </a:extLst>
          </p:cNvPr>
          <p:cNvGrpSpPr>
            <a:grpSpLocks/>
          </p:cNvGrpSpPr>
          <p:nvPr/>
        </p:nvGrpSpPr>
        <p:grpSpPr bwMode="auto">
          <a:xfrm>
            <a:off x="8231529" y="1929615"/>
            <a:ext cx="377825" cy="1368425"/>
            <a:chOff x="3770" y="797"/>
            <a:chExt cx="238" cy="930"/>
          </a:xfrm>
        </p:grpSpPr>
        <p:sp>
          <p:nvSpPr>
            <p:cNvPr id="58" name="Line 63">
              <a:extLst>
                <a:ext uri="{FF2B5EF4-FFF2-40B4-BE49-F238E27FC236}">
                  <a16:creationId xmlns:a16="http://schemas.microsoft.com/office/drawing/2014/main" xmlns="" id="{18DA4E6F-AAAD-4D39-88A8-D6F3BEAD8B87}"/>
                </a:ext>
              </a:extLst>
            </p:cNvPr>
            <p:cNvSpPr>
              <a:spLocks noChangeShapeType="1"/>
            </p:cNvSpPr>
            <p:nvPr/>
          </p:nvSpPr>
          <p:spPr bwMode="auto">
            <a:xfrm>
              <a:off x="4007" y="797"/>
              <a:ext cx="0" cy="930"/>
            </a:xfrm>
            <a:prstGeom prst="line">
              <a:avLst/>
            </a:prstGeom>
            <a:noFill/>
            <a:ln w="19050">
              <a:solidFill>
                <a:srgbClr val="0000CC"/>
              </a:solidFill>
              <a:round/>
              <a:headEnd/>
              <a:tailEnd/>
            </a:ln>
          </p:spPr>
          <p:txBody>
            <a:bodyPr wrap="none" anchor="ctr"/>
            <a:lstStyle/>
            <a:p>
              <a:endParaRPr lang="zh-CN" altLang="en-US"/>
            </a:p>
          </p:txBody>
        </p:sp>
        <p:sp>
          <p:nvSpPr>
            <p:cNvPr id="59" name="Text Box 64">
              <a:extLst>
                <a:ext uri="{FF2B5EF4-FFF2-40B4-BE49-F238E27FC236}">
                  <a16:creationId xmlns:a16="http://schemas.microsoft.com/office/drawing/2014/main" xmlns="" id="{DAB6E447-EB82-47D8-A888-371A3F72DD16}"/>
                </a:ext>
              </a:extLst>
            </p:cNvPr>
            <p:cNvSpPr txBox="1">
              <a:spLocks noChangeArrowheads="1"/>
            </p:cNvSpPr>
            <p:nvPr/>
          </p:nvSpPr>
          <p:spPr bwMode="auto">
            <a:xfrm rot="-5400000">
              <a:off x="3688" y="923"/>
              <a:ext cx="397" cy="233"/>
            </a:xfrm>
            <a:prstGeom prst="rect">
              <a:avLst/>
            </a:prstGeom>
            <a:noFill/>
            <a:ln w="9525">
              <a:noFill/>
              <a:miter lim="800000"/>
              <a:headEnd/>
              <a:tailEnd/>
            </a:ln>
          </p:spPr>
          <p:txBody>
            <a:bodyPr wrap="none">
              <a:spAutoFit/>
            </a:bodyPr>
            <a:lstStyle/>
            <a:p>
              <a:r>
                <a:rPr lang="en-US" altLang="zh-CN" sz="1800" i="1">
                  <a:solidFill>
                    <a:srgbClr val="0000CC"/>
                  </a:solidFill>
                  <a:latin typeface="ISOCPEUR" pitchFamily="34" charset="0"/>
                  <a:ea typeface="宋体" pitchFamily="2" charset="-122"/>
                </a:rPr>
                <a:t>0.016</a:t>
              </a:r>
              <a:endParaRPr lang="en-US" altLang="zh-CN" sz="1800">
                <a:solidFill>
                  <a:srgbClr val="0000CC"/>
                </a:solidFill>
                <a:latin typeface="ISOCPEUR" pitchFamily="34" charset="0"/>
                <a:ea typeface="宋体" pitchFamily="2" charset="-122"/>
              </a:endParaRPr>
            </a:p>
          </p:txBody>
        </p:sp>
        <p:sp>
          <p:nvSpPr>
            <p:cNvPr id="60" name="Line 65">
              <a:extLst>
                <a:ext uri="{FF2B5EF4-FFF2-40B4-BE49-F238E27FC236}">
                  <a16:creationId xmlns:a16="http://schemas.microsoft.com/office/drawing/2014/main" xmlns="" id="{BD41D876-787B-4277-BA55-B1DED45A4772}"/>
                </a:ext>
              </a:extLst>
            </p:cNvPr>
            <p:cNvSpPr>
              <a:spLocks noChangeShapeType="1"/>
            </p:cNvSpPr>
            <p:nvPr/>
          </p:nvSpPr>
          <p:spPr bwMode="auto">
            <a:xfrm>
              <a:off x="4007" y="1213"/>
              <a:ext cx="0" cy="133"/>
            </a:xfrm>
            <a:prstGeom prst="line">
              <a:avLst/>
            </a:prstGeom>
            <a:noFill/>
            <a:ln w="19050">
              <a:solidFill>
                <a:srgbClr val="0000CC"/>
              </a:solidFill>
              <a:round/>
              <a:headEnd/>
              <a:tailEnd type="triangle" w="sm" len="lg"/>
            </a:ln>
          </p:spPr>
          <p:txBody>
            <a:bodyPr wrap="none" anchor="ctr"/>
            <a:lstStyle/>
            <a:p>
              <a:endParaRPr lang="zh-CN" altLang="en-US"/>
            </a:p>
          </p:txBody>
        </p:sp>
        <p:sp>
          <p:nvSpPr>
            <p:cNvPr id="61" name="Line 66">
              <a:extLst>
                <a:ext uri="{FF2B5EF4-FFF2-40B4-BE49-F238E27FC236}">
                  <a16:creationId xmlns:a16="http://schemas.microsoft.com/office/drawing/2014/main" xmlns="" id="{2B1DF757-81A5-4BFA-8D7F-F346F39F4652}"/>
                </a:ext>
              </a:extLst>
            </p:cNvPr>
            <p:cNvSpPr>
              <a:spLocks noChangeShapeType="1"/>
            </p:cNvSpPr>
            <p:nvPr/>
          </p:nvSpPr>
          <p:spPr bwMode="auto">
            <a:xfrm flipV="1">
              <a:off x="4008" y="1512"/>
              <a:ext cx="0" cy="60"/>
            </a:xfrm>
            <a:prstGeom prst="line">
              <a:avLst/>
            </a:prstGeom>
            <a:noFill/>
            <a:ln w="19050">
              <a:solidFill>
                <a:srgbClr val="0000CC"/>
              </a:solidFill>
              <a:round/>
              <a:headEnd/>
              <a:tailEnd type="triangle" w="sm" len="lg"/>
            </a:ln>
          </p:spPr>
          <p:txBody>
            <a:bodyPr wrap="none" anchor="ctr"/>
            <a:lstStyle/>
            <a:p>
              <a:endParaRPr lang="zh-CN" altLang="en-US"/>
            </a:p>
          </p:txBody>
        </p:sp>
      </p:grpSp>
      <p:sp>
        <p:nvSpPr>
          <p:cNvPr id="62" name="AutoShape 67">
            <a:extLst>
              <a:ext uri="{FF2B5EF4-FFF2-40B4-BE49-F238E27FC236}">
                <a16:creationId xmlns:a16="http://schemas.microsoft.com/office/drawing/2014/main" xmlns="" id="{5CBA49EB-EF94-4508-9DB7-07A3211966FD}"/>
              </a:ext>
            </a:extLst>
          </p:cNvPr>
          <p:cNvSpPr>
            <a:spLocks noChangeArrowheads="1"/>
          </p:cNvSpPr>
          <p:nvPr/>
        </p:nvSpPr>
        <p:spPr bwMode="auto">
          <a:xfrm>
            <a:off x="7974354" y="4561690"/>
            <a:ext cx="1473200" cy="782637"/>
          </a:xfrm>
          <a:prstGeom prst="wedgeRoundRectCallout">
            <a:avLst>
              <a:gd name="adj1" fmla="val 61637"/>
              <a:gd name="adj2" fmla="val -136034"/>
              <a:gd name="adj3" fmla="val 16667"/>
            </a:avLst>
          </a:prstGeom>
          <a:solidFill>
            <a:schemeClr val="accent5">
              <a:lumMod val="60000"/>
              <a:lumOff val="40000"/>
            </a:schemeClr>
          </a:solidFill>
          <a:ln w="12700">
            <a:noFill/>
            <a:miter lim="800000"/>
            <a:headEnd type="none" w="sm" len="lg"/>
            <a:tailEnd type="none" w="sm" len="lg"/>
          </a:ln>
        </p:spPr>
        <p:txBody>
          <a:bodyPr anchor="ctr">
            <a:spAutoFit/>
          </a:bodyPr>
          <a:lstStyle/>
          <a:p>
            <a:pPr algn="ctr">
              <a:defRPr/>
            </a:pPr>
            <a:r>
              <a:rPr lang="zh-CN" altLang="en-US" sz="2000" dirty="0">
                <a:solidFill>
                  <a:srgbClr val="FF3300"/>
                </a:solidFill>
                <a:latin typeface="Times New Roman" pitchFamily="18" charset="0"/>
                <a:ea typeface="宋体" pitchFamily="2" charset="-122"/>
              </a:rPr>
              <a:t>偏差可正可负</a:t>
            </a:r>
          </a:p>
        </p:txBody>
      </p:sp>
      <p:sp>
        <p:nvSpPr>
          <p:cNvPr id="63" name="AutoShape 68">
            <a:extLst>
              <a:ext uri="{FF2B5EF4-FFF2-40B4-BE49-F238E27FC236}">
                <a16:creationId xmlns:a16="http://schemas.microsoft.com/office/drawing/2014/main" xmlns="" id="{D69B0358-10D5-4AD7-924B-9C9650526D20}"/>
              </a:ext>
            </a:extLst>
          </p:cNvPr>
          <p:cNvSpPr>
            <a:spLocks noChangeArrowheads="1"/>
          </p:cNvSpPr>
          <p:nvPr/>
        </p:nvSpPr>
        <p:spPr bwMode="auto">
          <a:xfrm>
            <a:off x="8469654" y="956477"/>
            <a:ext cx="2146300" cy="519113"/>
          </a:xfrm>
          <a:prstGeom prst="wedgeEllipseCallout">
            <a:avLst>
              <a:gd name="adj1" fmla="val -42153"/>
              <a:gd name="adj2" fmla="val 178245"/>
            </a:avLst>
          </a:prstGeom>
          <a:gradFill rotWithShape="1">
            <a:gsLst>
              <a:gs pos="0">
                <a:srgbClr val="DDEBCF"/>
              </a:gs>
              <a:gs pos="50000">
                <a:srgbClr val="9CB86E"/>
              </a:gs>
              <a:gs pos="100000">
                <a:srgbClr val="156B13"/>
              </a:gs>
            </a:gsLst>
            <a:lin ang="0" scaled="1"/>
          </a:gradFill>
          <a:ln w="12700">
            <a:noFill/>
            <a:miter lim="800000"/>
            <a:headEnd type="none" w="sm" len="lg"/>
            <a:tailEnd type="none" w="sm" len="lg"/>
          </a:ln>
        </p:spPr>
        <p:txBody>
          <a:bodyPr anchor="ctr">
            <a:spAutoFit/>
          </a:bodyPr>
          <a:lstStyle/>
          <a:p>
            <a:pPr algn="ctr"/>
            <a:r>
              <a:rPr lang="zh-CN" altLang="en-US" sz="1800">
                <a:solidFill>
                  <a:srgbClr val="FF3300"/>
                </a:solidFill>
                <a:latin typeface="Times New Roman" pitchFamily="18" charset="0"/>
                <a:ea typeface="宋体" pitchFamily="2" charset="-122"/>
              </a:rPr>
              <a:t>公差恒为正</a:t>
            </a:r>
          </a:p>
        </p:txBody>
      </p:sp>
      <p:sp>
        <p:nvSpPr>
          <p:cNvPr id="64" name="Text Box 52">
            <a:extLst>
              <a:ext uri="{FF2B5EF4-FFF2-40B4-BE49-F238E27FC236}">
                <a16:creationId xmlns:a16="http://schemas.microsoft.com/office/drawing/2014/main" xmlns="" id="{FF53C111-D00C-4D71-9579-AF7AE6CED323}"/>
              </a:ext>
            </a:extLst>
          </p:cNvPr>
          <p:cNvSpPr txBox="1">
            <a:spLocks noChangeArrowheads="1"/>
          </p:cNvSpPr>
          <p:nvPr/>
        </p:nvSpPr>
        <p:spPr bwMode="auto">
          <a:xfrm>
            <a:off x="1631504" y="5539590"/>
            <a:ext cx="3738562" cy="708025"/>
          </a:xfrm>
          <a:prstGeom prst="rect">
            <a:avLst/>
          </a:prstGeom>
          <a:noFill/>
          <a:ln w="9525">
            <a:noFill/>
            <a:miter lim="800000"/>
            <a:headEnd/>
            <a:tailEnd/>
          </a:ln>
        </p:spPr>
        <p:txBody>
          <a:bodyPr>
            <a:spAutoFit/>
          </a:bodyPr>
          <a:lstStyle/>
          <a:p>
            <a:r>
              <a:rPr lang="zh-CN" altLang="en-US" sz="2000" b="1" dirty="0">
                <a:solidFill>
                  <a:schemeClr val="tx1"/>
                </a:solidFill>
                <a:latin typeface="宋体" pitchFamily="2" charset="-122"/>
                <a:ea typeface="宋体" pitchFamily="2" charset="-122"/>
              </a:rPr>
              <a:t>公差</a:t>
            </a:r>
            <a:r>
              <a:rPr lang="en-US" altLang="zh-CN" sz="2000" b="1" dirty="0">
                <a:solidFill>
                  <a:schemeClr val="tx1"/>
                </a:solidFill>
                <a:latin typeface="宋体" pitchFamily="2" charset="-122"/>
                <a:ea typeface="宋体" pitchFamily="2" charset="-122"/>
              </a:rPr>
              <a:t>=</a:t>
            </a:r>
            <a:r>
              <a:rPr lang="zh-CN" altLang="en-US" sz="2000" b="1" dirty="0">
                <a:solidFill>
                  <a:schemeClr val="tx1"/>
                </a:solidFill>
                <a:latin typeface="宋体" pitchFamily="2" charset="-122"/>
                <a:ea typeface="宋体" pitchFamily="2" charset="-122"/>
              </a:rPr>
              <a:t>上极限尺寸－下极限尺寸</a:t>
            </a:r>
            <a:endParaRPr lang="en-US" altLang="zh-CN" sz="2000" b="1" dirty="0">
              <a:solidFill>
                <a:schemeClr val="tx1"/>
              </a:solidFill>
              <a:latin typeface="宋体" pitchFamily="2" charset="-122"/>
              <a:ea typeface="宋体" pitchFamily="2" charset="-122"/>
            </a:endParaRPr>
          </a:p>
          <a:p>
            <a:r>
              <a:rPr lang="en-US" altLang="zh-CN" sz="2000" b="1" dirty="0">
                <a:solidFill>
                  <a:schemeClr val="tx1"/>
                </a:solidFill>
                <a:latin typeface="宋体" pitchFamily="2" charset="-122"/>
                <a:ea typeface="宋体" pitchFamily="2" charset="-122"/>
              </a:rPr>
              <a:t>    =</a:t>
            </a:r>
            <a:r>
              <a:rPr lang="zh-CN" altLang="en-US" sz="2000" b="1" dirty="0">
                <a:solidFill>
                  <a:schemeClr val="tx1"/>
                </a:solidFill>
                <a:latin typeface="宋体" pitchFamily="2" charset="-122"/>
                <a:ea typeface="宋体" pitchFamily="2" charset="-122"/>
              </a:rPr>
              <a:t>上偏差－下偏差</a:t>
            </a:r>
          </a:p>
        </p:txBody>
      </p:sp>
      <p:sp>
        <p:nvSpPr>
          <p:cNvPr id="65" name="矩形 64">
            <a:extLst>
              <a:ext uri="{FF2B5EF4-FFF2-40B4-BE49-F238E27FC236}">
                <a16:creationId xmlns:a16="http://schemas.microsoft.com/office/drawing/2014/main" xmlns="" id="{4F5944AF-D133-4928-B3AF-38DA2C4B7370}"/>
              </a:ext>
            </a:extLst>
          </p:cNvPr>
          <p:cNvSpPr/>
          <p:nvPr/>
        </p:nvSpPr>
        <p:spPr>
          <a:xfrm>
            <a:off x="1966603" y="6307016"/>
            <a:ext cx="9032293" cy="369332"/>
          </a:xfrm>
          <a:prstGeom prst="rect">
            <a:avLst/>
          </a:prstGeom>
          <a:gradFill flip="none" rotWithShape="1">
            <a:gsLst>
              <a:gs pos="0">
                <a:srgbClr val="5E9EFF"/>
              </a:gs>
              <a:gs pos="39999">
                <a:srgbClr val="85C2FF"/>
              </a:gs>
              <a:gs pos="70000">
                <a:srgbClr val="C4D6EB"/>
              </a:gs>
              <a:gs pos="100000">
                <a:srgbClr val="FFEBFA"/>
              </a:gs>
            </a:gsLst>
            <a:lin ang="10800000" scaled="1"/>
            <a:tileRect/>
          </a:gradFill>
        </p:spPr>
        <p:txBody>
          <a:bodyPr wrap="square">
            <a:spAutoFit/>
          </a:bodyPr>
          <a:lstStyle/>
          <a:p>
            <a:pPr>
              <a:defRPr/>
            </a:pPr>
            <a:r>
              <a:rPr lang="zh-CN" altLang="en-US" sz="1800" b="1" dirty="0">
                <a:solidFill>
                  <a:srgbClr val="FF0000"/>
                </a:solidFill>
                <a:latin typeface="+mn-ea"/>
                <a:ea typeface="+mn-ea"/>
              </a:rPr>
              <a:t>零线：</a:t>
            </a:r>
            <a:r>
              <a:rPr lang="zh-CN" altLang="en-US" sz="1800" b="1" dirty="0">
                <a:solidFill>
                  <a:schemeClr val="tx1"/>
                </a:solidFill>
                <a:latin typeface="+mn-ea"/>
                <a:ea typeface="+mn-ea"/>
              </a:rPr>
              <a:t>在极限与配合图解中，表示公称尺寸的一条直线，以其为基准确定偏差和公差。</a:t>
            </a:r>
          </a:p>
        </p:txBody>
      </p:sp>
      <p:sp>
        <p:nvSpPr>
          <p:cNvPr id="66" name="Text Box 8">
            <a:extLst>
              <a:ext uri="{FF2B5EF4-FFF2-40B4-BE49-F238E27FC236}">
                <a16:creationId xmlns:a16="http://schemas.microsoft.com/office/drawing/2014/main" xmlns="" id="{C6318694-48FA-405E-987B-22645E000655}"/>
              </a:ext>
            </a:extLst>
          </p:cNvPr>
          <p:cNvSpPr txBox="1">
            <a:spLocks noChangeArrowheads="1"/>
          </p:cNvSpPr>
          <p:nvPr/>
        </p:nvSpPr>
        <p:spPr bwMode="auto">
          <a:xfrm>
            <a:off x="1342233" y="1394941"/>
            <a:ext cx="3194050" cy="461963"/>
          </a:xfrm>
          <a:prstGeom prst="rect">
            <a:avLst/>
          </a:prstGeom>
          <a:noFill/>
          <a:ln w="9525">
            <a:noFill/>
            <a:miter lim="800000"/>
            <a:headEnd/>
            <a:tailEnd/>
          </a:ln>
        </p:spPr>
        <p:txBody>
          <a:bodyPr>
            <a:spAutoFit/>
          </a:bodyPr>
          <a:lstStyle/>
          <a:p>
            <a:r>
              <a:rPr lang="en-US" altLang="zh-CN" sz="2400" b="1" dirty="0">
                <a:solidFill>
                  <a:srgbClr val="0070C0"/>
                </a:solidFill>
                <a:latin typeface="宋体" pitchFamily="2" charset="-122"/>
                <a:ea typeface="宋体" pitchFamily="2" charset="-122"/>
              </a:rPr>
              <a:t>●</a:t>
            </a:r>
            <a:r>
              <a:rPr lang="zh-CN" altLang="en-US" sz="2400" b="1" dirty="0">
                <a:solidFill>
                  <a:srgbClr val="0070C0"/>
                </a:solidFill>
                <a:latin typeface="宋体" pitchFamily="2" charset="-122"/>
                <a:cs typeface="Times New Roman" pitchFamily="18" charset="0"/>
              </a:rPr>
              <a:t>相关术语和定义</a:t>
            </a:r>
            <a:endParaRPr lang="zh-CN" altLang="en-US" sz="2400" b="1" dirty="0">
              <a:solidFill>
                <a:srgbClr val="0070C0"/>
              </a:solidFill>
              <a:latin typeface="宋体" pitchFamily="2" charset="-122"/>
              <a:ea typeface="宋体" pitchFamily="2" charset="-122"/>
            </a:endParaRPr>
          </a:p>
        </p:txBody>
      </p:sp>
    </p:spTree>
    <p:extLst>
      <p:ext uri="{BB962C8B-B14F-4D97-AF65-F5344CB8AC3E}">
        <p14:creationId xmlns:p14="http://schemas.microsoft.com/office/powerpoint/2010/main" val="131075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75"/>
                                        <p:tgtEl>
                                          <p:spTgt spid="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32"/>
                                        </p:tgtEl>
                                        <p:attrNameLst>
                                          <p:attrName>style.visibility</p:attrName>
                                        </p:attrNameLst>
                                      </p:cBhvr>
                                      <p:to>
                                        <p:strVal val="visible"/>
                                      </p:to>
                                    </p:set>
                                    <p:animEffect transition="in" filter="blinds(horizontal)">
                                      <p:cBhvr>
                                        <p:cTn id="12" dur="75"/>
                                        <p:tgtEl>
                                          <p:spTgt spid="32"/>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33"/>
                                        </p:tgtEl>
                                        <p:attrNameLst>
                                          <p:attrName>style.visibility</p:attrName>
                                        </p:attrNameLst>
                                      </p:cBhvr>
                                      <p:to>
                                        <p:strVal val="visible"/>
                                      </p:to>
                                    </p:set>
                                    <p:animEffect transition="in" filter="blinds(horizontal)">
                                      <p:cBhvr>
                                        <p:cTn id="17" dur="75"/>
                                        <p:tgtEl>
                                          <p:spTgt spid="33"/>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down)">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iterate type="lt">
                                    <p:tmPct val="100000"/>
                                  </p:iterate>
                                  <p:childTnLst>
                                    <p:set>
                                      <p:cBhvr>
                                        <p:cTn id="30" dur="1" fill="hold">
                                          <p:stCondLst>
                                            <p:cond delay="0"/>
                                          </p:stCondLst>
                                        </p:cTn>
                                        <p:tgtEl>
                                          <p:spTgt spid="42"/>
                                        </p:tgtEl>
                                        <p:attrNameLst>
                                          <p:attrName>style.visibility</p:attrName>
                                        </p:attrNameLst>
                                      </p:cBhvr>
                                      <p:to>
                                        <p:strVal val="visible"/>
                                      </p:to>
                                    </p:set>
                                    <p:animEffect transition="in" filter="blinds(horizontal)">
                                      <p:cBhvr>
                                        <p:cTn id="31" dur="75"/>
                                        <p:tgtEl>
                                          <p:spTgt spid="42"/>
                                        </p:tgtEl>
                                      </p:cBhvr>
                                    </p:animEffect>
                                  </p:childTnLst>
                                  <p:subTnLst>
                                    <p:audio>
                                      <p:cMediaNode>
                                        <p:cTn display="0" masterRel="sameClick">
                                          <p:stCondLst>
                                            <p:cond evt="begin" delay="0">
                                              <p:tn val="29"/>
                                            </p:cond>
                                          </p:stCondLst>
                                          <p:endCondLst>
                                            <p:cond evt="onStopAudio" delay="0">
                                              <p:tgtEl>
                                                <p:sldTgt/>
                                              </p:tgtEl>
                                            </p:cond>
                                          </p:endCondLst>
                                        </p:cTn>
                                        <p:tgtEl>
                                          <p:sndTgt r:embed="rId2" name="TYPE.WAV"/>
                                        </p:tgtEl>
                                      </p:cMediaNode>
                                    </p:audio>
                                  </p:subTnLst>
                                </p:cTn>
                              </p:par>
                            </p:childTnLst>
                          </p:cTn>
                        </p:par>
                        <p:par>
                          <p:cTn id="32" fill="hold">
                            <p:stCondLst>
                              <p:cond delay="225"/>
                            </p:stCondLst>
                            <p:childTnLst>
                              <p:par>
                                <p:cTn id="33" presetID="3" presetClass="entr" presetSubtype="10" fill="hold" grpId="0" nodeType="afterEffect">
                                  <p:stCondLst>
                                    <p:cond delay="0"/>
                                  </p:stCondLst>
                                  <p:iterate type="lt">
                                    <p:tmPct val="100000"/>
                                  </p:iterate>
                                  <p:childTnLst>
                                    <p:set>
                                      <p:cBhvr>
                                        <p:cTn id="34" dur="1" fill="hold">
                                          <p:stCondLst>
                                            <p:cond delay="0"/>
                                          </p:stCondLst>
                                        </p:cTn>
                                        <p:tgtEl>
                                          <p:spTgt spid="43"/>
                                        </p:tgtEl>
                                        <p:attrNameLst>
                                          <p:attrName>style.visibility</p:attrName>
                                        </p:attrNameLst>
                                      </p:cBhvr>
                                      <p:to>
                                        <p:strVal val="visible"/>
                                      </p:to>
                                    </p:set>
                                    <p:animEffect transition="in" filter="blinds(horizontal)">
                                      <p:cBhvr>
                                        <p:cTn id="35" dur="75"/>
                                        <p:tgtEl>
                                          <p:spTgt spid="43"/>
                                        </p:tgtEl>
                                      </p:cBhvr>
                                    </p:animEffect>
                                  </p:childTnLst>
                                  <p:subTnLst>
                                    <p:audio>
                                      <p:cMediaNode>
                                        <p:cTn display="0" masterRel="sameClick">
                                          <p:stCondLst>
                                            <p:cond evt="begin" delay="0">
                                              <p:tn val="33"/>
                                            </p:cond>
                                          </p:stCondLst>
                                          <p:endCondLst>
                                            <p:cond evt="onStopAudio" delay="0">
                                              <p:tgtEl>
                                                <p:sldTgt/>
                                              </p:tgtEl>
                                            </p:cond>
                                          </p:endCondLst>
                                        </p:cTn>
                                        <p:tgtEl>
                                          <p:sndTgt r:embed="rId2" name="TYPE.WAV"/>
                                        </p:tgtEl>
                                      </p:cMediaNode>
                                    </p:audio>
                                  </p:sub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iterate type="lt">
                                    <p:tmPct val="100000"/>
                                  </p:iterate>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75"/>
                                        <p:tgtEl>
                                          <p:spTgt spid="40"/>
                                        </p:tgtEl>
                                      </p:cBhvr>
                                    </p:animEffect>
                                  </p:childTnLst>
                                  <p:subTnLst>
                                    <p:audio>
                                      <p:cMediaNode>
                                        <p:cTn display="0" masterRel="sameClick">
                                          <p:stCondLst>
                                            <p:cond evt="begin" delay="0">
                                              <p:tn val="38"/>
                                            </p:cond>
                                          </p:stCondLst>
                                          <p:endCondLst>
                                            <p:cond evt="onStopAudio" delay="0">
                                              <p:tgtEl>
                                                <p:sldTgt/>
                                              </p:tgtEl>
                                            </p:cond>
                                          </p:endCondLst>
                                        </p:cTn>
                                        <p:tgtEl>
                                          <p:sndTgt r:embed="rId2" name="TYPE.WAV"/>
                                        </p:tgtEl>
                                      </p:cMediaNode>
                                    </p:audio>
                                  </p:sub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iterate type="lt">
                                    <p:tmPct val="100000"/>
                                  </p:iterate>
                                  <p:childTnLst>
                                    <p:set>
                                      <p:cBhvr>
                                        <p:cTn id="44" dur="1" fill="hold">
                                          <p:stCondLst>
                                            <p:cond delay="0"/>
                                          </p:stCondLst>
                                        </p:cTn>
                                        <p:tgtEl>
                                          <p:spTgt spid="41"/>
                                        </p:tgtEl>
                                        <p:attrNameLst>
                                          <p:attrName>style.visibility</p:attrName>
                                        </p:attrNameLst>
                                      </p:cBhvr>
                                      <p:to>
                                        <p:strVal val="visible"/>
                                      </p:to>
                                    </p:set>
                                    <p:animEffect transition="in" filter="blinds(horizontal)">
                                      <p:cBhvr>
                                        <p:cTn id="45" dur="75"/>
                                        <p:tgtEl>
                                          <p:spTgt spid="41"/>
                                        </p:tgtEl>
                                      </p:cBhvr>
                                    </p:animEffect>
                                  </p:childTnLst>
                                  <p:subTnLst>
                                    <p:audio>
                                      <p:cMediaNode>
                                        <p:cTn display="0" masterRel="sameClick">
                                          <p:stCondLst>
                                            <p:cond evt="begin" delay="0">
                                              <p:tn val="43"/>
                                            </p:cond>
                                          </p:stCondLst>
                                          <p:endCondLst>
                                            <p:cond evt="onStopAudio" delay="0">
                                              <p:tgtEl>
                                                <p:sldTgt/>
                                              </p:tgtEl>
                                            </p:cond>
                                          </p:endCondLst>
                                        </p:cTn>
                                        <p:tgtEl>
                                          <p:sndTgt r:embed="rId2" name="TYPE.WAV"/>
                                        </p:tgtEl>
                                      </p:cMediaNode>
                                    </p:audio>
                                  </p:sub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down)">
                                      <p:cBhvr>
                                        <p:cTn id="50" dur="500"/>
                                        <p:tgtEl>
                                          <p:spTgt spid="4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iterate type="lt">
                                    <p:tmPct val="100000"/>
                                  </p:iterate>
                                  <p:childTnLst>
                                    <p:set>
                                      <p:cBhvr>
                                        <p:cTn id="54" dur="1" fill="hold">
                                          <p:stCondLst>
                                            <p:cond delay="0"/>
                                          </p:stCondLst>
                                        </p:cTn>
                                        <p:tgtEl>
                                          <p:spTgt spid="49"/>
                                        </p:tgtEl>
                                        <p:attrNameLst>
                                          <p:attrName>style.visibility</p:attrName>
                                        </p:attrNameLst>
                                      </p:cBhvr>
                                      <p:to>
                                        <p:strVal val="visible"/>
                                      </p:to>
                                    </p:set>
                                    <p:animEffect transition="in" filter="blinds(horizontal)">
                                      <p:cBhvr>
                                        <p:cTn id="55" dur="75"/>
                                        <p:tgtEl>
                                          <p:spTgt spid="49"/>
                                        </p:tgtEl>
                                      </p:cBhvr>
                                    </p:animEffect>
                                  </p:childTnLst>
                                  <p:subTnLst>
                                    <p:audio>
                                      <p:cMediaNode>
                                        <p:cTn display="0" masterRel="sameClick">
                                          <p:stCondLst>
                                            <p:cond evt="begin" delay="0">
                                              <p:tn val="53"/>
                                            </p:cond>
                                          </p:stCondLst>
                                          <p:endCondLst>
                                            <p:cond evt="onStopAudio" delay="0">
                                              <p:tgtEl>
                                                <p:sldTgt/>
                                              </p:tgtEl>
                                            </p:cond>
                                          </p:endCondLst>
                                        </p:cTn>
                                        <p:tgtEl>
                                          <p:sndTgt r:embed="rId2" name="TYPE.WAV"/>
                                        </p:tgtEl>
                                      </p:cMediaNode>
                                    </p:audio>
                                  </p:subTnLst>
                                </p:cTn>
                              </p:par>
                            </p:childTnLst>
                          </p:cTn>
                        </p:par>
                        <p:par>
                          <p:cTn id="56" fill="hold">
                            <p:stCondLst>
                              <p:cond delay="225"/>
                            </p:stCondLst>
                            <p:childTnLst>
                              <p:par>
                                <p:cTn id="57" presetID="3" presetClass="entr" presetSubtype="10" fill="hold" grpId="0" nodeType="afterEffect">
                                  <p:stCondLst>
                                    <p:cond delay="0"/>
                                  </p:stCondLst>
                                  <p:iterate type="lt">
                                    <p:tmPct val="100000"/>
                                  </p:iterate>
                                  <p:childTnLst>
                                    <p:set>
                                      <p:cBhvr>
                                        <p:cTn id="58" dur="1" fill="hold">
                                          <p:stCondLst>
                                            <p:cond delay="0"/>
                                          </p:stCondLst>
                                        </p:cTn>
                                        <p:tgtEl>
                                          <p:spTgt spid="50"/>
                                        </p:tgtEl>
                                        <p:attrNameLst>
                                          <p:attrName>style.visibility</p:attrName>
                                        </p:attrNameLst>
                                      </p:cBhvr>
                                      <p:to>
                                        <p:strVal val="visible"/>
                                      </p:to>
                                    </p:set>
                                    <p:animEffect transition="in" filter="blinds(horizontal)">
                                      <p:cBhvr>
                                        <p:cTn id="59" dur="75"/>
                                        <p:tgtEl>
                                          <p:spTgt spid="50"/>
                                        </p:tgtEl>
                                      </p:cBhvr>
                                    </p:animEffect>
                                  </p:childTnLst>
                                  <p:subTnLst>
                                    <p:audio>
                                      <p:cMediaNode>
                                        <p:cTn display="0" masterRel="sameClick">
                                          <p:stCondLst>
                                            <p:cond evt="begin" delay="0">
                                              <p:tn val="57"/>
                                            </p:cond>
                                          </p:stCondLst>
                                          <p:endCondLst>
                                            <p:cond evt="onStopAudio" delay="0">
                                              <p:tgtEl>
                                                <p:sldTgt/>
                                              </p:tgtEl>
                                            </p:cond>
                                          </p:endCondLst>
                                        </p:cTn>
                                        <p:tgtEl>
                                          <p:sndTgt r:embed="rId2" name="TYPE.WAV"/>
                                        </p:tgtEl>
                                      </p:cMediaNode>
                                    </p:audio>
                                  </p:subTnLst>
                                </p:cTn>
                              </p:par>
                            </p:childTnLst>
                          </p:cTn>
                        </p:par>
                      </p:childTnLst>
                    </p:cTn>
                  </p:par>
                  <p:par>
                    <p:cTn id="60" fill="hold">
                      <p:stCondLst>
                        <p:cond delay="indefinite"/>
                      </p:stCondLst>
                      <p:childTnLst>
                        <p:par>
                          <p:cTn id="61" fill="hold">
                            <p:stCondLst>
                              <p:cond delay="0"/>
                            </p:stCondLst>
                            <p:childTnLst>
                              <p:par>
                                <p:cTn id="62" presetID="12" presetClass="entr" presetSubtype="8" fill="hold" grpId="0" nodeType="click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slide(fromLeft)">
                                      <p:cBhvr>
                                        <p:cTn id="64" dur="500"/>
                                        <p:tgtEl>
                                          <p:spTgt spid="53"/>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slide(fromLeft)">
                                      <p:cBhvr>
                                        <p:cTn id="69" dur="500"/>
                                        <p:tgtEl>
                                          <p:spTgt spid="54"/>
                                        </p:tgtEl>
                                      </p:cBhvr>
                                    </p:animEffect>
                                  </p:childTnLst>
                                </p:cTn>
                              </p:par>
                            </p:childTnLst>
                          </p:cTn>
                        </p:par>
                        <p:par>
                          <p:cTn id="70" fill="hold">
                            <p:stCondLst>
                              <p:cond delay="500"/>
                            </p:stCondLst>
                            <p:childTnLst>
                              <p:par>
                                <p:cTn id="71" presetID="16" presetClass="entr" presetSubtype="42" fill="hold" grpId="0" nodeType="after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barn(outHorizontal)">
                                      <p:cBhvr>
                                        <p:cTn id="73" dur="500"/>
                                        <p:tgtEl>
                                          <p:spTgt spid="56"/>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slide(fromLeft)">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blinds(horizontal)">
                                      <p:cBhvr>
                                        <p:cTn id="83" dur="500"/>
                                        <p:tgtEl>
                                          <p:spTgt spid="62"/>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iterate type="lt">
                                    <p:tmPct val="100000"/>
                                  </p:iterate>
                                  <p:childTnLst>
                                    <p:set>
                                      <p:cBhvr>
                                        <p:cTn id="87" dur="1" fill="hold">
                                          <p:stCondLst>
                                            <p:cond delay="0"/>
                                          </p:stCondLst>
                                        </p:cTn>
                                        <p:tgtEl>
                                          <p:spTgt spid="51"/>
                                        </p:tgtEl>
                                        <p:attrNameLst>
                                          <p:attrName>style.visibility</p:attrName>
                                        </p:attrNameLst>
                                      </p:cBhvr>
                                      <p:to>
                                        <p:strVal val="visible"/>
                                      </p:to>
                                    </p:set>
                                    <p:animEffect transition="in" filter="blinds(horizontal)">
                                      <p:cBhvr>
                                        <p:cTn id="88" dur="75"/>
                                        <p:tgtEl>
                                          <p:spTgt spid="51"/>
                                        </p:tgtEl>
                                      </p:cBhvr>
                                    </p:animEffect>
                                  </p:childTnLst>
                                  <p:subTnLst>
                                    <p:audio>
                                      <p:cMediaNode>
                                        <p:cTn display="0" masterRel="sameClick">
                                          <p:stCondLst>
                                            <p:cond evt="begin" delay="0">
                                              <p:tn val="86"/>
                                            </p:cond>
                                          </p:stCondLst>
                                          <p:endCondLst>
                                            <p:cond evt="onStopAudio" delay="0">
                                              <p:tgtEl>
                                                <p:sldTgt/>
                                              </p:tgtEl>
                                            </p:cond>
                                          </p:endCondLst>
                                        </p:cTn>
                                        <p:tgtEl>
                                          <p:sndTgt r:embed="rId2" name="TYPE.WAV"/>
                                        </p:tgtEl>
                                      </p:cMediaNode>
                                    </p:audio>
                                  </p:sub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iterate type="lt">
                                    <p:tmPct val="100000"/>
                                  </p:iterate>
                                  <p:childTnLst>
                                    <p:set>
                                      <p:cBhvr>
                                        <p:cTn id="92" dur="1" fill="hold">
                                          <p:stCondLst>
                                            <p:cond delay="0"/>
                                          </p:stCondLst>
                                        </p:cTn>
                                        <p:tgtEl>
                                          <p:spTgt spid="52"/>
                                        </p:tgtEl>
                                        <p:attrNameLst>
                                          <p:attrName>style.visibility</p:attrName>
                                        </p:attrNameLst>
                                      </p:cBhvr>
                                      <p:to>
                                        <p:strVal val="visible"/>
                                      </p:to>
                                    </p:set>
                                    <p:animEffect transition="in" filter="blinds(horizontal)">
                                      <p:cBhvr>
                                        <p:cTn id="93" dur="75"/>
                                        <p:tgtEl>
                                          <p:spTgt spid="52"/>
                                        </p:tgtEl>
                                      </p:cBhvr>
                                    </p:animEffect>
                                  </p:childTnLst>
                                  <p:subTnLst>
                                    <p:audio>
                                      <p:cMediaNode>
                                        <p:cTn display="0" masterRel="sameClick">
                                          <p:stCondLst>
                                            <p:cond evt="begin" delay="0">
                                              <p:tn val="91"/>
                                            </p:cond>
                                          </p:stCondLst>
                                          <p:endCondLst>
                                            <p:cond evt="onStopAudio" delay="0">
                                              <p:tgtEl>
                                                <p:sldTgt/>
                                              </p:tgtEl>
                                            </p:cond>
                                          </p:endCondLst>
                                        </p:cTn>
                                        <p:tgtEl>
                                          <p:sndTgt r:embed="rId2" name="TYPE.WAV"/>
                                        </p:tgtEl>
                                      </p:cMediaNode>
                                    </p:audio>
                                  </p:sub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64"/>
                                        </p:tgtEl>
                                        <p:attrNameLst>
                                          <p:attrName>style.visibility</p:attrName>
                                        </p:attrNameLst>
                                      </p:cBhvr>
                                      <p:to>
                                        <p:strVal val="visible"/>
                                      </p:to>
                                    </p:set>
                                    <p:animEffect transition="in" filter="blinds(horizontal)">
                                      <p:cBhvr>
                                        <p:cTn id="98" dur="500"/>
                                        <p:tgtEl>
                                          <p:spTgt spid="6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57"/>
                                        </p:tgtEl>
                                        <p:attrNameLst>
                                          <p:attrName>style.visibility</p:attrName>
                                        </p:attrNameLst>
                                      </p:cBhvr>
                                      <p:to>
                                        <p:strVal val="visible"/>
                                      </p:to>
                                    </p:set>
                                    <p:animEffect transition="in" filter="wipe(up)">
                                      <p:cBhvr>
                                        <p:cTn id="103" dur="500"/>
                                        <p:tgtEl>
                                          <p:spTgt spid="57"/>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63"/>
                                        </p:tgtEl>
                                        <p:attrNameLst>
                                          <p:attrName>style.visibility</p:attrName>
                                        </p:attrNameLst>
                                      </p:cBhvr>
                                      <p:to>
                                        <p:strVal val="visible"/>
                                      </p:to>
                                    </p:set>
                                    <p:animEffect transition="in" filter="blinds(horizontal)">
                                      <p:cBhvr>
                                        <p:cTn id="108" dur="500"/>
                                        <p:tgtEl>
                                          <p:spTgt spid="63"/>
                                        </p:tgtEl>
                                      </p:cBhvr>
                                    </p:animEffect>
                                  </p:childTnLst>
                                </p:cTn>
                              </p:par>
                            </p:childTnLst>
                          </p:cTn>
                        </p:par>
                      </p:childTnLst>
                    </p:cTn>
                  </p:par>
                  <p:par>
                    <p:cTn id="109" fill="hold">
                      <p:stCondLst>
                        <p:cond delay="indefinite"/>
                      </p:stCondLst>
                      <p:childTnLst>
                        <p:par>
                          <p:cTn id="110" fill="hold">
                            <p:stCondLst>
                              <p:cond delay="0"/>
                            </p:stCondLst>
                            <p:childTnLst>
                              <p:par>
                                <p:cTn id="111" presetID="12" presetClass="entr" presetSubtype="4" fill="hold" grpId="0" nodeType="clickEffect">
                                  <p:stCondLst>
                                    <p:cond delay="0"/>
                                  </p:stCondLst>
                                  <p:childTnLst>
                                    <p:set>
                                      <p:cBhvr>
                                        <p:cTn id="112" dur="1" fill="hold">
                                          <p:stCondLst>
                                            <p:cond delay="0"/>
                                          </p:stCondLst>
                                        </p:cTn>
                                        <p:tgtEl>
                                          <p:spTgt spid="65"/>
                                        </p:tgtEl>
                                        <p:attrNameLst>
                                          <p:attrName>style.visibility</p:attrName>
                                        </p:attrNameLst>
                                      </p:cBhvr>
                                      <p:to>
                                        <p:strVal val="visible"/>
                                      </p:to>
                                    </p:set>
                                    <p:animEffect transition="in" filter="slide(fromBottom)">
                                      <p:cBhvr>
                                        <p:cTn id="11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2" grpId="0" autoUpdateAnimBg="0"/>
      <p:bldP spid="33" grpId="0" autoUpdateAnimBg="0"/>
      <p:bldP spid="39" grpId="0" animBg="1"/>
      <p:bldP spid="40" grpId="0" autoUpdateAnimBg="0"/>
      <p:bldP spid="41" grpId="0" autoUpdateAnimBg="0"/>
      <p:bldP spid="42" grpId="0" autoUpdateAnimBg="0"/>
      <p:bldP spid="43" grpId="0" autoUpdateAnimBg="0"/>
      <p:bldP spid="49" grpId="0" autoUpdateAnimBg="0"/>
      <p:bldP spid="50" grpId="0" autoUpdateAnimBg="0"/>
      <p:bldP spid="51" grpId="0" autoUpdateAnimBg="0"/>
      <p:bldP spid="52" grpId="0" autoUpdateAnimBg="0"/>
      <p:bldP spid="53" grpId="0" autoUpdateAnimBg="0"/>
      <p:bldP spid="54" grpId="0" autoUpdateAnimBg="0"/>
      <p:bldP spid="55" grpId="0" autoUpdateAnimBg="0"/>
      <p:bldP spid="56" grpId="0" animBg="1"/>
      <p:bldP spid="62" grpId="0" animBg="1" autoUpdateAnimBg="0"/>
      <p:bldP spid="63" grpId="0" animBg="1" autoUpdateAnimBg="0"/>
      <p:bldP spid="64" grpId="0" autoUpdateAnimBg="0"/>
      <p:bldP spid="6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xmlns="" id="{D8A755CE-723C-4373-BAFA-0AA05F6A54E9}"/>
              </a:ext>
            </a:extLst>
          </p:cNvPr>
          <p:cNvSpPr txBox="1">
            <a:spLocks noChangeArrowheads="1"/>
          </p:cNvSpPr>
          <p:nvPr>
            <p:custDataLst>
              <p:tags r:id="rId2"/>
            </p:custDataLst>
          </p:nvPr>
        </p:nvSpPr>
        <p:spPr bwMode="auto">
          <a:xfrm>
            <a:off x="1739516" y="1389670"/>
            <a:ext cx="8200032" cy="850900"/>
          </a:xfrm>
          <a:prstGeom prst="rect">
            <a:avLst/>
          </a:prstGeom>
          <a:noFill/>
          <a:ln w="9525">
            <a:noFill/>
            <a:miter lim="800000"/>
            <a:headEnd/>
            <a:tailEnd/>
          </a:ln>
        </p:spPr>
        <p:txBody>
          <a:bodyPr anchor="ctr"/>
          <a:lstStyle/>
          <a:p>
            <a:r>
              <a:rPr lang="zh-CN" altLang="en-US" sz="2800" dirty="0">
                <a:solidFill>
                  <a:schemeClr val="tx1"/>
                </a:solidFill>
              </a:rPr>
              <a:t>一根轴的直径为</a:t>
            </a:r>
            <a:r>
              <a:rPr lang="zh-CN" altLang="en-US" sz="2800" i="1" dirty="0">
                <a:solidFill>
                  <a:schemeClr val="tx1"/>
                </a:solidFill>
                <a:sym typeface="Symbol" pitchFamily="18" charset="2"/>
              </a:rPr>
              <a:t></a:t>
            </a:r>
            <a:r>
              <a:rPr lang="en-US" altLang="zh-CN" sz="2800" i="1" dirty="0">
                <a:solidFill>
                  <a:schemeClr val="tx1"/>
                </a:solidFill>
                <a:sym typeface="Symbol" pitchFamily="18" charset="2"/>
              </a:rPr>
              <a:t>600.015</a:t>
            </a:r>
            <a:r>
              <a:rPr lang="zh-CN" altLang="en-US" sz="2800" i="1" dirty="0">
                <a:solidFill>
                  <a:schemeClr val="tx1"/>
                </a:solidFill>
                <a:sym typeface="Symbol" pitchFamily="18" charset="2"/>
              </a:rPr>
              <a:t>，</a:t>
            </a:r>
            <a:r>
              <a:rPr lang="zh-CN" altLang="en-US" sz="2800" dirty="0">
                <a:solidFill>
                  <a:schemeClr val="tx1"/>
                </a:solidFill>
                <a:sym typeface="Symbol" pitchFamily="18" charset="2"/>
              </a:rPr>
              <a:t>计算后选择正确答案</a:t>
            </a:r>
            <a:endParaRPr lang="en-US" altLang="zh-CN" sz="2800" dirty="0">
              <a:solidFill>
                <a:schemeClr val="tx1"/>
              </a:solidFill>
            </a:endParaRPr>
          </a:p>
        </p:txBody>
      </p:sp>
      <p:sp>
        <p:nvSpPr>
          <p:cNvPr id="3" name="TextBox 3">
            <a:extLst>
              <a:ext uri="{FF2B5EF4-FFF2-40B4-BE49-F238E27FC236}">
                <a16:creationId xmlns:a16="http://schemas.microsoft.com/office/drawing/2014/main" xmlns="" id="{F2BABF87-FDC1-4F87-BC6E-D63A05A80664}"/>
              </a:ext>
            </a:extLst>
          </p:cNvPr>
          <p:cNvSpPr txBox="1">
            <a:spLocks noChangeArrowheads="1"/>
          </p:cNvSpPr>
          <p:nvPr>
            <p:custDataLst>
              <p:tags r:id="rId3"/>
            </p:custDataLst>
          </p:nvPr>
        </p:nvSpPr>
        <p:spPr bwMode="auto">
          <a:xfrm>
            <a:off x="3323692" y="2837470"/>
            <a:ext cx="4178300" cy="642937"/>
          </a:xfrm>
          <a:prstGeom prst="rect">
            <a:avLst/>
          </a:prstGeom>
          <a:noFill/>
          <a:ln w="9525">
            <a:noFill/>
            <a:miter lim="800000"/>
            <a:headEnd/>
            <a:tailEnd/>
          </a:ln>
        </p:spPr>
        <p:txBody>
          <a:bodyPr anchor="ctr"/>
          <a:lstStyle/>
          <a:p>
            <a:r>
              <a:rPr lang="zh-CN" altLang="en-US" sz="2400">
                <a:solidFill>
                  <a:schemeClr val="tx1"/>
                </a:solidFill>
                <a:latin typeface="宋体" pitchFamily="2" charset="-122"/>
                <a:ea typeface="宋体" pitchFamily="2" charset="-122"/>
              </a:rPr>
              <a:t>公称尺寸为</a:t>
            </a:r>
            <a:r>
              <a:rPr lang="en-US" altLang="zh-CN" sz="2400">
                <a:solidFill>
                  <a:schemeClr val="tx1"/>
                </a:solidFill>
                <a:latin typeface="宋体" pitchFamily="2" charset="-122"/>
                <a:ea typeface="宋体" pitchFamily="2" charset="-122"/>
                <a:sym typeface="Symbol" pitchFamily="18" charset="2"/>
              </a:rPr>
              <a:t>0</a:t>
            </a:r>
            <a:r>
              <a:rPr lang="zh-CN" altLang="en-US" sz="2400">
                <a:solidFill>
                  <a:schemeClr val="tx1"/>
                </a:solidFill>
                <a:latin typeface="宋体" pitchFamily="2" charset="-122"/>
                <a:ea typeface="宋体" pitchFamily="2" charset="-122"/>
                <a:sym typeface="Symbol" pitchFamily="18" charset="2"/>
              </a:rPr>
              <a:t>。</a:t>
            </a:r>
            <a:endParaRPr lang="en-US" altLang="zh-CN" sz="2400">
              <a:solidFill>
                <a:schemeClr val="tx1"/>
              </a:solidFill>
              <a:latin typeface="ISOCPEUR" pitchFamily="34" charset="0"/>
              <a:ea typeface="宋体" pitchFamily="2" charset="-122"/>
            </a:endParaRPr>
          </a:p>
        </p:txBody>
      </p:sp>
      <p:sp>
        <p:nvSpPr>
          <p:cNvPr id="4" name="TextBox 4">
            <a:extLst>
              <a:ext uri="{FF2B5EF4-FFF2-40B4-BE49-F238E27FC236}">
                <a16:creationId xmlns:a16="http://schemas.microsoft.com/office/drawing/2014/main" xmlns="" id="{DD543FBA-9E3C-4E1D-AE34-CC71B04CFE49}"/>
              </a:ext>
            </a:extLst>
          </p:cNvPr>
          <p:cNvSpPr txBox="1">
            <a:spLocks noChangeArrowheads="1"/>
          </p:cNvSpPr>
          <p:nvPr>
            <p:custDataLst>
              <p:tags r:id="rId4"/>
            </p:custDataLst>
          </p:nvPr>
        </p:nvSpPr>
        <p:spPr bwMode="auto">
          <a:xfrm>
            <a:off x="3323692" y="3694720"/>
            <a:ext cx="7099300" cy="642937"/>
          </a:xfrm>
          <a:prstGeom prst="rect">
            <a:avLst/>
          </a:prstGeom>
          <a:noFill/>
          <a:ln w="9525">
            <a:noFill/>
            <a:miter lim="800000"/>
            <a:headEnd/>
            <a:tailEnd/>
          </a:ln>
        </p:spPr>
        <p:txBody>
          <a:bodyPr anchor="ctr"/>
          <a:lstStyle/>
          <a:p>
            <a:r>
              <a:rPr lang="zh-CN" altLang="en-US" sz="2400">
                <a:solidFill>
                  <a:schemeClr val="tx1"/>
                </a:solidFill>
                <a:latin typeface="宋体" pitchFamily="2" charset="-122"/>
                <a:ea typeface="宋体" pitchFamily="2" charset="-122"/>
              </a:rPr>
              <a:t>上极限尺寸</a:t>
            </a:r>
            <a:r>
              <a:rPr lang="en-US" altLang="zh-CN" sz="2400">
                <a:solidFill>
                  <a:schemeClr val="tx1"/>
                </a:solidFill>
                <a:latin typeface="宋体" pitchFamily="2" charset="-122"/>
                <a:ea typeface="宋体" pitchFamily="2" charset="-122"/>
              </a:rPr>
              <a:t>:</a:t>
            </a:r>
            <a:r>
              <a:rPr lang="en-US" altLang="zh-CN" sz="2400" i="1">
                <a:solidFill>
                  <a:schemeClr val="tx1"/>
                </a:solidFill>
                <a:latin typeface="Times New Roman" pitchFamily="18" charset="0"/>
                <a:ea typeface="宋体" pitchFamily="2" charset="-122"/>
                <a:sym typeface="Symbol" pitchFamily="18" charset="2"/>
              </a:rPr>
              <a:t></a:t>
            </a:r>
            <a:r>
              <a:rPr lang="en-US" altLang="zh-CN" sz="2400" i="1">
                <a:solidFill>
                  <a:schemeClr val="tx1"/>
                </a:solidFill>
                <a:latin typeface="ISOCPEUR" pitchFamily="34" charset="0"/>
                <a:ea typeface="宋体" pitchFamily="2" charset="-122"/>
              </a:rPr>
              <a:t>60.015mm</a:t>
            </a:r>
            <a:r>
              <a:rPr lang="zh-CN" altLang="en-US" sz="2400" i="1">
                <a:solidFill>
                  <a:schemeClr val="tx1"/>
                </a:solidFill>
                <a:latin typeface="ISOCPEUR" pitchFamily="34" charset="0"/>
                <a:ea typeface="宋体" pitchFamily="2" charset="-122"/>
              </a:rPr>
              <a:t>；</a:t>
            </a:r>
            <a:r>
              <a:rPr lang="zh-CN" altLang="en-US" sz="2400">
                <a:solidFill>
                  <a:schemeClr val="tx1"/>
                </a:solidFill>
                <a:latin typeface="Times New Roman" pitchFamily="18" charset="0"/>
                <a:ea typeface="宋体" pitchFamily="2" charset="-122"/>
              </a:rPr>
              <a:t>下极限尺寸</a:t>
            </a:r>
            <a:r>
              <a:rPr lang="en-US" altLang="zh-CN" sz="2400">
                <a:solidFill>
                  <a:schemeClr val="tx1"/>
                </a:solidFill>
                <a:latin typeface="Times New Roman" pitchFamily="18" charset="0"/>
                <a:ea typeface="宋体" pitchFamily="2" charset="-122"/>
              </a:rPr>
              <a:t>:</a:t>
            </a:r>
            <a:r>
              <a:rPr lang="zh-CN" altLang="en-US" sz="2400">
                <a:solidFill>
                  <a:schemeClr val="tx1"/>
                </a:solidFill>
                <a:latin typeface="Times New Roman" pitchFamily="18" charset="0"/>
                <a:ea typeface="宋体" pitchFamily="2" charset="-122"/>
              </a:rPr>
              <a:t> </a:t>
            </a:r>
            <a:r>
              <a:rPr lang="en-US" altLang="zh-CN" sz="2400" i="1">
                <a:solidFill>
                  <a:schemeClr val="tx1"/>
                </a:solidFill>
                <a:latin typeface="Times New Roman" pitchFamily="18" charset="0"/>
                <a:ea typeface="宋体" pitchFamily="2" charset="-122"/>
                <a:sym typeface="Symbol" pitchFamily="18" charset="2"/>
              </a:rPr>
              <a:t> </a:t>
            </a:r>
            <a:r>
              <a:rPr lang="en-US" altLang="zh-CN" sz="2400" i="1">
                <a:solidFill>
                  <a:schemeClr val="tx1"/>
                </a:solidFill>
                <a:latin typeface="ISOCPEUR" pitchFamily="34" charset="0"/>
                <a:ea typeface="宋体" pitchFamily="2" charset="-122"/>
              </a:rPr>
              <a:t>59.985mm</a:t>
            </a:r>
            <a:endParaRPr lang="en-US" altLang="zh-CN" sz="2400">
              <a:solidFill>
                <a:schemeClr val="tx1"/>
              </a:solidFill>
              <a:latin typeface="ISOCPEUR" pitchFamily="34" charset="0"/>
              <a:ea typeface="宋体" pitchFamily="2" charset="-122"/>
            </a:endParaRPr>
          </a:p>
        </p:txBody>
      </p:sp>
      <p:sp>
        <p:nvSpPr>
          <p:cNvPr id="5" name="TextBox 5">
            <a:extLst>
              <a:ext uri="{FF2B5EF4-FFF2-40B4-BE49-F238E27FC236}">
                <a16:creationId xmlns:a16="http://schemas.microsoft.com/office/drawing/2014/main" xmlns="" id="{51A335B2-1495-4578-AEC9-1944D9436F93}"/>
              </a:ext>
            </a:extLst>
          </p:cNvPr>
          <p:cNvSpPr txBox="1">
            <a:spLocks noChangeArrowheads="1"/>
          </p:cNvSpPr>
          <p:nvPr>
            <p:custDataLst>
              <p:tags r:id="rId5"/>
            </p:custDataLst>
          </p:nvPr>
        </p:nvSpPr>
        <p:spPr bwMode="auto">
          <a:xfrm>
            <a:off x="3323692" y="4534507"/>
            <a:ext cx="6400800" cy="660400"/>
          </a:xfrm>
          <a:prstGeom prst="rect">
            <a:avLst/>
          </a:prstGeom>
          <a:noFill/>
          <a:ln w="9525">
            <a:noFill/>
            <a:miter lim="800000"/>
            <a:headEnd/>
            <a:tailEnd/>
          </a:ln>
        </p:spPr>
        <p:txBody>
          <a:bodyPr anchor="ctr"/>
          <a:lstStyle/>
          <a:p>
            <a:r>
              <a:rPr lang="zh-CN" altLang="en-US" sz="2400">
                <a:solidFill>
                  <a:schemeClr val="tx1"/>
                </a:solidFill>
                <a:latin typeface="Times New Roman" pitchFamily="18" charset="0"/>
                <a:ea typeface="宋体" pitchFamily="2" charset="-122"/>
              </a:rPr>
              <a:t>上极限偏差 </a:t>
            </a:r>
            <a:r>
              <a:rPr lang="en-US" altLang="zh-CN" sz="2400">
                <a:solidFill>
                  <a:schemeClr val="tx1"/>
                </a:solidFill>
                <a:latin typeface="Times New Roman" pitchFamily="18" charset="0"/>
                <a:ea typeface="宋体" pitchFamily="2" charset="-122"/>
              </a:rPr>
              <a:t>= </a:t>
            </a:r>
            <a:r>
              <a:rPr lang="en-US" altLang="zh-CN" sz="2400" i="1">
                <a:solidFill>
                  <a:schemeClr val="tx1"/>
                </a:solidFill>
                <a:latin typeface="ISOCPEUR" pitchFamily="34" charset="0"/>
                <a:ea typeface="宋体" pitchFamily="2" charset="-122"/>
              </a:rPr>
              <a:t>60.015</a:t>
            </a:r>
            <a:r>
              <a:rPr lang="zh-CN" altLang="en-US" sz="2400">
                <a:solidFill>
                  <a:schemeClr val="tx1"/>
                </a:solidFill>
                <a:latin typeface="Times New Roman" pitchFamily="18" charset="0"/>
                <a:ea typeface="宋体" pitchFamily="2" charset="-122"/>
              </a:rPr>
              <a:t>－</a:t>
            </a:r>
            <a:r>
              <a:rPr lang="en-US" altLang="zh-CN" sz="2400" i="1">
                <a:solidFill>
                  <a:schemeClr val="tx1"/>
                </a:solidFill>
                <a:latin typeface="ISOCPEUR" pitchFamily="34" charset="0"/>
                <a:ea typeface="宋体" pitchFamily="2" charset="-122"/>
              </a:rPr>
              <a:t>60</a:t>
            </a:r>
            <a:r>
              <a:rPr lang="en-US" altLang="zh-CN" sz="2400">
                <a:solidFill>
                  <a:schemeClr val="tx1"/>
                </a:solidFill>
                <a:latin typeface="Times New Roman" pitchFamily="18" charset="0"/>
                <a:ea typeface="宋体" pitchFamily="2" charset="-122"/>
              </a:rPr>
              <a:t> = +</a:t>
            </a:r>
            <a:r>
              <a:rPr lang="en-US" altLang="zh-CN" sz="2400" i="1">
                <a:solidFill>
                  <a:schemeClr val="tx1"/>
                </a:solidFill>
                <a:latin typeface="ISOCPEUR" pitchFamily="34" charset="0"/>
                <a:ea typeface="宋体" pitchFamily="2" charset="-122"/>
              </a:rPr>
              <a:t>0.015</a:t>
            </a:r>
          </a:p>
          <a:p>
            <a:r>
              <a:rPr lang="zh-CN" altLang="en-US" sz="2400">
                <a:solidFill>
                  <a:schemeClr val="tx1"/>
                </a:solidFill>
                <a:latin typeface="Times New Roman" pitchFamily="18" charset="0"/>
                <a:ea typeface="宋体" pitchFamily="2" charset="-122"/>
              </a:rPr>
              <a:t>下极限偏差 </a:t>
            </a:r>
            <a:r>
              <a:rPr lang="en-US" altLang="zh-CN" sz="2400">
                <a:solidFill>
                  <a:schemeClr val="tx1"/>
                </a:solidFill>
                <a:latin typeface="Times New Roman" pitchFamily="18" charset="0"/>
                <a:ea typeface="宋体" pitchFamily="2" charset="-122"/>
              </a:rPr>
              <a:t>= </a:t>
            </a:r>
            <a:r>
              <a:rPr lang="en-US" altLang="zh-CN" sz="2400" i="1">
                <a:solidFill>
                  <a:schemeClr val="tx1"/>
                </a:solidFill>
                <a:latin typeface="ISOCPEUR" pitchFamily="34" charset="0"/>
                <a:ea typeface="宋体" pitchFamily="2" charset="-122"/>
              </a:rPr>
              <a:t>59.985</a:t>
            </a:r>
            <a:r>
              <a:rPr lang="zh-CN" altLang="en-US" sz="2400">
                <a:solidFill>
                  <a:schemeClr val="tx1"/>
                </a:solidFill>
                <a:latin typeface="Times New Roman" pitchFamily="18" charset="0"/>
                <a:ea typeface="宋体" pitchFamily="2" charset="-122"/>
              </a:rPr>
              <a:t>－</a:t>
            </a:r>
            <a:r>
              <a:rPr lang="en-US" altLang="zh-CN" sz="2400" i="1">
                <a:solidFill>
                  <a:schemeClr val="tx1"/>
                </a:solidFill>
                <a:latin typeface="ISOCPEUR" pitchFamily="34" charset="0"/>
                <a:ea typeface="宋体" pitchFamily="2" charset="-122"/>
              </a:rPr>
              <a:t>60</a:t>
            </a:r>
            <a:r>
              <a:rPr lang="en-US" altLang="zh-CN" sz="2400">
                <a:solidFill>
                  <a:schemeClr val="tx1"/>
                </a:solidFill>
                <a:latin typeface="Times New Roman" pitchFamily="18" charset="0"/>
                <a:ea typeface="宋体" pitchFamily="2" charset="-122"/>
              </a:rPr>
              <a:t> = -</a:t>
            </a:r>
            <a:r>
              <a:rPr lang="en-US" altLang="zh-CN" sz="2400" i="1">
                <a:solidFill>
                  <a:schemeClr val="tx1"/>
                </a:solidFill>
                <a:latin typeface="ISOCPEUR" pitchFamily="34" charset="0"/>
                <a:ea typeface="宋体" pitchFamily="2" charset="-122"/>
              </a:rPr>
              <a:t>0.015</a:t>
            </a:r>
            <a:endParaRPr lang="en-US" altLang="zh-CN" sz="2400">
              <a:solidFill>
                <a:schemeClr val="tx1"/>
              </a:solidFill>
              <a:latin typeface="ISOCPEUR" pitchFamily="34" charset="0"/>
              <a:ea typeface="宋体" pitchFamily="2" charset="-122"/>
            </a:endParaRPr>
          </a:p>
        </p:txBody>
      </p:sp>
      <p:sp>
        <p:nvSpPr>
          <p:cNvPr id="6" name="TextBox 6">
            <a:extLst>
              <a:ext uri="{FF2B5EF4-FFF2-40B4-BE49-F238E27FC236}">
                <a16:creationId xmlns:a16="http://schemas.microsoft.com/office/drawing/2014/main" xmlns="" id="{2FD5D2FE-0C29-4633-A430-39AAD6682C0D}"/>
              </a:ext>
            </a:extLst>
          </p:cNvPr>
          <p:cNvSpPr txBox="1">
            <a:spLocks noChangeArrowheads="1"/>
          </p:cNvSpPr>
          <p:nvPr>
            <p:custDataLst>
              <p:tags r:id="rId6"/>
            </p:custDataLst>
          </p:nvPr>
        </p:nvSpPr>
        <p:spPr bwMode="auto">
          <a:xfrm>
            <a:off x="3323692" y="5409220"/>
            <a:ext cx="6400800" cy="642937"/>
          </a:xfrm>
          <a:prstGeom prst="rect">
            <a:avLst/>
          </a:prstGeom>
          <a:noFill/>
          <a:ln w="9525">
            <a:noFill/>
            <a:miter lim="800000"/>
            <a:headEnd/>
            <a:tailEnd/>
          </a:ln>
        </p:spPr>
        <p:txBody>
          <a:bodyPr anchor="ctr"/>
          <a:lstStyle/>
          <a:p>
            <a:r>
              <a:rPr lang="zh-CN" altLang="en-US" sz="2400">
                <a:solidFill>
                  <a:schemeClr val="tx1"/>
                </a:solidFill>
                <a:latin typeface="Times New Roman" pitchFamily="18" charset="0"/>
                <a:ea typeface="宋体" pitchFamily="2" charset="-122"/>
              </a:rPr>
              <a:t>公差 </a:t>
            </a:r>
            <a:r>
              <a:rPr lang="en-US" altLang="zh-CN" sz="2400">
                <a:solidFill>
                  <a:schemeClr val="tx1"/>
                </a:solidFill>
                <a:latin typeface="Times New Roman" pitchFamily="18" charset="0"/>
                <a:ea typeface="宋体" pitchFamily="2" charset="-122"/>
              </a:rPr>
              <a:t>= </a:t>
            </a:r>
            <a:r>
              <a:rPr lang="en-US" altLang="zh-CN" sz="2400" i="1">
                <a:solidFill>
                  <a:schemeClr val="tx1"/>
                </a:solidFill>
                <a:latin typeface="ISOCPEUR" pitchFamily="34" charset="0"/>
                <a:ea typeface="宋体" pitchFamily="2" charset="-122"/>
              </a:rPr>
              <a:t>0.015</a:t>
            </a:r>
            <a:r>
              <a:rPr lang="zh-CN" altLang="en-US" sz="2400">
                <a:solidFill>
                  <a:schemeClr val="tx1"/>
                </a:solidFill>
                <a:latin typeface="Times New Roman" pitchFamily="18" charset="0"/>
                <a:ea typeface="宋体" pitchFamily="2" charset="-122"/>
              </a:rPr>
              <a:t>－</a:t>
            </a:r>
            <a:r>
              <a:rPr lang="en-US" altLang="zh-CN" sz="2400" i="1">
                <a:solidFill>
                  <a:schemeClr val="tx1"/>
                </a:solidFill>
                <a:latin typeface="ISOCPEUR" pitchFamily="34" charset="0"/>
                <a:ea typeface="宋体" pitchFamily="2" charset="-122"/>
              </a:rPr>
              <a:t>0.015</a:t>
            </a:r>
            <a:r>
              <a:rPr lang="en-US" altLang="zh-CN" sz="2400">
                <a:solidFill>
                  <a:schemeClr val="tx1"/>
                </a:solidFill>
                <a:latin typeface="Times New Roman" pitchFamily="18" charset="0"/>
                <a:ea typeface="宋体" pitchFamily="2" charset="-122"/>
              </a:rPr>
              <a:t> = </a:t>
            </a:r>
            <a:r>
              <a:rPr lang="en-US" altLang="zh-CN" sz="2400" i="1">
                <a:solidFill>
                  <a:schemeClr val="tx1"/>
                </a:solidFill>
                <a:latin typeface="ISOCPEUR" pitchFamily="34" charset="0"/>
                <a:ea typeface="宋体" pitchFamily="2" charset="-122"/>
              </a:rPr>
              <a:t>0</a:t>
            </a:r>
            <a:endParaRPr lang="en-US" altLang="zh-CN" sz="2400">
              <a:solidFill>
                <a:schemeClr val="tx1"/>
              </a:solidFill>
              <a:latin typeface="ISOCPEUR" pitchFamily="34" charset="0"/>
              <a:ea typeface="宋体" pitchFamily="2" charset="-122"/>
            </a:endParaRPr>
          </a:p>
        </p:txBody>
      </p:sp>
      <p:sp>
        <p:nvSpPr>
          <p:cNvPr id="7" name="矩形 7">
            <a:extLst>
              <a:ext uri="{FF2B5EF4-FFF2-40B4-BE49-F238E27FC236}">
                <a16:creationId xmlns:a16="http://schemas.microsoft.com/office/drawing/2014/main" xmlns="" id="{712D48A8-3A3B-422A-8C30-D82D6885D285}"/>
              </a:ext>
            </a:extLst>
          </p:cNvPr>
          <p:cNvSpPr>
            <a:spLocks noChangeAspect="1"/>
          </p:cNvSpPr>
          <p:nvPr>
            <p:custDataLst>
              <p:tags r:id="rId7"/>
            </p:custDataLst>
          </p:nvPr>
        </p:nvSpPr>
        <p:spPr bwMode="auto">
          <a:xfrm>
            <a:off x="2609317" y="2900970"/>
            <a:ext cx="514350" cy="514350"/>
          </a:xfrm>
          <a:prstGeom prst="rect">
            <a:avLst/>
          </a:prstGeom>
          <a:solidFill>
            <a:srgbClr val="808080"/>
          </a:solidFill>
          <a:ln w="127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sym typeface="Microsoft Yahei" pitchFamily="34" charset="-122"/>
              </a:rPr>
              <a:t>A</a:t>
            </a:r>
            <a:endParaRPr lang="zh-CN" altLang="en-US" sz="1600">
              <a:solidFill>
                <a:srgbClr val="FFFFFF"/>
              </a:solidFill>
              <a:latin typeface="Microsoft Yahei" pitchFamily="34" charset="-122"/>
              <a:sym typeface="Microsoft Yahei" pitchFamily="34" charset="-122"/>
            </a:endParaRPr>
          </a:p>
        </p:txBody>
      </p:sp>
      <p:sp>
        <p:nvSpPr>
          <p:cNvPr id="8" name="矩形 8">
            <a:extLst>
              <a:ext uri="{FF2B5EF4-FFF2-40B4-BE49-F238E27FC236}">
                <a16:creationId xmlns:a16="http://schemas.microsoft.com/office/drawing/2014/main" xmlns="" id="{DEA11CC8-237B-4F5A-B778-AA883DFBD185}"/>
              </a:ext>
            </a:extLst>
          </p:cNvPr>
          <p:cNvSpPr>
            <a:spLocks noChangeAspect="1"/>
          </p:cNvSpPr>
          <p:nvPr>
            <p:custDataLst>
              <p:tags r:id="rId8"/>
            </p:custDataLst>
          </p:nvPr>
        </p:nvSpPr>
        <p:spPr bwMode="auto">
          <a:xfrm>
            <a:off x="2609317" y="3758220"/>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sym typeface="Microsoft Yahei" pitchFamily="34" charset="-122"/>
              </a:rPr>
              <a:t>B</a:t>
            </a:r>
            <a:endParaRPr lang="zh-CN" altLang="en-US" sz="1600">
              <a:solidFill>
                <a:srgbClr val="FFFFFF"/>
              </a:solidFill>
              <a:latin typeface="Microsoft Yahei" pitchFamily="34" charset="-122"/>
              <a:sym typeface="Microsoft Yahei" pitchFamily="34" charset="-122"/>
            </a:endParaRPr>
          </a:p>
        </p:txBody>
      </p:sp>
      <p:sp>
        <p:nvSpPr>
          <p:cNvPr id="9" name="矩形 9">
            <a:extLst>
              <a:ext uri="{FF2B5EF4-FFF2-40B4-BE49-F238E27FC236}">
                <a16:creationId xmlns:a16="http://schemas.microsoft.com/office/drawing/2014/main" xmlns="" id="{2456BF08-5AD7-4241-AD8B-C6D8C0BB6E0F}"/>
              </a:ext>
            </a:extLst>
          </p:cNvPr>
          <p:cNvSpPr>
            <a:spLocks noChangeAspect="1"/>
          </p:cNvSpPr>
          <p:nvPr>
            <p:custDataLst>
              <p:tags r:id="rId9"/>
            </p:custDataLst>
          </p:nvPr>
        </p:nvSpPr>
        <p:spPr bwMode="auto">
          <a:xfrm>
            <a:off x="2609317" y="4615470"/>
            <a:ext cx="514350" cy="514350"/>
          </a:xfrm>
          <a:prstGeom prst="rect">
            <a:avLst/>
          </a:prstGeom>
          <a:solidFill>
            <a:srgbClr val="00FF00"/>
          </a:solidFill>
          <a:ln w="254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sym typeface="Microsoft Yahei" pitchFamily="34" charset="-122"/>
              </a:rPr>
              <a:t>C</a:t>
            </a:r>
            <a:endParaRPr lang="zh-CN" altLang="en-US" sz="1600">
              <a:solidFill>
                <a:srgbClr val="FFFFFF"/>
              </a:solidFill>
              <a:latin typeface="Microsoft Yahei" pitchFamily="34" charset="-122"/>
              <a:sym typeface="Microsoft Yahei" pitchFamily="34" charset="-122"/>
            </a:endParaRPr>
          </a:p>
        </p:txBody>
      </p:sp>
      <p:sp>
        <p:nvSpPr>
          <p:cNvPr id="10" name="矩形 10">
            <a:extLst>
              <a:ext uri="{FF2B5EF4-FFF2-40B4-BE49-F238E27FC236}">
                <a16:creationId xmlns:a16="http://schemas.microsoft.com/office/drawing/2014/main" xmlns="" id="{4A640EE9-F100-4A1C-9C1C-3A508FD4F63E}"/>
              </a:ext>
            </a:extLst>
          </p:cNvPr>
          <p:cNvSpPr>
            <a:spLocks noChangeAspect="1"/>
          </p:cNvSpPr>
          <p:nvPr>
            <p:custDataLst>
              <p:tags r:id="rId10"/>
            </p:custDataLst>
          </p:nvPr>
        </p:nvSpPr>
        <p:spPr bwMode="auto">
          <a:xfrm>
            <a:off x="2609317" y="5472720"/>
            <a:ext cx="514350" cy="514350"/>
          </a:xfrm>
          <a:prstGeom prst="rect">
            <a:avLst/>
          </a:prstGeom>
          <a:solidFill>
            <a:srgbClr val="808080"/>
          </a:solidFill>
          <a:ln w="12700">
            <a:solidFill>
              <a:srgbClr val="000000"/>
            </a:solidFill>
            <a:miter lim="800000"/>
            <a:headEnd/>
            <a:tailEnd/>
          </a:ln>
        </p:spPr>
        <p:txBody>
          <a:bodyPr wrap="none" anchor="ctr" anchorCtr="1"/>
          <a:lstStyle/>
          <a:p>
            <a:pPr algn="ctr"/>
            <a:r>
              <a:rPr lang="en-US" altLang="zh-CN" sz="1600">
                <a:solidFill>
                  <a:srgbClr val="FFFFFF"/>
                </a:solidFill>
                <a:latin typeface="Microsoft Yahei" pitchFamily="34" charset="-122"/>
                <a:sym typeface="Microsoft Yahei" pitchFamily="34" charset="-122"/>
              </a:rPr>
              <a:t>D</a:t>
            </a:r>
            <a:endParaRPr lang="zh-CN" altLang="en-US" sz="1600">
              <a:solidFill>
                <a:srgbClr val="FFFFFF"/>
              </a:solidFill>
              <a:latin typeface="Microsoft Yahei" pitchFamily="34" charset="-122"/>
              <a:sym typeface="Microsoft Yahei" pitchFamily="34" charset="-122"/>
            </a:endParaRPr>
          </a:p>
        </p:txBody>
      </p:sp>
      <p:sp>
        <p:nvSpPr>
          <p:cNvPr id="11" name="圆角矩形 11">
            <a:extLst>
              <a:ext uri="{FF2B5EF4-FFF2-40B4-BE49-F238E27FC236}">
                <a16:creationId xmlns:a16="http://schemas.microsoft.com/office/drawing/2014/main" xmlns="" id="{C606B5F9-46A7-4452-B9CD-0701746B5662}"/>
              </a:ext>
            </a:extLst>
          </p:cNvPr>
          <p:cNvSpPr>
            <a:spLocks noChangeArrowheads="1"/>
          </p:cNvSpPr>
          <p:nvPr>
            <p:custDataLst>
              <p:tags r:id="rId11"/>
            </p:custDataLst>
          </p:nvPr>
        </p:nvSpPr>
        <p:spPr bwMode="auto">
          <a:xfrm>
            <a:off x="7667092" y="6266470"/>
            <a:ext cx="1543050" cy="411162"/>
          </a:xfrm>
          <a:prstGeom prst="roundRect">
            <a:avLst>
              <a:gd name="adj" fmla="val 16667"/>
            </a:avLst>
          </a:prstGeom>
          <a:solidFill>
            <a:srgbClr val="808080"/>
          </a:solidFill>
          <a:ln w="38100">
            <a:solidFill>
              <a:srgbClr val="000000"/>
            </a:solidFill>
            <a:miter lim="800000"/>
            <a:headEnd/>
            <a:tailEnd/>
          </a:ln>
        </p:spPr>
        <p:txBody>
          <a:bodyPr wrap="none" anchor="ctr" anchorCtr="1"/>
          <a:lstStyle/>
          <a:p>
            <a:pPr algn="ctr"/>
            <a:r>
              <a:rPr lang="zh-CN" altLang="en-US" sz="1600">
                <a:solidFill>
                  <a:srgbClr val="FFFFFF"/>
                </a:solidFill>
                <a:latin typeface="Microsoft Yahei" pitchFamily="34" charset="-122"/>
                <a:sym typeface="Microsoft Yahei" pitchFamily="34" charset="-122"/>
              </a:rPr>
              <a:t>提交</a:t>
            </a:r>
          </a:p>
        </p:txBody>
      </p:sp>
      <p:grpSp>
        <p:nvGrpSpPr>
          <p:cNvPr id="17" name="组合 16">
            <a:extLst>
              <a:ext uri="{FF2B5EF4-FFF2-40B4-BE49-F238E27FC236}">
                <a16:creationId xmlns:a16="http://schemas.microsoft.com/office/drawing/2014/main" xmlns="" id="{7CD9C2D1-C002-4D9F-AE8C-9608A3404464}"/>
              </a:ext>
            </a:extLst>
          </p:cNvPr>
          <p:cNvGrpSpPr/>
          <p:nvPr>
            <p:custDataLst>
              <p:tags r:id="rId12"/>
            </p:custDataLst>
          </p:nvPr>
        </p:nvGrpSpPr>
        <p:grpSpPr>
          <a:xfrm>
            <a:off x="0" y="0"/>
            <a:ext cx="12192000" cy="635000"/>
            <a:chOff x="0" y="0"/>
            <a:chExt cx="12192000" cy="635000"/>
          </a:xfrm>
        </p:grpSpPr>
        <p:sp>
          <p:nvSpPr>
            <p:cNvPr id="13" name="TitleBackground">
              <a:extLst>
                <a:ext uri="{FF2B5EF4-FFF2-40B4-BE49-F238E27FC236}">
                  <a16:creationId xmlns:a16="http://schemas.microsoft.com/office/drawing/2014/main" xmlns="" id="{784E8C7F-7F46-4768-8894-FC57562002C0}"/>
                </a:ext>
              </a:extLst>
            </p:cNvPr>
            <p:cNvSpPr/>
            <p:nvPr>
              <p:custDataLst>
                <p:tags r:id="rId14"/>
              </p:custDataLst>
            </p:nvPr>
          </p:nvSpPr>
          <p:spPr bwMode="auto">
            <a:xfrm>
              <a:off x="0" y="0"/>
              <a:ext cx="12192000" cy="635000"/>
            </a:xfrm>
            <a:prstGeom prst="rect">
              <a:avLst/>
            </a:prstGeom>
            <a:solidFill>
              <a:srgbClr val="F6F7F8"/>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14" name="ColorBlock">
              <a:extLst>
                <a:ext uri="{FF2B5EF4-FFF2-40B4-BE49-F238E27FC236}">
                  <a16:creationId xmlns:a16="http://schemas.microsoft.com/office/drawing/2014/main" xmlns="" id="{5115D62B-9804-49D0-A5EB-F0A0550B2CAF}"/>
                </a:ext>
              </a:extLst>
            </p:cNvPr>
            <p:cNvSpPr/>
            <p:nvPr>
              <p:custDataLst>
                <p:tags r:id="rId15"/>
              </p:custDataLst>
            </p:nvPr>
          </p:nvSpPr>
          <p:spPr bwMode="auto">
            <a:xfrm>
              <a:off x="0" y="0"/>
              <a:ext cx="190500" cy="635000"/>
            </a:xfrm>
            <a:prstGeom prst="rect">
              <a:avLst/>
            </a:prstGeom>
            <a:solidFill>
              <a:srgbClr val="639EF4"/>
            </a:solidFill>
            <a:ln w="9525">
              <a:noFill/>
              <a:miter lim="800000"/>
              <a:headEnd/>
              <a:tailEnd/>
            </a:ln>
          </p:spPr>
          <p:txBody>
            <a:bodyPr rtlCol="0" anchor="ctr"/>
            <a:lstStyle/>
            <a:p>
              <a:pPr algn="ctr"/>
              <a:endParaRPr lang="zh-CN" altLang="en-US" sz="3600" dirty="0">
                <a:solidFill>
                  <a:schemeClr val="tx2"/>
                </a:solidFill>
                <a:latin typeface="宋体" pitchFamily="2" charset="-122"/>
              </a:endParaRPr>
            </a:p>
          </p:txBody>
        </p:sp>
        <p:sp>
          <p:nvSpPr>
            <p:cNvPr id="15" name="TypeText">
              <a:extLst>
                <a:ext uri="{FF2B5EF4-FFF2-40B4-BE49-F238E27FC236}">
                  <a16:creationId xmlns:a16="http://schemas.microsoft.com/office/drawing/2014/main" xmlns="" id="{5FB59878-5C79-4875-AED5-5B56DE0EBD0A}"/>
                </a:ext>
              </a:extLst>
            </p:cNvPr>
            <p:cNvSpPr txBox="1"/>
            <p:nvPr>
              <p:custDataLst>
                <p:tags r:id="rId16"/>
              </p:custDataLst>
            </p:nvPr>
          </p:nvSpPr>
          <p:spPr>
            <a:xfrm>
              <a:off x="254000" y="0"/>
              <a:ext cx="1905000" cy="635000"/>
            </a:xfrm>
            <a:prstGeom prst="rect">
              <a:avLst/>
            </a:prstGeom>
          </p:spPr>
          <p:txBody>
            <a:bodyPr vert="horz" wrap="none" rtlCol="0" anchor="ctr" anchorCtr="0">
              <a:noAutofit/>
            </a:bodyPr>
            <a:lstStyle/>
            <a:p>
              <a:pPr fontAlgn="auto">
                <a:spcAft>
                  <a:spcPts val="0"/>
                </a:spcAft>
              </a:pPr>
              <a:r>
                <a:rPr kumimoji="0" lang="zh-CN" altLang="en-US" sz="2600" b="1">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多选题</a:t>
              </a:r>
              <a:endParaRPr kumimoji="0"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16" name="TipText">
              <a:extLst>
                <a:ext uri="{FF2B5EF4-FFF2-40B4-BE49-F238E27FC236}">
                  <a16:creationId xmlns:a16="http://schemas.microsoft.com/office/drawing/2014/main" xmlns="" id="{28447AB5-F7EB-46D0-B022-E69552C16A3A}"/>
                </a:ext>
              </a:extLst>
            </p:cNvPr>
            <p:cNvSpPr txBox="1"/>
            <p:nvPr>
              <p:custDataLst>
                <p:tags r:id="rId17"/>
              </p:custDataLst>
            </p:nvPr>
          </p:nvSpPr>
          <p:spPr>
            <a:xfrm>
              <a:off x="1525905" y="109220"/>
              <a:ext cx="2286000" cy="508000"/>
            </a:xfrm>
            <a:prstGeom prst="rect">
              <a:avLst/>
            </a:prstGeom>
          </p:spPr>
          <p:txBody>
            <a:bodyPr vert="horz" wrap="none" rtlCol="0" anchor="ctr" anchorCtr="0">
              <a:noAutofit/>
            </a:bodyPr>
            <a:lstStyle/>
            <a:p>
              <a:pPr fontAlgn="auto">
                <a:spcAft>
                  <a:spcPts val="0"/>
                </a:spcAft>
              </a:pPr>
              <a:r>
                <a:rPr kumimoji="0" lang="en-US" altLang="zh-CN"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1</a:t>
              </a:r>
              <a:r>
                <a:rPr kumimoji="0" lang="zh-CN" altLang="en-US"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kumimoji="0" lang="zh-CN" altLang="en-US" sz="2000" b="1"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12" name="图片 1" descr="tmpC2F8.tmp">
            <a:extLst>
              <a:ext uri="{FF2B5EF4-FFF2-40B4-BE49-F238E27FC236}">
                <a16:creationId xmlns:a16="http://schemas.microsoft.com/office/drawing/2014/main" xmlns="" id="{0CC1DDB9-073A-4CCC-89A7-02FD29F24932}"/>
              </a:ext>
            </a:extLst>
          </p:cNvPr>
          <p:cNvPicPr>
            <a:picLocks/>
          </p:cNvPicPr>
          <p:nvPr>
            <p:custDataLst>
              <p:tags r:id="rId13"/>
            </p:custDataLst>
          </p:nvPr>
        </p:nvPicPr>
        <p:blipFill>
          <a:blip r:embed="rId19"/>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16288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2">
            <a:extLst>
              <a:ext uri="{FF2B5EF4-FFF2-40B4-BE49-F238E27FC236}">
                <a16:creationId xmlns:a16="http://schemas.microsoft.com/office/drawing/2014/main" xmlns="" id="{68E59553-CFBF-4ECC-B943-5210FA61C9A7}"/>
              </a:ext>
            </a:extLst>
          </p:cNvPr>
          <p:cNvGrpSpPr>
            <a:grpSpLocks/>
          </p:cNvGrpSpPr>
          <p:nvPr/>
        </p:nvGrpSpPr>
        <p:grpSpPr bwMode="auto">
          <a:xfrm>
            <a:off x="7551775" y="1813017"/>
            <a:ext cx="2665413" cy="1649412"/>
            <a:chOff x="6115061" y="1576387"/>
            <a:chExt cx="2666120" cy="1649413"/>
          </a:xfrm>
        </p:grpSpPr>
        <p:pic>
          <p:nvPicPr>
            <p:cNvPr id="3" name="Picture 42">
              <a:extLst>
                <a:ext uri="{FF2B5EF4-FFF2-40B4-BE49-F238E27FC236}">
                  <a16:creationId xmlns:a16="http://schemas.microsoft.com/office/drawing/2014/main" xmlns="" id="{913F5AF8-7BDC-41A1-A347-C3FBCA02C0C0}"/>
                </a:ext>
              </a:extLst>
            </p:cNvPr>
            <p:cNvPicPr>
              <a:picLocks noChangeAspect="1" noChangeArrowheads="1"/>
            </p:cNvPicPr>
            <p:nvPr/>
          </p:nvPicPr>
          <p:blipFill>
            <a:blip r:embed="rId4"/>
            <a:srcRect/>
            <a:stretch>
              <a:fillRect/>
            </a:stretch>
          </p:blipFill>
          <p:spPr bwMode="auto">
            <a:xfrm>
              <a:off x="6545262" y="1598613"/>
              <a:ext cx="2235919" cy="1627187"/>
            </a:xfrm>
            <a:prstGeom prst="rect">
              <a:avLst/>
            </a:prstGeom>
            <a:noFill/>
            <a:ln w="9525">
              <a:noFill/>
              <a:miter lim="800000"/>
              <a:headEnd/>
              <a:tailEnd/>
            </a:ln>
          </p:spPr>
        </p:pic>
        <p:pic>
          <p:nvPicPr>
            <p:cNvPr id="4" name="Picture 43">
              <a:extLst>
                <a:ext uri="{FF2B5EF4-FFF2-40B4-BE49-F238E27FC236}">
                  <a16:creationId xmlns:a16="http://schemas.microsoft.com/office/drawing/2014/main" xmlns="" id="{D70C53AB-44DB-4788-AC01-DBFBA5AE8E66}"/>
                </a:ext>
              </a:extLst>
            </p:cNvPr>
            <p:cNvPicPr>
              <a:picLocks noChangeAspect="1" noChangeArrowheads="1"/>
            </p:cNvPicPr>
            <p:nvPr/>
          </p:nvPicPr>
          <p:blipFill>
            <a:blip r:embed="rId5"/>
            <a:srcRect/>
            <a:stretch>
              <a:fillRect/>
            </a:stretch>
          </p:blipFill>
          <p:spPr bwMode="auto">
            <a:xfrm>
              <a:off x="6777038" y="1712913"/>
              <a:ext cx="1843087" cy="180975"/>
            </a:xfrm>
            <a:prstGeom prst="rect">
              <a:avLst/>
            </a:prstGeom>
            <a:noFill/>
            <a:ln w="9525">
              <a:noFill/>
              <a:miter lim="800000"/>
              <a:headEnd/>
              <a:tailEnd/>
            </a:ln>
          </p:spPr>
        </p:pic>
        <p:pic>
          <p:nvPicPr>
            <p:cNvPr id="5" name="Picture 44">
              <a:extLst>
                <a:ext uri="{FF2B5EF4-FFF2-40B4-BE49-F238E27FC236}">
                  <a16:creationId xmlns:a16="http://schemas.microsoft.com/office/drawing/2014/main" xmlns="" id="{C32A18BE-9E46-4036-8814-704A15F00F6F}"/>
                </a:ext>
              </a:extLst>
            </p:cNvPr>
            <p:cNvPicPr>
              <a:picLocks noChangeAspect="1" noChangeArrowheads="1"/>
            </p:cNvPicPr>
            <p:nvPr/>
          </p:nvPicPr>
          <p:blipFill>
            <a:blip r:embed="rId6"/>
            <a:srcRect/>
            <a:stretch>
              <a:fillRect/>
            </a:stretch>
          </p:blipFill>
          <p:spPr bwMode="auto">
            <a:xfrm>
              <a:off x="6753223" y="1576387"/>
              <a:ext cx="1800225" cy="209550"/>
            </a:xfrm>
            <a:prstGeom prst="rect">
              <a:avLst/>
            </a:prstGeom>
            <a:noFill/>
            <a:ln w="9525">
              <a:noFill/>
              <a:miter lim="800000"/>
              <a:headEnd/>
              <a:tailEnd/>
            </a:ln>
          </p:spPr>
        </p:pic>
        <p:grpSp>
          <p:nvGrpSpPr>
            <p:cNvPr id="6" name="Group 31">
              <a:extLst>
                <a:ext uri="{FF2B5EF4-FFF2-40B4-BE49-F238E27FC236}">
                  <a16:creationId xmlns:a16="http://schemas.microsoft.com/office/drawing/2014/main" xmlns="" id="{B6DCC912-F1B6-4812-AD2A-D6F427710FD7}"/>
                </a:ext>
              </a:extLst>
            </p:cNvPr>
            <p:cNvGrpSpPr>
              <a:grpSpLocks/>
            </p:cNvGrpSpPr>
            <p:nvPr/>
          </p:nvGrpSpPr>
          <p:grpSpPr bwMode="auto">
            <a:xfrm>
              <a:off x="6115061" y="1720853"/>
              <a:ext cx="755651" cy="1428751"/>
              <a:chOff x="3168" y="1548"/>
              <a:chExt cx="476" cy="900"/>
            </a:xfrm>
          </p:grpSpPr>
          <p:sp>
            <p:nvSpPr>
              <p:cNvPr id="7" name="Text Box 32">
                <a:extLst>
                  <a:ext uri="{FF2B5EF4-FFF2-40B4-BE49-F238E27FC236}">
                    <a16:creationId xmlns:a16="http://schemas.microsoft.com/office/drawing/2014/main" xmlns="" id="{D288DED6-1B1D-444A-BC33-02574439379F}"/>
                  </a:ext>
                </a:extLst>
              </p:cNvPr>
              <p:cNvSpPr txBox="1">
                <a:spLocks noChangeArrowheads="1"/>
              </p:cNvSpPr>
              <p:nvPr/>
            </p:nvSpPr>
            <p:spPr bwMode="auto">
              <a:xfrm rot="-5400000">
                <a:off x="3121" y="1924"/>
                <a:ext cx="327" cy="233"/>
              </a:xfrm>
              <a:prstGeom prst="rect">
                <a:avLst/>
              </a:prstGeom>
              <a:noFill/>
              <a:ln w="9525">
                <a:noFill/>
                <a:miter lim="800000"/>
                <a:headEnd/>
                <a:tailEnd/>
              </a:ln>
            </p:spPr>
            <p:txBody>
              <a:bodyPr wrap="none">
                <a:spAutoFit/>
              </a:bodyPr>
              <a:lstStyle/>
              <a:p>
                <a:r>
                  <a:rPr lang="en-US" altLang="zh-CN" sz="1800" i="1">
                    <a:solidFill>
                      <a:srgbClr val="FF0000"/>
                    </a:solidFill>
                    <a:latin typeface="Times New Roman" pitchFamily="18" charset="0"/>
                    <a:ea typeface="宋体" pitchFamily="2" charset="-122"/>
                    <a:sym typeface="Symbol" pitchFamily="18" charset="2"/>
                  </a:rPr>
                  <a:t></a:t>
                </a:r>
                <a:r>
                  <a:rPr lang="en-US" altLang="zh-CN" sz="1800" i="1">
                    <a:solidFill>
                      <a:srgbClr val="FF0000"/>
                    </a:solidFill>
                    <a:latin typeface="ISOCPEUR" pitchFamily="34" charset="0"/>
                    <a:ea typeface="宋体" pitchFamily="2" charset="-122"/>
                  </a:rPr>
                  <a:t>50</a:t>
                </a:r>
                <a:endParaRPr lang="en-US" altLang="zh-CN" sz="1800">
                  <a:solidFill>
                    <a:srgbClr val="FF0000"/>
                  </a:solidFill>
                  <a:latin typeface="ISOCPEUR" pitchFamily="34" charset="0"/>
                  <a:ea typeface="宋体" pitchFamily="2" charset="-122"/>
                </a:endParaRPr>
              </a:p>
            </p:txBody>
          </p:sp>
          <p:sp>
            <p:nvSpPr>
              <p:cNvPr id="8" name="Line 33">
                <a:extLst>
                  <a:ext uri="{FF2B5EF4-FFF2-40B4-BE49-F238E27FC236}">
                    <a16:creationId xmlns:a16="http://schemas.microsoft.com/office/drawing/2014/main" xmlns="" id="{264C6394-E018-4D4B-8847-9F146F981AC3}"/>
                  </a:ext>
                </a:extLst>
              </p:cNvPr>
              <p:cNvSpPr>
                <a:spLocks noChangeShapeType="1"/>
              </p:cNvSpPr>
              <p:nvPr/>
            </p:nvSpPr>
            <p:spPr bwMode="auto">
              <a:xfrm flipH="1" flipV="1">
                <a:off x="3297" y="2447"/>
                <a:ext cx="347" cy="1"/>
              </a:xfrm>
              <a:prstGeom prst="line">
                <a:avLst/>
              </a:prstGeom>
              <a:noFill/>
              <a:ln w="19050">
                <a:solidFill>
                  <a:srgbClr val="FF0000"/>
                </a:solidFill>
                <a:round/>
                <a:headEnd/>
                <a:tailEnd/>
              </a:ln>
            </p:spPr>
            <p:txBody>
              <a:bodyPr wrap="none" anchor="ctr"/>
              <a:lstStyle/>
              <a:p>
                <a:endParaRPr lang="zh-CN" altLang="en-US"/>
              </a:p>
            </p:txBody>
          </p:sp>
          <p:sp>
            <p:nvSpPr>
              <p:cNvPr id="9" name="Line 34">
                <a:extLst>
                  <a:ext uri="{FF2B5EF4-FFF2-40B4-BE49-F238E27FC236}">
                    <a16:creationId xmlns:a16="http://schemas.microsoft.com/office/drawing/2014/main" xmlns="" id="{358B22EF-A782-4454-91FD-90D0564116E9}"/>
                  </a:ext>
                </a:extLst>
              </p:cNvPr>
              <p:cNvSpPr>
                <a:spLocks noChangeShapeType="1"/>
              </p:cNvSpPr>
              <p:nvPr/>
            </p:nvSpPr>
            <p:spPr bwMode="auto">
              <a:xfrm flipH="1">
                <a:off x="3288" y="1560"/>
                <a:ext cx="300" cy="0"/>
              </a:xfrm>
              <a:prstGeom prst="line">
                <a:avLst/>
              </a:prstGeom>
              <a:noFill/>
              <a:ln w="19050">
                <a:solidFill>
                  <a:srgbClr val="FF0000"/>
                </a:solidFill>
                <a:round/>
                <a:headEnd/>
                <a:tailEnd/>
              </a:ln>
            </p:spPr>
            <p:txBody>
              <a:bodyPr wrap="none" anchor="ctr"/>
              <a:lstStyle/>
              <a:p>
                <a:endParaRPr lang="zh-CN" altLang="en-US"/>
              </a:p>
            </p:txBody>
          </p:sp>
          <p:sp>
            <p:nvSpPr>
              <p:cNvPr id="10" name="Line 35">
                <a:extLst>
                  <a:ext uri="{FF2B5EF4-FFF2-40B4-BE49-F238E27FC236}">
                    <a16:creationId xmlns:a16="http://schemas.microsoft.com/office/drawing/2014/main" xmlns="" id="{F31745A9-CFBF-41CD-BD89-506DA48FD318}"/>
                  </a:ext>
                </a:extLst>
              </p:cNvPr>
              <p:cNvSpPr>
                <a:spLocks noChangeShapeType="1"/>
              </p:cNvSpPr>
              <p:nvPr/>
            </p:nvSpPr>
            <p:spPr bwMode="auto">
              <a:xfrm>
                <a:off x="3372" y="1548"/>
                <a:ext cx="0" cy="900"/>
              </a:xfrm>
              <a:prstGeom prst="line">
                <a:avLst/>
              </a:prstGeom>
              <a:noFill/>
              <a:ln w="19050">
                <a:solidFill>
                  <a:srgbClr val="FF0000"/>
                </a:solidFill>
                <a:round/>
                <a:headEnd type="triangle" w="sm" len="lg"/>
                <a:tailEnd type="triangle" w="sm" len="lg"/>
              </a:ln>
            </p:spPr>
            <p:txBody>
              <a:bodyPr wrap="none" anchor="ctr"/>
              <a:lstStyle/>
              <a:p>
                <a:endParaRPr lang="zh-CN" altLang="en-US"/>
              </a:p>
            </p:txBody>
          </p:sp>
        </p:grpSp>
      </p:grpSp>
      <p:sp>
        <p:nvSpPr>
          <p:cNvPr id="11" name="Text Box 19">
            <a:extLst>
              <a:ext uri="{FF2B5EF4-FFF2-40B4-BE49-F238E27FC236}">
                <a16:creationId xmlns:a16="http://schemas.microsoft.com/office/drawing/2014/main" xmlns="" id="{8F5C000F-2F65-4510-8DDB-7DEE839ED796}"/>
              </a:ext>
            </a:extLst>
          </p:cNvPr>
          <p:cNvSpPr txBox="1">
            <a:spLocks noChangeArrowheads="1"/>
          </p:cNvSpPr>
          <p:nvPr/>
        </p:nvSpPr>
        <p:spPr bwMode="auto">
          <a:xfrm>
            <a:off x="1463984" y="1908330"/>
            <a:ext cx="2217969" cy="461665"/>
          </a:xfrm>
          <a:prstGeom prst="rect">
            <a:avLst/>
          </a:prstGeom>
          <a:noFill/>
          <a:ln w="9525">
            <a:noFill/>
            <a:miter lim="800000"/>
            <a:headEnd/>
            <a:tailEnd/>
          </a:ln>
        </p:spPr>
        <p:txBody>
          <a:bodyPr wrap="square">
            <a:spAutoFit/>
          </a:bodyPr>
          <a:lstStyle/>
          <a:p>
            <a:r>
              <a:rPr lang="en-US" altLang="zh-CN" sz="2400" b="1" dirty="0">
                <a:solidFill>
                  <a:srgbClr val="FF0000"/>
                </a:solidFill>
                <a:latin typeface="宋体" pitchFamily="2" charset="-122"/>
                <a:ea typeface="宋体" pitchFamily="2" charset="-122"/>
              </a:rPr>
              <a:t>9</a:t>
            </a:r>
            <a:r>
              <a:rPr lang="zh-CN" altLang="en-US" sz="2400" b="1" dirty="0">
                <a:solidFill>
                  <a:srgbClr val="FF0000"/>
                </a:solidFill>
                <a:latin typeface="宋体" pitchFamily="2" charset="-122"/>
                <a:ea typeface="宋体" pitchFamily="2" charset="-122"/>
              </a:rPr>
              <a:t>）公差带图：</a:t>
            </a:r>
          </a:p>
        </p:txBody>
      </p:sp>
      <p:sp>
        <p:nvSpPr>
          <p:cNvPr id="12" name="Text Box 5">
            <a:extLst>
              <a:ext uri="{FF2B5EF4-FFF2-40B4-BE49-F238E27FC236}">
                <a16:creationId xmlns:a16="http://schemas.microsoft.com/office/drawing/2014/main" xmlns="" id="{4B164C00-F63D-415B-9D64-B79886036B4A}"/>
              </a:ext>
            </a:extLst>
          </p:cNvPr>
          <p:cNvSpPr txBox="1">
            <a:spLocks noChangeArrowheads="1"/>
          </p:cNvSpPr>
          <p:nvPr/>
        </p:nvSpPr>
        <p:spPr bwMode="auto">
          <a:xfrm>
            <a:off x="3395700" y="436436"/>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pic>
        <p:nvPicPr>
          <p:cNvPr id="14" name="Picture 2">
            <a:extLst>
              <a:ext uri="{FF2B5EF4-FFF2-40B4-BE49-F238E27FC236}">
                <a16:creationId xmlns:a16="http://schemas.microsoft.com/office/drawing/2014/main" xmlns="" id="{1F92A2FB-1192-4BC0-BD5B-D10203E905A8}"/>
              </a:ext>
            </a:extLst>
          </p:cNvPr>
          <p:cNvPicPr>
            <a:picLocks noChangeAspect="1" noChangeArrowheads="1"/>
          </p:cNvPicPr>
          <p:nvPr/>
        </p:nvPicPr>
        <p:blipFill>
          <a:blip r:embed="rId7"/>
          <a:srcRect/>
          <a:stretch>
            <a:fillRect/>
          </a:stretch>
        </p:blipFill>
        <p:spPr bwMode="auto">
          <a:xfrm>
            <a:off x="2098713" y="4202204"/>
            <a:ext cx="7742237" cy="1714500"/>
          </a:xfrm>
          <a:prstGeom prst="rect">
            <a:avLst/>
          </a:prstGeom>
          <a:noFill/>
          <a:ln w="9525">
            <a:noFill/>
            <a:miter lim="800000"/>
            <a:headEnd/>
            <a:tailEnd/>
          </a:ln>
        </p:spPr>
      </p:pic>
      <p:grpSp>
        <p:nvGrpSpPr>
          <p:cNvPr id="15" name="Group 38">
            <a:extLst>
              <a:ext uri="{FF2B5EF4-FFF2-40B4-BE49-F238E27FC236}">
                <a16:creationId xmlns:a16="http://schemas.microsoft.com/office/drawing/2014/main" xmlns="" id="{BB55C46A-9739-4445-96BF-7BE8BF5B6A58}"/>
              </a:ext>
            </a:extLst>
          </p:cNvPr>
          <p:cNvGrpSpPr>
            <a:grpSpLocks/>
          </p:cNvGrpSpPr>
          <p:nvPr/>
        </p:nvGrpSpPr>
        <p:grpSpPr bwMode="auto">
          <a:xfrm>
            <a:off x="3120655" y="2316411"/>
            <a:ext cx="2379662" cy="498475"/>
            <a:chOff x="722" y="2215"/>
            <a:chExt cx="1499" cy="314"/>
          </a:xfrm>
        </p:grpSpPr>
        <p:sp>
          <p:nvSpPr>
            <p:cNvPr id="16" name="Text Box 39">
              <a:extLst>
                <a:ext uri="{FF2B5EF4-FFF2-40B4-BE49-F238E27FC236}">
                  <a16:creationId xmlns:a16="http://schemas.microsoft.com/office/drawing/2014/main" xmlns="" id="{E328A4C9-D794-409E-9B7B-E7030786618B}"/>
                </a:ext>
              </a:extLst>
            </p:cNvPr>
            <p:cNvSpPr txBox="1">
              <a:spLocks noChangeArrowheads="1"/>
            </p:cNvSpPr>
            <p:nvPr/>
          </p:nvSpPr>
          <p:spPr bwMode="auto">
            <a:xfrm>
              <a:off x="722" y="2215"/>
              <a:ext cx="376" cy="291"/>
            </a:xfrm>
            <a:prstGeom prst="rect">
              <a:avLst/>
            </a:prstGeom>
            <a:noFill/>
            <a:ln w="9525">
              <a:noFill/>
              <a:miter lim="800000"/>
              <a:headEnd/>
              <a:tailEnd/>
            </a:ln>
          </p:spPr>
          <p:txBody>
            <a:bodyPr wrap="none">
              <a:spAutoFit/>
            </a:bodyPr>
            <a:lstStyle/>
            <a:p>
              <a:r>
                <a:rPr lang="zh-CN" altLang="en-US" sz="2400" dirty="0">
                  <a:solidFill>
                    <a:schemeClr val="tx1"/>
                  </a:solidFill>
                  <a:latin typeface="Times New Roman" pitchFamily="18" charset="0"/>
                  <a:ea typeface="宋体" pitchFamily="2" charset="-122"/>
                </a:rPr>
                <a:t>例</a:t>
              </a:r>
              <a:r>
                <a:rPr lang="en-US" altLang="zh-CN" sz="2400" dirty="0">
                  <a:solidFill>
                    <a:schemeClr val="tx1"/>
                  </a:solidFill>
                  <a:latin typeface="Times New Roman" pitchFamily="18" charset="0"/>
                  <a:ea typeface="宋体" pitchFamily="2" charset="-122"/>
                </a:rPr>
                <a:t>:</a:t>
              </a:r>
            </a:p>
          </p:txBody>
        </p:sp>
        <p:sp>
          <p:nvSpPr>
            <p:cNvPr id="17" name="Text Box 40">
              <a:extLst>
                <a:ext uri="{FF2B5EF4-FFF2-40B4-BE49-F238E27FC236}">
                  <a16:creationId xmlns:a16="http://schemas.microsoft.com/office/drawing/2014/main" xmlns="" id="{E6FFA7C5-A367-4F99-9559-282D931B5230}"/>
                </a:ext>
              </a:extLst>
            </p:cNvPr>
            <p:cNvSpPr txBox="1">
              <a:spLocks noChangeArrowheads="1"/>
            </p:cNvSpPr>
            <p:nvPr/>
          </p:nvSpPr>
          <p:spPr bwMode="auto">
            <a:xfrm>
              <a:off x="1177" y="2238"/>
              <a:ext cx="1044" cy="291"/>
            </a:xfrm>
            <a:prstGeom prst="rect">
              <a:avLst/>
            </a:prstGeom>
            <a:noFill/>
            <a:ln w="12700">
              <a:noFill/>
              <a:miter lim="800000"/>
              <a:headEnd type="none" w="sm" len="lg"/>
              <a:tailEnd type="none" w="sm" len="lg"/>
            </a:ln>
          </p:spPr>
          <p:txBody>
            <a:bodyPr wrap="none" anchor="ctr">
              <a:spAutoFit/>
            </a:bodyPr>
            <a:lstStyle/>
            <a:p>
              <a:pPr algn="ctr"/>
              <a:r>
                <a:rPr lang="en-US" altLang="zh-CN" sz="2400" i="1" dirty="0">
                  <a:solidFill>
                    <a:srgbClr val="FF0000"/>
                  </a:solidFill>
                  <a:latin typeface="Times New Roman" pitchFamily="18" charset="0"/>
                  <a:ea typeface="宋体" pitchFamily="2" charset="-122"/>
                  <a:sym typeface="Symbol" pitchFamily="18" charset="2"/>
                </a:rPr>
                <a:t></a:t>
              </a:r>
              <a:r>
                <a:rPr lang="en-US" altLang="zh-CN" sz="2400" i="1" dirty="0">
                  <a:solidFill>
                    <a:schemeClr val="tx1"/>
                  </a:solidFill>
                  <a:latin typeface="Times New Roman" pitchFamily="18" charset="0"/>
                  <a:ea typeface="宋体" pitchFamily="2" charset="-122"/>
                  <a:sym typeface="Symbol" pitchFamily="18" charset="2"/>
                </a:rPr>
                <a:t> </a:t>
              </a:r>
              <a:r>
                <a:rPr lang="en-US" altLang="zh-CN" sz="2400" i="1" dirty="0">
                  <a:solidFill>
                    <a:srgbClr val="FF3300"/>
                  </a:solidFill>
                  <a:latin typeface="ISOCPEUR" pitchFamily="34" charset="0"/>
                  <a:ea typeface="宋体" pitchFamily="2" charset="-122"/>
                  <a:sym typeface="Symbol" pitchFamily="18" charset="2"/>
                </a:rPr>
                <a:t>50±0.008</a:t>
              </a:r>
              <a:endParaRPr lang="en-US" altLang="zh-CN" sz="2400" dirty="0">
                <a:solidFill>
                  <a:srgbClr val="FF3300"/>
                </a:solidFill>
                <a:latin typeface="ISOCPEUR" pitchFamily="34" charset="0"/>
                <a:ea typeface="宋体" pitchFamily="2" charset="-122"/>
                <a:sym typeface="Symbol" pitchFamily="18" charset="2"/>
              </a:endParaRPr>
            </a:p>
          </p:txBody>
        </p:sp>
      </p:grpSp>
      <p:sp>
        <p:nvSpPr>
          <p:cNvPr id="18" name="Rectangle 2" descr="75%">
            <a:extLst>
              <a:ext uri="{FF2B5EF4-FFF2-40B4-BE49-F238E27FC236}">
                <a16:creationId xmlns:a16="http://schemas.microsoft.com/office/drawing/2014/main" xmlns="" id="{F06EEF76-3421-4E66-9A38-99FF2605616D}"/>
              </a:ext>
            </a:extLst>
          </p:cNvPr>
          <p:cNvSpPr>
            <a:spLocks noChangeArrowheads="1"/>
          </p:cNvSpPr>
          <p:nvPr/>
        </p:nvSpPr>
        <p:spPr bwMode="auto">
          <a:xfrm>
            <a:off x="3962438" y="4397467"/>
            <a:ext cx="976312" cy="477837"/>
          </a:xfrm>
          <a:prstGeom prst="rect">
            <a:avLst/>
          </a:prstGeom>
          <a:solidFill>
            <a:srgbClr val="00B0F0"/>
          </a:solidFill>
          <a:ln w="9525">
            <a:solidFill>
              <a:schemeClr val="tx1"/>
            </a:solidFill>
            <a:miter lim="800000"/>
            <a:headEnd/>
            <a:tailEnd/>
          </a:ln>
        </p:spPr>
        <p:txBody>
          <a:bodyPr wrap="none" anchor="ctr"/>
          <a:lstStyle/>
          <a:p>
            <a:pPr algn="ctr"/>
            <a:endParaRPr lang="zh-CN" altLang="en-US" sz="2400"/>
          </a:p>
        </p:txBody>
      </p:sp>
      <p:grpSp>
        <p:nvGrpSpPr>
          <p:cNvPr id="19" name="Group 3">
            <a:extLst>
              <a:ext uri="{FF2B5EF4-FFF2-40B4-BE49-F238E27FC236}">
                <a16:creationId xmlns:a16="http://schemas.microsoft.com/office/drawing/2014/main" xmlns="" id="{EFF7D101-152B-4BAA-AF2C-D5E45FA177BF}"/>
              </a:ext>
            </a:extLst>
          </p:cNvPr>
          <p:cNvGrpSpPr>
            <a:grpSpLocks/>
          </p:cNvGrpSpPr>
          <p:nvPr/>
        </p:nvGrpSpPr>
        <p:grpSpPr bwMode="auto">
          <a:xfrm>
            <a:off x="3784638" y="4856254"/>
            <a:ext cx="958850" cy="619125"/>
            <a:chOff x="1440" y="1156"/>
            <a:chExt cx="604" cy="426"/>
          </a:xfrm>
        </p:grpSpPr>
        <p:sp>
          <p:nvSpPr>
            <p:cNvPr id="20" name="Text Box 4">
              <a:extLst>
                <a:ext uri="{FF2B5EF4-FFF2-40B4-BE49-F238E27FC236}">
                  <a16:creationId xmlns:a16="http://schemas.microsoft.com/office/drawing/2014/main" xmlns="" id="{E7523E7B-BE3B-4593-8A15-94A910C7BD8C}"/>
                </a:ext>
              </a:extLst>
            </p:cNvPr>
            <p:cNvSpPr txBox="1">
              <a:spLocks noChangeArrowheads="1"/>
            </p:cNvSpPr>
            <p:nvPr/>
          </p:nvSpPr>
          <p:spPr bwMode="auto">
            <a:xfrm>
              <a:off x="1440" y="1307"/>
              <a:ext cx="604" cy="275"/>
            </a:xfrm>
            <a:prstGeom prst="rect">
              <a:avLst/>
            </a:prstGeom>
            <a:noFill/>
            <a:ln w="9525">
              <a:solidFill>
                <a:srgbClr val="FF0000"/>
              </a:solid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下偏差</a:t>
              </a:r>
            </a:p>
          </p:txBody>
        </p:sp>
        <p:sp>
          <p:nvSpPr>
            <p:cNvPr id="21" name="Line 5">
              <a:extLst>
                <a:ext uri="{FF2B5EF4-FFF2-40B4-BE49-F238E27FC236}">
                  <a16:creationId xmlns:a16="http://schemas.microsoft.com/office/drawing/2014/main" xmlns="" id="{4B9623B2-48BE-48E1-90FA-3ACD1F54CD25}"/>
                </a:ext>
              </a:extLst>
            </p:cNvPr>
            <p:cNvSpPr>
              <a:spLocks noChangeShapeType="1"/>
            </p:cNvSpPr>
            <p:nvPr/>
          </p:nvSpPr>
          <p:spPr bwMode="auto">
            <a:xfrm flipV="1">
              <a:off x="1806" y="1156"/>
              <a:ext cx="0" cy="151"/>
            </a:xfrm>
            <a:prstGeom prst="line">
              <a:avLst/>
            </a:prstGeom>
            <a:noFill/>
            <a:ln w="9525">
              <a:solidFill>
                <a:schemeClr val="tx1"/>
              </a:solidFill>
              <a:round/>
              <a:headEnd/>
              <a:tailEnd type="triangle" w="sm" len="lg"/>
            </a:ln>
          </p:spPr>
          <p:txBody>
            <a:bodyPr wrap="none" anchor="ctr"/>
            <a:lstStyle/>
            <a:p>
              <a:endParaRPr lang="zh-CN" altLang="en-US"/>
            </a:p>
          </p:txBody>
        </p:sp>
      </p:grpSp>
      <p:sp>
        <p:nvSpPr>
          <p:cNvPr id="22" name="Text Box 9">
            <a:extLst>
              <a:ext uri="{FF2B5EF4-FFF2-40B4-BE49-F238E27FC236}">
                <a16:creationId xmlns:a16="http://schemas.microsoft.com/office/drawing/2014/main" xmlns="" id="{DFADD349-E8F0-4A2A-B7C2-DF5C6C2E3918}"/>
              </a:ext>
            </a:extLst>
          </p:cNvPr>
          <p:cNvSpPr txBox="1">
            <a:spLocks noChangeArrowheads="1"/>
          </p:cNvSpPr>
          <p:nvPr/>
        </p:nvSpPr>
        <p:spPr bwMode="auto">
          <a:xfrm>
            <a:off x="4949863" y="4203792"/>
            <a:ext cx="863600" cy="400050"/>
          </a:xfrm>
          <a:prstGeom prst="rect">
            <a:avLst/>
          </a:prstGeom>
          <a:noFill/>
          <a:ln w="9525">
            <a:noFill/>
            <a:miter lim="800000"/>
            <a:headEnd/>
            <a:tailEnd/>
          </a:ln>
        </p:spPr>
        <p:txBody>
          <a:bodyPr wrap="none">
            <a:spAutoFit/>
          </a:bodyPr>
          <a:lstStyle/>
          <a:p>
            <a:r>
              <a:rPr lang="en-US" altLang="zh-CN" sz="2000">
                <a:solidFill>
                  <a:schemeClr val="tx1"/>
                </a:solidFill>
                <a:latin typeface="Times New Roman" pitchFamily="18" charset="0"/>
                <a:ea typeface="宋体" pitchFamily="2" charset="-122"/>
              </a:rPr>
              <a:t>+</a:t>
            </a:r>
            <a:r>
              <a:rPr lang="en-US" altLang="zh-CN" sz="2000" i="1">
                <a:solidFill>
                  <a:schemeClr val="tx1"/>
                </a:solidFill>
                <a:latin typeface="ISOCPEUR" pitchFamily="34" charset="0"/>
                <a:ea typeface="宋体" pitchFamily="2" charset="-122"/>
              </a:rPr>
              <a:t>0.008</a:t>
            </a:r>
            <a:endParaRPr lang="en-US" altLang="zh-CN" sz="2000">
              <a:solidFill>
                <a:schemeClr val="tx1"/>
              </a:solidFill>
              <a:latin typeface="ISOCPEUR" pitchFamily="34" charset="0"/>
              <a:ea typeface="宋体" pitchFamily="2" charset="-122"/>
            </a:endParaRPr>
          </a:p>
        </p:txBody>
      </p:sp>
      <p:sp>
        <p:nvSpPr>
          <p:cNvPr id="23" name="Text Box 10">
            <a:extLst>
              <a:ext uri="{FF2B5EF4-FFF2-40B4-BE49-F238E27FC236}">
                <a16:creationId xmlns:a16="http://schemas.microsoft.com/office/drawing/2014/main" xmlns="" id="{AAF65931-9539-4A98-8A4F-460865E1B9AE}"/>
              </a:ext>
            </a:extLst>
          </p:cNvPr>
          <p:cNvSpPr txBox="1">
            <a:spLocks noChangeArrowheads="1"/>
          </p:cNvSpPr>
          <p:nvPr/>
        </p:nvSpPr>
        <p:spPr bwMode="auto">
          <a:xfrm>
            <a:off x="4949863" y="4610192"/>
            <a:ext cx="803275" cy="400050"/>
          </a:xfrm>
          <a:prstGeom prst="rect">
            <a:avLst/>
          </a:prstGeom>
          <a:noFill/>
          <a:ln w="9525">
            <a:noFill/>
            <a:miter lim="800000"/>
            <a:headEnd/>
            <a:tailEnd/>
          </a:ln>
        </p:spPr>
        <p:txBody>
          <a:bodyPr wrap="none">
            <a:spAutoFit/>
          </a:bodyPr>
          <a:lstStyle/>
          <a:p>
            <a:r>
              <a:rPr lang="en-US" altLang="zh-CN" sz="2000">
                <a:solidFill>
                  <a:schemeClr val="tx1"/>
                </a:solidFill>
                <a:latin typeface="Times New Roman" pitchFamily="18" charset="0"/>
                <a:ea typeface="宋体" pitchFamily="2" charset="-122"/>
              </a:rPr>
              <a:t>-</a:t>
            </a:r>
            <a:r>
              <a:rPr lang="en-US" altLang="zh-CN" sz="2000" i="1">
                <a:solidFill>
                  <a:schemeClr val="tx1"/>
                </a:solidFill>
                <a:latin typeface="ISOCPEUR" pitchFamily="34" charset="0"/>
                <a:ea typeface="宋体" pitchFamily="2" charset="-122"/>
              </a:rPr>
              <a:t>0.008</a:t>
            </a:r>
            <a:endParaRPr lang="en-US" altLang="zh-CN" sz="2000">
              <a:solidFill>
                <a:schemeClr val="tx1"/>
              </a:solidFill>
              <a:latin typeface="ISOCPEUR" pitchFamily="34" charset="0"/>
              <a:ea typeface="宋体" pitchFamily="2" charset="-122"/>
            </a:endParaRPr>
          </a:p>
        </p:txBody>
      </p:sp>
      <p:grpSp>
        <p:nvGrpSpPr>
          <p:cNvPr id="24" name="Group 41">
            <a:extLst>
              <a:ext uri="{FF2B5EF4-FFF2-40B4-BE49-F238E27FC236}">
                <a16:creationId xmlns:a16="http://schemas.microsoft.com/office/drawing/2014/main" xmlns="" id="{515E734C-4C14-46E3-8068-7739EDB8648F}"/>
              </a:ext>
            </a:extLst>
          </p:cNvPr>
          <p:cNvGrpSpPr>
            <a:grpSpLocks/>
          </p:cNvGrpSpPr>
          <p:nvPr/>
        </p:nvGrpSpPr>
        <p:grpSpPr bwMode="auto">
          <a:xfrm>
            <a:off x="3341725" y="3757704"/>
            <a:ext cx="1116013" cy="649288"/>
            <a:chOff x="1102" y="533"/>
            <a:chExt cx="704" cy="413"/>
          </a:xfrm>
        </p:grpSpPr>
        <p:sp>
          <p:nvSpPr>
            <p:cNvPr id="25" name="Text Box 42">
              <a:extLst>
                <a:ext uri="{FF2B5EF4-FFF2-40B4-BE49-F238E27FC236}">
                  <a16:creationId xmlns:a16="http://schemas.microsoft.com/office/drawing/2014/main" xmlns="" id="{26786243-19E2-4EE4-A11D-2749836D577E}"/>
                </a:ext>
              </a:extLst>
            </p:cNvPr>
            <p:cNvSpPr txBox="1">
              <a:spLocks noChangeArrowheads="1"/>
            </p:cNvSpPr>
            <p:nvPr/>
          </p:nvSpPr>
          <p:spPr bwMode="auto">
            <a:xfrm>
              <a:off x="1102" y="533"/>
              <a:ext cx="704" cy="252"/>
            </a:xfrm>
            <a:prstGeom prst="rect">
              <a:avLst/>
            </a:prstGeom>
            <a:noFill/>
            <a:ln w="9525">
              <a:solidFill>
                <a:srgbClr val="FF0000"/>
              </a:solidFill>
              <a:miter lim="800000"/>
              <a:headEnd/>
              <a:tailEnd/>
            </a:ln>
          </p:spPr>
          <p:txBody>
            <a:bodyPr>
              <a:spAutoFit/>
            </a:bodyPr>
            <a:lstStyle/>
            <a:p>
              <a:r>
                <a:rPr lang="zh-CN" altLang="en-US" sz="2000">
                  <a:solidFill>
                    <a:schemeClr val="tx1"/>
                  </a:solidFill>
                  <a:latin typeface="Times New Roman" pitchFamily="18" charset="0"/>
                  <a:ea typeface="宋体" pitchFamily="2" charset="-122"/>
                </a:rPr>
                <a:t>上偏差</a:t>
              </a:r>
            </a:p>
          </p:txBody>
        </p:sp>
        <p:sp>
          <p:nvSpPr>
            <p:cNvPr id="26" name="Freeform 43">
              <a:extLst>
                <a:ext uri="{FF2B5EF4-FFF2-40B4-BE49-F238E27FC236}">
                  <a16:creationId xmlns:a16="http://schemas.microsoft.com/office/drawing/2014/main" xmlns="" id="{7D9FB4B6-2FF2-4127-8FB8-914AC65C7180}"/>
                </a:ext>
              </a:extLst>
            </p:cNvPr>
            <p:cNvSpPr>
              <a:spLocks/>
            </p:cNvSpPr>
            <p:nvPr/>
          </p:nvSpPr>
          <p:spPr bwMode="auto">
            <a:xfrm>
              <a:off x="1605" y="795"/>
              <a:ext cx="1" cy="151"/>
            </a:xfrm>
            <a:custGeom>
              <a:avLst/>
              <a:gdLst>
                <a:gd name="T0" fmla="*/ 0 w 1"/>
                <a:gd name="T1" fmla="*/ 0 h 151"/>
                <a:gd name="T2" fmla="*/ 1 w 1"/>
                <a:gd name="T3" fmla="*/ 151 h 151"/>
                <a:gd name="T4" fmla="*/ 0 60000 65536"/>
                <a:gd name="T5" fmla="*/ 0 60000 65536"/>
                <a:gd name="T6" fmla="*/ 0 w 1"/>
                <a:gd name="T7" fmla="*/ 0 h 151"/>
                <a:gd name="T8" fmla="*/ 1 w 1"/>
                <a:gd name="T9" fmla="*/ 151 h 151"/>
              </a:gdLst>
              <a:ahLst/>
              <a:cxnLst>
                <a:cxn ang="T4">
                  <a:pos x="T0" y="T1"/>
                </a:cxn>
                <a:cxn ang="T5">
                  <a:pos x="T2" y="T3"/>
                </a:cxn>
              </a:cxnLst>
              <a:rect l="T6" t="T7" r="T8" b="T9"/>
              <a:pathLst>
                <a:path w="1" h="151">
                  <a:moveTo>
                    <a:pt x="0" y="0"/>
                  </a:moveTo>
                  <a:lnTo>
                    <a:pt x="1" y="151"/>
                  </a:lnTo>
                </a:path>
              </a:pathLst>
            </a:custGeom>
            <a:noFill/>
            <a:ln w="9525">
              <a:solidFill>
                <a:schemeClr val="tx1"/>
              </a:solidFill>
              <a:round/>
              <a:headEnd/>
              <a:tailEnd type="triangle" w="sm" len="lg"/>
            </a:ln>
          </p:spPr>
          <p:txBody>
            <a:bodyPr wrap="none" anchor="ctr"/>
            <a:lstStyle/>
            <a:p>
              <a:endParaRPr lang="zh-CN" altLang="en-US"/>
            </a:p>
          </p:txBody>
        </p:sp>
      </p:grpSp>
      <p:grpSp>
        <p:nvGrpSpPr>
          <p:cNvPr id="27" name="Group 6">
            <a:extLst>
              <a:ext uri="{FF2B5EF4-FFF2-40B4-BE49-F238E27FC236}">
                <a16:creationId xmlns:a16="http://schemas.microsoft.com/office/drawing/2014/main" xmlns="" id="{6E4A7A3E-B329-438D-87C3-28B1479D8137}"/>
              </a:ext>
            </a:extLst>
          </p:cNvPr>
          <p:cNvGrpSpPr>
            <a:grpSpLocks/>
          </p:cNvGrpSpPr>
          <p:nvPr/>
        </p:nvGrpSpPr>
        <p:grpSpPr bwMode="auto">
          <a:xfrm>
            <a:off x="4364075" y="3659279"/>
            <a:ext cx="1295400" cy="744538"/>
            <a:chOff x="1806" y="547"/>
            <a:chExt cx="816" cy="469"/>
          </a:xfrm>
        </p:grpSpPr>
        <p:sp>
          <p:nvSpPr>
            <p:cNvPr id="28" name="Text Box 7">
              <a:extLst>
                <a:ext uri="{FF2B5EF4-FFF2-40B4-BE49-F238E27FC236}">
                  <a16:creationId xmlns:a16="http://schemas.microsoft.com/office/drawing/2014/main" xmlns="" id="{56A499ED-6B84-4698-99A6-16EAD5D15AFC}"/>
                </a:ext>
              </a:extLst>
            </p:cNvPr>
            <p:cNvSpPr txBox="1">
              <a:spLocks noChangeArrowheads="1"/>
            </p:cNvSpPr>
            <p:nvPr/>
          </p:nvSpPr>
          <p:spPr bwMode="auto">
            <a:xfrm>
              <a:off x="2018" y="547"/>
              <a:ext cx="604" cy="252"/>
            </a:xfrm>
            <a:prstGeom prst="rect">
              <a:avLst/>
            </a:prstGeom>
            <a:noFill/>
            <a:ln w="9525">
              <a:solidFill>
                <a:srgbClr val="FF0000"/>
              </a:solid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公差带</a:t>
              </a:r>
            </a:p>
          </p:txBody>
        </p:sp>
        <p:sp>
          <p:nvSpPr>
            <p:cNvPr id="29" name="Line 8">
              <a:extLst>
                <a:ext uri="{FF2B5EF4-FFF2-40B4-BE49-F238E27FC236}">
                  <a16:creationId xmlns:a16="http://schemas.microsoft.com/office/drawing/2014/main" xmlns="" id="{DD4D1775-1C09-483E-BC98-3BC524B45993}"/>
                </a:ext>
              </a:extLst>
            </p:cNvPr>
            <p:cNvSpPr>
              <a:spLocks noChangeShapeType="1"/>
            </p:cNvSpPr>
            <p:nvPr/>
          </p:nvSpPr>
          <p:spPr bwMode="auto">
            <a:xfrm flipH="1">
              <a:off x="1806" y="795"/>
              <a:ext cx="221" cy="221"/>
            </a:xfrm>
            <a:prstGeom prst="line">
              <a:avLst/>
            </a:prstGeom>
            <a:noFill/>
            <a:ln w="9525">
              <a:solidFill>
                <a:schemeClr val="tx1"/>
              </a:solidFill>
              <a:round/>
              <a:headEnd/>
              <a:tailEnd type="triangle" w="sm" len="lg"/>
            </a:ln>
          </p:spPr>
          <p:txBody>
            <a:bodyPr wrap="none" anchor="ctr"/>
            <a:lstStyle/>
            <a:p>
              <a:endParaRPr lang="zh-CN" altLang="en-US"/>
            </a:p>
          </p:txBody>
        </p:sp>
      </p:grpSp>
      <p:grpSp>
        <p:nvGrpSpPr>
          <p:cNvPr id="30" name="Group 21">
            <a:extLst>
              <a:ext uri="{FF2B5EF4-FFF2-40B4-BE49-F238E27FC236}">
                <a16:creationId xmlns:a16="http://schemas.microsoft.com/office/drawing/2014/main" xmlns="" id="{146814D1-9D18-4FBF-97C6-377DA07736E9}"/>
              </a:ext>
            </a:extLst>
          </p:cNvPr>
          <p:cNvGrpSpPr>
            <a:grpSpLocks/>
          </p:cNvGrpSpPr>
          <p:nvPr/>
        </p:nvGrpSpPr>
        <p:grpSpPr bwMode="auto">
          <a:xfrm>
            <a:off x="3163925" y="2808858"/>
            <a:ext cx="1744663" cy="692150"/>
            <a:chOff x="2507" y="2123"/>
            <a:chExt cx="1099" cy="436"/>
          </a:xfrm>
        </p:grpSpPr>
        <p:sp>
          <p:nvSpPr>
            <p:cNvPr id="31" name="Text Box 22">
              <a:extLst>
                <a:ext uri="{FF2B5EF4-FFF2-40B4-BE49-F238E27FC236}">
                  <a16:creationId xmlns:a16="http://schemas.microsoft.com/office/drawing/2014/main" xmlns="" id="{8BD3B843-9BB4-40B5-97D6-F0A8410E582B}"/>
                </a:ext>
              </a:extLst>
            </p:cNvPr>
            <p:cNvSpPr txBox="1">
              <a:spLocks noChangeArrowheads="1"/>
            </p:cNvSpPr>
            <p:nvPr/>
          </p:nvSpPr>
          <p:spPr bwMode="auto">
            <a:xfrm>
              <a:off x="2507" y="2233"/>
              <a:ext cx="544" cy="291"/>
            </a:xfrm>
            <a:prstGeom prst="rect">
              <a:avLst/>
            </a:prstGeom>
            <a:noFill/>
            <a:ln w="9525">
              <a:noFill/>
              <a:miter lim="800000"/>
              <a:headEnd/>
              <a:tailEnd/>
            </a:ln>
          </p:spPr>
          <p:txBody>
            <a:bodyPr wrap="none">
              <a:spAutoFit/>
            </a:bodyPr>
            <a:lstStyle/>
            <a:p>
              <a:r>
                <a:rPr lang="en-US" altLang="zh-CN" sz="2400" i="1">
                  <a:solidFill>
                    <a:srgbClr val="FF3300"/>
                  </a:solidFill>
                  <a:latin typeface="ISOCP" pitchFamily="2" charset="0"/>
                  <a:ea typeface="宋体" pitchFamily="2" charset="-122"/>
                  <a:sym typeface="Symbol" pitchFamily="18" charset="2"/>
                </a:rPr>
                <a:t></a:t>
              </a:r>
              <a:r>
                <a:rPr lang="en-US" altLang="zh-CN" sz="2400" i="1">
                  <a:solidFill>
                    <a:srgbClr val="FF0000"/>
                  </a:solidFill>
                  <a:latin typeface="Times New Roman" pitchFamily="18" charset="0"/>
                  <a:ea typeface="宋体" pitchFamily="2" charset="-122"/>
                  <a:sym typeface="Symbol" pitchFamily="18" charset="2"/>
                </a:rPr>
                <a:t>  </a:t>
              </a:r>
              <a:r>
                <a:rPr lang="en-US" altLang="zh-CN" sz="2400" i="1">
                  <a:solidFill>
                    <a:srgbClr val="FF3300"/>
                  </a:solidFill>
                  <a:latin typeface="ISOCPEUR" pitchFamily="34" charset="0"/>
                  <a:ea typeface="宋体" pitchFamily="2" charset="-122"/>
                  <a:sym typeface="Symbol" pitchFamily="18" charset="2"/>
                </a:rPr>
                <a:t>50</a:t>
              </a:r>
              <a:endParaRPr lang="en-US" altLang="zh-CN" sz="2400" i="1">
                <a:solidFill>
                  <a:srgbClr val="FF3300"/>
                </a:solidFill>
                <a:latin typeface="ISOCPEUR" pitchFamily="34" charset="0"/>
                <a:ea typeface="宋体" pitchFamily="2" charset="-122"/>
              </a:endParaRPr>
            </a:p>
          </p:txBody>
        </p:sp>
        <p:sp>
          <p:nvSpPr>
            <p:cNvPr id="32" name="Text Box 23">
              <a:extLst>
                <a:ext uri="{FF2B5EF4-FFF2-40B4-BE49-F238E27FC236}">
                  <a16:creationId xmlns:a16="http://schemas.microsoft.com/office/drawing/2014/main" xmlns="" id="{FA3B8605-6F67-4BB3-8979-C1C49855AD3F}"/>
                </a:ext>
              </a:extLst>
            </p:cNvPr>
            <p:cNvSpPr txBox="1">
              <a:spLocks noChangeArrowheads="1"/>
            </p:cNvSpPr>
            <p:nvPr/>
          </p:nvSpPr>
          <p:spPr bwMode="auto">
            <a:xfrm>
              <a:off x="2988" y="2123"/>
              <a:ext cx="618" cy="288"/>
            </a:xfrm>
            <a:prstGeom prst="rect">
              <a:avLst/>
            </a:prstGeom>
            <a:noFill/>
            <a:ln w="9525">
              <a:noFill/>
              <a:miter lim="800000"/>
              <a:headEnd/>
              <a:tailEnd/>
            </a:ln>
          </p:spPr>
          <p:txBody>
            <a:bodyPr wrap="none">
              <a:spAutoFit/>
            </a:bodyPr>
            <a:lstStyle/>
            <a:p>
              <a:r>
                <a:rPr lang="en-US" altLang="zh-CN" sz="2400" i="1">
                  <a:solidFill>
                    <a:srgbClr val="FF3300"/>
                  </a:solidFill>
                  <a:latin typeface="ISOCPEUR" pitchFamily="34" charset="0"/>
                  <a:ea typeface="宋体" pitchFamily="2" charset="-122"/>
                </a:rPr>
                <a:t>+0.024</a:t>
              </a:r>
              <a:endParaRPr lang="en-US" altLang="zh-CN" sz="2400">
                <a:solidFill>
                  <a:srgbClr val="FF3300"/>
                </a:solidFill>
                <a:latin typeface="ISOCPEUR" pitchFamily="34" charset="0"/>
                <a:ea typeface="宋体" pitchFamily="2" charset="-122"/>
              </a:endParaRPr>
            </a:p>
          </p:txBody>
        </p:sp>
        <p:sp>
          <p:nvSpPr>
            <p:cNvPr id="33" name="Text Box 24">
              <a:extLst>
                <a:ext uri="{FF2B5EF4-FFF2-40B4-BE49-F238E27FC236}">
                  <a16:creationId xmlns:a16="http://schemas.microsoft.com/office/drawing/2014/main" xmlns="" id="{2005C204-3650-49E3-BC1C-0A84F7FD5664}"/>
                </a:ext>
              </a:extLst>
            </p:cNvPr>
            <p:cNvSpPr txBox="1">
              <a:spLocks noChangeArrowheads="1"/>
            </p:cNvSpPr>
            <p:nvPr/>
          </p:nvSpPr>
          <p:spPr bwMode="auto">
            <a:xfrm>
              <a:off x="2988" y="2271"/>
              <a:ext cx="605" cy="288"/>
            </a:xfrm>
            <a:prstGeom prst="rect">
              <a:avLst/>
            </a:prstGeom>
            <a:noFill/>
            <a:ln w="9525">
              <a:noFill/>
              <a:miter lim="800000"/>
              <a:headEnd/>
              <a:tailEnd/>
            </a:ln>
          </p:spPr>
          <p:txBody>
            <a:bodyPr wrap="none">
              <a:spAutoFit/>
            </a:bodyPr>
            <a:lstStyle/>
            <a:p>
              <a:r>
                <a:rPr lang="en-US" altLang="zh-CN" sz="2400" i="1" dirty="0">
                  <a:solidFill>
                    <a:srgbClr val="FF3300"/>
                  </a:solidFill>
                  <a:latin typeface="ISOCPEUR" pitchFamily="34" charset="0"/>
                  <a:ea typeface="宋体" pitchFamily="2" charset="-122"/>
                </a:rPr>
                <a:t>+0.008</a:t>
              </a:r>
              <a:endParaRPr lang="en-US" altLang="zh-CN" sz="2400" dirty="0">
                <a:solidFill>
                  <a:srgbClr val="FF3300"/>
                </a:solidFill>
                <a:latin typeface="ISOCPEUR" pitchFamily="34" charset="0"/>
                <a:ea typeface="宋体" pitchFamily="2" charset="-122"/>
              </a:endParaRPr>
            </a:p>
          </p:txBody>
        </p:sp>
      </p:grpSp>
      <p:grpSp>
        <p:nvGrpSpPr>
          <p:cNvPr id="34" name="Group 11">
            <a:extLst>
              <a:ext uri="{FF2B5EF4-FFF2-40B4-BE49-F238E27FC236}">
                <a16:creationId xmlns:a16="http://schemas.microsoft.com/office/drawing/2014/main" xmlns="" id="{C963F988-0A19-4769-91EC-1492D3B256F4}"/>
              </a:ext>
            </a:extLst>
          </p:cNvPr>
          <p:cNvGrpSpPr>
            <a:grpSpLocks/>
          </p:cNvGrpSpPr>
          <p:nvPr/>
        </p:nvGrpSpPr>
        <p:grpSpPr bwMode="auto">
          <a:xfrm>
            <a:off x="6184938" y="3605304"/>
            <a:ext cx="1936750" cy="962025"/>
            <a:chOff x="3051" y="656"/>
            <a:chExt cx="1220" cy="465"/>
          </a:xfrm>
        </p:grpSpPr>
        <p:sp>
          <p:nvSpPr>
            <p:cNvPr id="35" name="Text Box 12">
              <a:extLst>
                <a:ext uri="{FF2B5EF4-FFF2-40B4-BE49-F238E27FC236}">
                  <a16:creationId xmlns:a16="http://schemas.microsoft.com/office/drawing/2014/main" xmlns="" id="{A594FFBB-355A-4827-B539-39D23690CFA7}"/>
                </a:ext>
              </a:extLst>
            </p:cNvPr>
            <p:cNvSpPr txBox="1">
              <a:spLocks noChangeArrowheads="1"/>
            </p:cNvSpPr>
            <p:nvPr/>
          </p:nvSpPr>
          <p:spPr bwMode="auto">
            <a:xfrm>
              <a:off x="3647" y="900"/>
              <a:ext cx="624" cy="221"/>
            </a:xfrm>
            <a:prstGeom prst="rect">
              <a:avLst/>
            </a:prstGeom>
            <a:noFill/>
            <a:ln w="9525">
              <a:noFill/>
              <a:miter lim="800000"/>
              <a:headEnd/>
              <a:tailEnd/>
            </a:ln>
          </p:spPr>
          <p:txBody>
            <a:bodyPr wrap="none">
              <a:spAutoFit/>
            </a:bodyPr>
            <a:lstStyle/>
            <a:p>
              <a:r>
                <a:rPr lang="en-US" altLang="zh-CN" sz="2400">
                  <a:solidFill>
                    <a:schemeClr val="tx1"/>
                  </a:solidFill>
                  <a:latin typeface="Times New Roman" pitchFamily="18" charset="0"/>
                  <a:ea typeface="宋体" pitchFamily="2" charset="-122"/>
                </a:rPr>
                <a:t>+</a:t>
              </a:r>
              <a:r>
                <a:rPr lang="en-US" altLang="zh-CN" sz="2400" i="1">
                  <a:solidFill>
                    <a:schemeClr val="tx1"/>
                  </a:solidFill>
                  <a:latin typeface="ISOCPEUR" pitchFamily="34" charset="0"/>
                  <a:ea typeface="宋体" pitchFamily="2" charset="-122"/>
                </a:rPr>
                <a:t>0.008</a:t>
              </a:r>
            </a:p>
          </p:txBody>
        </p:sp>
        <p:sp>
          <p:nvSpPr>
            <p:cNvPr id="36" name="Text Box 13">
              <a:extLst>
                <a:ext uri="{FF2B5EF4-FFF2-40B4-BE49-F238E27FC236}">
                  <a16:creationId xmlns:a16="http://schemas.microsoft.com/office/drawing/2014/main" xmlns="" id="{01CAEE4C-254C-4197-B541-012CCC31C2FA}"/>
                </a:ext>
              </a:extLst>
            </p:cNvPr>
            <p:cNvSpPr txBox="1">
              <a:spLocks noChangeArrowheads="1"/>
            </p:cNvSpPr>
            <p:nvPr/>
          </p:nvSpPr>
          <p:spPr bwMode="auto">
            <a:xfrm>
              <a:off x="3632" y="656"/>
              <a:ext cx="637" cy="221"/>
            </a:xfrm>
            <a:prstGeom prst="rect">
              <a:avLst/>
            </a:prstGeom>
            <a:noFill/>
            <a:ln w="9525">
              <a:noFill/>
              <a:miter lim="800000"/>
              <a:headEnd/>
              <a:tailEnd/>
            </a:ln>
          </p:spPr>
          <p:txBody>
            <a:bodyPr wrap="none">
              <a:spAutoFit/>
            </a:bodyPr>
            <a:lstStyle/>
            <a:p>
              <a:r>
                <a:rPr lang="en-US" altLang="zh-CN" sz="2400">
                  <a:solidFill>
                    <a:schemeClr val="tx1"/>
                  </a:solidFill>
                  <a:latin typeface="Times New Roman" pitchFamily="18" charset="0"/>
                  <a:ea typeface="宋体" pitchFamily="2" charset="-122"/>
                </a:rPr>
                <a:t>+</a:t>
              </a:r>
              <a:r>
                <a:rPr lang="en-US" altLang="zh-CN" sz="2400" i="1">
                  <a:solidFill>
                    <a:schemeClr val="tx1"/>
                  </a:solidFill>
                  <a:latin typeface="ISOCPEUR" pitchFamily="34" charset="0"/>
                  <a:ea typeface="宋体" pitchFamily="2" charset="-122"/>
                </a:rPr>
                <a:t>0.024</a:t>
              </a:r>
              <a:endParaRPr lang="en-US" altLang="zh-CN" sz="2400">
                <a:solidFill>
                  <a:schemeClr val="tx1"/>
                </a:solidFill>
                <a:latin typeface="ISOCPEUR" pitchFamily="34" charset="0"/>
                <a:ea typeface="宋体" pitchFamily="2" charset="-122"/>
              </a:endParaRPr>
            </a:p>
          </p:txBody>
        </p:sp>
        <p:sp>
          <p:nvSpPr>
            <p:cNvPr id="37" name="Rectangle 14">
              <a:extLst>
                <a:ext uri="{FF2B5EF4-FFF2-40B4-BE49-F238E27FC236}">
                  <a16:creationId xmlns:a16="http://schemas.microsoft.com/office/drawing/2014/main" xmlns="" id="{2173AEC6-45EA-4EF2-A27B-C12FCB10F2EB}"/>
                </a:ext>
              </a:extLst>
            </p:cNvPr>
            <p:cNvSpPr>
              <a:spLocks noChangeArrowheads="1"/>
            </p:cNvSpPr>
            <p:nvPr/>
          </p:nvSpPr>
          <p:spPr bwMode="auto">
            <a:xfrm>
              <a:off x="3051" y="800"/>
              <a:ext cx="615" cy="241"/>
            </a:xfrm>
            <a:prstGeom prst="rect">
              <a:avLst/>
            </a:prstGeom>
            <a:solidFill>
              <a:schemeClr val="accent5">
                <a:lumMod val="75000"/>
              </a:schemeClr>
            </a:solidFill>
            <a:ln w="9525">
              <a:solidFill>
                <a:schemeClr val="tx1"/>
              </a:solidFill>
              <a:miter lim="800000"/>
              <a:headEnd/>
              <a:tailEnd/>
            </a:ln>
          </p:spPr>
          <p:txBody>
            <a:bodyPr wrap="none" anchor="ctr"/>
            <a:lstStyle/>
            <a:p>
              <a:pPr algn="ctr">
                <a:defRPr/>
              </a:pPr>
              <a:endParaRPr lang="zh-CN" altLang="en-US" sz="2400"/>
            </a:p>
          </p:txBody>
        </p:sp>
      </p:grpSp>
      <p:grpSp>
        <p:nvGrpSpPr>
          <p:cNvPr id="38" name="Group 25">
            <a:extLst>
              <a:ext uri="{FF2B5EF4-FFF2-40B4-BE49-F238E27FC236}">
                <a16:creationId xmlns:a16="http://schemas.microsoft.com/office/drawing/2014/main" xmlns="" id="{40B63809-6E5C-4F63-BF00-EE03A97EB3A8}"/>
              </a:ext>
            </a:extLst>
          </p:cNvPr>
          <p:cNvGrpSpPr>
            <a:grpSpLocks/>
          </p:cNvGrpSpPr>
          <p:nvPr/>
        </p:nvGrpSpPr>
        <p:grpSpPr bwMode="auto">
          <a:xfrm>
            <a:off x="5168938" y="2802508"/>
            <a:ext cx="1744662" cy="698500"/>
            <a:chOff x="3863" y="2117"/>
            <a:chExt cx="1099" cy="440"/>
          </a:xfrm>
        </p:grpSpPr>
        <p:sp>
          <p:nvSpPr>
            <p:cNvPr id="39" name="Text Box 26">
              <a:extLst>
                <a:ext uri="{FF2B5EF4-FFF2-40B4-BE49-F238E27FC236}">
                  <a16:creationId xmlns:a16="http://schemas.microsoft.com/office/drawing/2014/main" xmlns="" id="{5F081B1D-613F-4ED7-B03F-787BEC483C4D}"/>
                </a:ext>
              </a:extLst>
            </p:cNvPr>
            <p:cNvSpPr txBox="1">
              <a:spLocks noChangeArrowheads="1"/>
            </p:cNvSpPr>
            <p:nvPr/>
          </p:nvSpPr>
          <p:spPr bwMode="auto">
            <a:xfrm>
              <a:off x="3863" y="2224"/>
              <a:ext cx="544" cy="291"/>
            </a:xfrm>
            <a:prstGeom prst="rect">
              <a:avLst/>
            </a:prstGeom>
            <a:noFill/>
            <a:ln w="9525">
              <a:noFill/>
              <a:miter lim="800000"/>
              <a:headEnd/>
              <a:tailEnd/>
            </a:ln>
          </p:spPr>
          <p:txBody>
            <a:bodyPr wrap="none">
              <a:spAutoFit/>
            </a:bodyPr>
            <a:lstStyle/>
            <a:p>
              <a:r>
                <a:rPr lang="en-US" altLang="zh-CN" sz="2400" i="1">
                  <a:solidFill>
                    <a:srgbClr val="FF3300"/>
                  </a:solidFill>
                  <a:latin typeface="ISOCP" pitchFamily="2" charset="0"/>
                  <a:ea typeface="宋体" pitchFamily="2" charset="-122"/>
                  <a:sym typeface="Symbol" pitchFamily="18" charset="2"/>
                </a:rPr>
                <a:t></a:t>
              </a:r>
              <a:r>
                <a:rPr lang="en-US" altLang="zh-CN" sz="2400" i="1">
                  <a:solidFill>
                    <a:srgbClr val="FF0000"/>
                  </a:solidFill>
                  <a:latin typeface="Times New Roman" pitchFamily="18" charset="0"/>
                  <a:ea typeface="宋体" pitchFamily="2" charset="-122"/>
                  <a:sym typeface="Symbol" pitchFamily="18" charset="2"/>
                </a:rPr>
                <a:t>  </a:t>
              </a:r>
              <a:r>
                <a:rPr lang="en-US" altLang="zh-CN" sz="2400" i="1">
                  <a:solidFill>
                    <a:srgbClr val="FF3300"/>
                  </a:solidFill>
                  <a:latin typeface="ISOCPEUR" pitchFamily="34" charset="0"/>
                  <a:ea typeface="宋体" pitchFamily="2" charset="-122"/>
                  <a:sym typeface="Symbol" pitchFamily="18" charset="2"/>
                </a:rPr>
                <a:t>50</a:t>
              </a:r>
              <a:endParaRPr lang="en-US" altLang="zh-CN" sz="2400">
                <a:solidFill>
                  <a:srgbClr val="FF3300"/>
                </a:solidFill>
                <a:latin typeface="ISOCPEUR" pitchFamily="34" charset="0"/>
                <a:ea typeface="宋体" pitchFamily="2" charset="-122"/>
              </a:endParaRPr>
            </a:p>
          </p:txBody>
        </p:sp>
        <p:sp>
          <p:nvSpPr>
            <p:cNvPr id="40" name="Text Box 27">
              <a:extLst>
                <a:ext uri="{FF2B5EF4-FFF2-40B4-BE49-F238E27FC236}">
                  <a16:creationId xmlns:a16="http://schemas.microsoft.com/office/drawing/2014/main" xmlns="" id="{E9128FF8-2F79-4611-929F-C256533CC21D}"/>
                </a:ext>
              </a:extLst>
            </p:cNvPr>
            <p:cNvSpPr txBox="1">
              <a:spLocks noChangeArrowheads="1"/>
            </p:cNvSpPr>
            <p:nvPr/>
          </p:nvSpPr>
          <p:spPr bwMode="auto">
            <a:xfrm>
              <a:off x="4357" y="2117"/>
              <a:ext cx="605" cy="288"/>
            </a:xfrm>
            <a:prstGeom prst="rect">
              <a:avLst/>
            </a:prstGeom>
            <a:noFill/>
            <a:ln w="9525">
              <a:noFill/>
              <a:miter lim="800000"/>
              <a:headEnd/>
              <a:tailEnd/>
            </a:ln>
          </p:spPr>
          <p:txBody>
            <a:bodyPr wrap="none">
              <a:spAutoFit/>
            </a:bodyPr>
            <a:lstStyle/>
            <a:p>
              <a:r>
                <a:rPr lang="en-US" altLang="zh-CN" sz="2400" i="1">
                  <a:solidFill>
                    <a:srgbClr val="FF3300"/>
                  </a:solidFill>
                  <a:latin typeface="ISOCPEUR" pitchFamily="34" charset="0"/>
                  <a:ea typeface="宋体" pitchFamily="2" charset="-122"/>
                </a:rPr>
                <a:t>-0.006</a:t>
              </a:r>
              <a:endParaRPr lang="en-US" altLang="zh-CN" sz="2400">
                <a:solidFill>
                  <a:srgbClr val="FF3300"/>
                </a:solidFill>
                <a:latin typeface="ISOCPEUR" pitchFamily="34" charset="0"/>
                <a:ea typeface="宋体" pitchFamily="2" charset="-122"/>
              </a:endParaRPr>
            </a:p>
          </p:txBody>
        </p:sp>
        <p:sp>
          <p:nvSpPr>
            <p:cNvPr id="41" name="Text Box 28">
              <a:extLst>
                <a:ext uri="{FF2B5EF4-FFF2-40B4-BE49-F238E27FC236}">
                  <a16:creationId xmlns:a16="http://schemas.microsoft.com/office/drawing/2014/main" xmlns="" id="{607E3F29-DB9A-4A5D-B8C3-F3202C6528C1}"/>
                </a:ext>
              </a:extLst>
            </p:cNvPr>
            <p:cNvSpPr txBox="1">
              <a:spLocks noChangeArrowheads="1"/>
            </p:cNvSpPr>
            <p:nvPr/>
          </p:nvSpPr>
          <p:spPr bwMode="auto">
            <a:xfrm>
              <a:off x="4357" y="2269"/>
              <a:ext cx="605" cy="288"/>
            </a:xfrm>
            <a:prstGeom prst="rect">
              <a:avLst/>
            </a:prstGeom>
            <a:noFill/>
            <a:ln w="9525">
              <a:noFill/>
              <a:miter lim="800000"/>
              <a:headEnd/>
              <a:tailEnd/>
            </a:ln>
          </p:spPr>
          <p:txBody>
            <a:bodyPr wrap="none">
              <a:spAutoFit/>
            </a:bodyPr>
            <a:lstStyle/>
            <a:p>
              <a:r>
                <a:rPr lang="en-US" altLang="zh-CN" sz="2400" i="1">
                  <a:solidFill>
                    <a:srgbClr val="FF3300"/>
                  </a:solidFill>
                  <a:latin typeface="ISOCPEUR" pitchFamily="34" charset="0"/>
                  <a:ea typeface="宋体" pitchFamily="2" charset="-122"/>
                </a:rPr>
                <a:t>-0.022</a:t>
              </a:r>
              <a:endParaRPr lang="en-US" altLang="zh-CN" sz="2400">
                <a:solidFill>
                  <a:srgbClr val="FF3300"/>
                </a:solidFill>
                <a:latin typeface="ISOCPEUR" pitchFamily="34" charset="0"/>
                <a:ea typeface="宋体" pitchFamily="2" charset="-122"/>
              </a:endParaRPr>
            </a:p>
          </p:txBody>
        </p:sp>
      </p:grpSp>
      <p:grpSp>
        <p:nvGrpSpPr>
          <p:cNvPr id="42" name="Group 15">
            <a:extLst>
              <a:ext uri="{FF2B5EF4-FFF2-40B4-BE49-F238E27FC236}">
                <a16:creationId xmlns:a16="http://schemas.microsoft.com/office/drawing/2014/main" xmlns="" id="{E993CDA7-F577-44DE-A0A0-470846823D4E}"/>
              </a:ext>
            </a:extLst>
          </p:cNvPr>
          <p:cNvGrpSpPr>
            <a:grpSpLocks/>
          </p:cNvGrpSpPr>
          <p:nvPr/>
        </p:nvGrpSpPr>
        <p:grpSpPr bwMode="auto">
          <a:xfrm>
            <a:off x="7547013" y="4573679"/>
            <a:ext cx="1878012" cy="936625"/>
            <a:chOff x="3618" y="1120"/>
            <a:chExt cx="1183" cy="590"/>
          </a:xfrm>
        </p:grpSpPr>
        <p:sp>
          <p:nvSpPr>
            <p:cNvPr id="43" name="Rectangle 16">
              <a:extLst>
                <a:ext uri="{FF2B5EF4-FFF2-40B4-BE49-F238E27FC236}">
                  <a16:creationId xmlns:a16="http://schemas.microsoft.com/office/drawing/2014/main" xmlns="" id="{0FA4D430-BCFF-4690-80D3-EEAF8BF535AA}"/>
                </a:ext>
              </a:extLst>
            </p:cNvPr>
            <p:cNvSpPr>
              <a:spLocks noChangeArrowheads="1"/>
            </p:cNvSpPr>
            <p:nvPr/>
          </p:nvSpPr>
          <p:spPr bwMode="auto">
            <a:xfrm>
              <a:off x="3618" y="1268"/>
              <a:ext cx="615" cy="316"/>
            </a:xfrm>
            <a:prstGeom prst="rect">
              <a:avLst/>
            </a:prstGeom>
            <a:solidFill>
              <a:srgbClr val="FFC000"/>
            </a:solidFill>
            <a:ln w="9525">
              <a:solidFill>
                <a:schemeClr val="tx1"/>
              </a:solidFill>
              <a:miter lim="800000"/>
              <a:headEnd/>
              <a:tailEnd/>
            </a:ln>
          </p:spPr>
          <p:txBody>
            <a:bodyPr wrap="none" anchor="ctr"/>
            <a:lstStyle/>
            <a:p>
              <a:pPr algn="ctr"/>
              <a:endParaRPr lang="zh-CN" altLang="en-US" sz="2400"/>
            </a:p>
          </p:txBody>
        </p:sp>
        <p:sp>
          <p:nvSpPr>
            <p:cNvPr id="44" name="Text Box 17">
              <a:extLst>
                <a:ext uri="{FF2B5EF4-FFF2-40B4-BE49-F238E27FC236}">
                  <a16:creationId xmlns:a16="http://schemas.microsoft.com/office/drawing/2014/main" xmlns="" id="{3FB7BF3D-ED8D-4C93-9969-A0471F4AB86F}"/>
                </a:ext>
              </a:extLst>
            </p:cNvPr>
            <p:cNvSpPr txBox="1">
              <a:spLocks noChangeArrowheads="1"/>
            </p:cNvSpPr>
            <p:nvPr/>
          </p:nvSpPr>
          <p:spPr bwMode="auto">
            <a:xfrm>
              <a:off x="4199" y="1120"/>
              <a:ext cx="602" cy="288"/>
            </a:xfrm>
            <a:prstGeom prst="rect">
              <a:avLst/>
            </a:prstGeom>
            <a:noFill/>
            <a:ln w="9525">
              <a:noFill/>
              <a:miter lim="800000"/>
              <a:headEnd/>
              <a:tailEnd/>
            </a:ln>
          </p:spPr>
          <p:txBody>
            <a:bodyPr wrap="none">
              <a:spAutoFit/>
            </a:bodyPr>
            <a:lstStyle/>
            <a:p>
              <a:r>
                <a:rPr lang="en-US" altLang="zh-CN" sz="2400">
                  <a:solidFill>
                    <a:schemeClr val="tx1"/>
                  </a:solidFill>
                  <a:latin typeface="ISOCPEUR" pitchFamily="34" charset="0"/>
                  <a:ea typeface="宋体" pitchFamily="2" charset="-122"/>
                </a:rPr>
                <a:t>-</a:t>
              </a:r>
              <a:r>
                <a:rPr lang="en-US" altLang="zh-CN" sz="2400" i="1">
                  <a:solidFill>
                    <a:schemeClr val="tx1"/>
                  </a:solidFill>
                  <a:latin typeface="ISOCPEUR" pitchFamily="34" charset="0"/>
                  <a:ea typeface="宋体" pitchFamily="2" charset="-122"/>
                </a:rPr>
                <a:t>0.006</a:t>
              </a:r>
              <a:endParaRPr lang="en-US" altLang="zh-CN" sz="2400">
                <a:solidFill>
                  <a:schemeClr val="tx1"/>
                </a:solidFill>
                <a:latin typeface="ISOCPEUR" pitchFamily="34" charset="0"/>
                <a:ea typeface="宋体" pitchFamily="2" charset="-122"/>
              </a:endParaRPr>
            </a:p>
          </p:txBody>
        </p:sp>
        <p:sp>
          <p:nvSpPr>
            <p:cNvPr id="45" name="Text Box 18">
              <a:extLst>
                <a:ext uri="{FF2B5EF4-FFF2-40B4-BE49-F238E27FC236}">
                  <a16:creationId xmlns:a16="http://schemas.microsoft.com/office/drawing/2014/main" xmlns="" id="{C4E7C58E-B824-4C76-A2EF-EF4AB61DC901}"/>
                </a:ext>
              </a:extLst>
            </p:cNvPr>
            <p:cNvSpPr txBox="1">
              <a:spLocks noChangeArrowheads="1"/>
            </p:cNvSpPr>
            <p:nvPr/>
          </p:nvSpPr>
          <p:spPr bwMode="auto">
            <a:xfrm>
              <a:off x="4199" y="1422"/>
              <a:ext cx="602" cy="288"/>
            </a:xfrm>
            <a:prstGeom prst="rect">
              <a:avLst/>
            </a:prstGeom>
            <a:noFill/>
            <a:ln w="9525">
              <a:noFill/>
              <a:miter lim="800000"/>
              <a:headEnd/>
              <a:tailEnd/>
            </a:ln>
          </p:spPr>
          <p:txBody>
            <a:bodyPr wrap="none">
              <a:spAutoFit/>
            </a:bodyPr>
            <a:lstStyle/>
            <a:p>
              <a:r>
                <a:rPr lang="en-US" altLang="zh-CN" sz="2400">
                  <a:solidFill>
                    <a:schemeClr val="tx1"/>
                  </a:solidFill>
                  <a:latin typeface="ISOCPEUR" pitchFamily="34" charset="0"/>
                  <a:ea typeface="宋体" pitchFamily="2" charset="-122"/>
                </a:rPr>
                <a:t>-</a:t>
              </a:r>
              <a:r>
                <a:rPr lang="en-US" altLang="zh-CN" sz="2400" i="1">
                  <a:solidFill>
                    <a:schemeClr val="tx1"/>
                  </a:solidFill>
                  <a:latin typeface="ISOCPEUR" pitchFamily="34" charset="0"/>
                  <a:ea typeface="宋体" pitchFamily="2" charset="-122"/>
                </a:rPr>
                <a:t>0.022</a:t>
              </a:r>
              <a:endParaRPr lang="en-US" altLang="zh-CN" sz="2400">
                <a:solidFill>
                  <a:schemeClr val="tx1"/>
                </a:solidFill>
                <a:latin typeface="ISOCPEUR" pitchFamily="34" charset="0"/>
                <a:ea typeface="宋体" pitchFamily="2" charset="-122"/>
              </a:endParaRPr>
            </a:p>
          </p:txBody>
        </p:sp>
      </p:grpSp>
      <p:sp>
        <p:nvSpPr>
          <p:cNvPr id="46" name="Text Box 20">
            <a:extLst>
              <a:ext uri="{FF2B5EF4-FFF2-40B4-BE49-F238E27FC236}">
                <a16:creationId xmlns:a16="http://schemas.microsoft.com/office/drawing/2014/main" xmlns="" id="{C603686B-2DA6-440E-83C0-181DE421AE19}"/>
              </a:ext>
            </a:extLst>
          </p:cNvPr>
          <p:cNvSpPr txBox="1">
            <a:spLocks noChangeArrowheads="1"/>
          </p:cNvSpPr>
          <p:nvPr/>
        </p:nvSpPr>
        <p:spPr bwMode="auto">
          <a:xfrm>
            <a:off x="1418490" y="6021288"/>
            <a:ext cx="9936744" cy="461665"/>
          </a:xfrm>
          <a:prstGeom prst="rect">
            <a:avLst/>
          </a:prstGeom>
          <a:noFill/>
          <a:ln w="9525">
            <a:noFill/>
            <a:miter lim="800000"/>
            <a:headEnd/>
            <a:tailEnd/>
          </a:ln>
        </p:spPr>
        <p:txBody>
          <a:bodyPr wrap="square">
            <a:spAutoFit/>
          </a:bodyPr>
          <a:lstStyle/>
          <a:p>
            <a:pPr algn="ctr"/>
            <a:r>
              <a:rPr lang="en-US" altLang="zh-CN" sz="2400" b="1" dirty="0">
                <a:solidFill>
                  <a:schemeClr val="tx1"/>
                </a:solidFill>
                <a:latin typeface="宋体" pitchFamily="2" charset="-122"/>
                <a:ea typeface="宋体" pitchFamily="2" charset="-122"/>
              </a:rPr>
              <a:t> </a:t>
            </a:r>
            <a:r>
              <a:rPr lang="zh-CN" altLang="en-US" sz="2400" b="1" dirty="0">
                <a:solidFill>
                  <a:schemeClr val="tx1"/>
                </a:solidFill>
                <a:latin typeface="宋体" pitchFamily="2" charset="-122"/>
                <a:ea typeface="宋体" pitchFamily="2" charset="-122"/>
              </a:rPr>
              <a:t>公差带图可以直观地表示出</a:t>
            </a:r>
            <a:r>
              <a:rPr lang="zh-CN" altLang="en-US" sz="2400" b="1" dirty="0">
                <a:solidFill>
                  <a:srgbClr val="FF3300"/>
                </a:solidFill>
                <a:latin typeface="宋体" pitchFamily="2" charset="-122"/>
                <a:ea typeface="宋体" pitchFamily="2" charset="-122"/>
              </a:rPr>
              <a:t>公差的大小及公差带相对于零线的位置</a:t>
            </a:r>
            <a:r>
              <a:rPr lang="zh-CN" altLang="en-US" sz="2400" b="1" dirty="0">
                <a:solidFill>
                  <a:schemeClr val="tx1"/>
                </a:solidFill>
                <a:latin typeface="宋体" pitchFamily="2" charset="-122"/>
                <a:ea typeface="宋体" pitchFamily="2" charset="-122"/>
              </a:rPr>
              <a:t>。</a:t>
            </a:r>
          </a:p>
        </p:txBody>
      </p:sp>
      <p:sp>
        <p:nvSpPr>
          <p:cNvPr id="47" name="Text Box 6">
            <a:extLst>
              <a:ext uri="{FF2B5EF4-FFF2-40B4-BE49-F238E27FC236}">
                <a16:creationId xmlns:a16="http://schemas.microsoft.com/office/drawing/2014/main" xmlns="" id="{35277DF2-EECB-404B-A37C-D8911E38081C}"/>
              </a:ext>
            </a:extLst>
          </p:cNvPr>
          <p:cNvSpPr txBox="1">
            <a:spLocks noChangeArrowheads="1"/>
          </p:cNvSpPr>
          <p:nvPr/>
        </p:nvSpPr>
        <p:spPr bwMode="auto">
          <a:xfrm>
            <a:off x="1042989" y="948211"/>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sp>
        <p:nvSpPr>
          <p:cNvPr id="48" name="Text Box 8">
            <a:extLst>
              <a:ext uri="{FF2B5EF4-FFF2-40B4-BE49-F238E27FC236}">
                <a16:creationId xmlns:a16="http://schemas.microsoft.com/office/drawing/2014/main" xmlns="" id="{C6318694-48FA-405E-987B-22645E000655}"/>
              </a:ext>
            </a:extLst>
          </p:cNvPr>
          <p:cNvSpPr txBox="1">
            <a:spLocks noChangeArrowheads="1"/>
          </p:cNvSpPr>
          <p:nvPr/>
        </p:nvSpPr>
        <p:spPr bwMode="auto">
          <a:xfrm>
            <a:off x="1342233" y="1394941"/>
            <a:ext cx="3194050" cy="461963"/>
          </a:xfrm>
          <a:prstGeom prst="rect">
            <a:avLst/>
          </a:prstGeom>
          <a:noFill/>
          <a:ln w="9525">
            <a:noFill/>
            <a:miter lim="800000"/>
            <a:headEnd/>
            <a:tailEnd/>
          </a:ln>
        </p:spPr>
        <p:txBody>
          <a:bodyPr>
            <a:spAutoFit/>
          </a:bodyPr>
          <a:lstStyle/>
          <a:p>
            <a:r>
              <a:rPr lang="en-US" altLang="zh-CN" sz="2400" b="1" dirty="0">
                <a:solidFill>
                  <a:srgbClr val="0070C0"/>
                </a:solidFill>
                <a:latin typeface="宋体" pitchFamily="2" charset="-122"/>
                <a:ea typeface="宋体" pitchFamily="2" charset="-122"/>
              </a:rPr>
              <a:t>●</a:t>
            </a:r>
            <a:r>
              <a:rPr lang="zh-CN" altLang="en-US" sz="2400" b="1" dirty="0">
                <a:solidFill>
                  <a:srgbClr val="0070C0"/>
                </a:solidFill>
                <a:latin typeface="宋体" pitchFamily="2" charset="-122"/>
                <a:cs typeface="Times New Roman" pitchFamily="18" charset="0"/>
              </a:rPr>
              <a:t>相关术语和定义</a:t>
            </a:r>
            <a:endParaRPr lang="zh-CN" altLang="en-US" sz="2400" b="1" dirty="0">
              <a:solidFill>
                <a:srgbClr val="0070C0"/>
              </a:solidFill>
              <a:latin typeface="宋体" pitchFamily="2" charset="-122"/>
              <a:ea typeface="宋体" pitchFamily="2" charset="-122"/>
            </a:endParaRPr>
          </a:p>
        </p:txBody>
      </p:sp>
    </p:spTree>
    <p:extLst>
      <p:ext uri="{BB962C8B-B14F-4D97-AF65-F5344CB8AC3E}">
        <p14:creationId xmlns:p14="http://schemas.microsoft.com/office/powerpoint/2010/main" val="24039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lide(from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wipe(up)">
                                      <p:cBhvr>
                                        <p:cTn id="22" dur="75"/>
                                        <p:tgtEl>
                                          <p:spTgt spid="22">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par>
                          <p:cTn id="23" fill="hold">
                            <p:stCondLst>
                              <p:cond delay="450"/>
                            </p:stCondLst>
                            <p:childTnLst>
                              <p:par>
                                <p:cTn id="24" presetID="2" presetClass="entr" presetSubtype="8"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fill="hold"/>
                                        <p:tgtEl>
                                          <p:spTgt spid="24"/>
                                        </p:tgtEl>
                                        <p:attrNameLst>
                                          <p:attrName>ppt_x</p:attrName>
                                        </p:attrNameLst>
                                      </p:cBhvr>
                                      <p:tavLst>
                                        <p:tav tm="0">
                                          <p:val>
                                            <p:strVal val="0-#ppt_w/2"/>
                                          </p:val>
                                        </p:tav>
                                        <p:tav tm="100000">
                                          <p:val>
                                            <p:strVal val="#ppt_x"/>
                                          </p:val>
                                        </p:tav>
                                      </p:tavLst>
                                    </p:anim>
                                    <p:anim calcmode="lin" valueType="num">
                                      <p:cBhvr additive="base">
                                        <p:cTn id="27" dur="500" fill="hold"/>
                                        <p:tgtEl>
                                          <p:spTgt spid="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WHOOSH.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wipe(up)">
                                      <p:cBhvr>
                                        <p:cTn id="32" dur="75"/>
                                        <p:tgtEl>
                                          <p:spTgt spid="2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par>
                          <p:cTn id="33" fill="hold">
                            <p:stCondLst>
                              <p:cond delay="450"/>
                            </p:stCondLst>
                            <p:childTnLst>
                              <p:par>
                                <p:cTn id="34" presetID="2" presetClass="entr" presetSubtype="8" fill="hold" nodeType="after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0-#ppt_w/2"/>
                                          </p:val>
                                        </p:tav>
                                        <p:tav tm="100000">
                                          <p:val>
                                            <p:strVal val="#ppt_x"/>
                                          </p:val>
                                        </p:tav>
                                      </p:tavLst>
                                    </p:anim>
                                    <p:anim calcmode="lin" valueType="num">
                                      <p:cBhvr additive="base">
                                        <p:cTn id="37" dur="500" fill="hold"/>
                                        <p:tgtEl>
                                          <p:spTgt spid="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WHOOSH.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0-#ppt_w/2"/>
                                          </p:val>
                                        </p:tav>
                                        <p:tav tm="100000">
                                          <p:val>
                                            <p:strVal val="#ppt_x"/>
                                          </p:val>
                                        </p:tav>
                                      </p:tavLst>
                                    </p:anim>
                                    <p:anim calcmode="lin" valueType="num">
                                      <p:cBhvr additive="base">
                                        <p:cTn id="43" dur="500" fill="hold"/>
                                        <p:tgtEl>
                                          <p:spTgt spid="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WHOOSH.WAV"/>
                                        </p:tgtEl>
                                      </p:cMediaNode>
                                    </p:audio>
                                  </p:sub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left)">
                                      <p:cBhvr>
                                        <p:cTn id="48" dur="500"/>
                                        <p:tgtEl>
                                          <p:spTgt spid="30"/>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slide(fromBottom)">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wipe(left)">
                                      <p:cBhvr>
                                        <p:cTn id="58" dur="500"/>
                                        <p:tgtEl>
                                          <p:spTgt spid="38"/>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42"/>
                                        </p:tgtEl>
                                        <p:attrNameLst>
                                          <p:attrName>style.visibility</p:attrName>
                                        </p:attrNameLst>
                                      </p:cBhvr>
                                      <p:to>
                                        <p:strVal val="visible"/>
                                      </p:to>
                                    </p:set>
                                    <p:anim calcmode="lin" valueType="num">
                                      <p:cBhvr additive="base">
                                        <p:cTn id="63" dur="500" fill="hold"/>
                                        <p:tgtEl>
                                          <p:spTgt spid="42"/>
                                        </p:tgtEl>
                                        <p:attrNameLst>
                                          <p:attrName>ppt_x</p:attrName>
                                        </p:attrNameLst>
                                      </p:cBhvr>
                                      <p:tavLst>
                                        <p:tav tm="0">
                                          <p:val>
                                            <p:strVal val="1+#ppt_w/2"/>
                                          </p:val>
                                        </p:tav>
                                        <p:tav tm="100000">
                                          <p:val>
                                            <p:strVal val="#ppt_x"/>
                                          </p:val>
                                        </p:tav>
                                      </p:tavLst>
                                    </p:anim>
                                    <p:anim calcmode="lin" valueType="num">
                                      <p:cBhvr additive="base">
                                        <p:cTn id="64"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46"/>
                                        </p:tgtEl>
                                        <p:attrNameLst>
                                          <p:attrName>style.visibility</p:attrName>
                                        </p:attrNameLst>
                                      </p:cBhvr>
                                      <p:to>
                                        <p:strVal val="visible"/>
                                      </p:to>
                                    </p:set>
                                    <p:anim calcmode="lin" valueType="num">
                                      <p:cBhvr additive="base">
                                        <p:cTn id="69" dur="500" fill="hold"/>
                                        <p:tgtEl>
                                          <p:spTgt spid="46"/>
                                        </p:tgtEl>
                                        <p:attrNameLst>
                                          <p:attrName>ppt_x</p:attrName>
                                        </p:attrNameLst>
                                      </p:cBhvr>
                                      <p:tavLst>
                                        <p:tav tm="0">
                                          <p:val>
                                            <p:strVal val="#ppt_x"/>
                                          </p:val>
                                        </p:tav>
                                        <p:tav tm="100000">
                                          <p:val>
                                            <p:strVal val="#ppt_x"/>
                                          </p:val>
                                        </p:tav>
                                      </p:tavLst>
                                    </p:anim>
                                    <p:anim calcmode="lin" valueType="num">
                                      <p:cBhvr additive="base">
                                        <p:cTn id="7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build="p" autoUpdateAnimBg="0"/>
      <p:bldP spid="23" grpId="0" build="p" autoUpdateAnimBg="0"/>
      <p:bldP spid="4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xmlns="" id="{34B4350B-2D82-449A-BEF7-64E8D423DF50}"/>
              </a:ext>
            </a:extLst>
          </p:cNvPr>
          <p:cNvSpPr txBox="1">
            <a:spLocks noChangeArrowheads="1"/>
          </p:cNvSpPr>
          <p:nvPr/>
        </p:nvSpPr>
        <p:spPr bwMode="auto">
          <a:xfrm>
            <a:off x="3719736" y="224644"/>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3" name="Text Box 6">
            <a:extLst>
              <a:ext uri="{FF2B5EF4-FFF2-40B4-BE49-F238E27FC236}">
                <a16:creationId xmlns:a16="http://schemas.microsoft.com/office/drawing/2014/main" xmlns="" id="{29CFA904-B0E9-49CB-BA2C-7077D2AA0BF3}"/>
              </a:ext>
            </a:extLst>
          </p:cNvPr>
          <p:cNvSpPr txBox="1">
            <a:spLocks noChangeArrowheads="1"/>
          </p:cNvSpPr>
          <p:nvPr/>
        </p:nvSpPr>
        <p:spPr bwMode="auto">
          <a:xfrm>
            <a:off x="969391" y="844365"/>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sp>
        <p:nvSpPr>
          <p:cNvPr id="4" name="Text Box 20">
            <a:extLst>
              <a:ext uri="{FF2B5EF4-FFF2-40B4-BE49-F238E27FC236}">
                <a16:creationId xmlns:a16="http://schemas.microsoft.com/office/drawing/2014/main" xmlns="" id="{24730F56-9177-4256-A63C-B2F1D43C67D4}"/>
              </a:ext>
            </a:extLst>
          </p:cNvPr>
          <p:cNvSpPr txBox="1">
            <a:spLocks noChangeArrowheads="1"/>
          </p:cNvSpPr>
          <p:nvPr/>
        </p:nvSpPr>
        <p:spPr bwMode="auto">
          <a:xfrm>
            <a:off x="969391" y="1360175"/>
            <a:ext cx="3431045" cy="463846"/>
          </a:xfrm>
          <a:prstGeom prst="rect">
            <a:avLst/>
          </a:prstGeom>
          <a:noFill/>
          <a:ln w="12700">
            <a:noFill/>
            <a:miter lim="800000"/>
            <a:headEnd type="none" w="sm" len="lg"/>
            <a:tailEnd type="none" w="sm" len="lg"/>
          </a:ln>
        </p:spPr>
        <p:txBody>
          <a:bodyPr wrap="none" lIns="90000" tIns="46800" rIns="90000" bIns="46800" anchor="ctr">
            <a:spAutoFit/>
          </a:bodyPr>
          <a:lstStyle/>
          <a:p>
            <a:r>
              <a:rPr lang="zh-CN" altLang="en-US" sz="2400" b="1" dirty="0">
                <a:solidFill>
                  <a:srgbClr val="0070C0"/>
                </a:solidFill>
                <a:latin typeface="宋体" pitchFamily="2" charset="-122"/>
                <a:ea typeface="宋体" pitchFamily="2" charset="-122"/>
              </a:rPr>
              <a:t>● 标准公差和基本偏差</a:t>
            </a:r>
          </a:p>
        </p:txBody>
      </p:sp>
      <p:sp>
        <p:nvSpPr>
          <p:cNvPr id="5" name="Text Box 21">
            <a:extLst>
              <a:ext uri="{FF2B5EF4-FFF2-40B4-BE49-F238E27FC236}">
                <a16:creationId xmlns:a16="http://schemas.microsoft.com/office/drawing/2014/main" xmlns="" id="{ECCEAF78-54E7-439B-9485-652AB05F0EB3}"/>
              </a:ext>
            </a:extLst>
          </p:cNvPr>
          <p:cNvSpPr txBox="1">
            <a:spLocks noChangeArrowheads="1"/>
          </p:cNvSpPr>
          <p:nvPr/>
        </p:nvSpPr>
        <p:spPr bwMode="auto">
          <a:xfrm>
            <a:off x="1036162" y="1867552"/>
            <a:ext cx="2368550" cy="463550"/>
          </a:xfrm>
          <a:prstGeom prst="rect">
            <a:avLst/>
          </a:prstGeom>
          <a:noFill/>
          <a:ln w="12700">
            <a:noFill/>
            <a:miter lim="800000"/>
            <a:headEnd type="none" w="sm" len="lg"/>
            <a:tailEnd type="none" w="sm" len="lg"/>
          </a:ln>
        </p:spPr>
        <p:txBody>
          <a:bodyPr lIns="90000" tIns="46800" rIns="90000" bIns="46800" anchor="ctr">
            <a:spAutoFit/>
          </a:bodyPr>
          <a:lstStyle/>
          <a:p>
            <a:r>
              <a:rPr lang="zh-CN" altLang="en-US" sz="2400" b="1" dirty="0">
                <a:solidFill>
                  <a:srgbClr val="FF3300"/>
                </a:solidFill>
                <a:latin typeface="宋体" pitchFamily="2" charset="-122"/>
                <a:ea typeface="宋体" pitchFamily="2" charset="-122"/>
              </a:rPr>
              <a:t>☆标准公差：</a:t>
            </a:r>
          </a:p>
        </p:txBody>
      </p:sp>
      <p:sp>
        <p:nvSpPr>
          <p:cNvPr id="6" name="Text Box 22">
            <a:extLst>
              <a:ext uri="{FF2B5EF4-FFF2-40B4-BE49-F238E27FC236}">
                <a16:creationId xmlns:a16="http://schemas.microsoft.com/office/drawing/2014/main" xmlns="" id="{DFDAC4E4-EC26-461C-9832-C122608B47E0}"/>
              </a:ext>
            </a:extLst>
          </p:cNvPr>
          <p:cNvSpPr txBox="1">
            <a:spLocks noChangeArrowheads="1"/>
          </p:cNvSpPr>
          <p:nvPr/>
        </p:nvSpPr>
        <p:spPr bwMode="auto">
          <a:xfrm>
            <a:off x="1667508" y="2344879"/>
            <a:ext cx="8467290" cy="833178"/>
          </a:xfrm>
          <a:prstGeom prst="rect">
            <a:avLst/>
          </a:prstGeom>
          <a:noFill/>
          <a:ln w="12700">
            <a:noFill/>
            <a:miter lim="800000"/>
            <a:headEnd type="none" w="sm" len="lg"/>
            <a:tailEnd type="none" w="sm" len="lg"/>
          </a:ln>
        </p:spPr>
        <p:txBody>
          <a:bodyPr wrap="square" lIns="90000" tIns="46800" rIns="90000" bIns="46800" anchor="ctr">
            <a:spAutoFit/>
          </a:bodyPr>
          <a:lstStyle/>
          <a:p>
            <a:r>
              <a:rPr lang="zh-CN" altLang="en-US" sz="2400" dirty="0">
                <a:solidFill>
                  <a:srgbClr val="FF3300"/>
                </a:solidFill>
                <a:latin typeface="宋体" pitchFamily="2" charset="-122"/>
                <a:ea typeface="宋体" pitchFamily="2" charset="-122"/>
              </a:rPr>
              <a:t>标准公差等级代号</a:t>
            </a:r>
            <a:r>
              <a:rPr lang="en-US" altLang="zh-CN" sz="2400" dirty="0">
                <a:solidFill>
                  <a:srgbClr val="FF3300"/>
                </a:solidFill>
                <a:latin typeface="宋体" pitchFamily="2" charset="-122"/>
                <a:ea typeface="宋体" pitchFamily="2" charset="-122"/>
              </a:rPr>
              <a:t>:IT  </a:t>
            </a:r>
            <a:r>
              <a:rPr lang="zh-CN" altLang="en-US" sz="2400" dirty="0">
                <a:solidFill>
                  <a:schemeClr val="tx1"/>
                </a:solidFill>
                <a:latin typeface="宋体" pitchFamily="2" charset="-122"/>
                <a:ea typeface="宋体" pitchFamily="2" charset="-122"/>
              </a:rPr>
              <a:t>共</a:t>
            </a:r>
            <a:r>
              <a:rPr lang="en-US" altLang="zh-CN" sz="2400" dirty="0">
                <a:solidFill>
                  <a:schemeClr val="tx1"/>
                </a:solidFill>
                <a:latin typeface="宋体" pitchFamily="2" charset="-122"/>
                <a:ea typeface="宋体" pitchFamily="2" charset="-122"/>
              </a:rPr>
              <a:t>20</a:t>
            </a:r>
            <a:r>
              <a:rPr lang="zh-CN" altLang="en-US" sz="2400" dirty="0">
                <a:solidFill>
                  <a:schemeClr val="tx1"/>
                </a:solidFill>
                <a:latin typeface="宋体" pitchFamily="2" charset="-122"/>
                <a:ea typeface="宋体" pitchFamily="2" charset="-122"/>
              </a:rPr>
              <a:t>个等级：</a:t>
            </a:r>
            <a:r>
              <a:rPr lang="en-US" altLang="zh-CN" sz="2400" dirty="0">
                <a:solidFill>
                  <a:schemeClr val="tx1"/>
                </a:solidFill>
                <a:latin typeface="宋体" pitchFamily="2" charset="-122"/>
                <a:ea typeface="宋体" pitchFamily="2" charset="-122"/>
              </a:rPr>
              <a:t>IT01</a:t>
            </a:r>
            <a:r>
              <a:rPr lang="zh-CN" altLang="en-US" sz="2400" dirty="0">
                <a:solidFill>
                  <a:schemeClr val="tx1"/>
                </a:solidFill>
                <a:latin typeface="宋体" pitchFamily="2" charset="-122"/>
                <a:ea typeface="宋体" pitchFamily="2" charset="-122"/>
              </a:rPr>
              <a:t>、</a:t>
            </a:r>
            <a:r>
              <a:rPr lang="en-US" altLang="zh-CN" sz="2400" dirty="0">
                <a:solidFill>
                  <a:schemeClr val="tx1"/>
                </a:solidFill>
                <a:latin typeface="宋体" pitchFamily="2" charset="-122"/>
                <a:ea typeface="宋体" pitchFamily="2" charset="-122"/>
              </a:rPr>
              <a:t>IT0</a:t>
            </a:r>
            <a:r>
              <a:rPr lang="zh-CN" altLang="en-US" sz="2400" dirty="0">
                <a:solidFill>
                  <a:schemeClr val="tx1"/>
                </a:solidFill>
                <a:latin typeface="宋体" pitchFamily="2" charset="-122"/>
                <a:ea typeface="宋体" pitchFamily="2" charset="-122"/>
              </a:rPr>
              <a:t>、</a:t>
            </a:r>
            <a:r>
              <a:rPr lang="en-US" altLang="zh-CN" sz="2400" dirty="0">
                <a:solidFill>
                  <a:schemeClr val="tx1"/>
                </a:solidFill>
                <a:latin typeface="宋体" pitchFamily="2" charset="-122"/>
                <a:ea typeface="宋体" pitchFamily="2" charset="-122"/>
              </a:rPr>
              <a:t>IT1</a:t>
            </a:r>
            <a:r>
              <a:rPr lang="zh-CN" altLang="en-US" sz="2400" dirty="0">
                <a:solidFill>
                  <a:schemeClr val="tx1"/>
                </a:solidFill>
                <a:latin typeface="宋体" pitchFamily="2" charset="-122"/>
                <a:ea typeface="宋体" pitchFamily="2" charset="-122"/>
              </a:rPr>
              <a:t>～</a:t>
            </a:r>
            <a:r>
              <a:rPr lang="en-US" altLang="zh-CN" sz="2400" dirty="0">
                <a:solidFill>
                  <a:schemeClr val="tx1"/>
                </a:solidFill>
                <a:latin typeface="宋体" pitchFamily="2" charset="-122"/>
                <a:ea typeface="宋体" pitchFamily="2" charset="-122"/>
              </a:rPr>
              <a:t>IT18,</a:t>
            </a:r>
          </a:p>
          <a:p>
            <a:pPr algn="ctr"/>
            <a:r>
              <a:rPr lang="zh-CN" altLang="en-US" sz="2400" dirty="0">
                <a:solidFill>
                  <a:schemeClr val="tx1"/>
                </a:solidFill>
                <a:latin typeface="宋体" pitchFamily="2" charset="-122"/>
                <a:ea typeface="宋体" pitchFamily="2" charset="-122"/>
              </a:rPr>
              <a:t>值越大精确程度越低。</a:t>
            </a:r>
            <a:endParaRPr lang="en-US" altLang="zh-CN" sz="2400" dirty="0">
              <a:solidFill>
                <a:schemeClr val="tx1"/>
              </a:solidFill>
              <a:latin typeface="宋体" pitchFamily="2" charset="-122"/>
              <a:ea typeface="宋体" pitchFamily="2" charset="-122"/>
            </a:endParaRPr>
          </a:p>
        </p:txBody>
      </p:sp>
      <p:sp>
        <p:nvSpPr>
          <p:cNvPr id="7" name="Text Box 23">
            <a:extLst>
              <a:ext uri="{FF2B5EF4-FFF2-40B4-BE49-F238E27FC236}">
                <a16:creationId xmlns:a16="http://schemas.microsoft.com/office/drawing/2014/main" xmlns="" id="{DD3E2223-F16B-42C3-92CF-1721742001C1}"/>
              </a:ext>
            </a:extLst>
          </p:cNvPr>
          <p:cNvSpPr txBox="1">
            <a:spLocks noChangeArrowheads="1"/>
          </p:cNvSpPr>
          <p:nvPr/>
        </p:nvSpPr>
        <p:spPr bwMode="auto">
          <a:xfrm>
            <a:off x="4857974" y="2745812"/>
            <a:ext cx="180975" cy="463550"/>
          </a:xfrm>
          <a:prstGeom prst="rect">
            <a:avLst/>
          </a:prstGeom>
          <a:noFill/>
          <a:ln w="12700">
            <a:noFill/>
            <a:miter lim="800000"/>
            <a:headEnd type="none" w="sm" len="lg"/>
            <a:tailEnd type="none" w="sm" len="lg"/>
          </a:ln>
        </p:spPr>
        <p:txBody>
          <a:bodyPr wrap="none" lIns="90000" tIns="46800" rIns="90000" bIns="46800" anchor="ctr">
            <a:spAutoFit/>
          </a:bodyPr>
          <a:lstStyle/>
          <a:p>
            <a:endParaRPr lang="zh-CN" altLang="zh-CN" sz="2400">
              <a:solidFill>
                <a:schemeClr val="tx1"/>
              </a:solidFill>
              <a:latin typeface="Times New Roman" pitchFamily="18" charset="0"/>
              <a:ea typeface="宋体" pitchFamily="2" charset="-122"/>
            </a:endParaRPr>
          </a:p>
        </p:txBody>
      </p:sp>
      <p:sp>
        <p:nvSpPr>
          <p:cNvPr id="8" name="Text Box 24">
            <a:extLst>
              <a:ext uri="{FF2B5EF4-FFF2-40B4-BE49-F238E27FC236}">
                <a16:creationId xmlns:a16="http://schemas.microsoft.com/office/drawing/2014/main" xmlns="" id="{524CD9EE-5C8C-49F1-AD61-E03C6304DDF9}"/>
              </a:ext>
            </a:extLst>
          </p:cNvPr>
          <p:cNvSpPr txBox="1">
            <a:spLocks noChangeArrowheads="1"/>
          </p:cNvSpPr>
          <p:nvPr/>
        </p:nvSpPr>
        <p:spPr bwMode="auto">
          <a:xfrm>
            <a:off x="7502196" y="1865176"/>
            <a:ext cx="4195677" cy="463846"/>
          </a:xfrm>
          <a:prstGeom prst="rect">
            <a:avLst/>
          </a:prstGeom>
          <a:noFill/>
          <a:ln w="12700">
            <a:noFill/>
            <a:miter lim="800000"/>
            <a:headEnd type="none" w="sm" len="lg"/>
            <a:tailEnd type="none" w="sm" len="lg"/>
          </a:ln>
        </p:spPr>
        <p:txBody>
          <a:bodyPr wrap="none" lIns="90000" tIns="46800" rIns="90000" bIns="46800" anchor="ctr">
            <a:spAutoFit/>
          </a:bodyPr>
          <a:lstStyle/>
          <a:p>
            <a:r>
              <a:rPr lang="zh-CN" altLang="en-US" sz="2400" dirty="0">
                <a:solidFill>
                  <a:schemeClr val="tx1"/>
                </a:solidFill>
                <a:latin typeface="宋体" pitchFamily="2" charset="-122"/>
                <a:ea typeface="宋体" pitchFamily="2" charset="-122"/>
              </a:rPr>
              <a:t>由</a:t>
            </a:r>
            <a:r>
              <a:rPr lang="zh-CN" altLang="en-US" sz="2400" b="1" dirty="0">
                <a:solidFill>
                  <a:srgbClr val="0070C0"/>
                </a:solidFill>
                <a:latin typeface="宋体" pitchFamily="2" charset="-122"/>
                <a:ea typeface="宋体" pitchFamily="2" charset="-122"/>
              </a:rPr>
              <a:t>公称尺寸</a:t>
            </a:r>
            <a:r>
              <a:rPr lang="zh-CN" altLang="en-US" sz="2400" dirty="0">
                <a:solidFill>
                  <a:schemeClr val="tx1"/>
                </a:solidFill>
                <a:latin typeface="宋体" pitchFamily="2" charset="-122"/>
                <a:ea typeface="宋体" pitchFamily="2" charset="-122"/>
              </a:rPr>
              <a:t>和</a:t>
            </a:r>
            <a:r>
              <a:rPr lang="zh-CN" altLang="en-US" sz="2400" b="1" dirty="0">
                <a:solidFill>
                  <a:srgbClr val="0070C0"/>
                </a:solidFill>
                <a:latin typeface="宋体" pitchFamily="2" charset="-122"/>
                <a:ea typeface="宋体" pitchFamily="2" charset="-122"/>
              </a:rPr>
              <a:t>公差等级</a:t>
            </a:r>
            <a:r>
              <a:rPr lang="zh-CN" altLang="en-US" sz="2400" dirty="0">
                <a:solidFill>
                  <a:schemeClr val="tx1"/>
                </a:solidFill>
                <a:latin typeface="宋体" pitchFamily="2" charset="-122"/>
                <a:ea typeface="宋体" pitchFamily="2" charset="-122"/>
              </a:rPr>
              <a:t>确定。</a:t>
            </a:r>
          </a:p>
        </p:txBody>
      </p:sp>
      <p:sp>
        <p:nvSpPr>
          <p:cNvPr id="9" name="Text Box 44">
            <a:extLst>
              <a:ext uri="{FF2B5EF4-FFF2-40B4-BE49-F238E27FC236}">
                <a16:creationId xmlns:a16="http://schemas.microsoft.com/office/drawing/2014/main" xmlns="" id="{F7516263-AAB9-4DAC-AFA4-7C1BCF7EF474}"/>
              </a:ext>
            </a:extLst>
          </p:cNvPr>
          <p:cNvSpPr txBox="1">
            <a:spLocks noChangeArrowheads="1"/>
          </p:cNvSpPr>
          <p:nvPr/>
        </p:nvSpPr>
        <p:spPr bwMode="auto">
          <a:xfrm>
            <a:off x="2853056" y="1862595"/>
            <a:ext cx="4801314" cy="461665"/>
          </a:xfrm>
          <a:prstGeom prst="rect">
            <a:avLst/>
          </a:prstGeom>
          <a:noFill/>
          <a:ln w="9525">
            <a:noFill/>
            <a:miter lim="800000"/>
            <a:headEnd/>
            <a:tailEnd/>
          </a:ln>
        </p:spPr>
        <p:txBody>
          <a:bodyPr wrap="none">
            <a:spAutoFit/>
          </a:bodyPr>
          <a:lstStyle/>
          <a:p>
            <a:r>
              <a:rPr lang="zh-CN" altLang="en-US" sz="2400" dirty="0">
                <a:solidFill>
                  <a:schemeClr val="tx1"/>
                </a:solidFill>
                <a:latin typeface="宋体" pitchFamily="2" charset="-122"/>
                <a:ea typeface="宋体" pitchFamily="2" charset="-122"/>
              </a:rPr>
              <a:t>用以确定公差带</a:t>
            </a:r>
            <a:r>
              <a:rPr lang="zh-CN" altLang="en-US" sz="2400" dirty="0">
                <a:latin typeface="宋体" pitchFamily="2" charset="-122"/>
                <a:ea typeface="宋体" pitchFamily="2" charset="-122"/>
              </a:rPr>
              <a:t>大小的任意</a:t>
            </a:r>
            <a:r>
              <a:rPr lang="zh-CN" altLang="en-US" sz="2400" dirty="0">
                <a:solidFill>
                  <a:schemeClr val="tx1"/>
                </a:solidFill>
                <a:latin typeface="宋体" pitchFamily="2" charset="-122"/>
                <a:ea typeface="宋体" pitchFamily="2" charset="-122"/>
              </a:rPr>
              <a:t>公差。</a:t>
            </a:r>
          </a:p>
        </p:txBody>
      </p:sp>
      <p:pic>
        <p:nvPicPr>
          <p:cNvPr id="10" name="Picture 2">
            <a:extLst>
              <a:ext uri="{FF2B5EF4-FFF2-40B4-BE49-F238E27FC236}">
                <a16:creationId xmlns:a16="http://schemas.microsoft.com/office/drawing/2014/main" xmlns="" id="{CE520740-C3B2-437F-BFE1-FC89B9209033}"/>
              </a:ext>
            </a:extLst>
          </p:cNvPr>
          <p:cNvPicPr>
            <a:picLocks noChangeAspect="1" noChangeArrowheads="1"/>
          </p:cNvPicPr>
          <p:nvPr/>
        </p:nvPicPr>
        <p:blipFill>
          <a:blip r:embed="rId3"/>
          <a:srcRect r="29103"/>
          <a:stretch>
            <a:fillRect/>
          </a:stretch>
        </p:blipFill>
        <p:spPr bwMode="auto">
          <a:xfrm>
            <a:off x="2616424" y="4139637"/>
            <a:ext cx="4630737" cy="1704975"/>
          </a:xfrm>
          <a:prstGeom prst="rect">
            <a:avLst/>
          </a:prstGeom>
          <a:noFill/>
          <a:ln w="9525">
            <a:noFill/>
            <a:miter lim="800000"/>
            <a:headEnd/>
            <a:tailEnd/>
          </a:ln>
        </p:spPr>
      </p:pic>
      <p:sp>
        <p:nvSpPr>
          <p:cNvPr id="11" name="Rectangle 2">
            <a:extLst>
              <a:ext uri="{FF2B5EF4-FFF2-40B4-BE49-F238E27FC236}">
                <a16:creationId xmlns:a16="http://schemas.microsoft.com/office/drawing/2014/main" xmlns="" id="{F03D57F9-4F5E-4886-98D8-A273548E3599}"/>
              </a:ext>
            </a:extLst>
          </p:cNvPr>
          <p:cNvSpPr>
            <a:spLocks noChangeArrowheads="1"/>
          </p:cNvSpPr>
          <p:nvPr/>
        </p:nvSpPr>
        <p:spPr bwMode="auto">
          <a:xfrm>
            <a:off x="5454874" y="5039750"/>
            <a:ext cx="714375" cy="446087"/>
          </a:xfrm>
          <a:prstGeom prst="rect">
            <a:avLst/>
          </a:prstGeom>
          <a:solidFill>
            <a:srgbClr val="009900"/>
          </a:solidFill>
          <a:ln w="9525">
            <a:solidFill>
              <a:schemeClr val="tx1"/>
            </a:solidFill>
            <a:miter lim="800000"/>
            <a:headEnd/>
            <a:tailEnd/>
          </a:ln>
        </p:spPr>
        <p:txBody>
          <a:bodyPr wrap="none" anchor="ctr"/>
          <a:lstStyle/>
          <a:p>
            <a:pPr algn="ctr"/>
            <a:endParaRPr lang="zh-CN" altLang="en-US"/>
          </a:p>
        </p:txBody>
      </p:sp>
      <p:grpSp>
        <p:nvGrpSpPr>
          <p:cNvPr id="12" name="Group 3">
            <a:extLst>
              <a:ext uri="{FF2B5EF4-FFF2-40B4-BE49-F238E27FC236}">
                <a16:creationId xmlns:a16="http://schemas.microsoft.com/office/drawing/2014/main" xmlns="" id="{AAF74D99-5804-4C64-9C53-4EAE168B7E94}"/>
              </a:ext>
            </a:extLst>
          </p:cNvPr>
          <p:cNvGrpSpPr>
            <a:grpSpLocks/>
          </p:cNvGrpSpPr>
          <p:nvPr/>
        </p:nvGrpSpPr>
        <p:grpSpPr bwMode="auto">
          <a:xfrm>
            <a:off x="5402486" y="3757050"/>
            <a:ext cx="1547813" cy="808037"/>
            <a:chOff x="1929" y="1727"/>
            <a:chExt cx="975" cy="509"/>
          </a:xfrm>
        </p:grpSpPr>
        <p:sp>
          <p:nvSpPr>
            <p:cNvPr id="13" name="Freeform 4">
              <a:extLst>
                <a:ext uri="{FF2B5EF4-FFF2-40B4-BE49-F238E27FC236}">
                  <a16:creationId xmlns:a16="http://schemas.microsoft.com/office/drawing/2014/main" xmlns="" id="{E8373AE9-9E05-4025-B0D7-66959495EB86}"/>
                </a:ext>
              </a:extLst>
            </p:cNvPr>
            <p:cNvSpPr>
              <a:spLocks/>
            </p:cNvSpPr>
            <p:nvPr/>
          </p:nvSpPr>
          <p:spPr bwMode="auto">
            <a:xfrm>
              <a:off x="1929" y="1951"/>
              <a:ext cx="1" cy="285"/>
            </a:xfrm>
            <a:custGeom>
              <a:avLst/>
              <a:gdLst>
                <a:gd name="T0" fmla="*/ 0 w 1"/>
                <a:gd name="T1" fmla="*/ 0 h 285"/>
                <a:gd name="T2" fmla="*/ 0 w 1"/>
                <a:gd name="T3" fmla="*/ 285 h 285"/>
                <a:gd name="T4" fmla="*/ 0 60000 65536"/>
                <a:gd name="T5" fmla="*/ 0 60000 65536"/>
                <a:gd name="T6" fmla="*/ 0 w 1"/>
                <a:gd name="T7" fmla="*/ 0 h 285"/>
                <a:gd name="T8" fmla="*/ 1 w 1"/>
                <a:gd name="T9" fmla="*/ 285 h 285"/>
              </a:gdLst>
              <a:ahLst/>
              <a:cxnLst>
                <a:cxn ang="T4">
                  <a:pos x="T0" y="T1"/>
                </a:cxn>
                <a:cxn ang="T5">
                  <a:pos x="T2" y="T3"/>
                </a:cxn>
              </a:cxnLst>
              <a:rect l="T6" t="T7" r="T8" b="T9"/>
              <a:pathLst>
                <a:path w="1" h="285">
                  <a:moveTo>
                    <a:pt x="0" y="0"/>
                  </a:moveTo>
                  <a:lnTo>
                    <a:pt x="0" y="285"/>
                  </a:lnTo>
                </a:path>
              </a:pathLst>
            </a:custGeom>
            <a:noFill/>
            <a:ln w="19050">
              <a:solidFill>
                <a:schemeClr val="tx1"/>
              </a:solidFill>
              <a:round/>
              <a:headEnd type="triangle" w="sm" len="lg"/>
              <a:tailEnd type="triangle" w="sm" len="lg"/>
            </a:ln>
          </p:spPr>
          <p:txBody>
            <a:bodyPr wrap="none" anchor="ctr"/>
            <a:lstStyle/>
            <a:p>
              <a:endParaRPr lang="zh-CN" altLang="en-US"/>
            </a:p>
          </p:txBody>
        </p:sp>
        <p:sp>
          <p:nvSpPr>
            <p:cNvPr id="14" name="Line 5">
              <a:extLst>
                <a:ext uri="{FF2B5EF4-FFF2-40B4-BE49-F238E27FC236}">
                  <a16:creationId xmlns:a16="http://schemas.microsoft.com/office/drawing/2014/main" xmlns="" id="{51ABDDFA-2FCB-4D8A-916C-2C006609598C}"/>
                </a:ext>
              </a:extLst>
            </p:cNvPr>
            <p:cNvSpPr>
              <a:spLocks noChangeShapeType="1"/>
            </p:cNvSpPr>
            <p:nvPr/>
          </p:nvSpPr>
          <p:spPr bwMode="auto">
            <a:xfrm flipV="1">
              <a:off x="1929" y="1951"/>
              <a:ext cx="180" cy="180"/>
            </a:xfrm>
            <a:prstGeom prst="line">
              <a:avLst/>
            </a:prstGeom>
            <a:noFill/>
            <a:ln w="19050">
              <a:solidFill>
                <a:schemeClr val="tx1"/>
              </a:solidFill>
              <a:round/>
              <a:headEnd/>
              <a:tailEnd/>
            </a:ln>
          </p:spPr>
          <p:txBody>
            <a:bodyPr wrap="none" anchor="ctr"/>
            <a:lstStyle/>
            <a:p>
              <a:endParaRPr lang="zh-CN" altLang="en-US"/>
            </a:p>
          </p:txBody>
        </p:sp>
        <p:sp>
          <p:nvSpPr>
            <p:cNvPr id="15" name="Text Box 6">
              <a:extLst>
                <a:ext uri="{FF2B5EF4-FFF2-40B4-BE49-F238E27FC236}">
                  <a16:creationId xmlns:a16="http://schemas.microsoft.com/office/drawing/2014/main" xmlns="" id="{3E9CAC20-85E2-4F98-BF26-18CB2E544089}"/>
                </a:ext>
              </a:extLst>
            </p:cNvPr>
            <p:cNvSpPr txBox="1">
              <a:spLocks noChangeArrowheads="1"/>
            </p:cNvSpPr>
            <p:nvPr/>
          </p:nvSpPr>
          <p:spPr bwMode="auto">
            <a:xfrm>
              <a:off x="2081" y="1727"/>
              <a:ext cx="760" cy="250"/>
            </a:xfrm>
            <a:prstGeom prst="rect">
              <a:avLst/>
            </a:prstGeom>
            <a:noFill/>
            <a:ln w="9525">
              <a:no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基本偏差</a:t>
              </a:r>
            </a:p>
          </p:txBody>
        </p:sp>
        <p:sp>
          <p:nvSpPr>
            <p:cNvPr id="16" name="Line 7">
              <a:extLst>
                <a:ext uri="{FF2B5EF4-FFF2-40B4-BE49-F238E27FC236}">
                  <a16:creationId xmlns:a16="http://schemas.microsoft.com/office/drawing/2014/main" xmlns="" id="{C422EB5B-46DD-494B-8E6E-3967354EE44A}"/>
                </a:ext>
              </a:extLst>
            </p:cNvPr>
            <p:cNvSpPr>
              <a:spLocks noChangeShapeType="1"/>
            </p:cNvSpPr>
            <p:nvPr/>
          </p:nvSpPr>
          <p:spPr bwMode="auto">
            <a:xfrm>
              <a:off x="2109" y="1951"/>
              <a:ext cx="795" cy="0"/>
            </a:xfrm>
            <a:prstGeom prst="line">
              <a:avLst/>
            </a:prstGeom>
            <a:noFill/>
            <a:ln w="19050">
              <a:solidFill>
                <a:schemeClr val="tx1"/>
              </a:solidFill>
              <a:round/>
              <a:headEnd/>
              <a:tailEnd/>
            </a:ln>
          </p:spPr>
          <p:txBody>
            <a:bodyPr wrap="none" anchor="ctr"/>
            <a:lstStyle/>
            <a:p>
              <a:endParaRPr lang="zh-CN" altLang="en-US"/>
            </a:p>
          </p:txBody>
        </p:sp>
      </p:grpSp>
      <p:grpSp>
        <p:nvGrpSpPr>
          <p:cNvPr id="17" name="Group 8">
            <a:extLst>
              <a:ext uri="{FF2B5EF4-FFF2-40B4-BE49-F238E27FC236}">
                <a16:creationId xmlns:a16="http://schemas.microsoft.com/office/drawing/2014/main" xmlns="" id="{41C19C18-574D-417F-84D1-84597A348DA9}"/>
              </a:ext>
            </a:extLst>
          </p:cNvPr>
          <p:cNvGrpSpPr>
            <a:grpSpLocks/>
          </p:cNvGrpSpPr>
          <p:nvPr/>
        </p:nvGrpSpPr>
        <p:grpSpPr bwMode="auto">
          <a:xfrm>
            <a:off x="6564536" y="4569850"/>
            <a:ext cx="1785938" cy="517525"/>
            <a:chOff x="2364" y="2206"/>
            <a:chExt cx="1125" cy="326"/>
          </a:xfrm>
        </p:grpSpPr>
        <p:sp>
          <p:nvSpPr>
            <p:cNvPr id="18" name="Line 9">
              <a:extLst>
                <a:ext uri="{FF2B5EF4-FFF2-40B4-BE49-F238E27FC236}">
                  <a16:creationId xmlns:a16="http://schemas.microsoft.com/office/drawing/2014/main" xmlns="" id="{C686D658-DB10-4081-859C-98AF1730F5D3}"/>
                </a:ext>
              </a:extLst>
            </p:cNvPr>
            <p:cNvSpPr>
              <a:spLocks noChangeShapeType="1"/>
            </p:cNvSpPr>
            <p:nvPr/>
          </p:nvSpPr>
          <p:spPr bwMode="auto">
            <a:xfrm flipV="1">
              <a:off x="2364" y="2206"/>
              <a:ext cx="0" cy="300"/>
            </a:xfrm>
            <a:prstGeom prst="line">
              <a:avLst/>
            </a:prstGeom>
            <a:noFill/>
            <a:ln w="19050">
              <a:solidFill>
                <a:schemeClr val="tx1"/>
              </a:solidFill>
              <a:round/>
              <a:headEnd type="triangle" w="sm" len="lg"/>
              <a:tailEnd type="triangle" w="sm" len="lg"/>
            </a:ln>
          </p:spPr>
          <p:txBody>
            <a:bodyPr wrap="none" anchor="ctr"/>
            <a:lstStyle/>
            <a:p>
              <a:endParaRPr lang="zh-CN" altLang="en-US"/>
            </a:p>
          </p:txBody>
        </p:sp>
        <p:sp>
          <p:nvSpPr>
            <p:cNvPr id="19" name="Line 10">
              <a:extLst>
                <a:ext uri="{FF2B5EF4-FFF2-40B4-BE49-F238E27FC236}">
                  <a16:creationId xmlns:a16="http://schemas.microsoft.com/office/drawing/2014/main" xmlns="" id="{75078448-B549-4B3A-963B-22E97049381D}"/>
                </a:ext>
              </a:extLst>
            </p:cNvPr>
            <p:cNvSpPr>
              <a:spLocks noChangeShapeType="1"/>
            </p:cNvSpPr>
            <p:nvPr/>
          </p:nvSpPr>
          <p:spPr bwMode="auto">
            <a:xfrm>
              <a:off x="2364" y="2356"/>
              <a:ext cx="255" cy="147"/>
            </a:xfrm>
            <a:prstGeom prst="line">
              <a:avLst/>
            </a:prstGeom>
            <a:noFill/>
            <a:ln w="19050">
              <a:solidFill>
                <a:schemeClr val="tx1"/>
              </a:solidFill>
              <a:round/>
              <a:headEnd/>
              <a:tailEnd/>
            </a:ln>
          </p:spPr>
          <p:txBody>
            <a:bodyPr wrap="none" anchor="ctr"/>
            <a:lstStyle/>
            <a:p>
              <a:endParaRPr lang="zh-CN" altLang="en-US"/>
            </a:p>
          </p:txBody>
        </p:sp>
        <p:sp>
          <p:nvSpPr>
            <p:cNvPr id="20" name="Text Box 11">
              <a:extLst>
                <a:ext uri="{FF2B5EF4-FFF2-40B4-BE49-F238E27FC236}">
                  <a16:creationId xmlns:a16="http://schemas.microsoft.com/office/drawing/2014/main" xmlns="" id="{32CD971A-1CDC-4336-944E-F8772A50472B}"/>
                </a:ext>
              </a:extLst>
            </p:cNvPr>
            <p:cNvSpPr txBox="1">
              <a:spLocks noChangeArrowheads="1"/>
            </p:cNvSpPr>
            <p:nvPr/>
          </p:nvSpPr>
          <p:spPr bwMode="auto">
            <a:xfrm>
              <a:off x="2576" y="2282"/>
              <a:ext cx="760" cy="250"/>
            </a:xfrm>
            <a:prstGeom prst="rect">
              <a:avLst/>
            </a:prstGeom>
            <a:noFill/>
            <a:ln w="9525">
              <a:no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基本偏差</a:t>
              </a:r>
            </a:p>
          </p:txBody>
        </p:sp>
        <p:sp>
          <p:nvSpPr>
            <p:cNvPr id="21" name="Line 12">
              <a:extLst>
                <a:ext uri="{FF2B5EF4-FFF2-40B4-BE49-F238E27FC236}">
                  <a16:creationId xmlns:a16="http://schemas.microsoft.com/office/drawing/2014/main" xmlns="" id="{A9A8F812-D090-492F-8C65-A22B94809B43}"/>
                </a:ext>
              </a:extLst>
            </p:cNvPr>
            <p:cNvSpPr>
              <a:spLocks noChangeShapeType="1"/>
            </p:cNvSpPr>
            <p:nvPr/>
          </p:nvSpPr>
          <p:spPr bwMode="auto">
            <a:xfrm>
              <a:off x="2619" y="2506"/>
              <a:ext cx="870" cy="0"/>
            </a:xfrm>
            <a:prstGeom prst="line">
              <a:avLst/>
            </a:prstGeom>
            <a:noFill/>
            <a:ln w="19050">
              <a:solidFill>
                <a:schemeClr val="tx1"/>
              </a:solidFill>
              <a:round/>
              <a:headEnd/>
              <a:tailEnd/>
            </a:ln>
          </p:spPr>
          <p:txBody>
            <a:bodyPr wrap="none" anchor="ctr"/>
            <a:lstStyle/>
            <a:p>
              <a:endParaRPr lang="zh-CN" altLang="en-US"/>
            </a:p>
          </p:txBody>
        </p:sp>
      </p:grpSp>
      <p:grpSp>
        <p:nvGrpSpPr>
          <p:cNvPr id="22" name="Group 13">
            <a:extLst>
              <a:ext uri="{FF2B5EF4-FFF2-40B4-BE49-F238E27FC236}">
                <a16:creationId xmlns:a16="http://schemas.microsoft.com/office/drawing/2014/main" xmlns="" id="{D7FCD9DF-882B-4CB2-ABEC-A2921F177392}"/>
              </a:ext>
            </a:extLst>
          </p:cNvPr>
          <p:cNvGrpSpPr>
            <a:grpSpLocks/>
          </p:cNvGrpSpPr>
          <p:nvPr/>
        </p:nvGrpSpPr>
        <p:grpSpPr bwMode="auto">
          <a:xfrm>
            <a:off x="6159724" y="5022287"/>
            <a:ext cx="2143125" cy="541338"/>
            <a:chOff x="2109" y="2491"/>
            <a:chExt cx="1350" cy="341"/>
          </a:xfrm>
        </p:grpSpPr>
        <p:sp>
          <p:nvSpPr>
            <p:cNvPr id="23" name="Text Box 14">
              <a:extLst>
                <a:ext uri="{FF2B5EF4-FFF2-40B4-BE49-F238E27FC236}">
                  <a16:creationId xmlns:a16="http://schemas.microsoft.com/office/drawing/2014/main" xmlns="" id="{AF7D2EF5-FFD6-483C-959F-EAF9B8D6F3A8}"/>
                </a:ext>
              </a:extLst>
            </p:cNvPr>
            <p:cNvSpPr txBox="1">
              <a:spLocks noChangeArrowheads="1"/>
            </p:cNvSpPr>
            <p:nvPr/>
          </p:nvSpPr>
          <p:spPr bwMode="auto">
            <a:xfrm>
              <a:off x="2591" y="2582"/>
              <a:ext cx="760" cy="250"/>
            </a:xfrm>
            <a:prstGeom prst="rect">
              <a:avLst/>
            </a:prstGeom>
            <a:noFill/>
            <a:ln w="9525">
              <a:no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标准公差</a:t>
              </a:r>
            </a:p>
          </p:txBody>
        </p:sp>
        <p:sp>
          <p:nvSpPr>
            <p:cNvPr id="24" name="Line 15">
              <a:extLst>
                <a:ext uri="{FF2B5EF4-FFF2-40B4-BE49-F238E27FC236}">
                  <a16:creationId xmlns:a16="http://schemas.microsoft.com/office/drawing/2014/main" xmlns="" id="{7F8AF418-96F0-4CC0-8072-35BC9AFE5E98}"/>
                </a:ext>
              </a:extLst>
            </p:cNvPr>
            <p:cNvSpPr>
              <a:spLocks noChangeShapeType="1"/>
            </p:cNvSpPr>
            <p:nvPr/>
          </p:nvSpPr>
          <p:spPr bwMode="auto">
            <a:xfrm>
              <a:off x="2109" y="2511"/>
              <a:ext cx="330" cy="0"/>
            </a:xfrm>
            <a:prstGeom prst="line">
              <a:avLst/>
            </a:prstGeom>
            <a:noFill/>
            <a:ln w="19050">
              <a:solidFill>
                <a:schemeClr val="tx1"/>
              </a:solidFill>
              <a:round/>
              <a:headEnd/>
              <a:tailEnd/>
            </a:ln>
          </p:spPr>
          <p:txBody>
            <a:bodyPr wrap="none" anchor="ctr"/>
            <a:lstStyle/>
            <a:p>
              <a:endParaRPr lang="zh-CN" altLang="en-US"/>
            </a:p>
          </p:txBody>
        </p:sp>
        <p:sp>
          <p:nvSpPr>
            <p:cNvPr id="25" name="Line 16">
              <a:extLst>
                <a:ext uri="{FF2B5EF4-FFF2-40B4-BE49-F238E27FC236}">
                  <a16:creationId xmlns:a16="http://schemas.microsoft.com/office/drawing/2014/main" xmlns="" id="{B265B9BD-3418-43E7-A5B0-8F4606F0588A}"/>
                </a:ext>
              </a:extLst>
            </p:cNvPr>
            <p:cNvSpPr>
              <a:spLocks noChangeShapeType="1"/>
            </p:cNvSpPr>
            <p:nvPr/>
          </p:nvSpPr>
          <p:spPr bwMode="auto">
            <a:xfrm>
              <a:off x="2109" y="2782"/>
              <a:ext cx="315" cy="0"/>
            </a:xfrm>
            <a:prstGeom prst="line">
              <a:avLst/>
            </a:prstGeom>
            <a:noFill/>
            <a:ln w="19050">
              <a:solidFill>
                <a:schemeClr val="tx1"/>
              </a:solidFill>
              <a:round/>
              <a:headEnd/>
              <a:tailEnd/>
            </a:ln>
          </p:spPr>
          <p:txBody>
            <a:bodyPr wrap="none" anchor="ctr"/>
            <a:lstStyle/>
            <a:p>
              <a:endParaRPr lang="zh-CN" altLang="en-US"/>
            </a:p>
          </p:txBody>
        </p:sp>
        <p:sp>
          <p:nvSpPr>
            <p:cNvPr id="26" name="Freeform 17">
              <a:extLst>
                <a:ext uri="{FF2B5EF4-FFF2-40B4-BE49-F238E27FC236}">
                  <a16:creationId xmlns:a16="http://schemas.microsoft.com/office/drawing/2014/main" xmlns="" id="{7350329D-9776-40D6-A41E-118EECEC853E}"/>
                </a:ext>
              </a:extLst>
            </p:cNvPr>
            <p:cNvSpPr>
              <a:spLocks/>
            </p:cNvSpPr>
            <p:nvPr/>
          </p:nvSpPr>
          <p:spPr bwMode="auto">
            <a:xfrm>
              <a:off x="2362" y="2491"/>
              <a:ext cx="1" cy="306"/>
            </a:xfrm>
            <a:custGeom>
              <a:avLst/>
              <a:gdLst>
                <a:gd name="T0" fmla="*/ 0 w 1"/>
                <a:gd name="T1" fmla="*/ 0 h 306"/>
                <a:gd name="T2" fmla="*/ 0 w 1"/>
                <a:gd name="T3" fmla="*/ 306 h 306"/>
                <a:gd name="T4" fmla="*/ 0 60000 65536"/>
                <a:gd name="T5" fmla="*/ 0 60000 65536"/>
                <a:gd name="T6" fmla="*/ 0 w 1"/>
                <a:gd name="T7" fmla="*/ 0 h 306"/>
                <a:gd name="T8" fmla="*/ 1 w 1"/>
                <a:gd name="T9" fmla="*/ 306 h 306"/>
              </a:gdLst>
              <a:ahLst/>
              <a:cxnLst>
                <a:cxn ang="T4">
                  <a:pos x="T0" y="T1"/>
                </a:cxn>
                <a:cxn ang="T5">
                  <a:pos x="T2" y="T3"/>
                </a:cxn>
              </a:cxnLst>
              <a:rect l="T6" t="T7" r="T8" b="T9"/>
              <a:pathLst>
                <a:path w="1" h="306">
                  <a:moveTo>
                    <a:pt x="0" y="0"/>
                  </a:moveTo>
                  <a:lnTo>
                    <a:pt x="0" y="306"/>
                  </a:lnTo>
                </a:path>
              </a:pathLst>
            </a:custGeom>
            <a:noFill/>
            <a:ln w="19050">
              <a:solidFill>
                <a:schemeClr val="tx1"/>
              </a:solidFill>
              <a:round/>
              <a:headEnd type="triangle" w="sm" len="lg"/>
              <a:tailEnd type="triangle" w="sm" len="lg"/>
            </a:ln>
          </p:spPr>
          <p:txBody>
            <a:bodyPr wrap="none" anchor="ctr"/>
            <a:lstStyle/>
            <a:p>
              <a:endParaRPr lang="zh-CN" altLang="en-US"/>
            </a:p>
          </p:txBody>
        </p:sp>
        <p:sp>
          <p:nvSpPr>
            <p:cNvPr id="27" name="Line 18">
              <a:extLst>
                <a:ext uri="{FF2B5EF4-FFF2-40B4-BE49-F238E27FC236}">
                  <a16:creationId xmlns:a16="http://schemas.microsoft.com/office/drawing/2014/main" xmlns="" id="{751BA4E0-A82B-4ED7-995D-2FA5FCCE05B8}"/>
                </a:ext>
              </a:extLst>
            </p:cNvPr>
            <p:cNvSpPr>
              <a:spLocks noChangeShapeType="1"/>
            </p:cNvSpPr>
            <p:nvPr/>
          </p:nvSpPr>
          <p:spPr bwMode="auto">
            <a:xfrm>
              <a:off x="2364" y="2675"/>
              <a:ext cx="227" cy="131"/>
            </a:xfrm>
            <a:prstGeom prst="line">
              <a:avLst/>
            </a:prstGeom>
            <a:noFill/>
            <a:ln w="19050">
              <a:solidFill>
                <a:schemeClr val="tx1"/>
              </a:solidFill>
              <a:round/>
              <a:headEnd/>
              <a:tailEnd/>
            </a:ln>
          </p:spPr>
          <p:txBody>
            <a:bodyPr wrap="none" anchor="ctr"/>
            <a:lstStyle/>
            <a:p>
              <a:endParaRPr lang="zh-CN" altLang="en-US"/>
            </a:p>
          </p:txBody>
        </p:sp>
        <p:sp>
          <p:nvSpPr>
            <p:cNvPr id="28" name="Line 19">
              <a:extLst>
                <a:ext uri="{FF2B5EF4-FFF2-40B4-BE49-F238E27FC236}">
                  <a16:creationId xmlns:a16="http://schemas.microsoft.com/office/drawing/2014/main" xmlns="" id="{30E89406-02F0-4C6B-AF99-D2EE811555A5}"/>
                </a:ext>
              </a:extLst>
            </p:cNvPr>
            <p:cNvSpPr>
              <a:spLocks noChangeShapeType="1"/>
            </p:cNvSpPr>
            <p:nvPr/>
          </p:nvSpPr>
          <p:spPr bwMode="auto">
            <a:xfrm>
              <a:off x="2589" y="2806"/>
              <a:ext cx="870" cy="0"/>
            </a:xfrm>
            <a:prstGeom prst="line">
              <a:avLst/>
            </a:prstGeom>
            <a:noFill/>
            <a:ln w="19050">
              <a:solidFill>
                <a:schemeClr val="tx1"/>
              </a:solidFill>
              <a:round/>
              <a:headEnd/>
              <a:tailEnd/>
            </a:ln>
          </p:spPr>
          <p:txBody>
            <a:bodyPr wrap="none" anchor="ctr"/>
            <a:lstStyle/>
            <a:p>
              <a:endParaRPr lang="zh-CN" altLang="en-US"/>
            </a:p>
          </p:txBody>
        </p:sp>
      </p:grpSp>
      <p:grpSp>
        <p:nvGrpSpPr>
          <p:cNvPr id="29" name="Group 37">
            <a:extLst>
              <a:ext uri="{FF2B5EF4-FFF2-40B4-BE49-F238E27FC236}">
                <a16:creationId xmlns:a16="http://schemas.microsoft.com/office/drawing/2014/main" xmlns="" id="{A251B820-2F8D-48EF-BBED-6533B7AA7224}"/>
              </a:ext>
            </a:extLst>
          </p:cNvPr>
          <p:cNvGrpSpPr>
            <a:grpSpLocks/>
          </p:cNvGrpSpPr>
          <p:nvPr/>
        </p:nvGrpSpPr>
        <p:grpSpPr bwMode="auto">
          <a:xfrm>
            <a:off x="5021486" y="3256987"/>
            <a:ext cx="1976438" cy="917575"/>
            <a:chOff x="1689" y="1412"/>
            <a:chExt cx="1245" cy="578"/>
          </a:xfrm>
        </p:grpSpPr>
        <p:sp>
          <p:nvSpPr>
            <p:cNvPr id="30" name="Line 38">
              <a:extLst>
                <a:ext uri="{FF2B5EF4-FFF2-40B4-BE49-F238E27FC236}">
                  <a16:creationId xmlns:a16="http://schemas.microsoft.com/office/drawing/2014/main" xmlns="" id="{C45DD279-13BA-4A66-9925-A89E420B60DC}"/>
                </a:ext>
              </a:extLst>
            </p:cNvPr>
            <p:cNvSpPr>
              <a:spLocks noChangeShapeType="1"/>
            </p:cNvSpPr>
            <p:nvPr/>
          </p:nvSpPr>
          <p:spPr bwMode="auto">
            <a:xfrm>
              <a:off x="1689" y="1708"/>
              <a:ext cx="285" cy="0"/>
            </a:xfrm>
            <a:prstGeom prst="line">
              <a:avLst/>
            </a:prstGeom>
            <a:noFill/>
            <a:ln w="19050">
              <a:solidFill>
                <a:schemeClr val="tx1"/>
              </a:solidFill>
              <a:round/>
              <a:headEnd/>
              <a:tailEnd/>
            </a:ln>
          </p:spPr>
          <p:txBody>
            <a:bodyPr wrap="none" anchor="ctr"/>
            <a:lstStyle/>
            <a:p>
              <a:endParaRPr lang="zh-CN" altLang="en-US"/>
            </a:p>
          </p:txBody>
        </p:sp>
        <p:sp>
          <p:nvSpPr>
            <p:cNvPr id="31" name="Line 39">
              <a:extLst>
                <a:ext uri="{FF2B5EF4-FFF2-40B4-BE49-F238E27FC236}">
                  <a16:creationId xmlns:a16="http://schemas.microsoft.com/office/drawing/2014/main" xmlns="" id="{B9E675CA-D1BC-4C50-B228-088A4719ED02}"/>
                </a:ext>
              </a:extLst>
            </p:cNvPr>
            <p:cNvSpPr>
              <a:spLocks noChangeShapeType="1"/>
            </p:cNvSpPr>
            <p:nvPr/>
          </p:nvSpPr>
          <p:spPr bwMode="auto">
            <a:xfrm>
              <a:off x="1689" y="1981"/>
              <a:ext cx="285" cy="0"/>
            </a:xfrm>
            <a:prstGeom prst="line">
              <a:avLst/>
            </a:prstGeom>
            <a:noFill/>
            <a:ln w="19050">
              <a:solidFill>
                <a:schemeClr val="tx1"/>
              </a:solidFill>
              <a:round/>
              <a:headEnd/>
              <a:tailEnd/>
            </a:ln>
          </p:spPr>
          <p:txBody>
            <a:bodyPr wrap="none" anchor="ctr"/>
            <a:lstStyle/>
            <a:p>
              <a:endParaRPr lang="zh-CN" altLang="en-US"/>
            </a:p>
          </p:txBody>
        </p:sp>
        <p:sp>
          <p:nvSpPr>
            <p:cNvPr id="32" name="Freeform 40">
              <a:extLst>
                <a:ext uri="{FF2B5EF4-FFF2-40B4-BE49-F238E27FC236}">
                  <a16:creationId xmlns:a16="http://schemas.microsoft.com/office/drawing/2014/main" xmlns="" id="{06527471-A6FD-408D-935D-AED41EF323BF}"/>
                </a:ext>
              </a:extLst>
            </p:cNvPr>
            <p:cNvSpPr>
              <a:spLocks/>
            </p:cNvSpPr>
            <p:nvPr/>
          </p:nvSpPr>
          <p:spPr bwMode="auto">
            <a:xfrm>
              <a:off x="1929" y="1695"/>
              <a:ext cx="1" cy="295"/>
            </a:xfrm>
            <a:custGeom>
              <a:avLst/>
              <a:gdLst>
                <a:gd name="T0" fmla="*/ 0 w 1"/>
                <a:gd name="T1" fmla="*/ 0 h 315"/>
                <a:gd name="T2" fmla="*/ 0 w 1"/>
                <a:gd name="T3" fmla="*/ 258 h 315"/>
                <a:gd name="T4" fmla="*/ 0 60000 65536"/>
                <a:gd name="T5" fmla="*/ 0 60000 65536"/>
                <a:gd name="T6" fmla="*/ 0 w 1"/>
                <a:gd name="T7" fmla="*/ 0 h 315"/>
                <a:gd name="T8" fmla="*/ 1 w 1"/>
                <a:gd name="T9" fmla="*/ 315 h 315"/>
              </a:gdLst>
              <a:ahLst/>
              <a:cxnLst>
                <a:cxn ang="T4">
                  <a:pos x="T0" y="T1"/>
                </a:cxn>
                <a:cxn ang="T5">
                  <a:pos x="T2" y="T3"/>
                </a:cxn>
              </a:cxnLst>
              <a:rect l="T6" t="T7" r="T8" b="T9"/>
              <a:pathLst>
                <a:path w="1" h="315">
                  <a:moveTo>
                    <a:pt x="0" y="0"/>
                  </a:moveTo>
                  <a:lnTo>
                    <a:pt x="0" y="315"/>
                  </a:lnTo>
                </a:path>
              </a:pathLst>
            </a:custGeom>
            <a:noFill/>
            <a:ln w="19050">
              <a:solidFill>
                <a:schemeClr val="tx1"/>
              </a:solidFill>
              <a:round/>
              <a:headEnd type="triangle" w="sm" len="lg"/>
              <a:tailEnd type="triangle" w="sm" len="lg"/>
            </a:ln>
          </p:spPr>
          <p:txBody>
            <a:bodyPr wrap="none" anchor="ctr"/>
            <a:lstStyle/>
            <a:p>
              <a:endParaRPr lang="zh-CN" altLang="en-US"/>
            </a:p>
          </p:txBody>
        </p:sp>
        <p:sp>
          <p:nvSpPr>
            <p:cNvPr id="33" name="Line 41">
              <a:extLst>
                <a:ext uri="{FF2B5EF4-FFF2-40B4-BE49-F238E27FC236}">
                  <a16:creationId xmlns:a16="http://schemas.microsoft.com/office/drawing/2014/main" xmlns="" id="{09A5E090-5557-428A-9FEC-C7F80D3F9084}"/>
                </a:ext>
              </a:extLst>
            </p:cNvPr>
            <p:cNvSpPr>
              <a:spLocks noChangeShapeType="1"/>
            </p:cNvSpPr>
            <p:nvPr/>
          </p:nvSpPr>
          <p:spPr bwMode="auto">
            <a:xfrm flipV="1">
              <a:off x="1929" y="1636"/>
              <a:ext cx="195" cy="195"/>
            </a:xfrm>
            <a:prstGeom prst="line">
              <a:avLst/>
            </a:prstGeom>
            <a:noFill/>
            <a:ln w="19050">
              <a:solidFill>
                <a:schemeClr val="tx1"/>
              </a:solidFill>
              <a:round/>
              <a:headEnd/>
              <a:tailEnd/>
            </a:ln>
          </p:spPr>
          <p:txBody>
            <a:bodyPr wrap="none" anchor="ctr"/>
            <a:lstStyle/>
            <a:p>
              <a:endParaRPr lang="zh-CN" altLang="en-US"/>
            </a:p>
          </p:txBody>
        </p:sp>
        <p:sp>
          <p:nvSpPr>
            <p:cNvPr id="34" name="Text Box 42">
              <a:extLst>
                <a:ext uri="{FF2B5EF4-FFF2-40B4-BE49-F238E27FC236}">
                  <a16:creationId xmlns:a16="http://schemas.microsoft.com/office/drawing/2014/main" xmlns="" id="{5F3AB9A2-704C-4857-8C4C-5564D1237C5D}"/>
                </a:ext>
              </a:extLst>
            </p:cNvPr>
            <p:cNvSpPr txBox="1">
              <a:spLocks noChangeArrowheads="1"/>
            </p:cNvSpPr>
            <p:nvPr/>
          </p:nvSpPr>
          <p:spPr bwMode="auto">
            <a:xfrm>
              <a:off x="2081" y="1412"/>
              <a:ext cx="760" cy="250"/>
            </a:xfrm>
            <a:prstGeom prst="rect">
              <a:avLst/>
            </a:prstGeom>
            <a:noFill/>
            <a:ln w="9525">
              <a:noFill/>
              <a:miter lim="800000"/>
              <a:headEnd/>
              <a:tailEnd/>
            </a:ln>
          </p:spPr>
          <p:txBody>
            <a:bodyPr wrap="none">
              <a:spAutoFit/>
            </a:bodyPr>
            <a:lstStyle/>
            <a:p>
              <a:r>
                <a:rPr lang="zh-CN" altLang="en-US" sz="2000">
                  <a:solidFill>
                    <a:schemeClr val="tx1"/>
                  </a:solidFill>
                  <a:latin typeface="Times New Roman" pitchFamily="18" charset="0"/>
                  <a:ea typeface="宋体" pitchFamily="2" charset="-122"/>
                </a:rPr>
                <a:t>标准公差</a:t>
              </a:r>
            </a:p>
          </p:txBody>
        </p:sp>
        <p:sp>
          <p:nvSpPr>
            <p:cNvPr id="35" name="Line 43">
              <a:extLst>
                <a:ext uri="{FF2B5EF4-FFF2-40B4-BE49-F238E27FC236}">
                  <a16:creationId xmlns:a16="http://schemas.microsoft.com/office/drawing/2014/main" xmlns="" id="{8ED321F0-AA2B-4945-9D4E-2FB02B96A03F}"/>
                </a:ext>
              </a:extLst>
            </p:cNvPr>
            <p:cNvSpPr>
              <a:spLocks noChangeShapeType="1"/>
            </p:cNvSpPr>
            <p:nvPr/>
          </p:nvSpPr>
          <p:spPr bwMode="auto">
            <a:xfrm>
              <a:off x="2124" y="1636"/>
              <a:ext cx="810" cy="0"/>
            </a:xfrm>
            <a:prstGeom prst="line">
              <a:avLst/>
            </a:prstGeom>
            <a:noFill/>
            <a:ln w="19050">
              <a:solidFill>
                <a:schemeClr val="tx1"/>
              </a:solidFill>
              <a:round/>
              <a:headEnd/>
              <a:tailEnd/>
            </a:ln>
          </p:spPr>
          <p:txBody>
            <a:bodyPr wrap="none" anchor="ctr"/>
            <a:lstStyle/>
            <a:p>
              <a:endParaRPr lang="zh-CN" altLang="en-US"/>
            </a:p>
          </p:txBody>
        </p:sp>
      </p:grpSp>
      <p:sp>
        <p:nvSpPr>
          <p:cNvPr id="36" name="Text Box 47">
            <a:extLst>
              <a:ext uri="{FF2B5EF4-FFF2-40B4-BE49-F238E27FC236}">
                <a16:creationId xmlns:a16="http://schemas.microsoft.com/office/drawing/2014/main" xmlns="" id="{3F25627B-B5E8-443F-AAE9-D2CD8CB29350}"/>
              </a:ext>
            </a:extLst>
          </p:cNvPr>
          <p:cNvSpPr txBox="1">
            <a:spLocks noChangeArrowheads="1"/>
          </p:cNvSpPr>
          <p:nvPr/>
        </p:nvSpPr>
        <p:spPr bwMode="auto">
          <a:xfrm>
            <a:off x="7399561" y="3447487"/>
            <a:ext cx="3186113" cy="461963"/>
          </a:xfrm>
          <a:prstGeom prst="rect">
            <a:avLst/>
          </a:prstGeom>
          <a:noFill/>
          <a:ln w="9525">
            <a:noFill/>
            <a:miter lim="800000"/>
            <a:headEnd/>
            <a:tailEnd/>
          </a:ln>
        </p:spPr>
        <p:txBody>
          <a:bodyPr>
            <a:spAutoFit/>
          </a:bodyPr>
          <a:lstStyle/>
          <a:p>
            <a:r>
              <a:rPr lang="zh-CN" altLang="en-US" sz="2400">
                <a:solidFill>
                  <a:srgbClr val="FF3300"/>
                </a:solidFill>
                <a:latin typeface="Times New Roman" pitchFamily="18" charset="0"/>
                <a:ea typeface="宋体" pitchFamily="2" charset="-122"/>
              </a:rPr>
              <a:t>上偏差</a:t>
            </a:r>
            <a:r>
              <a:rPr lang="en-US" altLang="zh-CN" sz="2400">
                <a:solidFill>
                  <a:srgbClr val="FF3300"/>
                </a:solidFill>
                <a:latin typeface="Times New Roman" pitchFamily="18" charset="0"/>
                <a:ea typeface="宋体" pitchFamily="2" charset="-122"/>
              </a:rPr>
              <a:t>=</a:t>
            </a:r>
            <a:r>
              <a:rPr lang="zh-CN" altLang="en-US" sz="2400">
                <a:solidFill>
                  <a:srgbClr val="FF3300"/>
                </a:solidFill>
                <a:latin typeface="Times New Roman" pitchFamily="18" charset="0"/>
                <a:ea typeface="宋体" pitchFamily="2" charset="-122"/>
              </a:rPr>
              <a:t>下偏差</a:t>
            </a:r>
            <a:r>
              <a:rPr lang="en-US" altLang="zh-CN" sz="2400">
                <a:solidFill>
                  <a:srgbClr val="FF3300"/>
                </a:solidFill>
                <a:latin typeface="Times New Roman" pitchFamily="18" charset="0"/>
                <a:ea typeface="宋体" pitchFamily="2" charset="-122"/>
              </a:rPr>
              <a:t>+</a:t>
            </a:r>
            <a:r>
              <a:rPr lang="zh-CN" altLang="en-US" sz="2400">
                <a:solidFill>
                  <a:srgbClr val="FF3300"/>
                </a:solidFill>
                <a:latin typeface="Times New Roman" pitchFamily="18" charset="0"/>
                <a:ea typeface="宋体" pitchFamily="2" charset="-122"/>
              </a:rPr>
              <a:t>公差</a:t>
            </a:r>
          </a:p>
        </p:txBody>
      </p:sp>
      <p:sp>
        <p:nvSpPr>
          <p:cNvPr id="37" name="Text Box 48">
            <a:extLst>
              <a:ext uri="{FF2B5EF4-FFF2-40B4-BE49-F238E27FC236}">
                <a16:creationId xmlns:a16="http://schemas.microsoft.com/office/drawing/2014/main" xmlns="" id="{F435FFCB-3B36-4607-B319-4129D88F0D15}"/>
              </a:ext>
            </a:extLst>
          </p:cNvPr>
          <p:cNvSpPr txBox="1">
            <a:spLocks noChangeArrowheads="1"/>
          </p:cNvSpPr>
          <p:nvPr/>
        </p:nvSpPr>
        <p:spPr bwMode="auto">
          <a:xfrm>
            <a:off x="7410674" y="3865000"/>
            <a:ext cx="3059112" cy="460375"/>
          </a:xfrm>
          <a:prstGeom prst="rect">
            <a:avLst/>
          </a:prstGeom>
          <a:noFill/>
          <a:ln w="9525">
            <a:noFill/>
            <a:miter lim="800000"/>
            <a:headEnd/>
            <a:tailEnd/>
          </a:ln>
        </p:spPr>
        <p:txBody>
          <a:bodyPr>
            <a:spAutoFit/>
          </a:bodyPr>
          <a:lstStyle/>
          <a:p>
            <a:r>
              <a:rPr lang="zh-CN" altLang="en-US" sz="2400">
                <a:solidFill>
                  <a:srgbClr val="FF3300"/>
                </a:solidFill>
                <a:latin typeface="Times New Roman" pitchFamily="18" charset="0"/>
                <a:ea typeface="宋体" pitchFamily="2" charset="-122"/>
              </a:rPr>
              <a:t>下偏差</a:t>
            </a:r>
            <a:r>
              <a:rPr lang="en-US" altLang="zh-CN" sz="2400">
                <a:solidFill>
                  <a:srgbClr val="FF3300"/>
                </a:solidFill>
                <a:latin typeface="Times New Roman" pitchFamily="18" charset="0"/>
                <a:ea typeface="宋体" pitchFamily="2" charset="-122"/>
              </a:rPr>
              <a:t>=</a:t>
            </a:r>
            <a:r>
              <a:rPr lang="zh-CN" altLang="en-US" sz="2400">
                <a:solidFill>
                  <a:srgbClr val="FF3300"/>
                </a:solidFill>
                <a:latin typeface="Times New Roman" pitchFamily="18" charset="0"/>
                <a:ea typeface="宋体" pitchFamily="2" charset="-122"/>
              </a:rPr>
              <a:t>上偏差</a:t>
            </a:r>
            <a:r>
              <a:rPr lang="en-US" altLang="zh-CN" sz="2400">
                <a:solidFill>
                  <a:srgbClr val="FF3300"/>
                </a:solidFill>
                <a:latin typeface="Times New Roman" pitchFamily="18" charset="0"/>
                <a:ea typeface="宋体" pitchFamily="2" charset="-122"/>
              </a:rPr>
              <a:t>-</a:t>
            </a:r>
            <a:r>
              <a:rPr lang="zh-CN" altLang="en-US" sz="2400">
                <a:solidFill>
                  <a:srgbClr val="FF3300"/>
                </a:solidFill>
                <a:latin typeface="Times New Roman" pitchFamily="18" charset="0"/>
                <a:ea typeface="宋体" pitchFamily="2" charset="-122"/>
              </a:rPr>
              <a:t>公差</a:t>
            </a:r>
          </a:p>
        </p:txBody>
      </p:sp>
      <p:sp>
        <p:nvSpPr>
          <p:cNvPr id="38" name="Rectangle 30">
            <a:extLst>
              <a:ext uri="{FF2B5EF4-FFF2-40B4-BE49-F238E27FC236}">
                <a16:creationId xmlns:a16="http://schemas.microsoft.com/office/drawing/2014/main" xmlns="" id="{7370072C-5B15-45D3-AB90-5B5B9F31D270}"/>
              </a:ext>
            </a:extLst>
          </p:cNvPr>
          <p:cNvSpPr>
            <a:spLocks noChangeArrowheads="1"/>
          </p:cNvSpPr>
          <p:nvPr/>
        </p:nvSpPr>
        <p:spPr bwMode="auto">
          <a:xfrm>
            <a:off x="4349974" y="3722125"/>
            <a:ext cx="714375" cy="446087"/>
          </a:xfrm>
          <a:prstGeom prst="rect">
            <a:avLst/>
          </a:prstGeom>
          <a:solidFill>
            <a:srgbClr val="FF66FF"/>
          </a:solidFill>
          <a:ln w="9525">
            <a:solidFill>
              <a:schemeClr val="tx1"/>
            </a:solidFill>
            <a:miter lim="800000"/>
            <a:headEnd/>
            <a:tailEnd/>
          </a:ln>
        </p:spPr>
        <p:txBody>
          <a:bodyPr wrap="none" anchor="ctr"/>
          <a:lstStyle/>
          <a:p>
            <a:pPr algn="ctr"/>
            <a:endParaRPr lang="zh-CN" altLang="en-US"/>
          </a:p>
        </p:txBody>
      </p:sp>
      <p:sp>
        <p:nvSpPr>
          <p:cNvPr id="39" name="Text Box 25">
            <a:extLst>
              <a:ext uri="{FF2B5EF4-FFF2-40B4-BE49-F238E27FC236}">
                <a16:creationId xmlns:a16="http://schemas.microsoft.com/office/drawing/2014/main" xmlns="" id="{F6A89674-D851-42E0-A800-7F5701CB3EED}"/>
              </a:ext>
            </a:extLst>
          </p:cNvPr>
          <p:cNvSpPr txBox="1">
            <a:spLocks noChangeArrowheads="1"/>
          </p:cNvSpPr>
          <p:nvPr/>
        </p:nvSpPr>
        <p:spPr bwMode="auto">
          <a:xfrm>
            <a:off x="1033628" y="5809618"/>
            <a:ext cx="2038036" cy="463846"/>
          </a:xfrm>
          <a:prstGeom prst="rect">
            <a:avLst/>
          </a:prstGeom>
          <a:noFill/>
          <a:ln w="12700">
            <a:noFill/>
            <a:miter lim="800000"/>
            <a:headEnd type="none" w="sm" len="lg"/>
            <a:tailEnd type="none" w="sm" len="lg"/>
          </a:ln>
        </p:spPr>
        <p:txBody>
          <a:bodyPr wrap="none" lIns="90000" tIns="46800" rIns="90000" bIns="46800" anchor="ctr">
            <a:spAutoFit/>
          </a:bodyPr>
          <a:lstStyle/>
          <a:p>
            <a:pPr algn="ctr"/>
            <a:r>
              <a:rPr lang="zh-CN" altLang="en-US" sz="2400" b="1" dirty="0">
                <a:solidFill>
                  <a:srgbClr val="FF3300"/>
                </a:solidFill>
                <a:latin typeface="宋体" pitchFamily="2" charset="-122"/>
                <a:ea typeface="宋体" pitchFamily="2" charset="-122"/>
              </a:rPr>
              <a:t>☆基本偏差：</a:t>
            </a:r>
          </a:p>
        </p:txBody>
      </p:sp>
      <p:sp>
        <p:nvSpPr>
          <p:cNvPr id="41" name="Text Box 45">
            <a:extLst>
              <a:ext uri="{FF2B5EF4-FFF2-40B4-BE49-F238E27FC236}">
                <a16:creationId xmlns:a16="http://schemas.microsoft.com/office/drawing/2014/main" xmlns="" id="{A419061A-0C35-464C-84D2-8883453CFCC2}"/>
              </a:ext>
            </a:extLst>
          </p:cNvPr>
          <p:cNvSpPr txBox="1">
            <a:spLocks noChangeArrowheads="1"/>
          </p:cNvSpPr>
          <p:nvPr/>
        </p:nvSpPr>
        <p:spPr bwMode="auto">
          <a:xfrm>
            <a:off x="3185111" y="5815083"/>
            <a:ext cx="7263527" cy="461665"/>
          </a:xfrm>
          <a:prstGeom prst="rect">
            <a:avLst/>
          </a:prstGeom>
          <a:noFill/>
          <a:ln w="9525">
            <a:noFill/>
            <a:miter lim="800000"/>
            <a:headEnd/>
            <a:tailEnd/>
          </a:ln>
        </p:spPr>
        <p:txBody>
          <a:bodyPr wrap="none">
            <a:spAutoFit/>
          </a:bodyPr>
          <a:lstStyle/>
          <a:p>
            <a:r>
              <a:rPr lang="zh-CN" altLang="en-US" sz="2400" dirty="0">
                <a:solidFill>
                  <a:schemeClr val="tx1"/>
                </a:solidFill>
                <a:latin typeface="宋体" pitchFamily="2" charset="-122"/>
                <a:ea typeface="宋体" pitchFamily="2" charset="-122"/>
              </a:rPr>
              <a:t>公差带中靠近零线位置的上极限偏差或下极限偏差。</a:t>
            </a:r>
          </a:p>
        </p:txBody>
      </p:sp>
      <p:sp>
        <p:nvSpPr>
          <p:cNvPr id="42" name="Text Box 46">
            <a:extLst>
              <a:ext uri="{FF2B5EF4-FFF2-40B4-BE49-F238E27FC236}">
                <a16:creationId xmlns:a16="http://schemas.microsoft.com/office/drawing/2014/main" xmlns="" id="{8BF912E3-91EB-4CA9-933F-CB9472D33E22}"/>
              </a:ext>
            </a:extLst>
          </p:cNvPr>
          <p:cNvSpPr txBox="1">
            <a:spLocks noChangeArrowheads="1"/>
          </p:cNvSpPr>
          <p:nvPr/>
        </p:nvSpPr>
        <p:spPr bwMode="auto">
          <a:xfrm>
            <a:off x="3185110" y="6309320"/>
            <a:ext cx="7591409" cy="461665"/>
          </a:xfrm>
          <a:prstGeom prst="rect">
            <a:avLst/>
          </a:prstGeom>
          <a:solidFill>
            <a:schemeClr val="bg1"/>
          </a:solidFill>
          <a:ln w="9525">
            <a:noFill/>
            <a:miter lim="800000"/>
            <a:headEnd/>
            <a:tailEnd/>
          </a:ln>
        </p:spPr>
        <p:txBody>
          <a:bodyPr wrap="square">
            <a:spAutoFit/>
          </a:bodyPr>
          <a:lstStyle/>
          <a:p>
            <a:r>
              <a:rPr lang="zh-CN" altLang="en-US" sz="2400" dirty="0">
                <a:solidFill>
                  <a:srgbClr val="FF3300"/>
                </a:solidFill>
              </a:rPr>
              <a:t>代号</a:t>
            </a:r>
            <a:r>
              <a:rPr lang="en-US" altLang="zh-CN" sz="2400" dirty="0">
                <a:solidFill>
                  <a:srgbClr val="FF3300"/>
                </a:solidFill>
              </a:rPr>
              <a:t>: </a:t>
            </a:r>
            <a:r>
              <a:rPr lang="zh-CN" altLang="en-US" sz="2400" dirty="0">
                <a:solidFill>
                  <a:srgbClr val="FF3300"/>
                </a:solidFill>
                <a:latin typeface="宋体" pitchFamily="2" charset="-122"/>
                <a:ea typeface="宋体" pitchFamily="2" charset="-122"/>
              </a:rPr>
              <a:t>孔用大写字母</a:t>
            </a:r>
            <a:r>
              <a:rPr lang="en-US" altLang="zh-CN" sz="2400" dirty="0">
                <a:solidFill>
                  <a:srgbClr val="FF3300"/>
                </a:solidFill>
                <a:latin typeface="宋体" pitchFamily="2" charset="-122"/>
                <a:ea typeface="宋体" pitchFamily="2" charset="-122"/>
              </a:rPr>
              <a:t>A,B…</a:t>
            </a:r>
            <a:r>
              <a:rPr lang="zh-CN" altLang="en-US" sz="2400" dirty="0">
                <a:solidFill>
                  <a:srgbClr val="FF3300"/>
                </a:solidFill>
                <a:latin typeface="宋体" pitchFamily="2" charset="-122"/>
                <a:ea typeface="宋体" pitchFamily="2" charset="-122"/>
              </a:rPr>
              <a:t>，轴用小字母表示</a:t>
            </a:r>
            <a:r>
              <a:rPr lang="en-US" altLang="zh-CN" sz="2400" dirty="0">
                <a:solidFill>
                  <a:srgbClr val="FF3300"/>
                </a:solidFill>
                <a:latin typeface="宋体" pitchFamily="2" charset="-122"/>
                <a:ea typeface="宋体" pitchFamily="2" charset="-122"/>
              </a:rPr>
              <a:t>a</a:t>
            </a:r>
            <a:r>
              <a:rPr lang="zh-CN" altLang="en-US" sz="2400" dirty="0">
                <a:solidFill>
                  <a:srgbClr val="FF3300"/>
                </a:solidFill>
                <a:latin typeface="宋体" pitchFamily="2" charset="-122"/>
                <a:ea typeface="宋体" pitchFamily="2" charset="-122"/>
              </a:rPr>
              <a:t>，</a:t>
            </a:r>
            <a:r>
              <a:rPr lang="en-US" altLang="zh-CN" sz="2400" dirty="0">
                <a:solidFill>
                  <a:srgbClr val="FF3300"/>
                </a:solidFill>
                <a:latin typeface="宋体" pitchFamily="2" charset="-122"/>
                <a:ea typeface="宋体" pitchFamily="2" charset="-122"/>
              </a:rPr>
              <a:t>b…</a:t>
            </a:r>
            <a:r>
              <a:rPr lang="zh-CN" altLang="en-US" sz="2400" dirty="0">
                <a:solidFill>
                  <a:srgbClr val="FF3300"/>
                </a:solidFill>
                <a:latin typeface="宋体" pitchFamily="2" charset="-122"/>
                <a:ea typeface="宋体" pitchFamily="2" charset="-122"/>
              </a:rPr>
              <a:t>。</a:t>
            </a:r>
          </a:p>
        </p:txBody>
      </p:sp>
    </p:spTree>
    <p:extLst>
      <p:ext uri="{BB962C8B-B14F-4D97-AF65-F5344CB8AC3E}">
        <p14:creationId xmlns:p14="http://schemas.microsoft.com/office/powerpoint/2010/main" val="127153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75"/>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lide(from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75"/>
                                        <p:tgtEl>
                                          <p:spTgt spid="8"/>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iterate type="lt">
                                    <p:tmPct val="100000"/>
                                  </p:iterate>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75"/>
                                        <p:tgtEl>
                                          <p:spTgt spid="6"/>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par>
                          <p:cTn id="23" fill="hold">
                            <p:stCondLst>
                              <p:cond delay="3450"/>
                            </p:stCondLst>
                            <p:childTnLst>
                              <p:par>
                                <p:cTn id="24" presetID="3" presetClass="entr" presetSubtype="10" fill="hold" grpId="0" nodeType="afterEffect" nodePh="1">
                                  <p:stCondLst>
                                    <p:cond delay="0"/>
                                  </p:stCondLst>
                                  <p:endCondLst>
                                    <p:cond evt="begin" delay="0">
                                      <p:tn val="24"/>
                                    </p:cond>
                                  </p:endCondLst>
                                  <p:iterate type="lt">
                                    <p:tmPct val="100000"/>
                                  </p:iterate>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75"/>
                                        <p:tgtEl>
                                          <p:spTgt spid="7"/>
                                        </p:tgtEl>
                                      </p:cBhvr>
                                    </p:animEffect>
                                  </p:childTnLst>
                                  <p:subTnLst>
                                    <p:audio>
                                      <p:cMediaNode>
                                        <p:cTn display="0" masterRel="sameClick">
                                          <p:stCondLst>
                                            <p:cond evt="begin" delay="0">
                                              <p:tn val="24"/>
                                            </p:cond>
                                          </p:stCondLst>
                                          <p:endCondLst>
                                            <p:cond evt="onStopAudio" delay="0">
                                              <p:tgtEl>
                                                <p:sldTgt/>
                                              </p:tgtEl>
                                            </p:cond>
                                          </p:endCondLst>
                                        </p:cTn>
                                        <p:tgtEl>
                                          <p:sndTgt r:embed="rId2" name="TYPE.WAV"/>
                                        </p:tgtEl>
                                      </p:cMediaNode>
                                    </p:audio>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2" fill="hold">
                            <p:stCondLst>
                              <p:cond delay="500"/>
                            </p:stCondLst>
                            <p:childTnLst>
                              <p:par>
                                <p:cTn id="33" presetID="12" presetClass="entr" presetSubtype="4"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slide(fromBottom)">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500"/>
                                        <p:tgtEl>
                                          <p:spTgt spid="29"/>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dissolve">
                                      <p:cBhvr>
                                        <p:cTn id="44" dur="500"/>
                                        <p:tgtEl>
                                          <p:spTgt spid="11"/>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ppt_x</p:attrName>
                                        </p:attrNameLst>
                                      </p:cBhvr>
                                      <p:tavLst>
                                        <p:tav tm="0">
                                          <p:val>
                                            <p:strVal val="#ppt_x-#ppt_w/2"/>
                                          </p:val>
                                        </p:tav>
                                        <p:tav tm="100000">
                                          <p:val>
                                            <p:strVal val="#ppt_x"/>
                                          </p:val>
                                        </p:tav>
                                      </p:tavLst>
                                    </p:anim>
                                    <p:anim calcmode="lin" valueType="num">
                                      <p:cBhvr>
                                        <p:cTn id="54" dur="500" fill="hold"/>
                                        <p:tgtEl>
                                          <p:spTgt spid="12"/>
                                        </p:tgtEl>
                                        <p:attrNameLst>
                                          <p:attrName>ppt_y</p:attrName>
                                        </p:attrNameLst>
                                      </p:cBhvr>
                                      <p:tavLst>
                                        <p:tav tm="0">
                                          <p:val>
                                            <p:strVal val="#ppt_y"/>
                                          </p:val>
                                        </p:tav>
                                        <p:tav tm="100000">
                                          <p:val>
                                            <p:strVal val="#ppt_y"/>
                                          </p:val>
                                        </p:tav>
                                      </p:tavLst>
                                    </p:anim>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blinds(horizontal)">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iterate type="lt">
                                    <p:tmPct val="100000"/>
                                  </p:iterate>
                                  <p:childTnLst>
                                    <p:set>
                                      <p:cBhvr>
                                        <p:cTn id="65" dur="1" fill="hold">
                                          <p:stCondLst>
                                            <p:cond delay="0"/>
                                          </p:stCondLst>
                                        </p:cTn>
                                        <p:tgtEl>
                                          <p:spTgt spid="39"/>
                                        </p:tgtEl>
                                        <p:attrNameLst>
                                          <p:attrName>style.visibility</p:attrName>
                                        </p:attrNameLst>
                                      </p:cBhvr>
                                      <p:to>
                                        <p:strVal val="visible"/>
                                      </p:to>
                                    </p:set>
                                    <p:animEffect transition="in" filter="blinds(horizontal)">
                                      <p:cBhvr>
                                        <p:cTn id="66" dur="75"/>
                                        <p:tgtEl>
                                          <p:spTgt spid="39"/>
                                        </p:tgtEl>
                                      </p:cBhvr>
                                    </p:animEffect>
                                  </p:childTnLst>
                                  <p:subTnLst>
                                    <p:audio>
                                      <p:cMediaNode>
                                        <p:cTn display="0" masterRel="sameClick">
                                          <p:stCondLst>
                                            <p:cond evt="begin" delay="0">
                                              <p:tn val="64"/>
                                            </p:cond>
                                          </p:stCondLst>
                                          <p:endCondLst>
                                            <p:cond evt="onStopAudio" delay="0">
                                              <p:tgtEl>
                                                <p:sldTgt/>
                                              </p:tgtEl>
                                            </p:cond>
                                          </p:endCondLst>
                                        </p:cTn>
                                        <p:tgtEl>
                                          <p:sndTgt r:embed="rId2" name="TYPE.WAV"/>
                                        </p:tgtEl>
                                      </p:cMediaNode>
                                    </p:audio>
                                  </p:subTnLst>
                                </p:cTn>
                              </p:par>
                            </p:childTnLst>
                          </p:cTn>
                        </p:par>
                      </p:childTnLst>
                    </p:cTn>
                  </p:par>
                  <p:par>
                    <p:cTn id="67" fill="hold">
                      <p:stCondLst>
                        <p:cond delay="indefinite"/>
                      </p:stCondLst>
                      <p:childTnLst>
                        <p:par>
                          <p:cTn id="68" fill="hold">
                            <p:stCondLst>
                              <p:cond delay="0"/>
                            </p:stCondLst>
                            <p:childTnLst>
                              <p:par>
                                <p:cTn id="69" presetID="12" presetClass="entr" presetSubtype="8"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slide(fromLeft)">
                                      <p:cBhvr>
                                        <p:cTn id="71" dur="500"/>
                                        <p:tgtEl>
                                          <p:spTgt spid="41"/>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8" fill="hold" grpId="0" nodeType="click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slide(fromLeft)">
                                      <p:cBhvr>
                                        <p:cTn id="76" dur="500"/>
                                        <p:tgtEl>
                                          <p:spTgt spid="42"/>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box(out)">
                                      <p:cBhvr>
                                        <p:cTn id="81" dur="500"/>
                                        <p:tgtEl>
                                          <p:spTgt spid="36"/>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box(out)">
                                      <p:cBhvr>
                                        <p:cTn id="8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P spid="9" grpId="0" autoUpdateAnimBg="0"/>
      <p:bldP spid="11" grpId="0" animBg="1"/>
      <p:bldP spid="36" grpId="0" autoUpdateAnimBg="0"/>
      <p:bldP spid="37" grpId="0" autoUpdateAnimBg="0"/>
      <p:bldP spid="38" grpId="0" animBg="1"/>
      <p:bldP spid="39" grpId="0" autoUpdateAnimBg="0"/>
      <p:bldP spid="41" grpId="0" autoUpdateAnimBg="0"/>
      <p:bldP spid="42"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xmlns="" id="{AF90D81B-7C0F-4367-AA6D-21F401DAF710}"/>
              </a:ext>
            </a:extLst>
          </p:cNvPr>
          <p:cNvSpPr txBox="1">
            <a:spLocks noChangeArrowheads="1"/>
          </p:cNvSpPr>
          <p:nvPr/>
        </p:nvSpPr>
        <p:spPr bwMode="auto">
          <a:xfrm>
            <a:off x="5051884" y="1483179"/>
            <a:ext cx="6369050" cy="463550"/>
          </a:xfrm>
          <a:prstGeom prst="rect">
            <a:avLst/>
          </a:prstGeom>
          <a:noFill/>
          <a:ln w="12700">
            <a:noFill/>
            <a:miter lim="800000"/>
            <a:headEnd type="none" w="sm" len="lg"/>
            <a:tailEnd type="none" w="sm" len="lg"/>
          </a:ln>
        </p:spPr>
        <p:txBody>
          <a:bodyPr wrap="none" lIns="90000" tIns="46800" rIns="90000" bIns="46800" anchor="ctr">
            <a:spAutoFit/>
          </a:bodyPr>
          <a:lstStyle/>
          <a:p>
            <a:r>
              <a:rPr lang="zh-CN" altLang="en-US" sz="2400" dirty="0">
                <a:solidFill>
                  <a:schemeClr val="tx1"/>
                </a:solidFill>
                <a:latin typeface="Times New Roman" pitchFamily="18" charset="0"/>
                <a:ea typeface="宋体" pitchFamily="2" charset="-122"/>
              </a:rPr>
              <a:t>基本偏差系列，确定了孔和轴的公差带位置。</a:t>
            </a:r>
          </a:p>
        </p:txBody>
      </p:sp>
      <p:sp>
        <p:nvSpPr>
          <p:cNvPr id="3" name="Text Box 5">
            <a:extLst>
              <a:ext uri="{FF2B5EF4-FFF2-40B4-BE49-F238E27FC236}">
                <a16:creationId xmlns:a16="http://schemas.microsoft.com/office/drawing/2014/main" xmlns="" id="{31EF4E21-F96B-43E8-9D85-16D201B1BFA5}"/>
              </a:ext>
            </a:extLst>
          </p:cNvPr>
          <p:cNvSpPr txBox="1">
            <a:spLocks noChangeArrowheads="1"/>
          </p:cNvSpPr>
          <p:nvPr/>
        </p:nvSpPr>
        <p:spPr bwMode="auto">
          <a:xfrm>
            <a:off x="3899756" y="355479"/>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4" name="Text Box 6">
            <a:extLst>
              <a:ext uri="{FF2B5EF4-FFF2-40B4-BE49-F238E27FC236}">
                <a16:creationId xmlns:a16="http://schemas.microsoft.com/office/drawing/2014/main" xmlns="" id="{05B1651E-6DEB-4390-90E1-F5A1D47B4DFC}"/>
              </a:ext>
            </a:extLst>
          </p:cNvPr>
          <p:cNvSpPr txBox="1">
            <a:spLocks noChangeArrowheads="1"/>
          </p:cNvSpPr>
          <p:nvPr/>
        </p:nvSpPr>
        <p:spPr bwMode="auto">
          <a:xfrm>
            <a:off x="1091444" y="797927"/>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pic>
        <p:nvPicPr>
          <p:cNvPr id="5" name="Picture 4">
            <a:extLst>
              <a:ext uri="{FF2B5EF4-FFF2-40B4-BE49-F238E27FC236}">
                <a16:creationId xmlns:a16="http://schemas.microsoft.com/office/drawing/2014/main" xmlns="" id="{EA7CBB2D-2585-4C5C-9695-E5305A3222DC}"/>
              </a:ext>
            </a:extLst>
          </p:cNvPr>
          <p:cNvPicPr>
            <a:picLocks noChangeAspect="1" noChangeArrowheads="1"/>
          </p:cNvPicPr>
          <p:nvPr/>
        </p:nvPicPr>
        <p:blipFill>
          <a:blip r:embed="rId2"/>
          <a:srcRect r="14645"/>
          <a:stretch>
            <a:fillRect/>
          </a:stretch>
        </p:blipFill>
        <p:spPr bwMode="auto">
          <a:xfrm>
            <a:off x="2956211" y="1946729"/>
            <a:ext cx="6735762" cy="2279650"/>
          </a:xfrm>
          <a:prstGeom prst="rect">
            <a:avLst/>
          </a:prstGeom>
          <a:noFill/>
          <a:ln w="9525">
            <a:noFill/>
            <a:miter lim="800000"/>
            <a:headEnd/>
            <a:tailEnd/>
          </a:ln>
        </p:spPr>
      </p:pic>
      <p:pic>
        <p:nvPicPr>
          <p:cNvPr id="6" name="Picture 6">
            <a:extLst>
              <a:ext uri="{FF2B5EF4-FFF2-40B4-BE49-F238E27FC236}">
                <a16:creationId xmlns:a16="http://schemas.microsoft.com/office/drawing/2014/main" xmlns="" id="{29D16A9A-F035-4B14-B92F-D5FA66F8CBFC}"/>
              </a:ext>
            </a:extLst>
          </p:cNvPr>
          <p:cNvPicPr>
            <a:picLocks noChangeAspect="1" noChangeArrowheads="1"/>
          </p:cNvPicPr>
          <p:nvPr/>
        </p:nvPicPr>
        <p:blipFill>
          <a:blip r:embed="rId3"/>
          <a:srcRect r="13969"/>
          <a:stretch>
            <a:fillRect/>
          </a:stretch>
        </p:blipFill>
        <p:spPr bwMode="auto">
          <a:xfrm>
            <a:off x="2951448" y="4196217"/>
            <a:ext cx="6804025" cy="2386012"/>
          </a:xfrm>
          <a:prstGeom prst="rect">
            <a:avLst/>
          </a:prstGeom>
          <a:noFill/>
          <a:ln w="9525">
            <a:noFill/>
            <a:miter lim="800000"/>
            <a:headEnd/>
            <a:tailEnd/>
          </a:ln>
        </p:spPr>
      </p:pic>
      <p:sp>
        <p:nvSpPr>
          <p:cNvPr id="7" name="Text Box 201">
            <a:extLst>
              <a:ext uri="{FF2B5EF4-FFF2-40B4-BE49-F238E27FC236}">
                <a16:creationId xmlns:a16="http://schemas.microsoft.com/office/drawing/2014/main" xmlns="" id="{D7E940EC-264E-48AE-9DF5-B0BEAE187446}"/>
              </a:ext>
            </a:extLst>
          </p:cNvPr>
          <p:cNvSpPr txBox="1">
            <a:spLocks noChangeArrowheads="1"/>
          </p:cNvSpPr>
          <p:nvPr/>
        </p:nvSpPr>
        <p:spPr bwMode="auto">
          <a:xfrm>
            <a:off x="5726398" y="6156779"/>
            <a:ext cx="2041525" cy="461963"/>
          </a:xfrm>
          <a:prstGeom prst="rect">
            <a:avLst/>
          </a:prstGeom>
          <a:gradFill rotWithShape="1">
            <a:gsLst>
              <a:gs pos="0">
                <a:srgbClr val="5E9EFF"/>
              </a:gs>
              <a:gs pos="39999">
                <a:srgbClr val="85C2FF"/>
              </a:gs>
              <a:gs pos="70000">
                <a:srgbClr val="C4D6EB"/>
              </a:gs>
              <a:gs pos="100000">
                <a:srgbClr val="FFEBFA"/>
              </a:gs>
            </a:gsLst>
            <a:lin ang="16200000" scaled="1"/>
          </a:gradFill>
          <a:ln w="9525">
            <a:noFill/>
            <a:miter lim="800000"/>
            <a:headEnd/>
            <a:tailEnd/>
          </a:ln>
        </p:spPr>
        <p:txBody>
          <a:bodyPr wrap="none">
            <a:spAutoFit/>
          </a:bodyPr>
          <a:lstStyle/>
          <a:p>
            <a:r>
              <a:rPr lang="zh-CN" altLang="en-US" sz="2400">
                <a:solidFill>
                  <a:schemeClr val="tx1"/>
                </a:solidFill>
                <a:latin typeface="Times New Roman" pitchFamily="18" charset="0"/>
                <a:ea typeface="宋体" pitchFamily="2" charset="-122"/>
              </a:rPr>
              <a:t>基本偏差系列</a:t>
            </a:r>
          </a:p>
        </p:txBody>
      </p:sp>
      <p:grpSp>
        <p:nvGrpSpPr>
          <p:cNvPr id="8" name="Group 3">
            <a:extLst>
              <a:ext uri="{FF2B5EF4-FFF2-40B4-BE49-F238E27FC236}">
                <a16:creationId xmlns:a16="http://schemas.microsoft.com/office/drawing/2014/main" xmlns="" id="{75C62346-B393-40A3-B00C-2B7C66640130}"/>
              </a:ext>
            </a:extLst>
          </p:cNvPr>
          <p:cNvGrpSpPr>
            <a:grpSpLocks/>
          </p:cNvGrpSpPr>
          <p:nvPr/>
        </p:nvGrpSpPr>
        <p:grpSpPr bwMode="auto">
          <a:xfrm>
            <a:off x="5188236" y="3483429"/>
            <a:ext cx="820737" cy="517525"/>
            <a:chOff x="2133" y="1644"/>
            <a:chExt cx="554" cy="398"/>
          </a:xfrm>
        </p:grpSpPr>
        <p:sp>
          <p:nvSpPr>
            <p:cNvPr id="9" name="Line 4">
              <a:extLst>
                <a:ext uri="{FF2B5EF4-FFF2-40B4-BE49-F238E27FC236}">
                  <a16:creationId xmlns:a16="http://schemas.microsoft.com/office/drawing/2014/main" xmlns="" id="{5B7211CF-95E2-4E18-B9EA-4B852714DE71}"/>
                </a:ext>
              </a:extLst>
            </p:cNvPr>
            <p:cNvSpPr>
              <a:spLocks noChangeShapeType="1"/>
            </p:cNvSpPr>
            <p:nvPr/>
          </p:nvSpPr>
          <p:spPr bwMode="auto">
            <a:xfrm flipV="1">
              <a:off x="2477" y="1644"/>
              <a:ext cx="202" cy="202"/>
            </a:xfrm>
            <a:prstGeom prst="line">
              <a:avLst/>
            </a:prstGeom>
            <a:noFill/>
            <a:ln w="38100">
              <a:solidFill>
                <a:srgbClr val="000099"/>
              </a:solidFill>
              <a:round/>
              <a:headEnd type="none" w="sm" len="lg"/>
              <a:tailEnd type="triangle" w="sm" len="lg"/>
            </a:ln>
          </p:spPr>
          <p:txBody>
            <a:bodyPr wrap="none" lIns="90000" tIns="46800" rIns="90000" bIns="46800" anchor="ctr">
              <a:spAutoFit/>
            </a:bodyPr>
            <a:lstStyle/>
            <a:p>
              <a:endParaRPr lang="zh-CN" altLang="en-US"/>
            </a:p>
          </p:txBody>
        </p:sp>
        <p:sp>
          <p:nvSpPr>
            <p:cNvPr id="10" name="Text Box 5">
              <a:extLst>
                <a:ext uri="{FF2B5EF4-FFF2-40B4-BE49-F238E27FC236}">
                  <a16:creationId xmlns:a16="http://schemas.microsoft.com/office/drawing/2014/main" xmlns="" id="{EEBBBA42-CD88-4B67-AA35-C8DDC7480B23}"/>
                </a:ext>
              </a:extLst>
            </p:cNvPr>
            <p:cNvSpPr txBox="1">
              <a:spLocks noChangeArrowheads="1"/>
            </p:cNvSpPr>
            <p:nvPr/>
          </p:nvSpPr>
          <p:spPr bwMode="auto">
            <a:xfrm>
              <a:off x="2133" y="1808"/>
              <a:ext cx="554" cy="234"/>
            </a:xfrm>
            <a:prstGeom prst="rect">
              <a:avLst/>
            </a:prstGeom>
            <a:noFill/>
            <a:ln w="12700">
              <a:noFill/>
              <a:miter lim="800000"/>
              <a:headEnd type="none" w="sm" len="lg"/>
              <a:tailEnd type="none" w="sm" len="lg"/>
            </a:ln>
          </p:spPr>
          <p:txBody>
            <a:bodyPr wrap="none" lIns="90000" tIns="46800" rIns="90000" bIns="46800" anchor="ctr">
              <a:spAutoFit/>
            </a:bodyPr>
            <a:lstStyle/>
            <a:p>
              <a:pPr algn="ctr"/>
              <a:r>
                <a:rPr lang="zh-CN" altLang="en-US" sz="1800">
                  <a:solidFill>
                    <a:srgbClr val="333399"/>
                  </a:solidFill>
                  <a:latin typeface="Times New Roman" pitchFamily="18" charset="0"/>
                  <a:ea typeface="宋体" pitchFamily="2" charset="-122"/>
                </a:rPr>
                <a:t>基准孔</a:t>
              </a:r>
            </a:p>
          </p:txBody>
        </p:sp>
      </p:grpSp>
      <p:grpSp>
        <p:nvGrpSpPr>
          <p:cNvPr id="11" name="Group 6">
            <a:extLst>
              <a:ext uri="{FF2B5EF4-FFF2-40B4-BE49-F238E27FC236}">
                <a16:creationId xmlns:a16="http://schemas.microsoft.com/office/drawing/2014/main" xmlns="" id="{3534ADA8-38E7-48E5-908B-AE7A0D8C19BD}"/>
              </a:ext>
            </a:extLst>
          </p:cNvPr>
          <p:cNvGrpSpPr>
            <a:grpSpLocks/>
          </p:cNvGrpSpPr>
          <p:nvPr/>
        </p:nvGrpSpPr>
        <p:grpSpPr bwMode="auto">
          <a:xfrm>
            <a:off x="5273961" y="4499429"/>
            <a:ext cx="879475" cy="520700"/>
            <a:chOff x="2259" y="2449"/>
            <a:chExt cx="554" cy="435"/>
          </a:xfrm>
        </p:grpSpPr>
        <p:sp>
          <p:nvSpPr>
            <p:cNvPr id="12" name="Line 7">
              <a:extLst>
                <a:ext uri="{FF2B5EF4-FFF2-40B4-BE49-F238E27FC236}">
                  <a16:creationId xmlns:a16="http://schemas.microsoft.com/office/drawing/2014/main" xmlns="" id="{FF5B07F5-83A8-4DA9-9891-2D0442CAC252}"/>
                </a:ext>
              </a:extLst>
            </p:cNvPr>
            <p:cNvSpPr>
              <a:spLocks noChangeShapeType="1"/>
            </p:cNvSpPr>
            <p:nvPr/>
          </p:nvSpPr>
          <p:spPr bwMode="auto">
            <a:xfrm rot="7318948" flipH="1">
              <a:off x="2579" y="2708"/>
              <a:ext cx="163" cy="190"/>
            </a:xfrm>
            <a:prstGeom prst="line">
              <a:avLst/>
            </a:prstGeom>
            <a:noFill/>
            <a:ln w="38100">
              <a:solidFill>
                <a:srgbClr val="000099"/>
              </a:solidFill>
              <a:round/>
              <a:headEnd type="triangle" w="sm" len="lg"/>
              <a:tailEnd type="none" w="sm" len="lg"/>
            </a:ln>
          </p:spPr>
          <p:txBody>
            <a:bodyPr lIns="90000" tIns="46800" rIns="90000" bIns="46800" anchor="ctr">
              <a:spAutoFit/>
            </a:bodyPr>
            <a:lstStyle/>
            <a:p>
              <a:endParaRPr lang="zh-CN" altLang="en-US"/>
            </a:p>
          </p:txBody>
        </p:sp>
        <p:sp>
          <p:nvSpPr>
            <p:cNvPr id="13" name="Text Box 8">
              <a:extLst>
                <a:ext uri="{FF2B5EF4-FFF2-40B4-BE49-F238E27FC236}">
                  <a16:creationId xmlns:a16="http://schemas.microsoft.com/office/drawing/2014/main" xmlns="" id="{ABB24FC3-188D-4FDC-AFD8-62E8CF31E48C}"/>
                </a:ext>
              </a:extLst>
            </p:cNvPr>
            <p:cNvSpPr txBox="1">
              <a:spLocks noChangeArrowheads="1"/>
            </p:cNvSpPr>
            <p:nvPr/>
          </p:nvSpPr>
          <p:spPr bwMode="auto">
            <a:xfrm>
              <a:off x="2259" y="2449"/>
              <a:ext cx="554" cy="234"/>
            </a:xfrm>
            <a:prstGeom prst="rect">
              <a:avLst/>
            </a:prstGeom>
            <a:noFill/>
            <a:ln w="12700">
              <a:noFill/>
              <a:miter lim="800000"/>
              <a:headEnd type="none" w="sm" len="lg"/>
              <a:tailEnd type="none" w="sm" len="lg"/>
            </a:ln>
          </p:spPr>
          <p:txBody>
            <a:bodyPr wrap="none" lIns="90000" tIns="46800" rIns="90000" bIns="46800" anchor="ctr">
              <a:spAutoFit/>
            </a:bodyPr>
            <a:lstStyle/>
            <a:p>
              <a:pPr algn="ctr"/>
              <a:r>
                <a:rPr lang="zh-CN" altLang="en-US" sz="1800">
                  <a:solidFill>
                    <a:srgbClr val="333399"/>
                  </a:solidFill>
                  <a:latin typeface="Times New Roman" pitchFamily="18" charset="0"/>
                  <a:ea typeface="宋体" pitchFamily="2" charset="-122"/>
                </a:rPr>
                <a:t>基准轴</a:t>
              </a:r>
            </a:p>
          </p:txBody>
        </p:sp>
      </p:grpSp>
      <p:sp>
        <p:nvSpPr>
          <p:cNvPr id="14" name="Text Box 20">
            <a:extLst>
              <a:ext uri="{FF2B5EF4-FFF2-40B4-BE49-F238E27FC236}">
                <a16:creationId xmlns:a16="http://schemas.microsoft.com/office/drawing/2014/main" xmlns="" id="{24730F56-9177-4256-A63C-B2F1D43C67D4}"/>
              </a:ext>
            </a:extLst>
          </p:cNvPr>
          <p:cNvSpPr txBox="1">
            <a:spLocks noChangeArrowheads="1"/>
          </p:cNvSpPr>
          <p:nvPr/>
        </p:nvSpPr>
        <p:spPr bwMode="auto">
          <a:xfrm>
            <a:off x="969391" y="1360175"/>
            <a:ext cx="3431045" cy="463846"/>
          </a:xfrm>
          <a:prstGeom prst="rect">
            <a:avLst/>
          </a:prstGeom>
          <a:noFill/>
          <a:ln w="12700">
            <a:noFill/>
            <a:miter lim="800000"/>
            <a:headEnd type="none" w="sm" len="lg"/>
            <a:tailEnd type="none" w="sm" len="lg"/>
          </a:ln>
        </p:spPr>
        <p:txBody>
          <a:bodyPr wrap="none" lIns="90000" tIns="46800" rIns="90000" bIns="46800" anchor="ctr">
            <a:spAutoFit/>
          </a:bodyPr>
          <a:lstStyle/>
          <a:p>
            <a:r>
              <a:rPr lang="zh-CN" altLang="en-US" sz="2400" b="1" dirty="0">
                <a:solidFill>
                  <a:srgbClr val="0070C0"/>
                </a:solidFill>
                <a:latin typeface="宋体" pitchFamily="2" charset="-122"/>
                <a:ea typeface="宋体" pitchFamily="2" charset="-122"/>
              </a:rPr>
              <a:t>● 标准公差和基本偏差</a:t>
            </a:r>
          </a:p>
        </p:txBody>
      </p:sp>
    </p:spTree>
    <p:extLst>
      <p:ext uri="{BB962C8B-B14F-4D97-AF65-F5344CB8AC3E}">
        <p14:creationId xmlns:p14="http://schemas.microsoft.com/office/powerpoint/2010/main" val="226284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7"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xmlns="" id="{881E6C63-9FF8-4A61-961F-3F1A1BAA03E5}"/>
              </a:ext>
            </a:extLst>
          </p:cNvPr>
          <p:cNvSpPr txBox="1">
            <a:spLocks noChangeArrowheads="1"/>
          </p:cNvSpPr>
          <p:nvPr/>
        </p:nvSpPr>
        <p:spPr bwMode="auto">
          <a:xfrm>
            <a:off x="3827748" y="440668"/>
            <a:ext cx="5238750" cy="584775"/>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dirty="0">
                <a:latin typeface="黑体" panose="02010609060101010101" pitchFamily="49" charset="-122"/>
                <a:ea typeface="黑体" panose="02010609060101010101" pitchFamily="49" charset="-122"/>
              </a:rPr>
              <a:t>尺寸极限</a:t>
            </a:r>
            <a:endParaRPr lang="zh-CN" altLang="en-US" b="0" dirty="0">
              <a:latin typeface="黑体" panose="02010609060101010101" pitchFamily="49" charset="-122"/>
              <a:ea typeface="黑体" panose="02010609060101010101" pitchFamily="49" charset="-122"/>
            </a:endParaRPr>
          </a:p>
        </p:txBody>
      </p:sp>
      <p:sp>
        <p:nvSpPr>
          <p:cNvPr id="3" name="Text Box 6">
            <a:extLst>
              <a:ext uri="{FF2B5EF4-FFF2-40B4-BE49-F238E27FC236}">
                <a16:creationId xmlns:a16="http://schemas.microsoft.com/office/drawing/2014/main" xmlns="" id="{1544CBB2-176F-4BD9-B52A-A44C3715A2AA}"/>
              </a:ext>
            </a:extLst>
          </p:cNvPr>
          <p:cNvSpPr txBox="1">
            <a:spLocks noChangeArrowheads="1"/>
          </p:cNvSpPr>
          <p:nvPr/>
        </p:nvSpPr>
        <p:spPr bwMode="auto">
          <a:xfrm>
            <a:off x="1074616" y="942470"/>
            <a:ext cx="3071813" cy="523875"/>
          </a:xfrm>
          <a:prstGeom prst="rect">
            <a:avLst/>
          </a:prstGeom>
          <a:noFill/>
          <a:ln w="9525">
            <a:noFill/>
            <a:miter lim="800000"/>
            <a:headEnd/>
            <a:tailEnd/>
          </a:ln>
        </p:spPr>
        <p:txBody>
          <a:bodyPr wrap="none">
            <a:spAutoFit/>
          </a:bodyPr>
          <a:lstStyle/>
          <a:p>
            <a:r>
              <a:rPr lang="en-US" altLang="zh-CN" sz="2800" b="1" dirty="0">
                <a:solidFill>
                  <a:srgbClr val="FF0000"/>
                </a:solidFill>
              </a:rPr>
              <a:t>2.</a:t>
            </a:r>
            <a:r>
              <a:rPr lang="zh-CN" altLang="en-US" sz="2800" b="1" dirty="0">
                <a:solidFill>
                  <a:srgbClr val="FF0000"/>
                </a:solidFill>
              </a:rPr>
              <a:t>零件的尺寸公差</a:t>
            </a:r>
          </a:p>
        </p:txBody>
      </p:sp>
      <p:sp>
        <p:nvSpPr>
          <p:cNvPr id="4" name="Text Box 3">
            <a:extLst>
              <a:ext uri="{FF2B5EF4-FFF2-40B4-BE49-F238E27FC236}">
                <a16:creationId xmlns:a16="http://schemas.microsoft.com/office/drawing/2014/main" xmlns="" id="{CC3332F0-D57F-40CD-9B56-3EDEB0CEBB5F}"/>
              </a:ext>
            </a:extLst>
          </p:cNvPr>
          <p:cNvSpPr txBox="1">
            <a:spLocks noChangeArrowheads="1"/>
          </p:cNvSpPr>
          <p:nvPr/>
        </p:nvSpPr>
        <p:spPr bwMode="auto">
          <a:xfrm>
            <a:off x="1275630" y="1421961"/>
            <a:ext cx="2040943" cy="461665"/>
          </a:xfrm>
          <a:prstGeom prst="rect">
            <a:avLst/>
          </a:prstGeom>
          <a:noFill/>
          <a:ln w="9525">
            <a:noFill/>
            <a:miter lim="800000"/>
            <a:headEnd/>
            <a:tailEnd/>
          </a:ln>
        </p:spPr>
        <p:txBody>
          <a:bodyPr wrap="none">
            <a:spAutoFit/>
          </a:bodyPr>
          <a:lstStyle/>
          <a:p>
            <a:r>
              <a:rPr lang="zh-CN" altLang="en-US" sz="2400" b="1" dirty="0">
                <a:solidFill>
                  <a:srgbClr val="0070C0"/>
                </a:solidFill>
                <a:latin typeface="宋体" pitchFamily="2" charset="-122"/>
                <a:ea typeface="宋体" pitchFamily="2" charset="-122"/>
              </a:rPr>
              <a:t>●公差带代号</a:t>
            </a:r>
          </a:p>
        </p:txBody>
      </p:sp>
      <p:sp>
        <p:nvSpPr>
          <p:cNvPr id="5" name="AutoShape 2">
            <a:extLst>
              <a:ext uri="{FF2B5EF4-FFF2-40B4-BE49-F238E27FC236}">
                <a16:creationId xmlns:a16="http://schemas.microsoft.com/office/drawing/2014/main" xmlns="" id="{75649E21-DEEB-4A22-9893-2F40396C40A8}"/>
              </a:ext>
            </a:extLst>
          </p:cNvPr>
          <p:cNvSpPr>
            <a:spLocks noChangeArrowheads="1"/>
          </p:cNvSpPr>
          <p:nvPr/>
        </p:nvSpPr>
        <p:spPr bwMode="auto">
          <a:xfrm>
            <a:off x="2424398" y="2818961"/>
            <a:ext cx="1960563" cy="852488"/>
          </a:xfrm>
          <a:prstGeom prst="cloudCallout">
            <a:avLst>
              <a:gd name="adj1" fmla="val 58824"/>
              <a:gd name="adj2" fmla="val 90597"/>
            </a:avLst>
          </a:prstGeom>
          <a:gradFill rotWithShape="0">
            <a:gsLst>
              <a:gs pos="0">
                <a:srgbClr val="FAFEFE"/>
              </a:gs>
              <a:gs pos="100000">
                <a:srgbClr val="33CCCC"/>
              </a:gs>
            </a:gsLst>
            <a:path path="rect">
              <a:fillToRect l="50000" t="50000" r="50000" b="50000"/>
            </a:path>
          </a:gradFill>
          <a:ln w="9525">
            <a:solidFill>
              <a:schemeClr val="tx1"/>
            </a:solidFill>
            <a:round/>
            <a:headEnd/>
            <a:tailEnd/>
          </a:ln>
        </p:spPr>
        <p:txBody>
          <a:bodyPr wrap="none" anchor="ctr"/>
          <a:lstStyle/>
          <a:p>
            <a:pPr algn="ctr"/>
            <a:endParaRPr lang="zh-CN" altLang="zh-CN" sz="2400" b="0">
              <a:solidFill>
                <a:schemeClr val="tx1"/>
              </a:solidFill>
              <a:latin typeface="Times New Roman" pitchFamily="18" charset="0"/>
              <a:ea typeface="宋体" pitchFamily="2" charset="-122"/>
            </a:endParaRPr>
          </a:p>
        </p:txBody>
      </p:sp>
      <p:sp>
        <p:nvSpPr>
          <p:cNvPr id="6" name="Text Box 4">
            <a:extLst>
              <a:ext uri="{FF2B5EF4-FFF2-40B4-BE49-F238E27FC236}">
                <a16:creationId xmlns:a16="http://schemas.microsoft.com/office/drawing/2014/main" xmlns="" id="{6B38DC7E-BA8D-49AA-A0DC-AE94A822BDCF}"/>
              </a:ext>
            </a:extLst>
          </p:cNvPr>
          <p:cNvSpPr txBox="1">
            <a:spLocks noChangeArrowheads="1"/>
          </p:cNvSpPr>
          <p:nvPr/>
        </p:nvSpPr>
        <p:spPr bwMode="auto">
          <a:xfrm>
            <a:off x="2970885" y="2006162"/>
            <a:ext cx="2351088" cy="461963"/>
          </a:xfrm>
          <a:prstGeom prst="rect">
            <a:avLst/>
          </a:prstGeom>
          <a:noFill/>
          <a:ln w="9525">
            <a:noFill/>
            <a:miter lim="800000"/>
            <a:headEnd/>
            <a:tailEnd/>
          </a:ln>
        </p:spPr>
        <p:txBody>
          <a:bodyPr wrap="none">
            <a:spAutoFit/>
          </a:bodyPr>
          <a:lstStyle/>
          <a:p>
            <a:r>
              <a:rPr lang="zh-CN" altLang="en-US" sz="2400" dirty="0">
                <a:solidFill>
                  <a:srgbClr val="FF0000"/>
                </a:solidFill>
              </a:rPr>
              <a:t>公差带代号组成</a:t>
            </a:r>
          </a:p>
        </p:txBody>
      </p:sp>
      <p:sp>
        <p:nvSpPr>
          <p:cNvPr id="7" name="Text Box 8">
            <a:extLst>
              <a:ext uri="{FF2B5EF4-FFF2-40B4-BE49-F238E27FC236}">
                <a16:creationId xmlns:a16="http://schemas.microsoft.com/office/drawing/2014/main" xmlns="" id="{D781F5C8-6CC8-47F7-B220-0A4FF378ABF4}"/>
              </a:ext>
            </a:extLst>
          </p:cNvPr>
          <p:cNvSpPr txBox="1">
            <a:spLocks noChangeArrowheads="1"/>
          </p:cNvSpPr>
          <p:nvPr/>
        </p:nvSpPr>
        <p:spPr bwMode="auto">
          <a:xfrm>
            <a:off x="5551024" y="1670020"/>
            <a:ext cx="3898900" cy="461962"/>
          </a:xfrm>
          <a:prstGeom prst="rect">
            <a:avLst/>
          </a:prstGeom>
          <a:noFill/>
          <a:ln w="9525">
            <a:noFill/>
            <a:miter lim="800000"/>
            <a:headEnd/>
            <a:tailEnd/>
          </a:ln>
        </p:spPr>
        <p:txBody>
          <a:bodyPr wrap="none">
            <a:spAutoFit/>
          </a:bodyPr>
          <a:lstStyle/>
          <a:p>
            <a:r>
              <a:rPr lang="zh-CN" altLang="en-US" sz="2400" dirty="0">
                <a:solidFill>
                  <a:schemeClr val="tx1"/>
                </a:solidFill>
                <a:latin typeface="宋体" pitchFamily="2" charset="-122"/>
                <a:ea typeface="宋体" pitchFamily="2" charset="-122"/>
              </a:rPr>
              <a:t>基本偏差代号，如：</a:t>
            </a:r>
            <a:r>
              <a:rPr lang="en-US" altLang="zh-CN" sz="2400" i="1" dirty="0">
                <a:solidFill>
                  <a:schemeClr val="tx1"/>
                </a:solidFill>
                <a:latin typeface="宋体" pitchFamily="2" charset="-122"/>
                <a:ea typeface="宋体" pitchFamily="2" charset="-122"/>
              </a:rPr>
              <a:t>H</a:t>
            </a:r>
            <a:r>
              <a:rPr lang="zh-CN" altLang="en-US" sz="2400" dirty="0">
                <a:solidFill>
                  <a:schemeClr val="tx1"/>
                </a:solidFill>
                <a:latin typeface="宋体" pitchFamily="2" charset="-122"/>
                <a:ea typeface="宋体" pitchFamily="2" charset="-122"/>
              </a:rPr>
              <a:t>、</a:t>
            </a:r>
            <a:r>
              <a:rPr lang="en-US" altLang="zh-CN" sz="2400" i="1" dirty="0">
                <a:solidFill>
                  <a:schemeClr val="tx1"/>
                </a:solidFill>
                <a:latin typeface="宋体" pitchFamily="2" charset="-122"/>
                <a:ea typeface="宋体" pitchFamily="2" charset="-122"/>
              </a:rPr>
              <a:t>f</a:t>
            </a:r>
            <a:r>
              <a:rPr lang="zh-CN" altLang="en-US" sz="2400" dirty="0">
                <a:solidFill>
                  <a:schemeClr val="tx1"/>
                </a:solidFill>
                <a:latin typeface="宋体" pitchFamily="2" charset="-122"/>
                <a:ea typeface="宋体" pitchFamily="2" charset="-122"/>
              </a:rPr>
              <a:t>。</a:t>
            </a:r>
          </a:p>
        </p:txBody>
      </p:sp>
      <p:sp>
        <p:nvSpPr>
          <p:cNvPr id="8" name="Text Box 9">
            <a:extLst>
              <a:ext uri="{FF2B5EF4-FFF2-40B4-BE49-F238E27FC236}">
                <a16:creationId xmlns:a16="http://schemas.microsoft.com/office/drawing/2014/main" xmlns="" id="{68B9BA0A-56D5-465D-BDA7-CD8081C70FAE}"/>
              </a:ext>
            </a:extLst>
          </p:cNvPr>
          <p:cNvSpPr txBox="1">
            <a:spLocks noChangeArrowheads="1"/>
          </p:cNvSpPr>
          <p:nvPr/>
        </p:nvSpPr>
        <p:spPr bwMode="auto">
          <a:xfrm>
            <a:off x="5551024" y="2265332"/>
            <a:ext cx="4829175" cy="461962"/>
          </a:xfrm>
          <a:prstGeom prst="rect">
            <a:avLst/>
          </a:prstGeom>
          <a:noFill/>
          <a:ln w="9525">
            <a:noFill/>
            <a:miter lim="800000"/>
            <a:headEnd/>
            <a:tailEnd/>
          </a:ln>
        </p:spPr>
        <p:txBody>
          <a:bodyPr wrap="none">
            <a:spAutoFit/>
          </a:bodyPr>
          <a:lstStyle/>
          <a:p>
            <a:r>
              <a:rPr lang="zh-CN" altLang="en-US" sz="2400" dirty="0">
                <a:solidFill>
                  <a:schemeClr val="tx1"/>
                </a:solidFill>
                <a:latin typeface="宋体" pitchFamily="2" charset="-122"/>
                <a:ea typeface="宋体" pitchFamily="2" charset="-122"/>
              </a:rPr>
              <a:t>标准公差等级代号如：</a:t>
            </a:r>
            <a:r>
              <a:rPr lang="en-US" altLang="zh-CN" sz="2400" dirty="0">
                <a:solidFill>
                  <a:schemeClr val="tx1"/>
                </a:solidFill>
                <a:latin typeface="宋体" pitchFamily="2" charset="-122"/>
                <a:ea typeface="宋体" pitchFamily="2" charset="-122"/>
              </a:rPr>
              <a:t>IT</a:t>
            </a:r>
            <a:r>
              <a:rPr lang="en-US" altLang="zh-CN" sz="2400" i="1" dirty="0">
                <a:solidFill>
                  <a:schemeClr val="tx1"/>
                </a:solidFill>
                <a:latin typeface="宋体" pitchFamily="2" charset="-122"/>
                <a:ea typeface="宋体" pitchFamily="2" charset="-122"/>
              </a:rPr>
              <a:t>8</a:t>
            </a:r>
            <a:r>
              <a:rPr lang="zh-CN" altLang="en-US" sz="2400" dirty="0">
                <a:solidFill>
                  <a:schemeClr val="tx1"/>
                </a:solidFill>
                <a:latin typeface="宋体" pitchFamily="2" charset="-122"/>
                <a:ea typeface="宋体" pitchFamily="2" charset="-122"/>
              </a:rPr>
              <a:t>、</a:t>
            </a:r>
            <a:r>
              <a:rPr lang="en-US" altLang="zh-CN" sz="2400" dirty="0">
                <a:solidFill>
                  <a:schemeClr val="tx1"/>
                </a:solidFill>
                <a:latin typeface="宋体" pitchFamily="2" charset="-122"/>
                <a:ea typeface="宋体" pitchFamily="2" charset="-122"/>
              </a:rPr>
              <a:t>IT</a:t>
            </a:r>
            <a:r>
              <a:rPr lang="en-US" altLang="zh-CN" sz="2400" b="0" i="1" dirty="0">
                <a:solidFill>
                  <a:schemeClr val="tx1"/>
                </a:solidFill>
                <a:latin typeface="宋体" pitchFamily="2" charset="-122"/>
                <a:ea typeface="宋体" pitchFamily="2" charset="-122"/>
              </a:rPr>
              <a:t>7</a:t>
            </a:r>
            <a:r>
              <a:rPr lang="zh-CN" altLang="en-US" sz="2400" dirty="0">
                <a:solidFill>
                  <a:schemeClr val="tx1"/>
                </a:solidFill>
                <a:latin typeface="宋体" pitchFamily="2" charset="-122"/>
                <a:ea typeface="宋体" pitchFamily="2" charset="-122"/>
              </a:rPr>
              <a:t>。</a:t>
            </a:r>
          </a:p>
        </p:txBody>
      </p:sp>
      <p:sp>
        <p:nvSpPr>
          <p:cNvPr id="9" name="Text Box 10">
            <a:extLst>
              <a:ext uri="{FF2B5EF4-FFF2-40B4-BE49-F238E27FC236}">
                <a16:creationId xmlns:a16="http://schemas.microsoft.com/office/drawing/2014/main" xmlns="" id="{F9CDD17A-478A-46EC-83E8-00B0D2841241}"/>
              </a:ext>
            </a:extLst>
          </p:cNvPr>
          <p:cNvSpPr txBox="1">
            <a:spLocks noChangeArrowheads="1"/>
          </p:cNvSpPr>
          <p:nvPr/>
        </p:nvSpPr>
        <p:spPr bwMode="auto">
          <a:xfrm>
            <a:off x="2137061" y="4495361"/>
            <a:ext cx="1270000" cy="522288"/>
          </a:xfrm>
          <a:prstGeom prst="rect">
            <a:avLst/>
          </a:prstGeom>
          <a:solidFill>
            <a:srgbClr val="FFFF00"/>
          </a:solidFill>
          <a:ln w="9525">
            <a:noFill/>
            <a:miter lim="800000"/>
            <a:headEnd/>
            <a:tailEnd/>
          </a:ln>
        </p:spPr>
        <p:txBody>
          <a:bodyPr wrap="none">
            <a:spAutoFit/>
          </a:bodyPr>
          <a:lstStyle/>
          <a:p>
            <a:r>
              <a:rPr lang="zh-CN" altLang="en-US" sz="2800">
                <a:solidFill>
                  <a:schemeClr val="tx1"/>
                </a:solidFill>
                <a:latin typeface="宋体" pitchFamily="2" charset="-122"/>
                <a:ea typeface="宋体" pitchFamily="2" charset="-122"/>
              </a:rPr>
              <a:t>如</a:t>
            </a:r>
            <a:r>
              <a:rPr lang="en-US" altLang="zh-CN" sz="2800">
                <a:solidFill>
                  <a:schemeClr val="tx1"/>
                </a:solidFill>
                <a:latin typeface="宋体" pitchFamily="2" charset="-122"/>
                <a:ea typeface="宋体" pitchFamily="2" charset="-122"/>
              </a:rPr>
              <a:t>: H8</a:t>
            </a:r>
            <a:endParaRPr lang="en-US" altLang="zh-CN" sz="2800" b="0">
              <a:solidFill>
                <a:schemeClr val="tx1"/>
              </a:solidFill>
              <a:latin typeface="宋体" pitchFamily="2" charset="-122"/>
              <a:ea typeface="宋体" pitchFamily="2" charset="-122"/>
            </a:endParaRPr>
          </a:p>
        </p:txBody>
      </p:sp>
      <p:sp>
        <p:nvSpPr>
          <p:cNvPr id="10" name="Line 11">
            <a:extLst>
              <a:ext uri="{FF2B5EF4-FFF2-40B4-BE49-F238E27FC236}">
                <a16:creationId xmlns:a16="http://schemas.microsoft.com/office/drawing/2014/main" xmlns="" id="{2F12655D-980C-4B63-866E-47B02B2566A1}"/>
              </a:ext>
            </a:extLst>
          </p:cNvPr>
          <p:cNvSpPr>
            <a:spLocks noChangeShapeType="1"/>
          </p:cNvSpPr>
          <p:nvPr/>
        </p:nvSpPr>
        <p:spPr bwMode="auto">
          <a:xfrm>
            <a:off x="3007011" y="4965261"/>
            <a:ext cx="0" cy="1439863"/>
          </a:xfrm>
          <a:prstGeom prst="line">
            <a:avLst/>
          </a:prstGeom>
          <a:noFill/>
          <a:ln w="19050">
            <a:solidFill>
              <a:schemeClr val="tx1"/>
            </a:solidFill>
            <a:round/>
            <a:headEnd/>
            <a:tailEnd/>
          </a:ln>
        </p:spPr>
        <p:txBody>
          <a:bodyPr wrap="none" anchor="ctr"/>
          <a:lstStyle/>
          <a:p>
            <a:endParaRPr lang="zh-CN" altLang="en-US"/>
          </a:p>
        </p:txBody>
      </p:sp>
      <p:sp>
        <p:nvSpPr>
          <p:cNvPr id="11" name="Line 12">
            <a:extLst>
              <a:ext uri="{FF2B5EF4-FFF2-40B4-BE49-F238E27FC236}">
                <a16:creationId xmlns:a16="http://schemas.microsoft.com/office/drawing/2014/main" xmlns="" id="{147A1998-30EF-4A2E-8338-1ABD283FE615}"/>
              </a:ext>
            </a:extLst>
          </p:cNvPr>
          <p:cNvSpPr>
            <a:spLocks noChangeShapeType="1"/>
          </p:cNvSpPr>
          <p:nvPr/>
        </p:nvSpPr>
        <p:spPr bwMode="auto">
          <a:xfrm flipH="1">
            <a:off x="2994311" y="6414649"/>
            <a:ext cx="2741612" cy="0"/>
          </a:xfrm>
          <a:prstGeom prst="line">
            <a:avLst/>
          </a:prstGeom>
          <a:noFill/>
          <a:ln w="19050">
            <a:solidFill>
              <a:schemeClr val="tx1"/>
            </a:solidFill>
            <a:round/>
            <a:headEnd/>
            <a:tailEnd/>
          </a:ln>
        </p:spPr>
        <p:txBody>
          <a:bodyPr wrap="none" anchor="ctr"/>
          <a:lstStyle/>
          <a:p>
            <a:endParaRPr lang="zh-CN" altLang="en-US"/>
          </a:p>
        </p:txBody>
      </p:sp>
      <p:sp>
        <p:nvSpPr>
          <p:cNvPr id="12" name="Line 13">
            <a:extLst>
              <a:ext uri="{FF2B5EF4-FFF2-40B4-BE49-F238E27FC236}">
                <a16:creationId xmlns:a16="http://schemas.microsoft.com/office/drawing/2014/main" xmlns="" id="{6CA59870-8B5A-4C46-8FF4-02137E263EC9}"/>
              </a:ext>
            </a:extLst>
          </p:cNvPr>
          <p:cNvSpPr>
            <a:spLocks noChangeShapeType="1"/>
          </p:cNvSpPr>
          <p:nvPr/>
        </p:nvSpPr>
        <p:spPr bwMode="auto">
          <a:xfrm>
            <a:off x="3207036" y="4974786"/>
            <a:ext cx="0" cy="574675"/>
          </a:xfrm>
          <a:prstGeom prst="line">
            <a:avLst/>
          </a:prstGeom>
          <a:noFill/>
          <a:ln w="19050">
            <a:solidFill>
              <a:schemeClr val="tx1"/>
            </a:solidFill>
            <a:round/>
            <a:headEnd/>
            <a:tailEnd/>
          </a:ln>
        </p:spPr>
        <p:txBody>
          <a:bodyPr wrap="none" anchor="ctr"/>
          <a:lstStyle/>
          <a:p>
            <a:endParaRPr lang="zh-CN" altLang="en-US"/>
          </a:p>
        </p:txBody>
      </p:sp>
      <p:sp>
        <p:nvSpPr>
          <p:cNvPr id="13" name="Line 14">
            <a:extLst>
              <a:ext uri="{FF2B5EF4-FFF2-40B4-BE49-F238E27FC236}">
                <a16:creationId xmlns:a16="http://schemas.microsoft.com/office/drawing/2014/main" xmlns="" id="{C54F6DF5-86BA-4B00-B85E-B7927A40F69B}"/>
              </a:ext>
            </a:extLst>
          </p:cNvPr>
          <p:cNvSpPr>
            <a:spLocks noChangeShapeType="1"/>
          </p:cNvSpPr>
          <p:nvPr/>
        </p:nvSpPr>
        <p:spPr bwMode="auto">
          <a:xfrm flipH="1">
            <a:off x="3202273" y="5557399"/>
            <a:ext cx="3573463" cy="0"/>
          </a:xfrm>
          <a:prstGeom prst="line">
            <a:avLst/>
          </a:prstGeom>
          <a:noFill/>
          <a:ln w="19050">
            <a:solidFill>
              <a:schemeClr val="tx1"/>
            </a:solidFill>
            <a:round/>
            <a:headEnd/>
            <a:tailEnd/>
          </a:ln>
        </p:spPr>
        <p:txBody>
          <a:bodyPr wrap="none" anchor="ctr"/>
          <a:lstStyle/>
          <a:p>
            <a:endParaRPr lang="zh-CN" altLang="en-US"/>
          </a:p>
        </p:txBody>
      </p:sp>
      <p:sp>
        <p:nvSpPr>
          <p:cNvPr id="14" name="Line 15">
            <a:extLst>
              <a:ext uri="{FF2B5EF4-FFF2-40B4-BE49-F238E27FC236}">
                <a16:creationId xmlns:a16="http://schemas.microsoft.com/office/drawing/2014/main" xmlns="" id="{5339DC2A-78A5-462E-8A9D-13293F289796}"/>
              </a:ext>
            </a:extLst>
          </p:cNvPr>
          <p:cNvSpPr>
            <a:spLocks noChangeShapeType="1"/>
          </p:cNvSpPr>
          <p:nvPr/>
        </p:nvSpPr>
        <p:spPr bwMode="auto">
          <a:xfrm>
            <a:off x="7386923" y="5006536"/>
            <a:ext cx="0" cy="604838"/>
          </a:xfrm>
          <a:prstGeom prst="line">
            <a:avLst/>
          </a:prstGeom>
          <a:noFill/>
          <a:ln w="19050">
            <a:solidFill>
              <a:schemeClr val="tx1"/>
            </a:solidFill>
            <a:round/>
            <a:headEnd/>
            <a:tailEnd/>
          </a:ln>
        </p:spPr>
        <p:txBody>
          <a:bodyPr wrap="none" anchor="ctr"/>
          <a:lstStyle/>
          <a:p>
            <a:endParaRPr lang="zh-CN" altLang="en-US"/>
          </a:p>
        </p:txBody>
      </p:sp>
      <p:sp>
        <p:nvSpPr>
          <p:cNvPr id="15" name="Line 16">
            <a:extLst>
              <a:ext uri="{FF2B5EF4-FFF2-40B4-BE49-F238E27FC236}">
                <a16:creationId xmlns:a16="http://schemas.microsoft.com/office/drawing/2014/main" xmlns="" id="{E4FE0610-87CB-42AB-9ACC-6E6F66CE1AB8}"/>
              </a:ext>
            </a:extLst>
          </p:cNvPr>
          <p:cNvSpPr>
            <a:spLocks noChangeShapeType="1"/>
          </p:cNvSpPr>
          <p:nvPr/>
        </p:nvSpPr>
        <p:spPr bwMode="auto">
          <a:xfrm>
            <a:off x="7386923" y="5601849"/>
            <a:ext cx="3544888" cy="0"/>
          </a:xfrm>
          <a:prstGeom prst="line">
            <a:avLst/>
          </a:prstGeom>
          <a:noFill/>
          <a:ln w="19050">
            <a:solidFill>
              <a:schemeClr val="tx1"/>
            </a:solidFill>
            <a:round/>
            <a:headEnd/>
            <a:tailEnd/>
          </a:ln>
        </p:spPr>
        <p:txBody>
          <a:bodyPr wrap="none" anchor="ctr"/>
          <a:lstStyle/>
          <a:p>
            <a:endParaRPr lang="zh-CN" altLang="en-US"/>
          </a:p>
        </p:txBody>
      </p:sp>
      <p:sp>
        <p:nvSpPr>
          <p:cNvPr id="16" name="Line 17">
            <a:extLst>
              <a:ext uri="{FF2B5EF4-FFF2-40B4-BE49-F238E27FC236}">
                <a16:creationId xmlns:a16="http://schemas.microsoft.com/office/drawing/2014/main" xmlns="" id="{2543DDB5-7AC8-4FFA-A4DA-1D08318E1701}"/>
              </a:ext>
            </a:extLst>
          </p:cNvPr>
          <p:cNvSpPr>
            <a:spLocks noChangeShapeType="1"/>
          </p:cNvSpPr>
          <p:nvPr/>
        </p:nvSpPr>
        <p:spPr bwMode="auto">
          <a:xfrm>
            <a:off x="7185311" y="4976374"/>
            <a:ext cx="0" cy="1414462"/>
          </a:xfrm>
          <a:prstGeom prst="line">
            <a:avLst/>
          </a:prstGeom>
          <a:noFill/>
          <a:ln w="19050">
            <a:solidFill>
              <a:schemeClr val="tx1"/>
            </a:solidFill>
            <a:round/>
            <a:headEnd/>
            <a:tailEnd/>
          </a:ln>
        </p:spPr>
        <p:txBody>
          <a:bodyPr wrap="none" anchor="ctr"/>
          <a:lstStyle/>
          <a:p>
            <a:endParaRPr lang="zh-CN" altLang="en-US"/>
          </a:p>
        </p:txBody>
      </p:sp>
      <p:sp>
        <p:nvSpPr>
          <p:cNvPr id="17" name="Text Box 18">
            <a:extLst>
              <a:ext uri="{FF2B5EF4-FFF2-40B4-BE49-F238E27FC236}">
                <a16:creationId xmlns:a16="http://schemas.microsoft.com/office/drawing/2014/main" xmlns="" id="{E841B4E1-248B-465C-B881-FD19220C11A6}"/>
              </a:ext>
            </a:extLst>
          </p:cNvPr>
          <p:cNvSpPr txBox="1">
            <a:spLocks noChangeArrowheads="1"/>
          </p:cNvSpPr>
          <p:nvPr/>
        </p:nvSpPr>
        <p:spPr bwMode="auto">
          <a:xfrm>
            <a:off x="3227673" y="5874899"/>
            <a:ext cx="2660650" cy="460375"/>
          </a:xfrm>
          <a:prstGeom prst="rect">
            <a:avLst/>
          </a:prstGeom>
          <a:noFill/>
          <a:ln w="9525">
            <a:noFill/>
            <a:miter lim="800000"/>
            <a:headEnd/>
            <a:tailEnd/>
          </a:ln>
        </p:spPr>
        <p:txBody>
          <a:bodyPr wrap="none">
            <a:spAutoFit/>
          </a:bodyPr>
          <a:lstStyle/>
          <a:p>
            <a:r>
              <a:rPr lang="zh-CN" altLang="en-US" sz="2400">
                <a:solidFill>
                  <a:schemeClr val="tx1"/>
                </a:solidFill>
                <a:latin typeface="宋体" pitchFamily="2" charset="-122"/>
                <a:ea typeface="宋体" pitchFamily="2" charset="-122"/>
              </a:rPr>
              <a:t>孔的基本偏差代号</a:t>
            </a:r>
          </a:p>
        </p:txBody>
      </p:sp>
      <p:sp>
        <p:nvSpPr>
          <p:cNvPr id="18" name="Text Box 19">
            <a:extLst>
              <a:ext uri="{FF2B5EF4-FFF2-40B4-BE49-F238E27FC236}">
                <a16:creationId xmlns:a16="http://schemas.microsoft.com/office/drawing/2014/main" xmlns="" id="{08813E47-2AD6-4DB5-BA8D-8E514C661D20}"/>
              </a:ext>
            </a:extLst>
          </p:cNvPr>
          <p:cNvSpPr txBox="1">
            <a:spLocks noChangeArrowheads="1"/>
          </p:cNvSpPr>
          <p:nvPr/>
        </p:nvSpPr>
        <p:spPr bwMode="auto">
          <a:xfrm>
            <a:off x="3316573" y="5057336"/>
            <a:ext cx="3278188" cy="460375"/>
          </a:xfrm>
          <a:prstGeom prst="rect">
            <a:avLst/>
          </a:prstGeom>
          <a:noFill/>
          <a:ln w="9525">
            <a:noFill/>
            <a:miter lim="800000"/>
            <a:headEnd/>
            <a:tailEnd/>
          </a:ln>
        </p:spPr>
        <p:txBody>
          <a:bodyPr wrap="none">
            <a:spAutoFit/>
          </a:bodyPr>
          <a:lstStyle/>
          <a:p>
            <a:r>
              <a:rPr lang="zh-CN" altLang="en-US" sz="2400">
                <a:solidFill>
                  <a:schemeClr val="tx1"/>
                </a:solidFill>
                <a:latin typeface="宋体" pitchFamily="2" charset="-122"/>
                <a:ea typeface="宋体" pitchFamily="2" charset="-122"/>
              </a:rPr>
              <a:t>孔的标准公差等级代号</a:t>
            </a:r>
          </a:p>
        </p:txBody>
      </p:sp>
      <p:sp>
        <p:nvSpPr>
          <p:cNvPr id="19" name="Text Box 20">
            <a:extLst>
              <a:ext uri="{FF2B5EF4-FFF2-40B4-BE49-F238E27FC236}">
                <a16:creationId xmlns:a16="http://schemas.microsoft.com/office/drawing/2014/main" xmlns="" id="{9BBEBB4A-D31A-4DC5-A38A-4195BCBE64E7}"/>
              </a:ext>
            </a:extLst>
          </p:cNvPr>
          <p:cNvSpPr txBox="1">
            <a:spLocks noChangeArrowheads="1"/>
          </p:cNvSpPr>
          <p:nvPr/>
        </p:nvSpPr>
        <p:spPr bwMode="auto">
          <a:xfrm>
            <a:off x="7334536" y="5127186"/>
            <a:ext cx="3278187" cy="461963"/>
          </a:xfrm>
          <a:prstGeom prst="rect">
            <a:avLst/>
          </a:prstGeom>
          <a:noFill/>
          <a:ln w="9525">
            <a:noFill/>
            <a:miter lim="800000"/>
            <a:headEnd/>
            <a:tailEnd/>
          </a:ln>
        </p:spPr>
        <p:txBody>
          <a:bodyPr wrap="none">
            <a:spAutoFit/>
          </a:bodyPr>
          <a:lstStyle/>
          <a:p>
            <a:r>
              <a:rPr lang="zh-CN" altLang="en-US" sz="2400">
                <a:solidFill>
                  <a:schemeClr val="tx1"/>
                </a:solidFill>
                <a:latin typeface="宋体" pitchFamily="2" charset="-122"/>
                <a:ea typeface="宋体" pitchFamily="2" charset="-122"/>
              </a:rPr>
              <a:t>轴的标准公差等级代号</a:t>
            </a:r>
          </a:p>
        </p:txBody>
      </p:sp>
      <p:sp>
        <p:nvSpPr>
          <p:cNvPr id="20" name="Text Box 21">
            <a:extLst>
              <a:ext uri="{FF2B5EF4-FFF2-40B4-BE49-F238E27FC236}">
                <a16:creationId xmlns:a16="http://schemas.microsoft.com/office/drawing/2014/main" xmlns="" id="{032D4E60-C10C-43A3-B235-9D575B9AA579}"/>
              </a:ext>
            </a:extLst>
          </p:cNvPr>
          <p:cNvSpPr txBox="1">
            <a:spLocks noChangeArrowheads="1"/>
          </p:cNvSpPr>
          <p:nvPr/>
        </p:nvSpPr>
        <p:spPr bwMode="auto">
          <a:xfrm>
            <a:off x="7436136" y="5889186"/>
            <a:ext cx="2659062" cy="461963"/>
          </a:xfrm>
          <a:prstGeom prst="rect">
            <a:avLst/>
          </a:prstGeom>
          <a:noFill/>
          <a:ln w="9525">
            <a:noFill/>
            <a:miter lim="800000"/>
            <a:headEnd/>
            <a:tailEnd/>
          </a:ln>
        </p:spPr>
        <p:txBody>
          <a:bodyPr wrap="none">
            <a:spAutoFit/>
          </a:bodyPr>
          <a:lstStyle/>
          <a:p>
            <a:r>
              <a:rPr lang="zh-CN" altLang="en-US" sz="2400">
                <a:solidFill>
                  <a:schemeClr val="tx1"/>
                </a:solidFill>
                <a:latin typeface="宋体" pitchFamily="2" charset="-122"/>
                <a:ea typeface="宋体" pitchFamily="2" charset="-122"/>
              </a:rPr>
              <a:t>轴的基本偏差代号</a:t>
            </a:r>
          </a:p>
        </p:txBody>
      </p:sp>
      <p:sp>
        <p:nvSpPr>
          <p:cNvPr id="21" name="Text Box 22">
            <a:extLst>
              <a:ext uri="{FF2B5EF4-FFF2-40B4-BE49-F238E27FC236}">
                <a16:creationId xmlns:a16="http://schemas.microsoft.com/office/drawing/2014/main" xmlns="" id="{902721D0-E94D-4F62-B710-781E4108A3D7}"/>
              </a:ext>
            </a:extLst>
          </p:cNvPr>
          <p:cNvSpPr txBox="1">
            <a:spLocks noChangeArrowheads="1"/>
          </p:cNvSpPr>
          <p:nvPr/>
        </p:nvSpPr>
        <p:spPr bwMode="auto">
          <a:xfrm>
            <a:off x="4643723" y="3425386"/>
            <a:ext cx="5133975" cy="830263"/>
          </a:xfrm>
          <a:prstGeom prst="rect">
            <a:avLst/>
          </a:prstGeom>
          <a:gradFill rotWithShape="0">
            <a:gsLst>
              <a:gs pos="0">
                <a:srgbClr val="33CCCC"/>
              </a:gs>
              <a:gs pos="50000">
                <a:srgbClr val="E5F9F9"/>
              </a:gs>
              <a:gs pos="100000">
                <a:srgbClr val="33CCCC"/>
              </a:gs>
            </a:gsLst>
            <a:lin ang="5400000" scaled="1"/>
          </a:gradFill>
          <a:ln w="9525">
            <a:noFill/>
            <a:miter lim="800000"/>
            <a:headEnd/>
            <a:tailEnd/>
          </a:ln>
        </p:spPr>
        <p:txBody>
          <a:bodyPr wrap="none">
            <a:spAutoFit/>
          </a:bodyPr>
          <a:lstStyle/>
          <a:p>
            <a:r>
              <a:rPr lang="zh-CN" altLang="en-US" sz="2400">
                <a:solidFill>
                  <a:srgbClr val="002060"/>
                </a:solidFill>
                <a:latin typeface="宋体" pitchFamily="2" charset="-122"/>
                <a:ea typeface="宋体" pitchFamily="2" charset="-122"/>
              </a:rPr>
              <a:t>公差带的位置由基本偏差决定，</a:t>
            </a:r>
          </a:p>
          <a:p>
            <a:r>
              <a:rPr lang="zh-CN" altLang="en-US" sz="2400">
                <a:solidFill>
                  <a:srgbClr val="002060"/>
                </a:solidFill>
                <a:latin typeface="宋体" pitchFamily="2" charset="-122"/>
                <a:ea typeface="宋体" pitchFamily="2" charset="-122"/>
              </a:rPr>
              <a:t>公差带的大小由标准公差等级决定。</a:t>
            </a:r>
          </a:p>
        </p:txBody>
      </p:sp>
      <p:sp>
        <p:nvSpPr>
          <p:cNvPr id="22" name="WordArt 23">
            <a:extLst>
              <a:ext uri="{FF2B5EF4-FFF2-40B4-BE49-F238E27FC236}">
                <a16:creationId xmlns:a16="http://schemas.microsoft.com/office/drawing/2014/main" xmlns="" id="{14711C1F-6239-4EB0-A3F1-591ABEFE1F4D}"/>
              </a:ext>
            </a:extLst>
          </p:cNvPr>
          <p:cNvSpPr>
            <a:spLocks noChangeArrowheads="1" noChangeShapeType="1" noTextEdit="1"/>
          </p:cNvSpPr>
          <p:nvPr/>
        </p:nvSpPr>
        <p:spPr bwMode="auto">
          <a:xfrm rot="21267212">
            <a:off x="2624423" y="3015811"/>
            <a:ext cx="1600200" cy="365125"/>
          </a:xfrm>
          <a:prstGeom prst="rect">
            <a:avLst/>
          </a:prstGeom>
        </p:spPr>
        <p:txBody>
          <a:bodyPr wrap="none" fromWordArt="1">
            <a:prstTxWarp prst="textPlain">
              <a:avLst>
                <a:gd name="adj" fmla="val 51389"/>
              </a:avLst>
            </a:prstTxWarp>
          </a:bodyPr>
          <a:lstStyle/>
          <a:p>
            <a:pPr algn="ctr">
              <a:defRPr/>
            </a:pPr>
            <a:r>
              <a:rPr lang="zh-CN" altLang="en-US" sz="2400" kern="10" dirty="0">
                <a:ln w="9525">
                  <a:solidFill>
                    <a:schemeClr val="accent2"/>
                  </a:solidFill>
                  <a:round/>
                  <a:headEnd/>
                  <a:tailEnd/>
                </a:ln>
                <a:solidFill>
                  <a:srgbClr val="FF0000"/>
                </a:solidFill>
                <a:effectLst>
                  <a:outerShdw dist="35921" dir="2700000" algn="ctr" rotWithShape="0">
                    <a:srgbClr val="C0C0C0"/>
                  </a:outerShdw>
                </a:effectLst>
                <a:latin typeface="宋体"/>
                <a:ea typeface="宋体"/>
              </a:rPr>
              <a:t>为什么</a:t>
            </a:r>
            <a:r>
              <a:rPr lang="en-US" altLang="zh-CN" sz="2400" kern="10" dirty="0">
                <a:ln w="9525">
                  <a:solidFill>
                    <a:schemeClr val="accent2"/>
                  </a:solidFill>
                  <a:round/>
                  <a:headEnd/>
                  <a:tailEnd/>
                </a:ln>
                <a:solidFill>
                  <a:srgbClr val="FF0000"/>
                </a:solidFill>
                <a:effectLst>
                  <a:outerShdw dist="35921" dir="2700000" algn="ctr" rotWithShape="0">
                    <a:srgbClr val="C0C0C0"/>
                  </a:outerShdw>
                </a:effectLst>
                <a:latin typeface="宋体"/>
                <a:ea typeface="宋体"/>
              </a:rPr>
              <a:t>?</a:t>
            </a:r>
            <a:endParaRPr lang="zh-CN" altLang="en-US" sz="2400" kern="10" dirty="0">
              <a:ln w="9525">
                <a:solidFill>
                  <a:schemeClr val="accent2"/>
                </a:solidFill>
                <a:round/>
                <a:headEnd/>
                <a:tailEnd/>
              </a:ln>
              <a:solidFill>
                <a:srgbClr val="FF0000"/>
              </a:solidFill>
              <a:effectLst>
                <a:outerShdw dist="35921" dir="2700000" algn="ctr" rotWithShape="0">
                  <a:srgbClr val="C0C0C0"/>
                </a:outerShdw>
              </a:effectLst>
              <a:latin typeface="宋体"/>
              <a:ea typeface="宋体"/>
            </a:endParaRPr>
          </a:p>
        </p:txBody>
      </p:sp>
      <p:sp>
        <p:nvSpPr>
          <p:cNvPr id="23" name="Line 24">
            <a:extLst>
              <a:ext uri="{FF2B5EF4-FFF2-40B4-BE49-F238E27FC236}">
                <a16:creationId xmlns:a16="http://schemas.microsoft.com/office/drawing/2014/main" xmlns="" id="{E0DA7DC6-6513-4994-9123-3734171D41D0}"/>
              </a:ext>
            </a:extLst>
          </p:cNvPr>
          <p:cNvSpPr>
            <a:spLocks noChangeShapeType="1"/>
          </p:cNvSpPr>
          <p:nvPr/>
        </p:nvSpPr>
        <p:spPr bwMode="auto">
          <a:xfrm>
            <a:off x="7177373" y="6381311"/>
            <a:ext cx="3162300" cy="0"/>
          </a:xfrm>
          <a:prstGeom prst="line">
            <a:avLst/>
          </a:prstGeom>
          <a:noFill/>
          <a:ln w="19050">
            <a:solidFill>
              <a:schemeClr val="tx1"/>
            </a:solidFill>
            <a:round/>
            <a:headEnd/>
            <a:tailEnd/>
          </a:ln>
        </p:spPr>
        <p:txBody>
          <a:bodyPr wrap="none" anchor="ctr"/>
          <a:lstStyle/>
          <a:p>
            <a:endParaRPr lang="zh-CN" altLang="en-US"/>
          </a:p>
        </p:txBody>
      </p:sp>
      <p:sp>
        <p:nvSpPr>
          <p:cNvPr id="24" name="Text Box 10">
            <a:extLst>
              <a:ext uri="{FF2B5EF4-FFF2-40B4-BE49-F238E27FC236}">
                <a16:creationId xmlns:a16="http://schemas.microsoft.com/office/drawing/2014/main" xmlns="" id="{921A06E1-5B1A-4EAC-93A4-2E1B6F77AB92}"/>
              </a:ext>
            </a:extLst>
          </p:cNvPr>
          <p:cNvSpPr txBox="1">
            <a:spLocks noChangeArrowheads="1"/>
          </p:cNvSpPr>
          <p:nvPr/>
        </p:nvSpPr>
        <p:spPr bwMode="auto">
          <a:xfrm>
            <a:off x="6326473" y="4471549"/>
            <a:ext cx="1268413" cy="522287"/>
          </a:xfrm>
          <a:prstGeom prst="rect">
            <a:avLst/>
          </a:prstGeom>
          <a:solidFill>
            <a:srgbClr val="FFFF00"/>
          </a:solidFill>
          <a:ln w="9525">
            <a:noFill/>
            <a:miter lim="800000"/>
            <a:headEnd/>
            <a:tailEnd/>
          </a:ln>
        </p:spPr>
        <p:txBody>
          <a:bodyPr wrap="none">
            <a:spAutoFit/>
          </a:bodyPr>
          <a:lstStyle/>
          <a:p>
            <a:r>
              <a:rPr lang="zh-CN" altLang="en-US" sz="2800">
                <a:solidFill>
                  <a:schemeClr val="tx1"/>
                </a:solidFill>
                <a:latin typeface="宋体" pitchFamily="2" charset="-122"/>
                <a:ea typeface="宋体" pitchFamily="2" charset="-122"/>
              </a:rPr>
              <a:t>如</a:t>
            </a:r>
            <a:r>
              <a:rPr lang="en-US" altLang="zh-CN" sz="2800">
                <a:solidFill>
                  <a:schemeClr val="tx1"/>
                </a:solidFill>
                <a:latin typeface="宋体" pitchFamily="2" charset="-122"/>
                <a:ea typeface="宋体" pitchFamily="2" charset="-122"/>
              </a:rPr>
              <a:t>: f</a:t>
            </a:r>
            <a:r>
              <a:rPr lang="en-US" altLang="zh-CN" sz="2800" b="0">
                <a:solidFill>
                  <a:schemeClr val="tx1"/>
                </a:solidFill>
                <a:latin typeface="宋体" pitchFamily="2" charset="-122"/>
                <a:ea typeface="宋体" pitchFamily="2" charset="-122"/>
              </a:rPr>
              <a:t>7</a:t>
            </a:r>
          </a:p>
        </p:txBody>
      </p:sp>
      <p:sp>
        <p:nvSpPr>
          <p:cNvPr id="25" name="左大括号 24"/>
          <p:cNvSpPr/>
          <p:nvPr/>
        </p:nvSpPr>
        <p:spPr>
          <a:xfrm>
            <a:off x="5334688" y="1808592"/>
            <a:ext cx="180021" cy="852796"/>
          </a:xfrm>
          <a:prstGeom prst="leftBrace">
            <a:avLst>
              <a:gd name="adj1" fmla="val 53656"/>
              <a:gd name="adj2" fmla="val 50000"/>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07974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up)">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lide(fromRigh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slide(fromLeft)">
                                      <p:cBhvr>
                                        <p:cTn id="32" dur="500"/>
                                        <p:tgtEl>
                                          <p:spTgt spid="5"/>
                                        </p:tgtEl>
                                      </p:cBhvr>
                                    </p:animEffect>
                                  </p:childTnLst>
                                </p:cTn>
                              </p:par>
                              <p:par>
                                <p:cTn id="33" presetID="3" presetClass="entr" presetSubtype="0" fill="hold" nodeType="withEffect">
                                  <p:stCondLst>
                                    <p:cond delay="0"/>
                                  </p:stCondLst>
                                  <p:childTnLst>
                                    <p:set>
                                      <p:cBhvr>
                                        <p:cTn id="34" dur="1" fill="hold">
                                          <p:stCondLst>
                                            <p:cond delay="499"/>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slide(fromRigh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slide(from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slide(fromTop)">
                                      <p:cBhvr>
                                        <p:cTn id="49" dur="500"/>
                                        <p:tgtEl>
                                          <p:spTgt spid="10"/>
                                        </p:tgtEl>
                                      </p:cBhvr>
                                    </p:animEffect>
                                  </p:childTnLst>
                                </p:cTn>
                              </p:par>
                            </p:childTnLst>
                          </p:cTn>
                        </p:par>
                        <p:par>
                          <p:cTn id="50" fill="hold">
                            <p:stCondLst>
                              <p:cond delay="500"/>
                            </p:stCondLst>
                            <p:childTnLst>
                              <p:par>
                                <p:cTn id="51" presetID="12" presetClass="entr" presetSubtype="8"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slide(fromLeft)">
                                      <p:cBhvr>
                                        <p:cTn id="53" dur="500"/>
                                        <p:tgtEl>
                                          <p:spTgt spid="11"/>
                                        </p:tgtEl>
                                      </p:cBhvr>
                                    </p:animEffect>
                                  </p:childTnLst>
                                </p:cTn>
                              </p:par>
                            </p:childTnLst>
                          </p:cTn>
                        </p:par>
                        <p:par>
                          <p:cTn id="54" fill="hold">
                            <p:stCondLst>
                              <p:cond delay="1000"/>
                            </p:stCondLst>
                            <p:childTnLst>
                              <p:par>
                                <p:cTn id="55" presetID="12" presetClass="entr" presetSubtype="8"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slide(from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slide(fromTop)">
                                      <p:cBhvr>
                                        <p:cTn id="62" dur="500"/>
                                        <p:tgtEl>
                                          <p:spTgt spid="12"/>
                                        </p:tgtEl>
                                      </p:cBhvr>
                                    </p:animEffect>
                                  </p:childTnLst>
                                </p:cTn>
                              </p:par>
                            </p:childTnLst>
                          </p:cTn>
                        </p:par>
                        <p:par>
                          <p:cTn id="63" fill="hold">
                            <p:stCondLst>
                              <p:cond delay="500"/>
                            </p:stCondLst>
                            <p:childTnLst>
                              <p:par>
                                <p:cTn id="64" presetID="12" presetClass="entr" presetSubtype="8" fill="hold" grpId="0"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slide(fromLeft)">
                                      <p:cBhvr>
                                        <p:cTn id="66" dur="500"/>
                                        <p:tgtEl>
                                          <p:spTgt spid="13"/>
                                        </p:tgtEl>
                                      </p:cBhvr>
                                    </p:animEffect>
                                  </p:childTnLst>
                                </p:cTn>
                              </p:par>
                            </p:childTnLst>
                          </p:cTn>
                        </p:par>
                        <p:par>
                          <p:cTn id="67" fill="hold">
                            <p:stCondLst>
                              <p:cond delay="1000"/>
                            </p:stCondLst>
                            <p:childTnLst>
                              <p:par>
                                <p:cTn id="68" presetID="12" presetClass="entr" presetSubtype="8" fill="hold" grpId="0"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slide(fromLeft)">
                                      <p:cBhvr>
                                        <p:cTn id="70" dur="5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slide(fromLeft)">
                                      <p:cBhvr>
                                        <p:cTn id="75" dur="500"/>
                                        <p:tgtEl>
                                          <p:spTgt spid="24"/>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slide(fromTop)">
                                      <p:cBhvr>
                                        <p:cTn id="80" dur="500"/>
                                        <p:tgtEl>
                                          <p:spTgt spid="16"/>
                                        </p:tgtEl>
                                      </p:cBhvr>
                                    </p:animEffect>
                                  </p:childTnLst>
                                </p:cTn>
                              </p:par>
                            </p:childTnLst>
                          </p:cTn>
                        </p:par>
                        <p:par>
                          <p:cTn id="81" fill="hold">
                            <p:stCondLst>
                              <p:cond delay="500"/>
                            </p:stCondLst>
                            <p:childTnLst>
                              <p:par>
                                <p:cTn id="82" presetID="12" presetClass="entr" presetSubtype="8" fill="hold" grpId="0"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slide(fromLeft)">
                                      <p:cBhvr>
                                        <p:cTn id="84" dur="500"/>
                                        <p:tgtEl>
                                          <p:spTgt spid="23"/>
                                        </p:tgtEl>
                                      </p:cBhvr>
                                    </p:animEffect>
                                  </p:childTnLst>
                                </p:cTn>
                              </p:par>
                            </p:childTnLst>
                          </p:cTn>
                        </p:par>
                        <p:par>
                          <p:cTn id="85" fill="hold">
                            <p:stCondLst>
                              <p:cond delay="1000"/>
                            </p:stCondLst>
                            <p:childTnLst>
                              <p:par>
                                <p:cTn id="86" presetID="12" presetClass="entr" presetSubtype="8" fill="hold" grpId="0"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slide(fromLeft)">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1" fill="hold" grpId="0" nodeType="click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slide(fromTop)">
                                      <p:cBhvr>
                                        <p:cTn id="93" dur="500"/>
                                        <p:tgtEl>
                                          <p:spTgt spid="14"/>
                                        </p:tgtEl>
                                      </p:cBhvr>
                                    </p:animEffect>
                                  </p:childTnLst>
                                </p:cTn>
                              </p:par>
                            </p:childTnLst>
                          </p:cTn>
                        </p:par>
                        <p:par>
                          <p:cTn id="94" fill="hold">
                            <p:stCondLst>
                              <p:cond delay="500"/>
                            </p:stCondLst>
                            <p:childTnLst>
                              <p:par>
                                <p:cTn id="95" presetID="12" presetClass="entr" presetSubtype="8" fill="hold" grpId="0" nodeType="after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slide(fromLeft)">
                                      <p:cBhvr>
                                        <p:cTn id="97" dur="500"/>
                                        <p:tgtEl>
                                          <p:spTgt spid="15"/>
                                        </p:tgtEl>
                                      </p:cBhvr>
                                    </p:animEffect>
                                  </p:childTnLst>
                                </p:cTn>
                              </p:par>
                            </p:childTnLst>
                          </p:cTn>
                        </p:par>
                        <p:par>
                          <p:cTn id="98" fill="hold">
                            <p:stCondLst>
                              <p:cond delay="1000"/>
                            </p:stCondLst>
                            <p:childTnLst>
                              <p:par>
                                <p:cTn id="99" presetID="12" presetClass="entr" presetSubtype="8" fill="hold" grpId="0" nodeType="afterEffect">
                                  <p:stCondLst>
                                    <p:cond delay="0"/>
                                  </p:stCondLst>
                                  <p:childTnLst>
                                    <p:set>
                                      <p:cBhvr>
                                        <p:cTn id="100" dur="1" fill="hold">
                                          <p:stCondLst>
                                            <p:cond delay="0"/>
                                          </p:stCondLst>
                                        </p:cTn>
                                        <p:tgtEl>
                                          <p:spTgt spid="19"/>
                                        </p:tgtEl>
                                        <p:attrNameLst>
                                          <p:attrName>style.visibility</p:attrName>
                                        </p:attrNameLst>
                                      </p:cBhvr>
                                      <p:to>
                                        <p:strVal val="visible"/>
                                      </p:to>
                                    </p:set>
                                    <p:animEffect transition="in" filter="slide(fromLeft)">
                                      <p:cBhvr>
                                        <p:cTn id="10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nimBg="1" autoUpdateAnimBg="0"/>
      <p:bldP spid="6" grpId="0" autoUpdateAnimBg="0"/>
      <p:bldP spid="7" grpId="0" autoUpdateAnimBg="0"/>
      <p:bldP spid="8" grpId="0"/>
      <p:bldP spid="9" grpId="0" animBg="1" autoUpdateAnimBg="0"/>
      <p:bldP spid="10" grpId="0" animBg="1"/>
      <p:bldP spid="11" grpId="0" animBg="1"/>
      <p:bldP spid="12" grpId="0" animBg="1"/>
      <p:bldP spid="13" grpId="0" animBg="1"/>
      <p:bldP spid="14" grpId="0" animBg="1"/>
      <p:bldP spid="15" grpId="0" animBg="1"/>
      <p:bldP spid="16" grpId="0" animBg="1"/>
      <p:bldP spid="17" grpId="0" autoUpdateAnimBg="0"/>
      <p:bldP spid="18" grpId="0" autoUpdateAnimBg="0"/>
      <p:bldP spid="19" grpId="0" autoUpdateAnimBg="0"/>
      <p:bldP spid="20" grpId="0" autoUpdateAnimBg="0"/>
      <p:bldP spid="21" grpId="0" animBg="1" autoUpdateAnimBg="0"/>
      <p:bldP spid="23" grpId="0" animBg="1"/>
      <p:bldP spid="24" grpId="0" animBg="1" autoUpdateAnimBg="0"/>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xmlns="" id="{E1EF3212-4B11-4288-AF2C-9C9B2BBF725D}"/>
              </a:ext>
            </a:extLst>
          </p:cNvPr>
          <p:cNvSpPr txBox="1">
            <a:spLocks noChangeArrowheads="1"/>
          </p:cNvSpPr>
          <p:nvPr/>
        </p:nvSpPr>
        <p:spPr bwMode="auto">
          <a:xfrm>
            <a:off x="3755740" y="332656"/>
            <a:ext cx="5238750" cy="646331"/>
          </a:xfrm>
          <a:prstGeom prst="rect">
            <a:avLst/>
          </a:prstGeom>
          <a:gradFill>
            <a:gsLst>
              <a:gs pos="15000">
                <a:schemeClr val="accent2">
                  <a:lumMod val="0"/>
                  <a:lumOff val="100000"/>
                </a:schemeClr>
              </a:gs>
              <a:gs pos="9000">
                <a:schemeClr val="accent2">
                  <a:lumMod val="0"/>
                  <a:lumOff val="100000"/>
                </a:schemeClr>
              </a:gs>
              <a:gs pos="100000">
                <a:schemeClr val="accent2">
                  <a:lumMod val="100000"/>
                </a:schemeClr>
              </a:gs>
            </a:gsLst>
            <a:path path="circle">
              <a:fillToRect l="50000" t="-80000" r="50000" b="180000"/>
            </a:path>
          </a:gra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sz="3600" dirty="0">
                <a:latin typeface="黑体" panose="02010609060101010101" pitchFamily="49" charset="-122"/>
                <a:ea typeface="黑体" panose="02010609060101010101" pitchFamily="49" charset="-122"/>
              </a:rPr>
              <a:t>尺寸极限</a:t>
            </a:r>
            <a:endParaRPr lang="zh-CN" altLang="en-US" sz="3600" b="0" dirty="0">
              <a:latin typeface="黑体" panose="02010609060101010101" pitchFamily="49" charset="-122"/>
              <a:ea typeface="黑体" panose="02010609060101010101" pitchFamily="49" charset="-122"/>
            </a:endParaRPr>
          </a:p>
        </p:txBody>
      </p:sp>
      <p:sp>
        <p:nvSpPr>
          <p:cNvPr id="3" name="Text Box 6">
            <a:extLst>
              <a:ext uri="{FF2B5EF4-FFF2-40B4-BE49-F238E27FC236}">
                <a16:creationId xmlns:a16="http://schemas.microsoft.com/office/drawing/2014/main" xmlns="" id="{8CBD18F4-B2C5-4261-B84D-18814A7A388E}"/>
              </a:ext>
            </a:extLst>
          </p:cNvPr>
          <p:cNvSpPr txBox="1">
            <a:spLocks noChangeArrowheads="1"/>
          </p:cNvSpPr>
          <p:nvPr/>
        </p:nvSpPr>
        <p:spPr bwMode="auto">
          <a:xfrm>
            <a:off x="1114933" y="1313949"/>
            <a:ext cx="5089079" cy="523220"/>
          </a:xfrm>
          <a:prstGeom prst="rect">
            <a:avLst/>
          </a:prstGeom>
          <a:noFill/>
          <a:ln w="9525">
            <a:noFill/>
            <a:miter lim="800000"/>
            <a:headEnd/>
            <a:tailEnd/>
          </a:ln>
        </p:spPr>
        <p:txBody>
          <a:bodyPr wrap="square">
            <a:spAutoFit/>
          </a:bodyPr>
          <a:lstStyle/>
          <a:p>
            <a:r>
              <a:rPr lang="en-US" altLang="zh-CN" sz="2800" b="1" dirty="0">
                <a:solidFill>
                  <a:srgbClr val="FF0000"/>
                </a:solidFill>
              </a:rPr>
              <a:t>3.</a:t>
            </a:r>
            <a:r>
              <a:rPr lang="zh-CN" altLang="en-US" sz="2800" b="1" dirty="0">
                <a:solidFill>
                  <a:srgbClr val="FF0000"/>
                </a:solidFill>
              </a:rPr>
              <a:t> </a:t>
            </a:r>
            <a:r>
              <a:rPr lang="zh-CN" altLang="zh-CN" sz="2800" b="1" dirty="0">
                <a:solidFill>
                  <a:srgbClr val="FF0000"/>
                </a:solidFill>
                <a:cs typeface="Times New Roman" pitchFamily="18" charset="0"/>
              </a:rPr>
              <a:t>极限在</a:t>
            </a:r>
            <a:r>
              <a:rPr lang="zh-CN" altLang="en-US" sz="2800" b="1" dirty="0">
                <a:solidFill>
                  <a:srgbClr val="FF0000"/>
                </a:solidFill>
              </a:rPr>
              <a:t>零件</a:t>
            </a:r>
            <a:r>
              <a:rPr lang="zh-CN" altLang="zh-CN" sz="2800" b="1" dirty="0">
                <a:solidFill>
                  <a:srgbClr val="FF0000"/>
                </a:solidFill>
                <a:cs typeface="Times New Roman" pitchFamily="18" charset="0"/>
              </a:rPr>
              <a:t>图样上的标注</a:t>
            </a:r>
            <a:endParaRPr lang="zh-CN" altLang="en-US" sz="2800" b="1" dirty="0">
              <a:solidFill>
                <a:srgbClr val="FF0000"/>
              </a:solidFill>
            </a:endParaRPr>
          </a:p>
        </p:txBody>
      </p:sp>
      <p:sp>
        <p:nvSpPr>
          <p:cNvPr id="5" name="矩形 4">
            <a:extLst>
              <a:ext uri="{FF2B5EF4-FFF2-40B4-BE49-F238E27FC236}">
                <a16:creationId xmlns:a16="http://schemas.microsoft.com/office/drawing/2014/main" xmlns="" id="{9B092B2D-E2A9-4DBF-B3D1-8DFE9E49CD37}"/>
              </a:ext>
            </a:extLst>
          </p:cNvPr>
          <p:cNvSpPr/>
          <p:nvPr/>
        </p:nvSpPr>
        <p:spPr>
          <a:xfrm>
            <a:off x="1308610" y="2011715"/>
            <a:ext cx="2968624" cy="830997"/>
          </a:xfrm>
          <a:prstGeom prst="rect">
            <a:avLst/>
          </a:prstGeom>
        </p:spPr>
        <p:txBody>
          <a:bodyPr wrap="square">
            <a:spAutoFit/>
          </a:bodyPr>
          <a:lstStyle/>
          <a:p>
            <a:pPr>
              <a:defRPr/>
            </a:pPr>
            <a:r>
              <a:rPr lang="en-US" sz="2400" dirty="0">
                <a:latin typeface="+mn-ea"/>
                <a:ea typeface="+mn-ea"/>
              </a:rPr>
              <a:t>1</a:t>
            </a:r>
            <a:r>
              <a:rPr lang="zh-CN" altLang="en-US" sz="2400" dirty="0">
                <a:latin typeface="+mn-ea"/>
                <a:ea typeface="+mn-ea"/>
              </a:rPr>
              <a:t>）采用公差带代号标注线性尺寸的公差</a:t>
            </a:r>
          </a:p>
        </p:txBody>
      </p:sp>
      <p:sp>
        <p:nvSpPr>
          <p:cNvPr id="6" name="矩形 5">
            <a:extLst>
              <a:ext uri="{FF2B5EF4-FFF2-40B4-BE49-F238E27FC236}">
                <a16:creationId xmlns:a16="http://schemas.microsoft.com/office/drawing/2014/main" xmlns="" id="{6544537B-0970-4788-BEA9-AC264F7A86E2}"/>
              </a:ext>
            </a:extLst>
          </p:cNvPr>
          <p:cNvSpPr/>
          <p:nvPr/>
        </p:nvSpPr>
        <p:spPr>
          <a:xfrm>
            <a:off x="4763803" y="2011715"/>
            <a:ext cx="2968623" cy="830997"/>
          </a:xfrm>
          <a:prstGeom prst="rect">
            <a:avLst/>
          </a:prstGeom>
        </p:spPr>
        <p:txBody>
          <a:bodyPr wrap="square">
            <a:spAutoFit/>
          </a:bodyPr>
          <a:lstStyle/>
          <a:p>
            <a:pPr>
              <a:defRPr/>
            </a:pPr>
            <a:r>
              <a:rPr lang="en-US" sz="2400" dirty="0">
                <a:latin typeface="+mn-ea"/>
                <a:ea typeface="+mn-ea"/>
              </a:rPr>
              <a:t>2</a:t>
            </a:r>
            <a:r>
              <a:rPr lang="zh-CN" altLang="en-US" sz="2400" dirty="0">
                <a:latin typeface="+mn-ea"/>
                <a:ea typeface="+mn-ea"/>
              </a:rPr>
              <a:t>）采用极限偏差标注线性尺寸的公差</a:t>
            </a:r>
          </a:p>
        </p:txBody>
      </p:sp>
      <p:sp>
        <p:nvSpPr>
          <p:cNvPr id="7" name="矩形 6">
            <a:extLst>
              <a:ext uri="{FF2B5EF4-FFF2-40B4-BE49-F238E27FC236}">
                <a16:creationId xmlns:a16="http://schemas.microsoft.com/office/drawing/2014/main" xmlns="" id="{B657AB58-7643-4BF0-A481-230492318753}"/>
              </a:ext>
            </a:extLst>
          </p:cNvPr>
          <p:cNvSpPr/>
          <p:nvPr/>
        </p:nvSpPr>
        <p:spPr>
          <a:xfrm>
            <a:off x="8218994" y="2011715"/>
            <a:ext cx="3313609" cy="830997"/>
          </a:xfrm>
          <a:prstGeom prst="rect">
            <a:avLst/>
          </a:prstGeom>
        </p:spPr>
        <p:txBody>
          <a:bodyPr wrap="square">
            <a:spAutoFit/>
          </a:bodyPr>
          <a:lstStyle/>
          <a:p>
            <a:pPr>
              <a:defRPr/>
            </a:pPr>
            <a:r>
              <a:rPr lang="en-US" sz="2400" dirty="0">
                <a:latin typeface="+mn-ea"/>
                <a:ea typeface="+mn-ea"/>
              </a:rPr>
              <a:t>3</a:t>
            </a:r>
            <a:r>
              <a:rPr lang="zh-CN" altLang="en-US" sz="2400" dirty="0">
                <a:latin typeface="+mn-ea"/>
                <a:ea typeface="+mn-ea"/>
              </a:rPr>
              <a:t>）同时标注公差带代号和相应的极限偏差</a:t>
            </a:r>
          </a:p>
        </p:txBody>
      </p:sp>
      <p:pic>
        <p:nvPicPr>
          <p:cNvPr id="8" name="Picture 26">
            <a:extLst>
              <a:ext uri="{FF2B5EF4-FFF2-40B4-BE49-F238E27FC236}">
                <a16:creationId xmlns:a16="http://schemas.microsoft.com/office/drawing/2014/main" xmlns="" id="{08FC1825-E563-4A4F-913F-42E576A3F494}"/>
              </a:ext>
            </a:extLst>
          </p:cNvPr>
          <p:cNvPicPr>
            <a:picLocks noChangeAspect="1" noChangeArrowheads="1"/>
          </p:cNvPicPr>
          <p:nvPr/>
        </p:nvPicPr>
        <p:blipFill>
          <a:blip r:embed="rId2"/>
          <a:srcRect r="71439"/>
          <a:stretch>
            <a:fillRect/>
          </a:stretch>
        </p:blipFill>
        <p:spPr bwMode="auto">
          <a:xfrm>
            <a:off x="1407046" y="2870552"/>
            <a:ext cx="2079390" cy="3695836"/>
          </a:xfrm>
          <a:prstGeom prst="rect">
            <a:avLst/>
          </a:prstGeom>
          <a:noFill/>
          <a:ln w="9525">
            <a:noFill/>
            <a:miter lim="800000"/>
            <a:headEnd/>
            <a:tailEnd/>
          </a:ln>
        </p:spPr>
      </p:pic>
      <p:pic>
        <p:nvPicPr>
          <p:cNvPr id="9" name="Picture 26">
            <a:extLst>
              <a:ext uri="{FF2B5EF4-FFF2-40B4-BE49-F238E27FC236}">
                <a16:creationId xmlns:a16="http://schemas.microsoft.com/office/drawing/2014/main" xmlns="" id="{C4CC92A6-B6B2-4A5A-AB18-39247C8B94F3}"/>
              </a:ext>
            </a:extLst>
          </p:cNvPr>
          <p:cNvPicPr>
            <a:picLocks noChangeAspect="1" noChangeArrowheads="1"/>
          </p:cNvPicPr>
          <p:nvPr/>
        </p:nvPicPr>
        <p:blipFill>
          <a:blip r:embed="rId2"/>
          <a:srcRect l="33960" r="37735"/>
          <a:stretch>
            <a:fillRect/>
          </a:stretch>
        </p:blipFill>
        <p:spPr bwMode="auto">
          <a:xfrm>
            <a:off x="4987242" y="2852936"/>
            <a:ext cx="2217515" cy="3977985"/>
          </a:xfrm>
          <a:prstGeom prst="rect">
            <a:avLst/>
          </a:prstGeom>
          <a:noFill/>
          <a:ln w="9525">
            <a:noFill/>
            <a:miter lim="800000"/>
            <a:headEnd/>
            <a:tailEnd/>
          </a:ln>
        </p:spPr>
      </p:pic>
      <p:pic>
        <p:nvPicPr>
          <p:cNvPr id="10" name="Picture 26">
            <a:extLst>
              <a:ext uri="{FF2B5EF4-FFF2-40B4-BE49-F238E27FC236}">
                <a16:creationId xmlns:a16="http://schemas.microsoft.com/office/drawing/2014/main" xmlns="" id="{8DFA8537-0161-4DFB-AE0B-D620A44669CA}"/>
              </a:ext>
            </a:extLst>
          </p:cNvPr>
          <p:cNvPicPr>
            <a:picLocks noChangeAspect="1" noChangeArrowheads="1"/>
          </p:cNvPicPr>
          <p:nvPr/>
        </p:nvPicPr>
        <p:blipFill>
          <a:blip r:embed="rId2"/>
          <a:srcRect l="70874"/>
          <a:stretch>
            <a:fillRect/>
          </a:stretch>
        </p:blipFill>
        <p:spPr bwMode="auto">
          <a:xfrm>
            <a:off x="8567439" y="2871680"/>
            <a:ext cx="2217515" cy="3864183"/>
          </a:xfrm>
          <a:prstGeom prst="rect">
            <a:avLst/>
          </a:prstGeom>
          <a:noFill/>
          <a:ln w="9525">
            <a:noFill/>
            <a:miter lim="800000"/>
            <a:headEnd/>
            <a:tailEnd/>
          </a:ln>
        </p:spPr>
      </p:pic>
    </p:spTree>
    <p:extLst>
      <p:ext uri="{BB962C8B-B14F-4D97-AF65-F5344CB8AC3E}">
        <p14:creationId xmlns:p14="http://schemas.microsoft.com/office/powerpoint/2010/main" val="219725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lide(fromTo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To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xmlns="" id="{1ED2D442-5268-4D47-A27E-7B94B284886B}"/>
              </a:ext>
            </a:extLst>
          </p:cNvPr>
          <p:cNvSpPr txBox="1">
            <a:spLocks noChangeArrowheads="1"/>
          </p:cNvSpPr>
          <p:nvPr/>
        </p:nvSpPr>
        <p:spPr bwMode="auto">
          <a:xfrm>
            <a:off x="5341988" y="629439"/>
            <a:ext cx="1233030" cy="584775"/>
          </a:xfrm>
          <a:prstGeom prst="rect">
            <a:avLst/>
          </a:prstGeom>
          <a:noFill/>
          <a:ln w="38100">
            <a:noFill/>
            <a:miter lim="800000"/>
            <a:headEnd/>
            <a:tailEnd/>
          </a:ln>
        </p:spPr>
        <p:txBody>
          <a:bodyPr wrap="none" anchor="ctr">
            <a:spAutoFit/>
          </a:bodyPr>
          <a:lstStyle/>
          <a:p>
            <a:pPr algn="ctr" eaLnBrk="1" hangingPunct="1"/>
            <a:r>
              <a:rPr lang="zh-CN" altLang="en-US" sz="3200" dirty="0">
                <a:solidFill>
                  <a:schemeClr val="tx1"/>
                </a:solidFill>
              </a:rPr>
              <a:t>小  结</a:t>
            </a:r>
            <a:endParaRPr lang="zh-CN" altLang="en-US" sz="3200" dirty="0">
              <a:solidFill>
                <a:schemeClr val="tx1"/>
              </a:solidFill>
              <a:sym typeface="Wingdings" pitchFamily="2" charset="2"/>
            </a:endParaRPr>
          </a:p>
        </p:txBody>
      </p:sp>
      <p:sp>
        <p:nvSpPr>
          <p:cNvPr id="3" name="Text Box 4">
            <a:extLst>
              <a:ext uri="{FF2B5EF4-FFF2-40B4-BE49-F238E27FC236}">
                <a16:creationId xmlns:a16="http://schemas.microsoft.com/office/drawing/2014/main" xmlns="" id="{8666B27E-CE4E-4D10-ABCE-3D4B040CF523}"/>
              </a:ext>
            </a:extLst>
          </p:cNvPr>
          <p:cNvSpPr txBox="1">
            <a:spLocks noChangeArrowheads="1"/>
          </p:cNvSpPr>
          <p:nvPr/>
        </p:nvSpPr>
        <p:spPr bwMode="auto">
          <a:xfrm>
            <a:off x="1631504" y="2456892"/>
            <a:ext cx="8283575" cy="461665"/>
          </a:xfrm>
          <a:prstGeom prst="rect">
            <a:avLst/>
          </a:prstGeom>
          <a:noFill/>
          <a:ln w="12700">
            <a:noFill/>
            <a:miter lim="800000"/>
            <a:headEnd type="none" w="sm" len="lg"/>
            <a:tailEnd type="none" w="sm" len="lg"/>
          </a:ln>
        </p:spPr>
        <p:txBody>
          <a:bodyPr anchor="ctr">
            <a:spAutoFit/>
          </a:bodyPr>
          <a:lstStyle/>
          <a:p>
            <a:r>
              <a:rPr lang="zh-CN" altLang="en-US" sz="2400" dirty="0">
                <a:solidFill>
                  <a:srgbClr val="FF3300"/>
                </a:solidFill>
                <a:latin typeface="宋体" pitchFamily="2" charset="-122"/>
                <a:ea typeface="宋体" pitchFamily="2" charset="-122"/>
              </a:rPr>
              <a:t>表面微观结构的各种符号的意义及其在图纸上的标注方法。</a:t>
            </a:r>
          </a:p>
        </p:txBody>
      </p:sp>
    </p:spTree>
    <p:extLst>
      <p:ext uri="{BB962C8B-B14F-4D97-AF65-F5344CB8AC3E}">
        <p14:creationId xmlns:p14="http://schemas.microsoft.com/office/powerpoint/2010/main" val="192968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784ebfb47ae6eac1ef093a7e638370875ec66"/>
</p:tagLst>
</file>

<file path=ppt/tags/tag2.xml><?xml version="1.0" encoding="utf-8"?>
<p:tagLst xmlns:a="http://schemas.openxmlformats.org/drawingml/2006/main" xmlns:r="http://schemas.openxmlformats.org/officeDocument/2006/relationships" xmlns:p="http://schemas.openxmlformats.org/presentationml/2006/main">
  <p:tag name="PROBLEMSCORE" val="1.0"/>
  <p:tag name="PROBLEMSCORE_HALF" val="0.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PROBLEMSCORE" val="1.0"/>
  <p:tag name="PROBLEMSCORE_HALF" val="0.0"/>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rotWithShape="0">
          <a:gsLst>
            <a:gs pos="0">
              <a:srgbClr val="DDEBCF"/>
            </a:gs>
            <a:gs pos="50000">
              <a:srgbClr val="9CB86E"/>
            </a:gs>
            <a:gs pos="100000">
              <a:srgbClr val="156B13"/>
            </a:gs>
          </a:gsLst>
          <a:lin ang="5400000"/>
        </a:gradFill>
        <a:ln w="9525">
          <a:noFill/>
          <a:miter lim="800000"/>
          <a:headEnd/>
          <a:tailEnd/>
        </a:ln>
      </a:spPr>
      <a:bodyPr anchor="ctr"/>
      <a:lstStyle>
        <a:defPPr>
          <a:defRPr sz="3600" dirty="0">
            <a:solidFill>
              <a:schemeClr val="tx2"/>
            </a:solidFill>
            <a:latin typeface="宋体" pitchFamily="2" charset="-122"/>
          </a:defRPr>
        </a:defPPr>
      </a:lstStyle>
    </a:spDef>
    <a:txDef>
      <a:spPr/>
      <a:bodyPr anchor="ctr">
        <a:spAutoFit/>
      </a:bodyPr>
      <a:lstStyle>
        <a:defPPr algn="ctr" fontAlgn="auto">
          <a:spcAft>
            <a:spcPts val="0"/>
          </a:spcAft>
          <a:defRPr kumimoji="0" sz="4400" b="1" dirty="0">
            <a:solidFill>
              <a:schemeClr val="tx2"/>
            </a:solidFill>
            <a:latin typeface="黑体" pitchFamily="2" charset="-122"/>
            <a:ea typeface="黑体" pitchFamily="2" charset="-122"/>
            <a:cs typeface="+mj-cs"/>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4452</TotalTime>
  <Words>1821</Words>
  <Application>Microsoft Office PowerPoint</Application>
  <PresentationFormat>宽屏</PresentationFormat>
  <Paragraphs>247</Paragraphs>
  <Slides>25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Calibri</vt:lpstr>
      <vt:lpstr>ISOCPEUR</vt:lpstr>
      <vt:lpstr>Microsoft Yahei</vt:lpstr>
      <vt:lpstr>黑体</vt:lpstr>
      <vt:lpstr>华文行楷</vt:lpstr>
      <vt:lpstr>宋体</vt:lpstr>
      <vt:lpstr>Arial</vt:lpstr>
      <vt:lpstr>ISOCP</vt:lpstr>
      <vt:lpstr>Symbol</vt:lpstr>
      <vt:lpstr>Times New Roman</vt:lpstr>
      <vt:lpstr>Wingdings</vt:lpstr>
      <vt:lpstr>Wingdings 2</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机件的表达 1</dc:title>
  <dc:creator>穆浩志</dc:creator>
  <cp:keywords>天津理工大学</cp:keywords>
  <cp:lastModifiedBy>Windows 用户</cp:lastModifiedBy>
  <cp:revision>453</cp:revision>
  <dcterms:created xsi:type="dcterms:W3CDTF">2014-03-20T09:34:50Z</dcterms:created>
  <dcterms:modified xsi:type="dcterms:W3CDTF">2020-03-27T03:51:16Z</dcterms:modified>
</cp:coreProperties>
</file>
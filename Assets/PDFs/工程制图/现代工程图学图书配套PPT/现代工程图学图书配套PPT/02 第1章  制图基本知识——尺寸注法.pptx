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5" r:id="rId1"/>
  </p:sldMasterIdLst>
  <p:notesMasterIdLst>
    <p:notesMasterId r:id="rId21"/>
  </p:notesMasterIdLst>
  <p:sldIdLst>
    <p:sldId id="370" r:id="rId2"/>
    <p:sldId id="359" r:id="rId3"/>
    <p:sldId id="360" r:id="rId4"/>
    <p:sldId id="380" r:id="rId5"/>
    <p:sldId id="385" r:id="rId6"/>
    <p:sldId id="361" r:id="rId7"/>
    <p:sldId id="362" r:id="rId8"/>
    <p:sldId id="388" r:id="rId9"/>
    <p:sldId id="381" r:id="rId10"/>
    <p:sldId id="382" r:id="rId11"/>
    <p:sldId id="363" r:id="rId12"/>
    <p:sldId id="383" r:id="rId13"/>
    <p:sldId id="364" r:id="rId14"/>
    <p:sldId id="365" r:id="rId15"/>
    <p:sldId id="366" r:id="rId16"/>
    <p:sldId id="367" r:id="rId17"/>
    <p:sldId id="386" r:id="rId18"/>
    <p:sldId id="384" r:id="rId19"/>
    <p:sldId id="387" r:id="rId20"/>
  </p:sldIdLst>
  <p:sldSz cx="12192000" cy="6858000"/>
  <p:notesSz cx="6858000" cy="9144000"/>
  <p:custDataLst>
    <p:tags r:id="rId2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modifyVerifier cryptProviderType="rsaFull" cryptAlgorithmClass="hash" cryptAlgorithmType="typeAny" cryptAlgorithmSid="4" spinCount="50000" saltData="8Yo8kdu3NDk2dMO859+51A==" hashData="xjblUYhJpHbeHAhuQ7202wSKqmk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DB1"/>
    <a:srgbClr val="FF00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2621" autoAdjust="0"/>
  </p:normalViewPr>
  <p:slideViewPr>
    <p:cSldViewPr>
      <p:cViewPr varScale="1">
        <p:scale>
          <a:sx n="80" d="100"/>
          <a:sy n="80" d="100"/>
        </p:scale>
        <p:origin x="221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63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6A0989E8-1075-42F2-9157-17F56DA4FCC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31288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1F7D063-40A2-4FA4-BBB7-FE345E633AFB}" type="slidenum">
              <a:rPr lang="en-US" altLang="zh-CN" smtClean="0"/>
              <a:pPr/>
              <a:t>13</a:t>
            </a:fld>
            <a:endParaRPr lang="en-US" altLang="zh-CN"/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535706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E706D0-C9D2-4F56-868A-C3F483AF150B}" type="slidenum">
              <a:rPr lang="en-US" altLang="zh-CN" smtClean="0"/>
              <a:pPr/>
              <a:t>14</a:t>
            </a:fld>
            <a:endParaRPr lang="en-US" altLang="zh-CN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35780034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5AE3FE68-9870-4B24-974B-6D4BCEB168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E04447E-CF2A-49AF-A13F-FD295E5865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81710430-5AAF-4931-B0C6-CC3D487DF25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/>
          </a:p>
        </p:txBody>
      </p:sp>
      <p:sp>
        <p:nvSpPr>
          <p:cNvPr id="12" name="TextBox 4"/>
          <p:cNvSpPr txBox="1"/>
          <p:nvPr userDrawn="1"/>
        </p:nvSpPr>
        <p:spPr>
          <a:xfrm>
            <a:off x="9837219" y="1081882"/>
            <a:ext cx="2279628" cy="46196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5pPr>
            <a:lvl6pPr marL="22860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6pPr>
            <a:lvl7pPr marL="27432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7pPr>
            <a:lvl8pPr marL="32004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8pPr>
            <a:lvl9pPr marL="3657600" algn="l" defTabSz="914400" rtl="0" eaLnBrk="1" latinLnBrk="0" hangingPunct="1">
              <a:defRPr kumimoji="1" sz="2400" kern="1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  <a:cs typeface="+mn-cs"/>
              </a:defRPr>
            </a:lvl9pPr>
          </a:lstStyle>
          <a:p>
            <a:pPr>
              <a:defRPr/>
            </a:pPr>
            <a:r>
              <a:rPr lang="zh-CN" altLang="en-US" sz="2400" dirty="0"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225D95E-D4CA-468A-AED5-1DC7E1DA450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6043" y="-2880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6.pn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024165" y="844903"/>
            <a:ext cx="6143668" cy="428628"/>
          </a:xfrm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/>
          <a:p>
            <a:pPr algn="l"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</a:p>
        </p:txBody>
      </p:sp>
      <p:sp>
        <p:nvSpPr>
          <p:cNvPr id="91139" name="Rectangle 3"/>
          <p:cNvSpPr>
            <a:spLocks noChangeArrowheads="1"/>
          </p:cNvSpPr>
          <p:nvPr/>
        </p:nvSpPr>
        <p:spPr bwMode="auto">
          <a:xfrm>
            <a:off x="851670" y="3039156"/>
            <a:ext cx="4344988" cy="132343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★</a:t>
            </a:r>
            <a:r>
              <a:rPr kumimoji="1" lang="zh-CN" altLang="en-US" sz="2400" b="1" dirty="0">
                <a:latin typeface="宋体" pitchFamily="2" charset="-122"/>
              </a:rPr>
              <a:t>在图样中，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除需表达形体的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结构形状外</a:t>
            </a:r>
            <a:r>
              <a:rPr kumimoji="1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，还需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标注尺寸</a:t>
            </a:r>
            <a:r>
              <a:rPr kumimoji="1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，以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确定</a:t>
            </a:r>
            <a:r>
              <a:rPr kumimoji="1" lang="zh-CN" altLang="en-US" sz="2800" b="1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形体的大小</a:t>
            </a:r>
            <a:r>
              <a:rPr kumimoji="1" lang="zh-CN" altLang="en-US" sz="2400" b="1" dirty="0">
                <a:solidFill>
                  <a:srgbClr val="3333CC"/>
                </a:solidFill>
                <a:latin typeface="宋体" pitchFamily="2" charset="-122"/>
              </a:rPr>
              <a:t>。</a:t>
            </a: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4" name="矩形 3"/>
          <p:cNvSpPr>
            <a:spLocks noChangeArrowheads="1"/>
          </p:cNvSpPr>
          <p:nvPr/>
        </p:nvSpPr>
        <p:spPr bwMode="auto">
          <a:xfrm>
            <a:off x="984798" y="4736958"/>
            <a:ext cx="4176464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kumimoji="1" lang="zh-CN" altLang="en-US" sz="2400" b="1" dirty="0">
                <a:latin typeface="宋体" pitchFamily="2" charset="-122"/>
              </a:rPr>
              <a:t>  </a:t>
            </a:r>
            <a:r>
              <a:rPr kumimoji="1"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★</a:t>
            </a:r>
            <a:r>
              <a:rPr kumimoji="1" lang="zh-CN" altLang="en-US" sz="2400" b="1" dirty="0">
                <a:latin typeface="宋体" pitchFamily="2" charset="-122"/>
              </a:rPr>
              <a:t>尺寸也是图样的重要组成部分。尺寸标注是否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正确</a:t>
            </a:r>
            <a:r>
              <a:rPr kumimoji="1" lang="zh-CN" altLang="en-US" sz="2400" b="1" dirty="0">
                <a:latin typeface="宋体" pitchFamily="2" charset="-122"/>
              </a:rPr>
              <a:t>、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合理</a:t>
            </a:r>
            <a:r>
              <a:rPr kumimoji="1" lang="zh-CN" altLang="en-US" sz="2400" b="1" dirty="0">
                <a:latin typeface="宋体" pitchFamily="2" charset="-122"/>
              </a:rPr>
              <a:t>，会直接影响图样的质量。 </a:t>
            </a:r>
            <a:endParaRPr lang="zh-CN" altLang="en-US" sz="2400" dirty="0"/>
          </a:p>
        </p:txBody>
      </p:sp>
      <p:sp>
        <p:nvSpPr>
          <p:cNvPr id="7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6D94225C-0F7F-4AE0-8BA2-8EB929DCF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046" y="1280752"/>
            <a:ext cx="3083346" cy="571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j-cs"/>
              </a:rPr>
              <a:t>本讲目标要求：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5878F914-97A5-4B5F-A24F-1124D1601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4794" y="1868150"/>
            <a:ext cx="880241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认识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尺寸标注</a:t>
            </a: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基本标准、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掌握应用方法、</a:t>
            </a:r>
            <a:r>
              <a:rPr lang="zh-CN" altLang="en-US" sz="2800" b="1" dirty="0">
                <a:latin typeface="方正隶书简体" pitchFamily="2" charset="-122"/>
                <a:ea typeface="方正隶书简体" pitchFamily="2" charset="-122"/>
              </a:rPr>
              <a:t>熟练标注技能</a:t>
            </a:r>
            <a:endParaRPr lang="zh-CN" altLang="en-US" sz="2800" dirty="0">
              <a:latin typeface="方正隶书简体" pitchFamily="2" charset="-122"/>
              <a:ea typeface="方正隶书简体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73D7AB7-E695-4C49-9760-77AD3A1E4D44}"/>
              </a:ext>
            </a:extLst>
          </p:cNvPr>
          <p:cNvSpPr/>
          <p:nvPr/>
        </p:nvSpPr>
        <p:spPr>
          <a:xfrm>
            <a:off x="1263205" y="2424170"/>
            <a:ext cx="3521919" cy="432048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FadeLeft">
              <a:avLst/>
            </a:prstTxWarp>
            <a:spAutoFit/>
          </a:bodyPr>
          <a:lstStyle/>
          <a:p>
            <a:pPr algn="ctr"/>
            <a:r>
              <a:rPr lang="zh-CN" altLang="en-US" sz="54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为什么要进行尺寸标注？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46C253C8-85FA-43C6-9B69-E68460F26C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147" t="7990" r="11888" b="7671"/>
          <a:stretch/>
        </p:blipFill>
        <p:spPr>
          <a:xfrm>
            <a:off x="5449212" y="2564904"/>
            <a:ext cx="5458226" cy="4101174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4BA2998D-D763-46E9-86B9-8E00B739869F}"/>
              </a:ext>
            </a:extLst>
          </p:cNvPr>
          <p:cNvSpPr/>
          <p:nvPr/>
        </p:nvSpPr>
        <p:spPr bwMode="auto">
          <a:xfrm>
            <a:off x="6312024" y="4977083"/>
            <a:ext cx="1224136" cy="360040"/>
          </a:xfrm>
          <a:prstGeom prst="ellipse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algn="l" eaLnBrk="0" hangingPunct="0">
              <a:lnSpc>
                <a:spcPct val="150000"/>
              </a:lnSpc>
            </a:pPr>
            <a:endParaRPr kumimoji="1" lang="zh-CN" altLang="en-US" sz="2400" b="1" dirty="0">
              <a:latin typeface="宋体" pitchFamily="2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7DAE4C32-CBA5-4217-9DFA-59F8E0D23C9A}"/>
              </a:ext>
            </a:extLst>
          </p:cNvPr>
          <p:cNvSpPr/>
          <p:nvPr/>
        </p:nvSpPr>
        <p:spPr bwMode="auto">
          <a:xfrm>
            <a:off x="8184774" y="3068960"/>
            <a:ext cx="703119" cy="360040"/>
          </a:xfrm>
          <a:prstGeom prst="ellipse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</p:spPr>
        <p:txBody>
          <a:bodyPr wrap="square" rtlCol="0" anchor="ctr">
            <a:spAutoFit/>
          </a:bodyPr>
          <a:lstStyle/>
          <a:p>
            <a:pPr algn="l" eaLnBrk="0" hangingPunct="0">
              <a:lnSpc>
                <a:spcPct val="150000"/>
              </a:lnSpc>
            </a:pPr>
            <a:endParaRPr kumimoji="1" lang="zh-CN" altLang="en-US" sz="2400" b="1" dirty="0">
              <a:latin typeface="宋体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/>
      <p:bldP spid="4" grpId="0"/>
      <p:bldP spid="9" grpId="0"/>
      <p:bldP spid="2" grpId="0"/>
      <p:bldP spid="3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7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8510" y="1772816"/>
            <a:ext cx="6129337" cy="4536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901" name="Text Box 13"/>
          <p:cNvSpPr txBox="1">
            <a:spLocks noChangeArrowheads="1"/>
          </p:cNvSpPr>
          <p:nvPr/>
        </p:nvSpPr>
        <p:spPr bwMode="auto">
          <a:xfrm>
            <a:off x="1206751" y="1347716"/>
            <a:ext cx="379302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1.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标注尺寸的基本规则</a:t>
            </a: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7479606" y="1886910"/>
            <a:ext cx="3326059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latin typeface="ISOCP" pitchFamily="2" charset="0"/>
              </a:rPr>
              <a:t>与绘图比例及绘图的准确度无关。</a:t>
            </a:r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6558979" y="2773221"/>
            <a:ext cx="4397622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latin typeface="ISOCP" pitchFamily="2" charset="0"/>
              </a:rPr>
              <a:t>采用其它单位时，则必须注明单位名称。</a:t>
            </a:r>
          </a:p>
        </p:txBody>
      </p:sp>
      <p:sp>
        <p:nvSpPr>
          <p:cNvPr id="15" name="Text Box 11"/>
          <p:cNvSpPr txBox="1">
            <a:spLocks noChangeArrowheads="1"/>
          </p:cNvSpPr>
          <p:nvPr/>
        </p:nvSpPr>
        <p:spPr bwMode="auto">
          <a:xfrm>
            <a:off x="6744072" y="3810087"/>
            <a:ext cx="26463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dirty="0">
                <a:latin typeface="ISOCP" pitchFamily="2" charset="0"/>
              </a:rPr>
              <a:t>否则应另加说明。</a:t>
            </a:r>
          </a:p>
        </p:txBody>
      </p:sp>
      <p:sp>
        <p:nvSpPr>
          <p:cNvPr id="16" name="Text Box 12"/>
          <p:cNvSpPr txBox="1">
            <a:spLocks noChangeArrowheads="1"/>
          </p:cNvSpPr>
          <p:nvPr/>
        </p:nvSpPr>
        <p:spPr bwMode="auto">
          <a:xfrm>
            <a:off x="7174012" y="4541270"/>
            <a:ext cx="361181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latin typeface="ISOCP" pitchFamily="2" charset="0"/>
              </a:rPr>
              <a:t>注在最能清晰地反映该结构特征的视图上。</a:t>
            </a:r>
          </a:p>
        </p:txBody>
      </p:sp>
      <p:sp>
        <p:nvSpPr>
          <p:cNvPr id="11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CC0CA175-026C-4E80-9EBA-6F3E7C4BF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75"/>
                                        <p:tgtEl>
                                          <p:spTgt spid="37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1000"/>
                                        <p:tgtEl>
                                          <p:spTgt spid="3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75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75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75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901" grpId="0" autoUpdateAnimBg="0"/>
      <p:bldP spid="12" grpId="0" autoUpdateAnimBg="0"/>
      <p:bldP spid="13" grpId="0" autoUpdateAnimBg="0"/>
      <p:bldP spid="15" grpId="0" autoUpdateAnimBg="0"/>
      <p:bldP spid="16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7"/>
          <p:cNvSpPr txBox="1">
            <a:spLocks noChangeArrowheads="1"/>
          </p:cNvSpPr>
          <p:nvPr/>
        </p:nvSpPr>
        <p:spPr bwMode="auto">
          <a:xfrm>
            <a:off x="3659275" y="1484784"/>
            <a:ext cx="48734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800" b="1" dirty="0">
                <a:latin typeface="ISOCP" pitchFamily="2" charset="0"/>
              </a:rPr>
              <a:t>尺寸标注中常用符号和缩写词</a:t>
            </a:r>
          </a:p>
        </p:txBody>
      </p:sp>
      <p:pic>
        <p:nvPicPr>
          <p:cNvPr id="33795" name="Picture 61" descr="snap"/>
          <p:cNvPicPr>
            <a:picLocks noChangeAspect="1" noChangeArrowheads="1"/>
          </p:cNvPicPr>
          <p:nvPr/>
        </p:nvPicPr>
        <p:blipFill>
          <a:blip r:embed="rId2"/>
          <a:srcRect l="5675" t="16251"/>
          <a:stretch>
            <a:fillRect/>
          </a:stretch>
        </p:blipFill>
        <p:spPr bwMode="auto">
          <a:xfrm>
            <a:off x="1402717" y="1916832"/>
            <a:ext cx="9386566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31">
            <a:extLst>
              <a:ext uri="{FF2B5EF4-FFF2-40B4-BE49-F238E27FC236}">
                <a16:creationId xmlns:a16="http://schemas.microsoft.com/office/drawing/2014/main" id="{A313E486-B258-41CD-8C18-9AEB8A997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2781" y="79891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20DDB58-5970-4046-913A-ED58C4A569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9" name="矩形 62"/>
          <p:cNvSpPr>
            <a:spLocks noChangeArrowheads="1"/>
          </p:cNvSpPr>
          <p:nvPr/>
        </p:nvSpPr>
        <p:spPr bwMode="auto">
          <a:xfrm>
            <a:off x="2578100" y="1764187"/>
            <a:ext cx="70358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2800" b="1" dirty="0">
                <a:latin typeface="+mn-ea"/>
                <a:ea typeface="+mn-ea"/>
              </a:rPr>
              <a:t>标注尺寸用符号的比例画法（线宽为</a:t>
            </a:r>
            <a:r>
              <a:rPr lang="en-US" altLang="zh-CN" sz="2800" b="1" dirty="0">
                <a:latin typeface="+mn-ea"/>
                <a:ea typeface="+mn-ea"/>
              </a:rPr>
              <a:t>h/10</a:t>
            </a:r>
            <a:r>
              <a:rPr lang="zh-CN" altLang="en-US" sz="2800" b="1" dirty="0">
                <a:latin typeface="+mn-ea"/>
                <a:ea typeface="+mn-ea"/>
              </a:rPr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2DAC4AD-48B4-492D-B9D9-5E8D827F1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524" y="2780928"/>
            <a:ext cx="10380952" cy="2361905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72E190FE-69FB-49EE-B6E1-907B882BA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6478589" y="4572019"/>
            <a:ext cx="3386138" cy="1114425"/>
            <a:chOff x="3121" y="1811"/>
            <a:chExt cx="2133" cy="702"/>
          </a:xfrm>
        </p:grpSpPr>
        <p:sp>
          <p:nvSpPr>
            <p:cNvPr id="35939" name="Text Box 3"/>
            <p:cNvSpPr txBox="1">
              <a:spLocks noChangeArrowheads="1"/>
            </p:cNvSpPr>
            <p:nvPr/>
          </p:nvSpPr>
          <p:spPr bwMode="auto">
            <a:xfrm>
              <a:off x="3493" y="1811"/>
              <a:ext cx="1425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这些间距</a:t>
              </a:r>
              <a:r>
                <a:rPr lang="zh-CN" altLang="en-US">
                  <a:solidFill>
                    <a:schemeClr val="accent2"/>
                  </a:solidFill>
                  <a:latin typeface="Times New Roman" pitchFamily="18" charset="0"/>
                </a:rPr>
                <a:t>＞</a:t>
              </a:r>
              <a:r>
                <a:rPr lang="en-US" altLang="zh-CN">
                  <a:solidFill>
                    <a:schemeClr val="accent2"/>
                  </a:solidFill>
                  <a:latin typeface="Times New Roman" pitchFamily="18" charset="0"/>
                </a:rPr>
                <a:t>7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毫米，</a:t>
              </a:r>
            </a:p>
            <a:p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最好不超过</a:t>
              </a:r>
              <a:r>
                <a:rPr lang="en-US" altLang="zh-CN">
                  <a:solidFill>
                    <a:schemeClr val="accent2"/>
                  </a:solidFill>
                  <a:latin typeface="Times New Roman" pitchFamily="18" charset="0"/>
                </a:rPr>
                <a:t>10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毫米。</a:t>
              </a:r>
            </a:p>
          </p:txBody>
        </p:sp>
        <p:sp>
          <p:nvSpPr>
            <p:cNvPr id="35940" name="AutoShape 4"/>
            <p:cNvSpPr>
              <a:spLocks/>
            </p:cNvSpPr>
            <p:nvPr/>
          </p:nvSpPr>
          <p:spPr bwMode="auto">
            <a:xfrm>
              <a:off x="3121" y="2120"/>
              <a:ext cx="62" cy="197"/>
            </a:xfrm>
            <a:prstGeom prst="rightBrace">
              <a:avLst>
                <a:gd name="adj1" fmla="val 26478"/>
                <a:gd name="adj2" fmla="val 50000"/>
              </a:avLst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1" name="AutoShape 5"/>
            <p:cNvSpPr>
              <a:spLocks/>
            </p:cNvSpPr>
            <p:nvPr/>
          </p:nvSpPr>
          <p:spPr bwMode="auto">
            <a:xfrm>
              <a:off x="3121" y="2317"/>
              <a:ext cx="62" cy="196"/>
            </a:xfrm>
            <a:prstGeom prst="rightBrace">
              <a:avLst>
                <a:gd name="adj1" fmla="val 26344"/>
                <a:gd name="adj2" fmla="val 50000"/>
              </a:avLst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2" name="Line 6"/>
            <p:cNvSpPr>
              <a:spLocks noChangeShapeType="1"/>
            </p:cNvSpPr>
            <p:nvPr/>
          </p:nvSpPr>
          <p:spPr bwMode="auto">
            <a:xfrm>
              <a:off x="3183" y="2226"/>
              <a:ext cx="66" cy="9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3" name="Line 7"/>
            <p:cNvSpPr>
              <a:spLocks noChangeShapeType="1"/>
            </p:cNvSpPr>
            <p:nvPr/>
          </p:nvSpPr>
          <p:spPr bwMode="auto">
            <a:xfrm flipV="1">
              <a:off x="3183" y="2317"/>
              <a:ext cx="67" cy="9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44" name="Line 8"/>
            <p:cNvSpPr>
              <a:spLocks noChangeShapeType="1"/>
            </p:cNvSpPr>
            <p:nvPr/>
          </p:nvSpPr>
          <p:spPr bwMode="auto">
            <a:xfrm>
              <a:off x="3249" y="2317"/>
              <a:ext cx="2005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843" name="Line 9"/>
          <p:cNvSpPr>
            <a:spLocks noChangeShapeType="1"/>
          </p:cNvSpPr>
          <p:nvPr/>
        </p:nvSpPr>
        <p:spPr bwMode="auto">
          <a:xfrm flipH="1">
            <a:off x="4275138" y="4411681"/>
            <a:ext cx="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43"/>
          <p:cNvGrpSpPr>
            <a:grpSpLocks/>
          </p:cNvGrpSpPr>
          <p:nvPr/>
        </p:nvGrpSpPr>
        <p:grpSpPr bwMode="auto">
          <a:xfrm>
            <a:off x="4173539" y="4351356"/>
            <a:ext cx="2403475" cy="887412"/>
            <a:chOff x="1669" y="1619"/>
            <a:chExt cx="1514" cy="559"/>
          </a:xfrm>
        </p:grpSpPr>
        <p:sp>
          <p:nvSpPr>
            <p:cNvPr id="35930" name="Freeform 11"/>
            <p:cNvSpPr>
              <a:spLocks/>
            </p:cNvSpPr>
            <p:nvPr/>
          </p:nvSpPr>
          <p:spPr bwMode="auto">
            <a:xfrm>
              <a:off x="1669" y="1895"/>
              <a:ext cx="1514" cy="0"/>
            </a:xfrm>
            <a:custGeom>
              <a:avLst/>
              <a:gdLst>
                <a:gd name="T0" fmla="*/ 0 w 2190"/>
                <a:gd name="T1" fmla="*/ 0 h 1"/>
                <a:gd name="T2" fmla="*/ 38 w 2190"/>
                <a:gd name="T3" fmla="*/ 0 h 1"/>
                <a:gd name="T4" fmla="*/ 0 60000 65536"/>
                <a:gd name="T5" fmla="*/ 0 60000 65536"/>
                <a:gd name="T6" fmla="*/ 0 w 2190"/>
                <a:gd name="T7" fmla="*/ 0 h 1"/>
                <a:gd name="T8" fmla="*/ 2190 w 2190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90" h="1">
                  <a:moveTo>
                    <a:pt x="0" y="0"/>
                  </a:moveTo>
                  <a:lnTo>
                    <a:pt x="219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31" name="Rectangle 12"/>
            <p:cNvSpPr>
              <a:spLocks noChangeArrowheads="1"/>
            </p:cNvSpPr>
            <p:nvPr/>
          </p:nvSpPr>
          <p:spPr bwMode="auto">
            <a:xfrm>
              <a:off x="1754" y="1622"/>
              <a:ext cx="558" cy="55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32" name="Rectangle 13"/>
            <p:cNvSpPr>
              <a:spLocks noChangeArrowheads="1"/>
            </p:cNvSpPr>
            <p:nvPr/>
          </p:nvSpPr>
          <p:spPr bwMode="auto">
            <a:xfrm>
              <a:off x="2312" y="1730"/>
              <a:ext cx="757" cy="33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33" name="Freeform 14"/>
            <p:cNvSpPr>
              <a:spLocks/>
            </p:cNvSpPr>
            <p:nvPr/>
          </p:nvSpPr>
          <p:spPr bwMode="auto">
            <a:xfrm>
              <a:off x="3072" y="1734"/>
              <a:ext cx="53" cy="42"/>
            </a:xfrm>
            <a:custGeom>
              <a:avLst/>
              <a:gdLst>
                <a:gd name="T0" fmla="*/ 0 w 53"/>
                <a:gd name="T1" fmla="*/ 0 h 42"/>
                <a:gd name="T2" fmla="*/ 53 w 53"/>
                <a:gd name="T3" fmla="*/ 42 h 42"/>
                <a:gd name="T4" fmla="*/ 0 60000 65536"/>
                <a:gd name="T5" fmla="*/ 0 60000 65536"/>
                <a:gd name="T6" fmla="*/ 0 w 53"/>
                <a:gd name="T7" fmla="*/ 0 h 42"/>
                <a:gd name="T8" fmla="*/ 53 w 53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" h="42">
                  <a:moveTo>
                    <a:pt x="0" y="0"/>
                  </a:moveTo>
                  <a:lnTo>
                    <a:pt x="53" y="4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34" name="Freeform 15"/>
            <p:cNvSpPr>
              <a:spLocks/>
            </p:cNvSpPr>
            <p:nvPr/>
          </p:nvSpPr>
          <p:spPr bwMode="auto">
            <a:xfrm>
              <a:off x="3120" y="1777"/>
              <a:ext cx="1" cy="251"/>
            </a:xfrm>
            <a:custGeom>
              <a:avLst/>
              <a:gdLst>
                <a:gd name="T0" fmla="*/ 1 w 1"/>
                <a:gd name="T1" fmla="*/ 0 h 251"/>
                <a:gd name="T2" fmla="*/ 0 w 1"/>
                <a:gd name="T3" fmla="*/ 251 h 251"/>
                <a:gd name="T4" fmla="*/ 0 60000 65536"/>
                <a:gd name="T5" fmla="*/ 0 60000 65536"/>
                <a:gd name="T6" fmla="*/ 0 w 1"/>
                <a:gd name="T7" fmla="*/ 0 h 251"/>
                <a:gd name="T8" fmla="*/ 1 w 1"/>
                <a:gd name="T9" fmla="*/ 251 h 2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51">
                  <a:moveTo>
                    <a:pt x="1" y="0"/>
                  </a:moveTo>
                  <a:lnTo>
                    <a:pt x="0" y="251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35" name="Freeform 16"/>
            <p:cNvSpPr>
              <a:spLocks/>
            </p:cNvSpPr>
            <p:nvPr/>
          </p:nvSpPr>
          <p:spPr bwMode="auto">
            <a:xfrm>
              <a:off x="3069" y="2017"/>
              <a:ext cx="51" cy="55"/>
            </a:xfrm>
            <a:custGeom>
              <a:avLst/>
              <a:gdLst>
                <a:gd name="T0" fmla="*/ 0 w 51"/>
                <a:gd name="T1" fmla="*/ 55 h 55"/>
                <a:gd name="T2" fmla="*/ 51 w 51"/>
                <a:gd name="T3" fmla="*/ 0 h 55"/>
                <a:gd name="T4" fmla="*/ 0 60000 65536"/>
                <a:gd name="T5" fmla="*/ 0 60000 65536"/>
                <a:gd name="T6" fmla="*/ 0 w 51"/>
                <a:gd name="T7" fmla="*/ 0 h 55"/>
                <a:gd name="T8" fmla="*/ 51 w 51"/>
                <a:gd name="T9" fmla="*/ 55 h 5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" h="55">
                  <a:moveTo>
                    <a:pt x="0" y="55"/>
                  </a:moveTo>
                  <a:lnTo>
                    <a:pt x="51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36" name="Freeform 17"/>
            <p:cNvSpPr>
              <a:spLocks/>
            </p:cNvSpPr>
            <p:nvPr/>
          </p:nvSpPr>
          <p:spPr bwMode="auto">
            <a:xfrm>
              <a:off x="1694" y="1619"/>
              <a:ext cx="58" cy="57"/>
            </a:xfrm>
            <a:custGeom>
              <a:avLst/>
              <a:gdLst>
                <a:gd name="T0" fmla="*/ 58 w 58"/>
                <a:gd name="T1" fmla="*/ 0 h 57"/>
                <a:gd name="T2" fmla="*/ 0 w 58"/>
                <a:gd name="T3" fmla="*/ 57 h 57"/>
                <a:gd name="T4" fmla="*/ 0 60000 65536"/>
                <a:gd name="T5" fmla="*/ 0 60000 65536"/>
                <a:gd name="T6" fmla="*/ 0 w 58"/>
                <a:gd name="T7" fmla="*/ 0 h 57"/>
                <a:gd name="T8" fmla="*/ 58 w 58"/>
                <a:gd name="T9" fmla="*/ 57 h 5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8" h="57">
                  <a:moveTo>
                    <a:pt x="58" y="0"/>
                  </a:moveTo>
                  <a:lnTo>
                    <a:pt x="0" y="5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37" name="Freeform 18"/>
            <p:cNvSpPr>
              <a:spLocks/>
            </p:cNvSpPr>
            <p:nvPr/>
          </p:nvSpPr>
          <p:spPr bwMode="auto">
            <a:xfrm>
              <a:off x="1700" y="1665"/>
              <a:ext cx="1" cy="475"/>
            </a:xfrm>
            <a:custGeom>
              <a:avLst/>
              <a:gdLst>
                <a:gd name="T0" fmla="*/ 0 w 1"/>
                <a:gd name="T1" fmla="*/ 0 h 871"/>
                <a:gd name="T2" fmla="*/ 0 w 1"/>
                <a:gd name="T3" fmla="*/ 1 h 871"/>
                <a:gd name="T4" fmla="*/ 0 60000 65536"/>
                <a:gd name="T5" fmla="*/ 0 60000 65536"/>
                <a:gd name="T6" fmla="*/ 0 w 1"/>
                <a:gd name="T7" fmla="*/ 0 h 871"/>
                <a:gd name="T8" fmla="*/ 1 w 1"/>
                <a:gd name="T9" fmla="*/ 871 h 87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71">
                  <a:moveTo>
                    <a:pt x="0" y="0"/>
                  </a:moveTo>
                  <a:lnTo>
                    <a:pt x="0" y="871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38" name="Freeform 19"/>
            <p:cNvSpPr>
              <a:spLocks/>
            </p:cNvSpPr>
            <p:nvPr/>
          </p:nvSpPr>
          <p:spPr bwMode="auto">
            <a:xfrm>
              <a:off x="1699" y="2128"/>
              <a:ext cx="53" cy="50"/>
            </a:xfrm>
            <a:custGeom>
              <a:avLst/>
              <a:gdLst>
                <a:gd name="T0" fmla="*/ 53 w 53"/>
                <a:gd name="T1" fmla="*/ 50 h 50"/>
                <a:gd name="T2" fmla="*/ 0 w 53"/>
                <a:gd name="T3" fmla="*/ 0 h 50"/>
                <a:gd name="T4" fmla="*/ 0 60000 65536"/>
                <a:gd name="T5" fmla="*/ 0 60000 65536"/>
                <a:gd name="T6" fmla="*/ 0 w 53"/>
                <a:gd name="T7" fmla="*/ 0 h 50"/>
                <a:gd name="T8" fmla="*/ 53 w 53"/>
                <a:gd name="T9" fmla="*/ 50 h 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" h="50">
                  <a:moveTo>
                    <a:pt x="53" y="5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2520951" y="5024456"/>
            <a:ext cx="1503363" cy="425450"/>
            <a:chOff x="628" y="2421"/>
            <a:chExt cx="947" cy="268"/>
          </a:xfrm>
        </p:grpSpPr>
        <p:sp>
          <p:nvSpPr>
            <p:cNvPr id="35927" name="Text Box 21"/>
            <p:cNvSpPr txBox="1">
              <a:spLocks noChangeArrowheads="1"/>
            </p:cNvSpPr>
            <p:nvPr/>
          </p:nvSpPr>
          <p:spPr bwMode="auto">
            <a:xfrm>
              <a:off x="628" y="2421"/>
              <a:ext cx="6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尺寸界线</a:t>
              </a:r>
            </a:p>
          </p:txBody>
        </p:sp>
        <p:sp>
          <p:nvSpPr>
            <p:cNvPr id="35928" name="Freeform 22"/>
            <p:cNvSpPr>
              <a:spLocks/>
            </p:cNvSpPr>
            <p:nvPr/>
          </p:nvSpPr>
          <p:spPr bwMode="auto">
            <a:xfrm>
              <a:off x="1452" y="2562"/>
              <a:ext cx="123" cy="127"/>
            </a:xfrm>
            <a:custGeom>
              <a:avLst/>
              <a:gdLst>
                <a:gd name="T0" fmla="*/ 123 w 123"/>
                <a:gd name="T1" fmla="*/ 0 h 127"/>
                <a:gd name="T2" fmla="*/ 0 w 123"/>
                <a:gd name="T3" fmla="*/ 127 h 127"/>
                <a:gd name="T4" fmla="*/ 0 60000 65536"/>
                <a:gd name="T5" fmla="*/ 0 60000 65536"/>
                <a:gd name="T6" fmla="*/ 0 w 123"/>
                <a:gd name="T7" fmla="*/ 0 h 127"/>
                <a:gd name="T8" fmla="*/ 123 w 123"/>
                <a:gd name="T9" fmla="*/ 127 h 12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3" h="127">
                  <a:moveTo>
                    <a:pt x="123" y="0"/>
                  </a:moveTo>
                  <a:lnTo>
                    <a:pt x="0" y="127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29" name="Line 23"/>
            <p:cNvSpPr>
              <a:spLocks noChangeShapeType="1"/>
            </p:cNvSpPr>
            <p:nvPr/>
          </p:nvSpPr>
          <p:spPr bwMode="auto">
            <a:xfrm flipH="1">
              <a:off x="679" y="2687"/>
              <a:ext cx="77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24"/>
          <p:cNvGrpSpPr>
            <a:grpSpLocks/>
          </p:cNvGrpSpPr>
          <p:nvPr/>
        </p:nvGrpSpPr>
        <p:grpSpPr bwMode="auto">
          <a:xfrm>
            <a:off x="3059113" y="5503881"/>
            <a:ext cx="1509712" cy="409575"/>
            <a:chOff x="967" y="2723"/>
            <a:chExt cx="951" cy="258"/>
          </a:xfrm>
        </p:grpSpPr>
        <p:sp>
          <p:nvSpPr>
            <p:cNvPr id="35924" name="Text Box 25"/>
            <p:cNvSpPr txBox="1">
              <a:spLocks noChangeArrowheads="1"/>
            </p:cNvSpPr>
            <p:nvPr/>
          </p:nvSpPr>
          <p:spPr bwMode="auto">
            <a:xfrm>
              <a:off x="967" y="2723"/>
              <a:ext cx="55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尺寸线</a:t>
              </a:r>
            </a:p>
          </p:txBody>
        </p:sp>
        <p:sp>
          <p:nvSpPr>
            <p:cNvPr id="35925" name="Line 26"/>
            <p:cNvSpPr>
              <a:spLocks noChangeShapeType="1"/>
            </p:cNvSpPr>
            <p:nvPr/>
          </p:nvSpPr>
          <p:spPr bwMode="auto">
            <a:xfrm flipH="1">
              <a:off x="1602" y="2838"/>
              <a:ext cx="316" cy="14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26" name="Line 27"/>
            <p:cNvSpPr>
              <a:spLocks noChangeShapeType="1"/>
            </p:cNvSpPr>
            <p:nvPr/>
          </p:nvSpPr>
          <p:spPr bwMode="auto">
            <a:xfrm flipH="1">
              <a:off x="1020" y="2981"/>
              <a:ext cx="58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28"/>
          <p:cNvGrpSpPr>
            <a:grpSpLocks/>
          </p:cNvGrpSpPr>
          <p:nvPr/>
        </p:nvGrpSpPr>
        <p:grpSpPr bwMode="auto">
          <a:xfrm>
            <a:off x="6167440" y="5615012"/>
            <a:ext cx="3833813" cy="395288"/>
            <a:chOff x="2925" y="2793"/>
            <a:chExt cx="2415" cy="249"/>
          </a:xfrm>
        </p:grpSpPr>
        <p:sp>
          <p:nvSpPr>
            <p:cNvPr id="35921" name="Text Box 29"/>
            <p:cNvSpPr txBox="1">
              <a:spLocks noChangeArrowheads="1"/>
            </p:cNvSpPr>
            <p:nvPr/>
          </p:nvSpPr>
          <p:spPr bwMode="auto">
            <a:xfrm>
              <a:off x="3041" y="2793"/>
              <a:ext cx="17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尺寸界线超出箭头约</a:t>
              </a:r>
              <a:r>
                <a:rPr lang="en-US" altLang="zh-CN">
                  <a:solidFill>
                    <a:schemeClr val="accent2"/>
                  </a:solidFill>
                  <a:latin typeface="Times New Roman" pitchFamily="18" charset="0"/>
                </a:rPr>
                <a:t>2</a:t>
              </a:r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毫米</a:t>
              </a:r>
            </a:p>
          </p:txBody>
        </p:sp>
        <p:sp>
          <p:nvSpPr>
            <p:cNvPr id="35922" name="Freeform 30"/>
            <p:cNvSpPr>
              <a:spLocks/>
            </p:cNvSpPr>
            <p:nvPr/>
          </p:nvSpPr>
          <p:spPr bwMode="auto">
            <a:xfrm>
              <a:off x="2925" y="2853"/>
              <a:ext cx="196" cy="189"/>
            </a:xfrm>
            <a:custGeom>
              <a:avLst/>
              <a:gdLst>
                <a:gd name="T0" fmla="*/ 196 w 196"/>
                <a:gd name="T1" fmla="*/ 0 h 189"/>
                <a:gd name="T2" fmla="*/ 0 w 196"/>
                <a:gd name="T3" fmla="*/ 189 h 189"/>
                <a:gd name="T4" fmla="*/ 0 60000 65536"/>
                <a:gd name="T5" fmla="*/ 0 60000 65536"/>
                <a:gd name="T6" fmla="*/ 0 w 196"/>
                <a:gd name="T7" fmla="*/ 0 h 189"/>
                <a:gd name="T8" fmla="*/ 196 w 19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6" h="189">
                  <a:moveTo>
                    <a:pt x="196" y="0"/>
                  </a:moveTo>
                  <a:lnTo>
                    <a:pt x="0" y="189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23" name="Line 31"/>
            <p:cNvSpPr>
              <a:spLocks noChangeShapeType="1"/>
            </p:cNvSpPr>
            <p:nvPr/>
          </p:nvSpPr>
          <p:spPr bwMode="auto">
            <a:xfrm>
              <a:off x="2933" y="3040"/>
              <a:ext cx="240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848" name="Text Box 32"/>
          <p:cNvSpPr txBox="1">
            <a:spLocks noChangeArrowheads="1"/>
          </p:cNvSpPr>
          <p:nvPr/>
        </p:nvSpPr>
        <p:spPr bwMode="auto">
          <a:xfrm>
            <a:off x="1316011" y="1336989"/>
            <a:ext cx="32528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尺寸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要素）组成</a:t>
            </a:r>
          </a:p>
        </p:txBody>
      </p:sp>
      <p:sp>
        <p:nvSpPr>
          <p:cNvPr id="39969" name="Text Box 33"/>
          <p:cNvSpPr txBox="1">
            <a:spLocks noChangeArrowheads="1"/>
          </p:cNvSpPr>
          <p:nvPr/>
        </p:nvSpPr>
        <p:spPr bwMode="auto">
          <a:xfrm>
            <a:off x="1542138" y="1849659"/>
            <a:ext cx="18886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+mn-ea"/>
                <a:ea typeface="+mn-ea"/>
              </a:rPr>
              <a:t>1) </a:t>
            </a:r>
            <a:r>
              <a:rPr lang="zh-CN" altLang="en-US" sz="2400" b="1" dirty="0">
                <a:latin typeface="+mn-ea"/>
                <a:ea typeface="+mn-ea"/>
              </a:rPr>
              <a:t>尺寸界线</a:t>
            </a:r>
          </a:p>
        </p:txBody>
      </p:sp>
      <p:sp>
        <p:nvSpPr>
          <p:cNvPr id="39970" name="Text Box 34"/>
          <p:cNvSpPr txBox="1">
            <a:spLocks noChangeArrowheads="1"/>
          </p:cNvSpPr>
          <p:nvPr/>
        </p:nvSpPr>
        <p:spPr bwMode="auto">
          <a:xfrm>
            <a:off x="1745551" y="2249709"/>
            <a:ext cx="9300975" cy="1113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2400" b="1" dirty="0">
                <a:latin typeface="+mn-ea"/>
                <a:ea typeface="+mn-ea"/>
              </a:rPr>
              <a:t>    界线为细实线，并应由轮廓线、轴线或对称中心线处引出，也可用这些线代替。</a:t>
            </a:r>
          </a:p>
        </p:txBody>
      </p:sp>
      <p:sp>
        <p:nvSpPr>
          <p:cNvPr id="39972" name="Text Box 36"/>
          <p:cNvSpPr txBox="1">
            <a:spLocks noChangeArrowheads="1"/>
          </p:cNvSpPr>
          <p:nvPr/>
        </p:nvSpPr>
        <p:spPr bwMode="auto">
          <a:xfrm>
            <a:off x="1555401" y="3450757"/>
            <a:ext cx="15792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+mn-ea"/>
                <a:ea typeface="+mn-ea"/>
              </a:rPr>
              <a:t>2) </a:t>
            </a:r>
            <a:r>
              <a:rPr lang="zh-CN" altLang="en-US" sz="2400" b="1" dirty="0">
                <a:latin typeface="+mn-ea"/>
                <a:ea typeface="+mn-ea"/>
              </a:rPr>
              <a:t>尺寸线</a:t>
            </a:r>
          </a:p>
        </p:txBody>
      </p:sp>
      <p:sp>
        <p:nvSpPr>
          <p:cNvPr id="39974" name="Line 38"/>
          <p:cNvSpPr>
            <a:spLocks noChangeShapeType="1"/>
          </p:cNvSpPr>
          <p:nvPr/>
        </p:nvSpPr>
        <p:spPr bwMode="auto">
          <a:xfrm>
            <a:off x="6346825" y="4527568"/>
            <a:ext cx="560388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5" name="Freeform 39"/>
          <p:cNvSpPr>
            <a:spLocks/>
          </p:cNvSpPr>
          <p:nvPr/>
        </p:nvSpPr>
        <p:spPr bwMode="auto">
          <a:xfrm>
            <a:off x="6396039" y="5062556"/>
            <a:ext cx="511175" cy="0"/>
          </a:xfrm>
          <a:custGeom>
            <a:avLst/>
            <a:gdLst>
              <a:gd name="T0" fmla="*/ 0 w 465"/>
              <a:gd name="T1" fmla="*/ 0 h 1"/>
              <a:gd name="T2" fmla="*/ 2147483647 w 465"/>
              <a:gd name="T3" fmla="*/ 0 h 1"/>
              <a:gd name="T4" fmla="*/ 0 60000 65536"/>
              <a:gd name="T5" fmla="*/ 0 60000 65536"/>
              <a:gd name="T6" fmla="*/ 0 w 465"/>
              <a:gd name="T7" fmla="*/ 0 h 1"/>
              <a:gd name="T8" fmla="*/ 465 w 465"/>
              <a:gd name="T9" fmla="*/ 0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65" h="1">
                <a:moveTo>
                  <a:pt x="0" y="0"/>
                </a:moveTo>
                <a:lnTo>
                  <a:pt x="465" y="0"/>
                </a:lnTo>
              </a:path>
            </a:pathLst>
          </a:cu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6" name="Line 40"/>
          <p:cNvSpPr>
            <a:spLocks noChangeShapeType="1"/>
          </p:cNvSpPr>
          <p:nvPr/>
        </p:nvSpPr>
        <p:spPr bwMode="auto">
          <a:xfrm flipH="1">
            <a:off x="3943350" y="4356118"/>
            <a:ext cx="34925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7" name="Line 41"/>
          <p:cNvSpPr>
            <a:spLocks noChangeShapeType="1"/>
          </p:cNvSpPr>
          <p:nvPr/>
        </p:nvSpPr>
        <p:spPr bwMode="auto">
          <a:xfrm flipH="1">
            <a:off x="3943351" y="5230831"/>
            <a:ext cx="37782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8" name="Line 42"/>
          <p:cNvSpPr>
            <a:spLocks noChangeShapeType="1"/>
          </p:cNvSpPr>
          <p:nvPr/>
        </p:nvSpPr>
        <p:spPr bwMode="auto">
          <a:xfrm>
            <a:off x="5194300" y="5230831"/>
            <a:ext cx="0" cy="182562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79" name="Freeform 43"/>
          <p:cNvSpPr>
            <a:spLocks/>
          </p:cNvSpPr>
          <p:nvPr/>
        </p:nvSpPr>
        <p:spPr bwMode="auto">
          <a:xfrm>
            <a:off x="6478589" y="5010169"/>
            <a:ext cx="1587" cy="714375"/>
          </a:xfrm>
          <a:custGeom>
            <a:avLst/>
            <a:gdLst>
              <a:gd name="T0" fmla="*/ 0 w 1"/>
              <a:gd name="T1" fmla="*/ 0 h 825"/>
              <a:gd name="T2" fmla="*/ 0 w 1"/>
              <a:gd name="T3" fmla="*/ 2147483647 h 825"/>
              <a:gd name="T4" fmla="*/ 0 60000 65536"/>
              <a:gd name="T5" fmla="*/ 0 60000 65536"/>
              <a:gd name="T6" fmla="*/ 0 w 1"/>
              <a:gd name="T7" fmla="*/ 0 h 825"/>
              <a:gd name="T8" fmla="*/ 1 w 1"/>
              <a:gd name="T9" fmla="*/ 825 h 8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825">
                <a:moveTo>
                  <a:pt x="0" y="0"/>
                </a:moveTo>
                <a:lnTo>
                  <a:pt x="0" y="825"/>
                </a:lnTo>
              </a:path>
            </a:pathLst>
          </a:cu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0" name="Line 44"/>
          <p:cNvSpPr>
            <a:spLocks noChangeShapeType="1"/>
          </p:cNvSpPr>
          <p:nvPr/>
        </p:nvSpPr>
        <p:spPr bwMode="auto">
          <a:xfrm>
            <a:off x="4222750" y="5165743"/>
            <a:ext cx="1588" cy="5588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1" name="Freeform 45"/>
          <p:cNvSpPr>
            <a:spLocks/>
          </p:cNvSpPr>
          <p:nvPr/>
        </p:nvSpPr>
        <p:spPr bwMode="auto">
          <a:xfrm>
            <a:off x="3992564" y="4338656"/>
            <a:ext cx="1587" cy="919162"/>
          </a:xfrm>
          <a:custGeom>
            <a:avLst/>
            <a:gdLst>
              <a:gd name="T0" fmla="*/ 0 w 1"/>
              <a:gd name="T1" fmla="*/ 0 h 579"/>
              <a:gd name="T2" fmla="*/ 0 w 1"/>
              <a:gd name="T3" fmla="*/ 2147483647 h 579"/>
              <a:gd name="T4" fmla="*/ 0 60000 65536"/>
              <a:gd name="T5" fmla="*/ 0 60000 65536"/>
              <a:gd name="T6" fmla="*/ 0 w 1"/>
              <a:gd name="T7" fmla="*/ 0 h 579"/>
              <a:gd name="T8" fmla="*/ 1 w 1"/>
              <a:gd name="T9" fmla="*/ 579 h 57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79">
                <a:moveTo>
                  <a:pt x="0" y="0"/>
                </a:moveTo>
                <a:lnTo>
                  <a:pt x="0" y="579"/>
                </a:lnTo>
              </a:path>
            </a:pathLst>
          </a:custGeom>
          <a:noFill/>
          <a:ln w="19050">
            <a:solidFill>
              <a:srgbClr val="990033"/>
            </a:solidFill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2" name="Line 46"/>
          <p:cNvSpPr>
            <a:spLocks noChangeShapeType="1"/>
          </p:cNvSpPr>
          <p:nvPr/>
        </p:nvSpPr>
        <p:spPr bwMode="auto">
          <a:xfrm>
            <a:off x="5194300" y="5373706"/>
            <a:ext cx="1284288" cy="0"/>
          </a:xfrm>
          <a:prstGeom prst="line">
            <a:avLst/>
          </a:prstGeom>
          <a:noFill/>
          <a:ln w="19050">
            <a:solidFill>
              <a:srgbClr val="990033"/>
            </a:solidFill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3" name="Line 47"/>
          <p:cNvSpPr>
            <a:spLocks noChangeShapeType="1"/>
          </p:cNvSpPr>
          <p:nvPr/>
        </p:nvSpPr>
        <p:spPr bwMode="auto">
          <a:xfrm>
            <a:off x="4222750" y="5686443"/>
            <a:ext cx="2255838" cy="0"/>
          </a:xfrm>
          <a:prstGeom prst="line">
            <a:avLst/>
          </a:prstGeom>
          <a:noFill/>
          <a:ln w="19050">
            <a:solidFill>
              <a:srgbClr val="990033"/>
            </a:solidFill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984" name="Freeform 48"/>
          <p:cNvSpPr>
            <a:spLocks/>
          </p:cNvSpPr>
          <p:nvPr/>
        </p:nvSpPr>
        <p:spPr bwMode="auto">
          <a:xfrm>
            <a:off x="6851651" y="4514868"/>
            <a:ext cx="4763" cy="565150"/>
          </a:xfrm>
          <a:custGeom>
            <a:avLst/>
            <a:gdLst>
              <a:gd name="T0" fmla="*/ 2147483647 w 3"/>
              <a:gd name="T1" fmla="*/ 0 h 356"/>
              <a:gd name="T2" fmla="*/ 0 w 3"/>
              <a:gd name="T3" fmla="*/ 2147483647 h 356"/>
              <a:gd name="T4" fmla="*/ 0 60000 65536"/>
              <a:gd name="T5" fmla="*/ 0 60000 65536"/>
              <a:gd name="T6" fmla="*/ 0 w 3"/>
              <a:gd name="T7" fmla="*/ 0 h 356"/>
              <a:gd name="T8" fmla="*/ 3 w 3"/>
              <a:gd name="T9" fmla="*/ 356 h 35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" h="356">
                <a:moveTo>
                  <a:pt x="3" y="0"/>
                </a:moveTo>
                <a:lnTo>
                  <a:pt x="0" y="356"/>
                </a:lnTo>
              </a:path>
            </a:pathLst>
          </a:custGeom>
          <a:noFill/>
          <a:ln w="19050">
            <a:solidFill>
              <a:srgbClr val="990033"/>
            </a:solidFill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49"/>
          <p:cNvGrpSpPr>
            <a:grpSpLocks/>
          </p:cNvGrpSpPr>
          <p:nvPr/>
        </p:nvGrpSpPr>
        <p:grpSpPr bwMode="auto">
          <a:xfrm>
            <a:off x="4283076" y="3932257"/>
            <a:ext cx="1370013" cy="434975"/>
            <a:chOff x="1738" y="1616"/>
            <a:chExt cx="863" cy="274"/>
          </a:xfrm>
        </p:grpSpPr>
        <p:sp>
          <p:nvSpPr>
            <p:cNvPr id="35919" name="Freeform 50"/>
            <p:cNvSpPr>
              <a:spLocks/>
            </p:cNvSpPr>
            <p:nvPr/>
          </p:nvSpPr>
          <p:spPr bwMode="auto">
            <a:xfrm>
              <a:off x="1738" y="1616"/>
              <a:ext cx="273" cy="274"/>
            </a:xfrm>
            <a:custGeom>
              <a:avLst/>
              <a:gdLst>
                <a:gd name="T0" fmla="*/ 0 w 273"/>
                <a:gd name="T1" fmla="*/ 274 h 274"/>
                <a:gd name="T2" fmla="*/ 273 w 273"/>
                <a:gd name="T3" fmla="*/ 0 h 274"/>
                <a:gd name="T4" fmla="*/ 0 60000 65536"/>
                <a:gd name="T5" fmla="*/ 0 60000 65536"/>
                <a:gd name="T6" fmla="*/ 0 w 273"/>
                <a:gd name="T7" fmla="*/ 0 h 274"/>
                <a:gd name="T8" fmla="*/ 273 w 273"/>
                <a:gd name="T9" fmla="*/ 274 h 2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3" h="274">
                  <a:moveTo>
                    <a:pt x="0" y="274"/>
                  </a:moveTo>
                  <a:lnTo>
                    <a:pt x="273" y="0"/>
                  </a:lnTo>
                </a:path>
              </a:pathLst>
            </a:custGeom>
            <a:noFill/>
            <a:ln w="19050">
              <a:solidFill>
                <a:srgbClr val="9900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20" name="Line 51"/>
            <p:cNvSpPr>
              <a:spLocks noChangeShapeType="1"/>
            </p:cNvSpPr>
            <p:nvPr/>
          </p:nvSpPr>
          <p:spPr bwMode="auto">
            <a:xfrm>
              <a:off x="2010" y="1621"/>
              <a:ext cx="591" cy="0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52"/>
          <p:cNvGrpSpPr>
            <a:grpSpLocks/>
          </p:cNvGrpSpPr>
          <p:nvPr/>
        </p:nvGrpSpPr>
        <p:grpSpPr bwMode="auto">
          <a:xfrm>
            <a:off x="5264150" y="4237056"/>
            <a:ext cx="1144588" cy="296862"/>
            <a:chOff x="2356" y="1808"/>
            <a:chExt cx="721" cy="187"/>
          </a:xfrm>
        </p:grpSpPr>
        <p:sp>
          <p:nvSpPr>
            <p:cNvPr id="35917" name="Freeform 53"/>
            <p:cNvSpPr>
              <a:spLocks/>
            </p:cNvSpPr>
            <p:nvPr/>
          </p:nvSpPr>
          <p:spPr bwMode="auto">
            <a:xfrm>
              <a:off x="2885" y="1808"/>
              <a:ext cx="192" cy="187"/>
            </a:xfrm>
            <a:custGeom>
              <a:avLst/>
              <a:gdLst>
                <a:gd name="T0" fmla="*/ 192 w 192"/>
                <a:gd name="T1" fmla="*/ 187 h 187"/>
                <a:gd name="T2" fmla="*/ 0 w 192"/>
                <a:gd name="T3" fmla="*/ 0 h 187"/>
                <a:gd name="T4" fmla="*/ 0 60000 65536"/>
                <a:gd name="T5" fmla="*/ 0 60000 65536"/>
                <a:gd name="T6" fmla="*/ 0 w 192"/>
                <a:gd name="T7" fmla="*/ 0 h 187"/>
                <a:gd name="T8" fmla="*/ 192 w 192"/>
                <a:gd name="T9" fmla="*/ 187 h 18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2" h="187">
                  <a:moveTo>
                    <a:pt x="192" y="187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900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918" name="Line 54"/>
            <p:cNvSpPr>
              <a:spLocks noChangeShapeType="1"/>
            </p:cNvSpPr>
            <p:nvPr/>
          </p:nvSpPr>
          <p:spPr bwMode="auto">
            <a:xfrm flipH="1">
              <a:off x="2356" y="1813"/>
              <a:ext cx="533" cy="0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06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55" name="Rectangle 2">
            <a:extLst>
              <a:ext uri="{FF2B5EF4-FFF2-40B4-BE49-F238E27FC236}">
                <a16:creationId xmlns:a16="http://schemas.microsoft.com/office/drawing/2014/main" id="{4F631A09-8B66-46BB-9F96-E1E5D8E77D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39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75"/>
                                        <p:tgtEl>
                                          <p:spTgt spid="39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99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399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99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9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9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5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39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000"/>
                            </p:stCondLst>
                            <p:childTnLst>
                              <p:par>
                                <p:cTn id="48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75"/>
                                        <p:tgtEl>
                                          <p:spTgt spid="399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75"/>
                            </p:stCondLst>
                            <p:childTnLst>
                              <p:par>
                                <p:cTn id="5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39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875"/>
                            </p:stCondLst>
                            <p:childTnLst>
                              <p:par>
                                <p:cTn id="6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39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375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9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875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39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375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875"/>
                            </p:stCondLst>
                            <p:childTnLst>
                              <p:par>
                                <p:cTn id="7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375"/>
                            </p:stCondLst>
                            <p:childTnLst>
                              <p:par>
                                <p:cTn id="8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69" grpId="0" build="p" autoUpdateAnimBg="0"/>
      <p:bldP spid="39970" grpId="0" autoUpdateAnimBg="0"/>
      <p:bldP spid="39972" grpId="0" build="p" autoUpdateAnimBg="0"/>
      <p:bldP spid="39974" grpId="0" animBg="1"/>
      <p:bldP spid="39975" grpId="0" animBg="1"/>
      <p:bldP spid="39976" grpId="0" animBg="1"/>
      <p:bldP spid="39977" grpId="0" animBg="1"/>
      <p:bldP spid="39978" grpId="0" animBg="1"/>
      <p:bldP spid="39979" grpId="0" animBg="1"/>
      <p:bldP spid="39980" grpId="0" animBg="1"/>
      <p:bldP spid="39981" grpId="0" animBg="1"/>
      <p:bldP spid="39982" grpId="0" animBg="1"/>
      <p:bldP spid="39983" grpId="0" animBg="1"/>
      <p:bldP spid="3998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71" name="Text Box 35"/>
          <p:cNvSpPr txBox="1">
            <a:spLocks noChangeArrowheads="1"/>
          </p:cNvSpPr>
          <p:nvPr/>
        </p:nvSpPr>
        <p:spPr bwMode="auto">
          <a:xfrm>
            <a:off x="2003266" y="2942170"/>
            <a:ext cx="4425925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+mn-ea"/>
                <a:ea typeface="+mn-ea"/>
              </a:rPr>
              <a:t>①尺寸线为细实线，一端或两 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400" b="1" dirty="0">
                <a:latin typeface="+mn-ea"/>
                <a:ea typeface="+mn-ea"/>
              </a:rPr>
              <a:t>  </a:t>
            </a:r>
            <a:r>
              <a:rPr lang="zh-CN" altLang="en-US" sz="2400" b="1" dirty="0">
                <a:latin typeface="+mn-ea"/>
                <a:ea typeface="+mn-ea"/>
              </a:rPr>
              <a:t>端带有终端（箭头或斜线） 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400" b="1" dirty="0">
                <a:latin typeface="+mn-ea"/>
                <a:ea typeface="+mn-ea"/>
              </a:rPr>
              <a:t>  </a:t>
            </a:r>
            <a:r>
              <a:rPr lang="zh-CN" altLang="en-US" sz="2400" b="1" dirty="0">
                <a:latin typeface="+mn-ea"/>
                <a:ea typeface="+mn-ea"/>
              </a:rPr>
              <a:t>符号。</a:t>
            </a:r>
          </a:p>
        </p:txBody>
      </p:sp>
      <p:grpSp>
        <p:nvGrpSpPr>
          <p:cNvPr id="9" name="Group 144"/>
          <p:cNvGrpSpPr>
            <a:grpSpLocks/>
          </p:cNvGrpSpPr>
          <p:nvPr/>
        </p:nvGrpSpPr>
        <p:grpSpPr bwMode="auto">
          <a:xfrm>
            <a:off x="6596066" y="1571615"/>
            <a:ext cx="3556000" cy="1362075"/>
            <a:chOff x="829" y="3189"/>
            <a:chExt cx="2240" cy="858"/>
          </a:xfrm>
        </p:grpSpPr>
        <p:sp>
          <p:nvSpPr>
            <p:cNvPr id="35884" name="Line 93"/>
            <p:cNvSpPr>
              <a:spLocks noChangeShapeType="1"/>
            </p:cNvSpPr>
            <p:nvPr/>
          </p:nvSpPr>
          <p:spPr bwMode="auto">
            <a:xfrm>
              <a:off x="2038" y="3789"/>
              <a:ext cx="611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5" name="Line 94"/>
            <p:cNvSpPr>
              <a:spLocks noChangeShapeType="1"/>
            </p:cNvSpPr>
            <p:nvPr/>
          </p:nvSpPr>
          <p:spPr bwMode="auto">
            <a:xfrm>
              <a:off x="2038" y="3527"/>
              <a:ext cx="603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6" name="Line 95"/>
            <p:cNvSpPr>
              <a:spLocks noChangeShapeType="1"/>
            </p:cNvSpPr>
            <p:nvPr/>
          </p:nvSpPr>
          <p:spPr bwMode="auto">
            <a:xfrm>
              <a:off x="1771" y="3658"/>
              <a:ext cx="1298" cy="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7" name="Line 96"/>
            <p:cNvSpPr>
              <a:spLocks noChangeShapeType="1"/>
            </p:cNvSpPr>
            <p:nvPr/>
          </p:nvSpPr>
          <p:spPr bwMode="auto">
            <a:xfrm flipV="1">
              <a:off x="1003" y="3351"/>
              <a:ext cx="0" cy="30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8" name="Line 97"/>
            <p:cNvSpPr>
              <a:spLocks noChangeShapeType="1"/>
            </p:cNvSpPr>
            <p:nvPr/>
          </p:nvSpPr>
          <p:spPr bwMode="auto">
            <a:xfrm flipV="1">
              <a:off x="2038" y="3352"/>
              <a:ext cx="0" cy="1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89" name="Line 98"/>
            <p:cNvSpPr>
              <a:spLocks noChangeShapeType="1"/>
            </p:cNvSpPr>
            <p:nvPr/>
          </p:nvSpPr>
          <p:spPr bwMode="auto">
            <a:xfrm>
              <a:off x="1048" y="3410"/>
              <a:ext cx="945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0" name="Freeform 99"/>
            <p:cNvSpPr>
              <a:spLocks/>
            </p:cNvSpPr>
            <p:nvPr/>
          </p:nvSpPr>
          <p:spPr bwMode="auto">
            <a:xfrm>
              <a:off x="1003" y="3387"/>
              <a:ext cx="132" cy="47"/>
            </a:xfrm>
            <a:custGeom>
              <a:avLst/>
              <a:gdLst>
                <a:gd name="T0" fmla="*/ 0 w 274"/>
                <a:gd name="T1" fmla="*/ 0 h 93"/>
                <a:gd name="T2" fmla="*/ 0 w 274"/>
                <a:gd name="T3" fmla="*/ 1 h 93"/>
                <a:gd name="T4" fmla="*/ 0 w 274"/>
                <a:gd name="T5" fmla="*/ 1 h 93"/>
                <a:gd name="T6" fmla="*/ 0 w 274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4"/>
                <a:gd name="T13" fmla="*/ 0 h 93"/>
                <a:gd name="T14" fmla="*/ 274 w 274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4" h="93">
                  <a:moveTo>
                    <a:pt x="274" y="0"/>
                  </a:moveTo>
                  <a:lnTo>
                    <a:pt x="274" y="93"/>
                  </a:lnTo>
                  <a:lnTo>
                    <a:pt x="0" y="47"/>
                  </a:lnTo>
                  <a:lnTo>
                    <a:pt x="274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1" name="Freeform 100"/>
            <p:cNvSpPr>
              <a:spLocks/>
            </p:cNvSpPr>
            <p:nvPr/>
          </p:nvSpPr>
          <p:spPr bwMode="auto">
            <a:xfrm>
              <a:off x="1906" y="3386"/>
              <a:ext cx="132" cy="47"/>
            </a:xfrm>
            <a:custGeom>
              <a:avLst/>
              <a:gdLst>
                <a:gd name="T0" fmla="*/ 0 w 274"/>
                <a:gd name="T1" fmla="*/ 0 h 93"/>
                <a:gd name="T2" fmla="*/ 0 w 274"/>
                <a:gd name="T3" fmla="*/ 1 h 93"/>
                <a:gd name="T4" fmla="*/ 0 w 274"/>
                <a:gd name="T5" fmla="*/ 1 h 93"/>
                <a:gd name="T6" fmla="*/ 0 w 274"/>
                <a:gd name="T7" fmla="*/ 0 h 9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74"/>
                <a:gd name="T13" fmla="*/ 0 h 93"/>
                <a:gd name="T14" fmla="*/ 274 w 274"/>
                <a:gd name="T15" fmla="*/ 93 h 9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74" h="93">
                  <a:moveTo>
                    <a:pt x="0" y="0"/>
                  </a:moveTo>
                  <a:lnTo>
                    <a:pt x="0" y="93"/>
                  </a:lnTo>
                  <a:lnTo>
                    <a:pt x="274" y="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2" name="Rectangle 101"/>
            <p:cNvSpPr>
              <a:spLocks noChangeArrowheads="1"/>
            </p:cNvSpPr>
            <p:nvPr/>
          </p:nvSpPr>
          <p:spPr bwMode="auto">
            <a:xfrm>
              <a:off x="1117" y="3189"/>
              <a:ext cx="654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r>
                <a:rPr lang="en-US" altLang="zh-CN">
                  <a:solidFill>
                    <a:srgbClr val="000000"/>
                  </a:solidFill>
                </a:rPr>
                <a:t>≈</a:t>
              </a:r>
              <a:r>
                <a:rPr lang="en-US" altLang="zh-CN" i="1">
                  <a:solidFill>
                    <a:srgbClr val="000000"/>
                  </a:solidFill>
                  <a:latin typeface="ISOCPEUR" pitchFamily="34" charset="0"/>
                </a:rPr>
                <a:t>6d</a:t>
              </a:r>
              <a:endParaRPr lang="en-US" altLang="zh-CN">
                <a:latin typeface="ISOCPEUR" pitchFamily="34" charset="0"/>
              </a:endParaRPr>
            </a:p>
          </p:txBody>
        </p:sp>
        <p:sp>
          <p:nvSpPr>
            <p:cNvPr id="35893" name="Line 102"/>
            <p:cNvSpPr>
              <a:spLocks noChangeShapeType="1"/>
            </p:cNvSpPr>
            <p:nvPr/>
          </p:nvSpPr>
          <p:spPr bwMode="auto">
            <a:xfrm>
              <a:off x="1003" y="3658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4" name="Line 103"/>
            <p:cNvSpPr>
              <a:spLocks noChangeShapeType="1"/>
            </p:cNvSpPr>
            <p:nvPr/>
          </p:nvSpPr>
          <p:spPr bwMode="auto">
            <a:xfrm>
              <a:off x="2038" y="3527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5" name="Line 104"/>
            <p:cNvSpPr>
              <a:spLocks noChangeShapeType="1"/>
            </p:cNvSpPr>
            <p:nvPr/>
          </p:nvSpPr>
          <p:spPr bwMode="auto">
            <a:xfrm>
              <a:off x="2038" y="3410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6" name="Line 105"/>
            <p:cNvSpPr>
              <a:spLocks noChangeShapeType="1"/>
            </p:cNvSpPr>
            <p:nvPr/>
          </p:nvSpPr>
          <p:spPr bwMode="auto">
            <a:xfrm flipV="1">
              <a:off x="1003" y="3527"/>
              <a:ext cx="1035" cy="1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7" name="Freeform 106"/>
            <p:cNvSpPr>
              <a:spLocks/>
            </p:cNvSpPr>
            <p:nvPr/>
          </p:nvSpPr>
          <p:spPr bwMode="auto">
            <a:xfrm>
              <a:off x="1003" y="3658"/>
              <a:ext cx="1035" cy="131"/>
            </a:xfrm>
            <a:custGeom>
              <a:avLst/>
              <a:gdLst>
                <a:gd name="T0" fmla="*/ 0 w 6215"/>
                <a:gd name="T1" fmla="*/ 0 h 787"/>
                <a:gd name="T2" fmla="*/ 0 w 6215"/>
                <a:gd name="T3" fmla="*/ 0 h 787"/>
                <a:gd name="T4" fmla="*/ 0 w 6215"/>
                <a:gd name="T5" fmla="*/ 0 h 787"/>
                <a:gd name="T6" fmla="*/ 0 w 6215"/>
                <a:gd name="T7" fmla="*/ 0 h 7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15"/>
                <a:gd name="T13" fmla="*/ 0 h 787"/>
                <a:gd name="T14" fmla="*/ 6215 w 6215"/>
                <a:gd name="T15" fmla="*/ 787 h 7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15" h="787">
                  <a:moveTo>
                    <a:pt x="2825" y="0"/>
                  </a:moveTo>
                  <a:lnTo>
                    <a:pt x="6215" y="787"/>
                  </a:lnTo>
                  <a:lnTo>
                    <a:pt x="0" y="0"/>
                  </a:lnTo>
                  <a:lnTo>
                    <a:pt x="2825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8" name="Freeform 107"/>
            <p:cNvSpPr>
              <a:spLocks/>
            </p:cNvSpPr>
            <p:nvPr/>
          </p:nvSpPr>
          <p:spPr bwMode="auto">
            <a:xfrm>
              <a:off x="1003" y="3658"/>
              <a:ext cx="1035" cy="131"/>
            </a:xfrm>
            <a:custGeom>
              <a:avLst/>
              <a:gdLst>
                <a:gd name="T0" fmla="*/ 0 w 6215"/>
                <a:gd name="T1" fmla="*/ 0 h 787"/>
                <a:gd name="T2" fmla="*/ 0 w 6215"/>
                <a:gd name="T3" fmla="*/ 0 h 787"/>
                <a:gd name="T4" fmla="*/ 0 w 6215"/>
                <a:gd name="T5" fmla="*/ 0 h 787"/>
                <a:gd name="T6" fmla="*/ 0 w 6215"/>
                <a:gd name="T7" fmla="*/ 0 h 7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15"/>
                <a:gd name="T13" fmla="*/ 0 h 787"/>
                <a:gd name="T14" fmla="*/ 6215 w 6215"/>
                <a:gd name="T15" fmla="*/ 787 h 7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15" h="787">
                  <a:moveTo>
                    <a:pt x="2825" y="0"/>
                  </a:moveTo>
                  <a:lnTo>
                    <a:pt x="6215" y="787"/>
                  </a:lnTo>
                  <a:lnTo>
                    <a:pt x="0" y="0"/>
                  </a:lnTo>
                  <a:lnTo>
                    <a:pt x="2825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99" name="Freeform 108"/>
            <p:cNvSpPr>
              <a:spLocks/>
            </p:cNvSpPr>
            <p:nvPr/>
          </p:nvSpPr>
          <p:spPr bwMode="auto">
            <a:xfrm>
              <a:off x="1003" y="3527"/>
              <a:ext cx="1035" cy="131"/>
            </a:xfrm>
            <a:custGeom>
              <a:avLst/>
              <a:gdLst>
                <a:gd name="T0" fmla="*/ 0 w 6215"/>
                <a:gd name="T1" fmla="*/ 0 h 789"/>
                <a:gd name="T2" fmla="*/ 0 w 6215"/>
                <a:gd name="T3" fmla="*/ 0 h 789"/>
                <a:gd name="T4" fmla="*/ 0 w 6215"/>
                <a:gd name="T5" fmla="*/ 0 h 789"/>
                <a:gd name="T6" fmla="*/ 0 w 6215"/>
                <a:gd name="T7" fmla="*/ 0 h 7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15"/>
                <a:gd name="T13" fmla="*/ 0 h 789"/>
                <a:gd name="T14" fmla="*/ 6215 w 6215"/>
                <a:gd name="T15" fmla="*/ 789 h 7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15" h="789">
                  <a:moveTo>
                    <a:pt x="2825" y="789"/>
                  </a:moveTo>
                  <a:lnTo>
                    <a:pt x="0" y="789"/>
                  </a:lnTo>
                  <a:lnTo>
                    <a:pt x="6215" y="0"/>
                  </a:lnTo>
                  <a:lnTo>
                    <a:pt x="2825" y="7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0" name="Freeform 109"/>
            <p:cNvSpPr>
              <a:spLocks/>
            </p:cNvSpPr>
            <p:nvPr/>
          </p:nvSpPr>
          <p:spPr bwMode="auto">
            <a:xfrm>
              <a:off x="1003" y="3527"/>
              <a:ext cx="1035" cy="131"/>
            </a:xfrm>
            <a:custGeom>
              <a:avLst/>
              <a:gdLst>
                <a:gd name="T0" fmla="*/ 0 w 6215"/>
                <a:gd name="T1" fmla="*/ 0 h 789"/>
                <a:gd name="T2" fmla="*/ 0 w 6215"/>
                <a:gd name="T3" fmla="*/ 0 h 789"/>
                <a:gd name="T4" fmla="*/ 0 w 6215"/>
                <a:gd name="T5" fmla="*/ 0 h 789"/>
                <a:gd name="T6" fmla="*/ 0 w 6215"/>
                <a:gd name="T7" fmla="*/ 0 h 7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15"/>
                <a:gd name="T13" fmla="*/ 0 h 789"/>
                <a:gd name="T14" fmla="*/ 6215 w 6215"/>
                <a:gd name="T15" fmla="*/ 789 h 7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15" h="789">
                  <a:moveTo>
                    <a:pt x="2825" y="789"/>
                  </a:moveTo>
                  <a:lnTo>
                    <a:pt x="0" y="789"/>
                  </a:lnTo>
                  <a:lnTo>
                    <a:pt x="6215" y="0"/>
                  </a:lnTo>
                  <a:lnTo>
                    <a:pt x="2825" y="789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1" name="Freeform 110"/>
            <p:cNvSpPr>
              <a:spLocks/>
            </p:cNvSpPr>
            <p:nvPr/>
          </p:nvSpPr>
          <p:spPr bwMode="auto">
            <a:xfrm>
              <a:off x="1473" y="3527"/>
              <a:ext cx="565" cy="131"/>
            </a:xfrm>
            <a:custGeom>
              <a:avLst/>
              <a:gdLst>
                <a:gd name="T0" fmla="*/ 0 w 3390"/>
                <a:gd name="T1" fmla="*/ 0 h 789"/>
                <a:gd name="T2" fmla="*/ 0 w 3390"/>
                <a:gd name="T3" fmla="*/ 0 h 789"/>
                <a:gd name="T4" fmla="*/ 0 w 3390"/>
                <a:gd name="T5" fmla="*/ 0 h 789"/>
                <a:gd name="T6" fmla="*/ 0 w 3390"/>
                <a:gd name="T7" fmla="*/ 0 h 7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90"/>
                <a:gd name="T13" fmla="*/ 0 h 789"/>
                <a:gd name="T14" fmla="*/ 3390 w 3390"/>
                <a:gd name="T15" fmla="*/ 789 h 7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90" h="789">
                  <a:moveTo>
                    <a:pt x="0" y="789"/>
                  </a:moveTo>
                  <a:lnTo>
                    <a:pt x="3390" y="0"/>
                  </a:lnTo>
                  <a:lnTo>
                    <a:pt x="2825" y="789"/>
                  </a:lnTo>
                  <a:lnTo>
                    <a:pt x="0" y="7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2" name="Freeform 111"/>
            <p:cNvSpPr>
              <a:spLocks/>
            </p:cNvSpPr>
            <p:nvPr/>
          </p:nvSpPr>
          <p:spPr bwMode="auto">
            <a:xfrm>
              <a:off x="1473" y="3527"/>
              <a:ext cx="565" cy="131"/>
            </a:xfrm>
            <a:custGeom>
              <a:avLst/>
              <a:gdLst>
                <a:gd name="T0" fmla="*/ 0 w 3390"/>
                <a:gd name="T1" fmla="*/ 0 h 789"/>
                <a:gd name="T2" fmla="*/ 0 w 3390"/>
                <a:gd name="T3" fmla="*/ 0 h 789"/>
                <a:gd name="T4" fmla="*/ 0 w 3390"/>
                <a:gd name="T5" fmla="*/ 0 h 789"/>
                <a:gd name="T6" fmla="*/ 0 w 3390"/>
                <a:gd name="T7" fmla="*/ 0 h 78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90"/>
                <a:gd name="T13" fmla="*/ 0 h 789"/>
                <a:gd name="T14" fmla="*/ 3390 w 3390"/>
                <a:gd name="T15" fmla="*/ 789 h 78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90" h="789">
                  <a:moveTo>
                    <a:pt x="0" y="789"/>
                  </a:moveTo>
                  <a:lnTo>
                    <a:pt x="3390" y="0"/>
                  </a:lnTo>
                  <a:lnTo>
                    <a:pt x="2825" y="789"/>
                  </a:lnTo>
                  <a:lnTo>
                    <a:pt x="0" y="789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3" name="Freeform 112"/>
            <p:cNvSpPr>
              <a:spLocks/>
            </p:cNvSpPr>
            <p:nvPr/>
          </p:nvSpPr>
          <p:spPr bwMode="auto">
            <a:xfrm>
              <a:off x="1473" y="3658"/>
              <a:ext cx="565" cy="131"/>
            </a:xfrm>
            <a:custGeom>
              <a:avLst/>
              <a:gdLst>
                <a:gd name="T0" fmla="*/ 0 w 3390"/>
                <a:gd name="T1" fmla="*/ 0 h 787"/>
                <a:gd name="T2" fmla="*/ 0 w 3390"/>
                <a:gd name="T3" fmla="*/ 0 h 787"/>
                <a:gd name="T4" fmla="*/ 0 w 3390"/>
                <a:gd name="T5" fmla="*/ 0 h 787"/>
                <a:gd name="T6" fmla="*/ 0 w 3390"/>
                <a:gd name="T7" fmla="*/ 0 h 7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90"/>
                <a:gd name="T13" fmla="*/ 0 h 787"/>
                <a:gd name="T14" fmla="*/ 3390 w 3390"/>
                <a:gd name="T15" fmla="*/ 787 h 7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90" h="787">
                  <a:moveTo>
                    <a:pt x="0" y="0"/>
                  </a:moveTo>
                  <a:lnTo>
                    <a:pt x="2825" y="0"/>
                  </a:lnTo>
                  <a:lnTo>
                    <a:pt x="3390" y="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4" name="Freeform 113"/>
            <p:cNvSpPr>
              <a:spLocks/>
            </p:cNvSpPr>
            <p:nvPr/>
          </p:nvSpPr>
          <p:spPr bwMode="auto">
            <a:xfrm>
              <a:off x="1473" y="3658"/>
              <a:ext cx="565" cy="131"/>
            </a:xfrm>
            <a:custGeom>
              <a:avLst/>
              <a:gdLst>
                <a:gd name="T0" fmla="*/ 0 w 3390"/>
                <a:gd name="T1" fmla="*/ 0 h 787"/>
                <a:gd name="T2" fmla="*/ 0 w 3390"/>
                <a:gd name="T3" fmla="*/ 0 h 787"/>
                <a:gd name="T4" fmla="*/ 0 w 3390"/>
                <a:gd name="T5" fmla="*/ 0 h 787"/>
                <a:gd name="T6" fmla="*/ 0 w 3390"/>
                <a:gd name="T7" fmla="*/ 0 h 78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390"/>
                <a:gd name="T13" fmla="*/ 0 h 787"/>
                <a:gd name="T14" fmla="*/ 3390 w 3390"/>
                <a:gd name="T15" fmla="*/ 787 h 78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390" h="787">
                  <a:moveTo>
                    <a:pt x="0" y="0"/>
                  </a:moveTo>
                  <a:lnTo>
                    <a:pt x="2825" y="0"/>
                  </a:lnTo>
                  <a:lnTo>
                    <a:pt x="3390" y="787"/>
                  </a:lnTo>
                  <a:lnTo>
                    <a:pt x="0" y="0"/>
                  </a:lnTo>
                </a:path>
              </a:pathLst>
            </a:cu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5" name="Line 114"/>
            <p:cNvSpPr>
              <a:spLocks noChangeShapeType="1"/>
            </p:cNvSpPr>
            <p:nvPr/>
          </p:nvSpPr>
          <p:spPr bwMode="auto">
            <a:xfrm flipH="1" flipV="1">
              <a:off x="1003" y="3658"/>
              <a:ext cx="1035" cy="1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6" name="Line 115"/>
            <p:cNvSpPr>
              <a:spLocks noChangeShapeType="1"/>
            </p:cNvSpPr>
            <p:nvPr/>
          </p:nvSpPr>
          <p:spPr bwMode="auto">
            <a:xfrm flipV="1">
              <a:off x="1003" y="3527"/>
              <a:ext cx="1035" cy="1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7" name="Line 116"/>
            <p:cNvSpPr>
              <a:spLocks noChangeShapeType="1"/>
            </p:cNvSpPr>
            <p:nvPr/>
          </p:nvSpPr>
          <p:spPr bwMode="auto">
            <a:xfrm>
              <a:off x="1944" y="3658"/>
              <a:ext cx="94" cy="1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8" name="Line 117"/>
            <p:cNvSpPr>
              <a:spLocks noChangeShapeType="1"/>
            </p:cNvSpPr>
            <p:nvPr/>
          </p:nvSpPr>
          <p:spPr bwMode="auto">
            <a:xfrm flipH="1">
              <a:off x="1944" y="3527"/>
              <a:ext cx="94" cy="13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09" name="Line 118"/>
            <p:cNvSpPr>
              <a:spLocks noChangeShapeType="1"/>
            </p:cNvSpPr>
            <p:nvPr/>
          </p:nvSpPr>
          <p:spPr bwMode="auto">
            <a:xfrm flipV="1">
              <a:off x="2519" y="3319"/>
              <a:ext cx="0" cy="6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0" name="Freeform 119"/>
            <p:cNvSpPr>
              <a:spLocks/>
            </p:cNvSpPr>
            <p:nvPr/>
          </p:nvSpPr>
          <p:spPr bwMode="auto">
            <a:xfrm>
              <a:off x="2497" y="3433"/>
              <a:ext cx="47" cy="103"/>
            </a:xfrm>
            <a:custGeom>
              <a:avLst/>
              <a:gdLst>
                <a:gd name="T0" fmla="*/ 0 w 91"/>
                <a:gd name="T1" fmla="*/ 0 h 279"/>
                <a:gd name="T2" fmla="*/ 1 w 91"/>
                <a:gd name="T3" fmla="*/ 0 h 279"/>
                <a:gd name="T4" fmla="*/ 1 w 91"/>
                <a:gd name="T5" fmla="*/ 0 h 279"/>
                <a:gd name="T6" fmla="*/ 0 w 91"/>
                <a:gd name="T7" fmla="*/ 0 h 2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279"/>
                <a:gd name="T14" fmla="*/ 91 w 91"/>
                <a:gd name="T15" fmla="*/ 279 h 2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279">
                  <a:moveTo>
                    <a:pt x="0" y="0"/>
                  </a:moveTo>
                  <a:lnTo>
                    <a:pt x="91" y="0"/>
                  </a:lnTo>
                  <a:lnTo>
                    <a:pt x="45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1" name="Freeform 120"/>
            <p:cNvSpPr>
              <a:spLocks/>
            </p:cNvSpPr>
            <p:nvPr/>
          </p:nvSpPr>
          <p:spPr bwMode="auto">
            <a:xfrm>
              <a:off x="2495" y="3789"/>
              <a:ext cx="47" cy="117"/>
            </a:xfrm>
            <a:custGeom>
              <a:avLst/>
              <a:gdLst>
                <a:gd name="T0" fmla="*/ 0 w 91"/>
                <a:gd name="T1" fmla="*/ 0 h 279"/>
                <a:gd name="T2" fmla="*/ 1 w 91"/>
                <a:gd name="T3" fmla="*/ 0 h 279"/>
                <a:gd name="T4" fmla="*/ 1 w 91"/>
                <a:gd name="T5" fmla="*/ 0 h 279"/>
                <a:gd name="T6" fmla="*/ 0 w 91"/>
                <a:gd name="T7" fmla="*/ 0 h 2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279"/>
                <a:gd name="T14" fmla="*/ 91 w 91"/>
                <a:gd name="T15" fmla="*/ 279 h 2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279">
                  <a:moveTo>
                    <a:pt x="0" y="279"/>
                  </a:moveTo>
                  <a:lnTo>
                    <a:pt x="91" y="279"/>
                  </a:lnTo>
                  <a:lnTo>
                    <a:pt x="45" y="0"/>
                  </a:lnTo>
                  <a:lnTo>
                    <a:pt x="0" y="2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2" name="Line 121"/>
            <p:cNvSpPr>
              <a:spLocks noChangeShapeType="1"/>
            </p:cNvSpPr>
            <p:nvPr/>
          </p:nvSpPr>
          <p:spPr bwMode="auto">
            <a:xfrm>
              <a:off x="2649" y="3789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3" name="Line 122"/>
            <p:cNvSpPr>
              <a:spLocks noChangeShapeType="1"/>
            </p:cNvSpPr>
            <p:nvPr/>
          </p:nvSpPr>
          <p:spPr bwMode="auto">
            <a:xfrm>
              <a:off x="2641" y="3527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4" name="Line 123"/>
            <p:cNvSpPr>
              <a:spLocks noChangeShapeType="1"/>
            </p:cNvSpPr>
            <p:nvPr/>
          </p:nvSpPr>
          <p:spPr bwMode="auto">
            <a:xfrm>
              <a:off x="2518" y="3527"/>
              <a:ext cx="1" cy="1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915" name="Text Box 124"/>
            <p:cNvSpPr txBox="1">
              <a:spLocks noChangeArrowheads="1"/>
            </p:cNvSpPr>
            <p:nvPr/>
          </p:nvSpPr>
          <p:spPr bwMode="auto">
            <a:xfrm rot="16200000">
              <a:off x="2295" y="3287"/>
              <a:ext cx="191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i="1">
                  <a:latin typeface="ISOCPEUR" pitchFamily="34" charset="0"/>
                </a:rPr>
                <a:t>d</a:t>
              </a:r>
              <a:endParaRPr lang="en-US" altLang="zh-CN">
                <a:latin typeface="ISOCPEUR" pitchFamily="34" charset="0"/>
              </a:endParaRPr>
            </a:p>
          </p:txBody>
        </p:sp>
        <p:sp>
          <p:nvSpPr>
            <p:cNvPr id="35916" name="Text Box 125"/>
            <p:cNvSpPr txBox="1">
              <a:spLocks noChangeArrowheads="1"/>
            </p:cNvSpPr>
            <p:nvPr/>
          </p:nvSpPr>
          <p:spPr bwMode="auto">
            <a:xfrm>
              <a:off x="829" y="3814"/>
              <a:ext cx="1300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dirty="0">
                  <a:solidFill>
                    <a:srgbClr val="FF0000"/>
                  </a:solidFill>
                  <a:latin typeface="ISOCPEUR" pitchFamily="34" charset="0"/>
                </a:rPr>
                <a:t>d</a:t>
              </a:r>
              <a:r>
                <a:rPr lang="en-US" altLang="zh-CN" dirty="0">
                  <a:solidFill>
                    <a:srgbClr val="FF0000"/>
                  </a:solidFill>
                </a:rPr>
                <a:t>=</a:t>
              </a:r>
              <a:r>
                <a:rPr lang="zh-CN" altLang="en-US" dirty="0">
                  <a:solidFill>
                    <a:srgbClr val="FF0000"/>
                  </a:solidFill>
                </a:rPr>
                <a:t>图中</a:t>
              </a:r>
              <a:r>
                <a:rPr lang="zh-CN" altLang="zh-CN" dirty="0">
                  <a:solidFill>
                    <a:srgbClr val="FF0000"/>
                  </a:solidFill>
                </a:rPr>
                <a:t>粗实线宽度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0" name="Group 126"/>
          <p:cNvGrpSpPr>
            <a:grpSpLocks/>
          </p:cNvGrpSpPr>
          <p:nvPr/>
        </p:nvGrpSpPr>
        <p:grpSpPr bwMode="auto">
          <a:xfrm>
            <a:off x="6835804" y="2928934"/>
            <a:ext cx="3163887" cy="1371600"/>
            <a:chOff x="3263" y="1001"/>
            <a:chExt cx="1993" cy="864"/>
          </a:xfrm>
        </p:grpSpPr>
        <p:sp>
          <p:nvSpPr>
            <p:cNvPr id="35868" name="Line 127"/>
            <p:cNvSpPr>
              <a:spLocks noChangeShapeType="1"/>
            </p:cNvSpPr>
            <p:nvPr/>
          </p:nvSpPr>
          <p:spPr bwMode="auto">
            <a:xfrm flipV="1">
              <a:off x="4816" y="1080"/>
              <a:ext cx="0" cy="78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69" name="Freeform 128"/>
            <p:cNvSpPr>
              <a:spLocks/>
            </p:cNvSpPr>
            <p:nvPr/>
          </p:nvSpPr>
          <p:spPr bwMode="auto">
            <a:xfrm>
              <a:off x="4791" y="1184"/>
              <a:ext cx="64" cy="126"/>
            </a:xfrm>
            <a:custGeom>
              <a:avLst/>
              <a:gdLst>
                <a:gd name="T0" fmla="*/ 0 w 91"/>
                <a:gd name="T1" fmla="*/ 0 h 279"/>
                <a:gd name="T2" fmla="*/ 2 w 91"/>
                <a:gd name="T3" fmla="*/ 0 h 279"/>
                <a:gd name="T4" fmla="*/ 1 w 91"/>
                <a:gd name="T5" fmla="*/ 0 h 279"/>
                <a:gd name="T6" fmla="*/ 0 w 91"/>
                <a:gd name="T7" fmla="*/ 0 h 27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279"/>
                <a:gd name="T14" fmla="*/ 91 w 91"/>
                <a:gd name="T15" fmla="*/ 279 h 27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279">
                  <a:moveTo>
                    <a:pt x="0" y="0"/>
                  </a:moveTo>
                  <a:lnTo>
                    <a:pt x="91" y="0"/>
                  </a:lnTo>
                  <a:lnTo>
                    <a:pt x="46" y="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0" name="Freeform 129"/>
            <p:cNvSpPr>
              <a:spLocks/>
            </p:cNvSpPr>
            <p:nvPr/>
          </p:nvSpPr>
          <p:spPr bwMode="auto">
            <a:xfrm>
              <a:off x="4791" y="1618"/>
              <a:ext cx="58" cy="138"/>
            </a:xfrm>
            <a:custGeom>
              <a:avLst/>
              <a:gdLst>
                <a:gd name="T0" fmla="*/ 0 w 91"/>
                <a:gd name="T1" fmla="*/ 0 h 277"/>
                <a:gd name="T2" fmla="*/ 1 w 91"/>
                <a:gd name="T3" fmla="*/ 0 h 277"/>
                <a:gd name="T4" fmla="*/ 1 w 91"/>
                <a:gd name="T5" fmla="*/ 0 h 277"/>
                <a:gd name="T6" fmla="*/ 0 w 91"/>
                <a:gd name="T7" fmla="*/ 0 h 27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1"/>
                <a:gd name="T13" fmla="*/ 0 h 277"/>
                <a:gd name="T14" fmla="*/ 91 w 91"/>
                <a:gd name="T15" fmla="*/ 277 h 27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1" h="277">
                  <a:moveTo>
                    <a:pt x="0" y="277"/>
                  </a:moveTo>
                  <a:lnTo>
                    <a:pt x="91" y="277"/>
                  </a:lnTo>
                  <a:lnTo>
                    <a:pt x="46" y="0"/>
                  </a:lnTo>
                  <a:lnTo>
                    <a:pt x="0" y="27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1" name="Rectangle 130"/>
            <p:cNvSpPr>
              <a:spLocks noChangeArrowheads="1"/>
            </p:cNvSpPr>
            <p:nvPr/>
          </p:nvSpPr>
          <p:spPr bwMode="auto">
            <a:xfrm>
              <a:off x="4892" y="1208"/>
              <a:ext cx="291" cy="17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>
                  <a:solidFill>
                    <a:srgbClr val="000000"/>
                  </a:solidFill>
                </a:rPr>
                <a:t>字高</a:t>
              </a:r>
              <a:endParaRPr lang="zh-CN" altLang="en-US"/>
            </a:p>
          </p:txBody>
        </p:sp>
        <p:sp>
          <p:nvSpPr>
            <p:cNvPr id="35872" name="Line 131"/>
            <p:cNvSpPr>
              <a:spLocks noChangeShapeType="1"/>
            </p:cNvSpPr>
            <p:nvPr/>
          </p:nvSpPr>
          <p:spPr bwMode="auto">
            <a:xfrm>
              <a:off x="4815" y="1364"/>
              <a:ext cx="1" cy="3"/>
            </a:xfrm>
            <a:prstGeom prst="line">
              <a:avLst/>
            </a:prstGeom>
            <a:noFill/>
            <a:ln w="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3" name="Line 132"/>
            <p:cNvSpPr>
              <a:spLocks noChangeShapeType="1"/>
            </p:cNvSpPr>
            <p:nvPr/>
          </p:nvSpPr>
          <p:spPr bwMode="auto">
            <a:xfrm>
              <a:off x="3263" y="1456"/>
              <a:ext cx="1218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4" name="Line 133"/>
            <p:cNvSpPr>
              <a:spLocks noChangeShapeType="1"/>
            </p:cNvSpPr>
            <p:nvPr/>
          </p:nvSpPr>
          <p:spPr bwMode="auto">
            <a:xfrm flipH="1">
              <a:off x="4093" y="1558"/>
              <a:ext cx="288" cy="2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5" name="Freeform 134"/>
            <p:cNvSpPr>
              <a:spLocks noChangeArrowheads="1"/>
            </p:cNvSpPr>
            <p:nvPr/>
          </p:nvSpPr>
          <p:spPr bwMode="auto">
            <a:xfrm>
              <a:off x="4324" y="1311"/>
              <a:ext cx="301" cy="305"/>
            </a:xfrm>
            <a:custGeom>
              <a:avLst/>
              <a:gdLst>
                <a:gd name="T0" fmla="*/ 0 w 301"/>
                <a:gd name="T1" fmla="*/ 305 h 305"/>
                <a:gd name="T2" fmla="*/ 301 w 301"/>
                <a:gd name="T3" fmla="*/ 0 h 305"/>
                <a:gd name="T4" fmla="*/ 0 60000 65536"/>
                <a:gd name="T5" fmla="*/ 0 60000 65536"/>
                <a:gd name="T6" fmla="*/ 0 w 301"/>
                <a:gd name="T7" fmla="*/ 0 h 305"/>
                <a:gd name="T8" fmla="*/ 301 w 301"/>
                <a:gd name="T9" fmla="*/ 305 h 30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01" h="305">
                  <a:moveTo>
                    <a:pt x="0" y="305"/>
                  </a:moveTo>
                  <a:lnTo>
                    <a:pt x="301" y="0"/>
                  </a:lnTo>
                </a:path>
              </a:pathLst>
            </a:cu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6" name="Line 135"/>
            <p:cNvSpPr>
              <a:spLocks noChangeShapeType="1"/>
            </p:cNvSpPr>
            <p:nvPr/>
          </p:nvSpPr>
          <p:spPr bwMode="auto">
            <a:xfrm>
              <a:off x="4481" y="1001"/>
              <a:ext cx="0" cy="54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877" name="Text Box 136"/>
            <p:cNvSpPr txBox="1">
              <a:spLocks noChangeArrowheads="1"/>
            </p:cNvSpPr>
            <p:nvPr/>
          </p:nvSpPr>
          <p:spPr bwMode="auto">
            <a:xfrm>
              <a:off x="3485" y="1212"/>
              <a:ext cx="553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/>
                <a:t>尺寸线</a:t>
              </a:r>
            </a:p>
          </p:txBody>
        </p:sp>
        <p:sp>
          <p:nvSpPr>
            <p:cNvPr id="35878" name="Line 137"/>
            <p:cNvSpPr>
              <a:spLocks noChangeShapeType="1"/>
            </p:cNvSpPr>
            <p:nvPr/>
          </p:nvSpPr>
          <p:spPr bwMode="auto">
            <a:xfrm>
              <a:off x="4324" y="1617"/>
              <a:ext cx="548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879" name="Line 138"/>
            <p:cNvSpPr>
              <a:spLocks noChangeShapeType="1"/>
            </p:cNvSpPr>
            <p:nvPr/>
          </p:nvSpPr>
          <p:spPr bwMode="auto">
            <a:xfrm>
              <a:off x="4624" y="1306"/>
              <a:ext cx="252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880" name="Text Box 139"/>
            <p:cNvSpPr txBox="1">
              <a:spLocks noChangeArrowheads="1"/>
            </p:cNvSpPr>
            <p:nvPr/>
          </p:nvSpPr>
          <p:spPr bwMode="auto">
            <a:xfrm>
              <a:off x="3560" y="1599"/>
              <a:ext cx="409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en-US" altLang="zh-CN" i="1">
                  <a:latin typeface="ISOCPEUR" pitchFamily="34" charset="0"/>
                </a:rPr>
                <a:t>45</a:t>
              </a:r>
              <a:r>
                <a:rPr lang="en-US" altLang="zh-CN" i="1">
                  <a:latin typeface="ISOCP" pitchFamily="2" charset="0"/>
                </a:rPr>
                <a:t>°</a:t>
              </a:r>
            </a:p>
          </p:txBody>
        </p:sp>
        <p:sp>
          <p:nvSpPr>
            <p:cNvPr id="35881" name="Freeform 140"/>
            <p:cNvSpPr>
              <a:spLocks/>
            </p:cNvSpPr>
            <p:nvPr/>
          </p:nvSpPr>
          <p:spPr bwMode="auto">
            <a:xfrm>
              <a:off x="3936" y="1520"/>
              <a:ext cx="196" cy="233"/>
            </a:xfrm>
            <a:custGeom>
              <a:avLst/>
              <a:gdLst>
                <a:gd name="T0" fmla="*/ 0 w 196"/>
                <a:gd name="T1" fmla="*/ 0 h 376"/>
                <a:gd name="T2" fmla="*/ 24 w 196"/>
                <a:gd name="T3" fmla="*/ 180 h 376"/>
                <a:gd name="T4" fmla="*/ 88 w 196"/>
                <a:gd name="T5" fmla="*/ 288 h 376"/>
                <a:gd name="T6" fmla="*/ 196 w 196"/>
                <a:gd name="T7" fmla="*/ 376 h 37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96"/>
                <a:gd name="T13" fmla="*/ 0 h 376"/>
                <a:gd name="T14" fmla="*/ 196 w 196"/>
                <a:gd name="T15" fmla="*/ 376 h 37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96" h="376">
                  <a:moveTo>
                    <a:pt x="0" y="0"/>
                  </a:moveTo>
                  <a:cubicBezTo>
                    <a:pt x="4" y="29"/>
                    <a:pt x="9" y="132"/>
                    <a:pt x="24" y="180"/>
                  </a:cubicBezTo>
                  <a:cubicBezTo>
                    <a:pt x="39" y="228"/>
                    <a:pt x="59" y="255"/>
                    <a:pt x="88" y="288"/>
                  </a:cubicBezTo>
                  <a:cubicBezTo>
                    <a:pt x="117" y="321"/>
                    <a:pt x="173" y="358"/>
                    <a:pt x="196" y="376"/>
                  </a:cubicBezTo>
                </a:path>
              </a:pathLst>
            </a:custGeom>
            <a:noFill/>
            <a:ln w="12700">
              <a:solidFill>
                <a:schemeClr val="tx2"/>
              </a:solidFill>
              <a:round/>
              <a:headEnd type="triangle" w="sm" len="lg"/>
              <a:tailEnd type="triangle" w="sm" len="lg"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882" name="Line 141"/>
            <p:cNvSpPr>
              <a:spLocks noChangeShapeType="1"/>
            </p:cNvSpPr>
            <p:nvPr/>
          </p:nvSpPr>
          <p:spPr bwMode="auto">
            <a:xfrm flipV="1">
              <a:off x="4816" y="1440"/>
              <a:ext cx="120" cy="109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883" name="Line 142"/>
            <p:cNvSpPr>
              <a:spLocks noChangeShapeType="1"/>
            </p:cNvSpPr>
            <p:nvPr/>
          </p:nvSpPr>
          <p:spPr bwMode="auto">
            <a:xfrm>
              <a:off x="4936" y="1448"/>
              <a:ext cx="320" cy="0"/>
            </a:xfrm>
            <a:prstGeom prst="line">
              <a:avLst/>
            </a:prstGeom>
            <a:noFill/>
            <a:ln w="127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05" name="Text Box 32"/>
          <p:cNvSpPr txBox="1">
            <a:spLocks noChangeArrowheads="1"/>
          </p:cNvSpPr>
          <p:nvPr/>
        </p:nvSpPr>
        <p:spPr bwMode="auto">
          <a:xfrm>
            <a:off x="1339591" y="1464534"/>
            <a:ext cx="3252814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尺寸</a:t>
            </a:r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(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要素）组成</a:t>
            </a:r>
          </a:p>
        </p:txBody>
      </p:sp>
      <p:sp>
        <p:nvSpPr>
          <p:cNvPr id="107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108" name="Text Box 36"/>
          <p:cNvSpPr txBox="1">
            <a:spLocks noChangeArrowheads="1"/>
          </p:cNvSpPr>
          <p:nvPr/>
        </p:nvSpPr>
        <p:spPr bwMode="auto">
          <a:xfrm>
            <a:off x="1822292" y="2375138"/>
            <a:ext cx="15792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+mn-ea"/>
                <a:ea typeface="+mn-ea"/>
              </a:rPr>
              <a:t>2) </a:t>
            </a:r>
            <a:r>
              <a:rPr lang="zh-CN" altLang="en-US" sz="2400" b="1" dirty="0">
                <a:latin typeface="+mn-ea"/>
                <a:ea typeface="+mn-ea"/>
              </a:rPr>
              <a:t>尺寸线</a:t>
            </a:r>
          </a:p>
        </p:txBody>
      </p:sp>
      <p:sp>
        <p:nvSpPr>
          <p:cNvPr id="109" name="Text Box 33"/>
          <p:cNvSpPr txBox="1">
            <a:spLocks noChangeArrowheads="1"/>
          </p:cNvSpPr>
          <p:nvPr/>
        </p:nvSpPr>
        <p:spPr bwMode="auto">
          <a:xfrm>
            <a:off x="1803219" y="1921659"/>
            <a:ext cx="188865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altLang="zh-CN" sz="2400" b="1" dirty="0">
                <a:latin typeface="+mn-ea"/>
                <a:ea typeface="+mn-ea"/>
              </a:rPr>
              <a:t>1) </a:t>
            </a:r>
            <a:r>
              <a:rPr lang="zh-CN" altLang="en-US" sz="2400" b="1" dirty="0">
                <a:latin typeface="+mn-ea"/>
                <a:ea typeface="+mn-ea"/>
              </a:rPr>
              <a:t>尺寸界线</a:t>
            </a:r>
          </a:p>
        </p:txBody>
      </p:sp>
      <p:sp>
        <p:nvSpPr>
          <p:cNvPr id="110" name="Text Box 68"/>
          <p:cNvSpPr txBox="1">
            <a:spLocks noChangeArrowheads="1"/>
          </p:cNvSpPr>
          <p:nvPr/>
        </p:nvSpPr>
        <p:spPr bwMode="auto">
          <a:xfrm>
            <a:off x="2003267" y="4234678"/>
            <a:ext cx="8488870" cy="1113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b="1" dirty="0">
                <a:latin typeface="+mn-ea"/>
                <a:ea typeface="+mn-ea"/>
              </a:rPr>
              <a:t>②尺寸线不能用其它图线代替，也不得与其它图线重合或画在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dirty="0">
                <a:latin typeface="+mn-ea"/>
                <a:ea typeface="+mn-ea"/>
              </a:rPr>
              <a:t>  </a:t>
            </a:r>
            <a:r>
              <a:rPr lang="zh-CN" altLang="en-US" sz="2400" b="1" dirty="0">
                <a:latin typeface="+mn-ea"/>
                <a:ea typeface="+mn-ea"/>
              </a:rPr>
              <a:t>其延长线上。</a:t>
            </a:r>
          </a:p>
        </p:txBody>
      </p:sp>
      <p:sp>
        <p:nvSpPr>
          <p:cNvPr id="111" name="Text Box 69"/>
          <p:cNvSpPr txBox="1">
            <a:spLocks noChangeArrowheads="1"/>
          </p:cNvSpPr>
          <p:nvPr/>
        </p:nvSpPr>
        <p:spPr bwMode="auto">
          <a:xfrm>
            <a:off x="2024037" y="5508721"/>
            <a:ext cx="750099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ISOCP" pitchFamily="2" charset="0"/>
              </a:rPr>
              <a:t>③标注线性尺寸时尺寸线必须与所标注线段平行。</a:t>
            </a:r>
          </a:p>
        </p:txBody>
      </p:sp>
      <p:sp>
        <p:nvSpPr>
          <p:cNvPr id="61" name="Rectangle 2">
            <a:extLst>
              <a:ext uri="{FF2B5EF4-FFF2-40B4-BE49-F238E27FC236}">
                <a16:creationId xmlns:a16="http://schemas.microsoft.com/office/drawing/2014/main" id="{45CACD50-4DAD-485B-8044-C4F452D648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75"/>
                                        <p:tgtEl>
                                          <p:spTgt spid="39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4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75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71" grpId="0" autoUpdateAnimBg="0"/>
      <p:bldP spid="110" grpId="0"/>
      <p:bldP spid="11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2"/>
          <p:cNvSpPr txBox="1">
            <a:spLocks noChangeArrowheads="1"/>
          </p:cNvSpPr>
          <p:nvPr/>
        </p:nvSpPr>
        <p:spPr bwMode="auto">
          <a:xfrm>
            <a:off x="4659314" y="1700213"/>
            <a:ext cx="5966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accent2"/>
                </a:solidFill>
                <a:latin typeface="ISOCPEUR" pitchFamily="34" charset="0"/>
              </a:rPr>
              <a:t>C1.5</a:t>
            </a:r>
            <a:endParaRPr lang="en-US" altLang="zh-CN" i="1">
              <a:solidFill>
                <a:schemeClr val="accent2"/>
              </a:solidFill>
              <a:latin typeface="ISOCP" pitchFamily="2" charset="0"/>
            </a:endParaRP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 rot="-5400000">
            <a:off x="6444073" y="2725222"/>
            <a:ext cx="5389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accent2"/>
                </a:solidFill>
                <a:latin typeface="ISOCP" pitchFamily="2" charset="0"/>
                <a:sym typeface="Symbol" pitchFamily="18" charset="2"/>
              </a:rPr>
              <a:t></a:t>
            </a:r>
            <a:r>
              <a:rPr lang="en-US" altLang="zh-CN" i="1">
                <a:solidFill>
                  <a:schemeClr val="accent2"/>
                </a:solidFill>
                <a:latin typeface="ISOCPEUR" pitchFamily="34" charset="0"/>
                <a:sym typeface="Symbol" pitchFamily="18" charset="2"/>
              </a:rPr>
              <a:t>10</a:t>
            </a:r>
            <a:endParaRPr lang="en-US" altLang="zh-CN" i="1">
              <a:solidFill>
                <a:schemeClr val="accent2"/>
              </a:solidFill>
              <a:latin typeface="ISOCP" pitchFamily="2" charset="0"/>
              <a:sym typeface="Symbol" pitchFamily="18" charset="2"/>
            </a:endParaRP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5500689" y="2030413"/>
            <a:ext cx="59663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accent2"/>
                </a:solidFill>
                <a:latin typeface="ISOCPEUR" pitchFamily="34" charset="0"/>
              </a:rPr>
              <a:t>C1.5</a:t>
            </a:r>
            <a:endParaRPr lang="en-US" altLang="zh-CN" i="1">
              <a:solidFill>
                <a:schemeClr val="accent2"/>
              </a:solidFill>
              <a:latin typeface="ISOCP" pitchFamily="2" charset="0"/>
            </a:endParaRP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 rot="-5400000">
            <a:off x="3584985" y="2745860"/>
            <a:ext cx="53893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accent2"/>
                </a:solidFill>
                <a:sym typeface="Symbol" pitchFamily="18" charset="2"/>
              </a:rPr>
              <a:t></a:t>
            </a:r>
            <a:r>
              <a:rPr lang="en-US" altLang="zh-CN" i="1">
                <a:solidFill>
                  <a:schemeClr val="accent2"/>
                </a:solidFill>
                <a:latin typeface="ISOCPEUR" pitchFamily="34" charset="0"/>
                <a:sym typeface="EuroRoman" pitchFamily="2" charset="2"/>
              </a:rPr>
              <a:t>16</a:t>
            </a:r>
            <a:endParaRPr lang="en-US" altLang="zh-CN" i="1">
              <a:solidFill>
                <a:schemeClr val="accent2"/>
              </a:solidFill>
              <a:latin typeface="ISOCP" pitchFamily="2" charset="0"/>
              <a:sym typeface="EuroRoman" pitchFamily="2" charset="2"/>
            </a:endParaRPr>
          </a:p>
        </p:txBody>
      </p:sp>
      <p:sp>
        <p:nvSpPr>
          <p:cNvPr id="40966" name="Text Box 6"/>
          <p:cNvSpPr txBox="1">
            <a:spLocks noChangeArrowheads="1"/>
          </p:cNvSpPr>
          <p:nvPr/>
        </p:nvSpPr>
        <p:spPr bwMode="auto">
          <a:xfrm>
            <a:off x="5562601" y="3084513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accent2"/>
                </a:solidFill>
                <a:latin typeface="ISOCPEUR" pitchFamily="34" charset="0"/>
              </a:rPr>
              <a:t>20</a:t>
            </a:r>
            <a:endParaRPr lang="en-US" altLang="zh-CN" i="1">
              <a:solidFill>
                <a:schemeClr val="accent2"/>
              </a:solidFill>
              <a:latin typeface="ISOCP" pitchFamily="2" charset="0"/>
            </a:endParaRPr>
          </a:p>
        </p:txBody>
      </p:sp>
      <p:sp>
        <p:nvSpPr>
          <p:cNvPr id="40967" name="Text Box 7"/>
          <p:cNvSpPr txBox="1">
            <a:spLocks noChangeArrowheads="1"/>
          </p:cNvSpPr>
          <p:nvPr/>
        </p:nvSpPr>
        <p:spPr bwMode="auto">
          <a:xfrm>
            <a:off x="5162551" y="3402013"/>
            <a:ext cx="418704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i="1">
                <a:solidFill>
                  <a:schemeClr val="accent2"/>
                </a:solidFill>
                <a:latin typeface="ISOCPEUR" pitchFamily="34" charset="0"/>
              </a:rPr>
              <a:t>35</a:t>
            </a:r>
          </a:p>
        </p:txBody>
      </p:sp>
      <p:sp>
        <p:nvSpPr>
          <p:cNvPr id="36872" name="Line 8"/>
          <p:cNvSpPr>
            <a:spLocks noChangeShapeType="1"/>
          </p:cNvSpPr>
          <p:nvPr/>
        </p:nvSpPr>
        <p:spPr bwMode="auto">
          <a:xfrm flipH="1">
            <a:off x="4275138" y="2476500"/>
            <a:ext cx="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69" name="Text Box 9"/>
          <p:cNvSpPr txBox="1">
            <a:spLocks noChangeArrowheads="1"/>
          </p:cNvSpPr>
          <p:nvPr/>
        </p:nvSpPr>
        <p:spPr bwMode="auto">
          <a:xfrm>
            <a:off x="1250158" y="1387892"/>
            <a:ext cx="21590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defRPr/>
            </a:pPr>
            <a:r>
              <a:rPr lang="en-US" altLang="zh-CN" sz="2800" b="1" dirty="0">
                <a:latin typeface="+mn-ea"/>
                <a:ea typeface="+mn-ea"/>
              </a:rPr>
              <a:t>⒊ </a:t>
            </a:r>
            <a:r>
              <a:rPr lang="zh-CN" altLang="en-US" sz="2800" b="1" dirty="0">
                <a:latin typeface="+mn-ea"/>
                <a:ea typeface="+mn-ea"/>
              </a:rPr>
              <a:t>尺寸数字</a:t>
            </a:r>
          </a:p>
        </p:txBody>
      </p:sp>
      <p:sp>
        <p:nvSpPr>
          <p:cNvPr id="40970" name="Text Box 10"/>
          <p:cNvSpPr txBox="1">
            <a:spLocks noChangeArrowheads="1"/>
          </p:cNvSpPr>
          <p:nvPr/>
        </p:nvSpPr>
        <p:spPr bwMode="auto">
          <a:xfrm>
            <a:off x="1405731" y="4246563"/>
            <a:ext cx="7889875" cy="42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en-US" sz="2400" b="1" dirty="0">
                <a:latin typeface="+mn-ea"/>
                <a:ea typeface="+mn-ea"/>
              </a:rPr>
              <a:t>① 一般应注在尺寸线的上方，也可注在尺寸线的中断处。</a:t>
            </a:r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6357939" y="2592388"/>
            <a:ext cx="560387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6" name="Freeform 12"/>
          <p:cNvSpPr>
            <a:spLocks/>
          </p:cNvSpPr>
          <p:nvPr/>
        </p:nvSpPr>
        <p:spPr bwMode="auto">
          <a:xfrm>
            <a:off x="6407151" y="3127375"/>
            <a:ext cx="511175" cy="0"/>
          </a:xfrm>
          <a:custGeom>
            <a:avLst/>
            <a:gdLst>
              <a:gd name="T0" fmla="*/ 0 w 465"/>
              <a:gd name="T1" fmla="*/ 0 h 1"/>
              <a:gd name="T2" fmla="*/ 2147483647 w 465"/>
              <a:gd name="T3" fmla="*/ 0 h 1"/>
              <a:gd name="T4" fmla="*/ 0 60000 65536"/>
              <a:gd name="T5" fmla="*/ 0 60000 65536"/>
              <a:gd name="T6" fmla="*/ 0 w 465"/>
              <a:gd name="T7" fmla="*/ 0 h 1"/>
              <a:gd name="T8" fmla="*/ 465 w 465"/>
              <a:gd name="T9" fmla="*/ 0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65" h="1">
                <a:moveTo>
                  <a:pt x="0" y="0"/>
                </a:moveTo>
                <a:lnTo>
                  <a:pt x="465" y="0"/>
                </a:lnTo>
              </a:path>
            </a:pathLst>
          </a:cu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 flipH="1">
            <a:off x="3954463" y="2420938"/>
            <a:ext cx="349250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 flipH="1">
            <a:off x="3954464" y="3295650"/>
            <a:ext cx="377825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9" name="Line 15"/>
          <p:cNvSpPr>
            <a:spLocks noChangeShapeType="1"/>
          </p:cNvSpPr>
          <p:nvPr/>
        </p:nvSpPr>
        <p:spPr bwMode="auto">
          <a:xfrm>
            <a:off x="5205413" y="3295651"/>
            <a:ext cx="0" cy="182563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0" name="Freeform 16"/>
          <p:cNvSpPr>
            <a:spLocks/>
          </p:cNvSpPr>
          <p:nvPr/>
        </p:nvSpPr>
        <p:spPr bwMode="auto">
          <a:xfrm>
            <a:off x="6489700" y="3074989"/>
            <a:ext cx="1588" cy="714375"/>
          </a:xfrm>
          <a:custGeom>
            <a:avLst/>
            <a:gdLst>
              <a:gd name="T0" fmla="*/ 0 w 1"/>
              <a:gd name="T1" fmla="*/ 0 h 825"/>
              <a:gd name="T2" fmla="*/ 0 w 1"/>
              <a:gd name="T3" fmla="*/ 2147483647 h 825"/>
              <a:gd name="T4" fmla="*/ 0 60000 65536"/>
              <a:gd name="T5" fmla="*/ 0 60000 65536"/>
              <a:gd name="T6" fmla="*/ 0 w 1"/>
              <a:gd name="T7" fmla="*/ 0 h 825"/>
              <a:gd name="T8" fmla="*/ 1 w 1"/>
              <a:gd name="T9" fmla="*/ 825 h 82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825">
                <a:moveTo>
                  <a:pt x="0" y="0"/>
                </a:moveTo>
                <a:lnTo>
                  <a:pt x="0" y="825"/>
                </a:lnTo>
              </a:path>
            </a:pathLst>
          </a:cu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1" name="Line 17"/>
          <p:cNvSpPr>
            <a:spLocks noChangeShapeType="1"/>
          </p:cNvSpPr>
          <p:nvPr/>
        </p:nvSpPr>
        <p:spPr bwMode="auto">
          <a:xfrm>
            <a:off x="4233864" y="3230563"/>
            <a:ext cx="1587" cy="55880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2" name="Freeform 18"/>
          <p:cNvSpPr>
            <a:spLocks/>
          </p:cNvSpPr>
          <p:nvPr/>
        </p:nvSpPr>
        <p:spPr bwMode="auto">
          <a:xfrm>
            <a:off x="3992564" y="2400300"/>
            <a:ext cx="1587" cy="922338"/>
          </a:xfrm>
          <a:custGeom>
            <a:avLst/>
            <a:gdLst>
              <a:gd name="T0" fmla="*/ 0 w 1"/>
              <a:gd name="T1" fmla="*/ 0 h 581"/>
              <a:gd name="T2" fmla="*/ 2147483647 w 1"/>
              <a:gd name="T3" fmla="*/ 2147483647 h 581"/>
              <a:gd name="T4" fmla="*/ 0 60000 65536"/>
              <a:gd name="T5" fmla="*/ 0 60000 65536"/>
              <a:gd name="T6" fmla="*/ 0 w 1"/>
              <a:gd name="T7" fmla="*/ 0 h 581"/>
              <a:gd name="T8" fmla="*/ 1 w 1"/>
              <a:gd name="T9" fmla="*/ 581 h 58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581">
                <a:moveTo>
                  <a:pt x="0" y="0"/>
                </a:moveTo>
                <a:lnTo>
                  <a:pt x="1" y="581"/>
                </a:lnTo>
              </a:path>
            </a:pathLst>
          </a:custGeom>
          <a:noFill/>
          <a:ln w="19050">
            <a:solidFill>
              <a:srgbClr val="990033"/>
            </a:solidFill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3" name="Line 19"/>
          <p:cNvSpPr>
            <a:spLocks noChangeShapeType="1"/>
          </p:cNvSpPr>
          <p:nvPr/>
        </p:nvSpPr>
        <p:spPr bwMode="auto">
          <a:xfrm>
            <a:off x="5194300" y="3438525"/>
            <a:ext cx="1284288" cy="0"/>
          </a:xfrm>
          <a:prstGeom prst="line">
            <a:avLst/>
          </a:prstGeom>
          <a:noFill/>
          <a:ln w="19050">
            <a:solidFill>
              <a:srgbClr val="990033"/>
            </a:solidFill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4" name="Line 20"/>
          <p:cNvSpPr>
            <a:spLocks noChangeShapeType="1"/>
          </p:cNvSpPr>
          <p:nvPr/>
        </p:nvSpPr>
        <p:spPr bwMode="auto">
          <a:xfrm>
            <a:off x="4222750" y="3751263"/>
            <a:ext cx="2255838" cy="0"/>
          </a:xfrm>
          <a:prstGeom prst="line">
            <a:avLst/>
          </a:prstGeom>
          <a:noFill/>
          <a:ln w="19050">
            <a:solidFill>
              <a:srgbClr val="990033"/>
            </a:solidFill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5" name="Freeform 21"/>
          <p:cNvSpPr>
            <a:spLocks/>
          </p:cNvSpPr>
          <p:nvPr/>
        </p:nvSpPr>
        <p:spPr bwMode="auto">
          <a:xfrm>
            <a:off x="6856414" y="2579689"/>
            <a:ext cx="1587" cy="568325"/>
          </a:xfrm>
          <a:custGeom>
            <a:avLst/>
            <a:gdLst>
              <a:gd name="T0" fmla="*/ 0 w 1"/>
              <a:gd name="T1" fmla="*/ 0 h 358"/>
              <a:gd name="T2" fmla="*/ 2147483647 w 1"/>
              <a:gd name="T3" fmla="*/ 2147483647 h 358"/>
              <a:gd name="T4" fmla="*/ 0 60000 65536"/>
              <a:gd name="T5" fmla="*/ 0 60000 65536"/>
              <a:gd name="T6" fmla="*/ 0 w 1"/>
              <a:gd name="T7" fmla="*/ 0 h 358"/>
              <a:gd name="T8" fmla="*/ 1 w 1"/>
              <a:gd name="T9" fmla="*/ 358 h 35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358">
                <a:moveTo>
                  <a:pt x="0" y="0"/>
                </a:moveTo>
                <a:lnTo>
                  <a:pt x="1" y="358"/>
                </a:lnTo>
              </a:path>
            </a:pathLst>
          </a:custGeom>
          <a:noFill/>
          <a:ln w="9525">
            <a:solidFill>
              <a:srgbClr val="990033"/>
            </a:solidFill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6" name="Freeform 22"/>
          <p:cNvSpPr>
            <a:spLocks/>
          </p:cNvSpPr>
          <p:nvPr/>
        </p:nvSpPr>
        <p:spPr bwMode="auto">
          <a:xfrm>
            <a:off x="6188075" y="2374901"/>
            <a:ext cx="230188" cy="231775"/>
          </a:xfrm>
          <a:custGeom>
            <a:avLst/>
            <a:gdLst>
              <a:gd name="T0" fmla="*/ 2147483647 w 145"/>
              <a:gd name="T1" fmla="*/ 2147483647 h 146"/>
              <a:gd name="T2" fmla="*/ 0 w 145"/>
              <a:gd name="T3" fmla="*/ 0 h 146"/>
              <a:gd name="T4" fmla="*/ 0 60000 65536"/>
              <a:gd name="T5" fmla="*/ 0 60000 65536"/>
              <a:gd name="T6" fmla="*/ 0 w 145"/>
              <a:gd name="T7" fmla="*/ 0 h 146"/>
              <a:gd name="T8" fmla="*/ 145 w 145"/>
              <a:gd name="T9" fmla="*/ 146 h 14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45" h="146">
                <a:moveTo>
                  <a:pt x="145" y="14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7" name="Freeform 23"/>
          <p:cNvSpPr>
            <a:spLocks/>
          </p:cNvSpPr>
          <p:nvPr/>
        </p:nvSpPr>
        <p:spPr bwMode="auto">
          <a:xfrm>
            <a:off x="4318001" y="2035176"/>
            <a:ext cx="403225" cy="404813"/>
          </a:xfrm>
          <a:custGeom>
            <a:avLst/>
            <a:gdLst>
              <a:gd name="T0" fmla="*/ 0 w 254"/>
              <a:gd name="T1" fmla="*/ 2147483647 h 255"/>
              <a:gd name="T2" fmla="*/ 2147483647 w 254"/>
              <a:gd name="T3" fmla="*/ 0 h 255"/>
              <a:gd name="T4" fmla="*/ 0 60000 65536"/>
              <a:gd name="T5" fmla="*/ 0 60000 65536"/>
              <a:gd name="T6" fmla="*/ 0 w 254"/>
              <a:gd name="T7" fmla="*/ 0 h 255"/>
              <a:gd name="T8" fmla="*/ 254 w 254"/>
              <a:gd name="T9" fmla="*/ 255 h 25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254" h="255">
                <a:moveTo>
                  <a:pt x="0" y="255"/>
                </a:moveTo>
                <a:lnTo>
                  <a:pt x="254" y="0"/>
                </a:lnTo>
              </a:path>
            </a:pathLst>
          </a:custGeom>
          <a:noFill/>
          <a:ln w="1905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8" name="Freeform 24"/>
          <p:cNvSpPr>
            <a:spLocks/>
          </p:cNvSpPr>
          <p:nvPr/>
        </p:nvSpPr>
        <p:spPr bwMode="auto">
          <a:xfrm>
            <a:off x="4719639" y="2043114"/>
            <a:ext cx="631825" cy="3175"/>
          </a:xfrm>
          <a:custGeom>
            <a:avLst/>
            <a:gdLst>
              <a:gd name="T0" fmla="*/ 0 w 398"/>
              <a:gd name="T1" fmla="*/ 0 h 2"/>
              <a:gd name="T2" fmla="*/ 2147483647 w 398"/>
              <a:gd name="T3" fmla="*/ 2147483647 h 2"/>
              <a:gd name="T4" fmla="*/ 0 60000 65536"/>
              <a:gd name="T5" fmla="*/ 0 60000 65536"/>
              <a:gd name="T6" fmla="*/ 0 w 398"/>
              <a:gd name="T7" fmla="*/ 0 h 2"/>
              <a:gd name="T8" fmla="*/ 398 w 398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98" h="2">
                <a:moveTo>
                  <a:pt x="0" y="0"/>
                </a:moveTo>
                <a:lnTo>
                  <a:pt x="398" y="2"/>
                </a:lnTo>
              </a:path>
            </a:pathLst>
          </a:custGeom>
          <a:noFill/>
          <a:ln w="1905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89" name="Line 25"/>
          <p:cNvSpPr>
            <a:spLocks noChangeShapeType="1"/>
          </p:cNvSpPr>
          <p:nvPr/>
        </p:nvSpPr>
        <p:spPr bwMode="auto">
          <a:xfrm flipH="1" flipV="1">
            <a:off x="5500688" y="2374901"/>
            <a:ext cx="698500" cy="9525"/>
          </a:xfrm>
          <a:prstGeom prst="line">
            <a:avLst/>
          </a:prstGeom>
          <a:noFill/>
          <a:ln w="19050">
            <a:solidFill>
              <a:srgbClr val="990033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 rot="5400000">
            <a:off x="4503488" y="5831458"/>
            <a:ext cx="601447" cy="5847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3200" dirty="0">
                <a:solidFill>
                  <a:srgbClr val="FF0000"/>
                </a:solidFill>
                <a:latin typeface="ISOCPEUR" pitchFamily="34" charset="0"/>
              </a:rPr>
              <a:t>89</a:t>
            </a:r>
          </a:p>
        </p:txBody>
      </p:sp>
      <p:grpSp>
        <p:nvGrpSpPr>
          <p:cNvPr id="36891" name="Group 27"/>
          <p:cNvGrpSpPr>
            <a:grpSpLocks/>
          </p:cNvGrpSpPr>
          <p:nvPr/>
        </p:nvGrpSpPr>
        <p:grpSpPr bwMode="auto">
          <a:xfrm>
            <a:off x="4194176" y="2416176"/>
            <a:ext cx="2403475" cy="887413"/>
            <a:chOff x="1682" y="972"/>
            <a:chExt cx="1514" cy="559"/>
          </a:xfrm>
        </p:grpSpPr>
        <p:sp>
          <p:nvSpPr>
            <p:cNvPr id="36932" name="Freeform 28"/>
            <p:cNvSpPr>
              <a:spLocks/>
            </p:cNvSpPr>
            <p:nvPr/>
          </p:nvSpPr>
          <p:spPr bwMode="auto">
            <a:xfrm>
              <a:off x="1682" y="1248"/>
              <a:ext cx="1514" cy="0"/>
            </a:xfrm>
            <a:custGeom>
              <a:avLst/>
              <a:gdLst>
                <a:gd name="T0" fmla="*/ 0 w 2190"/>
                <a:gd name="T1" fmla="*/ 0 h 1"/>
                <a:gd name="T2" fmla="*/ 38 w 2190"/>
                <a:gd name="T3" fmla="*/ 0 h 1"/>
                <a:gd name="T4" fmla="*/ 0 60000 65536"/>
                <a:gd name="T5" fmla="*/ 0 60000 65536"/>
                <a:gd name="T6" fmla="*/ 0 w 2190"/>
                <a:gd name="T7" fmla="*/ 0 h 1"/>
                <a:gd name="T8" fmla="*/ 2190 w 2190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190" h="1">
                  <a:moveTo>
                    <a:pt x="0" y="0"/>
                  </a:moveTo>
                  <a:lnTo>
                    <a:pt x="2190" y="0"/>
                  </a:lnTo>
                </a:path>
              </a:pathLst>
            </a:cu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3" name="Rectangle 29"/>
            <p:cNvSpPr>
              <a:spLocks noChangeArrowheads="1"/>
            </p:cNvSpPr>
            <p:nvPr/>
          </p:nvSpPr>
          <p:spPr bwMode="auto">
            <a:xfrm>
              <a:off x="1767" y="975"/>
              <a:ext cx="558" cy="55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4" name="Rectangle 30"/>
            <p:cNvSpPr>
              <a:spLocks noChangeArrowheads="1"/>
            </p:cNvSpPr>
            <p:nvPr/>
          </p:nvSpPr>
          <p:spPr bwMode="auto">
            <a:xfrm>
              <a:off x="2325" y="1083"/>
              <a:ext cx="757" cy="33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5" name="Freeform 31"/>
            <p:cNvSpPr>
              <a:spLocks/>
            </p:cNvSpPr>
            <p:nvPr/>
          </p:nvSpPr>
          <p:spPr bwMode="auto">
            <a:xfrm>
              <a:off x="3082" y="1078"/>
              <a:ext cx="56" cy="57"/>
            </a:xfrm>
            <a:custGeom>
              <a:avLst/>
              <a:gdLst>
                <a:gd name="T0" fmla="*/ 0 w 56"/>
                <a:gd name="T1" fmla="*/ 0 h 57"/>
                <a:gd name="T2" fmla="*/ 56 w 56"/>
                <a:gd name="T3" fmla="*/ 57 h 57"/>
                <a:gd name="T4" fmla="*/ 0 60000 65536"/>
                <a:gd name="T5" fmla="*/ 0 60000 65536"/>
                <a:gd name="T6" fmla="*/ 0 w 56"/>
                <a:gd name="T7" fmla="*/ 0 h 57"/>
                <a:gd name="T8" fmla="*/ 56 w 56"/>
                <a:gd name="T9" fmla="*/ 57 h 5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6" h="57">
                  <a:moveTo>
                    <a:pt x="0" y="0"/>
                  </a:moveTo>
                  <a:lnTo>
                    <a:pt x="56" y="5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6" name="Freeform 32"/>
            <p:cNvSpPr>
              <a:spLocks/>
            </p:cNvSpPr>
            <p:nvPr/>
          </p:nvSpPr>
          <p:spPr bwMode="auto">
            <a:xfrm>
              <a:off x="3126" y="1124"/>
              <a:ext cx="1" cy="251"/>
            </a:xfrm>
            <a:custGeom>
              <a:avLst/>
              <a:gdLst>
                <a:gd name="T0" fmla="*/ 1 w 1"/>
                <a:gd name="T1" fmla="*/ 0 h 251"/>
                <a:gd name="T2" fmla="*/ 0 w 1"/>
                <a:gd name="T3" fmla="*/ 251 h 251"/>
                <a:gd name="T4" fmla="*/ 0 60000 65536"/>
                <a:gd name="T5" fmla="*/ 0 60000 65536"/>
                <a:gd name="T6" fmla="*/ 0 w 1"/>
                <a:gd name="T7" fmla="*/ 0 h 251"/>
                <a:gd name="T8" fmla="*/ 1 w 1"/>
                <a:gd name="T9" fmla="*/ 251 h 2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51">
                  <a:moveTo>
                    <a:pt x="1" y="0"/>
                  </a:moveTo>
                  <a:lnTo>
                    <a:pt x="0" y="251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7" name="Freeform 33"/>
            <p:cNvSpPr>
              <a:spLocks/>
            </p:cNvSpPr>
            <p:nvPr/>
          </p:nvSpPr>
          <p:spPr bwMode="auto">
            <a:xfrm>
              <a:off x="3082" y="1370"/>
              <a:ext cx="51" cy="55"/>
            </a:xfrm>
            <a:custGeom>
              <a:avLst/>
              <a:gdLst>
                <a:gd name="T0" fmla="*/ 0 w 51"/>
                <a:gd name="T1" fmla="*/ 55 h 55"/>
                <a:gd name="T2" fmla="*/ 51 w 51"/>
                <a:gd name="T3" fmla="*/ 0 h 55"/>
                <a:gd name="T4" fmla="*/ 0 60000 65536"/>
                <a:gd name="T5" fmla="*/ 0 60000 65536"/>
                <a:gd name="T6" fmla="*/ 0 w 51"/>
                <a:gd name="T7" fmla="*/ 0 h 55"/>
                <a:gd name="T8" fmla="*/ 51 w 51"/>
                <a:gd name="T9" fmla="*/ 55 h 5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1" h="55">
                  <a:moveTo>
                    <a:pt x="0" y="55"/>
                  </a:moveTo>
                  <a:lnTo>
                    <a:pt x="51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8" name="Freeform 34"/>
            <p:cNvSpPr>
              <a:spLocks/>
            </p:cNvSpPr>
            <p:nvPr/>
          </p:nvSpPr>
          <p:spPr bwMode="auto">
            <a:xfrm>
              <a:off x="1707" y="972"/>
              <a:ext cx="58" cy="57"/>
            </a:xfrm>
            <a:custGeom>
              <a:avLst/>
              <a:gdLst>
                <a:gd name="T0" fmla="*/ 58 w 58"/>
                <a:gd name="T1" fmla="*/ 0 h 57"/>
                <a:gd name="T2" fmla="*/ 0 w 58"/>
                <a:gd name="T3" fmla="*/ 57 h 57"/>
                <a:gd name="T4" fmla="*/ 0 60000 65536"/>
                <a:gd name="T5" fmla="*/ 0 60000 65536"/>
                <a:gd name="T6" fmla="*/ 0 w 58"/>
                <a:gd name="T7" fmla="*/ 0 h 57"/>
                <a:gd name="T8" fmla="*/ 58 w 58"/>
                <a:gd name="T9" fmla="*/ 57 h 5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8" h="57">
                  <a:moveTo>
                    <a:pt x="58" y="0"/>
                  </a:moveTo>
                  <a:lnTo>
                    <a:pt x="0" y="57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9" name="Freeform 35"/>
            <p:cNvSpPr>
              <a:spLocks/>
            </p:cNvSpPr>
            <p:nvPr/>
          </p:nvSpPr>
          <p:spPr bwMode="auto">
            <a:xfrm>
              <a:off x="1713" y="1018"/>
              <a:ext cx="1" cy="475"/>
            </a:xfrm>
            <a:custGeom>
              <a:avLst/>
              <a:gdLst>
                <a:gd name="T0" fmla="*/ 0 w 1"/>
                <a:gd name="T1" fmla="*/ 0 h 871"/>
                <a:gd name="T2" fmla="*/ 0 w 1"/>
                <a:gd name="T3" fmla="*/ 1 h 871"/>
                <a:gd name="T4" fmla="*/ 0 60000 65536"/>
                <a:gd name="T5" fmla="*/ 0 60000 65536"/>
                <a:gd name="T6" fmla="*/ 0 w 1"/>
                <a:gd name="T7" fmla="*/ 0 h 871"/>
                <a:gd name="T8" fmla="*/ 1 w 1"/>
                <a:gd name="T9" fmla="*/ 871 h 87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71">
                  <a:moveTo>
                    <a:pt x="0" y="0"/>
                  </a:moveTo>
                  <a:lnTo>
                    <a:pt x="0" y="871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40" name="Freeform 36"/>
            <p:cNvSpPr>
              <a:spLocks/>
            </p:cNvSpPr>
            <p:nvPr/>
          </p:nvSpPr>
          <p:spPr bwMode="auto">
            <a:xfrm>
              <a:off x="1712" y="1481"/>
              <a:ext cx="53" cy="50"/>
            </a:xfrm>
            <a:custGeom>
              <a:avLst/>
              <a:gdLst>
                <a:gd name="T0" fmla="*/ 53 w 53"/>
                <a:gd name="T1" fmla="*/ 50 h 50"/>
                <a:gd name="T2" fmla="*/ 0 w 53"/>
                <a:gd name="T3" fmla="*/ 0 h 50"/>
                <a:gd name="T4" fmla="*/ 0 60000 65536"/>
                <a:gd name="T5" fmla="*/ 0 60000 65536"/>
                <a:gd name="T6" fmla="*/ 0 w 53"/>
                <a:gd name="T7" fmla="*/ 0 h 50"/>
                <a:gd name="T8" fmla="*/ 53 w 53"/>
                <a:gd name="T9" fmla="*/ 50 h 5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" h="50">
                  <a:moveTo>
                    <a:pt x="53" y="50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2217738" y="2132014"/>
            <a:ext cx="1516062" cy="663575"/>
            <a:chOff x="485" y="1769"/>
            <a:chExt cx="955" cy="418"/>
          </a:xfrm>
        </p:grpSpPr>
        <p:sp>
          <p:nvSpPr>
            <p:cNvPr id="36929" name="Text Box 38"/>
            <p:cNvSpPr txBox="1">
              <a:spLocks noChangeArrowheads="1"/>
            </p:cNvSpPr>
            <p:nvPr/>
          </p:nvSpPr>
          <p:spPr bwMode="auto">
            <a:xfrm>
              <a:off x="485" y="1769"/>
              <a:ext cx="6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尺寸数字</a:t>
              </a:r>
            </a:p>
          </p:txBody>
        </p:sp>
        <p:sp>
          <p:nvSpPr>
            <p:cNvPr id="36930" name="Freeform 39"/>
            <p:cNvSpPr>
              <a:spLocks/>
            </p:cNvSpPr>
            <p:nvPr/>
          </p:nvSpPr>
          <p:spPr bwMode="auto">
            <a:xfrm>
              <a:off x="1275" y="2022"/>
              <a:ext cx="165" cy="165"/>
            </a:xfrm>
            <a:custGeom>
              <a:avLst/>
              <a:gdLst>
                <a:gd name="T0" fmla="*/ 0 w 165"/>
                <a:gd name="T1" fmla="*/ 0 h 165"/>
                <a:gd name="T2" fmla="*/ 165 w 165"/>
                <a:gd name="T3" fmla="*/ 165 h 165"/>
                <a:gd name="T4" fmla="*/ 0 60000 65536"/>
                <a:gd name="T5" fmla="*/ 0 60000 65536"/>
                <a:gd name="T6" fmla="*/ 0 w 165"/>
                <a:gd name="T7" fmla="*/ 0 h 165"/>
                <a:gd name="T8" fmla="*/ 165 w 165"/>
                <a:gd name="T9" fmla="*/ 165 h 1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5" h="165">
                  <a:moveTo>
                    <a:pt x="0" y="0"/>
                  </a:moveTo>
                  <a:lnTo>
                    <a:pt x="165" y="165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31" name="Freeform 40"/>
            <p:cNvSpPr>
              <a:spLocks/>
            </p:cNvSpPr>
            <p:nvPr/>
          </p:nvSpPr>
          <p:spPr bwMode="auto">
            <a:xfrm>
              <a:off x="545" y="2022"/>
              <a:ext cx="730" cy="1"/>
            </a:xfrm>
            <a:custGeom>
              <a:avLst/>
              <a:gdLst>
                <a:gd name="T0" fmla="*/ 730 w 730"/>
                <a:gd name="T1" fmla="*/ 0 h 1"/>
                <a:gd name="T2" fmla="*/ 0 w 730"/>
                <a:gd name="T3" fmla="*/ 0 h 1"/>
                <a:gd name="T4" fmla="*/ 0 60000 65536"/>
                <a:gd name="T5" fmla="*/ 0 60000 65536"/>
                <a:gd name="T6" fmla="*/ 0 w 730"/>
                <a:gd name="T7" fmla="*/ 0 h 1"/>
                <a:gd name="T8" fmla="*/ 730 w 730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30" h="1">
                  <a:moveTo>
                    <a:pt x="730" y="0"/>
                  </a:moveTo>
                  <a:lnTo>
                    <a:pt x="0" y="0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6738939" y="1900238"/>
            <a:ext cx="2476500" cy="717550"/>
            <a:chOff x="3328" y="1723"/>
            <a:chExt cx="1560" cy="452"/>
          </a:xfrm>
        </p:grpSpPr>
        <p:sp>
          <p:nvSpPr>
            <p:cNvPr id="36926" name="Text Box 42"/>
            <p:cNvSpPr txBox="1">
              <a:spLocks noChangeArrowheads="1"/>
            </p:cNvSpPr>
            <p:nvPr/>
          </p:nvSpPr>
          <p:spPr bwMode="auto">
            <a:xfrm>
              <a:off x="3424" y="1723"/>
              <a:ext cx="1191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数字高度</a:t>
              </a:r>
              <a:r>
                <a:rPr lang="en-US" altLang="zh-CN">
                  <a:solidFill>
                    <a:schemeClr val="accent2"/>
                  </a:solidFill>
                </a:rPr>
                <a:t>3.5</a:t>
              </a:r>
              <a:r>
                <a:rPr lang="zh-CN" altLang="en-US">
                  <a:solidFill>
                    <a:srgbClr val="FF0000"/>
                  </a:solidFill>
                </a:rPr>
                <a:t>毫米</a:t>
              </a:r>
            </a:p>
          </p:txBody>
        </p:sp>
        <p:sp>
          <p:nvSpPr>
            <p:cNvPr id="36927" name="Line 43"/>
            <p:cNvSpPr>
              <a:spLocks noChangeShapeType="1"/>
            </p:cNvSpPr>
            <p:nvPr/>
          </p:nvSpPr>
          <p:spPr bwMode="auto">
            <a:xfrm flipV="1">
              <a:off x="3328" y="1988"/>
              <a:ext cx="137" cy="18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8" name="Line 44"/>
            <p:cNvSpPr>
              <a:spLocks noChangeShapeType="1"/>
            </p:cNvSpPr>
            <p:nvPr/>
          </p:nvSpPr>
          <p:spPr bwMode="auto">
            <a:xfrm>
              <a:off x="3465" y="1988"/>
              <a:ext cx="142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94" name="Group 45"/>
          <p:cNvGrpSpPr>
            <a:grpSpLocks/>
          </p:cNvGrpSpPr>
          <p:nvPr/>
        </p:nvGrpSpPr>
        <p:grpSpPr bwMode="auto">
          <a:xfrm>
            <a:off x="3025776" y="3581400"/>
            <a:ext cx="1509713" cy="409575"/>
            <a:chOff x="967" y="2723"/>
            <a:chExt cx="951" cy="258"/>
          </a:xfrm>
        </p:grpSpPr>
        <p:sp>
          <p:nvSpPr>
            <p:cNvPr id="36923" name="Text Box 46"/>
            <p:cNvSpPr txBox="1">
              <a:spLocks noChangeArrowheads="1"/>
            </p:cNvSpPr>
            <p:nvPr/>
          </p:nvSpPr>
          <p:spPr bwMode="auto">
            <a:xfrm>
              <a:off x="967" y="2723"/>
              <a:ext cx="55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尺寸线</a:t>
              </a:r>
            </a:p>
          </p:txBody>
        </p:sp>
        <p:sp>
          <p:nvSpPr>
            <p:cNvPr id="36924" name="Line 47"/>
            <p:cNvSpPr>
              <a:spLocks noChangeShapeType="1"/>
            </p:cNvSpPr>
            <p:nvPr/>
          </p:nvSpPr>
          <p:spPr bwMode="auto">
            <a:xfrm flipH="1">
              <a:off x="1602" y="2838"/>
              <a:ext cx="316" cy="143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5" name="Line 48"/>
            <p:cNvSpPr>
              <a:spLocks noChangeShapeType="1"/>
            </p:cNvSpPr>
            <p:nvPr/>
          </p:nvSpPr>
          <p:spPr bwMode="auto">
            <a:xfrm flipH="1">
              <a:off x="1020" y="2981"/>
              <a:ext cx="582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95" name="Group 49"/>
          <p:cNvGrpSpPr>
            <a:grpSpLocks/>
          </p:cNvGrpSpPr>
          <p:nvPr/>
        </p:nvGrpSpPr>
        <p:grpSpPr bwMode="auto">
          <a:xfrm>
            <a:off x="6478588" y="2627313"/>
            <a:ext cx="3263900" cy="1135062"/>
            <a:chOff x="3121" y="1311"/>
            <a:chExt cx="2056" cy="715"/>
          </a:xfrm>
        </p:grpSpPr>
        <p:sp>
          <p:nvSpPr>
            <p:cNvPr id="36917" name="Text Box 50"/>
            <p:cNvSpPr txBox="1">
              <a:spLocks noChangeArrowheads="1"/>
            </p:cNvSpPr>
            <p:nvPr/>
          </p:nvSpPr>
          <p:spPr bwMode="auto">
            <a:xfrm>
              <a:off x="3427" y="1311"/>
              <a:ext cx="1296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</a:rPr>
                <a:t>这些间距</a:t>
              </a:r>
              <a:r>
                <a:rPr lang="zh-CN" altLang="en-US">
                  <a:solidFill>
                    <a:schemeClr val="accent2"/>
                  </a:solidFill>
                </a:rPr>
                <a:t>＞</a:t>
              </a:r>
              <a:r>
                <a:rPr lang="en-US" altLang="zh-CN">
                  <a:solidFill>
                    <a:schemeClr val="accent2"/>
                  </a:solidFill>
                </a:rPr>
                <a:t>7</a:t>
              </a:r>
              <a:r>
                <a:rPr lang="zh-CN" altLang="en-US">
                  <a:solidFill>
                    <a:srgbClr val="FF0000"/>
                  </a:solidFill>
                </a:rPr>
                <a:t>毫米</a:t>
              </a:r>
              <a:r>
                <a:rPr lang="en-US" altLang="zh-CN">
                  <a:solidFill>
                    <a:srgbClr val="FF0000"/>
                  </a:solidFill>
                </a:rPr>
                <a:t>,</a:t>
              </a:r>
            </a:p>
            <a:p>
              <a:r>
                <a:rPr lang="zh-CN" altLang="en-US">
                  <a:solidFill>
                    <a:srgbClr val="FF0000"/>
                  </a:solidFill>
                </a:rPr>
                <a:t>最好不超过</a:t>
              </a:r>
              <a:r>
                <a:rPr lang="en-US" altLang="zh-CN">
                  <a:solidFill>
                    <a:schemeClr val="accent2"/>
                  </a:solidFill>
                </a:rPr>
                <a:t>10</a:t>
              </a:r>
              <a:r>
                <a:rPr lang="zh-CN" altLang="en-US">
                  <a:solidFill>
                    <a:srgbClr val="FF0000"/>
                  </a:solidFill>
                </a:rPr>
                <a:t>毫米</a:t>
              </a:r>
              <a:endParaRPr lang="zh-CN" altLang="en-US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36918" name="AutoShape 51"/>
            <p:cNvSpPr>
              <a:spLocks/>
            </p:cNvSpPr>
            <p:nvPr/>
          </p:nvSpPr>
          <p:spPr bwMode="auto">
            <a:xfrm>
              <a:off x="3121" y="1633"/>
              <a:ext cx="62" cy="197"/>
            </a:xfrm>
            <a:prstGeom prst="rightBrace">
              <a:avLst>
                <a:gd name="adj1" fmla="val 26478"/>
                <a:gd name="adj2" fmla="val 50000"/>
              </a:avLst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9" name="AutoShape 52"/>
            <p:cNvSpPr>
              <a:spLocks/>
            </p:cNvSpPr>
            <p:nvPr/>
          </p:nvSpPr>
          <p:spPr bwMode="auto">
            <a:xfrm>
              <a:off x="3121" y="1830"/>
              <a:ext cx="62" cy="196"/>
            </a:xfrm>
            <a:prstGeom prst="rightBrace">
              <a:avLst>
                <a:gd name="adj1" fmla="val 26344"/>
                <a:gd name="adj2" fmla="val 50000"/>
              </a:avLst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0" name="Line 53"/>
            <p:cNvSpPr>
              <a:spLocks noChangeShapeType="1"/>
            </p:cNvSpPr>
            <p:nvPr/>
          </p:nvSpPr>
          <p:spPr bwMode="auto">
            <a:xfrm>
              <a:off x="3183" y="1739"/>
              <a:ext cx="66" cy="9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1" name="Line 54"/>
            <p:cNvSpPr>
              <a:spLocks noChangeShapeType="1"/>
            </p:cNvSpPr>
            <p:nvPr/>
          </p:nvSpPr>
          <p:spPr bwMode="auto">
            <a:xfrm flipV="1">
              <a:off x="3183" y="1830"/>
              <a:ext cx="67" cy="9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22" name="Line 55"/>
            <p:cNvSpPr>
              <a:spLocks noChangeShapeType="1"/>
            </p:cNvSpPr>
            <p:nvPr/>
          </p:nvSpPr>
          <p:spPr bwMode="auto">
            <a:xfrm>
              <a:off x="3249" y="1830"/>
              <a:ext cx="1928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96" name="Group 56"/>
          <p:cNvGrpSpPr>
            <a:grpSpLocks/>
          </p:cNvGrpSpPr>
          <p:nvPr/>
        </p:nvGrpSpPr>
        <p:grpSpPr bwMode="auto">
          <a:xfrm>
            <a:off x="6156326" y="3671888"/>
            <a:ext cx="3833813" cy="415925"/>
            <a:chOff x="2925" y="2780"/>
            <a:chExt cx="2415" cy="262"/>
          </a:xfrm>
        </p:grpSpPr>
        <p:sp>
          <p:nvSpPr>
            <p:cNvPr id="36914" name="Text Box 57"/>
            <p:cNvSpPr txBox="1">
              <a:spLocks noChangeArrowheads="1"/>
            </p:cNvSpPr>
            <p:nvPr/>
          </p:nvSpPr>
          <p:spPr bwMode="auto">
            <a:xfrm>
              <a:off x="3041" y="2780"/>
              <a:ext cx="1797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尺寸界线超出</a:t>
              </a:r>
              <a:r>
                <a:rPr lang="zh-CN" altLang="en-US">
                  <a:solidFill>
                    <a:srgbClr val="FF0000"/>
                  </a:solidFill>
                </a:rPr>
                <a:t>箭头约</a:t>
              </a:r>
              <a:r>
                <a:rPr lang="en-US" altLang="zh-CN">
                  <a:solidFill>
                    <a:schemeClr val="accent2"/>
                  </a:solidFill>
                </a:rPr>
                <a:t>2</a:t>
              </a:r>
              <a:r>
                <a:rPr lang="zh-CN" altLang="en-US">
                  <a:solidFill>
                    <a:srgbClr val="FF0000"/>
                  </a:solidFill>
                </a:rPr>
                <a:t>毫米</a:t>
              </a:r>
            </a:p>
          </p:txBody>
        </p:sp>
        <p:sp>
          <p:nvSpPr>
            <p:cNvPr id="36915" name="Freeform 58"/>
            <p:cNvSpPr>
              <a:spLocks/>
            </p:cNvSpPr>
            <p:nvPr/>
          </p:nvSpPr>
          <p:spPr bwMode="auto">
            <a:xfrm>
              <a:off x="2925" y="2853"/>
              <a:ext cx="196" cy="189"/>
            </a:xfrm>
            <a:custGeom>
              <a:avLst/>
              <a:gdLst>
                <a:gd name="T0" fmla="*/ 196 w 196"/>
                <a:gd name="T1" fmla="*/ 0 h 189"/>
                <a:gd name="T2" fmla="*/ 0 w 196"/>
                <a:gd name="T3" fmla="*/ 189 h 189"/>
                <a:gd name="T4" fmla="*/ 0 60000 65536"/>
                <a:gd name="T5" fmla="*/ 0 60000 65536"/>
                <a:gd name="T6" fmla="*/ 0 w 196"/>
                <a:gd name="T7" fmla="*/ 0 h 189"/>
                <a:gd name="T8" fmla="*/ 196 w 196"/>
                <a:gd name="T9" fmla="*/ 189 h 1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6" h="189">
                  <a:moveTo>
                    <a:pt x="196" y="0"/>
                  </a:moveTo>
                  <a:lnTo>
                    <a:pt x="0" y="189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6" name="Line 59"/>
            <p:cNvSpPr>
              <a:spLocks noChangeShapeType="1"/>
            </p:cNvSpPr>
            <p:nvPr/>
          </p:nvSpPr>
          <p:spPr bwMode="auto">
            <a:xfrm>
              <a:off x="2933" y="3040"/>
              <a:ext cx="2407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6897" name="Group 60"/>
          <p:cNvGrpSpPr>
            <a:grpSpLocks/>
          </p:cNvGrpSpPr>
          <p:nvPr/>
        </p:nvGrpSpPr>
        <p:grpSpPr bwMode="auto">
          <a:xfrm>
            <a:off x="2590801" y="3089275"/>
            <a:ext cx="1503363" cy="425450"/>
            <a:chOff x="628" y="2421"/>
            <a:chExt cx="947" cy="268"/>
          </a:xfrm>
        </p:grpSpPr>
        <p:sp>
          <p:nvSpPr>
            <p:cNvPr id="36911" name="Text Box 61"/>
            <p:cNvSpPr txBox="1">
              <a:spLocks noChangeArrowheads="1"/>
            </p:cNvSpPr>
            <p:nvPr/>
          </p:nvSpPr>
          <p:spPr bwMode="auto">
            <a:xfrm>
              <a:off x="628" y="2421"/>
              <a:ext cx="69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zh-CN" altLang="en-US">
                  <a:solidFill>
                    <a:srgbClr val="FF0000"/>
                  </a:solidFill>
                  <a:latin typeface="Times New Roman" pitchFamily="18" charset="0"/>
                </a:rPr>
                <a:t>尺寸界线</a:t>
              </a:r>
            </a:p>
          </p:txBody>
        </p:sp>
        <p:sp>
          <p:nvSpPr>
            <p:cNvPr id="36912" name="Freeform 62"/>
            <p:cNvSpPr>
              <a:spLocks/>
            </p:cNvSpPr>
            <p:nvPr/>
          </p:nvSpPr>
          <p:spPr bwMode="auto">
            <a:xfrm>
              <a:off x="1452" y="2562"/>
              <a:ext cx="123" cy="127"/>
            </a:xfrm>
            <a:custGeom>
              <a:avLst/>
              <a:gdLst>
                <a:gd name="T0" fmla="*/ 123 w 123"/>
                <a:gd name="T1" fmla="*/ 0 h 127"/>
                <a:gd name="T2" fmla="*/ 0 w 123"/>
                <a:gd name="T3" fmla="*/ 127 h 127"/>
                <a:gd name="T4" fmla="*/ 0 60000 65536"/>
                <a:gd name="T5" fmla="*/ 0 60000 65536"/>
                <a:gd name="T6" fmla="*/ 0 w 123"/>
                <a:gd name="T7" fmla="*/ 0 h 127"/>
                <a:gd name="T8" fmla="*/ 123 w 123"/>
                <a:gd name="T9" fmla="*/ 127 h 12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3" h="127">
                  <a:moveTo>
                    <a:pt x="123" y="0"/>
                  </a:moveTo>
                  <a:lnTo>
                    <a:pt x="0" y="127"/>
                  </a:lnTo>
                </a:path>
              </a:pathLst>
            </a:cu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913" name="Line 63"/>
            <p:cNvSpPr>
              <a:spLocks noChangeShapeType="1"/>
            </p:cNvSpPr>
            <p:nvPr/>
          </p:nvSpPr>
          <p:spPr bwMode="auto">
            <a:xfrm flipH="1">
              <a:off x="679" y="2687"/>
              <a:ext cx="77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1024" name="Text Box 64"/>
          <p:cNvSpPr txBox="1">
            <a:spLocks noChangeArrowheads="1"/>
          </p:cNvSpPr>
          <p:nvPr/>
        </p:nvSpPr>
        <p:spPr bwMode="auto">
          <a:xfrm rot="10800000">
            <a:off x="8008760" y="5811206"/>
            <a:ext cx="601447" cy="5847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  <a:latin typeface="ISOCPEUR" pitchFamily="34" charset="0"/>
              </a:rPr>
              <a:t>89</a:t>
            </a:r>
          </a:p>
        </p:txBody>
      </p:sp>
      <p:sp>
        <p:nvSpPr>
          <p:cNvPr id="41025" name="Text Box 65"/>
          <p:cNvSpPr txBox="1">
            <a:spLocks noChangeArrowheads="1"/>
          </p:cNvSpPr>
          <p:nvPr/>
        </p:nvSpPr>
        <p:spPr bwMode="auto">
          <a:xfrm>
            <a:off x="9619171" y="5813588"/>
            <a:ext cx="601447" cy="5847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  <a:latin typeface="ISOCPEUR" pitchFamily="34" charset="0"/>
              </a:rPr>
              <a:t>89</a:t>
            </a:r>
          </a:p>
        </p:txBody>
      </p:sp>
      <p:sp>
        <p:nvSpPr>
          <p:cNvPr id="41026" name="Text Box 66"/>
          <p:cNvSpPr txBox="1">
            <a:spLocks noChangeArrowheads="1"/>
          </p:cNvSpPr>
          <p:nvPr/>
        </p:nvSpPr>
        <p:spPr bwMode="auto">
          <a:xfrm rot="-5400000">
            <a:off x="6146550" y="5826695"/>
            <a:ext cx="601447" cy="584775"/>
          </a:xfrm>
          <a:prstGeom prst="rect">
            <a:avLst/>
          </a:prstGeom>
          <a:noFill/>
          <a:ln w="381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3200">
                <a:solidFill>
                  <a:srgbClr val="FF0000"/>
                </a:solidFill>
                <a:latin typeface="ISOCPEUR" pitchFamily="34" charset="0"/>
              </a:rPr>
              <a:t>89</a:t>
            </a:r>
          </a:p>
        </p:txBody>
      </p:sp>
      <p:sp>
        <p:nvSpPr>
          <p:cNvPr id="41027" name="Text Box 67"/>
          <p:cNvSpPr txBox="1">
            <a:spLocks noChangeArrowheads="1"/>
          </p:cNvSpPr>
          <p:nvPr/>
        </p:nvSpPr>
        <p:spPr bwMode="auto">
          <a:xfrm>
            <a:off x="1400290" y="4784716"/>
            <a:ext cx="9808278" cy="776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lang="zh-CN" altLang="en-US" sz="2400" b="1" dirty="0">
                <a:latin typeface="+mn-ea"/>
                <a:ea typeface="+mn-ea"/>
              </a:rPr>
              <a:t>② 尺寸数字应按国标要求书写，并且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水平方向字头向上，垂直方向字头向左，字高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3.5mm</a:t>
            </a:r>
            <a:r>
              <a:rPr lang="zh-CN" altLang="en-US" sz="2400" b="1" dirty="0">
                <a:latin typeface="+mn-ea"/>
                <a:ea typeface="+mn-ea"/>
              </a:rPr>
              <a:t>。</a:t>
            </a:r>
          </a:p>
        </p:txBody>
      </p:sp>
      <p:grpSp>
        <p:nvGrpSpPr>
          <p:cNvPr id="9" name="Group 73"/>
          <p:cNvGrpSpPr>
            <a:grpSpLocks/>
          </p:cNvGrpSpPr>
          <p:nvPr/>
        </p:nvGrpSpPr>
        <p:grpSpPr bwMode="auto">
          <a:xfrm>
            <a:off x="5189180" y="5952394"/>
            <a:ext cx="855663" cy="336550"/>
            <a:chOff x="1646" y="3794"/>
            <a:chExt cx="539" cy="212"/>
          </a:xfrm>
        </p:grpSpPr>
        <p:sp>
          <p:nvSpPr>
            <p:cNvPr id="36909" name="Line 70"/>
            <p:cNvSpPr>
              <a:spLocks noChangeShapeType="1"/>
            </p:cNvSpPr>
            <p:nvPr/>
          </p:nvSpPr>
          <p:spPr bwMode="auto">
            <a:xfrm>
              <a:off x="1655" y="3995"/>
              <a:ext cx="53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10" name="Text Box 72"/>
            <p:cNvSpPr txBox="1">
              <a:spLocks noChangeArrowheads="1"/>
            </p:cNvSpPr>
            <p:nvPr/>
          </p:nvSpPr>
          <p:spPr bwMode="auto">
            <a:xfrm>
              <a:off x="1646" y="3794"/>
              <a:ext cx="521" cy="21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/>
                <a:t>应为</a:t>
              </a:r>
            </a:p>
          </p:txBody>
        </p:sp>
      </p:grpSp>
      <p:grpSp>
        <p:nvGrpSpPr>
          <p:cNvPr id="10" name="Group 74"/>
          <p:cNvGrpSpPr>
            <a:grpSpLocks/>
          </p:cNvGrpSpPr>
          <p:nvPr/>
        </p:nvGrpSpPr>
        <p:grpSpPr bwMode="auto">
          <a:xfrm>
            <a:off x="8680958" y="5915474"/>
            <a:ext cx="855663" cy="336550"/>
            <a:chOff x="1646" y="3794"/>
            <a:chExt cx="539" cy="212"/>
          </a:xfrm>
        </p:grpSpPr>
        <p:sp>
          <p:nvSpPr>
            <p:cNvPr id="36907" name="Line 75"/>
            <p:cNvSpPr>
              <a:spLocks noChangeShapeType="1"/>
            </p:cNvSpPr>
            <p:nvPr/>
          </p:nvSpPr>
          <p:spPr bwMode="auto">
            <a:xfrm>
              <a:off x="1655" y="3995"/>
              <a:ext cx="53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08" name="Text Box 76"/>
            <p:cNvSpPr txBox="1">
              <a:spLocks noChangeArrowheads="1"/>
            </p:cNvSpPr>
            <p:nvPr/>
          </p:nvSpPr>
          <p:spPr bwMode="auto">
            <a:xfrm>
              <a:off x="1646" y="3794"/>
              <a:ext cx="521" cy="21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600"/>
                <a:t>应为</a:t>
              </a:r>
            </a:p>
          </p:txBody>
        </p:sp>
      </p:grpSp>
      <p:sp>
        <p:nvSpPr>
          <p:cNvPr id="41037" name="Text Box 77"/>
          <p:cNvSpPr txBox="1">
            <a:spLocks noChangeArrowheads="1"/>
          </p:cNvSpPr>
          <p:nvPr/>
        </p:nvSpPr>
        <p:spPr bwMode="auto">
          <a:xfrm>
            <a:off x="2074432" y="5803097"/>
            <a:ext cx="1436612" cy="5847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3200" dirty="0"/>
              <a:t>如</a:t>
            </a:r>
            <a:r>
              <a:rPr lang="en-US" altLang="zh-CN" sz="3200" dirty="0"/>
              <a:t>:“</a:t>
            </a:r>
            <a:r>
              <a:rPr lang="en-US" altLang="zh-CN" sz="3200" dirty="0">
                <a:solidFill>
                  <a:srgbClr val="FF3300"/>
                </a:solidFill>
              </a:rPr>
              <a:t>89</a:t>
            </a:r>
            <a:r>
              <a:rPr lang="en-US" altLang="zh-CN" sz="3200" dirty="0"/>
              <a:t>”</a:t>
            </a:r>
          </a:p>
        </p:txBody>
      </p:sp>
      <p:sp>
        <p:nvSpPr>
          <p:cNvPr id="78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79" name="Rectangle 2">
            <a:extLst>
              <a:ext uri="{FF2B5EF4-FFF2-40B4-BE49-F238E27FC236}">
                <a16:creationId xmlns:a16="http://schemas.microsoft.com/office/drawing/2014/main" id="{8954C529-644D-4A99-9531-0F84E05F3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409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09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0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0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409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4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410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410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10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410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2" grpId="0" autoUpdateAnimBg="0"/>
      <p:bldP spid="40963" grpId="0" autoUpdateAnimBg="0"/>
      <p:bldP spid="40964" grpId="0" autoUpdateAnimBg="0"/>
      <p:bldP spid="40965" grpId="0" autoUpdateAnimBg="0"/>
      <p:bldP spid="40966" grpId="0" autoUpdateAnimBg="0"/>
      <p:bldP spid="40967" grpId="0" autoUpdateAnimBg="0"/>
      <p:bldP spid="40969" grpId="0" build="p" autoUpdateAnimBg="0"/>
      <p:bldP spid="40970" grpId="0" autoUpdateAnimBg="0"/>
      <p:bldP spid="40986" grpId="0"/>
      <p:bldP spid="41024" grpId="0"/>
      <p:bldP spid="41025" grpId="0"/>
      <p:bldP spid="41026" grpId="0"/>
      <p:bldP spid="41027" grpId="0" autoUpdateAnimBg="0"/>
      <p:bldP spid="41037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1206500" y="1106756"/>
            <a:ext cx="7315200" cy="121444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800" b="1" dirty="0">
                <a:solidFill>
                  <a:srgbClr val="000000"/>
                </a:solidFill>
                <a:latin typeface="+mn-ea"/>
                <a:ea typeface="+mn-ea"/>
                <a:sym typeface="Microsoft Yahei"/>
              </a:rPr>
              <a:t>关于尺寸标注，要求正确的是</a:t>
            </a:r>
            <a:r>
              <a:rPr lang="en-US" altLang="zh-CN" sz="2800" b="1" dirty="0">
                <a:solidFill>
                  <a:srgbClr val="000000"/>
                </a:solidFill>
                <a:latin typeface="+mn-ea"/>
                <a:ea typeface="+mn-ea"/>
                <a:sym typeface="Microsoft Yahei"/>
              </a:rPr>
              <a:t>:</a:t>
            </a:r>
            <a:endParaRPr lang="zh-CN" altLang="en-US" sz="2800" b="1" dirty="0">
              <a:solidFill>
                <a:srgbClr val="000000"/>
              </a:solidFill>
              <a:latin typeface="+mn-ea"/>
              <a:ea typeface="+mn-ea"/>
              <a:sym typeface="Microsoft Yahei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3352800" y="2786063"/>
            <a:ext cx="6400800" cy="642937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一个完整的尺寸应包含尺寸界线、尺寸线、尺寸线终端、尺寸数字四个尺寸要素。</a:t>
            </a:r>
            <a:endParaRPr lang="zh-CN" altLang="en-US" sz="2400" b="1" dirty="0">
              <a:solidFill>
                <a:srgbClr val="000000"/>
              </a:solidFill>
              <a:latin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3352800" y="3643313"/>
            <a:ext cx="6400800" cy="642937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画尺寸线、尺寸界限的线型没有要求。</a:t>
            </a:r>
            <a:endParaRPr lang="zh-CN" altLang="en-US" sz="2400" b="1" dirty="0">
              <a:solidFill>
                <a:srgbClr val="000000"/>
              </a:solidFill>
              <a:latin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3352800" y="4500563"/>
            <a:ext cx="6400800" cy="642937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当尺寸线呈铅垂方向时，尺寸数字在尺寸线左侧，字头朝左。</a:t>
            </a:r>
            <a:endParaRPr lang="zh-CN" altLang="en-US" sz="2400" b="1" dirty="0">
              <a:solidFill>
                <a:srgbClr val="000000"/>
              </a:solidFill>
              <a:latin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3352800" y="5357813"/>
            <a:ext cx="6400800" cy="642937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/>
              <a:t>标注半径尺寸时，必须标注在投影为圆弧实形的图形上，且尺寸线应通过圆心。</a:t>
            </a:r>
            <a:endParaRPr lang="zh-CN" altLang="en-US" sz="2400" b="1" dirty="0">
              <a:solidFill>
                <a:srgbClr val="000000"/>
              </a:solidFill>
              <a:latin typeface="Microsoft Yahei"/>
              <a:sym typeface="Microsoft Yahei"/>
            </a:endParaRPr>
          </a:p>
        </p:txBody>
      </p:sp>
      <p:sp>
        <p:nvSpPr>
          <p:cNvPr id="8" name="矩形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9" name="矩形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rect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11" name="矩形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sym typeface="Microsoft Yahei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7696200" y="6215062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/>
                <a:sym typeface="Microsoft Yahei"/>
              </a:rPr>
              <a:t>提交</a:t>
            </a:r>
          </a:p>
        </p:txBody>
      </p:sp>
      <p:grpSp>
        <p:nvGrpSpPr>
          <p:cNvPr id="17" name="组合 16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/>
                  <a:sym typeface="Microsoft Yahei"/>
                </a:rPr>
                <a:t>多选题</a:t>
              </a:r>
            </a:p>
          </p:txBody>
        </p:sp>
        <p:sp>
          <p:nvSpPr>
            <p:cNvPr id="16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/>
                  <a:sym typeface="Microsoft Yahei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/>
                  <a:sym typeface="Microsoft Yahei"/>
                </a:rPr>
                <a:t>分</a:t>
              </a:r>
            </a:p>
          </p:txBody>
        </p:sp>
      </p:grpSp>
      <p:pic>
        <p:nvPicPr>
          <p:cNvPr id="2" name="图片 1" descr="tmpF597.tmp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5159375" y="6182046"/>
            <a:ext cx="1828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正确画法</a:t>
            </a:r>
          </a:p>
        </p:txBody>
      </p:sp>
      <p:pic>
        <p:nvPicPr>
          <p:cNvPr id="37891" name="Picture 4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17813" t="26772" r="24843" b="27182"/>
          <a:stretch>
            <a:fillRect/>
          </a:stretch>
        </p:blipFill>
        <p:spPr bwMode="auto">
          <a:xfrm>
            <a:off x="2595563" y="1903434"/>
            <a:ext cx="6858000" cy="438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2" name="Text Box 32"/>
          <p:cNvSpPr txBox="1">
            <a:spLocks noChangeArrowheads="1"/>
          </p:cNvSpPr>
          <p:nvPr/>
        </p:nvSpPr>
        <p:spPr bwMode="auto">
          <a:xfrm>
            <a:off x="1364503" y="1543987"/>
            <a:ext cx="151035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ISOCP" pitchFamily="2" charset="0"/>
              </a:rPr>
              <a:t>尺寸</a:t>
            </a:r>
            <a:r>
              <a:rPr lang="zh-CN" altLang="en-US" sz="2400" b="1">
                <a:latin typeface="ISOCP" pitchFamily="2" charset="0"/>
              </a:rPr>
              <a:t>标注 </a:t>
            </a:r>
            <a:endParaRPr lang="zh-CN" altLang="en-US" sz="2400" b="1" dirty="0">
              <a:latin typeface="ISOCP" pitchFamily="2" charset="0"/>
            </a:endParaRPr>
          </a:p>
        </p:txBody>
      </p:sp>
      <p:sp>
        <p:nvSpPr>
          <p:cNvPr id="6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8F47755-2E4B-475D-A3E3-34320F518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3"/>
          <p:cNvSpPr txBox="1">
            <a:spLocks noChangeArrowheads="1"/>
          </p:cNvSpPr>
          <p:nvPr/>
        </p:nvSpPr>
        <p:spPr bwMode="auto">
          <a:xfrm>
            <a:off x="5540218" y="6099560"/>
            <a:ext cx="1828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FF"/>
                </a:solidFill>
                <a:latin typeface="宋体" pitchFamily="2" charset="-122"/>
              </a:rPr>
              <a:t>错误画法</a:t>
            </a:r>
          </a:p>
        </p:txBody>
      </p:sp>
      <p:pic>
        <p:nvPicPr>
          <p:cNvPr id="38915" name="Picture 4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2024063" y="1785956"/>
            <a:ext cx="8128000" cy="435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916" name="Text Box 32"/>
          <p:cNvSpPr txBox="1">
            <a:spLocks noChangeArrowheads="1"/>
          </p:cNvSpPr>
          <p:nvPr/>
        </p:nvSpPr>
        <p:spPr bwMode="auto">
          <a:xfrm>
            <a:off x="1199456" y="1555123"/>
            <a:ext cx="274786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ISOCP" pitchFamily="2" charset="0"/>
              </a:rPr>
              <a:t>尺寸标注 正误对照</a:t>
            </a:r>
          </a:p>
        </p:txBody>
      </p:sp>
      <p:sp>
        <p:nvSpPr>
          <p:cNvPr id="6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27BFEF4-E7CE-4A50-82A0-D6CD983FB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6" name="Text Box 27"/>
          <p:cNvSpPr txBox="1">
            <a:spLocks noChangeArrowheads="1"/>
          </p:cNvSpPr>
          <p:nvPr/>
        </p:nvSpPr>
        <p:spPr bwMode="auto">
          <a:xfrm>
            <a:off x="1415480" y="1449884"/>
            <a:ext cx="76688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latin typeface="ISOCP" pitchFamily="2" charset="0"/>
              </a:rPr>
              <a:t>③ 线性尺寸数字的方向，一般应按下图所示方向注写。</a:t>
            </a:r>
          </a:p>
        </p:txBody>
      </p:sp>
      <p:pic>
        <p:nvPicPr>
          <p:cNvPr id="39939" name="Picture 85"/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9918" t="18478" r="54460" b="29311"/>
          <a:stretch/>
        </p:blipFill>
        <p:spPr bwMode="auto">
          <a:xfrm>
            <a:off x="1968502" y="2714648"/>
            <a:ext cx="3828392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814E55-0254-49DE-A331-F640DC65FF12}"/>
              </a:ext>
            </a:extLst>
          </p:cNvPr>
          <p:cNvSpPr/>
          <p:nvPr/>
        </p:nvSpPr>
        <p:spPr>
          <a:xfrm>
            <a:off x="2412070" y="1912898"/>
            <a:ext cx="498007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避免在图示</a:t>
            </a:r>
            <a:r>
              <a:rPr lang="en-US" altLang="zh-CN" sz="2400" b="1" dirty="0">
                <a:solidFill>
                  <a:srgbClr val="FF0000"/>
                </a:solidFill>
                <a:latin typeface="+mn-ea"/>
                <a:ea typeface="+mn-ea"/>
              </a:rPr>
              <a:t>30°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范围内标注尺寸。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D840B64F-F512-4040-9C81-15CA68AFB579}"/>
              </a:ext>
            </a:extLst>
          </p:cNvPr>
          <p:cNvSpPr/>
          <p:nvPr/>
        </p:nvSpPr>
        <p:spPr>
          <a:xfrm rot="19150474">
            <a:off x="2806004" y="2512283"/>
            <a:ext cx="1270470" cy="180884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D097514-0FC0-469E-BB79-33417F00FA74}"/>
              </a:ext>
            </a:extLst>
          </p:cNvPr>
          <p:cNvSpPr/>
          <p:nvPr/>
        </p:nvSpPr>
        <p:spPr>
          <a:xfrm>
            <a:off x="7028520" y="2705243"/>
            <a:ext cx="32784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anose="02010600030101010101" pitchFamily="2" charset="-122"/>
              </a:rPr>
              <a:t>无法避免时应引出标注</a:t>
            </a:r>
            <a:endParaRPr lang="zh-CN" altLang="en-US" dirty="0"/>
          </a:p>
        </p:txBody>
      </p:sp>
      <p:pic>
        <p:nvPicPr>
          <p:cNvPr id="9" name="Picture 85">
            <a:extLst>
              <a:ext uri="{FF2B5EF4-FFF2-40B4-BE49-F238E27FC236}">
                <a16:creationId xmlns:a16="http://schemas.microsoft.com/office/drawing/2014/main" id="{32BCA5BD-1561-4F56-AF65-F753DD4902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5582" t="29233" r="8797" b="40356"/>
          <a:stretch/>
        </p:blipFill>
        <p:spPr bwMode="auto">
          <a:xfrm>
            <a:off x="6753555" y="3549800"/>
            <a:ext cx="3828392" cy="23301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25CF0BA4-4774-42C4-8D12-E2C31EF966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6" grpId="0"/>
      <p:bldP spid="2" grpId="0"/>
      <p:bldP spid="3" grpId="0" animBg="1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62" name="Picture 2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5141" t="17856" r="14455" b="39827"/>
          <a:stretch>
            <a:fillRect/>
          </a:stretch>
        </p:blipFill>
        <p:spPr bwMode="auto">
          <a:xfrm>
            <a:off x="1876425" y="2643189"/>
            <a:ext cx="8313738" cy="328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4381501" y="2743200"/>
            <a:ext cx="2765425" cy="1328738"/>
            <a:chOff x="3602" y="2671"/>
            <a:chExt cx="1742" cy="837"/>
          </a:xfrm>
        </p:grpSpPr>
        <p:sp>
          <p:nvSpPr>
            <p:cNvPr id="40966" name="Text Box 17"/>
            <p:cNvSpPr txBox="1">
              <a:spLocks noChangeArrowheads="1"/>
            </p:cNvSpPr>
            <p:nvPr/>
          </p:nvSpPr>
          <p:spPr bwMode="auto">
            <a:xfrm>
              <a:off x="4334" y="2671"/>
              <a:ext cx="84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>
                  <a:solidFill>
                    <a:schemeClr val="accent2"/>
                  </a:solidFill>
                  <a:latin typeface="Times New Roman" pitchFamily="18" charset="0"/>
                </a:rPr>
                <a:t>中心线断开</a:t>
              </a:r>
              <a:endParaRPr lang="zh-CN" altLang="en-US" sz="2000">
                <a:solidFill>
                  <a:schemeClr val="accent2"/>
                </a:solidFill>
                <a:latin typeface="Times New Roman" pitchFamily="18" charset="0"/>
              </a:endParaRPr>
            </a:p>
          </p:txBody>
        </p:sp>
        <p:sp>
          <p:nvSpPr>
            <p:cNvPr id="40967" name="Line 18"/>
            <p:cNvSpPr>
              <a:spLocks noChangeShapeType="1"/>
            </p:cNvSpPr>
            <p:nvPr/>
          </p:nvSpPr>
          <p:spPr bwMode="auto">
            <a:xfrm flipV="1">
              <a:off x="3602" y="2917"/>
              <a:ext cx="823" cy="591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968" name="Line 19"/>
            <p:cNvSpPr>
              <a:spLocks noChangeShapeType="1"/>
            </p:cNvSpPr>
            <p:nvPr/>
          </p:nvSpPr>
          <p:spPr bwMode="auto">
            <a:xfrm>
              <a:off x="4425" y="2917"/>
              <a:ext cx="919" cy="0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2012" name="Text Box 28"/>
          <p:cNvSpPr txBox="1">
            <a:spLocks noChangeArrowheads="1"/>
          </p:cNvSpPr>
          <p:nvPr/>
        </p:nvSpPr>
        <p:spPr bwMode="auto">
          <a:xfrm>
            <a:off x="1343472" y="1592318"/>
            <a:ext cx="81930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ISOCP" pitchFamily="2" charset="0"/>
              </a:rPr>
              <a:t>④尺寸数字不可被任何图线所通过</a:t>
            </a:r>
            <a:r>
              <a:rPr lang="zh-CN" altLang="en-US" sz="2400" b="1" dirty="0">
                <a:latin typeface="ISOCP" pitchFamily="2" charset="0"/>
              </a:rPr>
              <a:t>，否则必须将该图线断开。</a:t>
            </a:r>
          </a:p>
        </p:txBody>
      </p:sp>
      <p:sp>
        <p:nvSpPr>
          <p:cNvPr id="17" name="Line 18"/>
          <p:cNvSpPr>
            <a:spLocks noChangeShapeType="1"/>
          </p:cNvSpPr>
          <p:nvPr/>
        </p:nvSpPr>
        <p:spPr bwMode="auto">
          <a:xfrm flipH="1" flipV="1">
            <a:off x="7167563" y="3143251"/>
            <a:ext cx="1714500" cy="500063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B4A2D5D-5208-4E2A-A5AA-3AB865F950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12" grpId="0" autoUpdateAnimBg="0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1271464" y="1402151"/>
            <a:ext cx="71438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4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、角度、直径、半径及狭小部位尺寸标注</a:t>
            </a:r>
          </a:p>
        </p:txBody>
      </p:sp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1415480" y="5028283"/>
            <a:ext cx="1018636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☆</a:t>
            </a:r>
            <a:r>
              <a:rPr lang="zh-CN" altLang="en-US" sz="2400" b="1" dirty="0">
                <a:latin typeface="+mn-ea"/>
                <a:ea typeface="+mn-ea"/>
              </a:rPr>
              <a:t> 尺寸界线沿径向引出，尺寸线应画成圆弧，其圆心是该角的顶点。</a:t>
            </a:r>
          </a:p>
        </p:txBody>
      </p:sp>
      <p:sp>
        <p:nvSpPr>
          <p:cNvPr id="77829" name="Text Box 5"/>
          <p:cNvSpPr txBox="1">
            <a:spLocks noChangeArrowheads="1"/>
          </p:cNvSpPr>
          <p:nvPr/>
        </p:nvSpPr>
        <p:spPr bwMode="auto">
          <a:xfrm>
            <a:off x="1404442" y="5766355"/>
            <a:ext cx="1018636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☆ 角度数字一律水平写</a:t>
            </a:r>
            <a:r>
              <a:rPr lang="zh-CN" altLang="en-US" sz="2400" b="1" dirty="0">
                <a:latin typeface="+mn-ea"/>
                <a:ea typeface="+mn-ea"/>
              </a:rPr>
              <a:t>。通常写在尺寸线的中断处，必要时允许写在尺寸</a:t>
            </a:r>
            <a:endParaRPr lang="en-US" altLang="zh-CN" sz="2400" b="1" dirty="0"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2400" b="1" dirty="0">
                <a:latin typeface="+mn-ea"/>
                <a:ea typeface="+mn-ea"/>
              </a:rPr>
              <a:t>   </a:t>
            </a:r>
            <a:r>
              <a:rPr lang="zh-CN" altLang="en-US" sz="2400" b="1" dirty="0">
                <a:latin typeface="+mn-ea"/>
                <a:ea typeface="+mn-ea"/>
              </a:rPr>
              <a:t>线的外面，或引出标注。</a:t>
            </a:r>
          </a:p>
        </p:txBody>
      </p:sp>
      <p:sp>
        <p:nvSpPr>
          <p:cNvPr id="25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pic>
        <p:nvPicPr>
          <p:cNvPr id="42008" name="Picture 2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151784" y="2400440"/>
            <a:ext cx="5238743" cy="2351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7827" name="Text Box 3"/>
          <p:cNvSpPr txBox="1">
            <a:spLocks noChangeArrowheads="1"/>
          </p:cNvSpPr>
          <p:nvPr/>
        </p:nvSpPr>
        <p:spPr bwMode="auto">
          <a:xfrm>
            <a:off x="1860040" y="2243007"/>
            <a:ext cx="20425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）</a:t>
            </a: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 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角度尺寸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7203B33-021A-4B5F-92CD-CF7848F94D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7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1000"/>
                                        <p:tgtEl>
                                          <p:spTgt spid="42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75"/>
                                        <p:tgtEl>
                                          <p:spTgt spid="77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828" grpId="0" autoUpdateAnimBg="0"/>
      <p:bldP spid="77829" grpId="0" autoUpdateAnimBg="0"/>
      <p:bldP spid="77827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Text Box 25"/>
          <p:cNvSpPr txBox="1">
            <a:spLocks noChangeArrowheads="1"/>
          </p:cNvSpPr>
          <p:nvPr/>
        </p:nvSpPr>
        <p:spPr bwMode="auto">
          <a:xfrm>
            <a:off x="1415480" y="1460784"/>
            <a:ext cx="39725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）圆、圆弧及球面尺寸</a:t>
            </a:r>
          </a:p>
        </p:txBody>
      </p:sp>
      <p:sp>
        <p:nvSpPr>
          <p:cNvPr id="45128" name="Text Box 72"/>
          <p:cNvSpPr txBox="1">
            <a:spLocks noChangeArrowheads="1"/>
          </p:cNvSpPr>
          <p:nvPr/>
        </p:nvSpPr>
        <p:spPr bwMode="auto">
          <a:xfrm>
            <a:off x="3303572" y="6304706"/>
            <a:ext cx="544411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Times New Roman" pitchFamily="18" charset="0"/>
              </a:rPr>
              <a:t>注：直径尺寸可以标注在非圆视图上。</a:t>
            </a:r>
          </a:p>
        </p:txBody>
      </p:sp>
      <p:sp>
        <p:nvSpPr>
          <p:cNvPr id="74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75" name="矩形 74"/>
          <p:cNvSpPr/>
          <p:nvPr/>
        </p:nvSpPr>
        <p:spPr>
          <a:xfrm>
            <a:off x="1702938" y="2221469"/>
            <a:ext cx="25317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标注圆的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直径</a:t>
            </a:r>
            <a:r>
              <a:rPr lang="zh-CN" altLang="en-US" sz="2400" b="1" dirty="0">
                <a:latin typeface="+mn-ea"/>
                <a:ea typeface="+mn-ea"/>
              </a:rPr>
              <a:t>时，应在尺寸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数字前</a:t>
            </a:r>
            <a:r>
              <a:rPr lang="zh-CN" altLang="en-US" sz="2400" b="1" dirty="0">
                <a:latin typeface="+mn-ea"/>
                <a:ea typeface="+mn-ea"/>
              </a:rPr>
              <a:t>加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注</a:t>
            </a:r>
            <a:r>
              <a:rPr lang="zh-CN" altLang="en-US" sz="2400" b="1" dirty="0">
                <a:latin typeface="+mn-ea"/>
                <a:ea typeface="+mn-ea"/>
              </a:rPr>
              <a:t>符号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“</a:t>
            </a:r>
            <a:r>
              <a:rPr lang="en-US" altLang="zh-CN" sz="2400" b="1" i="1" dirty="0">
                <a:solidFill>
                  <a:srgbClr val="FF0000"/>
                </a:solidFill>
                <a:latin typeface="+mn-ea"/>
                <a:ea typeface="+mn-ea"/>
              </a:rPr>
              <a:t>φ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”</a:t>
            </a:r>
            <a:endParaRPr lang="en-US" altLang="zh-CN" sz="2400" b="1" dirty="0">
              <a:latin typeface="+mn-ea"/>
              <a:ea typeface="+mn-ea"/>
            </a:endParaRPr>
          </a:p>
        </p:txBody>
      </p:sp>
      <p:sp>
        <p:nvSpPr>
          <p:cNvPr id="76" name="矩形 75"/>
          <p:cNvSpPr/>
          <p:nvPr/>
        </p:nvSpPr>
        <p:spPr>
          <a:xfrm>
            <a:off x="995778" y="3920578"/>
            <a:ext cx="74810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    圆的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直径</a:t>
            </a:r>
            <a:r>
              <a:rPr lang="zh-CN" altLang="en-US" sz="2400" b="1" dirty="0">
                <a:latin typeface="+mn-ea"/>
              </a:rPr>
              <a:t>和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圆弧半径</a:t>
            </a:r>
            <a:r>
              <a:rPr lang="zh-CN" altLang="en-US" sz="2400" b="1" dirty="0">
                <a:latin typeface="+mn-ea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尺寸线的终端</a:t>
            </a:r>
            <a:r>
              <a:rPr lang="zh-CN" altLang="en-US" sz="2400" b="1" dirty="0">
                <a:latin typeface="+mn-ea"/>
              </a:rPr>
              <a:t>应画成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箭头。</a:t>
            </a:r>
            <a:endParaRPr lang="zh-CN" altLang="en-US" sz="2400" b="1" dirty="0">
              <a:latin typeface="+mn-ea"/>
            </a:endParaRPr>
          </a:p>
        </p:txBody>
      </p:sp>
      <p:pic>
        <p:nvPicPr>
          <p:cNvPr id="43081" name="Picture 73"/>
          <p:cNvPicPr>
            <a:picLocks noChangeAspect="1" noChangeArrowheads="1"/>
          </p:cNvPicPr>
          <p:nvPr/>
        </p:nvPicPr>
        <p:blipFill rotWithShape="1">
          <a:blip r:embed="rId3"/>
          <a:srcRect l="54739" r="20721"/>
          <a:stretch/>
        </p:blipFill>
        <p:spPr bwMode="auto">
          <a:xfrm>
            <a:off x="8949763" y="2040058"/>
            <a:ext cx="1912880" cy="2007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8" name="Picture 73"/>
          <p:cNvPicPr>
            <a:picLocks noChangeAspect="1" noChangeArrowheads="1"/>
          </p:cNvPicPr>
          <p:nvPr/>
        </p:nvPicPr>
        <p:blipFill rotWithShape="1">
          <a:blip r:embed="rId3"/>
          <a:srcRect t="18959" r="77044"/>
          <a:stretch/>
        </p:blipFill>
        <p:spPr bwMode="auto">
          <a:xfrm>
            <a:off x="4306086" y="2040058"/>
            <a:ext cx="1719546" cy="1563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9" name="矩形 78"/>
          <p:cNvSpPr/>
          <p:nvPr/>
        </p:nvSpPr>
        <p:spPr>
          <a:xfrm>
            <a:off x="6408217" y="2177606"/>
            <a:ext cx="231396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标注圆弧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半径</a:t>
            </a:r>
            <a:r>
              <a:rPr lang="zh-CN" altLang="en-US" sz="2400" b="1" dirty="0">
                <a:latin typeface="+mn-ea"/>
              </a:rPr>
              <a:t>时，应在尺寸数字前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加注</a:t>
            </a:r>
            <a:r>
              <a:rPr lang="zh-CN" altLang="en-US" sz="2400" b="1" dirty="0">
                <a:latin typeface="+mn-ea"/>
              </a:rPr>
              <a:t>符号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“</a:t>
            </a:r>
            <a:r>
              <a:rPr lang="en-US" altLang="zh-CN" sz="2400" b="1" i="1" dirty="0">
                <a:solidFill>
                  <a:srgbClr val="FF0000"/>
                </a:solidFill>
                <a:latin typeface="+mn-ea"/>
              </a:rPr>
              <a:t>R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</a:rPr>
              <a:t>”</a:t>
            </a:r>
            <a:endParaRPr lang="zh-CN" altLang="en-US" sz="2400" b="1" dirty="0">
              <a:latin typeface="+mn-ea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BFF118A-BC1C-4003-B992-1111EFEA5C88}"/>
              </a:ext>
            </a:extLst>
          </p:cNvPr>
          <p:cNvSpPr/>
          <p:nvPr/>
        </p:nvSpPr>
        <p:spPr>
          <a:xfrm>
            <a:off x="1702938" y="4681751"/>
            <a:ext cx="2304830" cy="156966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圆弧的弧度大于</a:t>
            </a:r>
            <a:r>
              <a:rPr lang="en-US" altLang="zh-CN" sz="2400" b="1" dirty="0">
                <a:latin typeface="+mn-ea"/>
              </a:rPr>
              <a:t>180°</a:t>
            </a:r>
            <a:r>
              <a:rPr lang="zh-CN" altLang="en-US" sz="2400" b="1" dirty="0">
                <a:latin typeface="+mn-ea"/>
              </a:rPr>
              <a:t>时，尺寸数字前加注符号“</a:t>
            </a:r>
            <a:r>
              <a:rPr lang="en-US" altLang="zh-CN" sz="2400" b="1" i="1" dirty="0">
                <a:latin typeface="+mn-ea"/>
              </a:rPr>
              <a:t>φ</a:t>
            </a:r>
            <a:r>
              <a:rPr lang="zh-CN" altLang="en-US" sz="2400" b="1" dirty="0">
                <a:latin typeface="+mn-ea"/>
              </a:rPr>
              <a:t>”  </a:t>
            </a:r>
            <a:endParaRPr lang="en-US" altLang="zh-CN" sz="2400" b="1" dirty="0">
              <a:latin typeface="+mn-ea"/>
            </a:endParaRPr>
          </a:p>
        </p:txBody>
      </p:sp>
      <p:pic>
        <p:nvPicPr>
          <p:cNvPr id="12" name="Picture 73">
            <a:extLst>
              <a:ext uri="{FF2B5EF4-FFF2-40B4-BE49-F238E27FC236}">
                <a16:creationId xmlns:a16="http://schemas.microsoft.com/office/drawing/2014/main" id="{A09DB3A6-4154-4FB6-979A-50130107DF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27993" t="5342" r="45419"/>
          <a:stretch/>
        </p:blipFill>
        <p:spPr bwMode="auto">
          <a:xfrm>
            <a:off x="4332506" y="4555555"/>
            <a:ext cx="1991557" cy="1825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" name="Picture 73">
            <a:extLst>
              <a:ext uri="{FF2B5EF4-FFF2-40B4-BE49-F238E27FC236}">
                <a16:creationId xmlns:a16="http://schemas.microsoft.com/office/drawing/2014/main" id="{3618DC8A-DFF3-414D-B96C-2EE06B92C3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/>
          <a:srcRect l="79474" t="31202" b="15084"/>
          <a:stretch/>
        </p:blipFill>
        <p:spPr bwMode="auto">
          <a:xfrm>
            <a:off x="8949763" y="5005505"/>
            <a:ext cx="1599922" cy="10781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520491D7-296F-478A-B189-C9E6679B0C39}"/>
              </a:ext>
            </a:extLst>
          </p:cNvPr>
          <p:cNvSpPr/>
          <p:nvPr/>
        </p:nvSpPr>
        <p:spPr>
          <a:xfrm>
            <a:off x="6704646" y="4714192"/>
            <a:ext cx="2313970" cy="156966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圆弧弧度小于或等于</a:t>
            </a:r>
            <a:r>
              <a:rPr lang="en-US" altLang="zh-CN" sz="2400" b="1" dirty="0">
                <a:latin typeface="+mn-ea"/>
              </a:rPr>
              <a:t>180°</a:t>
            </a:r>
            <a:r>
              <a:rPr lang="zh-CN" altLang="en-US" sz="2400" b="1" dirty="0">
                <a:latin typeface="+mn-ea"/>
              </a:rPr>
              <a:t>时，尺寸数字前加注符号“</a:t>
            </a:r>
            <a:r>
              <a:rPr lang="en-US" altLang="zh-CN" sz="2400" b="1" i="1" dirty="0">
                <a:latin typeface="+mn-ea"/>
              </a:rPr>
              <a:t>R</a:t>
            </a:r>
            <a:r>
              <a:rPr lang="zh-CN" altLang="en-US" sz="2400" b="1" dirty="0">
                <a:latin typeface="+mn-ea"/>
              </a:rPr>
              <a:t>”</a:t>
            </a:r>
            <a:endParaRPr lang="zh-CN" altLang="en-US" sz="2400" dirty="0"/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A5B816A3-7A63-4BEA-A280-CA9DAA5196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4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4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128" grpId="0" autoUpdateAnimBg="0"/>
      <p:bldP spid="75" grpId="0"/>
      <p:bldP spid="76" grpId="0"/>
      <p:bldP spid="79" grpId="0"/>
      <p:bldP spid="2" grpId="0" animBg="1"/>
      <p:bldP spid="1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14" name="Picture 5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81314" y="2932775"/>
            <a:ext cx="6475413" cy="166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7115" name="Text Box 11"/>
          <p:cNvSpPr txBox="1">
            <a:spLocks noChangeArrowheads="1"/>
          </p:cNvSpPr>
          <p:nvPr/>
        </p:nvSpPr>
        <p:spPr bwMode="auto">
          <a:xfrm>
            <a:off x="1703512" y="5154103"/>
            <a:ext cx="2808312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ISOCP" pitchFamily="2" charset="0"/>
              </a:rPr>
              <a:t>标注球面半径时，应在符号</a:t>
            </a:r>
            <a:r>
              <a:rPr lang="zh-CN" altLang="en-US" sz="2400" b="1" dirty="0">
                <a:latin typeface="宋体" pitchFamily="2" charset="-122"/>
                <a:sym typeface="Romantic" pitchFamily="2" charset="2"/>
              </a:rPr>
              <a:t>“</a:t>
            </a:r>
            <a:r>
              <a:rPr lang="en-US" altLang="zh-CN" sz="2400" b="1" i="1" dirty="0">
                <a:solidFill>
                  <a:srgbClr val="FF0000"/>
                </a:solidFill>
                <a:latin typeface="ISOCPEUR" pitchFamily="34" charset="0"/>
                <a:sym typeface="Symbol" pitchFamily="18" charset="2"/>
              </a:rPr>
              <a:t>R</a:t>
            </a:r>
            <a:r>
              <a:rPr lang="en-US" altLang="zh-CN" sz="2400" b="1" dirty="0">
                <a:latin typeface="宋体" pitchFamily="2" charset="-122"/>
                <a:sym typeface="Romantic" pitchFamily="2" charset="2"/>
              </a:rPr>
              <a:t>”</a:t>
            </a:r>
            <a:r>
              <a:rPr lang="zh-CN" altLang="en-US" sz="2400" b="1" dirty="0">
                <a:latin typeface="ISOCP" pitchFamily="2" charset="0"/>
                <a:sym typeface="Romantic" pitchFamily="2" charset="2"/>
              </a:rPr>
              <a:t>前加注</a:t>
            </a:r>
            <a:r>
              <a:rPr lang="zh-CN" altLang="en-US" sz="2400" b="1" dirty="0">
                <a:latin typeface="ISOCP" pitchFamily="2" charset="0"/>
              </a:rPr>
              <a:t>符号</a:t>
            </a:r>
            <a:r>
              <a:rPr lang="zh-CN" altLang="en-US" sz="2400" b="1" dirty="0">
                <a:latin typeface="宋体" pitchFamily="2" charset="-122"/>
                <a:sym typeface="Romantic" pitchFamily="2" charset="2"/>
              </a:rPr>
              <a:t>“</a:t>
            </a:r>
            <a:r>
              <a:rPr lang="en-US" altLang="zh-CN" sz="2400" b="1" i="1" dirty="0">
                <a:solidFill>
                  <a:srgbClr val="FF0000"/>
                </a:solidFill>
                <a:latin typeface="ISOCPEUR" pitchFamily="34" charset="0"/>
                <a:sym typeface="Symbol" pitchFamily="18" charset="2"/>
              </a:rPr>
              <a:t>S</a:t>
            </a:r>
            <a:r>
              <a:rPr lang="en-US" altLang="zh-CN" sz="2400" b="1" dirty="0">
                <a:latin typeface="宋体" pitchFamily="2" charset="-122"/>
                <a:sym typeface="Romantic" pitchFamily="2" charset="2"/>
              </a:rPr>
              <a:t>”</a:t>
            </a:r>
            <a:r>
              <a:rPr lang="zh-CN" altLang="en-US" sz="2400" b="1" dirty="0">
                <a:latin typeface="ISOCP" pitchFamily="2" charset="0"/>
                <a:sym typeface="Romantic" pitchFamily="2" charset="2"/>
              </a:rPr>
              <a:t>。</a:t>
            </a:r>
          </a:p>
        </p:txBody>
      </p:sp>
      <p:sp>
        <p:nvSpPr>
          <p:cNvPr id="47162" name="Text Box 58"/>
          <p:cNvSpPr txBox="1">
            <a:spLocks noChangeArrowheads="1"/>
          </p:cNvSpPr>
          <p:nvPr/>
        </p:nvSpPr>
        <p:spPr bwMode="auto">
          <a:xfrm>
            <a:off x="1764839" y="2098474"/>
            <a:ext cx="928903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+mn-ea"/>
                <a:ea typeface="+mn-ea"/>
              </a:rPr>
              <a:t>标注半径尺寸时，必须标注在投影为圆弧实形的图形上，且尺寸线应通过圆心。</a:t>
            </a:r>
            <a:endParaRPr lang="zh-CN" altLang="en-US" sz="24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7163" name="Text Box 59"/>
          <p:cNvSpPr txBox="1">
            <a:spLocks noChangeArrowheads="1"/>
          </p:cNvSpPr>
          <p:nvPr/>
        </p:nvSpPr>
        <p:spPr bwMode="auto">
          <a:xfrm>
            <a:off x="8193148" y="3414320"/>
            <a:ext cx="4921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 dirty="0">
                <a:latin typeface="Times New Roman" pitchFamily="18" charset="0"/>
              </a:rPr>
              <a:t>×</a:t>
            </a:r>
          </a:p>
        </p:txBody>
      </p:sp>
      <p:sp>
        <p:nvSpPr>
          <p:cNvPr id="59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pic>
        <p:nvPicPr>
          <p:cNvPr id="45115" name="Picture 59"/>
          <p:cNvPicPr>
            <a:picLocks noChangeAspect="1" noChangeArrowheads="1"/>
          </p:cNvPicPr>
          <p:nvPr/>
        </p:nvPicPr>
        <p:blipFill>
          <a:blip r:embed="rId3"/>
          <a:srcRect l="42593"/>
          <a:stretch>
            <a:fillRect/>
          </a:stretch>
        </p:blipFill>
        <p:spPr bwMode="auto">
          <a:xfrm>
            <a:off x="7524760" y="5122626"/>
            <a:ext cx="2214578" cy="1564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2" name="Picture 59"/>
          <p:cNvPicPr>
            <a:picLocks noChangeAspect="1" noChangeArrowheads="1"/>
          </p:cNvPicPr>
          <p:nvPr/>
        </p:nvPicPr>
        <p:blipFill>
          <a:blip r:embed="rId3"/>
          <a:srcRect r="61358"/>
          <a:stretch>
            <a:fillRect/>
          </a:stretch>
        </p:blipFill>
        <p:spPr bwMode="auto">
          <a:xfrm>
            <a:off x="4659055" y="4994829"/>
            <a:ext cx="1626842" cy="1706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3" name="矩形 62"/>
          <p:cNvSpPr/>
          <p:nvPr/>
        </p:nvSpPr>
        <p:spPr>
          <a:xfrm>
            <a:off x="6409355" y="4993936"/>
            <a:ext cx="460851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不致引起误解的情况下可省略符号“</a:t>
            </a:r>
            <a:r>
              <a:rPr lang="en-US" altLang="zh-CN" sz="2000" b="1" i="1" dirty="0">
                <a:solidFill>
                  <a:srgbClr val="FF0000"/>
                </a:solidFill>
              </a:rPr>
              <a:t>S</a:t>
            </a:r>
            <a:r>
              <a:rPr lang="zh-CN" altLang="en-US" sz="2000" b="1" dirty="0">
                <a:solidFill>
                  <a:srgbClr val="FF0000"/>
                </a:solidFill>
              </a:rPr>
              <a:t>”</a:t>
            </a:r>
          </a:p>
        </p:txBody>
      </p:sp>
      <p:sp>
        <p:nvSpPr>
          <p:cNvPr id="14" name="Text Box 25">
            <a:extLst>
              <a:ext uri="{FF2B5EF4-FFF2-40B4-BE49-F238E27FC236}">
                <a16:creationId xmlns:a16="http://schemas.microsoft.com/office/drawing/2014/main" id="{0F3FA23E-EF47-4B95-9C4A-860601418A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5480" y="1412776"/>
            <a:ext cx="39725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）圆、圆弧及球面尺寸</a:t>
            </a:r>
          </a:p>
        </p:txBody>
      </p:sp>
      <p:sp>
        <p:nvSpPr>
          <p:cNvPr id="15" name="Rectangle 2">
            <a:extLst>
              <a:ext uri="{FF2B5EF4-FFF2-40B4-BE49-F238E27FC236}">
                <a16:creationId xmlns:a16="http://schemas.microsoft.com/office/drawing/2014/main" id="{041EADEB-932C-429F-9FC5-0F88582F86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75"/>
                                        <p:tgtEl>
                                          <p:spTgt spid="47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625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5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75"/>
                                        <p:tgtEl>
                                          <p:spTgt spid="47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1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6" dur="500"/>
                                        <p:tgtEl>
                                          <p:spTgt spid="45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15" grpId="0" autoUpdateAnimBg="0"/>
      <p:bldP spid="47162" grpId="0" autoUpdateAnimBg="0"/>
      <p:bldP spid="47163" grpId="0" build="p" autoUpdateAnimBg="0"/>
      <p:bldP spid="6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2"/>
          <p:cNvSpPr txBox="1">
            <a:spLocks noChangeArrowheads="1"/>
          </p:cNvSpPr>
          <p:nvPr/>
        </p:nvSpPr>
        <p:spPr bwMode="auto">
          <a:xfrm>
            <a:off x="1468357" y="2808420"/>
            <a:ext cx="397416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3)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狭小部位尺寸的标注</a:t>
            </a:r>
          </a:p>
        </p:txBody>
      </p:sp>
      <p:sp>
        <p:nvSpPr>
          <p:cNvPr id="46084" name="Text Box 66"/>
          <p:cNvSpPr txBox="1">
            <a:spLocks noChangeArrowheads="1"/>
          </p:cNvSpPr>
          <p:nvPr/>
        </p:nvSpPr>
        <p:spPr bwMode="auto">
          <a:xfrm>
            <a:off x="1402451" y="1938263"/>
            <a:ext cx="4605447" cy="83099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/>
              <a:t>当圆弧半径过大或在图纸范围内无法注出圆心位置时的标注方法。</a:t>
            </a:r>
          </a:p>
        </p:txBody>
      </p:sp>
      <p:pic>
        <p:nvPicPr>
          <p:cNvPr id="46185" name="Picture 10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84103" y="1392614"/>
            <a:ext cx="4805376" cy="18935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7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pic>
        <p:nvPicPr>
          <p:cNvPr id="46186" name="Picture 106"/>
          <p:cNvPicPr>
            <a:picLocks noChangeAspect="1" noChangeArrowheads="1"/>
          </p:cNvPicPr>
          <p:nvPr/>
        </p:nvPicPr>
        <p:blipFill>
          <a:blip r:embed="rId3"/>
          <a:srcRect t="70547" r="11538"/>
          <a:stretch>
            <a:fillRect/>
          </a:stretch>
        </p:blipFill>
        <p:spPr bwMode="auto">
          <a:xfrm>
            <a:off x="2809852" y="5572109"/>
            <a:ext cx="6572295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9" name="Picture 106"/>
          <p:cNvPicPr>
            <a:picLocks noChangeAspect="1" noChangeArrowheads="1"/>
          </p:cNvPicPr>
          <p:nvPr/>
        </p:nvPicPr>
        <p:blipFill>
          <a:blip r:embed="rId3"/>
          <a:srcRect t="36606" b="33941"/>
          <a:stretch>
            <a:fillRect/>
          </a:stretch>
        </p:blipFill>
        <p:spPr bwMode="auto">
          <a:xfrm>
            <a:off x="2465097" y="4539725"/>
            <a:ext cx="7502751" cy="1000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0" name="Picture 106"/>
          <p:cNvPicPr>
            <a:picLocks noChangeAspect="1" noChangeArrowheads="1"/>
          </p:cNvPicPr>
          <p:nvPr/>
        </p:nvPicPr>
        <p:blipFill>
          <a:blip r:embed="rId3"/>
          <a:srcRect b="69986"/>
          <a:stretch>
            <a:fillRect/>
          </a:stretch>
        </p:blipFill>
        <p:spPr bwMode="auto">
          <a:xfrm>
            <a:off x="2432727" y="3442242"/>
            <a:ext cx="7502751" cy="101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Text Box 25">
            <a:extLst>
              <a:ext uri="{FF2B5EF4-FFF2-40B4-BE49-F238E27FC236}">
                <a16:creationId xmlns:a16="http://schemas.microsoft.com/office/drawing/2014/main" id="{225DB34A-CFD8-4DE9-9D16-F02CDD6AB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9158" y="1397689"/>
            <a:ext cx="39725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）圆、圆弧及球面尺寸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F65CBBC8-2AAF-45C0-BBC5-B9976D9801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46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75"/>
                                        <p:tgtEl>
                                          <p:spTgt spid="79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46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74" grpId="0" autoUpdateAnimBg="0"/>
      <p:bldP spid="4608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9"/>
          <p:cNvSpPr txBox="1">
            <a:spLocks noChangeArrowheads="1"/>
          </p:cNvSpPr>
          <p:nvPr/>
        </p:nvSpPr>
        <p:spPr bwMode="auto">
          <a:xfrm>
            <a:off x="2051050" y="243959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zh-CN">
              <a:latin typeface="ISOCP" pitchFamily="2" charset="0"/>
            </a:endParaRPr>
          </a:p>
        </p:txBody>
      </p:sp>
      <p:sp>
        <p:nvSpPr>
          <p:cNvPr id="47107" name="Text Box 10"/>
          <p:cNvSpPr txBox="1">
            <a:spLocks noChangeArrowheads="1"/>
          </p:cNvSpPr>
          <p:nvPr/>
        </p:nvSpPr>
        <p:spPr bwMode="auto">
          <a:xfrm>
            <a:off x="1474242" y="1416544"/>
            <a:ext cx="397416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4)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均匀分布的孔的标注</a:t>
            </a:r>
          </a:p>
        </p:txBody>
      </p:sp>
      <p:sp>
        <p:nvSpPr>
          <p:cNvPr id="177" name="矩形 176"/>
          <p:cNvSpPr/>
          <p:nvPr/>
        </p:nvSpPr>
        <p:spPr>
          <a:xfrm>
            <a:off x="1516222" y="1889773"/>
            <a:ext cx="48251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       同一个图形中，对于尺寸相同的孔，可以</a:t>
            </a:r>
            <a:r>
              <a:rPr lang="zh-CN" altLang="en-US" sz="2400" b="1" dirty="0">
                <a:solidFill>
                  <a:srgbClr val="FF0000"/>
                </a:solidFill>
              </a:rPr>
              <a:t>在一个孔上注出其尺寸和数量</a:t>
            </a:r>
            <a:r>
              <a:rPr lang="zh-CN" altLang="en-US" sz="2400" b="1" dirty="0"/>
              <a:t>。</a:t>
            </a:r>
          </a:p>
        </p:txBody>
      </p:sp>
      <p:pic>
        <p:nvPicPr>
          <p:cNvPr id="645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47965" y="1463891"/>
            <a:ext cx="2839572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0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181" name="Text Box 2"/>
          <p:cNvSpPr txBox="1">
            <a:spLocks noChangeArrowheads="1"/>
          </p:cNvSpPr>
          <p:nvPr/>
        </p:nvSpPr>
        <p:spPr bwMode="auto">
          <a:xfrm>
            <a:off x="1488108" y="3078447"/>
            <a:ext cx="4695516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800" b="1" dirty="0">
                <a:latin typeface="黑体" pitchFamily="49" charset="-122"/>
                <a:ea typeface="黑体" pitchFamily="49" charset="-122"/>
              </a:rPr>
              <a:t>5) 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</a:rPr>
              <a:t>断面为正方形结构的标注</a:t>
            </a:r>
          </a:p>
        </p:txBody>
      </p:sp>
      <p:pic>
        <p:nvPicPr>
          <p:cNvPr id="183" name="Picture 2"/>
          <p:cNvPicPr>
            <a:picLocks noChangeAspect="1" noChangeArrowheads="1"/>
          </p:cNvPicPr>
          <p:nvPr/>
        </p:nvPicPr>
        <p:blipFill>
          <a:blip r:embed="rId3"/>
          <a:srcRect r="50908"/>
          <a:stretch>
            <a:fillRect/>
          </a:stretch>
        </p:blipFill>
        <p:spPr bwMode="auto">
          <a:xfrm>
            <a:off x="2143415" y="4580016"/>
            <a:ext cx="3571900" cy="1600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2" name="Picture 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706"/>
          <a:stretch>
            <a:fillRect/>
          </a:stretch>
        </p:blipFill>
        <p:spPr bwMode="auto">
          <a:xfrm>
            <a:off x="6643365" y="4662668"/>
            <a:ext cx="3652861" cy="16301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4" name="矩形 183"/>
          <p:cNvSpPr/>
          <p:nvPr/>
        </p:nvSpPr>
        <p:spPr>
          <a:xfrm>
            <a:off x="1919536" y="3517943"/>
            <a:ext cx="439134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剖面为正方形结构</a:t>
            </a:r>
            <a:r>
              <a:rPr lang="zh-CN" altLang="en-US" sz="2400" b="1" dirty="0"/>
              <a:t>的尺寸时，可在正方形边长尺寸</a:t>
            </a:r>
            <a:r>
              <a:rPr lang="zh-CN" altLang="en-US" sz="2400" b="1" dirty="0">
                <a:solidFill>
                  <a:srgbClr val="FF0000"/>
                </a:solidFill>
              </a:rPr>
              <a:t>数字前加注符号</a:t>
            </a:r>
            <a:r>
              <a:rPr lang="en-US" sz="2400" b="1" dirty="0">
                <a:solidFill>
                  <a:srgbClr val="FF0000"/>
                </a:solidFill>
              </a:rPr>
              <a:t>“□”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1AFE96F-6671-4CA7-825A-EA783FD2DC6F}"/>
              </a:ext>
            </a:extLst>
          </p:cNvPr>
          <p:cNvSpPr/>
          <p:nvPr/>
        </p:nvSpPr>
        <p:spPr>
          <a:xfrm rot="5400000">
            <a:off x="9108921" y="1109955"/>
            <a:ext cx="591963" cy="101504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49EA79D-DFEC-4401-84E0-00C124331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6" y="814021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" dur="500"/>
                                        <p:tgtEl>
                                          <p:spTgt spid="64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7" grpId="0"/>
      <p:bldP spid="181" grpId="0"/>
      <p:bldP spid="184" grpId="0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1595441" y="1347994"/>
            <a:ext cx="2571745" cy="523220"/>
          </a:xfrm>
        </p:spPr>
        <p:txBody>
          <a:bodyPr wrap="square" anchor="t">
            <a:spAutoFit/>
          </a:bodyPr>
          <a:lstStyle/>
          <a:p>
            <a:pPr algn="l"/>
            <a:r>
              <a:rPr kumimoji="1" lang="en-US" altLang="zh-CN" sz="2800" b="1" dirty="0">
                <a:latin typeface="宋体" pitchFamily="2" charset="-122"/>
              </a:rPr>
              <a:t>6</a:t>
            </a:r>
            <a:r>
              <a:rPr kumimoji="1" lang="zh-CN" altLang="en-US" sz="2800" b="1" dirty="0">
                <a:latin typeface="宋体" pitchFamily="2" charset="-122"/>
              </a:rPr>
              <a:t>）对称机件</a:t>
            </a:r>
          </a:p>
        </p:txBody>
      </p:sp>
      <p:sp>
        <p:nvSpPr>
          <p:cNvPr id="103427" name="Rectangle 3"/>
          <p:cNvSpPr>
            <a:spLocks noChangeArrowheads="1"/>
          </p:cNvSpPr>
          <p:nvPr/>
        </p:nvSpPr>
        <p:spPr bwMode="auto">
          <a:xfrm>
            <a:off x="1055440" y="2033425"/>
            <a:ext cx="10585176" cy="92204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lIns="90000" tIns="46800" rIns="90000" bIns="46800">
            <a:spAutoFit/>
          </a:bodyPr>
          <a:lstStyle/>
          <a:p>
            <a:pPr eaLnBrk="0" hangingPunct="0">
              <a:lnSpc>
                <a:spcPct val="120000"/>
              </a:lnSpc>
            </a:pPr>
            <a:r>
              <a:rPr kumimoji="1" lang="en-US" altLang="zh-CN" sz="2400" b="1" dirty="0">
                <a:latin typeface="宋体" pitchFamily="2" charset="-122"/>
              </a:rPr>
              <a:t>    </a:t>
            </a:r>
            <a:r>
              <a:rPr kumimoji="1" lang="zh-CN" altLang="en-US" sz="2400" b="1" dirty="0">
                <a:latin typeface="宋体" pitchFamily="2" charset="-122"/>
              </a:rPr>
              <a:t>当对称机件的图形只画一半或略大于一半时，</a:t>
            </a:r>
            <a:r>
              <a:rPr kumimoji="1"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尺寸线应略超过对称中心或断裂处的边界线，</a:t>
            </a:r>
            <a:r>
              <a:rPr kumimoji="1" lang="zh-CN" altLang="en-US" sz="2400" b="1" dirty="0">
                <a:latin typeface="宋体" pitchFamily="2" charset="-122"/>
              </a:rPr>
              <a:t>并在尺寸线一端画出箭头。</a:t>
            </a:r>
          </a:p>
        </p:txBody>
      </p:sp>
      <p:pic>
        <p:nvPicPr>
          <p:cNvPr id="49156" name="Picture 5" descr="snap"/>
          <p:cNvPicPr>
            <a:picLocks noChangeAspect="1" noChangeArrowheads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6078" t="31860"/>
          <a:stretch>
            <a:fillRect/>
          </a:stretch>
        </p:blipFill>
        <p:spPr bwMode="auto">
          <a:xfrm>
            <a:off x="1055440" y="2981170"/>
            <a:ext cx="10312328" cy="3336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31"/>
          <p:cNvSpPr txBox="1">
            <a:spLocks noChangeArrowheads="1"/>
          </p:cNvSpPr>
          <p:nvPr/>
        </p:nvSpPr>
        <p:spPr bwMode="auto">
          <a:xfrm>
            <a:off x="2881314" y="71415"/>
            <a:ext cx="5786437" cy="584775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3200" b="1" dirty="0">
                <a:latin typeface="黑体" pitchFamily="49" charset="-122"/>
                <a:ea typeface="黑体" pitchFamily="49" charset="-122"/>
              </a:rPr>
              <a:t>制图的基础知识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4104B818-06AC-4EDC-9143-22EE589B0B09}"/>
              </a:ext>
            </a:extLst>
          </p:cNvPr>
          <p:cNvSpPr/>
          <p:nvPr/>
        </p:nvSpPr>
        <p:spPr>
          <a:xfrm>
            <a:off x="1119593" y="5372549"/>
            <a:ext cx="951696" cy="11527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F9A6CA7-D4AF-496D-AB6A-8BAE4C1E34BF}"/>
              </a:ext>
            </a:extLst>
          </p:cNvPr>
          <p:cNvSpPr/>
          <p:nvPr/>
        </p:nvSpPr>
        <p:spPr>
          <a:xfrm>
            <a:off x="4943872" y="5372548"/>
            <a:ext cx="951696" cy="11527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788DB37-8A3D-4B50-A59B-0B6BC0415C63}"/>
              </a:ext>
            </a:extLst>
          </p:cNvPr>
          <p:cNvSpPr/>
          <p:nvPr/>
        </p:nvSpPr>
        <p:spPr>
          <a:xfrm>
            <a:off x="10515686" y="3770522"/>
            <a:ext cx="951696" cy="115279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283C2FA1-6091-47CA-8439-2C05B5B3CE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4165" y="844903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27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1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3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27" grpId="0" autoUpdateAnimBg="0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525"/>
          <p:cNvSpPr txBox="1">
            <a:spLocks noChangeArrowheads="1"/>
          </p:cNvSpPr>
          <p:nvPr/>
        </p:nvSpPr>
        <p:spPr bwMode="auto">
          <a:xfrm>
            <a:off x="1177421" y="2306167"/>
            <a:ext cx="464857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⑴  </a:t>
            </a:r>
            <a:r>
              <a:rPr kumimoji="1" lang="zh-CN" altLang="en-US" sz="2400" b="1" dirty="0">
                <a:latin typeface="Times New Roman" pitchFamily="18" charset="0"/>
              </a:rPr>
              <a:t>确定尺寸基准 </a:t>
            </a:r>
            <a:endParaRPr kumimoji="1" lang="en-US" altLang="zh-CN" sz="2400" b="1" dirty="0">
              <a:latin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     </a:t>
            </a:r>
            <a:r>
              <a:rPr kumimoji="1" lang="zh-CN" altLang="en-US" sz="2400" b="1" dirty="0">
                <a:latin typeface="Times New Roman" pitchFamily="18" charset="0"/>
              </a:rPr>
              <a:t>图形的对称中心线，较大圆的</a:t>
            </a:r>
            <a:endParaRPr kumimoji="1" lang="en-US" altLang="zh-CN" sz="2400" b="1" dirty="0">
              <a:latin typeface="Times New Roman" pitchFamily="18" charset="0"/>
            </a:endParaRPr>
          </a:p>
          <a:p>
            <a:pPr>
              <a:spcBef>
                <a:spcPts val="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     </a:t>
            </a:r>
            <a:r>
              <a:rPr kumimoji="1" lang="zh-CN" altLang="en-US" sz="2400" b="1" dirty="0">
                <a:latin typeface="Times New Roman" pitchFamily="18" charset="0"/>
              </a:rPr>
              <a:t>中心线或较长的直线</a:t>
            </a:r>
            <a:r>
              <a:rPr kumimoji="1" lang="zh-CN" altLang="en-US" sz="2400" b="1" i="1" dirty="0">
                <a:latin typeface="Times New Roman" pitchFamily="18" charset="0"/>
              </a:rPr>
              <a:t>。</a:t>
            </a:r>
          </a:p>
        </p:txBody>
      </p:sp>
      <p:sp>
        <p:nvSpPr>
          <p:cNvPr id="3" name="Text Box 2537"/>
          <p:cNvSpPr txBox="1">
            <a:spLocks noChangeArrowheads="1"/>
          </p:cNvSpPr>
          <p:nvPr/>
        </p:nvSpPr>
        <p:spPr bwMode="auto">
          <a:xfrm>
            <a:off x="1131058" y="4653136"/>
            <a:ext cx="5009868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⑶ </a:t>
            </a:r>
            <a:r>
              <a:rPr kumimoji="1" lang="zh-CN" altLang="en-US" sz="2400" b="1" dirty="0">
                <a:latin typeface="Times New Roman" pitchFamily="18" charset="0"/>
              </a:rPr>
              <a:t>注出定形尺寸</a:t>
            </a:r>
            <a:endParaRPr kumimoji="1" lang="en-US" altLang="zh-CN" sz="2400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    </a:t>
            </a:r>
            <a:r>
              <a:rPr kumimoji="1" lang="zh-CN" altLang="en-US" sz="2400" b="1" dirty="0">
                <a:latin typeface="Times New Roman" pitchFamily="18" charset="0"/>
              </a:rPr>
              <a:t>确定线段或线框形状大小的尺寸。</a:t>
            </a:r>
          </a:p>
        </p:txBody>
      </p:sp>
      <p:sp>
        <p:nvSpPr>
          <p:cNvPr id="4" name="Text Box 2575"/>
          <p:cNvSpPr txBox="1">
            <a:spLocks noChangeArrowheads="1"/>
          </p:cNvSpPr>
          <p:nvPr/>
        </p:nvSpPr>
        <p:spPr bwMode="auto">
          <a:xfrm>
            <a:off x="1169588" y="3506496"/>
            <a:ext cx="4843939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⑵ </a:t>
            </a:r>
            <a:r>
              <a:rPr kumimoji="1" lang="zh-CN" altLang="en-US" sz="2400" b="1" dirty="0">
                <a:latin typeface="Times New Roman" pitchFamily="18" charset="0"/>
              </a:rPr>
              <a:t>注出定位尺寸</a:t>
            </a:r>
            <a:endParaRPr kumimoji="1" lang="en-US" altLang="zh-CN" sz="2400" b="1" dirty="0">
              <a:latin typeface="Times New Roman" pitchFamily="18" charset="0"/>
            </a:endParaRPr>
          </a:p>
          <a:p>
            <a:pPr>
              <a:spcBef>
                <a:spcPct val="50000"/>
              </a:spcBef>
            </a:pPr>
            <a:r>
              <a:rPr kumimoji="1" lang="en-US" altLang="zh-CN" sz="2400" b="1" dirty="0">
                <a:latin typeface="Times New Roman" pitchFamily="18" charset="0"/>
              </a:rPr>
              <a:t>    </a:t>
            </a:r>
            <a:r>
              <a:rPr kumimoji="1" lang="zh-CN" altLang="en-US" sz="2400" b="1" dirty="0">
                <a:latin typeface="Times New Roman" pitchFamily="18" charset="0"/>
              </a:rPr>
              <a:t>确定线段或线框相对位置的尺寸。</a:t>
            </a:r>
          </a:p>
        </p:txBody>
      </p:sp>
      <p:sp>
        <p:nvSpPr>
          <p:cNvPr id="5" name="Text Box 2590"/>
          <p:cNvSpPr txBox="1">
            <a:spLocks noChangeArrowheads="1"/>
          </p:cNvSpPr>
          <p:nvPr/>
        </p:nvSpPr>
        <p:spPr bwMode="auto">
          <a:xfrm>
            <a:off x="1235562" y="1526961"/>
            <a:ext cx="4929201" cy="519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黑体" pitchFamily="49" charset="-122"/>
                <a:ea typeface="黑体" pitchFamily="49" charset="-122"/>
              </a:rPr>
              <a:t>常见平面图形尺寸标注示例：</a:t>
            </a:r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14602" y="2135688"/>
            <a:ext cx="2924175" cy="197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6564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886010" y="2154739"/>
            <a:ext cx="29718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371784" y="3791143"/>
            <a:ext cx="2038350" cy="70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633037" y="2561457"/>
            <a:ext cx="600075" cy="1104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52694" y="3564447"/>
            <a:ext cx="264795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272035" y="2263324"/>
            <a:ext cx="1381125" cy="176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593586" y="1893752"/>
            <a:ext cx="1066800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981388" y="2350001"/>
            <a:ext cx="1143000" cy="140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631686" y="3610168"/>
            <a:ext cx="8382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5" name="Rectangle 2">
            <a:extLst>
              <a:ext uri="{FF2B5EF4-FFF2-40B4-BE49-F238E27FC236}">
                <a16:creationId xmlns:a16="http://schemas.microsoft.com/office/drawing/2014/main" id="{42C2B73A-8E08-4552-B3B9-C23B6142CA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6466" y="589590"/>
            <a:ext cx="6143668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l" eaLnBrk="1" hangingPunct="1"/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尺寸注法（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GB/T 4458.4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－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2003)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13" dur="1000"/>
                                        <p:tgtEl>
                                          <p:spTgt spid="66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autoUpdateAnimBg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CORM_RATE_SLIDES" val="0"/>
  <p:tag name="ISPRING_SCORM_RATE_QUIZZES" val="0"/>
  <p:tag name="ISPRING_SCORM_PASSING_SCORE" val="0.0000000000"/>
  <p:tag name="ISPRING_RESOURCE_PATHS_HASH_2" val="d9fc58be2e314174ea807a26ebe7aad20cbc28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MA"/>
  <p:tag name="PROBLEMSCORE_HALF" val="0.0"/>
  <p:tag name="PROBLEMSCORE" val="2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noFill/>
          <a:miter lim="800000"/>
          <a:headEnd/>
          <a:tailEnd/>
        </a:ln>
      </a:spPr>
      <a:bodyPr wrap="square">
        <a:spAutoFit/>
      </a:bodyPr>
      <a:lstStyle>
        <a:defPPr algn="l" eaLnBrk="0" hangingPunct="0">
          <a:lnSpc>
            <a:spcPct val="150000"/>
          </a:lnSpc>
          <a:defRPr kumimoji="1" sz="2400" b="1" dirty="0" smtClean="0">
            <a:latin typeface="宋体" pitchFamily="2" charset="-122"/>
          </a:defRPr>
        </a:defPPr>
      </a:lst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1250</TotalTime>
  <Words>1237</Words>
  <Application>Microsoft Office PowerPoint</Application>
  <PresentationFormat>宽屏</PresentationFormat>
  <Paragraphs>150</Paragraphs>
  <Slides>19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0" baseType="lpstr">
      <vt:lpstr>方正隶书简体</vt:lpstr>
      <vt:lpstr>黑体</vt:lpstr>
      <vt:lpstr>华文行楷</vt:lpstr>
      <vt:lpstr>宋体</vt:lpstr>
      <vt:lpstr>Microsoft Yahei</vt:lpstr>
      <vt:lpstr>Arial</vt:lpstr>
      <vt:lpstr>Calibri</vt:lpstr>
      <vt:lpstr>ISOCP</vt:lpstr>
      <vt:lpstr>ISOCPEUR</vt:lpstr>
      <vt:lpstr>Times New Roman</vt:lpstr>
      <vt:lpstr>1_Office 主题</vt:lpstr>
      <vt:lpstr>尺寸注法（GB/T 4458.4－2003)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6）对称机件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制图的基础知识</dc:title>
  <dc:creator>穆浩志</dc:creator>
  <cp:keywords>天津理工大学</cp:keywords>
  <cp:lastModifiedBy>Lenovo</cp:lastModifiedBy>
  <cp:revision>110</cp:revision>
  <dcterms:created xsi:type="dcterms:W3CDTF">2014-03-20T09:34:50Z</dcterms:created>
  <dcterms:modified xsi:type="dcterms:W3CDTF">2021-09-27T01:18:04Z</dcterms:modified>
</cp:coreProperties>
</file>
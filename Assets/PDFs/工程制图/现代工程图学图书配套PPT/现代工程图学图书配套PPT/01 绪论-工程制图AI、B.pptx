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89" r:id="rId1"/>
    <p:sldMasterId id="2147484221" r:id="rId2"/>
  </p:sldMasterIdLst>
  <p:notesMasterIdLst>
    <p:notesMasterId r:id="rId28"/>
  </p:notesMasterIdLst>
  <p:handoutMasterIdLst>
    <p:handoutMasterId r:id="rId29"/>
  </p:handoutMasterIdLst>
  <p:sldIdLst>
    <p:sldId id="443" r:id="rId3"/>
    <p:sldId id="460" r:id="rId4"/>
    <p:sldId id="461" r:id="rId5"/>
    <p:sldId id="449" r:id="rId6"/>
    <p:sldId id="420" r:id="rId7"/>
    <p:sldId id="450" r:id="rId8"/>
    <p:sldId id="451" r:id="rId9"/>
    <p:sldId id="452" r:id="rId10"/>
    <p:sldId id="453" r:id="rId11"/>
    <p:sldId id="454" r:id="rId12"/>
    <p:sldId id="408" r:id="rId13"/>
    <p:sldId id="455" r:id="rId14"/>
    <p:sldId id="411" r:id="rId15"/>
    <p:sldId id="376" r:id="rId16"/>
    <p:sldId id="370" r:id="rId17"/>
    <p:sldId id="436" r:id="rId18"/>
    <p:sldId id="441" r:id="rId19"/>
    <p:sldId id="456" r:id="rId20"/>
    <p:sldId id="459" r:id="rId21"/>
    <p:sldId id="457" r:id="rId22"/>
    <p:sldId id="458" r:id="rId23"/>
    <p:sldId id="446" r:id="rId24"/>
    <p:sldId id="444" r:id="rId25"/>
    <p:sldId id="341" r:id="rId26"/>
    <p:sldId id="445" r:id="rId27"/>
  </p:sldIdLst>
  <p:sldSz cx="12192000" cy="6858000"/>
  <p:notesSz cx="6858000" cy="9144000"/>
  <p:custDataLst>
    <p:tags r:id="rId30"/>
  </p:custDataLst>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modifyVerifier cryptProviderType="rsaFull" cryptAlgorithmClass="hash" cryptAlgorithmType="typeAny" cryptAlgorithmSid="4" spinCount="50000" saltData="b0IegyQ8FNpd4o2zP4y0PA==" hashData="3L7WIlCLwsMzkRiBJPuNzEl+7V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FFE07D"/>
    <a:srgbClr val="DD4609"/>
    <a:srgbClr val="2DF3F3"/>
    <a:srgbClr val="99FF33"/>
    <a:srgbClr val="CC33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2" autoAdjust="0"/>
    <p:restoredTop sz="94620" autoAdjust="0"/>
  </p:normalViewPr>
  <p:slideViewPr>
    <p:cSldViewPr>
      <p:cViewPr varScale="1">
        <p:scale>
          <a:sx n="81" d="100"/>
          <a:sy n="81" d="100"/>
        </p:scale>
        <p:origin x="168"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1" d="100"/>
          <a:sy n="61" d="100"/>
        </p:scale>
        <p:origin x="-2466"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ags" Target="tags/tag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4505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4506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4506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C2FCA6B9-029F-4D74-9314-253FA2474499}" type="slidenum">
              <a:rPr lang="en-US" altLang="zh-CN"/>
              <a:pPr>
                <a:defRPr/>
              </a:pPr>
              <a:t>‹#›</a:t>
            </a:fld>
            <a:endParaRPr lang="en-US" altLang="zh-CN"/>
          </a:p>
        </p:txBody>
      </p:sp>
    </p:spTree>
    <p:extLst>
      <p:ext uri="{BB962C8B-B14F-4D97-AF65-F5344CB8AC3E}">
        <p14:creationId xmlns:p14="http://schemas.microsoft.com/office/powerpoint/2010/main" val="4119305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宋体"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宋体" pitchFamily="2" charset="-122"/>
              </a:defRPr>
            </a:lvl1pPr>
          </a:lstStyle>
          <a:p>
            <a:pPr>
              <a:defRPr/>
            </a:pPr>
            <a:fld id="{DFC1BD92-08EE-4203-8502-ADEFDBEF7F9E}" type="datetimeFigureOut">
              <a:rPr lang="zh-CN" altLang="en-US"/>
              <a:pPr>
                <a:defRPr/>
              </a:pPr>
              <a:t>2022/9/8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宋体"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宋体" pitchFamily="2" charset="-122"/>
              </a:defRPr>
            </a:lvl1pPr>
          </a:lstStyle>
          <a:p>
            <a:pPr>
              <a:defRPr/>
            </a:pPr>
            <a:fld id="{94310425-CB71-4E10-B193-2CD82AED180B}" type="slidenum">
              <a:rPr lang="zh-CN" altLang="en-US"/>
              <a:pPr>
                <a:defRPr/>
              </a:pPr>
              <a:t>‹#›</a:t>
            </a:fld>
            <a:endParaRPr lang="zh-CN" altLang="en-US"/>
          </a:p>
        </p:txBody>
      </p:sp>
    </p:spTree>
    <p:extLst>
      <p:ext uri="{BB962C8B-B14F-4D97-AF65-F5344CB8AC3E}">
        <p14:creationId xmlns:p14="http://schemas.microsoft.com/office/powerpoint/2010/main" val="2254541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789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06C3E8C-995D-49CC-B4EF-DA1C8382D25E}" type="slidenum">
              <a:rPr lang="zh-CN" altLang="en-US" smtClean="0"/>
              <a:pPr/>
              <a:t>1</a:t>
            </a:fld>
            <a:endParaRPr lang="zh-CN" altLang="en-US"/>
          </a:p>
        </p:txBody>
      </p:sp>
    </p:spTree>
    <p:extLst>
      <p:ext uri="{BB962C8B-B14F-4D97-AF65-F5344CB8AC3E}">
        <p14:creationId xmlns:p14="http://schemas.microsoft.com/office/powerpoint/2010/main" val="2055743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789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06C3E8C-995D-49CC-B4EF-DA1C8382D25E}" type="slidenum">
              <a:rPr lang="zh-CN" altLang="en-US" smtClean="0"/>
              <a:pPr/>
              <a:t>2</a:t>
            </a:fld>
            <a:endParaRPr lang="zh-CN" altLang="en-US"/>
          </a:p>
        </p:txBody>
      </p:sp>
    </p:spTree>
    <p:extLst>
      <p:ext uri="{BB962C8B-B14F-4D97-AF65-F5344CB8AC3E}">
        <p14:creationId xmlns:p14="http://schemas.microsoft.com/office/powerpoint/2010/main" val="3780289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789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06C3E8C-995D-49CC-B4EF-DA1C8382D25E}" type="slidenum">
              <a:rPr lang="zh-CN" altLang="en-US" smtClean="0"/>
              <a:pPr/>
              <a:t>3</a:t>
            </a:fld>
            <a:endParaRPr lang="zh-CN" altLang="en-US"/>
          </a:p>
        </p:txBody>
      </p:sp>
    </p:spTree>
    <p:extLst>
      <p:ext uri="{BB962C8B-B14F-4D97-AF65-F5344CB8AC3E}">
        <p14:creationId xmlns:p14="http://schemas.microsoft.com/office/powerpoint/2010/main" val="3439898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789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06C3E8C-995D-49CC-B4EF-DA1C8382D25E}" type="slidenum">
              <a:rPr lang="zh-CN" altLang="en-US" smtClean="0"/>
              <a:pPr/>
              <a:t>4</a:t>
            </a:fld>
            <a:endParaRPr lang="zh-CN" altLang="en-US"/>
          </a:p>
        </p:txBody>
      </p:sp>
    </p:spTree>
    <p:extLst>
      <p:ext uri="{BB962C8B-B14F-4D97-AF65-F5344CB8AC3E}">
        <p14:creationId xmlns:p14="http://schemas.microsoft.com/office/powerpoint/2010/main" val="1078658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891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8916"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96BAC53-FC57-4115-9182-28BAF8BA10D4}" type="slidenum">
              <a:rPr lang="zh-CN" altLang="en-US" smtClean="0"/>
              <a:pPr/>
              <a:t>5</a:t>
            </a:fld>
            <a:endParaRPr lang="zh-CN" altLang="en-US"/>
          </a:p>
        </p:txBody>
      </p:sp>
    </p:spTree>
    <p:extLst>
      <p:ext uri="{BB962C8B-B14F-4D97-AF65-F5344CB8AC3E}">
        <p14:creationId xmlns:p14="http://schemas.microsoft.com/office/powerpoint/2010/main" val="756385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789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06C3E8C-995D-49CC-B4EF-DA1C8382D25E}" type="slidenum">
              <a:rPr lang="zh-CN" altLang="en-US" smtClean="0"/>
              <a:pPr/>
              <a:t>6</a:t>
            </a:fld>
            <a:endParaRPr lang="zh-CN" altLang="en-US"/>
          </a:p>
        </p:txBody>
      </p:sp>
    </p:spTree>
    <p:extLst>
      <p:ext uri="{BB962C8B-B14F-4D97-AF65-F5344CB8AC3E}">
        <p14:creationId xmlns:p14="http://schemas.microsoft.com/office/powerpoint/2010/main" val="1643669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789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06C3E8C-995D-49CC-B4EF-DA1C8382D25E}" type="slidenum">
              <a:rPr lang="zh-CN" altLang="en-US" smtClean="0"/>
              <a:pPr/>
              <a:t>7</a:t>
            </a:fld>
            <a:endParaRPr lang="zh-CN" altLang="en-US"/>
          </a:p>
        </p:txBody>
      </p:sp>
    </p:spTree>
    <p:extLst>
      <p:ext uri="{BB962C8B-B14F-4D97-AF65-F5344CB8AC3E}">
        <p14:creationId xmlns:p14="http://schemas.microsoft.com/office/powerpoint/2010/main" val="32853978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789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06C3E8C-995D-49CC-B4EF-DA1C8382D25E}" type="slidenum">
              <a:rPr lang="zh-CN" altLang="en-US" smtClean="0"/>
              <a:pPr/>
              <a:t>8</a:t>
            </a:fld>
            <a:endParaRPr lang="zh-CN" altLang="en-US"/>
          </a:p>
        </p:txBody>
      </p:sp>
    </p:spTree>
    <p:extLst>
      <p:ext uri="{BB962C8B-B14F-4D97-AF65-F5344CB8AC3E}">
        <p14:creationId xmlns:p14="http://schemas.microsoft.com/office/powerpoint/2010/main" val="1532712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789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06C3E8C-995D-49CC-B4EF-DA1C8382D25E}" type="slidenum">
              <a:rPr lang="zh-CN" altLang="en-US" smtClean="0"/>
              <a:pPr/>
              <a:t>9</a:t>
            </a:fld>
            <a:endParaRPr lang="zh-CN" altLang="en-US"/>
          </a:p>
        </p:txBody>
      </p:sp>
    </p:spTree>
    <p:extLst>
      <p:ext uri="{BB962C8B-B14F-4D97-AF65-F5344CB8AC3E}">
        <p14:creationId xmlns:p14="http://schemas.microsoft.com/office/powerpoint/2010/main" val="4244115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789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06C3E8C-995D-49CC-B4EF-DA1C8382D25E}" type="slidenum">
              <a:rPr lang="zh-CN" altLang="en-US" smtClean="0"/>
              <a:pPr/>
              <a:t>10</a:t>
            </a:fld>
            <a:endParaRPr lang="zh-CN" altLang="en-US"/>
          </a:p>
        </p:txBody>
      </p:sp>
    </p:spTree>
    <p:extLst>
      <p:ext uri="{BB962C8B-B14F-4D97-AF65-F5344CB8AC3E}">
        <p14:creationId xmlns:p14="http://schemas.microsoft.com/office/powerpoint/2010/main" val="659151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505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506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4DFC934-C11D-4493-B5BC-D63A0EF56AE2}" type="slidenum">
              <a:rPr lang="zh-CN" altLang="en-US" smtClean="0"/>
              <a:pPr/>
              <a:t>11</a:t>
            </a:fld>
            <a:endParaRPr lang="en-US" altLang="zh-CN"/>
          </a:p>
        </p:txBody>
      </p:sp>
    </p:spTree>
    <p:extLst>
      <p:ext uri="{BB962C8B-B14F-4D97-AF65-F5344CB8AC3E}">
        <p14:creationId xmlns:p14="http://schemas.microsoft.com/office/powerpoint/2010/main" val="10661344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60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608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B9A9556-48D8-4F95-B8A9-2DEA2ACD6B5B}" type="slidenum">
              <a:rPr lang="zh-CN" altLang="en-US" smtClean="0"/>
              <a:pPr/>
              <a:t>12</a:t>
            </a:fld>
            <a:endParaRPr lang="zh-CN" altLang="en-US"/>
          </a:p>
        </p:txBody>
      </p:sp>
    </p:spTree>
    <p:extLst>
      <p:ext uri="{BB962C8B-B14F-4D97-AF65-F5344CB8AC3E}">
        <p14:creationId xmlns:p14="http://schemas.microsoft.com/office/powerpoint/2010/main" val="1414544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60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608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B9A9556-48D8-4F95-B8A9-2DEA2ACD6B5B}" type="slidenum">
              <a:rPr lang="zh-CN" altLang="en-US" smtClean="0"/>
              <a:pPr/>
              <a:t>13</a:t>
            </a:fld>
            <a:endParaRPr lang="zh-CN" altLang="en-US"/>
          </a:p>
        </p:txBody>
      </p:sp>
    </p:spTree>
    <p:extLst>
      <p:ext uri="{BB962C8B-B14F-4D97-AF65-F5344CB8AC3E}">
        <p14:creationId xmlns:p14="http://schemas.microsoft.com/office/powerpoint/2010/main" val="2456701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710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7108"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961449A-5BB8-4218-BBD2-2300927EB50A}" type="slidenum">
              <a:rPr lang="zh-CN" altLang="en-US" smtClean="0"/>
              <a:pPr/>
              <a:t>14</a:t>
            </a:fld>
            <a:endParaRPr lang="zh-CN" altLang="en-US"/>
          </a:p>
        </p:txBody>
      </p:sp>
    </p:spTree>
    <p:extLst>
      <p:ext uri="{BB962C8B-B14F-4D97-AF65-F5344CB8AC3E}">
        <p14:creationId xmlns:p14="http://schemas.microsoft.com/office/powerpoint/2010/main" val="11066320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813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813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9CF5501-A0ED-42F2-A47C-925EB9FDD44B}" type="slidenum">
              <a:rPr lang="zh-CN" altLang="en-US" smtClean="0"/>
              <a:pPr/>
              <a:t>15</a:t>
            </a:fld>
            <a:endParaRPr lang="zh-CN" altLang="en-US"/>
          </a:p>
        </p:txBody>
      </p:sp>
    </p:spTree>
    <p:extLst>
      <p:ext uri="{BB962C8B-B14F-4D97-AF65-F5344CB8AC3E}">
        <p14:creationId xmlns:p14="http://schemas.microsoft.com/office/powerpoint/2010/main" val="22434702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915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9156"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B042DEA-84BC-4A20-8BE5-FDA21ED067C5}" type="slidenum">
              <a:rPr lang="zh-CN" altLang="en-US" smtClean="0"/>
              <a:pPr/>
              <a:t>16</a:t>
            </a:fld>
            <a:endParaRPr lang="zh-CN" altLang="en-US"/>
          </a:p>
        </p:txBody>
      </p:sp>
    </p:spTree>
    <p:extLst>
      <p:ext uri="{BB962C8B-B14F-4D97-AF65-F5344CB8AC3E}">
        <p14:creationId xmlns:p14="http://schemas.microsoft.com/office/powerpoint/2010/main" val="36110264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94310425-CB71-4E10-B193-2CD82AED180B}" type="slidenum">
              <a:rPr lang="zh-CN" altLang="en-US" smtClean="0"/>
              <a:pPr>
                <a:defRPr/>
              </a:pPr>
              <a:t>17</a:t>
            </a:fld>
            <a:endParaRPr lang="zh-CN" altLang="en-US"/>
          </a:p>
        </p:txBody>
      </p:sp>
    </p:spTree>
    <p:extLst>
      <p:ext uri="{BB962C8B-B14F-4D97-AF65-F5344CB8AC3E}">
        <p14:creationId xmlns:p14="http://schemas.microsoft.com/office/powerpoint/2010/main" val="16526656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12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5120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5625DEF-729A-4ACD-BA32-28E9C9691ADA}" type="slidenum">
              <a:rPr lang="zh-CN" altLang="en-US" smtClean="0"/>
              <a:pPr/>
              <a:t>18</a:t>
            </a:fld>
            <a:endParaRPr lang="en-US" altLang="zh-CN"/>
          </a:p>
        </p:txBody>
      </p:sp>
    </p:spTree>
    <p:extLst>
      <p:ext uri="{BB962C8B-B14F-4D97-AF65-F5344CB8AC3E}">
        <p14:creationId xmlns:p14="http://schemas.microsoft.com/office/powerpoint/2010/main" val="29262134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12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5120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5625DEF-729A-4ACD-BA32-28E9C9691ADA}" type="slidenum">
              <a:rPr lang="zh-CN" altLang="en-US" smtClean="0"/>
              <a:pPr/>
              <a:t>19</a:t>
            </a:fld>
            <a:endParaRPr lang="en-US" altLang="zh-CN"/>
          </a:p>
        </p:txBody>
      </p:sp>
    </p:spTree>
    <p:extLst>
      <p:ext uri="{BB962C8B-B14F-4D97-AF65-F5344CB8AC3E}">
        <p14:creationId xmlns:p14="http://schemas.microsoft.com/office/powerpoint/2010/main" val="2084538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12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5120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5625DEF-729A-4ACD-BA32-28E9C9691ADA}" type="slidenum">
              <a:rPr lang="zh-CN" altLang="en-US" smtClean="0"/>
              <a:pPr/>
              <a:t>20</a:t>
            </a:fld>
            <a:endParaRPr lang="en-US" altLang="zh-CN"/>
          </a:p>
        </p:txBody>
      </p:sp>
    </p:spTree>
    <p:extLst>
      <p:ext uri="{BB962C8B-B14F-4D97-AF65-F5344CB8AC3E}">
        <p14:creationId xmlns:p14="http://schemas.microsoft.com/office/powerpoint/2010/main" val="16509964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12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5120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5625DEF-729A-4ACD-BA32-28E9C9691ADA}" type="slidenum">
              <a:rPr lang="zh-CN" altLang="en-US" smtClean="0"/>
              <a:pPr/>
              <a:t>21</a:t>
            </a:fld>
            <a:endParaRPr lang="en-US" altLang="zh-CN"/>
          </a:p>
        </p:txBody>
      </p:sp>
    </p:spTree>
    <p:extLst>
      <p:ext uri="{BB962C8B-B14F-4D97-AF65-F5344CB8AC3E}">
        <p14:creationId xmlns:p14="http://schemas.microsoft.com/office/powerpoint/2010/main" val="20191232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789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06C3E8C-995D-49CC-B4EF-DA1C8382D25E}" type="slidenum">
              <a:rPr lang="zh-CN" altLang="en-US" smtClean="0"/>
              <a:pPr/>
              <a:t>22</a:t>
            </a:fld>
            <a:endParaRPr lang="zh-CN" altLang="en-US"/>
          </a:p>
        </p:txBody>
      </p:sp>
    </p:spTree>
    <p:extLst>
      <p:ext uri="{BB962C8B-B14F-4D97-AF65-F5344CB8AC3E}">
        <p14:creationId xmlns:p14="http://schemas.microsoft.com/office/powerpoint/2010/main" val="5374752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789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06C3E8C-995D-49CC-B4EF-DA1C8382D25E}" type="slidenum">
              <a:rPr lang="zh-CN" altLang="en-US" smtClean="0"/>
              <a:pPr/>
              <a:t>23</a:t>
            </a:fld>
            <a:endParaRPr lang="zh-CN" altLang="en-US"/>
          </a:p>
        </p:txBody>
      </p:sp>
    </p:spTree>
    <p:extLst>
      <p:ext uri="{BB962C8B-B14F-4D97-AF65-F5344CB8AC3E}">
        <p14:creationId xmlns:p14="http://schemas.microsoft.com/office/powerpoint/2010/main" val="29463526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325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5325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9CA9D72-55EA-4B28-90A5-81F0CE632474}" type="slidenum">
              <a:rPr lang="zh-CN" altLang="en-US" smtClean="0"/>
              <a:pPr/>
              <a:t>24</a:t>
            </a:fld>
            <a:endParaRPr lang="zh-CN" altLang="en-US"/>
          </a:p>
        </p:txBody>
      </p:sp>
    </p:spTree>
    <p:extLst>
      <p:ext uri="{BB962C8B-B14F-4D97-AF65-F5344CB8AC3E}">
        <p14:creationId xmlns:p14="http://schemas.microsoft.com/office/powerpoint/2010/main" val="39349097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789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06C3E8C-995D-49CC-B4EF-DA1C8382D25E}" type="slidenum">
              <a:rPr lang="zh-CN" altLang="en-US" smtClean="0"/>
              <a:pPr/>
              <a:t>25</a:t>
            </a:fld>
            <a:endParaRPr lang="zh-CN" altLang="en-US"/>
          </a:p>
        </p:txBody>
      </p:sp>
    </p:spTree>
    <p:extLst>
      <p:ext uri="{BB962C8B-B14F-4D97-AF65-F5344CB8AC3E}">
        <p14:creationId xmlns:p14="http://schemas.microsoft.com/office/powerpoint/2010/main" val="3215367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4165600" y="6356351"/>
            <a:ext cx="3860800" cy="365125"/>
          </a:xfrm>
          <a:prstGeom prst="rect">
            <a:avLst/>
          </a:prstGeo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lvl1pPr>
              <a:defRPr/>
            </a:lvl1pPr>
          </a:lstStyle>
          <a:p>
            <a:pPr>
              <a:defRPr/>
            </a:pPr>
            <a:fld id="{5968C8F5-B8ED-4695-9DEE-DB2C0DB78335}"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lvl1pPr>
              <a:defRPr/>
            </a:lvl1pPr>
          </a:lstStyle>
          <a:p>
            <a:pPr>
              <a:defRPr/>
            </a:pPr>
            <a:endParaRPr lang="en-US" altLang="zh-CN"/>
          </a:p>
        </p:txBody>
      </p:sp>
      <p:sp>
        <p:nvSpPr>
          <p:cNvPr id="3" name="页脚占位符 2"/>
          <p:cNvSpPr>
            <a:spLocks noGrp="1"/>
          </p:cNvSpPr>
          <p:nvPr>
            <p:ph type="ftr" sz="quarter" idx="11"/>
          </p:nvPr>
        </p:nvSpPr>
        <p:spPr>
          <a:xfrm>
            <a:off x="4165600" y="6356351"/>
            <a:ext cx="3860800" cy="365125"/>
          </a:xfrm>
          <a:prstGeom prst="rect">
            <a:avLst/>
          </a:prstGeom>
        </p:spPr>
        <p:txBody>
          <a:bodyPr/>
          <a:lstStyle>
            <a:lvl1pPr>
              <a:defRPr/>
            </a:lvl1pPr>
          </a:lstStyle>
          <a:p>
            <a:pPr>
              <a:defRPr/>
            </a:pPr>
            <a:endParaRPr lang="en-US" altLang="zh-CN"/>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lvl1pPr>
              <a:defRPr/>
            </a:lvl1pPr>
          </a:lstStyle>
          <a:p>
            <a:pPr>
              <a:defRPr/>
            </a:pPr>
            <a:fld id="{858B321F-620A-47AF-A76F-05B185989EAF}"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lvl1pPr>
          </a:lstStyle>
          <a:p>
            <a:pPr>
              <a:defRPr/>
            </a:pPr>
            <a:fld id="{547676FB-33EE-4F78-AE04-BB70DE18AAA9}"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3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lvl1pPr>
          </a:lstStyle>
          <a:p>
            <a:pPr>
              <a:defRPr/>
            </a:pPr>
            <a:fld id="{4E66082E-614E-4921-BDB1-3B98B54BD8D6}"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4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lvl1pPr>
          </a:lstStyle>
          <a:p>
            <a:pPr>
              <a:defRPr/>
            </a:pPr>
            <a:fld id="{A0B04789-0DE5-4323-9BA2-362C9CEA804E}"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8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lvl1pPr>
          </a:lstStyle>
          <a:p>
            <a:pPr>
              <a:defRPr/>
            </a:pPr>
            <a:fld id="{6D768911-2233-4DF2-8267-8D0C9E5D6B34}"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0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lvl1pPr>
          </a:lstStyle>
          <a:p>
            <a:pPr>
              <a:defRPr/>
            </a:pPr>
            <a:fld id="{D4F4381D-4F2B-4CB3-BF5F-F355C169514A}"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lvl1pPr>
          </a:lstStyle>
          <a:p>
            <a:pPr>
              <a:defRPr/>
            </a:pPr>
            <a:fld id="{F6E9FE91-B57F-4A86-81B2-5C30F4711477}"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8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rtlCol="0"/>
          <a:lstStyle>
            <a:lvl1pPr>
              <a:defRPr/>
            </a:lvl1pPr>
          </a:lstStyle>
          <a:p>
            <a:pPr>
              <a:defRPr/>
            </a:pPr>
            <a:fld id="{7BCE536A-2F8C-4F6F-A38A-DC231D8E975C}" type="slidenum">
              <a:rPr lang="en-US" altLang="zh-CN"/>
              <a:pPr>
                <a:defRPr/>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47700" y="14287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609600" y="197485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 name="Rectangle 2"/>
          <p:cNvSpPr>
            <a:spLocks noChangeArrowheads="1"/>
          </p:cNvSpPr>
          <p:nvPr userDrawn="1"/>
        </p:nvSpPr>
        <p:spPr bwMode="ltGray">
          <a:xfrm>
            <a:off x="556684" y="679451"/>
            <a:ext cx="584200" cy="473075"/>
          </a:xfrm>
          <a:prstGeom prst="rect">
            <a:avLst/>
          </a:prstGeom>
          <a:solidFill>
            <a:schemeClr val="accent2"/>
          </a:solidFill>
          <a:ln w="9525">
            <a:noFill/>
            <a:miter lim="800000"/>
            <a:headEnd/>
            <a:tailEnd/>
          </a:ln>
          <a:effectLst/>
        </p:spPr>
        <p:txBody>
          <a:bodyPr wrap="none" anchor="ctr"/>
          <a:lstStyle/>
          <a:p>
            <a:pPr algn="ctr">
              <a:defRPr/>
            </a:pPr>
            <a:endParaRPr lang="zh-CN" altLang="zh-CN" sz="2400"/>
          </a:p>
        </p:txBody>
      </p:sp>
      <p:sp>
        <p:nvSpPr>
          <p:cNvPr id="23" name="Rectangle 3"/>
          <p:cNvSpPr>
            <a:spLocks noChangeArrowheads="1"/>
          </p:cNvSpPr>
          <p:nvPr userDrawn="1"/>
        </p:nvSpPr>
        <p:spPr bwMode="ltGray">
          <a:xfrm>
            <a:off x="1066801" y="679450"/>
            <a:ext cx="438151"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zh-CN" sz="2400"/>
          </a:p>
        </p:txBody>
      </p:sp>
      <p:sp>
        <p:nvSpPr>
          <p:cNvPr id="24" name="Rectangle 4"/>
          <p:cNvSpPr>
            <a:spLocks noChangeArrowheads="1"/>
          </p:cNvSpPr>
          <p:nvPr userDrawn="1"/>
        </p:nvSpPr>
        <p:spPr bwMode="ltGray">
          <a:xfrm>
            <a:off x="721785" y="1101726"/>
            <a:ext cx="563033" cy="474663"/>
          </a:xfrm>
          <a:prstGeom prst="rect">
            <a:avLst/>
          </a:prstGeom>
          <a:solidFill>
            <a:schemeClr val="folHlink"/>
          </a:solidFill>
          <a:ln w="9525">
            <a:noFill/>
            <a:miter lim="800000"/>
            <a:headEnd/>
            <a:tailEnd/>
          </a:ln>
          <a:effectLst/>
        </p:spPr>
        <p:txBody>
          <a:bodyPr wrap="none" anchor="ctr"/>
          <a:lstStyle/>
          <a:p>
            <a:pPr algn="ctr">
              <a:defRPr/>
            </a:pPr>
            <a:endParaRPr lang="zh-CN" altLang="zh-CN" sz="2400"/>
          </a:p>
        </p:txBody>
      </p:sp>
      <p:sp>
        <p:nvSpPr>
          <p:cNvPr id="25" name="Rectangle 5"/>
          <p:cNvSpPr>
            <a:spLocks noChangeArrowheads="1"/>
          </p:cNvSpPr>
          <p:nvPr userDrawn="1"/>
        </p:nvSpPr>
        <p:spPr bwMode="ltGray">
          <a:xfrm>
            <a:off x="1214967" y="1101726"/>
            <a:ext cx="491067" cy="473075"/>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zh-CN" sz="2400"/>
          </a:p>
        </p:txBody>
      </p:sp>
      <p:sp>
        <p:nvSpPr>
          <p:cNvPr id="26" name="Rectangle 6"/>
          <p:cNvSpPr>
            <a:spLocks noChangeArrowheads="1"/>
          </p:cNvSpPr>
          <p:nvPr userDrawn="1"/>
        </p:nvSpPr>
        <p:spPr bwMode="ltGray">
          <a:xfrm>
            <a:off x="169333" y="1028700"/>
            <a:ext cx="747184" cy="420688"/>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lang="zh-CN" altLang="zh-CN" sz="2400"/>
          </a:p>
        </p:txBody>
      </p:sp>
      <p:sp>
        <p:nvSpPr>
          <p:cNvPr id="27" name="Rectangle 7"/>
          <p:cNvSpPr>
            <a:spLocks noChangeArrowheads="1"/>
          </p:cNvSpPr>
          <p:nvPr userDrawn="1"/>
        </p:nvSpPr>
        <p:spPr bwMode="gray">
          <a:xfrm>
            <a:off x="1016000" y="571500"/>
            <a:ext cx="42333" cy="1049338"/>
          </a:xfrm>
          <a:prstGeom prst="rect">
            <a:avLst/>
          </a:prstGeom>
          <a:solidFill>
            <a:schemeClr val="bg2"/>
          </a:solidFill>
          <a:ln w="9525">
            <a:noFill/>
            <a:miter lim="800000"/>
            <a:headEnd/>
            <a:tailEnd/>
          </a:ln>
          <a:effectLst/>
        </p:spPr>
        <p:txBody>
          <a:bodyPr wrap="none" anchor="ctr"/>
          <a:lstStyle/>
          <a:p>
            <a:pPr algn="ctr">
              <a:defRPr/>
            </a:pPr>
            <a:endParaRPr lang="zh-CN" altLang="zh-CN" sz="2400"/>
          </a:p>
        </p:txBody>
      </p:sp>
      <p:sp>
        <p:nvSpPr>
          <p:cNvPr id="28" name="Rectangle 8"/>
          <p:cNvSpPr>
            <a:spLocks noChangeArrowheads="1"/>
          </p:cNvSpPr>
          <p:nvPr userDrawn="1"/>
        </p:nvSpPr>
        <p:spPr bwMode="gray">
          <a:xfrm>
            <a:off x="590551" y="1362075"/>
            <a:ext cx="10968567" cy="46038"/>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zh-CN" sz="2400"/>
          </a:p>
        </p:txBody>
      </p:sp>
      <p:sp>
        <p:nvSpPr>
          <p:cNvPr id="13" name="TextBox 4"/>
          <p:cNvSpPr txBox="1"/>
          <p:nvPr userDrawn="1"/>
        </p:nvSpPr>
        <p:spPr>
          <a:xfrm>
            <a:off x="10776521" y="1069665"/>
            <a:ext cx="1341008" cy="307777"/>
          </a:xfrm>
          <a:prstGeom prst="rect">
            <a:avLst/>
          </a:prstGeom>
          <a:noFill/>
        </p:spPr>
        <p:txBody>
          <a:bodyPr wrap="square">
            <a:spAutoFit/>
          </a:bodyPr>
          <a:ls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defRPr/>
            </a:pPr>
            <a:r>
              <a:rPr lang="zh-CN" altLang="en-US" sz="1400" dirty="0">
                <a:solidFill>
                  <a:srgbClr val="C00000"/>
                </a:solidFill>
                <a:latin typeface="华文行楷" pitchFamily="2" charset="-122"/>
                <a:ea typeface="华文行楷" pitchFamily="2" charset="-122"/>
              </a:rPr>
              <a:t>主讲：穆浩志</a:t>
            </a:r>
          </a:p>
        </p:txBody>
      </p:sp>
      <p:pic>
        <p:nvPicPr>
          <p:cNvPr id="3" name="图片 2">
            <a:extLst>
              <a:ext uri="{FF2B5EF4-FFF2-40B4-BE49-F238E27FC236}">
                <a16:creationId xmlns:a16="http://schemas.microsoft.com/office/drawing/2014/main" id="{19C4D612-6CED-48C0-9783-53495971F15A}"/>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1051329" y="55880"/>
            <a:ext cx="1085850" cy="1047750"/>
          </a:xfrm>
          <a:prstGeom prst="rect">
            <a:avLst/>
          </a:prstGeom>
        </p:spPr>
      </p:pic>
    </p:spTree>
  </p:cSld>
  <p:clrMap bg1="lt1" tx1="dk1" bg2="lt2" tx2="dk2" accent1="accent1" accent2="accent2" accent3="accent3" accent4="accent4" accent5="accent5" accent6="accent6" hlink="hlink" folHlink="folHlink"/>
  <p:sldLayoutIdLst>
    <p:sldLayoutId id="2147484711" r:id="rId1"/>
    <p:sldLayoutId id="2147484712" r:id="rId2"/>
    <p:sldLayoutId id="2147484713" r:id="rId3"/>
    <p:sldLayoutId id="2147484715" r:id="rId4"/>
    <p:sldLayoutId id="2147484716" r:id="rId5"/>
    <p:sldLayoutId id="2147484717" r:id="rId6"/>
    <p:sldLayoutId id="2147484719" r:id="rId7"/>
    <p:sldLayoutId id="2147484720" r:id="rId8"/>
    <p:sldLayoutId id="2147484721" r:id="rId9"/>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ChangeArrowheads="1"/>
          </p:cNvSpPr>
          <p:nvPr/>
        </p:nvSpPr>
        <p:spPr bwMode="ltGray">
          <a:xfrm>
            <a:off x="556684" y="1098551"/>
            <a:ext cx="584200" cy="473075"/>
          </a:xfrm>
          <a:prstGeom prst="rect">
            <a:avLst/>
          </a:prstGeom>
          <a:solidFill>
            <a:schemeClr val="accent2"/>
          </a:solidFill>
          <a:ln w="9525">
            <a:noFill/>
            <a:miter lim="800000"/>
            <a:headEnd/>
            <a:tailEnd/>
          </a:ln>
          <a:effectLst/>
        </p:spPr>
        <p:txBody>
          <a:bodyPr wrap="none" anchor="ctr"/>
          <a:lstStyle/>
          <a:p>
            <a:pPr algn="ctr">
              <a:defRPr/>
            </a:pPr>
            <a:endParaRPr lang="zh-CN" altLang="zh-CN" sz="2400"/>
          </a:p>
        </p:txBody>
      </p:sp>
      <p:sp>
        <p:nvSpPr>
          <p:cNvPr id="4099" name="Rectangle 3"/>
          <p:cNvSpPr>
            <a:spLocks noChangeArrowheads="1"/>
          </p:cNvSpPr>
          <p:nvPr/>
        </p:nvSpPr>
        <p:spPr bwMode="ltGray">
          <a:xfrm>
            <a:off x="1066801" y="1098551"/>
            <a:ext cx="438151"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zh-CN" sz="2400"/>
          </a:p>
        </p:txBody>
      </p:sp>
      <p:sp>
        <p:nvSpPr>
          <p:cNvPr id="4100" name="Rectangle 4"/>
          <p:cNvSpPr>
            <a:spLocks noChangeArrowheads="1"/>
          </p:cNvSpPr>
          <p:nvPr/>
        </p:nvSpPr>
        <p:spPr bwMode="ltGray">
          <a:xfrm>
            <a:off x="721785" y="1520826"/>
            <a:ext cx="563033" cy="474663"/>
          </a:xfrm>
          <a:prstGeom prst="rect">
            <a:avLst/>
          </a:prstGeom>
          <a:solidFill>
            <a:schemeClr val="folHlink"/>
          </a:solidFill>
          <a:ln w="9525">
            <a:noFill/>
            <a:miter lim="800000"/>
            <a:headEnd/>
            <a:tailEnd/>
          </a:ln>
          <a:effectLst/>
        </p:spPr>
        <p:txBody>
          <a:bodyPr wrap="none" anchor="ctr"/>
          <a:lstStyle/>
          <a:p>
            <a:pPr algn="ctr">
              <a:defRPr/>
            </a:pPr>
            <a:endParaRPr lang="zh-CN" altLang="zh-CN" sz="2400"/>
          </a:p>
        </p:txBody>
      </p:sp>
      <p:sp>
        <p:nvSpPr>
          <p:cNvPr id="4101" name="Rectangle 5"/>
          <p:cNvSpPr>
            <a:spLocks noChangeArrowheads="1"/>
          </p:cNvSpPr>
          <p:nvPr/>
        </p:nvSpPr>
        <p:spPr bwMode="ltGray">
          <a:xfrm>
            <a:off x="1214967" y="1520826"/>
            <a:ext cx="491067" cy="473075"/>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zh-CN" sz="2400"/>
          </a:p>
        </p:txBody>
      </p:sp>
      <p:sp>
        <p:nvSpPr>
          <p:cNvPr id="4102" name="Rectangle 6"/>
          <p:cNvSpPr>
            <a:spLocks noChangeArrowheads="1"/>
          </p:cNvSpPr>
          <p:nvPr/>
        </p:nvSpPr>
        <p:spPr bwMode="ltGray">
          <a:xfrm>
            <a:off x="169333" y="1447800"/>
            <a:ext cx="747184" cy="420688"/>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lang="zh-CN" altLang="zh-CN" sz="2400"/>
          </a:p>
        </p:txBody>
      </p:sp>
      <p:sp>
        <p:nvSpPr>
          <p:cNvPr id="4103" name="Rectangle 7"/>
          <p:cNvSpPr>
            <a:spLocks noChangeArrowheads="1"/>
          </p:cNvSpPr>
          <p:nvPr/>
        </p:nvSpPr>
        <p:spPr bwMode="gray">
          <a:xfrm>
            <a:off x="1016000" y="990600"/>
            <a:ext cx="42333" cy="1049338"/>
          </a:xfrm>
          <a:prstGeom prst="rect">
            <a:avLst/>
          </a:prstGeom>
          <a:solidFill>
            <a:schemeClr val="bg2"/>
          </a:solidFill>
          <a:ln w="9525">
            <a:noFill/>
            <a:miter lim="800000"/>
            <a:headEnd/>
            <a:tailEnd/>
          </a:ln>
          <a:effectLst/>
        </p:spPr>
        <p:txBody>
          <a:bodyPr wrap="none" anchor="ctr"/>
          <a:lstStyle/>
          <a:p>
            <a:pPr algn="ctr">
              <a:defRPr/>
            </a:pPr>
            <a:endParaRPr lang="zh-CN" altLang="zh-CN" sz="2400"/>
          </a:p>
        </p:txBody>
      </p:sp>
      <p:sp>
        <p:nvSpPr>
          <p:cNvPr id="4104" name="Rectangle 8"/>
          <p:cNvSpPr>
            <a:spLocks noChangeArrowheads="1"/>
          </p:cNvSpPr>
          <p:nvPr/>
        </p:nvSpPr>
        <p:spPr bwMode="gray">
          <a:xfrm>
            <a:off x="590551" y="1781175"/>
            <a:ext cx="10968567" cy="46038"/>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zh-CN" sz="2400"/>
          </a:p>
        </p:txBody>
      </p:sp>
      <p:sp>
        <p:nvSpPr>
          <p:cNvPr id="2057" name="Rectangle 9"/>
          <p:cNvSpPr>
            <a:spLocks noGrp="1" noChangeArrowheads="1"/>
          </p:cNvSpPr>
          <p:nvPr>
            <p:ph type="title"/>
          </p:nvPr>
        </p:nvSpPr>
        <p:spPr bwMode="auto">
          <a:xfrm>
            <a:off x="1534585" y="214314"/>
            <a:ext cx="10390716" cy="146208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2058" name="Rectangle 10"/>
          <p:cNvSpPr>
            <a:spLocks noGrp="1" noChangeArrowheads="1"/>
          </p:cNvSpPr>
          <p:nvPr>
            <p:ph type="body" idx="1"/>
          </p:nvPr>
        </p:nvSpPr>
        <p:spPr bwMode="auto">
          <a:xfrm>
            <a:off x="1576917" y="2017713"/>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7" name="Rectangle 11"/>
          <p:cNvSpPr>
            <a:spLocks noGrp="1" noChangeArrowheads="1"/>
          </p:cNvSpPr>
          <p:nvPr>
            <p:ph type="dt" sz="half" idx="2"/>
          </p:nvPr>
        </p:nvSpPr>
        <p:spPr bwMode="auto">
          <a:xfrm>
            <a:off x="1549400"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vl1pPr>
          </a:lstStyle>
          <a:p>
            <a:pPr>
              <a:defRPr/>
            </a:pPr>
            <a:endParaRPr lang="en-US" altLang="zh-CN"/>
          </a:p>
        </p:txBody>
      </p:sp>
      <p:sp>
        <p:nvSpPr>
          <p:cNvPr id="4108" name="Rectangle 12"/>
          <p:cNvSpPr>
            <a:spLocks noGrp="1" noChangeArrowheads="1"/>
          </p:cNvSpPr>
          <p:nvPr>
            <p:ph type="ftr" sz="quarter" idx="3"/>
          </p:nvPr>
        </p:nvSpPr>
        <p:spPr bwMode="auto">
          <a:xfrm>
            <a:off x="4876800" y="6243638"/>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vl1pPr>
          </a:lstStyle>
          <a:p>
            <a:pPr>
              <a:defRPr/>
            </a:pPr>
            <a:endParaRPr lang="en-US" altLang="zh-CN"/>
          </a:p>
        </p:txBody>
      </p:sp>
      <p:sp>
        <p:nvSpPr>
          <p:cNvPr id="4109" name="Rectangle 13"/>
          <p:cNvSpPr>
            <a:spLocks noGrp="1" noChangeArrowheads="1"/>
          </p:cNvSpPr>
          <p:nvPr>
            <p:ph type="sldNum" sz="quarter" idx="4"/>
          </p:nvPr>
        </p:nvSpPr>
        <p:spPr bwMode="auto">
          <a:xfrm>
            <a:off x="9389533"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pPr>
              <a:defRPr/>
            </a:pPr>
            <a:fld id="{F918A67B-C330-43FE-818D-461D694CD10A}"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ea typeface="宋体" pitchFamily="2" charset="-122"/>
        </a:defRPr>
      </a:lvl2pPr>
      <a:lvl3pPr algn="l" rtl="0" eaLnBrk="0" fontAlgn="base" hangingPunct="0">
        <a:spcBef>
          <a:spcPct val="0"/>
        </a:spcBef>
        <a:spcAft>
          <a:spcPct val="0"/>
        </a:spcAft>
        <a:defRPr sz="4400">
          <a:solidFill>
            <a:schemeClr val="tx2"/>
          </a:solidFill>
          <a:latin typeface="Tahoma" pitchFamily="34" charset="0"/>
          <a:ea typeface="宋体" pitchFamily="2" charset="-122"/>
        </a:defRPr>
      </a:lvl3pPr>
      <a:lvl4pPr algn="l" rtl="0" eaLnBrk="0" fontAlgn="base" hangingPunct="0">
        <a:spcBef>
          <a:spcPct val="0"/>
        </a:spcBef>
        <a:spcAft>
          <a:spcPct val="0"/>
        </a:spcAft>
        <a:defRPr sz="4400">
          <a:solidFill>
            <a:schemeClr val="tx2"/>
          </a:solidFill>
          <a:latin typeface="Tahoma" pitchFamily="34" charset="0"/>
          <a:ea typeface="宋体" pitchFamily="2" charset="-122"/>
        </a:defRPr>
      </a:lvl4pPr>
      <a:lvl5pPr algn="l" rtl="0" eaLnBrk="0" fontAlgn="base" hangingPunct="0">
        <a:spcBef>
          <a:spcPct val="0"/>
        </a:spcBef>
        <a:spcAft>
          <a:spcPct val="0"/>
        </a:spcAft>
        <a:defRPr sz="4400">
          <a:solidFill>
            <a:schemeClr val="tx2"/>
          </a:solidFill>
          <a:latin typeface="Tahoma" pitchFamily="34" charset="0"/>
          <a:ea typeface="宋体" pitchFamily="2" charset="-122"/>
        </a:defRPr>
      </a:lvl5pPr>
      <a:lvl6pPr marL="457200" algn="l" rtl="0" fontAlgn="base">
        <a:spcBef>
          <a:spcPct val="0"/>
        </a:spcBef>
        <a:spcAft>
          <a:spcPct val="0"/>
        </a:spcAft>
        <a:defRPr sz="4400">
          <a:solidFill>
            <a:schemeClr val="tx2"/>
          </a:solidFill>
          <a:latin typeface="Tahoma" pitchFamily="34" charset="0"/>
          <a:ea typeface="宋体" pitchFamily="2" charset="-122"/>
        </a:defRPr>
      </a:lvl6pPr>
      <a:lvl7pPr marL="914400" algn="l" rtl="0" fontAlgn="base">
        <a:spcBef>
          <a:spcPct val="0"/>
        </a:spcBef>
        <a:spcAft>
          <a:spcPct val="0"/>
        </a:spcAft>
        <a:defRPr sz="4400">
          <a:solidFill>
            <a:schemeClr val="tx2"/>
          </a:solidFill>
          <a:latin typeface="Tahoma" pitchFamily="34" charset="0"/>
          <a:ea typeface="宋体" pitchFamily="2" charset="-122"/>
        </a:defRPr>
      </a:lvl7pPr>
      <a:lvl8pPr marL="1371600" algn="l" rtl="0" fontAlgn="base">
        <a:spcBef>
          <a:spcPct val="0"/>
        </a:spcBef>
        <a:spcAft>
          <a:spcPct val="0"/>
        </a:spcAft>
        <a:defRPr sz="4400">
          <a:solidFill>
            <a:schemeClr val="tx2"/>
          </a:solidFill>
          <a:latin typeface="Tahoma" pitchFamily="34" charset="0"/>
          <a:ea typeface="宋体" pitchFamily="2" charset="-122"/>
        </a:defRPr>
      </a:lvl8pPr>
      <a:lvl9pPr marL="1828800" algn="l" rtl="0" fontAlgn="base">
        <a:spcBef>
          <a:spcPct val="0"/>
        </a:spcBef>
        <a:spcAft>
          <a:spcPct val="0"/>
        </a:spcAft>
        <a:defRPr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1.jpeg"/><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audio" Target="../media/audio3.wav"/><Relationship Id="rId4" Type="http://schemas.openxmlformats.org/officeDocument/2006/relationships/audio" Target="../media/audio2.wav"/></Relationships>
</file>

<file path=ppt/slides/_rels/slide12.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audio" Target="../media/audio2.wav"/></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audio" Target="../media/audio6.wav"/><Relationship Id="rId5" Type="http://schemas.openxmlformats.org/officeDocument/2006/relationships/audio" Target="../media/audio3.wav"/><Relationship Id="rId4" Type="http://schemas.openxmlformats.org/officeDocument/2006/relationships/audio" Target="../media/audio5.wav"/></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audio" Target="../media/audio7.wav"/><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image" Target="../media/image21.png"/><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notesSlide" Target="../notesSlides/notesSlide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slideLayout" Target="../slideLayouts/slideLayout2.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1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audio" Target="../media/audio8.wav"/></Relationships>
</file>

<file path=ppt/slides/_rels/slide19.xml.rels><?xml version="1.0" encoding="UTF-8" standalone="yes"?>
<Relationships xmlns="http://schemas.openxmlformats.org/package/2006/relationships"><Relationship Id="rId3" Type="http://schemas.openxmlformats.org/officeDocument/2006/relationships/audio" Target="../media/audio8.wav"/><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audio" Target="../media/audio7.wav"/></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a:xfrm>
            <a:off x="3381375" y="276117"/>
            <a:ext cx="5500688" cy="646331"/>
          </a:xfrm>
          <a:prstGeom prst="rect">
            <a:avLst/>
          </a:prstGeom>
        </p:spPr>
        <p:txBody>
          <a:bodyPr anchor="ctr">
            <a:spAutoFit/>
          </a:bodyPr>
          <a:lstStyle/>
          <a:p>
            <a:pPr algn="ctr" fontAlgn="auto">
              <a:spcAft>
                <a:spcPts val="0"/>
              </a:spcAft>
              <a:defRPr/>
            </a:pP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工程制图</a:t>
            </a: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课程</a:t>
            </a:r>
          </a:p>
        </p:txBody>
      </p:sp>
      <p:sp>
        <p:nvSpPr>
          <p:cNvPr id="16" name="标题 1">
            <a:extLst>
              <a:ext uri="{FF2B5EF4-FFF2-40B4-BE49-F238E27FC236}">
                <a16:creationId xmlns:a16="http://schemas.microsoft.com/office/drawing/2014/main" id="{CB218962-607E-491F-880A-9B1EFC6AD4B1}"/>
              </a:ext>
            </a:extLst>
          </p:cNvPr>
          <p:cNvSpPr txBox="1">
            <a:spLocks/>
          </p:cNvSpPr>
          <p:nvPr/>
        </p:nvSpPr>
        <p:spPr>
          <a:xfrm>
            <a:off x="1060338" y="1322272"/>
            <a:ext cx="6120680" cy="584775"/>
          </a:xfrm>
          <a:prstGeom prst="rect">
            <a:avLst/>
          </a:prstGeom>
        </p:spPr>
        <p:txBody>
          <a:bodyPr wrap="square" anchor="ctr">
            <a:spAutoFit/>
          </a:bodyPr>
          <a:lstStyle/>
          <a:p>
            <a:pPr fontAlgn="auto">
              <a:spcAft>
                <a:spcPts val="0"/>
              </a:spcAft>
              <a:defRPr/>
            </a:pPr>
            <a:r>
              <a:rPr kumimoji="0" lang="zh-CN" altLang="zh-CN" sz="3200" b="1" dirty="0">
                <a:solidFill>
                  <a:schemeClr val="tx2"/>
                </a:solidFill>
                <a:latin typeface="黑体" pitchFamily="2" charset="-122"/>
                <a:ea typeface="黑体" pitchFamily="2" charset="-122"/>
                <a:cs typeface="+mj-cs"/>
              </a:rPr>
              <a:t>工程制图课程的前世与今生</a:t>
            </a:r>
          </a:p>
        </p:txBody>
      </p:sp>
      <p:sp>
        <p:nvSpPr>
          <p:cNvPr id="17" name="矩形 16">
            <a:extLst>
              <a:ext uri="{FF2B5EF4-FFF2-40B4-BE49-F238E27FC236}">
                <a16:creationId xmlns:a16="http://schemas.microsoft.com/office/drawing/2014/main" id="{20334467-8A1D-4C98-9E71-F4DFA237DF62}"/>
              </a:ext>
            </a:extLst>
          </p:cNvPr>
          <p:cNvSpPr/>
          <p:nvPr/>
        </p:nvSpPr>
        <p:spPr>
          <a:xfrm>
            <a:off x="1060338" y="2033819"/>
            <a:ext cx="4032448" cy="523220"/>
          </a:xfrm>
          <a:prstGeom prst="rect">
            <a:avLst/>
          </a:prstGeom>
        </p:spPr>
        <p:txBody>
          <a:bodyPr wrap="square">
            <a:spAutoFit/>
          </a:bodyPr>
          <a:lstStyle/>
          <a:p>
            <a:r>
              <a:rPr lang="zh-CN" altLang="zh-CN" sz="2800" b="1" dirty="0">
                <a:latin typeface="黑体" panose="02010609060101010101" pitchFamily="49" charset="-122"/>
                <a:ea typeface="黑体" panose="02010609060101010101" pitchFamily="49" charset="-122"/>
              </a:rPr>
              <a:t>人类主要的三大语言</a:t>
            </a:r>
            <a:r>
              <a:rPr lang="en-US" altLang="zh-CN" sz="2800" b="1" dirty="0">
                <a:latin typeface="黑体" panose="02010609060101010101" pitchFamily="49" charset="-122"/>
                <a:ea typeface="黑体" panose="02010609060101010101" pitchFamily="49" charset="-122"/>
              </a:rPr>
              <a:t>?</a:t>
            </a:r>
            <a:endParaRPr lang="zh-CN" altLang="zh-CN" sz="2800" b="1" dirty="0">
              <a:latin typeface="黑体" panose="02010609060101010101" pitchFamily="49" charset="-122"/>
              <a:ea typeface="黑体" panose="02010609060101010101" pitchFamily="49" charset="-122"/>
            </a:endParaRPr>
          </a:p>
        </p:txBody>
      </p:sp>
      <p:sp>
        <p:nvSpPr>
          <p:cNvPr id="18" name="标题 1">
            <a:extLst>
              <a:ext uri="{FF2B5EF4-FFF2-40B4-BE49-F238E27FC236}">
                <a16:creationId xmlns:a16="http://schemas.microsoft.com/office/drawing/2014/main" id="{B2D4A787-E299-44EE-9CEC-740C4525E2D1}"/>
              </a:ext>
            </a:extLst>
          </p:cNvPr>
          <p:cNvSpPr txBox="1">
            <a:spLocks/>
          </p:cNvSpPr>
          <p:nvPr/>
        </p:nvSpPr>
        <p:spPr>
          <a:xfrm>
            <a:off x="522756" y="3233544"/>
            <a:ext cx="1440160" cy="523220"/>
          </a:xfrm>
          <a:prstGeom prst="rect">
            <a:avLst/>
          </a:prstGeom>
        </p:spPr>
        <p:txBody>
          <a:bodyPr wrap="square" anchor="ctr">
            <a:spAutoFit/>
          </a:bodyPr>
          <a:lstStyle/>
          <a:p>
            <a:pPr fontAlgn="auto">
              <a:spcAft>
                <a:spcPts val="0"/>
              </a:spcAft>
              <a:defRPr/>
            </a:pPr>
            <a:r>
              <a:rPr kumimoji="0" lang="zh-CN" altLang="en-US" sz="2800" b="1" dirty="0">
                <a:solidFill>
                  <a:schemeClr val="tx2"/>
                </a:solidFill>
                <a:latin typeface="黑体" pitchFamily="2" charset="-122"/>
                <a:ea typeface="黑体" pitchFamily="2" charset="-122"/>
                <a:cs typeface="+mj-cs"/>
              </a:rPr>
              <a:t>古代：</a:t>
            </a:r>
          </a:p>
        </p:txBody>
      </p:sp>
      <p:sp>
        <p:nvSpPr>
          <p:cNvPr id="5" name="矩形 4">
            <a:extLst>
              <a:ext uri="{FF2B5EF4-FFF2-40B4-BE49-F238E27FC236}">
                <a16:creationId xmlns:a16="http://schemas.microsoft.com/office/drawing/2014/main" id="{AAED0A00-FDD7-4AF3-BAF2-A9665BFB9104}"/>
              </a:ext>
            </a:extLst>
          </p:cNvPr>
          <p:cNvSpPr/>
          <p:nvPr/>
        </p:nvSpPr>
        <p:spPr>
          <a:xfrm>
            <a:off x="1242836" y="3520158"/>
            <a:ext cx="2709396" cy="656846"/>
          </a:xfrm>
          <a:prstGeom prst="rect">
            <a:avLst/>
          </a:prstGeom>
        </p:spPr>
        <p:txBody>
          <a:bodyPr wrap="none">
            <a:spAutoFit/>
          </a:bodyPr>
          <a:lstStyle/>
          <a:p>
            <a:pPr>
              <a:lnSpc>
                <a:spcPct val="150000"/>
              </a:lnSpc>
              <a:spcAft>
                <a:spcPts val="0"/>
              </a:spcAft>
            </a:pPr>
            <a:r>
              <a:rPr lang="zh-CN" altLang="en-US" sz="2800" b="1" kern="100" dirty="0">
                <a:solidFill>
                  <a:srgbClr val="0070C0"/>
                </a:solidFill>
                <a:cs typeface="Arial" panose="020B0604020202020204" pitchFamily="34" charset="0"/>
              </a:rPr>
              <a:t>古代建筑平面图</a:t>
            </a:r>
            <a:endParaRPr lang="zh-CN" altLang="zh-CN" sz="2800" kern="100" dirty="0">
              <a:solidFill>
                <a:srgbClr val="0070C0"/>
              </a:solidFill>
            </a:endParaRPr>
          </a:p>
        </p:txBody>
      </p:sp>
      <p:sp>
        <p:nvSpPr>
          <p:cNvPr id="12" name="矩形 11">
            <a:extLst>
              <a:ext uri="{FF2B5EF4-FFF2-40B4-BE49-F238E27FC236}">
                <a16:creationId xmlns:a16="http://schemas.microsoft.com/office/drawing/2014/main" id="{24F7B418-D6C9-4FBD-895E-70418B2A8368}"/>
              </a:ext>
            </a:extLst>
          </p:cNvPr>
          <p:cNvSpPr/>
          <p:nvPr/>
        </p:nvSpPr>
        <p:spPr>
          <a:xfrm>
            <a:off x="1084023" y="2680062"/>
            <a:ext cx="10297144" cy="461665"/>
          </a:xfrm>
          <a:prstGeom prst="rect">
            <a:avLst/>
          </a:prstGeom>
        </p:spPr>
        <p:txBody>
          <a:bodyPr wrap="square">
            <a:spAutoFit/>
          </a:bodyPr>
          <a:lstStyle/>
          <a:p>
            <a:r>
              <a:rPr lang="zh-CN" altLang="zh-CN" dirty="0"/>
              <a:t>自人类文明出现以来以来，</a:t>
            </a:r>
            <a:r>
              <a:rPr lang="zh-CN" altLang="zh-CN" b="1" dirty="0">
                <a:latin typeface="黑体" panose="02010609060101010101" pitchFamily="49" charset="-122"/>
                <a:ea typeface="黑体" panose="02010609060101010101" pitchFamily="49" charset="-122"/>
              </a:rPr>
              <a:t>图形</a:t>
            </a:r>
            <a:r>
              <a:rPr lang="zh-CN" altLang="zh-CN" dirty="0"/>
              <a:t>始终是人们认识世界、传递信息的重要手段</a:t>
            </a:r>
            <a:r>
              <a:rPr lang="zh-CN" altLang="en-US" dirty="0"/>
              <a:t>。</a:t>
            </a:r>
            <a:endParaRPr lang="zh-CN" altLang="zh-CN" dirty="0"/>
          </a:p>
        </p:txBody>
      </p:sp>
      <p:pic>
        <p:nvPicPr>
          <p:cNvPr id="1026" name="图片 1" descr="1qtb.jpg">
            <a:extLst>
              <a:ext uri="{FF2B5EF4-FFF2-40B4-BE49-F238E27FC236}">
                <a16:creationId xmlns:a16="http://schemas.microsoft.com/office/drawing/2014/main" id="{499E5BC1-9817-4222-80A4-7B6B516E5F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7775" y="3336966"/>
            <a:ext cx="6408712" cy="3244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5666EF60-66A6-40F4-B8D2-2673AABA8CBC}"/>
              </a:ext>
            </a:extLst>
          </p:cNvPr>
          <p:cNvSpPr/>
          <p:nvPr/>
        </p:nvSpPr>
        <p:spPr>
          <a:xfrm>
            <a:off x="5015880" y="2008884"/>
            <a:ext cx="3550641" cy="523220"/>
          </a:xfrm>
          <a:prstGeom prst="rect">
            <a:avLst/>
          </a:prstGeom>
        </p:spPr>
        <p:txBody>
          <a:bodyPr wrap="square">
            <a:spAutoFit/>
          </a:bodyPr>
          <a:lstStyle/>
          <a:p>
            <a:r>
              <a:rPr lang="zh-CN" altLang="en-US" sz="2800" dirty="0">
                <a:solidFill>
                  <a:srgbClr val="FF0000"/>
                </a:solidFill>
                <a:latin typeface="黑体" panose="02010609060101010101" pitchFamily="49" charset="-122"/>
                <a:ea typeface="黑体" panose="02010609060101010101" pitchFamily="49" charset="-122"/>
              </a:rPr>
              <a:t>图形、文字、声音</a:t>
            </a:r>
          </a:p>
        </p:txBody>
      </p:sp>
      <p:sp>
        <p:nvSpPr>
          <p:cNvPr id="4" name="矩形 3">
            <a:extLst>
              <a:ext uri="{FF2B5EF4-FFF2-40B4-BE49-F238E27FC236}">
                <a16:creationId xmlns:a16="http://schemas.microsoft.com/office/drawing/2014/main" id="{AA90B97B-DAC5-4D4A-A192-84620575468C}"/>
              </a:ext>
            </a:extLst>
          </p:cNvPr>
          <p:cNvSpPr/>
          <p:nvPr/>
        </p:nvSpPr>
        <p:spPr>
          <a:xfrm>
            <a:off x="494988" y="4135195"/>
            <a:ext cx="4205092" cy="2677656"/>
          </a:xfrm>
          <a:prstGeom prst="rect">
            <a:avLst/>
          </a:prstGeom>
        </p:spPr>
        <p:txBody>
          <a:bodyPr wrap="square">
            <a:spAutoFit/>
          </a:bodyPr>
          <a:lstStyle/>
          <a:p>
            <a:r>
              <a:rPr lang="zh-CN" altLang="en-US" dirty="0"/>
              <a:t>    </a:t>
            </a:r>
            <a:r>
              <a:rPr lang="en-US" altLang="zh-CN" dirty="0"/>
              <a:t>1997</a:t>
            </a:r>
            <a:r>
              <a:rPr lang="zh-CN" altLang="en-US" dirty="0"/>
              <a:t>年河北省平山县发掘战国中山王墓中，</a:t>
            </a:r>
            <a:r>
              <a:rPr lang="zh-CN" altLang="en-US" dirty="0">
                <a:solidFill>
                  <a:srgbClr val="FF0000"/>
                </a:solidFill>
              </a:rPr>
              <a:t>错金银铜版兆域图</a:t>
            </a:r>
            <a:r>
              <a:rPr lang="zh-CN" altLang="en-US" dirty="0"/>
              <a:t>，这是我国迄今为止发现的唯一一张附有尺寸和文字说明的古代建筑平面图，图的比例尺约为</a:t>
            </a:r>
            <a:r>
              <a:rPr lang="en-US" altLang="zh-CN" dirty="0"/>
              <a:t>1:500</a:t>
            </a:r>
            <a:r>
              <a:rPr lang="zh-CN" altLang="en-US" dirty="0"/>
              <a:t>，是典型的用于工程实际的单面正投影图</a:t>
            </a:r>
          </a:p>
        </p:txBody>
      </p:sp>
    </p:spTree>
    <p:extLst>
      <p:ext uri="{BB962C8B-B14F-4D97-AF65-F5344CB8AC3E}">
        <p14:creationId xmlns:p14="http://schemas.microsoft.com/office/powerpoint/2010/main" val="223440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0-#ppt_w/2"/>
                                          </p:val>
                                        </p:tav>
                                        <p:tav tm="100000">
                                          <p:val>
                                            <p:strVal val="#ppt_x"/>
                                          </p:val>
                                        </p:tav>
                                      </p:tavLst>
                                    </p:anim>
                                    <p:anim calcmode="lin" valueType="num">
                                      <p:cBhvr additive="base">
                                        <p:cTn id="2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0-#ppt_w/2"/>
                                          </p:val>
                                        </p:tav>
                                        <p:tav tm="100000">
                                          <p:val>
                                            <p:strVal val="#ppt_x"/>
                                          </p:val>
                                        </p:tav>
                                      </p:tavLst>
                                    </p:anim>
                                    <p:anim calcmode="lin" valueType="num">
                                      <p:cBhvr additive="base">
                                        <p:cTn id="30"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down)">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1026"/>
                                        </p:tgtEl>
                                        <p:attrNameLst>
                                          <p:attrName>style.visibility</p:attrName>
                                        </p:attrNameLst>
                                      </p:cBhvr>
                                      <p:to>
                                        <p:strVal val="visible"/>
                                      </p:to>
                                    </p:set>
                                    <p:anim calcmode="lin" valueType="num">
                                      <p:cBhvr>
                                        <p:cTn id="40" dur="500" fill="hold"/>
                                        <p:tgtEl>
                                          <p:spTgt spid="1026"/>
                                        </p:tgtEl>
                                        <p:attrNameLst>
                                          <p:attrName>ppt_w</p:attrName>
                                        </p:attrNameLst>
                                      </p:cBhvr>
                                      <p:tavLst>
                                        <p:tav tm="0">
                                          <p:val>
                                            <p:fltVal val="0"/>
                                          </p:val>
                                        </p:tav>
                                        <p:tav tm="100000">
                                          <p:val>
                                            <p:strVal val="#ppt_w"/>
                                          </p:val>
                                        </p:tav>
                                      </p:tavLst>
                                    </p:anim>
                                    <p:anim calcmode="lin" valueType="num">
                                      <p:cBhvr>
                                        <p:cTn id="41" dur="500" fill="hold"/>
                                        <p:tgtEl>
                                          <p:spTgt spid="1026"/>
                                        </p:tgtEl>
                                        <p:attrNameLst>
                                          <p:attrName>ppt_h</p:attrName>
                                        </p:attrNameLst>
                                      </p:cBhvr>
                                      <p:tavLst>
                                        <p:tav tm="0">
                                          <p:val>
                                            <p:fltVal val="0"/>
                                          </p:val>
                                        </p:tav>
                                        <p:tav tm="100000">
                                          <p:val>
                                            <p:strVal val="#ppt_h"/>
                                          </p:val>
                                        </p:tav>
                                      </p:tavLst>
                                    </p:anim>
                                    <p:animEffect transition="in" filter="fade">
                                      <p:cBhvr>
                                        <p:cTn id="42" dur="500"/>
                                        <p:tgtEl>
                                          <p:spTgt spid="1026"/>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37"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barn(outVertical)">
                                      <p:cBhvr>
                                        <p:cTn id="4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5" grpId="0"/>
      <p:bldP spid="12" grpId="0"/>
      <p:bldP spid="2"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a:xfrm>
            <a:off x="3381375" y="276117"/>
            <a:ext cx="5500688" cy="646331"/>
          </a:xfrm>
          <a:prstGeom prst="rect">
            <a:avLst/>
          </a:prstGeom>
        </p:spPr>
        <p:txBody>
          <a:bodyPr anchor="ctr">
            <a:spAutoFit/>
          </a:bodyPr>
          <a:lstStyle/>
          <a:p>
            <a:pPr algn="ctr" fontAlgn="auto">
              <a:spcAft>
                <a:spcPts val="0"/>
              </a:spcAft>
              <a:defRPr/>
            </a:pP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工程制图</a:t>
            </a: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课程</a:t>
            </a:r>
          </a:p>
        </p:txBody>
      </p:sp>
      <p:sp>
        <p:nvSpPr>
          <p:cNvPr id="17" name="矩形 16">
            <a:extLst>
              <a:ext uri="{FF2B5EF4-FFF2-40B4-BE49-F238E27FC236}">
                <a16:creationId xmlns:a16="http://schemas.microsoft.com/office/drawing/2014/main" id="{20334467-8A1D-4C98-9E71-F4DFA237DF62}"/>
              </a:ext>
            </a:extLst>
          </p:cNvPr>
          <p:cNvSpPr/>
          <p:nvPr/>
        </p:nvSpPr>
        <p:spPr>
          <a:xfrm>
            <a:off x="897970" y="1337521"/>
            <a:ext cx="2592288" cy="523220"/>
          </a:xfrm>
          <a:prstGeom prst="rect">
            <a:avLst/>
          </a:prstGeom>
        </p:spPr>
        <p:txBody>
          <a:bodyPr wrap="square">
            <a:spAutoFit/>
          </a:bodyPr>
          <a:lstStyle/>
          <a:p>
            <a:r>
              <a:rPr lang="zh-CN" altLang="en-US" sz="2800" b="1" dirty="0">
                <a:latin typeface="黑体" panose="02010609060101010101" pitchFamily="49" charset="-122"/>
                <a:ea typeface="黑体" panose="02010609060101010101" pitchFamily="49" charset="-122"/>
              </a:rPr>
              <a:t>国外图形应用：</a:t>
            </a:r>
            <a:endParaRPr lang="zh-CN" altLang="zh-CN" sz="2800" b="1" dirty="0">
              <a:latin typeface="黑体" panose="02010609060101010101" pitchFamily="49" charset="-122"/>
              <a:ea typeface="黑体" panose="02010609060101010101" pitchFamily="49" charset="-122"/>
            </a:endParaRPr>
          </a:p>
        </p:txBody>
      </p:sp>
      <p:sp>
        <p:nvSpPr>
          <p:cNvPr id="18" name="标题 1">
            <a:extLst>
              <a:ext uri="{FF2B5EF4-FFF2-40B4-BE49-F238E27FC236}">
                <a16:creationId xmlns:a16="http://schemas.microsoft.com/office/drawing/2014/main" id="{B2D4A787-E299-44EE-9CEC-740C4525E2D1}"/>
              </a:ext>
            </a:extLst>
          </p:cNvPr>
          <p:cNvSpPr txBox="1">
            <a:spLocks/>
          </p:cNvSpPr>
          <p:nvPr/>
        </p:nvSpPr>
        <p:spPr>
          <a:xfrm>
            <a:off x="1847528" y="4891923"/>
            <a:ext cx="9289032" cy="830997"/>
          </a:xfrm>
          <a:prstGeom prst="rect">
            <a:avLst/>
          </a:prstGeom>
        </p:spPr>
        <p:txBody>
          <a:bodyPr wrap="square" anchor="ctr">
            <a:spAutoFit/>
          </a:bodyPr>
          <a:lstStyle/>
          <a:p>
            <a:pPr fontAlgn="auto">
              <a:spcAft>
                <a:spcPts val="0"/>
              </a:spcAft>
              <a:defRPr/>
            </a:pPr>
            <a:r>
              <a:rPr kumimoji="0" lang="zh-CN" altLang="en-US" b="1" dirty="0">
                <a:solidFill>
                  <a:schemeClr val="tx2"/>
                </a:solidFill>
                <a:latin typeface="+mn-ea"/>
                <a:ea typeface="+mn-ea"/>
                <a:cs typeface="+mj-cs"/>
              </a:rPr>
              <a:t>德国学者舒莱伯、俄国的谢瓦斯齐亚诺夫（画法几何的创始人）、古尔久莫夫等学者对画法几何学的研究与教学也都作出了贡献</a:t>
            </a:r>
          </a:p>
        </p:txBody>
      </p:sp>
      <p:sp>
        <p:nvSpPr>
          <p:cNvPr id="12" name="矩形 11">
            <a:extLst>
              <a:ext uri="{FF2B5EF4-FFF2-40B4-BE49-F238E27FC236}">
                <a16:creationId xmlns:a16="http://schemas.microsoft.com/office/drawing/2014/main" id="{24F7B418-D6C9-4FBD-895E-70418B2A8368}"/>
              </a:ext>
            </a:extLst>
          </p:cNvPr>
          <p:cNvSpPr/>
          <p:nvPr/>
        </p:nvSpPr>
        <p:spPr>
          <a:xfrm>
            <a:off x="1826187" y="1921444"/>
            <a:ext cx="6062126" cy="830997"/>
          </a:xfrm>
          <a:prstGeom prst="rect">
            <a:avLst/>
          </a:prstGeom>
        </p:spPr>
        <p:txBody>
          <a:bodyPr wrap="square">
            <a:spAutoFit/>
          </a:bodyPr>
          <a:lstStyle/>
          <a:p>
            <a:r>
              <a:rPr lang="en-US" altLang="zh-CN" dirty="0">
                <a:latin typeface="黑体" panose="02010609060101010101" pitchFamily="49" charset="-122"/>
                <a:ea typeface="黑体" panose="02010609060101010101" pitchFamily="49" charset="-122"/>
              </a:rPr>
              <a:t>1795</a:t>
            </a:r>
            <a:r>
              <a:rPr lang="zh-CN" altLang="en-US" dirty="0">
                <a:latin typeface="黑体" panose="02010609060101010101" pitchFamily="49" charset="-122"/>
                <a:ea typeface="黑体" panose="02010609060101010101" pitchFamily="49" charset="-122"/>
              </a:rPr>
              <a:t>年法国著名的几何学者加斯帕</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蒙日发表了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画法几何学</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一书</a:t>
            </a:r>
            <a:endParaRPr lang="zh-CN" altLang="zh-CN" dirty="0">
              <a:latin typeface="黑体" panose="02010609060101010101" pitchFamily="49" charset="-122"/>
              <a:ea typeface="黑体" panose="02010609060101010101" pitchFamily="49" charset="-122"/>
            </a:endParaRPr>
          </a:p>
        </p:txBody>
      </p:sp>
      <p:pic>
        <p:nvPicPr>
          <p:cNvPr id="6" name="图片 5">
            <a:extLst>
              <a:ext uri="{FF2B5EF4-FFF2-40B4-BE49-F238E27FC236}">
                <a16:creationId xmlns:a16="http://schemas.microsoft.com/office/drawing/2014/main" id="{D2001752-8841-4B11-AE42-2B7FBF76406B}"/>
              </a:ext>
            </a:extLst>
          </p:cNvPr>
          <p:cNvPicPr>
            <a:picLocks noChangeAspect="1"/>
          </p:cNvPicPr>
          <p:nvPr/>
        </p:nvPicPr>
        <p:blipFill rotWithShape="1">
          <a:blip r:embed="rId3"/>
          <a:srcRect l="31801" t="22700" r="39707" b="14301"/>
          <a:stretch/>
        </p:blipFill>
        <p:spPr>
          <a:xfrm>
            <a:off x="8806270" y="1599131"/>
            <a:ext cx="2088232" cy="3078200"/>
          </a:xfrm>
          <a:prstGeom prst="rect">
            <a:avLst/>
          </a:prstGeom>
        </p:spPr>
      </p:pic>
      <p:sp>
        <p:nvSpPr>
          <p:cNvPr id="14" name="矩形 13">
            <a:extLst>
              <a:ext uri="{FF2B5EF4-FFF2-40B4-BE49-F238E27FC236}">
                <a16:creationId xmlns:a16="http://schemas.microsoft.com/office/drawing/2014/main" id="{D54069B0-08E0-4CC2-881B-D8F074AE7D91}"/>
              </a:ext>
            </a:extLst>
          </p:cNvPr>
          <p:cNvSpPr/>
          <p:nvPr/>
        </p:nvSpPr>
        <p:spPr>
          <a:xfrm>
            <a:off x="1831123" y="2943363"/>
            <a:ext cx="6986761" cy="1200329"/>
          </a:xfrm>
          <a:prstGeom prst="rect">
            <a:avLst/>
          </a:prstGeom>
        </p:spPr>
        <p:txBody>
          <a:bodyPr wrap="square">
            <a:spAutoFit/>
          </a:bodyPr>
          <a:lstStyle/>
          <a:p>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给正投影打下了坚实、系统的理论基础</a:t>
            </a:r>
            <a:endParaRPr lang="en-US" altLang="zh-CN" dirty="0">
              <a:latin typeface="黑体" panose="02010609060101010101" pitchFamily="49" charset="-122"/>
              <a:ea typeface="黑体" panose="02010609060101010101" pitchFamily="49" charset="-122"/>
            </a:endParaRPr>
          </a:p>
          <a:p>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使单面正投影图过渡到多面正投影图，并在工程技术上得到了广泛的应用。</a:t>
            </a:r>
            <a:endParaRPr lang="zh-CN" altLang="zh-CN"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224860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0-#ppt_w/2"/>
                                          </p:val>
                                        </p:tav>
                                        <p:tav tm="100000">
                                          <p:val>
                                            <p:strVal val="#ppt_x"/>
                                          </p:val>
                                        </p:tav>
                                      </p:tavLst>
                                    </p:anim>
                                    <p:anim calcmode="lin" valueType="num">
                                      <p:cBhvr additive="base">
                                        <p:cTn id="26"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2"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a:xfrm>
            <a:off x="3143672" y="116632"/>
            <a:ext cx="5500688" cy="646331"/>
          </a:xfrm>
          <a:prstGeom prst="rect">
            <a:avLst/>
          </a:prstGeom>
        </p:spPr>
        <p:txBody>
          <a:bodyPr anchor="ctr">
            <a:spAutoFit/>
          </a:bodyPr>
          <a:lstStyle/>
          <a:p>
            <a:pPr algn="ctr" fontAlgn="auto">
              <a:spcAft>
                <a:spcPts val="0"/>
              </a:spcAft>
              <a:defRPr/>
            </a:pP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工程制图</a:t>
            </a: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课程</a:t>
            </a:r>
          </a:p>
        </p:txBody>
      </p:sp>
      <p:sp>
        <p:nvSpPr>
          <p:cNvPr id="5" name="矩形 4">
            <a:extLst>
              <a:ext uri="{FF2B5EF4-FFF2-40B4-BE49-F238E27FC236}">
                <a16:creationId xmlns:a16="http://schemas.microsoft.com/office/drawing/2014/main" id="{AAED0A00-FDD7-4AF3-BAF2-A9665BFB9104}"/>
              </a:ext>
            </a:extLst>
          </p:cNvPr>
          <p:cNvSpPr/>
          <p:nvPr/>
        </p:nvSpPr>
        <p:spPr>
          <a:xfrm>
            <a:off x="1171035" y="589576"/>
            <a:ext cx="1354698" cy="656846"/>
          </a:xfrm>
          <a:prstGeom prst="rect">
            <a:avLst/>
          </a:prstGeom>
        </p:spPr>
        <p:txBody>
          <a:bodyPr wrap="square">
            <a:spAutoFit/>
          </a:bodyPr>
          <a:lstStyle/>
          <a:p>
            <a:pPr algn="ctr">
              <a:lnSpc>
                <a:spcPct val="150000"/>
              </a:lnSpc>
              <a:spcAft>
                <a:spcPts val="0"/>
              </a:spcAft>
            </a:pPr>
            <a:r>
              <a:rPr lang="zh-CN" altLang="en-US" sz="2800" b="1" kern="100" dirty="0">
                <a:solidFill>
                  <a:srgbClr val="0070C0"/>
                </a:solidFill>
                <a:latin typeface="黑体" panose="02010609060101010101" pitchFamily="49" charset="-122"/>
                <a:ea typeface="黑体" panose="02010609060101010101" pitchFamily="49" charset="-122"/>
              </a:rPr>
              <a:t>近代：</a:t>
            </a:r>
            <a:endParaRPr lang="zh-CN" altLang="zh-CN" sz="2800" b="1" kern="100" dirty="0">
              <a:solidFill>
                <a:srgbClr val="0070C0"/>
              </a:solidFill>
              <a:latin typeface="黑体" panose="02010609060101010101" pitchFamily="49" charset="-122"/>
              <a:ea typeface="黑体" panose="02010609060101010101" pitchFamily="49" charset="-122"/>
            </a:endParaRPr>
          </a:p>
        </p:txBody>
      </p:sp>
      <p:sp>
        <p:nvSpPr>
          <p:cNvPr id="4" name="矩形 3">
            <a:extLst>
              <a:ext uri="{FF2B5EF4-FFF2-40B4-BE49-F238E27FC236}">
                <a16:creationId xmlns:a16="http://schemas.microsoft.com/office/drawing/2014/main" id="{AA90B97B-DAC5-4D4A-A192-84620575468C}"/>
              </a:ext>
            </a:extLst>
          </p:cNvPr>
          <p:cNvSpPr/>
          <p:nvPr/>
        </p:nvSpPr>
        <p:spPr>
          <a:xfrm>
            <a:off x="5087888" y="1545913"/>
            <a:ext cx="5500688" cy="2677656"/>
          </a:xfrm>
          <a:prstGeom prst="rect">
            <a:avLst/>
          </a:prstGeom>
        </p:spPr>
        <p:txBody>
          <a:bodyPr wrap="square">
            <a:spAutoFit/>
          </a:bodyPr>
          <a:lstStyle/>
          <a:p>
            <a:pPr algn="just"/>
            <a:r>
              <a:rPr lang="zh-CN" altLang="en-US" dirty="0"/>
              <a:t>        我国著名的教育家、工程图学专家和科普作家、中国工程图学学会主要创始人、华中理工大学赵学田教授。他创造的机械工人“看图法”、“画图法”所总结的</a:t>
            </a:r>
            <a:r>
              <a:rPr lang="zh-CN" altLang="en-US" b="1" dirty="0">
                <a:latin typeface="黑体" panose="02010609060101010101" pitchFamily="49" charset="-122"/>
                <a:ea typeface="黑体" panose="02010609060101010101" pitchFamily="49" charset="-122"/>
              </a:rPr>
              <a:t>“长对正、高平齐、宽相等”</a:t>
            </a:r>
            <a:r>
              <a:rPr lang="zh-CN" altLang="en-US" dirty="0"/>
              <a:t>这一通俗、简洁的三视图的投影规律、名扬天下。</a:t>
            </a:r>
            <a:endParaRPr lang="en-US" altLang="zh-CN" dirty="0"/>
          </a:p>
        </p:txBody>
      </p:sp>
      <p:pic>
        <p:nvPicPr>
          <p:cNvPr id="6" name="图片 5">
            <a:extLst>
              <a:ext uri="{FF2B5EF4-FFF2-40B4-BE49-F238E27FC236}">
                <a16:creationId xmlns:a16="http://schemas.microsoft.com/office/drawing/2014/main" id="{7816F212-9E1F-455B-B1A1-92D6BF01A69E}"/>
              </a:ext>
            </a:extLst>
          </p:cNvPr>
          <p:cNvPicPr>
            <a:picLocks noChangeAspect="1"/>
          </p:cNvPicPr>
          <p:nvPr/>
        </p:nvPicPr>
        <p:blipFill>
          <a:blip r:embed="rId3"/>
          <a:stretch>
            <a:fillRect/>
          </a:stretch>
        </p:blipFill>
        <p:spPr>
          <a:xfrm>
            <a:off x="1271464" y="1349520"/>
            <a:ext cx="3556813" cy="3568288"/>
          </a:xfrm>
          <a:prstGeom prst="rect">
            <a:avLst/>
          </a:prstGeom>
        </p:spPr>
      </p:pic>
      <p:sp>
        <p:nvSpPr>
          <p:cNvPr id="8" name="矩形 7">
            <a:extLst>
              <a:ext uri="{FF2B5EF4-FFF2-40B4-BE49-F238E27FC236}">
                <a16:creationId xmlns:a16="http://schemas.microsoft.com/office/drawing/2014/main" id="{3D999863-A0CB-4675-A7E3-460FA86F36EE}"/>
              </a:ext>
            </a:extLst>
          </p:cNvPr>
          <p:cNvSpPr/>
          <p:nvPr/>
        </p:nvSpPr>
        <p:spPr>
          <a:xfrm>
            <a:off x="1171035" y="5006519"/>
            <a:ext cx="9533477" cy="1200329"/>
          </a:xfrm>
          <a:prstGeom prst="rect">
            <a:avLst/>
          </a:prstGeom>
        </p:spPr>
        <p:txBody>
          <a:bodyPr wrap="square">
            <a:spAutoFit/>
          </a:bodyPr>
          <a:lstStyle/>
          <a:p>
            <a:r>
              <a:rPr lang="zh-CN" altLang="en-US" dirty="0"/>
              <a:t>       他多次受到毛泽东、刘少奇等党和国家领导人的接见。</a:t>
            </a:r>
            <a:r>
              <a:rPr lang="en-US" altLang="zh-CN" dirty="0"/>
              <a:t>1984</a:t>
            </a:r>
            <a:r>
              <a:rPr lang="zh-CN" altLang="en-US" dirty="0"/>
              <a:t>年</a:t>
            </a:r>
            <a:r>
              <a:rPr lang="en-US" altLang="zh-CN" dirty="0"/>
              <a:t>1</a:t>
            </a:r>
            <a:r>
              <a:rPr lang="zh-CN" altLang="en-US" dirty="0"/>
              <a:t>月，他和华罗庚、茅以升等</a:t>
            </a:r>
            <a:r>
              <a:rPr lang="en-US" altLang="zh-CN" dirty="0"/>
              <a:t>17</a:t>
            </a:r>
            <a:r>
              <a:rPr lang="zh-CN" altLang="en-US" dirty="0"/>
              <a:t>位著名科学家被评为“为我国科普事业作出卓越贡献”的科普作家。</a:t>
            </a:r>
          </a:p>
        </p:txBody>
      </p:sp>
    </p:spTree>
    <p:extLst>
      <p:ext uri="{BB962C8B-B14F-4D97-AF65-F5344CB8AC3E}">
        <p14:creationId xmlns:p14="http://schemas.microsoft.com/office/powerpoint/2010/main" val="227264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out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outVertic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a:xfrm>
            <a:off x="3143672" y="116632"/>
            <a:ext cx="5500688" cy="646331"/>
          </a:xfrm>
          <a:prstGeom prst="rect">
            <a:avLst/>
          </a:prstGeom>
        </p:spPr>
        <p:txBody>
          <a:bodyPr anchor="ctr">
            <a:spAutoFit/>
          </a:bodyPr>
          <a:lstStyle/>
          <a:p>
            <a:pPr algn="ctr" fontAlgn="auto">
              <a:spcAft>
                <a:spcPts val="0"/>
              </a:spcAft>
              <a:defRPr/>
            </a:pP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工程制图</a:t>
            </a: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课程</a:t>
            </a:r>
          </a:p>
        </p:txBody>
      </p:sp>
      <p:sp>
        <p:nvSpPr>
          <p:cNvPr id="13" name="矩形 12">
            <a:extLst>
              <a:ext uri="{FF2B5EF4-FFF2-40B4-BE49-F238E27FC236}">
                <a16:creationId xmlns:a16="http://schemas.microsoft.com/office/drawing/2014/main" id="{DB6B7FF3-B29B-4A7E-A322-CA5C087B43E0}"/>
              </a:ext>
            </a:extLst>
          </p:cNvPr>
          <p:cNvSpPr/>
          <p:nvPr/>
        </p:nvSpPr>
        <p:spPr>
          <a:xfrm>
            <a:off x="983432" y="762963"/>
            <a:ext cx="1354698" cy="656846"/>
          </a:xfrm>
          <a:prstGeom prst="rect">
            <a:avLst/>
          </a:prstGeom>
        </p:spPr>
        <p:txBody>
          <a:bodyPr wrap="square">
            <a:spAutoFit/>
          </a:bodyPr>
          <a:lstStyle/>
          <a:p>
            <a:pPr algn="ctr">
              <a:lnSpc>
                <a:spcPct val="150000"/>
              </a:lnSpc>
              <a:spcAft>
                <a:spcPts val="0"/>
              </a:spcAft>
            </a:pPr>
            <a:r>
              <a:rPr lang="zh-CN" altLang="en-US" sz="2800" b="1" kern="100" dirty="0">
                <a:solidFill>
                  <a:srgbClr val="0070C0"/>
                </a:solidFill>
                <a:latin typeface="黑体" panose="02010609060101010101" pitchFamily="49" charset="-122"/>
                <a:ea typeface="黑体" panose="02010609060101010101" pitchFamily="49" charset="-122"/>
              </a:rPr>
              <a:t>现代：</a:t>
            </a:r>
            <a:endParaRPr lang="zh-CN" altLang="zh-CN" sz="2800" b="1" kern="100" dirty="0">
              <a:solidFill>
                <a:srgbClr val="0070C0"/>
              </a:solidFill>
              <a:latin typeface="黑体" panose="02010609060101010101" pitchFamily="49" charset="-122"/>
              <a:ea typeface="黑体" panose="02010609060101010101" pitchFamily="49" charset="-122"/>
            </a:endParaRPr>
          </a:p>
        </p:txBody>
      </p:sp>
      <p:sp>
        <p:nvSpPr>
          <p:cNvPr id="3" name="矩形 2">
            <a:extLst>
              <a:ext uri="{FF2B5EF4-FFF2-40B4-BE49-F238E27FC236}">
                <a16:creationId xmlns:a16="http://schemas.microsoft.com/office/drawing/2014/main" id="{46CF44A0-3632-43A1-9280-C7F6D637F8BD}"/>
              </a:ext>
            </a:extLst>
          </p:cNvPr>
          <p:cNvSpPr/>
          <p:nvPr/>
        </p:nvSpPr>
        <p:spPr>
          <a:xfrm>
            <a:off x="551384" y="1297007"/>
            <a:ext cx="10948898" cy="1200329"/>
          </a:xfrm>
          <a:prstGeom prst="rect">
            <a:avLst/>
          </a:prstGeom>
        </p:spPr>
        <p:txBody>
          <a:bodyPr wrap="square">
            <a:spAutoFit/>
          </a:bodyPr>
          <a:lstStyle/>
          <a:p>
            <a:pPr algn="just"/>
            <a:r>
              <a:rPr lang="zh-CN" altLang="en-US" dirty="0"/>
              <a:t>          随着计算机技术的出现，</a:t>
            </a:r>
            <a:r>
              <a:rPr lang="en-US" altLang="zh-CN" dirty="0"/>
              <a:t>20</a:t>
            </a:r>
            <a:r>
              <a:rPr lang="zh-CN" altLang="en-US" dirty="0"/>
              <a:t>世纪</a:t>
            </a:r>
            <a:r>
              <a:rPr lang="en-US" altLang="zh-CN" dirty="0"/>
              <a:t>70</a:t>
            </a:r>
            <a:r>
              <a:rPr lang="zh-CN" altLang="en-US" dirty="0"/>
              <a:t>年代，计算机图形学、计算机辅助设计（</a:t>
            </a:r>
            <a:r>
              <a:rPr lang="en-US" altLang="zh-CN" dirty="0"/>
              <a:t>CAD</a:t>
            </a:r>
            <a:r>
              <a:rPr lang="zh-CN" altLang="en-US" dirty="0"/>
              <a:t>）、计算机绘图在我国得到迅猛发展，除了国外一批先进的图形、图象软件如</a:t>
            </a:r>
            <a:r>
              <a:rPr lang="en-US" altLang="zh-CN" dirty="0"/>
              <a:t>AutoCAD</a:t>
            </a:r>
            <a:r>
              <a:rPr lang="zh-CN" altLang="en-US" dirty="0"/>
              <a:t>、</a:t>
            </a:r>
            <a:r>
              <a:rPr lang="en-US" altLang="zh-CN" dirty="0"/>
              <a:t>Pro/E</a:t>
            </a:r>
            <a:r>
              <a:rPr lang="zh-CN" altLang="en-US" dirty="0"/>
              <a:t>等得到广泛使用外，</a:t>
            </a:r>
            <a:r>
              <a:rPr lang="zh-CN" altLang="en-US" dirty="0">
                <a:solidFill>
                  <a:srgbClr val="FF0000"/>
                </a:solidFill>
              </a:rPr>
              <a:t>我国自主开发的一批国产绘图软件。</a:t>
            </a:r>
            <a:endParaRPr lang="zh-CN" altLang="en-US" dirty="0"/>
          </a:p>
        </p:txBody>
      </p:sp>
      <p:sp>
        <p:nvSpPr>
          <p:cNvPr id="9" name="矩形 8">
            <a:extLst>
              <a:ext uri="{FF2B5EF4-FFF2-40B4-BE49-F238E27FC236}">
                <a16:creationId xmlns:a16="http://schemas.microsoft.com/office/drawing/2014/main" id="{8FB50EE6-3202-4157-B8AD-0BFE4BB000F3}"/>
              </a:ext>
            </a:extLst>
          </p:cNvPr>
          <p:cNvSpPr/>
          <p:nvPr/>
        </p:nvSpPr>
        <p:spPr>
          <a:xfrm>
            <a:off x="551383" y="5874710"/>
            <a:ext cx="10972701" cy="830997"/>
          </a:xfrm>
          <a:prstGeom prst="rect">
            <a:avLst/>
          </a:prstGeom>
        </p:spPr>
        <p:txBody>
          <a:bodyPr wrap="square">
            <a:spAutoFit/>
          </a:bodyPr>
          <a:lstStyle/>
          <a:p>
            <a:pPr algn="just"/>
            <a:r>
              <a:rPr lang="zh-CN" altLang="en-US" dirty="0"/>
              <a:t>如：中望</a:t>
            </a:r>
            <a:r>
              <a:rPr lang="en-US" altLang="zh-CN" dirty="0"/>
              <a:t>ZWFOST</a:t>
            </a:r>
            <a:r>
              <a:rPr lang="zh-CN" altLang="en-US" dirty="0"/>
              <a:t>、浩辰</a:t>
            </a:r>
            <a:r>
              <a:rPr lang="en-US" altLang="zh-CN" dirty="0"/>
              <a:t>CAD</a:t>
            </a:r>
            <a:r>
              <a:rPr lang="zh-CN" altLang="en-US" dirty="0"/>
              <a:t>、数码大方</a:t>
            </a:r>
            <a:r>
              <a:rPr lang="en-US" altLang="zh-CN" dirty="0"/>
              <a:t>CAXA</a:t>
            </a:r>
            <a:r>
              <a:rPr lang="zh-CN" altLang="en-US" dirty="0"/>
              <a:t>等也在设计、教学、科研生产单位得到广泛使用</a:t>
            </a:r>
          </a:p>
        </p:txBody>
      </p:sp>
      <p:pic>
        <p:nvPicPr>
          <p:cNvPr id="7" name="图片 6">
            <a:extLst>
              <a:ext uri="{FF2B5EF4-FFF2-40B4-BE49-F238E27FC236}">
                <a16:creationId xmlns:a16="http://schemas.microsoft.com/office/drawing/2014/main" id="{42679D1E-FF3E-446F-836F-76E4C5C5B739}"/>
              </a:ext>
            </a:extLst>
          </p:cNvPr>
          <p:cNvPicPr>
            <a:picLocks noChangeAspect="1"/>
          </p:cNvPicPr>
          <p:nvPr/>
        </p:nvPicPr>
        <p:blipFill>
          <a:blip r:embed="rId3"/>
          <a:stretch>
            <a:fillRect/>
          </a:stretch>
        </p:blipFill>
        <p:spPr>
          <a:xfrm>
            <a:off x="667915" y="2497336"/>
            <a:ext cx="4759651" cy="1970640"/>
          </a:xfrm>
          <a:prstGeom prst="rect">
            <a:avLst/>
          </a:prstGeom>
        </p:spPr>
      </p:pic>
      <p:pic>
        <p:nvPicPr>
          <p:cNvPr id="8" name="图片 7">
            <a:extLst>
              <a:ext uri="{FF2B5EF4-FFF2-40B4-BE49-F238E27FC236}">
                <a16:creationId xmlns:a16="http://schemas.microsoft.com/office/drawing/2014/main" id="{084CDCAC-5CAF-499D-821C-1B2314192AEB}"/>
              </a:ext>
            </a:extLst>
          </p:cNvPr>
          <p:cNvPicPr>
            <a:picLocks noChangeAspect="1"/>
          </p:cNvPicPr>
          <p:nvPr/>
        </p:nvPicPr>
        <p:blipFill>
          <a:blip r:embed="rId4"/>
          <a:stretch>
            <a:fillRect/>
          </a:stretch>
        </p:blipFill>
        <p:spPr>
          <a:xfrm>
            <a:off x="5735959" y="2497336"/>
            <a:ext cx="5616624" cy="1941969"/>
          </a:xfrm>
          <a:prstGeom prst="rect">
            <a:avLst/>
          </a:prstGeom>
        </p:spPr>
      </p:pic>
      <p:pic>
        <p:nvPicPr>
          <p:cNvPr id="10" name="图片 9">
            <a:extLst>
              <a:ext uri="{FF2B5EF4-FFF2-40B4-BE49-F238E27FC236}">
                <a16:creationId xmlns:a16="http://schemas.microsoft.com/office/drawing/2014/main" id="{FA3AB312-8BA5-4C3E-94C8-A2A26A2D71AE}"/>
              </a:ext>
            </a:extLst>
          </p:cNvPr>
          <p:cNvPicPr>
            <a:picLocks noChangeAspect="1"/>
          </p:cNvPicPr>
          <p:nvPr/>
        </p:nvPicPr>
        <p:blipFill>
          <a:blip r:embed="rId5"/>
          <a:stretch>
            <a:fillRect/>
          </a:stretch>
        </p:blipFill>
        <p:spPr>
          <a:xfrm>
            <a:off x="667915" y="3904070"/>
            <a:ext cx="4759651" cy="2043581"/>
          </a:xfrm>
          <a:prstGeom prst="rect">
            <a:avLst/>
          </a:prstGeom>
        </p:spPr>
      </p:pic>
      <p:pic>
        <p:nvPicPr>
          <p:cNvPr id="14" name="图片 13">
            <a:extLst>
              <a:ext uri="{FF2B5EF4-FFF2-40B4-BE49-F238E27FC236}">
                <a16:creationId xmlns:a16="http://schemas.microsoft.com/office/drawing/2014/main" id="{4B2D3BC7-80D7-4290-80DF-4C608C8A681E}"/>
              </a:ext>
            </a:extLst>
          </p:cNvPr>
          <p:cNvPicPr>
            <a:picLocks noChangeAspect="1"/>
          </p:cNvPicPr>
          <p:nvPr/>
        </p:nvPicPr>
        <p:blipFill>
          <a:blip r:embed="rId6"/>
          <a:stretch>
            <a:fillRect/>
          </a:stretch>
        </p:blipFill>
        <p:spPr>
          <a:xfrm>
            <a:off x="5735958" y="4022959"/>
            <a:ext cx="5616623" cy="1885177"/>
          </a:xfrm>
          <a:prstGeom prst="rect">
            <a:avLst/>
          </a:prstGeom>
        </p:spPr>
      </p:pic>
    </p:spTree>
    <p:extLst>
      <p:ext uri="{BB962C8B-B14F-4D97-AF65-F5344CB8AC3E}">
        <p14:creationId xmlns:p14="http://schemas.microsoft.com/office/powerpoint/2010/main" val="111408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3"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heel(3)">
                                      <p:cBhvr>
                                        <p:cTn id="17" dur="1000"/>
                                        <p:tgtEl>
                                          <p:spTgt spid="7"/>
                                        </p:tgtEl>
                                      </p:cBhvr>
                                    </p:animEffect>
                                  </p:childTnLst>
                                </p:cTn>
                              </p:par>
                              <p:par>
                                <p:cTn id="18" presetID="21" presetClass="entr" presetSubtype="3"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heel(3)">
                                      <p:cBhvr>
                                        <p:cTn id="20" dur="1000"/>
                                        <p:tgtEl>
                                          <p:spTgt spid="8"/>
                                        </p:tgtEl>
                                      </p:cBhvr>
                                    </p:animEffect>
                                  </p:childTnLst>
                                </p:cTn>
                              </p:par>
                              <p:par>
                                <p:cTn id="21" presetID="21" presetClass="entr" presetSubtype="3"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heel(3)">
                                      <p:cBhvr>
                                        <p:cTn id="23" dur="1000"/>
                                        <p:tgtEl>
                                          <p:spTgt spid="10"/>
                                        </p:tgtEl>
                                      </p:cBhvr>
                                    </p:animEffect>
                                  </p:childTnLst>
                                </p:cTn>
                              </p:par>
                              <p:par>
                                <p:cTn id="24" presetID="21" presetClass="entr" presetSubtype="3"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heel(3)">
                                      <p:cBhvr>
                                        <p:cTn id="26" dur="10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44105" y="2256465"/>
            <a:ext cx="4295493" cy="4295493"/>
          </a:xfrm>
          <a:prstGeom prst="rect">
            <a:avLst/>
          </a:prstGeom>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424" y="1326357"/>
            <a:ext cx="5360946" cy="4074319"/>
          </a:xfrm>
          <a:prstGeom prst="rect">
            <a:avLst/>
          </a:prstGeom>
        </p:spPr>
      </p:pic>
      <p:pic>
        <p:nvPicPr>
          <p:cNvPr id="15366" name="Picture 10" descr="汽车及汽油发动机"/>
          <p:cNvPicPr>
            <a:picLocks noChangeAspect="1" noChangeArrowheads="1"/>
          </p:cNvPicPr>
          <p:nvPr/>
        </p:nvPicPr>
        <p:blipFill>
          <a:blip r:embed="rId5"/>
          <a:srcRect/>
          <a:stretch>
            <a:fillRect/>
          </a:stretch>
        </p:blipFill>
        <p:spPr bwMode="auto">
          <a:xfrm>
            <a:off x="767408" y="3253250"/>
            <a:ext cx="6934239" cy="3136477"/>
          </a:xfrm>
          <a:prstGeom prst="rect">
            <a:avLst/>
          </a:prstGeom>
          <a:noFill/>
          <a:ln w="28575">
            <a:solidFill>
              <a:schemeClr val="accent2"/>
            </a:solidFill>
            <a:miter lim="800000"/>
            <a:headEnd/>
            <a:tailEnd/>
          </a:ln>
        </p:spPr>
      </p:pic>
      <p:sp>
        <p:nvSpPr>
          <p:cNvPr id="14" name="Rectangle 47"/>
          <p:cNvSpPr>
            <a:spLocks noChangeArrowheads="1"/>
          </p:cNvSpPr>
          <p:nvPr/>
        </p:nvSpPr>
        <p:spPr bwMode="auto">
          <a:xfrm>
            <a:off x="5970057" y="2382013"/>
            <a:ext cx="2408336" cy="461665"/>
          </a:xfrm>
          <a:prstGeom prst="rect">
            <a:avLst/>
          </a:prstGeom>
          <a:noFill/>
          <a:ln w="9525">
            <a:noFill/>
            <a:miter lim="800000"/>
            <a:headEnd/>
            <a:tailEnd/>
          </a:ln>
          <a:effectLst/>
        </p:spPr>
        <p:txBody>
          <a:bodyPr wrap="square" anchor="ctr">
            <a:spAutoFit/>
          </a:bodyPr>
          <a:lstStyle/>
          <a:p>
            <a:pPr indent="261938">
              <a:defRPr/>
            </a:pPr>
            <a:r>
              <a:rPr lang="zh-CN" altLang="en-US" b="1" dirty="0">
                <a:solidFill>
                  <a:srgbClr val="FF0000"/>
                </a:solidFill>
                <a:latin typeface="+mn-ea"/>
                <a:ea typeface="+mn-ea"/>
              </a:rPr>
              <a:t>图片来自百度</a:t>
            </a:r>
          </a:p>
        </p:txBody>
      </p:sp>
      <p:sp>
        <p:nvSpPr>
          <p:cNvPr id="15" name="标题 1">
            <a:extLst>
              <a:ext uri="{FF2B5EF4-FFF2-40B4-BE49-F238E27FC236}">
                <a16:creationId xmlns:a16="http://schemas.microsoft.com/office/drawing/2014/main" id="{13B321B0-5D2A-4D3E-9BF6-625CDCC61599}"/>
              </a:ext>
            </a:extLst>
          </p:cNvPr>
          <p:cNvSpPr txBox="1">
            <a:spLocks/>
          </p:cNvSpPr>
          <p:nvPr/>
        </p:nvSpPr>
        <p:spPr>
          <a:xfrm>
            <a:off x="3381375" y="276117"/>
            <a:ext cx="5500688" cy="646331"/>
          </a:xfrm>
          <a:prstGeom prst="rect">
            <a:avLst/>
          </a:prstGeom>
        </p:spPr>
        <p:txBody>
          <a:bodyPr anchor="ctr">
            <a:spAutoFit/>
          </a:bodyPr>
          <a:lstStyle/>
          <a:p>
            <a:pPr algn="ctr" fontAlgn="auto">
              <a:spcAft>
                <a:spcPts val="0"/>
              </a:spcAft>
              <a:defRPr/>
            </a:pP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工程制图</a:t>
            </a: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课程</a:t>
            </a:r>
          </a:p>
        </p:txBody>
      </p:sp>
    </p:spTree>
    <p:extLst>
      <p:ext uri="{BB962C8B-B14F-4D97-AF65-F5344CB8AC3E}">
        <p14:creationId xmlns:p14="http://schemas.microsoft.com/office/powerpoint/2010/main" val="2437372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out)">
                                      <p:cBhvr>
                                        <p:cTn id="7" dur="2000"/>
                                        <p:tgtEl>
                                          <p:spTgt spid="4"/>
                                        </p:tgtEl>
                                      </p:cBhvr>
                                    </p:animEffect>
                                  </p:childTnLst>
                                </p:cTn>
                              </p:par>
                              <p:par>
                                <p:cTn id="8" presetID="8" presetClass="entr" presetSubtype="32" fill="hold" nodeType="withEffect">
                                  <p:stCondLst>
                                    <p:cond delay="0"/>
                                  </p:stCondLst>
                                  <p:childTnLst>
                                    <p:set>
                                      <p:cBhvr>
                                        <p:cTn id="9" dur="1" fill="hold">
                                          <p:stCondLst>
                                            <p:cond delay="0"/>
                                          </p:stCondLst>
                                        </p:cTn>
                                        <p:tgtEl>
                                          <p:spTgt spid="15366"/>
                                        </p:tgtEl>
                                        <p:attrNameLst>
                                          <p:attrName>style.visibility</p:attrName>
                                        </p:attrNameLst>
                                      </p:cBhvr>
                                      <p:to>
                                        <p:strVal val="visible"/>
                                      </p:to>
                                    </p:set>
                                    <p:animEffect transition="in" filter="diamond(out)">
                                      <p:cBhvr>
                                        <p:cTn id="10" dur="1000"/>
                                        <p:tgtEl>
                                          <p:spTgt spid="1536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a:xfrm>
            <a:off x="3381375" y="276117"/>
            <a:ext cx="5500688" cy="646331"/>
          </a:xfrm>
          <a:prstGeom prst="rect">
            <a:avLst/>
          </a:prstGeom>
        </p:spPr>
        <p:txBody>
          <a:bodyPr anchor="ctr">
            <a:spAutoFit/>
          </a:bodyPr>
          <a:lstStyle/>
          <a:p>
            <a:pPr algn="ctr" fontAlgn="auto">
              <a:spcAft>
                <a:spcPts val="0"/>
              </a:spcAft>
              <a:defRPr/>
            </a:pP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工程制图</a:t>
            </a: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课程</a:t>
            </a:r>
          </a:p>
        </p:txBody>
      </p:sp>
      <p:sp>
        <p:nvSpPr>
          <p:cNvPr id="17" name="矩形 16">
            <a:extLst>
              <a:ext uri="{FF2B5EF4-FFF2-40B4-BE49-F238E27FC236}">
                <a16:creationId xmlns:a16="http://schemas.microsoft.com/office/drawing/2014/main" id="{20334467-8A1D-4C98-9E71-F4DFA237DF62}"/>
              </a:ext>
            </a:extLst>
          </p:cNvPr>
          <p:cNvSpPr/>
          <p:nvPr/>
        </p:nvSpPr>
        <p:spPr>
          <a:xfrm>
            <a:off x="897970" y="1337521"/>
            <a:ext cx="7646302" cy="523220"/>
          </a:xfrm>
          <a:prstGeom prst="rect">
            <a:avLst/>
          </a:prstGeom>
        </p:spPr>
        <p:txBody>
          <a:bodyPr wrap="square">
            <a:spAutoFit/>
          </a:bodyPr>
          <a:lstStyle/>
          <a:p>
            <a:r>
              <a:rPr lang="zh-CN" altLang="en-US" sz="2800" b="1" dirty="0">
                <a:latin typeface="黑体" panose="02010609060101010101" pitchFamily="49" charset="-122"/>
                <a:ea typeface="黑体" panose="02010609060101010101" pitchFamily="49" charset="-122"/>
              </a:rPr>
              <a:t>航天、集成制造、虚拟、扫描、可视化等：</a:t>
            </a:r>
            <a:endParaRPr lang="zh-CN" altLang="zh-CN" sz="2800" b="1" dirty="0">
              <a:latin typeface="黑体" panose="02010609060101010101" pitchFamily="49" charset="-122"/>
              <a:ea typeface="黑体" panose="02010609060101010101" pitchFamily="49" charset="-122"/>
            </a:endParaRPr>
          </a:p>
        </p:txBody>
      </p:sp>
      <p:pic>
        <p:nvPicPr>
          <p:cNvPr id="2" name="图片 1">
            <a:extLst>
              <a:ext uri="{FF2B5EF4-FFF2-40B4-BE49-F238E27FC236}">
                <a16:creationId xmlns:a16="http://schemas.microsoft.com/office/drawing/2014/main" id="{5563075D-0A7B-4D8C-9E18-4C1D0157EA3E}"/>
              </a:ext>
            </a:extLst>
          </p:cNvPr>
          <p:cNvPicPr>
            <a:picLocks noChangeAspect="1"/>
          </p:cNvPicPr>
          <p:nvPr/>
        </p:nvPicPr>
        <p:blipFill>
          <a:blip r:embed="rId3"/>
          <a:stretch>
            <a:fillRect/>
          </a:stretch>
        </p:blipFill>
        <p:spPr>
          <a:xfrm>
            <a:off x="3143673" y="1949279"/>
            <a:ext cx="2952328" cy="1768663"/>
          </a:xfrm>
          <a:prstGeom prst="rect">
            <a:avLst/>
          </a:prstGeom>
        </p:spPr>
      </p:pic>
      <p:pic>
        <p:nvPicPr>
          <p:cNvPr id="6" name="图片 5">
            <a:extLst>
              <a:ext uri="{FF2B5EF4-FFF2-40B4-BE49-F238E27FC236}">
                <a16:creationId xmlns:a16="http://schemas.microsoft.com/office/drawing/2014/main" id="{74EDDCD4-402D-48A9-8C1D-A45524A44DF4}"/>
              </a:ext>
            </a:extLst>
          </p:cNvPr>
          <p:cNvPicPr>
            <a:picLocks noChangeAspect="1"/>
          </p:cNvPicPr>
          <p:nvPr/>
        </p:nvPicPr>
        <p:blipFill rotWithShape="1">
          <a:blip r:embed="rId4"/>
          <a:srcRect l="11406" r="45437"/>
          <a:stretch/>
        </p:blipFill>
        <p:spPr>
          <a:xfrm>
            <a:off x="551384" y="2276872"/>
            <a:ext cx="2452049" cy="3786851"/>
          </a:xfrm>
          <a:prstGeom prst="rect">
            <a:avLst/>
          </a:prstGeom>
        </p:spPr>
      </p:pic>
      <p:pic>
        <p:nvPicPr>
          <p:cNvPr id="7" name="图片 6">
            <a:extLst>
              <a:ext uri="{FF2B5EF4-FFF2-40B4-BE49-F238E27FC236}">
                <a16:creationId xmlns:a16="http://schemas.microsoft.com/office/drawing/2014/main" id="{F4200D3E-53D9-4DC1-A9F3-2F322C168DFD}"/>
              </a:ext>
            </a:extLst>
          </p:cNvPr>
          <p:cNvPicPr>
            <a:picLocks noChangeAspect="1"/>
          </p:cNvPicPr>
          <p:nvPr/>
        </p:nvPicPr>
        <p:blipFill>
          <a:blip r:embed="rId5"/>
          <a:stretch>
            <a:fillRect/>
          </a:stretch>
        </p:blipFill>
        <p:spPr>
          <a:xfrm>
            <a:off x="3164384" y="3869372"/>
            <a:ext cx="2957314" cy="2957314"/>
          </a:xfrm>
          <a:prstGeom prst="rect">
            <a:avLst/>
          </a:prstGeom>
        </p:spPr>
      </p:pic>
      <p:pic>
        <p:nvPicPr>
          <p:cNvPr id="8" name="图片 7">
            <a:extLst>
              <a:ext uri="{FF2B5EF4-FFF2-40B4-BE49-F238E27FC236}">
                <a16:creationId xmlns:a16="http://schemas.microsoft.com/office/drawing/2014/main" id="{2279063C-A99B-432F-A6E5-F2299ADC874B}"/>
              </a:ext>
            </a:extLst>
          </p:cNvPr>
          <p:cNvPicPr>
            <a:picLocks noChangeAspect="1"/>
          </p:cNvPicPr>
          <p:nvPr/>
        </p:nvPicPr>
        <p:blipFill>
          <a:blip r:embed="rId6"/>
          <a:stretch>
            <a:fillRect/>
          </a:stretch>
        </p:blipFill>
        <p:spPr>
          <a:xfrm>
            <a:off x="6600462" y="1863869"/>
            <a:ext cx="4693568" cy="3133391"/>
          </a:xfrm>
          <a:prstGeom prst="rect">
            <a:avLst/>
          </a:prstGeom>
        </p:spPr>
      </p:pic>
      <p:pic>
        <p:nvPicPr>
          <p:cNvPr id="9" name="图片 8">
            <a:extLst>
              <a:ext uri="{FF2B5EF4-FFF2-40B4-BE49-F238E27FC236}">
                <a16:creationId xmlns:a16="http://schemas.microsoft.com/office/drawing/2014/main" id="{9B459E23-19B2-4B37-AF4B-E673D2D924AB}"/>
              </a:ext>
            </a:extLst>
          </p:cNvPr>
          <p:cNvPicPr>
            <a:picLocks noChangeAspect="1"/>
          </p:cNvPicPr>
          <p:nvPr/>
        </p:nvPicPr>
        <p:blipFill>
          <a:blip r:embed="rId7"/>
          <a:stretch>
            <a:fillRect/>
          </a:stretch>
        </p:blipFill>
        <p:spPr>
          <a:xfrm>
            <a:off x="7126808" y="4170297"/>
            <a:ext cx="4464496" cy="2508144"/>
          </a:xfrm>
          <a:prstGeom prst="rect">
            <a:avLst/>
          </a:prstGeom>
        </p:spPr>
      </p:pic>
    </p:spTree>
    <p:extLst>
      <p:ext uri="{BB962C8B-B14F-4D97-AF65-F5344CB8AC3E}">
        <p14:creationId xmlns:p14="http://schemas.microsoft.com/office/powerpoint/2010/main" val="229119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par>
                                <p:cTn id="8" presetID="21"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par>
                                <p:cTn id="11" presetID="21" presetClass="entr" presetSubtype="3"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heel(3)">
                                      <p:cBhvr>
                                        <p:cTn id="13" dur="2000"/>
                                        <p:tgtEl>
                                          <p:spTgt spid="8"/>
                                        </p:tgtEl>
                                      </p:cBhvr>
                                    </p:animEffect>
                                  </p:childTnLst>
                                </p:cTn>
                              </p:par>
                              <p:par>
                                <p:cTn id="14" presetID="21" presetClass="entr" presetSubtype="1"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heel(1)">
                                      <p:cBhvr>
                                        <p:cTn id="16" dur="2000"/>
                                        <p:tgtEl>
                                          <p:spTgt spid="9"/>
                                        </p:tgtEl>
                                      </p:cBhvr>
                                    </p:animEffect>
                                  </p:childTnLst>
                                </p:cTn>
                              </p:par>
                              <p:par>
                                <p:cTn id="17" presetID="21" presetClass="entr" presetSubtype="1"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heel(1)">
                                      <p:cBhvr>
                                        <p:cTn id="19"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a:xfrm>
            <a:off x="3381375" y="276117"/>
            <a:ext cx="5500688" cy="646331"/>
          </a:xfrm>
          <a:prstGeom prst="rect">
            <a:avLst/>
          </a:prstGeom>
        </p:spPr>
        <p:txBody>
          <a:bodyPr anchor="ctr">
            <a:spAutoFit/>
          </a:bodyPr>
          <a:lstStyle/>
          <a:p>
            <a:pPr algn="ctr" fontAlgn="auto">
              <a:spcAft>
                <a:spcPts val="0"/>
              </a:spcAft>
              <a:defRPr/>
            </a:pP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工程制图</a:t>
            </a: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课程</a:t>
            </a:r>
          </a:p>
        </p:txBody>
      </p:sp>
      <p:sp>
        <p:nvSpPr>
          <p:cNvPr id="17" name="矩形 16">
            <a:extLst>
              <a:ext uri="{FF2B5EF4-FFF2-40B4-BE49-F238E27FC236}">
                <a16:creationId xmlns:a16="http://schemas.microsoft.com/office/drawing/2014/main" id="{20334467-8A1D-4C98-9E71-F4DFA237DF62}"/>
              </a:ext>
            </a:extLst>
          </p:cNvPr>
          <p:cNvSpPr/>
          <p:nvPr/>
        </p:nvSpPr>
        <p:spPr>
          <a:xfrm>
            <a:off x="897970" y="1337521"/>
            <a:ext cx="5500688" cy="523220"/>
          </a:xfrm>
          <a:prstGeom prst="rect">
            <a:avLst/>
          </a:prstGeom>
        </p:spPr>
        <p:txBody>
          <a:bodyPr wrap="square">
            <a:spAutoFit/>
          </a:bodyPr>
          <a:lstStyle/>
          <a:p>
            <a:r>
              <a:rPr lang="zh-CN" altLang="en-US" sz="2800" b="1" dirty="0">
                <a:latin typeface="黑体" panose="02010609060101010101" pitchFamily="49" charset="-122"/>
                <a:ea typeface="黑体" panose="02010609060101010101" pitchFamily="49" charset="-122"/>
              </a:rPr>
              <a:t>什么是图纸（工程图样）？</a:t>
            </a:r>
          </a:p>
        </p:txBody>
      </p:sp>
      <p:sp>
        <p:nvSpPr>
          <p:cNvPr id="18" name="标题 1">
            <a:extLst>
              <a:ext uri="{FF2B5EF4-FFF2-40B4-BE49-F238E27FC236}">
                <a16:creationId xmlns:a16="http://schemas.microsoft.com/office/drawing/2014/main" id="{B2D4A787-E299-44EE-9CEC-740C4525E2D1}"/>
              </a:ext>
            </a:extLst>
          </p:cNvPr>
          <p:cNvSpPr txBox="1">
            <a:spLocks/>
          </p:cNvSpPr>
          <p:nvPr/>
        </p:nvSpPr>
        <p:spPr>
          <a:xfrm>
            <a:off x="898944" y="2983701"/>
            <a:ext cx="3036815" cy="523220"/>
          </a:xfrm>
          <a:prstGeom prst="rect">
            <a:avLst/>
          </a:prstGeom>
        </p:spPr>
        <p:txBody>
          <a:bodyPr wrap="square" anchor="ctr">
            <a:spAutoFit/>
          </a:bodyPr>
          <a:lstStyle/>
          <a:p>
            <a:pPr fontAlgn="auto">
              <a:spcAft>
                <a:spcPts val="0"/>
              </a:spcAft>
              <a:defRPr/>
            </a:pPr>
            <a:r>
              <a:rPr kumimoji="0" lang="zh-CN" altLang="en-US" sz="2800" b="1" dirty="0">
                <a:solidFill>
                  <a:schemeClr val="tx2"/>
                </a:solidFill>
                <a:latin typeface="黑体" panose="02010609060101010101" pitchFamily="49" charset="-122"/>
                <a:ea typeface="黑体" panose="02010609060101010101" pitchFamily="49" charset="-122"/>
                <a:cs typeface="+mj-cs"/>
              </a:rPr>
              <a:t>工程图样的作用</a:t>
            </a:r>
          </a:p>
        </p:txBody>
      </p:sp>
      <p:sp>
        <p:nvSpPr>
          <p:cNvPr id="12" name="矩形 11">
            <a:extLst>
              <a:ext uri="{FF2B5EF4-FFF2-40B4-BE49-F238E27FC236}">
                <a16:creationId xmlns:a16="http://schemas.microsoft.com/office/drawing/2014/main" id="{24F7B418-D6C9-4FBD-895E-70418B2A8368}"/>
              </a:ext>
            </a:extLst>
          </p:cNvPr>
          <p:cNvSpPr/>
          <p:nvPr/>
        </p:nvSpPr>
        <p:spPr>
          <a:xfrm>
            <a:off x="947428" y="1927554"/>
            <a:ext cx="10297144" cy="830997"/>
          </a:xfrm>
          <a:prstGeom prst="rect">
            <a:avLst/>
          </a:prstGeom>
        </p:spPr>
        <p:txBody>
          <a:bodyPr wrap="square">
            <a:spAutoFit/>
          </a:bodyPr>
          <a:lstStyle/>
          <a:p>
            <a:r>
              <a:rPr lang="zh-CN" altLang="en-US" dirty="0">
                <a:latin typeface="黑体" panose="02010609060101010101" pitchFamily="49" charset="-122"/>
                <a:ea typeface="黑体" panose="02010609060101010101" pitchFamily="49" charset="-122"/>
              </a:rPr>
              <a:t>    根据投影原理、标准或有关规定，表示工程对象并有必要的技术说明的图，称为“图样”即工程图样。</a:t>
            </a:r>
          </a:p>
        </p:txBody>
      </p:sp>
      <p:sp>
        <p:nvSpPr>
          <p:cNvPr id="4" name="矩形 3">
            <a:extLst>
              <a:ext uri="{FF2B5EF4-FFF2-40B4-BE49-F238E27FC236}">
                <a16:creationId xmlns:a16="http://schemas.microsoft.com/office/drawing/2014/main" id="{AA90B97B-DAC5-4D4A-A192-84620575468C}"/>
              </a:ext>
            </a:extLst>
          </p:cNvPr>
          <p:cNvSpPr/>
          <p:nvPr/>
        </p:nvSpPr>
        <p:spPr>
          <a:xfrm>
            <a:off x="866392" y="3689600"/>
            <a:ext cx="10549172" cy="461665"/>
          </a:xfrm>
          <a:prstGeom prst="rect">
            <a:avLst/>
          </a:prstGeom>
        </p:spPr>
        <p:txBody>
          <a:bodyPr wrap="square">
            <a:spAutoFit/>
          </a:bodyPr>
          <a:lstStyle/>
          <a:p>
            <a:r>
              <a:rPr lang="zh-CN" altLang="en-US" dirty="0"/>
              <a:t>表达构思和设计要求、指导生产、装配、检验、维修等必须的重要技术资料</a:t>
            </a:r>
          </a:p>
        </p:txBody>
      </p:sp>
      <p:sp>
        <p:nvSpPr>
          <p:cNvPr id="10" name="矩形 9">
            <a:extLst>
              <a:ext uri="{FF2B5EF4-FFF2-40B4-BE49-F238E27FC236}">
                <a16:creationId xmlns:a16="http://schemas.microsoft.com/office/drawing/2014/main" id="{A3A539C5-03EF-4554-87EC-2E538CC82F40}"/>
              </a:ext>
            </a:extLst>
          </p:cNvPr>
          <p:cNvSpPr/>
          <p:nvPr/>
        </p:nvSpPr>
        <p:spPr>
          <a:xfrm>
            <a:off x="897970" y="4480529"/>
            <a:ext cx="6264696" cy="461665"/>
          </a:xfrm>
          <a:prstGeom prst="rect">
            <a:avLst/>
          </a:prstGeom>
        </p:spPr>
        <p:txBody>
          <a:bodyPr wrap="square">
            <a:spAutoFit/>
          </a:bodyPr>
          <a:lstStyle/>
          <a:p>
            <a:r>
              <a:rPr lang="zh-CN" altLang="en-US" b="1" dirty="0"/>
              <a:t>如：机器和零部件，怎么来的？</a:t>
            </a:r>
          </a:p>
        </p:txBody>
      </p:sp>
      <p:sp>
        <p:nvSpPr>
          <p:cNvPr id="14" name="矩形 13">
            <a:extLst>
              <a:ext uri="{FF2B5EF4-FFF2-40B4-BE49-F238E27FC236}">
                <a16:creationId xmlns:a16="http://schemas.microsoft.com/office/drawing/2014/main" id="{97774BB1-B7BD-4356-91A4-2AB1A5854101}"/>
              </a:ext>
            </a:extLst>
          </p:cNvPr>
          <p:cNvSpPr/>
          <p:nvPr/>
        </p:nvSpPr>
        <p:spPr>
          <a:xfrm>
            <a:off x="901893" y="5118079"/>
            <a:ext cx="4330011" cy="830997"/>
          </a:xfrm>
          <a:prstGeom prst="rect">
            <a:avLst/>
          </a:prstGeom>
        </p:spPr>
        <p:txBody>
          <a:bodyPr wrap="square">
            <a:spAutoFit/>
          </a:bodyPr>
          <a:lstStyle/>
          <a:p>
            <a:r>
              <a:rPr lang="zh-CN" altLang="en-US" b="1" dirty="0"/>
              <a:t>要依靠设计、加工制造！</a:t>
            </a:r>
            <a:endParaRPr lang="en-US" altLang="zh-CN" b="1" dirty="0"/>
          </a:p>
          <a:p>
            <a:r>
              <a:rPr lang="zh-CN" altLang="en-US" b="1" dirty="0"/>
              <a:t>                </a:t>
            </a:r>
            <a:r>
              <a:rPr lang="zh-CN" altLang="en-US" b="1" dirty="0">
                <a:solidFill>
                  <a:srgbClr val="FF0000"/>
                </a:solidFill>
                <a:latin typeface="黑体" panose="02010609060101010101" pitchFamily="49" charset="-122"/>
                <a:ea typeface="黑体" panose="02010609060101010101" pitchFamily="49" charset="-122"/>
              </a:rPr>
              <a:t>用什么指导？</a:t>
            </a:r>
          </a:p>
        </p:txBody>
      </p:sp>
      <p:pic>
        <p:nvPicPr>
          <p:cNvPr id="6" name="图片 5">
            <a:extLst>
              <a:ext uri="{FF2B5EF4-FFF2-40B4-BE49-F238E27FC236}">
                <a16:creationId xmlns:a16="http://schemas.microsoft.com/office/drawing/2014/main" id="{F20CA1F8-AD1F-4412-9FAB-ECD66D377E0E}"/>
              </a:ext>
            </a:extLst>
          </p:cNvPr>
          <p:cNvPicPr>
            <a:picLocks noChangeAspect="1"/>
          </p:cNvPicPr>
          <p:nvPr/>
        </p:nvPicPr>
        <p:blipFill>
          <a:blip r:embed="rId3"/>
          <a:stretch>
            <a:fillRect/>
          </a:stretch>
        </p:blipFill>
        <p:spPr>
          <a:xfrm>
            <a:off x="5282701" y="4151265"/>
            <a:ext cx="5990476" cy="2571429"/>
          </a:xfrm>
          <a:prstGeom prst="rect">
            <a:avLst/>
          </a:prstGeom>
        </p:spPr>
      </p:pic>
      <p:sp>
        <p:nvSpPr>
          <p:cNvPr id="7" name="矩形 6">
            <a:extLst>
              <a:ext uri="{FF2B5EF4-FFF2-40B4-BE49-F238E27FC236}">
                <a16:creationId xmlns:a16="http://schemas.microsoft.com/office/drawing/2014/main" id="{698F7DEE-EA3B-40EE-A4E6-24D52B2BB396}"/>
              </a:ext>
            </a:extLst>
          </p:cNvPr>
          <p:cNvSpPr/>
          <p:nvPr/>
        </p:nvSpPr>
        <p:spPr>
          <a:xfrm>
            <a:off x="3595309" y="5961441"/>
            <a:ext cx="1261884" cy="523220"/>
          </a:xfrm>
          <a:prstGeom prst="rect">
            <a:avLst/>
          </a:prstGeom>
        </p:spPr>
        <p:txBody>
          <a:bodyPr wrap="none">
            <a:spAutoFit/>
          </a:bodyPr>
          <a:lstStyle/>
          <a:p>
            <a:r>
              <a:rPr lang="zh-CN" altLang="en-US" sz="2800" dirty="0">
                <a:latin typeface="黑体" panose="02010609060101010101" pitchFamily="49" charset="-122"/>
                <a:ea typeface="黑体" panose="02010609060101010101" pitchFamily="49" charset="-122"/>
              </a:rPr>
              <a:t>图纸！</a:t>
            </a:r>
          </a:p>
        </p:txBody>
      </p:sp>
    </p:spTree>
    <p:extLst>
      <p:ext uri="{BB962C8B-B14F-4D97-AF65-F5344CB8AC3E}">
        <p14:creationId xmlns:p14="http://schemas.microsoft.com/office/powerpoint/2010/main" val="3898425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additive="base">
                                        <p:cTn id="12" dur="500" fill="hold"/>
                                        <p:tgtEl>
                                          <p:spTgt spid="18"/>
                                        </p:tgtEl>
                                        <p:attrNameLst>
                                          <p:attrName>ppt_x</p:attrName>
                                        </p:attrNameLst>
                                      </p:cBhvr>
                                      <p:tavLst>
                                        <p:tav tm="0">
                                          <p:val>
                                            <p:strVal val="0-#ppt_w/2"/>
                                          </p:val>
                                        </p:tav>
                                        <p:tav tm="100000">
                                          <p:val>
                                            <p:strVal val="#ppt_x"/>
                                          </p:val>
                                        </p:tav>
                                      </p:tavLst>
                                    </p:anim>
                                    <p:anim calcmode="lin" valueType="num">
                                      <p:cBhvr additive="base">
                                        <p:cTn id="13"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arn(outVertical)">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randombar(horizontal)">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p:cTn id="38" dur="1000" fill="hold"/>
                                        <p:tgtEl>
                                          <p:spTgt spid="7"/>
                                        </p:tgtEl>
                                        <p:attrNameLst>
                                          <p:attrName>ppt_w</p:attrName>
                                        </p:attrNameLst>
                                      </p:cBhvr>
                                      <p:tavLst>
                                        <p:tav tm="0">
                                          <p:val>
                                            <p:fltVal val="0"/>
                                          </p:val>
                                        </p:tav>
                                        <p:tav tm="100000">
                                          <p:val>
                                            <p:strVal val="#ppt_w"/>
                                          </p:val>
                                        </p:tav>
                                      </p:tavLst>
                                    </p:anim>
                                    <p:anim calcmode="lin" valueType="num">
                                      <p:cBhvr>
                                        <p:cTn id="39" dur="1000" fill="hold"/>
                                        <p:tgtEl>
                                          <p:spTgt spid="7"/>
                                        </p:tgtEl>
                                        <p:attrNameLst>
                                          <p:attrName>ppt_h</p:attrName>
                                        </p:attrNameLst>
                                      </p:cBhvr>
                                      <p:tavLst>
                                        <p:tav tm="0">
                                          <p:val>
                                            <p:fltVal val="0"/>
                                          </p:val>
                                        </p:tav>
                                        <p:tav tm="100000">
                                          <p:val>
                                            <p:strVal val="#ppt_h"/>
                                          </p:val>
                                        </p:tav>
                                      </p:tavLst>
                                    </p:anim>
                                    <p:anim calcmode="lin" valueType="num">
                                      <p:cBhvr>
                                        <p:cTn id="40" dur="1000" fill="hold"/>
                                        <p:tgtEl>
                                          <p:spTgt spid="7"/>
                                        </p:tgtEl>
                                        <p:attrNameLst>
                                          <p:attrName>style.rotation</p:attrName>
                                        </p:attrNameLst>
                                      </p:cBhvr>
                                      <p:tavLst>
                                        <p:tav tm="0">
                                          <p:val>
                                            <p:fltVal val="90"/>
                                          </p:val>
                                        </p:tav>
                                        <p:tav tm="100000">
                                          <p:val>
                                            <p:fltVal val="0"/>
                                          </p:val>
                                        </p:tav>
                                      </p:tavLst>
                                    </p:anim>
                                    <p:animEffect transition="in" filter="fade">
                                      <p:cBhvr>
                                        <p:cTn id="4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2" grpId="0"/>
      <p:bldP spid="4" grpId="0"/>
      <p:bldP spid="10" grpId="0"/>
      <p:bldP spid="14"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a:xfrm>
            <a:off x="3381375" y="276117"/>
            <a:ext cx="5500688" cy="646331"/>
          </a:xfrm>
          <a:prstGeom prst="rect">
            <a:avLst/>
          </a:prstGeom>
        </p:spPr>
        <p:txBody>
          <a:bodyPr anchor="ctr">
            <a:spAutoFit/>
          </a:bodyPr>
          <a:lstStyle/>
          <a:p>
            <a:pPr algn="ctr" fontAlgn="auto">
              <a:spcAft>
                <a:spcPts val="0"/>
              </a:spcAft>
              <a:defRPr/>
            </a:pP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工程制图</a:t>
            </a: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课程</a:t>
            </a:r>
          </a:p>
        </p:txBody>
      </p:sp>
      <p:sp>
        <p:nvSpPr>
          <p:cNvPr id="17" name="矩形 16">
            <a:extLst>
              <a:ext uri="{FF2B5EF4-FFF2-40B4-BE49-F238E27FC236}">
                <a16:creationId xmlns:a16="http://schemas.microsoft.com/office/drawing/2014/main" id="{20334467-8A1D-4C98-9E71-F4DFA237DF62}"/>
              </a:ext>
            </a:extLst>
          </p:cNvPr>
          <p:cNvSpPr/>
          <p:nvPr/>
        </p:nvSpPr>
        <p:spPr>
          <a:xfrm>
            <a:off x="897969" y="1337521"/>
            <a:ext cx="7984093" cy="523220"/>
          </a:xfrm>
          <a:prstGeom prst="rect">
            <a:avLst/>
          </a:prstGeom>
        </p:spPr>
        <p:txBody>
          <a:bodyPr wrap="square">
            <a:spAutoFit/>
          </a:bodyPr>
          <a:lstStyle/>
          <a:p>
            <a:r>
              <a:rPr lang="zh-CN" altLang="en-US" sz="2800" b="1" dirty="0">
                <a:latin typeface="黑体" panose="02010609060101010101" pitchFamily="49" charset="-122"/>
                <a:ea typeface="黑体" panose="02010609060101010101" pitchFamily="49" charset="-122"/>
              </a:rPr>
              <a:t>为什么说工程图样是工程界的技术语言？</a:t>
            </a:r>
          </a:p>
        </p:txBody>
      </p:sp>
      <p:sp>
        <p:nvSpPr>
          <p:cNvPr id="12" name="矩形 11">
            <a:extLst>
              <a:ext uri="{FF2B5EF4-FFF2-40B4-BE49-F238E27FC236}">
                <a16:creationId xmlns:a16="http://schemas.microsoft.com/office/drawing/2014/main" id="{24F7B418-D6C9-4FBD-895E-70418B2A8368}"/>
              </a:ext>
            </a:extLst>
          </p:cNvPr>
          <p:cNvSpPr/>
          <p:nvPr/>
        </p:nvSpPr>
        <p:spPr>
          <a:xfrm>
            <a:off x="1631504" y="1959172"/>
            <a:ext cx="9253028" cy="461665"/>
          </a:xfrm>
          <a:prstGeom prst="rect">
            <a:avLst/>
          </a:prstGeom>
        </p:spPr>
        <p:txBody>
          <a:bodyPr wrap="square">
            <a:spAutoFit/>
          </a:bodyPr>
          <a:lstStyle/>
          <a:p>
            <a:r>
              <a:rPr lang="zh-CN" altLang="en-US" dirty="0">
                <a:latin typeface="黑体" panose="02010609060101010101" pitchFamily="49" charset="-122"/>
                <a:ea typeface="黑体" panose="02010609060101010101" pitchFamily="49" charset="-122"/>
              </a:rPr>
              <a:t>工程图样具有直观性、形象性、简洁性、准确性、通用性的特点</a:t>
            </a:r>
          </a:p>
        </p:txBody>
      </p:sp>
      <p:pic>
        <p:nvPicPr>
          <p:cNvPr id="2" name="图片 1">
            <a:extLst>
              <a:ext uri="{FF2B5EF4-FFF2-40B4-BE49-F238E27FC236}">
                <a16:creationId xmlns:a16="http://schemas.microsoft.com/office/drawing/2014/main" id="{EB3CDFE9-383C-4342-9D73-34340C1163AA}"/>
              </a:ext>
            </a:extLst>
          </p:cNvPr>
          <p:cNvPicPr>
            <a:picLocks noChangeAspect="1"/>
          </p:cNvPicPr>
          <p:nvPr/>
        </p:nvPicPr>
        <p:blipFill>
          <a:blip r:embed="rId3"/>
          <a:stretch>
            <a:fillRect/>
          </a:stretch>
        </p:blipFill>
        <p:spPr>
          <a:xfrm>
            <a:off x="4439816" y="2519268"/>
            <a:ext cx="7435826" cy="4104940"/>
          </a:xfrm>
          <a:prstGeom prst="rect">
            <a:avLst/>
          </a:prstGeom>
        </p:spPr>
      </p:pic>
      <p:sp>
        <p:nvSpPr>
          <p:cNvPr id="3" name="矩形 2">
            <a:extLst>
              <a:ext uri="{FF2B5EF4-FFF2-40B4-BE49-F238E27FC236}">
                <a16:creationId xmlns:a16="http://schemas.microsoft.com/office/drawing/2014/main" id="{13BE66D5-6F1A-406B-B162-4729F2BDCE0A}"/>
              </a:ext>
            </a:extLst>
          </p:cNvPr>
          <p:cNvSpPr/>
          <p:nvPr/>
        </p:nvSpPr>
        <p:spPr>
          <a:xfrm>
            <a:off x="951860" y="2519268"/>
            <a:ext cx="5112568" cy="461665"/>
          </a:xfrm>
          <a:prstGeom prst="rect">
            <a:avLst/>
          </a:prstGeom>
        </p:spPr>
        <p:txBody>
          <a:bodyPr wrap="square">
            <a:spAutoFit/>
          </a:bodyPr>
          <a:lstStyle/>
          <a:p>
            <a:r>
              <a:rPr lang="zh-CN" altLang="en-US" dirty="0"/>
              <a:t>按投影理论和方法将</a:t>
            </a:r>
            <a:r>
              <a:rPr lang="zh-CN" altLang="en-US" dirty="0">
                <a:solidFill>
                  <a:srgbClr val="FF0000"/>
                </a:solidFill>
                <a:latin typeface="黑体" panose="02010609060101010101" pitchFamily="49" charset="-122"/>
                <a:ea typeface="黑体" panose="02010609060101010101" pitchFamily="49" charset="-122"/>
              </a:rPr>
              <a:t>形</a:t>
            </a:r>
            <a:r>
              <a:rPr lang="zh-CN" altLang="en-US" dirty="0"/>
              <a:t>和</a:t>
            </a:r>
            <a:r>
              <a:rPr lang="zh-CN" altLang="en-US" b="1" dirty="0">
                <a:solidFill>
                  <a:srgbClr val="FF0000"/>
                </a:solidFill>
                <a:latin typeface="黑体" panose="02010609060101010101" pitchFamily="49" charset="-122"/>
                <a:ea typeface="黑体" panose="02010609060101010101" pitchFamily="49" charset="-122"/>
              </a:rPr>
              <a:t>数</a:t>
            </a:r>
            <a:r>
              <a:rPr lang="zh-CN" altLang="en-US" dirty="0"/>
              <a:t>完美结合</a:t>
            </a:r>
          </a:p>
        </p:txBody>
      </p:sp>
      <p:sp>
        <p:nvSpPr>
          <p:cNvPr id="5" name="矩形 4">
            <a:extLst>
              <a:ext uri="{FF2B5EF4-FFF2-40B4-BE49-F238E27FC236}">
                <a16:creationId xmlns:a16="http://schemas.microsoft.com/office/drawing/2014/main" id="{1014C7A3-7FCF-4DD7-9EEE-9B0B3E328841}"/>
              </a:ext>
            </a:extLst>
          </p:cNvPr>
          <p:cNvSpPr/>
          <p:nvPr/>
        </p:nvSpPr>
        <p:spPr>
          <a:xfrm>
            <a:off x="987358" y="3079364"/>
            <a:ext cx="5108642" cy="1200329"/>
          </a:xfrm>
          <a:prstGeom prst="rect">
            <a:avLst/>
          </a:prstGeom>
        </p:spPr>
        <p:txBody>
          <a:bodyPr wrap="square">
            <a:spAutoFit/>
          </a:bodyPr>
          <a:lstStyle/>
          <a:p>
            <a:r>
              <a:rPr lang="zh-CN" altLang="en-US" dirty="0"/>
              <a:t>一组图形并加注尺寸的方法准确、完整地表达了齿轮泵泵盖零件的形状和大小。</a:t>
            </a:r>
          </a:p>
        </p:txBody>
      </p:sp>
      <p:sp>
        <p:nvSpPr>
          <p:cNvPr id="8" name="矩形 7">
            <a:extLst>
              <a:ext uri="{FF2B5EF4-FFF2-40B4-BE49-F238E27FC236}">
                <a16:creationId xmlns:a16="http://schemas.microsoft.com/office/drawing/2014/main" id="{813324CB-8CE3-46DE-BFA4-3067C72EEDD6}"/>
              </a:ext>
            </a:extLst>
          </p:cNvPr>
          <p:cNvSpPr/>
          <p:nvPr/>
        </p:nvSpPr>
        <p:spPr>
          <a:xfrm>
            <a:off x="987358" y="4378124"/>
            <a:ext cx="3596474" cy="461665"/>
          </a:xfrm>
          <a:prstGeom prst="rect">
            <a:avLst/>
          </a:prstGeom>
        </p:spPr>
        <p:txBody>
          <a:bodyPr wrap="square">
            <a:spAutoFit/>
          </a:bodyPr>
          <a:lstStyle/>
          <a:p>
            <a:r>
              <a:rPr lang="zh-CN" altLang="en-US" dirty="0">
                <a:solidFill>
                  <a:srgbClr val="0070C0"/>
                </a:solidFill>
                <a:latin typeface="黑体" panose="02010609060101010101" pitchFamily="49" charset="-122"/>
                <a:ea typeface="黑体" panose="02010609060101010101" pitchFamily="49" charset="-122"/>
              </a:rPr>
              <a:t>解决了什么问题？</a:t>
            </a:r>
          </a:p>
        </p:txBody>
      </p:sp>
      <p:sp>
        <p:nvSpPr>
          <p:cNvPr id="9" name="矩形 8">
            <a:extLst>
              <a:ext uri="{FF2B5EF4-FFF2-40B4-BE49-F238E27FC236}">
                <a16:creationId xmlns:a16="http://schemas.microsoft.com/office/drawing/2014/main" id="{E57E42CA-952D-4200-9DD4-DE8B4BABF8B8}"/>
              </a:ext>
            </a:extLst>
          </p:cNvPr>
          <p:cNvSpPr/>
          <p:nvPr/>
        </p:nvSpPr>
        <p:spPr>
          <a:xfrm>
            <a:off x="987358" y="4947168"/>
            <a:ext cx="3812498" cy="1569660"/>
          </a:xfrm>
          <a:prstGeom prst="rect">
            <a:avLst/>
          </a:prstGeom>
        </p:spPr>
        <p:txBody>
          <a:bodyPr wrap="square">
            <a:spAutoFit/>
          </a:bodyPr>
          <a:lstStyle/>
          <a:p>
            <a:r>
              <a:rPr lang="zh-CN" altLang="en-US" dirty="0"/>
              <a:t>用语言和文字难以表达清楚的形、数问题，同时又借助文字弥补了用图难以表达的内容。</a:t>
            </a:r>
          </a:p>
        </p:txBody>
      </p:sp>
    </p:spTree>
    <p:extLst>
      <p:ext uri="{BB962C8B-B14F-4D97-AF65-F5344CB8AC3E}">
        <p14:creationId xmlns:p14="http://schemas.microsoft.com/office/powerpoint/2010/main" val="344858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6"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80">
                                          <p:stCondLst>
                                            <p:cond delay="0"/>
                                          </p:stCondLst>
                                        </p:cTn>
                                        <p:tgtEl>
                                          <p:spTgt spid="8"/>
                                        </p:tgtEl>
                                      </p:cBhvr>
                                    </p:animEffect>
                                    <p:anim calcmode="lin" valueType="num">
                                      <p:cBhvr>
                                        <p:cTn id="23"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4"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5"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6"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7"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8" dur="26">
                                          <p:stCondLst>
                                            <p:cond delay="650"/>
                                          </p:stCondLst>
                                        </p:cTn>
                                        <p:tgtEl>
                                          <p:spTgt spid="8"/>
                                        </p:tgtEl>
                                      </p:cBhvr>
                                      <p:to x="100000" y="60000"/>
                                    </p:animScale>
                                    <p:animScale>
                                      <p:cBhvr>
                                        <p:cTn id="29" dur="166" decel="50000">
                                          <p:stCondLst>
                                            <p:cond delay="676"/>
                                          </p:stCondLst>
                                        </p:cTn>
                                        <p:tgtEl>
                                          <p:spTgt spid="8"/>
                                        </p:tgtEl>
                                      </p:cBhvr>
                                      <p:to x="100000" y="100000"/>
                                    </p:animScale>
                                    <p:animScale>
                                      <p:cBhvr>
                                        <p:cTn id="30" dur="26">
                                          <p:stCondLst>
                                            <p:cond delay="1312"/>
                                          </p:stCondLst>
                                        </p:cTn>
                                        <p:tgtEl>
                                          <p:spTgt spid="8"/>
                                        </p:tgtEl>
                                      </p:cBhvr>
                                      <p:to x="100000" y="80000"/>
                                    </p:animScale>
                                    <p:animScale>
                                      <p:cBhvr>
                                        <p:cTn id="31" dur="166" decel="50000">
                                          <p:stCondLst>
                                            <p:cond delay="1338"/>
                                          </p:stCondLst>
                                        </p:cTn>
                                        <p:tgtEl>
                                          <p:spTgt spid="8"/>
                                        </p:tgtEl>
                                      </p:cBhvr>
                                      <p:to x="100000" y="100000"/>
                                    </p:animScale>
                                    <p:animScale>
                                      <p:cBhvr>
                                        <p:cTn id="32" dur="26">
                                          <p:stCondLst>
                                            <p:cond delay="1642"/>
                                          </p:stCondLst>
                                        </p:cTn>
                                        <p:tgtEl>
                                          <p:spTgt spid="8"/>
                                        </p:tgtEl>
                                      </p:cBhvr>
                                      <p:to x="100000" y="90000"/>
                                    </p:animScale>
                                    <p:animScale>
                                      <p:cBhvr>
                                        <p:cTn id="33" dur="166" decel="50000">
                                          <p:stCondLst>
                                            <p:cond delay="1668"/>
                                          </p:stCondLst>
                                        </p:cTn>
                                        <p:tgtEl>
                                          <p:spTgt spid="8"/>
                                        </p:tgtEl>
                                      </p:cBhvr>
                                      <p:to x="100000" y="100000"/>
                                    </p:animScale>
                                    <p:animScale>
                                      <p:cBhvr>
                                        <p:cTn id="34" dur="26">
                                          <p:stCondLst>
                                            <p:cond delay="1808"/>
                                          </p:stCondLst>
                                        </p:cTn>
                                        <p:tgtEl>
                                          <p:spTgt spid="8"/>
                                        </p:tgtEl>
                                      </p:cBhvr>
                                      <p:to x="100000" y="95000"/>
                                    </p:animScale>
                                    <p:animScale>
                                      <p:cBhvr>
                                        <p:cTn id="35" dur="166" decel="50000">
                                          <p:stCondLst>
                                            <p:cond delay="1834"/>
                                          </p:stCondLst>
                                        </p:cTn>
                                        <p:tgtEl>
                                          <p:spTgt spid="8"/>
                                        </p:tgtEl>
                                      </p:cBhvr>
                                      <p:to x="100000" y="100000"/>
                                    </p:animScale>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p:tgtEl>
                                          <p:spTgt spid="9"/>
                                        </p:tgtEl>
                                        <p:attrNameLst>
                                          <p:attrName>ppt_y</p:attrName>
                                        </p:attrNameLst>
                                      </p:cBhvr>
                                      <p:tavLst>
                                        <p:tav tm="0">
                                          <p:val>
                                            <p:strVal val="#ppt_y+#ppt_h*1.125000"/>
                                          </p:val>
                                        </p:tav>
                                        <p:tav tm="100000">
                                          <p:val>
                                            <p:strVal val="#ppt_y"/>
                                          </p:val>
                                        </p:tav>
                                      </p:tavLst>
                                    </p:anim>
                                    <p:animEffect transition="in" filter="wipe(up)">
                                      <p:cBhvr>
                                        <p:cTn id="4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p:bldP spid="5"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a:xfrm>
            <a:off x="3381375" y="276117"/>
            <a:ext cx="5500688" cy="646331"/>
          </a:xfrm>
          <a:prstGeom prst="rect">
            <a:avLst/>
          </a:prstGeom>
        </p:spPr>
        <p:txBody>
          <a:bodyPr anchor="ctr">
            <a:spAutoFit/>
          </a:bodyPr>
          <a:lstStyle/>
          <a:p>
            <a:pPr algn="ctr" fontAlgn="auto">
              <a:spcAft>
                <a:spcPts val="0"/>
              </a:spcAft>
              <a:defRPr/>
            </a:pP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工程制图</a:t>
            </a: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课程</a:t>
            </a:r>
          </a:p>
        </p:txBody>
      </p:sp>
      <p:pic>
        <p:nvPicPr>
          <p:cNvPr id="3" name="图片 2">
            <a:extLst>
              <a:ext uri="{FF2B5EF4-FFF2-40B4-BE49-F238E27FC236}">
                <a16:creationId xmlns:a16="http://schemas.microsoft.com/office/drawing/2014/main" id="{3D294808-2A74-498E-948E-C319730B3FE6}"/>
              </a:ext>
            </a:extLst>
          </p:cNvPr>
          <p:cNvPicPr>
            <a:picLocks noChangeAspect="1"/>
          </p:cNvPicPr>
          <p:nvPr/>
        </p:nvPicPr>
        <p:blipFill>
          <a:blip r:embed="rId3"/>
          <a:stretch>
            <a:fillRect/>
          </a:stretch>
        </p:blipFill>
        <p:spPr>
          <a:xfrm>
            <a:off x="2423592" y="1484784"/>
            <a:ext cx="8212858" cy="3238500"/>
          </a:xfrm>
          <a:prstGeom prst="rect">
            <a:avLst/>
          </a:prstGeom>
        </p:spPr>
      </p:pic>
    </p:spTree>
    <p:extLst>
      <p:ext uri="{BB962C8B-B14F-4D97-AF65-F5344CB8AC3E}">
        <p14:creationId xmlns:p14="http://schemas.microsoft.com/office/powerpoint/2010/main" val="2853972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a:xfrm>
            <a:off x="3381375" y="276117"/>
            <a:ext cx="5500688" cy="646331"/>
          </a:xfrm>
          <a:prstGeom prst="rect">
            <a:avLst/>
          </a:prstGeom>
        </p:spPr>
        <p:txBody>
          <a:bodyPr anchor="ctr">
            <a:spAutoFit/>
          </a:bodyPr>
          <a:lstStyle/>
          <a:p>
            <a:pPr algn="ctr" fontAlgn="auto">
              <a:spcAft>
                <a:spcPts val="0"/>
              </a:spcAft>
              <a:defRPr/>
            </a:pP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工程制图</a:t>
            </a: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课程</a:t>
            </a:r>
          </a:p>
        </p:txBody>
      </p:sp>
      <p:sp>
        <p:nvSpPr>
          <p:cNvPr id="17" name="矩形 16">
            <a:extLst>
              <a:ext uri="{FF2B5EF4-FFF2-40B4-BE49-F238E27FC236}">
                <a16:creationId xmlns:a16="http://schemas.microsoft.com/office/drawing/2014/main" id="{20334467-8A1D-4C98-9E71-F4DFA237DF62}"/>
              </a:ext>
            </a:extLst>
          </p:cNvPr>
          <p:cNvSpPr/>
          <p:nvPr/>
        </p:nvSpPr>
        <p:spPr>
          <a:xfrm>
            <a:off x="1127449" y="1382263"/>
            <a:ext cx="6696744" cy="523220"/>
          </a:xfrm>
          <a:prstGeom prst="rect">
            <a:avLst/>
          </a:prstGeom>
        </p:spPr>
        <p:txBody>
          <a:bodyPr wrap="square">
            <a:spAutoFit/>
          </a:bodyPr>
          <a:lstStyle/>
          <a:p>
            <a:r>
              <a:rPr lang="zh-CN" altLang="en-US" sz="2800" b="1" dirty="0">
                <a:latin typeface="黑体" panose="02010609060101010101" pitchFamily="49" charset="-122"/>
                <a:ea typeface="黑体" panose="02010609060101010101" pitchFamily="49" charset="-122"/>
              </a:rPr>
              <a:t>工程（图学）制图课程的研究对象</a:t>
            </a:r>
          </a:p>
        </p:txBody>
      </p:sp>
      <p:sp>
        <p:nvSpPr>
          <p:cNvPr id="3" name="矩形 2">
            <a:extLst>
              <a:ext uri="{FF2B5EF4-FFF2-40B4-BE49-F238E27FC236}">
                <a16:creationId xmlns:a16="http://schemas.microsoft.com/office/drawing/2014/main" id="{13BE66D5-6F1A-406B-B162-4729F2BDCE0A}"/>
              </a:ext>
            </a:extLst>
          </p:cNvPr>
          <p:cNvSpPr/>
          <p:nvPr/>
        </p:nvSpPr>
        <p:spPr>
          <a:xfrm>
            <a:off x="1991544" y="2003914"/>
            <a:ext cx="8065680" cy="461665"/>
          </a:xfrm>
          <a:prstGeom prst="rect">
            <a:avLst/>
          </a:prstGeom>
        </p:spPr>
        <p:txBody>
          <a:bodyPr wrap="square">
            <a:spAutoFit/>
          </a:bodyPr>
          <a:lstStyle/>
          <a:p>
            <a:r>
              <a:rPr lang="zh-CN" altLang="en-US" b="1" dirty="0"/>
              <a:t>工程图学是研究工程图样表达与技术交流的一门学科</a:t>
            </a:r>
          </a:p>
        </p:txBody>
      </p:sp>
      <p:sp>
        <p:nvSpPr>
          <p:cNvPr id="13" name="矩形 12">
            <a:extLst>
              <a:ext uri="{FF2B5EF4-FFF2-40B4-BE49-F238E27FC236}">
                <a16:creationId xmlns:a16="http://schemas.microsoft.com/office/drawing/2014/main" id="{DA5FB5EE-2231-46D5-9661-21FFBE0A3A55}"/>
              </a:ext>
            </a:extLst>
          </p:cNvPr>
          <p:cNvSpPr/>
          <p:nvPr/>
        </p:nvSpPr>
        <p:spPr>
          <a:xfrm>
            <a:off x="1510452" y="4454565"/>
            <a:ext cx="2357454" cy="523220"/>
          </a:xfrm>
          <a:prstGeom prst="rect">
            <a:avLst/>
          </a:prstGeom>
        </p:spPr>
        <p:txBody>
          <a:bodyPr wrap="square">
            <a:spAutoFit/>
          </a:bodyPr>
          <a:lstStyle/>
          <a:p>
            <a:pPr indent="-319088" algn="just">
              <a:buClr>
                <a:schemeClr val="accent2"/>
              </a:buClr>
              <a:buSzPct val="60000"/>
              <a:defRPr/>
            </a:pPr>
            <a:r>
              <a:rPr kumimoji="0" lang="zh-CN" altLang="en-US" sz="2800" b="1" dirty="0">
                <a:solidFill>
                  <a:srgbClr val="0070C0"/>
                </a:solidFill>
                <a:effectLst>
                  <a:outerShdw blurRad="38100" dist="38100" dir="2700000" algn="tl">
                    <a:srgbClr val="000000">
                      <a:alpha val="43137"/>
                    </a:srgbClr>
                  </a:outerShdw>
                </a:effectLst>
                <a:latin typeface="黑体" pitchFamily="49" charset="-122"/>
                <a:ea typeface="黑体" pitchFamily="49" charset="-122"/>
              </a:rPr>
              <a:t>工程制图课程</a:t>
            </a:r>
            <a:endParaRPr kumimoji="0" lang="en-US" altLang="zh-CN" sz="2800" b="1" dirty="0">
              <a:effectLst>
                <a:outerShdw blurRad="38100" dist="38100" dir="2700000" algn="tl">
                  <a:srgbClr val="000000">
                    <a:alpha val="43137"/>
                  </a:srgbClr>
                </a:outerShdw>
              </a:effectLst>
              <a:latin typeface="黑体" pitchFamily="49" charset="-122"/>
              <a:ea typeface="黑体" pitchFamily="49" charset="-122"/>
            </a:endParaRPr>
          </a:p>
        </p:txBody>
      </p:sp>
      <p:sp>
        <p:nvSpPr>
          <p:cNvPr id="14" name="内容占位符 2">
            <a:extLst>
              <a:ext uri="{FF2B5EF4-FFF2-40B4-BE49-F238E27FC236}">
                <a16:creationId xmlns:a16="http://schemas.microsoft.com/office/drawing/2014/main" id="{05C9BCD3-A56C-492C-896F-FAA56A779C48}"/>
              </a:ext>
            </a:extLst>
          </p:cNvPr>
          <p:cNvSpPr txBox="1">
            <a:spLocks/>
          </p:cNvSpPr>
          <p:nvPr/>
        </p:nvSpPr>
        <p:spPr bwMode="auto">
          <a:xfrm>
            <a:off x="3309937" y="3804108"/>
            <a:ext cx="5643563" cy="642938"/>
          </a:xfrm>
          <a:prstGeom prst="rect">
            <a:avLst/>
          </a:prstGeom>
          <a:noFill/>
          <a:ln w="9525">
            <a:solidFill>
              <a:schemeClr val="accent1"/>
            </a:solidFill>
            <a:miter lim="800000"/>
            <a:headEnd/>
            <a:tailEnd/>
          </a:ln>
        </p:spPr>
        <p:txBody>
          <a:bodyPr/>
          <a:lstStyle/>
          <a:p>
            <a:pPr algn="just" fontAlgn="auto">
              <a:spcAft>
                <a:spcPts val="0"/>
              </a:spcAft>
              <a:defRPr/>
            </a:pPr>
            <a:r>
              <a:rPr lang="zh-CN" altLang="en-US" sz="2800" b="1" dirty="0">
                <a:solidFill>
                  <a:srgbClr val="FF0000"/>
                </a:solidFill>
                <a:effectLst>
                  <a:outerShdw blurRad="38100" dist="38100" dir="2700000" algn="tl">
                    <a:srgbClr val="000000">
                      <a:alpha val="43137"/>
                    </a:srgbClr>
                  </a:outerShdw>
                </a:effectLst>
                <a:latin typeface="+mn-ea"/>
                <a:ea typeface="+mn-ea"/>
              </a:rPr>
              <a:t>工程图样</a:t>
            </a:r>
            <a:r>
              <a:rPr lang="zh-CN" altLang="en-US" sz="2800" b="1" dirty="0">
                <a:solidFill>
                  <a:srgbClr val="0070C0"/>
                </a:solidFill>
                <a:effectLst>
                  <a:outerShdw blurRad="38100" dist="38100" dir="2700000" algn="tl">
                    <a:srgbClr val="000000">
                      <a:alpha val="43137"/>
                    </a:srgbClr>
                  </a:outerShdw>
                </a:effectLst>
                <a:latin typeface="+mn-ea"/>
                <a:ea typeface="+mn-ea"/>
              </a:rPr>
              <a:t>如何</a:t>
            </a:r>
            <a:r>
              <a:rPr lang="zh-CN" altLang="en-US" sz="2800" b="1" dirty="0">
                <a:solidFill>
                  <a:srgbClr val="FF0000"/>
                </a:solidFill>
                <a:effectLst>
                  <a:outerShdw blurRad="38100" dist="38100" dir="2700000" algn="tl">
                    <a:srgbClr val="000000">
                      <a:alpha val="43137"/>
                    </a:srgbClr>
                  </a:outerShdw>
                </a:effectLst>
                <a:latin typeface="+mn-ea"/>
                <a:ea typeface="+mn-ea"/>
              </a:rPr>
              <a:t>绘制</a:t>
            </a:r>
            <a:r>
              <a:rPr lang="zh-CN" altLang="en-US" sz="2800" b="1" dirty="0">
                <a:solidFill>
                  <a:srgbClr val="0070C0"/>
                </a:solidFill>
                <a:effectLst>
                  <a:outerShdw blurRad="38100" dist="38100" dir="2700000" algn="tl">
                    <a:srgbClr val="000000">
                      <a:alpha val="43137"/>
                    </a:srgbClr>
                  </a:outerShdw>
                </a:effectLst>
                <a:latin typeface="+mn-ea"/>
                <a:ea typeface="+mn-ea"/>
              </a:rPr>
              <a:t>与</a:t>
            </a:r>
            <a:r>
              <a:rPr lang="zh-CN" altLang="en-US" sz="2800" b="1" dirty="0">
                <a:solidFill>
                  <a:srgbClr val="FF0000"/>
                </a:solidFill>
                <a:effectLst>
                  <a:outerShdw blurRad="38100" dist="38100" dir="2700000" algn="tl">
                    <a:srgbClr val="000000">
                      <a:alpha val="43137"/>
                    </a:srgbClr>
                  </a:outerShdw>
                </a:effectLst>
                <a:latin typeface="+mn-ea"/>
                <a:ea typeface="+mn-ea"/>
              </a:rPr>
              <a:t>表达</a:t>
            </a:r>
            <a:r>
              <a:rPr lang="zh-CN" altLang="en-US" sz="2800" b="1" dirty="0">
                <a:solidFill>
                  <a:srgbClr val="0070C0"/>
                </a:solidFill>
                <a:effectLst>
                  <a:outerShdw blurRad="38100" dist="38100" dir="2700000" algn="tl">
                    <a:srgbClr val="000000">
                      <a:alpha val="43137"/>
                    </a:srgbClr>
                  </a:outerShdw>
                </a:effectLst>
                <a:latin typeface="+mn-ea"/>
                <a:ea typeface="+mn-ea"/>
              </a:rPr>
              <a:t>呢？</a:t>
            </a:r>
            <a:endParaRPr lang="en-US" altLang="zh-CN" sz="2800" b="1" dirty="0">
              <a:solidFill>
                <a:srgbClr val="0070C0"/>
              </a:solidFill>
              <a:effectLst>
                <a:outerShdw blurRad="38100" dist="38100" dir="2700000" algn="tl">
                  <a:srgbClr val="000000">
                    <a:alpha val="43137"/>
                  </a:srgbClr>
                </a:outerShdw>
              </a:effectLst>
              <a:latin typeface="+mn-ea"/>
              <a:ea typeface="+mn-ea"/>
            </a:endParaRPr>
          </a:p>
        </p:txBody>
      </p:sp>
      <p:sp>
        <p:nvSpPr>
          <p:cNvPr id="15" name="Rectangle 14">
            <a:extLst>
              <a:ext uri="{FF2B5EF4-FFF2-40B4-BE49-F238E27FC236}">
                <a16:creationId xmlns:a16="http://schemas.microsoft.com/office/drawing/2014/main" id="{83847761-7EC7-43DC-8A19-75211E7A99E0}"/>
              </a:ext>
            </a:extLst>
          </p:cNvPr>
          <p:cNvSpPr>
            <a:spLocks noChangeArrowheads="1"/>
          </p:cNvSpPr>
          <p:nvPr/>
        </p:nvSpPr>
        <p:spPr bwMode="auto">
          <a:xfrm>
            <a:off x="1693932" y="2528235"/>
            <a:ext cx="2529860" cy="540725"/>
          </a:xfrm>
          <a:prstGeom prst="rect">
            <a:avLst/>
          </a:prstGeom>
          <a:noFill/>
          <a:ln w="9525" algn="ctr">
            <a:solidFill>
              <a:srgbClr val="FF0000"/>
            </a:solidFill>
            <a:miter lim="800000"/>
            <a:headEnd/>
            <a:tailEnd/>
          </a:ln>
          <a:effectLst/>
        </p:spPr>
        <p:txBody>
          <a:bodyPr wrap="none">
            <a:spAutoFit/>
          </a:bodyPr>
          <a:lstStyle/>
          <a:p>
            <a:pPr>
              <a:lnSpc>
                <a:spcPct val="120000"/>
              </a:lnSpc>
              <a:defRPr/>
            </a:pPr>
            <a:r>
              <a:rPr lang="zh-CN" altLang="en-US" sz="2800" b="1" dirty="0">
                <a:solidFill>
                  <a:srgbClr val="FF0000"/>
                </a:solidFill>
                <a:effectLst>
                  <a:outerShdw blurRad="38100" dist="38100" dir="2700000" algn="tl">
                    <a:srgbClr val="000000">
                      <a:alpha val="43137"/>
                    </a:srgbClr>
                  </a:outerShdw>
                </a:effectLst>
                <a:latin typeface="黑体" pitchFamily="49" charset="-122"/>
                <a:ea typeface="黑体" pitchFamily="49" charset="-122"/>
              </a:rPr>
              <a:t>工程图学 </a:t>
            </a:r>
            <a:r>
              <a:rPr lang="zh-CN" altLang="en-US" sz="2800" b="1" dirty="0">
                <a:solidFill>
                  <a:srgbClr val="002060"/>
                </a:solidFill>
                <a:latin typeface="宋体" pitchFamily="2" charset="-122"/>
              </a:rPr>
              <a:t>学科</a:t>
            </a:r>
          </a:p>
        </p:txBody>
      </p:sp>
      <p:sp>
        <p:nvSpPr>
          <p:cNvPr id="16" name="矩形 15">
            <a:extLst>
              <a:ext uri="{FF2B5EF4-FFF2-40B4-BE49-F238E27FC236}">
                <a16:creationId xmlns:a16="http://schemas.microsoft.com/office/drawing/2014/main" id="{7C7C9CAB-4E2A-48D0-B7D9-A17AB7B7A21E}"/>
              </a:ext>
            </a:extLst>
          </p:cNvPr>
          <p:cNvSpPr>
            <a:spLocks noChangeArrowheads="1"/>
          </p:cNvSpPr>
          <p:nvPr/>
        </p:nvSpPr>
        <p:spPr bwMode="auto">
          <a:xfrm>
            <a:off x="4112634" y="3011759"/>
            <a:ext cx="906017" cy="523220"/>
          </a:xfrm>
          <a:prstGeom prst="rect">
            <a:avLst/>
          </a:prstGeom>
          <a:noFill/>
          <a:ln w="9525">
            <a:noFill/>
            <a:miter lim="800000"/>
            <a:headEnd/>
            <a:tailEnd/>
          </a:ln>
        </p:spPr>
        <p:txBody>
          <a:bodyPr wrap="none">
            <a:spAutoFit/>
          </a:bodyPr>
          <a:lstStyle/>
          <a:p>
            <a:r>
              <a:rPr lang="zh-CN" altLang="en-US" sz="2800" b="1" dirty="0">
                <a:solidFill>
                  <a:srgbClr val="002060"/>
                </a:solidFill>
                <a:latin typeface="宋体" pitchFamily="2" charset="-122"/>
              </a:rPr>
              <a:t>支撑</a:t>
            </a:r>
            <a:endParaRPr lang="zh-CN" altLang="en-US" sz="2800" dirty="0"/>
          </a:p>
        </p:txBody>
      </p:sp>
      <p:sp>
        <p:nvSpPr>
          <p:cNvPr id="18" name="下箭头 12">
            <a:extLst>
              <a:ext uri="{FF2B5EF4-FFF2-40B4-BE49-F238E27FC236}">
                <a16:creationId xmlns:a16="http://schemas.microsoft.com/office/drawing/2014/main" id="{5BA26857-CC89-442A-ACB7-26E40ED2816B}"/>
              </a:ext>
            </a:extLst>
          </p:cNvPr>
          <p:cNvSpPr/>
          <p:nvPr/>
        </p:nvSpPr>
        <p:spPr>
          <a:xfrm>
            <a:off x="3653086" y="3068961"/>
            <a:ext cx="428625" cy="761672"/>
          </a:xfrm>
          <a:prstGeom prst="downArrow">
            <a:avLst>
              <a:gd name="adj1" fmla="val 50000"/>
              <a:gd name="adj2" fmla="val 10907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00"/>
          </a:p>
        </p:txBody>
      </p:sp>
      <p:sp>
        <p:nvSpPr>
          <p:cNvPr id="19" name="Text Box 15">
            <a:extLst>
              <a:ext uri="{FF2B5EF4-FFF2-40B4-BE49-F238E27FC236}">
                <a16:creationId xmlns:a16="http://schemas.microsoft.com/office/drawing/2014/main" id="{A4A1D69B-1195-485C-A3FE-3FA426A581AC}"/>
              </a:ext>
            </a:extLst>
          </p:cNvPr>
          <p:cNvSpPr txBox="1">
            <a:spLocks noChangeArrowheads="1"/>
          </p:cNvSpPr>
          <p:nvPr/>
        </p:nvSpPr>
        <p:spPr bwMode="auto">
          <a:xfrm>
            <a:off x="3791744" y="4547508"/>
            <a:ext cx="7032164" cy="1815882"/>
          </a:xfrm>
          <a:prstGeom prst="rect">
            <a:avLst/>
          </a:prstGeom>
          <a:noFill/>
          <a:ln w="9525">
            <a:noFill/>
            <a:miter lim="800000"/>
            <a:headEnd/>
            <a:tailEnd/>
          </a:ln>
          <a:effectLst/>
        </p:spPr>
        <p:txBody>
          <a:bodyPr wrap="square" anchor="ctr">
            <a:spAutoFit/>
          </a:bodyPr>
          <a:lstStyle/>
          <a:p>
            <a:pPr>
              <a:defRPr/>
            </a:pPr>
            <a:r>
              <a:rPr kumimoji="0" lang="zh-CN" altLang="en-US" sz="2800" b="1" dirty="0">
                <a:solidFill>
                  <a:srgbClr val="0070C0"/>
                </a:solidFill>
                <a:latin typeface="+mn-ea"/>
                <a:ea typeface="+mn-ea"/>
              </a:rPr>
              <a:t> 解决</a:t>
            </a:r>
            <a:r>
              <a:rPr kumimoji="0" lang="en-US" altLang="zh-CN" sz="2800" b="1" dirty="0">
                <a:solidFill>
                  <a:srgbClr val="0070C0"/>
                </a:solidFill>
                <a:latin typeface="+mn-ea"/>
                <a:ea typeface="+mn-ea"/>
              </a:rPr>
              <a:t>:</a:t>
            </a:r>
            <a:r>
              <a:rPr kumimoji="0" lang="zh-CN" altLang="en-US" sz="2800" b="1" dirty="0">
                <a:solidFill>
                  <a:srgbClr val="0070C0"/>
                </a:solidFill>
                <a:latin typeface="+mn-ea"/>
                <a:ea typeface="+mn-ea"/>
              </a:rPr>
              <a:t>工程图样是根据什么原则绘制</a:t>
            </a:r>
          </a:p>
          <a:p>
            <a:pPr>
              <a:defRPr/>
            </a:pPr>
            <a:r>
              <a:rPr kumimoji="0" lang="en-US" altLang="zh-CN" sz="2800" b="1" dirty="0">
                <a:solidFill>
                  <a:srgbClr val="0070C0"/>
                </a:solidFill>
                <a:latin typeface="+mn-ea"/>
                <a:ea typeface="+mn-ea"/>
              </a:rPr>
              <a:t>      </a:t>
            </a:r>
            <a:r>
              <a:rPr kumimoji="0" lang="zh-CN" altLang="en-US" sz="2800" b="1" dirty="0">
                <a:solidFill>
                  <a:srgbClr val="0070C0"/>
                </a:solidFill>
                <a:latin typeface="+mn-ea"/>
                <a:ea typeface="+mn-ea"/>
              </a:rPr>
              <a:t>对物体几何特征如何描述</a:t>
            </a:r>
          </a:p>
          <a:p>
            <a:pPr>
              <a:defRPr/>
            </a:pPr>
            <a:r>
              <a:rPr kumimoji="0" lang="en-US" altLang="zh-CN" sz="2800" b="1" dirty="0">
                <a:solidFill>
                  <a:srgbClr val="0070C0"/>
                </a:solidFill>
                <a:latin typeface="+mn-ea"/>
                <a:ea typeface="+mn-ea"/>
              </a:rPr>
              <a:t>      </a:t>
            </a:r>
            <a:r>
              <a:rPr kumimoji="0" lang="zh-CN" altLang="en-US" sz="2800" b="1" dirty="0">
                <a:solidFill>
                  <a:srgbClr val="0070C0"/>
                </a:solidFill>
                <a:latin typeface="+mn-ea"/>
                <a:ea typeface="+mn-ea"/>
              </a:rPr>
              <a:t>如何用图形反映设计思想</a:t>
            </a:r>
          </a:p>
          <a:p>
            <a:pPr>
              <a:defRPr/>
            </a:pPr>
            <a:r>
              <a:rPr kumimoji="0" lang="en-US" altLang="zh-CN" sz="2800" b="1" dirty="0">
                <a:solidFill>
                  <a:srgbClr val="0070C0"/>
                </a:solidFill>
                <a:latin typeface="+mn-ea"/>
                <a:ea typeface="+mn-ea"/>
              </a:rPr>
              <a:t>      </a:t>
            </a:r>
            <a:r>
              <a:rPr kumimoji="0" lang="zh-CN" altLang="en-US" sz="2800" b="1" dirty="0">
                <a:solidFill>
                  <a:srgbClr val="0070C0"/>
                </a:solidFill>
                <a:latin typeface="+mn-ea"/>
                <a:ea typeface="+mn-ea"/>
              </a:rPr>
              <a:t>实现设计方案的原理及其表达方法</a:t>
            </a:r>
          </a:p>
        </p:txBody>
      </p:sp>
    </p:spTree>
    <p:extLst>
      <p:ext uri="{BB962C8B-B14F-4D97-AF65-F5344CB8AC3E}">
        <p14:creationId xmlns:p14="http://schemas.microsoft.com/office/powerpoint/2010/main" val="166258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1000" fill="hold"/>
                                        <p:tgtEl>
                                          <p:spTgt spid="14"/>
                                        </p:tgtEl>
                                        <p:attrNameLst>
                                          <p:attrName>ppt_w</p:attrName>
                                        </p:attrNameLst>
                                      </p:cBhvr>
                                      <p:tavLst>
                                        <p:tav tm="0">
                                          <p:val>
                                            <p:fltVal val="0"/>
                                          </p:val>
                                        </p:tav>
                                        <p:tav tm="100000">
                                          <p:val>
                                            <p:strVal val="#ppt_w"/>
                                          </p:val>
                                        </p:tav>
                                      </p:tavLst>
                                    </p:anim>
                                    <p:anim calcmode="lin" valueType="num">
                                      <p:cBhvr>
                                        <p:cTn id="13" dur="1000" fill="hold"/>
                                        <p:tgtEl>
                                          <p:spTgt spid="14"/>
                                        </p:tgtEl>
                                        <p:attrNameLst>
                                          <p:attrName>ppt_h</p:attrName>
                                        </p:attrNameLst>
                                      </p:cBhvr>
                                      <p:tavLst>
                                        <p:tav tm="0">
                                          <p:val>
                                            <p:fltVal val="0"/>
                                          </p:val>
                                        </p:tav>
                                        <p:tav tm="100000">
                                          <p:val>
                                            <p:strVal val="#ppt_h"/>
                                          </p:val>
                                        </p:tav>
                                      </p:tavLst>
                                    </p:anim>
                                    <p:anim calcmode="lin" valueType="num">
                                      <p:cBhvr>
                                        <p:cTn id="14" dur="1000" fill="hold"/>
                                        <p:tgtEl>
                                          <p:spTgt spid="14"/>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1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down)">
                                      <p:cBhvr>
                                        <p:cTn id="20" dur="290">
                                          <p:stCondLst>
                                            <p:cond delay="0"/>
                                          </p:stCondLst>
                                        </p:cTn>
                                        <p:tgtEl>
                                          <p:spTgt spid="16"/>
                                        </p:tgtEl>
                                      </p:cBhvr>
                                    </p:animEffect>
                                    <p:anim calcmode="lin" valueType="num">
                                      <p:cBhvr>
                                        <p:cTn id="21" dur="911"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2" dur="332"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3" dur="332" tmFilter="0, 0; 0.125,0.2665; 0.25,0.4; 0.375,0.465; 0.5,0.5;  0.625,0.535; 0.75,0.6; 0.875,0.7335; 1,1">
                                          <p:stCondLst>
                                            <p:cond delay="332"/>
                                          </p:stCondLst>
                                        </p:cTn>
                                        <p:tgtEl>
                                          <p:spTgt spid="16"/>
                                        </p:tgtEl>
                                        <p:attrNameLst>
                                          <p:attrName>ppt_y</p:attrName>
                                        </p:attrNameLst>
                                      </p:cBhvr>
                                      <p:tavLst>
                                        <p:tav tm="0" fmla="#ppt_y-sin(pi*$)/9">
                                          <p:val>
                                            <p:fltVal val="0"/>
                                          </p:val>
                                        </p:tav>
                                        <p:tav tm="100000">
                                          <p:val>
                                            <p:fltVal val="1"/>
                                          </p:val>
                                        </p:tav>
                                      </p:tavLst>
                                    </p:anim>
                                    <p:anim calcmode="lin" valueType="num">
                                      <p:cBhvr>
                                        <p:cTn id="24" dur="166" tmFilter="0, 0; 0.125,0.2665; 0.25,0.4; 0.375,0.465; 0.5,0.5;  0.625,0.535; 0.75,0.6; 0.875,0.7335; 1,1">
                                          <p:stCondLst>
                                            <p:cond delay="662"/>
                                          </p:stCondLst>
                                        </p:cTn>
                                        <p:tgtEl>
                                          <p:spTgt spid="16"/>
                                        </p:tgtEl>
                                        <p:attrNameLst>
                                          <p:attrName>ppt_y</p:attrName>
                                        </p:attrNameLst>
                                      </p:cBhvr>
                                      <p:tavLst>
                                        <p:tav tm="0" fmla="#ppt_y-sin(pi*$)/27">
                                          <p:val>
                                            <p:fltVal val="0"/>
                                          </p:val>
                                        </p:tav>
                                        <p:tav tm="100000">
                                          <p:val>
                                            <p:fltVal val="1"/>
                                          </p:val>
                                        </p:tav>
                                      </p:tavLst>
                                    </p:anim>
                                    <p:anim calcmode="lin" valueType="num">
                                      <p:cBhvr>
                                        <p:cTn id="25" dur="82" tmFilter="0, 0; 0.125,0.2665; 0.25,0.4; 0.375,0.465; 0.5,0.5;  0.625,0.535; 0.75,0.6; 0.875,0.7335; 1,1">
                                          <p:stCondLst>
                                            <p:cond delay="828"/>
                                          </p:stCondLst>
                                        </p:cTn>
                                        <p:tgtEl>
                                          <p:spTgt spid="16"/>
                                        </p:tgtEl>
                                        <p:attrNameLst>
                                          <p:attrName>ppt_y</p:attrName>
                                        </p:attrNameLst>
                                      </p:cBhvr>
                                      <p:tavLst>
                                        <p:tav tm="0" fmla="#ppt_y-sin(pi*$)/81">
                                          <p:val>
                                            <p:fltVal val="0"/>
                                          </p:val>
                                        </p:tav>
                                        <p:tav tm="100000">
                                          <p:val>
                                            <p:fltVal val="1"/>
                                          </p:val>
                                        </p:tav>
                                      </p:tavLst>
                                    </p:anim>
                                    <p:animScale>
                                      <p:cBhvr>
                                        <p:cTn id="26" dur="13">
                                          <p:stCondLst>
                                            <p:cond delay="325"/>
                                          </p:stCondLst>
                                        </p:cTn>
                                        <p:tgtEl>
                                          <p:spTgt spid="16"/>
                                        </p:tgtEl>
                                      </p:cBhvr>
                                      <p:to x="100000" y="60000"/>
                                    </p:animScale>
                                    <p:animScale>
                                      <p:cBhvr>
                                        <p:cTn id="27" dur="83" decel="50000">
                                          <p:stCondLst>
                                            <p:cond delay="338"/>
                                          </p:stCondLst>
                                        </p:cTn>
                                        <p:tgtEl>
                                          <p:spTgt spid="16"/>
                                        </p:tgtEl>
                                      </p:cBhvr>
                                      <p:to x="100000" y="100000"/>
                                    </p:animScale>
                                    <p:animScale>
                                      <p:cBhvr>
                                        <p:cTn id="28" dur="13">
                                          <p:stCondLst>
                                            <p:cond delay="656"/>
                                          </p:stCondLst>
                                        </p:cTn>
                                        <p:tgtEl>
                                          <p:spTgt spid="16"/>
                                        </p:tgtEl>
                                      </p:cBhvr>
                                      <p:to x="100000" y="80000"/>
                                    </p:animScale>
                                    <p:animScale>
                                      <p:cBhvr>
                                        <p:cTn id="29" dur="83" decel="50000">
                                          <p:stCondLst>
                                            <p:cond delay="669"/>
                                          </p:stCondLst>
                                        </p:cTn>
                                        <p:tgtEl>
                                          <p:spTgt spid="16"/>
                                        </p:tgtEl>
                                      </p:cBhvr>
                                      <p:to x="100000" y="100000"/>
                                    </p:animScale>
                                    <p:animScale>
                                      <p:cBhvr>
                                        <p:cTn id="30" dur="13">
                                          <p:stCondLst>
                                            <p:cond delay="821"/>
                                          </p:stCondLst>
                                        </p:cTn>
                                        <p:tgtEl>
                                          <p:spTgt spid="16"/>
                                        </p:tgtEl>
                                      </p:cBhvr>
                                      <p:to x="100000" y="90000"/>
                                    </p:animScale>
                                    <p:animScale>
                                      <p:cBhvr>
                                        <p:cTn id="31" dur="83" decel="50000">
                                          <p:stCondLst>
                                            <p:cond delay="834"/>
                                          </p:stCondLst>
                                        </p:cTn>
                                        <p:tgtEl>
                                          <p:spTgt spid="16"/>
                                        </p:tgtEl>
                                      </p:cBhvr>
                                      <p:to x="100000" y="100000"/>
                                    </p:animScale>
                                    <p:animScale>
                                      <p:cBhvr>
                                        <p:cTn id="32" dur="13">
                                          <p:stCondLst>
                                            <p:cond delay="904"/>
                                          </p:stCondLst>
                                        </p:cTn>
                                        <p:tgtEl>
                                          <p:spTgt spid="16"/>
                                        </p:tgtEl>
                                      </p:cBhvr>
                                      <p:to x="100000" y="95000"/>
                                    </p:animScale>
                                    <p:animScale>
                                      <p:cBhvr>
                                        <p:cTn id="33" dur="83" decel="50000">
                                          <p:stCondLst>
                                            <p:cond delay="917"/>
                                          </p:stCondLst>
                                        </p:cTn>
                                        <p:tgtEl>
                                          <p:spTgt spid="16"/>
                                        </p:tgtEl>
                                      </p:cBhvr>
                                      <p:to x="100000" y="100000"/>
                                    </p:animScale>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heel(1)">
                                      <p:cBhvr>
                                        <p:cTn id="38" dur="5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up)">
                                      <p:cBhvr>
                                        <p:cTn id="43" dur="5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27" presetClass="entr" presetSubtype="0" fill="hold" grpId="0" nodeType="clickEffect">
                                  <p:stCondLst>
                                    <p:cond delay="0"/>
                                  </p:stCondLst>
                                  <p:iterate type="lt">
                                    <p:tmPct val="50000"/>
                                  </p:iterate>
                                  <p:childTnLst>
                                    <p:set>
                                      <p:cBhvr>
                                        <p:cTn id="47" dur="1" fill="hold">
                                          <p:stCondLst>
                                            <p:cond delay="0"/>
                                          </p:stCondLst>
                                        </p:cTn>
                                        <p:tgtEl>
                                          <p:spTgt spid="13"/>
                                        </p:tgtEl>
                                        <p:attrNameLst>
                                          <p:attrName>style.visibility</p:attrName>
                                        </p:attrNameLst>
                                      </p:cBhvr>
                                      <p:to>
                                        <p:strVal val="visible"/>
                                      </p:to>
                                    </p:set>
                                    <p:anim calcmode="discrete" valueType="clr">
                                      <p:cBhvr override="childStyle">
                                        <p:cTn id="48" dur="500"/>
                                        <p:tgtEl>
                                          <p:spTgt spid="13"/>
                                        </p:tgtEl>
                                        <p:attrNameLst>
                                          <p:attrName>style.color</p:attrName>
                                        </p:attrNameLst>
                                      </p:cBhvr>
                                      <p:tavLst>
                                        <p:tav tm="0">
                                          <p:val>
                                            <p:clrVal>
                                              <a:schemeClr val="accent2"/>
                                            </p:clrVal>
                                          </p:val>
                                        </p:tav>
                                        <p:tav tm="50000">
                                          <p:val>
                                            <p:clrVal>
                                              <a:schemeClr val="hlink"/>
                                            </p:clrVal>
                                          </p:val>
                                        </p:tav>
                                      </p:tavLst>
                                    </p:anim>
                                    <p:anim calcmode="discrete" valueType="clr">
                                      <p:cBhvr>
                                        <p:cTn id="49" dur="500"/>
                                        <p:tgtEl>
                                          <p:spTgt spid="13"/>
                                        </p:tgtEl>
                                        <p:attrNameLst>
                                          <p:attrName>fillcolor</p:attrName>
                                        </p:attrNameLst>
                                      </p:cBhvr>
                                      <p:tavLst>
                                        <p:tav tm="0">
                                          <p:val>
                                            <p:clrVal>
                                              <a:schemeClr val="accent2"/>
                                            </p:clrVal>
                                          </p:val>
                                        </p:tav>
                                        <p:tav tm="50000">
                                          <p:val>
                                            <p:clrVal>
                                              <a:schemeClr val="hlink"/>
                                            </p:clrVal>
                                          </p:val>
                                        </p:tav>
                                      </p:tavLst>
                                    </p:anim>
                                    <p:set>
                                      <p:cBhvr>
                                        <p:cTn id="50" dur="500"/>
                                        <p:tgtEl>
                                          <p:spTgt spid="13"/>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25"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500" decel="50000" fill="hold">
                                          <p:stCondLst>
                                            <p:cond delay="0"/>
                                          </p:stCondLst>
                                        </p:cTn>
                                        <p:tgtEl>
                                          <p:spTgt spid="19"/>
                                        </p:tgtEl>
                                        <p:attrNameLst>
                                          <p:attrName>style.rotation</p:attrName>
                                        </p:attrNameLst>
                                      </p:cBhvr>
                                      <p:tavLst>
                                        <p:tav tm="0">
                                          <p:val>
                                            <p:fltVal val="-90"/>
                                          </p:val>
                                        </p:tav>
                                        <p:tav tm="100000">
                                          <p:val>
                                            <p:fltVal val="0"/>
                                          </p:val>
                                        </p:tav>
                                      </p:tavLst>
                                    </p:anim>
                                    <p:anim calcmode="lin" valueType="num">
                                      <p:cBhvr>
                                        <p:cTn id="56" dur="500" decel="50000" fill="hold">
                                          <p:stCondLst>
                                            <p:cond delay="0"/>
                                          </p:stCondLst>
                                        </p:cTn>
                                        <p:tgtEl>
                                          <p:spTgt spid="19"/>
                                        </p:tgtEl>
                                        <p:attrNameLst>
                                          <p:attrName>ppt_w</p:attrName>
                                        </p:attrNameLst>
                                      </p:cBhvr>
                                      <p:tavLst>
                                        <p:tav tm="0">
                                          <p:val>
                                            <p:strVal val="#ppt_w"/>
                                          </p:val>
                                        </p:tav>
                                        <p:tav tm="100000">
                                          <p:val>
                                            <p:strVal val="#ppt_w*.05"/>
                                          </p:val>
                                        </p:tav>
                                      </p:tavLst>
                                    </p:anim>
                                    <p:anim calcmode="lin" valueType="num">
                                      <p:cBhvr>
                                        <p:cTn id="57" dur="500" accel="50000" fill="hold">
                                          <p:stCondLst>
                                            <p:cond delay="500"/>
                                          </p:stCondLst>
                                        </p:cTn>
                                        <p:tgtEl>
                                          <p:spTgt spid="19"/>
                                        </p:tgtEl>
                                        <p:attrNameLst>
                                          <p:attrName>ppt_w</p:attrName>
                                        </p:attrNameLst>
                                      </p:cBhvr>
                                      <p:tavLst>
                                        <p:tav tm="0">
                                          <p:val>
                                            <p:strVal val="#ppt_w*.05"/>
                                          </p:val>
                                        </p:tav>
                                        <p:tav tm="100000">
                                          <p:val>
                                            <p:strVal val="#ppt_w"/>
                                          </p:val>
                                        </p:tav>
                                      </p:tavLst>
                                    </p:anim>
                                    <p:anim calcmode="lin" valueType="num">
                                      <p:cBhvr>
                                        <p:cTn id="58" dur="1000" fill="hold"/>
                                        <p:tgtEl>
                                          <p:spTgt spid="19"/>
                                        </p:tgtEl>
                                        <p:attrNameLst>
                                          <p:attrName>ppt_h</p:attrName>
                                        </p:attrNameLst>
                                      </p:cBhvr>
                                      <p:tavLst>
                                        <p:tav tm="0">
                                          <p:val>
                                            <p:strVal val="#ppt_h"/>
                                          </p:val>
                                        </p:tav>
                                        <p:tav tm="100000">
                                          <p:val>
                                            <p:strVal val="#ppt_h"/>
                                          </p:val>
                                        </p:tav>
                                      </p:tavLst>
                                    </p:anim>
                                    <p:anim calcmode="lin" valueType="num">
                                      <p:cBhvr>
                                        <p:cTn id="59" dur="500" decel="50000" fill="hold">
                                          <p:stCondLst>
                                            <p:cond delay="0"/>
                                          </p:stCondLst>
                                        </p:cTn>
                                        <p:tgtEl>
                                          <p:spTgt spid="19"/>
                                        </p:tgtEl>
                                        <p:attrNameLst>
                                          <p:attrName>ppt_x</p:attrName>
                                        </p:attrNameLst>
                                      </p:cBhvr>
                                      <p:tavLst>
                                        <p:tav tm="0">
                                          <p:val>
                                            <p:strVal val="#ppt_x+.4"/>
                                          </p:val>
                                        </p:tav>
                                        <p:tav tm="100000">
                                          <p:val>
                                            <p:strVal val="#ppt_x"/>
                                          </p:val>
                                        </p:tav>
                                      </p:tavLst>
                                    </p:anim>
                                    <p:anim calcmode="lin" valueType="num">
                                      <p:cBhvr>
                                        <p:cTn id="60" dur="500" decel="50000" fill="hold">
                                          <p:stCondLst>
                                            <p:cond delay="0"/>
                                          </p:stCondLst>
                                        </p:cTn>
                                        <p:tgtEl>
                                          <p:spTgt spid="19"/>
                                        </p:tgtEl>
                                        <p:attrNameLst>
                                          <p:attrName>ppt_y</p:attrName>
                                        </p:attrNameLst>
                                      </p:cBhvr>
                                      <p:tavLst>
                                        <p:tav tm="0">
                                          <p:val>
                                            <p:strVal val="#ppt_y-.2"/>
                                          </p:val>
                                        </p:tav>
                                        <p:tav tm="100000">
                                          <p:val>
                                            <p:strVal val="#ppt_y+.1"/>
                                          </p:val>
                                        </p:tav>
                                      </p:tavLst>
                                    </p:anim>
                                    <p:anim calcmode="lin" valueType="num">
                                      <p:cBhvr>
                                        <p:cTn id="61" dur="500" accel="50000" fill="hold">
                                          <p:stCondLst>
                                            <p:cond delay="500"/>
                                          </p:stCondLst>
                                        </p:cTn>
                                        <p:tgtEl>
                                          <p:spTgt spid="19"/>
                                        </p:tgtEl>
                                        <p:attrNameLst>
                                          <p:attrName>ppt_y</p:attrName>
                                        </p:attrNameLst>
                                      </p:cBhvr>
                                      <p:tavLst>
                                        <p:tav tm="0">
                                          <p:val>
                                            <p:strVal val="#ppt_y+.1"/>
                                          </p:val>
                                        </p:tav>
                                        <p:tav tm="100000">
                                          <p:val>
                                            <p:strVal val="#ppt_y"/>
                                          </p:val>
                                        </p:tav>
                                      </p:tavLst>
                                    </p:anim>
                                    <p:animEffect transition="in" filter="fade">
                                      <p:cBhvr>
                                        <p:cTn id="62" dur="1000" decel="50000">
                                          <p:stCondLst>
                                            <p:cond delay="0"/>
                                          </p:stCondLst>
                                        </p:cTn>
                                        <p:tgtEl>
                                          <p:spTgt spid="19"/>
                                        </p:tgtEl>
                                      </p:cBhvr>
                                    </p:animEffect>
                                  </p:childTnLst>
                                  <p:subTnLst>
                                    <p:audio>
                                      <p:cMediaNode>
                                        <p:cTn display="0" masterRel="sameClick">
                                          <p:stCondLst>
                                            <p:cond evt="begin" delay="0">
                                              <p:tn val="53"/>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4" grpId="0" animBg="1"/>
      <p:bldP spid="15" grpId="0" animBg="1"/>
      <p:bldP spid="16" grpId="0"/>
      <p:bldP spid="18" grpId="0" animBg="1"/>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8"/>
          <p:cNvSpPr>
            <a:spLocks noChangeArrowheads="1"/>
          </p:cNvSpPr>
          <p:nvPr/>
        </p:nvSpPr>
        <p:spPr bwMode="auto">
          <a:xfrm>
            <a:off x="6810375" y="1857376"/>
            <a:ext cx="3500438" cy="682625"/>
          </a:xfrm>
          <a:prstGeom prst="rect">
            <a:avLst/>
          </a:prstGeom>
          <a:solidFill>
            <a:schemeClr val="accent3">
              <a:lumMod val="40000"/>
              <a:lumOff val="60000"/>
            </a:schemeClr>
          </a:solidFill>
          <a:ln w="9525" algn="ctr">
            <a:noFill/>
            <a:miter lim="800000"/>
            <a:headEnd/>
            <a:tailEnd/>
          </a:ln>
          <a:effectLst/>
        </p:spPr>
        <p:txBody>
          <a:bodyPr>
            <a:spAutoFit/>
          </a:bodyPr>
          <a:lstStyle/>
          <a:p>
            <a:pPr>
              <a:lnSpc>
                <a:spcPct val="120000"/>
              </a:lnSpc>
              <a:defRPr/>
            </a:pPr>
            <a:r>
              <a:rPr lang="en-US" altLang="zh-CN" sz="3200" b="1" dirty="0">
                <a:solidFill>
                  <a:srgbClr val="0000FF"/>
                </a:solidFill>
                <a:latin typeface="+mn-ea"/>
                <a:ea typeface="+mn-ea"/>
              </a:rPr>
              <a:t>《</a:t>
            </a:r>
            <a:r>
              <a:rPr lang="zh-CN" altLang="en-US" sz="3200" b="1" dirty="0">
                <a:solidFill>
                  <a:srgbClr val="0000FF"/>
                </a:solidFill>
                <a:latin typeface="+mn-ea"/>
                <a:ea typeface="+mn-ea"/>
              </a:rPr>
              <a:t>工程制图</a:t>
            </a:r>
            <a:r>
              <a:rPr lang="en-US" altLang="zh-CN" sz="3200" b="1" dirty="0">
                <a:solidFill>
                  <a:srgbClr val="0000FF"/>
                </a:solidFill>
                <a:latin typeface="+mn-ea"/>
                <a:ea typeface="+mn-ea"/>
              </a:rPr>
              <a:t>》</a:t>
            </a:r>
            <a:r>
              <a:rPr lang="zh-CN" altLang="en-US" sz="3200" b="1" dirty="0">
                <a:solidFill>
                  <a:srgbClr val="0000FF"/>
                </a:solidFill>
                <a:latin typeface="+mn-ea"/>
                <a:ea typeface="+mn-ea"/>
              </a:rPr>
              <a:t>课程</a:t>
            </a:r>
            <a:endParaRPr lang="zh-CN" altLang="en-US" sz="3200" b="1" dirty="0">
              <a:solidFill>
                <a:srgbClr val="0000FF"/>
              </a:solidFill>
              <a:latin typeface="隶书" pitchFamily="49" charset="-122"/>
              <a:ea typeface="隶书" pitchFamily="49" charset="-122"/>
            </a:endParaRPr>
          </a:p>
        </p:txBody>
      </p:sp>
      <p:sp>
        <p:nvSpPr>
          <p:cNvPr id="12" name="矩形 11"/>
          <p:cNvSpPr/>
          <p:nvPr/>
        </p:nvSpPr>
        <p:spPr>
          <a:xfrm>
            <a:off x="952500" y="2678636"/>
            <a:ext cx="4714875" cy="535531"/>
          </a:xfrm>
          <a:prstGeom prst="rect">
            <a:avLst/>
          </a:prstGeom>
        </p:spPr>
        <p:txBody>
          <a:bodyPr>
            <a:spAutoFit/>
          </a:bodyPr>
          <a:lstStyle/>
          <a:p>
            <a:pPr>
              <a:lnSpc>
                <a:spcPct val="90000"/>
              </a:lnSpc>
              <a:defRPr/>
            </a:pPr>
            <a:r>
              <a:rPr kumimoji="0" lang="zh-CN" altLang="en-US" sz="3200" b="1" dirty="0">
                <a:solidFill>
                  <a:srgbClr val="0070C0"/>
                </a:solidFill>
                <a:effectLst>
                  <a:outerShdw blurRad="38100" dist="38100" dir="2700000" algn="tl">
                    <a:srgbClr val="000000">
                      <a:alpha val="43137"/>
                    </a:srgbClr>
                  </a:outerShdw>
                </a:effectLst>
                <a:latin typeface="黑体" pitchFamily="49" charset="-122"/>
                <a:ea typeface="黑体" pitchFamily="49" charset="-122"/>
              </a:rPr>
              <a:t>课程主要特征体现为： </a:t>
            </a:r>
          </a:p>
        </p:txBody>
      </p:sp>
      <p:sp>
        <p:nvSpPr>
          <p:cNvPr id="9" name="Rectangle 14"/>
          <p:cNvSpPr>
            <a:spLocks noChangeArrowheads="1"/>
          </p:cNvSpPr>
          <p:nvPr/>
        </p:nvSpPr>
        <p:spPr bwMode="auto">
          <a:xfrm>
            <a:off x="2595538" y="1857364"/>
            <a:ext cx="1832553" cy="683264"/>
          </a:xfrm>
          <a:prstGeom prst="rect">
            <a:avLst/>
          </a:prstGeom>
          <a:solidFill>
            <a:schemeClr val="accent3">
              <a:lumMod val="40000"/>
              <a:lumOff val="60000"/>
            </a:schemeClr>
          </a:solidFill>
          <a:ln w="9525" algn="ctr">
            <a:solidFill>
              <a:srgbClr val="FF0000"/>
            </a:solidFill>
            <a:miter lim="800000"/>
            <a:headEnd/>
            <a:tailEnd/>
          </a:ln>
          <a:effectLst/>
        </p:spPr>
        <p:txBody>
          <a:bodyPr wrap="none">
            <a:spAutoFit/>
          </a:bodyPr>
          <a:lstStyle/>
          <a:p>
            <a:pPr>
              <a:lnSpc>
                <a:spcPct val="120000"/>
              </a:lnSpc>
              <a:defRPr/>
            </a:pPr>
            <a:r>
              <a:rPr lang="zh-CN" altLang="en-US" sz="3200" b="1" dirty="0">
                <a:solidFill>
                  <a:srgbClr val="FF0000"/>
                </a:solidFill>
                <a:effectLst>
                  <a:outerShdw blurRad="38100" dist="38100" dir="2700000" algn="tl">
                    <a:srgbClr val="000000">
                      <a:alpha val="43137"/>
                    </a:srgbClr>
                  </a:outerShdw>
                </a:effectLst>
                <a:latin typeface="黑体" pitchFamily="49" charset="-122"/>
                <a:ea typeface="黑体" pitchFamily="49" charset="-122"/>
              </a:rPr>
              <a:t>工程图学</a:t>
            </a:r>
            <a:endParaRPr lang="zh-CN" altLang="en-US" sz="3200" b="1" dirty="0">
              <a:solidFill>
                <a:srgbClr val="002060"/>
              </a:solidFill>
              <a:latin typeface="宋体" pitchFamily="2" charset="-122"/>
            </a:endParaRPr>
          </a:p>
        </p:txBody>
      </p:sp>
      <p:sp>
        <p:nvSpPr>
          <p:cNvPr id="13" name="矩形 12"/>
          <p:cNvSpPr>
            <a:spLocks noChangeArrowheads="1"/>
          </p:cNvSpPr>
          <p:nvPr/>
        </p:nvSpPr>
        <p:spPr bwMode="auto">
          <a:xfrm>
            <a:off x="4595814" y="1357314"/>
            <a:ext cx="1831975" cy="682625"/>
          </a:xfrm>
          <a:prstGeom prst="rect">
            <a:avLst/>
          </a:prstGeom>
          <a:noFill/>
          <a:ln w="9525">
            <a:noFill/>
            <a:miter lim="800000"/>
            <a:headEnd/>
            <a:tailEnd/>
          </a:ln>
        </p:spPr>
        <p:txBody>
          <a:bodyPr wrap="none">
            <a:spAutoFit/>
          </a:bodyPr>
          <a:lstStyle/>
          <a:p>
            <a:pPr>
              <a:lnSpc>
                <a:spcPct val="120000"/>
              </a:lnSpc>
            </a:pPr>
            <a:r>
              <a:rPr lang="zh-CN" altLang="en-US" sz="3200" b="1">
                <a:solidFill>
                  <a:srgbClr val="0070C0"/>
                </a:solidFill>
                <a:latin typeface="黑体" pitchFamily="49" charset="-122"/>
                <a:ea typeface="黑体" pitchFamily="49" charset="-122"/>
              </a:rPr>
              <a:t>学科保障</a:t>
            </a:r>
          </a:p>
        </p:txBody>
      </p:sp>
      <p:sp>
        <p:nvSpPr>
          <p:cNvPr id="14" name="下箭头 13"/>
          <p:cNvSpPr/>
          <p:nvPr/>
        </p:nvSpPr>
        <p:spPr>
          <a:xfrm rot="16200000">
            <a:off x="5417345" y="1178720"/>
            <a:ext cx="428625" cy="2071687"/>
          </a:xfrm>
          <a:prstGeom prst="downArrow">
            <a:avLst>
              <a:gd name="adj1" fmla="val 50000"/>
              <a:gd name="adj2" fmla="val 10907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Text Box 7"/>
          <p:cNvSpPr txBox="1">
            <a:spLocks noChangeArrowheads="1"/>
          </p:cNvSpPr>
          <p:nvPr/>
        </p:nvSpPr>
        <p:spPr bwMode="auto">
          <a:xfrm>
            <a:off x="773907" y="3375559"/>
            <a:ext cx="8346430" cy="892175"/>
          </a:xfrm>
          <a:prstGeom prst="rect">
            <a:avLst/>
          </a:prstGeom>
          <a:noFill/>
          <a:ln w="9525">
            <a:noFill/>
            <a:miter lim="800000"/>
            <a:headEnd/>
            <a:tailEnd/>
          </a:ln>
          <a:effectLst/>
        </p:spPr>
        <p:txBody>
          <a:bodyPr wrap="square" anchor="ctr">
            <a:spAutoFit/>
          </a:bodyPr>
          <a:lstStyle/>
          <a:p>
            <a:pPr marL="457200" indent="-457200">
              <a:defRPr/>
            </a:pPr>
            <a:r>
              <a:rPr kumimoji="0" lang="zh-CN" altLang="en-US" sz="2800" b="1" dirty="0">
                <a:solidFill>
                  <a:srgbClr val="0070C0"/>
                </a:solidFill>
                <a:effectLst>
                  <a:outerShdw blurRad="38100" dist="38100" dir="2700000" algn="tl">
                    <a:srgbClr val="000000">
                      <a:alpha val="43137"/>
                    </a:srgbClr>
                  </a:outerShdw>
                </a:effectLst>
                <a:latin typeface="宋体" pitchFamily="2" charset="-122"/>
              </a:rPr>
              <a:t>（</a:t>
            </a:r>
            <a:r>
              <a:rPr kumimoji="0" lang="en-US" altLang="zh-CN" sz="2800" b="1" dirty="0">
                <a:solidFill>
                  <a:srgbClr val="0070C0"/>
                </a:solidFill>
                <a:effectLst>
                  <a:outerShdw blurRad="38100" dist="38100" dir="2700000" algn="tl">
                    <a:srgbClr val="000000">
                      <a:alpha val="43137"/>
                    </a:srgbClr>
                  </a:outerShdw>
                </a:effectLst>
                <a:latin typeface="宋体" pitchFamily="2" charset="-122"/>
              </a:rPr>
              <a:t>1</a:t>
            </a:r>
            <a:r>
              <a:rPr kumimoji="0" lang="zh-CN" altLang="en-US" sz="2800" b="1" dirty="0">
                <a:solidFill>
                  <a:srgbClr val="0070C0"/>
                </a:solidFill>
                <a:effectLst>
                  <a:outerShdw blurRad="38100" dist="38100" dir="2700000" algn="tl">
                    <a:srgbClr val="000000">
                      <a:alpha val="43137"/>
                    </a:srgbClr>
                  </a:outerShdw>
                </a:effectLst>
                <a:latin typeface="宋体" pitchFamily="2" charset="-122"/>
              </a:rPr>
              <a:t>）基础性： </a:t>
            </a:r>
            <a:r>
              <a:rPr kumimoji="0" lang="zh-CN" altLang="en-US" dirty="0">
                <a:solidFill>
                  <a:srgbClr val="0070C0"/>
                </a:solidFill>
                <a:latin typeface="宋体" pitchFamily="2" charset="-122"/>
              </a:rPr>
              <a:t>是一门工科</a:t>
            </a:r>
            <a:r>
              <a:rPr kumimoji="0" lang="zh-CN" altLang="en-US" dirty="0">
                <a:solidFill>
                  <a:srgbClr val="FF0000"/>
                </a:solidFill>
                <a:latin typeface="宋体" pitchFamily="2" charset="-122"/>
              </a:rPr>
              <a:t>专业</a:t>
            </a:r>
            <a:r>
              <a:rPr kumimoji="0" lang="zh-CN" altLang="en-US" dirty="0">
                <a:solidFill>
                  <a:srgbClr val="0070C0"/>
                </a:solidFill>
                <a:latin typeface="宋体" pitchFamily="2" charset="-122"/>
              </a:rPr>
              <a:t>的</a:t>
            </a:r>
            <a:r>
              <a:rPr kumimoji="0" lang="zh-CN" altLang="en-US" dirty="0">
                <a:solidFill>
                  <a:srgbClr val="FF0000"/>
                </a:solidFill>
                <a:latin typeface="宋体" pitchFamily="2" charset="-122"/>
              </a:rPr>
              <a:t>必修课</a:t>
            </a:r>
            <a:endParaRPr kumimoji="0" lang="en-US" altLang="zh-CN" dirty="0">
              <a:solidFill>
                <a:srgbClr val="0070C0"/>
              </a:solidFill>
              <a:latin typeface="宋体" pitchFamily="2" charset="-122"/>
            </a:endParaRPr>
          </a:p>
          <a:p>
            <a:pPr marL="457200" indent="-457200">
              <a:defRPr/>
            </a:pPr>
            <a:r>
              <a:rPr kumimoji="0" lang="en-US" altLang="zh-CN" dirty="0">
                <a:solidFill>
                  <a:srgbClr val="0070C0"/>
                </a:solidFill>
                <a:latin typeface="宋体" pitchFamily="2" charset="-122"/>
              </a:rPr>
              <a:t>                     </a:t>
            </a:r>
            <a:r>
              <a:rPr kumimoji="0" lang="zh-CN" altLang="en-US" dirty="0">
                <a:solidFill>
                  <a:srgbClr val="0070C0"/>
                </a:solidFill>
                <a:latin typeface="宋体" pitchFamily="2" charset="-122"/>
              </a:rPr>
              <a:t>是培养工程技术</a:t>
            </a:r>
            <a:r>
              <a:rPr kumimoji="0" lang="zh-CN" altLang="en-US" dirty="0">
                <a:solidFill>
                  <a:srgbClr val="FF0000"/>
                </a:solidFill>
                <a:latin typeface="宋体" pitchFamily="2" charset="-122"/>
              </a:rPr>
              <a:t>人才</a:t>
            </a:r>
            <a:r>
              <a:rPr kumimoji="0" lang="zh-CN" altLang="en-US" dirty="0">
                <a:solidFill>
                  <a:srgbClr val="0070C0"/>
                </a:solidFill>
                <a:latin typeface="宋体" pitchFamily="2" charset="-122"/>
              </a:rPr>
              <a:t>的</a:t>
            </a:r>
            <a:r>
              <a:rPr kumimoji="0" lang="zh-CN" altLang="en-US" dirty="0">
                <a:solidFill>
                  <a:srgbClr val="FF0000"/>
                </a:solidFill>
                <a:latin typeface="宋体" pitchFamily="2" charset="-122"/>
              </a:rPr>
              <a:t>工程基础课</a:t>
            </a:r>
            <a:r>
              <a:rPr kumimoji="0" lang="zh-CN" altLang="en-US" dirty="0">
                <a:solidFill>
                  <a:srgbClr val="0070C0"/>
                </a:solidFill>
                <a:latin typeface="宋体" pitchFamily="2" charset="-122"/>
              </a:rPr>
              <a:t>。</a:t>
            </a:r>
            <a:endParaRPr kumimoji="0" lang="en-US" altLang="zh-CN" dirty="0">
              <a:solidFill>
                <a:srgbClr val="0070C0"/>
              </a:solidFill>
            </a:endParaRPr>
          </a:p>
        </p:txBody>
      </p:sp>
      <p:sp>
        <p:nvSpPr>
          <p:cNvPr id="17" name="矩形 16"/>
          <p:cNvSpPr>
            <a:spLocks noChangeArrowheads="1"/>
          </p:cNvSpPr>
          <p:nvPr/>
        </p:nvSpPr>
        <p:spPr bwMode="auto">
          <a:xfrm>
            <a:off x="6381751" y="5647162"/>
            <a:ext cx="4214846" cy="83099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a:noFill/>
            <a:miter lim="800000"/>
            <a:headEnd/>
            <a:tailEnd/>
          </a:ln>
        </p:spPr>
        <p:txBody>
          <a:bodyPr wrap="square">
            <a:spAutoFit/>
          </a:bodyPr>
          <a:lstStyle/>
          <a:p>
            <a:pPr>
              <a:defRPr/>
            </a:pPr>
            <a:r>
              <a:rPr lang="zh-CN" altLang="en-US" dirty="0">
                <a:latin typeface="宋体" pitchFamily="2" charset="-122"/>
              </a:rPr>
              <a:t>始终</a:t>
            </a:r>
            <a:r>
              <a:rPr lang="zh-CN" altLang="en-US" dirty="0">
                <a:solidFill>
                  <a:srgbClr val="FF0000"/>
                </a:solidFill>
                <a:latin typeface="宋体" pitchFamily="2" charset="-122"/>
              </a:rPr>
              <a:t>贯穿</a:t>
            </a:r>
            <a:r>
              <a:rPr lang="zh-CN" altLang="en-US" dirty="0">
                <a:latin typeface="宋体" pitchFamily="2" charset="-122"/>
              </a:rPr>
              <a:t>于</a:t>
            </a:r>
            <a:r>
              <a:rPr lang="zh-CN" altLang="en-US" dirty="0">
                <a:solidFill>
                  <a:srgbClr val="FF0000"/>
                </a:solidFill>
                <a:latin typeface="宋体" pitchFamily="2" charset="-122"/>
              </a:rPr>
              <a:t>设计</a:t>
            </a:r>
            <a:r>
              <a:rPr lang="zh-CN" altLang="en-US" dirty="0">
                <a:latin typeface="宋体" pitchFamily="2" charset="-122"/>
              </a:rPr>
              <a:t>的全</a:t>
            </a:r>
            <a:r>
              <a:rPr lang="zh-CN" altLang="en-US" dirty="0">
                <a:solidFill>
                  <a:srgbClr val="FF0000"/>
                </a:solidFill>
                <a:latin typeface="宋体" pitchFamily="2" charset="-122"/>
              </a:rPr>
              <a:t>过程</a:t>
            </a:r>
            <a:r>
              <a:rPr lang="zh-CN" altLang="en-US" dirty="0">
                <a:latin typeface="宋体" pitchFamily="2" charset="-122"/>
              </a:rPr>
              <a:t>，并</a:t>
            </a:r>
            <a:r>
              <a:rPr lang="zh-CN" altLang="en-US" b="1" dirty="0">
                <a:solidFill>
                  <a:srgbClr val="FF0000"/>
                </a:solidFill>
                <a:latin typeface="宋体" pitchFamily="2" charset="-122"/>
              </a:rPr>
              <a:t>提供</a:t>
            </a:r>
            <a:r>
              <a:rPr lang="zh-CN" altLang="en-US" b="1" dirty="0">
                <a:latin typeface="宋体" pitchFamily="2" charset="-122"/>
              </a:rPr>
              <a:t>解决工程技术问题的</a:t>
            </a:r>
            <a:r>
              <a:rPr lang="zh-CN" altLang="en-US" b="1" dirty="0">
                <a:solidFill>
                  <a:srgbClr val="FF0000"/>
                </a:solidFill>
                <a:latin typeface="宋体" pitchFamily="2" charset="-122"/>
              </a:rPr>
              <a:t>方法</a:t>
            </a:r>
            <a:r>
              <a:rPr lang="zh-CN" altLang="en-US" dirty="0">
                <a:latin typeface="宋体" pitchFamily="2" charset="-122"/>
              </a:rPr>
              <a:t>。</a:t>
            </a:r>
          </a:p>
        </p:txBody>
      </p:sp>
      <p:sp>
        <p:nvSpPr>
          <p:cNvPr id="18" name="矩形 17"/>
          <p:cNvSpPr>
            <a:spLocks noChangeArrowheads="1"/>
          </p:cNvSpPr>
          <p:nvPr/>
        </p:nvSpPr>
        <p:spPr bwMode="auto">
          <a:xfrm>
            <a:off x="1952626" y="5741988"/>
            <a:ext cx="3071813" cy="830262"/>
          </a:xfrm>
          <a:prstGeom prst="rect">
            <a:avLst/>
          </a:prstGeom>
          <a:solidFill>
            <a:srgbClr val="2DF3F3"/>
          </a:solidFill>
          <a:ln w="9525">
            <a:noFill/>
            <a:miter lim="800000"/>
            <a:headEnd/>
            <a:tailEnd/>
          </a:ln>
        </p:spPr>
        <p:txBody>
          <a:bodyPr>
            <a:spAutoFit/>
          </a:bodyPr>
          <a:lstStyle/>
          <a:p>
            <a:pPr algn="ctr"/>
            <a:r>
              <a:rPr lang="zh-CN" altLang="en-US" b="1">
                <a:latin typeface="宋体" pitchFamily="2" charset="-122"/>
              </a:rPr>
              <a:t>零件图</a:t>
            </a:r>
            <a:endParaRPr lang="en-US" altLang="zh-CN" b="1">
              <a:latin typeface="宋体" pitchFamily="2" charset="-122"/>
            </a:endParaRPr>
          </a:p>
          <a:p>
            <a:pPr algn="ctr"/>
            <a:r>
              <a:rPr lang="en-US" altLang="zh-CN">
                <a:latin typeface="宋体" pitchFamily="2" charset="-122"/>
              </a:rPr>
              <a:t>(</a:t>
            </a:r>
            <a:r>
              <a:rPr lang="zh-CN" altLang="en-US">
                <a:latin typeface="宋体" pitchFamily="2" charset="-122"/>
              </a:rPr>
              <a:t>技术设计阶段</a:t>
            </a:r>
            <a:r>
              <a:rPr lang="en-US" altLang="zh-CN">
                <a:latin typeface="宋体" pitchFamily="2" charset="-122"/>
              </a:rPr>
              <a:t>)</a:t>
            </a:r>
            <a:endParaRPr lang="zh-CN" altLang="en-US"/>
          </a:p>
        </p:txBody>
      </p:sp>
      <p:sp>
        <p:nvSpPr>
          <p:cNvPr id="20" name="下箭头 19"/>
          <p:cNvSpPr/>
          <p:nvPr/>
        </p:nvSpPr>
        <p:spPr>
          <a:xfrm>
            <a:off x="3309939" y="5214938"/>
            <a:ext cx="357187" cy="500062"/>
          </a:xfrm>
          <a:prstGeom prst="downArrow">
            <a:avLst/>
          </a:prstGeom>
          <a:solidFill>
            <a:srgbClr val="2DF3F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矩形 20"/>
          <p:cNvSpPr>
            <a:spLocks noChangeArrowheads="1"/>
          </p:cNvSpPr>
          <p:nvPr/>
        </p:nvSpPr>
        <p:spPr bwMode="auto">
          <a:xfrm>
            <a:off x="6126164" y="4456113"/>
            <a:ext cx="2041538" cy="830262"/>
          </a:xfrm>
          <a:prstGeom prst="rect">
            <a:avLst/>
          </a:prstGeom>
          <a:solidFill>
            <a:srgbClr val="2DF3F3"/>
          </a:solidFill>
          <a:ln w="9525">
            <a:noFill/>
            <a:miter lim="800000"/>
            <a:headEnd/>
            <a:tailEnd/>
          </a:ln>
        </p:spPr>
        <p:txBody>
          <a:bodyPr wrap="square">
            <a:spAutoFit/>
          </a:bodyPr>
          <a:lstStyle/>
          <a:p>
            <a:pPr algn="ctr"/>
            <a:r>
              <a:rPr lang="zh-CN" altLang="en-US" b="1" dirty="0">
                <a:solidFill>
                  <a:srgbClr val="FF0000"/>
                </a:solidFill>
                <a:latin typeface="宋体" pitchFamily="2" charset="-122"/>
              </a:rPr>
              <a:t>图形</a:t>
            </a:r>
            <a:endParaRPr lang="en-US" altLang="zh-CN" b="1" dirty="0">
              <a:solidFill>
                <a:srgbClr val="FF0000"/>
              </a:solidFill>
              <a:latin typeface="宋体" pitchFamily="2" charset="-122"/>
            </a:endParaRPr>
          </a:p>
          <a:p>
            <a:pPr algn="ctr"/>
            <a:r>
              <a:rPr lang="en-US" altLang="zh-CN" b="1" dirty="0">
                <a:solidFill>
                  <a:srgbClr val="FF0000"/>
                </a:solidFill>
                <a:latin typeface="宋体" pitchFamily="2" charset="-122"/>
              </a:rPr>
              <a:t>(</a:t>
            </a:r>
            <a:r>
              <a:rPr lang="zh-CN" altLang="en-US" b="1" dirty="0">
                <a:solidFill>
                  <a:srgbClr val="FF0000"/>
                </a:solidFill>
                <a:latin typeface="宋体" pitchFamily="2" charset="-122"/>
              </a:rPr>
              <a:t>工程图样）</a:t>
            </a:r>
            <a:endParaRPr lang="zh-CN" altLang="en-US" dirty="0"/>
          </a:p>
        </p:txBody>
      </p:sp>
      <p:sp>
        <p:nvSpPr>
          <p:cNvPr id="22" name="下箭头 21"/>
          <p:cNvSpPr/>
          <p:nvPr/>
        </p:nvSpPr>
        <p:spPr>
          <a:xfrm rot="5400000">
            <a:off x="5345907" y="4250532"/>
            <a:ext cx="428625" cy="1071562"/>
          </a:xfrm>
          <a:prstGeom prst="downArrow">
            <a:avLst>
              <a:gd name="adj1" fmla="val 50000"/>
              <a:gd name="adj2" fmla="val 95497"/>
            </a:avLst>
          </a:prstGeom>
          <a:solidFill>
            <a:srgbClr val="2DF3F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下箭头 22"/>
          <p:cNvSpPr/>
          <p:nvPr/>
        </p:nvSpPr>
        <p:spPr>
          <a:xfrm rot="3590589">
            <a:off x="5335588" y="5037138"/>
            <a:ext cx="366712" cy="1262062"/>
          </a:xfrm>
          <a:prstGeom prst="downArrow">
            <a:avLst>
              <a:gd name="adj1" fmla="val 50000"/>
              <a:gd name="adj2" fmla="val 143700"/>
            </a:avLst>
          </a:prstGeom>
          <a:solidFill>
            <a:srgbClr val="2DF3F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矩形 18"/>
          <p:cNvSpPr>
            <a:spLocks noChangeArrowheads="1"/>
          </p:cNvSpPr>
          <p:nvPr/>
        </p:nvSpPr>
        <p:spPr bwMode="auto">
          <a:xfrm>
            <a:off x="2024064" y="4429126"/>
            <a:ext cx="3000375" cy="830263"/>
          </a:xfrm>
          <a:prstGeom prst="rect">
            <a:avLst/>
          </a:prstGeom>
          <a:solidFill>
            <a:srgbClr val="2DF3F3"/>
          </a:solidFill>
          <a:ln w="9525">
            <a:noFill/>
            <a:miter lim="800000"/>
            <a:headEnd/>
            <a:tailEnd/>
          </a:ln>
        </p:spPr>
        <p:txBody>
          <a:bodyPr>
            <a:spAutoFit/>
          </a:bodyPr>
          <a:lstStyle/>
          <a:p>
            <a:pPr algn="ctr"/>
            <a:r>
              <a:rPr lang="zh-CN" altLang="en-US" b="1" dirty="0">
                <a:latin typeface="宋体" pitchFamily="2" charset="-122"/>
              </a:rPr>
              <a:t>方案草图</a:t>
            </a:r>
            <a:endParaRPr lang="en-US" altLang="zh-CN" b="1" dirty="0">
              <a:latin typeface="宋体" pitchFamily="2" charset="-122"/>
            </a:endParaRPr>
          </a:p>
          <a:p>
            <a:pPr algn="ctr"/>
            <a:r>
              <a:rPr lang="en-US" altLang="zh-CN" dirty="0">
                <a:latin typeface="宋体" pitchFamily="2" charset="-122"/>
              </a:rPr>
              <a:t>(</a:t>
            </a:r>
            <a:r>
              <a:rPr lang="zh-CN" altLang="en-US" dirty="0">
                <a:latin typeface="宋体" pitchFamily="2" charset="-122"/>
              </a:rPr>
              <a:t>初步设计阶段</a:t>
            </a:r>
            <a:r>
              <a:rPr lang="en-US" altLang="zh-CN" dirty="0">
                <a:latin typeface="宋体" pitchFamily="2" charset="-122"/>
              </a:rPr>
              <a:t>)</a:t>
            </a:r>
            <a:r>
              <a:rPr lang="zh-CN" altLang="en-US" dirty="0">
                <a:latin typeface="宋体" pitchFamily="2" charset="-122"/>
              </a:rPr>
              <a:t> </a:t>
            </a:r>
            <a:endParaRPr lang="zh-CN" altLang="en-US" dirty="0"/>
          </a:p>
        </p:txBody>
      </p:sp>
      <p:sp>
        <p:nvSpPr>
          <p:cNvPr id="24" name="标题 1"/>
          <p:cNvSpPr txBox="1">
            <a:spLocks/>
          </p:cNvSpPr>
          <p:nvPr/>
        </p:nvSpPr>
        <p:spPr>
          <a:xfrm>
            <a:off x="4024314" y="795339"/>
            <a:ext cx="4714875" cy="561975"/>
          </a:xfrm>
          <a:prstGeom prst="rect">
            <a:avLst/>
          </a:prstGeom>
        </p:spPr>
        <p:txBody>
          <a:bodyPr anchor="ctr">
            <a:normAutofit/>
          </a:bodyPr>
          <a:lstStyle/>
          <a:p>
            <a:pPr algn="ctr" fontAlgn="auto">
              <a:spcAft>
                <a:spcPts val="0"/>
              </a:spcAft>
              <a:defRPr/>
            </a:pPr>
            <a:r>
              <a:rPr kumimoji="0" lang="zh-CN" altLang="en-US" sz="2800" b="1" dirty="0">
                <a:solidFill>
                  <a:schemeClr val="tx2"/>
                </a:solidFill>
                <a:latin typeface="黑体" pitchFamily="2" charset="-122"/>
                <a:ea typeface="黑体" pitchFamily="2" charset="-122"/>
                <a:cs typeface="+mj-cs"/>
              </a:rPr>
              <a:t>走进</a:t>
            </a:r>
            <a:r>
              <a:rPr kumimoji="0" lang="en-US" altLang="zh-CN" sz="2800" b="1" dirty="0">
                <a:solidFill>
                  <a:schemeClr val="tx2"/>
                </a:solidFill>
                <a:latin typeface="黑体" pitchFamily="2" charset="-122"/>
                <a:ea typeface="黑体" pitchFamily="2" charset="-122"/>
                <a:cs typeface="+mj-cs"/>
              </a:rPr>
              <a:t>《</a:t>
            </a:r>
            <a:r>
              <a:rPr kumimoji="0" lang="zh-CN" altLang="en-US" sz="2800" b="1" dirty="0">
                <a:solidFill>
                  <a:schemeClr val="tx2"/>
                </a:solidFill>
                <a:latin typeface="黑体" pitchFamily="2" charset="-122"/>
                <a:ea typeface="黑体" pitchFamily="2" charset="-122"/>
                <a:cs typeface="+mj-cs"/>
              </a:rPr>
              <a:t>工程制图</a:t>
            </a:r>
            <a:r>
              <a:rPr kumimoji="0" lang="en-US" altLang="zh-CN" sz="2800" b="1" dirty="0">
                <a:solidFill>
                  <a:schemeClr val="tx2"/>
                </a:solidFill>
                <a:latin typeface="黑体" pitchFamily="2" charset="-122"/>
                <a:ea typeface="黑体" pitchFamily="2" charset="-122"/>
                <a:cs typeface="+mj-cs"/>
              </a:rPr>
              <a:t>》</a:t>
            </a:r>
            <a:r>
              <a:rPr kumimoji="0" lang="zh-CN" altLang="en-US" sz="2800" b="1" dirty="0">
                <a:solidFill>
                  <a:schemeClr val="tx2"/>
                </a:solidFill>
                <a:latin typeface="黑体" pitchFamily="2" charset="-122"/>
                <a:ea typeface="黑体" pitchFamily="2" charset="-122"/>
                <a:cs typeface="+mj-cs"/>
              </a:rPr>
              <a:t>课程</a:t>
            </a:r>
          </a:p>
        </p:txBody>
      </p:sp>
      <p:sp>
        <p:nvSpPr>
          <p:cNvPr id="25" name="标题 1"/>
          <p:cNvSpPr txBox="1">
            <a:spLocks/>
          </p:cNvSpPr>
          <p:nvPr/>
        </p:nvSpPr>
        <p:spPr>
          <a:xfrm>
            <a:off x="1666876" y="279087"/>
            <a:ext cx="3286125" cy="714375"/>
          </a:xfrm>
          <a:prstGeom prst="rect">
            <a:avLst/>
          </a:prstGeom>
        </p:spPr>
        <p:txBody>
          <a:bodyPr anchor="ctr">
            <a:normAutofit/>
          </a:bodyPr>
          <a:lstStyle/>
          <a:p>
            <a:pPr algn="ctr" fontAlgn="auto">
              <a:spcAft>
                <a:spcPts val="0"/>
              </a:spcAft>
              <a:defRPr/>
            </a:pPr>
            <a:r>
              <a:rPr kumimoji="0" lang="zh-CN" altLang="en-US" sz="3600" b="1" dirty="0">
                <a:solidFill>
                  <a:schemeClr val="tx2"/>
                </a:solidFill>
                <a:latin typeface="黑体" pitchFamily="2" charset="-122"/>
                <a:ea typeface="黑体" pitchFamily="2" charset="-122"/>
                <a:cs typeface="+mj-cs"/>
              </a:rPr>
              <a:t>绪  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24"/>
                                        </p:tgtEl>
                                        <p:attrNameLst>
                                          <p:attrName>style.visibility</p:attrName>
                                        </p:attrNameLst>
                                      </p:cBhvr>
                                      <p:to>
                                        <p:strVal val="visible"/>
                                      </p:to>
                                    </p:set>
                                    <p:anim calcmode="discrete" valueType="clr">
                                      <p:cBhvr override="childStyle">
                                        <p:cTn id="7" dur="80"/>
                                        <p:tgtEl>
                                          <p:spTgt spid="2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4"/>
                                        </p:tgtEl>
                                        <p:attrNameLst>
                                          <p:attrName>fillcolor</p:attrName>
                                        </p:attrNameLst>
                                      </p:cBhvr>
                                      <p:tavLst>
                                        <p:tav tm="0">
                                          <p:val>
                                            <p:clrVal>
                                              <a:schemeClr val="accent2"/>
                                            </p:clrVal>
                                          </p:val>
                                        </p:tav>
                                        <p:tav tm="50000">
                                          <p:val>
                                            <p:clrVal>
                                              <a:schemeClr val="hlink"/>
                                            </p:clrVal>
                                          </p:val>
                                        </p:tav>
                                      </p:tavLst>
                                    </p:anim>
                                    <p:set>
                                      <p:cBhvr>
                                        <p:cTn id="9" dur="80"/>
                                        <p:tgtEl>
                                          <p:spTgt spid="2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heel(1)">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25"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decel="50000" fill="hold">
                                          <p:stCondLst>
                                            <p:cond delay="0"/>
                                          </p:stCondLst>
                                        </p:cTn>
                                        <p:tgtEl>
                                          <p:spTgt spid="10"/>
                                        </p:tgtEl>
                                        <p:attrNameLst>
                                          <p:attrName>style.rotation</p:attrName>
                                        </p:attrNameLst>
                                      </p:cBhvr>
                                      <p:tavLst>
                                        <p:tav tm="0">
                                          <p:val>
                                            <p:fltVal val="-90"/>
                                          </p:val>
                                        </p:tav>
                                        <p:tav tm="100000">
                                          <p:val>
                                            <p:fltVal val="0"/>
                                          </p:val>
                                        </p:tav>
                                      </p:tavLst>
                                    </p:anim>
                                    <p:anim calcmode="lin" valueType="num">
                                      <p:cBhvr>
                                        <p:cTn id="25" dur="500" decel="50000" fill="hold">
                                          <p:stCondLst>
                                            <p:cond delay="0"/>
                                          </p:stCondLst>
                                        </p:cTn>
                                        <p:tgtEl>
                                          <p:spTgt spid="10"/>
                                        </p:tgtEl>
                                        <p:attrNameLst>
                                          <p:attrName>ppt_w</p:attrName>
                                        </p:attrNameLst>
                                      </p:cBhvr>
                                      <p:tavLst>
                                        <p:tav tm="0">
                                          <p:val>
                                            <p:strVal val="#ppt_w"/>
                                          </p:val>
                                        </p:tav>
                                        <p:tav tm="100000">
                                          <p:val>
                                            <p:strVal val="#ppt_w*.05"/>
                                          </p:val>
                                        </p:tav>
                                      </p:tavLst>
                                    </p:anim>
                                    <p:anim calcmode="lin" valueType="num">
                                      <p:cBhvr>
                                        <p:cTn id="26" dur="500" accel="50000" fill="hold">
                                          <p:stCondLst>
                                            <p:cond delay="500"/>
                                          </p:stCondLst>
                                        </p:cTn>
                                        <p:tgtEl>
                                          <p:spTgt spid="10"/>
                                        </p:tgtEl>
                                        <p:attrNameLst>
                                          <p:attrName>ppt_w</p:attrName>
                                        </p:attrNameLst>
                                      </p:cBhvr>
                                      <p:tavLst>
                                        <p:tav tm="0">
                                          <p:val>
                                            <p:strVal val="#ppt_w*.05"/>
                                          </p:val>
                                        </p:tav>
                                        <p:tav tm="100000">
                                          <p:val>
                                            <p:strVal val="#ppt_w"/>
                                          </p:val>
                                        </p:tav>
                                      </p:tavLst>
                                    </p:anim>
                                    <p:anim calcmode="lin" valueType="num">
                                      <p:cBhvr>
                                        <p:cTn id="27" dur="1000" fill="hold"/>
                                        <p:tgtEl>
                                          <p:spTgt spid="10"/>
                                        </p:tgtEl>
                                        <p:attrNameLst>
                                          <p:attrName>ppt_h</p:attrName>
                                        </p:attrNameLst>
                                      </p:cBhvr>
                                      <p:tavLst>
                                        <p:tav tm="0">
                                          <p:val>
                                            <p:strVal val="#ppt_h"/>
                                          </p:val>
                                        </p:tav>
                                        <p:tav tm="100000">
                                          <p:val>
                                            <p:strVal val="#ppt_h"/>
                                          </p:val>
                                        </p:tav>
                                      </p:tavLst>
                                    </p:anim>
                                    <p:anim calcmode="lin" valueType="num">
                                      <p:cBhvr>
                                        <p:cTn id="28" dur="500" decel="50000" fill="hold">
                                          <p:stCondLst>
                                            <p:cond delay="0"/>
                                          </p:stCondLst>
                                        </p:cTn>
                                        <p:tgtEl>
                                          <p:spTgt spid="10"/>
                                        </p:tgtEl>
                                        <p:attrNameLst>
                                          <p:attrName>ppt_x</p:attrName>
                                        </p:attrNameLst>
                                      </p:cBhvr>
                                      <p:tavLst>
                                        <p:tav tm="0">
                                          <p:val>
                                            <p:strVal val="#ppt_x+.4"/>
                                          </p:val>
                                        </p:tav>
                                        <p:tav tm="100000">
                                          <p:val>
                                            <p:strVal val="#ppt_x"/>
                                          </p:val>
                                        </p:tav>
                                      </p:tavLst>
                                    </p:anim>
                                    <p:anim calcmode="lin" valueType="num">
                                      <p:cBhvr>
                                        <p:cTn id="29" dur="500" decel="50000" fill="hold">
                                          <p:stCondLst>
                                            <p:cond delay="0"/>
                                          </p:stCondLst>
                                        </p:cTn>
                                        <p:tgtEl>
                                          <p:spTgt spid="10"/>
                                        </p:tgtEl>
                                        <p:attrNameLst>
                                          <p:attrName>ppt_y</p:attrName>
                                        </p:attrNameLst>
                                      </p:cBhvr>
                                      <p:tavLst>
                                        <p:tav tm="0">
                                          <p:val>
                                            <p:strVal val="#ppt_y-.2"/>
                                          </p:val>
                                        </p:tav>
                                        <p:tav tm="100000">
                                          <p:val>
                                            <p:strVal val="#ppt_y+.1"/>
                                          </p:val>
                                        </p:tav>
                                      </p:tavLst>
                                    </p:anim>
                                    <p:anim calcmode="lin" valueType="num">
                                      <p:cBhvr>
                                        <p:cTn id="30" dur="500" accel="50000" fill="hold">
                                          <p:stCondLst>
                                            <p:cond delay="500"/>
                                          </p:stCondLst>
                                        </p:cTn>
                                        <p:tgtEl>
                                          <p:spTgt spid="10"/>
                                        </p:tgtEl>
                                        <p:attrNameLst>
                                          <p:attrName>ppt_y</p:attrName>
                                        </p:attrNameLst>
                                      </p:cBhvr>
                                      <p:tavLst>
                                        <p:tav tm="0">
                                          <p:val>
                                            <p:strVal val="#ppt_y+.1"/>
                                          </p:val>
                                        </p:tav>
                                        <p:tav tm="100000">
                                          <p:val>
                                            <p:strVal val="#ppt_y"/>
                                          </p:val>
                                        </p:tav>
                                      </p:tavLst>
                                    </p:anim>
                                    <p:animEffect transition="in" filter="fade">
                                      <p:cBhvr>
                                        <p:cTn id="31" dur="1000" decel="50000">
                                          <p:stCondLst>
                                            <p:cond delay="0"/>
                                          </p:stCondLst>
                                        </p:cTn>
                                        <p:tgtEl>
                                          <p:spTgt spid="10"/>
                                        </p:tgtEl>
                                      </p:cBhvr>
                                    </p:animEffect>
                                  </p:childTnLst>
                                  <p:subTnLst>
                                    <p:audio>
                                      <p:cMediaNode>
                                        <p:cTn display="0" masterRel="sameClick">
                                          <p:stCondLst>
                                            <p:cond evt="begin" delay="0">
                                              <p:tn val="22"/>
                                            </p:cond>
                                          </p:stCondLst>
                                          <p:endCondLst>
                                            <p:cond evt="onStopAudio" delay="0">
                                              <p:tgtEl>
                                                <p:sldTgt/>
                                              </p:tgtEl>
                                            </p:cond>
                                          </p:endCondLst>
                                        </p:cTn>
                                        <p:tgtEl>
                                          <p:sndTgt r:embed="rId3" name="PROJCTOR.WAV"/>
                                        </p:tgtEl>
                                      </p:cMediaNode>
                                    </p:audio>
                                  </p:sub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dissolv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left)">
                                      <p:cBhvr>
                                        <p:cTn id="41" dur="500"/>
                                        <p:tgtEl>
                                          <p:spTgt spid="12"/>
                                        </p:tgtEl>
                                      </p:cBhvr>
                                    </p:animEffect>
                                  </p:childTnLst>
                                  <p:subTnLst>
                                    <p:audio>
                                      <p:cMediaNode>
                                        <p:cTn display="0" masterRel="sameClick">
                                          <p:stCondLst>
                                            <p:cond evt="begin" delay="0">
                                              <p:tn val="39"/>
                                            </p:cond>
                                          </p:stCondLst>
                                          <p:endCondLst>
                                            <p:cond evt="onStopAudio" delay="0">
                                              <p:tgtEl>
                                                <p:sldTgt/>
                                              </p:tgtEl>
                                            </p:cond>
                                          </p:endCondLst>
                                        </p:cTn>
                                        <p:tgtEl>
                                          <p:sndTgt r:embed="rId3" name="PROJCTOR.WAV"/>
                                        </p:tgtEl>
                                      </p:cMediaNode>
                                    </p:audio>
                                  </p:subTnLst>
                                </p:cTn>
                              </p:par>
                            </p:childTnLst>
                          </p:cTn>
                        </p:par>
                      </p:childTnLst>
                    </p:cTn>
                  </p:par>
                  <p:par>
                    <p:cTn id="42" fill="hold">
                      <p:stCondLst>
                        <p:cond delay="indefinite"/>
                      </p:stCondLst>
                      <p:childTnLst>
                        <p:par>
                          <p:cTn id="43" fill="hold">
                            <p:stCondLst>
                              <p:cond delay="0"/>
                            </p:stCondLst>
                            <p:childTnLst>
                              <p:par>
                                <p:cTn id="44" presetID="2" presetClass="entr" presetSubtype="2"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500" fill="hold"/>
                                        <p:tgtEl>
                                          <p:spTgt spid="16"/>
                                        </p:tgtEl>
                                        <p:attrNameLst>
                                          <p:attrName>ppt_x</p:attrName>
                                        </p:attrNameLst>
                                      </p:cBhvr>
                                      <p:tavLst>
                                        <p:tav tm="0">
                                          <p:val>
                                            <p:strVal val="1+#ppt_w/2"/>
                                          </p:val>
                                        </p:tav>
                                        <p:tav tm="100000">
                                          <p:val>
                                            <p:strVal val="#ppt_x"/>
                                          </p:val>
                                        </p:tav>
                                      </p:tavLst>
                                    </p:anim>
                                    <p:anim calcmode="lin" valueType="num">
                                      <p:cBhvr additive="base">
                                        <p:cTn id="47" dur="500" fill="hold"/>
                                        <p:tgtEl>
                                          <p:spTgt spid="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4"/>
                                            </p:cond>
                                          </p:stCondLst>
                                          <p:endCondLst>
                                            <p:cond evt="onStopAudio" delay="0">
                                              <p:tgtEl>
                                                <p:sldTgt/>
                                              </p:tgtEl>
                                            </p:cond>
                                          </p:endCondLst>
                                        </p:cTn>
                                        <p:tgtEl>
                                          <p:sndTgt r:embed="rId4" name="CAMERA.WAV"/>
                                        </p:tgtEl>
                                      </p:cMediaNode>
                                    </p:audio>
                                  </p:sub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up)">
                                      <p:cBhvr>
                                        <p:cTn id="52" dur="500"/>
                                        <p:tgtEl>
                                          <p:spTgt spid="19"/>
                                        </p:tgtEl>
                                      </p:cBhvr>
                                    </p:animEffect>
                                  </p:childTnLst>
                                  <p:subTnLst>
                                    <p:audio>
                                      <p:cMediaNode>
                                        <p:cTn display="0" masterRel="sameClick">
                                          <p:stCondLst>
                                            <p:cond evt="begin" delay="0">
                                              <p:tn val="50"/>
                                            </p:cond>
                                          </p:stCondLst>
                                          <p:endCondLst>
                                            <p:cond evt="onStopAudio" delay="0">
                                              <p:tgtEl>
                                                <p:sldTgt/>
                                              </p:tgtEl>
                                            </p:cond>
                                          </p:endCondLst>
                                        </p:cTn>
                                        <p:tgtEl>
                                          <p:sndTgt r:embed="rId5" name="Button36.wav"/>
                                        </p:tgtEl>
                                      </p:cMediaNode>
                                    </p:audio>
                                  </p:sub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up)">
                                      <p:cBhvr>
                                        <p:cTn id="57" dur="500"/>
                                        <p:tgtEl>
                                          <p:spTgt spid="20"/>
                                        </p:tgtEl>
                                      </p:cBhvr>
                                    </p:animEffect>
                                  </p:childTnLst>
                                  <p:subTnLst>
                                    <p:audio>
                                      <p:cMediaNode>
                                        <p:cTn display="0" masterRel="sameClick">
                                          <p:stCondLst>
                                            <p:cond evt="begin" delay="0">
                                              <p:tn val="55"/>
                                            </p:cond>
                                          </p:stCondLst>
                                          <p:endCondLst>
                                            <p:cond evt="onStopAudio" delay="0">
                                              <p:tgtEl>
                                                <p:sldTgt/>
                                              </p:tgtEl>
                                            </p:cond>
                                          </p:endCondLst>
                                        </p:cTn>
                                        <p:tgtEl>
                                          <p:sndTgt r:embed="rId5" name="Button36.wav"/>
                                        </p:tgtEl>
                                      </p:cMediaNode>
                                    </p:audio>
                                  </p:sub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up)">
                                      <p:cBhvr>
                                        <p:cTn id="62" dur="500"/>
                                        <p:tgtEl>
                                          <p:spTgt spid="18"/>
                                        </p:tgtEl>
                                      </p:cBhvr>
                                    </p:animEffect>
                                  </p:childTnLst>
                                  <p:subTnLst>
                                    <p:audio>
                                      <p:cMediaNode>
                                        <p:cTn display="0" masterRel="sameClick">
                                          <p:stCondLst>
                                            <p:cond evt="begin" delay="0">
                                              <p:tn val="60"/>
                                            </p:cond>
                                          </p:stCondLst>
                                          <p:endCondLst>
                                            <p:cond evt="onStopAudio" delay="0">
                                              <p:tgtEl>
                                                <p:sldTgt/>
                                              </p:tgtEl>
                                            </p:cond>
                                          </p:endCondLst>
                                        </p:cTn>
                                        <p:tgtEl>
                                          <p:sndTgt r:embed="rId5" name="Button36.wav"/>
                                        </p:tgtEl>
                                      </p:cMediaNode>
                                    </p:audio>
                                  </p:subTnLst>
                                </p:cTn>
                              </p:par>
                            </p:childTnLst>
                          </p:cTn>
                        </p:par>
                      </p:childTnLst>
                    </p:cTn>
                  </p:par>
                  <p:par>
                    <p:cTn id="63" fill="hold">
                      <p:stCondLst>
                        <p:cond delay="indefinite"/>
                      </p:stCondLst>
                      <p:childTnLst>
                        <p:par>
                          <p:cTn id="64" fill="hold">
                            <p:stCondLst>
                              <p:cond delay="0"/>
                            </p:stCondLst>
                            <p:childTnLst>
                              <p:par>
                                <p:cTn id="65" presetID="21" presetClass="entr" presetSubtype="4"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heel(4)">
                                      <p:cBhvr>
                                        <p:cTn id="67" dur="500"/>
                                        <p:tgtEl>
                                          <p:spTgt spid="21"/>
                                        </p:tgtEl>
                                      </p:cBhvr>
                                    </p:animEffect>
                                  </p:childTnLst>
                                  <p:subTnLst>
                                    <p:audio>
                                      <p:cMediaNode>
                                        <p:cTn display="0" masterRel="sameClick">
                                          <p:stCondLst>
                                            <p:cond evt="begin" delay="0">
                                              <p:tn val="65"/>
                                            </p:cond>
                                          </p:stCondLst>
                                          <p:endCondLst>
                                            <p:cond evt="onStopAudio" delay="0">
                                              <p:tgtEl>
                                                <p:sldTgt/>
                                              </p:tgtEl>
                                            </p:cond>
                                          </p:endCondLst>
                                        </p:cTn>
                                        <p:tgtEl>
                                          <p:sndTgt r:embed="rId5" name="Button36.wav"/>
                                        </p:tgtEl>
                                      </p:cMediaNode>
                                    </p:audio>
                                  </p:sub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wipe(up)">
                                      <p:cBhvr>
                                        <p:cTn id="72" dur="5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wipe(up)">
                                      <p:cBhvr>
                                        <p:cTn id="77" dur="500"/>
                                        <p:tgtEl>
                                          <p:spTgt spid="23"/>
                                        </p:tgtEl>
                                      </p:cBhvr>
                                    </p:animEffect>
                                  </p:childTnLst>
                                </p:cTn>
                              </p:par>
                            </p:childTnLst>
                          </p:cTn>
                        </p:par>
                      </p:childTnLst>
                    </p:cTn>
                  </p:par>
                  <p:par>
                    <p:cTn id="78" fill="hold">
                      <p:stCondLst>
                        <p:cond delay="indefinite"/>
                      </p:stCondLst>
                      <p:childTnLst>
                        <p:par>
                          <p:cTn id="79" fill="hold">
                            <p:stCondLst>
                              <p:cond delay="0"/>
                            </p:stCondLst>
                            <p:childTnLst>
                              <p:par>
                                <p:cTn id="80" presetID="27" presetClass="entr" presetSubtype="0" fill="hold" grpId="0" nodeType="clickEffect">
                                  <p:stCondLst>
                                    <p:cond delay="0"/>
                                  </p:stCondLst>
                                  <p:iterate type="lt">
                                    <p:tmPct val="50000"/>
                                  </p:iterate>
                                  <p:childTnLst>
                                    <p:set>
                                      <p:cBhvr>
                                        <p:cTn id="81" dur="1" fill="hold">
                                          <p:stCondLst>
                                            <p:cond delay="0"/>
                                          </p:stCondLst>
                                        </p:cTn>
                                        <p:tgtEl>
                                          <p:spTgt spid="17"/>
                                        </p:tgtEl>
                                        <p:attrNameLst>
                                          <p:attrName>style.visibility</p:attrName>
                                        </p:attrNameLst>
                                      </p:cBhvr>
                                      <p:to>
                                        <p:strVal val="visible"/>
                                      </p:to>
                                    </p:set>
                                    <p:anim calcmode="discrete" valueType="clr">
                                      <p:cBhvr override="childStyle">
                                        <p:cTn id="82" dur="80"/>
                                        <p:tgtEl>
                                          <p:spTgt spid="17"/>
                                        </p:tgtEl>
                                        <p:attrNameLst>
                                          <p:attrName>style.color</p:attrName>
                                        </p:attrNameLst>
                                      </p:cBhvr>
                                      <p:tavLst>
                                        <p:tav tm="0">
                                          <p:val>
                                            <p:clrVal>
                                              <a:schemeClr val="accent2"/>
                                            </p:clrVal>
                                          </p:val>
                                        </p:tav>
                                        <p:tav tm="50000">
                                          <p:val>
                                            <p:clrVal>
                                              <a:schemeClr val="hlink"/>
                                            </p:clrVal>
                                          </p:val>
                                        </p:tav>
                                      </p:tavLst>
                                    </p:anim>
                                    <p:anim calcmode="discrete" valueType="clr">
                                      <p:cBhvr>
                                        <p:cTn id="83" dur="80"/>
                                        <p:tgtEl>
                                          <p:spTgt spid="17"/>
                                        </p:tgtEl>
                                        <p:attrNameLst>
                                          <p:attrName>fillcolor</p:attrName>
                                        </p:attrNameLst>
                                      </p:cBhvr>
                                      <p:tavLst>
                                        <p:tav tm="0">
                                          <p:val>
                                            <p:clrVal>
                                              <a:schemeClr val="accent2"/>
                                            </p:clrVal>
                                          </p:val>
                                        </p:tav>
                                        <p:tav tm="50000">
                                          <p:val>
                                            <p:clrVal>
                                              <a:schemeClr val="hlink"/>
                                            </p:clrVal>
                                          </p:val>
                                        </p:tav>
                                      </p:tavLst>
                                    </p:anim>
                                    <p:set>
                                      <p:cBhvr>
                                        <p:cTn id="84" dur="80"/>
                                        <p:tgtEl>
                                          <p:spTgt spid="1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9" grpId="0" animBg="1"/>
      <p:bldP spid="13" grpId="0"/>
      <p:bldP spid="14" grpId="0" animBg="1"/>
      <p:bldP spid="16" grpId="0" autoUpdateAnimBg="0"/>
      <p:bldP spid="17" grpId="0" animBg="1"/>
      <p:bldP spid="18" grpId="0" animBg="1"/>
      <p:bldP spid="20" grpId="0" animBg="1"/>
      <p:bldP spid="21" grpId="0" animBg="1"/>
      <p:bldP spid="22" grpId="0" animBg="1"/>
      <p:bldP spid="23" grpId="0" animBg="1"/>
      <p:bldP spid="19" grpId="0" animBg="1"/>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9"/>
          <p:cNvSpPr txBox="1">
            <a:spLocks noChangeArrowheads="1"/>
          </p:cNvSpPr>
          <p:nvPr/>
        </p:nvSpPr>
        <p:spPr bwMode="auto">
          <a:xfrm>
            <a:off x="1066007" y="1602786"/>
            <a:ext cx="5916613" cy="436563"/>
          </a:xfrm>
          <a:prstGeom prst="rect">
            <a:avLst/>
          </a:prstGeom>
          <a:noFill/>
          <a:ln w="9525">
            <a:noFill/>
            <a:miter lim="800000"/>
            <a:headEnd/>
            <a:tailEnd/>
          </a:ln>
          <a:effectLst/>
        </p:spPr>
        <p:txBody>
          <a:bodyPr anchor="ctr">
            <a:spAutoFit/>
          </a:bodyPr>
          <a:lstStyle/>
          <a:p>
            <a:pPr>
              <a:lnSpc>
                <a:spcPct val="80000"/>
              </a:lnSpc>
              <a:defRPr/>
            </a:pPr>
            <a:r>
              <a:rPr kumimoji="0" lang="zh-CN" altLang="en-US" sz="2800" b="1" dirty="0">
                <a:solidFill>
                  <a:srgbClr val="0070C0"/>
                </a:solidFill>
                <a:effectLst>
                  <a:outerShdw blurRad="38100" dist="38100" dir="2700000" algn="tl">
                    <a:srgbClr val="000000"/>
                  </a:outerShdw>
                </a:effectLst>
                <a:latin typeface="宋体" pitchFamily="2" charset="-122"/>
              </a:rPr>
              <a:t>(2)交叉性：</a:t>
            </a:r>
            <a:r>
              <a:rPr kumimoji="0" lang="zh-CN" altLang="en-US" b="1" dirty="0">
                <a:solidFill>
                  <a:srgbClr val="0070C0"/>
                </a:solidFill>
                <a:latin typeface="宋体" pitchFamily="2" charset="-122"/>
              </a:rPr>
              <a:t>是一门跨</a:t>
            </a:r>
            <a:r>
              <a:rPr kumimoji="0" lang="zh-CN" altLang="en-US" b="1" dirty="0">
                <a:solidFill>
                  <a:srgbClr val="FF0000"/>
                </a:solidFill>
                <a:latin typeface="宋体" pitchFamily="2" charset="-122"/>
              </a:rPr>
              <a:t>多个学科</a:t>
            </a:r>
            <a:r>
              <a:rPr kumimoji="0" lang="zh-CN" altLang="en-US" b="1" dirty="0">
                <a:solidFill>
                  <a:srgbClr val="0070C0"/>
                </a:solidFill>
                <a:latin typeface="宋体" pitchFamily="2" charset="-122"/>
              </a:rPr>
              <a:t>的课程。</a:t>
            </a:r>
          </a:p>
        </p:txBody>
      </p:sp>
      <p:sp>
        <p:nvSpPr>
          <p:cNvPr id="8" name="Text Box 5"/>
          <p:cNvSpPr txBox="1">
            <a:spLocks noChangeArrowheads="1"/>
          </p:cNvSpPr>
          <p:nvPr/>
        </p:nvSpPr>
        <p:spPr bwMode="auto">
          <a:xfrm>
            <a:off x="1552745" y="2165846"/>
            <a:ext cx="4543255" cy="1274195"/>
          </a:xfrm>
          <a:prstGeom prst="rect">
            <a:avLst/>
          </a:prstGeom>
          <a:noFill/>
          <a:ln w="12700" cap="sq">
            <a:noFill/>
            <a:miter lim="800000"/>
            <a:headEnd type="none" w="sm" len="sm"/>
            <a:tailEnd type="none" w="sm" len="sm"/>
          </a:ln>
          <a:effectLst/>
        </p:spPr>
        <p:txBody>
          <a:bodyPr wrap="square">
            <a:spAutoFit/>
          </a:bodyPr>
          <a:lstStyle/>
          <a:p>
            <a:pPr>
              <a:lnSpc>
                <a:spcPct val="80000"/>
              </a:lnSpc>
              <a:spcBef>
                <a:spcPct val="50000"/>
              </a:spcBef>
              <a:defRPr/>
            </a:pPr>
            <a:r>
              <a:rPr lang="zh-CN" altLang="en-US" dirty="0">
                <a:effectLst>
                  <a:outerShdw blurRad="38100" dist="38100" dir="2700000" algn="tl">
                    <a:srgbClr val="C0C0C0"/>
                  </a:outerShdw>
                </a:effectLst>
                <a:latin typeface="+mn-ea"/>
                <a:ea typeface="+mn-ea"/>
              </a:rPr>
              <a:t>工程图学是几何学、投影理论、工程设计与工艺学、思维科学、标准化科学及现代成图技术相结合的产物。</a:t>
            </a:r>
          </a:p>
        </p:txBody>
      </p:sp>
      <p:sp>
        <p:nvSpPr>
          <p:cNvPr id="9" name="Text Box 6"/>
          <p:cNvSpPr txBox="1">
            <a:spLocks noChangeArrowheads="1"/>
          </p:cNvSpPr>
          <p:nvPr/>
        </p:nvSpPr>
        <p:spPr bwMode="auto">
          <a:xfrm>
            <a:off x="2309813" y="1071563"/>
            <a:ext cx="1643062" cy="373062"/>
          </a:xfrm>
          <a:prstGeom prst="rect">
            <a:avLst/>
          </a:prstGeom>
          <a:noFill/>
          <a:ln w="9525">
            <a:noFill/>
            <a:miter lim="800000"/>
            <a:headEnd/>
            <a:tailEnd/>
          </a:ln>
          <a:effectLst/>
        </p:spPr>
        <p:txBody>
          <a:bodyPr anchor="ctr">
            <a:spAutoFit/>
          </a:bodyPr>
          <a:lstStyle/>
          <a:p>
            <a:pPr>
              <a:lnSpc>
                <a:spcPct val="65000"/>
              </a:lnSpc>
              <a:spcBef>
                <a:spcPts val="100"/>
              </a:spcBef>
              <a:defRPr/>
            </a:pPr>
            <a:r>
              <a:rPr kumimoji="0" lang="zh-CN" altLang="en-US" sz="2800" b="1" dirty="0">
                <a:solidFill>
                  <a:srgbClr val="FF0000"/>
                </a:solidFill>
                <a:effectLst>
                  <a:outerShdw blurRad="38100" dist="38100" dir="2700000" algn="tl">
                    <a:srgbClr val="000000">
                      <a:alpha val="43137"/>
                    </a:srgbClr>
                  </a:outerShdw>
                </a:effectLst>
                <a:latin typeface="+mn-ea"/>
                <a:ea typeface="+mn-ea"/>
              </a:rPr>
              <a:t>课程特征 </a:t>
            </a:r>
          </a:p>
        </p:txBody>
      </p:sp>
      <p:sp>
        <p:nvSpPr>
          <p:cNvPr id="13" name="标题 1"/>
          <p:cNvSpPr txBox="1">
            <a:spLocks/>
          </p:cNvSpPr>
          <p:nvPr/>
        </p:nvSpPr>
        <p:spPr>
          <a:xfrm>
            <a:off x="4024314" y="795339"/>
            <a:ext cx="4714875" cy="561975"/>
          </a:xfrm>
          <a:prstGeom prst="rect">
            <a:avLst/>
          </a:prstGeom>
        </p:spPr>
        <p:txBody>
          <a:bodyPr anchor="ctr">
            <a:normAutofit/>
          </a:bodyPr>
          <a:lstStyle/>
          <a:p>
            <a:pPr algn="ctr" fontAlgn="auto">
              <a:spcAft>
                <a:spcPts val="0"/>
              </a:spcAft>
              <a:defRPr/>
            </a:pPr>
            <a:r>
              <a:rPr kumimoji="0" lang="zh-CN" altLang="en-US" sz="2800" b="1" dirty="0">
                <a:solidFill>
                  <a:schemeClr val="tx2"/>
                </a:solidFill>
                <a:latin typeface="黑体" pitchFamily="2" charset="-122"/>
                <a:ea typeface="黑体" pitchFamily="2" charset="-122"/>
                <a:cs typeface="+mj-cs"/>
              </a:rPr>
              <a:t>走进</a:t>
            </a:r>
            <a:r>
              <a:rPr kumimoji="0" lang="en-US" altLang="zh-CN" sz="2800" b="1" dirty="0">
                <a:solidFill>
                  <a:schemeClr val="tx2"/>
                </a:solidFill>
                <a:latin typeface="黑体" pitchFamily="2" charset="-122"/>
                <a:ea typeface="黑体" pitchFamily="2" charset="-122"/>
                <a:cs typeface="+mj-cs"/>
              </a:rPr>
              <a:t>《</a:t>
            </a:r>
            <a:r>
              <a:rPr kumimoji="0" lang="zh-CN" altLang="en-US" sz="2800" b="1" dirty="0">
                <a:solidFill>
                  <a:schemeClr val="tx2"/>
                </a:solidFill>
                <a:latin typeface="黑体" pitchFamily="2" charset="-122"/>
                <a:ea typeface="黑体" pitchFamily="2" charset="-122"/>
                <a:cs typeface="+mj-cs"/>
              </a:rPr>
              <a:t>工程制图</a:t>
            </a:r>
            <a:r>
              <a:rPr kumimoji="0" lang="en-US" altLang="zh-CN" sz="2800" b="1" dirty="0">
                <a:solidFill>
                  <a:schemeClr val="tx2"/>
                </a:solidFill>
                <a:latin typeface="黑体" pitchFamily="2" charset="-122"/>
                <a:ea typeface="黑体" pitchFamily="2" charset="-122"/>
                <a:cs typeface="+mj-cs"/>
              </a:rPr>
              <a:t>》</a:t>
            </a:r>
            <a:r>
              <a:rPr kumimoji="0" lang="zh-CN" altLang="en-US" sz="2800" b="1" dirty="0">
                <a:solidFill>
                  <a:schemeClr val="tx2"/>
                </a:solidFill>
                <a:latin typeface="黑体" pitchFamily="2" charset="-122"/>
                <a:ea typeface="黑体" pitchFamily="2" charset="-122"/>
                <a:cs typeface="+mj-cs"/>
              </a:rPr>
              <a:t>课程</a:t>
            </a:r>
          </a:p>
        </p:txBody>
      </p:sp>
      <p:sp>
        <p:nvSpPr>
          <p:cNvPr id="18" name="标题 1"/>
          <p:cNvSpPr txBox="1">
            <a:spLocks/>
          </p:cNvSpPr>
          <p:nvPr/>
        </p:nvSpPr>
        <p:spPr>
          <a:xfrm>
            <a:off x="2081816" y="213396"/>
            <a:ext cx="3286125" cy="714375"/>
          </a:xfrm>
          <a:prstGeom prst="rect">
            <a:avLst/>
          </a:prstGeom>
        </p:spPr>
        <p:txBody>
          <a:bodyPr anchor="ctr">
            <a:normAutofit/>
          </a:bodyPr>
          <a:lstStyle/>
          <a:p>
            <a:pPr algn="ctr" fontAlgn="auto">
              <a:spcAft>
                <a:spcPts val="0"/>
              </a:spcAft>
              <a:defRPr/>
            </a:pPr>
            <a:r>
              <a:rPr kumimoji="0" lang="zh-CN" altLang="en-US" sz="3600" b="1" dirty="0">
                <a:solidFill>
                  <a:schemeClr val="tx2"/>
                </a:solidFill>
                <a:latin typeface="黑体" pitchFamily="2" charset="-122"/>
                <a:ea typeface="黑体" pitchFamily="2" charset="-122"/>
                <a:cs typeface="+mj-cs"/>
              </a:rPr>
              <a:t>绪  论</a:t>
            </a:r>
          </a:p>
        </p:txBody>
      </p:sp>
      <p:pic>
        <p:nvPicPr>
          <p:cNvPr id="2" name="图片 1">
            <a:extLst>
              <a:ext uri="{FF2B5EF4-FFF2-40B4-BE49-F238E27FC236}">
                <a16:creationId xmlns:a16="http://schemas.microsoft.com/office/drawing/2014/main" id="{DFA4829D-129D-45E4-8FA4-54FC74F7AE4A}"/>
              </a:ext>
            </a:extLst>
          </p:cNvPr>
          <p:cNvPicPr>
            <a:picLocks noChangeAspect="1"/>
          </p:cNvPicPr>
          <p:nvPr/>
        </p:nvPicPr>
        <p:blipFill>
          <a:blip r:embed="rId5"/>
          <a:stretch>
            <a:fillRect/>
          </a:stretch>
        </p:blipFill>
        <p:spPr>
          <a:xfrm>
            <a:off x="6528047" y="2139231"/>
            <a:ext cx="4537943" cy="3923430"/>
          </a:xfrm>
          <a:prstGeom prst="rect">
            <a:avLst/>
          </a:prstGeom>
        </p:spPr>
      </p:pic>
      <p:sp>
        <p:nvSpPr>
          <p:cNvPr id="3" name="矩形 2">
            <a:extLst>
              <a:ext uri="{FF2B5EF4-FFF2-40B4-BE49-F238E27FC236}">
                <a16:creationId xmlns:a16="http://schemas.microsoft.com/office/drawing/2014/main" id="{B2FFA135-02FE-4AE4-9E93-DCD5B5C63EB2}"/>
              </a:ext>
            </a:extLst>
          </p:cNvPr>
          <p:cNvSpPr/>
          <p:nvPr/>
        </p:nvSpPr>
        <p:spPr>
          <a:xfrm>
            <a:off x="1552745" y="3861048"/>
            <a:ext cx="4548252" cy="1569660"/>
          </a:xfrm>
          <a:prstGeom prst="rect">
            <a:avLst/>
          </a:prstGeom>
        </p:spPr>
        <p:txBody>
          <a:bodyPr wrap="square">
            <a:spAutoFit/>
          </a:bodyPr>
          <a:lstStyle/>
          <a:p>
            <a:r>
              <a:rPr lang="zh-CN" altLang="en-US" dirty="0"/>
              <a:t>内燃机的设计和制图过程，需要了解和掌握机械学、机构学、动力学、热力学、工程材料、工程力学等多个学科的相关知识</a:t>
            </a:r>
          </a:p>
        </p:txBody>
      </p:sp>
    </p:spTree>
    <p:extLst>
      <p:ext uri="{BB962C8B-B14F-4D97-AF65-F5344CB8AC3E}">
        <p14:creationId xmlns:p14="http://schemas.microsoft.com/office/powerpoint/2010/main" val="89021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13"/>
                                        </p:tgtEl>
                                        <p:attrNameLst>
                                          <p:attrName>style.visibility</p:attrName>
                                        </p:attrNameLst>
                                      </p:cBhvr>
                                      <p:to>
                                        <p:strVal val="visible"/>
                                      </p:to>
                                    </p:set>
                                    <p:anim calcmode="discrete" valueType="clr">
                                      <p:cBhvr override="childStyle">
                                        <p:cTn id="7" dur="80"/>
                                        <p:tgtEl>
                                          <p:spTgt spid="1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3"/>
                                        </p:tgtEl>
                                        <p:attrNameLst>
                                          <p:attrName>fillcolor</p:attrName>
                                        </p:attrNameLst>
                                      </p:cBhvr>
                                      <p:tavLst>
                                        <p:tav tm="0">
                                          <p:val>
                                            <p:clrVal>
                                              <a:schemeClr val="accent2"/>
                                            </p:clrVal>
                                          </p:val>
                                        </p:tav>
                                        <p:tav tm="50000">
                                          <p:val>
                                            <p:clrVal>
                                              <a:schemeClr val="hlink"/>
                                            </p:clrVal>
                                          </p:val>
                                        </p:tav>
                                      </p:tavLst>
                                    </p:anim>
                                    <p:set>
                                      <p:cBhvr>
                                        <p:cTn id="9" dur="80"/>
                                        <p:tgtEl>
                                          <p:spTgt spid="1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right)">
                                      <p:cBhvr>
                                        <p:cTn id="14" dur="500"/>
                                        <p:tgtEl>
                                          <p:spTgt spid="4"/>
                                        </p:tgtEl>
                                      </p:cBhvr>
                                    </p:animEffect>
                                  </p:childTnLst>
                                  <p:subTnLst>
                                    <p:audio>
                                      <p:cMediaNode>
                                        <p:cTn display="0" masterRel="sameClick">
                                          <p:stCondLst>
                                            <p:cond evt="begin" delay="0">
                                              <p:tn val="12"/>
                                            </p:cond>
                                          </p:stCondLst>
                                          <p:endCondLst>
                                            <p:cond evt="onStopAudio" delay="0">
                                              <p:tgtEl>
                                                <p:sldTgt/>
                                              </p:tgtEl>
                                            </p:cond>
                                          </p:endCondLst>
                                        </p:cTn>
                                        <p:tgtEl>
                                          <p:sndTgt r:embed="rId3" name="type.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CAMERA.WAV"/>
                                        </p:tgtEl>
                                      </p:cMediaNode>
                                    </p:audio>
                                  </p:subTnLst>
                                </p:cTn>
                              </p:par>
                            </p:childTnLst>
                          </p:cTn>
                        </p:par>
                      </p:childTnLst>
                    </p:cTn>
                  </p:par>
                  <p:par>
                    <p:cTn id="21" fill="hold">
                      <p:stCondLst>
                        <p:cond delay="indefinite"/>
                      </p:stCondLst>
                      <p:childTnLst>
                        <p:par>
                          <p:cTn id="22" fill="hold">
                            <p:stCondLst>
                              <p:cond delay="0"/>
                            </p:stCondLst>
                            <p:childTnLst>
                              <p:par>
                                <p:cTn id="23" presetID="16" presetClass="entr" presetSubtype="37"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arn(outVertical)">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3"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8"/>
          <p:cNvSpPr txBox="1">
            <a:spLocks noChangeArrowheads="1"/>
          </p:cNvSpPr>
          <p:nvPr/>
        </p:nvSpPr>
        <p:spPr bwMode="auto">
          <a:xfrm>
            <a:off x="992899" y="1788364"/>
            <a:ext cx="10215670" cy="523220"/>
          </a:xfrm>
          <a:prstGeom prst="rect">
            <a:avLst/>
          </a:prstGeom>
          <a:noFill/>
          <a:ln w="9525">
            <a:noFill/>
            <a:miter lim="800000"/>
            <a:headEnd/>
            <a:tailEnd/>
          </a:ln>
          <a:effectLst/>
        </p:spPr>
        <p:txBody>
          <a:bodyPr wrap="square" anchor="ctr">
            <a:spAutoFit/>
          </a:bodyPr>
          <a:lstStyle/>
          <a:p>
            <a:pPr>
              <a:defRPr/>
            </a:pPr>
            <a:r>
              <a:rPr kumimoji="0" lang="zh-CN" altLang="en-US" sz="2800" b="1" dirty="0">
                <a:solidFill>
                  <a:srgbClr val="0070C0"/>
                </a:solidFill>
                <a:effectLst>
                  <a:outerShdw blurRad="38100" dist="38100" dir="2700000" algn="tl">
                    <a:srgbClr val="000000"/>
                  </a:outerShdw>
                </a:effectLst>
                <a:latin typeface="宋体" pitchFamily="2" charset="-122"/>
              </a:rPr>
              <a:t>(3)工程性：</a:t>
            </a:r>
            <a:r>
              <a:rPr kumimoji="0" lang="zh-CN" altLang="en-US" b="1" dirty="0">
                <a:solidFill>
                  <a:srgbClr val="0070C0"/>
                </a:solidFill>
                <a:latin typeface="宋体" pitchFamily="2" charset="-122"/>
              </a:rPr>
              <a:t>是一门与</a:t>
            </a:r>
            <a:r>
              <a:rPr kumimoji="0" lang="zh-CN" altLang="en-US" b="1" dirty="0">
                <a:solidFill>
                  <a:srgbClr val="FF0000"/>
                </a:solidFill>
                <a:latin typeface="宋体" pitchFamily="2" charset="-122"/>
              </a:rPr>
              <a:t>工程中的形体构成</a:t>
            </a:r>
            <a:r>
              <a:rPr kumimoji="0" lang="zh-CN" altLang="en-US" b="1" dirty="0">
                <a:solidFill>
                  <a:srgbClr val="0070C0"/>
                </a:solidFill>
                <a:latin typeface="宋体" pitchFamily="2" charset="-122"/>
              </a:rPr>
              <a:t>、分析及表达紧密相连的课程。 </a:t>
            </a:r>
          </a:p>
        </p:txBody>
      </p:sp>
      <p:sp>
        <p:nvSpPr>
          <p:cNvPr id="15" name="Text Box 10"/>
          <p:cNvSpPr txBox="1">
            <a:spLocks noChangeArrowheads="1"/>
          </p:cNvSpPr>
          <p:nvPr/>
        </p:nvSpPr>
        <p:spPr bwMode="auto">
          <a:xfrm>
            <a:off x="992899" y="2675885"/>
            <a:ext cx="7286626" cy="436563"/>
          </a:xfrm>
          <a:prstGeom prst="rect">
            <a:avLst/>
          </a:prstGeom>
          <a:noFill/>
          <a:ln w="9525">
            <a:noFill/>
            <a:miter lim="800000"/>
            <a:headEnd/>
            <a:tailEnd/>
          </a:ln>
          <a:effectLst/>
        </p:spPr>
        <p:txBody>
          <a:bodyPr anchor="ctr">
            <a:spAutoFit/>
          </a:bodyPr>
          <a:lstStyle/>
          <a:p>
            <a:pPr>
              <a:lnSpc>
                <a:spcPct val="80000"/>
              </a:lnSpc>
              <a:defRPr/>
            </a:pPr>
            <a:r>
              <a:rPr kumimoji="0" lang="zh-CN" altLang="en-US" sz="2800" b="1" dirty="0">
                <a:solidFill>
                  <a:srgbClr val="0070C0"/>
                </a:solidFill>
                <a:effectLst>
                  <a:outerShdw blurRad="38100" dist="38100" dir="2700000" algn="tl">
                    <a:srgbClr val="000000"/>
                  </a:outerShdw>
                </a:effectLst>
                <a:latin typeface="宋体" pitchFamily="2" charset="-122"/>
              </a:rPr>
              <a:t>(4)实用性：</a:t>
            </a:r>
            <a:r>
              <a:rPr kumimoji="0" lang="zh-CN" altLang="en-US" b="1" dirty="0">
                <a:solidFill>
                  <a:srgbClr val="0070C0"/>
                </a:solidFill>
                <a:latin typeface="宋体" pitchFamily="2" charset="-122"/>
              </a:rPr>
              <a:t>是一门</a:t>
            </a:r>
            <a:r>
              <a:rPr kumimoji="0" lang="zh-CN" altLang="en-US" b="1" dirty="0">
                <a:solidFill>
                  <a:srgbClr val="FF0000"/>
                </a:solidFill>
                <a:latin typeface="宋体" pitchFamily="2" charset="-122"/>
              </a:rPr>
              <a:t>理论与工程实践相结合</a:t>
            </a:r>
            <a:r>
              <a:rPr kumimoji="0" lang="zh-CN" altLang="en-US" b="1" dirty="0">
                <a:solidFill>
                  <a:srgbClr val="0070C0"/>
                </a:solidFill>
                <a:latin typeface="宋体" pitchFamily="2" charset="-122"/>
              </a:rPr>
              <a:t>的课程。 </a:t>
            </a:r>
          </a:p>
        </p:txBody>
      </p:sp>
      <p:sp>
        <p:nvSpPr>
          <p:cNvPr id="16" name="Text Box 22"/>
          <p:cNvSpPr txBox="1">
            <a:spLocks noChangeArrowheads="1"/>
          </p:cNvSpPr>
          <p:nvPr/>
        </p:nvSpPr>
        <p:spPr bwMode="auto">
          <a:xfrm>
            <a:off x="992899" y="3542386"/>
            <a:ext cx="8501063" cy="436563"/>
          </a:xfrm>
          <a:prstGeom prst="rect">
            <a:avLst/>
          </a:prstGeom>
          <a:noFill/>
          <a:ln w="9525">
            <a:noFill/>
            <a:miter lim="800000"/>
            <a:headEnd/>
            <a:tailEnd/>
          </a:ln>
          <a:effectLst/>
        </p:spPr>
        <p:txBody>
          <a:bodyPr anchor="ctr">
            <a:spAutoFit/>
          </a:bodyPr>
          <a:lstStyle/>
          <a:p>
            <a:pPr>
              <a:lnSpc>
                <a:spcPct val="80000"/>
              </a:lnSpc>
              <a:defRPr/>
            </a:pPr>
            <a:r>
              <a:rPr kumimoji="0" lang="zh-CN" altLang="en-US" sz="2800" b="1" dirty="0">
                <a:solidFill>
                  <a:srgbClr val="0070C0"/>
                </a:solidFill>
                <a:effectLst>
                  <a:outerShdw blurRad="38100" dist="38100" dir="2700000" algn="tl">
                    <a:srgbClr val="000000"/>
                  </a:outerShdw>
                </a:effectLst>
                <a:latin typeface="宋体" pitchFamily="2" charset="-122"/>
              </a:rPr>
              <a:t>(5)方法性：</a:t>
            </a:r>
            <a:r>
              <a:rPr kumimoji="0" lang="zh-CN" altLang="en-US" b="1" dirty="0">
                <a:solidFill>
                  <a:srgbClr val="0070C0"/>
                </a:solidFill>
                <a:latin typeface="宋体" pitchFamily="2" charset="-122"/>
              </a:rPr>
              <a:t>它为</a:t>
            </a:r>
            <a:r>
              <a:rPr kumimoji="0" lang="zh-CN" altLang="en-US" b="1" dirty="0">
                <a:solidFill>
                  <a:srgbClr val="FF0000"/>
                </a:solidFill>
                <a:latin typeface="宋体" pitchFamily="2" charset="-122"/>
              </a:rPr>
              <a:t>工程和视觉想象力</a:t>
            </a:r>
            <a:r>
              <a:rPr kumimoji="0" lang="zh-CN" altLang="en-US" b="1" dirty="0">
                <a:solidFill>
                  <a:srgbClr val="0070C0"/>
                </a:solidFill>
                <a:latin typeface="宋体" pitchFamily="2" charset="-122"/>
              </a:rPr>
              <a:t>提供了一个方法。</a:t>
            </a:r>
          </a:p>
        </p:txBody>
      </p:sp>
      <p:sp>
        <p:nvSpPr>
          <p:cNvPr id="17" name="Text Box 23"/>
          <p:cNvSpPr txBox="1">
            <a:spLocks noChangeArrowheads="1"/>
          </p:cNvSpPr>
          <p:nvPr/>
        </p:nvSpPr>
        <p:spPr bwMode="auto">
          <a:xfrm>
            <a:off x="992899" y="4272574"/>
            <a:ext cx="8215313" cy="436562"/>
          </a:xfrm>
          <a:prstGeom prst="rect">
            <a:avLst/>
          </a:prstGeom>
          <a:noFill/>
          <a:ln w="9525">
            <a:noFill/>
            <a:miter lim="800000"/>
            <a:headEnd/>
            <a:tailEnd/>
          </a:ln>
          <a:effectLst/>
        </p:spPr>
        <p:txBody>
          <a:bodyPr anchor="ctr">
            <a:spAutoFit/>
          </a:bodyPr>
          <a:lstStyle/>
          <a:p>
            <a:pPr>
              <a:lnSpc>
                <a:spcPct val="80000"/>
              </a:lnSpc>
              <a:defRPr/>
            </a:pPr>
            <a:r>
              <a:rPr kumimoji="0" lang="zh-CN" altLang="en-US" sz="2800" b="1" dirty="0">
                <a:solidFill>
                  <a:srgbClr val="0070C0"/>
                </a:solidFill>
                <a:effectLst>
                  <a:outerShdw blurRad="38100" dist="38100" dir="2700000" algn="tl">
                    <a:srgbClr val="000000"/>
                  </a:outerShdw>
                </a:effectLst>
                <a:latin typeface="宋体" pitchFamily="2" charset="-122"/>
              </a:rPr>
              <a:t>(6)通用性</a:t>
            </a:r>
            <a:r>
              <a:rPr kumimoji="0" lang="en-US" altLang="zh-CN" sz="2800" b="1" dirty="0">
                <a:solidFill>
                  <a:srgbClr val="0070C0"/>
                </a:solidFill>
                <a:effectLst>
                  <a:outerShdw blurRad="38100" dist="38100" dir="2700000" algn="tl">
                    <a:srgbClr val="000000"/>
                  </a:outerShdw>
                </a:effectLst>
                <a:latin typeface="宋体" pitchFamily="2" charset="-122"/>
              </a:rPr>
              <a:t>: </a:t>
            </a:r>
            <a:r>
              <a:rPr kumimoji="0" lang="zh-CN" altLang="en-US" b="1" dirty="0">
                <a:solidFill>
                  <a:srgbClr val="0070C0"/>
                </a:solidFill>
                <a:latin typeface="宋体" pitchFamily="2" charset="-122"/>
              </a:rPr>
              <a:t>它是工程界</a:t>
            </a:r>
            <a:r>
              <a:rPr kumimoji="0" lang="zh-CN" altLang="en-US" b="1" dirty="0">
                <a:solidFill>
                  <a:srgbClr val="FF0000"/>
                </a:solidFill>
                <a:latin typeface="宋体" pitchFamily="2" charset="-122"/>
              </a:rPr>
              <a:t>跨地域、跨行业</a:t>
            </a:r>
            <a:r>
              <a:rPr kumimoji="0" lang="zh-CN" altLang="en-US" b="1" dirty="0">
                <a:solidFill>
                  <a:srgbClr val="0070C0"/>
                </a:solidFill>
                <a:latin typeface="宋体" pitchFamily="2" charset="-122"/>
              </a:rPr>
              <a:t>的通用语言。</a:t>
            </a:r>
            <a:endParaRPr kumimoji="0" lang="en-US" altLang="zh-CN" b="1" dirty="0">
              <a:solidFill>
                <a:srgbClr val="0070C0"/>
              </a:solidFill>
              <a:latin typeface="宋体" pitchFamily="2" charset="-122"/>
            </a:endParaRPr>
          </a:p>
        </p:txBody>
      </p:sp>
      <p:sp>
        <p:nvSpPr>
          <p:cNvPr id="9" name="Text Box 6"/>
          <p:cNvSpPr txBox="1">
            <a:spLocks noChangeArrowheads="1"/>
          </p:cNvSpPr>
          <p:nvPr/>
        </p:nvSpPr>
        <p:spPr bwMode="auto">
          <a:xfrm>
            <a:off x="2309813" y="1071563"/>
            <a:ext cx="1643062" cy="373062"/>
          </a:xfrm>
          <a:prstGeom prst="rect">
            <a:avLst/>
          </a:prstGeom>
          <a:noFill/>
          <a:ln w="9525">
            <a:noFill/>
            <a:miter lim="800000"/>
            <a:headEnd/>
            <a:tailEnd/>
          </a:ln>
          <a:effectLst/>
        </p:spPr>
        <p:txBody>
          <a:bodyPr anchor="ctr">
            <a:spAutoFit/>
          </a:bodyPr>
          <a:lstStyle/>
          <a:p>
            <a:pPr>
              <a:lnSpc>
                <a:spcPct val="65000"/>
              </a:lnSpc>
              <a:spcBef>
                <a:spcPts val="100"/>
              </a:spcBef>
              <a:defRPr/>
            </a:pPr>
            <a:r>
              <a:rPr kumimoji="0" lang="zh-CN" altLang="en-US" sz="2800" b="1" dirty="0">
                <a:solidFill>
                  <a:srgbClr val="FF0000"/>
                </a:solidFill>
                <a:effectLst>
                  <a:outerShdw blurRad="38100" dist="38100" dir="2700000" algn="tl">
                    <a:srgbClr val="000000">
                      <a:alpha val="43137"/>
                    </a:srgbClr>
                  </a:outerShdw>
                </a:effectLst>
                <a:latin typeface="+mn-ea"/>
                <a:ea typeface="+mn-ea"/>
              </a:rPr>
              <a:t>课程特征 </a:t>
            </a:r>
          </a:p>
        </p:txBody>
      </p:sp>
      <p:sp>
        <p:nvSpPr>
          <p:cNvPr id="11" name="Rectangle 14"/>
          <p:cNvSpPr>
            <a:spLocks noChangeArrowheads="1"/>
          </p:cNvSpPr>
          <p:nvPr/>
        </p:nvSpPr>
        <p:spPr bwMode="auto">
          <a:xfrm>
            <a:off x="6790412" y="5006960"/>
            <a:ext cx="3627438" cy="1127125"/>
          </a:xfrm>
          <a:prstGeom prst="rect">
            <a:avLst/>
          </a:prstGeom>
          <a:noFill/>
          <a:ln w="9525" algn="ctr">
            <a:noFill/>
            <a:miter lim="800000"/>
            <a:headEnd/>
            <a:tailEnd/>
          </a:ln>
          <a:effectLst/>
        </p:spPr>
        <p:txBody>
          <a:bodyPr>
            <a:spAutoFit/>
          </a:bodyPr>
          <a:lstStyle/>
          <a:p>
            <a:pPr>
              <a:lnSpc>
                <a:spcPct val="120000"/>
              </a:lnSpc>
              <a:defRPr/>
            </a:pPr>
            <a:r>
              <a:rPr lang="zh-CN" altLang="en-US" sz="2800" b="1" dirty="0">
                <a:solidFill>
                  <a:srgbClr val="002060"/>
                </a:solidFill>
                <a:effectLst>
                  <a:outerShdw blurRad="38100" dist="38100" dir="2700000" algn="tl">
                    <a:srgbClr val="000000">
                      <a:alpha val="43137"/>
                    </a:srgbClr>
                  </a:outerShdw>
                </a:effectLst>
                <a:latin typeface="黑体" pitchFamily="49" charset="-122"/>
                <a:ea typeface="黑体" pitchFamily="49" charset="-122"/>
              </a:rPr>
              <a:t>为什么学！</a:t>
            </a:r>
            <a:r>
              <a:rPr lang="zh-CN" altLang="en-US" sz="2800" b="1" dirty="0">
                <a:solidFill>
                  <a:srgbClr val="FF0000"/>
                </a:solidFill>
                <a:effectLst>
                  <a:outerShdw blurRad="38100" dist="38100" dir="2700000" algn="tl">
                    <a:srgbClr val="000000">
                      <a:alpha val="43137"/>
                    </a:srgbClr>
                  </a:outerShdw>
                </a:effectLst>
                <a:latin typeface="黑体" pitchFamily="49" charset="-122"/>
                <a:ea typeface="黑体" pitchFamily="49" charset="-122"/>
              </a:rPr>
              <a:t>学了有什么用！</a:t>
            </a:r>
            <a:endParaRPr lang="zh-CN" altLang="en-US" sz="2800" b="1" dirty="0">
              <a:solidFill>
                <a:srgbClr val="002060"/>
              </a:solidFill>
              <a:effectLst>
                <a:outerShdw blurRad="38100" dist="38100" dir="2700000" algn="tl">
                  <a:srgbClr val="000000">
                    <a:alpha val="43137"/>
                  </a:srgbClr>
                </a:outerShdw>
              </a:effectLst>
              <a:latin typeface="黑体" pitchFamily="49" charset="-122"/>
              <a:ea typeface="黑体" pitchFamily="49" charset="-122"/>
            </a:endParaRPr>
          </a:p>
        </p:txBody>
      </p:sp>
      <p:sp>
        <p:nvSpPr>
          <p:cNvPr id="12" name="矩形 11"/>
          <p:cNvSpPr/>
          <p:nvPr/>
        </p:nvSpPr>
        <p:spPr>
          <a:xfrm>
            <a:off x="1199456" y="5108554"/>
            <a:ext cx="10215669" cy="954107"/>
          </a:xfrm>
          <a:prstGeom prst="rect">
            <a:avLst/>
          </a:prstGeom>
          <a:solidFill>
            <a:schemeClr val="bg1"/>
          </a:solidFill>
        </p:spPr>
        <p:txBody>
          <a:bodyPr wrap="square">
            <a:spAutoFit/>
          </a:bodyPr>
          <a:lstStyle/>
          <a:p>
            <a:pPr>
              <a:defRPr/>
            </a:pPr>
            <a:r>
              <a:rPr lang="zh-CN" altLang="en-US" sz="2800" b="1" dirty="0">
                <a:solidFill>
                  <a:srgbClr val="FF0000"/>
                </a:solidFill>
                <a:effectLst>
                  <a:outerShdw blurRad="38100" dist="38100" dir="2700000" algn="tl">
                    <a:srgbClr val="000000">
                      <a:alpha val="43137"/>
                    </a:srgbClr>
                  </a:outerShdw>
                </a:effectLst>
              </a:rPr>
              <a:t>为一切涉及工程领域的人才提供</a:t>
            </a:r>
            <a:endParaRPr lang="en-US" altLang="zh-CN" sz="2800" b="1" dirty="0">
              <a:solidFill>
                <a:srgbClr val="FF0000"/>
              </a:solidFill>
              <a:effectLst>
                <a:outerShdw blurRad="38100" dist="38100" dir="2700000" algn="tl">
                  <a:srgbClr val="000000">
                    <a:alpha val="43137"/>
                  </a:srgbClr>
                </a:outerShdw>
              </a:effectLst>
            </a:endParaRPr>
          </a:p>
          <a:p>
            <a:pPr>
              <a:defRPr/>
            </a:pPr>
            <a:r>
              <a:rPr lang="en-US" altLang="zh-CN" sz="2800" b="1" dirty="0">
                <a:solidFill>
                  <a:srgbClr val="FF0000"/>
                </a:solidFill>
                <a:effectLst>
                  <a:outerShdw blurRad="38100" dist="38100" dir="2700000" algn="tl">
                    <a:srgbClr val="000000">
                      <a:alpha val="43137"/>
                    </a:srgbClr>
                  </a:outerShdw>
                </a:effectLst>
              </a:rPr>
              <a:t>                                          </a:t>
            </a:r>
            <a:r>
              <a:rPr lang="zh-CN" altLang="en-US" sz="2800" b="1" dirty="0">
                <a:solidFill>
                  <a:srgbClr val="FF0000"/>
                </a:solidFill>
                <a:effectLst>
                  <a:outerShdw blurRad="38100" dist="38100" dir="2700000" algn="tl">
                    <a:srgbClr val="000000">
                      <a:alpha val="43137"/>
                    </a:srgbClr>
                  </a:outerShdw>
                </a:effectLst>
              </a:rPr>
              <a:t>空间思维和形象思维表达的理论及方法。</a:t>
            </a:r>
            <a:endParaRPr lang="zh-CN" altLang="en-US" sz="2800" dirty="0">
              <a:solidFill>
                <a:srgbClr val="FF0000"/>
              </a:solidFill>
              <a:effectLst>
                <a:outerShdw blurRad="38100" dist="38100" dir="2700000" algn="tl">
                  <a:srgbClr val="000000">
                    <a:alpha val="43137"/>
                  </a:srgbClr>
                </a:outerShdw>
              </a:effectLst>
            </a:endParaRPr>
          </a:p>
        </p:txBody>
      </p:sp>
      <p:sp>
        <p:nvSpPr>
          <p:cNvPr id="13" name="标题 1"/>
          <p:cNvSpPr txBox="1">
            <a:spLocks/>
          </p:cNvSpPr>
          <p:nvPr/>
        </p:nvSpPr>
        <p:spPr>
          <a:xfrm>
            <a:off x="4024314" y="795339"/>
            <a:ext cx="4714875" cy="561975"/>
          </a:xfrm>
          <a:prstGeom prst="rect">
            <a:avLst/>
          </a:prstGeom>
        </p:spPr>
        <p:txBody>
          <a:bodyPr anchor="ctr">
            <a:normAutofit/>
          </a:bodyPr>
          <a:lstStyle/>
          <a:p>
            <a:pPr algn="ctr" fontAlgn="auto">
              <a:spcAft>
                <a:spcPts val="0"/>
              </a:spcAft>
              <a:defRPr/>
            </a:pPr>
            <a:r>
              <a:rPr kumimoji="0" lang="zh-CN" altLang="en-US" sz="2800" b="1" dirty="0">
                <a:solidFill>
                  <a:schemeClr val="tx2"/>
                </a:solidFill>
                <a:latin typeface="黑体" pitchFamily="2" charset="-122"/>
                <a:ea typeface="黑体" pitchFamily="2" charset="-122"/>
                <a:cs typeface="+mj-cs"/>
              </a:rPr>
              <a:t>走进</a:t>
            </a:r>
            <a:r>
              <a:rPr kumimoji="0" lang="en-US" altLang="zh-CN" sz="2800" b="1" dirty="0">
                <a:solidFill>
                  <a:schemeClr val="tx2"/>
                </a:solidFill>
                <a:latin typeface="黑体" pitchFamily="2" charset="-122"/>
                <a:ea typeface="黑体" pitchFamily="2" charset="-122"/>
                <a:cs typeface="+mj-cs"/>
              </a:rPr>
              <a:t>《</a:t>
            </a:r>
            <a:r>
              <a:rPr kumimoji="0" lang="zh-CN" altLang="en-US" sz="2800" b="1" dirty="0">
                <a:solidFill>
                  <a:schemeClr val="tx2"/>
                </a:solidFill>
                <a:latin typeface="黑体" pitchFamily="2" charset="-122"/>
                <a:ea typeface="黑体" pitchFamily="2" charset="-122"/>
                <a:cs typeface="+mj-cs"/>
              </a:rPr>
              <a:t>工程制图</a:t>
            </a:r>
            <a:r>
              <a:rPr kumimoji="0" lang="en-US" altLang="zh-CN" sz="2800" b="1" dirty="0">
                <a:solidFill>
                  <a:schemeClr val="tx2"/>
                </a:solidFill>
                <a:latin typeface="黑体" pitchFamily="2" charset="-122"/>
                <a:ea typeface="黑体" pitchFamily="2" charset="-122"/>
                <a:cs typeface="+mj-cs"/>
              </a:rPr>
              <a:t>》</a:t>
            </a:r>
            <a:r>
              <a:rPr kumimoji="0" lang="zh-CN" altLang="en-US" sz="2800" b="1" dirty="0">
                <a:solidFill>
                  <a:schemeClr val="tx2"/>
                </a:solidFill>
                <a:latin typeface="黑体" pitchFamily="2" charset="-122"/>
                <a:ea typeface="黑体" pitchFamily="2" charset="-122"/>
                <a:cs typeface="+mj-cs"/>
              </a:rPr>
              <a:t>课程</a:t>
            </a:r>
          </a:p>
        </p:txBody>
      </p:sp>
      <p:sp>
        <p:nvSpPr>
          <p:cNvPr id="18" name="标题 1"/>
          <p:cNvSpPr txBox="1">
            <a:spLocks/>
          </p:cNvSpPr>
          <p:nvPr/>
        </p:nvSpPr>
        <p:spPr>
          <a:xfrm>
            <a:off x="2081816" y="213396"/>
            <a:ext cx="3286125" cy="714375"/>
          </a:xfrm>
          <a:prstGeom prst="rect">
            <a:avLst/>
          </a:prstGeom>
        </p:spPr>
        <p:txBody>
          <a:bodyPr anchor="ctr">
            <a:normAutofit/>
          </a:bodyPr>
          <a:lstStyle/>
          <a:p>
            <a:pPr algn="ctr" fontAlgn="auto">
              <a:spcAft>
                <a:spcPts val="0"/>
              </a:spcAft>
              <a:defRPr/>
            </a:pPr>
            <a:r>
              <a:rPr kumimoji="0" lang="zh-CN" altLang="en-US" sz="3600" b="1" dirty="0">
                <a:solidFill>
                  <a:schemeClr val="tx2"/>
                </a:solidFill>
                <a:latin typeface="黑体" pitchFamily="2" charset="-122"/>
                <a:ea typeface="黑体" pitchFamily="2" charset="-122"/>
                <a:cs typeface="+mj-cs"/>
              </a:rPr>
              <a:t>绪  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13"/>
                                        </p:tgtEl>
                                        <p:attrNameLst>
                                          <p:attrName>style.visibility</p:attrName>
                                        </p:attrNameLst>
                                      </p:cBhvr>
                                      <p:to>
                                        <p:strVal val="visible"/>
                                      </p:to>
                                    </p:set>
                                    <p:anim calcmode="discrete" valueType="clr">
                                      <p:cBhvr override="childStyle">
                                        <p:cTn id="7" dur="80"/>
                                        <p:tgtEl>
                                          <p:spTgt spid="1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3"/>
                                        </p:tgtEl>
                                        <p:attrNameLst>
                                          <p:attrName>fillcolor</p:attrName>
                                        </p:attrNameLst>
                                      </p:cBhvr>
                                      <p:tavLst>
                                        <p:tav tm="0">
                                          <p:val>
                                            <p:clrVal>
                                              <a:schemeClr val="accent2"/>
                                            </p:clrVal>
                                          </p:val>
                                        </p:tav>
                                        <p:tav tm="50000">
                                          <p:val>
                                            <p:clrVal>
                                              <a:schemeClr val="hlink"/>
                                            </p:clrVal>
                                          </p:val>
                                        </p:tav>
                                      </p:tavLst>
                                    </p:anim>
                                    <p:set>
                                      <p:cBhvr>
                                        <p:cTn id="9" dur="80"/>
                                        <p:tgtEl>
                                          <p:spTgt spid="1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additive="base">
                                        <p:cTn id="14" dur="500" fill="hold"/>
                                        <p:tgtEl>
                                          <p:spTgt spid="14"/>
                                        </p:tgtEl>
                                        <p:attrNameLst>
                                          <p:attrName>ppt_x</p:attrName>
                                        </p:attrNameLst>
                                      </p:cBhvr>
                                      <p:tavLst>
                                        <p:tav tm="0">
                                          <p:val>
                                            <p:strVal val="1+#ppt_w/2"/>
                                          </p:val>
                                        </p:tav>
                                        <p:tav tm="100000">
                                          <p:val>
                                            <p:strVal val="#ppt_x"/>
                                          </p:val>
                                        </p:tav>
                                      </p:tavLst>
                                    </p:anim>
                                    <p:anim calcmode="lin" valueType="num">
                                      <p:cBhvr additive="base">
                                        <p:cTn id="15" dur="500" fill="hold"/>
                                        <p:tgtEl>
                                          <p:spTgt spid="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2"/>
                                            </p:cond>
                                          </p:stCondLst>
                                          <p:endCondLst>
                                            <p:cond evt="onStopAudio" delay="0">
                                              <p:tgtEl>
                                                <p:sldTgt/>
                                              </p:tgtEl>
                                            </p:cond>
                                          </p:endCondLst>
                                        </p:cTn>
                                        <p:tgtEl>
                                          <p:sndTgt r:embed="rId3" name="PROJCTOR.WAV"/>
                                        </p:tgtEl>
                                      </p:cMediaNode>
                                    </p:audio>
                                  </p:subTnLst>
                                </p:cTn>
                              </p:par>
                            </p:childTnLst>
                          </p:cTn>
                        </p:par>
                      </p:childTnLst>
                    </p:cTn>
                  </p:par>
                  <p:par>
                    <p:cTn id="16" fill="hold">
                      <p:stCondLst>
                        <p:cond delay="indefinite"/>
                      </p:stCondLst>
                      <p:childTnLst>
                        <p:par>
                          <p:cTn id="17" fill="hold">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1+#ppt_w/2"/>
                                          </p:val>
                                        </p:tav>
                                        <p:tav tm="100000">
                                          <p:val>
                                            <p:strVal val="#ppt_x"/>
                                          </p:val>
                                        </p:tav>
                                      </p:tavLst>
                                    </p:anim>
                                    <p:anim calcmode="lin" valueType="num">
                                      <p:cBhvr additive="base">
                                        <p:cTn id="21"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8"/>
                                            </p:cond>
                                          </p:stCondLst>
                                          <p:endCondLst>
                                            <p:cond evt="onStopAudio" delay="0">
                                              <p:tgtEl>
                                                <p:sldTgt/>
                                              </p:tgtEl>
                                            </p:cond>
                                          </p:endCondLst>
                                        </p:cTn>
                                        <p:tgtEl>
                                          <p:sndTgt r:embed="rId4" name="CASHREG.WAV"/>
                                        </p:tgtEl>
                                      </p:cMediaNode>
                                    </p:audio>
                                  </p:sub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1+#ppt_w/2"/>
                                          </p:val>
                                        </p:tav>
                                        <p:tav tm="100000">
                                          <p:val>
                                            <p:strVal val="#ppt_x"/>
                                          </p:val>
                                        </p:tav>
                                      </p:tavLst>
                                    </p:anim>
                                    <p:anim calcmode="lin" valueType="num">
                                      <p:cBhvr additive="base">
                                        <p:cTn id="27" dur="500" fill="hold"/>
                                        <p:tgtEl>
                                          <p:spTgt spid="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5" name="Button36.wav"/>
                                        </p:tgtEl>
                                      </p:cMediaNode>
                                    </p:audio>
                                  </p:subTnLst>
                                </p:cTn>
                              </p:par>
                            </p:childTnLst>
                          </p:cTn>
                        </p:par>
                      </p:childTnLst>
                    </p:cTn>
                  </p:par>
                  <p:par>
                    <p:cTn id="28" fill="hold">
                      <p:stCondLst>
                        <p:cond delay="indefinite"/>
                      </p:stCondLst>
                      <p:childTnLst>
                        <p:par>
                          <p:cTn id="29" fill="hold">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additive="base">
                                        <p:cTn id="32" dur="500" fill="hold"/>
                                        <p:tgtEl>
                                          <p:spTgt spid="17"/>
                                        </p:tgtEl>
                                        <p:attrNameLst>
                                          <p:attrName>ppt_x</p:attrName>
                                        </p:attrNameLst>
                                      </p:cBhvr>
                                      <p:tavLst>
                                        <p:tav tm="0">
                                          <p:val>
                                            <p:strVal val="1+#ppt_w/2"/>
                                          </p:val>
                                        </p:tav>
                                        <p:tav tm="100000">
                                          <p:val>
                                            <p:strVal val="#ppt_x"/>
                                          </p:val>
                                        </p:tav>
                                      </p:tavLst>
                                    </p:anim>
                                    <p:anim calcmode="lin" valueType="num">
                                      <p:cBhvr additive="base">
                                        <p:cTn id="33" dur="500" fill="hold"/>
                                        <p:tgtEl>
                                          <p:spTgt spid="1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6" name="Button35.wav"/>
                                        </p:tgtEl>
                                      </p:cMediaNode>
                                    </p:audio>
                                  </p:sub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xit" presetSubtype="4" fill="hold" grpId="1" nodeType="clickEffect">
                                  <p:stCondLst>
                                    <p:cond delay="0"/>
                                  </p:stCondLst>
                                  <p:childTnLst>
                                    <p:animEffect transition="out" filter="slide(fromBottom)">
                                      <p:cBhvr>
                                        <p:cTn id="42" dur="500"/>
                                        <p:tgtEl>
                                          <p:spTgt spid="11"/>
                                        </p:tgtEl>
                                      </p:cBhvr>
                                    </p:animEffect>
                                    <p:set>
                                      <p:cBhvr>
                                        <p:cTn id="43" dur="1" fill="hold">
                                          <p:stCondLst>
                                            <p:cond delay="499"/>
                                          </p:stCondLst>
                                        </p:cTn>
                                        <p:tgtEl>
                                          <p:spTgt spid="11"/>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8" presetClass="entr" presetSubtype="3"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strips(upRight)">
                                      <p:cBhvr>
                                        <p:cTn id="4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5" grpId="0" autoUpdateAnimBg="0"/>
      <p:bldP spid="16" grpId="0" autoUpdateAnimBg="0"/>
      <p:bldP spid="17" grpId="0" autoUpdateAnimBg="0"/>
      <p:bldP spid="11" grpId="0"/>
      <p:bldP spid="11" grpId="1"/>
      <p:bldP spid="12" grpId="0" animBg="1"/>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83432" y="1314739"/>
            <a:ext cx="3877985" cy="584775"/>
          </a:xfrm>
          <a:prstGeom prst="rect">
            <a:avLst/>
          </a:prstGeom>
        </p:spPr>
        <p:txBody>
          <a:bodyPr wrap="none">
            <a:spAutoFit/>
          </a:bodyPr>
          <a:lstStyle/>
          <a:p>
            <a:pPr>
              <a:defRPr/>
            </a:pPr>
            <a:r>
              <a:rPr kumimoji="0" lang="zh-CN" altLang="en-US" sz="3200" dirty="0">
                <a:solidFill>
                  <a:srgbClr val="0070C0"/>
                </a:solidFill>
                <a:effectLst>
                  <a:outerShdw blurRad="38100" dist="38100" dir="2700000" algn="tl">
                    <a:srgbClr val="000000"/>
                  </a:outerShdw>
                </a:effectLst>
                <a:latin typeface="+mn-ea"/>
                <a:ea typeface="+mn-ea"/>
              </a:rPr>
              <a:t>本课程的内容与作用</a:t>
            </a:r>
            <a:endParaRPr lang="zh-CN" altLang="en-US" sz="3200" dirty="0">
              <a:latin typeface="+mn-ea"/>
              <a:ea typeface="+mn-ea"/>
            </a:endParaRPr>
          </a:p>
        </p:txBody>
      </p:sp>
      <p:sp>
        <p:nvSpPr>
          <p:cNvPr id="13" name="标题 1"/>
          <p:cNvSpPr txBox="1">
            <a:spLocks/>
          </p:cNvSpPr>
          <p:nvPr/>
        </p:nvSpPr>
        <p:spPr>
          <a:xfrm>
            <a:off x="2381251" y="214314"/>
            <a:ext cx="3286125" cy="714375"/>
          </a:xfrm>
          <a:prstGeom prst="rect">
            <a:avLst/>
          </a:prstGeom>
        </p:spPr>
        <p:txBody>
          <a:bodyPr anchor="ctr">
            <a:normAutofit/>
          </a:bodyPr>
          <a:lstStyle/>
          <a:p>
            <a:pPr algn="ctr" fontAlgn="auto">
              <a:spcAft>
                <a:spcPts val="0"/>
              </a:spcAft>
              <a:defRPr/>
            </a:pPr>
            <a:r>
              <a:rPr kumimoji="0" lang="zh-CN" altLang="en-US" sz="3600" b="1" dirty="0">
                <a:solidFill>
                  <a:schemeClr val="tx2"/>
                </a:solidFill>
                <a:latin typeface="黑体" pitchFamily="2" charset="-122"/>
                <a:ea typeface="黑体" pitchFamily="2" charset="-122"/>
                <a:cs typeface="+mj-cs"/>
              </a:rPr>
              <a:t>绪  论</a:t>
            </a:r>
          </a:p>
        </p:txBody>
      </p:sp>
      <p:sp>
        <p:nvSpPr>
          <p:cNvPr id="14" name="标题 1">
            <a:extLst>
              <a:ext uri="{FF2B5EF4-FFF2-40B4-BE49-F238E27FC236}">
                <a16:creationId xmlns:a16="http://schemas.microsoft.com/office/drawing/2014/main" id="{C6C079F9-9BAB-4912-8B2B-B06DEDD002B6}"/>
              </a:ext>
            </a:extLst>
          </p:cNvPr>
          <p:cNvSpPr txBox="1">
            <a:spLocks/>
          </p:cNvSpPr>
          <p:nvPr/>
        </p:nvSpPr>
        <p:spPr>
          <a:xfrm>
            <a:off x="5095874" y="764271"/>
            <a:ext cx="4714875" cy="561975"/>
          </a:xfrm>
          <a:prstGeom prst="rect">
            <a:avLst/>
          </a:prstGeom>
        </p:spPr>
        <p:txBody>
          <a:bodyPr anchor="ctr">
            <a:normAutofit/>
          </a:bodyPr>
          <a:lstStyle/>
          <a:p>
            <a:pPr algn="ctr" fontAlgn="auto">
              <a:spcAft>
                <a:spcPts val="0"/>
              </a:spcAft>
              <a:defRPr/>
            </a:pPr>
            <a:r>
              <a:rPr kumimoji="0" lang="zh-CN" altLang="en-US" sz="2800" b="1" dirty="0">
                <a:solidFill>
                  <a:schemeClr val="tx2"/>
                </a:solidFill>
                <a:latin typeface="黑体" pitchFamily="2" charset="-122"/>
                <a:ea typeface="黑体" pitchFamily="2" charset="-122"/>
                <a:cs typeface="+mj-cs"/>
              </a:rPr>
              <a:t>走进</a:t>
            </a:r>
            <a:r>
              <a:rPr kumimoji="0" lang="en-US" altLang="zh-CN" sz="2800" b="1" dirty="0">
                <a:solidFill>
                  <a:schemeClr val="tx2"/>
                </a:solidFill>
                <a:latin typeface="黑体" pitchFamily="2" charset="-122"/>
                <a:ea typeface="黑体" pitchFamily="2" charset="-122"/>
                <a:cs typeface="+mj-cs"/>
              </a:rPr>
              <a:t>《</a:t>
            </a:r>
            <a:r>
              <a:rPr kumimoji="0" lang="zh-CN" altLang="en-US" sz="2800" b="1" dirty="0">
                <a:solidFill>
                  <a:schemeClr val="tx2"/>
                </a:solidFill>
                <a:latin typeface="黑体" pitchFamily="2" charset="-122"/>
                <a:ea typeface="黑体" pitchFamily="2" charset="-122"/>
                <a:cs typeface="+mj-cs"/>
              </a:rPr>
              <a:t>工程制图</a:t>
            </a:r>
            <a:r>
              <a:rPr kumimoji="0" lang="en-US" altLang="zh-CN" sz="2800" b="1" dirty="0">
                <a:solidFill>
                  <a:schemeClr val="tx2"/>
                </a:solidFill>
                <a:latin typeface="黑体" pitchFamily="2" charset="-122"/>
                <a:ea typeface="黑体" pitchFamily="2" charset="-122"/>
                <a:cs typeface="+mj-cs"/>
              </a:rPr>
              <a:t>》</a:t>
            </a:r>
            <a:r>
              <a:rPr kumimoji="0" lang="zh-CN" altLang="en-US" sz="2800" b="1" dirty="0">
                <a:solidFill>
                  <a:schemeClr val="tx2"/>
                </a:solidFill>
                <a:latin typeface="黑体" pitchFamily="2" charset="-122"/>
                <a:ea typeface="黑体" pitchFamily="2" charset="-122"/>
                <a:cs typeface="+mj-cs"/>
              </a:rPr>
              <a:t>课程</a:t>
            </a:r>
          </a:p>
        </p:txBody>
      </p:sp>
      <p:graphicFrame>
        <p:nvGraphicFramePr>
          <p:cNvPr id="5" name="表格 4">
            <a:extLst>
              <a:ext uri="{FF2B5EF4-FFF2-40B4-BE49-F238E27FC236}">
                <a16:creationId xmlns:a16="http://schemas.microsoft.com/office/drawing/2014/main" id="{ABFEC3A8-1F0A-4D2E-A1FB-1A6C99BDEFD8}"/>
              </a:ext>
            </a:extLst>
          </p:cNvPr>
          <p:cNvGraphicFramePr>
            <a:graphicFrameLocks noGrp="1"/>
          </p:cNvGraphicFramePr>
          <p:nvPr>
            <p:extLst>
              <p:ext uri="{D42A27DB-BD31-4B8C-83A1-F6EECF244321}">
                <p14:modId xmlns:p14="http://schemas.microsoft.com/office/powerpoint/2010/main" val="1673712645"/>
              </p:ext>
            </p:extLst>
          </p:nvPr>
        </p:nvGraphicFramePr>
        <p:xfrm>
          <a:off x="623392" y="1879419"/>
          <a:ext cx="11089231" cy="4332479"/>
        </p:xfrm>
        <a:graphic>
          <a:graphicData uri="http://schemas.openxmlformats.org/drawingml/2006/table">
            <a:tbl>
              <a:tblPr firstRow="1" firstCol="1" bandRow="1">
                <a:tableStyleId>{5C22544A-7EE6-4342-B048-85BDC9FD1C3A}</a:tableStyleId>
              </a:tblPr>
              <a:tblGrid>
                <a:gridCol w="749272">
                  <a:extLst>
                    <a:ext uri="{9D8B030D-6E8A-4147-A177-3AD203B41FA5}">
                      <a16:colId xmlns:a16="http://schemas.microsoft.com/office/drawing/2014/main" val="3188116752"/>
                    </a:ext>
                  </a:extLst>
                </a:gridCol>
                <a:gridCol w="2059040">
                  <a:extLst>
                    <a:ext uri="{9D8B030D-6E8A-4147-A177-3AD203B41FA5}">
                      <a16:colId xmlns:a16="http://schemas.microsoft.com/office/drawing/2014/main" val="1520413696"/>
                    </a:ext>
                  </a:extLst>
                </a:gridCol>
                <a:gridCol w="3783188">
                  <a:extLst>
                    <a:ext uri="{9D8B030D-6E8A-4147-A177-3AD203B41FA5}">
                      <a16:colId xmlns:a16="http://schemas.microsoft.com/office/drawing/2014/main" val="435735915"/>
                    </a:ext>
                  </a:extLst>
                </a:gridCol>
                <a:gridCol w="4497731">
                  <a:extLst>
                    <a:ext uri="{9D8B030D-6E8A-4147-A177-3AD203B41FA5}">
                      <a16:colId xmlns:a16="http://schemas.microsoft.com/office/drawing/2014/main" val="779904830"/>
                    </a:ext>
                  </a:extLst>
                </a:gridCol>
              </a:tblGrid>
              <a:tr h="0">
                <a:tc gridSpan="3">
                  <a:txBody>
                    <a:bodyPr/>
                    <a:lstStyle/>
                    <a:p>
                      <a:pPr marL="612775" algn="ctr">
                        <a:lnSpc>
                          <a:spcPct val="150000"/>
                        </a:lnSpc>
                        <a:spcAft>
                          <a:spcPts val="0"/>
                        </a:spcAft>
                      </a:pPr>
                      <a:r>
                        <a:rPr lang="zh-CN" sz="2400" kern="100" dirty="0">
                          <a:effectLst/>
                          <a:latin typeface="黑体" panose="02010609060101010101" pitchFamily="49" charset="-122"/>
                          <a:ea typeface="黑体" panose="02010609060101010101" pitchFamily="49" charset="-122"/>
                        </a:rPr>
                        <a:t>内</a:t>
                      </a:r>
                      <a:r>
                        <a:rPr lang="en-US" sz="2400" kern="100" dirty="0">
                          <a:effectLst/>
                          <a:latin typeface="黑体" panose="02010609060101010101" pitchFamily="49" charset="-122"/>
                          <a:ea typeface="黑体" panose="02010609060101010101" pitchFamily="49" charset="-122"/>
                        </a:rPr>
                        <a:t>   </a:t>
                      </a:r>
                      <a:r>
                        <a:rPr lang="zh-CN" sz="2400" kern="100" dirty="0">
                          <a:effectLst/>
                          <a:latin typeface="黑体" panose="02010609060101010101" pitchFamily="49" charset="-122"/>
                          <a:ea typeface="黑体" panose="02010609060101010101" pitchFamily="49" charset="-122"/>
                        </a:rPr>
                        <a:t>容</a:t>
                      </a:r>
                    </a:p>
                  </a:txBody>
                  <a:tcPr marL="68580" marR="68580" marT="0" marB="0"/>
                </a:tc>
                <a:tc hMerge="1">
                  <a:txBody>
                    <a:bodyPr/>
                    <a:lstStyle/>
                    <a:p>
                      <a:endParaRPr lang="zh-CN" altLang="en-US"/>
                    </a:p>
                  </a:txBody>
                  <a:tcPr/>
                </a:tc>
                <a:tc hMerge="1">
                  <a:txBody>
                    <a:bodyPr/>
                    <a:lstStyle/>
                    <a:p>
                      <a:endParaRPr lang="zh-CN" altLang="en-US"/>
                    </a:p>
                  </a:txBody>
                  <a:tcPr/>
                </a:tc>
                <a:tc>
                  <a:txBody>
                    <a:bodyPr/>
                    <a:lstStyle/>
                    <a:p>
                      <a:pPr marL="612775" algn="ctr">
                        <a:lnSpc>
                          <a:spcPct val="150000"/>
                        </a:lnSpc>
                        <a:spcAft>
                          <a:spcPts val="0"/>
                        </a:spcAft>
                      </a:pPr>
                      <a:r>
                        <a:rPr lang="zh-CN" sz="2400" kern="100" dirty="0">
                          <a:effectLst/>
                          <a:latin typeface="黑体" panose="02010609060101010101" pitchFamily="49" charset="-122"/>
                          <a:ea typeface="黑体" panose="02010609060101010101" pitchFamily="49" charset="-122"/>
                        </a:rPr>
                        <a:t>作</a:t>
                      </a:r>
                      <a:r>
                        <a:rPr lang="en-US" sz="2400" kern="100" dirty="0">
                          <a:effectLst/>
                          <a:latin typeface="黑体" panose="02010609060101010101" pitchFamily="49" charset="-122"/>
                          <a:ea typeface="黑体" panose="02010609060101010101" pitchFamily="49" charset="-122"/>
                        </a:rPr>
                        <a:t>  </a:t>
                      </a:r>
                      <a:r>
                        <a:rPr lang="zh-CN" sz="2400" kern="100" dirty="0">
                          <a:effectLst/>
                          <a:latin typeface="黑体" panose="02010609060101010101" pitchFamily="49" charset="-122"/>
                          <a:ea typeface="黑体" panose="02010609060101010101" pitchFamily="49" charset="-122"/>
                        </a:rPr>
                        <a:t>用</a:t>
                      </a:r>
                    </a:p>
                  </a:txBody>
                  <a:tcPr marL="68580" marR="68580" marT="0" marB="0"/>
                </a:tc>
                <a:extLst>
                  <a:ext uri="{0D108BD9-81ED-4DB2-BD59-A6C34878D82A}">
                    <a16:rowId xmlns:a16="http://schemas.microsoft.com/office/drawing/2014/main" val="3716374227"/>
                  </a:ext>
                </a:extLst>
              </a:tr>
              <a:tr h="0">
                <a:tc rowSpan="4">
                  <a:txBody>
                    <a:bodyPr/>
                    <a:lstStyle/>
                    <a:p>
                      <a:pPr marL="0" algn="l">
                        <a:lnSpc>
                          <a:spcPct val="150000"/>
                        </a:lnSpc>
                        <a:spcAft>
                          <a:spcPts val="0"/>
                        </a:spcAft>
                      </a:pPr>
                      <a:r>
                        <a:rPr lang="zh-CN" sz="1800" kern="100" dirty="0">
                          <a:effectLst/>
                        </a:rPr>
                        <a:t>工程图学基础</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rowSpan="2">
                  <a:txBody>
                    <a:bodyPr/>
                    <a:lstStyle/>
                    <a:p>
                      <a:pPr marL="0">
                        <a:lnSpc>
                          <a:spcPct val="150000"/>
                        </a:lnSpc>
                        <a:spcAft>
                          <a:spcPts val="0"/>
                        </a:spcAft>
                      </a:pPr>
                      <a:r>
                        <a:rPr lang="zh-CN" sz="2400" b="1" kern="100" dirty="0">
                          <a:effectLst/>
                        </a:rPr>
                        <a:t>投影理论基础</a:t>
                      </a:r>
                      <a:endParaRPr lang="zh-CN" sz="2400" b="1"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marL="0" algn="ctr">
                        <a:lnSpc>
                          <a:spcPct val="150000"/>
                        </a:lnSpc>
                        <a:spcAft>
                          <a:spcPts val="0"/>
                        </a:spcAft>
                      </a:pPr>
                      <a:r>
                        <a:rPr lang="zh-CN" sz="1800" kern="100" dirty="0">
                          <a:effectLst/>
                        </a:rPr>
                        <a:t>投影法、点、线、面的投影</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marL="0" algn="ctr">
                        <a:lnSpc>
                          <a:spcPct val="150000"/>
                        </a:lnSpc>
                        <a:spcAft>
                          <a:spcPts val="0"/>
                        </a:spcAft>
                      </a:pPr>
                      <a:r>
                        <a:rPr lang="zh-CN" sz="1800" kern="100" dirty="0">
                          <a:effectLst/>
                        </a:rPr>
                        <a:t>培养空间想象能力和空间逻辑思维能力</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816665359"/>
                  </a:ext>
                </a:extLst>
              </a:tr>
              <a:tr h="0">
                <a:tc vMerge="1">
                  <a:txBody>
                    <a:bodyPr/>
                    <a:lstStyle/>
                    <a:p>
                      <a:endParaRPr lang="zh-CN" altLang="en-US"/>
                    </a:p>
                  </a:txBody>
                  <a:tcPr/>
                </a:tc>
                <a:tc vMerge="1">
                  <a:txBody>
                    <a:bodyPr/>
                    <a:lstStyle/>
                    <a:p>
                      <a:endParaRPr lang="zh-CN" altLang="en-US"/>
                    </a:p>
                  </a:txBody>
                  <a:tcPr/>
                </a:tc>
                <a:tc>
                  <a:txBody>
                    <a:bodyPr/>
                    <a:lstStyle/>
                    <a:p>
                      <a:pPr marL="0" algn="ctr">
                        <a:lnSpc>
                          <a:spcPct val="150000"/>
                        </a:lnSpc>
                        <a:spcAft>
                          <a:spcPts val="0"/>
                        </a:spcAft>
                      </a:pPr>
                      <a:r>
                        <a:rPr lang="zh-CN" sz="1800" kern="100">
                          <a:effectLst/>
                        </a:rPr>
                        <a:t>立体的投影</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rowSpan="2">
                  <a:txBody>
                    <a:bodyPr/>
                    <a:lstStyle/>
                    <a:p>
                      <a:pPr marL="0" algn="ctr">
                        <a:lnSpc>
                          <a:spcPct val="100000"/>
                        </a:lnSpc>
                        <a:spcAft>
                          <a:spcPts val="0"/>
                        </a:spcAft>
                      </a:pPr>
                      <a:r>
                        <a:rPr lang="zh-CN" sz="1800" kern="100" dirty="0">
                          <a:effectLst/>
                        </a:rPr>
                        <a:t>具备利用投影图表达物体的内外形状和大小的绘图能力，以及根据投影图想象空间物体内外形状的读图能力、创新构形设计能力。</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767332992"/>
                  </a:ext>
                </a:extLst>
              </a:tr>
              <a:tr h="0">
                <a:tc vMerge="1">
                  <a:txBody>
                    <a:bodyPr/>
                    <a:lstStyle/>
                    <a:p>
                      <a:endParaRPr lang="zh-CN" altLang="en-US"/>
                    </a:p>
                  </a:txBody>
                  <a:tcPr/>
                </a:tc>
                <a:tc>
                  <a:txBody>
                    <a:bodyPr/>
                    <a:lstStyle/>
                    <a:p>
                      <a:pPr marL="0">
                        <a:lnSpc>
                          <a:spcPct val="150000"/>
                        </a:lnSpc>
                        <a:spcAft>
                          <a:spcPts val="0"/>
                        </a:spcAft>
                      </a:pPr>
                      <a:r>
                        <a:rPr lang="zh-CN" sz="2400" b="1" kern="100" dirty="0">
                          <a:effectLst/>
                        </a:rPr>
                        <a:t>构形方法基础</a:t>
                      </a:r>
                      <a:endParaRPr lang="zh-CN" sz="2400" b="1"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marL="0" algn="ctr">
                        <a:lnSpc>
                          <a:spcPct val="150000"/>
                        </a:lnSpc>
                        <a:spcAft>
                          <a:spcPts val="0"/>
                        </a:spcAft>
                      </a:pPr>
                      <a:r>
                        <a:rPr lang="zh-CN" sz="1800" kern="100" dirty="0">
                          <a:effectLst/>
                        </a:rPr>
                        <a:t>立体的截切、相贯、组合体构形</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vMerge="1">
                  <a:txBody>
                    <a:bodyPr/>
                    <a:lstStyle/>
                    <a:p>
                      <a:endParaRPr lang="zh-CN" altLang="en-US"/>
                    </a:p>
                  </a:txBody>
                  <a:tcPr/>
                </a:tc>
                <a:extLst>
                  <a:ext uri="{0D108BD9-81ED-4DB2-BD59-A6C34878D82A}">
                    <a16:rowId xmlns:a16="http://schemas.microsoft.com/office/drawing/2014/main" val="3808142805"/>
                  </a:ext>
                </a:extLst>
              </a:tr>
              <a:tr h="0">
                <a:tc vMerge="1">
                  <a:txBody>
                    <a:bodyPr/>
                    <a:lstStyle/>
                    <a:p>
                      <a:endParaRPr lang="zh-CN" altLang="en-US"/>
                    </a:p>
                  </a:txBody>
                  <a:tcPr/>
                </a:tc>
                <a:tc>
                  <a:txBody>
                    <a:bodyPr/>
                    <a:lstStyle/>
                    <a:p>
                      <a:pPr marL="0">
                        <a:lnSpc>
                          <a:spcPct val="150000"/>
                        </a:lnSpc>
                        <a:spcAft>
                          <a:spcPts val="0"/>
                        </a:spcAft>
                      </a:pPr>
                      <a:r>
                        <a:rPr lang="zh-CN" sz="2400" b="1" kern="100" dirty="0">
                          <a:effectLst/>
                        </a:rPr>
                        <a:t>工程制图基础</a:t>
                      </a:r>
                      <a:endParaRPr lang="zh-CN" sz="2400" b="1"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marL="0" algn="ctr">
                        <a:lnSpc>
                          <a:spcPct val="100000"/>
                        </a:lnSpc>
                        <a:spcAft>
                          <a:spcPts val="0"/>
                        </a:spcAft>
                      </a:pPr>
                      <a:r>
                        <a:rPr lang="zh-CN" sz="1800" kern="100" dirty="0">
                          <a:effectLst/>
                        </a:rPr>
                        <a:t>机件表达技术、绘图技能、工程规范</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marL="0" algn="ctr">
                        <a:lnSpc>
                          <a:spcPct val="100000"/>
                        </a:lnSpc>
                        <a:spcAft>
                          <a:spcPts val="0"/>
                        </a:spcAft>
                      </a:pPr>
                      <a:r>
                        <a:rPr lang="zh-CN" sz="1800" kern="100" dirty="0">
                          <a:effectLst/>
                        </a:rPr>
                        <a:t>了解掌握工程制图的基础知识和基本规定，培养制图的操作技能和工程规范</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505407626"/>
                  </a:ext>
                </a:extLst>
              </a:tr>
              <a:tr h="0">
                <a:tc>
                  <a:txBody>
                    <a:bodyPr/>
                    <a:lstStyle/>
                    <a:p>
                      <a:pPr marL="0" algn="l">
                        <a:lnSpc>
                          <a:spcPct val="150000"/>
                        </a:lnSpc>
                        <a:spcAft>
                          <a:spcPts val="0"/>
                        </a:spcAft>
                      </a:pPr>
                      <a:r>
                        <a:rPr lang="zh-CN" sz="1800" kern="100" dirty="0">
                          <a:effectLst/>
                        </a:rPr>
                        <a:t>专业绘图基础</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gridSpan="2">
                  <a:txBody>
                    <a:bodyPr/>
                    <a:lstStyle/>
                    <a:p>
                      <a:pPr marL="0" algn="ctr">
                        <a:lnSpc>
                          <a:spcPct val="150000"/>
                        </a:lnSpc>
                        <a:spcAft>
                          <a:spcPts val="0"/>
                        </a:spcAft>
                      </a:pPr>
                      <a:r>
                        <a:rPr lang="zh-CN" sz="2400" b="1" kern="100" dirty="0">
                          <a:effectLst/>
                          <a:latin typeface="+mn-ea"/>
                          <a:ea typeface="+mn-ea"/>
                        </a:rPr>
                        <a:t>零件图、标准件、齿轮、弹簧和装配图</a:t>
                      </a:r>
                    </a:p>
                  </a:txBody>
                  <a:tcPr marL="68580" marR="68580" marT="0" marB="0" anchor="ctr"/>
                </a:tc>
                <a:tc hMerge="1">
                  <a:txBody>
                    <a:bodyPr/>
                    <a:lstStyle/>
                    <a:p>
                      <a:endParaRPr lang="zh-CN" altLang="en-US"/>
                    </a:p>
                  </a:txBody>
                  <a:tcPr/>
                </a:tc>
                <a:tc>
                  <a:txBody>
                    <a:bodyPr/>
                    <a:lstStyle/>
                    <a:p>
                      <a:pPr marL="0">
                        <a:lnSpc>
                          <a:spcPct val="100000"/>
                        </a:lnSpc>
                        <a:spcAft>
                          <a:spcPts val="0"/>
                        </a:spcAft>
                      </a:pPr>
                      <a:r>
                        <a:rPr lang="zh-CN" sz="1800" kern="100" dirty="0">
                          <a:effectLst/>
                        </a:rPr>
                        <a:t>培养工程技术人员绘制和阅读机械图样的基本能力和查阅有关的国家标准的能力；培养工程意识和标准化的意识</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203687024"/>
                  </a:ext>
                </a:extLst>
              </a:tr>
              <a:tr h="0">
                <a:tc rowSpan="2">
                  <a:txBody>
                    <a:bodyPr/>
                    <a:lstStyle/>
                    <a:p>
                      <a:pPr marL="0" algn="l">
                        <a:lnSpc>
                          <a:spcPct val="150000"/>
                        </a:lnSpc>
                        <a:spcAft>
                          <a:spcPts val="0"/>
                        </a:spcAft>
                      </a:pPr>
                      <a:r>
                        <a:rPr lang="en-US" sz="1800" kern="100" dirty="0">
                          <a:effectLst/>
                        </a:rPr>
                        <a:t>CAD</a:t>
                      </a:r>
                      <a:r>
                        <a:rPr lang="zh-CN" sz="1800" kern="100" dirty="0">
                          <a:effectLst/>
                        </a:rPr>
                        <a:t>基础</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gridSpan="2">
                  <a:txBody>
                    <a:bodyPr/>
                    <a:lstStyle/>
                    <a:p>
                      <a:pPr marL="0" algn="ctr">
                        <a:lnSpc>
                          <a:spcPct val="150000"/>
                        </a:lnSpc>
                        <a:spcAft>
                          <a:spcPts val="0"/>
                        </a:spcAft>
                      </a:pPr>
                      <a:r>
                        <a:rPr lang="en-US" sz="2400" b="1" kern="100" dirty="0">
                          <a:effectLst/>
                          <a:latin typeface="+mn-ea"/>
                          <a:ea typeface="+mn-ea"/>
                        </a:rPr>
                        <a:t>AutoCAD</a:t>
                      </a:r>
                      <a:r>
                        <a:rPr lang="zh-CN" sz="2400" b="1" kern="100" dirty="0">
                          <a:effectLst/>
                          <a:latin typeface="+mn-ea"/>
                          <a:ea typeface="+mn-ea"/>
                        </a:rPr>
                        <a:t>绘制机械工程图的方法与技能</a:t>
                      </a:r>
                    </a:p>
                  </a:txBody>
                  <a:tcPr marL="68580" marR="68580" marT="0" marB="0" anchor="ctr"/>
                </a:tc>
                <a:tc hMerge="1">
                  <a:txBody>
                    <a:bodyPr/>
                    <a:lstStyle/>
                    <a:p>
                      <a:endParaRPr lang="zh-CN" altLang="en-US"/>
                    </a:p>
                  </a:txBody>
                  <a:tcPr/>
                </a:tc>
                <a:tc>
                  <a:txBody>
                    <a:bodyPr/>
                    <a:lstStyle/>
                    <a:p>
                      <a:pPr marL="0">
                        <a:lnSpc>
                          <a:spcPct val="100000"/>
                        </a:lnSpc>
                        <a:spcAft>
                          <a:spcPts val="0"/>
                        </a:spcAft>
                      </a:pPr>
                      <a:r>
                        <a:rPr lang="zh-CN" sz="1800" kern="100">
                          <a:effectLst/>
                        </a:rPr>
                        <a:t>学会使用绘图软件绘制工程图样</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251674404"/>
                  </a:ext>
                </a:extLst>
              </a:tr>
              <a:tr h="0">
                <a:tc vMerge="1">
                  <a:txBody>
                    <a:bodyPr/>
                    <a:lstStyle/>
                    <a:p>
                      <a:endParaRPr lang="zh-CN" altLang="en-US"/>
                    </a:p>
                  </a:txBody>
                  <a:tcPr/>
                </a:tc>
                <a:tc gridSpan="2">
                  <a:txBody>
                    <a:bodyPr/>
                    <a:lstStyle/>
                    <a:p>
                      <a:pPr marL="0" algn="ctr">
                        <a:lnSpc>
                          <a:spcPct val="150000"/>
                        </a:lnSpc>
                        <a:spcAft>
                          <a:spcPts val="0"/>
                        </a:spcAft>
                      </a:pPr>
                      <a:r>
                        <a:rPr lang="zh-CN" sz="2400" b="1" kern="100" dirty="0">
                          <a:effectLst/>
                          <a:latin typeface="+mn-ea"/>
                          <a:ea typeface="+mn-ea"/>
                        </a:rPr>
                        <a:t>立体、组合立体的三维实体建模方法</a:t>
                      </a:r>
                    </a:p>
                  </a:txBody>
                  <a:tcPr marL="68580" marR="68580" marT="0" marB="0" anchor="ctr"/>
                </a:tc>
                <a:tc hMerge="1">
                  <a:txBody>
                    <a:bodyPr/>
                    <a:lstStyle/>
                    <a:p>
                      <a:endParaRPr lang="zh-CN" altLang="en-US"/>
                    </a:p>
                  </a:txBody>
                  <a:tcPr/>
                </a:tc>
                <a:tc>
                  <a:txBody>
                    <a:bodyPr/>
                    <a:lstStyle/>
                    <a:p>
                      <a:pPr marL="0">
                        <a:lnSpc>
                          <a:spcPct val="100000"/>
                        </a:lnSpc>
                        <a:spcAft>
                          <a:spcPts val="0"/>
                        </a:spcAft>
                      </a:pPr>
                      <a:r>
                        <a:rPr lang="zh-CN" sz="1800" kern="100" dirty="0">
                          <a:effectLst/>
                        </a:rPr>
                        <a:t>初步具备计算机进行三维建模设计的技能</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82172823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14"/>
                                        </p:tgtEl>
                                        <p:attrNameLst>
                                          <p:attrName>style.visibility</p:attrName>
                                        </p:attrNameLst>
                                      </p:cBhvr>
                                      <p:to>
                                        <p:strVal val="visible"/>
                                      </p:to>
                                    </p:set>
                                    <p:anim calcmode="discrete" valueType="clr">
                                      <p:cBhvr override="childStyle">
                                        <p:cTn id="7" dur="80"/>
                                        <p:tgtEl>
                                          <p:spTgt spid="1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4"/>
                                        </p:tgtEl>
                                        <p:attrNameLst>
                                          <p:attrName>fillcolor</p:attrName>
                                        </p:attrNameLst>
                                      </p:cBhvr>
                                      <p:tavLst>
                                        <p:tav tm="0">
                                          <p:val>
                                            <p:clrVal>
                                              <a:schemeClr val="accent2"/>
                                            </p:clrVal>
                                          </p:val>
                                        </p:tav>
                                        <p:tav tm="50000">
                                          <p:val>
                                            <p:clrVal>
                                              <a:schemeClr val="hlink"/>
                                            </p:clrVal>
                                          </p:val>
                                        </p:tav>
                                      </p:tavLst>
                                    </p:anim>
                                    <p:set>
                                      <p:cBhvr>
                                        <p:cTn id="9" dur="80"/>
                                        <p:tgtEl>
                                          <p:spTgt spid="1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19"/>
          <p:cNvSpPr txBox="1">
            <a:spLocks noChangeArrowheads="1"/>
          </p:cNvSpPr>
          <p:nvPr/>
        </p:nvSpPr>
        <p:spPr bwMode="auto">
          <a:xfrm>
            <a:off x="1809751" y="1608139"/>
            <a:ext cx="6429375" cy="485775"/>
          </a:xfrm>
          <a:prstGeom prst="rect">
            <a:avLst/>
          </a:prstGeom>
          <a:noFill/>
          <a:ln w="9525">
            <a:noFill/>
            <a:miter lim="800000"/>
            <a:headEnd/>
            <a:tailEnd/>
          </a:ln>
          <a:effectLst/>
        </p:spPr>
        <p:txBody>
          <a:bodyPr anchor="ctr">
            <a:spAutoFit/>
          </a:bodyPr>
          <a:lstStyle/>
          <a:p>
            <a:pPr algn="just">
              <a:lnSpc>
                <a:spcPct val="80000"/>
              </a:lnSpc>
              <a:defRPr/>
            </a:pPr>
            <a:r>
              <a:rPr kumimoji="0" lang="zh-CN" altLang="en-US" sz="3200" b="1" dirty="0">
                <a:solidFill>
                  <a:srgbClr val="0070C0"/>
                </a:solidFill>
                <a:effectLst>
                  <a:outerShdw blurRad="38100" dist="38100" dir="2700000" algn="tl">
                    <a:srgbClr val="000000"/>
                  </a:outerShdw>
                </a:effectLst>
                <a:latin typeface="+mn-ea"/>
                <a:ea typeface="+mn-ea"/>
              </a:rPr>
              <a:t>课程的主要任务（课程目标）</a:t>
            </a:r>
            <a:r>
              <a:rPr kumimoji="0" lang="en-US" altLang="zh-CN" sz="3200" b="1" dirty="0">
                <a:solidFill>
                  <a:srgbClr val="0070C0"/>
                </a:solidFill>
                <a:effectLst>
                  <a:outerShdw blurRad="38100" dist="38100" dir="2700000" algn="tl">
                    <a:srgbClr val="000000"/>
                  </a:outerShdw>
                </a:effectLst>
                <a:latin typeface="+mn-ea"/>
                <a:ea typeface="+mn-ea"/>
              </a:rPr>
              <a:t>:</a:t>
            </a:r>
            <a:endParaRPr kumimoji="0" lang="zh-CN" altLang="en-US" sz="3200" dirty="0">
              <a:solidFill>
                <a:srgbClr val="0070C0"/>
              </a:solidFill>
              <a:effectLst>
                <a:outerShdw blurRad="38100" dist="38100" dir="2700000" algn="tl">
                  <a:srgbClr val="000000"/>
                </a:outerShdw>
              </a:effectLst>
              <a:latin typeface="+mn-ea"/>
              <a:ea typeface="+mn-ea"/>
            </a:endParaRPr>
          </a:p>
        </p:txBody>
      </p:sp>
      <p:sp>
        <p:nvSpPr>
          <p:cNvPr id="10" name="Text Box 6"/>
          <p:cNvSpPr txBox="1">
            <a:spLocks noChangeArrowheads="1"/>
          </p:cNvSpPr>
          <p:nvPr/>
        </p:nvSpPr>
        <p:spPr bwMode="auto">
          <a:xfrm>
            <a:off x="2095501" y="2286000"/>
            <a:ext cx="5097463" cy="534988"/>
          </a:xfrm>
          <a:prstGeom prst="rect">
            <a:avLst/>
          </a:prstGeom>
          <a:noFill/>
          <a:ln w="9525">
            <a:noFill/>
            <a:miter lim="800000"/>
            <a:headEnd/>
            <a:tailEnd/>
          </a:ln>
          <a:effectLst/>
        </p:spPr>
        <p:txBody>
          <a:bodyPr anchor="ctr">
            <a:spAutoFit/>
          </a:bodyPr>
          <a:lstStyle/>
          <a:p>
            <a:pPr>
              <a:lnSpc>
                <a:spcPct val="90000"/>
              </a:lnSpc>
              <a:defRPr/>
            </a:pPr>
            <a:r>
              <a:rPr kumimoji="0" lang="zh-CN" altLang="en-US" sz="3200" dirty="0">
                <a:effectLst>
                  <a:outerShdw blurRad="38100" dist="38100" dir="2700000" algn="tl">
                    <a:srgbClr val="C0C0C0"/>
                  </a:outerShdw>
                </a:effectLst>
                <a:latin typeface="黑体" pitchFamily="2" charset="-122"/>
                <a:ea typeface="黑体" pitchFamily="2" charset="-122"/>
              </a:rPr>
              <a:t>（1）培养形象思维能力</a:t>
            </a:r>
            <a:r>
              <a:rPr kumimoji="0" lang="zh-CN" altLang="en-US" sz="3200" dirty="0">
                <a:solidFill>
                  <a:srgbClr val="00FFFF"/>
                </a:solidFill>
                <a:effectLst>
                  <a:outerShdw blurRad="38100" dist="38100" dir="2700000" algn="tl">
                    <a:srgbClr val="C0C0C0"/>
                  </a:outerShdw>
                </a:effectLst>
                <a:latin typeface="黑体" pitchFamily="2" charset="-122"/>
                <a:ea typeface="黑体" pitchFamily="2" charset="-122"/>
              </a:rPr>
              <a:t> </a:t>
            </a:r>
          </a:p>
        </p:txBody>
      </p:sp>
      <p:sp>
        <p:nvSpPr>
          <p:cNvPr id="11" name="矩形 10"/>
          <p:cNvSpPr>
            <a:spLocks noChangeArrowheads="1"/>
          </p:cNvSpPr>
          <p:nvPr/>
        </p:nvSpPr>
        <p:spPr bwMode="auto">
          <a:xfrm>
            <a:off x="2309814" y="3714751"/>
            <a:ext cx="8072466" cy="830263"/>
          </a:xfrm>
          <a:prstGeom prst="rect">
            <a:avLst/>
          </a:prstGeom>
          <a:noFill/>
          <a:ln w="9525">
            <a:noFill/>
            <a:miter lim="800000"/>
            <a:headEnd/>
            <a:tailEnd/>
          </a:ln>
        </p:spPr>
        <p:txBody>
          <a:bodyPr wrap="square">
            <a:spAutoFit/>
          </a:bodyPr>
          <a:lstStyle/>
          <a:p>
            <a:pPr>
              <a:buFont typeface="Wingdings" pitchFamily="2" charset="2"/>
              <a:buNone/>
              <a:defRPr/>
            </a:pPr>
            <a:r>
              <a:rPr lang="zh-CN" altLang="en-US" dirty="0">
                <a:latin typeface="+mn-ea"/>
                <a:ea typeface="+mn-ea"/>
              </a:rPr>
              <a:t>用</a:t>
            </a:r>
            <a:r>
              <a:rPr lang="zh-CN" altLang="en-US" dirty="0">
                <a:solidFill>
                  <a:srgbClr val="FF0000"/>
                </a:solidFill>
                <a:latin typeface="+mn-ea"/>
                <a:ea typeface="+mn-ea"/>
              </a:rPr>
              <a:t>二维平面图形</a:t>
            </a:r>
            <a:r>
              <a:rPr lang="zh-CN" altLang="en-US" dirty="0">
                <a:latin typeface="+mn-ea"/>
                <a:ea typeface="+mn-ea"/>
              </a:rPr>
              <a:t>表达</a:t>
            </a:r>
            <a:r>
              <a:rPr lang="zh-CN" altLang="en-US" dirty="0">
                <a:solidFill>
                  <a:srgbClr val="FF0000"/>
                </a:solidFill>
                <a:latin typeface="+mn-ea"/>
                <a:ea typeface="+mn-ea"/>
              </a:rPr>
              <a:t>三维空间物</a:t>
            </a:r>
            <a:r>
              <a:rPr lang="zh-CN" altLang="en-US" dirty="0">
                <a:latin typeface="+mn-ea"/>
                <a:ea typeface="+mn-ea"/>
              </a:rPr>
              <a:t>体形状的能力；读图能力；使用现代工具。</a:t>
            </a:r>
          </a:p>
        </p:txBody>
      </p:sp>
      <p:sp>
        <p:nvSpPr>
          <p:cNvPr id="12" name="Text Box 8"/>
          <p:cNvSpPr txBox="1">
            <a:spLocks noChangeArrowheads="1"/>
          </p:cNvSpPr>
          <p:nvPr/>
        </p:nvSpPr>
        <p:spPr bwMode="auto">
          <a:xfrm>
            <a:off x="2095501" y="3286125"/>
            <a:ext cx="7858125" cy="534988"/>
          </a:xfrm>
          <a:prstGeom prst="rect">
            <a:avLst/>
          </a:prstGeom>
          <a:noFill/>
          <a:ln w="9525">
            <a:noFill/>
            <a:miter lim="800000"/>
            <a:headEnd/>
            <a:tailEnd/>
          </a:ln>
          <a:effectLst/>
        </p:spPr>
        <p:txBody>
          <a:bodyPr anchor="ctr">
            <a:spAutoFit/>
          </a:bodyPr>
          <a:lstStyle/>
          <a:p>
            <a:pPr>
              <a:lnSpc>
                <a:spcPct val="90000"/>
              </a:lnSpc>
              <a:defRPr/>
            </a:pPr>
            <a:r>
              <a:rPr kumimoji="0" lang="en-US" altLang="zh-CN" sz="3200" dirty="0">
                <a:effectLst>
                  <a:outerShdw blurRad="38100" dist="38100" dir="2700000" algn="tl">
                    <a:srgbClr val="C0C0C0"/>
                  </a:outerShdw>
                </a:effectLst>
                <a:latin typeface="黑体" pitchFamily="2" charset="-122"/>
                <a:ea typeface="黑体" pitchFamily="2" charset="-122"/>
              </a:rPr>
              <a:t>（2）</a:t>
            </a:r>
            <a:r>
              <a:rPr kumimoji="0" lang="zh-CN" altLang="en-US" sz="3200" dirty="0">
                <a:effectLst>
                  <a:outerShdw blurRad="38100" dist="38100" dir="2700000" algn="tl">
                    <a:srgbClr val="C0C0C0"/>
                  </a:outerShdw>
                </a:effectLst>
                <a:latin typeface="黑体" pitchFamily="2" charset="-122"/>
                <a:ea typeface="黑体" pitchFamily="2" charset="-122"/>
              </a:rPr>
              <a:t>培养图形表达能力、理解能力</a:t>
            </a:r>
            <a:r>
              <a:rPr kumimoji="0" lang="zh-CN" altLang="en-US" sz="3200" dirty="0">
                <a:solidFill>
                  <a:srgbClr val="00FFFF"/>
                </a:solidFill>
                <a:effectLst>
                  <a:outerShdw blurRad="38100" dist="38100" dir="2700000" algn="tl">
                    <a:srgbClr val="C0C0C0"/>
                  </a:outerShdw>
                </a:effectLst>
                <a:latin typeface="黑体" pitchFamily="2" charset="-122"/>
                <a:ea typeface="黑体" pitchFamily="2" charset="-122"/>
              </a:rPr>
              <a:t> </a:t>
            </a:r>
          </a:p>
        </p:txBody>
      </p:sp>
      <p:sp>
        <p:nvSpPr>
          <p:cNvPr id="13" name="矩形 12"/>
          <p:cNvSpPr>
            <a:spLocks noChangeArrowheads="1"/>
          </p:cNvSpPr>
          <p:nvPr/>
        </p:nvSpPr>
        <p:spPr bwMode="auto">
          <a:xfrm>
            <a:off x="2381250" y="2857501"/>
            <a:ext cx="8072438" cy="461963"/>
          </a:xfrm>
          <a:prstGeom prst="rect">
            <a:avLst/>
          </a:prstGeom>
          <a:noFill/>
          <a:ln w="9525">
            <a:noFill/>
            <a:miter lim="800000"/>
            <a:headEnd/>
            <a:tailEnd/>
          </a:ln>
        </p:spPr>
        <p:txBody>
          <a:bodyPr>
            <a:spAutoFit/>
          </a:bodyPr>
          <a:lstStyle/>
          <a:p>
            <a:pPr algn="just">
              <a:buFont typeface="Wingdings" pitchFamily="2" charset="2"/>
              <a:buNone/>
              <a:defRPr/>
            </a:pPr>
            <a:r>
              <a:rPr lang="zh-CN" altLang="en-US" dirty="0">
                <a:latin typeface="+mn-ea"/>
                <a:ea typeface="+mn-ea"/>
              </a:rPr>
              <a:t>提升</a:t>
            </a:r>
            <a:r>
              <a:rPr lang="zh-CN" altLang="en-US" b="1" dirty="0">
                <a:solidFill>
                  <a:srgbClr val="FF0000"/>
                </a:solidFill>
                <a:latin typeface="+mn-ea"/>
                <a:ea typeface="+mn-ea"/>
              </a:rPr>
              <a:t>空间思维</a:t>
            </a:r>
            <a:r>
              <a:rPr lang="zh-CN" altLang="en-US" dirty="0">
                <a:latin typeface="+mn-ea"/>
                <a:ea typeface="+mn-ea"/>
              </a:rPr>
              <a:t>和</a:t>
            </a:r>
            <a:r>
              <a:rPr lang="zh-CN" altLang="en-US" b="1" dirty="0">
                <a:solidFill>
                  <a:srgbClr val="FF0000"/>
                </a:solidFill>
                <a:latin typeface="+mn-ea"/>
                <a:ea typeface="+mn-ea"/>
              </a:rPr>
              <a:t>逻辑思维</a:t>
            </a:r>
            <a:r>
              <a:rPr lang="zh-CN" altLang="en-US" dirty="0">
                <a:latin typeface="+mn-ea"/>
                <a:ea typeface="+mn-ea"/>
              </a:rPr>
              <a:t>能力，</a:t>
            </a:r>
            <a:r>
              <a:rPr kumimoji="0" lang="zh-CN" altLang="en-US" b="1" dirty="0">
                <a:solidFill>
                  <a:srgbClr val="FF0000"/>
                </a:solidFill>
                <a:latin typeface="+mn-ea"/>
                <a:ea typeface="+mn-ea"/>
              </a:rPr>
              <a:t>创造性构型</a:t>
            </a:r>
            <a:r>
              <a:rPr kumimoji="0" lang="zh-CN" altLang="en-US" b="1" dirty="0">
                <a:latin typeface="+mn-ea"/>
                <a:ea typeface="+mn-ea"/>
              </a:rPr>
              <a:t>设计能力</a:t>
            </a:r>
            <a:r>
              <a:rPr lang="zh-CN" altLang="en-US" dirty="0">
                <a:latin typeface="+mn-ea"/>
                <a:ea typeface="+mn-ea"/>
              </a:rPr>
              <a:t>。</a:t>
            </a:r>
          </a:p>
        </p:txBody>
      </p:sp>
      <p:sp>
        <p:nvSpPr>
          <p:cNvPr id="14" name="Text Box 7"/>
          <p:cNvSpPr txBox="1">
            <a:spLocks noChangeArrowheads="1"/>
          </p:cNvSpPr>
          <p:nvPr/>
        </p:nvSpPr>
        <p:spPr bwMode="auto">
          <a:xfrm>
            <a:off x="2095500" y="4572001"/>
            <a:ext cx="6357938" cy="485775"/>
          </a:xfrm>
          <a:prstGeom prst="rect">
            <a:avLst/>
          </a:prstGeom>
          <a:noFill/>
          <a:ln w="9525">
            <a:noFill/>
            <a:miter lim="800000"/>
            <a:headEnd/>
            <a:tailEnd/>
          </a:ln>
          <a:effectLst/>
        </p:spPr>
        <p:txBody>
          <a:bodyPr anchor="ctr">
            <a:spAutoFit/>
          </a:bodyPr>
          <a:lstStyle/>
          <a:p>
            <a:pPr>
              <a:lnSpc>
                <a:spcPct val="80000"/>
              </a:lnSpc>
              <a:defRPr/>
            </a:pPr>
            <a:r>
              <a:rPr kumimoji="0" lang="en-US" altLang="zh-CN" sz="3200" dirty="0">
                <a:effectLst>
                  <a:outerShdw blurRad="38100" dist="38100" dir="2700000" algn="tl">
                    <a:srgbClr val="C0C0C0"/>
                  </a:outerShdw>
                </a:effectLst>
                <a:latin typeface="黑体" pitchFamily="2" charset="-122"/>
                <a:ea typeface="黑体" pitchFamily="2" charset="-122"/>
              </a:rPr>
              <a:t>（3）</a:t>
            </a:r>
            <a:r>
              <a:rPr kumimoji="0" lang="zh-CN" altLang="en-US" sz="3200" dirty="0">
                <a:effectLst>
                  <a:outerShdw blurRad="38100" dist="38100" dir="2700000" algn="tl">
                    <a:srgbClr val="C0C0C0"/>
                  </a:outerShdw>
                </a:effectLst>
                <a:latin typeface="黑体" pitchFamily="2" charset="-122"/>
                <a:ea typeface="黑体" pitchFamily="2" charset="-122"/>
              </a:rPr>
              <a:t>培养标准化能力 </a:t>
            </a:r>
          </a:p>
        </p:txBody>
      </p:sp>
      <p:sp>
        <p:nvSpPr>
          <p:cNvPr id="15" name="内容占位符 2"/>
          <p:cNvSpPr txBox="1">
            <a:spLocks/>
          </p:cNvSpPr>
          <p:nvPr/>
        </p:nvSpPr>
        <p:spPr bwMode="auto">
          <a:xfrm>
            <a:off x="2024063" y="5072063"/>
            <a:ext cx="8215312" cy="857250"/>
          </a:xfrm>
          <a:prstGeom prst="rect">
            <a:avLst/>
          </a:prstGeom>
          <a:noFill/>
          <a:ln w="9525">
            <a:noFill/>
            <a:miter lim="800000"/>
            <a:headEnd/>
            <a:tailEnd/>
          </a:ln>
        </p:spPr>
        <p:txBody>
          <a:bodyPr/>
          <a:lstStyle/>
          <a:p>
            <a:pPr>
              <a:spcBef>
                <a:spcPts val="700"/>
              </a:spcBef>
              <a:buClr>
                <a:schemeClr val="accent2"/>
              </a:buClr>
              <a:buSzPct val="60000"/>
              <a:defRPr/>
            </a:pPr>
            <a:r>
              <a:rPr lang="zh-CN" altLang="en-US" dirty="0">
                <a:latin typeface="+mn-ea"/>
                <a:ea typeface="+mn-ea"/>
              </a:rPr>
              <a:t>    具备工程技术人员的</a:t>
            </a:r>
            <a:r>
              <a:rPr lang="zh-CN" altLang="en-US" dirty="0">
                <a:solidFill>
                  <a:srgbClr val="FF0000"/>
                </a:solidFill>
                <a:latin typeface="+mn-ea"/>
                <a:ea typeface="+mn-ea"/>
              </a:rPr>
              <a:t>工程素养</a:t>
            </a:r>
            <a:r>
              <a:rPr lang="zh-CN" altLang="en-US" dirty="0">
                <a:latin typeface="+mn-ea"/>
                <a:ea typeface="+mn-ea"/>
              </a:rPr>
              <a:t>，贯彻、执行国家标准的意识及制图的操作技能和工程规范</a:t>
            </a:r>
            <a:endParaRPr kumimoji="0" lang="zh-CN" altLang="en-US" dirty="0">
              <a:solidFill>
                <a:srgbClr val="FF0000"/>
              </a:solidFill>
              <a:latin typeface="+mn-ea"/>
              <a:ea typeface="+mn-ea"/>
            </a:endParaRPr>
          </a:p>
        </p:txBody>
      </p:sp>
      <p:sp>
        <p:nvSpPr>
          <p:cNvPr id="16" name="Text Box 7"/>
          <p:cNvSpPr txBox="1">
            <a:spLocks noChangeArrowheads="1"/>
          </p:cNvSpPr>
          <p:nvPr/>
        </p:nvSpPr>
        <p:spPr bwMode="auto">
          <a:xfrm>
            <a:off x="2095500" y="5943601"/>
            <a:ext cx="6357938" cy="485775"/>
          </a:xfrm>
          <a:prstGeom prst="rect">
            <a:avLst/>
          </a:prstGeom>
          <a:noFill/>
          <a:ln w="9525">
            <a:noFill/>
            <a:miter lim="800000"/>
            <a:headEnd/>
            <a:tailEnd/>
          </a:ln>
          <a:effectLst/>
        </p:spPr>
        <p:txBody>
          <a:bodyPr anchor="ctr">
            <a:spAutoFit/>
          </a:bodyPr>
          <a:lstStyle/>
          <a:p>
            <a:pPr>
              <a:lnSpc>
                <a:spcPct val="80000"/>
              </a:lnSpc>
              <a:defRPr/>
            </a:pPr>
            <a:r>
              <a:rPr kumimoji="0" lang="en-US" altLang="zh-CN" sz="3200" dirty="0">
                <a:effectLst>
                  <a:outerShdw blurRad="38100" dist="38100" dir="2700000" algn="tl">
                    <a:srgbClr val="C0C0C0"/>
                  </a:outerShdw>
                </a:effectLst>
                <a:latin typeface="黑体" pitchFamily="2" charset="-122"/>
                <a:ea typeface="黑体" pitchFamily="2" charset="-122"/>
              </a:rPr>
              <a:t>（4）</a:t>
            </a:r>
            <a:r>
              <a:rPr kumimoji="0" lang="zh-CN" altLang="en-US" sz="3200" dirty="0">
                <a:effectLst>
                  <a:outerShdw blurRad="38100" dist="38100" dir="2700000" algn="tl">
                    <a:srgbClr val="C0C0C0"/>
                  </a:outerShdw>
                </a:effectLst>
                <a:latin typeface="黑体" pitchFamily="2" charset="-122"/>
                <a:ea typeface="黑体" pitchFamily="2" charset="-122"/>
              </a:rPr>
              <a:t>培养自我学习能力 </a:t>
            </a:r>
          </a:p>
        </p:txBody>
      </p:sp>
      <p:sp>
        <p:nvSpPr>
          <p:cNvPr id="18" name="标题 1"/>
          <p:cNvSpPr txBox="1">
            <a:spLocks/>
          </p:cNvSpPr>
          <p:nvPr/>
        </p:nvSpPr>
        <p:spPr>
          <a:xfrm>
            <a:off x="2126105" y="229205"/>
            <a:ext cx="3286125" cy="714375"/>
          </a:xfrm>
          <a:prstGeom prst="rect">
            <a:avLst/>
          </a:prstGeom>
        </p:spPr>
        <p:txBody>
          <a:bodyPr anchor="ctr">
            <a:normAutofit/>
          </a:bodyPr>
          <a:lstStyle/>
          <a:p>
            <a:pPr algn="ctr" fontAlgn="auto">
              <a:spcAft>
                <a:spcPts val="0"/>
              </a:spcAft>
              <a:defRPr/>
            </a:pPr>
            <a:r>
              <a:rPr kumimoji="0" lang="zh-CN" altLang="en-US" sz="3600" b="1" dirty="0">
                <a:solidFill>
                  <a:schemeClr val="tx2"/>
                </a:solidFill>
                <a:latin typeface="黑体" pitchFamily="2" charset="-122"/>
                <a:ea typeface="黑体" pitchFamily="2" charset="-122"/>
                <a:cs typeface="+mj-cs"/>
              </a:rPr>
              <a:t>绪  论</a:t>
            </a:r>
          </a:p>
        </p:txBody>
      </p:sp>
      <p:sp>
        <p:nvSpPr>
          <p:cNvPr id="19" name="标题 1">
            <a:extLst>
              <a:ext uri="{FF2B5EF4-FFF2-40B4-BE49-F238E27FC236}">
                <a16:creationId xmlns:a16="http://schemas.microsoft.com/office/drawing/2014/main" id="{40B0F821-6149-4786-886C-973ECAF97DED}"/>
              </a:ext>
            </a:extLst>
          </p:cNvPr>
          <p:cNvSpPr txBox="1">
            <a:spLocks/>
          </p:cNvSpPr>
          <p:nvPr/>
        </p:nvSpPr>
        <p:spPr>
          <a:xfrm>
            <a:off x="5095874" y="764271"/>
            <a:ext cx="4714875" cy="561975"/>
          </a:xfrm>
          <a:prstGeom prst="rect">
            <a:avLst/>
          </a:prstGeom>
        </p:spPr>
        <p:txBody>
          <a:bodyPr anchor="ctr">
            <a:normAutofit/>
          </a:bodyPr>
          <a:lstStyle/>
          <a:p>
            <a:pPr algn="ctr" fontAlgn="auto">
              <a:spcAft>
                <a:spcPts val="0"/>
              </a:spcAft>
              <a:defRPr/>
            </a:pPr>
            <a:r>
              <a:rPr kumimoji="0" lang="zh-CN" altLang="en-US" sz="2800" b="1" dirty="0">
                <a:solidFill>
                  <a:schemeClr val="tx2"/>
                </a:solidFill>
                <a:latin typeface="黑体" pitchFamily="2" charset="-122"/>
                <a:ea typeface="黑体" pitchFamily="2" charset="-122"/>
                <a:cs typeface="+mj-cs"/>
              </a:rPr>
              <a:t>走进</a:t>
            </a:r>
            <a:r>
              <a:rPr kumimoji="0" lang="en-US" altLang="zh-CN" sz="2800" b="1" dirty="0">
                <a:solidFill>
                  <a:schemeClr val="tx2"/>
                </a:solidFill>
                <a:latin typeface="黑体" pitchFamily="2" charset="-122"/>
                <a:ea typeface="黑体" pitchFamily="2" charset="-122"/>
                <a:cs typeface="+mj-cs"/>
              </a:rPr>
              <a:t>《</a:t>
            </a:r>
            <a:r>
              <a:rPr kumimoji="0" lang="zh-CN" altLang="en-US" sz="2800" b="1" dirty="0">
                <a:solidFill>
                  <a:schemeClr val="tx2"/>
                </a:solidFill>
                <a:latin typeface="黑体" pitchFamily="2" charset="-122"/>
                <a:ea typeface="黑体" pitchFamily="2" charset="-122"/>
                <a:cs typeface="+mj-cs"/>
              </a:rPr>
              <a:t>工程制图</a:t>
            </a:r>
            <a:r>
              <a:rPr kumimoji="0" lang="en-US" altLang="zh-CN" sz="2800" b="1" dirty="0">
                <a:solidFill>
                  <a:schemeClr val="tx2"/>
                </a:solidFill>
                <a:latin typeface="黑体" pitchFamily="2" charset="-122"/>
                <a:ea typeface="黑体" pitchFamily="2" charset="-122"/>
                <a:cs typeface="+mj-cs"/>
              </a:rPr>
              <a:t>》</a:t>
            </a:r>
            <a:r>
              <a:rPr kumimoji="0" lang="zh-CN" altLang="en-US" sz="2800" b="1" dirty="0">
                <a:solidFill>
                  <a:schemeClr val="tx2"/>
                </a:solidFill>
                <a:latin typeface="黑体" pitchFamily="2" charset="-122"/>
                <a:ea typeface="黑体" pitchFamily="2" charset="-122"/>
                <a:cs typeface="+mj-cs"/>
              </a:rPr>
              <a:t>课程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hammer.wav"/>
                                        </p:tgtEl>
                                      </p:cMediaNode>
                                    </p:audio>
                                  </p:subTnLst>
                                </p:cTn>
                              </p:par>
                            </p:childTnLst>
                          </p:cTn>
                        </p:par>
                      </p:childTnLst>
                    </p:cTn>
                  </p:par>
                  <p:par>
                    <p:cTn id="9" fill="hold">
                      <p:stCondLst>
                        <p:cond delay="indefinite"/>
                      </p:stCondLst>
                      <p:childTnLst>
                        <p:par>
                          <p:cTn id="10" fill="hold">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righ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hammer.wav"/>
                                        </p:tgtEl>
                                      </p:cMediaNode>
                                    </p:audio>
                                  </p:sub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11">
                                            <p:txEl>
                                              <p:pRg st="0" end="0"/>
                                            </p:txEl>
                                          </p:spTgt>
                                        </p:tgtEl>
                                        <p:attrNameLst>
                                          <p:attrName>style.visibility</p:attrName>
                                        </p:attrNameLst>
                                      </p:cBhvr>
                                      <p:to>
                                        <p:strVal val="visible"/>
                                      </p:to>
                                    </p:set>
                                    <p:animEffect transition="in" filter="wipe(right)">
                                      <p:cBhvr>
                                        <p:cTn id="24" dur="500"/>
                                        <p:tgtEl>
                                          <p:spTgt spid="11">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hammer.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15">
                                            <p:txEl>
                                              <p:pRg st="0" end="0"/>
                                            </p:txEl>
                                          </p:spTgt>
                                        </p:tgtEl>
                                        <p:attrNameLst>
                                          <p:attrName>style.visibility</p:attrName>
                                        </p:attrNameLst>
                                      </p:cBhvr>
                                      <p:to>
                                        <p:strVal val="visible"/>
                                      </p:to>
                                    </p:set>
                                    <p:animEffect transition="in" filter="box(out)">
                                      <p:cBhvr>
                                        <p:cTn id="35" dur="500"/>
                                        <p:tgtEl>
                                          <p:spTgt spid="15">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 calcmode="lin" valueType="num">
                                      <p:cBhvr additive="base">
                                        <p:cTn id="40" dur="500" fill="hold"/>
                                        <p:tgtEl>
                                          <p:spTgt spid="16"/>
                                        </p:tgtEl>
                                        <p:attrNameLst>
                                          <p:attrName>ppt_x</p:attrName>
                                        </p:attrNameLst>
                                      </p:cBhvr>
                                      <p:tavLst>
                                        <p:tav tm="0">
                                          <p:val>
                                            <p:strVal val="#ppt_x"/>
                                          </p:val>
                                        </p:tav>
                                        <p:tav tm="100000">
                                          <p:val>
                                            <p:strVal val="#ppt_x"/>
                                          </p:val>
                                        </p:tav>
                                      </p:tavLst>
                                    </p:anim>
                                    <p:anim calcmode="lin" valueType="num">
                                      <p:cBhvr additive="base">
                                        <p:cTn id="41" dur="500" fill="hold"/>
                                        <p:tgtEl>
                                          <p:spTgt spid="1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8"/>
                                            </p:cond>
                                          </p:stCondLst>
                                          <p:endCondLst>
                                            <p:cond evt="onStopAudio" delay="0">
                                              <p:tgtEl>
                                                <p:sldTgt/>
                                              </p:tgtEl>
                                            </p:cond>
                                          </p:endCondLst>
                                        </p:cTn>
                                        <p:tgtEl>
                                          <p:sndTgt r:embed="rId3" name="hammer.wav"/>
                                        </p:tgtEl>
                                      </p:cMediaNode>
                                    </p:audio>
                                  </p:subTnLst>
                                </p:cTn>
                              </p:par>
                            </p:childTnLst>
                          </p:cTn>
                        </p:par>
                        <p:par>
                          <p:cTn id="42" fill="hold">
                            <p:stCondLst>
                              <p:cond delay="500"/>
                            </p:stCondLst>
                            <p:childTnLst>
                              <p:par>
                                <p:cTn id="43" presetID="27" presetClass="entr" presetSubtype="0" fill="hold" grpId="0" nodeType="afterEffect">
                                  <p:stCondLst>
                                    <p:cond delay="0"/>
                                  </p:stCondLst>
                                  <p:iterate type="lt">
                                    <p:tmPct val="50000"/>
                                  </p:iterate>
                                  <p:childTnLst>
                                    <p:set>
                                      <p:cBhvr>
                                        <p:cTn id="44" dur="1" fill="hold">
                                          <p:stCondLst>
                                            <p:cond delay="0"/>
                                          </p:stCondLst>
                                        </p:cTn>
                                        <p:tgtEl>
                                          <p:spTgt spid="19"/>
                                        </p:tgtEl>
                                        <p:attrNameLst>
                                          <p:attrName>style.visibility</p:attrName>
                                        </p:attrNameLst>
                                      </p:cBhvr>
                                      <p:to>
                                        <p:strVal val="visible"/>
                                      </p:to>
                                    </p:set>
                                    <p:anim calcmode="discrete" valueType="clr">
                                      <p:cBhvr override="childStyle">
                                        <p:cTn id="45" dur="80"/>
                                        <p:tgtEl>
                                          <p:spTgt spid="19"/>
                                        </p:tgtEl>
                                        <p:attrNameLst>
                                          <p:attrName>style.color</p:attrName>
                                        </p:attrNameLst>
                                      </p:cBhvr>
                                      <p:tavLst>
                                        <p:tav tm="0">
                                          <p:val>
                                            <p:clrVal>
                                              <a:schemeClr val="accent2"/>
                                            </p:clrVal>
                                          </p:val>
                                        </p:tav>
                                        <p:tav tm="50000">
                                          <p:val>
                                            <p:clrVal>
                                              <a:schemeClr val="hlink"/>
                                            </p:clrVal>
                                          </p:val>
                                        </p:tav>
                                      </p:tavLst>
                                    </p:anim>
                                    <p:anim calcmode="discrete" valueType="clr">
                                      <p:cBhvr>
                                        <p:cTn id="46" dur="80"/>
                                        <p:tgtEl>
                                          <p:spTgt spid="19"/>
                                        </p:tgtEl>
                                        <p:attrNameLst>
                                          <p:attrName>fillcolor</p:attrName>
                                        </p:attrNameLst>
                                      </p:cBhvr>
                                      <p:tavLst>
                                        <p:tav tm="0">
                                          <p:val>
                                            <p:clrVal>
                                              <a:schemeClr val="accent2"/>
                                            </p:clrVal>
                                          </p:val>
                                        </p:tav>
                                        <p:tav tm="50000">
                                          <p:val>
                                            <p:clrVal>
                                              <a:schemeClr val="hlink"/>
                                            </p:clrVal>
                                          </p:val>
                                        </p:tav>
                                      </p:tavLst>
                                    </p:anim>
                                    <p:set>
                                      <p:cBhvr>
                                        <p:cTn id="47" dur="80"/>
                                        <p:tgtEl>
                                          <p:spTgt spid="1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2" grpId="0" autoUpdateAnimBg="0"/>
      <p:bldP spid="13" grpId="0"/>
      <p:bldP spid="14" grpId="0" autoUpdateAnimBg="0"/>
      <p:bldP spid="16" grpId="0" autoUpdateAnimBg="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2"/>
          <p:cNvSpPr>
            <a:spLocks noGrp="1"/>
          </p:cNvSpPr>
          <p:nvPr>
            <p:ph idx="1"/>
          </p:nvPr>
        </p:nvSpPr>
        <p:spPr>
          <a:xfrm>
            <a:off x="1595406" y="2357454"/>
            <a:ext cx="9429816" cy="3519818"/>
          </a:xfrm>
        </p:spPr>
        <p:txBody>
          <a:bodyPr rtlCol="0">
            <a:noAutofit/>
          </a:bodyPr>
          <a:lstStyle/>
          <a:p>
            <a:pPr eaLnBrk="1" fontAlgn="auto" hangingPunct="1">
              <a:lnSpc>
                <a:spcPct val="150000"/>
              </a:lnSpc>
              <a:spcAft>
                <a:spcPts val="0"/>
              </a:spcAft>
              <a:buNone/>
              <a:defRPr/>
            </a:pPr>
            <a:r>
              <a:rPr lang="en-US" altLang="zh-CN" sz="2400" b="1" dirty="0">
                <a:latin typeface="黑体" panose="02010609060101010101" pitchFamily="49" charset="-122"/>
                <a:ea typeface="黑体" panose="02010609060101010101" pitchFamily="49" charset="-122"/>
              </a:rPr>
              <a:t>1. </a:t>
            </a:r>
            <a:r>
              <a:rPr lang="zh-CN" altLang="en-US" sz="2400" b="1" dirty="0">
                <a:latin typeface="黑体" panose="02010609060101010101" pitchFamily="49" charset="-122"/>
                <a:ea typeface="黑体" panose="02010609060101010101" pitchFamily="49" charset="-122"/>
              </a:rPr>
              <a:t>工程知识：具有</a:t>
            </a:r>
            <a:r>
              <a:rPr lang="zh-CN" altLang="en-US" sz="2400" b="1" dirty="0">
                <a:solidFill>
                  <a:srgbClr val="FF0000"/>
                </a:solidFill>
                <a:latin typeface="黑体" panose="02010609060101010101" pitchFamily="49" charset="-122"/>
                <a:ea typeface="黑体" panose="02010609060101010101" pitchFamily="49" charset="-122"/>
              </a:rPr>
              <a:t>机械工程专业基础知识</a:t>
            </a:r>
            <a:r>
              <a:rPr lang="zh-CN" altLang="en-US" sz="2400" b="1" dirty="0">
                <a:latin typeface="黑体" panose="02010609060101010101" pitchFamily="49" charset="-122"/>
                <a:ea typeface="黑体" panose="02010609060101010101" pitchFamily="49" charset="-122"/>
              </a:rPr>
              <a:t>、专业知识，并能用于解决复杂机械工程问题</a:t>
            </a:r>
          </a:p>
          <a:p>
            <a:pPr eaLnBrk="1" fontAlgn="auto" hangingPunct="1">
              <a:lnSpc>
                <a:spcPct val="150000"/>
              </a:lnSpc>
              <a:spcAft>
                <a:spcPts val="0"/>
              </a:spcAft>
              <a:buNone/>
              <a:defRPr/>
            </a:pPr>
            <a:r>
              <a:rPr lang="en-US" altLang="zh-CN" sz="2400" b="1" dirty="0">
                <a:latin typeface="黑体" panose="02010609060101010101" pitchFamily="49" charset="-122"/>
                <a:ea typeface="黑体" panose="02010609060101010101" pitchFamily="49" charset="-122"/>
              </a:rPr>
              <a:t>5. </a:t>
            </a:r>
            <a:r>
              <a:rPr lang="zh-CN" altLang="en-US" sz="2400" b="1" dirty="0">
                <a:latin typeface="黑体" panose="02010609060101010101" pitchFamily="49" charset="-122"/>
                <a:ea typeface="黑体" panose="02010609060101010101" pitchFamily="49" charset="-122"/>
              </a:rPr>
              <a:t>现代工具：</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了解机械工程学科发展现状，能够在机械工程实践中初步</a:t>
            </a:r>
            <a:r>
              <a:rPr lang="zh-CN" altLang="en-US" sz="2400" b="1" dirty="0">
                <a:solidFill>
                  <a:srgbClr val="FF0000"/>
                </a:solidFill>
                <a:latin typeface="黑体" panose="02010609060101010101" pitchFamily="49" charset="-122"/>
                <a:ea typeface="黑体" panose="02010609060101010101" pitchFamily="49" charset="-122"/>
              </a:rPr>
              <a:t>掌握并使用现代工程技术、方法和工具</a:t>
            </a:r>
            <a:endParaRPr lang="en-US" altLang="zh-CN" sz="2400" b="1" dirty="0">
              <a:latin typeface="黑体" panose="02010609060101010101" pitchFamily="49" charset="-122"/>
              <a:ea typeface="黑体" panose="02010609060101010101" pitchFamily="49" charset="-122"/>
            </a:endParaRPr>
          </a:p>
          <a:p>
            <a:pPr eaLnBrk="1" fontAlgn="auto" hangingPunct="1">
              <a:lnSpc>
                <a:spcPct val="150000"/>
              </a:lnSpc>
              <a:spcAft>
                <a:spcPts val="0"/>
              </a:spcAft>
              <a:buNone/>
              <a:defRPr/>
            </a:pPr>
            <a:r>
              <a:rPr lang="en-US" altLang="zh-CN" sz="2400" b="1" dirty="0">
                <a:latin typeface="黑体" panose="02010609060101010101" pitchFamily="49" charset="-122"/>
                <a:ea typeface="黑体" panose="02010609060101010101" pitchFamily="49" charset="-122"/>
              </a:rPr>
              <a:t>6. </a:t>
            </a:r>
            <a:r>
              <a:rPr lang="zh-CN" altLang="en-US" sz="2400" b="1" dirty="0">
                <a:latin typeface="黑体" panose="02010609060101010101" pitchFamily="49" charset="-122"/>
                <a:ea typeface="黑体" panose="02010609060101010101" pitchFamily="49" charset="-122"/>
              </a:rPr>
              <a:t>工程与社会：</a:t>
            </a:r>
            <a:r>
              <a:rPr lang="zh-CN" altLang="en-US" sz="2400" b="1" dirty="0">
                <a:solidFill>
                  <a:srgbClr val="FF0000"/>
                </a:solidFill>
                <a:latin typeface="黑体" panose="02010609060101010101" pitchFamily="49" charset="-122"/>
                <a:ea typeface="黑体" panose="02010609060101010101" pitchFamily="49" charset="-122"/>
              </a:rPr>
              <a:t>了解与机械工程相关的技术标准</a:t>
            </a:r>
            <a:r>
              <a:rPr lang="zh-CN" altLang="en-US" sz="2400" b="1" dirty="0">
                <a:latin typeface="黑体" panose="02010609060101010101" pitchFamily="49" charset="-122"/>
                <a:ea typeface="黑体" panose="02010609060101010101" pitchFamily="49" charset="-122"/>
              </a:rPr>
              <a:t>、知识产权、产业政策和法律法规</a:t>
            </a:r>
          </a:p>
        </p:txBody>
      </p:sp>
      <p:sp>
        <p:nvSpPr>
          <p:cNvPr id="6" name="标题 1"/>
          <p:cNvSpPr>
            <a:spLocks noGrp="1"/>
          </p:cNvSpPr>
          <p:nvPr>
            <p:ph type="title"/>
          </p:nvPr>
        </p:nvSpPr>
        <p:spPr>
          <a:xfrm>
            <a:off x="1238216" y="1571612"/>
            <a:ext cx="4714875" cy="500062"/>
          </a:xfrm>
        </p:spPr>
        <p:txBody>
          <a:bodyPr/>
          <a:lstStyle/>
          <a:p>
            <a:pPr eaLnBrk="1" hangingPunct="1">
              <a:defRPr/>
            </a:pPr>
            <a:r>
              <a:rPr lang="zh-CN" altLang="en-US" sz="3200" b="1" dirty="0">
                <a:effectLst>
                  <a:outerShdw blurRad="38100" dist="38100" dir="2700000" algn="tl">
                    <a:srgbClr val="000000">
                      <a:alpha val="43137"/>
                    </a:srgbClr>
                  </a:outerShdw>
                </a:effectLst>
                <a:latin typeface="宋体" pitchFamily="2" charset="-122"/>
              </a:rPr>
              <a:t>对毕业能力达成的贡献</a:t>
            </a:r>
            <a:endParaRPr lang="zh-CN" altLang="en-US" sz="3200" dirty="0">
              <a:effectLst>
                <a:outerShdw blurRad="38100" dist="38100" dir="2700000" algn="tl">
                  <a:srgbClr val="000000">
                    <a:alpha val="43137"/>
                  </a:srgbClr>
                </a:outerShdw>
              </a:effectLst>
              <a:latin typeface="宋体" pitchFamily="2" charset="-122"/>
            </a:endParaRPr>
          </a:p>
        </p:txBody>
      </p:sp>
      <p:sp>
        <p:nvSpPr>
          <p:cNvPr id="5" name="标题 1"/>
          <p:cNvSpPr txBox="1">
            <a:spLocks/>
          </p:cNvSpPr>
          <p:nvPr/>
        </p:nvSpPr>
        <p:spPr>
          <a:xfrm>
            <a:off x="2027802" y="152401"/>
            <a:ext cx="3286125" cy="714375"/>
          </a:xfrm>
          <a:prstGeom prst="rect">
            <a:avLst/>
          </a:prstGeom>
        </p:spPr>
        <p:txBody>
          <a:bodyPr anchor="ctr">
            <a:normAutofit/>
          </a:bodyPr>
          <a:lstStyle/>
          <a:p>
            <a:pPr algn="ctr" fontAlgn="auto">
              <a:spcAft>
                <a:spcPts val="0"/>
              </a:spcAft>
              <a:defRPr/>
            </a:pPr>
            <a:r>
              <a:rPr kumimoji="0" lang="zh-CN" altLang="en-US" sz="3600" b="1" dirty="0">
                <a:solidFill>
                  <a:schemeClr val="tx2"/>
                </a:solidFill>
                <a:latin typeface="黑体" pitchFamily="2" charset="-122"/>
                <a:ea typeface="黑体" pitchFamily="2" charset="-122"/>
                <a:cs typeface="+mj-cs"/>
              </a:rPr>
              <a:t>绪  论</a:t>
            </a:r>
          </a:p>
        </p:txBody>
      </p:sp>
      <p:sp>
        <p:nvSpPr>
          <p:cNvPr id="7" name="标题 1">
            <a:extLst>
              <a:ext uri="{FF2B5EF4-FFF2-40B4-BE49-F238E27FC236}">
                <a16:creationId xmlns:a16="http://schemas.microsoft.com/office/drawing/2014/main" id="{7028C263-4D21-4537-A98C-165F1CBDEAA9}"/>
              </a:ext>
            </a:extLst>
          </p:cNvPr>
          <p:cNvSpPr txBox="1">
            <a:spLocks/>
          </p:cNvSpPr>
          <p:nvPr/>
        </p:nvSpPr>
        <p:spPr>
          <a:xfrm>
            <a:off x="5095874" y="764271"/>
            <a:ext cx="4714875" cy="561975"/>
          </a:xfrm>
          <a:prstGeom prst="rect">
            <a:avLst/>
          </a:prstGeom>
        </p:spPr>
        <p:txBody>
          <a:bodyPr anchor="ctr">
            <a:normAutofit/>
          </a:bodyPr>
          <a:lstStyle/>
          <a:p>
            <a:pPr algn="ctr" fontAlgn="auto">
              <a:spcAft>
                <a:spcPts val="0"/>
              </a:spcAft>
              <a:defRPr/>
            </a:pPr>
            <a:r>
              <a:rPr kumimoji="0" lang="zh-CN" altLang="en-US" sz="2800" b="1" dirty="0">
                <a:solidFill>
                  <a:schemeClr val="tx2"/>
                </a:solidFill>
                <a:latin typeface="黑体" pitchFamily="2" charset="-122"/>
                <a:ea typeface="黑体" pitchFamily="2" charset="-122"/>
                <a:cs typeface="+mj-cs"/>
              </a:rPr>
              <a:t>走进</a:t>
            </a:r>
            <a:r>
              <a:rPr kumimoji="0" lang="en-US" altLang="zh-CN" sz="2800" b="1" dirty="0">
                <a:solidFill>
                  <a:schemeClr val="tx2"/>
                </a:solidFill>
                <a:latin typeface="黑体" pitchFamily="2" charset="-122"/>
                <a:ea typeface="黑体" pitchFamily="2" charset="-122"/>
                <a:cs typeface="+mj-cs"/>
              </a:rPr>
              <a:t>《</a:t>
            </a:r>
            <a:r>
              <a:rPr kumimoji="0" lang="zh-CN" altLang="en-US" sz="2800" b="1" dirty="0">
                <a:solidFill>
                  <a:schemeClr val="tx2"/>
                </a:solidFill>
                <a:latin typeface="黑体" pitchFamily="2" charset="-122"/>
                <a:ea typeface="黑体" pitchFamily="2" charset="-122"/>
                <a:cs typeface="+mj-cs"/>
              </a:rPr>
              <a:t>工程制图</a:t>
            </a:r>
            <a:r>
              <a:rPr kumimoji="0" lang="en-US" altLang="zh-CN" sz="2800" b="1" dirty="0">
                <a:solidFill>
                  <a:schemeClr val="tx2"/>
                </a:solidFill>
                <a:latin typeface="黑体" pitchFamily="2" charset="-122"/>
                <a:ea typeface="黑体" pitchFamily="2" charset="-122"/>
                <a:cs typeface="+mj-cs"/>
              </a:rPr>
              <a:t>》</a:t>
            </a:r>
            <a:r>
              <a:rPr kumimoji="0" lang="zh-CN" altLang="en-US" sz="2800" b="1" dirty="0">
                <a:solidFill>
                  <a:schemeClr val="tx2"/>
                </a:solidFill>
                <a:latin typeface="黑体" pitchFamily="2" charset="-122"/>
                <a:ea typeface="黑体" pitchFamily="2" charset="-122"/>
                <a:cs typeface="+mj-cs"/>
              </a:rPr>
              <a:t>课程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10" dur="1000" fill="hold"/>
                                        <p:tgtEl>
                                          <p:spTgt spid="6"/>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6"/>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15" fill="hold">
                      <p:stCondLst>
                        <p:cond delay="indefinite"/>
                      </p:stCondLst>
                      <p:childTnLst>
                        <p:par>
                          <p:cTn id="16" fill="hold">
                            <p:stCondLst>
                              <p:cond delay="0"/>
                            </p:stCondLst>
                            <p:childTnLst>
                              <p:par>
                                <p:cTn id="17" presetID="3" presetClass="entr" presetSubtype="5" fill="hold" grpId="0" nodeType="clickEffect">
                                  <p:stCondLst>
                                    <p:cond delay="0"/>
                                  </p:stCondLst>
                                  <p:iterate type="lt">
                                    <p:tmPct val="10000"/>
                                  </p:iterate>
                                  <p:childTnLst>
                                    <p:set>
                                      <p:cBhvr>
                                        <p:cTn id="18" dur="1" fill="hold">
                                          <p:stCondLst>
                                            <p:cond delay="0"/>
                                          </p:stCondLst>
                                        </p:cTn>
                                        <p:tgtEl>
                                          <p:spTgt spid="31747">
                                            <p:txEl>
                                              <p:pRg st="0" end="0"/>
                                            </p:txEl>
                                          </p:spTgt>
                                        </p:tgtEl>
                                        <p:attrNameLst>
                                          <p:attrName>style.visibility</p:attrName>
                                        </p:attrNameLst>
                                      </p:cBhvr>
                                      <p:to>
                                        <p:strVal val="visible"/>
                                      </p:to>
                                    </p:set>
                                    <p:animEffect transition="in" filter="blinds(vertical)">
                                      <p:cBhvr>
                                        <p:cTn id="19" dur="500"/>
                                        <p:tgtEl>
                                          <p:spTgt spid="31747">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5" fill="hold" grpId="0" nodeType="clickEffect">
                                  <p:stCondLst>
                                    <p:cond delay="0"/>
                                  </p:stCondLst>
                                  <p:iterate type="lt">
                                    <p:tmPct val="10000"/>
                                  </p:iterate>
                                  <p:childTnLst>
                                    <p:set>
                                      <p:cBhvr>
                                        <p:cTn id="23" dur="1" fill="hold">
                                          <p:stCondLst>
                                            <p:cond delay="0"/>
                                          </p:stCondLst>
                                        </p:cTn>
                                        <p:tgtEl>
                                          <p:spTgt spid="31747">
                                            <p:txEl>
                                              <p:pRg st="1" end="1"/>
                                            </p:txEl>
                                          </p:spTgt>
                                        </p:tgtEl>
                                        <p:attrNameLst>
                                          <p:attrName>style.visibility</p:attrName>
                                        </p:attrNameLst>
                                      </p:cBhvr>
                                      <p:to>
                                        <p:strVal val="visible"/>
                                      </p:to>
                                    </p:set>
                                    <p:animEffect transition="in" filter="blinds(vertical)">
                                      <p:cBhvr>
                                        <p:cTn id="24" dur="500"/>
                                        <p:tgtEl>
                                          <p:spTgt spid="31747">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5" fill="hold" grpId="0" nodeType="clickEffect">
                                  <p:stCondLst>
                                    <p:cond delay="0"/>
                                  </p:stCondLst>
                                  <p:iterate type="lt">
                                    <p:tmPct val="10000"/>
                                  </p:iterate>
                                  <p:childTnLst>
                                    <p:set>
                                      <p:cBhvr>
                                        <p:cTn id="28" dur="1" fill="hold">
                                          <p:stCondLst>
                                            <p:cond delay="0"/>
                                          </p:stCondLst>
                                        </p:cTn>
                                        <p:tgtEl>
                                          <p:spTgt spid="31747">
                                            <p:txEl>
                                              <p:pRg st="2" end="2"/>
                                            </p:txEl>
                                          </p:spTgt>
                                        </p:tgtEl>
                                        <p:attrNameLst>
                                          <p:attrName>style.visibility</p:attrName>
                                        </p:attrNameLst>
                                      </p:cBhvr>
                                      <p:to>
                                        <p:strVal val="visible"/>
                                      </p:to>
                                    </p:set>
                                    <p:animEffect transition="in" filter="blinds(vertical)">
                                      <p:cBhvr>
                                        <p:cTn id="29" dur="500"/>
                                        <p:tgtEl>
                                          <p:spTgt spid="31747">
                                            <p:txEl>
                                              <p:pRg st="2" end="2"/>
                                            </p:txEl>
                                          </p:spTgt>
                                        </p:tgtEl>
                                      </p:cBhvr>
                                    </p:animEffect>
                                  </p:childTnLst>
                                </p:cTn>
                              </p:par>
                            </p:childTnLst>
                          </p:cTn>
                        </p:par>
                        <p:par>
                          <p:cTn id="30" fill="hold">
                            <p:stCondLst>
                              <p:cond delay="2300"/>
                            </p:stCondLst>
                            <p:childTnLst>
                              <p:par>
                                <p:cTn id="31" presetID="27" presetClass="entr" presetSubtype="0" fill="hold" grpId="0" nodeType="afterEffect">
                                  <p:stCondLst>
                                    <p:cond delay="0"/>
                                  </p:stCondLst>
                                  <p:iterate type="lt">
                                    <p:tmPct val="50000"/>
                                  </p:iterate>
                                  <p:childTnLst>
                                    <p:set>
                                      <p:cBhvr>
                                        <p:cTn id="32" dur="1" fill="hold">
                                          <p:stCondLst>
                                            <p:cond delay="0"/>
                                          </p:stCondLst>
                                        </p:cTn>
                                        <p:tgtEl>
                                          <p:spTgt spid="7"/>
                                        </p:tgtEl>
                                        <p:attrNameLst>
                                          <p:attrName>style.visibility</p:attrName>
                                        </p:attrNameLst>
                                      </p:cBhvr>
                                      <p:to>
                                        <p:strVal val="visible"/>
                                      </p:to>
                                    </p:set>
                                    <p:anim calcmode="discrete" valueType="clr">
                                      <p:cBhvr override="childStyle">
                                        <p:cTn id="33"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7"/>
                                        </p:tgtEl>
                                        <p:attrNameLst>
                                          <p:attrName>fillcolor</p:attrName>
                                        </p:attrNameLst>
                                      </p:cBhvr>
                                      <p:tavLst>
                                        <p:tav tm="0">
                                          <p:val>
                                            <p:clrVal>
                                              <a:schemeClr val="accent2"/>
                                            </p:clrVal>
                                          </p:val>
                                        </p:tav>
                                        <p:tav tm="50000">
                                          <p:val>
                                            <p:clrVal>
                                              <a:schemeClr val="hlink"/>
                                            </p:clrVal>
                                          </p:val>
                                        </p:tav>
                                      </p:tavLst>
                                    </p:anim>
                                    <p:set>
                                      <p:cBhvr>
                                        <p:cTn id="35" dur="80"/>
                                        <p:tgtEl>
                                          <p:spTgt spid="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uiExpand="1" build="p"/>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custDataLst>
              <p:tags r:id="rId2"/>
            </p:custDataLst>
          </p:nvPr>
        </p:nvSpPr>
        <p:spPr>
          <a:xfrm>
            <a:off x="2438400" y="928670"/>
            <a:ext cx="7315200" cy="1214447"/>
          </a:xfrm>
          <a:prstGeom prst="rect">
            <a:avLst/>
          </a:prstGeom>
          <a:noFill/>
        </p:spPr>
        <p:txBody>
          <a:bodyPr vert="horz" wrap="square" rtlCol="0" anchor="ctr" anchorCtr="0">
            <a:noAutofit/>
          </a:bodyPr>
          <a:lstStyle/>
          <a:p>
            <a:r>
              <a:rPr lang="zh-CN" altLang="en-US" sz="2800" b="1" dirty="0">
                <a:solidFill>
                  <a:srgbClr val="000000"/>
                </a:solidFill>
                <a:latin typeface="Microsoft Yahei"/>
                <a:sym typeface="Microsoft Yahei"/>
              </a:rPr>
              <a:t>关于工程图学课程的说法，正确的是：</a:t>
            </a:r>
          </a:p>
        </p:txBody>
      </p:sp>
      <p:sp>
        <p:nvSpPr>
          <p:cNvPr id="6" name="TextBox 5"/>
          <p:cNvSpPr txBox="1"/>
          <p:nvPr>
            <p:custDataLst>
              <p:tags r:id="rId3"/>
            </p:custDataLst>
          </p:nvPr>
        </p:nvSpPr>
        <p:spPr>
          <a:xfrm>
            <a:off x="3167037" y="2357431"/>
            <a:ext cx="6400800" cy="642937"/>
          </a:xfrm>
          <a:prstGeom prst="rect">
            <a:avLst/>
          </a:prstGeom>
          <a:noFill/>
        </p:spPr>
        <p:txBody>
          <a:bodyPr vert="horz" rtlCol="0" anchor="ctr" anchorCtr="0">
            <a:noAutofit/>
          </a:bodyPr>
          <a:lstStyle/>
          <a:p>
            <a:r>
              <a:rPr lang="zh-CN" altLang="en-US" b="1" dirty="0">
                <a:latin typeface="+mn-ea"/>
                <a:ea typeface="+mn-ea"/>
              </a:rPr>
              <a:t>课程特点：直观、形象、简洁、准确、通用</a:t>
            </a:r>
            <a:endParaRPr lang="zh-CN" altLang="en-US" b="1" dirty="0">
              <a:latin typeface="+mn-ea"/>
              <a:ea typeface="+mn-ea"/>
              <a:sym typeface="Microsoft Yahei"/>
            </a:endParaRPr>
          </a:p>
        </p:txBody>
      </p:sp>
      <p:sp>
        <p:nvSpPr>
          <p:cNvPr id="7" name="TextBox 6"/>
          <p:cNvSpPr txBox="1"/>
          <p:nvPr>
            <p:custDataLst>
              <p:tags r:id="rId4"/>
            </p:custDataLst>
          </p:nvPr>
        </p:nvSpPr>
        <p:spPr>
          <a:xfrm>
            <a:off x="3167037" y="3214681"/>
            <a:ext cx="6400800" cy="642937"/>
          </a:xfrm>
          <a:prstGeom prst="rect">
            <a:avLst/>
          </a:prstGeom>
          <a:noFill/>
        </p:spPr>
        <p:txBody>
          <a:bodyPr vert="horz" rtlCol="0" anchor="ctr" anchorCtr="0">
            <a:noAutofit/>
          </a:bodyPr>
          <a:lstStyle/>
          <a:p>
            <a:r>
              <a:rPr lang="zh-CN" altLang="en-US" b="1" dirty="0">
                <a:solidFill>
                  <a:srgbClr val="000000"/>
                </a:solidFill>
                <a:latin typeface="Microsoft Yahei"/>
                <a:sym typeface="Microsoft Yahei"/>
              </a:rPr>
              <a:t>工程图样</a:t>
            </a:r>
            <a:r>
              <a:rPr kumimoji="0" lang="zh-CN" altLang="en-US" b="1" dirty="0">
                <a:latin typeface="宋体" pitchFamily="2" charset="-122"/>
              </a:rPr>
              <a:t>是指导生产、装配、检验、维修等必须的重要技术资料</a:t>
            </a:r>
            <a:endParaRPr lang="zh-CN" altLang="en-US" b="1" dirty="0">
              <a:solidFill>
                <a:srgbClr val="000000"/>
              </a:solidFill>
              <a:latin typeface="Microsoft Yahei"/>
              <a:sym typeface="Microsoft Yahei"/>
            </a:endParaRPr>
          </a:p>
        </p:txBody>
      </p:sp>
      <p:sp>
        <p:nvSpPr>
          <p:cNvPr id="8" name="TextBox 7"/>
          <p:cNvSpPr txBox="1"/>
          <p:nvPr>
            <p:custDataLst>
              <p:tags r:id="rId5"/>
            </p:custDataLst>
          </p:nvPr>
        </p:nvSpPr>
        <p:spPr>
          <a:xfrm>
            <a:off x="3167037" y="4143386"/>
            <a:ext cx="6400800" cy="642937"/>
          </a:xfrm>
          <a:prstGeom prst="rect">
            <a:avLst/>
          </a:prstGeom>
          <a:noFill/>
        </p:spPr>
        <p:txBody>
          <a:bodyPr vert="horz" rtlCol="0" anchor="ctr" anchorCtr="0">
            <a:noAutofit/>
          </a:bodyPr>
          <a:lstStyle/>
          <a:p>
            <a:r>
              <a:rPr lang="zh-CN" altLang="en-US" b="1" dirty="0">
                <a:solidFill>
                  <a:srgbClr val="000000"/>
                </a:solidFill>
                <a:latin typeface="Microsoft Yahei"/>
                <a:sym typeface="Microsoft Yahei"/>
              </a:rPr>
              <a:t>主要任务是培养形象思维能力，图形表达能力、理解能力，标准化能力和自我学习能力</a:t>
            </a:r>
          </a:p>
        </p:txBody>
      </p:sp>
      <p:sp>
        <p:nvSpPr>
          <p:cNvPr id="9" name="TextBox 8"/>
          <p:cNvSpPr txBox="1"/>
          <p:nvPr>
            <p:custDataLst>
              <p:tags r:id="rId6"/>
            </p:custDataLst>
          </p:nvPr>
        </p:nvSpPr>
        <p:spPr>
          <a:xfrm>
            <a:off x="3167037" y="5000642"/>
            <a:ext cx="6400800" cy="642937"/>
          </a:xfrm>
          <a:prstGeom prst="rect">
            <a:avLst/>
          </a:prstGeom>
          <a:noFill/>
        </p:spPr>
        <p:txBody>
          <a:bodyPr vert="horz" rtlCol="0" anchor="ctr" anchorCtr="0">
            <a:noAutofit/>
          </a:bodyPr>
          <a:lstStyle/>
          <a:p>
            <a:r>
              <a:rPr lang="zh-CN" altLang="en-US" b="1" dirty="0">
                <a:solidFill>
                  <a:srgbClr val="000000"/>
                </a:solidFill>
                <a:latin typeface="Microsoft Yahei"/>
                <a:sym typeface="Microsoft Yahei"/>
              </a:rPr>
              <a:t>主要任务是培养绘图能力、理解能力和标准化能力</a:t>
            </a:r>
          </a:p>
        </p:txBody>
      </p:sp>
      <p:sp>
        <p:nvSpPr>
          <p:cNvPr id="10" name="矩形 9"/>
          <p:cNvSpPr>
            <a:spLocks noChangeAspect="1"/>
          </p:cNvSpPr>
          <p:nvPr>
            <p:custDataLst>
              <p:tags r:id="rId7"/>
            </p:custDataLst>
          </p:nvPr>
        </p:nvSpPr>
        <p:spPr>
          <a:xfrm>
            <a:off x="2452662" y="2421724"/>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a:sym typeface="Microsoft Yahei"/>
              </a:rPr>
              <a:t>A</a:t>
            </a:r>
            <a:endParaRPr lang="zh-CN" altLang="en-US" sz="1600">
              <a:solidFill>
                <a:srgbClr val="FFFFFF"/>
              </a:solidFill>
              <a:latin typeface="Microsoft Yahei"/>
              <a:sym typeface="Microsoft Yahei"/>
            </a:endParaRPr>
          </a:p>
        </p:txBody>
      </p:sp>
      <p:sp>
        <p:nvSpPr>
          <p:cNvPr id="11" name="矩形 10"/>
          <p:cNvSpPr>
            <a:spLocks noChangeAspect="1"/>
          </p:cNvSpPr>
          <p:nvPr>
            <p:custDataLst>
              <p:tags r:id="rId8"/>
            </p:custDataLst>
          </p:nvPr>
        </p:nvSpPr>
        <p:spPr>
          <a:xfrm>
            <a:off x="2452662" y="3278974"/>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a:sym typeface="Microsoft Yahei"/>
              </a:rPr>
              <a:t>B</a:t>
            </a:r>
            <a:endParaRPr lang="zh-CN" altLang="en-US" sz="1600">
              <a:solidFill>
                <a:srgbClr val="FFFFFF"/>
              </a:solidFill>
              <a:latin typeface="Microsoft Yahei"/>
              <a:sym typeface="Microsoft Yahei"/>
            </a:endParaRPr>
          </a:p>
        </p:txBody>
      </p:sp>
      <p:sp>
        <p:nvSpPr>
          <p:cNvPr id="12" name="矩形 11"/>
          <p:cNvSpPr>
            <a:spLocks noChangeAspect="1"/>
          </p:cNvSpPr>
          <p:nvPr>
            <p:custDataLst>
              <p:tags r:id="rId9"/>
            </p:custDataLst>
          </p:nvPr>
        </p:nvSpPr>
        <p:spPr>
          <a:xfrm>
            <a:off x="2452662" y="4136224"/>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a:sym typeface="Microsoft Yahei"/>
              </a:rPr>
              <a:t>C</a:t>
            </a:r>
            <a:endParaRPr lang="zh-CN" altLang="en-US" sz="1600">
              <a:solidFill>
                <a:srgbClr val="FFFFFF"/>
              </a:solidFill>
              <a:latin typeface="Microsoft Yahei"/>
              <a:sym typeface="Microsoft Yahei"/>
            </a:endParaRPr>
          </a:p>
        </p:txBody>
      </p:sp>
      <p:sp>
        <p:nvSpPr>
          <p:cNvPr id="13" name="矩形 12"/>
          <p:cNvSpPr>
            <a:spLocks noChangeAspect="1"/>
          </p:cNvSpPr>
          <p:nvPr>
            <p:custDataLst>
              <p:tags r:id="rId10"/>
            </p:custDataLst>
          </p:nvPr>
        </p:nvSpPr>
        <p:spPr>
          <a:xfrm>
            <a:off x="2452662" y="4993474"/>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a:sym typeface="Microsoft Yahei"/>
              </a:rPr>
              <a:t>D</a:t>
            </a:r>
            <a:endParaRPr lang="zh-CN" altLang="en-US" sz="1600">
              <a:solidFill>
                <a:srgbClr val="FFFFFF"/>
              </a:solidFill>
              <a:latin typeface="Microsoft Yahei"/>
              <a:sym typeface="Microsoft Yahei"/>
            </a:endParaRPr>
          </a:p>
        </p:txBody>
      </p:sp>
      <p:sp>
        <p:nvSpPr>
          <p:cNvPr id="14" name="圆角矩形 13"/>
          <p:cNvSpPr/>
          <p:nvPr>
            <p:custDataLst>
              <p:tags r:id="rId11"/>
            </p:custDataLst>
          </p:nvPr>
        </p:nvSpPr>
        <p:spPr>
          <a:xfrm>
            <a:off x="7981974" y="5875040"/>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a:sym typeface="Microsoft Yahei"/>
              </a:rPr>
              <a:t>提交</a:t>
            </a:r>
          </a:p>
        </p:txBody>
      </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5"/>
              </p:custDataLst>
            </p:nvPr>
          </p:nvSpPr>
          <p:spPr>
            <a:xfrm>
              <a:off x="-1524000" y="0"/>
              <a:ext cx="9144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6"/>
              </p:custDataLst>
            </p:nvPr>
          </p:nvSpPr>
          <p:spPr>
            <a:xfrm>
              <a:off x="-152400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7"/>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sym typeface="Microsoft Yahei"/>
                </a:rPr>
                <a:t>多选题</a:t>
              </a:r>
            </a:p>
          </p:txBody>
        </p:sp>
        <p:sp>
          <p:nvSpPr>
            <p:cNvPr id="18" name="TipText"/>
            <p:cNvSpPr txBox="1"/>
            <p:nvPr>
              <p:custDataLst>
                <p:tags r:id="rId18"/>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sym typeface="Microsoft Yahei"/>
                </a:rPr>
                <a:t>2</a:t>
              </a:r>
              <a:r>
                <a:rPr lang="zh-CN" altLang="en-US" sz="2000">
                  <a:solidFill>
                    <a:srgbClr val="808080"/>
                  </a:solidFill>
                  <a:latin typeface="Microsoft Yahei"/>
                  <a:sym typeface="Microsoft Yahei"/>
                </a:rPr>
                <a:t>分</a:t>
              </a:r>
            </a:p>
          </p:txBody>
        </p:sp>
      </p:grpSp>
      <p:pic>
        <p:nvPicPr>
          <p:cNvPr id="4" name="图片 3" descr="tmpAAA1.tmp"/>
          <p:cNvPicPr>
            <a:picLocks/>
          </p:cNvPicPr>
          <p:nvPr>
            <p:custDataLst>
              <p:tags r:id="rId13"/>
            </p:custDataLst>
          </p:nvPr>
        </p:nvPicPr>
        <p:blipFill>
          <a:blip r:embed="rId21"/>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46F5F7F3-DD9B-47D0-9E5A-51DD86523984}"/>
              </a:ext>
            </a:extLst>
          </p:cNvPr>
          <p:cNvSpPr txBox="1"/>
          <p:nvPr>
            <p:custDataLst>
              <p:tags r:id="rId14"/>
            </p:custDataLst>
          </p:nvPr>
        </p:nvSpPr>
        <p:spPr bwMode="auto">
          <a:xfrm>
            <a:off x="1219200" y="635000"/>
            <a:ext cx="9753600" cy="487680"/>
          </a:xfrm>
          <a:prstGeom prst="rect">
            <a:avLst/>
          </a:prstGeom>
          <a:solidFill>
            <a:srgbClr val="FBFAEF">
              <a:alpha val="90000"/>
            </a:srgbClr>
          </a:solidFill>
          <a:ln w="9525">
            <a:noFill/>
            <a:miter lim="800000"/>
            <a:headEnd/>
            <a:tailEnd/>
          </a:ln>
          <a:extLst>
            <a:ext uri="{91240B29-F687-4F45-9708-019B960494DF}">
              <a14:hiddenLine xmlns:a14="http://schemas.microsoft.com/office/drawing/2010/main" w="9525">
                <a:solidFill>
                  <a:schemeClr val="accent1"/>
                </a:solidFill>
                <a:miter lim="800000"/>
                <a:headEnd/>
                <a:tailEnd/>
              </a14:hiddenLine>
            </a:ext>
          </a:extLst>
        </p:spPr>
        <p:txBody>
          <a:bodyPr vert="horz" wrap="none" rtlCol="0" anchor="ctr" anchorCtr="1">
            <a:noAutofit/>
          </a:bodyPr>
          <a:lstStyle/>
          <a:p>
            <a:pPr fontAlgn="auto">
              <a:spcAft>
                <a:spcPts val="0"/>
              </a:spcAft>
            </a:pPr>
            <a:r>
              <a:rPr lang="zh-CN" altLang="en-US" sz="1600" b="1">
                <a:solidFill>
                  <a:srgbClr val="F84F41"/>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endParaRPr lang="zh-CN" altLang="en-US" sz="1600" b="1" dirty="0">
              <a:solidFill>
                <a:srgbClr val="F84F41"/>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4294967295"/>
          </p:nvPr>
        </p:nvSpPr>
        <p:spPr>
          <a:xfrm>
            <a:off x="973109" y="2852936"/>
            <a:ext cx="8501063" cy="642937"/>
          </a:xfrm>
        </p:spPr>
        <p:txBody>
          <a:bodyPr rtlCol="0">
            <a:noAutofit/>
          </a:bodyPr>
          <a:lstStyle/>
          <a:p>
            <a:pPr eaLnBrk="1" fontAlgn="auto" hangingPunct="1">
              <a:spcAft>
                <a:spcPts val="0"/>
              </a:spcAft>
              <a:buNone/>
              <a:defRPr/>
            </a:pPr>
            <a:r>
              <a:rPr lang="en-US" altLang="zh-CN" sz="2800" b="1" dirty="0">
                <a:effectLst>
                  <a:outerShdw blurRad="38100" dist="38100" dir="2700000" algn="tl">
                    <a:srgbClr val="000000">
                      <a:alpha val="43137"/>
                    </a:srgbClr>
                  </a:outerShdw>
                </a:effectLst>
                <a:latin typeface="+mn-ea"/>
              </a:rPr>
              <a:t>1</a:t>
            </a:r>
            <a:r>
              <a:rPr lang="zh-CN" altLang="en-US" sz="2800" b="1" dirty="0">
                <a:effectLst>
                  <a:outerShdw blurRad="38100" dist="38100" dir="2700000" algn="tl">
                    <a:srgbClr val="000000">
                      <a:alpha val="43137"/>
                    </a:srgbClr>
                  </a:outerShdw>
                </a:effectLst>
                <a:latin typeface="+mn-ea"/>
              </a:rPr>
              <a:t>）要精神集中听课 </a:t>
            </a:r>
            <a:r>
              <a:rPr lang="en-US" altLang="zh-CN" sz="2800" b="1" dirty="0">
                <a:effectLst>
                  <a:outerShdw blurRad="38100" dist="38100" dir="2700000" algn="tl">
                    <a:srgbClr val="000000">
                      <a:alpha val="43137"/>
                    </a:srgbClr>
                  </a:outerShdw>
                </a:effectLst>
                <a:latin typeface="+mn-ea"/>
              </a:rPr>
              <a:t>——</a:t>
            </a:r>
            <a:r>
              <a:rPr lang="zh-CN" altLang="en-US" sz="2800" b="1" dirty="0">
                <a:effectLst>
                  <a:outerShdw blurRad="38100" dist="38100" dir="2700000" algn="tl">
                    <a:srgbClr val="000000">
                      <a:alpha val="43137"/>
                    </a:srgbClr>
                  </a:outerShdw>
                </a:effectLst>
                <a:latin typeface="+mn-ea"/>
              </a:rPr>
              <a:t>认真复习</a:t>
            </a:r>
            <a:r>
              <a:rPr lang="en-US" altLang="zh-CN" sz="2800" b="1" dirty="0">
                <a:effectLst>
                  <a:outerShdw blurRad="38100" dist="38100" dir="2700000" algn="tl">
                    <a:srgbClr val="000000">
                      <a:alpha val="43137"/>
                    </a:srgbClr>
                  </a:outerShdw>
                </a:effectLst>
                <a:latin typeface="+mn-ea"/>
              </a:rPr>
              <a:t>——</a:t>
            </a:r>
            <a:r>
              <a:rPr lang="zh-CN" altLang="en-US" sz="2800" b="1" dirty="0">
                <a:effectLst>
                  <a:outerShdw blurRad="38100" dist="38100" dir="2700000" algn="tl">
                    <a:srgbClr val="000000">
                      <a:alpha val="43137"/>
                    </a:srgbClr>
                  </a:outerShdw>
                </a:effectLst>
                <a:latin typeface="+mn-ea"/>
              </a:rPr>
              <a:t>按时完成作业</a:t>
            </a:r>
          </a:p>
        </p:txBody>
      </p:sp>
      <p:sp>
        <p:nvSpPr>
          <p:cNvPr id="4" name="内容占位符 3"/>
          <p:cNvSpPr>
            <a:spLocks noGrp="1"/>
          </p:cNvSpPr>
          <p:nvPr>
            <p:ph sz="quarter" idx="4294967295"/>
          </p:nvPr>
        </p:nvSpPr>
        <p:spPr>
          <a:xfrm>
            <a:off x="1000919" y="3483177"/>
            <a:ext cx="3000375" cy="642938"/>
          </a:xfrm>
        </p:spPr>
        <p:txBody>
          <a:bodyPr rtlCol="0">
            <a:normAutofit/>
          </a:bodyPr>
          <a:lstStyle/>
          <a:p>
            <a:pPr eaLnBrk="1" fontAlgn="auto" hangingPunct="1">
              <a:spcAft>
                <a:spcPts val="0"/>
              </a:spcAft>
              <a:buNone/>
              <a:defRPr/>
            </a:pPr>
            <a:r>
              <a:rPr lang="en-US" altLang="zh-CN" sz="2800" b="1" dirty="0">
                <a:effectLst>
                  <a:outerShdw blurRad="38100" dist="38100" dir="2700000" algn="tl">
                    <a:srgbClr val="000000">
                      <a:alpha val="43137"/>
                    </a:srgbClr>
                  </a:outerShdw>
                </a:effectLst>
                <a:latin typeface="+mn-ea"/>
              </a:rPr>
              <a:t>2</a:t>
            </a:r>
            <a:r>
              <a:rPr lang="zh-CN" altLang="en-US" sz="2800" b="1" dirty="0">
                <a:effectLst>
                  <a:outerShdw blurRad="38100" dist="38100" dir="2700000" algn="tl">
                    <a:srgbClr val="000000">
                      <a:alpha val="43137"/>
                    </a:srgbClr>
                  </a:outerShdw>
                </a:effectLst>
                <a:latin typeface="+mn-ea"/>
              </a:rPr>
              <a:t>）需经常分析：</a:t>
            </a:r>
            <a:endParaRPr lang="en-US" altLang="zh-CN" sz="2800" b="1" dirty="0">
              <a:effectLst>
                <a:outerShdw blurRad="38100" dist="38100" dir="2700000" algn="tl">
                  <a:srgbClr val="000000">
                    <a:alpha val="43137"/>
                  </a:srgbClr>
                </a:outerShdw>
              </a:effectLst>
              <a:latin typeface="+mn-ea"/>
            </a:endParaRPr>
          </a:p>
          <a:p>
            <a:pPr eaLnBrk="1" fontAlgn="auto" hangingPunct="1">
              <a:spcAft>
                <a:spcPts val="0"/>
              </a:spcAft>
              <a:buNone/>
              <a:defRPr/>
            </a:pPr>
            <a:endParaRPr lang="zh-CN" altLang="en-US" dirty="0">
              <a:latin typeface="黑体" pitchFamily="2" charset="-122"/>
              <a:ea typeface="黑体" pitchFamily="2" charset="-122"/>
            </a:endParaRPr>
          </a:p>
        </p:txBody>
      </p:sp>
      <p:sp>
        <p:nvSpPr>
          <p:cNvPr id="6" name="矩形 5"/>
          <p:cNvSpPr>
            <a:spLocks noChangeArrowheads="1"/>
          </p:cNvSpPr>
          <p:nvPr/>
        </p:nvSpPr>
        <p:spPr bwMode="auto">
          <a:xfrm>
            <a:off x="3536951" y="4018958"/>
            <a:ext cx="1008063" cy="584200"/>
          </a:xfrm>
          <a:prstGeom prst="rect">
            <a:avLst/>
          </a:prstGeom>
          <a:noFill/>
          <a:ln w="9525">
            <a:noFill/>
            <a:miter lim="800000"/>
            <a:headEnd/>
            <a:tailEnd/>
          </a:ln>
        </p:spPr>
        <p:txBody>
          <a:bodyPr wrap="none">
            <a:spAutoFit/>
          </a:bodyPr>
          <a:lstStyle/>
          <a:p>
            <a:r>
              <a:rPr lang="zh-CN" altLang="en-US" sz="3200" b="1"/>
              <a:t>物体</a:t>
            </a:r>
          </a:p>
        </p:txBody>
      </p:sp>
      <p:sp>
        <p:nvSpPr>
          <p:cNvPr id="7" name="矩形 6"/>
          <p:cNvSpPr>
            <a:spLocks noChangeArrowheads="1"/>
          </p:cNvSpPr>
          <p:nvPr/>
        </p:nvSpPr>
        <p:spPr bwMode="auto">
          <a:xfrm>
            <a:off x="5822951" y="4090395"/>
            <a:ext cx="2786063" cy="584200"/>
          </a:xfrm>
          <a:prstGeom prst="rect">
            <a:avLst/>
          </a:prstGeom>
          <a:noFill/>
          <a:ln w="9525">
            <a:noFill/>
            <a:miter lim="800000"/>
            <a:headEnd/>
            <a:tailEnd/>
          </a:ln>
        </p:spPr>
        <p:txBody>
          <a:bodyPr>
            <a:spAutoFit/>
          </a:bodyPr>
          <a:lstStyle/>
          <a:p>
            <a:r>
              <a:rPr lang="zh-CN" altLang="en-US" sz="3200" b="1" u="sng"/>
              <a:t>图</a:t>
            </a:r>
            <a:r>
              <a:rPr lang="zh-CN" altLang="en-US" sz="3200" b="1"/>
              <a:t>（投影图）</a:t>
            </a:r>
          </a:p>
        </p:txBody>
      </p:sp>
      <p:sp>
        <p:nvSpPr>
          <p:cNvPr id="8" name="矩形 7"/>
          <p:cNvSpPr>
            <a:spLocks noChangeArrowheads="1"/>
          </p:cNvSpPr>
          <p:nvPr/>
        </p:nvSpPr>
        <p:spPr bwMode="auto">
          <a:xfrm>
            <a:off x="8394700" y="4090396"/>
            <a:ext cx="1416050" cy="461963"/>
          </a:xfrm>
          <a:prstGeom prst="rect">
            <a:avLst/>
          </a:prstGeom>
          <a:noFill/>
          <a:ln w="9525">
            <a:noFill/>
            <a:miter lim="800000"/>
            <a:headEnd/>
            <a:tailEnd/>
          </a:ln>
        </p:spPr>
        <p:txBody>
          <a:bodyPr wrap="none">
            <a:spAutoFit/>
          </a:bodyPr>
          <a:lstStyle/>
          <a:p>
            <a:r>
              <a:rPr lang="zh-CN" altLang="en-US" b="1" u="sng"/>
              <a:t>对应关系</a:t>
            </a:r>
            <a:endParaRPr lang="zh-CN" altLang="en-US" b="1"/>
          </a:p>
        </p:txBody>
      </p:sp>
      <p:sp>
        <p:nvSpPr>
          <p:cNvPr id="9" name="矩形 8"/>
          <p:cNvSpPr>
            <a:spLocks noChangeArrowheads="1"/>
          </p:cNvSpPr>
          <p:nvPr/>
        </p:nvSpPr>
        <p:spPr bwMode="auto">
          <a:xfrm>
            <a:off x="4037013" y="3590333"/>
            <a:ext cx="3878262" cy="461962"/>
          </a:xfrm>
          <a:prstGeom prst="rect">
            <a:avLst/>
          </a:prstGeom>
          <a:noFill/>
          <a:ln w="9525">
            <a:noFill/>
            <a:miter lim="800000"/>
            <a:headEnd/>
            <a:tailEnd/>
          </a:ln>
        </p:spPr>
        <p:txBody>
          <a:bodyPr wrap="none">
            <a:spAutoFit/>
          </a:bodyPr>
          <a:lstStyle/>
          <a:p>
            <a:r>
              <a:rPr lang="zh-CN" altLang="en-US" b="1">
                <a:solidFill>
                  <a:srgbClr val="FF0000"/>
                </a:solidFill>
              </a:rPr>
              <a:t>空间分析（分析空间形体）</a:t>
            </a:r>
          </a:p>
        </p:txBody>
      </p:sp>
      <p:sp>
        <p:nvSpPr>
          <p:cNvPr id="10" name="右箭头 9"/>
          <p:cNvSpPr/>
          <p:nvPr/>
        </p:nvSpPr>
        <p:spPr>
          <a:xfrm>
            <a:off x="4751389" y="4161833"/>
            <a:ext cx="1000125" cy="2143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801" name="Rectangle 1"/>
          <p:cNvSpPr>
            <a:spLocks noChangeArrowheads="1"/>
          </p:cNvSpPr>
          <p:nvPr/>
        </p:nvSpPr>
        <p:spPr bwMode="auto">
          <a:xfrm>
            <a:off x="2822575" y="4876208"/>
            <a:ext cx="5429250" cy="461962"/>
          </a:xfrm>
          <a:prstGeom prst="rect">
            <a:avLst/>
          </a:prstGeom>
          <a:noFill/>
          <a:ln w="9525">
            <a:noFill/>
            <a:miter lim="800000"/>
            <a:headEnd/>
            <a:tailEnd/>
          </a:ln>
        </p:spPr>
        <p:txBody>
          <a:bodyPr anchor="ctr">
            <a:spAutoFit/>
          </a:bodyPr>
          <a:lstStyle/>
          <a:p>
            <a:pPr indent="1447800" eaLnBrk="0" hangingPunct="0"/>
            <a:r>
              <a:rPr lang="zh-CN" altLang="en-US" b="1">
                <a:solidFill>
                  <a:srgbClr val="FF0000"/>
                </a:solidFill>
              </a:rPr>
              <a:t>投影规律（分析平面图形</a:t>
            </a:r>
            <a:r>
              <a:rPr lang="zh-CN" altLang="en-US" b="1"/>
              <a:t>）</a:t>
            </a:r>
          </a:p>
        </p:txBody>
      </p:sp>
      <p:sp>
        <p:nvSpPr>
          <p:cNvPr id="12" name="左箭头 11"/>
          <p:cNvSpPr/>
          <p:nvPr/>
        </p:nvSpPr>
        <p:spPr>
          <a:xfrm>
            <a:off x="4751389" y="4447583"/>
            <a:ext cx="1000125" cy="18891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内容占位符 2"/>
          <p:cNvSpPr txBox="1">
            <a:spLocks/>
          </p:cNvSpPr>
          <p:nvPr/>
        </p:nvSpPr>
        <p:spPr bwMode="auto">
          <a:xfrm>
            <a:off x="814554" y="5176838"/>
            <a:ext cx="10323180" cy="1500187"/>
          </a:xfrm>
          <a:prstGeom prst="rect">
            <a:avLst/>
          </a:prstGeom>
          <a:noFill/>
          <a:ln w="9525">
            <a:noFill/>
            <a:miter lim="800000"/>
            <a:headEnd/>
            <a:tailEnd/>
          </a:ln>
        </p:spPr>
        <p:txBody>
          <a:bodyPr>
            <a:normAutofit fontScale="85000" lnSpcReduction="20000"/>
          </a:bodyPr>
          <a:lstStyle/>
          <a:p>
            <a:pPr marL="342900" indent="-342900" fontAlgn="auto">
              <a:spcBef>
                <a:spcPct val="20000"/>
              </a:spcBef>
              <a:spcAft>
                <a:spcPts val="0"/>
              </a:spcAft>
              <a:defRPr/>
            </a:pPr>
            <a:r>
              <a:rPr lang="en-US" altLang="zh-CN" sz="3000" b="1" dirty="0">
                <a:effectLst>
                  <a:outerShdw blurRad="38100" dist="38100" dir="2700000" algn="tl">
                    <a:srgbClr val="000000">
                      <a:alpha val="43137"/>
                    </a:srgbClr>
                  </a:outerShdw>
                </a:effectLst>
                <a:latin typeface="+mn-ea"/>
                <a:ea typeface="+mn-ea"/>
              </a:rPr>
              <a:t> </a:t>
            </a:r>
            <a:r>
              <a:rPr lang="en-US" altLang="zh-CN" sz="3300" b="1" dirty="0">
                <a:effectLst>
                  <a:outerShdw blurRad="38100" dist="38100" dir="2700000" algn="tl">
                    <a:srgbClr val="000000">
                      <a:alpha val="43137"/>
                    </a:srgbClr>
                  </a:outerShdw>
                </a:effectLst>
                <a:latin typeface="+mn-ea"/>
                <a:ea typeface="+mn-ea"/>
              </a:rPr>
              <a:t>3</a:t>
            </a:r>
            <a:r>
              <a:rPr lang="zh-CN" altLang="en-US" sz="3300" b="1" dirty="0">
                <a:effectLst>
                  <a:outerShdw blurRad="38100" dist="38100" dir="2700000" algn="tl">
                    <a:srgbClr val="000000">
                      <a:alpha val="43137"/>
                    </a:srgbClr>
                  </a:outerShdw>
                </a:effectLst>
                <a:latin typeface="+mn-ea"/>
                <a:ea typeface="+mn-ea"/>
              </a:rPr>
              <a:t>）学会作图方法：</a:t>
            </a:r>
            <a:endParaRPr lang="en-US" altLang="zh-CN" sz="3300" b="1" dirty="0">
              <a:effectLst>
                <a:outerShdw blurRad="38100" dist="38100" dir="2700000" algn="tl">
                  <a:srgbClr val="000000">
                    <a:alpha val="43137"/>
                  </a:srgbClr>
                </a:outerShdw>
              </a:effectLst>
              <a:latin typeface="+mn-ea"/>
              <a:ea typeface="+mn-ea"/>
            </a:endParaRPr>
          </a:p>
          <a:p>
            <a:pPr fontAlgn="auto">
              <a:spcBef>
                <a:spcPts val="0"/>
              </a:spcBef>
              <a:spcAft>
                <a:spcPts val="0"/>
              </a:spcAft>
              <a:defRPr/>
            </a:pPr>
            <a:r>
              <a:rPr kumimoji="0" lang="zh-CN" altLang="en-US" sz="3200" dirty="0">
                <a:latin typeface="宋体" pitchFamily="2" charset="-122"/>
                <a:ea typeface="+mn-ea"/>
              </a:rPr>
              <a:t>    </a:t>
            </a:r>
            <a:endParaRPr kumimoji="0" lang="en-US" altLang="zh-CN" sz="3200" dirty="0">
              <a:latin typeface="宋体" pitchFamily="2" charset="-122"/>
              <a:ea typeface="+mn-ea"/>
            </a:endParaRPr>
          </a:p>
          <a:p>
            <a:pPr fontAlgn="auto">
              <a:spcBef>
                <a:spcPts val="0"/>
              </a:spcBef>
              <a:spcAft>
                <a:spcPts val="0"/>
              </a:spcAft>
              <a:defRPr/>
            </a:pPr>
            <a:r>
              <a:rPr kumimoji="0" lang="en-US" altLang="zh-CN" sz="3200" dirty="0">
                <a:latin typeface="宋体" pitchFamily="2" charset="-122"/>
                <a:ea typeface="+mn-ea"/>
              </a:rPr>
              <a:t>     </a:t>
            </a:r>
            <a:r>
              <a:rPr kumimoji="0" lang="zh-CN" altLang="en-US" sz="3300" b="1" dirty="0">
                <a:latin typeface="宋体" pitchFamily="2" charset="-122"/>
                <a:ea typeface="+mn-ea"/>
              </a:rPr>
              <a:t>会使用绘图仪器绘制工程图，养成认真、仔细、严肃的工作作风。</a:t>
            </a:r>
          </a:p>
          <a:p>
            <a:pPr marL="342900" indent="-342900" fontAlgn="auto">
              <a:spcBef>
                <a:spcPct val="20000"/>
              </a:spcBef>
              <a:spcAft>
                <a:spcPts val="0"/>
              </a:spcAft>
              <a:buFont typeface="Arial" pitchFamily="34" charset="0"/>
              <a:buChar char="•"/>
              <a:defRPr/>
            </a:pPr>
            <a:endParaRPr kumimoji="0" lang="zh-CN" altLang="en-US" sz="3200" dirty="0">
              <a:latin typeface="+mn-lt"/>
              <a:ea typeface="+mn-ea"/>
            </a:endParaRPr>
          </a:p>
        </p:txBody>
      </p:sp>
      <p:sp>
        <p:nvSpPr>
          <p:cNvPr id="14" name="标题 1"/>
          <p:cNvSpPr txBox="1">
            <a:spLocks/>
          </p:cNvSpPr>
          <p:nvPr/>
        </p:nvSpPr>
        <p:spPr>
          <a:xfrm>
            <a:off x="973109" y="1359690"/>
            <a:ext cx="3143250" cy="561975"/>
          </a:xfrm>
          <a:prstGeom prst="rect">
            <a:avLst/>
          </a:prstGeom>
        </p:spPr>
        <p:txBody>
          <a:bodyPr anchor="ctr">
            <a:normAutofit/>
          </a:bodyPr>
          <a:lstStyle/>
          <a:p>
            <a:pPr algn="ctr" fontAlgn="auto">
              <a:spcAft>
                <a:spcPts val="0"/>
              </a:spcAft>
              <a:defRPr/>
            </a:pPr>
            <a:r>
              <a:rPr kumimoji="0" lang="zh-CN" altLang="en-US" sz="2800" b="1" dirty="0">
                <a:solidFill>
                  <a:srgbClr val="002060"/>
                </a:solidFill>
                <a:latin typeface="黑体" pitchFamily="49" charset="-122"/>
                <a:ea typeface="黑体" pitchFamily="49" charset="-122"/>
              </a:rPr>
              <a:t>怎么学才能学好？</a:t>
            </a:r>
            <a:endParaRPr kumimoji="0" lang="zh-CN" altLang="en-US" sz="2800" b="1" dirty="0">
              <a:solidFill>
                <a:srgbClr val="002060"/>
              </a:solidFill>
              <a:latin typeface="黑体" pitchFamily="49" charset="-122"/>
              <a:ea typeface="黑体" pitchFamily="49" charset="-122"/>
              <a:cs typeface="+mj-cs"/>
            </a:endParaRPr>
          </a:p>
        </p:txBody>
      </p:sp>
      <p:sp>
        <p:nvSpPr>
          <p:cNvPr id="15" name="标题 1"/>
          <p:cNvSpPr txBox="1">
            <a:spLocks/>
          </p:cNvSpPr>
          <p:nvPr/>
        </p:nvSpPr>
        <p:spPr>
          <a:xfrm>
            <a:off x="4452937" y="408753"/>
            <a:ext cx="3286125" cy="714375"/>
          </a:xfrm>
          <a:prstGeom prst="rect">
            <a:avLst/>
          </a:prstGeom>
        </p:spPr>
        <p:txBody>
          <a:bodyPr anchor="ctr">
            <a:normAutofit/>
          </a:bodyPr>
          <a:lstStyle/>
          <a:p>
            <a:pPr algn="ctr" fontAlgn="auto">
              <a:spcAft>
                <a:spcPts val="0"/>
              </a:spcAft>
              <a:defRPr/>
            </a:pPr>
            <a:r>
              <a:rPr kumimoji="0" lang="zh-CN" altLang="en-US" sz="3600" b="1" dirty="0">
                <a:solidFill>
                  <a:schemeClr val="tx2"/>
                </a:solidFill>
                <a:latin typeface="黑体" pitchFamily="2" charset="-122"/>
                <a:ea typeface="黑体" pitchFamily="2" charset="-122"/>
                <a:cs typeface="+mj-cs"/>
              </a:rPr>
              <a:t>绪  论</a:t>
            </a:r>
          </a:p>
        </p:txBody>
      </p:sp>
      <p:sp>
        <p:nvSpPr>
          <p:cNvPr id="16" name="矩形 15">
            <a:extLst>
              <a:ext uri="{FF2B5EF4-FFF2-40B4-BE49-F238E27FC236}">
                <a16:creationId xmlns:a16="http://schemas.microsoft.com/office/drawing/2014/main" id="{07EFE812-01AF-44EB-A98C-7E641C3FBAC8}"/>
              </a:ext>
            </a:extLst>
          </p:cNvPr>
          <p:cNvSpPr/>
          <p:nvPr/>
        </p:nvSpPr>
        <p:spPr>
          <a:xfrm>
            <a:off x="2135560" y="1846933"/>
            <a:ext cx="8280920" cy="954107"/>
          </a:xfrm>
          <a:prstGeom prst="rect">
            <a:avLst/>
          </a:prstGeom>
        </p:spPr>
        <p:txBody>
          <a:bodyPr wrap="square">
            <a:spAutoFit/>
          </a:bodyPr>
          <a:lstStyle/>
          <a:p>
            <a:pPr algn="ctr"/>
            <a:r>
              <a:rPr lang="zh-CN" altLang="en-US" sz="2800" dirty="0">
                <a:latin typeface="黑体" panose="02010609060101010101" pitchFamily="49" charset="-122"/>
                <a:ea typeface="黑体" panose="02010609060101010101" pitchFamily="49" charset="-122"/>
              </a:rPr>
              <a:t>即注重基本概念和基本规律的掌握，又要注重实践，多观察、思考、研讨自己身边的所见产品</a:t>
            </a:r>
          </a:p>
        </p:txBody>
      </p:sp>
    </p:spTree>
    <p:extLst>
      <p:ext uri="{BB962C8B-B14F-4D97-AF65-F5344CB8AC3E}">
        <p14:creationId xmlns:p14="http://schemas.microsoft.com/office/powerpoint/2010/main" val="144885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14"/>
                                        </p:tgtEl>
                                        <p:attrNameLst>
                                          <p:attrName>style.visibility</p:attrName>
                                        </p:attrNameLst>
                                      </p:cBhvr>
                                      <p:to>
                                        <p:strVal val="visible"/>
                                      </p:to>
                                    </p:set>
                                    <p:anim calcmode="discrete" valueType="clr">
                                      <p:cBhvr override="childStyle">
                                        <p:cTn id="7" dur="80"/>
                                        <p:tgtEl>
                                          <p:spTgt spid="1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4"/>
                                        </p:tgtEl>
                                        <p:attrNameLst>
                                          <p:attrName>fillcolor</p:attrName>
                                        </p:attrNameLst>
                                      </p:cBhvr>
                                      <p:tavLst>
                                        <p:tav tm="0">
                                          <p:val>
                                            <p:clrVal>
                                              <a:schemeClr val="accent2"/>
                                            </p:clrVal>
                                          </p:val>
                                        </p:tav>
                                        <p:tav tm="50000">
                                          <p:val>
                                            <p:clrVal>
                                              <a:schemeClr val="hlink"/>
                                            </p:clrVal>
                                          </p:val>
                                        </p:tav>
                                      </p:tavLst>
                                    </p:anim>
                                    <p:set>
                                      <p:cBhvr>
                                        <p:cTn id="9" dur="80"/>
                                        <p:tgtEl>
                                          <p:spTgt spid="1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additive="base">
                                        <p:cTn id="14" dur="500"/>
                                        <p:tgtEl>
                                          <p:spTgt spid="16"/>
                                        </p:tgtEl>
                                        <p:attrNameLst>
                                          <p:attrName>ppt_y</p:attrName>
                                        </p:attrNameLst>
                                      </p:cBhvr>
                                      <p:tavLst>
                                        <p:tav tm="0">
                                          <p:val>
                                            <p:strVal val="#ppt_y+#ppt_h*1.125000"/>
                                          </p:val>
                                        </p:tav>
                                        <p:tav tm="100000">
                                          <p:val>
                                            <p:strVal val="#ppt_y"/>
                                          </p:val>
                                        </p:tav>
                                      </p:tavLst>
                                    </p:anim>
                                    <p:animEffect transition="in" filter="wipe(up)">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wipe(up)">
                                      <p:cBhvr>
                                        <p:cTn id="20" dur="1000"/>
                                        <p:tgtEl>
                                          <p:spTgt spid="3">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wipe(left)">
                                      <p:cBhvr>
                                        <p:cTn id="25" dur="500"/>
                                        <p:tgtEl>
                                          <p:spTgt spid="4">
                                            <p:txEl>
                                              <p:pRg st="0" end="0"/>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500"/>
                                        <p:tgtEl>
                                          <p:spTgt spid="7"/>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53"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 calcmode="lin" valueType="num">
                                      <p:cBhvr>
                                        <p:cTn id="40" dur="500" fill="hold"/>
                                        <p:tgtEl>
                                          <p:spTgt spid="8"/>
                                        </p:tgtEl>
                                        <p:attrNameLst>
                                          <p:attrName>ppt_w</p:attrName>
                                        </p:attrNameLst>
                                      </p:cBhvr>
                                      <p:tavLst>
                                        <p:tav tm="0">
                                          <p:val>
                                            <p:fltVal val="0"/>
                                          </p:val>
                                        </p:tav>
                                        <p:tav tm="100000">
                                          <p:val>
                                            <p:strVal val="#ppt_w"/>
                                          </p:val>
                                        </p:tav>
                                      </p:tavLst>
                                    </p:anim>
                                    <p:anim calcmode="lin" valueType="num">
                                      <p:cBhvr>
                                        <p:cTn id="41" dur="500" fill="hold"/>
                                        <p:tgtEl>
                                          <p:spTgt spid="8"/>
                                        </p:tgtEl>
                                        <p:attrNameLst>
                                          <p:attrName>ppt_h</p:attrName>
                                        </p:attrNameLst>
                                      </p:cBhvr>
                                      <p:tavLst>
                                        <p:tav tm="0">
                                          <p:val>
                                            <p:fltVal val="0"/>
                                          </p:val>
                                        </p:tav>
                                        <p:tav tm="100000">
                                          <p:val>
                                            <p:strVal val="#ppt_h"/>
                                          </p:val>
                                        </p:tav>
                                      </p:tavLst>
                                    </p:anim>
                                    <p:animEffect transition="in" filter="fade">
                                      <p:cBhvr>
                                        <p:cTn id="42" dur="500"/>
                                        <p:tgtEl>
                                          <p:spTgt spid="8"/>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
                                            <p:txEl>
                                              <p:pRg st="0" end="0"/>
                                            </p:txEl>
                                          </p:spTgt>
                                        </p:tgtEl>
                                        <p:attrNameLst>
                                          <p:attrName>style.visibility</p:attrName>
                                        </p:attrNameLst>
                                      </p:cBhvr>
                                      <p:to>
                                        <p:strVal val="visible"/>
                                      </p:to>
                                    </p:set>
                                    <p:animEffect transition="in" filter="wipe(left)">
                                      <p:cBhvr>
                                        <p:cTn id="47" dur="500"/>
                                        <p:tgtEl>
                                          <p:spTgt spid="9">
                                            <p:txEl>
                                              <p:pRg st="0" end="0"/>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76801"/>
                                        </p:tgtEl>
                                        <p:attrNameLst>
                                          <p:attrName>style.visibility</p:attrName>
                                        </p:attrNameLst>
                                      </p:cBhvr>
                                      <p:to>
                                        <p:strVal val="visible"/>
                                      </p:to>
                                    </p:set>
                                    <p:animEffect transition="in" filter="fade">
                                      <p:cBhvr>
                                        <p:cTn id="57" dur="500"/>
                                        <p:tgtEl>
                                          <p:spTgt spid="76801"/>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8" fill="hold">
                      <p:stCondLst>
                        <p:cond delay="indefinite"/>
                      </p:stCondLst>
                      <p:childTnLst>
                        <p:par>
                          <p:cTn id="59" fill="hold">
                            <p:stCondLst>
                              <p:cond delay="0"/>
                            </p:stCondLst>
                            <p:childTnLst>
                              <p:par>
                                <p:cTn id="60" presetID="22" presetClass="entr" presetSubtype="2"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ipe(right)">
                                      <p:cBhvr>
                                        <p:cTn id="62" dur="500"/>
                                        <p:tgtEl>
                                          <p:spTgt spid="12"/>
                                        </p:tgtEl>
                                      </p:cBhvr>
                                    </p:animEffect>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13">
                                            <p:txEl>
                                              <p:pRg st="0" end="0"/>
                                            </p:txEl>
                                          </p:spTgt>
                                        </p:tgtEl>
                                        <p:attrNameLst>
                                          <p:attrName>style.visibility</p:attrName>
                                        </p:attrNameLst>
                                      </p:cBhvr>
                                      <p:to>
                                        <p:strVal val="visible"/>
                                      </p:to>
                                    </p:set>
                                    <p:animEffect transition="in" filter="wipe(up)">
                                      <p:cBhvr>
                                        <p:cTn id="67" dur="500"/>
                                        <p:tgtEl>
                                          <p:spTgt spid="13">
                                            <p:txEl>
                                              <p:pRg st="0" end="0"/>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4" name="coin.wav"/>
                                        </p:tgtEl>
                                      </p:cMediaNode>
                                    </p:audio>
                                  </p:sub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13">
                                            <p:txEl>
                                              <p:pRg st="1" end="1"/>
                                            </p:txEl>
                                          </p:spTgt>
                                        </p:tgtEl>
                                        <p:attrNameLst>
                                          <p:attrName>style.visibility</p:attrName>
                                        </p:attrNameLst>
                                      </p:cBhvr>
                                      <p:to>
                                        <p:strVal val="visible"/>
                                      </p:to>
                                    </p:set>
                                    <p:animEffect transition="in" filter="wipe(up)">
                                      <p:cBhvr>
                                        <p:cTn id="72" dur="500"/>
                                        <p:tgtEl>
                                          <p:spTgt spid="13">
                                            <p:txEl>
                                              <p:pRg st="1" end="1"/>
                                            </p:txEl>
                                          </p:spTgt>
                                        </p:tgtEl>
                                      </p:cBhvr>
                                    </p:animEffect>
                                  </p:childTnLst>
                                  <p:subTnLst>
                                    <p:audio>
                                      <p:cMediaNode>
                                        <p:cTn display="0" masterRel="sameClick">
                                          <p:stCondLst>
                                            <p:cond evt="begin" delay="0">
                                              <p:tn val="70"/>
                                            </p:cond>
                                          </p:stCondLst>
                                          <p:endCondLst>
                                            <p:cond evt="onStopAudio" delay="0">
                                              <p:tgtEl>
                                                <p:sldTgt/>
                                              </p:tgtEl>
                                            </p:cond>
                                          </p:endCondLst>
                                        </p:cTn>
                                        <p:tgtEl>
                                          <p:sndTgt r:embed="rId4" name="coin.wav"/>
                                        </p:tgtEl>
                                      </p:cMediaNode>
                                    </p:audio>
                                  </p:sub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13">
                                            <p:txEl>
                                              <p:pRg st="2" end="2"/>
                                            </p:txEl>
                                          </p:spTgt>
                                        </p:tgtEl>
                                        <p:attrNameLst>
                                          <p:attrName>style.visibility</p:attrName>
                                        </p:attrNameLst>
                                      </p:cBhvr>
                                      <p:to>
                                        <p:strVal val="visible"/>
                                      </p:to>
                                    </p:set>
                                    <p:animEffect transition="in" filter="wipe(up)">
                                      <p:cBhvr>
                                        <p:cTn id="77" dur="500"/>
                                        <p:tgtEl>
                                          <p:spTgt spid="13">
                                            <p:txEl>
                                              <p:pRg st="2" end="2"/>
                                            </p:txEl>
                                          </p:spTgt>
                                        </p:tgtEl>
                                      </p:cBhvr>
                                    </p:animEffect>
                                  </p:childTnLst>
                                  <p:subTnLst>
                                    <p:audio>
                                      <p:cMediaNode>
                                        <p:cTn display="0" masterRel="sameClick">
                                          <p:stCondLst>
                                            <p:cond evt="begin" delay="0">
                                              <p:tn val="75"/>
                                            </p:cond>
                                          </p:stCondLst>
                                          <p:endCondLst>
                                            <p:cond evt="onStopAudio" delay="0">
                                              <p:tgtEl>
                                                <p:sldTgt/>
                                              </p:tgtEl>
                                            </p:cond>
                                          </p:endCondLst>
                                        </p:cTn>
                                        <p:tgtEl>
                                          <p:sndTgt r:embed="rId4" name="coin.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6" grpId="0"/>
      <p:bldP spid="7" grpId="0"/>
      <p:bldP spid="8" grpId="0"/>
      <p:bldP spid="10" grpId="0" animBg="1"/>
      <p:bldP spid="76801" grpId="0"/>
      <p:bldP spid="12" grpId="0" animBg="1"/>
      <p:bldP spid="13" grpId="0" build="p"/>
      <p:bldP spid="14"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内容占位符 2"/>
          <p:cNvSpPr txBox="1">
            <a:spLocks/>
          </p:cNvSpPr>
          <p:nvPr/>
        </p:nvSpPr>
        <p:spPr bwMode="auto">
          <a:xfrm>
            <a:off x="731402" y="2060848"/>
            <a:ext cx="10765197" cy="4388399"/>
          </a:xfrm>
          <a:prstGeom prst="rect">
            <a:avLst/>
          </a:prstGeom>
          <a:noFill/>
          <a:ln w="9525">
            <a:noFill/>
            <a:miter lim="800000"/>
            <a:headEnd/>
            <a:tailEnd/>
          </a:ln>
        </p:spPr>
        <p:txBody>
          <a:bodyPr>
            <a:noAutofit/>
          </a:bodyPr>
          <a:lstStyle/>
          <a:p>
            <a:pPr marL="342900" indent="-342900" fontAlgn="auto">
              <a:spcBef>
                <a:spcPct val="20000"/>
              </a:spcBef>
              <a:spcAft>
                <a:spcPts val="0"/>
              </a:spcAft>
              <a:defRPr/>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案例一：</a:t>
            </a:r>
            <a:endParaRPr lang="en-US" altLang="zh-CN" b="1" dirty="0">
              <a:latin typeface="黑体" panose="02010609060101010101" pitchFamily="49" charset="-122"/>
              <a:ea typeface="黑体" panose="02010609060101010101" pitchFamily="49" charset="-122"/>
            </a:endParaRPr>
          </a:p>
          <a:p>
            <a:pPr marL="342900" indent="-342900" fontAlgn="auto">
              <a:spcBef>
                <a:spcPct val="20000"/>
              </a:spcBef>
              <a:spcAft>
                <a:spcPts val="0"/>
              </a:spcAft>
              <a:defRPr/>
            </a:pPr>
            <a:r>
              <a:rPr lang="en-US" altLang="zh-CN" b="1" dirty="0">
                <a:latin typeface="黑体" panose="02010609060101010101" pitchFamily="49" charset="-122"/>
                <a:ea typeface="黑体" panose="02010609060101010101" pitchFamily="49" charset="-122"/>
              </a:rPr>
              <a:t>  1986</a:t>
            </a:r>
            <a:r>
              <a:rPr lang="zh-CN" altLang="en-US" b="1" dirty="0">
                <a:latin typeface="黑体" panose="02010609060101010101" pitchFamily="49" charset="-122"/>
                <a:ea typeface="黑体" panose="02010609060101010101" pitchFamily="49" charset="-122"/>
              </a:rPr>
              <a:t>年</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月</a:t>
            </a:r>
            <a:r>
              <a:rPr lang="en-US" altLang="zh-CN" b="1" dirty="0">
                <a:latin typeface="黑体" panose="02010609060101010101" pitchFamily="49" charset="-122"/>
                <a:ea typeface="黑体" panose="02010609060101010101" pitchFamily="49" charset="-122"/>
              </a:rPr>
              <a:t>28</a:t>
            </a:r>
            <a:r>
              <a:rPr lang="zh-CN" altLang="en-US" b="1" dirty="0">
                <a:latin typeface="黑体" panose="02010609060101010101" pitchFamily="49" charset="-122"/>
                <a:ea typeface="黑体" panose="02010609060101010101" pitchFamily="49" charset="-122"/>
              </a:rPr>
              <a:t>日，美国“挑战者”号航天飞机的失事</a:t>
            </a:r>
          </a:p>
          <a:p>
            <a:pPr marL="342900" indent="-342900" fontAlgn="auto">
              <a:spcBef>
                <a:spcPct val="20000"/>
              </a:spcBef>
              <a:spcAft>
                <a:spcPts val="0"/>
              </a:spcAft>
              <a:defRPr/>
            </a:pPr>
            <a:r>
              <a:rPr lang="zh-CN" altLang="en-US" b="1" dirty="0">
                <a:latin typeface="黑体" panose="02010609060101010101" pitchFamily="49" charset="-122"/>
                <a:ea typeface="黑体" panose="02010609060101010101" pitchFamily="49" charset="-122"/>
              </a:rPr>
              <a:t>  导致这次惨祸的直接原因：航天飞机右侧固体火箭助推器的</a:t>
            </a:r>
            <a:r>
              <a:rPr lang="zh-CN" altLang="en-US" b="1" dirty="0">
                <a:solidFill>
                  <a:srgbClr val="FF0000"/>
                </a:solidFill>
                <a:latin typeface="黑体" panose="02010609060101010101" pitchFamily="49" charset="-122"/>
                <a:ea typeface="黑体" panose="02010609060101010101" pitchFamily="49" charset="-122"/>
              </a:rPr>
              <a:t>密封装置失效</a:t>
            </a:r>
            <a:r>
              <a:rPr lang="zh-CN" altLang="en-US" b="1" dirty="0">
                <a:latin typeface="黑体" panose="02010609060101010101" pitchFamily="49" charset="-122"/>
                <a:ea typeface="黑体" panose="02010609060101010101" pitchFamily="49" charset="-122"/>
              </a:rPr>
              <a:t>，致使燃气外泄，喷出火舌，引起推进剂贮箱的爆炸。</a:t>
            </a:r>
          </a:p>
          <a:p>
            <a:pPr marL="342900" indent="-342900" fontAlgn="auto">
              <a:spcBef>
                <a:spcPct val="20000"/>
              </a:spcBef>
              <a:spcAft>
                <a:spcPts val="0"/>
              </a:spcAft>
              <a:defRPr/>
            </a:pPr>
            <a:r>
              <a:rPr lang="zh-CN" altLang="en-US" b="1" dirty="0">
                <a:latin typeface="黑体" panose="02010609060101010101" pitchFamily="49" charset="-122"/>
                <a:ea typeface="黑体" panose="02010609060101010101" pitchFamily="49" charset="-122"/>
              </a:rPr>
              <a:t>  除了设计上的缺陷外，发射时气温过低也是一个直接的诱因，使合成橡胶失去弹性，</a:t>
            </a:r>
            <a:r>
              <a:rPr lang="zh-CN" altLang="en-US" b="1" dirty="0">
                <a:solidFill>
                  <a:srgbClr val="FF0000"/>
                </a:solidFill>
                <a:latin typeface="黑体" panose="02010609060101010101" pitchFamily="49" charset="-122"/>
                <a:ea typeface="黑体" panose="02010609060101010101" pitchFamily="49" charset="-122"/>
              </a:rPr>
              <a:t>丧失密封</a:t>
            </a:r>
            <a:r>
              <a:rPr lang="zh-CN" altLang="en-US" b="1" dirty="0">
                <a:latin typeface="黑体" panose="02010609060101010101" pitchFamily="49" charset="-122"/>
                <a:ea typeface="黑体" panose="02010609060101010101" pitchFamily="49" charset="-122"/>
              </a:rPr>
              <a:t>作用。</a:t>
            </a:r>
          </a:p>
          <a:p>
            <a:pPr marL="342900" indent="-342900" fontAlgn="auto">
              <a:spcBef>
                <a:spcPct val="20000"/>
              </a:spcBef>
              <a:spcAft>
                <a:spcPts val="0"/>
              </a:spcAft>
              <a:defRPr/>
            </a:pPr>
            <a:r>
              <a:rPr lang="zh-CN" altLang="en-US" b="1" dirty="0">
                <a:latin typeface="黑体" panose="02010609060101010101" pitchFamily="49" charset="-122"/>
                <a:ea typeface="黑体" panose="02010609060101010101" pitchFamily="49" charset="-122"/>
              </a:rPr>
              <a:t>  在前几次飞行时，已经发现橡胶密封圈有移位、腐蚀或烧坏的情况。美国航天局已了解到这个情况，并把它列为要优先解决的课题，但未付诸实施。</a:t>
            </a:r>
          </a:p>
          <a:p>
            <a:pPr marL="342900" indent="-342900" fontAlgn="auto">
              <a:spcBef>
                <a:spcPct val="20000"/>
              </a:spcBef>
              <a:spcAft>
                <a:spcPts val="0"/>
              </a:spcAft>
              <a:defRPr/>
            </a:pPr>
            <a:r>
              <a:rPr lang="zh-CN" altLang="en-US" b="1" dirty="0">
                <a:latin typeface="黑体" panose="02010609060101010101" pitchFamily="49" charset="-122"/>
                <a:ea typeface="黑体" panose="02010609060101010101" pitchFamily="49" charset="-122"/>
              </a:rPr>
              <a:t>  </a:t>
            </a:r>
            <a:r>
              <a:rPr lang="zh-CN" altLang="en-US" b="1" dirty="0">
                <a:solidFill>
                  <a:srgbClr val="FF0000"/>
                </a:solidFill>
                <a:latin typeface="黑体" panose="02010609060101010101" pitchFamily="49" charset="-122"/>
                <a:ea typeface="黑体" panose="02010609060101010101" pitchFamily="49" charset="-122"/>
              </a:rPr>
              <a:t>似乎无足轻重的密封橡胶圈，竟导致了世界航天史上的这一最大空难</a:t>
            </a:r>
            <a:r>
              <a:rPr lang="zh-CN" altLang="en-US" b="1" dirty="0">
                <a:latin typeface="黑体" panose="02010609060101010101" pitchFamily="49" charset="-122"/>
                <a:ea typeface="黑体" panose="02010609060101010101" pitchFamily="49" charset="-122"/>
              </a:rPr>
              <a:t>，使</a:t>
            </a:r>
            <a:r>
              <a:rPr lang="en-US" altLang="zh-CN" b="1" dirty="0">
                <a:latin typeface="黑体" panose="02010609060101010101" pitchFamily="49" charset="-122"/>
                <a:ea typeface="黑体" panose="02010609060101010101" pitchFamily="49" charset="-122"/>
              </a:rPr>
              <a:t>7</a:t>
            </a:r>
            <a:r>
              <a:rPr lang="zh-CN" altLang="en-US" b="1" dirty="0">
                <a:latin typeface="黑体" panose="02010609060101010101" pitchFamily="49" charset="-122"/>
                <a:ea typeface="黑体" panose="02010609060101010101" pitchFamily="49" charset="-122"/>
              </a:rPr>
              <a:t>名风华正茂的宇航员魂丧长空，这一教训是十分深刻的。</a:t>
            </a:r>
            <a:endParaRPr kumimoji="0" lang="zh-CN" altLang="en-US" dirty="0">
              <a:latin typeface="黑体" panose="02010609060101010101" pitchFamily="49" charset="-122"/>
              <a:ea typeface="黑体" panose="02010609060101010101" pitchFamily="49" charset="-122"/>
            </a:endParaRPr>
          </a:p>
        </p:txBody>
      </p:sp>
      <p:sp>
        <p:nvSpPr>
          <p:cNvPr id="14" name="标题 1"/>
          <p:cNvSpPr txBox="1">
            <a:spLocks/>
          </p:cNvSpPr>
          <p:nvPr/>
        </p:nvSpPr>
        <p:spPr>
          <a:xfrm>
            <a:off x="973108" y="1359690"/>
            <a:ext cx="7715180" cy="561975"/>
          </a:xfrm>
          <a:prstGeom prst="rect">
            <a:avLst/>
          </a:prstGeom>
        </p:spPr>
        <p:txBody>
          <a:bodyPr anchor="ctr">
            <a:noAutofit/>
          </a:bodyPr>
          <a:lstStyle/>
          <a:p>
            <a:pPr algn="ctr" fontAlgn="auto">
              <a:spcAft>
                <a:spcPts val="0"/>
              </a:spcAft>
              <a:defRPr/>
            </a:pPr>
            <a:r>
              <a:rPr kumimoji="0" lang="zh-CN" altLang="en-US" sz="2800" b="1" dirty="0">
                <a:solidFill>
                  <a:srgbClr val="002060"/>
                </a:solidFill>
                <a:latin typeface="黑体" pitchFamily="49" charset="-122"/>
                <a:ea typeface="黑体" pitchFamily="49" charset="-122"/>
              </a:rPr>
              <a:t>为什么养成认真、仔细、严肃的工作作风？</a:t>
            </a:r>
            <a:endParaRPr kumimoji="0" lang="zh-CN" altLang="en-US" sz="2800" b="1" dirty="0">
              <a:solidFill>
                <a:srgbClr val="002060"/>
              </a:solidFill>
              <a:latin typeface="黑体" pitchFamily="49" charset="-122"/>
              <a:ea typeface="黑体" pitchFamily="49" charset="-122"/>
              <a:cs typeface="+mj-cs"/>
            </a:endParaRPr>
          </a:p>
        </p:txBody>
      </p:sp>
      <p:sp>
        <p:nvSpPr>
          <p:cNvPr id="15" name="标题 1"/>
          <p:cNvSpPr txBox="1">
            <a:spLocks/>
          </p:cNvSpPr>
          <p:nvPr/>
        </p:nvSpPr>
        <p:spPr>
          <a:xfrm>
            <a:off x="4452937" y="408753"/>
            <a:ext cx="3286125" cy="714375"/>
          </a:xfrm>
          <a:prstGeom prst="rect">
            <a:avLst/>
          </a:prstGeom>
        </p:spPr>
        <p:txBody>
          <a:bodyPr anchor="ctr">
            <a:normAutofit/>
          </a:bodyPr>
          <a:lstStyle/>
          <a:p>
            <a:pPr algn="ctr" fontAlgn="auto">
              <a:spcAft>
                <a:spcPts val="0"/>
              </a:spcAft>
              <a:defRPr/>
            </a:pPr>
            <a:r>
              <a:rPr kumimoji="0" lang="zh-CN" altLang="en-US" sz="3600" b="1" dirty="0">
                <a:solidFill>
                  <a:schemeClr val="tx2"/>
                </a:solidFill>
                <a:latin typeface="黑体" pitchFamily="2" charset="-122"/>
                <a:ea typeface="黑体" pitchFamily="2" charset="-122"/>
                <a:cs typeface="+mj-cs"/>
              </a:rPr>
              <a:t>绪  论</a:t>
            </a:r>
          </a:p>
        </p:txBody>
      </p:sp>
    </p:spTree>
    <p:extLst>
      <p:ext uri="{BB962C8B-B14F-4D97-AF65-F5344CB8AC3E}">
        <p14:creationId xmlns:p14="http://schemas.microsoft.com/office/powerpoint/2010/main" val="408745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14"/>
                                        </p:tgtEl>
                                        <p:attrNameLst>
                                          <p:attrName>style.visibility</p:attrName>
                                        </p:attrNameLst>
                                      </p:cBhvr>
                                      <p:to>
                                        <p:strVal val="visible"/>
                                      </p:to>
                                    </p:set>
                                    <p:anim calcmode="discrete" valueType="clr">
                                      <p:cBhvr override="childStyle">
                                        <p:cTn id="7" dur="80"/>
                                        <p:tgtEl>
                                          <p:spTgt spid="1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4"/>
                                        </p:tgtEl>
                                        <p:attrNameLst>
                                          <p:attrName>fillcolor</p:attrName>
                                        </p:attrNameLst>
                                      </p:cBhvr>
                                      <p:tavLst>
                                        <p:tav tm="0">
                                          <p:val>
                                            <p:clrVal>
                                              <a:schemeClr val="accent2"/>
                                            </p:clrVal>
                                          </p:val>
                                        </p:tav>
                                        <p:tav tm="50000">
                                          <p:val>
                                            <p:clrVal>
                                              <a:schemeClr val="hlink"/>
                                            </p:clrVal>
                                          </p:val>
                                        </p:tav>
                                      </p:tavLst>
                                    </p:anim>
                                    <p:set>
                                      <p:cBhvr>
                                        <p:cTn id="9" dur="80"/>
                                        <p:tgtEl>
                                          <p:spTgt spid="1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13">
                                            <p:txEl>
                                              <p:pRg st="0" end="0"/>
                                            </p:txEl>
                                          </p:spTgt>
                                        </p:tgtEl>
                                        <p:attrNameLst>
                                          <p:attrName>style.visibility</p:attrName>
                                        </p:attrNameLst>
                                      </p:cBhvr>
                                      <p:to>
                                        <p:strVal val="visible"/>
                                      </p:to>
                                    </p:set>
                                    <p:animEffect transition="in" filter="wipe(up)">
                                      <p:cBhvr>
                                        <p:cTn id="14" dur="500"/>
                                        <p:tgtEl>
                                          <p:spTgt spid="13">
                                            <p:txEl>
                                              <p:pRg st="0" end="0"/>
                                            </p:txEl>
                                          </p:spTgt>
                                        </p:tgtEl>
                                      </p:cBhvr>
                                    </p:animEffect>
                                  </p:childTnLst>
                                  <p:subTnLst>
                                    <p:audio>
                                      <p:cMediaNode>
                                        <p:cTn display="0" masterRel="sameClick">
                                          <p:stCondLst>
                                            <p:cond evt="begin" delay="0">
                                              <p:tn val="12"/>
                                            </p:cond>
                                          </p:stCondLst>
                                          <p:endCondLst>
                                            <p:cond evt="onStopAudio" delay="0">
                                              <p:tgtEl>
                                                <p:sldTgt/>
                                              </p:tgtEl>
                                            </p:cond>
                                          </p:endCondLst>
                                        </p:cTn>
                                        <p:tgtEl>
                                          <p:sndTgt r:embed="rId3" name="coin.wav"/>
                                        </p:tgtEl>
                                      </p:cMediaNode>
                                    </p:audio>
                                  </p:subTnLst>
                                </p:cTn>
                              </p:par>
                            </p:childTnLst>
                          </p:cTn>
                        </p:par>
                        <p:par>
                          <p:cTn id="15" fill="hold">
                            <p:stCondLst>
                              <p:cond delay="500"/>
                            </p:stCondLst>
                            <p:childTnLst>
                              <p:par>
                                <p:cTn id="16" presetID="22" presetClass="entr" presetSubtype="1" fill="hold" grpId="0" nodeType="afterEffect">
                                  <p:stCondLst>
                                    <p:cond delay="0"/>
                                  </p:stCondLst>
                                  <p:childTnLst>
                                    <p:set>
                                      <p:cBhvr>
                                        <p:cTn id="17" dur="1" fill="hold">
                                          <p:stCondLst>
                                            <p:cond delay="0"/>
                                          </p:stCondLst>
                                        </p:cTn>
                                        <p:tgtEl>
                                          <p:spTgt spid="13">
                                            <p:txEl>
                                              <p:pRg st="1" end="1"/>
                                            </p:txEl>
                                          </p:spTgt>
                                        </p:tgtEl>
                                        <p:attrNameLst>
                                          <p:attrName>style.visibility</p:attrName>
                                        </p:attrNameLst>
                                      </p:cBhvr>
                                      <p:to>
                                        <p:strVal val="visible"/>
                                      </p:to>
                                    </p:set>
                                    <p:animEffect transition="in" filter="wipe(up)">
                                      <p:cBhvr>
                                        <p:cTn id="18" dur="500"/>
                                        <p:tgtEl>
                                          <p:spTgt spid="13">
                                            <p:txEl>
                                              <p:pRg st="1" end="1"/>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coin.wav"/>
                                        </p:tgtEl>
                                      </p:cMediaNode>
                                    </p:audio>
                                  </p:subTnLst>
                                </p:cTn>
                              </p:par>
                              <p:par>
                                <p:cTn id="19" presetID="22" presetClass="entr" presetSubtype="1" fill="hold" grpId="0" nodeType="withEffect">
                                  <p:stCondLst>
                                    <p:cond delay="0"/>
                                  </p:stCondLst>
                                  <p:childTnLst>
                                    <p:set>
                                      <p:cBhvr>
                                        <p:cTn id="20" dur="1" fill="hold">
                                          <p:stCondLst>
                                            <p:cond delay="0"/>
                                          </p:stCondLst>
                                        </p:cTn>
                                        <p:tgtEl>
                                          <p:spTgt spid="13">
                                            <p:txEl>
                                              <p:pRg st="2" end="2"/>
                                            </p:txEl>
                                          </p:spTgt>
                                        </p:tgtEl>
                                        <p:attrNameLst>
                                          <p:attrName>style.visibility</p:attrName>
                                        </p:attrNameLst>
                                      </p:cBhvr>
                                      <p:to>
                                        <p:strVal val="visible"/>
                                      </p:to>
                                    </p:set>
                                    <p:animEffect transition="in" filter="wipe(up)">
                                      <p:cBhvr>
                                        <p:cTn id="21" dur="500"/>
                                        <p:tgtEl>
                                          <p:spTgt spid="13">
                                            <p:txEl>
                                              <p:pRg st="2" end="2"/>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3" name="coin.wav"/>
                                        </p:tgtEl>
                                      </p:cMediaNode>
                                    </p:audio>
                                  </p:subTnLst>
                                </p:cTn>
                              </p:par>
                              <p:par>
                                <p:cTn id="22" presetID="22" presetClass="entr" presetSubtype="1" fill="hold" grpId="0" nodeType="withEffect">
                                  <p:stCondLst>
                                    <p:cond delay="0"/>
                                  </p:stCondLst>
                                  <p:childTnLst>
                                    <p:set>
                                      <p:cBhvr>
                                        <p:cTn id="23" dur="1" fill="hold">
                                          <p:stCondLst>
                                            <p:cond delay="0"/>
                                          </p:stCondLst>
                                        </p:cTn>
                                        <p:tgtEl>
                                          <p:spTgt spid="13">
                                            <p:txEl>
                                              <p:pRg st="3" end="3"/>
                                            </p:txEl>
                                          </p:spTgt>
                                        </p:tgtEl>
                                        <p:attrNameLst>
                                          <p:attrName>style.visibility</p:attrName>
                                        </p:attrNameLst>
                                      </p:cBhvr>
                                      <p:to>
                                        <p:strVal val="visible"/>
                                      </p:to>
                                    </p:set>
                                    <p:animEffect transition="in" filter="wipe(up)">
                                      <p:cBhvr>
                                        <p:cTn id="24" dur="500"/>
                                        <p:tgtEl>
                                          <p:spTgt spid="13">
                                            <p:txEl>
                                              <p:pRg st="3" end="3"/>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3" name="coin.wav"/>
                                        </p:tgtEl>
                                      </p:cMediaNode>
                                    </p:audio>
                                  </p:subTnLst>
                                </p:cTn>
                              </p:par>
                              <p:par>
                                <p:cTn id="25" presetID="22" presetClass="entr" presetSubtype="1" fill="hold" grpId="0" nodeType="with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wipe(up)">
                                      <p:cBhvr>
                                        <p:cTn id="27" dur="500"/>
                                        <p:tgtEl>
                                          <p:spTgt spid="13">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oin.wav"/>
                                        </p:tgtEl>
                                      </p:cMediaNode>
                                    </p:audio>
                                  </p:subTnLst>
                                </p:cTn>
                              </p:par>
                              <p:par>
                                <p:cTn id="28" presetID="22" presetClass="entr" presetSubtype="1" fill="hold" grpId="0" nodeType="withEffect">
                                  <p:stCondLst>
                                    <p:cond delay="0"/>
                                  </p:stCondLst>
                                  <p:childTnLst>
                                    <p:set>
                                      <p:cBhvr>
                                        <p:cTn id="29" dur="1" fill="hold">
                                          <p:stCondLst>
                                            <p:cond delay="0"/>
                                          </p:stCondLst>
                                        </p:cTn>
                                        <p:tgtEl>
                                          <p:spTgt spid="13">
                                            <p:txEl>
                                              <p:pRg st="5" end="5"/>
                                            </p:txEl>
                                          </p:spTgt>
                                        </p:tgtEl>
                                        <p:attrNameLst>
                                          <p:attrName>style.visibility</p:attrName>
                                        </p:attrNameLst>
                                      </p:cBhvr>
                                      <p:to>
                                        <p:strVal val="visible"/>
                                      </p:to>
                                    </p:set>
                                    <p:animEffect transition="in" filter="wipe(up)">
                                      <p:cBhvr>
                                        <p:cTn id="30" dur="500"/>
                                        <p:tgtEl>
                                          <p:spTgt spid="13">
                                            <p:txEl>
                                              <p:pRg st="5" end="5"/>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3" name="coin.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
          <p:cNvSpPr txBox="1">
            <a:spLocks/>
          </p:cNvSpPr>
          <p:nvPr/>
        </p:nvSpPr>
        <p:spPr>
          <a:xfrm>
            <a:off x="973109" y="1359690"/>
            <a:ext cx="3143250" cy="561975"/>
          </a:xfrm>
          <a:prstGeom prst="rect">
            <a:avLst/>
          </a:prstGeom>
        </p:spPr>
        <p:txBody>
          <a:bodyPr anchor="ctr">
            <a:normAutofit/>
          </a:bodyPr>
          <a:lstStyle/>
          <a:p>
            <a:pPr algn="ctr" fontAlgn="auto">
              <a:spcAft>
                <a:spcPts val="0"/>
              </a:spcAft>
              <a:defRPr/>
            </a:pPr>
            <a:r>
              <a:rPr kumimoji="0" lang="zh-CN" altLang="en-US" sz="2800" b="1" dirty="0">
                <a:solidFill>
                  <a:srgbClr val="002060"/>
                </a:solidFill>
                <a:latin typeface="黑体" pitchFamily="49" charset="-122"/>
                <a:ea typeface="黑体" pitchFamily="49" charset="-122"/>
              </a:rPr>
              <a:t>怎么学才能学好？</a:t>
            </a:r>
            <a:endParaRPr kumimoji="0" lang="zh-CN" altLang="en-US" sz="2800" b="1" dirty="0">
              <a:solidFill>
                <a:srgbClr val="002060"/>
              </a:solidFill>
              <a:latin typeface="黑体" pitchFamily="49" charset="-122"/>
              <a:ea typeface="黑体" pitchFamily="49" charset="-122"/>
              <a:cs typeface="+mj-cs"/>
            </a:endParaRPr>
          </a:p>
        </p:txBody>
      </p:sp>
      <p:sp>
        <p:nvSpPr>
          <p:cNvPr id="15" name="标题 1"/>
          <p:cNvSpPr txBox="1">
            <a:spLocks/>
          </p:cNvSpPr>
          <p:nvPr/>
        </p:nvSpPr>
        <p:spPr>
          <a:xfrm>
            <a:off x="4452937" y="408753"/>
            <a:ext cx="3286125" cy="714375"/>
          </a:xfrm>
          <a:prstGeom prst="rect">
            <a:avLst/>
          </a:prstGeom>
        </p:spPr>
        <p:txBody>
          <a:bodyPr anchor="ctr">
            <a:normAutofit/>
          </a:bodyPr>
          <a:lstStyle/>
          <a:p>
            <a:pPr algn="ctr" fontAlgn="auto">
              <a:spcAft>
                <a:spcPts val="0"/>
              </a:spcAft>
              <a:defRPr/>
            </a:pPr>
            <a:r>
              <a:rPr kumimoji="0" lang="zh-CN" altLang="en-US" sz="3600" b="1" dirty="0">
                <a:solidFill>
                  <a:schemeClr val="tx2"/>
                </a:solidFill>
                <a:latin typeface="黑体" pitchFamily="2" charset="-122"/>
                <a:ea typeface="黑体" pitchFamily="2" charset="-122"/>
                <a:cs typeface="+mj-cs"/>
              </a:rPr>
              <a:t>绪  论</a:t>
            </a:r>
          </a:p>
        </p:txBody>
      </p:sp>
      <p:sp>
        <p:nvSpPr>
          <p:cNvPr id="5" name="矩形 4">
            <a:extLst>
              <a:ext uri="{FF2B5EF4-FFF2-40B4-BE49-F238E27FC236}">
                <a16:creationId xmlns:a16="http://schemas.microsoft.com/office/drawing/2014/main" id="{8013EAA9-2E9F-4591-891B-3E42F6BF2F12}"/>
              </a:ext>
            </a:extLst>
          </p:cNvPr>
          <p:cNvSpPr/>
          <p:nvPr/>
        </p:nvSpPr>
        <p:spPr>
          <a:xfrm>
            <a:off x="1643062" y="2060848"/>
            <a:ext cx="7549282" cy="523220"/>
          </a:xfrm>
          <a:prstGeom prst="rect">
            <a:avLst/>
          </a:prstGeom>
        </p:spPr>
        <p:txBody>
          <a:bodyPr wrap="square">
            <a:spAutoFit/>
          </a:bodyPr>
          <a:lstStyle/>
          <a:p>
            <a:r>
              <a:rPr lang="zh-CN" altLang="en-US" sz="2800" dirty="0">
                <a:latin typeface="黑体" panose="02010609060101010101" pitchFamily="49" charset="-122"/>
                <a:ea typeface="黑体" panose="02010609060101010101" pitchFamily="49" charset="-122"/>
              </a:rPr>
              <a:t>通过课程学习，正确把握课程的几个问题：</a:t>
            </a:r>
          </a:p>
        </p:txBody>
      </p:sp>
      <p:sp>
        <p:nvSpPr>
          <p:cNvPr id="3" name="矩形 2">
            <a:extLst>
              <a:ext uri="{FF2B5EF4-FFF2-40B4-BE49-F238E27FC236}">
                <a16:creationId xmlns:a16="http://schemas.microsoft.com/office/drawing/2014/main" id="{55A6C12A-35A9-46DC-AF46-98AE514702EF}"/>
              </a:ext>
            </a:extLst>
          </p:cNvPr>
          <p:cNvSpPr/>
          <p:nvPr/>
        </p:nvSpPr>
        <p:spPr>
          <a:xfrm>
            <a:off x="3215680" y="2741805"/>
            <a:ext cx="6096000" cy="2775760"/>
          </a:xfrm>
          <a:prstGeom prst="rect">
            <a:avLst/>
          </a:prstGeom>
        </p:spPr>
        <p:txBody>
          <a:bodyPr>
            <a:spAutoFit/>
          </a:bodyPr>
          <a:lstStyle/>
          <a:p>
            <a:pPr>
              <a:lnSpc>
                <a:spcPct val="150000"/>
              </a:lnSpc>
            </a:pPr>
            <a:r>
              <a:rPr lang="zh-CN" altLang="en-US" dirty="0">
                <a:latin typeface="黑体" panose="02010609060101010101" pitchFamily="49" charset="-122"/>
                <a:ea typeface="黑体" panose="02010609060101010101" pitchFamily="49" charset="-122"/>
              </a:rPr>
              <a:t>☆ 工程制图课程要解决什么问题？</a:t>
            </a:r>
          </a:p>
          <a:p>
            <a:pPr>
              <a:lnSpc>
                <a:spcPct val="150000"/>
              </a:lnSpc>
            </a:pPr>
            <a:r>
              <a:rPr lang="zh-CN" altLang="en-US" dirty="0">
                <a:latin typeface="黑体" panose="02010609060101010101" pitchFamily="49" charset="-122"/>
                <a:ea typeface="黑体" panose="02010609060101010101" pitchFamily="49" charset="-122"/>
              </a:rPr>
              <a:t>☆ 工程图样是根据什么原则绘制？</a:t>
            </a:r>
          </a:p>
          <a:p>
            <a:pPr>
              <a:lnSpc>
                <a:spcPct val="150000"/>
              </a:lnSpc>
            </a:pPr>
            <a:r>
              <a:rPr lang="zh-CN" altLang="en-US" dirty="0">
                <a:latin typeface="黑体" panose="02010609060101010101" pitchFamily="49" charset="-122"/>
                <a:ea typeface="黑体" panose="02010609060101010101" pitchFamily="49" charset="-122"/>
              </a:rPr>
              <a:t>☆ 对物体几何特征如何描述？</a:t>
            </a:r>
          </a:p>
          <a:p>
            <a:pPr>
              <a:lnSpc>
                <a:spcPct val="150000"/>
              </a:lnSpc>
            </a:pPr>
            <a:r>
              <a:rPr lang="zh-CN" altLang="en-US" dirty="0">
                <a:latin typeface="黑体" panose="02010609060101010101" pitchFamily="49" charset="-122"/>
                <a:ea typeface="黑体" panose="02010609060101010101" pitchFamily="49" charset="-122"/>
              </a:rPr>
              <a:t>☆ 如何用图形反映设计思想？</a:t>
            </a:r>
          </a:p>
          <a:p>
            <a:pPr>
              <a:lnSpc>
                <a:spcPct val="150000"/>
              </a:lnSpc>
            </a:pPr>
            <a:r>
              <a:rPr lang="zh-CN" altLang="en-US" dirty="0">
                <a:latin typeface="黑体" panose="02010609060101010101" pitchFamily="49" charset="-122"/>
                <a:ea typeface="黑体" panose="02010609060101010101" pitchFamily="49" charset="-122"/>
              </a:rPr>
              <a:t>☆ 实现设计方案的原理及其表达方法？</a:t>
            </a:r>
          </a:p>
        </p:txBody>
      </p:sp>
    </p:spTree>
    <p:extLst>
      <p:ext uri="{BB962C8B-B14F-4D97-AF65-F5344CB8AC3E}">
        <p14:creationId xmlns:p14="http://schemas.microsoft.com/office/powerpoint/2010/main" val="3234959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14"/>
                                        </p:tgtEl>
                                        <p:attrNameLst>
                                          <p:attrName>style.visibility</p:attrName>
                                        </p:attrNameLst>
                                      </p:cBhvr>
                                      <p:to>
                                        <p:strVal val="visible"/>
                                      </p:to>
                                    </p:set>
                                    <p:anim calcmode="discrete" valueType="clr">
                                      <p:cBhvr override="childStyle">
                                        <p:cTn id="7" dur="80"/>
                                        <p:tgtEl>
                                          <p:spTgt spid="1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4"/>
                                        </p:tgtEl>
                                        <p:attrNameLst>
                                          <p:attrName>fillcolor</p:attrName>
                                        </p:attrNameLst>
                                      </p:cBhvr>
                                      <p:tavLst>
                                        <p:tav tm="0">
                                          <p:val>
                                            <p:clrVal>
                                              <a:schemeClr val="accent2"/>
                                            </p:clrVal>
                                          </p:val>
                                        </p:tav>
                                        <p:tav tm="50000">
                                          <p:val>
                                            <p:clrVal>
                                              <a:schemeClr val="hlink"/>
                                            </p:clrVal>
                                          </p:val>
                                        </p:tav>
                                      </p:tavLst>
                                    </p:anim>
                                    <p:set>
                                      <p:cBhvr>
                                        <p:cTn id="9" dur="80"/>
                                        <p:tgtEl>
                                          <p:spTgt spid="1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up)">
                                      <p:cBhvr>
                                        <p:cTn id="1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5"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
          <p:cNvSpPr txBox="1">
            <a:spLocks/>
          </p:cNvSpPr>
          <p:nvPr/>
        </p:nvSpPr>
        <p:spPr>
          <a:xfrm>
            <a:off x="4452937" y="408753"/>
            <a:ext cx="3286125" cy="714375"/>
          </a:xfrm>
          <a:prstGeom prst="rect">
            <a:avLst/>
          </a:prstGeom>
        </p:spPr>
        <p:txBody>
          <a:bodyPr anchor="ctr">
            <a:normAutofit/>
          </a:bodyPr>
          <a:lstStyle/>
          <a:p>
            <a:pPr algn="ctr" fontAlgn="auto">
              <a:spcAft>
                <a:spcPts val="0"/>
              </a:spcAft>
              <a:defRPr/>
            </a:pPr>
            <a:r>
              <a:rPr kumimoji="0" lang="zh-CN" altLang="en-US" sz="3600" b="1" dirty="0">
                <a:solidFill>
                  <a:schemeClr val="tx2"/>
                </a:solidFill>
                <a:latin typeface="黑体" pitchFamily="2" charset="-122"/>
                <a:ea typeface="黑体" pitchFamily="2" charset="-122"/>
                <a:cs typeface="+mj-cs"/>
              </a:rPr>
              <a:t>绪  论</a:t>
            </a:r>
          </a:p>
        </p:txBody>
      </p:sp>
      <p:sp>
        <p:nvSpPr>
          <p:cNvPr id="2" name="矩形 1">
            <a:extLst>
              <a:ext uri="{FF2B5EF4-FFF2-40B4-BE49-F238E27FC236}">
                <a16:creationId xmlns:a16="http://schemas.microsoft.com/office/drawing/2014/main" id="{A4E44E39-EFBC-4AC6-A27D-8C040D29628A}"/>
              </a:ext>
            </a:extLst>
          </p:cNvPr>
          <p:cNvSpPr/>
          <p:nvPr/>
        </p:nvSpPr>
        <p:spPr>
          <a:xfrm>
            <a:off x="653080" y="1123128"/>
            <a:ext cx="5472608" cy="715581"/>
          </a:xfrm>
          <a:prstGeom prst="rect">
            <a:avLst/>
          </a:prstGeom>
        </p:spPr>
        <p:txBody>
          <a:bodyPr wrap="square">
            <a:spAutoFit/>
          </a:bodyPr>
          <a:lstStyle/>
          <a:p>
            <a:pPr marL="612775">
              <a:lnSpc>
                <a:spcPct val="150000"/>
              </a:lnSpc>
              <a:spcAft>
                <a:spcPts val="0"/>
              </a:spcAft>
            </a:pPr>
            <a:r>
              <a:rPr lang="zh-CN" altLang="zh-CN" sz="3200" b="1" kern="100" dirty="0">
                <a:latin typeface="黑体" panose="02010609060101010101" pitchFamily="49" charset="-122"/>
                <a:ea typeface="黑体" panose="02010609060101010101" pitchFamily="49" charset="-122"/>
              </a:rPr>
              <a:t>本</a:t>
            </a:r>
            <a:r>
              <a:rPr lang="zh-CN" altLang="zh-CN" sz="3200" b="1" kern="100" dirty="0">
                <a:latin typeface="黑体" panose="02010609060101010101" pitchFamily="49" charset="-122"/>
                <a:ea typeface="黑体" panose="02010609060101010101" pitchFamily="49" charset="-122"/>
                <a:cs typeface="Arial" panose="020B0604020202020204" pitchFamily="34" charset="0"/>
              </a:rPr>
              <a:t>课程</a:t>
            </a:r>
            <a:r>
              <a:rPr lang="zh-CN" altLang="zh-CN" sz="3200" b="1" kern="100" dirty="0">
                <a:latin typeface="黑体" panose="02010609060101010101" pitchFamily="49" charset="-122"/>
                <a:ea typeface="黑体" panose="02010609060101010101" pitchFamily="49" charset="-122"/>
              </a:rPr>
              <a:t>的重点及难点：</a:t>
            </a:r>
          </a:p>
        </p:txBody>
      </p:sp>
      <p:sp>
        <p:nvSpPr>
          <p:cNvPr id="4" name="矩形 3">
            <a:extLst>
              <a:ext uri="{FF2B5EF4-FFF2-40B4-BE49-F238E27FC236}">
                <a16:creationId xmlns:a16="http://schemas.microsoft.com/office/drawing/2014/main" id="{2B469C44-2262-433B-A109-B017194492AF}"/>
              </a:ext>
            </a:extLst>
          </p:cNvPr>
          <p:cNvSpPr/>
          <p:nvPr/>
        </p:nvSpPr>
        <p:spPr>
          <a:xfrm>
            <a:off x="1343472" y="2518819"/>
            <a:ext cx="2160240" cy="637675"/>
          </a:xfrm>
          <a:prstGeom prst="rect">
            <a:avLst/>
          </a:prstGeom>
        </p:spPr>
        <p:txBody>
          <a:bodyPr wrap="square">
            <a:spAutoFit/>
          </a:bodyPr>
          <a:lstStyle/>
          <a:p>
            <a:pPr indent="355600">
              <a:lnSpc>
                <a:spcPct val="150000"/>
              </a:lnSpc>
              <a:spcAft>
                <a:spcPts val="0"/>
              </a:spcAft>
            </a:pPr>
            <a:r>
              <a:rPr lang="zh-CN" altLang="zh-CN" sz="2800" kern="100" dirty="0">
                <a:latin typeface="黑体" panose="02010609060101010101" pitchFamily="49" charset="-122"/>
                <a:ea typeface="黑体" panose="02010609060101010101" pitchFamily="49" charset="-122"/>
              </a:rPr>
              <a:t>组合体</a:t>
            </a:r>
            <a:r>
              <a:rPr lang="zh-CN" altLang="en-US" sz="2800" kern="100" dirty="0">
                <a:latin typeface="黑体" panose="02010609060101010101" pitchFamily="49" charset="-122"/>
                <a:ea typeface="黑体" panose="02010609060101010101" pitchFamily="49" charset="-122"/>
              </a:rPr>
              <a:t>：</a:t>
            </a:r>
            <a:endParaRPr lang="en-US" altLang="zh-CN" sz="2800" kern="100" dirty="0">
              <a:latin typeface="黑体" panose="02010609060101010101" pitchFamily="49" charset="-122"/>
              <a:ea typeface="黑体" panose="02010609060101010101" pitchFamily="49" charset="-122"/>
            </a:endParaRPr>
          </a:p>
        </p:txBody>
      </p:sp>
      <p:sp>
        <p:nvSpPr>
          <p:cNvPr id="6" name="矩形 5">
            <a:extLst>
              <a:ext uri="{FF2B5EF4-FFF2-40B4-BE49-F238E27FC236}">
                <a16:creationId xmlns:a16="http://schemas.microsoft.com/office/drawing/2014/main" id="{4E3A3D0D-FBB2-4544-ABF7-2E5D11A6D296}"/>
              </a:ext>
            </a:extLst>
          </p:cNvPr>
          <p:cNvSpPr/>
          <p:nvPr/>
        </p:nvSpPr>
        <p:spPr>
          <a:xfrm>
            <a:off x="1656190" y="3281441"/>
            <a:ext cx="7392138" cy="523220"/>
          </a:xfrm>
          <a:prstGeom prst="rect">
            <a:avLst/>
          </a:prstGeom>
        </p:spPr>
        <p:txBody>
          <a:bodyPr wrap="square">
            <a:spAutoFit/>
          </a:bodyPr>
          <a:lstStyle/>
          <a:p>
            <a:r>
              <a:rPr lang="zh-CN" altLang="en-US" sz="2800" dirty="0">
                <a:latin typeface="黑体" panose="02010609060101010101" pitchFamily="49" charset="-122"/>
                <a:ea typeface="黑体" panose="02010609060101010101" pitchFamily="49" charset="-122"/>
              </a:rPr>
              <a:t>机件的常用表达方法：是设计绘图的依据</a:t>
            </a:r>
          </a:p>
        </p:txBody>
      </p:sp>
      <p:sp>
        <p:nvSpPr>
          <p:cNvPr id="7" name="矩形 6">
            <a:extLst>
              <a:ext uri="{FF2B5EF4-FFF2-40B4-BE49-F238E27FC236}">
                <a16:creationId xmlns:a16="http://schemas.microsoft.com/office/drawing/2014/main" id="{7CF792F4-395B-4936-A723-531E26F1DBD6}"/>
              </a:ext>
            </a:extLst>
          </p:cNvPr>
          <p:cNvSpPr/>
          <p:nvPr/>
        </p:nvSpPr>
        <p:spPr>
          <a:xfrm>
            <a:off x="1656190" y="3804661"/>
            <a:ext cx="9253029" cy="2576667"/>
          </a:xfrm>
          <a:prstGeom prst="rect">
            <a:avLst/>
          </a:prstGeom>
        </p:spPr>
        <p:txBody>
          <a:bodyPr wrap="square">
            <a:spAutoFit/>
          </a:bodyPr>
          <a:lstStyle/>
          <a:p>
            <a:pPr>
              <a:lnSpc>
                <a:spcPct val="150000"/>
              </a:lnSpc>
            </a:pPr>
            <a:r>
              <a:rPr lang="zh-CN" altLang="en-US" sz="2800" dirty="0">
                <a:latin typeface="黑体" panose="02010609060101010101" pitchFamily="49" charset="-122"/>
                <a:ea typeface="黑体" panose="02010609060101010101" pitchFamily="49" charset="-122"/>
              </a:rPr>
              <a:t>    该部分内容是依据国家标准的有关规定如何绘制“图纸” 。因为通过“图纸”可传递自己和了解别人的设计思想，因此通过本章的学习可以掌握“图纸”的绘制及阅读方法。</a:t>
            </a:r>
          </a:p>
        </p:txBody>
      </p:sp>
      <p:sp>
        <p:nvSpPr>
          <p:cNvPr id="8" name="矩形 7">
            <a:extLst>
              <a:ext uri="{FF2B5EF4-FFF2-40B4-BE49-F238E27FC236}">
                <a16:creationId xmlns:a16="http://schemas.microsoft.com/office/drawing/2014/main" id="{78080B34-5CC6-4680-8A89-3721A8ECC1C5}"/>
              </a:ext>
            </a:extLst>
          </p:cNvPr>
          <p:cNvSpPr/>
          <p:nvPr/>
        </p:nvSpPr>
        <p:spPr>
          <a:xfrm>
            <a:off x="3215680" y="2668738"/>
            <a:ext cx="6647974" cy="523220"/>
          </a:xfrm>
          <a:prstGeom prst="rect">
            <a:avLst/>
          </a:prstGeom>
        </p:spPr>
        <p:txBody>
          <a:bodyPr wrap="none">
            <a:spAutoFit/>
          </a:bodyPr>
          <a:lstStyle/>
          <a:p>
            <a:r>
              <a:rPr lang="zh-CN" altLang="zh-CN" sz="2800" kern="100" dirty="0">
                <a:latin typeface="黑体" panose="02010609060101010101" pitchFamily="49" charset="-122"/>
                <a:ea typeface="黑体" panose="02010609060101010101" pitchFamily="49" charset="-122"/>
              </a:rPr>
              <a:t>是投影</a:t>
            </a:r>
            <a:r>
              <a:rPr lang="zh-CN" altLang="en-US" sz="2800" kern="100" dirty="0">
                <a:latin typeface="黑体" panose="02010609060101010101" pitchFamily="49" charset="-122"/>
                <a:ea typeface="黑体" panose="02010609060101010101" pitchFamily="49" charset="-122"/>
              </a:rPr>
              <a:t>表达、构形方法</a:t>
            </a:r>
            <a:r>
              <a:rPr lang="zh-CN" altLang="zh-CN" sz="2800" kern="100" dirty="0">
                <a:latin typeface="黑体" panose="02010609060101010101" pitchFamily="49" charset="-122"/>
                <a:ea typeface="黑体" panose="02010609060101010101" pitchFamily="49" charset="-122"/>
              </a:rPr>
              <a:t>基础是制图的核心</a:t>
            </a:r>
            <a:endParaRPr lang="zh-CN" altLang="en-US" sz="2800" dirty="0"/>
          </a:p>
        </p:txBody>
      </p:sp>
      <p:sp>
        <p:nvSpPr>
          <p:cNvPr id="9" name="矩形 8">
            <a:extLst>
              <a:ext uri="{FF2B5EF4-FFF2-40B4-BE49-F238E27FC236}">
                <a16:creationId xmlns:a16="http://schemas.microsoft.com/office/drawing/2014/main" id="{06ADB78D-8FE0-4EC6-ACE0-E57742118755}"/>
              </a:ext>
            </a:extLst>
          </p:cNvPr>
          <p:cNvSpPr/>
          <p:nvPr/>
        </p:nvSpPr>
        <p:spPr>
          <a:xfrm>
            <a:off x="1343472" y="1835645"/>
            <a:ext cx="2160240" cy="637675"/>
          </a:xfrm>
          <a:prstGeom prst="rect">
            <a:avLst/>
          </a:prstGeom>
        </p:spPr>
        <p:txBody>
          <a:bodyPr wrap="square">
            <a:spAutoFit/>
          </a:bodyPr>
          <a:lstStyle/>
          <a:p>
            <a:pPr indent="355600">
              <a:lnSpc>
                <a:spcPct val="150000"/>
              </a:lnSpc>
              <a:spcAft>
                <a:spcPts val="0"/>
              </a:spcAft>
            </a:pPr>
            <a:r>
              <a:rPr lang="zh-CN" altLang="en-US" sz="2800" kern="100" dirty="0">
                <a:latin typeface="黑体" panose="02010609060101010101" pitchFamily="49" charset="-122"/>
                <a:ea typeface="黑体" panose="02010609060101010101" pitchFamily="49" charset="-122"/>
              </a:rPr>
              <a:t>点线面：</a:t>
            </a:r>
            <a:endParaRPr lang="en-US" altLang="zh-CN" sz="2800" kern="100" dirty="0">
              <a:latin typeface="黑体" panose="02010609060101010101" pitchFamily="49" charset="-122"/>
              <a:ea typeface="黑体" panose="02010609060101010101" pitchFamily="49" charset="-122"/>
            </a:endParaRPr>
          </a:p>
        </p:txBody>
      </p:sp>
      <p:sp>
        <p:nvSpPr>
          <p:cNvPr id="10" name="矩形 9">
            <a:extLst>
              <a:ext uri="{FF2B5EF4-FFF2-40B4-BE49-F238E27FC236}">
                <a16:creationId xmlns:a16="http://schemas.microsoft.com/office/drawing/2014/main" id="{1424D6AA-A40E-47C5-9044-BD6F6321E3C8}"/>
              </a:ext>
            </a:extLst>
          </p:cNvPr>
          <p:cNvSpPr/>
          <p:nvPr/>
        </p:nvSpPr>
        <p:spPr>
          <a:xfrm>
            <a:off x="3215680" y="1998664"/>
            <a:ext cx="6288901" cy="523220"/>
          </a:xfrm>
          <a:prstGeom prst="rect">
            <a:avLst/>
          </a:prstGeom>
        </p:spPr>
        <p:txBody>
          <a:bodyPr wrap="none">
            <a:spAutoFit/>
          </a:bodyPr>
          <a:lstStyle/>
          <a:p>
            <a:r>
              <a:rPr lang="zh-CN" altLang="zh-CN" sz="2800" kern="100" dirty="0">
                <a:latin typeface="黑体" panose="02010609060101010101" pitchFamily="49" charset="-122"/>
                <a:ea typeface="黑体" panose="02010609060101010101" pitchFamily="49" charset="-122"/>
              </a:rPr>
              <a:t>是投影</a:t>
            </a:r>
            <a:r>
              <a:rPr lang="zh-CN" altLang="en-US" sz="2800" kern="100" dirty="0">
                <a:latin typeface="黑体" panose="02010609060101010101" pitchFamily="49" charset="-122"/>
                <a:ea typeface="黑体" panose="02010609060101010101" pitchFamily="49" charset="-122"/>
              </a:rPr>
              <a:t>理论、培养空间想象能力的</a:t>
            </a:r>
            <a:r>
              <a:rPr lang="zh-CN" altLang="zh-CN" sz="2800" kern="100" dirty="0">
                <a:latin typeface="黑体" panose="02010609060101010101" pitchFamily="49" charset="-122"/>
                <a:ea typeface="黑体" panose="02010609060101010101" pitchFamily="49" charset="-122"/>
              </a:rPr>
              <a:t>基础</a:t>
            </a:r>
            <a:endParaRPr lang="zh-CN" altLang="en-US" sz="2800" dirty="0"/>
          </a:p>
        </p:txBody>
      </p:sp>
    </p:spTree>
    <p:extLst>
      <p:ext uri="{BB962C8B-B14F-4D97-AF65-F5344CB8AC3E}">
        <p14:creationId xmlns:p14="http://schemas.microsoft.com/office/powerpoint/2010/main" val="2833423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p:tgtEl>
                                          <p:spTgt spid="4"/>
                                        </p:tgtEl>
                                        <p:attrNameLst>
                                          <p:attrName>ppt_y</p:attrName>
                                        </p:attrNameLst>
                                      </p:cBhvr>
                                      <p:tavLst>
                                        <p:tav tm="0">
                                          <p:val>
                                            <p:strVal val="#ppt_y+#ppt_h*1.125000"/>
                                          </p:val>
                                        </p:tav>
                                        <p:tav tm="100000">
                                          <p:val>
                                            <p:strVal val="#ppt_y"/>
                                          </p:val>
                                        </p:tav>
                                      </p:tavLst>
                                    </p:anim>
                                    <p:animEffect transition="in" filter="wipe(up)">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1000"/>
                                        <p:tgtEl>
                                          <p:spTgt spid="6"/>
                                        </p:tgtEl>
                                      </p:cBhvr>
                                    </p:animEffect>
                                    <p:anim calcmode="lin" valueType="num">
                                      <p:cBhvr>
                                        <p:cTn id="30" dur="1000" fill="hold"/>
                                        <p:tgtEl>
                                          <p:spTgt spid="6"/>
                                        </p:tgtEl>
                                        <p:attrNameLst>
                                          <p:attrName>ppt_x</p:attrName>
                                        </p:attrNameLst>
                                      </p:cBhvr>
                                      <p:tavLst>
                                        <p:tav tm="0">
                                          <p:val>
                                            <p:strVal val="#ppt_x"/>
                                          </p:val>
                                        </p:tav>
                                        <p:tav tm="100000">
                                          <p:val>
                                            <p:strVal val="#ppt_x"/>
                                          </p:val>
                                        </p:tav>
                                      </p:tavLst>
                                    </p:anim>
                                    <p:anim calcmode="lin" valueType="num">
                                      <p:cBhvr>
                                        <p:cTn id="3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p:tgtEl>
                                          <p:spTgt spid="7"/>
                                        </p:tgtEl>
                                        <p:attrNameLst>
                                          <p:attrName>ppt_y</p:attrName>
                                        </p:attrNameLst>
                                      </p:cBhvr>
                                      <p:tavLst>
                                        <p:tav tm="0">
                                          <p:val>
                                            <p:strVal val="#ppt_y+#ppt_h*1.125000"/>
                                          </p:val>
                                        </p:tav>
                                        <p:tav tm="100000">
                                          <p:val>
                                            <p:strVal val="#ppt_y"/>
                                          </p:val>
                                        </p:tav>
                                      </p:tavLst>
                                    </p:anim>
                                    <p:animEffect transition="in" filter="wipe(up)">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a:xfrm>
            <a:off x="1127448" y="501706"/>
            <a:ext cx="6638776" cy="646331"/>
          </a:xfrm>
          <a:prstGeom prst="rect">
            <a:avLst/>
          </a:prstGeom>
        </p:spPr>
        <p:txBody>
          <a:bodyPr wrap="square" anchor="ctr">
            <a:spAutoFit/>
          </a:bodyPr>
          <a:lstStyle/>
          <a:p>
            <a:pPr algn="ctr" fontAlgn="auto">
              <a:spcAft>
                <a:spcPts val="0"/>
              </a:spcAft>
              <a:defRPr/>
            </a:pP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工程制图</a:t>
            </a: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课程 课程考核</a:t>
            </a:r>
          </a:p>
        </p:txBody>
      </p:sp>
      <p:sp>
        <p:nvSpPr>
          <p:cNvPr id="16" name="标题 1">
            <a:extLst>
              <a:ext uri="{FF2B5EF4-FFF2-40B4-BE49-F238E27FC236}">
                <a16:creationId xmlns:a16="http://schemas.microsoft.com/office/drawing/2014/main" id="{CB218962-607E-491F-880A-9B1EFC6AD4B1}"/>
              </a:ext>
            </a:extLst>
          </p:cNvPr>
          <p:cNvSpPr txBox="1">
            <a:spLocks/>
          </p:cNvSpPr>
          <p:nvPr/>
        </p:nvSpPr>
        <p:spPr>
          <a:xfrm>
            <a:off x="1127448" y="1412776"/>
            <a:ext cx="3528392" cy="646331"/>
          </a:xfrm>
          <a:prstGeom prst="rect">
            <a:avLst/>
          </a:prstGeom>
        </p:spPr>
        <p:txBody>
          <a:bodyPr wrap="square" anchor="ctr">
            <a:spAutoFit/>
          </a:bodyPr>
          <a:lstStyle/>
          <a:p>
            <a:pPr fontAlgn="auto">
              <a:spcAft>
                <a:spcPts val="0"/>
              </a:spcAft>
              <a:defRPr/>
            </a:pPr>
            <a:r>
              <a:rPr kumimoji="0" lang="zh-CN" altLang="en-US" sz="3600" b="1" dirty="0">
                <a:solidFill>
                  <a:schemeClr val="tx2"/>
                </a:solidFill>
                <a:latin typeface="黑体" pitchFamily="2" charset="-122"/>
                <a:ea typeface="黑体" pitchFamily="2" charset="-122"/>
                <a:cs typeface="+mj-cs"/>
              </a:rPr>
              <a:t>学而须知</a:t>
            </a:r>
          </a:p>
        </p:txBody>
      </p:sp>
      <p:sp>
        <p:nvSpPr>
          <p:cNvPr id="2" name="矩形 1">
            <a:extLst>
              <a:ext uri="{FF2B5EF4-FFF2-40B4-BE49-F238E27FC236}">
                <a16:creationId xmlns:a16="http://schemas.microsoft.com/office/drawing/2014/main" id="{F8CF8511-1B67-454A-94CE-14547BCE8F0B}"/>
              </a:ext>
            </a:extLst>
          </p:cNvPr>
          <p:cNvSpPr/>
          <p:nvPr/>
        </p:nvSpPr>
        <p:spPr>
          <a:xfrm>
            <a:off x="1991544" y="2059107"/>
            <a:ext cx="7758855" cy="523220"/>
          </a:xfrm>
          <a:prstGeom prst="rect">
            <a:avLst/>
          </a:prstGeom>
        </p:spPr>
        <p:txBody>
          <a:bodyPr wrap="none">
            <a:spAutoFit/>
          </a:bodyPr>
          <a:lstStyle/>
          <a:p>
            <a:r>
              <a:rPr lang="zh-CN" altLang="en-US" sz="2800" kern="100" dirty="0">
                <a:cs typeface="Arial" panose="020B0604020202020204" pitchFamily="34" charset="0"/>
              </a:rPr>
              <a:t>本课程是 </a:t>
            </a:r>
            <a:r>
              <a:rPr lang="zh-CN" altLang="en-US" sz="2800" b="1" kern="100" dirty="0">
                <a:solidFill>
                  <a:srgbClr val="FF0000"/>
                </a:solidFill>
                <a:cs typeface="Arial" panose="020B0604020202020204" pitchFamily="34" charset="0"/>
              </a:rPr>
              <a:t>“基于工程制图</a:t>
            </a:r>
            <a:r>
              <a:rPr lang="en-US" altLang="zh-CN" sz="2800" b="1" kern="100" dirty="0">
                <a:solidFill>
                  <a:srgbClr val="FF0000"/>
                </a:solidFill>
                <a:cs typeface="Arial" panose="020B0604020202020204" pitchFamily="34" charset="0"/>
              </a:rPr>
              <a:t>MOOC+</a:t>
            </a:r>
            <a:r>
              <a:rPr lang="zh-CN" altLang="en-US" sz="2800" b="1" kern="100" dirty="0">
                <a:solidFill>
                  <a:srgbClr val="FF0000"/>
                </a:solidFill>
                <a:cs typeface="Arial" panose="020B0604020202020204" pitchFamily="34" charset="0"/>
              </a:rPr>
              <a:t>翻转课堂”</a:t>
            </a:r>
            <a:r>
              <a:rPr lang="zh-CN" altLang="en-US" sz="2800" kern="100" dirty="0">
                <a:cs typeface="Arial" panose="020B0604020202020204" pitchFamily="34" charset="0"/>
              </a:rPr>
              <a:t>的</a:t>
            </a:r>
            <a:endParaRPr lang="zh-CN" altLang="en-US" sz="2800" dirty="0"/>
          </a:p>
        </p:txBody>
      </p:sp>
      <p:sp>
        <p:nvSpPr>
          <p:cNvPr id="17" name="矩形 16">
            <a:extLst>
              <a:ext uri="{FF2B5EF4-FFF2-40B4-BE49-F238E27FC236}">
                <a16:creationId xmlns:a16="http://schemas.microsoft.com/office/drawing/2014/main" id="{20334467-8A1D-4C98-9E71-F4DFA237DF62}"/>
              </a:ext>
            </a:extLst>
          </p:cNvPr>
          <p:cNvSpPr/>
          <p:nvPr/>
        </p:nvSpPr>
        <p:spPr>
          <a:xfrm>
            <a:off x="5447928" y="2582920"/>
            <a:ext cx="5593198" cy="523220"/>
          </a:xfrm>
          <a:prstGeom prst="rect">
            <a:avLst/>
          </a:prstGeom>
        </p:spPr>
        <p:txBody>
          <a:bodyPr wrap="none">
            <a:spAutoFit/>
          </a:bodyPr>
          <a:lstStyle/>
          <a:p>
            <a:r>
              <a:rPr lang="zh-CN" altLang="en-US" sz="2800" b="1" kern="100" dirty="0">
                <a:solidFill>
                  <a:srgbClr val="FF0000"/>
                </a:solidFill>
                <a:effectLst>
                  <a:outerShdw blurRad="38100" dist="38100" dir="2700000" algn="tl">
                    <a:srgbClr val="000000">
                      <a:alpha val="43137"/>
                    </a:srgbClr>
                  </a:outerShdw>
                </a:effectLst>
                <a:cs typeface="Arial" panose="020B0604020202020204" pitchFamily="34" charset="0"/>
              </a:rPr>
              <a:t>“线上”</a:t>
            </a:r>
            <a:r>
              <a:rPr lang="en-US" altLang="zh-CN" sz="2800" b="1" kern="100" dirty="0">
                <a:solidFill>
                  <a:srgbClr val="FF0000"/>
                </a:solidFill>
                <a:effectLst>
                  <a:outerShdw blurRad="38100" dist="38100" dir="2700000" algn="tl">
                    <a:srgbClr val="000000">
                      <a:alpha val="43137"/>
                    </a:srgbClr>
                  </a:outerShdw>
                </a:effectLst>
                <a:cs typeface="Arial" panose="020B0604020202020204" pitchFamily="34" charset="0"/>
              </a:rPr>
              <a:t>+</a:t>
            </a:r>
            <a:r>
              <a:rPr lang="zh-CN" altLang="en-US" sz="2800" b="1" kern="100" dirty="0">
                <a:solidFill>
                  <a:srgbClr val="FF0000"/>
                </a:solidFill>
                <a:effectLst>
                  <a:outerShdw blurRad="38100" dist="38100" dir="2700000" algn="tl">
                    <a:srgbClr val="000000">
                      <a:alpha val="43137"/>
                    </a:srgbClr>
                  </a:outerShdw>
                </a:effectLst>
                <a:cs typeface="Arial" panose="020B0604020202020204" pitchFamily="34" charset="0"/>
              </a:rPr>
              <a:t> “线下”</a:t>
            </a:r>
            <a:r>
              <a:rPr lang="zh-CN" altLang="en-US" sz="2800" b="1" kern="100" dirty="0">
                <a:effectLst>
                  <a:outerShdw blurRad="38100" dist="38100" dir="2700000" algn="tl">
                    <a:srgbClr val="000000">
                      <a:alpha val="43137"/>
                    </a:srgbClr>
                  </a:outerShdw>
                </a:effectLst>
                <a:cs typeface="Arial" panose="020B0604020202020204" pitchFamily="34" charset="0"/>
              </a:rPr>
              <a:t>混合教学模式 </a:t>
            </a:r>
            <a:endParaRPr lang="zh-CN" altLang="en-US" sz="2800" b="1" dirty="0">
              <a:effectLst>
                <a:outerShdw blurRad="38100" dist="38100" dir="2700000" algn="tl">
                  <a:srgbClr val="000000">
                    <a:alpha val="43137"/>
                  </a:srgbClr>
                </a:outerShdw>
              </a:effectLst>
            </a:endParaRPr>
          </a:p>
        </p:txBody>
      </p:sp>
      <p:sp>
        <p:nvSpPr>
          <p:cNvPr id="18" name="标题 1">
            <a:extLst>
              <a:ext uri="{FF2B5EF4-FFF2-40B4-BE49-F238E27FC236}">
                <a16:creationId xmlns:a16="http://schemas.microsoft.com/office/drawing/2014/main" id="{B2D4A787-E299-44EE-9CEC-740C4525E2D1}"/>
              </a:ext>
            </a:extLst>
          </p:cNvPr>
          <p:cNvSpPr txBox="1">
            <a:spLocks/>
          </p:cNvSpPr>
          <p:nvPr/>
        </p:nvSpPr>
        <p:spPr>
          <a:xfrm>
            <a:off x="1559496" y="3111805"/>
            <a:ext cx="2448272" cy="584775"/>
          </a:xfrm>
          <a:prstGeom prst="rect">
            <a:avLst/>
          </a:prstGeom>
        </p:spPr>
        <p:txBody>
          <a:bodyPr wrap="square" anchor="ctr">
            <a:spAutoFit/>
          </a:bodyPr>
          <a:lstStyle/>
          <a:p>
            <a:pPr fontAlgn="auto">
              <a:spcAft>
                <a:spcPts val="0"/>
              </a:spcAft>
              <a:defRPr/>
            </a:pPr>
            <a:r>
              <a:rPr kumimoji="0" lang="en-US" altLang="zh-CN" sz="3200" b="1" dirty="0">
                <a:solidFill>
                  <a:schemeClr val="tx2"/>
                </a:solidFill>
                <a:latin typeface="黑体" pitchFamily="2" charset="-122"/>
                <a:ea typeface="黑体" pitchFamily="2" charset="-122"/>
                <a:cs typeface="+mj-cs"/>
              </a:rPr>
              <a:t>1.</a:t>
            </a:r>
            <a:r>
              <a:rPr kumimoji="0" lang="zh-CN" altLang="en-US" sz="3200" b="1" dirty="0">
                <a:solidFill>
                  <a:schemeClr val="tx2"/>
                </a:solidFill>
                <a:latin typeface="黑体" pitchFamily="2" charset="-122"/>
                <a:ea typeface="黑体" pitchFamily="2" charset="-122"/>
                <a:cs typeface="+mj-cs"/>
              </a:rPr>
              <a:t>学习要求</a:t>
            </a:r>
          </a:p>
        </p:txBody>
      </p:sp>
      <p:sp>
        <p:nvSpPr>
          <p:cNvPr id="3" name="矩形 2">
            <a:extLst>
              <a:ext uri="{FF2B5EF4-FFF2-40B4-BE49-F238E27FC236}">
                <a16:creationId xmlns:a16="http://schemas.microsoft.com/office/drawing/2014/main" id="{B5CF0DBE-7774-4DC6-88FE-D6E02E350864}"/>
              </a:ext>
            </a:extLst>
          </p:cNvPr>
          <p:cNvSpPr/>
          <p:nvPr/>
        </p:nvSpPr>
        <p:spPr>
          <a:xfrm>
            <a:off x="1991545" y="4288150"/>
            <a:ext cx="7758854" cy="1303177"/>
          </a:xfrm>
          <a:prstGeom prst="rect">
            <a:avLst/>
          </a:prstGeom>
        </p:spPr>
        <p:txBody>
          <a:bodyPr wrap="square">
            <a:spAutoFit/>
          </a:bodyPr>
          <a:lstStyle/>
          <a:p>
            <a:pPr algn="ctr">
              <a:lnSpc>
                <a:spcPct val="150000"/>
              </a:lnSpc>
            </a:pPr>
            <a:r>
              <a:rPr lang="zh-CN" altLang="zh-CN" sz="2800" kern="100" dirty="0">
                <a:cs typeface="Arial" panose="020B0604020202020204" pitchFamily="34" charset="0"/>
              </a:rPr>
              <a:t>按</a:t>
            </a:r>
            <a:r>
              <a:rPr lang="zh-CN" altLang="zh-CN" sz="2800" b="1" kern="100" dirty="0">
                <a:solidFill>
                  <a:srgbClr val="FF0000"/>
                </a:solidFill>
                <a:cs typeface="Arial" panose="020B0604020202020204" pitchFamily="34" charset="0"/>
              </a:rPr>
              <a:t>课程导学</a:t>
            </a:r>
            <a:r>
              <a:rPr lang="zh-CN" altLang="zh-CN" sz="2800" kern="100" dirty="0">
                <a:cs typeface="Arial" panose="020B0604020202020204" pitchFamily="34" charset="0"/>
              </a:rPr>
              <a:t>预习、复习教学内容</a:t>
            </a:r>
            <a:r>
              <a:rPr lang="zh-CN" altLang="en-US" sz="2800" kern="100" dirty="0">
                <a:cs typeface="Arial" panose="020B0604020202020204" pitchFamily="34" charset="0"/>
              </a:rPr>
              <a:t>，完成线上作业、测试、参与讨论</a:t>
            </a:r>
            <a:endParaRPr lang="zh-CN" altLang="en-US" sz="2800" dirty="0"/>
          </a:p>
        </p:txBody>
      </p:sp>
      <p:sp>
        <p:nvSpPr>
          <p:cNvPr id="19" name="矩形 18">
            <a:extLst>
              <a:ext uri="{FF2B5EF4-FFF2-40B4-BE49-F238E27FC236}">
                <a16:creationId xmlns:a16="http://schemas.microsoft.com/office/drawing/2014/main" id="{C6DD1B44-CC44-4AA4-9A44-04000DFA7E80}"/>
              </a:ext>
            </a:extLst>
          </p:cNvPr>
          <p:cNvSpPr/>
          <p:nvPr/>
        </p:nvSpPr>
        <p:spPr>
          <a:xfrm>
            <a:off x="1879644" y="5591327"/>
            <a:ext cx="9161482" cy="523220"/>
          </a:xfrm>
          <a:prstGeom prst="rect">
            <a:avLst/>
          </a:prstGeom>
        </p:spPr>
        <p:txBody>
          <a:bodyPr wrap="none">
            <a:spAutoFit/>
          </a:bodyPr>
          <a:lstStyle/>
          <a:p>
            <a:r>
              <a:rPr lang="zh-CN" altLang="en-US" sz="2800" dirty="0"/>
              <a:t>认真参与课堂讨论、完成随堂练习，按规定时间拍照上传</a:t>
            </a:r>
          </a:p>
        </p:txBody>
      </p:sp>
      <p:sp>
        <p:nvSpPr>
          <p:cNvPr id="5" name="矩形 4">
            <a:extLst>
              <a:ext uri="{FF2B5EF4-FFF2-40B4-BE49-F238E27FC236}">
                <a16:creationId xmlns:a16="http://schemas.microsoft.com/office/drawing/2014/main" id="{AAED0A00-FDD7-4AF3-BAF2-A9665BFB9104}"/>
              </a:ext>
            </a:extLst>
          </p:cNvPr>
          <p:cNvSpPr/>
          <p:nvPr/>
        </p:nvSpPr>
        <p:spPr>
          <a:xfrm>
            <a:off x="1868487" y="3654769"/>
            <a:ext cx="8193269" cy="656846"/>
          </a:xfrm>
          <a:prstGeom prst="rect">
            <a:avLst/>
          </a:prstGeom>
        </p:spPr>
        <p:txBody>
          <a:bodyPr wrap="none">
            <a:spAutoFit/>
          </a:bodyPr>
          <a:lstStyle/>
          <a:p>
            <a:pPr>
              <a:lnSpc>
                <a:spcPct val="150000"/>
              </a:lnSpc>
              <a:spcAft>
                <a:spcPts val="0"/>
              </a:spcAft>
            </a:pPr>
            <a:r>
              <a:rPr lang="zh-CN" altLang="en-US" sz="2800" b="1" kern="100" dirty="0">
                <a:solidFill>
                  <a:srgbClr val="0070C0"/>
                </a:solidFill>
                <a:cs typeface="Arial" panose="020B0604020202020204" pitchFamily="34" charset="0"/>
              </a:rPr>
              <a:t>认真阅读发布在工程制图</a:t>
            </a:r>
            <a:r>
              <a:rPr lang="en-US" altLang="zh-CN" sz="2800" b="1" kern="100" dirty="0">
                <a:solidFill>
                  <a:srgbClr val="0070C0"/>
                </a:solidFill>
                <a:cs typeface="Arial" panose="020B0604020202020204" pitchFamily="34" charset="0"/>
              </a:rPr>
              <a:t>MOOC</a:t>
            </a:r>
            <a:r>
              <a:rPr lang="zh-CN" altLang="en-US" sz="2800" b="1" kern="100" dirty="0">
                <a:solidFill>
                  <a:srgbClr val="0070C0"/>
                </a:solidFill>
                <a:cs typeface="Arial" panose="020B0604020202020204" pitchFamily="34" charset="0"/>
              </a:rPr>
              <a:t>上的课程教学大纲</a:t>
            </a:r>
            <a:endParaRPr lang="zh-CN" altLang="zh-CN" sz="2800" kern="100" dirty="0">
              <a:solidFill>
                <a:srgbClr val="0070C0"/>
              </a:solidFill>
            </a:endParaRPr>
          </a:p>
        </p:txBody>
      </p:sp>
    </p:spTree>
    <p:extLst>
      <p:ext uri="{BB962C8B-B14F-4D97-AF65-F5344CB8AC3E}">
        <p14:creationId xmlns:p14="http://schemas.microsoft.com/office/powerpoint/2010/main" val="1821036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5"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ppt_w</p:attrName>
                                        </p:attrNameLst>
                                      </p:cBhvr>
                                      <p:tavLst>
                                        <p:tav tm="0">
                                          <p:val>
                                            <p:strVal val="#ppt_w*0.70"/>
                                          </p:val>
                                        </p:tav>
                                        <p:tav tm="100000">
                                          <p:val>
                                            <p:strVal val="#ppt_w"/>
                                          </p:val>
                                        </p:tav>
                                      </p:tavLst>
                                    </p:anim>
                                    <p:anim calcmode="lin" valueType="num">
                                      <p:cBhvr>
                                        <p:cTn id="14" dur="1000" fill="hold"/>
                                        <p:tgtEl>
                                          <p:spTgt spid="2"/>
                                        </p:tgtEl>
                                        <p:attrNameLst>
                                          <p:attrName>ppt_h</p:attrName>
                                        </p:attrNameLst>
                                      </p:cBhvr>
                                      <p:tavLst>
                                        <p:tav tm="0">
                                          <p:val>
                                            <p:strVal val="#ppt_h"/>
                                          </p:val>
                                        </p:tav>
                                        <p:tav tm="100000">
                                          <p:val>
                                            <p:strVal val="#ppt_h"/>
                                          </p:val>
                                        </p:tav>
                                      </p:tavLst>
                                    </p:anim>
                                    <p:animEffect transition="in" filter="fade">
                                      <p:cBhvr>
                                        <p:cTn id="15" dur="10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0-#ppt_w/2"/>
                                          </p:val>
                                        </p:tav>
                                        <p:tav tm="100000">
                                          <p:val>
                                            <p:strVal val="#ppt_x"/>
                                          </p:val>
                                        </p:tav>
                                      </p:tavLst>
                                    </p:anim>
                                    <p:anim calcmode="lin" valueType="num">
                                      <p:cBhvr additive="base">
                                        <p:cTn id="26"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down)">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 calcmode="lin" valueType="num">
                                      <p:cBhvr>
                                        <p:cTn id="36" dur="1000" fill="hold"/>
                                        <p:tgtEl>
                                          <p:spTgt spid="3"/>
                                        </p:tgtEl>
                                        <p:attrNameLst>
                                          <p:attrName>ppt_w</p:attrName>
                                        </p:attrNameLst>
                                      </p:cBhvr>
                                      <p:tavLst>
                                        <p:tav tm="0">
                                          <p:val>
                                            <p:fltVal val="0"/>
                                          </p:val>
                                        </p:tav>
                                        <p:tav tm="100000">
                                          <p:val>
                                            <p:strVal val="#ppt_w"/>
                                          </p:val>
                                        </p:tav>
                                      </p:tavLst>
                                    </p:anim>
                                    <p:anim calcmode="lin" valueType="num">
                                      <p:cBhvr>
                                        <p:cTn id="37" dur="1000" fill="hold"/>
                                        <p:tgtEl>
                                          <p:spTgt spid="3"/>
                                        </p:tgtEl>
                                        <p:attrNameLst>
                                          <p:attrName>ppt_h</p:attrName>
                                        </p:attrNameLst>
                                      </p:cBhvr>
                                      <p:tavLst>
                                        <p:tav tm="0">
                                          <p:val>
                                            <p:fltVal val="0"/>
                                          </p:val>
                                        </p:tav>
                                        <p:tav tm="100000">
                                          <p:val>
                                            <p:strVal val="#ppt_h"/>
                                          </p:val>
                                        </p:tav>
                                      </p:tavLst>
                                    </p:anim>
                                    <p:anim calcmode="lin" valueType="num">
                                      <p:cBhvr>
                                        <p:cTn id="38" dur="1000" fill="hold"/>
                                        <p:tgtEl>
                                          <p:spTgt spid="3"/>
                                        </p:tgtEl>
                                        <p:attrNameLst>
                                          <p:attrName>style.rotation</p:attrName>
                                        </p:attrNameLst>
                                      </p:cBhvr>
                                      <p:tavLst>
                                        <p:tav tm="0">
                                          <p:val>
                                            <p:fltVal val="90"/>
                                          </p:val>
                                        </p:tav>
                                        <p:tav tm="100000">
                                          <p:val>
                                            <p:fltVal val="0"/>
                                          </p:val>
                                        </p:tav>
                                      </p:tavLst>
                                    </p:anim>
                                    <p:animEffect transition="in" filter="fade">
                                      <p:cBhvr>
                                        <p:cTn id="39" dur="1000"/>
                                        <p:tgtEl>
                                          <p:spTgt spid="3"/>
                                        </p:tgtEl>
                                      </p:cBhvr>
                                    </p:animEffect>
                                  </p:childTnLst>
                                </p:cTn>
                              </p:par>
                            </p:childTnLst>
                          </p:cTn>
                        </p:par>
                      </p:childTnLst>
                    </p:cTn>
                  </p:par>
                  <p:par>
                    <p:cTn id="40" fill="hold">
                      <p:stCondLst>
                        <p:cond delay="indefinite"/>
                      </p:stCondLst>
                      <p:childTnLst>
                        <p:par>
                          <p:cTn id="41" fill="hold">
                            <p:stCondLst>
                              <p:cond delay="0"/>
                            </p:stCondLst>
                            <p:childTnLst>
                              <p:par>
                                <p:cTn id="42" presetID="25" presetClass="entr" presetSubtype="0"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 calcmode="lin" valueType="num">
                                      <p:cBhvr>
                                        <p:cTn id="44" dur="500" decel="50000" fill="hold">
                                          <p:stCondLst>
                                            <p:cond delay="0"/>
                                          </p:stCondLst>
                                        </p:cTn>
                                        <p:tgtEl>
                                          <p:spTgt spid="19"/>
                                        </p:tgtEl>
                                        <p:attrNameLst>
                                          <p:attrName>style.rotation</p:attrName>
                                        </p:attrNameLst>
                                      </p:cBhvr>
                                      <p:tavLst>
                                        <p:tav tm="0">
                                          <p:val>
                                            <p:fltVal val="-90"/>
                                          </p:val>
                                        </p:tav>
                                        <p:tav tm="100000">
                                          <p:val>
                                            <p:fltVal val="0"/>
                                          </p:val>
                                        </p:tav>
                                      </p:tavLst>
                                    </p:anim>
                                    <p:anim calcmode="lin" valueType="num">
                                      <p:cBhvr>
                                        <p:cTn id="45" dur="500" decel="50000" fill="hold">
                                          <p:stCondLst>
                                            <p:cond delay="0"/>
                                          </p:stCondLst>
                                        </p:cTn>
                                        <p:tgtEl>
                                          <p:spTgt spid="19"/>
                                        </p:tgtEl>
                                        <p:attrNameLst>
                                          <p:attrName>ppt_w</p:attrName>
                                        </p:attrNameLst>
                                      </p:cBhvr>
                                      <p:tavLst>
                                        <p:tav tm="0">
                                          <p:val>
                                            <p:strVal val="#ppt_w"/>
                                          </p:val>
                                        </p:tav>
                                        <p:tav tm="100000">
                                          <p:val>
                                            <p:strVal val="#ppt_w*.05"/>
                                          </p:val>
                                        </p:tav>
                                      </p:tavLst>
                                    </p:anim>
                                    <p:anim calcmode="lin" valueType="num">
                                      <p:cBhvr>
                                        <p:cTn id="46" dur="500" accel="50000" fill="hold">
                                          <p:stCondLst>
                                            <p:cond delay="500"/>
                                          </p:stCondLst>
                                        </p:cTn>
                                        <p:tgtEl>
                                          <p:spTgt spid="19"/>
                                        </p:tgtEl>
                                        <p:attrNameLst>
                                          <p:attrName>ppt_w</p:attrName>
                                        </p:attrNameLst>
                                      </p:cBhvr>
                                      <p:tavLst>
                                        <p:tav tm="0">
                                          <p:val>
                                            <p:strVal val="#ppt_w*.05"/>
                                          </p:val>
                                        </p:tav>
                                        <p:tav tm="100000">
                                          <p:val>
                                            <p:strVal val="#ppt_w"/>
                                          </p:val>
                                        </p:tav>
                                      </p:tavLst>
                                    </p:anim>
                                    <p:anim calcmode="lin" valueType="num">
                                      <p:cBhvr>
                                        <p:cTn id="47" dur="1000" fill="hold"/>
                                        <p:tgtEl>
                                          <p:spTgt spid="19"/>
                                        </p:tgtEl>
                                        <p:attrNameLst>
                                          <p:attrName>ppt_h</p:attrName>
                                        </p:attrNameLst>
                                      </p:cBhvr>
                                      <p:tavLst>
                                        <p:tav tm="0">
                                          <p:val>
                                            <p:strVal val="#ppt_h"/>
                                          </p:val>
                                        </p:tav>
                                        <p:tav tm="100000">
                                          <p:val>
                                            <p:strVal val="#ppt_h"/>
                                          </p:val>
                                        </p:tav>
                                      </p:tavLst>
                                    </p:anim>
                                    <p:anim calcmode="lin" valueType="num">
                                      <p:cBhvr>
                                        <p:cTn id="48" dur="500" decel="50000" fill="hold">
                                          <p:stCondLst>
                                            <p:cond delay="0"/>
                                          </p:stCondLst>
                                        </p:cTn>
                                        <p:tgtEl>
                                          <p:spTgt spid="19"/>
                                        </p:tgtEl>
                                        <p:attrNameLst>
                                          <p:attrName>ppt_x</p:attrName>
                                        </p:attrNameLst>
                                      </p:cBhvr>
                                      <p:tavLst>
                                        <p:tav tm="0">
                                          <p:val>
                                            <p:strVal val="#ppt_x+.4"/>
                                          </p:val>
                                        </p:tav>
                                        <p:tav tm="100000">
                                          <p:val>
                                            <p:strVal val="#ppt_x"/>
                                          </p:val>
                                        </p:tav>
                                      </p:tavLst>
                                    </p:anim>
                                    <p:anim calcmode="lin" valueType="num">
                                      <p:cBhvr>
                                        <p:cTn id="49" dur="500" decel="50000" fill="hold">
                                          <p:stCondLst>
                                            <p:cond delay="0"/>
                                          </p:stCondLst>
                                        </p:cTn>
                                        <p:tgtEl>
                                          <p:spTgt spid="19"/>
                                        </p:tgtEl>
                                        <p:attrNameLst>
                                          <p:attrName>ppt_y</p:attrName>
                                        </p:attrNameLst>
                                      </p:cBhvr>
                                      <p:tavLst>
                                        <p:tav tm="0">
                                          <p:val>
                                            <p:strVal val="#ppt_y-.2"/>
                                          </p:val>
                                        </p:tav>
                                        <p:tav tm="100000">
                                          <p:val>
                                            <p:strVal val="#ppt_y+.1"/>
                                          </p:val>
                                        </p:tav>
                                      </p:tavLst>
                                    </p:anim>
                                    <p:anim calcmode="lin" valueType="num">
                                      <p:cBhvr>
                                        <p:cTn id="50" dur="500" accel="50000" fill="hold">
                                          <p:stCondLst>
                                            <p:cond delay="500"/>
                                          </p:stCondLst>
                                        </p:cTn>
                                        <p:tgtEl>
                                          <p:spTgt spid="19"/>
                                        </p:tgtEl>
                                        <p:attrNameLst>
                                          <p:attrName>ppt_y</p:attrName>
                                        </p:attrNameLst>
                                      </p:cBhvr>
                                      <p:tavLst>
                                        <p:tav tm="0">
                                          <p:val>
                                            <p:strVal val="#ppt_y+.1"/>
                                          </p:val>
                                        </p:tav>
                                        <p:tav tm="100000">
                                          <p:val>
                                            <p:strVal val="#ppt_y"/>
                                          </p:val>
                                        </p:tav>
                                      </p:tavLst>
                                    </p:anim>
                                    <p:animEffect transition="in" filter="fade">
                                      <p:cBhvr>
                                        <p:cTn id="51" dur="1000" decel="50000">
                                          <p:stCondLst>
                                            <p:cond delay="0"/>
                                          </p:stCondLst>
                                        </p:cTn>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P spid="17" grpId="0"/>
      <p:bldP spid="18" grpId="0"/>
      <p:bldP spid="3" grpId="0"/>
      <p:bldP spid="19"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a:xfrm>
            <a:off x="3381375" y="276117"/>
            <a:ext cx="5500688" cy="646331"/>
          </a:xfrm>
          <a:prstGeom prst="rect">
            <a:avLst/>
          </a:prstGeom>
        </p:spPr>
        <p:txBody>
          <a:bodyPr anchor="ctr">
            <a:spAutoFit/>
          </a:bodyPr>
          <a:lstStyle/>
          <a:p>
            <a:pPr algn="ctr" fontAlgn="auto">
              <a:spcAft>
                <a:spcPts val="0"/>
              </a:spcAft>
              <a:defRPr/>
            </a:pP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工程制图</a:t>
            </a: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课程</a:t>
            </a:r>
          </a:p>
        </p:txBody>
      </p:sp>
      <p:sp>
        <p:nvSpPr>
          <p:cNvPr id="16" name="标题 1">
            <a:extLst>
              <a:ext uri="{FF2B5EF4-FFF2-40B4-BE49-F238E27FC236}">
                <a16:creationId xmlns:a16="http://schemas.microsoft.com/office/drawing/2014/main" id="{CB218962-607E-491F-880A-9B1EFC6AD4B1}"/>
              </a:ext>
            </a:extLst>
          </p:cNvPr>
          <p:cNvSpPr txBox="1">
            <a:spLocks/>
          </p:cNvSpPr>
          <p:nvPr/>
        </p:nvSpPr>
        <p:spPr>
          <a:xfrm>
            <a:off x="1127448" y="1412776"/>
            <a:ext cx="3528392" cy="646331"/>
          </a:xfrm>
          <a:prstGeom prst="rect">
            <a:avLst/>
          </a:prstGeom>
        </p:spPr>
        <p:txBody>
          <a:bodyPr wrap="square" anchor="ctr">
            <a:spAutoFit/>
          </a:bodyPr>
          <a:lstStyle/>
          <a:p>
            <a:pPr fontAlgn="auto">
              <a:spcAft>
                <a:spcPts val="0"/>
              </a:spcAft>
              <a:defRPr/>
            </a:pPr>
            <a:r>
              <a:rPr kumimoji="0" lang="zh-CN" altLang="en-US" sz="3600" b="1" dirty="0">
                <a:solidFill>
                  <a:schemeClr val="tx2"/>
                </a:solidFill>
                <a:latin typeface="黑体" pitchFamily="2" charset="-122"/>
                <a:ea typeface="黑体" pitchFamily="2" charset="-122"/>
                <a:cs typeface="+mj-cs"/>
              </a:rPr>
              <a:t>学而须知</a:t>
            </a:r>
          </a:p>
        </p:txBody>
      </p:sp>
      <p:sp>
        <p:nvSpPr>
          <p:cNvPr id="2" name="矩形 1">
            <a:extLst>
              <a:ext uri="{FF2B5EF4-FFF2-40B4-BE49-F238E27FC236}">
                <a16:creationId xmlns:a16="http://schemas.microsoft.com/office/drawing/2014/main" id="{F8CF8511-1B67-454A-94CE-14547BCE8F0B}"/>
              </a:ext>
            </a:extLst>
          </p:cNvPr>
          <p:cNvSpPr/>
          <p:nvPr/>
        </p:nvSpPr>
        <p:spPr>
          <a:xfrm>
            <a:off x="1991544" y="2059107"/>
            <a:ext cx="7758855" cy="523220"/>
          </a:xfrm>
          <a:prstGeom prst="rect">
            <a:avLst/>
          </a:prstGeom>
        </p:spPr>
        <p:txBody>
          <a:bodyPr wrap="none">
            <a:spAutoFit/>
          </a:bodyPr>
          <a:lstStyle/>
          <a:p>
            <a:r>
              <a:rPr lang="zh-CN" altLang="en-US" sz="2800" kern="100" dirty="0">
                <a:cs typeface="Arial" panose="020B0604020202020204" pitchFamily="34" charset="0"/>
              </a:rPr>
              <a:t>本课程是 </a:t>
            </a:r>
            <a:r>
              <a:rPr lang="zh-CN" altLang="en-US" sz="2800" b="1" kern="100" dirty="0">
                <a:solidFill>
                  <a:srgbClr val="FF0000"/>
                </a:solidFill>
                <a:cs typeface="Arial" panose="020B0604020202020204" pitchFamily="34" charset="0"/>
              </a:rPr>
              <a:t>“基于工程制图</a:t>
            </a:r>
            <a:r>
              <a:rPr lang="en-US" altLang="zh-CN" sz="2800" b="1" kern="100" dirty="0">
                <a:solidFill>
                  <a:srgbClr val="FF0000"/>
                </a:solidFill>
                <a:cs typeface="Arial" panose="020B0604020202020204" pitchFamily="34" charset="0"/>
              </a:rPr>
              <a:t>MOOC+</a:t>
            </a:r>
            <a:r>
              <a:rPr lang="zh-CN" altLang="en-US" sz="2800" b="1" kern="100" dirty="0">
                <a:solidFill>
                  <a:srgbClr val="FF0000"/>
                </a:solidFill>
                <a:cs typeface="Arial" panose="020B0604020202020204" pitchFamily="34" charset="0"/>
              </a:rPr>
              <a:t>翻转课堂”</a:t>
            </a:r>
            <a:r>
              <a:rPr lang="zh-CN" altLang="en-US" sz="2800" kern="100" dirty="0">
                <a:cs typeface="Arial" panose="020B0604020202020204" pitchFamily="34" charset="0"/>
              </a:rPr>
              <a:t>的</a:t>
            </a:r>
            <a:endParaRPr lang="zh-CN" altLang="en-US" sz="2800" dirty="0"/>
          </a:p>
        </p:txBody>
      </p:sp>
      <p:sp>
        <p:nvSpPr>
          <p:cNvPr id="17" name="矩形 16">
            <a:extLst>
              <a:ext uri="{FF2B5EF4-FFF2-40B4-BE49-F238E27FC236}">
                <a16:creationId xmlns:a16="http://schemas.microsoft.com/office/drawing/2014/main" id="{20334467-8A1D-4C98-9E71-F4DFA237DF62}"/>
              </a:ext>
            </a:extLst>
          </p:cNvPr>
          <p:cNvSpPr/>
          <p:nvPr/>
        </p:nvSpPr>
        <p:spPr>
          <a:xfrm>
            <a:off x="5447928" y="2582920"/>
            <a:ext cx="5593198" cy="523220"/>
          </a:xfrm>
          <a:prstGeom prst="rect">
            <a:avLst/>
          </a:prstGeom>
        </p:spPr>
        <p:txBody>
          <a:bodyPr wrap="none">
            <a:spAutoFit/>
          </a:bodyPr>
          <a:lstStyle/>
          <a:p>
            <a:r>
              <a:rPr lang="zh-CN" altLang="en-US" sz="2800" b="1" kern="100" dirty="0">
                <a:solidFill>
                  <a:srgbClr val="FF0000"/>
                </a:solidFill>
                <a:effectLst>
                  <a:outerShdw blurRad="38100" dist="38100" dir="2700000" algn="tl">
                    <a:srgbClr val="000000">
                      <a:alpha val="43137"/>
                    </a:srgbClr>
                  </a:outerShdw>
                </a:effectLst>
                <a:cs typeface="Arial" panose="020B0604020202020204" pitchFamily="34" charset="0"/>
              </a:rPr>
              <a:t>“线上”</a:t>
            </a:r>
            <a:r>
              <a:rPr lang="en-US" altLang="zh-CN" sz="2800" b="1" kern="100" dirty="0">
                <a:solidFill>
                  <a:srgbClr val="FF0000"/>
                </a:solidFill>
                <a:effectLst>
                  <a:outerShdw blurRad="38100" dist="38100" dir="2700000" algn="tl">
                    <a:srgbClr val="000000">
                      <a:alpha val="43137"/>
                    </a:srgbClr>
                  </a:outerShdw>
                </a:effectLst>
                <a:cs typeface="Arial" panose="020B0604020202020204" pitchFamily="34" charset="0"/>
              </a:rPr>
              <a:t>+</a:t>
            </a:r>
            <a:r>
              <a:rPr lang="zh-CN" altLang="en-US" sz="2800" b="1" kern="100" dirty="0">
                <a:solidFill>
                  <a:srgbClr val="FF0000"/>
                </a:solidFill>
                <a:effectLst>
                  <a:outerShdw blurRad="38100" dist="38100" dir="2700000" algn="tl">
                    <a:srgbClr val="000000">
                      <a:alpha val="43137"/>
                    </a:srgbClr>
                  </a:outerShdw>
                </a:effectLst>
                <a:cs typeface="Arial" panose="020B0604020202020204" pitchFamily="34" charset="0"/>
              </a:rPr>
              <a:t> “线下”</a:t>
            </a:r>
            <a:r>
              <a:rPr lang="zh-CN" altLang="en-US" sz="2800" b="1" kern="100" dirty="0">
                <a:effectLst>
                  <a:outerShdw blurRad="38100" dist="38100" dir="2700000" algn="tl">
                    <a:srgbClr val="000000">
                      <a:alpha val="43137"/>
                    </a:srgbClr>
                  </a:outerShdw>
                </a:effectLst>
                <a:cs typeface="Arial" panose="020B0604020202020204" pitchFamily="34" charset="0"/>
              </a:rPr>
              <a:t>混合教学模式 </a:t>
            </a:r>
            <a:endParaRPr lang="zh-CN" altLang="en-US" sz="2800" b="1" dirty="0">
              <a:effectLst>
                <a:outerShdw blurRad="38100" dist="38100" dir="2700000" algn="tl">
                  <a:srgbClr val="000000">
                    <a:alpha val="43137"/>
                  </a:srgbClr>
                </a:outerShdw>
              </a:effectLst>
            </a:endParaRPr>
          </a:p>
        </p:txBody>
      </p:sp>
      <p:sp>
        <p:nvSpPr>
          <p:cNvPr id="20" name="标题 1">
            <a:extLst>
              <a:ext uri="{FF2B5EF4-FFF2-40B4-BE49-F238E27FC236}">
                <a16:creationId xmlns:a16="http://schemas.microsoft.com/office/drawing/2014/main" id="{6662D916-1BAC-46B6-89BC-35B0AFEF340F}"/>
              </a:ext>
            </a:extLst>
          </p:cNvPr>
          <p:cNvSpPr txBox="1">
            <a:spLocks/>
          </p:cNvSpPr>
          <p:nvPr/>
        </p:nvSpPr>
        <p:spPr>
          <a:xfrm>
            <a:off x="1667508" y="2997232"/>
            <a:ext cx="2448272" cy="584775"/>
          </a:xfrm>
          <a:prstGeom prst="rect">
            <a:avLst/>
          </a:prstGeom>
        </p:spPr>
        <p:txBody>
          <a:bodyPr wrap="square" anchor="ctr">
            <a:spAutoFit/>
          </a:bodyPr>
          <a:lstStyle/>
          <a:p>
            <a:pPr fontAlgn="auto">
              <a:spcAft>
                <a:spcPts val="0"/>
              </a:spcAft>
              <a:defRPr/>
            </a:pPr>
            <a:r>
              <a:rPr kumimoji="0" lang="en-US" altLang="zh-CN" sz="3200" b="1" dirty="0">
                <a:solidFill>
                  <a:schemeClr val="tx2"/>
                </a:solidFill>
                <a:latin typeface="黑体" pitchFamily="2" charset="-122"/>
                <a:ea typeface="黑体" pitchFamily="2" charset="-122"/>
                <a:cs typeface="+mj-cs"/>
              </a:rPr>
              <a:t>2.</a:t>
            </a:r>
            <a:r>
              <a:rPr kumimoji="0" lang="zh-CN" altLang="en-US" sz="3200" b="1" dirty="0">
                <a:solidFill>
                  <a:schemeClr val="tx2"/>
                </a:solidFill>
                <a:latin typeface="黑体" pitchFamily="2" charset="-122"/>
                <a:ea typeface="黑体" pitchFamily="2" charset="-122"/>
                <a:cs typeface="+mj-cs"/>
              </a:rPr>
              <a:t>课程考核</a:t>
            </a:r>
          </a:p>
        </p:txBody>
      </p:sp>
      <p:sp>
        <p:nvSpPr>
          <p:cNvPr id="4" name="矩形 3">
            <a:extLst>
              <a:ext uri="{FF2B5EF4-FFF2-40B4-BE49-F238E27FC236}">
                <a16:creationId xmlns:a16="http://schemas.microsoft.com/office/drawing/2014/main" id="{FA0DA644-8B6E-4FF3-A57E-D67E407D3C5E}"/>
              </a:ext>
            </a:extLst>
          </p:cNvPr>
          <p:cNvSpPr/>
          <p:nvPr/>
        </p:nvSpPr>
        <p:spPr>
          <a:xfrm>
            <a:off x="2063552" y="3627100"/>
            <a:ext cx="9594485" cy="954107"/>
          </a:xfrm>
          <a:prstGeom prst="rect">
            <a:avLst/>
          </a:prstGeom>
        </p:spPr>
        <p:txBody>
          <a:bodyPr wrap="square">
            <a:spAutoFit/>
          </a:bodyPr>
          <a:lstStyle/>
          <a:p>
            <a:pPr>
              <a:spcAft>
                <a:spcPts val="0"/>
              </a:spcAft>
            </a:pPr>
            <a:r>
              <a:rPr lang="zh-CN" altLang="zh-CN" sz="2800" b="1" kern="100" dirty="0">
                <a:solidFill>
                  <a:srgbClr val="FF0000"/>
                </a:solidFill>
                <a:cs typeface="Arial" panose="020B0604020202020204" pitchFamily="34" charset="0"/>
              </a:rPr>
              <a:t>综合成绩</a:t>
            </a:r>
            <a:r>
              <a:rPr lang="en-US" altLang="zh-CN" sz="2800" b="1" kern="100" dirty="0">
                <a:solidFill>
                  <a:srgbClr val="FF0000"/>
                </a:solidFill>
                <a:cs typeface="Arial" panose="020B0604020202020204" pitchFamily="34" charset="0"/>
              </a:rPr>
              <a:t>:</a:t>
            </a:r>
          </a:p>
          <a:p>
            <a:pPr>
              <a:spcAft>
                <a:spcPts val="0"/>
              </a:spcAft>
            </a:pPr>
            <a:r>
              <a:rPr lang="en-US" altLang="zh-CN" sz="2800" b="1" kern="100" dirty="0">
                <a:solidFill>
                  <a:srgbClr val="FF0000"/>
                </a:solidFill>
                <a:cs typeface="Arial" panose="020B0604020202020204" pitchFamily="34" charset="0"/>
              </a:rPr>
              <a:t>        </a:t>
            </a:r>
            <a:r>
              <a:rPr lang="zh-CN" altLang="zh-CN" sz="2800" b="1" kern="100" dirty="0">
                <a:solidFill>
                  <a:srgbClr val="FF0000"/>
                </a:solidFill>
                <a:cs typeface="Arial" panose="020B0604020202020204" pitchFamily="34" charset="0"/>
              </a:rPr>
              <a:t>期末</a:t>
            </a:r>
            <a:r>
              <a:rPr lang="en-US" altLang="zh-CN" sz="2800" b="1" kern="100" dirty="0">
                <a:solidFill>
                  <a:srgbClr val="0070C0"/>
                </a:solidFill>
                <a:cs typeface="Arial" panose="020B0604020202020204" pitchFamily="34" charset="0"/>
              </a:rPr>
              <a:t>60%</a:t>
            </a:r>
            <a:r>
              <a:rPr lang="en-US" altLang="zh-CN" sz="2800" b="1" kern="100" dirty="0">
                <a:solidFill>
                  <a:srgbClr val="FF0000"/>
                </a:solidFill>
                <a:cs typeface="Arial" panose="020B0604020202020204" pitchFamily="34" charset="0"/>
              </a:rPr>
              <a:t>+</a:t>
            </a:r>
            <a:r>
              <a:rPr lang="zh-CN" altLang="zh-CN" sz="2800" b="1" kern="100" dirty="0">
                <a:solidFill>
                  <a:srgbClr val="FF0000"/>
                </a:solidFill>
                <a:cs typeface="Arial" panose="020B0604020202020204" pitchFamily="34" charset="0"/>
              </a:rPr>
              <a:t>随堂考试</a:t>
            </a:r>
            <a:r>
              <a:rPr lang="en-US" altLang="zh-CN" sz="2800" b="1" kern="100" dirty="0">
                <a:solidFill>
                  <a:srgbClr val="0070C0"/>
                </a:solidFill>
                <a:cs typeface="Arial" panose="020B0604020202020204" pitchFamily="34" charset="0"/>
              </a:rPr>
              <a:t>10%</a:t>
            </a:r>
            <a:r>
              <a:rPr lang="en-US" altLang="zh-CN" sz="2800" b="1" kern="100" dirty="0">
                <a:solidFill>
                  <a:srgbClr val="FF0000"/>
                </a:solidFill>
                <a:cs typeface="Arial" panose="020B0604020202020204" pitchFamily="34" charset="0"/>
              </a:rPr>
              <a:t>+CAD</a:t>
            </a:r>
            <a:r>
              <a:rPr lang="zh-CN" altLang="zh-CN" sz="2800" b="1" kern="100" dirty="0">
                <a:solidFill>
                  <a:srgbClr val="FF0000"/>
                </a:solidFill>
                <a:cs typeface="Arial" panose="020B0604020202020204" pitchFamily="34" charset="0"/>
              </a:rPr>
              <a:t>作业</a:t>
            </a:r>
            <a:r>
              <a:rPr lang="en-US" altLang="zh-CN" sz="2800" b="1" kern="100" dirty="0">
                <a:solidFill>
                  <a:srgbClr val="0070C0"/>
                </a:solidFill>
                <a:cs typeface="Arial" panose="020B0604020202020204" pitchFamily="34" charset="0"/>
              </a:rPr>
              <a:t>10%</a:t>
            </a:r>
            <a:r>
              <a:rPr lang="en-US" altLang="zh-CN" sz="2800" b="1" kern="100" dirty="0">
                <a:solidFill>
                  <a:srgbClr val="FF0000"/>
                </a:solidFill>
                <a:cs typeface="Arial" panose="020B0604020202020204" pitchFamily="34" charset="0"/>
              </a:rPr>
              <a:t>+</a:t>
            </a:r>
            <a:r>
              <a:rPr lang="zh-CN" altLang="zh-CN" sz="2800" b="1" kern="100" dirty="0">
                <a:solidFill>
                  <a:srgbClr val="FF0000"/>
                </a:solidFill>
                <a:cs typeface="Arial" panose="020B0604020202020204" pitchFamily="34" charset="0"/>
              </a:rPr>
              <a:t>平时成绩</a:t>
            </a:r>
            <a:r>
              <a:rPr lang="en-US" altLang="zh-CN" sz="2800" b="1" kern="100" dirty="0">
                <a:solidFill>
                  <a:srgbClr val="0070C0"/>
                </a:solidFill>
                <a:cs typeface="Arial" panose="020B0604020202020204" pitchFamily="34" charset="0"/>
              </a:rPr>
              <a:t>20%</a:t>
            </a:r>
            <a:endParaRPr lang="zh-CN" altLang="zh-CN" sz="2800" kern="100" dirty="0">
              <a:solidFill>
                <a:srgbClr val="0070C0"/>
              </a:solidFill>
            </a:endParaRPr>
          </a:p>
        </p:txBody>
      </p:sp>
      <p:sp>
        <p:nvSpPr>
          <p:cNvPr id="5" name="矩形 4">
            <a:extLst>
              <a:ext uri="{FF2B5EF4-FFF2-40B4-BE49-F238E27FC236}">
                <a16:creationId xmlns:a16="http://schemas.microsoft.com/office/drawing/2014/main" id="{17809663-BD78-416A-A331-1E7411FBB1F9}"/>
              </a:ext>
            </a:extLst>
          </p:cNvPr>
          <p:cNvSpPr/>
          <p:nvPr/>
        </p:nvSpPr>
        <p:spPr>
          <a:xfrm>
            <a:off x="1858021" y="4626300"/>
            <a:ext cx="4201791" cy="523220"/>
          </a:xfrm>
          <a:prstGeom prst="rect">
            <a:avLst/>
          </a:prstGeom>
        </p:spPr>
        <p:txBody>
          <a:bodyPr wrap="none">
            <a:spAutoFit/>
          </a:bodyPr>
          <a:lstStyle/>
          <a:p>
            <a:pPr>
              <a:spcAft>
                <a:spcPts val="0"/>
              </a:spcAft>
            </a:pPr>
            <a:r>
              <a:rPr lang="zh-CN" altLang="zh-CN" sz="2800" b="1" kern="100" dirty="0">
                <a:solidFill>
                  <a:srgbClr val="FF0000"/>
                </a:solidFill>
                <a:cs typeface="Arial" panose="020B0604020202020204" pitchFamily="34" charset="0"/>
              </a:rPr>
              <a:t>平时成绩</a:t>
            </a:r>
            <a:r>
              <a:rPr lang="en-US" altLang="zh-CN" sz="2800" b="1" kern="100" dirty="0">
                <a:cs typeface="Arial" panose="020B0604020202020204" pitchFamily="34" charset="0"/>
              </a:rPr>
              <a:t>=</a:t>
            </a:r>
            <a:r>
              <a:rPr lang="zh-CN" altLang="zh-CN" sz="2800" b="1" kern="100" dirty="0">
                <a:solidFill>
                  <a:srgbClr val="0070C0"/>
                </a:solidFill>
                <a:cs typeface="Arial" panose="020B0604020202020204" pitchFamily="34" charset="0"/>
              </a:rPr>
              <a:t>线上成绩</a:t>
            </a:r>
            <a:r>
              <a:rPr lang="en-US" altLang="zh-CN" sz="2800" b="1" kern="100" dirty="0">
                <a:solidFill>
                  <a:srgbClr val="0070C0"/>
                </a:solidFill>
                <a:cs typeface="Arial" panose="020B0604020202020204" pitchFamily="34" charset="0"/>
              </a:rPr>
              <a:t>+</a:t>
            </a:r>
            <a:r>
              <a:rPr lang="zh-CN" altLang="zh-CN" sz="2800" b="1" kern="100" dirty="0">
                <a:solidFill>
                  <a:srgbClr val="0070C0"/>
                </a:solidFill>
                <a:cs typeface="Arial" panose="020B0604020202020204" pitchFamily="34" charset="0"/>
              </a:rPr>
              <a:t>作业</a:t>
            </a:r>
            <a:endParaRPr lang="zh-CN" altLang="zh-CN" sz="2800" kern="100" dirty="0">
              <a:solidFill>
                <a:srgbClr val="0070C0"/>
              </a:solidFill>
            </a:endParaRPr>
          </a:p>
        </p:txBody>
      </p:sp>
      <p:sp>
        <p:nvSpPr>
          <p:cNvPr id="6" name="矩形 5">
            <a:extLst>
              <a:ext uri="{FF2B5EF4-FFF2-40B4-BE49-F238E27FC236}">
                <a16:creationId xmlns:a16="http://schemas.microsoft.com/office/drawing/2014/main" id="{D50588EB-3C62-4A13-AA1B-02E644B1B5D1}"/>
              </a:ext>
            </a:extLst>
          </p:cNvPr>
          <p:cNvSpPr/>
          <p:nvPr/>
        </p:nvSpPr>
        <p:spPr>
          <a:xfrm>
            <a:off x="1853221" y="5115499"/>
            <a:ext cx="9643379" cy="1384995"/>
          </a:xfrm>
          <a:prstGeom prst="rect">
            <a:avLst/>
          </a:prstGeom>
        </p:spPr>
        <p:txBody>
          <a:bodyPr wrap="square">
            <a:spAutoFit/>
          </a:bodyPr>
          <a:lstStyle/>
          <a:p>
            <a:pPr>
              <a:spcAft>
                <a:spcPts val="0"/>
              </a:spcAft>
            </a:pPr>
            <a:r>
              <a:rPr lang="zh-CN" altLang="zh-CN" sz="2800" b="1" kern="100" dirty="0">
                <a:solidFill>
                  <a:srgbClr val="FF0000"/>
                </a:solidFill>
                <a:cs typeface="Arial" panose="020B0604020202020204" pitchFamily="34" charset="0"/>
              </a:rPr>
              <a:t>线上成绩</a:t>
            </a:r>
            <a:r>
              <a:rPr lang="zh-CN" altLang="en-US" sz="2800" b="1" kern="100" dirty="0">
                <a:cs typeface="Arial" panose="020B0604020202020204" pitchFamily="34" charset="0"/>
              </a:rPr>
              <a:t>：</a:t>
            </a:r>
            <a:endParaRPr lang="en-US" altLang="zh-CN" sz="2800" b="1" kern="100" dirty="0">
              <a:cs typeface="Arial" panose="020B0604020202020204" pitchFamily="34" charset="0"/>
            </a:endParaRPr>
          </a:p>
          <a:p>
            <a:pPr>
              <a:spcAft>
                <a:spcPts val="0"/>
              </a:spcAft>
            </a:pPr>
            <a:r>
              <a:rPr lang="en-US" altLang="zh-CN" sz="2800" b="1" kern="100" dirty="0">
                <a:cs typeface="Arial" panose="020B0604020202020204" pitchFamily="34" charset="0"/>
              </a:rPr>
              <a:t>           </a:t>
            </a:r>
            <a:r>
              <a:rPr lang="zh-CN" altLang="en-US" sz="2800" b="1" kern="100" dirty="0">
                <a:solidFill>
                  <a:srgbClr val="FF0000"/>
                </a:solidFill>
                <a:cs typeface="Arial" panose="020B0604020202020204" pitchFamily="34" charset="0"/>
              </a:rPr>
              <a:t>线上</a:t>
            </a:r>
            <a:r>
              <a:rPr lang="zh-CN" altLang="zh-CN" sz="2800" b="1" kern="100" dirty="0">
                <a:solidFill>
                  <a:srgbClr val="FF0000"/>
                </a:solidFill>
                <a:cs typeface="Arial" panose="020B0604020202020204" pitchFamily="34" charset="0"/>
              </a:rPr>
              <a:t>学习</a:t>
            </a:r>
            <a:r>
              <a:rPr lang="en-US" altLang="zh-CN" sz="2800" b="1" kern="100" dirty="0">
                <a:cs typeface="Arial" panose="020B0604020202020204" pitchFamily="34" charset="0"/>
              </a:rPr>
              <a:t>:</a:t>
            </a:r>
            <a:r>
              <a:rPr lang="zh-CN" altLang="zh-CN" sz="2800" b="1" kern="100" dirty="0">
                <a:solidFill>
                  <a:srgbClr val="FF0000"/>
                </a:solidFill>
                <a:cs typeface="Arial" panose="020B0604020202020204" pitchFamily="34" charset="0"/>
              </a:rPr>
              <a:t>视频</a:t>
            </a:r>
            <a:r>
              <a:rPr lang="en-US" altLang="zh-CN" sz="2800" b="1" kern="100" dirty="0">
                <a:cs typeface="Arial" panose="020B0604020202020204" pitchFamily="34" charset="0"/>
              </a:rPr>
              <a:t>+</a:t>
            </a:r>
            <a:r>
              <a:rPr lang="zh-CN" altLang="zh-CN" sz="2800" b="1" kern="100" dirty="0">
                <a:solidFill>
                  <a:srgbClr val="FF0000"/>
                </a:solidFill>
                <a:cs typeface="Arial" panose="020B0604020202020204" pitchFamily="34" charset="0"/>
              </a:rPr>
              <a:t>作业</a:t>
            </a:r>
            <a:r>
              <a:rPr lang="en-US" altLang="zh-CN" sz="2800" b="1" kern="100" dirty="0">
                <a:solidFill>
                  <a:srgbClr val="FF0000"/>
                </a:solidFill>
                <a:cs typeface="Arial" panose="020B0604020202020204" pitchFamily="34" charset="0"/>
              </a:rPr>
              <a:t>+</a:t>
            </a:r>
            <a:r>
              <a:rPr lang="zh-CN" altLang="zh-CN" sz="2800" b="1" kern="100" dirty="0">
                <a:solidFill>
                  <a:srgbClr val="FF0000"/>
                </a:solidFill>
                <a:cs typeface="Arial" panose="020B0604020202020204" pitchFamily="34" charset="0"/>
              </a:rPr>
              <a:t>课堂互动</a:t>
            </a:r>
            <a:r>
              <a:rPr lang="en-US" altLang="zh-CN" sz="2800" b="1" kern="100" dirty="0">
                <a:cs typeface="Arial" panose="020B0604020202020204" pitchFamily="34" charset="0"/>
              </a:rPr>
              <a:t>+</a:t>
            </a:r>
            <a:r>
              <a:rPr lang="zh-CN" altLang="zh-CN" sz="2800" b="1" kern="100" dirty="0">
                <a:solidFill>
                  <a:srgbClr val="FF0000"/>
                </a:solidFill>
                <a:cs typeface="Arial" panose="020B0604020202020204" pitchFamily="34" charset="0"/>
              </a:rPr>
              <a:t>章节测验</a:t>
            </a:r>
            <a:r>
              <a:rPr lang="en-US" altLang="zh-CN" sz="2800" b="1" kern="100" dirty="0">
                <a:cs typeface="Arial" panose="020B0604020202020204" pitchFamily="34" charset="0"/>
              </a:rPr>
              <a:t>+</a:t>
            </a:r>
            <a:r>
              <a:rPr lang="zh-CN" altLang="zh-CN" sz="2800" b="1" kern="100" dirty="0">
                <a:solidFill>
                  <a:srgbClr val="FF0000"/>
                </a:solidFill>
                <a:cs typeface="Arial" panose="020B0604020202020204" pitchFamily="34" charset="0"/>
              </a:rPr>
              <a:t>问题讨论</a:t>
            </a:r>
            <a:r>
              <a:rPr lang="en-US" altLang="zh-CN" sz="2800" b="1" kern="100" dirty="0">
                <a:solidFill>
                  <a:srgbClr val="FF0000"/>
                </a:solidFill>
                <a:cs typeface="Arial" panose="020B0604020202020204" pitchFamily="34" charset="0"/>
              </a:rPr>
              <a:t>+</a:t>
            </a:r>
            <a:r>
              <a:rPr lang="zh-CN" altLang="en-US" sz="2800" b="1" kern="100" dirty="0">
                <a:solidFill>
                  <a:srgbClr val="FF0000"/>
                </a:solidFill>
                <a:cs typeface="Arial" panose="020B0604020202020204" pitchFamily="34" charset="0"/>
              </a:rPr>
              <a:t>学进度</a:t>
            </a:r>
            <a:r>
              <a:rPr lang="en-US" altLang="zh-CN" sz="2800" b="1" kern="100" dirty="0">
                <a:cs typeface="Arial" panose="020B0604020202020204" pitchFamily="34" charset="0"/>
              </a:rPr>
              <a:t>+</a:t>
            </a:r>
            <a:r>
              <a:rPr lang="zh-CN" altLang="zh-CN" sz="2800" b="1" kern="100" dirty="0">
                <a:solidFill>
                  <a:srgbClr val="FF0000"/>
                </a:solidFill>
                <a:cs typeface="Arial" panose="020B0604020202020204" pitchFamily="34" charset="0"/>
              </a:rPr>
              <a:t>考试</a:t>
            </a:r>
            <a:endParaRPr lang="zh-CN" altLang="zh-CN" sz="2800" kern="100" dirty="0"/>
          </a:p>
        </p:txBody>
      </p:sp>
    </p:spTree>
    <p:extLst>
      <p:ext uri="{BB962C8B-B14F-4D97-AF65-F5344CB8AC3E}">
        <p14:creationId xmlns:p14="http://schemas.microsoft.com/office/powerpoint/2010/main" val="32682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p:tgtEl>
                                          <p:spTgt spid="4"/>
                                        </p:tgtEl>
                                        <p:attrNameLst>
                                          <p:attrName>ppt_y</p:attrName>
                                        </p:attrNameLst>
                                      </p:cBhvr>
                                      <p:tavLst>
                                        <p:tav tm="0">
                                          <p:val>
                                            <p:strVal val="#ppt_y+#ppt_h*1.125000"/>
                                          </p:val>
                                        </p:tav>
                                        <p:tav tm="100000">
                                          <p:val>
                                            <p:strVal val="#ppt_y"/>
                                          </p:val>
                                        </p:tav>
                                      </p:tavLst>
                                    </p:anim>
                                    <p:animEffect transition="in" filter="wipe(up)">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p:tgtEl>
                                          <p:spTgt spid="5"/>
                                        </p:tgtEl>
                                        <p:attrNameLst>
                                          <p:attrName>ppt_y</p:attrName>
                                        </p:attrNameLst>
                                      </p:cBhvr>
                                      <p:tavLst>
                                        <p:tav tm="0">
                                          <p:val>
                                            <p:strVal val="#ppt_y+#ppt_h*1.125000"/>
                                          </p:val>
                                        </p:tav>
                                        <p:tav tm="100000">
                                          <p:val>
                                            <p:strVal val="#ppt_y"/>
                                          </p:val>
                                        </p:tav>
                                      </p:tavLst>
                                    </p:anim>
                                    <p:animEffect transition="in" filter="wipe(up)">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p:tgtEl>
                                          <p:spTgt spid="6"/>
                                        </p:tgtEl>
                                        <p:attrNameLst>
                                          <p:attrName>ppt_y</p:attrName>
                                        </p:attrNameLst>
                                      </p:cBhvr>
                                      <p:tavLst>
                                        <p:tav tm="0">
                                          <p:val>
                                            <p:strVal val="#ppt_y+#ppt_h*1.125000"/>
                                          </p:val>
                                        </p:tav>
                                        <p:tav tm="100000">
                                          <p:val>
                                            <p:strVal val="#ppt_y"/>
                                          </p:val>
                                        </p:tav>
                                      </p:tavLst>
                                    </p:anim>
                                    <p:animEffect transition="in" filter="wipe(up)">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4" grpId="0"/>
      <p:bldP spid="5"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矩形 3"/>
          <p:cNvSpPr>
            <a:spLocks noChangeArrowheads="1"/>
          </p:cNvSpPr>
          <p:nvPr/>
        </p:nvSpPr>
        <p:spPr bwMode="auto">
          <a:xfrm>
            <a:off x="4810125" y="566738"/>
            <a:ext cx="2038350" cy="646112"/>
          </a:xfrm>
          <a:prstGeom prst="rect">
            <a:avLst/>
          </a:prstGeom>
          <a:noFill/>
          <a:ln w="9525">
            <a:noFill/>
            <a:miter lim="800000"/>
            <a:headEnd/>
            <a:tailEnd/>
          </a:ln>
        </p:spPr>
        <p:txBody>
          <a:bodyPr wrap="none">
            <a:spAutoFit/>
          </a:bodyPr>
          <a:lstStyle/>
          <a:p>
            <a:pPr>
              <a:buFont typeface="Wingdings" pitchFamily="2" charset="2"/>
              <a:buNone/>
            </a:pPr>
            <a:r>
              <a:rPr lang="zh-CN" altLang="en-US" sz="3600" b="1">
                <a:latin typeface="黑体" pitchFamily="49" charset="-122"/>
                <a:ea typeface="黑体" pitchFamily="49" charset="-122"/>
              </a:rPr>
              <a:t>本讲小结</a:t>
            </a:r>
            <a:endParaRPr lang="en-US" altLang="zh-CN" sz="3600" b="1">
              <a:latin typeface="黑体" pitchFamily="49" charset="-122"/>
              <a:ea typeface="黑体" pitchFamily="49" charset="-122"/>
            </a:endParaRPr>
          </a:p>
        </p:txBody>
      </p:sp>
      <p:sp>
        <p:nvSpPr>
          <p:cNvPr id="4" name="内容占位符 2"/>
          <p:cNvSpPr txBox="1">
            <a:spLocks/>
          </p:cNvSpPr>
          <p:nvPr/>
        </p:nvSpPr>
        <p:spPr bwMode="auto">
          <a:xfrm>
            <a:off x="1595438" y="5500689"/>
            <a:ext cx="2214562" cy="642937"/>
          </a:xfrm>
          <a:prstGeom prst="rect">
            <a:avLst/>
          </a:prstGeom>
          <a:solidFill>
            <a:srgbClr val="FFC000"/>
          </a:solidFill>
          <a:ln w="9525">
            <a:noFill/>
            <a:miter lim="800000"/>
            <a:headEnd/>
            <a:tailEnd/>
          </a:ln>
        </p:spPr>
        <p:txBody>
          <a:bodyPr/>
          <a:lstStyle/>
          <a:p>
            <a:pPr indent="-342900" algn="ctr">
              <a:spcBef>
                <a:spcPct val="20000"/>
              </a:spcBef>
              <a:defRPr/>
            </a:pPr>
            <a:r>
              <a:rPr kumimoji="0" lang="zh-CN" altLang="en-US" sz="3200" dirty="0">
                <a:solidFill>
                  <a:srgbClr val="FF0000"/>
                </a:solidFill>
                <a:effectLst>
                  <a:outerShdw blurRad="38100" dist="38100" dir="2700000" algn="tl">
                    <a:srgbClr val="000000">
                      <a:alpha val="43137"/>
                    </a:srgbClr>
                  </a:outerShdw>
                </a:effectLst>
                <a:latin typeface="黑体" pitchFamily="49" charset="-122"/>
                <a:ea typeface="黑体" pitchFamily="49" charset="-122"/>
              </a:rPr>
              <a:t>课程目标</a:t>
            </a:r>
            <a:r>
              <a:rPr kumimoji="0" lang="en-US" altLang="zh-CN" sz="3200" dirty="0">
                <a:solidFill>
                  <a:srgbClr val="FF0000"/>
                </a:solidFill>
                <a:effectLst>
                  <a:outerShdw blurRad="38100" dist="38100" dir="2700000" algn="tl">
                    <a:srgbClr val="000000">
                      <a:alpha val="43137"/>
                    </a:srgbClr>
                  </a:outerShdw>
                </a:effectLst>
                <a:latin typeface="黑体" pitchFamily="49" charset="-122"/>
                <a:ea typeface="黑体" pitchFamily="49" charset="-122"/>
              </a:rPr>
              <a:t>:</a:t>
            </a:r>
          </a:p>
        </p:txBody>
      </p:sp>
      <p:sp>
        <p:nvSpPr>
          <p:cNvPr id="5" name="Text Box 15"/>
          <p:cNvSpPr txBox="1">
            <a:spLocks noChangeArrowheads="1"/>
          </p:cNvSpPr>
          <p:nvPr/>
        </p:nvSpPr>
        <p:spPr bwMode="auto">
          <a:xfrm>
            <a:off x="5881689" y="2495550"/>
            <a:ext cx="4894831" cy="1384300"/>
          </a:xfrm>
          <a:prstGeom prst="rect">
            <a:avLst/>
          </a:prstGeom>
          <a:solidFill>
            <a:schemeClr val="accent3">
              <a:lumMod val="20000"/>
              <a:lumOff val="80000"/>
            </a:schemeClr>
          </a:solidFill>
          <a:ln w="9525">
            <a:noFill/>
            <a:miter lim="800000"/>
            <a:headEnd/>
            <a:tailEnd/>
          </a:ln>
          <a:effectLst/>
        </p:spPr>
        <p:txBody>
          <a:bodyPr wrap="square" anchor="ctr">
            <a:spAutoFit/>
          </a:bodyPr>
          <a:lstStyle/>
          <a:p>
            <a:pPr>
              <a:defRPr/>
            </a:pPr>
            <a:r>
              <a:rPr kumimoji="0" lang="zh-CN" altLang="en-US" sz="2800" b="1" dirty="0">
                <a:solidFill>
                  <a:srgbClr val="0070C0"/>
                </a:solidFill>
                <a:latin typeface="+mn-ea"/>
                <a:ea typeface="+mn-ea"/>
              </a:rPr>
              <a:t>以图形为研究对象，用图形来表达设计思维、交流与传递产品信息。</a:t>
            </a:r>
          </a:p>
        </p:txBody>
      </p:sp>
      <p:sp>
        <p:nvSpPr>
          <p:cNvPr id="6" name="AutoShape 8"/>
          <p:cNvSpPr>
            <a:spLocks noChangeArrowheads="1"/>
          </p:cNvSpPr>
          <p:nvPr/>
        </p:nvSpPr>
        <p:spPr bwMode="auto">
          <a:xfrm rot="-5400000">
            <a:off x="4977607" y="1377157"/>
            <a:ext cx="357187" cy="1308100"/>
          </a:xfrm>
          <a:prstGeom prst="downArrow">
            <a:avLst>
              <a:gd name="adj1" fmla="val 50000"/>
              <a:gd name="adj2" fmla="val 90267"/>
            </a:avLst>
          </a:prstGeom>
          <a:solidFill>
            <a:srgbClr val="FF0000"/>
          </a:solidFill>
          <a:ln w="9525" algn="ctr">
            <a:solidFill>
              <a:schemeClr val="tx1"/>
            </a:solidFill>
            <a:miter lim="800000"/>
            <a:headEnd/>
            <a:tailEnd/>
          </a:ln>
        </p:spPr>
        <p:txBody>
          <a:bodyPr wrap="none" anchor="ctr"/>
          <a:lstStyle/>
          <a:p>
            <a:endParaRPr lang="zh-CN" altLang="en-US"/>
          </a:p>
        </p:txBody>
      </p:sp>
      <p:sp>
        <p:nvSpPr>
          <p:cNvPr id="7" name="矩形 6"/>
          <p:cNvSpPr/>
          <p:nvPr/>
        </p:nvSpPr>
        <p:spPr>
          <a:xfrm>
            <a:off x="4595814" y="1352551"/>
            <a:ext cx="803275" cy="461963"/>
          </a:xfrm>
          <a:prstGeom prst="rect">
            <a:avLst/>
          </a:prstGeom>
        </p:spPr>
        <p:txBody>
          <a:bodyPr wrap="none">
            <a:spAutoFit/>
          </a:bodyPr>
          <a:lstStyle/>
          <a:p>
            <a:pPr>
              <a:defRPr/>
            </a:pPr>
            <a:r>
              <a:rPr kumimoji="0" lang="zh-CN" altLang="en-US" b="1" dirty="0">
                <a:solidFill>
                  <a:srgbClr val="0070C0"/>
                </a:solidFill>
                <a:latin typeface="+mn-ea"/>
              </a:rPr>
              <a:t>研究</a:t>
            </a:r>
            <a:endParaRPr lang="zh-CN" altLang="en-US" dirty="0"/>
          </a:p>
        </p:txBody>
      </p:sp>
      <p:sp>
        <p:nvSpPr>
          <p:cNvPr id="8" name="Text Box 15"/>
          <p:cNvSpPr txBox="1">
            <a:spLocks noChangeArrowheads="1"/>
          </p:cNvSpPr>
          <p:nvPr/>
        </p:nvSpPr>
        <p:spPr bwMode="auto">
          <a:xfrm>
            <a:off x="5881689" y="1423989"/>
            <a:ext cx="4894831" cy="954087"/>
          </a:xfrm>
          <a:prstGeom prst="rect">
            <a:avLst/>
          </a:prstGeom>
          <a:solidFill>
            <a:schemeClr val="accent2">
              <a:lumMod val="40000"/>
              <a:lumOff val="60000"/>
            </a:schemeClr>
          </a:solidFill>
          <a:ln w="9525">
            <a:noFill/>
            <a:miter lim="800000"/>
            <a:headEnd/>
            <a:tailEnd/>
          </a:ln>
          <a:effectLst/>
        </p:spPr>
        <p:txBody>
          <a:bodyPr wrap="square" anchor="ctr">
            <a:spAutoFit/>
          </a:bodyPr>
          <a:lstStyle/>
          <a:p>
            <a:pPr algn="ctr">
              <a:defRPr/>
            </a:pPr>
            <a:r>
              <a:rPr kumimoji="0" lang="zh-CN" altLang="en-US" sz="2800" b="1" dirty="0">
                <a:solidFill>
                  <a:srgbClr val="FF0000"/>
                </a:solidFill>
                <a:effectLst>
                  <a:outerShdw blurRad="38100" dist="38100" dir="2700000" algn="tl">
                    <a:srgbClr val="000000">
                      <a:alpha val="43137"/>
                    </a:srgbClr>
                  </a:outerShdw>
                </a:effectLst>
                <a:latin typeface="+mn-ea"/>
              </a:rPr>
              <a:t>工程图样表达与技术交流</a:t>
            </a:r>
            <a:endParaRPr kumimoji="0" lang="en-US" altLang="zh-CN" sz="2800" b="1" dirty="0">
              <a:solidFill>
                <a:srgbClr val="FF0000"/>
              </a:solidFill>
              <a:effectLst>
                <a:outerShdw blurRad="38100" dist="38100" dir="2700000" algn="tl">
                  <a:srgbClr val="000000">
                    <a:alpha val="43137"/>
                  </a:srgbClr>
                </a:outerShdw>
              </a:effectLst>
              <a:latin typeface="+mn-ea"/>
            </a:endParaRPr>
          </a:p>
          <a:p>
            <a:pPr algn="ctr">
              <a:defRPr/>
            </a:pPr>
            <a:r>
              <a:rPr kumimoji="0" lang="zh-CN" altLang="en-US" sz="2800" b="1" dirty="0">
                <a:solidFill>
                  <a:srgbClr val="0070C0"/>
                </a:solidFill>
                <a:latin typeface="+mn-ea"/>
              </a:rPr>
              <a:t>的一门学科</a:t>
            </a:r>
            <a:endParaRPr kumimoji="0" lang="en-US" altLang="zh-CN" sz="2800" b="1" dirty="0">
              <a:solidFill>
                <a:srgbClr val="0070C0"/>
              </a:solidFill>
              <a:latin typeface="+mn-ea"/>
            </a:endParaRPr>
          </a:p>
        </p:txBody>
      </p:sp>
      <p:sp>
        <p:nvSpPr>
          <p:cNvPr id="9" name="AutoShape 8"/>
          <p:cNvSpPr>
            <a:spLocks noChangeArrowheads="1"/>
          </p:cNvSpPr>
          <p:nvPr/>
        </p:nvSpPr>
        <p:spPr bwMode="auto">
          <a:xfrm>
            <a:off x="2524125" y="2424113"/>
            <a:ext cx="285750" cy="1143000"/>
          </a:xfrm>
          <a:prstGeom prst="downArrow">
            <a:avLst>
              <a:gd name="adj1" fmla="val 50000"/>
              <a:gd name="adj2" fmla="val 90296"/>
            </a:avLst>
          </a:prstGeom>
          <a:solidFill>
            <a:srgbClr val="FF0000"/>
          </a:solidFill>
          <a:ln w="9525" algn="ctr">
            <a:solidFill>
              <a:schemeClr val="tx1"/>
            </a:solidFill>
            <a:miter lim="800000"/>
            <a:headEnd/>
            <a:tailEnd/>
          </a:ln>
        </p:spPr>
        <p:txBody>
          <a:bodyPr wrap="none" anchor="ctr"/>
          <a:lstStyle/>
          <a:p>
            <a:endParaRPr lang="zh-CN" altLang="en-US"/>
          </a:p>
        </p:txBody>
      </p:sp>
      <p:sp>
        <p:nvSpPr>
          <p:cNvPr id="10" name="Rectangle 7"/>
          <p:cNvSpPr>
            <a:spLocks noChangeArrowheads="1"/>
          </p:cNvSpPr>
          <p:nvPr/>
        </p:nvSpPr>
        <p:spPr bwMode="auto">
          <a:xfrm>
            <a:off x="5448301" y="4035425"/>
            <a:ext cx="1285875" cy="647700"/>
          </a:xfrm>
          <a:prstGeom prst="rect">
            <a:avLst/>
          </a:prstGeom>
          <a:solidFill>
            <a:schemeClr val="accent2">
              <a:lumMod val="40000"/>
              <a:lumOff val="60000"/>
            </a:schemeClr>
          </a:solidFill>
          <a:ln w="9525">
            <a:noFill/>
            <a:miter lim="800000"/>
            <a:headEnd/>
            <a:tailEnd/>
          </a:ln>
          <a:effectLst/>
        </p:spPr>
        <p:txBody>
          <a:bodyPr/>
          <a:lstStyle/>
          <a:p>
            <a:pPr marL="342900" indent="-342900" algn="ctr">
              <a:spcBef>
                <a:spcPct val="20000"/>
              </a:spcBef>
              <a:buClr>
                <a:schemeClr val="folHlink"/>
              </a:buClr>
              <a:buSzPct val="60000"/>
              <a:defRPr/>
            </a:pPr>
            <a:r>
              <a:rPr lang="zh-CN" altLang="en-US" sz="3200" b="1" dirty="0">
                <a:latin typeface="+mn-ea"/>
                <a:ea typeface="+mn-ea"/>
              </a:rPr>
              <a:t>机器</a:t>
            </a:r>
          </a:p>
        </p:txBody>
      </p:sp>
      <p:sp>
        <p:nvSpPr>
          <p:cNvPr id="11" name="Rectangle 7"/>
          <p:cNvSpPr>
            <a:spLocks noChangeArrowheads="1"/>
          </p:cNvSpPr>
          <p:nvPr/>
        </p:nvSpPr>
        <p:spPr bwMode="auto">
          <a:xfrm>
            <a:off x="1595438" y="3786188"/>
            <a:ext cx="2000250" cy="1071562"/>
          </a:xfrm>
          <a:prstGeom prst="rect">
            <a:avLst/>
          </a:prstGeom>
          <a:solidFill>
            <a:schemeClr val="accent2">
              <a:lumMod val="40000"/>
              <a:lumOff val="60000"/>
            </a:schemeClr>
          </a:solidFill>
          <a:ln w="9525">
            <a:noFill/>
            <a:miter lim="800000"/>
            <a:headEnd/>
            <a:tailEnd/>
          </a:ln>
          <a:effectLst/>
        </p:spPr>
        <p:txBody>
          <a:bodyPr/>
          <a:lstStyle/>
          <a:p>
            <a:pPr marL="342900" indent="-342900" algn="ctr">
              <a:spcBef>
                <a:spcPct val="20000"/>
              </a:spcBef>
              <a:buClr>
                <a:schemeClr val="folHlink"/>
              </a:buClr>
              <a:buSzPct val="60000"/>
              <a:defRPr/>
            </a:pPr>
            <a:r>
              <a:rPr lang="zh-CN" altLang="en-US" sz="3200" b="1" dirty="0">
                <a:latin typeface="+mn-ea"/>
                <a:ea typeface="+mn-ea"/>
              </a:rPr>
              <a:t>图纸（工程图样</a:t>
            </a:r>
            <a:r>
              <a:rPr lang="zh-CN" altLang="en-US" sz="2800" b="1" dirty="0">
                <a:latin typeface="+mn-ea"/>
                <a:ea typeface="+mn-ea"/>
              </a:rPr>
              <a:t>）</a:t>
            </a:r>
          </a:p>
        </p:txBody>
      </p:sp>
      <p:sp>
        <p:nvSpPr>
          <p:cNvPr id="12" name="AutoShape 3"/>
          <p:cNvSpPr>
            <a:spLocks noChangeArrowheads="1"/>
          </p:cNvSpPr>
          <p:nvPr/>
        </p:nvSpPr>
        <p:spPr bwMode="auto">
          <a:xfrm>
            <a:off x="3595689" y="4202113"/>
            <a:ext cx="1785937" cy="285750"/>
          </a:xfrm>
          <a:prstGeom prst="leftRightArrow">
            <a:avLst>
              <a:gd name="adj1" fmla="val 50000"/>
              <a:gd name="adj2" fmla="val 194358"/>
            </a:avLst>
          </a:prstGeom>
          <a:solidFill>
            <a:srgbClr val="FF0000"/>
          </a:solidFill>
          <a:ln w="9525">
            <a:solidFill>
              <a:schemeClr val="tx1"/>
            </a:solidFill>
            <a:miter lim="800000"/>
            <a:headEnd/>
            <a:tailEnd/>
          </a:ln>
        </p:spPr>
        <p:txBody>
          <a:bodyPr wrap="none" anchor="ctr"/>
          <a:lstStyle/>
          <a:p>
            <a:endParaRPr lang="zh-CN" altLang="en-US"/>
          </a:p>
        </p:txBody>
      </p:sp>
      <p:sp>
        <p:nvSpPr>
          <p:cNvPr id="13" name="矩形 12"/>
          <p:cNvSpPr/>
          <p:nvPr/>
        </p:nvSpPr>
        <p:spPr>
          <a:xfrm>
            <a:off x="1693864" y="1727200"/>
            <a:ext cx="2655887" cy="584200"/>
          </a:xfrm>
          <a:prstGeom prst="rect">
            <a:avLst/>
          </a:prstGeom>
          <a:solidFill>
            <a:schemeClr val="accent2">
              <a:lumMod val="60000"/>
              <a:lumOff val="40000"/>
            </a:schemeClr>
          </a:solidFill>
        </p:spPr>
        <p:txBody>
          <a:bodyPr wrap="none">
            <a:spAutoFit/>
          </a:bodyPr>
          <a:lstStyle/>
          <a:p>
            <a:pPr>
              <a:defRPr/>
            </a:pPr>
            <a:r>
              <a:rPr lang="zh-CN" altLang="en-US" sz="3200" b="1" dirty="0">
                <a:effectLst>
                  <a:outerShdw blurRad="38100" dist="38100" dir="2700000" algn="tl">
                    <a:srgbClr val="000000">
                      <a:alpha val="43137"/>
                    </a:srgbClr>
                  </a:outerShdw>
                </a:effectLst>
                <a:latin typeface="宋体" pitchFamily="2" charset="-122"/>
              </a:rPr>
              <a:t>工程制图课程</a:t>
            </a:r>
            <a:endParaRPr lang="en-US" altLang="zh-CN" sz="3200" b="1" dirty="0">
              <a:solidFill>
                <a:srgbClr val="FF0000"/>
              </a:solidFill>
              <a:effectLst>
                <a:outerShdw blurRad="38100" dist="38100" dir="2700000" algn="tl">
                  <a:srgbClr val="000000">
                    <a:alpha val="43137"/>
                  </a:srgbClr>
                </a:outerShdw>
              </a:effectLst>
              <a:latin typeface="宋体" pitchFamily="2" charset="-122"/>
            </a:endParaRPr>
          </a:p>
        </p:txBody>
      </p:sp>
      <p:sp>
        <p:nvSpPr>
          <p:cNvPr id="15" name="Text Box 6"/>
          <p:cNvSpPr txBox="1">
            <a:spLocks noChangeArrowheads="1"/>
          </p:cNvSpPr>
          <p:nvPr/>
        </p:nvSpPr>
        <p:spPr bwMode="auto">
          <a:xfrm>
            <a:off x="4381500" y="4949826"/>
            <a:ext cx="6000750" cy="479425"/>
          </a:xfrm>
          <a:prstGeom prst="rect">
            <a:avLst/>
          </a:prstGeom>
          <a:solidFill>
            <a:srgbClr val="FFE07D"/>
          </a:solidFill>
          <a:ln w="9525">
            <a:noFill/>
            <a:miter lim="800000"/>
            <a:headEnd/>
            <a:tailEnd/>
          </a:ln>
          <a:effectLst/>
        </p:spPr>
        <p:txBody>
          <a:bodyPr anchor="ctr">
            <a:spAutoFit/>
          </a:bodyPr>
          <a:lstStyle/>
          <a:p>
            <a:pPr>
              <a:lnSpc>
                <a:spcPct val="90000"/>
              </a:lnSpc>
              <a:defRPr/>
            </a:pPr>
            <a:r>
              <a:rPr kumimoji="0" lang="zh-CN" altLang="en-US" sz="2800" dirty="0">
                <a:effectLst>
                  <a:outerShdw blurRad="38100" dist="38100" dir="2700000" algn="tl">
                    <a:srgbClr val="C0C0C0"/>
                  </a:outerShdw>
                </a:effectLst>
                <a:latin typeface="黑体" pitchFamily="2" charset="-122"/>
                <a:ea typeface="黑体" pitchFamily="2" charset="-122"/>
              </a:rPr>
              <a:t>（1）培养形象思维能力</a:t>
            </a:r>
            <a:r>
              <a:rPr kumimoji="0" lang="zh-CN" altLang="en-US" sz="2800" dirty="0">
                <a:solidFill>
                  <a:srgbClr val="00FFFF"/>
                </a:solidFill>
                <a:effectLst>
                  <a:outerShdw blurRad="38100" dist="38100" dir="2700000" algn="tl">
                    <a:srgbClr val="C0C0C0"/>
                  </a:outerShdw>
                </a:effectLst>
                <a:latin typeface="黑体" pitchFamily="2" charset="-122"/>
                <a:ea typeface="黑体" pitchFamily="2" charset="-122"/>
              </a:rPr>
              <a:t> </a:t>
            </a:r>
          </a:p>
        </p:txBody>
      </p:sp>
      <p:sp>
        <p:nvSpPr>
          <p:cNvPr id="17" name="Text Box 8"/>
          <p:cNvSpPr txBox="1">
            <a:spLocks noChangeArrowheads="1"/>
          </p:cNvSpPr>
          <p:nvPr/>
        </p:nvSpPr>
        <p:spPr bwMode="auto">
          <a:xfrm>
            <a:off x="4381500" y="5429251"/>
            <a:ext cx="6000750" cy="479425"/>
          </a:xfrm>
          <a:prstGeom prst="rect">
            <a:avLst/>
          </a:prstGeom>
          <a:solidFill>
            <a:srgbClr val="FFE07D"/>
          </a:solidFill>
          <a:ln w="9525">
            <a:noFill/>
            <a:miter lim="800000"/>
            <a:headEnd/>
            <a:tailEnd/>
          </a:ln>
          <a:effectLst/>
        </p:spPr>
        <p:txBody>
          <a:bodyPr anchor="ctr">
            <a:spAutoFit/>
          </a:bodyPr>
          <a:lstStyle/>
          <a:p>
            <a:pPr>
              <a:lnSpc>
                <a:spcPct val="90000"/>
              </a:lnSpc>
              <a:defRPr/>
            </a:pPr>
            <a:r>
              <a:rPr kumimoji="0" lang="en-US" altLang="zh-CN" sz="2800" dirty="0">
                <a:effectLst>
                  <a:outerShdw blurRad="38100" dist="38100" dir="2700000" algn="tl">
                    <a:srgbClr val="C0C0C0"/>
                  </a:outerShdw>
                </a:effectLst>
                <a:latin typeface="黑体" pitchFamily="2" charset="-122"/>
                <a:ea typeface="黑体" pitchFamily="2" charset="-122"/>
              </a:rPr>
              <a:t>（2）</a:t>
            </a:r>
            <a:r>
              <a:rPr kumimoji="0" lang="zh-CN" altLang="en-US" sz="2800" dirty="0">
                <a:effectLst>
                  <a:outerShdw blurRad="38100" dist="38100" dir="2700000" algn="tl">
                    <a:srgbClr val="C0C0C0"/>
                  </a:outerShdw>
                </a:effectLst>
                <a:latin typeface="黑体" pitchFamily="2" charset="-122"/>
                <a:ea typeface="黑体" pitchFamily="2" charset="-122"/>
              </a:rPr>
              <a:t>培养图形表达能力、理解能力</a:t>
            </a:r>
            <a:r>
              <a:rPr kumimoji="0" lang="zh-CN" altLang="en-US" sz="2800" dirty="0">
                <a:solidFill>
                  <a:srgbClr val="00FFFF"/>
                </a:solidFill>
                <a:effectLst>
                  <a:outerShdw blurRad="38100" dist="38100" dir="2700000" algn="tl">
                    <a:srgbClr val="C0C0C0"/>
                  </a:outerShdw>
                </a:effectLst>
                <a:latin typeface="黑体" pitchFamily="2" charset="-122"/>
                <a:ea typeface="黑体" pitchFamily="2" charset="-122"/>
              </a:rPr>
              <a:t> </a:t>
            </a:r>
          </a:p>
        </p:txBody>
      </p:sp>
      <p:sp>
        <p:nvSpPr>
          <p:cNvPr id="19" name="Text Box 7"/>
          <p:cNvSpPr txBox="1">
            <a:spLocks noChangeArrowheads="1"/>
          </p:cNvSpPr>
          <p:nvPr/>
        </p:nvSpPr>
        <p:spPr bwMode="auto">
          <a:xfrm>
            <a:off x="4381500" y="5857876"/>
            <a:ext cx="6000750" cy="436563"/>
          </a:xfrm>
          <a:prstGeom prst="rect">
            <a:avLst/>
          </a:prstGeom>
          <a:solidFill>
            <a:srgbClr val="FFE07D"/>
          </a:solidFill>
          <a:ln w="9525">
            <a:noFill/>
            <a:miter lim="800000"/>
            <a:headEnd/>
            <a:tailEnd/>
          </a:ln>
          <a:effectLst/>
        </p:spPr>
        <p:txBody>
          <a:bodyPr anchor="ctr">
            <a:spAutoFit/>
          </a:bodyPr>
          <a:lstStyle/>
          <a:p>
            <a:pPr>
              <a:lnSpc>
                <a:spcPct val="80000"/>
              </a:lnSpc>
              <a:defRPr/>
            </a:pPr>
            <a:r>
              <a:rPr kumimoji="0" lang="en-US" altLang="zh-CN" sz="2800" dirty="0">
                <a:effectLst>
                  <a:outerShdw blurRad="38100" dist="38100" dir="2700000" algn="tl">
                    <a:srgbClr val="C0C0C0"/>
                  </a:outerShdw>
                </a:effectLst>
                <a:latin typeface="黑体" pitchFamily="2" charset="-122"/>
                <a:ea typeface="黑体" pitchFamily="2" charset="-122"/>
              </a:rPr>
              <a:t>（3）</a:t>
            </a:r>
            <a:r>
              <a:rPr kumimoji="0" lang="zh-CN" altLang="en-US" sz="2800" dirty="0">
                <a:effectLst>
                  <a:outerShdw blurRad="38100" dist="38100" dir="2700000" algn="tl">
                    <a:srgbClr val="C0C0C0"/>
                  </a:outerShdw>
                </a:effectLst>
                <a:latin typeface="黑体" pitchFamily="2" charset="-122"/>
                <a:ea typeface="黑体" pitchFamily="2" charset="-122"/>
              </a:rPr>
              <a:t>培养标准化能力 </a:t>
            </a:r>
          </a:p>
        </p:txBody>
      </p:sp>
      <p:sp>
        <p:nvSpPr>
          <p:cNvPr id="21" name="Text Box 7"/>
          <p:cNvSpPr txBox="1">
            <a:spLocks noChangeArrowheads="1"/>
          </p:cNvSpPr>
          <p:nvPr/>
        </p:nvSpPr>
        <p:spPr bwMode="auto">
          <a:xfrm>
            <a:off x="4381500" y="6286501"/>
            <a:ext cx="6000750" cy="436563"/>
          </a:xfrm>
          <a:prstGeom prst="rect">
            <a:avLst/>
          </a:prstGeom>
          <a:solidFill>
            <a:srgbClr val="FFE07D"/>
          </a:solidFill>
          <a:ln w="9525">
            <a:noFill/>
            <a:miter lim="800000"/>
            <a:headEnd/>
            <a:tailEnd/>
          </a:ln>
          <a:effectLst/>
        </p:spPr>
        <p:txBody>
          <a:bodyPr anchor="ctr">
            <a:spAutoFit/>
          </a:bodyPr>
          <a:lstStyle/>
          <a:p>
            <a:pPr>
              <a:lnSpc>
                <a:spcPct val="80000"/>
              </a:lnSpc>
              <a:defRPr/>
            </a:pPr>
            <a:r>
              <a:rPr kumimoji="0" lang="en-US" altLang="zh-CN" sz="2800" dirty="0">
                <a:effectLst>
                  <a:outerShdw blurRad="38100" dist="38100" dir="2700000" algn="tl">
                    <a:srgbClr val="C0C0C0"/>
                  </a:outerShdw>
                </a:effectLst>
                <a:latin typeface="黑体" pitchFamily="2" charset="-122"/>
                <a:ea typeface="黑体" pitchFamily="2" charset="-122"/>
              </a:rPr>
              <a:t>（4）</a:t>
            </a:r>
            <a:r>
              <a:rPr kumimoji="0" lang="zh-CN" altLang="en-US" sz="2800" dirty="0">
                <a:effectLst>
                  <a:outerShdw blurRad="38100" dist="38100" dir="2700000" algn="tl">
                    <a:srgbClr val="C0C0C0"/>
                  </a:outerShdw>
                </a:effectLst>
                <a:latin typeface="黑体" pitchFamily="2" charset="-122"/>
                <a:ea typeface="黑体" pitchFamily="2" charset="-122"/>
              </a:rPr>
              <a:t>培养自我学习能力 </a:t>
            </a:r>
          </a:p>
        </p:txBody>
      </p:sp>
      <p:sp>
        <p:nvSpPr>
          <p:cNvPr id="22" name="左大括号 21"/>
          <p:cNvSpPr/>
          <p:nvPr/>
        </p:nvSpPr>
        <p:spPr>
          <a:xfrm>
            <a:off x="3925966" y="5018286"/>
            <a:ext cx="214314" cy="1643074"/>
          </a:xfrm>
          <a:prstGeom prst="leftBrace">
            <a:avLst>
              <a:gd name="adj1" fmla="val 93666"/>
              <a:gd name="adj2" fmla="val 50000"/>
            </a:avLst>
          </a:prstGeom>
          <a:ln w="60325">
            <a:solidFill>
              <a:srgbClr val="DD4609"/>
            </a:solidFill>
          </a:ln>
          <a:effectLst>
            <a:innerShdw blurRad="63500" dist="50800" dir="18900000">
              <a:prstClr val="black">
                <a:alpha val="50000"/>
              </a:prstClr>
            </a:innerShdw>
          </a:effectLst>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5"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50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24" dur="50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25" dur="500" accel="50000" fill="hold">
                                          <p:stCondLst>
                                            <p:cond delay="500"/>
                                          </p:stCondLst>
                                        </p:cTn>
                                        <p:tgtEl>
                                          <p:spTgt spid="8"/>
                                        </p:tgtEl>
                                        <p:attrNameLst>
                                          <p:attrName>ppt_w</p:attrName>
                                        </p:attrNameLst>
                                      </p:cBhvr>
                                      <p:tavLst>
                                        <p:tav tm="0">
                                          <p:val>
                                            <p:strVal val="#ppt_w*.05"/>
                                          </p:val>
                                        </p:tav>
                                        <p:tav tm="100000">
                                          <p:val>
                                            <p:strVal val="#ppt_w"/>
                                          </p:val>
                                        </p:tav>
                                      </p:tavLst>
                                    </p:anim>
                                    <p:anim calcmode="lin" valueType="num">
                                      <p:cBhvr>
                                        <p:cTn id="26" dur="1000" fill="hold"/>
                                        <p:tgtEl>
                                          <p:spTgt spid="8"/>
                                        </p:tgtEl>
                                        <p:attrNameLst>
                                          <p:attrName>ppt_h</p:attrName>
                                        </p:attrNameLst>
                                      </p:cBhvr>
                                      <p:tavLst>
                                        <p:tav tm="0">
                                          <p:val>
                                            <p:strVal val="#ppt_h"/>
                                          </p:val>
                                        </p:tav>
                                        <p:tav tm="100000">
                                          <p:val>
                                            <p:strVal val="#ppt_h"/>
                                          </p:val>
                                        </p:tav>
                                      </p:tavLst>
                                    </p:anim>
                                    <p:anim calcmode="lin" valueType="num">
                                      <p:cBhvr>
                                        <p:cTn id="27" dur="50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28" dur="50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29" dur="500" accel="50000" fill="hold">
                                          <p:stCondLst>
                                            <p:cond delay="500"/>
                                          </p:stCondLst>
                                        </p:cTn>
                                        <p:tgtEl>
                                          <p:spTgt spid="8"/>
                                        </p:tgtEl>
                                        <p:attrNameLst>
                                          <p:attrName>ppt_y</p:attrName>
                                        </p:attrNameLst>
                                      </p:cBhvr>
                                      <p:tavLst>
                                        <p:tav tm="0">
                                          <p:val>
                                            <p:strVal val="#ppt_y+.1"/>
                                          </p:val>
                                        </p:tav>
                                        <p:tav tm="100000">
                                          <p:val>
                                            <p:strVal val="#ppt_y"/>
                                          </p:val>
                                        </p:tav>
                                      </p:tavLst>
                                    </p:anim>
                                    <p:animEffect transition="in" filter="fade">
                                      <p:cBhvr>
                                        <p:cTn id="30" dur="1000" decel="50000">
                                          <p:stCondLst>
                                            <p:cond delay="0"/>
                                          </p:stCondLst>
                                        </p:cTn>
                                        <p:tgtEl>
                                          <p:spTgt spid="8"/>
                                        </p:tgtEl>
                                      </p:cBhvr>
                                    </p:animEffect>
                                  </p:childTnLst>
                                  <p:subTnLst>
                                    <p:audio>
                                      <p:cMediaNode>
                                        <p:cTn display="0" masterRel="sameClick">
                                          <p:stCondLst>
                                            <p:cond evt="begin" delay="0">
                                              <p:tn val="21"/>
                                            </p:cond>
                                          </p:stCondLst>
                                          <p:endCondLst>
                                            <p:cond evt="onStopAudio" delay="0">
                                              <p:tgtEl>
                                                <p:sldTgt/>
                                              </p:tgtEl>
                                            </p:cond>
                                          </p:endCondLst>
                                        </p:cTn>
                                        <p:tgtEl>
                                          <p:sndTgt r:embed="rId3" name="PROJCTOR.WAV"/>
                                        </p:tgtEl>
                                      </p:cMediaNode>
                                    </p:audio>
                                  </p:subTnLst>
                                </p:cTn>
                              </p:par>
                            </p:childTnLst>
                          </p:cTn>
                        </p:par>
                      </p:childTnLst>
                    </p:cTn>
                  </p:par>
                  <p:par>
                    <p:cTn id="31" fill="hold">
                      <p:stCondLst>
                        <p:cond delay="indefinite"/>
                      </p:stCondLst>
                      <p:childTnLst>
                        <p:par>
                          <p:cTn id="32" fill="hold">
                            <p:stCondLst>
                              <p:cond delay="0"/>
                            </p:stCondLst>
                            <p:childTnLst>
                              <p:par>
                                <p:cTn id="33" presetID="25"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36"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37"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38" dur="1000" fill="hold"/>
                                        <p:tgtEl>
                                          <p:spTgt spid="5"/>
                                        </p:tgtEl>
                                        <p:attrNameLst>
                                          <p:attrName>ppt_h</p:attrName>
                                        </p:attrNameLst>
                                      </p:cBhvr>
                                      <p:tavLst>
                                        <p:tav tm="0">
                                          <p:val>
                                            <p:strVal val="#ppt_h"/>
                                          </p:val>
                                        </p:tav>
                                        <p:tav tm="100000">
                                          <p:val>
                                            <p:strVal val="#ppt_h"/>
                                          </p:val>
                                        </p:tav>
                                      </p:tavLst>
                                    </p:anim>
                                    <p:anim calcmode="lin" valueType="num">
                                      <p:cBhvr>
                                        <p:cTn id="39"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40"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41"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42" dur="1000" decel="50000">
                                          <p:stCondLst>
                                            <p:cond delay="0"/>
                                          </p:stCondLst>
                                        </p:cTn>
                                        <p:tgtEl>
                                          <p:spTgt spid="5"/>
                                        </p:tgtEl>
                                      </p:cBhvr>
                                    </p:animEffect>
                                  </p:childTnLst>
                                  <p:subTnLst>
                                    <p:audio>
                                      <p:cMediaNode>
                                        <p:cTn display="0" masterRel="sameClick">
                                          <p:stCondLst>
                                            <p:cond evt="begin" delay="0">
                                              <p:tn val="33"/>
                                            </p:cond>
                                          </p:stCondLst>
                                          <p:endCondLst>
                                            <p:cond evt="onStopAudio" delay="0">
                                              <p:tgtEl>
                                                <p:sldTgt/>
                                              </p:tgtEl>
                                            </p:cond>
                                          </p:endCondLst>
                                        </p:cTn>
                                        <p:tgtEl>
                                          <p:sndTgt r:embed="rId3" name="PROJCTOR.WAV"/>
                                        </p:tgtEl>
                                      </p:cMediaNode>
                                    </p:audio>
                                  </p:sub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up)">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500" fill="hold"/>
                                        <p:tgtEl>
                                          <p:spTgt spid="11"/>
                                        </p:tgtEl>
                                        <p:attrNameLst>
                                          <p:attrName>ppt_x</p:attrName>
                                        </p:attrNameLst>
                                      </p:cBhvr>
                                      <p:tavLst>
                                        <p:tav tm="0">
                                          <p:val>
                                            <p:strVal val="#ppt_x"/>
                                          </p:val>
                                        </p:tav>
                                        <p:tav tm="100000">
                                          <p:val>
                                            <p:strVal val="#ppt_x"/>
                                          </p:val>
                                        </p:tav>
                                      </p:tavLst>
                                    </p:anim>
                                    <p:anim calcmode="lin" valueType="num">
                                      <p:cBhvr additive="base">
                                        <p:cTn id="5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1" fill="hold" grpId="0" nodeType="clickEffect">
                                  <p:stCondLst>
                                    <p:cond delay="0"/>
                                  </p:stCondLst>
                                  <p:childTnLst>
                                    <p:set>
                                      <p:cBhvr>
                                        <p:cTn id="57" dur="1" fill="hold">
                                          <p:stCondLst>
                                            <p:cond delay="0"/>
                                          </p:stCondLst>
                                        </p:cTn>
                                        <p:tgtEl>
                                          <p:spTgt spid="10"/>
                                        </p:tgtEl>
                                        <p:attrNameLst>
                                          <p:attrName>style.visibility</p:attrName>
                                        </p:attrNameLst>
                                      </p:cBhvr>
                                      <p:to>
                                        <p:strVal val="visible"/>
                                      </p:to>
                                    </p:set>
                                    <p:anim calcmode="lin" valueType="num">
                                      <p:cBhvr additive="base">
                                        <p:cTn id="58" dur="500" fill="hold"/>
                                        <p:tgtEl>
                                          <p:spTgt spid="10"/>
                                        </p:tgtEl>
                                        <p:attrNameLst>
                                          <p:attrName>ppt_x</p:attrName>
                                        </p:attrNameLst>
                                      </p:cBhvr>
                                      <p:tavLst>
                                        <p:tav tm="0">
                                          <p:val>
                                            <p:strVal val="#ppt_x"/>
                                          </p:val>
                                        </p:tav>
                                        <p:tav tm="100000">
                                          <p:val>
                                            <p:strVal val="#ppt_x"/>
                                          </p:val>
                                        </p:tav>
                                      </p:tavLst>
                                    </p:anim>
                                    <p:anim calcmode="lin" valueType="num">
                                      <p:cBhvr additive="base">
                                        <p:cTn id="59"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6" presetClass="entr" presetSubtype="37" fill="hold" grpId="0" nodeType="click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barn(outVertical)">
                                      <p:cBhvr>
                                        <p:cTn id="64" dur="500"/>
                                        <p:tgtEl>
                                          <p:spTgt spid="12"/>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4" fill="hold" grpId="0" nodeType="click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slide(fromBottom)">
                                      <p:cBhvr>
                                        <p:cTn id="69" dur="500"/>
                                        <p:tgtEl>
                                          <p:spTgt spid="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wipe(up)">
                                      <p:cBhvr>
                                        <p:cTn id="74" dur="500"/>
                                        <p:tgtEl>
                                          <p:spTgt spid="22"/>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5"/>
                                        </p:tgtEl>
                                        <p:attrNameLst>
                                          <p:attrName>style.visibility</p:attrName>
                                        </p:attrNameLst>
                                      </p:cBhvr>
                                      <p:to>
                                        <p:strVal val="visible"/>
                                      </p:to>
                                    </p:set>
                                    <p:anim calcmode="lin" valueType="num">
                                      <p:cBhvr additive="base">
                                        <p:cTn id="79" dur="500" fill="hold"/>
                                        <p:tgtEl>
                                          <p:spTgt spid="15"/>
                                        </p:tgtEl>
                                        <p:attrNameLst>
                                          <p:attrName>ppt_x</p:attrName>
                                        </p:attrNameLst>
                                      </p:cBhvr>
                                      <p:tavLst>
                                        <p:tav tm="0">
                                          <p:val>
                                            <p:strVal val="#ppt_x"/>
                                          </p:val>
                                        </p:tav>
                                        <p:tav tm="100000">
                                          <p:val>
                                            <p:strVal val="#ppt_x"/>
                                          </p:val>
                                        </p:tav>
                                      </p:tavLst>
                                    </p:anim>
                                    <p:anim calcmode="lin" valueType="num">
                                      <p:cBhvr additive="base">
                                        <p:cTn id="80" dur="500" fill="hold"/>
                                        <p:tgtEl>
                                          <p:spTgt spid="1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7"/>
                                            </p:cond>
                                          </p:stCondLst>
                                          <p:endCondLst>
                                            <p:cond evt="onStopAudio" delay="0">
                                              <p:tgtEl>
                                                <p:sldTgt/>
                                              </p:tgtEl>
                                            </p:cond>
                                          </p:endCondLst>
                                        </p:cTn>
                                        <p:tgtEl>
                                          <p:sndTgt r:embed="rId4" name="hammer.wav"/>
                                        </p:tgtEl>
                                      </p:cMediaNode>
                                    </p:audio>
                                  </p:sub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7"/>
                                        </p:tgtEl>
                                        <p:attrNameLst>
                                          <p:attrName>style.visibility</p:attrName>
                                        </p:attrNameLst>
                                      </p:cBhvr>
                                      <p:to>
                                        <p:strVal val="visible"/>
                                      </p:to>
                                    </p:set>
                                    <p:anim calcmode="lin" valueType="num">
                                      <p:cBhvr additive="base">
                                        <p:cTn id="85" dur="500" fill="hold"/>
                                        <p:tgtEl>
                                          <p:spTgt spid="17"/>
                                        </p:tgtEl>
                                        <p:attrNameLst>
                                          <p:attrName>ppt_x</p:attrName>
                                        </p:attrNameLst>
                                      </p:cBhvr>
                                      <p:tavLst>
                                        <p:tav tm="0">
                                          <p:val>
                                            <p:strVal val="#ppt_x"/>
                                          </p:val>
                                        </p:tav>
                                        <p:tav tm="100000">
                                          <p:val>
                                            <p:strVal val="#ppt_x"/>
                                          </p:val>
                                        </p:tav>
                                      </p:tavLst>
                                    </p:anim>
                                    <p:anim calcmode="lin" valueType="num">
                                      <p:cBhvr additive="base">
                                        <p:cTn id="86" dur="500" fill="hold"/>
                                        <p:tgtEl>
                                          <p:spTgt spid="1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3"/>
                                            </p:cond>
                                          </p:stCondLst>
                                          <p:endCondLst>
                                            <p:cond evt="onStopAudio" delay="0">
                                              <p:tgtEl>
                                                <p:sldTgt/>
                                              </p:tgtEl>
                                            </p:cond>
                                          </p:endCondLst>
                                        </p:cTn>
                                        <p:tgtEl>
                                          <p:sndTgt r:embed="rId4" name="hammer.wav"/>
                                        </p:tgtEl>
                                      </p:cMediaNode>
                                    </p:audio>
                                  </p:sub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additive="base">
                                        <p:cTn id="91" dur="500" fill="hold"/>
                                        <p:tgtEl>
                                          <p:spTgt spid="19"/>
                                        </p:tgtEl>
                                        <p:attrNameLst>
                                          <p:attrName>ppt_x</p:attrName>
                                        </p:attrNameLst>
                                      </p:cBhvr>
                                      <p:tavLst>
                                        <p:tav tm="0">
                                          <p:val>
                                            <p:strVal val="#ppt_x"/>
                                          </p:val>
                                        </p:tav>
                                        <p:tav tm="100000">
                                          <p:val>
                                            <p:strVal val="#ppt_x"/>
                                          </p:val>
                                        </p:tav>
                                      </p:tavLst>
                                    </p:anim>
                                    <p:anim calcmode="lin" valueType="num">
                                      <p:cBhvr additive="base">
                                        <p:cTn id="92" dur="500" fill="hold"/>
                                        <p:tgtEl>
                                          <p:spTgt spid="1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4" name="hammer.wav"/>
                                        </p:tgtEl>
                                      </p:cMediaNode>
                                    </p:audio>
                                  </p:sub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21"/>
                                        </p:tgtEl>
                                        <p:attrNameLst>
                                          <p:attrName>style.visibility</p:attrName>
                                        </p:attrNameLst>
                                      </p:cBhvr>
                                      <p:to>
                                        <p:strVal val="visible"/>
                                      </p:to>
                                    </p:set>
                                    <p:anim calcmode="lin" valueType="num">
                                      <p:cBhvr additive="base">
                                        <p:cTn id="97" dur="500" fill="hold"/>
                                        <p:tgtEl>
                                          <p:spTgt spid="21"/>
                                        </p:tgtEl>
                                        <p:attrNameLst>
                                          <p:attrName>ppt_x</p:attrName>
                                        </p:attrNameLst>
                                      </p:cBhvr>
                                      <p:tavLst>
                                        <p:tav tm="0">
                                          <p:val>
                                            <p:strVal val="#ppt_x"/>
                                          </p:val>
                                        </p:tav>
                                        <p:tav tm="100000">
                                          <p:val>
                                            <p:strVal val="#ppt_x"/>
                                          </p:val>
                                        </p:tav>
                                      </p:tavLst>
                                    </p:anim>
                                    <p:anim calcmode="lin" valueType="num">
                                      <p:cBhvr additive="base">
                                        <p:cTn id="98" dur="500" fill="hold"/>
                                        <p:tgtEl>
                                          <p:spTgt spid="2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5"/>
                                            </p:cond>
                                          </p:stCondLst>
                                          <p:endCondLst>
                                            <p:cond evt="onStopAudio" delay="0">
                                              <p:tgtEl>
                                                <p:sldTgt/>
                                              </p:tgtEl>
                                            </p:cond>
                                          </p:endCondLst>
                                        </p:cTn>
                                        <p:tgtEl>
                                          <p:sndTgt r:embed="rId4" name="hamm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animBg="1"/>
      <p:bldP spid="9" grpId="0" animBg="1"/>
      <p:bldP spid="10" grpId="0" animBg="1"/>
      <p:bldP spid="11" grpId="0" animBg="1"/>
      <p:bldP spid="12" grpId="0" animBg="1"/>
      <p:bldP spid="13" grpId="0" animBg="1"/>
      <p:bldP spid="15" grpId="0" animBg="1" autoUpdateAnimBg="0"/>
      <p:bldP spid="17" grpId="0" animBg="1" autoUpdateAnimBg="0"/>
      <p:bldP spid="19" grpId="0" animBg="1" autoUpdateAnimBg="0"/>
      <p:bldP spid="21"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a:xfrm>
            <a:off x="3381375" y="276117"/>
            <a:ext cx="5500688" cy="646331"/>
          </a:xfrm>
          <a:prstGeom prst="rect">
            <a:avLst/>
          </a:prstGeom>
        </p:spPr>
        <p:txBody>
          <a:bodyPr anchor="ctr">
            <a:spAutoFit/>
          </a:bodyPr>
          <a:lstStyle/>
          <a:p>
            <a:pPr algn="ctr" fontAlgn="auto">
              <a:spcAft>
                <a:spcPts val="0"/>
              </a:spcAft>
              <a:defRPr/>
            </a:pP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工程制图</a:t>
            </a:r>
            <a:r>
              <a:rPr kumimoji="0" lang="en-US" altLang="zh-CN" sz="3600" b="1" dirty="0">
                <a:solidFill>
                  <a:schemeClr val="tx2"/>
                </a:solidFill>
                <a:latin typeface="黑体" pitchFamily="2" charset="-122"/>
                <a:ea typeface="黑体" pitchFamily="2" charset="-122"/>
                <a:cs typeface="+mj-cs"/>
              </a:rPr>
              <a:t>》</a:t>
            </a:r>
            <a:r>
              <a:rPr kumimoji="0" lang="zh-CN" altLang="en-US" sz="3600" b="1" dirty="0">
                <a:solidFill>
                  <a:schemeClr val="tx2"/>
                </a:solidFill>
                <a:latin typeface="黑体" pitchFamily="2" charset="-122"/>
                <a:ea typeface="黑体" pitchFamily="2" charset="-122"/>
                <a:cs typeface="+mj-cs"/>
              </a:rPr>
              <a:t>课程</a:t>
            </a:r>
          </a:p>
        </p:txBody>
      </p:sp>
      <p:sp>
        <p:nvSpPr>
          <p:cNvPr id="2" name="矩形 1">
            <a:extLst>
              <a:ext uri="{FF2B5EF4-FFF2-40B4-BE49-F238E27FC236}">
                <a16:creationId xmlns:a16="http://schemas.microsoft.com/office/drawing/2014/main" id="{F8CF8511-1B67-454A-94CE-14547BCE8F0B}"/>
              </a:ext>
            </a:extLst>
          </p:cNvPr>
          <p:cNvSpPr/>
          <p:nvPr/>
        </p:nvSpPr>
        <p:spPr>
          <a:xfrm>
            <a:off x="1271464" y="1462389"/>
            <a:ext cx="3057247" cy="523220"/>
          </a:xfrm>
          <a:prstGeom prst="rect">
            <a:avLst/>
          </a:prstGeom>
        </p:spPr>
        <p:txBody>
          <a:bodyPr wrap="none">
            <a:spAutoFit/>
          </a:bodyPr>
          <a:lstStyle/>
          <a:p>
            <a:r>
              <a:rPr lang="zh-CN" altLang="en-US" sz="2800" dirty="0">
                <a:latin typeface="黑体" panose="02010609060101010101" pitchFamily="49" charset="-122"/>
                <a:ea typeface="黑体" panose="02010609060101010101" pitchFamily="49" charset="-122"/>
              </a:rPr>
              <a:t>本部分解决的问题</a:t>
            </a:r>
          </a:p>
        </p:txBody>
      </p:sp>
      <p:sp>
        <p:nvSpPr>
          <p:cNvPr id="20" name="标题 1">
            <a:extLst>
              <a:ext uri="{FF2B5EF4-FFF2-40B4-BE49-F238E27FC236}">
                <a16:creationId xmlns:a16="http://schemas.microsoft.com/office/drawing/2014/main" id="{6662D916-1BAC-46B6-89BC-35B0AFEF340F}"/>
              </a:ext>
            </a:extLst>
          </p:cNvPr>
          <p:cNvSpPr txBox="1">
            <a:spLocks/>
          </p:cNvSpPr>
          <p:nvPr/>
        </p:nvSpPr>
        <p:spPr>
          <a:xfrm>
            <a:off x="4007768" y="2276872"/>
            <a:ext cx="4336473" cy="523220"/>
          </a:xfrm>
          <a:prstGeom prst="rect">
            <a:avLst/>
          </a:prstGeom>
        </p:spPr>
        <p:txBody>
          <a:bodyPr wrap="square" anchor="ctr">
            <a:spAutoFit/>
          </a:bodyPr>
          <a:lstStyle/>
          <a:p>
            <a:pPr fontAlgn="auto">
              <a:spcAft>
                <a:spcPts val="0"/>
              </a:spcAft>
              <a:defRPr/>
            </a:pPr>
            <a:r>
              <a:rPr kumimoji="0" lang="en-US" altLang="zh-CN" sz="2800" b="1" dirty="0">
                <a:solidFill>
                  <a:schemeClr val="tx2"/>
                </a:solidFill>
                <a:latin typeface="黑体" pitchFamily="2" charset="-122"/>
                <a:ea typeface="黑体" pitchFamily="2" charset="-122"/>
                <a:cs typeface="+mj-cs"/>
              </a:rPr>
              <a:t>1.</a:t>
            </a:r>
            <a:r>
              <a:rPr kumimoji="0" lang="zh-CN" altLang="en-US" sz="2800" b="1" dirty="0">
                <a:solidFill>
                  <a:schemeClr val="tx2"/>
                </a:solidFill>
                <a:latin typeface="黑体" pitchFamily="2" charset="-122"/>
                <a:ea typeface="黑体" pitchFamily="2" charset="-122"/>
                <a:cs typeface="+mj-cs"/>
              </a:rPr>
              <a:t>工程图样的地位</a:t>
            </a:r>
          </a:p>
        </p:txBody>
      </p:sp>
      <p:sp>
        <p:nvSpPr>
          <p:cNvPr id="10" name="标题 1">
            <a:extLst>
              <a:ext uri="{FF2B5EF4-FFF2-40B4-BE49-F238E27FC236}">
                <a16:creationId xmlns:a16="http://schemas.microsoft.com/office/drawing/2014/main" id="{C2C39A26-C2D1-448C-9397-FEF162A3DFAD}"/>
              </a:ext>
            </a:extLst>
          </p:cNvPr>
          <p:cNvSpPr txBox="1">
            <a:spLocks/>
          </p:cNvSpPr>
          <p:nvPr/>
        </p:nvSpPr>
        <p:spPr>
          <a:xfrm>
            <a:off x="4007768" y="2960617"/>
            <a:ext cx="4336473" cy="523220"/>
          </a:xfrm>
          <a:prstGeom prst="rect">
            <a:avLst/>
          </a:prstGeom>
        </p:spPr>
        <p:txBody>
          <a:bodyPr wrap="square" anchor="ctr">
            <a:spAutoFit/>
          </a:bodyPr>
          <a:lstStyle/>
          <a:p>
            <a:pPr fontAlgn="auto">
              <a:spcAft>
                <a:spcPts val="0"/>
              </a:spcAft>
              <a:defRPr/>
            </a:pPr>
            <a:r>
              <a:rPr kumimoji="0" lang="en-US" altLang="zh-CN" sz="2800" b="1" dirty="0">
                <a:solidFill>
                  <a:schemeClr val="tx2"/>
                </a:solidFill>
                <a:latin typeface="黑体" pitchFamily="2" charset="-122"/>
                <a:ea typeface="黑体" pitchFamily="2" charset="-122"/>
                <a:cs typeface="+mj-cs"/>
              </a:rPr>
              <a:t>2.</a:t>
            </a:r>
            <a:r>
              <a:rPr kumimoji="0" lang="zh-CN" altLang="en-US" sz="2800" b="1" dirty="0">
                <a:solidFill>
                  <a:schemeClr val="tx2"/>
                </a:solidFill>
                <a:latin typeface="黑体" pitchFamily="2" charset="-122"/>
                <a:ea typeface="黑体" pitchFamily="2" charset="-122"/>
                <a:cs typeface="+mj-cs"/>
              </a:rPr>
              <a:t>本课程的研究对象</a:t>
            </a:r>
          </a:p>
        </p:txBody>
      </p:sp>
      <p:sp>
        <p:nvSpPr>
          <p:cNvPr id="12" name="标题 1">
            <a:extLst>
              <a:ext uri="{FF2B5EF4-FFF2-40B4-BE49-F238E27FC236}">
                <a16:creationId xmlns:a16="http://schemas.microsoft.com/office/drawing/2014/main" id="{46B4F409-2F20-4D13-8666-141380818E13}"/>
              </a:ext>
            </a:extLst>
          </p:cNvPr>
          <p:cNvSpPr txBox="1">
            <a:spLocks/>
          </p:cNvSpPr>
          <p:nvPr/>
        </p:nvSpPr>
        <p:spPr>
          <a:xfrm>
            <a:off x="4007768" y="3644363"/>
            <a:ext cx="4336473" cy="523220"/>
          </a:xfrm>
          <a:prstGeom prst="rect">
            <a:avLst/>
          </a:prstGeom>
        </p:spPr>
        <p:txBody>
          <a:bodyPr wrap="square" anchor="ctr">
            <a:spAutoFit/>
          </a:bodyPr>
          <a:lstStyle/>
          <a:p>
            <a:pPr fontAlgn="auto">
              <a:spcAft>
                <a:spcPts val="0"/>
              </a:spcAft>
              <a:defRPr/>
            </a:pPr>
            <a:r>
              <a:rPr kumimoji="0" lang="en-US" altLang="zh-CN" sz="2800" b="1" dirty="0">
                <a:solidFill>
                  <a:schemeClr val="tx2"/>
                </a:solidFill>
                <a:latin typeface="黑体" pitchFamily="2" charset="-122"/>
                <a:ea typeface="黑体" pitchFamily="2" charset="-122"/>
                <a:cs typeface="+mj-cs"/>
              </a:rPr>
              <a:t>3.</a:t>
            </a:r>
            <a:r>
              <a:rPr kumimoji="0" lang="zh-CN" altLang="en-US" sz="2800" b="1" dirty="0">
                <a:solidFill>
                  <a:schemeClr val="tx2"/>
                </a:solidFill>
                <a:latin typeface="黑体" pitchFamily="2" charset="-122"/>
                <a:ea typeface="黑体" pitchFamily="2" charset="-122"/>
                <a:cs typeface="+mj-cs"/>
              </a:rPr>
              <a:t>本课程的性质</a:t>
            </a:r>
          </a:p>
        </p:txBody>
      </p:sp>
      <p:sp>
        <p:nvSpPr>
          <p:cNvPr id="13" name="标题 1">
            <a:extLst>
              <a:ext uri="{FF2B5EF4-FFF2-40B4-BE49-F238E27FC236}">
                <a16:creationId xmlns:a16="http://schemas.microsoft.com/office/drawing/2014/main" id="{0588E74C-CFD8-4677-BEAF-3CFA6031E4F5}"/>
              </a:ext>
            </a:extLst>
          </p:cNvPr>
          <p:cNvSpPr txBox="1">
            <a:spLocks/>
          </p:cNvSpPr>
          <p:nvPr/>
        </p:nvSpPr>
        <p:spPr>
          <a:xfrm>
            <a:off x="3991000" y="4328109"/>
            <a:ext cx="4336473" cy="523220"/>
          </a:xfrm>
          <a:prstGeom prst="rect">
            <a:avLst/>
          </a:prstGeom>
        </p:spPr>
        <p:txBody>
          <a:bodyPr wrap="square" anchor="ctr">
            <a:spAutoFit/>
          </a:bodyPr>
          <a:lstStyle/>
          <a:p>
            <a:pPr fontAlgn="auto">
              <a:spcAft>
                <a:spcPts val="0"/>
              </a:spcAft>
              <a:defRPr/>
            </a:pPr>
            <a:r>
              <a:rPr kumimoji="0" lang="en-US" altLang="zh-CN" sz="2800" b="1" dirty="0">
                <a:solidFill>
                  <a:schemeClr val="tx2"/>
                </a:solidFill>
                <a:latin typeface="黑体" pitchFamily="2" charset="-122"/>
                <a:ea typeface="黑体" pitchFamily="2" charset="-122"/>
                <a:cs typeface="+mj-cs"/>
              </a:rPr>
              <a:t>4.</a:t>
            </a:r>
            <a:r>
              <a:rPr kumimoji="0" lang="zh-CN" altLang="en-US" sz="2800" b="1" dirty="0">
                <a:solidFill>
                  <a:schemeClr val="tx2"/>
                </a:solidFill>
                <a:latin typeface="黑体" pitchFamily="2" charset="-122"/>
                <a:ea typeface="黑体" pitchFamily="2" charset="-122"/>
                <a:cs typeface="+mj-cs"/>
              </a:rPr>
              <a:t>本课程的学习任务</a:t>
            </a:r>
          </a:p>
        </p:txBody>
      </p:sp>
      <p:sp>
        <p:nvSpPr>
          <p:cNvPr id="15" name="标题 1">
            <a:extLst>
              <a:ext uri="{FF2B5EF4-FFF2-40B4-BE49-F238E27FC236}">
                <a16:creationId xmlns:a16="http://schemas.microsoft.com/office/drawing/2014/main" id="{485B5E35-16E5-497B-8C42-8B017770579B}"/>
              </a:ext>
            </a:extLst>
          </p:cNvPr>
          <p:cNvSpPr txBox="1">
            <a:spLocks/>
          </p:cNvSpPr>
          <p:nvPr/>
        </p:nvSpPr>
        <p:spPr>
          <a:xfrm>
            <a:off x="4007768" y="5020157"/>
            <a:ext cx="4336473" cy="523220"/>
          </a:xfrm>
          <a:prstGeom prst="rect">
            <a:avLst/>
          </a:prstGeom>
        </p:spPr>
        <p:txBody>
          <a:bodyPr wrap="square" anchor="ctr">
            <a:spAutoFit/>
          </a:bodyPr>
          <a:lstStyle/>
          <a:p>
            <a:pPr fontAlgn="auto">
              <a:spcAft>
                <a:spcPts val="0"/>
              </a:spcAft>
              <a:defRPr/>
            </a:pPr>
            <a:r>
              <a:rPr kumimoji="0" lang="en-US" altLang="zh-CN" sz="2800" b="1" dirty="0">
                <a:solidFill>
                  <a:schemeClr val="tx2"/>
                </a:solidFill>
                <a:latin typeface="黑体" pitchFamily="2" charset="-122"/>
                <a:ea typeface="黑体" pitchFamily="2" charset="-122"/>
                <a:cs typeface="+mj-cs"/>
              </a:rPr>
              <a:t>5.</a:t>
            </a:r>
            <a:r>
              <a:rPr kumimoji="0" lang="zh-CN" altLang="en-US" sz="2800" b="1" dirty="0">
                <a:solidFill>
                  <a:schemeClr val="tx2"/>
                </a:solidFill>
                <a:latin typeface="黑体" pitchFamily="2" charset="-122"/>
                <a:ea typeface="黑体" pitchFamily="2" charset="-122"/>
                <a:cs typeface="+mj-cs"/>
              </a:rPr>
              <a:t>本课程的学习方法</a:t>
            </a:r>
          </a:p>
        </p:txBody>
      </p:sp>
    </p:spTree>
    <p:extLst>
      <p:ext uri="{BB962C8B-B14F-4D97-AF65-F5344CB8AC3E}">
        <p14:creationId xmlns:p14="http://schemas.microsoft.com/office/powerpoint/2010/main" val="206688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0-#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0-#ppt_w/2"/>
                                          </p:val>
                                        </p:tav>
                                        <p:tav tm="100000">
                                          <p:val>
                                            <p:strVal val="#ppt_x"/>
                                          </p:val>
                                        </p:tav>
                                      </p:tavLst>
                                    </p:anim>
                                    <p:anim calcmode="lin" valueType="num">
                                      <p:cBhvr additive="base">
                                        <p:cTn id="2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0-#ppt_w/2"/>
                                          </p:val>
                                        </p:tav>
                                        <p:tav tm="100000">
                                          <p:val>
                                            <p:strVal val="#ppt_x"/>
                                          </p:val>
                                        </p:tav>
                                      </p:tavLst>
                                    </p:anim>
                                    <p:anim calcmode="lin" valueType="num">
                                      <p:cBhvr additive="base">
                                        <p:cTn id="32"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0" grpId="0"/>
      <p:bldP spid="12" grpId="0"/>
      <p:bldP spid="13" grpId="0"/>
      <p:bldP spid="15"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SCORM_RATE_SLIDES" val="0"/>
  <p:tag name="ISPRING_SCORM_RATE_QUIZZES" val="0"/>
  <p:tag name="ISPRING_SCORM_PASSING_SCORE" val="0.0000000000"/>
  <p:tag name="ISPRING_UUID" val="{620A5FFB-9214-409D-BF31-FB8B0117B8FA}"/>
  <p:tag name="ISPRING_RESOURCE_FOLDER" val="D:\MHZ\wpwj\制图课件\工程图学教学课件 穆\1.绪论\"/>
  <p:tag name="ISPRING_PRESENTATION_PATH" val="D:\MHZ\wpwj\制图课件\工程图学教学课件 穆\1.绪论.ppt"/>
  <p:tag name="ISPRING_PRESENTATION_INFO" val="&lt;?xml version=&quot;1.0&quot; encoding=&quot;UTF-8&quot; standalone=&quot;no&quot; ?&gt;&#10;&lt;presentation&gt;&#10;&#10;  &lt;slides&gt;&#10;    &lt;slide duration=&quot;11718&quot; id=&quot;{C55E4EC9-DC23-4BFF-8B55-864A098B31B8}&quot; pptId=&quot;317&quot; transitionDuration=&quot;0&quot;/&gt;&#10;    &lt;slide duration=&quot;3000&quot; id=&quot;{9AA51665-0565-4F8B-8635-173091C414FA}&quot; pptId=&quot;309&quot; transitionDuration=&quot;0&quot;/&gt;&#10;    &lt;slide duration=&quot;8500&quot; id=&quot;{E40228C7-8951-47B2-B469-B2ED4818E95D}&quot; pptId=&quot;256&quot; transitionDuration=&quot;0&quot;/&gt;&#10;    &lt;slide duration=&quot;501&quot; id=&quot;{B4D3CBD7-B471-42F5-9166-2318EA679E79}&quot; pptId=&quot;306&quot; transitionDuration=&quot;0&quot;/&gt;&#10;    &lt;slide duration=&quot;9000&quot; id=&quot;{220C8FFF-4AE0-479E-9343-3AF16638B16D}&quot; pptId=&quot;299&quot; transitionDuration=&quot;0&quot;/&gt;&#10;    &lt;slide duration=&quot;2001&quot; id=&quot;{CE72F892-51C5-4D9F-94C5-745D1AFC0EDB}&quot; pptId=&quot;310&quot; transitionDuration=&quot;0&quot;/&gt;&#10;    &lt;slide duration=&quot;15901&quot; id=&quot;{0EC142F7-2CCE-4A1A-A645-FDE8130BDB62}&quot; pptId=&quot;315&quot; transitionDuration=&quot;0&quot;/&gt;&#10;    &lt;slide duration=&quot;7151&quot; id=&quot;{3798E024-F33A-40C7-8639-8B93B02603F2}&quot; pptId=&quot;301&quot; transitionDuration=&quot;0&quot;/&gt;&#10;    &lt;slide duration=&quot;11801&quot; id=&quot;{DF94A0AB-1900-449F-AAD4-21AE953A7FA9}&quot; pptId=&quot;308&quot; transitionDuration=&quot;0&quot;/&gt;&#10;    &lt;slide duration=&quot;12001&quot; id=&quot;{E9C9D77F-A541-4444-8A5C-8E2857CF5113}&quot; pptId=&quot;302&quot; transitionDuration=&quot;0&quot;/&gt;&#10;    &lt;slide duration=&quot;10001&quot; id=&quot;{248468B3-BA64-4AE5-AFEC-9046E1FC3974}&quot; pptId=&quot;259&quot; transitionDuration=&quot;0&quot;/&gt;&#10;    &lt;slide duration=&quot;8501&quot; id=&quot;{EA4830FD-A81F-4456-BBD0-58D4D2EC253E}&quot; pptId=&quot;311&quot; transitionDuration=&quot;0&quot;/&gt;&#10;    &lt;slide duration=&quot;2139&quot; id=&quot;{E4448408-7BF2-4FE6-96B9-2DB2F56B9211}&quot; pptId=&quot;312&quot; transitionDuration=&quot;0&quot;/&gt;&#10;    &lt;slide duration=&quot;2169&quot; id=&quot;{2B67A837-6D9C-458E-B92C-1AF7949FEBB2}&quot; pptId=&quot;313&quot; transitionDuration=&quot;0&quot;/&gt;&#10;    &lt;slide duration=&quot;3410&quot; id=&quot;{AE87E774-9D50-4633-8A02-3093E9A2E898}&quot; pptId=&quot;314&quot; transitionDuration=&quot;0&quot;/&gt;&#10;    &lt;slide duration=&quot;2001&quot; id=&quot;{F457A0F3-5F6F-4703-B544-0164D71B1427}&quot; pptId=&quot;316&quot; transitionDuration=&quot;0&quot;/&gt;&#10;  &lt;/slides&gt;&#10;&#10;  &lt;narration&gt;&#10;    &lt;audioTracks&gt;&#10;      &lt;audioTrack duration=&quot;11770&quot; slideId=&quot;{C55E4EC9-DC23-4BFF-8B55-864A098B31B8}&quot; startTime=&quot;0&quot; stepIndex=&quot;0&quot; volume=&quot;1&quot;&gt;&#10;        &lt;file modifyTime=&quot;2015-03-09T15:12:25&quot; size=&quot;2076248&quot;&gt;&#10;          &lt;path full=&quot;D:\MHZ\wpwj\制图课件\工程图学教学课件 穆\1.绪论\audio\Mon Mar 09 23-12-12 2015.wav&quot; relative=&quot;1.绪论\audio\Mon Mar 09 23-12-12 2015.wav&quot; resource=&quot;Mon Mar 09 23-12-12 2015.wav&quot;/&gt;&#10;        &lt;/file&gt;&#10;        &lt;trim end=&quot;52&quot; start=&quot;0&quot;/&gt;&#10;        &lt;audio channels=&quot;2&quot; sampleRate=&quot;44100&quot;/&gt;&#10;      &lt;/audioTrack&gt;&#10;    &lt;/audioTracks&gt;&#10;  &lt;/narration&gt;&#10;&#10;&lt;/presentation&gt;&#10;"/>
  <p:tag name="ISPRING_RESOURCE_PATHS_HASH_2" val="2e13941660a746d65788139be88a7ad3375046b2"/>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5.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1_Office 主题">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bwMode="auto">
        <a:gradFill>
          <a:gsLst>
            <a:gs pos="100000">
              <a:schemeClr val="accent1">
                <a:lumMod val="40000"/>
                <a:lumOff val="60000"/>
              </a:schemeClr>
            </a:gs>
            <a:gs pos="50000">
              <a:schemeClr val="accent1">
                <a:tint val="44500"/>
                <a:satMod val="160000"/>
              </a:schemeClr>
            </a:gs>
            <a:gs pos="100000">
              <a:schemeClr val="accent1">
                <a:tint val="23500"/>
                <a:satMod val="160000"/>
              </a:schemeClr>
            </a:gs>
          </a:gsLst>
          <a:lin ang="5400000" scaled="0"/>
        </a:gradFill>
        <a:ln w="9525">
          <a:solidFill>
            <a:schemeClr val="accent1"/>
          </a:solidFill>
          <a:miter lim="800000"/>
          <a:headEnd/>
          <a:tailEnd/>
        </a:ln>
      </a:spPr>
      <a:bodyPr/>
      <a:lstStyle>
        <a:defPPr algn="just" fontAlgn="auto">
          <a:spcAft>
            <a:spcPts val="0"/>
          </a:spcAft>
          <a:defRPr sz="2800" b="1" dirty="0">
            <a:solidFill>
              <a:srgbClr val="FF0000"/>
            </a:solidFill>
            <a:effectLst>
              <a:outerShdw blurRad="38100" dist="38100" dir="2700000" algn="tl">
                <a:srgbClr val="000000">
                  <a:alpha val="43137"/>
                </a:srgbClr>
              </a:outerShdw>
            </a:effectLst>
            <a:latin typeface="+mn-ea"/>
            <a:ea typeface="+mn-ea"/>
          </a:defRPr>
        </a:defPPr>
      </a:lstStyle>
    </a:txDef>
  </a:objectDefaults>
  <a:extraClrSchemeLst/>
</a:theme>
</file>

<file path=ppt/theme/theme2.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3747</TotalTime>
  <Words>2122</Words>
  <Application>Microsoft Office PowerPoint</Application>
  <PresentationFormat>宽屏</PresentationFormat>
  <Paragraphs>238</Paragraphs>
  <Slides>25</Slides>
  <Notes>25</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25</vt:i4>
      </vt:variant>
    </vt:vector>
  </HeadingPairs>
  <TitlesOfParts>
    <vt:vector size="37" baseType="lpstr">
      <vt:lpstr>黑体</vt:lpstr>
      <vt:lpstr>华文行楷</vt:lpstr>
      <vt:lpstr>隶书</vt:lpstr>
      <vt:lpstr>宋体</vt:lpstr>
      <vt:lpstr>Microsoft Yahei</vt:lpstr>
      <vt:lpstr>Arial</vt:lpstr>
      <vt:lpstr>Calibri</vt:lpstr>
      <vt:lpstr>Tahoma</vt:lpstr>
      <vt:lpstr>Times New Roman</vt:lpstr>
      <vt:lpstr>Wingdings</vt:lpstr>
      <vt:lpstr>1_Office 主题</vt:lpstr>
      <vt:lpstr>Blends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对毕业能力达成的贡献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北京邮电大学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 章 绪论</dc:title>
  <dc:creator>穆浩志</dc:creator>
  <cp:lastModifiedBy>Lenovo</cp:lastModifiedBy>
  <cp:revision>442</cp:revision>
  <dcterms:created xsi:type="dcterms:W3CDTF">2001-02-11T12:47:25Z</dcterms:created>
  <dcterms:modified xsi:type="dcterms:W3CDTF">2022-09-08T08:06:24Z</dcterms:modified>
</cp:coreProperties>
</file>
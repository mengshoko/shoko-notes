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28"/>
  </p:notesMasterIdLst>
  <p:sldIdLst>
    <p:sldId id="555" r:id="rId2"/>
    <p:sldId id="556" r:id="rId3"/>
    <p:sldId id="578" r:id="rId4"/>
    <p:sldId id="558" r:id="rId5"/>
    <p:sldId id="559" r:id="rId6"/>
    <p:sldId id="560" r:id="rId7"/>
    <p:sldId id="561" r:id="rId8"/>
    <p:sldId id="582" r:id="rId9"/>
    <p:sldId id="562" r:id="rId10"/>
    <p:sldId id="580" r:id="rId11"/>
    <p:sldId id="563" r:id="rId12"/>
    <p:sldId id="564" r:id="rId13"/>
    <p:sldId id="565" r:id="rId14"/>
    <p:sldId id="566" r:id="rId15"/>
    <p:sldId id="567" r:id="rId16"/>
    <p:sldId id="568" r:id="rId17"/>
    <p:sldId id="569" r:id="rId18"/>
    <p:sldId id="570" r:id="rId19"/>
    <p:sldId id="583" r:id="rId20"/>
    <p:sldId id="571" r:id="rId21"/>
    <p:sldId id="572" r:id="rId22"/>
    <p:sldId id="573" r:id="rId23"/>
    <p:sldId id="579" r:id="rId24"/>
    <p:sldId id="584" r:id="rId25"/>
    <p:sldId id="577" r:id="rId26"/>
    <p:sldId id="581" r:id="rId27"/>
  </p:sldIdLst>
  <p:sldSz cx="12192000" cy="6858000"/>
  <p:notesSz cx="6858000" cy="9144000"/>
  <p:custDataLst>
    <p:tags r:id="rId2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modifyVerifier cryptProviderType="rsaFull" cryptAlgorithmClass="hash" cryptAlgorithmType="typeAny" cryptAlgorithmSid="4" spinCount="50000" saltData="ck/o2BBsRYSpyG1RLm6jag==" hashData="xW9qfe5hR7VJHW4F2bESHGEklD8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11D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4660"/>
  </p:normalViewPr>
  <p:slideViewPr>
    <p:cSldViewPr>
      <p:cViewPr varScale="1">
        <p:scale>
          <a:sx n="108" d="100"/>
          <a:sy n="108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E05583A5-64CF-49F2-A5BB-CCD6F150737C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64AD332-6E27-4532-891D-9F800F483C3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06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0E8A168-C5B7-4BA7-9D24-C90CB93AA975}" type="slidenum">
              <a:rPr lang="zh-CN" altLang="en-US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C25B4D0-46FE-4D5B-81F2-7E3EC53438F9}" type="slidenum">
              <a:rPr lang="zh-CN" altLang="en-US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F91177A-B41B-4F74-8F1E-C4A6C2D48F43}" type="slidenum">
              <a:rPr lang="zh-CN" altLang="en-US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3D257DA-2190-4DF8-B10B-4F7EFCED5759}" type="slidenum">
              <a:rPr lang="zh-CN" altLang="en-US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BB3A881-C969-41A5-AB28-AA7641A9CBD6}" type="slidenum">
              <a:rPr lang="zh-CN" altLang="en-US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B7A8262-BE95-4A56-B652-700B21627782}" type="slidenum">
              <a:rPr lang="zh-CN" altLang="en-US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120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2AA20A7-9F88-4DC6-8DF1-431617CDCD90}" type="slidenum">
              <a:rPr lang="zh-CN" altLang="en-US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FD988B3-B299-4B84-BB34-B522A9519CDA}" type="slidenum">
              <a:rPr lang="zh-CN" altLang="en-US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61A145C-A7FB-4219-8918-A8871B51734C}" type="slidenum">
              <a:rPr lang="zh-CN" altLang="en-US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427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E3B4FDE-4E4C-44F4-B253-564B577DD8F7}" type="slidenum">
              <a:rPr lang="zh-CN" altLang="en-US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96772E5-17DA-4B3C-87C3-1C1285C3800B}" type="slidenum">
              <a:rPr lang="zh-CN" altLang="en-US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63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F217740-8357-414C-A2E8-9EE1232AB0CB}" type="slidenum">
              <a:rPr lang="zh-CN" altLang="en-US"/>
              <a:pPr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5376366-F13F-45C3-885E-EBAACB9A00CE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3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4755925-BC76-45F1-8BC1-6347D82DE3C1}" type="slidenum">
              <a:rPr lang="zh-CN" altLang="en-US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A2D6FF-826F-4D77-BF55-A29707E8EA16}" type="slidenum">
              <a:rPr lang="zh-CN" altLang="en-US"/>
              <a:pPr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42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7E78C41-9F40-4115-B9CB-E8C4860B4D40}" type="slidenum">
              <a:rPr lang="zh-CN" altLang="en-US"/>
              <a:pPr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0486F7A-290D-4ECB-9D44-EEDC16EE05AD}" type="slidenum">
              <a:rPr lang="zh-CN" altLang="en-US"/>
              <a:pPr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46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30AE7373-0070-49BA-9EF6-8D8F9634392D}" type="slidenum">
              <a:rPr lang="zh-CN" altLang="en-US"/>
              <a:pPr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1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4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AE07EC0-8EF1-4976-8D4E-800A704C6EF4}" type="slidenum">
              <a:rPr lang="zh-CN" altLang="en-US"/>
              <a:pPr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516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AE02F86-DAD3-49E9-90D1-4419CB583B7E}" type="slidenum">
              <a:rPr lang="zh-CN" altLang="en-US"/>
              <a:pPr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554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47C51C6-2050-4F8B-994E-646784EF2DB8}" type="slidenum">
              <a:rPr lang="zh-CN" altLang="en-US"/>
              <a:pPr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64C903BC-DF70-45A4-A4DD-D1E97A7A96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619911F4-7139-4DD7-8E11-3DDF1561FE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D6FDF4A0-6A0F-4CE3-8FC0-A2BF6D4C86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794B865D-014C-4B21-A917-382F0C1EB3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3DC3FBE4-8147-4CA7-BDF9-3185B1B859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0C5948EC-EB7E-4366-95A5-F0660860D7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3F4A05A4-0FBB-49F6-A239-50AC3F893B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B15D83F9-5662-4A50-87DD-405F108DC5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408BCB08-327D-4108-81DF-884D38EDD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44D3F42F-1586-41D7-AF04-CF74E00420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7E4D00BB-3555-4E0B-BAE8-110DCDA4DD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B1884D22-7265-44E4-9C01-D7BDB11CC5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8F0015C5-3AA7-4EB8-B3DE-A9E984A7AF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75E3E0ED-C66F-43C9-8D80-C87B32C733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85FE0DB8-420E-4DDA-8B9E-B0F6D5C453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5288536F-9C56-4112-A1A9-2B7356406B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30E32B47-6334-478C-9C04-F23833E77C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EF269C93-713F-4455-A77B-EE22E76E17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29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0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1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2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3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034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zh-CN"/>
          </a:p>
        </p:txBody>
      </p:sp>
      <p:sp>
        <p:nvSpPr>
          <p:cNvPr id="13" name="TextBox 12"/>
          <p:cNvSpPr txBox="1"/>
          <p:nvPr userDrawn="1"/>
        </p:nvSpPr>
        <p:spPr>
          <a:xfrm>
            <a:off x="8724901" y="1019176"/>
            <a:ext cx="3164417" cy="461963"/>
          </a:xfrm>
          <a:prstGeom prst="rect">
            <a:avLst/>
          </a:prstGeom>
        </p:spPr>
        <p:txBody>
          <a:bodyPr anchor="ctr">
            <a:sp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  <a:cs typeface="+mj-cs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C51FC07-4054-4398-B35C-E9A7AD5AAEDE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3468" y="30956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0" r:id="rId1"/>
    <p:sldLayoutId id="2147484621" r:id="rId2"/>
    <p:sldLayoutId id="2147484622" r:id="rId3"/>
    <p:sldLayoutId id="2147484623" r:id="rId4"/>
    <p:sldLayoutId id="2147484624" r:id="rId5"/>
    <p:sldLayoutId id="2147484625" r:id="rId6"/>
    <p:sldLayoutId id="2147484626" r:id="rId7"/>
    <p:sldLayoutId id="2147484627" r:id="rId8"/>
    <p:sldLayoutId id="2147484628" r:id="rId9"/>
    <p:sldLayoutId id="2147484629" r:id="rId10"/>
    <p:sldLayoutId id="2147484630" r:id="rId11"/>
    <p:sldLayoutId id="2147484631" r:id="rId12"/>
    <p:sldLayoutId id="2147484632" r:id="rId13"/>
    <p:sldLayoutId id="2147484633" r:id="rId14"/>
    <p:sldLayoutId id="2147484634" r:id="rId15"/>
    <p:sldLayoutId id="2147484635" r:id="rId16"/>
    <p:sldLayoutId id="2147484636" r:id="rId17"/>
    <p:sldLayoutId id="2147484637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5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5.tmp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3.xml"/><Relationship Id="rId13" Type="http://schemas.openxmlformats.org/officeDocument/2006/relationships/tags" Target="../tags/tag4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38.xml"/><Relationship Id="rId7" Type="http://schemas.openxmlformats.org/officeDocument/2006/relationships/tags" Target="../tags/tag42.xml"/><Relationship Id="rId12" Type="http://schemas.openxmlformats.org/officeDocument/2006/relationships/tags" Target="../tags/tag47.xml"/><Relationship Id="rId17" Type="http://schemas.openxmlformats.org/officeDocument/2006/relationships/tags" Target="../tags/tag52.xml"/><Relationship Id="rId2" Type="http://schemas.openxmlformats.org/officeDocument/2006/relationships/tags" Target="../tags/tag37.xml"/><Relationship Id="rId16" Type="http://schemas.openxmlformats.org/officeDocument/2006/relationships/tags" Target="../tags/tag51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tags" Target="../tags/tag46.xml"/><Relationship Id="rId5" Type="http://schemas.openxmlformats.org/officeDocument/2006/relationships/tags" Target="../tags/tag40.xml"/><Relationship Id="rId15" Type="http://schemas.openxmlformats.org/officeDocument/2006/relationships/tags" Target="../tags/tag50.xml"/><Relationship Id="rId10" Type="http://schemas.openxmlformats.org/officeDocument/2006/relationships/tags" Target="../tags/tag45.xml"/><Relationship Id="rId19" Type="http://schemas.openxmlformats.org/officeDocument/2006/relationships/image" Target="../media/image5.tmp"/><Relationship Id="rId4" Type="http://schemas.openxmlformats.org/officeDocument/2006/relationships/tags" Target="../tags/tag39.xml"/><Relationship Id="rId9" Type="http://schemas.openxmlformats.org/officeDocument/2006/relationships/tags" Target="../tags/tag44.xml"/><Relationship Id="rId14" Type="http://schemas.openxmlformats.org/officeDocument/2006/relationships/tags" Target="../tags/tag4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0"/>
          <p:cNvSpPr>
            <a:spLocks/>
          </p:cNvSpPr>
          <p:nvPr/>
        </p:nvSpPr>
        <p:spPr bwMode="auto">
          <a:xfrm>
            <a:off x="3342096" y="1655404"/>
            <a:ext cx="171104" cy="949325"/>
          </a:xfrm>
          <a:prstGeom prst="leftBrace">
            <a:avLst>
              <a:gd name="adj1" fmla="val 108394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3491321" y="1364891"/>
            <a:ext cx="40513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en-US" altLang="zh-CN" sz="2800">
                <a:solidFill>
                  <a:srgbClr val="FF0000"/>
                </a:solidFill>
                <a:cs typeface="Arial" charset="0"/>
              </a:rPr>
              <a:t>  </a:t>
            </a:r>
            <a:r>
              <a:rPr lang="en-US" altLang="zh-CN" sz="2800">
                <a:cs typeface="Arial" charset="0"/>
              </a:rPr>
              <a:t> </a:t>
            </a:r>
            <a:r>
              <a:rPr lang="en-US" altLang="zh-CN" sz="2800">
                <a:latin typeface="宋体" pitchFamily="2" charset="-122"/>
              </a:rPr>
              <a:t>1.</a:t>
            </a:r>
            <a:r>
              <a:rPr lang="zh-CN" altLang="en-US" sz="2800">
                <a:latin typeface="宋体" pitchFamily="2" charset="-122"/>
              </a:rPr>
              <a:t>轴测图的基本知识</a:t>
            </a:r>
            <a:endParaRPr lang="en-US" altLang="zh-CN" sz="2800">
              <a:latin typeface="宋体" pitchFamily="2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799297" y="2196741"/>
            <a:ext cx="41433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2636838" algn="ctr"/>
                <a:tab pos="5273675" algn="r"/>
              </a:tabLst>
            </a:pPr>
            <a:r>
              <a:rPr lang="en-US" altLang="zh-CN" sz="2800" dirty="0">
                <a:latin typeface="宋体" pitchFamily="2" charset="-122"/>
              </a:rPr>
              <a:t>3.</a:t>
            </a:r>
            <a:r>
              <a:rPr lang="zh-CN" altLang="en-US" sz="2800" dirty="0">
                <a:latin typeface="宋体" pitchFamily="2" charset="-122"/>
              </a:rPr>
              <a:t>斜二等轴测图画法</a:t>
            </a:r>
            <a:endParaRPr lang="en-US" altLang="zh-CN" sz="2800" dirty="0">
              <a:latin typeface="宋体" pitchFamily="2" charset="-122"/>
            </a:endParaRPr>
          </a:p>
        </p:txBody>
      </p:sp>
      <p:sp>
        <p:nvSpPr>
          <p:cNvPr id="7" name="AutoShape 20"/>
          <p:cNvSpPr>
            <a:spLocks/>
          </p:cNvSpPr>
          <p:nvPr/>
        </p:nvSpPr>
        <p:spPr bwMode="auto">
          <a:xfrm>
            <a:off x="3370672" y="3090503"/>
            <a:ext cx="200025" cy="1720850"/>
          </a:xfrm>
          <a:prstGeom prst="leftBrace">
            <a:avLst>
              <a:gd name="adj1" fmla="val 108336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3743735" y="4290654"/>
            <a:ext cx="66481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latin typeface="宋体" pitchFamily="2" charset="-122"/>
              </a:rPr>
              <a:t>3</a:t>
            </a:r>
            <a:r>
              <a:rPr lang="en-US" altLang="zh-CN" sz="2800" dirty="0"/>
              <a:t>.</a:t>
            </a:r>
            <a:r>
              <a:rPr lang="zh-CN" altLang="en-US" sz="2800" dirty="0"/>
              <a:t>了解斜二轴测图的应用特点和绘制方法</a:t>
            </a:r>
            <a:r>
              <a:rPr lang="zh-CN" altLang="en-US" dirty="0"/>
              <a:t>。</a:t>
            </a: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3743734" y="3377840"/>
            <a:ext cx="6648162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latin typeface="+mn-ea"/>
                <a:ea typeface="+mn-ea"/>
                <a:cs typeface="Arial" charset="0"/>
              </a:rPr>
              <a:t>2.</a:t>
            </a:r>
            <a:r>
              <a:rPr lang="zh-CN" altLang="en-US" sz="2800" dirty="0">
                <a:latin typeface="Arial" panose="020B0604020202020204" pitchFamily="34" charset="0"/>
              </a:rPr>
              <a:t>掌握正等轴测图的作图方法，会绘制组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 </a:t>
            </a:r>
            <a:r>
              <a:rPr lang="zh-CN" altLang="en-US" sz="2800" dirty="0">
                <a:latin typeface="Arial" panose="020B0604020202020204" pitchFamily="34" charset="0"/>
              </a:rPr>
              <a:t>合形体轴测图、会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二维图形空间化</a:t>
            </a:r>
            <a:r>
              <a:rPr lang="zh-CN" altLang="en-US" sz="2800" dirty="0">
                <a:latin typeface="Arial" panose="020B0604020202020204" pitchFamily="34" charset="0"/>
              </a:rPr>
              <a:t>。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3350828" y="5838466"/>
            <a:ext cx="5643562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eaLnBrk="1" hangingPunct="1"/>
            <a:r>
              <a:rPr lang="zh-CN" altLang="en-US" sz="2800" dirty="0"/>
              <a:t>组合形体的正等轴测图的绘制方法</a:t>
            </a:r>
            <a:endParaRPr lang="en-US" altLang="zh-CN" sz="2800" dirty="0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3513546" y="1768116"/>
            <a:ext cx="33591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indent="298450">
              <a:tabLst>
                <a:tab pos="2636838" algn="ctr"/>
                <a:tab pos="5273675" algn="r"/>
              </a:tabLst>
            </a:pPr>
            <a:r>
              <a:rPr lang="en-US" altLang="zh-CN" sz="2800">
                <a:latin typeface="宋体" pitchFamily="2" charset="-122"/>
                <a:cs typeface="Arial" charset="0"/>
              </a:rPr>
              <a:t>2.</a:t>
            </a:r>
            <a:r>
              <a:rPr lang="zh-CN" altLang="en-US" sz="2800">
                <a:latin typeface="宋体" pitchFamily="2" charset="-122"/>
              </a:rPr>
              <a:t>正等轴测图画法</a:t>
            </a:r>
          </a:p>
        </p:txBody>
      </p:sp>
      <p:sp>
        <p:nvSpPr>
          <p:cNvPr id="20490" name="Text Box 31"/>
          <p:cNvSpPr txBox="1">
            <a:spLocks noChangeArrowheads="1"/>
          </p:cNvSpPr>
          <p:nvPr/>
        </p:nvSpPr>
        <p:spPr bwMode="auto">
          <a:xfrm>
            <a:off x="4021312" y="369819"/>
            <a:ext cx="3832462" cy="584775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轴 测 图</a:t>
            </a:r>
            <a:endParaRPr lang="zh-CN" altLang="en-US" sz="3200" b="1" dirty="0">
              <a:solidFill>
                <a:schemeClr val="tx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595500" y="1880828"/>
            <a:ext cx="2008187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本章内容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		    </a:t>
            </a:r>
            <a:endParaRPr kumimoji="1" lang="zh-CN" altLang="en-US" sz="2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Rectangle 52"/>
          <p:cNvSpPr>
            <a:spLocks noChangeArrowheads="1"/>
          </p:cNvSpPr>
          <p:nvPr/>
        </p:nvSpPr>
        <p:spPr bwMode="auto">
          <a:xfrm>
            <a:off x="1558987" y="3635016"/>
            <a:ext cx="1954213" cy="72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学习目标</a:t>
            </a:r>
            <a:r>
              <a:rPr kumimoji="1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3743734" y="2903179"/>
            <a:ext cx="652873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latin typeface="+mn-ea"/>
                <a:ea typeface="+mn-ea"/>
                <a:cs typeface="Arial" charset="0"/>
              </a:rPr>
              <a:t>1.</a:t>
            </a:r>
            <a:r>
              <a:rPr lang="zh-CN" altLang="en-US" sz="2800" dirty="0">
                <a:latin typeface="Arial" panose="020B0604020202020204" pitchFamily="34" charset="0"/>
                <a:ea typeface="+mn-ea"/>
                <a:cs typeface="Arial" charset="0"/>
              </a:rPr>
              <a:t>了解轴测图作图原理、规律和分类</a:t>
            </a:r>
            <a:r>
              <a:rPr lang="zh-CN" altLang="en-US" sz="2800" dirty="0">
                <a:latin typeface="Arial" panose="020B0604020202020204" pitchFamily="34" charset="0"/>
              </a:rPr>
              <a:t>。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20" name="Rectangle 52"/>
          <p:cNvSpPr>
            <a:spLocks noChangeArrowheads="1"/>
          </p:cNvSpPr>
          <p:nvPr/>
        </p:nvSpPr>
        <p:spPr bwMode="auto">
          <a:xfrm>
            <a:off x="1960624" y="5130440"/>
            <a:ext cx="1277937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重点</a:t>
            </a:r>
            <a:r>
              <a:rPr kumimoji="1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1" name="Rectangle 52"/>
          <p:cNvSpPr>
            <a:spLocks noChangeArrowheads="1"/>
          </p:cNvSpPr>
          <p:nvPr/>
        </p:nvSpPr>
        <p:spPr bwMode="auto">
          <a:xfrm>
            <a:off x="1960624" y="5760678"/>
            <a:ext cx="1423988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70000"/>
              <a:defRPr/>
            </a:pPr>
            <a:r>
              <a:rPr kumimoji="1" lang="zh-CN" alt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难点</a:t>
            </a:r>
            <a:r>
              <a:rPr kumimoji="1" lang="en-US" altLang="zh-CN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kumimoji="1" lang="zh-CN" altLang="en-US" sz="28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</a:p>
          <a:p>
            <a:pPr marL="342900" indent="-342900" eaLnBrk="1" hangingPunct="1">
              <a:lnSpc>
                <a:spcPct val="125000"/>
              </a:lnSpc>
              <a:buClr>
                <a:schemeClr val="tx1"/>
              </a:buClr>
              <a:buSzPct val="70000"/>
              <a:defRPr/>
            </a:pPr>
            <a:r>
              <a:rPr kumimoji="1" lang="zh-CN" altLang="en-US" sz="2800" dirty="0">
                <a:latin typeface="宋体" pitchFamily="2" charset="-122"/>
              </a:rPr>
              <a:t>		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3370672" y="5227278"/>
            <a:ext cx="33226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800" dirty="0">
                <a:latin typeface="Arial" panose="020B0604020202020204" pitchFamily="34" charset="0"/>
                <a:ea typeface="+mn-ea"/>
                <a:cs typeface="Arial" charset="0"/>
              </a:rPr>
              <a:t>轴测图作图原理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/>
      <p:bldP spid="11" grpId="0"/>
      <p:bldP spid="14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7848601" y="5765801"/>
            <a:ext cx="1266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0070C0"/>
                </a:solidFill>
                <a:latin typeface="宋体" pitchFamily="2" charset="-122"/>
              </a:rPr>
              <a:t>轴测图</a:t>
            </a:r>
            <a:endParaRPr lang="zh-CN" altLang="en-US" sz="2800">
              <a:solidFill>
                <a:srgbClr val="0070C0"/>
              </a:solidFill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809875" y="5802314"/>
            <a:ext cx="19875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0070C0"/>
                </a:solidFill>
                <a:latin typeface="宋体" pitchFamily="2" charset="-122"/>
              </a:rPr>
              <a:t>多面正投影</a:t>
            </a:r>
            <a:endParaRPr lang="zh-CN" altLang="en-US" sz="2800">
              <a:solidFill>
                <a:srgbClr val="0070C0"/>
              </a:solidFill>
            </a:endParaRPr>
          </a:p>
        </p:txBody>
      </p:sp>
      <p:pic>
        <p:nvPicPr>
          <p:cNvPr id="21508" name="Picture 14"/>
          <p:cNvPicPr>
            <a:picLocks noChangeAspect="1" noChangeArrowheads="1"/>
          </p:cNvPicPr>
          <p:nvPr/>
        </p:nvPicPr>
        <p:blipFill>
          <a:blip r:embed="rId3"/>
          <a:srcRect r="48636"/>
          <a:stretch>
            <a:fillRect/>
          </a:stretch>
        </p:blipFill>
        <p:spPr bwMode="auto">
          <a:xfrm>
            <a:off x="2444751" y="1895475"/>
            <a:ext cx="4125913" cy="35321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21519" name="Picture 15"/>
          <p:cNvPicPr>
            <a:picLocks noChangeAspect="1" noChangeArrowheads="1"/>
          </p:cNvPicPr>
          <p:nvPr/>
        </p:nvPicPr>
        <p:blipFill>
          <a:blip r:embed="rId3"/>
          <a:srcRect l="58313"/>
          <a:stretch>
            <a:fillRect/>
          </a:stretch>
        </p:blipFill>
        <p:spPr bwMode="auto">
          <a:xfrm>
            <a:off x="6716714" y="1712914"/>
            <a:ext cx="3513137" cy="37242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67676" y="2224089"/>
            <a:ext cx="1935163" cy="20272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8704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6675" y="1238250"/>
            <a:ext cx="4819650" cy="31638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2532" name="Text Box 1026"/>
          <p:cNvSpPr txBox="1">
            <a:spLocks noChangeArrowheads="1"/>
          </p:cNvSpPr>
          <p:nvPr/>
        </p:nvSpPr>
        <p:spPr bwMode="auto">
          <a:xfrm>
            <a:off x="1730711" y="525681"/>
            <a:ext cx="6072187" cy="58477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一、</a:t>
            </a:r>
            <a:r>
              <a:rPr lang="en-US" altLang="zh-CN" sz="32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32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轴测图的基本知识</a:t>
            </a:r>
          </a:p>
        </p:txBody>
      </p:sp>
      <p:sp>
        <p:nvSpPr>
          <p:cNvPr id="159747" name="Text Box 1027"/>
          <p:cNvSpPr txBox="1">
            <a:spLocks noChangeArrowheads="1"/>
          </p:cNvSpPr>
          <p:nvPr/>
        </p:nvSpPr>
        <p:spPr bwMode="auto">
          <a:xfrm>
            <a:off x="2331245" y="1805434"/>
            <a:ext cx="30162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将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物体</a:t>
            </a:r>
            <a:r>
              <a:rPr lang="zh-CN" altLang="en-US" sz="2800" dirty="0">
                <a:latin typeface="宋体" pitchFamily="2" charset="-122"/>
              </a:rPr>
              <a:t>连同确定其空间位置的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直角坐标系</a:t>
            </a:r>
          </a:p>
        </p:txBody>
      </p:sp>
      <p:sp>
        <p:nvSpPr>
          <p:cNvPr id="22534" name="Text Box 1030"/>
          <p:cNvSpPr txBox="1">
            <a:spLocks noChangeArrowheads="1"/>
          </p:cNvSpPr>
          <p:nvPr/>
        </p:nvSpPr>
        <p:spPr bwMode="auto">
          <a:xfrm>
            <a:off x="2036763" y="1214438"/>
            <a:ext cx="46799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8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轴测图的形成</a:t>
            </a:r>
          </a:p>
        </p:txBody>
      </p:sp>
      <p:sp>
        <p:nvSpPr>
          <p:cNvPr id="10" name="Text Box 1027"/>
          <p:cNvSpPr txBox="1">
            <a:spLocks noChangeArrowheads="1"/>
          </p:cNvSpPr>
          <p:nvPr/>
        </p:nvSpPr>
        <p:spPr bwMode="auto">
          <a:xfrm>
            <a:off x="2333627" y="3263454"/>
            <a:ext cx="27035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沿</a:t>
            </a:r>
            <a:r>
              <a:rPr lang="zh-CN" altLang="en-US" sz="2800" dirty="0">
                <a:latin typeface="宋体" pitchFamily="2" charset="-122"/>
              </a:rPr>
              <a:t>不平行于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任一坐标面</a:t>
            </a:r>
            <a:r>
              <a:rPr lang="zh-CN" altLang="en-US" sz="2800" dirty="0">
                <a:latin typeface="宋体" pitchFamily="2" charset="-122"/>
              </a:rPr>
              <a:t>方向</a:t>
            </a:r>
          </a:p>
        </p:txBody>
      </p:sp>
      <p:sp>
        <p:nvSpPr>
          <p:cNvPr id="18" name="Text Box 1027"/>
          <p:cNvSpPr txBox="1">
            <a:spLocks noChangeArrowheads="1"/>
          </p:cNvSpPr>
          <p:nvPr/>
        </p:nvSpPr>
        <p:spPr bwMode="auto">
          <a:xfrm>
            <a:off x="2331245" y="4402326"/>
            <a:ext cx="68770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用</a:t>
            </a:r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</a:rPr>
              <a:t>平行投影法</a:t>
            </a:r>
            <a:r>
              <a:rPr lang="zh-CN" altLang="en-US" sz="2800" dirty="0">
                <a:latin typeface="宋体" pitchFamily="2" charset="-122"/>
              </a:rPr>
              <a:t>将其投射在</a:t>
            </a:r>
            <a:r>
              <a:rPr lang="zh-CN" altLang="en-US" sz="2800" b="1" dirty="0">
                <a:solidFill>
                  <a:srgbClr val="FF3300"/>
                </a:solidFill>
                <a:latin typeface="宋体" pitchFamily="2" charset="-122"/>
              </a:rPr>
              <a:t>单一投影面</a:t>
            </a:r>
            <a:r>
              <a:rPr lang="en-US" altLang="zh-CN" sz="2800" b="1" dirty="0">
                <a:solidFill>
                  <a:srgbClr val="FF3300"/>
                </a:solidFill>
                <a:latin typeface="宋体" pitchFamily="2" charset="-122"/>
              </a:rPr>
              <a:t>P</a:t>
            </a:r>
            <a:r>
              <a:rPr lang="zh-CN" altLang="en-US" sz="2800" dirty="0">
                <a:latin typeface="宋体" pitchFamily="2" charset="-122"/>
              </a:rPr>
              <a:t>上</a:t>
            </a:r>
          </a:p>
        </p:txBody>
      </p:sp>
      <p:sp>
        <p:nvSpPr>
          <p:cNvPr id="19" name="Text Box 1027"/>
          <p:cNvSpPr txBox="1">
            <a:spLocks noChangeArrowheads="1"/>
          </p:cNvSpPr>
          <p:nvPr/>
        </p:nvSpPr>
        <p:spPr bwMode="auto">
          <a:xfrm>
            <a:off x="2331245" y="4999036"/>
            <a:ext cx="7858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3200" b="1" dirty="0">
                <a:latin typeface="宋体" pitchFamily="2" charset="-122"/>
              </a:rPr>
              <a:t>所得的具有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立体感</a:t>
            </a:r>
            <a:r>
              <a:rPr lang="zh-CN" altLang="en-US" sz="3200" b="1" dirty="0">
                <a:latin typeface="宋体" pitchFamily="2" charset="-122"/>
              </a:rPr>
              <a:t>的图形叫做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轴测图</a:t>
            </a:r>
            <a:r>
              <a:rPr lang="zh-CN" altLang="en-US" sz="3200" dirty="0">
                <a:latin typeface="宋体" pitchFamily="2" charset="-122"/>
              </a:rPr>
              <a:t>。</a:t>
            </a:r>
          </a:p>
        </p:txBody>
      </p:sp>
      <p:sp>
        <p:nvSpPr>
          <p:cNvPr id="14" name="Text Box 1031"/>
          <p:cNvSpPr txBox="1">
            <a:spLocks noChangeArrowheads="1"/>
          </p:cNvSpPr>
          <p:nvPr/>
        </p:nvSpPr>
        <p:spPr bwMode="auto">
          <a:xfrm>
            <a:off x="2240299" y="5680242"/>
            <a:ext cx="6572250" cy="58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3200" dirty="0">
                <a:latin typeface="宋体" pitchFamily="2" charset="-122"/>
              </a:rPr>
              <a:t>得到轴测投影的面叫做</a:t>
            </a:r>
            <a:r>
              <a:rPr lang="zh-CN" altLang="en-US" sz="3200" b="1" dirty="0">
                <a:solidFill>
                  <a:srgbClr val="FF3300"/>
                </a:solidFill>
                <a:latin typeface="宋体" pitchFamily="2" charset="-122"/>
              </a:rPr>
              <a:t>轴测投影面</a:t>
            </a:r>
            <a:r>
              <a:rPr lang="zh-CN" altLang="en-US" sz="3200" dirty="0">
                <a:solidFill>
                  <a:schemeClr val="tx2"/>
                </a:solidFill>
                <a:latin typeface="宋体" pitchFamily="2" charset="-122"/>
              </a:rPr>
              <a:t>。</a:t>
            </a:r>
          </a:p>
        </p:txBody>
      </p:sp>
      <p:cxnSp>
        <p:nvCxnSpPr>
          <p:cNvPr id="13" name="直接箭头连接符 12"/>
          <p:cNvCxnSpPr/>
          <p:nvPr/>
        </p:nvCxnSpPr>
        <p:spPr>
          <a:xfrm rot="10800000">
            <a:off x="8104188" y="2224089"/>
            <a:ext cx="957262" cy="36512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" name="椭圆 10"/>
          <p:cNvSpPr/>
          <p:nvPr/>
        </p:nvSpPr>
        <p:spPr>
          <a:xfrm>
            <a:off x="8140700" y="2620963"/>
            <a:ext cx="1428750" cy="1428750"/>
          </a:xfrm>
          <a:prstGeom prst="ellipse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rot="10800000" flipV="1">
            <a:off x="7410451" y="1639889"/>
            <a:ext cx="1204913" cy="40163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8688389" y="1274764"/>
            <a:ext cx="12668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0070C0"/>
                </a:solidFill>
                <a:latin typeface="宋体" pitchFamily="2" charset="-122"/>
              </a:rPr>
              <a:t>轴测图</a:t>
            </a:r>
            <a:endParaRPr lang="zh-CN" altLang="en-US" sz="2800">
              <a:solidFill>
                <a:srgbClr val="0070C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548314" y="1384301"/>
            <a:ext cx="2446337" cy="2227263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5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utoUpdateAnimBg="0"/>
      <p:bldP spid="10" grpId="0" autoUpdateAnimBg="0"/>
      <p:bldP spid="18" grpId="0" autoUpdateAnimBg="0"/>
      <p:bldP spid="19" grpId="0" autoUpdateAnimBg="0"/>
      <p:bldP spid="14" grpId="0" autoUpdateAnimBg="0"/>
      <p:bldP spid="11" grpId="0" animBg="1"/>
      <p:bldP spid="21" grpId="0"/>
      <p:bldP spid="20" grpId="0" animBg="1"/>
      <p:bldP spid="2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1438796" y="522288"/>
            <a:ext cx="769937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32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轴测轴、轴间角和轴向伸缩系数</a:t>
            </a:r>
          </a:p>
        </p:txBody>
      </p:sp>
      <p:sp>
        <p:nvSpPr>
          <p:cNvPr id="160772" name="Text Box 4"/>
          <p:cNvSpPr txBox="1">
            <a:spLocks noChangeArrowheads="1"/>
          </p:cNvSpPr>
          <p:nvPr/>
        </p:nvSpPr>
        <p:spPr bwMode="auto">
          <a:xfrm>
            <a:off x="3564559" y="5501784"/>
            <a:ext cx="554985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>
                <a:sym typeface="Symbol" pitchFamily="18" charset="2"/>
              </a:rPr>
              <a:t>X</a:t>
            </a:r>
            <a:r>
              <a:rPr lang="en-US" altLang="zh-CN" sz="2800" baseline="-20000">
                <a:sym typeface="Wingdings" pitchFamily="2" charset="2"/>
              </a:rPr>
              <a:t>1</a:t>
            </a:r>
            <a:r>
              <a:rPr lang="en-US" altLang="zh-CN" sz="2800">
                <a:sym typeface="Symbol" pitchFamily="18" charset="2"/>
              </a:rPr>
              <a:t>O</a:t>
            </a:r>
            <a:r>
              <a:rPr lang="en-US" altLang="zh-CN" sz="2800" baseline="-20000">
                <a:sym typeface="Wingdings" pitchFamily="2" charset="2"/>
              </a:rPr>
              <a:t>1</a:t>
            </a:r>
            <a:r>
              <a:rPr lang="en-US" altLang="zh-CN" sz="2800">
                <a:sym typeface="Symbol" pitchFamily="18" charset="2"/>
              </a:rPr>
              <a:t>Y</a:t>
            </a:r>
            <a:r>
              <a:rPr lang="en-US" altLang="zh-CN" sz="2800" baseline="-20000">
                <a:sym typeface="Wingdings" pitchFamily="2" charset="2"/>
              </a:rPr>
              <a:t>1</a:t>
            </a:r>
            <a:r>
              <a:rPr lang="zh-CN" altLang="en-US" sz="2800">
                <a:sym typeface="Symbol" pitchFamily="18" charset="2"/>
              </a:rPr>
              <a:t>，  </a:t>
            </a:r>
            <a:r>
              <a:rPr lang="en-US" altLang="zh-CN" sz="2800">
                <a:sym typeface="Symbol" pitchFamily="18" charset="2"/>
              </a:rPr>
              <a:t>X</a:t>
            </a:r>
            <a:r>
              <a:rPr lang="en-US" altLang="zh-CN" sz="2800" baseline="-20000">
                <a:sym typeface="Wingdings" pitchFamily="2" charset="2"/>
              </a:rPr>
              <a:t>1</a:t>
            </a:r>
            <a:r>
              <a:rPr lang="en-US" altLang="zh-CN" sz="2800">
                <a:sym typeface="Symbol" pitchFamily="18" charset="2"/>
              </a:rPr>
              <a:t>O</a:t>
            </a:r>
            <a:r>
              <a:rPr lang="en-US" altLang="zh-CN" sz="2800" baseline="-20000">
                <a:sym typeface="Wingdings" pitchFamily="2" charset="2"/>
              </a:rPr>
              <a:t>1</a:t>
            </a:r>
            <a:r>
              <a:rPr lang="en-US" altLang="zh-CN" sz="2800">
                <a:sym typeface="Symbol" pitchFamily="18" charset="2"/>
              </a:rPr>
              <a:t>Z</a:t>
            </a:r>
            <a:r>
              <a:rPr lang="en-US" altLang="zh-CN" sz="2800" baseline="-20000">
                <a:sym typeface="Wingdings" pitchFamily="2" charset="2"/>
              </a:rPr>
              <a:t>1</a:t>
            </a:r>
            <a:r>
              <a:rPr lang="zh-CN" altLang="en-US" sz="2800">
                <a:sym typeface="Wingdings" pitchFamily="2" charset="2"/>
              </a:rPr>
              <a:t>， </a:t>
            </a:r>
            <a:r>
              <a:rPr lang="zh-CN" altLang="en-US" sz="2800">
                <a:sym typeface="Symbol" pitchFamily="18" charset="2"/>
              </a:rPr>
              <a:t></a:t>
            </a:r>
            <a:r>
              <a:rPr lang="zh-CN" altLang="en-US" sz="2800">
                <a:sym typeface="Wingdings" pitchFamily="2" charset="2"/>
              </a:rPr>
              <a:t> </a:t>
            </a:r>
            <a:r>
              <a:rPr lang="en-US" altLang="zh-CN" sz="2800">
                <a:sym typeface="Wingdings" pitchFamily="2" charset="2"/>
              </a:rPr>
              <a:t>Y</a:t>
            </a:r>
            <a:r>
              <a:rPr lang="en-US" altLang="zh-CN" sz="2800" baseline="-20000">
                <a:sym typeface="Wingdings" pitchFamily="2" charset="2"/>
              </a:rPr>
              <a:t>1</a:t>
            </a:r>
            <a:r>
              <a:rPr lang="en-US" altLang="zh-CN" sz="2800">
                <a:sym typeface="Wingdings" pitchFamily="2" charset="2"/>
              </a:rPr>
              <a:t>O</a:t>
            </a:r>
            <a:r>
              <a:rPr lang="en-US" altLang="zh-CN" sz="2800" baseline="-20000">
                <a:sym typeface="Wingdings" pitchFamily="2" charset="2"/>
              </a:rPr>
              <a:t>1</a:t>
            </a:r>
            <a:r>
              <a:rPr lang="en-US" altLang="zh-CN" sz="2800">
                <a:sym typeface="Wingdings" pitchFamily="2" charset="2"/>
              </a:rPr>
              <a:t>Z</a:t>
            </a:r>
            <a:r>
              <a:rPr lang="en-US" altLang="zh-CN" sz="2800" baseline="-20000">
                <a:sym typeface="Wingdings" pitchFamily="2" charset="2"/>
              </a:rPr>
              <a:t>1</a:t>
            </a:r>
            <a:endParaRPr lang="en-US" altLang="zh-CN" sz="2800">
              <a:sym typeface="Wingdings" pitchFamily="2" charset="2"/>
            </a:endParaRPr>
          </a:p>
        </p:txBody>
      </p:sp>
      <p:sp>
        <p:nvSpPr>
          <p:cNvPr id="160773" name="AutoShape 5"/>
          <p:cNvSpPr>
            <a:spLocks noChangeArrowheads="1"/>
          </p:cNvSpPr>
          <p:nvPr/>
        </p:nvSpPr>
        <p:spPr bwMode="auto">
          <a:xfrm>
            <a:off x="9125570" y="4187334"/>
            <a:ext cx="1066800" cy="533400"/>
          </a:xfrm>
          <a:prstGeom prst="wedgeRoundRectCallout">
            <a:avLst>
              <a:gd name="adj1" fmla="val -118384"/>
              <a:gd name="adj2" fmla="val 27569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/>
              <a:t>坐标轴</a:t>
            </a:r>
          </a:p>
        </p:txBody>
      </p:sp>
      <p:sp>
        <p:nvSpPr>
          <p:cNvPr id="160774" name="AutoShape 6"/>
          <p:cNvSpPr>
            <a:spLocks noChangeArrowheads="1"/>
          </p:cNvSpPr>
          <p:nvPr/>
        </p:nvSpPr>
        <p:spPr bwMode="auto">
          <a:xfrm>
            <a:off x="9255745" y="5219209"/>
            <a:ext cx="1066800" cy="533400"/>
          </a:xfrm>
          <a:prstGeom prst="wedgeRoundRectCallout">
            <a:avLst>
              <a:gd name="adj1" fmla="val -122755"/>
              <a:gd name="adj2" fmla="val -68509"/>
              <a:gd name="adj3" fmla="val 16667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/>
              <a:t>轴测轴</a:t>
            </a:r>
          </a:p>
        </p:txBody>
      </p:sp>
      <p:sp>
        <p:nvSpPr>
          <p:cNvPr id="160775" name="Rectangle 7"/>
          <p:cNvSpPr>
            <a:spLocks noChangeArrowheads="1"/>
          </p:cNvSpPr>
          <p:nvPr/>
        </p:nvSpPr>
        <p:spPr bwMode="auto">
          <a:xfrm>
            <a:off x="4209084" y="4347671"/>
            <a:ext cx="529113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>
                <a:latin typeface="宋体" pitchFamily="2" charset="-122"/>
                <a:sym typeface="Wingdings" pitchFamily="2" charset="2"/>
              </a:rPr>
              <a:t>物体上  </a:t>
            </a:r>
            <a:r>
              <a:rPr lang="en-US" altLang="zh-CN" sz="2800">
                <a:latin typeface="宋体" pitchFamily="2" charset="-122"/>
                <a:sym typeface="Wingdings" pitchFamily="2" charset="2"/>
              </a:rPr>
              <a:t>OX</a:t>
            </a:r>
            <a:r>
              <a:rPr lang="zh-CN" altLang="en-US" sz="2800">
                <a:latin typeface="宋体" pitchFamily="2" charset="-122"/>
                <a:sym typeface="Wingdings" pitchFamily="2" charset="2"/>
              </a:rPr>
              <a:t>，  </a:t>
            </a:r>
            <a:r>
              <a:rPr lang="en-US" altLang="zh-CN" sz="2800">
                <a:latin typeface="宋体" pitchFamily="2" charset="-122"/>
                <a:sym typeface="Wingdings" pitchFamily="2" charset="2"/>
              </a:rPr>
              <a:t>OY</a:t>
            </a:r>
            <a:r>
              <a:rPr lang="zh-CN" altLang="en-US" sz="2800">
                <a:latin typeface="宋体" pitchFamily="2" charset="-122"/>
                <a:sym typeface="Wingdings" pitchFamily="2" charset="2"/>
              </a:rPr>
              <a:t>， </a:t>
            </a:r>
            <a:r>
              <a:rPr lang="en-US" altLang="zh-CN" sz="2800">
                <a:latin typeface="宋体" pitchFamily="2" charset="-122"/>
                <a:sym typeface="Wingdings" pitchFamily="2" charset="2"/>
              </a:rPr>
              <a:t>OZ</a:t>
            </a:r>
          </a:p>
          <a:p>
            <a:pPr eaLnBrk="1" hangingPunct="1"/>
            <a:r>
              <a:rPr lang="zh-CN" altLang="en-US" sz="2800">
                <a:latin typeface="宋体" pitchFamily="2" charset="-122"/>
                <a:sym typeface="Wingdings" pitchFamily="2" charset="2"/>
              </a:rPr>
              <a:t>投影面上  </a:t>
            </a:r>
            <a:r>
              <a:rPr lang="en-US" altLang="zh-CN" sz="2800">
                <a:latin typeface="宋体" pitchFamily="2" charset="-122"/>
                <a:sym typeface="Wingdings" pitchFamily="2" charset="2"/>
              </a:rPr>
              <a:t>O</a:t>
            </a:r>
            <a:r>
              <a:rPr lang="en-US" altLang="zh-CN" sz="28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2800">
                <a:latin typeface="宋体" pitchFamily="2" charset="-122"/>
                <a:sym typeface="Wingdings" pitchFamily="2" charset="2"/>
              </a:rPr>
              <a:t>X</a:t>
            </a:r>
            <a:r>
              <a:rPr lang="en-US" altLang="zh-CN" sz="28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zh-CN" altLang="en-US" sz="2800">
                <a:latin typeface="宋体" pitchFamily="2" charset="-122"/>
                <a:sym typeface="Wingdings" pitchFamily="2" charset="2"/>
              </a:rPr>
              <a:t>，</a:t>
            </a:r>
            <a:r>
              <a:rPr lang="en-US" altLang="zh-CN" sz="2800">
                <a:latin typeface="宋体" pitchFamily="2" charset="-122"/>
                <a:sym typeface="Wingdings" pitchFamily="2" charset="2"/>
              </a:rPr>
              <a:t>O</a:t>
            </a:r>
            <a:r>
              <a:rPr lang="en-US" altLang="zh-CN" sz="28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2800">
                <a:latin typeface="宋体" pitchFamily="2" charset="-122"/>
                <a:sym typeface="Wingdings" pitchFamily="2" charset="2"/>
              </a:rPr>
              <a:t>Y</a:t>
            </a:r>
            <a:r>
              <a:rPr lang="en-US" altLang="zh-CN" sz="28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zh-CN" altLang="en-US" sz="2800">
                <a:latin typeface="宋体" pitchFamily="2" charset="-122"/>
                <a:sym typeface="Wingdings" pitchFamily="2" charset="2"/>
              </a:rPr>
              <a:t>，</a:t>
            </a:r>
            <a:r>
              <a:rPr lang="en-US" altLang="zh-CN" sz="2800">
                <a:latin typeface="宋体" pitchFamily="2" charset="-122"/>
                <a:sym typeface="Wingdings" pitchFamily="2" charset="2"/>
              </a:rPr>
              <a:t>O</a:t>
            </a:r>
            <a:r>
              <a:rPr lang="en-US" altLang="zh-CN" sz="28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2800">
                <a:latin typeface="宋体" pitchFamily="2" charset="-122"/>
                <a:sym typeface="Wingdings" pitchFamily="2" charset="2"/>
              </a:rPr>
              <a:t>Z</a:t>
            </a:r>
            <a:r>
              <a:rPr lang="en-US" altLang="zh-CN" sz="2800" baseline="-20000">
                <a:latin typeface="宋体" pitchFamily="2" charset="-122"/>
                <a:sym typeface="Wingdings" pitchFamily="2" charset="2"/>
              </a:rPr>
              <a:t>1</a:t>
            </a:r>
          </a:p>
        </p:txBody>
      </p:sp>
      <p:sp>
        <p:nvSpPr>
          <p:cNvPr id="160776" name="Text Box 8"/>
          <p:cNvSpPr txBox="1">
            <a:spLocks noChangeArrowheads="1"/>
          </p:cNvSpPr>
          <p:nvPr/>
        </p:nvSpPr>
        <p:spPr bwMode="auto">
          <a:xfrm>
            <a:off x="1698626" y="1787526"/>
            <a:ext cx="463708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66"/>
                </a:solidFill>
                <a:latin typeface="宋体" pitchFamily="2" charset="-122"/>
              </a:rPr>
              <a:t>轴测轴：</a:t>
            </a:r>
            <a:r>
              <a:rPr lang="zh-CN" altLang="en-US" sz="2800" dirty="0">
                <a:latin typeface="宋体" pitchFamily="2" charset="-122"/>
              </a:rPr>
              <a:t>建立在物体上的坐标轴，在投影面上的投影</a:t>
            </a:r>
          </a:p>
        </p:txBody>
      </p:sp>
      <p:sp>
        <p:nvSpPr>
          <p:cNvPr id="160777" name="AutoShape 9"/>
          <p:cNvSpPr>
            <a:spLocks noChangeArrowheads="1"/>
          </p:cNvSpPr>
          <p:nvPr/>
        </p:nvSpPr>
        <p:spPr bwMode="auto">
          <a:xfrm>
            <a:off x="1486520" y="4990609"/>
            <a:ext cx="1066800" cy="533400"/>
          </a:xfrm>
          <a:prstGeom prst="wedgeRoundRectCallout">
            <a:avLst>
              <a:gd name="adj1" fmla="val 97171"/>
              <a:gd name="adj2" fmla="val 57440"/>
              <a:gd name="adj3" fmla="val 16667"/>
            </a:avLst>
          </a:prstGeom>
          <a:solidFill>
            <a:srgbClr val="FF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>
                <a:sym typeface="Wingdings" pitchFamily="2" charset="2"/>
              </a:rPr>
              <a:t>轴间角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6716713" y="1457326"/>
            <a:ext cx="3402012" cy="2481263"/>
            <a:chOff x="516" y="1516"/>
            <a:chExt cx="2143" cy="1563"/>
          </a:xfrm>
        </p:grpSpPr>
        <p:sp>
          <p:nvSpPr>
            <p:cNvPr id="23563" name="Line 11"/>
            <p:cNvSpPr>
              <a:spLocks noChangeShapeType="1"/>
            </p:cNvSpPr>
            <p:nvPr/>
          </p:nvSpPr>
          <p:spPr bwMode="auto">
            <a:xfrm>
              <a:off x="1089" y="229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4" name="Rectangle 12"/>
            <p:cNvSpPr>
              <a:spLocks noChangeArrowheads="1"/>
            </p:cNvSpPr>
            <p:nvPr/>
          </p:nvSpPr>
          <p:spPr bwMode="auto">
            <a:xfrm>
              <a:off x="711" y="1516"/>
              <a:ext cx="1935" cy="969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zh-CN"/>
            </a:p>
          </p:txBody>
        </p:sp>
        <p:sp>
          <p:nvSpPr>
            <p:cNvPr id="23565" name="Text Box 13"/>
            <p:cNvSpPr txBox="1">
              <a:spLocks noChangeArrowheads="1"/>
            </p:cNvSpPr>
            <p:nvPr/>
          </p:nvSpPr>
          <p:spPr bwMode="auto">
            <a:xfrm>
              <a:off x="723" y="1516"/>
              <a:ext cx="5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/>
                <a:t>投影面</a:t>
              </a:r>
            </a:p>
          </p:txBody>
        </p:sp>
        <p:sp>
          <p:nvSpPr>
            <p:cNvPr id="23566" name="Freeform 14"/>
            <p:cNvSpPr>
              <a:spLocks/>
            </p:cNvSpPr>
            <p:nvPr/>
          </p:nvSpPr>
          <p:spPr bwMode="auto">
            <a:xfrm>
              <a:off x="798" y="1876"/>
              <a:ext cx="899" cy="769"/>
            </a:xfrm>
            <a:custGeom>
              <a:avLst/>
              <a:gdLst>
                <a:gd name="T0" fmla="*/ 1155 w 885"/>
                <a:gd name="T1" fmla="*/ 0 h 769"/>
                <a:gd name="T2" fmla="*/ 0 w 885"/>
                <a:gd name="T3" fmla="*/ 769 h 769"/>
                <a:gd name="T4" fmla="*/ 0 60000 65536"/>
                <a:gd name="T5" fmla="*/ 0 60000 65536"/>
                <a:gd name="T6" fmla="*/ 0 w 885"/>
                <a:gd name="T7" fmla="*/ 0 h 769"/>
                <a:gd name="T8" fmla="*/ 885 w 885"/>
                <a:gd name="T9" fmla="*/ 769 h 7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5" h="769">
                  <a:moveTo>
                    <a:pt x="885" y="0"/>
                  </a:moveTo>
                  <a:lnTo>
                    <a:pt x="0" y="769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Freeform 15"/>
            <p:cNvSpPr>
              <a:spLocks/>
            </p:cNvSpPr>
            <p:nvPr/>
          </p:nvSpPr>
          <p:spPr bwMode="auto">
            <a:xfrm>
              <a:off x="1130" y="1724"/>
              <a:ext cx="897" cy="769"/>
            </a:xfrm>
            <a:custGeom>
              <a:avLst/>
              <a:gdLst>
                <a:gd name="T0" fmla="*/ 1153 w 883"/>
                <a:gd name="T1" fmla="*/ 0 h 769"/>
                <a:gd name="T2" fmla="*/ 0 w 883"/>
                <a:gd name="T3" fmla="*/ 769 h 769"/>
                <a:gd name="T4" fmla="*/ 0 60000 65536"/>
                <a:gd name="T5" fmla="*/ 0 60000 65536"/>
                <a:gd name="T6" fmla="*/ 0 w 883"/>
                <a:gd name="T7" fmla="*/ 0 h 769"/>
                <a:gd name="T8" fmla="*/ 883 w 883"/>
                <a:gd name="T9" fmla="*/ 769 h 7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3" h="769">
                  <a:moveTo>
                    <a:pt x="883" y="0"/>
                  </a:moveTo>
                  <a:lnTo>
                    <a:pt x="0" y="769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8" name="Freeform 16"/>
            <p:cNvSpPr>
              <a:spLocks/>
            </p:cNvSpPr>
            <p:nvPr/>
          </p:nvSpPr>
          <p:spPr bwMode="auto">
            <a:xfrm>
              <a:off x="1440" y="1879"/>
              <a:ext cx="897" cy="774"/>
            </a:xfrm>
            <a:custGeom>
              <a:avLst/>
              <a:gdLst>
                <a:gd name="T0" fmla="*/ 1153 w 883"/>
                <a:gd name="T1" fmla="*/ 0 h 774"/>
                <a:gd name="T2" fmla="*/ 0 w 883"/>
                <a:gd name="T3" fmla="*/ 774 h 774"/>
                <a:gd name="T4" fmla="*/ 0 60000 65536"/>
                <a:gd name="T5" fmla="*/ 0 60000 65536"/>
                <a:gd name="T6" fmla="*/ 0 w 883"/>
                <a:gd name="T7" fmla="*/ 0 h 774"/>
                <a:gd name="T8" fmla="*/ 883 w 883"/>
                <a:gd name="T9" fmla="*/ 774 h 7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3" h="774">
                  <a:moveTo>
                    <a:pt x="883" y="0"/>
                  </a:moveTo>
                  <a:lnTo>
                    <a:pt x="0" y="774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9" name="Freeform 17"/>
            <p:cNvSpPr>
              <a:spLocks/>
            </p:cNvSpPr>
            <p:nvPr/>
          </p:nvSpPr>
          <p:spPr bwMode="auto">
            <a:xfrm>
              <a:off x="1440" y="2151"/>
              <a:ext cx="901" cy="771"/>
            </a:xfrm>
            <a:custGeom>
              <a:avLst/>
              <a:gdLst>
                <a:gd name="T0" fmla="*/ 1157 w 887"/>
                <a:gd name="T1" fmla="*/ 0 h 771"/>
                <a:gd name="T2" fmla="*/ 0 w 887"/>
                <a:gd name="T3" fmla="*/ 771 h 771"/>
                <a:gd name="T4" fmla="*/ 0 60000 65536"/>
                <a:gd name="T5" fmla="*/ 0 60000 65536"/>
                <a:gd name="T6" fmla="*/ 0 w 887"/>
                <a:gd name="T7" fmla="*/ 0 h 771"/>
                <a:gd name="T8" fmla="*/ 887 w 887"/>
                <a:gd name="T9" fmla="*/ 771 h 7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7" h="771">
                  <a:moveTo>
                    <a:pt x="887" y="0"/>
                  </a:moveTo>
                  <a:lnTo>
                    <a:pt x="0" y="771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0" name="Freeform 18"/>
            <p:cNvSpPr>
              <a:spLocks/>
            </p:cNvSpPr>
            <p:nvPr/>
          </p:nvSpPr>
          <p:spPr bwMode="auto">
            <a:xfrm>
              <a:off x="798" y="2148"/>
              <a:ext cx="899" cy="788"/>
            </a:xfrm>
            <a:custGeom>
              <a:avLst/>
              <a:gdLst>
                <a:gd name="T0" fmla="*/ 1155 w 885"/>
                <a:gd name="T1" fmla="*/ 0 h 788"/>
                <a:gd name="T2" fmla="*/ 0 w 885"/>
                <a:gd name="T3" fmla="*/ 788 h 788"/>
                <a:gd name="T4" fmla="*/ 0 60000 65536"/>
                <a:gd name="T5" fmla="*/ 0 60000 65536"/>
                <a:gd name="T6" fmla="*/ 0 w 885"/>
                <a:gd name="T7" fmla="*/ 0 h 788"/>
                <a:gd name="T8" fmla="*/ 885 w 885"/>
                <a:gd name="T9" fmla="*/ 788 h 78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5" h="788">
                  <a:moveTo>
                    <a:pt x="885" y="0"/>
                  </a:moveTo>
                  <a:lnTo>
                    <a:pt x="0" y="788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Freeform 19"/>
            <p:cNvSpPr>
              <a:spLocks/>
            </p:cNvSpPr>
            <p:nvPr/>
          </p:nvSpPr>
          <p:spPr bwMode="auto">
            <a:xfrm>
              <a:off x="1139" y="2303"/>
              <a:ext cx="888" cy="766"/>
            </a:xfrm>
            <a:custGeom>
              <a:avLst/>
              <a:gdLst>
                <a:gd name="T0" fmla="*/ 28 w 1101"/>
                <a:gd name="T1" fmla="*/ 0 h 1214"/>
                <a:gd name="T2" fmla="*/ 0 w 1101"/>
                <a:gd name="T3" fmla="*/ 1 h 1214"/>
                <a:gd name="T4" fmla="*/ 0 60000 65536"/>
                <a:gd name="T5" fmla="*/ 0 60000 65536"/>
                <a:gd name="T6" fmla="*/ 0 w 1101"/>
                <a:gd name="T7" fmla="*/ 0 h 1214"/>
                <a:gd name="T8" fmla="*/ 1101 w 1101"/>
                <a:gd name="T9" fmla="*/ 1214 h 12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01" h="1214">
                  <a:moveTo>
                    <a:pt x="1101" y="0"/>
                  </a:moveTo>
                  <a:lnTo>
                    <a:pt x="0" y="1214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Freeform 20"/>
            <p:cNvSpPr>
              <a:spLocks/>
            </p:cNvSpPr>
            <p:nvPr/>
          </p:nvSpPr>
          <p:spPr bwMode="auto">
            <a:xfrm>
              <a:off x="1123" y="2013"/>
              <a:ext cx="908" cy="785"/>
            </a:xfrm>
            <a:custGeom>
              <a:avLst/>
              <a:gdLst>
                <a:gd name="T0" fmla="*/ 1164 w 894"/>
                <a:gd name="T1" fmla="*/ 0 h 785"/>
                <a:gd name="T2" fmla="*/ 0 w 894"/>
                <a:gd name="T3" fmla="*/ 785 h 785"/>
                <a:gd name="T4" fmla="*/ 0 60000 65536"/>
                <a:gd name="T5" fmla="*/ 0 60000 65536"/>
                <a:gd name="T6" fmla="*/ 0 w 894"/>
                <a:gd name="T7" fmla="*/ 0 h 785"/>
                <a:gd name="T8" fmla="*/ 894 w 894"/>
                <a:gd name="T9" fmla="*/ 785 h 78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4" h="785">
                  <a:moveTo>
                    <a:pt x="894" y="0"/>
                  </a:moveTo>
                  <a:lnTo>
                    <a:pt x="0" y="785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73" name="Group 21"/>
            <p:cNvGrpSpPr>
              <a:grpSpLocks/>
            </p:cNvGrpSpPr>
            <p:nvPr/>
          </p:nvGrpSpPr>
          <p:grpSpPr bwMode="auto">
            <a:xfrm>
              <a:off x="1697" y="1714"/>
              <a:ext cx="662" cy="589"/>
              <a:chOff x="2985" y="915"/>
              <a:chExt cx="954" cy="1000"/>
            </a:xfrm>
          </p:grpSpPr>
          <p:sp>
            <p:nvSpPr>
              <p:cNvPr id="23601" name="Freeform 22"/>
              <p:cNvSpPr>
                <a:spLocks/>
              </p:cNvSpPr>
              <p:nvPr/>
            </p:nvSpPr>
            <p:spPr bwMode="auto">
              <a:xfrm>
                <a:off x="3463" y="1444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1405 h 438"/>
                  <a:gd name="T4" fmla="*/ 0 60000 65536"/>
                  <a:gd name="T5" fmla="*/ 0 60000 65536"/>
                  <a:gd name="T6" fmla="*/ 0 w 1"/>
                  <a:gd name="T7" fmla="*/ 0 h 438"/>
                  <a:gd name="T8" fmla="*/ 0 w 1"/>
                  <a:gd name="T9" fmla="*/ 438 h 4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2" name="Freeform 23"/>
              <p:cNvSpPr>
                <a:spLocks/>
              </p:cNvSpPr>
              <p:nvPr/>
            </p:nvSpPr>
            <p:spPr bwMode="auto">
              <a:xfrm>
                <a:off x="3462" y="1640"/>
                <a:ext cx="477" cy="273"/>
              </a:xfrm>
              <a:custGeom>
                <a:avLst/>
                <a:gdLst>
                  <a:gd name="T0" fmla="*/ 0 w 410"/>
                  <a:gd name="T1" fmla="*/ 863 h 254"/>
                  <a:gd name="T2" fmla="*/ 5377 w 410"/>
                  <a:gd name="T3" fmla="*/ 0 h 254"/>
                  <a:gd name="T4" fmla="*/ 0 60000 65536"/>
                  <a:gd name="T5" fmla="*/ 0 60000 65536"/>
                  <a:gd name="T6" fmla="*/ 0 w 410"/>
                  <a:gd name="T7" fmla="*/ 0 h 254"/>
                  <a:gd name="T8" fmla="*/ 410 w 410"/>
                  <a:gd name="T9" fmla="*/ 254 h 2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3" name="Freeform 24"/>
              <p:cNvSpPr>
                <a:spLocks/>
              </p:cNvSpPr>
              <p:nvPr/>
            </p:nvSpPr>
            <p:spPr bwMode="auto">
              <a:xfrm>
                <a:off x="2986" y="1656"/>
                <a:ext cx="476" cy="259"/>
              </a:xfrm>
              <a:custGeom>
                <a:avLst/>
                <a:gdLst>
                  <a:gd name="T0" fmla="*/ 5399 w 409"/>
                  <a:gd name="T1" fmla="*/ 820 h 241"/>
                  <a:gd name="T2" fmla="*/ 0 w 409"/>
                  <a:gd name="T3" fmla="*/ 0 h 241"/>
                  <a:gd name="T4" fmla="*/ 0 60000 65536"/>
                  <a:gd name="T5" fmla="*/ 0 60000 65536"/>
                  <a:gd name="T6" fmla="*/ 0 w 409"/>
                  <a:gd name="T7" fmla="*/ 0 h 241"/>
                  <a:gd name="T8" fmla="*/ 409 w 409"/>
                  <a:gd name="T9" fmla="*/ 241 h 24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4" name="Freeform 25"/>
              <p:cNvSpPr>
                <a:spLocks/>
              </p:cNvSpPr>
              <p:nvPr/>
            </p:nvSpPr>
            <p:spPr bwMode="auto">
              <a:xfrm>
                <a:off x="2986" y="1187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1405 h 438"/>
                  <a:gd name="T4" fmla="*/ 0 60000 65536"/>
                  <a:gd name="T5" fmla="*/ 0 60000 65536"/>
                  <a:gd name="T6" fmla="*/ 0 w 1"/>
                  <a:gd name="T7" fmla="*/ 0 h 438"/>
                  <a:gd name="T8" fmla="*/ 0 w 1"/>
                  <a:gd name="T9" fmla="*/ 438 h 4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5" name="Freeform 26"/>
              <p:cNvSpPr>
                <a:spLocks/>
              </p:cNvSpPr>
              <p:nvPr/>
            </p:nvSpPr>
            <p:spPr bwMode="auto">
              <a:xfrm>
                <a:off x="3922" y="1201"/>
                <a:ext cx="2" cy="439"/>
              </a:xfrm>
              <a:custGeom>
                <a:avLst/>
                <a:gdLst>
                  <a:gd name="T0" fmla="*/ 0 w 1"/>
                  <a:gd name="T1" fmla="*/ 0 h 410"/>
                  <a:gd name="T2" fmla="*/ 0 w 1"/>
                  <a:gd name="T3" fmla="*/ 1314 h 410"/>
                  <a:gd name="T4" fmla="*/ 0 60000 65536"/>
                  <a:gd name="T5" fmla="*/ 0 60000 65536"/>
                  <a:gd name="T6" fmla="*/ 0 w 1"/>
                  <a:gd name="T7" fmla="*/ 0 h 410"/>
                  <a:gd name="T8" fmla="*/ 1 w 1"/>
                  <a:gd name="T9" fmla="*/ 410 h 4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10">
                    <a:moveTo>
                      <a:pt x="0" y="0"/>
                    </a:moveTo>
                    <a:lnTo>
                      <a:pt x="0" y="41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6" name="Freeform 27"/>
              <p:cNvSpPr>
                <a:spLocks/>
              </p:cNvSpPr>
              <p:nvPr/>
            </p:nvSpPr>
            <p:spPr bwMode="auto">
              <a:xfrm>
                <a:off x="3462" y="1187"/>
                <a:ext cx="460" cy="264"/>
              </a:xfrm>
              <a:custGeom>
                <a:avLst/>
                <a:gdLst>
                  <a:gd name="T0" fmla="*/ 0 w 396"/>
                  <a:gd name="T1" fmla="*/ 820 h 246"/>
                  <a:gd name="T2" fmla="*/ 5046 w 396"/>
                  <a:gd name="T3" fmla="*/ 0 h 246"/>
                  <a:gd name="T4" fmla="*/ 0 60000 65536"/>
                  <a:gd name="T5" fmla="*/ 0 60000 65536"/>
                  <a:gd name="T6" fmla="*/ 0 w 396"/>
                  <a:gd name="T7" fmla="*/ 0 h 246"/>
                  <a:gd name="T8" fmla="*/ 396 w 396"/>
                  <a:gd name="T9" fmla="*/ 246 h 24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46">
                    <a:moveTo>
                      <a:pt x="0" y="246"/>
                    </a:moveTo>
                    <a:lnTo>
                      <a:pt x="396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7" name="Freeform 28"/>
              <p:cNvSpPr>
                <a:spLocks/>
              </p:cNvSpPr>
              <p:nvPr/>
            </p:nvSpPr>
            <p:spPr bwMode="auto">
              <a:xfrm>
                <a:off x="2986" y="1193"/>
                <a:ext cx="476" cy="258"/>
              </a:xfrm>
              <a:custGeom>
                <a:avLst/>
                <a:gdLst>
                  <a:gd name="T0" fmla="*/ 5399 w 409"/>
                  <a:gd name="T1" fmla="*/ 765 h 241"/>
                  <a:gd name="T2" fmla="*/ 0 w 409"/>
                  <a:gd name="T3" fmla="*/ 0 h 241"/>
                  <a:gd name="T4" fmla="*/ 0 60000 65536"/>
                  <a:gd name="T5" fmla="*/ 0 60000 65536"/>
                  <a:gd name="T6" fmla="*/ 0 w 409"/>
                  <a:gd name="T7" fmla="*/ 0 h 241"/>
                  <a:gd name="T8" fmla="*/ 409 w 409"/>
                  <a:gd name="T9" fmla="*/ 241 h 24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8" name="Freeform 29"/>
              <p:cNvSpPr>
                <a:spLocks/>
              </p:cNvSpPr>
              <p:nvPr/>
            </p:nvSpPr>
            <p:spPr bwMode="auto">
              <a:xfrm>
                <a:off x="2985" y="920"/>
                <a:ext cx="477" cy="273"/>
              </a:xfrm>
              <a:custGeom>
                <a:avLst/>
                <a:gdLst>
                  <a:gd name="T0" fmla="*/ 0 w 410"/>
                  <a:gd name="T1" fmla="*/ 863 h 254"/>
                  <a:gd name="T2" fmla="*/ 5377 w 410"/>
                  <a:gd name="T3" fmla="*/ 0 h 254"/>
                  <a:gd name="T4" fmla="*/ 0 60000 65536"/>
                  <a:gd name="T5" fmla="*/ 0 60000 65536"/>
                  <a:gd name="T6" fmla="*/ 0 w 410"/>
                  <a:gd name="T7" fmla="*/ 0 h 254"/>
                  <a:gd name="T8" fmla="*/ 410 w 410"/>
                  <a:gd name="T9" fmla="*/ 254 h 2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9" name="Freeform 30"/>
              <p:cNvSpPr>
                <a:spLocks/>
              </p:cNvSpPr>
              <p:nvPr/>
            </p:nvSpPr>
            <p:spPr bwMode="auto">
              <a:xfrm>
                <a:off x="3463" y="915"/>
                <a:ext cx="459" cy="272"/>
              </a:xfrm>
              <a:custGeom>
                <a:avLst/>
                <a:gdLst>
                  <a:gd name="T0" fmla="*/ 5062 w 395"/>
                  <a:gd name="T1" fmla="*/ 813 h 254"/>
                  <a:gd name="T2" fmla="*/ 0 w 395"/>
                  <a:gd name="T3" fmla="*/ 0 h 254"/>
                  <a:gd name="T4" fmla="*/ 0 60000 65536"/>
                  <a:gd name="T5" fmla="*/ 0 60000 65536"/>
                  <a:gd name="T6" fmla="*/ 0 w 395"/>
                  <a:gd name="T7" fmla="*/ 0 h 254"/>
                  <a:gd name="T8" fmla="*/ 395 w 395"/>
                  <a:gd name="T9" fmla="*/ 254 h 2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5" h="254">
                    <a:moveTo>
                      <a:pt x="395" y="254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574" name="Group 31"/>
            <p:cNvGrpSpPr>
              <a:grpSpLocks/>
            </p:cNvGrpSpPr>
            <p:nvPr/>
          </p:nvGrpSpPr>
          <p:grpSpPr bwMode="auto">
            <a:xfrm>
              <a:off x="1566" y="1582"/>
              <a:ext cx="938" cy="635"/>
              <a:chOff x="1549" y="1395"/>
              <a:chExt cx="923" cy="635"/>
            </a:xfrm>
          </p:grpSpPr>
          <p:sp>
            <p:nvSpPr>
              <p:cNvPr id="23598" name="Freeform 32"/>
              <p:cNvSpPr>
                <a:spLocks/>
              </p:cNvSpPr>
              <p:nvPr/>
            </p:nvSpPr>
            <p:spPr bwMode="auto">
              <a:xfrm>
                <a:off x="2002" y="1395"/>
                <a:ext cx="1" cy="419"/>
              </a:xfrm>
              <a:custGeom>
                <a:avLst/>
                <a:gdLst>
                  <a:gd name="T0" fmla="*/ 0 w 1"/>
                  <a:gd name="T1" fmla="*/ 1 h 664"/>
                  <a:gd name="T2" fmla="*/ 1 w 1"/>
                  <a:gd name="T3" fmla="*/ 0 h 664"/>
                  <a:gd name="T4" fmla="*/ 0 60000 65536"/>
                  <a:gd name="T5" fmla="*/ 0 60000 65536"/>
                  <a:gd name="T6" fmla="*/ 0 w 1"/>
                  <a:gd name="T7" fmla="*/ 0 h 664"/>
                  <a:gd name="T8" fmla="*/ 1 w 1"/>
                  <a:gd name="T9" fmla="*/ 664 h 6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664">
                    <a:moveTo>
                      <a:pt x="0" y="664"/>
                    </a:moveTo>
                    <a:lnTo>
                      <a:pt x="1" y="0"/>
                    </a:lnTo>
                  </a:path>
                </a:pathLst>
              </a:cu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9" name="Line 33"/>
              <p:cNvSpPr>
                <a:spLocks noChangeShapeType="1"/>
              </p:cNvSpPr>
              <p:nvPr/>
            </p:nvSpPr>
            <p:spPr bwMode="auto">
              <a:xfrm flipH="1">
                <a:off x="1549" y="1814"/>
                <a:ext cx="453" cy="208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0" name="Line 34"/>
              <p:cNvSpPr>
                <a:spLocks noChangeShapeType="1"/>
              </p:cNvSpPr>
              <p:nvPr/>
            </p:nvSpPr>
            <p:spPr bwMode="auto">
              <a:xfrm>
                <a:off x="2002" y="1814"/>
                <a:ext cx="470" cy="21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575" name="Text Box 35"/>
            <p:cNvSpPr txBox="1">
              <a:spLocks noChangeArrowheads="1"/>
            </p:cNvSpPr>
            <p:nvPr/>
          </p:nvSpPr>
          <p:spPr bwMode="auto">
            <a:xfrm>
              <a:off x="1970" y="1988"/>
              <a:ext cx="25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>
                  <a:latin typeface="ISOCP" pitchFamily="2" charset="0"/>
                </a:rPr>
                <a:t>O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3576" name="Text Box 36"/>
            <p:cNvSpPr txBox="1">
              <a:spLocks noChangeArrowheads="1"/>
            </p:cNvSpPr>
            <p:nvPr/>
          </p:nvSpPr>
          <p:spPr bwMode="auto">
            <a:xfrm>
              <a:off x="1378" y="2064"/>
              <a:ext cx="26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/>
                <a:t>X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3577" name="Text Box 37"/>
            <p:cNvSpPr txBox="1">
              <a:spLocks noChangeArrowheads="1"/>
            </p:cNvSpPr>
            <p:nvPr/>
          </p:nvSpPr>
          <p:spPr bwMode="auto">
            <a:xfrm>
              <a:off x="2397" y="2034"/>
              <a:ext cx="26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/>
                <a:t>Y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3578" name="Text Box 38"/>
            <p:cNvSpPr txBox="1">
              <a:spLocks noChangeArrowheads="1"/>
            </p:cNvSpPr>
            <p:nvPr/>
          </p:nvSpPr>
          <p:spPr bwMode="auto">
            <a:xfrm>
              <a:off x="2027" y="1559"/>
              <a:ext cx="25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/>
                <a:t>Z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3579" name="Freeform 87"/>
            <p:cNvSpPr>
              <a:spLocks/>
            </p:cNvSpPr>
            <p:nvPr/>
          </p:nvSpPr>
          <p:spPr bwMode="auto">
            <a:xfrm>
              <a:off x="792" y="2496"/>
              <a:ext cx="654" cy="582"/>
            </a:xfrm>
            <a:custGeom>
              <a:avLst/>
              <a:gdLst>
                <a:gd name="T0" fmla="*/ 0 w 654"/>
                <a:gd name="T1" fmla="*/ 156 h 582"/>
                <a:gd name="T2" fmla="*/ 342 w 654"/>
                <a:gd name="T3" fmla="*/ 0 h 582"/>
                <a:gd name="T4" fmla="*/ 654 w 654"/>
                <a:gd name="T5" fmla="*/ 156 h 582"/>
                <a:gd name="T6" fmla="*/ 654 w 654"/>
                <a:gd name="T7" fmla="*/ 420 h 582"/>
                <a:gd name="T8" fmla="*/ 330 w 654"/>
                <a:gd name="T9" fmla="*/ 582 h 582"/>
                <a:gd name="T10" fmla="*/ 6 w 654"/>
                <a:gd name="T11" fmla="*/ 426 h 582"/>
                <a:gd name="T12" fmla="*/ 0 w 654"/>
                <a:gd name="T13" fmla="*/ 156 h 5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4"/>
                <a:gd name="T22" fmla="*/ 0 h 582"/>
                <a:gd name="T23" fmla="*/ 654 w 654"/>
                <a:gd name="T24" fmla="*/ 582 h 5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4" h="582">
                  <a:moveTo>
                    <a:pt x="0" y="156"/>
                  </a:moveTo>
                  <a:lnTo>
                    <a:pt x="342" y="0"/>
                  </a:lnTo>
                  <a:lnTo>
                    <a:pt x="654" y="156"/>
                  </a:lnTo>
                  <a:lnTo>
                    <a:pt x="654" y="420"/>
                  </a:lnTo>
                  <a:lnTo>
                    <a:pt x="330" y="582"/>
                  </a:lnTo>
                  <a:lnTo>
                    <a:pt x="6" y="426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CCCCFF"/>
            </a:solidFill>
            <a:ln w="127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80" name="Group 88"/>
            <p:cNvGrpSpPr>
              <a:grpSpLocks/>
            </p:cNvGrpSpPr>
            <p:nvPr/>
          </p:nvGrpSpPr>
          <p:grpSpPr bwMode="auto">
            <a:xfrm>
              <a:off x="516" y="2230"/>
              <a:ext cx="1182" cy="813"/>
              <a:chOff x="516" y="2043"/>
              <a:chExt cx="1163" cy="813"/>
            </a:xfrm>
          </p:grpSpPr>
          <p:grpSp>
            <p:nvGrpSpPr>
              <p:cNvPr id="23590" name="Group 89"/>
              <p:cNvGrpSpPr>
                <a:grpSpLocks/>
              </p:cNvGrpSpPr>
              <p:nvPr/>
            </p:nvGrpSpPr>
            <p:grpSpPr bwMode="auto">
              <a:xfrm>
                <a:off x="684" y="2171"/>
                <a:ext cx="865" cy="615"/>
                <a:chOff x="684" y="2171"/>
                <a:chExt cx="865" cy="615"/>
              </a:xfrm>
            </p:grpSpPr>
            <p:sp>
              <p:nvSpPr>
                <p:cNvPr id="23595" name="Freeform 90"/>
                <p:cNvSpPr>
                  <a:spLocks/>
                </p:cNvSpPr>
                <p:nvPr/>
              </p:nvSpPr>
              <p:spPr bwMode="auto">
                <a:xfrm>
                  <a:off x="1117" y="2171"/>
                  <a:ext cx="1" cy="419"/>
                </a:xfrm>
                <a:custGeom>
                  <a:avLst/>
                  <a:gdLst>
                    <a:gd name="T0" fmla="*/ 0 w 1"/>
                    <a:gd name="T1" fmla="*/ 1 h 664"/>
                    <a:gd name="T2" fmla="*/ 1 w 1"/>
                    <a:gd name="T3" fmla="*/ 0 h 664"/>
                    <a:gd name="T4" fmla="*/ 0 60000 65536"/>
                    <a:gd name="T5" fmla="*/ 0 60000 65536"/>
                    <a:gd name="T6" fmla="*/ 0 w 1"/>
                    <a:gd name="T7" fmla="*/ 0 h 664"/>
                    <a:gd name="T8" fmla="*/ 1 w 1"/>
                    <a:gd name="T9" fmla="*/ 664 h 66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664">
                      <a:moveTo>
                        <a:pt x="0" y="664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96" name="Freeform 91"/>
                <p:cNvSpPr>
                  <a:spLocks/>
                </p:cNvSpPr>
                <p:nvPr/>
              </p:nvSpPr>
              <p:spPr bwMode="auto">
                <a:xfrm>
                  <a:off x="684" y="2590"/>
                  <a:ext cx="434" cy="196"/>
                </a:xfrm>
                <a:custGeom>
                  <a:avLst/>
                  <a:gdLst>
                    <a:gd name="T0" fmla="*/ 434 w 434"/>
                    <a:gd name="T1" fmla="*/ 0 h 196"/>
                    <a:gd name="T2" fmla="*/ 0 w 434"/>
                    <a:gd name="T3" fmla="*/ 196 h 196"/>
                    <a:gd name="T4" fmla="*/ 0 60000 65536"/>
                    <a:gd name="T5" fmla="*/ 0 60000 65536"/>
                    <a:gd name="T6" fmla="*/ 0 w 434"/>
                    <a:gd name="T7" fmla="*/ 0 h 196"/>
                    <a:gd name="T8" fmla="*/ 434 w 434"/>
                    <a:gd name="T9" fmla="*/ 196 h 19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34" h="196">
                      <a:moveTo>
                        <a:pt x="434" y="0"/>
                      </a:moveTo>
                      <a:lnTo>
                        <a:pt x="0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597" name="Freeform 92"/>
                <p:cNvSpPr>
                  <a:spLocks/>
                </p:cNvSpPr>
                <p:nvPr/>
              </p:nvSpPr>
              <p:spPr bwMode="auto">
                <a:xfrm>
                  <a:off x="1117" y="2590"/>
                  <a:ext cx="432" cy="196"/>
                </a:xfrm>
                <a:custGeom>
                  <a:avLst/>
                  <a:gdLst>
                    <a:gd name="T0" fmla="*/ 0 w 432"/>
                    <a:gd name="T1" fmla="*/ 0 h 196"/>
                    <a:gd name="T2" fmla="*/ 432 w 432"/>
                    <a:gd name="T3" fmla="*/ 196 h 196"/>
                    <a:gd name="T4" fmla="*/ 0 60000 65536"/>
                    <a:gd name="T5" fmla="*/ 0 60000 65536"/>
                    <a:gd name="T6" fmla="*/ 0 w 432"/>
                    <a:gd name="T7" fmla="*/ 0 h 196"/>
                    <a:gd name="T8" fmla="*/ 432 w 432"/>
                    <a:gd name="T9" fmla="*/ 196 h 19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32" h="196">
                      <a:moveTo>
                        <a:pt x="0" y="0"/>
                      </a:moveTo>
                      <a:lnTo>
                        <a:pt x="432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3591" name="Text Box 93"/>
              <p:cNvSpPr txBox="1">
                <a:spLocks noChangeArrowheads="1"/>
              </p:cNvSpPr>
              <p:nvPr/>
            </p:nvSpPr>
            <p:spPr bwMode="auto">
              <a:xfrm>
                <a:off x="1062" y="2445"/>
                <a:ext cx="18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>
                    <a:latin typeface="ISOCP" pitchFamily="2" charset="0"/>
                  </a:rPr>
                  <a:t>O</a:t>
                </a:r>
                <a:endParaRPr lang="en-US" altLang="zh-CN" sz="2000"/>
              </a:p>
            </p:txBody>
          </p:sp>
          <p:sp>
            <p:nvSpPr>
              <p:cNvPr id="23592" name="Text Box 94"/>
              <p:cNvSpPr txBox="1">
                <a:spLocks noChangeArrowheads="1"/>
              </p:cNvSpPr>
              <p:nvPr/>
            </p:nvSpPr>
            <p:spPr bwMode="auto">
              <a:xfrm>
                <a:off x="516" y="2641"/>
                <a:ext cx="20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/>
                  <a:t>X</a:t>
                </a:r>
                <a:endParaRPr lang="en-US" altLang="zh-CN" sz="2000"/>
              </a:p>
            </p:txBody>
          </p:sp>
          <p:sp>
            <p:nvSpPr>
              <p:cNvPr id="23593" name="Text Box 95"/>
              <p:cNvSpPr txBox="1">
                <a:spLocks noChangeArrowheads="1"/>
              </p:cNvSpPr>
              <p:nvPr/>
            </p:nvSpPr>
            <p:spPr bwMode="auto">
              <a:xfrm>
                <a:off x="1474" y="2644"/>
                <a:ext cx="205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/>
                  <a:t>Y</a:t>
                </a:r>
                <a:endParaRPr lang="en-US" altLang="zh-CN" sz="2000"/>
              </a:p>
            </p:txBody>
          </p:sp>
          <p:sp>
            <p:nvSpPr>
              <p:cNvPr id="23594" name="Text Box 96"/>
              <p:cNvSpPr txBox="1">
                <a:spLocks noChangeArrowheads="1"/>
              </p:cNvSpPr>
              <p:nvPr/>
            </p:nvSpPr>
            <p:spPr bwMode="auto">
              <a:xfrm>
                <a:off x="950" y="2043"/>
                <a:ext cx="19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/>
                  <a:t>Z</a:t>
                </a:r>
                <a:endParaRPr lang="en-US" altLang="zh-CN" sz="2000"/>
              </a:p>
            </p:txBody>
          </p:sp>
        </p:grpSp>
        <p:sp>
          <p:nvSpPr>
            <p:cNvPr id="23581" name="Freeform 97"/>
            <p:cNvSpPr>
              <a:spLocks/>
            </p:cNvSpPr>
            <p:nvPr/>
          </p:nvSpPr>
          <p:spPr bwMode="auto">
            <a:xfrm>
              <a:off x="1129" y="2914"/>
              <a:ext cx="311" cy="164"/>
            </a:xfrm>
            <a:custGeom>
              <a:avLst/>
              <a:gdLst>
                <a:gd name="T0" fmla="*/ 0 w 306"/>
                <a:gd name="T1" fmla="*/ 164 h 164"/>
                <a:gd name="T2" fmla="*/ 401 w 306"/>
                <a:gd name="T3" fmla="*/ 0 h 164"/>
                <a:gd name="T4" fmla="*/ 0 60000 65536"/>
                <a:gd name="T5" fmla="*/ 0 60000 65536"/>
                <a:gd name="T6" fmla="*/ 0 w 306"/>
                <a:gd name="T7" fmla="*/ 0 h 164"/>
                <a:gd name="T8" fmla="*/ 306 w 306"/>
                <a:gd name="T9" fmla="*/ 164 h 1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06" h="164">
                  <a:moveTo>
                    <a:pt x="0" y="164"/>
                  </a:moveTo>
                  <a:lnTo>
                    <a:pt x="30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Freeform 98"/>
            <p:cNvSpPr>
              <a:spLocks/>
            </p:cNvSpPr>
            <p:nvPr/>
          </p:nvSpPr>
          <p:spPr bwMode="auto">
            <a:xfrm>
              <a:off x="799" y="2650"/>
              <a:ext cx="0" cy="276"/>
            </a:xfrm>
            <a:custGeom>
              <a:avLst/>
              <a:gdLst>
                <a:gd name="T0" fmla="*/ 0 w 1"/>
                <a:gd name="T1" fmla="*/ 0 h 438"/>
                <a:gd name="T2" fmla="*/ 0 w 1"/>
                <a:gd name="T3" fmla="*/ 1 h 438"/>
                <a:gd name="T4" fmla="*/ 0 60000 65536"/>
                <a:gd name="T5" fmla="*/ 0 60000 65536"/>
                <a:gd name="T6" fmla="*/ 0 w 1"/>
                <a:gd name="T7" fmla="*/ 0 h 438"/>
                <a:gd name="T8" fmla="*/ 0 w 1"/>
                <a:gd name="T9" fmla="*/ 438 h 4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38">
                  <a:moveTo>
                    <a:pt x="0" y="0"/>
                  </a:moveTo>
                  <a:lnTo>
                    <a:pt x="0" y="43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3" name="Freeform 99"/>
            <p:cNvSpPr>
              <a:spLocks/>
            </p:cNvSpPr>
            <p:nvPr/>
          </p:nvSpPr>
          <p:spPr bwMode="auto">
            <a:xfrm>
              <a:off x="1447" y="2658"/>
              <a:ext cx="2" cy="259"/>
            </a:xfrm>
            <a:custGeom>
              <a:avLst/>
              <a:gdLst>
                <a:gd name="T0" fmla="*/ 0 w 1"/>
                <a:gd name="T1" fmla="*/ 0 h 410"/>
                <a:gd name="T2" fmla="*/ 0 w 1"/>
                <a:gd name="T3" fmla="*/ 1 h 410"/>
                <a:gd name="T4" fmla="*/ 0 60000 65536"/>
                <a:gd name="T5" fmla="*/ 0 60000 65536"/>
                <a:gd name="T6" fmla="*/ 0 w 1"/>
                <a:gd name="T7" fmla="*/ 0 h 410"/>
                <a:gd name="T8" fmla="*/ 1 w 1"/>
                <a:gd name="T9" fmla="*/ 410 h 4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10">
                  <a:moveTo>
                    <a:pt x="0" y="0"/>
                  </a:moveTo>
                  <a:lnTo>
                    <a:pt x="0" y="41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4" name="Freeform 100"/>
            <p:cNvSpPr>
              <a:spLocks/>
            </p:cNvSpPr>
            <p:nvPr/>
          </p:nvSpPr>
          <p:spPr bwMode="auto">
            <a:xfrm>
              <a:off x="1129" y="2650"/>
              <a:ext cx="318" cy="156"/>
            </a:xfrm>
            <a:custGeom>
              <a:avLst/>
              <a:gdLst>
                <a:gd name="T0" fmla="*/ 0 w 396"/>
                <a:gd name="T1" fmla="*/ 1 h 246"/>
                <a:gd name="T2" fmla="*/ 9 w 396"/>
                <a:gd name="T3" fmla="*/ 0 h 246"/>
                <a:gd name="T4" fmla="*/ 0 60000 65536"/>
                <a:gd name="T5" fmla="*/ 0 60000 65536"/>
                <a:gd name="T6" fmla="*/ 0 w 396"/>
                <a:gd name="T7" fmla="*/ 0 h 246"/>
                <a:gd name="T8" fmla="*/ 396 w 396"/>
                <a:gd name="T9" fmla="*/ 246 h 24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246">
                  <a:moveTo>
                    <a:pt x="0" y="246"/>
                  </a:moveTo>
                  <a:lnTo>
                    <a:pt x="396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Freeform 101"/>
            <p:cNvSpPr>
              <a:spLocks/>
            </p:cNvSpPr>
            <p:nvPr/>
          </p:nvSpPr>
          <p:spPr bwMode="auto">
            <a:xfrm>
              <a:off x="799" y="2654"/>
              <a:ext cx="330" cy="152"/>
            </a:xfrm>
            <a:custGeom>
              <a:avLst/>
              <a:gdLst>
                <a:gd name="T0" fmla="*/ 10 w 409"/>
                <a:gd name="T1" fmla="*/ 1 h 241"/>
                <a:gd name="T2" fmla="*/ 0 w 409"/>
                <a:gd name="T3" fmla="*/ 0 h 241"/>
                <a:gd name="T4" fmla="*/ 0 60000 65536"/>
                <a:gd name="T5" fmla="*/ 0 60000 65536"/>
                <a:gd name="T6" fmla="*/ 0 w 409"/>
                <a:gd name="T7" fmla="*/ 0 h 241"/>
                <a:gd name="T8" fmla="*/ 409 w 409"/>
                <a:gd name="T9" fmla="*/ 241 h 2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9" h="241">
                  <a:moveTo>
                    <a:pt x="409" y="241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6" name="Freeform 102"/>
            <p:cNvSpPr>
              <a:spLocks/>
            </p:cNvSpPr>
            <p:nvPr/>
          </p:nvSpPr>
          <p:spPr bwMode="auto">
            <a:xfrm>
              <a:off x="798" y="2493"/>
              <a:ext cx="331" cy="161"/>
            </a:xfrm>
            <a:custGeom>
              <a:avLst/>
              <a:gdLst>
                <a:gd name="T0" fmla="*/ 0 w 410"/>
                <a:gd name="T1" fmla="*/ 1 h 254"/>
                <a:gd name="T2" fmla="*/ 10 w 410"/>
                <a:gd name="T3" fmla="*/ 0 h 254"/>
                <a:gd name="T4" fmla="*/ 0 60000 65536"/>
                <a:gd name="T5" fmla="*/ 0 60000 65536"/>
                <a:gd name="T6" fmla="*/ 0 w 410"/>
                <a:gd name="T7" fmla="*/ 0 h 254"/>
                <a:gd name="T8" fmla="*/ 410 w 410"/>
                <a:gd name="T9" fmla="*/ 254 h 2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10" h="254">
                  <a:moveTo>
                    <a:pt x="0" y="254"/>
                  </a:moveTo>
                  <a:lnTo>
                    <a:pt x="41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7" name="Freeform 103"/>
            <p:cNvSpPr>
              <a:spLocks/>
            </p:cNvSpPr>
            <p:nvPr/>
          </p:nvSpPr>
          <p:spPr bwMode="auto">
            <a:xfrm>
              <a:off x="1129" y="2490"/>
              <a:ext cx="318" cy="160"/>
            </a:xfrm>
            <a:custGeom>
              <a:avLst/>
              <a:gdLst>
                <a:gd name="T0" fmla="*/ 10 w 395"/>
                <a:gd name="T1" fmla="*/ 1 h 254"/>
                <a:gd name="T2" fmla="*/ 0 w 395"/>
                <a:gd name="T3" fmla="*/ 0 h 254"/>
                <a:gd name="T4" fmla="*/ 0 60000 65536"/>
                <a:gd name="T5" fmla="*/ 0 60000 65536"/>
                <a:gd name="T6" fmla="*/ 0 w 395"/>
                <a:gd name="T7" fmla="*/ 0 h 254"/>
                <a:gd name="T8" fmla="*/ 395 w 395"/>
                <a:gd name="T9" fmla="*/ 254 h 2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5" h="254">
                  <a:moveTo>
                    <a:pt x="395" y="254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8" name="Freeform 104"/>
            <p:cNvSpPr>
              <a:spLocks/>
            </p:cNvSpPr>
            <p:nvPr/>
          </p:nvSpPr>
          <p:spPr bwMode="auto">
            <a:xfrm>
              <a:off x="799" y="2926"/>
              <a:ext cx="330" cy="153"/>
            </a:xfrm>
            <a:custGeom>
              <a:avLst/>
              <a:gdLst>
                <a:gd name="T0" fmla="*/ 10 w 409"/>
                <a:gd name="T1" fmla="*/ 1 h 241"/>
                <a:gd name="T2" fmla="*/ 0 w 409"/>
                <a:gd name="T3" fmla="*/ 0 h 241"/>
                <a:gd name="T4" fmla="*/ 0 60000 65536"/>
                <a:gd name="T5" fmla="*/ 0 60000 65536"/>
                <a:gd name="T6" fmla="*/ 0 w 409"/>
                <a:gd name="T7" fmla="*/ 0 h 241"/>
                <a:gd name="T8" fmla="*/ 409 w 409"/>
                <a:gd name="T9" fmla="*/ 241 h 24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9" h="241">
                  <a:moveTo>
                    <a:pt x="409" y="241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9" name="Freeform 105"/>
            <p:cNvSpPr>
              <a:spLocks/>
            </p:cNvSpPr>
            <p:nvPr/>
          </p:nvSpPr>
          <p:spPr bwMode="auto">
            <a:xfrm>
              <a:off x="1129" y="2802"/>
              <a:ext cx="0" cy="276"/>
            </a:xfrm>
            <a:custGeom>
              <a:avLst/>
              <a:gdLst>
                <a:gd name="T0" fmla="*/ 0 w 1"/>
                <a:gd name="T1" fmla="*/ 0 h 438"/>
                <a:gd name="T2" fmla="*/ 0 w 1"/>
                <a:gd name="T3" fmla="*/ 1 h 438"/>
                <a:gd name="T4" fmla="*/ 0 60000 65536"/>
                <a:gd name="T5" fmla="*/ 0 60000 65536"/>
                <a:gd name="T6" fmla="*/ 0 w 1"/>
                <a:gd name="T7" fmla="*/ 0 h 438"/>
                <a:gd name="T8" fmla="*/ 0 w 1"/>
                <a:gd name="T9" fmla="*/ 438 h 43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38">
                  <a:moveTo>
                    <a:pt x="0" y="0"/>
                  </a:moveTo>
                  <a:lnTo>
                    <a:pt x="0" y="438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6" name="Text Box 8"/>
          <p:cNvSpPr txBox="1">
            <a:spLocks noChangeArrowheads="1"/>
          </p:cNvSpPr>
          <p:nvPr/>
        </p:nvSpPr>
        <p:spPr bwMode="auto">
          <a:xfrm>
            <a:off x="1685886" y="3141991"/>
            <a:ext cx="47466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66"/>
                </a:solidFill>
                <a:latin typeface="宋体" pitchFamily="2" charset="-122"/>
              </a:rPr>
              <a:t>轴间角：</a:t>
            </a: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轴测轴间的夹角</a:t>
            </a:r>
            <a:endParaRPr lang="zh-CN" altLang="en-US" sz="2800" dirty="0"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2" grpId="0" autoUpdateAnimBg="0"/>
      <p:bldP spid="160773" grpId="0" animBg="1" autoUpdateAnimBg="0"/>
      <p:bldP spid="160774" grpId="0" animBg="1" autoUpdateAnimBg="0"/>
      <p:bldP spid="160775" grpId="0" autoUpdateAnimBg="0"/>
      <p:bldP spid="160776" grpId="0" autoUpdateAnimBg="0"/>
      <p:bldP spid="160777" grpId="0" animBg="1" autoUpdateAnimBg="0"/>
      <p:bldP spid="10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1667670" y="585531"/>
            <a:ext cx="26463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latin typeface="+mj-ea"/>
                <a:ea typeface="+mj-ea"/>
              </a:rPr>
              <a:t>轴向伸缩系数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264400" y="1931989"/>
            <a:ext cx="1727200" cy="1038225"/>
            <a:chOff x="1643" y="2430"/>
            <a:chExt cx="1088" cy="654"/>
          </a:xfrm>
        </p:grpSpPr>
        <p:sp>
          <p:nvSpPr>
            <p:cNvPr id="24648" name="Text Box 4"/>
            <p:cNvSpPr txBox="1">
              <a:spLocks noChangeArrowheads="1"/>
            </p:cNvSpPr>
            <p:nvPr/>
          </p:nvSpPr>
          <p:spPr bwMode="auto">
            <a:xfrm>
              <a:off x="1643" y="2430"/>
              <a:ext cx="542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>
                  <a:latin typeface="宋体" pitchFamily="2" charset="-122"/>
                </a:rPr>
                <a:t>O</a:t>
              </a:r>
              <a:r>
                <a:rPr lang="en-US" altLang="zh-CN" sz="2800" baseline="-25000">
                  <a:solidFill>
                    <a:schemeClr val="tx2"/>
                  </a:solidFill>
                </a:rPr>
                <a:t>1</a:t>
              </a:r>
              <a:r>
                <a:rPr lang="en-US" altLang="zh-CN" sz="3200">
                  <a:latin typeface="宋体" pitchFamily="2" charset="-122"/>
                </a:rPr>
                <a:t>A</a:t>
              </a:r>
              <a:r>
                <a:rPr lang="en-US" altLang="zh-CN" sz="2800" baseline="-25000"/>
                <a:t>1</a:t>
              </a:r>
              <a:endParaRPr lang="en-US" altLang="zh-CN" sz="2800" baseline="-25000">
                <a:solidFill>
                  <a:schemeClr val="tx2"/>
                </a:solidFill>
              </a:endParaRPr>
            </a:p>
          </p:txBody>
        </p:sp>
        <p:sp>
          <p:nvSpPr>
            <p:cNvPr id="24649" name="Text Box 5"/>
            <p:cNvSpPr txBox="1">
              <a:spLocks noChangeArrowheads="1"/>
            </p:cNvSpPr>
            <p:nvPr/>
          </p:nvSpPr>
          <p:spPr bwMode="auto">
            <a:xfrm>
              <a:off x="1688" y="2719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>
                  <a:latin typeface="宋体" pitchFamily="2" charset="-122"/>
                </a:rPr>
                <a:t>OA</a:t>
              </a:r>
              <a:endParaRPr lang="en-US" altLang="zh-CN" sz="3200"/>
            </a:p>
          </p:txBody>
        </p:sp>
        <p:sp>
          <p:nvSpPr>
            <p:cNvPr id="24650" name="Line 6"/>
            <p:cNvSpPr>
              <a:spLocks noChangeShapeType="1"/>
            </p:cNvSpPr>
            <p:nvPr/>
          </p:nvSpPr>
          <p:spPr bwMode="auto">
            <a:xfrm>
              <a:off x="1729" y="2794"/>
              <a:ext cx="4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51" name="Text Box 7"/>
            <p:cNvSpPr txBox="1">
              <a:spLocks noChangeArrowheads="1"/>
            </p:cNvSpPr>
            <p:nvPr/>
          </p:nvSpPr>
          <p:spPr bwMode="auto">
            <a:xfrm>
              <a:off x="2191" y="2614"/>
              <a:ext cx="54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/>
                <a:t> = </a:t>
              </a:r>
              <a:r>
                <a:rPr lang="en-US" altLang="zh-CN" sz="3200">
                  <a:latin typeface="宋体" pitchFamily="2" charset="-122"/>
                </a:rPr>
                <a:t>p</a:t>
              </a:r>
              <a:endParaRPr lang="en-US" altLang="zh-CN" sz="3200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7008814" y="3100390"/>
            <a:ext cx="1939925" cy="1087438"/>
            <a:chOff x="1537" y="2983"/>
            <a:chExt cx="1222" cy="685"/>
          </a:xfrm>
        </p:grpSpPr>
        <p:sp>
          <p:nvSpPr>
            <p:cNvPr id="24643" name="Text Box 10"/>
            <p:cNvSpPr txBox="1">
              <a:spLocks noChangeArrowheads="1"/>
            </p:cNvSpPr>
            <p:nvPr/>
          </p:nvSpPr>
          <p:spPr bwMode="auto">
            <a:xfrm>
              <a:off x="1537" y="3123"/>
              <a:ext cx="11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zh-CN" sz="3200"/>
            </a:p>
          </p:txBody>
        </p:sp>
        <p:sp>
          <p:nvSpPr>
            <p:cNvPr id="24644" name="Text Box 11"/>
            <p:cNvSpPr txBox="1">
              <a:spLocks noChangeArrowheads="1"/>
            </p:cNvSpPr>
            <p:nvPr/>
          </p:nvSpPr>
          <p:spPr bwMode="auto">
            <a:xfrm>
              <a:off x="1678" y="2983"/>
              <a:ext cx="542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>
                  <a:latin typeface="宋体" pitchFamily="2" charset="-122"/>
                </a:rPr>
                <a:t>O</a:t>
              </a:r>
              <a:r>
                <a:rPr lang="en-US" altLang="zh-CN" sz="2800" baseline="-25000">
                  <a:solidFill>
                    <a:schemeClr val="tx2"/>
                  </a:solidFill>
                </a:rPr>
                <a:t>1</a:t>
              </a:r>
              <a:r>
                <a:rPr lang="en-US" altLang="zh-CN" sz="3200">
                  <a:latin typeface="宋体" pitchFamily="2" charset="-122"/>
                </a:rPr>
                <a:t>B</a:t>
              </a:r>
              <a:r>
                <a:rPr lang="en-US" altLang="zh-CN" sz="2800" baseline="-2500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24645" name="Text Box 12"/>
            <p:cNvSpPr txBox="1">
              <a:spLocks noChangeArrowheads="1"/>
            </p:cNvSpPr>
            <p:nvPr/>
          </p:nvSpPr>
          <p:spPr bwMode="auto">
            <a:xfrm>
              <a:off x="1678" y="3300"/>
              <a:ext cx="447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/>
                <a:t> </a:t>
              </a:r>
              <a:r>
                <a:rPr lang="en-US" altLang="zh-CN" sz="3200">
                  <a:latin typeface="宋体" pitchFamily="2" charset="-122"/>
                </a:rPr>
                <a:t>OB</a:t>
              </a:r>
              <a:endParaRPr lang="en-US" altLang="zh-CN" sz="3200"/>
            </a:p>
          </p:txBody>
        </p:sp>
        <p:sp>
          <p:nvSpPr>
            <p:cNvPr id="24646" name="Line 13"/>
            <p:cNvSpPr>
              <a:spLocks noChangeShapeType="1"/>
            </p:cNvSpPr>
            <p:nvPr/>
          </p:nvSpPr>
          <p:spPr bwMode="auto">
            <a:xfrm>
              <a:off x="1751" y="3360"/>
              <a:ext cx="5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7" name="Text Box 14"/>
            <p:cNvSpPr txBox="1">
              <a:spLocks noChangeArrowheads="1"/>
            </p:cNvSpPr>
            <p:nvPr/>
          </p:nvSpPr>
          <p:spPr bwMode="auto">
            <a:xfrm>
              <a:off x="2219" y="3183"/>
              <a:ext cx="54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/>
                <a:t> = </a:t>
              </a:r>
              <a:r>
                <a:rPr lang="en-US" altLang="zh-CN" sz="3200">
                  <a:latin typeface="宋体" pitchFamily="2" charset="-122"/>
                </a:rPr>
                <a:t>q</a:t>
              </a:r>
              <a:endParaRPr lang="en-US" altLang="zh-CN" sz="3200"/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045325" y="4159251"/>
            <a:ext cx="1906588" cy="1065213"/>
            <a:chOff x="1563" y="3542"/>
            <a:chExt cx="1201" cy="671"/>
          </a:xfrm>
        </p:grpSpPr>
        <p:sp>
          <p:nvSpPr>
            <p:cNvPr id="24638" name="Text Box 17"/>
            <p:cNvSpPr txBox="1">
              <a:spLocks noChangeArrowheads="1"/>
            </p:cNvSpPr>
            <p:nvPr/>
          </p:nvSpPr>
          <p:spPr bwMode="auto">
            <a:xfrm>
              <a:off x="1563" y="3684"/>
              <a:ext cx="11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endParaRPr lang="zh-CN" altLang="zh-CN" sz="3200"/>
            </a:p>
          </p:txBody>
        </p:sp>
        <p:sp>
          <p:nvSpPr>
            <p:cNvPr id="24639" name="Text Box 18"/>
            <p:cNvSpPr txBox="1">
              <a:spLocks noChangeArrowheads="1"/>
            </p:cNvSpPr>
            <p:nvPr/>
          </p:nvSpPr>
          <p:spPr bwMode="auto">
            <a:xfrm>
              <a:off x="1660" y="3542"/>
              <a:ext cx="542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>
                  <a:latin typeface="宋体" pitchFamily="2" charset="-122"/>
                </a:rPr>
                <a:t>O</a:t>
              </a:r>
              <a:r>
                <a:rPr lang="en-US" altLang="zh-CN" sz="2800" baseline="-25000">
                  <a:solidFill>
                    <a:schemeClr val="tx2"/>
                  </a:solidFill>
                </a:rPr>
                <a:t>1</a:t>
              </a:r>
              <a:r>
                <a:rPr lang="en-US" altLang="zh-CN" sz="3200">
                  <a:latin typeface="宋体" pitchFamily="2" charset="-122"/>
                </a:rPr>
                <a:t>C</a:t>
              </a:r>
              <a:r>
                <a:rPr lang="en-US" altLang="zh-CN" sz="2800" baseline="-25000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24640" name="Text Box 19"/>
            <p:cNvSpPr txBox="1">
              <a:spLocks noChangeArrowheads="1"/>
            </p:cNvSpPr>
            <p:nvPr/>
          </p:nvSpPr>
          <p:spPr bwMode="auto">
            <a:xfrm>
              <a:off x="1707" y="3848"/>
              <a:ext cx="37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>
                  <a:latin typeface="宋体" pitchFamily="2" charset="-122"/>
                </a:rPr>
                <a:t>OC</a:t>
              </a:r>
              <a:endParaRPr lang="en-US" altLang="zh-CN" sz="3200"/>
            </a:p>
          </p:txBody>
        </p:sp>
        <p:sp>
          <p:nvSpPr>
            <p:cNvPr id="24641" name="Line 20"/>
            <p:cNvSpPr>
              <a:spLocks noChangeShapeType="1"/>
            </p:cNvSpPr>
            <p:nvPr/>
          </p:nvSpPr>
          <p:spPr bwMode="auto">
            <a:xfrm>
              <a:off x="1724" y="3926"/>
              <a:ext cx="52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42" name="Text Box 21"/>
            <p:cNvSpPr txBox="1">
              <a:spLocks noChangeArrowheads="1"/>
            </p:cNvSpPr>
            <p:nvPr/>
          </p:nvSpPr>
          <p:spPr bwMode="auto">
            <a:xfrm>
              <a:off x="2224" y="3734"/>
              <a:ext cx="540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3200"/>
                <a:t> = </a:t>
              </a:r>
              <a:r>
                <a:rPr lang="en-US" altLang="zh-CN" sz="3200">
                  <a:latin typeface="宋体" pitchFamily="2" charset="-122"/>
                </a:rPr>
                <a:t>r</a:t>
              </a:r>
              <a:endParaRPr lang="en-US" altLang="zh-CN" sz="3200"/>
            </a:p>
          </p:txBody>
        </p:sp>
      </p:grpSp>
      <p:sp>
        <p:nvSpPr>
          <p:cNvPr id="161815" name="Text Box 23"/>
          <p:cNvSpPr txBox="1">
            <a:spLocks noChangeArrowheads="1"/>
          </p:cNvSpPr>
          <p:nvPr/>
        </p:nvSpPr>
        <p:spPr bwMode="auto">
          <a:xfrm>
            <a:off x="1860551" y="5195311"/>
            <a:ext cx="8951973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800" b="1" dirty="0">
                <a:latin typeface="宋体" pitchFamily="2" charset="-122"/>
              </a:rPr>
              <a:t>    </a:t>
            </a:r>
            <a:r>
              <a:rPr lang="zh-CN" altLang="en-US" sz="2800" b="1" dirty="0">
                <a:latin typeface="宋体" pitchFamily="2" charset="-122"/>
              </a:rPr>
              <a:t>物体上平行于坐标轴的线段在轴测图上的长度与实际长度之比叫做</a:t>
            </a:r>
            <a:r>
              <a:rPr lang="zh-CN" altLang="en-US" sz="2800" b="1" dirty="0">
                <a:solidFill>
                  <a:srgbClr val="FF0066"/>
                </a:solidFill>
                <a:latin typeface="宋体" pitchFamily="2" charset="-122"/>
              </a:rPr>
              <a:t>轴向伸缩系数</a:t>
            </a:r>
            <a:r>
              <a:rPr lang="zh-CN" altLang="en-US" sz="2800" b="1" dirty="0">
                <a:latin typeface="宋体" pitchFamily="2" charset="-122"/>
              </a:rPr>
              <a:t>。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2408239" y="1727200"/>
            <a:ext cx="3381375" cy="2541588"/>
            <a:chOff x="472" y="1053"/>
            <a:chExt cx="2130" cy="1601"/>
          </a:xfrm>
        </p:grpSpPr>
        <p:sp>
          <p:nvSpPr>
            <p:cNvPr id="24584" name="Text Box 37"/>
            <p:cNvSpPr txBox="1">
              <a:spLocks noChangeArrowheads="1"/>
            </p:cNvSpPr>
            <p:nvPr/>
          </p:nvSpPr>
          <p:spPr bwMode="auto">
            <a:xfrm>
              <a:off x="635" y="2442"/>
              <a:ext cx="204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FF3300"/>
                  </a:solidFill>
                  <a:latin typeface="Dutch801 Rm BT" pitchFamily="18" charset="0"/>
                </a:rPr>
                <a:t>A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  <p:sp>
          <p:nvSpPr>
            <p:cNvPr id="24585" name="Text Box 38"/>
            <p:cNvSpPr txBox="1">
              <a:spLocks noChangeArrowheads="1"/>
            </p:cNvSpPr>
            <p:nvPr/>
          </p:nvSpPr>
          <p:spPr bwMode="auto">
            <a:xfrm>
              <a:off x="1289" y="2431"/>
              <a:ext cx="20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FF3300"/>
                  </a:solidFill>
                  <a:latin typeface="Dutch801 Rm BT" pitchFamily="18" charset="0"/>
                </a:rPr>
                <a:t>B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  <p:sp>
          <p:nvSpPr>
            <p:cNvPr id="24586" name="Freeform 41"/>
            <p:cNvSpPr>
              <a:spLocks/>
            </p:cNvSpPr>
            <p:nvPr/>
          </p:nvSpPr>
          <p:spPr bwMode="auto">
            <a:xfrm>
              <a:off x="748" y="2043"/>
              <a:ext cx="654" cy="582"/>
            </a:xfrm>
            <a:custGeom>
              <a:avLst/>
              <a:gdLst>
                <a:gd name="T0" fmla="*/ 0 w 654"/>
                <a:gd name="T1" fmla="*/ 156 h 582"/>
                <a:gd name="T2" fmla="*/ 342 w 654"/>
                <a:gd name="T3" fmla="*/ 0 h 582"/>
                <a:gd name="T4" fmla="*/ 654 w 654"/>
                <a:gd name="T5" fmla="*/ 156 h 582"/>
                <a:gd name="T6" fmla="*/ 654 w 654"/>
                <a:gd name="T7" fmla="*/ 420 h 582"/>
                <a:gd name="T8" fmla="*/ 330 w 654"/>
                <a:gd name="T9" fmla="*/ 582 h 582"/>
                <a:gd name="T10" fmla="*/ 6 w 654"/>
                <a:gd name="T11" fmla="*/ 426 h 582"/>
                <a:gd name="T12" fmla="*/ 0 w 654"/>
                <a:gd name="T13" fmla="*/ 156 h 5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4"/>
                <a:gd name="T22" fmla="*/ 0 h 582"/>
                <a:gd name="T23" fmla="*/ 654 w 654"/>
                <a:gd name="T24" fmla="*/ 582 h 58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4" h="582">
                  <a:moveTo>
                    <a:pt x="0" y="156"/>
                  </a:moveTo>
                  <a:lnTo>
                    <a:pt x="342" y="0"/>
                  </a:lnTo>
                  <a:lnTo>
                    <a:pt x="654" y="156"/>
                  </a:lnTo>
                  <a:lnTo>
                    <a:pt x="654" y="420"/>
                  </a:lnTo>
                  <a:lnTo>
                    <a:pt x="330" y="582"/>
                  </a:lnTo>
                  <a:lnTo>
                    <a:pt x="6" y="426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CCCCFF"/>
            </a:solidFill>
            <a:ln w="127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7" name="Line 42"/>
            <p:cNvSpPr>
              <a:spLocks noChangeShapeType="1"/>
            </p:cNvSpPr>
            <p:nvPr/>
          </p:nvSpPr>
          <p:spPr bwMode="auto">
            <a:xfrm>
              <a:off x="1045" y="1845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8" name="Rectangle 43"/>
            <p:cNvSpPr>
              <a:spLocks noChangeArrowheads="1"/>
            </p:cNvSpPr>
            <p:nvPr/>
          </p:nvSpPr>
          <p:spPr bwMode="auto">
            <a:xfrm>
              <a:off x="667" y="1063"/>
              <a:ext cx="1935" cy="969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zh-CN"/>
            </a:p>
          </p:txBody>
        </p:sp>
        <p:sp>
          <p:nvSpPr>
            <p:cNvPr id="24589" name="Text Box 44"/>
            <p:cNvSpPr txBox="1">
              <a:spLocks noChangeArrowheads="1"/>
            </p:cNvSpPr>
            <p:nvPr/>
          </p:nvSpPr>
          <p:spPr bwMode="auto">
            <a:xfrm>
              <a:off x="679" y="1063"/>
              <a:ext cx="5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/>
                <a:t>投影面</a:t>
              </a:r>
            </a:p>
          </p:txBody>
        </p:sp>
        <p:sp>
          <p:nvSpPr>
            <p:cNvPr id="24590" name="Freeform 45"/>
            <p:cNvSpPr>
              <a:spLocks/>
            </p:cNvSpPr>
            <p:nvPr/>
          </p:nvSpPr>
          <p:spPr bwMode="auto">
            <a:xfrm>
              <a:off x="754" y="1423"/>
              <a:ext cx="899" cy="769"/>
            </a:xfrm>
            <a:custGeom>
              <a:avLst/>
              <a:gdLst>
                <a:gd name="T0" fmla="*/ 1155 w 885"/>
                <a:gd name="T1" fmla="*/ 0 h 769"/>
                <a:gd name="T2" fmla="*/ 0 w 885"/>
                <a:gd name="T3" fmla="*/ 769 h 769"/>
                <a:gd name="T4" fmla="*/ 0 60000 65536"/>
                <a:gd name="T5" fmla="*/ 0 60000 65536"/>
                <a:gd name="T6" fmla="*/ 0 w 885"/>
                <a:gd name="T7" fmla="*/ 0 h 769"/>
                <a:gd name="T8" fmla="*/ 885 w 885"/>
                <a:gd name="T9" fmla="*/ 769 h 7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5" h="769">
                  <a:moveTo>
                    <a:pt x="885" y="0"/>
                  </a:moveTo>
                  <a:lnTo>
                    <a:pt x="0" y="769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Freeform 46"/>
            <p:cNvSpPr>
              <a:spLocks/>
            </p:cNvSpPr>
            <p:nvPr/>
          </p:nvSpPr>
          <p:spPr bwMode="auto">
            <a:xfrm>
              <a:off x="1086" y="1271"/>
              <a:ext cx="897" cy="769"/>
            </a:xfrm>
            <a:custGeom>
              <a:avLst/>
              <a:gdLst>
                <a:gd name="T0" fmla="*/ 1153 w 883"/>
                <a:gd name="T1" fmla="*/ 0 h 769"/>
                <a:gd name="T2" fmla="*/ 0 w 883"/>
                <a:gd name="T3" fmla="*/ 769 h 769"/>
                <a:gd name="T4" fmla="*/ 0 60000 65536"/>
                <a:gd name="T5" fmla="*/ 0 60000 65536"/>
                <a:gd name="T6" fmla="*/ 0 w 883"/>
                <a:gd name="T7" fmla="*/ 0 h 769"/>
                <a:gd name="T8" fmla="*/ 883 w 883"/>
                <a:gd name="T9" fmla="*/ 769 h 76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3" h="769">
                  <a:moveTo>
                    <a:pt x="883" y="0"/>
                  </a:moveTo>
                  <a:lnTo>
                    <a:pt x="0" y="769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2" name="Freeform 47"/>
            <p:cNvSpPr>
              <a:spLocks/>
            </p:cNvSpPr>
            <p:nvPr/>
          </p:nvSpPr>
          <p:spPr bwMode="auto">
            <a:xfrm>
              <a:off x="1396" y="1426"/>
              <a:ext cx="897" cy="774"/>
            </a:xfrm>
            <a:custGeom>
              <a:avLst/>
              <a:gdLst>
                <a:gd name="T0" fmla="*/ 1153 w 883"/>
                <a:gd name="T1" fmla="*/ 0 h 774"/>
                <a:gd name="T2" fmla="*/ 0 w 883"/>
                <a:gd name="T3" fmla="*/ 774 h 774"/>
                <a:gd name="T4" fmla="*/ 0 60000 65536"/>
                <a:gd name="T5" fmla="*/ 0 60000 65536"/>
                <a:gd name="T6" fmla="*/ 0 w 883"/>
                <a:gd name="T7" fmla="*/ 0 h 774"/>
                <a:gd name="T8" fmla="*/ 883 w 883"/>
                <a:gd name="T9" fmla="*/ 774 h 7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3" h="774">
                  <a:moveTo>
                    <a:pt x="883" y="0"/>
                  </a:moveTo>
                  <a:lnTo>
                    <a:pt x="0" y="774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3" name="Freeform 48"/>
            <p:cNvSpPr>
              <a:spLocks/>
            </p:cNvSpPr>
            <p:nvPr/>
          </p:nvSpPr>
          <p:spPr bwMode="auto">
            <a:xfrm>
              <a:off x="1396" y="1698"/>
              <a:ext cx="901" cy="771"/>
            </a:xfrm>
            <a:custGeom>
              <a:avLst/>
              <a:gdLst>
                <a:gd name="T0" fmla="*/ 1157 w 887"/>
                <a:gd name="T1" fmla="*/ 0 h 771"/>
                <a:gd name="T2" fmla="*/ 0 w 887"/>
                <a:gd name="T3" fmla="*/ 771 h 771"/>
                <a:gd name="T4" fmla="*/ 0 60000 65536"/>
                <a:gd name="T5" fmla="*/ 0 60000 65536"/>
                <a:gd name="T6" fmla="*/ 0 w 887"/>
                <a:gd name="T7" fmla="*/ 0 h 771"/>
                <a:gd name="T8" fmla="*/ 887 w 887"/>
                <a:gd name="T9" fmla="*/ 771 h 7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7" h="771">
                  <a:moveTo>
                    <a:pt x="887" y="0"/>
                  </a:moveTo>
                  <a:lnTo>
                    <a:pt x="0" y="771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4" name="Freeform 49"/>
            <p:cNvSpPr>
              <a:spLocks/>
            </p:cNvSpPr>
            <p:nvPr/>
          </p:nvSpPr>
          <p:spPr bwMode="auto">
            <a:xfrm>
              <a:off x="754" y="1695"/>
              <a:ext cx="899" cy="788"/>
            </a:xfrm>
            <a:custGeom>
              <a:avLst/>
              <a:gdLst>
                <a:gd name="T0" fmla="*/ 1155 w 885"/>
                <a:gd name="T1" fmla="*/ 0 h 788"/>
                <a:gd name="T2" fmla="*/ 0 w 885"/>
                <a:gd name="T3" fmla="*/ 788 h 788"/>
                <a:gd name="T4" fmla="*/ 0 60000 65536"/>
                <a:gd name="T5" fmla="*/ 0 60000 65536"/>
                <a:gd name="T6" fmla="*/ 0 w 885"/>
                <a:gd name="T7" fmla="*/ 0 h 788"/>
                <a:gd name="T8" fmla="*/ 885 w 885"/>
                <a:gd name="T9" fmla="*/ 788 h 78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5" h="788">
                  <a:moveTo>
                    <a:pt x="885" y="0"/>
                  </a:moveTo>
                  <a:lnTo>
                    <a:pt x="0" y="788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5" name="Freeform 50"/>
            <p:cNvSpPr>
              <a:spLocks/>
            </p:cNvSpPr>
            <p:nvPr/>
          </p:nvSpPr>
          <p:spPr bwMode="auto">
            <a:xfrm>
              <a:off x="1095" y="1850"/>
              <a:ext cx="888" cy="766"/>
            </a:xfrm>
            <a:custGeom>
              <a:avLst/>
              <a:gdLst>
                <a:gd name="T0" fmla="*/ 28 w 1101"/>
                <a:gd name="T1" fmla="*/ 0 h 1214"/>
                <a:gd name="T2" fmla="*/ 0 w 1101"/>
                <a:gd name="T3" fmla="*/ 1 h 1214"/>
                <a:gd name="T4" fmla="*/ 0 60000 65536"/>
                <a:gd name="T5" fmla="*/ 0 60000 65536"/>
                <a:gd name="T6" fmla="*/ 0 w 1101"/>
                <a:gd name="T7" fmla="*/ 0 h 1214"/>
                <a:gd name="T8" fmla="*/ 1101 w 1101"/>
                <a:gd name="T9" fmla="*/ 1214 h 121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01" h="1214">
                  <a:moveTo>
                    <a:pt x="1101" y="0"/>
                  </a:moveTo>
                  <a:lnTo>
                    <a:pt x="0" y="1214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6" name="Freeform 51"/>
            <p:cNvSpPr>
              <a:spLocks/>
            </p:cNvSpPr>
            <p:nvPr/>
          </p:nvSpPr>
          <p:spPr bwMode="auto">
            <a:xfrm>
              <a:off x="1079" y="1560"/>
              <a:ext cx="908" cy="785"/>
            </a:xfrm>
            <a:custGeom>
              <a:avLst/>
              <a:gdLst>
                <a:gd name="T0" fmla="*/ 1164 w 894"/>
                <a:gd name="T1" fmla="*/ 0 h 785"/>
                <a:gd name="T2" fmla="*/ 0 w 894"/>
                <a:gd name="T3" fmla="*/ 785 h 785"/>
                <a:gd name="T4" fmla="*/ 0 60000 65536"/>
                <a:gd name="T5" fmla="*/ 0 60000 65536"/>
                <a:gd name="T6" fmla="*/ 0 w 894"/>
                <a:gd name="T7" fmla="*/ 0 h 785"/>
                <a:gd name="T8" fmla="*/ 894 w 894"/>
                <a:gd name="T9" fmla="*/ 785 h 78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4" h="785">
                  <a:moveTo>
                    <a:pt x="894" y="0"/>
                  </a:moveTo>
                  <a:lnTo>
                    <a:pt x="0" y="785"/>
                  </a:lnTo>
                </a:path>
              </a:pathLst>
            </a:custGeom>
            <a:noFill/>
            <a:ln w="9525">
              <a:solidFill>
                <a:srgbClr val="99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597" name="Group 52"/>
            <p:cNvGrpSpPr>
              <a:grpSpLocks/>
            </p:cNvGrpSpPr>
            <p:nvPr/>
          </p:nvGrpSpPr>
          <p:grpSpPr bwMode="auto">
            <a:xfrm>
              <a:off x="1653" y="1261"/>
              <a:ext cx="662" cy="589"/>
              <a:chOff x="2985" y="915"/>
              <a:chExt cx="954" cy="1000"/>
            </a:xfrm>
          </p:grpSpPr>
          <p:sp>
            <p:nvSpPr>
              <p:cNvPr id="24629" name="Freeform 53"/>
              <p:cNvSpPr>
                <a:spLocks/>
              </p:cNvSpPr>
              <p:nvPr/>
            </p:nvSpPr>
            <p:spPr bwMode="auto">
              <a:xfrm>
                <a:off x="3463" y="1444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1405 h 438"/>
                  <a:gd name="T4" fmla="*/ 0 60000 65536"/>
                  <a:gd name="T5" fmla="*/ 0 60000 65536"/>
                  <a:gd name="T6" fmla="*/ 0 w 1"/>
                  <a:gd name="T7" fmla="*/ 0 h 438"/>
                  <a:gd name="T8" fmla="*/ 0 w 1"/>
                  <a:gd name="T9" fmla="*/ 438 h 4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0" name="Freeform 54"/>
              <p:cNvSpPr>
                <a:spLocks/>
              </p:cNvSpPr>
              <p:nvPr/>
            </p:nvSpPr>
            <p:spPr bwMode="auto">
              <a:xfrm>
                <a:off x="3462" y="1640"/>
                <a:ext cx="477" cy="273"/>
              </a:xfrm>
              <a:custGeom>
                <a:avLst/>
                <a:gdLst>
                  <a:gd name="T0" fmla="*/ 0 w 410"/>
                  <a:gd name="T1" fmla="*/ 863 h 254"/>
                  <a:gd name="T2" fmla="*/ 5377 w 410"/>
                  <a:gd name="T3" fmla="*/ 0 h 254"/>
                  <a:gd name="T4" fmla="*/ 0 60000 65536"/>
                  <a:gd name="T5" fmla="*/ 0 60000 65536"/>
                  <a:gd name="T6" fmla="*/ 0 w 410"/>
                  <a:gd name="T7" fmla="*/ 0 h 254"/>
                  <a:gd name="T8" fmla="*/ 410 w 410"/>
                  <a:gd name="T9" fmla="*/ 254 h 2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1" name="Freeform 55"/>
              <p:cNvSpPr>
                <a:spLocks/>
              </p:cNvSpPr>
              <p:nvPr/>
            </p:nvSpPr>
            <p:spPr bwMode="auto">
              <a:xfrm>
                <a:off x="2986" y="1656"/>
                <a:ext cx="476" cy="259"/>
              </a:xfrm>
              <a:custGeom>
                <a:avLst/>
                <a:gdLst>
                  <a:gd name="T0" fmla="*/ 5399 w 409"/>
                  <a:gd name="T1" fmla="*/ 820 h 241"/>
                  <a:gd name="T2" fmla="*/ 0 w 409"/>
                  <a:gd name="T3" fmla="*/ 0 h 241"/>
                  <a:gd name="T4" fmla="*/ 0 60000 65536"/>
                  <a:gd name="T5" fmla="*/ 0 60000 65536"/>
                  <a:gd name="T6" fmla="*/ 0 w 409"/>
                  <a:gd name="T7" fmla="*/ 0 h 241"/>
                  <a:gd name="T8" fmla="*/ 409 w 409"/>
                  <a:gd name="T9" fmla="*/ 241 h 24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2" name="Freeform 56"/>
              <p:cNvSpPr>
                <a:spLocks/>
              </p:cNvSpPr>
              <p:nvPr/>
            </p:nvSpPr>
            <p:spPr bwMode="auto">
              <a:xfrm>
                <a:off x="2986" y="1187"/>
                <a:ext cx="0" cy="469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1405 h 438"/>
                  <a:gd name="T4" fmla="*/ 0 60000 65536"/>
                  <a:gd name="T5" fmla="*/ 0 60000 65536"/>
                  <a:gd name="T6" fmla="*/ 0 w 1"/>
                  <a:gd name="T7" fmla="*/ 0 h 438"/>
                  <a:gd name="T8" fmla="*/ 0 w 1"/>
                  <a:gd name="T9" fmla="*/ 438 h 4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3" name="Freeform 57"/>
              <p:cNvSpPr>
                <a:spLocks/>
              </p:cNvSpPr>
              <p:nvPr/>
            </p:nvSpPr>
            <p:spPr bwMode="auto">
              <a:xfrm>
                <a:off x="3922" y="1201"/>
                <a:ext cx="2" cy="439"/>
              </a:xfrm>
              <a:custGeom>
                <a:avLst/>
                <a:gdLst>
                  <a:gd name="T0" fmla="*/ 0 w 1"/>
                  <a:gd name="T1" fmla="*/ 0 h 410"/>
                  <a:gd name="T2" fmla="*/ 0 w 1"/>
                  <a:gd name="T3" fmla="*/ 1314 h 410"/>
                  <a:gd name="T4" fmla="*/ 0 60000 65536"/>
                  <a:gd name="T5" fmla="*/ 0 60000 65536"/>
                  <a:gd name="T6" fmla="*/ 0 w 1"/>
                  <a:gd name="T7" fmla="*/ 0 h 410"/>
                  <a:gd name="T8" fmla="*/ 1 w 1"/>
                  <a:gd name="T9" fmla="*/ 410 h 4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10">
                    <a:moveTo>
                      <a:pt x="0" y="0"/>
                    </a:moveTo>
                    <a:lnTo>
                      <a:pt x="0" y="41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4" name="Freeform 58"/>
              <p:cNvSpPr>
                <a:spLocks/>
              </p:cNvSpPr>
              <p:nvPr/>
            </p:nvSpPr>
            <p:spPr bwMode="auto">
              <a:xfrm>
                <a:off x="3462" y="1187"/>
                <a:ext cx="460" cy="264"/>
              </a:xfrm>
              <a:custGeom>
                <a:avLst/>
                <a:gdLst>
                  <a:gd name="T0" fmla="*/ 0 w 396"/>
                  <a:gd name="T1" fmla="*/ 820 h 246"/>
                  <a:gd name="T2" fmla="*/ 5046 w 396"/>
                  <a:gd name="T3" fmla="*/ 0 h 246"/>
                  <a:gd name="T4" fmla="*/ 0 60000 65536"/>
                  <a:gd name="T5" fmla="*/ 0 60000 65536"/>
                  <a:gd name="T6" fmla="*/ 0 w 396"/>
                  <a:gd name="T7" fmla="*/ 0 h 246"/>
                  <a:gd name="T8" fmla="*/ 396 w 396"/>
                  <a:gd name="T9" fmla="*/ 246 h 24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46">
                    <a:moveTo>
                      <a:pt x="0" y="246"/>
                    </a:moveTo>
                    <a:lnTo>
                      <a:pt x="396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5" name="Freeform 59"/>
              <p:cNvSpPr>
                <a:spLocks/>
              </p:cNvSpPr>
              <p:nvPr/>
            </p:nvSpPr>
            <p:spPr bwMode="auto">
              <a:xfrm>
                <a:off x="2986" y="1193"/>
                <a:ext cx="476" cy="258"/>
              </a:xfrm>
              <a:custGeom>
                <a:avLst/>
                <a:gdLst>
                  <a:gd name="T0" fmla="*/ 5399 w 409"/>
                  <a:gd name="T1" fmla="*/ 765 h 241"/>
                  <a:gd name="T2" fmla="*/ 0 w 409"/>
                  <a:gd name="T3" fmla="*/ 0 h 241"/>
                  <a:gd name="T4" fmla="*/ 0 60000 65536"/>
                  <a:gd name="T5" fmla="*/ 0 60000 65536"/>
                  <a:gd name="T6" fmla="*/ 0 w 409"/>
                  <a:gd name="T7" fmla="*/ 0 h 241"/>
                  <a:gd name="T8" fmla="*/ 409 w 409"/>
                  <a:gd name="T9" fmla="*/ 241 h 24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6" name="Freeform 60"/>
              <p:cNvSpPr>
                <a:spLocks/>
              </p:cNvSpPr>
              <p:nvPr/>
            </p:nvSpPr>
            <p:spPr bwMode="auto">
              <a:xfrm>
                <a:off x="2985" y="920"/>
                <a:ext cx="477" cy="273"/>
              </a:xfrm>
              <a:custGeom>
                <a:avLst/>
                <a:gdLst>
                  <a:gd name="T0" fmla="*/ 0 w 410"/>
                  <a:gd name="T1" fmla="*/ 863 h 254"/>
                  <a:gd name="T2" fmla="*/ 5377 w 410"/>
                  <a:gd name="T3" fmla="*/ 0 h 254"/>
                  <a:gd name="T4" fmla="*/ 0 60000 65536"/>
                  <a:gd name="T5" fmla="*/ 0 60000 65536"/>
                  <a:gd name="T6" fmla="*/ 0 w 410"/>
                  <a:gd name="T7" fmla="*/ 0 h 254"/>
                  <a:gd name="T8" fmla="*/ 410 w 410"/>
                  <a:gd name="T9" fmla="*/ 254 h 2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7" name="Freeform 61"/>
              <p:cNvSpPr>
                <a:spLocks/>
              </p:cNvSpPr>
              <p:nvPr/>
            </p:nvSpPr>
            <p:spPr bwMode="auto">
              <a:xfrm>
                <a:off x="3463" y="915"/>
                <a:ext cx="459" cy="272"/>
              </a:xfrm>
              <a:custGeom>
                <a:avLst/>
                <a:gdLst>
                  <a:gd name="T0" fmla="*/ 5062 w 395"/>
                  <a:gd name="T1" fmla="*/ 813 h 254"/>
                  <a:gd name="T2" fmla="*/ 0 w 395"/>
                  <a:gd name="T3" fmla="*/ 0 h 254"/>
                  <a:gd name="T4" fmla="*/ 0 60000 65536"/>
                  <a:gd name="T5" fmla="*/ 0 60000 65536"/>
                  <a:gd name="T6" fmla="*/ 0 w 395"/>
                  <a:gd name="T7" fmla="*/ 0 h 254"/>
                  <a:gd name="T8" fmla="*/ 395 w 395"/>
                  <a:gd name="T9" fmla="*/ 254 h 2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5" h="254">
                    <a:moveTo>
                      <a:pt x="395" y="254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598" name="Group 62"/>
            <p:cNvGrpSpPr>
              <a:grpSpLocks/>
            </p:cNvGrpSpPr>
            <p:nvPr/>
          </p:nvGrpSpPr>
          <p:grpSpPr bwMode="auto">
            <a:xfrm>
              <a:off x="1522" y="1129"/>
              <a:ext cx="938" cy="635"/>
              <a:chOff x="1549" y="1395"/>
              <a:chExt cx="923" cy="635"/>
            </a:xfrm>
          </p:grpSpPr>
          <p:sp>
            <p:nvSpPr>
              <p:cNvPr id="24626" name="Freeform 63"/>
              <p:cNvSpPr>
                <a:spLocks/>
              </p:cNvSpPr>
              <p:nvPr/>
            </p:nvSpPr>
            <p:spPr bwMode="auto">
              <a:xfrm>
                <a:off x="2002" y="1395"/>
                <a:ext cx="1" cy="419"/>
              </a:xfrm>
              <a:custGeom>
                <a:avLst/>
                <a:gdLst>
                  <a:gd name="T0" fmla="*/ 0 w 1"/>
                  <a:gd name="T1" fmla="*/ 1 h 664"/>
                  <a:gd name="T2" fmla="*/ 1 w 1"/>
                  <a:gd name="T3" fmla="*/ 0 h 664"/>
                  <a:gd name="T4" fmla="*/ 0 60000 65536"/>
                  <a:gd name="T5" fmla="*/ 0 60000 65536"/>
                  <a:gd name="T6" fmla="*/ 0 w 1"/>
                  <a:gd name="T7" fmla="*/ 0 h 664"/>
                  <a:gd name="T8" fmla="*/ 1 w 1"/>
                  <a:gd name="T9" fmla="*/ 664 h 6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664">
                    <a:moveTo>
                      <a:pt x="0" y="664"/>
                    </a:moveTo>
                    <a:lnTo>
                      <a:pt x="1" y="0"/>
                    </a:lnTo>
                  </a:path>
                </a:pathLst>
              </a:cu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7" name="Line 64"/>
              <p:cNvSpPr>
                <a:spLocks noChangeShapeType="1"/>
              </p:cNvSpPr>
              <p:nvPr/>
            </p:nvSpPr>
            <p:spPr bwMode="auto">
              <a:xfrm flipH="1">
                <a:off x="1549" y="1814"/>
                <a:ext cx="453" cy="208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8" name="Line 65"/>
              <p:cNvSpPr>
                <a:spLocks noChangeShapeType="1"/>
              </p:cNvSpPr>
              <p:nvPr/>
            </p:nvSpPr>
            <p:spPr bwMode="auto">
              <a:xfrm>
                <a:off x="2002" y="1814"/>
                <a:ext cx="470" cy="216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599" name="Group 66"/>
            <p:cNvGrpSpPr>
              <a:grpSpLocks/>
            </p:cNvGrpSpPr>
            <p:nvPr/>
          </p:nvGrpSpPr>
          <p:grpSpPr bwMode="auto">
            <a:xfrm>
              <a:off x="754" y="2037"/>
              <a:ext cx="651" cy="589"/>
              <a:chOff x="798" y="2490"/>
              <a:chExt cx="651" cy="589"/>
            </a:xfrm>
          </p:grpSpPr>
          <p:sp>
            <p:nvSpPr>
              <p:cNvPr id="24617" name="Freeform 67"/>
              <p:cNvSpPr>
                <a:spLocks/>
              </p:cNvSpPr>
              <p:nvPr/>
            </p:nvSpPr>
            <p:spPr bwMode="auto">
              <a:xfrm>
                <a:off x="1129" y="2802"/>
                <a:ext cx="0" cy="276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1 h 438"/>
                  <a:gd name="T4" fmla="*/ 0 60000 65536"/>
                  <a:gd name="T5" fmla="*/ 0 60000 65536"/>
                  <a:gd name="T6" fmla="*/ 0 w 1"/>
                  <a:gd name="T7" fmla="*/ 0 h 438"/>
                  <a:gd name="T8" fmla="*/ 0 w 1"/>
                  <a:gd name="T9" fmla="*/ 438 h 4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18" name="Freeform 68"/>
              <p:cNvSpPr>
                <a:spLocks/>
              </p:cNvSpPr>
              <p:nvPr/>
            </p:nvSpPr>
            <p:spPr bwMode="auto">
              <a:xfrm>
                <a:off x="1129" y="2914"/>
                <a:ext cx="311" cy="164"/>
              </a:xfrm>
              <a:custGeom>
                <a:avLst/>
                <a:gdLst>
                  <a:gd name="T0" fmla="*/ 0 w 306"/>
                  <a:gd name="T1" fmla="*/ 164 h 164"/>
                  <a:gd name="T2" fmla="*/ 401 w 306"/>
                  <a:gd name="T3" fmla="*/ 0 h 164"/>
                  <a:gd name="T4" fmla="*/ 0 60000 65536"/>
                  <a:gd name="T5" fmla="*/ 0 60000 65536"/>
                  <a:gd name="T6" fmla="*/ 0 w 306"/>
                  <a:gd name="T7" fmla="*/ 0 h 164"/>
                  <a:gd name="T8" fmla="*/ 306 w 306"/>
                  <a:gd name="T9" fmla="*/ 164 h 1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06" h="164">
                    <a:moveTo>
                      <a:pt x="0" y="164"/>
                    </a:moveTo>
                    <a:lnTo>
                      <a:pt x="306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19" name="Freeform 69"/>
              <p:cNvSpPr>
                <a:spLocks/>
              </p:cNvSpPr>
              <p:nvPr/>
            </p:nvSpPr>
            <p:spPr bwMode="auto">
              <a:xfrm>
                <a:off x="799" y="2926"/>
                <a:ext cx="330" cy="153"/>
              </a:xfrm>
              <a:custGeom>
                <a:avLst/>
                <a:gdLst>
                  <a:gd name="T0" fmla="*/ 10 w 409"/>
                  <a:gd name="T1" fmla="*/ 1 h 241"/>
                  <a:gd name="T2" fmla="*/ 0 w 409"/>
                  <a:gd name="T3" fmla="*/ 0 h 241"/>
                  <a:gd name="T4" fmla="*/ 0 60000 65536"/>
                  <a:gd name="T5" fmla="*/ 0 60000 65536"/>
                  <a:gd name="T6" fmla="*/ 0 w 409"/>
                  <a:gd name="T7" fmla="*/ 0 h 241"/>
                  <a:gd name="T8" fmla="*/ 409 w 409"/>
                  <a:gd name="T9" fmla="*/ 241 h 24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0" name="Freeform 70"/>
              <p:cNvSpPr>
                <a:spLocks/>
              </p:cNvSpPr>
              <p:nvPr/>
            </p:nvSpPr>
            <p:spPr bwMode="auto">
              <a:xfrm>
                <a:off x="799" y="2650"/>
                <a:ext cx="0" cy="276"/>
              </a:xfrm>
              <a:custGeom>
                <a:avLst/>
                <a:gdLst>
                  <a:gd name="T0" fmla="*/ 0 w 1"/>
                  <a:gd name="T1" fmla="*/ 0 h 438"/>
                  <a:gd name="T2" fmla="*/ 0 w 1"/>
                  <a:gd name="T3" fmla="*/ 1 h 438"/>
                  <a:gd name="T4" fmla="*/ 0 60000 65536"/>
                  <a:gd name="T5" fmla="*/ 0 60000 65536"/>
                  <a:gd name="T6" fmla="*/ 0 w 1"/>
                  <a:gd name="T7" fmla="*/ 0 h 438"/>
                  <a:gd name="T8" fmla="*/ 0 w 1"/>
                  <a:gd name="T9" fmla="*/ 438 h 4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38">
                    <a:moveTo>
                      <a:pt x="0" y="0"/>
                    </a:moveTo>
                    <a:lnTo>
                      <a:pt x="0" y="438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1" name="Freeform 71"/>
              <p:cNvSpPr>
                <a:spLocks/>
              </p:cNvSpPr>
              <p:nvPr/>
            </p:nvSpPr>
            <p:spPr bwMode="auto">
              <a:xfrm>
                <a:off x="1447" y="2658"/>
                <a:ext cx="2" cy="259"/>
              </a:xfrm>
              <a:custGeom>
                <a:avLst/>
                <a:gdLst>
                  <a:gd name="T0" fmla="*/ 0 w 1"/>
                  <a:gd name="T1" fmla="*/ 0 h 410"/>
                  <a:gd name="T2" fmla="*/ 0 w 1"/>
                  <a:gd name="T3" fmla="*/ 1 h 410"/>
                  <a:gd name="T4" fmla="*/ 0 60000 65536"/>
                  <a:gd name="T5" fmla="*/ 0 60000 65536"/>
                  <a:gd name="T6" fmla="*/ 0 w 1"/>
                  <a:gd name="T7" fmla="*/ 0 h 410"/>
                  <a:gd name="T8" fmla="*/ 1 w 1"/>
                  <a:gd name="T9" fmla="*/ 410 h 4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10">
                    <a:moveTo>
                      <a:pt x="0" y="0"/>
                    </a:moveTo>
                    <a:lnTo>
                      <a:pt x="0" y="41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2" name="Freeform 72"/>
              <p:cNvSpPr>
                <a:spLocks/>
              </p:cNvSpPr>
              <p:nvPr/>
            </p:nvSpPr>
            <p:spPr bwMode="auto">
              <a:xfrm>
                <a:off x="1129" y="2650"/>
                <a:ext cx="318" cy="156"/>
              </a:xfrm>
              <a:custGeom>
                <a:avLst/>
                <a:gdLst>
                  <a:gd name="T0" fmla="*/ 0 w 396"/>
                  <a:gd name="T1" fmla="*/ 1 h 246"/>
                  <a:gd name="T2" fmla="*/ 9 w 396"/>
                  <a:gd name="T3" fmla="*/ 0 h 246"/>
                  <a:gd name="T4" fmla="*/ 0 60000 65536"/>
                  <a:gd name="T5" fmla="*/ 0 60000 65536"/>
                  <a:gd name="T6" fmla="*/ 0 w 396"/>
                  <a:gd name="T7" fmla="*/ 0 h 246"/>
                  <a:gd name="T8" fmla="*/ 396 w 396"/>
                  <a:gd name="T9" fmla="*/ 246 h 24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6" h="246">
                    <a:moveTo>
                      <a:pt x="0" y="246"/>
                    </a:moveTo>
                    <a:lnTo>
                      <a:pt x="396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3" name="Freeform 73"/>
              <p:cNvSpPr>
                <a:spLocks/>
              </p:cNvSpPr>
              <p:nvPr/>
            </p:nvSpPr>
            <p:spPr bwMode="auto">
              <a:xfrm>
                <a:off x="799" y="2654"/>
                <a:ext cx="330" cy="152"/>
              </a:xfrm>
              <a:custGeom>
                <a:avLst/>
                <a:gdLst>
                  <a:gd name="T0" fmla="*/ 10 w 409"/>
                  <a:gd name="T1" fmla="*/ 1 h 241"/>
                  <a:gd name="T2" fmla="*/ 0 w 409"/>
                  <a:gd name="T3" fmla="*/ 0 h 241"/>
                  <a:gd name="T4" fmla="*/ 0 60000 65536"/>
                  <a:gd name="T5" fmla="*/ 0 60000 65536"/>
                  <a:gd name="T6" fmla="*/ 0 w 409"/>
                  <a:gd name="T7" fmla="*/ 0 h 241"/>
                  <a:gd name="T8" fmla="*/ 409 w 409"/>
                  <a:gd name="T9" fmla="*/ 241 h 24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09" h="241">
                    <a:moveTo>
                      <a:pt x="409" y="241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4" name="Freeform 74"/>
              <p:cNvSpPr>
                <a:spLocks/>
              </p:cNvSpPr>
              <p:nvPr/>
            </p:nvSpPr>
            <p:spPr bwMode="auto">
              <a:xfrm>
                <a:off x="798" y="2493"/>
                <a:ext cx="331" cy="161"/>
              </a:xfrm>
              <a:custGeom>
                <a:avLst/>
                <a:gdLst>
                  <a:gd name="T0" fmla="*/ 0 w 410"/>
                  <a:gd name="T1" fmla="*/ 1 h 254"/>
                  <a:gd name="T2" fmla="*/ 10 w 410"/>
                  <a:gd name="T3" fmla="*/ 0 h 254"/>
                  <a:gd name="T4" fmla="*/ 0 60000 65536"/>
                  <a:gd name="T5" fmla="*/ 0 60000 65536"/>
                  <a:gd name="T6" fmla="*/ 0 w 410"/>
                  <a:gd name="T7" fmla="*/ 0 h 254"/>
                  <a:gd name="T8" fmla="*/ 410 w 410"/>
                  <a:gd name="T9" fmla="*/ 254 h 2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10" h="254">
                    <a:moveTo>
                      <a:pt x="0" y="254"/>
                    </a:moveTo>
                    <a:lnTo>
                      <a:pt x="41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5" name="Freeform 75"/>
              <p:cNvSpPr>
                <a:spLocks/>
              </p:cNvSpPr>
              <p:nvPr/>
            </p:nvSpPr>
            <p:spPr bwMode="auto">
              <a:xfrm>
                <a:off x="1129" y="2490"/>
                <a:ext cx="318" cy="160"/>
              </a:xfrm>
              <a:custGeom>
                <a:avLst/>
                <a:gdLst>
                  <a:gd name="T0" fmla="*/ 10 w 395"/>
                  <a:gd name="T1" fmla="*/ 1 h 254"/>
                  <a:gd name="T2" fmla="*/ 0 w 395"/>
                  <a:gd name="T3" fmla="*/ 0 h 254"/>
                  <a:gd name="T4" fmla="*/ 0 60000 65536"/>
                  <a:gd name="T5" fmla="*/ 0 60000 65536"/>
                  <a:gd name="T6" fmla="*/ 0 w 395"/>
                  <a:gd name="T7" fmla="*/ 0 h 254"/>
                  <a:gd name="T8" fmla="*/ 395 w 395"/>
                  <a:gd name="T9" fmla="*/ 254 h 25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95" h="254">
                    <a:moveTo>
                      <a:pt x="395" y="254"/>
                    </a:move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600" name="Group 76"/>
            <p:cNvGrpSpPr>
              <a:grpSpLocks/>
            </p:cNvGrpSpPr>
            <p:nvPr/>
          </p:nvGrpSpPr>
          <p:grpSpPr bwMode="auto">
            <a:xfrm>
              <a:off x="472" y="1769"/>
              <a:ext cx="1154" cy="813"/>
              <a:chOff x="516" y="2035"/>
              <a:chExt cx="1135" cy="813"/>
            </a:xfrm>
          </p:grpSpPr>
          <p:grpSp>
            <p:nvGrpSpPr>
              <p:cNvPr id="24609" name="Group 77"/>
              <p:cNvGrpSpPr>
                <a:grpSpLocks/>
              </p:cNvGrpSpPr>
              <p:nvPr/>
            </p:nvGrpSpPr>
            <p:grpSpPr bwMode="auto">
              <a:xfrm>
                <a:off x="684" y="2171"/>
                <a:ext cx="865" cy="615"/>
                <a:chOff x="684" y="2171"/>
                <a:chExt cx="865" cy="615"/>
              </a:xfrm>
            </p:grpSpPr>
            <p:sp>
              <p:nvSpPr>
                <p:cNvPr id="24614" name="Freeform 78"/>
                <p:cNvSpPr>
                  <a:spLocks/>
                </p:cNvSpPr>
                <p:nvPr/>
              </p:nvSpPr>
              <p:spPr bwMode="auto">
                <a:xfrm>
                  <a:off x="1117" y="2171"/>
                  <a:ext cx="1" cy="419"/>
                </a:xfrm>
                <a:custGeom>
                  <a:avLst/>
                  <a:gdLst>
                    <a:gd name="T0" fmla="*/ 0 w 1"/>
                    <a:gd name="T1" fmla="*/ 1 h 664"/>
                    <a:gd name="T2" fmla="*/ 1 w 1"/>
                    <a:gd name="T3" fmla="*/ 0 h 664"/>
                    <a:gd name="T4" fmla="*/ 0 60000 65536"/>
                    <a:gd name="T5" fmla="*/ 0 60000 65536"/>
                    <a:gd name="T6" fmla="*/ 0 w 1"/>
                    <a:gd name="T7" fmla="*/ 0 h 664"/>
                    <a:gd name="T8" fmla="*/ 1 w 1"/>
                    <a:gd name="T9" fmla="*/ 664 h 66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664">
                      <a:moveTo>
                        <a:pt x="0" y="664"/>
                      </a:moveTo>
                      <a:lnTo>
                        <a:pt x="1" y="0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615" name="Freeform 79"/>
                <p:cNvSpPr>
                  <a:spLocks/>
                </p:cNvSpPr>
                <p:nvPr/>
              </p:nvSpPr>
              <p:spPr bwMode="auto">
                <a:xfrm>
                  <a:off x="684" y="2590"/>
                  <a:ext cx="434" cy="196"/>
                </a:xfrm>
                <a:custGeom>
                  <a:avLst/>
                  <a:gdLst>
                    <a:gd name="T0" fmla="*/ 434 w 434"/>
                    <a:gd name="T1" fmla="*/ 0 h 196"/>
                    <a:gd name="T2" fmla="*/ 0 w 434"/>
                    <a:gd name="T3" fmla="*/ 196 h 196"/>
                    <a:gd name="T4" fmla="*/ 0 60000 65536"/>
                    <a:gd name="T5" fmla="*/ 0 60000 65536"/>
                    <a:gd name="T6" fmla="*/ 0 w 434"/>
                    <a:gd name="T7" fmla="*/ 0 h 196"/>
                    <a:gd name="T8" fmla="*/ 434 w 434"/>
                    <a:gd name="T9" fmla="*/ 196 h 19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34" h="196">
                      <a:moveTo>
                        <a:pt x="434" y="0"/>
                      </a:moveTo>
                      <a:lnTo>
                        <a:pt x="0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616" name="Freeform 80"/>
                <p:cNvSpPr>
                  <a:spLocks/>
                </p:cNvSpPr>
                <p:nvPr/>
              </p:nvSpPr>
              <p:spPr bwMode="auto">
                <a:xfrm>
                  <a:off x="1117" y="2590"/>
                  <a:ext cx="432" cy="196"/>
                </a:xfrm>
                <a:custGeom>
                  <a:avLst/>
                  <a:gdLst>
                    <a:gd name="T0" fmla="*/ 0 w 432"/>
                    <a:gd name="T1" fmla="*/ 0 h 196"/>
                    <a:gd name="T2" fmla="*/ 432 w 432"/>
                    <a:gd name="T3" fmla="*/ 196 h 196"/>
                    <a:gd name="T4" fmla="*/ 0 60000 65536"/>
                    <a:gd name="T5" fmla="*/ 0 60000 65536"/>
                    <a:gd name="T6" fmla="*/ 0 w 432"/>
                    <a:gd name="T7" fmla="*/ 0 h 196"/>
                    <a:gd name="T8" fmla="*/ 432 w 432"/>
                    <a:gd name="T9" fmla="*/ 196 h 19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432" h="196">
                      <a:moveTo>
                        <a:pt x="0" y="0"/>
                      </a:moveTo>
                      <a:lnTo>
                        <a:pt x="432" y="196"/>
                      </a:lnTo>
                    </a:path>
                  </a:pathLst>
                </a:custGeom>
                <a:noFill/>
                <a:ln w="9525">
                  <a:solidFill>
                    <a:srgbClr val="333399"/>
                  </a:solidFill>
                  <a:round/>
                  <a:headEnd/>
                  <a:tailEnd type="triangl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4610" name="Text Box 81"/>
              <p:cNvSpPr txBox="1">
                <a:spLocks noChangeArrowheads="1"/>
              </p:cNvSpPr>
              <p:nvPr/>
            </p:nvSpPr>
            <p:spPr bwMode="auto">
              <a:xfrm>
                <a:off x="1062" y="2425"/>
                <a:ext cx="17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>
                    <a:latin typeface="宋体" pitchFamily="2" charset="-122"/>
                  </a:rPr>
                  <a:t>O</a:t>
                </a:r>
                <a:endParaRPr lang="en-US" altLang="zh-CN" sz="2000"/>
              </a:p>
            </p:txBody>
          </p:sp>
          <p:sp>
            <p:nvSpPr>
              <p:cNvPr id="24611" name="Text Box 82"/>
              <p:cNvSpPr txBox="1">
                <a:spLocks noChangeArrowheads="1"/>
              </p:cNvSpPr>
              <p:nvPr/>
            </p:nvSpPr>
            <p:spPr bwMode="auto">
              <a:xfrm>
                <a:off x="516" y="2633"/>
                <a:ext cx="17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>
                    <a:latin typeface="宋体" pitchFamily="2" charset="-122"/>
                  </a:rPr>
                  <a:t>X</a:t>
                </a:r>
                <a:endParaRPr lang="en-US" altLang="zh-CN" sz="2000"/>
              </a:p>
            </p:txBody>
          </p:sp>
          <p:sp>
            <p:nvSpPr>
              <p:cNvPr id="24612" name="Text Box 83"/>
              <p:cNvSpPr txBox="1">
                <a:spLocks noChangeArrowheads="1"/>
              </p:cNvSpPr>
              <p:nvPr/>
            </p:nvSpPr>
            <p:spPr bwMode="auto">
              <a:xfrm>
                <a:off x="1474" y="2636"/>
                <a:ext cx="17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>
                    <a:latin typeface="宋体" pitchFamily="2" charset="-122"/>
                  </a:rPr>
                  <a:t>Y</a:t>
                </a:r>
                <a:endParaRPr lang="en-US" altLang="zh-CN" sz="2000"/>
              </a:p>
            </p:txBody>
          </p:sp>
          <p:sp>
            <p:nvSpPr>
              <p:cNvPr id="24613" name="Text Box 84"/>
              <p:cNvSpPr txBox="1">
                <a:spLocks noChangeArrowheads="1"/>
              </p:cNvSpPr>
              <p:nvPr/>
            </p:nvSpPr>
            <p:spPr bwMode="auto">
              <a:xfrm>
                <a:off x="950" y="2035"/>
                <a:ext cx="177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1600">
                    <a:latin typeface="宋体" pitchFamily="2" charset="-122"/>
                  </a:rPr>
                  <a:t>Z</a:t>
                </a:r>
                <a:endParaRPr lang="en-US" altLang="zh-CN" sz="2000"/>
              </a:p>
            </p:txBody>
          </p:sp>
        </p:grpSp>
        <p:sp>
          <p:nvSpPr>
            <p:cNvPr id="24601" name="Text Box 85"/>
            <p:cNvSpPr txBox="1">
              <a:spLocks noChangeArrowheads="1"/>
            </p:cNvSpPr>
            <p:nvPr/>
          </p:nvSpPr>
          <p:spPr bwMode="auto">
            <a:xfrm>
              <a:off x="1926" y="1517"/>
              <a:ext cx="24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>
                  <a:latin typeface="宋体" pitchFamily="2" charset="-122"/>
                </a:rPr>
                <a:t>O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4602" name="Text Box 86"/>
            <p:cNvSpPr txBox="1">
              <a:spLocks noChangeArrowheads="1"/>
            </p:cNvSpPr>
            <p:nvPr/>
          </p:nvSpPr>
          <p:spPr bwMode="auto">
            <a:xfrm>
              <a:off x="1279" y="1574"/>
              <a:ext cx="24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>
                  <a:latin typeface="宋体" pitchFamily="2" charset="-122"/>
                </a:rPr>
                <a:t>X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4603" name="Text Box 87"/>
            <p:cNvSpPr txBox="1">
              <a:spLocks noChangeArrowheads="1"/>
            </p:cNvSpPr>
            <p:nvPr/>
          </p:nvSpPr>
          <p:spPr bwMode="auto">
            <a:xfrm>
              <a:off x="2353" y="1577"/>
              <a:ext cx="24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>
                  <a:latin typeface="宋体" pitchFamily="2" charset="-122"/>
                </a:rPr>
                <a:t>Y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4604" name="Text Box 88"/>
            <p:cNvSpPr txBox="1">
              <a:spLocks noChangeArrowheads="1"/>
            </p:cNvSpPr>
            <p:nvPr/>
          </p:nvSpPr>
          <p:spPr bwMode="auto">
            <a:xfrm>
              <a:off x="1983" y="1102"/>
              <a:ext cx="24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>
                  <a:latin typeface="宋体" pitchFamily="2" charset="-122"/>
                </a:rPr>
                <a:t>Z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24605" name="Text Box 124"/>
            <p:cNvSpPr txBox="1">
              <a:spLocks noChangeArrowheads="1"/>
            </p:cNvSpPr>
            <p:nvPr/>
          </p:nvSpPr>
          <p:spPr bwMode="auto">
            <a:xfrm>
              <a:off x="1048" y="1879"/>
              <a:ext cx="21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FF3300"/>
                  </a:solidFill>
                  <a:latin typeface="Dutch801 Rm BT" pitchFamily="18" charset="0"/>
                </a:rPr>
                <a:t>C</a:t>
              </a:r>
              <a:endParaRPr lang="en-US" altLang="zh-CN" sz="1600">
                <a:solidFill>
                  <a:srgbClr val="FF0000"/>
                </a:solidFill>
              </a:endParaRPr>
            </a:p>
          </p:txBody>
        </p:sp>
        <p:sp>
          <p:nvSpPr>
            <p:cNvPr id="24606" name="Text Box 127"/>
            <p:cNvSpPr txBox="1">
              <a:spLocks noChangeArrowheads="1"/>
            </p:cNvSpPr>
            <p:nvPr/>
          </p:nvSpPr>
          <p:spPr bwMode="auto">
            <a:xfrm>
              <a:off x="1515" y="1662"/>
              <a:ext cx="295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FF3300"/>
                  </a:solidFill>
                  <a:latin typeface="Dutch801 Rm BT" pitchFamily="18" charset="0"/>
                </a:rPr>
                <a:t>A</a:t>
              </a:r>
              <a:r>
                <a:rPr lang="en-US" altLang="zh-CN" baseline="-25000">
                  <a:solidFill>
                    <a:srgbClr val="FF0000"/>
                  </a:solidFill>
                </a:rPr>
                <a:t>1</a:t>
              </a:r>
              <a:r>
                <a:rPr lang="en-US" altLang="zh-CN" sz="1600">
                  <a:solidFill>
                    <a:srgbClr val="FF0000"/>
                  </a:solidFill>
                </a:rPr>
                <a:t> </a:t>
              </a:r>
              <a:endParaRPr lang="en-US" altLang="zh-CN" sz="2800" i="1">
                <a:solidFill>
                  <a:srgbClr val="FF3300"/>
                </a:solidFill>
                <a:latin typeface="Dutch801 Rm BT" pitchFamily="18" charset="0"/>
              </a:endParaRPr>
            </a:p>
          </p:txBody>
        </p:sp>
        <p:sp>
          <p:nvSpPr>
            <p:cNvPr id="24607" name="Text Box 129"/>
            <p:cNvSpPr txBox="1">
              <a:spLocks noChangeArrowheads="1"/>
            </p:cNvSpPr>
            <p:nvPr/>
          </p:nvSpPr>
          <p:spPr bwMode="auto">
            <a:xfrm>
              <a:off x="2199" y="1680"/>
              <a:ext cx="29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FF3300"/>
                  </a:solidFill>
                  <a:latin typeface="Dutch801 Rm BT" pitchFamily="18" charset="0"/>
                </a:rPr>
                <a:t>B</a:t>
              </a:r>
              <a:r>
                <a:rPr lang="en-US" altLang="zh-CN" baseline="-25000">
                  <a:solidFill>
                    <a:srgbClr val="FF0000"/>
                  </a:solidFill>
                </a:rPr>
                <a:t>1</a:t>
              </a:r>
              <a:r>
                <a:rPr lang="en-US" altLang="zh-CN" sz="1600">
                  <a:solidFill>
                    <a:srgbClr val="FF0000"/>
                  </a:solidFill>
                </a:rPr>
                <a:t> </a:t>
              </a:r>
              <a:endParaRPr lang="en-US" altLang="zh-CN" sz="2800" i="1">
                <a:solidFill>
                  <a:srgbClr val="FF3300"/>
                </a:solidFill>
                <a:latin typeface="Dutch801 Rm BT" pitchFamily="18" charset="0"/>
              </a:endParaRPr>
            </a:p>
          </p:txBody>
        </p:sp>
        <p:sp>
          <p:nvSpPr>
            <p:cNvPr id="24608" name="Text Box 131"/>
            <p:cNvSpPr txBox="1">
              <a:spLocks noChangeArrowheads="1"/>
            </p:cNvSpPr>
            <p:nvPr/>
          </p:nvSpPr>
          <p:spPr bwMode="auto">
            <a:xfrm>
              <a:off x="1769" y="1053"/>
              <a:ext cx="301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1600" i="1">
                  <a:solidFill>
                    <a:srgbClr val="FF3300"/>
                  </a:solidFill>
                  <a:latin typeface="Dutch801 Rm BT" pitchFamily="18" charset="0"/>
                </a:rPr>
                <a:t>C</a:t>
              </a:r>
              <a:r>
                <a:rPr lang="en-US" altLang="zh-CN" baseline="-25000">
                  <a:solidFill>
                    <a:srgbClr val="FF0000"/>
                  </a:solidFill>
                </a:rPr>
                <a:t>1</a:t>
              </a:r>
              <a:r>
                <a:rPr lang="en-US" altLang="zh-CN">
                  <a:solidFill>
                    <a:srgbClr val="FF0000"/>
                  </a:solidFill>
                </a:rPr>
                <a:t> </a:t>
              </a:r>
              <a:endParaRPr lang="en-US" altLang="zh-CN" sz="3200" i="1">
                <a:solidFill>
                  <a:srgbClr val="FF3300"/>
                </a:solidFill>
                <a:latin typeface="Dutch801 Rm BT" pitchFamily="18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61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1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1604169" y="551655"/>
            <a:ext cx="3672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轴测图投影特性</a:t>
            </a: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881189" y="2041525"/>
            <a:ext cx="24479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>
                <a:solidFill>
                  <a:schemeClr val="tx2"/>
                </a:solidFill>
                <a:latin typeface="宋体" pitchFamily="2" charset="-122"/>
                <a:sym typeface="Wingdings" pitchFamily="2" charset="2"/>
              </a:rPr>
              <a:t>★ </a:t>
            </a:r>
            <a:r>
              <a:rPr lang="zh-CN" altLang="en-US" sz="32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线性不变</a:t>
            </a:r>
            <a:endParaRPr lang="zh-CN" altLang="en-US" sz="3200">
              <a:solidFill>
                <a:schemeClr val="tx2"/>
              </a:solidFill>
              <a:latin typeface="宋体" pitchFamily="2" charset="-122"/>
              <a:sym typeface="Wingdings" pitchFamily="2" charset="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881188" y="3751436"/>
            <a:ext cx="3886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chemeClr val="tx2"/>
                </a:solidFill>
                <a:latin typeface="宋体" pitchFamily="2" charset="-122"/>
                <a:sym typeface="Wingdings" pitchFamily="2" charset="2"/>
              </a:rPr>
              <a:t>★ </a:t>
            </a:r>
            <a:r>
              <a:rPr lang="zh-CN" altLang="en-US" sz="3200" b="1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线段比值相等</a:t>
            </a:r>
            <a:endParaRPr lang="zh-CN" altLang="en-US" sz="3200" dirty="0">
              <a:solidFill>
                <a:schemeClr val="tx2"/>
              </a:solidFill>
              <a:latin typeface="宋体" pitchFamily="2" charset="-122"/>
              <a:sym typeface="Wingdings" pitchFamily="2" charset="2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881189" y="2898775"/>
            <a:ext cx="33750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3200">
                <a:solidFill>
                  <a:schemeClr val="tx2"/>
                </a:solidFill>
                <a:latin typeface="宋体" pitchFamily="2" charset="-122"/>
                <a:sym typeface="Wingdings" pitchFamily="2" charset="2"/>
              </a:rPr>
              <a:t>★ </a:t>
            </a:r>
            <a:r>
              <a:rPr lang="zh-CN" altLang="en-US" sz="3200" b="1">
                <a:solidFill>
                  <a:schemeClr val="tx2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平行性不变</a:t>
            </a:r>
            <a:endParaRPr lang="zh-CN" altLang="en-US" sz="3200">
              <a:solidFill>
                <a:schemeClr val="tx2"/>
              </a:solidFill>
              <a:latin typeface="宋体" pitchFamily="2" charset="-122"/>
              <a:sym typeface="Wingdings" pitchFamily="2" charset="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895885" y="4673646"/>
            <a:ext cx="28606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chemeClr val="tx2"/>
                </a:solidFill>
                <a:latin typeface="宋体" pitchFamily="2" charset="-122"/>
                <a:sym typeface="Wingdings" pitchFamily="2" charset="2"/>
              </a:rPr>
              <a:t>★ </a:t>
            </a:r>
            <a:r>
              <a:rPr lang="zh-CN" altLang="en-US" sz="3200" b="1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从属性不变</a:t>
            </a:r>
            <a:endParaRPr lang="zh-CN" altLang="en-US" sz="3200" dirty="0">
              <a:solidFill>
                <a:schemeClr val="tx2"/>
              </a:solidFill>
              <a:latin typeface="宋体" pitchFamily="2" charset="-122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21" name="Text Box 5"/>
          <p:cNvSpPr txBox="1">
            <a:spLocks noChangeArrowheads="1"/>
          </p:cNvSpPr>
          <p:nvPr/>
        </p:nvSpPr>
        <p:spPr bwMode="auto">
          <a:xfrm>
            <a:off x="2290762" y="1461296"/>
            <a:ext cx="3813175" cy="2062162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b="1">
                <a:solidFill>
                  <a:srgbClr val="FF0000"/>
                </a:solidFill>
                <a:latin typeface="宋体" pitchFamily="2" charset="-122"/>
              </a:rPr>
              <a:t>思考</a:t>
            </a:r>
            <a:r>
              <a:rPr lang="zh-CN" altLang="en-US" sz="3200">
                <a:latin typeface="宋体" pitchFamily="2" charset="-122"/>
              </a:rPr>
              <a:t>：物体上与坐标轴平行的直线，其轴测投影有何特性？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524626" y="2071688"/>
            <a:ext cx="3636963" cy="1077912"/>
            <a:chOff x="3168" y="2118"/>
            <a:chExt cx="1920" cy="679"/>
          </a:xfrm>
        </p:grpSpPr>
        <p:sp>
          <p:nvSpPr>
            <p:cNvPr id="26633" name="Text Box 8"/>
            <p:cNvSpPr txBox="1">
              <a:spLocks noChangeArrowheads="1"/>
            </p:cNvSpPr>
            <p:nvPr/>
          </p:nvSpPr>
          <p:spPr bwMode="auto">
            <a:xfrm>
              <a:off x="3686" y="2118"/>
              <a:ext cx="1402" cy="679"/>
            </a:xfrm>
            <a:prstGeom prst="rect">
              <a:avLst/>
            </a:prstGeom>
            <a:noFill/>
            <a:ln w="57150">
              <a:solidFill>
                <a:srgbClr val="FF0066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zh-CN" altLang="en-US" sz="3200">
                  <a:latin typeface="宋体" pitchFamily="2" charset="-122"/>
                </a:rPr>
                <a:t>平行于相应的轴测轴</a:t>
              </a:r>
            </a:p>
          </p:txBody>
        </p:sp>
        <p:sp>
          <p:nvSpPr>
            <p:cNvPr id="26634" name="AutoShape 9"/>
            <p:cNvSpPr>
              <a:spLocks noChangeArrowheads="1"/>
            </p:cNvSpPr>
            <p:nvPr/>
          </p:nvSpPr>
          <p:spPr bwMode="auto">
            <a:xfrm>
              <a:off x="3168" y="2303"/>
              <a:ext cx="480" cy="225"/>
            </a:xfrm>
            <a:prstGeom prst="notchedRightArrow">
              <a:avLst>
                <a:gd name="adj1" fmla="val 50000"/>
                <a:gd name="adj2" fmla="val 124998"/>
              </a:avLst>
            </a:prstGeom>
            <a:solidFill>
              <a:srgbClr val="99FF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62826" name="Text Box 10"/>
          <p:cNvSpPr txBox="1">
            <a:spLocks noChangeArrowheads="1"/>
          </p:cNvSpPr>
          <p:nvPr/>
        </p:nvSpPr>
        <p:spPr bwMode="auto">
          <a:xfrm>
            <a:off x="1635921" y="3546477"/>
            <a:ext cx="8060479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800" dirty="0">
                <a:latin typeface="宋体" pitchFamily="2" charset="-122"/>
              </a:rPr>
              <a:t>    </a:t>
            </a:r>
            <a:r>
              <a:rPr lang="zh-CN" altLang="en-US" sz="2800" dirty="0">
                <a:latin typeface="宋体" pitchFamily="2" charset="-122"/>
              </a:rPr>
              <a:t>凡是与坐标轴平行的线段，就可以在轴测图上</a:t>
            </a:r>
          </a:p>
          <a:p>
            <a:pPr eaLnBrk="1" hangingPunct="1"/>
            <a:r>
              <a:rPr lang="zh-CN" altLang="en-US" sz="2800" b="1" dirty="0">
                <a:solidFill>
                  <a:srgbClr val="FF3300"/>
                </a:solidFill>
                <a:latin typeface="宋体" pitchFamily="2" charset="-122"/>
              </a:rPr>
              <a:t>沿轴向进行度量和作图</a:t>
            </a:r>
            <a:r>
              <a:rPr lang="zh-CN" altLang="en-US" sz="2800" dirty="0">
                <a:latin typeface="宋体" pitchFamily="2" charset="-122"/>
              </a:rPr>
              <a:t>。</a:t>
            </a:r>
          </a:p>
        </p:txBody>
      </p:sp>
      <p:sp>
        <p:nvSpPr>
          <p:cNvPr id="162827" name="Text Box 11"/>
          <p:cNvSpPr txBox="1">
            <a:spLocks noChangeArrowheads="1"/>
          </p:cNvSpPr>
          <p:nvPr/>
        </p:nvSpPr>
        <p:spPr bwMode="auto">
          <a:xfrm>
            <a:off x="1918494" y="5066504"/>
            <a:ext cx="8551863" cy="13731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</a:rPr>
              <a:t>注意：</a:t>
            </a:r>
            <a:r>
              <a:rPr lang="zh-CN" altLang="en-US" sz="2800" dirty="0">
                <a:solidFill>
                  <a:srgbClr val="333399"/>
                </a:solidFill>
                <a:latin typeface="宋体" pitchFamily="2" charset="-122"/>
              </a:rPr>
              <a:t>与坐标轴不平行的线段</a:t>
            </a:r>
            <a:r>
              <a:rPr lang="zh-CN" altLang="en-US" sz="2800" dirty="0">
                <a:latin typeface="宋体" pitchFamily="2" charset="-122"/>
              </a:rPr>
              <a:t>其伸缩系数与之不同，</a:t>
            </a:r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      不能直接度量与绘制，</a:t>
            </a:r>
            <a:r>
              <a:rPr lang="zh-CN" altLang="en-US" sz="2800" dirty="0">
                <a:solidFill>
                  <a:srgbClr val="333399"/>
                </a:solidFill>
                <a:latin typeface="宋体" pitchFamily="2" charset="-122"/>
              </a:rPr>
              <a:t>只能根据端点坐标，作</a:t>
            </a:r>
          </a:p>
          <a:p>
            <a:pPr eaLnBrk="1" hangingPunct="1"/>
            <a:r>
              <a:rPr lang="zh-CN" altLang="en-US" sz="2800" dirty="0">
                <a:solidFill>
                  <a:srgbClr val="333399"/>
                </a:solidFill>
                <a:latin typeface="宋体" pitchFamily="2" charset="-122"/>
              </a:rPr>
              <a:t>      出两端点后连线绘制。</a:t>
            </a:r>
            <a:endParaRPr lang="zh-CN" altLang="en-US" sz="2800" dirty="0">
              <a:solidFill>
                <a:srgbClr val="FF3300"/>
              </a:solidFill>
              <a:latin typeface="宋体" pitchFamily="2" charset="-122"/>
            </a:endParaRP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381749" y="4286250"/>
            <a:ext cx="2493900" cy="584200"/>
            <a:chOff x="3909" y="2848"/>
            <a:chExt cx="1678" cy="368"/>
          </a:xfrm>
        </p:grpSpPr>
        <p:sp>
          <p:nvSpPr>
            <p:cNvPr id="26631" name="Text Box 13"/>
            <p:cNvSpPr txBox="1">
              <a:spLocks noChangeArrowheads="1"/>
            </p:cNvSpPr>
            <p:nvPr/>
          </p:nvSpPr>
          <p:spPr bwMode="auto">
            <a:xfrm>
              <a:off x="4358" y="2848"/>
              <a:ext cx="1229" cy="368"/>
            </a:xfrm>
            <a:prstGeom prst="rect">
              <a:avLst/>
            </a:prstGeom>
            <a:solidFill>
              <a:srgbClr val="FF3300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3200">
                  <a:solidFill>
                    <a:srgbClr val="FFFF00"/>
                  </a:solidFill>
                </a:rPr>
                <a:t>轴测含义</a:t>
              </a:r>
            </a:p>
          </p:txBody>
        </p:sp>
        <p:sp>
          <p:nvSpPr>
            <p:cNvPr id="26632" name="AutoShape 14"/>
            <p:cNvSpPr>
              <a:spLocks noChangeArrowheads="1"/>
            </p:cNvSpPr>
            <p:nvPr/>
          </p:nvSpPr>
          <p:spPr bwMode="auto">
            <a:xfrm>
              <a:off x="3909" y="2938"/>
              <a:ext cx="436" cy="118"/>
            </a:xfrm>
            <a:prstGeom prst="rightArrow">
              <a:avLst>
                <a:gd name="adj1" fmla="val 50000"/>
                <a:gd name="adj2" fmla="val 54962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1" name="Text Box 2">
            <a:extLst>
              <a:ext uri="{FF2B5EF4-FFF2-40B4-BE49-F238E27FC236}">
                <a16:creationId xmlns:a16="http://schemas.microsoft.com/office/drawing/2014/main" id="{CEF8A62E-8C34-4C83-9CD6-81842F06A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169" y="551655"/>
            <a:ext cx="36728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轴测图投影特性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6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6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1" grpId="0" animBg="1" autoUpdateAnimBg="0"/>
      <p:bldP spid="162826" grpId="0" autoUpdateAnimBg="0"/>
      <p:bldP spid="16282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1239484"/>
            <a:ext cx="7315200" cy="1000760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8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从下列选项中选择正确的选项。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029955" y="2786063"/>
            <a:ext cx="7511045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建立在物体上的坐标轴，在投影面上的投影叫轴测轴。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029955" y="364331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轴间角是轴测轴间的夹角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029955" y="4500563"/>
            <a:ext cx="7242509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凡是与坐标轴平行的线段，就可以在轴测图上沿轴向进行度量和作图</a:t>
            </a:r>
            <a:endParaRPr lang="zh-CN" altLang="en-US" sz="2600" b="1" dirty="0"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029955" y="535781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与坐标轴不平行的线段，也能直接度量与绘制</a:t>
            </a:r>
            <a:endParaRPr lang="zh-CN" altLang="en-US" sz="2600" b="1" dirty="0"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315580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315580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315580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315580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3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7100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1554510" y="438943"/>
            <a:ext cx="305724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4.</a:t>
            </a:r>
            <a:r>
              <a:rPr lang="zh-CN" altLang="en-US" sz="3200" dirty="0">
                <a:solidFill>
                  <a:schemeClr val="tx2"/>
                </a:solidFill>
                <a:latin typeface="黑体" pitchFamily="49" charset="-122"/>
                <a:ea typeface="黑体" pitchFamily="49" charset="-122"/>
              </a:rPr>
              <a:t>轴测图的分类</a:t>
            </a:r>
          </a:p>
        </p:txBody>
      </p:sp>
      <p:sp>
        <p:nvSpPr>
          <p:cNvPr id="163843" name="Text Box 3"/>
          <p:cNvSpPr txBox="1">
            <a:spLocks noChangeArrowheads="1"/>
          </p:cNvSpPr>
          <p:nvPr/>
        </p:nvSpPr>
        <p:spPr bwMode="auto">
          <a:xfrm>
            <a:off x="1714500" y="3429000"/>
            <a:ext cx="1270000" cy="528638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/>
              <a:t>轴测图</a:t>
            </a:r>
          </a:p>
        </p:txBody>
      </p:sp>
      <p:sp>
        <p:nvSpPr>
          <p:cNvPr id="163844" name="AutoShape 4"/>
          <p:cNvSpPr>
            <a:spLocks/>
          </p:cNvSpPr>
          <p:nvPr/>
        </p:nvSpPr>
        <p:spPr bwMode="auto">
          <a:xfrm>
            <a:off x="3065464" y="2287588"/>
            <a:ext cx="365125" cy="2894012"/>
          </a:xfrm>
          <a:prstGeom prst="leftBrace">
            <a:avLst>
              <a:gd name="adj1" fmla="val 127001"/>
              <a:gd name="adj2" fmla="val 50000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zh-CN">
              <a:solidFill>
                <a:schemeClr val="tx2"/>
              </a:solidFill>
            </a:endParaRPr>
          </a:p>
        </p:txBody>
      </p:sp>
      <p:sp>
        <p:nvSpPr>
          <p:cNvPr id="163845" name="AutoShape 5"/>
          <p:cNvSpPr>
            <a:spLocks noChangeArrowheads="1"/>
          </p:cNvSpPr>
          <p:nvPr/>
        </p:nvSpPr>
        <p:spPr bwMode="auto">
          <a:xfrm>
            <a:off x="3457575" y="1809750"/>
            <a:ext cx="1752600" cy="914400"/>
          </a:xfrm>
          <a:prstGeom prst="rightArrow">
            <a:avLst>
              <a:gd name="adj1" fmla="val 50000"/>
              <a:gd name="adj2" fmla="val 47917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 sz="2800"/>
              <a:t>正轴测图</a:t>
            </a:r>
          </a:p>
        </p:txBody>
      </p:sp>
      <p:sp>
        <p:nvSpPr>
          <p:cNvPr id="163846" name="Rectangle 6"/>
          <p:cNvSpPr>
            <a:spLocks noChangeArrowheads="1"/>
          </p:cNvSpPr>
          <p:nvPr/>
        </p:nvSpPr>
        <p:spPr bwMode="auto">
          <a:xfrm>
            <a:off x="7045326" y="1576388"/>
            <a:ext cx="3395663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 sz="2800">
                <a:solidFill>
                  <a:srgbClr val="FF0000"/>
                </a:solidFill>
                <a:latin typeface="宋体" pitchFamily="2" charset="-122"/>
              </a:rPr>
              <a:t>正等轴测图</a:t>
            </a:r>
            <a:r>
              <a:rPr lang="zh-CN" altLang="en-US" sz="2800">
                <a:latin typeface="宋体" pitchFamily="2" charset="-122"/>
              </a:rPr>
              <a:t> </a:t>
            </a:r>
            <a:r>
              <a:rPr lang="en-US" altLang="zh-CN" sz="2800"/>
              <a:t>p = q = r</a:t>
            </a:r>
          </a:p>
          <a:p>
            <a:pPr eaLnBrk="1" hangingPunct="1"/>
            <a:r>
              <a:rPr lang="zh-CN" altLang="en-US" sz="2800">
                <a:latin typeface="宋体" pitchFamily="2" charset="-122"/>
              </a:rPr>
              <a:t>正二轴测图 </a:t>
            </a:r>
            <a:r>
              <a:rPr lang="en-US" altLang="zh-CN" sz="2800"/>
              <a:t>p = r </a:t>
            </a:r>
            <a:r>
              <a:rPr lang="en-US" altLang="zh-CN" sz="2800">
                <a:sym typeface="Symbol" pitchFamily="18" charset="2"/>
              </a:rPr>
              <a:t> q</a:t>
            </a:r>
          </a:p>
          <a:p>
            <a:pPr eaLnBrk="1" hangingPunct="1"/>
            <a:r>
              <a:rPr lang="zh-CN" altLang="en-US" sz="2800">
                <a:latin typeface="宋体" pitchFamily="2" charset="-122"/>
                <a:sym typeface="Symbol" pitchFamily="18" charset="2"/>
              </a:rPr>
              <a:t>正三轴测图 </a:t>
            </a:r>
            <a:r>
              <a:rPr lang="en-US" altLang="zh-CN" sz="2800">
                <a:sym typeface="Symbol" pitchFamily="18" charset="2"/>
              </a:rPr>
              <a:t>p  q  r</a:t>
            </a:r>
          </a:p>
        </p:txBody>
      </p:sp>
      <p:sp>
        <p:nvSpPr>
          <p:cNvPr id="163847" name="AutoShape 7"/>
          <p:cNvSpPr>
            <a:spLocks noChangeArrowheads="1"/>
          </p:cNvSpPr>
          <p:nvPr/>
        </p:nvSpPr>
        <p:spPr bwMode="auto">
          <a:xfrm>
            <a:off x="3421063" y="4670425"/>
            <a:ext cx="1828800" cy="990600"/>
          </a:xfrm>
          <a:prstGeom prst="rightArrow">
            <a:avLst>
              <a:gd name="adj1" fmla="val 50000"/>
              <a:gd name="adj2" fmla="val 46154"/>
            </a:avLst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 sz="2800"/>
              <a:t>斜轴测图</a:t>
            </a:r>
          </a:p>
        </p:txBody>
      </p:sp>
      <p:sp>
        <p:nvSpPr>
          <p:cNvPr id="163848" name="Rectangle 8"/>
          <p:cNvSpPr>
            <a:spLocks noChangeArrowheads="1"/>
          </p:cNvSpPr>
          <p:nvPr/>
        </p:nvSpPr>
        <p:spPr bwMode="auto">
          <a:xfrm>
            <a:off x="7045326" y="4779963"/>
            <a:ext cx="3395663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 sz="2800">
                <a:latin typeface="宋体" pitchFamily="2" charset="-122"/>
              </a:rPr>
              <a:t>斜等轴测图 </a:t>
            </a:r>
            <a:r>
              <a:rPr lang="en-US" altLang="zh-CN" sz="2800"/>
              <a:t>p = q = r</a:t>
            </a:r>
          </a:p>
          <a:p>
            <a:pPr eaLnBrk="1" hangingPunct="1"/>
            <a:r>
              <a:rPr lang="zh-CN" altLang="en-US" sz="2800">
                <a:solidFill>
                  <a:srgbClr val="FF0000"/>
                </a:solidFill>
                <a:latin typeface="宋体" pitchFamily="2" charset="-122"/>
              </a:rPr>
              <a:t>斜二轴测图</a:t>
            </a:r>
            <a:r>
              <a:rPr lang="zh-CN" altLang="en-US" sz="2800">
                <a:latin typeface="宋体" pitchFamily="2" charset="-122"/>
              </a:rPr>
              <a:t> </a:t>
            </a:r>
            <a:r>
              <a:rPr lang="en-US" altLang="zh-CN" sz="2800"/>
              <a:t>p = r </a:t>
            </a:r>
            <a:r>
              <a:rPr lang="en-US" altLang="zh-CN" sz="2800">
                <a:sym typeface="Symbol" pitchFamily="18" charset="2"/>
              </a:rPr>
              <a:t> q</a:t>
            </a:r>
          </a:p>
          <a:p>
            <a:pPr eaLnBrk="1" hangingPunct="1"/>
            <a:r>
              <a:rPr lang="zh-CN" altLang="en-US" sz="2800">
                <a:latin typeface="宋体" pitchFamily="2" charset="-122"/>
                <a:sym typeface="Symbol" pitchFamily="18" charset="2"/>
              </a:rPr>
              <a:t>斜三轴测图 </a:t>
            </a:r>
            <a:r>
              <a:rPr lang="en-US" altLang="zh-CN" sz="2800">
                <a:sym typeface="Symbol" pitchFamily="18" charset="2"/>
              </a:rPr>
              <a:t>p  q  r</a:t>
            </a:r>
            <a:endParaRPr lang="en-US" altLang="zh-CN" sz="2800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219700" y="1201738"/>
            <a:ext cx="1752600" cy="2103231"/>
            <a:chOff x="1056" y="2640"/>
            <a:chExt cx="1104" cy="1514"/>
          </a:xfrm>
        </p:grpSpPr>
        <p:grpSp>
          <p:nvGrpSpPr>
            <p:cNvPr id="27678" name="Group 10"/>
            <p:cNvGrpSpPr>
              <a:grpSpLocks/>
            </p:cNvGrpSpPr>
            <p:nvPr/>
          </p:nvGrpSpPr>
          <p:grpSpPr bwMode="auto">
            <a:xfrm>
              <a:off x="1152" y="2640"/>
              <a:ext cx="1008" cy="1200"/>
              <a:chOff x="912" y="2683"/>
              <a:chExt cx="1248" cy="1445"/>
            </a:xfrm>
          </p:grpSpPr>
          <p:sp>
            <p:nvSpPr>
              <p:cNvPr id="27680" name="Line 11"/>
              <p:cNvSpPr>
                <a:spLocks noChangeShapeType="1"/>
              </p:cNvSpPr>
              <p:nvPr/>
            </p:nvSpPr>
            <p:spPr bwMode="auto">
              <a:xfrm flipH="1">
                <a:off x="912" y="2686"/>
                <a:ext cx="576" cy="33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1" name="Line 12"/>
              <p:cNvSpPr>
                <a:spLocks noChangeShapeType="1"/>
              </p:cNvSpPr>
              <p:nvPr/>
            </p:nvSpPr>
            <p:spPr bwMode="auto">
              <a:xfrm>
                <a:off x="912" y="3019"/>
                <a:ext cx="19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2" name="Line 13"/>
              <p:cNvSpPr>
                <a:spLocks noChangeShapeType="1"/>
              </p:cNvSpPr>
              <p:nvPr/>
            </p:nvSpPr>
            <p:spPr bwMode="auto">
              <a:xfrm>
                <a:off x="1488" y="2683"/>
                <a:ext cx="19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3" name="Line 14"/>
              <p:cNvSpPr>
                <a:spLocks noChangeShapeType="1"/>
              </p:cNvSpPr>
              <p:nvPr/>
            </p:nvSpPr>
            <p:spPr bwMode="auto">
              <a:xfrm flipV="1">
                <a:off x="1104" y="2783"/>
                <a:ext cx="576" cy="3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4" name="Line 15"/>
              <p:cNvSpPr>
                <a:spLocks noChangeShapeType="1"/>
              </p:cNvSpPr>
              <p:nvPr/>
            </p:nvSpPr>
            <p:spPr bwMode="auto">
              <a:xfrm>
                <a:off x="912" y="3019"/>
                <a:ext cx="0" cy="7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5" name="Line 16"/>
              <p:cNvSpPr>
                <a:spLocks noChangeShapeType="1"/>
              </p:cNvSpPr>
              <p:nvPr/>
            </p:nvSpPr>
            <p:spPr bwMode="auto">
              <a:xfrm>
                <a:off x="1104" y="3115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6" name="Line 17"/>
              <p:cNvSpPr>
                <a:spLocks noChangeShapeType="1"/>
              </p:cNvSpPr>
              <p:nvPr/>
            </p:nvSpPr>
            <p:spPr bwMode="auto">
              <a:xfrm>
                <a:off x="912" y="3739"/>
                <a:ext cx="672" cy="38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7" name="Line 18"/>
              <p:cNvSpPr>
                <a:spLocks noChangeShapeType="1"/>
              </p:cNvSpPr>
              <p:nvPr/>
            </p:nvSpPr>
            <p:spPr bwMode="auto">
              <a:xfrm>
                <a:off x="1104" y="3643"/>
                <a:ext cx="48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8" name="Line 19"/>
              <p:cNvSpPr>
                <a:spLocks noChangeShapeType="1"/>
              </p:cNvSpPr>
              <p:nvPr/>
            </p:nvSpPr>
            <p:spPr bwMode="auto">
              <a:xfrm>
                <a:off x="1584" y="3931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89" name="Line 20"/>
              <p:cNvSpPr>
                <a:spLocks noChangeShapeType="1"/>
              </p:cNvSpPr>
              <p:nvPr/>
            </p:nvSpPr>
            <p:spPr bwMode="auto">
              <a:xfrm flipV="1">
                <a:off x="1584" y="3595"/>
                <a:ext cx="576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0" name="Line 21"/>
              <p:cNvSpPr>
                <a:spLocks noChangeShapeType="1"/>
              </p:cNvSpPr>
              <p:nvPr/>
            </p:nvSpPr>
            <p:spPr bwMode="auto">
              <a:xfrm flipV="1">
                <a:off x="1584" y="3787"/>
                <a:ext cx="576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1" name="Line 22"/>
              <p:cNvSpPr>
                <a:spLocks noChangeShapeType="1"/>
              </p:cNvSpPr>
              <p:nvPr/>
            </p:nvSpPr>
            <p:spPr bwMode="auto">
              <a:xfrm flipV="1">
                <a:off x="2160" y="3595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2" name="Line 23"/>
              <p:cNvSpPr>
                <a:spLocks noChangeShapeType="1"/>
              </p:cNvSpPr>
              <p:nvPr/>
            </p:nvSpPr>
            <p:spPr bwMode="auto">
              <a:xfrm flipH="1" flipV="1">
                <a:off x="1680" y="3307"/>
                <a:ext cx="48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3" name="Line 24"/>
              <p:cNvSpPr>
                <a:spLocks noChangeShapeType="1"/>
              </p:cNvSpPr>
              <p:nvPr/>
            </p:nvSpPr>
            <p:spPr bwMode="auto">
              <a:xfrm>
                <a:off x="1680" y="2779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94" name="Line 25"/>
              <p:cNvSpPr>
                <a:spLocks noChangeShapeType="1"/>
              </p:cNvSpPr>
              <p:nvPr/>
            </p:nvSpPr>
            <p:spPr bwMode="auto">
              <a:xfrm flipV="1">
                <a:off x="1104" y="3307"/>
                <a:ext cx="576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79" name="Text Box 26"/>
            <p:cNvSpPr txBox="1">
              <a:spLocks noChangeArrowheads="1"/>
            </p:cNvSpPr>
            <p:nvPr/>
          </p:nvSpPr>
          <p:spPr bwMode="auto">
            <a:xfrm>
              <a:off x="1056" y="3888"/>
              <a:ext cx="843" cy="2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chemeClr val="tx2"/>
                  </a:solidFill>
                </a:rPr>
                <a:t>正等轴测图</a:t>
              </a:r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5329239" y="4486276"/>
            <a:ext cx="1600200" cy="1885310"/>
            <a:chOff x="3408" y="2832"/>
            <a:chExt cx="1008" cy="1329"/>
          </a:xfrm>
        </p:grpSpPr>
        <p:grpSp>
          <p:nvGrpSpPr>
            <p:cNvPr id="27661" name="Group 28"/>
            <p:cNvGrpSpPr>
              <a:grpSpLocks/>
            </p:cNvGrpSpPr>
            <p:nvPr/>
          </p:nvGrpSpPr>
          <p:grpSpPr bwMode="auto">
            <a:xfrm>
              <a:off x="3456" y="2832"/>
              <a:ext cx="960" cy="816"/>
              <a:chOff x="3456" y="2976"/>
              <a:chExt cx="1056" cy="1056"/>
            </a:xfrm>
          </p:grpSpPr>
          <p:sp>
            <p:nvSpPr>
              <p:cNvPr id="27663" name="Line 29"/>
              <p:cNvSpPr>
                <a:spLocks noChangeShapeType="1"/>
              </p:cNvSpPr>
              <p:nvPr/>
            </p:nvSpPr>
            <p:spPr bwMode="auto">
              <a:xfrm>
                <a:off x="3456" y="2976"/>
                <a:ext cx="0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4" name="Line 30"/>
              <p:cNvSpPr>
                <a:spLocks noChangeShapeType="1"/>
              </p:cNvSpPr>
              <p:nvPr/>
            </p:nvSpPr>
            <p:spPr bwMode="auto">
              <a:xfrm>
                <a:off x="3456" y="3744"/>
                <a:ext cx="288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5" name="Line 31"/>
              <p:cNvSpPr>
                <a:spLocks noChangeShapeType="1"/>
              </p:cNvSpPr>
              <p:nvPr/>
            </p:nvSpPr>
            <p:spPr bwMode="auto">
              <a:xfrm>
                <a:off x="3456" y="2976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6" name="Line 32"/>
              <p:cNvSpPr>
                <a:spLocks noChangeShapeType="1"/>
              </p:cNvSpPr>
              <p:nvPr/>
            </p:nvSpPr>
            <p:spPr bwMode="auto">
              <a:xfrm>
                <a:off x="3456" y="2976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7" name="Line 33"/>
              <p:cNvSpPr>
                <a:spLocks noChangeShapeType="1"/>
              </p:cNvSpPr>
              <p:nvPr/>
            </p:nvSpPr>
            <p:spPr bwMode="auto">
              <a:xfrm>
                <a:off x="3552" y="307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8" name="Line 34"/>
              <p:cNvSpPr>
                <a:spLocks noChangeShapeType="1"/>
              </p:cNvSpPr>
              <p:nvPr/>
            </p:nvSpPr>
            <p:spPr bwMode="auto">
              <a:xfrm>
                <a:off x="3552" y="3072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9" name="Line 35"/>
              <p:cNvSpPr>
                <a:spLocks noChangeShapeType="1"/>
              </p:cNvSpPr>
              <p:nvPr/>
            </p:nvSpPr>
            <p:spPr bwMode="auto">
              <a:xfrm>
                <a:off x="4224" y="2976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0" name="Line 36"/>
              <p:cNvSpPr>
                <a:spLocks noChangeShapeType="1"/>
              </p:cNvSpPr>
              <p:nvPr/>
            </p:nvSpPr>
            <p:spPr bwMode="auto">
              <a:xfrm>
                <a:off x="4320" y="3072"/>
                <a:ext cx="0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1" name="Line 37"/>
              <p:cNvSpPr>
                <a:spLocks noChangeShapeType="1"/>
              </p:cNvSpPr>
              <p:nvPr/>
            </p:nvSpPr>
            <p:spPr bwMode="auto">
              <a:xfrm>
                <a:off x="3744" y="4032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2" name="Line 38"/>
              <p:cNvSpPr>
                <a:spLocks noChangeShapeType="1"/>
              </p:cNvSpPr>
              <p:nvPr/>
            </p:nvSpPr>
            <p:spPr bwMode="auto">
              <a:xfrm flipV="1">
                <a:off x="3744" y="384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3" name="Line 39"/>
              <p:cNvSpPr>
                <a:spLocks noChangeShapeType="1"/>
              </p:cNvSpPr>
              <p:nvPr/>
            </p:nvSpPr>
            <p:spPr bwMode="auto">
              <a:xfrm>
                <a:off x="3744" y="3840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4" name="Line 40"/>
              <p:cNvSpPr>
                <a:spLocks noChangeShapeType="1"/>
              </p:cNvSpPr>
              <p:nvPr/>
            </p:nvSpPr>
            <p:spPr bwMode="auto">
              <a:xfrm flipH="1" flipV="1">
                <a:off x="3552" y="3648"/>
                <a:ext cx="192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5" name="Line 41"/>
              <p:cNvSpPr>
                <a:spLocks noChangeShapeType="1"/>
              </p:cNvSpPr>
              <p:nvPr/>
            </p:nvSpPr>
            <p:spPr bwMode="auto">
              <a:xfrm>
                <a:off x="3552" y="3648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6" name="Line 42"/>
              <p:cNvSpPr>
                <a:spLocks noChangeShapeType="1"/>
              </p:cNvSpPr>
              <p:nvPr/>
            </p:nvSpPr>
            <p:spPr bwMode="auto">
              <a:xfrm>
                <a:off x="4320" y="3648"/>
                <a:ext cx="192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7" name="Line 43"/>
              <p:cNvSpPr>
                <a:spLocks noChangeShapeType="1"/>
              </p:cNvSpPr>
              <p:nvPr/>
            </p:nvSpPr>
            <p:spPr bwMode="auto">
              <a:xfrm>
                <a:off x="4512" y="384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62" name="Text Box 44"/>
            <p:cNvSpPr txBox="1">
              <a:spLocks noChangeArrowheads="1"/>
            </p:cNvSpPr>
            <p:nvPr/>
          </p:nvSpPr>
          <p:spPr bwMode="auto">
            <a:xfrm>
              <a:off x="3408" y="3901"/>
              <a:ext cx="843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>
                  <a:solidFill>
                    <a:schemeClr val="tx2"/>
                  </a:solidFill>
                </a:rPr>
                <a:t>斜二轴测图</a:t>
              </a:r>
            </a:p>
          </p:txBody>
        </p:sp>
      </p:grpSp>
      <p:sp>
        <p:nvSpPr>
          <p:cNvPr id="45" name="Text Box 1028"/>
          <p:cNvSpPr txBox="1">
            <a:spLocks noChangeArrowheads="1"/>
          </p:cNvSpPr>
          <p:nvPr/>
        </p:nvSpPr>
        <p:spPr bwMode="auto">
          <a:xfrm>
            <a:off x="3394075" y="2516188"/>
            <a:ext cx="15700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>
                <a:solidFill>
                  <a:srgbClr val="FF3300"/>
                </a:solidFill>
                <a:latin typeface="宋体" pitchFamily="2" charset="-122"/>
              </a:rPr>
              <a:t>正投影法</a:t>
            </a:r>
            <a:endParaRPr lang="zh-CN" altLang="en-US" sz="24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46" name="Text Box 1029"/>
          <p:cNvSpPr txBox="1">
            <a:spLocks noChangeArrowheads="1"/>
          </p:cNvSpPr>
          <p:nvPr/>
        </p:nvSpPr>
        <p:spPr bwMode="auto">
          <a:xfrm>
            <a:off x="3394075" y="5473701"/>
            <a:ext cx="15700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>
                <a:solidFill>
                  <a:srgbClr val="FF3300"/>
                </a:solidFill>
                <a:latin typeface="宋体" pitchFamily="2" charset="-122"/>
              </a:rPr>
              <a:t>斜投影法</a:t>
            </a:r>
            <a:endParaRPr lang="zh-CN" altLang="en-US" sz="2400">
              <a:solidFill>
                <a:schemeClr val="tx2"/>
              </a:solidFill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6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3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163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1638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1638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1638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163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000"/>
                                        <p:tgtEl>
                                          <p:spTgt spid="1638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68" dur="500" autoRev="1" fill="hold"/>
                                        <p:tgtEl>
                                          <p:spTgt spid="163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9" dur="500" autoRev="1" fill="hold"/>
                                        <p:tgtEl>
                                          <p:spTgt spid="163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500" autoRev="1" fill="hold"/>
                                        <p:tgtEl>
                                          <p:spTgt spid="163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74" dur="500" autoRev="1" fill="hold"/>
                                        <p:tgtEl>
                                          <p:spTgt spid="163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5" dur="500" autoRev="1" fill="hold"/>
                                        <p:tgtEl>
                                          <p:spTgt spid="163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6" dur="500" autoRev="1" fill="hold"/>
                                        <p:tgtEl>
                                          <p:spTgt spid="1638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3" grpId="0" animBg="1" autoUpdateAnimBg="0"/>
      <p:bldP spid="163844" grpId="0" animBg="1" autoUpdateAnimBg="0"/>
      <p:bldP spid="163845" grpId="0" animBg="1" autoUpdateAnimBg="0"/>
      <p:bldP spid="163846" grpId="0" build="allAtOnce"/>
      <p:bldP spid="163847" grpId="0" animBg="1" autoUpdateAnimBg="0"/>
      <p:bldP spid="163848" grpId="0" build="allAtOnce"/>
      <p:bldP spid="45" grpId="0" autoUpdateAnimBg="0"/>
      <p:bldP spid="4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298700" y="1858963"/>
            <a:ext cx="43449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轴测图的三个概念</a:t>
            </a: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5080000" y="355948"/>
            <a:ext cx="182614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本讲小结</a:t>
            </a: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408238" y="4268788"/>
            <a:ext cx="253787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0070C0"/>
                </a:solidFill>
                <a:ea typeface="黑体" pitchFamily="49" charset="-122"/>
              </a:rPr>
              <a:t>四个投影特性 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5146773" y="3597699"/>
            <a:ext cx="16273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线性不变</a:t>
            </a:r>
            <a:endParaRPr lang="zh-CN" altLang="en-US" sz="2800" b="1">
              <a:solidFill>
                <a:srgbClr val="FF0000"/>
              </a:solidFill>
              <a:latin typeface="宋体" pitchFamily="2" charset="-122"/>
              <a:sym typeface="Wingdings" pitchFamily="2" charset="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116610" y="4650539"/>
            <a:ext cx="28114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线段比值相等</a:t>
            </a:r>
            <a:endParaRPr lang="zh-CN" altLang="en-US" sz="2800" b="1" dirty="0">
              <a:solidFill>
                <a:srgbClr val="FF0000"/>
              </a:solidFill>
              <a:latin typeface="宋体" pitchFamily="2" charset="-122"/>
              <a:sym typeface="Wingdings" pitchFamily="2" charset="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116610" y="4108874"/>
            <a:ext cx="24828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平行性不变</a:t>
            </a:r>
            <a:endParaRPr lang="zh-CN" altLang="en-US" sz="2800" b="1">
              <a:solidFill>
                <a:srgbClr val="FF0000"/>
              </a:solidFill>
              <a:latin typeface="宋体" pitchFamily="2" charset="-122"/>
              <a:sym typeface="Wingdings" pitchFamily="2" charset="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062636" y="5234739"/>
            <a:ext cx="19880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黑体" pitchFamily="49" charset="-122"/>
                <a:ea typeface="黑体" pitchFamily="49" charset="-122"/>
                <a:sym typeface="Wingdings" pitchFamily="2" charset="2"/>
              </a:rPr>
              <a:t>从属性不变</a:t>
            </a:r>
            <a:endParaRPr lang="zh-CN" altLang="en-US" sz="2800" b="1">
              <a:solidFill>
                <a:srgbClr val="FF0000"/>
              </a:solidFill>
              <a:latin typeface="宋体" pitchFamily="2" charset="-122"/>
              <a:sym typeface="Wingdings" pitchFamily="2" charset="2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5657941" y="1574444"/>
            <a:ext cx="3367087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b="1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轴测轴</a:t>
            </a:r>
            <a:endParaRPr lang="en-US" altLang="zh-CN" sz="2800" b="1">
              <a:solidFill>
                <a:srgbClr val="FF33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/>
            <a:r>
              <a:rPr lang="zh-CN" altLang="en-US" sz="2800" b="1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轴间角</a:t>
            </a:r>
            <a:endParaRPr lang="en-US" altLang="zh-CN" sz="2800" b="1">
              <a:solidFill>
                <a:srgbClr val="FF3300"/>
              </a:solidFill>
              <a:latin typeface="黑体" pitchFamily="49" charset="-122"/>
              <a:ea typeface="黑体" pitchFamily="49" charset="-122"/>
            </a:endParaRPr>
          </a:p>
          <a:p>
            <a:pPr eaLnBrk="1" hangingPunct="1"/>
            <a:r>
              <a:rPr lang="zh-CN" altLang="en-US" sz="2800" b="1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轴向伸缩系数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utoUpdateAnimBg="0"/>
      <p:bldP spid="6" grpId="0" autoUpdateAnimBg="0"/>
      <p:bldP spid="7" grpId="0" autoUpdateAnimBg="0"/>
      <p:bldP spid="8" grpId="0" autoUpdateAnimBg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4478440" y="495448"/>
            <a:ext cx="3799580" cy="58477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二、正等轴测图</a:t>
            </a:r>
          </a:p>
        </p:txBody>
      </p:sp>
      <p:sp>
        <p:nvSpPr>
          <p:cNvPr id="165891" name="Text Box 3"/>
          <p:cNvSpPr txBox="1">
            <a:spLocks noChangeArrowheads="1"/>
          </p:cNvSpPr>
          <p:nvPr/>
        </p:nvSpPr>
        <p:spPr bwMode="auto">
          <a:xfrm>
            <a:off x="1459338" y="1465138"/>
            <a:ext cx="44849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</a:rPr>
              <a:t>轴间角与轴向伸缩系数</a:t>
            </a:r>
          </a:p>
        </p:txBody>
      </p:sp>
      <p:sp>
        <p:nvSpPr>
          <p:cNvPr id="165892" name="Text Box 4"/>
          <p:cNvSpPr txBox="1">
            <a:spLocks noChangeArrowheads="1"/>
          </p:cNvSpPr>
          <p:nvPr/>
        </p:nvSpPr>
        <p:spPr bwMode="auto">
          <a:xfrm>
            <a:off x="1660992" y="4651367"/>
            <a:ext cx="52453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轴向</a:t>
            </a:r>
            <a:r>
              <a:rPr lang="zh-CN" altLang="zh-CN" sz="2800" dirty="0"/>
              <a:t>伸缩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系数：</a:t>
            </a:r>
            <a:r>
              <a:rPr lang="en-US" altLang="zh-CN" sz="2800" dirty="0"/>
              <a:t>p = q = r = 0.82 </a:t>
            </a:r>
            <a:endParaRPr lang="en-US" altLang="zh-CN" sz="2800" dirty="0">
              <a:sym typeface="Symbol" pitchFamily="18" charset="2"/>
            </a:endParaRPr>
          </a:p>
        </p:txBody>
      </p:sp>
      <p:sp>
        <p:nvSpPr>
          <p:cNvPr id="165893" name="Text Box 5"/>
          <p:cNvSpPr txBox="1">
            <a:spLocks noChangeArrowheads="1"/>
          </p:cNvSpPr>
          <p:nvPr/>
        </p:nvSpPr>
        <p:spPr bwMode="auto">
          <a:xfrm>
            <a:off x="1640746" y="3375681"/>
            <a:ext cx="6444393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轴间角：</a:t>
            </a:r>
          </a:p>
          <a:p>
            <a:pPr eaLnBrk="1" hangingPunct="1"/>
            <a:r>
              <a:rPr lang="zh-CN" altLang="en-US" sz="2800" dirty="0">
                <a:sym typeface="Symbol" pitchFamily="18" charset="2"/>
              </a:rPr>
              <a:t>    </a:t>
            </a:r>
            <a:r>
              <a:rPr lang="en-US" altLang="zh-CN" sz="2800" dirty="0">
                <a:latin typeface="宋体" pitchFamily="2" charset="-122"/>
                <a:sym typeface="Symbol" pitchFamily="18" charset="2"/>
              </a:rPr>
              <a:t>X</a:t>
            </a:r>
            <a:r>
              <a:rPr lang="en-US" altLang="zh-CN" sz="2800" baseline="-20000" dirty="0">
                <a:sym typeface="Wingdings" pitchFamily="2" charset="2"/>
              </a:rPr>
              <a:t>1</a:t>
            </a:r>
            <a:r>
              <a:rPr lang="en-US" altLang="zh-CN" sz="2800" dirty="0">
                <a:latin typeface="宋体" pitchFamily="2" charset="-122"/>
                <a:sym typeface="Symbol" pitchFamily="18" charset="2"/>
              </a:rPr>
              <a:t>O</a:t>
            </a:r>
            <a:r>
              <a:rPr lang="en-US" altLang="zh-CN" sz="2800" baseline="-20000" dirty="0">
                <a:sym typeface="Wingdings" pitchFamily="2" charset="2"/>
              </a:rPr>
              <a:t>1</a:t>
            </a:r>
            <a:r>
              <a:rPr lang="en-US" altLang="zh-CN" sz="2800" dirty="0">
                <a:latin typeface="宋体" pitchFamily="2" charset="-122"/>
                <a:sym typeface="Symbol" pitchFamily="18" charset="2"/>
              </a:rPr>
              <a:t>Y</a:t>
            </a:r>
            <a:r>
              <a:rPr lang="en-US" altLang="zh-CN" sz="2800" baseline="-20000" dirty="0">
                <a:sym typeface="Wingdings" pitchFamily="2" charset="2"/>
              </a:rPr>
              <a:t>1 </a:t>
            </a:r>
            <a:r>
              <a:rPr lang="en-US" altLang="zh-CN" sz="2800" dirty="0">
                <a:sym typeface="Symbol" pitchFamily="18" charset="2"/>
              </a:rPr>
              <a:t>=  </a:t>
            </a:r>
            <a:r>
              <a:rPr lang="en-US" altLang="zh-CN" sz="2800" dirty="0">
                <a:latin typeface="宋体" pitchFamily="2" charset="-122"/>
                <a:sym typeface="Symbol" pitchFamily="18" charset="2"/>
              </a:rPr>
              <a:t>X</a:t>
            </a:r>
            <a:r>
              <a:rPr lang="en-US" altLang="zh-CN" sz="2800" baseline="-20000" dirty="0">
                <a:sym typeface="Wingdings" pitchFamily="2" charset="2"/>
              </a:rPr>
              <a:t>1</a:t>
            </a:r>
            <a:r>
              <a:rPr lang="en-US" altLang="zh-CN" sz="2800" dirty="0">
                <a:latin typeface="宋体" pitchFamily="2" charset="-122"/>
                <a:sym typeface="Symbol" pitchFamily="18" charset="2"/>
              </a:rPr>
              <a:t>O</a:t>
            </a:r>
            <a:r>
              <a:rPr lang="en-US" altLang="zh-CN" sz="2800" baseline="-20000" dirty="0">
                <a:sym typeface="Wingdings" pitchFamily="2" charset="2"/>
              </a:rPr>
              <a:t>1</a:t>
            </a:r>
            <a:r>
              <a:rPr lang="en-US" altLang="zh-CN" sz="2800" dirty="0">
                <a:latin typeface="宋体" pitchFamily="2" charset="-122"/>
                <a:sym typeface="Symbol" pitchFamily="18" charset="2"/>
              </a:rPr>
              <a:t>Z</a:t>
            </a:r>
            <a:r>
              <a:rPr lang="en-US" altLang="zh-CN" sz="2800" baseline="-20000" dirty="0">
                <a:sym typeface="Wingdings" pitchFamily="2" charset="2"/>
              </a:rPr>
              <a:t>1 </a:t>
            </a:r>
            <a:r>
              <a:rPr lang="en-US" altLang="zh-CN" sz="2800" dirty="0">
                <a:sym typeface="Wingdings" pitchFamily="2" charset="2"/>
              </a:rPr>
              <a:t>= </a:t>
            </a:r>
            <a:r>
              <a:rPr lang="en-US" altLang="zh-CN" sz="2800" dirty="0">
                <a:sym typeface="Symbol" pitchFamily="18" charset="2"/>
              </a:rPr>
              <a:t></a:t>
            </a:r>
            <a:r>
              <a:rPr lang="en-US" altLang="zh-CN" sz="2800" dirty="0">
                <a:sym typeface="Wingdings" pitchFamily="2" charset="2"/>
              </a:rPr>
              <a:t> </a:t>
            </a:r>
            <a:r>
              <a:rPr lang="en-US" altLang="zh-CN" sz="2800" dirty="0">
                <a:latin typeface="宋体" pitchFamily="2" charset="-122"/>
                <a:sym typeface="Wingdings" pitchFamily="2" charset="2"/>
              </a:rPr>
              <a:t>Y</a:t>
            </a:r>
            <a:r>
              <a:rPr lang="en-US" altLang="zh-CN" sz="2800" baseline="-20000" dirty="0">
                <a:sym typeface="Wingdings" pitchFamily="2" charset="2"/>
              </a:rPr>
              <a:t>1</a:t>
            </a:r>
            <a:r>
              <a:rPr lang="en-US" altLang="zh-CN" sz="2800" dirty="0">
                <a:latin typeface="宋体" pitchFamily="2" charset="-122"/>
                <a:sym typeface="Wingdings" pitchFamily="2" charset="2"/>
              </a:rPr>
              <a:t>O</a:t>
            </a:r>
            <a:r>
              <a:rPr lang="en-US" altLang="zh-CN" sz="2800" baseline="-20000" dirty="0">
                <a:sym typeface="Wingdings" pitchFamily="2" charset="2"/>
              </a:rPr>
              <a:t>1</a:t>
            </a:r>
            <a:r>
              <a:rPr lang="en-US" altLang="zh-CN" sz="2800" dirty="0">
                <a:latin typeface="宋体" pitchFamily="2" charset="-122"/>
                <a:sym typeface="Wingdings" pitchFamily="2" charset="2"/>
              </a:rPr>
              <a:t>Z</a:t>
            </a:r>
            <a:r>
              <a:rPr lang="en-US" altLang="zh-CN" sz="2800" baseline="-20000" dirty="0">
                <a:sym typeface="Wingdings" pitchFamily="2" charset="2"/>
              </a:rPr>
              <a:t>1 </a:t>
            </a:r>
            <a:r>
              <a:rPr lang="en-US" altLang="zh-CN" sz="2800" dirty="0">
                <a:sym typeface="Wingdings" pitchFamily="2" charset="2"/>
              </a:rPr>
              <a:t>= </a:t>
            </a:r>
            <a:r>
              <a:rPr lang="en-US" altLang="zh-CN" sz="2800" dirty="0">
                <a:latin typeface="宋体" pitchFamily="2" charset="-122"/>
                <a:sym typeface="Wingdings" pitchFamily="2" charset="2"/>
              </a:rPr>
              <a:t>120°</a:t>
            </a:r>
            <a:endParaRPr lang="en-US" altLang="zh-CN" sz="2800" dirty="0">
              <a:sym typeface="Wingdings" pitchFamily="2" charset="2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081839" y="1311275"/>
            <a:ext cx="2566988" cy="2198688"/>
            <a:chOff x="902" y="1001"/>
            <a:chExt cx="1617" cy="1385"/>
          </a:xfrm>
        </p:grpSpPr>
        <p:sp>
          <p:nvSpPr>
            <p:cNvPr id="29704" name="Line 7"/>
            <p:cNvSpPr>
              <a:spLocks noChangeShapeType="1"/>
            </p:cNvSpPr>
            <p:nvPr/>
          </p:nvSpPr>
          <p:spPr bwMode="auto">
            <a:xfrm>
              <a:off x="1662" y="1275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5" name="Line 8"/>
            <p:cNvSpPr>
              <a:spLocks noChangeShapeType="1"/>
            </p:cNvSpPr>
            <p:nvPr/>
          </p:nvSpPr>
          <p:spPr bwMode="auto">
            <a:xfrm flipH="1">
              <a:off x="1134" y="1947"/>
              <a:ext cx="528" cy="30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6" name="Line 9"/>
            <p:cNvSpPr>
              <a:spLocks noChangeShapeType="1"/>
            </p:cNvSpPr>
            <p:nvPr/>
          </p:nvSpPr>
          <p:spPr bwMode="auto">
            <a:xfrm>
              <a:off x="1662" y="1947"/>
              <a:ext cx="624" cy="36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7" name="Text Box 10"/>
            <p:cNvSpPr txBox="1">
              <a:spLocks noChangeArrowheads="1"/>
            </p:cNvSpPr>
            <p:nvPr/>
          </p:nvSpPr>
          <p:spPr bwMode="auto">
            <a:xfrm>
              <a:off x="1566" y="1001"/>
              <a:ext cx="24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Z</a:t>
              </a:r>
              <a:r>
                <a:rPr lang="en-US" altLang="zh-CN" baseline="-20000"/>
                <a:t>1</a:t>
              </a:r>
              <a:endParaRPr lang="en-US" altLang="zh-CN"/>
            </a:p>
          </p:txBody>
        </p:sp>
        <p:sp>
          <p:nvSpPr>
            <p:cNvPr id="29708" name="Text Box 11"/>
            <p:cNvSpPr txBox="1">
              <a:spLocks noChangeArrowheads="1"/>
            </p:cNvSpPr>
            <p:nvPr/>
          </p:nvSpPr>
          <p:spPr bwMode="auto">
            <a:xfrm>
              <a:off x="902" y="2134"/>
              <a:ext cx="24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X</a:t>
              </a:r>
              <a:r>
                <a:rPr lang="en-US" altLang="zh-CN" baseline="-20000"/>
                <a:t>1</a:t>
              </a:r>
            </a:p>
          </p:txBody>
        </p:sp>
        <p:sp>
          <p:nvSpPr>
            <p:cNvPr id="29709" name="Text Box 12"/>
            <p:cNvSpPr txBox="1">
              <a:spLocks noChangeArrowheads="1"/>
            </p:cNvSpPr>
            <p:nvPr/>
          </p:nvSpPr>
          <p:spPr bwMode="auto">
            <a:xfrm>
              <a:off x="2276" y="2153"/>
              <a:ext cx="24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Y</a:t>
              </a:r>
              <a:r>
                <a:rPr lang="en-US" altLang="zh-CN" baseline="-20000"/>
                <a:t>1</a:t>
              </a:r>
            </a:p>
          </p:txBody>
        </p:sp>
        <p:sp>
          <p:nvSpPr>
            <p:cNvPr id="29710" name="Text Box 13"/>
            <p:cNvSpPr txBox="1">
              <a:spLocks noChangeArrowheads="1"/>
            </p:cNvSpPr>
            <p:nvPr/>
          </p:nvSpPr>
          <p:spPr bwMode="auto">
            <a:xfrm>
              <a:off x="1534" y="1896"/>
              <a:ext cx="24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O</a:t>
              </a:r>
              <a:r>
                <a:rPr lang="en-US" altLang="zh-CN" baseline="-20000"/>
                <a:t>1</a:t>
              </a:r>
            </a:p>
          </p:txBody>
        </p:sp>
      </p:grpSp>
      <p:sp>
        <p:nvSpPr>
          <p:cNvPr id="165902" name="Text Box 14"/>
          <p:cNvSpPr txBox="1">
            <a:spLocks noChangeArrowheads="1"/>
          </p:cNvSpPr>
          <p:nvPr/>
        </p:nvSpPr>
        <p:spPr bwMode="auto">
          <a:xfrm>
            <a:off x="1660992" y="5520219"/>
            <a:ext cx="536396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简化轴向</a:t>
            </a:r>
            <a:r>
              <a:rPr lang="zh-CN" altLang="zh-CN" sz="2800" dirty="0"/>
              <a:t>伸缩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系数：</a:t>
            </a:r>
            <a:r>
              <a:rPr lang="en-US" altLang="zh-CN" sz="2800" dirty="0"/>
              <a:t>p = q = r = 1</a:t>
            </a:r>
            <a:endParaRPr lang="en-US" altLang="zh-CN" sz="2800" dirty="0">
              <a:sym typeface="Symbol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5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5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autoUpdateAnimBg="0"/>
      <p:bldP spid="165892" grpId="0" autoUpdateAnimBg="0"/>
      <p:bldP spid="165893" grpId="0" autoUpdateAnimBg="0"/>
      <p:bldP spid="16590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73301" y="2687639"/>
            <a:ext cx="3448050" cy="3490913"/>
            <a:chOff x="472" y="1693"/>
            <a:chExt cx="2172" cy="2199"/>
          </a:xfrm>
        </p:grpSpPr>
        <p:sp>
          <p:nvSpPr>
            <p:cNvPr id="30806" name="Text Box 3"/>
            <p:cNvSpPr txBox="1">
              <a:spLocks noChangeArrowheads="1"/>
            </p:cNvSpPr>
            <p:nvPr/>
          </p:nvSpPr>
          <p:spPr bwMode="auto">
            <a:xfrm>
              <a:off x="1948" y="2859"/>
              <a:ext cx="24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r>
                <a:rPr lang="en-US" altLang="zh-CN">
                  <a:sym typeface="Symbol" pitchFamily="18" charset="2"/>
                </a:rPr>
                <a:t></a:t>
              </a:r>
            </a:p>
          </p:txBody>
        </p:sp>
        <p:sp>
          <p:nvSpPr>
            <p:cNvPr id="30807" name="Text Box 4"/>
            <p:cNvSpPr txBox="1">
              <a:spLocks noChangeArrowheads="1"/>
            </p:cNvSpPr>
            <p:nvPr/>
          </p:nvSpPr>
          <p:spPr bwMode="auto">
            <a:xfrm>
              <a:off x="1077" y="1693"/>
              <a:ext cx="20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s</a:t>
              </a:r>
              <a:r>
                <a:rPr lang="en-US" altLang="zh-CN">
                  <a:sym typeface="Symbol" pitchFamily="18" charset="2"/>
                </a:rPr>
                <a:t></a:t>
              </a:r>
              <a:endParaRPr lang="en-US" altLang="zh-CN">
                <a:sym typeface="CommercialPi BT" pitchFamily="18" charset="2"/>
              </a:endParaRPr>
            </a:p>
          </p:txBody>
        </p:sp>
        <p:sp>
          <p:nvSpPr>
            <p:cNvPr id="30808" name="Text Box 5"/>
            <p:cNvSpPr txBox="1">
              <a:spLocks noChangeArrowheads="1"/>
            </p:cNvSpPr>
            <p:nvPr/>
          </p:nvSpPr>
          <p:spPr bwMode="auto">
            <a:xfrm>
              <a:off x="2283" y="1707"/>
              <a:ext cx="22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s</a:t>
              </a:r>
              <a:r>
                <a:rPr lang="en-US" altLang="zh-CN">
                  <a:sym typeface="Symbol" pitchFamily="18" charset="2"/>
                </a:rPr>
                <a:t></a:t>
              </a:r>
              <a:endParaRPr lang="en-US" altLang="zh-CN">
                <a:sym typeface="CommercialPi BT" pitchFamily="18" charset="2"/>
              </a:endParaRPr>
            </a:p>
          </p:txBody>
        </p:sp>
        <p:sp>
          <p:nvSpPr>
            <p:cNvPr id="30809" name="Text Box 6"/>
            <p:cNvSpPr txBox="1">
              <a:spLocks noChangeArrowheads="1"/>
            </p:cNvSpPr>
            <p:nvPr/>
          </p:nvSpPr>
          <p:spPr bwMode="auto">
            <a:xfrm>
              <a:off x="608" y="2652"/>
              <a:ext cx="22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r>
                <a:rPr lang="en-US" altLang="zh-CN">
                  <a:sym typeface="Symbol" pitchFamily="18" charset="2"/>
                </a:rPr>
                <a:t></a:t>
              </a:r>
            </a:p>
          </p:txBody>
        </p:sp>
        <p:sp>
          <p:nvSpPr>
            <p:cNvPr id="30810" name="Text Box 7"/>
            <p:cNvSpPr txBox="1">
              <a:spLocks noChangeArrowheads="1"/>
            </p:cNvSpPr>
            <p:nvPr/>
          </p:nvSpPr>
          <p:spPr bwMode="auto">
            <a:xfrm>
              <a:off x="996" y="2667"/>
              <a:ext cx="22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r>
                <a:rPr lang="en-US" altLang="zh-CN">
                  <a:sym typeface="Symbol" pitchFamily="18" charset="2"/>
                </a:rPr>
                <a:t></a:t>
              </a:r>
            </a:p>
          </p:txBody>
        </p:sp>
        <p:sp>
          <p:nvSpPr>
            <p:cNvPr id="30811" name="Text Box 8"/>
            <p:cNvSpPr txBox="1">
              <a:spLocks noChangeArrowheads="1"/>
            </p:cNvSpPr>
            <p:nvPr/>
          </p:nvSpPr>
          <p:spPr bwMode="auto">
            <a:xfrm>
              <a:off x="1796" y="2681"/>
              <a:ext cx="2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r>
                <a:rPr lang="en-US" altLang="zh-CN">
                  <a:sym typeface="Symbol" pitchFamily="18" charset="2"/>
                </a:rPr>
                <a:t></a:t>
              </a:r>
            </a:p>
          </p:txBody>
        </p:sp>
        <p:sp>
          <p:nvSpPr>
            <p:cNvPr id="30812" name="Text Box 9"/>
            <p:cNvSpPr txBox="1">
              <a:spLocks noChangeArrowheads="1"/>
            </p:cNvSpPr>
            <p:nvPr/>
          </p:nvSpPr>
          <p:spPr bwMode="auto">
            <a:xfrm>
              <a:off x="2049" y="2667"/>
              <a:ext cx="2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r>
                <a:rPr lang="en-US" altLang="zh-CN">
                  <a:sym typeface="Symbol" pitchFamily="18" charset="2"/>
                </a:rPr>
                <a:t></a:t>
              </a:r>
            </a:p>
          </p:txBody>
        </p:sp>
        <p:sp>
          <p:nvSpPr>
            <p:cNvPr id="30813" name="Text Box 10"/>
            <p:cNvSpPr txBox="1">
              <a:spLocks noChangeArrowheads="1"/>
            </p:cNvSpPr>
            <p:nvPr/>
          </p:nvSpPr>
          <p:spPr bwMode="auto">
            <a:xfrm>
              <a:off x="2394" y="2660"/>
              <a:ext cx="25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r>
                <a:rPr lang="en-US" altLang="zh-CN">
                  <a:sym typeface="Symbol" pitchFamily="18" charset="2"/>
                </a:rPr>
                <a:t></a:t>
              </a:r>
            </a:p>
          </p:txBody>
        </p:sp>
        <p:sp>
          <p:nvSpPr>
            <p:cNvPr id="30814" name="Text Box 11"/>
            <p:cNvSpPr txBox="1">
              <a:spLocks noChangeArrowheads="1"/>
            </p:cNvSpPr>
            <p:nvPr/>
          </p:nvSpPr>
          <p:spPr bwMode="auto">
            <a:xfrm>
              <a:off x="1106" y="3261"/>
              <a:ext cx="17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s</a:t>
              </a:r>
              <a:endParaRPr lang="en-US" altLang="zh-CN"/>
            </a:p>
          </p:txBody>
        </p:sp>
        <p:sp>
          <p:nvSpPr>
            <p:cNvPr id="30815" name="Text Box 12"/>
            <p:cNvSpPr txBox="1">
              <a:spLocks noChangeArrowheads="1"/>
            </p:cNvSpPr>
            <p:nvPr/>
          </p:nvSpPr>
          <p:spPr bwMode="auto">
            <a:xfrm>
              <a:off x="472" y="2845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  <a:endParaRPr lang="en-US" altLang="zh-CN"/>
            </a:p>
          </p:txBody>
        </p:sp>
        <p:sp>
          <p:nvSpPr>
            <p:cNvPr id="30816" name="Text Box 13"/>
            <p:cNvSpPr txBox="1">
              <a:spLocks noChangeArrowheads="1"/>
            </p:cNvSpPr>
            <p:nvPr/>
          </p:nvSpPr>
          <p:spPr bwMode="auto">
            <a:xfrm>
              <a:off x="914" y="3659"/>
              <a:ext cx="19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30817" name="Text Box 14"/>
            <p:cNvSpPr txBox="1">
              <a:spLocks noChangeArrowheads="1"/>
            </p:cNvSpPr>
            <p:nvPr/>
          </p:nvSpPr>
          <p:spPr bwMode="auto">
            <a:xfrm>
              <a:off x="1683" y="2852"/>
              <a:ext cx="1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c</a:t>
              </a:r>
              <a:endParaRPr lang="en-US" altLang="zh-CN"/>
            </a:p>
          </p:txBody>
        </p:sp>
      </p:grp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2073275" y="2668588"/>
            <a:ext cx="3989388" cy="3276600"/>
            <a:chOff x="346" y="1340"/>
            <a:chExt cx="2513" cy="2064"/>
          </a:xfrm>
        </p:grpSpPr>
        <p:grpSp>
          <p:nvGrpSpPr>
            <p:cNvPr id="30789" name="Group 16"/>
            <p:cNvGrpSpPr>
              <a:grpSpLocks/>
            </p:cNvGrpSpPr>
            <p:nvPr/>
          </p:nvGrpSpPr>
          <p:grpSpPr bwMode="auto">
            <a:xfrm>
              <a:off x="346" y="1340"/>
              <a:ext cx="2513" cy="2064"/>
              <a:chOff x="190" y="1483"/>
              <a:chExt cx="2513" cy="2064"/>
            </a:xfrm>
          </p:grpSpPr>
          <p:sp>
            <p:nvSpPr>
              <p:cNvPr id="30797" name="Text Box 17"/>
              <p:cNvSpPr txBox="1">
                <a:spLocks noChangeArrowheads="1"/>
              </p:cNvSpPr>
              <p:nvPr/>
            </p:nvSpPr>
            <p:spPr bwMode="auto">
              <a:xfrm>
                <a:off x="1626" y="2789"/>
                <a:ext cx="18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>
                    <a:latin typeface="宋体" pitchFamily="2" charset="-122"/>
                  </a:rPr>
                  <a:t>O</a:t>
                </a:r>
                <a:endParaRPr lang="en-US" altLang="zh-CN"/>
              </a:p>
            </p:txBody>
          </p:sp>
          <p:sp>
            <p:nvSpPr>
              <p:cNvPr id="30798" name="Text Box 18"/>
              <p:cNvSpPr txBox="1">
                <a:spLocks noChangeArrowheads="1"/>
              </p:cNvSpPr>
              <p:nvPr/>
            </p:nvSpPr>
            <p:spPr bwMode="auto">
              <a:xfrm>
                <a:off x="1626" y="2625"/>
                <a:ext cx="18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>
                    <a:latin typeface="宋体" pitchFamily="2" charset="-122"/>
                  </a:rPr>
                  <a:t>O</a:t>
                </a:r>
                <a:endParaRPr lang="en-US" altLang="zh-CN"/>
              </a:p>
            </p:txBody>
          </p:sp>
          <p:sp>
            <p:nvSpPr>
              <p:cNvPr id="30799" name="Text Box 19"/>
              <p:cNvSpPr txBox="1">
                <a:spLocks noChangeArrowheads="1"/>
              </p:cNvSpPr>
              <p:nvPr/>
            </p:nvSpPr>
            <p:spPr bwMode="auto">
              <a:xfrm>
                <a:off x="1731" y="2555"/>
                <a:ext cx="188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>
                    <a:latin typeface="宋体" pitchFamily="2" charset="-122"/>
                  </a:rPr>
                  <a:t>O</a:t>
                </a:r>
                <a:endParaRPr lang="en-US" altLang="zh-CN"/>
              </a:p>
            </p:txBody>
          </p:sp>
          <p:sp>
            <p:nvSpPr>
              <p:cNvPr id="30800" name="Text Box 20"/>
              <p:cNvSpPr txBox="1">
                <a:spLocks noChangeArrowheads="1"/>
              </p:cNvSpPr>
              <p:nvPr/>
            </p:nvSpPr>
            <p:spPr bwMode="auto">
              <a:xfrm>
                <a:off x="190" y="2827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2000">
                    <a:latin typeface="宋体" pitchFamily="2" charset="-122"/>
                  </a:rPr>
                  <a:t>X</a:t>
                </a:r>
                <a:endParaRPr lang="en-US" altLang="zh-CN" sz="2000"/>
              </a:p>
            </p:txBody>
          </p:sp>
          <p:sp>
            <p:nvSpPr>
              <p:cNvPr id="30801" name="Text Box 21"/>
              <p:cNvSpPr txBox="1">
                <a:spLocks noChangeArrowheads="1"/>
              </p:cNvSpPr>
              <p:nvPr/>
            </p:nvSpPr>
            <p:spPr bwMode="auto">
              <a:xfrm>
                <a:off x="198" y="2477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2000">
                    <a:latin typeface="宋体" pitchFamily="2" charset="-122"/>
                  </a:rPr>
                  <a:t>X</a:t>
                </a:r>
                <a:endParaRPr lang="en-US" altLang="zh-CN" sz="2000"/>
              </a:p>
            </p:txBody>
          </p:sp>
          <p:sp>
            <p:nvSpPr>
              <p:cNvPr id="30802" name="Text Box 22"/>
              <p:cNvSpPr txBox="1">
                <a:spLocks noChangeArrowheads="1"/>
              </p:cNvSpPr>
              <p:nvPr/>
            </p:nvSpPr>
            <p:spPr bwMode="auto">
              <a:xfrm>
                <a:off x="1630" y="3297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2000">
                    <a:latin typeface="宋体" pitchFamily="2" charset="-122"/>
                  </a:rPr>
                  <a:t>Y</a:t>
                </a:r>
                <a:endParaRPr lang="en-US" altLang="zh-CN" sz="2000"/>
              </a:p>
            </p:txBody>
          </p:sp>
          <p:sp>
            <p:nvSpPr>
              <p:cNvPr id="30803" name="Text Box 23"/>
              <p:cNvSpPr txBox="1">
                <a:spLocks noChangeArrowheads="1"/>
              </p:cNvSpPr>
              <p:nvPr/>
            </p:nvSpPr>
            <p:spPr bwMode="auto">
              <a:xfrm>
                <a:off x="2507" y="2638"/>
                <a:ext cx="196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sz="2000">
                    <a:latin typeface="宋体" pitchFamily="2" charset="-122"/>
                  </a:rPr>
                  <a:t>Y</a:t>
                </a:r>
                <a:endParaRPr lang="en-US" altLang="zh-CN" sz="2000"/>
              </a:p>
            </p:txBody>
          </p:sp>
          <p:sp>
            <p:nvSpPr>
              <p:cNvPr id="30804" name="Text Box 24"/>
              <p:cNvSpPr txBox="1">
                <a:spLocks noChangeArrowheads="1"/>
              </p:cNvSpPr>
              <p:nvPr/>
            </p:nvSpPr>
            <p:spPr bwMode="auto">
              <a:xfrm>
                <a:off x="1488" y="1483"/>
                <a:ext cx="24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en-US" altLang="zh-CN" sz="2000">
                    <a:latin typeface="宋体" pitchFamily="2" charset="-122"/>
                  </a:rPr>
                  <a:t>Z</a:t>
                </a:r>
                <a:endParaRPr lang="en-US" altLang="zh-CN" sz="2000"/>
              </a:p>
            </p:txBody>
          </p:sp>
          <p:sp>
            <p:nvSpPr>
              <p:cNvPr id="30805" name="Text Box 25"/>
              <p:cNvSpPr txBox="1">
                <a:spLocks noChangeArrowheads="1"/>
              </p:cNvSpPr>
              <p:nvPr/>
            </p:nvSpPr>
            <p:spPr bwMode="auto">
              <a:xfrm>
                <a:off x="1824" y="1490"/>
                <a:ext cx="288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eaLnBrk="1" hangingPunct="1"/>
                <a:r>
                  <a:rPr lang="en-US" altLang="zh-CN" sz="2000">
                    <a:latin typeface="宋体" pitchFamily="2" charset="-122"/>
                  </a:rPr>
                  <a:t>Z</a:t>
                </a:r>
                <a:endParaRPr lang="en-US" altLang="zh-CN" sz="2000"/>
              </a:p>
            </p:txBody>
          </p:sp>
        </p:grpSp>
        <p:grpSp>
          <p:nvGrpSpPr>
            <p:cNvPr id="30790" name="Group 26"/>
            <p:cNvGrpSpPr>
              <a:grpSpLocks/>
            </p:cNvGrpSpPr>
            <p:nvPr/>
          </p:nvGrpSpPr>
          <p:grpSpPr bwMode="auto">
            <a:xfrm>
              <a:off x="386" y="1444"/>
              <a:ext cx="2465" cy="1814"/>
              <a:chOff x="386" y="1444"/>
              <a:chExt cx="2465" cy="1814"/>
            </a:xfrm>
          </p:grpSpPr>
          <p:sp>
            <p:nvSpPr>
              <p:cNvPr id="30791" name="Freeform 27"/>
              <p:cNvSpPr>
                <a:spLocks/>
              </p:cNvSpPr>
              <p:nvPr/>
            </p:nvSpPr>
            <p:spPr bwMode="auto">
              <a:xfrm>
                <a:off x="1822" y="1444"/>
                <a:ext cx="1" cy="1101"/>
              </a:xfrm>
              <a:custGeom>
                <a:avLst/>
                <a:gdLst>
                  <a:gd name="T0" fmla="*/ 0 w 1"/>
                  <a:gd name="T1" fmla="*/ 1101 h 1101"/>
                  <a:gd name="T2" fmla="*/ 0 w 1"/>
                  <a:gd name="T3" fmla="*/ 0 h 1101"/>
                  <a:gd name="T4" fmla="*/ 0 60000 65536"/>
                  <a:gd name="T5" fmla="*/ 0 60000 65536"/>
                  <a:gd name="T6" fmla="*/ 0 w 1"/>
                  <a:gd name="T7" fmla="*/ 0 h 1101"/>
                  <a:gd name="T8" fmla="*/ 1 w 1"/>
                  <a:gd name="T9" fmla="*/ 1101 h 110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01">
                    <a:moveTo>
                      <a:pt x="0" y="1101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33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92" name="Line 28"/>
              <p:cNvSpPr>
                <a:spLocks noChangeShapeType="1"/>
              </p:cNvSpPr>
              <p:nvPr/>
            </p:nvSpPr>
            <p:spPr bwMode="auto">
              <a:xfrm flipH="1">
                <a:off x="400" y="2541"/>
                <a:ext cx="1424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93" name="Line 29"/>
              <p:cNvSpPr>
                <a:spLocks noChangeShapeType="1"/>
              </p:cNvSpPr>
              <p:nvPr/>
            </p:nvSpPr>
            <p:spPr bwMode="auto">
              <a:xfrm flipH="1">
                <a:off x="386" y="2723"/>
                <a:ext cx="1424" cy="0"/>
              </a:xfrm>
              <a:prstGeom prst="line">
                <a:avLst/>
              </a:prstGeom>
              <a:noFill/>
              <a:ln w="9525">
                <a:solidFill>
                  <a:srgbClr val="33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94" name="Freeform 30"/>
              <p:cNvSpPr>
                <a:spLocks/>
              </p:cNvSpPr>
              <p:nvPr/>
            </p:nvSpPr>
            <p:spPr bwMode="auto">
              <a:xfrm>
                <a:off x="1808" y="2721"/>
                <a:ext cx="1" cy="537"/>
              </a:xfrm>
              <a:custGeom>
                <a:avLst/>
                <a:gdLst>
                  <a:gd name="T0" fmla="*/ 0 w 1"/>
                  <a:gd name="T1" fmla="*/ 0 h 537"/>
                  <a:gd name="T2" fmla="*/ 0 w 1"/>
                  <a:gd name="T3" fmla="*/ 537 h 537"/>
                  <a:gd name="T4" fmla="*/ 0 60000 65536"/>
                  <a:gd name="T5" fmla="*/ 0 60000 65536"/>
                  <a:gd name="T6" fmla="*/ 0 w 1"/>
                  <a:gd name="T7" fmla="*/ 0 h 537"/>
                  <a:gd name="T8" fmla="*/ 1 w 1"/>
                  <a:gd name="T9" fmla="*/ 537 h 53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537">
                    <a:moveTo>
                      <a:pt x="0" y="0"/>
                    </a:moveTo>
                    <a:lnTo>
                      <a:pt x="0" y="537"/>
                    </a:lnTo>
                  </a:path>
                </a:pathLst>
              </a:custGeom>
              <a:noFill/>
              <a:ln w="9525">
                <a:solidFill>
                  <a:srgbClr val="33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95" name="Freeform 31"/>
              <p:cNvSpPr>
                <a:spLocks/>
              </p:cNvSpPr>
              <p:nvPr/>
            </p:nvSpPr>
            <p:spPr bwMode="auto">
              <a:xfrm>
                <a:off x="2048" y="2545"/>
                <a:ext cx="803" cy="1"/>
              </a:xfrm>
              <a:custGeom>
                <a:avLst/>
                <a:gdLst>
                  <a:gd name="T0" fmla="*/ 0 w 803"/>
                  <a:gd name="T1" fmla="*/ 0 h 1"/>
                  <a:gd name="T2" fmla="*/ 803 w 803"/>
                  <a:gd name="T3" fmla="*/ 1 h 1"/>
                  <a:gd name="T4" fmla="*/ 0 60000 65536"/>
                  <a:gd name="T5" fmla="*/ 0 60000 65536"/>
                  <a:gd name="T6" fmla="*/ 0 w 803"/>
                  <a:gd name="T7" fmla="*/ 0 h 1"/>
                  <a:gd name="T8" fmla="*/ 803 w 80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03" h="1">
                    <a:moveTo>
                      <a:pt x="0" y="0"/>
                    </a:moveTo>
                    <a:lnTo>
                      <a:pt x="803" y="1"/>
                    </a:lnTo>
                  </a:path>
                </a:pathLst>
              </a:custGeom>
              <a:noFill/>
              <a:ln w="9525">
                <a:solidFill>
                  <a:srgbClr val="33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96" name="Freeform 32"/>
              <p:cNvSpPr>
                <a:spLocks/>
              </p:cNvSpPr>
              <p:nvPr/>
            </p:nvSpPr>
            <p:spPr bwMode="auto">
              <a:xfrm>
                <a:off x="2048" y="1486"/>
                <a:ext cx="1" cy="1059"/>
              </a:xfrm>
              <a:custGeom>
                <a:avLst/>
                <a:gdLst>
                  <a:gd name="T0" fmla="*/ 0 w 1"/>
                  <a:gd name="T1" fmla="*/ 1059 h 1059"/>
                  <a:gd name="T2" fmla="*/ 0 w 1"/>
                  <a:gd name="T3" fmla="*/ 0 h 1059"/>
                  <a:gd name="T4" fmla="*/ 0 60000 65536"/>
                  <a:gd name="T5" fmla="*/ 0 60000 65536"/>
                  <a:gd name="T6" fmla="*/ 0 w 1"/>
                  <a:gd name="T7" fmla="*/ 0 h 1059"/>
                  <a:gd name="T8" fmla="*/ 1 w 1"/>
                  <a:gd name="T9" fmla="*/ 1059 h 105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059">
                    <a:moveTo>
                      <a:pt x="0" y="1059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3333CC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2449513" y="1984376"/>
            <a:ext cx="5046662" cy="3862388"/>
            <a:chOff x="427" y="1052"/>
            <a:chExt cx="3179" cy="2433"/>
          </a:xfrm>
        </p:grpSpPr>
        <p:sp>
          <p:nvSpPr>
            <p:cNvPr id="30774" name="Text Box 34"/>
            <p:cNvSpPr txBox="1">
              <a:spLocks noChangeArrowheads="1"/>
            </p:cNvSpPr>
            <p:nvPr/>
          </p:nvSpPr>
          <p:spPr bwMode="auto">
            <a:xfrm>
              <a:off x="662" y="1052"/>
              <a:ext cx="294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800" dirty="0">
                  <a:latin typeface="宋体" pitchFamily="2" charset="-122"/>
                </a:rPr>
                <a:t>例</a:t>
              </a:r>
              <a:r>
                <a:rPr lang="en-US" altLang="zh-CN" sz="2800" dirty="0">
                  <a:latin typeface="宋体" pitchFamily="2" charset="-122"/>
                </a:rPr>
                <a:t>1</a:t>
              </a:r>
              <a:r>
                <a:rPr lang="zh-CN" altLang="en-US" sz="2800" dirty="0">
                  <a:latin typeface="宋体" pitchFamily="2" charset="-122"/>
                </a:rPr>
                <a:t>：画三棱锥的正等轴测图</a:t>
              </a:r>
              <a:endParaRPr lang="zh-CN" altLang="en-US" sz="2800" dirty="0"/>
            </a:p>
          </p:txBody>
        </p:sp>
        <p:grpSp>
          <p:nvGrpSpPr>
            <p:cNvPr id="30775" name="Group 35"/>
            <p:cNvGrpSpPr>
              <a:grpSpLocks/>
            </p:cNvGrpSpPr>
            <p:nvPr/>
          </p:nvGrpSpPr>
          <p:grpSpPr bwMode="auto">
            <a:xfrm>
              <a:off x="427" y="1694"/>
              <a:ext cx="2117" cy="1791"/>
              <a:chOff x="240" y="1310"/>
              <a:chExt cx="2117" cy="1791"/>
            </a:xfrm>
          </p:grpSpPr>
          <p:sp>
            <p:nvSpPr>
              <p:cNvPr id="30776" name="Line 36"/>
              <p:cNvSpPr>
                <a:spLocks noChangeShapeType="1"/>
              </p:cNvSpPr>
              <p:nvPr/>
            </p:nvSpPr>
            <p:spPr bwMode="auto">
              <a:xfrm>
                <a:off x="240" y="2479"/>
                <a:ext cx="12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77" name="Line 37"/>
              <p:cNvSpPr>
                <a:spLocks noChangeShapeType="1"/>
              </p:cNvSpPr>
              <p:nvPr/>
            </p:nvSpPr>
            <p:spPr bwMode="auto">
              <a:xfrm>
                <a:off x="240" y="2479"/>
                <a:ext cx="424" cy="62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78" name="Line 38"/>
              <p:cNvSpPr>
                <a:spLocks noChangeShapeType="1"/>
              </p:cNvSpPr>
              <p:nvPr/>
            </p:nvSpPr>
            <p:spPr bwMode="auto">
              <a:xfrm flipV="1">
                <a:off x="664" y="2479"/>
                <a:ext cx="808" cy="62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79" name="Line 39"/>
              <p:cNvSpPr>
                <a:spLocks noChangeShapeType="1"/>
              </p:cNvSpPr>
              <p:nvPr/>
            </p:nvSpPr>
            <p:spPr bwMode="auto">
              <a:xfrm>
                <a:off x="240" y="2297"/>
                <a:ext cx="12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0" name="Line 40"/>
              <p:cNvSpPr>
                <a:spLocks noChangeShapeType="1"/>
              </p:cNvSpPr>
              <p:nvPr/>
            </p:nvSpPr>
            <p:spPr bwMode="auto">
              <a:xfrm flipH="1">
                <a:off x="664" y="2735"/>
                <a:ext cx="154" cy="36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1" name="Line 41"/>
              <p:cNvSpPr>
                <a:spLocks noChangeShapeType="1"/>
              </p:cNvSpPr>
              <p:nvPr/>
            </p:nvSpPr>
            <p:spPr bwMode="auto">
              <a:xfrm flipV="1">
                <a:off x="818" y="2479"/>
                <a:ext cx="654" cy="25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2" name="Line 42"/>
              <p:cNvSpPr>
                <a:spLocks noChangeShapeType="1"/>
              </p:cNvSpPr>
              <p:nvPr/>
            </p:nvSpPr>
            <p:spPr bwMode="auto">
              <a:xfrm flipH="1" flipV="1">
                <a:off x="240" y="2479"/>
                <a:ext cx="578" cy="25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3" name="Line 43"/>
              <p:cNvSpPr>
                <a:spLocks noChangeShapeType="1"/>
              </p:cNvSpPr>
              <p:nvPr/>
            </p:nvSpPr>
            <p:spPr bwMode="auto">
              <a:xfrm flipH="1">
                <a:off x="240" y="1310"/>
                <a:ext cx="578" cy="98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4" name="Line 44"/>
              <p:cNvSpPr>
                <a:spLocks noChangeShapeType="1"/>
              </p:cNvSpPr>
              <p:nvPr/>
            </p:nvSpPr>
            <p:spPr bwMode="auto">
              <a:xfrm>
                <a:off x="818" y="1310"/>
                <a:ext cx="654" cy="98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5" name="Line 45"/>
              <p:cNvSpPr>
                <a:spLocks noChangeShapeType="1"/>
              </p:cNvSpPr>
              <p:nvPr/>
            </p:nvSpPr>
            <p:spPr bwMode="auto">
              <a:xfrm flipH="1">
                <a:off x="664" y="1310"/>
                <a:ext cx="154" cy="98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6" name="Line 46"/>
              <p:cNvSpPr>
                <a:spLocks noChangeShapeType="1"/>
              </p:cNvSpPr>
              <p:nvPr/>
            </p:nvSpPr>
            <p:spPr bwMode="auto">
              <a:xfrm rot="16200000" flipV="1">
                <a:off x="2030" y="1970"/>
                <a:ext cx="0" cy="65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7" name="Line 47"/>
              <p:cNvSpPr>
                <a:spLocks noChangeShapeType="1"/>
              </p:cNvSpPr>
              <p:nvPr/>
            </p:nvSpPr>
            <p:spPr bwMode="auto">
              <a:xfrm>
                <a:off x="1972" y="1310"/>
                <a:ext cx="385" cy="98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88" name="Line 48"/>
              <p:cNvSpPr>
                <a:spLocks noChangeShapeType="1"/>
              </p:cNvSpPr>
              <p:nvPr/>
            </p:nvSpPr>
            <p:spPr bwMode="auto">
              <a:xfrm flipH="1">
                <a:off x="1703" y="1310"/>
                <a:ext cx="269" cy="98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49"/>
          <p:cNvGrpSpPr>
            <a:grpSpLocks/>
          </p:cNvGrpSpPr>
          <p:nvPr/>
        </p:nvGrpSpPr>
        <p:grpSpPr bwMode="auto">
          <a:xfrm>
            <a:off x="5591175" y="3292475"/>
            <a:ext cx="3132138" cy="2616200"/>
            <a:chOff x="2406" y="1887"/>
            <a:chExt cx="1973" cy="1648"/>
          </a:xfrm>
        </p:grpSpPr>
        <p:sp>
          <p:nvSpPr>
            <p:cNvPr id="30766" name="Text Box 50"/>
            <p:cNvSpPr txBox="1">
              <a:spLocks noChangeArrowheads="1"/>
            </p:cNvSpPr>
            <p:nvPr/>
          </p:nvSpPr>
          <p:spPr bwMode="auto">
            <a:xfrm>
              <a:off x="2406" y="3302"/>
              <a:ext cx="24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X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grpSp>
          <p:nvGrpSpPr>
            <p:cNvPr id="30767" name="Group 51"/>
            <p:cNvGrpSpPr>
              <a:grpSpLocks/>
            </p:cNvGrpSpPr>
            <p:nvPr/>
          </p:nvGrpSpPr>
          <p:grpSpPr bwMode="auto">
            <a:xfrm>
              <a:off x="2453" y="1945"/>
              <a:ext cx="1737" cy="1401"/>
              <a:chOff x="2453" y="1945"/>
              <a:chExt cx="1737" cy="1401"/>
            </a:xfrm>
          </p:grpSpPr>
          <p:sp>
            <p:nvSpPr>
              <p:cNvPr id="30771" name="Line 52"/>
              <p:cNvSpPr>
                <a:spLocks noChangeShapeType="1"/>
              </p:cNvSpPr>
              <p:nvPr/>
            </p:nvSpPr>
            <p:spPr bwMode="auto">
              <a:xfrm>
                <a:off x="3492" y="1945"/>
                <a:ext cx="0" cy="827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72" name="Line 53"/>
              <p:cNvSpPr>
                <a:spLocks noChangeShapeType="1"/>
              </p:cNvSpPr>
              <p:nvPr/>
            </p:nvSpPr>
            <p:spPr bwMode="auto">
              <a:xfrm flipH="1">
                <a:off x="2453" y="2772"/>
                <a:ext cx="1039" cy="574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773" name="Line 54"/>
              <p:cNvSpPr>
                <a:spLocks noChangeShapeType="1"/>
              </p:cNvSpPr>
              <p:nvPr/>
            </p:nvSpPr>
            <p:spPr bwMode="auto">
              <a:xfrm>
                <a:off x="3492" y="2772"/>
                <a:ext cx="698" cy="385"/>
              </a:xfrm>
              <a:prstGeom prst="line">
                <a:avLst/>
              </a:prstGeom>
              <a:noFill/>
              <a:ln w="9525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0768" name="Text Box 55"/>
            <p:cNvSpPr txBox="1">
              <a:spLocks noChangeArrowheads="1"/>
            </p:cNvSpPr>
            <p:nvPr/>
          </p:nvSpPr>
          <p:spPr bwMode="auto">
            <a:xfrm>
              <a:off x="3384" y="2606"/>
              <a:ext cx="32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/>
                <a:t>  </a:t>
              </a:r>
              <a:r>
                <a:rPr lang="en-US" altLang="zh-CN">
                  <a:latin typeface="宋体" pitchFamily="2" charset="-122"/>
                </a:rPr>
                <a:t>O</a:t>
              </a:r>
              <a:r>
                <a:rPr lang="en-US" altLang="zh-CN" baseline="-25000"/>
                <a:t>1</a:t>
              </a:r>
              <a:endParaRPr lang="en-US" altLang="zh-CN" sz="1600"/>
            </a:p>
          </p:txBody>
        </p:sp>
        <p:sp>
          <p:nvSpPr>
            <p:cNvPr id="30769" name="Text Box 56"/>
            <p:cNvSpPr txBox="1">
              <a:spLocks noChangeArrowheads="1"/>
            </p:cNvSpPr>
            <p:nvPr/>
          </p:nvSpPr>
          <p:spPr bwMode="auto">
            <a:xfrm>
              <a:off x="4060" y="2922"/>
              <a:ext cx="31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Y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30770" name="Text Box 57"/>
            <p:cNvSpPr txBox="1">
              <a:spLocks noChangeArrowheads="1"/>
            </p:cNvSpPr>
            <p:nvPr/>
          </p:nvSpPr>
          <p:spPr bwMode="auto">
            <a:xfrm>
              <a:off x="3490" y="1887"/>
              <a:ext cx="24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Z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</p:grpSp>
      <p:grpSp>
        <p:nvGrpSpPr>
          <p:cNvPr id="10" name="Group 58"/>
          <p:cNvGrpSpPr>
            <a:grpSpLocks/>
          </p:cNvGrpSpPr>
          <p:nvPr/>
        </p:nvGrpSpPr>
        <p:grpSpPr bwMode="auto">
          <a:xfrm>
            <a:off x="2489200" y="4697413"/>
            <a:ext cx="4826000" cy="742950"/>
            <a:chOff x="452" y="2772"/>
            <a:chExt cx="3040" cy="468"/>
          </a:xfrm>
        </p:grpSpPr>
        <p:sp>
          <p:nvSpPr>
            <p:cNvPr id="30764" name="Freeform 59"/>
            <p:cNvSpPr>
              <a:spLocks/>
            </p:cNvSpPr>
            <p:nvPr/>
          </p:nvSpPr>
          <p:spPr bwMode="auto">
            <a:xfrm>
              <a:off x="452" y="2879"/>
              <a:ext cx="1214" cy="1"/>
            </a:xfrm>
            <a:custGeom>
              <a:avLst/>
              <a:gdLst>
                <a:gd name="T0" fmla="*/ 1214 w 1214"/>
                <a:gd name="T1" fmla="*/ 0 h 1"/>
                <a:gd name="T2" fmla="*/ 0 w 1214"/>
                <a:gd name="T3" fmla="*/ 0 h 1"/>
                <a:gd name="T4" fmla="*/ 0 60000 65536"/>
                <a:gd name="T5" fmla="*/ 0 60000 65536"/>
                <a:gd name="T6" fmla="*/ 0 w 1214"/>
                <a:gd name="T7" fmla="*/ 0 h 1"/>
                <a:gd name="T8" fmla="*/ 1214 w 121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14" h="1">
                  <a:moveTo>
                    <a:pt x="1214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65" name="Freeform 60"/>
            <p:cNvSpPr>
              <a:spLocks/>
            </p:cNvSpPr>
            <p:nvPr/>
          </p:nvSpPr>
          <p:spPr bwMode="auto">
            <a:xfrm>
              <a:off x="2635" y="2772"/>
              <a:ext cx="857" cy="468"/>
            </a:xfrm>
            <a:custGeom>
              <a:avLst/>
              <a:gdLst>
                <a:gd name="T0" fmla="*/ 25 w 1069"/>
                <a:gd name="T1" fmla="*/ 0 h 615"/>
                <a:gd name="T2" fmla="*/ 0 w 1069"/>
                <a:gd name="T3" fmla="*/ 6 h 615"/>
                <a:gd name="T4" fmla="*/ 0 60000 65536"/>
                <a:gd name="T5" fmla="*/ 0 60000 65536"/>
                <a:gd name="T6" fmla="*/ 0 w 1069"/>
                <a:gd name="T7" fmla="*/ 0 h 615"/>
                <a:gd name="T8" fmla="*/ 1069 w 1069"/>
                <a:gd name="T9" fmla="*/ 615 h 61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69" h="615">
                  <a:moveTo>
                    <a:pt x="1069" y="0"/>
                  </a:moveTo>
                  <a:lnTo>
                    <a:pt x="0" y="615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727" name="Text Box 61"/>
          <p:cNvSpPr txBox="1">
            <a:spLocks noChangeArrowheads="1"/>
          </p:cNvSpPr>
          <p:nvPr/>
        </p:nvSpPr>
        <p:spPr bwMode="auto">
          <a:xfrm>
            <a:off x="4268545" y="184227"/>
            <a:ext cx="3275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</a:rPr>
              <a:t> 正等轴测图画法</a:t>
            </a:r>
            <a:endParaRPr lang="zh-CN" altLang="en-US" sz="3200" b="1" dirty="0">
              <a:solidFill>
                <a:srgbClr val="FF3300"/>
              </a:solidFill>
              <a:latin typeface="宋体" pitchFamily="2" charset="-122"/>
            </a:endParaRPr>
          </a:p>
        </p:txBody>
      </p:sp>
      <p:sp>
        <p:nvSpPr>
          <p:cNvPr id="166974" name="Text Box 62"/>
          <p:cNvSpPr txBox="1">
            <a:spLocks noChangeArrowheads="1"/>
          </p:cNvSpPr>
          <p:nvPr/>
        </p:nvSpPr>
        <p:spPr bwMode="auto">
          <a:xfrm>
            <a:off x="1743869" y="1407646"/>
            <a:ext cx="18004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 dirty="0">
                <a:latin typeface="宋体" pitchFamily="2" charset="-122"/>
              </a:rPr>
              <a:t>⑴ </a:t>
            </a:r>
            <a:r>
              <a:rPr lang="zh-CN" altLang="en-US" sz="2800" b="1" dirty="0">
                <a:latin typeface="宋体" pitchFamily="2" charset="-122"/>
              </a:rPr>
              <a:t>坐标法</a:t>
            </a:r>
          </a:p>
        </p:txBody>
      </p:sp>
      <p:sp>
        <p:nvSpPr>
          <p:cNvPr id="166975" name="Freeform 63"/>
          <p:cNvSpPr>
            <a:spLocks/>
          </p:cNvSpPr>
          <p:nvPr/>
        </p:nvSpPr>
        <p:spPr bwMode="auto">
          <a:xfrm>
            <a:off x="6299201" y="4676776"/>
            <a:ext cx="1031875" cy="582613"/>
          </a:xfrm>
          <a:custGeom>
            <a:avLst/>
            <a:gdLst>
              <a:gd name="T0" fmla="*/ 2147483647 w 650"/>
              <a:gd name="T1" fmla="*/ 0 h 367"/>
              <a:gd name="T2" fmla="*/ 0 w 650"/>
              <a:gd name="T3" fmla="*/ 2147483647 h 367"/>
              <a:gd name="T4" fmla="*/ 0 60000 65536"/>
              <a:gd name="T5" fmla="*/ 0 60000 65536"/>
              <a:gd name="T6" fmla="*/ 0 w 650"/>
              <a:gd name="T7" fmla="*/ 0 h 367"/>
              <a:gd name="T8" fmla="*/ 650 w 650"/>
              <a:gd name="T9" fmla="*/ 367 h 36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0" h="367">
                <a:moveTo>
                  <a:pt x="650" y="0"/>
                </a:moveTo>
                <a:lnTo>
                  <a:pt x="0" y="367"/>
                </a:lnTo>
              </a:path>
            </a:pathLst>
          </a:custGeom>
          <a:noFill/>
          <a:ln w="1905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76" name="Freeform 64"/>
          <p:cNvSpPr>
            <a:spLocks/>
          </p:cNvSpPr>
          <p:nvPr/>
        </p:nvSpPr>
        <p:spPr bwMode="auto">
          <a:xfrm>
            <a:off x="4410075" y="3000375"/>
            <a:ext cx="1588" cy="1568450"/>
          </a:xfrm>
          <a:custGeom>
            <a:avLst/>
            <a:gdLst>
              <a:gd name="T0" fmla="*/ 0 w 1"/>
              <a:gd name="T1" fmla="*/ 2147483647 h 988"/>
              <a:gd name="T2" fmla="*/ 0 w 1"/>
              <a:gd name="T3" fmla="*/ 0 h 988"/>
              <a:gd name="T4" fmla="*/ 0 60000 65536"/>
              <a:gd name="T5" fmla="*/ 0 60000 65536"/>
              <a:gd name="T6" fmla="*/ 0 w 1"/>
              <a:gd name="T7" fmla="*/ 0 h 988"/>
              <a:gd name="T8" fmla="*/ 1 w 1"/>
              <a:gd name="T9" fmla="*/ 988 h 98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988">
                <a:moveTo>
                  <a:pt x="0" y="98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rgbClr val="EF11D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77" name="Line 65"/>
          <p:cNvSpPr>
            <a:spLocks noChangeShapeType="1"/>
          </p:cNvSpPr>
          <p:nvPr/>
        </p:nvSpPr>
        <p:spPr bwMode="auto">
          <a:xfrm rot="10800000" flipV="1">
            <a:off x="3371850" y="4859338"/>
            <a:ext cx="0" cy="406400"/>
          </a:xfrm>
          <a:prstGeom prst="line">
            <a:avLst/>
          </a:prstGeom>
          <a:noFill/>
          <a:ln w="38100">
            <a:solidFill>
              <a:srgbClr val="EF11D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78" name="Freeform 66"/>
          <p:cNvSpPr>
            <a:spLocks/>
          </p:cNvSpPr>
          <p:nvPr/>
        </p:nvSpPr>
        <p:spPr bwMode="auto">
          <a:xfrm>
            <a:off x="3363913" y="4862514"/>
            <a:ext cx="1016000" cy="3175"/>
          </a:xfrm>
          <a:custGeom>
            <a:avLst/>
            <a:gdLst>
              <a:gd name="T0" fmla="*/ 0 w 640"/>
              <a:gd name="T1" fmla="*/ 2147483647 h 2"/>
              <a:gd name="T2" fmla="*/ 2147483647 w 640"/>
              <a:gd name="T3" fmla="*/ 0 h 2"/>
              <a:gd name="T4" fmla="*/ 0 60000 65536"/>
              <a:gd name="T5" fmla="*/ 0 60000 65536"/>
              <a:gd name="T6" fmla="*/ 0 w 640"/>
              <a:gd name="T7" fmla="*/ 0 h 2"/>
              <a:gd name="T8" fmla="*/ 640 w 640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40" h="2">
                <a:moveTo>
                  <a:pt x="0" y="2"/>
                </a:moveTo>
                <a:lnTo>
                  <a:pt x="640" y="0"/>
                </a:lnTo>
              </a:path>
            </a:pathLst>
          </a:custGeom>
          <a:noFill/>
          <a:ln w="38100">
            <a:solidFill>
              <a:srgbClr val="EF11D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79" name="Line 67"/>
          <p:cNvSpPr>
            <a:spLocks noChangeShapeType="1"/>
          </p:cNvSpPr>
          <p:nvPr/>
        </p:nvSpPr>
        <p:spPr bwMode="auto">
          <a:xfrm>
            <a:off x="3295650" y="3003550"/>
            <a:ext cx="18938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0" name="Freeform 68"/>
          <p:cNvSpPr>
            <a:spLocks/>
          </p:cNvSpPr>
          <p:nvPr/>
        </p:nvSpPr>
        <p:spPr bwMode="auto">
          <a:xfrm>
            <a:off x="6886576" y="3727451"/>
            <a:ext cx="4763" cy="1611313"/>
          </a:xfrm>
          <a:custGeom>
            <a:avLst/>
            <a:gdLst>
              <a:gd name="T0" fmla="*/ 2147483647 w 3"/>
              <a:gd name="T1" fmla="*/ 2147483647 h 1015"/>
              <a:gd name="T2" fmla="*/ 0 w 3"/>
              <a:gd name="T3" fmla="*/ 0 h 1015"/>
              <a:gd name="T4" fmla="*/ 0 60000 65536"/>
              <a:gd name="T5" fmla="*/ 0 60000 65536"/>
              <a:gd name="T6" fmla="*/ 0 w 3"/>
              <a:gd name="T7" fmla="*/ 0 h 1015"/>
              <a:gd name="T8" fmla="*/ 3 w 3"/>
              <a:gd name="T9" fmla="*/ 1015 h 10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1015">
                <a:moveTo>
                  <a:pt x="3" y="101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EF11D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1" name="Freeform 69"/>
          <p:cNvSpPr>
            <a:spLocks/>
          </p:cNvSpPr>
          <p:nvPr/>
        </p:nvSpPr>
        <p:spPr bwMode="auto">
          <a:xfrm>
            <a:off x="6511926" y="4687889"/>
            <a:ext cx="803275" cy="452437"/>
          </a:xfrm>
          <a:custGeom>
            <a:avLst/>
            <a:gdLst>
              <a:gd name="T0" fmla="*/ 2147483647 w 632"/>
              <a:gd name="T1" fmla="*/ 0 h 375"/>
              <a:gd name="T2" fmla="*/ 0 w 632"/>
              <a:gd name="T3" fmla="*/ 2147483647 h 375"/>
              <a:gd name="T4" fmla="*/ 0 60000 65536"/>
              <a:gd name="T5" fmla="*/ 0 60000 65536"/>
              <a:gd name="T6" fmla="*/ 0 w 632"/>
              <a:gd name="T7" fmla="*/ 0 h 375"/>
              <a:gd name="T8" fmla="*/ 632 w 632"/>
              <a:gd name="T9" fmla="*/ 375 h 37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32" h="375">
                <a:moveTo>
                  <a:pt x="632" y="0"/>
                </a:moveTo>
                <a:lnTo>
                  <a:pt x="0" y="375"/>
                </a:lnTo>
              </a:path>
            </a:pathLst>
          </a:custGeom>
          <a:noFill/>
          <a:ln w="19050">
            <a:solidFill>
              <a:srgbClr val="EF11D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2" name="Freeform 70"/>
          <p:cNvSpPr>
            <a:spLocks/>
          </p:cNvSpPr>
          <p:nvPr/>
        </p:nvSpPr>
        <p:spPr bwMode="auto">
          <a:xfrm>
            <a:off x="6267450" y="5260975"/>
            <a:ext cx="774700" cy="412750"/>
          </a:xfrm>
          <a:custGeom>
            <a:avLst/>
            <a:gdLst>
              <a:gd name="T0" fmla="*/ 0 w 488"/>
              <a:gd name="T1" fmla="*/ 0 h 260"/>
              <a:gd name="T2" fmla="*/ 2147483647 w 488"/>
              <a:gd name="T3" fmla="*/ 2147483647 h 260"/>
              <a:gd name="T4" fmla="*/ 0 60000 65536"/>
              <a:gd name="T5" fmla="*/ 0 60000 65536"/>
              <a:gd name="T6" fmla="*/ 0 w 488"/>
              <a:gd name="T7" fmla="*/ 0 h 260"/>
              <a:gd name="T8" fmla="*/ 488 w 488"/>
              <a:gd name="T9" fmla="*/ 260 h 26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88" h="260">
                <a:moveTo>
                  <a:pt x="0" y="0"/>
                </a:moveTo>
                <a:lnTo>
                  <a:pt x="488" y="260"/>
                </a:lnTo>
              </a:path>
            </a:pathLst>
          </a:custGeom>
          <a:noFill/>
          <a:ln w="1905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3" name="Freeform 71"/>
          <p:cNvSpPr>
            <a:spLocks/>
          </p:cNvSpPr>
          <p:nvPr/>
        </p:nvSpPr>
        <p:spPr bwMode="auto">
          <a:xfrm>
            <a:off x="6521450" y="5149850"/>
            <a:ext cx="369888" cy="177800"/>
          </a:xfrm>
          <a:custGeom>
            <a:avLst/>
            <a:gdLst>
              <a:gd name="T0" fmla="*/ 0 w 233"/>
              <a:gd name="T1" fmla="*/ 0 h 112"/>
              <a:gd name="T2" fmla="*/ 2147483647 w 233"/>
              <a:gd name="T3" fmla="*/ 2147483647 h 112"/>
              <a:gd name="T4" fmla="*/ 0 60000 65536"/>
              <a:gd name="T5" fmla="*/ 0 60000 65536"/>
              <a:gd name="T6" fmla="*/ 0 w 233"/>
              <a:gd name="T7" fmla="*/ 0 h 112"/>
              <a:gd name="T8" fmla="*/ 233 w 233"/>
              <a:gd name="T9" fmla="*/ 112 h 11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33" h="112">
                <a:moveTo>
                  <a:pt x="0" y="0"/>
                </a:moveTo>
                <a:lnTo>
                  <a:pt x="233" y="112"/>
                </a:lnTo>
              </a:path>
            </a:pathLst>
          </a:custGeom>
          <a:noFill/>
          <a:ln w="19050">
            <a:solidFill>
              <a:srgbClr val="EF11D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4" name="Freeform 72"/>
          <p:cNvSpPr>
            <a:spLocks/>
          </p:cNvSpPr>
          <p:nvPr/>
        </p:nvSpPr>
        <p:spPr bwMode="auto">
          <a:xfrm>
            <a:off x="7038976" y="4670426"/>
            <a:ext cx="276225" cy="969963"/>
          </a:xfrm>
          <a:custGeom>
            <a:avLst/>
            <a:gdLst>
              <a:gd name="T0" fmla="*/ 0 w 174"/>
              <a:gd name="T1" fmla="*/ 2147483647 h 611"/>
              <a:gd name="T2" fmla="*/ 2147483647 w 174"/>
              <a:gd name="T3" fmla="*/ 0 h 611"/>
              <a:gd name="T4" fmla="*/ 0 60000 65536"/>
              <a:gd name="T5" fmla="*/ 0 60000 65536"/>
              <a:gd name="T6" fmla="*/ 0 w 174"/>
              <a:gd name="T7" fmla="*/ 0 h 611"/>
              <a:gd name="T8" fmla="*/ 174 w 174"/>
              <a:gd name="T9" fmla="*/ 611 h 61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74" h="611">
                <a:moveTo>
                  <a:pt x="0" y="611"/>
                </a:moveTo>
                <a:lnTo>
                  <a:pt x="174" y="0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6985" name="Freeform 73"/>
          <p:cNvSpPr>
            <a:spLocks/>
          </p:cNvSpPr>
          <p:nvPr/>
        </p:nvSpPr>
        <p:spPr bwMode="auto">
          <a:xfrm>
            <a:off x="5962651" y="5437189"/>
            <a:ext cx="1076325" cy="255587"/>
          </a:xfrm>
          <a:custGeom>
            <a:avLst/>
            <a:gdLst>
              <a:gd name="T0" fmla="*/ 0 w 678"/>
              <a:gd name="T1" fmla="*/ 0 h 161"/>
              <a:gd name="T2" fmla="*/ 2147483647 w 678"/>
              <a:gd name="T3" fmla="*/ 2147483647 h 161"/>
              <a:gd name="T4" fmla="*/ 0 60000 65536"/>
              <a:gd name="T5" fmla="*/ 0 60000 65536"/>
              <a:gd name="T6" fmla="*/ 0 w 678"/>
              <a:gd name="T7" fmla="*/ 0 h 161"/>
              <a:gd name="T8" fmla="*/ 678 w 678"/>
              <a:gd name="T9" fmla="*/ 161 h 16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78" h="161">
                <a:moveTo>
                  <a:pt x="0" y="0"/>
                </a:moveTo>
                <a:lnTo>
                  <a:pt x="678" y="161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74"/>
          <p:cNvGrpSpPr>
            <a:grpSpLocks/>
          </p:cNvGrpSpPr>
          <p:nvPr/>
        </p:nvGrpSpPr>
        <p:grpSpPr bwMode="auto">
          <a:xfrm>
            <a:off x="8615364" y="3857626"/>
            <a:ext cx="1368425" cy="1922463"/>
            <a:chOff x="4476" y="1892"/>
            <a:chExt cx="862" cy="1211"/>
          </a:xfrm>
        </p:grpSpPr>
        <p:sp>
          <p:nvSpPr>
            <p:cNvPr id="30759" name="Freeform 75"/>
            <p:cNvSpPr>
              <a:spLocks/>
            </p:cNvSpPr>
            <p:nvPr/>
          </p:nvSpPr>
          <p:spPr bwMode="auto">
            <a:xfrm>
              <a:off x="5058" y="1906"/>
              <a:ext cx="96" cy="1197"/>
            </a:xfrm>
            <a:custGeom>
              <a:avLst/>
              <a:gdLst>
                <a:gd name="T0" fmla="*/ 0 w 96"/>
                <a:gd name="T1" fmla="*/ 0 h 1197"/>
                <a:gd name="T2" fmla="*/ 96 w 96"/>
                <a:gd name="T3" fmla="*/ 1197 h 1197"/>
                <a:gd name="T4" fmla="*/ 0 60000 65536"/>
                <a:gd name="T5" fmla="*/ 0 60000 65536"/>
                <a:gd name="T6" fmla="*/ 0 w 96"/>
                <a:gd name="T7" fmla="*/ 0 h 1197"/>
                <a:gd name="T8" fmla="*/ 96 w 96"/>
                <a:gd name="T9" fmla="*/ 1197 h 11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6" h="1197">
                  <a:moveTo>
                    <a:pt x="0" y="0"/>
                  </a:moveTo>
                  <a:lnTo>
                    <a:pt x="96" y="1197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60" name="Line 76"/>
            <p:cNvSpPr>
              <a:spLocks noChangeShapeType="1"/>
            </p:cNvSpPr>
            <p:nvPr/>
          </p:nvSpPr>
          <p:spPr bwMode="auto">
            <a:xfrm>
              <a:off x="5059" y="1892"/>
              <a:ext cx="269" cy="58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61" name="Freeform 77"/>
            <p:cNvSpPr>
              <a:spLocks/>
            </p:cNvSpPr>
            <p:nvPr/>
          </p:nvSpPr>
          <p:spPr bwMode="auto">
            <a:xfrm>
              <a:off x="4476" y="1892"/>
              <a:ext cx="584" cy="1044"/>
            </a:xfrm>
            <a:custGeom>
              <a:avLst/>
              <a:gdLst>
                <a:gd name="T0" fmla="*/ 584 w 584"/>
                <a:gd name="T1" fmla="*/ 0 h 1044"/>
                <a:gd name="T2" fmla="*/ 0 w 584"/>
                <a:gd name="T3" fmla="*/ 1044 h 1044"/>
                <a:gd name="T4" fmla="*/ 0 60000 65536"/>
                <a:gd name="T5" fmla="*/ 0 60000 65536"/>
                <a:gd name="T6" fmla="*/ 0 w 584"/>
                <a:gd name="T7" fmla="*/ 0 h 1044"/>
                <a:gd name="T8" fmla="*/ 584 w 584"/>
                <a:gd name="T9" fmla="*/ 1044 h 104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4" h="1044">
                  <a:moveTo>
                    <a:pt x="584" y="0"/>
                  </a:moveTo>
                  <a:lnTo>
                    <a:pt x="0" y="1044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62" name="Freeform 78"/>
            <p:cNvSpPr>
              <a:spLocks/>
            </p:cNvSpPr>
            <p:nvPr/>
          </p:nvSpPr>
          <p:spPr bwMode="auto">
            <a:xfrm>
              <a:off x="5154" y="2470"/>
              <a:ext cx="184" cy="619"/>
            </a:xfrm>
            <a:custGeom>
              <a:avLst/>
              <a:gdLst>
                <a:gd name="T0" fmla="*/ 0 w 184"/>
                <a:gd name="T1" fmla="*/ 619 h 619"/>
                <a:gd name="T2" fmla="*/ 184 w 184"/>
                <a:gd name="T3" fmla="*/ 0 h 619"/>
                <a:gd name="T4" fmla="*/ 0 60000 65536"/>
                <a:gd name="T5" fmla="*/ 0 60000 65536"/>
                <a:gd name="T6" fmla="*/ 0 w 184"/>
                <a:gd name="T7" fmla="*/ 0 h 619"/>
                <a:gd name="T8" fmla="*/ 184 w 184"/>
                <a:gd name="T9" fmla="*/ 619 h 6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4" h="619">
                  <a:moveTo>
                    <a:pt x="0" y="619"/>
                  </a:moveTo>
                  <a:lnTo>
                    <a:pt x="184" y="0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63" name="Freeform 79"/>
            <p:cNvSpPr>
              <a:spLocks/>
            </p:cNvSpPr>
            <p:nvPr/>
          </p:nvSpPr>
          <p:spPr bwMode="auto">
            <a:xfrm>
              <a:off x="4476" y="2928"/>
              <a:ext cx="678" cy="161"/>
            </a:xfrm>
            <a:custGeom>
              <a:avLst/>
              <a:gdLst>
                <a:gd name="T0" fmla="*/ 0 w 678"/>
                <a:gd name="T1" fmla="*/ 0 h 161"/>
                <a:gd name="T2" fmla="*/ 678 w 678"/>
                <a:gd name="T3" fmla="*/ 161 h 161"/>
                <a:gd name="T4" fmla="*/ 0 60000 65536"/>
                <a:gd name="T5" fmla="*/ 0 60000 65536"/>
                <a:gd name="T6" fmla="*/ 0 w 678"/>
                <a:gd name="T7" fmla="*/ 0 h 161"/>
                <a:gd name="T8" fmla="*/ 678 w 678"/>
                <a:gd name="T9" fmla="*/ 161 h 16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78" h="161">
                  <a:moveTo>
                    <a:pt x="0" y="0"/>
                  </a:moveTo>
                  <a:lnTo>
                    <a:pt x="678" y="161"/>
                  </a:ln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80"/>
          <p:cNvGrpSpPr>
            <a:grpSpLocks/>
          </p:cNvGrpSpPr>
          <p:nvPr/>
        </p:nvGrpSpPr>
        <p:grpSpPr bwMode="auto">
          <a:xfrm>
            <a:off x="6877044" y="5564195"/>
            <a:ext cx="352425" cy="474663"/>
            <a:chOff x="3216" y="3307"/>
            <a:chExt cx="222" cy="299"/>
          </a:xfrm>
        </p:grpSpPr>
        <p:sp>
          <p:nvSpPr>
            <p:cNvPr id="30757" name="Text Box 81"/>
            <p:cNvSpPr txBox="1">
              <a:spLocks noChangeArrowheads="1"/>
            </p:cNvSpPr>
            <p:nvPr/>
          </p:nvSpPr>
          <p:spPr bwMode="auto">
            <a:xfrm>
              <a:off x="3249" y="3373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itchFamily="2" charset="-122"/>
                </a:rPr>
                <a:t>B</a:t>
              </a:r>
              <a:endParaRPr lang="en-US" altLang="zh-CN" sz="1600"/>
            </a:p>
          </p:txBody>
        </p:sp>
        <p:sp>
          <p:nvSpPr>
            <p:cNvPr id="30758" name="Text Box 82"/>
            <p:cNvSpPr txBox="1">
              <a:spLocks noChangeArrowheads="1"/>
            </p:cNvSpPr>
            <p:nvPr/>
          </p:nvSpPr>
          <p:spPr bwMode="auto">
            <a:xfrm>
              <a:off x="3216" y="3307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66"/>
                  </a:solidFill>
                </a:rPr>
                <a:t>●</a:t>
              </a:r>
            </a:p>
          </p:txBody>
        </p:sp>
      </p:grpSp>
      <p:grpSp>
        <p:nvGrpSpPr>
          <p:cNvPr id="13" name="Group 83"/>
          <p:cNvGrpSpPr>
            <a:grpSpLocks/>
          </p:cNvGrpSpPr>
          <p:nvPr/>
        </p:nvGrpSpPr>
        <p:grpSpPr bwMode="auto">
          <a:xfrm>
            <a:off x="7148514" y="4583119"/>
            <a:ext cx="395287" cy="506413"/>
            <a:chOff x="3543" y="2887"/>
            <a:chExt cx="249" cy="319"/>
          </a:xfrm>
        </p:grpSpPr>
        <p:sp>
          <p:nvSpPr>
            <p:cNvPr id="30755" name="Text Box 84"/>
            <p:cNvSpPr txBox="1">
              <a:spLocks noChangeArrowheads="1"/>
            </p:cNvSpPr>
            <p:nvPr/>
          </p:nvSpPr>
          <p:spPr bwMode="auto">
            <a:xfrm>
              <a:off x="3552" y="2973"/>
              <a:ext cx="24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itchFamily="2" charset="-122"/>
                </a:rPr>
                <a:t>C</a:t>
              </a:r>
              <a:r>
                <a:rPr lang="en-US" altLang="zh-CN" i="1">
                  <a:latin typeface="ISOCP" pitchFamily="2" charset="0"/>
                </a:rPr>
                <a:t>  </a:t>
              </a:r>
              <a:endParaRPr lang="en-US" altLang="zh-CN" sz="1600"/>
            </a:p>
          </p:txBody>
        </p:sp>
        <p:sp>
          <p:nvSpPr>
            <p:cNvPr id="30756" name="Text Box 85"/>
            <p:cNvSpPr txBox="1">
              <a:spLocks noChangeArrowheads="1"/>
            </p:cNvSpPr>
            <p:nvPr/>
          </p:nvSpPr>
          <p:spPr bwMode="auto">
            <a:xfrm>
              <a:off x="3543" y="2887"/>
              <a:ext cx="192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66"/>
                  </a:solidFill>
                </a:rPr>
                <a:t>●</a:t>
              </a:r>
            </a:p>
          </p:txBody>
        </p:sp>
      </p:grpSp>
      <p:grpSp>
        <p:nvGrpSpPr>
          <p:cNvPr id="14" name="Group 86"/>
          <p:cNvGrpSpPr>
            <a:grpSpLocks/>
          </p:cNvGrpSpPr>
          <p:nvPr/>
        </p:nvGrpSpPr>
        <p:grpSpPr bwMode="auto">
          <a:xfrm>
            <a:off x="6632576" y="3425825"/>
            <a:ext cx="404813" cy="452438"/>
            <a:chOff x="3062" y="1971"/>
            <a:chExt cx="255" cy="285"/>
          </a:xfrm>
        </p:grpSpPr>
        <p:sp>
          <p:nvSpPr>
            <p:cNvPr id="30753" name="Text Box 87"/>
            <p:cNvSpPr txBox="1">
              <a:spLocks noChangeArrowheads="1"/>
            </p:cNvSpPr>
            <p:nvPr/>
          </p:nvSpPr>
          <p:spPr bwMode="auto">
            <a:xfrm>
              <a:off x="3062" y="1971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itchFamily="2" charset="-122"/>
                </a:rPr>
                <a:t>S</a:t>
              </a:r>
              <a:endParaRPr lang="en-US" altLang="zh-CN" sz="1600"/>
            </a:p>
          </p:txBody>
        </p:sp>
        <p:sp>
          <p:nvSpPr>
            <p:cNvPr id="30754" name="Text Box 88"/>
            <p:cNvSpPr txBox="1">
              <a:spLocks noChangeArrowheads="1"/>
            </p:cNvSpPr>
            <p:nvPr/>
          </p:nvSpPr>
          <p:spPr bwMode="auto">
            <a:xfrm>
              <a:off x="3120" y="2102"/>
              <a:ext cx="19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66"/>
                  </a:solidFill>
                </a:rPr>
                <a:t>●</a:t>
              </a:r>
            </a:p>
          </p:txBody>
        </p:sp>
      </p:grpSp>
      <p:sp>
        <p:nvSpPr>
          <p:cNvPr id="167001" name="Line 89"/>
          <p:cNvSpPr>
            <a:spLocks noChangeShapeType="1"/>
          </p:cNvSpPr>
          <p:nvPr/>
        </p:nvSpPr>
        <p:spPr bwMode="auto">
          <a:xfrm flipH="1">
            <a:off x="3121025" y="4564063"/>
            <a:ext cx="12954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02" name="Freeform 90"/>
          <p:cNvSpPr>
            <a:spLocks/>
          </p:cNvSpPr>
          <p:nvPr/>
        </p:nvSpPr>
        <p:spPr bwMode="auto">
          <a:xfrm>
            <a:off x="4797426" y="4560888"/>
            <a:ext cx="1012825" cy="11112"/>
          </a:xfrm>
          <a:custGeom>
            <a:avLst/>
            <a:gdLst>
              <a:gd name="T0" fmla="*/ 0 w 638"/>
              <a:gd name="T1" fmla="*/ 0 h 7"/>
              <a:gd name="T2" fmla="*/ 2147483647 w 638"/>
              <a:gd name="T3" fmla="*/ 2147483647 h 7"/>
              <a:gd name="T4" fmla="*/ 0 60000 65536"/>
              <a:gd name="T5" fmla="*/ 0 60000 65536"/>
              <a:gd name="T6" fmla="*/ 0 w 638"/>
              <a:gd name="T7" fmla="*/ 0 h 7"/>
              <a:gd name="T8" fmla="*/ 638 w 638"/>
              <a:gd name="T9" fmla="*/ 7 h 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38" h="7">
                <a:moveTo>
                  <a:pt x="0" y="0"/>
                </a:moveTo>
                <a:lnTo>
                  <a:pt x="638" y="7"/>
                </a:lnTo>
              </a:path>
            </a:pathLst>
          </a:custGeom>
          <a:noFill/>
          <a:ln w="38100">
            <a:solidFill>
              <a:srgbClr val="FF00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03" name="Text Box 91"/>
          <p:cNvSpPr txBox="1">
            <a:spLocks noChangeArrowheads="1"/>
          </p:cNvSpPr>
          <p:nvPr/>
        </p:nvSpPr>
        <p:spPr bwMode="auto">
          <a:xfrm>
            <a:off x="1352550" y="839646"/>
            <a:ext cx="4673074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 dirty="0">
                <a:latin typeface="宋体" pitchFamily="2" charset="-122"/>
              </a:rPr>
              <a:t>⒈ </a:t>
            </a:r>
            <a:r>
              <a:rPr lang="zh-CN" altLang="en-US" sz="2800" b="1" dirty="0">
                <a:latin typeface="宋体" pitchFamily="2" charset="-122"/>
              </a:rPr>
              <a:t>平面体的正等轴侧图画法</a:t>
            </a:r>
          </a:p>
        </p:txBody>
      </p:sp>
      <p:grpSp>
        <p:nvGrpSpPr>
          <p:cNvPr id="15" name="Group 92"/>
          <p:cNvGrpSpPr>
            <a:grpSpLocks/>
          </p:cNvGrpSpPr>
          <p:nvPr/>
        </p:nvGrpSpPr>
        <p:grpSpPr bwMode="auto">
          <a:xfrm>
            <a:off x="5654676" y="5202244"/>
            <a:ext cx="542925" cy="369888"/>
            <a:chOff x="2446" y="2706"/>
            <a:chExt cx="342" cy="233"/>
          </a:xfrm>
        </p:grpSpPr>
        <p:sp>
          <p:nvSpPr>
            <p:cNvPr id="30751" name="Text Box 93"/>
            <p:cNvSpPr txBox="1">
              <a:spLocks noChangeArrowheads="1"/>
            </p:cNvSpPr>
            <p:nvPr/>
          </p:nvSpPr>
          <p:spPr bwMode="auto">
            <a:xfrm>
              <a:off x="2446" y="2706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itchFamily="2" charset="-122"/>
                </a:rPr>
                <a:t>A</a:t>
              </a:r>
              <a:endParaRPr lang="en-US" altLang="zh-CN" sz="1600"/>
            </a:p>
          </p:txBody>
        </p:sp>
        <p:sp>
          <p:nvSpPr>
            <p:cNvPr id="30752" name="Text Box 94"/>
            <p:cNvSpPr txBox="1">
              <a:spLocks noChangeArrowheads="1"/>
            </p:cNvSpPr>
            <p:nvPr/>
          </p:nvSpPr>
          <p:spPr bwMode="auto">
            <a:xfrm>
              <a:off x="2548" y="2774"/>
              <a:ext cx="24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1000">
                  <a:solidFill>
                    <a:srgbClr val="FF0066"/>
                  </a:solidFill>
                </a:rPr>
                <a:t>●</a:t>
              </a:r>
            </a:p>
          </p:txBody>
        </p:sp>
      </p:grpSp>
      <p:sp>
        <p:nvSpPr>
          <p:cNvPr id="167007" name="Line 95"/>
          <p:cNvSpPr>
            <a:spLocks noChangeShapeType="1"/>
          </p:cNvSpPr>
          <p:nvPr/>
        </p:nvSpPr>
        <p:spPr bwMode="auto">
          <a:xfrm flipH="1">
            <a:off x="5972175" y="3757613"/>
            <a:ext cx="915988" cy="16827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08" name="Freeform 96"/>
          <p:cNvSpPr>
            <a:spLocks/>
          </p:cNvSpPr>
          <p:nvPr/>
        </p:nvSpPr>
        <p:spPr bwMode="auto">
          <a:xfrm>
            <a:off x="6886575" y="3773489"/>
            <a:ext cx="152400" cy="1900237"/>
          </a:xfrm>
          <a:custGeom>
            <a:avLst/>
            <a:gdLst>
              <a:gd name="T0" fmla="*/ 0 w 96"/>
              <a:gd name="T1" fmla="*/ 0 h 1197"/>
              <a:gd name="T2" fmla="*/ 2147483647 w 96"/>
              <a:gd name="T3" fmla="*/ 2147483647 h 1197"/>
              <a:gd name="T4" fmla="*/ 0 60000 65536"/>
              <a:gd name="T5" fmla="*/ 0 60000 65536"/>
              <a:gd name="T6" fmla="*/ 0 w 96"/>
              <a:gd name="T7" fmla="*/ 0 h 1197"/>
              <a:gd name="T8" fmla="*/ 96 w 96"/>
              <a:gd name="T9" fmla="*/ 1197 h 1197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96" h="1197">
                <a:moveTo>
                  <a:pt x="0" y="0"/>
                </a:moveTo>
                <a:lnTo>
                  <a:pt x="96" y="1197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7009" name="Line 97"/>
          <p:cNvSpPr>
            <a:spLocks noChangeShapeType="1"/>
          </p:cNvSpPr>
          <p:nvPr/>
        </p:nvSpPr>
        <p:spPr bwMode="auto">
          <a:xfrm>
            <a:off x="6888164" y="3775075"/>
            <a:ext cx="427037" cy="9286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7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6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6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6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6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6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66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6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6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67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167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67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66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66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74" grpId="0" autoUpdateAnimBg="0"/>
      <p:bldP spid="166975" grpId="0" animBg="1"/>
      <p:bldP spid="166976" grpId="0" animBg="1"/>
      <p:bldP spid="166977" grpId="0" animBg="1"/>
      <p:bldP spid="166978" grpId="0" animBg="1"/>
      <p:bldP spid="166979" grpId="0" animBg="1"/>
      <p:bldP spid="166980" grpId="0" animBg="1"/>
      <p:bldP spid="166981" grpId="0" animBg="1"/>
      <p:bldP spid="166982" grpId="0" animBg="1"/>
      <p:bldP spid="166983" grpId="0" animBg="1"/>
      <p:bldP spid="166984" grpId="0" animBg="1"/>
      <p:bldP spid="166985" grpId="0" animBg="1"/>
      <p:bldP spid="167001" grpId="0" animBg="1"/>
      <p:bldP spid="167002" grpId="0" animBg="1"/>
      <p:bldP spid="167003" grpId="0" autoUpdateAnimBg="0"/>
      <p:bldP spid="167007" grpId="0" animBg="1"/>
      <p:bldP spid="167008" grpId="0" animBg="1"/>
      <p:bldP spid="16700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5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24039" y="2297113"/>
            <a:ext cx="3971925" cy="3219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cxnSp>
        <p:nvCxnSpPr>
          <p:cNvPr id="71" name="直接连接符 70"/>
          <p:cNvCxnSpPr/>
          <p:nvPr/>
        </p:nvCxnSpPr>
        <p:spPr bwMode="auto">
          <a:xfrm rot="5400000">
            <a:off x="3331370" y="3210720"/>
            <a:ext cx="803275" cy="158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 bwMode="auto">
          <a:xfrm>
            <a:off x="2444750" y="3298825"/>
            <a:ext cx="2555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 bwMode="auto">
          <a:xfrm rot="5400000">
            <a:off x="2322513" y="3465513"/>
            <a:ext cx="2921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连接符 100"/>
          <p:cNvCxnSpPr/>
          <p:nvPr/>
        </p:nvCxnSpPr>
        <p:spPr bwMode="auto">
          <a:xfrm>
            <a:off x="3284538" y="2784475"/>
            <a:ext cx="438150" cy="158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 bwMode="auto">
          <a:xfrm rot="10800000">
            <a:off x="2481264" y="3611563"/>
            <a:ext cx="12414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953" name="Text Box 17"/>
          <p:cNvSpPr txBox="1">
            <a:spLocks noChangeArrowheads="1"/>
          </p:cNvSpPr>
          <p:nvPr/>
        </p:nvSpPr>
        <p:spPr bwMode="auto">
          <a:xfrm>
            <a:off x="1538288" y="1453684"/>
            <a:ext cx="503214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例</a:t>
            </a:r>
            <a:r>
              <a:rPr lang="en-US" altLang="zh-CN" sz="2800" dirty="0">
                <a:latin typeface="宋体" pitchFamily="2" charset="-122"/>
              </a:rPr>
              <a:t>2</a:t>
            </a:r>
            <a:r>
              <a:rPr lang="zh-CN" altLang="en-US" sz="2800" dirty="0">
                <a:latin typeface="宋体" pitchFamily="2" charset="-122"/>
              </a:rPr>
              <a:t>：已知三视图，画轴测图。</a:t>
            </a:r>
          </a:p>
        </p:txBody>
      </p:sp>
      <p:sp>
        <p:nvSpPr>
          <p:cNvPr id="31753" name="Text Box 43"/>
          <p:cNvSpPr txBox="1">
            <a:spLocks noChangeArrowheads="1"/>
          </p:cNvSpPr>
          <p:nvPr/>
        </p:nvSpPr>
        <p:spPr bwMode="auto">
          <a:xfrm>
            <a:off x="1538288" y="628184"/>
            <a:ext cx="20256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>
                <a:latin typeface="宋体" pitchFamily="2" charset="-122"/>
              </a:rPr>
              <a:t>⑵ </a:t>
            </a:r>
            <a:r>
              <a:rPr lang="zh-CN" altLang="en-US" sz="3200" b="1" dirty="0">
                <a:latin typeface="宋体" pitchFamily="2" charset="-122"/>
              </a:rPr>
              <a:t>切割法</a:t>
            </a:r>
          </a:p>
        </p:txBody>
      </p:sp>
      <p:pic>
        <p:nvPicPr>
          <p:cNvPr id="30780" name="Picture 6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94488" y="3455988"/>
            <a:ext cx="3162300" cy="24193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cxnSp>
        <p:nvCxnSpPr>
          <p:cNvPr id="65" name="直接连接符 64"/>
          <p:cNvCxnSpPr/>
          <p:nvPr/>
        </p:nvCxnSpPr>
        <p:spPr>
          <a:xfrm rot="10800000" flipV="1">
            <a:off x="6378575" y="4341813"/>
            <a:ext cx="1068388" cy="6286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7424739" y="4349750"/>
            <a:ext cx="947737" cy="5476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rot="5400000">
            <a:off x="7038976" y="3941763"/>
            <a:ext cx="811212" cy="476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6369050" y="4976814"/>
            <a:ext cx="947738" cy="5476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 rot="10800000" flipV="1">
            <a:off x="7312026" y="4906964"/>
            <a:ext cx="1058863" cy="6191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 rot="5400000">
            <a:off x="7977982" y="4490244"/>
            <a:ext cx="803275" cy="15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rot="10800000">
            <a:off x="7451726" y="3546475"/>
            <a:ext cx="912813" cy="54768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 flipV="1">
            <a:off x="6378575" y="4530725"/>
            <a:ext cx="255588" cy="1460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rot="5400000">
            <a:off x="6232525" y="4832350"/>
            <a:ext cx="2921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6369050" y="4672014"/>
            <a:ext cx="947738" cy="5476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V="1">
            <a:off x="7297739" y="5070475"/>
            <a:ext cx="255587" cy="1460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 flipV="1">
            <a:off x="7024688" y="3541714"/>
            <a:ext cx="438150" cy="2555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V="1">
            <a:off x="7961313" y="4094163"/>
            <a:ext cx="423862" cy="254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7050089" y="3802064"/>
            <a:ext cx="947737" cy="5476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 rot="5400000">
            <a:off x="7399338" y="4486275"/>
            <a:ext cx="730250" cy="43815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rot="5400000">
            <a:off x="6455570" y="3950495"/>
            <a:ext cx="746125" cy="4333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>
            <a:off x="6611939" y="4525964"/>
            <a:ext cx="949325" cy="54768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/>
          <p:cNvCxnSpPr/>
          <p:nvPr/>
        </p:nvCxnSpPr>
        <p:spPr>
          <a:xfrm rot="16320000" flipH="1">
            <a:off x="7153276" y="5365751"/>
            <a:ext cx="304800" cy="95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 bwMode="auto">
          <a:xfrm rot="5400000" flipH="1" flipV="1">
            <a:off x="3260726" y="4602163"/>
            <a:ext cx="94932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83"/>
          <p:cNvGrpSpPr>
            <a:grpSpLocks/>
          </p:cNvGrpSpPr>
          <p:nvPr/>
        </p:nvGrpSpPr>
        <p:grpSpPr bwMode="auto">
          <a:xfrm>
            <a:off x="2444750" y="2762250"/>
            <a:ext cx="1290638" cy="865188"/>
            <a:chOff x="920700" y="2762242"/>
            <a:chExt cx="1290653" cy="865195"/>
          </a:xfrm>
        </p:grpSpPr>
        <p:cxnSp>
          <p:nvCxnSpPr>
            <p:cNvPr id="39" name="直接连接符 38"/>
            <p:cNvCxnSpPr/>
            <p:nvPr/>
          </p:nvCxnSpPr>
          <p:spPr bwMode="auto">
            <a:xfrm rot="10800000" flipV="1">
              <a:off x="1182641" y="2762242"/>
              <a:ext cx="585794" cy="547692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 bwMode="auto">
            <a:xfrm rot="10800000" flipV="1">
              <a:off x="1760498" y="2781292"/>
              <a:ext cx="438155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 bwMode="auto">
            <a:xfrm rot="5400000" flipH="1" flipV="1">
              <a:off x="1779549" y="3197222"/>
              <a:ext cx="860432" cy="0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 bwMode="auto">
            <a:xfrm rot="10800000">
              <a:off x="957213" y="3611562"/>
              <a:ext cx="1254140" cy="1587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 bwMode="auto">
            <a:xfrm rot="10800000">
              <a:off x="920700" y="3295646"/>
              <a:ext cx="292103" cy="1588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 bwMode="auto">
            <a:xfrm rot="5400000">
              <a:off x="777825" y="3457573"/>
              <a:ext cx="328615" cy="1587"/>
            </a:xfrm>
            <a:prstGeom prst="line">
              <a:avLst/>
            </a:prstGeom>
            <a:ln w="381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135"/>
          <p:cNvGrpSpPr>
            <a:grpSpLocks/>
          </p:cNvGrpSpPr>
          <p:nvPr/>
        </p:nvGrpSpPr>
        <p:grpSpPr bwMode="auto">
          <a:xfrm>
            <a:off x="6351588" y="3538538"/>
            <a:ext cx="2017712" cy="1987550"/>
            <a:chOff x="6103144" y="1600159"/>
            <a:chExt cx="2016965" cy="1987574"/>
          </a:xfrm>
        </p:grpSpPr>
        <p:cxnSp>
          <p:nvCxnSpPr>
            <p:cNvPr id="118" name="直接连接符 117"/>
            <p:cNvCxnSpPr/>
            <p:nvPr/>
          </p:nvCxnSpPr>
          <p:spPr>
            <a:xfrm rot="10800000" flipV="1">
              <a:off x="6114252" y="2403444"/>
              <a:ext cx="1067992" cy="62865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/>
          </p:nvCxnSpPr>
          <p:spPr>
            <a:xfrm>
              <a:off x="7160028" y="2411381"/>
              <a:ext cx="947386" cy="5476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/>
          </p:nvCxnSpPr>
          <p:spPr>
            <a:xfrm rot="5400000">
              <a:off x="6774253" y="2003389"/>
              <a:ext cx="811222" cy="476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/>
            <p:cNvCxnSpPr/>
            <p:nvPr/>
          </p:nvCxnSpPr>
          <p:spPr>
            <a:xfrm>
              <a:off x="6103144" y="3038451"/>
              <a:ext cx="947386" cy="5476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 rot="10800000" flipV="1">
              <a:off x="7047356" y="2968601"/>
              <a:ext cx="1058471" cy="61913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rot="5400000">
              <a:off x="7712912" y="2551877"/>
              <a:ext cx="803285" cy="158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/>
          </p:nvCxnSpPr>
          <p:spPr>
            <a:xfrm rot="10800000">
              <a:off x="7187005" y="1608096"/>
              <a:ext cx="912475" cy="54769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/>
          </p:nvCxnSpPr>
          <p:spPr>
            <a:xfrm flipV="1">
              <a:off x="6112665" y="2592358"/>
              <a:ext cx="255492" cy="14605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/>
          </p:nvCxnSpPr>
          <p:spPr>
            <a:xfrm rot="5400000">
              <a:off x="5966614" y="2893987"/>
              <a:ext cx="292104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6104730" y="2733648"/>
              <a:ext cx="947387" cy="5476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/>
            <p:nvPr/>
          </p:nvCxnSpPr>
          <p:spPr>
            <a:xfrm flipV="1">
              <a:off x="7033075" y="3132114"/>
              <a:ext cx="255492" cy="14605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 flipV="1">
              <a:off x="6760126" y="1603334"/>
              <a:ext cx="437988" cy="25559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/>
          </p:nvCxnSpPr>
          <p:spPr>
            <a:xfrm flipV="1">
              <a:off x="7696404" y="2155791"/>
              <a:ext cx="423705" cy="254003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6785516" y="1863687"/>
              <a:ext cx="947386" cy="5476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 rot="5400000">
              <a:off x="7134497" y="2547991"/>
              <a:ext cx="730259" cy="4379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rot="5400000">
              <a:off x="6191075" y="2012203"/>
              <a:ext cx="746134" cy="43322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>
              <a:off x="6347528" y="2587596"/>
              <a:ext cx="948974" cy="54769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rot="16320000" flipH="1">
              <a:off x="6888608" y="3427395"/>
              <a:ext cx="304804" cy="9521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679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3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5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0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5"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7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5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0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147" dur="500"/>
                                        <p:tgtEl>
                                          <p:spTgt spid="307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5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Line 37"/>
          <p:cNvSpPr>
            <a:spLocks noChangeShapeType="1"/>
          </p:cNvSpPr>
          <p:nvPr/>
        </p:nvSpPr>
        <p:spPr bwMode="auto">
          <a:xfrm flipV="1">
            <a:off x="7318375" y="3341689"/>
            <a:ext cx="1600200" cy="923925"/>
          </a:xfrm>
          <a:prstGeom prst="line">
            <a:avLst/>
          </a:prstGeom>
          <a:noFill/>
          <a:ln w="190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756400" y="2170113"/>
            <a:ext cx="3530600" cy="3522662"/>
            <a:chOff x="3296" y="1367"/>
            <a:chExt cx="2224" cy="2219"/>
          </a:xfrm>
        </p:grpSpPr>
        <p:sp>
          <p:nvSpPr>
            <p:cNvPr id="32861" name="Freeform 3"/>
            <p:cNvSpPr>
              <a:spLocks/>
            </p:cNvSpPr>
            <p:nvPr/>
          </p:nvSpPr>
          <p:spPr bwMode="auto">
            <a:xfrm>
              <a:off x="4654" y="1367"/>
              <a:ext cx="1" cy="1091"/>
            </a:xfrm>
            <a:custGeom>
              <a:avLst/>
              <a:gdLst>
                <a:gd name="T0" fmla="*/ 0 w 1"/>
                <a:gd name="T1" fmla="*/ 0 h 1091"/>
                <a:gd name="T2" fmla="*/ 0 w 1"/>
                <a:gd name="T3" fmla="*/ 1091 h 1091"/>
                <a:gd name="T4" fmla="*/ 0 60000 65536"/>
                <a:gd name="T5" fmla="*/ 0 60000 65536"/>
                <a:gd name="T6" fmla="*/ 0 w 1"/>
                <a:gd name="T7" fmla="*/ 0 h 1091"/>
                <a:gd name="T8" fmla="*/ 1 w 1"/>
                <a:gd name="T9" fmla="*/ 1091 h 10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91">
                  <a:moveTo>
                    <a:pt x="0" y="0"/>
                  </a:moveTo>
                  <a:lnTo>
                    <a:pt x="0" y="1091"/>
                  </a:lnTo>
                </a:path>
              </a:pathLst>
            </a:custGeom>
            <a:noFill/>
            <a:ln w="127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62" name="Freeform 4"/>
            <p:cNvSpPr>
              <a:spLocks/>
            </p:cNvSpPr>
            <p:nvPr/>
          </p:nvSpPr>
          <p:spPr bwMode="auto">
            <a:xfrm>
              <a:off x="3296" y="2448"/>
              <a:ext cx="1360" cy="785"/>
            </a:xfrm>
            <a:custGeom>
              <a:avLst/>
              <a:gdLst>
                <a:gd name="T0" fmla="*/ 1360 w 1360"/>
                <a:gd name="T1" fmla="*/ 0 h 785"/>
                <a:gd name="T2" fmla="*/ 0 w 1360"/>
                <a:gd name="T3" fmla="*/ 785 h 785"/>
                <a:gd name="T4" fmla="*/ 0 60000 65536"/>
                <a:gd name="T5" fmla="*/ 0 60000 65536"/>
                <a:gd name="T6" fmla="*/ 0 w 1360"/>
                <a:gd name="T7" fmla="*/ 0 h 785"/>
                <a:gd name="T8" fmla="*/ 1360 w 1360"/>
                <a:gd name="T9" fmla="*/ 785 h 78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60" h="785">
                  <a:moveTo>
                    <a:pt x="1360" y="0"/>
                  </a:moveTo>
                  <a:lnTo>
                    <a:pt x="0" y="785"/>
                  </a:lnTo>
                </a:path>
              </a:pathLst>
            </a:custGeom>
            <a:noFill/>
            <a:ln w="127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63" name="Line 5"/>
            <p:cNvSpPr>
              <a:spLocks noChangeShapeType="1"/>
            </p:cNvSpPr>
            <p:nvPr/>
          </p:nvSpPr>
          <p:spPr bwMode="auto">
            <a:xfrm>
              <a:off x="4656" y="2448"/>
              <a:ext cx="864" cy="498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2864" name="Group 6"/>
            <p:cNvGrpSpPr>
              <a:grpSpLocks/>
            </p:cNvGrpSpPr>
            <p:nvPr/>
          </p:nvGrpSpPr>
          <p:grpSpPr bwMode="auto">
            <a:xfrm>
              <a:off x="3456" y="2112"/>
              <a:ext cx="1918" cy="1474"/>
              <a:chOff x="3456" y="2112"/>
              <a:chExt cx="1918" cy="1474"/>
            </a:xfrm>
          </p:grpSpPr>
          <p:sp>
            <p:nvSpPr>
              <p:cNvPr id="32865" name="Freeform 7"/>
              <p:cNvSpPr>
                <a:spLocks/>
              </p:cNvSpPr>
              <p:nvPr/>
            </p:nvSpPr>
            <p:spPr bwMode="auto">
              <a:xfrm>
                <a:off x="3458" y="2793"/>
                <a:ext cx="3" cy="355"/>
              </a:xfrm>
              <a:custGeom>
                <a:avLst/>
                <a:gdLst>
                  <a:gd name="T0" fmla="*/ 0 w 3"/>
                  <a:gd name="T1" fmla="*/ 355 h 355"/>
                  <a:gd name="T2" fmla="*/ 3 w 3"/>
                  <a:gd name="T3" fmla="*/ 0 h 355"/>
                  <a:gd name="T4" fmla="*/ 0 60000 65536"/>
                  <a:gd name="T5" fmla="*/ 0 60000 65536"/>
                  <a:gd name="T6" fmla="*/ 0 w 3"/>
                  <a:gd name="T7" fmla="*/ 0 h 355"/>
                  <a:gd name="T8" fmla="*/ 3 w 3"/>
                  <a:gd name="T9" fmla="*/ 355 h 35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355">
                    <a:moveTo>
                      <a:pt x="0" y="355"/>
                    </a:moveTo>
                    <a:lnTo>
                      <a:pt x="3" y="0"/>
                    </a:lnTo>
                  </a:path>
                </a:pathLst>
              </a:cu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66" name="Freeform 8"/>
              <p:cNvSpPr>
                <a:spLocks/>
              </p:cNvSpPr>
              <p:nvPr/>
            </p:nvSpPr>
            <p:spPr bwMode="auto">
              <a:xfrm>
                <a:off x="5373" y="2517"/>
                <a:ext cx="1" cy="348"/>
              </a:xfrm>
              <a:custGeom>
                <a:avLst/>
                <a:gdLst>
                  <a:gd name="T0" fmla="*/ 0 w 1"/>
                  <a:gd name="T1" fmla="*/ 348 h 348"/>
                  <a:gd name="T2" fmla="*/ 1 w 1"/>
                  <a:gd name="T3" fmla="*/ 0 h 348"/>
                  <a:gd name="T4" fmla="*/ 0 60000 65536"/>
                  <a:gd name="T5" fmla="*/ 0 60000 65536"/>
                  <a:gd name="T6" fmla="*/ 0 w 1"/>
                  <a:gd name="T7" fmla="*/ 0 h 348"/>
                  <a:gd name="T8" fmla="*/ 1 w 1"/>
                  <a:gd name="T9" fmla="*/ 348 h 34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348">
                    <a:moveTo>
                      <a:pt x="0" y="348"/>
                    </a:moveTo>
                    <a:lnTo>
                      <a:pt x="1" y="0"/>
                    </a:lnTo>
                  </a:path>
                </a:pathLst>
              </a:cu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67" name="Freeform 9"/>
              <p:cNvSpPr>
                <a:spLocks/>
              </p:cNvSpPr>
              <p:nvPr/>
            </p:nvSpPr>
            <p:spPr bwMode="auto">
              <a:xfrm>
                <a:off x="3456" y="2112"/>
                <a:ext cx="1198" cy="687"/>
              </a:xfrm>
              <a:custGeom>
                <a:avLst/>
                <a:gdLst>
                  <a:gd name="T0" fmla="*/ 1198 w 1198"/>
                  <a:gd name="T1" fmla="*/ 0 h 687"/>
                  <a:gd name="T2" fmla="*/ 0 w 1198"/>
                  <a:gd name="T3" fmla="*/ 687 h 687"/>
                  <a:gd name="T4" fmla="*/ 0 60000 65536"/>
                  <a:gd name="T5" fmla="*/ 0 60000 65536"/>
                  <a:gd name="T6" fmla="*/ 0 w 1198"/>
                  <a:gd name="T7" fmla="*/ 0 h 687"/>
                  <a:gd name="T8" fmla="*/ 1198 w 1198"/>
                  <a:gd name="T9" fmla="*/ 687 h 68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98" h="687">
                    <a:moveTo>
                      <a:pt x="1198" y="0"/>
                    </a:moveTo>
                    <a:lnTo>
                      <a:pt x="0" y="687"/>
                    </a:lnTo>
                  </a:path>
                </a:pathLst>
              </a:cu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68" name="Freeform 10"/>
              <p:cNvSpPr>
                <a:spLocks/>
              </p:cNvSpPr>
              <p:nvPr/>
            </p:nvSpPr>
            <p:spPr bwMode="auto">
              <a:xfrm>
                <a:off x="4654" y="2112"/>
                <a:ext cx="720" cy="405"/>
              </a:xfrm>
              <a:custGeom>
                <a:avLst/>
                <a:gdLst>
                  <a:gd name="T0" fmla="*/ 0 w 720"/>
                  <a:gd name="T1" fmla="*/ 0 h 405"/>
                  <a:gd name="T2" fmla="*/ 720 w 720"/>
                  <a:gd name="T3" fmla="*/ 405 h 405"/>
                  <a:gd name="T4" fmla="*/ 0 60000 65536"/>
                  <a:gd name="T5" fmla="*/ 0 60000 65536"/>
                  <a:gd name="T6" fmla="*/ 0 w 720"/>
                  <a:gd name="T7" fmla="*/ 0 h 405"/>
                  <a:gd name="T8" fmla="*/ 720 w 720"/>
                  <a:gd name="T9" fmla="*/ 405 h 40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20" h="405">
                    <a:moveTo>
                      <a:pt x="0" y="0"/>
                    </a:moveTo>
                    <a:lnTo>
                      <a:pt x="720" y="405"/>
                    </a:lnTo>
                  </a:path>
                </a:pathLst>
              </a:cu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69" name="Freeform 11"/>
              <p:cNvSpPr>
                <a:spLocks/>
              </p:cNvSpPr>
              <p:nvPr/>
            </p:nvSpPr>
            <p:spPr bwMode="auto">
              <a:xfrm>
                <a:off x="3461" y="2793"/>
                <a:ext cx="730" cy="448"/>
              </a:xfrm>
              <a:custGeom>
                <a:avLst/>
                <a:gdLst>
                  <a:gd name="T0" fmla="*/ 0 w 521"/>
                  <a:gd name="T1" fmla="*/ 0 h 320"/>
                  <a:gd name="T2" fmla="*/ 5525 w 521"/>
                  <a:gd name="T3" fmla="*/ 3373 h 320"/>
                  <a:gd name="T4" fmla="*/ 0 60000 65536"/>
                  <a:gd name="T5" fmla="*/ 0 60000 65536"/>
                  <a:gd name="T6" fmla="*/ 0 w 521"/>
                  <a:gd name="T7" fmla="*/ 0 h 320"/>
                  <a:gd name="T8" fmla="*/ 521 w 521"/>
                  <a:gd name="T9" fmla="*/ 320 h 32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21" h="320">
                    <a:moveTo>
                      <a:pt x="0" y="0"/>
                    </a:moveTo>
                    <a:lnTo>
                      <a:pt x="521" y="320"/>
                    </a:lnTo>
                  </a:path>
                </a:pathLst>
              </a:cu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70" name="Freeform 12"/>
              <p:cNvSpPr>
                <a:spLocks/>
              </p:cNvSpPr>
              <p:nvPr/>
            </p:nvSpPr>
            <p:spPr bwMode="auto">
              <a:xfrm>
                <a:off x="4191" y="2517"/>
                <a:ext cx="1176" cy="724"/>
              </a:xfrm>
              <a:custGeom>
                <a:avLst/>
                <a:gdLst>
                  <a:gd name="T0" fmla="*/ 10233 w 820"/>
                  <a:gd name="T1" fmla="*/ 0 h 504"/>
                  <a:gd name="T2" fmla="*/ 0 w 820"/>
                  <a:gd name="T3" fmla="*/ 6362 h 504"/>
                  <a:gd name="T4" fmla="*/ 0 60000 65536"/>
                  <a:gd name="T5" fmla="*/ 0 60000 65536"/>
                  <a:gd name="T6" fmla="*/ 0 w 820"/>
                  <a:gd name="T7" fmla="*/ 0 h 504"/>
                  <a:gd name="T8" fmla="*/ 820 w 820"/>
                  <a:gd name="T9" fmla="*/ 504 h 50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20" h="504">
                    <a:moveTo>
                      <a:pt x="820" y="0"/>
                    </a:moveTo>
                    <a:lnTo>
                      <a:pt x="0" y="504"/>
                    </a:lnTo>
                  </a:path>
                </a:pathLst>
              </a:cu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71" name="Freeform 17"/>
              <p:cNvSpPr>
                <a:spLocks/>
              </p:cNvSpPr>
              <p:nvPr/>
            </p:nvSpPr>
            <p:spPr bwMode="auto">
              <a:xfrm>
                <a:off x="3461" y="3142"/>
                <a:ext cx="730" cy="444"/>
              </a:xfrm>
              <a:custGeom>
                <a:avLst/>
                <a:gdLst>
                  <a:gd name="T0" fmla="*/ 0 w 524"/>
                  <a:gd name="T1" fmla="*/ 0 h 306"/>
                  <a:gd name="T2" fmla="*/ 5337 w 524"/>
                  <a:gd name="T3" fmla="*/ 4140 h 306"/>
                  <a:gd name="T4" fmla="*/ 0 60000 65536"/>
                  <a:gd name="T5" fmla="*/ 0 60000 65536"/>
                  <a:gd name="T6" fmla="*/ 0 w 524"/>
                  <a:gd name="T7" fmla="*/ 0 h 306"/>
                  <a:gd name="T8" fmla="*/ 524 w 524"/>
                  <a:gd name="T9" fmla="*/ 306 h 30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24" h="306">
                    <a:moveTo>
                      <a:pt x="0" y="0"/>
                    </a:moveTo>
                    <a:lnTo>
                      <a:pt x="524" y="306"/>
                    </a:lnTo>
                  </a:path>
                </a:pathLst>
              </a:cu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72" name="Freeform 18"/>
              <p:cNvSpPr>
                <a:spLocks/>
              </p:cNvSpPr>
              <p:nvPr/>
            </p:nvSpPr>
            <p:spPr bwMode="auto">
              <a:xfrm>
                <a:off x="4191" y="2858"/>
                <a:ext cx="1183" cy="728"/>
              </a:xfrm>
              <a:custGeom>
                <a:avLst/>
                <a:gdLst>
                  <a:gd name="T0" fmla="*/ 10747 w 819"/>
                  <a:gd name="T1" fmla="*/ 0 h 497"/>
                  <a:gd name="T2" fmla="*/ 0 w 819"/>
                  <a:gd name="T3" fmla="*/ 7188 h 497"/>
                  <a:gd name="T4" fmla="*/ 0 60000 65536"/>
                  <a:gd name="T5" fmla="*/ 0 60000 65536"/>
                  <a:gd name="T6" fmla="*/ 0 w 819"/>
                  <a:gd name="T7" fmla="*/ 0 h 497"/>
                  <a:gd name="T8" fmla="*/ 819 w 819"/>
                  <a:gd name="T9" fmla="*/ 497 h 49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19" h="497">
                    <a:moveTo>
                      <a:pt x="819" y="0"/>
                    </a:moveTo>
                    <a:lnTo>
                      <a:pt x="0" y="497"/>
                    </a:lnTo>
                  </a:path>
                </a:pathLst>
              </a:cu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743201" y="2039939"/>
            <a:ext cx="2759075" cy="2636837"/>
            <a:chOff x="768" y="1285"/>
            <a:chExt cx="1738" cy="1661"/>
          </a:xfrm>
        </p:grpSpPr>
        <p:sp>
          <p:nvSpPr>
            <p:cNvPr id="32846" name="Line 20"/>
            <p:cNvSpPr>
              <a:spLocks noChangeShapeType="1"/>
            </p:cNvSpPr>
            <p:nvPr/>
          </p:nvSpPr>
          <p:spPr bwMode="auto">
            <a:xfrm flipV="1">
              <a:off x="768" y="1296"/>
              <a:ext cx="0" cy="57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7" name="Line 21"/>
            <p:cNvSpPr>
              <a:spLocks noChangeShapeType="1"/>
            </p:cNvSpPr>
            <p:nvPr/>
          </p:nvSpPr>
          <p:spPr bwMode="auto">
            <a:xfrm>
              <a:off x="768" y="1296"/>
              <a:ext cx="288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8" name="Line 22"/>
            <p:cNvSpPr>
              <a:spLocks noChangeShapeType="1"/>
            </p:cNvSpPr>
            <p:nvPr/>
          </p:nvSpPr>
          <p:spPr bwMode="auto">
            <a:xfrm>
              <a:off x="1584" y="1296"/>
              <a:ext cx="288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49" name="Line 23"/>
            <p:cNvSpPr>
              <a:spLocks noChangeShapeType="1"/>
            </p:cNvSpPr>
            <p:nvPr/>
          </p:nvSpPr>
          <p:spPr bwMode="auto">
            <a:xfrm>
              <a:off x="1056" y="1296"/>
              <a:ext cx="0" cy="28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0" name="Freeform 24"/>
            <p:cNvSpPr>
              <a:spLocks/>
            </p:cNvSpPr>
            <p:nvPr/>
          </p:nvSpPr>
          <p:spPr bwMode="auto">
            <a:xfrm>
              <a:off x="1584" y="1296"/>
              <a:ext cx="1" cy="297"/>
            </a:xfrm>
            <a:custGeom>
              <a:avLst/>
              <a:gdLst>
                <a:gd name="T0" fmla="*/ 0 w 1"/>
                <a:gd name="T1" fmla="*/ 0 h 297"/>
                <a:gd name="T2" fmla="*/ 1 w 1"/>
                <a:gd name="T3" fmla="*/ 297 h 297"/>
                <a:gd name="T4" fmla="*/ 0 60000 65536"/>
                <a:gd name="T5" fmla="*/ 0 60000 65536"/>
                <a:gd name="T6" fmla="*/ 0 w 1"/>
                <a:gd name="T7" fmla="*/ 0 h 297"/>
                <a:gd name="T8" fmla="*/ 1 w 1"/>
                <a:gd name="T9" fmla="*/ 297 h 2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97">
                  <a:moveTo>
                    <a:pt x="0" y="0"/>
                  </a:moveTo>
                  <a:lnTo>
                    <a:pt x="1" y="297"/>
                  </a:lnTo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1" name="Freeform 25"/>
            <p:cNvSpPr>
              <a:spLocks/>
            </p:cNvSpPr>
            <p:nvPr/>
          </p:nvSpPr>
          <p:spPr bwMode="auto">
            <a:xfrm>
              <a:off x="1049" y="1584"/>
              <a:ext cx="544" cy="2"/>
            </a:xfrm>
            <a:custGeom>
              <a:avLst/>
              <a:gdLst>
                <a:gd name="T0" fmla="*/ 0 w 544"/>
                <a:gd name="T1" fmla="*/ 0 h 2"/>
                <a:gd name="T2" fmla="*/ 544 w 544"/>
                <a:gd name="T3" fmla="*/ 2 h 2"/>
                <a:gd name="T4" fmla="*/ 0 60000 65536"/>
                <a:gd name="T5" fmla="*/ 0 60000 65536"/>
                <a:gd name="T6" fmla="*/ 0 w 544"/>
                <a:gd name="T7" fmla="*/ 0 h 2"/>
                <a:gd name="T8" fmla="*/ 544 w 544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44" h="2">
                  <a:moveTo>
                    <a:pt x="0" y="0"/>
                  </a:moveTo>
                  <a:lnTo>
                    <a:pt x="544" y="2"/>
                  </a:lnTo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2" name="Freeform 26"/>
            <p:cNvSpPr>
              <a:spLocks/>
            </p:cNvSpPr>
            <p:nvPr/>
          </p:nvSpPr>
          <p:spPr bwMode="auto">
            <a:xfrm>
              <a:off x="1864" y="1285"/>
              <a:ext cx="1" cy="592"/>
            </a:xfrm>
            <a:custGeom>
              <a:avLst/>
              <a:gdLst>
                <a:gd name="T0" fmla="*/ 0 w 1"/>
                <a:gd name="T1" fmla="*/ 592 h 592"/>
                <a:gd name="T2" fmla="*/ 0 w 1"/>
                <a:gd name="T3" fmla="*/ 0 h 592"/>
                <a:gd name="T4" fmla="*/ 0 60000 65536"/>
                <a:gd name="T5" fmla="*/ 0 60000 65536"/>
                <a:gd name="T6" fmla="*/ 0 w 1"/>
                <a:gd name="T7" fmla="*/ 0 h 592"/>
                <a:gd name="T8" fmla="*/ 1 w 1"/>
                <a:gd name="T9" fmla="*/ 592 h 59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92">
                  <a:moveTo>
                    <a:pt x="0" y="59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3" name="Freeform 27"/>
            <p:cNvSpPr>
              <a:spLocks/>
            </p:cNvSpPr>
            <p:nvPr/>
          </p:nvSpPr>
          <p:spPr bwMode="auto">
            <a:xfrm>
              <a:off x="768" y="2592"/>
              <a:ext cx="3" cy="354"/>
            </a:xfrm>
            <a:custGeom>
              <a:avLst/>
              <a:gdLst>
                <a:gd name="T0" fmla="*/ 0 w 3"/>
                <a:gd name="T1" fmla="*/ 0 h 354"/>
                <a:gd name="T2" fmla="*/ 3 w 3"/>
                <a:gd name="T3" fmla="*/ 354 h 354"/>
                <a:gd name="T4" fmla="*/ 0 60000 65536"/>
                <a:gd name="T5" fmla="*/ 0 60000 65536"/>
                <a:gd name="T6" fmla="*/ 0 w 3"/>
                <a:gd name="T7" fmla="*/ 0 h 354"/>
                <a:gd name="T8" fmla="*/ 3 w 3"/>
                <a:gd name="T9" fmla="*/ 354 h 3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354">
                  <a:moveTo>
                    <a:pt x="0" y="0"/>
                  </a:moveTo>
                  <a:lnTo>
                    <a:pt x="3" y="354"/>
                  </a:lnTo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4" name="Line 28"/>
            <p:cNvSpPr>
              <a:spLocks noChangeShapeType="1"/>
            </p:cNvSpPr>
            <p:nvPr/>
          </p:nvSpPr>
          <p:spPr bwMode="auto">
            <a:xfrm>
              <a:off x="768" y="2928"/>
              <a:ext cx="1104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5" name="Line 29"/>
            <p:cNvSpPr>
              <a:spLocks noChangeShapeType="1"/>
            </p:cNvSpPr>
            <p:nvPr/>
          </p:nvSpPr>
          <p:spPr bwMode="auto">
            <a:xfrm>
              <a:off x="1056" y="2592"/>
              <a:ext cx="0" cy="33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6" name="Line 30"/>
            <p:cNvSpPr>
              <a:spLocks noChangeShapeType="1"/>
            </p:cNvSpPr>
            <p:nvPr/>
          </p:nvSpPr>
          <p:spPr bwMode="auto">
            <a:xfrm>
              <a:off x="1584" y="2592"/>
              <a:ext cx="0" cy="33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7" name="Freeform 31"/>
            <p:cNvSpPr>
              <a:spLocks/>
            </p:cNvSpPr>
            <p:nvPr/>
          </p:nvSpPr>
          <p:spPr bwMode="auto">
            <a:xfrm>
              <a:off x="2182" y="1285"/>
              <a:ext cx="1" cy="592"/>
            </a:xfrm>
            <a:custGeom>
              <a:avLst/>
              <a:gdLst>
                <a:gd name="T0" fmla="*/ 0 w 1"/>
                <a:gd name="T1" fmla="*/ 592 h 592"/>
                <a:gd name="T2" fmla="*/ 0 w 1"/>
                <a:gd name="T3" fmla="*/ 0 h 592"/>
                <a:gd name="T4" fmla="*/ 0 60000 65536"/>
                <a:gd name="T5" fmla="*/ 0 60000 65536"/>
                <a:gd name="T6" fmla="*/ 0 w 1"/>
                <a:gd name="T7" fmla="*/ 0 h 592"/>
                <a:gd name="T8" fmla="*/ 1 w 1"/>
                <a:gd name="T9" fmla="*/ 592 h 59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92">
                  <a:moveTo>
                    <a:pt x="0" y="59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8" name="Freeform 32"/>
            <p:cNvSpPr>
              <a:spLocks/>
            </p:cNvSpPr>
            <p:nvPr/>
          </p:nvSpPr>
          <p:spPr bwMode="auto">
            <a:xfrm>
              <a:off x="2182" y="1285"/>
              <a:ext cx="324" cy="1"/>
            </a:xfrm>
            <a:custGeom>
              <a:avLst/>
              <a:gdLst>
                <a:gd name="T0" fmla="*/ 324 w 324"/>
                <a:gd name="T1" fmla="*/ 0 h 1"/>
                <a:gd name="T2" fmla="*/ 0 w 324"/>
                <a:gd name="T3" fmla="*/ 0 h 1"/>
                <a:gd name="T4" fmla="*/ 0 60000 65536"/>
                <a:gd name="T5" fmla="*/ 0 60000 65536"/>
                <a:gd name="T6" fmla="*/ 0 w 324"/>
                <a:gd name="T7" fmla="*/ 0 h 1"/>
                <a:gd name="T8" fmla="*/ 324 w 32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4" h="1">
                  <a:moveTo>
                    <a:pt x="324" y="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59" name="Line 33"/>
            <p:cNvSpPr>
              <a:spLocks noChangeShapeType="1"/>
            </p:cNvSpPr>
            <p:nvPr/>
          </p:nvSpPr>
          <p:spPr bwMode="auto">
            <a:xfrm>
              <a:off x="2496" y="1296"/>
              <a:ext cx="0" cy="576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60" name="Freeform 34"/>
            <p:cNvSpPr>
              <a:spLocks/>
            </p:cNvSpPr>
            <p:nvPr/>
          </p:nvSpPr>
          <p:spPr bwMode="auto">
            <a:xfrm>
              <a:off x="2175" y="1583"/>
              <a:ext cx="324" cy="1"/>
            </a:xfrm>
            <a:custGeom>
              <a:avLst/>
              <a:gdLst>
                <a:gd name="T0" fmla="*/ 324 w 324"/>
                <a:gd name="T1" fmla="*/ 0 h 1"/>
                <a:gd name="T2" fmla="*/ 0 w 324"/>
                <a:gd name="T3" fmla="*/ 0 h 1"/>
                <a:gd name="T4" fmla="*/ 0 60000 65536"/>
                <a:gd name="T5" fmla="*/ 0 60000 65536"/>
                <a:gd name="T6" fmla="*/ 0 w 324"/>
                <a:gd name="T7" fmla="*/ 0 h 1"/>
                <a:gd name="T8" fmla="*/ 324 w 32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4" h="1">
                  <a:moveTo>
                    <a:pt x="324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C3300"/>
              </a:solidFill>
              <a:prstDash val="lg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8996" name="Line 36"/>
          <p:cNvSpPr>
            <a:spLocks noChangeShapeType="1"/>
          </p:cNvSpPr>
          <p:nvPr/>
        </p:nvSpPr>
        <p:spPr bwMode="auto">
          <a:xfrm>
            <a:off x="7315200" y="4267201"/>
            <a:ext cx="533400" cy="307975"/>
          </a:xfrm>
          <a:prstGeom prst="line">
            <a:avLst/>
          </a:prstGeom>
          <a:noFill/>
          <a:ln w="190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97" name="Line 37"/>
          <p:cNvSpPr>
            <a:spLocks noChangeShapeType="1"/>
          </p:cNvSpPr>
          <p:nvPr/>
        </p:nvSpPr>
        <p:spPr bwMode="auto">
          <a:xfrm flipV="1">
            <a:off x="7848600" y="3648076"/>
            <a:ext cx="1600200" cy="923925"/>
          </a:xfrm>
          <a:prstGeom prst="line">
            <a:avLst/>
          </a:prstGeom>
          <a:noFill/>
          <a:ln w="190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98" name="Line 38"/>
          <p:cNvSpPr>
            <a:spLocks noChangeShapeType="1"/>
          </p:cNvSpPr>
          <p:nvPr/>
        </p:nvSpPr>
        <p:spPr bwMode="auto">
          <a:xfrm flipH="1" flipV="1">
            <a:off x="7315200" y="3352800"/>
            <a:ext cx="0" cy="914400"/>
          </a:xfrm>
          <a:prstGeom prst="line">
            <a:avLst/>
          </a:prstGeom>
          <a:noFill/>
          <a:ln w="190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8999" name="Line 39"/>
          <p:cNvSpPr>
            <a:spLocks noChangeShapeType="1"/>
          </p:cNvSpPr>
          <p:nvPr/>
        </p:nvSpPr>
        <p:spPr bwMode="auto">
          <a:xfrm flipH="1" flipV="1">
            <a:off x="7848600" y="3657600"/>
            <a:ext cx="0" cy="914400"/>
          </a:xfrm>
          <a:prstGeom prst="line">
            <a:avLst/>
          </a:prstGeom>
          <a:noFill/>
          <a:ln w="190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00" name="Line 40"/>
          <p:cNvSpPr>
            <a:spLocks noChangeShapeType="1"/>
          </p:cNvSpPr>
          <p:nvPr/>
        </p:nvSpPr>
        <p:spPr bwMode="auto">
          <a:xfrm flipH="1" flipV="1">
            <a:off x="9448800" y="2743200"/>
            <a:ext cx="0" cy="914400"/>
          </a:xfrm>
          <a:prstGeom prst="line">
            <a:avLst/>
          </a:prstGeom>
          <a:noFill/>
          <a:ln w="190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02" name="Line 42"/>
          <p:cNvSpPr>
            <a:spLocks noChangeShapeType="1"/>
          </p:cNvSpPr>
          <p:nvPr/>
        </p:nvSpPr>
        <p:spPr bwMode="auto">
          <a:xfrm>
            <a:off x="7315200" y="3352801"/>
            <a:ext cx="533400" cy="307975"/>
          </a:xfrm>
          <a:prstGeom prst="line">
            <a:avLst/>
          </a:prstGeom>
          <a:noFill/>
          <a:ln w="190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03" name="Line 43"/>
          <p:cNvSpPr>
            <a:spLocks noChangeShapeType="1"/>
          </p:cNvSpPr>
          <p:nvPr/>
        </p:nvSpPr>
        <p:spPr bwMode="auto">
          <a:xfrm>
            <a:off x="8915400" y="2438401"/>
            <a:ext cx="533400" cy="307975"/>
          </a:xfrm>
          <a:prstGeom prst="line">
            <a:avLst/>
          </a:prstGeom>
          <a:noFill/>
          <a:ln w="1905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05" name="Line 45"/>
          <p:cNvSpPr>
            <a:spLocks noChangeShapeType="1"/>
          </p:cNvSpPr>
          <p:nvPr/>
        </p:nvSpPr>
        <p:spPr bwMode="auto">
          <a:xfrm flipV="1">
            <a:off x="7848600" y="3429001"/>
            <a:ext cx="381000" cy="219075"/>
          </a:xfrm>
          <a:prstGeom prst="line">
            <a:avLst/>
          </a:prstGeom>
          <a:noFill/>
          <a:ln w="19050">
            <a:solidFill>
              <a:srgbClr val="00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06" name="Line 46"/>
          <p:cNvSpPr>
            <a:spLocks noChangeShapeType="1"/>
          </p:cNvSpPr>
          <p:nvPr/>
        </p:nvSpPr>
        <p:spPr bwMode="auto">
          <a:xfrm>
            <a:off x="7696200" y="3124201"/>
            <a:ext cx="533400" cy="30797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07" name="Line 47"/>
          <p:cNvSpPr>
            <a:spLocks noChangeShapeType="1"/>
          </p:cNvSpPr>
          <p:nvPr/>
        </p:nvSpPr>
        <p:spPr bwMode="auto">
          <a:xfrm>
            <a:off x="8229600" y="3429000"/>
            <a:ext cx="0" cy="457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08" name="Line 48"/>
          <p:cNvSpPr>
            <a:spLocks noChangeShapeType="1"/>
          </p:cNvSpPr>
          <p:nvPr/>
        </p:nvSpPr>
        <p:spPr bwMode="auto">
          <a:xfrm>
            <a:off x="9056688" y="2967038"/>
            <a:ext cx="0" cy="457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09" name="Line 49"/>
          <p:cNvSpPr>
            <a:spLocks noChangeShapeType="1"/>
          </p:cNvSpPr>
          <p:nvPr/>
        </p:nvSpPr>
        <p:spPr bwMode="auto">
          <a:xfrm flipV="1">
            <a:off x="8229600" y="3402014"/>
            <a:ext cx="838200" cy="484187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10" name="Line 50"/>
          <p:cNvSpPr>
            <a:spLocks noChangeShapeType="1"/>
          </p:cNvSpPr>
          <p:nvPr/>
        </p:nvSpPr>
        <p:spPr bwMode="auto">
          <a:xfrm>
            <a:off x="8534400" y="2667000"/>
            <a:ext cx="0" cy="457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11" name="Freeform 51"/>
          <p:cNvSpPr>
            <a:spLocks/>
          </p:cNvSpPr>
          <p:nvPr/>
        </p:nvSpPr>
        <p:spPr bwMode="auto">
          <a:xfrm>
            <a:off x="8104188" y="3100389"/>
            <a:ext cx="438150" cy="255587"/>
          </a:xfrm>
          <a:custGeom>
            <a:avLst/>
            <a:gdLst>
              <a:gd name="T0" fmla="*/ 2147483647 w 265"/>
              <a:gd name="T1" fmla="*/ 0 h 163"/>
              <a:gd name="T2" fmla="*/ 0 w 265"/>
              <a:gd name="T3" fmla="*/ 2147483647 h 163"/>
              <a:gd name="T4" fmla="*/ 0 60000 65536"/>
              <a:gd name="T5" fmla="*/ 0 60000 65536"/>
              <a:gd name="T6" fmla="*/ 0 w 265"/>
              <a:gd name="T7" fmla="*/ 0 h 163"/>
              <a:gd name="T8" fmla="*/ 265 w 265"/>
              <a:gd name="T9" fmla="*/ 163 h 16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5" h="163">
                <a:moveTo>
                  <a:pt x="265" y="0"/>
                </a:moveTo>
                <a:lnTo>
                  <a:pt x="0" y="163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12" name="Line 52"/>
          <p:cNvSpPr>
            <a:spLocks noChangeShapeType="1"/>
          </p:cNvSpPr>
          <p:nvPr/>
        </p:nvSpPr>
        <p:spPr bwMode="auto">
          <a:xfrm>
            <a:off x="8534400" y="2667001"/>
            <a:ext cx="533400" cy="30797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13" name="Line 53"/>
          <p:cNvSpPr>
            <a:spLocks noChangeShapeType="1"/>
          </p:cNvSpPr>
          <p:nvPr/>
        </p:nvSpPr>
        <p:spPr bwMode="auto">
          <a:xfrm>
            <a:off x="8523288" y="3111501"/>
            <a:ext cx="533400" cy="30797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54"/>
          <p:cNvGrpSpPr>
            <a:grpSpLocks/>
          </p:cNvGrpSpPr>
          <p:nvPr/>
        </p:nvGrpSpPr>
        <p:grpSpPr bwMode="auto">
          <a:xfrm>
            <a:off x="1828800" y="981076"/>
            <a:ext cx="5773738" cy="5038725"/>
            <a:chOff x="192" y="618"/>
            <a:chExt cx="3637" cy="3174"/>
          </a:xfrm>
        </p:grpSpPr>
        <p:grpSp>
          <p:nvGrpSpPr>
            <p:cNvPr id="32833" name="Group 55"/>
            <p:cNvGrpSpPr>
              <a:grpSpLocks/>
            </p:cNvGrpSpPr>
            <p:nvPr/>
          </p:nvGrpSpPr>
          <p:grpSpPr bwMode="auto">
            <a:xfrm>
              <a:off x="192" y="1172"/>
              <a:ext cx="2736" cy="2620"/>
              <a:chOff x="192" y="1172"/>
              <a:chExt cx="2736" cy="2620"/>
            </a:xfrm>
          </p:grpSpPr>
          <p:grpSp>
            <p:nvGrpSpPr>
              <p:cNvPr id="32835" name="Group 56"/>
              <p:cNvGrpSpPr>
                <a:grpSpLocks/>
              </p:cNvGrpSpPr>
              <p:nvPr/>
            </p:nvGrpSpPr>
            <p:grpSpPr bwMode="auto">
              <a:xfrm>
                <a:off x="192" y="1172"/>
                <a:ext cx="1686" cy="2620"/>
                <a:chOff x="192" y="1172"/>
                <a:chExt cx="1686" cy="2620"/>
              </a:xfrm>
            </p:grpSpPr>
            <p:sp>
              <p:nvSpPr>
                <p:cNvPr id="32842" name="Line 57"/>
                <p:cNvSpPr>
                  <a:spLocks noChangeShapeType="1"/>
                </p:cNvSpPr>
                <p:nvPr/>
              </p:nvSpPr>
              <p:spPr bwMode="auto">
                <a:xfrm>
                  <a:off x="1872" y="2592"/>
                  <a:ext cx="0" cy="120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843" name="Freeform 58"/>
                <p:cNvSpPr>
                  <a:spLocks/>
                </p:cNvSpPr>
                <p:nvPr/>
              </p:nvSpPr>
              <p:spPr bwMode="auto">
                <a:xfrm>
                  <a:off x="1864" y="1172"/>
                  <a:ext cx="1" cy="1058"/>
                </a:xfrm>
                <a:custGeom>
                  <a:avLst/>
                  <a:gdLst>
                    <a:gd name="T0" fmla="*/ 0 w 1"/>
                    <a:gd name="T1" fmla="*/ 1058 h 1058"/>
                    <a:gd name="T2" fmla="*/ 0 w 1"/>
                    <a:gd name="T3" fmla="*/ 0 h 1058"/>
                    <a:gd name="T4" fmla="*/ 0 60000 65536"/>
                    <a:gd name="T5" fmla="*/ 0 60000 65536"/>
                    <a:gd name="T6" fmla="*/ 0 w 1"/>
                    <a:gd name="T7" fmla="*/ 0 h 1058"/>
                    <a:gd name="T8" fmla="*/ 1 w 1"/>
                    <a:gd name="T9" fmla="*/ 1058 h 105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" h="1058">
                      <a:moveTo>
                        <a:pt x="0" y="105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844" name="Freeform 59"/>
                <p:cNvSpPr>
                  <a:spLocks/>
                </p:cNvSpPr>
                <p:nvPr/>
              </p:nvSpPr>
              <p:spPr bwMode="auto">
                <a:xfrm>
                  <a:off x="240" y="2230"/>
                  <a:ext cx="1638" cy="1"/>
                </a:xfrm>
                <a:custGeom>
                  <a:avLst/>
                  <a:gdLst>
                    <a:gd name="T0" fmla="*/ 1638 w 1638"/>
                    <a:gd name="T1" fmla="*/ 0 h 1"/>
                    <a:gd name="T2" fmla="*/ 0 w 1638"/>
                    <a:gd name="T3" fmla="*/ 0 h 1"/>
                    <a:gd name="T4" fmla="*/ 0 60000 65536"/>
                    <a:gd name="T5" fmla="*/ 0 60000 65536"/>
                    <a:gd name="T6" fmla="*/ 0 w 1638"/>
                    <a:gd name="T7" fmla="*/ 0 h 1"/>
                    <a:gd name="T8" fmla="*/ 1638 w 1638"/>
                    <a:gd name="T9" fmla="*/ 1 h 1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1638" h="1">
                      <a:moveTo>
                        <a:pt x="1638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845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92" y="2592"/>
                  <a:ext cx="1680" cy="0"/>
                </a:xfrm>
                <a:prstGeom prst="line">
                  <a:avLst/>
                </a:prstGeom>
                <a:noFill/>
                <a:ln w="952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2836" name="Line 61"/>
              <p:cNvSpPr>
                <a:spLocks noChangeShapeType="1"/>
              </p:cNvSpPr>
              <p:nvPr/>
            </p:nvSpPr>
            <p:spPr bwMode="auto">
              <a:xfrm>
                <a:off x="528" y="2596"/>
                <a:ext cx="1338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37" name="Line 62"/>
              <p:cNvSpPr>
                <a:spLocks noChangeShapeType="1"/>
              </p:cNvSpPr>
              <p:nvPr/>
            </p:nvSpPr>
            <p:spPr bwMode="auto">
              <a:xfrm>
                <a:off x="1866" y="2596"/>
                <a:ext cx="0" cy="86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38" name="Line 63"/>
              <p:cNvSpPr>
                <a:spLocks noChangeShapeType="1"/>
              </p:cNvSpPr>
              <p:nvPr/>
            </p:nvSpPr>
            <p:spPr bwMode="auto">
              <a:xfrm>
                <a:off x="528" y="2596"/>
                <a:ext cx="6" cy="852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39" name="Line 64"/>
              <p:cNvSpPr>
                <a:spLocks noChangeShapeType="1"/>
              </p:cNvSpPr>
              <p:nvPr/>
            </p:nvSpPr>
            <p:spPr bwMode="auto">
              <a:xfrm flipH="1" flipV="1">
                <a:off x="534" y="3448"/>
                <a:ext cx="1332" cy="8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840" name="Rectangle 66"/>
              <p:cNvSpPr>
                <a:spLocks noChangeArrowheads="1"/>
              </p:cNvSpPr>
              <p:nvPr/>
            </p:nvSpPr>
            <p:spPr bwMode="auto">
              <a:xfrm>
                <a:off x="528" y="1872"/>
                <a:ext cx="1338" cy="362"/>
              </a:xfrm>
              <a:prstGeom prst="rect">
                <a:avLst/>
              </a:prstGeom>
              <a:noFill/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2841" name="Rectangle 67"/>
              <p:cNvSpPr>
                <a:spLocks noChangeArrowheads="1"/>
              </p:cNvSpPr>
              <p:nvPr/>
            </p:nvSpPr>
            <p:spPr bwMode="auto">
              <a:xfrm rot="-5400000">
                <a:off x="2373" y="1679"/>
                <a:ext cx="362" cy="748"/>
              </a:xfrm>
              <a:prstGeom prst="rect">
                <a:avLst/>
              </a:prstGeom>
              <a:noFill/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2834" name="Text Box 70"/>
            <p:cNvSpPr txBox="1">
              <a:spLocks noChangeArrowheads="1"/>
            </p:cNvSpPr>
            <p:nvPr/>
          </p:nvSpPr>
          <p:spPr bwMode="auto">
            <a:xfrm>
              <a:off x="207" y="618"/>
              <a:ext cx="362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2800" dirty="0">
                  <a:latin typeface="宋体" pitchFamily="2" charset="-122"/>
                </a:rPr>
                <a:t>例</a:t>
              </a:r>
              <a:r>
                <a:rPr lang="en-US" altLang="zh-CN" sz="2800" dirty="0">
                  <a:latin typeface="宋体" pitchFamily="2" charset="-122"/>
                </a:rPr>
                <a:t>3</a:t>
              </a:r>
              <a:r>
                <a:rPr lang="zh-CN" altLang="en-US" sz="2800" dirty="0">
                  <a:latin typeface="宋体" pitchFamily="2" charset="-122"/>
                </a:rPr>
                <a:t>：已知三视图，画轴正等测图</a:t>
              </a:r>
              <a:r>
                <a:rPr lang="zh-CN" altLang="en-US" sz="2800" dirty="0"/>
                <a:t>。</a:t>
              </a:r>
            </a:p>
          </p:txBody>
        </p:sp>
      </p:grpSp>
      <p:sp>
        <p:nvSpPr>
          <p:cNvPr id="32790" name="Text Box 71"/>
          <p:cNvSpPr txBox="1">
            <a:spLocks noChangeArrowheads="1"/>
          </p:cNvSpPr>
          <p:nvPr/>
        </p:nvSpPr>
        <p:spPr bwMode="auto">
          <a:xfrm>
            <a:off x="1593851" y="327027"/>
            <a:ext cx="20256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>
                <a:latin typeface="宋体" pitchFamily="2" charset="-122"/>
              </a:rPr>
              <a:t>⑶ </a:t>
            </a:r>
            <a:r>
              <a:rPr lang="zh-CN" altLang="en-US" sz="3200" b="1" dirty="0">
                <a:latin typeface="宋体" pitchFamily="2" charset="-122"/>
              </a:rPr>
              <a:t>叠加法</a:t>
            </a:r>
          </a:p>
        </p:txBody>
      </p:sp>
      <p:sp>
        <p:nvSpPr>
          <p:cNvPr id="169032" name="Line 72"/>
          <p:cNvSpPr>
            <a:spLocks noChangeShapeType="1"/>
          </p:cNvSpPr>
          <p:nvPr/>
        </p:nvSpPr>
        <p:spPr bwMode="auto">
          <a:xfrm flipH="1">
            <a:off x="2743200" y="2971800"/>
            <a:ext cx="1739900" cy="0"/>
          </a:xfrm>
          <a:prstGeom prst="line">
            <a:avLst/>
          </a:prstGeom>
          <a:noFill/>
          <a:ln w="3810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33" name="Line 73"/>
          <p:cNvSpPr>
            <a:spLocks noChangeShapeType="1"/>
          </p:cNvSpPr>
          <p:nvPr/>
        </p:nvSpPr>
        <p:spPr bwMode="auto">
          <a:xfrm>
            <a:off x="2743200" y="4121150"/>
            <a:ext cx="0" cy="527050"/>
          </a:xfrm>
          <a:prstGeom prst="line">
            <a:avLst/>
          </a:prstGeom>
          <a:noFill/>
          <a:ln w="3810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34" name="Line 74"/>
          <p:cNvSpPr>
            <a:spLocks noChangeShapeType="1"/>
          </p:cNvSpPr>
          <p:nvPr/>
        </p:nvSpPr>
        <p:spPr bwMode="auto">
          <a:xfrm>
            <a:off x="4483100" y="2041526"/>
            <a:ext cx="0" cy="938213"/>
          </a:xfrm>
          <a:prstGeom prst="line">
            <a:avLst/>
          </a:prstGeom>
          <a:noFill/>
          <a:ln w="38100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35" name="Line 75"/>
          <p:cNvSpPr>
            <a:spLocks noChangeShapeType="1"/>
          </p:cNvSpPr>
          <p:nvPr/>
        </p:nvSpPr>
        <p:spPr bwMode="auto">
          <a:xfrm>
            <a:off x="2736850" y="2057400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36" name="Line 76"/>
          <p:cNvSpPr>
            <a:spLocks noChangeShapeType="1"/>
          </p:cNvSpPr>
          <p:nvPr/>
        </p:nvSpPr>
        <p:spPr bwMode="auto">
          <a:xfrm>
            <a:off x="3200400" y="2039938"/>
            <a:ext cx="0" cy="4746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037" name="Line 77"/>
          <p:cNvSpPr>
            <a:spLocks noChangeShapeType="1"/>
          </p:cNvSpPr>
          <p:nvPr/>
        </p:nvSpPr>
        <p:spPr bwMode="auto">
          <a:xfrm flipV="1">
            <a:off x="8534400" y="2438401"/>
            <a:ext cx="381000" cy="219075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0" name="Freeform 8"/>
          <p:cNvSpPr>
            <a:spLocks/>
          </p:cNvSpPr>
          <p:nvPr/>
        </p:nvSpPr>
        <p:spPr bwMode="auto">
          <a:xfrm>
            <a:off x="8177214" y="5145088"/>
            <a:ext cx="1587" cy="552450"/>
          </a:xfrm>
          <a:custGeom>
            <a:avLst/>
            <a:gdLst>
              <a:gd name="T0" fmla="*/ 0 w 1"/>
              <a:gd name="T1" fmla="*/ 2147483647 h 348"/>
              <a:gd name="T2" fmla="*/ 2147483647 w 1"/>
              <a:gd name="T3" fmla="*/ 0 h 348"/>
              <a:gd name="T4" fmla="*/ 0 60000 65536"/>
              <a:gd name="T5" fmla="*/ 0 60000 65536"/>
              <a:gd name="T6" fmla="*/ 0 w 1"/>
              <a:gd name="T7" fmla="*/ 0 h 348"/>
              <a:gd name="T8" fmla="*/ 1 w 1"/>
              <a:gd name="T9" fmla="*/ 348 h 34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48">
                <a:moveTo>
                  <a:pt x="0" y="348"/>
                </a:moveTo>
                <a:lnTo>
                  <a:pt x="1" y="0"/>
                </a:lnTo>
              </a:path>
            </a:pathLst>
          </a:custGeom>
          <a:noFill/>
          <a:ln w="1905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78"/>
          <p:cNvGrpSpPr>
            <a:grpSpLocks/>
          </p:cNvGrpSpPr>
          <p:nvPr/>
        </p:nvGrpSpPr>
        <p:grpSpPr bwMode="auto">
          <a:xfrm>
            <a:off x="6497638" y="2078038"/>
            <a:ext cx="3886200" cy="3808412"/>
            <a:chOff x="3120" y="1285"/>
            <a:chExt cx="2448" cy="2399"/>
          </a:xfrm>
        </p:grpSpPr>
        <p:sp>
          <p:nvSpPr>
            <p:cNvPr id="31776" name="Rectangle 79"/>
            <p:cNvSpPr>
              <a:spLocks noChangeArrowheads="1"/>
            </p:cNvSpPr>
            <p:nvPr/>
          </p:nvSpPr>
          <p:spPr bwMode="auto">
            <a:xfrm>
              <a:off x="3120" y="1285"/>
              <a:ext cx="2448" cy="23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32805" name="Line 80"/>
            <p:cNvSpPr>
              <a:spLocks noChangeShapeType="1"/>
            </p:cNvSpPr>
            <p:nvPr/>
          </p:nvSpPr>
          <p:spPr bwMode="auto">
            <a:xfrm>
              <a:off x="3648" y="2674"/>
              <a:ext cx="336" cy="19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6" name="Line 81"/>
            <p:cNvSpPr>
              <a:spLocks noChangeShapeType="1"/>
            </p:cNvSpPr>
            <p:nvPr/>
          </p:nvSpPr>
          <p:spPr bwMode="auto">
            <a:xfrm flipV="1">
              <a:off x="3984" y="2284"/>
              <a:ext cx="1008" cy="58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7" name="Line 82"/>
            <p:cNvSpPr>
              <a:spLocks noChangeShapeType="1"/>
            </p:cNvSpPr>
            <p:nvPr/>
          </p:nvSpPr>
          <p:spPr bwMode="auto">
            <a:xfrm flipH="1" flipV="1">
              <a:off x="3648" y="2098"/>
              <a:ext cx="0" cy="57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8" name="Line 83"/>
            <p:cNvSpPr>
              <a:spLocks noChangeShapeType="1"/>
            </p:cNvSpPr>
            <p:nvPr/>
          </p:nvSpPr>
          <p:spPr bwMode="auto">
            <a:xfrm flipH="1" flipV="1">
              <a:off x="3984" y="2290"/>
              <a:ext cx="0" cy="57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09" name="Line 84"/>
            <p:cNvSpPr>
              <a:spLocks noChangeShapeType="1"/>
            </p:cNvSpPr>
            <p:nvPr/>
          </p:nvSpPr>
          <p:spPr bwMode="auto">
            <a:xfrm flipH="1" flipV="1">
              <a:off x="4992" y="1714"/>
              <a:ext cx="0" cy="576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0" name="Line 85"/>
            <p:cNvSpPr>
              <a:spLocks noChangeShapeType="1"/>
            </p:cNvSpPr>
            <p:nvPr/>
          </p:nvSpPr>
          <p:spPr bwMode="auto">
            <a:xfrm>
              <a:off x="3648" y="2098"/>
              <a:ext cx="336" cy="19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1" name="Freeform 86"/>
            <p:cNvSpPr>
              <a:spLocks/>
            </p:cNvSpPr>
            <p:nvPr/>
          </p:nvSpPr>
          <p:spPr bwMode="auto">
            <a:xfrm>
              <a:off x="4647" y="1530"/>
              <a:ext cx="345" cy="186"/>
            </a:xfrm>
            <a:custGeom>
              <a:avLst/>
              <a:gdLst>
                <a:gd name="T0" fmla="*/ 0 w 345"/>
                <a:gd name="T1" fmla="*/ 0 h 186"/>
                <a:gd name="T2" fmla="*/ 345 w 345"/>
                <a:gd name="T3" fmla="*/ 186 h 186"/>
                <a:gd name="T4" fmla="*/ 0 60000 65536"/>
                <a:gd name="T5" fmla="*/ 0 60000 65536"/>
                <a:gd name="T6" fmla="*/ 0 w 345"/>
                <a:gd name="T7" fmla="*/ 0 h 186"/>
                <a:gd name="T8" fmla="*/ 345 w 345"/>
                <a:gd name="T9" fmla="*/ 186 h 18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5" h="186">
                  <a:moveTo>
                    <a:pt x="0" y="0"/>
                  </a:moveTo>
                  <a:lnTo>
                    <a:pt x="345" y="186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2" name="Line 87"/>
            <p:cNvSpPr>
              <a:spLocks noChangeShapeType="1"/>
            </p:cNvSpPr>
            <p:nvPr/>
          </p:nvSpPr>
          <p:spPr bwMode="auto">
            <a:xfrm flipV="1">
              <a:off x="4416" y="1529"/>
              <a:ext cx="240" cy="13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3" name="Line 88"/>
            <p:cNvSpPr>
              <a:spLocks noChangeShapeType="1"/>
            </p:cNvSpPr>
            <p:nvPr/>
          </p:nvSpPr>
          <p:spPr bwMode="auto">
            <a:xfrm>
              <a:off x="3888" y="1954"/>
              <a:ext cx="336" cy="19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4" name="Line 89"/>
            <p:cNvSpPr>
              <a:spLocks noChangeShapeType="1"/>
            </p:cNvSpPr>
            <p:nvPr/>
          </p:nvSpPr>
          <p:spPr bwMode="auto">
            <a:xfrm>
              <a:off x="4224" y="2146"/>
              <a:ext cx="0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5" name="Line 90"/>
            <p:cNvSpPr>
              <a:spLocks noChangeShapeType="1"/>
            </p:cNvSpPr>
            <p:nvPr/>
          </p:nvSpPr>
          <p:spPr bwMode="auto">
            <a:xfrm>
              <a:off x="4752" y="1858"/>
              <a:ext cx="0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6" name="Freeform 91"/>
            <p:cNvSpPr>
              <a:spLocks/>
            </p:cNvSpPr>
            <p:nvPr/>
          </p:nvSpPr>
          <p:spPr bwMode="auto">
            <a:xfrm>
              <a:off x="4224" y="2134"/>
              <a:ext cx="525" cy="301"/>
            </a:xfrm>
            <a:custGeom>
              <a:avLst/>
              <a:gdLst>
                <a:gd name="T0" fmla="*/ 0 w 525"/>
                <a:gd name="T1" fmla="*/ 301 h 301"/>
                <a:gd name="T2" fmla="*/ 525 w 525"/>
                <a:gd name="T3" fmla="*/ 0 h 301"/>
                <a:gd name="T4" fmla="*/ 0 60000 65536"/>
                <a:gd name="T5" fmla="*/ 0 60000 65536"/>
                <a:gd name="T6" fmla="*/ 0 w 525"/>
                <a:gd name="T7" fmla="*/ 0 h 301"/>
                <a:gd name="T8" fmla="*/ 525 w 525"/>
                <a:gd name="T9" fmla="*/ 301 h 3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5" h="301">
                  <a:moveTo>
                    <a:pt x="0" y="301"/>
                  </a:moveTo>
                  <a:lnTo>
                    <a:pt x="525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7" name="Line 92"/>
            <p:cNvSpPr>
              <a:spLocks noChangeShapeType="1"/>
            </p:cNvSpPr>
            <p:nvPr/>
          </p:nvSpPr>
          <p:spPr bwMode="auto">
            <a:xfrm>
              <a:off x="4416" y="1666"/>
              <a:ext cx="0" cy="28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8" name="Freeform 93"/>
            <p:cNvSpPr>
              <a:spLocks/>
            </p:cNvSpPr>
            <p:nvPr/>
          </p:nvSpPr>
          <p:spPr bwMode="auto">
            <a:xfrm>
              <a:off x="4151" y="1954"/>
              <a:ext cx="265" cy="163"/>
            </a:xfrm>
            <a:custGeom>
              <a:avLst/>
              <a:gdLst>
                <a:gd name="T0" fmla="*/ 265 w 265"/>
                <a:gd name="T1" fmla="*/ 0 h 163"/>
                <a:gd name="T2" fmla="*/ 0 w 265"/>
                <a:gd name="T3" fmla="*/ 163 h 163"/>
                <a:gd name="T4" fmla="*/ 0 60000 65536"/>
                <a:gd name="T5" fmla="*/ 0 60000 65536"/>
                <a:gd name="T6" fmla="*/ 0 w 265"/>
                <a:gd name="T7" fmla="*/ 0 h 163"/>
                <a:gd name="T8" fmla="*/ 265 w 265"/>
                <a:gd name="T9" fmla="*/ 163 h 1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65" h="163">
                  <a:moveTo>
                    <a:pt x="265" y="0"/>
                  </a:moveTo>
                  <a:lnTo>
                    <a:pt x="0" y="163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19" name="Line 94"/>
            <p:cNvSpPr>
              <a:spLocks noChangeShapeType="1"/>
            </p:cNvSpPr>
            <p:nvPr/>
          </p:nvSpPr>
          <p:spPr bwMode="auto">
            <a:xfrm>
              <a:off x="4416" y="1666"/>
              <a:ext cx="336" cy="19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0" name="Line 95"/>
            <p:cNvSpPr>
              <a:spLocks noChangeShapeType="1"/>
            </p:cNvSpPr>
            <p:nvPr/>
          </p:nvSpPr>
          <p:spPr bwMode="auto">
            <a:xfrm flipV="1">
              <a:off x="3648" y="1961"/>
              <a:ext cx="240" cy="13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1" name="Line 96"/>
            <p:cNvSpPr>
              <a:spLocks noChangeShapeType="1"/>
            </p:cNvSpPr>
            <p:nvPr/>
          </p:nvSpPr>
          <p:spPr bwMode="auto">
            <a:xfrm flipV="1">
              <a:off x="3984" y="2152"/>
              <a:ext cx="240" cy="13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2" name="Line 97"/>
            <p:cNvSpPr>
              <a:spLocks noChangeShapeType="1"/>
            </p:cNvSpPr>
            <p:nvPr/>
          </p:nvSpPr>
          <p:spPr bwMode="auto">
            <a:xfrm flipV="1">
              <a:off x="4752" y="1714"/>
              <a:ext cx="240" cy="138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3" name="Freeform 98"/>
            <p:cNvSpPr>
              <a:spLocks/>
            </p:cNvSpPr>
            <p:nvPr/>
          </p:nvSpPr>
          <p:spPr bwMode="auto">
            <a:xfrm>
              <a:off x="4416" y="1952"/>
              <a:ext cx="340" cy="189"/>
            </a:xfrm>
            <a:custGeom>
              <a:avLst/>
              <a:gdLst>
                <a:gd name="T0" fmla="*/ 0 w 340"/>
                <a:gd name="T1" fmla="*/ 0 h 189"/>
                <a:gd name="T2" fmla="*/ 340 w 340"/>
                <a:gd name="T3" fmla="*/ 189 h 189"/>
                <a:gd name="T4" fmla="*/ 0 60000 65536"/>
                <a:gd name="T5" fmla="*/ 0 60000 65536"/>
                <a:gd name="T6" fmla="*/ 0 w 340"/>
                <a:gd name="T7" fmla="*/ 0 h 189"/>
                <a:gd name="T8" fmla="*/ 340 w 340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0" h="189">
                  <a:moveTo>
                    <a:pt x="0" y="0"/>
                  </a:moveTo>
                  <a:lnTo>
                    <a:pt x="340" y="189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4" name="Freeform 99"/>
            <p:cNvSpPr>
              <a:spLocks/>
            </p:cNvSpPr>
            <p:nvPr/>
          </p:nvSpPr>
          <p:spPr bwMode="auto">
            <a:xfrm>
              <a:off x="3456" y="2769"/>
              <a:ext cx="1" cy="367"/>
            </a:xfrm>
            <a:custGeom>
              <a:avLst/>
              <a:gdLst>
                <a:gd name="T0" fmla="*/ 0 w 1"/>
                <a:gd name="T1" fmla="*/ 367 h 367"/>
                <a:gd name="T2" fmla="*/ 0 w 1"/>
                <a:gd name="T3" fmla="*/ 0 h 367"/>
                <a:gd name="T4" fmla="*/ 0 60000 65536"/>
                <a:gd name="T5" fmla="*/ 0 60000 65536"/>
                <a:gd name="T6" fmla="*/ 0 w 1"/>
                <a:gd name="T7" fmla="*/ 0 h 367"/>
                <a:gd name="T8" fmla="*/ 1 w 1"/>
                <a:gd name="T9" fmla="*/ 367 h 3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67">
                  <a:moveTo>
                    <a:pt x="0" y="367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5" name="Freeform 100"/>
            <p:cNvSpPr>
              <a:spLocks/>
            </p:cNvSpPr>
            <p:nvPr/>
          </p:nvSpPr>
          <p:spPr bwMode="auto">
            <a:xfrm>
              <a:off x="5374" y="2505"/>
              <a:ext cx="1" cy="363"/>
            </a:xfrm>
            <a:custGeom>
              <a:avLst/>
              <a:gdLst>
                <a:gd name="T0" fmla="*/ 0 w 1"/>
                <a:gd name="T1" fmla="*/ 363 h 363"/>
                <a:gd name="T2" fmla="*/ 0 w 1"/>
                <a:gd name="T3" fmla="*/ 0 h 363"/>
                <a:gd name="T4" fmla="*/ 0 60000 65536"/>
                <a:gd name="T5" fmla="*/ 0 60000 65536"/>
                <a:gd name="T6" fmla="*/ 0 w 1"/>
                <a:gd name="T7" fmla="*/ 0 h 363"/>
                <a:gd name="T8" fmla="*/ 1 w 1"/>
                <a:gd name="T9" fmla="*/ 363 h 3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63">
                  <a:moveTo>
                    <a:pt x="0" y="363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6" name="Freeform 101"/>
            <p:cNvSpPr>
              <a:spLocks/>
            </p:cNvSpPr>
            <p:nvPr/>
          </p:nvSpPr>
          <p:spPr bwMode="auto">
            <a:xfrm>
              <a:off x="3461" y="2781"/>
              <a:ext cx="763" cy="413"/>
            </a:xfrm>
            <a:custGeom>
              <a:avLst/>
              <a:gdLst>
                <a:gd name="T0" fmla="*/ 0 w 532"/>
                <a:gd name="T1" fmla="*/ 0 h 301"/>
                <a:gd name="T2" fmla="*/ 6638 w 532"/>
                <a:gd name="T3" fmla="*/ 2757 h 301"/>
                <a:gd name="T4" fmla="*/ 0 60000 65536"/>
                <a:gd name="T5" fmla="*/ 0 60000 65536"/>
                <a:gd name="T6" fmla="*/ 0 w 532"/>
                <a:gd name="T7" fmla="*/ 0 h 301"/>
                <a:gd name="T8" fmla="*/ 532 w 532"/>
                <a:gd name="T9" fmla="*/ 301 h 3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2" h="301">
                  <a:moveTo>
                    <a:pt x="0" y="0"/>
                  </a:moveTo>
                  <a:lnTo>
                    <a:pt x="532" y="30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7" name="Freeform 102"/>
            <p:cNvSpPr>
              <a:spLocks/>
            </p:cNvSpPr>
            <p:nvPr/>
          </p:nvSpPr>
          <p:spPr bwMode="auto">
            <a:xfrm>
              <a:off x="4224" y="2493"/>
              <a:ext cx="1157" cy="701"/>
            </a:xfrm>
            <a:custGeom>
              <a:avLst/>
              <a:gdLst>
                <a:gd name="T0" fmla="*/ 8070 w 837"/>
                <a:gd name="T1" fmla="*/ 0 h 505"/>
                <a:gd name="T2" fmla="*/ 0 w 837"/>
                <a:gd name="T3" fmla="*/ 5015 h 505"/>
                <a:gd name="T4" fmla="*/ 0 60000 65536"/>
                <a:gd name="T5" fmla="*/ 0 60000 65536"/>
                <a:gd name="T6" fmla="*/ 0 w 837"/>
                <a:gd name="T7" fmla="*/ 0 h 505"/>
                <a:gd name="T8" fmla="*/ 837 w 837"/>
                <a:gd name="T9" fmla="*/ 505 h 50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7" h="505">
                  <a:moveTo>
                    <a:pt x="837" y="0"/>
                  </a:moveTo>
                  <a:lnTo>
                    <a:pt x="0" y="505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8" name="Freeform 103"/>
            <p:cNvSpPr>
              <a:spLocks/>
            </p:cNvSpPr>
            <p:nvPr/>
          </p:nvSpPr>
          <p:spPr bwMode="auto">
            <a:xfrm>
              <a:off x="4224" y="3171"/>
              <a:ext cx="1" cy="367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367 h 367"/>
                <a:gd name="T4" fmla="*/ 0 60000 65536"/>
                <a:gd name="T5" fmla="*/ 0 60000 65536"/>
                <a:gd name="T6" fmla="*/ 0 w 1"/>
                <a:gd name="T7" fmla="*/ 0 h 367"/>
                <a:gd name="T8" fmla="*/ 1 w 1"/>
                <a:gd name="T9" fmla="*/ 367 h 3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29" name="Freeform 107"/>
            <p:cNvSpPr>
              <a:spLocks/>
            </p:cNvSpPr>
            <p:nvPr/>
          </p:nvSpPr>
          <p:spPr bwMode="auto">
            <a:xfrm>
              <a:off x="3461" y="3126"/>
              <a:ext cx="763" cy="413"/>
            </a:xfrm>
            <a:custGeom>
              <a:avLst/>
              <a:gdLst>
                <a:gd name="T0" fmla="*/ 0 w 531"/>
                <a:gd name="T1" fmla="*/ 0 h 295"/>
                <a:gd name="T2" fmla="*/ 6715 w 531"/>
                <a:gd name="T3" fmla="*/ 3108 h 295"/>
                <a:gd name="T4" fmla="*/ 0 60000 65536"/>
                <a:gd name="T5" fmla="*/ 0 60000 65536"/>
                <a:gd name="T6" fmla="*/ 0 w 531"/>
                <a:gd name="T7" fmla="*/ 0 h 295"/>
                <a:gd name="T8" fmla="*/ 531 w 531"/>
                <a:gd name="T9" fmla="*/ 295 h 2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1" h="295">
                  <a:moveTo>
                    <a:pt x="0" y="0"/>
                  </a:moveTo>
                  <a:lnTo>
                    <a:pt x="531" y="295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0" name="Freeform 108"/>
            <p:cNvSpPr>
              <a:spLocks/>
            </p:cNvSpPr>
            <p:nvPr/>
          </p:nvSpPr>
          <p:spPr bwMode="auto">
            <a:xfrm>
              <a:off x="4224" y="2856"/>
              <a:ext cx="1153" cy="683"/>
            </a:xfrm>
            <a:custGeom>
              <a:avLst/>
              <a:gdLst>
                <a:gd name="T0" fmla="*/ 9105 w 817"/>
                <a:gd name="T1" fmla="*/ 0 h 487"/>
                <a:gd name="T2" fmla="*/ 0 w 817"/>
                <a:gd name="T3" fmla="*/ 5200 h 487"/>
                <a:gd name="T4" fmla="*/ 0 60000 65536"/>
                <a:gd name="T5" fmla="*/ 0 60000 65536"/>
                <a:gd name="T6" fmla="*/ 0 w 817"/>
                <a:gd name="T7" fmla="*/ 0 h 487"/>
                <a:gd name="T8" fmla="*/ 817 w 817"/>
                <a:gd name="T9" fmla="*/ 487 h 48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17" h="487">
                  <a:moveTo>
                    <a:pt x="817" y="0"/>
                  </a:moveTo>
                  <a:lnTo>
                    <a:pt x="0" y="487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1" name="Line 109"/>
            <p:cNvSpPr>
              <a:spLocks noChangeShapeType="1"/>
            </p:cNvSpPr>
            <p:nvPr/>
          </p:nvSpPr>
          <p:spPr bwMode="auto">
            <a:xfrm flipV="1">
              <a:off x="3456" y="2661"/>
              <a:ext cx="192" cy="111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832" name="Line 110"/>
            <p:cNvSpPr>
              <a:spLocks noChangeShapeType="1"/>
            </p:cNvSpPr>
            <p:nvPr/>
          </p:nvSpPr>
          <p:spPr bwMode="auto">
            <a:xfrm flipH="1" flipV="1">
              <a:off x="4978" y="2276"/>
              <a:ext cx="384" cy="222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" name="Line 77"/>
          <p:cNvSpPr>
            <a:spLocks noChangeShapeType="1"/>
          </p:cNvSpPr>
          <p:nvPr/>
        </p:nvSpPr>
        <p:spPr bwMode="auto">
          <a:xfrm flipV="1">
            <a:off x="9059863" y="2747964"/>
            <a:ext cx="381000" cy="219075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2" name="Line 77"/>
          <p:cNvSpPr>
            <a:spLocks noChangeShapeType="1"/>
          </p:cNvSpPr>
          <p:nvPr/>
        </p:nvSpPr>
        <p:spPr bwMode="auto">
          <a:xfrm flipV="1">
            <a:off x="7324725" y="3132139"/>
            <a:ext cx="381000" cy="219075"/>
          </a:xfrm>
          <a:prstGeom prst="line">
            <a:avLst/>
          </a:prstGeom>
          <a:noFill/>
          <a:ln w="19050">
            <a:solidFill>
              <a:srgbClr val="3333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8" name="Line 75"/>
          <p:cNvSpPr>
            <a:spLocks noChangeShapeType="1"/>
          </p:cNvSpPr>
          <p:nvPr/>
        </p:nvSpPr>
        <p:spPr bwMode="auto">
          <a:xfrm rot="-180000">
            <a:off x="3198814" y="2495550"/>
            <a:ext cx="839787" cy="4603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9" name="Line 76"/>
          <p:cNvSpPr>
            <a:spLocks noChangeShapeType="1"/>
          </p:cNvSpPr>
          <p:nvPr/>
        </p:nvSpPr>
        <p:spPr bwMode="auto">
          <a:xfrm>
            <a:off x="4038600" y="2058988"/>
            <a:ext cx="0" cy="4746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0" name="Line 75"/>
          <p:cNvSpPr>
            <a:spLocks noChangeShapeType="1"/>
          </p:cNvSpPr>
          <p:nvPr/>
        </p:nvSpPr>
        <p:spPr bwMode="auto">
          <a:xfrm>
            <a:off x="4021138" y="2060575"/>
            <a:ext cx="45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168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1000"/>
                                        <p:tgtEl>
                                          <p:spTgt spid="169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8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9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1000"/>
                                        <p:tgtEl>
                                          <p:spTgt spid="169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1000"/>
                                        <p:tgtEl>
                                          <p:spTgt spid="169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69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69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69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68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69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69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6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69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69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68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169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69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69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 animBg="1"/>
      <p:bldP spid="168996" grpId="0" animBg="1"/>
      <p:bldP spid="168997" grpId="0" animBg="1"/>
      <p:bldP spid="168998" grpId="0" animBg="1"/>
      <p:bldP spid="168999" grpId="0" animBg="1"/>
      <p:bldP spid="169000" grpId="0" animBg="1"/>
      <p:bldP spid="169002" grpId="0" animBg="1"/>
      <p:bldP spid="169003" grpId="0" animBg="1"/>
      <p:bldP spid="169005" grpId="0" animBg="1"/>
      <p:bldP spid="169006" grpId="0" animBg="1"/>
      <p:bldP spid="169007" grpId="0" animBg="1"/>
      <p:bldP spid="169008" grpId="0" animBg="1"/>
      <p:bldP spid="169009" grpId="0" animBg="1"/>
      <p:bldP spid="169010" grpId="0" animBg="1"/>
      <p:bldP spid="169011" grpId="0" animBg="1"/>
      <p:bldP spid="169012" grpId="0" animBg="1"/>
      <p:bldP spid="169013" grpId="0" animBg="1"/>
      <p:bldP spid="169032" grpId="0" animBg="1"/>
      <p:bldP spid="169033" grpId="0" animBg="1"/>
      <p:bldP spid="169034" grpId="0" animBg="1"/>
      <p:bldP spid="169035" grpId="0" animBg="1"/>
      <p:bldP spid="169036" grpId="0" animBg="1"/>
      <p:bldP spid="169037" grpId="0" animBg="1"/>
      <p:bldP spid="110" grpId="0" animBg="1"/>
      <p:bldP spid="102" grpId="0" animBg="1"/>
      <p:bldP spid="122" grpId="0" animBg="1"/>
      <p:bldP spid="128" grpId="0" animBg="1"/>
      <p:bldP spid="129" grpId="0" animBg="1"/>
      <p:bldP spid="13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Oval 2"/>
          <p:cNvSpPr>
            <a:spLocks noChangeArrowheads="1"/>
          </p:cNvSpPr>
          <p:nvPr/>
        </p:nvSpPr>
        <p:spPr bwMode="auto">
          <a:xfrm>
            <a:off x="5298467" y="3065460"/>
            <a:ext cx="1946275" cy="1192212"/>
          </a:xfrm>
          <a:prstGeom prst="ellipse">
            <a:avLst/>
          </a:prstGeom>
          <a:solidFill>
            <a:srgbClr val="66FF99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69987" name="Oval 3"/>
          <p:cNvSpPr>
            <a:spLocks noChangeArrowheads="1"/>
          </p:cNvSpPr>
          <p:nvPr/>
        </p:nvSpPr>
        <p:spPr bwMode="auto">
          <a:xfrm rot="-2021843">
            <a:off x="4946042" y="3881436"/>
            <a:ext cx="1177925" cy="1906587"/>
          </a:xfrm>
          <a:prstGeom prst="ellipse">
            <a:avLst/>
          </a:prstGeom>
          <a:solidFill>
            <a:srgbClr val="FFCCFF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69988" name="Line 4"/>
          <p:cNvSpPr>
            <a:spLocks noChangeShapeType="1"/>
          </p:cNvSpPr>
          <p:nvPr/>
        </p:nvSpPr>
        <p:spPr bwMode="auto">
          <a:xfrm>
            <a:off x="4814279" y="3662360"/>
            <a:ext cx="291465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89" name="Line 5"/>
          <p:cNvSpPr>
            <a:spLocks noChangeShapeType="1"/>
          </p:cNvSpPr>
          <p:nvPr/>
        </p:nvSpPr>
        <p:spPr bwMode="auto">
          <a:xfrm>
            <a:off x="4814279" y="3662360"/>
            <a:ext cx="1458912" cy="238125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0" name="Line 6"/>
          <p:cNvSpPr>
            <a:spLocks noChangeShapeType="1"/>
          </p:cNvSpPr>
          <p:nvPr/>
        </p:nvSpPr>
        <p:spPr bwMode="auto">
          <a:xfrm flipV="1">
            <a:off x="4814279" y="4494210"/>
            <a:ext cx="1458912" cy="715962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1" name="Oval 7"/>
          <p:cNvSpPr>
            <a:spLocks noChangeArrowheads="1"/>
          </p:cNvSpPr>
          <p:nvPr/>
        </p:nvSpPr>
        <p:spPr bwMode="auto">
          <a:xfrm rot="2100000">
            <a:off x="6393841" y="3925885"/>
            <a:ext cx="1187450" cy="1860550"/>
          </a:xfrm>
          <a:prstGeom prst="ellipse">
            <a:avLst/>
          </a:prstGeom>
          <a:solidFill>
            <a:srgbClr val="FFFF66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69992" name="Line 8"/>
          <p:cNvSpPr>
            <a:spLocks noChangeShapeType="1"/>
          </p:cNvSpPr>
          <p:nvPr/>
        </p:nvSpPr>
        <p:spPr bwMode="auto">
          <a:xfrm flipH="1">
            <a:off x="6273191" y="3662360"/>
            <a:ext cx="1455738" cy="238125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3" name="Line 9"/>
          <p:cNvSpPr>
            <a:spLocks noChangeShapeType="1"/>
          </p:cNvSpPr>
          <p:nvPr/>
        </p:nvSpPr>
        <p:spPr bwMode="auto">
          <a:xfrm>
            <a:off x="6273191" y="4494210"/>
            <a:ext cx="1455738" cy="715962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9994" name="Line 10"/>
          <p:cNvSpPr>
            <a:spLocks noChangeShapeType="1"/>
          </p:cNvSpPr>
          <p:nvPr/>
        </p:nvSpPr>
        <p:spPr bwMode="auto">
          <a:xfrm>
            <a:off x="6273191" y="2825748"/>
            <a:ext cx="0" cy="1668463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3" name="Text Box 11"/>
          <p:cNvSpPr txBox="1">
            <a:spLocks noChangeArrowheads="1"/>
          </p:cNvSpPr>
          <p:nvPr/>
        </p:nvSpPr>
        <p:spPr bwMode="auto">
          <a:xfrm>
            <a:off x="3635668" y="393457"/>
            <a:ext cx="47163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回转体的正等轴测图画法</a:t>
            </a:r>
          </a:p>
        </p:txBody>
      </p:sp>
      <p:sp>
        <p:nvSpPr>
          <p:cNvPr id="169996" name="Text Box 12"/>
          <p:cNvSpPr txBox="1">
            <a:spLocks noChangeArrowheads="1"/>
          </p:cNvSpPr>
          <p:nvPr/>
        </p:nvSpPr>
        <p:spPr bwMode="auto">
          <a:xfrm>
            <a:off x="983432" y="1267728"/>
            <a:ext cx="582563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800" dirty="0">
                <a:latin typeface="+mn-ea"/>
                <a:ea typeface="+mn-ea"/>
              </a:rPr>
              <a:t>⑴ </a:t>
            </a:r>
            <a:r>
              <a:rPr lang="zh-CN" altLang="en-US" sz="2800" dirty="0">
                <a:solidFill>
                  <a:schemeClr val="tx2"/>
                </a:solidFill>
                <a:latin typeface="+mn-ea"/>
                <a:ea typeface="+mn-ea"/>
              </a:rPr>
              <a:t>平行于各个坐标面的椭圆的画法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169997" name="AutoShape 13"/>
          <p:cNvSpPr>
            <a:spLocks noChangeArrowheads="1"/>
          </p:cNvSpPr>
          <p:nvPr/>
        </p:nvSpPr>
        <p:spPr bwMode="auto">
          <a:xfrm>
            <a:off x="8007501" y="1772607"/>
            <a:ext cx="2846388" cy="1066800"/>
          </a:xfrm>
          <a:prstGeom prst="wedgeRoundRectCallout">
            <a:avLst>
              <a:gd name="adj1" fmla="val -87034"/>
              <a:gd name="adj2" fmla="val 99106"/>
              <a:gd name="adj3" fmla="val 16667"/>
            </a:avLst>
          </a:prstGeom>
          <a:solidFill>
            <a:srgbClr val="99FFCC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平行于</a:t>
            </a:r>
            <a:r>
              <a:rPr lang="en-US" altLang="zh-CN" sz="2800" dirty="0">
                <a:latin typeface="宋体" pitchFamily="2" charset="-122"/>
              </a:rPr>
              <a:t>H</a:t>
            </a:r>
            <a:r>
              <a:rPr lang="zh-CN" altLang="en-US" sz="2800" dirty="0">
                <a:latin typeface="宋体" pitchFamily="2" charset="-122"/>
              </a:rPr>
              <a:t>面的椭</a:t>
            </a:r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圆长轴⊥</a:t>
            </a:r>
            <a:r>
              <a:rPr lang="en-US" altLang="zh-CN" sz="2800" dirty="0">
                <a:latin typeface="宋体" pitchFamily="2" charset="-122"/>
              </a:rPr>
              <a:t>O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en-US" altLang="zh-CN" sz="2800" dirty="0">
                <a:latin typeface="宋体" pitchFamily="2" charset="-122"/>
              </a:rPr>
              <a:t>Z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zh-CN" altLang="en-US" sz="2800" dirty="0">
                <a:latin typeface="宋体" pitchFamily="2" charset="-122"/>
              </a:rPr>
              <a:t>轴</a:t>
            </a:r>
          </a:p>
        </p:txBody>
      </p:sp>
      <p:sp>
        <p:nvSpPr>
          <p:cNvPr id="169998" name="AutoShape 14"/>
          <p:cNvSpPr>
            <a:spLocks noChangeArrowheads="1"/>
          </p:cNvSpPr>
          <p:nvPr/>
        </p:nvSpPr>
        <p:spPr bwMode="auto">
          <a:xfrm>
            <a:off x="8775091" y="4205283"/>
            <a:ext cx="2152650" cy="1347788"/>
          </a:xfrm>
          <a:prstGeom prst="wedgeRoundRectCallout">
            <a:avLst>
              <a:gd name="adj1" fmla="val -105531"/>
              <a:gd name="adj2" fmla="val -20437"/>
              <a:gd name="adj3" fmla="val 16667"/>
            </a:avLst>
          </a:prstGeom>
          <a:solidFill>
            <a:srgbClr val="FFFF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平行于</a:t>
            </a:r>
            <a:r>
              <a:rPr lang="en-US" altLang="zh-CN" sz="2800" dirty="0">
                <a:latin typeface="宋体" pitchFamily="2" charset="-122"/>
              </a:rPr>
              <a:t>V</a:t>
            </a:r>
            <a:r>
              <a:rPr lang="zh-CN" altLang="en-US" sz="2800" dirty="0">
                <a:latin typeface="宋体" pitchFamily="2" charset="-122"/>
              </a:rPr>
              <a:t>面</a:t>
            </a:r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的椭圆长轴</a:t>
            </a:r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⊥</a:t>
            </a:r>
            <a:r>
              <a:rPr lang="en-US" altLang="zh-CN" sz="2800" dirty="0">
                <a:latin typeface="宋体" pitchFamily="2" charset="-122"/>
              </a:rPr>
              <a:t>O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en-US" altLang="zh-CN" sz="2800" dirty="0">
                <a:latin typeface="宋体" pitchFamily="2" charset="-122"/>
              </a:rPr>
              <a:t>Y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zh-CN" altLang="en-US" sz="2800" dirty="0">
                <a:latin typeface="宋体" pitchFamily="2" charset="-122"/>
              </a:rPr>
              <a:t>轴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4115780" y="2160586"/>
            <a:ext cx="4448175" cy="3883025"/>
            <a:chOff x="1493" y="1135"/>
            <a:chExt cx="2802" cy="2446"/>
          </a:xfrm>
        </p:grpSpPr>
        <p:sp>
          <p:nvSpPr>
            <p:cNvPr id="33809" name="Line 16"/>
            <p:cNvSpPr>
              <a:spLocks noChangeShapeType="1"/>
            </p:cNvSpPr>
            <p:nvPr/>
          </p:nvSpPr>
          <p:spPr bwMode="auto">
            <a:xfrm>
              <a:off x="2852" y="2605"/>
              <a:ext cx="0" cy="9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3810" name="Group 17"/>
            <p:cNvGrpSpPr>
              <a:grpSpLocks/>
            </p:cNvGrpSpPr>
            <p:nvPr/>
          </p:nvGrpSpPr>
          <p:grpSpPr bwMode="auto">
            <a:xfrm>
              <a:off x="1493" y="1135"/>
              <a:ext cx="2802" cy="2446"/>
              <a:chOff x="1493" y="1135"/>
              <a:chExt cx="2802" cy="2446"/>
            </a:xfrm>
          </p:grpSpPr>
          <p:sp>
            <p:nvSpPr>
              <p:cNvPr id="33811" name="Freeform 18"/>
              <p:cNvSpPr>
                <a:spLocks/>
              </p:cNvSpPr>
              <p:nvPr/>
            </p:nvSpPr>
            <p:spPr bwMode="auto">
              <a:xfrm>
                <a:off x="2852" y="1311"/>
                <a:ext cx="1" cy="243"/>
              </a:xfrm>
              <a:custGeom>
                <a:avLst/>
                <a:gdLst>
                  <a:gd name="T0" fmla="*/ 0 w 1"/>
                  <a:gd name="T1" fmla="*/ 0 h 243"/>
                  <a:gd name="T2" fmla="*/ 1 w 1"/>
                  <a:gd name="T3" fmla="*/ 243 h 243"/>
                  <a:gd name="T4" fmla="*/ 0 60000 65536"/>
                  <a:gd name="T5" fmla="*/ 0 60000 65536"/>
                  <a:gd name="T6" fmla="*/ 0 w 1"/>
                  <a:gd name="T7" fmla="*/ 0 h 243"/>
                  <a:gd name="T8" fmla="*/ 1 w 1"/>
                  <a:gd name="T9" fmla="*/ 243 h 24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243">
                    <a:moveTo>
                      <a:pt x="0" y="0"/>
                    </a:moveTo>
                    <a:lnTo>
                      <a:pt x="1" y="243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2" name="Freeform 19"/>
              <p:cNvSpPr>
                <a:spLocks/>
              </p:cNvSpPr>
              <p:nvPr/>
            </p:nvSpPr>
            <p:spPr bwMode="auto">
              <a:xfrm>
                <a:off x="1681" y="3056"/>
                <a:ext cx="252" cy="125"/>
              </a:xfrm>
              <a:custGeom>
                <a:avLst/>
                <a:gdLst>
                  <a:gd name="T0" fmla="*/ 4012 w 212"/>
                  <a:gd name="T1" fmla="*/ 0 h 97"/>
                  <a:gd name="T2" fmla="*/ 0 w 212"/>
                  <a:gd name="T3" fmla="*/ 7214 h 97"/>
                  <a:gd name="T4" fmla="*/ 0 60000 65536"/>
                  <a:gd name="T5" fmla="*/ 0 60000 65536"/>
                  <a:gd name="T6" fmla="*/ 0 w 212"/>
                  <a:gd name="T7" fmla="*/ 0 h 97"/>
                  <a:gd name="T8" fmla="*/ 212 w 212"/>
                  <a:gd name="T9" fmla="*/ 97 h 9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2" h="97">
                    <a:moveTo>
                      <a:pt x="212" y="0"/>
                    </a:moveTo>
                    <a:lnTo>
                      <a:pt x="0" y="97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3" name="Freeform 20"/>
              <p:cNvSpPr>
                <a:spLocks/>
              </p:cNvSpPr>
              <p:nvPr/>
            </p:nvSpPr>
            <p:spPr bwMode="auto">
              <a:xfrm>
                <a:off x="3769" y="3056"/>
                <a:ext cx="277" cy="125"/>
              </a:xfrm>
              <a:custGeom>
                <a:avLst/>
                <a:gdLst>
                  <a:gd name="T0" fmla="*/ 0 w 233"/>
                  <a:gd name="T1" fmla="*/ 0 h 97"/>
                  <a:gd name="T2" fmla="*/ 4401 w 233"/>
                  <a:gd name="T3" fmla="*/ 7214 h 97"/>
                  <a:gd name="T4" fmla="*/ 0 60000 65536"/>
                  <a:gd name="T5" fmla="*/ 0 60000 65536"/>
                  <a:gd name="T6" fmla="*/ 0 w 233"/>
                  <a:gd name="T7" fmla="*/ 0 h 97"/>
                  <a:gd name="T8" fmla="*/ 233 w 233"/>
                  <a:gd name="T9" fmla="*/ 97 h 9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33" h="97">
                    <a:moveTo>
                      <a:pt x="0" y="0"/>
                    </a:moveTo>
                    <a:lnTo>
                      <a:pt x="233" y="97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4" name="Line 21"/>
              <p:cNvSpPr>
                <a:spLocks noChangeShapeType="1"/>
              </p:cNvSpPr>
              <p:nvPr/>
            </p:nvSpPr>
            <p:spPr bwMode="auto">
              <a:xfrm>
                <a:off x="2852" y="1554"/>
                <a:ext cx="917" cy="5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5" name="Line 22"/>
              <p:cNvSpPr>
                <a:spLocks noChangeShapeType="1"/>
              </p:cNvSpPr>
              <p:nvPr/>
            </p:nvSpPr>
            <p:spPr bwMode="auto">
              <a:xfrm>
                <a:off x="3769" y="2081"/>
                <a:ext cx="0" cy="9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6" name="Line 23"/>
              <p:cNvSpPr>
                <a:spLocks noChangeShapeType="1"/>
              </p:cNvSpPr>
              <p:nvPr/>
            </p:nvSpPr>
            <p:spPr bwMode="auto">
              <a:xfrm flipH="1">
                <a:off x="1933" y="1554"/>
                <a:ext cx="919" cy="5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7" name="Line 24"/>
              <p:cNvSpPr>
                <a:spLocks noChangeShapeType="1"/>
              </p:cNvSpPr>
              <p:nvPr/>
            </p:nvSpPr>
            <p:spPr bwMode="auto">
              <a:xfrm>
                <a:off x="1933" y="2081"/>
                <a:ext cx="919" cy="5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8" name="Line 25"/>
              <p:cNvSpPr>
                <a:spLocks noChangeShapeType="1"/>
              </p:cNvSpPr>
              <p:nvPr/>
            </p:nvSpPr>
            <p:spPr bwMode="auto">
              <a:xfrm flipV="1">
                <a:off x="2852" y="2081"/>
                <a:ext cx="917" cy="5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19" name="Line 26"/>
              <p:cNvSpPr>
                <a:spLocks noChangeShapeType="1"/>
              </p:cNvSpPr>
              <p:nvPr/>
            </p:nvSpPr>
            <p:spPr bwMode="auto">
              <a:xfrm flipV="1">
                <a:off x="2852" y="3056"/>
                <a:ext cx="917" cy="5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20" name="Line 27"/>
              <p:cNvSpPr>
                <a:spLocks noChangeShapeType="1"/>
              </p:cNvSpPr>
              <p:nvPr/>
            </p:nvSpPr>
            <p:spPr bwMode="auto">
              <a:xfrm>
                <a:off x="1933" y="3056"/>
                <a:ext cx="919" cy="52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21" name="Line 28"/>
              <p:cNvSpPr>
                <a:spLocks noChangeShapeType="1"/>
              </p:cNvSpPr>
              <p:nvPr/>
            </p:nvSpPr>
            <p:spPr bwMode="auto">
              <a:xfrm>
                <a:off x="1933" y="2081"/>
                <a:ext cx="0" cy="9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822" name="Text Box 29"/>
              <p:cNvSpPr txBox="1">
                <a:spLocks noChangeArrowheads="1"/>
              </p:cNvSpPr>
              <p:nvPr/>
            </p:nvSpPr>
            <p:spPr bwMode="auto">
              <a:xfrm>
                <a:off x="1493" y="3067"/>
                <a:ext cx="26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/>
                  <a:t>X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33823" name="Text Box 30"/>
              <p:cNvSpPr txBox="1">
                <a:spLocks noChangeArrowheads="1"/>
              </p:cNvSpPr>
              <p:nvPr/>
            </p:nvSpPr>
            <p:spPr bwMode="auto">
              <a:xfrm>
                <a:off x="4028" y="3067"/>
                <a:ext cx="26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/>
                  <a:t>Y</a:t>
                </a:r>
                <a:r>
                  <a:rPr lang="en-US" altLang="zh-CN" baseline="-25000"/>
                  <a:t>1</a:t>
                </a:r>
                <a:endParaRPr lang="en-US" altLang="zh-CN"/>
              </a:p>
            </p:txBody>
          </p:sp>
          <p:sp>
            <p:nvSpPr>
              <p:cNvPr id="33824" name="Text Box 31"/>
              <p:cNvSpPr txBox="1">
                <a:spLocks noChangeArrowheads="1"/>
              </p:cNvSpPr>
              <p:nvPr/>
            </p:nvSpPr>
            <p:spPr bwMode="auto">
              <a:xfrm>
                <a:off x="2567" y="1135"/>
                <a:ext cx="28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/>
                  <a:t>Z</a:t>
                </a:r>
                <a:r>
                  <a:rPr lang="en-US" altLang="zh-CN" baseline="-25000"/>
                  <a:t>1 </a:t>
                </a:r>
                <a:endParaRPr lang="en-US" altLang="zh-CN"/>
              </a:p>
            </p:txBody>
          </p:sp>
        </p:grpSp>
      </p:grpSp>
      <p:sp>
        <p:nvSpPr>
          <p:cNvPr id="170016" name="AutoShape 32"/>
          <p:cNvSpPr>
            <a:spLocks noChangeArrowheads="1"/>
          </p:cNvSpPr>
          <p:nvPr/>
        </p:nvSpPr>
        <p:spPr bwMode="auto">
          <a:xfrm>
            <a:off x="1448021" y="2752874"/>
            <a:ext cx="3092450" cy="1066800"/>
          </a:xfrm>
          <a:prstGeom prst="wedgeRoundRectCallout">
            <a:avLst>
              <a:gd name="adj1" fmla="val 63657"/>
              <a:gd name="adj2" fmla="val 94194"/>
              <a:gd name="adj3" fmla="val 16667"/>
            </a:avLst>
          </a:prstGeom>
          <a:solidFill>
            <a:srgbClr val="FFCCFF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r>
              <a:rPr lang="zh-CN" altLang="en-US" sz="2800" dirty="0"/>
              <a:t>平行于</a:t>
            </a:r>
            <a:r>
              <a:rPr lang="en-US" altLang="zh-CN" sz="2800" dirty="0"/>
              <a:t>W</a:t>
            </a:r>
            <a:r>
              <a:rPr lang="zh-CN" altLang="en-US" sz="2800" dirty="0"/>
              <a:t>面的椭</a:t>
            </a:r>
          </a:p>
          <a:p>
            <a:pPr eaLnBrk="1" hangingPunct="1"/>
            <a:r>
              <a:rPr lang="zh-CN" altLang="en-US" sz="2800" dirty="0"/>
              <a:t>圆长轴⊥</a:t>
            </a:r>
            <a:r>
              <a:rPr lang="en-US" altLang="zh-CN" sz="2800" dirty="0">
                <a:latin typeface="宋体" pitchFamily="2" charset="-122"/>
              </a:rPr>
              <a:t>O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en-US" altLang="zh-CN" sz="2800" dirty="0">
                <a:latin typeface="宋体" pitchFamily="2" charset="-122"/>
              </a:rPr>
              <a:t>X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zh-CN" altLang="en-US" sz="2800" dirty="0"/>
              <a:t>轴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9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69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9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9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0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0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6" grpId="0" animBg="1"/>
      <p:bldP spid="169987" grpId="0" animBg="1"/>
      <p:bldP spid="169988" grpId="0" animBg="1"/>
      <p:bldP spid="169989" grpId="0" animBg="1"/>
      <p:bldP spid="169990" grpId="0" animBg="1"/>
      <p:bldP spid="169991" grpId="0" animBg="1"/>
      <p:bldP spid="169992" grpId="0" animBg="1"/>
      <p:bldP spid="169993" grpId="0" animBg="1"/>
      <p:bldP spid="169994" grpId="0" animBg="1"/>
      <p:bldP spid="169996" grpId="0" autoUpdateAnimBg="0"/>
      <p:bldP spid="169997" grpId="0" animBg="1" autoUpdateAnimBg="0"/>
      <p:bldP spid="169998" grpId="0" animBg="1" autoUpdateAnimBg="0"/>
      <p:bldP spid="170016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Oval 2"/>
          <p:cNvSpPr>
            <a:spLocks noChangeArrowheads="1"/>
          </p:cNvSpPr>
          <p:nvPr/>
        </p:nvSpPr>
        <p:spPr bwMode="auto">
          <a:xfrm>
            <a:off x="6953671" y="2601623"/>
            <a:ext cx="2362200" cy="13716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72035" name="Freeform 3"/>
          <p:cNvSpPr>
            <a:spLocks/>
          </p:cNvSpPr>
          <p:nvPr/>
        </p:nvSpPr>
        <p:spPr bwMode="auto">
          <a:xfrm>
            <a:off x="7242596" y="2576223"/>
            <a:ext cx="1790700" cy="254000"/>
          </a:xfrm>
          <a:custGeom>
            <a:avLst/>
            <a:gdLst>
              <a:gd name="T0" fmla="*/ 0 w 1128"/>
              <a:gd name="T1" fmla="*/ 2147483647 h 160"/>
              <a:gd name="T2" fmla="*/ 2147483647 w 1128"/>
              <a:gd name="T3" fmla="*/ 2147483647 h 160"/>
              <a:gd name="T4" fmla="*/ 2147483647 w 1128"/>
              <a:gd name="T5" fmla="*/ 2147483647 h 160"/>
              <a:gd name="T6" fmla="*/ 2147483647 w 1128"/>
              <a:gd name="T7" fmla="*/ 2147483647 h 160"/>
              <a:gd name="T8" fmla="*/ 2147483647 w 1128"/>
              <a:gd name="T9" fmla="*/ 2147483647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28"/>
              <a:gd name="T16" fmla="*/ 0 h 160"/>
              <a:gd name="T17" fmla="*/ 1128 w 1128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28" h="160">
                <a:moveTo>
                  <a:pt x="0" y="153"/>
                </a:moveTo>
                <a:cubicBezTo>
                  <a:pt x="48" y="135"/>
                  <a:pt x="199" y="71"/>
                  <a:pt x="290" y="46"/>
                </a:cubicBezTo>
                <a:cubicBezTo>
                  <a:pt x="381" y="21"/>
                  <a:pt x="450" y="0"/>
                  <a:pt x="547" y="2"/>
                </a:cubicBezTo>
                <a:cubicBezTo>
                  <a:pt x="644" y="4"/>
                  <a:pt x="775" y="29"/>
                  <a:pt x="872" y="55"/>
                </a:cubicBezTo>
                <a:cubicBezTo>
                  <a:pt x="969" y="81"/>
                  <a:pt x="1075" y="138"/>
                  <a:pt x="1128" y="16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36" name="Freeform 4"/>
          <p:cNvSpPr>
            <a:spLocks/>
          </p:cNvSpPr>
          <p:nvPr/>
        </p:nvSpPr>
        <p:spPr bwMode="auto">
          <a:xfrm>
            <a:off x="7204496" y="3744623"/>
            <a:ext cx="1843088" cy="222250"/>
          </a:xfrm>
          <a:custGeom>
            <a:avLst/>
            <a:gdLst>
              <a:gd name="T0" fmla="*/ 0 w 1161"/>
              <a:gd name="T1" fmla="*/ 0 h 140"/>
              <a:gd name="T2" fmla="*/ 2147483647 w 1161"/>
              <a:gd name="T3" fmla="*/ 2147483647 h 140"/>
              <a:gd name="T4" fmla="*/ 2147483647 w 1161"/>
              <a:gd name="T5" fmla="*/ 2147483647 h 140"/>
              <a:gd name="T6" fmla="*/ 2147483647 w 1161"/>
              <a:gd name="T7" fmla="*/ 2147483647 h 140"/>
              <a:gd name="T8" fmla="*/ 2147483647 w 1161"/>
              <a:gd name="T9" fmla="*/ 0 h 1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61"/>
              <a:gd name="T16" fmla="*/ 0 h 140"/>
              <a:gd name="T17" fmla="*/ 1161 w 1161"/>
              <a:gd name="T18" fmla="*/ 140 h 1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61" h="140">
                <a:moveTo>
                  <a:pt x="0" y="0"/>
                </a:moveTo>
                <a:cubicBezTo>
                  <a:pt x="41" y="16"/>
                  <a:pt x="158" y="73"/>
                  <a:pt x="246" y="96"/>
                </a:cubicBezTo>
                <a:cubicBezTo>
                  <a:pt x="334" y="119"/>
                  <a:pt x="423" y="136"/>
                  <a:pt x="529" y="138"/>
                </a:cubicBezTo>
                <a:cubicBezTo>
                  <a:pt x="635" y="140"/>
                  <a:pt x="777" y="133"/>
                  <a:pt x="882" y="110"/>
                </a:cubicBezTo>
                <a:cubicBezTo>
                  <a:pt x="987" y="87"/>
                  <a:pt x="1103" y="23"/>
                  <a:pt x="1161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37" name="Freeform 5"/>
          <p:cNvSpPr>
            <a:spLocks/>
          </p:cNvSpPr>
          <p:nvPr/>
        </p:nvSpPr>
        <p:spPr bwMode="auto">
          <a:xfrm>
            <a:off x="9047584" y="2842923"/>
            <a:ext cx="252412" cy="901700"/>
          </a:xfrm>
          <a:custGeom>
            <a:avLst/>
            <a:gdLst>
              <a:gd name="T0" fmla="*/ 0 w 159"/>
              <a:gd name="T1" fmla="*/ 2147483647 h 568"/>
              <a:gd name="T2" fmla="*/ 2147483647 w 159"/>
              <a:gd name="T3" fmla="*/ 2147483647 h 568"/>
              <a:gd name="T4" fmla="*/ 2147483647 w 159"/>
              <a:gd name="T5" fmla="*/ 2147483647 h 568"/>
              <a:gd name="T6" fmla="*/ 2147483647 w 159"/>
              <a:gd name="T7" fmla="*/ 2147483647 h 568"/>
              <a:gd name="T8" fmla="*/ 0 w 159"/>
              <a:gd name="T9" fmla="*/ 0 h 5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9"/>
              <a:gd name="T16" fmla="*/ 0 h 568"/>
              <a:gd name="T17" fmla="*/ 159 w 159"/>
              <a:gd name="T18" fmla="*/ 568 h 5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9" h="568">
                <a:moveTo>
                  <a:pt x="0" y="568"/>
                </a:moveTo>
                <a:cubicBezTo>
                  <a:pt x="19" y="546"/>
                  <a:pt x="90" y="488"/>
                  <a:pt x="116" y="438"/>
                </a:cubicBezTo>
                <a:cubicBezTo>
                  <a:pt x="142" y="388"/>
                  <a:pt x="159" y="320"/>
                  <a:pt x="159" y="268"/>
                </a:cubicBezTo>
                <a:cubicBezTo>
                  <a:pt x="159" y="216"/>
                  <a:pt x="142" y="172"/>
                  <a:pt x="116" y="127"/>
                </a:cubicBezTo>
                <a:cubicBezTo>
                  <a:pt x="90" y="82"/>
                  <a:pt x="24" y="2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38" name="Freeform 6"/>
          <p:cNvSpPr>
            <a:spLocks/>
          </p:cNvSpPr>
          <p:nvPr/>
        </p:nvSpPr>
        <p:spPr bwMode="auto">
          <a:xfrm>
            <a:off x="6937797" y="2820699"/>
            <a:ext cx="322263" cy="923925"/>
          </a:xfrm>
          <a:custGeom>
            <a:avLst/>
            <a:gdLst>
              <a:gd name="T0" fmla="*/ 2147483647 w 203"/>
              <a:gd name="T1" fmla="*/ 2147483647 h 582"/>
              <a:gd name="T2" fmla="*/ 2147483647 w 203"/>
              <a:gd name="T3" fmla="*/ 2147483647 h 582"/>
              <a:gd name="T4" fmla="*/ 2147483647 w 203"/>
              <a:gd name="T5" fmla="*/ 2147483647 h 582"/>
              <a:gd name="T6" fmla="*/ 2147483647 w 203"/>
              <a:gd name="T7" fmla="*/ 2147483647 h 582"/>
              <a:gd name="T8" fmla="*/ 2147483647 w 203"/>
              <a:gd name="T9" fmla="*/ 0 h 5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3"/>
              <a:gd name="T16" fmla="*/ 0 h 582"/>
              <a:gd name="T17" fmla="*/ 203 w 203"/>
              <a:gd name="T18" fmla="*/ 582 h 58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3" h="582">
                <a:moveTo>
                  <a:pt x="168" y="582"/>
                </a:moveTo>
                <a:cubicBezTo>
                  <a:pt x="146" y="558"/>
                  <a:pt x="60" y="490"/>
                  <a:pt x="33" y="438"/>
                </a:cubicBezTo>
                <a:cubicBezTo>
                  <a:pt x="6" y="386"/>
                  <a:pt x="0" y="322"/>
                  <a:pt x="5" y="268"/>
                </a:cubicBezTo>
                <a:cubicBezTo>
                  <a:pt x="10" y="214"/>
                  <a:pt x="28" y="158"/>
                  <a:pt x="61" y="113"/>
                </a:cubicBezTo>
                <a:cubicBezTo>
                  <a:pt x="94" y="68"/>
                  <a:pt x="174" y="24"/>
                  <a:pt x="203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39" name="Freeform 7"/>
          <p:cNvSpPr>
            <a:spLocks/>
          </p:cNvSpPr>
          <p:nvPr/>
        </p:nvSpPr>
        <p:spPr bwMode="auto">
          <a:xfrm>
            <a:off x="6967959" y="2663536"/>
            <a:ext cx="2398712" cy="1255712"/>
          </a:xfrm>
          <a:custGeom>
            <a:avLst/>
            <a:gdLst>
              <a:gd name="T0" fmla="*/ 0 w 1511"/>
              <a:gd name="T1" fmla="*/ 0 h 791"/>
              <a:gd name="T2" fmla="*/ 2147483647 w 1511"/>
              <a:gd name="T3" fmla="*/ 2147483647 h 791"/>
              <a:gd name="T4" fmla="*/ 0 60000 65536"/>
              <a:gd name="T5" fmla="*/ 0 60000 65536"/>
              <a:gd name="T6" fmla="*/ 0 w 1511"/>
              <a:gd name="T7" fmla="*/ 0 h 791"/>
              <a:gd name="T8" fmla="*/ 1511 w 1511"/>
              <a:gd name="T9" fmla="*/ 791 h 79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11" h="791">
                <a:moveTo>
                  <a:pt x="0" y="0"/>
                </a:moveTo>
                <a:lnTo>
                  <a:pt x="1511" y="791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0" name="Freeform 8"/>
          <p:cNvSpPr>
            <a:spLocks/>
          </p:cNvSpPr>
          <p:nvPr/>
        </p:nvSpPr>
        <p:spPr bwMode="auto">
          <a:xfrm>
            <a:off x="6901285" y="2669887"/>
            <a:ext cx="2509837" cy="1209675"/>
          </a:xfrm>
          <a:custGeom>
            <a:avLst/>
            <a:gdLst>
              <a:gd name="T0" fmla="*/ 2147483647 w 1581"/>
              <a:gd name="T1" fmla="*/ 0 h 762"/>
              <a:gd name="T2" fmla="*/ 0 w 1581"/>
              <a:gd name="T3" fmla="*/ 2147483647 h 762"/>
              <a:gd name="T4" fmla="*/ 0 60000 65536"/>
              <a:gd name="T5" fmla="*/ 0 60000 65536"/>
              <a:gd name="T6" fmla="*/ 0 w 1581"/>
              <a:gd name="T7" fmla="*/ 0 h 762"/>
              <a:gd name="T8" fmla="*/ 1581 w 1581"/>
              <a:gd name="T9" fmla="*/ 762 h 76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81" h="762">
                <a:moveTo>
                  <a:pt x="1581" y="0"/>
                </a:moveTo>
                <a:lnTo>
                  <a:pt x="0" y="762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1" name="Line 9"/>
          <p:cNvSpPr>
            <a:spLocks noChangeShapeType="1"/>
          </p:cNvSpPr>
          <p:nvPr/>
        </p:nvSpPr>
        <p:spPr bwMode="auto">
          <a:xfrm flipH="1" flipV="1">
            <a:off x="8123660" y="2374612"/>
            <a:ext cx="1843087" cy="909637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2" name="Line 10"/>
          <p:cNvSpPr>
            <a:spLocks noChangeShapeType="1"/>
          </p:cNvSpPr>
          <p:nvPr/>
        </p:nvSpPr>
        <p:spPr bwMode="auto">
          <a:xfrm flipH="1">
            <a:off x="6282159" y="2379373"/>
            <a:ext cx="1841500" cy="909638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3" name="Line 11"/>
          <p:cNvSpPr>
            <a:spLocks noChangeShapeType="1"/>
          </p:cNvSpPr>
          <p:nvPr/>
        </p:nvSpPr>
        <p:spPr bwMode="auto">
          <a:xfrm>
            <a:off x="6282159" y="3279487"/>
            <a:ext cx="1841500" cy="909637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4" name="Line 12"/>
          <p:cNvSpPr>
            <a:spLocks noChangeShapeType="1"/>
          </p:cNvSpPr>
          <p:nvPr/>
        </p:nvSpPr>
        <p:spPr bwMode="auto">
          <a:xfrm flipV="1">
            <a:off x="8123660" y="3269962"/>
            <a:ext cx="1843087" cy="909637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5" name="Freeform 13"/>
          <p:cNvSpPr>
            <a:spLocks/>
          </p:cNvSpPr>
          <p:nvPr/>
        </p:nvSpPr>
        <p:spPr bwMode="auto">
          <a:xfrm>
            <a:off x="8133185" y="2080923"/>
            <a:ext cx="1587" cy="2425700"/>
          </a:xfrm>
          <a:custGeom>
            <a:avLst/>
            <a:gdLst>
              <a:gd name="T0" fmla="*/ 0 w 1"/>
              <a:gd name="T1" fmla="*/ 0 h 1528"/>
              <a:gd name="T2" fmla="*/ 0 w 1"/>
              <a:gd name="T3" fmla="*/ 2147483647 h 1528"/>
              <a:gd name="T4" fmla="*/ 0 60000 65536"/>
              <a:gd name="T5" fmla="*/ 0 60000 65536"/>
              <a:gd name="T6" fmla="*/ 0 w 1"/>
              <a:gd name="T7" fmla="*/ 0 h 1528"/>
              <a:gd name="T8" fmla="*/ 1 w 1"/>
              <a:gd name="T9" fmla="*/ 1528 h 152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528">
                <a:moveTo>
                  <a:pt x="0" y="0"/>
                </a:moveTo>
                <a:lnTo>
                  <a:pt x="0" y="1528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6" name="Line 14"/>
          <p:cNvSpPr>
            <a:spLocks noChangeShapeType="1"/>
          </p:cNvSpPr>
          <p:nvPr/>
        </p:nvSpPr>
        <p:spPr bwMode="auto">
          <a:xfrm>
            <a:off x="6094835" y="3279486"/>
            <a:ext cx="4054475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7" name="Freeform 15"/>
          <p:cNvSpPr>
            <a:spLocks/>
          </p:cNvSpPr>
          <p:nvPr/>
        </p:nvSpPr>
        <p:spPr bwMode="auto">
          <a:xfrm>
            <a:off x="8096671" y="2830224"/>
            <a:ext cx="977900" cy="1362075"/>
          </a:xfrm>
          <a:custGeom>
            <a:avLst/>
            <a:gdLst>
              <a:gd name="T0" fmla="*/ 0 w 616"/>
              <a:gd name="T1" fmla="*/ 2147483647 h 858"/>
              <a:gd name="T2" fmla="*/ 2147483647 w 616"/>
              <a:gd name="T3" fmla="*/ 0 h 858"/>
              <a:gd name="T4" fmla="*/ 0 60000 65536"/>
              <a:gd name="T5" fmla="*/ 0 60000 65536"/>
              <a:gd name="T6" fmla="*/ 0 w 616"/>
              <a:gd name="T7" fmla="*/ 0 h 858"/>
              <a:gd name="T8" fmla="*/ 616 w 616"/>
              <a:gd name="T9" fmla="*/ 858 h 8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16" h="858">
                <a:moveTo>
                  <a:pt x="0" y="858"/>
                </a:moveTo>
                <a:lnTo>
                  <a:pt x="616" y="0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8" name="Freeform 16"/>
          <p:cNvSpPr>
            <a:spLocks/>
          </p:cNvSpPr>
          <p:nvPr/>
        </p:nvSpPr>
        <p:spPr bwMode="auto">
          <a:xfrm>
            <a:off x="7202909" y="2379374"/>
            <a:ext cx="920750" cy="1350963"/>
          </a:xfrm>
          <a:custGeom>
            <a:avLst/>
            <a:gdLst>
              <a:gd name="T0" fmla="*/ 2147483647 w 149"/>
              <a:gd name="T1" fmla="*/ 0 h 653"/>
              <a:gd name="T2" fmla="*/ 0 w 149"/>
              <a:gd name="T3" fmla="*/ 2147483647 h 653"/>
              <a:gd name="T4" fmla="*/ 0 60000 65536"/>
              <a:gd name="T5" fmla="*/ 0 60000 65536"/>
              <a:gd name="T6" fmla="*/ 0 w 149"/>
              <a:gd name="T7" fmla="*/ 0 h 653"/>
              <a:gd name="T8" fmla="*/ 149 w 149"/>
              <a:gd name="T9" fmla="*/ 653 h 65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9" h="653">
                <a:moveTo>
                  <a:pt x="149" y="0"/>
                </a:moveTo>
                <a:lnTo>
                  <a:pt x="0" y="653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49" name="Freeform 17"/>
          <p:cNvSpPr>
            <a:spLocks/>
          </p:cNvSpPr>
          <p:nvPr/>
        </p:nvSpPr>
        <p:spPr bwMode="auto">
          <a:xfrm>
            <a:off x="8739609" y="3292186"/>
            <a:ext cx="334962" cy="469900"/>
          </a:xfrm>
          <a:custGeom>
            <a:avLst/>
            <a:gdLst>
              <a:gd name="T0" fmla="*/ 0 w 211"/>
              <a:gd name="T1" fmla="*/ 0 h 296"/>
              <a:gd name="T2" fmla="*/ 2147483647 w 211"/>
              <a:gd name="T3" fmla="*/ 2147483647 h 296"/>
              <a:gd name="T4" fmla="*/ 0 60000 65536"/>
              <a:gd name="T5" fmla="*/ 0 60000 65536"/>
              <a:gd name="T6" fmla="*/ 0 w 211"/>
              <a:gd name="T7" fmla="*/ 0 h 296"/>
              <a:gd name="T8" fmla="*/ 211 w 211"/>
              <a:gd name="T9" fmla="*/ 296 h 29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1" h="296">
                <a:moveTo>
                  <a:pt x="0" y="0"/>
                </a:moveTo>
                <a:lnTo>
                  <a:pt x="211" y="296"/>
                </a:lnTo>
              </a:path>
            </a:pathLst>
          </a:custGeom>
          <a:noFill/>
          <a:ln w="12700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2050" name="Rectangle 18"/>
          <p:cNvSpPr>
            <a:spLocks noChangeArrowheads="1"/>
          </p:cNvSpPr>
          <p:nvPr/>
        </p:nvSpPr>
        <p:spPr bwMode="auto">
          <a:xfrm>
            <a:off x="3448471" y="2296823"/>
            <a:ext cx="2133600" cy="1981200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34835" name="Text Box 19"/>
          <p:cNvSpPr txBox="1">
            <a:spLocks noChangeArrowheads="1"/>
          </p:cNvSpPr>
          <p:nvPr/>
        </p:nvSpPr>
        <p:spPr bwMode="auto">
          <a:xfrm>
            <a:off x="1534333" y="543143"/>
            <a:ext cx="14128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dirty="0">
                <a:latin typeface="宋体" pitchFamily="2" charset="-122"/>
              </a:rPr>
              <a:t>画法：</a:t>
            </a:r>
          </a:p>
        </p:txBody>
      </p:sp>
      <p:sp>
        <p:nvSpPr>
          <p:cNvPr id="172052" name="Text Box 20"/>
          <p:cNvSpPr txBox="1">
            <a:spLocks noChangeArrowheads="1"/>
          </p:cNvSpPr>
          <p:nvPr/>
        </p:nvSpPr>
        <p:spPr bwMode="auto">
          <a:xfrm>
            <a:off x="2220168" y="4556266"/>
            <a:ext cx="36734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rgbClr val="000099"/>
                </a:solidFill>
                <a:latin typeface="宋体" pitchFamily="2" charset="-122"/>
              </a:rPr>
              <a:t>1. </a:t>
            </a:r>
            <a:r>
              <a:rPr lang="zh-CN" altLang="en-US" sz="3200" dirty="0">
                <a:solidFill>
                  <a:srgbClr val="000099"/>
                </a:solidFill>
                <a:latin typeface="宋体" pitchFamily="2" charset="-122"/>
              </a:rPr>
              <a:t>画圆的外切菱形</a:t>
            </a:r>
          </a:p>
        </p:txBody>
      </p:sp>
      <p:sp>
        <p:nvSpPr>
          <p:cNvPr id="172053" name="Text Box 21"/>
          <p:cNvSpPr txBox="1">
            <a:spLocks noChangeArrowheads="1"/>
          </p:cNvSpPr>
          <p:nvPr/>
        </p:nvSpPr>
        <p:spPr bwMode="auto">
          <a:xfrm>
            <a:off x="2206252" y="5172221"/>
            <a:ext cx="449421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rgbClr val="000099"/>
                </a:solidFill>
                <a:latin typeface="宋体" pitchFamily="2" charset="-122"/>
              </a:rPr>
              <a:t>2. </a:t>
            </a:r>
            <a:r>
              <a:rPr lang="zh-CN" altLang="en-US" sz="3200" dirty="0">
                <a:solidFill>
                  <a:srgbClr val="000099"/>
                </a:solidFill>
                <a:latin typeface="宋体" pitchFamily="2" charset="-122"/>
              </a:rPr>
              <a:t>确定四个圆心和半径</a:t>
            </a:r>
          </a:p>
        </p:txBody>
      </p:sp>
      <p:sp>
        <p:nvSpPr>
          <p:cNvPr id="172054" name="Text Box 22"/>
          <p:cNvSpPr txBox="1">
            <a:spLocks noChangeArrowheads="1"/>
          </p:cNvSpPr>
          <p:nvPr/>
        </p:nvSpPr>
        <p:spPr bwMode="auto">
          <a:xfrm>
            <a:off x="2220168" y="5720050"/>
            <a:ext cx="6121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dirty="0">
                <a:solidFill>
                  <a:srgbClr val="000099"/>
                </a:solidFill>
                <a:latin typeface="宋体" pitchFamily="2" charset="-122"/>
              </a:rPr>
              <a:t>3. </a:t>
            </a:r>
            <a:r>
              <a:rPr lang="zh-CN" altLang="en-US" sz="3200" dirty="0">
                <a:solidFill>
                  <a:srgbClr val="000099"/>
                </a:solidFill>
                <a:latin typeface="宋体" pitchFamily="2" charset="-122"/>
              </a:rPr>
              <a:t>分别画出四段彼此相切的圆弧</a:t>
            </a:r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3143672" y="1245899"/>
            <a:ext cx="5667375" cy="3336925"/>
            <a:chOff x="528" y="490"/>
            <a:chExt cx="3570" cy="2102"/>
          </a:xfrm>
        </p:grpSpPr>
        <p:sp>
          <p:nvSpPr>
            <p:cNvPr id="34869" name="Oval 24"/>
            <p:cNvSpPr>
              <a:spLocks noChangeArrowheads="1"/>
            </p:cNvSpPr>
            <p:nvPr/>
          </p:nvSpPr>
          <p:spPr bwMode="auto">
            <a:xfrm>
              <a:off x="720" y="1152"/>
              <a:ext cx="1344" cy="124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4870" name="Line 25"/>
            <p:cNvSpPr>
              <a:spLocks noChangeShapeType="1"/>
            </p:cNvSpPr>
            <p:nvPr/>
          </p:nvSpPr>
          <p:spPr bwMode="auto">
            <a:xfrm>
              <a:off x="1392" y="960"/>
              <a:ext cx="0" cy="163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71" name="Line 26"/>
            <p:cNvSpPr>
              <a:spLocks noChangeShapeType="1"/>
            </p:cNvSpPr>
            <p:nvPr/>
          </p:nvSpPr>
          <p:spPr bwMode="auto">
            <a:xfrm>
              <a:off x="528" y="1776"/>
              <a:ext cx="168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72" name="Text Box 27"/>
            <p:cNvSpPr txBox="1">
              <a:spLocks noChangeArrowheads="1"/>
            </p:cNvSpPr>
            <p:nvPr/>
          </p:nvSpPr>
          <p:spPr bwMode="auto">
            <a:xfrm>
              <a:off x="945" y="490"/>
              <a:ext cx="3153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sz="3200" dirty="0"/>
                <a:t>（以平行于</a:t>
              </a:r>
              <a:r>
                <a:rPr lang="en-US" altLang="zh-CN" sz="3200" dirty="0"/>
                <a:t>H</a:t>
              </a:r>
              <a:r>
                <a:rPr lang="zh-CN" altLang="en-US" sz="3200" dirty="0"/>
                <a:t>面的圆为例）</a:t>
              </a:r>
              <a:endParaRPr lang="zh-CN" altLang="en-US" dirty="0"/>
            </a:p>
          </p:txBody>
        </p:sp>
      </p:grpSp>
      <p:sp>
        <p:nvSpPr>
          <p:cNvPr id="172060" name="Text Box 28"/>
          <p:cNvSpPr txBox="1">
            <a:spLocks noChangeArrowheads="1"/>
          </p:cNvSpPr>
          <p:nvPr/>
        </p:nvSpPr>
        <p:spPr bwMode="auto">
          <a:xfrm>
            <a:off x="2891644" y="543143"/>
            <a:ext cx="22240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</a:rPr>
              <a:t>四心椭圆法</a:t>
            </a:r>
          </a:p>
        </p:txBody>
      </p:sp>
      <p:sp>
        <p:nvSpPr>
          <p:cNvPr id="172061" name="Text Box 29"/>
          <p:cNvSpPr txBox="1">
            <a:spLocks noChangeArrowheads="1"/>
          </p:cNvSpPr>
          <p:nvPr/>
        </p:nvSpPr>
        <p:spPr bwMode="auto">
          <a:xfrm>
            <a:off x="7976021" y="4033549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1000">
                <a:solidFill>
                  <a:srgbClr val="FF0000"/>
                </a:solidFill>
              </a:rPr>
              <a:t>●</a:t>
            </a:r>
          </a:p>
        </p:txBody>
      </p:sp>
      <p:sp>
        <p:nvSpPr>
          <p:cNvPr id="172062" name="Text Box 30"/>
          <p:cNvSpPr txBox="1">
            <a:spLocks noChangeArrowheads="1"/>
          </p:cNvSpPr>
          <p:nvPr/>
        </p:nvSpPr>
        <p:spPr bwMode="auto">
          <a:xfrm>
            <a:off x="7358484" y="3154074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1000">
                <a:solidFill>
                  <a:srgbClr val="FF0000"/>
                </a:solidFill>
              </a:rPr>
              <a:t>●</a:t>
            </a:r>
          </a:p>
        </p:txBody>
      </p:sp>
      <p:sp>
        <p:nvSpPr>
          <p:cNvPr id="172063" name="Text Box 31"/>
          <p:cNvSpPr txBox="1">
            <a:spLocks noChangeArrowheads="1"/>
          </p:cNvSpPr>
          <p:nvPr/>
        </p:nvSpPr>
        <p:spPr bwMode="auto">
          <a:xfrm>
            <a:off x="7972846" y="2252374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1000">
                <a:solidFill>
                  <a:srgbClr val="FF0000"/>
                </a:solidFill>
              </a:rPr>
              <a:t>●</a:t>
            </a:r>
          </a:p>
        </p:txBody>
      </p:sp>
      <p:sp>
        <p:nvSpPr>
          <p:cNvPr id="172064" name="Text Box 32"/>
          <p:cNvSpPr txBox="1">
            <a:spLocks noChangeArrowheads="1"/>
          </p:cNvSpPr>
          <p:nvPr/>
        </p:nvSpPr>
        <p:spPr bwMode="auto">
          <a:xfrm>
            <a:off x="8591971" y="3150899"/>
            <a:ext cx="38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1000">
                <a:solidFill>
                  <a:srgbClr val="FF0000"/>
                </a:solidFill>
              </a:rPr>
              <a:t>●</a:t>
            </a:r>
          </a:p>
        </p:txBody>
      </p: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3124621" y="1952337"/>
            <a:ext cx="2713038" cy="2676525"/>
            <a:chOff x="516" y="935"/>
            <a:chExt cx="1709" cy="1686"/>
          </a:xfrm>
        </p:grpSpPr>
        <p:sp>
          <p:nvSpPr>
            <p:cNvPr id="34865" name="Text Box 34"/>
            <p:cNvSpPr txBox="1">
              <a:spLocks noChangeArrowheads="1"/>
            </p:cNvSpPr>
            <p:nvPr/>
          </p:nvSpPr>
          <p:spPr bwMode="auto">
            <a:xfrm>
              <a:off x="516" y="1571"/>
              <a:ext cx="190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a</a:t>
              </a:r>
            </a:p>
          </p:txBody>
        </p:sp>
        <p:sp>
          <p:nvSpPr>
            <p:cNvPr id="34866" name="Text Box 35"/>
            <p:cNvSpPr txBox="1">
              <a:spLocks noChangeArrowheads="1"/>
            </p:cNvSpPr>
            <p:nvPr/>
          </p:nvSpPr>
          <p:spPr bwMode="auto">
            <a:xfrm>
              <a:off x="2035" y="1584"/>
              <a:ext cx="190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b</a:t>
              </a:r>
              <a:endParaRPr lang="en-US" altLang="zh-CN"/>
            </a:p>
          </p:txBody>
        </p:sp>
        <p:sp>
          <p:nvSpPr>
            <p:cNvPr id="34867" name="Text Box 36"/>
            <p:cNvSpPr txBox="1">
              <a:spLocks noChangeArrowheads="1"/>
            </p:cNvSpPr>
            <p:nvPr/>
          </p:nvSpPr>
          <p:spPr bwMode="auto">
            <a:xfrm>
              <a:off x="1367" y="935"/>
              <a:ext cx="179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34868" name="Text Box 37"/>
            <p:cNvSpPr txBox="1">
              <a:spLocks noChangeArrowheads="1"/>
            </p:cNvSpPr>
            <p:nvPr/>
          </p:nvSpPr>
          <p:spPr bwMode="auto">
            <a:xfrm>
              <a:off x="1353" y="2388"/>
              <a:ext cx="160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f</a:t>
              </a:r>
              <a:endParaRPr lang="en-US" altLang="zh-CN"/>
            </a:p>
          </p:txBody>
        </p:sp>
      </p:grpSp>
      <p:grpSp>
        <p:nvGrpSpPr>
          <p:cNvPr id="4" name="Group 38"/>
          <p:cNvGrpSpPr>
            <a:grpSpLocks/>
          </p:cNvGrpSpPr>
          <p:nvPr/>
        </p:nvGrpSpPr>
        <p:grpSpPr bwMode="auto">
          <a:xfrm>
            <a:off x="3678660" y="2638136"/>
            <a:ext cx="1697037" cy="1282700"/>
            <a:chOff x="865" y="1367"/>
            <a:chExt cx="1069" cy="808"/>
          </a:xfrm>
        </p:grpSpPr>
        <p:sp>
          <p:nvSpPr>
            <p:cNvPr id="34863" name="Line 39"/>
            <p:cNvSpPr>
              <a:spLocks noChangeShapeType="1"/>
            </p:cNvSpPr>
            <p:nvPr/>
          </p:nvSpPr>
          <p:spPr bwMode="auto">
            <a:xfrm flipV="1">
              <a:off x="865" y="1367"/>
              <a:ext cx="1069" cy="8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4" name="Text Box 40"/>
            <p:cNvSpPr txBox="1">
              <a:spLocks noChangeArrowheads="1"/>
            </p:cNvSpPr>
            <p:nvPr/>
          </p:nvSpPr>
          <p:spPr bwMode="auto">
            <a:xfrm rot="19305580">
              <a:off x="1391" y="1474"/>
              <a:ext cx="193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lang="en-US" altLang="zh-CN"/>
            </a:p>
          </p:txBody>
        </p:sp>
      </p:grp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7212435" y="2834986"/>
            <a:ext cx="1870075" cy="900112"/>
            <a:chOff x="3091" y="1491"/>
            <a:chExt cx="1178" cy="567"/>
          </a:xfrm>
        </p:grpSpPr>
        <p:sp>
          <p:nvSpPr>
            <p:cNvPr id="34861" name="Freeform 42"/>
            <p:cNvSpPr>
              <a:spLocks/>
            </p:cNvSpPr>
            <p:nvPr/>
          </p:nvSpPr>
          <p:spPr bwMode="auto">
            <a:xfrm>
              <a:off x="3091" y="1491"/>
              <a:ext cx="1178" cy="567"/>
            </a:xfrm>
            <a:custGeom>
              <a:avLst/>
              <a:gdLst>
                <a:gd name="T0" fmla="*/ 0 w 1178"/>
                <a:gd name="T1" fmla="*/ 567 h 567"/>
                <a:gd name="T2" fmla="*/ 1178 w 1178"/>
                <a:gd name="T3" fmla="*/ 0 h 567"/>
                <a:gd name="T4" fmla="*/ 0 60000 65536"/>
                <a:gd name="T5" fmla="*/ 0 60000 65536"/>
                <a:gd name="T6" fmla="*/ 0 w 1178"/>
                <a:gd name="T7" fmla="*/ 0 h 567"/>
                <a:gd name="T8" fmla="*/ 1178 w 1178"/>
                <a:gd name="T9" fmla="*/ 567 h 5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78" h="567">
                  <a:moveTo>
                    <a:pt x="0" y="567"/>
                  </a:moveTo>
                  <a:lnTo>
                    <a:pt x="1178" y="0"/>
                  </a:lnTo>
                </a:path>
              </a:pathLst>
            </a:custGeom>
            <a:noFill/>
            <a:ln w="19050">
              <a:solidFill>
                <a:srgbClr val="9900CC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2" name="Text Box 43"/>
            <p:cNvSpPr txBox="1">
              <a:spLocks noChangeArrowheads="1"/>
            </p:cNvSpPr>
            <p:nvPr/>
          </p:nvSpPr>
          <p:spPr bwMode="auto">
            <a:xfrm rot="19697092">
              <a:off x="3693" y="1499"/>
              <a:ext cx="22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lang="en-US" altLang="zh-CN">
                <a:solidFill>
                  <a:srgbClr val="9900CC"/>
                </a:solidFill>
              </a:endParaRPr>
            </a:p>
          </p:txBody>
        </p:sp>
      </p:grpSp>
      <p:grpSp>
        <p:nvGrpSpPr>
          <p:cNvPr id="6" name="Group 44"/>
          <p:cNvGrpSpPr>
            <a:grpSpLocks/>
          </p:cNvGrpSpPr>
          <p:nvPr/>
        </p:nvGrpSpPr>
        <p:grpSpPr bwMode="auto">
          <a:xfrm>
            <a:off x="7247359" y="2798473"/>
            <a:ext cx="1789112" cy="946150"/>
            <a:chOff x="3113" y="1468"/>
            <a:chExt cx="1127" cy="596"/>
          </a:xfrm>
        </p:grpSpPr>
        <p:sp>
          <p:nvSpPr>
            <p:cNvPr id="34859" name="Line 45"/>
            <p:cNvSpPr>
              <a:spLocks noChangeShapeType="1"/>
            </p:cNvSpPr>
            <p:nvPr/>
          </p:nvSpPr>
          <p:spPr bwMode="auto">
            <a:xfrm>
              <a:off x="3113" y="1468"/>
              <a:ext cx="1127" cy="596"/>
            </a:xfrm>
            <a:prstGeom prst="line">
              <a:avLst/>
            </a:prstGeom>
            <a:noFill/>
            <a:ln w="19050">
              <a:solidFill>
                <a:srgbClr val="9900CC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60" name="Text Box 46"/>
            <p:cNvSpPr txBox="1">
              <a:spLocks noChangeArrowheads="1"/>
            </p:cNvSpPr>
            <p:nvPr/>
          </p:nvSpPr>
          <p:spPr bwMode="auto">
            <a:xfrm rot="1933604">
              <a:off x="3496" y="1497"/>
              <a:ext cx="19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solidFill>
                    <a:srgbClr val="000000"/>
                  </a:solidFill>
                  <a:latin typeface="Dutch801 Rm BT" pitchFamily="18" charset="0"/>
                </a:rPr>
                <a:t>d</a:t>
              </a:r>
              <a:endParaRPr lang="en-US" altLang="zh-CN">
                <a:solidFill>
                  <a:srgbClr val="9900CC"/>
                </a:solidFill>
              </a:endParaRPr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6891761" y="2380963"/>
            <a:ext cx="2565400" cy="1597025"/>
            <a:chOff x="2889" y="1205"/>
            <a:chExt cx="1616" cy="1006"/>
          </a:xfrm>
        </p:grpSpPr>
        <p:sp>
          <p:nvSpPr>
            <p:cNvPr id="34855" name="Text Box 48"/>
            <p:cNvSpPr txBox="1">
              <a:spLocks noChangeArrowheads="1"/>
            </p:cNvSpPr>
            <p:nvPr/>
          </p:nvSpPr>
          <p:spPr bwMode="auto">
            <a:xfrm>
              <a:off x="4262" y="1978"/>
              <a:ext cx="24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itchFamily="2" charset="-122"/>
                </a:rPr>
                <a:t>F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34856" name="Text Box 49"/>
            <p:cNvSpPr txBox="1">
              <a:spLocks noChangeArrowheads="1"/>
            </p:cNvSpPr>
            <p:nvPr/>
          </p:nvSpPr>
          <p:spPr bwMode="auto">
            <a:xfrm>
              <a:off x="2889" y="1205"/>
              <a:ext cx="24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itchFamily="2" charset="-122"/>
                </a:rPr>
                <a:t>E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34857" name="Text Box 50"/>
            <p:cNvSpPr txBox="1">
              <a:spLocks noChangeArrowheads="1"/>
            </p:cNvSpPr>
            <p:nvPr/>
          </p:nvSpPr>
          <p:spPr bwMode="auto">
            <a:xfrm>
              <a:off x="3034" y="1413"/>
              <a:ext cx="172" cy="1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9900CC"/>
                  </a:solidFill>
                </a:rPr>
                <a:t>●</a:t>
              </a:r>
            </a:p>
          </p:txBody>
        </p:sp>
        <p:sp>
          <p:nvSpPr>
            <p:cNvPr id="34858" name="Text Box 51"/>
            <p:cNvSpPr txBox="1">
              <a:spLocks noChangeArrowheads="1"/>
            </p:cNvSpPr>
            <p:nvPr/>
          </p:nvSpPr>
          <p:spPr bwMode="auto">
            <a:xfrm>
              <a:off x="4147" y="1996"/>
              <a:ext cx="172" cy="1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9900CC"/>
                  </a:solidFill>
                </a:rPr>
                <a:t>●</a:t>
              </a:r>
            </a:p>
          </p:txBody>
        </p:sp>
      </p:grpSp>
      <p:grpSp>
        <p:nvGrpSpPr>
          <p:cNvPr id="8" name="Group 52"/>
          <p:cNvGrpSpPr>
            <a:grpSpLocks/>
          </p:cNvGrpSpPr>
          <p:nvPr/>
        </p:nvGrpSpPr>
        <p:grpSpPr bwMode="auto">
          <a:xfrm>
            <a:off x="6974311" y="2474624"/>
            <a:ext cx="2389188" cy="1570038"/>
            <a:chOff x="2941" y="1264"/>
            <a:chExt cx="1505" cy="989"/>
          </a:xfrm>
        </p:grpSpPr>
        <p:sp>
          <p:nvSpPr>
            <p:cNvPr id="34851" name="Text Box 53"/>
            <p:cNvSpPr txBox="1">
              <a:spLocks noChangeArrowheads="1"/>
            </p:cNvSpPr>
            <p:nvPr/>
          </p:nvSpPr>
          <p:spPr bwMode="auto">
            <a:xfrm>
              <a:off x="4203" y="1264"/>
              <a:ext cx="24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itchFamily="2" charset="-122"/>
                </a:rPr>
                <a:t>B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34852" name="Text Box 54"/>
            <p:cNvSpPr txBox="1">
              <a:spLocks noChangeArrowheads="1"/>
            </p:cNvSpPr>
            <p:nvPr/>
          </p:nvSpPr>
          <p:spPr bwMode="auto">
            <a:xfrm>
              <a:off x="2941" y="2020"/>
              <a:ext cx="243" cy="23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宋体" pitchFamily="2" charset="-122"/>
                </a:rPr>
                <a:t>A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34853" name="Text Box 55"/>
            <p:cNvSpPr txBox="1">
              <a:spLocks noChangeArrowheads="1"/>
            </p:cNvSpPr>
            <p:nvPr/>
          </p:nvSpPr>
          <p:spPr bwMode="auto">
            <a:xfrm>
              <a:off x="3004" y="1993"/>
              <a:ext cx="172" cy="1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9900CC"/>
                  </a:solidFill>
                </a:rPr>
                <a:t>●</a:t>
              </a:r>
            </a:p>
          </p:txBody>
        </p:sp>
        <p:sp>
          <p:nvSpPr>
            <p:cNvPr id="34854" name="Text Box 56"/>
            <p:cNvSpPr txBox="1">
              <a:spLocks noChangeArrowheads="1"/>
            </p:cNvSpPr>
            <p:nvPr/>
          </p:nvSpPr>
          <p:spPr bwMode="auto">
            <a:xfrm>
              <a:off x="4171" y="1434"/>
              <a:ext cx="172" cy="12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eaLnBrk="1" hangingPunct="1"/>
              <a:r>
                <a:rPr lang="en-US" altLang="zh-CN" sz="700">
                  <a:solidFill>
                    <a:srgbClr val="9900CC"/>
                  </a:solidFill>
                </a:rPr>
                <a:t>●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17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7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7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17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17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7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72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72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72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72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17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72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72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7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7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7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7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7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7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7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 animBg="1"/>
      <p:bldP spid="172035" grpId="0" animBg="1"/>
      <p:bldP spid="172036" grpId="0" animBg="1"/>
      <p:bldP spid="172037" grpId="0" animBg="1"/>
      <p:bldP spid="172038" grpId="0" animBg="1"/>
      <p:bldP spid="172039" grpId="0" animBg="1"/>
      <p:bldP spid="172040" grpId="0" animBg="1"/>
      <p:bldP spid="172041" grpId="0" animBg="1"/>
      <p:bldP spid="172042" grpId="0" animBg="1"/>
      <p:bldP spid="172043" grpId="0" animBg="1"/>
      <p:bldP spid="172044" grpId="0" animBg="1"/>
      <p:bldP spid="172045" grpId="0" animBg="1"/>
      <p:bldP spid="172046" grpId="0" animBg="1"/>
      <p:bldP spid="172047" grpId="0" animBg="1"/>
      <p:bldP spid="172048" grpId="0" animBg="1"/>
      <p:bldP spid="172049" grpId="0" animBg="1"/>
      <p:bldP spid="172050" grpId="0" animBg="1"/>
      <p:bldP spid="172052" grpId="0" autoUpdateAnimBg="0"/>
      <p:bldP spid="172053" grpId="0" autoUpdateAnimBg="0"/>
      <p:bldP spid="172054" grpId="0" autoUpdateAnimBg="0"/>
      <p:bldP spid="172060" grpId="0" autoUpdateAnimBg="0"/>
      <p:bldP spid="172061" grpId="0" build="p" autoUpdateAnimBg="0"/>
      <p:bldP spid="172062" grpId="0" autoUpdateAnimBg="0"/>
      <p:bldP spid="172063" grpId="0" autoUpdateAnimBg="0"/>
      <p:bldP spid="17206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2"/>
          <p:cNvGrpSpPr>
            <a:grpSpLocks/>
          </p:cNvGrpSpPr>
          <p:nvPr/>
        </p:nvGrpSpPr>
        <p:grpSpPr bwMode="auto">
          <a:xfrm>
            <a:off x="3395700" y="1808820"/>
            <a:ext cx="1792287" cy="3589338"/>
            <a:chOff x="831" y="946"/>
            <a:chExt cx="1129" cy="2261"/>
          </a:xfrm>
        </p:grpSpPr>
        <p:sp>
          <p:nvSpPr>
            <p:cNvPr id="35880" name="Line 3"/>
            <p:cNvSpPr>
              <a:spLocks noChangeShapeType="1"/>
            </p:cNvSpPr>
            <p:nvPr/>
          </p:nvSpPr>
          <p:spPr bwMode="auto">
            <a:xfrm>
              <a:off x="1455" y="946"/>
              <a:ext cx="0" cy="11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1" name="Line 4"/>
            <p:cNvSpPr>
              <a:spLocks noChangeShapeType="1"/>
            </p:cNvSpPr>
            <p:nvPr/>
          </p:nvSpPr>
          <p:spPr bwMode="auto">
            <a:xfrm>
              <a:off x="1215" y="1082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2" name="Line 5"/>
            <p:cNvSpPr>
              <a:spLocks noChangeShapeType="1"/>
            </p:cNvSpPr>
            <p:nvPr/>
          </p:nvSpPr>
          <p:spPr bwMode="auto">
            <a:xfrm>
              <a:off x="1023" y="1941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3" name="Oval 6"/>
            <p:cNvSpPr>
              <a:spLocks noChangeArrowheads="1"/>
            </p:cNvSpPr>
            <p:nvPr/>
          </p:nvSpPr>
          <p:spPr bwMode="auto">
            <a:xfrm>
              <a:off x="1023" y="2303"/>
              <a:ext cx="864" cy="81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5884" name="Oval 7"/>
            <p:cNvSpPr>
              <a:spLocks noChangeArrowheads="1"/>
            </p:cNvSpPr>
            <p:nvPr/>
          </p:nvSpPr>
          <p:spPr bwMode="auto">
            <a:xfrm>
              <a:off x="1215" y="2483"/>
              <a:ext cx="480" cy="45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5885" name="Line 8"/>
            <p:cNvSpPr>
              <a:spLocks noChangeShapeType="1"/>
            </p:cNvSpPr>
            <p:nvPr/>
          </p:nvSpPr>
          <p:spPr bwMode="auto">
            <a:xfrm flipH="1">
              <a:off x="1023" y="1082"/>
              <a:ext cx="192" cy="8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6" name="Line 9"/>
            <p:cNvSpPr>
              <a:spLocks noChangeShapeType="1"/>
            </p:cNvSpPr>
            <p:nvPr/>
          </p:nvSpPr>
          <p:spPr bwMode="auto">
            <a:xfrm>
              <a:off x="1695" y="1082"/>
              <a:ext cx="192" cy="8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7" name="Line 10"/>
            <p:cNvSpPr>
              <a:spLocks noChangeShapeType="1"/>
            </p:cNvSpPr>
            <p:nvPr/>
          </p:nvSpPr>
          <p:spPr bwMode="auto">
            <a:xfrm>
              <a:off x="831" y="2710"/>
              <a:ext cx="1129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88" name="Line 11"/>
            <p:cNvSpPr>
              <a:spLocks noChangeShapeType="1"/>
            </p:cNvSpPr>
            <p:nvPr/>
          </p:nvSpPr>
          <p:spPr bwMode="auto">
            <a:xfrm>
              <a:off x="1455" y="2167"/>
              <a:ext cx="0" cy="10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3068" name="Rectangle 12"/>
          <p:cNvSpPr>
            <a:spLocks noChangeArrowheads="1"/>
          </p:cNvSpPr>
          <p:nvPr/>
        </p:nvSpPr>
        <p:spPr bwMode="auto">
          <a:xfrm>
            <a:off x="3700499" y="3961471"/>
            <a:ext cx="1371600" cy="1292225"/>
          </a:xfrm>
          <a:prstGeom prst="rect">
            <a:avLst/>
          </a:prstGeom>
          <a:noFill/>
          <a:ln w="12700">
            <a:solidFill>
              <a:srgbClr val="333399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35844" name="Text Box 13"/>
          <p:cNvSpPr txBox="1">
            <a:spLocks noChangeArrowheads="1"/>
          </p:cNvSpPr>
          <p:nvPr/>
        </p:nvSpPr>
        <p:spPr bwMode="auto">
          <a:xfrm>
            <a:off x="1479586" y="823641"/>
            <a:ext cx="54752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3200" dirty="0"/>
              <a:t>例：画圆台的正等轴测图</a:t>
            </a:r>
          </a:p>
        </p:txBody>
      </p:sp>
      <p:sp>
        <p:nvSpPr>
          <p:cNvPr id="173070" name="Freeform 14"/>
          <p:cNvSpPr>
            <a:spLocks/>
          </p:cNvSpPr>
          <p:nvPr/>
        </p:nvSpPr>
        <p:spPr bwMode="auto">
          <a:xfrm>
            <a:off x="7510500" y="4151970"/>
            <a:ext cx="1036637" cy="153988"/>
          </a:xfrm>
          <a:custGeom>
            <a:avLst/>
            <a:gdLst>
              <a:gd name="T0" fmla="*/ 0 w 653"/>
              <a:gd name="T1" fmla="*/ 2147483647 h 97"/>
              <a:gd name="T2" fmla="*/ 2147483647 w 653"/>
              <a:gd name="T3" fmla="*/ 2147483647 h 97"/>
              <a:gd name="T4" fmla="*/ 2147483647 w 653"/>
              <a:gd name="T5" fmla="*/ 2147483647 h 97"/>
              <a:gd name="T6" fmla="*/ 2147483647 w 653"/>
              <a:gd name="T7" fmla="*/ 2147483647 h 97"/>
              <a:gd name="T8" fmla="*/ 2147483647 w 653"/>
              <a:gd name="T9" fmla="*/ 2147483647 h 9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53"/>
              <a:gd name="T16" fmla="*/ 0 h 97"/>
              <a:gd name="T17" fmla="*/ 653 w 653"/>
              <a:gd name="T18" fmla="*/ 97 h 9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53" h="97">
                <a:moveTo>
                  <a:pt x="0" y="92"/>
                </a:moveTo>
                <a:cubicBezTo>
                  <a:pt x="28" y="80"/>
                  <a:pt x="114" y="35"/>
                  <a:pt x="168" y="20"/>
                </a:cubicBezTo>
                <a:cubicBezTo>
                  <a:pt x="222" y="5"/>
                  <a:pt x="268" y="0"/>
                  <a:pt x="322" y="1"/>
                </a:cubicBezTo>
                <a:cubicBezTo>
                  <a:pt x="376" y="2"/>
                  <a:pt x="435" y="9"/>
                  <a:pt x="490" y="25"/>
                </a:cubicBezTo>
                <a:cubicBezTo>
                  <a:pt x="545" y="41"/>
                  <a:pt x="619" y="82"/>
                  <a:pt x="653" y="9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1" name="Freeform 15"/>
          <p:cNvSpPr>
            <a:spLocks/>
          </p:cNvSpPr>
          <p:nvPr/>
        </p:nvSpPr>
        <p:spPr bwMode="auto">
          <a:xfrm>
            <a:off x="7488274" y="4915559"/>
            <a:ext cx="1066800" cy="155575"/>
          </a:xfrm>
          <a:custGeom>
            <a:avLst/>
            <a:gdLst>
              <a:gd name="T0" fmla="*/ 0 w 672"/>
              <a:gd name="T1" fmla="*/ 0 h 98"/>
              <a:gd name="T2" fmla="*/ 2147483647 w 672"/>
              <a:gd name="T3" fmla="*/ 2147483647 h 98"/>
              <a:gd name="T4" fmla="*/ 2147483647 w 672"/>
              <a:gd name="T5" fmla="*/ 2147483647 h 98"/>
              <a:gd name="T6" fmla="*/ 2147483647 w 672"/>
              <a:gd name="T7" fmla="*/ 2147483647 h 98"/>
              <a:gd name="T8" fmla="*/ 2147483647 w 672"/>
              <a:gd name="T9" fmla="*/ 0 h 9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72"/>
              <a:gd name="T16" fmla="*/ 0 h 98"/>
              <a:gd name="T17" fmla="*/ 672 w 672"/>
              <a:gd name="T18" fmla="*/ 98 h 9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72" h="98">
                <a:moveTo>
                  <a:pt x="0" y="0"/>
                </a:moveTo>
                <a:cubicBezTo>
                  <a:pt x="32" y="14"/>
                  <a:pt x="136" y="66"/>
                  <a:pt x="192" y="82"/>
                </a:cubicBezTo>
                <a:cubicBezTo>
                  <a:pt x="248" y="98"/>
                  <a:pt x="284" y="98"/>
                  <a:pt x="336" y="96"/>
                </a:cubicBezTo>
                <a:cubicBezTo>
                  <a:pt x="388" y="94"/>
                  <a:pt x="448" y="88"/>
                  <a:pt x="504" y="72"/>
                </a:cubicBezTo>
                <a:cubicBezTo>
                  <a:pt x="560" y="56"/>
                  <a:pt x="637" y="15"/>
                  <a:pt x="67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2" name="Oval 16"/>
          <p:cNvSpPr>
            <a:spLocks noChangeArrowheads="1"/>
          </p:cNvSpPr>
          <p:nvPr/>
        </p:nvSpPr>
        <p:spPr bwMode="auto">
          <a:xfrm>
            <a:off x="7564474" y="2934358"/>
            <a:ext cx="9144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73073" name="Line 17"/>
          <p:cNvSpPr>
            <a:spLocks noChangeShapeType="1"/>
          </p:cNvSpPr>
          <p:nvPr/>
        </p:nvSpPr>
        <p:spPr bwMode="auto">
          <a:xfrm>
            <a:off x="7488274" y="4301195"/>
            <a:ext cx="1066800" cy="617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4" name="Line 18"/>
          <p:cNvSpPr>
            <a:spLocks noChangeShapeType="1"/>
          </p:cNvSpPr>
          <p:nvPr/>
        </p:nvSpPr>
        <p:spPr bwMode="auto">
          <a:xfrm flipH="1">
            <a:off x="7488274" y="4301195"/>
            <a:ext cx="1066800" cy="617538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5" name="Line 19"/>
          <p:cNvSpPr>
            <a:spLocks noChangeShapeType="1"/>
          </p:cNvSpPr>
          <p:nvPr/>
        </p:nvSpPr>
        <p:spPr bwMode="auto">
          <a:xfrm flipH="1" flipV="1">
            <a:off x="8021674" y="3997983"/>
            <a:ext cx="1066800" cy="61595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6" name="Line 20"/>
          <p:cNvSpPr>
            <a:spLocks noChangeShapeType="1"/>
          </p:cNvSpPr>
          <p:nvPr/>
        </p:nvSpPr>
        <p:spPr bwMode="auto">
          <a:xfrm flipH="1">
            <a:off x="6954874" y="4001158"/>
            <a:ext cx="1066800" cy="61595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7" name="Line 21"/>
          <p:cNvSpPr>
            <a:spLocks noChangeShapeType="1"/>
          </p:cNvSpPr>
          <p:nvPr/>
        </p:nvSpPr>
        <p:spPr bwMode="auto">
          <a:xfrm>
            <a:off x="6954874" y="4610758"/>
            <a:ext cx="1066800" cy="61595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8" name="Line 22"/>
          <p:cNvSpPr>
            <a:spLocks noChangeShapeType="1"/>
          </p:cNvSpPr>
          <p:nvPr/>
        </p:nvSpPr>
        <p:spPr bwMode="auto">
          <a:xfrm flipV="1">
            <a:off x="8021674" y="4604408"/>
            <a:ext cx="1066800" cy="61595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79" name="Line 23"/>
          <p:cNvSpPr>
            <a:spLocks noChangeShapeType="1"/>
          </p:cNvSpPr>
          <p:nvPr/>
        </p:nvSpPr>
        <p:spPr bwMode="auto">
          <a:xfrm>
            <a:off x="8021674" y="2477158"/>
            <a:ext cx="0" cy="3048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0" name="Line 24"/>
          <p:cNvSpPr>
            <a:spLocks noChangeShapeType="1"/>
          </p:cNvSpPr>
          <p:nvPr/>
        </p:nvSpPr>
        <p:spPr bwMode="auto">
          <a:xfrm flipH="1">
            <a:off x="7716874" y="2986746"/>
            <a:ext cx="609600" cy="3524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1" name="Line 25"/>
          <p:cNvSpPr>
            <a:spLocks noChangeShapeType="1"/>
          </p:cNvSpPr>
          <p:nvPr/>
        </p:nvSpPr>
        <p:spPr bwMode="auto">
          <a:xfrm>
            <a:off x="7716874" y="2986746"/>
            <a:ext cx="609600" cy="3524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2" name="Line 26"/>
          <p:cNvSpPr>
            <a:spLocks noChangeShapeType="1"/>
          </p:cNvSpPr>
          <p:nvPr/>
        </p:nvSpPr>
        <p:spPr bwMode="auto">
          <a:xfrm flipV="1">
            <a:off x="8021674" y="3162958"/>
            <a:ext cx="609600" cy="328612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3" name="Line 27"/>
          <p:cNvSpPr>
            <a:spLocks noChangeShapeType="1"/>
          </p:cNvSpPr>
          <p:nvPr/>
        </p:nvSpPr>
        <p:spPr bwMode="auto">
          <a:xfrm>
            <a:off x="7412074" y="3162958"/>
            <a:ext cx="609600" cy="328612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4" name="Line 28"/>
          <p:cNvSpPr>
            <a:spLocks noChangeShapeType="1"/>
          </p:cNvSpPr>
          <p:nvPr/>
        </p:nvSpPr>
        <p:spPr bwMode="auto">
          <a:xfrm flipV="1">
            <a:off x="7412074" y="2810534"/>
            <a:ext cx="609600" cy="352425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5" name="Line 29"/>
          <p:cNvSpPr>
            <a:spLocks noChangeShapeType="1"/>
          </p:cNvSpPr>
          <p:nvPr/>
        </p:nvSpPr>
        <p:spPr bwMode="auto">
          <a:xfrm>
            <a:off x="8021674" y="2807358"/>
            <a:ext cx="609600" cy="3556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6" name="Line 30"/>
          <p:cNvSpPr>
            <a:spLocks noChangeShapeType="1"/>
          </p:cNvSpPr>
          <p:nvPr/>
        </p:nvSpPr>
        <p:spPr bwMode="auto">
          <a:xfrm>
            <a:off x="7259674" y="3162958"/>
            <a:ext cx="1524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7" name="Line 31"/>
          <p:cNvSpPr>
            <a:spLocks noChangeShapeType="1"/>
          </p:cNvSpPr>
          <p:nvPr/>
        </p:nvSpPr>
        <p:spPr bwMode="auto">
          <a:xfrm>
            <a:off x="8021674" y="3162958"/>
            <a:ext cx="0" cy="1447800"/>
          </a:xfrm>
          <a:prstGeom prst="line">
            <a:avLst/>
          </a:prstGeom>
          <a:noFill/>
          <a:ln w="9525">
            <a:solidFill>
              <a:srgbClr val="33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8" name="Line 32"/>
          <p:cNvSpPr>
            <a:spLocks noChangeShapeType="1"/>
          </p:cNvSpPr>
          <p:nvPr/>
        </p:nvSpPr>
        <p:spPr bwMode="auto">
          <a:xfrm>
            <a:off x="6726274" y="4610758"/>
            <a:ext cx="25146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89" name="Freeform 33"/>
          <p:cNvSpPr>
            <a:spLocks/>
          </p:cNvSpPr>
          <p:nvPr/>
        </p:nvSpPr>
        <p:spPr bwMode="auto">
          <a:xfrm>
            <a:off x="7326350" y="3167720"/>
            <a:ext cx="225425" cy="1449388"/>
          </a:xfrm>
          <a:custGeom>
            <a:avLst/>
            <a:gdLst>
              <a:gd name="T0" fmla="*/ 2147483647 w 142"/>
              <a:gd name="T1" fmla="*/ 0 h 913"/>
              <a:gd name="T2" fmla="*/ 0 w 142"/>
              <a:gd name="T3" fmla="*/ 2147483647 h 913"/>
              <a:gd name="T4" fmla="*/ 0 60000 65536"/>
              <a:gd name="T5" fmla="*/ 0 60000 65536"/>
              <a:gd name="T6" fmla="*/ 0 w 142"/>
              <a:gd name="T7" fmla="*/ 0 h 913"/>
              <a:gd name="T8" fmla="*/ 142 w 142"/>
              <a:gd name="T9" fmla="*/ 913 h 91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2" h="913">
                <a:moveTo>
                  <a:pt x="142" y="0"/>
                </a:moveTo>
                <a:lnTo>
                  <a:pt x="0" y="913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0" name="Freeform 34"/>
          <p:cNvSpPr>
            <a:spLocks/>
          </p:cNvSpPr>
          <p:nvPr/>
        </p:nvSpPr>
        <p:spPr bwMode="auto">
          <a:xfrm>
            <a:off x="8475700" y="3156608"/>
            <a:ext cx="242887" cy="1454150"/>
          </a:xfrm>
          <a:custGeom>
            <a:avLst/>
            <a:gdLst>
              <a:gd name="T0" fmla="*/ 0 w 153"/>
              <a:gd name="T1" fmla="*/ 0 h 916"/>
              <a:gd name="T2" fmla="*/ 2147483647 w 153"/>
              <a:gd name="T3" fmla="*/ 2147483647 h 916"/>
              <a:gd name="T4" fmla="*/ 0 60000 65536"/>
              <a:gd name="T5" fmla="*/ 0 60000 65536"/>
              <a:gd name="T6" fmla="*/ 0 w 153"/>
              <a:gd name="T7" fmla="*/ 0 h 916"/>
              <a:gd name="T8" fmla="*/ 153 w 153"/>
              <a:gd name="T9" fmla="*/ 916 h 91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3" h="916">
                <a:moveTo>
                  <a:pt x="0" y="0"/>
                </a:moveTo>
                <a:lnTo>
                  <a:pt x="153" y="91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1" name="Freeform 35"/>
          <p:cNvSpPr>
            <a:spLocks/>
          </p:cNvSpPr>
          <p:nvPr/>
        </p:nvSpPr>
        <p:spPr bwMode="auto">
          <a:xfrm>
            <a:off x="7321586" y="4596471"/>
            <a:ext cx="1397000" cy="473075"/>
          </a:xfrm>
          <a:custGeom>
            <a:avLst/>
            <a:gdLst>
              <a:gd name="T0" fmla="*/ 0 w 880"/>
              <a:gd name="T1" fmla="*/ 2147483647 h 298"/>
              <a:gd name="T2" fmla="*/ 2147483647 w 880"/>
              <a:gd name="T3" fmla="*/ 2147483647 h 298"/>
              <a:gd name="T4" fmla="*/ 2147483647 w 880"/>
              <a:gd name="T5" fmla="*/ 2147483647 h 298"/>
              <a:gd name="T6" fmla="*/ 2147483647 w 880"/>
              <a:gd name="T7" fmla="*/ 2147483647 h 298"/>
              <a:gd name="T8" fmla="*/ 2147483647 w 880"/>
              <a:gd name="T9" fmla="*/ 2147483647 h 298"/>
              <a:gd name="T10" fmla="*/ 2147483647 w 880"/>
              <a:gd name="T11" fmla="*/ 2147483647 h 298"/>
              <a:gd name="T12" fmla="*/ 2147483647 w 880"/>
              <a:gd name="T13" fmla="*/ 2147483647 h 298"/>
              <a:gd name="T14" fmla="*/ 2147483647 w 880"/>
              <a:gd name="T15" fmla="*/ 2147483647 h 298"/>
              <a:gd name="T16" fmla="*/ 2147483647 w 880"/>
              <a:gd name="T17" fmla="*/ 2147483647 h 298"/>
              <a:gd name="T18" fmla="*/ 2147483647 w 880"/>
              <a:gd name="T19" fmla="*/ 2147483647 h 298"/>
              <a:gd name="T20" fmla="*/ 2147483647 w 880"/>
              <a:gd name="T21" fmla="*/ 2147483647 h 298"/>
              <a:gd name="T22" fmla="*/ 2147483647 w 880"/>
              <a:gd name="T23" fmla="*/ 2147483647 h 298"/>
              <a:gd name="T24" fmla="*/ 2147483647 w 880"/>
              <a:gd name="T25" fmla="*/ 2147483647 h 298"/>
              <a:gd name="T26" fmla="*/ 2147483647 w 880"/>
              <a:gd name="T27" fmla="*/ 2147483647 h 298"/>
              <a:gd name="T28" fmla="*/ 2147483647 w 880"/>
              <a:gd name="T29" fmla="*/ 2147483647 h 298"/>
              <a:gd name="T30" fmla="*/ 2147483647 w 880"/>
              <a:gd name="T31" fmla="*/ 2147483647 h 298"/>
              <a:gd name="T32" fmla="*/ 2147483647 w 880"/>
              <a:gd name="T33" fmla="*/ 2147483647 h 298"/>
              <a:gd name="T34" fmla="*/ 2147483647 w 880"/>
              <a:gd name="T35" fmla="*/ 2147483647 h 29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880"/>
              <a:gd name="T55" fmla="*/ 0 h 298"/>
              <a:gd name="T56" fmla="*/ 880 w 880"/>
              <a:gd name="T57" fmla="*/ 298 h 298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880" h="298">
                <a:moveTo>
                  <a:pt x="0" y="2"/>
                </a:moveTo>
                <a:cubicBezTo>
                  <a:pt x="1" y="6"/>
                  <a:pt x="1" y="6"/>
                  <a:pt x="4" y="19"/>
                </a:cubicBezTo>
                <a:cubicBezTo>
                  <a:pt x="7" y="32"/>
                  <a:pt x="12" y="63"/>
                  <a:pt x="19" y="83"/>
                </a:cubicBezTo>
                <a:cubicBezTo>
                  <a:pt x="26" y="103"/>
                  <a:pt x="32" y="118"/>
                  <a:pt x="47" y="137"/>
                </a:cubicBezTo>
                <a:cubicBezTo>
                  <a:pt x="62" y="156"/>
                  <a:pt x="85" y="181"/>
                  <a:pt x="108" y="198"/>
                </a:cubicBezTo>
                <a:cubicBezTo>
                  <a:pt x="131" y="215"/>
                  <a:pt x="160" y="224"/>
                  <a:pt x="188" y="236"/>
                </a:cubicBezTo>
                <a:cubicBezTo>
                  <a:pt x="216" y="248"/>
                  <a:pt x="246" y="259"/>
                  <a:pt x="275" y="268"/>
                </a:cubicBezTo>
                <a:cubicBezTo>
                  <a:pt x="304" y="277"/>
                  <a:pt x="333" y="286"/>
                  <a:pt x="361" y="291"/>
                </a:cubicBezTo>
                <a:cubicBezTo>
                  <a:pt x="389" y="296"/>
                  <a:pt x="413" y="298"/>
                  <a:pt x="441" y="297"/>
                </a:cubicBezTo>
                <a:cubicBezTo>
                  <a:pt x="469" y="296"/>
                  <a:pt x="502" y="292"/>
                  <a:pt x="531" y="287"/>
                </a:cubicBezTo>
                <a:cubicBezTo>
                  <a:pt x="560" y="282"/>
                  <a:pt x="587" y="274"/>
                  <a:pt x="614" y="265"/>
                </a:cubicBezTo>
                <a:cubicBezTo>
                  <a:pt x="641" y="256"/>
                  <a:pt x="669" y="244"/>
                  <a:pt x="694" y="233"/>
                </a:cubicBezTo>
                <a:cubicBezTo>
                  <a:pt x="719" y="222"/>
                  <a:pt x="742" y="211"/>
                  <a:pt x="763" y="196"/>
                </a:cubicBezTo>
                <a:cubicBezTo>
                  <a:pt x="784" y="181"/>
                  <a:pt x="807" y="160"/>
                  <a:pt x="822" y="143"/>
                </a:cubicBezTo>
                <a:cubicBezTo>
                  <a:pt x="837" y="126"/>
                  <a:pt x="846" y="110"/>
                  <a:pt x="854" y="95"/>
                </a:cubicBezTo>
                <a:cubicBezTo>
                  <a:pt x="862" y="80"/>
                  <a:pt x="869" y="68"/>
                  <a:pt x="873" y="54"/>
                </a:cubicBezTo>
                <a:cubicBezTo>
                  <a:pt x="877" y="40"/>
                  <a:pt x="877" y="18"/>
                  <a:pt x="878" y="9"/>
                </a:cubicBezTo>
                <a:cubicBezTo>
                  <a:pt x="879" y="0"/>
                  <a:pt x="880" y="3"/>
                  <a:pt x="880" y="2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2" name="Line 36"/>
          <p:cNvSpPr>
            <a:spLocks noChangeShapeType="1"/>
          </p:cNvSpPr>
          <p:nvPr/>
        </p:nvSpPr>
        <p:spPr bwMode="auto">
          <a:xfrm flipV="1">
            <a:off x="8021674" y="4305958"/>
            <a:ext cx="5334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3" name="Freeform 37"/>
          <p:cNvSpPr>
            <a:spLocks/>
          </p:cNvSpPr>
          <p:nvPr/>
        </p:nvSpPr>
        <p:spPr bwMode="auto">
          <a:xfrm>
            <a:off x="7488274" y="4001158"/>
            <a:ext cx="533400" cy="914400"/>
          </a:xfrm>
          <a:custGeom>
            <a:avLst/>
            <a:gdLst>
              <a:gd name="T0" fmla="*/ 2147483647 w 149"/>
              <a:gd name="T1" fmla="*/ 0 h 653"/>
              <a:gd name="T2" fmla="*/ 0 w 149"/>
              <a:gd name="T3" fmla="*/ 2147483647 h 653"/>
              <a:gd name="T4" fmla="*/ 0 60000 65536"/>
              <a:gd name="T5" fmla="*/ 0 60000 65536"/>
              <a:gd name="T6" fmla="*/ 0 w 149"/>
              <a:gd name="T7" fmla="*/ 0 h 653"/>
              <a:gd name="T8" fmla="*/ 149 w 149"/>
              <a:gd name="T9" fmla="*/ 653 h 65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9" h="653">
                <a:moveTo>
                  <a:pt x="149" y="0"/>
                </a:moveTo>
                <a:lnTo>
                  <a:pt x="0" y="653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4" name="Freeform 38"/>
          <p:cNvSpPr>
            <a:spLocks/>
          </p:cNvSpPr>
          <p:nvPr/>
        </p:nvSpPr>
        <p:spPr bwMode="auto">
          <a:xfrm>
            <a:off x="8380450" y="4610758"/>
            <a:ext cx="174625" cy="304800"/>
          </a:xfrm>
          <a:custGeom>
            <a:avLst/>
            <a:gdLst>
              <a:gd name="T0" fmla="*/ 0 w 163"/>
              <a:gd name="T1" fmla="*/ 0 h 125"/>
              <a:gd name="T2" fmla="*/ 2147483647 w 163"/>
              <a:gd name="T3" fmla="*/ 2147483647 h 125"/>
              <a:gd name="T4" fmla="*/ 0 60000 65536"/>
              <a:gd name="T5" fmla="*/ 0 60000 65536"/>
              <a:gd name="T6" fmla="*/ 0 w 163"/>
              <a:gd name="T7" fmla="*/ 0 h 125"/>
              <a:gd name="T8" fmla="*/ 163 w 163"/>
              <a:gd name="T9" fmla="*/ 125 h 1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63" h="125">
                <a:moveTo>
                  <a:pt x="0" y="0"/>
                </a:moveTo>
                <a:lnTo>
                  <a:pt x="163" y="125"/>
                </a:lnTo>
              </a:path>
            </a:pathLst>
          </a:cu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5" name="Freeform 39"/>
          <p:cNvSpPr>
            <a:spLocks/>
          </p:cNvSpPr>
          <p:nvPr/>
        </p:nvSpPr>
        <p:spPr bwMode="auto">
          <a:xfrm>
            <a:off x="8555075" y="4305958"/>
            <a:ext cx="153987" cy="609600"/>
          </a:xfrm>
          <a:custGeom>
            <a:avLst/>
            <a:gdLst>
              <a:gd name="T0" fmla="*/ 0 w 97"/>
              <a:gd name="T1" fmla="*/ 2147483647 h 384"/>
              <a:gd name="T2" fmla="*/ 2147483647 w 97"/>
              <a:gd name="T3" fmla="*/ 2147483647 h 384"/>
              <a:gd name="T4" fmla="*/ 2147483647 w 97"/>
              <a:gd name="T5" fmla="*/ 2147483647 h 384"/>
              <a:gd name="T6" fmla="*/ 2147483647 w 97"/>
              <a:gd name="T7" fmla="*/ 2147483647 h 384"/>
              <a:gd name="T8" fmla="*/ 0 w 97"/>
              <a:gd name="T9" fmla="*/ 0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7"/>
              <a:gd name="T16" fmla="*/ 0 h 384"/>
              <a:gd name="T17" fmla="*/ 97 w 97"/>
              <a:gd name="T18" fmla="*/ 384 h 3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7" h="384">
                <a:moveTo>
                  <a:pt x="0" y="384"/>
                </a:moveTo>
                <a:cubicBezTo>
                  <a:pt x="12" y="367"/>
                  <a:pt x="56" y="315"/>
                  <a:pt x="72" y="283"/>
                </a:cubicBezTo>
                <a:cubicBezTo>
                  <a:pt x="88" y="251"/>
                  <a:pt x="97" y="226"/>
                  <a:pt x="96" y="192"/>
                </a:cubicBezTo>
                <a:cubicBezTo>
                  <a:pt x="95" y="158"/>
                  <a:pt x="83" y="108"/>
                  <a:pt x="67" y="76"/>
                </a:cubicBezTo>
                <a:cubicBezTo>
                  <a:pt x="51" y="44"/>
                  <a:pt x="14" y="16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6" name="Freeform 40"/>
          <p:cNvSpPr>
            <a:spLocks/>
          </p:cNvSpPr>
          <p:nvPr/>
        </p:nvSpPr>
        <p:spPr bwMode="auto">
          <a:xfrm>
            <a:off x="7334287" y="4305958"/>
            <a:ext cx="161925" cy="609600"/>
          </a:xfrm>
          <a:custGeom>
            <a:avLst/>
            <a:gdLst>
              <a:gd name="T0" fmla="*/ 2147483647 w 102"/>
              <a:gd name="T1" fmla="*/ 2147483647 h 384"/>
              <a:gd name="T2" fmla="*/ 2147483647 w 102"/>
              <a:gd name="T3" fmla="*/ 2147483647 h 384"/>
              <a:gd name="T4" fmla="*/ 2147483647 w 102"/>
              <a:gd name="T5" fmla="*/ 2147483647 h 384"/>
              <a:gd name="T6" fmla="*/ 2147483647 w 102"/>
              <a:gd name="T7" fmla="*/ 2147483647 h 384"/>
              <a:gd name="T8" fmla="*/ 2147483647 w 102"/>
              <a:gd name="T9" fmla="*/ 0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"/>
              <a:gd name="T16" fmla="*/ 0 h 384"/>
              <a:gd name="T17" fmla="*/ 102 w 102"/>
              <a:gd name="T18" fmla="*/ 384 h 3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" h="384">
                <a:moveTo>
                  <a:pt x="97" y="384"/>
                </a:moveTo>
                <a:cubicBezTo>
                  <a:pt x="85" y="369"/>
                  <a:pt x="44" y="326"/>
                  <a:pt x="28" y="294"/>
                </a:cubicBezTo>
                <a:cubicBezTo>
                  <a:pt x="12" y="262"/>
                  <a:pt x="0" y="227"/>
                  <a:pt x="1" y="192"/>
                </a:cubicBezTo>
                <a:cubicBezTo>
                  <a:pt x="2" y="157"/>
                  <a:pt x="19" y="115"/>
                  <a:pt x="36" y="83"/>
                </a:cubicBezTo>
                <a:cubicBezTo>
                  <a:pt x="53" y="51"/>
                  <a:pt x="88" y="17"/>
                  <a:pt x="102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7" name="Oval 41"/>
          <p:cNvSpPr>
            <a:spLocks noChangeArrowheads="1"/>
          </p:cNvSpPr>
          <p:nvPr/>
        </p:nvSpPr>
        <p:spPr bwMode="auto">
          <a:xfrm>
            <a:off x="7564474" y="2934358"/>
            <a:ext cx="914400" cy="4572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173098" name="Freeform 42"/>
          <p:cNvSpPr>
            <a:spLocks/>
          </p:cNvSpPr>
          <p:nvPr/>
        </p:nvSpPr>
        <p:spPr bwMode="auto">
          <a:xfrm>
            <a:off x="7332700" y="3172484"/>
            <a:ext cx="219075" cy="1438275"/>
          </a:xfrm>
          <a:custGeom>
            <a:avLst/>
            <a:gdLst>
              <a:gd name="T0" fmla="*/ 2147483647 w 138"/>
              <a:gd name="T1" fmla="*/ 0 h 906"/>
              <a:gd name="T2" fmla="*/ 0 w 138"/>
              <a:gd name="T3" fmla="*/ 2147483647 h 906"/>
              <a:gd name="T4" fmla="*/ 0 60000 65536"/>
              <a:gd name="T5" fmla="*/ 0 60000 65536"/>
              <a:gd name="T6" fmla="*/ 0 w 138"/>
              <a:gd name="T7" fmla="*/ 0 h 906"/>
              <a:gd name="T8" fmla="*/ 138 w 138"/>
              <a:gd name="T9" fmla="*/ 906 h 9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8" h="906">
                <a:moveTo>
                  <a:pt x="138" y="0"/>
                </a:moveTo>
                <a:lnTo>
                  <a:pt x="0" y="90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3099" name="Freeform 43"/>
          <p:cNvSpPr>
            <a:spLocks/>
          </p:cNvSpPr>
          <p:nvPr/>
        </p:nvSpPr>
        <p:spPr bwMode="auto">
          <a:xfrm>
            <a:off x="8491575" y="3164545"/>
            <a:ext cx="236537" cy="1447800"/>
          </a:xfrm>
          <a:custGeom>
            <a:avLst/>
            <a:gdLst>
              <a:gd name="T0" fmla="*/ 0 w 149"/>
              <a:gd name="T1" fmla="*/ 0 h 912"/>
              <a:gd name="T2" fmla="*/ 2147483647 w 149"/>
              <a:gd name="T3" fmla="*/ 2147483647 h 912"/>
              <a:gd name="T4" fmla="*/ 0 60000 65536"/>
              <a:gd name="T5" fmla="*/ 0 60000 65536"/>
              <a:gd name="T6" fmla="*/ 0 w 149"/>
              <a:gd name="T7" fmla="*/ 0 h 912"/>
              <a:gd name="T8" fmla="*/ 149 w 149"/>
              <a:gd name="T9" fmla="*/ 912 h 91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9" h="912">
                <a:moveTo>
                  <a:pt x="0" y="0"/>
                </a:moveTo>
                <a:lnTo>
                  <a:pt x="149" y="912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49"/>
          <p:cNvGrpSpPr>
            <a:grpSpLocks/>
          </p:cNvGrpSpPr>
          <p:nvPr/>
        </p:nvGrpSpPr>
        <p:grpSpPr bwMode="auto">
          <a:xfrm>
            <a:off x="3167099" y="1664358"/>
            <a:ext cx="1219200" cy="4043362"/>
            <a:chOff x="687" y="855"/>
            <a:chExt cx="768" cy="2547"/>
          </a:xfrm>
        </p:grpSpPr>
        <p:sp>
          <p:nvSpPr>
            <p:cNvPr id="35876" name="Line 50"/>
            <p:cNvSpPr>
              <a:spLocks noChangeShapeType="1"/>
            </p:cNvSpPr>
            <p:nvPr/>
          </p:nvSpPr>
          <p:spPr bwMode="auto">
            <a:xfrm>
              <a:off x="1455" y="2708"/>
              <a:ext cx="0" cy="69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7" name="Line 51"/>
            <p:cNvSpPr>
              <a:spLocks noChangeShapeType="1"/>
            </p:cNvSpPr>
            <p:nvPr/>
          </p:nvSpPr>
          <p:spPr bwMode="auto">
            <a:xfrm>
              <a:off x="1455" y="855"/>
              <a:ext cx="0" cy="2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8" name="Line 52"/>
            <p:cNvSpPr>
              <a:spLocks noChangeShapeType="1"/>
            </p:cNvSpPr>
            <p:nvPr/>
          </p:nvSpPr>
          <p:spPr bwMode="auto">
            <a:xfrm flipH="1">
              <a:off x="687" y="1941"/>
              <a:ext cx="76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79" name="Freeform 53"/>
            <p:cNvSpPr>
              <a:spLocks/>
            </p:cNvSpPr>
            <p:nvPr/>
          </p:nvSpPr>
          <p:spPr bwMode="auto">
            <a:xfrm>
              <a:off x="718" y="2710"/>
              <a:ext cx="734" cy="1"/>
            </a:xfrm>
            <a:custGeom>
              <a:avLst/>
              <a:gdLst>
                <a:gd name="T0" fmla="*/ 0 w 734"/>
                <a:gd name="T1" fmla="*/ 0 h 1"/>
                <a:gd name="T2" fmla="*/ 734 w 734"/>
                <a:gd name="T3" fmla="*/ 0 h 1"/>
                <a:gd name="T4" fmla="*/ 0 60000 65536"/>
                <a:gd name="T5" fmla="*/ 0 60000 65536"/>
                <a:gd name="T6" fmla="*/ 0 w 734"/>
                <a:gd name="T7" fmla="*/ 0 h 1"/>
                <a:gd name="T8" fmla="*/ 734 w 73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4" h="1">
                  <a:moveTo>
                    <a:pt x="0" y="0"/>
                  </a:moveTo>
                  <a:lnTo>
                    <a:pt x="734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7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7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7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7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73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7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7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17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7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7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1" dur="500"/>
                                        <p:tgtEl>
                                          <p:spTgt spid="17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17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7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7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73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7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7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7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17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8" grpId="0" animBg="1"/>
      <p:bldP spid="173070" grpId="0" animBg="1"/>
      <p:bldP spid="173071" grpId="0" animBg="1"/>
      <p:bldP spid="173072" grpId="0" animBg="1"/>
      <p:bldP spid="173073" grpId="0" animBg="1"/>
      <p:bldP spid="173074" grpId="0" animBg="1"/>
      <p:bldP spid="173075" grpId="0" animBg="1"/>
      <p:bldP spid="173076" grpId="0" animBg="1"/>
      <p:bldP spid="173077" grpId="0" animBg="1"/>
      <p:bldP spid="173078" grpId="0" animBg="1"/>
      <p:bldP spid="173079" grpId="0" animBg="1"/>
      <p:bldP spid="173080" grpId="0" animBg="1"/>
      <p:bldP spid="173081" grpId="0" animBg="1"/>
      <p:bldP spid="173082" grpId="0" animBg="1"/>
      <p:bldP spid="173083" grpId="0" animBg="1"/>
      <p:bldP spid="173084" grpId="0" animBg="1"/>
      <p:bldP spid="173085" grpId="0" animBg="1"/>
      <p:bldP spid="173086" grpId="0" animBg="1"/>
      <p:bldP spid="173087" grpId="0" animBg="1"/>
      <p:bldP spid="173088" grpId="0" animBg="1"/>
      <p:bldP spid="173089" grpId="0" animBg="1"/>
      <p:bldP spid="173090" grpId="0" animBg="1"/>
      <p:bldP spid="173091" grpId="0" animBg="1"/>
      <p:bldP spid="173092" grpId="0" animBg="1"/>
      <p:bldP spid="173093" grpId="0" animBg="1"/>
      <p:bldP spid="173094" grpId="0" animBg="1"/>
      <p:bldP spid="173095" grpId="0" animBg="1"/>
      <p:bldP spid="173096" grpId="0" animBg="1"/>
      <p:bldP spid="173097" grpId="0" animBg="1"/>
      <p:bldP spid="173098" grpId="0" animBg="1"/>
      <p:bldP spid="17309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5"/>
          <p:cNvSpPr txBox="1">
            <a:spLocks noChangeArrowheads="1"/>
          </p:cNvSpPr>
          <p:nvPr/>
        </p:nvSpPr>
        <p:spPr bwMode="auto">
          <a:xfrm>
            <a:off x="1415480" y="727075"/>
            <a:ext cx="5302250" cy="579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3200" b="1" dirty="0">
                <a:latin typeface="宋体" pitchFamily="2" charset="-122"/>
              </a:rPr>
              <a:t>⑵ </a:t>
            </a:r>
            <a:r>
              <a:rPr lang="zh-CN" altLang="en-US" sz="3200" b="1" dirty="0">
                <a:latin typeface="宋体" pitchFamily="2" charset="-122"/>
              </a:rPr>
              <a:t>圆角的正等轴测图的画法</a:t>
            </a:r>
          </a:p>
        </p:txBody>
      </p:sp>
      <p:sp>
        <p:nvSpPr>
          <p:cNvPr id="174138" name="Text Box 58"/>
          <p:cNvSpPr txBox="1">
            <a:spLocks noChangeArrowheads="1"/>
          </p:cNvSpPr>
          <p:nvPr/>
        </p:nvSpPr>
        <p:spPr bwMode="auto">
          <a:xfrm>
            <a:off x="5195900" y="1903157"/>
            <a:ext cx="2232025" cy="579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dirty="0">
                <a:latin typeface="宋体" pitchFamily="2" charset="-122"/>
              </a:rPr>
              <a:t>简便画法：</a:t>
            </a:r>
          </a:p>
        </p:txBody>
      </p:sp>
      <p:sp>
        <p:nvSpPr>
          <p:cNvPr id="174139" name="Text Box 59"/>
          <p:cNvSpPr txBox="1">
            <a:spLocks noChangeArrowheads="1"/>
          </p:cNvSpPr>
          <p:nvPr/>
        </p:nvSpPr>
        <p:spPr bwMode="auto">
          <a:xfrm>
            <a:off x="5394828" y="2636373"/>
            <a:ext cx="5741732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800" dirty="0">
                <a:latin typeface="宋体" pitchFamily="2" charset="-122"/>
              </a:rPr>
              <a:t>1.</a:t>
            </a:r>
            <a:r>
              <a:rPr lang="zh-CN" altLang="en-US" sz="2800" dirty="0">
                <a:latin typeface="宋体" pitchFamily="2" charset="-122"/>
              </a:rPr>
              <a:t>由圆角半径确定切点</a:t>
            </a:r>
            <a:r>
              <a:rPr lang="en-US" altLang="zh-CN" sz="2800" dirty="0">
                <a:latin typeface="宋体" pitchFamily="2" charset="-122"/>
              </a:rPr>
              <a:t>A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>
                <a:latin typeface="宋体" pitchFamily="2" charset="-122"/>
              </a:rPr>
              <a:t>B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>
                <a:latin typeface="宋体" pitchFamily="2" charset="-122"/>
              </a:rPr>
              <a:t>C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>
                <a:latin typeface="宋体" pitchFamily="2" charset="-122"/>
              </a:rPr>
              <a:t>D</a:t>
            </a:r>
            <a:endParaRPr lang="zh-CN" altLang="en-US" sz="2800" baseline="-25000" dirty="0">
              <a:latin typeface="宋体" pitchFamily="2" charset="-122"/>
            </a:endParaRPr>
          </a:p>
        </p:txBody>
      </p:sp>
      <p:sp>
        <p:nvSpPr>
          <p:cNvPr id="174140" name="Text Box 60"/>
          <p:cNvSpPr txBox="1">
            <a:spLocks noChangeArrowheads="1"/>
          </p:cNvSpPr>
          <p:nvPr/>
        </p:nvSpPr>
        <p:spPr bwMode="auto">
          <a:xfrm>
            <a:off x="5393495" y="3319722"/>
            <a:ext cx="5743065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800" dirty="0">
                <a:latin typeface="宋体" pitchFamily="2" charset="-122"/>
              </a:rPr>
              <a:t>2.</a:t>
            </a:r>
            <a:r>
              <a:rPr lang="zh-CN" altLang="en-US" sz="2800" dirty="0">
                <a:latin typeface="宋体" pitchFamily="2" charset="-122"/>
              </a:rPr>
              <a:t> 过 </a:t>
            </a:r>
            <a:r>
              <a:rPr lang="en-US" altLang="zh-CN" sz="2800" dirty="0">
                <a:latin typeface="宋体" pitchFamily="2" charset="-122"/>
              </a:rPr>
              <a:t>A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>
                <a:latin typeface="宋体" pitchFamily="2" charset="-122"/>
              </a:rPr>
              <a:t>B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>
                <a:latin typeface="宋体" pitchFamily="2" charset="-122"/>
              </a:rPr>
              <a:t>C</a:t>
            </a:r>
            <a:r>
              <a:rPr lang="zh-CN" altLang="en-US" sz="2800" dirty="0">
                <a:latin typeface="宋体" pitchFamily="2" charset="-122"/>
              </a:rPr>
              <a:t>、</a:t>
            </a:r>
            <a:r>
              <a:rPr lang="en-US" altLang="zh-CN" sz="2800" dirty="0">
                <a:latin typeface="宋体" pitchFamily="2" charset="-122"/>
              </a:rPr>
              <a:t>D</a:t>
            </a:r>
            <a:r>
              <a:rPr lang="zh-CN" altLang="en-US" sz="2800" dirty="0">
                <a:latin typeface="宋体" pitchFamily="2" charset="-122"/>
              </a:rPr>
              <a:t>作相应边的垂线</a:t>
            </a:r>
            <a:endParaRPr lang="zh-CN" altLang="en-US" sz="2800" baseline="-25000" dirty="0">
              <a:latin typeface="宋体" pitchFamily="2" charset="-122"/>
            </a:endParaRPr>
          </a:p>
        </p:txBody>
      </p:sp>
      <p:sp>
        <p:nvSpPr>
          <p:cNvPr id="174141" name="Text Box 61"/>
          <p:cNvSpPr txBox="1">
            <a:spLocks noChangeArrowheads="1"/>
          </p:cNvSpPr>
          <p:nvPr/>
        </p:nvSpPr>
        <p:spPr bwMode="auto">
          <a:xfrm>
            <a:off x="5365749" y="4639469"/>
            <a:ext cx="4783138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800" dirty="0">
                <a:latin typeface="宋体" pitchFamily="2" charset="-122"/>
              </a:rPr>
              <a:t>4.</a:t>
            </a:r>
            <a:r>
              <a:rPr lang="zh-CN" altLang="en-US" sz="2800" dirty="0">
                <a:latin typeface="宋体" pitchFamily="2" charset="-122"/>
              </a:rPr>
              <a:t>分别以 </a:t>
            </a:r>
            <a:r>
              <a:rPr lang="en-US" altLang="zh-CN" sz="2800" dirty="0">
                <a:latin typeface="宋体" pitchFamily="2" charset="-122"/>
              </a:rPr>
              <a:t>O</a:t>
            </a:r>
            <a:r>
              <a:rPr lang="zh-CN" altLang="en-US" sz="2800" dirty="0">
                <a:latin typeface="宋体" pitchFamily="2" charset="-122"/>
              </a:rPr>
              <a:t>为圆心，画圆弧</a:t>
            </a:r>
          </a:p>
        </p:txBody>
      </p:sp>
      <p:sp>
        <p:nvSpPr>
          <p:cNvPr id="174142" name="Text Box 62"/>
          <p:cNvSpPr txBox="1">
            <a:spLocks noChangeArrowheads="1"/>
          </p:cNvSpPr>
          <p:nvPr/>
        </p:nvSpPr>
        <p:spPr bwMode="auto">
          <a:xfrm>
            <a:off x="5393495" y="3933826"/>
            <a:ext cx="4600575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800" dirty="0">
                <a:latin typeface="宋体" pitchFamily="2" charset="-122"/>
              </a:rPr>
              <a:t>3.</a:t>
            </a:r>
            <a:r>
              <a:rPr lang="zh-CN" altLang="en-US" sz="2800" dirty="0">
                <a:latin typeface="宋体" pitchFamily="2" charset="-122"/>
              </a:rPr>
              <a:t>确定的圆心</a:t>
            </a:r>
          </a:p>
        </p:txBody>
      </p:sp>
      <p:sp>
        <p:nvSpPr>
          <p:cNvPr id="174144" name="Text Box 64"/>
          <p:cNvSpPr txBox="1">
            <a:spLocks noChangeArrowheads="1"/>
          </p:cNvSpPr>
          <p:nvPr/>
        </p:nvSpPr>
        <p:spPr bwMode="auto">
          <a:xfrm>
            <a:off x="5402264" y="5181601"/>
            <a:ext cx="3057525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>
                <a:latin typeface="宋体" pitchFamily="2" charset="-122"/>
              </a:rPr>
              <a:t>★</a:t>
            </a:r>
            <a:r>
              <a:rPr lang="zh-CN" altLang="en-US" sz="2800">
                <a:latin typeface="宋体" pitchFamily="2" charset="-122"/>
              </a:rPr>
              <a:t>作公切线，加深</a:t>
            </a:r>
          </a:p>
        </p:txBody>
      </p:sp>
      <p:pic>
        <p:nvPicPr>
          <p:cNvPr id="36873" name="Picture 9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62189" y="1420813"/>
            <a:ext cx="2276475" cy="23241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5937" name="Picture 9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43113" y="4368801"/>
            <a:ext cx="2336800" cy="166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5938" name="Picture 9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116139" y="4341813"/>
            <a:ext cx="2498725" cy="16430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5939" name="Picture 9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16139" y="4414838"/>
            <a:ext cx="2592387" cy="16192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5940" name="Picture 10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006601" y="4378325"/>
            <a:ext cx="2830513" cy="1752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5941" name="Picture 10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677988" y="4195764"/>
            <a:ext cx="3213100" cy="204628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4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1000"/>
                                        <p:tgtEl>
                                          <p:spTgt spid="35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4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5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7" dur="1000"/>
                                        <p:tgtEl>
                                          <p:spTgt spid="3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7" dur="500"/>
                                        <p:tgtEl>
                                          <p:spTgt spid="3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38" grpId="0" autoUpdateAnimBg="0"/>
      <p:bldP spid="174139" grpId="0" autoUpdateAnimBg="0"/>
      <p:bldP spid="174140" grpId="0" autoUpdateAnimBg="0"/>
      <p:bldP spid="174141" grpId="0" autoUpdateAnimBg="0"/>
      <p:bldP spid="174142" grpId="0" autoUpdateAnimBg="0"/>
      <p:bldP spid="174144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rPr>
              <a:t>选择正确的选项。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正等轴测图的轴向伸缩系数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p=q=r=1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轴间角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120°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Microsoft Yahei" panose="020B0503020204020204" pitchFamily="34" charset="-122"/>
              </a:rPr>
              <a:t>切割体构形设计，采用拉伸构形较为方便。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  <a:sym typeface="Microsoft Yahei" panose="020B0503020204020204" pitchFamily="34" charset="-122"/>
              </a:rPr>
              <a:t>回转体的构形设计，一定要用旋转法。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7027676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平行于各坐标面的圆的正等轴测图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不一定都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是椭圆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2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79438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4231890" y="406050"/>
            <a:ext cx="3725862" cy="584775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斜二等轴测图</a:t>
            </a:r>
          </a:p>
        </p:txBody>
      </p:sp>
      <p:sp>
        <p:nvSpPr>
          <p:cNvPr id="176131" name="Text Box 3"/>
          <p:cNvSpPr txBox="1">
            <a:spLocks noChangeArrowheads="1"/>
          </p:cNvSpPr>
          <p:nvPr/>
        </p:nvSpPr>
        <p:spPr bwMode="auto">
          <a:xfrm>
            <a:off x="1369219" y="1338264"/>
            <a:ext cx="377539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轴向伸缩系数和轴间角</a:t>
            </a:r>
          </a:p>
        </p:txBody>
      </p:sp>
      <p:sp>
        <p:nvSpPr>
          <p:cNvPr id="176132" name="Text Box 4"/>
          <p:cNvSpPr txBox="1">
            <a:spLocks noChangeArrowheads="1"/>
          </p:cNvSpPr>
          <p:nvPr/>
        </p:nvSpPr>
        <p:spPr bwMode="auto">
          <a:xfrm>
            <a:off x="2362200" y="4457701"/>
            <a:ext cx="591860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3200"/>
              <a:t> </a:t>
            </a:r>
            <a:r>
              <a:rPr lang="zh-CN" altLang="en-US" sz="3200"/>
              <a:t>轴向伸缩系数：</a:t>
            </a:r>
            <a:r>
              <a:rPr lang="en-US" altLang="zh-CN" sz="3200"/>
              <a:t>p=r=1  </a:t>
            </a:r>
            <a:r>
              <a:rPr lang="zh-CN" altLang="en-US" sz="3200"/>
              <a:t>，</a:t>
            </a:r>
            <a:r>
              <a:rPr lang="en-US" altLang="zh-CN" sz="3200"/>
              <a:t>q=0.5</a:t>
            </a:r>
          </a:p>
        </p:txBody>
      </p:sp>
      <p:sp>
        <p:nvSpPr>
          <p:cNvPr id="176133" name="Text Box 5"/>
          <p:cNvSpPr txBox="1">
            <a:spLocks noChangeArrowheads="1"/>
          </p:cNvSpPr>
          <p:nvPr/>
        </p:nvSpPr>
        <p:spPr bwMode="auto">
          <a:xfrm>
            <a:off x="2451101" y="4989513"/>
            <a:ext cx="6147837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>
                <a:latin typeface="宋体" pitchFamily="2" charset="-122"/>
              </a:rPr>
              <a:t>轴间角： </a:t>
            </a:r>
            <a:r>
              <a:rPr lang="zh-CN" altLang="en-US" sz="3200">
                <a:latin typeface="宋体" pitchFamily="2" charset="-122"/>
                <a:sym typeface="Symbol" pitchFamily="18" charset="2"/>
              </a:rPr>
              <a:t></a:t>
            </a:r>
            <a:r>
              <a:rPr lang="en-US" altLang="zh-CN" sz="3200">
                <a:latin typeface="宋体" pitchFamily="2" charset="-122"/>
                <a:sym typeface="Symbol" pitchFamily="18" charset="2"/>
              </a:rPr>
              <a:t>X</a:t>
            </a:r>
            <a:r>
              <a:rPr lang="en-US" altLang="zh-CN" sz="32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3200">
                <a:latin typeface="宋体" pitchFamily="2" charset="-122"/>
                <a:sym typeface="Symbol" pitchFamily="18" charset="2"/>
              </a:rPr>
              <a:t>O</a:t>
            </a:r>
            <a:r>
              <a:rPr lang="en-US" altLang="zh-CN" sz="32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3200">
                <a:latin typeface="宋体" pitchFamily="2" charset="-122"/>
                <a:sym typeface="Symbol" pitchFamily="18" charset="2"/>
              </a:rPr>
              <a:t>Z</a:t>
            </a:r>
            <a:r>
              <a:rPr lang="en-US" altLang="zh-CN" sz="32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3200">
                <a:latin typeface="宋体" pitchFamily="2" charset="-122"/>
                <a:sym typeface="Wingdings" pitchFamily="2" charset="2"/>
              </a:rPr>
              <a:t>=90°</a:t>
            </a:r>
          </a:p>
          <a:p>
            <a:pPr eaLnBrk="1" hangingPunct="1"/>
            <a:r>
              <a:rPr lang="en-US" altLang="zh-CN" sz="3200">
                <a:latin typeface="宋体" pitchFamily="2" charset="-122"/>
                <a:sym typeface="Wingdings" pitchFamily="2" charset="2"/>
              </a:rPr>
              <a:t>         </a:t>
            </a:r>
            <a:r>
              <a:rPr lang="en-US" altLang="zh-CN" sz="3200">
                <a:latin typeface="宋体" pitchFamily="2" charset="-122"/>
                <a:sym typeface="Symbol" pitchFamily="18" charset="2"/>
              </a:rPr>
              <a:t>X</a:t>
            </a:r>
            <a:r>
              <a:rPr lang="en-US" altLang="zh-CN" sz="32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3200">
                <a:latin typeface="宋体" pitchFamily="2" charset="-122"/>
                <a:sym typeface="Symbol" pitchFamily="18" charset="2"/>
              </a:rPr>
              <a:t>O</a:t>
            </a:r>
            <a:r>
              <a:rPr lang="en-US" altLang="zh-CN" sz="32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3200">
                <a:latin typeface="宋体" pitchFamily="2" charset="-122"/>
                <a:sym typeface="Symbol" pitchFamily="18" charset="2"/>
              </a:rPr>
              <a:t>Y</a:t>
            </a:r>
            <a:r>
              <a:rPr lang="en-US" altLang="zh-CN" sz="32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3200">
                <a:latin typeface="宋体" pitchFamily="2" charset="-122"/>
                <a:sym typeface="Symbol" pitchFamily="18" charset="2"/>
              </a:rPr>
              <a:t>=</a:t>
            </a:r>
            <a:r>
              <a:rPr lang="en-US" altLang="zh-CN" sz="3200">
                <a:latin typeface="宋体" pitchFamily="2" charset="-122"/>
                <a:sym typeface="Wingdings" pitchFamily="2" charset="2"/>
              </a:rPr>
              <a:t>Y</a:t>
            </a:r>
            <a:r>
              <a:rPr lang="en-US" altLang="zh-CN" sz="32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3200">
                <a:latin typeface="宋体" pitchFamily="2" charset="-122"/>
                <a:sym typeface="Wingdings" pitchFamily="2" charset="2"/>
              </a:rPr>
              <a:t>O</a:t>
            </a:r>
            <a:r>
              <a:rPr lang="en-US" altLang="zh-CN" sz="32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3200">
                <a:latin typeface="宋体" pitchFamily="2" charset="-122"/>
                <a:sym typeface="Wingdings" pitchFamily="2" charset="2"/>
              </a:rPr>
              <a:t>Z</a:t>
            </a:r>
            <a:r>
              <a:rPr lang="en-US" altLang="zh-CN" sz="3200" baseline="-20000">
                <a:latin typeface="宋体" pitchFamily="2" charset="-122"/>
                <a:sym typeface="Wingdings" pitchFamily="2" charset="2"/>
              </a:rPr>
              <a:t>1</a:t>
            </a:r>
            <a:r>
              <a:rPr lang="en-US" altLang="zh-CN" sz="3200">
                <a:latin typeface="宋体" pitchFamily="2" charset="-122"/>
                <a:sym typeface="Wingdings" pitchFamily="2" charset="2"/>
              </a:rPr>
              <a:t>=135°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318408" y="2054692"/>
            <a:ext cx="3962400" cy="2209800"/>
            <a:chOff x="384" y="1286"/>
            <a:chExt cx="2496" cy="1392"/>
          </a:xfrm>
        </p:grpSpPr>
        <p:sp>
          <p:nvSpPr>
            <p:cNvPr id="36892" name="Rectangle 7"/>
            <p:cNvSpPr>
              <a:spLocks noChangeArrowheads="1"/>
            </p:cNvSpPr>
            <p:nvPr/>
          </p:nvSpPr>
          <p:spPr bwMode="auto">
            <a:xfrm>
              <a:off x="384" y="1286"/>
              <a:ext cx="2496" cy="139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37896" name="Group 8"/>
            <p:cNvGrpSpPr>
              <a:grpSpLocks/>
            </p:cNvGrpSpPr>
            <p:nvPr/>
          </p:nvGrpSpPr>
          <p:grpSpPr bwMode="auto">
            <a:xfrm>
              <a:off x="576" y="1382"/>
              <a:ext cx="1392" cy="1056"/>
              <a:chOff x="576" y="1382"/>
              <a:chExt cx="1392" cy="1056"/>
            </a:xfrm>
          </p:grpSpPr>
          <p:grpSp>
            <p:nvGrpSpPr>
              <p:cNvPr id="37910" name="Group 9"/>
              <p:cNvGrpSpPr>
                <a:grpSpLocks/>
              </p:cNvGrpSpPr>
              <p:nvPr/>
            </p:nvGrpSpPr>
            <p:grpSpPr bwMode="auto">
              <a:xfrm>
                <a:off x="576" y="1382"/>
                <a:ext cx="1223" cy="1056"/>
                <a:chOff x="240" y="2256"/>
                <a:chExt cx="1392" cy="1584"/>
              </a:xfrm>
            </p:grpSpPr>
            <p:sp>
              <p:nvSpPr>
                <p:cNvPr id="37913" name="Line 10"/>
                <p:cNvSpPr>
                  <a:spLocks noChangeShapeType="1"/>
                </p:cNvSpPr>
                <p:nvPr/>
              </p:nvSpPr>
              <p:spPr bwMode="auto">
                <a:xfrm>
                  <a:off x="1056" y="2256"/>
                  <a:ext cx="0" cy="100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14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240" y="3264"/>
                  <a:ext cx="816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915" name="Line 12"/>
                <p:cNvSpPr>
                  <a:spLocks noChangeShapeType="1"/>
                </p:cNvSpPr>
                <p:nvPr/>
              </p:nvSpPr>
              <p:spPr bwMode="auto">
                <a:xfrm>
                  <a:off x="1056" y="3264"/>
                  <a:ext cx="576" cy="5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7911" name="Line 13"/>
              <p:cNvSpPr>
                <a:spLocks noChangeShapeType="1"/>
              </p:cNvSpPr>
              <p:nvPr/>
            </p:nvSpPr>
            <p:spPr bwMode="auto">
              <a:xfrm>
                <a:off x="1293" y="2054"/>
                <a:ext cx="675" cy="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2" name="Text Box 14"/>
              <p:cNvSpPr txBox="1">
                <a:spLocks noChangeArrowheads="1"/>
              </p:cNvSpPr>
              <p:nvPr/>
            </p:nvSpPr>
            <p:spPr bwMode="auto">
              <a:xfrm>
                <a:off x="1410" y="2037"/>
                <a:ext cx="407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eaLnBrk="1" hangingPunct="1"/>
                <a:r>
                  <a:rPr lang="en-US" altLang="zh-CN" i="1">
                    <a:latin typeface="ISOCPEUR" pitchFamily="34" charset="0"/>
                  </a:rPr>
                  <a:t>45</a:t>
                </a:r>
                <a:r>
                  <a:rPr lang="en-US" altLang="zh-CN">
                    <a:latin typeface="ISOCP" pitchFamily="2" charset="0"/>
                  </a:rPr>
                  <a:t>°</a:t>
                </a:r>
                <a:endParaRPr lang="en-US" altLang="zh-CN"/>
              </a:p>
            </p:txBody>
          </p:sp>
        </p:grpSp>
        <p:sp>
          <p:nvSpPr>
            <p:cNvPr id="37897" name="Rectangle 15"/>
            <p:cNvSpPr>
              <a:spLocks noChangeArrowheads="1"/>
            </p:cNvSpPr>
            <p:nvPr/>
          </p:nvSpPr>
          <p:spPr bwMode="auto">
            <a:xfrm>
              <a:off x="2304" y="1622"/>
              <a:ext cx="481" cy="432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7898" name="Line 16"/>
            <p:cNvSpPr>
              <a:spLocks noChangeShapeType="1"/>
            </p:cNvSpPr>
            <p:nvPr/>
          </p:nvSpPr>
          <p:spPr bwMode="auto">
            <a:xfrm flipH="1" flipV="1">
              <a:off x="2160" y="1478"/>
              <a:ext cx="144" cy="14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899" name="Freeform 17"/>
            <p:cNvSpPr>
              <a:spLocks/>
            </p:cNvSpPr>
            <p:nvPr/>
          </p:nvSpPr>
          <p:spPr bwMode="auto">
            <a:xfrm>
              <a:off x="2632" y="1469"/>
              <a:ext cx="153" cy="153"/>
            </a:xfrm>
            <a:custGeom>
              <a:avLst/>
              <a:gdLst>
                <a:gd name="T0" fmla="*/ 153 w 153"/>
                <a:gd name="T1" fmla="*/ 153 h 153"/>
                <a:gd name="T2" fmla="*/ 0 w 153"/>
                <a:gd name="T3" fmla="*/ 0 h 153"/>
                <a:gd name="T4" fmla="*/ 0 60000 65536"/>
                <a:gd name="T5" fmla="*/ 0 60000 65536"/>
                <a:gd name="T6" fmla="*/ 0 w 153"/>
                <a:gd name="T7" fmla="*/ 0 h 153"/>
                <a:gd name="T8" fmla="*/ 153 w 153"/>
                <a:gd name="T9" fmla="*/ 153 h 15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3" h="153">
                  <a:moveTo>
                    <a:pt x="153" y="153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0" name="Line 18"/>
            <p:cNvSpPr>
              <a:spLocks noChangeShapeType="1"/>
            </p:cNvSpPr>
            <p:nvPr/>
          </p:nvSpPr>
          <p:spPr bwMode="auto">
            <a:xfrm flipH="1">
              <a:off x="2160" y="1478"/>
              <a:ext cx="48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1" name="Freeform 19"/>
            <p:cNvSpPr>
              <a:spLocks/>
            </p:cNvSpPr>
            <p:nvPr/>
          </p:nvSpPr>
          <p:spPr bwMode="auto">
            <a:xfrm>
              <a:off x="2160" y="1478"/>
              <a:ext cx="1" cy="435"/>
            </a:xfrm>
            <a:custGeom>
              <a:avLst/>
              <a:gdLst>
                <a:gd name="T0" fmla="*/ 0 w 1"/>
                <a:gd name="T1" fmla="*/ 435 h 435"/>
                <a:gd name="T2" fmla="*/ 1 w 1"/>
                <a:gd name="T3" fmla="*/ 0 h 435"/>
                <a:gd name="T4" fmla="*/ 0 60000 65536"/>
                <a:gd name="T5" fmla="*/ 0 60000 65536"/>
                <a:gd name="T6" fmla="*/ 0 w 1"/>
                <a:gd name="T7" fmla="*/ 0 h 435"/>
                <a:gd name="T8" fmla="*/ 1 w 1"/>
                <a:gd name="T9" fmla="*/ 435 h 4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35">
                  <a:moveTo>
                    <a:pt x="0" y="435"/>
                  </a:moveTo>
                  <a:lnTo>
                    <a:pt x="1" y="0"/>
                  </a:ln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2" name="Freeform 20"/>
            <p:cNvSpPr>
              <a:spLocks/>
            </p:cNvSpPr>
            <p:nvPr/>
          </p:nvSpPr>
          <p:spPr bwMode="auto">
            <a:xfrm>
              <a:off x="2153" y="1898"/>
              <a:ext cx="151" cy="156"/>
            </a:xfrm>
            <a:custGeom>
              <a:avLst/>
              <a:gdLst>
                <a:gd name="T0" fmla="*/ 0 w 151"/>
                <a:gd name="T1" fmla="*/ 0 h 156"/>
                <a:gd name="T2" fmla="*/ 151 w 151"/>
                <a:gd name="T3" fmla="*/ 156 h 156"/>
                <a:gd name="T4" fmla="*/ 0 60000 65536"/>
                <a:gd name="T5" fmla="*/ 0 60000 65536"/>
                <a:gd name="T6" fmla="*/ 0 w 151"/>
                <a:gd name="T7" fmla="*/ 0 h 156"/>
                <a:gd name="T8" fmla="*/ 151 w 151"/>
                <a:gd name="T9" fmla="*/ 156 h 15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1" h="156">
                  <a:moveTo>
                    <a:pt x="0" y="0"/>
                  </a:moveTo>
                  <a:lnTo>
                    <a:pt x="151" y="156"/>
                  </a:lnTo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903" name="Text Box 21"/>
            <p:cNvSpPr txBox="1">
              <a:spLocks noChangeArrowheads="1"/>
            </p:cNvSpPr>
            <p:nvPr/>
          </p:nvSpPr>
          <p:spPr bwMode="auto">
            <a:xfrm>
              <a:off x="438" y="1793"/>
              <a:ext cx="23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X</a:t>
              </a:r>
              <a:r>
                <a:rPr lang="en-US" altLang="zh-CN" baseline="-25000">
                  <a:latin typeface="宋体" pitchFamily="2" charset="-122"/>
                </a:rPr>
                <a:t>1</a:t>
              </a:r>
              <a:endParaRPr lang="en-US" altLang="zh-CN">
                <a:latin typeface="宋体" pitchFamily="2" charset="-122"/>
              </a:endParaRPr>
            </a:p>
          </p:txBody>
        </p:sp>
        <p:sp>
          <p:nvSpPr>
            <p:cNvPr id="37904" name="Text Box 22"/>
            <p:cNvSpPr txBox="1">
              <a:spLocks noChangeArrowheads="1"/>
            </p:cNvSpPr>
            <p:nvPr/>
          </p:nvSpPr>
          <p:spPr bwMode="auto">
            <a:xfrm>
              <a:off x="813" y="1842"/>
              <a:ext cx="24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ISOCPEUR" pitchFamily="34" charset="0"/>
                </a:rPr>
                <a:t>1:1</a:t>
              </a:r>
              <a:endParaRPr lang="en-US" altLang="zh-CN">
                <a:latin typeface="ISOCPEUR" pitchFamily="34" charset="0"/>
              </a:endParaRPr>
            </a:p>
          </p:txBody>
        </p:sp>
        <p:sp>
          <p:nvSpPr>
            <p:cNvPr id="37905" name="Text Box 23"/>
            <p:cNvSpPr txBox="1">
              <a:spLocks noChangeArrowheads="1"/>
            </p:cNvSpPr>
            <p:nvPr/>
          </p:nvSpPr>
          <p:spPr bwMode="auto">
            <a:xfrm>
              <a:off x="1161" y="2015"/>
              <a:ext cx="23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O</a:t>
              </a:r>
              <a:r>
                <a:rPr lang="en-US" altLang="zh-CN" baseline="-25000">
                  <a:latin typeface="宋体" pitchFamily="2" charset="-122"/>
                </a:rPr>
                <a:t>1</a:t>
              </a:r>
              <a:endParaRPr lang="en-US" altLang="zh-CN">
                <a:latin typeface="宋体" pitchFamily="2" charset="-122"/>
              </a:endParaRPr>
            </a:p>
          </p:txBody>
        </p:sp>
        <p:sp>
          <p:nvSpPr>
            <p:cNvPr id="37906" name="Text Box 24"/>
            <p:cNvSpPr txBox="1">
              <a:spLocks noChangeArrowheads="1"/>
            </p:cNvSpPr>
            <p:nvPr/>
          </p:nvSpPr>
          <p:spPr bwMode="auto">
            <a:xfrm rot="2485311">
              <a:off x="1666" y="2199"/>
              <a:ext cx="26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ISOCPEUR" pitchFamily="34" charset="0"/>
                </a:rPr>
                <a:t>1:2</a:t>
              </a:r>
              <a:endParaRPr lang="en-US" altLang="zh-CN">
                <a:latin typeface="ISOCPEUR" pitchFamily="34" charset="0"/>
              </a:endParaRPr>
            </a:p>
          </p:txBody>
        </p:sp>
        <p:sp>
          <p:nvSpPr>
            <p:cNvPr id="37907" name="Text Box 25"/>
            <p:cNvSpPr txBox="1">
              <a:spLocks noChangeArrowheads="1"/>
            </p:cNvSpPr>
            <p:nvPr/>
          </p:nvSpPr>
          <p:spPr bwMode="auto">
            <a:xfrm>
              <a:off x="1686" y="2399"/>
              <a:ext cx="23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Y</a:t>
              </a:r>
              <a:r>
                <a:rPr lang="en-US" altLang="zh-CN" baseline="-25000">
                  <a:latin typeface="宋体" pitchFamily="2" charset="-122"/>
                </a:rPr>
                <a:t>1</a:t>
              </a:r>
              <a:endParaRPr lang="en-US" altLang="zh-CN">
                <a:latin typeface="宋体" pitchFamily="2" charset="-122"/>
              </a:endParaRPr>
            </a:p>
          </p:txBody>
        </p:sp>
        <p:sp>
          <p:nvSpPr>
            <p:cNvPr id="37908" name="Text Box 26"/>
            <p:cNvSpPr txBox="1">
              <a:spLocks noChangeArrowheads="1"/>
            </p:cNvSpPr>
            <p:nvPr/>
          </p:nvSpPr>
          <p:spPr bwMode="auto">
            <a:xfrm>
              <a:off x="1266" y="1295"/>
              <a:ext cx="23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>
                  <a:latin typeface="宋体" pitchFamily="2" charset="-122"/>
                </a:rPr>
                <a:t>Z</a:t>
              </a:r>
              <a:r>
                <a:rPr lang="en-US" altLang="zh-CN" baseline="-25000">
                  <a:latin typeface="宋体" pitchFamily="2" charset="-122"/>
                </a:rPr>
                <a:t>1</a:t>
              </a:r>
              <a:endParaRPr lang="en-US" altLang="zh-CN">
                <a:latin typeface="宋体" pitchFamily="2" charset="-122"/>
              </a:endParaRPr>
            </a:p>
          </p:txBody>
        </p:sp>
        <p:sp>
          <p:nvSpPr>
            <p:cNvPr id="37909" name="Text Box 27"/>
            <p:cNvSpPr txBox="1">
              <a:spLocks noChangeArrowheads="1"/>
            </p:cNvSpPr>
            <p:nvPr/>
          </p:nvSpPr>
          <p:spPr bwMode="auto">
            <a:xfrm rot="16200000">
              <a:off x="1067" y="1518"/>
              <a:ext cx="24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en-US" altLang="zh-CN" i="1">
                  <a:latin typeface="ISOCPEUR" pitchFamily="34" charset="0"/>
                </a:rPr>
                <a:t>1:1</a:t>
              </a:r>
              <a:endParaRPr lang="en-US" altLang="zh-CN">
                <a:latin typeface="ISOCPEUR" pitchFamily="34" charset="0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7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7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1" grpId="0" autoUpdateAnimBg="0"/>
      <p:bldP spid="176132" grpId="0" autoUpdateAnimBg="0"/>
      <p:bldP spid="17613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23890" y="1979034"/>
            <a:ext cx="2552700" cy="2395537"/>
            <a:chOff x="720" y="790"/>
            <a:chExt cx="1603" cy="1525"/>
          </a:xfrm>
        </p:grpSpPr>
        <p:sp>
          <p:nvSpPr>
            <p:cNvPr id="38936" name="Rectangle 3"/>
            <p:cNvSpPr>
              <a:spLocks noChangeArrowheads="1"/>
            </p:cNvSpPr>
            <p:nvPr/>
          </p:nvSpPr>
          <p:spPr bwMode="auto">
            <a:xfrm>
              <a:off x="1123" y="1207"/>
              <a:ext cx="1200" cy="1104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8937" name="Freeform 4"/>
            <p:cNvSpPr>
              <a:spLocks/>
            </p:cNvSpPr>
            <p:nvPr/>
          </p:nvSpPr>
          <p:spPr bwMode="auto">
            <a:xfrm>
              <a:off x="724" y="806"/>
              <a:ext cx="392" cy="394"/>
            </a:xfrm>
            <a:custGeom>
              <a:avLst/>
              <a:gdLst>
                <a:gd name="T0" fmla="*/ 0 w 392"/>
                <a:gd name="T1" fmla="*/ 0 h 394"/>
                <a:gd name="T2" fmla="*/ 392 w 392"/>
                <a:gd name="T3" fmla="*/ 394 h 394"/>
                <a:gd name="T4" fmla="*/ 0 60000 65536"/>
                <a:gd name="T5" fmla="*/ 0 60000 65536"/>
                <a:gd name="T6" fmla="*/ 0 w 392"/>
                <a:gd name="T7" fmla="*/ 0 h 394"/>
                <a:gd name="T8" fmla="*/ 392 w 392"/>
                <a:gd name="T9" fmla="*/ 394 h 3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2" h="394">
                  <a:moveTo>
                    <a:pt x="0" y="0"/>
                  </a:moveTo>
                  <a:lnTo>
                    <a:pt x="392" y="394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8" name="Freeform 5"/>
            <p:cNvSpPr>
              <a:spLocks/>
            </p:cNvSpPr>
            <p:nvPr/>
          </p:nvSpPr>
          <p:spPr bwMode="auto">
            <a:xfrm>
              <a:off x="1906" y="790"/>
              <a:ext cx="410" cy="410"/>
            </a:xfrm>
            <a:custGeom>
              <a:avLst/>
              <a:gdLst>
                <a:gd name="T0" fmla="*/ 0 w 410"/>
                <a:gd name="T1" fmla="*/ 0 h 410"/>
                <a:gd name="T2" fmla="*/ 410 w 410"/>
                <a:gd name="T3" fmla="*/ 410 h 410"/>
                <a:gd name="T4" fmla="*/ 0 60000 65536"/>
                <a:gd name="T5" fmla="*/ 0 60000 65536"/>
                <a:gd name="T6" fmla="*/ 0 w 410"/>
                <a:gd name="T7" fmla="*/ 0 h 410"/>
                <a:gd name="T8" fmla="*/ 410 w 410"/>
                <a:gd name="T9" fmla="*/ 410 h 4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10" h="410">
                  <a:moveTo>
                    <a:pt x="0" y="0"/>
                  </a:moveTo>
                  <a:lnTo>
                    <a:pt x="410" y="41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39" name="Freeform 6"/>
            <p:cNvSpPr>
              <a:spLocks/>
            </p:cNvSpPr>
            <p:nvPr/>
          </p:nvSpPr>
          <p:spPr bwMode="auto">
            <a:xfrm>
              <a:off x="720" y="1920"/>
              <a:ext cx="396" cy="395"/>
            </a:xfrm>
            <a:custGeom>
              <a:avLst/>
              <a:gdLst>
                <a:gd name="T0" fmla="*/ 0 w 396"/>
                <a:gd name="T1" fmla="*/ 0 h 395"/>
                <a:gd name="T2" fmla="*/ 396 w 396"/>
                <a:gd name="T3" fmla="*/ 395 h 395"/>
                <a:gd name="T4" fmla="*/ 0 60000 65536"/>
                <a:gd name="T5" fmla="*/ 0 60000 65536"/>
                <a:gd name="T6" fmla="*/ 0 w 396"/>
                <a:gd name="T7" fmla="*/ 0 h 395"/>
                <a:gd name="T8" fmla="*/ 396 w 396"/>
                <a:gd name="T9" fmla="*/ 395 h 39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395">
                  <a:moveTo>
                    <a:pt x="0" y="0"/>
                  </a:moveTo>
                  <a:lnTo>
                    <a:pt x="396" y="395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0" name="Freeform 7"/>
            <p:cNvSpPr>
              <a:spLocks/>
            </p:cNvSpPr>
            <p:nvPr/>
          </p:nvSpPr>
          <p:spPr bwMode="auto">
            <a:xfrm>
              <a:off x="720" y="800"/>
              <a:ext cx="1200" cy="1"/>
            </a:xfrm>
            <a:custGeom>
              <a:avLst/>
              <a:gdLst>
                <a:gd name="T0" fmla="*/ 0 w 1200"/>
                <a:gd name="T1" fmla="*/ 0 h 1"/>
                <a:gd name="T2" fmla="*/ 1200 w 1200"/>
                <a:gd name="T3" fmla="*/ 0 h 1"/>
                <a:gd name="T4" fmla="*/ 0 60000 65536"/>
                <a:gd name="T5" fmla="*/ 0 60000 65536"/>
                <a:gd name="T6" fmla="*/ 0 w 1200"/>
                <a:gd name="T7" fmla="*/ 0 h 1"/>
                <a:gd name="T8" fmla="*/ 1200 w 120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0" h="1">
                  <a:moveTo>
                    <a:pt x="0" y="0"/>
                  </a:moveTo>
                  <a:lnTo>
                    <a:pt x="1200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1" name="Freeform 8"/>
            <p:cNvSpPr>
              <a:spLocks/>
            </p:cNvSpPr>
            <p:nvPr/>
          </p:nvSpPr>
          <p:spPr bwMode="auto">
            <a:xfrm>
              <a:off x="720" y="800"/>
              <a:ext cx="1" cy="1134"/>
            </a:xfrm>
            <a:custGeom>
              <a:avLst/>
              <a:gdLst>
                <a:gd name="T0" fmla="*/ 0 w 1"/>
                <a:gd name="T1" fmla="*/ 0 h 1134"/>
                <a:gd name="T2" fmla="*/ 0 w 1"/>
                <a:gd name="T3" fmla="*/ 1134 h 1134"/>
                <a:gd name="T4" fmla="*/ 0 60000 65536"/>
                <a:gd name="T5" fmla="*/ 0 60000 65536"/>
                <a:gd name="T6" fmla="*/ 0 w 1"/>
                <a:gd name="T7" fmla="*/ 0 h 1134"/>
                <a:gd name="T8" fmla="*/ 1 w 1"/>
                <a:gd name="T9" fmla="*/ 1134 h 113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134">
                  <a:moveTo>
                    <a:pt x="0" y="0"/>
                  </a:moveTo>
                  <a:lnTo>
                    <a:pt x="0" y="1134"/>
                  </a:lnTo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323891" y="2309234"/>
            <a:ext cx="630237" cy="1754187"/>
            <a:chOff x="735" y="1014"/>
            <a:chExt cx="386" cy="1105"/>
          </a:xfrm>
        </p:grpSpPr>
        <p:grpSp>
          <p:nvGrpSpPr>
            <p:cNvPr id="38932" name="Group 10"/>
            <p:cNvGrpSpPr>
              <a:grpSpLocks/>
            </p:cNvGrpSpPr>
            <p:nvPr/>
          </p:nvGrpSpPr>
          <p:grpSpPr bwMode="auto">
            <a:xfrm>
              <a:off x="735" y="1014"/>
              <a:ext cx="386" cy="1105"/>
              <a:chOff x="735" y="1014"/>
              <a:chExt cx="386" cy="1105"/>
            </a:xfrm>
          </p:grpSpPr>
          <p:sp>
            <p:nvSpPr>
              <p:cNvPr id="38934" name="Oval 11"/>
              <p:cNvSpPr>
                <a:spLocks noChangeArrowheads="1"/>
              </p:cNvSpPr>
              <p:nvPr/>
            </p:nvSpPr>
            <p:spPr bwMode="auto">
              <a:xfrm rot="5199679">
                <a:off x="376" y="1373"/>
                <a:ext cx="1103" cy="386"/>
              </a:xfrm>
              <a:prstGeom prst="ellipse">
                <a:avLst/>
              </a:prstGeom>
              <a:solidFill>
                <a:srgbClr val="99FFCC"/>
              </a:solidFill>
              <a:ln w="2857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8935" name="Line 12"/>
              <p:cNvSpPr>
                <a:spLocks noChangeShapeType="1"/>
              </p:cNvSpPr>
              <p:nvPr/>
            </p:nvSpPr>
            <p:spPr bwMode="auto">
              <a:xfrm>
                <a:off x="883" y="1015"/>
                <a:ext cx="96" cy="110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933" name="Line 13"/>
            <p:cNvSpPr>
              <a:spLocks noChangeShapeType="1"/>
            </p:cNvSpPr>
            <p:nvPr/>
          </p:nvSpPr>
          <p:spPr bwMode="auto">
            <a:xfrm>
              <a:off x="931" y="1015"/>
              <a:ext cx="0" cy="110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2649328" y="2002846"/>
            <a:ext cx="1914525" cy="606425"/>
            <a:chOff x="925" y="821"/>
            <a:chExt cx="1206" cy="382"/>
          </a:xfrm>
        </p:grpSpPr>
        <p:grpSp>
          <p:nvGrpSpPr>
            <p:cNvPr id="38928" name="Group 15"/>
            <p:cNvGrpSpPr>
              <a:grpSpLocks/>
            </p:cNvGrpSpPr>
            <p:nvPr/>
          </p:nvGrpSpPr>
          <p:grpSpPr bwMode="auto">
            <a:xfrm>
              <a:off x="925" y="821"/>
              <a:ext cx="1206" cy="382"/>
              <a:chOff x="925" y="821"/>
              <a:chExt cx="1206" cy="382"/>
            </a:xfrm>
          </p:grpSpPr>
          <p:sp>
            <p:nvSpPr>
              <p:cNvPr id="38930" name="Oval 16"/>
              <p:cNvSpPr>
                <a:spLocks noChangeArrowheads="1"/>
              </p:cNvSpPr>
              <p:nvPr/>
            </p:nvSpPr>
            <p:spPr bwMode="auto">
              <a:xfrm rot="276205">
                <a:off x="925" y="821"/>
                <a:ext cx="1206" cy="382"/>
              </a:xfrm>
              <a:prstGeom prst="ellipse">
                <a:avLst/>
              </a:prstGeom>
              <a:solidFill>
                <a:srgbClr val="FFFF00"/>
              </a:solidFill>
              <a:ln w="2857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8931" name="Line 17"/>
              <p:cNvSpPr>
                <a:spLocks noChangeShapeType="1"/>
              </p:cNvSpPr>
              <p:nvPr/>
            </p:nvSpPr>
            <p:spPr bwMode="auto">
              <a:xfrm>
                <a:off x="931" y="967"/>
                <a:ext cx="120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929" name="Line 18"/>
            <p:cNvSpPr>
              <a:spLocks noChangeShapeType="1"/>
            </p:cNvSpPr>
            <p:nvPr/>
          </p:nvSpPr>
          <p:spPr bwMode="auto">
            <a:xfrm>
              <a:off x="931" y="1015"/>
              <a:ext cx="120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19"/>
          <p:cNvGrpSpPr>
            <a:grpSpLocks/>
          </p:cNvGrpSpPr>
          <p:nvPr/>
        </p:nvGrpSpPr>
        <p:grpSpPr bwMode="auto">
          <a:xfrm>
            <a:off x="2963652" y="2615620"/>
            <a:ext cx="1936750" cy="1752600"/>
            <a:chOff x="1123" y="1207"/>
            <a:chExt cx="1220" cy="1104"/>
          </a:xfrm>
        </p:grpSpPr>
        <p:sp>
          <p:nvSpPr>
            <p:cNvPr id="38925" name="Oval 20"/>
            <p:cNvSpPr>
              <a:spLocks noChangeArrowheads="1"/>
            </p:cNvSpPr>
            <p:nvPr/>
          </p:nvSpPr>
          <p:spPr bwMode="auto">
            <a:xfrm>
              <a:off x="1123" y="1207"/>
              <a:ext cx="1200" cy="1104"/>
            </a:xfrm>
            <a:prstGeom prst="ellipse">
              <a:avLst/>
            </a:prstGeom>
            <a:solidFill>
              <a:srgbClr val="FFCCFF"/>
            </a:solidFill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8926" name="Freeform 21"/>
            <p:cNvSpPr>
              <a:spLocks/>
            </p:cNvSpPr>
            <p:nvPr/>
          </p:nvSpPr>
          <p:spPr bwMode="auto">
            <a:xfrm>
              <a:off x="1722" y="1224"/>
              <a:ext cx="1" cy="1087"/>
            </a:xfrm>
            <a:custGeom>
              <a:avLst/>
              <a:gdLst>
                <a:gd name="T0" fmla="*/ 0 w 1"/>
                <a:gd name="T1" fmla="*/ 0 h 1087"/>
                <a:gd name="T2" fmla="*/ 0 w 1"/>
                <a:gd name="T3" fmla="*/ 1087 h 1087"/>
                <a:gd name="T4" fmla="*/ 0 60000 65536"/>
                <a:gd name="T5" fmla="*/ 0 60000 65536"/>
                <a:gd name="T6" fmla="*/ 0 w 1"/>
                <a:gd name="T7" fmla="*/ 0 h 1087"/>
                <a:gd name="T8" fmla="*/ 1 w 1"/>
                <a:gd name="T9" fmla="*/ 1087 h 108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87">
                  <a:moveTo>
                    <a:pt x="0" y="0"/>
                  </a:moveTo>
                  <a:lnTo>
                    <a:pt x="0" y="1087"/>
                  </a:lnTo>
                </a:path>
              </a:pathLst>
            </a:custGeom>
            <a:noFill/>
            <a:ln w="9525">
              <a:solidFill>
                <a:srgbClr val="FF0000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27" name="Freeform 22"/>
            <p:cNvSpPr>
              <a:spLocks/>
            </p:cNvSpPr>
            <p:nvPr/>
          </p:nvSpPr>
          <p:spPr bwMode="auto">
            <a:xfrm>
              <a:off x="1143" y="1760"/>
              <a:ext cx="1200" cy="1"/>
            </a:xfrm>
            <a:custGeom>
              <a:avLst/>
              <a:gdLst>
                <a:gd name="T0" fmla="*/ 0 w 1200"/>
                <a:gd name="T1" fmla="*/ 0 h 1"/>
                <a:gd name="T2" fmla="*/ 1200 w 1200"/>
                <a:gd name="T3" fmla="*/ 0 h 1"/>
                <a:gd name="T4" fmla="*/ 0 60000 65536"/>
                <a:gd name="T5" fmla="*/ 0 60000 65536"/>
                <a:gd name="T6" fmla="*/ 0 w 1200"/>
                <a:gd name="T7" fmla="*/ 0 h 1"/>
                <a:gd name="T8" fmla="*/ 1200 w 120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00" h="1">
                  <a:moveTo>
                    <a:pt x="0" y="0"/>
                  </a:moveTo>
                  <a:lnTo>
                    <a:pt x="120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7175" name="Text Box 23"/>
          <p:cNvSpPr txBox="1">
            <a:spLocks noChangeArrowheads="1"/>
          </p:cNvSpPr>
          <p:nvPr/>
        </p:nvSpPr>
        <p:spPr bwMode="auto">
          <a:xfrm>
            <a:off x="1482473" y="1181856"/>
            <a:ext cx="44935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平行于各坐标面的圆的画法</a:t>
            </a:r>
          </a:p>
        </p:txBody>
      </p:sp>
      <p:sp>
        <p:nvSpPr>
          <p:cNvPr id="177176" name="Text Box 24"/>
          <p:cNvSpPr txBox="1">
            <a:spLocks noChangeArrowheads="1"/>
          </p:cNvSpPr>
          <p:nvPr/>
        </p:nvSpPr>
        <p:spPr bwMode="auto">
          <a:xfrm>
            <a:off x="5119688" y="1801228"/>
            <a:ext cx="6124883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宋体" pitchFamily="2" charset="-122"/>
              </a:rPr>
              <a:t>1.</a:t>
            </a:r>
            <a:r>
              <a:rPr lang="zh-CN" altLang="en-US" sz="2800" dirty="0">
                <a:latin typeface="宋体" pitchFamily="2" charset="-122"/>
              </a:rPr>
              <a:t>平行于</a:t>
            </a:r>
            <a:r>
              <a:rPr lang="en-US" altLang="zh-CN" sz="2800" dirty="0">
                <a:latin typeface="宋体" pitchFamily="2" charset="-122"/>
              </a:rPr>
              <a:t>V</a:t>
            </a:r>
            <a:r>
              <a:rPr lang="zh-CN" altLang="en-US" sz="2800" dirty="0">
                <a:latin typeface="宋体" pitchFamily="2" charset="-122"/>
              </a:rPr>
              <a:t>面的圆仍为圆，反映实形。</a:t>
            </a:r>
          </a:p>
        </p:txBody>
      </p:sp>
      <p:sp>
        <p:nvSpPr>
          <p:cNvPr id="177177" name="Text Box 25"/>
          <p:cNvSpPr txBox="1">
            <a:spLocks noChangeArrowheads="1"/>
          </p:cNvSpPr>
          <p:nvPr/>
        </p:nvSpPr>
        <p:spPr bwMode="auto">
          <a:xfrm>
            <a:off x="5119689" y="2336223"/>
            <a:ext cx="6502398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宋体" pitchFamily="2" charset="-122"/>
              </a:rPr>
              <a:t>2.</a:t>
            </a:r>
            <a:r>
              <a:rPr lang="zh-CN" altLang="en-US" sz="2800" dirty="0">
                <a:latin typeface="宋体" pitchFamily="2" charset="-122"/>
              </a:rPr>
              <a:t>平行于</a:t>
            </a:r>
            <a:r>
              <a:rPr lang="en-US" altLang="zh-CN" sz="2800" dirty="0">
                <a:latin typeface="宋体" pitchFamily="2" charset="-122"/>
              </a:rPr>
              <a:t>H</a:t>
            </a:r>
            <a:r>
              <a:rPr lang="zh-CN" altLang="en-US" sz="2800" dirty="0">
                <a:latin typeface="宋体" pitchFamily="2" charset="-122"/>
              </a:rPr>
              <a:t>面的圆为椭圆，长轴对</a:t>
            </a:r>
            <a:r>
              <a:rPr lang="en-US" altLang="zh-CN" sz="2800" dirty="0">
                <a:latin typeface="宋体" pitchFamily="2" charset="-122"/>
              </a:rPr>
              <a:t>O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en-US" altLang="zh-CN" sz="2800" dirty="0">
                <a:latin typeface="宋体" pitchFamily="2" charset="-122"/>
              </a:rPr>
              <a:t>X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zh-CN" altLang="en-US" sz="2800" dirty="0">
                <a:latin typeface="宋体" pitchFamily="2" charset="-122"/>
              </a:rPr>
              <a:t>轴</a:t>
            </a:r>
            <a:endParaRPr lang="en-US" altLang="zh-CN" sz="2800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宋体" pitchFamily="2" charset="-122"/>
              </a:rPr>
              <a:t>  </a:t>
            </a:r>
            <a:r>
              <a:rPr lang="zh-CN" altLang="en-US" sz="2800" dirty="0">
                <a:latin typeface="宋体" pitchFamily="2" charset="-122"/>
              </a:rPr>
              <a:t>偏转</a:t>
            </a:r>
            <a:r>
              <a:rPr lang="en-US" altLang="zh-CN" sz="2800" dirty="0">
                <a:latin typeface="宋体" pitchFamily="2" charset="-122"/>
              </a:rPr>
              <a:t>7°,</a:t>
            </a:r>
            <a:r>
              <a:rPr lang="zh-CN" altLang="en-US" sz="2800" dirty="0">
                <a:latin typeface="宋体" pitchFamily="2" charset="-122"/>
              </a:rPr>
              <a:t>长轴≈</a:t>
            </a:r>
            <a:r>
              <a:rPr lang="en-US" altLang="zh-CN" sz="2800" dirty="0">
                <a:latin typeface="宋体" pitchFamily="2" charset="-122"/>
              </a:rPr>
              <a:t>1.06d,</a:t>
            </a:r>
            <a:r>
              <a:rPr lang="zh-CN" altLang="en-US" sz="2800" dirty="0">
                <a:latin typeface="宋体" pitchFamily="2" charset="-122"/>
              </a:rPr>
              <a:t>短轴≈</a:t>
            </a:r>
            <a:r>
              <a:rPr lang="en-US" altLang="zh-CN" sz="2800" dirty="0">
                <a:latin typeface="宋体" pitchFamily="2" charset="-122"/>
              </a:rPr>
              <a:t>0.33d</a:t>
            </a:r>
          </a:p>
        </p:txBody>
      </p:sp>
      <p:sp>
        <p:nvSpPr>
          <p:cNvPr id="177178" name="Text Box 26"/>
          <p:cNvSpPr txBox="1">
            <a:spLocks noChangeArrowheads="1"/>
          </p:cNvSpPr>
          <p:nvPr/>
        </p:nvSpPr>
        <p:spPr bwMode="auto">
          <a:xfrm>
            <a:off x="5076513" y="3286126"/>
            <a:ext cx="6502398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宋体" pitchFamily="2" charset="-122"/>
              </a:rPr>
              <a:t>3.</a:t>
            </a:r>
            <a:r>
              <a:rPr lang="zh-CN" altLang="en-US" sz="2800" dirty="0">
                <a:latin typeface="宋体" pitchFamily="2" charset="-122"/>
              </a:rPr>
              <a:t>平行于</a:t>
            </a:r>
            <a:r>
              <a:rPr lang="en-US" altLang="zh-CN" sz="2800" dirty="0">
                <a:latin typeface="宋体" pitchFamily="2" charset="-122"/>
              </a:rPr>
              <a:t>W</a:t>
            </a:r>
            <a:r>
              <a:rPr lang="zh-CN" altLang="en-US" sz="2800" dirty="0">
                <a:latin typeface="宋体" pitchFamily="2" charset="-122"/>
              </a:rPr>
              <a:t>面的圆与平行于</a:t>
            </a:r>
            <a:r>
              <a:rPr lang="en-US" altLang="zh-CN" sz="2800" dirty="0">
                <a:latin typeface="宋体" pitchFamily="2" charset="-122"/>
              </a:rPr>
              <a:t>H</a:t>
            </a:r>
            <a:r>
              <a:rPr lang="zh-CN" altLang="en-US" sz="2800" dirty="0">
                <a:latin typeface="宋体" pitchFamily="2" charset="-122"/>
              </a:rPr>
              <a:t>面的圆的椭</a:t>
            </a:r>
            <a:endParaRPr lang="en-US" altLang="zh-CN" sz="2800" dirty="0">
              <a:latin typeface="宋体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>
                <a:latin typeface="宋体" pitchFamily="2" charset="-122"/>
              </a:rPr>
              <a:t>   </a:t>
            </a:r>
            <a:r>
              <a:rPr lang="zh-CN" altLang="en-US" sz="2800" dirty="0">
                <a:latin typeface="宋体" pitchFamily="2" charset="-122"/>
              </a:rPr>
              <a:t>圆形状相同，长轴对</a:t>
            </a:r>
            <a:r>
              <a:rPr lang="en-US" altLang="zh-CN" sz="2800" dirty="0">
                <a:latin typeface="宋体" pitchFamily="2" charset="-122"/>
              </a:rPr>
              <a:t>O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en-US" altLang="zh-CN" sz="2800" dirty="0">
                <a:latin typeface="宋体" pitchFamily="2" charset="-122"/>
              </a:rPr>
              <a:t>Z</a:t>
            </a:r>
            <a:r>
              <a:rPr lang="en-US" altLang="zh-CN" sz="2800" baseline="-25000" dirty="0">
                <a:latin typeface="宋体" pitchFamily="2" charset="-122"/>
              </a:rPr>
              <a:t>1</a:t>
            </a:r>
            <a:r>
              <a:rPr lang="zh-CN" altLang="en-US" sz="2800" dirty="0">
                <a:latin typeface="宋体" pitchFamily="2" charset="-122"/>
              </a:rPr>
              <a:t>轴偏转</a:t>
            </a:r>
            <a:r>
              <a:rPr lang="en-US" altLang="zh-CN" sz="2800" dirty="0">
                <a:latin typeface="宋体" pitchFamily="2" charset="-122"/>
              </a:rPr>
              <a:t>7°</a:t>
            </a:r>
            <a:r>
              <a:rPr lang="zh-CN" altLang="en-US" sz="2800" dirty="0">
                <a:latin typeface="宋体" pitchFamily="2" charset="-122"/>
              </a:rPr>
              <a:t>。</a:t>
            </a:r>
          </a:p>
        </p:txBody>
      </p:sp>
      <p:sp>
        <p:nvSpPr>
          <p:cNvPr id="177179" name="Text Box 27"/>
          <p:cNvSpPr txBox="1">
            <a:spLocks noChangeArrowheads="1"/>
          </p:cNvSpPr>
          <p:nvPr/>
        </p:nvSpPr>
        <p:spPr bwMode="auto">
          <a:xfrm>
            <a:off x="1482473" y="4577190"/>
            <a:ext cx="10081119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800" dirty="0">
                <a:latin typeface="宋体" pitchFamily="2" charset="-122"/>
              </a:rPr>
              <a:t>    </a:t>
            </a:r>
            <a:r>
              <a:rPr lang="zh-CN" altLang="en-US" sz="2800" dirty="0">
                <a:latin typeface="宋体" pitchFamily="2" charset="-122"/>
              </a:rPr>
              <a:t>由于两个椭圆的作图复杂，当物体这两个方向上有圆时，一般不用斜二等轴测图，而采用正等轴测图。</a:t>
            </a:r>
          </a:p>
        </p:txBody>
      </p:sp>
      <p:sp>
        <p:nvSpPr>
          <p:cNvPr id="177180" name="Text Box 28"/>
          <p:cNvSpPr txBox="1">
            <a:spLocks noChangeArrowheads="1"/>
          </p:cNvSpPr>
          <p:nvPr/>
        </p:nvSpPr>
        <p:spPr bwMode="auto">
          <a:xfrm>
            <a:off x="3108325" y="5600700"/>
            <a:ext cx="74803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</a:rPr>
              <a:t>斜二轴等测图的最大优点：</a:t>
            </a:r>
          </a:p>
          <a:p>
            <a:pPr eaLnBrk="1" hangingPunct="1"/>
            <a:r>
              <a:rPr lang="zh-CN" altLang="en-US" sz="2800" dirty="0">
                <a:latin typeface="宋体" pitchFamily="2" charset="-122"/>
              </a:rPr>
              <a:t>物体上</a:t>
            </a:r>
            <a:r>
              <a:rPr lang="zh-CN" altLang="en-US" sz="2800" dirty="0">
                <a:solidFill>
                  <a:schemeClr val="accent2"/>
                </a:solidFill>
                <a:latin typeface="宋体" pitchFamily="2" charset="-122"/>
              </a:rPr>
              <a:t>凡平行于</a:t>
            </a:r>
            <a:r>
              <a:rPr lang="en-US" altLang="zh-CN" sz="2800" dirty="0">
                <a:solidFill>
                  <a:schemeClr val="accent2"/>
                </a:solidFill>
                <a:latin typeface="宋体" pitchFamily="2" charset="-122"/>
              </a:rPr>
              <a:t>V</a:t>
            </a:r>
            <a:r>
              <a:rPr lang="zh-CN" altLang="en-US" sz="2800" dirty="0">
                <a:solidFill>
                  <a:schemeClr val="accent2"/>
                </a:solidFill>
                <a:latin typeface="宋体" pitchFamily="2" charset="-122"/>
              </a:rPr>
              <a:t>面的平面都反映实形</a:t>
            </a:r>
            <a:r>
              <a:rPr lang="zh-CN" altLang="en-US" sz="2800" dirty="0">
                <a:latin typeface="宋体" pitchFamily="2" charset="-122"/>
              </a:rPr>
              <a:t>。</a:t>
            </a:r>
          </a:p>
        </p:txBody>
      </p:sp>
      <p:sp>
        <p:nvSpPr>
          <p:cNvPr id="38924" name="Text Box 29"/>
          <p:cNvSpPr txBox="1">
            <a:spLocks noChangeArrowheads="1"/>
          </p:cNvSpPr>
          <p:nvPr/>
        </p:nvSpPr>
        <p:spPr bwMode="auto">
          <a:xfrm>
            <a:off x="4585101" y="500043"/>
            <a:ext cx="346761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斜二轴等测图画法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7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17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17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7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71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71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7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75" grpId="0" autoUpdateAnimBg="0"/>
      <p:bldP spid="177176" grpId="0" autoUpdateAnimBg="0"/>
      <p:bldP spid="177177" grpId="0" autoUpdateAnimBg="0"/>
      <p:bldP spid="177178" grpId="0" autoUpdateAnimBg="0"/>
      <p:bldP spid="177179" grpId="0" autoUpdateAnimBg="0"/>
      <p:bldP spid="177180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16" name="Picture 10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71843" y="2208424"/>
            <a:ext cx="2181225" cy="31718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39939" name="Text Box 37"/>
          <p:cNvSpPr txBox="1">
            <a:spLocks noChangeArrowheads="1"/>
          </p:cNvSpPr>
          <p:nvPr/>
        </p:nvSpPr>
        <p:spPr bwMode="auto">
          <a:xfrm>
            <a:off x="1493838" y="763301"/>
            <a:ext cx="69781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dirty="0"/>
              <a:t>例</a:t>
            </a:r>
            <a:r>
              <a:rPr lang="en-US" altLang="zh-CN" sz="3200" dirty="0"/>
              <a:t>1</a:t>
            </a:r>
            <a:r>
              <a:rPr lang="zh-CN" altLang="en-US" sz="3200" dirty="0"/>
              <a:t>：已知两视图，画斜二等轴测图。</a:t>
            </a:r>
          </a:p>
        </p:txBody>
      </p:sp>
      <p:pic>
        <p:nvPicPr>
          <p:cNvPr id="39014" name="Picture 10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62318" y="2317960"/>
            <a:ext cx="2333625" cy="31638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9941" name="Picture 10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423592" y="1952836"/>
            <a:ext cx="4476750" cy="34575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05" name="椭圆 104"/>
          <p:cNvSpPr>
            <a:spLocks noChangeArrowheads="1"/>
          </p:cNvSpPr>
          <p:nvPr/>
        </p:nvSpPr>
        <p:spPr bwMode="auto">
          <a:xfrm>
            <a:off x="6198668" y="3157748"/>
            <a:ext cx="73025" cy="82550"/>
          </a:xfrm>
          <a:prstGeom prst="ellips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6" name="椭圆 105"/>
          <p:cNvSpPr>
            <a:spLocks noChangeArrowheads="1"/>
          </p:cNvSpPr>
          <p:nvPr/>
        </p:nvSpPr>
        <p:spPr bwMode="auto">
          <a:xfrm>
            <a:off x="8843443" y="3724485"/>
            <a:ext cx="73025" cy="82550"/>
          </a:xfrm>
          <a:prstGeom prst="ellips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7" name="椭圆 106"/>
          <p:cNvSpPr>
            <a:spLocks noChangeArrowheads="1"/>
          </p:cNvSpPr>
          <p:nvPr/>
        </p:nvSpPr>
        <p:spPr bwMode="auto">
          <a:xfrm>
            <a:off x="5643043" y="3157748"/>
            <a:ext cx="73025" cy="82550"/>
          </a:xfrm>
          <a:prstGeom prst="ellips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08" name="椭圆 107"/>
          <p:cNvSpPr>
            <a:spLocks noChangeArrowheads="1"/>
          </p:cNvSpPr>
          <p:nvPr/>
        </p:nvSpPr>
        <p:spPr bwMode="auto">
          <a:xfrm>
            <a:off x="8643418" y="3529223"/>
            <a:ext cx="73025" cy="82550"/>
          </a:xfrm>
          <a:prstGeom prst="ellips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39946" name="椭圆 108"/>
          <p:cNvSpPr>
            <a:spLocks noChangeArrowheads="1"/>
          </p:cNvSpPr>
          <p:nvPr/>
        </p:nvSpPr>
        <p:spPr bwMode="auto">
          <a:xfrm>
            <a:off x="5649393" y="4654760"/>
            <a:ext cx="73025" cy="82550"/>
          </a:xfrm>
          <a:prstGeom prst="ellips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10" name="椭圆 109"/>
          <p:cNvSpPr>
            <a:spLocks noChangeArrowheads="1"/>
          </p:cNvSpPr>
          <p:nvPr/>
        </p:nvSpPr>
        <p:spPr bwMode="auto">
          <a:xfrm>
            <a:off x="8643418" y="5037348"/>
            <a:ext cx="73025" cy="82550"/>
          </a:xfrm>
          <a:prstGeom prst="ellips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39948" name="椭圆 111"/>
          <p:cNvSpPr>
            <a:spLocks noChangeArrowheads="1"/>
          </p:cNvSpPr>
          <p:nvPr/>
        </p:nvSpPr>
        <p:spPr bwMode="auto">
          <a:xfrm>
            <a:off x="5174730" y="4654760"/>
            <a:ext cx="73025" cy="82550"/>
          </a:xfrm>
          <a:prstGeom prst="ellips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sp>
        <p:nvSpPr>
          <p:cNvPr id="113" name="椭圆 112"/>
          <p:cNvSpPr>
            <a:spLocks noChangeArrowheads="1"/>
          </p:cNvSpPr>
          <p:nvPr/>
        </p:nvSpPr>
        <p:spPr bwMode="auto">
          <a:xfrm>
            <a:off x="8478318" y="4867485"/>
            <a:ext cx="73025" cy="82550"/>
          </a:xfrm>
          <a:prstGeom prst="ellipse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zh-CN" altLang="en-US" sz="3600">
              <a:solidFill>
                <a:schemeClr val="tx2"/>
              </a:solidFill>
              <a:latin typeface="宋体" pitchFamily="2" charset="-122"/>
            </a:endParaRPr>
          </a:p>
        </p:txBody>
      </p:sp>
      <p:pic>
        <p:nvPicPr>
          <p:cNvPr id="39018" name="Picture 10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462317" y="2354473"/>
            <a:ext cx="2336800" cy="32496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pic>
        <p:nvPicPr>
          <p:cNvPr id="39019" name="Picture 10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425804" y="2573549"/>
            <a:ext cx="2408238" cy="30448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000"/>
                                        <p:tgtEl>
                                          <p:spTgt spid="3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2" dur="1000"/>
                                        <p:tgtEl>
                                          <p:spTgt spid="3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/>
      <p:bldP spid="106" grpId="0" animBg="1"/>
      <p:bldP spid="107" grpId="0" animBg="1"/>
      <p:bldP spid="108" grpId="0" animBg="1"/>
      <p:bldP spid="110" grpId="0" animBg="1"/>
      <p:bldP spid="1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961509" y="2821062"/>
            <a:ext cx="2438400" cy="1941512"/>
            <a:chOff x="3307" y="1536"/>
            <a:chExt cx="1536" cy="1223"/>
          </a:xfrm>
        </p:grpSpPr>
        <p:grpSp>
          <p:nvGrpSpPr>
            <p:cNvPr id="41039" name="Group 3"/>
            <p:cNvGrpSpPr>
              <a:grpSpLocks/>
            </p:cNvGrpSpPr>
            <p:nvPr/>
          </p:nvGrpSpPr>
          <p:grpSpPr bwMode="auto">
            <a:xfrm>
              <a:off x="3499" y="1536"/>
              <a:ext cx="1344" cy="1223"/>
              <a:chOff x="2160" y="1392"/>
              <a:chExt cx="1344" cy="1223"/>
            </a:xfrm>
          </p:grpSpPr>
          <p:sp>
            <p:nvSpPr>
              <p:cNvPr id="41041" name="Oval 4"/>
              <p:cNvSpPr>
                <a:spLocks noChangeArrowheads="1"/>
              </p:cNvSpPr>
              <p:nvPr/>
            </p:nvSpPr>
            <p:spPr bwMode="auto">
              <a:xfrm>
                <a:off x="2256" y="1392"/>
                <a:ext cx="1152" cy="1104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41042" name="Rectangle 5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1344" cy="64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CC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1040" name="AutoShape 6"/>
            <p:cNvSpPr>
              <a:spLocks noChangeArrowheads="1"/>
            </p:cNvSpPr>
            <p:nvPr/>
          </p:nvSpPr>
          <p:spPr bwMode="auto">
            <a:xfrm flipH="1">
              <a:off x="3307" y="1655"/>
              <a:ext cx="480" cy="576"/>
            </a:xfrm>
            <a:prstGeom prst="rtTriangle">
              <a:avLst/>
            </a:prstGeom>
            <a:solidFill>
              <a:srgbClr val="CCFFFF"/>
            </a:solidFill>
            <a:ln w="12700">
              <a:solidFill>
                <a:srgbClr val="CC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78183" name="Line 7"/>
          <p:cNvSpPr>
            <a:spLocks noChangeShapeType="1"/>
          </p:cNvSpPr>
          <p:nvPr/>
        </p:nvSpPr>
        <p:spPr bwMode="auto">
          <a:xfrm>
            <a:off x="9247509" y="3659262"/>
            <a:ext cx="0" cy="609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84" name="Line 8"/>
          <p:cNvSpPr>
            <a:spLocks noChangeShapeType="1"/>
          </p:cNvSpPr>
          <p:nvPr/>
        </p:nvSpPr>
        <p:spPr bwMode="auto">
          <a:xfrm>
            <a:off x="9247509" y="4268862"/>
            <a:ext cx="457200" cy="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85" name="Freeform 9"/>
          <p:cNvSpPr>
            <a:spLocks/>
          </p:cNvSpPr>
          <p:nvPr/>
        </p:nvSpPr>
        <p:spPr bwMode="auto">
          <a:xfrm>
            <a:off x="9333235" y="4265688"/>
            <a:ext cx="344487" cy="352425"/>
          </a:xfrm>
          <a:custGeom>
            <a:avLst/>
            <a:gdLst>
              <a:gd name="T0" fmla="*/ 0 w 217"/>
              <a:gd name="T1" fmla="*/ 2147483647 h 222"/>
              <a:gd name="T2" fmla="*/ 2147483647 w 217"/>
              <a:gd name="T3" fmla="*/ 0 h 222"/>
              <a:gd name="T4" fmla="*/ 0 60000 65536"/>
              <a:gd name="T5" fmla="*/ 0 60000 65536"/>
              <a:gd name="T6" fmla="*/ 0 w 217"/>
              <a:gd name="T7" fmla="*/ 0 h 222"/>
              <a:gd name="T8" fmla="*/ 217 w 217"/>
              <a:gd name="T9" fmla="*/ 222 h 2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17" h="222">
                <a:moveTo>
                  <a:pt x="0" y="222"/>
                </a:moveTo>
                <a:lnTo>
                  <a:pt x="217" y="0"/>
                </a:ln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86" name="Freeform 10"/>
          <p:cNvSpPr>
            <a:spLocks/>
          </p:cNvSpPr>
          <p:nvPr/>
        </p:nvSpPr>
        <p:spPr bwMode="auto">
          <a:xfrm>
            <a:off x="9333234" y="4633987"/>
            <a:ext cx="355600" cy="354012"/>
          </a:xfrm>
          <a:custGeom>
            <a:avLst/>
            <a:gdLst>
              <a:gd name="T0" fmla="*/ 0 w 224"/>
              <a:gd name="T1" fmla="*/ 2147483647 h 223"/>
              <a:gd name="T2" fmla="*/ 2147483647 w 224"/>
              <a:gd name="T3" fmla="*/ 0 h 223"/>
              <a:gd name="T4" fmla="*/ 0 60000 65536"/>
              <a:gd name="T5" fmla="*/ 0 60000 65536"/>
              <a:gd name="T6" fmla="*/ 0 w 224"/>
              <a:gd name="T7" fmla="*/ 0 h 223"/>
              <a:gd name="T8" fmla="*/ 224 w 224"/>
              <a:gd name="T9" fmla="*/ 223 h 22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4" h="223">
                <a:moveTo>
                  <a:pt x="0" y="223"/>
                </a:moveTo>
                <a:lnTo>
                  <a:pt x="224" y="0"/>
                </a:ln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87" name="Freeform 11"/>
          <p:cNvSpPr>
            <a:spLocks/>
          </p:cNvSpPr>
          <p:nvPr/>
        </p:nvSpPr>
        <p:spPr bwMode="auto">
          <a:xfrm>
            <a:off x="9688835" y="4265687"/>
            <a:ext cx="1587" cy="381000"/>
          </a:xfrm>
          <a:custGeom>
            <a:avLst/>
            <a:gdLst>
              <a:gd name="T0" fmla="*/ 0 w 1"/>
              <a:gd name="T1" fmla="*/ 0 h 240"/>
              <a:gd name="T2" fmla="*/ 0 w 1"/>
              <a:gd name="T3" fmla="*/ 2147483647 h 240"/>
              <a:gd name="T4" fmla="*/ 0 60000 65536"/>
              <a:gd name="T5" fmla="*/ 0 60000 65536"/>
              <a:gd name="T6" fmla="*/ 0 w 1"/>
              <a:gd name="T7" fmla="*/ 0 h 240"/>
              <a:gd name="T8" fmla="*/ 1 w 1"/>
              <a:gd name="T9" fmla="*/ 240 h 2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40">
                <a:moveTo>
                  <a:pt x="0" y="0"/>
                </a:moveTo>
                <a:lnTo>
                  <a:pt x="0" y="240"/>
                </a:ln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8" name="Line 12"/>
          <p:cNvSpPr>
            <a:spLocks noChangeShapeType="1"/>
          </p:cNvSpPr>
          <p:nvPr/>
        </p:nvSpPr>
        <p:spPr bwMode="auto">
          <a:xfrm>
            <a:off x="6961509" y="4268862"/>
            <a:ext cx="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89" name="Line 13"/>
          <p:cNvSpPr>
            <a:spLocks noChangeShapeType="1"/>
          </p:cNvSpPr>
          <p:nvPr/>
        </p:nvSpPr>
        <p:spPr bwMode="auto">
          <a:xfrm flipV="1">
            <a:off x="7960046" y="3659262"/>
            <a:ext cx="381000" cy="381000"/>
          </a:xfrm>
          <a:prstGeom prst="line">
            <a:avLst/>
          </a:prstGeom>
          <a:noFill/>
          <a:ln w="9525">
            <a:solidFill>
              <a:srgbClr val="99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190" name="Line 14"/>
          <p:cNvSpPr>
            <a:spLocks noChangeShapeType="1"/>
          </p:cNvSpPr>
          <p:nvPr/>
        </p:nvSpPr>
        <p:spPr bwMode="auto">
          <a:xfrm>
            <a:off x="7350446" y="3659262"/>
            <a:ext cx="2057400" cy="0"/>
          </a:xfrm>
          <a:prstGeom prst="line">
            <a:avLst/>
          </a:prstGeom>
          <a:noFill/>
          <a:ln w="9525">
            <a:solidFill>
              <a:srgbClr val="9900FF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6575746" y="2973462"/>
            <a:ext cx="2757488" cy="2057400"/>
            <a:chOff x="3064" y="1632"/>
            <a:chExt cx="1737" cy="1296"/>
          </a:xfrm>
        </p:grpSpPr>
        <p:grpSp>
          <p:nvGrpSpPr>
            <p:cNvPr id="41026" name="Group 16"/>
            <p:cNvGrpSpPr>
              <a:grpSpLocks/>
            </p:cNvGrpSpPr>
            <p:nvPr/>
          </p:nvGrpSpPr>
          <p:grpSpPr bwMode="auto">
            <a:xfrm>
              <a:off x="3264" y="1705"/>
              <a:ext cx="1344" cy="1223"/>
              <a:chOff x="2160" y="1392"/>
              <a:chExt cx="1344" cy="1223"/>
            </a:xfrm>
          </p:grpSpPr>
          <p:sp>
            <p:nvSpPr>
              <p:cNvPr id="41037" name="Oval 17"/>
              <p:cNvSpPr>
                <a:spLocks noChangeArrowheads="1"/>
              </p:cNvSpPr>
              <p:nvPr/>
            </p:nvSpPr>
            <p:spPr bwMode="auto">
              <a:xfrm>
                <a:off x="2256" y="1392"/>
                <a:ext cx="1152" cy="1104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41038" name="Rectangle 18"/>
              <p:cNvSpPr>
                <a:spLocks noChangeArrowheads="1"/>
              </p:cNvSpPr>
              <p:nvPr/>
            </p:nvSpPr>
            <p:spPr bwMode="auto">
              <a:xfrm>
                <a:off x="2160" y="1968"/>
                <a:ext cx="1344" cy="647"/>
              </a:xfrm>
              <a:prstGeom prst="rect">
                <a:avLst/>
              </a:prstGeom>
              <a:solidFill>
                <a:srgbClr val="CCFFFF"/>
              </a:solidFill>
              <a:ln w="12700">
                <a:solidFill>
                  <a:srgbClr val="CC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1027" name="Oval 19"/>
            <p:cNvSpPr>
              <a:spLocks noChangeArrowheads="1"/>
            </p:cNvSpPr>
            <p:nvPr/>
          </p:nvSpPr>
          <p:spPr bwMode="auto">
            <a:xfrm>
              <a:off x="3600" y="1945"/>
              <a:ext cx="672" cy="624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41028" name="Line 20"/>
            <p:cNvSpPr>
              <a:spLocks noChangeShapeType="1"/>
            </p:cNvSpPr>
            <p:nvPr/>
          </p:nvSpPr>
          <p:spPr bwMode="auto">
            <a:xfrm>
              <a:off x="3360" y="2233"/>
              <a:ext cx="0" cy="432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29" name="Line 21"/>
            <p:cNvSpPr>
              <a:spLocks noChangeShapeType="1"/>
            </p:cNvSpPr>
            <p:nvPr/>
          </p:nvSpPr>
          <p:spPr bwMode="auto">
            <a:xfrm>
              <a:off x="4512" y="2281"/>
              <a:ext cx="0" cy="384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0" name="Line 25"/>
            <p:cNvSpPr>
              <a:spLocks noChangeShapeType="1"/>
            </p:cNvSpPr>
            <p:nvPr/>
          </p:nvSpPr>
          <p:spPr bwMode="auto">
            <a:xfrm>
              <a:off x="4512" y="2665"/>
              <a:ext cx="28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1" name="Line 26"/>
            <p:cNvSpPr>
              <a:spLocks noChangeShapeType="1"/>
            </p:cNvSpPr>
            <p:nvPr/>
          </p:nvSpPr>
          <p:spPr bwMode="auto">
            <a:xfrm>
              <a:off x="3072" y="2665"/>
              <a:ext cx="28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2" name="Line 27"/>
            <p:cNvSpPr>
              <a:spLocks noChangeShapeType="1"/>
            </p:cNvSpPr>
            <p:nvPr/>
          </p:nvSpPr>
          <p:spPr bwMode="auto">
            <a:xfrm>
              <a:off x="3072" y="2665"/>
              <a:ext cx="0" cy="24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3" name="Line 28"/>
            <p:cNvSpPr>
              <a:spLocks noChangeShapeType="1"/>
            </p:cNvSpPr>
            <p:nvPr/>
          </p:nvSpPr>
          <p:spPr bwMode="auto">
            <a:xfrm>
              <a:off x="4800" y="2665"/>
              <a:ext cx="0" cy="24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4" name="Freeform 29"/>
            <p:cNvSpPr>
              <a:spLocks/>
            </p:cNvSpPr>
            <p:nvPr/>
          </p:nvSpPr>
          <p:spPr bwMode="auto">
            <a:xfrm flipV="1">
              <a:off x="3064" y="2869"/>
              <a:ext cx="1737" cy="29"/>
            </a:xfrm>
            <a:custGeom>
              <a:avLst/>
              <a:gdLst>
                <a:gd name="T0" fmla="*/ 0 w 480"/>
                <a:gd name="T1" fmla="*/ 0 h 1"/>
                <a:gd name="T2" fmla="*/ 3900858 w 480"/>
                <a:gd name="T3" fmla="*/ 0 h 1"/>
                <a:gd name="T4" fmla="*/ 0 60000 65536"/>
                <a:gd name="T5" fmla="*/ 0 60000 65536"/>
                <a:gd name="T6" fmla="*/ 0 w 480"/>
                <a:gd name="T7" fmla="*/ 0 h 1"/>
                <a:gd name="T8" fmla="*/ 480 w 48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0" h="1">
                  <a:moveTo>
                    <a:pt x="0" y="0"/>
                  </a:moveTo>
                  <a:lnTo>
                    <a:pt x="480" y="0"/>
                  </a:lnTo>
                </a:path>
              </a:pathLst>
            </a:cu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5" name="Line 30"/>
            <p:cNvSpPr>
              <a:spLocks noChangeShapeType="1"/>
            </p:cNvSpPr>
            <p:nvPr/>
          </p:nvSpPr>
          <p:spPr bwMode="auto">
            <a:xfrm>
              <a:off x="3264" y="2281"/>
              <a:ext cx="134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36" name="Line 31"/>
            <p:cNvSpPr>
              <a:spLocks noChangeShapeType="1"/>
            </p:cNvSpPr>
            <p:nvPr/>
          </p:nvSpPr>
          <p:spPr bwMode="auto">
            <a:xfrm>
              <a:off x="3936" y="1632"/>
              <a:ext cx="0" cy="129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8210" name="Freeform 34"/>
          <p:cNvSpPr>
            <a:spLocks/>
          </p:cNvSpPr>
          <p:nvPr/>
        </p:nvSpPr>
        <p:spPr bwMode="auto">
          <a:xfrm>
            <a:off x="8869684" y="4254574"/>
            <a:ext cx="381000" cy="368300"/>
          </a:xfrm>
          <a:custGeom>
            <a:avLst/>
            <a:gdLst>
              <a:gd name="T0" fmla="*/ 0 w 240"/>
              <a:gd name="T1" fmla="*/ 2147483647 h 232"/>
              <a:gd name="T2" fmla="*/ 2147483647 w 240"/>
              <a:gd name="T3" fmla="*/ 0 h 232"/>
              <a:gd name="T4" fmla="*/ 0 60000 65536"/>
              <a:gd name="T5" fmla="*/ 0 60000 65536"/>
              <a:gd name="T6" fmla="*/ 0 w 240"/>
              <a:gd name="T7" fmla="*/ 0 h 232"/>
              <a:gd name="T8" fmla="*/ 240 w 240"/>
              <a:gd name="T9" fmla="*/ 232 h 23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40" h="232">
                <a:moveTo>
                  <a:pt x="0" y="232"/>
                </a:moveTo>
                <a:lnTo>
                  <a:pt x="240" y="0"/>
                </a:ln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1" name="Freeform 35"/>
          <p:cNvSpPr>
            <a:spLocks/>
          </p:cNvSpPr>
          <p:nvPr/>
        </p:nvSpPr>
        <p:spPr bwMode="auto">
          <a:xfrm>
            <a:off x="7869560" y="3468763"/>
            <a:ext cx="606425" cy="650875"/>
          </a:xfrm>
          <a:custGeom>
            <a:avLst/>
            <a:gdLst>
              <a:gd name="T0" fmla="*/ 2147483647 w 382"/>
              <a:gd name="T1" fmla="*/ 0 h 410"/>
              <a:gd name="T2" fmla="*/ 2147483647 w 382"/>
              <a:gd name="T3" fmla="*/ 2147483647 h 410"/>
              <a:gd name="T4" fmla="*/ 2147483647 w 382"/>
              <a:gd name="T5" fmla="*/ 2147483647 h 410"/>
              <a:gd name="T6" fmla="*/ 2147483647 w 382"/>
              <a:gd name="T7" fmla="*/ 2147483647 h 410"/>
              <a:gd name="T8" fmla="*/ 2147483647 w 382"/>
              <a:gd name="T9" fmla="*/ 2147483647 h 410"/>
              <a:gd name="T10" fmla="*/ 2147483647 w 382"/>
              <a:gd name="T11" fmla="*/ 2147483647 h 410"/>
              <a:gd name="T12" fmla="*/ 2147483647 w 382"/>
              <a:gd name="T13" fmla="*/ 2147483647 h 41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82"/>
              <a:gd name="T22" fmla="*/ 0 h 410"/>
              <a:gd name="T23" fmla="*/ 382 w 382"/>
              <a:gd name="T24" fmla="*/ 410 h 41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82" h="410">
                <a:moveTo>
                  <a:pt x="48" y="0"/>
                </a:moveTo>
                <a:cubicBezTo>
                  <a:pt x="41" y="23"/>
                  <a:pt x="8" y="96"/>
                  <a:pt x="4" y="138"/>
                </a:cubicBezTo>
                <a:cubicBezTo>
                  <a:pt x="0" y="180"/>
                  <a:pt x="15" y="221"/>
                  <a:pt x="26" y="254"/>
                </a:cubicBezTo>
                <a:cubicBezTo>
                  <a:pt x="37" y="287"/>
                  <a:pt x="45" y="313"/>
                  <a:pt x="70" y="334"/>
                </a:cubicBezTo>
                <a:cubicBezTo>
                  <a:pt x="95" y="355"/>
                  <a:pt x="137" y="370"/>
                  <a:pt x="174" y="382"/>
                </a:cubicBezTo>
                <a:cubicBezTo>
                  <a:pt x="211" y="394"/>
                  <a:pt x="257" y="406"/>
                  <a:pt x="292" y="408"/>
                </a:cubicBezTo>
                <a:cubicBezTo>
                  <a:pt x="327" y="410"/>
                  <a:pt x="363" y="395"/>
                  <a:pt x="382" y="392"/>
                </a:cubicBez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2" name="Freeform 36"/>
          <p:cNvSpPr>
            <a:spLocks/>
          </p:cNvSpPr>
          <p:nvPr/>
        </p:nvSpPr>
        <p:spPr bwMode="auto">
          <a:xfrm>
            <a:off x="7359971" y="3022674"/>
            <a:ext cx="381000" cy="268288"/>
          </a:xfrm>
          <a:custGeom>
            <a:avLst/>
            <a:gdLst>
              <a:gd name="T0" fmla="*/ 0 w 240"/>
              <a:gd name="T1" fmla="*/ 2147483647 h 169"/>
              <a:gd name="T2" fmla="*/ 2147483647 w 240"/>
              <a:gd name="T3" fmla="*/ 0 h 169"/>
              <a:gd name="T4" fmla="*/ 0 60000 65536"/>
              <a:gd name="T5" fmla="*/ 0 60000 65536"/>
              <a:gd name="T6" fmla="*/ 0 w 240"/>
              <a:gd name="T7" fmla="*/ 0 h 169"/>
              <a:gd name="T8" fmla="*/ 240 w 240"/>
              <a:gd name="T9" fmla="*/ 169 h 16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40" h="169">
                <a:moveTo>
                  <a:pt x="0" y="169"/>
                </a:moveTo>
                <a:lnTo>
                  <a:pt x="240" y="0"/>
                </a:ln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5" name="Text Box 37"/>
          <p:cNvSpPr txBox="1">
            <a:spLocks noChangeArrowheads="1"/>
          </p:cNvSpPr>
          <p:nvPr/>
        </p:nvSpPr>
        <p:spPr bwMode="auto">
          <a:xfrm>
            <a:off x="1624012" y="782860"/>
            <a:ext cx="697819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3200" dirty="0"/>
              <a:t>例</a:t>
            </a:r>
            <a:r>
              <a:rPr lang="en-US" altLang="zh-CN" sz="3200" dirty="0"/>
              <a:t>2</a:t>
            </a:r>
            <a:r>
              <a:rPr lang="zh-CN" altLang="en-US" sz="3200" dirty="0"/>
              <a:t>：已知两视图，画斜二等轴测图。</a:t>
            </a:r>
          </a:p>
        </p:txBody>
      </p:sp>
      <p:sp>
        <p:nvSpPr>
          <p:cNvPr id="178214" name="Freeform 38"/>
          <p:cNvSpPr>
            <a:spLocks/>
          </p:cNvSpPr>
          <p:nvPr/>
        </p:nvSpPr>
        <p:spPr bwMode="auto">
          <a:xfrm>
            <a:off x="6586860" y="4276800"/>
            <a:ext cx="331787" cy="341313"/>
          </a:xfrm>
          <a:custGeom>
            <a:avLst/>
            <a:gdLst>
              <a:gd name="T0" fmla="*/ 0 w 209"/>
              <a:gd name="T1" fmla="*/ 2147483647 h 215"/>
              <a:gd name="T2" fmla="*/ 2147483647 w 209"/>
              <a:gd name="T3" fmla="*/ 0 h 215"/>
              <a:gd name="T4" fmla="*/ 0 60000 65536"/>
              <a:gd name="T5" fmla="*/ 0 60000 65536"/>
              <a:gd name="T6" fmla="*/ 0 w 209"/>
              <a:gd name="T7" fmla="*/ 0 h 215"/>
              <a:gd name="T8" fmla="*/ 209 w 209"/>
              <a:gd name="T9" fmla="*/ 215 h 2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09" h="215">
                <a:moveTo>
                  <a:pt x="0" y="215"/>
                </a:moveTo>
                <a:lnTo>
                  <a:pt x="209" y="0"/>
                </a:ln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5" name="Freeform 39"/>
          <p:cNvSpPr>
            <a:spLocks/>
          </p:cNvSpPr>
          <p:nvPr/>
        </p:nvSpPr>
        <p:spPr bwMode="auto">
          <a:xfrm>
            <a:off x="6929760" y="4276799"/>
            <a:ext cx="115887" cy="1588"/>
          </a:xfrm>
          <a:custGeom>
            <a:avLst/>
            <a:gdLst>
              <a:gd name="T0" fmla="*/ 0 w 73"/>
              <a:gd name="T1" fmla="*/ 0 h 1"/>
              <a:gd name="T2" fmla="*/ 2147483647 w 73"/>
              <a:gd name="T3" fmla="*/ 0 h 1"/>
              <a:gd name="T4" fmla="*/ 0 60000 65536"/>
              <a:gd name="T5" fmla="*/ 0 60000 65536"/>
              <a:gd name="T6" fmla="*/ 0 w 73"/>
              <a:gd name="T7" fmla="*/ 0 h 1"/>
              <a:gd name="T8" fmla="*/ 73 w 73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3" h="1">
                <a:moveTo>
                  <a:pt x="0" y="0"/>
                </a:moveTo>
                <a:lnTo>
                  <a:pt x="73" y="0"/>
                </a:lnTo>
              </a:path>
            </a:pathLst>
          </a:custGeom>
          <a:noFill/>
          <a:ln w="127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8216" name="Line 40"/>
          <p:cNvSpPr>
            <a:spLocks noChangeShapeType="1"/>
          </p:cNvSpPr>
          <p:nvPr/>
        </p:nvSpPr>
        <p:spPr bwMode="auto">
          <a:xfrm>
            <a:off x="8341046" y="2592462"/>
            <a:ext cx="0" cy="2209800"/>
          </a:xfrm>
          <a:prstGeom prst="line">
            <a:avLst/>
          </a:prstGeom>
          <a:noFill/>
          <a:ln w="9525">
            <a:solidFill>
              <a:srgbClr val="9900FF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5735960" y="2636912"/>
            <a:ext cx="4078287" cy="3048000"/>
            <a:chOff x="2592" y="1171"/>
            <a:chExt cx="2569" cy="1920"/>
          </a:xfrm>
        </p:grpSpPr>
        <p:sp>
          <p:nvSpPr>
            <p:cNvPr id="40997" name="Rectangle 42"/>
            <p:cNvSpPr>
              <a:spLocks noChangeArrowheads="1"/>
            </p:cNvSpPr>
            <p:nvPr/>
          </p:nvSpPr>
          <p:spPr bwMode="auto">
            <a:xfrm>
              <a:off x="2857" y="1171"/>
              <a:ext cx="2304" cy="192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CCFF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grpSp>
          <p:nvGrpSpPr>
            <p:cNvPr id="40998" name="Group 43"/>
            <p:cNvGrpSpPr>
              <a:grpSpLocks/>
            </p:cNvGrpSpPr>
            <p:nvPr/>
          </p:nvGrpSpPr>
          <p:grpSpPr bwMode="auto">
            <a:xfrm>
              <a:off x="3360" y="1264"/>
              <a:ext cx="1536" cy="1223"/>
              <a:chOff x="3984" y="1177"/>
              <a:chExt cx="1536" cy="1223"/>
            </a:xfrm>
          </p:grpSpPr>
          <p:grpSp>
            <p:nvGrpSpPr>
              <p:cNvPr id="41022" name="Group 44"/>
              <p:cNvGrpSpPr>
                <a:grpSpLocks/>
              </p:cNvGrpSpPr>
              <p:nvPr/>
            </p:nvGrpSpPr>
            <p:grpSpPr bwMode="auto">
              <a:xfrm>
                <a:off x="4176" y="1177"/>
                <a:ext cx="1344" cy="1223"/>
                <a:chOff x="2160" y="1392"/>
                <a:chExt cx="1344" cy="1223"/>
              </a:xfrm>
            </p:grpSpPr>
            <p:sp>
              <p:nvSpPr>
                <p:cNvPr id="41024" name="Oval 45"/>
                <p:cNvSpPr>
                  <a:spLocks noChangeArrowheads="1"/>
                </p:cNvSpPr>
                <p:nvPr/>
              </p:nvSpPr>
              <p:spPr bwMode="auto">
                <a:xfrm>
                  <a:off x="2256" y="1392"/>
                  <a:ext cx="1152" cy="1104"/>
                </a:xfrm>
                <a:prstGeom prst="ellipse">
                  <a:avLst/>
                </a:prstGeom>
                <a:noFill/>
                <a:ln w="38100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41025" name="Rectangle 46"/>
                <p:cNvSpPr>
                  <a:spLocks noChangeArrowheads="1"/>
                </p:cNvSpPr>
                <p:nvPr/>
              </p:nvSpPr>
              <p:spPr bwMode="auto">
                <a:xfrm>
                  <a:off x="2160" y="1968"/>
                  <a:ext cx="1344" cy="647"/>
                </a:xfrm>
                <a:prstGeom prst="rect">
                  <a:avLst/>
                </a:prstGeom>
                <a:solidFill>
                  <a:srgbClr val="CCFFFF"/>
                </a:solidFill>
                <a:ln w="38100">
                  <a:solidFill>
                    <a:srgbClr val="CC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41023" name="AutoShape 47"/>
              <p:cNvSpPr>
                <a:spLocks noChangeArrowheads="1"/>
              </p:cNvSpPr>
              <p:nvPr/>
            </p:nvSpPr>
            <p:spPr bwMode="auto">
              <a:xfrm flipH="1">
                <a:off x="3984" y="1296"/>
                <a:ext cx="480" cy="576"/>
              </a:xfrm>
              <a:prstGeom prst="rtTriangle">
                <a:avLst/>
              </a:prstGeom>
              <a:solidFill>
                <a:srgbClr val="CCFFFF"/>
              </a:solidFill>
              <a:ln w="38100">
                <a:solidFill>
                  <a:srgbClr val="CC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0999" name="Line 48"/>
            <p:cNvSpPr>
              <a:spLocks noChangeShapeType="1"/>
            </p:cNvSpPr>
            <p:nvPr/>
          </p:nvSpPr>
          <p:spPr bwMode="auto">
            <a:xfrm>
              <a:off x="2592" y="2007"/>
              <a:ext cx="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000" name="Group 49"/>
            <p:cNvGrpSpPr>
              <a:grpSpLocks/>
            </p:cNvGrpSpPr>
            <p:nvPr/>
          </p:nvGrpSpPr>
          <p:grpSpPr bwMode="auto">
            <a:xfrm>
              <a:off x="3294" y="1479"/>
              <a:ext cx="1344" cy="1236"/>
              <a:chOff x="2142" y="1392"/>
              <a:chExt cx="1344" cy="1236"/>
            </a:xfrm>
          </p:grpSpPr>
          <p:sp>
            <p:nvSpPr>
              <p:cNvPr id="41020" name="Oval 50"/>
              <p:cNvSpPr>
                <a:spLocks noChangeArrowheads="1"/>
              </p:cNvSpPr>
              <p:nvPr/>
            </p:nvSpPr>
            <p:spPr bwMode="auto">
              <a:xfrm>
                <a:off x="2256" y="1392"/>
                <a:ext cx="1152" cy="1104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41021" name="Rectangle 51"/>
              <p:cNvSpPr>
                <a:spLocks noChangeArrowheads="1"/>
              </p:cNvSpPr>
              <p:nvPr/>
            </p:nvSpPr>
            <p:spPr bwMode="auto">
              <a:xfrm>
                <a:off x="2142" y="1981"/>
                <a:ext cx="1344" cy="647"/>
              </a:xfrm>
              <a:prstGeom prst="rect">
                <a:avLst/>
              </a:prstGeom>
              <a:solidFill>
                <a:srgbClr val="CCFFFF"/>
              </a:solidFill>
              <a:ln w="38100">
                <a:solidFill>
                  <a:srgbClr val="CC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41001" name="Oval 52"/>
            <p:cNvSpPr>
              <a:spLocks noChangeArrowheads="1"/>
            </p:cNvSpPr>
            <p:nvPr/>
          </p:nvSpPr>
          <p:spPr bwMode="auto">
            <a:xfrm>
              <a:off x="3648" y="1719"/>
              <a:ext cx="672" cy="62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41002" name="Freeform 53"/>
            <p:cNvSpPr>
              <a:spLocks/>
            </p:cNvSpPr>
            <p:nvPr/>
          </p:nvSpPr>
          <p:spPr bwMode="auto">
            <a:xfrm>
              <a:off x="3408" y="2007"/>
              <a:ext cx="3" cy="451"/>
            </a:xfrm>
            <a:custGeom>
              <a:avLst/>
              <a:gdLst>
                <a:gd name="T0" fmla="*/ 0 w 3"/>
                <a:gd name="T1" fmla="*/ 0 h 451"/>
                <a:gd name="T2" fmla="*/ 3 w 3"/>
                <a:gd name="T3" fmla="*/ 451 h 451"/>
                <a:gd name="T4" fmla="*/ 0 60000 65536"/>
                <a:gd name="T5" fmla="*/ 0 60000 65536"/>
                <a:gd name="T6" fmla="*/ 0 w 3"/>
                <a:gd name="T7" fmla="*/ 0 h 451"/>
                <a:gd name="T8" fmla="*/ 3 w 3"/>
                <a:gd name="T9" fmla="*/ 451 h 4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451">
                  <a:moveTo>
                    <a:pt x="0" y="0"/>
                  </a:moveTo>
                  <a:lnTo>
                    <a:pt x="3" y="45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3" name="Freeform 54"/>
            <p:cNvSpPr>
              <a:spLocks/>
            </p:cNvSpPr>
            <p:nvPr/>
          </p:nvSpPr>
          <p:spPr bwMode="auto">
            <a:xfrm>
              <a:off x="4560" y="2044"/>
              <a:ext cx="1" cy="400"/>
            </a:xfrm>
            <a:custGeom>
              <a:avLst/>
              <a:gdLst>
                <a:gd name="T0" fmla="*/ 0 w 1"/>
                <a:gd name="T1" fmla="*/ 0 h 400"/>
                <a:gd name="T2" fmla="*/ 0 w 1"/>
                <a:gd name="T3" fmla="*/ 400 h 400"/>
                <a:gd name="T4" fmla="*/ 0 60000 65536"/>
                <a:gd name="T5" fmla="*/ 0 60000 65536"/>
                <a:gd name="T6" fmla="*/ 0 w 1"/>
                <a:gd name="T7" fmla="*/ 0 h 400"/>
                <a:gd name="T8" fmla="*/ 1 w 1"/>
                <a:gd name="T9" fmla="*/ 400 h 4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00">
                  <a:moveTo>
                    <a:pt x="0" y="0"/>
                  </a:moveTo>
                  <a:lnTo>
                    <a:pt x="0" y="40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4" name="Freeform 58"/>
            <p:cNvSpPr>
              <a:spLocks/>
            </p:cNvSpPr>
            <p:nvPr/>
          </p:nvSpPr>
          <p:spPr bwMode="auto">
            <a:xfrm>
              <a:off x="4552" y="2440"/>
              <a:ext cx="296" cy="4"/>
            </a:xfrm>
            <a:custGeom>
              <a:avLst/>
              <a:gdLst>
                <a:gd name="T0" fmla="*/ 0 w 296"/>
                <a:gd name="T1" fmla="*/ 4 h 4"/>
                <a:gd name="T2" fmla="*/ 296 w 296"/>
                <a:gd name="T3" fmla="*/ 0 h 4"/>
                <a:gd name="T4" fmla="*/ 0 60000 65536"/>
                <a:gd name="T5" fmla="*/ 0 60000 65536"/>
                <a:gd name="T6" fmla="*/ 0 w 296"/>
                <a:gd name="T7" fmla="*/ 0 h 4"/>
                <a:gd name="T8" fmla="*/ 296 w 296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6" h="4">
                  <a:moveTo>
                    <a:pt x="0" y="4"/>
                  </a:moveTo>
                  <a:lnTo>
                    <a:pt x="296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5" name="Freeform 59"/>
            <p:cNvSpPr>
              <a:spLocks/>
            </p:cNvSpPr>
            <p:nvPr/>
          </p:nvSpPr>
          <p:spPr bwMode="auto">
            <a:xfrm>
              <a:off x="3117" y="2446"/>
              <a:ext cx="291" cy="2"/>
            </a:xfrm>
            <a:custGeom>
              <a:avLst/>
              <a:gdLst>
                <a:gd name="T0" fmla="*/ 0 w 291"/>
                <a:gd name="T1" fmla="*/ 2 h 2"/>
                <a:gd name="T2" fmla="*/ 291 w 291"/>
                <a:gd name="T3" fmla="*/ 0 h 2"/>
                <a:gd name="T4" fmla="*/ 0 60000 65536"/>
                <a:gd name="T5" fmla="*/ 0 60000 65536"/>
                <a:gd name="T6" fmla="*/ 0 w 291"/>
                <a:gd name="T7" fmla="*/ 0 h 2"/>
                <a:gd name="T8" fmla="*/ 291 w 291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1" h="2">
                  <a:moveTo>
                    <a:pt x="0" y="2"/>
                  </a:moveTo>
                  <a:lnTo>
                    <a:pt x="291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6" name="Line 60"/>
            <p:cNvSpPr>
              <a:spLocks noChangeShapeType="1"/>
            </p:cNvSpPr>
            <p:nvPr/>
          </p:nvSpPr>
          <p:spPr bwMode="auto">
            <a:xfrm>
              <a:off x="3120" y="2439"/>
              <a:ext cx="0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7" name="Freeform 61"/>
            <p:cNvSpPr>
              <a:spLocks/>
            </p:cNvSpPr>
            <p:nvPr/>
          </p:nvSpPr>
          <p:spPr bwMode="auto">
            <a:xfrm>
              <a:off x="4848" y="2439"/>
              <a:ext cx="2" cy="252"/>
            </a:xfrm>
            <a:custGeom>
              <a:avLst/>
              <a:gdLst>
                <a:gd name="T0" fmla="*/ 0 w 2"/>
                <a:gd name="T1" fmla="*/ 0 h 252"/>
                <a:gd name="T2" fmla="*/ 2 w 2"/>
                <a:gd name="T3" fmla="*/ 252 h 252"/>
                <a:gd name="T4" fmla="*/ 0 60000 65536"/>
                <a:gd name="T5" fmla="*/ 0 60000 65536"/>
                <a:gd name="T6" fmla="*/ 0 w 2"/>
                <a:gd name="T7" fmla="*/ 0 h 252"/>
                <a:gd name="T8" fmla="*/ 2 w 2"/>
                <a:gd name="T9" fmla="*/ 252 h 25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252">
                  <a:moveTo>
                    <a:pt x="0" y="0"/>
                  </a:moveTo>
                  <a:lnTo>
                    <a:pt x="2" y="252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8" name="Line 63"/>
            <p:cNvSpPr>
              <a:spLocks noChangeShapeType="1"/>
            </p:cNvSpPr>
            <p:nvPr/>
          </p:nvSpPr>
          <p:spPr bwMode="auto">
            <a:xfrm rot="60000" flipV="1">
              <a:off x="3112" y="2667"/>
              <a:ext cx="1738" cy="2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09" name="Freeform 64"/>
            <p:cNvSpPr>
              <a:spLocks/>
            </p:cNvSpPr>
            <p:nvPr/>
          </p:nvSpPr>
          <p:spPr bwMode="auto">
            <a:xfrm>
              <a:off x="4560" y="2197"/>
              <a:ext cx="247" cy="242"/>
            </a:xfrm>
            <a:custGeom>
              <a:avLst/>
              <a:gdLst>
                <a:gd name="T0" fmla="*/ 0 w 247"/>
                <a:gd name="T1" fmla="*/ 242 h 242"/>
                <a:gd name="T2" fmla="*/ 247 w 247"/>
                <a:gd name="T3" fmla="*/ 0 h 242"/>
                <a:gd name="T4" fmla="*/ 0 60000 65536"/>
                <a:gd name="T5" fmla="*/ 0 60000 65536"/>
                <a:gd name="T6" fmla="*/ 0 w 247"/>
                <a:gd name="T7" fmla="*/ 0 h 242"/>
                <a:gd name="T8" fmla="*/ 247 w 247"/>
                <a:gd name="T9" fmla="*/ 242 h 2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47" h="242">
                  <a:moveTo>
                    <a:pt x="0" y="242"/>
                  </a:moveTo>
                  <a:lnTo>
                    <a:pt x="247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0" name="Line 66"/>
            <p:cNvSpPr>
              <a:spLocks noChangeShapeType="1"/>
            </p:cNvSpPr>
            <p:nvPr/>
          </p:nvSpPr>
          <p:spPr bwMode="auto">
            <a:xfrm>
              <a:off x="4800" y="1815"/>
              <a:ext cx="0" cy="38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1" name="Line 67"/>
            <p:cNvSpPr>
              <a:spLocks noChangeShapeType="1"/>
            </p:cNvSpPr>
            <p:nvPr/>
          </p:nvSpPr>
          <p:spPr bwMode="auto">
            <a:xfrm>
              <a:off x="4800" y="2199"/>
              <a:ext cx="28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2" name="Freeform 68"/>
            <p:cNvSpPr>
              <a:spLocks/>
            </p:cNvSpPr>
            <p:nvPr/>
          </p:nvSpPr>
          <p:spPr bwMode="auto">
            <a:xfrm>
              <a:off x="4848" y="2197"/>
              <a:ext cx="250" cy="242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  <a:gd name="T4" fmla="*/ 0 60000 65536"/>
                <a:gd name="T5" fmla="*/ 0 60000 65536"/>
                <a:gd name="T6" fmla="*/ 0 w 250"/>
                <a:gd name="T7" fmla="*/ 0 h 242"/>
                <a:gd name="T8" fmla="*/ 250 w 250"/>
                <a:gd name="T9" fmla="*/ 242 h 2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0" h="242">
                  <a:moveTo>
                    <a:pt x="0" y="242"/>
                  </a:moveTo>
                  <a:lnTo>
                    <a:pt x="250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3" name="Freeform 69"/>
            <p:cNvSpPr>
              <a:spLocks/>
            </p:cNvSpPr>
            <p:nvPr/>
          </p:nvSpPr>
          <p:spPr bwMode="auto">
            <a:xfrm>
              <a:off x="4850" y="2458"/>
              <a:ext cx="233" cy="226"/>
            </a:xfrm>
            <a:custGeom>
              <a:avLst/>
              <a:gdLst>
                <a:gd name="T0" fmla="*/ 0 w 233"/>
                <a:gd name="T1" fmla="*/ 226 h 226"/>
                <a:gd name="T2" fmla="*/ 233 w 233"/>
                <a:gd name="T3" fmla="*/ 0 h 226"/>
                <a:gd name="T4" fmla="*/ 0 60000 65536"/>
                <a:gd name="T5" fmla="*/ 0 60000 65536"/>
                <a:gd name="T6" fmla="*/ 0 w 233"/>
                <a:gd name="T7" fmla="*/ 0 h 226"/>
                <a:gd name="T8" fmla="*/ 233 w 233"/>
                <a:gd name="T9" fmla="*/ 226 h 22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3" h="226">
                  <a:moveTo>
                    <a:pt x="0" y="226"/>
                  </a:moveTo>
                  <a:lnTo>
                    <a:pt x="233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4" name="Freeform 70"/>
            <p:cNvSpPr>
              <a:spLocks/>
            </p:cNvSpPr>
            <p:nvPr/>
          </p:nvSpPr>
          <p:spPr bwMode="auto">
            <a:xfrm>
              <a:off x="5083" y="2211"/>
              <a:ext cx="1" cy="254"/>
            </a:xfrm>
            <a:custGeom>
              <a:avLst/>
              <a:gdLst>
                <a:gd name="T0" fmla="*/ 0 w 1"/>
                <a:gd name="T1" fmla="*/ 0 h 254"/>
                <a:gd name="T2" fmla="*/ 0 w 1"/>
                <a:gd name="T3" fmla="*/ 254 h 254"/>
                <a:gd name="T4" fmla="*/ 0 60000 65536"/>
                <a:gd name="T5" fmla="*/ 0 60000 65536"/>
                <a:gd name="T6" fmla="*/ 0 w 1"/>
                <a:gd name="T7" fmla="*/ 0 h 254"/>
                <a:gd name="T8" fmla="*/ 1 w 1"/>
                <a:gd name="T9" fmla="*/ 254 h 2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54">
                  <a:moveTo>
                    <a:pt x="0" y="0"/>
                  </a:moveTo>
                  <a:lnTo>
                    <a:pt x="0" y="254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5" name="Freeform 71"/>
            <p:cNvSpPr>
              <a:spLocks/>
            </p:cNvSpPr>
            <p:nvPr/>
          </p:nvSpPr>
          <p:spPr bwMode="auto">
            <a:xfrm>
              <a:off x="3120" y="2189"/>
              <a:ext cx="254" cy="250"/>
            </a:xfrm>
            <a:custGeom>
              <a:avLst/>
              <a:gdLst>
                <a:gd name="T0" fmla="*/ 0 w 254"/>
                <a:gd name="T1" fmla="*/ 250 h 250"/>
                <a:gd name="T2" fmla="*/ 254 w 254"/>
                <a:gd name="T3" fmla="*/ 0 h 250"/>
                <a:gd name="T4" fmla="*/ 0 60000 65536"/>
                <a:gd name="T5" fmla="*/ 0 60000 65536"/>
                <a:gd name="T6" fmla="*/ 0 w 254"/>
                <a:gd name="T7" fmla="*/ 0 h 250"/>
                <a:gd name="T8" fmla="*/ 254 w 254"/>
                <a:gd name="T9" fmla="*/ 250 h 2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4" h="250">
                  <a:moveTo>
                    <a:pt x="0" y="250"/>
                  </a:moveTo>
                  <a:lnTo>
                    <a:pt x="254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6" name="Line 72"/>
            <p:cNvSpPr>
              <a:spLocks noChangeShapeType="1"/>
            </p:cNvSpPr>
            <p:nvPr/>
          </p:nvSpPr>
          <p:spPr bwMode="auto">
            <a:xfrm>
              <a:off x="3360" y="2199"/>
              <a:ext cx="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7" name="Line 73"/>
            <p:cNvSpPr>
              <a:spLocks noChangeShapeType="1"/>
            </p:cNvSpPr>
            <p:nvPr/>
          </p:nvSpPr>
          <p:spPr bwMode="auto">
            <a:xfrm flipV="1">
              <a:off x="3360" y="2186"/>
              <a:ext cx="48" cy="1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8" name="Freeform 74"/>
            <p:cNvSpPr>
              <a:spLocks/>
            </p:cNvSpPr>
            <p:nvPr/>
          </p:nvSpPr>
          <p:spPr bwMode="auto">
            <a:xfrm>
              <a:off x="3637" y="1382"/>
              <a:ext cx="225" cy="211"/>
            </a:xfrm>
            <a:custGeom>
              <a:avLst/>
              <a:gdLst>
                <a:gd name="T0" fmla="*/ 0 w 225"/>
                <a:gd name="T1" fmla="*/ 211 h 211"/>
                <a:gd name="T2" fmla="*/ 225 w 225"/>
                <a:gd name="T3" fmla="*/ 0 h 211"/>
                <a:gd name="T4" fmla="*/ 0 60000 65536"/>
                <a:gd name="T5" fmla="*/ 0 60000 65536"/>
                <a:gd name="T6" fmla="*/ 0 w 225"/>
                <a:gd name="T7" fmla="*/ 0 h 211"/>
                <a:gd name="T8" fmla="*/ 225 w 225"/>
                <a:gd name="T9" fmla="*/ 211 h 21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25" h="211">
                  <a:moveTo>
                    <a:pt x="0" y="211"/>
                  </a:moveTo>
                  <a:lnTo>
                    <a:pt x="225" y="0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19" name="Arc 75"/>
            <p:cNvSpPr>
              <a:spLocks/>
            </p:cNvSpPr>
            <p:nvPr/>
          </p:nvSpPr>
          <p:spPr bwMode="auto">
            <a:xfrm flipH="1">
              <a:off x="3888" y="1729"/>
              <a:ext cx="418" cy="398"/>
            </a:xfrm>
            <a:custGeom>
              <a:avLst/>
              <a:gdLst>
                <a:gd name="T0" fmla="*/ 0 w 25078"/>
                <a:gd name="T1" fmla="*/ 0 h 27835"/>
                <a:gd name="T2" fmla="*/ 0 w 25078"/>
                <a:gd name="T3" fmla="*/ 0 h 27835"/>
                <a:gd name="T4" fmla="*/ 0 w 25078"/>
                <a:gd name="T5" fmla="*/ 0 h 27835"/>
                <a:gd name="T6" fmla="*/ 0 60000 65536"/>
                <a:gd name="T7" fmla="*/ 0 60000 65536"/>
                <a:gd name="T8" fmla="*/ 0 60000 65536"/>
                <a:gd name="T9" fmla="*/ 0 w 25078"/>
                <a:gd name="T10" fmla="*/ 0 h 27835"/>
                <a:gd name="T11" fmla="*/ 25078 w 25078"/>
                <a:gd name="T12" fmla="*/ 27835 h 278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078" h="27835" fill="none" extrusionOk="0">
                  <a:moveTo>
                    <a:pt x="24158" y="0"/>
                  </a:moveTo>
                  <a:cubicBezTo>
                    <a:pt x="24768" y="2022"/>
                    <a:pt x="25078" y="4122"/>
                    <a:pt x="25078" y="6235"/>
                  </a:cubicBezTo>
                  <a:cubicBezTo>
                    <a:pt x="25078" y="18164"/>
                    <a:pt x="15407" y="27835"/>
                    <a:pt x="3478" y="27835"/>
                  </a:cubicBezTo>
                  <a:cubicBezTo>
                    <a:pt x="2312" y="27835"/>
                    <a:pt x="1149" y="27740"/>
                    <a:pt x="-1" y="27553"/>
                  </a:cubicBezTo>
                </a:path>
                <a:path w="25078" h="27835" stroke="0" extrusionOk="0">
                  <a:moveTo>
                    <a:pt x="24158" y="0"/>
                  </a:moveTo>
                  <a:cubicBezTo>
                    <a:pt x="24768" y="2022"/>
                    <a:pt x="25078" y="4122"/>
                    <a:pt x="25078" y="6235"/>
                  </a:cubicBezTo>
                  <a:cubicBezTo>
                    <a:pt x="25078" y="18164"/>
                    <a:pt x="15407" y="27835"/>
                    <a:pt x="3478" y="27835"/>
                  </a:cubicBezTo>
                  <a:cubicBezTo>
                    <a:pt x="2312" y="27835"/>
                    <a:pt x="1149" y="27740"/>
                    <a:pt x="-1" y="27553"/>
                  </a:cubicBezTo>
                  <a:lnTo>
                    <a:pt x="3478" y="6235"/>
                  </a:lnTo>
                  <a:lnTo>
                    <a:pt x="24158" y="0"/>
                  </a:lnTo>
                  <a:close/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80" name="Line 76"/>
          <p:cNvSpPr>
            <a:spLocks noChangeShapeType="1"/>
          </p:cNvSpPr>
          <p:nvPr/>
        </p:nvSpPr>
        <p:spPr bwMode="auto">
          <a:xfrm>
            <a:off x="5742309" y="3964062"/>
            <a:ext cx="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1" name="Oval 77"/>
          <p:cNvSpPr>
            <a:spLocks noChangeArrowheads="1"/>
          </p:cNvSpPr>
          <p:nvPr/>
        </p:nvSpPr>
        <p:spPr bwMode="auto">
          <a:xfrm>
            <a:off x="3164209" y="1843162"/>
            <a:ext cx="1828800" cy="17526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40982" name="Freeform 79"/>
          <p:cNvSpPr>
            <a:spLocks/>
          </p:cNvSpPr>
          <p:nvPr/>
        </p:nvSpPr>
        <p:spPr bwMode="auto">
          <a:xfrm>
            <a:off x="3002285" y="2716288"/>
            <a:ext cx="2174875" cy="1587"/>
          </a:xfrm>
          <a:custGeom>
            <a:avLst/>
            <a:gdLst>
              <a:gd name="T0" fmla="*/ 0 w 1370"/>
              <a:gd name="T1" fmla="*/ 0 h 1"/>
              <a:gd name="T2" fmla="*/ 2147483647 w 1370"/>
              <a:gd name="T3" fmla="*/ 0 h 1"/>
              <a:gd name="T4" fmla="*/ 0 60000 65536"/>
              <a:gd name="T5" fmla="*/ 0 60000 65536"/>
              <a:gd name="T6" fmla="*/ 0 w 1370"/>
              <a:gd name="T7" fmla="*/ 0 h 1"/>
              <a:gd name="T8" fmla="*/ 1370 w 137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70" h="1">
                <a:moveTo>
                  <a:pt x="0" y="0"/>
                </a:moveTo>
                <a:lnTo>
                  <a:pt x="1370" y="0"/>
                </a:lnTo>
              </a:path>
            </a:pathLst>
          </a:cu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3" name="Oval 80"/>
          <p:cNvSpPr>
            <a:spLocks noChangeArrowheads="1"/>
          </p:cNvSpPr>
          <p:nvPr/>
        </p:nvSpPr>
        <p:spPr bwMode="auto">
          <a:xfrm>
            <a:off x="3540446" y="2224162"/>
            <a:ext cx="1066800" cy="9906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40984" name="Line 86"/>
          <p:cNvSpPr>
            <a:spLocks noChangeShapeType="1"/>
          </p:cNvSpPr>
          <p:nvPr/>
        </p:nvSpPr>
        <p:spPr bwMode="auto">
          <a:xfrm>
            <a:off x="4977135" y="3367162"/>
            <a:ext cx="47942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5" name="Line 87"/>
          <p:cNvSpPr>
            <a:spLocks noChangeShapeType="1"/>
          </p:cNvSpPr>
          <p:nvPr/>
        </p:nvSpPr>
        <p:spPr bwMode="auto">
          <a:xfrm>
            <a:off x="2702247" y="3367162"/>
            <a:ext cx="47942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Line 88"/>
          <p:cNvSpPr>
            <a:spLocks noChangeShapeType="1"/>
          </p:cNvSpPr>
          <p:nvPr/>
        </p:nvSpPr>
        <p:spPr bwMode="auto">
          <a:xfrm>
            <a:off x="2702246" y="3367162"/>
            <a:ext cx="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7" name="Line 89"/>
          <p:cNvSpPr>
            <a:spLocks noChangeShapeType="1"/>
          </p:cNvSpPr>
          <p:nvPr/>
        </p:nvSpPr>
        <p:spPr bwMode="auto">
          <a:xfrm>
            <a:off x="5445446" y="3367162"/>
            <a:ext cx="0" cy="3810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8" name="Line 91"/>
          <p:cNvSpPr>
            <a:spLocks noChangeShapeType="1"/>
          </p:cNvSpPr>
          <p:nvPr/>
        </p:nvSpPr>
        <p:spPr bwMode="auto">
          <a:xfrm rot="-60000">
            <a:off x="2681610" y="3708474"/>
            <a:ext cx="2763837" cy="4603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9" name="Rectangle 92"/>
          <p:cNvSpPr>
            <a:spLocks noChangeArrowheads="1"/>
          </p:cNvSpPr>
          <p:nvPr/>
        </p:nvSpPr>
        <p:spPr bwMode="auto">
          <a:xfrm>
            <a:off x="2702246" y="4357762"/>
            <a:ext cx="2743200" cy="10668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  <p:sp>
        <p:nvSpPr>
          <p:cNvPr id="40990" name="Line 93"/>
          <p:cNvSpPr>
            <a:spLocks noChangeShapeType="1"/>
          </p:cNvSpPr>
          <p:nvPr/>
        </p:nvSpPr>
        <p:spPr bwMode="auto">
          <a:xfrm>
            <a:off x="4073846" y="4205362"/>
            <a:ext cx="0" cy="13716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1" name="Line 96"/>
          <p:cNvSpPr>
            <a:spLocks noChangeShapeType="1"/>
          </p:cNvSpPr>
          <p:nvPr/>
        </p:nvSpPr>
        <p:spPr bwMode="auto">
          <a:xfrm>
            <a:off x="3159446" y="4357762"/>
            <a:ext cx="0" cy="1066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2" name="Line 97"/>
          <p:cNvSpPr>
            <a:spLocks noChangeShapeType="1"/>
          </p:cNvSpPr>
          <p:nvPr/>
        </p:nvSpPr>
        <p:spPr bwMode="auto">
          <a:xfrm>
            <a:off x="4988246" y="4357762"/>
            <a:ext cx="0" cy="1066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3" name="Line 100"/>
          <p:cNvSpPr>
            <a:spLocks noChangeShapeType="1"/>
          </p:cNvSpPr>
          <p:nvPr/>
        </p:nvSpPr>
        <p:spPr bwMode="auto">
          <a:xfrm>
            <a:off x="4073846" y="1690762"/>
            <a:ext cx="0" cy="21336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任意多边形 100"/>
          <p:cNvSpPr/>
          <p:nvPr/>
        </p:nvSpPr>
        <p:spPr>
          <a:xfrm>
            <a:off x="3157686" y="2692029"/>
            <a:ext cx="1835324" cy="909637"/>
          </a:xfrm>
          <a:custGeom>
            <a:avLst/>
            <a:gdLst>
              <a:gd name="connsiteX0" fmla="*/ 0 w 1842294"/>
              <a:gd name="connsiteY0" fmla="*/ 14288 h 894556"/>
              <a:gd name="connsiteX1" fmla="*/ 14287 w 1842294"/>
              <a:gd name="connsiteY1" fmla="*/ 147638 h 894556"/>
              <a:gd name="connsiteX2" fmla="*/ 52387 w 1842294"/>
              <a:gd name="connsiteY2" fmla="*/ 304800 h 894556"/>
              <a:gd name="connsiteX3" fmla="*/ 85725 w 1842294"/>
              <a:gd name="connsiteY3" fmla="*/ 381000 h 894556"/>
              <a:gd name="connsiteX4" fmla="*/ 152400 w 1842294"/>
              <a:gd name="connsiteY4" fmla="*/ 500063 h 894556"/>
              <a:gd name="connsiteX5" fmla="*/ 195262 w 1842294"/>
              <a:gd name="connsiteY5" fmla="*/ 561975 h 894556"/>
              <a:gd name="connsiteX6" fmla="*/ 280987 w 1842294"/>
              <a:gd name="connsiteY6" fmla="*/ 642938 h 894556"/>
              <a:gd name="connsiteX7" fmla="*/ 371475 w 1842294"/>
              <a:gd name="connsiteY7" fmla="*/ 714375 h 894556"/>
              <a:gd name="connsiteX8" fmla="*/ 466725 w 1842294"/>
              <a:gd name="connsiteY8" fmla="*/ 776288 h 894556"/>
              <a:gd name="connsiteX9" fmla="*/ 538162 w 1842294"/>
              <a:gd name="connsiteY9" fmla="*/ 814388 h 894556"/>
              <a:gd name="connsiteX10" fmla="*/ 638175 w 1842294"/>
              <a:gd name="connsiteY10" fmla="*/ 852488 h 894556"/>
              <a:gd name="connsiteX11" fmla="*/ 776287 w 1842294"/>
              <a:gd name="connsiteY11" fmla="*/ 881063 h 894556"/>
              <a:gd name="connsiteX12" fmla="*/ 1014412 w 1842294"/>
              <a:gd name="connsiteY12" fmla="*/ 885825 h 894556"/>
              <a:gd name="connsiteX13" fmla="*/ 1266825 w 1842294"/>
              <a:gd name="connsiteY13" fmla="*/ 828675 h 894556"/>
              <a:gd name="connsiteX14" fmla="*/ 1466850 w 1842294"/>
              <a:gd name="connsiteY14" fmla="*/ 719138 h 894556"/>
              <a:gd name="connsiteX15" fmla="*/ 1624012 w 1842294"/>
              <a:gd name="connsiteY15" fmla="*/ 576263 h 894556"/>
              <a:gd name="connsiteX16" fmla="*/ 1757362 w 1842294"/>
              <a:gd name="connsiteY16" fmla="*/ 381000 h 894556"/>
              <a:gd name="connsiteX17" fmla="*/ 1828800 w 1842294"/>
              <a:gd name="connsiteY17" fmla="*/ 147638 h 894556"/>
              <a:gd name="connsiteX18" fmla="*/ 1838325 w 1842294"/>
              <a:gd name="connsiteY18" fmla="*/ 0 h 894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842294" h="894556">
                <a:moveTo>
                  <a:pt x="0" y="14288"/>
                </a:moveTo>
                <a:cubicBezTo>
                  <a:pt x="2778" y="56753"/>
                  <a:pt x="5556" y="99219"/>
                  <a:pt x="14287" y="147638"/>
                </a:cubicBezTo>
                <a:cubicBezTo>
                  <a:pt x="23018" y="196057"/>
                  <a:pt x="40481" y="265906"/>
                  <a:pt x="52387" y="304800"/>
                </a:cubicBezTo>
                <a:cubicBezTo>
                  <a:pt x="64293" y="343694"/>
                  <a:pt x="69056" y="348456"/>
                  <a:pt x="85725" y="381000"/>
                </a:cubicBezTo>
                <a:cubicBezTo>
                  <a:pt x="102394" y="413544"/>
                  <a:pt x="134144" y="469901"/>
                  <a:pt x="152400" y="500063"/>
                </a:cubicBezTo>
                <a:cubicBezTo>
                  <a:pt x="170656" y="530225"/>
                  <a:pt x="173831" y="538163"/>
                  <a:pt x="195262" y="561975"/>
                </a:cubicBezTo>
                <a:cubicBezTo>
                  <a:pt x="216693" y="585787"/>
                  <a:pt x="251618" y="617538"/>
                  <a:pt x="280987" y="642938"/>
                </a:cubicBezTo>
                <a:cubicBezTo>
                  <a:pt x="310356" y="668338"/>
                  <a:pt x="340519" y="692150"/>
                  <a:pt x="371475" y="714375"/>
                </a:cubicBezTo>
                <a:cubicBezTo>
                  <a:pt x="402431" y="736600"/>
                  <a:pt x="438944" y="759619"/>
                  <a:pt x="466725" y="776288"/>
                </a:cubicBezTo>
                <a:cubicBezTo>
                  <a:pt x="494506" y="792957"/>
                  <a:pt x="509587" y="801688"/>
                  <a:pt x="538162" y="814388"/>
                </a:cubicBezTo>
                <a:cubicBezTo>
                  <a:pt x="566737" y="827088"/>
                  <a:pt x="598488" y="841376"/>
                  <a:pt x="638175" y="852488"/>
                </a:cubicBezTo>
                <a:cubicBezTo>
                  <a:pt x="677863" y="863601"/>
                  <a:pt x="713581" y="875507"/>
                  <a:pt x="776287" y="881063"/>
                </a:cubicBezTo>
                <a:cubicBezTo>
                  <a:pt x="838993" y="886619"/>
                  <a:pt x="932656" y="894556"/>
                  <a:pt x="1014412" y="885825"/>
                </a:cubicBezTo>
                <a:cubicBezTo>
                  <a:pt x="1096168" y="877094"/>
                  <a:pt x="1191419" y="856456"/>
                  <a:pt x="1266825" y="828675"/>
                </a:cubicBezTo>
                <a:cubicBezTo>
                  <a:pt x="1342231" y="800894"/>
                  <a:pt x="1407319" y="761207"/>
                  <a:pt x="1466850" y="719138"/>
                </a:cubicBezTo>
                <a:cubicBezTo>
                  <a:pt x="1526381" y="677069"/>
                  <a:pt x="1575593" y="632619"/>
                  <a:pt x="1624012" y="576263"/>
                </a:cubicBezTo>
                <a:cubicBezTo>
                  <a:pt x="1672431" y="519907"/>
                  <a:pt x="1723231" y="452437"/>
                  <a:pt x="1757362" y="381000"/>
                </a:cubicBezTo>
                <a:cubicBezTo>
                  <a:pt x="1791493" y="309563"/>
                  <a:pt x="1815306" y="211138"/>
                  <a:pt x="1828800" y="147638"/>
                </a:cubicBezTo>
                <a:cubicBezTo>
                  <a:pt x="1842294" y="84138"/>
                  <a:pt x="1840309" y="42069"/>
                  <a:pt x="1838325" y="0"/>
                </a:cubicBezTo>
              </a:path>
            </a:pathLst>
          </a:cu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0995" name="Line 82"/>
          <p:cNvSpPr>
            <a:spLocks noChangeShapeType="1"/>
          </p:cNvSpPr>
          <p:nvPr/>
        </p:nvSpPr>
        <p:spPr bwMode="auto">
          <a:xfrm>
            <a:off x="4993009" y="2716288"/>
            <a:ext cx="0" cy="64452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6" name="Line 81"/>
          <p:cNvSpPr>
            <a:spLocks noChangeShapeType="1"/>
          </p:cNvSpPr>
          <p:nvPr/>
        </p:nvSpPr>
        <p:spPr bwMode="auto">
          <a:xfrm>
            <a:off x="3159446" y="2681362"/>
            <a:ext cx="0" cy="6858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9C6180B-8899-47FE-A427-25321CC963B0}"/>
              </a:ext>
            </a:extLst>
          </p:cNvPr>
          <p:cNvCxnSpPr>
            <a:cxnSpLocks/>
          </p:cNvCxnSpPr>
          <p:nvPr/>
        </p:nvCxnSpPr>
        <p:spPr>
          <a:xfrm flipH="1">
            <a:off x="3534097" y="4357762"/>
            <a:ext cx="6351" cy="10668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C297C599-9C43-4F99-AC18-76F6607CE1AA}"/>
              </a:ext>
            </a:extLst>
          </p:cNvPr>
          <p:cNvCxnSpPr>
            <a:cxnSpLocks/>
          </p:cNvCxnSpPr>
          <p:nvPr/>
        </p:nvCxnSpPr>
        <p:spPr>
          <a:xfrm flipH="1">
            <a:off x="4596135" y="4357749"/>
            <a:ext cx="6351" cy="106680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8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8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78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7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7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3" grpId="0" animBg="1"/>
      <p:bldP spid="178184" grpId="0" animBg="1"/>
      <p:bldP spid="178185" grpId="0" animBg="1"/>
      <p:bldP spid="178186" grpId="0" animBg="1"/>
      <p:bldP spid="178187" grpId="0" animBg="1"/>
      <p:bldP spid="178189" grpId="0" animBg="1"/>
      <p:bldP spid="178190" grpId="0" animBg="1"/>
      <p:bldP spid="178210" grpId="0" animBg="1"/>
      <p:bldP spid="178211" grpId="0" animBg="1"/>
      <p:bldP spid="178212" grpId="0" animBg="1"/>
      <p:bldP spid="178214" grpId="0" animBg="1"/>
      <p:bldP spid="178215" grpId="0" animBg="1"/>
      <p:bldP spid="1782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268978" y="1437517"/>
            <a:ext cx="8075494" cy="1101812"/>
          </a:xfrm>
          <a:prstGeom prst="rect">
            <a:avLst/>
          </a:prstGeom>
        </p:spPr>
        <p:txBody>
          <a:bodyPr vert="horz" wrap="square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关于正等轴测图与斜二轴测图的画法的区别，选项中哪个说法是正确的？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631632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eaLnBrk="1" hangingPunct="1"/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只有一个方向有圆时，采用斜二轴测图比正等轴测图画图简便。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于轴间角和轴向伸缩系数不同。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7188200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正等轴测图中各个方向的椭圆画法相对比较简单。</a:t>
            </a:r>
            <a:endParaRPr lang="zh-CN" altLang="en-US" sz="2600" b="1" dirty="0"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775648" cy="642938"/>
          </a:xfrm>
          <a:prstGeom prst="rect">
            <a:avLst/>
          </a:prstGeom>
        </p:spPr>
        <p:txBody>
          <a:bodyPr vert="horz" rtlCol="0" anchor="ctr" anchorCtr="0">
            <a:noAutofit/>
          </a:bodyPr>
          <a:lstStyle/>
          <a:p>
            <a:pPr fontAlgn="auto">
              <a:spcAft>
                <a:spcPts val="0"/>
              </a:spcAft>
            </a:pP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平行于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XOZ</a:t>
            </a:r>
            <a:r>
              <a:rPr lang="zh-CN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坐标面的圆的斜二轴测图反映实形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400" b="1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  <a:cs typeface="+mj-cs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26384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 bwMode="auto"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  <a:miter lim="800000"/>
            <a:headEnd/>
            <a:tailEnd/>
          </a:ln>
        </p:spPr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  <a:miter lim="800000"/>
              <a:headEnd/>
              <a:tailEnd/>
            </a:ln>
          </p:spPr>
          <p:txBody>
            <a:bodyPr rtlCol="0" anchor="ctr"/>
            <a:lstStyle/>
            <a:p>
              <a:pPr algn="ctr"/>
              <a:endParaRPr lang="zh-CN" altLang="en-US" sz="3600" dirty="0">
                <a:solidFill>
                  <a:schemeClr val="tx2"/>
                </a:solidFill>
                <a:latin typeface="宋体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zh-CN" altLang="en-US" sz="2600" b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多选题</a:t>
              </a:r>
              <a:endParaRPr lang="zh-CN" altLang="en-US" sz="2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</p:spPr>
          <p:txBody>
            <a:bodyPr vert="horz" wrap="none" rtlCol="0" anchor="ctr" anchorCtr="0">
              <a:noAutofit/>
            </a:bodyPr>
            <a:lstStyle/>
            <a:p>
              <a:pPr fontAlgn="auto">
                <a:spcAft>
                  <a:spcPts val="0"/>
                </a:spcAft>
              </a:pPr>
              <a:r>
                <a:rPr lang="en-US" altLang="zh-CN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3</a:t>
              </a:r>
              <a:r>
                <a:rPr lang="zh-CN" altLang="en-US" sz="2000" b="1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cs typeface="+mj-cs"/>
                  <a:sym typeface="Microsoft Yahei" panose="020B0503020204020204" pitchFamily="34" charset="-122"/>
                </a:rPr>
                <a:t>分</a:t>
              </a:r>
              <a:endParaRPr lang="zh-CN" altLang="en-US" sz="2000" b="1" dirty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82503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3"/>
          <p:cNvSpPr txBox="1">
            <a:spLocks noChangeArrowheads="1"/>
          </p:cNvSpPr>
          <p:nvPr/>
        </p:nvSpPr>
        <p:spPr bwMode="auto">
          <a:xfrm>
            <a:off x="2057400" y="1457325"/>
            <a:ext cx="8064500" cy="2419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正等轴测图</a:t>
            </a:r>
            <a:r>
              <a:rPr lang="zh-CN" altLang="en-US" sz="2800" dirty="0">
                <a:latin typeface="宋体" pitchFamily="2" charset="-122"/>
              </a:rPr>
              <a:t>与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斜二等轴测图</a:t>
            </a:r>
            <a:r>
              <a:rPr lang="zh-CN" altLang="en-US" sz="2800" dirty="0">
                <a:latin typeface="宋体" pitchFamily="2" charset="-122"/>
              </a:rPr>
              <a:t>的画法的区别：</a:t>
            </a:r>
            <a:endParaRPr lang="en-US" altLang="zh-CN" sz="2800" dirty="0">
              <a:latin typeface="宋体" pitchFamily="2" charset="-122"/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sz="2800" dirty="0">
                <a:latin typeface="宋体" pitchFamily="2" charset="-122"/>
              </a:rPr>
              <a:t>    在于轴间角和轴向伸缩系数。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sz="2800" dirty="0">
                <a:latin typeface="宋体" pitchFamily="2" charset="-122"/>
              </a:rPr>
              <a:t>    由于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正等轴测图</a:t>
            </a:r>
            <a:r>
              <a:rPr lang="zh-CN" altLang="en-US" sz="2800" dirty="0">
                <a:latin typeface="宋体" pitchFamily="2" charset="-122"/>
              </a:rPr>
              <a:t>中各个方向的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椭圆画法</a:t>
            </a:r>
            <a:r>
              <a:rPr lang="zh-CN" altLang="en-US" sz="2800" dirty="0">
                <a:latin typeface="宋体" pitchFamily="2" charset="-122"/>
              </a:rPr>
              <a:t>相对比较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简单</a:t>
            </a:r>
            <a:r>
              <a:rPr lang="zh-CN" altLang="en-US" sz="2800" dirty="0">
                <a:latin typeface="宋体" pitchFamily="2" charset="-122"/>
              </a:rPr>
              <a:t>，所以当物体各个方向都有圆时，一般都采用正等轴测图。</a:t>
            </a:r>
          </a:p>
        </p:txBody>
      </p:sp>
      <p:sp>
        <p:nvSpPr>
          <p:cNvPr id="5" name="Text Box 37"/>
          <p:cNvSpPr txBox="1">
            <a:spLocks noChangeArrowheads="1"/>
          </p:cNvSpPr>
          <p:nvPr/>
        </p:nvSpPr>
        <p:spPr bwMode="auto">
          <a:xfrm>
            <a:off x="4960937" y="542530"/>
            <a:ext cx="203773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本章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小结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189163" y="3867151"/>
            <a:ext cx="8032750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 </a:t>
            </a:r>
            <a:r>
              <a:rPr lang="en-US" altLang="zh-CN" sz="2800" dirty="0">
                <a:latin typeface="宋体" pitchFamily="2" charset="-122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斜二等轴测图：</a:t>
            </a:r>
            <a:endParaRPr lang="en-US" altLang="zh-CN" sz="2800" dirty="0">
              <a:solidFill>
                <a:srgbClr val="FF0000"/>
              </a:solidFill>
              <a:latin typeface="宋体" pitchFamily="2" charset="-122"/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latin typeface="宋体" pitchFamily="2" charset="-122"/>
              </a:rPr>
              <a:t>    </a:t>
            </a:r>
            <a:r>
              <a:rPr lang="zh-CN" altLang="en-US" sz="2800" dirty="0">
                <a:latin typeface="宋体" pitchFamily="2" charset="-122"/>
              </a:rPr>
              <a:t>优点是物体上凡是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平行</a:t>
            </a:r>
            <a:r>
              <a:rPr lang="zh-CN" altLang="en-US" sz="2800" dirty="0">
                <a:latin typeface="宋体" pitchFamily="2" charset="-122"/>
              </a:rPr>
              <a:t>于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投影面</a:t>
            </a:r>
            <a:r>
              <a:rPr lang="zh-CN" altLang="en-US" sz="2800" dirty="0">
                <a:latin typeface="宋体" pitchFamily="2" charset="-122"/>
              </a:rPr>
              <a:t>的平面在图上都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反映实形</a:t>
            </a:r>
            <a:r>
              <a:rPr lang="zh-CN" altLang="en-US" sz="2800" dirty="0">
                <a:latin typeface="宋体" pitchFamily="2" charset="-122"/>
              </a:rPr>
              <a:t>，因此，当物体只有一个方向的形状比较复杂，特别是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只有一个方向有圆</a:t>
            </a:r>
            <a:r>
              <a:rPr lang="zh-CN" altLang="en-US" sz="2800" dirty="0">
                <a:latin typeface="宋体" pitchFamily="2" charset="-122"/>
              </a:rPr>
              <a:t>时，常采用</a:t>
            </a:r>
            <a:r>
              <a:rPr lang="zh-CN" altLang="en-US" sz="2800" dirty="0">
                <a:solidFill>
                  <a:srgbClr val="FF0000"/>
                </a:solidFill>
                <a:latin typeface="宋体" pitchFamily="2" charset="-122"/>
              </a:rPr>
              <a:t>斜二等轴测图</a:t>
            </a:r>
            <a:endParaRPr lang="zh-CN" altLang="en-US" sz="2800" dirty="0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992438" y="4779963"/>
            <a:ext cx="7192962" cy="3651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2335213" y="5254625"/>
            <a:ext cx="189865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3472" y="1340768"/>
            <a:ext cx="8460940" cy="53530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3" name="Text Box 37"/>
          <p:cNvSpPr txBox="1">
            <a:spLocks noChangeArrowheads="1"/>
          </p:cNvSpPr>
          <p:nvPr/>
        </p:nvSpPr>
        <p:spPr bwMode="auto">
          <a:xfrm>
            <a:off x="4781550" y="512676"/>
            <a:ext cx="26289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轴测图 总结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beb1d2bd384255745fd1db9a42ffe2ef1c91f8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3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4856</TotalTime>
  <Words>1417</Words>
  <Application>Microsoft Office PowerPoint</Application>
  <PresentationFormat>宽屏</PresentationFormat>
  <Paragraphs>299</Paragraphs>
  <Slides>26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6" baseType="lpstr">
      <vt:lpstr>黑体</vt:lpstr>
      <vt:lpstr>华文行楷</vt:lpstr>
      <vt:lpstr>宋体</vt:lpstr>
      <vt:lpstr>Microsoft Yahei</vt:lpstr>
      <vt:lpstr>Arial</vt:lpstr>
      <vt:lpstr>Calibri</vt:lpstr>
      <vt:lpstr>Dutch801 Rm BT</vt:lpstr>
      <vt:lpstr>ISOCP</vt:lpstr>
      <vt:lpstr>ISOCPEUR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轴测图</dc:title>
  <dc:creator>穆浩志</dc:creator>
  <cp:keywords>天津理工大学</cp:keywords>
  <cp:lastModifiedBy>Lenovo</cp:lastModifiedBy>
  <cp:revision>330</cp:revision>
  <dcterms:created xsi:type="dcterms:W3CDTF">2014-03-20T09:34:50Z</dcterms:created>
  <dcterms:modified xsi:type="dcterms:W3CDTF">2021-03-09T05:46:20Z</dcterms:modified>
</cp:coreProperties>
</file>
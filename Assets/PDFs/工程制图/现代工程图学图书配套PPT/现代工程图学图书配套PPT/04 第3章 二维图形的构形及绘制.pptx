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1"/>
  </p:sldMasterIdLst>
  <p:notesMasterIdLst>
    <p:notesMasterId r:id="rId25"/>
  </p:notesMasterIdLst>
  <p:sldIdLst>
    <p:sldId id="302" r:id="rId2"/>
    <p:sldId id="290" r:id="rId3"/>
    <p:sldId id="292" r:id="rId4"/>
    <p:sldId id="293" r:id="rId5"/>
    <p:sldId id="275" r:id="rId6"/>
    <p:sldId id="277" r:id="rId7"/>
    <p:sldId id="307" r:id="rId8"/>
    <p:sldId id="308" r:id="rId9"/>
    <p:sldId id="309" r:id="rId10"/>
    <p:sldId id="310" r:id="rId11"/>
    <p:sldId id="306" r:id="rId12"/>
    <p:sldId id="295" r:id="rId13"/>
    <p:sldId id="296" r:id="rId14"/>
    <p:sldId id="285" r:id="rId15"/>
    <p:sldId id="286" r:id="rId16"/>
    <p:sldId id="287" r:id="rId17"/>
    <p:sldId id="288" r:id="rId18"/>
    <p:sldId id="311" r:id="rId19"/>
    <p:sldId id="312" r:id="rId20"/>
    <p:sldId id="301" r:id="rId21"/>
    <p:sldId id="303" r:id="rId22"/>
    <p:sldId id="304" r:id="rId23"/>
    <p:sldId id="305" r:id="rId24"/>
  </p:sldIdLst>
  <p:sldSz cx="12192000" cy="6858000"/>
  <p:notesSz cx="6858000" cy="9144000"/>
  <p:custDataLst>
    <p:tags r:id="rId2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6" autoAdjust="0"/>
    <p:restoredTop sz="94660"/>
  </p:normalViewPr>
  <p:slideViewPr>
    <p:cSldViewPr>
      <p:cViewPr varScale="1">
        <p:scale>
          <a:sx n="108" d="100"/>
          <a:sy n="108" d="100"/>
        </p:scale>
        <p:origin x="88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A54A1116-AC03-47C0-9953-0DA6FD037953}" type="datetimeFigureOut">
              <a:rPr lang="zh-CN" altLang="en-US"/>
              <a:pPr>
                <a:defRPr/>
              </a:pPr>
              <a:t>2020/5/19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D79C2110-2A0B-45F2-A2D3-DEBA8E8697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2847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06E2142-7730-429A-AEB0-9BB11BAA3664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958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26051A0-9881-4CC0-9C16-DEC73E262848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918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27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BF9BC1A-A717-45D0-9E24-E015DAB59AA1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35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90DD6E9-4238-4D9D-B95C-1F3CFC66274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4425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EBE1185-4EEA-41F7-AA8A-8B323E78F97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118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5451F2C-67E4-4B1F-8E6F-74D4E78C6697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2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B3271A5-454D-45BB-8AD4-743E213215C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721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0C16BC9-9CDB-4CA1-A34F-47C91853CCBA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296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9A2F9EF-DA84-48E5-9F4C-388EB118A451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56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94DFD46-4C23-42DD-BDF3-7CCAF3806246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2553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EEC1B7D-435C-49B2-A42D-FEF280A61B05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594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EEC1B7D-435C-49B2-A42D-FEF280A61B05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00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983A75C-3C4D-46DA-88E1-67A513069C35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802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ECD3A92-F628-4D88-8024-1EE8FBD12586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023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061C541-1CAA-461C-8BE9-07052DB2FBD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4809514-A76A-4E94-9553-225FCCA70F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1895342-551E-4D99-B914-9405651C46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82E5D11-0360-44B1-86EA-60C235DB0B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C1441C-2652-491B-BBC8-4E0C3F39FBE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9475" y="128933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jpe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audio" Target="../media/audio6.wav"/><Relationship Id="rId3" Type="http://schemas.openxmlformats.org/officeDocument/2006/relationships/audio" Target="../media/audio1.wav"/><Relationship Id="rId7" Type="http://schemas.openxmlformats.org/officeDocument/2006/relationships/audio" Target="../media/audio5.wav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audio" Target="../media/audio4.wav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56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jpe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74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13" Type="http://schemas.openxmlformats.org/officeDocument/2006/relationships/image" Target="../media/image86.jpeg"/><Relationship Id="rId3" Type="http://schemas.openxmlformats.org/officeDocument/2006/relationships/image" Target="../media/image76.jpeg"/><Relationship Id="rId7" Type="http://schemas.openxmlformats.org/officeDocument/2006/relationships/image" Target="../media/image80.jpeg"/><Relationship Id="rId12" Type="http://schemas.openxmlformats.org/officeDocument/2006/relationships/image" Target="../media/image8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jpeg"/><Relationship Id="rId11" Type="http://schemas.openxmlformats.org/officeDocument/2006/relationships/image" Target="../media/image84.jpeg"/><Relationship Id="rId5" Type="http://schemas.openxmlformats.org/officeDocument/2006/relationships/image" Target="../media/image78.jpeg"/><Relationship Id="rId10" Type="http://schemas.openxmlformats.org/officeDocument/2006/relationships/image" Target="../media/image83.jpeg"/><Relationship Id="rId4" Type="http://schemas.openxmlformats.org/officeDocument/2006/relationships/image" Target="../media/image77.jpeg"/><Relationship Id="rId9" Type="http://schemas.openxmlformats.org/officeDocument/2006/relationships/image" Target="../media/image82.jpeg"/><Relationship Id="rId14" Type="http://schemas.openxmlformats.org/officeDocument/2006/relationships/image" Target="../media/image8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1.jpeg"/><Relationship Id="rId4" Type="http://schemas.openxmlformats.org/officeDocument/2006/relationships/image" Target="../media/image9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711234" y="1672244"/>
            <a:ext cx="42672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重点内容</a:t>
            </a:r>
          </a:p>
          <a:p>
            <a:pPr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50"/>
          <p:cNvSpPr txBox="1">
            <a:spLocks noChangeArrowheads="1"/>
          </p:cNvSpPr>
          <p:nvPr/>
        </p:nvSpPr>
        <p:spPr bwMode="auto">
          <a:xfrm>
            <a:off x="1711234" y="2383439"/>
            <a:ext cx="8969052" cy="46166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152400" eaLnBrk="0" hangingPunct="0">
              <a:tabLst>
                <a:tab pos="2636838" algn="ctr"/>
                <a:tab pos="5273675" algn="r"/>
              </a:tabLst>
              <a:defRPr/>
            </a:pPr>
            <a:r>
              <a:rPr lang="zh-CN" altLang="en-US" sz="2400" dirty="0">
                <a:latin typeface="+mn-ea"/>
                <a:ea typeface="+mn-ea"/>
              </a:rPr>
              <a:t>绘制平面几何图形，会通过二维图形利用</a:t>
            </a:r>
            <a:r>
              <a:rPr lang="en-US" sz="2400" dirty="0">
                <a:latin typeface="+mn-ea"/>
                <a:ea typeface="+mn-ea"/>
              </a:rPr>
              <a:t>CAD</a:t>
            </a:r>
            <a:r>
              <a:rPr lang="zh-CN" altLang="en-US" sz="2400" dirty="0">
                <a:latin typeface="+mn-ea"/>
                <a:ea typeface="+mn-ea"/>
              </a:rPr>
              <a:t>软件构建三维实体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4" name="Rectangle 52"/>
          <p:cNvSpPr>
            <a:spLocks noChangeArrowheads="1"/>
          </p:cNvSpPr>
          <p:nvPr/>
        </p:nvSpPr>
        <p:spPr bwMode="auto">
          <a:xfrm>
            <a:off x="1792942" y="3238935"/>
            <a:ext cx="3409950" cy="571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20000"/>
              </a:spcBef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学习目标</a:t>
            </a:r>
          </a:p>
          <a:p>
            <a:pPr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>
              <a:buClr>
                <a:schemeClr val="tx1"/>
              </a:buClr>
              <a:buSzPct val="70000"/>
              <a:buFont typeface="Wingdings" pitchFamily="2" charset="2"/>
              <a:buNone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1792942" y="3943182"/>
            <a:ext cx="9257682" cy="1867242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  <a:ea typeface="+mn-ea"/>
              </a:rPr>
              <a:t>★</a:t>
            </a:r>
            <a:r>
              <a:rPr lang="zh-CN" altLang="en-US" sz="2400" dirty="0">
                <a:latin typeface="+mn-ea"/>
                <a:ea typeface="+mn-ea"/>
              </a:rPr>
              <a:t>理解掌握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二维图形构形方法</a:t>
            </a:r>
            <a:r>
              <a:rPr lang="zh-CN" altLang="en-US" sz="2400" dirty="0">
                <a:latin typeface="+mn-ea"/>
                <a:ea typeface="+mn-ea"/>
              </a:rPr>
              <a:t>，培养空间思维能力和创造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思维能力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latin typeface="+mn-ea"/>
                <a:ea typeface="+mn-ea"/>
              </a:rPr>
              <a:t>★</a:t>
            </a:r>
            <a:r>
              <a:rPr lang="zh-CN" altLang="en-US" sz="2400" dirty="0">
                <a:latin typeface="+mn-ea"/>
                <a:ea typeface="+mn-ea"/>
              </a:rPr>
              <a:t>会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绘制平面几何图形</a:t>
            </a:r>
            <a:r>
              <a:rPr lang="zh-CN" altLang="en-US" sz="2400" dirty="0">
                <a:latin typeface="+mn-ea"/>
                <a:ea typeface="+mn-ea"/>
              </a:rPr>
              <a:t>，会通过二维图形利用</a:t>
            </a:r>
            <a:r>
              <a:rPr lang="en-US" sz="2400" b="1" dirty="0">
                <a:solidFill>
                  <a:srgbClr val="FF0000"/>
                </a:solidFill>
                <a:latin typeface="+mn-ea"/>
                <a:ea typeface="+mn-ea"/>
              </a:rPr>
              <a:t>CAD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软件构建三维实体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zh-CN" altLang="en-US" sz="2400" dirty="0"/>
          </a:p>
        </p:txBody>
      </p:sp>
      <p:sp>
        <p:nvSpPr>
          <p:cNvPr id="6150" name="Text Box 55"/>
          <p:cNvSpPr txBox="1">
            <a:spLocks noChangeArrowheads="1"/>
          </p:cNvSpPr>
          <p:nvPr/>
        </p:nvSpPr>
        <p:spPr bwMode="auto">
          <a:xfrm>
            <a:off x="2057400" y="4114801"/>
            <a:ext cx="7824760" cy="366713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endParaRPr lang="zh-CN" altLang="en-US"/>
          </a:p>
        </p:txBody>
      </p:sp>
      <p:sp>
        <p:nvSpPr>
          <p:cNvPr id="12" name="Text Box 31"/>
          <p:cNvSpPr txBox="1">
            <a:spLocks noChangeArrowheads="1"/>
          </p:cNvSpPr>
          <p:nvPr/>
        </p:nvSpPr>
        <p:spPr bwMode="auto">
          <a:xfrm>
            <a:off x="3095625" y="415334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二维图形的构形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58" name="Text Box 234"/>
          <p:cNvSpPr txBox="1">
            <a:spLocks noChangeArrowheads="1"/>
          </p:cNvSpPr>
          <p:nvPr/>
        </p:nvSpPr>
        <p:spPr bwMode="auto">
          <a:xfrm>
            <a:off x="1336274" y="1777377"/>
            <a:ext cx="233910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一、正多边形</a:t>
            </a:r>
          </a:p>
        </p:txBody>
      </p:sp>
      <p:sp>
        <p:nvSpPr>
          <p:cNvPr id="52459" name="Text Box 235"/>
          <p:cNvSpPr txBox="1">
            <a:spLocks noChangeArrowheads="1"/>
          </p:cNvSpPr>
          <p:nvPr/>
        </p:nvSpPr>
        <p:spPr bwMode="auto">
          <a:xfrm>
            <a:off x="1693465" y="2420320"/>
            <a:ext cx="1877437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⒈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正六边形</a:t>
            </a:r>
          </a:p>
        </p:txBody>
      </p:sp>
      <p:sp>
        <p:nvSpPr>
          <p:cNvPr id="63" name="Text Box 31"/>
          <p:cNvSpPr txBox="1">
            <a:spLocks noChangeArrowheads="1"/>
          </p:cNvSpPr>
          <p:nvPr/>
        </p:nvSpPr>
        <p:spPr bwMode="auto">
          <a:xfrm>
            <a:off x="3167042" y="272458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7231" name="Picture 6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19024" y="3009551"/>
            <a:ext cx="236220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32" name="Picture 6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94891" y="3121932"/>
            <a:ext cx="199072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33" name="Picture 6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23171" y="3581055"/>
            <a:ext cx="172402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34" name="Picture 6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90354" y="5050766"/>
            <a:ext cx="376237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35" name="Picture 6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49415" y="3185457"/>
            <a:ext cx="1354712" cy="230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9" name="直接连接符 68"/>
          <p:cNvCxnSpPr/>
          <p:nvPr/>
        </p:nvCxnSpPr>
        <p:spPr>
          <a:xfrm rot="5280000" flipH="1" flipV="1">
            <a:off x="3295208" y="3447704"/>
            <a:ext cx="785818" cy="5000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6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60464" y="3265156"/>
            <a:ext cx="13049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1" name="直接连接符 70"/>
          <p:cNvCxnSpPr/>
          <p:nvPr/>
        </p:nvCxnSpPr>
        <p:spPr>
          <a:xfrm rot="5280000" flipH="1" flipV="1">
            <a:off x="4724829" y="4279473"/>
            <a:ext cx="785818" cy="5000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2" name="Picture 6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flipH="1">
            <a:off x="4791277" y="3181016"/>
            <a:ext cx="1332000" cy="2298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3" name="直接连接符 72"/>
          <p:cNvCxnSpPr/>
          <p:nvPr/>
        </p:nvCxnSpPr>
        <p:spPr>
          <a:xfrm rot="16140000" flipV="1">
            <a:off x="4678934" y="3475882"/>
            <a:ext cx="874230" cy="4560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Picture 67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flipH="1">
            <a:off x="2889441" y="3208624"/>
            <a:ext cx="1314087" cy="22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6" name="直接连接符 75"/>
          <p:cNvCxnSpPr/>
          <p:nvPr/>
        </p:nvCxnSpPr>
        <p:spPr>
          <a:xfrm rot="16080000" flipV="1">
            <a:off x="3250436" y="4308825"/>
            <a:ext cx="864000" cy="432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/>
          <p:cNvCxnSpPr/>
          <p:nvPr/>
        </p:nvCxnSpPr>
        <p:spPr>
          <a:xfrm rot="10800000">
            <a:off x="3931480" y="3281016"/>
            <a:ext cx="957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rot="10800000">
            <a:off x="3919100" y="4944726"/>
            <a:ext cx="9576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Picture 6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248128" y="3009551"/>
            <a:ext cx="236220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" name="Picture 6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23995" y="3121932"/>
            <a:ext cx="1990725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36" name="Picture 6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99057" y="3230215"/>
            <a:ext cx="5810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4" name="Picture 68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10800000">
            <a:off x="7894229" y="3249265"/>
            <a:ext cx="581025" cy="172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237" name="Picture 69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22730" y="3198465"/>
            <a:ext cx="2044700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Text Box 234">
            <a:extLst>
              <a:ext uri="{FF2B5EF4-FFF2-40B4-BE49-F238E27FC236}">
                <a16:creationId xmlns:a16="http://schemas.microsoft.com/office/drawing/2014/main" id="{D168907A-D8B1-4F36-A6B4-462BBC1AD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2411" y="1387696"/>
            <a:ext cx="7447064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机件轮廓形状各不相同，但基本由基本几何图形构成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F9EFF3-2D22-420E-8F26-A180BF9EBA1D}"/>
              </a:ext>
            </a:extLst>
          </p:cNvPr>
          <p:cNvSpPr/>
          <p:nvPr/>
        </p:nvSpPr>
        <p:spPr>
          <a:xfrm>
            <a:off x="1510801" y="820323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为什么学？</a:t>
            </a:r>
            <a:endParaRPr lang="en-US" altLang="zh-CN" sz="28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5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500"/>
                                        <p:tgtEl>
                                          <p:spTgt spid="7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1000"/>
                                        <p:tgtEl>
                                          <p:spTgt spid="7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7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7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58" grpId="0" autoUpdateAnimBg="0"/>
      <p:bldP spid="52459" grpId="0" autoUpdateAnimBg="0"/>
      <p:bldP spid="24" grpId="0" autoUpdateAnimBg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98" name="Line 150"/>
          <p:cNvSpPr>
            <a:spLocks noChangeShapeType="1"/>
          </p:cNvSpPr>
          <p:nvPr/>
        </p:nvSpPr>
        <p:spPr bwMode="auto">
          <a:xfrm flipV="1">
            <a:off x="7089775" y="4021136"/>
            <a:ext cx="2254250" cy="449262"/>
          </a:xfrm>
          <a:prstGeom prst="line">
            <a:avLst/>
          </a:prstGeom>
          <a:noFill/>
          <a:ln w="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2" name="Group 258"/>
          <p:cNvGrpSpPr>
            <a:grpSpLocks/>
          </p:cNvGrpSpPr>
          <p:nvPr/>
        </p:nvGrpSpPr>
        <p:grpSpPr bwMode="auto">
          <a:xfrm>
            <a:off x="7089775" y="4471987"/>
            <a:ext cx="2255838" cy="534987"/>
            <a:chOff x="3506" y="2741"/>
            <a:chExt cx="1421" cy="337"/>
          </a:xfrm>
        </p:grpSpPr>
        <p:sp>
          <p:nvSpPr>
            <p:cNvPr id="8274" name="Line 152"/>
            <p:cNvSpPr>
              <a:spLocks noChangeShapeType="1"/>
            </p:cNvSpPr>
            <p:nvPr/>
          </p:nvSpPr>
          <p:spPr bwMode="auto">
            <a:xfrm>
              <a:off x="3506" y="2741"/>
              <a:ext cx="2" cy="3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75" name="Rectangle 162"/>
            <p:cNvSpPr>
              <a:spLocks noChangeArrowheads="1"/>
            </p:cNvSpPr>
            <p:nvPr/>
          </p:nvSpPr>
          <p:spPr bwMode="auto">
            <a:xfrm>
              <a:off x="3990" y="2790"/>
              <a:ext cx="41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ISOCPEUR" pitchFamily="34" charset="0"/>
                </a:rPr>
                <a:t>5</a:t>
              </a:r>
              <a:r>
                <a:rPr lang="zh-CN" altLang="en-US" sz="2000" dirty="0">
                  <a:solidFill>
                    <a:srgbClr val="FF0000"/>
                  </a:solidFill>
                  <a:latin typeface="ISOCPEUR" pitchFamily="34" charset="0"/>
                </a:rPr>
                <a:t>单位</a:t>
              </a:r>
            </a:p>
          </p:txBody>
        </p:sp>
        <p:sp>
          <p:nvSpPr>
            <p:cNvPr id="8276" name="Line 178"/>
            <p:cNvSpPr>
              <a:spLocks noChangeShapeType="1"/>
            </p:cNvSpPr>
            <p:nvPr/>
          </p:nvSpPr>
          <p:spPr bwMode="auto">
            <a:xfrm>
              <a:off x="4926" y="2741"/>
              <a:ext cx="1" cy="2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8277" name="Group 231"/>
            <p:cNvGrpSpPr>
              <a:grpSpLocks/>
            </p:cNvGrpSpPr>
            <p:nvPr/>
          </p:nvGrpSpPr>
          <p:grpSpPr bwMode="auto">
            <a:xfrm>
              <a:off x="3506" y="3011"/>
              <a:ext cx="1421" cy="29"/>
              <a:chOff x="3506" y="2883"/>
              <a:chExt cx="1421" cy="29"/>
            </a:xfrm>
          </p:grpSpPr>
          <p:sp>
            <p:nvSpPr>
              <p:cNvPr id="8278" name="Line 151"/>
              <p:cNvSpPr>
                <a:spLocks noChangeShapeType="1"/>
              </p:cNvSpPr>
              <p:nvPr/>
            </p:nvSpPr>
            <p:spPr bwMode="auto">
              <a:xfrm>
                <a:off x="3595" y="2897"/>
                <a:ext cx="1243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279" name="Freeform 153"/>
              <p:cNvSpPr>
                <a:spLocks/>
              </p:cNvSpPr>
              <p:nvPr/>
            </p:nvSpPr>
            <p:spPr bwMode="auto">
              <a:xfrm>
                <a:off x="3506" y="2883"/>
                <a:ext cx="89" cy="29"/>
              </a:xfrm>
              <a:custGeom>
                <a:avLst/>
                <a:gdLst>
                  <a:gd name="T0" fmla="*/ 0 w 227"/>
                  <a:gd name="T1" fmla="*/ 0 h 75"/>
                  <a:gd name="T2" fmla="*/ 0 w 227"/>
                  <a:gd name="T3" fmla="*/ 0 h 75"/>
                  <a:gd name="T4" fmla="*/ 0 w 227"/>
                  <a:gd name="T5" fmla="*/ 0 h 75"/>
                  <a:gd name="T6" fmla="*/ 0 w 227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7"/>
                  <a:gd name="T13" fmla="*/ 0 h 75"/>
                  <a:gd name="T14" fmla="*/ 227 w 227"/>
                  <a:gd name="T15" fmla="*/ 75 h 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7" h="75">
                    <a:moveTo>
                      <a:pt x="227" y="0"/>
                    </a:moveTo>
                    <a:lnTo>
                      <a:pt x="227" y="75"/>
                    </a:lnTo>
                    <a:lnTo>
                      <a:pt x="0" y="37"/>
                    </a:lnTo>
                    <a:lnTo>
                      <a:pt x="227" y="0"/>
                    </a:lnTo>
                    <a:close/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280" name="Freeform 154"/>
              <p:cNvSpPr>
                <a:spLocks/>
              </p:cNvSpPr>
              <p:nvPr/>
            </p:nvSpPr>
            <p:spPr bwMode="auto">
              <a:xfrm>
                <a:off x="3506" y="2883"/>
                <a:ext cx="89" cy="29"/>
              </a:xfrm>
              <a:custGeom>
                <a:avLst/>
                <a:gdLst>
                  <a:gd name="T0" fmla="*/ 0 w 227"/>
                  <a:gd name="T1" fmla="*/ 0 h 75"/>
                  <a:gd name="T2" fmla="*/ 0 w 227"/>
                  <a:gd name="T3" fmla="*/ 0 h 75"/>
                  <a:gd name="T4" fmla="*/ 0 w 227"/>
                  <a:gd name="T5" fmla="*/ 0 h 75"/>
                  <a:gd name="T6" fmla="*/ 0 w 227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7"/>
                  <a:gd name="T13" fmla="*/ 0 h 75"/>
                  <a:gd name="T14" fmla="*/ 227 w 227"/>
                  <a:gd name="T15" fmla="*/ 75 h 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7" h="75">
                    <a:moveTo>
                      <a:pt x="227" y="0"/>
                    </a:moveTo>
                    <a:lnTo>
                      <a:pt x="227" y="75"/>
                    </a:lnTo>
                    <a:lnTo>
                      <a:pt x="0" y="37"/>
                    </a:lnTo>
                    <a:lnTo>
                      <a:pt x="227" y="0"/>
                    </a:lnTo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281" name="Freeform 179"/>
              <p:cNvSpPr>
                <a:spLocks/>
              </p:cNvSpPr>
              <p:nvPr/>
            </p:nvSpPr>
            <p:spPr bwMode="auto">
              <a:xfrm>
                <a:off x="4838" y="2883"/>
                <a:ext cx="88" cy="29"/>
              </a:xfrm>
              <a:custGeom>
                <a:avLst/>
                <a:gdLst>
                  <a:gd name="T0" fmla="*/ 0 w 226"/>
                  <a:gd name="T1" fmla="*/ 0 h 75"/>
                  <a:gd name="T2" fmla="*/ 0 w 226"/>
                  <a:gd name="T3" fmla="*/ 0 h 75"/>
                  <a:gd name="T4" fmla="*/ 0 w 226"/>
                  <a:gd name="T5" fmla="*/ 0 h 75"/>
                  <a:gd name="T6" fmla="*/ 0 w 226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6"/>
                  <a:gd name="T13" fmla="*/ 0 h 75"/>
                  <a:gd name="T14" fmla="*/ 226 w 226"/>
                  <a:gd name="T15" fmla="*/ 75 h 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6" h="75">
                    <a:moveTo>
                      <a:pt x="0" y="0"/>
                    </a:moveTo>
                    <a:lnTo>
                      <a:pt x="0" y="75"/>
                    </a:lnTo>
                    <a:lnTo>
                      <a:pt x="226" y="3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282" name="Freeform 180"/>
              <p:cNvSpPr>
                <a:spLocks/>
              </p:cNvSpPr>
              <p:nvPr/>
            </p:nvSpPr>
            <p:spPr bwMode="auto">
              <a:xfrm>
                <a:off x="4838" y="2883"/>
                <a:ext cx="88" cy="29"/>
              </a:xfrm>
              <a:custGeom>
                <a:avLst/>
                <a:gdLst>
                  <a:gd name="T0" fmla="*/ 0 w 226"/>
                  <a:gd name="T1" fmla="*/ 0 h 75"/>
                  <a:gd name="T2" fmla="*/ 0 w 226"/>
                  <a:gd name="T3" fmla="*/ 0 h 75"/>
                  <a:gd name="T4" fmla="*/ 0 w 226"/>
                  <a:gd name="T5" fmla="*/ 0 h 75"/>
                  <a:gd name="T6" fmla="*/ 0 w 226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26"/>
                  <a:gd name="T13" fmla="*/ 0 h 75"/>
                  <a:gd name="T14" fmla="*/ 226 w 226"/>
                  <a:gd name="T15" fmla="*/ 75 h 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26" h="75">
                    <a:moveTo>
                      <a:pt x="0" y="0"/>
                    </a:moveTo>
                    <a:lnTo>
                      <a:pt x="0" y="75"/>
                    </a:lnTo>
                    <a:lnTo>
                      <a:pt x="226" y="37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283" name="Line 181"/>
              <p:cNvSpPr>
                <a:spLocks noChangeShapeType="1"/>
              </p:cNvSpPr>
              <p:nvPr/>
            </p:nvSpPr>
            <p:spPr bwMode="auto">
              <a:xfrm>
                <a:off x="4926" y="2897"/>
                <a:ext cx="1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</p:grpSp>
      <p:sp>
        <p:nvSpPr>
          <p:cNvPr id="8196" name="Text Box 194"/>
          <p:cNvSpPr txBox="1">
            <a:spLocks noChangeArrowheads="1"/>
          </p:cNvSpPr>
          <p:nvPr/>
        </p:nvSpPr>
        <p:spPr bwMode="auto">
          <a:xfrm>
            <a:off x="1383219" y="861495"/>
            <a:ext cx="2698175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二、斜度与锥度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3443" name="Text Box 195"/>
          <p:cNvSpPr txBox="1">
            <a:spLocks noChangeArrowheads="1"/>
          </p:cNvSpPr>
          <p:nvPr/>
        </p:nvSpPr>
        <p:spPr bwMode="auto">
          <a:xfrm>
            <a:off x="1383219" y="1626532"/>
            <a:ext cx="1192955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/>
              <a:t>⒈ </a:t>
            </a:r>
            <a:r>
              <a:rPr lang="zh-CN" altLang="en-US" sz="2400" dirty="0"/>
              <a:t>斜度</a:t>
            </a:r>
          </a:p>
        </p:txBody>
      </p:sp>
      <p:sp>
        <p:nvSpPr>
          <p:cNvPr id="53444" name="Text Box 196"/>
          <p:cNvSpPr txBox="1">
            <a:spLocks noChangeArrowheads="1"/>
          </p:cNvSpPr>
          <p:nvPr/>
        </p:nvSpPr>
        <p:spPr bwMode="auto">
          <a:xfrm>
            <a:off x="5095869" y="1857365"/>
            <a:ext cx="3929089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</a:rPr>
              <a:t>斜度是指直线或平面对另一直线或平面的倾斜程度。</a:t>
            </a:r>
          </a:p>
        </p:txBody>
      </p:sp>
      <p:sp>
        <p:nvSpPr>
          <p:cNvPr id="53446" name="Text Box 198"/>
          <p:cNvSpPr txBox="1">
            <a:spLocks noChangeArrowheads="1"/>
          </p:cNvSpPr>
          <p:nvPr/>
        </p:nvSpPr>
        <p:spPr bwMode="auto">
          <a:xfrm>
            <a:off x="5091916" y="2714621"/>
            <a:ext cx="3004349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斜度</a:t>
            </a:r>
            <a:r>
              <a:rPr lang="en-US" altLang="zh-CN" sz="2400" dirty="0">
                <a:solidFill>
                  <a:srgbClr val="FF0000"/>
                </a:solidFill>
              </a:rPr>
              <a:t>=</a:t>
            </a:r>
            <a:r>
              <a:rPr lang="en-US" altLang="zh-CN" sz="2400" dirty="0" err="1">
                <a:solidFill>
                  <a:srgbClr val="FF0000"/>
                </a:solidFill>
              </a:rPr>
              <a:t>tg</a:t>
            </a:r>
            <a:r>
              <a:rPr lang="en-US" altLang="zh-CN" sz="2400" dirty="0" err="1">
                <a:solidFill>
                  <a:srgbClr val="FF0000"/>
                </a:solidFill>
                <a:latin typeface="Symbol" pitchFamily="18" charset="2"/>
              </a:rPr>
              <a:t>a</a:t>
            </a:r>
            <a:r>
              <a:rPr lang="en-US" altLang="zh-CN" sz="2400" dirty="0">
                <a:solidFill>
                  <a:srgbClr val="FF0000"/>
                </a:solidFill>
              </a:rPr>
              <a:t>=H:L=1:H/L</a:t>
            </a:r>
          </a:p>
        </p:txBody>
      </p:sp>
      <p:grpSp>
        <p:nvGrpSpPr>
          <p:cNvPr id="4" name="Group 256"/>
          <p:cNvGrpSpPr>
            <a:grpSpLocks/>
          </p:cNvGrpSpPr>
          <p:nvPr/>
        </p:nvGrpSpPr>
        <p:grpSpPr bwMode="auto">
          <a:xfrm>
            <a:off x="2606676" y="2232050"/>
            <a:ext cx="1787525" cy="1174749"/>
            <a:chOff x="682" y="1055"/>
            <a:chExt cx="1126" cy="740"/>
          </a:xfrm>
        </p:grpSpPr>
        <p:sp>
          <p:nvSpPr>
            <p:cNvPr id="8267" name="Line 100"/>
            <p:cNvSpPr>
              <a:spLocks noChangeShapeType="1"/>
            </p:cNvSpPr>
            <p:nvPr/>
          </p:nvSpPr>
          <p:spPr bwMode="auto">
            <a:xfrm>
              <a:off x="682" y="1552"/>
              <a:ext cx="915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68" name="Line 101"/>
            <p:cNvSpPr>
              <a:spLocks noChangeShapeType="1"/>
            </p:cNvSpPr>
            <p:nvPr/>
          </p:nvSpPr>
          <p:spPr bwMode="auto">
            <a:xfrm flipV="1">
              <a:off x="682" y="1055"/>
              <a:ext cx="908" cy="4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69" name="Rectangle 103"/>
            <p:cNvSpPr>
              <a:spLocks noChangeArrowheads="1"/>
            </p:cNvSpPr>
            <p:nvPr/>
          </p:nvSpPr>
          <p:spPr bwMode="auto">
            <a:xfrm>
              <a:off x="1109" y="1562"/>
              <a:ext cx="8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 i="1">
                  <a:solidFill>
                    <a:srgbClr val="000000"/>
                  </a:solidFill>
                  <a:latin typeface="ISOCPEUR" pitchFamily="34" charset="0"/>
                </a:rPr>
                <a:t>L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8270" name="Rectangle 110"/>
            <p:cNvSpPr>
              <a:spLocks noChangeArrowheads="1"/>
            </p:cNvSpPr>
            <p:nvPr/>
          </p:nvSpPr>
          <p:spPr bwMode="auto">
            <a:xfrm>
              <a:off x="1089" y="1317"/>
              <a:ext cx="1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 i="1">
                  <a:solidFill>
                    <a:srgbClr val="000000"/>
                  </a:solidFill>
                  <a:latin typeface="Symbol" pitchFamily="18" charset="2"/>
                </a:rPr>
                <a:t>a</a:t>
              </a:r>
              <a:endParaRPr lang="en-US" altLang="zh-CN" sz="2400" i="1"/>
            </a:p>
          </p:txBody>
        </p:sp>
        <p:sp>
          <p:nvSpPr>
            <p:cNvPr id="8271" name="Rectangle 113"/>
            <p:cNvSpPr>
              <a:spLocks noChangeArrowheads="1"/>
            </p:cNvSpPr>
            <p:nvPr/>
          </p:nvSpPr>
          <p:spPr bwMode="auto">
            <a:xfrm rot="16200000">
              <a:off x="1631" y="1204"/>
              <a:ext cx="12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 i="1">
                  <a:solidFill>
                    <a:srgbClr val="000000"/>
                  </a:solidFill>
                  <a:latin typeface="ISOCPEUR" pitchFamily="34" charset="0"/>
                </a:rPr>
                <a:t>H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8272" name="Line 114"/>
            <p:cNvSpPr>
              <a:spLocks noChangeShapeType="1"/>
            </p:cNvSpPr>
            <p:nvPr/>
          </p:nvSpPr>
          <p:spPr bwMode="auto">
            <a:xfrm flipV="1">
              <a:off x="1590" y="1055"/>
              <a:ext cx="1" cy="49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73" name="Freeform 213"/>
            <p:cNvSpPr>
              <a:spLocks/>
            </p:cNvSpPr>
            <p:nvPr/>
          </p:nvSpPr>
          <p:spPr bwMode="auto">
            <a:xfrm>
              <a:off x="960" y="1334"/>
              <a:ext cx="23" cy="291"/>
            </a:xfrm>
            <a:custGeom>
              <a:avLst/>
              <a:gdLst>
                <a:gd name="T0" fmla="*/ 0 w 48"/>
                <a:gd name="T1" fmla="*/ 0 h 152"/>
                <a:gd name="T2" fmla="*/ 32 w 48"/>
                <a:gd name="T3" fmla="*/ 72 h 152"/>
                <a:gd name="T4" fmla="*/ 48 w 48"/>
                <a:gd name="T5" fmla="*/ 152 h 152"/>
                <a:gd name="T6" fmla="*/ 0 60000 65536"/>
                <a:gd name="T7" fmla="*/ 0 60000 65536"/>
                <a:gd name="T8" fmla="*/ 0 60000 65536"/>
                <a:gd name="T9" fmla="*/ 0 w 48"/>
                <a:gd name="T10" fmla="*/ 0 h 152"/>
                <a:gd name="T11" fmla="*/ 48 w 48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52">
                  <a:moveTo>
                    <a:pt x="0" y="0"/>
                  </a:moveTo>
                  <a:cubicBezTo>
                    <a:pt x="5" y="12"/>
                    <a:pt x="24" y="47"/>
                    <a:pt x="32" y="72"/>
                  </a:cubicBezTo>
                  <a:cubicBezTo>
                    <a:pt x="40" y="97"/>
                    <a:pt x="45" y="135"/>
                    <a:pt x="48" y="152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zh-CN" altLang="en-US" sz="2400"/>
            </a:p>
          </p:txBody>
        </p:sp>
      </p:grpSp>
      <p:sp>
        <p:nvSpPr>
          <p:cNvPr id="53467" name="Line 219"/>
          <p:cNvSpPr>
            <a:spLocks noChangeShapeType="1"/>
          </p:cNvSpPr>
          <p:nvPr/>
        </p:nvSpPr>
        <p:spPr bwMode="auto">
          <a:xfrm flipV="1">
            <a:off x="6478588" y="3517899"/>
            <a:ext cx="2874962" cy="57467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2400"/>
          </a:p>
        </p:txBody>
      </p:sp>
      <p:grpSp>
        <p:nvGrpSpPr>
          <p:cNvPr id="5" name="Group 234"/>
          <p:cNvGrpSpPr>
            <a:grpSpLocks/>
          </p:cNvGrpSpPr>
          <p:nvPr/>
        </p:nvGrpSpPr>
        <p:grpSpPr bwMode="auto">
          <a:xfrm>
            <a:off x="6480175" y="3263898"/>
            <a:ext cx="2876550" cy="1219200"/>
            <a:chOff x="3122" y="1980"/>
            <a:chExt cx="1812" cy="768"/>
          </a:xfrm>
        </p:grpSpPr>
        <p:sp>
          <p:nvSpPr>
            <p:cNvPr id="8264" name="Line 222"/>
            <p:cNvSpPr>
              <a:spLocks noChangeShapeType="1"/>
            </p:cNvSpPr>
            <p:nvPr/>
          </p:nvSpPr>
          <p:spPr bwMode="auto">
            <a:xfrm>
              <a:off x="3122" y="2748"/>
              <a:ext cx="1810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8265" name="Line 220"/>
            <p:cNvSpPr>
              <a:spLocks noChangeShapeType="1"/>
            </p:cNvSpPr>
            <p:nvPr/>
          </p:nvSpPr>
          <p:spPr bwMode="auto">
            <a:xfrm flipV="1">
              <a:off x="4931" y="1980"/>
              <a:ext cx="3" cy="76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66" name="Line 221"/>
            <p:cNvSpPr>
              <a:spLocks noChangeShapeType="1"/>
            </p:cNvSpPr>
            <p:nvPr/>
          </p:nvSpPr>
          <p:spPr bwMode="auto">
            <a:xfrm>
              <a:off x="3122" y="2502"/>
              <a:ext cx="0" cy="24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</p:grpSp>
      <p:grpSp>
        <p:nvGrpSpPr>
          <p:cNvPr id="6" name="Group 226"/>
          <p:cNvGrpSpPr>
            <a:grpSpLocks/>
          </p:cNvGrpSpPr>
          <p:nvPr/>
        </p:nvGrpSpPr>
        <p:grpSpPr bwMode="auto">
          <a:xfrm>
            <a:off x="6480175" y="3513136"/>
            <a:ext cx="2876550" cy="965200"/>
            <a:chOff x="681" y="1754"/>
            <a:chExt cx="1812" cy="608"/>
          </a:xfrm>
        </p:grpSpPr>
        <p:sp>
          <p:nvSpPr>
            <p:cNvPr id="8260" name="Line 227"/>
            <p:cNvSpPr>
              <a:spLocks noChangeShapeType="1"/>
            </p:cNvSpPr>
            <p:nvPr/>
          </p:nvSpPr>
          <p:spPr bwMode="auto">
            <a:xfrm flipV="1">
              <a:off x="681" y="1754"/>
              <a:ext cx="1811" cy="3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61" name="Line 228"/>
            <p:cNvSpPr>
              <a:spLocks noChangeShapeType="1"/>
            </p:cNvSpPr>
            <p:nvPr/>
          </p:nvSpPr>
          <p:spPr bwMode="auto">
            <a:xfrm flipV="1">
              <a:off x="2491" y="1754"/>
              <a:ext cx="2" cy="6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62" name="Line 229"/>
            <p:cNvSpPr>
              <a:spLocks noChangeShapeType="1"/>
            </p:cNvSpPr>
            <p:nvPr/>
          </p:nvSpPr>
          <p:spPr bwMode="auto">
            <a:xfrm>
              <a:off x="682" y="2116"/>
              <a:ext cx="0" cy="2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  <p:sp>
          <p:nvSpPr>
            <p:cNvPr id="8263" name="Line 230"/>
            <p:cNvSpPr>
              <a:spLocks noChangeShapeType="1"/>
            </p:cNvSpPr>
            <p:nvPr/>
          </p:nvSpPr>
          <p:spPr bwMode="auto">
            <a:xfrm>
              <a:off x="682" y="2362"/>
              <a:ext cx="181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</p:grpSp>
      <p:grpSp>
        <p:nvGrpSpPr>
          <p:cNvPr id="7" name="Group 264"/>
          <p:cNvGrpSpPr>
            <a:grpSpLocks/>
          </p:cNvGrpSpPr>
          <p:nvPr/>
        </p:nvGrpSpPr>
        <p:grpSpPr bwMode="auto">
          <a:xfrm>
            <a:off x="9344025" y="3224212"/>
            <a:ext cx="508000" cy="1247775"/>
            <a:chOff x="4926" y="1955"/>
            <a:chExt cx="320" cy="786"/>
          </a:xfrm>
        </p:grpSpPr>
        <p:sp>
          <p:nvSpPr>
            <p:cNvPr id="8252" name="Rectangle 176"/>
            <p:cNvSpPr>
              <a:spLocks noChangeArrowheads="1"/>
            </p:cNvSpPr>
            <p:nvPr/>
          </p:nvSpPr>
          <p:spPr bwMode="auto">
            <a:xfrm rot="16200000">
              <a:off x="4866" y="2100"/>
              <a:ext cx="413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dirty="0">
                  <a:solidFill>
                    <a:srgbClr val="FF0000"/>
                  </a:solidFill>
                  <a:latin typeface="ISOCPEUR" pitchFamily="34" charset="0"/>
                </a:rPr>
                <a:t>1</a:t>
              </a:r>
              <a:r>
                <a:rPr lang="zh-CN" altLang="en-US" sz="2000" dirty="0">
                  <a:solidFill>
                    <a:srgbClr val="FF0000"/>
                  </a:solidFill>
                  <a:latin typeface="ISOCPEUR" pitchFamily="34" charset="0"/>
                </a:rPr>
                <a:t>单位</a:t>
              </a:r>
            </a:p>
          </p:txBody>
        </p:sp>
        <p:sp>
          <p:nvSpPr>
            <p:cNvPr id="8253" name="Line 173"/>
            <p:cNvSpPr>
              <a:spLocks noChangeShapeType="1"/>
            </p:cNvSpPr>
            <p:nvPr/>
          </p:nvSpPr>
          <p:spPr bwMode="auto">
            <a:xfrm>
              <a:off x="4926" y="2457"/>
              <a:ext cx="30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54" name="Line 174"/>
            <p:cNvSpPr>
              <a:spLocks noChangeShapeType="1"/>
            </p:cNvSpPr>
            <p:nvPr/>
          </p:nvSpPr>
          <p:spPr bwMode="auto">
            <a:xfrm>
              <a:off x="4926" y="2741"/>
              <a:ext cx="3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8255" name="Group 263"/>
            <p:cNvGrpSpPr>
              <a:grpSpLocks/>
            </p:cNvGrpSpPr>
            <p:nvPr/>
          </p:nvGrpSpPr>
          <p:grpSpPr bwMode="auto">
            <a:xfrm>
              <a:off x="5175" y="2457"/>
              <a:ext cx="30" cy="284"/>
              <a:chOff x="5175" y="2457"/>
              <a:chExt cx="30" cy="284"/>
            </a:xfrm>
          </p:grpSpPr>
          <p:sp>
            <p:nvSpPr>
              <p:cNvPr id="8257" name="Freeform 169"/>
              <p:cNvSpPr>
                <a:spLocks/>
              </p:cNvSpPr>
              <p:nvPr/>
            </p:nvSpPr>
            <p:spPr bwMode="auto">
              <a:xfrm>
                <a:off x="5175" y="2457"/>
                <a:ext cx="30" cy="89"/>
              </a:xfrm>
              <a:custGeom>
                <a:avLst/>
                <a:gdLst>
                  <a:gd name="T0" fmla="*/ 0 w 75"/>
                  <a:gd name="T1" fmla="*/ 0 h 226"/>
                  <a:gd name="T2" fmla="*/ 0 w 75"/>
                  <a:gd name="T3" fmla="*/ 0 h 226"/>
                  <a:gd name="T4" fmla="*/ 0 w 75"/>
                  <a:gd name="T5" fmla="*/ 0 h 226"/>
                  <a:gd name="T6" fmla="*/ 0 w 75"/>
                  <a:gd name="T7" fmla="*/ 0 h 2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226"/>
                  <a:gd name="T14" fmla="*/ 75 w 75"/>
                  <a:gd name="T15" fmla="*/ 226 h 2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226">
                    <a:moveTo>
                      <a:pt x="0" y="226"/>
                    </a:moveTo>
                    <a:lnTo>
                      <a:pt x="75" y="226"/>
                    </a:lnTo>
                    <a:lnTo>
                      <a:pt x="38" y="0"/>
                    </a:lnTo>
                    <a:lnTo>
                      <a:pt x="0" y="226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258" name="Freeform 171"/>
              <p:cNvSpPr>
                <a:spLocks/>
              </p:cNvSpPr>
              <p:nvPr/>
            </p:nvSpPr>
            <p:spPr bwMode="auto">
              <a:xfrm>
                <a:off x="5175" y="2652"/>
                <a:ext cx="30" cy="89"/>
              </a:xfrm>
              <a:custGeom>
                <a:avLst/>
                <a:gdLst>
                  <a:gd name="T0" fmla="*/ 0 w 75"/>
                  <a:gd name="T1" fmla="*/ 0 h 227"/>
                  <a:gd name="T2" fmla="*/ 0 w 75"/>
                  <a:gd name="T3" fmla="*/ 0 h 227"/>
                  <a:gd name="T4" fmla="*/ 0 w 75"/>
                  <a:gd name="T5" fmla="*/ 0 h 227"/>
                  <a:gd name="T6" fmla="*/ 0 w 75"/>
                  <a:gd name="T7" fmla="*/ 0 h 2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227"/>
                  <a:gd name="T14" fmla="*/ 75 w 75"/>
                  <a:gd name="T15" fmla="*/ 227 h 2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227">
                    <a:moveTo>
                      <a:pt x="0" y="0"/>
                    </a:moveTo>
                    <a:lnTo>
                      <a:pt x="75" y="0"/>
                    </a:lnTo>
                    <a:lnTo>
                      <a:pt x="38" y="2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  <p:sp>
            <p:nvSpPr>
              <p:cNvPr id="8259" name="Line 189"/>
              <p:cNvSpPr>
                <a:spLocks noChangeShapeType="1"/>
              </p:cNvSpPr>
              <p:nvPr/>
            </p:nvSpPr>
            <p:spPr bwMode="auto">
              <a:xfrm>
                <a:off x="5190" y="2546"/>
                <a:ext cx="1" cy="10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 sz="2400"/>
              </a:p>
            </p:txBody>
          </p:sp>
        </p:grpSp>
        <p:sp>
          <p:nvSpPr>
            <p:cNvPr id="8256" name="Line 233"/>
            <p:cNvSpPr>
              <a:spLocks noChangeShapeType="1"/>
            </p:cNvSpPr>
            <p:nvPr/>
          </p:nvSpPr>
          <p:spPr bwMode="auto">
            <a:xfrm flipV="1">
              <a:off x="5192" y="1955"/>
              <a:ext cx="0" cy="52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 sz="2400"/>
            </a:p>
          </p:txBody>
        </p:sp>
      </p:grpSp>
      <p:grpSp>
        <p:nvGrpSpPr>
          <p:cNvPr id="9" name="Group 260"/>
          <p:cNvGrpSpPr>
            <a:grpSpLocks/>
          </p:cNvGrpSpPr>
          <p:nvPr/>
        </p:nvGrpSpPr>
        <p:grpSpPr bwMode="auto">
          <a:xfrm>
            <a:off x="6365875" y="5586411"/>
            <a:ext cx="1658938" cy="977900"/>
            <a:chOff x="3050" y="3443"/>
            <a:chExt cx="1045" cy="616"/>
          </a:xfrm>
        </p:grpSpPr>
        <p:sp>
          <p:nvSpPr>
            <p:cNvPr id="8232" name="Line 115"/>
            <p:cNvSpPr>
              <a:spLocks noChangeShapeType="1"/>
            </p:cNvSpPr>
            <p:nvPr/>
          </p:nvSpPr>
          <p:spPr bwMode="auto">
            <a:xfrm flipH="1">
              <a:off x="3411" y="3843"/>
              <a:ext cx="33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33" name="Line 129"/>
            <p:cNvSpPr>
              <a:spLocks noChangeShapeType="1"/>
            </p:cNvSpPr>
            <p:nvPr/>
          </p:nvSpPr>
          <p:spPr bwMode="auto">
            <a:xfrm>
              <a:off x="3050" y="3843"/>
              <a:ext cx="691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34" name="Line 130"/>
            <p:cNvSpPr>
              <a:spLocks noChangeShapeType="1"/>
            </p:cNvSpPr>
            <p:nvPr/>
          </p:nvSpPr>
          <p:spPr bwMode="auto">
            <a:xfrm flipH="1">
              <a:off x="3050" y="3443"/>
              <a:ext cx="691" cy="40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35" name="Line 131"/>
            <p:cNvSpPr>
              <a:spLocks noChangeShapeType="1"/>
            </p:cNvSpPr>
            <p:nvPr/>
          </p:nvSpPr>
          <p:spPr bwMode="auto">
            <a:xfrm>
              <a:off x="3050" y="384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36" name="Line 132"/>
            <p:cNvSpPr>
              <a:spLocks noChangeShapeType="1"/>
            </p:cNvSpPr>
            <p:nvPr/>
          </p:nvSpPr>
          <p:spPr bwMode="auto">
            <a:xfrm>
              <a:off x="3050" y="384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37" name="Freeform 133"/>
            <p:cNvSpPr>
              <a:spLocks/>
            </p:cNvSpPr>
            <p:nvPr/>
          </p:nvSpPr>
          <p:spPr bwMode="auto">
            <a:xfrm>
              <a:off x="3328" y="3532"/>
              <a:ext cx="84" cy="102"/>
            </a:xfrm>
            <a:custGeom>
              <a:avLst/>
              <a:gdLst>
                <a:gd name="T0" fmla="*/ 1 w 168"/>
                <a:gd name="T1" fmla="*/ 0 h 202"/>
                <a:gd name="T2" fmla="*/ 0 w 168"/>
                <a:gd name="T3" fmla="*/ 1 h 202"/>
                <a:gd name="T4" fmla="*/ 1 w 168"/>
                <a:gd name="T5" fmla="*/ 1 h 202"/>
                <a:gd name="T6" fmla="*/ 1 w 168"/>
                <a:gd name="T7" fmla="*/ 0 h 20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"/>
                <a:gd name="T13" fmla="*/ 0 h 202"/>
                <a:gd name="T14" fmla="*/ 168 w 168"/>
                <a:gd name="T15" fmla="*/ 202 h 20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" h="202">
                  <a:moveTo>
                    <a:pt x="59" y="0"/>
                  </a:moveTo>
                  <a:lnTo>
                    <a:pt x="0" y="47"/>
                  </a:lnTo>
                  <a:lnTo>
                    <a:pt x="168" y="202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38" name="Freeform 135"/>
            <p:cNvSpPr>
              <a:spLocks noChangeArrowheads="1"/>
            </p:cNvSpPr>
            <p:nvPr/>
          </p:nvSpPr>
          <p:spPr bwMode="auto">
            <a:xfrm>
              <a:off x="3412" y="3635"/>
              <a:ext cx="56" cy="209"/>
            </a:xfrm>
            <a:custGeom>
              <a:avLst/>
              <a:gdLst>
                <a:gd name="T0" fmla="*/ 56 w 56"/>
                <a:gd name="T1" fmla="*/ 209 h 209"/>
                <a:gd name="T2" fmla="*/ 45 w 56"/>
                <a:gd name="T3" fmla="*/ 100 h 209"/>
                <a:gd name="T4" fmla="*/ 0 w 56"/>
                <a:gd name="T5" fmla="*/ 0 h 209"/>
                <a:gd name="T6" fmla="*/ 0 60000 65536"/>
                <a:gd name="T7" fmla="*/ 0 60000 65536"/>
                <a:gd name="T8" fmla="*/ 0 60000 65536"/>
                <a:gd name="T9" fmla="*/ 0 w 56"/>
                <a:gd name="T10" fmla="*/ 0 h 209"/>
                <a:gd name="T11" fmla="*/ 56 w 56"/>
                <a:gd name="T12" fmla="*/ 209 h 2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209">
                  <a:moveTo>
                    <a:pt x="56" y="209"/>
                  </a:moveTo>
                  <a:lnTo>
                    <a:pt x="45" y="10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39" name="Line 136"/>
            <p:cNvSpPr>
              <a:spLocks noChangeShapeType="1"/>
            </p:cNvSpPr>
            <p:nvPr/>
          </p:nvSpPr>
          <p:spPr bwMode="auto">
            <a:xfrm flipV="1">
              <a:off x="3408" y="3955"/>
              <a:ext cx="44" cy="10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0" name="Freeform 137"/>
            <p:cNvSpPr>
              <a:spLocks/>
            </p:cNvSpPr>
            <p:nvPr/>
          </p:nvSpPr>
          <p:spPr bwMode="auto">
            <a:xfrm>
              <a:off x="3434" y="3843"/>
              <a:ext cx="37" cy="114"/>
            </a:xfrm>
            <a:custGeom>
              <a:avLst/>
              <a:gdLst>
                <a:gd name="T0" fmla="*/ 0 w 74"/>
                <a:gd name="T1" fmla="*/ 0 h 230"/>
                <a:gd name="T2" fmla="*/ 1 w 74"/>
                <a:gd name="T3" fmla="*/ 0 h 230"/>
                <a:gd name="T4" fmla="*/ 1 w 74"/>
                <a:gd name="T5" fmla="*/ 0 h 230"/>
                <a:gd name="T6" fmla="*/ 0 w 74"/>
                <a:gd name="T7" fmla="*/ 0 h 2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4"/>
                <a:gd name="T13" fmla="*/ 0 h 230"/>
                <a:gd name="T14" fmla="*/ 74 w 74"/>
                <a:gd name="T15" fmla="*/ 230 h 2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4" h="230">
                  <a:moveTo>
                    <a:pt x="0" y="220"/>
                  </a:moveTo>
                  <a:lnTo>
                    <a:pt x="74" y="230"/>
                  </a:lnTo>
                  <a:lnTo>
                    <a:pt x="67" y="0"/>
                  </a:lnTo>
                  <a:lnTo>
                    <a:pt x="0" y="220"/>
                  </a:lnTo>
                  <a:close/>
                </a:path>
              </a:pathLst>
            </a:cu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1" name="Line 139"/>
            <p:cNvSpPr>
              <a:spLocks noChangeShapeType="1"/>
            </p:cNvSpPr>
            <p:nvPr/>
          </p:nvSpPr>
          <p:spPr bwMode="auto">
            <a:xfrm flipH="1" flipV="1">
              <a:off x="3252" y="3476"/>
              <a:ext cx="91" cy="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2" name="Line 140"/>
            <p:cNvSpPr>
              <a:spLocks noChangeShapeType="1"/>
            </p:cNvSpPr>
            <p:nvPr/>
          </p:nvSpPr>
          <p:spPr bwMode="auto">
            <a:xfrm>
              <a:off x="3741" y="3443"/>
              <a:ext cx="35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3" name="Rectangle 141"/>
            <p:cNvSpPr>
              <a:spLocks noChangeArrowheads="1"/>
            </p:cNvSpPr>
            <p:nvPr/>
          </p:nvSpPr>
          <p:spPr bwMode="auto">
            <a:xfrm rot="16200000">
              <a:off x="3898" y="3526"/>
              <a:ext cx="10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400" i="1">
                  <a:solidFill>
                    <a:srgbClr val="000000"/>
                  </a:solidFill>
                  <a:latin typeface="ISOCPEUR" pitchFamily="34" charset="0"/>
                </a:rPr>
                <a:t>h</a:t>
              </a:r>
              <a:endParaRPr lang="en-US" altLang="zh-CN" sz="2400" i="1">
                <a:latin typeface="ISOCPEUR" pitchFamily="34" charset="0"/>
              </a:endParaRPr>
            </a:p>
          </p:txBody>
        </p:sp>
        <p:sp>
          <p:nvSpPr>
            <p:cNvPr id="8244" name="Line 142"/>
            <p:cNvSpPr>
              <a:spLocks noChangeShapeType="1"/>
            </p:cNvSpPr>
            <p:nvPr/>
          </p:nvSpPr>
          <p:spPr bwMode="auto">
            <a:xfrm>
              <a:off x="3731" y="3843"/>
              <a:ext cx="364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5" name="Line 143"/>
            <p:cNvSpPr>
              <a:spLocks noChangeShapeType="1"/>
            </p:cNvSpPr>
            <p:nvPr/>
          </p:nvSpPr>
          <p:spPr bwMode="auto">
            <a:xfrm>
              <a:off x="4038" y="3556"/>
              <a:ext cx="1" cy="17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6" name="Freeform 144"/>
            <p:cNvSpPr>
              <a:spLocks/>
            </p:cNvSpPr>
            <p:nvPr/>
          </p:nvSpPr>
          <p:spPr bwMode="auto">
            <a:xfrm>
              <a:off x="4019" y="3729"/>
              <a:ext cx="38" cy="114"/>
            </a:xfrm>
            <a:custGeom>
              <a:avLst/>
              <a:gdLst>
                <a:gd name="T0" fmla="*/ 0 w 75"/>
                <a:gd name="T1" fmla="*/ 0 h 226"/>
                <a:gd name="T2" fmla="*/ 1 w 75"/>
                <a:gd name="T3" fmla="*/ 0 h 226"/>
                <a:gd name="T4" fmla="*/ 1 w 75"/>
                <a:gd name="T5" fmla="*/ 1 h 226"/>
                <a:gd name="T6" fmla="*/ 0 w 75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226"/>
                <a:gd name="T14" fmla="*/ 75 w 75"/>
                <a:gd name="T15" fmla="*/ 226 h 2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226">
                  <a:moveTo>
                    <a:pt x="0" y="0"/>
                  </a:moveTo>
                  <a:lnTo>
                    <a:pt x="75" y="0"/>
                  </a:lnTo>
                  <a:lnTo>
                    <a:pt x="37" y="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7" name="Freeform 145"/>
            <p:cNvSpPr>
              <a:spLocks/>
            </p:cNvSpPr>
            <p:nvPr/>
          </p:nvSpPr>
          <p:spPr bwMode="auto">
            <a:xfrm>
              <a:off x="4019" y="3729"/>
              <a:ext cx="38" cy="114"/>
            </a:xfrm>
            <a:custGeom>
              <a:avLst/>
              <a:gdLst>
                <a:gd name="T0" fmla="*/ 0 w 75"/>
                <a:gd name="T1" fmla="*/ 0 h 226"/>
                <a:gd name="T2" fmla="*/ 1 w 75"/>
                <a:gd name="T3" fmla="*/ 0 h 226"/>
                <a:gd name="T4" fmla="*/ 1 w 75"/>
                <a:gd name="T5" fmla="*/ 1 h 226"/>
                <a:gd name="T6" fmla="*/ 0 w 75"/>
                <a:gd name="T7" fmla="*/ 0 h 22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226"/>
                <a:gd name="T14" fmla="*/ 75 w 75"/>
                <a:gd name="T15" fmla="*/ 226 h 22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226">
                  <a:moveTo>
                    <a:pt x="0" y="0"/>
                  </a:moveTo>
                  <a:lnTo>
                    <a:pt x="75" y="0"/>
                  </a:lnTo>
                  <a:lnTo>
                    <a:pt x="37" y="226"/>
                  </a:lnTo>
                  <a:lnTo>
                    <a:pt x="0" y="0"/>
                  </a:lnTo>
                </a:path>
              </a:pathLst>
            </a:cu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8" name="Line 146"/>
            <p:cNvSpPr>
              <a:spLocks noChangeShapeType="1"/>
            </p:cNvSpPr>
            <p:nvPr/>
          </p:nvSpPr>
          <p:spPr bwMode="auto">
            <a:xfrm>
              <a:off x="4038" y="384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49" name="Freeform 147"/>
            <p:cNvSpPr>
              <a:spLocks/>
            </p:cNvSpPr>
            <p:nvPr/>
          </p:nvSpPr>
          <p:spPr bwMode="auto">
            <a:xfrm>
              <a:off x="4019" y="3443"/>
              <a:ext cx="38" cy="113"/>
            </a:xfrm>
            <a:custGeom>
              <a:avLst/>
              <a:gdLst>
                <a:gd name="T0" fmla="*/ 0 w 75"/>
                <a:gd name="T1" fmla="*/ 0 h 227"/>
                <a:gd name="T2" fmla="*/ 1 w 75"/>
                <a:gd name="T3" fmla="*/ 0 h 227"/>
                <a:gd name="T4" fmla="*/ 1 w 75"/>
                <a:gd name="T5" fmla="*/ 0 h 227"/>
                <a:gd name="T6" fmla="*/ 0 w 75"/>
                <a:gd name="T7" fmla="*/ 0 h 2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227"/>
                <a:gd name="T14" fmla="*/ 75 w 75"/>
                <a:gd name="T15" fmla="*/ 227 h 2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227">
                  <a:moveTo>
                    <a:pt x="0" y="227"/>
                  </a:moveTo>
                  <a:lnTo>
                    <a:pt x="75" y="227"/>
                  </a:lnTo>
                  <a:lnTo>
                    <a:pt x="37" y="0"/>
                  </a:lnTo>
                  <a:lnTo>
                    <a:pt x="0" y="2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50" name="Freeform 148"/>
            <p:cNvSpPr>
              <a:spLocks/>
            </p:cNvSpPr>
            <p:nvPr/>
          </p:nvSpPr>
          <p:spPr bwMode="auto">
            <a:xfrm>
              <a:off x="4019" y="3443"/>
              <a:ext cx="38" cy="113"/>
            </a:xfrm>
            <a:custGeom>
              <a:avLst/>
              <a:gdLst>
                <a:gd name="T0" fmla="*/ 0 w 75"/>
                <a:gd name="T1" fmla="*/ 0 h 227"/>
                <a:gd name="T2" fmla="*/ 1 w 75"/>
                <a:gd name="T3" fmla="*/ 0 h 227"/>
                <a:gd name="T4" fmla="*/ 1 w 75"/>
                <a:gd name="T5" fmla="*/ 0 h 227"/>
                <a:gd name="T6" fmla="*/ 0 w 75"/>
                <a:gd name="T7" fmla="*/ 0 h 2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227"/>
                <a:gd name="T14" fmla="*/ 75 w 75"/>
                <a:gd name="T15" fmla="*/ 227 h 2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227">
                  <a:moveTo>
                    <a:pt x="0" y="227"/>
                  </a:moveTo>
                  <a:lnTo>
                    <a:pt x="75" y="227"/>
                  </a:lnTo>
                  <a:lnTo>
                    <a:pt x="37" y="0"/>
                  </a:lnTo>
                  <a:lnTo>
                    <a:pt x="0" y="227"/>
                  </a:lnTo>
                </a:path>
              </a:pathLst>
            </a:custGeom>
            <a:noFill/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8251" name="Text Box 247"/>
            <p:cNvSpPr txBox="1">
              <a:spLocks noChangeArrowheads="1"/>
            </p:cNvSpPr>
            <p:nvPr/>
          </p:nvSpPr>
          <p:spPr bwMode="auto">
            <a:xfrm>
              <a:off x="3412" y="3614"/>
              <a:ext cx="526" cy="291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ISOCPEUR" pitchFamily="34" charset="0"/>
                </a:rPr>
                <a:t>30°</a:t>
              </a:r>
            </a:p>
          </p:txBody>
        </p:sp>
      </p:grpSp>
      <p:sp>
        <p:nvSpPr>
          <p:cNvPr id="53497" name="Text Box 249"/>
          <p:cNvSpPr txBox="1">
            <a:spLocks noChangeArrowheads="1"/>
          </p:cNvSpPr>
          <p:nvPr/>
        </p:nvSpPr>
        <p:spPr bwMode="auto">
          <a:xfrm>
            <a:off x="8239126" y="5657849"/>
            <a:ext cx="1151277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/>
              <a:t>h=</a:t>
            </a:r>
            <a:r>
              <a:rPr lang="zh-CN" altLang="zh-CN" sz="2400"/>
              <a:t>字高</a:t>
            </a:r>
            <a:endParaRPr lang="zh-CN" altLang="en-US" sz="2400"/>
          </a:p>
        </p:txBody>
      </p:sp>
      <p:grpSp>
        <p:nvGrpSpPr>
          <p:cNvPr id="10" name="Group 252"/>
          <p:cNvGrpSpPr>
            <a:grpSpLocks/>
          </p:cNvGrpSpPr>
          <p:nvPr/>
        </p:nvGrpSpPr>
        <p:grpSpPr bwMode="auto">
          <a:xfrm>
            <a:off x="1946275" y="3316312"/>
            <a:ext cx="3563938" cy="2478088"/>
            <a:chOff x="266" y="1980"/>
            <a:chExt cx="2245" cy="1561"/>
          </a:xfrm>
        </p:grpSpPr>
        <p:grpSp>
          <p:nvGrpSpPr>
            <p:cNvPr id="8209" name="Group 250"/>
            <p:cNvGrpSpPr>
              <a:grpSpLocks/>
            </p:cNvGrpSpPr>
            <p:nvPr/>
          </p:nvGrpSpPr>
          <p:grpSpPr bwMode="auto">
            <a:xfrm>
              <a:off x="266" y="2368"/>
              <a:ext cx="2245" cy="1173"/>
              <a:chOff x="266" y="2071"/>
              <a:chExt cx="2245" cy="1173"/>
            </a:xfrm>
          </p:grpSpPr>
          <p:sp>
            <p:nvSpPr>
              <p:cNvPr id="8211" name="Text Box 210"/>
              <p:cNvSpPr txBox="1">
                <a:spLocks noChangeArrowheads="1"/>
              </p:cNvSpPr>
              <p:nvPr/>
            </p:nvSpPr>
            <p:spPr bwMode="auto">
              <a:xfrm>
                <a:off x="1297" y="2071"/>
                <a:ext cx="364" cy="29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i="1">
                    <a:latin typeface="ISOCPEUR" pitchFamily="34" charset="0"/>
                  </a:rPr>
                  <a:t>1:5</a:t>
                </a:r>
              </a:p>
            </p:txBody>
          </p:sp>
          <p:grpSp>
            <p:nvGrpSpPr>
              <p:cNvPr id="8212" name="Group 209"/>
              <p:cNvGrpSpPr>
                <a:grpSpLocks/>
              </p:cNvGrpSpPr>
              <p:nvPr/>
            </p:nvGrpSpPr>
            <p:grpSpPr bwMode="auto">
              <a:xfrm>
                <a:off x="681" y="2306"/>
                <a:ext cx="1812" cy="608"/>
                <a:chOff x="681" y="1754"/>
                <a:chExt cx="1812" cy="608"/>
              </a:xfrm>
            </p:grpSpPr>
            <p:sp>
              <p:nvSpPr>
                <p:cNvPr id="8228" name="Line 205"/>
                <p:cNvSpPr>
                  <a:spLocks noChangeShapeType="1"/>
                </p:cNvSpPr>
                <p:nvPr/>
              </p:nvSpPr>
              <p:spPr bwMode="auto">
                <a:xfrm flipV="1">
                  <a:off x="681" y="1754"/>
                  <a:ext cx="1811" cy="36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8229" name="Line 206"/>
                <p:cNvSpPr>
                  <a:spLocks noChangeShapeType="1"/>
                </p:cNvSpPr>
                <p:nvPr/>
              </p:nvSpPr>
              <p:spPr bwMode="auto">
                <a:xfrm flipV="1">
                  <a:off x="2491" y="1754"/>
                  <a:ext cx="2" cy="60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8230" name="Line 207"/>
                <p:cNvSpPr>
                  <a:spLocks noChangeShapeType="1"/>
                </p:cNvSpPr>
                <p:nvPr/>
              </p:nvSpPr>
              <p:spPr bwMode="auto">
                <a:xfrm>
                  <a:off x="682" y="2116"/>
                  <a:ext cx="0" cy="246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 sz="2400"/>
                </a:p>
              </p:txBody>
            </p:sp>
            <p:sp>
              <p:nvSpPr>
                <p:cNvPr id="8231" name="Line 208"/>
                <p:cNvSpPr>
                  <a:spLocks noChangeShapeType="1"/>
                </p:cNvSpPr>
                <p:nvPr/>
              </p:nvSpPr>
              <p:spPr bwMode="auto">
                <a:xfrm>
                  <a:off x="682" y="2362"/>
                  <a:ext cx="181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endParaRPr lang="zh-CN" altLang="en-US" sz="2400"/>
                </a:p>
              </p:txBody>
            </p:sp>
          </p:grpSp>
          <p:sp>
            <p:nvSpPr>
              <p:cNvPr id="8213" name="Line 211"/>
              <p:cNvSpPr>
                <a:spLocks noChangeShapeType="1"/>
              </p:cNvSpPr>
              <p:nvPr/>
            </p:nvSpPr>
            <p:spPr bwMode="auto">
              <a:xfrm flipH="1" flipV="1">
                <a:off x="1153" y="2306"/>
                <a:ext cx="304" cy="19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14" name="Line 212"/>
              <p:cNvSpPr>
                <a:spLocks noChangeShapeType="1"/>
              </p:cNvSpPr>
              <p:nvPr/>
            </p:nvSpPr>
            <p:spPr bwMode="auto">
              <a:xfrm>
                <a:off x="1153" y="2306"/>
                <a:ext cx="444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grpSp>
            <p:nvGrpSpPr>
              <p:cNvPr id="8215" name="Group 215"/>
              <p:cNvGrpSpPr>
                <a:grpSpLocks/>
              </p:cNvGrpSpPr>
              <p:nvPr/>
            </p:nvGrpSpPr>
            <p:grpSpPr bwMode="auto">
              <a:xfrm>
                <a:off x="1147" y="2140"/>
                <a:ext cx="219" cy="125"/>
                <a:chOff x="4107" y="2358"/>
                <a:chExt cx="163" cy="93"/>
              </a:xfrm>
            </p:grpSpPr>
            <p:sp>
              <p:nvSpPr>
                <p:cNvPr id="8226" name="Line 216"/>
                <p:cNvSpPr>
                  <a:spLocks noChangeShapeType="1"/>
                </p:cNvSpPr>
                <p:nvPr/>
              </p:nvSpPr>
              <p:spPr bwMode="auto">
                <a:xfrm flipH="1">
                  <a:off x="4107" y="2358"/>
                  <a:ext cx="159" cy="92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8227" name="Line 217"/>
                <p:cNvSpPr>
                  <a:spLocks noChangeShapeType="1"/>
                </p:cNvSpPr>
                <p:nvPr/>
              </p:nvSpPr>
              <p:spPr bwMode="auto">
                <a:xfrm>
                  <a:off x="4107" y="2450"/>
                  <a:ext cx="163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</p:grpSp>
          <p:sp>
            <p:nvSpPr>
              <p:cNvPr id="8216" name="Line 235"/>
              <p:cNvSpPr>
                <a:spLocks noChangeShapeType="1"/>
              </p:cNvSpPr>
              <p:nvPr/>
            </p:nvSpPr>
            <p:spPr bwMode="auto">
              <a:xfrm>
                <a:off x="678" y="2888"/>
                <a:ext cx="0" cy="356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17" name="Line 236"/>
              <p:cNvSpPr>
                <a:spLocks noChangeShapeType="1"/>
              </p:cNvSpPr>
              <p:nvPr/>
            </p:nvSpPr>
            <p:spPr bwMode="auto">
              <a:xfrm>
                <a:off x="2500" y="2910"/>
                <a:ext cx="0" cy="334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18" name="Line 237"/>
              <p:cNvSpPr>
                <a:spLocks noChangeShapeType="1"/>
              </p:cNvSpPr>
              <p:nvPr/>
            </p:nvSpPr>
            <p:spPr bwMode="auto">
              <a:xfrm>
                <a:off x="678" y="3144"/>
                <a:ext cx="1833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19" name="Text Box 238"/>
              <p:cNvSpPr txBox="1">
                <a:spLocks noChangeArrowheads="1"/>
              </p:cNvSpPr>
              <p:nvPr/>
            </p:nvSpPr>
            <p:spPr bwMode="auto">
              <a:xfrm>
                <a:off x="1442" y="2912"/>
                <a:ext cx="312" cy="29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i="1">
                    <a:latin typeface="ISOCPEUR" pitchFamily="34" charset="0"/>
                  </a:rPr>
                  <a:t>80</a:t>
                </a:r>
              </a:p>
            </p:txBody>
          </p:sp>
          <p:sp>
            <p:nvSpPr>
              <p:cNvPr id="8220" name="Line 239"/>
              <p:cNvSpPr>
                <a:spLocks noChangeShapeType="1"/>
              </p:cNvSpPr>
              <p:nvPr/>
            </p:nvSpPr>
            <p:spPr bwMode="auto">
              <a:xfrm flipH="1">
                <a:off x="385" y="2910"/>
                <a:ext cx="293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21" name="Line 240"/>
              <p:cNvSpPr>
                <a:spLocks noChangeShapeType="1"/>
              </p:cNvSpPr>
              <p:nvPr/>
            </p:nvSpPr>
            <p:spPr bwMode="auto">
              <a:xfrm flipH="1">
                <a:off x="396" y="2668"/>
                <a:ext cx="277" cy="0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22" name="Line 241"/>
              <p:cNvSpPr>
                <a:spLocks noChangeShapeType="1"/>
              </p:cNvSpPr>
              <p:nvPr/>
            </p:nvSpPr>
            <p:spPr bwMode="auto">
              <a:xfrm flipV="1">
                <a:off x="502" y="2899"/>
                <a:ext cx="0" cy="267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 type="triangle" w="sm" len="lg"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23" name="Line 242"/>
              <p:cNvSpPr>
                <a:spLocks noChangeShapeType="1"/>
              </p:cNvSpPr>
              <p:nvPr/>
            </p:nvSpPr>
            <p:spPr bwMode="auto">
              <a:xfrm flipV="1">
                <a:off x="502" y="2668"/>
                <a:ext cx="0" cy="242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24" name="Line 243"/>
              <p:cNvSpPr>
                <a:spLocks noChangeShapeType="1"/>
              </p:cNvSpPr>
              <p:nvPr/>
            </p:nvSpPr>
            <p:spPr bwMode="auto">
              <a:xfrm flipV="1">
                <a:off x="502" y="2360"/>
                <a:ext cx="0" cy="319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round/>
                <a:headEnd type="triangle" w="sm" len="lg"/>
                <a:tailEnd/>
              </a:ln>
            </p:spPr>
            <p:txBody>
              <a:bodyPr anchor="ctr">
                <a:spAutoFit/>
              </a:bodyPr>
              <a:lstStyle/>
              <a:p>
                <a:endParaRPr lang="zh-CN" altLang="en-US" sz="2400"/>
              </a:p>
            </p:txBody>
          </p:sp>
          <p:sp>
            <p:nvSpPr>
              <p:cNvPr id="8225" name="Text Box 244"/>
              <p:cNvSpPr txBox="1">
                <a:spLocks noChangeArrowheads="1"/>
              </p:cNvSpPr>
              <p:nvPr/>
            </p:nvSpPr>
            <p:spPr bwMode="auto">
              <a:xfrm rot="16200000">
                <a:off x="256" y="2663"/>
                <a:ext cx="312" cy="29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400" i="1">
                    <a:latin typeface="ISOCPEUR" pitchFamily="34" charset="0"/>
                  </a:rPr>
                  <a:t>10</a:t>
                </a:r>
              </a:p>
            </p:txBody>
          </p:sp>
        </p:grpSp>
        <p:sp>
          <p:nvSpPr>
            <p:cNvPr id="8210" name="Text Box 251"/>
            <p:cNvSpPr txBox="1">
              <a:spLocks noChangeArrowheads="1"/>
            </p:cNvSpPr>
            <p:nvPr/>
          </p:nvSpPr>
          <p:spPr bwMode="auto">
            <a:xfrm>
              <a:off x="385" y="1980"/>
              <a:ext cx="1667" cy="291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 sz="2400"/>
                <a:t>例：画下面的图形</a:t>
              </a:r>
            </a:p>
          </p:txBody>
        </p:sp>
      </p:grpSp>
      <p:sp>
        <p:nvSpPr>
          <p:cNvPr id="53503" name="Text Box 255"/>
          <p:cNvSpPr txBox="1">
            <a:spLocks noChangeArrowheads="1"/>
          </p:cNvSpPr>
          <p:nvPr/>
        </p:nvSpPr>
        <p:spPr bwMode="auto">
          <a:xfrm>
            <a:off x="2881290" y="5929331"/>
            <a:ext cx="2339102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斜度符号画法：</a:t>
            </a:r>
          </a:p>
        </p:txBody>
      </p:sp>
      <p:sp>
        <p:nvSpPr>
          <p:cNvPr id="92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3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"/>
                                        <p:tgtEl>
                                          <p:spTgt spid="535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98" grpId="0" animBg="1"/>
      <p:bldP spid="53443" grpId="0" autoUpdateAnimBg="0"/>
      <p:bldP spid="53444" grpId="0" autoUpdateAnimBg="0"/>
      <p:bldP spid="53446" grpId="0" autoUpdateAnimBg="0"/>
      <p:bldP spid="53467" grpId="0" animBg="1"/>
      <p:bldP spid="53497" grpId="0" autoUpdateAnimBg="0"/>
      <p:bldP spid="53503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58"/>
          <p:cNvSpPr txBox="1">
            <a:spLocks noChangeArrowheads="1"/>
          </p:cNvSpPr>
          <p:nvPr/>
        </p:nvSpPr>
        <p:spPr bwMode="auto">
          <a:xfrm>
            <a:off x="1178778" y="1316495"/>
            <a:ext cx="1261884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⒉ </a:t>
            </a:r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锥度</a:t>
            </a:r>
          </a:p>
        </p:txBody>
      </p:sp>
      <p:sp>
        <p:nvSpPr>
          <p:cNvPr id="69791" name="Text Box 159"/>
          <p:cNvSpPr txBox="1">
            <a:spLocks noChangeArrowheads="1"/>
          </p:cNvSpPr>
          <p:nvPr/>
        </p:nvSpPr>
        <p:spPr bwMode="auto">
          <a:xfrm>
            <a:off x="1273463" y="1839406"/>
            <a:ext cx="5084451" cy="108952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/>
              <a:t>    </a:t>
            </a:r>
            <a:r>
              <a:rPr lang="zh-CN" altLang="en-US" sz="2400" dirty="0"/>
              <a:t>锥度是指圆锥的底面直径与高度之比，或是圆锥台的底圆直径与顶圆直径之差与高度之比。</a:t>
            </a:r>
          </a:p>
        </p:txBody>
      </p:sp>
      <p:sp>
        <p:nvSpPr>
          <p:cNvPr id="69803" name="Text Box 171"/>
          <p:cNvSpPr txBox="1">
            <a:spLocks noChangeArrowheads="1"/>
          </p:cNvSpPr>
          <p:nvPr/>
        </p:nvSpPr>
        <p:spPr bwMode="auto">
          <a:xfrm>
            <a:off x="1641430" y="2863204"/>
            <a:ext cx="2767104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/>
              <a:t>通常写成</a:t>
            </a:r>
            <a:r>
              <a:rPr lang="en-US" altLang="zh-CN" sz="2400" dirty="0"/>
              <a:t>1:n</a:t>
            </a:r>
            <a:r>
              <a:rPr lang="zh-CN" altLang="en-US" sz="2400" dirty="0"/>
              <a:t>的形式</a:t>
            </a:r>
          </a:p>
        </p:txBody>
      </p:sp>
      <p:sp>
        <p:nvSpPr>
          <p:cNvPr id="69824" name="Text Box 192"/>
          <p:cNvSpPr txBox="1">
            <a:spLocks noChangeArrowheads="1"/>
          </p:cNvSpPr>
          <p:nvPr/>
        </p:nvSpPr>
        <p:spPr bwMode="auto">
          <a:xfrm>
            <a:off x="1294533" y="3404553"/>
            <a:ext cx="2116285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● </a:t>
            </a:r>
            <a:r>
              <a:rPr lang="zh-CN" altLang="en-US" sz="2400" dirty="0"/>
              <a:t>锥度的画法</a:t>
            </a:r>
          </a:p>
        </p:txBody>
      </p:sp>
      <p:sp>
        <p:nvSpPr>
          <p:cNvPr id="69825" name="Text Box 193"/>
          <p:cNvSpPr txBox="1">
            <a:spLocks noChangeArrowheads="1"/>
          </p:cNvSpPr>
          <p:nvPr/>
        </p:nvSpPr>
        <p:spPr bwMode="auto">
          <a:xfrm>
            <a:off x="6650310" y="4467534"/>
            <a:ext cx="2731838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● </a:t>
            </a:r>
            <a:r>
              <a:rPr lang="zh-CN" altLang="en-US" sz="2400" dirty="0"/>
              <a:t>锥度符号的画法</a:t>
            </a:r>
          </a:p>
        </p:txBody>
      </p:sp>
      <p:grpSp>
        <p:nvGrpSpPr>
          <p:cNvPr id="5" name="Group 209"/>
          <p:cNvGrpSpPr>
            <a:grpSpLocks/>
          </p:cNvGrpSpPr>
          <p:nvPr/>
        </p:nvGrpSpPr>
        <p:grpSpPr bwMode="auto">
          <a:xfrm>
            <a:off x="6786564" y="5129234"/>
            <a:ext cx="2281237" cy="1209675"/>
            <a:chOff x="3315" y="2900"/>
            <a:chExt cx="1437" cy="762"/>
          </a:xfrm>
        </p:grpSpPr>
        <p:sp>
          <p:nvSpPr>
            <p:cNvPr id="9343" name="Freeform 194"/>
            <p:cNvSpPr>
              <a:spLocks/>
            </p:cNvSpPr>
            <p:nvPr/>
          </p:nvSpPr>
          <p:spPr bwMode="auto">
            <a:xfrm>
              <a:off x="3680" y="2908"/>
              <a:ext cx="1072" cy="552"/>
            </a:xfrm>
            <a:custGeom>
              <a:avLst/>
              <a:gdLst>
                <a:gd name="T0" fmla="*/ 0 w 1072"/>
                <a:gd name="T1" fmla="*/ 0 h 552"/>
                <a:gd name="T2" fmla="*/ 0 w 1072"/>
                <a:gd name="T3" fmla="*/ 552 h 552"/>
                <a:gd name="T4" fmla="*/ 1072 w 1072"/>
                <a:gd name="T5" fmla="*/ 288 h 552"/>
                <a:gd name="T6" fmla="*/ 0 w 1072"/>
                <a:gd name="T7" fmla="*/ 0 h 55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72"/>
                <a:gd name="T13" fmla="*/ 0 h 552"/>
                <a:gd name="T14" fmla="*/ 1072 w 1072"/>
                <a:gd name="T15" fmla="*/ 552 h 55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72" h="552">
                  <a:moveTo>
                    <a:pt x="0" y="0"/>
                  </a:moveTo>
                  <a:lnTo>
                    <a:pt x="0" y="552"/>
                  </a:lnTo>
                  <a:lnTo>
                    <a:pt x="1072" y="28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4" name="Line 195"/>
            <p:cNvSpPr>
              <a:spLocks noChangeShapeType="1"/>
            </p:cNvSpPr>
            <p:nvPr/>
          </p:nvSpPr>
          <p:spPr bwMode="auto">
            <a:xfrm>
              <a:off x="3680" y="3460"/>
              <a:ext cx="0" cy="2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5" name="Line 196"/>
            <p:cNvSpPr>
              <a:spLocks noChangeShapeType="1"/>
            </p:cNvSpPr>
            <p:nvPr/>
          </p:nvSpPr>
          <p:spPr bwMode="auto">
            <a:xfrm>
              <a:off x="4752" y="3194"/>
              <a:ext cx="0" cy="46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6" name="Line 197"/>
            <p:cNvSpPr>
              <a:spLocks noChangeShapeType="1"/>
            </p:cNvSpPr>
            <p:nvPr/>
          </p:nvSpPr>
          <p:spPr bwMode="auto">
            <a:xfrm>
              <a:off x="3680" y="3606"/>
              <a:ext cx="107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7" name="Line 198"/>
            <p:cNvSpPr>
              <a:spLocks noChangeShapeType="1"/>
            </p:cNvSpPr>
            <p:nvPr/>
          </p:nvSpPr>
          <p:spPr bwMode="auto">
            <a:xfrm flipH="1">
              <a:off x="3457" y="3460"/>
              <a:ext cx="22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8" name="Line 199"/>
            <p:cNvSpPr>
              <a:spLocks noChangeShapeType="1"/>
            </p:cNvSpPr>
            <p:nvPr/>
          </p:nvSpPr>
          <p:spPr bwMode="auto">
            <a:xfrm flipH="1">
              <a:off x="3457" y="2908"/>
              <a:ext cx="22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9" name="Line 200"/>
            <p:cNvSpPr>
              <a:spLocks noChangeShapeType="1"/>
            </p:cNvSpPr>
            <p:nvPr/>
          </p:nvSpPr>
          <p:spPr bwMode="auto">
            <a:xfrm>
              <a:off x="3513" y="2900"/>
              <a:ext cx="0" cy="5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50" name="Text Box 201"/>
            <p:cNvSpPr txBox="1">
              <a:spLocks noChangeArrowheads="1"/>
            </p:cNvSpPr>
            <p:nvPr/>
          </p:nvSpPr>
          <p:spPr bwMode="auto">
            <a:xfrm>
              <a:off x="3994" y="3386"/>
              <a:ext cx="375" cy="233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2.5h</a:t>
              </a:r>
            </a:p>
          </p:txBody>
        </p:sp>
        <p:sp>
          <p:nvSpPr>
            <p:cNvPr id="9351" name="Text Box 202"/>
            <p:cNvSpPr txBox="1">
              <a:spLocks noChangeArrowheads="1"/>
            </p:cNvSpPr>
            <p:nvPr/>
          </p:nvSpPr>
          <p:spPr bwMode="auto">
            <a:xfrm rot="16200000">
              <a:off x="3244" y="3098"/>
              <a:ext cx="375" cy="233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1.4h</a:t>
              </a:r>
            </a:p>
          </p:txBody>
        </p:sp>
      </p:grpSp>
      <p:sp>
        <p:nvSpPr>
          <p:cNvPr id="69836" name="Text Box 204"/>
          <p:cNvSpPr txBox="1">
            <a:spLocks noChangeArrowheads="1"/>
          </p:cNvSpPr>
          <p:nvPr/>
        </p:nvSpPr>
        <p:spPr bwMode="auto">
          <a:xfrm>
            <a:off x="9277350" y="5340370"/>
            <a:ext cx="909223" cy="36933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/>
              <a:t>h=</a:t>
            </a:r>
            <a:r>
              <a:rPr lang="zh-CN" altLang="zh-CN"/>
              <a:t>字高</a:t>
            </a:r>
            <a:endParaRPr lang="zh-CN" altLang="en-US"/>
          </a:p>
        </p:txBody>
      </p:sp>
      <p:grpSp>
        <p:nvGrpSpPr>
          <p:cNvPr id="6" name="Group 208"/>
          <p:cNvGrpSpPr>
            <a:grpSpLocks/>
          </p:cNvGrpSpPr>
          <p:nvPr/>
        </p:nvGrpSpPr>
        <p:grpSpPr bwMode="auto">
          <a:xfrm>
            <a:off x="6350001" y="2454282"/>
            <a:ext cx="3636963" cy="1903413"/>
            <a:chOff x="3040" y="1046"/>
            <a:chExt cx="2291" cy="1199"/>
          </a:xfrm>
        </p:grpSpPr>
        <p:sp>
          <p:nvSpPr>
            <p:cNvPr id="9276" name="Rectangle 5"/>
            <p:cNvSpPr>
              <a:spLocks noChangeArrowheads="1"/>
            </p:cNvSpPr>
            <p:nvPr/>
          </p:nvSpPr>
          <p:spPr bwMode="auto">
            <a:xfrm rot="16200000">
              <a:off x="4261" y="1429"/>
              <a:ext cx="75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ISOCPEUR" pitchFamily="34" charset="0"/>
                </a:rPr>
                <a:t>d</a:t>
              </a:r>
              <a:endParaRPr lang="en-US" altLang="zh-CN" i="1">
                <a:latin typeface="ISOCPEUR" pitchFamily="34" charset="0"/>
              </a:endParaRPr>
            </a:p>
          </p:txBody>
        </p:sp>
        <p:sp>
          <p:nvSpPr>
            <p:cNvPr id="9277" name="Line 6"/>
            <p:cNvSpPr>
              <a:spLocks noChangeShapeType="1"/>
            </p:cNvSpPr>
            <p:nvPr/>
          </p:nvSpPr>
          <p:spPr bwMode="auto">
            <a:xfrm>
              <a:off x="4216" y="1246"/>
              <a:ext cx="502" cy="12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8" name="Line 7"/>
            <p:cNvSpPr>
              <a:spLocks noChangeShapeType="1"/>
            </p:cNvSpPr>
            <p:nvPr/>
          </p:nvSpPr>
          <p:spPr bwMode="auto">
            <a:xfrm>
              <a:off x="4193" y="1778"/>
              <a:ext cx="22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9" name="Line 8"/>
            <p:cNvSpPr>
              <a:spLocks noChangeShapeType="1"/>
            </p:cNvSpPr>
            <p:nvPr/>
          </p:nvSpPr>
          <p:spPr bwMode="auto">
            <a:xfrm>
              <a:off x="4193" y="1240"/>
              <a:ext cx="22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0" name="Line 9"/>
            <p:cNvSpPr>
              <a:spLocks noChangeShapeType="1"/>
            </p:cNvSpPr>
            <p:nvPr/>
          </p:nvSpPr>
          <p:spPr bwMode="auto">
            <a:xfrm>
              <a:off x="3501" y="2197"/>
              <a:ext cx="1682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1" name="Line 10"/>
            <p:cNvSpPr>
              <a:spLocks noChangeShapeType="1"/>
            </p:cNvSpPr>
            <p:nvPr/>
          </p:nvSpPr>
          <p:spPr bwMode="auto">
            <a:xfrm flipV="1">
              <a:off x="4193" y="1509"/>
              <a:ext cx="1083" cy="2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2" name="Line 11"/>
            <p:cNvSpPr>
              <a:spLocks noChangeShapeType="1"/>
            </p:cNvSpPr>
            <p:nvPr/>
          </p:nvSpPr>
          <p:spPr bwMode="auto">
            <a:xfrm>
              <a:off x="4193" y="1240"/>
              <a:ext cx="1083" cy="26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3" name="Freeform 12"/>
            <p:cNvSpPr>
              <a:spLocks noChangeArrowheads="1"/>
            </p:cNvSpPr>
            <p:nvPr/>
          </p:nvSpPr>
          <p:spPr bwMode="auto">
            <a:xfrm>
              <a:off x="4193" y="1778"/>
              <a:ext cx="1" cy="325"/>
            </a:xfrm>
            <a:custGeom>
              <a:avLst/>
              <a:gdLst>
                <a:gd name="T0" fmla="*/ 0 w 1"/>
                <a:gd name="T1" fmla="*/ 0 h 325"/>
                <a:gd name="T2" fmla="*/ 0 w 1"/>
                <a:gd name="T3" fmla="*/ 325 h 325"/>
                <a:gd name="T4" fmla="*/ 0 60000 65536"/>
                <a:gd name="T5" fmla="*/ 0 60000 65536"/>
                <a:gd name="T6" fmla="*/ 0 w 1"/>
                <a:gd name="T7" fmla="*/ 0 h 325"/>
                <a:gd name="T8" fmla="*/ 1 w 1"/>
                <a:gd name="T9" fmla="*/ 325 h 32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25">
                  <a:moveTo>
                    <a:pt x="0" y="0"/>
                  </a:moveTo>
                  <a:lnTo>
                    <a:pt x="0" y="325"/>
                  </a:lnTo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Line 14"/>
            <p:cNvSpPr>
              <a:spLocks noChangeShapeType="1"/>
            </p:cNvSpPr>
            <p:nvPr/>
          </p:nvSpPr>
          <p:spPr bwMode="auto">
            <a:xfrm flipV="1">
              <a:off x="3408" y="1778"/>
              <a:ext cx="785" cy="19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5" name="Line 15"/>
            <p:cNvSpPr>
              <a:spLocks noChangeShapeType="1"/>
            </p:cNvSpPr>
            <p:nvPr/>
          </p:nvSpPr>
          <p:spPr bwMode="auto">
            <a:xfrm>
              <a:off x="3229" y="1140"/>
              <a:ext cx="1" cy="73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6" name="Line 16"/>
            <p:cNvSpPr>
              <a:spLocks noChangeShapeType="1"/>
            </p:cNvSpPr>
            <p:nvPr/>
          </p:nvSpPr>
          <p:spPr bwMode="auto">
            <a:xfrm>
              <a:off x="3501" y="2057"/>
              <a:ext cx="59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Freeform 17"/>
            <p:cNvSpPr>
              <a:spLocks/>
            </p:cNvSpPr>
            <p:nvPr/>
          </p:nvSpPr>
          <p:spPr bwMode="auto">
            <a:xfrm>
              <a:off x="3408" y="2042"/>
              <a:ext cx="93" cy="32"/>
            </a:xfrm>
            <a:custGeom>
              <a:avLst/>
              <a:gdLst>
                <a:gd name="T0" fmla="*/ 0 w 246"/>
                <a:gd name="T1" fmla="*/ 0 h 83"/>
                <a:gd name="T2" fmla="*/ 0 w 246"/>
                <a:gd name="T3" fmla="*/ 0 h 83"/>
                <a:gd name="T4" fmla="*/ 0 w 246"/>
                <a:gd name="T5" fmla="*/ 0 h 83"/>
                <a:gd name="T6" fmla="*/ 0 w 246"/>
                <a:gd name="T7" fmla="*/ 0 h 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83"/>
                <a:gd name="T14" fmla="*/ 246 w 246"/>
                <a:gd name="T15" fmla="*/ 83 h 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83">
                  <a:moveTo>
                    <a:pt x="246" y="0"/>
                  </a:moveTo>
                  <a:lnTo>
                    <a:pt x="246" y="83"/>
                  </a:lnTo>
                  <a:lnTo>
                    <a:pt x="0" y="40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8" name="Freeform 18"/>
            <p:cNvSpPr>
              <a:spLocks/>
            </p:cNvSpPr>
            <p:nvPr/>
          </p:nvSpPr>
          <p:spPr bwMode="auto">
            <a:xfrm>
              <a:off x="3408" y="2042"/>
              <a:ext cx="93" cy="32"/>
            </a:xfrm>
            <a:custGeom>
              <a:avLst/>
              <a:gdLst>
                <a:gd name="T0" fmla="*/ 0 w 246"/>
                <a:gd name="T1" fmla="*/ 0 h 83"/>
                <a:gd name="T2" fmla="*/ 0 w 246"/>
                <a:gd name="T3" fmla="*/ 0 h 83"/>
                <a:gd name="T4" fmla="*/ 0 w 246"/>
                <a:gd name="T5" fmla="*/ 0 h 83"/>
                <a:gd name="T6" fmla="*/ 0 w 246"/>
                <a:gd name="T7" fmla="*/ 0 h 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83"/>
                <a:gd name="T14" fmla="*/ 246 w 246"/>
                <a:gd name="T15" fmla="*/ 83 h 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83">
                  <a:moveTo>
                    <a:pt x="246" y="0"/>
                  </a:moveTo>
                  <a:lnTo>
                    <a:pt x="246" y="83"/>
                  </a:lnTo>
                  <a:lnTo>
                    <a:pt x="0" y="40"/>
                  </a:lnTo>
                  <a:lnTo>
                    <a:pt x="24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9" name="Freeform 19"/>
            <p:cNvSpPr>
              <a:spLocks/>
            </p:cNvSpPr>
            <p:nvPr/>
          </p:nvSpPr>
          <p:spPr bwMode="auto">
            <a:xfrm>
              <a:off x="3408" y="2183"/>
              <a:ext cx="93" cy="30"/>
            </a:xfrm>
            <a:custGeom>
              <a:avLst/>
              <a:gdLst>
                <a:gd name="T0" fmla="*/ 0 w 246"/>
                <a:gd name="T1" fmla="*/ 0 h 82"/>
                <a:gd name="T2" fmla="*/ 0 w 246"/>
                <a:gd name="T3" fmla="*/ 0 h 82"/>
                <a:gd name="T4" fmla="*/ 0 w 246"/>
                <a:gd name="T5" fmla="*/ 0 h 82"/>
                <a:gd name="T6" fmla="*/ 0 w 246"/>
                <a:gd name="T7" fmla="*/ 0 h 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82"/>
                <a:gd name="T14" fmla="*/ 246 w 246"/>
                <a:gd name="T15" fmla="*/ 82 h 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82">
                  <a:moveTo>
                    <a:pt x="246" y="0"/>
                  </a:moveTo>
                  <a:lnTo>
                    <a:pt x="246" y="82"/>
                  </a:lnTo>
                  <a:lnTo>
                    <a:pt x="0" y="41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0" name="Freeform 20"/>
            <p:cNvSpPr>
              <a:spLocks/>
            </p:cNvSpPr>
            <p:nvPr/>
          </p:nvSpPr>
          <p:spPr bwMode="auto">
            <a:xfrm>
              <a:off x="3408" y="2183"/>
              <a:ext cx="93" cy="30"/>
            </a:xfrm>
            <a:custGeom>
              <a:avLst/>
              <a:gdLst>
                <a:gd name="T0" fmla="*/ 0 w 246"/>
                <a:gd name="T1" fmla="*/ 0 h 82"/>
                <a:gd name="T2" fmla="*/ 0 w 246"/>
                <a:gd name="T3" fmla="*/ 0 h 82"/>
                <a:gd name="T4" fmla="*/ 0 w 246"/>
                <a:gd name="T5" fmla="*/ 0 h 82"/>
                <a:gd name="T6" fmla="*/ 0 w 246"/>
                <a:gd name="T7" fmla="*/ 0 h 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6"/>
                <a:gd name="T13" fmla="*/ 0 h 82"/>
                <a:gd name="T14" fmla="*/ 246 w 246"/>
                <a:gd name="T15" fmla="*/ 82 h 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6" h="82">
                  <a:moveTo>
                    <a:pt x="246" y="0"/>
                  </a:moveTo>
                  <a:lnTo>
                    <a:pt x="246" y="82"/>
                  </a:lnTo>
                  <a:lnTo>
                    <a:pt x="0" y="41"/>
                  </a:lnTo>
                  <a:lnTo>
                    <a:pt x="24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1" name="Line 21"/>
            <p:cNvSpPr>
              <a:spLocks noChangeShapeType="1"/>
            </p:cNvSpPr>
            <p:nvPr/>
          </p:nvSpPr>
          <p:spPr bwMode="auto">
            <a:xfrm>
              <a:off x="3408" y="1973"/>
              <a:ext cx="1" cy="2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2" name="Freeform 22"/>
            <p:cNvSpPr>
              <a:spLocks noChangeArrowheads="1"/>
            </p:cNvSpPr>
            <p:nvPr/>
          </p:nvSpPr>
          <p:spPr bwMode="auto">
            <a:xfrm>
              <a:off x="3177" y="1975"/>
              <a:ext cx="232" cy="1"/>
            </a:xfrm>
            <a:custGeom>
              <a:avLst/>
              <a:gdLst>
                <a:gd name="T0" fmla="*/ 232 w 232"/>
                <a:gd name="T1" fmla="*/ 0 h 1"/>
                <a:gd name="T2" fmla="*/ 0 w 232"/>
                <a:gd name="T3" fmla="*/ 0 h 1"/>
                <a:gd name="T4" fmla="*/ 0 60000 65536"/>
                <a:gd name="T5" fmla="*/ 0 60000 65536"/>
                <a:gd name="T6" fmla="*/ 0 w 232"/>
                <a:gd name="T7" fmla="*/ 0 h 1"/>
                <a:gd name="T8" fmla="*/ 232 w 23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2" h="1">
                  <a:moveTo>
                    <a:pt x="232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3" name="Freeform 23"/>
            <p:cNvSpPr>
              <a:spLocks/>
            </p:cNvSpPr>
            <p:nvPr/>
          </p:nvSpPr>
          <p:spPr bwMode="auto">
            <a:xfrm>
              <a:off x="3213" y="1879"/>
              <a:ext cx="32" cy="94"/>
            </a:xfrm>
            <a:custGeom>
              <a:avLst/>
              <a:gdLst>
                <a:gd name="T0" fmla="*/ 0 w 83"/>
                <a:gd name="T1" fmla="*/ 0 h 248"/>
                <a:gd name="T2" fmla="*/ 0 w 83"/>
                <a:gd name="T3" fmla="*/ 0 h 248"/>
                <a:gd name="T4" fmla="*/ 0 w 83"/>
                <a:gd name="T5" fmla="*/ 0 h 248"/>
                <a:gd name="T6" fmla="*/ 0 w 83"/>
                <a:gd name="T7" fmla="*/ 0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8"/>
                <a:gd name="T14" fmla="*/ 83 w 83"/>
                <a:gd name="T15" fmla="*/ 248 h 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8">
                  <a:moveTo>
                    <a:pt x="0" y="0"/>
                  </a:moveTo>
                  <a:lnTo>
                    <a:pt x="83" y="0"/>
                  </a:lnTo>
                  <a:lnTo>
                    <a:pt x="42" y="2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4" name="Freeform 24"/>
            <p:cNvSpPr>
              <a:spLocks/>
            </p:cNvSpPr>
            <p:nvPr/>
          </p:nvSpPr>
          <p:spPr bwMode="auto">
            <a:xfrm>
              <a:off x="3213" y="1879"/>
              <a:ext cx="32" cy="94"/>
            </a:xfrm>
            <a:custGeom>
              <a:avLst/>
              <a:gdLst>
                <a:gd name="T0" fmla="*/ 0 w 83"/>
                <a:gd name="T1" fmla="*/ 0 h 248"/>
                <a:gd name="T2" fmla="*/ 0 w 83"/>
                <a:gd name="T3" fmla="*/ 0 h 248"/>
                <a:gd name="T4" fmla="*/ 0 w 83"/>
                <a:gd name="T5" fmla="*/ 0 h 248"/>
                <a:gd name="T6" fmla="*/ 0 w 83"/>
                <a:gd name="T7" fmla="*/ 0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8"/>
                <a:gd name="T14" fmla="*/ 83 w 83"/>
                <a:gd name="T15" fmla="*/ 248 h 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8">
                  <a:moveTo>
                    <a:pt x="0" y="0"/>
                  </a:moveTo>
                  <a:lnTo>
                    <a:pt x="83" y="0"/>
                  </a:lnTo>
                  <a:lnTo>
                    <a:pt x="42" y="248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5" name="Line 25"/>
            <p:cNvSpPr>
              <a:spLocks noChangeShapeType="1"/>
            </p:cNvSpPr>
            <p:nvPr/>
          </p:nvSpPr>
          <p:spPr bwMode="auto">
            <a:xfrm>
              <a:off x="3408" y="1995"/>
              <a:ext cx="1" cy="10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6" name="Line 26"/>
            <p:cNvSpPr>
              <a:spLocks noChangeShapeType="1"/>
            </p:cNvSpPr>
            <p:nvPr/>
          </p:nvSpPr>
          <p:spPr bwMode="auto">
            <a:xfrm>
              <a:off x="3408" y="197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7" name="Line 27"/>
            <p:cNvSpPr>
              <a:spLocks noChangeShapeType="1"/>
            </p:cNvSpPr>
            <p:nvPr/>
          </p:nvSpPr>
          <p:spPr bwMode="auto">
            <a:xfrm>
              <a:off x="3408" y="197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98" name="Rectangle 28"/>
            <p:cNvSpPr>
              <a:spLocks noChangeArrowheads="1"/>
            </p:cNvSpPr>
            <p:nvPr/>
          </p:nvSpPr>
          <p:spPr bwMode="auto">
            <a:xfrm>
              <a:off x="3800" y="1878"/>
              <a:ext cx="33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ISOCPEUR" pitchFamily="34" charset="0"/>
                  <a:ea typeface="楷体_GB2312" pitchFamily="49" charset="-122"/>
                </a:rPr>
                <a:t>l</a:t>
              </a:r>
              <a:endParaRPr lang="en-US" altLang="zh-CN" i="1">
                <a:latin typeface="ISOCPEUR" pitchFamily="34" charset="0"/>
                <a:ea typeface="楷体_GB2312" pitchFamily="49" charset="-122"/>
              </a:endParaRPr>
            </a:p>
          </p:txBody>
        </p:sp>
        <p:sp>
          <p:nvSpPr>
            <p:cNvPr id="9299" name="Line 29"/>
            <p:cNvSpPr>
              <a:spLocks noChangeShapeType="1"/>
            </p:cNvSpPr>
            <p:nvPr/>
          </p:nvSpPr>
          <p:spPr bwMode="auto">
            <a:xfrm>
              <a:off x="3408" y="1973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0" name="Freeform 30"/>
            <p:cNvSpPr>
              <a:spLocks/>
            </p:cNvSpPr>
            <p:nvPr/>
          </p:nvSpPr>
          <p:spPr bwMode="auto">
            <a:xfrm>
              <a:off x="4100" y="2042"/>
              <a:ext cx="93" cy="32"/>
            </a:xfrm>
            <a:custGeom>
              <a:avLst/>
              <a:gdLst>
                <a:gd name="T0" fmla="*/ 0 w 247"/>
                <a:gd name="T1" fmla="*/ 0 h 83"/>
                <a:gd name="T2" fmla="*/ 0 w 247"/>
                <a:gd name="T3" fmla="*/ 0 h 83"/>
                <a:gd name="T4" fmla="*/ 0 w 247"/>
                <a:gd name="T5" fmla="*/ 0 h 83"/>
                <a:gd name="T6" fmla="*/ 0 w 247"/>
                <a:gd name="T7" fmla="*/ 0 h 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7"/>
                <a:gd name="T13" fmla="*/ 0 h 83"/>
                <a:gd name="T14" fmla="*/ 247 w 247"/>
                <a:gd name="T15" fmla="*/ 83 h 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7" h="83">
                  <a:moveTo>
                    <a:pt x="0" y="0"/>
                  </a:moveTo>
                  <a:lnTo>
                    <a:pt x="0" y="83"/>
                  </a:lnTo>
                  <a:lnTo>
                    <a:pt x="247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1" name="Freeform 31"/>
            <p:cNvSpPr>
              <a:spLocks/>
            </p:cNvSpPr>
            <p:nvPr/>
          </p:nvSpPr>
          <p:spPr bwMode="auto">
            <a:xfrm>
              <a:off x="4100" y="2042"/>
              <a:ext cx="93" cy="32"/>
            </a:xfrm>
            <a:custGeom>
              <a:avLst/>
              <a:gdLst>
                <a:gd name="T0" fmla="*/ 0 w 247"/>
                <a:gd name="T1" fmla="*/ 0 h 83"/>
                <a:gd name="T2" fmla="*/ 0 w 247"/>
                <a:gd name="T3" fmla="*/ 0 h 83"/>
                <a:gd name="T4" fmla="*/ 0 w 247"/>
                <a:gd name="T5" fmla="*/ 0 h 83"/>
                <a:gd name="T6" fmla="*/ 0 w 247"/>
                <a:gd name="T7" fmla="*/ 0 h 8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7"/>
                <a:gd name="T13" fmla="*/ 0 h 83"/>
                <a:gd name="T14" fmla="*/ 247 w 247"/>
                <a:gd name="T15" fmla="*/ 83 h 8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7" h="83">
                  <a:moveTo>
                    <a:pt x="0" y="0"/>
                  </a:moveTo>
                  <a:lnTo>
                    <a:pt x="0" y="83"/>
                  </a:lnTo>
                  <a:lnTo>
                    <a:pt x="247" y="4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2" name="Rectangle 32"/>
            <p:cNvSpPr>
              <a:spLocks noChangeArrowheads="1"/>
            </p:cNvSpPr>
            <p:nvPr/>
          </p:nvSpPr>
          <p:spPr bwMode="auto">
            <a:xfrm>
              <a:off x="4283" y="1999"/>
              <a:ext cx="6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ISOCPEUR" pitchFamily="34" charset="0"/>
                </a:rPr>
                <a:t>L</a:t>
              </a:r>
              <a:endParaRPr lang="en-US" altLang="zh-CN" i="1">
                <a:latin typeface="ISOCPEUR" pitchFamily="34" charset="0"/>
              </a:endParaRPr>
            </a:p>
          </p:txBody>
        </p:sp>
        <p:sp>
          <p:nvSpPr>
            <p:cNvPr id="9303" name="Rectangle 33"/>
            <p:cNvSpPr>
              <a:spLocks noChangeArrowheads="1"/>
            </p:cNvSpPr>
            <p:nvPr/>
          </p:nvSpPr>
          <p:spPr bwMode="auto">
            <a:xfrm rot="16200000">
              <a:off x="3082" y="1377"/>
              <a:ext cx="90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ISOCPEUR" pitchFamily="34" charset="0"/>
                </a:rPr>
                <a:t>D</a:t>
              </a:r>
              <a:endParaRPr lang="en-US" altLang="zh-CN" i="1">
                <a:latin typeface="ISOCPEUR" pitchFamily="34" charset="0"/>
              </a:endParaRPr>
            </a:p>
          </p:txBody>
        </p:sp>
        <p:sp>
          <p:nvSpPr>
            <p:cNvPr id="9304" name="Line 34"/>
            <p:cNvSpPr>
              <a:spLocks noChangeShapeType="1"/>
            </p:cNvSpPr>
            <p:nvPr/>
          </p:nvSpPr>
          <p:spPr bwMode="auto">
            <a:xfrm>
              <a:off x="4193" y="205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5" name="Line 35"/>
            <p:cNvSpPr>
              <a:spLocks noChangeShapeType="1"/>
            </p:cNvSpPr>
            <p:nvPr/>
          </p:nvSpPr>
          <p:spPr bwMode="auto">
            <a:xfrm>
              <a:off x="3408" y="1046"/>
              <a:ext cx="785" cy="19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6" name="Line 37"/>
            <p:cNvSpPr>
              <a:spLocks noChangeShapeType="1"/>
            </p:cNvSpPr>
            <p:nvPr/>
          </p:nvSpPr>
          <p:spPr bwMode="auto">
            <a:xfrm flipV="1">
              <a:off x="3407" y="1046"/>
              <a:ext cx="2" cy="92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7" name="Line 38"/>
            <p:cNvSpPr>
              <a:spLocks noChangeShapeType="1"/>
            </p:cNvSpPr>
            <p:nvPr/>
          </p:nvSpPr>
          <p:spPr bwMode="auto">
            <a:xfrm flipH="1">
              <a:off x="3182" y="1046"/>
              <a:ext cx="22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8" name="Freeform 39"/>
            <p:cNvSpPr>
              <a:spLocks/>
            </p:cNvSpPr>
            <p:nvPr/>
          </p:nvSpPr>
          <p:spPr bwMode="auto">
            <a:xfrm>
              <a:off x="3213" y="1046"/>
              <a:ext cx="32" cy="94"/>
            </a:xfrm>
            <a:custGeom>
              <a:avLst/>
              <a:gdLst>
                <a:gd name="T0" fmla="*/ 0 w 83"/>
                <a:gd name="T1" fmla="*/ 0 h 248"/>
                <a:gd name="T2" fmla="*/ 0 w 83"/>
                <a:gd name="T3" fmla="*/ 0 h 248"/>
                <a:gd name="T4" fmla="*/ 0 w 83"/>
                <a:gd name="T5" fmla="*/ 0 h 248"/>
                <a:gd name="T6" fmla="*/ 0 w 83"/>
                <a:gd name="T7" fmla="*/ 0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8"/>
                <a:gd name="T14" fmla="*/ 83 w 83"/>
                <a:gd name="T15" fmla="*/ 248 h 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8">
                  <a:moveTo>
                    <a:pt x="0" y="248"/>
                  </a:moveTo>
                  <a:lnTo>
                    <a:pt x="83" y="248"/>
                  </a:lnTo>
                  <a:lnTo>
                    <a:pt x="42" y="0"/>
                  </a:lnTo>
                  <a:lnTo>
                    <a:pt x="0" y="2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09" name="Freeform 40"/>
            <p:cNvSpPr>
              <a:spLocks/>
            </p:cNvSpPr>
            <p:nvPr/>
          </p:nvSpPr>
          <p:spPr bwMode="auto">
            <a:xfrm>
              <a:off x="3213" y="1046"/>
              <a:ext cx="32" cy="94"/>
            </a:xfrm>
            <a:custGeom>
              <a:avLst/>
              <a:gdLst>
                <a:gd name="T0" fmla="*/ 0 w 83"/>
                <a:gd name="T1" fmla="*/ 0 h 248"/>
                <a:gd name="T2" fmla="*/ 0 w 83"/>
                <a:gd name="T3" fmla="*/ 0 h 248"/>
                <a:gd name="T4" fmla="*/ 0 w 83"/>
                <a:gd name="T5" fmla="*/ 0 h 248"/>
                <a:gd name="T6" fmla="*/ 0 w 83"/>
                <a:gd name="T7" fmla="*/ 0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8"/>
                <a:gd name="T14" fmla="*/ 83 w 83"/>
                <a:gd name="T15" fmla="*/ 248 h 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8">
                  <a:moveTo>
                    <a:pt x="0" y="248"/>
                  </a:moveTo>
                  <a:lnTo>
                    <a:pt x="83" y="248"/>
                  </a:lnTo>
                  <a:lnTo>
                    <a:pt x="42" y="0"/>
                  </a:lnTo>
                  <a:lnTo>
                    <a:pt x="0" y="248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0" name="Line 41"/>
            <p:cNvSpPr>
              <a:spLocks noChangeShapeType="1"/>
            </p:cNvSpPr>
            <p:nvPr/>
          </p:nvSpPr>
          <p:spPr bwMode="auto">
            <a:xfrm>
              <a:off x="3408" y="1046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1" name="Freeform 45"/>
            <p:cNvSpPr>
              <a:spLocks noChangeArrowheads="1"/>
            </p:cNvSpPr>
            <p:nvPr/>
          </p:nvSpPr>
          <p:spPr bwMode="auto">
            <a:xfrm>
              <a:off x="4193" y="1239"/>
              <a:ext cx="1" cy="536"/>
            </a:xfrm>
            <a:custGeom>
              <a:avLst/>
              <a:gdLst>
                <a:gd name="T0" fmla="*/ 0 w 1"/>
                <a:gd name="T1" fmla="*/ 0 h 536"/>
                <a:gd name="T2" fmla="*/ 0 w 1"/>
                <a:gd name="T3" fmla="*/ 536 h 536"/>
                <a:gd name="T4" fmla="*/ 0 60000 65536"/>
                <a:gd name="T5" fmla="*/ 0 60000 65536"/>
                <a:gd name="T6" fmla="*/ 0 w 1"/>
                <a:gd name="T7" fmla="*/ 0 h 536"/>
                <a:gd name="T8" fmla="*/ 1 w 1"/>
                <a:gd name="T9" fmla="*/ 536 h 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36">
                  <a:moveTo>
                    <a:pt x="0" y="0"/>
                  </a:moveTo>
                  <a:lnTo>
                    <a:pt x="0" y="536"/>
                  </a:lnTo>
                </a:path>
              </a:pathLst>
            </a:custGeom>
            <a:solidFill>
              <a:srgbClr val="FFFFFF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2" name="Line 46"/>
            <p:cNvSpPr>
              <a:spLocks noChangeShapeType="1"/>
            </p:cNvSpPr>
            <p:nvPr/>
          </p:nvSpPr>
          <p:spPr bwMode="auto">
            <a:xfrm>
              <a:off x="4193" y="1778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3" name="Line 47"/>
            <p:cNvSpPr>
              <a:spLocks noChangeShapeType="1"/>
            </p:cNvSpPr>
            <p:nvPr/>
          </p:nvSpPr>
          <p:spPr bwMode="auto">
            <a:xfrm>
              <a:off x="4193" y="1778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4" name="Line 48"/>
            <p:cNvSpPr>
              <a:spLocks noChangeShapeType="1"/>
            </p:cNvSpPr>
            <p:nvPr/>
          </p:nvSpPr>
          <p:spPr bwMode="auto">
            <a:xfrm>
              <a:off x="4193" y="1778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5" name="Line 49"/>
            <p:cNvSpPr>
              <a:spLocks noChangeShapeType="1"/>
            </p:cNvSpPr>
            <p:nvPr/>
          </p:nvSpPr>
          <p:spPr bwMode="auto">
            <a:xfrm>
              <a:off x="4193" y="1240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6" name="Line 50"/>
            <p:cNvSpPr>
              <a:spLocks noChangeShapeType="1"/>
            </p:cNvSpPr>
            <p:nvPr/>
          </p:nvSpPr>
          <p:spPr bwMode="auto">
            <a:xfrm>
              <a:off x="4193" y="1240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7" name="Line 51"/>
            <p:cNvSpPr>
              <a:spLocks noChangeShapeType="1"/>
            </p:cNvSpPr>
            <p:nvPr/>
          </p:nvSpPr>
          <p:spPr bwMode="auto">
            <a:xfrm>
              <a:off x="5276" y="1509"/>
              <a:ext cx="1" cy="7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8" name="Freeform 52"/>
            <p:cNvSpPr>
              <a:spLocks/>
            </p:cNvSpPr>
            <p:nvPr/>
          </p:nvSpPr>
          <p:spPr bwMode="auto">
            <a:xfrm>
              <a:off x="5183" y="2183"/>
              <a:ext cx="93" cy="30"/>
            </a:xfrm>
            <a:custGeom>
              <a:avLst/>
              <a:gdLst>
                <a:gd name="T0" fmla="*/ 0 w 247"/>
                <a:gd name="T1" fmla="*/ 0 h 82"/>
                <a:gd name="T2" fmla="*/ 0 w 247"/>
                <a:gd name="T3" fmla="*/ 0 h 82"/>
                <a:gd name="T4" fmla="*/ 0 w 247"/>
                <a:gd name="T5" fmla="*/ 0 h 82"/>
                <a:gd name="T6" fmla="*/ 0 w 247"/>
                <a:gd name="T7" fmla="*/ 0 h 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7"/>
                <a:gd name="T13" fmla="*/ 0 h 82"/>
                <a:gd name="T14" fmla="*/ 247 w 247"/>
                <a:gd name="T15" fmla="*/ 82 h 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7" h="82">
                  <a:moveTo>
                    <a:pt x="0" y="0"/>
                  </a:moveTo>
                  <a:lnTo>
                    <a:pt x="0" y="82"/>
                  </a:lnTo>
                  <a:lnTo>
                    <a:pt x="247" y="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" name="Freeform 53"/>
            <p:cNvSpPr>
              <a:spLocks/>
            </p:cNvSpPr>
            <p:nvPr/>
          </p:nvSpPr>
          <p:spPr bwMode="auto">
            <a:xfrm>
              <a:off x="5183" y="2183"/>
              <a:ext cx="93" cy="30"/>
            </a:xfrm>
            <a:custGeom>
              <a:avLst/>
              <a:gdLst>
                <a:gd name="T0" fmla="*/ 0 w 247"/>
                <a:gd name="T1" fmla="*/ 0 h 82"/>
                <a:gd name="T2" fmla="*/ 0 w 247"/>
                <a:gd name="T3" fmla="*/ 0 h 82"/>
                <a:gd name="T4" fmla="*/ 0 w 247"/>
                <a:gd name="T5" fmla="*/ 0 h 82"/>
                <a:gd name="T6" fmla="*/ 0 w 247"/>
                <a:gd name="T7" fmla="*/ 0 h 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7"/>
                <a:gd name="T13" fmla="*/ 0 h 82"/>
                <a:gd name="T14" fmla="*/ 247 w 247"/>
                <a:gd name="T15" fmla="*/ 82 h 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7" h="82">
                  <a:moveTo>
                    <a:pt x="0" y="0"/>
                  </a:moveTo>
                  <a:lnTo>
                    <a:pt x="0" y="82"/>
                  </a:lnTo>
                  <a:lnTo>
                    <a:pt x="247" y="41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" name="Line 54"/>
            <p:cNvSpPr>
              <a:spLocks noChangeShapeType="1"/>
            </p:cNvSpPr>
            <p:nvPr/>
          </p:nvSpPr>
          <p:spPr bwMode="auto">
            <a:xfrm>
              <a:off x="5276" y="219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" name="Rectangle 55"/>
            <p:cNvSpPr>
              <a:spLocks noChangeArrowheads="1"/>
            </p:cNvSpPr>
            <p:nvPr/>
          </p:nvSpPr>
          <p:spPr bwMode="auto">
            <a:xfrm>
              <a:off x="4613" y="1306"/>
              <a:ext cx="9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solidFill>
                    <a:srgbClr val="000000"/>
                  </a:solidFill>
                  <a:latin typeface="Symbol" pitchFamily="18" charset="2"/>
                </a:rPr>
                <a:t>a</a:t>
              </a:r>
              <a:endParaRPr lang="en-US" altLang="zh-CN" i="1"/>
            </a:p>
          </p:txBody>
        </p:sp>
        <p:sp>
          <p:nvSpPr>
            <p:cNvPr id="9322" name="Line 57"/>
            <p:cNvSpPr>
              <a:spLocks noChangeShapeType="1"/>
            </p:cNvSpPr>
            <p:nvPr/>
          </p:nvSpPr>
          <p:spPr bwMode="auto">
            <a:xfrm>
              <a:off x="4369" y="1334"/>
              <a:ext cx="1" cy="35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" name="Line 36"/>
            <p:cNvSpPr>
              <a:spLocks noChangeShapeType="1"/>
            </p:cNvSpPr>
            <p:nvPr/>
          </p:nvSpPr>
          <p:spPr bwMode="auto">
            <a:xfrm>
              <a:off x="3338" y="1509"/>
              <a:ext cx="397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4" name="Line 42"/>
            <p:cNvSpPr>
              <a:spLocks noChangeShapeType="1"/>
            </p:cNvSpPr>
            <p:nvPr/>
          </p:nvSpPr>
          <p:spPr bwMode="auto">
            <a:xfrm>
              <a:off x="3846" y="1509"/>
              <a:ext cx="333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" name="Line 43"/>
            <p:cNvSpPr>
              <a:spLocks noChangeShapeType="1"/>
            </p:cNvSpPr>
            <p:nvPr/>
          </p:nvSpPr>
          <p:spPr bwMode="auto">
            <a:xfrm>
              <a:off x="3770" y="1509"/>
              <a:ext cx="46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6" name="Line 56"/>
            <p:cNvSpPr>
              <a:spLocks noChangeShapeType="1"/>
            </p:cNvSpPr>
            <p:nvPr/>
          </p:nvSpPr>
          <p:spPr bwMode="auto">
            <a:xfrm>
              <a:off x="4434" y="1509"/>
              <a:ext cx="36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" name="Line 59"/>
            <p:cNvSpPr>
              <a:spLocks noChangeShapeType="1"/>
            </p:cNvSpPr>
            <p:nvPr/>
          </p:nvSpPr>
          <p:spPr bwMode="auto">
            <a:xfrm>
              <a:off x="4369" y="1778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" name="Freeform 60"/>
            <p:cNvSpPr>
              <a:spLocks/>
            </p:cNvSpPr>
            <p:nvPr/>
          </p:nvSpPr>
          <p:spPr bwMode="auto">
            <a:xfrm>
              <a:off x="4353" y="1685"/>
              <a:ext cx="32" cy="93"/>
            </a:xfrm>
            <a:custGeom>
              <a:avLst/>
              <a:gdLst>
                <a:gd name="T0" fmla="*/ 0 w 83"/>
                <a:gd name="T1" fmla="*/ 0 h 247"/>
                <a:gd name="T2" fmla="*/ 0 w 83"/>
                <a:gd name="T3" fmla="*/ 0 h 247"/>
                <a:gd name="T4" fmla="*/ 0 w 83"/>
                <a:gd name="T5" fmla="*/ 0 h 247"/>
                <a:gd name="T6" fmla="*/ 0 w 83"/>
                <a:gd name="T7" fmla="*/ 0 h 2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7"/>
                <a:gd name="T14" fmla="*/ 83 w 83"/>
                <a:gd name="T15" fmla="*/ 247 h 2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7">
                  <a:moveTo>
                    <a:pt x="0" y="0"/>
                  </a:moveTo>
                  <a:lnTo>
                    <a:pt x="83" y="0"/>
                  </a:lnTo>
                  <a:lnTo>
                    <a:pt x="41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" name="Freeform 61"/>
            <p:cNvSpPr>
              <a:spLocks/>
            </p:cNvSpPr>
            <p:nvPr/>
          </p:nvSpPr>
          <p:spPr bwMode="auto">
            <a:xfrm>
              <a:off x="4353" y="1685"/>
              <a:ext cx="32" cy="93"/>
            </a:xfrm>
            <a:custGeom>
              <a:avLst/>
              <a:gdLst>
                <a:gd name="T0" fmla="*/ 0 w 83"/>
                <a:gd name="T1" fmla="*/ 0 h 247"/>
                <a:gd name="T2" fmla="*/ 0 w 83"/>
                <a:gd name="T3" fmla="*/ 0 h 247"/>
                <a:gd name="T4" fmla="*/ 0 w 83"/>
                <a:gd name="T5" fmla="*/ 0 h 247"/>
                <a:gd name="T6" fmla="*/ 0 w 83"/>
                <a:gd name="T7" fmla="*/ 0 h 24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7"/>
                <a:gd name="T14" fmla="*/ 83 w 83"/>
                <a:gd name="T15" fmla="*/ 247 h 24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7">
                  <a:moveTo>
                    <a:pt x="0" y="0"/>
                  </a:moveTo>
                  <a:lnTo>
                    <a:pt x="83" y="0"/>
                  </a:lnTo>
                  <a:lnTo>
                    <a:pt x="41" y="247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0" name="Freeform 62"/>
            <p:cNvSpPr>
              <a:spLocks/>
            </p:cNvSpPr>
            <p:nvPr/>
          </p:nvSpPr>
          <p:spPr bwMode="auto">
            <a:xfrm>
              <a:off x="4353" y="1240"/>
              <a:ext cx="32" cy="94"/>
            </a:xfrm>
            <a:custGeom>
              <a:avLst/>
              <a:gdLst>
                <a:gd name="T0" fmla="*/ 0 w 83"/>
                <a:gd name="T1" fmla="*/ 0 h 248"/>
                <a:gd name="T2" fmla="*/ 0 w 83"/>
                <a:gd name="T3" fmla="*/ 0 h 248"/>
                <a:gd name="T4" fmla="*/ 0 w 83"/>
                <a:gd name="T5" fmla="*/ 0 h 248"/>
                <a:gd name="T6" fmla="*/ 0 w 83"/>
                <a:gd name="T7" fmla="*/ 0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8"/>
                <a:gd name="T14" fmla="*/ 83 w 83"/>
                <a:gd name="T15" fmla="*/ 248 h 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8">
                  <a:moveTo>
                    <a:pt x="0" y="248"/>
                  </a:moveTo>
                  <a:lnTo>
                    <a:pt x="83" y="248"/>
                  </a:lnTo>
                  <a:lnTo>
                    <a:pt x="41" y="0"/>
                  </a:lnTo>
                  <a:lnTo>
                    <a:pt x="0" y="24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1" name="Freeform 63"/>
            <p:cNvSpPr>
              <a:spLocks/>
            </p:cNvSpPr>
            <p:nvPr/>
          </p:nvSpPr>
          <p:spPr bwMode="auto">
            <a:xfrm>
              <a:off x="4353" y="1240"/>
              <a:ext cx="32" cy="94"/>
            </a:xfrm>
            <a:custGeom>
              <a:avLst/>
              <a:gdLst>
                <a:gd name="T0" fmla="*/ 0 w 83"/>
                <a:gd name="T1" fmla="*/ 0 h 248"/>
                <a:gd name="T2" fmla="*/ 0 w 83"/>
                <a:gd name="T3" fmla="*/ 0 h 248"/>
                <a:gd name="T4" fmla="*/ 0 w 83"/>
                <a:gd name="T5" fmla="*/ 0 h 248"/>
                <a:gd name="T6" fmla="*/ 0 w 83"/>
                <a:gd name="T7" fmla="*/ 0 h 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8"/>
                <a:gd name="T14" fmla="*/ 83 w 83"/>
                <a:gd name="T15" fmla="*/ 248 h 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8">
                  <a:moveTo>
                    <a:pt x="0" y="248"/>
                  </a:moveTo>
                  <a:lnTo>
                    <a:pt x="83" y="248"/>
                  </a:lnTo>
                  <a:lnTo>
                    <a:pt x="41" y="0"/>
                  </a:lnTo>
                  <a:lnTo>
                    <a:pt x="0" y="248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2" name="Freeform 64"/>
            <p:cNvSpPr>
              <a:spLocks noChangeArrowheads="1"/>
            </p:cNvSpPr>
            <p:nvPr/>
          </p:nvSpPr>
          <p:spPr bwMode="auto">
            <a:xfrm>
              <a:off x="4655" y="1545"/>
              <a:ext cx="37" cy="213"/>
            </a:xfrm>
            <a:custGeom>
              <a:avLst/>
              <a:gdLst>
                <a:gd name="T0" fmla="*/ 0 w 37"/>
                <a:gd name="T1" fmla="*/ 0 h 213"/>
                <a:gd name="T2" fmla="*/ 10 w 37"/>
                <a:gd name="T3" fmla="*/ 122 h 213"/>
                <a:gd name="T4" fmla="*/ 37 w 37"/>
                <a:gd name="T5" fmla="*/ 213 h 213"/>
                <a:gd name="T6" fmla="*/ 0 60000 65536"/>
                <a:gd name="T7" fmla="*/ 0 60000 65536"/>
                <a:gd name="T8" fmla="*/ 0 60000 65536"/>
                <a:gd name="T9" fmla="*/ 0 w 37"/>
                <a:gd name="T10" fmla="*/ 0 h 213"/>
                <a:gd name="T11" fmla="*/ 37 w 37"/>
                <a:gd name="T12" fmla="*/ 213 h 2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" h="213">
                  <a:moveTo>
                    <a:pt x="0" y="0"/>
                  </a:moveTo>
                  <a:lnTo>
                    <a:pt x="10" y="122"/>
                  </a:lnTo>
                  <a:lnTo>
                    <a:pt x="37" y="213"/>
                  </a:lnTo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3" name="Freeform 65"/>
            <p:cNvSpPr>
              <a:spLocks/>
            </p:cNvSpPr>
            <p:nvPr/>
          </p:nvSpPr>
          <p:spPr bwMode="auto">
            <a:xfrm>
              <a:off x="4642" y="1509"/>
              <a:ext cx="32" cy="94"/>
            </a:xfrm>
            <a:custGeom>
              <a:avLst/>
              <a:gdLst>
                <a:gd name="T0" fmla="*/ 0 w 83"/>
                <a:gd name="T1" fmla="*/ 0 h 249"/>
                <a:gd name="T2" fmla="*/ 0 w 83"/>
                <a:gd name="T3" fmla="*/ 0 h 249"/>
                <a:gd name="T4" fmla="*/ 0 w 83"/>
                <a:gd name="T5" fmla="*/ 0 h 249"/>
                <a:gd name="T6" fmla="*/ 0 w 83"/>
                <a:gd name="T7" fmla="*/ 0 h 2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9"/>
                <a:gd name="T14" fmla="*/ 83 w 83"/>
                <a:gd name="T15" fmla="*/ 249 h 2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9">
                  <a:moveTo>
                    <a:pt x="0" y="249"/>
                  </a:moveTo>
                  <a:lnTo>
                    <a:pt x="83" y="247"/>
                  </a:lnTo>
                  <a:lnTo>
                    <a:pt x="33" y="0"/>
                  </a:lnTo>
                  <a:lnTo>
                    <a:pt x="0" y="24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4" name="Freeform 66"/>
            <p:cNvSpPr>
              <a:spLocks/>
            </p:cNvSpPr>
            <p:nvPr/>
          </p:nvSpPr>
          <p:spPr bwMode="auto">
            <a:xfrm>
              <a:off x="4642" y="1509"/>
              <a:ext cx="32" cy="94"/>
            </a:xfrm>
            <a:custGeom>
              <a:avLst/>
              <a:gdLst>
                <a:gd name="T0" fmla="*/ 0 w 83"/>
                <a:gd name="T1" fmla="*/ 0 h 249"/>
                <a:gd name="T2" fmla="*/ 0 w 83"/>
                <a:gd name="T3" fmla="*/ 0 h 249"/>
                <a:gd name="T4" fmla="*/ 0 w 83"/>
                <a:gd name="T5" fmla="*/ 0 h 249"/>
                <a:gd name="T6" fmla="*/ 0 w 83"/>
                <a:gd name="T7" fmla="*/ 0 h 2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"/>
                <a:gd name="T13" fmla="*/ 0 h 249"/>
                <a:gd name="T14" fmla="*/ 83 w 83"/>
                <a:gd name="T15" fmla="*/ 249 h 2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" h="249">
                  <a:moveTo>
                    <a:pt x="0" y="249"/>
                  </a:moveTo>
                  <a:lnTo>
                    <a:pt x="83" y="247"/>
                  </a:lnTo>
                  <a:lnTo>
                    <a:pt x="33" y="0"/>
                  </a:lnTo>
                  <a:lnTo>
                    <a:pt x="0" y="24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5" name="Line 68"/>
            <p:cNvSpPr>
              <a:spLocks noChangeShapeType="1"/>
            </p:cNvSpPr>
            <p:nvPr/>
          </p:nvSpPr>
          <p:spPr bwMode="auto">
            <a:xfrm>
              <a:off x="4657" y="145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6" name="Freeform 69"/>
            <p:cNvSpPr>
              <a:spLocks noChangeArrowheads="1"/>
            </p:cNvSpPr>
            <p:nvPr/>
          </p:nvSpPr>
          <p:spPr bwMode="auto">
            <a:xfrm>
              <a:off x="4671" y="1105"/>
              <a:ext cx="123" cy="247"/>
            </a:xfrm>
            <a:custGeom>
              <a:avLst/>
              <a:gdLst>
                <a:gd name="T0" fmla="*/ 123 w 123"/>
                <a:gd name="T1" fmla="*/ 0 h 247"/>
                <a:gd name="T2" fmla="*/ 70 w 123"/>
                <a:gd name="T3" fmla="*/ 78 h 247"/>
                <a:gd name="T4" fmla="*/ 0 w 123"/>
                <a:gd name="T5" fmla="*/ 247 h 247"/>
                <a:gd name="T6" fmla="*/ 0 60000 65536"/>
                <a:gd name="T7" fmla="*/ 0 60000 65536"/>
                <a:gd name="T8" fmla="*/ 0 60000 65536"/>
                <a:gd name="T9" fmla="*/ 0 w 123"/>
                <a:gd name="T10" fmla="*/ 0 h 247"/>
                <a:gd name="T11" fmla="*/ 123 w 123"/>
                <a:gd name="T12" fmla="*/ 247 h 2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3" h="247">
                  <a:moveTo>
                    <a:pt x="123" y="0"/>
                  </a:moveTo>
                  <a:lnTo>
                    <a:pt x="70" y="78"/>
                  </a:lnTo>
                  <a:lnTo>
                    <a:pt x="0" y="247"/>
                  </a:lnTo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7" name="Freeform 70"/>
            <p:cNvSpPr>
              <a:spLocks/>
            </p:cNvSpPr>
            <p:nvPr/>
          </p:nvSpPr>
          <p:spPr bwMode="auto">
            <a:xfrm>
              <a:off x="4674" y="1266"/>
              <a:ext cx="43" cy="94"/>
            </a:xfrm>
            <a:custGeom>
              <a:avLst/>
              <a:gdLst>
                <a:gd name="T0" fmla="*/ 0 w 115"/>
                <a:gd name="T1" fmla="*/ 0 h 249"/>
                <a:gd name="T2" fmla="*/ 0 w 115"/>
                <a:gd name="T3" fmla="*/ 0 h 249"/>
                <a:gd name="T4" fmla="*/ 0 w 115"/>
                <a:gd name="T5" fmla="*/ 0 h 249"/>
                <a:gd name="T6" fmla="*/ 0 w 115"/>
                <a:gd name="T7" fmla="*/ 0 h 2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249"/>
                <a:gd name="T14" fmla="*/ 115 w 115"/>
                <a:gd name="T15" fmla="*/ 249 h 2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249">
                  <a:moveTo>
                    <a:pt x="115" y="26"/>
                  </a:moveTo>
                  <a:lnTo>
                    <a:pt x="37" y="0"/>
                  </a:lnTo>
                  <a:lnTo>
                    <a:pt x="0" y="249"/>
                  </a:lnTo>
                  <a:lnTo>
                    <a:pt x="115" y="2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8" name="Freeform 71"/>
            <p:cNvSpPr>
              <a:spLocks/>
            </p:cNvSpPr>
            <p:nvPr/>
          </p:nvSpPr>
          <p:spPr bwMode="auto">
            <a:xfrm>
              <a:off x="4674" y="1266"/>
              <a:ext cx="43" cy="94"/>
            </a:xfrm>
            <a:custGeom>
              <a:avLst/>
              <a:gdLst>
                <a:gd name="T0" fmla="*/ 0 w 115"/>
                <a:gd name="T1" fmla="*/ 0 h 249"/>
                <a:gd name="T2" fmla="*/ 0 w 115"/>
                <a:gd name="T3" fmla="*/ 0 h 249"/>
                <a:gd name="T4" fmla="*/ 0 w 115"/>
                <a:gd name="T5" fmla="*/ 0 h 249"/>
                <a:gd name="T6" fmla="*/ 0 w 115"/>
                <a:gd name="T7" fmla="*/ 0 h 24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5"/>
                <a:gd name="T13" fmla="*/ 0 h 249"/>
                <a:gd name="T14" fmla="*/ 115 w 115"/>
                <a:gd name="T15" fmla="*/ 249 h 24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5" h="249">
                  <a:moveTo>
                    <a:pt x="115" y="26"/>
                  </a:moveTo>
                  <a:lnTo>
                    <a:pt x="37" y="0"/>
                  </a:lnTo>
                  <a:lnTo>
                    <a:pt x="0" y="249"/>
                  </a:lnTo>
                  <a:lnTo>
                    <a:pt x="115" y="26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9" name="Line 72"/>
            <p:cNvSpPr>
              <a:spLocks noChangeShapeType="1"/>
            </p:cNvSpPr>
            <p:nvPr/>
          </p:nvSpPr>
          <p:spPr bwMode="auto">
            <a:xfrm>
              <a:off x="5276" y="150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0" name="Line 73"/>
            <p:cNvSpPr>
              <a:spLocks noChangeShapeType="1"/>
            </p:cNvSpPr>
            <p:nvPr/>
          </p:nvSpPr>
          <p:spPr bwMode="auto">
            <a:xfrm>
              <a:off x="5276" y="150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1" name="Line 205"/>
            <p:cNvSpPr>
              <a:spLocks noChangeShapeType="1"/>
            </p:cNvSpPr>
            <p:nvPr/>
          </p:nvSpPr>
          <p:spPr bwMode="auto">
            <a:xfrm>
              <a:off x="4836" y="1510"/>
              <a:ext cx="5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42" name="Line 206"/>
            <p:cNvSpPr>
              <a:spLocks noChangeShapeType="1"/>
            </p:cNvSpPr>
            <p:nvPr/>
          </p:nvSpPr>
          <p:spPr bwMode="auto">
            <a:xfrm>
              <a:off x="4936" y="1510"/>
              <a:ext cx="39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11"/>
          <p:cNvGrpSpPr>
            <a:grpSpLocks/>
          </p:cNvGrpSpPr>
          <p:nvPr/>
        </p:nvGrpSpPr>
        <p:grpSpPr bwMode="auto">
          <a:xfrm>
            <a:off x="2271713" y="3643314"/>
            <a:ext cx="2835276" cy="2852737"/>
            <a:chOff x="471" y="2295"/>
            <a:chExt cx="1786" cy="1797"/>
          </a:xfrm>
        </p:grpSpPr>
        <p:sp>
          <p:nvSpPr>
            <p:cNvPr id="9228" name="Text Box 190"/>
            <p:cNvSpPr txBox="1">
              <a:spLocks noChangeArrowheads="1"/>
            </p:cNvSpPr>
            <p:nvPr/>
          </p:nvSpPr>
          <p:spPr bwMode="auto">
            <a:xfrm rot="16200000">
              <a:off x="720" y="2772"/>
              <a:ext cx="481" cy="233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1</a:t>
              </a:r>
              <a:r>
                <a:rPr lang="zh-CN" altLang="en-US" i="1">
                  <a:latin typeface="ISOCPEUR" pitchFamily="34" charset="0"/>
                </a:rPr>
                <a:t>单位</a:t>
              </a:r>
            </a:p>
          </p:txBody>
        </p:sp>
        <p:sp>
          <p:nvSpPr>
            <p:cNvPr id="9229" name="Text Box 178"/>
            <p:cNvSpPr txBox="1">
              <a:spLocks noChangeArrowheads="1"/>
            </p:cNvSpPr>
            <p:nvPr/>
          </p:nvSpPr>
          <p:spPr bwMode="auto">
            <a:xfrm>
              <a:off x="878" y="3691"/>
              <a:ext cx="198" cy="252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latin typeface="ISOCPEUR" pitchFamily="34" charset="0"/>
                </a:rPr>
                <a:t>5</a:t>
              </a:r>
            </a:p>
          </p:txBody>
        </p:sp>
        <p:sp>
          <p:nvSpPr>
            <p:cNvPr id="9230" name="Line 131"/>
            <p:cNvSpPr>
              <a:spLocks noChangeShapeType="1"/>
            </p:cNvSpPr>
            <p:nvPr/>
          </p:nvSpPr>
          <p:spPr bwMode="auto">
            <a:xfrm>
              <a:off x="1103" y="2663"/>
              <a:ext cx="1042" cy="1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1" name="Line 76"/>
            <p:cNvSpPr>
              <a:spLocks noChangeShapeType="1"/>
            </p:cNvSpPr>
            <p:nvPr/>
          </p:nvSpPr>
          <p:spPr bwMode="auto">
            <a:xfrm>
              <a:off x="1696" y="3185"/>
              <a:ext cx="561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2" name="Line 77"/>
            <p:cNvSpPr>
              <a:spLocks noChangeShapeType="1"/>
            </p:cNvSpPr>
            <p:nvPr/>
          </p:nvSpPr>
          <p:spPr bwMode="auto">
            <a:xfrm flipH="1">
              <a:off x="670" y="3706"/>
              <a:ext cx="16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3" name="Line 78"/>
            <p:cNvSpPr>
              <a:spLocks noChangeShapeType="1"/>
            </p:cNvSpPr>
            <p:nvPr/>
          </p:nvSpPr>
          <p:spPr bwMode="auto">
            <a:xfrm flipH="1">
              <a:off x="670" y="2664"/>
              <a:ext cx="162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4" name="Line 79"/>
            <p:cNvSpPr>
              <a:spLocks noChangeShapeType="1"/>
            </p:cNvSpPr>
            <p:nvPr/>
          </p:nvSpPr>
          <p:spPr bwMode="auto">
            <a:xfrm flipV="1">
              <a:off x="692" y="2657"/>
              <a:ext cx="2" cy="105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5" name="Line 93"/>
            <p:cNvSpPr>
              <a:spLocks noChangeShapeType="1"/>
            </p:cNvSpPr>
            <p:nvPr/>
          </p:nvSpPr>
          <p:spPr bwMode="auto">
            <a:xfrm>
              <a:off x="2145" y="2769"/>
              <a:ext cx="1" cy="8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6" name="Line 94"/>
            <p:cNvSpPr>
              <a:spLocks noChangeShapeType="1"/>
            </p:cNvSpPr>
            <p:nvPr/>
          </p:nvSpPr>
          <p:spPr bwMode="auto">
            <a:xfrm>
              <a:off x="1103" y="2664"/>
              <a:ext cx="2" cy="10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7" name="Line 95"/>
            <p:cNvSpPr>
              <a:spLocks noChangeShapeType="1"/>
            </p:cNvSpPr>
            <p:nvPr/>
          </p:nvSpPr>
          <p:spPr bwMode="auto">
            <a:xfrm>
              <a:off x="844" y="2664"/>
              <a:ext cx="1" cy="10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8" name="Line 96"/>
            <p:cNvSpPr>
              <a:spLocks noChangeShapeType="1"/>
            </p:cNvSpPr>
            <p:nvPr/>
          </p:nvSpPr>
          <p:spPr bwMode="auto">
            <a:xfrm>
              <a:off x="844" y="3717"/>
              <a:ext cx="1" cy="3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39" name="Line 97"/>
            <p:cNvSpPr>
              <a:spLocks noChangeShapeType="1"/>
            </p:cNvSpPr>
            <p:nvPr/>
          </p:nvSpPr>
          <p:spPr bwMode="auto">
            <a:xfrm>
              <a:off x="2145" y="3614"/>
              <a:ext cx="1" cy="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0" name="Line 98"/>
            <p:cNvSpPr>
              <a:spLocks noChangeShapeType="1"/>
            </p:cNvSpPr>
            <p:nvPr/>
          </p:nvSpPr>
          <p:spPr bwMode="auto">
            <a:xfrm>
              <a:off x="848" y="4025"/>
              <a:ext cx="130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1" name="Line 113"/>
            <p:cNvSpPr>
              <a:spLocks noChangeShapeType="1"/>
            </p:cNvSpPr>
            <p:nvPr/>
          </p:nvSpPr>
          <p:spPr bwMode="auto">
            <a:xfrm>
              <a:off x="842" y="3890"/>
              <a:ext cx="258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2" name="Line 126"/>
            <p:cNvSpPr>
              <a:spLocks noChangeShapeType="1"/>
            </p:cNvSpPr>
            <p:nvPr/>
          </p:nvSpPr>
          <p:spPr bwMode="auto">
            <a:xfrm flipH="1">
              <a:off x="844" y="3706"/>
              <a:ext cx="259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3" name="Line 127"/>
            <p:cNvSpPr>
              <a:spLocks noChangeShapeType="1"/>
            </p:cNvSpPr>
            <p:nvPr/>
          </p:nvSpPr>
          <p:spPr bwMode="auto">
            <a:xfrm flipV="1">
              <a:off x="1103" y="3601"/>
              <a:ext cx="1042" cy="10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4" name="Line 128"/>
            <p:cNvSpPr>
              <a:spLocks noChangeShapeType="1"/>
            </p:cNvSpPr>
            <p:nvPr/>
          </p:nvSpPr>
          <p:spPr bwMode="auto">
            <a:xfrm>
              <a:off x="752" y="3185"/>
              <a:ext cx="38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5" name="Line 129"/>
            <p:cNvSpPr>
              <a:spLocks noChangeShapeType="1"/>
            </p:cNvSpPr>
            <p:nvPr/>
          </p:nvSpPr>
          <p:spPr bwMode="auto">
            <a:xfrm flipH="1">
              <a:off x="844" y="2664"/>
              <a:ext cx="259" cy="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6" name="Line 132"/>
            <p:cNvSpPr>
              <a:spLocks noChangeShapeType="1"/>
            </p:cNvSpPr>
            <p:nvPr/>
          </p:nvSpPr>
          <p:spPr bwMode="auto">
            <a:xfrm>
              <a:off x="1103" y="3108"/>
              <a:ext cx="775" cy="7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7" name="Line 133"/>
            <p:cNvSpPr>
              <a:spLocks noChangeShapeType="1"/>
            </p:cNvSpPr>
            <p:nvPr/>
          </p:nvSpPr>
          <p:spPr bwMode="auto">
            <a:xfrm flipV="1">
              <a:off x="1103" y="3185"/>
              <a:ext cx="775" cy="77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8" name="Line 134"/>
            <p:cNvSpPr>
              <a:spLocks noChangeShapeType="1"/>
            </p:cNvSpPr>
            <p:nvPr/>
          </p:nvSpPr>
          <p:spPr bwMode="auto">
            <a:xfrm>
              <a:off x="1210" y="3185"/>
              <a:ext cx="418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135"/>
            <p:cNvSpPr>
              <a:spLocks noChangeShapeType="1"/>
            </p:cNvSpPr>
            <p:nvPr/>
          </p:nvSpPr>
          <p:spPr bwMode="auto">
            <a:xfrm flipH="1">
              <a:off x="986" y="3262"/>
              <a:ext cx="117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136"/>
            <p:cNvSpPr>
              <a:spLocks noChangeShapeType="1"/>
            </p:cNvSpPr>
            <p:nvPr/>
          </p:nvSpPr>
          <p:spPr bwMode="auto">
            <a:xfrm flipH="1">
              <a:off x="995" y="3108"/>
              <a:ext cx="108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137"/>
            <p:cNvSpPr>
              <a:spLocks noChangeShapeType="1"/>
            </p:cNvSpPr>
            <p:nvPr/>
          </p:nvSpPr>
          <p:spPr bwMode="auto">
            <a:xfrm flipV="1">
              <a:off x="1259" y="3155"/>
              <a:ext cx="1" cy="5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138"/>
            <p:cNvSpPr>
              <a:spLocks noChangeShapeType="1"/>
            </p:cNvSpPr>
            <p:nvPr/>
          </p:nvSpPr>
          <p:spPr bwMode="auto">
            <a:xfrm>
              <a:off x="1166" y="3185"/>
              <a:ext cx="1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139"/>
            <p:cNvSpPr>
              <a:spLocks noChangeShapeType="1"/>
            </p:cNvSpPr>
            <p:nvPr/>
          </p:nvSpPr>
          <p:spPr bwMode="auto">
            <a:xfrm>
              <a:off x="1394" y="3185"/>
              <a:ext cx="34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140"/>
            <p:cNvSpPr>
              <a:spLocks noChangeShapeType="1"/>
            </p:cNvSpPr>
            <p:nvPr/>
          </p:nvSpPr>
          <p:spPr bwMode="auto">
            <a:xfrm>
              <a:off x="1413" y="3155"/>
              <a:ext cx="1" cy="5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Line 141"/>
            <p:cNvSpPr>
              <a:spLocks noChangeShapeType="1"/>
            </p:cNvSpPr>
            <p:nvPr/>
          </p:nvSpPr>
          <p:spPr bwMode="auto">
            <a:xfrm flipV="1">
              <a:off x="1568" y="3155"/>
              <a:ext cx="2" cy="5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142"/>
            <p:cNvSpPr>
              <a:spLocks noChangeShapeType="1"/>
            </p:cNvSpPr>
            <p:nvPr/>
          </p:nvSpPr>
          <p:spPr bwMode="auto">
            <a:xfrm>
              <a:off x="1459" y="3185"/>
              <a:ext cx="23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143"/>
            <p:cNvSpPr>
              <a:spLocks noChangeShapeType="1"/>
            </p:cNvSpPr>
            <p:nvPr/>
          </p:nvSpPr>
          <p:spPr bwMode="auto">
            <a:xfrm>
              <a:off x="1649" y="3185"/>
              <a:ext cx="2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Line 144"/>
            <p:cNvSpPr>
              <a:spLocks noChangeShapeType="1"/>
            </p:cNvSpPr>
            <p:nvPr/>
          </p:nvSpPr>
          <p:spPr bwMode="auto">
            <a:xfrm>
              <a:off x="1723" y="3155"/>
              <a:ext cx="0" cy="5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Line 145"/>
            <p:cNvSpPr>
              <a:spLocks noChangeShapeType="1"/>
            </p:cNvSpPr>
            <p:nvPr/>
          </p:nvSpPr>
          <p:spPr bwMode="auto">
            <a:xfrm flipV="1">
              <a:off x="1878" y="3155"/>
              <a:ext cx="1" cy="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0" name="Text Box 174"/>
            <p:cNvSpPr txBox="1">
              <a:spLocks noChangeArrowheads="1"/>
            </p:cNvSpPr>
            <p:nvPr/>
          </p:nvSpPr>
          <p:spPr bwMode="auto">
            <a:xfrm>
              <a:off x="1706" y="2295"/>
              <a:ext cx="323" cy="252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latin typeface="ISOCPEUR" pitchFamily="34" charset="0"/>
                </a:rPr>
                <a:t>1:5</a:t>
              </a:r>
            </a:p>
          </p:txBody>
        </p:sp>
        <p:sp>
          <p:nvSpPr>
            <p:cNvPr id="9261" name="Line 130"/>
            <p:cNvSpPr>
              <a:spLocks noChangeShapeType="1"/>
            </p:cNvSpPr>
            <p:nvPr/>
          </p:nvSpPr>
          <p:spPr bwMode="auto">
            <a:xfrm flipH="1">
              <a:off x="1228" y="2491"/>
              <a:ext cx="79" cy="1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2" name="Line 150"/>
            <p:cNvSpPr>
              <a:spLocks noChangeShapeType="1"/>
            </p:cNvSpPr>
            <p:nvPr/>
          </p:nvSpPr>
          <p:spPr bwMode="auto">
            <a:xfrm>
              <a:off x="1307" y="2491"/>
              <a:ext cx="676" cy="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9263" name="Group 172"/>
            <p:cNvGrpSpPr>
              <a:grpSpLocks/>
            </p:cNvGrpSpPr>
            <p:nvPr/>
          </p:nvGrpSpPr>
          <p:grpSpPr bwMode="auto">
            <a:xfrm>
              <a:off x="1403" y="2416"/>
              <a:ext cx="361" cy="150"/>
              <a:chOff x="4234" y="2318"/>
              <a:chExt cx="86" cy="36"/>
            </a:xfrm>
          </p:grpSpPr>
          <p:sp>
            <p:nvSpPr>
              <p:cNvPr id="9274" name="Line 151"/>
              <p:cNvSpPr>
                <a:spLocks noChangeShapeType="1"/>
              </p:cNvSpPr>
              <p:nvPr/>
            </p:nvSpPr>
            <p:spPr bwMode="auto">
              <a:xfrm flipV="1">
                <a:off x="4234" y="2337"/>
                <a:ext cx="86" cy="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75" name="Line 152"/>
              <p:cNvSpPr>
                <a:spLocks noChangeShapeType="1"/>
              </p:cNvSpPr>
              <p:nvPr/>
            </p:nvSpPr>
            <p:spPr bwMode="auto">
              <a:xfrm>
                <a:off x="4234" y="2318"/>
                <a:ext cx="86" cy="1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64" name="Line 175"/>
            <p:cNvSpPr>
              <a:spLocks noChangeShapeType="1"/>
            </p:cNvSpPr>
            <p:nvPr/>
          </p:nvSpPr>
          <p:spPr bwMode="auto">
            <a:xfrm>
              <a:off x="1408" y="2414"/>
              <a:ext cx="0" cy="15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5" name="Text Box 179"/>
            <p:cNvSpPr txBox="1">
              <a:spLocks noChangeArrowheads="1"/>
            </p:cNvSpPr>
            <p:nvPr/>
          </p:nvSpPr>
          <p:spPr bwMode="auto">
            <a:xfrm>
              <a:off x="1346" y="3840"/>
              <a:ext cx="280" cy="252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2000" i="1">
                  <a:latin typeface="ISOCPEUR" pitchFamily="34" charset="0"/>
                </a:rPr>
                <a:t>25</a:t>
              </a:r>
            </a:p>
          </p:txBody>
        </p:sp>
        <p:sp>
          <p:nvSpPr>
            <p:cNvPr id="9266" name="Text Box 180"/>
            <p:cNvSpPr txBox="1">
              <a:spLocks noChangeArrowheads="1"/>
            </p:cNvSpPr>
            <p:nvPr/>
          </p:nvSpPr>
          <p:spPr bwMode="auto">
            <a:xfrm rot="16200000">
              <a:off x="419" y="3046"/>
              <a:ext cx="356" cy="252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  <a:sym typeface="Symbol" pitchFamily="18" charset="2"/>
                </a:rPr>
                <a:t></a:t>
              </a:r>
              <a:r>
                <a:rPr lang="en-US" altLang="zh-CN" sz="2000" i="1">
                  <a:latin typeface="ISOCPEUR" pitchFamily="34" charset="0"/>
                </a:rPr>
                <a:t>20</a:t>
              </a:r>
            </a:p>
          </p:txBody>
        </p:sp>
        <p:sp>
          <p:nvSpPr>
            <p:cNvPr id="9267" name="Line 183"/>
            <p:cNvSpPr>
              <a:spLocks noChangeShapeType="1"/>
            </p:cNvSpPr>
            <p:nvPr/>
          </p:nvSpPr>
          <p:spPr bwMode="auto">
            <a:xfrm>
              <a:off x="1879" y="3177"/>
              <a:ext cx="0" cy="28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8" name="Line 184"/>
            <p:cNvSpPr>
              <a:spLocks noChangeShapeType="1"/>
            </p:cNvSpPr>
            <p:nvPr/>
          </p:nvSpPr>
          <p:spPr bwMode="auto">
            <a:xfrm>
              <a:off x="1104" y="3424"/>
              <a:ext cx="7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9" name="Text Box 186"/>
            <p:cNvSpPr txBox="1">
              <a:spLocks noChangeArrowheads="1"/>
            </p:cNvSpPr>
            <p:nvPr/>
          </p:nvSpPr>
          <p:spPr bwMode="auto">
            <a:xfrm>
              <a:off x="1269" y="3247"/>
              <a:ext cx="481" cy="233"/>
            </a:xfrm>
            <a:prstGeom prst="rect">
              <a:avLst/>
            </a:prstGeom>
            <a:noFill/>
            <a:ln w="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5</a:t>
              </a:r>
              <a:r>
                <a:rPr lang="zh-CN" altLang="en-US" i="1">
                  <a:latin typeface="ISOCPEUR" pitchFamily="34" charset="0"/>
                </a:rPr>
                <a:t>单位</a:t>
              </a:r>
            </a:p>
          </p:txBody>
        </p:sp>
        <p:sp>
          <p:nvSpPr>
            <p:cNvPr id="9270" name="Line 187"/>
            <p:cNvSpPr>
              <a:spLocks noChangeShapeType="1"/>
            </p:cNvSpPr>
            <p:nvPr/>
          </p:nvSpPr>
          <p:spPr bwMode="auto">
            <a:xfrm flipV="1">
              <a:off x="1032" y="3258"/>
              <a:ext cx="0" cy="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1" name="Line 188"/>
            <p:cNvSpPr>
              <a:spLocks noChangeShapeType="1"/>
            </p:cNvSpPr>
            <p:nvPr/>
          </p:nvSpPr>
          <p:spPr bwMode="auto">
            <a:xfrm flipV="1">
              <a:off x="1032" y="3112"/>
              <a:ext cx="0" cy="1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2" name="Line 189"/>
            <p:cNvSpPr>
              <a:spLocks noChangeShapeType="1"/>
            </p:cNvSpPr>
            <p:nvPr/>
          </p:nvSpPr>
          <p:spPr bwMode="auto">
            <a:xfrm flipV="1">
              <a:off x="1032" y="2720"/>
              <a:ext cx="0" cy="4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3" name="Line 210"/>
            <p:cNvSpPr>
              <a:spLocks noChangeShapeType="1"/>
            </p:cNvSpPr>
            <p:nvPr/>
          </p:nvSpPr>
          <p:spPr bwMode="auto">
            <a:xfrm>
              <a:off x="1098" y="3708"/>
              <a:ext cx="0" cy="23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5" name="矩形 144"/>
          <p:cNvSpPr/>
          <p:nvPr/>
        </p:nvSpPr>
        <p:spPr>
          <a:xfrm>
            <a:off x="6667504" y="1643050"/>
            <a:ext cx="350046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锥度</a:t>
            </a:r>
            <a:r>
              <a:rPr lang="en-US" altLang="zh-CN" sz="2000" dirty="0">
                <a:solidFill>
                  <a:srgbClr val="FF0000"/>
                </a:solidFill>
              </a:rPr>
              <a:t>=</a:t>
            </a:r>
            <a:r>
              <a:rPr lang="en-US" altLang="zh-CN" sz="2000" i="1" dirty="0">
                <a:solidFill>
                  <a:srgbClr val="FF0000"/>
                </a:solidFill>
              </a:rPr>
              <a:t>D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en-US" altLang="zh-CN" sz="2000" i="1" dirty="0">
                <a:solidFill>
                  <a:srgbClr val="FF0000"/>
                </a:solidFill>
              </a:rPr>
              <a:t>L</a:t>
            </a:r>
            <a:r>
              <a:rPr lang="zh-CN" altLang="en-US" sz="2000" dirty="0">
                <a:solidFill>
                  <a:srgbClr val="FF0000"/>
                </a:solidFill>
              </a:rPr>
              <a:t>＝（</a:t>
            </a:r>
            <a:r>
              <a:rPr lang="en-US" altLang="zh-CN" sz="2000" i="1" dirty="0">
                <a:solidFill>
                  <a:srgbClr val="FF0000"/>
                </a:solidFill>
              </a:rPr>
              <a:t>D</a:t>
            </a:r>
            <a:r>
              <a:rPr lang="en-US" altLang="zh-CN" sz="2000" dirty="0">
                <a:solidFill>
                  <a:srgbClr val="FF0000"/>
                </a:solidFill>
              </a:rPr>
              <a:t>-</a:t>
            </a:r>
            <a:r>
              <a:rPr lang="en-US" altLang="zh-CN" sz="2000" i="1" dirty="0">
                <a:solidFill>
                  <a:srgbClr val="FF0000"/>
                </a:solidFill>
              </a:rPr>
              <a:t>d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</a:rPr>
              <a:t>/ </a:t>
            </a:r>
            <a:r>
              <a:rPr lang="en-US" altLang="zh-CN" sz="2000" i="1" dirty="0">
                <a:solidFill>
                  <a:srgbClr val="FF0000"/>
                </a:solidFill>
              </a:rPr>
              <a:t>l=</a:t>
            </a:r>
            <a:r>
              <a:rPr lang="en-US" altLang="zh-CN" sz="2000" dirty="0">
                <a:solidFill>
                  <a:srgbClr val="FF0000"/>
                </a:solidFill>
              </a:rPr>
              <a:t>2tanα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</a:rPr>
              <a:t>α</a:t>
            </a:r>
            <a:r>
              <a:rPr lang="zh-CN" altLang="en-US" sz="2000" dirty="0">
                <a:solidFill>
                  <a:srgbClr val="FF0000"/>
                </a:solidFill>
              </a:rPr>
              <a:t>为半锥角</a:t>
            </a:r>
          </a:p>
        </p:txBody>
      </p:sp>
      <p:sp>
        <p:nvSpPr>
          <p:cNvPr id="147" name="Text Box 194"/>
          <p:cNvSpPr txBox="1">
            <a:spLocks noChangeArrowheads="1"/>
          </p:cNvSpPr>
          <p:nvPr/>
        </p:nvSpPr>
        <p:spPr bwMode="auto">
          <a:xfrm>
            <a:off x="1273463" y="781095"/>
            <a:ext cx="2698175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二、斜度与锥度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8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9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698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91" grpId="0" autoUpdateAnimBg="0"/>
      <p:bldP spid="69803" grpId="0" autoUpdateAnimBg="0"/>
      <p:bldP spid="69824" grpId="0" autoUpdateAnimBg="0"/>
      <p:bldP spid="69825" grpId="0" build="p" autoUpdateAnimBg="0"/>
      <p:bldP spid="69836" grpId="0" autoUpdateAnimBg="0"/>
      <p:bldP spid="1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1595916" y="1374270"/>
            <a:ext cx="4248150" cy="450842"/>
          </a:xfrm>
        </p:spPr>
        <p:txBody>
          <a:bodyPr/>
          <a:lstStyle/>
          <a:p>
            <a:pPr marL="571500" indent="-571500">
              <a:buNone/>
            </a:pP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利用布尔运算构建二维图形</a:t>
            </a:r>
            <a:endParaRPr lang="en-US" altLang="zh-CN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4" name="Text Box 194"/>
          <p:cNvSpPr txBox="1">
            <a:spLocks noChangeArrowheads="1"/>
          </p:cNvSpPr>
          <p:nvPr/>
        </p:nvSpPr>
        <p:spPr bwMode="auto">
          <a:xfrm>
            <a:off x="1343472" y="874204"/>
            <a:ext cx="4333238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二、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二维图形的构形方法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524101" y="3429000"/>
            <a:ext cx="1260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图形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en-US" b="1" dirty="0"/>
          </a:p>
        </p:txBody>
      </p:sp>
      <p:sp>
        <p:nvSpPr>
          <p:cNvPr id="22" name="矩形 21"/>
          <p:cNvSpPr/>
          <p:nvPr/>
        </p:nvSpPr>
        <p:spPr>
          <a:xfrm>
            <a:off x="4667240" y="3429000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并运算结果 </a:t>
            </a:r>
            <a:endParaRPr lang="zh-CN" altLang="en-US" b="1" dirty="0"/>
          </a:p>
        </p:txBody>
      </p:sp>
      <p:sp>
        <p:nvSpPr>
          <p:cNvPr id="23" name="矩形 22"/>
          <p:cNvSpPr/>
          <p:nvPr/>
        </p:nvSpPr>
        <p:spPr>
          <a:xfrm>
            <a:off x="6167438" y="3429000"/>
            <a:ext cx="1396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交运算结果 </a:t>
            </a:r>
            <a:endParaRPr lang="zh-CN" altLang="en-US" b="1" dirty="0"/>
          </a:p>
        </p:txBody>
      </p:sp>
      <p:pic>
        <p:nvPicPr>
          <p:cNvPr id="10258" name="Picture 1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24035" y="2071678"/>
            <a:ext cx="11334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59" name="Picture 19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08556" y="1857364"/>
            <a:ext cx="13716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0" name="Picture 2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05934" y="1850126"/>
            <a:ext cx="2000250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1" name="Picture 2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67175" y="1871662"/>
            <a:ext cx="19907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2" name="Picture 22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39680" y="2071679"/>
            <a:ext cx="533400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3" name="Picture 2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6596066" y="2071679"/>
            <a:ext cx="55245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矩形 30"/>
          <p:cNvSpPr/>
          <p:nvPr/>
        </p:nvSpPr>
        <p:spPr>
          <a:xfrm>
            <a:off x="8334786" y="3416858"/>
            <a:ext cx="1404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差运算结果 </a:t>
            </a:r>
            <a:endParaRPr lang="zh-CN" altLang="en-US" b="1" dirty="0"/>
          </a:p>
        </p:txBody>
      </p:sp>
      <p:pic>
        <p:nvPicPr>
          <p:cNvPr id="10265" name="Picture 25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591454" y="1933574"/>
            <a:ext cx="250507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4" name="Picture 24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037503" y="1890924"/>
            <a:ext cx="1943100" cy="1304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矩形 4"/>
          <p:cNvSpPr>
            <a:spLocks noChangeArrowheads="1"/>
          </p:cNvSpPr>
          <p:nvPr/>
        </p:nvSpPr>
        <p:spPr bwMode="auto">
          <a:xfrm>
            <a:off x="5102444" y="6072207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400" b="1" dirty="0">
                <a:latin typeface="黑体" pitchFamily="49" charset="-122"/>
                <a:ea typeface="黑体" pitchFamily="49" charset="-122"/>
              </a:rPr>
              <a:t>阵列构形</a:t>
            </a:r>
          </a:p>
        </p:txBody>
      </p:sp>
      <p:pic>
        <p:nvPicPr>
          <p:cNvPr id="35" name="Picture 2" descr="4-2"/>
          <p:cNvPicPr>
            <a:picLocks noChangeAspect="1"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5629" b="6969"/>
          <a:stretch>
            <a:fillRect/>
          </a:stretch>
        </p:blipFill>
        <p:spPr bwMode="auto">
          <a:xfrm>
            <a:off x="1952596" y="4857761"/>
            <a:ext cx="4029686" cy="889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" name="Picture 3" descr="5-15"/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51" t="8519" r="2930" b="5630"/>
          <a:stretch>
            <a:fillRect/>
          </a:stretch>
        </p:blipFill>
        <p:spPr bwMode="auto">
          <a:xfrm>
            <a:off x="6453190" y="4786322"/>
            <a:ext cx="3643338" cy="1081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矩形 13"/>
          <p:cNvSpPr>
            <a:spLocks noChangeArrowheads="1"/>
          </p:cNvSpPr>
          <p:nvPr/>
        </p:nvSpPr>
        <p:spPr bwMode="auto">
          <a:xfrm>
            <a:off x="2381225" y="6000768"/>
            <a:ext cx="31337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000" dirty="0"/>
              <a:t>子图形的矩形阵列</a:t>
            </a:r>
            <a:r>
              <a:rPr lang="en-US" altLang="zh-CN" sz="2000" dirty="0"/>
              <a:t>	</a:t>
            </a:r>
            <a:endParaRPr lang="zh-CN" altLang="en-US" sz="2000" dirty="0"/>
          </a:p>
        </p:txBody>
      </p:sp>
      <p:sp>
        <p:nvSpPr>
          <p:cNvPr id="38" name="矩形 14"/>
          <p:cNvSpPr>
            <a:spLocks noChangeArrowheads="1"/>
          </p:cNvSpPr>
          <p:nvPr/>
        </p:nvSpPr>
        <p:spPr bwMode="auto">
          <a:xfrm>
            <a:off x="7239008" y="6000768"/>
            <a:ext cx="22367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000" dirty="0"/>
              <a:t>子图形的环形阵列</a:t>
            </a:r>
            <a:endParaRPr lang="zh-CN" altLang="en-US" sz="2000" dirty="0"/>
          </a:p>
        </p:txBody>
      </p:sp>
      <p:sp>
        <p:nvSpPr>
          <p:cNvPr id="39" name="矩形 15"/>
          <p:cNvSpPr>
            <a:spLocks noChangeArrowheads="1"/>
          </p:cNvSpPr>
          <p:nvPr/>
        </p:nvSpPr>
        <p:spPr bwMode="auto">
          <a:xfrm>
            <a:off x="2317780" y="4391063"/>
            <a:ext cx="8064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 sz="2000" dirty="0"/>
              <a:t>子图形的大小及形状不变，按矩形或环形阵列构建所需的二维图形。</a:t>
            </a:r>
            <a:endParaRPr lang="zh-CN" altLang="en-US" sz="2000" dirty="0"/>
          </a:p>
        </p:txBody>
      </p:sp>
      <p:sp>
        <p:nvSpPr>
          <p:cNvPr id="40" name="内容占位符 2"/>
          <p:cNvSpPr txBox="1">
            <a:spLocks/>
          </p:cNvSpPr>
          <p:nvPr/>
        </p:nvSpPr>
        <p:spPr bwMode="auto">
          <a:xfrm>
            <a:off x="1677486" y="3871007"/>
            <a:ext cx="4605340" cy="417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en-US" altLang="zh-CN" sz="2400" b="1" dirty="0">
                <a:latin typeface="+mn-lt"/>
                <a:ea typeface="+mn-ea"/>
              </a:rPr>
              <a:t>2. </a:t>
            </a:r>
            <a:r>
              <a:rPr lang="zh-CN" altLang="zh-CN" sz="2400" b="1" dirty="0">
                <a:latin typeface="+mn-lt"/>
                <a:ea typeface="+mn-ea"/>
              </a:rPr>
              <a:t>利用子图形构建二维图形</a:t>
            </a:r>
            <a:endParaRPr lang="en-US" altLang="zh-CN" sz="24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8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10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0" dur="20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31" grpId="0"/>
      <p:bldP spid="34" grpId="0"/>
      <p:bldP spid="37" grpId="0"/>
      <p:bldP spid="38" grpId="0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1414878" y="1400879"/>
            <a:ext cx="4500594" cy="41750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CN" sz="2400" b="1" dirty="0"/>
              <a:t>2. </a:t>
            </a:r>
            <a:r>
              <a:rPr lang="zh-CN" altLang="zh-CN" sz="2400" b="1" dirty="0"/>
              <a:t>利用子图形构建二维图形</a:t>
            </a:r>
            <a:endParaRPr lang="en-US" altLang="zh-CN" sz="2400" b="1" dirty="0"/>
          </a:p>
        </p:txBody>
      </p:sp>
      <p:sp>
        <p:nvSpPr>
          <p:cNvPr id="20484" name="矩形 4"/>
          <p:cNvSpPr>
            <a:spLocks noChangeArrowheads="1"/>
          </p:cNvSpPr>
          <p:nvPr/>
        </p:nvSpPr>
        <p:spPr bwMode="auto">
          <a:xfrm>
            <a:off x="1822708" y="1872861"/>
            <a:ext cx="14157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镜像构形</a:t>
            </a:r>
            <a:endParaRPr lang="zh-CN" altLang="zh-CN" sz="24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0485" name="Picture 2" descr="5-16"/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524496" y="2103693"/>
            <a:ext cx="5253037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6" name="矩形 3"/>
          <p:cNvSpPr>
            <a:spLocks noChangeArrowheads="1"/>
          </p:cNvSpPr>
          <p:nvPr/>
        </p:nvSpPr>
        <p:spPr bwMode="auto">
          <a:xfrm>
            <a:off x="1822572" y="2385202"/>
            <a:ext cx="317804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000" b="1" dirty="0"/>
              <a:t>子图形的形状及大小不变，以指定的线为对称线，构建所需的二维图形。</a:t>
            </a:r>
            <a:endParaRPr lang="zh-CN" altLang="en-US" sz="2000" b="1" dirty="0"/>
          </a:p>
        </p:txBody>
      </p:sp>
      <p:sp>
        <p:nvSpPr>
          <p:cNvPr id="7" name="Text Box 194"/>
          <p:cNvSpPr txBox="1">
            <a:spLocks noChangeArrowheads="1"/>
          </p:cNvSpPr>
          <p:nvPr/>
        </p:nvSpPr>
        <p:spPr bwMode="auto">
          <a:xfrm>
            <a:off x="1414878" y="900812"/>
            <a:ext cx="4333238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二、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二维图形的构形方法</a:t>
            </a:r>
            <a:endParaRPr lang="zh-CN" altLang="en-US" sz="28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9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 bwMode="auto">
          <a:xfrm>
            <a:off x="1343472" y="3582132"/>
            <a:ext cx="5357818" cy="461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0" hangingPunct="0">
              <a:spcBef>
                <a:spcPts val="0"/>
              </a:spcBef>
              <a:defRPr/>
            </a:pP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3.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利用几何相交和相切构建二维图形</a:t>
            </a:r>
            <a:endParaRPr lang="en-US" altLang="zh-CN" sz="24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矩形 5"/>
          <p:cNvSpPr>
            <a:spLocks noChangeArrowheads="1"/>
          </p:cNvSpPr>
          <p:nvPr/>
        </p:nvSpPr>
        <p:spPr bwMode="auto">
          <a:xfrm>
            <a:off x="1681479" y="4214819"/>
            <a:ext cx="3843017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000" b="1" dirty="0"/>
              <a:t>由直线、圆弧连接构成的</a:t>
            </a:r>
            <a:r>
              <a:rPr lang="zh-CN" altLang="zh-CN" sz="2000" b="1" dirty="0">
                <a:solidFill>
                  <a:srgbClr val="FF0000"/>
                </a:solidFill>
              </a:rPr>
              <a:t>无规则的二维图形</a:t>
            </a:r>
            <a:r>
              <a:rPr lang="zh-CN" altLang="zh-CN" sz="2000" b="1" dirty="0"/>
              <a:t>，</a:t>
            </a:r>
            <a:r>
              <a:rPr lang="zh-CN" altLang="zh-CN" sz="2000" b="1" dirty="0">
                <a:solidFill>
                  <a:srgbClr val="FF0000"/>
                </a:solidFill>
              </a:rPr>
              <a:t>无法</a:t>
            </a:r>
            <a:r>
              <a:rPr lang="zh-CN" altLang="zh-CN" sz="2000" b="1" dirty="0"/>
              <a:t>用</a:t>
            </a:r>
            <a:r>
              <a:rPr lang="zh-CN" altLang="zh-CN" sz="2000" b="1" dirty="0">
                <a:solidFill>
                  <a:srgbClr val="FF0000"/>
                </a:solidFill>
              </a:rPr>
              <a:t>布尔运算</a:t>
            </a:r>
            <a:r>
              <a:rPr lang="zh-CN" altLang="zh-CN" sz="2000" b="1" dirty="0"/>
              <a:t>构形，也很</a:t>
            </a:r>
            <a:r>
              <a:rPr lang="zh-CN" altLang="zh-CN" sz="2000" b="1" dirty="0">
                <a:solidFill>
                  <a:srgbClr val="FF0000"/>
                </a:solidFill>
              </a:rPr>
              <a:t>难采用子图形组合</a:t>
            </a:r>
            <a:r>
              <a:rPr lang="zh-CN" altLang="zh-CN" sz="2000" b="1" dirty="0"/>
              <a:t>的方式</a:t>
            </a:r>
            <a:r>
              <a:rPr lang="zh-CN" altLang="zh-CN" sz="2000" b="1" dirty="0">
                <a:solidFill>
                  <a:srgbClr val="FF0000"/>
                </a:solidFill>
              </a:rPr>
              <a:t>构形</a:t>
            </a:r>
            <a:r>
              <a:rPr lang="zh-CN" altLang="zh-CN" sz="2000" b="1" dirty="0"/>
              <a:t>。对于这些二维图形，可采用</a:t>
            </a:r>
            <a:r>
              <a:rPr lang="zh-CN" altLang="zh-CN" sz="2000" b="1" dirty="0">
                <a:solidFill>
                  <a:srgbClr val="FF0000"/>
                </a:solidFill>
              </a:rPr>
              <a:t>圆弧连接</a:t>
            </a:r>
            <a:r>
              <a:rPr lang="zh-CN" altLang="zh-CN" sz="2000" b="1" dirty="0"/>
              <a:t>的方法构建图形。</a:t>
            </a:r>
            <a:endParaRPr lang="zh-CN" altLang="en-US" sz="2000" b="1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50270"/>
          <a:stretch>
            <a:fillRect/>
          </a:stretch>
        </p:blipFill>
        <p:spPr bwMode="auto">
          <a:xfrm>
            <a:off x="5915472" y="4454320"/>
            <a:ext cx="2159663" cy="1235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4051"/>
          <a:stretch>
            <a:fillRect/>
          </a:stretch>
        </p:blipFill>
        <p:spPr bwMode="auto">
          <a:xfrm>
            <a:off x="8701554" y="4311444"/>
            <a:ext cx="1954897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6095980" y="5840983"/>
            <a:ext cx="474200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(a) 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卡盘构形        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(b)   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法兰接头面域图形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6" grpId="0"/>
      <p:bldP spid="10" grpId="0"/>
      <p:bldP spid="1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 noChangeArrowheads="1"/>
          </p:cNvSpPr>
          <p:nvPr/>
        </p:nvSpPr>
        <p:spPr bwMode="auto">
          <a:xfrm>
            <a:off x="1207956" y="1384200"/>
            <a:ext cx="40610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8288" eaLnBrk="0" hangingPunct="0"/>
            <a:r>
              <a:rPr lang="zh-CN" altLang="zh-CN" sz="2800" b="1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圆弧与已知直线连接</a:t>
            </a:r>
            <a:endParaRPr lang="zh-CN" altLang="en-US" sz="2800" dirty="0">
              <a:latin typeface="Arial" pitchFamily="34" charset="0"/>
            </a:endParaRPr>
          </a:p>
        </p:txBody>
      </p:sp>
      <p:sp>
        <p:nvSpPr>
          <p:cNvPr id="3" name="Text Box 194"/>
          <p:cNvSpPr txBox="1">
            <a:spLocks noChangeArrowheads="1"/>
          </p:cNvSpPr>
          <p:nvPr/>
        </p:nvSpPr>
        <p:spPr bwMode="auto">
          <a:xfrm>
            <a:off x="1279394" y="884138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4" name="Text Box 31"/>
          <p:cNvSpPr txBox="1">
            <a:spLocks noChangeArrowheads="1"/>
          </p:cNvSpPr>
          <p:nvPr/>
        </p:nvSpPr>
        <p:spPr bwMode="auto">
          <a:xfrm>
            <a:off x="3238480" y="357171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 Box 53"/>
          <p:cNvSpPr txBox="1">
            <a:spLocks noChangeArrowheads="1"/>
          </p:cNvSpPr>
          <p:nvPr/>
        </p:nvSpPr>
        <p:spPr bwMode="auto">
          <a:xfrm>
            <a:off x="2024035" y="4758059"/>
            <a:ext cx="8226425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/>
              <a:t>⑴ </a:t>
            </a:r>
            <a:r>
              <a:rPr lang="zh-CN" altLang="en-US" sz="2400" dirty="0"/>
              <a:t>作两条辅助线分别与两已知直线平行且相距</a:t>
            </a:r>
            <a:r>
              <a:rPr lang="en-US" altLang="zh-CN" sz="2400" dirty="0"/>
              <a:t>R</a:t>
            </a:r>
            <a:r>
              <a:rPr lang="zh-CN" altLang="en-US" sz="2400" dirty="0"/>
              <a:t>。</a:t>
            </a:r>
          </a:p>
        </p:txBody>
      </p:sp>
      <p:sp>
        <p:nvSpPr>
          <p:cNvPr id="6" name="Text Box 54"/>
          <p:cNvSpPr txBox="1">
            <a:spLocks noChangeArrowheads="1"/>
          </p:cNvSpPr>
          <p:nvPr/>
        </p:nvSpPr>
        <p:spPr bwMode="auto">
          <a:xfrm>
            <a:off x="2024035" y="5705796"/>
            <a:ext cx="8228013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/>
              <a:t>⑵ </a:t>
            </a:r>
            <a:r>
              <a:rPr lang="zh-CN" altLang="en-US" sz="2400" dirty="0"/>
              <a:t>由点</a:t>
            </a:r>
            <a:r>
              <a:rPr lang="en-US" altLang="zh-CN" sz="2400" dirty="0"/>
              <a:t>O</a:t>
            </a:r>
            <a:r>
              <a:rPr lang="zh-CN" altLang="en-US" sz="2400" dirty="0"/>
              <a:t>分别向两已知直线作垂线，垂足即切点。</a:t>
            </a:r>
          </a:p>
        </p:txBody>
      </p:sp>
      <p:sp>
        <p:nvSpPr>
          <p:cNvPr id="7" name="Text Box 55"/>
          <p:cNvSpPr txBox="1">
            <a:spLocks noChangeArrowheads="1"/>
          </p:cNvSpPr>
          <p:nvPr/>
        </p:nvSpPr>
        <p:spPr bwMode="auto">
          <a:xfrm>
            <a:off x="2024035" y="6182046"/>
            <a:ext cx="8245475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⑶ </a:t>
            </a:r>
            <a:r>
              <a:rPr lang="zh-CN" altLang="en-US" sz="2400"/>
              <a:t>以点</a:t>
            </a:r>
            <a:r>
              <a:rPr lang="en-US" altLang="zh-CN" sz="2400"/>
              <a:t>O</a:t>
            </a:r>
            <a:r>
              <a:rPr lang="zh-CN" altLang="en-US" sz="2400"/>
              <a:t>为圆心，</a:t>
            </a:r>
            <a:r>
              <a:rPr lang="en-US" altLang="zh-CN" sz="2400"/>
              <a:t>R</a:t>
            </a:r>
            <a:r>
              <a:rPr lang="zh-CN" altLang="en-US" sz="2400"/>
              <a:t>为半径画连接圆弧。</a:t>
            </a:r>
          </a:p>
        </p:txBody>
      </p:sp>
      <p:sp>
        <p:nvSpPr>
          <p:cNvPr id="8" name="Text Box 57"/>
          <p:cNvSpPr txBox="1">
            <a:spLocks noChangeArrowheads="1"/>
          </p:cNvSpPr>
          <p:nvPr/>
        </p:nvSpPr>
        <p:spPr bwMode="auto">
          <a:xfrm>
            <a:off x="2512984" y="5188271"/>
            <a:ext cx="5113338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dirty="0"/>
              <a:t>交点</a:t>
            </a:r>
            <a:r>
              <a:rPr lang="en-US" altLang="zh-CN" sz="2400" dirty="0"/>
              <a:t>O</a:t>
            </a:r>
            <a:r>
              <a:rPr lang="zh-CN" altLang="en-US" sz="2400" dirty="0"/>
              <a:t>即为连接圆弧的圆心。</a:t>
            </a:r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 t="39082"/>
          <a:stretch>
            <a:fillRect/>
          </a:stretch>
        </p:blipFill>
        <p:spPr bwMode="auto">
          <a:xfrm>
            <a:off x="5667373" y="2019318"/>
            <a:ext cx="3667125" cy="233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 r="61039" b="68362"/>
          <a:stretch>
            <a:fillRect/>
          </a:stretch>
        </p:blipFill>
        <p:spPr bwMode="auto">
          <a:xfrm>
            <a:off x="2809852" y="2071678"/>
            <a:ext cx="1428760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299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81819" y="2741917"/>
            <a:ext cx="23907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69437" y="1643051"/>
            <a:ext cx="21812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676939" y="2030735"/>
            <a:ext cx="3743325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2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37369" y="2630482"/>
            <a:ext cx="9048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303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451565" y="1987541"/>
            <a:ext cx="313372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94"/>
          <p:cNvSpPr txBox="1">
            <a:spLocks noChangeArrowheads="1"/>
          </p:cNvSpPr>
          <p:nvPr/>
        </p:nvSpPr>
        <p:spPr bwMode="auto">
          <a:xfrm>
            <a:off x="1359356" y="893940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4" name="Text Box 31"/>
          <p:cNvSpPr txBox="1">
            <a:spLocks noChangeArrowheads="1"/>
          </p:cNvSpPr>
          <p:nvPr/>
        </p:nvSpPr>
        <p:spPr bwMode="auto">
          <a:xfrm>
            <a:off x="3238480" y="357171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6" name="Text Box 45"/>
          <p:cNvSpPr txBox="1">
            <a:spLocks noChangeArrowheads="1"/>
          </p:cNvSpPr>
          <p:nvPr/>
        </p:nvSpPr>
        <p:spPr bwMode="auto">
          <a:xfrm>
            <a:off x="2033961" y="2442144"/>
            <a:ext cx="2214578" cy="120032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⑴ </a:t>
            </a:r>
            <a:r>
              <a:rPr lang="zh-CN" altLang="en-US" sz="2400" b="1" dirty="0">
                <a:latin typeface="+mn-ea"/>
                <a:ea typeface="+mn-ea"/>
              </a:rPr>
              <a:t>以</a:t>
            </a:r>
            <a:r>
              <a:rPr lang="en-US" altLang="zh-CN" sz="2400" b="1" dirty="0">
                <a:latin typeface="+mn-ea"/>
                <a:ea typeface="+mn-ea"/>
              </a:rPr>
              <a:t>O</a:t>
            </a:r>
            <a:r>
              <a:rPr lang="en-US" altLang="zh-CN" sz="2400" b="1" baseline="-25000" dirty="0">
                <a:latin typeface="+mn-ea"/>
                <a:ea typeface="+mn-ea"/>
              </a:rPr>
              <a:t>1</a:t>
            </a:r>
            <a:r>
              <a:rPr lang="zh-CN" altLang="en-US" sz="2400" b="1" dirty="0">
                <a:latin typeface="+mn-ea"/>
                <a:ea typeface="+mn-ea"/>
              </a:rPr>
              <a:t>为圆心，</a:t>
            </a:r>
            <a:r>
              <a:rPr lang="en-US" altLang="zh-CN" sz="2400" b="1" dirty="0">
                <a:latin typeface="+mn-ea"/>
                <a:ea typeface="+mn-ea"/>
              </a:rPr>
              <a:t>R</a:t>
            </a:r>
            <a:r>
              <a:rPr lang="en-US" altLang="zh-CN" sz="2400" b="1" baseline="-25000" dirty="0">
                <a:latin typeface="+mn-ea"/>
                <a:ea typeface="+mn-ea"/>
              </a:rPr>
              <a:t>1</a:t>
            </a:r>
            <a:r>
              <a:rPr lang="en-US" altLang="zh-CN" sz="2400" b="1" dirty="0">
                <a:latin typeface="+mn-ea"/>
                <a:ea typeface="+mn-ea"/>
              </a:rPr>
              <a:t>+R</a:t>
            </a:r>
            <a:r>
              <a:rPr lang="zh-CN" altLang="en-US" sz="2400" b="1" dirty="0">
                <a:latin typeface="+mn-ea"/>
                <a:ea typeface="+mn-ea"/>
              </a:rPr>
              <a:t>为半径画圆弧。</a:t>
            </a:r>
          </a:p>
        </p:txBody>
      </p:sp>
      <p:sp>
        <p:nvSpPr>
          <p:cNvPr id="7" name="Text Box 46"/>
          <p:cNvSpPr txBox="1">
            <a:spLocks noChangeArrowheads="1"/>
          </p:cNvSpPr>
          <p:nvPr/>
        </p:nvSpPr>
        <p:spPr bwMode="auto">
          <a:xfrm>
            <a:off x="2061794" y="3774991"/>
            <a:ext cx="2357454" cy="120032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⑵ </a:t>
            </a:r>
            <a:r>
              <a:rPr lang="zh-CN" altLang="en-US" sz="2400" b="1" dirty="0">
                <a:latin typeface="+mn-ea"/>
                <a:ea typeface="+mn-ea"/>
              </a:rPr>
              <a:t>以</a:t>
            </a:r>
            <a:r>
              <a:rPr lang="en-US" altLang="zh-CN" sz="2400" b="1" dirty="0">
                <a:latin typeface="+mn-ea"/>
                <a:ea typeface="+mn-ea"/>
              </a:rPr>
              <a:t>O</a:t>
            </a:r>
            <a:r>
              <a:rPr lang="en-US" altLang="zh-CN" sz="2400" b="1" baseline="-25000" dirty="0">
                <a:latin typeface="+mn-ea"/>
                <a:ea typeface="+mn-ea"/>
              </a:rPr>
              <a:t>2</a:t>
            </a:r>
            <a:r>
              <a:rPr lang="zh-CN" altLang="en-US" sz="2400" b="1" dirty="0">
                <a:latin typeface="+mn-ea"/>
                <a:ea typeface="+mn-ea"/>
              </a:rPr>
              <a:t>为圆心，</a:t>
            </a:r>
            <a:r>
              <a:rPr lang="en-US" altLang="zh-CN" sz="2400" b="1" dirty="0">
                <a:latin typeface="+mn-ea"/>
                <a:ea typeface="+mn-ea"/>
              </a:rPr>
              <a:t>R</a:t>
            </a:r>
            <a:r>
              <a:rPr lang="en-US" altLang="zh-CN" sz="2400" b="1" baseline="-25000" dirty="0">
                <a:latin typeface="+mn-ea"/>
                <a:ea typeface="+mn-ea"/>
              </a:rPr>
              <a:t>2</a:t>
            </a:r>
            <a:r>
              <a:rPr lang="en-US" altLang="zh-CN" sz="2400" b="1" dirty="0">
                <a:latin typeface="+mn-ea"/>
                <a:ea typeface="+mn-ea"/>
              </a:rPr>
              <a:t>+R</a:t>
            </a:r>
            <a:r>
              <a:rPr lang="zh-CN" altLang="en-US" sz="2400" b="1" dirty="0">
                <a:latin typeface="+mn-ea"/>
                <a:ea typeface="+mn-ea"/>
              </a:rPr>
              <a:t>为半径画圆弧。</a:t>
            </a:r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77028" y="2928935"/>
            <a:ext cx="5476624" cy="2643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 Box 48"/>
          <p:cNvSpPr txBox="1">
            <a:spLocks noChangeArrowheads="1"/>
          </p:cNvSpPr>
          <p:nvPr/>
        </p:nvSpPr>
        <p:spPr bwMode="auto">
          <a:xfrm>
            <a:off x="2033961" y="5763191"/>
            <a:ext cx="5253074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⑷ </a:t>
            </a:r>
            <a:r>
              <a:rPr lang="zh-CN" altLang="en-US" sz="2400" b="1" dirty="0">
                <a:latin typeface="+mn-ea"/>
                <a:ea typeface="+mn-ea"/>
              </a:rPr>
              <a:t>以</a:t>
            </a:r>
            <a:r>
              <a:rPr lang="en-US" altLang="zh-CN" sz="2400" b="1" dirty="0">
                <a:latin typeface="+mn-ea"/>
                <a:ea typeface="+mn-ea"/>
              </a:rPr>
              <a:t>O</a:t>
            </a:r>
            <a:r>
              <a:rPr lang="zh-CN" altLang="en-US" sz="2400" b="1" dirty="0">
                <a:latin typeface="+mn-ea"/>
                <a:ea typeface="+mn-ea"/>
              </a:rPr>
              <a:t>为圆心，</a:t>
            </a:r>
            <a:r>
              <a:rPr lang="en-US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+mn-ea"/>
                <a:ea typeface="+mn-ea"/>
              </a:rPr>
              <a:t>R</a:t>
            </a:r>
            <a:r>
              <a:rPr lang="zh-CN" altLang="en-US" sz="2400" b="1" dirty="0">
                <a:latin typeface="+mn-ea"/>
                <a:ea typeface="+mn-ea"/>
              </a:rPr>
              <a:t>为半径画连接圆弧。 </a:t>
            </a:r>
          </a:p>
        </p:txBody>
      </p:sp>
      <p:sp>
        <p:nvSpPr>
          <p:cNvPr id="9" name="Text Box 51"/>
          <p:cNvSpPr txBox="1">
            <a:spLocks noChangeArrowheads="1"/>
          </p:cNvSpPr>
          <p:nvPr/>
        </p:nvSpPr>
        <p:spPr bwMode="auto">
          <a:xfrm>
            <a:off x="2061794" y="5201700"/>
            <a:ext cx="5643602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+mn-ea"/>
                <a:ea typeface="+mn-ea"/>
              </a:rPr>
              <a:t>⑶ </a:t>
            </a:r>
            <a:r>
              <a:rPr lang="zh-CN" altLang="en-US" sz="2400" b="1" dirty="0">
                <a:latin typeface="+mn-ea"/>
                <a:ea typeface="+mn-ea"/>
              </a:rPr>
              <a:t>分别连接</a:t>
            </a:r>
            <a:r>
              <a:rPr lang="en-US" altLang="zh-CN" sz="2400" b="1" dirty="0">
                <a:latin typeface="+mn-ea"/>
                <a:ea typeface="+mn-ea"/>
              </a:rPr>
              <a:t>O</a:t>
            </a:r>
            <a:r>
              <a:rPr lang="en-US" altLang="zh-CN" sz="2400" b="1" baseline="-25000" dirty="0">
                <a:latin typeface="+mn-ea"/>
                <a:ea typeface="+mn-ea"/>
              </a:rPr>
              <a:t>1</a:t>
            </a:r>
            <a:r>
              <a:rPr lang="en-US" altLang="zh-CN" sz="2400" b="1" dirty="0">
                <a:latin typeface="+mn-ea"/>
                <a:ea typeface="+mn-ea"/>
              </a:rPr>
              <a:t>O</a:t>
            </a:r>
            <a:r>
              <a:rPr lang="zh-CN" altLang="en-US" sz="2400" b="1" dirty="0">
                <a:latin typeface="+mn-ea"/>
                <a:ea typeface="+mn-ea"/>
              </a:rPr>
              <a:t>、</a:t>
            </a:r>
            <a:r>
              <a:rPr lang="en-US" altLang="zh-CN" sz="2400" b="1" dirty="0">
                <a:latin typeface="+mn-ea"/>
                <a:ea typeface="+mn-ea"/>
              </a:rPr>
              <a:t>O</a:t>
            </a:r>
            <a:r>
              <a:rPr lang="en-US" altLang="zh-CN" sz="2400" b="1" baseline="-25000" dirty="0">
                <a:latin typeface="+mn-ea"/>
                <a:ea typeface="+mn-ea"/>
              </a:rPr>
              <a:t>2</a:t>
            </a:r>
            <a:r>
              <a:rPr lang="en-US" altLang="zh-CN" sz="2400" b="1" dirty="0">
                <a:latin typeface="+mn-ea"/>
                <a:ea typeface="+mn-ea"/>
              </a:rPr>
              <a:t>O</a:t>
            </a:r>
            <a:r>
              <a:rPr lang="en-US" altLang="zh-CN" sz="2400" b="1" baseline="-25000" dirty="0">
                <a:latin typeface="+mn-ea"/>
                <a:ea typeface="+mn-ea"/>
              </a:rPr>
              <a:t>3</a:t>
            </a:r>
            <a:r>
              <a:rPr lang="zh-CN" altLang="en-US" sz="2400" b="1" dirty="0">
                <a:latin typeface="+mn-ea"/>
                <a:ea typeface="+mn-ea"/>
              </a:rPr>
              <a:t>求得两个切点。</a:t>
            </a:r>
          </a:p>
        </p:txBody>
      </p:sp>
      <p:pic>
        <p:nvPicPr>
          <p:cNvPr id="61443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94254" y="2295526"/>
            <a:ext cx="2555651" cy="2317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99229" y="1745730"/>
            <a:ext cx="2560633" cy="2629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24364" y="1928803"/>
            <a:ext cx="5416444" cy="368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6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0722" y="3562351"/>
            <a:ext cx="2068455" cy="565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47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8239141" y="1428736"/>
            <a:ext cx="1806783" cy="8323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441" name="Rectangle 1"/>
          <p:cNvSpPr>
            <a:spLocks noChangeArrowheads="1"/>
          </p:cNvSpPr>
          <p:nvPr/>
        </p:nvSpPr>
        <p:spPr bwMode="auto">
          <a:xfrm>
            <a:off x="1797154" y="1526434"/>
            <a:ext cx="38956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圆弧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与已知两圆弧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R1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R2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外连接</a:t>
            </a:r>
            <a:r>
              <a:rPr lang="zh-CN" altLang="en-US" sz="2400" b="1" dirty="0">
                <a:latin typeface="+mn-ea"/>
              </a:rPr>
              <a:t>（外切）</a:t>
            </a:r>
            <a:endParaRPr lang="zh-CN" altLang="en-US" sz="2400" dirty="0"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/>
          <p:cNvSpPr>
            <a:spLocks noChangeArrowheads="1"/>
          </p:cNvSpPr>
          <p:nvPr/>
        </p:nvSpPr>
        <p:spPr bwMode="auto">
          <a:xfrm>
            <a:off x="1290929" y="1354874"/>
            <a:ext cx="41668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268288" eaLnBrk="0" hangingPunct="0"/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圆弧与已知两圆弧内连接</a:t>
            </a:r>
            <a:endParaRPr lang="zh-CN" altLang="en-US" sz="2400" dirty="0">
              <a:latin typeface="Arial" pitchFamily="34" charset="0"/>
            </a:endParaRPr>
          </a:p>
        </p:txBody>
      </p:sp>
      <p:sp>
        <p:nvSpPr>
          <p:cNvPr id="3" name="Text Box 194"/>
          <p:cNvSpPr txBox="1">
            <a:spLocks noChangeArrowheads="1"/>
          </p:cNvSpPr>
          <p:nvPr/>
        </p:nvSpPr>
        <p:spPr bwMode="auto">
          <a:xfrm>
            <a:off x="1457247" y="854811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4" name="Text Box 31"/>
          <p:cNvSpPr txBox="1">
            <a:spLocks noChangeArrowheads="1"/>
          </p:cNvSpPr>
          <p:nvPr/>
        </p:nvSpPr>
        <p:spPr bwMode="auto">
          <a:xfrm>
            <a:off x="3238480" y="357171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14940" y="3519520"/>
            <a:ext cx="5010150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Box 36"/>
          <p:cNvSpPr txBox="1">
            <a:spLocks noChangeArrowheads="1"/>
          </p:cNvSpPr>
          <p:nvPr/>
        </p:nvSpPr>
        <p:spPr bwMode="auto">
          <a:xfrm>
            <a:off x="1604442" y="1839750"/>
            <a:ext cx="3825367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⑴ </a:t>
            </a:r>
            <a:r>
              <a:rPr lang="zh-CN" altLang="en-US" sz="2400" dirty="0"/>
              <a:t>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为圆心，</a:t>
            </a:r>
            <a:r>
              <a:rPr lang="en-US" altLang="zh-CN" sz="2400" dirty="0"/>
              <a:t>R-R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为</a:t>
            </a:r>
          </a:p>
          <a:p>
            <a:r>
              <a:rPr lang="zh-CN" altLang="en-US" sz="2400" dirty="0"/>
              <a:t>   半径画圆弧。</a:t>
            </a:r>
          </a:p>
        </p:txBody>
      </p:sp>
      <p:sp>
        <p:nvSpPr>
          <p:cNvPr id="7" name="Text Box 37"/>
          <p:cNvSpPr txBox="1">
            <a:spLocks noChangeArrowheads="1"/>
          </p:cNvSpPr>
          <p:nvPr/>
        </p:nvSpPr>
        <p:spPr bwMode="auto">
          <a:xfrm>
            <a:off x="1604441" y="2870037"/>
            <a:ext cx="3438762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⑵ </a:t>
            </a:r>
            <a:r>
              <a:rPr lang="zh-CN" altLang="en-US" sz="2400" dirty="0"/>
              <a:t>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为圆心，</a:t>
            </a:r>
            <a:r>
              <a:rPr lang="en-US" altLang="zh-CN" sz="2400" dirty="0"/>
              <a:t>R-R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为</a:t>
            </a:r>
          </a:p>
          <a:p>
            <a:r>
              <a:rPr lang="zh-CN" altLang="en-US" sz="2400" dirty="0"/>
              <a:t>   半径画圆弧。</a:t>
            </a:r>
          </a:p>
        </p:txBody>
      </p:sp>
      <p:sp>
        <p:nvSpPr>
          <p:cNvPr id="8" name="Text Box 38"/>
          <p:cNvSpPr txBox="1">
            <a:spLocks noChangeArrowheads="1"/>
          </p:cNvSpPr>
          <p:nvPr/>
        </p:nvSpPr>
        <p:spPr bwMode="auto">
          <a:xfrm>
            <a:off x="1604441" y="5300500"/>
            <a:ext cx="2468946" cy="120032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/>
              <a:t>⑷ </a:t>
            </a:r>
            <a:r>
              <a:rPr lang="zh-CN" altLang="en-US" sz="2400"/>
              <a:t>以</a:t>
            </a:r>
            <a:r>
              <a:rPr lang="en-US" altLang="zh-CN" sz="2400"/>
              <a:t>O</a:t>
            </a:r>
            <a:r>
              <a:rPr lang="en-US" altLang="zh-CN" sz="2400" baseline="-25000"/>
              <a:t>3</a:t>
            </a:r>
            <a:r>
              <a:rPr lang="zh-CN" altLang="en-US" sz="2400"/>
              <a:t>为圆心，</a:t>
            </a:r>
          </a:p>
          <a:p>
            <a:r>
              <a:rPr lang="en-US" altLang="en-US" sz="2400"/>
              <a:t>   </a:t>
            </a:r>
            <a:r>
              <a:rPr lang="en-US" altLang="zh-CN" sz="2400"/>
              <a:t>R</a:t>
            </a:r>
            <a:r>
              <a:rPr lang="zh-CN" altLang="en-US" sz="2400"/>
              <a:t>为半径画连</a:t>
            </a:r>
          </a:p>
          <a:p>
            <a:r>
              <a:rPr lang="zh-CN" altLang="en-US" sz="2400"/>
              <a:t>   接圆弧。 </a:t>
            </a:r>
          </a:p>
        </p:txBody>
      </p:sp>
      <p:sp>
        <p:nvSpPr>
          <p:cNvPr id="9" name="Text Box 39"/>
          <p:cNvSpPr txBox="1">
            <a:spLocks noChangeArrowheads="1"/>
          </p:cNvSpPr>
          <p:nvPr/>
        </p:nvSpPr>
        <p:spPr bwMode="auto">
          <a:xfrm>
            <a:off x="1604441" y="3927312"/>
            <a:ext cx="2821606" cy="120032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⑶ </a:t>
            </a:r>
            <a:r>
              <a:rPr lang="zh-CN" altLang="en-US" sz="2400" dirty="0"/>
              <a:t>分别连接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、</a:t>
            </a:r>
          </a:p>
          <a:p>
            <a:r>
              <a:rPr lang="zh-CN" altLang="en-US" sz="2400" dirty="0"/>
              <a:t>   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 </a:t>
            </a:r>
            <a:r>
              <a:rPr lang="zh-CN" altLang="en-US" sz="2400" dirty="0"/>
              <a:t>并延长求</a:t>
            </a:r>
          </a:p>
          <a:p>
            <a:r>
              <a:rPr lang="zh-CN" altLang="en-US" sz="2400" dirty="0"/>
              <a:t>   得两个切点。</a:t>
            </a:r>
          </a:p>
        </p:txBody>
      </p:sp>
      <p:pic>
        <p:nvPicPr>
          <p:cNvPr id="62467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67394" y="2233635"/>
            <a:ext cx="24384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68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62803" y="2181247"/>
            <a:ext cx="2286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94284" y="2324122"/>
            <a:ext cx="4400550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70" name="Picture 6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21357" y="5454696"/>
            <a:ext cx="345757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47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881819" y="928670"/>
            <a:ext cx="35528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/>
          <p:cNvSpPr>
            <a:spLocks noChangeArrowheads="1"/>
          </p:cNvSpPr>
          <p:nvPr/>
        </p:nvSpPr>
        <p:spPr bwMode="auto">
          <a:xfrm>
            <a:off x="1343472" y="1395697"/>
            <a:ext cx="423866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400" b="1" dirty="0"/>
              <a:t>4. </a:t>
            </a:r>
            <a:r>
              <a:rPr lang="x-none" sz="2400" b="1" dirty="0"/>
              <a:t>圆弧与已知圆弧、直线连接</a:t>
            </a:r>
            <a:endParaRPr lang="zh-CN" altLang="en-US" sz="2400" dirty="0"/>
          </a:p>
        </p:txBody>
      </p:sp>
      <p:sp>
        <p:nvSpPr>
          <p:cNvPr id="3" name="Text Box 194"/>
          <p:cNvSpPr txBox="1">
            <a:spLocks noChangeArrowheads="1"/>
          </p:cNvSpPr>
          <p:nvPr/>
        </p:nvSpPr>
        <p:spPr bwMode="auto">
          <a:xfrm>
            <a:off x="1509789" y="895634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4" name="Text Box 31"/>
          <p:cNvSpPr txBox="1">
            <a:spLocks noChangeArrowheads="1"/>
          </p:cNvSpPr>
          <p:nvPr/>
        </p:nvSpPr>
        <p:spPr bwMode="auto">
          <a:xfrm>
            <a:off x="3238480" y="357171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1737542" y="1885589"/>
            <a:ext cx="7002463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/>
              <a:t>⑴ </a:t>
            </a:r>
            <a:r>
              <a:rPr lang="zh-CN" altLang="en-US" sz="2400"/>
              <a:t>以</a:t>
            </a:r>
            <a:r>
              <a:rPr lang="en-US" altLang="zh-CN" sz="2400"/>
              <a:t>O</a:t>
            </a:r>
            <a:r>
              <a:rPr lang="en-US" altLang="zh-CN" sz="2400" baseline="-25000"/>
              <a:t>1</a:t>
            </a:r>
            <a:r>
              <a:rPr lang="zh-CN" altLang="en-US" sz="2400"/>
              <a:t>为圆心，</a:t>
            </a:r>
            <a:r>
              <a:rPr lang="en-US" altLang="zh-CN" sz="2400"/>
              <a:t>R1+R</a:t>
            </a:r>
            <a:r>
              <a:rPr lang="zh-CN" altLang="en-US" sz="2400"/>
              <a:t>为半径作圆弧。</a:t>
            </a:r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1737513" y="2314214"/>
            <a:ext cx="7002462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/>
              <a:t>⑵ </a:t>
            </a:r>
            <a:r>
              <a:rPr lang="zh-CN" altLang="en-US" sz="2400" dirty="0"/>
              <a:t>作与已知直线平行且相距为</a:t>
            </a:r>
            <a:r>
              <a:rPr lang="en-US" altLang="zh-CN" sz="2400" dirty="0"/>
              <a:t>R</a:t>
            </a:r>
            <a:r>
              <a:rPr lang="zh-CN" altLang="en-US" sz="2400" dirty="0"/>
              <a:t>的直线。</a:t>
            </a: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1737513" y="2801005"/>
            <a:ext cx="2930496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⑶ </a:t>
            </a:r>
            <a:r>
              <a:rPr lang="zh-CN" altLang="en-US" sz="2400" dirty="0"/>
              <a:t>连接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O</a:t>
            </a:r>
            <a:r>
              <a:rPr lang="zh-CN" altLang="en-US" sz="2400" dirty="0"/>
              <a:t>，求得与已知圆弧的切点。</a:t>
            </a:r>
          </a:p>
        </p:txBody>
      </p:sp>
      <p:sp>
        <p:nvSpPr>
          <p:cNvPr id="37" name="Text Box 33"/>
          <p:cNvSpPr txBox="1">
            <a:spLocks noChangeArrowheads="1"/>
          </p:cNvSpPr>
          <p:nvPr/>
        </p:nvSpPr>
        <p:spPr bwMode="auto">
          <a:xfrm>
            <a:off x="1737513" y="4895865"/>
            <a:ext cx="3143272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⑸ </a:t>
            </a:r>
            <a:r>
              <a:rPr lang="zh-CN" altLang="en-US" sz="2400" dirty="0"/>
              <a:t>以</a:t>
            </a:r>
            <a:r>
              <a:rPr lang="en-US" altLang="zh-CN" sz="2400" dirty="0"/>
              <a:t>O</a:t>
            </a:r>
            <a:r>
              <a:rPr lang="zh-CN" altLang="en-US" sz="2400" dirty="0"/>
              <a:t>为圆心，</a:t>
            </a:r>
            <a:r>
              <a:rPr lang="en-US" altLang="zh-CN" sz="2400" dirty="0"/>
              <a:t>R</a:t>
            </a:r>
            <a:r>
              <a:rPr lang="zh-CN" altLang="en-US" sz="2400" dirty="0"/>
              <a:t>为半径画连接圆弧。</a:t>
            </a:r>
          </a:p>
        </p:txBody>
      </p:sp>
      <p:sp>
        <p:nvSpPr>
          <p:cNvPr id="58" name="Text Box 32"/>
          <p:cNvSpPr txBox="1">
            <a:spLocks noChangeArrowheads="1"/>
          </p:cNvSpPr>
          <p:nvPr/>
        </p:nvSpPr>
        <p:spPr bwMode="auto">
          <a:xfrm>
            <a:off x="1737513" y="3628483"/>
            <a:ext cx="2848754" cy="1200329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⑷ </a:t>
            </a:r>
            <a:r>
              <a:rPr lang="zh-CN" altLang="en-US" sz="2400" dirty="0"/>
              <a:t>由</a:t>
            </a:r>
            <a:r>
              <a:rPr lang="en-US" altLang="zh-CN" sz="2400" dirty="0"/>
              <a:t>O</a:t>
            </a:r>
            <a:r>
              <a:rPr lang="zh-CN" altLang="en-US" sz="2400" dirty="0"/>
              <a:t>向已知直线作垂线，求得与已知直线的切点。</a:t>
            </a:r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40716" y="3165126"/>
            <a:ext cx="458152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02562" y="4055712"/>
            <a:ext cx="1485900" cy="161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16080" y="2375481"/>
            <a:ext cx="329565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4" name="Picture 6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13993" y="4128727"/>
            <a:ext cx="2971800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5" name="Picture 7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07509" y="4103326"/>
            <a:ext cx="14668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6" name="Picture 8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60073" y="4812951"/>
            <a:ext cx="35242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7" name="Picture 9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50449" y="4498621"/>
            <a:ext cx="8477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3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63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3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utoUpdateAnimBg="0"/>
      <p:bldP spid="35" grpId="0" autoUpdateAnimBg="0"/>
      <p:bldP spid="36" grpId="0" autoUpdateAnimBg="0"/>
      <p:bldP spid="37" grpId="0" autoUpdateAnimBg="0"/>
      <p:bldP spid="5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5899722" y="2131728"/>
            <a:ext cx="3897119" cy="2527934"/>
            <a:chOff x="4375721" y="2131728"/>
            <a:chExt cx="3897119" cy="252793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5721" y="2373948"/>
              <a:ext cx="3838095" cy="2285714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82364" y="2131728"/>
              <a:ext cx="190476" cy="219048"/>
            </a:xfrm>
            <a:prstGeom prst="rect">
              <a:avLst/>
            </a:prstGeom>
          </p:spPr>
        </p:pic>
      </p:grpSp>
      <p:sp>
        <p:nvSpPr>
          <p:cNvPr id="2" name="Text Box 76"/>
          <p:cNvSpPr txBox="1">
            <a:spLocks noChangeArrowheads="1"/>
          </p:cNvSpPr>
          <p:nvPr/>
        </p:nvSpPr>
        <p:spPr bwMode="auto">
          <a:xfrm>
            <a:off x="1357030" y="1486976"/>
            <a:ext cx="1763624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5. </a:t>
            </a:r>
            <a:r>
              <a:rPr lang="zh-CN" altLang="en-US" sz="2400" b="1" dirty="0"/>
              <a:t>圆的切线</a:t>
            </a:r>
          </a:p>
        </p:txBody>
      </p:sp>
      <p:sp>
        <p:nvSpPr>
          <p:cNvPr id="3" name="Text Box 77"/>
          <p:cNvSpPr txBox="1">
            <a:spLocks noChangeArrowheads="1"/>
          </p:cNvSpPr>
          <p:nvPr/>
        </p:nvSpPr>
        <p:spPr bwMode="auto">
          <a:xfrm>
            <a:off x="1468688" y="1996400"/>
            <a:ext cx="459105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/>
              <a:t>⒈ </a:t>
            </a:r>
            <a:r>
              <a:rPr lang="zh-CN" altLang="en-US" sz="2400" dirty="0"/>
              <a:t>过圆外一点作圆的切线</a:t>
            </a:r>
          </a:p>
        </p:txBody>
      </p:sp>
      <p:sp>
        <p:nvSpPr>
          <p:cNvPr id="4" name="Text Box 107"/>
          <p:cNvSpPr txBox="1">
            <a:spLocks noChangeArrowheads="1"/>
          </p:cNvSpPr>
          <p:nvPr/>
        </p:nvSpPr>
        <p:spPr bwMode="auto">
          <a:xfrm>
            <a:off x="1758420" y="2541737"/>
            <a:ext cx="1636987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⑴ </a:t>
            </a:r>
            <a:r>
              <a:rPr lang="zh-CN" altLang="en-US" sz="2400" dirty="0"/>
              <a:t>连接</a:t>
            </a:r>
            <a:r>
              <a:rPr lang="en-US" altLang="zh-CN" sz="2400" dirty="0"/>
              <a:t>OA</a:t>
            </a:r>
          </a:p>
        </p:txBody>
      </p:sp>
      <p:sp>
        <p:nvSpPr>
          <p:cNvPr id="5" name="Text Box 108"/>
          <p:cNvSpPr txBox="1">
            <a:spLocks noChangeArrowheads="1"/>
          </p:cNvSpPr>
          <p:nvPr/>
        </p:nvSpPr>
        <p:spPr bwMode="auto">
          <a:xfrm>
            <a:off x="1758420" y="3113237"/>
            <a:ext cx="2868093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/>
              <a:t>⑵ </a:t>
            </a:r>
            <a:r>
              <a:rPr lang="zh-CN" altLang="en-US" sz="2400"/>
              <a:t>以</a:t>
            </a:r>
            <a:r>
              <a:rPr lang="en-US" altLang="zh-CN" sz="2400"/>
              <a:t>OA</a:t>
            </a:r>
            <a:r>
              <a:rPr lang="zh-CN" altLang="en-US" sz="2400"/>
              <a:t>为直径作圆</a:t>
            </a:r>
          </a:p>
        </p:txBody>
      </p:sp>
      <p:sp>
        <p:nvSpPr>
          <p:cNvPr id="6" name="Text Box 109"/>
          <p:cNvSpPr txBox="1">
            <a:spLocks noChangeArrowheads="1"/>
          </p:cNvSpPr>
          <p:nvPr/>
        </p:nvSpPr>
        <p:spPr bwMode="auto">
          <a:xfrm>
            <a:off x="1758420" y="3684737"/>
            <a:ext cx="3199915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/>
              <a:t>⑶ </a:t>
            </a:r>
            <a:r>
              <a:rPr lang="zh-CN" altLang="en-US" sz="2400"/>
              <a:t>分别连接</a:t>
            </a:r>
            <a:r>
              <a:rPr lang="en-US" altLang="zh-CN" sz="2400"/>
              <a:t>AC</a:t>
            </a:r>
            <a:r>
              <a:rPr lang="en-US" altLang="zh-CN" sz="2400" baseline="-25000"/>
              <a:t>1</a:t>
            </a:r>
            <a:r>
              <a:rPr lang="zh-CN" altLang="en-US" sz="2400"/>
              <a:t>、</a:t>
            </a:r>
            <a:r>
              <a:rPr lang="en-US" altLang="zh-CN" sz="2400"/>
              <a:t>AC</a:t>
            </a:r>
            <a:r>
              <a:rPr lang="en-US" altLang="zh-CN" sz="2400" baseline="-25000"/>
              <a:t>2</a:t>
            </a:r>
            <a:endParaRPr lang="en-US" altLang="zh-CN" sz="2400"/>
          </a:p>
        </p:txBody>
      </p:sp>
      <p:sp>
        <p:nvSpPr>
          <p:cNvPr id="7" name="Text Box 194"/>
          <p:cNvSpPr txBox="1">
            <a:spLocks noChangeArrowheads="1"/>
          </p:cNvSpPr>
          <p:nvPr/>
        </p:nvSpPr>
        <p:spPr bwMode="auto">
          <a:xfrm>
            <a:off x="1415480" y="844033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8" name="Text Box 31"/>
          <p:cNvSpPr txBox="1">
            <a:spLocks noChangeArrowheads="1"/>
          </p:cNvSpPr>
          <p:nvPr/>
        </p:nvSpPr>
        <p:spPr bwMode="auto">
          <a:xfrm>
            <a:off x="3238480" y="357171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7176121" y="2471738"/>
            <a:ext cx="2396505" cy="1064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82106" y="1551138"/>
            <a:ext cx="2676190" cy="2685714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6745443" y="2186173"/>
            <a:ext cx="1416182" cy="2330995"/>
            <a:chOff x="5221443" y="2186172"/>
            <a:chExt cx="1416182" cy="2330995"/>
          </a:xfrm>
        </p:grpSpPr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21443" y="2186172"/>
              <a:ext cx="314286" cy="352381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94768" y="4260024"/>
              <a:ext cx="342857" cy="257143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/>
        </p:nvGrpSpPr>
        <p:grpSpPr>
          <a:xfrm>
            <a:off x="7037577" y="2471739"/>
            <a:ext cx="2535049" cy="1658937"/>
            <a:chOff x="5513576" y="2471738"/>
            <a:chExt cx="2535049" cy="1658937"/>
          </a:xfrm>
        </p:grpSpPr>
        <p:cxnSp>
          <p:nvCxnSpPr>
            <p:cNvPr id="22" name="直接连接符 21"/>
            <p:cNvCxnSpPr/>
            <p:nvPr/>
          </p:nvCxnSpPr>
          <p:spPr>
            <a:xfrm flipV="1">
              <a:off x="6416675" y="2471738"/>
              <a:ext cx="1631950" cy="16589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V="1">
              <a:off x="5513576" y="2471738"/>
              <a:ext cx="2535049" cy="100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3"/>
          <p:cNvSpPr txBox="1">
            <a:spLocks noChangeArrowheads="1"/>
          </p:cNvSpPr>
          <p:nvPr/>
        </p:nvSpPr>
        <p:spPr bwMode="auto">
          <a:xfrm>
            <a:off x="1449656" y="1571166"/>
            <a:ext cx="3039615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⒉ </a:t>
            </a:r>
            <a:r>
              <a:rPr lang="zh-CN" altLang="en-US" sz="2400" b="1" dirty="0"/>
              <a:t>作两圆的外公切线</a:t>
            </a:r>
          </a:p>
        </p:txBody>
      </p:sp>
      <p:sp>
        <p:nvSpPr>
          <p:cNvPr id="70692" name="Text Box 36"/>
          <p:cNvSpPr txBox="1">
            <a:spLocks noChangeArrowheads="1"/>
          </p:cNvSpPr>
          <p:nvPr/>
        </p:nvSpPr>
        <p:spPr bwMode="auto">
          <a:xfrm>
            <a:off x="1797199" y="2198633"/>
            <a:ext cx="2143140" cy="120032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⑴ </a:t>
            </a:r>
            <a:r>
              <a:rPr lang="zh-CN" altLang="en-US" sz="2400" dirty="0"/>
              <a:t>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为圆心，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-R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为半径作辅助圆。</a:t>
            </a:r>
          </a:p>
        </p:txBody>
      </p:sp>
      <p:sp>
        <p:nvSpPr>
          <p:cNvPr id="70702" name="Text Box 46"/>
          <p:cNvSpPr txBox="1">
            <a:spLocks noChangeArrowheads="1"/>
          </p:cNvSpPr>
          <p:nvPr/>
        </p:nvSpPr>
        <p:spPr bwMode="auto">
          <a:xfrm>
            <a:off x="1767854" y="3459039"/>
            <a:ext cx="1989513" cy="120032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⑵ </a:t>
            </a:r>
            <a:r>
              <a:rPr lang="zh-CN" altLang="en-US" sz="2400" dirty="0"/>
              <a:t>过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作辅助圆的切线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C</a:t>
            </a:r>
            <a:r>
              <a:rPr lang="zh-CN" altLang="en-US" sz="2400" dirty="0"/>
              <a:t>。</a:t>
            </a:r>
          </a:p>
        </p:txBody>
      </p:sp>
      <p:sp>
        <p:nvSpPr>
          <p:cNvPr id="70704" name="Text Box 48"/>
          <p:cNvSpPr txBox="1">
            <a:spLocks noChangeArrowheads="1"/>
          </p:cNvSpPr>
          <p:nvPr/>
        </p:nvSpPr>
        <p:spPr bwMode="auto">
          <a:xfrm>
            <a:off x="1809720" y="4822198"/>
            <a:ext cx="553549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⑶ </a:t>
            </a:r>
            <a:r>
              <a:rPr lang="zh-CN" altLang="en-US" sz="2400" dirty="0"/>
              <a:t>连接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</a:t>
            </a:r>
            <a:r>
              <a:rPr lang="zh-CN" altLang="en-US" sz="2400" dirty="0"/>
              <a:t>并延长使其与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圆交于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。</a:t>
            </a:r>
          </a:p>
        </p:txBody>
      </p:sp>
      <p:sp>
        <p:nvSpPr>
          <p:cNvPr id="70705" name="Text Box 49"/>
          <p:cNvSpPr txBox="1">
            <a:spLocks noChangeArrowheads="1"/>
          </p:cNvSpPr>
          <p:nvPr/>
        </p:nvSpPr>
        <p:spPr bwMode="auto">
          <a:xfrm>
            <a:off x="1809720" y="5375764"/>
            <a:ext cx="377379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⑷ </a:t>
            </a:r>
            <a:r>
              <a:rPr lang="zh-CN" altLang="en-US" sz="2400" dirty="0"/>
              <a:t>过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作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的平行线。</a:t>
            </a:r>
          </a:p>
        </p:txBody>
      </p:sp>
      <p:sp>
        <p:nvSpPr>
          <p:cNvPr id="70706" name="Text Box 50"/>
          <p:cNvSpPr txBox="1">
            <a:spLocks noChangeArrowheads="1"/>
          </p:cNvSpPr>
          <p:nvPr/>
        </p:nvSpPr>
        <p:spPr bwMode="auto">
          <a:xfrm>
            <a:off x="1809720" y="5929331"/>
            <a:ext cx="4943982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⑸ </a:t>
            </a:r>
            <a:r>
              <a:rPr lang="zh-CN" altLang="en-US" sz="2400" dirty="0"/>
              <a:t>连接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即为两圆的外公切线。</a:t>
            </a:r>
          </a:p>
        </p:txBody>
      </p:sp>
      <p:sp>
        <p:nvSpPr>
          <p:cNvPr id="54" name="Text Box 194"/>
          <p:cNvSpPr txBox="1">
            <a:spLocks noChangeArrowheads="1"/>
          </p:cNvSpPr>
          <p:nvPr/>
        </p:nvSpPr>
        <p:spPr bwMode="auto">
          <a:xfrm>
            <a:off x="1484748" y="884770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55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913" y="2355846"/>
            <a:ext cx="5085714" cy="22857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76392" y="3014726"/>
            <a:ext cx="1000000" cy="980952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 flipH="1" flipV="1">
            <a:off x="6076951" y="3048001"/>
            <a:ext cx="3064669" cy="459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63" y="2794114"/>
            <a:ext cx="228571" cy="257143"/>
          </a:xfrm>
          <a:prstGeom prst="rect">
            <a:avLst/>
          </a:prstGeom>
        </p:spPr>
      </p:pic>
      <p:cxnSp>
        <p:nvCxnSpPr>
          <p:cNvPr id="18" name="直接连接符 17"/>
          <p:cNvCxnSpPr/>
          <p:nvPr/>
        </p:nvCxnSpPr>
        <p:spPr>
          <a:xfrm flipV="1">
            <a:off x="6001920" y="2597150"/>
            <a:ext cx="138530" cy="908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782" y="2210166"/>
            <a:ext cx="295238" cy="276190"/>
          </a:xfrm>
          <a:prstGeom prst="rect">
            <a:avLst/>
          </a:prstGeom>
        </p:spPr>
      </p:pic>
      <p:sp>
        <p:nvSpPr>
          <p:cNvPr id="71" name="Text Box 61"/>
          <p:cNvSpPr txBox="1">
            <a:spLocks noChangeArrowheads="1"/>
          </p:cNvSpPr>
          <p:nvPr/>
        </p:nvSpPr>
        <p:spPr bwMode="auto">
          <a:xfrm rot="900000">
            <a:off x="5990084" y="2488656"/>
            <a:ext cx="247344" cy="2308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rgbClr val="FF3300"/>
                </a:solidFill>
              </a:rPr>
              <a:t>●</a:t>
            </a:r>
          </a:p>
        </p:txBody>
      </p:sp>
      <p:cxnSp>
        <p:nvCxnSpPr>
          <p:cNvPr id="72" name="直接连接符 71"/>
          <p:cNvCxnSpPr/>
          <p:nvPr/>
        </p:nvCxnSpPr>
        <p:spPr>
          <a:xfrm flipV="1">
            <a:off x="9146381" y="3067051"/>
            <a:ext cx="78582" cy="4405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48776" y="2725842"/>
            <a:ext cx="266667" cy="266667"/>
          </a:xfrm>
          <a:prstGeom prst="rect">
            <a:avLst/>
          </a:prstGeom>
        </p:spPr>
      </p:pic>
      <p:sp>
        <p:nvSpPr>
          <p:cNvPr id="78" name="Text Box 61"/>
          <p:cNvSpPr txBox="1">
            <a:spLocks noChangeArrowheads="1"/>
          </p:cNvSpPr>
          <p:nvPr/>
        </p:nvSpPr>
        <p:spPr bwMode="auto">
          <a:xfrm>
            <a:off x="9075887" y="2947091"/>
            <a:ext cx="247344" cy="2308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rgbClr val="FF3300"/>
                </a:solidFill>
              </a:rPr>
              <a:t>●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6155210" y="2590304"/>
            <a:ext cx="3058641" cy="46404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0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0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0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70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92" grpId="0" autoUpdateAnimBg="0"/>
      <p:bldP spid="70702" grpId="0" autoUpdateAnimBg="0"/>
      <p:bldP spid="70704" grpId="0" autoUpdateAnimBg="0"/>
      <p:bldP spid="70705" grpId="0" autoUpdateAnimBg="0"/>
      <p:bldP spid="70706" grpId="0" autoUpdateAnimBg="0"/>
      <p:bldP spid="71" grpId="0"/>
      <p:bldP spid="7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1" name="Freeform 71"/>
          <p:cNvSpPr>
            <a:spLocks noChangeArrowheads="1"/>
          </p:cNvSpPr>
          <p:nvPr/>
        </p:nvSpPr>
        <p:spPr bwMode="auto">
          <a:xfrm>
            <a:off x="8236024" y="2447387"/>
            <a:ext cx="1068388" cy="1492250"/>
          </a:xfrm>
          <a:custGeom>
            <a:avLst/>
            <a:gdLst>
              <a:gd name="T0" fmla="*/ 0 w 673"/>
              <a:gd name="T1" fmla="*/ 0 h 940"/>
              <a:gd name="T2" fmla="*/ 2147483647 w 673"/>
              <a:gd name="T3" fmla="*/ 2147483647 h 940"/>
              <a:gd name="T4" fmla="*/ 0 60000 65536"/>
              <a:gd name="T5" fmla="*/ 0 60000 65536"/>
              <a:gd name="T6" fmla="*/ 0 w 673"/>
              <a:gd name="T7" fmla="*/ 0 h 940"/>
              <a:gd name="T8" fmla="*/ 673 w 673"/>
              <a:gd name="T9" fmla="*/ 940 h 9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3" h="940">
                <a:moveTo>
                  <a:pt x="0" y="0"/>
                </a:moveTo>
                <a:lnTo>
                  <a:pt x="673" y="940"/>
                </a:lnTo>
              </a:path>
            </a:pathLst>
          </a:custGeom>
          <a:solidFill>
            <a:srgbClr val="FFFFFF"/>
          </a:solidFill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60" name="Line 80"/>
          <p:cNvSpPr>
            <a:spLocks noChangeShapeType="1"/>
          </p:cNvSpPr>
          <p:nvPr/>
        </p:nvSpPr>
        <p:spPr bwMode="auto">
          <a:xfrm>
            <a:off x="6205612" y="3939637"/>
            <a:ext cx="406400" cy="55880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779" name="Arc 99"/>
          <p:cNvSpPr>
            <a:spLocks/>
          </p:cNvSpPr>
          <p:nvPr/>
        </p:nvSpPr>
        <p:spPr bwMode="auto">
          <a:xfrm rot="5400000" flipH="1">
            <a:off x="6973169" y="1616332"/>
            <a:ext cx="1565275" cy="3087687"/>
          </a:xfrm>
          <a:custGeom>
            <a:avLst/>
            <a:gdLst>
              <a:gd name="T0" fmla="*/ 0 w 21600"/>
              <a:gd name="T1" fmla="*/ 0 h 43200"/>
              <a:gd name="T2" fmla="*/ 2147483647 w 21600"/>
              <a:gd name="T3" fmla="*/ 2147483647 h 43200"/>
              <a:gd name="T4" fmla="*/ 0 w 21600"/>
              <a:gd name="T5" fmla="*/ 2147483647 h 43200"/>
              <a:gd name="T6" fmla="*/ 0 60000 65536"/>
              <a:gd name="T7" fmla="*/ 0 60000 65536"/>
              <a:gd name="T8" fmla="*/ 0 60000 65536"/>
              <a:gd name="T9" fmla="*/ 0 w 21600"/>
              <a:gd name="T10" fmla="*/ 0 h 43200"/>
              <a:gd name="T11" fmla="*/ 21600 w 216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9"/>
                  <a:pt x="11943" y="43186"/>
                  <a:pt x="23" y="43199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19"/>
                  <a:pt x="11943" y="43186"/>
                  <a:pt x="23" y="43199"/>
                </a:cubicBezTo>
                <a:lnTo>
                  <a:pt x="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81" name="Arc 101"/>
          <p:cNvSpPr>
            <a:spLocks/>
          </p:cNvSpPr>
          <p:nvPr/>
        </p:nvSpPr>
        <p:spPr bwMode="auto">
          <a:xfrm flipH="1">
            <a:off x="7697862" y="2109250"/>
            <a:ext cx="3160712" cy="1852612"/>
          </a:xfrm>
          <a:custGeom>
            <a:avLst/>
            <a:gdLst>
              <a:gd name="T0" fmla="*/ 0 w 37212"/>
              <a:gd name="T1" fmla="*/ 2147483647 h 21600"/>
              <a:gd name="T2" fmla="*/ 2147483647 w 37212"/>
              <a:gd name="T3" fmla="*/ 2147483647 h 21600"/>
              <a:gd name="T4" fmla="*/ 2147483647 w 37212"/>
              <a:gd name="T5" fmla="*/ 2147483647 h 21600"/>
              <a:gd name="T6" fmla="*/ 0 60000 65536"/>
              <a:gd name="T7" fmla="*/ 0 60000 65536"/>
              <a:gd name="T8" fmla="*/ 0 60000 65536"/>
              <a:gd name="T9" fmla="*/ 0 w 37212"/>
              <a:gd name="T10" fmla="*/ 0 h 21600"/>
              <a:gd name="T11" fmla="*/ 37212 w 37212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7212" h="21600" fill="none" extrusionOk="0">
                <a:moveTo>
                  <a:pt x="0" y="10221"/>
                </a:moveTo>
                <a:cubicBezTo>
                  <a:pt x="3938" y="3866"/>
                  <a:pt x="10883" y="-1"/>
                  <a:pt x="18360" y="0"/>
                </a:cubicBezTo>
                <a:cubicBezTo>
                  <a:pt x="26182" y="0"/>
                  <a:pt x="33393" y="4229"/>
                  <a:pt x="37211" y="11056"/>
                </a:cubicBezTo>
              </a:path>
              <a:path w="37212" h="21600" stroke="0" extrusionOk="0">
                <a:moveTo>
                  <a:pt x="0" y="10221"/>
                </a:moveTo>
                <a:cubicBezTo>
                  <a:pt x="3938" y="3866"/>
                  <a:pt x="10883" y="-1"/>
                  <a:pt x="18360" y="0"/>
                </a:cubicBezTo>
                <a:cubicBezTo>
                  <a:pt x="26182" y="0"/>
                  <a:pt x="33393" y="4229"/>
                  <a:pt x="37211" y="11056"/>
                </a:cubicBezTo>
                <a:lnTo>
                  <a:pt x="18360" y="21600"/>
                </a:lnTo>
                <a:close/>
              </a:path>
            </a:pathLst>
          </a:custGeom>
          <a:noFill/>
          <a:ln w="127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390" name="Group 122"/>
          <p:cNvGrpSpPr>
            <a:grpSpLocks/>
          </p:cNvGrpSpPr>
          <p:nvPr/>
        </p:nvGrpSpPr>
        <p:grpSpPr bwMode="auto">
          <a:xfrm>
            <a:off x="5303912" y="2464851"/>
            <a:ext cx="5435600" cy="2924175"/>
            <a:chOff x="1053" y="1300"/>
            <a:chExt cx="3424" cy="1842"/>
          </a:xfrm>
        </p:grpSpPr>
        <p:sp>
          <p:nvSpPr>
            <p:cNvPr id="16412" name="Oval 98"/>
            <p:cNvSpPr>
              <a:spLocks noChangeArrowheads="1"/>
            </p:cNvSpPr>
            <p:nvPr/>
          </p:nvSpPr>
          <p:spPr bwMode="auto">
            <a:xfrm>
              <a:off x="2854" y="1514"/>
              <a:ext cx="1446" cy="144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3" name="Oval 96"/>
            <p:cNvSpPr>
              <a:spLocks noChangeArrowheads="1"/>
            </p:cNvSpPr>
            <p:nvPr/>
          </p:nvSpPr>
          <p:spPr bwMode="auto">
            <a:xfrm>
              <a:off x="1200" y="1806"/>
              <a:ext cx="851" cy="851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414" name="Group 95"/>
            <p:cNvGrpSpPr>
              <a:grpSpLocks/>
            </p:cNvGrpSpPr>
            <p:nvPr/>
          </p:nvGrpSpPr>
          <p:grpSpPr bwMode="auto">
            <a:xfrm>
              <a:off x="1053" y="1300"/>
              <a:ext cx="3424" cy="1842"/>
              <a:chOff x="1377" y="1249"/>
              <a:chExt cx="3130" cy="1684"/>
            </a:xfrm>
          </p:grpSpPr>
          <p:sp>
            <p:nvSpPr>
              <p:cNvPr id="16421" name="Line 73"/>
              <p:cNvSpPr>
                <a:spLocks noChangeShapeType="1"/>
              </p:cNvSpPr>
              <p:nvPr/>
            </p:nvSpPr>
            <p:spPr bwMode="auto">
              <a:xfrm>
                <a:off x="3415" y="2098"/>
                <a:ext cx="649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2" name="Line 77"/>
              <p:cNvSpPr>
                <a:spLocks noChangeShapeType="1"/>
              </p:cNvSpPr>
              <p:nvPr/>
            </p:nvSpPr>
            <p:spPr bwMode="auto">
              <a:xfrm>
                <a:off x="1896" y="1603"/>
                <a:ext cx="1" cy="63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3" name="Line 78"/>
              <p:cNvSpPr>
                <a:spLocks noChangeShapeType="1"/>
              </p:cNvSpPr>
              <p:nvPr/>
            </p:nvSpPr>
            <p:spPr bwMode="auto">
              <a:xfrm>
                <a:off x="1377" y="2098"/>
                <a:ext cx="266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4" name="Line 79"/>
              <p:cNvSpPr>
                <a:spLocks noChangeShapeType="1"/>
              </p:cNvSpPr>
              <p:nvPr/>
            </p:nvSpPr>
            <p:spPr bwMode="auto">
              <a:xfrm>
                <a:off x="1896" y="2371"/>
                <a:ext cx="1" cy="24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5" name="Line 81"/>
              <p:cNvSpPr>
                <a:spLocks noChangeShapeType="1"/>
              </p:cNvSpPr>
              <p:nvPr/>
            </p:nvSpPr>
            <p:spPr bwMode="auto">
              <a:xfrm>
                <a:off x="1794" y="2098"/>
                <a:ext cx="567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6" name="Line 82"/>
              <p:cNvSpPr>
                <a:spLocks noChangeShapeType="1"/>
              </p:cNvSpPr>
              <p:nvPr/>
            </p:nvSpPr>
            <p:spPr bwMode="auto">
              <a:xfrm>
                <a:off x="1896" y="2281"/>
                <a:ext cx="1" cy="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7" name="Line 83"/>
              <p:cNvSpPr>
                <a:spLocks noChangeShapeType="1"/>
              </p:cNvSpPr>
              <p:nvPr/>
            </p:nvSpPr>
            <p:spPr bwMode="auto">
              <a:xfrm>
                <a:off x="1698" y="2098"/>
                <a:ext cx="34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8" name="Line 84"/>
              <p:cNvSpPr>
                <a:spLocks noChangeShapeType="1"/>
              </p:cNvSpPr>
              <p:nvPr/>
            </p:nvSpPr>
            <p:spPr bwMode="auto">
              <a:xfrm>
                <a:off x="2416" y="2098"/>
                <a:ext cx="41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29" name="Line 85"/>
              <p:cNvSpPr>
                <a:spLocks noChangeShapeType="1"/>
              </p:cNvSpPr>
              <p:nvPr/>
            </p:nvSpPr>
            <p:spPr bwMode="auto">
              <a:xfrm>
                <a:off x="2505" y="2098"/>
                <a:ext cx="745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0" name="Line 86"/>
              <p:cNvSpPr>
                <a:spLocks noChangeShapeType="1"/>
              </p:cNvSpPr>
              <p:nvPr/>
            </p:nvSpPr>
            <p:spPr bwMode="auto">
              <a:xfrm>
                <a:off x="3319" y="2098"/>
                <a:ext cx="48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1" name="Line 87"/>
              <p:cNvSpPr>
                <a:spLocks noChangeShapeType="1"/>
              </p:cNvSpPr>
              <p:nvPr/>
            </p:nvSpPr>
            <p:spPr bwMode="auto">
              <a:xfrm>
                <a:off x="3681" y="1817"/>
                <a:ext cx="1" cy="6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2" name="Line 88"/>
              <p:cNvSpPr>
                <a:spLocks noChangeShapeType="1"/>
              </p:cNvSpPr>
              <p:nvPr/>
            </p:nvSpPr>
            <p:spPr bwMode="auto">
              <a:xfrm>
                <a:off x="4222" y="2098"/>
                <a:ext cx="285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3" name="Line 89"/>
              <p:cNvSpPr>
                <a:spLocks noChangeShapeType="1"/>
              </p:cNvSpPr>
              <p:nvPr/>
            </p:nvSpPr>
            <p:spPr bwMode="auto">
              <a:xfrm>
                <a:off x="3681" y="2545"/>
                <a:ext cx="1" cy="4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4" name="Line 90"/>
              <p:cNvSpPr>
                <a:spLocks noChangeShapeType="1"/>
              </p:cNvSpPr>
              <p:nvPr/>
            </p:nvSpPr>
            <p:spPr bwMode="auto">
              <a:xfrm>
                <a:off x="3681" y="2635"/>
                <a:ext cx="1" cy="29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5" name="Line 91"/>
              <p:cNvSpPr>
                <a:spLocks noChangeShapeType="1"/>
              </p:cNvSpPr>
              <p:nvPr/>
            </p:nvSpPr>
            <p:spPr bwMode="auto">
              <a:xfrm>
                <a:off x="4126" y="2098"/>
                <a:ext cx="41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6" name="Line 92"/>
              <p:cNvSpPr>
                <a:spLocks noChangeShapeType="1"/>
              </p:cNvSpPr>
              <p:nvPr/>
            </p:nvSpPr>
            <p:spPr bwMode="auto">
              <a:xfrm>
                <a:off x="3681" y="1249"/>
                <a:ext cx="1" cy="42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37" name="Line 93"/>
              <p:cNvSpPr>
                <a:spLocks noChangeShapeType="1"/>
              </p:cNvSpPr>
              <p:nvPr/>
            </p:nvSpPr>
            <p:spPr bwMode="auto">
              <a:xfrm>
                <a:off x="3681" y="1727"/>
                <a:ext cx="1" cy="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415" name="Line 102"/>
            <p:cNvSpPr>
              <a:spLocks noChangeShapeType="1"/>
            </p:cNvSpPr>
            <p:nvPr/>
          </p:nvSpPr>
          <p:spPr bwMode="auto">
            <a:xfrm flipH="1" flipV="1">
              <a:off x="1212" y="2072"/>
              <a:ext cx="401" cy="1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105"/>
            <p:cNvSpPr>
              <a:spLocks noChangeShapeType="1"/>
            </p:cNvSpPr>
            <p:nvPr/>
          </p:nvSpPr>
          <p:spPr bwMode="auto">
            <a:xfrm flipV="1">
              <a:off x="3572" y="1938"/>
              <a:ext cx="665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7" name="Text Box 106"/>
            <p:cNvSpPr txBox="1">
              <a:spLocks noChangeArrowheads="1"/>
            </p:cNvSpPr>
            <p:nvPr/>
          </p:nvSpPr>
          <p:spPr bwMode="auto">
            <a:xfrm>
              <a:off x="1368" y="2212"/>
              <a:ext cx="26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O</a:t>
              </a:r>
              <a:r>
                <a:rPr lang="en-US" altLang="zh-CN" i="1" baseline="-25000">
                  <a:latin typeface="ISOCPEUR" pitchFamily="34" charset="0"/>
                </a:rPr>
                <a:t>1</a:t>
              </a:r>
              <a:endParaRPr lang="en-US" altLang="zh-CN">
                <a:latin typeface="ISOCPEUR" pitchFamily="34" charset="0"/>
              </a:endParaRPr>
            </a:p>
          </p:txBody>
        </p:sp>
        <p:sp>
          <p:nvSpPr>
            <p:cNvPr id="16418" name="Text Box 107"/>
            <p:cNvSpPr txBox="1">
              <a:spLocks noChangeArrowheads="1"/>
            </p:cNvSpPr>
            <p:nvPr/>
          </p:nvSpPr>
          <p:spPr bwMode="auto">
            <a:xfrm rot="1248505">
              <a:off x="1335" y="1893"/>
              <a:ext cx="245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R</a:t>
              </a:r>
              <a:r>
                <a:rPr lang="en-US" altLang="zh-CN" i="1" baseline="-25000">
                  <a:latin typeface="ISOCPEUR" pitchFamily="34" charset="0"/>
                </a:rPr>
                <a:t>1</a:t>
              </a:r>
              <a:endParaRPr lang="en-US" altLang="zh-CN" i="1">
                <a:latin typeface="ISOCPEUR" pitchFamily="34" charset="0"/>
              </a:endParaRPr>
            </a:p>
          </p:txBody>
        </p:sp>
        <p:sp>
          <p:nvSpPr>
            <p:cNvPr id="16419" name="Text Box 108"/>
            <p:cNvSpPr txBox="1">
              <a:spLocks noChangeArrowheads="1"/>
            </p:cNvSpPr>
            <p:nvPr/>
          </p:nvSpPr>
          <p:spPr bwMode="auto">
            <a:xfrm>
              <a:off x="3557" y="2188"/>
              <a:ext cx="26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O</a:t>
              </a:r>
              <a:r>
                <a:rPr lang="en-US" altLang="zh-CN" i="1" baseline="-25000">
                  <a:latin typeface="ISOCPEUR" pitchFamily="34" charset="0"/>
                </a:rPr>
                <a:t>2</a:t>
              </a:r>
              <a:endParaRPr lang="en-US" altLang="zh-CN">
                <a:latin typeface="ISOCPEUR" pitchFamily="34" charset="0"/>
              </a:endParaRPr>
            </a:p>
          </p:txBody>
        </p:sp>
        <p:sp>
          <p:nvSpPr>
            <p:cNvPr id="16420" name="Text Box 109"/>
            <p:cNvSpPr txBox="1">
              <a:spLocks noChangeArrowheads="1"/>
            </p:cNvSpPr>
            <p:nvPr/>
          </p:nvSpPr>
          <p:spPr bwMode="auto">
            <a:xfrm rot="20205231">
              <a:off x="3837" y="1785"/>
              <a:ext cx="245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R</a:t>
              </a:r>
              <a:r>
                <a:rPr lang="en-US" altLang="zh-CN" i="1" baseline="-25000">
                  <a:latin typeface="ISOCPEUR" pitchFamily="34" charset="0"/>
                </a:rPr>
                <a:t>2</a:t>
              </a:r>
              <a:endParaRPr lang="en-US" altLang="zh-CN" i="1">
                <a:latin typeface="ISOCPEUR" pitchFamily="34" charset="0"/>
              </a:endParaRPr>
            </a:p>
          </p:txBody>
        </p:sp>
      </p:grpSp>
      <p:sp>
        <p:nvSpPr>
          <p:cNvPr id="16391" name="Text Box 116"/>
          <p:cNvSpPr txBox="1">
            <a:spLocks noChangeArrowheads="1"/>
          </p:cNvSpPr>
          <p:nvPr/>
        </p:nvSpPr>
        <p:spPr bwMode="auto">
          <a:xfrm>
            <a:off x="1604953" y="1473538"/>
            <a:ext cx="3039615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⒊ </a:t>
            </a:r>
            <a:r>
              <a:rPr lang="zh-CN" altLang="en-US" sz="2400" b="1" dirty="0"/>
              <a:t>作两圆的内公切线</a:t>
            </a:r>
          </a:p>
        </p:txBody>
      </p:sp>
      <p:sp>
        <p:nvSpPr>
          <p:cNvPr id="71797" name="Text Box 117"/>
          <p:cNvSpPr txBox="1">
            <a:spLocks noChangeArrowheads="1"/>
          </p:cNvSpPr>
          <p:nvPr/>
        </p:nvSpPr>
        <p:spPr bwMode="auto">
          <a:xfrm>
            <a:off x="1882842" y="2062133"/>
            <a:ext cx="4052713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⑴ </a:t>
            </a:r>
            <a:r>
              <a:rPr lang="zh-CN" altLang="en-US" sz="2400" dirty="0"/>
              <a:t>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为直径作辅助圆。</a:t>
            </a:r>
          </a:p>
        </p:txBody>
      </p:sp>
      <p:sp>
        <p:nvSpPr>
          <p:cNvPr id="71798" name="Text Box 118"/>
          <p:cNvSpPr txBox="1">
            <a:spLocks noChangeArrowheads="1"/>
          </p:cNvSpPr>
          <p:nvPr/>
        </p:nvSpPr>
        <p:spPr bwMode="auto">
          <a:xfrm>
            <a:off x="1905015" y="2589667"/>
            <a:ext cx="2841641" cy="120032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/>
              <a:t>⑵ </a:t>
            </a:r>
            <a:r>
              <a:rPr lang="zh-CN" altLang="en-US" sz="2400" dirty="0"/>
              <a:t>以</a:t>
            </a:r>
            <a:r>
              <a:rPr lang="en-US" altLang="zh-CN" sz="2400" dirty="0"/>
              <a:t>O</a:t>
            </a:r>
            <a:r>
              <a:rPr lang="zh-CN" altLang="en-US" sz="2400" baseline="-25000" dirty="0"/>
              <a:t>２</a:t>
            </a:r>
            <a:r>
              <a:rPr lang="zh-CN" altLang="en-US" sz="2400" dirty="0"/>
              <a:t>为圆心</a:t>
            </a:r>
            <a:r>
              <a:rPr lang="en-US" altLang="zh-CN" sz="2400" dirty="0"/>
              <a:t>,</a:t>
            </a:r>
            <a:r>
              <a:rPr lang="en-US" altLang="zh-CN" sz="2400" baseline="-25000" dirty="0"/>
              <a:t> </a:t>
            </a:r>
            <a:r>
              <a:rPr lang="en-US" altLang="zh-CN" sz="2400" dirty="0"/>
              <a:t>R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+R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为半径作圆弧与辅助圆相交。</a:t>
            </a:r>
          </a:p>
        </p:txBody>
      </p:sp>
      <p:sp>
        <p:nvSpPr>
          <p:cNvPr id="71799" name="Text Box 119"/>
          <p:cNvSpPr txBox="1">
            <a:spLocks noChangeArrowheads="1"/>
          </p:cNvSpPr>
          <p:nvPr/>
        </p:nvSpPr>
        <p:spPr bwMode="auto">
          <a:xfrm>
            <a:off x="1922558" y="3911123"/>
            <a:ext cx="2058577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⑶ </a:t>
            </a:r>
            <a:r>
              <a:rPr lang="zh-CN" altLang="en-US" sz="2400" dirty="0"/>
              <a:t>连接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K</a:t>
            </a:r>
            <a:r>
              <a:rPr lang="zh-CN" altLang="en-US" sz="2400" dirty="0"/>
              <a:t>。</a:t>
            </a:r>
          </a:p>
        </p:txBody>
      </p:sp>
      <p:sp>
        <p:nvSpPr>
          <p:cNvPr id="71800" name="Text Box 120"/>
          <p:cNvSpPr txBox="1">
            <a:spLocks noChangeArrowheads="1"/>
          </p:cNvSpPr>
          <p:nvPr/>
        </p:nvSpPr>
        <p:spPr bwMode="auto">
          <a:xfrm>
            <a:off x="1933306" y="4624998"/>
            <a:ext cx="3773790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⑷ </a:t>
            </a:r>
            <a:r>
              <a:rPr lang="zh-CN" altLang="en-US" sz="2400" dirty="0"/>
              <a:t>过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作</a:t>
            </a:r>
            <a:r>
              <a:rPr lang="en-US" altLang="zh-CN" sz="2400" dirty="0"/>
              <a:t>O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的平行线。</a:t>
            </a:r>
          </a:p>
        </p:txBody>
      </p:sp>
      <p:sp>
        <p:nvSpPr>
          <p:cNvPr id="71801" name="Text Box 121"/>
          <p:cNvSpPr txBox="1">
            <a:spLocks noChangeArrowheads="1"/>
          </p:cNvSpPr>
          <p:nvPr/>
        </p:nvSpPr>
        <p:spPr bwMode="auto">
          <a:xfrm>
            <a:off x="1905015" y="5312366"/>
            <a:ext cx="4943982" cy="46166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/>
              <a:t>⑸ </a:t>
            </a:r>
            <a:r>
              <a:rPr lang="zh-CN" altLang="en-US" sz="2400" dirty="0"/>
              <a:t>连接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C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即为两圆的内公切线。</a:t>
            </a:r>
          </a:p>
        </p:txBody>
      </p:sp>
      <p:sp>
        <p:nvSpPr>
          <p:cNvPr id="71755" name="Freeform 75"/>
          <p:cNvSpPr>
            <a:spLocks noChangeArrowheads="1"/>
          </p:cNvSpPr>
          <p:nvPr/>
        </p:nvSpPr>
        <p:spPr bwMode="auto">
          <a:xfrm>
            <a:off x="6612012" y="3004601"/>
            <a:ext cx="2038350" cy="1493837"/>
          </a:xfrm>
          <a:custGeom>
            <a:avLst/>
            <a:gdLst>
              <a:gd name="T0" fmla="*/ 0 w 1174"/>
              <a:gd name="T1" fmla="*/ 2147483647 h 860"/>
              <a:gd name="T2" fmla="*/ 2147483647 w 1174"/>
              <a:gd name="T3" fmla="*/ 0 h 860"/>
              <a:gd name="T4" fmla="*/ 0 60000 65536"/>
              <a:gd name="T5" fmla="*/ 0 60000 65536"/>
              <a:gd name="T6" fmla="*/ 0 w 1174"/>
              <a:gd name="T7" fmla="*/ 0 h 860"/>
              <a:gd name="T8" fmla="*/ 1174 w 1174"/>
              <a:gd name="T9" fmla="*/ 860 h 8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174" h="860">
                <a:moveTo>
                  <a:pt x="0" y="860"/>
                </a:moveTo>
                <a:lnTo>
                  <a:pt x="1174" y="0"/>
                </a:lnTo>
              </a:path>
            </a:pathLst>
          </a:custGeom>
          <a:solidFill>
            <a:srgbClr val="FFFFFF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35"/>
          <p:cNvGrpSpPr>
            <a:grpSpLocks/>
          </p:cNvGrpSpPr>
          <p:nvPr/>
        </p:nvGrpSpPr>
        <p:grpSpPr bwMode="auto">
          <a:xfrm>
            <a:off x="8174113" y="2677575"/>
            <a:ext cx="631825" cy="444500"/>
            <a:chOff x="2861" y="1631"/>
            <a:chExt cx="398" cy="280"/>
          </a:xfrm>
        </p:grpSpPr>
        <p:sp>
          <p:nvSpPr>
            <p:cNvPr id="16410" name="Text Box 112"/>
            <p:cNvSpPr txBox="1">
              <a:spLocks noChangeArrowheads="1"/>
            </p:cNvSpPr>
            <p:nvPr/>
          </p:nvSpPr>
          <p:spPr bwMode="auto">
            <a:xfrm>
              <a:off x="2861" y="1631"/>
              <a:ext cx="242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C</a:t>
              </a:r>
              <a:r>
                <a:rPr lang="en-US" altLang="zh-CN" i="1" baseline="-25000">
                  <a:latin typeface="ISOCPEUR" pitchFamily="34" charset="0"/>
                </a:rPr>
                <a:t>2</a:t>
              </a:r>
              <a:endParaRPr lang="en-US" altLang="zh-CN">
                <a:latin typeface="ISOCPEUR" pitchFamily="34" charset="0"/>
              </a:endParaRPr>
            </a:p>
          </p:txBody>
        </p:sp>
        <p:sp>
          <p:nvSpPr>
            <p:cNvPr id="16411" name="Text Box 125"/>
            <p:cNvSpPr txBox="1">
              <a:spLocks noChangeArrowheads="1"/>
            </p:cNvSpPr>
            <p:nvPr/>
          </p:nvSpPr>
          <p:spPr bwMode="auto">
            <a:xfrm>
              <a:off x="3070" y="1767"/>
              <a:ext cx="189" cy="1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9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5" name="Group 136"/>
          <p:cNvGrpSpPr>
            <a:grpSpLocks/>
          </p:cNvGrpSpPr>
          <p:nvPr/>
        </p:nvGrpSpPr>
        <p:grpSpPr bwMode="auto">
          <a:xfrm>
            <a:off x="6462790" y="4368268"/>
            <a:ext cx="527050" cy="376238"/>
            <a:chOff x="1783" y="2696"/>
            <a:chExt cx="332" cy="237"/>
          </a:xfrm>
        </p:grpSpPr>
        <p:sp>
          <p:nvSpPr>
            <p:cNvPr id="16408" name="Text Box 113"/>
            <p:cNvSpPr txBox="1">
              <a:spLocks noChangeArrowheads="1"/>
            </p:cNvSpPr>
            <p:nvPr/>
          </p:nvSpPr>
          <p:spPr bwMode="auto">
            <a:xfrm>
              <a:off x="1873" y="2700"/>
              <a:ext cx="242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C</a:t>
              </a:r>
              <a:r>
                <a:rPr lang="en-US" altLang="zh-CN" i="1" baseline="-25000">
                  <a:latin typeface="ISOCPEUR" pitchFamily="34" charset="0"/>
                </a:rPr>
                <a:t>1</a:t>
              </a:r>
              <a:endParaRPr lang="en-US" altLang="zh-CN" i="1">
                <a:latin typeface="ISOCPEUR" pitchFamily="34" charset="0"/>
              </a:endParaRPr>
            </a:p>
          </p:txBody>
        </p:sp>
        <p:sp>
          <p:nvSpPr>
            <p:cNvPr id="16409" name="Text Box 126"/>
            <p:cNvSpPr txBox="1">
              <a:spLocks noChangeArrowheads="1"/>
            </p:cNvSpPr>
            <p:nvPr/>
          </p:nvSpPr>
          <p:spPr bwMode="auto">
            <a:xfrm>
              <a:off x="1783" y="2696"/>
              <a:ext cx="189" cy="1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90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6" name="Group 134"/>
          <p:cNvGrpSpPr>
            <a:grpSpLocks/>
          </p:cNvGrpSpPr>
          <p:nvPr/>
        </p:nvGrpSpPr>
        <p:grpSpPr bwMode="auto">
          <a:xfrm>
            <a:off x="8018537" y="2040987"/>
            <a:ext cx="381000" cy="527050"/>
            <a:chOff x="2763" y="1230"/>
            <a:chExt cx="240" cy="332"/>
          </a:xfrm>
        </p:grpSpPr>
        <p:sp>
          <p:nvSpPr>
            <p:cNvPr id="16406" name="Text Box 111"/>
            <p:cNvSpPr txBox="1">
              <a:spLocks noChangeArrowheads="1"/>
            </p:cNvSpPr>
            <p:nvPr/>
          </p:nvSpPr>
          <p:spPr bwMode="auto">
            <a:xfrm>
              <a:off x="2763" y="1230"/>
              <a:ext cx="192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K</a:t>
              </a:r>
            </a:p>
          </p:txBody>
        </p:sp>
        <p:sp>
          <p:nvSpPr>
            <p:cNvPr id="16407" name="Text Box 127"/>
            <p:cNvSpPr txBox="1">
              <a:spLocks noChangeArrowheads="1"/>
            </p:cNvSpPr>
            <p:nvPr/>
          </p:nvSpPr>
          <p:spPr bwMode="auto">
            <a:xfrm>
              <a:off x="2814" y="1418"/>
              <a:ext cx="189" cy="14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sz="900" dirty="0">
                  <a:solidFill>
                    <a:srgbClr val="FF3300"/>
                  </a:solidFill>
                </a:rPr>
                <a:t>●</a:t>
              </a:r>
            </a:p>
          </p:txBody>
        </p:sp>
      </p:grpSp>
      <p:grpSp>
        <p:nvGrpSpPr>
          <p:cNvPr id="7" name="Group 133"/>
          <p:cNvGrpSpPr>
            <a:grpSpLocks/>
          </p:cNvGrpSpPr>
          <p:nvPr/>
        </p:nvGrpSpPr>
        <p:grpSpPr bwMode="auto">
          <a:xfrm>
            <a:off x="9307587" y="1763175"/>
            <a:ext cx="1757362" cy="2171700"/>
            <a:chOff x="3575" y="1055"/>
            <a:chExt cx="1107" cy="1368"/>
          </a:xfrm>
        </p:grpSpPr>
        <p:sp>
          <p:nvSpPr>
            <p:cNvPr id="16402" name="Line 129"/>
            <p:cNvSpPr>
              <a:spLocks noChangeShapeType="1"/>
            </p:cNvSpPr>
            <p:nvPr/>
          </p:nvSpPr>
          <p:spPr bwMode="auto">
            <a:xfrm flipV="1">
              <a:off x="3575" y="1418"/>
              <a:ext cx="580" cy="100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3" name="Text Box 130"/>
            <p:cNvSpPr txBox="1">
              <a:spLocks noChangeArrowheads="1"/>
            </p:cNvSpPr>
            <p:nvPr/>
          </p:nvSpPr>
          <p:spPr bwMode="auto">
            <a:xfrm rot="21558466">
              <a:off x="4211" y="1055"/>
              <a:ext cx="446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R</a:t>
              </a:r>
              <a:r>
                <a:rPr lang="en-US" altLang="zh-CN" i="1" baseline="-25000">
                  <a:latin typeface="ISOCPEUR" pitchFamily="34" charset="0"/>
                </a:rPr>
                <a:t>2</a:t>
              </a:r>
              <a:r>
                <a:rPr lang="en-US" altLang="zh-CN">
                  <a:latin typeface="ISOCPEUR" pitchFamily="34" charset="0"/>
                </a:rPr>
                <a:t>+</a:t>
              </a:r>
              <a:r>
                <a:rPr lang="en-US" altLang="zh-CN" i="1">
                  <a:latin typeface="ISOCPEUR" pitchFamily="34" charset="0"/>
                </a:rPr>
                <a:t>R</a:t>
              </a:r>
              <a:r>
                <a:rPr lang="en-US" altLang="zh-CN" i="1" baseline="-25000">
                  <a:latin typeface="ISOCPEUR" pitchFamily="34" charset="0"/>
                </a:rPr>
                <a:t>1</a:t>
              </a:r>
              <a:endParaRPr lang="en-US" altLang="zh-CN" baseline="-25000">
                <a:latin typeface="ISOCPEUR" pitchFamily="34" charset="0"/>
              </a:endParaRPr>
            </a:p>
          </p:txBody>
        </p:sp>
        <p:sp>
          <p:nvSpPr>
            <p:cNvPr id="16404" name="Line 131"/>
            <p:cNvSpPr>
              <a:spLocks noChangeShapeType="1"/>
            </p:cNvSpPr>
            <p:nvPr/>
          </p:nvSpPr>
          <p:spPr bwMode="auto">
            <a:xfrm flipH="1">
              <a:off x="4144" y="1282"/>
              <a:ext cx="83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5" name="Line 132"/>
            <p:cNvSpPr>
              <a:spLocks noChangeShapeType="1"/>
            </p:cNvSpPr>
            <p:nvPr/>
          </p:nvSpPr>
          <p:spPr bwMode="auto">
            <a:xfrm>
              <a:off x="4227" y="1282"/>
              <a:ext cx="4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4" name="Text Box 194"/>
          <p:cNvSpPr txBox="1">
            <a:spLocks noChangeArrowheads="1"/>
          </p:cNvSpPr>
          <p:nvPr/>
        </p:nvSpPr>
        <p:spPr bwMode="auto">
          <a:xfrm>
            <a:off x="1517849" y="818968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55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71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51" grpId="0" animBg="1"/>
      <p:bldP spid="71760" grpId="0" animBg="1"/>
      <p:bldP spid="71779" grpId="0" animBg="1"/>
      <p:bldP spid="71781" grpId="0" animBg="1"/>
      <p:bldP spid="71797" grpId="0" autoUpdateAnimBg="0"/>
      <p:bldP spid="71798" grpId="0" autoUpdateAnimBg="0"/>
      <p:bldP spid="71799" grpId="0" autoUpdateAnimBg="0"/>
      <p:bldP spid="71800" grpId="0" autoUpdateAnimBg="0"/>
      <p:bldP spid="71801" grpId="0" autoUpdateAnimBg="0"/>
      <p:bldP spid="7175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1535388" y="1618991"/>
            <a:ext cx="3143250" cy="469217"/>
          </a:xfrm>
          <a:noFill/>
        </p:spPr>
        <p:txBody>
          <a:bodyPr anchor="t"/>
          <a:lstStyle/>
          <a:p>
            <a:pPr algn="l" eaLnBrk="1" hangingPunct="1"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圆弧连接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作图步骤</a:t>
            </a:r>
            <a:b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5715127" y="1270716"/>
            <a:ext cx="76174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1000" dirty="0">
                <a:latin typeface="宋体" pitchFamily="2" charset="-122"/>
                <a:cs typeface="Times New Roman" pitchFamily="18" charset="0"/>
              </a:rPr>
              <a:t>         </a:t>
            </a:r>
            <a:endParaRPr lang="en-US" altLang="zh-CN" dirty="0"/>
          </a:p>
        </p:txBody>
      </p:sp>
      <p:sp>
        <p:nvSpPr>
          <p:cNvPr id="28677" name="矩形 4"/>
          <p:cNvSpPr>
            <a:spLocks noChangeArrowheads="1"/>
          </p:cNvSpPr>
          <p:nvPr/>
        </p:nvSpPr>
        <p:spPr bwMode="auto">
          <a:xfrm>
            <a:off x="1626171" y="2513241"/>
            <a:ext cx="32960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400" dirty="0"/>
              <a:t>1. 平面图形的尺寸分析</a:t>
            </a:r>
          </a:p>
        </p:txBody>
      </p:sp>
      <p:sp>
        <p:nvSpPr>
          <p:cNvPr id="28679" name="矩形 1"/>
          <p:cNvSpPr>
            <a:spLocks noChangeArrowheads="1"/>
          </p:cNvSpPr>
          <p:nvPr/>
        </p:nvSpPr>
        <p:spPr bwMode="auto">
          <a:xfrm>
            <a:off x="1809750" y="2967374"/>
            <a:ext cx="29289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zh-CN" sz="2400" dirty="0"/>
              <a:t>分析图中</a:t>
            </a:r>
            <a:r>
              <a:rPr lang="zh-CN" altLang="zh-CN" sz="2400" b="1" dirty="0">
                <a:solidFill>
                  <a:srgbClr val="FF0000"/>
                </a:solidFill>
              </a:rPr>
              <a:t>尺寸的基准</a:t>
            </a:r>
            <a:r>
              <a:rPr lang="zh-CN" altLang="zh-CN" sz="2400" dirty="0"/>
              <a:t>及各</a:t>
            </a:r>
            <a:r>
              <a:rPr lang="zh-CN" altLang="zh-CN" sz="2400" dirty="0">
                <a:solidFill>
                  <a:srgbClr val="FF0000"/>
                </a:solidFill>
              </a:rPr>
              <a:t>尺寸的作用</a:t>
            </a:r>
            <a:r>
              <a:rPr lang="zh-CN" altLang="zh-CN" sz="2400" dirty="0"/>
              <a:t>。</a:t>
            </a:r>
            <a:r>
              <a:rPr lang="zh-CN" altLang="en-US" sz="2400" dirty="0"/>
              <a:t>按尺寸作用分：</a:t>
            </a:r>
            <a:endParaRPr lang="zh-CN" altLang="zh-CN" sz="2400" dirty="0"/>
          </a:p>
        </p:txBody>
      </p:sp>
      <p:sp>
        <p:nvSpPr>
          <p:cNvPr id="28680" name="矩形 3"/>
          <p:cNvSpPr>
            <a:spLocks noChangeArrowheads="1"/>
          </p:cNvSpPr>
          <p:nvPr/>
        </p:nvSpPr>
        <p:spPr bwMode="auto">
          <a:xfrm>
            <a:off x="4359551" y="5033964"/>
            <a:ext cx="60007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</a:rPr>
              <a:t>标注</a:t>
            </a:r>
            <a:r>
              <a:rPr lang="zh-CN" altLang="en-US" sz="2400" dirty="0"/>
              <a:t>平面图形的</a:t>
            </a:r>
            <a:r>
              <a:rPr lang="zh-CN" altLang="en-US" sz="2400" dirty="0">
                <a:solidFill>
                  <a:srgbClr val="FF0000"/>
                </a:solidFill>
              </a:rPr>
              <a:t>尺寸</a:t>
            </a:r>
            <a:r>
              <a:rPr lang="zh-CN" altLang="en-US" sz="2400" dirty="0"/>
              <a:t>时，首先应合理地</a:t>
            </a:r>
            <a:r>
              <a:rPr lang="zh-CN" altLang="en-US" sz="2400" b="1" dirty="0">
                <a:solidFill>
                  <a:srgbClr val="FF0000"/>
                </a:solidFill>
              </a:rPr>
              <a:t>选择</a:t>
            </a:r>
            <a:r>
              <a:rPr lang="zh-CN" altLang="en-US" sz="2400" dirty="0"/>
              <a:t>一个统一的</a:t>
            </a:r>
            <a:r>
              <a:rPr lang="zh-CN" altLang="en-US" sz="2400" b="1" dirty="0">
                <a:solidFill>
                  <a:srgbClr val="FF0000"/>
                </a:solidFill>
              </a:rPr>
              <a:t>基准</a:t>
            </a:r>
            <a:r>
              <a:rPr lang="zh-CN" altLang="en-US" sz="2400" dirty="0"/>
              <a:t>。</a:t>
            </a:r>
          </a:p>
        </p:txBody>
      </p:sp>
      <p:pic>
        <p:nvPicPr>
          <p:cNvPr id="21513" name="图片 9" descr="手柄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53062" y="1801389"/>
            <a:ext cx="4929188" cy="311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934055" y="4876596"/>
            <a:ext cx="20002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定形尺寸</a:t>
            </a:r>
            <a:endParaRPr lang="en-US" altLang="zh-CN" sz="2400" b="1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167437" y="4444575"/>
            <a:ext cx="357188" cy="357188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978093" y="5585489"/>
            <a:ext cx="14221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定位尺寸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7239001" y="2301450"/>
            <a:ext cx="357187" cy="357188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953251" y="1872825"/>
            <a:ext cx="357187" cy="357188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5381626" y="3087264"/>
            <a:ext cx="357187" cy="357187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738812" y="2301450"/>
            <a:ext cx="357188" cy="357188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7881937" y="4158825"/>
            <a:ext cx="357188" cy="357188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310312" y="3873075"/>
            <a:ext cx="357188" cy="357188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5810250" y="3336500"/>
            <a:ext cx="4000500" cy="1588"/>
          </a:xfrm>
          <a:prstGeom prst="line">
            <a:avLst/>
          </a:prstGeom>
          <a:ln w="25400">
            <a:solidFill>
              <a:srgbClr val="FF000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1857160" y="4314736"/>
            <a:ext cx="17319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</a:rPr>
              <a:t>尺寸的基准</a:t>
            </a:r>
            <a:endParaRPr lang="zh-CN" altLang="en-US" sz="2400" dirty="0"/>
          </a:p>
        </p:txBody>
      </p:sp>
      <p:cxnSp>
        <p:nvCxnSpPr>
          <p:cNvPr id="34" name="直接连接符 33"/>
          <p:cNvCxnSpPr/>
          <p:nvPr/>
        </p:nvCxnSpPr>
        <p:spPr>
          <a:xfrm rot="5400000">
            <a:off x="6027738" y="3342851"/>
            <a:ext cx="1190625" cy="3175"/>
          </a:xfrm>
          <a:prstGeom prst="lin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 Box 194"/>
          <p:cNvSpPr txBox="1">
            <a:spLocks noChangeArrowheads="1"/>
          </p:cNvSpPr>
          <p:nvPr/>
        </p:nvSpPr>
        <p:spPr bwMode="auto">
          <a:xfrm>
            <a:off x="1390110" y="783406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0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8677" grpId="0"/>
      <p:bldP spid="28679" grpId="0"/>
      <p:bldP spid="28680" grpId="0"/>
      <p:bldP spid="10" grpId="0"/>
      <p:bldP spid="10" grpId="1"/>
      <p:bldP spid="11" grpId="0" animBg="1"/>
      <p:bldP spid="12" grpId="0"/>
      <p:bldP spid="12" grpId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5" name="图片 7" descr="手柄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23866" y="1915738"/>
            <a:ext cx="4929188" cy="311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5747187" y="1270716"/>
            <a:ext cx="69762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altLang="zh-CN" sz="1000" dirty="0">
                <a:latin typeface="宋体" pitchFamily="2" charset="-122"/>
                <a:cs typeface="Times New Roman" pitchFamily="18" charset="0"/>
              </a:rPr>
              <a:t>        </a:t>
            </a:r>
            <a:endParaRPr lang="en-US" altLang="zh-CN" dirty="0"/>
          </a:p>
        </p:txBody>
      </p:sp>
      <p:sp>
        <p:nvSpPr>
          <p:cNvPr id="29701" name="矩形 4"/>
          <p:cNvSpPr>
            <a:spLocks noChangeArrowheads="1"/>
          </p:cNvSpPr>
          <p:nvPr/>
        </p:nvSpPr>
        <p:spPr bwMode="auto">
          <a:xfrm>
            <a:off x="1606534" y="1953078"/>
            <a:ext cx="33105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2. </a:t>
            </a:r>
            <a:r>
              <a:rPr lang="zh-CN" altLang="en-US" sz="2400" b="1" dirty="0"/>
              <a:t>平面图形的图线分析</a:t>
            </a:r>
            <a:endParaRPr lang="zh-CN" altLang="zh-CN" sz="2400" b="1" dirty="0"/>
          </a:p>
        </p:txBody>
      </p:sp>
      <p:sp>
        <p:nvSpPr>
          <p:cNvPr id="22533" name="Rectangle 33"/>
          <p:cNvSpPr>
            <a:spLocks noChangeArrowheads="1"/>
          </p:cNvSpPr>
          <p:nvPr/>
        </p:nvSpPr>
        <p:spPr bwMode="auto">
          <a:xfrm>
            <a:off x="6141640" y="1475259"/>
            <a:ext cx="21352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90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zh-CN"/>
          </a:p>
        </p:txBody>
      </p:sp>
      <p:sp>
        <p:nvSpPr>
          <p:cNvPr id="29703" name="矩形 3"/>
          <p:cNvSpPr>
            <a:spLocks noChangeArrowheads="1"/>
          </p:cNvSpPr>
          <p:nvPr/>
        </p:nvSpPr>
        <p:spPr bwMode="auto">
          <a:xfrm>
            <a:off x="1951701" y="2612736"/>
            <a:ext cx="2488115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       确定平面图形，需要知道图形的定形尺寸和定位尺寸。</a:t>
            </a:r>
          </a:p>
          <a:p>
            <a:r>
              <a:rPr lang="zh-CN" altLang="en-US" sz="2400" dirty="0"/>
              <a:t>      否则要利用线段连接的潜在关系来绘制。</a:t>
            </a:r>
            <a:endParaRPr lang="en-US" altLang="zh-CN" sz="2400" dirty="0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5264692" y="5290392"/>
            <a:ext cx="49685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</a:rPr>
              <a:t>平面图形中主要为线段和圆或圆弧</a:t>
            </a:r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606534" y="1471482"/>
            <a:ext cx="2614092" cy="469217"/>
          </a:xfrm>
          <a:noFill/>
        </p:spPr>
        <p:txBody>
          <a:bodyPr anchor="t"/>
          <a:lstStyle/>
          <a:p>
            <a:pPr algn="l" eaLnBrk="1" hangingPunct="1"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圆弧联结示例</a:t>
            </a:r>
          </a:p>
        </p:txBody>
      </p:sp>
      <p:sp>
        <p:nvSpPr>
          <p:cNvPr id="13" name="Text Box 194"/>
          <p:cNvSpPr txBox="1">
            <a:spLocks noChangeArrowheads="1"/>
          </p:cNvSpPr>
          <p:nvPr/>
        </p:nvSpPr>
        <p:spPr bwMode="auto">
          <a:xfrm>
            <a:off x="1415480" y="769518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  <p:bldP spid="2970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3"/>
          <p:cNvSpPr>
            <a:spLocks noChangeArrowheads="1"/>
          </p:cNvSpPr>
          <p:nvPr/>
        </p:nvSpPr>
        <p:spPr bwMode="auto">
          <a:xfrm>
            <a:off x="6141640" y="1475259"/>
            <a:ext cx="21352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90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zh-CN"/>
          </a:p>
        </p:txBody>
      </p:sp>
      <p:sp>
        <p:nvSpPr>
          <p:cNvPr id="37894" name="矩形 3"/>
          <p:cNvSpPr>
            <a:spLocks noChangeArrowheads="1"/>
          </p:cNvSpPr>
          <p:nvPr/>
        </p:nvSpPr>
        <p:spPr bwMode="auto">
          <a:xfrm>
            <a:off x="3215680" y="5715001"/>
            <a:ext cx="53578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有定形尺寸，而无定位尺寸的弧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822810" y="3370040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圆弧分为三类</a:t>
            </a:r>
          </a:p>
        </p:txBody>
      </p:sp>
      <p:sp>
        <p:nvSpPr>
          <p:cNvPr id="10" name="左大括号 9"/>
          <p:cNvSpPr/>
          <p:nvPr/>
        </p:nvSpPr>
        <p:spPr>
          <a:xfrm>
            <a:off x="3881438" y="2973885"/>
            <a:ext cx="285750" cy="1285875"/>
          </a:xfrm>
          <a:prstGeom prst="leftBrace">
            <a:avLst>
              <a:gd name="adj1" fmla="val 102692"/>
              <a:gd name="adj2" fmla="val 50000"/>
            </a:avLst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167189" y="2831009"/>
            <a:ext cx="11969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B0F0"/>
                </a:solidFill>
              </a:rPr>
              <a:t>已知弧</a:t>
            </a:r>
            <a:r>
              <a:rPr lang="zh-CN" altLang="en-US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167189" y="3331072"/>
            <a:ext cx="11969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B050"/>
                </a:solidFill>
              </a:rPr>
              <a:t>中间弧</a:t>
            </a:r>
            <a:r>
              <a:rPr lang="zh-CN" altLang="en-US" sz="2400" b="1"/>
              <a:t> </a:t>
            </a: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4167189" y="3831134"/>
            <a:ext cx="11969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连接弧 </a:t>
            </a:r>
          </a:p>
        </p:txBody>
      </p:sp>
      <p:pic>
        <p:nvPicPr>
          <p:cNvPr id="23564" name="图片 14" descr="手柄.jp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6096000" y="1495921"/>
            <a:ext cx="4225925" cy="267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847528" y="4500564"/>
            <a:ext cx="11977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已知弧 </a:t>
            </a:r>
          </a:p>
        </p:txBody>
      </p:sp>
      <p:sp>
        <p:nvSpPr>
          <p:cNvPr id="17" name="椭圆 16"/>
          <p:cNvSpPr/>
          <p:nvPr/>
        </p:nvSpPr>
        <p:spPr>
          <a:xfrm>
            <a:off x="6310311" y="1853109"/>
            <a:ext cx="357188" cy="357187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7381875" y="1567359"/>
            <a:ext cx="357187" cy="357187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953500" y="2567484"/>
            <a:ext cx="357187" cy="357187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7667625" y="1995984"/>
            <a:ext cx="357187" cy="357187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8524875" y="2781795"/>
            <a:ext cx="357187" cy="357188"/>
          </a:xfrm>
          <a:prstGeom prst="ellipse">
            <a:avLst/>
          </a:prstGeom>
          <a:solidFill>
            <a:schemeClr val="bg1">
              <a:alpha val="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3238500" y="4500564"/>
            <a:ext cx="48013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定位尺寸和定形尺寸全部标注的弧</a:t>
            </a:r>
          </a:p>
        </p:txBody>
      </p: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847528" y="5072064"/>
            <a:ext cx="11977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中间弧 </a:t>
            </a: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3238500" y="5072064"/>
            <a:ext cx="48013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solidFill>
                  <a:srgbClr val="00B050"/>
                </a:solidFill>
                <a:latin typeface="黑体" pitchFamily="49" charset="-122"/>
                <a:ea typeface="黑体" pitchFamily="49" charset="-122"/>
              </a:rPr>
              <a:t>有定形尺寸和不完全定位尺寸的弧</a:t>
            </a:r>
            <a:endParaRPr lang="en-US" altLang="zh-CN" sz="2400">
              <a:solidFill>
                <a:srgbClr val="00B05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1847528" y="5715001"/>
            <a:ext cx="11977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/>
              <a:t>连接弧 </a:t>
            </a:r>
          </a:p>
        </p:txBody>
      </p:sp>
      <p:sp>
        <p:nvSpPr>
          <p:cNvPr id="28" name="矩形 4"/>
          <p:cNvSpPr>
            <a:spLocks noChangeArrowheads="1"/>
          </p:cNvSpPr>
          <p:nvPr/>
        </p:nvSpPr>
        <p:spPr bwMode="auto">
          <a:xfrm>
            <a:off x="1766748" y="2018110"/>
            <a:ext cx="33105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/>
              <a:t>2. </a:t>
            </a:r>
            <a:r>
              <a:rPr lang="zh-CN" altLang="en-US" sz="2400" b="1" dirty="0"/>
              <a:t>平面图形的图线分析</a:t>
            </a:r>
            <a:endParaRPr lang="zh-CN" altLang="zh-CN" sz="2400" b="1" dirty="0"/>
          </a:p>
        </p:txBody>
      </p:sp>
      <p:sp>
        <p:nvSpPr>
          <p:cNvPr id="30" name="标题 1"/>
          <p:cNvSpPr>
            <a:spLocks noGrp="1"/>
          </p:cNvSpPr>
          <p:nvPr>
            <p:ph type="title"/>
          </p:nvPr>
        </p:nvSpPr>
        <p:spPr>
          <a:xfrm>
            <a:off x="1727201" y="1471445"/>
            <a:ext cx="3143250" cy="469217"/>
          </a:xfrm>
          <a:noFill/>
        </p:spPr>
        <p:txBody>
          <a:bodyPr anchor="t"/>
          <a:lstStyle/>
          <a:p>
            <a:pPr algn="l" eaLnBrk="1" hangingPunct="1"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圆弧联结示例</a:t>
            </a:r>
          </a:p>
        </p:txBody>
      </p:sp>
      <p:sp>
        <p:nvSpPr>
          <p:cNvPr id="31" name="Text Box 194"/>
          <p:cNvSpPr txBox="1">
            <a:spLocks noChangeArrowheads="1"/>
          </p:cNvSpPr>
          <p:nvPr/>
        </p:nvSpPr>
        <p:spPr bwMode="auto">
          <a:xfrm>
            <a:off x="1516508" y="797263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voltag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7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4" dur="500"/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5" dur="500"/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500"/>
                                        <p:tgtEl>
                                          <p:spTgt spid="37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/>
      <p:bldP spid="13" grpId="0"/>
      <p:bldP spid="14" grpId="0"/>
      <p:bldP spid="15" grpId="0"/>
      <p:bldP spid="17" grpId="0" animBg="1"/>
      <p:bldP spid="18" grpId="0" animBg="1"/>
      <p:bldP spid="19" grpId="0" animBg="1"/>
      <p:bldP spid="21" grpId="0" animBg="1"/>
      <p:bldP spid="22" grpId="0" animBg="1"/>
      <p:bldP spid="24" grpId="0"/>
      <p:bldP spid="25" grpId="0"/>
      <p:bldP spid="26" grpId="0"/>
      <p:bldP spid="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4"/>
          <p:cNvSpPr>
            <a:spLocks noChangeArrowheads="1"/>
          </p:cNvSpPr>
          <p:nvPr/>
        </p:nvSpPr>
        <p:spPr bwMode="auto">
          <a:xfrm>
            <a:off x="1737926" y="2032066"/>
            <a:ext cx="23823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zh-CN" sz="2400" b="1" dirty="0"/>
              <a:t>3. </a:t>
            </a:r>
            <a:r>
              <a:rPr lang="zh-CN" altLang="en-US" sz="2400" b="1" dirty="0"/>
              <a:t>绘制</a:t>
            </a:r>
            <a:r>
              <a:rPr lang="zh-CN" altLang="zh-CN" sz="2400" b="1" dirty="0"/>
              <a:t>平面图形</a:t>
            </a:r>
          </a:p>
        </p:txBody>
      </p:sp>
      <p:sp>
        <p:nvSpPr>
          <p:cNvPr id="24581" name="Rectangle 33"/>
          <p:cNvSpPr>
            <a:spLocks noChangeArrowheads="1"/>
          </p:cNvSpPr>
          <p:nvPr/>
        </p:nvSpPr>
        <p:spPr bwMode="auto">
          <a:xfrm>
            <a:off x="6141640" y="1475259"/>
            <a:ext cx="21352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zh-CN" altLang="zh-CN" sz="90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zh-CN"/>
          </a:p>
        </p:txBody>
      </p:sp>
      <p:sp>
        <p:nvSpPr>
          <p:cNvPr id="29703" name="矩形 3"/>
          <p:cNvSpPr>
            <a:spLocks noChangeArrowheads="1"/>
          </p:cNvSpPr>
          <p:nvPr/>
        </p:nvSpPr>
        <p:spPr bwMode="auto">
          <a:xfrm>
            <a:off x="1809750" y="2786063"/>
            <a:ext cx="257175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）确定基准线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）绘制已知弧和线段</a:t>
            </a:r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）绘制中间弧和线段</a:t>
            </a:r>
            <a:endParaRPr lang="en-US" altLang="zh-CN" sz="2400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765868" y="1450699"/>
            <a:ext cx="2571750" cy="469217"/>
          </a:xfrm>
          <a:noFill/>
        </p:spPr>
        <p:txBody>
          <a:bodyPr anchor="t"/>
          <a:lstStyle/>
          <a:p>
            <a:pPr algn="l" eaLnBrk="1" hangingPunct="1"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圆弧联结示例</a:t>
            </a:r>
          </a:p>
        </p:txBody>
      </p:sp>
      <p:sp>
        <p:nvSpPr>
          <p:cNvPr id="13" name="Text Box 194"/>
          <p:cNvSpPr txBox="1">
            <a:spLocks noChangeArrowheads="1"/>
          </p:cNvSpPr>
          <p:nvPr/>
        </p:nvSpPr>
        <p:spPr bwMode="auto">
          <a:xfrm>
            <a:off x="1420743" y="796877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920" y="1953407"/>
            <a:ext cx="3914286" cy="235238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87220" y="1935235"/>
            <a:ext cx="3828571" cy="2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47855" y="1919916"/>
            <a:ext cx="4142857" cy="240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50327" y="2862857"/>
            <a:ext cx="314286" cy="60952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96711" y="2493731"/>
            <a:ext cx="761905" cy="70476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5981" y="2776824"/>
            <a:ext cx="447619" cy="78095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57885" y="2344182"/>
            <a:ext cx="771429" cy="86666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46968" y="2348880"/>
            <a:ext cx="904762" cy="118095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5880" y="1970446"/>
            <a:ext cx="4980952" cy="24666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7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7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9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97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矩形 4"/>
          <p:cNvSpPr>
            <a:spLocks noChangeArrowheads="1"/>
          </p:cNvSpPr>
          <p:nvPr/>
        </p:nvSpPr>
        <p:spPr bwMode="auto">
          <a:xfrm>
            <a:off x="1516300" y="1957335"/>
            <a:ext cx="23823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zh-CN" sz="2400" b="1" dirty="0"/>
              <a:t>3. </a:t>
            </a:r>
            <a:r>
              <a:rPr lang="zh-CN" altLang="en-US" sz="2400" b="1" dirty="0"/>
              <a:t>绘制</a:t>
            </a:r>
            <a:r>
              <a:rPr lang="zh-CN" altLang="zh-CN" sz="2400" b="1" dirty="0"/>
              <a:t>平面图形</a:t>
            </a:r>
          </a:p>
        </p:txBody>
      </p:sp>
      <p:sp>
        <p:nvSpPr>
          <p:cNvPr id="29703" name="矩形 3"/>
          <p:cNvSpPr>
            <a:spLocks noChangeArrowheads="1"/>
          </p:cNvSpPr>
          <p:nvPr/>
        </p:nvSpPr>
        <p:spPr bwMode="auto">
          <a:xfrm>
            <a:off x="1605368" y="2588422"/>
            <a:ext cx="257175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）确定基准线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）绘制已知弧和线段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）绘制中间弧和线段</a:t>
            </a:r>
            <a:endParaRPr lang="en-US" altLang="zh-CN" sz="2400" dirty="0"/>
          </a:p>
          <a:p>
            <a:r>
              <a:rPr lang="zh-CN" altLang="zh-CN" sz="2400" dirty="0"/>
              <a:t>4）加深整理</a:t>
            </a:r>
            <a:endParaRPr lang="zh-CN" altLang="en-US" sz="2400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557128" y="1445508"/>
            <a:ext cx="2571750" cy="469217"/>
          </a:xfrm>
          <a:noFill/>
        </p:spPr>
        <p:txBody>
          <a:bodyPr anchor="t"/>
          <a:lstStyle/>
          <a:p>
            <a:pPr algn="l" eaLnBrk="1" hangingPunct="1">
              <a:defRPr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圆弧联结示例</a:t>
            </a:r>
          </a:p>
        </p:txBody>
      </p:sp>
      <p:sp>
        <p:nvSpPr>
          <p:cNvPr id="13" name="Text Box 194"/>
          <p:cNvSpPr txBox="1">
            <a:spLocks noChangeArrowheads="1"/>
          </p:cNvSpPr>
          <p:nvPr/>
        </p:nvSpPr>
        <p:spPr bwMode="auto">
          <a:xfrm>
            <a:off x="1487488" y="807046"/>
            <a:ext cx="3972562" cy="52322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三</a:t>
            </a:r>
            <a:r>
              <a:rPr lang="zh-CN" altLang="zh-CN" sz="2800" b="1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x-none" sz="28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平面图形构形设计</a:t>
            </a:r>
          </a:p>
        </p:txBody>
      </p:sp>
      <p:sp>
        <p:nvSpPr>
          <p:cNvPr id="14" name="Text Box 31"/>
          <p:cNvSpPr txBox="1">
            <a:spLocks noChangeArrowheads="1"/>
          </p:cNvSpPr>
          <p:nvPr/>
        </p:nvSpPr>
        <p:spPr bwMode="auto">
          <a:xfrm>
            <a:off x="3238480" y="285729"/>
            <a:ext cx="5715000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3200" b="1" dirty="0">
                <a:latin typeface="黑体" pitchFamily="49" charset="-122"/>
                <a:ea typeface="黑体" pitchFamily="49" charset="-122"/>
              </a:rPr>
              <a:t>二维图形的构形及绘制</a:t>
            </a:r>
            <a:endParaRPr lang="zh-CN" altLang="en-US" sz="3200" b="1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850" y="2310849"/>
            <a:ext cx="5138927" cy="1527599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25417" y="2431629"/>
            <a:ext cx="2880320" cy="169569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5"/>
          <a:srcRect l="-402" t="-109" r="-1"/>
          <a:stretch/>
        </p:blipFill>
        <p:spPr>
          <a:xfrm>
            <a:off x="4931592" y="2269398"/>
            <a:ext cx="5104468" cy="2901192"/>
          </a:xfrm>
          <a:prstGeom prst="rect">
            <a:avLst/>
          </a:prstGeom>
        </p:spPr>
      </p:pic>
      <p:cxnSp>
        <p:nvCxnSpPr>
          <p:cNvPr id="24" name="直接连接符 23"/>
          <p:cNvCxnSpPr/>
          <p:nvPr/>
        </p:nvCxnSpPr>
        <p:spPr>
          <a:xfrm flipV="1">
            <a:off x="7475732" y="2714625"/>
            <a:ext cx="906269" cy="16165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127"/>
          <p:cNvSpPr txBox="1">
            <a:spLocks noChangeArrowheads="1"/>
          </p:cNvSpPr>
          <p:nvPr/>
        </p:nvSpPr>
        <p:spPr bwMode="auto">
          <a:xfrm>
            <a:off x="8230547" y="2590800"/>
            <a:ext cx="300038" cy="2286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900" dirty="0">
                <a:solidFill>
                  <a:srgbClr val="FF3300"/>
                </a:solidFill>
              </a:rPr>
              <a:t>●</a:t>
            </a: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96114" y="2471738"/>
            <a:ext cx="1436409" cy="301696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62489" y="1680117"/>
            <a:ext cx="3257143" cy="1971429"/>
          </a:xfrm>
          <a:prstGeom prst="rect">
            <a:avLst/>
          </a:prstGeom>
        </p:spPr>
      </p:pic>
      <p:sp>
        <p:nvSpPr>
          <p:cNvPr id="33" name="Text Box 127"/>
          <p:cNvSpPr txBox="1">
            <a:spLocks noChangeArrowheads="1"/>
          </p:cNvSpPr>
          <p:nvPr/>
        </p:nvSpPr>
        <p:spPr bwMode="auto">
          <a:xfrm>
            <a:off x="8222927" y="3250672"/>
            <a:ext cx="300038" cy="2286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900" dirty="0">
                <a:solidFill>
                  <a:srgbClr val="FF3300"/>
                </a:solidFill>
              </a:rPr>
              <a:t>●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0419269">
            <a:off x="6974319" y="3323408"/>
            <a:ext cx="1436409" cy="301696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 flipH="1" flipV="1">
            <a:off x="6798469" y="3595688"/>
            <a:ext cx="1402538" cy="4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5881" y="1564830"/>
            <a:ext cx="4982961" cy="3664371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33134" y="2578821"/>
            <a:ext cx="5009524" cy="1752381"/>
          </a:xfrm>
          <a:prstGeom prst="rect">
            <a:avLst/>
          </a:prstGeom>
        </p:spPr>
      </p:pic>
      <p:pic>
        <p:nvPicPr>
          <p:cNvPr id="22" name="图片 21" descr="二维1.jp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230547" y="4229574"/>
            <a:ext cx="26289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1555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9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7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  <p:bldP spid="33" grpId="0"/>
      <p:bldP spid="3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2309786" y="785794"/>
            <a:ext cx="7315200" cy="129380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Microsoft Yahei"/>
                <a:sym typeface="Microsoft Yahei"/>
              </a:rPr>
              <a:t>圆弧连接中，有关概念的说法正确的是：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815166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定位尺寸和定形尺寸全部标注的圆弧是已知圆弧。</a:t>
            </a:r>
            <a:endParaRPr lang="zh-CN" altLang="en-US" sz="2400" b="1" dirty="0">
              <a:solidFill>
                <a:srgbClr val="000000"/>
              </a:solidFill>
              <a:latin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有定形尺寸而无定位尺寸的圆弧是中间弧。</a:t>
            </a:r>
            <a:endParaRPr lang="zh-CN" altLang="en-US" sz="2400" b="1" dirty="0">
              <a:solidFill>
                <a:srgbClr val="000000"/>
              </a:solidFill>
              <a:latin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Microsoft Yahei"/>
                <a:sym typeface="Microsoft Yahei"/>
              </a:rPr>
              <a:t>两圆弧外切，其中心距等于两圆弧半径之和。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>
                <a:solidFill>
                  <a:srgbClr val="000000"/>
                </a:solidFill>
                <a:latin typeface="Microsoft Yahei"/>
                <a:sym typeface="Microsoft Yahei"/>
              </a:rPr>
              <a:t>两圆弧内切，其中心距等于两圆弧半径之差。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2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sym typeface="Microsoft Yahei"/>
              </a:rPr>
              <a:t>提交</a:t>
            </a: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sym typeface="Microsoft Yahei"/>
                </a:rPr>
                <a:t>多选题</a:t>
              </a: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sym typeface="Microsoft Yahei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4" name="图片 3" descr="tmpCF15.tmp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4417181" y="535626"/>
            <a:ext cx="3710063" cy="5847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圆弧连接作图小结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2311772" y="1760381"/>
            <a:ext cx="7920880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一、无论哪种形式的连接，连接圆弧的</a:t>
            </a:r>
            <a:r>
              <a:rPr lang="zh-CN" altLang="en-US" sz="2400" dirty="0">
                <a:solidFill>
                  <a:srgbClr val="FF0000"/>
                </a:solidFill>
              </a:rPr>
              <a:t>圆心</a:t>
            </a:r>
            <a:r>
              <a:rPr lang="zh-CN" altLang="en-US" sz="2400" dirty="0"/>
              <a:t>都是利用</a:t>
            </a:r>
            <a:r>
              <a:rPr lang="zh-CN" altLang="en-US" sz="2400" dirty="0">
                <a:solidFill>
                  <a:srgbClr val="FF0000"/>
                </a:solidFill>
              </a:rPr>
              <a:t>动点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</a:rPr>
              <a:t>运动轨迹相交</a:t>
            </a:r>
            <a:r>
              <a:rPr lang="zh-CN" altLang="en-US" sz="2400" dirty="0"/>
              <a:t>的概念确定的。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2783633" y="2967336"/>
            <a:ext cx="6452889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CC"/>
                </a:solidFill>
              </a:rPr>
              <a:t>☆ </a:t>
            </a:r>
            <a:r>
              <a:rPr lang="zh-CN" altLang="en-US" sz="2400" dirty="0">
                <a:solidFill>
                  <a:srgbClr val="0000CC"/>
                </a:solidFill>
              </a:rPr>
              <a:t>距直线等距离的点的轨迹是直线的平行线。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2811463" y="3705226"/>
            <a:ext cx="5809604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CC"/>
                </a:solidFill>
              </a:rPr>
              <a:t>☆ </a:t>
            </a:r>
            <a:r>
              <a:rPr lang="zh-CN" altLang="en-US" sz="2400" dirty="0">
                <a:solidFill>
                  <a:srgbClr val="0000CC"/>
                </a:solidFill>
              </a:rPr>
              <a:t>与圆弧等距离的点的轨迹是同心圆弧。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2380482" y="4532928"/>
            <a:ext cx="7852171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/>
              <a:t>二、连接圆弧的圆心是由作图确定的，故在标注尺寸时</a:t>
            </a:r>
            <a:r>
              <a:rPr lang="zh-CN" altLang="en-US" sz="2400" dirty="0">
                <a:solidFill>
                  <a:srgbClr val="FF0000"/>
                </a:solidFill>
              </a:rPr>
              <a:t>只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       </a:t>
            </a:r>
            <a:r>
              <a:rPr lang="zh-CN" altLang="en-US" sz="2400" dirty="0">
                <a:solidFill>
                  <a:srgbClr val="FF0000"/>
                </a:solidFill>
              </a:rPr>
              <a:t>注半径</a:t>
            </a:r>
            <a:r>
              <a:rPr lang="zh-CN" altLang="en-US" sz="2400" dirty="0"/>
              <a:t>，而</a:t>
            </a:r>
            <a:r>
              <a:rPr lang="zh-CN" altLang="en-US" sz="2400" dirty="0">
                <a:solidFill>
                  <a:srgbClr val="FF0000"/>
                </a:solidFill>
              </a:rPr>
              <a:t>不注圆心位置尺寸</a:t>
            </a:r>
            <a:r>
              <a:rPr lang="zh-CN" altLang="en-US" sz="2400" dirty="0"/>
              <a:t>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autoUpdateAnimBg="0"/>
      <p:bldP spid="76804" grpId="0" autoUpdateAnimBg="0"/>
      <p:bldP spid="76805" grpId="0" autoUpdateAnimBg="0"/>
      <p:bldP spid="7680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2705100" y="228601"/>
            <a:ext cx="6819900" cy="771525"/>
          </a:xfrm>
          <a:solidFill>
            <a:srgbClr val="FFFFFF"/>
          </a:solidFill>
        </p:spPr>
        <p:txBody>
          <a:bodyPr/>
          <a:lstStyle/>
          <a:p>
            <a:pPr eaLnBrk="1" hangingPunct="1"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用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AutoCAD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绘制平面几何图形</a:t>
            </a:r>
          </a:p>
        </p:txBody>
      </p:sp>
      <p:pic>
        <p:nvPicPr>
          <p:cNvPr id="26628" name="Picture 4" descr="14-4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424114" y="1341438"/>
            <a:ext cx="7127875" cy="4806950"/>
          </a:xfr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2782889" y="714375"/>
            <a:ext cx="6313487" cy="357188"/>
          </a:xfrm>
          <a:solidFill>
            <a:srgbClr val="CCFFFF"/>
          </a:solidFill>
          <a:ln>
            <a:solidFill>
              <a:srgbClr val="000000"/>
            </a:solidFill>
          </a:ln>
        </p:spPr>
        <p:txBody>
          <a:bodyPr/>
          <a:lstStyle/>
          <a:p>
            <a:pPr algn="l" eaLnBrk="1" fontAlgn="ctr" hangingPunct="1"/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）将点画线层设为当前层  绘制基准线</a:t>
            </a:r>
            <a:r>
              <a:rPr lang="zh-CN" altLang="en-US" sz="4000"/>
              <a:t> </a:t>
            </a:r>
          </a:p>
        </p:txBody>
      </p:sp>
      <p:pic>
        <p:nvPicPr>
          <p:cNvPr id="43012" name="Picture 4" descr="14-47a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00376" y="1628775"/>
            <a:ext cx="5832475" cy="4484688"/>
          </a:xfrm>
          <a:noFill/>
        </p:spPr>
      </p:pic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2738438" y="571501"/>
            <a:ext cx="6858000" cy="708025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000"/>
              <a:t>（</a:t>
            </a:r>
            <a:r>
              <a:rPr lang="en-US" altLang="zh-CN" sz="2000"/>
              <a:t>2</a:t>
            </a:r>
            <a:r>
              <a:rPr lang="zh-CN" altLang="en-US" sz="2000"/>
              <a:t>）将粗实线层设为当前层。绘制矩形轮廓，先画矩形的左右两边 </a:t>
            </a:r>
          </a:p>
        </p:txBody>
      </p:sp>
      <p:pic>
        <p:nvPicPr>
          <p:cNvPr id="106502" name="Picture 6" descr="14-47b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66938" y="1857376"/>
            <a:ext cx="7200900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4" name="Rectangle 8"/>
          <p:cNvSpPr>
            <a:spLocks noChangeArrowheads="1"/>
          </p:cNvSpPr>
          <p:nvPr/>
        </p:nvSpPr>
        <p:spPr bwMode="auto">
          <a:xfrm>
            <a:off x="2738439" y="571501"/>
            <a:ext cx="6884987" cy="701675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fontAlgn="ctr"/>
            <a:r>
              <a:rPr lang="en-US" altLang="zh-CN" sz="2400"/>
              <a:t>(3) </a:t>
            </a:r>
            <a:r>
              <a:rPr lang="zh-CN" altLang="en-US" sz="2400"/>
              <a:t>绘制圆角</a:t>
            </a:r>
            <a:r>
              <a:rPr lang="zh-CN" altLang="en-US" sz="4000"/>
              <a:t> </a:t>
            </a:r>
          </a:p>
        </p:txBody>
      </p:sp>
      <p:pic>
        <p:nvPicPr>
          <p:cNvPr id="106505" name="Picture 9" descr="14-47c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66938" y="1643064"/>
            <a:ext cx="7358062" cy="467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6" name="Rectangle 10"/>
          <p:cNvSpPr>
            <a:spLocks noChangeArrowheads="1"/>
          </p:cNvSpPr>
          <p:nvPr/>
        </p:nvSpPr>
        <p:spPr bwMode="auto">
          <a:xfrm>
            <a:off x="2809876" y="752476"/>
            <a:ext cx="5400675" cy="461963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/>
              <a:t>4. </a:t>
            </a:r>
            <a:r>
              <a:rPr lang="zh-CN" altLang="en-US" sz="2400"/>
              <a:t>绘制矩形中左边的</a:t>
            </a:r>
            <a:r>
              <a:rPr lang="en-US" altLang="zh-CN" sz="2400"/>
              <a:t>2</a:t>
            </a:r>
            <a:r>
              <a:rPr lang="zh-CN" altLang="en-US" sz="2400"/>
              <a:t>个</a:t>
            </a:r>
            <a:r>
              <a:rPr lang="en-US" altLang="zh-CN" sz="2400" i="1"/>
              <a:t>φ</a:t>
            </a:r>
            <a:r>
              <a:rPr lang="en-US" altLang="zh-CN" sz="2400"/>
              <a:t>10</a:t>
            </a:r>
            <a:r>
              <a:rPr lang="zh-CN" altLang="en-US" sz="2400"/>
              <a:t>的小圆</a:t>
            </a:r>
          </a:p>
        </p:txBody>
      </p:sp>
      <p:pic>
        <p:nvPicPr>
          <p:cNvPr id="106507" name="Picture 11" descr="14-47d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309814" y="1714500"/>
            <a:ext cx="7215187" cy="457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08" name="Rectangle 12"/>
          <p:cNvSpPr>
            <a:spLocks noChangeArrowheads="1"/>
          </p:cNvSpPr>
          <p:nvPr/>
        </p:nvSpPr>
        <p:spPr bwMode="auto">
          <a:xfrm>
            <a:off x="2738438" y="571501"/>
            <a:ext cx="5143500" cy="701675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fontAlgn="ctr"/>
            <a:r>
              <a:rPr lang="zh-CN" altLang="en-US" sz="2400"/>
              <a:t>整理小圆的中心线</a:t>
            </a:r>
            <a:r>
              <a:rPr lang="zh-CN" altLang="en-US" sz="4000"/>
              <a:t> </a:t>
            </a:r>
          </a:p>
        </p:txBody>
      </p:sp>
      <p:pic>
        <p:nvPicPr>
          <p:cNvPr id="106509" name="Picture 13" descr="14-47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309813" y="1785939"/>
            <a:ext cx="7143750" cy="445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11" name="Rectangle 15"/>
          <p:cNvSpPr>
            <a:spLocks noChangeArrowheads="1"/>
          </p:cNvSpPr>
          <p:nvPr/>
        </p:nvSpPr>
        <p:spPr bwMode="auto">
          <a:xfrm>
            <a:off x="2809876" y="714376"/>
            <a:ext cx="6500813" cy="461963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>
                <a:cs typeface="Times New Roman" pitchFamily="18" charset="0"/>
              </a:rPr>
              <a:t>在菜单栏：单击“镜像”命令，画左下小圆</a:t>
            </a:r>
            <a:endParaRPr lang="zh-CN" altLang="en-US" sz="2400"/>
          </a:p>
        </p:txBody>
      </p:sp>
      <p:pic>
        <p:nvPicPr>
          <p:cNvPr id="106513" name="Picture 17" descr="14-47f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381250" y="1714501"/>
            <a:ext cx="7215188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14" name="Rectangle 18"/>
          <p:cNvSpPr>
            <a:spLocks noChangeArrowheads="1"/>
          </p:cNvSpPr>
          <p:nvPr/>
        </p:nvSpPr>
        <p:spPr bwMode="auto">
          <a:xfrm>
            <a:off x="2738438" y="681038"/>
            <a:ext cx="6500812" cy="461962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/>
              <a:t>5. </a:t>
            </a:r>
            <a:r>
              <a:rPr lang="zh-CN" altLang="en-US" sz="2400"/>
              <a:t>绘制图形左侧</a:t>
            </a:r>
            <a:r>
              <a:rPr lang="en-US" altLang="zh-CN" sz="2400" i="1"/>
              <a:t>R</a:t>
            </a:r>
            <a:r>
              <a:rPr lang="en-US" altLang="zh-CN" sz="2400"/>
              <a:t>12</a:t>
            </a:r>
            <a:r>
              <a:rPr lang="zh-CN" altLang="en-US" sz="2400"/>
              <a:t>、</a:t>
            </a:r>
            <a:r>
              <a:rPr lang="en-US" altLang="zh-CN" sz="2400" i="1"/>
              <a:t>φ</a:t>
            </a:r>
            <a:r>
              <a:rPr lang="en-US" altLang="zh-CN" sz="2400"/>
              <a:t>12</a:t>
            </a:r>
            <a:r>
              <a:rPr lang="zh-CN" altLang="en-US" sz="2400"/>
              <a:t>的中心线和圆</a:t>
            </a:r>
          </a:p>
        </p:txBody>
      </p:sp>
      <p:pic>
        <p:nvPicPr>
          <p:cNvPr id="106515" name="Picture 19" descr="14-47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2381250" y="1714501"/>
            <a:ext cx="72151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17" name="Rectangle 21"/>
          <p:cNvSpPr>
            <a:spLocks noChangeArrowheads="1"/>
          </p:cNvSpPr>
          <p:nvPr/>
        </p:nvSpPr>
        <p:spPr bwMode="auto">
          <a:xfrm>
            <a:off x="2738439" y="642938"/>
            <a:ext cx="6626225" cy="457200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/>
              <a:t>6. </a:t>
            </a:r>
            <a:r>
              <a:rPr lang="zh-CN" altLang="en-US" sz="2400">
                <a:cs typeface="Times New Roman" pitchFamily="18" charset="0"/>
              </a:rPr>
              <a:t>在菜单栏：单击“镜像”命令，画图形右侧圆</a:t>
            </a:r>
            <a:endParaRPr lang="zh-CN" altLang="en-US" sz="2400"/>
          </a:p>
        </p:txBody>
      </p:sp>
      <p:pic>
        <p:nvPicPr>
          <p:cNvPr id="106519" name="Picture 23" descr="14-47h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381251" y="1714501"/>
            <a:ext cx="7286625" cy="451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20" name="Rectangle 24"/>
          <p:cNvSpPr>
            <a:spLocks noChangeArrowheads="1"/>
          </p:cNvSpPr>
          <p:nvPr/>
        </p:nvSpPr>
        <p:spPr bwMode="auto">
          <a:xfrm>
            <a:off x="2738438" y="500064"/>
            <a:ext cx="6858000" cy="701675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fontAlgn="ctr"/>
            <a:r>
              <a:rPr lang="en-US" altLang="zh-CN" sz="2400"/>
              <a:t>7. </a:t>
            </a:r>
            <a:r>
              <a:rPr lang="zh-CN" altLang="en-US" sz="2400"/>
              <a:t>绘制直径为</a:t>
            </a:r>
            <a:r>
              <a:rPr lang="en-US" altLang="zh-CN" sz="2400" i="1"/>
              <a:t>φ</a:t>
            </a:r>
            <a:r>
              <a:rPr lang="en-US" altLang="zh-CN" sz="2400"/>
              <a:t>56</a:t>
            </a:r>
            <a:r>
              <a:rPr lang="zh-CN" altLang="en-US" sz="2400"/>
              <a:t>、</a:t>
            </a:r>
            <a:r>
              <a:rPr lang="en-US" altLang="zh-CN" sz="2400" i="1"/>
              <a:t>φ</a:t>
            </a:r>
            <a:r>
              <a:rPr lang="en-US" altLang="zh-CN" sz="2400"/>
              <a:t>32</a:t>
            </a:r>
            <a:r>
              <a:rPr lang="zh-CN" altLang="en-US" sz="2400"/>
              <a:t>的圆</a:t>
            </a:r>
            <a:r>
              <a:rPr lang="zh-CN" altLang="en-US" sz="4000"/>
              <a:t> </a:t>
            </a:r>
          </a:p>
        </p:txBody>
      </p:sp>
      <p:pic>
        <p:nvPicPr>
          <p:cNvPr id="106521" name="Picture 25" descr="14-47i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309813" y="1643063"/>
            <a:ext cx="74295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22" name="Rectangle 26"/>
          <p:cNvSpPr>
            <a:spLocks noChangeArrowheads="1"/>
          </p:cNvSpPr>
          <p:nvPr/>
        </p:nvSpPr>
        <p:spPr bwMode="auto">
          <a:xfrm>
            <a:off x="2738439" y="500064"/>
            <a:ext cx="5329237" cy="682625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tIns="36000" bIns="36000" anchor="ctr">
            <a:spAutoFit/>
          </a:bodyPr>
          <a:lstStyle/>
          <a:p>
            <a:pPr fontAlgn="ctr"/>
            <a:r>
              <a:rPr lang="en-US" altLang="zh-CN" sz="2400"/>
              <a:t>8.  </a:t>
            </a:r>
            <a:r>
              <a:rPr lang="zh-CN" altLang="en-US" sz="2400"/>
              <a:t>用</a:t>
            </a:r>
            <a:r>
              <a:rPr lang="en-US" altLang="zh-CN" sz="2400"/>
              <a:t>Line“</a:t>
            </a:r>
            <a:r>
              <a:rPr lang="zh-CN" altLang="en-US" sz="2400"/>
              <a:t>画直线”命令绘制圆的切线</a:t>
            </a:r>
            <a:r>
              <a:rPr lang="zh-CN" altLang="en-US" sz="4000"/>
              <a:t> </a:t>
            </a:r>
          </a:p>
        </p:txBody>
      </p:sp>
      <p:pic>
        <p:nvPicPr>
          <p:cNvPr id="106523" name="Picture 27" descr="14-47j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2238375" y="1571626"/>
            <a:ext cx="7697788" cy="4856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526" name="Rectangle 30"/>
          <p:cNvSpPr>
            <a:spLocks noChangeArrowheads="1"/>
          </p:cNvSpPr>
          <p:nvPr/>
        </p:nvSpPr>
        <p:spPr bwMode="auto">
          <a:xfrm>
            <a:off x="2667000" y="614363"/>
            <a:ext cx="6929438" cy="461962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>
                <a:cs typeface="Times New Roman" pitchFamily="18" charset="0"/>
              </a:rPr>
              <a:t>9. </a:t>
            </a:r>
            <a:r>
              <a:rPr lang="zh-CN" altLang="en-US" sz="2400">
                <a:cs typeface="Times New Roman" pitchFamily="18" charset="0"/>
              </a:rPr>
              <a:t>修剪、整理图形，将平面图形调整到合适的位置</a:t>
            </a:r>
            <a:r>
              <a:rPr lang="zh-CN" altLang="en-US" sz="900"/>
              <a:t> </a:t>
            </a:r>
            <a:endParaRPr lang="zh-CN" altLang="en-US" sz="2400"/>
          </a:p>
        </p:txBody>
      </p:sp>
      <p:pic>
        <p:nvPicPr>
          <p:cNvPr id="106527" name="Picture 31" descr="14-47l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2166939" y="1643063"/>
            <a:ext cx="7623175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6528" name="Picture 32" descr="14-44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2166938" y="1389064"/>
            <a:ext cx="7715250" cy="546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6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0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0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0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0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0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06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6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animBg="1"/>
      <p:bldP spid="106501" grpId="0" animBg="1"/>
      <p:bldP spid="106504" grpId="0" animBg="1"/>
      <p:bldP spid="106506" grpId="0" animBg="1"/>
      <p:bldP spid="106508" grpId="0" animBg="1"/>
      <p:bldP spid="106511" grpId="0" animBg="1"/>
      <p:bldP spid="106514" grpId="0" animBg="1"/>
      <p:bldP spid="106517" grpId="0" animBg="1"/>
      <p:bldP spid="106520" grpId="0" animBg="1"/>
      <p:bldP spid="106522" grpId="0" animBg="1"/>
      <p:bldP spid="1065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088" y="188913"/>
            <a:ext cx="6388100" cy="792162"/>
          </a:xfrm>
          <a:solidFill>
            <a:srgbClr val="FFFFFF"/>
          </a:solidFill>
        </p:spPr>
        <p:txBody>
          <a:bodyPr/>
          <a:lstStyle/>
          <a:p>
            <a:pPr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通过二维图形构建三维立体</a:t>
            </a:r>
          </a:p>
        </p:txBody>
      </p:sp>
      <p:pic>
        <p:nvPicPr>
          <p:cNvPr id="138244" name="Picture 4" descr="14-80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500" y="3286126"/>
            <a:ext cx="3779838" cy="2354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8245" name="Picture 5" descr="14-85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66938" y="3214688"/>
            <a:ext cx="3719512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7" name="Rectangle 6"/>
          <p:cNvSpPr>
            <a:spLocks noChangeArrowheads="1"/>
          </p:cNvSpPr>
          <p:nvPr/>
        </p:nvSpPr>
        <p:spPr bwMode="auto">
          <a:xfrm>
            <a:off x="2667001" y="1428751"/>
            <a:ext cx="5643563" cy="428625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sz="2400"/>
              <a:t>用拉伸命令构建立体</a:t>
            </a:r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2667001" y="1500189"/>
            <a:ext cx="5572125" cy="357187"/>
          </a:xfrm>
          <a:prstGeom prst="rect">
            <a:avLst/>
          </a:prstGeom>
          <a:solidFill>
            <a:srgbClr val="CCFFFF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sz="2400"/>
              <a:t>用旋转命令构建立体 </a:t>
            </a:r>
          </a:p>
        </p:txBody>
      </p:sp>
      <p:pic>
        <p:nvPicPr>
          <p:cNvPr id="138248" name="Picture 8" descr="14-86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53189" y="3071814"/>
            <a:ext cx="3367087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8249" name="Picture 9" descr="14-86b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81751" y="2928939"/>
            <a:ext cx="3357563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7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RATE_QUIZZES" val="0"/>
  <p:tag name="ISPRING_SCORM_PASSING_SCORE" val="0.0000000000"/>
  <p:tag name="ISPRING_RESOURCE_PATHS_HASH_2" val="bbbc6c1f32c6fcfa6a8084b6c9914c47ccf2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1991</TotalTime>
  <Words>1564</Words>
  <Application>Microsoft Office PowerPoint</Application>
  <PresentationFormat>宽屏</PresentationFormat>
  <Paragraphs>246</Paragraphs>
  <Slides>23</Slides>
  <Notes>14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黑体</vt:lpstr>
      <vt:lpstr>宋体</vt:lpstr>
      <vt:lpstr>Microsoft Yahei</vt:lpstr>
      <vt:lpstr>Arial</vt:lpstr>
      <vt:lpstr>Calibri</vt:lpstr>
      <vt:lpstr>ISOCPEUR</vt:lpstr>
      <vt:lpstr>Symbol</vt:lpstr>
      <vt:lpstr>Times New Roman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圆弧连接作图步骤 </vt:lpstr>
      <vt:lpstr>圆弧联结示例</vt:lpstr>
      <vt:lpstr>圆弧联结示例</vt:lpstr>
      <vt:lpstr>圆弧联结示例</vt:lpstr>
      <vt:lpstr>圆弧联结示例</vt:lpstr>
      <vt:lpstr>PowerPoint 演示文稿</vt:lpstr>
      <vt:lpstr>PowerPoint 演示文稿</vt:lpstr>
      <vt:lpstr>用AutoCAD绘制平面几何图形</vt:lpstr>
      <vt:lpstr>（1）将点画线层设为当前层  绘制基准线 </vt:lpstr>
      <vt:lpstr>通过二维图形构建三维立体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第5章 二维图形的构形及绘制</dc:title>
  <dc:creator>穆浩志</dc:creator>
  <cp:keywords>天津理工大学</cp:keywords>
  <cp:lastModifiedBy>Lenovo</cp:lastModifiedBy>
  <cp:revision>132</cp:revision>
  <dcterms:created xsi:type="dcterms:W3CDTF">2014-03-20T09:34:50Z</dcterms:created>
  <dcterms:modified xsi:type="dcterms:W3CDTF">2020-05-19T06:10:04Z</dcterms:modified>
</cp:coreProperties>
</file>
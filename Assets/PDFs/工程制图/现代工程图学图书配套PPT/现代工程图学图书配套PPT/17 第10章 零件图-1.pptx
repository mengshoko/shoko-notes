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37"/>
  </p:notesMasterIdLst>
  <p:sldIdLst>
    <p:sldId id="556" r:id="rId2"/>
    <p:sldId id="557" r:id="rId3"/>
    <p:sldId id="558" r:id="rId4"/>
    <p:sldId id="565" r:id="rId5"/>
    <p:sldId id="564" r:id="rId6"/>
    <p:sldId id="570" r:id="rId7"/>
    <p:sldId id="571" r:id="rId8"/>
    <p:sldId id="572" r:id="rId9"/>
    <p:sldId id="573" r:id="rId10"/>
    <p:sldId id="574" r:id="rId11"/>
    <p:sldId id="575" r:id="rId12"/>
    <p:sldId id="576" r:id="rId13"/>
    <p:sldId id="577" r:id="rId14"/>
    <p:sldId id="578" r:id="rId15"/>
    <p:sldId id="579" r:id="rId16"/>
    <p:sldId id="580" r:id="rId17"/>
    <p:sldId id="581" r:id="rId18"/>
    <p:sldId id="582" r:id="rId19"/>
    <p:sldId id="583" r:id="rId20"/>
    <p:sldId id="584" r:id="rId21"/>
    <p:sldId id="585" r:id="rId22"/>
    <p:sldId id="586" r:id="rId23"/>
    <p:sldId id="587" r:id="rId24"/>
    <p:sldId id="588" r:id="rId25"/>
    <p:sldId id="589" r:id="rId26"/>
    <p:sldId id="590" r:id="rId27"/>
    <p:sldId id="591" r:id="rId28"/>
    <p:sldId id="592" r:id="rId29"/>
    <p:sldId id="593" r:id="rId30"/>
    <p:sldId id="594" r:id="rId31"/>
    <p:sldId id="595" r:id="rId32"/>
    <p:sldId id="569" r:id="rId33"/>
    <p:sldId id="568" r:id="rId34"/>
    <p:sldId id="567" r:id="rId35"/>
    <p:sldId id="566" r:id="rId36"/>
  </p:sldIdLst>
  <p:sldSz cx="12192000" cy="6858000"/>
  <p:notesSz cx="6858000" cy="9144000"/>
  <p:custDataLst>
    <p:tags r:id="rId3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678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450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5BAD9C4-9699-40F6-AD07-879A7D64C305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588" y="94775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8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8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8.png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8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0">
            <a:extLst>
              <a:ext uri="{FF2B5EF4-FFF2-40B4-BE49-F238E27FC236}">
                <a16:creationId xmlns:a16="http://schemas.microsoft.com/office/drawing/2014/main" id="{42FD3B1F-3F3D-425C-80C7-EB1F3B2B2205}"/>
              </a:ext>
            </a:extLst>
          </p:cNvPr>
          <p:cNvSpPr>
            <a:spLocks/>
          </p:cNvSpPr>
          <p:nvPr/>
        </p:nvSpPr>
        <p:spPr bwMode="auto">
          <a:xfrm>
            <a:off x="4006134" y="1593006"/>
            <a:ext cx="360362" cy="1762125"/>
          </a:xfrm>
          <a:prstGeom prst="leftBrace">
            <a:avLst>
              <a:gd name="adj1" fmla="val 108400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005CD6-0303-4AAF-B514-6A8D5C07E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873" y="1515219"/>
            <a:ext cx="55006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1.</a:t>
            </a:r>
            <a:r>
              <a:rPr lang="zh-CN" altLang="en-US" sz="2400" b="1" dirty="0">
                <a:solidFill>
                  <a:schemeClr val="tx1"/>
                </a:solidFill>
              </a:rPr>
              <a:t>零件图的作用与内容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8" name="AutoShape 20">
            <a:extLst>
              <a:ext uri="{FF2B5EF4-FFF2-40B4-BE49-F238E27FC236}">
                <a16:creationId xmlns:a16="http://schemas.microsoft.com/office/drawing/2014/main" id="{D98DD7E2-DB3C-4B8E-A2DB-8693D0464163}"/>
              </a:ext>
            </a:extLst>
          </p:cNvPr>
          <p:cNvSpPr>
            <a:spLocks/>
          </p:cNvSpPr>
          <p:nvPr/>
        </p:nvSpPr>
        <p:spPr bwMode="auto">
          <a:xfrm>
            <a:off x="4006134" y="3991719"/>
            <a:ext cx="360362" cy="1466850"/>
          </a:xfrm>
          <a:prstGeom prst="leftBrace">
            <a:avLst>
              <a:gd name="adj1" fmla="val 108336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4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A9930C-C3DB-4DAC-83FF-3946B86E4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998" y="4228257"/>
            <a:ext cx="53355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2.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掌握典型零件的视图选择方法</a:t>
            </a:r>
            <a:endParaRPr lang="en-US" altLang="zh-CN" sz="2400" b="1">
              <a:solidFill>
                <a:schemeClr val="tx1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5B97F6-F92D-45FD-A06B-E7DD4B683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136" y="3672632"/>
            <a:ext cx="480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1.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了解零件图的作用与内容</a:t>
            </a:r>
            <a:endParaRPr lang="en-US" altLang="zh-CN" sz="2400" b="1">
              <a:solidFill>
                <a:schemeClr val="tx1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78130A-AEEA-4268-BE25-E7882A2C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315" y="5742731"/>
            <a:ext cx="5643562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典型零件的视图选择方法</a:t>
            </a:r>
            <a:r>
              <a:rPr lang="zh-CN" altLang="en-US" sz="2400" b="1" dirty="0">
                <a:solidFill>
                  <a:schemeClr val="tx1"/>
                </a:solidFill>
                <a:cs typeface="Times New Roman" pitchFamily="18" charset="0"/>
              </a:rPr>
              <a:t>；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零件图的尺寸方法</a:t>
            </a:r>
            <a:endParaRPr lang="zh-CN" altLang="en-US" sz="2400" b="1" dirty="0">
              <a:cs typeface="Times New Roman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66B3D9-91B0-4569-9BC6-1D5DED0C3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7761" y="1999407"/>
            <a:ext cx="5405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</a:rPr>
              <a:t>零件图视图选择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C9D58C-B2FC-435A-A646-4B28CAE00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6811" y="2474069"/>
            <a:ext cx="54054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3.</a:t>
            </a:r>
            <a:r>
              <a:rPr lang="zh-CN" altLang="en-US" sz="2400" b="1" dirty="0">
                <a:solidFill>
                  <a:schemeClr val="tx1"/>
                </a:solidFill>
              </a:rPr>
              <a:t>零件图尺寸注法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07E532-735E-4674-A6FA-D5A45631A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986" y="2948732"/>
            <a:ext cx="45894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4.</a:t>
            </a:r>
            <a:r>
              <a:rPr lang="zh-CN" altLang="en-US" sz="2400" b="1" dirty="0">
                <a:solidFill>
                  <a:schemeClr val="tx1"/>
                </a:solidFill>
              </a:rPr>
              <a:t>零件的工艺结构</a:t>
            </a:r>
          </a:p>
        </p:txBody>
      </p:sp>
      <p:sp>
        <p:nvSpPr>
          <p:cNvPr id="20" name="矩形 14">
            <a:extLst>
              <a:ext uri="{FF2B5EF4-FFF2-40B4-BE49-F238E27FC236}">
                <a16:creationId xmlns:a16="http://schemas.microsoft.com/office/drawing/2014/main" id="{E5C384EA-5194-4056-9DAF-8A80D39EF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836" y="4725144"/>
            <a:ext cx="541972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3.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掌握零件图的尺寸方法；熟悉   零件的工艺结构</a:t>
            </a:r>
            <a:endParaRPr lang="en-US" altLang="zh-CN" sz="2400" b="1">
              <a:solidFill>
                <a:schemeClr val="tx1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21" name="矩形 11">
            <a:extLst>
              <a:ext uri="{FF2B5EF4-FFF2-40B4-BE49-F238E27FC236}">
                <a16:creationId xmlns:a16="http://schemas.microsoft.com/office/drawing/2014/main" id="{BD5316C6-4332-4D2C-A543-77525EFD8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736" y="2230388"/>
            <a:ext cx="17319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cs typeface="Arial" charset="0"/>
              </a:rPr>
              <a:t>教学内容：</a:t>
            </a:r>
          </a:p>
        </p:txBody>
      </p:sp>
      <p:sp>
        <p:nvSpPr>
          <p:cNvPr id="22" name="矩形 14">
            <a:extLst>
              <a:ext uri="{FF2B5EF4-FFF2-40B4-BE49-F238E27FC236}">
                <a16:creationId xmlns:a16="http://schemas.microsoft.com/office/drawing/2014/main" id="{8B7291AB-6A81-490F-9422-CE2F79DB5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736" y="4369544"/>
            <a:ext cx="1577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>
                <a:solidFill>
                  <a:schemeClr val="tx1"/>
                </a:solidFill>
                <a:cs typeface="Arial" charset="0"/>
              </a:rPr>
              <a:t>学习目标</a:t>
            </a:r>
            <a:r>
              <a:rPr lang="en-US" altLang="zh-CN" sz="2400" b="1">
                <a:solidFill>
                  <a:schemeClr val="tx1"/>
                </a:solidFill>
                <a:cs typeface="Arial" charset="0"/>
              </a:rPr>
              <a:t>:</a:t>
            </a:r>
          </a:p>
        </p:txBody>
      </p:sp>
      <p:sp>
        <p:nvSpPr>
          <p:cNvPr id="23" name="矩形 15">
            <a:extLst>
              <a:ext uri="{FF2B5EF4-FFF2-40B4-BE49-F238E27FC236}">
                <a16:creationId xmlns:a16="http://schemas.microsoft.com/office/drawing/2014/main" id="{ED5DC912-7BBD-4516-8D27-FDDE1400A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736" y="5767414"/>
            <a:ext cx="20415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cs typeface="Arial" charset="0"/>
              </a:rPr>
              <a:t>重点、难点：</a:t>
            </a:r>
          </a:p>
        </p:txBody>
      </p:sp>
      <p:sp>
        <p:nvSpPr>
          <p:cNvPr id="24" name="矩形 25">
            <a:extLst>
              <a:ext uri="{FF2B5EF4-FFF2-40B4-BE49-F238E27FC236}">
                <a16:creationId xmlns:a16="http://schemas.microsoft.com/office/drawing/2014/main" id="{60832652-15AE-4DEC-AF3C-2DB94C07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7" y="256314"/>
            <a:ext cx="5153025" cy="584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 件 图</a:t>
            </a:r>
            <a:endParaRPr lang="zh-CN" altLang="en-US" sz="3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/>
      <p:bldP spid="16" grpId="0"/>
      <p:bldP spid="18" grpId="0"/>
      <p:bldP spid="1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5663F511-095F-4F11-828E-5BA88E65A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1824" y="1700808"/>
            <a:ext cx="6022975" cy="469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A3B684BF-D565-439E-A50B-A6D7EE831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811" y="3200995"/>
            <a:ext cx="13516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latin typeface="Times New Roman" pitchFamily="18" charset="0"/>
                <a:ea typeface="宋体" pitchFamily="2" charset="-122"/>
              </a:rPr>
              <a:t>★ </a:t>
            </a:r>
            <a:r>
              <a:rPr lang="zh-CN" altLang="en-US" sz="2800">
                <a:latin typeface="Times New Roman" pitchFamily="18" charset="0"/>
                <a:ea typeface="宋体" pitchFamily="2" charset="-122"/>
              </a:rPr>
              <a:t>轴类</a:t>
            </a: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4093C56B-2AB7-4DE9-A8C1-AA68D582A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699" y="3743920"/>
            <a:ext cx="13516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Times New Roman" pitchFamily="18" charset="0"/>
                <a:ea typeface="宋体" pitchFamily="2" charset="-122"/>
              </a:rPr>
              <a:t>★ </a:t>
            </a:r>
            <a:r>
              <a:rPr lang="zh-CN" altLang="en-US" sz="2800" dirty="0">
                <a:latin typeface="Times New Roman" pitchFamily="18" charset="0"/>
                <a:ea typeface="宋体" pitchFamily="2" charset="-122"/>
              </a:rPr>
              <a:t>盘类</a:t>
            </a:r>
          </a:p>
        </p:txBody>
      </p:sp>
      <p:sp>
        <p:nvSpPr>
          <p:cNvPr id="20" name="Text Box 4">
            <a:extLst>
              <a:ext uri="{FF2B5EF4-FFF2-40B4-BE49-F238E27FC236}">
                <a16:creationId xmlns:a16="http://schemas.microsoft.com/office/drawing/2014/main" id="{EC54B7AF-C015-4432-928A-4AFA8F5E3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986" y="4415433"/>
            <a:ext cx="171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latin typeface="Times New Roman" pitchFamily="18" charset="0"/>
                <a:ea typeface="宋体" pitchFamily="2" charset="-122"/>
              </a:rPr>
              <a:t>★ </a:t>
            </a:r>
            <a:r>
              <a:rPr lang="zh-CN" altLang="en-US" sz="2800">
                <a:latin typeface="Times New Roman" pitchFamily="18" charset="0"/>
                <a:ea typeface="宋体" pitchFamily="2" charset="-122"/>
              </a:rPr>
              <a:t>箱体类</a:t>
            </a:r>
          </a:p>
        </p:txBody>
      </p:sp>
      <p:sp>
        <p:nvSpPr>
          <p:cNvPr id="21" name="WordArt 5">
            <a:extLst>
              <a:ext uri="{FF2B5EF4-FFF2-40B4-BE49-F238E27FC236}">
                <a16:creationId xmlns:a16="http://schemas.microsoft.com/office/drawing/2014/main" id="{47B874C4-0864-432D-9988-7386463F1CB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702527" y="1265369"/>
            <a:ext cx="2823024" cy="427875"/>
          </a:xfrm>
          <a:prstGeom prst="rect">
            <a:avLst/>
          </a:prstGeom>
        </p:spPr>
        <p:txBody>
          <a:bodyPr wrap="none" fromWordArt="1">
            <a:prstTxWarp prst="textDeflate">
              <a:avLst/>
            </a:prstTxWarp>
          </a:bodyPr>
          <a:lstStyle/>
          <a:p>
            <a:pPr algn="ctr">
              <a:defRPr/>
            </a:pPr>
            <a:r>
              <a:rPr lang="zh-CN" altLang="en-US" sz="3600" kern="10" dirty="0">
                <a:ln w="9525">
                  <a:solidFill>
                    <a:srgbClr val="CC66FF"/>
                  </a:solidFill>
                  <a:round/>
                  <a:headEnd/>
                  <a:tailEnd/>
                </a:ln>
                <a:solidFill>
                  <a:srgbClr val="9900CC"/>
                </a:solidFill>
                <a:latin typeface="宋体"/>
                <a:ea typeface="宋体"/>
              </a:rPr>
              <a:t>什么是零件</a:t>
            </a:r>
            <a:r>
              <a:rPr lang="en-US" altLang="zh-CN" sz="3600" kern="10" dirty="0">
                <a:ln w="9525">
                  <a:solidFill>
                    <a:srgbClr val="CC66FF"/>
                  </a:solidFill>
                  <a:round/>
                  <a:headEnd/>
                  <a:tailEnd/>
                </a:ln>
                <a:solidFill>
                  <a:srgbClr val="9900CC"/>
                </a:solidFill>
                <a:latin typeface="宋体"/>
                <a:ea typeface="宋体"/>
              </a:rPr>
              <a:t>?</a:t>
            </a:r>
            <a:endParaRPr lang="zh-CN" altLang="en-US" sz="3600" kern="10" dirty="0">
              <a:ln w="9525">
                <a:solidFill>
                  <a:srgbClr val="CC66FF"/>
                </a:solidFill>
                <a:round/>
                <a:headEnd/>
                <a:tailEnd/>
              </a:ln>
              <a:solidFill>
                <a:srgbClr val="9900CC"/>
              </a:solidFill>
              <a:latin typeface="宋体"/>
              <a:ea typeface="宋体"/>
            </a:endParaRPr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4D0A9DE4-34ED-4C5E-BBFF-64CBF7990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0859" y="4991696"/>
            <a:ext cx="171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latin typeface="Times New Roman" pitchFamily="18" charset="0"/>
                <a:ea typeface="宋体" pitchFamily="2" charset="-122"/>
              </a:rPr>
              <a:t>★ </a:t>
            </a:r>
            <a:r>
              <a:rPr lang="zh-CN" altLang="en-US" sz="2800">
                <a:latin typeface="Times New Roman" pitchFamily="18" charset="0"/>
                <a:ea typeface="宋体" pitchFamily="2" charset="-122"/>
              </a:rPr>
              <a:t>标准件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C8A04031-366A-47A8-BAD7-04E7476AD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7074" y="1203920"/>
            <a:ext cx="55816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组成机器的最小单元</a:t>
            </a:r>
            <a:r>
              <a:rPr lang="zh-CN" altLang="en-US" sz="2800" dirty="0">
                <a:solidFill>
                  <a:srgbClr val="FF3300"/>
                </a:solidFill>
                <a:latin typeface="+mn-ea"/>
                <a:ea typeface="+mn-ea"/>
              </a:rPr>
              <a:t>称为零件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4" name="矩形 25">
            <a:extLst>
              <a:ext uri="{FF2B5EF4-FFF2-40B4-BE49-F238E27FC236}">
                <a16:creationId xmlns:a16="http://schemas.microsoft.com/office/drawing/2014/main" id="{60832652-15AE-4DEC-AF3C-2DB94C07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9487" y="256314"/>
            <a:ext cx="5153025" cy="584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 件 图</a:t>
            </a:r>
            <a:endParaRPr lang="zh-CN" altLang="en-US" sz="3200" dirty="0"/>
          </a:p>
        </p:txBody>
      </p:sp>
      <p:sp>
        <p:nvSpPr>
          <p:cNvPr id="25" name="Text Box 7">
            <a:extLst>
              <a:ext uri="{FF2B5EF4-FFF2-40B4-BE49-F238E27FC236}">
                <a16:creationId xmlns:a16="http://schemas.microsoft.com/office/drawing/2014/main" id="{0DA0E3B6-955E-4E29-B967-F473DF9AF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161" y="1935758"/>
            <a:ext cx="4506913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根据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零件的作用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及其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结构</a:t>
            </a:r>
            <a:r>
              <a:rPr lang="en-US" altLang="zh-CN" sz="28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,   </a:t>
            </a:r>
            <a:r>
              <a:rPr lang="zh-CN" altLang="en-US" sz="28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通常分为以下几类：</a:t>
            </a:r>
          </a:p>
        </p:txBody>
      </p:sp>
      <p:grpSp>
        <p:nvGrpSpPr>
          <p:cNvPr id="26" name="Group 14">
            <a:extLst>
              <a:ext uri="{FF2B5EF4-FFF2-40B4-BE49-F238E27FC236}">
                <a16:creationId xmlns:a16="http://schemas.microsoft.com/office/drawing/2014/main" id="{E0BEF482-6F90-4DC5-8F1A-7D277D960ABB}"/>
              </a:ext>
            </a:extLst>
          </p:cNvPr>
          <p:cNvGrpSpPr>
            <a:grpSpLocks/>
          </p:cNvGrpSpPr>
          <p:nvPr/>
        </p:nvGrpSpPr>
        <p:grpSpPr bwMode="auto">
          <a:xfrm>
            <a:off x="5438924" y="4001095"/>
            <a:ext cx="803275" cy="727075"/>
            <a:chOff x="2784" y="3593"/>
            <a:chExt cx="506" cy="582"/>
          </a:xfrm>
        </p:grpSpPr>
        <p:sp>
          <p:nvSpPr>
            <p:cNvPr id="27" name="Text Box 15">
              <a:extLst>
                <a:ext uri="{FF2B5EF4-FFF2-40B4-BE49-F238E27FC236}">
                  <a16:creationId xmlns:a16="http://schemas.microsoft.com/office/drawing/2014/main" id="{115D4F2C-8508-488D-885A-9BD723FDF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593"/>
              <a:ext cx="506" cy="3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端盖</a:t>
              </a:r>
              <a:endPara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6103D4A0-1313-461B-9726-3939DA884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911"/>
              <a:ext cx="90" cy="26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" name="Group 2">
            <a:extLst>
              <a:ext uri="{FF2B5EF4-FFF2-40B4-BE49-F238E27FC236}">
                <a16:creationId xmlns:a16="http://schemas.microsoft.com/office/drawing/2014/main" id="{8BB7F721-863C-4730-8399-B21F97F28120}"/>
              </a:ext>
            </a:extLst>
          </p:cNvPr>
          <p:cNvGrpSpPr>
            <a:grpSpLocks/>
          </p:cNvGrpSpPr>
          <p:nvPr/>
        </p:nvGrpSpPr>
        <p:grpSpPr bwMode="auto">
          <a:xfrm>
            <a:off x="6556524" y="2946995"/>
            <a:ext cx="1270000" cy="461963"/>
            <a:chOff x="3134" y="2047"/>
            <a:chExt cx="800" cy="291"/>
          </a:xfrm>
        </p:grpSpPr>
        <p:sp>
          <p:nvSpPr>
            <p:cNvPr id="30" name="Text Box 3">
              <a:extLst>
                <a:ext uri="{FF2B5EF4-FFF2-40B4-BE49-F238E27FC236}">
                  <a16:creationId xmlns:a16="http://schemas.microsoft.com/office/drawing/2014/main" id="{3483B0B6-0C6F-4B65-A9FA-77C3ECABB6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" y="2047"/>
              <a:ext cx="5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阀杆</a:t>
              </a:r>
              <a:endPara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1" name="Line 4">
              <a:extLst>
                <a:ext uri="{FF2B5EF4-FFF2-40B4-BE49-F238E27FC236}">
                  <a16:creationId xmlns:a16="http://schemas.microsoft.com/office/drawing/2014/main" id="{2D757881-5FC3-46B9-A21A-6A95F9E89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9" y="2205"/>
              <a:ext cx="315" cy="10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8">
            <a:extLst>
              <a:ext uri="{FF2B5EF4-FFF2-40B4-BE49-F238E27FC236}">
                <a16:creationId xmlns:a16="http://schemas.microsoft.com/office/drawing/2014/main" id="{DA53FDCB-ADE7-40AB-AAFB-61432F90BF3A}"/>
              </a:ext>
            </a:extLst>
          </p:cNvPr>
          <p:cNvGrpSpPr>
            <a:grpSpLocks/>
          </p:cNvGrpSpPr>
          <p:nvPr/>
        </p:nvGrpSpPr>
        <p:grpSpPr bwMode="auto">
          <a:xfrm>
            <a:off x="8645674" y="2285008"/>
            <a:ext cx="1100137" cy="585787"/>
            <a:chOff x="5026" y="1950"/>
            <a:chExt cx="693" cy="369"/>
          </a:xfrm>
        </p:grpSpPr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id="{E42CE2C5-02CF-402B-961B-1FAF828F7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3" y="202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扳手</a:t>
              </a:r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4E5BCE19-262B-41C9-9F7E-BED0B1E51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6" y="1950"/>
              <a:ext cx="241" cy="19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5" name="Group 11">
            <a:extLst>
              <a:ext uri="{FF2B5EF4-FFF2-40B4-BE49-F238E27FC236}">
                <a16:creationId xmlns:a16="http://schemas.microsoft.com/office/drawing/2014/main" id="{90E21E9F-8FD4-47EA-AE77-4C7340A30655}"/>
              </a:ext>
            </a:extLst>
          </p:cNvPr>
          <p:cNvGrpSpPr>
            <a:grpSpLocks/>
          </p:cNvGrpSpPr>
          <p:nvPr/>
        </p:nvGrpSpPr>
        <p:grpSpPr bwMode="auto">
          <a:xfrm>
            <a:off x="9641036" y="5279033"/>
            <a:ext cx="803275" cy="723900"/>
            <a:chOff x="3288" y="3503"/>
            <a:chExt cx="506" cy="456"/>
          </a:xfrm>
        </p:grpSpPr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2349F54F-5085-43FF-8F71-BA9503C5E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503"/>
              <a:ext cx="124" cy="19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13">
              <a:extLst>
                <a:ext uri="{FF2B5EF4-FFF2-40B4-BE49-F238E27FC236}">
                  <a16:creationId xmlns:a16="http://schemas.microsoft.com/office/drawing/2014/main" id="{0B300428-F9F5-4C0F-A0C4-6B4632A4C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66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阀体</a:t>
              </a:r>
            </a:p>
          </p:txBody>
        </p:sp>
      </p:grpSp>
      <p:grpSp>
        <p:nvGrpSpPr>
          <p:cNvPr id="38" name="Group 17">
            <a:extLst>
              <a:ext uri="{FF2B5EF4-FFF2-40B4-BE49-F238E27FC236}">
                <a16:creationId xmlns:a16="http://schemas.microsoft.com/office/drawing/2014/main" id="{ECB167E4-99C5-4150-A5B8-D0F4A264C579}"/>
              </a:ext>
            </a:extLst>
          </p:cNvPr>
          <p:cNvGrpSpPr>
            <a:grpSpLocks/>
          </p:cNvGrpSpPr>
          <p:nvPr/>
        </p:nvGrpSpPr>
        <p:grpSpPr bwMode="auto">
          <a:xfrm>
            <a:off x="4497536" y="3915370"/>
            <a:ext cx="803275" cy="1076325"/>
            <a:chOff x="5220" y="2250"/>
            <a:chExt cx="506" cy="678"/>
          </a:xfrm>
        </p:grpSpPr>
        <p:sp>
          <p:nvSpPr>
            <p:cNvPr id="39" name="Text Box 18">
              <a:extLst>
                <a:ext uri="{FF2B5EF4-FFF2-40B4-BE49-F238E27FC236}">
                  <a16:creationId xmlns:a16="http://schemas.microsoft.com/office/drawing/2014/main" id="{16CF7BFD-DCBE-454F-B727-E504757F8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" y="2250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螺柱</a:t>
              </a:r>
            </a:p>
          </p:txBody>
        </p:sp>
        <p:sp>
          <p:nvSpPr>
            <p:cNvPr id="40" name="Line 19">
              <a:extLst>
                <a:ext uri="{FF2B5EF4-FFF2-40B4-BE49-F238E27FC236}">
                  <a16:creationId xmlns:a16="http://schemas.microsoft.com/office/drawing/2014/main" id="{EED7A3F7-1B18-4F61-B4C1-F32A007C3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54" y="2523"/>
              <a:ext cx="150" cy="40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" name="Group 23">
            <a:extLst>
              <a:ext uri="{FF2B5EF4-FFF2-40B4-BE49-F238E27FC236}">
                <a16:creationId xmlns:a16="http://schemas.microsoft.com/office/drawing/2014/main" id="{B1CFE1AB-9779-4494-A8AF-08DEB7A552AA}"/>
              </a:ext>
            </a:extLst>
          </p:cNvPr>
          <p:cNvGrpSpPr>
            <a:grpSpLocks/>
          </p:cNvGrpSpPr>
          <p:nvPr/>
        </p:nvGrpSpPr>
        <p:grpSpPr bwMode="auto">
          <a:xfrm>
            <a:off x="6912124" y="5518745"/>
            <a:ext cx="803275" cy="882650"/>
            <a:chOff x="4672" y="3002"/>
            <a:chExt cx="506" cy="556"/>
          </a:xfrm>
        </p:grpSpPr>
        <p:sp>
          <p:nvSpPr>
            <p:cNvPr id="42" name="Text Box 24">
              <a:extLst>
                <a:ext uri="{FF2B5EF4-FFF2-40B4-BE49-F238E27FC236}">
                  <a16:creationId xmlns:a16="http://schemas.microsoft.com/office/drawing/2014/main" id="{34D664D9-6AEB-4285-8217-2564D0466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2" y="3267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垫片</a:t>
              </a:r>
              <a:endPara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3" name="Line 25">
              <a:extLst>
                <a:ext uri="{FF2B5EF4-FFF2-40B4-BE49-F238E27FC236}">
                  <a16:creationId xmlns:a16="http://schemas.microsoft.com/office/drawing/2014/main" id="{8875AD17-2842-4F6B-B10F-1693DF025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5" y="3002"/>
              <a:ext cx="142" cy="30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" name="Group 26">
            <a:extLst>
              <a:ext uri="{FF2B5EF4-FFF2-40B4-BE49-F238E27FC236}">
                <a16:creationId xmlns:a16="http://schemas.microsoft.com/office/drawing/2014/main" id="{BFF0FC99-3FF5-4858-BFF8-E11A40465938}"/>
              </a:ext>
            </a:extLst>
          </p:cNvPr>
          <p:cNvGrpSpPr>
            <a:grpSpLocks/>
          </p:cNvGrpSpPr>
          <p:nvPr/>
        </p:nvGrpSpPr>
        <p:grpSpPr bwMode="auto">
          <a:xfrm>
            <a:off x="8096399" y="2991445"/>
            <a:ext cx="1778000" cy="461963"/>
            <a:chOff x="4797" y="2783"/>
            <a:chExt cx="1120" cy="291"/>
          </a:xfrm>
        </p:grpSpPr>
        <p:sp>
          <p:nvSpPr>
            <p:cNvPr id="45" name="Text Box 27">
              <a:extLst>
                <a:ext uri="{FF2B5EF4-FFF2-40B4-BE49-F238E27FC236}">
                  <a16:creationId xmlns:a16="http://schemas.microsoft.com/office/drawing/2014/main" id="{413236F4-43F0-4167-9D6A-886CA6A96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" y="2783"/>
              <a:ext cx="8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螺纹压环</a:t>
              </a:r>
            </a:p>
          </p:txBody>
        </p:sp>
        <p:sp>
          <p:nvSpPr>
            <p:cNvPr id="46" name="Line 28">
              <a:extLst>
                <a:ext uri="{FF2B5EF4-FFF2-40B4-BE49-F238E27FC236}">
                  <a16:creationId xmlns:a16="http://schemas.microsoft.com/office/drawing/2014/main" id="{255812C5-8ADD-4D4B-9342-A92BE7FAE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7" y="2823"/>
              <a:ext cx="260" cy="7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26">
            <a:extLst>
              <a:ext uri="{FF2B5EF4-FFF2-40B4-BE49-F238E27FC236}">
                <a16:creationId xmlns:a16="http://schemas.microsoft.com/office/drawing/2014/main" id="{DB9DB378-C2F4-469C-AA24-529E78B8186B}"/>
              </a:ext>
            </a:extLst>
          </p:cNvPr>
          <p:cNvGrpSpPr>
            <a:grpSpLocks/>
          </p:cNvGrpSpPr>
          <p:nvPr/>
        </p:nvGrpSpPr>
        <p:grpSpPr bwMode="auto">
          <a:xfrm>
            <a:off x="3886349" y="5690195"/>
            <a:ext cx="868362" cy="750888"/>
            <a:chOff x="4989" y="2553"/>
            <a:chExt cx="547" cy="473"/>
          </a:xfrm>
        </p:grpSpPr>
        <p:sp>
          <p:nvSpPr>
            <p:cNvPr id="48" name="Text Box 27">
              <a:extLst>
                <a:ext uri="{FF2B5EF4-FFF2-40B4-BE49-F238E27FC236}">
                  <a16:creationId xmlns:a16="http://schemas.microsoft.com/office/drawing/2014/main" id="{83E7AFED-95CC-4D47-B1C1-E6156A96D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" y="2735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螺母</a:t>
              </a:r>
              <a:endPara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9" name="Line 28">
              <a:extLst>
                <a:ext uri="{FF2B5EF4-FFF2-40B4-BE49-F238E27FC236}">
                  <a16:creationId xmlns:a16="http://schemas.microsoft.com/office/drawing/2014/main" id="{45F7D050-D52D-4742-9D1C-FEC05755E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09" y="2553"/>
              <a:ext cx="227" cy="21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" name="组合 3">
            <a:extLst>
              <a:ext uri="{FF2B5EF4-FFF2-40B4-BE49-F238E27FC236}">
                <a16:creationId xmlns:a16="http://schemas.microsoft.com/office/drawing/2014/main" id="{0778CDAA-AAD8-469D-8DBE-827D83D7B617}"/>
              </a:ext>
            </a:extLst>
          </p:cNvPr>
          <p:cNvGrpSpPr>
            <a:grpSpLocks/>
          </p:cNvGrpSpPr>
          <p:nvPr/>
        </p:nvGrpSpPr>
        <p:grpSpPr bwMode="auto">
          <a:xfrm>
            <a:off x="7459811" y="5213945"/>
            <a:ext cx="1377950" cy="847725"/>
            <a:chOff x="6067424" y="5470421"/>
            <a:chExt cx="1377950" cy="847831"/>
          </a:xfrm>
        </p:grpSpPr>
        <p:grpSp>
          <p:nvGrpSpPr>
            <p:cNvPr id="51" name="Group 20">
              <a:extLst>
                <a:ext uri="{FF2B5EF4-FFF2-40B4-BE49-F238E27FC236}">
                  <a16:creationId xmlns:a16="http://schemas.microsoft.com/office/drawing/2014/main" id="{CB00A972-3297-4F90-BF43-C14A6CBE4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7424" y="5576889"/>
              <a:ext cx="1377950" cy="741363"/>
              <a:chOff x="4279" y="3784"/>
              <a:chExt cx="868" cy="467"/>
            </a:xfrm>
          </p:grpSpPr>
          <p:sp>
            <p:nvSpPr>
              <p:cNvPr id="53" name="Text Box 21">
                <a:extLst>
                  <a:ext uri="{FF2B5EF4-FFF2-40B4-BE49-F238E27FC236}">
                    <a16:creationId xmlns:a16="http://schemas.microsoft.com/office/drawing/2014/main" id="{767E70FC-384E-42C6-A0D2-B2D182E03F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46" y="3960"/>
                <a:ext cx="70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>
                    <a:latin typeface="Times New Roman" pitchFamily="18" charset="0"/>
                    <a:ea typeface="宋体" pitchFamily="2" charset="-122"/>
                  </a:rPr>
                  <a:t>密封圈</a:t>
                </a:r>
              </a:p>
            </p:txBody>
          </p:sp>
          <p:sp>
            <p:nvSpPr>
              <p:cNvPr id="54" name="Line 22">
                <a:extLst>
                  <a:ext uri="{FF2B5EF4-FFF2-40B4-BE49-F238E27FC236}">
                    <a16:creationId xmlns:a16="http://schemas.microsoft.com/office/drawing/2014/main" id="{B05D7834-B163-417E-BC87-759370392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9" y="3784"/>
                <a:ext cx="604" cy="17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2" name="Line 22">
              <a:extLst>
                <a:ext uri="{FF2B5EF4-FFF2-40B4-BE49-F238E27FC236}">
                  <a16:creationId xmlns:a16="http://schemas.microsoft.com/office/drawing/2014/main" id="{4736ECFE-4598-4623-B584-AC5B96ACB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26275" y="5470421"/>
              <a:ext cx="193675" cy="38586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" name="Group 2">
            <a:extLst>
              <a:ext uri="{FF2B5EF4-FFF2-40B4-BE49-F238E27FC236}">
                <a16:creationId xmlns:a16="http://schemas.microsoft.com/office/drawing/2014/main" id="{33C5AEA0-AAA1-4BEF-B070-8677EA67CDAB}"/>
              </a:ext>
            </a:extLst>
          </p:cNvPr>
          <p:cNvGrpSpPr>
            <a:grpSpLocks/>
          </p:cNvGrpSpPr>
          <p:nvPr/>
        </p:nvGrpSpPr>
        <p:grpSpPr bwMode="auto">
          <a:xfrm>
            <a:off x="6454924" y="3607395"/>
            <a:ext cx="1441450" cy="552450"/>
            <a:chOff x="3134" y="2047"/>
            <a:chExt cx="908" cy="348"/>
          </a:xfrm>
        </p:grpSpPr>
        <p:sp>
          <p:nvSpPr>
            <p:cNvPr id="56" name="Text Box 3">
              <a:extLst>
                <a:ext uri="{FF2B5EF4-FFF2-40B4-BE49-F238E27FC236}">
                  <a16:creationId xmlns:a16="http://schemas.microsoft.com/office/drawing/2014/main" id="{F92C32B4-2851-4641-9F24-86BBA69C8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" y="2047"/>
              <a:ext cx="74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密封环</a:t>
              </a:r>
            </a:p>
          </p:txBody>
        </p:sp>
        <p:sp>
          <p:nvSpPr>
            <p:cNvPr id="57" name="Line 4">
              <a:extLst>
                <a:ext uri="{FF2B5EF4-FFF2-40B4-BE49-F238E27FC236}">
                  <a16:creationId xmlns:a16="http://schemas.microsoft.com/office/drawing/2014/main" id="{4DC6CE14-DEB6-4364-9FED-5AE7FEC432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290"/>
              <a:ext cx="315" cy="10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8" name="Group 26">
            <a:extLst>
              <a:ext uri="{FF2B5EF4-FFF2-40B4-BE49-F238E27FC236}">
                <a16:creationId xmlns:a16="http://schemas.microsoft.com/office/drawing/2014/main" id="{0E86DEA0-F202-4980-9064-5C5A1E5C4B0C}"/>
              </a:ext>
            </a:extLst>
          </p:cNvPr>
          <p:cNvGrpSpPr>
            <a:grpSpLocks/>
          </p:cNvGrpSpPr>
          <p:nvPr/>
        </p:nvGrpSpPr>
        <p:grpSpPr bwMode="auto">
          <a:xfrm>
            <a:off x="8210699" y="3539133"/>
            <a:ext cx="803275" cy="925512"/>
            <a:chOff x="5021" y="2783"/>
            <a:chExt cx="506" cy="583"/>
          </a:xfrm>
        </p:grpSpPr>
        <p:sp>
          <p:nvSpPr>
            <p:cNvPr id="59" name="Text Box 27">
              <a:extLst>
                <a:ext uri="{FF2B5EF4-FFF2-40B4-BE49-F238E27FC236}">
                  <a16:creationId xmlns:a16="http://schemas.microsoft.com/office/drawing/2014/main" id="{C9ABB4F2-8369-4D21-9966-FD8547C480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1" y="2783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垫圈</a:t>
              </a:r>
            </a:p>
          </p:txBody>
        </p:sp>
        <p:sp>
          <p:nvSpPr>
            <p:cNvPr id="60" name="Line 28">
              <a:extLst>
                <a:ext uri="{FF2B5EF4-FFF2-40B4-BE49-F238E27FC236}">
                  <a16:creationId xmlns:a16="http://schemas.microsoft.com/office/drawing/2014/main" id="{6A7C4A76-7A17-440D-8F8D-C784A5B27D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4" y="3017"/>
              <a:ext cx="225" cy="349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" name="Group 2">
            <a:extLst>
              <a:ext uri="{FF2B5EF4-FFF2-40B4-BE49-F238E27FC236}">
                <a16:creationId xmlns:a16="http://schemas.microsoft.com/office/drawing/2014/main" id="{64B4D01B-5058-4F4C-9734-0666F8AC16C7}"/>
              </a:ext>
            </a:extLst>
          </p:cNvPr>
          <p:cNvGrpSpPr>
            <a:grpSpLocks/>
          </p:cNvGrpSpPr>
          <p:nvPr/>
        </p:nvGrpSpPr>
        <p:grpSpPr bwMode="auto">
          <a:xfrm>
            <a:off x="6559699" y="4191595"/>
            <a:ext cx="1216025" cy="514350"/>
            <a:chOff x="3276" y="2071"/>
            <a:chExt cx="766" cy="324"/>
          </a:xfrm>
        </p:grpSpPr>
        <p:sp>
          <p:nvSpPr>
            <p:cNvPr id="62" name="Text Box 3">
              <a:extLst>
                <a:ext uri="{FF2B5EF4-FFF2-40B4-BE49-F238E27FC236}">
                  <a16:creationId xmlns:a16="http://schemas.microsoft.com/office/drawing/2014/main" id="{C80008C7-54E1-4799-A76C-B607B7DD67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2071"/>
              <a:ext cx="53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400">
                  <a:latin typeface="Times New Roman" pitchFamily="18" charset="0"/>
                  <a:ea typeface="宋体" pitchFamily="2" charset="-122"/>
                </a:rPr>
                <a:t>阀芯</a:t>
              </a:r>
            </a:p>
          </p:txBody>
        </p:sp>
        <p:sp>
          <p:nvSpPr>
            <p:cNvPr id="63" name="Line 4">
              <a:extLst>
                <a:ext uri="{FF2B5EF4-FFF2-40B4-BE49-F238E27FC236}">
                  <a16:creationId xmlns:a16="http://schemas.microsoft.com/office/drawing/2014/main" id="{FFB8119C-E5AB-479F-B7D3-B4CC2007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7" y="2290"/>
              <a:ext cx="315" cy="10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" name="Text Box 3">
            <a:extLst>
              <a:ext uri="{FF2B5EF4-FFF2-40B4-BE49-F238E27FC236}">
                <a16:creationId xmlns:a16="http://schemas.microsoft.com/office/drawing/2014/main" id="{394D8F5C-9AAB-4D9E-BCB5-767EAB394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699" y="5733058"/>
            <a:ext cx="17107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latin typeface="Times New Roman" pitchFamily="18" charset="0"/>
                <a:ea typeface="宋体" pitchFamily="2" charset="-122"/>
              </a:rPr>
              <a:t>★ </a:t>
            </a:r>
            <a:r>
              <a:rPr lang="zh-CN" altLang="en-US" sz="2800">
                <a:latin typeface="Times New Roman" pitchFamily="18" charset="0"/>
                <a:ea typeface="宋体" pitchFamily="2" charset="-122"/>
              </a:rPr>
              <a:t>叉架类</a:t>
            </a:r>
          </a:p>
        </p:txBody>
      </p:sp>
    </p:spTree>
    <p:extLst>
      <p:ext uri="{BB962C8B-B14F-4D97-AF65-F5344CB8AC3E}">
        <p14:creationId xmlns:p14="http://schemas.microsoft.com/office/powerpoint/2010/main" val="667533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9" grpId="0" autoUpdateAnimBg="0"/>
      <p:bldP spid="20" grpId="0" autoUpdateAnimBg="0"/>
      <p:bldP spid="22" grpId="0" autoUpdateAnimBg="0"/>
      <p:bldP spid="23" grpId="0" autoUpdateAnimBg="0"/>
      <p:bldP spid="25" grpId="0" autoUpdateAnimBg="0"/>
      <p:bldP spid="6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ordArt 5">
            <a:extLst>
              <a:ext uri="{FF2B5EF4-FFF2-40B4-BE49-F238E27FC236}">
                <a16:creationId xmlns:a16="http://schemas.microsoft.com/office/drawing/2014/main" id="{694B6E59-F894-4E6D-93B9-59AACE4EABE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64073" y="630790"/>
            <a:ext cx="2271712" cy="674687"/>
          </a:xfrm>
          <a:prstGeom prst="rect">
            <a:avLst/>
          </a:prstGeom>
        </p:spPr>
        <p:txBody>
          <a:bodyPr wrap="none" fromWordArt="1">
            <a:prstTxWarp prst="textInflateBottom">
              <a:avLst>
                <a:gd name="adj" fmla="val 70696"/>
              </a:avLst>
            </a:prstTxWarp>
          </a:bodyPr>
          <a:lstStyle/>
          <a:p>
            <a:pPr algn="ctr">
              <a:defRPr/>
            </a:pPr>
            <a:r>
              <a:rPr lang="zh-CN" altLang="en-US" sz="3600" kern="10" dirty="0">
                <a:ln w="9525">
                  <a:solidFill>
                    <a:srgbClr val="CC66FF"/>
                  </a:solidFill>
                  <a:round/>
                  <a:headEnd/>
                  <a:tailEnd/>
                </a:ln>
                <a:solidFill>
                  <a:srgbClr val="9900CC"/>
                </a:solidFill>
                <a:latin typeface="宋体"/>
                <a:ea typeface="宋体"/>
              </a:rPr>
              <a:t>什么是零件图</a:t>
            </a:r>
            <a:r>
              <a:rPr lang="en-US" altLang="zh-CN" sz="3600" kern="10" dirty="0">
                <a:ln w="9525">
                  <a:solidFill>
                    <a:srgbClr val="CC66FF"/>
                  </a:solidFill>
                  <a:round/>
                  <a:headEnd/>
                  <a:tailEnd/>
                </a:ln>
                <a:solidFill>
                  <a:srgbClr val="9900CC"/>
                </a:solidFill>
                <a:latin typeface="宋体"/>
                <a:ea typeface="宋体"/>
              </a:rPr>
              <a:t>?</a:t>
            </a:r>
            <a:endParaRPr lang="zh-CN" altLang="en-US" sz="3600" kern="10" dirty="0">
              <a:ln w="9525">
                <a:solidFill>
                  <a:srgbClr val="CC66FF"/>
                </a:solidFill>
                <a:round/>
                <a:headEnd/>
                <a:tailEnd/>
              </a:ln>
              <a:solidFill>
                <a:srgbClr val="9900CC"/>
              </a:solidFill>
              <a:latin typeface="宋体"/>
              <a:ea typeface="宋体"/>
            </a:endParaRPr>
          </a:p>
        </p:txBody>
      </p:sp>
      <p:pic>
        <p:nvPicPr>
          <p:cNvPr id="23" name="Picture 7" descr="10-1-l">
            <a:extLst>
              <a:ext uri="{FF2B5EF4-FFF2-40B4-BE49-F238E27FC236}">
                <a16:creationId xmlns:a16="http://schemas.microsoft.com/office/drawing/2014/main" id="{E6AC79E6-0DED-4AC4-AB8E-4932BB4E4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4073" y="1786734"/>
            <a:ext cx="1328737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6" descr="10-1b">
            <a:extLst>
              <a:ext uri="{FF2B5EF4-FFF2-40B4-BE49-F238E27FC236}">
                <a16:creationId xmlns:a16="http://schemas.microsoft.com/office/drawing/2014/main" id="{C0510F3F-9C67-441D-8469-1E9CE6C42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3635" y="2269334"/>
            <a:ext cx="5770563" cy="401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AutoShape 25">
            <a:extLst>
              <a:ext uri="{FF2B5EF4-FFF2-40B4-BE49-F238E27FC236}">
                <a16:creationId xmlns:a16="http://schemas.microsoft.com/office/drawing/2014/main" id="{890FF8E8-F675-4E4D-9F2B-D8F3BDC3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85" y="3898109"/>
            <a:ext cx="1277938" cy="361950"/>
          </a:xfrm>
          <a:prstGeom prst="rightArrow">
            <a:avLst>
              <a:gd name="adj1" fmla="val 50000"/>
              <a:gd name="adj2" fmla="val 105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E0DF9ED3-2EF5-4621-97BC-D04571CE8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023" y="3067846"/>
            <a:ext cx="1168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>
                <a:solidFill>
                  <a:srgbClr val="FF3300"/>
                </a:solidFill>
              </a:rPr>
              <a:t>按正投影关系</a:t>
            </a:r>
          </a:p>
        </p:txBody>
      </p:sp>
      <p:pic>
        <p:nvPicPr>
          <p:cNvPr id="27" name="Picture 6" descr="10-1b">
            <a:extLst>
              <a:ext uri="{FF2B5EF4-FFF2-40B4-BE49-F238E27FC236}">
                <a16:creationId xmlns:a16="http://schemas.microsoft.com/office/drawing/2014/main" id="{C5CAFF4E-33D4-474D-93E4-287ED718C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5560" y="1478759"/>
            <a:ext cx="7707313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 Box 2061">
            <a:extLst>
              <a:ext uri="{FF2B5EF4-FFF2-40B4-BE49-F238E27FC236}">
                <a16:creationId xmlns:a16="http://schemas.microsoft.com/office/drawing/2014/main" id="{B00888E1-8A5B-4195-86BE-46CA16887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822" y="486572"/>
            <a:ext cx="5134569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表示零件的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结构形状、大小及技术要求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工程图样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称为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零件图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703689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/>
      <p:bldP spid="26" grpId="1"/>
      <p:bldP spid="2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050">
            <a:extLst>
              <a:ext uri="{FF2B5EF4-FFF2-40B4-BE49-F238E27FC236}">
                <a16:creationId xmlns:a16="http://schemas.microsoft.com/office/drawing/2014/main" id="{5FB3D53D-C7FC-46F7-A11A-4017C829FD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427" y="1274614"/>
            <a:ext cx="32893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一、零件图的作用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: </a:t>
            </a:r>
          </a:p>
        </p:txBody>
      </p:sp>
      <p:sp>
        <p:nvSpPr>
          <p:cNvPr id="16" name="Text Box 2051">
            <a:extLst>
              <a:ext uri="{FF2B5EF4-FFF2-40B4-BE49-F238E27FC236}">
                <a16:creationId xmlns:a16="http://schemas.microsoft.com/office/drawing/2014/main" id="{B61477C7-1C96-4F49-A1B8-75AA4B726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427" y="1974701"/>
            <a:ext cx="28146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二、零件图的内容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:</a:t>
            </a:r>
          </a:p>
        </p:txBody>
      </p:sp>
      <p:sp>
        <p:nvSpPr>
          <p:cNvPr id="17" name="Text Box 2053">
            <a:extLst>
              <a:ext uri="{FF2B5EF4-FFF2-40B4-BE49-F238E27FC236}">
                <a16:creationId xmlns:a16="http://schemas.microsoft.com/office/drawing/2014/main" id="{F93D9BBE-B793-4274-83EE-C14018799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179" y="3553183"/>
            <a:ext cx="21971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⒉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完整的尺寸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8" name="Text Box 2054">
            <a:extLst>
              <a:ext uri="{FF2B5EF4-FFF2-40B4-BE49-F238E27FC236}">
                <a16:creationId xmlns:a16="http://schemas.microsoft.com/office/drawing/2014/main" id="{88D0D616-98EF-4FC5-BCC5-500EF5E37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689" y="4809976"/>
            <a:ext cx="18875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⒊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sym typeface="Monotype Sorts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技术要求</a:t>
            </a:r>
            <a:endParaRPr lang="zh-CN" altLang="en-US" sz="2400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9" name="Text Box 2055">
            <a:extLst>
              <a:ext uri="{FF2B5EF4-FFF2-40B4-BE49-F238E27FC236}">
                <a16:creationId xmlns:a16="http://schemas.microsoft.com/office/drawing/2014/main" id="{03981995-2042-44B0-BB66-0616B6EA9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767" y="5935514"/>
            <a:ext cx="1577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⒋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标题栏</a:t>
            </a:r>
            <a:endParaRPr lang="zh-CN" altLang="en-US" sz="2400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" name="Text Box 2056">
            <a:extLst>
              <a:ext uri="{FF2B5EF4-FFF2-40B4-BE49-F238E27FC236}">
                <a16:creationId xmlns:a16="http://schemas.microsoft.com/office/drawing/2014/main" id="{EDC0B233-F037-486E-B0DE-5ED08750B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778" y="2983707"/>
            <a:ext cx="30067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表达零件的结构形状。</a:t>
            </a:r>
            <a:endParaRPr lang="zh-CN" altLang="en-US" sz="24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1" name="Text Box 2057">
            <a:extLst>
              <a:ext uri="{FF2B5EF4-FFF2-40B4-BE49-F238E27FC236}">
                <a16:creationId xmlns:a16="http://schemas.microsoft.com/office/drawing/2014/main" id="{F7F26316-4317-4684-9A9A-F41A92A14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665" y="3988908"/>
            <a:ext cx="3075551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确定各部分的大小和位置。</a:t>
            </a:r>
            <a:endParaRPr lang="zh-CN" altLang="en-US" sz="24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2" name="Text Box 2058">
            <a:extLst>
              <a:ext uri="{FF2B5EF4-FFF2-40B4-BE49-F238E27FC236}">
                <a16:creationId xmlns:a16="http://schemas.microsoft.com/office/drawing/2014/main" id="{34A65B6B-2983-45C5-993E-41CBC700E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9909" y="5203677"/>
            <a:ext cx="3143814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加工、检验达到的技术指标</a:t>
            </a:r>
            <a:endParaRPr lang="zh-CN" altLang="en-US" sz="2400" b="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3" name="Text Box 2059">
            <a:extLst>
              <a:ext uri="{FF2B5EF4-FFF2-40B4-BE49-F238E27FC236}">
                <a16:creationId xmlns:a16="http://schemas.microsoft.com/office/drawing/2014/main" id="{1DB5817E-C756-41B8-9DA9-59C213905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652" y="5951389"/>
            <a:ext cx="6200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零件名称、数量、材料及必要签署。</a:t>
            </a:r>
          </a:p>
        </p:txBody>
      </p:sp>
      <p:sp>
        <p:nvSpPr>
          <p:cNvPr id="24" name="Text Box 2060">
            <a:extLst>
              <a:ext uri="{FF2B5EF4-FFF2-40B4-BE49-F238E27FC236}">
                <a16:creationId xmlns:a16="http://schemas.microsoft.com/office/drawing/2014/main" id="{DCA93DD5-272B-45B8-BCF7-66CB71597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2027" y="1258739"/>
            <a:ext cx="45291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加工制造、检验、测量零件  </a:t>
            </a: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5" name="Text Box 2053">
            <a:extLst>
              <a:ext uri="{FF2B5EF4-FFF2-40B4-BE49-F238E27FC236}">
                <a16:creationId xmlns:a16="http://schemas.microsoft.com/office/drawing/2014/main" id="{4AC069BD-966B-472A-96C3-A5603B093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027" y="2541439"/>
            <a:ext cx="18891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1. 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一组视图</a:t>
            </a:r>
            <a:endParaRPr lang="zh-CN" altLang="en-US" sz="240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26" name="图片 25" descr="10-1-1.jpg">
            <a:extLst>
              <a:ext uri="{FF2B5EF4-FFF2-40B4-BE49-F238E27FC236}">
                <a16:creationId xmlns:a16="http://schemas.microsoft.com/office/drawing/2014/main" id="{191482BB-BF3F-4C49-A35E-FD8292932E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97636" y="1758801"/>
            <a:ext cx="6008687" cy="423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8">
            <a:extLst>
              <a:ext uri="{FF2B5EF4-FFF2-40B4-BE49-F238E27FC236}">
                <a16:creationId xmlns:a16="http://schemas.microsoft.com/office/drawing/2014/main" id="{A67AA90A-1B2B-4F63-8BCD-B7BABE2A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88111" y="1779439"/>
            <a:ext cx="6011862" cy="415607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4DC225DC-D338-4010-AE2F-0D7C5A1AA8EC}"/>
              </a:ext>
            </a:extLst>
          </p:cNvPr>
          <p:cNvSpPr/>
          <p:nvPr/>
        </p:nvSpPr>
        <p:spPr>
          <a:xfrm>
            <a:off x="5210386" y="3285976"/>
            <a:ext cx="658812" cy="498475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066FD2A-6D3A-4C4C-9D8A-F6F7C2DFF8DE}"/>
              </a:ext>
            </a:extLst>
          </p:cNvPr>
          <p:cNvSpPr/>
          <p:nvPr/>
        </p:nvSpPr>
        <p:spPr>
          <a:xfrm>
            <a:off x="6748673" y="2393801"/>
            <a:ext cx="658813" cy="1717675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951473F-9084-43C9-A18A-565BF32340DE}"/>
              </a:ext>
            </a:extLst>
          </p:cNvPr>
          <p:cNvSpPr/>
          <p:nvPr/>
        </p:nvSpPr>
        <p:spPr>
          <a:xfrm>
            <a:off x="5886661" y="4971901"/>
            <a:ext cx="658812" cy="496888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1" name="Picture 19">
            <a:extLst>
              <a:ext uri="{FF2B5EF4-FFF2-40B4-BE49-F238E27FC236}">
                <a16:creationId xmlns:a16="http://schemas.microsoft.com/office/drawing/2014/main" id="{257484B1-FA79-471C-B5AE-9872EA8C0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21911" y="4498826"/>
            <a:ext cx="2084387" cy="75406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4A0A749C-1AEA-46A6-B661-C0AB4C915D58}"/>
              </a:ext>
            </a:extLst>
          </p:cNvPr>
          <p:cNvSpPr/>
          <p:nvPr/>
        </p:nvSpPr>
        <p:spPr>
          <a:xfrm>
            <a:off x="4937336" y="2393801"/>
            <a:ext cx="658812" cy="498475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2E67612-9036-4F7F-B817-2ED4A2088AA7}"/>
              </a:ext>
            </a:extLst>
          </p:cNvPr>
          <p:cNvSpPr/>
          <p:nvPr/>
        </p:nvSpPr>
        <p:spPr>
          <a:xfrm>
            <a:off x="7105861" y="4779814"/>
            <a:ext cx="658812" cy="496887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9240493-49E9-4F4C-94FC-8883CF4DECF9}"/>
              </a:ext>
            </a:extLst>
          </p:cNvPr>
          <p:cNvSpPr/>
          <p:nvPr/>
        </p:nvSpPr>
        <p:spPr>
          <a:xfrm>
            <a:off x="8196473" y="5289401"/>
            <a:ext cx="2540000" cy="592138"/>
          </a:xfrm>
          <a:prstGeom prst="rect">
            <a:avLst/>
          </a:prstGeom>
          <a:solidFill>
            <a:schemeClr val="bg1">
              <a:alpha val="0"/>
            </a:schemeClr>
          </a:solidFill>
          <a:ln w="412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D4BCFA78-A60B-4BEA-ABAD-C25E97A6DD04}"/>
              </a:ext>
            </a:extLst>
          </p:cNvPr>
          <p:cNvSpPr/>
          <p:nvPr/>
        </p:nvSpPr>
        <p:spPr>
          <a:xfrm>
            <a:off x="9566486" y="4448026"/>
            <a:ext cx="658812" cy="496888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DDF6499A-8440-4762-B359-214DBCADE84A}"/>
              </a:ext>
            </a:extLst>
          </p:cNvPr>
          <p:cNvSpPr/>
          <p:nvPr/>
        </p:nvSpPr>
        <p:spPr>
          <a:xfrm>
            <a:off x="9588711" y="2246164"/>
            <a:ext cx="541337" cy="404812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4C00473-04C6-4A29-A282-72A469062E53}"/>
              </a:ext>
            </a:extLst>
          </p:cNvPr>
          <p:cNvSpPr/>
          <p:nvPr/>
        </p:nvSpPr>
        <p:spPr>
          <a:xfrm>
            <a:off x="10025273" y="2865289"/>
            <a:ext cx="542925" cy="403225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8" name="矩形 25">
            <a:extLst>
              <a:ext uri="{FF2B5EF4-FFF2-40B4-BE49-F238E27FC236}">
                <a16:creationId xmlns:a16="http://schemas.microsoft.com/office/drawing/2014/main" id="{A03D2B18-E03A-4B4D-9F78-EC3DBF4E9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8064" y="305297"/>
            <a:ext cx="5153025" cy="584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>
            <a:spAutoFit/>
          </a:bodyPr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零件图的作用与内容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064364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A42B5F63-F4BC-4317-8411-43517D95DE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95823" y="626549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关于零件图，说法正确的是：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F16D7B-6AB0-4307-881C-6364DB4873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927648" y="2777612"/>
            <a:ext cx="7597775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概念</a:t>
            </a:r>
            <a:r>
              <a:rPr lang="zh-CN" altLang="zh-CN" sz="2400" dirty="0">
                <a:solidFill>
                  <a:schemeClr val="tx1"/>
                </a:solidFill>
              </a:rPr>
              <a:t>是表示零件结构形状、大小的工程图样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B7253C-36F1-4CEE-844B-47D9645A76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927648" y="3634862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/>
                </a:solidFill>
              </a:rPr>
              <a:t>作用</a:t>
            </a:r>
            <a:r>
              <a:rPr lang="zh-CN" altLang="zh-CN" sz="2400" dirty="0">
                <a:solidFill>
                  <a:schemeClr val="tx1"/>
                </a:solidFill>
              </a:rPr>
              <a:t>是指导制造和检验零件的图样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367DBF-B7B6-4BEE-88A2-058EEFF4BFF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907011" y="4492112"/>
            <a:ext cx="7377112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内容</a:t>
            </a:r>
            <a:r>
              <a:rPr lang="zh-CN" altLang="en-US" sz="2400" dirty="0">
                <a:solidFill>
                  <a:schemeClr val="tx1"/>
                </a:solidFill>
              </a:rPr>
              <a:t>包括一组视图、完整尺寸、技术要求、标题栏。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E5D49E-1270-400A-A727-8EE3EB9770A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927648" y="5349362"/>
            <a:ext cx="7356475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零件图反映了设计者的意图、表达了机器（或部件）对零件的要求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7" name="矩形 7">
            <a:extLst>
              <a:ext uri="{FF2B5EF4-FFF2-40B4-BE49-F238E27FC236}">
                <a16:creationId xmlns:a16="http://schemas.microsoft.com/office/drawing/2014/main" id="{E10AAF27-08B4-456A-B968-ADFD99CA2D2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06936" y="2841112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8" name="矩形 8">
            <a:extLst>
              <a:ext uri="{FF2B5EF4-FFF2-40B4-BE49-F238E27FC236}">
                <a16:creationId xmlns:a16="http://schemas.microsoft.com/office/drawing/2014/main" id="{90B55C5C-2452-48AB-B0B2-4CFDB74469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06936" y="369836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9" name="矩形 9">
            <a:extLst>
              <a:ext uri="{FF2B5EF4-FFF2-40B4-BE49-F238E27FC236}">
                <a16:creationId xmlns:a16="http://schemas.microsoft.com/office/drawing/2014/main" id="{514C22F6-FE79-4CF4-B66B-CBA8145FD96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306936" y="455561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0" name="矩形 10">
            <a:extLst>
              <a:ext uri="{FF2B5EF4-FFF2-40B4-BE49-F238E27FC236}">
                <a16:creationId xmlns:a16="http://schemas.microsoft.com/office/drawing/2014/main" id="{27A98085-1FD2-446A-9FB9-93AE833E332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306936" y="541286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21" name="圆角矩形 11">
            <a:extLst>
              <a:ext uri="{FF2B5EF4-FFF2-40B4-BE49-F238E27FC236}">
                <a16:creationId xmlns:a16="http://schemas.microsoft.com/office/drawing/2014/main" id="{6CFE7EE5-BC9E-4F10-8B53-2F91B134116C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271048" y="6206612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22" name="组合 16">
            <a:extLst>
              <a:ext uri="{FF2B5EF4-FFF2-40B4-BE49-F238E27FC236}">
                <a16:creationId xmlns:a16="http://schemas.microsoft.com/office/drawing/2014/main" id="{1FE9BEED-C566-4C97-A76C-D03408EC115B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2880023" y="-522848"/>
            <a:chExt cx="9144000" cy="635000"/>
          </a:xfrm>
        </p:grpSpPr>
        <p:sp>
          <p:nvSpPr>
            <p:cNvPr id="23" name="TitleBackground">
              <a:extLst>
                <a:ext uri="{FF2B5EF4-FFF2-40B4-BE49-F238E27FC236}">
                  <a16:creationId xmlns:a16="http://schemas.microsoft.com/office/drawing/2014/main" id="{EE4EEC5D-D854-48BB-B989-7F8635A23997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2880023" y="-522848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ColorBlock">
              <a:extLst>
                <a:ext uri="{FF2B5EF4-FFF2-40B4-BE49-F238E27FC236}">
                  <a16:creationId xmlns:a16="http://schemas.microsoft.com/office/drawing/2014/main" id="{3BE76431-8689-4CFE-A3A9-635A340FB37E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2880023" y="-522848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TypeText">
              <a:extLst>
                <a:ext uri="{FF2B5EF4-FFF2-40B4-BE49-F238E27FC236}">
                  <a16:creationId xmlns:a16="http://schemas.microsoft.com/office/drawing/2014/main" id="{391EC95D-A698-4897-8072-3C0ADBB8134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2626023" y="-522848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26" name="TipText">
              <a:extLst>
                <a:ext uri="{FF2B5EF4-FFF2-40B4-BE49-F238E27FC236}">
                  <a16:creationId xmlns:a16="http://schemas.microsoft.com/office/drawing/2014/main" id="{4057F65B-BC81-42B8-8A4C-4918EFE4FAF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54118" y="-413628"/>
              <a:ext cx="2286000" cy="508000"/>
            </a:xfrm>
            <a:prstGeom prst="rect">
              <a:avLst/>
            </a:prstGeom>
          </p:spPr>
          <p:txBody>
            <a:bodyPr vert="horz" wrap="none" anchor="ctr" anchorCtr="0">
              <a:no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7" name="图片 1">
            <a:extLst>
              <a:ext uri="{FF2B5EF4-FFF2-40B4-BE49-F238E27FC236}">
                <a16:creationId xmlns:a16="http://schemas.microsoft.com/office/drawing/2014/main" id="{10EABBE6-0305-4260-AF16-18AE528E740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197814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122">
            <a:extLst>
              <a:ext uri="{FF2B5EF4-FFF2-40B4-BE49-F238E27FC236}">
                <a16:creationId xmlns:a16="http://schemas.microsoft.com/office/drawing/2014/main" id="{430C3FB9-0A45-4856-98D7-0FC53BFCC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471" y="346071"/>
            <a:ext cx="4852988" cy="66833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sp>
        <p:nvSpPr>
          <p:cNvPr id="4" name="WordArt 5126">
            <a:extLst>
              <a:ext uri="{FF2B5EF4-FFF2-40B4-BE49-F238E27FC236}">
                <a16:creationId xmlns:a16="http://schemas.microsoft.com/office/drawing/2014/main" id="{36050451-E63C-4546-938E-995EDABB67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8742" y="1308346"/>
            <a:ext cx="4945457" cy="427026"/>
          </a:xfrm>
          <a:prstGeom prst="rect">
            <a:avLst/>
          </a:prstGeom>
        </p:spPr>
        <p:txBody>
          <a:bodyPr wrap="none" fromWordArt="1">
            <a:prstTxWarp prst="textPlain">
              <a:avLst/>
            </a:prstTxWarp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600" kern="10" spc="50" dirty="0">
                <a:ln w="11430">
                  <a:solidFill>
                    <a:srgbClr val="FF0000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宋体"/>
                <a:ea typeface="宋体"/>
              </a:rPr>
              <a:t>为什么要进行视图选择呢</a:t>
            </a:r>
            <a:r>
              <a:rPr lang="zh-CN" altLang="en-US" sz="3600" kern="10" spc="50" dirty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宋体"/>
                <a:ea typeface="宋体"/>
              </a:rPr>
              <a:t>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7F3BD8-B453-4684-908D-447EEFD11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275" y="3193087"/>
            <a:ext cx="26650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400" dirty="0">
                <a:cs typeface="Times New Roman" pitchFamily="18" charset="0"/>
              </a:rPr>
              <a:t>表达方案应包括：</a:t>
            </a:r>
            <a:endParaRPr lang="en-US" altLang="zh-CN" sz="2400" dirty="0">
              <a:cs typeface="Times New Roman" pitchFamily="18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472D94CB-2547-469F-8D2A-5A596BF8B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524" y="4429435"/>
            <a:ext cx="13176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⒈ 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完整</a:t>
            </a:r>
            <a:endParaRPr lang="zh-CN" altLang="en-US" sz="240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4321A937-C58B-436B-ADA2-432785C9A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524" y="5140635"/>
            <a:ext cx="1266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⒉ 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正确</a:t>
            </a:r>
            <a:endParaRPr lang="zh-CN" altLang="en-US" sz="240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334BE55-7993-4574-A85B-E89B0538F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337" y="5851835"/>
            <a:ext cx="12684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⒊ 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清楚</a:t>
            </a:r>
            <a:endParaRPr lang="zh-CN" altLang="en-US" sz="240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72680383-83DA-4B2B-A515-8FF70A277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545" y="4425698"/>
            <a:ext cx="82480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零件各部分的结构、形状及其相对位置表达完全且唯一确定。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45E62671-886F-4AC3-8992-60665AF6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49" y="5133343"/>
            <a:ext cx="6238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视图之间的投影关系及表达方法要正确。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51C9C480-C984-4E45-928E-E6FF917B9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749" y="5851835"/>
            <a:ext cx="4206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所画图形要清晰、简洁易懂。</a:t>
            </a: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FEDFB725-0399-4D53-9739-8AE52FBB4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276" y="3930763"/>
            <a:ext cx="2708946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视图选择的要求</a:t>
            </a:r>
            <a:r>
              <a:rPr lang="en-US" altLang="zh-CN" sz="2400" b="1" dirty="0"/>
              <a:t>:</a:t>
            </a:r>
          </a:p>
        </p:txBody>
      </p:sp>
      <p:sp>
        <p:nvSpPr>
          <p:cNvPr id="14" name="Text Box 5123">
            <a:extLst>
              <a:ext uri="{FF2B5EF4-FFF2-40B4-BE49-F238E27FC236}">
                <a16:creationId xmlns:a16="http://schemas.microsoft.com/office/drawing/2014/main" id="{68336DEF-37C2-4A5F-A705-03379292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516" y="2366466"/>
            <a:ext cx="8921365" cy="46166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使表达方案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正确、完整、清晰、简洁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地表达零件的形状、结构。</a:t>
            </a:r>
            <a:endParaRPr lang="zh-CN" altLang="en-US" sz="24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90017" y="1847227"/>
            <a:ext cx="4290459" cy="458627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">
              <a:avLst>
                <a:gd name="adj" fmla="val 10205"/>
              </a:avLst>
            </a:prstTxWarp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2800" b="1" dirty="0">
                <a:ln/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为了看图方便、作图简便</a:t>
            </a:r>
            <a:endParaRPr lang="zh-CN" altLang="en-US" sz="2800" b="1" dirty="0">
              <a:ln/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7F3BD8-B453-4684-908D-447EEFD11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647" y="3055169"/>
            <a:ext cx="59850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itchFamily="2" charset="-122"/>
                <a:ea typeface="宋体" pitchFamily="2" charset="-122"/>
                <a:cs typeface="Times New Roman" pitchFamily="18" charset="0"/>
              </a:rPr>
              <a:t>☆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主视图</a:t>
            </a:r>
            <a:r>
              <a:rPr lang="zh-CN" altLang="zh-CN" sz="2400" dirty="0">
                <a:ea typeface="宋体" pitchFamily="2" charset="-122"/>
                <a:cs typeface="Times New Roman" pitchFamily="18" charset="0"/>
              </a:rPr>
              <a:t>的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确定</a:t>
            </a:r>
            <a:r>
              <a:rPr lang="zh-CN" altLang="zh-CN" sz="2400" dirty="0">
                <a:ea typeface="宋体" pitchFamily="2" charset="-122"/>
                <a:cs typeface="Times New Roman" pitchFamily="18" charset="0"/>
              </a:rPr>
              <a:t>、</a:t>
            </a:r>
            <a:endParaRPr lang="en-US" altLang="zh-CN" sz="2400" dirty="0">
              <a:ea typeface="宋体" pitchFamily="2" charset="-122"/>
              <a:cs typeface="Times New Roman" pitchFamily="18" charset="0"/>
            </a:endParaRPr>
          </a:p>
          <a:p>
            <a:r>
              <a:rPr lang="zh-CN" altLang="en-US" sz="2400" dirty="0">
                <a:latin typeface="宋体" pitchFamily="2" charset="-122"/>
                <a:ea typeface="宋体" pitchFamily="2" charset="-122"/>
                <a:cs typeface="Times New Roman" pitchFamily="18" charset="0"/>
              </a:rPr>
              <a:t>☆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其他视图</a:t>
            </a:r>
            <a:r>
              <a:rPr lang="zh-CN" altLang="zh-CN" sz="2400" dirty="0">
                <a:ea typeface="宋体" pitchFamily="2" charset="-122"/>
                <a:cs typeface="Times New Roman" pitchFamily="18" charset="0"/>
              </a:rPr>
              <a:t>的合理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配置</a:t>
            </a:r>
            <a:r>
              <a:rPr lang="zh-CN" altLang="zh-CN" sz="2400" dirty="0">
                <a:ea typeface="宋体" pitchFamily="2" charset="-122"/>
                <a:cs typeface="Times New Roman" pitchFamily="18" charset="0"/>
              </a:rPr>
              <a:t>且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表达</a:t>
            </a:r>
            <a:r>
              <a:rPr lang="zh-CN" altLang="zh-CN" sz="2400" dirty="0">
                <a:ea typeface="宋体" pitchFamily="2" charset="-122"/>
                <a:cs typeface="Times New Roman" pitchFamily="18" charset="0"/>
              </a:rPr>
              <a:t>方法运用</a:t>
            </a:r>
            <a:r>
              <a:rPr lang="zh-CN" altLang="zh-CN" sz="2400" dirty="0">
                <a:solidFill>
                  <a:srgbClr val="FF0000"/>
                </a:solidFill>
                <a:ea typeface="宋体" pitchFamily="2" charset="-122"/>
                <a:cs typeface="Times New Roman" pitchFamily="18" charset="0"/>
              </a:rPr>
              <a:t>恰当</a:t>
            </a:r>
            <a:endParaRPr lang="zh-CN" altLang="en-US" sz="2400" dirty="0">
              <a:solidFill>
                <a:srgbClr val="FF0000"/>
              </a:solidFill>
              <a:cs typeface="Times New Roman" pitchFamily="18" charset="0"/>
            </a:endParaRPr>
          </a:p>
        </p:txBody>
      </p:sp>
      <p:sp>
        <p:nvSpPr>
          <p:cNvPr id="19" name="AutoShape 20">
            <a:extLst>
              <a:ext uri="{FF2B5EF4-FFF2-40B4-BE49-F238E27FC236}">
                <a16:creationId xmlns:a16="http://schemas.microsoft.com/office/drawing/2014/main" id="{42FD3B1F-3F3D-425C-80C7-EB1F3B2B2205}"/>
              </a:ext>
            </a:extLst>
          </p:cNvPr>
          <p:cNvSpPr>
            <a:spLocks/>
          </p:cNvSpPr>
          <p:nvPr/>
        </p:nvSpPr>
        <p:spPr bwMode="auto">
          <a:xfrm>
            <a:off x="4118197" y="3141736"/>
            <a:ext cx="216024" cy="668625"/>
          </a:xfrm>
          <a:prstGeom prst="leftBrace">
            <a:avLst>
              <a:gd name="adj1" fmla="val 72142"/>
              <a:gd name="adj2" fmla="val 50000"/>
            </a:avLst>
          </a:prstGeom>
          <a:ln w="28575">
            <a:solidFill>
              <a:srgbClr val="002060"/>
            </a:solidFill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400" b="1"/>
          </a:p>
        </p:txBody>
      </p:sp>
    </p:spTree>
    <p:extLst>
      <p:ext uri="{BB962C8B-B14F-4D97-AF65-F5344CB8AC3E}">
        <p14:creationId xmlns:p14="http://schemas.microsoft.com/office/powerpoint/2010/main" val="131673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 animBg="1" autoUpdateAnimBg="0"/>
      <p:bldP spid="15" grpId="0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15DBE02D-F9E5-4117-8636-56AAE2E6D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50" y="2070472"/>
            <a:ext cx="2451100" cy="522288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sym typeface="Monotype Sorts"/>
              </a:rPr>
              <a:t>⒈ </a:t>
            </a:r>
            <a:r>
              <a:rPr lang="zh-CN" altLang="en-US" sz="2800">
                <a:solidFill>
                  <a:schemeClr val="tx1"/>
                </a:solidFill>
                <a:sym typeface="Monotype Sorts"/>
              </a:rPr>
              <a:t>分析零件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DFAB1E1C-84E1-49EA-AFA1-768E67D52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813" y="1562089"/>
            <a:ext cx="2351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几何形体、结构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01CF379F-738C-44F9-871D-74222C56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2563" y="1967541"/>
            <a:ext cx="10033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功用</a:t>
            </a:r>
          </a:p>
        </p:txBody>
      </p:sp>
      <p:sp>
        <p:nvSpPr>
          <p:cNvPr id="5" name="Text Box 12">
            <a:extLst>
              <a:ext uri="{FF2B5EF4-FFF2-40B4-BE49-F238E27FC236}">
                <a16:creationId xmlns:a16="http://schemas.microsoft.com/office/drawing/2014/main" id="{17311300-9A72-43CB-AAF1-297DE4993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112" y="2462995"/>
            <a:ext cx="142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  <a:sym typeface="Monotype Sorts"/>
              </a:rPr>
              <a:t>加工方法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127A6F6-C063-41B2-AA5E-55A4CC789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000" y="904018"/>
            <a:ext cx="4546600" cy="474662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视图选择的方法及步骤</a:t>
            </a:r>
            <a:r>
              <a:rPr lang="zh-CN" altLang="en-US" sz="2800" b="1" dirty="0">
                <a:solidFill>
                  <a:schemeClr val="tx1"/>
                </a:solidFill>
                <a:sym typeface="Monotype Sorts"/>
              </a:rPr>
              <a:t> 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8E9417E5-E2B0-47B5-9ECD-5EA89E816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1901" y="1562089"/>
            <a:ext cx="3535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要分清主要和次要形体</a:t>
            </a:r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0CA6DA7D-1EE9-4F66-82AB-506918AF2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551" y="1977066"/>
            <a:ext cx="23510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形状与功用有关</a:t>
            </a:r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4B26480E-6015-47ED-B448-0CB6AFA7C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512" y="2477283"/>
            <a:ext cx="2968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形状与加工方法有关</a:t>
            </a:r>
          </a:p>
        </p:txBody>
      </p:sp>
      <p:sp>
        <p:nvSpPr>
          <p:cNvPr id="10" name="AutoShape 17">
            <a:extLst>
              <a:ext uri="{FF2B5EF4-FFF2-40B4-BE49-F238E27FC236}">
                <a16:creationId xmlns:a16="http://schemas.microsoft.com/office/drawing/2014/main" id="{34F59BC8-B8DA-41CB-A12F-CBD6A25355B1}"/>
              </a:ext>
            </a:extLst>
          </p:cNvPr>
          <p:cNvSpPr>
            <a:spLocks/>
          </p:cNvSpPr>
          <p:nvPr/>
        </p:nvSpPr>
        <p:spPr bwMode="auto">
          <a:xfrm>
            <a:off x="3570300" y="1710110"/>
            <a:ext cx="239712" cy="1181100"/>
          </a:xfrm>
          <a:prstGeom prst="leftBrace">
            <a:avLst>
              <a:gd name="adj1" fmla="val 8281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/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4EB5593F-9B26-481C-B7F1-765B028AE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100" y="3553197"/>
            <a:ext cx="2168525" cy="5238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sym typeface="Monotype Sorts"/>
              </a:rPr>
              <a:t>⒉ </a:t>
            </a:r>
            <a:r>
              <a:rPr lang="zh-CN" altLang="en-US" sz="2800">
                <a:solidFill>
                  <a:schemeClr val="tx1"/>
                </a:solidFill>
                <a:sym typeface="Monotype Sorts"/>
              </a:rPr>
              <a:t>选主视图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D995EB3C-AA94-4C06-BF40-C06040EC4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400" y="3262484"/>
            <a:ext cx="30511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零件的安放状态</a:t>
            </a: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96DFF313-A301-4918-A1B4-3E203D049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071" y="3991397"/>
            <a:ext cx="20034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投射方向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CB90D1DC-CC22-43EF-80B2-A8485C525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6754" y="2995986"/>
            <a:ext cx="34512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加工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状态（轴、盘类）</a:t>
            </a: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8175F989-137D-484A-8EB2-8ADB9E196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546" y="3542426"/>
            <a:ext cx="39544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工作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状态（支架、壳体类）</a:t>
            </a:r>
          </a:p>
        </p:txBody>
      </p:sp>
      <p:sp>
        <p:nvSpPr>
          <p:cNvPr id="16" name="Text Box 11" descr="点式菱形">
            <a:extLst>
              <a:ext uri="{FF2B5EF4-FFF2-40B4-BE49-F238E27FC236}">
                <a16:creationId xmlns:a16="http://schemas.microsoft.com/office/drawing/2014/main" id="{C8A82842-4C8F-4BC0-9A6D-DA584DA6D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0796" y="3988121"/>
            <a:ext cx="5013325" cy="46196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能清楚地表达主要形体的形状特征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7" name="AutoShape 29">
            <a:extLst>
              <a:ext uri="{FF2B5EF4-FFF2-40B4-BE49-F238E27FC236}">
                <a16:creationId xmlns:a16="http://schemas.microsoft.com/office/drawing/2014/main" id="{66EAFA53-E5D4-4A7E-9C87-953C05302FE9}"/>
              </a:ext>
            </a:extLst>
          </p:cNvPr>
          <p:cNvSpPr>
            <a:spLocks/>
          </p:cNvSpPr>
          <p:nvPr/>
        </p:nvSpPr>
        <p:spPr bwMode="auto">
          <a:xfrm>
            <a:off x="6245238" y="3141238"/>
            <a:ext cx="166687" cy="747021"/>
          </a:xfrm>
          <a:prstGeom prst="leftBrace">
            <a:avLst>
              <a:gd name="adj1" fmla="val 7438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800"/>
          </a:p>
        </p:txBody>
      </p:sp>
      <p:sp>
        <p:nvSpPr>
          <p:cNvPr id="18" name="AutoShape 30">
            <a:extLst>
              <a:ext uri="{FF2B5EF4-FFF2-40B4-BE49-F238E27FC236}">
                <a16:creationId xmlns:a16="http://schemas.microsoft.com/office/drawing/2014/main" id="{670CDF3B-8E7D-47BD-9F39-DC2A9A9FFE47}"/>
              </a:ext>
            </a:extLst>
          </p:cNvPr>
          <p:cNvSpPr>
            <a:spLocks/>
          </p:cNvSpPr>
          <p:nvPr/>
        </p:nvSpPr>
        <p:spPr bwMode="auto">
          <a:xfrm>
            <a:off x="3630625" y="3396035"/>
            <a:ext cx="209550" cy="909637"/>
          </a:xfrm>
          <a:prstGeom prst="leftBrace">
            <a:avLst>
              <a:gd name="adj1" fmla="val 7363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800"/>
          </a:p>
        </p:txBody>
      </p:sp>
      <p:grpSp>
        <p:nvGrpSpPr>
          <p:cNvPr id="19" name="Group 35">
            <a:extLst>
              <a:ext uri="{FF2B5EF4-FFF2-40B4-BE49-F238E27FC236}">
                <a16:creationId xmlns:a16="http://schemas.microsoft.com/office/drawing/2014/main" id="{417AED96-19CF-4A99-A627-6A73B794F90C}"/>
              </a:ext>
            </a:extLst>
          </p:cNvPr>
          <p:cNvGrpSpPr>
            <a:grpSpLocks/>
          </p:cNvGrpSpPr>
          <p:nvPr/>
        </p:nvGrpSpPr>
        <p:grpSpPr bwMode="auto">
          <a:xfrm>
            <a:off x="6057913" y="4758110"/>
            <a:ext cx="3689350" cy="1784350"/>
            <a:chOff x="2859" y="2260"/>
            <a:chExt cx="2416" cy="1184"/>
          </a:xfrm>
        </p:grpSpPr>
        <p:pic>
          <p:nvPicPr>
            <p:cNvPr id="20" name="Picture 32" descr="车轴">
              <a:extLst>
                <a:ext uri="{FF2B5EF4-FFF2-40B4-BE49-F238E27FC236}">
                  <a16:creationId xmlns:a16="http://schemas.microsoft.com/office/drawing/2014/main" id="{2C808E41-1EB8-4694-A50F-6C16A65CB0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859" y="2260"/>
              <a:ext cx="2416" cy="8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E2CFDA33-AB1D-49B3-AE44-20861394F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4" y="3153"/>
              <a:ext cx="701" cy="291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762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加工轴</a:t>
              </a:r>
            </a:p>
          </p:txBody>
        </p:sp>
      </p:grpSp>
      <p:grpSp>
        <p:nvGrpSpPr>
          <p:cNvPr id="22" name="Group 15">
            <a:extLst>
              <a:ext uri="{FF2B5EF4-FFF2-40B4-BE49-F238E27FC236}">
                <a16:creationId xmlns:a16="http://schemas.microsoft.com/office/drawing/2014/main" id="{7F0E7C58-FEDB-45F0-B263-D0F1255720AC}"/>
              </a:ext>
            </a:extLst>
          </p:cNvPr>
          <p:cNvGrpSpPr>
            <a:grpSpLocks/>
          </p:cNvGrpSpPr>
          <p:nvPr/>
        </p:nvGrpSpPr>
        <p:grpSpPr bwMode="auto">
          <a:xfrm>
            <a:off x="8148650" y="4539035"/>
            <a:ext cx="1627188" cy="546100"/>
            <a:chOff x="4268" y="2026"/>
            <a:chExt cx="1025" cy="560"/>
          </a:xfrm>
        </p:grpSpPr>
        <p:sp>
          <p:nvSpPr>
            <p:cNvPr id="23" name="Text Box 16">
              <a:extLst>
                <a:ext uri="{FF2B5EF4-FFF2-40B4-BE49-F238E27FC236}">
                  <a16:creationId xmlns:a16="http://schemas.microsoft.com/office/drawing/2014/main" id="{B1C9437B-0C59-44F0-89FC-B219F649C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026"/>
              <a:ext cx="70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>
                  <a:latin typeface="Times New Roman" pitchFamily="18" charset="0"/>
                  <a:ea typeface="宋体" pitchFamily="2" charset="-122"/>
                </a:rPr>
                <a:t>工件旋转</a:t>
              </a:r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5B509E94-6085-40D5-82B8-5293FD9A49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8" y="2262"/>
              <a:ext cx="324" cy="32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F3BABE49-8ABA-42F1-8BE9-E7723A155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271"/>
              <a:ext cx="713" cy="1"/>
            </a:xfrm>
            <a:custGeom>
              <a:avLst/>
              <a:gdLst>
                <a:gd name="T0" fmla="*/ 0 w 713"/>
                <a:gd name="T1" fmla="*/ 0 h 1"/>
                <a:gd name="T2" fmla="*/ 713 w 713"/>
                <a:gd name="T3" fmla="*/ 0 h 1"/>
                <a:gd name="T4" fmla="*/ 0 60000 65536"/>
                <a:gd name="T5" fmla="*/ 0 60000 65536"/>
                <a:gd name="T6" fmla="*/ 0 w 713"/>
                <a:gd name="T7" fmla="*/ 0 h 1"/>
                <a:gd name="T8" fmla="*/ 713 w 71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3" h="1">
                  <a:moveTo>
                    <a:pt x="0" y="0"/>
                  </a:moveTo>
                  <a:lnTo>
                    <a:pt x="71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19">
            <a:extLst>
              <a:ext uri="{FF2B5EF4-FFF2-40B4-BE49-F238E27FC236}">
                <a16:creationId xmlns:a16="http://schemas.microsoft.com/office/drawing/2014/main" id="{64F4F6C1-D2B3-4C9E-B6C8-0FC83D0FC7CE}"/>
              </a:ext>
            </a:extLst>
          </p:cNvPr>
          <p:cNvGrpSpPr>
            <a:grpSpLocks/>
          </p:cNvGrpSpPr>
          <p:nvPr/>
        </p:nvGrpSpPr>
        <p:grpSpPr bwMode="auto">
          <a:xfrm>
            <a:off x="8767775" y="5924922"/>
            <a:ext cx="1303338" cy="371475"/>
            <a:chOff x="4612" y="3006"/>
            <a:chExt cx="732" cy="384"/>
          </a:xfrm>
        </p:grpSpPr>
        <p:sp>
          <p:nvSpPr>
            <p:cNvPr id="27" name="Text Box 20">
              <a:extLst>
                <a:ext uri="{FF2B5EF4-FFF2-40B4-BE49-F238E27FC236}">
                  <a16:creationId xmlns:a16="http://schemas.microsoft.com/office/drawing/2014/main" id="{AA39606E-E63B-4105-BF9D-61B31D7B5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3" y="3128"/>
              <a:ext cx="4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>
                  <a:latin typeface="Times New Roman" pitchFamily="18" charset="0"/>
                  <a:ea typeface="宋体" pitchFamily="2" charset="-122"/>
                </a:rPr>
                <a:t>车床</a:t>
              </a:r>
              <a:endParaRPr lang="zh-CN" altLang="en-US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259F934E-224F-4937-93E1-76F15B753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2" y="3006"/>
              <a:ext cx="384" cy="38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44CF2164-7226-448C-9484-1C0180BA8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4" y="3378"/>
              <a:ext cx="36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AutoShape 23">
            <a:extLst>
              <a:ext uri="{FF2B5EF4-FFF2-40B4-BE49-F238E27FC236}">
                <a16:creationId xmlns:a16="http://schemas.microsoft.com/office/drawing/2014/main" id="{444760CE-8E10-423D-8E75-E4D2A9197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2200" y="4799385"/>
            <a:ext cx="395288" cy="200025"/>
          </a:xfrm>
          <a:prstGeom prst="curvedDownArrow">
            <a:avLst>
              <a:gd name="adj1" fmla="val 39872"/>
              <a:gd name="adj2" fmla="val 79048"/>
              <a:gd name="adj3" fmla="val 33333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31" name="Line 24">
            <a:extLst>
              <a:ext uri="{FF2B5EF4-FFF2-40B4-BE49-F238E27FC236}">
                <a16:creationId xmlns:a16="http://schemas.microsoft.com/office/drawing/2014/main" id="{DB8F1DD8-9117-418C-9C1B-EA3F884406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08850" y="5370885"/>
            <a:ext cx="3619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" name="Group 34">
            <a:extLst>
              <a:ext uri="{FF2B5EF4-FFF2-40B4-BE49-F238E27FC236}">
                <a16:creationId xmlns:a16="http://schemas.microsoft.com/office/drawing/2014/main" id="{3B0B84ED-66E8-4AFA-A08E-EFA80B588C30}"/>
              </a:ext>
            </a:extLst>
          </p:cNvPr>
          <p:cNvGrpSpPr>
            <a:grpSpLocks/>
          </p:cNvGrpSpPr>
          <p:nvPr/>
        </p:nvGrpSpPr>
        <p:grpSpPr bwMode="auto">
          <a:xfrm>
            <a:off x="5735650" y="5516935"/>
            <a:ext cx="1905000" cy="703262"/>
            <a:chOff x="2748" y="2706"/>
            <a:chExt cx="1006" cy="710"/>
          </a:xfrm>
        </p:grpSpPr>
        <p:sp>
          <p:nvSpPr>
            <p:cNvPr id="33" name="Text Box 26">
              <a:extLst>
                <a:ext uri="{FF2B5EF4-FFF2-40B4-BE49-F238E27FC236}">
                  <a16:creationId xmlns:a16="http://schemas.microsoft.com/office/drawing/2014/main" id="{4E887511-7ED4-4884-8F4E-DF931F868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9" y="3178"/>
              <a:ext cx="70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800">
                  <a:latin typeface="Times New Roman" pitchFamily="18" charset="0"/>
                  <a:ea typeface="宋体" pitchFamily="2" charset="-122"/>
                </a:rPr>
                <a:t>车刀移动</a:t>
              </a:r>
              <a:endParaRPr lang="zh-CN" altLang="en-US" sz="1800" b="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2CBE782F-2201-4DCA-90D8-3810C584C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5" y="2706"/>
              <a:ext cx="219" cy="71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EBF3E8EE-A7E5-4318-A737-E35A61AEF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48" y="3408"/>
              <a:ext cx="8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6" name="Text Box 10">
            <a:extLst>
              <a:ext uri="{FF2B5EF4-FFF2-40B4-BE49-F238E27FC236}">
                <a16:creationId xmlns:a16="http://schemas.microsoft.com/office/drawing/2014/main" id="{7F05663F-4199-4943-8EB8-F5BCAAF12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7975" y="4488235"/>
            <a:ext cx="2530475" cy="522287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sym typeface="Monotype Sorts"/>
              </a:rPr>
              <a:t>⒊ </a:t>
            </a:r>
            <a:r>
              <a:rPr lang="zh-CN" altLang="en-US" sz="2800">
                <a:solidFill>
                  <a:schemeClr val="tx1"/>
                </a:solidFill>
                <a:sym typeface="Monotype Sorts"/>
              </a:rPr>
              <a:t>选其它视图</a:t>
            </a:r>
            <a:endParaRPr lang="zh-CN" altLang="en-US" sz="2800">
              <a:solidFill>
                <a:schemeClr val="tx1"/>
              </a:solidFill>
            </a:endParaRPr>
          </a:p>
        </p:txBody>
      </p:sp>
      <p:sp>
        <p:nvSpPr>
          <p:cNvPr id="37" name="Text Box 12">
            <a:extLst>
              <a:ext uri="{FF2B5EF4-FFF2-40B4-BE49-F238E27FC236}">
                <a16:creationId xmlns:a16="http://schemas.microsoft.com/office/drawing/2014/main" id="{4BBD0327-C208-4CB1-A8E9-2BFE91536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3298" y="5010522"/>
            <a:ext cx="36957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首先考虑表达主要形体的其它视图，再补全次要形体的视图。</a:t>
            </a:r>
          </a:p>
        </p:txBody>
      </p:sp>
      <p:sp>
        <p:nvSpPr>
          <p:cNvPr id="38" name="Rectangle 5122">
            <a:extLst>
              <a:ext uri="{FF2B5EF4-FFF2-40B4-BE49-F238E27FC236}">
                <a16:creationId xmlns:a16="http://schemas.microsoft.com/office/drawing/2014/main" id="{774875F1-4008-4077-AE3B-E82019082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0260" y="215044"/>
            <a:ext cx="4852988" cy="5730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120808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 animBg="1"/>
      <p:bldP spid="11" grpId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nimBg="1"/>
      <p:bldP spid="18" grpId="0" animBg="1"/>
      <p:bldP spid="30" grpId="0" animBg="1"/>
      <p:bldP spid="31" grpId="0" animBg="1"/>
      <p:bldP spid="36" grpId="0" autoUpdateAnimBg="0"/>
      <p:bldP spid="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B6F869F8-CD55-44AA-88C2-53856B84A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698" y="918136"/>
            <a:ext cx="4873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accent1"/>
                </a:solidFill>
                <a:latin typeface="宋体" pitchFamily="2" charset="-122"/>
                <a:ea typeface="宋体" pitchFamily="2" charset="-122"/>
              </a:rPr>
              <a:t>其他视图选择应注意的问题：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50BB4F-2B9C-484B-A4DD-6029BD22D3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804" y="2924944"/>
            <a:ext cx="2095895" cy="1569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47F1107-06D9-44A2-A2E0-D84B33F13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7648" y="1593440"/>
            <a:ext cx="8146210" cy="388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81C722AA-717C-43D1-87E6-7EB685BC9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804" y="5249478"/>
            <a:ext cx="2168525" cy="5238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sym typeface="Monotype Sorts"/>
              </a:rPr>
              <a:t>⒋ </a:t>
            </a:r>
            <a:r>
              <a:rPr lang="zh-CN" altLang="en-US" sz="2800" b="1" dirty="0">
                <a:solidFill>
                  <a:schemeClr val="tx1"/>
                </a:solidFill>
                <a:sym typeface="Monotype Sorts"/>
              </a:rPr>
              <a:t>方案比较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4E6B8FB-D127-4B87-B9D2-7DA51E632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699" y="5704378"/>
            <a:ext cx="2541588" cy="95408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dirty="0">
                <a:latin typeface="宋体" panose="02010600030101010101" pitchFamily="2" charset="-122"/>
              </a:rPr>
              <a:t>在多种方案中比较、择优。</a:t>
            </a:r>
            <a:endParaRPr lang="zh-CN" altLang="en-US" sz="2800" b="0" dirty="0">
              <a:latin typeface="宋体" panose="02010600030101010101" pitchFamily="2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B9481BC-335D-4E2B-81EE-0E396E91A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2827" y="5704378"/>
            <a:ext cx="19653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择优原则：</a:t>
            </a:r>
            <a:endParaRPr lang="zh-CN" altLang="en-US" sz="28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1ECCA6C-2D60-45E1-9AE3-7928F6A36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627" y="5464666"/>
            <a:ext cx="48466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①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在零件的结构形状表达清楚的</a:t>
            </a:r>
          </a:p>
          <a:p>
            <a:pPr eaLnBrk="1" hangingPunct="1"/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基础上，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视图的数量越少越好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E2C30D73-4080-465D-A92C-D01BFC4CE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152" y="6228253"/>
            <a:ext cx="41211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② 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避免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不必要的细节</a:t>
            </a:r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重复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10" name="Rectangle 5122">
            <a:extLst>
              <a:ext uri="{FF2B5EF4-FFF2-40B4-BE49-F238E27FC236}">
                <a16:creationId xmlns:a16="http://schemas.microsoft.com/office/drawing/2014/main" id="{2335A293-7978-425D-B6DD-48D022888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4286" y="242281"/>
            <a:ext cx="4852988" cy="56991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137741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 autoUpdateAnimBg="0"/>
      <p:bldP spid="7" grpId="0" autoUpdateAnimBg="0"/>
      <p:bldP spid="8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056">
            <a:extLst>
              <a:ext uri="{FF2B5EF4-FFF2-40B4-BE49-F238E27FC236}">
                <a16:creationId xmlns:a16="http://schemas.microsoft.com/office/drawing/2014/main" id="{F7208345-B46A-475F-89F0-523D663DA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9290" y="1480898"/>
            <a:ext cx="2892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  <a:ea typeface="宋体" pitchFamily="2" charset="-122"/>
                <a:sym typeface="Monotype Sorts"/>
              </a:rPr>
              <a:t>1. </a:t>
            </a:r>
            <a:r>
              <a:rPr lang="zh-CN" altLang="zh-CN" sz="2800" b="1" dirty="0">
                <a:solidFill>
                  <a:schemeClr val="accent1"/>
                </a:solidFill>
                <a:latin typeface="Calibri" pitchFamily="34" charset="0"/>
                <a:ea typeface="宋体" pitchFamily="2" charset="-122"/>
              </a:rPr>
              <a:t>轴、套类零件</a:t>
            </a:r>
            <a:endParaRPr lang="zh-CN" altLang="en-US" sz="2800" b="1" dirty="0">
              <a:solidFill>
                <a:schemeClr val="accent1"/>
              </a:solidFill>
              <a:latin typeface="宋体" pitchFamily="2" charset="-122"/>
              <a:ea typeface="宋体" pitchFamily="2" charset="-122"/>
              <a:sym typeface="Monotype Sorts"/>
            </a:endParaRPr>
          </a:p>
        </p:txBody>
      </p:sp>
      <p:sp>
        <p:nvSpPr>
          <p:cNvPr id="4" name="Text Box 2057">
            <a:extLst>
              <a:ext uri="{FF2B5EF4-FFF2-40B4-BE49-F238E27FC236}">
                <a16:creationId xmlns:a16="http://schemas.microsoft.com/office/drawing/2014/main" id="{247975C2-7847-4CF2-BC4D-1DC438F0C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1833" y="2051646"/>
            <a:ext cx="28146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⑴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分析形体、结构</a:t>
            </a:r>
          </a:p>
        </p:txBody>
      </p:sp>
      <p:sp>
        <p:nvSpPr>
          <p:cNvPr id="5" name="Text Box 2058">
            <a:extLst>
              <a:ext uri="{FF2B5EF4-FFF2-40B4-BE49-F238E27FC236}">
                <a16:creationId xmlns:a16="http://schemas.microsoft.com/office/drawing/2014/main" id="{23C2A72C-A8B4-4638-8ABA-0ADFB0DB3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500" y="2664934"/>
            <a:ext cx="3298825" cy="108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由于轴上零件的固定及定位要求，其形状为阶梯形，并有键槽。</a:t>
            </a:r>
          </a:p>
        </p:txBody>
      </p:sp>
      <p:grpSp>
        <p:nvGrpSpPr>
          <p:cNvPr id="6" name="Group 2078">
            <a:extLst>
              <a:ext uri="{FF2B5EF4-FFF2-40B4-BE49-F238E27FC236}">
                <a16:creationId xmlns:a16="http://schemas.microsoft.com/office/drawing/2014/main" id="{27DE6AED-E90F-4023-B395-655DB32346AE}"/>
              </a:ext>
            </a:extLst>
          </p:cNvPr>
          <p:cNvGrpSpPr>
            <a:grpSpLocks/>
          </p:cNvGrpSpPr>
          <p:nvPr/>
        </p:nvGrpSpPr>
        <p:grpSpPr bwMode="auto">
          <a:xfrm>
            <a:off x="2963652" y="5410436"/>
            <a:ext cx="882651" cy="585787"/>
            <a:chOff x="1787" y="3276"/>
            <a:chExt cx="556" cy="369"/>
          </a:xfrm>
        </p:grpSpPr>
        <p:sp>
          <p:nvSpPr>
            <p:cNvPr id="7" name="Text Box 2079">
              <a:extLst>
                <a:ext uri="{FF2B5EF4-FFF2-40B4-BE49-F238E27FC236}">
                  <a16:creationId xmlns:a16="http://schemas.microsoft.com/office/drawing/2014/main" id="{6A87CB8C-24C4-4620-9727-2F541279F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" y="3318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轴</a:t>
              </a:r>
              <a:endParaRPr lang="zh-CN" altLang="en-US" sz="24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8" name="Line 2080">
              <a:extLst>
                <a:ext uri="{FF2B5EF4-FFF2-40B4-BE49-F238E27FC236}">
                  <a16:creationId xmlns:a16="http://schemas.microsoft.com/office/drawing/2014/main" id="{0F8181BC-A65C-4A49-8F05-5D15750C07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87" y="3276"/>
              <a:ext cx="249" cy="16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8B2C0B82-32E7-4384-9B41-C55D24F56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022" y="948844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8B085C5-F1D9-48CD-A223-5A35B7702AAC}"/>
              </a:ext>
            </a:extLst>
          </p:cNvPr>
          <p:cNvGrpSpPr>
            <a:grpSpLocks/>
          </p:cNvGrpSpPr>
          <p:nvPr/>
        </p:nvGrpSpPr>
        <p:grpSpPr bwMode="auto">
          <a:xfrm>
            <a:off x="5303912" y="1700808"/>
            <a:ext cx="5149850" cy="4308475"/>
            <a:chOff x="4008677" y="1502178"/>
            <a:chExt cx="5148917" cy="4308536"/>
          </a:xfrm>
        </p:grpSpPr>
        <p:graphicFrame>
          <p:nvGraphicFramePr>
            <p:cNvPr id="11" name="Object 3">
              <a:extLst>
                <a:ext uri="{FF2B5EF4-FFF2-40B4-BE49-F238E27FC236}">
                  <a16:creationId xmlns:a16="http://schemas.microsoft.com/office/drawing/2014/main" id="{C6D2128F-5D10-425B-A472-6337D3A4B5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8677" y="2140133"/>
            <a:ext cx="5043733" cy="3670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5" name="BMP 图象" r:id="rId3" imgW="5838095" imgH="4466667" progId="PBrush">
                    <p:embed/>
                  </p:oleObj>
                </mc:Choice>
                <mc:Fallback>
                  <p:oleObj name="BMP 图象" r:id="rId3" imgW="5838095" imgH="4466667" progId="PBrush">
                    <p:embed/>
                    <p:pic>
                      <p:nvPicPr>
                        <p:cNvPr id="1537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677" y="2140133"/>
                          <a:ext cx="5043733" cy="367058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998976A-ED96-4E6D-9C7B-2D319EE510BE}"/>
                </a:ext>
              </a:extLst>
            </p:cNvPr>
            <p:cNvSpPr txBox="1"/>
            <p:nvPr/>
          </p:nvSpPr>
          <p:spPr>
            <a:xfrm>
              <a:off x="5968884" y="1502178"/>
              <a:ext cx="3188710" cy="461970"/>
            </a:xfrm>
            <a:prstGeom prst="rect">
              <a:avLst/>
            </a:prstGeom>
          </p:spPr>
          <p:txBody>
            <a:bodyPr anchor="ctr">
              <a:spAutoFit/>
            </a:bodyPr>
            <a:lstStyle/>
            <a:p>
              <a:pPr algn="ctr" fontAlgn="auto">
                <a:spcAft>
                  <a:spcPts val="0"/>
                </a:spcAft>
                <a:defRPr/>
              </a:pPr>
              <a:r>
                <a:rPr kumimoji="0" lang="zh-CN" altLang="en-US" sz="2400" dirty="0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  <a:cs typeface="+mj-cs"/>
                </a:rPr>
                <a:t>网上搜的轴系分解图</a:t>
              </a:r>
            </a:p>
          </p:txBody>
        </p:sp>
      </p:grpSp>
      <p:sp>
        <p:nvSpPr>
          <p:cNvPr id="13" name="Rectangle 5122">
            <a:extLst>
              <a:ext uri="{FF2B5EF4-FFF2-40B4-BE49-F238E27FC236}">
                <a16:creationId xmlns:a16="http://schemas.microsoft.com/office/drawing/2014/main" id="{D398DFFA-04E7-439B-9698-79DD82867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780" y="303724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pic>
        <p:nvPicPr>
          <p:cNvPr id="14" name="Picture 4" descr="10-2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38064" y="4007961"/>
            <a:ext cx="3051175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719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81D419B-AA47-4B0C-910A-6336B1E85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609" y="2060848"/>
            <a:ext cx="21852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⑵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选择主视图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5713ABD-C9B1-446D-A9FF-ECE242476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353" y="5799606"/>
            <a:ext cx="250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⑶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选择其它视图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8BF94C8-87CA-4683-B1EA-49A2188D9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823" y="5811651"/>
            <a:ext cx="42635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断面图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表达键槽结构。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8A2F0BD-EC64-433A-8CD4-1A683BD4F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450" y="2312876"/>
            <a:ext cx="18875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★投射方向</a:t>
            </a:r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: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740179A8-24C7-4A76-854E-F4119CCCB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8978" y="1736812"/>
            <a:ext cx="20415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★安放状态：</a:t>
            </a:r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E05359F1-18A9-4C0A-A9F4-12E4B76FC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421" y="1772816"/>
            <a:ext cx="39788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加工状态，轴线水平放置。</a:t>
            </a:r>
          </a:p>
        </p:txBody>
      </p:sp>
      <p:grpSp>
        <p:nvGrpSpPr>
          <p:cNvPr id="9" name="Group 71">
            <a:extLst>
              <a:ext uri="{FF2B5EF4-FFF2-40B4-BE49-F238E27FC236}">
                <a16:creationId xmlns:a16="http://schemas.microsoft.com/office/drawing/2014/main" id="{70377883-B42E-42EE-9E8C-DB688C06D4D0}"/>
              </a:ext>
            </a:extLst>
          </p:cNvPr>
          <p:cNvGrpSpPr>
            <a:grpSpLocks/>
          </p:cNvGrpSpPr>
          <p:nvPr/>
        </p:nvGrpSpPr>
        <p:grpSpPr bwMode="auto">
          <a:xfrm>
            <a:off x="10678486" y="5033289"/>
            <a:ext cx="714375" cy="604838"/>
            <a:chOff x="2780" y="1140"/>
            <a:chExt cx="450" cy="381"/>
          </a:xfrm>
        </p:grpSpPr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FC6BE625-0487-4E38-81A4-C5628CABA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80" y="1140"/>
              <a:ext cx="248" cy="18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32">
              <a:extLst>
                <a:ext uri="{FF2B5EF4-FFF2-40B4-BE49-F238E27FC236}">
                  <a16:creationId xmlns:a16="http://schemas.microsoft.com/office/drawing/2014/main" id="{DED9E5A9-6A90-4D63-AD33-D9F8A92A2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" y="1194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  <a:endParaRPr lang="en-US" altLang="zh-CN" sz="2400" b="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2" name="Rectangle 2056">
            <a:extLst>
              <a:ext uri="{FF2B5EF4-FFF2-40B4-BE49-F238E27FC236}">
                <a16:creationId xmlns:a16="http://schemas.microsoft.com/office/drawing/2014/main" id="{A121D5EC-0853-4B0A-B758-ED3074949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2946" y="1435410"/>
            <a:ext cx="28924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宋体" pitchFamily="2" charset="-122"/>
                <a:ea typeface="宋体" pitchFamily="2" charset="-122"/>
                <a:sym typeface="Monotype Sorts"/>
              </a:rPr>
              <a:t>1. </a:t>
            </a:r>
            <a:r>
              <a:rPr lang="zh-CN" altLang="zh-CN" sz="2800" b="1" dirty="0">
                <a:solidFill>
                  <a:schemeClr val="accent1"/>
                </a:solidFill>
                <a:latin typeface="Calibri" pitchFamily="34" charset="0"/>
                <a:ea typeface="宋体" pitchFamily="2" charset="-122"/>
              </a:rPr>
              <a:t>轴、套类零件</a:t>
            </a:r>
            <a:endParaRPr lang="zh-CN" altLang="en-US" sz="2800" b="1" dirty="0">
              <a:solidFill>
                <a:schemeClr val="accent1"/>
              </a:solidFill>
              <a:latin typeface="宋体" pitchFamily="2" charset="-122"/>
              <a:ea typeface="宋体" pitchFamily="2" charset="-122"/>
              <a:sym typeface="Monotype Sorts"/>
            </a:endParaRPr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239AFC05-021C-497B-9F0A-1D3A134A3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444" y="925822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65" name="Rectangle 5122">
            <a:extLst>
              <a:ext uri="{FF2B5EF4-FFF2-40B4-BE49-F238E27FC236}">
                <a16:creationId xmlns:a16="http://schemas.microsoft.com/office/drawing/2014/main" id="{0A4BB663-184D-497C-AB63-3153A920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858" y="288232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sp>
        <p:nvSpPr>
          <p:cNvPr id="67" name="AutoShape 29">
            <a:extLst>
              <a:ext uri="{FF2B5EF4-FFF2-40B4-BE49-F238E27FC236}">
                <a16:creationId xmlns:a16="http://schemas.microsoft.com/office/drawing/2014/main" id="{66EAFA53-E5D4-4A7E-9C87-953C05302FE9}"/>
              </a:ext>
            </a:extLst>
          </p:cNvPr>
          <p:cNvSpPr>
            <a:spLocks/>
          </p:cNvSpPr>
          <p:nvPr/>
        </p:nvSpPr>
        <p:spPr bwMode="auto">
          <a:xfrm>
            <a:off x="3922291" y="1952836"/>
            <a:ext cx="166687" cy="747021"/>
          </a:xfrm>
          <a:prstGeom prst="leftBrace">
            <a:avLst>
              <a:gd name="adj1" fmla="val 7438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800"/>
          </a:p>
        </p:txBody>
      </p:sp>
      <p:pic>
        <p:nvPicPr>
          <p:cNvPr id="68" name="Picture 4" descr="10-2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628024" y="3833527"/>
            <a:ext cx="3051175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" name="图片 6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055" y="3606787"/>
            <a:ext cx="6923809" cy="27619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494" y="3182977"/>
            <a:ext cx="6619048" cy="1123810"/>
          </a:xfrm>
          <a:prstGeom prst="rect">
            <a:avLst/>
          </a:prstGeom>
        </p:spPr>
      </p:pic>
      <p:grpSp>
        <p:nvGrpSpPr>
          <p:cNvPr id="13" name="Group 24">
            <a:extLst>
              <a:ext uri="{FF2B5EF4-FFF2-40B4-BE49-F238E27FC236}">
                <a16:creationId xmlns:a16="http://schemas.microsoft.com/office/drawing/2014/main" id="{5E09DA35-C7D1-48B2-923C-C1F1FDD0AEC2}"/>
              </a:ext>
            </a:extLst>
          </p:cNvPr>
          <p:cNvGrpSpPr>
            <a:grpSpLocks/>
          </p:cNvGrpSpPr>
          <p:nvPr/>
        </p:nvGrpSpPr>
        <p:grpSpPr bwMode="auto">
          <a:xfrm>
            <a:off x="5926721" y="2974393"/>
            <a:ext cx="319087" cy="1540978"/>
            <a:chOff x="3192" y="1939"/>
            <a:chExt cx="201" cy="737"/>
          </a:xfrm>
        </p:grpSpPr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EBCD9EFD-7A57-4889-9C31-35C80100D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2608"/>
              <a:ext cx="0" cy="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6">
              <a:extLst>
                <a:ext uri="{FF2B5EF4-FFF2-40B4-BE49-F238E27FC236}">
                  <a16:creationId xmlns:a16="http://schemas.microsoft.com/office/drawing/2014/main" id="{69BF1E19-A5A9-4F0A-844A-DA554B87CC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92" y="1939"/>
              <a:ext cx="0" cy="7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DE863E1C-B031-4B5D-9AAF-558F83849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9" y="1945"/>
              <a:ext cx="19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8">
              <a:extLst>
                <a:ext uri="{FF2B5EF4-FFF2-40B4-BE49-F238E27FC236}">
                  <a16:creationId xmlns:a16="http://schemas.microsoft.com/office/drawing/2014/main" id="{4E748BBC-7B82-4050-A428-72AF3FE24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9" y="2672"/>
              <a:ext cx="193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71" name="图片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166" y="4661546"/>
            <a:ext cx="1133333" cy="1142857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4539" y="2744759"/>
            <a:ext cx="580952" cy="2057143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7317" y="2625282"/>
            <a:ext cx="1533333" cy="1857143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09395" y="2454406"/>
            <a:ext cx="876190" cy="2580952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8555" y="4482425"/>
            <a:ext cx="942857" cy="1380952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60937" y="2701901"/>
            <a:ext cx="742857" cy="2142857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7931" y="4343840"/>
            <a:ext cx="1152381" cy="152381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5110" y="4801902"/>
            <a:ext cx="857143" cy="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9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/>
      <p:bldP spid="6" grpId="0"/>
      <p:bldP spid="7" grpId="0" autoUpdateAnimBg="0"/>
      <p:bldP spid="6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4B2D2CB-D801-4628-A115-BE62ACD3E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198" y="1335113"/>
            <a:ext cx="3973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盘类零件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（如端盖）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49E5E8A-886F-4AA0-83A2-19B144F1C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129" y="1833985"/>
            <a:ext cx="28146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⑴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分析形体、结构</a:t>
            </a:r>
            <a:endParaRPr lang="zh-CN" altLang="en-US" sz="24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0E4A9F65-7370-44F5-8E3E-6D332EFD5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5595" y="4172699"/>
            <a:ext cx="2197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⑵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选择主视图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0420858-A1F8-4049-8030-9559398B8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974" y="5559326"/>
            <a:ext cx="2505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⑶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选择其它视图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CD5146D1-A2D2-4EDC-99EB-22DBC88B2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6098" y="2434268"/>
            <a:ext cx="5849145" cy="1569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2400" dirty="0"/>
              <a:t>形状特征</a:t>
            </a:r>
            <a:r>
              <a:rPr lang="zh-CN" altLang="en-US" sz="2400" dirty="0"/>
              <a:t>：</a:t>
            </a:r>
            <a:r>
              <a:rPr lang="zh-CN" altLang="zh-CN" sz="2400" dirty="0"/>
              <a:t>主体部分由回转体构成，径向尺寸较大，轴向尺寸较小</a:t>
            </a:r>
            <a:r>
              <a:rPr lang="zh-CN" altLang="en-US" sz="2400" dirty="0"/>
              <a:t>，</a:t>
            </a:r>
            <a:r>
              <a:rPr lang="zh-CN" altLang="en-US" sz="2400" dirty="0">
                <a:latin typeface="宋体" panose="02010600030101010101" pitchFamily="2" charset="-122"/>
              </a:rPr>
              <a:t>成盘状</a:t>
            </a:r>
            <a:r>
              <a:rPr lang="zh-CN" altLang="zh-CN" sz="2400" dirty="0"/>
              <a:t>。这类零件至少有一个端面与其他零件接触，沿圆周均匀分布着各种肋、孔、槽等结构。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F260CD2-3627-4045-86AE-7C85A9CA3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6005" y="5136380"/>
            <a:ext cx="4206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通常</a:t>
            </a:r>
            <a:r>
              <a:rPr lang="zh-CN" altLang="zh-CN" sz="2400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将</a:t>
            </a:r>
            <a:r>
              <a:rPr lang="zh-CN" altLang="zh-CN" sz="2400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非圆视图画成剖视图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7CDB7E6-2D25-49C4-978A-B6FD7D4D3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310" y="5998329"/>
            <a:ext cx="63373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用左视图表达孔、槽的分布情况。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584F397-25FE-438C-AB84-40FDA8BB3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5580" y="4660893"/>
            <a:ext cx="6877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安放状态：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符合加工状态，轴线水平放置</a:t>
            </a:r>
            <a:endParaRPr lang="zh-CN" altLang="en-US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5A0ADDF0-2253-46AB-849E-63912F224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5310" y="5137968"/>
            <a:ext cx="35258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投射方向：</a:t>
            </a:r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向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8E5BB41-CBC3-4534-BE67-B23524B5107B}"/>
              </a:ext>
            </a:extLst>
          </p:cNvPr>
          <p:cNvGrpSpPr>
            <a:grpSpLocks/>
          </p:cNvGrpSpPr>
          <p:nvPr/>
        </p:nvGrpSpPr>
        <p:grpSpPr bwMode="auto">
          <a:xfrm rot="-612827">
            <a:off x="10104226" y="4149691"/>
            <a:ext cx="784225" cy="592137"/>
            <a:chOff x="4738" y="3520"/>
            <a:chExt cx="494" cy="373"/>
          </a:xfrm>
        </p:grpSpPr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61278BE1-CA9F-4728-BD73-239796CD46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69517">
              <a:off x="4738" y="3533"/>
              <a:ext cx="141" cy="360"/>
            </a:xfrm>
            <a:prstGeom prst="upArrow">
              <a:avLst>
                <a:gd name="adj1" fmla="val 34176"/>
                <a:gd name="adj2" fmla="val 93783"/>
              </a:avLst>
            </a:pr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90E560DF-4DE0-4996-B680-85577AF43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12827">
              <a:off x="4954" y="3520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</p:grpSp>
      <p:pic>
        <p:nvPicPr>
          <p:cNvPr id="14" name="图片 2">
            <a:extLst>
              <a:ext uri="{FF2B5EF4-FFF2-40B4-BE49-F238E27FC236}">
                <a16:creationId xmlns:a16="http://schemas.microsoft.com/office/drawing/2014/main" id="{9969FFE9-55B7-4563-8B4B-7CBFB56F5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r="44090" b="4959"/>
          <a:stretch>
            <a:fillRect/>
          </a:stretch>
        </p:blipFill>
        <p:spPr bwMode="auto">
          <a:xfrm>
            <a:off x="8035714" y="2036728"/>
            <a:ext cx="1619250" cy="190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3FB2686-2F5B-4809-8C4A-87A529F1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96" t="7468"/>
          <a:stretch>
            <a:fillRect/>
          </a:stretch>
        </p:blipFill>
        <p:spPr bwMode="auto">
          <a:xfrm>
            <a:off x="9762914" y="2036728"/>
            <a:ext cx="1071562" cy="204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7C3ACBF5-69E3-4DDB-9847-44BF6E77D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198" y="829493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17" name="Rectangle 5122">
            <a:extLst>
              <a:ext uri="{FF2B5EF4-FFF2-40B4-BE49-F238E27FC236}">
                <a16:creationId xmlns:a16="http://schemas.microsoft.com/office/drawing/2014/main" id="{F03F9FB3-9900-49B1-B110-E0885EB92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455" y="214337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229005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nimBg="1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A71D77-F7F3-4E20-9F94-24B678716196}"/>
              </a:ext>
            </a:extLst>
          </p:cNvPr>
          <p:cNvGrpSpPr>
            <a:grpSpLocks/>
          </p:cNvGrpSpPr>
          <p:nvPr/>
        </p:nvGrpSpPr>
        <p:grpSpPr bwMode="auto">
          <a:xfrm>
            <a:off x="10413459" y="5647332"/>
            <a:ext cx="571500" cy="652463"/>
            <a:chOff x="4850" y="3479"/>
            <a:chExt cx="360" cy="411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6F08F036-52BD-4C09-80D6-9D3E3FDDDF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69517">
              <a:off x="4850" y="3530"/>
              <a:ext cx="141" cy="360"/>
            </a:xfrm>
            <a:prstGeom prst="upArrow">
              <a:avLst>
                <a:gd name="adj1" fmla="val 34176"/>
                <a:gd name="adj2" fmla="val 93783"/>
              </a:avLst>
            </a:pr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F20EA12F-FE61-4DB9-8741-D8E37A3A9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" y="3479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  <a:endParaRPr lang="en-US" altLang="zh-CN" sz="240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5" name="图片 146">
            <a:extLst>
              <a:ext uri="{FF2B5EF4-FFF2-40B4-BE49-F238E27FC236}">
                <a16:creationId xmlns:a16="http://schemas.microsoft.com/office/drawing/2014/main" id="{61C717B4-D095-495E-A900-43FE71DD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r="44090" b="4959"/>
          <a:stretch>
            <a:fillRect/>
          </a:stretch>
        </p:blipFill>
        <p:spPr bwMode="auto">
          <a:xfrm>
            <a:off x="8368759" y="2669182"/>
            <a:ext cx="2528887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5F0ECA59-A063-4FC3-A030-E9B1B9D9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456" y="1498830"/>
            <a:ext cx="397351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盘类零件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（如端盖）</a:t>
            </a: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75562D9-FB9D-46DA-B595-30EB21A28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792" y="2034946"/>
            <a:ext cx="26597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端盖视图表达方案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18F885D-AC8D-4B51-B22E-3B2EE0724F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676"/>
          <a:stretch/>
        </p:blipFill>
        <p:spPr bwMode="auto">
          <a:xfrm>
            <a:off x="3899755" y="2669182"/>
            <a:ext cx="361671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8C89C0B-E7EA-4368-93F2-B0DD3CEA4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444" y="893168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10" name="Rectangle 5122">
            <a:extLst>
              <a:ext uri="{FF2B5EF4-FFF2-40B4-BE49-F238E27FC236}">
                <a16:creationId xmlns:a16="http://schemas.microsoft.com/office/drawing/2014/main" id="{E6FEF58A-4E93-432A-B71E-1D833E172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4382" y="239577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8F885D-AC8D-4B51-B22E-3B2EE0724F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4182"/>
          <a:stretch/>
        </p:blipFill>
        <p:spPr bwMode="auto">
          <a:xfrm>
            <a:off x="1624430" y="2669306"/>
            <a:ext cx="1386961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6532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908563-19D7-4289-AF83-6EBA9781966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81201" y="635338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零件图视图的选择的方法和步骤，正确的是：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74BC36-EF25-4150-A39F-DFAF9D8BF8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179676" y="2786401"/>
            <a:ext cx="7604125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分析零件，包括几何形体和结构、功用、加工方法。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FF0E8ED-DBB2-4E2A-984E-54E72FF24FC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179676" y="3643651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选择主视图，包括安放位置、投射方向。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D35E6D-3AA3-46DA-8116-2AB5DB8E228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179676" y="4500901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选择其他视图。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0E1C1F-771F-45D4-ABA2-7070F1AC234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79676" y="5358151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其他视图可以随意选择。</a:t>
            </a: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243E2BBA-3EC0-405B-9E41-984B6403477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465301" y="2849901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A4889D43-4CD9-4CAD-AF9F-20D0ABC069D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465301" y="3707151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9" name="矩形 9">
            <a:extLst>
              <a:ext uri="{FF2B5EF4-FFF2-40B4-BE49-F238E27FC236}">
                <a16:creationId xmlns:a16="http://schemas.microsoft.com/office/drawing/2014/main" id="{2762DF1F-A7A7-49A6-9C79-47425742ED0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465301" y="4564401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CB32E6F5-2636-4A49-BFA7-F1E6552D537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465301" y="5421651"/>
            <a:ext cx="514350" cy="514350"/>
          </a:xfrm>
          <a:prstGeom prst="rect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1" name="圆角矩形 11">
            <a:extLst>
              <a:ext uri="{FF2B5EF4-FFF2-40B4-BE49-F238E27FC236}">
                <a16:creationId xmlns:a16="http://schemas.microsoft.com/office/drawing/2014/main" id="{2034CFB7-0599-44F9-BFE4-8D94FF5FC595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939001" y="6215401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12" name="组合 16">
            <a:extLst>
              <a:ext uri="{FF2B5EF4-FFF2-40B4-BE49-F238E27FC236}">
                <a16:creationId xmlns:a16="http://schemas.microsoft.com/office/drawing/2014/main" id="{5C4728D0-3C28-4B4E-8551-CCE5C8FB52C9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766801" y="-338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752B52C-8064-4725-BD28-4E621196AC15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766801" y="-338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1BA7A4A-2934-46B1-BE74-954FB69C6150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766801" y="-338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E2378BD-B125-4C36-B377-D1016F27875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512801" y="-338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C4C0190D-656F-4D29-894B-468AC0B5D74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240896" y="108882"/>
              <a:ext cx="2286000" cy="508000"/>
            </a:xfrm>
            <a:prstGeom prst="rect">
              <a:avLst/>
            </a:prstGeom>
          </p:spPr>
          <p:txBody>
            <a:bodyPr vert="horz" wrap="none" anchor="ctr" anchorCtr="0">
              <a:no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7" name="图片 1">
            <a:extLst>
              <a:ext uri="{FF2B5EF4-FFF2-40B4-BE49-F238E27FC236}">
                <a16:creationId xmlns:a16="http://schemas.microsoft.com/office/drawing/2014/main" id="{5D04C6FC-D4AA-4528-A013-1A59B776321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9547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529543C1-5F70-4040-9A83-3AE0AAE66F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83048" y="2526803"/>
            <a:ext cx="3106738" cy="313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FD6AF29D-0095-4578-8F3F-42627E30C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337" y="1941087"/>
            <a:ext cx="18875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⑴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分析零件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B04563B-02D1-420D-B099-742DE43CC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440" y="2418897"/>
            <a:ext cx="4899024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功用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：流体开关装置球阀中的主体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件，用于盛装 阀芯及密封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件等。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A96B04E-5739-4495-9096-5265B5173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440" y="4691322"/>
            <a:ext cx="48990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结构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：圆柱筒与圆柱体相交，内孔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相通，圆柱壳体与圆柱管接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头同轴相贯。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7631801-6958-49E6-96F0-65A67743C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440" y="3696780"/>
            <a:ext cx="5068888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形体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：圆柱形壳体、圆柱筒、方板、</a:t>
            </a:r>
            <a:endParaRPr lang="en-US" altLang="zh-CN" sz="2400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      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管接头等。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6E270D6-D29B-4C13-929E-A6B958C53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08" y="1464864"/>
            <a:ext cx="579435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3.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箱体类零件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阀体</a:t>
            </a:r>
          </a:p>
        </p:txBody>
      </p:sp>
      <p:grpSp>
        <p:nvGrpSpPr>
          <p:cNvPr id="8" name="Group 10">
            <a:extLst>
              <a:ext uri="{FF2B5EF4-FFF2-40B4-BE49-F238E27FC236}">
                <a16:creationId xmlns:a16="http://schemas.microsoft.com/office/drawing/2014/main" id="{E55996BA-017F-4AB2-9305-995DA05FFB04}"/>
              </a:ext>
            </a:extLst>
          </p:cNvPr>
          <p:cNvGrpSpPr>
            <a:grpSpLocks/>
          </p:cNvGrpSpPr>
          <p:nvPr/>
        </p:nvGrpSpPr>
        <p:grpSpPr bwMode="auto">
          <a:xfrm>
            <a:off x="8403848" y="5454153"/>
            <a:ext cx="1422400" cy="604837"/>
            <a:chOff x="4188" y="2580"/>
            <a:chExt cx="896" cy="381"/>
          </a:xfrm>
        </p:grpSpPr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1EAD41AE-41FD-4493-81D1-464E10984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" y="2670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方板</a:t>
              </a:r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DB6318C-EB99-4D84-8FAD-FE70D26D7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88" y="2580"/>
              <a:ext cx="480" cy="14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3">
            <a:extLst>
              <a:ext uri="{FF2B5EF4-FFF2-40B4-BE49-F238E27FC236}">
                <a16:creationId xmlns:a16="http://schemas.microsoft.com/office/drawing/2014/main" id="{5D2F9474-4BBB-47DD-9AD2-027EBDC74DE4}"/>
              </a:ext>
            </a:extLst>
          </p:cNvPr>
          <p:cNvGrpSpPr>
            <a:grpSpLocks/>
          </p:cNvGrpSpPr>
          <p:nvPr/>
        </p:nvGrpSpPr>
        <p:grpSpPr bwMode="auto">
          <a:xfrm>
            <a:off x="9272211" y="4695328"/>
            <a:ext cx="1457325" cy="735012"/>
            <a:chOff x="4548" y="2040"/>
            <a:chExt cx="918" cy="463"/>
          </a:xfrm>
        </p:grpSpPr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304BA940-EA1D-4B77-A234-6A527481F2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0" y="2212"/>
              <a:ext cx="8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圆柱壳体</a:t>
              </a:r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D79FB67E-608A-449B-B2C0-02EBB64C8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48" y="2040"/>
              <a:ext cx="300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6">
            <a:extLst>
              <a:ext uri="{FF2B5EF4-FFF2-40B4-BE49-F238E27FC236}">
                <a16:creationId xmlns:a16="http://schemas.microsoft.com/office/drawing/2014/main" id="{F3A7006E-A777-4AF0-A355-8FDD1BB46DF3}"/>
              </a:ext>
            </a:extLst>
          </p:cNvPr>
          <p:cNvGrpSpPr>
            <a:grpSpLocks/>
          </p:cNvGrpSpPr>
          <p:nvPr/>
        </p:nvGrpSpPr>
        <p:grpSpPr bwMode="auto">
          <a:xfrm>
            <a:off x="8689598" y="1936253"/>
            <a:ext cx="1420813" cy="774700"/>
            <a:chOff x="4368" y="364"/>
            <a:chExt cx="895" cy="488"/>
          </a:xfrm>
        </p:grpSpPr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C8745F94-9625-4846-8BC2-F40C9B778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2" y="364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圆柱筒</a:t>
              </a:r>
              <a:endParaRPr lang="zh-CN" altLang="en-US" sz="2400" b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98173074-28BE-40E8-80C7-92782533CD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552"/>
              <a:ext cx="240" cy="3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19">
            <a:extLst>
              <a:ext uri="{FF2B5EF4-FFF2-40B4-BE49-F238E27FC236}">
                <a16:creationId xmlns:a16="http://schemas.microsoft.com/office/drawing/2014/main" id="{D94A3D3D-4C6A-4D45-BF26-74709A051442}"/>
              </a:ext>
            </a:extLst>
          </p:cNvPr>
          <p:cNvGrpSpPr>
            <a:grpSpLocks/>
          </p:cNvGrpSpPr>
          <p:nvPr/>
        </p:nvGrpSpPr>
        <p:grpSpPr bwMode="auto">
          <a:xfrm>
            <a:off x="9800848" y="2526803"/>
            <a:ext cx="1112838" cy="869950"/>
            <a:chOff x="4562" y="736"/>
            <a:chExt cx="701" cy="548"/>
          </a:xfrm>
        </p:grpSpPr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5A28C33A-FADF-4BAD-AB92-6F8553E24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2" y="736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管接头</a:t>
              </a:r>
              <a:endParaRPr lang="zh-CN" altLang="en-US" sz="2400" b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9E3F4212-A20D-4B0B-B5CC-DDBE67188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2" y="1032"/>
              <a:ext cx="60" cy="25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67BF9869-55A1-4155-A466-C9D81D2CE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428" y="955303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21" name="Rectangle 5122">
            <a:extLst>
              <a:ext uri="{FF2B5EF4-FFF2-40B4-BE49-F238E27FC236}">
                <a16:creationId xmlns:a16="http://schemas.microsoft.com/office/drawing/2014/main" id="{D66B224E-2819-45D9-B460-064470FCD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131" y="319509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417803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505FF7D-6415-43E4-A21F-F7AAD3DEE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1854126"/>
            <a:ext cx="35750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⑵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选择主视图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C17EABB-DF28-4847-9C0E-FBFDC86A2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2943" y="1311850"/>
            <a:ext cx="2969521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●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零件的安放状态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14CD7DC-77B3-4BA5-BA07-4F93DC884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548" y="1748412"/>
            <a:ext cx="2805384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阀体的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工作状态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ACC6BF2-D8EA-4B82-8C08-745C36808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6374" y="2195480"/>
            <a:ext cx="2462039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●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投射方向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181609DE-EDC5-4D17-A06C-C29738095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622" y="2624411"/>
            <a:ext cx="5460973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solidFill>
                  <a:srgbClr val="FF3300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2400" dirty="0">
                <a:solidFill>
                  <a:srgbClr val="FF3300"/>
                </a:solidFill>
                <a:latin typeface="宋体" panose="02010600030101010101" pitchFamily="2" charset="-122"/>
              </a:rPr>
              <a:t>向</a:t>
            </a:r>
            <a:r>
              <a:rPr lang="zh-CN" altLang="en-US" sz="2400" dirty="0">
                <a:latin typeface="宋体" panose="02010600030101010101" pitchFamily="2" charset="-122"/>
              </a:rPr>
              <a:t> 全剖的主视图表达了阀体的内部形状特征，各组成部分的相对位置等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0D6270-5F32-4F6B-96DB-EF8E65726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394" b="45403"/>
          <a:stretch>
            <a:fillRect/>
          </a:stretch>
        </p:blipFill>
        <p:spPr bwMode="auto">
          <a:xfrm>
            <a:off x="1950628" y="2410342"/>
            <a:ext cx="2971800" cy="328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">
            <a:extLst>
              <a:ext uri="{FF2B5EF4-FFF2-40B4-BE49-F238E27FC236}">
                <a16:creationId xmlns:a16="http://schemas.microsoft.com/office/drawing/2014/main" id="{7F17DA24-7244-4CF0-A1A1-381DAC36C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965" y="1374700"/>
            <a:ext cx="44497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3.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箱体类零件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阀体</a:t>
            </a:r>
          </a:p>
        </p:txBody>
      </p:sp>
      <p:sp>
        <p:nvSpPr>
          <p:cNvPr id="9" name="Text Box 155">
            <a:extLst>
              <a:ext uri="{FF2B5EF4-FFF2-40B4-BE49-F238E27FC236}">
                <a16:creationId xmlns:a16="http://schemas.microsoft.com/office/drawing/2014/main" id="{3A31027F-588E-46DF-9238-98B8DE2B1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4578" y="5693292"/>
            <a:ext cx="12604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主视图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790918-736B-4BE1-9EF0-A0201A08DE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71728" y="3825044"/>
            <a:ext cx="2413000" cy="243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138878F-33F7-4666-9F13-CDFA75D4C5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27752" y="3825044"/>
            <a:ext cx="2336800" cy="226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77312FB-7EE2-4FF7-95F1-7EFCCAE5E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460" y="818137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13" name="Rectangle 5122">
            <a:extLst>
              <a:ext uri="{FF2B5EF4-FFF2-40B4-BE49-F238E27FC236}">
                <a16:creationId xmlns:a16="http://schemas.microsoft.com/office/drawing/2014/main" id="{9D48D488-BC3C-437E-9A04-FCD79C71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615" y="219000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082135EC-F9FF-42DE-8087-D3B6D7FEBB6D}"/>
              </a:ext>
            </a:extLst>
          </p:cNvPr>
          <p:cNvGrpSpPr>
            <a:grpSpLocks/>
          </p:cNvGrpSpPr>
          <p:nvPr/>
        </p:nvGrpSpPr>
        <p:grpSpPr bwMode="auto">
          <a:xfrm>
            <a:off x="7983220" y="5886174"/>
            <a:ext cx="744538" cy="519113"/>
            <a:chOff x="4741" y="3479"/>
            <a:chExt cx="469" cy="327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7A95AF69-B8CB-45B5-AB02-762EB98F61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596809">
              <a:off x="4850" y="3530"/>
              <a:ext cx="141" cy="360"/>
            </a:xfrm>
            <a:prstGeom prst="upArrow">
              <a:avLst>
                <a:gd name="adj1" fmla="val 34176"/>
                <a:gd name="adj2" fmla="val 93783"/>
              </a:avLst>
            </a:pr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 Box 4">
              <a:extLst>
                <a:ext uri="{FF2B5EF4-FFF2-40B4-BE49-F238E27FC236}">
                  <a16:creationId xmlns:a16="http://schemas.microsoft.com/office/drawing/2014/main" id="{2C491976-1ECB-41F3-8739-F59E19C85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" y="3479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  <a:endParaRPr lang="en-US" altLang="zh-CN" sz="240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18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nimBg="1" autoUpdateAnimBg="0"/>
      <p:bldP spid="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8560CECE-307E-4022-862D-3ED498E0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383" b="46411"/>
          <a:stretch>
            <a:fillRect/>
          </a:stretch>
        </p:blipFill>
        <p:spPr bwMode="auto">
          <a:xfrm>
            <a:off x="5375920" y="1616571"/>
            <a:ext cx="2406650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08">
            <a:extLst>
              <a:ext uri="{FF2B5EF4-FFF2-40B4-BE49-F238E27FC236}">
                <a16:creationId xmlns:a16="http://schemas.microsoft.com/office/drawing/2014/main" id="{F6BF8E77-597E-4840-8FC4-5DBB6F80BE83}"/>
              </a:ext>
            </a:extLst>
          </p:cNvPr>
          <p:cNvGrpSpPr>
            <a:grpSpLocks/>
          </p:cNvGrpSpPr>
          <p:nvPr/>
        </p:nvGrpSpPr>
        <p:grpSpPr bwMode="auto">
          <a:xfrm>
            <a:off x="6174433" y="1243508"/>
            <a:ext cx="277812" cy="3117850"/>
            <a:chOff x="3067" y="500"/>
            <a:chExt cx="175" cy="19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800015-366F-4B5C-AD10-D03512DF2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4" y="2234"/>
              <a:ext cx="98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>
                  <a:solidFill>
                    <a:srgbClr val="FF3300"/>
                  </a:solidFill>
                  <a:latin typeface="宋体" pitchFamily="2" charset="-122"/>
                  <a:ea typeface="宋体" pitchFamily="2" charset="-122"/>
                </a:rPr>
                <a:t>B</a:t>
              </a:r>
              <a:endParaRPr lang="en-US" altLang="zh-CN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B85C3E-2163-4EB1-9606-EBFF655FB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2323"/>
              <a:ext cx="11" cy="104"/>
            </a:xfrm>
            <a:prstGeom prst="rect">
              <a:avLst/>
            </a:prstGeom>
            <a:solidFill>
              <a:schemeClr val="tx1"/>
            </a:solidFill>
            <a:ln w="38100">
              <a:solidFill>
                <a:srgbClr val="FF33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grpSp>
          <p:nvGrpSpPr>
            <p:cNvPr id="6" name="Group 307">
              <a:extLst>
                <a:ext uri="{FF2B5EF4-FFF2-40B4-BE49-F238E27FC236}">
                  <a16:creationId xmlns:a16="http://schemas.microsoft.com/office/drawing/2014/main" id="{76FEEAB5-9EF9-41E6-8608-8239E3B755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7" y="500"/>
              <a:ext cx="175" cy="230"/>
              <a:chOff x="3067" y="500"/>
              <a:chExt cx="175" cy="230"/>
            </a:xfrm>
          </p:grpSpPr>
          <p:sp>
            <p:nvSpPr>
              <p:cNvPr id="7" name="Freeform 5">
                <a:extLst>
                  <a:ext uri="{FF2B5EF4-FFF2-40B4-BE49-F238E27FC236}">
                    <a16:creationId xmlns:a16="http://schemas.microsoft.com/office/drawing/2014/main" id="{4FF12FB8-95DC-4557-8AF0-ABDE2E96C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7" y="603"/>
                <a:ext cx="11" cy="100"/>
              </a:xfrm>
              <a:custGeom>
                <a:avLst/>
                <a:gdLst>
                  <a:gd name="T0" fmla="*/ 0 w 29"/>
                  <a:gd name="T1" fmla="*/ 0 h 244"/>
                  <a:gd name="T2" fmla="*/ 0 w 29"/>
                  <a:gd name="T3" fmla="*/ 0 h 244"/>
                  <a:gd name="T4" fmla="*/ 0 w 29"/>
                  <a:gd name="T5" fmla="*/ 0 h 244"/>
                  <a:gd name="T6" fmla="*/ 0 w 29"/>
                  <a:gd name="T7" fmla="*/ 0 h 2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244"/>
                  <a:gd name="T14" fmla="*/ 29 w 29"/>
                  <a:gd name="T15" fmla="*/ 244 h 2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244">
                    <a:moveTo>
                      <a:pt x="0" y="244"/>
                    </a:moveTo>
                    <a:lnTo>
                      <a:pt x="29" y="244"/>
                    </a:lnTo>
                    <a:lnTo>
                      <a:pt x="0" y="0"/>
                    </a:lnTo>
                    <a:lnTo>
                      <a:pt x="0" y="2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9CE0CF9D-F849-4902-89A1-4A412F6C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4" y="500"/>
                <a:ext cx="98" cy="2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B</a:t>
                </a:r>
                <a:endParaRPr lang="en-US" altLang="zh-CN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F680991E-E55B-460A-BA0E-FBB029293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67" y="579"/>
                <a:ext cx="11" cy="100"/>
              </a:xfrm>
              <a:prstGeom prst="rect">
                <a:avLst/>
              </a:prstGeom>
              <a:solidFill>
                <a:schemeClr val="tx1"/>
              </a:solidFill>
              <a:ln w="3810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0" name="Rectangle 157">
            <a:extLst>
              <a:ext uri="{FF2B5EF4-FFF2-40B4-BE49-F238E27FC236}">
                <a16:creationId xmlns:a16="http://schemas.microsoft.com/office/drawing/2014/main" id="{E4D7592F-B792-4B69-8786-6C33469F5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0376" y="1267816"/>
            <a:ext cx="4667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B-B</a:t>
            </a:r>
            <a:endParaRPr lang="en-US" altLang="zh-CN" sz="2400" b="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1" name="Rectangle 303">
            <a:extLst>
              <a:ext uri="{FF2B5EF4-FFF2-40B4-BE49-F238E27FC236}">
                <a16:creationId xmlns:a16="http://schemas.microsoft.com/office/drawing/2014/main" id="{D5422521-95DE-4560-9E4C-4E1F6B7D0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64" y="1885136"/>
            <a:ext cx="2438400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itchFamily="18" charset="0"/>
                <a:ea typeface="宋体" pitchFamily="2" charset="-122"/>
                <a:sym typeface="Monotype Sorts"/>
              </a:rPr>
              <a:t>⑶ </a:t>
            </a:r>
            <a:r>
              <a:rPr lang="zh-CN" altLang="en-US" sz="2800" b="1" dirty="0">
                <a:latin typeface="Times New Roman" pitchFamily="18" charset="0"/>
                <a:ea typeface="宋体" pitchFamily="2" charset="-122"/>
                <a:sym typeface="Monotype Sorts"/>
              </a:rPr>
              <a:t>选其它视图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F6595ED4-E207-4882-BBB7-C2D9ABDEC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977" y="1315739"/>
            <a:ext cx="534987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3.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箱体类零件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阀体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7B04AD-4B47-46D0-A33D-55D1541BC1DF}"/>
              </a:ext>
            </a:extLst>
          </p:cNvPr>
          <p:cNvSpPr/>
          <p:nvPr/>
        </p:nvSpPr>
        <p:spPr>
          <a:xfrm>
            <a:off x="1451484" y="2545258"/>
            <a:ext cx="2944191" cy="142192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选半剖的左视图，表达阀体主体部分的外形特征、左侧方形板形状及内孔的结构等。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CD074A-1155-42FD-8FC1-B70C09545687}"/>
              </a:ext>
            </a:extLst>
          </p:cNvPr>
          <p:cNvSpPr/>
          <p:nvPr/>
        </p:nvSpPr>
        <p:spPr>
          <a:xfrm>
            <a:off x="1451484" y="4453433"/>
            <a:ext cx="2944191" cy="1421928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选择俯视图表达阀体整体形状特征及顶部结构形状；</a:t>
            </a:r>
            <a:endParaRPr lang="en-US" altLang="zh-CN" sz="24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ea"/>
                <a:ea typeface="+mn-ea"/>
              </a:rPr>
              <a:t>内螺纹孔结构</a:t>
            </a:r>
          </a:p>
        </p:txBody>
      </p:sp>
      <p:pic>
        <p:nvPicPr>
          <p:cNvPr id="15" name="图片 315">
            <a:extLst>
              <a:ext uri="{FF2B5EF4-FFF2-40B4-BE49-F238E27FC236}">
                <a16:creationId xmlns:a16="http://schemas.microsoft.com/office/drawing/2014/main" id="{05161A1B-E68D-4EF2-8C9B-E1917D48FA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068" r="53383"/>
          <a:stretch>
            <a:fillRect/>
          </a:stretch>
        </p:blipFill>
        <p:spPr bwMode="auto">
          <a:xfrm>
            <a:off x="5375920" y="4453433"/>
            <a:ext cx="24066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F168328-B1B0-40D8-9D2D-DA493023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37613" y="4293096"/>
            <a:ext cx="2157412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6F42C2DF-B573-4505-A331-67E248FD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589" y="708520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18" name="Rectangle 5122">
            <a:extLst>
              <a:ext uri="{FF2B5EF4-FFF2-40B4-BE49-F238E27FC236}">
                <a16:creationId xmlns:a16="http://schemas.microsoft.com/office/drawing/2014/main" id="{1E072DBB-A2FB-493B-BDE5-9ECBDA33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8227" y="176708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9003C7C5-C46C-43F7-B564-911DA08D3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612" y="1649964"/>
            <a:ext cx="2157413" cy="2597037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 bwMode="auto">
          <a:xfrm>
            <a:off x="5375920" y="4361358"/>
            <a:ext cx="1049932" cy="795834"/>
          </a:xfrm>
          <a:prstGeom prst="ellipse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3600" dirty="0">
              <a:solidFill>
                <a:schemeClr val="tx2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477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3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584A5EB-F3B2-4F90-8F4F-3F8AB67F1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1223" y="2074900"/>
            <a:ext cx="29432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1DFEA26B-20D3-41A8-8B63-64A5C3882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022" y="2275481"/>
            <a:ext cx="18875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⑴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分析零件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9AB8EBC-1754-4FB3-8565-282BDB9D4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0628" y="2908658"/>
            <a:ext cx="8032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功用</a:t>
            </a:r>
            <a:endParaRPr lang="zh-CN" altLang="en-US" sz="240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DEA3540-1503-4528-AB5C-45F070443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16" y="4413287"/>
            <a:ext cx="984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结构</a:t>
            </a:r>
            <a:endParaRPr lang="zh-CN" altLang="en-US" sz="240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234EC425-E7F3-48C9-AC2F-0537EBF21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853" y="3589695"/>
            <a:ext cx="973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形体</a:t>
            </a:r>
            <a:endParaRPr lang="zh-CN" altLang="en-US" sz="240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553EB5CC-19D1-4E87-8521-FDBD898FB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2941" y="5337212"/>
            <a:ext cx="3822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支撑板两侧面与圆柱桶表面相切等。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52B6551B-4056-4894-95EF-870421A6E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8725" y="1602619"/>
            <a:ext cx="46783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4.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</a:t>
            </a:r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8C08525F-572F-4C31-B00B-2D2BA2E75A6E}"/>
              </a:ext>
            </a:extLst>
          </p:cNvPr>
          <p:cNvGrpSpPr>
            <a:grpSpLocks/>
          </p:cNvGrpSpPr>
          <p:nvPr/>
        </p:nvGrpSpPr>
        <p:grpSpPr bwMode="auto">
          <a:xfrm>
            <a:off x="6861473" y="2203487"/>
            <a:ext cx="1281112" cy="1139825"/>
            <a:chOff x="4523" y="1263"/>
            <a:chExt cx="807" cy="718"/>
          </a:xfrm>
        </p:grpSpPr>
        <p:sp>
          <p:nvSpPr>
            <p:cNvPr id="10" name="Text Box 23">
              <a:extLst>
                <a:ext uri="{FF2B5EF4-FFF2-40B4-BE49-F238E27FC236}">
                  <a16:creationId xmlns:a16="http://schemas.microsoft.com/office/drawing/2014/main" id="{41D4FAAA-37C5-4382-8A1B-31FB8C997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3" y="1263"/>
              <a:ext cx="6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支撑板</a:t>
              </a:r>
            </a:p>
          </p:txBody>
        </p:sp>
        <p:sp>
          <p:nvSpPr>
            <p:cNvPr id="11" name="Line 24">
              <a:extLst>
                <a:ext uri="{FF2B5EF4-FFF2-40B4-BE49-F238E27FC236}">
                  <a16:creationId xmlns:a16="http://schemas.microsoft.com/office/drawing/2014/main" id="{DF67C490-21A1-412D-96A7-13DB946E37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47" y="1545"/>
              <a:ext cx="183" cy="4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E099C297-7DED-4FFD-AE56-DA926A66F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2" y="1548"/>
              <a:ext cx="51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26">
            <a:extLst>
              <a:ext uri="{FF2B5EF4-FFF2-40B4-BE49-F238E27FC236}">
                <a16:creationId xmlns:a16="http://schemas.microsoft.com/office/drawing/2014/main" id="{13BDC231-914F-4CDE-A68A-BC84DCE32022}"/>
              </a:ext>
            </a:extLst>
          </p:cNvPr>
          <p:cNvGrpSpPr>
            <a:grpSpLocks/>
          </p:cNvGrpSpPr>
          <p:nvPr/>
        </p:nvGrpSpPr>
        <p:grpSpPr bwMode="auto">
          <a:xfrm>
            <a:off x="9082385" y="2700375"/>
            <a:ext cx="1592263" cy="1003300"/>
            <a:chOff x="4117" y="1638"/>
            <a:chExt cx="1090" cy="533"/>
          </a:xfrm>
        </p:grpSpPr>
        <p:sp>
          <p:nvSpPr>
            <p:cNvPr id="14" name="Text Box 27">
              <a:extLst>
                <a:ext uri="{FF2B5EF4-FFF2-40B4-BE49-F238E27FC236}">
                  <a16:creationId xmlns:a16="http://schemas.microsoft.com/office/drawing/2014/main" id="{AF3AC94B-57A2-4493-A87D-FDFE65F49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7" y="1638"/>
              <a:ext cx="550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肋板</a:t>
              </a:r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28997B75-B083-484A-97DF-6153999C4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8" y="1889"/>
              <a:ext cx="45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AA4E115E-C632-4E73-B1CC-EA5357FAF3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17" y="1884"/>
              <a:ext cx="587" cy="28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30">
            <a:extLst>
              <a:ext uri="{FF2B5EF4-FFF2-40B4-BE49-F238E27FC236}">
                <a16:creationId xmlns:a16="http://schemas.microsoft.com/office/drawing/2014/main" id="{38C211FE-6C35-48E9-BA92-1E643B98D457}"/>
              </a:ext>
            </a:extLst>
          </p:cNvPr>
          <p:cNvGrpSpPr>
            <a:grpSpLocks/>
          </p:cNvGrpSpPr>
          <p:nvPr/>
        </p:nvGrpSpPr>
        <p:grpSpPr bwMode="auto">
          <a:xfrm>
            <a:off x="9407823" y="1887575"/>
            <a:ext cx="1304925" cy="965200"/>
            <a:chOff x="4236" y="848"/>
            <a:chExt cx="1103" cy="808"/>
          </a:xfrm>
        </p:grpSpPr>
        <p:sp>
          <p:nvSpPr>
            <p:cNvPr id="18" name="Text Box 31">
              <a:extLst>
                <a:ext uri="{FF2B5EF4-FFF2-40B4-BE49-F238E27FC236}">
                  <a16:creationId xmlns:a16="http://schemas.microsoft.com/office/drawing/2014/main" id="{E036FD8A-F361-420C-881C-2C2354F744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848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圆柱桶</a:t>
              </a:r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1AEC192F-3F98-4B94-A176-8A88BD441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6" y="1152"/>
              <a:ext cx="372" cy="50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33">
              <a:extLst>
                <a:ext uri="{FF2B5EF4-FFF2-40B4-BE49-F238E27FC236}">
                  <a16:creationId xmlns:a16="http://schemas.microsoft.com/office/drawing/2014/main" id="{E0F518D2-3ED0-48DB-AF5B-C3C5C412F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164"/>
              <a:ext cx="73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A55DA91B-73BD-458C-BD9D-69AA2358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0228" y="2908858"/>
            <a:ext cx="4606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在轴上滑动并拨动其他零件。</a:t>
            </a:r>
            <a:endParaRPr lang="zh-CN" altLang="en-US" sz="2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5A06CB-0131-48D7-8EB4-66C444BAB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253" y="3569258"/>
            <a:ext cx="3895725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由两个相交的圆柱筒、支撑板、肋板、支撑架组成。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8EFD94-AED2-45C2-B8F3-D025CFE19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328" y="4403762"/>
            <a:ext cx="399415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五部分主要形体的相对位置及表面连接关系。</a:t>
            </a:r>
          </a:p>
        </p:txBody>
      </p:sp>
      <p:grpSp>
        <p:nvGrpSpPr>
          <p:cNvPr id="24" name="Group 30">
            <a:extLst>
              <a:ext uri="{FF2B5EF4-FFF2-40B4-BE49-F238E27FC236}">
                <a16:creationId xmlns:a16="http://schemas.microsoft.com/office/drawing/2014/main" id="{38EF65C4-054B-4BF7-9872-BA83A9F84888}"/>
              </a:ext>
            </a:extLst>
          </p:cNvPr>
          <p:cNvGrpSpPr>
            <a:grpSpLocks/>
          </p:cNvGrpSpPr>
          <p:nvPr/>
        </p:nvGrpSpPr>
        <p:grpSpPr bwMode="auto">
          <a:xfrm>
            <a:off x="7626648" y="1498637"/>
            <a:ext cx="973137" cy="984250"/>
            <a:chOff x="4598" y="848"/>
            <a:chExt cx="821" cy="824"/>
          </a:xfrm>
        </p:grpSpPr>
        <p:sp>
          <p:nvSpPr>
            <p:cNvPr id="25" name="Text Box 31">
              <a:extLst>
                <a:ext uri="{FF2B5EF4-FFF2-40B4-BE49-F238E27FC236}">
                  <a16:creationId xmlns:a16="http://schemas.microsoft.com/office/drawing/2014/main" id="{E0E47697-879F-4DE7-B7EB-8225C9D3AC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" y="848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圆柱桶</a:t>
              </a:r>
            </a:p>
          </p:txBody>
        </p:sp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81D632FB-6968-44E0-80BC-516B0CB67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39" y="1164"/>
              <a:ext cx="80" cy="50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EBB617D6-F207-4C6D-A49D-EA7BCEDBD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164"/>
              <a:ext cx="73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22">
            <a:extLst>
              <a:ext uri="{FF2B5EF4-FFF2-40B4-BE49-F238E27FC236}">
                <a16:creationId xmlns:a16="http://schemas.microsoft.com/office/drawing/2014/main" id="{7093069D-DED9-415D-A8B8-DB73BABBAF51}"/>
              </a:ext>
            </a:extLst>
          </p:cNvPr>
          <p:cNvGrpSpPr>
            <a:grpSpLocks/>
          </p:cNvGrpSpPr>
          <p:nvPr/>
        </p:nvGrpSpPr>
        <p:grpSpPr bwMode="auto">
          <a:xfrm>
            <a:off x="8599785" y="5226087"/>
            <a:ext cx="1576388" cy="954088"/>
            <a:chOff x="4230" y="952"/>
            <a:chExt cx="993" cy="601"/>
          </a:xfrm>
        </p:grpSpPr>
        <p:sp>
          <p:nvSpPr>
            <p:cNvPr id="29" name="Text Box 23">
              <a:extLst>
                <a:ext uri="{FF2B5EF4-FFF2-40B4-BE49-F238E27FC236}">
                  <a16:creationId xmlns:a16="http://schemas.microsoft.com/office/drawing/2014/main" id="{0D81CF1E-E841-4C54-BC07-274B3C2F56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2" y="1262"/>
              <a:ext cx="70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支撑架</a:t>
              </a:r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8E20D43D-E144-4E3C-AB6A-8FB0CAC06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0" y="952"/>
              <a:ext cx="411" cy="59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5">
              <a:extLst>
                <a:ext uri="{FF2B5EF4-FFF2-40B4-BE49-F238E27FC236}">
                  <a16:creationId xmlns:a16="http://schemas.microsoft.com/office/drawing/2014/main" id="{177371E1-3E18-4101-B259-202B282FC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2" y="1548"/>
              <a:ext cx="51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2" name="Rectangle 2">
            <a:extLst>
              <a:ext uri="{FF2B5EF4-FFF2-40B4-BE49-F238E27FC236}">
                <a16:creationId xmlns:a16="http://schemas.microsoft.com/office/drawing/2014/main" id="{82775CB3-D860-496E-9E44-5ADBE8A6A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725" y="996987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33" name="Rectangle 5122">
            <a:extLst>
              <a:ext uri="{FF2B5EF4-FFF2-40B4-BE49-F238E27FC236}">
                <a16:creationId xmlns:a16="http://schemas.microsoft.com/office/drawing/2014/main" id="{CDA52264-5170-4FC5-AC17-D0D295205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435" y="479462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30230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/>
      <p:bldP spid="8" grpId="0" autoUpdateAnimBg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2285E05-F0C6-48A8-80EB-9E42B33D95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5323" y="1935486"/>
            <a:ext cx="35750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 dirty="0">
                <a:latin typeface="宋体" pitchFamily="2" charset="-122"/>
                <a:ea typeface="宋体" pitchFamily="2" charset="-122"/>
                <a:sym typeface="Monotype Sorts"/>
              </a:rPr>
              <a:t>⑵ </a:t>
            </a:r>
            <a:r>
              <a:rPr lang="zh-CN" altLang="en-US" sz="2400" b="1" dirty="0">
                <a:latin typeface="宋体" pitchFamily="2" charset="-122"/>
                <a:ea typeface="宋体" pitchFamily="2" charset="-122"/>
                <a:sym typeface="Monotype Sorts"/>
              </a:rPr>
              <a:t>选择主视图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8126102-BF99-4CC2-993F-288657DD7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191" y="2422526"/>
            <a:ext cx="28146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● </a:t>
            </a:r>
            <a:r>
              <a:rPr lang="zh-CN" altLang="en-US" sz="24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零件的安放状态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A4A776F-E343-4F17-8EA5-0ED29D8A6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0016" y="2884489"/>
            <a:ext cx="26590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支架的</a:t>
            </a:r>
            <a:r>
              <a:rPr lang="zh-CN" altLang="en-US" sz="2400" b="1">
                <a:latin typeface="宋体" pitchFamily="2" charset="-122"/>
                <a:ea typeface="宋体" pitchFamily="2" charset="-122"/>
              </a:rPr>
              <a:t>工作状态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1F87C91-5D63-47DD-A1FB-D9C8AE94E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191" y="3316289"/>
            <a:ext cx="2333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● </a:t>
            </a:r>
            <a:r>
              <a:rPr lang="zh-CN" altLang="en-US" sz="24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投射方向</a:t>
            </a:r>
          </a:p>
        </p:txBody>
      </p:sp>
      <p:sp>
        <p:nvSpPr>
          <p:cNvPr id="6" name="Text Box 6" descr="小纸屑">
            <a:extLst>
              <a:ext uri="{FF2B5EF4-FFF2-40B4-BE49-F238E27FC236}">
                <a16:creationId xmlns:a16="http://schemas.microsoft.com/office/drawing/2014/main" id="{64BDCFAF-ECA1-452B-9C77-F734AAA99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448" y="5635985"/>
            <a:ext cx="11128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  <a:ea typeface="宋体" pitchFamily="2" charset="-122"/>
              </a:rPr>
              <a:t>主视图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5299CDB-EAC7-404C-8BE5-E92FEC248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38" y="4460552"/>
            <a:ext cx="391554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局剖的主视图反映</a:t>
            </a:r>
            <a:r>
              <a:rPr lang="zh-CN" altLang="zh-CN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形体特征</a:t>
            </a:r>
            <a:r>
              <a:rPr lang="zh-CN" altLang="zh-CN" sz="24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，较多的表达出零件的轮廓形状和</a:t>
            </a:r>
            <a:r>
              <a:rPr lang="zh-CN" altLang="zh-CN" sz="2400" b="1" dirty="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上部的内外结构</a:t>
            </a:r>
            <a:r>
              <a:rPr lang="zh-CN" altLang="en-US" sz="2400" b="1" dirty="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Text Box 101">
            <a:extLst>
              <a:ext uri="{FF2B5EF4-FFF2-40B4-BE49-F238E27FC236}">
                <a16:creationId xmlns:a16="http://schemas.microsoft.com/office/drawing/2014/main" id="{9A93635A-995E-4B6B-8165-10DB52237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916" y="3800476"/>
            <a:ext cx="1169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向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9406163-FC8F-44C7-B220-31F038DC6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008" b="26025"/>
          <a:stretch>
            <a:fillRect/>
          </a:stretch>
        </p:blipFill>
        <p:spPr bwMode="auto">
          <a:xfrm>
            <a:off x="5866160" y="2033948"/>
            <a:ext cx="2665413" cy="356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10">
            <a:extLst>
              <a:ext uri="{FF2B5EF4-FFF2-40B4-BE49-F238E27FC236}">
                <a16:creationId xmlns:a16="http://schemas.microsoft.com/office/drawing/2014/main" id="{C74DA074-AFC6-41D8-B03A-F45B94264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858" y="1451299"/>
            <a:ext cx="46783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4.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</a:t>
            </a:r>
          </a:p>
        </p:txBody>
      </p:sp>
      <p:pic>
        <p:nvPicPr>
          <p:cNvPr id="11" name="图片 5">
            <a:extLst>
              <a:ext uri="{FF2B5EF4-FFF2-40B4-BE49-F238E27FC236}">
                <a16:creationId xmlns:a16="http://schemas.microsoft.com/office/drawing/2014/main" id="{902A334D-621E-431C-B43E-2FBEAD45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90794" y="2232312"/>
            <a:ext cx="2309812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4122DF5-9EE2-4709-8673-5A913F1E5B55}"/>
              </a:ext>
            </a:extLst>
          </p:cNvPr>
          <p:cNvGrpSpPr>
            <a:grpSpLocks/>
          </p:cNvGrpSpPr>
          <p:nvPr/>
        </p:nvGrpSpPr>
        <p:grpSpPr bwMode="auto">
          <a:xfrm rot="-612827">
            <a:off x="10202081" y="5372387"/>
            <a:ext cx="784225" cy="592137"/>
            <a:chOff x="4738" y="3520"/>
            <a:chExt cx="494" cy="373"/>
          </a:xfrm>
        </p:grpSpPr>
        <p:sp>
          <p:nvSpPr>
            <p:cNvPr id="13" name="AutoShape 12">
              <a:extLst>
                <a:ext uri="{FF2B5EF4-FFF2-40B4-BE49-F238E27FC236}">
                  <a16:creationId xmlns:a16="http://schemas.microsoft.com/office/drawing/2014/main" id="{B2DC1C4F-6C32-4B25-AD3B-D6679A15ED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69517">
              <a:off x="4738" y="3533"/>
              <a:ext cx="141" cy="360"/>
            </a:xfrm>
            <a:prstGeom prst="upArrow">
              <a:avLst>
                <a:gd name="adj1" fmla="val 34176"/>
                <a:gd name="adj2" fmla="val 93783"/>
              </a:avLst>
            </a:prstGeom>
            <a:solidFill>
              <a:srgbClr val="FF33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99935949-A7BC-4025-9168-2FEE74F30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612827">
              <a:off x="4954" y="3520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A</a:t>
              </a:r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B440C7B0-7F38-417D-B793-BCD79F66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858" y="933017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16" name="Rectangle 5122">
            <a:extLst>
              <a:ext uri="{FF2B5EF4-FFF2-40B4-BE49-F238E27FC236}">
                <a16:creationId xmlns:a16="http://schemas.microsoft.com/office/drawing/2014/main" id="{0A921E8F-5109-4518-82D6-128A91FED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760" y="368660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280942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16">
            <a:extLst>
              <a:ext uri="{FF2B5EF4-FFF2-40B4-BE49-F238E27FC236}">
                <a16:creationId xmlns:a16="http://schemas.microsoft.com/office/drawing/2014/main" id="{D2820A60-ECAA-4915-B3A6-F00B95E3C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008" b="26025"/>
          <a:stretch>
            <a:fillRect/>
          </a:stretch>
        </p:blipFill>
        <p:spPr bwMode="auto">
          <a:xfrm>
            <a:off x="5710847" y="1785776"/>
            <a:ext cx="2667000" cy="356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F945F3-904E-497F-94C5-23CE4B17DF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678" b="29359"/>
          <a:stretch>
            <a:fillRect/>
          </a:stretch>
        </p:blipFill>
        <p:spPr bwMode="auto">
          <a:xfrm>
            <a:off x="8446109" y="1746089"/>
            <a:ext cx="2554288" cy="340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45B82FB-A29A-4E78-8274-279065B1E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079" y="1671650"/>
            <a:ext cx="2185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defRPr/>
            </a:pPr>
            <a:r>
              <a:rPr lang="en-US" altLang="zh-CN" sz="2400" b="0" dirty="0">
                <a:solidFill>
                  <a:schemeClr val="accent2">
                    <a:lumMod val="75000"/>
                  </a:schemeClr>
                </a:solidFill>
                <a:sym typeface="Monotype Sorts"/>
              </a:rPr>
              <a:t>⑶ </a:t>
            </a:r>
            <a:r>
              <a:rPr lang="zh-CN" altLang="en-US" sz="2400" b="0" dirty="0">
                <a:solidFill>
                  <a:schemeClr val="accent2">
                    <a:lumMod val="75000"/>
                  </a:schemeClr>
                </a:solidFill>
                <a:sym typeface="Monotype Sorts"/>
              </a:rPr>
              <a:t>选其它视图</a:t>
            </a:r>
          </a:p>
        </p:txBody>
      </p:sp>
      <p:sp>
        <p:nvSpPr>
          <p:cNvPr id="5" name="Text Box 4" descr="编织物">
            <a:extLst>
              <a:ext uri="{FF2B5EF4-FFF2-40B4-BE49-F238E27FC236}">
                <a16:creationId xmlns:a16="http://schemas.microsoft.com/office/drawing/2014/main" id="{4E03BD03-E53B-4652-BA39-BFA435BBB6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2477" y="3267145"/>
            <a:ext cx="3740150" cy="425450"/>
          </a:xfrm>
          <a:prstGeom prst="rect">
            <a:avLst/>
          </a:prstGeom>
          <a:gradFill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zh-CN" sz="2400" dirty="0">
                <a:solidFill>
                  <a:schemeClr val="accent1"/>
                </a:solidFill>
              </a:rPr>
              <a:t>断面图表达出</a:t>
            </a:r>
            <a:r>
              <a:rPr lang="en-US" altLang="zh-CN" sz="2400" dirty="0">
                <a:solidFill>
                  <a:schemeClr val="accent1"/>
                </a:solidFill>
              </a:rPr>
              <a:t>T</a:t>
            </a:r>
            <a:r>
              <a:rPr lang="zh-CN" altLang="zh-CN" sz="2400" dirty="0">
                <a:solidFill>
                  <a:schemeClr val="accent1"/>
                </a:solidFill>
              </a:rPr>
              <a:t>形肋板结构</a:t>
            </a:r>
            <a:endParaRPr lang="zh-CN" altLang="en-US" sz="24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C2C00B16-8F93-48BE-B44B-358C9564F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7291" y="2080671"/>
            <a:ext cx="39790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宋体" pitchFamily="2" charset="-122"/>
              </a:rPr>
              <a:t>为什么还要选择其他视图呢？</a:t>
            </a:r>
          </a:p>
        </p:txBody>
      </p:sp>
      <p:sp>
        <p:nvSpPr>
          <p:cNvPr id="7" name="Text Box 16" descr="编织物">
            <a:extLst>
              <a:ext uri="{FF2B5EF4-FFF2-40B4-BE49-F238E27FC236}">
                <a16:creationId xmlns:a16="http://schemas.microsoft.com/office/drawing/2014/main" id="{24A6CBC2-34B4-429D-8A3F-8C363B5EA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703" y="2692015"/>
            <a:ext cx="3748088" cy="42545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zh-CN" sz="2400" dirty="0"/>
              <a:t>左视图主要表达内部结构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" name="Rectangle 114">
            <a:extLst>
              <a:ext uri="{FF2B5EF4-FFF2-40B4-BE49-F238E27FC236}">
                <a16:creationId xmlns:a16="http://schemas.microsoft.com/office/drawing/2014/main" id="{8A92BB87-47A2-40D0-A7C9-80F4C9524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1922" y="5297326"/>
            <a:ext cx="466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C-C</a:t>
            </a:r>
            <a:endParaRPr lang="en-US" altLang="zh-CN" sz="2400" b="0">
              <a:solidFill>
                <a:srgbClr val="FF33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" name="Group 320">
            <a:extLst>
              <a:ext uri="{FF2B5EF4-FFF2-40B4-BE49-F238E27FC236}">
                <a16:creationId xmlns:a16="http://schemas.microsoft.com/office/drawing/2014/main" id="{457946AF-CFA8-4250-9120-43B26C520CE3}"/>
              </a:ext>
            </a:extLst>
          </p:cNvPr>
          <p:cNvGrpSpPr>
            <a:grpSpLocks/>
          </p:cNvGrpSpPr>
          <p:nvPr/>
        </p:nvGrpSpPr>
        <p:grpSpPr bwMode="auto">
          <a:xfrm>
            <a:off x="6014059" y="2879564"/>
            <a:ext cx="2068513" cy="555625"/>
            <a:chOff x="2789" y="1480"/>
            <a:chExt cx="1303" cy="350"/>
          </a:xfrm>
        </p:grpSpPr>
        <p:grpSp>
          <p:nvGrpSpPr>
            <p:cNvPr id="10" name="Group 319">
              <a:extLst>
                <a:ext uri="{FF2B5EF4-FFF2-40B4-BE49-F238E27FC236}">
                  <a16:creationId xmlns:a16="http://schemas.microsoft.com/office/drawing/2014/main" id="{E0858279-F6F1-4711-AB9C-A2A4C357D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1480"/>
              <a:ext cx="146" cy="350"/>
              <a:chOff x="2789" y="1480"/>
              <a:chExt cx="146" cy="350"/>
            </a:xfrm>
          </p:grpSpPr>
          <p:grpSp>
            <p:nvGrpSpPr>
              <p:cNvPr id="18" name="Group 317">
                <a:extLst>
                  <a:ext uri="{FF2B5EF4-FFF2-40B4-BE49-F238E27FC236}">
                    <a16:creationId xmlns:a16="http://schemas.microsoft.com/office/drawing/2014/main" id="{1258AC1E-1BB1-46D4-824C-4BABF58A14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9" y="1480"/>
                <a:ext cx="146" cy="234"/>
                <a:chOff x="2789" y="1480"/>
                <a:chExt cx="146" cy="234"/>
              </a:xfrm>
            </p:grpSpPr>
            <p:sp>
              <p:nvSpPr>
                <p:cNvPr id="20" name="Rectangle 302">
                  <a:extLst>
                    <a:ext uri="{FF2B5EF4-FFF2-40B4-BE49-F238E27FC236}">
                      <a16:creationId xmlns:a16="http://schemas.microsoft.com/office/drawing/2014/main" id="{CBCA4F82-07FD-4E72-9123-A57E1993B8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11" y="1480"/>
                  <a:ext cx="98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zh-CN" sz="2400">
                      <a:solidFill>
                        <a:srgbClr val="FF3300"/>
                      </a:solidFill>
                      <a:latin typeface="宋体" pitchFamily="2" charset="-122"/>
                      <a:ea typeface="宋体" pitchFamily="2" charset="-122"/>
                    </a:rPr>
                    <a:t>C</a:t>
                  </a:r>
                  <a:endParaRPr lang="en-US" altLang="zh-CN" sz="1200">
                    <a:solidFill>
                      <a:srgbClr val="FF3300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21" name="Freeform 303">
                  <a:extLst>
                    <a:ext uri="{FF2B5EF4-FFF2-40B4-BE49-F238E27FC236}">
                      <a16:creationId xmlns:a16="http://schemas.microsoft.com/office/drawing/2014/main" id="{AA893DD7-5183-4A78-8AB2-308A9BDB3A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9" y="1698"/>
                  <a:ext cx="146" cy="16"/>
                </a:xfrm>
                <a:custGeom>
                  <a:avLst/>
                  <a:gdLst>
                    <a:gd name="T0" fmla="*/ 0 w 350"/>
                    <a:gd name="T1" fmla="*/ 0 h 35"/>
                    <a:gd name="T2" fmla="*/ 0 w 350"/>
                    <a:gd name="T3" fmla="*/ 0 h 35"/>
                    <a:gd name="T4" fmla="*/ 0 w 350"/>
                    <a:gd name="T5" fmla="*/ 0 h 35"/>
                    <a:gd name="T6" fmla="*/ 0 w 350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0"/>
                    <a:gd name="T13" fmla="*/ 0 h 35"/>
                    <a:gd name="T14" fmla="*/ 350 w 350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0" h="35">
                      <a:moveTo>
                        <a:pt x="0" y="0"/>
                      </a:moveTo>
                      <a:lnTo>
                        <a:pt x="0" y="35"/>
                      </a:lnTo>
                      <a:lnTo>
                        <a:pt x="3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Freeform 304">
                  <a:extLst>
                    <a:ext uri="{FF2B5EF4-FFF2-40B4-BE49-F238E27FC236}">
                      <a16:creationId xmlns:a16="http://schemas.microsoft.com/office/drawing/2014/main" id="{85F08529-5E35-48BE-9472-AF9CDC942B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9" y="1698"/>
                  <a:ext cx="146" cy="16"/>
                </a:xfrm>
                <a:custGeom>
                  <a:avLst/>
                  <a:gdLst>
                    <a:gd name="T0" fmla="*/ 0 w 350"/>
                    <a:gd name="T1" fmla="*/ 0 h 35"/>
                    <a:gd name="T2" fmla="*/ 0 w 350"/>
                    <a:gd name="T3" fmla="*/ 0 h 35"/>
                    <a:gd name="T4" fmla="*/ 0 w 350"/>
                    <a:gd name="T5" fmla="*/ 0 h 35"/>
                    <a:gd name="T6" fmla="*/ 0 w 350"/>
                    <a:gd name="T7" fmla="*/ 0 h 3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50"/>
                    <a:gd name="T13" fmla="*/ 0 h 35"/>
                    <a:gd name="T14" fmla="*/ 350 w 350"/>
                    <a:gd name="T15" fmla="*/ 35 h 3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50" h="35">
                      <a:moveTo>
                        <a:pt x="0" y="35"/>
                      </a:moveTo>
                      <a:lnTo>
                        <a:pt x="350" y="0"/>
                      </a:lnTo>
                      <a:lnTo>
                        <a:pt x="350" y="35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ln w="9525">
                  <a:solidFill>
                    <a:srgbClr val="FF33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" name="Rectangle 305">
                  <a:extLst>
                    <a:ext uri="{FF2B5EF4-FFF2-40B4-BE49-F238E27FC236}">
                      <a16:creationId xmlns:a16="http://schemas.microsoft.com/office/drawing/2014/main" id="{A4DF8033-BF7D-4B65-BE15-473BF136F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9" y="1698"/>
                  <a:ext cx="146" cy="16"/>
                </a:xfrm>
                <a:prstGeom prst="rect">
                  <a:avLst/>
                </a:prstGeom>
                <a:solidFill>
                  <a:srgbClr val="FF3300"/>
                </a:solidFill>
                <a:ln w="0">
                  <a:solidFill>
                    <a:srgbClr val="FF33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9" name="Line 306">
                <a:extLst>
                  <a:ext uri="{FF2B5EF4-FFF2-40B4-BE49-F238E27FC236}">
                    <a16:creationId xmlns:a16="http://schemas.microsoft.com/office/drawing/2014/main" id="{C9B1084B-3F2F-48AB-8646-ED64AD624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04"/>
                <a:ext cx="0" cy="12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318">
              <a:extLst>
                <a:ext uri="{FF2B5EF4-FFF2-40B4-BE49-F238E27FC236}">
                  <a16:creationId xmlns:a16="http://schemas.microsoft.com/office/drawing/2014/main" id="{54941539-46F3-425D-893E-67E8A942FB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4" y="1480"/>
              <a:ext cx="148" cy="350"/>
              <a:chOff x="3944" y="1480"/>
              <a:chExt cx="148" cy="350"/>
            </a:xfrm>
          </p:grpSpPr>
          <p:sp>
            <p:nvSpPr>
              <p:cNvPr id="12" name="Freeform 308">
                <a:extLst>
                  <a:ext uri="{FF2B5EF4-FFF2-40B4-BE49-F238E27FC236}">
                    <a16:creationId xmlns:a16="http://schemas.microsoft.com/office/drawing/2014/main" id="{C2C401B0-A340-45A0-AF59-A02F3001B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1698"/>
                <a:ext cx="144" cy="16"/>
              </a:xfrm>
              <a:custGeom>
                <a:avLst/>
                <a:gdLst>
                  <a:gd name="T0" fmla="*/ 0 w 351"/>
                  <a:gd name="T1" fmla="*/ 0 h 35"/>
                  <a:gd name="T2" fmla="*/ 0 w 351"/>
                  <a:gd name="T3" fmla="*/ 0 h 35"/>
                  <a:gd name="T4" fmla="*/ 0 w 351"/>
                  <a:gd name="T5" fmla="*/ 0 h 35"/>
                  <a:gd name="T6" fmla="*/ 0 w 351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1"/>
                  <a:gd name="T13" fmla="*/ 0 h 35"/>
                  <a:gd name="T14" fmla="*/ 351 w 351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1" h="35">
                    <a:moveTo>
                      <a:pt x="0" y="0"/>
                    </a:moveTo>
                    <a:lnTo>
                      <a:pt x="0" y="35"/>
                    </a:lnTo>
                    <a:lnTo>
                      <a:pt x="3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309">
                <a:extLst>
                  <a:ext uri="{FF2B5EF4-FFF2-40B4-BE49-F238E27FC236}">
                    <a16:creationId xmlns:a16="http://schemas.microsoft.com/office/drawing/2014/main" id="{DD261B1C-115E-4BB5-8F79-35C5F066E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1698"/>
                <a:ext cx="144" cy="16"/>
              </a:xfrm>
              <a:custGeom>
                <a:avLst/>
                <a:gdLst>
                  <a:gd name="T0" fmla="*/ 0 w 351"/>
                  <a:gd name="T1" fmla="*/ 0 h 35"/>
                  <a:gd name="T2" fmla="*/ 0 w 351"/>
                  <a:gd name="T3" fmla="*/ 0 h 35"/>
                  <a:gd name="T4" fmla="*/ 0 w 351"/>
                  <a:gd name="T5" fmla="*/ 0 h 35"/>
                  <a:gd name="T6" fmla="*/ 0 w 351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1"/>
                  <a:gd name="T13" fmla="*/ 0 h 35"/>
                  <a:gd name="T14" fmla="*/ 351 w 351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1" h="35">
                    <a:moveTo>
                      <a:pt x="0" y="35"/>
                    </a:moveTo>
                    <a:lnTo>
                      <a:pt x="351" y="0"/>
                    </a:lnTo>
                    <a:lnTo>
                      <a:pt x="351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310">
                <a:extLst>
                  <a:ext uri="{FF2B5EF4-FFF2-40B4-BE49-F238E27FC236}">
                    <a16:creationId xmlns:a16="http://schemas.microsoft.com/office/drawing/2014/main" id="{B71D55DF-9E4B-4625-A33B-7F7B85319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8" y="1702"/>
                <a:ext cx="4" cy="44"/>
              </a:xfrm>
              <a:custGeom>
                <a:avLst/>
                <a:gdLst>
                  <a:gd name="T0" fmla="*/ 0 w 1"/>
                  <a:gd name="T1" fmla="*/ 0 h 108"/>
                  <a:gd name="T2" fmla="*/ 0 w 1"/>
                  <a:gd name="T3" fmla="*/ 0 h 108"/>
                  <a:gd name="T4" fmla="*/ 2147483646 w 1"/>
                  <a:gd name="T5" fmla="*/ 0 h 10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8"/>
                  <a:gd name="T11" fmla="*/ 1 w 1"/>
                  <a:gd name="T12" fmla="*/ 108 h 1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8">
                    <a:moveTo>
                      <a:pt x="0" y="0"/>
                    </a:moveTo>
                    <a:lnTo>
                      <a:pt x="0" y="108"/>
                    </a:lnTo>
                    <a:lnTo>
                      <a:pt x="1" y="108"/>
                    </a:lnTo>
                  </a:path>
                </a:pathLst>
              </a:custGeom>
              <a:solidFill>
                <a:srgbClr val="FF3300"/>
              </a:solidFill>
              <a:ln w="127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Rectangle 311">
                <a:extLst>
                  <a:ext uri="{FF2B5EF4-FFF2-40B4-BE49-F238E27FC236}">
                    <a16:creationId xmlns:a16="http://schemas.microsoft.com/office/drawing/2014/main" id="{A3564072-59E1-4167-B3E1-65985FC0A9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1480"/>
                <a:ext cx="9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C</a:t>
                </a:r>
                <a:endParaRPr lang="en-US" altLang="zh-CN" sz="12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312">
                <a:extLst>
                  <a:ext uri="{FF2B5EF4-FFF2-40B4-BE49-F238E27FC236}">
                    <a16:creationId xmlns:a16="http://schemas.microsoft.com/office/drawing/2014/main" id="{160C2CA3-CAB8-41B1-9E7F-0DADBC4142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698"/>
                <a:ext cx="144" cy="16"/>
              </a:xfrm>
              <a:prstGeom prst="rect">
                <a:avLst/>
              </a:prstGeom>
              <a:solidFill>
                <a:srgbClr val="FF3300"/>
              </a:solidFill>
              <a:ln w="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Line 313">
                <a:extLst>
                  <a:ext uri="{FF2B5EF4-FFF2-40B4-BE49-F238E27FC236}">
                    <a16:creationId xmlns:a16="http://schemas.microsoft.com/office/drawing/2014/main" id="{327E8A32-B5F6-4F1A-9762-01098EFCDD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0" y="1704"/>
                <a:ext cx="0" cy="12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24" name="图片 23">
            <a:extLst>
              <a:ext uri="{FF2B5EF4-FFF2-40B4-BE49-F238E27FC236}">
                <a16:creationId xmlns:a16="http://schemas.microsoft.com/office/drawing/2014/main" id="{3F9D3B0B-452C-491D-B71C-4FA094C53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6" t="79359" r="68906"/>
          <a:stretch>
            <a:fillRect/>
          </a:stretch>
        </p:blipFill>
        <p:spPr bwMode="auto">
          <a:xfrm>
            <a:off x="8714397" y="5611651"/>
            <a:ext cx="1470025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Group 320">
            <a:extLst>
              <a:ext uri="{FF2B5EF4-FFF2-40B4-BE49-F238E27FC236}">
                <a16:creationId xmlns:a16="http://schemas.microsoft.com/office/drawing/2014/main" id="{A853C8BE-8728-4359-9714-F163CAAACE7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9685154" y="2334257"/>
            <a:ext cx="1719262" cy="263525"/>
            <a:chOff x="2743" y="1548"/>
            <a:chExt cx="1486" cy="166"/>
          </a:xfrm>
        </p:grpSpPr>
        <p:grpSp>
          <p:nvGrpSpPr>
            <p:cNvPr id="26" name="Group 317">
              <a:extLst>
                <a:ext uri="{FF2B5EF4-FFF2-40B4-BE49-F238E27FC236}">
                  <a16:creationId xmlns:a16="http://schemas.microsoft.com/office/drawing/2014/main" id="{1710C3E8-CA38-4664-9CB8-D83F56D18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3" y="1548"/>
              <a:ext cx="319" cy="166"/>
              <a:chOff x="2743" y="1548"/>
              <a:chExt cx="319" cy="166"/>
            </a:xfrm>
          </p:grpSpPr>
          <p:sp>
            <p:nvSpPr>
              <p:cNvPr id="32" name="Rectangle 302">
                <a:extLst>
                  <a:ext uri="{FF2B5EF4-FFF2-40B4-BE49-F238E27FC236}">
                    <a16:creationId xmlns:a16="http://schemas.microsoft.com/office/drawing/2014/main" id="{8B8011AF-D727-4CDC-8D5E-0E06D027AA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854" y="1437"/>
                <a:ext cx="98" cy="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B</a:t>
                </a:r>
                <a:endParaRPr lang="en-US" altLang="zh-CN" sz="12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3" name="Freeform 303">
                <a:extLst>
                  <a:ext uri="{FF2B5EF4-FFF2-40B4-BE49-F238E27FC236}">
                    <a16:creationId xmlns:a16="http://schemas.microsoft.com/office/drawing/2014/main" id="{F5E13B05-2400-449C-9B9B-6AB793984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698"/>
                <a:ext cx="146" cy="16"/>
              </a:xfrm>
              <a:custGeom>
                <a:avLst/>
                <a:gdLst>
                  <a:gd name="T0" fmla="*/ 0 w 350"/>
                  <a:gd name="T1" fmla="*/ 0 h 35"/>
                  <a:gd name="T2" fmla="*/ 0 w 350"/>
                  <a:gd name="T3" fmla="*/ 0 h 35"/>
                  <a:gd name="T4" fmla="*/ 0 w 350"/>
                  <a:gd name="T5" fmla="*/ 0 h 35"/>
                  <a:gd name="T6" fmla="*/ 0 w 350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"/>
                  <a:gd name="T13" fmla="*/ 0 h 35"/>
                  <a:gd name="T14" fmla="*/ 350 w 350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" h="35">
                    <a:moveTo>
                      <a:pt x="0" y="0"/>
                    </a:moveTo>
                    <a:lnTo>
                      <a:pt x="0" y="35"/>
                    </a:lnTo>
                    <a:lnTo>
                      <a:pt x="3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04">
                <a:extLst>
                  <a:ext uri="{FF2B5EF4-FFF2-40B4-BE49-F238E27FC236}">
                    <a16:creationId xmlns:a16="http://schemas.microsoft.com/office/drawing/2014/main" id="{D4B638CF-5A75-4331-BAB9-B6C6AB172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698"/>
                <a:ext cx="146" cy="16"/>
              </a:xfrm>
              <a:custGeom>
                <a:avLst/>
                <a:gdLst>
                  <a:gd name="T0" fmla="*/ 0 w 350"/>
                  <a:gd name="T1" fmla="*/ 0 h 35"/>
                  <a:gd name="T2" fmla="*/ 0 w 350"/>
                  <a:gd name="T3" fmla="*/ 0 h 35"/>
                  <a:gd name="T4" fmla="*/ 0 w 350"/>
                  <a:gd name="T5" fmla="*/ 0 h 35"/>
                  <a:gd name="T6" fmla="*/ 0 w 350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0"/>
                  <a:gd name="T13" fmla="*/ 0 h 35"/>
                  <a:gd name="T14" fmla="*/ 350 w 350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0" h="35">
                    <a:moveTo>
                      <a:pt x="0" y="35"/>
                    </a:moveTo>
                    <a:lnTo>
                      <a:pt x="350" y="0"/>
                    </a:lnTo>
                    <a:lnTo>
                      <a:pt x="350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Rectangle 305">
                <a:extLst>
                  <a:ext uri="{FF2B5EF4-FFF2-40B4-BE49-F238E27FC236}">
                    <a16:creationId xmlns:a16="http://schemas.microsoft.com/office/drawing/2014/main" id="{FA30FA59-BA06-4DD9-A72A-72CE9CAFE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698"/>
                <a:ext cx="146" cy="16"/>
              </a:xfrm>
              <a:prstGeom prst="rect">
                <a:avLst/>
              </a:prstGeom>
              <a:solidFill>
                <a:srgbClr val="FF3300"/>
              </a:solidFill>
              <a:ln w="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Group 318">
              <a:extLst>
                <a:ext uri="{FF2B5EF4-FFF2-40B4-BE49-F238E27FC236}">
                  <a16:creationId xmlns:a16="http://schemas.microsoft.com/office/drawing/2014/main" id="{465DED43-8334-4A12-80C7-1788892B8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0" y="1548"/>
              <a:ext cx="319" cy="166"/>
              <a:chOff x="3910" y="1548"/>
              <a:chExt cx="319" cy="166"/>
            </a:xfrm>
          </p:grpSpPr>
          <p:sp>
            <p:nvSpPr>
              <p:cNvPr id="28" name="Freeform 308">
                <a:extLst>
                  <a:ext uri="{FF2B5EF4-FFF2-40B4-BE49-F238E27FC236}">
                    <a16:creationId xmlns:a16="http://schemas.microsoft.com/office/drawing/2014/main" id="{618E560A-29D4-4936-B222-DAFB4A0DD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1698"/>
                <a:ext cx="144" cy="16"/>
              </a:xfrm>
              <a:custGeom>
                <a:avLst/>
                <a:gdLst>
                  <a:gd name="T0" fmla="*/ 0 w 351"/>
                  <a:gd name="T1" fmla="*/ 0 h 35"/>
                  <a:gd name="T2" fmla="*/ 0 w 351"/>
                  <a:gd name="T3" fmla="*/ 0 h 35"/>
                  <a:gd name="T4" fmla="*/ 0 w 351"/>
                  <a:gd name="T5" fmla="*/ 0 h 35"/>
                  <a:gd name="T6" fmla="*/ 0 w 351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1"/>
                  <a:gd name="T13" fmla="*/ 0 h 35"/>
                  <a:gd name="T14" fmla="*/ 351 w 351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1" h="35">
                    <a:moveTo>
                      <a:pt x="0" y="0"/>
                    </a:moveTo>
                    <a:lnTo>
                      <a:pt x="0" y="35"/>
                    </a:lnTo>
                    <a:lnTo>
                      <a:pt x="3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309">
                <a:extLst>
                  <a:ext uri="{FF2B5EF4-FFF2-40B4-BE49-F238E27FC236}">
                    <a16:creationId xmlns:a16="http://schemas.microsoft.com/office/drawing/2014/main" id="{1DF2BE7A-6E3E-4BE3-AB66-CD2EEAB03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1698"/>
                <a:ext cx="144" cy="16"/>
              </a:xfrm>
              <a:custGeom>
                <a:avLst/>
                <a:gdLst>
                  <a:gd name="T0" fmla="*/ 0 w 351"/>
                  <a:gd name="T1" fmla="*/ 0 h 35"/>
                  <a:gd name="T2" fmla="*/ 0 w 351"/>
                  <a:gd name="T3" fmla="*/ 0 h 35"/>
                  <a:gd name="T4" fmla="*/ 0 w 351"/>
                  <a:gd name="T5" fmla="*/ 0 h 35"/>
                  <a:gd name="T6" fmla="*/ 0 w 351"/>
                  <a:gd name="T7" fmla="*/ 0 h 3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1"/>
                  <a:gd name="T13" fmla="*/ 0 h 35"/>
                  <a:gd name="T14" fmla="*/ 351 w 351"/>
                  <a:gd name="T15" fmla="*/ 35 h 3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1" h="35">
                    <a:moveTo>
                      <a:pt x="0" y="35"/>
                    </a:moveTo>
                    <a:lnTo>
                      <a:pt x="351" y="0"/>
                    </a:lnTo>
                    <a:lnTo>
                      <a:pt x="351" y="3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3300"/>
              </a:solidFill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Rectangle 311">
                <a:extLst>
                  <a:ext uri="{FF2B5EF4-FFF2-40B4-BE49-F238E27FC236}">
                    <a16:creationId xmlns:a16="http://schemas.microsoft.com/office/drawing/2014/main" id="{A7E5284C-44A4-48AA-B35D-459C42DD5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021" y="1437"/>
                <a:ext cx="98" cy="31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B</a:t>
                </a:r>
                <a:endParaRPr lang="en-US" altLang="zh-CN" sz="12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1" name="Rectangle 312">
                <a:extLst>
                  <a:ext uri="{FF2B5EF4-FFF2-40B4-BE49-F238E27FC236}">
                    <a16:creationId xmlns:a16="http://schemas.microsoft.com/office/drawing/2014/main" id="{C79F7E25-C24D-4E47-BFDD-C9D0096CD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698"/>
                <a:ext cx="144" cy="16"/>
              </a:xfrm>
              <a:prstGeom prst="rect">
                <a:avLst/>
              </a:prstGeom>
              <a:solidFill>
                <a:srgbClr val="FF3300"/>
              </a:solidFill>
              <a:ln w="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6" name="Rectangle 114">
            <a:extLst>
              <a:ext uri="{FF2B5EF4-FFF2-40B4-BE49-F238E27FC236}">
                <a16:creationId xmlns:a16="http://schemas.microsoft.com/office/drawing/2014/main" id="{17285192-9104-4B2A-A11A-3AC9CF340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7822" y="1049176"/>
            <a:ext cx="466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B-B</a:t>
            </a:r>
            <a:endParaRPr lang="en-US" altLang="zh-CN" sz="2400" b="0">
              <a:solidFill>
                <a:srgbClr val="FF33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37" name="Group 320">
            <a:extLst>
              <a:ext uri="{FF2B5EF4-FFF2-40B4-BE49-F238E27FC236}">
                <a16:creationId xmlns:a16="http://schemas.microsoft.com/office/drawing/2014/main" id="{438C7A91-F2E5-4259-A2E6-5140D61C94BA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113947" y="3335176"/>
            <a:ext cx="4098925" cy="263525"/>
            <a:chOff x="2743" y="1548"/>
            <a:chExt cx="1282" cy="166"/>
          </a:xfrm>
        </p:grpSpPr>
        <p:grpSp>
          <p:nvGrpSpPr>
            <p:cNvPr id="38" name="Group 317">
              <a:extLst>
                <a:ext uri="{FF2B5EF4-FFF2-40B4-BE49-F238E27FC236}">
                  <a16:creationId xmlns:a16="http://schemas.microsoft.com/office/drawing/2014/main" id="{C2E19167-A97F-465F-BBE7-EAAEEED27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3" y="1548"/>
              <a:ext cx="125" cy="166"/>
              <a:chOff x="2743" y="1548"/>
              <a:chExt cx="125" cy="166"/>
            </a:xfrm>
          </p:grpSpPr>
          <p:sp>
            <p:nvSpPr>
              <p:cNvPr id="42" name="Rectangle 302">
                <a:extLst>
                  <a:ext uri="{FF2B5EF4-FFF2-40B4-BE49-F238E27FC236}">
                    <a16:creationId xmlns:a16="http://schemas.microsoft.com/office/drawing/2014/main" id="{EA104F48-3F9D-442A-A0F3-E678464C5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752" y="1539"/>
                <a:ext cx="9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A</a:t>
                </a:r>
                <a:endParaRPr lang="en-US" altLang="zh-CN" sz="12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3" name="Rectangle 305">
                <a:extLst>
                  <a:ext uri="{FF2B5EF4-FFF2-40B4-BE49-F238E27FC236}">
                    <a16:creationId xmlns:a16="http://schemas.microsoft.com/office/drawing/2014/main" id="{DD5AA5A1-D402-4AEE-A47B-1D2D74978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9" y="1698"/>
                <a:ext cx="79" cy="16"/>
              </a:xfrm>
              <a:prstGeom prst="rect">
                <a:avLst/>
              </a:prstGeom>
              <a:solidFill>
                <a:srgbClr val="FF3300"/>
              </a:solidFill>
              <a:ln w="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Group 318">
              <a:extLst>
                <a:ext uri="{FF2B5EF4-FFF2-40B4-BE49-F238E27FC236}">
                  <a16:creationId xmlns:a16="http://schemas.microsoft.com/office/drawing/2014/main" id="{917EF6A0-ED81-4A33-861B-2BA16BBDC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0" y="1548"/>
              <a:ext cx="115" cy="166"/>
              <a:chOff x="3910" y="1548"/>
              <a:chExt cx="115" cy="166"/>
            </a:xfrm>
          </p:grpSpPr>
          <p:sp>
            <p:nvSpPr>
              <p:cNvPr id="40" name="Rectangle 311">
                <a:extLst>
                  <a:ext uri="{FF2B5EF4-FFF2-40B4-BE49-F238E27FC236}">
                    <a16:creationId xmlns:a16="http://schemas.microsoft.com/office/drawing/2014/main" id="{8F264474-048B-4986-96AB-D9DCA1363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919" y="1539"/>
                <a:ext cx="9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rPr>
                  <a:t>A</a:t>
                </a:r>
                <a:endParaRPr lang="en-US" altLang="zh-CN" sz="12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1" name="Rectangle 312">
                <a:extLst>
                  <a:ext uri="{FF2B5EF4-FFF2-40B4-BE49-F238E27FC236}">
                    <a16:creationId xmlns:a16="http://schemas.microsoft.com/office/drawing/2014/main" id="{7A5B5257-7094-49EA-82EA-ED2BF9F6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" y="1698"/>
                <a:ext cx="79" cy="16"/>
              </a:xfrm>
              <a:prstGeom prst="rect">
                <a:avLst/>
              </a:prstGeom>
              <a:solidFill>
                <a:srgbClr val="FF3300"/>
              </a:solidFill>
              <a:ln w="0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4" name="Rectangle 114">
            <a:extLst>
              <a:ext uri="{FF2B5EF4-FFF2-40B4-BE49-F238E27FC236}">
                <a16:creationId xmlns:a16="http://schemas.microsoft.com/office/drawing/2014/main" id="{5070587B-E129-4AC7-9A6E-A8ABD90D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5284" y="1458751"/>
            <a:ext cx="4667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A-A</a:t>
            </a:r>
            <a:endParaRPr lang="en-US" altLang="zh-CN" sz="2400" b="0">
              <a:solidFill>
                <a:srgbClr val="FF33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5" name="Text Box 10">
            <a:extLst>
              <a:ext uri="{FF2B5EF4-FFF2-40B4-BE49-F238E27FC236}">
                <a16:creationId xmlns:a16="http://schemas.microsoft.com/office/drawing/2014/main" id="{EB638AB3-09B2-4738-9A1E-9DE903C40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180" y="1258107"/>
            <a:ext cx="4678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 4.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支架类零件</a:t>
            </a:r>
            <a:r>
              <a:rPr lang="en-US" altLang="zh-CN" sz="2800" b="1" dirty="0">
                <a:solidFill>
                  <a:srgbClr val="0000CC"/>
                </a:solidFill>
                <a:latin typeface="Times New Roman" pitchFamily="18" charset="0"/>
                <a:ea typeface="宋体" pitchFamily="2" charset="-122"/>
                <a:sym typeface="Monotype Sorts"/>
              </a:rPr>
              <a:t>——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支架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FBD4C9B-CF88-4F8C-9EF9-23156654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4284" y="6092664"/>
            <a:ext cx="1422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latin typeface="Times New Roman" pitchFamily="18" charset="0"/>
              </a:rPr>
              <a:t>视图方案</a:t>
            </a:r>
            <a:endParaRPr lang="zh-CN" altLang="en-US" sz="2400"/>
          </a:p>
        </p:txBody>
      </p:sp>
      <p:pic>
        <p:nvPicPr>
          <p:cNvPr id="47" name="图片 353">
            <a:extLst>
              <a:ext uri="{FF2B5EF4-FFF2-40B4-BE49-F238E27FC236}">
                <a16:creationId xmlns:a16="http://schemas.microsoft.com/office/drawing/2014/main" id="{22902F5F-167C-4BBF-A537-AC59EC03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29161" y="3818744"/>
            <a:ext cx="2309812" cy="293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" name="Rectangle 2">
            <a:extLst>
              <a:ext uri="{FF2B5EF4-FFF2-40B4-BE49-F238E27FC236}">
                <a16:creationId xmlns:a16="http://schemas.microsoft.com/office/drawing/2014/main" id="{CD02731E-0815-42D2-812A-D669871BB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16" y="785825"/>
            <a:ext cx="4073525" cy="493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</a:rPr>
              <a:t>典型零件的视图表达</a:t>
            </a:r>
          </a:p>
        </p:txBody>
      </p:sp>
      <p:sp>
        <p:nvSpPr>
          <p:cNvPr id="49" name="Rectangle 5122">
            <a:extLst>
              <a:ext uri="{FF2B5EF4-FFF2-40B4-BE49-F238E27FC236}">
                <a16:creationId xmlns:a16="http://schemas.microsoft.com/office/drawing/2014/main" id="{5CFB46E2-37DB-4F36-BCF2-6FBE77467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748" y="224644"/>
            <a:ext cx="4852988" cy="61118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>
            <a:lvl1pPr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</a:rPr>
              <a:t>零件图的视图选择</a:t>
            </a:r>
          </a:p>
        </p:txBody>
      </p:sp>
    </p:spTree>
    <p:extLst>
      <p:ext uri="{BB962C8B-B14F-4D97-AF65-F5344CB8AC3E}">
        <p14:creationId xmlns:p14="http://schemas.microsoft.com/office/powerpoint/2010/main" val="6309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utoUpdateAnimBg="0"/>
      <p:bldP spid="36" grpId="0" autoUpdateAnimBg="0"/>
      <p:bldP spid="44" grpId="0" autoUpdateAnimBg="0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81E813D-D934-4E30-945D-F6499CB91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048" y="1369578"/>
            <a:ext cx="415131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合理标注尺寸的基本原则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D689566-5CEF-4F3F-A48D-26884C22A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413" y="1994770"/>
            <a:ext cx="950705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   合理就是标注尺寸时，既要满足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设计要求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又要符合加工测量等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工艺要求</a:t>
            </a:r>
            <a:r>
              <a:rPr lang="zh-CN" altLang="en-US" sz="24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4CFD5B0-807A-4628-BEFF-F036B1C05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048" y="3140435"/>
            <a:ext cx="343058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一、正确地选择基准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542ACD2-C381-4779-807A-0BBFA5C65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079" y="3865922"/>
            <a:ext cx="2168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⒈ 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设计基准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F6E33FC-6C80-4149-9046-2DDCB0088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078" y="4911292"/>
            <a:ext cx="2168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⒉ 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工艺基准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A58AB9B-42FB-4ACC-A92D-DCAC8C079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1804" y="3884180"/>
            <a:ext cx="631666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用以确定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零件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在部件中的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位置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基准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183D1FDD-9589-4D74-92EC-B9E025A31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189" y="4907326"/>
            <a:ext cx="631666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用以确定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零件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加工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或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测量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时的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基准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。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D2073B85-55FE-4BDF-9617-B10ECB0E0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728" y="364691"/>
            <a:ext cx="5578475" cy="58420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3300"/>
                </a:solidFill>
              </a:rPr>
              <a:t>零件尺寸的合理标注</a:t>
            </a:r>
          </a:p>
        </p:txBody>
      </p:sp>
    </p:spTree>
    <p:extLst>
      <p:ext uri="{BB962C8B-B14F-4D97-AF65-F5344CB8AC3E}">
        <p14:creationId xmlns:p14="http://schemas.microsoft.com/office/powerpoint/2010/main" val="388532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>
            <a:extLst>
              <a:ext uri="{FF2B5EF4-FFF2-40B4-BE49-F238E27FC236}">
                <a16:creationId xmlns:a16="http://schemas.microsoft.com/office/drawing/2014/main" id="{0BCC9768-E886-4CA9-BB0C-6F87324C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0051" y="1606786"/>
            <a:ext cx="5105400" cy="497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3">
            <a:extLst>
              <a:ext uri="{FF2B5EF4-FFF2-40B4-BE49-F238E27FC236}">
                <a16:creationId xmlns:a16="http://schemas.microsoft.com/office/drawing/2014/main" id="{97CD8657-FDD0-428A-8C12-424BCA89FBB4}"/>
              </a:ext>
            </a:extLst>
          </p:cNvPr>
          <p:cNvGrpSpPr>
            <a:grpSpLocks/>
          </p:cNvGrpSpPr>
          <p:nvPr/>
        </p:nvGrpSpPr>
        <p:grpSpPr bwMode="auto">
          <a:xfrm>
            <a:off x="5311613" y="2462449"/>
            <a:ext cx="595313" cy="1449387"/>
            <a:chOff x="2643" y="1169"/>
            <a:chExt cx="688" cy="1202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A5A1E2AA-D530-4D50-BC59-A13B5532B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0" y="1177"/>
              <a:ext cx="54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930A09C3-13C3-4A86-BB6D-71C2AAA2F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2371"/>
              <a:ext cx="6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5BA0C772-C673-4E82-BBAA-F693C65F7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0" y="1169"/>
              <a:ext cx="0" cy="119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B55B47B-DC34-4801-8AF0-97AF6D746619}"/>
              </a:ext>
            </a:extLst>
          </p:cNvPr>
          <p:cNvGrpSpPr>
            <a:grpSpLocks/>
          </p:cNvGrpSpPr>
          <p:nvPr/>
        </p:nvGrpSpPr>
        <p:grpSpPr bwMode="auto">
          <a:xfrm>
            <a:off x="2535076" y="1713149"/>
            <a:ext cx="1924050" cy="757237"/>
            <a:chOff x="552" y="566"/>
            <a:chExt cx="1212" cy="477"/>
          </a:xfrm>
        </p:grpSpPr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958DDCB4-6E8B-4D86-96F4-E5B7ED04F5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6" y="825"/>
              <a:ext cx="378" cy="21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6BC3ACCF-D23E-4F3D-B859-7DC29C36D6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" y="825"/>
              <a:ext cx="81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77A26037-5962-4342-92D7-8255256DD0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" y="566"/>
              <a:ext cx="8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设计基准</a:t>
              </a:r>
            </a:p>
          </p:txBody>
        </p:sp>
      </p:grpSp>
      <p:sp>
        <p:nvSpPr>
          <p:cNvPr id="11" name="Text Box 11">
            <a:extLst>
              <a:ext uri="{FF2B5EF4-FFF2-40B4-BE49-F238E27FC236}">
                <a16:creationId xmlns:a16="http://schemas.microsoft.com/office/drawing/2014/main" id="{8F81FE95-072A-4B2C-A133-9B68470A6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251" y="876537"/>
            <a:ext cx="12668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solidFill>
                  <a:srgbClr val="333399"/>
                </a:solidFill>
                <a:latin typeface="ISOCP" pitchFamily="2" charset="0"/>
                <a:ea typeface="宋体" pitchFamily="2" charset="-122"/>
              </a:rPr>
              <a:t>例如：</a:t>
            </a: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1B83C38-A929-437D-A103-D1A5A6E0B420}"/>
              </a:ext>
            </a:extLst>
          </p:cNvPr>
          <p:cNvGrpSpPr>
            <a:grpSpLocks/>
          </p:cNvGrpSpPr>
          <p:nvPr/>
        </p:nvGrpSpPr>
        <p:grpSpPr bwMode="auto">
          <a:xfrm>
            <a:off x="3146263" y="3913424"/>
            <a:ext cx="2160588" cy="427037"/>
            <a:chOff x="1008" y="2357"/>
            <a:chExt cx="1848" cy="269"/>
          </a:xfrm>
        </p:grpSpPr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9F08573D-DF09-468A-A092-5054CA1F3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0" y="2371"/>
              <a:ext cx="0" cy="25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80480CE-5E6B-46B8-B20A-FA106D0D1A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2357"/>
              <a:ext cx="0" cy="26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E01768CF-2B25-475E-A5E0-126B9CF8C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568"/>
              <a:ext cx="184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B8B936B-6EA5-42E6-9E54-52D7DB7C2882}"/>
              </a:ext>
            </a:extLst>
          </p:cNvPr>
          <p:cNvGrpSpPr>
            <a:grpSpLocks/>
          </p:cNvGrpSpPr>
          <p:nvPr/>
        </p:nvGrpSpPr>
        <p:grpSpPr bwMode="auto">
          <a:xfrm>
            <a:off x="6178388" y="1052749"/>
            <a:ext cx="1416050" cy="712787"/>
            <a:chOff x="3582" y="191"/>
            <a:chExt cx="892" cy="449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B800BA07-D34A-4172-9015-FFB86B1EAF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5" y="459"/>
              <a:ext cx="181" cy="18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F21B477-2074-4DC3-B183-14C90662C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8" y="458"/>
              <a:ext cx="74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60017C5E-5756-4DBB-A84A-ADE3BB10A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2" y="191"/>
              <a:ext cx="8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工艺基准</a:t>
              </a:r>
            </a:p>
          </p:txBody>
        </p:sp>
      </p:grpSp>
      <p:grpSp>
        <p:nvGrpSpPr>
          <p:cNvPr id="20" name="Group 25">
            <a:extLst>
              <a:ext uri="{FF2B5EF4-FFF2-40B4-BE49-F238E27FC236}">
                <a16:creationId xmlns:a16="http://schemas.microsoft.com/office/drawing/2014/main" id="{2809F6EB-9F82-4780-A3AB-77B43EC647EA}"/>
              </a:ext>
            </a:extLst>
          </p:cNvPr>
          <p:cNvGrpSpPr>
            <a:grpSpLocks/>
          </p:cNvGrpSpPr>
          <p:nvPr/>
        </p:nvGrpSpPr>
        <p:grpSpPr bwMode="auto">
          <a:xfrm>
            <a:off x="4946488" y="3897549"/>
            <a:ext cx="2130425" cy="869950"/>
            <a:chOff x="2731" y="2268"/>
            <a:chExt cx="1057" cy="288"/>
          </a:xfrm>
        </p:grpSpPr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686F07FD-27E2-4619-BFA1-7BD7F994F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87"/>
              <a:ext cx="240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C6DCEBF5-FA29-468A-A10E-8BB03ED79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527"/>
              <a:ext cx="7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2987768F-8BC8-400A-9D0F-502F0FCC20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6" y="2268"/>
              <a:ext cx="8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设计基准</a:t>
              </a:r>
            </a:p>
          </p:txBody>
        </p:sp>
      </p:grpSp>
      <p:grpSp>
        <p:nvGrpSpPr>
          <p:cNvPr id="24" name="Group 34">
            <a:extLst>
              <a:ext uri="{FF2B5EF4-FFF2-40B4-BE49-F238E27FC236}">
                <a16:creationId xmlns:a16="http://schemas.microsoft.com/office/drawing/2014/main" id="{F74075AF-927C-45E5-9223-3993127D33B9}"/>
              </a:ext>
            </a:extLst>
          </p:cNvPr>
          <p:cNvGrpSpPr>
            <a:grpSpLocks/>
          </p:cNvGrpSpPr>
          <p:nvPr/>
        </p:nvGrpSpPr>
        <p:grpSpPr bwMode="auto">
          <a:xfrm>
            <a:off x="7286463" y="1035286"/>
            <a:ext cx="1293813" cy="2122488"/>
            <a:chOff x="3245" y="462"/>
            <a:chExt cx="815" cy="534"/>
          </a:xfrm>
        </p:grpSpPr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A26287DA-1BBA-46E1-9F8F-E13AD9B19F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8" y="823"/>
              <a:ext cx="545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9A2F07CF-0668-453B-A423-CA206B0AC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5" y="647"/>
              <a:ext cx="815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6A71C4E9-06F4-44F8-A0BC-201FD587E1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462"/>
              <a:ext cx="0" cy="53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6030169C-18A0-49F1-BBD7-A061341C5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594"/>
              <a:ext cx="0" cy="6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932A8CA7-E14F-475D-AC7C-DB4A0838D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2" y="822"/>
              <a:ext cx="0" cy="5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30" name="图片 7">
            <a:extLst>
              <a:ext uri="{FF2B5EF4-FFF2-40B4-BE49-F238E27FC236}">
                <a16:creationId xmlns:a16="http://schemas.microsoft.com/office/drawing/2014/main" id="{2D4953F1-59FB-4EF6-B244-8BD8F1EC90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54553" y="3667361"/>
            <a:ext cx="2593975" cy="281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Rectangle 9">
            <a:extLst>
              <a:ext uri="{FF2B5EF4-FFF2-40B4-BE49-F238E27FC236}">
                <a16:creationId xmlns:a16="http://schemas.microsoft.com/office/drawing/2014/main" id="{8FFEF670-142D-4D4F-BC4F-4023491B4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278" y="152636"/>
            <a:ext cx="5578475" cy="584775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>
                <a:solidFill>
                  <a:srgbClr val="FF3300"/>
                </a:solidFill>
              </a:rPr>
              <a:t>零件尺寸的合理标注</a:t>
            </a:r>
          </a:p>
        </p:txBody>
      </p:sp>
    </p:spTree>
    <p:extLst>
      <p:ext uri="{BB962C8B-B14F-4D97-AF65-F5344CB8AC3E}">
        <p14:creationId xmlns:p14="http://schemas.microsoft.com/office/powerpoint/2010/main" val="148579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5">
            <a:extLst>
              <a:ext uri="{FF2B5EF4-FFF2-40B4-BE49-F238E27FC236}">
                <a16:creationId xmlns:a16="http://schemas.microsoft.com/office/drawing/2014/main" id="{770A4C05-D354-408F-B88A-D59C3AF4C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89" b="48453"/>
          <a:stretch>
            <a:fillRect/>
          </a:stretch>
        </p:blipFill>
        <p:spPr bwMode="auto">
          <a:xfrm>
            <a:off x="2852217" y="2724548"/>
            <a:ext cx="2665412" cy="256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CCBC09B3-E4B7-47C1-8A42-F90700E96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727" y="1269239"/>
            <a:ext cx="415131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333399"/>
                </a:solidFill>
                <a:latin typeface="宋体" pitchFamily="2" charset="-122"/>
                <a:ea typeface="宋体" pitchFamily="2" charset="-122"/>
              </a:rPr>
              <a:t>二、重要的尺寸直接注出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BB736B7B-27A3-4CB7-8FDD-21FB0CE95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9593" y="1777870"/>
            <a:ext cx="853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重要尺寸指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影响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产品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性能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、工作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精度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配合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  <a:ea typeface="宋体" pitchFamily="2" charset="-122"/>
              </a:rPr>
              <a:t>的尺寸。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71079B8-B9C8-4F5B-8F41-769A4189E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4692" y="5420123"/>
            <a:ext cx="14128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3200">
                <a:solidFill>
                  <a:srgbClr val="FF3300"/>
                </a:solidFill>
                <a:latin typeface="ISOCP" pitchFamily="2" charset="0"/>
                <a:ea typeface="宋体" pitchFamily="2" charset="-122"/>
              </a:rPr>
              <a:t>正确！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69D94EC6-87BC-4E79-B719-BE474B5BB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2692" y="5421711"/>
            <a:ext cx="14128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>
                <a:solidFill>
                  <a:schemeClr val="tx2"/>
                </a:solidFill>
                <a:latin typeface="ISOCP" pitchFamily="2" charset="0"/>
                <a:ea typeface="宋体" pitchFamily="2" charset="-122"/>
              </a:rPr>
              <a:t>错误！</a:t>
            </a: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2489DDA8-FF2F-4C3F-9501-305A8888D64F}"/>
              </a:ext>
            </a:extLst>
          </p:cNvPr>
          <p:cNvGrpSpPr>
            <a:grpSpLocks/>
          </p:cNvGrpSpPr>
          <p:nvPr/>
        </p:nvGrpSpPr>
        <p:grpSpPr bwMode="auto">
          <a:xfrm>
            <a:off x="5171554" y="3573861"/>
            <a:ext cx="928688" cy="1481137"/>
            <a:chOff x="2249" y="2340"/>
            <a:chExt cx="555" cy="1027"/>
          </a:xfrm>
        </p:grpSpPr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3B63253-4A58-4F86-B0C7-F38EA9BDE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9" y="3356"/>
              <a:ext cx="53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6ECF3732-71BA-42CA-8524-7E43E0303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3118"/>
              <a:ext cx="31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7257D74F-AD84-4BE4-B669-A56ABF5B5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3" y="2348"/>
              <a:ext cx="431" cy="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D3C5F6B9-8D13-4BE5-B3BE-7150396E5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3" y="2340"/>
              <a:ext cx="0" cy="102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B0BF48D6-C573-463F-ABE9-B192C26B9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9" y="3110"/>
              <a:ext cx="0" cy="25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Text Box 15">
              <a:extLst>
                <a:ext uri="{FF2B5EF4-FFF2-40B4-BE49-F238E27FC236}">
                  <a16:creationId xmlns:a16="http://schemas.microsoft.com/office/drawing/2014/main" id="{1419462C-BC97-4329-B669-45307837F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14" y="3110"/>
              <a:ext cx="1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82F48830-F64D-4F9F-9E95-83491EDE6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540" y="2621"/>
              <a:ext cx="20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b</a:t>
              </a:r>
            </a:p>
          </p:txBody>
        </p:sp>
      </p:grpSp>
      <p:sp>
        <p:nvSpPr>
          <p:cNvPr id="15" name="Rectangle 9">
            <a:extLst>
              <a:ext uri="{FF2B5EF4-FFF2-40B4-BE49-F238E27FC236}">
                <a16:creationId xmlns:a16="http://schemas.microsoft.com/office/drawing/2014/main" id="{24815FED-2B4F-4EBA-9F03-7DB0D1BD2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379" y="459336"/>
            <a:ext cx="5578475" cy="58420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>
                <a:solidFill>
                  <a:srgbClr val="FF3300"/>
                </a:solidFill>
              </a:rPr>
              <a:t>零件尺寸的合理标注</a:t>
            </a:r>
          </a:p>
        </p:txBody>
      </p:sp>
      <p:pic>
        <p:nvPicPr>
          <p:cNvPr id="16" name="图片 26">
            <a:extLst>
              <a:ext uri="{FF2B5EF4-FFF2-40B4-BE49-F238E27FC236}">
                <a16:creationId xmlns:a16="http://schemas.microsoft.com/office/drawing/2014/main" id="{78902FE8-AEB1-4F70-B50A-8D7D6D54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89" b="48453"/>
          <a:stretch>
            <a:fillRect/>
          </a:stretch>
        </p:blipFill>
        <p:spPr bwMode="auto">
          <a:xfrm>
            <a:off x="7032104" y="2724548"/>
            <a:ext cx="2665413" cy="256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7" name="Group 17">
            <a:extLst>
              <a:ext uri="{FF2B5EF4-FFF2-40B4-BE49-F238E27FC236}">
                <a16:creationId xmlns:a16="http://schemas.microsoft.com/office/drawing/2014/main" id="{13C56FBB-4D66-49B1-A104-627597EB1951}"/>
              </a:ext>
            </a:extLst>
          </p:cNvPr>
          <p:cNvGrpSpPr>
            <a:grpSpLocks/>
          </p:cNvGrpSpPr>
          <p:nvPr/>
        </p:nvGrpSpPr>
        <p:grpSpPr bwMode="auto">
          <a:xfrm>
            <a:off x="9349854" y="3589736"/>
            <a:ext cx="847725" cy="1457325"/>
            <a:chOff x="5110" y="2349"/>
            <a:chExt cx="424" cy="997"/>
          </a:xfrm>
        </p:grpSpPr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22340777-C00B-48D9-ABDD-5BF41FFE6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282" y="3097"/>
              <a:ext cx="19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c</a:t>
              </a: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C8EA6850-EBB8-4D36-A574-C64C252B3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0" y="3109"/>
              <a:ext cx="42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EAA11B51-85EF-4ADE-9706-F7EB8DDEF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2" y="3345"/>
              <a:ext cx="42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430E7252-3052-43C6-B62F-B4932B6EAF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7" y="2349"/>
              <a:ext cx="27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D41E9682-7CAE-41F4-A5D5-44755C9D5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V="1">
              <a:off x="5263" y="2624"/>
              <a:ext cx="2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d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A03F1A08-FA08-411C-941B-FDAF9F110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2" y="2354"/>
              <a:ext cx="0" cy="76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E2163A8D-E328-49BE-BDE7-1912501D8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3100"/>
              <a:ext cx="0" cy="24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0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8">
            <a:extLst>
              <a:ext uri="{FF2B5EF4-FFF2-40B4-BE49-F238E27FC236}">
                <a16:creationId xmlns:a16="http://schemas.microsoft.com/office/drawing/2014/main" id="{4DEEBFFA-A864-4AE3-9D53-0A63B5978F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7120" y="2150591"/>
            <a:ext cx="3671888" cy="213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3">
            <a:extLst>
              <a:ext uri="{FF2B5EF4-FFF2-40B4-BE49-F238E27FC236}">
                <a16:creationId xmlns:a16="http://schemas.microsoft.com/office/drawing/2014/main" id="{096AC39B-982B-4C37-89F7-09871655A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093" y="1340169"/>
            <a:ext cx="415131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333399"/>
                </a:solidFill>
                <a:latin typeface="ISOCP" pitchFamily="2" charset="0"/>
                <a:ea typeface="宋体" pitchFamily="2" charset="-122"/>
              </a:rPr>
              <a:t>三、应尽量符合加工顺序</a:t>
            </a: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75B6F9DE-FD52-4A9F-B859-F7D1FF7FB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0080" y="5435675"/>
            <a:ext cx="22161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latin typeface="ISOCP" pitchFamily="2" charset="0"/>
                <a:ea typeface="宋体" pitchFamily="2" charset="-122"/>
              </a:rPr>
              <a:t>加工顺序：</a:t>
            </a:r>
          </a:p>
        </p:txBody>
      </p:sp>
      <p:grpSp>
        <p:nvGrpSpPr>
          <p:cNvPr id="28" name="Group 5">
            <a:extLst>
              <a:ext uri="{FF2B5EF4-FFF2-40B4-BE49-F238E27FC236}">
                <a16:creationId xmlns:a16="http://schemas.microsoft.com/office/drawing/2014/main" id="{24BF627D-5EE3-41F0-A21E-7630433DE76D}"/>
              </a:ext>
            </a:extLst>
          </p:cNvPr>
          <p:cNvGrpSpPr>
            <a:grpSpLocks/>
          </p:cNvGrpSpPr>
          <p:nvPr/>
        </p:nvGrpSpPr>
        <p:grpSpPr bwMode="auto">
          <a:xfrm>
            <a:off x="3313720" y="2691928"/>
            <a:ext cx="788988" cy="1008063"/>
            <a:chOff x="1387" y="844"/>
            <a:chExt cx="377" cy="485"/>
          </a:xfrm>
        </p:grpSpPr>
        <p:sp>
          <p:nvSpPr>
            <p:cNvPr id="29" name="Rectangle 6">
              <a:extLst>
                <a:ext uri="{FF2B5EF4-FFF2-40B4-BE49-F238E27FC236}">
                  <a16:creationId xmlns:a16="http://schemas.microsoft.com/office/drawing/2014/main" id="{72CFD151-16BC-4C82-9016-5793C30A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" y="1056"/>
              <a:ext cx="168" cy="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Group 7">
              <a:extLst>
                <a:ext uri="{FF2B5EF4-FFF2-40B4-BE49-F238E27FC236}">
                  <a16:creationId xmlns:a16="http://schemas.microsoft.com/office/drawing/2014/main" id="{4F4460C3-9C7C-45E0-BD7E-FA2D299B43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7" y="844"/>
              <a:ext cx="377" cy="485"/>
              <a:chOff x="1387" y="844"/>
              <a:chExt cx="377" cy="485"/>
            </a:xfrm>
          </p:grpSpPr>
          <p:sp>
            <p:nvSpPr>
              <p:cNvPr id="31" name="Line 8">
                <a:extLst>
                  <a:ext uri="{FF2B5EF4-FFF2-40B4-BE49-F238E27FC236}">
                    <a16:creationId xmlns:a16="http://schemas.microsoft.com/office/drawing/2014/main" id="{18518597-5BAF-42A8-9259-C7110CAFF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24" y="852"/>
                <a:ext cx="228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Line 9">
                <a:extLst>
                  <a:ext uri="{FF2B5EF4-FFF2-40B4-BE49-F238E27FC236}">
                    <a16:creationId xmlns:a16="http://schemas.microsoft.com/office/drawing/2014/main" id="{FCA656BC-C423-4352-BB2D-1C615779A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320"/>
                <a:ext cx="228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Line 10">
                <a:extLst>
                  <a:ext uri="{FF2B5EF4-FFF2-40B4-BE49-F238E27FC236}">
                    <a16:creationId xmlns:a16="http://schemas.microsoft.com/office/drawing/2014/main" id="{81ED1DC5-9335-4AE1-B679-8F7C82B537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8" y="844"/>
                <a:ext cx="0" cy="485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Text Box 11">
                <a:extLst>
                  <a:ext uri="{FF2B5EF4-FFF2-40B4-BE49-F238E27FC236}">
                    <a16:creationId xmlns:a16="http://schemas.microsoft.com/office/drawing/2014/main" id="{B4981282-40C0-4D1A-930B-B8776BF5DC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1347" y="979"/>
                <a:ext cx="32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  <a:sym typeface="Symbol" pitchFamily="18" charset="2"/>
                  </a:rPr>
                  <a:t>15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  <a:sym typeface="Symbol" pitchFamily="18" charset="2"/>
                </a:endParaRPr>
              </a:p>
            </p:txBody>
          </p:sp>
        </p:grpSp>
      </p:grpSp>
      <p:grpSp>
        <p:nvGrpSpPr>
          <p:cNvPr id="35" name="Group 12">
            <a:extLst>
              <a:ext uri="{FF2B5EF4-FFF2-40B4-BE49-F238E27FC236}">
                <a16:creationId xmlns:a16="http://schemas.microsoft.com/office/drawing/2014/main" id="{FCAC8278-46CA-42D8-B59C-E1DC33A87A09}"/>
              </a:ext>
            </a:extLst>
          </p:cNvPr>
          <p:cNvGrpSpPr>
            <a:grpSpLocks/>
          </p:cNvGrpSpPr>
          <p:nvPr/>
        </p:nvGrpSpPr>
        <p:grpSpPr bwMode="auto">
          <a:xfrm>
            <a:off x="3836008" y="3682528"/>
            <a:ext cx="884237" cy="581025"/>
            <a:chOff x="1596" y="1356"/>
            <a:chExt cx="557" cy="366"/>
          </a:xfrm>
        </p:grpSpPr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D70EFE46-3BD9-43C1-8409-2FF6B2705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8" y="1651"/>
              <a:ext cx="269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4">
              <a:extLst>
                <a:ext uri="{FF2B5EF4-FFF2-40B4-BE49-F238E27FC236}">
                  <a16:creationId xmlns:a16="http://schemas.microsoft.com/office/drawing/2014/main" id="{C81204D9-104C-4F7D-B652-E6A0BAD84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6" y="1651"/>
              <a:ext cx="175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5">
              <a:extLst>
                <a:ext uri="{FF2B5EF4-FFF2-40B4-BE49-F238E27FC236}">
                  <a16:creationId xmlns:a16="http://schemas.microsoft.com/office/drawing/2014/main" id="{2C04D589-17F4-451F-B311-5DE5F04AE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4" y="1651"/>
              <a:ext cx="8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16">
              <a:extLst>
                <a:ext uri="{FF2B5EF4-FFF2-40B4-BE49-F238E27FC236}">
                  <a16:creationId xmlns:a16="http://schemas.microsoft.com/office/drawing/2014/main" id="{2665B221-8AA7-4379-BA3E-1CFD9C2E9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1356"/>
              <a:ext cx="0" cy="36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17">
              <a:extLst>
                <a:ext uri="{FF2B5EF4-FFF2-40B4-BE49-F238E27FC236}">
                  <a16:creationId xmlns:a16="http://schemas.microsoft.com/office/drawing/2014/main" id="{0681771C-5F55-4429-A992-B00923ADCC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1434"/>
              <a:ext cx="21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4</a:t>
              </a:r>
              <a:endParaRPr lang="en-US" altLang="zh-CN" sz="2400" b="0">
                <a:solidFill>
                  <a:schemeClr val="tx1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41" name="Group 18">
            <a:extLst>
              <a:ext uri="{FF2B5EF4-FFF2-40B4-BE49-F238E27FC236}">
                <a16:creationId xmlns:a16="http://schemas.microsoft.com/office/drawing/2014/main" id="{BB2CC962-C013-45C5-92B9-FF83345CA846}"/>
              </a:ext>
            </a:extLst>
          </p:cNvPr>
          <p:cNvGrpSpPr>
            <a:grpSpLocks/>
          </p:cNvGrpSpPr>
          <p:nvPr/>
        </p:nvGrpSpPr>
        <p:grpSpPr bwMode="auto">
          <a:xfrm>
            <a:off x="4083658" y="3606328"/>
            <a:ext cx="1944687" cy="952500"/>
            <a:chOff x="1752" y="1308"/>
            <a:chExt cx="972" cy="600"/>
          </a:xfrm>
        </p:grpSpPr>
        <p:sp>
          <p:nvSpPr>
            <p:cNvPr id="42" name="Line 19">
              <a:extLst>
                <a:ext uri="{FF2B5EF4-FFF2-40B4-BE49-F238E27FC236}">
                  <a16:creationId xmlns:a16="http://schemas.microsoft.com/office/drawing/2014/main" id="{F72E50D7-CB5E-4CAD-99AF-11914BBCA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" y="1392"/>
              <a:ext cx="0" cy="51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20">
              <a:extLst>
                <a:ext uri="{FF2B5EF4-FFF2-40B4-BE49-F238E27FC236}">
                  <a16:creationId xmlns:a16="http://schemas.microsoft.com/office/drawing/2014/main" id="{AAE5DE89-AB0B-41C5-8EFD-59810ABEA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4" y="1308"/>
              <a:ext cx="0" cy="5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21">
              <a:extLst>
                <a:ext uri="{FF2B5EF4-FFF2-40B4-BE49-F238E27FC236}">
                  <a16:creationId xmlns:a16="http://schemas.microsoft.com/office/drawing/2014/main" id="{99366EDD-0F37-4C8F-A65A-CFF122BAF7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" y="1836"/>
              <a:ext cx="97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22">
              <a:extLst>
                <a:ext uri="{FF2B5EF4-FFF2-40B4-BE49-F238E27FC236}">
                  <a16:creationId xmlns:a16="http://schemas.microsoft.com/office/drawing/2014/main" id="{78EBDD8E-9285-4476-A5C0-AC1D762B9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4" y="1602"/>
              <a:ext cx="2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35</a:t>
              </a:r>
              <a:endParaRPr lang="en-US" altLang="zh-CN" sz="2400" b="0">
                <a:solidFill>
                  <a:schemeClr val="tx1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46" name="Group 23">
            <a:extLst>
              <a:ext uri="{FF2B5EF4-FFF2-40B4-BE49-F238E27FC236}">
                <a16:creationId xmlns:a16="http://schemas.microsoft.com/office/drawing/2014/main" id="{B13719DD-925E-4D52-AACE-02D36649FDF1}"/>
              </a:ext>
            </a:extLst>
          </p:cNvPr>
          <p:cNvGrpSpPr>
            <a:grpSpLocks/>
          </p:cNvGrpSpPr>
          <p:nvPr/>
        </p:nvGrpSpPr>
        <p:grpSpPr bwMode="auto">
          <a:xfrm>
            <a:off x="5825145" y="2596678"/>
            <a:ext cx="842963" cy="1196975"/>
            <a:chOff x="2604" y="780"/>
            <a:chExt cx="432" cy="600"/>
          </a:xfrm>
        </p:grpSpPr>
        <p:sp>
          <p:nvSpPr>
            <p:cNvPr id="47" name="Text Box 24">
              <a:extLst>
                <a:ext uri="{FF2B5EF4-FFF2-40B4-BE49-F238E27FC236}">
                  <a16:creationId xmlns:a16="http://schemas.microsoft.com/office/drawing/2014/main" id="{98579275-32EE-4FDA-B7C8-FFB48BD0E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650" y="974"/>
              <a:ext cx="45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0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  <a:sym typeface="Symbol" pitchFamily="18" charset="2"/>
                </a:rPr>
                <a:t>20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8F201727-8079-4D73-806B-A1ABFDEF0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792"/>
              <a:ext cx="42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26">
              <a:extLst>
                <a:ext uri="{FF2B5EF4-FFF2-40B4-BE49-F238E27FC236}">
                  <a16:creationId xmlns:a16="http://schemas.microsoft.com/office/drawing/2014/main" id="{FCA0A40B-F558-4EC0-AB31-B3A633ACC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8" y="1368"/>
              <a:ext cx="408" cy="0"/>
            </a:xfrm>
            <a:prstGeom prst="line">
              <a:avLst/>
            </a:prstGeom>
            <a:noFill/>
            <a:ln w="222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545C6112-A4D9-4071-B897-9F2FF977FA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780"/>
              <a:ext cx="0" cy="6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28">
            <a:extLst>
              <a:ext uri="{FF2B5EF4-FFF2-40B4-BE49-F238E27FC236}">
                <a16:creationId xmlns:a16="http://schemas.microsoft.com/office/drawing/2014/main" id="{14ACBBB1-7C01-490A-B0B6-97AB688DE4EA}"/>
              </a:ext>
            </a:extLst>
          </p:cNvPr>
          <p:cNvGrpSpPr>
            <a:grpSpLocks/>
          </p:cNvGrpSpPr>
          <p:nvPr/>
        </p:nvGrpSpPr>
        <p:grpSpPr bwMode="auto">
          <a:xfrm>
            <a:off x="5177445" y="1993428"/>
            <a:ext cx="719138" cy="642938"/>
            <a:chOff x="2199" y="399"/>
            <a:chExt cx="453" cy="405"/>
          </a:xfrm>
        </p:grpSpPr>
        <p:sp>
          <p:nvSpPr>
            <p:cNvPr id="52" name="Text Box 29">
              <a:extLst>
                <a:ext uri="{FF2B5EF4-FFF2-40B4-BE49-F238E27FC236}">
                  <a16:creationId xmlns:a16="http://schemas.microsoft.com/office/drawing/2014/main" id="{85F3B976-9C14-4414-9D7D-E12336B98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3" y="399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C2</a:t>
              </a:r>
              <a:endParaRPr lang="en-US" altLang="zh-CN" sz="20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  <p:sp>
          <p:nvSpPr>
            <p:cNvPr id="53" name="Line 30">
              <a:extLst>
                <a:ext uri="{FF2B5EF4-FFF2-40B4-BE49-F238E27FC236}">
                  <a16:creationId xmlns:a16="http://schemas.microsoft.com/office/drawing/2014/main" id="{5E3B7BA8-3C6B-402C-9555-FF82B9253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60" y="612"/>
              <a:ext cx="192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31">
              <a:extLst>
                <a:ext uri="{FF2B5EF4-FFF2-40B4-BE49-F238E27FC236}">
                  <a16:creationId xmlns:a16="http://schemas.microsoft.com/office/drawing/2014/main" id="{FC12BDC2-23AC-47E7-82D2-9D43B8383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9" y="617"/>
              <a:ext cx="269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Text Box 34">
            <a:extLst>
              <a:ext uri="{FF2B5EF4-FFF2-40B4-BE49-F238E27FC236}">
                <a16:creationId xmlns:a16="http://schemas.microsoft.com/office/drawing/2014/main" id="{6DA55857-6CC9-431A-AD72-36617B4FE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833" y="4808066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6" name="Text Box 35">
            <a:extLst>
              <a:ext uri="{FF2B5EF4-FFF2-40B4-BE49-F238E27FC236}">
                <a16:creationId xmlns:a16="http://schemas.microsoft.com/office/drawing/2014/main" id="{C9F3FC4D-2015-4B3B-88D9-7643B29DD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833" y="4911253"/>
            <a:ext cx="1619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accent1"/>
                </a:solidFill>
                <a:latin typeface="Times New Roman" pitchFamily="18" charset="0"/>
                <a:ea typeface="宋体" pitchFamily="2" charset="-122"/>
              </a:rPr>
              <a:t>(a)</a:t>
            </a:r>
            <a:r>
              <a:rPr lang="zh-CN" altLang="en-US" sz="2400">
                <a:solidFill>
                  <a:schemeClr val="accent1"/>
                </a:solidFill>
                <a:latin typeface="Times New Roman" pitchFamily="18" charset="0"/>
                <a:ea typeface="宋体" pitchFamily="2" charset="-122"/>
              </a:rPr>
              <a:t>合理</a:t>
            </a:r>
          </a:p>
        </p:txBody>
      </p:sp>
      <p:sp>
        <p:nvSpPr>
          <p:cNvPr id="57" name="Text Box 36">
            <a:extLst>
              <a:ext uri="{FF2B5EF4-FFF2-40B4-BE49-F238E27FC236}">
                <a16:creationId xmlns:a16="http://schemas.microsoft.com/office/drawing/2014/main" id="{A1DAA549-13CD-46C9-818E-6B19E2B41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720" y="4865216"/>
            <a:ext cx="1762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2400">
                <a:latin typeface="Times New Roman" pitchFamily="18" charset="0"/>
                <a:ea typeface="宋体" pitchFamily="2" charset="-122"/>
              </a:rPr>
              <a:t>b)</a:t>
            </a:r>
            <a:r>
              <a:rPr lang="zh-CN" altLang="en-US" sz="2400">
                <a:latin typeface="Times New Roman" pitchFamily="18" charset="0"/>
                <a:ea typeface="宋体" pitchFamily="2" charset="-122"/>
              </a:rPr>
              <a:t>不合理</a:t>
            </a:r>
            <a:endParaRPr lang="zh-CN" altLang="en-US" sz="240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8" name="Rectangle 43">
            <a:extLst>
              <a:ext uri="{FF2B5EF4-FFF2-40B4-BE49-F238E27FC236}">
                <a16:creationId xmlns:a16="http://schemas.microsoft.com/office/drawing/2014/main" id="{6431C215-7FB0-4AFB-A5C8-C5DAE4175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7408" y="3263428"/>
            <a:ext cx="266700" cy="114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grpSp>
        <p:nvGrpSpPr>
          <p:cNvPr id="59" name="组合 10">
            <a:extLst>
              <a:ext uri="{FF2B5EF4-FFF2-40B4-BE49-F238E27FC236}">
                <a16:creationId xmlns:a16="http://schemas.microsoft.com/office/drawing/2014/main" id="{3211067F-0395-456B-82F9-85791538F4B5}"/>
              </a:ext>
            </a:extLst>
          </p:cNvPr>
          <p:cNvGrpSpPr>
            <a:grpSpLocks/>
          </p:cNvGrpSpPr>
          <p:nvPr/>
        </p:nvGrpSpPr>
        <p:grpSpPr bwMode="auto">
          <a:xfrm>
            <a:off x="6682395" y="2010891"/>
            <a:ext cx="3992563" cy="2640012"/>
            <a:chOff x="4784468" y="1569575"/>
            <a:chExt cx="3993046" cy="2640012"/>
          </a:xfrm>
        </p:grpSpPr>
        <p:pic>
          <p:nvPicPr>
            <p:cNvPr id="60" name="图片 62">
              <a:extLst>
                <a:ext uri="{FF2B5EF4-FFF2-40B4-BE49-F238E27FC236}">
                  <a16:creationId xmlns:a16="http://schemas.microsoft.com/office/drawing/2014/main" id="{311908FE-A09C-420A-8590-90A34F6C7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784468" y="1751444"/>
              <a:ext cx="3672000" cy="2138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1" name="组合 9">
              <a:extLst>
                <a:ext uri="{FF2B5EF4-FFF2-40B4-BE49-F238E27FC236}">
                  <a16:creationId xmlns:a16="http://schemas.microsoft.com/office/drawing/2014/main" id="{D889F10F-8C72-4B20-A9AD-5E196C53A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9821" y="1569575"/>
              <a:ext cx="3137693" cy="2640012"/>
              <a:chOff x="5639821" y="1569575"/>
              <a:chExt cx="3137693" cy="2640012"/>
            </a:xfrm>
          </p:grpSpPr>
          <p:sp>
            <p:nvSpPr>
              <p:cNvPr id="62" name="Line 39">
                <a:extLst>
                  <a:ext uri="{FF2B5EF4-FFF2-40B4-BE49-F238E27FC236}">
                    <a16:creationId xmlns:a16="http://schemas.microsoft.com/office/drawing/2014/main" id="{AE691489-D282-4A4D-B5F4-CB611CA3C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16902" y="3753975"/>
                <a:ext cx="1819274" cy="1111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40">
                <a:extLst>
                  <a:ext uri="{FF2B5EF4-FFF2-40B4-BE49-F238E27FC236}">
                    <a16:creationId xmlns:a16="http://schemas.microsoft.com/office/drawing/2014/main" id="{F897BA14-1979-4AC9-9061-9E9B76348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51765" y="2320462"/>
                <a:ext cx="36195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41">
                <a:extLst>
                  <a:ext uri="{FF2B5EF4-FFF2-40B4-BE49-F238E27FC236}">
                    <a16:creationId xmlns:a16="http://schemas.microsoft.com/office/drawing/2014/main" id="{B3E87621-E8AE-42F1-A3AB-C1F435732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51765" y="3298362"/>
                <a:ext cx="36195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42">
                <a:extLst>
                  <a:ext uri="{FF2B5EF4-FFF2-40B4-BE49-F238E27FC236}">
                    <a16:creationId xmlns:a16="http://schemas.microsoft.com/office/drawing/2014/main" id="{EB129F34-06BD-44D4-843D-7BFF1C43A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88277" y="2317287"/>
                <a:ext cx="0" cy="97790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Text Box 44">
                <a:extLst>
                  <a:ext uri="{FF2B5EF4-FFF2-40B4-BE49-F238E27FC236}">
                    <a16:creationId xmlns:a16="http://schemas.microsoft.com/office/drawing/2014/main" id="{1E1CF61E-DDA8-4EF6-A24F-FF7127407F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5577115" y="2634787"/>
                <a:ext cx="522287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  <a:sym typeface="Symbol" pitchFamily="18" charset="2"/>
                  </a:rPr>
                  <a:t>15</a:t>
                </a:r>
              </a:p>
            </p:txBody>
          </p:sp>
          <p:sp>
            <p:nvSpPr>
              <p:cNvPr id="67" name="Line 45">
                <a:extLst>
                  <a:ext uri="{FF2B5EF4-FFF2-40B4-BE49-F238E27FC236}">
                    <a16:creationId xmlns:a16="http://schemas.microsoft.com/office/drawing/2014/main" id="{F2F88DF4-C918-4D5E-B9C2-1A03464B0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4665" y="3365037"/>
                <a:ext cx="0" cy="81915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8" name="Line 46">
                <a:extLst>
                  <a:ext uri="{FF2B5EF4-FFF2-40B4-BE49-F238E27FC236}">
                    <a16:creationId xmlns:a16="http://schemas.microsoft.com/office/drawing/2014/main" id="{99B3FF9F-97E5-4D1C-A558-9A1E4891D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28015" y="3355512"/>
                <a:ext cx="0" cy="57150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Text Box 47">
                <a:extLst>
                  <a:ext uri="{FF2B5EF4-FFF2-40B4-BE49-F238E27FC236}">
                    <a16:creationId xmlns:a16="http://schemas.microsoft.com/office/drawing/2014/main" id="{C461E40C-970C-4FBA-A033-8BE8B1636A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53490" y="3374562"/>
                <a:ext cx="428625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</a:rPr>
                  <a:t>31</a:t>
                </a:r>
                <a:endParaRPr lang="en-US" altLang="zh-CN" sz="2400" b="0">
                  <a:solidFill>
                    <a:schemeClr val="tx1"/>
                  </a:solidFill>
                  <a:latin typeface="ISOCPEUR" pitchFamily="34" charset="0"/>
                  <a:ea typeface="宋体" pitchFamily="2" charset="-122"/>
                </a:endParaRPr>
              </a:p>
            </p:txBody>
          </p:sp>
          <p:sp>
            <p:nvSpPr>
              <p:cNvPr id="70" name="Line 48">
                <a:extLst>
                  <a:ext uri="{FF2B5EF4-FFF2-40B4-BE49-F238E27FC236}">
                    <a16:creationId xmlns:a16="http://schemas.microsoft.com/office/drawing/2014/main" id="{A243BFD3-FC98-421B-B234-4C7DF2178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7764" y="3241212"/>
                <a:ext cx="0" cy="93345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49">
                <a:extLst>
                  <a:ext uri="{FF2B5EF4-FFF2-40B4-BE49-F238E27FC236}">
                    <a16:creationId xmlns:a16="http://schemas.microsoft.com/office/drawing/2014/main" id="{C2C1C689-9C87-48A6-9790-D991A15E0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94665" y="4098462"/>
                <a:ext cx="1941512" cy="9525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Text Box 50">
                <a:extLst>
                  <a:ext uri="{FF2B5EF4-FFF2-40B4-BE49-F238E27FC236}">
                    <a16:creationId xmlns:a16="http://schemas.microsoft.com/office/drawing/2014/main" id="{793828BB-50B7-4EDC-BA1B-3095CAA425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12215" y="3752387"/>
                <a:ext cx="4699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</a:rPr>
                  <a:t>35</a:t>
                </a:r>
                <a:endParaRPr lang="en-US" altLang="zh-CN" sz="2400" b="0">
                  <a:solidFill>
                    <a:schemeClr val="tx1"/>
                  </a:solidFill>
                  <a:latin typeface="ISOCPEUR" pitchFamily="34" charset="0"/>
                  <a:ea typeface="宋体" pitchFamily="2" charset="-122"/>
                </a:endParaRPr>
              </a:p>
            </p:txBody>
          </p:sp>
          <p:sp>
            <p:nvSpPr>
              <p:cNvPr id="73" name="Text Box 51">
                <a:extLst>
                  <a:ext uri="{FF2B5EF4-FFF2-40B4-BE49-F238E27FC236}">
                    <a16:creationId xmlns:a16="http://schemas.microsoft.com/office/drawing/2014/main" id="{57454D94-0783-4A80-BB3B-A1CDBE5BE5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8136164" y="2715750"/>
                <a:ext cx="725487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  <a:sym typeface="Symbol" pitchFamily="18" charset="2"/>
                  </a:rPr>
                  <a:t>20</a:t>
                </a:r>
              </a:p>
            </p:txBody>
          </p:sp>
          <p:sp>
            <p:nvSpPr>
              <p:cNvPr id="74" name="Line 52">
                <a:extLst>
                  <a:ext uri="{FF2B5EF4-FFF2-40B4-BE49-F238E27FC236}">
                    <a16:creationId xmlns:a16="http://schemas.microsoft.com/office/drawing/2014/main" id="{209EB077-8D03-4171-8EAA-EEDF13DB13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82189" y="2212512"/>
                <a:ext cx="666750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53">
                <a:extLst>
                  <a:ext uri="{FF2B5EF4-FFF2-40B4-BE49-F238E27FC236}">
                    <a16:creationId xmlns:a16="http://schemas.microsoft.com/office/drawing/2014/main" id="{5B2EB75A-48AF-432C-AE03-1B3AC8412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077427" y="3388850"/>
                <a:ext cx="700087" cy="158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54">
                <a:extLst>
                  <a:ext uri="{FF2B5EF4-FFF2-40B4-BE49-F238E27FC236}">
                    <a16:creationId xmlns:a16="http://schemas.microsoft.com/office/drawing/2014/main" id="{A1E6806F-4775-4CA8-AEF2-6CACD29D3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53689" y="2214100"/>
                <a:ext cx="0" cy="1169987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Text Box 55">
                <a:extLst>
                  <a:ext uri="{FF2B5EF4-FFF2-40B4-BE49-F238E27FC236}">
                    <a16:creationId xmlns:a16="http://schemas.microsoft.com/office/drawing/2014/main" id="{C92F7560-D70B-4EC8-BA9D-9944B20495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2102" y="1569575"/>
                <a:ext cx="422275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</a:rPr>
                  <a:t>C2</a:t>
                </a:r>
                <a:endParaRPr lang="en-US" altLang="zh-CN" sz="2000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endParaRPr>
              </a:p>
            </p:txBody>
          </p:sp>
          <p:sp>
            <p:nvSpPr>
              <p:cNvPr id="78" name="Line 56">
                <a:extLst>
                  <a:ext uri="{FF2B5EF4-FFF2-40B4-BE49-F238E27FC236}">
                    <a16:creationId xmlns:a16="http://schemas.microsoft.com/office/drawing/2014/main" id="{DDCDE76A-8EA1-4FB9-A679-3AE69D5C7B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790089" y="1907712"/>
                <a:ext cx="304800" cy="30480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Line 57">
                <a:extLst>
                  <a:ext uri="{FF2B5EF4-FFF2-40B4-BE49-F238E27FC236}">
                    <a16:creationId xmlns:a16="http://schemas.microsoft.com/office/drawing/2014/main" id="{EEE54105-040A-4D01-BA14-F7AFFBB9B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382102" y="1907712"/>
                <a:ext cx="417512" cy="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0" name="Text Box 58">
            <a:extLst>
              <a:ext uri="{FF2B5EF4-FFF2-40B4-BE49-F238E27FC236}">
                <a16:creationId xmlns:a16="http://schemas.microsoft.com/office/drawing/2014/main" id="{C8D91410-A40A-49AA-AEF8-AC8CB4A1C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9458" y="5917481"/>
            <a:ext cx="3206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(2)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车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4×φ15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退刀槽</a:t>
            </a:r>
          </a:p>
        </p:txBody>
      </p:sp>
      <p:sp>
        <p:nvSpPr>
          <p:cNvPr id="81" name="Text Box 59">
            <a:extLst>
              <a:ext uri="{FF2B5EF4-FFF2-40B4-BE49-F238E27FC236}">
                <a16:creationId xmlns:a16="http://schemas.microsoft.com/office/drawing/2014/main" id="{C79191B3-5F5F-4ACB-92B4-C603383FC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968" y="5921142"/>
            <a:ext cx="29305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(3)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车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φ20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外圆倒角</a:t>
            </a:r>
          </a:p>
        </p:txBody>
      </p:sp>
      <p:sp>
        <p:nvSpPr>
          <p:cNvPr id="82" name="Rectangle 9">
            <a:extLst>
              <a:ext uri="{FF2B5EF4-FFF2-40B4-BE49-F238E27FC236}">
                <a16:creationId xmlns:a16="http://schemas.microsoft.com/office/drawing/2014/main" id="{FD35DCD3-45C7-4EB4-BEC7-229F292AA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708" y="368660"/>
            <a:ext cx="5578475" cy="58420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3300"/>
                </a:solidFill>
              </a:rPr>
              <a:t>零件尺寸的合理标注</a:t>
            </a:r>
          </a:p>
        </p:txBody>
      </p:sp>
      <p:sp>
        <p:nvSpPr>
          <p:cNvPr id="83" name="Text Box 58">
            <a:extLst>
              <a:ext uri="{FF2B5EF4-FFF2-40B4-BE49-F238E27FC236}">
                <a16:creationId xmlns:a16="http://schemas.microsoft.com/office/drawing/2014/main" id="{DEC7B642-DAE5-415A-8A49-062DFA0A7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123" y="5965465"/>
            <a:ext cx="25685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(1)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车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φ20</a:t>
            </a:r>
            <a:r>
              <a:rPr lang="zh-CN" altLang="en-US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圆长</a:t>
            </a:r>
            <a:r>
              <a:rPr lang="en-US" altLang="zh-CN" sz="28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35</a:t>
            </a:r>
            <a:endParaRPr lang="zh-CN" altLang="en-US" sz="28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04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utoUpdateAnimBg="0"/>
      <p:bldP spid="55" grpId="0" autoUpdateAnimBg="0"/>
      <p:bldP spid="56" grpId="0" autoUpdateAnimBg="0"/>
      <p:bldP spid="57" grpId="0" autoUpdateAnimBg="0"/>
      <p:bldP spid="80" grpId="0" autoUpdateAnimBg="0"/>
      <p:bldP spid="81" grpId="0" autoUpdateAnimBg="0"/>
      <p:bldP spid="8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BAB98F83-482D-4F92-9A15-FAA44222B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32" y="1304628"/>
            <a:ext cx="487362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ISOCP" pitchFamily="2" charset="0"/>
                <a:ea typeface="宋体" pitchFamily="2" charset="-122"/>
              </a:rPr>
              <a:t>四、</a:t>
            </a:r>
            <a:r>
              <a:rPr lang="zh-CN" altLang="zh-CN" sz="2800" b="1" dirty="0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t>避免标注成封闭的尺寸链</a:t>
            </a:r>
            <a:endParaRPr lang="zh-CN" altLang="en-US" sz="2800" b="1" dirty="0">
              <a:solidFill>
                <a:srgbClr val="0000CC"/>
              </a:solidFill>
              <a:latin typeface="ISOCP" pitchFamily="2" charset="0"/>
              <a:ea typeface="宋体" pitchFamily="2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49DC930-6B35-4448-B89C-52ECB5991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3732" y="404664"/>
            <a:ext cx="5578475" cy="58420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>
                <a:solidFill>
                  <a:srgbClr val="FF3300"/>
                </a:solidFill>
              </a:rPr>
              <a:t>零件尺寸的合理标注</a:t>
            </a: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4A438C7F-8AAE-4D3A-A640-40F08078C8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18207" y="1687900"/>
            <a:ext cx="300355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716CC8E-D8F3-4176-99A3-A5F07085A906}"/>
              </a:ext>
            </a:extLst>
          </p:cNvPr>
          <p:cNvSpPr/>
          <p:nvPr/>
        </p:nvSpPr>
        <p:spPr>
          <a:xfrm>
            <a:off x="1662967" y="1842473"/>
            <a:ext cx="51925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封闭尺寸链是由头尾相接，绕成一整圈的一组尺寸。每个尺寸是尺寸链中的一环，这样标注尺寸难以保证设计要求和工艺要求。</a:t>
            </a:r>
            <a:endParaRPr lang="zh-CN" altLang="en-US" sz="24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6C13AAD-BCF9-4A5A-8811-DA0305E10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468" y="3445840"/>
            <a:ext cx="8269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五、同一个方向只能有一个非加工面与加工面联系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C0B34E-AA78-48C5-9FB1-41033C2029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5557" y="4584216"/>
            <a:ext cx="3673475" cy="16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F30EBFD5-88C0-45DE-AE5D-9F20608F7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523" y="4132323"/>
            <a:ext cx="12319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lang="zh-CN" altLang="en-US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加工面</a:t>
            </a:r>
            <a:endParaRPr lang="zh-CN" altLang="en-US" sz="1800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7C1423E4-0A5A-414A-8A50-077A411FE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581" y="4109844"/>
            <a:ext cx="21621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B</a:t>
            </a:r>
            <a:r>
              <a:rPr lang="zh-CN" altLang="en-US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D</a:t>
            </a:r>
            <a:r>
              <a:rPr lang="zh-CN" altLang="en-US" sz="1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：</a:t>
            </a:r>
            <a:r>
              <a:rPr lang="zh-CN" altLang="en-US" sz="1800" dirty="0">
                <a:latin typeface="宋体" pitchFamily="2" charset="-122"/>
                <a:ea typeface="宋体" pitchFamily="2" charset="-122"/>
              </a:rPr>
              <a:t>非加工面</a:t>
            </a:r>
            <a:endParaRPr lang="zh-CN" altLang="en-US" sz="1800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05F9D8-FCC4-4926-A734-12BF807A5C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2810" y="4581541"/>
            <a:ext cx="3567113" cy="162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29696">
            <a:extLst>
              <a:ext uri="{FF2B5EF4-FFF2-40B4-BE49-F238E27FC236}">
                <a16:creationId xmlns:a16="http://schemas.microsoft.com/office/drawing/2014/main" id="{6AF0E9E7-A5BE-45CD-AE92-3670CDC1FC3A}"/>
              </a:ext>
            </a:extLst>
          </p:cNvPr>
          <p:cNvGrpSpPr>
            <a:grpSpLocks/>
          </p:cNvGrpSpPr>
          <p:nvPr/>
        </p:nvGrpSpPr>
        <p:grpSpPr bwMode="auto">
          <a:xfrm>
            <a:off x="8317644" y="5946291"/>
            <a:ext cx="290513" cy="319088"/>
            <a:chOff x="7486650" y="5625202"/>
            <a:chExt cx="409575" cy="457200"/>
          </a:xfrm>
        </p:grpSpPr>
        <p:sp>
          <p:nvSpPr>
            <p:cNvPr id="12" name="Line 38">
              <a:extLst>
                <a:ext uri="{FF2B5EF4-FFF2-40B4-BE49-F238E27FC236}">
                  <a16:creationId xmlns:a16="http://schemas.microsoft.com/office/drawing/2014/main" id="{5C44155D-08D7-4241-9C63-798C7DA80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6650" y="5625202"/>
              <a:ext cx="133350" cy="4572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39">
              <a:extLst>
                <a:ext uri="{FF2B5EF4-FFF2-40B4-BE49-F238E27FC236}">
                  <a16:creationId xmlns:a16="http://schemas.microsoft.com/office/drawing/2014/main" id="{3BC5060A-AF95-448A-AE33-79861FE82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6175" y="6082402"/>
              <a:ext cx="40005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40">
              <a:extLst>
                <a:ext uri="{FF2B5EF4-FFF2-40B4-BE49-F238E27FC236}">
                  <a16:creationId xmlns:a16="http://schemas.microsoft.com/office/drawing/2014/main" id="{C959296F-831D-4173-B4AD-69FCE417C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449" y="5750032"/>
              <a:ext cx="277640" cy="27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A</a:t>
              </a:r>
              <a:endParaRPr lang="en-US" altLang="zh-CN" sz="12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15" name="组合 29695">
            <a:extLst>
              <a:ext uri="{FF2B5EF4-FFF2-40B4-BE49-F238E27FC236}">
                <a16:creationId xmlns:a16="http://schemas.microsoft.com/office/drawing/2014/main" id="{0BB9F52E-2B89-47B2-8D78-C78DF73720BD}"/>
              </a:ext>
            </a:extLst>
          </p:cNvPr>
          <p:cNvGrpSpPr>
            <a:grpSpLocks/>
          </p:cNvGrpSpPr>
          <p:nvPr/>
        </p:nvGrpSpPr>
        <p:grpSpPr bwMode="auto">
          <a:xfrm>
            <a:off x="4105473" y="5227654"/>
            <a:ext cx="250825" cy="549275"/>
            <a:chOff x="5412003" y="5865550"/>
            <a:chExt cx="361950" cy="550227"/>
          </a:xfrm>
        </p:grpSpPr>
        <p:sp>
          <p:nvSpPr>
            <p:cNvPr id="16" name="Line 41">
              <a:extLst>
                <a:ext uri="{FF2B5EF4-FFF2-40B4-BE49-F238E27FC236}">
                  <a16:creationId xmlns:a16="http://schemas.microsoft.com/office/drawing/2014/main" id="{6C181DA6-53DC-42F5-A00E-89D979692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2582" y="6072877"/>
              <a:ext cx="152400" cy="3429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42">
              <a:extLst>
                <a:ext uri="{FF2B5EF4-FFF2-40B4-BE49-F238E27FC236}">
                  <a16:creationId xmlns:a16="http://schemas.microsoft.com/office/drawing/2014/main" id="{26E0394A-470C-445C-9B3C-67E461B65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2003" y="6082402"/>
              <a:ext cx="36195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43">
              <a:extLst>
                <a:ext uri="{FF2B5EF4-FFF2-40B4-BE49-F238E27FC236}">
                  <a16:creationId xmlns:a16="http://schemas.microsoft.com/office/drawing/2014/main" id="{D2187640-6C3E-435D-B014-A8648564D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757" y="5865550"/>
              <a:ext cx="26642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B</a:t>
              </a:r>
              <a:endParaRPr lang="en-US" altLang="zh-CN" sz="12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19" name="组合 10">
            <a:extLst>
              <a:ext uri="{FF2B5EF4-FFF2-40B4-BE49-F238E27FC236}">
                <a16:creationId xmlns:a16="http://schemas.microsoft.com/office/drawing/2014/main" id="{5A4D975C-27BA-4C78-96C9-207C5D2A8569}"/>
              </a:ext>
            </a:extLst>
          </p:cNvPr>
          <p:cNvGrpSpPr>
            <a:grpSpLocks/>
          </p:cNvGrpSpPr>
          <p:nvPr/>
        </p:nvGrpSpPr>
        <p:grpSpPr bwMode="auto">
          <a:xfrm>
            <a:off x="8616094" y="4696929"/>
            <a:ext cx="323850" cy="282575"/>
            <a:chOff x="7067550" y="2516164"/>
            <a:chExt cx="647700" cy="1508838"/>
          </a:xfrm>
        </p:grpSpPr>
        <p:sp>
          <p:nvSpPr>
            <p:cNvPr id="20" name="Line 44">
              <a:extLst>
                <a:ext uri="{FF2B5EF4-FFF2-40B4-BE49-F238E27FC236}">
                  <a16:creationId xmlns:a16="http://schemas.microsoft.com/office/drawing/2014/main" id="{3EEE80BF-808E-4BDD-816F-30449AAEE3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67550" y="3605902"/>
              <a:ext cx="228600" cy="4191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45">
              <a:extLst>
                <a:ext uri="{FF2B5EF4-FFF2-40B4-BE49-F238E27FC236}">
                  <a16:creationId xmlns:a16="http://schemas.microsoft.com/office/drawing/2014/main" id="{890E8392-269E-46DE-97E4-ED14537B0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6150" y="3605902"/>
              <a:ext cx="4191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DA86C107-2784-4DE0-968F-CAC5C3FF0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6490" y="2516164"/>
              <a:ext cx="357303" cy="3550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C</a:t>
              </a:r>
              <a:endParaRPr lang="en-US" altLang="zh-CN" sz="12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23" name="组合 30">
            <a:extLst>
              <a:ext uri="{FF2B5EF4-FFF2-40B4-BE49-F238E27FC236}">
                <a16:creationId xmlns:a16="http://schemas.microsoft.com/office/drawing/2014/main" id="{6F1F2ECC-B12B-4113-96DB-F6D6ECE521F1}"/>
              </a:ext>
            </a:extLst>
          </p:cNvPr>
          <p:cNvGrpSpPr>
            <a:grpSpLocks/>
          </p:cNvGrpSpPr>
          <p:nvPr/>
        </p:nvGrpSpPr>
        <p:grpSpPr bwMode="auto">
          <a:xfrm>
            <a:off x="3443485" y="5078429"/>
            <a:ext cx="323850" cy="277812"/>
            <a:chOff x="4753839" y="4261943"/>
            <a:chExt cx="532606" cy="487469"/>
          </a:xfrm>
        </p:grpSpPr>
        <p:sp>
          <p:nvSpPr>
            <p:cNvPr id="24" name="Line 48">
              <a:extLst>
                <a:ext uri="{FF2B5EF4-FFF2-40B4-BE49-F238E27FC236}">
                  <a16:creationId xmlns:a16="http://schemas.microsoft.com/office/drawing/2014/main" id="{9EC10B20-C751-4DE1-ADE9-0ABB19C56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5445" y="4731840"/>
              <a:ext cx="3810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5" name="组合 13">
              <a:extLst>
                <a:ext uri="{FF2B5EF4-FFF2-40B4-BE49-F238E27FC236}">
                  <a16:creationId xmlns:a16="http://schemas.microsoft.com/office/drawing/2014/main" id="{193FB093-2870-4918-8DB4-52E055FEC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3839" y="4261943"/>
              <a:ext cx="509889" cy="487469"/>
              <a:chOff x="4753839" y="4261943"/>
              <a:chExt cx="509889" cy="487469"/>
            </a:xfrm>
          </p:grpSpPr>
          <p:sp>
            <p:nvSpPr>
              <p:cNvPr id="26" name="Line 47">
                <a:extLst>
                  <a:ext uri="{FF2B5EF4-FFF2-40B4-BE49-F238E27FC236}">
                    <a16:creationId xmlns:a16="http://schemas.microsoft.com/office/drawing/2014/main" id="{11457AE0-B1BC-4D71-84B0-064BE102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839" y="4329802"/>
                <a:ext cx="152400" cy="40005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Text Box 49">
                <a:extLst>
                  <a:ext uri="{FF2B5EF4-FFF2-40B4-BE49-F238E27FC236}">
                    <a16:creationId xmlns:a16="http://schemas.microsoft.com/office/drawing/2014/main" id="{27BC2A3B-E4E1-4F10-866C-4EDE88B3ED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5775" y="4261943"/>
                <a:ext cx="437953" cy="487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2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</a:rPr>
                  <a:t>D</a:t>
                </a:r>
                <a:endParaRPr lang="en-US" altLang="zh-CN" sz="1200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28" name="组合 35">
            <a:extLst>
              <a:ext uri="{FF2B5EF4-FFF2-40B4-BE49-F238E27FC236}">
                <a16:creationId xmlns:a16="http://schemas.microsoft.com/office/drawing/2014/main" id="{1FCC2140-6D9F-4BF7-A373-D0BB587EFBF7}"/>
              </a:ext>
            </a:extLst>
          </p:cNvPr>
          <p:cNvGrpSpPr>
            <a:grpSpLocks/>
          </p:cNvGrpSpPr>
          <p:nvPr/>
        </p:nvGrpSpPr>
        <p:grpSpPr bwMode="auto">
          <a:xfrm>
            <a:off x="9025669" y="5219216"/>
            <a:ext cx="249238" cy="550863"/>
            <a:chOff x="5412003" y="5865550"/>
            <a:chExt cx="361950" cy="550227"/>
          </a:xfrm>
        </p:grpSpPr>
        <p:sp>
          <p:nvSpPr>
            <p:cNvPr id="29" name="Line 41">
              <a:extLst>
                <a:ext uri="{FF2B5EF4-FFF2-40B4-BE49-F238E27FC236}">
                  <a16:creationId xmlns:a16="http://schemas.microsoft.com/office/drawing/2014/main" id="{208044D4-61EF-41AA-83A9-26D847CF4F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2582" y="6072877"/>
              <a:ext cx="152400" cy="3429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42">
              <a:extLst>
                <a:ext uri="{FF2B5EF4-FFF2-40B4-BE49-F238E27FC236}">
                  <a16:creationId xmlns:a16="http://schemas.microsoft.com/office/drawing/2014/main" id="{D560FFFA-3B10-4557-BEA7-2D77D7023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2003" y="6082402"/>
              <a:ext cx="36195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43">
              <a:extLst>
                <a:ext uri="{FF2B5EF4-FFF2-40B4-BE49-F238E27FC236}">
                  <a16:creationId xmlns:a16="http://schemas.microsoft.com/office/drawing/2014/main" id="{2538132F-187E-4BCB-8122-D32530092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5757" y="5865550"/>
              <a:ext cx="266420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B</a:t>
              </a:r>
              <a:endParaRPr lang="en-US" altLang="zh-CN" sz="12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32" name="组合 39">
            <a:extLst>
              <a:ext uri="{FF2B5EF4-FFF2-40B4-BE49-F238E27FC236}">
                <a16:creationId xmlns:a16="http://schemas.microsoft.com/office/drawing/2014/main" id="{B12C7543-275A-44CE-B3B9-51E647D57B08}"/>
              </a:ext>
            </a:extLst>
          </p:cNvPr>
          <p:cNvGrpSpPr>
            <a:grpSpLocks/>
          </p:cNvGrpSpPr>
          <p:nvPr/>
        </p:nvGrpSpPr>
        <p:grpSpPr bwMode="auto">
          <a:xfrm>
            <a:off x="3538735" y="5929329"/>
            <a:ext cx="290513" cy="319087"/>
            <a:chOff x="7486650" y="5625202"/>
            <a:chExt cx="409575" cy="457200"/>
          </a:xfrm>
        </p:grpSpPr>
        <p:sp>
          <p:nvSpPr>
            <p:cNvPr id="33" name="Line 38">
              <a:extLst>
                <a:ext uri="{FF2B5EF4-FFF2-40B4-BE49-F238E27FC236}">
                  <a16:creationId xmlns:a16="http://schemas.microsoft.com/office/drawing/2014/main" id="{24D3928C-9BC3-43C4-9BC9-F76228E55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6650" y="5625202"/>
              <a:ext cx="133350" cy="4572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9">
              <a:extLst>
                <a:ext uri="{FF2B5EF4-FFF2-40B4-BE49-F238E27FC236}">
                  <a16:creationId xmlns:a16="http://schemas.microsoft.com/office/drawing/2014/main" id="{060E7B5C-76CD-4134-9A1D-EE428583A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6175" y="6082402"/>
              <a:ext cx="40005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40">
              <a:extLst>
                <a:ext uri="{FF2B5EF4-FFF2-40B4-BE49-F238E27FC236}">
                  <a16:creationId xmlns:a16="http://schemas.microsoft.com/office/drawing/2014/main" id="{9ECE2AAB-76C5-4A12-ABB2-41810E919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7449" y="5750032"/>
              <a:ext cx="277640" cy="277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200" i="1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rPr>
                <a:t>A</a:t>
              </a:r>
              <a:endParaRPr lang="en-US" altLang="zh-CN" sz="1200">
                <a:solidFill>
                  <a:srgbClr val="FF3300"/>
                </a:solidFill>
                <a:latin typeface="ISOCPEUR" pitchFamily="34" charset="0"/>
                <a:ea typeface="宋体" pitchFamily="2" charset="-122"/>
              </a:endParaRPr>
            </a:p>
          </p:txBody>
        </p:sp>
      </p:grpSp>
      <p:grpSp>
        <p:nvGrpSpPr>
          <p:cNvPr id="36" name="组合 43">
            <a:extLst>
              <a:ext uri="{FF2B5EF4-FFF2-40B4-BE49-F238E27FC236}">
                <a16:creationId xmlns:a16="http://schemas.microsoft.com/office/drawing/2014/main" id="{024E2E2C-76B6-46CF-B9C8-5FD7E37AC7F5}"/>
              </a:ext>
            </a:extLst>
          </p:cNvPr>
          <p:cNvGrpSpPr>
            <a:grpSpLocks/>
          </p:cNvGrpSpPr>
          <p:nvPr/>
        </p:nvGrpSpPr>
        <p:grpSpPr bwMode="auto">
          <a:xfrm>
            <a:off x="8355744" y="5089041"/>
            <a:ext cx="323850" cy="276225"/>
            <a:chOff x="4753839" y="4261943"/>
            <a:chExt cx="532606" cy="487469"/>
          </a:xfrm>
        </p:grpSpPr>
        <p:sp>
          <p:nvSpPr>
            <p:cNvPr id="37" name="Line 48">
              <a:extLst>
                <a:ext uri="{FF2B5EF4-FFF2-40B4-BE49-F238E27FC236}">
                  <a16:creationId xmlns:a16="http://schemas.microsoft.com/office/drawing/2014/main" id="{15E1B096-E601-4ABA-833A-30C413D5B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5445" y="4731840"/>
              <a:ext cx="3810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" name="组合 45">
              <a:extLst>
                <a:ext uri="{FF2B5EF4-FFF2-40B4-BE49-F238E27FC236}">
                  <a16:creationId xmlns:a16="http://schemas.microsoft.com/office/drawing/2014/main" id="{B7EA4F71-3350-4C84-9C0C-FC6B973DDC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3839" y="4261943"/>
              <a:ext cx="509889" cy="487469"/>
              <a:chOff x="4753839" y="4261943"/>
              <a:chExt cx="509889" cy="487469"/>
            </a:xfrm>
          </p:grpSpPr>
          <p:sp>
            <p:nvSpPr>
              <p:cNvPr id="39" name="Line 47">
                <a:extLst>
                  <a:ext uri="{FF2B5EF4-FFF2-40B4-BE49-F238E27FC236}">
                    <a16:creationId xmlns:a16="http://schemas.microsoft.com/office/drawing/2014/main" id="{5E5BD801-7AC3-4EC4-B06B-92B439CE8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3839" y="4329802"/>
                <a:ext cx="152400" cy="40005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Text Box 49">
                <a:extLst>
                  <a:ext uri="{FF2B5EF4-FFF2-40B4-BE49-F238E27FC236}">
                    <a16:creationId xmlns:a16="http://schemas.microsoft.com/office/drawing/2014/main" id="{7478EE36-069A-4D23-BE4B-988EE83963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25775" y="4261943"/>
                <a:ext cx="437953" cy="4874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1200" i="1">
                    <a:solidFill>
                      <a:srgbClr val="FF3300"/>
                    </a:solidFill>
                    <a:latin typeface="ISOCPEUR" pitchFamily="34" charset="0"/>
                    <a:ea typeface="宋体" pitchFamily="2" charset="-122"/>
                  </a:rPr>
                  <a:t>D</a:t>
                </a:r>
                <a:endParaRPr lang="en-US" altLang="zh-CN" sz="1200">
                  <a:solidFill>
                    <a:srgbClr val="FF3300"/>
                  </a:solidFill>
                  <a:latin typeface="ISOCPEUR" pitchFamily="34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512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 autoUpdateAnimBg="0"/>
      <p:bldP spid="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B7EE5F-7721-468F-AC0A-3FC0EDA8239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949352" y="874749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2800" dirty="0">
                <a:solidFill>
                  <a:schemeClr val="tx1"/>
                </a:solidFill>
              </a:rPr>
              <a:t>下面说法哪个属于</a:t>
            </a:r>
            <a:r>
              <a:rPr lang="zh-CN" altLang="zh-CN" sz="2800" dirty="0">
                <a:solidFill>
                  <a:schemeClr val="tx1"/>
                </a:solidFill>
              </a:rPr>
              <a:t>标注尺寸的要点</a:t>
            </a:r>
            <a:r>
              <a:rPr lang="zh-CN" altLang="en-US" sz="2800" dirty="0">
                <a:solidFill>
                  <a:schemeClr val="tx1"/>
                </a:solidFill>
              </a:rPr>
              <a:t>？</a:t>
            </a:r>
            <a:endParaRPr kumimoji="0" lang="zh-CN" altLang="en-US" sz="26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C72617D3-8362-474E-9FC0-1CD20FC413E9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63752" y="3025812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zh-CN" sz="2400">
                <a:solidFill>
                  <a:schemeClr val="tx1"/>
                </a:solidFill>
              </a:rPr>
              <a:t>满足设计要求</a:t>
            </a:r>
            <a:r>
              <a:rPr lang="zh-CN" altLang="en-US" sz="2400">
                <a:solidFill>
                  <a:schemeClr val="tx1"/>
                </a:solidFill>
              </a:rPr>
              <a:t>和加工工艺要求。</a:t>
            </a:r>
            <a:endParaRPr lang="zh-CN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E7B930-2FFC-4BB7-B5FE-A7C6CB0D6DE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863752" y="3883062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cs typeface="+mj-cs"/>
                <a:sym typeface="Microsoft Yahei" panose="020B0503020204020204" pitchFamily="34" charset="-122"/>
              </a:rPr>
              <a:t>重要尺寸直接注出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ABA8DE-2B64-4158-9283-FA8F321136E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863752" y="4740312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避免标注成封闭的尺寸链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FEA247-3D8D-45E2-8D25-DBC798A1083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863752" y="5597562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标注的尺寸要便于读图</a:t>
            </a:r>
            <a:endParaRPr kumimoji="0" lang="zh-CN" altLang="en-US" sz="24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矩形 7">
            <a:extLst>
              <a:ext uri="{FF2B5EF4-FFF2-40B4-BE49-F238E27FC236}">
                <a16:creationId xmlns:a16="http://schemas.microsoft.com/office/drawing/2014/main" id="{48A805EA-1C52-4930-9FEF-82B42AF2961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3149377" y="308931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9F2AADF6-38D1-4C24-9D36-1A21E0F73D5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3149377" y="394656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9" name="矩形 9">
            <a:extLst>
              <a:ext uri="{FF2B5EF4-FFF2-40B4-BE49-F238E27FC236}">
                <a16:creationId xmlns:a16="http://schemas.microsoft.com/office/drawing/2014/main" id="{85E28D15-EC78-409D-B98B-EF5092E31EC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3149377" y="480381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66BAE1AC-9327-4D88-B82F-5EB7BFD8066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3149377" y="5661062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1" name="圆角矩形 11">
            <a:extLst>
              <a:ext uri="{FF2B5EF4-FFF2-40B4-BE49-F238E27FC236}">
                <a16:creationId xmlns:a16="http://schemas.microsoft.com/office/drawing/2014/main" id="{CD168112-994C-4FBB-9ECB-3433528CD141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207152" y="6454812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A449380-E17B-47C4-9CB5-754EE28456A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E409DAFA-E999-4E1C-B123-6689E6771FF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DF34837D-DEE3-4748-8394-0D53329067F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1169901-3A84-4945-9FA5-7C63353D94E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F4CC8A8C-99C0-4024-9C21-6CEA2483DA2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2" name="图片 1">
            <a:extLst>
              <a:ext uri="{FF2B5EF4-FFF2-40B4-BE49-F238E27FC236}">
                <a16:creationId xmlns:a16="http://schemas.microsoft.com/office/drawing/2014/main" id="{56501B10-A7FA-4CB5-8A5E-0591C470476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3775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AFD4CBD-6122-4B41-9C35-E391F50A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56299" y="2250840"/>
            <a:ext cx="4916488" cy="318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52831E73-0631-4677-9BC4-78BB49257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584" y="1272456"/>
            <a:ext cx="52339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ISOCP" pitchFamily="2" charset="0"/>
                <a:ea typeface="宋体" pitchFamily="2" charset="-122"/>
              </a:rPr>
              <a:t>六、</a:t>
            </a:r>
            <a:r>
              <a:rPr lang="zh-CN" altLang="zh-CN" sz="2800" b="1" dirty="0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t>盘、盖类零件</a:t>
            </a:r>
            <a:r>
              <a:rPr lang="zh-CN" altLang="en-US" sz="2800" b="1" dirty="0">
                <a:solidFill>
                  <a:srgbClr val="0000CC"/>
                </a:solidFill>
                <a:latin typeface="Calibri" pitchFamily="34" charset="0"/>
                <a:ea typeface="宋体" pitchFamily="2" charset="-122"/>
              </a:rPr>
              <a:t>尺寸标注示例</a:t>
            </a:r>
            <a:endParaRPr lang="zh-CN" altLang="en-US" sz="2800" b="1" dirty="0">
              <a:solidFill>
                <a:srgbClr val="0000CC"/>
              </a:solidFill>
              <a:latin typeface="ISOCP" pitchFamily="2" charset="0"/>
              <a:ea typeface="宋体" pitchFamily="2" charset="-122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BC485D3-9E91-401C-8818-9EB2F4628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700" y="332656"/>
            <a:ext cx="5578475" cy="58420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FF3300"/>
                </a:solidFill>
              </a:rPr>
              <a:t>零件尺寸的合理标注</a:t>
            </a:r>
          </a:p>
        </p:txBody>
      </p:sp>
      <p:grpSp>
        <p:nvGrpSpPr>
          <p:cNvPr id="5" name="Group 25">
            <a:extLst>
              <a:ext uri="{FF2B5EF4-FFF2-40B4-BE49-F238E27FC236}">
                <a16:creationId xmlns:a16="http://schemas.microsoft.com/office/drawing/2014/main" id="{20604691-1EC2-484E-8573-78620B266CC6}"/>
              </a:ext>
            </a:extLst>
          </p:cNvPr>
          <p:cNvGrpSpPr>
            <a:grpSpLocks/>
          </p:cNvGrpSpPr>
          <p:nvPr/>
        </p:nvGrpSpPr>
        <p:grpSpPr bwMode="auto">
          <a:xfrm>
            <a:off x="6835762" y="5036902"/>
            <a:ext cx="990600" cy="325438"/>
            <a:chOff x="2731" y="2287"/>
            <a:chExt cx="1004" cy="240"/>
          </a:xfrm>
        </p:grpSpPr>
        <p:sp>
          <p:nvSpPr>
            <p:cNvPr id="6" name="Line 26">
              <a:extLst>
                <a:ext uri="{FF2B5EF4-FFF2-40B4-BE49-F238E27FC236}">
                  <a16:creationId xmlns:a16="http://schemas.microsoft.com/office/drawing/2014/main" id="{BBA45789-3D34-4465-A41B-33097ACE1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87"/>
              <a:ext cx="240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E5093542-45E8-4936-9BF5-97804D102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527"/>
              <a:ext cx="7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28">
              <a:extLst>
                <a:ext uri="{FF2B5EF4-FFF2-40B4-BE49-F238E27FC236}">
                  <a16:creationId xmlns:a16="http://schemas.microsoft.com/office/drawing/2014/main" id="{9EB3A61E-C949-4C2B-9199-7C20ABFDD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2336"/>
              <a:ext cx="399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基准</a:t>
              </a:r>
            </a:p>
          </p:txBody>
        </p:sp>
      </p:grpSp>
      <p:grpSp>
        <p:nvGrpSpPr>
          <p:cNvPr id="9" name="Group 25">
            <a:extLst>
              <a:ext uri="{FF2B5EF4-FFF2-40B4-BE49-F238E27FC236}">
                <a16:creationId xmlns:a16="http://schemas.microsoft.com/office/drawing/2014/main" id="{F4B456A6-7DE3-4A0F-9E29-0CFCAEA1B867}"/>
              </a:ext>
            </a:extLst>
          </p:cNvPr>
          <p:cNvGrpSpPr>
            <a:grpSpLocks/>
          </p:cNvGrpSpPr>
          <p:nvPr/>
        </p:nvGrpSpPr>
        <p:grpSpPr bwMode="auto">
          <a:xfrm>
            <a:off x="9871062" y="5081352"/>
            <a:ext cx="990600" cy="323850"/>
            <a:chOff x="2731" y="2287"/>
            <a:chExt cx="1004" cy="240"/>
          </a:xfrm>
        </p:grpSpPr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CFB84604-9BA1-4F27-A065-FCD5E7219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287"/>
              <a:ext cx="240" cy="24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A00B25A3-12DF-49D2-8A15-1935BEABB4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527"/>
              <a:ext cx="7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6220F864-D3FB-48BA-828D-E55CDE9ED4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2336"/>
              <a:ext cx="399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基准</a:t>
              </a:r>
            </a:p>
          </p:txBody>
        </p:sp>
      </p:grpSp>
      <p:grpSp>
        <p:nvGrpSpPr>
          <p:cNvPr id="13" name="Group 25">
            <a:extLst>
              <a:ext uri="{FF2B5EF4-FFF2-40B4-BE49-F238E27FC236}">
                <a16:creationId xmlns:a16="http://schemas.microsoft.com/office/drawing/2014/main" id="{95A01117-27CF-403B-9FE9-0B19F3B61AD3}"/>
              </a:ext>
            </a:extLst>
          </p:cNvPr>
          <p:cNvGrpSpPr>
            <a:grpSpLocks/>
          </p:cNvGrpSpPr>
          <p:nvPr/>
        </p:nvGrpSpPr>
        <p:grpSpPr bwMode="auto">
          <a:xfrm>
            <a:off x="6948474" y="3719277"/>
            <a:ext cx="1246188" cy="503238"/>
            <a:chOff x="2471" y="2336"/>
            <a:chExt cx="1264" cy="373"/>
          </a:xfrm>
        </p:grpSpPr>
        <p:sp>
          <p:nvSpPr>
            <p:cNvPr id="14" name="Line 26">
              <a:extLst>
                <a:ext uri="{FF2B5EF4-FFF2-40B4-BE49-F238E27FC236}">
                  <a16:creationId xmlns:a16="http://schemas.microsoft.com/office/drawing/2014/main" id="{B302CA7B-5334-4A9F-9B44-103946555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1" y="2527"/>
              <a:ext cx="500" cy="18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7E064551-6A70-4D88-A034-C96EA2EE7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2527"/>
              <a:ext cx="76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86D4A889-0838-4CDB-BDA3-33435BA09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2336"/>
              <a:ext cx="399" cy="1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333399"/>
                  </a:solidFill>
                  <a:latin typeface="ISOCP" pitchFamily="2" charset="0"/>
                  <a:ea typeface="宋体" pitchFamily="2" charset="-122"/>
                </a:rPr>
                <a:t>基准</a:t>
              </a: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DF9FA883-3902-4868-9FD2-A2101316CE1F}"/>
              </a:ext>
            </a:extLst>
          </p:cNvPr>
          <p:cNvSpPr/>
          <p:nvPr/>
        </p:nvSpPr>
        <p:spPr>
          <a:xfrm>
            <a:off x="1454597" y="1795059"/>
            <a:ext cx="2351087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标注尺寸的步骤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A18088-CE46-4E63-8B96-6FB4607C5AA0}"/>
              </a:ext>
            </a:extLst>
          </p:cNvPr>
          <p:cNvSpPr/>
          <p:nvPr/>
        </p:nvSpPr>
        <p:spPr>
          <a:xfrm>
            <a:off x="1120390" y="2239702"/>
            <a:ext cx="3429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rgbClr val="00B0F0"/>
                </a:solidFill>
                <a:latin typeface="+mn-ea"/>
                <a:ea typeface="+mn-ea"/>
                <a:cs typeface="Times New Roman" panose="02020603050405020304" pitchFamily="18" charset="0"/>
              </a:rPr>
              <a:t>1.</a:t>
            </a:r>
            <a:r>
              <a:rPr lang="zh-CN" altLang="zh-CN" sz="2400" kern="100" dirty="0">
                <a:solidFill>
                  <a:srgbClr val="00B0F0"/>
                </a:solidFill>
                <a:latin typeface="+mn-ea"/>
                <a:ea typeface="+mn-ea"/>
                <a:cs typeface="Times New Roman" panose="02020603050405020304" pitchFamily="18" charset="0"/>
              </a:rPr>
              <a:t>分析零件的形状结构</a:t>
            </a:r>
            <a:endParaRPr lang="zh-CN" altLang="en-US" sz="24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D953E7-D55D-4136-80AE-EEC40BE559AB}"/>
              </a:ext>
            </a:extLst>
          </p:cNvPr>
          <p:cNvSpPr/>
          <p:nvPr/>
        </p:nvSpPr>
        <p:spPr>
          <a:xfrm>
            <a:off x="1115584" y="2775819"/>
            <a:ext cx="44763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rgbClr val="00B0F0"/>
                </a:solidFill>
                <a:latin typeface="+mn-ea"/>
                <a:ea typeface="+mn-ea"/>
                <a:cs typeface="Times New Roman" panose="02020603050405020304" pitchFamily="18" charset="0"/>
              </a:rPr>
              <a:t>2.</a:t>
            </a:r>
            <a:r>
              <a:rPr lang="zh-CN" altLang="zh-CN" sz="2400" dirty="0">
                <a:latin typeface="+mn-ea"/>
                <a:ea typeface="+mn-ea"/>
              </a:rPr>
              <a:t>确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定</a:t>
            </a:r>
            <a:r>
              <a:rPr lang="zh-CN" altLang="zh-CN" sz="2400" dirty="0">
                <a:latin typeface="+mn-ea"/>
                <a:ea typeface="+mn-ea"/>
              </a:rPr>
              <a:t>零件各方向的尺寸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基准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A9F3745-DC3A-4484-B3E5-6699A039554A}"/>
              </a:ext>
            </a:extLst>
          </p:cNvPr>
          <p:cNvSpPr/>
          <p:nvPr/>
        </p:nvSpPr>
        <p:spPr>
          <a:xfrm>
            <a:off x="1113748" y="3317245"/>
            <a:ext cx="41893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rgbClr val="00B0F0"/>
                </a:solidFill>
                <a:latin typeface="+mn-ea"/>
                <a:ea typeface="+mn-ea"/>
                <a:cs typeface="Times New Roman" panose="02020603050405020304" pitchFamily="18" charset="0"/>
              </a:rPr>
              <a:t>3.</a:t>
            </a:r>
            <a:r>
              <a:rPr lang="zh-CN" altLang="zh-CN" sz="2400" dirty="0">
                <a:latin typeface="+mn-ea"/>
                <a:ea typeface="+mn-ea"/>
              </a:rPr>
              <a:t>先标注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重要尺寸</a:t>
            </a:r>
            <a:r>
              <a:rPr lang="zh-CN" altLang="zh-CN" sz="2400" dirty="0">
                <a:latin typeface="+mn-ea"/>
                <a:ea typeface="+mn-ea"/>
              </a:rPr>
              <a:t>，再按加工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zh-CN" sz="2400" dirty="0">
                <a:latin typeface="+mn-ea"/>
                <a:ea typeface="+mn-ea"/>
              </a:rPr>
              <a:t>顺序标注出其他的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定形</a:t>
            </a:r>
            <a:r>
              <a:rPr lang="zh-CN" altLang="en-US" sz="2400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定</a:t>
            </a:r>
            <a:endParaRPr lang="en-US" altLang="zh-CN" sz="2400" dirty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位和总体尺寸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7791AD-BD0C-42C6-A517-5EAD5BD6C48B}"/>
              </a:ext>
            </a:extLst>
          </p:cNvPr>
          <p:cNvSpPr/>
          <p:nvPr/>
        </p:nvSpPr>
        <p:spPr>
          <a:xfrm>
            <a:off x="1115708" y="4652122"/>
            <a:ext cx="40745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rgbClr val="00B0F0"/>
                </a:solidFill>
                <a:latin typeface="+mn-ea"/>
                <a:ea typeface="+mn-ea"/>
                <a:cs typeface="Times New Roman" panose="02020603050405020304" pitchFamily="18" charset="0"/>
              </a:rPr>
              <a:t>4.</a:t>
            </a:r>
            <a:r>
              <a:rPr lang="zh-CN" altLang="zh-CN" sz="2400" dirty="0">
                <a:latin typeface="+mn-ea"/>
                <a:ea typeface="+mn-ea"/>
              </a:rPr>
              <a:t>检查、调整尺寸标注的个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zh-CN" sz="2400" dirty="0">
                <a:latin typeface="+mn-ea"/>
                <a:ea typeface="+mn-ea"/>
              </a:rPr>
              <a:t>数、位置等使标注的尺寸</a:t>
            </a:r>
            <a:endParaRPr lang="en-US" altLang="zh-CN" sz="240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具</a:t>
            </a:r>
            <a:r>
              <a:rPr lang="zh-CN" altLang="zh-CN" sz="2400" dirty="0">
                <a:latin typeface="+mn-ea"/>
                <a:ea typeface="+mn-ea"/>
              </a:rPr>
              <a:t>有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完整性和合理性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A0577AC-4098-4F65-A643-B905B6AB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0349" y="2096852"/>
            <a:ext cx="55753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F1C34FA-5095-4DB3-905C-D7147BCC4F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0974" y="2100027"/>
            <a:ext cx="6243638" cy="365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352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7D3804F-5B83-4465-BFD6-82A827ACB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497" y="1949888"/>
            <a:ext cx="6207125" cy="5238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一、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铸造工艺对零件结构的要求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E6E3912-39BB-471A-9F8F-B76BDA418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835" y="2505394"/>
            <a:ext cx="18875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⒈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起摸斜度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A867ED9-81B0-4226-A0D3-8534F0613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835" y="3130989"/>
            <a:ext cx="2554386" cy="2677656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dirty="0"/>
              <a:t>     </a:t>
            </a:r>
            <a:r>
              <a:rPr lang="zh-CN" altLang="zh-CN" sz="2400" dirty="0"/>
              <a:t>为便于从砂型中取出模型，在造型设计时，将模型沿出模方向做出</a:t>
            </a:r>
            <a:r>
              <a:rPr lang="en-US" altLang="zh-CN" sz="2400" dirty="0"/>
              <a:t>1</a:t>
            </a:r>
            <a:r>
              <a:rPr lang="zh-CN" altLang="zh-CN" sz="2400" dirty="0"/>
              <a:t>∶</a:t>
            </a:r>
            <a:r>
              <a:rPr lang="en-US" altLang="zh-CN" sz="2400" dirty="0"/>
              <a:t>20</a:t>
            </a:r>
            <a:r>
              <a:rPr lang="zh-CN" altLang="zh-CN" sz="2400" dirty="0"/>
              <a:t>（≈</a:t>
            </a:r>
            <a:r>
              <a:rPr lang="en-US" altLang="zh-CN" sz="2400" dirty="0"/>
              <a:t>3</a:t>
            </a:r>
            <a:r>
              <a:rPr lang="zh-CN" altLang="zh-CN" sz="2400" baseline="30000" dirty="0"/>
              <a:t>。</a:t>
            </a:r>
            <a:r>
              <a:rPr lang="zh-CN" altLang="zh-CN" sz="2400" dirty="0"/>
              <a:t>）的起模斜度，也叫做拔模斜度</a:t>
            </a:r>
            <a:r>
              <a:rPr lang="zh-CN" altLang="en-US" sz="2400" dirty="0"/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5B437002-1F2E-4C85-9E76-AA9779727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16" y="1359666"/>
            <a:ext cx="8537772" cy="52322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零件图上应反映加工工艺对零件结构的各种要求。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E803DA-59CA-4460-B3D1-448FC5121A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59796" y="2780863"/>
            <a:ext cx="3379787" cy="320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6CB3532-E771-43AA-8DA2-D2851AA68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1408" y="3477776"/>
            <a:ext cx="2762250" cy="181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16">
            <a:extLst>
              <a:ext uri="{FF2B5EF4-FFF2-40B4-BE49-F238E27FC236}">
                <a16:creationId xmlns:a16="http://schemas.microsoft.com/office/drawing/2014/main" id="{847901D6-0956-491A-A96C-0168A69674C3}"/>
              </a:ext>
            </a:extLst>
          </p:cNvPr>
          <p:cNvGrpSpPr>
            <a:grpSpLocks/>
          </p:cNvGrpSpPr>
          <p:nvPr/>
        </p:nvGrpSpPr>
        <p:grpSpPr bwMode="auto">
          <a:xfrm>
            <a:off x="9811283" y="3476188"/>
            <a:ext cx="1954213" cy="962025"/>
            <a:chOff x="3288" y="1074"/>
            <a:chExt cx="1231" cy="606"/>
          </a:xfrm>
        </p:grpSpPr>
        <p:sp>
          <p:nvSpPr>
            <p:cNvPr id="10" name="Line 17">
              <a:extLst>
                <a:ext uri="{FF2B5EF4-FFF2-40B4-BE49-F238E27FC236}">
                  <a16:creationId xmlns:a16="http://schemas.microsoft.com/office/drawing/2014/main" id="{FCA02288-C9CE-4D7E-85AF-C82D397DED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1358"/>
              <a:ext cx="390" cy="32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8">
              <a:extLst>
                <a:ext uri="{FF2B5EF4-FFF2-40B4-BE49-F238E27FC236}">
                  <a16:creationId xmlns:a16="http://schemas.microsoft.com/office/drawing/2014/main" id="{CBACE858-D499-453C-9DE5-28450ED7C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6" y="1362"/>
              <a:ext cx="81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9">
              <a:extLst>
                <a:ext uri="{FF2B5EF4-FFF2-40B4-BE49-F238E27FC236}">
                  <a16:creationId xmlns:a16="http://schemas.microsoft.com/office/drawing/2014/main" id="{23366157-108A-4202-80AE-040A53901B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3" y="1074"/>
              <a:ext cx="8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起模斜度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781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4" grpId="0" autoUpdateAnimBg="0"/>
      <p:bldP spid="5" grpId="0" animBg="1" autoUpdateAnimBg="0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CA3C4511-9760-4AC8-A863-CA67607AB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0229" y="1355296"/>
            <a:ext cx="6207125" cy="5238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一、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铸造工艺对零件结构的要求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6D791C2-A95A-4206-86C3-B9B32E0DF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037" y="1991555"/>
            <a:ext cx="18891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2.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铸造圆角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16D17FE-4A9B-4773-B8F5-35969E167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164" y="5076739"/>
            <a:ext cx="10549172" cy="1200329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zh-CN" sz="2400" dirty="0">
                <a:latin typeface="+mn-ea"/>
                <a:ea typeface="+mn-ea"/>
              </a:rPr>
              <a:t>为防止浇铸时转角处型砂脱落，同时避免浇铸后铸件冷却时在转角处因应力集中而产生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裂纹</a:t>
            </a:r>
            <a:r>
              <a:rPr lang="zh-CN" altLang="zh-CN" sz="2400" dirty="0">
                <a:latin typeface="+mn-ea"/>
                <a:ea typeface="+mn-ea"/>
              </a:rPr>
              <a:t>，将铸件表面相交处做成圆角。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绘制零件图</a:t>
            </a:r>
            <a:r>
              <a:rPr lang="zh-CN" altLang="zh-CN" sz="2400" dirty="0">
                <a:latin typeface="+mn-ea"/>
                <a:ea typeface="+mn-ea"/>
              </a:rPr>
              <a:t>时，一般需在图样中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画出铸造圆角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84EBC9-B326-45A2-A2A2-B61685A4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7528" y="2454787"/>
            <a:ext cx="6028397" cy="2418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9D8511B-14CD-4766-803D-E9F3FDF47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32304" y="2720630"/>
            <a:ext cx="2619058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23">
            <a:extLst>
              <a:ext uri="{FF2B5EF4-FFF2-40B4-BE49-F238E27FC236}">
                <a16:creationId xmlns:a16="http://schemas.microsoft.com/office/drawing/2014/main" id="{4A5E445F-FCBD-4AE2-8E36-233F6038FB47}"/>
              </a:ext>
            </a:extLst>
          </p:cNvPr>
          <p:cNvGrpSpPr>
            <a:grpSpLocks/>
          </p:cNvGrpSpPr>
          <p:nvPr/>
        </p:nvGrpSpPr>
        <p:grpSpPr bwMode="auto">
          <a:xfrm>
            <a:off x="8008391" y="3285780"/>
            <a:ext cx="1582450" cy="574040"/>
            <a:chOff x="348" y="2517"/>
            <a:chExt cx="837" cy="288"/>
          </a:xfrm>
        </p:grpSpPr>
        <p:sp>
          <p:nvSpPr>
            <p:cNvPr id="10" name="Line 24">
              <a:extLst>
                <a:ext uri="{FF2B5EF4-FFF2-40B4-BE49-F238E27FC236}">
                  <a16:creationId xmlns:a16="http://schemas.microsoft.com/office/drawing/2014/main" id="{013CC2B3-29D1-485E-BB01-A9C9FAA8E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" y="2595"/>
              <a:ext cx="333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4D9281DA-6EA0-411A-8672-726F51A03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" y="2789"/>
              <a:ext cx="5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26">
              <a:extLst>
                <a:ext uri="{FF2B5EF4-FFF2-40B4-BE49-F238E27FC236}">
                  <a16:creationId xmlns:a16="http://schemas.microsoft.com/office/drawing/2014/main" id="{1938BAD8-FD3D-4748-B336-6DFF15C35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" y="2517"/>
              <a:ext cx="5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裂纹</a:t>
              </a: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599567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167664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EF629E05-6928-47E3-8603-636C03DB8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105" y="1399058"/>
            <a:ext cx="6207125" cy="5238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一、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铸造工艺对零件结构的要求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0AB4DF4-B708-4FB5-A297-67E32FD5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399" y="1938690"/>
            <a:ext cx="18891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2.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铸造圆角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0574939-3B31-4EA2-98C2-814A0B9DD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199" y="1910801"/>
            <a:ext cx="1160463" cy="46037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zh-CN" sz="2400" b="1" dirty="0"/>
              <a:t>过渡线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EF53850-30DD-4415-A11E-394FA51D10D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2632"/>
          <a:stretch>
            <a:fillRect/>
          </a:stretch>
        </p:blipFill>
        <p:spPr bwMode="auto">
          <a:xfrm>
            <a:off x="7612339" y="1166648"/>
            <a:ext cx="3633883" cy="3075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A789FF4-3FAF-425F-B4E8-4DBB889C4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399" y="2414823"/>
            <a:ext cx="648146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    </a:t>
            </a:r>
            <a:r>
              <a:rPr lang="zh-CN" altLang="zh-CN" sz="2400" b="1" dirty="0">
                <a:latin typeface="+mn-ea"/>
                <a:ea typeface="+mn-ea"/>
              </a:rPr>
              <a:t>铸造圆角，铸件各表面理论上的交线不存在。</a:t>
            </a:r>
            <a:r>
              <a:rPr lang="zh-CN" altLang="en-US" sz="2400" b="1" dirty="0">
                <a:latin typeface="+mn-ea"/>
                <a:ea typeface="+mn-ea"/>
              </a:rPr>
              <a:t>为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区分不同表面</a:t>
            </a:r>
            <a:r>
              <a:rPr lang="zh-CN" altLang="en-US" sz="2400" b="1" dirty="0">
                <a:latin typeface="+mn-ea"/>
                <a:ea typeface="+mn-ea"/>
              </a:rPr>
              <a:t>，</a:t>
            </a:r>
            <a:r>
              <a:rPr lang="zh-CN" altLang="zh-CN" sz="2400" b="1" dirty="0">
                <a:latin typeface="+mn-ea"/>
                <a:ea typeface="+mn-ea"/>
              </a:rPr>
              <a:t>画图时这些交线用细实线按无圆角的情况画出至理论交点处，在交线的起迄处与圆角的轮廓线断开，称为</a:t>
            </a:r>
            <a:r>
              <a:rPr lang="zh-CN" altLang="zh-CN" sz="2400" b="1" dirty="0">
                <a:solidFill>
                  <a:srgbClr val="FF0000"/>
                </a:solidFill>
                <a:latin typeface="+mn-ea"/>
                <a:ea typeface="+mn-ea"/>
              </a:rPr>
              <a:t>过渡线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9" name="组合 6">
            <a:extLst>
              <a:ext uri="{FF2B5EF4-FFF2-40B4-BE49-F238E27FC236}">
                <a16:creationId xmlns:a16="http://schemas.microsoft.com/office/drawing/2014/main" id="{A33A9B74-1924-4332-9A89-C8572F5B52A1}"/>
              </a:ext>
            </a:extLst>
          </p:cNvPr>
          <p:cNvGrpSpPr>
            <a:grpSpLocks/>
          </p:cNvGrpSpPr>
          <p:nvPr/>
        </p:nvGrpSpPr>
        <p:grpSpPr bwMode="auto">
          <a:xfrm>
            <a:off x="2956146" y="4138777"/>
            <a:ext cx="7151688" cy="1590675"/>
            <a:chOff x="783876" y="4473510"/>
            <a:chExt cx="7152792" cy="1591720"/>
          </a:xfrm>
        </p:grpSpPr>
        <p:pic>
          <p:nvPicPr>
            <p:cNvPr id="10" name="图片 3">
              <a:extLst>
                <a:ext uri="{FF2B5EF4-FFF2-40B4-BE49-F238E27FC236}">
                  <a16:creationId xmlns:a16="http://schemas.microsoft.com/office/drawing/2014/main" id="{C16DDD5F-3534-44A1-ADFA-B47517F3B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3953"/>
            <a:stretch>
              <a:fillRect/>
            </a:stretch>
          </p:blipFill>
          <p:spPr bwMode="auto">
            <a:xfrm>
              <a:off x="783876" y="4503666"/>
              <a:ext cx="1357745" cy="1561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图片 11">
              <a:extLst>
                <a:ext uri="{FF2B5EF4-FFF2-40B4-BE49-F238E27FC236}">
                  <a16:creationId xmlns:a16="http://schemas.microsoft.com/office/drawing/2014/main" id="{FCEC267F-02FE-4C2B-9E40-90B725C2D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4243"/>
            <a:stretch>
              <a:fillRect/>
            </a:stretch>
          </p:blipFill>
          <p:spPr bwMode="auto">
            <a:xfrm>
              <a:off x="2755898" y="4487833"/>
              <a:ext cx="1342634" cy="1561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图片 12">
              <a:extLst>
                <a:ext uri="{FF2B5EF4-FFF2-40B4-BE49-F238E27FC236}">
                  <a16:creationId xmlns:a16="http://schemas.microsoft.com/office/drawing/2014/main" id="{E204F0BE-C61E-4328-B4E8-188BBC6DF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219" r="47929"/>
            <a:stretch>
              <a:fillRect/>
            </a:stretch>
          </p:blipFill>
          <p:spPr bwMode="auto">
            <a:xfrm>
              <a:off x="4893286" y="4503666"/>
              <a:ext cx="1347537" cy="1561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图片 13">
              <a:extLst>
                <a:ext uri="{FF2B5EF4-FFF2-40B4-BE49-F238E27FC236}">
                  <a16:creationId xmlns:a16="http://schemas.microsoft.com/office/drawing/2014/main" id="{D6BFB877-52D2-4955-8C4F-359A92D6E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1384"/>
            <a:stretch>
              <a:fillRect/>
            </a:stretch>
          </p:blipFill>
          <p:spPr bwMode="auto">
            <a:xfrm>
              <a:off x="6966287" y="4473510"/>
              <a:ext cx="970381" cy="1561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953BEF75-A2C1-43B3-ACC5-CED94F76A98A}"/>
              </a:ext>
            </a:extLst>
          </p:cNvPr>
          <p:cNvGrpSpPr>
            <a:grpSpLocks/>
          </p:cNvGrpSpPr>
          <p:nvPr/>
        </p:nvGrpSpPr>
        <p:grpSpPr bwMode="auto">
          <a:xfrm>
            <a:off x="3038696" y="5691352"/>
            <a:ext cx="7069138" cy="817563"/>
            <a:chOff x="867280" y="6027354"/>
            <a:chExt cx="7069388" cy="817244"/>
          </a:xfrm>
        </p:grpSpPr>
        <p:pic>
          <p:nvPicPr>
            <p:cNvPr id="15" name="图片 5">
              <a:extLst>
                <a:ext uri="{FF2B5EF4-FFF2-40B4-BE49-F238E27FC236}">
                  <a16:creationId xmlns:a16="http://schemas.microsoft.com/office/drawing/2014/main" id="{C8169260-8BE1-4D27-AEAC-FD9EB6D19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7547" r="48109"/>
            <a:stretch>
              <a:fillRect/>
            </a:stretch>
          </p:blipFill>
          <p:spPr bwMode="auto">
            <a:xfrm>
              <a:off x="2743866" y="6035074"/>
              <a:ext cx="1130969" cy="809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图片 14">
              <a:extLst>
                <a:ext uri="{FF2B5EF4-FFF2-40B4-BE49-F238E27FC236}">
                  <a16:creationId xmlns:a16="http://schemas.microsoft.com/office/drawing/2014/main" id="{DC5A27E0-A4DF-4723-A7DE-595E47ABC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75529"/>
            <a:stretch>
              <a:fillRect/>
            </a:stretch>
          </p:blipFill>
          <p:spPr bwMode="auto">
            <a:xfrm>
              <a:off x="867280" y="6027354"/>
              <a:ext cx="1136886" cy="809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图片 15">
              <a:extLst>
                <a:ext uri="{FF2B5EF4-FFF2-40B4-BE49-F238E27FC236}">
                  <a16:creationId xmlns:a16="http://schemas.microsoft.com/office/drawing/2014/main" id="{B487A9CB-BB35-4A86-A89F-150EA3CC8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3885" r="22031"/>
            <a:stretch>
              <a:fillRect/>
            </a:stretch>
          </p:blipFill>
          <p:spPr bwMode="auto">
            <a:xfrm>
              <a:off x="4955229" y="6027354"/>
              <a:ext cx="1118937" cy="809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图片 16">
              <a:extLst>
                <a:ext uri="{FF2B5EF4-FFF2-40B4-BE49-F238E27FC236}">
                  <a16:creationId xmlns:a16="http://schemas.microsoft.com/office/drawing/2014/main" id="{2C4EB45E-8D06-4141-9031-B0C8A6A66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8746"/>
            <a:stretch>
              <a:fillRect/>
            </a:stretch>
          </p:blipFill>
          <p:spPr bwMode="auto">
            <a:xfrm>
              <a:off x="6949207" y="6035074"/>
              <a:ext cx="987461" cy="8095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9" name="Group 23">
            <a:extLst>
              <a:ext uri="{FF2B5EF4-FFF2-40B4-BE49-F238E27FC236}">
                <a16:creationId xmlns:a16="http://schemas.microsoft.com/office/drawing/2014/main" id="{D64F8998-D3F2-4EE7-96C6-0DBD76512570}"/>
              </a:ext>
            </a:extLst>
          </p:cNvPr>
          <p:cNvGrpSpPr>
            <a:grpSpLocks/>
          </p:cNvGrpSpPr>
          <p:nvPr/>
        </p:nvGrpSpPr>
        <p:grpSpPr bwMode="auto">
          <a:xfrm>
            <a:off x="1780224" y="4257092"/>
            <a:ext cx="1903508" cy="722313"/>
            <a:chOff x="304" y="2466"/>
            <a:chExt cx="881" cy="390"/>
          </a:xfrm>
        </p:grpSpPr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5C040613-A313-4FC5-A2A8-A17577A7F5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" y="2595"/>
              <a:ext cx="333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46235CF8-440E-487C-A276-E0105760B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" y="2789"/>
              <a:ext cx="5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2" name="Text Box 26">
              <a:extLst>
                <a:ext uri="{FF2B5EF4-FFF2-40B4-BE49-F238E27FC236}">
                  <a16:creationId xmlns:a16="http://schemas.microsoft.com/office/drawing/2014/main" id="{DBD5A235-83BA-453D-A913-BE5AB2FED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" y="2466"/>
              <a:ext cx="558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过渡线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F9B011A-8AFA-45BB-8328-D54F0EF09385}"/>
              </a:ext>
            </a:extLst>
          </p:cNvPr>
          <p:cNvGrpSpPr>
            <a:grpSpLocks/>
          </p:cNvGrpSpPr>
          <p:nvPr/>
        </p:nvGrpSpPr>
        <p:grpSpPr bwMode="auto">
          <a:xfrm>
            <a:off x="3993044" y="4401108"/>
            <a:ext cx="1634904" cy="498623"/>
            <a:chOff x="348" y="2485"/>
            <a:chExt cx="837" cy="351"/>
          </a:xfrm>
        </p:grpSpPr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1196DF3-2E54-48A1-9B76-CB9E59A3A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" y="2595"/>
              <a:ext cx="333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A1E876D5-9524-4718-9C0F-02724DB6E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" y="2789"/>
              <a:ext cx="5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AF55E844-2C49-4236-8F70-6D02BB10E3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" y="2485"/>
              <a:ext cx="353" cy="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过渡线</a:t>
              </a:r>
            </a:p>
          </p:txBody>
        </p:sp>
      </p:grpSp>
      <p:grpSp>
        <p:nvGrpSpPr>
          <p:cNvPr id="27" name="Group 23">
            <a:extLst>
              <a:ext uri="{FF2B5EF4-FFF2-40B4-BE49-F238E27FC236}">
                <a16:creationId xmlns:a16="http://schemas.microsoft.com/office/drawing/2014/main" id="{2AFBFA07-A9F4-4B40-95B7-049516FA8945}"/>
              </a:ext>
            </a:extLst>
          </p:cNvPr>
          <p:cNvGrpSpPr>
            <a:grpSpLocks/>
          </p:cNvGrpSpPr>
          <p:nvPr/>
        </p:nvGrpSpPr>
        <p:grpSpPr bwMode="auto">
          <a:xfrm>
            <a:off x="8225507" y="5085184"/>
            <a:ext cx="1118897" cy="809840"/>
            <a:chOff x="300" y="2466"/>
            <a:chExt cx="877" cy="390"/>
          </a:xfrm>
        </p:grpSpPr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FA5CF1D8-F459-4993-878F-B3C781231C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" y="2541"/>
              <a:ext cx="325" cy="24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25655321-4E09-4C17-A713-1286B2517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" y="2789"/>
              <a:ext cx="5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F4577413-0E92-40D3-BA84-C8286DB7F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" y="2466"/>
              <a:ext cx="664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过渡线</a:t>
              </a:r>
            </a:p>
          </p:txBody>
        </p:sp>
      </p:grpSp>
      <p:sp>
        <p:nvSpPr>
          <p:cNvPr id="31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265492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nimBg="1" autoUpdateAnimBg="0"/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3">
            <a:extLst>
              <a:ext uri="{FF2B5EF4-FFF2-40B4-BE49-F238E27FC236}">
                <a16:creationId xmlns:a16="http://schemas.microsoft.com/office/drawing/2014/main" id="{7C5ABD36-AFF8-4D63-90CE-4B901F7CA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98752"/>
            <a:ext cx="6207125" cy="523875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一、 </a:t>
            </a:r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</a:rPr>
              <a:t>铸造工艺对零件结构的要求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245ADD1-281B-4C96-84FD-5D9174A065C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7363"/>
          <a:stretch>
            <a:fillRect/>
          </a:stretch>
        </p:blipFill>
        <p:spPr bwMode="auto">
          <a:xfrm>
            <a:off x="8364252" y="2477602"/>
            <a:ext cx="3037763" cy="2570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4">
            <a:extLst>
              <a:ext uri="{FF2B5EF4-FFF2-40B4-BE49-F238E27FC236}">
                <a16:creationId xmlns:a16="http://schemas.microsoft.com/office/drawing/2014/main" id="{0AB83299-1FF0-4053-876C-E0BC982A9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408" y="1917215"/>
            <a:ext cx="18891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3.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铸件壁厚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97C84DDE-318D-492E-A206-B21E0F96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408" y="2349087"/>
            <a:ext cx="9161080" cy="46166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dirty="0"/>
              <a:t>       </a:t>
            </a:r>
            <a:r>
              <a:rPr lang="zh-CN" altLang="zh-CN" sz="2400" dirty="0"/>
              <a:t>为保证铸件质量，防止因冷却速度不同在壁厚处形成</a:t>
            </a:r>
            <a:r>
              <a:rPr lang="zh-CN" altLang="zh-CN" sz="2400" dirty="0">
                <a:solidFill>
                  <a:srgbClr val="FF0000"/>
                </a:solidFill>
              </a:rPr>
              <a:t>缩孔</a:t>
            </a:r>
            <a:r>
              <a:rPr lang="zh-CN" altLang="en-US" sz="2400" dirty="0">
                <a:solidFill>
                  <a:srgbClr val="FF0000"/>
                </a:solidFill>
              </a:rPr>
              <a:t>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258713FC-745E-4076-B978-3A1080D24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080" y="6048555"/>
            <a:ext cx="4940897" cy="46166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2400" dirty="0"/>
              <a:t>  </a:t>
            </a:r>
            <a:r>
              <a:rPr lang="zh-CN" altLang="zh-CN" sz="2400" dirty="0">
                <a:solidFill>
                  <a:srgbClr val="FF0000"/>
                </a:solidFill>
              </a:rPr>
              <a:t>设计铸件</a:t>
            </a:r>
            <a:r>
              <a:rPr lang="zh-CN" altLang="zh-CN" sz="2400" dirty="0"/>
              <a:t>时，应尽量使其</a:t>
            </a:r>
            <a:r>
              <a:rPr lang="zh-CN" altLang="zh-CN" sz="2400" dirty="0">
                <a:solidFill>
                  <a:srgbClr val="FF0000"/>
                </a:solidFill>
              </a:rPr>
              <a:t>壁厚均匀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A62688E-9EBB-4232-B577-7FB82DDF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2"/>
          <a:stretch>
            <a:fillRect/>
          </a:stretch>
        </p:blipFill>
        <p:spPr bwMode="auto">
          <a:xfrm>
            <a:off x="1378542" y="2957244"/>
            <a:ext cx="5776056" cy="2502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09FF50A1-4716-4694-94C8-99A1BFAD4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112" y="4782817"/>
            <a:ext cx="1724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壁厚不均匀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id="{133A47B8-705C-415A-A4AC-421C56E2D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588" y="5437467"/>
            <a:ext cx="1416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壁厚均匀</a:t>
            </a: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383F6F8D-1D69-41C5-A208-BC2ED5470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189" y="5415686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壁厚逐渐过渡</a:t>
            </a:r>
          </a:p>
        </p:txBody>
      </p:sp>
      <p:grpSp>
        <p:nvGrpSpPr>
          <p:cNvPr id="24" name="Group 9">
            <a:extLst>
              <a:ext uri="{FF2B5EF4-FFF2-40B4-BE49-F238E27FC236}">
                <a16:creationId xmlns:a16="http://schemas.microsoft.com/office/drawing/2014/main" id="{D26B1718-A42D-4A6E-B798-962B35A52B60}"/>
              </a:ext>
            </a:extLst>
          </p:cNvPr>
          <p:cNvGrpSpPr>
            <a:grpSpLocks/>
          </p:cNvGrpSpPr>
          <p:nvPr/>
        </p:nvGrpSpPr>
        <p:grpSpPr bwMode="auto">
          <a:xfrm>
            <a:off x="7531780" y="3691156"/>
            <a:ext cx="1612332" cy="688920"/>
            <a:chOff x="348" y="2517"/>
            <a:chExt cx="837" cy="288"/>
          </a:xfrm>
        </p:grpSpPr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56E04256-2871-4983-BC4C-B6E91FBBF4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2" y="2595"/>
              <a:ext cx="333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8B5E0365-991B-4C61-87C4-A2CAFAF5F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8" y="2789"/>
              <a:ext cx="50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12">
              <a:extLst>
                <a:ext uri="{FF2B5EF4-FFF2-40B4-BE49-F238E27FC236}">
                  <a16:creationId xmlns:a16="http://schemas.microsoft.com/office/drawing/2014/main" id="{286CCF77-426D-4957-8E44-25D00FF65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" y="2517"/>
              <a:ext cx="5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缩孔</a:t>
              </a:r>
            </a:p>
          </p:txBody>
        </p:sp>
      </p:grpSp>
      <p:sp>
        <p:nvSpPr>
          <p:cNvPr id="28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163607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18" grpId="0" animBg="1" autoUpdateAnimBg="0"/>
      <p:bldP spid="21" grpId="0" autoUpdateAnimBg="0"/>
      <p:bldP spid="22" grpId="0" autoUpdateAnimBg="0"/>
      <p:bldP spid="2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3C929262-8002-40CB-8EB2-B14F9F862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459" y="1899934"/>
            <a:ext cx="2530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⒈ </a:t>
            </a:r>
            <a:r>
              <a:rPr lang="zh-CN" altLang="en-US" sz="28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倒角与倒圆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FC669AF-2D8C-47D9-B28D-730F7DFC9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8880" y="2465704"/>
            <a:ext cx="35909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通常在轴及孔端部倒角。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091DC43C-8A7A-4703-B853-CC0461195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718" y="2472054"/>
            <a:ext cx="4206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作用：便于装配和操作安全。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84B117-CC12-43B6-ADF8-0F1E76CDA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4" y="1324617"/>
            <a:ext cx="619125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二、机械加工工艺对零件结构的要求</a:t>
            </a:r>
          </a:p>
        </p:txBody>
      </p:sp>
      <p:sp>
        <p:nvSpPr>
          <p:cNvPr id="9" name="Text Box 46">
            <a:extLst>
              <a:ext uri="{FF2B5EF4-FFF2-40B4-BE49-F238E27FC236}">
                <a16:creationId xmlns:a16="http://schemas.microsoft.com/office/drawing/2014/main" id="{8D82638A-8B4F-4381-8F78-CCDFB96F7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230" y="5042715"/>
            <a:ext cx="54467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倒角宽度</a:t>
            </a:r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b 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按轴（孔）径查标准确定。</a:t>
            </a:r>
          </a:p>
        </p:txBody>
      </p:sp>
      <p:sp>
        <p:nvSpPr>
          <p:cNvPr id="10" name="Text Box 47">
            <a:extLst>
              <a:ext uri="{FF2B5EF4-FFF2-40B4-BE49-F238E27FC236}">
                <a16:creationId xmlns:a16="http://schemas.microsoft.com/office/drawing/2014/main" id="{D48B043F-B8B2-49B6-A21B-CD3CECA0D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365" y="5563229"/>
            <a:ext cx="10118573" cy="831850"/>
          </a:xfrm>
          <a:prstGeom prst="rect">
            <a:avLst/>
          </a:prstGeom>
          <a:gradFill rotWithShape="0">
            <a:gsLst>
              <a:gs pos="0">
                <a:srgbClr val="33CCFF"/>
              </a:gs>
              <a:gs pos="50000">
                <a:srgbClr val="FFFFFF"/>
              </a:gs>
              <a:gs pos="100000">
                <a:srgbClr val="33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C</a:t>
            </a:r>
            <a:r>
              <a:rPr lang="zh-CN" altLang="en-US" sz="24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为</a:t>
            </a:r>
            <a:r>
              <a:rPr lang="en-US" altLang="zh-CN" sz="24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45°</a:t>
            </a:r>
            <a:r>
              <a:rPr lang="zh-CN" altLang="en-US" sz="240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倒角</a:t>
            </a:r>
            <a:r>
              <a:rPr lang="zh-CN" altLang="en-US" sz="2400">
                <a:solidFill>
                  <a:srgbClr val="0070C0"/>
                </a:solidFill>
                <a:latin typeface="Times New Roman" pitchFamily="18" charset="0"/>
                <a:ea typeface="宋体" pitchFamily="2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C</a:t>
            </a:r>
            <a:r>
              <a:rPr lang="zh-CN" altLang="zh-CN" sz="240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后面应有一个数字</a:t>
            </a:r>
            <a:r>
              <a:rPr lang="zh-CN" altLang="zh-CN" sz="2400">
                <a:solidFill>
                  <a:srgbClr val="0070C0"/>
                </a:solidFill>
                <a:latin typeface="Calibri" pitchFamily="34" charset="0"/>
                <a:ea typeface="宋体" pitchFamily="2" charset="-122"/>
              </a:rPr>
              <a:t>，表示倒角的</a:t>
            </a:r>
            <a:r>
              <a:rPr lang="zh-CN" altLang="zh-CN" sz="2400">
                <a:solidFill>
                  <a:srgbClr val="FF0000"/>
                </a:solidFill>
                <a:latin typeface="Calibri" pitchFamily="34" charset="0"/>
                <a:ea typeface="宋体" pitchFamily="2" charset="-122"/>
              </a:rPr>
              <a:t>轴向尺寸</a:t>
            </a:r>
            <a:r>
              <a:rPr lang="zh-CN" altLang="zh-CN" sz="2400">
                <a:solidFill>
                  <a:srgbClr val="0070C0"/>
                </a:solidFill>
                <a:latin typeface="Calibri" pitchFamily="34" charset="0"/>
                <a:ea typeface="宋体" pitchFamily="2" charset="-122"/>
              </a:rPr>
              <a:t>；</a:t>
            </a:r>
            <a:r>
              <a:rPr lang="zh-CN" altLang="zh-CN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倒角也允许采用</a:t>
            </a:r>
            <a:r>
              <a:rPr lang="en-US" altLang="zh-CN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30</a:t>
            </a:r>
            <a:r>
              <a:rPr lang="zh-CN" altLang="zh-CN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°或</a:t>
            </a:r>
            <a:r>
              <a:rPr lang="en-US" altLang="zh-CN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60</a:t>
            </a:r>
            <a:r>
              <a:rPr lang="zh-CN" altLang="zh-CN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°</a:t>
            </a:r>
            <a:r>
              <a:rPr lang="zh-CN" altLang="en-US"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rPr>
              <a:t>，图中标注</a:t>
            </a:r>
            <a:r>
              <a:rPr lang="zh-CN" altLang="en-US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1CC4EF-3F15-443C-B94C-3514B1DA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009775" y="2900372"/>
            <a:ext cx="8854631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BAF71D6-B384-4DC6-8C4C-F824F75B9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218" y="3643308"/>
            <a:ext cx="339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</a:rPr>
              <a:t>b</a:t>
            </a:r>
            <a:endParaRPr lang="zh-CN" altLang="en-US" sz="24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DB9820-217D-40EB-8280-5D686E2D4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529" y="4689628"/>
            <a:ext cx="5969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  <a:latin typeface="Times New Roman" pitchFamily="18" charset="0"/>
              </a:rPr>
              <a:t>45°</a:t>
            </a:r>
            <a:endParaRPr lang="zh-CN" altLang="en-US" sz="16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5BFEEC-40F1-4DA4-BA11-B2718B765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493" y="3592508"/>
            <a:ext cx="5969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FF0000"/>
                </a:solidFill>
                <a:latin typeface="Times New Roman" pitchFamily="18" charset="0"/>
              </a:rPr>
              <a:t>45°</a:t>
            </a:r>
            <a:endParaRPr lang="zh-CN" altLang="en-US" sz="16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EE1E95-D127-482F-A42A-F8FFD496C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0080" y="2909883"/>
            <a:ext cx="3397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  <a:latin typeface="宋体" pitchFamily="2" charset="-122"/>
              </a:rPr>
              <a:t>b</a:t>
            </a:r>
            <a:endParaRPr lang="zh-CN" altLang="en-US" sz="240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359693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9" grpId="0" autoUpdateAnimBg="0"/>
      <p:bldP spid="10" grpId="0" animBg="1" autoUpdateAnimBg="0"/>
      <p:bldP spid="12" grpId="0"/>
      <p:bldP spid="13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227801-D25A-4E76-B2C8-C6603DB0D8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82007" y="2290549"/>
            <a:ext cx="7887503" cy="2824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1775EC94-6C91-4077-B3E0-F0D772832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786" y="1791803"/>
            <a:ext cx="34337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⒉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退刀槽和砂轮越程槽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6467737-E7AD-4BF2-97B9-5D4C92954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902" y="2215394"/>
            <a:ext cx="49815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作用：便于退刀和零件轴向定位。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8A2D83E-9834-4D37-84CE-9B78AA845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3299" y="1755019"/>
            <a:ext cx="17319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砂轮越程槽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4BE5EBF2-DD7B-4919-9462-A1D845385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66" y="3289207"/>
            <a:ext cx="14128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  <a:ea typeface="宋体" pitchFamily="2" charset="-122"/>
              </a:rPr>
              <a:t>退刀槽</a:t>
            </a:r>
          </a:p>
        </p:txBody>
      </p:sp>
      <p:sp>
        <p:nvSpPr>
          <p:cNvPr id="10" name="Text Box 110">
            <a:extLst>
              <a:ext uri="{FF2B5EF4-FFF2-40B4-BE49-F238E27FC236}">
                <a16:creationId xmlns:a16="http://schemas.microsoft.com/office/drawing/2014/main" id="{1EBE1EE8-EB80-4163-833D-F7E352246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994" y="4371677"/>
            <a:ext cx="1887538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⒊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钻孔端面</a:t>
            </a:r>
          </a:p>
        </p:txBody>
      </p:sp>
      <p:sp>
        <p:nvSpPr>
          <p:cNvPr id="11" name="Text Box 111">
            <a:extLst>
              <a:ext uri="{FF2B5EF4-FFF2-40B4-BE49-F238E27FC236}">
                <a16:creationId xmlns:a16="http://schemas.microsoft.com/office/drawing/2014/main" id="{F12AC18D-6802-4BCE-8056-D9F89750A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330" y="4921532"/>
            <a:ext cx="2566018" cy="830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作用：避免钻孔偏斜和钻头折断。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3700B21-04A9-442C-A6EA-AC1BF242A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27948" y="5147606"/>
            <a:ext cx="354171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BC6C9BB5-A139-4753-A701-B9CE700BD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4" y="1324617"/>
            <a:ext cx="619125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二、机械加工工艺对零件结构的要求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1790259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C81F4A68-A37C-452C-AF0E-23F168F54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294" y="1324617"/>
            <a:ext cx="6191250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latin typeface="宋体" pitchFamily="2" charset="-122"/>
                <a:ea typeface="宋体" pitchFamily="2" charset="-122"/>
                <a:sym typeface="Monotype Sorts"/>
              </a:rPr>
              <a:t>二、机械加工工艺对零件结构的要求</a:t>
            </a:r>
          </a:p>
        </p:txBody>
      </p:sp>
      <p:pic>
        <p:nvPicPr>
          <p:cNvPr id="6" name="图片 3">
            <a:extLst>
              <a:ext uri="{FF2B5EF4-FFF2-40B4-BE49-F238E27FC236}">
                <a16:creationId xmlns:a16="http://schemas.microsoft.com/office/drawing/2014/main" id="{D6F8CD12-61A9-425B-AC3D-E74878063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7704" y="3035326"/>
            <a:ext cx="9954883" cy="305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43B5C273-A2CF-42C7-AC80-67AAA8D09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906451"/>
            <a:ext cx="2117725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⒋ </a:t>
            </a:r>
            <a:r>
              <a:rPr lang="zh-CN" altLang="en-US" sz="2400" b="1" dirty="0">
                <a:solidFill>
                  <a:srgbClr val="FF3300"/>
                </a:solidFill>
                <a:latin typeface="Times New Roman" pitchFamily="18" charset="0"/>
                <a:ea typeface="宋体" pitchFamily="2" charset="-122"/>
              </a:rPr>
              <a:t>凸台和凹坑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00BAC75-3614-4A7E-AEAF-B562C2491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705" y="2486190"/>
            <a:ext cx="6832600" cy="46196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400" b="1" dirty="0">
                <a:latin typeface="Times New Roman" panose="02020603050405020304" pitchFamily="18" charset="0"/>
              </a:rPr>
              <a:t>作用：减少机械加工量及保证两表面接触良好。</a:t>
            </a: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1A0308A9-E9B4-4BD9-963F-AFAB7B36E690}"/>
              </a:ext>
            </a:extLst>
          </p:cNvPr>
          <p:cNvGrpSpPr>
            <a:grpSpLocks/>
          </p:cNvGrpSpPr>
          <p:nvPr/>
        </p:nvGrpSpPr>
        <p:grpSpPr bwMode="auto">
          <a:xfrm>
            <a:off x="9318038" y="3059329"/>
            <a:ext cx="803864" cy="1307468"/>
            <a:chOff x="4236" y="1361"/>
            <a:chExt cx="658" cy="710"/>
          </a:xfrm>
        </p:grpSpPr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82753343-4678-45BD-A454-D05F63605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634"/>
              <a:ext cx="317" cy="43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FF3FAE42-6AEE-463A-8EF9-8B15A31CC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634"/>
              <a:ext cx="475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623EBE08-5775-48C1-866A-C67C87227F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6" y="1361"/>
              <a:ext cx="658" cy="25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凹腔</a:t>
              </a:r>
            </a:p>
          </p:txBody>
        </p:sp>
      </p:grpSp>
      <p:grpSp>
        <p:nvGrpSpPr>
          <p:cNvPr id="13" name="Group 40">
            <a:extLst>
              <a:ext uri="{FF2B5EF4-FFF2-40B4-BE49-F238E27FC236}">
                <a16:creationId xmlns:a16="http://schemas.microsoft.com/office/drawing/2014/main" id="{7B28D3E1-D34F-4ADC-8B30-667CD611D515}"/>
              </a:ext>
            </a:extLst>
          </p:cNvPr>
          <p:cNvGrpSpPr>
            <a:grpSpLocks/>
          </p:cNvGrpSpPr>
          <p:nvPr/>
        </p:nvGrpSpPr>
        <p:grpSpPr bwMode="auto">
          <a:xfrm>
            <a:off x="5970165" y="4938723"/>
            <a:ext cx="1289959" cy="1046561"/>
            <a:chOff x="2512" y="2746"/>
            <a:chExt cx="802" cy="398"/>
          </a:xfrm>
        </p:grpSpPr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FFCF0CDC-A650-4868-869B-9146557F3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2" y="2838"/>
              <a:ext cx="636" cy="3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FF3300"/>
                  </a:solidFill>
                  <a:latin typeface="Times New Roman" pitchFamily="18" charset="0"/>
                  <a:ea typeface="宋体" pitchFamily="2" charset="-122"/>
                </a:rPr>
                <a:t>凹槽</a:t>
              </a: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EEE1F391-D2DA-4CC1-8D5A-BD6674C7E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3" y="2746"/>
              <a:ext cx="291" cy="39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6" name="Line 38">
              <a:extLst>
                <a:ext uri="{FF2B5EF4-FFF2-40B4-BE49-F238E27FC236}">
                  <a16:creationId xmlns:a16="http://schemas.microsoft.com/office/drawing/2014/main" id="{5B944681-403E-4466-8A7B-C1FC02D3F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3144"/>
              <a:ext cx="43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</p:grpSp>
      <p:sp>
        <p:nvSpPr>
          <p:cNvPr id="17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35616303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">
            <a:extLst>
              <a:ext uri="{FF2B5EF4-FFF2-40B4-BE49-F238E27FC236}">
                <a16:creationId xmlns:a16="http://schemas.microsoft.com/office/drawing/2014/main" id="{34209A2A-D64E-4129-B488-C6C582A88A3A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73287" y="623552"/>
            <a:ext cx="7689273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800" dirty="0">
                <a:solidFill>
                  <a:schemeClr val="tx1"/>
                </a:solidFill>
              </a:rPr>
              <a:t>关于</a:t>
            </a:r>
            <a:r>
              <a:rPr lang="zh-CN" altLang="zh-CN" sz="2800" dirty="0">
                <a:solidFill>
                  <a:schemeClr val="tx1"/>
                </a:solidFill>
              </a:rPr>
              <a:t>零件的工艺结构</a:t>
            </a:r>
            <a:r>
              <a:rPr lang="zh-CN" altLang="en-US" sz="2800" dirty="0">
                <a:solidFill>
                  <a:schemeClr val="tx1"/>
                </a:solidFill>
              </a:rPr>
              <a:t>的概念，说法正确的是：</a:t>
            </a:r>
            <a:endParaRPr lang="zh-CN" altLang="zh-CN" sz="2800" dirty="0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BEF1CC-15A0-486F-9E6C-DF0583EABA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287688" y="2774615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sz="2400" dirty="0">
                <a:solidFill>
                  <a:schemeClr val="tx1"/>
                </a:solidFill>
              </a:rPr>
              <a:t>铸造工艺结构</a:t>
            </a:r>
            <a:endParaRPr kumimoji="0" lang="zh-CN" altLang="en-US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4">
            <a:extLst>
              <a:ext uri="{FF2B5EF4-FFF2-40B4-BE49-F238E27FC236}">
                <a16:creationId xmlns:a16="http://schemas.microsoft.com/office/drawing/2014/main" id="{5BC0A096-B527-4F9A-8BEE-16DED1F4EFE4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87688" y="3631865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zh-CN" sz="2400" dirty="0">
                <a:solidFill>
                  <a:schemeClr val="tx1"/>
                </a:solidFill>
              </a:rPr>
              <a:t>机加工工艺结构</a:t>
            </a:r>
          </a:p>
        </p:txBody>
      </p:sp>
      <p:sp>
        <p:nvSpPr>
          <p:cNvPr id="9" name="文本框 5">
            <a:extLst>
              <a:ext uri="{FF2B5EF4-FFF2-40B4-BE49-F238E27FC236}">
                <a16:creationId xmlns:a16="http://schemas.microsoft.com/office/drawing/2014/main" id="{33C00BEC-EEF8-4B74-8A59-41A87BDB20A0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87688" y="4489115"/>
            <a:ext cx="64008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zh-CN" altLang="zh-CN" sz="2400" dirty="0">
                <a:solidFill>
                  <a:schemeClr val="tx1"/>
                </a:solidFill>
              </a:rPr>
              <a:t>铸造工艺结构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zh-CN" altLang="zh-CN" sz="2400" dirty="0">
                <a:solidFill>
                  <a:schemeClr val="tx1"/>
                </a:solidFill>
              </a:rPr>
              <a:t>机加工工艺结构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45FA31-3858-4E40-9F3E-C65281FF1C9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287688" y="5346365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400" dirty="0">
                <a:solidFill>
                  <a:srgbClr val="000000"/>
                </a:solidFill>
                <a:cs typeface="+mj-cs"/>
                <a:sym typeface="Microsoft Yahei" panose="020B0503020204020204" pitchFamily="34" charset="-122"/>
              </a:rPr>
              <a:t>铸造圆角和铸件壁厚</a:t>
            </a:r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A40B3FA5-A012-48A8-A23A-864AE3160CC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573313" y="2838115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2" name="椭圆 8">
            <a:extLst>
              <a:ext uri="{FF2B5EF4-FFF2-40B4-BE49-F238E27FC236}">
                <a16:creationId xmlns:a16="http://schemas.microsoft.com/office/drawing/2014/main" id="{4D9CA40A-60F1-4B1C-8FAF-7E77F919A81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573313" y="3695365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3" name="椭圆 9">
            <a:extLst>
              <a:ext uri="{FF2B5EF4-FFF2-40B4-BE49-F238E27FC236}">
                <a16:creationId xmlns:a16="http://schemas.microsoft.com/office/drawing/2014/main" id="{BDC6CAEF-D09E-4F16-97BA-A794D8FB403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573313" y="4552615"/>
            <a:ext cx="514350" cy="5143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61CDB51C-97D9-4197-B7FA-5255888C37D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573313" y="5409865"/>
            <a:ext cx="514350" cy="514350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5" name="圆角矩形 11">
            <a:extLst>
              <a:ext uri="{FF2B5EF4-FFF2-40B4-BE49-F238E27FC236}">
                <a16:creationId xmlns:a16="http://schemas.microsoft.com/office/drawing/2014/main" id="{14C32C79-9988-4456-9BEB-AFA081B90751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631088" y="6203615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grpSp>
        <p:nvGrpSpPr>
          <p:cNvPr id="16" name="组合 16">
            <a:extLst>
              <a:ext uri="{FF2B5EF4-FFF2-40B4-BE49-F238E27FC236}">
                <a16:creationId xmlns:a16="http://schemas.microsoft.com/office/drawing/2014/main" id="{4A4B0CCF-A3CF-4ADB-8BDF-558284E5ABB1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458888" y="11448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98994B84-72E8-400A-9D97-E99600195F64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458888" y="11448"/>
              <a:ext cx="9144000" cy="635000"/>
            </a:xfrm>
            <a:prstGeom prst="rect">
              <a:avLst/>
            </a:prstGeom>
            <a:solidFill>
              <a:srgbClr val="F6F7F8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146312D5-4A63-4308-BA97-A28E4F8787C0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458888" y="11448"/>
              <a:ext cx="190500" cy="635000"/>
            </a:xfrm>
            <a:prstGeom prst="rect">
              <a:avLst/>
            </a:prstGeom>
            <a:solidFill>
              <a:srgbClr val="639EF4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1436189B-D1C6-43C1-AB58-1CDDB15C86A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04888" y="11448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单选题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2EB96CBD-3ED1-4A19-8AFA-586D373E612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67017" y="120668"/>
              <a:ext cx="2286000" cy="508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1" name="图片 1">
            <a:extLst>
              <a:ext uri="{FF2B5EF4-FFF2-40B4-BE49-F238E27FC236}">
                <a16:creationId xmlns:a16="http://schemas.microsoft.com/office/drawing/2014/main" id="{298F7620-323B-46C7-B700-48CD3569235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674245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25679F94-EE3E-4E05-A9F8-6AA5ECEEC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492" y="1872761"/>
            <a:ext cx="89387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一、掌握零件图视图选择的方法及步骤，注意以下问题</a:t>
            </a:r>
            <a:r>
              <a:rPr lang="en-US" altLang="zh-CN" sz="2800" b="1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: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BC7EE478-F711-43CF-9ACD-07B13E5A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7" y="2571669"/>
            <a:ext cx="8064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① 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了解零件的功用及其各组成部分的作用，以便在选择主</a:t>
            </a:r>
            <a:endParaRPr lang="en-US" altLang="zh-CN" sz="24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视图时从表达主要形体入手。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1343F114-1DE0-4076-A675-9CEB57351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7" y="3444794"/>
            <a:ext cx="8064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② 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确定主视图时，要正确选择零件的安放状态和投射方向。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10DD2BF1-99A9-4FBE-99F5-37A3975F2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7" y="4038897"/>
            <a:ext cx="8064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③ 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零件形状要表达完全，必须逐个形体检查其形状和位置</a:t>
            </a:r>
            <a:endParaRPr lang="en-US" altLang="zh-CN" sz="24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是否唯一确定。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AB0A326E-D62E-4EC2-A8FD-AF7C2ADD6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492" y="5001300"/>
            <a:ext cx="947038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二、掌握读、画零件图的方法和步骤及零件图上尺寸及技术</a:t>
            </a:r>
            <a:endParaRPr lang="en-US" altLang="zh-CN" sz="2800" dirty="0">
              <a:solidFill>
                <a:srgbClr val="FF3300"/>
              </a:solidFill>
              <a:latin typeface="宋体" pitchFamily="2" charset="-122"/>
              <a:ea typeface="宋体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  <a:ea typeface="宋体" pitchFamily="2" charset="-122"/>
              </a:rPr>
              <a:t>要求的标注方法。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3E3451D0-8AA0-401D-8FFB-8AC2BEFD5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0713" y="1248763"/>
            <a:ext cx="100219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chemeClr val="tx1"/>
                </a:solidFill>
              </a:rPr>
              <a:t>小 结</a:t>
            </a:r>
            <a:endParaRPr lang="zh-CN" altLang="en-US" sz="2800" b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A55322C-FC2E-420B-A95E-E8359FFE5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870" y="273149"/>
            <a:ext cx="4848225" cy="633413"/>
          </a:xfrm>
          <a:prstGeom prst="rect">
            <a:avLst/>
          </a:prstGeom>
          <a:gradFill flip="none" rotWithShape="1">
            <a:gsLst>
              <a:gs pos="15000">
                <a:schemeClr val="accent2">
                  <a:lumMod val="0"/>
                  <a:lumOff val="100000"/>
                </a:schemeClr>
              </a:gs>
              <a:gs pos="9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76200" cmpd="sng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零件的工艺结构 </a:t>
            </a:r>
          </a:p>
        </p:txBody>
      </p:sp>
    </p:spTree>
    <p:extLst>
      <p:ext uri="{BB962C8B-B14F-4D97-AF65-F5344CB8AC3E}">
        <p14:creationId xmlns:p14="http://schemas.microsoft.com/office/powerpoint/2010/main" val="38421029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bf686f92629df6bf23549ecf4832e792549dc2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5033</TotalTime>
  <Words>2235</Words>
  <Application>Microsoft Office PowerPoint</Application>
  <PresentationFormat>宽屏</PresentationFormat>
  <Paragraphs>383</Paragraphs>
  <Slides>35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黑体</vt:lpstr>
      <vt:lpstr>华文行楷</vt:lpstr>
      <vt:lpstr>宋体</vt:lpstr>
      <vt:lpstr>Microsoft Yahei</vt:lpstr>
      <vt:lpstr>Arial</vt:lpstr>
      <vt:lpstr>Calibri</vt:lpstr>
      <vt:lpstr>ISOCP</vt:lpstr>
      <vt:lpstr>ISOCPEUR</vt:lpstr>
      <vt:lpstr>Times New Roman</vt:lpstr>
      <vt:lpstr>1_Office 主题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444</cp:revision>
  <dcterms:created xsi:type="dcterms:W3CDTF">2014-03-20T09:34:50Z</dcterms:created>
  <dcterms:modified xsi:type="dcterms:W3CDTF">2021-03-09T05:35:25Z</dcterms:modified>
</cp:coreProperties>
</file>
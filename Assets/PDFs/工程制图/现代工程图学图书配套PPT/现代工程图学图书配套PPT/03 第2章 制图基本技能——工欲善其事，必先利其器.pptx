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5" r:id="rId1"/>
  </p:sldMasterIdLst>
  <p:notesMasterIdLst>
    <p:notesMasterId r:id="rId46"/>
  </p:notesMasterIdLst>
  <p:sldIdLst>
    <p:sldId id="358" r:id="rId2"/>
    <p:sldId id="397" r:id="rId3"/>
    <p:sldId id="399" r:id="rId4"/>
    <p:sldId id="400" r:id="rId5"/>
    <p:sldId id="401" r:id="rId6"/>
    <p:sldId id="297" r:id="rId7"/>
    <p:sldId id="360" r:id="rId8"/>
    <p:sldId id="361" r:id="rId9"/>
    <p:sldId id="362" r:id="rId10"/>
    <p:sldId id="363" r:id="rId11"/>
    <p:sldId id="411" r:id="rId12"/>
    <p:sldId id="365" r:id="rId13"/>
    <p:sldId id="367" r:id="rId14"/>
    <p:sldId id="368" r:id="rId15"/>
    <p:sldId id="369" r:id="rId16"/>
    <p:sldId id="371" r:id="rId17"/>
    <p:sldId id="410" r:id="rId18"/>
    <p:sldId id="372" r:id="rId19"/>
    <p:sldId id="373" r:id="rId20"/>
    <p:sldId id="374" r:id="rId21"/>
    <p:sldId id="375" r:id="rId22"/>
    <p:sldId id="403" r:id="rId23"/>
    <p:sldId id="404" r:id="rId24"/>
    <p:sldId id="406" r:id="rId25"/>
    <p:sldId id="407" r:id="rId26"/>
    <p:sldId id="376" r:id="rId27"/>
    <p:sldId id="378" r:id="rId28"/>
    <p:sldId id="379" r:id="rId29"/>
    <p:sldId id="380" r:id="rId30"/>
    <p:sldId id="381" r:id="rId31"/>
    <p:sldId id="382" r:id="rId32"/>
    <p:sldId id="383" r:id="rId33"/>
    <p:sldId id="384" r:id="rId34"/>
    <p:sldId id="386" r:id="rId35"/>
    <p:sldId id="387" r:id="rId36"/>
    <p:sldId id="388" r:id="rId37"/>
    <p:sldId id="389" r:id="rId38"/>
    <p:sldId id="390" r:id="rId39"/>
    <p:sldId id="391" r:id="rId40"/>
    <p:sldId id="392" r:id="rId41"/>
    <p:sldId id="393" r:id="rId42"/>
    <p:sldId id="394" r:id="rId43"/>
    <p:sldId id="395" r:id="rId44"/>
    <p:sldId id="396" r:id="rId45"/>
  </p:sldIdLst>
  <p:sldSz cx="12192000" cy="6858000"/>
  <p:notesSz cx="6858000" cy="9144000"/>
  <p:custDataLst>
    <p:tags r:id="rId47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3" autoAdjust="0"/>
    <p:restoredTop sz="92621" autoAdjust="0"/>
  </p:normalViewPr>
  <p:slideViewPr>
    <p:cSldViewPr>
      <p:cViewPr varScale="1">
        <p:scale>
          <a:sx n="77" d="100"/>
          <a:sy n="77" d="100"/>
        </p:scale>
        <p:origin x="350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gs" Target="tags/tag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93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15F3BDE6-C148-40EB-8F3A-AB856D43B15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5F3BDE6-C148-40EB-8F3A-AB856D43B159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528593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"/>
          <p:cNvSpPr>
            <a:spLocks noChangeArrowheads="1"/>
          </p:cNvSpPr>
          <p:nvPr userDrawn="1"/>
        </p:nvSpPr>
        <p:spPr bwMode="ltGray">
          <a:xfrm>
            <a:off x="556684" y="679451"/>
            <a:ext cx="584200" cy="473075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/>
          </a:p>
        </p:txBody>
      </p:sp>
      <p:sp>
        <p:nvSpPr>
          <p:cNvPr id="23" name="Rectangle 3"/>
          <p:cNvSpPr>
            <a:spLocks noChangeArrowheads="1"/>
          </p:cNvSpPr>
          <p:nvPr userDrawn="1"/>
        </p:nvSpPr>
        <p:spPr bwMode="ltGray">
          <a:xfrm>
            <a:off x="1066801" y="679450"/>
            <a:ext cx="438151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/>
          </a:p>
        </p:txBody>
      </p:sp>
      <p:sp>
        <p:nvSpPr>
          <p:cNvPr id="24" name="Rectangle 4"/>
          <p:cNvSpPr>
            <a:spLocks noChangeArrowheads="1"/>
          </p:cNvSpPr>
          <p:nvPr userDrawn="1"/>
        </p:nvSpPr>
        <p:spPr bwMode="ltGray">
          <a:xfrm>
            <a:off x="721785" y="1101726"/>
            <a:ext cx="563033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/>
          </a:p>
        </p:txBody>
      </p:sp>
      <p:sp>
        <p:nvSpPr>
          <p:cNvPr id="25" name="Rectangle 5"/>
          <p:cNvSpPr>
            <a:spLocks noChangeArrowheads="1"/>
          </p:cNvSpPr>
          <p:nvPr userDrawn="1"/>
        </p:nvSpPr>
        <p:spPr bwMode="ltGray">
          <a:xfrm>
            <a:off x="1214967" y="1101726"/>
            <a:ext cx="491067" cy="473075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/>
          </a:p>
        </p:txBody>
      </p:sp>
      <p:sp>
        <p:nvSpPr>
          <p:cNvPr id="26" name="Rectangle 6"/>
          <p:cNvSpPr>
            <a:spLocks noChangeArrowheads="1"/>
          </p:cNvSpPr>
          <p:nvPr userDrawn="1"/>
        </p:nvSpPr>
        <p:spPr bwMode="ltGray">
          <a:xfrm>
            <a:off x="169333" y="1028700"/>
            <a:ext cx="747184" cy="420688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/>
          </a:p>
        </p:txBody>
      </p:sp>
      <p:sp>
        <p:nvSpPr>
          <p:cNvPr id="27" name="Rectangle 7"/>
          <p:cNvSpPr>
            <a:spLocks noChangeArrowheads="1"/>
          </p:cNvSpPr>
          <p:nvPr userDrawn="1"/>
        </p:nvSpPr>
        <p:spPr bwMode="gray">
          <a:xfrm>
            <a:off x="1016000" y="571500"/>
            <a:ext cx="42333" cy="1049338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/>
          </a:p>
        </p:txBody>
      </p:sp>
      <p:sp>
        <p:nvSpPr>
          <p:cNvPr id="28" name="Rectangle 8"/>
          <p:cNvSpPr>
            <a:spLocks noChangeArrowheads="1"/>
          </p:cNvSpPr>
          <p:nvPr userDrawn="1"/>
        </p:nvSpPr>
        <p:spPr bwMode="gray">
          <a:xfrm>
            <a:off x="590551" y="1362075"/>
            <a:ext cx="10968567" cy="46038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/>
          </a:p>
        </p:txBody>
      </p:sp>
      <p:sp>
        <p:nvSpPr>
          <p:cNvPr id="12" name="TextBox 4"/>
          <p:cNvSpPr txBox="1"/>
          <p:nvPr userDrawn="1"/>
        </p:nvSpPr>
        <p:spPr>
          <a:xfrm>
            <a:off x="9936832" y="1097801"/>
            <a:ext cx="2158959" cy="4619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zh-CN" altLang="en-US" sz="2400" dirty="0">
                <a:solidFill>
                  <a:srgbClr val="C00000"/>
                </a:solidFill>
                <a:latin typeface="华文行楷" pitchFamily="2" charset="-122"/>
                <a:ea typeface="华文行楷" pitchFamily="2" charset="-122"/>
              </a:rPr>
              <a:t>主讲：穆浩志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3022E6E-6D74-4107-92E2-5CF3106E903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732" y="48419"/>
            <a:ext cx="1085850" cy="104775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4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1.jpe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/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2095500" y="1643063"/>
            <a:ext cx="4267200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70000"/>
              <a:defRPr/>
            </a:pPr>
            <a:r>
              <a:rPr kumimoji="1" lang="zh-CN" altLang="en-US" sz="3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本讲重点内容</a:t>
            </a:r>
          </a:p>
          <a:p>
            <a:pPr marL="342900" indent="-342900">
              <a:lnSpc>
                <a:spcPct val="150000"/>
              </a:lnSpc>
              <a:buClr>
                <a:schemeClr val="tx1"/>
              </a:buClr>
              <a:buSzPct val="70000"/>
              <a:defRPr/>
            </a:pPr>
            <a:r>
              <a:rPr kumimoji="1" lang="zh-CN" altLang="en-US" sz="32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</a:rPr>
              <a:t>		</a:t>
            </a:r>
          </a:p>
          <a:p>
            <a:pPr marL="342900" indent="-342900">
              <a:lnSpc>
                <a:spcPct val="125000"/>
              </a:lnSpc>
              <a:buClr>
                <a:schemeClr val="tx1"/>
              </a:buClr>
              <a:buSzPct val="70000"/>
              <a:defRPr/>
            </a:pPr>
            <a:r>
              <a:rPr kumimoji="1" lang="zh-CN" altLang="en-US" sz="32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</a:rPr>
              <a:t>		</a:t>
            </a:r>
            <a:endParaRPr kumimoji="1" lang="zh-CN" altLang="en-US" sz="32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 Box 50"/>
          <p:cNvSpPr txBox="1">
            <a:spLocks noChangeArrowheads="1"/>
          </p:cNvSpPr>
          <p:nvPr/>
        </p:nvSpPr>
        <p:spPr bwMode="auto">
          <a:xfrm>
            <a:off x="1847528" y="2470153"/>
            <a:ext cx="8825036" cy="461665"/>
          </a:xfrm>
          <a:prstGeom prst="rect">
            <a:avLst/>
          </a:prstGeom>
          <a:noFill/>
          <a:ln w="762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indent="152400" eaLnBrk="0" hangingPunct="0">
              <a:tabLst>
                <a:tab pos="2636838" algn="ctr"/>
                <a:tab pos="5273675" algn="r"/>
              </a:tabLst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</a:rPr>
              <a:t>    绘图工具和仪器的使用方法、利用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</a:rPr>
              <a:t>CAD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</a:rPr>
              <a:t>绘图软件绘制工程图</a:t>
            </a:r>
          </a:p>
        </p:txBody>
      </p:sp>
      <p:sp>
        <p:nvSpPr>
          <p:cNvPr id="4" name="Rectangle 52"/>
          <p:cNvSpPr>
            <a:spLocks noChangeArrowheads="1"/>
          </p:cNvSpPr>
          <p:nvPr/>
        </p:nvSpPr>
        <p:spPr bwMode="auto">
          <a:xfrm>
            <a:off x="2024063" y="3214688"/>
            <a:ext cx="3409950" cy="728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70000"/>
              <a:defRPr/>
            </a:pPr>
            <a:r>
              <a:rPr kumimoji="1" lang="zh-CN" altLang="en-US" sz="3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学习目标</a:t>
            </a:r>
          </a:p>
          <a:p>
            <a:pPr marL="342900" indent="-342900">
              <a:lnSpc>
                <a:spcPct val="150000"/>
              </a:lnSpc>
              <a:buClr>
                <a:schemeClr val="tx1"/>
              </a:buClr>
              <a:buSzPct val="70000"/>
              <a:defRPr/>
            </a:pPr>
            <a:r>
              <a:rPr kumimoji="1" lang="zh-CN" altLang="en-US" sz="3200" dirty="0">
                <a:latin typeface="宋体" pitchFamily="2" charset="-122"/>
              </a:rPr>
              <a:t>		</a:t>
            </a:r>
          </a:p>
          <a:p>
            <a:pPr marL="342900" indent="-342900">
              <a:lnSpc>
                <a:spcPct val="125000"/>
              </a:lnSpc>
              <a:buClr>
                <a:schemeClr val="tx1"/>
              </a:buClr>
              <a:buSzPct val="70000"/>
              <a:defRPr/>
            </a:pPr>
            <a:r>
              <a:rPr kumimoji="1" lang="zh-CN" altLang="en-US" sz="3200" dirty="0">
                <a:latin typeface="宋体" pitchFamily="2" charset="-122"/>
              </a:rPr>
              <a:t>		</a:t>
            </a:r>
            <a:endParaRPr kumimoji="1"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5" name="Text Box 53"/>
          <p:cNvSpPr txBox="1">
            <a:spLocks noChangeArrowheads="1"/>
          </p:cNvSpPr>
          <p:nvPr/>
        </p:nvSpPr>
        <p:spPr bwMode="auto">
          <a:xfrm>
            <a:off x="2238374" y="3929064"/>
            <a:ext cx="8322121" cy="1682577"/>
          </a:xfrm>
          <a:prstGeom prst="rect">
            <a:avLst/>
          </a:prstGeom>
          <a:noFill/>
          <a:ln w="762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400" dirty="0"/>
              <a:t>         </a:t>
            </a:r>
            <a:r>
              <a:rPr lang="zh-CN" altLang="en-US" sz="2400" b="1" dirty="0">
                <a:solidFill>
                  <a:srgbClr val="FF0000"/>
                </a:solidFill>
              </a:rPr>
              <a:t>掌握</a:t>
            </a:r>
            <a:r>
              <a:rPr lang="zh-CN" altLang="en-US" sz="2400" dirty="0"/>
              <a:t>绘图仪器和计算机</a:t>
            </a:r>
            <a:r>
              <a:rPr lang="en-US" sz="2400" dirty="0"/>
              <a:t>CAD</a:t>
            </a:r>
            <a:r>
              <a:rPr lang="zh-CN" altLang="en-US" sz="2400" b="1" dirty="0">
                <a:solidFill>
                  <a:srgbClr val="FF0000"/>
                </a:solidFill>
              </a:rPr>
              <a:t>绘图的基本技能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。</a:t>
            </a:r>
            <a:endParaRPr lang="zh-CN" altLang="en-US" sz="2400" dirty="0">
              <a:latin typeface="+mn-ea"/>
              <a:ea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2400" dirty="0"/>
              <a:t>       </a:t>
            </a:r>
            <a:r>
              <a:rPr lang="zh-CN" altLang="en-US" sz="2400" b="1" dirty="0">
                <a:solidFill>
                  <a:srgbClr val="FF0000"/>
                </a:solidFill>
              </a:rPr>
              <a:t>会使用</a:t>
            </a:r>
            <a:r>
              <a:rPr lang="zh-CN" altLang="en-US" sz="2400" dirty="0"/>
              <a:t>绘图仪器，会进行</a:t>
            </a:r>
            <a:r>
              <a:rPr lang="en-US" sz="2400" dirty="0"/>
              <a:t>CAD</a:t>
            </a:r>
            <a:r>
              <a:rPr lang="zh-CN" altLang="en-US" sz="2400" dirty="0"/>
              <a:t>绘图软件的基本操作，</a:t>
            </a:r>
            <a:r>
              <a:rPr lang="zh-CN" altLang="en-US" sz="2400" b="1" dirty="0">
                <a:solidFill>
                  <a:srgbClr val="FF0000"/>
                </a:solidFill>
              </a:rPr>
              <a:t>会在</a:t>
            </a:r>
            <a:r>
              <a:rPr lang="en-US" sz="2400" b="1" dirty="0">
                <a:solidFill>
                  <a:srgbClr val="FF0000"/>
                </a:solidFill>
              </a:rPr>
              <a:t>CAD</a:t>
            </a:r>
            <a:r>
              <a:rPr lang="zh-CN" altLang="en-US" sz="2400" b="1" dirty="0">
                <a:solidFill>
                  <a:srgbClr val="FF0000"/>
                </a:solidFill>
              </a:rPr>
              <a:t>中建立</a:t>
            </a:r>
            <a:r>
              <a:rPr lang="zh-CN" altLang="en-US" sz="2400" dirty="0"/>
              <a:t>符合国际标准的</a:t>
            </a:r>
            <a:r>
              <a:rPr lang="zh-CN" altLang="en-US" sz="2400" b="1" dirty="0">
                <a:solidFill>
                  <a:srgbClr val="FF0000"/>
                </a:solidFill>
              </a:rPr>
              <a:t>样板图</a:t>
            </a:r>
          </a:p>
        </p:txBody>
      </p:sp>
      <p:sp>
        <p:nvSpPr>
          <p:cNvPr id="6150" name="Text Box 55"/>
          <p:cNvSpPr txBox="1">
            <a:spLocks noChangeArrowheads="1"/>
          </p:cNvSpPr>
          <p:nvPr/>
        </p:nvSpPr>
        <p:spPr bwMode="auto">
          <a:xfrm>
            <a:off x="2057400" y="4114801"/>
            <a:ext cx="7620000" cy="366713"/>
          </a:xfrm>
          <a:prstGeom prst="rect">
            <a:avLst/>
          </a:prstGeom>
          <a:noFill/>
          <a:ln w="762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en-US"/>
          </a:p>
        </p:txBody>
      </p:sp>
      <p:sp>
        <p:nvSpPr>
          <p:cNvPr id="6151" name="Text Box 57"/>
          <p:cNvSpPr txBox="1">
            <a:spLocks noChangeArrowheads="1"/>
          </p:cNvSpPr>
          <p:nvPr/>
        </p:nvSpPr>
        <p:spPr bwMode="auto">
          <a:xfrm>
            <a:off x="2166938" y="4143375"/>
            <a:ext cx="7620000" cy="369888"/>
          </a:xfrm>
          <a:prstGeom prst="rect">
            <a:avLst/>
          </a:prstGeom>
          <a:noFill/>
          <a:ln w="762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en-US"/>
          </a:p>
        </p:txBody>
      </p:sp>
      <p:sp>
        <p:nvSpPr>
          <p:cNvPr id="10" name="五角星 9"/>
          <p:cNvSpPr/>
          <p:nvPr/>
        </p:nvSpPr>
        <p:spPr>
          <a:xfrm>
            <a:off x="2524125" y="4071939"/>
            <a:ext cx="357188" cy="357187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1" name="五角星 10"/>
          <p:cNvSpPr/>
          <p:nvPr/>
        </p:nvSpPr>
        <p:spPr>
          <a:xfrm>
            <a:off x="2524125" y="4643439"/>
            <a:ext cx="357188" cy="357187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2" name="Text Box 17"/>
          <p:cNvSpPr txBox="1">
            <a:spLocks noChangeArrowheads="1"/>
          </p:cNvSpPr>
          <p:nvPr/>
        </p:nvSpPr>
        <p:spPr bwMode="auto">
          <a:xfrm>
            <a:off x="1836490" y="395703"/>
            <a:ext cx="7950448" cy="1138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/>
            </a:pPr>
            <a:r>
              <a:rPr kumimoji="1" lang="zh-C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工欲善其事，必先利其器</a:t>
            </a:r>
            <a:endParaRPr kumimoji="1" lang="en-US" altLang="zh-CN" sz="32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>
              <a:spcBef>
                <a:spcPts val="0"/>
              </a:spcBef>
              <a:defRPr/>
            </a:pPr>
            <a:r>
              <a:rPr kumimoji="1" lang="en-US" altLang="zh-CN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            </a:t>
            </a:r>
            <a:r>
              <a:rPr kumimoji="1" lang="en-US" altLang="zh-C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——</a:t>
            </a:r>
            <a:r>
              <a:rPr kumimoji="1" lang="zh-CN" altLang="en-US" sz="28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制图工具和基本技能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9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10" grpId="0" animBg="1"/>
      <p:bldP spid="1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7"/>
          <p:cNvSpPr txBox="1">
            <a:spLocks noChangeArrowheads="1"/>
          </p:cNvSpPr>
          <p:nvPr/>
        </p:nvSpPr>
        <p:spPr bwMode="auto">
          <a:xfrm>
            <a:off x="1847528" y="350106"/>
            <a:ext cx="7758624" cy="1138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/>
            </a:pPr>
            <a:r>
              <a:rPr kumimoji="1" lang="zh-C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工欲善其事，必先利其器</a:t>
            </a:r>
            <a:endParaRPr kumimoji="1" lang="en-US" altLang="zh-CN" sz="32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>
              <a:spcBef>
                <a:spcPts val="0"/>
              </a:spcBef>
              <a:defRPr/>
            </a:pPr>
            <a:r>
              <a:rPr kumimoji="1" lang="en-US" altLang="zh-CN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            </a:t>
            </a:r>
            <a:r>
              <a:rPr kumimoji="1" lang="en-US" altLang="zh-C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——</a:t>
            </a:r>
            <a:r>
              <a:rPr kumimoji="1" lang="zh-CN" altLang="en-US" sz="28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制图工具和基本技能</a:t>
            </a:r>
          </a:p>
        </p:txBody>
      </p:sp>
      <p:sp>
        <p:nvSpPr>
          <p:cNvPr id="8196" name="矩形 3"/>
          <p:cNvSpPr>
            <a:spLocks noChangeArrowheads="1"/>
          </p:cNvSpPr>
          <p:nvPr/>
        </p:nvSpPr>
        <p:spPr bwMode="auto">
          <a:xfrm>
            <a:off x="1135143" y="2417582"/>
            <a:ext cx="539121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400" b="1" dirty="0"/>
              <a:t>1.  </a:t>
            </a:r>
            <a:r>
              <a:rPr lang="zh-CN" altLang="en-US" sz="2400" b="1" dirty="0"/>
              <a:t>图板</a:t>
            </a:r>
          </a:p>
        </p:txBody>
      </p:sp>
      <p:pic>
        <p:nvPicPr>
          <p:cNvPr id="61442" name="Picture 2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4687" t="13773" r="28439" b="28239"/>
          <a:stretch>
            <a:fillRect/>
          </a:stretch>
        </p:blipFill>
        <p:spPr bwMode="auto">
          <a:xfrm>
            <a:off x="7032104" y="1747468"/>
            <a:ext cx="3245897" cy="30003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矩形 5"/>
          <p:cNvSpPr/>
          <p:nvPr/>
        </p:nvSpPr>
        <p:spPr>
          <a:xfrm>
            <a:off x="1145758" y="3173255"/>
            <a:ext cx="1857360" cy="4619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b="1" dirty="0">
                <a:latin typeface="+mn-ea"/>
                <a:ea typeface="+mn-ea"/>
              </a:rPr>
              <a:t>2. </a:t>
            </a:r>
            <a:r>
              <a:rPr lang="zh-CN" altLang="en-US" sz="2400" b="1" dirty="0">
                <a:latin typeface="+mn-ea"/>
                <a:ea typeface="+mn-ea"/>
              </a:rPr>
              <a:t>丁字尺</a:t>
            </a:r>
            <a:endParaRPr lang="en-US" altLang="zh-CN" sz="2400" dirty="0">
              <a:latin typeface="+mn-ea"/>
              <a:ea typeface="+mn-ea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2226" t="23357" r="35835" b="38448"/>
          <a:stretch>
            <a:fillRect/>
          </a:stretch>
        </p:blipFill>
        <p:spPr bwMode="auto">
          <a:xfrm>
            <a:off x="1238216" y="3635218"/>
            <a:ext cx="4357718" cy="29762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5951985" y="5043412"/>
            <a:ext cx="500179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400" dirty="0">
                <a:latin typeface="+mn-ea"/>
              </a:rPr>
              <a:t>   使用时，必须将尺头靠紧图板左侧的工作边，上下移动丁字尺，并利用尺身的工作边画出水平线</a:t>
            </a:r>
            <a:endParaRPr lang="zh-CN" altLang="en-US" sz="2400" dirty="0"/>
          </a:p>
        </p:txBody>
      </p:sp>
      <p:sp>
        <p:nvSpPr>
          <p:cNvPr id="2" name="矩形 1"/>
          <p:cNvSpPr/>
          <p:nvPr/>
        </p:nvSpPr>
        <p:spPr>
          <a:xfrm>
            <a:off x="922800" y="1485858"/>
            <a:ext cx="539121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一、</a:t>
            </a:r>
            <a:r>
              <a:rPr lang="en-US" sz="2800" dirty="0">
                <a:latin typeface="黑体" pitchFamily="49" charset="-122"/>
                <a:ea typeface="黑体" pitchFamily="49" charset="-122"/>
              </a:rPr>
              <a:t> </a:t>
            </a: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绘图工具和仪器的使用方法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8" dur="500"/>
                                        <p:tgtEl>
                                          <p:spTgt spid="61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6" grpId="0"/>
      <p:bldP spid="6" grpId="0"/>
      <p:bldP spid="8" grpId="0"/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矩形 2"/>
          <p:cNvSpPr>
            <a:spLocks noChangeArrowheads="1"/>
          </p:cNvSpPr>
          <p:nvPr/>
        </p:nvSpPr>
        <p:spPr bwMode="auto">
          <a:xfrm>
            <a:off x="1199456" y="2171797"/>
            <a:ext cx="300036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400" b="1" dirty="0"/>
              <a:t>3. </a:t>
            </a:r>
            <a:r>
              <a:rPr lang="zh-CN" altLang="en-US" sz="2400" b="1" dirty="0"/>
              <a:t>三角板</a:t>
            </a: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1343472" y="2598003"/>
            <a:ext cx="10153128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400" dirty="0"/>
              <a:t>三角板两块，一块是</a:t>
            </a:r>
            <a:r>
              <a:rPr lang="en-US" altLang="zh-CN" sz="2400" dirty="0"/>
              <a:t>45°</a:t>
            </a:r>
            <a:r>
              <a:rPr lang="zh-CN" altLang="en-US" sz="2400" dirty="0"/>
              <a:t>另一块是</a:t>
            </a:r>
            <a:r>
              <a:rPr lang="en-US" altLang="zh-CN" sz="2400" dirty="0"/>
              <a:t>30°</a:t>
            </a:r>
            <a:r>
              <a:rPr lang="zh-CN" altLang="en-US" sz="2400" dirty="0"/>
              <a:t>和</a:t>
            </a:r>
            <a:r>
              <a:rPr lang="en-US" altLang="zh-CN" sz="2400" dirty="0"/>
              <a:t>60°</a:t>
            </a:r>
            <a:r>
              <a:rPr lang="zh-CN" altLang="en-US" sz="2400" dirty="0"/>
              <a:t>。三角板和丁字尺配合使用，可画垂直线和</a:t>
            </a:r>
            <a:r>
              <a:rPr lang="en-US" altLang="zh-CN" sz="2400" dirty="0"/>
              <a:t>30°</a:t>
            </a:r>
            <a:r>
              <a:rPr lang="zh-CN" altLang="en-US" sz="2400" dirty="0"/>
              <a:t>、</a:t>
            </a:r>
            <a:r>
              <a:rPr lang="en-US" altLang="zh-CN" sz="2400" dirty="0"/>
              <a:t>45°</a:t>
            </a:r>
            <a:r>
              <a:rPr lang="zh-CN" altLang="en-US" sz="2400" dirty="0"/>
              <a:t>、</a:t>
            </a:r>
            <a:r>
              <a:rPr lang="en-US" altLang="zh-CN" sz="2400" dirty="0"/>
              <a:t>60°</a:t>
            </a:r>
            <a:r>
              <a:rPr lang="zh-CN" altLang="en-US" sz="2400" dirty="0"/>
              <a:t>以及</a:t>
            </a:r>
            <a:r>
              <a:rPr lang="en-US" altLang="zh-CN" sz="2400" i="1" dirty="0"/>
              <a:t>n</a:t>
            </a:r>
            <a:r>
              <a:rPr lang="en-US" altLang="zh-CN" sz="2400" dirty="0"/>
              <a:t>×15°</a:t>
            </a:r>
            <a:r>
              <a:rPr lang="zh-CN" altLang="en-US" sz="2400" dirty="0"/>
              <a:t>的各种斜线</a:t>
            </a:r>
          </a:p>
        </p:txBody>
      </p:sp>
      <p:pic>
        <p:nvPicPr>
          <p:cNvPr id="63490" name="Picture 2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7455" t="23357" r="11267" b="43321"/>
          <a:stretch>
            <a:fillRect/>
          </a:stretch>
        </p:blipFill>
        <p:spPr bwMode="auto">
          <a:xfrm>
            <a:off x="1824431" y="3657601"/>
            <a:ext cx="8712968" cy="2357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矩形 5"/>
          <p:cNvSpPr/>
          <p:nvPr/>
        </p:nvSpPr>
        <p:spPr>
          <a:xfrm>
            <a:off x="1114374" y="1464148"/>
            <a:ext cx="539121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一、</a:t>
            </a:r>
            <a:r>
              <a:rPr lang="en-US" sz="2800" dirty="0">
                <a:latin typeface="黑体" pitchFamily="49" charset="-122"/>
                <a:ea typeface="黑体" pitchFamily="49" charset="-122"/>
              </a:rPr>
              <a:t> </a:t>
            </a: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绘图工具和仪器的使用方法</a:t>
            </a:r>
          </a:p>
        </p:txBody>
      </p:sp>
      <p:sp>
        <p:nvSpPr>
          <p:cNvPr id="7" name="Text Box 17"/>
          <p:cNvSpPr txBox="1">
            <a:spLocks noChangeArrowheads="1"/>
          </p:cNvSpPr>
          <p:nvPr/>
        </p:nvSpPr>
        <p:spPr bwMode="auto">
          <a:xfrm>
            <a:off x="1343472" y="379088"/>
            <a:ext cx="8352928" cy="1138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/>
            </a:pPr>
            <a:r>
              <a:rPr kumimoji="1" lang="zh-C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工欲善其事，必先利其器</a:t>
            </a:r>
            <a:endParaRPr kumimoji="1" lang="en-US" altLang="zh-CN" sz="32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>
              <a:spcBef>
                <a:spcPts val="0"/>
              </a:spcBef>
              <a:defRPr/>
            </a:pPr>
            <a:r>
              <a:rPr kumimoji="1" lang="en-US" altLang="zh-CN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            </a:t>
            </a:r>
            <a:r>
              <a:rPr kumimoji="1" lang="en-US" altLang="zh-C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——</a:t>
            </a:r>
            <a:r>
              <a:rPr kumimoji="1" lang="zh-CN" altLang="en-US" sz="28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制图工具和基本技能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34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34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矩形 2"/>
          <p:cNvSpPr>
            <a:spLocks noChangeArrowheads="1"/>
          </p:cNvSpPr>
          <p:nvPr/>
        </p:nvSpPr>
        <p:spPr bwMode="auto">
          <a:xfrm>
            <a:off x="1127448" y="1511263"/>
            <a:ext cx="3214682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400" b="1" dirty="0"/>
              <a:t>4.  </a:t>
            </a:r>
            <a:r>
              <a:rPr lang="zh-CN" altLang="en-US" sz="2400" b="1" dirty="0"/>
              <a:t>绘图铅笔及铅芯</a:t>
            </a:r>
          </a:p>
        </p:txBody>
      </p:sp>
      <p:pic>
        <p:nvPicPr>
          <p:cNvPr id="11268" name="图片 11" descr="2-1表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1424" y="2061638"/>
            <a:ext cx="8023225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矩形 4"/>
          <p:cNvSpPr/>
          <p:nvPr/>
        </p:nvSpPr>
        <p:spPr>
          <a:xfrm>
            <a:off x="1646520" y="893554"/>
            <a:ext cx="539121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一、</a:t>
            </a:r>
            <a:r>
              <a:rPr lang="en-US" sz="2800" dirty="0">
                <a:latin typeface="黑体" pitchFamily="49" charset="-122"/>
                <a:ea typeface="黑体" pitchFamily="49" charset="-122"/>
              </a:rPr>
              <a:t> </a:t>
            </a: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绘图工具和仪器的使用方法</a:t>
            </a:r>
          </a:p>
        </p:txBody>
      </p:sp>
      <p:sp>
        <p:nvSpPr>
          <p:cNvPr id="6" name="Text Box 17"/>
          <p:cNvSpPr txBox="1">
            <a:spLocks noChangeArrowheads="1"/>
          </p:cNvSpPr>
          <p:nvPr/>
        </p:nvSpPr>
        <p:spPr bwMode="auto">
          <a:xfrm>
            <a:off x="3809984" y="214291"/>
            <a:ext cx="474186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1" lang="zh-C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制图工具和基本技能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D23E38-D0ED-49F7-9D27-C82F973F8E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-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4728" y="2204864"/>
            <a:ext cx="2520950" cy="18176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4204A13-7B98-4252-B63F-BE52E442CB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lum bright="-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4728" y="4022552"/>
            <a:ext cx="2520950" cy="1888976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矩形 2"/>
          <p:cNvSpPr>
            <a:spLocks noChangeArrowheads="1"/>
          </p:cNvSpPr>
          <p:nvPr/>
        </p:nvSpPr>
        <p:spPr bwMode="auto">
          <a:xfrm>
            <a:off x="1268376" y="1476939"/>
            <a:ext cx="2428864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400" b="1" dirty="0"/>
              <a:t>5. </a:t>
            </a:r>
            <a:r>
              <a:rPr lang="zh-CN" altLang="en-US" sz="2400" b="1" dirty="0"/>
              <a:t>绘图仪器</a:t>
            </a:r>
          </a:p>
        </p:txBody>
      </p:sp>
      <p:pic>
        <p:nvPicPr>
          <p:cNvPr id="69634" name="Picture 2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7165" t="18504" r="35913" b="48129"/>
          <a:stretch>
            <a:fillRect/>
          </a:stretch>
        </p:blipFill>
        <p:spPr bwMode="auto">
          <a:xfrm>
            <a:off x="4595802" y="1639986"/>
            <a:ext cx="2857520" cy="20747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9635" name="Picture 3"/>
          <p:cNvPicPr>
            <a:picLocks noChangeAspect="1" noChangeArrowheads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41228" t="29823" r="24065" b="27559"/>
          <a:stretch>
            <a:fillRect/>
          </a:stretch>
        </p:blipFill>
        <p:spPr bwMode="auto">
          <a:xfrm>
            <a:off x="7810513" y="1785926"/>
            <a:ext cx="2195215" cy="20002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1689896" y="2005702"/>
            <a:ext cx="128432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 dirty="0"/>
              <a:t>1</a:t>
            </a:r>
            <a:r>
              <a:rPr lang="zh-CN" altLang="en-US" sz="2400" b="1" dirty="0"/>
              <a:t>）圆规</a:t>
            </a:r>
          </a:p>
        </p:txBody>
      </p:sp>
      <p:sp>
        <p:nvSpPr>
          <p:cNvPr id="8" name="矩形 7"/>
          <p:cNvSpPr/>
          <p:nvPr/>
        </p:nvSpPr>
        <p:spPr>
          <a:xfrm>
            <a:off x="1328688" y="811238"/>
            <a:ext cx="539121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一、</a:t>
            </a:r>
            <a:r>
              <a:rPr lang="en-US" sz="2800" dirty="0">
                <a:latin typeface="黑体" pitchFamily="49" charset="-122"/>
                <a:ea typeface="黑体" pitchFamily="49" charset="-122"/>
              </a:rPr>
              <a:t> </a:t>
            </a: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绘图工具和仪器的使用方法</a:t>
            </a:r>
          </a:p>
        </p:txBody>
      </p:sp>
      <p:sp>
        <p:nvSpPr>
          <p:cNvPr id="9" name="Text Box 17"/>
          <p:cNvSpPr txBox="1">
            <a:spLocks noChangeArrowheads="1"/>
          </p:cNvSpPr>
          <p:nvPr/>
        </p:nvSpPr>
        <p:spPr bwMode="auto">
          <a:xfrm>
            <a:off x="3809984" y="214291"/>
            <a:ext cx="474186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1" lang="zh-C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制图工具和基本技能</a:t>
            </a:r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1689896" y="2931674"/>
            <a:ext cx="128432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 dirty="0"/>
              <a:t>2</a:t>
            </a:r>
            <a:r>
              <a:rPr lang="zh-CN" altLang="en-US" sz="2400" b="1" dirty="0"/>
              <a:t>）分规</a:t>
            </a:r>
          </a:p>
        </p:txBody>
      </p:sp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252" t="39862" r="79170" b="30020"/>
          <a:stretch>
            <a:fillRect/>
          </a:stretch>
        </p:blipFill>
        <p:spPr bwMode="auto">
          <a:xfrm>
            <a:off x="2332059" y="3857647"/>
            <a:ext cx="2000250" cy="2538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2" descr="2-41"/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5489" t="9186" r="53645" b="13602"/>
          <a:stretch>
            <a:fillRect/>
          </a:stretch>
        </p:blipFill>
        <p:spPr bwMode="auto">
          <a:xfrm>
            <a:off x="4903809" y="4071960"/>
            <a:ext cx="2500312" cy="2357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1"/>
          <p:cNvPicPr>
            <a:picLocks noChangeAspect="1" noChangeArrowheads="1"/>
          </p:cNvPicPr>
          <p:nvPr/>
        </p:nvPicPr>
        <p:blipFill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36983" t="18454" r="30893" b="43257"/>
          <a:stretch>
            <a:fillRect/>
          </a:stretch>
        </p:blipFill>
        <p:spPr bwMode="auto">
          <a:xfrm>
            <a:off x="7761318" y="4143397"/>
            <a:ext cx="2478087" cy="2214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96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96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96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9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69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5"/>
          <p:cNvSpPr txBox="1">
            <a:spLocks noChangeArrowheads="1"/>
          </p:cNvSpPr>
          <p:nvPr/>
        </p:nvSpPr>
        <p:spPr bwMode="auto">
          <a:xfrm>
            <a:off x="2238382" y="1395700"/>
            <a:ext cx="292892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Times New Roman" pitchFamily="18" charset="0"/>
              </a:rPr>
              <a:t>绘图的方法和步骤</a:t>
            </a:r>
            <a:endParaRPr kumimoji="1" lang="zh-CN" altLang="en-US" sz="2400" b="1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sp>
        <p:nvSpPr>
          <p:cNvPr id="52230" name="Text Box 6"/>
          <p:cNvSpPr txBox="1">
            <a:spLocks noChangeArrowheads="1"/>
          </p:cNvSpPr>
          <p:nvPr/>
        </p:nvSpPr>
        <p:spPr bwMode="auto">
          <a:xfrm>
            <a:off x="1264444" y="1753579"/>
            <a:ext cx="2438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 sz="2400" b="1" dirty="0">
                <a:solidFill>
                  <a:srgbClr val="000000"/>
                </a:solidFill>
                <a:latin typeface="+mn-ea"/>
                <a:ea typeface="+mn-ea"/>
              </a:rPr>
              <a:t>1. </a:t>
            </a:r>
            <a:r>
              <a:rPr kumimoji="1" lang="zh-CN" altLang="en-US" sz="2400" b="1" dirty="0">
                <a:solidFill>
                  <a:srgbClr val="000000"/>
                </a:solidFill>
                <a:latin typeface="+mn-ea"/>
                <a:ea typeface="+mn-ea"/>
              </a:rPr>
              <a:t>准备工作</a:t>
            </a:r>
          </a:p>
        </p:txBody>
      </p:sp>
      <p:sp>
        <p:nvSpPr>
          <p:cNvPr id="52231" name="Text Box 7"/>
          <p:cNvSpPr txBox="1">
            <a:spLocks noChangeArrowheads="1"/>
          </p:cNvSpPr>
          <p:nvPr/>
        </p:nvSpPr>
        <p:spPr bwMode="auto">
          <a:xfrm>
            <a:off x="1495390" y="2371548"/>
            <a:ext cx="3243288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 sz="2400" b="1" dirty="0">
                <a:latin typeface="+mn-ea"/>
                <a:ea typeface="+mn-ea"/>
              </a:rPr>
              <a:t>⑴ </a:t>
            </a:r>
            <a:r>
              <a:rPr kumimoji="1" lang="zh-CN" altLang="en-US" sz="2400" b="1" dirty="0">
                <a:latin typeface="+mn-ea"/>
                <a:ea typeface="+mn-ea"/>
              </a:rPr>
              <a:t>将绘图工具和仪器以及图板擦拭干净，削好铅笔。</a:t>
            </a:r>
          </a:p>
        </p:txBody>
      </p:sp>
      <p:sp>
        <p:nvSpPr>
          <p:cNvPr id="52232" name="Text Box 8"/>
          <p:cNvSpPr txBox="1">
            <a:spLocks noChangeArrowheads="1"/>
          </p:cNvSpPr>
          <p:nvPr/>
        </p:nvSpPr>
        <p:spPr bwMode="auto">
          <a:xfrm>
            <a:off x="1495390" y="5371943"/>
            <a:ext cx="913711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 sz="2400" b="1" dirty="0">
                <a:latin typeface="+mn-ea"/>
                <a:ea typeface="+mn-ea"/>
              </a:rPr>
              <a:t>⑶ </a:t>
            </a:r>
            <a:r>
              <a:rPr kumimoji="1" lang="zh-CN" altLang="en-US" sz="2400" b="1" dirty="0">
                <a:latin typeface="+mn-ea"/>
                <a:ea typeface="+mn-ea"/>
              </a:rPr>
              <a:t>判别图纸正反面，将图纸用胶带固定在图板左下方适当位置。</a:t>
            </a:r>
          </a:p>
        </p:txBody>
      </p:sp>
      <p:sp>
        <p:nvSpPr>
          <p:cNvPr id="52234" name="Text Box 10"/>
          <p:cNvSpPr txBox="1">
            <a:spLocks noChangeArrowheads="1"/>
          </p:cNvSpPr>
          <p:nvPr/>
        </p:nvSpPr>
        <p:spPr bwMode="auto">
          <a:xfrm>
            <a:off x="1495390" y="3788166"/>
            <a:ext cx="3100412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 sz="2400" b="1" dirty="0">
                <a:latin typeface="+mn-ea"/>
                <a:ea typeface="+mn-ea"/>
              </a:rPr>
              <a:t>⑵ </a:t>
            </a:r>
            <a:r>
              <a:rPr kumimoji="1" lang="zh-CN" altLang="en-US" sz="2400" b="1" dirty="0">
                <a:latin typeface="+mn-ea"/>
                <a:ea typeface="+mn-ea"/>
              </a:rPr>
              <a:t>根据图形大小和复杂程度，确定绘图比例和图纸幅面。</a:t>
            </a:r>
          </a:p>
        </p:txBody>
      </p:sp>
      <p:sp>
        <p:nvSpPr>
          <p:cNvPr id="9" name="Text Box 17"/>
          <p:cNvSpPr txBox="1">
            <a:spLocks noChangeArrowheads="1"/>
          </p:cNvSpPr>
          <p:nvPr/>
        </p:nvSpPr>
        <p:spPr bwMode="auto">
          <a:xfrm>
            <a:off x="3809984" y="214291"/>
            <a:ext cx="474186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1" lang="zh-C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制图工具和基本技能</a:t>
            </a:r>
          </a:p>
        </p:txBody>
      </p:sp>
      <p:sp>
        <p:nvSpPr>
          <p:cNvPr id="10" name="矩形 9"/>
          <p:cNvSpPr/>
          <p:nvPr/>
        </p:nvSpPr>
        <p:spPr>
          <a:xfrm>
            <a:off x="1495390" y="849468"/>
            <a:ext cx="539121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一、</a:t>
            </a:r>
            <a:r>
              <a:rPr lang="en-US" sz="2800" dirty="0">
                <a:latin typeface="黑体" pitchFamily="49" charset="-122"/>
                <a:ea typeface="黑体" pitchFamily="49" charset="-122"/>
              </a:rPr>
              <a:t> </a:t>
            </a: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绘图工具和仪器的使用方法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863540" y="2071678"/>
            <a:ext cx="5232989" cy="2786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2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2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2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2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30" grpId="0"/>
      <p:bldP spid="52231" grpId="0" autoUpdateAnimBg="0"/>
      <p:bldP spid="52234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271464" y="1449291"/>
            <a:ext cx="8067704" cy="140364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 algn="just" eaLnBrk="1" hangingPunct="1">
              <a:buFontTx/>
              <a:buNone/>
            </a:pPr>
            <a:r>
              <a:rPr lang="en-US" altLang="zh-CN" sz="2400" dirty="0"/>
              <a:t>1. </a:t>
            </a:r>
            <a:r>
              <a:rPr lang="zh-CN" altLang="en-US" sz="2400" dirty="0"/>
              <a:t>操作界面与</a:t>
            </a:r>
            <a:r>
              <a:rPr lang="en-US" altLang="zh-CN" sz="2400" dirty="0"/>
              <a:t>AutoCAD</a:t>
            </a:r>
            <a:r>
              <a:rPr lang="zh-CN" altLang="en-US" sz="2400" dirty="0"/>
              <a:t>命令的启动</a:t>
            </a:r>
          </a:p>
          <a:p>
            <a:pPr algn="just" eaLnBrk="1" hangingPunct="1">
              <a:buFontTx/>
              <a:buNone/>
            </a:pPr>
            <a:r>
              <a:rPr lang="zh-CN" altLang="en-US" sz="2400" dirty="0"/>
              <a:t>    </a:t>
            </a:r>
            <a:r>
              <a:rPr lang="en-US" altLang="zh-CN" sz="2400" dirty="0"/>
              <a:t>    </a:t>
            </a:r>
            <a:r>
              <a:rPr lang="zh-CN" altLang="en-US" sz="2400" dirty="0"/>
              <a:t> 在</a:t>
            </a:r>
            <a:r>
              <a:rPr lang="en-US" altLang="zh-CN" sz="2400" dirty="0"/>
              <a:t>Windows</a:t>
            </a:r>
            <a:r>
              <a:rPr lang="zh-CN" altLang="en-US" sz="2400" dirty="0"/>
              <a:t>系统下安装</a:t>
            </a:r>
            <a:r>
              <a:rPr lang="en-US" altLang="zh-CN" sz="2400" dirty="0"/>
              <a:t>AutoCAD 2012</a:t>
            </a:r>
            <a:r>
              <a:rPr lang="zh-CN" altLang="en-US" sz="2400" dirty="0"/>
              <a:t>后，桌面上会创建一个启动图标。在该图标处双击鼠标左键，即启动</a:t>
            </a:r>
            <a:r>
              <a:rPr lang="en-US" altLang="zh-CN" sz="2400" dirty="0"/>
              <a:t>AutoCAD2012</a:t>
            </a:r>
            <a:r>
              <a:rPr lang="zh-CN" altLang="en-US" sz="2400" dirty="0"/>
              <a:t>主界面“草图与注释”工作空间 </a:t>
            </a:r>
          </a:p>
        </p:txBody>
      </p:sp>
      <p:sp>
        <p:nvSpPr>
          <p:cNvPr id="18437" name="Rectangle 5"/>
          <p:cNvSpPr>
            <a:spLocks noChangeArrowheads="1"/>
          </p:cNvSpPr>
          <p:nvPr/>
        </p:nvSpPr>
        <p:spPr bwMode="auto">
          <a:xfrm>
            <a:off x="1431556" y="826795"/>
            <a:ext cx="464347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eaLnBrk="0" hangingPunct="0">
              <a:defRPr/>
            </a:pPr>
            <a:r>
              <a:rPr lang="zh-CN" altLang="en-US" sz="2800" b="1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二、</a:t>
            </a:r>
            <a:r>
              <a:rPr lang="en-US" altLang="zh-CN" sz="2800" b="1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AutoCAD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软件基本操作</a:t>
            </a:r>
            <a:endParaRPr lang="zh-CN" altLang="en-US" sz="2800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6" name="Text Box 17"/>
          <p:cNvSpPr txBox="1">
            <a:spLocks noChangeArrowheads="1"/>
          </p:cNvSpPr>
          <p:nvPr/>
        </p:nvSpPr>
        <p:spPr bwMode="auto">
          <a:xfrm>
            <a:off x="3809984" y="214291"/>
            <a:ext cx="474186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1" lang="zh-C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制图工具和基本技能</a:t>
            </a:r>
          </a:p>
        </p:txBody>
      </p:sp>
      <p:pic>
        <p:nvPicPr>
          <p:cNvPr id="15366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31556" y="1960050"/>
            <a:ext cx="9632996" cy="47149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灯片编号占位符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763000" y="6019779"/>
            <a:ext cx="1902104" cy="457221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r"/>
            <a:fld id="{3CD47465-6AE0-4A97-A5D3-4DB0BB13796A}" type="slidenum">
              <a:rPr lang="en-US" altLang="zh-CN" sz="1400"/>
              <a:pPr algn="r"/>
              <a:t>8</a:t>
            </a:fld>
            <a:r>
              <a:rPr lang="en-US" altLang="zh-CN" sz="1400"/>
              <a:t>/57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703390" y="188640"/>
            <a:ext cx="8771870" cy="5977211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CN" altLang="zh-CN"/>
          </a:p>
        </p:txBody>
      </p:sp>
      <p:pic>
        <p:nvPicPr>
          <p:cNvPr id="16388" name="Picture 5" descr="2012j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0" y="15562"/>
            <a:ext cx="9130100" cy="6842439"/>
          </a:xfrm>
          <a:prstGeom prst="rect">
            <a:avLst/>
          </a:prstGeom>
          <a:noFill/>
          <a:ln w="3175">
            <a:solidFill>
              <a:srgbClr val="000000"/>
            </a:solidFill>
            <a:miter lim="800000"/>
            <a:headEnd/>
            <a:tailEnd/>
          </a:ln>
        </p:spPr>
      </p:pic>
      <p:sp>
        <p:nvSpPr>
          <p:cNvPr id="71694" name="AutoShape 14"/>
          <p:cNvSpPr>
            <a:spLocks noChangeArrowheads="1"/>
          </p:cNvSpPr>
          <p:nvPr/>
        </p:nvSpPr>
        <p:spPr bwMode="auto">
          <a:xfrm>
            <a:off x="2063750" y="1844634"/>
            <a:ext cx="1726160" cy="936668"/>
          </a:xfrm>
          <a:prstGeom prst="wedgeRoundRectCallout">
            <a:avLst>
              <a:gd name="adj1" fmla="val -22454"/>
              <a:gd name="adj2" fmla="val -233727"/>
              <a:gd name="adj3" fmla="val 16667"/>
            </a:avLst>
          </a:prstGeom>
          <a:solidFill>
            <a:srgbClr val="CCFFCC"/>
          </a:solidFill>
          <a:ln w="9525" algn="ctr">
            <a:solidFill>
              <a:srgbClr val="FFFF99"/>
            </a:solidFill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50000"/>
              </a:spcBef>
            </a:pPr>
            <a:r>
              <a:rPr lang="zh-CN" altLang="en-US" sz="2400"/>
              <a:t>快速访问工具栏</a:t>
            </a:r>
          </a:p>
        </p:txBody>
      </p:sp>
      <p:sp>
        <p:nvSpPr>
          <p:cNvPr id="71695" name="AutoShape 15"/>
          <p:cNvSpPr>
            <a:spLocks noChangeArrowheads="1"/>
          </p:cNvSpPr>
          <p:nvPr/>
        </p:nvSpPr>
        <p:spPr bwMode="auto">
          <a:xfrm>
            <a:off x="6672263" y="1844654"/>
            <a:ext cx="1222101" cy="504848"/>
          </a:xfrm>
          <a:prstGeom prst="wedgeRoundRectCallout">
            <a:avLst>
              <a:gd name="adj1" fmla="val -134954"/>
              <a:gd name="adj2" fmla="val -405977"/>
              <a:gd name="adj3" fmla="val 16667"/>
            </a:avLst>
          </a:prstGeom>
          <a:solidFill>
            <a:srgbClr val="FFCC99"/>
          </a:solidFill>
          <a:ln w="9525" algn="ctr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50000"/>
              </a:spcBef>
            </a:pPr>
            <a:r>
              <a:rPr lang="zh-CN" altLang="en-US" sz="2400"/>
              <a:t>标题栏</a:t>
            </a:r>
          </a:p>
        </p:txBody>
      </p:sp>
      <p:sp>
        <p:nvSpPr>
          <p:cNvPr id="71696" name="AutoShape 16"/>
          <p:cNvSpPr>
            <a:spLocks noChangeArrowheads="1"/>
          </p:cNvSpPr>
          <p:nvPr/>
        </p:nvSpPr>
        <p:spPr bwMode="auto">
          <a:xfrm>
            <a:off x="4800602" y="1989118"/>
            <a:ext cx="1222102" cy="431820"/>
          </a:xfrm>
          <a:prstGeom prst="wedgeRoundRectCallout">
            <a:avLst>
              <a:gd name="adj1" fmla="val -89042"/>
              <a:gd name="adj2" fmla="val -448528"/>
              <a:gd name="adj3" fmla="val 16667"/>
            </a:avLst>
          </a:prstGeom>
          <a:solidFill>
            <a:srgbClr val="FFFF99"/>
          </a:solidFill>
          <a:ln w="9525" algn="ctr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50000"/>
              </a:spcBef>
            </a:pPr>
            <a:r>
              <a:rPr lang="zh-CN" altLang="en-US" sz="2400"/>
              <a:t>菜单栏</a:t>
            </a:r>
          </a:p>
        </p:txBody>
      </p:sp>
      <p:sp>
        <p:nvSpPr>
          <p:cNvPr id="71697" name="AutoShape 17"/>
          <p:cNvSpPr>
            <a:spLocks noChangeArrowheads="1"/>
          </p:cNvSpPr>
          <p:nvPr/>
        </p:nvSpPr>
        <p:spPr bwMode="auto">
          <a:xfrm>
            <a:off x="3935413" y="2781276"/>
            <a:ext cx="1222101" cy="503261"/>
          </a:xfrm>
          <a:prstGeom prst="wedgeRoundRectCallout">
            <a:avLst>
              <a:gd name="adj1" fmla="val -88264"/>
              <a:gd name="adj2" fmla="val -459463"/>
              <a:gd name="adj3" fmla="val 16667"/>
            </a:avLst>
          </a:prstGeom>
          <a:solidFill>
            <a:srgbClr val="00FF00"/>
          </a:solidFill>
          <a:ln w="9525" algn="ctr">
            <a:solidFill>
              <a:srgbClr val="FFFF00"/>
            </a:solidFill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50000"/>
              </a:spcBef>
            </a:pPr>
            <a:r>
              <a:rPr lang="zh-CN" altLang="en-US" sz="2400"/>
              <a:t>功能区</a:t>
            </a:r>
          </a:p>
        </p:txBody>
      </p:sp>
      <p:sp>
        <p:nvSpPr>
          <p:cNvPr id="71698" name="AutoShape 18"/>
          <p:cNvSpPr>
            <a:spLocks noChangeArrowheads="1"/>
          </p:cNvSpPr>
          <p:nvPr/>
        </p:nvSpPr>
        <p:spPr bwMode="auto">
          <a:xfrm>
            <a:off x="8616950" y="1773197"/>
            <a:ext cx="1510588" cy="936668"/>
          </a:xfrm>
          <a:prstGeom prst="wedgeRoundRectCallout">
            <a:avLst>
              <a:gd name="adj1" fmla="val -72245"/>
              <a:gd name="adj2" fmla="val -227458"/>
              <a:gd name="adj3" fmla="val 16667"/>
            </a:avLst>
          </a:prstGeom>
          <a:solidFill>
            <a:srgbClr val="CCFFFF"/>
          </a:solidFill>
          <a:ln w="9525" algn="ctr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50000"/>
              </a:spcBef>
            </a:pPr>
            <a:r>
              <a:rPr lang="zh-CN" altLang="en-US" sz="2400"/>
              <a:t>交互信息工具栏</a:t>
            </a:r>
          </a:p>
        </p:txBody>
      </p:sp>
      <p:sp>
        <p:nvSpPr>
          <p:cNvPr id="71699" name="AutoShape 19"/>
          <p:cNvSpPr>
            <a:spLocks noChangeArrowheads="1"/>
          </p:cNvSpPr>
          <p:nvPr/>
        </p:nvSpPr>
        <p:spPr bwMode="auto">
          <a:xfrm>
            <a:off x="6167438" y="2636816"/>
            <a:ext cx="1293431" cy="503260"/>
          </a:xfrm>
          <a:prstGeom prst="wedgeRoundRectCallout">
            <a:avLst>
              <a:gd name="adj1" fmla="val -92769"/>
              <a:gd name="adj2" fmla="val -329810"/>
              <a:gd name="adj3" fmla="val 16667"/>
            </a:avLst>
          </a:prstGeom>
          <a:solidFill>
            <a:srgbClr val="FF99CC"/>
          </a:solidFill>
          <a:ln w="9525" algn="ctr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50000"/>
              </a:spcBef>
            </a:pPr>
            <a:r>
              <a:rPr lang="zh-CN" altLang="en-US" sz="2400"/>
              <a:t>功能区</a:t>
            </a:r>
          </a:p>
        </p:txBody>
      </p:sp>
      <p:sp>
        <p:nvSpPr>
          <p:cNvPr id="71700" name="AutoShape 20"/>
          <p:cNvSpPr>
            <a:spLocks noChangeArrowheads="1"/>
          </p:cNvSpPr>
          <p:nvPr/>
        </p:nvSpPr>
        <p:spPr bwMode="auto">
          <a:xfrm>
            <a:off x="3071814" y="4221141"/>
            <a:ext cx="1581917" cy="503260"/>
          </a:xfrm>
          <a:prstGeom prst="wedgeRoundRectCallout">
            <a:avLst>
              <a:gd name="adj1" fmla="val -85972"/>
              <a:gd name="adj2" fmla="val 228551"/>
              <a:gd name="adj3" fmla="val 16667"/>
            </a:avLst>
          </a:prstGeom>
          <a:gradFill rotWithShape="1">
            <a:gsLst>
              <a:gs pos="0">
                <a:srgbClr val="FF99CC"/>
              </a:gs>
              <a:gs pos="100000">
                <a:srgbClr val="76475E"/>
              </a:gs>
            </a:gsLst>
            <a:lin ang="5400000" scaled="1"/>
          </a:gradFill>
          <a:ln w="9525" algn="ctr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50000"/>
              </a:spcBef>
            </a:pPr>
            <a:r>
              <a:rPr lang="zh-CN" altLang="en-US" sz="2400"/>
              <a:t>布局标签</a:t>
            </a:r>
          </a:p>
        </p:txBody>
      </p:sp>
      <p:sp>
        <p:nvSpPr>
          <p:cNvPr id="71701" name="AutoShape 21"/>
          <p:cNvSpPr>
            <a:spLocks noChangeArrowheads="1"/>
          </p:cNvSpPr>
          <p:nvPr/>
        </p:nvSpPr>
        <p:spPr bwMode="auto">
          <a:xfrm>
            <a:off x="5238744" y="4500529"/>
            <a:ext cx="1654831" cy="936668"/>
          </a:xfrm>
          <a:prstGeom prst="wedgeRoundRectCallout">
            <a:avLst>
              <a:gd name="adj1" fmla="val -217241"/>
              <a:gd name="adj2" fmla="val 169324"/>
              <a:gd name="adj3" fmla="val 16667"/>
            </a:avLst>
          </a:prstGeom>
          <a:solidFill>
            <a:srgbClr val="FFCC00"/>
          </a:solidFill>
          <a:ln w="9525" algn="ctr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50000"/>
              </a:spcBef>
            </a:pPr>
            <a:r>
              <a:rPr lang="zh-CN" altLang="en-US" sz="2400"/>
              <a:t>命令提示窗口</a:t>
            </a:r>
          </a:p>
        </p:txBody>
      </p:sp>
      <p:sp>
        <p:nvSpPr>
          <p:cNvPr id="71702" name="AutoShape 22"/>
          <p:cNvSpPr>
            <a:spLocks noChangeArrowheads="1"/>
          </p:cNvSpPr>
          <p:nvPr/>
        </p:nvSpPr>
        <p:spPr bwMode="auto">
          <a:xfrm>
            <a:off x="7381884" y="4929174"/>
            <a:ext cx="1222101" cy="503261"/>
          </a:xfrm>
          <a:prstGeom prst="wedgeRoundRectCallout">
            <a:avLst>
              <a:gd name="adj1" fmla="val -229898"/>
              <a:gd name="adj2" fmla="val 318454"/>
              <a:gd name="adj3" fmla="val 16667"/>
            </a:avLst>
          </a:prstGeom>
          <a:solidFill>
            <a:srgbClr val="CCFFFF"/>
          </a:solidFill>
          <a:ln w="9525" algn="ctr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50000"/>
              </a:spcBef>
            </a:pPr>
            <a:r>
              <a:rPr lang="zh-CN" altLang="en-US" sz="2400" dirty="0"/>
              <a:t>状态栏</a:t>
            </a:r>
          </a:p>
        </p:txBody>
      </p:sp>
      <p:sp>
        <p:nvSpPr>
          <p:cNvPr id="71703" name="AutoShape 23"/>
          <p:cNvSpPr>
            <a:spLocks noChangeArrowheads="1"/>
          </p:cNvSpPr>
          <p:nvPr/>
        </p:nvSpPr>
        <p:spPr bwMode="auto">
          <a:xfrm>
            <a:off x="1774826" y="3573442"/>
            <a:ext cx="1366345" cy="504848"/>
          </a:xfrm>
          <a:prstGeom prst="wedgeRoundRectCallout">
            <a:avLst>
              <a:gd name="adj1" fmla="val -59051"/>
              <a:gd name="adj2" fmla="val 303144"/>
              <a:gd name="adj3" fmla="val 16667"/>
            </a:avLst>
          </a:prstGeom>
          <a:solidFill>
            <a:srgbClr val="99CCFF"/>
          </a:solidFill>
          <a:ln w="9525" algn="ctr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50000"/>
              </a:spcBef>
            </a:pPr>
            <a:r>
              <a:rPr lang="zh-CN" altLang="en-US" sz="2400"/>
              <a:t>坐标系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1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1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1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1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1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71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71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71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71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71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94" grpId="0" animBg="1"/>
      <p:bldP spid="71695" grpId="0" animBg="1"/>
      <p:bldP spid="71696" grpId="0" animBg="1"/>
      <p:bldP spid="71697" grpId="0" animBg="1"/>
      <p:bldP spid="71698" grpId="0" animBg="1"/>
      <p:bldP spid="71699" grpId="0" animBg="1"/>
      <p:bldP spid="71700" grpId="0" animBg="1"/>
      <p:bldP spid="71701" grpId="0" animBg="1"/>
      <p:bldP spid="71702" grpId="0" animBg="1"/>
      <p:bldP spid="7170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灯片编号占位符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763000" y="6019800"/>
            <a:ext cx="19050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r"/>
            <a:fld id="{DE30F620-8206-4E92-AFB9-9F476FC88E38}" type="slidenum">
              <a:rPr lang="en-US" altLang="zh-CN" sz="1400"/>
              <a:pPr algn="r"/>
              <a:t>9</a:t>
            </a:fld>
            <a:r>
              <a:rPr lang="en-US" altLang="zh-CN" sz="1400"/>
              <a:t>/57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703388" y="188913"/>
            <a:ext cx="8640762" cy="611981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CN" altLang="zh-CN"/>
          </a:p>
        </p:txBody>
      </p:sp>
      <p:pic>
        <p:nvPicPr>
          <p:cNvPr id="17412" name="Picture 4" descr="2012jm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2710" name="AutoShape 6"/>
          <p:cNvSpPr>
            <a:spLocks noChangeArrowheads="1"/>
          </p:cNvSpPr>
          <p:nvPr/>
        </p:nvSpPr>
        <p:spPr bwMode="auto">
          <a:xfrm>
            <a:off x="4452927" y="4286256"/>
            <a:ext cx="1368425" cy="576262"/>
          </a:xfrm>
          <a:prstGeom prst="wedgeRoundRectCallout">
            <a:avLst>
              <a:gd name="adj1" fmla="val -43852"/>
              <a:gd name="adj2" fmla="val -261847"/>
              <a:gd name="adj3" fmla="val 16667"/>
            </a:avLst>
          </a:prstGeom>
          <a:solidFill>
            <a:srgbClr val="FFCC00"/>
          </a:solidFill>
          <a:ln w="9525" algn="ctr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50000"/>
              </a:spcBef>
            </a:pPr>
            <a:r>
              <a:rPr lang="zh-CN" altLang="en-US" sz="2400"/>
              <a:t>绘图区</a:t>
            </a:r>
          </a:p>
        </p:txBody>
      </p:sp>
      <p:sp>
        <p:nvSpPr>
          <p:cNvPr id="72711" name="AutoShape 7" descr="纸莎草纸"/>
          <p:cNvSpPr>
            <a:spLocks noChangeArrowheads="1"/>
          </p:cNvSpPr>
          <p:nvPr/>
        </p:nvSpPr>
        <p:spPr bwMode="auto">
          <a:xfrm>
            <a:off x="6596067" y="4643446"/>
            <a:ext cx="936625" cy="503238"/>
          </a:xfrm>
          <a:prstGeom prst="wedgeRoundRectCallout">
            <a:avLst>
              <a:gd name="adj1" fmla="val 92066"/>
              <a:gd name="adj2" fmla="val -173717"/>
              <a:gd name="adj3" fmla="val 16667"/>
            </a:avLst>
          </a:prstGeom>
          <a:blipFill dpi="0" rotWithShape="0">
            <a:blip r:embed="rId3"/>
            <a:srcRect/>
            <a:tile tx="0" ty="0" sx="100000" sy="100000" flip="none" algn="tl"/>
          </a:blipFill>
          <a:ln w="9525" algn="ctr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50000"/>
              </a:spcBef>
            </a:pPr>
            <a:r>
              <a:rPr lang="zh-CN" altLang="en-US" sz="2400" dirty="0"/>
              <a:t>光标</a:t>
            </a:r>
          </a:p>
        </p:txBody>
      </p:sp>
      <p:sp>
        <p:nvSpPr>
          <p:cNvPr id="72712" name="AutoShape 8"/>
          <p:cNvSpPr>
            <a:spLocks noChangeArrowheads="1"/>
          </p:cNvSpPr>
          <p:nvPr/>
        </p:nvSpPr>
        <p:spPr bwMode="auto">
          <a:xfrm>
            <a:off x="1992314" y="2205039"/>
            <a:ext cx="1366837" cy="1728787"/>
          </a:xfrm>
          <a:prstGeom prst="wedgeRoundRectCallout">
            <a:avLst>
              <a:gd name="adj1" fmla="val 125259"/>
              <a:gd name="adj2" fmla="val -168551"/>
              <a:gd name="adj3" fmla="val 16667"/>
            </a:avLst>
          </a:prstGeom>
          <a:solidFill>
            <a:srgbClr val="FFFF99"/>
          </a:solidFill>
          <a:ln w="9525" algn="ctr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50000"/>
              </a:spcBef>
            </a:pPr>
            <a:r>
              <a:rPr lang="zh-CN" altLang="en-US" sz="2400"/>
              <a:t>点击此处可设置工作空间</a:t>
            </a:r>
          </a:p>
        </p:txBody>
      </p:sp>
      <p:sp>
        <p:nvSpPr>
          <p:cNvPr id="72713" name="AutoShape 9"/>
          <p:cNvSpPr>
            <a:spLocks noChangeArrowheads="1"/>
          </p:cNvSpPr>
          <p:nvPr/>
        </p:nvSpPr>
        <p:spPr bwMode="auto">
          <a:xfrm>
            <a:off x="5649926" y="1633534"/>
            <a:ext cx="2232025" cy="1223963"/>
          </a:xfrm>
          <a:prstGeom prst="wedgeRoundRectCallout">
            <a:avLst>
              <a:gd name="adj1" fmla="val -95593"/>
              <a:gd name="adj2" fmla="val -171403"/>
              <a:gd name="adj3" fmla="val 16667"/>
            </a:avLst>
          </a:prstGeom>
          <a:solidFill>
            <a:srgbClr val="CCFFFF"/>
          </a:solidFill>
          <a:ln w="9525" algn="ctr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50000"/>
              </a:spcBef>
            </a:pPr>
            <a:r>
              <a:rPr lang="zh-CN" altLang="en-US" sz="2400" dirty="0"/>
              <a:t>点击此处可设置菜单栏的显示与隐藏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2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2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2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2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10" grpId="0" animBg="1"/>
      <p:bldP spid="72711" grpId="0" animBg="1"/>
      <p:bldP spid="72712" grpId="0" animBg="1"/>
      <p:bldP spid="727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376024" y="1550180"/>
            <a:ext cx="4572032" cy="500066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 algn="l" eaLnBrk="1" hangingPunct="1">
              <a:defRPr/>
            </a:pP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启动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AutoCAD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命令的方法 </a:t>
            </a: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666875" y="2239520"/>
            <a:ext cx="7772400" cy="16287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>
              <a:buFontTx/>
              <a:buNone/>
              <a:defRPr/>
            </a:pPr>
            <a:r>
              <a:rPr lang="en-US" altLang="zh-CN" sz="2800" b="1" dirty="0">
                <a:latin typeface="+mn-ea"/>
              </a:rPr>
              <a:t>1. </a:t>
            </a:r>
            <a:r>
              <a:rPr lang="zh-CN" altLang="en-US" sz="2800" b="1" dirty="0">
                <a:latin typeface="+mn-ea"/>
              </a:rPr>
              <a:t>用鼠标操作启动命令</a:t>
            </a:r>
            <a:endParaRPr lang="zh-CN" altLang="en-US" sz="2800" dirty="0">
              <a:latin typeface="+mn-ea"/>
            </a:endParaRPr>
          </a:p>
          <a:p>
            <a:pPr eaLnBrk="1" hangingPunct="1">
              <a:buFontTx/>
              <a:buNone/>
              <a:defRPr/>
            </a:pPr>
            <a:r>
              <a:rPr lang="en-US" altLang="zh-CN" sz="2800" b="1" dirty="0">
                <a:latin typeface="+mn-ea"/>
              </a:rPr>
              <a:t>2. </a:t>
            </a:r>
            <a:r>
              <a:rPr lang="zh-CN" altLang="en-US" sz="2800" b="1" dirty="0">
                <a:latin typeface="+mn-ea"/>
              </a:rPr>
              <a:t>用键盘输入启动命令</a:t>
            </a:r>
          </a:p>
          <a:p>
            <a:pPr eaLnBrk="1" hangingPunct="1">
              <a:buFontTx/>
              <a:buNone/>
              <a:defRPr/>
            </a:pPr>
            <a:r>
              <a:rPr lang="en-US" altLang="zh-CN" sz="2800" b="1" dirty="0">
                <a:latin typeface="+mn-ea"/>
              </a:rPr>
              <a:t>3. </a:t>
            </a:r>
            <a:r>
              <a:rPr lang="zh-CN" altLang="en-US" sz="2800" b="1" dirty="0">
                <a:latin typeface="+mn-ea"/>
              </a:rPr>
              <a:t>在“命令行窗口”输入命令</a:t>
            </a:r>
          </a:p>
        </p:txBody>
      </p:sp>
      <p:sp>
        <p:nvSpPr>
          <p:cNvPr id="18437" name="Rectangle 5"/>
          <p:cNvSpPr>
            <a:spLocks noChangeArrowheads="1"/>
          </p:cNvSpPr>
          <p:nvPr/>
        </p:nvSpPr>
        <p:spPr bwMode="auto">
          <a:xfrm>
            <a:off x="4867275" y="2347914"/>
            <a:ext cx="91440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zh-CN" altLang="en-US" sz="3200"/>
          </a:p>
        </p:txBody>
      </p:sp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1566540" y="4019323"/>
            <a:ext cx="4191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zh-CN" altLang="en-US" sz="2800" b="1" dirty="0">
                <a:ea typeface="仿宋_GB2312" pitchFamily="49" charset="-122"/>
              </a:rPr>
              <a:t>命令输入可通过</a:t>
            </a:r>
            <a:endParaRPr lang="zh-CN" altLang="en-US" sz="2800" dirty="0"/>
          </a:p>
        </p:txBody>
      </p:sp>
      <p:sp>
        <p:nvSpPr>
          <p:cNvPr id="9224" name="Text Box 8"/>
          <p:cNvSpPr txBox="1">
            <a:spLocks noChangeArrowheads="1"/>
          </p:cNvSpPr>
          <p:nvPr/>
        </p:nvSpPr>
        <p:spPr bwMode="auto">
          <a:xfrm>
            <a:off x="1685222" y="4654880"/>
            <a:ext cx="3581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>
                <a:solidFill>
                  <a:srgbClr val="FF0000"/>
                </a:solidFill>
                <a:latin typeface="宋体" pitchFamily="2" charset="-122"/>
              </a:rPr>
              <a:t>一：从工具条输入</a:t>
            </a:r>
            <a:r>
              <a:rPr lang="zh-CN" altLang="en-US" sz="240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1685222" y="5086680"/>
            <a:ext cx="3581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>
                <a:solidFill>
                  <a:srgbClr val="FF0000"/>
                </a:solidFill>
                <a:latin typeface="宋体" pitchFamily="2" charset="-122"/>
              </a:rPr>
              <a:t>二：从菜单栏输入 </a:t>
            </a:r>
          </a:p>
        </p:txBody>
      </p:sp>
      <p:sp>
        <p:nvSpPr>
          <p:cNvPr id="9226" name="Text Box 10"/>
          <p:cNvSpPr txBox="1">
            <a:spLocks noChangeArrowheads="1"/>
          </p:cNvSpPr>
          <p:nvPr/>
        </p:nvSpPr>
        <p:spPr bwMode="auto">
          <a:xfrm>
            <a:off x="1685222" y="5591505"/>
            <a:ext cx="3733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>
                <a:solidFill>
                  <a:srgbClr val="FF0000"/>
                </a:solidFill>
                <a:latin typeface="宋体" pitchFamily="2" charset="-122"/>
              </a:rPr>
              <a:t>三：从键盘输入　</a:t>
            </a:r>
            <a:r>
              <a:rPr lang="zh-CN" altLang="en-US" sz="240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1322327" y="845473"/>
            <a:ext cx="464347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eaLnBrk="0" hangingPunct="0">
              <a:defRPr/>
            </a:pPr>
            <a:r>
              <a:rPr lang="zh-CN" altLang="en-US" sz="2800" b="1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二、</a:t>
            </a:r>
            <a:r>
              <a:rPr lang="en-US" altLang="zh-CN" sz="2800" b="1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AutoCAD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软件基本操作</a:t>
            </a:r>
            <a:endParaRPr lang="zh-CN" altLang="en-US" sz="2800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1" name="Text Box 17"/>
          <p:cNvSpPr txBox="1">
            <a:spLocks noChangeArrowheads="1"/>
          </p:cNvSpPr>
          <p:nvPr/>
        </p:nvSpPr>
        <p:spPr bwMode="auto">
          <a:xfrm>
            <a:off x="3809984" y="214291"/>
            <a:ext cx="474186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1" lang="zh-C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制图工具和基本技能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9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9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9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9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3" grpId="0" autoUpdateAnimBg="0"/>
      <p:bldP spid="9224" grpId="0" autoUpdateAnimBg="0"/>
      <p:bldP spid="9225" grpId="0" autoUpdateAnimBg="0"/>
      <p:bldP spid="9226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66844" y="2008788"/>
            <a:ext cx="8858312" cy="4277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1309655" y="1336308"/>
            <a:ext cx="4572032" cy="500066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>
              <a:defRPr/>
            </a:pP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启动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AutoCAD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命令的方法 </a:t>
            </a: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1452530" y="764804"/>
            <a:ext cx="464347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eaLnBrk="0" hangingPunct="0">
              <a:defRPr/>
            </a:pPr>
            <a:r>
              <a:rPr lang="zh-CN" altLang="en-US" sz="2800" b="1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二、</a:t>
            </a:r>
            <a:r>
              <a:rPr lang="en-US" altLang="zh-CN" sz="2800" b="1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AutoCAD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软件基本操作</a:t>
            </a:r>
            <a:endParaRPr lang="zh-CN" altLang="en-US" sz="2800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5" name="Text Box 17"/>
          <p:cNvSpPr txBox="1">
            <a:spLocks noChangeArrowheads="1"/>
          </p:cNvSpPr>
          <p:nvPr/>
        </p:nvSpPr>
        <p:spPr bwMode="auto">
          <a:xfrm>
            <a:off x="3809984" y="214291"/>
            <a:ext cx="474186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1" lang="zh-C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制图工具和基本技能</a:t>
            </a:r>
          </a:p>
        </p:txBody>
      </p:sp>
      <p:sp>
        <p:nvSpPr>
          <p:cNvPr id="7" name="圆角矩形 6"/>
          <p:cNvSpPr/>
          <p:nvPr/>
        </p:nvSpPr>
        <p:spPr>
          <a:xfrm>
            <a:off x="1666844" y="2428868"/>
            <a:ext cx="8715436" cy="92869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67341" y="2002404"/>
            <a:ext cx="8843961" cy="37053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矩形 5"/>
          <p:cNvSpPr/>
          <p:nvPr/>
        </p:nvSpPr>
        <p:spPr>
          <a:xfrm>
            <a:off x="2381224" y="3571877"/>
            <a:ext cx="1928826" cy="830997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400" b="1" dirty="0"/>
              <a:t>功能区工具栏输入命令</a:t>
            </a:r>
          </a:p>
        </p:txBody>
      </p:sp>
      <p:sp>
        <p:nvSpPr>
          <p:cNvPr id="9" name="矩形 8"/>
          <p:cNvSpPr/>
          <p:nvPr/>
        </p:nvSpPr>
        <p:spPr>
          <a:xfrm>
            <a:off x="2381224" y="4429133"/>
            <a:ext cx="1928826" cy="830997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</p:spPr>
        <p:txBody>
          <a:bodyPr wrap="square">
            <a:spAutoFit/>
          </a:bodyPr>
          <a:lstStyle/>
          <a:p>
            <a:pPr algn="ctr" eaLnBrk="1" hangingPunct="1"/>
            <a:r>
              <a:rPr lang="zh-CN" altLang="en-US" sz="2400" b="1" dirty="0"/>
              <a:t>菜单栏输入命令</a:t>
            </a:r>
          </a:p>
        </p:txBody>
      </p:sp>
      <p:sp>
        <p:nvSpPr>
          <p:cNvPr id="12" name="矩形 11"/>
          <p:cNvSpPr/>
          <p:nvPr/>
        </p:nvSpPr>
        <p:spPr>
          <a:xfrm>
            <a:off x="2309787" y="6253484"/>
            <a:ext cx="2040943" cy="461665"/>
          </a:xfrm>
          <a:prstGeom prst="rect">
            <a:avLst/>
          </a:prstGeom>
          <a:solidFill>
            <a:srgbClr val="92D050"/>
          </a:solidFill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b="1" dirty="0"/>
              <a:t>键盘输入命令</a:t>
            </a:r>
          </a:p>
        </p:txBody>
      </p:sp>
      <p:sp>
        <p:nvSpPr>
          <p:cNvPr id="13" name="圆角矩形 12"/>
          <p:cNvSpPr/>
          <p:nvPr/>
        </p:nvSpPr>
        <p:spPr>
          <a:xfrm>
            <a:off x="1738282" y="5643578"/>
            <a:ext cx="2643206" cy="57150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>
            <a:duotone>
              <a:prstClr val="black"/>
              <a:srgbClr val="D9C3A5">
                <a:tint val="50000"/>
                <a:satMod val="180000"/>
              </a:srgbClr>
            </a:duotone>
          </a:blip>
          <a:srcRect/>
          <a:stretch>
            <a:fillRect/>
          </a:stretch>
        </p:blipFill>
        <p:spPr bwMode="auto">
          <a:xfrm>
            <a:off x="4381489" y="3714752"/>
            <a:ext cx="3686175" cy="209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" name="圆角矩形 14"/>
          <p:cNvSpPr/>
          <p:nvPr/>
        </p:nvSpPr>
        <p:spPr>
          <a:xfrm>
            <a:off x="1890682" y="2184681"/>
            <a:ext cx="6062706" cy="21431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6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6" grpId="0" animBg="1"/>
      <p:bldP spid="9" grpId="0" animBg="1"/>
      <p:bldP spid="12" grpId="0" animBg="1"/>
      <p:bldP spid="13" grpId="0" animBg="1"/>
      <p:bldP spid="1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273935" y="1465440"/>
            <a:ext cx="2928958" cy="428628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 algn="l" eaLnBrk="1" hangingPunct="1"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</a:rPr>
              <a:t>图形文件管理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166910" y="1928802"/>
            <a:ext cx="2857520" cy="435771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en-US" altLang="zh-CN" sz="2000" dirty="0">
                <a:latin typeface="+mn-ea"/>
              </a:rPr>
              <a:t>1. </a:t>
            </a:r>
            <a:r>
              <a:rPr lang="zh-CN" altLang="en-US" sz="2000" dirty="0">
                <a:latin typeface="+mn-ea"/>
              </a:rPr>
              <a:t>创建新图形文件</a:t>
            </a:r>
          </a:p>
          <a:p>
            <a:pPr eaLnBrk="1" hangingPunct="1">
              <a:defRPr/>
            </a:pPr>
            <a:r>
              <a:rPr lang="zh-CN" altLang="en-US" sz="2000" dirty="0">
                <a:solidFill>
                  <a:srgbClr val="FF0000"/>
                </a:solidFill>
                <a:latin typeface="+mn-ea"/>
              </a:rPr>
              <a:t>命令行：</a:t>
            </a:r>
            <a:r>
              <a:rPr lang="en-US" altLang="zh-CN" sz="2000" dirty="0">
                <a:latin typeface="+mn-ea"/>
              </a:rPr>
              <a:t>NEW</a:t>
            </a:r>
          </a:p>
          <a:p>
            <a:pPr eaLnBrk="1" hangingPunct="1">
              <a:defRPr/>
            </a:pPr>
            <a:r>
              <a:rPr lang="zh-CN" altLang="en-US" sz="2000" dirty="0">
                <a:solidFill>
                  <a:srgbClr val="FF0000"/>
                </a:solidFill>
                <a:latin typeface="+mn-ea"/>
              </a:rPr>
              <a:t>菜单栏：</a:t>
            </a:r>
            <a:r>
              <a:rPr lang="zh-CN" altLang="en-US" sz="2000" dirty="0">
                <a:latin typeface="+mn-ea"/>
              </a:rPr>
              <a:t>鼠标左键单击“文件”→“新建”按钮。</a:t>
            </a:r>
          </a:p>
          <a:p>
            <a:pPr eaLnBrk="1" hangingPunct="1">
              <a:defRPr/>
            </a:pPr>
            <a:r>
              <a:rPr lang="zh-CN" altLang="en-US" sz="2000" dirty="0">
                <a:solidFill>
                  <a:srgbClr val="FF0000"/>
                </a:solidFill>
                <a:latin typeface="+mn-ea"/>
              </a:rPr>
              <a:t>工具栏：</a:t>
            </a:r>
            <a:r>
              <a:rPr lang="zh-CN" altLang="en-US" sz="2000" dirty="0">
                <a:latin typeface="+mn-ea"/>
              </a:rPr>
              <a:t>单击“标准”工具栏中 “新建” 按钮。</a:t>
            </a:r>
            <a:endParaRPr lang="en-US" altLang="zh-CN" sz="2000" dirty="0">
              <a:latin typeface="+mn-ea"/>
            </a:endParaRPr>
          </a:p>
          <a:p>
            <a:pPr eaLnBrk="1" hangingPunct="1">
              <a:defRPr/>
            </a:pPr>
            <a:r>
              <a:rPr lang="zh-CN" altLang="en-US" sz="2000" dirty="0">
                <a:latin typeface="+mn-ea"/>
              </a:rPr>
              <a:t>系统则打开“选择样板”对话框，从中选择某一样板文件后，单击“打开”按钮，系统进入绘图环境</a:t>
            </a:r>
            <a:r>
              <a:rPr lang="zh-CN" altLang="en-US" sz="2000" dirty="0"/>
              <a:t>。</a:t>
            </a:r>
          </a:p>
        </p:txBody>
      </p:sp>
      <p:pic>
        <p:nvPicPr>
          <p:cNvPr id="20485" name="Picture 4" descr="11-10-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1" y="1"/>
            <a:ext cx="180975" cy="142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1345373" y="822498"/>
            <a:ext cx="464347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eaLnBrk="0" hangingPunct="0">
              <a:defRPr/>
            </a:pPr>
            <a:r>
              <a:rPr lang="zh-CN" altLang="en-US" sz="2800" b="1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二、</a:t>
            </a:r>
            <a:r>
              <a:rPr lang="en-US" altLang="zh-CN" sz="2800" b="1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AutoCAD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软件基本操作</a:t>
            </a:r>
            <a:endParaRPr lang="zh-CN" altLang="en-US" sz="2800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9" name="Text Box 17"/>
          <p:cNvSpPr txBox="1">
            <a:spLocks noChangeArrowheads="1"/>
          </p:cNvSpPr>
          <p:nvPr/>
        </p:nvSpPr>
        <p:spPr bwMode="auto">
          <a:xfrm>
            <a:off x="3809984" y="214291"/>
            <a:ext cx="474186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1" lang="zh-C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制图工具和基本技能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67306" y="1643051"/>
            <a:ext cx="5143536" cy="14716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圆角矩形 9"/>
          <p:cNvSpPr/>
          <p:nvPr/>
        </p:nvSpPr>
        <p:spPr>
          <a:xfrm>
            <a:off x="5453058" y="1785926"/>
            <a:ext cx="1357322" cy="28575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Picture 4" descr="14-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167306" y="2857496"/>
            <a:ext cx="5173154" cy="33575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2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2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92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92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0" grpId="0" uiExpand="1" build="p"/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804" name="Picture 4" descr="14-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75920" y="2000241"/>
            <a:ext cx="5678345" cy="42316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矩形 5"/>
          <p:cNvSpPr/>
          <p:nvPr/>
        </p:nvSpPr>
        <p:spPr>
          <a:xfrm>
            <a:off x="805681" y="2204864"/>
            <a:ext cx="4536503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buFontTx/>
              <a:buNone/>
            </a:pPr>
            <a:r>
              <a:rPr lang="en-US" altLang="zh-CN" sz="2400" dirty="0"/>
              <a:t>2. </a:t>
            </a:r>
            <a:r>
              <a:rPr lang="zh-CN" altLang="en-US" sz="2400" dirty="0"/>
              <a:t>打开图形文件</a:t>
            </a:r>
            <a:endParaRPr lang="en-US" altLang="zh-CN" sz="2400" dirty="0"/>
          </a:p>
          <a:p>
            <a:pPr eaLnBrk="1" hangingPunct="1">
              <a:buFontTx/>
              <a:buNone/>
            </a:pPr>
            <a:endParaRPr lang="zh-CN" altLang="en-US" sz="2400" dirty="0"/>
          </a:p>
          <a:p>
            <a:pPr eaLnBrk="1" hangingPunct="1">
              <a:buFontTx/>
              <a:buNone/>
            </a:pPr>
            <a:r>
              <a:rPr lang="zh-CN" altLang="en-US" sz="2400" dirty="0"/>
              <a:t>命令行：</a:t>
            </a:r>
            <a:r>
              <a:rPr lang="en-US" altLang="zh-CN" sz="2400" dirty="0"/>
              <a:t>OPEN</a:t>
            </a:r>
          </a:p>
          <a:p>
            <a:pPr eaLnBrk="1" hangingPunct="1">
              <a:buFontTx/>
              <a:buNone/>
            </a:pPr>
            <a:r>
              <a:rPr lang="zh-CN" altLang="en-US" sz="2400" dirty="0"/>
              <a:t>菜单栏：鼠标左键单击“文件”→“打开”按钮。</a:t>
            </a:r>
          </a:p>
          <a:p>
            <a:pPr eaLnBrk="1" hangingPunct="1">
              <a:buFontTx/>
              <a:buNone/>
            </a:pPr>
            <a:r>
              <a:rPr lang="zh-CN" altLang="en-US" sz="2400" dirty="0"/>
              <a:t>工具栏：</a:t>
            </a:r>
          </a:p>
          <a:p>
            <a:pPr eaLnBrk="1" hangingPunct="1">
              <a:buFontTx/>
              <a:buNone/>
            </a:pPr>
            <a:r>
              <a:rPr lang="zh-CN" altLang="en-US" sz="2400" dirty="0"/>
              <a:t>单击“标准”工具栏中按钮。</a:t>
            </a:r>
          </a:p>
          <a:p>
            <a:pPr eaLnBrk="1" hangingPunct="1">
              <a:buFontTx/>
              <a:buNone/>
            </a:pPr>
            <a:r>
              <a:rPr lang="zh-CN" altLang="en-US" sz="2400" dirty="0"/>
              <a:t>系统打开“选择文件”对话框，读者可以从中打开已有图形文件 </a:t>
            </a: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1270894" y="849483"/>
            <a:ext cx="464347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eaLnBrk="0" hangingPunct="0">
              <a:defRPr/>
            </a:pPr>
            <a:r>
              <a:rPr lang="zh-CN" altLang="en-US" sz="2800" b="1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二、</a:t>
            </a:r>
            <a:r>
              <a:rPr lang="en-US" altLang="zh-CN" sz="2800" b="1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AutoCAD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软件基本操作</a:t>
            </a:r>
            <a:endParaRPr lang="zh-CN" altLang="en-US" sz="2800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8" name="Text Box 17"/>
          <p:cNvSpPr txBox="1">
            <a:spLocks noChangeArrowheads="1"/>
          </p:cNvSpPr>
          <p:nvPr/>
        </p:nvSpPr>
        <p:spPr bwMode="auto">
          <a:xfrm>
            <a:off x="3809984" y="214291"/>
            <a:ext cx="474186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1" lang="zh-C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制图工具和基本技能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1199456" y="1492425"/>
            <a:ext cx="2928958" cy="428628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  <a:ea typeface="+mj-ea"/>
                <a:cs typeface="+mj-cs"/>
              </a:rPr>
              <a:t>图形文件管理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68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68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1423150" y="834022"/>
            <a:ext cx="464347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eaLnBrk="0" hangingPunct="0">
              <a:defRPr/>
            </a:pPr>
            <a:r>
              <a:rPr lang="zh-CN" altLang="en-US" sz="2800" b="1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二、</a:t>
            </a:r>
            <a:r>
              <a:rPr lang="en-US" altLang="zh-CN" sz="2800" b="1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AutoCAD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软件基本操作</a:t>
            </a:r>
            <a:endParaRPr lang="zh-CN" altLang="en-US" sz="2800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6" name="Text Box 17"/>
          <p:cNvSpPr txBox="1">
            <a:spLocks noChangeArrowheads="1"/>
          </p:cNvSpPr>
          <p:nvPr/>
        </p:nvSpPr>
        <p:spPr bwMode="auto">
          <a:xfrm>
            <a:off x="3809984" y="214291"/>
            <a:ext cx="474186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1" lang="zh-C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制图工具和基本技能</a:t>
            </a:r>
          </a:p>
        </p:txBody>
      </p:sp>
      <p:sp>
        <p:nvSpPr>
          <p:cNvPr id="9" name="矩形 8"/>
          <p:cNvSpPr/>
          <p:nvPr/>
        </p:nvSpPr>
        <p:spPr>
          <a:xfrm>
            <a:off x="1559496" y="1915598"/>
            <a:ext cx="292895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/>
            </a:pPr>
            <a:r>
              <a:rPr lang="en-US" altLang="zh-CN" sz="2400" b="1" dirty="0">
                <a:latin typeface="+mn-ea"/>
              </a:rPr>
              <a:t>3. </a:t>
            </a:r>
            <a:r>
              <a:rPr lang="zh-CN" altLang="en-US" sz="2400" b="1" dirty="0">
                <a:latin typeface="+mn-ea"/>
              </a:rPr>
              <a:t>保存图形文件</a:t>
            </a:r>
          </a:p>
          <a:p>
            <a:pPr>
              <a:spcBef>
                <a:spcPts val="0"/>
              </a:spcBef>
              <a:defRPr/>
            </a:pPr>
            <a:r>
              <a:rPr lang="zh-CN" altLang="en-US" sz="2400" dirty="0">
                <a:latin typeface="+mn-ea"/>
              </a:rPr>
              <a:t>命令行：</a:t>
            </a:r>
            <a:r>
              <a:rPr lang="en-US" altLang="zh-CN" sz="2400" dirty="0">
                <a:latin typeface="+mn-ea"/>
              </a:rPr>
              <a:t>SAVE</a:t>
            </a:r>
          </a:p>
          <a:p>
            <a:pPr>
              <a:spcBef>
                <a:spcPts val="0"/>
              </a:spcBef>
              <a:defRPr/>
            </a:pP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菜单栏：鼠标左键单击“文件”→“保存”按钮。</a:t>
            </a: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1351712" y="1476964"/>
            <a:ext cx="2928958" cy="428628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  <a:ea typeface="+mj-ea"/>
                <a:cs typeface="+mj-cs"/>
              </a:rPr>
              <a:t>图形文件管理</a:t>
            </a:r>
          </a:p>
        </p:txBody>
      </p:sp>
      <p:sp>
        <p:nvSpPr>
          <p:cNvPr id="7" name="矩形 6"/>
          <p:cNvSpPr/>
          <p:nvPr/>
        </p:nvSpPr>
        <p:spPr>
          <a:xfrm>
            <a:off x="1528841" y="4101293"/>
            <a:ext cx="236098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/>
            </a:pPr>
            <a:r>
              <a:rPr lang="zh-CN" altLang="en-US" sz="2400" dirty="0">
                <a:latin typeface="+mn-ea"/>
              </a:rPr>
              <a:t>工具栏：单击“标准”工具栏中单击保存按钮。</a:t>
            </a:r>
            <a:endParaRPr lang="zh-CN" altLang="en-US" sz="24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652179" y="2966545"/>
            <a:ext cx="4929222" cy="3469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矩形 7"/>
          <p:cNvSpPr/>
          <p:nvPr/>
        </p:nvSpPr>
        <p:spPr>
          <a:xfrm>
            <a:off x="5015880" y="1500174"/>
            <a:ext cx="6336704" cy="1323439"/>
          </a:xfrm>
          <a:prstGeom prst="rect">
            <a:avLst/>
          </a:prstGeom>
          <a:gradFill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16200000" scaled="0"/>
          </a:gradFill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+mn-ea"/>
                <a:ea typeface="+mn-ea"/>
              </a:rPr>
              <a:t>执行上述操作后，若文件已命名，系统自动保存；文件未命名（默认名</a:t>
            </a:r>
            <a:r>
              <a:rPr lang="en-US" altLang="zh-CN" sz="2000" b="1" dirty="0">
                <a:latin typeface="+mn-ea"/>
                <a:ea typeface="+mn-ea"/>
              </a:rPr>
              <a:t>Drawing1.dwg</a:t>
            </a:r>
            <a:r>
              <a:rPr lang="zh-CN" altLang="en-US" sz="2000" b="1" dirty="0">
                <a:latin typeface="+mn-ea"/>
                <a:ea typeface="+mn-ea"/>
              </a:rPr>
              <a:t>），系统打开“图形另存为”对话框，用户可按提示操作，输入文件名后，单击“保存”按钮保存文件。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368189" y="1373148"/>
            <a:ext cx="4286280" cy="504824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 algn="l" eaLnBrk="1" hangingPunct="1">
              <a:defRPr/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</a:rPr>
              <a:t>1. 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</a:rPr>
              <a:t>设置绘图初始环境</a:t>
            </a:r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054610" y="1939953"/>
            <a:ext cx="10056973" cy="185738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>
              <a:buFontTx/>
              <a:buNone/>
              <a:defRPr/>
            </a:pPr>
            <a:r>
              <a:rPr lang="zh-CN" altLang="en-US" sz="2400" dirty="0">
                <a:latin typeface="+mn-ea"/>
              </a:rPr>
              <a:t>命令行：</a:t>
            </a:r>
            <a:r>
              <a:rPr lang="en-US" altLang="zh-CN" sz="2400" dirty="0">
                <a:latin typeface="+mn-ea"/>
              </a:rPr>
              <a:t>DDUNITS</a:t>
            </a:r>
            <a:r>
              <a:rPr lang="zh-CN" altLang="en-US" sz="2400" dirty="0">
                <a:latin typeface="+mn-ea"/>
              </a:rPr>
              <a:t>（或</a:t>
            </a:r>
            <a:r>
              <a:rPr lang="en-US" altLang="zh-CN" sz="2400" dirty="0">
                <a:latin typeface="+mn-ea"/>
              </a:rPr>
              <a:t>UNITS</a:t>
            </a:r>
            <a:r>
              <a:rPr lang="zh-CN" altLang="en-US" sz="2400" dirty="0">
                <a:latin typeface="+mn-ea"/>
              </a:rPr>
              <a:t>）</a:t>
            </a:r>
          </a:p>
          <a:p>
            <a:pPr eaLnBrk="1" hangingPunct="1">
              <a:buFontTx/>
              <a:buNone/>
              <a:defRPr/>
            </a:pPr>
            <a:r>
              <a:rPr lang="zh-CN" altLang="en-US" sz="2400" dirty="0">
                <a:latin typeface="+mn-ea"/>
              </a:rPr>
              <a:t>菜单栏：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鼠标左键单击“格式”→“单位”按钮</a:t>
            </a:r>
            <a:r>
              <a:rPr lang="zh-CN" altLang="en-US" sz="2400" dirty="0">
                <a:latin typeface="+mn-ea"/>
              </a:rPr>
              <a:t>。系统则打开“图形单位”</a:t>
            </a:r>
            <a:r>
              <a:rPr lang="zh-CN" altLang="en-US" sz="2400">
                <a:latin typeface="+mn-ea"/>
              </a:rPr>
              <a:t>对话框，选项</a:t>
            </a:r>
            <a:r>
              <a:rPr lang="zh-CN" altLang="en-US" sz="2400" dirty="0">
                <a:latin typeface="+mn-ea"/>
              </a:rPr>
              <a:t>中，可定义单位和角度格式，插入时的缩放单位选项设定为毫米。鼠标左键单击“方向”可以打开“方向控制“对话框，进行方向控制设定。</a:t>
            </a: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1439627" y="873082"/>
            <a:ext cx="464347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eaLnBrk="0" hangingPunct="0">
              <a:defRPr/>
            </a:pPr>
            <a:r>
              <a:rPr lang="zh-CN" altLang="en-US" sz="2800" b="1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二、</a:t>
            </a:r>
            <a:r>
              <a:rPr lang="en-US" altLang="zh-CN" sz="2800" b="1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AutoCAD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软件基本操作</a:t>
            </a:r>
            <a:endParaRPr lang="zh-CN" altLang="en-US" sz="2800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6" name="Text Box 17"/>
          <p:cNvSpPr txBox="1">
            <a:spLocks noChangeArrowheads="1"/>
          </p:cNvSpPr>
          <p:nvPr/>
        </p:nvSpPr>
        <p:spPr bwMode="auto">
          <a:xfrm>
            <a:off x="3809984" y="214291"/>
            <a:ext cx="474186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1" lang="zh-C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制图工具和基本技能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1054610" y="4365104"/>
            <a:ext cx="10128411" cy="221458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indent="-342900">
              <a:spcBef>
                <a:spcPts val="0"/>
              </a:spcBef>
              <a:defRPr/>
            </a:pPr>
            <a:r>
              <a:rPr lang="zh-CN" altLang="en-US" sz="2400" dirty="0">
                <a:latin typeface="+mn-ea"/>
                <a:ea typeface="+mn-ea"/>
              </a:rPr>
              <a:t>命令行：</a:t>
            </a:r>
            <a:r>
              <a:rPr lang="en-US" altLang="zh-CN" sz="2400" dirty="0">
                <a:latin typeface="+mn-ea"/>
                <a:ea typeface="+mn-ea"/>
              </a:rPr>
              <a:t>LIMITS</a:t>
            </a:r>
          </a:p>
          <a:p>
            <a:pPr indent="-342900">
              <a:spcBef>
                <a:spcPts val="0"/>
              </a:spcBef>
              <a:defRPr/>
            </a:pPr>
            <a:r>
              <a:rPr lang="zh-CN" altLang="en-US" sz="2400" dirty="0">
                <a:latin typeface="+mn-ea"/>
                <a:ea typeface="+mn-ea"/>
              </a:rPr>
              <a:t>菜单栏：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鼠标左键单击“格式”→“图形界限”按钮。</a:t>
            </a:r>
            <a:r>
              <a:rPr lang="zh-CN" altLang="en-US" sz="2000" dirty="0">
                <a:latin typeface="+mn-ea"/>
                <a:ea typeface="+mn-ea"/>
              </a:rPr>
              <a:t>命令行窗口显示：  </a:t>
            </a:r>
            <a:r>
              <a:rPr lang="en-US" altLang="zh-CN" sz="2000" dirty="0">
                <a:latin typeface="+mn-ea"/>
                <a:ea typeface="+mn-ea"/>
              </a:rPr>
              <a:t>0,0   (</a:t>
            </a:r>
            <a:r>
              <a:rPr lang="zh-CN" altLang="en-US" sz="2000" dirty="0">
                <a:latin typeface="+mn-ea"/>
                <a:ea typeface="+mn-ea"/>
              </a:rPr>
              <a:t>回车</a:t>
            </a:r>
            <a:r>
              <a:rPr lang="en-US" altLang="zh-CN" sz="2000" dirty="0">
                <a:latin typeface="+mn-ea"/>
                <a:ea typeface="+mn-ea"/>
              </a:rPr>
              <a:t>)</a:t>
            </a:r>
            <a:r>
              <a:rPr lang="zh-CN" altLang="en-US" sz="2000" dirty="0">
                <a:latin typeface="+mn-ea"/>
                <a:ea typeface="+mn-ea"/>
              </a:rPr>
              <a:t>；</a:t>
            </a:r>
            <a:r>
              <a:rPr lang="en-US" altLang="zh-CN" sz="2000" dirty="0">
                <a:latin typeface="+mn-ea"/>
                <a:ea typeface="+mn-ea"/>
              </a:rPr>
              <a:t>420,297 </a:t>
            </a:r>
            <a:r>
              <a:rPr lang="zh-CN" altLang="en-US" sz="2000" dirty="0">
                <a:latin typeface="+mn-ea"/>
                <a:ea typeface="+mn-ea"/>
              </a:rPr>
              <a:t>（输入右上角的坐标后回车，设定</a:t>
            </a:r>
            <a:r>
              <a:rPr lang="en-US" altLang="zh-CN" sz="2000" dirty="0">
                <a:latin typeface="+mn-ea"/>
                <a:ea typeface="+mn-ea"/>
              </a:rPr>
              <a:t>A3</a:t>
            </a:r>
            <a:r>
              <a:rPr lang="zh-CN" altLang="en-US" sz="2000" dirty="0">
                <a:latin typeface="+mn-ea"/>
                <a:ea typeface="+mn-ea"/>
              </a:rPr>
              <a:t>幅面图纸）</a:t>
            </a:r>
          </a:p>
          <a:p>
            <a:pPr indent="-342900">
              <a:spcBef>
                <a:spcPts val="0"/>
              </a:spcBef>
              <a:defRPr/>
            </a:pPr>
            <a:r>
              <a:rPr lang="en-US" altLang="zh-CN" sz="2400" dirty="0">
                <a:latin typeface="+mn-ea"/>
                <a:ea typeface="+mn-ea"/>
              </a:rPr>
              <a:t>3.</a:t>
            </a:r>
            <a:r>
              <a:rPr lang="zh-CN" altLang="en-US" sz="2400" dirty="0">
                <a:latin typeface="+mn-ea"/>
                <a:ea typeface="+mn-ea"/>
              </a:rPr>
              <a:t>显示绘图界限</a:t>
            </a:r>
          </a:p>
          <a:p>
            <a:pPr indent="-342900">
              <a:spcBef>
                <a:spcPts val="0"/>
              </a:spcBef>
              <a:defRPr/>
            </a:pPr>
            <a:r>
              <a:rPr lang="zh-CN" altLang="en-US" sz="2400" dirty="0">
                <a:latin typeface="+mn-ea"/>
                <a:ea typeface="+mn-ea"/>
              </a:rPr>
              <a:t>菜单栏：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鼠标左键单击“视图”→“缩放”→“全部”按钮</a:t>
            </a:r>
            <a:r>
              <a:rPr lang="zh-CN" altLang="en-US" sz="2400" dirty="0">
                <a:latin typeface="+mn-ea"/>
                <a:ea typeface="+mn-ea"/>
              </a:rPr>
              <a:t>。此时，所绘图形均显示在窗口内。</a:t>
            </a:r>
          </a:p>
          <a:p>
            <a:pPr marL="342900" indent="-342900">
              <a:spcBef>
                <a:spcPct val="20000"/>
              </a:spcBef>
              <a:buFont typeface="Arial" charset="0"/>
              <a:buChar char="•"/>
              <a:defRPr/>
            </a:pPr>
            <a:endParaRPr lang="en-US" altLang="zh-CN" sz="2400" dirty="0">
              <a:latin typeface="+mn-ea"/>
              <a:ea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182940" y="3947553"/>
            <a:ext cx="235192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-342900">
              <a:spcBef>
                <a:spcPts val="0"/>
              </a:spcBef>
              <a:defRPr/>
            </a:pPr>
            <a:r>
              <a:rPr lang="en-US" altLang="zh-CN" sz="2400" b="1" dirty="0">
                <a:latin typeface="黑体" pitchFamily="49" charset="-122"/>
                <a:ea typeface="黑体" pitchFamily="49" charset="-122"/>
              </a:rPr>
              <a:t>2.</a:t>
            </a:r>
            <a:r>
              <a:rPr lang="zh-CN" altLang="en-US" sz="2400" b="1" dirty="0">
                <a:latin typeface="黑体" pitchFamily="49" charset="-122"/>
                <a:ea typeface="黑体" pitchFamily="49" charset="-122"/>
              </a:rPr>
              <a:t>设置绘图边界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3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33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173033" y="1545234"/>
            <a:ext cx="5605463" cy="5334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坐标系与数据输入方法</a:t>
            </a:r>
          </a:p>
        </p:txBody>
      </p:sp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1382616" y="2148057"/>
            <a:ext cx="4495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solidFill>
                  <a:srgbClr val="FF0000"/>
                </a:solidFill>
                <a:latin typeface="宋体" pitchFamily="2" charset="-122"/>
              </a:rPr>
              <a:t>（</a:t>
            </a:r>
            <a:r>
              <a:rPr lang="en-US" altLang="zh-CN" sz="2400" b="1">
                <a:solidFill>
                  <a:srgbClr val="FF0000"/>
                </a:solidFill>
                <a:latin typeface="宋体" pitchFamily="2" charset="-122"/>
              </a:rPr>
              <a:t>1</a:t>
            </a:r>
            <a:r>
              <a:rPr lang="zh-CN" altLang="en-US" sz="2400" b="1">
                <a:solidFill>
                  <a:srgbClr val="FF0000"/>
                </a:solidFill>
                <a:latin typeface="宋体" pitchFamily="2" charset="-122"/>
              </a:rPr>
              <a:t>）绝对直角坐标：</a:t>
            </a:r>
            <a:r>
              <a:rPr lang="en-US" altLang="zh-CN" sz="2400" b="1">
                <a:solidFill>
                  <a:srgbClr val="FF0000"/>
                </a:solidFill>
                <a:latin typeface="宋体" pitchFamily="2" charset="-122"/>
              </a:rPr>
              <a:t>x,y,z </a:t>
            </a:r>
          </a:p>
        </p:txBody>
      </p:sp>
      <p:sp>
        <p:nvSpPr>
          <p:cNvPr id="10245" name="Text Box 5"/>
          <p:cNvSpPr txBox="1">
            <a:spLocks noChangeArrowheads="1"/>
          </p:cNvSpPr>
          <p:nvPr/>
        </p:nvSpPr>
        <p:spPr bwMode="auto">
          <a:xfrm>
            <a:off x="1382616" y="2681457"/>
            <a:ext cx="457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宋体" pitchFamily="2" charset="-122"/>
              </a:rPr>
              <a:t>（</a:t>
            </a:r>
            <a:r>
              <a:rPr lang="en-US" altLang="zh-CN" sz="2400" b="1" dirty="0">
                <a:solidFill>
                  <a:srgbClr val="FF0000"/>
                </a:solidFill>
                <a:latin typeface="宋体" pitchFamily="2" charset="-122"/>
              </a:rPr>
              <a:t>2</a:t>
            </a:r>
            <a:r>
              <a:rPr lang="zh-CN" altLang="en-US" sz="2400" b="1" dirty="0">
                <a:solidFill>
                  <a:srgbClr val="FF0000"/>
                </a:solidFill>
                <a:latin typeface="宋体" pitchFamily="2" charset="-122"/>
              </a:rPr>
              <a:t>）绝对极坐标：距离</a:t>
            </a:r>
            <a:r>
              <a:rPr lang="en-US" altLang="zh-CN" sz="2400" b="1" dirty="0">
                <a:solidFill>
                  <a:srgbClr val="FF0000"/>
                </a:solidFill>
                <a:latin typeface="宋体" pitchFamily="2" charset="-122"/>
              </a:rPr>
              <a:t>&lt;</a:t>
            </a:r>
            <a:r>
              <a:rPr lang="zh-CN" altLang="en-US" sz="2400" b="1" dirty="0">
                <a:solidFill>
                  <a:srgbClr val="FF0000"/>
                </a:solidFill>
                <a:latin typeface="宋体" pitchFamily="2" charset="-122"/>
              </a:rPr>
              <a:t>角度 </a:t>
            </a:r>
          </a:p>
        </p:txBody>
      </p:sp>
      <p:sp>
        <p:nvSpPr>
          <p:cNvPr id="10246" name="Text Box 6"/>
          <p:cNvSpPr txBox="1">
            <a:spLocks noChangeArrowheads="1"/>
          </p:cNvSpPr>
          <p:nvPr/>
        </p:nvSpPr>
        <p:spPr bwMode="auto">
          <a:xfrm>
            <a:off x="1382616" y="3291057"/>
            <a:ext cx="4648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solidFill>
                  <a:srgbClr val="FF0000"/>
                </a:solidFill>
                <a:latin typeface="宋体" pitchFamily="2" charset="-122"/>
              </a:rPr>
              <a:t>（</a:t>
            </a:r>
            <a:r>
              <a:rPr lang="en-US" altLang="zh-CN" sz="2400" b="1">
                <a:solidFill>
                  <a:srgbClr val="FF0000"/>
                </a:solidFill>
                <a:latin typeface="宋体" pitchFamily="2" charset="-122"/>
              </a:rPr>
              <a:t>3</a:t>
            </a:r>
            <a:r>
              <a:rPr lang="zh-CN" altLang="en-US" sz="2400" b="1">
                <a:solidFill>
                  <a:srgbClr val="FF0000"/>
                </a:solidFill>
                <a:latin typeface="宋体" pitchFamily="2" charset="-122"/>
              </a:rPr>
              <a:t>）相对直角坐标：</a:t>
            </a:r>
            <a:r>
              <a:rPr lang="en-US" altLang="zh-CN" sz="2400" b="1">
                <a:solidFill>
                  <a:srgbClr val="FF0000"/>
                </a:solidFill>
                <a:latin typeface="宋体" pitchFamily="2" charset="-122"/>
              </a:rPr>
              <a:t>@dx,dy</a:t>
            </a:r>
            <a:r>
              <a:rPr lang="en-US" altLang="zh-CN" sz="2400" b="1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10247" name="Text Box 7"/>
          <p:cNvSpPr txBox="1">
            <a:spLocks noChangeArrowheads="1"/>
          </p:cNvSpPr>
          <p:nvPr/>
        </p:nvSpPr>
        <p:spPr bwMode="auto">
          <a:xfrm>
            <a:off x="1382616" y="3900657"/>
            <a:ext cx="457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solidFill>
                  <a:srgbClr val="FF0000"/>
                </a:solidFill>
                <a:latin typeface="宋体" pitchFamily="2" charset="-122"/>
              </a:rPr>
              <a:t>（</a:t>
            </a:r>
            <a:r>
              <a:rPr lang="en-US" altLang="zh-CN" sz="2400" b="1">
                <a:solidFill>
                  <a:srgbClr val="FF0000"/>
                </a:solidFill>
                <a:latin typeface="宋体" pitchFamily="2" charset="-122"/>
              </a:rPr>
              <a:t>4</a:t>
            </a:r>
            <a:r>
              <a:rPr lang="zh-CN" altLang="en-US" sz="2400" b="1">
                <a:solidFill>
                  <a:srgbClr val="FF0000"/>
                </a:solidFill>
                <a:latin typeface="宋体" pitchFamily="2" charset="-122"/>
              </a:rPr>
              <a:t>）相对极坐标：</a:t>
            </a:r>
            <a:r>
              <a:rPr lang="en-US" altLang="zh-CN" sz="2400" b="1">
                <a:solidFill>
                  <a:srgbClr val="FF0000"/>
                </a:solidFill>
                <a:latin typeface="宋体" pitchFamily="2" charset="-122"/>
              </a:rPr>
              <a:t>@</a:t>
            </a:r>
            <a:r>
              <a:rPr lang="zh-CN" altLang="en-US" sz="2400" b="1">
                <a:solidFill>
                  <a:srgbClr val="FF0000"/>
                </a:solidFill>
                <a:latin typeface="宋体" pitchFamily="2" charset="-122"/>
              </a:rPr>
              <a:t>距离</a:t>
            </a:r>
            <a:r>
              <a:rPr lang="en-US" altLang="zh-CN" sz="2400" b="1">
                <a:solidFill>
                  <a:srgbClr val="FF0000"/>
                </a:solidFill>
                <a:latin typeface="宋体" pitchFamily="2" charset="-122"/>
              </a:rPr>
              <a:t>&lt;</a:t>
            </a:r>
            <a:r>
              <a:rPr lang="zh-CN" altLang="en-US" sz="2400" b="1">
                <a:solidFill>
                  <a:srgbClr val="FF0000"/>
                </a:solidFill>
                <a:latin typeface="宋体" pitchFamily="2" charset="-122"/>
              </a:rPr>
              <a:t>角度 </a:t>
            </a:r>
          </a:p>
        </p:txBody>
      </p:sp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1382616" y="4510258"/>
            <a:ext cx="73152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宋体" pitchFamily="2" charset="-122"/>
              </a:rPr>
              <a:t>（</a:t>
            </a:r>
            <a:r>
              <a:rPr lang="en-US" altLang="zh-CN" sz="2400" b="1" dirty="0">
                <a:solidFill>
                  <a:srgbClr val="FF0000"/>
                </a:solidFill>
                <a:latin typeface="宋体" pitchFamily="2" charset="-122"/>
              </a:rPr>
              <a:t>5</a:t>
            </a:r>
            <a:r>
              <a:rPr lang="zh-CN" altLang="en-US" sz="2400" b="1" dirty="0">
                <a:solidFill>
                  <a:srgbClr val="FF0000"/>
                </a:solidFill>
                <a:latin typeface="宋体" pitchFamily="2" charset="-122"/>
              </a:rPr>
              <a:t>）方向距离输入法：用鼠标确定方向后，从键盘</a:t>
            </a:r>
            <a:endParaRPr lang="en-US" altLang="zh-CN" sz="2400" b="1" dirty="0">
              <a:solidFill>
                <a:srgbClr val="FF0000"/>
              </a:solidFill>
              <a:latin typeface="宋体" pitchFamily="2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FF0000"/>
                </a:solidFill>
                <a:latin typeface="宋体" pitchFamily="2" charset="-122"/>
              </a:rPr>
              <a:t>     </a:t>
            </a:r>
            <a:r>
              <a:rPr lang="zh-CN" altLang="en-US" sz="2400" b="1" dirty="0">
                <a:solidFill>
                  <a:srgbClr val="FF0000"/>
                </a:solidFill>
                <a:latin typeface="宋体" pitchFamily="2" charset="-122"/>
              </a:rPr>
              <a:t>输入的数即为到前一点（位置）的距离。</a:t>
            </a:r>
            <a:r>
              <a:rPr lang="zh-CN" altLang="en-US" sz="2400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1311146" y="848291"/>
            <a:ext cx="464347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eaLnBrk="0" hangingPunct="0">
              <a:defRPr/>
            </a:pPr>
            <a:r>
              <a:rPr lang="zh-CN" altLang="en-US" sz="2800" b="1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二、</a:t>
            </a:r>
            <a:r>
              <a:rPr lang="en-US" altLang="zh-CN" sz="2800" b="1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AutoCAD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软件基本操作</a:t>
            </a:r>
            <a:endParaRPr lang="zh-CN" altLang="en-US" sz="2800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1" name="Text Box 17"/>
          <p:cNvSpPr txBox="1">
            <a:spLocks noChangeArrowheads="1"/>
          </p:cNvSpPr>
          <p:nvPr/>
        </p:nvSpPr>
        <p:spPr bwMode="auto">
          <a:xfrm>
            <a:off x="3809984" y="214291"/>
            <a:ext cx="474186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1" lang="zh-C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制图工具和基本技能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1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00"/>
                                        <p:tgtEl>
                                          <p:spTgt spid="10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4" grpId="0" autoUpdateAnimBg="0"/>
      <p:bldP spid="10245" grpId="0" autoUpdateAnimBg="0"/>
      <p:bldP spid="10246" grpId="0" autoUpdateAnimBg="0"/>
      <p:bldP spid="10247" grpId="0" autoUpdateAnimBg="0"/>
      <p:bldP spid="10248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9" name="Text Box 9"/>
          <p:cNvSpPr txBox="1">
            <a:spLocks noChangeArrowheads="1"/>
          </p:cNvSpPr>
          <p:nvPr/>
        </p:nvSpPr>
        <p:spPr bwMode="auto">
          <a:xfrm>
            <a:off x="1345373" y="2204840"/>
            <a:ext cx="2714644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/>
              <a:t>1. </a:t>
            </a:r>
            <a:r>
              <a:rPr lang="zh-CN" altLang="en-US" sz="2400" dirty="0"/>
              <a:t>缩放图形</a:t>
            </a:r>
          </a:p>
          <a:p>
            <a:pPr>
              <a:spcBef>
                <a:spcPct val="50000"/>
              </a:spcBef>
            </a:pPr>
            <a:r>
              <a:rPr lang="zh-CN" altLang="en-US" sz="2400" dirty="0"/>
              <a:t>命令行：</a:t>
            </a:r>
            <a:r>
              <a:rPr lang="en-US" altLang="zh-CN" sz="2400" dirty="0"/>
              <a:t>ZOOM</a:t>
            </a:r>
          </a:p>
          <a:p>
            <a:pPr>
              <a:spcBef>
                <a:spcPct val="50000"/>
              </a:spcBef>
            </a:pPr>
            <a:r>
              <a:rPr lang="zh-CN" altLang="en-US" sz="2400" dirty="0"/>
              <a:t>菜单栏：</a:t>
            </a:r>
            <a:r>
              <a:rPr lang="zh-CN" altLang="en-US" sz="2400" b="1" dirty="0">
                <a:solidFill>
                  <a:srgbClr val="FF0000"/>
                </a:solidFill>
              </a:rPr>
              <a:t>依次单击“视图”→“缩放”</a:t>
            </a:r>
            <a:r>
              <a:rPr lang="zh-CN" altLang="en-US" sz="2400" dirty="0"/>
              <a:t>按钮。系统弹出缩放下拉菜单 </a:t>
            </a:r>
          </a:p>
        </p:txBody>
      </p:sp>
      <p:sp>
        <p:nvSpPr>
          <p:cNvPr id="10251" name="Text Box 11"/>
          <p:cNvSpPr txBox="1">
            <a:spLocks noChangeArrowheads="1"/>
          </p:cNvSpPr>
          <p:nvPr/>
        </p:nvSpPr>
        <p:spPr bwMode="auto">
          <a:xfrm>
            <a:off x="1271464" y="1477020"/>
            <a:ext cx="331787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</a:rPr>
              <a:t>图形显示控制</a:t>
            </a:r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1271463" y="834078"/>
            <a:ext cx="464347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eaLnBrk="0" hangingPunct="0">
              <a:defRPr/>
            </a:pPr>
            <a:r>
              <a:rPr lang="zh-CN" altLang="en-US" sz="2800" b="1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二、</a:t>
            </a:r>
            <a:r>
              <a:rPr lang="en-US" altLang="zh-CN" sz="2800" b="1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AutoCAD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软件基本操作</a:t>
            </a:r>
            <a:endParaRPr lang="zh-CN" altLang="en-US" sz="2800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2" name="Text Box 17"/>
          <p:cNvSpPr txBox="1">
            <a:spLocks noChangeArrowheads="1"/>
          </p:cNvSpPr>
          <p:nvPr/>
        </p:nvSpPr>
        <p:spPr bwMode="auto">
          <a:xfrm>
            <a:off x="3809984" y="214291"/>
            <a:ext cx="474186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1" lang="zh-C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制图工具和基本技能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367808" y="1624305"/>
            <a:ext cx="6176054" cy="45193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圆角矩形 6"/>
          <p:cNvSpPr/>
          <p:nvPr/>
        </p:nvSpPr>
        <p:spPr>
          <a:xfrm>
            <a:off x="6258213" y="1874962"/>
            <a:ext cx="928694" cy="35719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6463702" y="2962814"/>
            <a:ext cx="785818" cy="29527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0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2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9" grpId="0" autoUpdateAnimBg="0"/>
      <p:bldP spid="10251" grpId="0" autoUpdateAnimBg="0"/>
      <p:bldP spid="7" grpId="0" animBg="1"/>
      <p:bldP spid="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381097" y="1660433"/>
            <a:ext cx="2857520" cy="1000132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 eaLnBrk="1" hangingPunct="1">
              <a:buFontTx/>
              <a:buNone/>
              <a:defRPr/>
            </a:pPr>
            <a:r>
              <a:rPr lang="en-US" altLang="zh-CN" sz="2800" b="1" dirty="0">
                <a:latin typeface="黑体" pitchFamily="49" charset="-122"/>
                <a:ea typeface="黑体" pitchFamily="49" charset="-122"/>
              </a:rPr>
              <a:t>AutoCAD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二维绘图与编辑命令</a:t>
            </a:r>
          </a:p>
        </p:txBody>
      </p:sp>
      <p:sp>
        <p:nvSpPr>
          <p:cNvPr id="27651" name="Rectangle 5"/>
          <p:cNvSpPr>
            <a:spLocks noChangeArrowheads="1"/>
          </p:cNvSpPr>
          <p:nvPr/>
        </p:nvSpPr>
        <p:spPr bwMode="auto">
          <a:xfrm>
            <a:off x="3863975" y="2492376"/>
            <a:ext cx="91440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zh-CN" altLang="en-US" sz="3200"/>
          </a:p>
        </p:txBody>
      </p:sp>
      <p:sp>
        <p:nvSpPr>
          <p:cNvPr id="11317" name="Rectangle 53"/>
          <p:cNvSpPr>
            <a:spLocks noChangeArrowheads="1"/>
          </p:cNvSpPr>
          <p:nvPr/>
        </p:nvSpPr>
        <p:spPr bwMode="auto">
          <a:xfrm>
            <a:off x="1452535" y="2883635"/>
            <a:ext cx="2857520" cy="230832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400" dirty="0">
                <a:latin typeface="+mn-ea"/>
                <a:ea typeface="+mn-ea"/>
              </a:rPr>
              <a:t>1 .</a:t>
            </a:r>
            <a:r>
              <a:rPr lang="zh-CN" altLang="en-US" sz="2400" dirty="0">
                <a:latin typeface="+mn-ea"/>
                <a:ea typeface="+mn-ea"/>
              </a:rPr>
              <a:t>绘图基本命令</a:t>
            </a:r>
          </a:p>
          <a:p>
            <a:pPr>
              <a:spcBef>
                <a:spcPct val="50000"/>
              </a:spcBef>
              <a:defRPr/>
            </a:pPr>
            <a:r>
              <a:rPr lang="zh-CN" altLang="en-US" sz="2400" dirty="0">
                <a:latin typeface="+mn-ea"/>
                <a:ea typeface="+mn-ea"/>
              </a:rPr>
              <a:t>在菜单栏</a:t>
            </a:r>
            <a:r>
              <a:rPr lang="en-US" altLang="zh-CN" sz="2400" dirty="0">
                <a:latin typeface="+mn-ea"/>
                <a:ea typeface="+mn-ea"/>
              </a:rPr>
              <a:t>:</a:t>
            </a:r>
          </a:p>
          <a:p>
            <a:pPr>
              <a:spcBef>
                <a:spcPct val="50000"/>
              </a:spcBef>
              <a:defRPr/>
            </a:pPr>
            <a:r>
              <a:rPr lang="zh-CN" altLang="en-US" sz="2400" dirty="0">
                <a:latin typeface="+mn-ea"/>
                <a:ea typeface="+mn-ea"/>
              </a:rPr>
              <a:t>“绘图”下拉菜单中包括了主要的二维绘图命令 </a:t>
            </a:r>
          </a:p>
        </p:txBody>
      </p:sp>
      <p:pic>
        <p:nvPicPr>
          <p:cNvPr id="11318" name="Picture 54" descr="14-1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81621" y="1500188"/>
            <a:ext cx="4500594" cy="51435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452535" y="874615"/>
            <a:ext cx="464347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eaLnBrk="0" hangingPunct="0">
              <a:defRPr/>
            </a:pPr>
            <a:r>
              <a:rPr lang="zh-CN" altLang="en-US" sz="2800" b="1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二、</a:t>
            </a:r>
            <a:r>
              <a:rPr lang="en-US" altLang="zh-CN" sz="2800" b="1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AutoCAD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软件基本操作</a:t>
            </a:r>
            <a:endParaRPr lang="zh-CN" altLang="en-US" sz="2800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7" name="Text Box 17"/>
          <p:cNvSpPr txBox="1">
            <a:spLocks noChangeArrowheads="1"/>
          </p:cNvSpPr>
          <p:nvPr/>
        </p:nvSpPr>
        <p:spPr bwMode="auto">
          <a:xfrm>
            <a:off x="3809984" y="214291"/>
            <a:ext cx="474186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1" lang="zh-C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制图工具和基本技能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3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3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3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3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3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433567" y="1477866"/>
            <a:ext cx="3286148" cy="500066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 algn="l" eaLnBrk="1" hangingPunct="1"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选择与编辑图形</a:t>
            </a:r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433566" y="2131962"/>
            <a:ext cx="3143271" cy="785818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dirty="0"/>
              <a:t>1. </a:t>
            </a:r>
            <a:r>
              <a:rPr lang="zh-CN" altLang="en-US" sz="2400" dirty="0"/>
              <a:t>选择编辑对象   设置对象的选择模式</a:t>
            </a:r>
          </a:p>
        </p:txBody>
      </p:sp>
      <p:pic>
        <p:nvPicPr>
          <p:cNvPr id="81924" name="Picture 4" descr="14-2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846760" y="1500858"/>
            <a:ext cx="6074076" cy="48340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1925" name="Rectangle 5"/>
          <p:cNvSpPr>
            <a:spLocks noChangeArrowheads="1"/>
          </p:cNvSpPr>
          <p:nvPr/>
        </p:nvSpPr>
        <p:spPr bwMode="auto">
          <a:xfrm>
            <a:off x="1433566" y="3071810"/>
            <a:ext cx="2428863" cy="230832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/>
              <a:t>菜单栏：</a:t>
            </a:r>
            <a:endParaRPr lang="en-US" altLang="zh-CN" sz="2400" dirty="0"/>
          </a:p>
          <a:p>
            <a:pPr>
              <a:spcBef>
                <a:spcPct val="50000"/>
              </a:spcBef>
            </a:pPr>
            <a:r>
              <a:rPr lang="zh-CN" altLang="en-US" sz="2400" dirty="0"/>
              <a:t> </a:t>
            </a:r>
            <a:r>
              <a:rPr lang="zh-CN" altLang="en-US" sz="2400" b="1" dirty="0"/>
              <a:t>“工具”→“选项”</a:t>
            </a:r>
            <a:r>
              <a:rPr lang="zh-CN" altLang="en-US" sz="2400" dirty="0"/>
              <a:t> 。</a:t>
            </a:r>
            <a:endParaRPr lang="en-US" altLang="zh-CN" sz="2400" dirty="0"/>
          </a:p>
          <a:p>
            <a:pPr>
              <a:spcBef>
                <a:spcPct val="50000"/>
              </a:spcBef>
            </a:pPr>
            <a:r>
              <a:rPr lang="zh-CN" altLang="en-US" sz="2400" dirty="0"/>
              <a:t>系统弹出“选项”对话框。</a:t>
            </a: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1433566" y="834924"/>
            <a:ext cx="464347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eaLnBrk="0" hangingPunct="0">
              <a:defRPr/>
            </a:pPr>
            <a:r>
              <a:rPr lang="zh-CN" altLang="en-US" sz="2800" b="1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二、</a:t>
            </a:r>
            <a:r>
              <a:rPr lang="en-US" altLang="zh-CN" sz="2800" b="1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AutoCAD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软件基本操作</a:t>
            </a:r>
            <a:endParaRPr lang="zh-CN" altLang="en-US" sz="2800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8" name="Text Box 17"/>
          <p:cNvSpPr txBox="1">
            <a:spLocks noChangeArrowheads="1"/>
          </p:cNvSpPr>
          <p:nvPr/>
        </p:nvSpPr>
        <p:spPr bwMode="auto">
          <a:xfrm>
            <a:off x="3809984" y="214291"/>
            <a:ext cx="474186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1" lang="zh-C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制图工具和基本技能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4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4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7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2000"/>
                                        <p:tgtEl>
                                          <p:spTgt spid="819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2000"/>
                                        <p:tgtEl>
                                          <p:spTgt spid="819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2000"/>
                                        <p:tgtEl>
                                          <p:spTgt spid="819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19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19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1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449174" y="1315157"/>
            <a:ext cx="3929090" cy="506411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 algn="l" eaLnBrk="1" hangingPunct="1">
              <a:defRPr/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2.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编辑图形 命令菜单</a:t>
            </a:r>
          </a:p>
        </p:txBody>
      </p:sp>
      <p:pic>
        <p:nvPicPr>
          <p:cNvPr id="29699" name="Picture 4" descr="x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95539" y="1928803"/>
            <a:ext cx="7102497" cy="4590957"/>
          </a:xfrm>
          <a:prstGeom prst="rect">
            <a:avLst/>
          </a:prstGeom>
          <a:solidFill>
            <a:srgbClr val="FF99CC"/>
          </a:solidFill>
          <a:ln w="9525">
            <a:noFill/>
            <a:miter lim="800000"/>
            <a:headEnd/>
            <a:tailEnd/>
          </a:ln>
        </p:spPr>
      </p:pic>
      <p:sp>
        <p:nvSpPr>
          <p:cNvPr id="83974" name="AutoShape 6"/>
          <p:cNvSpPr>
            <a:spLocks noChangeArrowheads="1"/>
          </p:cNvSpPr>
          <p:nvPr/>
        </p:nvSpPr>
        <p:spPr bwMode="auto">
          <a:xfrm>
            <a:off x="5238745" y="3857628"/>
            <a:ext cx="2447925" cy="865188"/>
          </a:xfrm>
          <a:prstGeom prst="wedgeRoundRectCallout">
            <a:avLst>
              <a:gd name="adj1" fmla="val 62347"/>
              <a:gd name="adj2" fmla="val -212584"/>
              <a:gd name="adj3" fmla="val 16667"/>
            </a:avLst>
          </a:prstGeom>
          <a:solidFill>
            <a:srgbClr val="FFFF99"/>
          </a:solidFill>
          <a:ln w="9525" algn="ctr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50000"/>
              </a:spcBef>
            </a:pPr>
            <a:r>
              <a:rPr lang="zh-CN" altLang="en-US" sz="2400" dirty="0"/>
              <a:t>下拉菜单 编辑图形的命令项</a:t>
            </a:r>
          </a:p>
        </p:txBody>
      </p:sp>
      <p:sp>
        <p:nvSpPr>
          <p:cNvPr id="83976" name="AutoShape 8"/>
          <p:cNvSpPr>
            <a:spLocks noChangeArrowheads="1"/>
          </p:cNvSpPr>
          <p:nvPr/>
        </p:nvSpPr>
        <p:spPr bwMode="auto">
          <a:xfrm>
            <a:off x="2738414" y="4071942"/>
            <a:ext cx="2233612" cy="1008062"/>
          </a:xfrm>
          <a:prstGeom prst="wedgeRoundRectCallout">
            <a:avLst>
              <a:gd name="adj1" fmla="val 64926"/>
              <a:gd name="adj2" fmla="val -164329"/>
              <a:gd name="adj3" fmla="val 16667"/>
            </a:avLst>
          </a:prstGeom>
          <a:solidFill>
            <a:srgbClr val="FFCC00"/>
          </a:solidFill>
          <a:ln w="9525" algn="ctr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50000"/>
              </a:spcBef>
            </a:pPr>
            <a:r>
              <a:rPr lang="zh-CN" altLang="en-US" sz="2400" dirty="0"/>
              <a:t>功能区 编辑图形的命令项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449173" y="815090"/>
            <a:ext cx="464347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eaLnBrk="0" hangingPunct="0">
              <a:defRPr/>
            </a:pPr>
            <a:r>
              <a:rPr lang="zh-CN" altLang="en-US" sz="2800" b="1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二、</a:t>
            </a:r>
            <a:r>
              <a:rPr lang="en-US" altLang="zh-CN" sz="2800" b="1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AutoCAD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软件基本操作</a:t>
            </a:r>
            <a:endParaRPr lang="zh-CN" altLang="en-US" sz="2800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7" name="Text Box 17"/>
          <p:cNvSpPr txBox="1">
            <a:spLocks noChangeArrowheads="1"/>
          </p:cNvSpPr>
          <p:nvPr/>
        </p:nvSpPr>
        <p:spPr bwMode="auto">
          <a:xfrm>
            <a:off x="3809984" y="214291"/>
            <a:ext cx="474186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1" lang="zh-C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制图工具和基本技能</a:t>
            </a:r>
          </a:p>
        </p:txBody>
      </p:sp>
      <p:sp>
        <p:nvSpPr>
          <p:cNvPr id="9" name="圆角矩形 8"/>
          <p:cNvSpPr/>
          <p:nvPr/>
        </p:nvSpPr>
        <p:spPr>
          <a:xfrm>
            <a:off x="4667240" y="2357430"/>
            <a:ext cx="2286016" cy="78581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7881950" y="2071678"/>
            <a:ext cx="928694" cy="442915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83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83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4" grpId="0" animBg="1"/>
      <p:bldP spid="83976" grpId="0" animBg="1"/>
      <p:bldP spid="9" grpId="0" animBg="1"/>
      <p:bldP spid="1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381385" y="1506238"/>
            <a:ext cx="2743197" cy="45242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 algn="l" eaLnBrk="1" hangingPunct="1"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精确绘图工具</a:t>
            </a:r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421741" y="2086034"/>
            <a:ext cx="3863951" cy="1263236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marL="0" eaLnBrk="1" hangingPunct="1">
              <a:spcBef>
                <a:spcPct val="0"/>
              </a:spcBef>
              <a:buNone/>
            </a:pPr>
            <a:r>
              <a:rPr lang="zh-CN" altLang="en-US" sz="2400" dirty="0"/>
              <a:t>右键单击状态栏中的“对象捕捉”，系统弹出左图所示的“对象捕捉”快捷菜单。</a:t>
            </a:r>
          </a:p>
        </p:txBody>
      </p:sp>
      <p:pic>
        <p:nvPicPr>
          <p:cNvPr id="87045" name="Picture 5" descr="14-29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810248" y="1625600"/>
            <a:ext cx="1728788" cy="523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7044" name="Picture 4" descr="14-29-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810512" y="1357298"/>
            <a:ext cx="2052638" cy="5160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27" name="Rectangle 6"/>
          <p:cNvSpPr>
            <a:spLocks noChangeArrowheads="1"/>
          </p:cNvSpPr>
          <p:nvPr/>
        </p:nvSpPr>
        <p:spPr bwMode="auto">
          <a:xfrm>
            <a:off x="1524001" y="-292387"/>
            <a:ext cx="184731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 sz="3200"/>
          </a:p>
        </p:txBody>
      </p:sp>
      <p:sp>
        <p:nvSpPr>
          <p:cNvPr id="30728" name="Rectangle 7"/>
          <p:cNvSpPr>
            <a:spLocks noChangeArrowheads="1"/>
          </p:cNvSpPr>
          <p:nvPr/>
        </p:nvSpPr>
        <p:spPr bwMode="auto">
          <a:xfrm>
            <a:off x="1524001" y="2523253"/>
            <a:ext cx="713657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1000"/>
              <a:t>               </a:t>
            </a:r>
            <a:endParaRPr lang="en-US" altLang="zh-CN" sz="2400"/>
          </a:p>
        </p:txBody>
      </p:sp>
      <p:sp>
        <p:nvSpPr>
          <p:cNvPr id="87048" name="Rectangle 8"/>
          <p:cNvSpPr>
            <a:spLocks noChangeArrowheads="1"/>
          </p:cNvSpPr>
          <p:nvPr/>
        </p:nvSpPr>
        <p:spPr bwMode="auto">
          <a:xfrm>
            <a:off x="1421741" y="3937779"/>
            <a:ext cx="3863950" cy="156966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en-US" sz="2400" dirty="0"/>
              <a:t>也可以按住</a:t>
            </a:r>
            <a:r>
              <a:rPr lang="en-US" altLang="zh-CN" sz="2400" dirty="0"/>
              <a:t>&lt;Ctrl&gt;</a:t>
            </a:r>
            <a:r>
              <a:rPr lang="zh-CN" altLang="en-US" sz="2400" dirty="0"/>
              <a:t>键或</a:t>
            </a:r>
            <a:r>
              <a:rPr lang="en-US" altLang="zh-CN" sz="2400" dirty="0"/>
              <a:t>&lt;Shift&gt;</a:t>
            </a:r>
            <a:r>
              <a:rPr lang="zh-CN" altLang="en-US" sz="2400" dirty="0"/>
              <a:t>键的同时</a:t>
            </a:r>
            <a:r>
              <a:rPr lang="en-US" altLang="zh-CN" sz="2400" dirty="0"/>
              <a:t>,</a:t>
            </a:r>
            <a:r>
              <a:rPr lang="zh-CN" altLang="en-US" sz="2400" dirty="0"/>
              <a:t>单击鼠标右键，系统弹出 “对象捕捉”快捷菜单。</a:t>
            </a:r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1409937" y="887088"/>
            <a:ext cx="464347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eaLnBrk="0" hangingPunct="0">
              <a:defRPr/>
            </a:pPr>
            <a:r>
              <a:rPr lang="zh-CN" altLang="en-US" sz="2800" b="1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二、</a:t>
            </a:r>
            <a:r>
              <a:rPr lang="en-US" altLang="zh-CN" sz="2800" b="1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AutoCAD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软件基本操作</a:t>
            </a:r>
            <a:endParaRPr lang="zh-CN" altLang="en-US" sz="2800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1" name="Text Box 17"/>
          <p:cNvSpPr txBox="1">
            <a:spLocks noChangeArrowheads="1"/>
          </p:cNvSpPr>
          <p:nvPr/>
        </p:nvSpPr>
        <p:spPr bwMode="auto">
          <a:xfrm>
            <a:off x="3809984" y="214291"/>
            <a:ext cx="474186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1" lang="zh-C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制图工具和基本技能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9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70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70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70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7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70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70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70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animBg="1"/>
      <p:bldP spid="19460" grpId="0" build="p"/>
      <p:bldP spid="8704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307889" y="1296346"/>
            <a:ext cx="1885941" cy="6477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 algn="l" eaLnBrk="1" hangingPunct="1">
              <a:defRPr/>
            </a:pPr>
            <a:r>
              <a:rPr lang="zh-CN" altLang="en-US" sz="2800" b="1" dirty="0"/>
              <a:t>极轴追踪</a:t>
            </a:r>
            <a:endParaRPr lang="zh-CN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524001" y="3342202"/>
            <a:ext cx="3420384" cy="2000238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 marL="0" indent="0">
              <a:spcBef>
                <a:spcPct val="0"/>
              </a:spcBef>
              <a:buNone/>
            </a:pPr>
            <a:r>
              <a:rPr lang="zh-CN" altLang="en-US" sz="2400" dirty="0"/>
              <a:t>使用极轴追踪，光标将按指定角度和距离的增量来追踪特征点。使用极轴追踪前先要进行参数设定。</a:t>
            </a:r>
          </a:p>
        </p:txBody>
      </p:sp>
      <p:sp>
        <p:nvSpPr>
          <p:cNvPr id="31749" name="Rectangle 6"/>
          <p:cNvSpPr>
            <a:spLocks noChangeArrowheads="1"/>
          </p:cNvSpPr>
          <p:nvPr/>
        </p:nvSpPr>
        <p:spPr bwMode="auto">
          <a:xfrm>
            <a:off x="1524001" y="-292387"/>
            <a:ext cx="184731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 sz="3200"/>
          </a:p>
        </p:txBody>
      </p:sp>
      <p:sp>
        <p:nvSpPr>
          <p:cNvPr id="31750" name="Rectangle 7"/>
          <p:cNvSpPr>
            <a:spLocks noChangeArrowheads="1"/>
          </p:cNvSpPr>
          <p:nvPr/>
        </p:nvSpPr>
        <p:spPr bwMode="auto">
          <a:xfrm>
            <a:off x="1524001" y="2523253"/>
            <a:ext cx="713657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1000"/>
              <a:t>               </a:t>
            </a:r>
            <a:endParaRPr lang="en-US" altLang="zh-CN" sz="2400"/>
          </a:p>
        </p:txBody>
      </p:sp>
      <p:sp>
        <p:nvSpPr>
          <p:cNvPr id="87048" name="Rectangle 8"/>
          <p:cNvSpPr>
            <a:spLocks noChangeArrowheads="1"/>
          </p:cNvSpPr>
          <p:nvPr/>
        </p:nvSpPr>
        <p:spPr bwMode="auto">
          <a:xfrm>
            <a:off x="1372485" y="1892583"/>
            <a:ext cx="3571900" cy="127419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en-US" sz="2400" b="1" dirty="0"/>
              <a:t>菜单栏：</a:t>
            </a:r>
            <a:endParaRPr lang="en-US" altLang="zh-CN" sz="2400" b="1" dirty="0"/>
          </a:p>
          <a:p>
            <a:pPr>
              <a:spcBef>
                <a:spcPct val="20000"/>
              </a:spcBef>
            </a:pPr>
            <a:r>
              <a:rPr lang="zh-CN" altLang="en-US" sz="2400" b="1" dirty="0"/>
              <a:t>单击</a:t>
            </a:r>
            <a:r>
              <a:rPr lang="en-US" sz="2400" b="1" dirty="0"/>
              <a:t> </a:t>
            </a:r>
            <a:r>
              <a:rPr lang="zh-CN" altLang="en-US" sz="2400" b="1" dirty="0"/>
              <a:t>“工具”</a:t>
            </a:r>
            <a:r>
              <a:rPr lang="en-US" sz="2400" b="1" dirty="0"/>
              <a:t>→ </a:t>
            </a:r>
            <a:r>
              <a:rPr lang="zh-CN" altLang="en-US" sz="2400" b="1" dirty="0"/>
              <a:t>“草图（绘图）设置</a:t>
            </a:r>
            <a:r>
              <a:rPr lang="en-US" altLang="zh-CN" sz="2400" b="1" dirty="0"/>
              <a:t>…</a:t>
            </a:r>
            <a:r>
              <a:rPr lang="zh-CN" altLang="en-US" sz="2400" b="1" dirty="0"/>
              <a:t>”</a:t>
            </a:r>
          </a:p>
        </p:txBody>
      </p:sp>
      <p:pic>
        <p:nvPicPr>
          <p:cNvPr id="60418" name="Picture 2" descr="14-3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59895" y="1620196"/>
            <a:ext cx="5508103" cy="49450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1379326" y="867718"/>
            <a:ext cx="464347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eaLnBrk="0" hangingPunct="0">
              <a:defRPr/>
            </a:pPr>
            <a:r>
              <a:rPr lang="zh-CN" altLang="en-US" sz="2800" b="1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二、</a:t>
            </a:r>
            <a:r>
              <a:rPr lang="en-US" altLang="zh-CN" sz="2800" b="1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AutoCAD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软件基本操作</a:t>
            </a:r>
            <a:endParaRPr lang="zh-CN" altLang="en-US" sz="2800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0" name="Text Box 17"/>
          <p:cNvSpPr txBox="1">
            <a:spLocks noChangeArrowheads="1"/>
          </p:cNvSpPr>
          <p:nvPr/>
        </p:nvSpPr>
        <p:spPr bwMode="auto">
          <a:xfrm>
            <a:off x="3809984" y="214291"/>
            <a:ext cx="474186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1" lang="zh-C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制图工具和基本技能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946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9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7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60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animBg="1"/>
      <p:bldP spid="19460" grpId="0" build="p" animBg="1"/>
      <p:bldP spid="8704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508452" y="1486924"/>
            <a:ext cx="2457450" cy="523858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 algn="l" eaLnBrk="1" hangingPunct="1">
              <a:defRPr/>
            </a:pPr>
            <a:r>
              <a:rPr lang="zh-CN" altLang="en-US" sz="2800" b="1" dirty="0"/>
              <a:t>极轴追踪</a:t>
            </a:r>
            <a:endParaRPr lang="zh-CN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2773" name="Rectangle 6"/>
          <p:cNvSpPr>
            <a:spLocks noChangeArrowheads="1"/>
          </p:cNvSpPr>
          <p:nvPr/>
        </p:nvSpPr>
        <p:spPr bwMode="auto">
          <a:xfrm>
            <a:off x="1524001" y="-292387"/>
            <a:ext cx="184731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 sz="3200"/>
          </a:p>
        </p:txBody>
      </p:sp>
      <p:sp>
        <p:nvSpPr>
          <p:cNvPr id="87048" name="Rectangle 8"/>
          <p:cNvSpPr>
            <a:spLocks noChangeArrowheads="1"/>
          </p:cNvSpPr>
          <p:nvPr/>
        </p:nvSpPr>
        <p:spPr bwMode="auto">
          <a:xfrm>
            <a:off x="1199456" y="1965407"/>
            <a:ext cx="5724127" cy="275152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en-US" sz="2400" b="1" dirty="0"/>
              <a:t>指定极轴角度</a:t>
            </a:r>
            <a:endParaRPr lang="en-US" altLang="zh-CN" sz="2400" b="1" dirty="0"/>
          </a:p>
          <a:p>
            <a:pPr>
              <a:spcBef>
                <a:spcPct val="20000"/>
              </a:spcBef>
            </a:pPr>
            <a:r>
              <a:rPr lang="zh-CN" altLang="en-US" sz="2400" dirty="0"/>
              <a:t>可以使极轴追踪沿着</a:t>
            </a:r>
            <a:r>
              <a:rPr lang="en-US" sz="2400" dirty="0"/>
              <a:t> </a:t>
            </a:r>
            <a:r>
              <a:rPr lang="en-US" altLang="zh-CN" sz="2400" dirty="0"/>
              <a:t>90°</a:t>
            </a:r>
            <a:r>
              <a:rPr lang="zh-CN" altLang="en-US" sz="2400" dirty="0"/>
              <a:t>、</a:t>
            </a:r>
            <a:r>
              <a:rPr lang="en-US" altLang="zh-CN" sz="2400" dirty="0"/>
              <a:t>60°</a:t>
            </a:r>
            <a:r>
              <a:rPr lang="zh-CN" altLang="en-US" sz="2400" dirty="0"/>
              <a:t>、</a:t>
            </a:r>
            <a:r>
              <a:rPr lang="en-US" altLang="zh-CN" sz="2400" dirty="0"/>
              <a:t>45°</a:t>
            </a:r>
            <a:r>
              <a:rPr lang="zh-CN" altLang="en-US" sz="2400" dirty="0"/>
              <a:t>、</a:t>
            </a:r>
            <a:r>
              <a:rPr lang="en-US" altLang="zh-CN" sz="2400" dirty="0"/>
              <a:t>30°</a:t>
            </a:r>
            <a:r>
              <a:rPr lang="zh-CN" altLang="en-US" sz="2400" dirty="0"/>
              <a:t>、</a:t>
            </a:r>
            <a:r>
              <a:rPr lang="en-US" altLang="zh-CN" sz="2400" dirty="0"/>
              <a:t>22.5°</a:t>
            </a:r>
            <a:r>
              <a:rPr lang="zh-CN" altLang="en-US" sz="2400" dirty="0"/>
              <a:t>、</a:t>
            </a:r>
            <a:r>
              <a:rPr lang="en-US" altLang="zh-CN" sz="2400" dirty="0"/>
              <a:t>18°</a:t>
            </a:r>
            <a:r>
              <a:rPr lang="zh-CN" altLang="en-US" sz="2400" dirty="0"/>
              <a:t>、</a:t>
            </a:r>
            <a:r>
              <a:rPr lang="en-US" altLang="zh-CN" sz="2400" dirty="0"/>
              <a:t>15°</a:t>
            </a:r>
            <a:r>
              <a:rPr lang="zh-CN" altLang="en-US" sz="2400" dirty="0"/>
              <a:t>、</a:t>
            </a:r>
            <a:r>
              <a:rPr lang="en-US" altLang="zh-CN" sz="2400" dirty="0"/>
              <a:t>10°</a:t>
            </a:r>
            <a:r>
              <a:rPr lang="zh-CN" altLang="en-US" sz="2400" dirty="0"/>
              <a:t>和</a:t>
            </a:r>
            <a:r>
              <a:rPr lang="en-US" altLang="zh-CN" sz="2400" dirty="0"/>
              <a:t>5°</a:t>
            </a:r>
            <a:r>
              <a:rPr lang="zh-CN" altLang="en-US" sz="2400" dirty="0"/>
              <a:t>的极轴角增量进行追踪，也可以指定其他角度。</a:t>
            </a:r>
            <a:r>
              <a:rPr lang="zh-CN" altLang="en-US" sz="2400" dirty="0">
                <a:solidFill>
                  <a:srgbClr val="FF0000"/>
                </a:solidFill>
              </a:rPr>
              <a:t>注意：必须在“极轴”模式打开的情况下使用。</a:t>
            </a:r>
            <a:r>
              <a:rPr lang="zh-CN" altLang="en-US" sz="2400" b="1" dirty="0"/>
              <a:t>打开和关闭极轴追踪，按 </a:t>
            </a:r>
            <a:r>
              <a:rPr lang="en-US" altLang="zh-CN" sz="2400" b="1" dirty="0"/>
              <a:t>&lt;F10&gt; </a:t>
            </a:r>
            <a:r>
              <a:rPr lang="zh-CN" altLang="en-US" sz="2400" b="1" dirty="0"/>
              <a:t>键</a:t>
            </a:r>
            <a:r>
              <a:rPr lang="zh-CN" altLang="en-US" sz="2400" dirty="0"/>
              <a:t>，或单击状态栏上的“极轴”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1437014" y="843982"/>
            <a:ext cx="464347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eaLnBrk="0" hangingPunct="0">
              <a:defRPr/>
            </a:pPr>
            <a:r>
              <a:rPr lang="zh-CN" altLang="en-US" sz="2800" b="1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二、</a:t>
            </a:r>
            <a:r>
              <a:rPr lang="en-US" altLang="zh-CN" sz="2800" b="1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AutoCAD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软件基本操作</a:t>
            </a:r>
            <a:endParaRPr lang="zh-CN" altLang="en-US" sz="2800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9" name="Text Box 17"/>
          <p:cNvSpPr txBox="1">
            <a:spLocks noChangeArrowheads="1"/>
          </p:cNvSpPr>
          <p:nvPr/>
        </p:nvSpPr>
        <p:spPr bwMode="auto">
          <a:xfrm>
            <a:off x="3809984" y="214291"/>
            <a:ext cx="474186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1" lang="zh-C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制图工具和基本技能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 r="49895" b="35714"/>
          <a:stretch>
            <a:fillRect/>
          </a:stretch>
        </p:blipFill>
        <p:spPr bwMode="auto">
          <a:xfrm>
            <a:off x="7032105" y="1486924"/>
            <a:ext cx="3734386" cy="34630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矩形 9"/>
          <p:cNvSpPr/>
          <p:nvPr/>
        </p:nvSpPr>
        <p:spPr>
          <a:xfrm>
            <a:off x="1425509" y="4815827"/>
            <a:ext cx="991557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指定极轴距离</a:t>
            </a:r>
            <a:endParaRPr lang="en-US" altLang="zh-CN" sz="2400" b="1" dirty="0"/>
          </a:p>
          <a:p>
            <a:r>
              <a:rPr lang="zh-CN" altLang="en-US" sz="2400" dirty="0"/>
              <a:t>使用“极轴捕捉”，光标将按指定的极轴距离增量进行移动。在“草图设置”对话框的“捕捉与栅格”选项卡中，设置极轴距离，单位为</a:t>
            </a:r>
            <a:r>
              <a:rPr lang="en-US" altLang="zh-CN" sz="2400" dirty="0"/>
              <a:t>mm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7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animBg="1"/>
      <p:bldP spid="87048" grpId="0"/>
      <p:bldP spid="1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393228" y="1963104"/>
            <a:ext cx="5951244" cy="41787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150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281400" y="1384682"/>
            <a:ext cx="1857360" cy="571504"/>
          </a:xfrm>
          <a:prstGeom prst="rect">
            <a:avLst/>
          </a:prstGeom>
        </p:spPr>
        <p:txBody>
          <a:bodyPr/>
          <a:lstStyle/>
          <a:p>
            <a:pPr marL="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zh-CN" sz="2400" b="1" dirty="0"/>
              <a:t>1. </a:t>
            </a:r>
            <a:r>
              <a:rPr lang="zh-CN" altLang="en-US" sz="2400" b="1" dirty="0"/>
              <a:t>布局</a:t>
            </a:r>
          </a:p>
          <a:p>
            <a:pPr marL="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endParaRPr lang="zh-CN" altLang="en-US" sz="2400" b="1" dirty="0"/>
          </a:p>
          <a:p>
            <a:pPr marL="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endParaRPr lang="zh-CN" altLang="en-US" sz="2400" b="1" dirty="0">
              <a:latin typeface="+mn-ea"/>
            </a:endParaRPr>
          </a:p>
        </p:txBody>
      </p:sp>
      <p:sp>
        <p:nvSpPr>
          <p:cNvPr id="34822" name="矩形 6"/>
          <p:cNvSpPr>
            <a:spLocks noChangeArrowheads="1"/>
          </p:cNvSpPr>
          <p:nvPr/>
        </p:nvSpPr>
        <p:spPr bwMode="auto">
          <a:xfrm>
            <a:off x="1209962" y="2027632"/>
            <a:ext cx="2500312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400" b="1" dirty="0"/>
              <a:t>根据幅面画出图框和标题栏</a:t>
            </a:r>
          </a:p>
        </p:txBody>
      </p:sp>
      <p:sp>
        <p:nvSpPr>
          <p:cNvPr id="34823" name="矩形 7"/>
          <p:cNvSpPr>
            <a:spLocks noChangeArrowheads="1"/>
          </p:cNvSpPr>
          <p:nvPr/>
        </p:nvSpPr>
        <p:spPr bwMode="auto">
          <a:xfrm>
            <a:off x="1209962" y="3099195"/>
            <a:ext cx="2500312" cy="1938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400" b="1" dirty="0"/>
              <a:t>确定各图形在图框中的位置。图框与图形、图形与图形之间应留出间隔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1343472" y="814848"/>
            <a:ext cx="757242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eaLnBrk="0" hangingPunct="0">
              <a:defRPr/>
            </a:pPr>
            <a:r>
              <a:rPr lang="zh-CN" altLang="en-US" sz="2800" b="1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三、</a:t>
            </a:r>
            <a:r>
              <a:rPr lang="zh-CN" altLang="en-US" sz="2800" b="1" dirty="0"/>
              <a:t>利用绘图仪器绘制工程图的技能</a:t>
            </a:r>
            <a:endParaRPr lang="zh-CN" altLang="en-US" sz="2800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9" name="Text Box 17"/>
          <p:cNvSpPr txBox="1">
            <a:spLocks noChangeArrowheads="1"/>
          </p:cNvSpPr>
          <p:nvPr/>
        </p:nvSpPr>
        <p:spPr bwMode="auto">
          <a:xfrm>
            <a:off x="3809984" y="214291"/>
            <a:ext cx="474186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1" lang="zh-C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制图工具和基本技能</a:t>
            </a: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629151" y="2651107"/>
            <a:ext cx="5453523" cy="10471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539372" y="2144874"/>
            <a:ext cx="1485945" cy="376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4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48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48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48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215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8" grpId="0" build="p"/>
      <p:bldP spid="34822" grpId="0"/>
      <p:bldP spid="3482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212172" y="1420413"/>
            <a:ext cx="4357688" cy="615040"/>
          </a:xfrm>
          <a:prstGeom prst="rect">
            <a:avLst/>
          </a:prstGeom>
        </p:spPr>
        <p:txBody>
          <a:bodyPr/>
          <a:lstStyle/>
          <a:p>
            <a:pPr marL="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zh-CN" sz="2400" b="1" dirty="0">
                <a:latin typeface="+mn-ea"/>
              </a:rPr>
              <a:t>2.</a:t>
            </a:r>
            <a:r>
              <a:rPr lang="zh-CN" altLang="en-US" sz="2400" b="1" dirty="0">
                <a:latin typeface="+mn-ea"/>
              </a:rPr>
              <a:t>画图形的底稿</a:t>
            </a:r>
          </a:p>
          <a:p>
            <a:pPr marL="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endParaRPr lang="zh-CN" altLang="en-US" sz="2400" b="1" dirty="0">
              <a:latin typeface="+mn-ea"/>
            </a:endParaRPr>
          </a:p>
          <a:p>
            <a:pPr marL="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endParaRPr lang="zh-CN" altLang="en-US" sz="2400" b="1" dirty="0">
              <a:latin typeface="+mn-ea"/>
            </a:endParaRPr>
          </a:p>
        </p:txBody>
      </p:sp>
      <p:sp>
        <p:nvSpPr>
          <p:cNvPr id="35845" name="矩形 6"/>
          <p:cNvSpPr>
            <a:spLocks noChangeArrowheads="1"/>
          </p:cNvSpPr>
          <p:nvPr/>
        </p:nvSpPr>
        <p:spPr bwMode="auto">
          <a:xfrm>
            <a:off x="1069328" y="2063340"/>
            <a:ext cx="214308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+mn-ea"/>
                <a:ea typeface="+mn-ea"/>
              </a:rPr>
              <a:t>底稿应从轴线、中心线或主要轮廓线开始画起，以便度量尺寸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1415480" y="824525"/>
            <a:ext cx="757242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eaLnBrk="0" hangingPunct="0">
              <a:defRPr/>
            </a:pPr>
            <a:r>
              <a:rPr lang="zh-CN" altLang="en-US" sz="2800" b="1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三、</a:t>
            </a:r>
            <a:r>
              <a:rPr lang="zh-CN" altLang="en-US" sz="2800" b="1" dirty="0"/>
              <a:t>利用绘图仪器绘制工程图的技能</a:t>
            </a:r>
            <a:endParaRPr lang="zh-CN" altLang="en-US" sz="2800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9" name="Text Box 17"/>
          <p:cNvSpPr txBox="1">
            <a:spLocks noChangeArrowheads="1"/>
          </p:cNvSpPr>
          <p:nvPr/>
        </p:nvSpPr>
        <p:spPr bwMode="auto">
          <a:xfrm>
            <a:off x="3809984" y="214291"/>
            <a:ext cx="474186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1" lang="zh-C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制图工具和基本技能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67175" y="2000240"/>
            <a:ext cx="6194833" cy="4429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10116" y="2952758"/>
            <a:ext cx="4819650" cy="161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862970" y="3057530"/>
            <a:ext cx="4743450" cy="140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1232454" y="3514069"/>
            <a:ext cx="2428864" cy="428628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0"/>
              </a:spcBef>
              <a:defRPr/>
            </a:pPr>
            <a:r>
              <a:rPr lang="en-US" altLang="zh-CN" sz="2400" b="1" dirty="0">
                <a:latin typeface="+mn-lt"/>
                <a:ea typeface="+mn-ea"/>
              </a:rPr>
              <a:t>3.</a:t>
            </a:r>
            <a:r>
              <a:rPr lang="zh-CN" altLang="en-US" sz="2400" b="1" dirty="0">
                <a:latin typeface="+mn-lt"/>
                <a:ea typeface="+mn-ea"/>
              </a:rPr>
              <a:t>描深图线</a:t>
            </a:r>
          </a:p>
          <a:p>
            <a:pPr>
              <a:spcBef>
                <a:spcPts val="0"/>
              </a:spcBef>
              <a:defRPr/>
            </a:pPr>
            <a:endParaRPr lang="zh-CN" altLang="en-US" sz="2400" b="1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defRPr/>
            </a:pPr>
            <a:endParaRPr lang="zh-CN" altLang="en-US" sz="2400" b="1" dirty="0">
              <a:latin typeface="+mn-ea"/>
              <a:ea typeface="+mn-ea"/>
            </a:endParaRPr>
          </a:p>
        </p:txBody>
      </p:sp>
      <p:sp>
        <p:nvSpPr>
          <p:cNvPr id="11" name="矩形 6"/>
          <p:cNvSpPr>
            <a:spLocks noChangeArrowheads="1"/>
          </p:cNvSpPr>
          <p:nvPr/>
        </p:nvSpPr>
        <p:spPr bwMode="auto">
          <a:xfrm>
            <a:off x="926392" y="3998163"/>
            <a:ext cx="235745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000" b="1" dirty="0"/>
              <a:t>   描深过程中要保持笔端的粗细一致。</a:t>
            </a:r>
          </a:p>
        </p:txBody>
      </p:sp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454528" y="2478306"/>
            <a:ext cx="5133975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" name="Picture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167175" y="1587767"/>
            <a:ext cx="6912787" cy="48711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15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2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7" dur="5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8" grpId="0" build="p"/>
      <p:bldP spid="35845" grpId="0"/>
      <p:bldP spid="10" grpId="0" build="p"/>
      <p:bldP spid="1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487488" y="1442037"/>
            <a:ext cx="5715011" cy="50005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 algn="l" eaLnBrk="1" hangingPunct="1">
              <a:defRPr/>
            </a:pPr>
            <a:r>
              <a:rPr lang="zh-CN" altLang="en-US" sz="2800" b="1" dirty="0"/>
              <a:t>设置符合国标要求的</a:t>
            </a:r>
            <a:r>
              <a:rPr lang="en-US" altLang="zh-CN" sz="2800" b="1" dirty="0"/>
              <a:t>CAD</a:t>
            </a:r>
            <a:r>
              <a:rPr lang="zh-CN" altLang="en-US" sz="2800" b="1" dirty="0"/>
              <a:t>绘图环境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1487488" y="792450"/>
            <a:ext cx="5429262" cy="57148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hangingPunct="0">
              <a:defRPr/>
            </a:pPr>
            <a:r>
              <a:rPr lang="zh-CN" altLang="en-US" sz="2800" b="1" dirty="0">
                <a:latin typeface="+mj-lt"/>
                <a:ea typeface="+mj-ea"/>
                <a:cs typeface="+mj-cs"/>
              </a:rPr>
              <a:t>四、利用</a:t>
            </a:r>
            <a:r>
              <a:rPr lang="en-US" altLang="zh-CN" sz="2800" b="1" dirty="0">
                <a:latin typeface="+mj-lt"/>
                <a:ea typeface="+mj-ea"/>
                <a:cs typeface="+mj-cs"/>
              </a:rPr>
              <a:t>CAD</a:t>
            </a:r>
            <a:r>
              <a:rPr lang="zh-CN" altLang="en-US" sz="2800" b="1" dirty="0">
                <a:latin typeface="+mj-lt"/>
                <a:ea typeface="+mj-ea"/>
                <a:cs typeface="+mj-cs"/>
              </a:rPr>
              <a:t>绘制工程图的技能</a:t>
            </a:r>
          </a:p>
        </p:txBody>
      </p:sp>
      <p:sp>
        <p:nvSpPr>
          <p:cNvPr id="7" name="Text Box 17"/>
          <p:cNvSpPr txBox="1">
            <a:spLocks noChangeArrowheads="1"/>
          </p:cNvSpPr>
          <p:nvPr/>
        </p:nvSpPr>
        <p:spPr bwMode="auto">
          <a:xfrm>
            <a:off x="3809984" y="214291"/>
            <a:ext cx="474186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1" lang="zh-C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制图工具和基本技能</a:t>
            </a:r>
          </a:p>
        </p:txBody>
      </p:sp>
      <p:sp>
        <p:nvSpPr>
          <p:cNvPr id="8" name="矩形 7"/>
          <p:cNvSpPr/>
          <p:nvPr/>
        </p:nvSpPr>
        <p:spPr>
          <a:xfrm>
            <a:off x="1505388" y="1964590"/>
            <a:ext cx="970317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+mn-ea"/>
                <a:ea typeface="+mn-ea"/>
              </a:rPr>
              <a:t>按机械制图国家标准设置：</a:t>
            </a:r>
            <a:endParaRPr lang="en-US" altLang="zh-CN" sz="2400" b="1" dirty="0">
              <a:latin typeface="+mn-ea"/>
              <a:ea typeface="+mn-ea"/>
            </a:endParaRPr>
          </a:p>
          <a:p>
            <a:r>
              <a:rPr lang="zh-CN" altLang="en-US" sz="2400" b="1" dirty="0">
                <a:latin typeface="+mn-ea"/>
                <a:ea typeface="+mn-ea"/>
              </a:rPr>
              <a:t>    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图纸幅面和格式</a:t>
            </a:r>
            <a:r>
              <a:rPr lang="zh-CN" altLang="en-US" sz="2400" b="1" dirty="0">
                <a:latin typeface="+mn-ea"/>
                <a:ea typeface="+mn-ea"/>
              </a:rPr>
              <a:t> 、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线型及其颜色、线宽、文字样式</a:t>
            </a:r>
            <a:r>
              <a:rPr lang="zh-CN" altLang="en-US" sz="2400" b="1" dirty="0">
                <a:latin typeface="+mn-ea"/>
                <a:ea typeface="+mn-ea"/>
              </a:rPr>
              <a:t>等要求，</a:t>
            </a:r>
            <a:endParaRPr lang="en-US" altLang="zh-CN" sz="2400" b="1" dirty="0">
              <a:latin typeface="+mn-ea"/>
              <a:ea typeface="+mn-ea"/>
            </a:endParaRPr>
          </a:p>
          <a:p>
            <a:r>
              <a:rPr lang="zh-CN" altLang="en-US" sz="2400" b="1" dirty="0">
                <a:latin typeface="+mn-ea"/>
                <a:ea typeface="+mn-ea"/>
              </a:rPr>
              <a:t>建立自己的样板图。</a:t>
            </a:r>
            <a:endParaRPr lang="en-US" altLang="zh-CN" sz="2400" b="1" dirty="0">
              <a:latin typeface="+mn-ea"/>
              <a:ea typeface="+mn-ea"/>
            </a:endParaRPr>
          </a:p>
          <a:p>
            <a:r>
              <a:rPr lang="en-US" altLang="zh-CN" sz="2400" b="1" dirty="0">
                <a:latin typeface="+mn-ea"/>
                <a:ea typeface="+mn-ea"/>
              </a:rPr>
              <a:t>                   </a:t>
            </a:r>
            <a:r>
              <a:rPr lang="zh-CN" altLang="en-US" sz="2400" b="1" dirty="0">
                <a:latin typeface="+mn-ea"/>
                <a:ea typeface="+mn-ea"/>
              </a:rPr>
              <a:t>样板图相当于印有图框、标题栏等内容的图纸 </a:t>
            </a:r>
          </a:p>
        </p:txBody>
      </p:sp>
      <p:sp>
        <p:nvSpPr>
          <p:cNvPr id="9" name="矩形 8"/>
          <p:cNvSpPr/>
          <p:nvPr/>
        </p:nvSpPr>
        <p:spPr>
          <a:xfrm>
            <a:off x="1493690" y="3663781"/>
            <a:ext cx="876929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+mn-ea"/>
              </a:rPr>
              <a:t>1. 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设置图层</a:t>
            </a:r>
          </a:p>
          <a:p>
            <a:pPr>
              <a:spcBef>
                <a:spcPts val="0"/>
              </a:spcBef>
              <a:defRPr/>
            </a:pPr>
            <a:r>
              <a:rPr lang="zh-CN" altLang="en-US" sz="2400" dirty="0">
                <a:latin typeface="+mn-ea"/>
              </a:rPr>
              <a:t>   图层</a:t>
            </a:r>
            <a:endParaRPr lang="zh-CN" altLang="en-US" sz="2400" b="1" dirty="0">
              <a:latin typeface="+mn-ea"/>
            </a:endParaRPr>
          </a:p>
        </p:txBody>
      </p:sp>
      <p:sp>
        <p:nvSpPr>
          <p:cNvPr id="2" name="箭头: 右 1">
            <a:extLst>
              <a:ext uri="{FF2B5EF4-FFF2-40B4-BE49-F238E27FC236}">
                <a16:creationId xmlns:a16="http://schemas.microsoft.com/office/drawing/2014/main" id="{E39064BE-0806-4DCD-A732-3495A51B38F5}"/>
              </a:ext>
            </a:extLst>
          </p:cNvPr>
          <p:cNvSpPr/>
          <p:nvPr/>
        </p:nvSpPr>
        <p:spPr>
          <a:xfrm>
            <a:off x="2761959" y="4160925"/>
            <a:ext cx="1440160" cy="250304"/>
          </a:xfrm>
          <a:prstGeom prst="rightArrow">
            <a:avLst>
              <a:gd name="adj1" fmla="val 50000"/>
              <a:gd name="adj2" fmla="val 228574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9ACCD44-BFE5-4EEF-9833-31E213F8CFE8}"/>
              </a:ext>
            </a:extLst>
          </p:cNvPr>
          <p:cNvSpPr/>
          <p:nvPr/>
        </p:nvSpPr>
        <p:spPr>
          <a:xfrm>
            <a:off x="1919536" y="4745215"/>
            <a:ext cx="105403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/>
            </a:pPr>
            <a:r>
              <a:rPr lang="zh-CN" altLang="en-US" sz="2400" b="1" dirty="0">
                <a:latin typeface="+mn-ea"/>
              </a:rPr>
              <a:t>作用：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5DE749B-59E4-4A41-9E5F-B188163CE43E}"/>
              </a:ext>
            </a:extLst>
          </p:cNvPr>
          <p:cNvSpPr/>
          <p:nvPr/>
        </p:nvSpPr>
        <p:spPr>
          <a:xfrm>
            <a:off x="4235803" y="4055244"/>
            <a:ext cx="450475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defRPr/>
            </a:pPr>
            <a:r>
              <a:rPr lang="zh-CN" altLang="en-US" sz="2400" dirty="0">
                <a:latin typeface="+mn-ea"/>
              </a:rPr>
              <a:t>是图形中使用的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主要组织工具</a:t>
            </a:r>
            <a:r>
              <a:rPr lang="zh-CN" altLang="en-US" sz="2400" b="1" dirty="0">
                <a:latin typeface="+mn-ea"/>
              </a:rPr>
              <a:t>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BD6EAE0-FE3A-4BD0-B57F-072C52B05667}"/>
              </a:ext>
            </a:extLst>
          </p:cNvPr>
          <p:cNvSpPr/>
          <p:nvPr/>
        </p:nvSpPr>
        <p:spPr>
          <a:xfrm>
            <a:off x="2972222" y="5255939"/>
            <a:ext cx="770485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+mn-ea"/>
              </a:rPr>
              <a:t>将构造线、文字、标注和标题栏置于不同的图层上，</a:t>
            </a:r>
            <a:endParaRPr lang="en-US" altLang="zh-CN" sz="2400" b="1" dirty="0">
              <a:latin typeface="+mn-ea"/>
            </a:endParaRPr>
          </a:p>
          <a:p>
            <a:r>
              <a:rPr lang="en-US" altLang="zh-CN" sz="2400" b="1" dirty="0">
                <a:latin typeface="+mn-ea"/>
              </a:rPr>
              <a:t>               </a:t>
            </a:r>
            <a:r>
              <a:rPr lang="zh-CN" altLang="en-US" sz="2400" b="1" dirty="0">
                <a:latin typeface="+mn-ea"/>
              </a:rPr>
              <a:t>方便区分和管理。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" grpId="0" animBg="1"/>
      <p:bldP spid="10" grpId="0"/>
      <p:bldP spid="3" grpId="0"/>
      <p:bldP spid="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948" name="Picture 4" descr="14-9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74419" y="1812121"/>
            <a:ext cx="6215062" cy="414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325881" y="1331322"/>
            <a:ext cx="4464057" cy="50004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 algn="l" eaLnBrk="1" hangingPunct="1"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设置符合国标要求的绘图环境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1452556" y="746547"/>
            <a:ext cx="5429262" cy="57148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hangingPunct="0">
              <a:defRPr/>
            </a:pPr>
            <a:r>
              <a:rPr lang="zh-CN" altLang="en-US" sz="2800" b="1" dirty="0">
                <a:latin typeface="+mj-lt"/>
                <a:ea typeface="+mj-ea"/>
                <a:cs typeface="+mj-cs"/>
              </a:rPr>
              <a:t>四、利用</a:t>
            </a:r>
            <a:r>
              <a:rPr lang="en-US" altLang="zh-CN" sz="2800" b="1" dirty="0">
                <a:latin typeface="+mj-lt"/>
                <a:ea typeface="+mj-ea"/>
                <a:cs typeface="+mj-cs"/>
              </a:rPr>
              <a:t>CAD</a:t>
            </a:r>
            <a:r>
              <a:rPr lang="zh-CN" altLang="en-US" sz="2800" b="1" dirty="0">
                <a:latin typeface="+mj-lt"/>
                <a:ea typeface="+mj-ea"/>
                <a:cs typeface="+mj-cs"/>
              </a:rPr>
              <a:t>绘制工程图的技能</a:t>
            </a:r>
          </a:p>
        </p:txBody>
      </p:sp>
      <p:sp>
        <p:nvSpPr>
          <p:cNvPr id="7" name="Text Box 17"/>
          <p:cNvSpPr txBox="1">
            <a:spLocks noChangeArrowheads="1"/>
          </p:cNvSpPr>
          <p:nvPr/>
        </p:nvSpPr>
        <p:spPr bwMode="auto">
          <a:xfrm>
            <a:off x="3809984" y="214291"/>
            <a:ext cx="474186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1" lang="zh-C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制图工具和基本技能</a:t>
            </a:r>
          </a:p>
        </p:txBody>
      </p:sp>
      <p:sp>
        <p:nvSpPr>
          <p:cNvPr id="8" name="矩形 7"/>
          <p:cNvSpPr/>
          <p:nvPr/>
        </p:nvSpPr>
        <p:spPr>
          <a:xfrm>
            <a:off x="1381076" y="1920698"/>
            <a:ext cx="2643206" cy="424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defRPr/>
            </a:pPr>
            <a:r>
              <a:rPr lang="zh-CN" altLang="en-US" sz="2400" dirty="0">
                <a:latin typeface="+mn-ea"/>
              </a:rPr>
              <a:t>命令行：</a:t>
            </a:r>
            <a:r>
              <a:rPr lang="en-US" altLang="zh-CN" sz="2400" dirty="0">
                <a:latin typeface="+mn-ea"/>
              </a:rPr>
              <a:t>LAYER</a:t>
            </a:r>
          </a:p>
        </p:txBody>
      </p:sp>
      <p:sp>
        <p:nvSpPr>
          <p:cNvPr id="9" name="矩形 8"/>
          <p:cNvSpPr/>
          <p:nvPr/>
        </p:nvSpPr>
        <p:spPr>
          <a:xfrm>
            <a:off x="1381076" y="2476101"/>
            <a:ext cx="2643206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defRPr/>
            </a:pP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菜单栏：左键单击“格式”→“图层”</a:t>
            </a:r>
          </a:p>
        </p:txBody>
      </p:sp>
      <p:sp>
        <p:nvSpPr>
          <p:cNvPr id="10" name="矩形 9"/>
          <p:cNvSpPr/>
          <p:nvPr/>
        </p:nvSpPr>
        <p:spPr>
          <a:xfrm>
            <a:off x="1381060" y="3681715"/>
            <a:ext cx="2986748" cy="10895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defRPr/>
            </a:pPr>
            <a:r>
              <a:rPr lang="zh-CN" altLang="en-US" sz="2400" dirty="0">
                <a:latin typeface="+mn-ea"/>
              </a:rPr>
              <a:t>功能区：左键单击“常用”→“图层”→“图层”</a:t>
            </a:r>
          </a:p>
        </p:txBody>
      </p:sp>
      <p:sp>
        <p:nvSpPr>
          <p:cNvPr id="11" name="矩形 10"/>
          <p:cNvSpPr/>
          <p:nvPr/>
        </p:nvSpPr>
        <p:spPr>
          <a:xfrm>
            <a:off x="4184960" y="6076102"/>
            <a:ext cx="6340197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defRPr/>
            </a:pPr>
            <a:r>
              <a:rPr lang="en-US" altLang="zh-CN" sz="2400" dirty="0">
                <a:latin typeface="+mn-ea"/>
              </a:rPr>
              <a:t>AutoCAD</a:t>
            </a:r>
            <a:r>
              <a:rPr lang="zh-CN" altLang="en-US" sz="2400" dirty="0">
                <a:latin typeface="+mn-ea"/>
              </a:rPr>
              <a:t>系统弹出 “图层特性管理器对话框。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437963" y="3393996"/>
            <a:ext cx="7143800" cy="17642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圆角矩形 11"/>
          <p:cNvSpPr/>
          <p:nvPr/>
        </p:nvSpPr>
        <p:spPr>
          <a:xfrm>
            <a:off x="7694590" y="3729494"/>
            <a:ext cx="1000132" cy="35719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7694590" y="4086684"/>
            <a:ext cx="1714512" cy="35719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437963" y="4558900"/>
            <a:ext cx="628650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" name="圆角矩形 14"/>
          <p:cNvSpPr/>
          <p:nvPr/>
        </p:nvSpPr>
        <p:spPr>
          <a:xfrm>
            <a:off x="3473659" y="4988355"/>
            <a:ext cx="500066" cy="21431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圆角矩形 15"/>
          <p:cNvSpPr/>
          <p:nvPr/>
        </p:nvSpPr>
        <p:spPr>
          <a:xfrm>
            <a:off x="7477142" y="5254565"/>
            <a:ext cx="500066" cy="21431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29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29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1" dur="5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500"/>
                            </p:stCondLst>
                            <p:childTnLst>
                              <p:par>
                                <p:cTn id="57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 animBg="1"/>
      <p:bldP spid="12" grpId="1" animBg="1"/>
      <p:bldP spid="13" grpId="0" animBg="1"/>
      <p:bldP spid="13" grpId="1" animBg="1"/>
      <p:bldP spid="15" grpId="0" animBg="1"/>
      <p:bldP spid="1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256028" y="1363976"/>
            <a:ext cx="4464057" cy="50004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>
              <a:defRPr/>
            </a:pPr>
            <a:r>
              <a:rPr lang="zh-CN" alt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设置符合国标要求的绘图环境</a:t>
            </a:r>
            <a:endParaRPr lang="zh-CN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1505242" y="792493"/>
            <a:ext cx="5429262" cy="57148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hangingPunct="0">
              <a:defRPr/>
            </a:pPr>
            <a:r>
              <a:rPr lang="zh-CN" altLang="en-US" sz="2800" b="1" dirty="0">
                <a:latin typeface="+mj-lt"/>
                <a:ea typeface="+mj-ea"/>
                <a:cs typeface="+mj-cs"/>
              </a:rPr>
              <a:t>四、利用</a:t>
            </a:r>
            <a:r>
              <a:rPr lang="en-US" altLang="zh-CN" sz="2800" b="1" dirty="0">
                <a:latin typeface="+mj-lt"/>
                <a:ea typeface="+mj-ea"/>
                <a:cs typeface="+mj-cs"/>
              </a:rPr>
              <a:t>CAD</a:t>
            </a:r>
            <a:r>
              <a:rPr lang="zh-CN" altLang="en-US" sz="2800" b="1" dirty="0">
                <a:latin typeface="+mj-lt"/>
                <a:ea typeface="+mj-ea"/>
                <a:cs typeface="+mj-cs"/>
              </a:rPr>
              <a:t>绘制工程图的技能</a:t>
            </a:r>
          </a:p>
        </p:txBody>
      </p:sp>
      <p:sp>
        <p:nvSpPr>
          <p:cNvPr id="7" name="Text Box 17"/>
          <p:cNvSpPr txBox="1">
            <a:spLocks noChangeArrowheads="1"/>
          </p:cNvSpPr>
          <p:nvPr/>
        </p:nvSpPr>
        <p:spPr bwMode="auto">
          <a:xfrm>
            <a:off x="3809984" y="214291"/>
            <a:ext cx="474186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1" lang="zh-C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制图工具和基本技能</a:t>
            </a:r>
          </a:p>
        </p:txBody>
      </p:sp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1166817" y="4055854"/>
            <a:ext cx="2714649" cy="4619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/>
              <a:t>(2) </a:t>
            </a:r>
            <a:r>
              <a:rPr lang="zh-CN" altLang="en-US" sz="2400" b="1" dirty="0"/>
              <a:t>设置图层线型</a:t>
            </a:r>
          </a:p>
        </p:txBody>
      </p:sp>
      <p:pic>
        <p:nvPicPr>
          <p:cNvPr id="9" name="Picture 4" descr="14-9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67188" y="1857364"/>
            <a:ext cx="6215062" cy="414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1130602" y="1893461"/>
            <a:ext cx="2357454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buFontTx/>
              <a:buNone/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+mn-ea"/>
                <a:ea typeface="+mn-ea"/>
              </a:rPr>
              <a:t>(1) 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创建和命名新图层</a:t>
            </a:r>
          </a:p>
          <a:p>
            <a:pPr eaLnBrk="1" hangingPunct="1">
              <a:buFontTx/>
              <a:buNone/>
              <a:defRPr/>
            </a:pPr>
            <a:r>
              <a:rPr lang="zh-CN" altLang="en-US" sz="2000" b="1" dirty="0">
                <a:latin typeface="+mn-ea"/>
                <a:ea typeface="+mn-ea"/>
              </a:rPr>
              <a:t>    单击新建图层按钮，可设置新图层。图层名用户可以自定义。</a:t>
            </a:r>
          </a:p>
        </p:txBody>
      </p:sp>
      <p:sp>
        <p:nvSpPr>
          <p:cNvPr id="10" name="圆角矩形 9"/>
          <p:cNvSpPr/>
          <p:nvPr/>
        </p:nvSpPr>
        <p:spPr>
          <a:xfrm>
            <a:off x="6068104" y="2258096"/>
            <a:ext cx="500066" cy="21431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5095868" y="3857629"/>
            <a:ext cx="5000660" cy="830997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400" dirty="0">
                <a:latin typeface="+mn-ea"/>
                <a:ea typeface="+mn-ea"/>
              </a:rPr>
              <a:t>   默认线型为</a:t>
            </a:r>
            <a:r>
              <a:rPr lang="en-US" altLang="zh-CN" sz="2400" dirty="0" err="1">
                <a:latin typeface="+mn-ea"/>
                <a:ea typeface="+mn-ea"/>
              </a:rPr>
              <a:t>Contnuous</a:t>
            </a:r>
            <a:r>
              <a:rPr lang="zh-CN" altLang="en-US" sz="2400" dirty="0">
                <a:latin typeface="+mn-ea"/>
                <a:ea typeface="+mn-ea"/>
              </a:rPr>
              <a:t>。绘制的对象不同，线型进行设置便区分。</a:t>
            </a:r>
          </a:p>
        </p:txBody>
      </p:sp>
      <p:sp>
        <p:nvSpPr>
          <p:cNvPr id="11" name="矩形 10"/>
          <p:cNvSpPr/>
          <p:nvPr/>
        </p:nvSpPr>
        <p:spPr>
          <a:xfrm>
            <a:off x="1809720" y="6027004"/>
            <a:ext cx="850112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4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图层列表</a:t>
            </a:r>
            <a:r>
              <a:rPr lang="en-US" altLang="zh-CN" sz="24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:</a:t>
            </a:r>
            <a:r>
              <a:rPr lang="zh-CN" altLang="en-US" sz="24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“线型”列的</a:t>
            </a:r>
            <a:r>
              <a:rPr lang="en-US" altLang="zh-CN" sz="2400" b="1" dirty="0" err="1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Contnuous</a:t>
            </a:r>
            <a:r>
              <a:rPr lang="zh-CN" altLang="en-US" sz="24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，打开“选择线型”对话框</a:t>
            </a:r>
          </a:p>
        </p:txBody>
      </p:sp>
      <p:sp>
        <p:nvSpPr>
          <p:cNvPr id="12" name="圆角矩形 11"/>
          <p:cNvSpPr/>
          <p:nvPr/>
        </p:nvSpPr>
        <p:spPr>
          <a:xfrm>
            <a:off x="8638740" y="2857496"/>
            <a:ext cx="500066" cy="21431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 animBg="1"/>
      <p:bldP spid="17" grpId="0" animBg="1"/>
      <p:bldP spid="11" grpId="0"/>
      <p:bldP spid="1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3" name="Rectangle 5"/>
          <p:cNvSpPr>
            <a:spLocks noChangeArrowheads="1"/>
          </p:cNvSpPr>
          <p:nvPr/>
        </p:nvSpPr>
        <p:spPr bwMode="auto">
          <a:xfrm>
            <a:off x="1304546" y="1828954"/>
            <a:ext cx="2571768" cy="4619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设置图层线型</a:t>
            </a:r>
          </a:p>
        </p:txBody>
      </p:sp>
      <p:pic>
        <p:nvPicPr>
          <p:cNvPr id="89097" name="Picture 9" descr="14-9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81289" y="2381272"/>
            <a:ext cx="6408738" cy="3462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9098" name="AutoShape 10"/>
          <p:cNvSpPr>
            <a:spLocks noChangeArrowheads="1"/>
          </p:cNvSpPr>
          <p:nvPr/>
        </p:nvSpPr>
        <p:spPr bwMode="auto">
          <a:xfrm>
            <a:off x="6464278" y="4892698"/>
            <a:ext cx="1368425" cy="576263"/>
          </a:xfrm>
          <a:prstGeom prst="wedgeRoundRectCallout">
            <a:avLst>
              <a:gd name="adj1" fmla="val 47894"/>
              <a:gd name="adj2" fmla="val -325125"/>
              <a:gd name="adj3" fmla="val 16667"/>
            </a:avLst>
          </a:prstGeom>
          <a:solidFill>
            <a:srgbClr val="FF99CC"/>
          </a:solidFill>
          <a:ln w="9525" algn="ctr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50000"/>
              </a:spcBef>
            </a:pPr>
            <a:r>
              <a:rPr lang="zh-CN" altLang="en-US" sz="2000"/>
              <a:t>单击线型</a:t>
            </a:r>
          </a:p>
        </p:txBody>
      </p:sp>
      <p:pic>
        <p:nvPicPr>
          <p:cNvPr id="89101" name="Picture 13" descr="14-1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09852" y="2381272"/>
            <a:ext cx="6551612" cy="4046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9102" name="AutoShape 14"/>
          <p:cNvSpPr>
            <a:spLocks noChangeArrowheads="1"/>
          </p:cNvSpPr>
          <p:nvPr/>
        </p:nvSpPr>
        <p:spPr bwMode="auto">
          <a:xfrm>
            <a:off x="4167165" y="4238648"/>
            <a:ext cx="1368425" cy="576263"/>
          </a:xfrm>
          <a:prstGeom prst="wedgeRoundRectCallout">
            <a:avLst>
              <a:gd name="adj1" fmla="val 129963"/>
              <a:gd name="adj2" fmla="val 260981"/>
              <a:gd name="adj3" fmla="val 16667"/>
            </a:avLst>
          </a:prstGeom>
          <a:solidFill>
            <a:srgbClr val="FF99CC"/>
          </a:solidFill>
          <a:ln w="9525" algn="ctr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50000"/>
              </a:spcBef>
            </a:pPr>
            <a:r>
              <a:rPr lang="zh-CN" altLang="en-US" sz="2400"/>
              <a:t>单击</a:t>
            </a: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1271464" y="1343083"/>
            <a:ext cx="4464057" cy="50004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设置符合国标要求的绘图环境</a:t>
            </a:r>
          </a:p>
        </p:txBody>
      </p:sp>
      <p:sp>
        <p:nvSpPr>
          <p:cNvPr id="11" name="Rectangle 2"/>
          <p:cNvSpPr txBox="1">
            <a:spLocks noChangeArrowheads="1"/>
          </p:cNvSpPr>
          <p:nvPr/>
        </p:nvSpPr>
        <p:spPr bwMode="auto">
          <a:xfrm>
            <a:off x="1449240" y="771600"/>
            <a:ext cx="5429262" cy="57148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hangingPunct="0">
              <a:defRPr/>
            </a:pPr>
            <a:r>
              <a:rPr lang="zh-CN" altLang="en-US" sz="2800" b="1" dirty="0">
                <a:latin typeface="+mj-lt"/>
                <a:ea typeface="+mj-ea"/>
                <a:cs typeface="+mj-cs"/>
              </a:rPr>
              <a:t>四、利用</a:t>
            </a:r>
            <a:r>
              <a:rPr lang="en-US" altLang="zh-CN" sz="2800" b="1" dirty="0">
                <a:latin typeface="+mj-lt"/>
                <a:ea typeface="+mj-ea"/>
                <a:cs typeface="+mj-cs"/>
              </a:rPr>
              <a:t>CAD</a:t>
            </a:r>
            <a:r>
              <a:rPr lang="zh-CN" altLang="en-US" sz="2800" b="1" dirty="0">
                <a:latin typeface="+mj-lt"/>
                <a:ea typeface="+mj-ea"/>
                <a:cs typeface="+mj-cs"/>
              </a:rPr>
              <a:t>绘制工程图的技能</a:t>
            </a:r>
          </a:p>
        </p:txBody>
      </p:sp>
      <p:sp>
        <p:nvSpPr>
          <p:cNvPr id="12" name="Text Box 17"/>
          <p:cNvSpPr txBox="1">
            <a:spLocks noChangeArrowheads="1"/>
          </p:cNvSpPr>
          <p:nvPr/>
        </p:nvSpPr>
        <p:spPr bwMode="auto">
          <a:xfrm>
            <a:off x="3738546" y="285729"/>
            <a:ext cx="474186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1" lang="zh-C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制图工具和基本技能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90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9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9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9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89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8" grpId="0" animBg="1"/>
      <p:bldP spid="8910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3" name="Picture 4" descr="14-11"/>
          <p:cNvPicPr>
            <a:picLocks noGrp="1" noChangeAspect="1" noChangeArrowheads="1"/>
          </p:cNvPicPr>
          <p:nvPr>
            <p:ph type="body" idx="4294967295"/>
          </p:nvPr>
        </p:nvPicPr>
        <p:blipFill>
          <a:blip r:embed="rId2"/>
          <a:srcRect/>
          <a:stretch>
            <a:fillRect/>
          </a:stretch>
        </p:blipFill>
        <p:spPr>
          <a:xfrm>
            <a:off x="2571664" y="2577926"/>
            <a:ext cx="5651500" cy="3894137"/>
          </a:xfrm>
          <a:prstGeom prst="rect">
            <a:avLst/>
          </a:prstGeom>
          <a:noFill/>
        </p:spPr>
      </p:pic>
      <p:sp>
        <p:nvSpPr>
          <p:cNvPr id="93189" name="Rectangle 5"/>
          <p:cNvSpPr>
            <a:spLocks noChangeArrowheads="1"/>
          </p:cNvSpPr>
          <p:nvPr/>
        </p:nvSpPr>
        <p:spPr bwMode="auto">
          <a:xfrm>
            <a:off x="1940779" y="1894704"/>
            <a:ext cx="7848600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 sz="2400" dirty="0"/>
              <a:t>在对话框中“文件（</a:t>
            </a:r>
            <a:r>
              <a:rPr lang="en-US" altLang="zh-CN" sz="2400" dirty="0"/>
              <a:t>F</a:t>
            </a:r>
            <a:r>
              <a:rPr lang="zh-CN" altLang="en-US" sz="2400" dirty="0"/>
              <a:t>）”一栏选用</a:t>
            </a:r>
            <a:r>
              <a:rPr lang="en-US" altLang="zh-CN" sz="2400" dirty="0"/>
              <a:t>ACADISO.LIN</a:t>
            </a:r>
            <a:r>
              <a:rPr lang="zh-CN" altLang="en-US" sz="2400" dirty="0"/>
              <a:t>文件</a:t>
            </a:r>
          </a:p>
        </p:txBody>
      </p:sp>
      <p:sp>
        <p:nvSpPr>
          <p:cNvPr id="93192" name="Rectangle 8"/>
          <p:cNvSpPr>
            <a:spLocks noChangeArrowheads="1"/>
          </p:cNvSpPr>
          <p:nvPr/>
        </p:nvSpPr>
        <p:spPr bwMode="auto">
          <a:xfrm>
            <a:off x="9170379" y="2415308"/>
            <a:ext cx="2087363" cy="120032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/>
              <a:t>从可用线型列表中选择所需线型</a:t>
            </a:r>
          </a:p>
        </p:txBody>
      </p:sp>
      <p:sp>
        <p:nvSpPr>
          <p:cNvPr id="93193" name="AutoShape 9"/>
          <p:cNvSpPr>
            <a:spLocks noChangeArrowheads="1"/>
          </p:cNvSpPr>
          <p:nvPr/>
        </p:nvSpPr>
        <p:spPr bwMode="auto">
          <a:xfrm rot="20002897">
            <a:off x="6741265" y="3854297"/>
            <a:ext cx="2592388" cy="215900"/>
          </a:xfrm>
          <a:prstGeom prst="leftArrow">
            <a:avLst>
              <a:gd name="adj1" fmla="val 50000"/>
              <a:gd name="adj2" fmla="val 300184"/>
            </a:avLst>
          </a:prstGeom>
          <a:solidFill>
            <a:srgbClr val="FF00FF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3200"/>
          </a:p>
        </p:txBody>
      </p:sp>
      <p:sp>
        <p:nvSpPr>
          <p:cNvPr id="93194" name="AutoShape 10"/>
          <p:cNvSpPr>
            <a:spLocks noChangeArrowheads="1"/>
          </p:cNvSpPr>
          <p:nvPr/>
        </p:nvSpPr>
        <p:spPr bwMode="auto">
          <a:xfrm rot="12246231">
            <a:off x="4562180" y="2127076"/>
            <a:ext cx="254995" cy="1166963"/>
          </a:xfrm>
          <a:prstGeom prst="upArrow">
            <a:avLst>
              <a:gd name="adj1" fmla="val 50000"/>
              <a:gd name="adj2" fmla="val 311538"/>
            </a:avLst>
          </a:prstGeom>
          <a:solidFill>
            <a:srgbClr val="FF00FF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3200"/>
          </a:p>
        </p:txBody>
      </p:sp>
      <p:sp>
        <p:nvSpPr>
          <p:cNvPr id="93195" name="AutoShape 11"/>
          <p:cNvSpPr>
            <a:spLocks noChangeArrowheads="1"/>
          </p:cNvSpPr>
          <p:nvPr/>
        </p:nvSpPr>
        <p:spPr bwMode="auto">
          <a:xfrm flipH="1">
            <a:off x="1847528" y="5085184"/>
            <a:ext cx="865188" cy="503237"/>
          </a:xfrm>
          <a:prstGeom prst="wedgeRoundRectCallout">
            <a:avLst>
              <a:gd name="adj1" fmla="val -198810"/>
              <a:gd name="adj2" fmla="val 172079"/>
              <a:gd name="adj3" fmla="val 16667"/>
            </a:avLst>
          </a:prstGeom>
          <a:solidFill>
            <a:srgbClr val="FF99CC"/>
          </a:solidFill>
          <a:ln w="9525" algn="ctr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50000"/>
              </a:spcBef>
            </a:pPr>
            <a:r>
              <a:rPr lang="zh-CN" altLang="en-US" sz="2400"/>
              <a:t>单击 </a:t>
            </a: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1401022" y="1426211"/>
            <a:ext cx="4464057" cy="50004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设置符合国标要求的绘图环境</a:t>
            </a:r>
          </a:p>
        </p:txBody>
      </p:sp>
      <p:sp>
        <p:nvSpPr>
          <p:cNvPr id="11" name="Rectangle 2"/>
          <p:cNvSpPr txBox="1">
            <a:spLocks noChangeArrowheads="1"/>
          </p:cNvSpPr>
          <p:nvPr/>
        </p:nvSpPr>
        <p:spPr bwMode="auto">
          <a:xfrm>
            <a:off x="1401021" y="783290"/>
            <a:ext cx="5429262" cy="57148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hangingPunct="0">
              <a:defRPr/>
            </a:pPr>
            <a:r>
              <a:rPr lang="zh-CN" altLang="en-US" sz="2800" b="1" dirty="0">
                <a:latin typeface="+mj-lt"/>
                <a:ea typeface="+mj-ea"/>
                <a:cs typeface="+mj-cs"/>
              </a:rPr>
              <a:t>四、利用</a:t>
            </a:r>
            <a:r>
              <a:rPr lang="en-US" altLang="zh-CN" sz="2800" b="1" dirty="0">
                <a:latin typeface="+mj-lt"/>
                <a:ea typeface="+mj-ea"/>
                <a:cs typeface="+mj-cs"/>
              </a:rPr>
              <a:t>CAD</a:t>
            </a:r>
            <a:r>
              <a:rPr lang="zh-CN" altLang="en-US" sz="2800" b="1" dirty="0">
                <a:latin typeface="+mj-lt"/>
                <a:ea typeface="+mj-ea"/>
                <a:cs typeface="+mj-cs"/>
              </a:rPr>
              <a:t>绘制工程图的技能</a:t>
            </a:r>
          </a:p>
        </p:txBody>
      </p:sp>
      <p:sp>
        <p:nvSpPr>
          <p:cNvPr id="12" name="Text Box 17"/>
          <p:cNvSpPr txBox="1">
            <a:spLocks noChangeArrowheads="1"/>
          </p:cNvSpPr>
          <p:nvPr/>
        </p:nvSpPr>
        <p:spPr bwMode="auto">
          <a:xfrm>
            <a:off x="3738546" y="214291"/>
            <a:ext cx="474186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1" lang="zh-C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制图工具和基本技能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5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931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3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3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93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93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92" grpId="0"/>
      <p:bldP spid="93193" grpId="0" animBg="1"/>
      <p:bldP spid="93194" grpId="0" animBg="1"/>
      <p:bldP spid="9319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296191" y="2157403"/>
            <a:ext cx="1671637" cy="202565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 marL="0" eaLnBrk="1" hangingPunct="1">
              <a:spcBef>
                <a:spcPct val="0"/>
              </a:spcBef>
              <a:buNone/>
            </a:pPr>
            <a:r>
              <a:rPr lang="zh-CN" altLang="en-US" sz="2800" dirty="0"/>
              <a:t>线型被加载到“选择线型”对话框中 </a:t>
            </a:r>
          </a:p>
        </p:txBody>
      </p:sp>
      <p:pic>
        <p:nvPicPr>
          <p:cNvPr id="44035" name="Picture 4" descr="14-23-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43300" y="2414589"/>
            <a:ext cx="6624638" cy="408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2885" name="AutoShape 5"/>
          <p:cNvSpPr>
            <a:spLocks noChangeArrowheads="1"/>
          </p:cNvSpPr>
          <p:nvPr/>
        </p:nvSpPr>
        <p:spPr bwMode="auto">
          <a:xfrm flipH="1">
            <a:off x="5199064" y="4502151"/>
            <a:ext cx="2160587" cy="1152525"/>
          </a:xfrm>
          <a:prstGeom prst="wedgeRoundRectCallout">
            <a:avLst>
              <a:gd name="adj1" fmla="val 54259"/>
              <a:gd name="adj2" fmla="val -109644"/>
              <a:gd name="adj3" fmla="val 16667"/>
            </a:avLst>
          </a:prstGeom>
          <a:solidFill>
            <a:srgbClr val="FFFF99"/>
          </a:solidFill>
          <a:ln w="9525" algn="ctr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50000"/>
              </a:spcBef>
            </a:pPr>
            <a:r>
              <a:rPr lang="zh-CN" altLang="en-US" sz="2400"/>
              <a:t>线型被加载到“选择线型”对话框中 </a:t>
            </a:r>
          </a:p>
        </p:txBody>
      </p:sp>
      <p:sp>
        <p:nvSpPr>
          <p:cNvPr id="122886" name="Rectangle 6"/>
          <p:cNvSpPr>
            <a:spLocks noChangeArrowheads="1"/>
          </p:cNvSpPr>
          <p:nvPr/>
        </p:nvSpPr>
        <p:spPr bwMode="auto">
          <a:xfrm>
            <a:off x="4095736" y="1926571"/>
            <a:ext cx="5529078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在已加载的线型库中选择要加载的线型</a:t>
            </a:r>
            <a:r>
              <a:rPr lang="zh-CN" altLang="en-US" sz="2400" dirty="0"/>
              <a:t> </a:t>
            </a:r>
          </a:p>
        </p:txBody>
      </p:sp>
      <p:sp>
        <p:nvSpPr>
          <p:cNvPr id="122887" name="AutoShape 7"/>
          <p:cNvSpPr>
            <a:spLocks noChangeArrowheads="1"/>
          </p:cNvSpPr>
          <p:nvPr/>
        </p:nvSpPr>
        <p:spPr bwMode="auto">
          <a:xfrm flipH="1">
            <a:off x="8612189" y="4502151"/>
            <a:ext cx="1800225" cy="576263"/>
          </a:xfrm>
          <a:prstGeom prst="wedgeRoundRectCallout">
            <a:avLst>
              <a:gd name="adj1" fmla="val 93472"/>
              <a:gd name="adj2" fmla="val 233194"/>
              <a:gd name="adj3" fmla="val 16667"/>
            </a:avLst>
          </a:prstGeom>
          <a:solidFill>
            <a:srgbClr val="CCFFFF"/>
          </a:solidFill>
          <a:ln w="9525" algn="ctr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50000"/>
              </a:spcBef>
            </a:pPr>
            <a:r>
              <a:rPr lang="zh-CN" altLang="en-US" sz="2400"/>
              <a:t>单击“加载” </a:t>
            </a: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1314084" y="1400173"/>
            <a:ext cx="4464057" cy="50004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设置符合国标要求的绘图环境</a:t>
            </a: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1491860" y="828690"/>
            <a:ext cx="5429262" cy="57148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hangingPunct="0">
              <a:defRPr/>
            </a:pPr>
            <a:r>
              <a:rPr lang="zh-CN" altLang="en-US" sz="2800" b="1" dirty="0">
                <a:latin typeface="+mj-lt"/>
                <a:ea typeface="+mj-ea"/>
                <a:cs typeface="+mj-cs"/>
              </a:rPr>
              <a:t>四、利用</a:t>
            </a:r>
            <a:r>
              <a:rPr lang="en-US" altLang="zh-CN" sz="2800" b="1" dirty="0">
                <a:latin typeface="+mj-lt"/>
                <a:ea typeface="+mj-ea"/>
                <a:cs typeface="+mj-cs"/>
              </a:rPr>
              <a:t>CAD</a:t>
            </a:r>
            <a:r>
              <a:rPr lang="zh-CN" altLang="en-US" sz="2800" b="1" dirty="0">
                <a:latin typeface="+mj-lt"/>
                <a:ea typeface="+mj-ea"/>
                <a:cs typeface="+mj-cs"/>
              </a:rPr>
              <a:t>绘制工程图的技能</a:t>
            </a:r>
          </a:p>
        </p:txBody>
      </p:sp>
      <p:sp>
        <p:nvSpPr>
          <p:cNvPr id="11" name="Text Box 17"/>
          <p:cNvSpPr txBox="1">
            <a:spLocks noChangeArrowheads="1"/>
          </p:cNvSpPr>
          <p:nvPr/>
        </p:nvSpPr>
        <p:spPr bwMode="auto">
          <a:xfrm>
            <a:off x="3738546" y="214291"/>
            <a:ext cx="474186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1" lang="zh-C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制图工具和基本技能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2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28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22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85" grpId="0" animBg="1"/>
      <p:bldP spid="12288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392227" y="1893062"/>
            <a:ext cx="6143668" cy="107157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 marL="0" eaLnBrk="1" hangingPunct="1">
              <a:lnSpc>
                <a:spcPct val="90000"/>
              </a:lnSpc>
              <a:spcBef>
                <a:spcPts val="0"/>
              </a:spcBef>
              <a:buNone/>
              <a:defRPr/>
            </a:pPr>
            <a:r>
              <a:rPr lang="en-US" altLang="zh-CN" sz="2400" b="1" dirty="0"/>
              <a:t>(3) </a:t>
            </a:r>
            <a:r>
              <a:rPr lang="zh-CN" altLang="en-US" sz="2400" b="1" dirty="0"/>
              <a:t>设置线宽</a:t>
            </a:r>
          </a:p>
          <a:p>
            <a:pPr marL="0" eaLnBrk="1" hangingPunct="1">
              <a:lnSpc>
                <a:spcPct val="90000"/>
              </a:lnSpc>
              <a:spcBef>
                <a:spcPts val="0"/>
              </a:spcBef>
              <a:buNone/>
              <a:defRPr/>
            </a:pPr>
            <a:r>
              <a:rPr lang="zh-CN" altLang="en-US" sz="2400" dirty="0"/>
              <a:t>在“图层特性管理器”对话框的“线宽”列中单击该图层对应的线宽“</a:t>
            </a:r>
            <a:r>
              <a:rPr lang="en-US" altLang="zh-CN" sz="2400" dirty="0"/>
              <a:t>—</a:t>
            </a:r>
            <a:r>
              <a:rPr lang="zh-CN" altLang="en-US" sz="2400" dirty="0"/>
              <a:t>默认”</a:t>
            </a:r>
          </a:p>
        </p:txBody>
      </p:sp>
      <p:pic>
        <p:nvPicPr>
          <p:cNvPr id="92164" name="Picture 4" descr="14-1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105075" y="3116283"/>
            <a:ext cx="2743200" cy="345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165" name="Picture 5" descr="14-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31616" y="3044052"/>
            <a:ext cx="5940425" cy="3600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168" name="Rectangle 8"/>
          <p:cNvSpPr>
            <a:spLocks noChangeArrowheads="1"/>
          </p:cNvSpPr>
          <p:nvPr/>
        </p:nvSpPr>
        <p:spPr bwMode="auto">
          <a:xfrm>
            <a:off x="7751931" y="2175524"/>
            <a:ext cx="3096344" cy="75713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zh-CN" altLang="en-US" sz="2400" dirty="0"/>
              <a:t>打开“线宽”对话框，选择需要的线宽。 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1381720" y="1399653"/>
            <a:ext cx="4464057" cy="50004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设置符合国标要求的绘图环境</a:t>
            </a: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1559496" y="828170"/>
            <a:ext cx="5429262" cy="57148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hangingPunct="0">
              <a:defRPr/>
            </a:pPr>
            <a:r>
              <a:rPr lang="zh-CN" altLang="en-US" sz="2800" b="1" dirty="0">
                <a:latin typeface="+mj-lt"/>
                <a:ea typeface="+mj-ea"/>
                <a:cs typeface="+mj-cs"/>
              </a:rPr>
              <a:t>四、利用</a:t>
            </a:r>
            <a:r>
              <a:rPr lang="en-US" altLang="zh-CN" sz="2800" b="1" dirty="0">
                <a:latin typeface="+mj-lt"/>
                <a:ea typeface="+mj-ea"/>
                <a:cs typeface="+mj-cs"/>
              </a:rPr>
              <a:t>CAD</a:t>
            </a:r>
            <a:r>
              <a:rPr lang="zh-CN" altLang="en-US" sz="2800" b="1" dirty="0">
                <a:latin typeface="+mj-lt"/>
                <a:ea typeface="+mj-ea"/>
                <a:cs typeface="+mj-cs"/>
              </a:rPr>
              <a:t>绘制工程图的技能</a:t>
            </a:r>
          </a:p>
        </p:txBody>
      </p:sp>
      <p:sp>
        <p:nvSpPr>
          <p:cNvPr id="11" name="Text Box 17"/>
          <p:cNvSpPr txBox="1">
            <a:spLocks noChangeArrowheads="1"/>
          </p:cNvSpPr>
          <p:nvPr/>
        </p:nvSpPr>
        <p:spPr bwMode="auto">
          <a:xfrm>
            <a:off x="3738546" y="285729"/>
            <a:ext cx="474186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1" lang="zh-C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制图工具和基本技能</a:t>
            </a:r>
          </a:p>
        </p:txBody>
      </p:sp>
      <p:sp>
        <p:nvSpPr>
          <p:cNvPr id="12" name="圆角矩形 11"/>
          <p:cNvSpPr/>
          <p:nvPr/>
        </p:nvSpPr>
        <p:spPr>
          <a:xfrm>
            <a:off x="6524628" y="3571876"/>
            <a:ext cx="714380" cy="57150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8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1" dur="500"/>
                                        <p:tgtEl>
                                          <p:spTgt spid="92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92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2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2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uiExpand="1" build="p"/>
      <p:bldP spid="92168" grpId="0" animBg="1"/>
      <p:bldP spid="1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381884" y="1857364"/>
            <a:ext cx="4176684" cy="3357586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 marL="0" eaLnBrk="1" hangingPunct="1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altLang="zh-CN" sz="2400" dirty="0">
                <a:latin typeface="+mn-ea"/>
              </a:rPr>
              <a:t>2.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设置线型比例</a:t>
            </a:r>
          </a:p>
          <a:p>
            <a:pPr marL="0" eaLnBrk="1" hangingPunct="1">
              <a:spcBef>
                <a:spcPts val="0"/>
              </a:spcBef>
              <a:buNone/>
              <a:defRPr/>
            </a:pPr>
            <a:r>
              <a:rPr lang="zh-CN" altLang="en-US" sz="2400" dirty="0">
                <a:latin typeface="+mn-ea"/>
              </a:rPr>
              <a:t>   默认，全局线型和单个线型比例均设置为 </a:t>
            </a:r>
            <a:r>
              <a:rPr lang="en-US" altLang="zh-CN" sz="2400" dirty="0">
                <a:latin typeface="+mn-ea"/>
              </a:rPr>
              <a:t>1.0</a:t>
            </a:r>
            <a:r>
              <a:rPr lang="zh-CN" altLang="en-US" sz="2400" dirty="0">
                <a:latin typeface="+mn-ea"/>
              </a:rPr>
              <a:t>。</a:t>
            </a:r>
            <a:endParaRPr lang="en-US" altLang="zh-CN" sz="2400" dirty="0">
              <a:latin typeface="+mn-ea"/>
            </a:endParaRPr>
          </a:p>
          <a:p>
            <a:pPr marL="0" eaLnBrk="1" hangingPunct="1">
              <a:spcBef>
                <a:spcPts val="0"/>
              </a:spcBef>
              <a:buNone/>
              <a:defRPr/>
            </a:pPr>
            <a:r>
              <a:rPr lang="en-US" altLang="zh-CN" sz="2400" dirty="0">
                <a:latin typeface="+mn-ea"/>
              </a:rPr>
              <a:t>   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比值越小</a:t>
            </a:r>
            <a:r>
              <a:rPr lang="zh-CN" altLang="en-US" sz="2400" dirty="0">
                <a:latin typeface="+mn-ea"/>
              </a:rPr>
              <a:t>，每个绘图单位中生成的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重复图案就越多</a:t>
            </a:r>
            <a:r>
              <a:rPr lang="zh-CN" altLang="en-US" sz="2400" dirty="0">
                <a:latin typeface="+mn-ea"/>
              </a:rPr>
              <a:t>。对于太短，甚至不能显示一个虚线小段的线段，可以使用更小的线型比例。</a:t>
            </a:r>
          </a:p>
        </p:txBody>
      </p:sp>
      <p:pic>
        <p:nvPicPr>
          <p:cNvPr id="91140" name="Picture 4" descr="14-2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66910" y="1857365"/>
            <a:ext cx="5033940" cy="3432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1141" name="AutoShape 5"/>
          <p:cNvSpPr>
            <a:spLocks noChangeArrowheads="1"/>
          </p:cNvSpPr>
          <p:nvPr/>
        </p:nvSpPr>
        <p:spPr bwMode="auto">
          <a:xfrm rot="2157122" flipH="1">
            <a:off x="6981370" y="2888037"/>
            <a:ext cx="136525" cy="1600200"/>
          </a:xfrm>
          <a:prstGeom prst="downArrow">
            <a:avLst>
              <a:gd name="adj1" fmla="val 50000"/>
              <a:gd name="adj2" fmla="val 494612"/>
            </a:avLst>
          </a:prstGeom>
          <a:solidFill>
            <a:srgbClr val="FF00FF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3200"/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343472" y="1336187"/>
            <a:ext cx="4464057" cy="50004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>
              <a:defRPr/>
            </a:pPr>
            <a:r>
              <a:rPr lang="zh-CN" alt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设置符合国标要求的绘图环境</a:t>
            </a:r>
            <a:endParaRPr lang="zh-CN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1521248" y="764704"/>
            <a:ext cx="5429262" cy="57148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hangingPunct="0">
              <a:defRPr/>
            </a:pPr>
            <a:r>
              <a:rPr lang="zh-CN" altLang="en-US" sz="2800" b="1" dirty="0">
                <a:latin typeface="+mj-lt"/>
                <a:ea typeface="+mj-ea"/>
                <a:cs typeface="+mj-cs"/>
              </a:rPr>
              <a:t>四、利用</a:t>
            </a:r>
            <a:r>
              <a:rPr lang="en-US" altLang="zh-CN" sz="2800" b="1" dirty="0">
                <a:latin typeface="+mj-lt"/>
                <a:ea typeface="+mj-ea"/>
                <a:cs typeface="+mj-cs"/>
              </a:rPr>
              <a:t>CAD</a:t>
            </a:r>
            <a:r>
              <a:rPr lang="zh-CN" altLang="en-US" sz="2800" b="1" dirty="0">
                <a:latin typeface="+mj-lt"/>
                <a:ea typeface="+mj-ea"/>
                <a:cs typeface="+mj-cs"/>
              </a:rPr>
              <a:t>绘制工程图的技能</a:t>
            </a:r>
          </a:p>
        </p:txBody>
      </p:sp>
      <p:sp>
        <p:nvSpPr>
          <p:cNvPr id="9" name="Text Box 17"/>
          <p:cNvSpPr txBox="1">
            <a:spLocks noChangeArrowheads="1"/>
          </p:cNvSpPr>
          <p:nvPr/>
        </p:nvSpPr>
        <p:spPr bwMode="auto">
          <a:xfrm>
            <a:off x="3738546" y="285729"/>
            <a:ext cx="474186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1" lang="zh-C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制图工具和基本技能</a:t>
            </a:r>
          </a:p>
        </p:txBody>
      </p:sp>
      <p:sp>
        <p:nvSpPr>
          <p:cNvPr id="10" name="矩形 9"/>
          <p:cNvSpPr/>
          <p:nvPr/>
        </p:nvSpPr>
        <p:spPr>
          <a:xfrm>
            <a:off x="1127448" y="5325015"/>
            <a:ext cx="1021455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buNone/>
            </a:pPr>
            <a:r>
              <a:rPr lang="en-US" altLang="zh-CN" sz="2400" b="1" dirty="0"/>
              <a:t>3. </a:t>
            </a:r>
            <a:r>
              <a:rPr lang="zh-CN" altLang="en-US" sz="2400" b="1" dirty="0"/>
              <a:t>管理图层</a:t>
            </a:r>
          </a:p>
          <a:p>
            <a:pPr eaLnBrk="1" hangingPunct="1">
              <a:buNone/>
            </a:pPr>
            <a:r>
              <a:rPr lang="zh-CN" altLang="en-US" sz="2400" dirty="0"/>
              <a:t>    </a:t>
            </a:r>
            <a:r>
              <a:rPr lang="zh-CN" altLang="en-US" sz="2400" b="1" dirty="0"/>
              <a:t>除了使用“图层特性管理器”对话框创建图层、设置线型和线宽等、颜色外，还可对图层进行重命名、删除、图层的显示等设置和管理。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1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867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91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 uiExpand="1" build="p" animBg="1"/>
      <p:bldP spid="91141" grpId="0" animBg="1"/>
      <p:bldP spid="10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309787" y="1357299"/>
            <a:ext cx="3241673" cy="525443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 algn="l" eaLnBrk="1" hangingPunct="1">
              <a:defRPr/>
            </a:pP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建立样板图</a:t>
            </a:r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952596" y="1911376"/>
            <a:ext cx="8215370" cy="1589063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 eaLnBrk="1" hangingPunct="1">
              <a:defRPr/>
            </a:pPr>
            <a:r>
              <a:rPr lang="zh-CN" altLang="en-US" sz="2400" b="1" dirty="0">
                <a:latin typeface="+mn-ea"/>
              </a:rPr>
              <a:t>在菜单栏，依次单击“文件”→“新建”命令 </a:t>
            </a:r>
          </a:p>
        </p:txBody>
      </p:sp>
      <p:pic>
        <p:nvPicPr>
          <p:cNvPr id="94212" name="Picture 4" descr="14-3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66910" y="2428868"/>
            <a:ext cx="6378218" cy="41434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2309786" y="785816"/>
            <a:ext cx="5429262" cy="57148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hangingPunct="0">
              <a:defRPr/>
            </a:pPr>
            <a:r>
              <a:rPr lang="zh-CN" altLang="en-US" sz="2800" b="1" dirty="0">
                <a:latin typeface="+mj-lt"/>
                <a:ea typeface="+mj-ea"/>
                <a:cs typeface="+mj-cs"/>
              </a:rPr>
              <a:t>四、利用</a:t>
            </a:r>
            <a:r>
              <a:rPr lang="en-US" altLang="zh-CN" sz="2800" b="1" dirty="0">
                <a:latin typeface="+mj-lt"/>
                <a:ea typeface="+mj-ea"/>
                <a:cs typeface="+mj-cs"/>
              </a:rPr>
              <a:t>CAD</a:t>
            </a:r>
            <a:r>
              <a:rPr lang="zh-CN" altLang="en-US" sz="2800" b="1" dirty="0">
                <a:latin typeface="+mj-lt"/>
                <a:ea typeface="+mj-ea"/>
                <a:cs typeface="+mj-cs"/>
              </a:rPr>
              <a:t>绘制工程图的技能</a:t>
            </a:r>
          </a:p>
        </p:txBody>
      </p:sp>
      <p:sp>
        <p:nvSpPr>
          <p:cNvPr id="7" name="Text Box 17"/>
          <p:cNvSpPr txBox="1">
            <a:spLocks noChangeArrowheads="1"/>
          </p:cNvSpPr>
          <p:nvPr/>
        </p:nvSpPr>
        <p:spPr bwMode="auto">
          <a:xfrm>
            <a:off x="3738546" y="285729"/>
            <a:ext cx="474186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1" lang="zh-C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制图工具和基本技能</a:t>
            </a:r>
          </a:p>
        </p:txBody>
      </p:sp>
      <p:sp>
        <p:nvSpPr>
          <p:cNvPr id="8" name="圆角矩形 7"/>
          <p:cNvSpPr/>
          <p:nvPr/>
        </p:nvSpPr>
        <p:spPr>
          <a:xfrm>
            <a:off x="3238480" y="4286256"/>
            <a:ext cx="1714512" cy="21431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8810644" y="2500306"/>
            <a:ext cx="1571636" cy="2677656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sz="2400" b="1" dirty="0">
                <a:latin typeface="+mn-ea"/>
              </a:rPr>
              <a:t>系统弹出 “选择样板”对话框。选文件名为</a:t>
            </a:r>
            <a:r>
              <a:rPr lang="en-US" altLang="zh-CN" sz="2400" b="1" dirty="0" err="1">
                <a:latin typeface="+mn-ea"/>
              </a:rPr>
              <a:t>acadiso</a:t>
            </a:r>
            <a:r>
              <a:rPr lang="zh-CN" altLang="en-US" sz="2400" b="1" dirty="0">
                <a:latin typeface="+mn-ea"/>
              </a:rPr>
              <a:t>的样板打开。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07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42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4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灯片编号占位符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763000" y="6019800"/>
            <a:ext cx="19050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r"/>
            <a:fld id="{12DBF695-3C98-4A1F-8649-29E7942D43AC}" type="slidenum">
              <a:rPr lang="en-US" altLang="zh-CN" sz="1400"/>
              <a:pPr algn="r"/>
              <a:t>35</a:t>
            </a:fld>
            <a:r>
              <a:rPr lang="en-US" altLang="zh-CN" sz="1400"/>
              <a:t>/57</a:t>
            </a:r>
          </a:p>
        </p:txBody>
      </p:sp>
      <p:pic>
        <p:nvPicPr>
          <p:cNvPr id="90117" name="Picture 5" descr="14-2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03388" y="2825774"/>
            <a:ext cx="8820150" cy="3960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2238349" y="1260484"/>
            <a:ext cx="3241673" cy="525443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>
              <a:defRPr/>
            </a:pPr>
            <a:r>
              <a:rPr lang="zh-CN" altLang="en-US" sz="2800" b="1" dirty="0">
                <a:latin typeface="黑体" pitchFamily="49" charset="-122"/>
                <a:ea typeface="黑体" pitchFamily="49" charset="-122"/>
                <a:cs typeface="+mj-cs"/>
              </a:rPr>
              <a:t>建立样板图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2309786" y="785816"/>
            <a:ext cx="5429262" cy="57148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hangingPunct="0">
              <a:defRPr/>
            </a:pPr>
            <a:r>
              <a:rPr lang="zh-CN" altLang="en-US" sz="2800" b="1" dirty="0">
                <a:latin typeface="+mj-lt"/>
                <a:ea typeface="+mj-ea"/>
                <a:cs typeface="+mj-cs"/>
              </a:rPr>
              <a:t>四、利用</a:t>
            </a:r>
            <a:r>
              <a:rPr lang="en-US" altLang="zh-CN" sz="2800" b="1" dirty="0">
                <a:latin typeface="+mj-lt"/>
                <a:ea typeface="+mj-ea"/>
                <a:cs typeface="+mj-cs"/>
              </a:rPr>
              <a:t>CAD</a:t>
            </a:r>
            <a:r>
              <a:rPr lang="zh-CN" altLang="en-US" sz="2800" b="1" dirty="0">
                <a:latin typeface="+mj-lt"/>
                <a:ea typeface="+mj-ea"/>
                <a:cs typeface="+mj-cs"/>
              </a:rPr>
              <a:t>绘制工程图的技能</a:t>
            </a:r>
          </a:p>
        </p:txBody>
      </p:sp>
      <p:sp>
        <p:nvSpPr>
          <p:cNvPr id="7" name="Text Box 17"/>
          <p:cNvSpPr txBox="1">
            <a:spLocks noChangeArrowheads="1"/>
          </p:cNvSpPr>
          <p:nvPr/>
        </p:nvSpPr>
        <p:spPr bwMode="auto">
          <a:xfrm>
            <a:off x="3738546" y="285729"/>
            <a:ext cx="474186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1" lang="zh-C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制图工具和基本技能</a:t>
            </a:r>
          </a:p>
        </p:txBody>
      </p:sp>
      <p:sp>
        <p:nvSpPr>
          <p:cNvPr id="8" name="矩形 7"/>
          <p:cNvSpPr/>
          <p:nvPr/>
        </p:nvSpPr>
        <p:spPr>
          <a:xfrm>
            <a:off x="2024034" y="1714489"/>
            <a:ext cx="828680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2000" b="1" dirty="0">
                <a:latin typeface="+mn-ea"/>
                <a:ea typeface="+mn-ea"/>
              </a:rPr>
              <a:t>(2</a:t>
            </a:r>
            <a:r>
              <a:rPr lang="zh-CN" altLang="en-US" sz="2000" b="1" dirty="0">
                <a:latin typeface="+mn-ea"/>
                <a:ea typeface="+mn-ea"/>
              </a:rPr>
              <a:t>）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  <a:ea typeface="+mn-ea"/>
              </a:rPr>
              <a:t>在菜单栏：单击“格式”→“图层”</a:t>
            </a:r>
            <a:r>
              <a:rPr lang="zh-CN" altLang="en-US" sz="2000" b="1" dirty="0">
                <a:latin typeface="+mn-ea"/>
                <a:ea typeface="+mn-ea"/>
              </a:rPr>
              <a:t>按钮，或在功能区，单击“图层”功能中的按钮，打开图层特性管理器，创建新图层并设置图层，同时注意线型及线宽的设置。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4" dur="500"/>
                                        <p:tgtEl>
                                          <p:spTgt spid="90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1344043" y="1345172"/>
            <a:ext cx="3241673" cy="525443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>
              <a:defRPr/>
            </a:pPr>
            <a:r>
              <a:rPr lang="zh-CN" altLang="en-US" sz="2800" b="1" dirty="0">
                <a:latin typeface="黑体" pitchFamily="49" charset="-122"/>
                <a:ea typeface="黑体" pitchFamily="49" charset="-122"/>
                <a:cs typeface="+mj-cs"/>
              </a:rPr>
              <a:t>建立样板图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1415480" y="870504"/>
            <a:ext cx="5429262" cy="57148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hangingPunct="0">
              <a:defRPr/>
            </a:pPr>
            <a:r>
              <a:rPr lang="zh-CN" altLang="en-US" sz="2800" b="1" dirty="0">
                <a:latin typeface="+mj-lt"/>
                <a:ea typeface="+mj-ea"/>
                <a:cs typeface="+mj-cs"/>
              </a:rPr>
              <a:t>四、利用</a:t>
            </a:r>
            <a:r>
              <a:rPr lang="en-US" altLang="zh-CN" sz="2800" b="1" dirty="0">
                <a:latin typeface="+mj-lt"/>
                <a:ea typeface="+mj-ea"/>
                <a:cs typeface="+mj-cs"/>
              </a:rPr>
              <a:t>CAD</a:t>
            </a:r>
            <a:r>
              <a:rPr lang="zh-CN" altLang="en-US" sz="2800" b="1" dirty="0">
                <a:latin typeface="+mj-lt"/>
                <a:ea typeface="+mj-ea"/>
                <a:cs typeface="+mj-cs"/>
              </a:rPr>
              <a:t>绘制工程图的技能</a:t>
            </a:r>
          </a:p>
        </p:txBody>
      </p:sp>
      <p:sp>
        <p:nvSpPr>
          <p:cNvPr id="8" name="Text Box 17"/>
          <p:cNvSpPr txBox="1">
            <a:spLocks noChangeArrowheads="1"/>
          </p:cNvSpPr>
          <p:nvPr/>
        </p:nvSpPr>
        <p:spPr bwMode="auto">
          <a:xfrm>
            <a:off x="3738546" y="285729"/>
            <a:ext cx="474186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1" lang="zh-C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制图工具和基本技能</a:t>
            </a:r>
          </a:p>
        </p:txBody>
      </p:sp>
      <p:sp>
        <p:nvSpPr>
          <p:cNvPr id="9" name="矩形 8"/>
          <p:cNvSpPr/>
          <p:nvPr/>
        </p:nvSpPr>
        <p:spPr>
          <a:xfrm>
            <a:off x="1055440" y="2092413"/>
            <a:ext cx="764386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09600" indent="-609600">
              <a:buAutoNum type="arabicParenBoth" startAt="3"/>
            </a:pPr>
            <a:r>
              <a:rPr lang="zh-CN" altLang="en-US" sz="2400" b="1" dirty="0"/>
              <a:t>设置线型比例。</a:t>
            </a:r>
            <a:endParaRPr lang="en-US" altLang="zh-CN" sz="2400" b="1" dirty="0"/>
          </a:p>
          <a:p>
            <a:pPr marL="609600" indent="-609600">
              <a:buAutoNum type="arabicParenBoth" startAt="3"/>
            </a:pPr>
            <a:endParaRPr lang="zh-CN" altLang="en-US" sz="2400" b="1" dirty="0"/>
          </a:p>
          <a:p>
            <a:pPr marL="609600" indent="-609600"/>
            <a:r>
              <a:rPr lang="en-US" altLang="zh-CN" sz="2400" b="1" dirty="0"/>
              <a:t>(4</a:t>
            </a:r>
            <a:r>
              <a:rPr lang="zh-CN" altLang="en-US" sz="2400" b="1" dirty="0"/>
              <a:t>）设置绘图单位和比例、画图幅边框。将</a:t>
            </a:r>
            <a:r>
              <a:rPr lang="en-US" altLang="zh-CN" sz="2400" b="1" dirty="0"/>
              <a:t>0</a:t>
            </a:r>
            <a:r>
              <a:rPr lang="zh-CN" altLang="en-US" sz="2400" b="1" dirty="0"/>
              <a:t>层设为当前层。打印时将</a:t>
            </a:r>
            <a:r>
              <a:rPr lang="en-US" altLang="zh-CN" sz="2400" b="1" dirty="0"/>
              <a:t>0</a:t>
            </a:r>
            <a:r>
              <a:rPr lang="zh-CN" altLang="en-US" sz="2400" b="1" dirty="0"/>
              <a:t>层设为“不打印”，即不打印图幅边框。</a:t>
            </a:r>
          </a:p>
        </p:txBody>
      </p:sp>
      <p:sp>
        <p:nvSpPr>
          <p:cNvPr id="10" name="矩形 9"/>
          <p:cNvSpPr/>
          <p:nvPr/>
        </p:nvSpPr>
        <p:spPr>
          <a:xfrm>
            <a:off x="1379476" y="4312499"/>
            <a:ext cx="943304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400" b="1" dirty="0"/>
              <a:t>      在命令行的“命令：”光标后输入</a:t>
            </a:r>
            <a:r>
              <a:rPr lang="en-US" altLang="zh-CN" sz="2400" b="1" dirty="0" err="1"/>
              <a:t>mvsetup</a:t>
            </a:r>
            <a:r>
              <a:rPr lang="zh-CN" altLang="en-US" sz="2400" b="1" dirty="0"/>
              <a:t>命令并按回车键。 </a:t>
            </a:r>
          </a:p>
          <a:p>
            <a:pPr eaLnBrk="1" hangingPunct="1"/>
            <a:r>
              <a:rPr lang="zh-CN" altLang="en-US" sz="2400" b="1" dirty="0"/>
              <a:t>       按命令行窗口提示的信息输入参数 后，绘图窗口中出现一个按所设定的图幅自动绘制的图幅边框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3" name="Picture 4" descr="14-33"/>
          <p:cNvPicPr>
            <a:picLocks noGrp="1" noChangeAspect="1" noChangeArrowheads="1"/>
          </p:cNvPicPr>
          <p:nvPr>
            <p:ph type="body" idx="4294967295"/>
          </p:nvPr>
        </p:nvPicPr>
        <p:blipFill>
          <a:blip r:embed="rId2"/>
          <a:srcRect/>
          <a:stretch>
            <a:fillRect/>
          </a:stretch>
        </p:blipFill>
        <p:spPr>
          <a:xfrm>
            <a:off x="2276478" y="2042406"/>
            <a:ext cx="7820050" cy="4672743"/>
          </a:xfrm>
          <a:prstGeom prst="rect">
            <a:avLst/>
          </a:prstGeom>
          <a:noFill/>
        </p:spPr>
      </p:pic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1416051" y="1345172"/>
            <a:ext cx="3241673" cy="525443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>
              <a:defRPr/>
            </a:pPr>
            <a:r>
              <a:rPr lang="zh-CN" altLang="en-US" sz="2800" b="1" dirty="0">
                <a:latin typeface="黑体" pitchFamily="49" charset="-122"/>
                <a:ea typeface="黑体" pitchFamily="49" charset="-122"/>
                <a:cs typeface="+mj-cs"/>
              </a:rPr>
              <a:t>建立样板图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1487488" y="870504"/>
            <a:ext cx="5429262" cy="57148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hangingPunct="0">
              <a:defRPr/>
            </a:pPr>
            <a:r>
              <a:rPr lang="zh-CN" altLang="en-US" sz="2800" b="1" dirty="0">
                <a:latin typeface="+mj-lt"/>
                <a:ea typeface="+mj-ea"/>
                <a:cs typeface="+mj-cs"/>
              </a:rPr>
              <a:t>四、利用</a:t>
            </a:r>
            <a:r>
              <a:rPr lang="en-US" altLang="zh-CN" sz="2800" b="1" dirty="0">
                <a:latin typeface="+mj-lt"/>
                <a:ea typeface="+mj-ea"/>
                <a:cs typeface="+mj-cs"/>
              </a:rPr>
              <a:t>CAD</a:t>
            </a:r>
            <a:r>
              <a:rPr lang="zh-CN" altLang="en-US" sz="2800" b="1" dirty="0">
                <a:latin typeface="+mj-lt"/>
                <a:ea typeface="+mj-ea"/>
                <a:cs typeface="+mj-cs"/>
              </a:rPr>
              <a:t>绘制工程图的技能</a:t>
            </a:r>
          </a:p>
        </p:txBody>
      </p:sp>
      <p:sp>
        <p:nvSpPr>
          <p:cNvPr id="8" name="Text Box 17"/>
          <p:cNvSpPr txBox="1">
            <a:spLocks noChangeArrowheads="1"/>
          </p:cNvSpPr>
          <p:nvPr/>
        </p:nvSpPr>
        <p:spPr bwMode="auto">
          <a:xfrm>
            <a:off x="3738546" y="285729"/>
            <a:ext cx="474186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1" lang="zh-C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制图工具和基本技能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284" name="Picture 4" descr="14-33-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63552" y="4111615"/>
            <a:ext cx="7561262" cy="927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7285" name="Picture 5" descr="14-33-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63552" y="5297632"/>
            <a:ext cx="7488237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7286" name="Picture 6" descr="14-33-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063552" y="5911053"/>
            <a:ext cx="7488238" cy="322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2238349" y="1260484"/>
            <a:ext cx="3241673" cy="525443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>
              <a:defRPr/>
            </a:pPr>
            <a:r>
              <a:rPr lang="zh-CN" altLang="en-US" sz="2800" b="1" dirty="0">
                <a:latin typeface="黑体" pitchFamily="49" charset="-122"/>
                <a:ea typeface="黑体" pitchFamily="49" charset="-122"/>
                <a:cs typeface="+mj-cs"/>
              </a:rPr>
              <a:t>建立样板图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2309786" y="785816"/>
            <a:ext cx="5429262" cy="57148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hangingPunct="0">
              <a:defRPr/>
            </a:pPr>
            <a:r>
              <a:rPr lang="zh-CN" altLang="en-US" sz="2800" b="1" dirty="0">
                <a:latin typeface="+mj-lt"/>
                <a:ea typeface="+mj-ea"/>
                <a:cs typeface="+mj-cs"/>
              </a:rPr>
              <a:t>四、利用</a:t>
            </a:r>
            <a:r>
              <a:rPr lang="en-US" altLang="zh-CN" sz="2800" b="1" dirty="0">
                <a:latin typeface="+mj-lt"/>
                <a:ea typeface="+mj-ea"/>
                <a:cs typeface="+mj-cs"/>
              </a:rPr>
              <a:t>CAD</a:t>
            </a:r>
            <a:r>
              <a:rPr lang="zh-CN" altLang="en-US" sz="2800" b="1" dirty="0">
                <a:latin typeface="+mj-lt"/>
                <a:ea typeface="+mj-ea"/>
                <a:cs typeface="+mj-cs"/>
              </a:rPr>
              <a:t>绘制工程图的技能</a:t>
            </a:r>
          </a:p>
        </p:txBody>
      </p:sp>
      <p:sp>
        <p:nvSpPr>
          <p:cNvPr id="10" name="Text Box 17"/>
          <p:cNvSpPr txBox="1">
            <a:spLocks noChangeArrowheads="1"/>
          </p:cNvSpPr>
          <p:nvPr/>
        </p:nvSpPr>
        <p:spPr bwMode="auto">
          <a:xfrm>
            <a:off x="3738546" y="285729"/>
            <a:ext cx="474186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1" lang="zh-C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制图工具和基本技能</a:t>
            </a:r>
          </a:p>
        </p:txBody>
      </p:sp>
      <p:sp>
        <p:nvSpPr>
          <p:cNvPr id="11" name="矩形 10"/>
          <p:cNvSpPr/>
          <p:nvPr/>
        </p:nvSpPr>
        <p:spPr>
          <a:xfrm>
            <a:off x="1415480" y="1939260"/>
            <a:ext cx="921702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buNone/>
              <a:defRPr/>
            </a:pPr>
            <a:r>
              <a:rPr lang="en-US" altLang="zh-CN" sz="2400" b="1" dirty="0">
                <a:latin typeface="+mn-ea"/>
              </a:rPr>
              <a:t>(5</a:t>
            </a:r>
            <a:r>
              <a:rPr lang="zh-CN" altLang="en-US" sz="2400" b="1" dirty="0">
                <a:latin typeface="+mn-ea"/>
              </a:rPr>
              <a:t>）用偏移命令</a:t>
            </a:r>
            <a:r>
              <a:rPr lang="en-US" altLang="zh-CN" sz="2400" b="1" dirty="0">
                <a:latin typeface="+mn-ea"/>
              </a:rPr>
              <a:t>Offset</a:t>
            </a:r>
            <a:r>
              <a:rPr lang="zh-CN" altLang="en-US" sz="2400" b="1" dirty="0">
                <a:latin typeface="+mn-ea"/>
              </a:rPr>
              <a:t>画图框。 </a:t>
            </a:r>
          </a:p>
          <a:p>
            <a:pPr eaLnBrk="1" hangingPunct="1">
              <a:buNone/>
              <a:defRPr/>
            </a:pPr>
            <a:r>
              <a:rPr lang="zh-CN" altLang="en-US" sz="2400" dirty="0">
                <a:latin typeface="+mn-ea"/>
              </a:rPr>
              <a:t>    先将粗实线层设为当前层。 </a:t>
            </a:r>
          </a:p>
          <a:p>
            <a:pPr eaLnBrk="1" hangingPunct="1">
              <a:buNone/>
              <a:defRPr/>
            </a:pPr>
            <a:r>
              <a:rPr lang="zh-CN" altLang="en-US" sz="2400" dirty="0">
                <a:latin typeface="+mn-ea"/>
              </a:rPr>
              <a:t>    选择“</a:t>
            </a:r>
            <a:r>
              <a:rPr lang="en-US" altLang="zh-CN" sz="2400" dirty="0">
                <a:latin typeface="+mn-ea"/>
              </a:rPr>
              <a:t>01</a:t>
            </a:r>
            <a:r>
              <a:rPr lang="zh-CN" altLang="en-US" sz="2400" dirty="0">
                <a:latin typeface="+mn-ea"/>
              </a:rPr>
              <a:t>粗实线”图层。并在状态栏打开线宽开关 </a:t>
            </a:r>
          </a:p>
          <a:p>
            <a:pPr eaLnBrk="1" hangingPunct="1">
              <a:buNone/>
              <a:defRPr/>
            </a:pPr>
            <a:r>
              <a:rPr lang="zh-CN" altLang="en-US" sz="2400" dirty="0">
                <a:latin typeface="+mn-ea"/>
              </a:rPr>
              <a:t>    在功能区，单击“修改“工具栏中偏移命令 按命令行窗口提示 输入参数</a:t>
            </a: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>
          <a:xfrm>
            <a:off x="1415481" y="1281087"/>
            <a:ext cx="3241673" cy="525443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>
              <a:defRPr/>
            </a:pPr>
            <a:r>
              <a:rPr lang="zh-CN" altLang="en-US" sz="2800" b="1" dirty="0">
                <a:latin typeface="黑体" pitchFamily="49" charset="-122"/>
                <a:ea typeface="黑体" pitchFamily="49" charset="-122"/>
                <a:cs typeface="+mj-cs"/>
              </a:rPr>
              <a:t>建立样板图</a:t>
            </a: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 bwMode="auto">
          <a:xfrm>
            <a:off x="1486918" y="806419"/>
            <a:ext cx="5429262" cy="57148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hangingPunct="0">
              <a:defRPr/>
            </a:pPr>
            <a:r>
              <a:rPr lang="zh-CN" altLang="en-US" sz="2800" b="1" dirty="0">
                <a:latin typeface="+mj-lt"/>
                <a:ea typeface="+mj-ea"/>
                <a:cs typeface="+mj-cs"/>
              </a:rPr>
              <a:t>四、利用</a:t>
            </a:r>
            <a:r>
              <a:rPr lang="en-US" altLang="zh-CN" sz="2800" b="1" dirty="0">
                <a:latin typeface="+mj-lt"/>
                <a:ea typeface="+mj-ea"/>
                <a:cs typeface="+mj-cs"/>
              </a:rPr>
              <a:t>CAD</a:t>
            </a:r>
            <a:r>
              <a:rPr lang="zh-CN" altLang="en-US" sz="2800" b="1" dirty="0">
                <a:latin typeface="+mj-lt"/>
                <a:ea typeface="+mj-ea"/>
                <a:cs typeface="+mj-cs"/>
              </a:rPr>
              <a:t>绘制工程图的技能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7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7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7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3" name="Picture 4" descr="14-33-4"/>
          <p:cNvPicPr>
            <a:picLocks noGrp="1" noChangeAspect="1" noChangeArrowheads="1"/>
          </p:cNvPicPr>
          <p:nvPr>
            <p:ph type="body" idx="4294967295"/>
          </p:nvPr>
        </p:nvPicPr>
        <p:blipFill>
          <a:blip r:embed="rId2"/>
          <a:srcRect/>
          <a:stretch>
            <a:fillRect/>
          </a:stretch>
        </p:blipFill>
        <p:spPr>
          <a:xfrm>
            <a:off x="2208213" y="620713"/>
            <a:ext cx="7848600" cy="373062"/>
          </a:xfrm>
          <a:prstGeom prst="rect">
            <a:avLst/>
          </a:prstGeom>
          <a:noFill/>
        </p:spPr>
      </p:pic>
      <p:pic>
        <p:nvPicPr>
          <p:cNvPr id="99333" name="Picture 5" descr="14-33-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08214" y="1484313"/>
            <a:ext cx="7273925" cy="3730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9334" name="Rectangle 6"/>
          <p:cNvSpPr>
            <a:spLocks noChangeArrowheads="1"/>
          </p:cNvSpPr>
          <p:nvPr/>
        </p:nvSpPr>
        <p:spPr bwMode="auto">
          <a:xfrm>
            <a:off x="2063750" y="1039813"/>
            <a:ext cx="2952750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 sz="2400"/>
              <a:t>用光标选中边框 </a:t>
            </a:r>
          </a:p>
        </p:txBody>
      </p:sp>
      <p:pic>
        <p:nvPicPr>
          <p:cNvPr id="99335" name="Picture 7" descr="14-3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79650" y="2060576"/>
            <a:ext cx="7200900" cy="433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9337" name="AutoShape 9"/>
          <p:cNvSpPr>
            <a:spLocks noChangeArrowheads="1"/>
          </p:cNvSpPr>
          <p:nvPr/>
        </p:nvSpPr>
        <p:spPr bwMode="auto">
          <a:xfrm rot="2698207">
            <a:off x="6111579" y="3205679"/>
            <a:ext cx="1740969" cy="360362"/>
          </a:xfrm>
          <a:prstGeom prst="rightArrow">
            <a:avLst>
              <a:gd name="adj1" fmla="val 50000"/>
              <a:gd name="adj2" fmla="val 263436"/>
            </a:avLst>
          </a:prstGeom>
          <a:solidFill>
            <a:srgbClr val="FF00FF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3200"/>
          </a:p>
        </p:txBody>
      </p:sp>
      <p:sp>
        <p:nvSpPr>
          <p:cNvPr id="99338" name="Rectangle 10"/>
          <p:cNvSpPr>
            <a:spLocks noChangeArrowheads="1"/>
          </p:cNvSpPr>
          <p:nvPr/>
        </p:nvSpPr>
        <p:spPr bwMode="auto">
          <a:xfrm>
            <a:off x="9880460" y="3686092"/>
            <a:ext cx="1439663" cy="120032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zh-CN" altLang="en-US" sz="2400" dirty="0"/>
              <a:t>十字光标在图框内单击 </a:t>
            </a:r>
          </a:p>
        </p:txBody>
      </p:sp>
      <p:sp>
        <p:nvSpPr>
          <p:cNvPr id="99339" name="AutoShape 11"/>
          <p:cNvSpPr>
            <a:spLocks noChangeArrowheads="1"/>
          </p:cNvSpPr>
          <p:nvPr/>
        </p:nvSpPr>
        <p:spPr bwMode="auto">
          <a:xfrm>
            <a:off x="6096000" y="4286257"/>
            <a:ext cx="3643338" cy="285752"/>
          </a:xfrm>
          <a:prstGeom prst="leftArrow">
            <a:avLst>
              <a:gd name="adj1" fmla="val 50000"/>
              <a:gd name="adj2" fmla="val 173599"/>
            </a:avLst>
          </a:prstGeom>
          <a:solidFill>
            <a:srgbClr val="FF00FF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32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9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5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9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93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9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99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93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93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1000"/>
                                        <p:tgtEl>
                                          <p:spTgt spid="99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34" grpId="0"/>
      <p:bldP spid="99337" grpId="0" animBg="1"/>
      <p:bldP spid="99338" grpId="0"/>
      <p:bldP spid="99339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75" name="Picture 4" descr="14-34"/>
          <p:cNvPicPr>
            <a:picLocks noGrp="1" noChangeAspect="1" noChangeArrowheads="1"/>
          </p:cNvPicPr>
          <p:nvPr>
            <p:ph type="body" idx="4294967295"/>
          </p:nvPr>
        </p:nvPicPr>
        <p:blipFill>
          <a:blip r:embed="rId2"/>
          <a:srcRect/>
          <a:stretch>
            <a:fillRect/>
          </a:stretch>
        </p:blipFill>
        <p:spPr>
          <a:xfrm>
            <a:off x="1775520" y="1927036"/>
            <a:ext cx="9001000" cy="4873445"/>
          </a:xfrm>
          <a:prstGeom prst="rect">
            <a:avLst/>
          </a:prstGeom>
          <a:noFill/>
        </p:spPr>
      </p:pic>
      <p:sp>
        <p:nvSpPr>
          <p:cNvPr id="4" name="Text Box 17"/>
          <p:cNvSpPr txBox="1">
            <a:spLocks noChangeArrowheads="1"/>
          </p:cNvSpPr>
          <p:nvPr/>
        </p:nvSpPr>
        <p:spPr bwMode="auto">
          <a:xfrm>
            <a:off x="3738546" y="285729"/>
            <a:ext cx="474186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1" lang="zh-C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制图工具和基本技能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487488" y="1333431"/>
            <a:ext cx="3241673" cy="525443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>
              <a:defRPr/>
            </a:pPr>
            <a:r>
              <a:rPr lang="zh-CN" altLang="en-US" sz="2800" b="1" dirty="0">
                <a:latin typeface="黑体" pitchFamily="49" charset="-122"/>
                <a:ea typeface="黑体" pitchFamily="49" charset="-122"/>
                <a:cs typeface="+mj-cs"/>
              </a:rPr>
              <a:t>建立样板图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1558925" y="858763"/>
            <a:ext cx="5429262" cy="57148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hangingPunct="0">
              <a:defRPr/>
            </a:pPr>
            <a:r>
              <a:rPr lang="zh-CN" altLang="en-US" sz="2800" b="1" dirty="0">
                <a:latin typeface="+mj-lt"/>
                <a:ea typeface="+mj-ea"/>
                <a:cs typeface="+mj-cs"/>
              </a:rPr>
              <a:t>四、利用</a:t>
            </a:r>
            <a:r>
              <a:rPr lang="en-US" altLang="zh-CN" sz="2800" b="1" dirty="0">
                <a:latin typeface="+mj-lt"/>
                <a:ea typeface="+mj-ea"/>
                <a:cs typeface="+mj-cs"/>
              </a:rPr>
              <a:t>CAD</a:t>
            </a:r>
            <a:r>
              <a:rPr lang="zh-CN" altLang="en-US" sz="2800" b="1" dirty="0">
                <a:latin typeface="+mj-lt"/>
                <a:ea typeface="+mj-ea"/>
                <a:cs typeface="+mj-cs"/>
              </a:rPr>
              <a:t>绘制工程图的技能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2" name="Picture 4" descr="14-32"/>
          <p:cNvPicPr>
            <a:picLocks noGrp="1" noChangeAspect="1" noChangeArrowheads="1"/>
          </p:cNvPicPr>
          <p:nvPr>
            <p:ph type="body" idx="4294967295"/>
          </p:nvPr>
        </p:nvPicPr>
        <p:blipFill>
          <a:blip r:embed="rId2"/>
          <a:srcRect/>
          <a:stretch>
            <a:fillRect/>
          </a:stretch>
        </p:blipFill>
        <p:spPr>
          <a:xfrm>
            <a:off x="3595670" y="1771658"/>
            <a:ext cx="6929487" cy="4943490"/>
          </a:xfrm>
          <a:prstGeom prst="rect">
            <a:avLst/>
          </a:prstGeom>
          <a:noFill/>
        </p:spPr>
      </p:pic>
      <p:sp>
        <p:nvSpPr>
          <p:cNvPr id="4" name="矩形 3"/>
          <p:cNvSpPr/>
          <p:nvPr/>
        </p:nvSpPr>
        <p:spPr>
          <a:xfrm>
            <a:off x="1199456" y="2039021"/>
            <a:ext cx="208823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/>
              <a:t>(6) </a:t>
            </a:r>
            <a:r>
              <a:rPr lang="zh-CN" altLang="en-US" sz="2400" b="1" dirty="0"/>
              <a:t>画标题栏、在标题栏中书写文字 </a:t>
            </a:r>
          </a:p>
        </p:txBody>
      </p:sp>
      <p:sp>
        <p:nvSpPr>
          <p:cNvPr id="5" name="Text Box 17"/>
          <p:cNvSpPr txBox="1">
            <a:spLocks noChangeArrowheads="1"/>
          </p:cNvSpPr>
          <p:nvPr/>
        </p:nvSpPr>
        <p:spPr bwMode="auto">
          <a:xfrm>
            <a:off x="3738546" y="285729"/>
            <a:ext cx="474186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1" lang="zh-C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制图工具和基本技能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1452563" y="1295694"/>
            <a:ext cx="3241673" cy="525443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>
              <a:defRPr/>
            </a:pPr>
            <a:r>
              <a:rPr lang="zh-CN" altLang="en-US" sz="2800" b="1" dirty="0">
                <a:latin typeface="黑体" pitchFamily="49" charset="-122"/>
                <a:ea typeface="黑体" pitchFamily="49" charset="-122"/>
                <a:cs typeface="+mj-cs"/>
              </a:rPr>
              <a:t>建立样板图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1524000" y="821026"/>
            <a:ext cx="5429262" cy="57148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hangingPunct="0">
              <a:defRPr/>
            </a:pPr>
            <a:r>
              <a:rPr lang="zh-CN" altLang="en-US" sz="2800" b="1" dirty="0">
                <a:latin typeface="+mj-lt"/>
                <a:ea typeface="+mj-ea"/>
                <a:cs typeface="+mj-cs"/>
              </a:rPr>
              <a:t>四、利用</a:t>
            </a:r>
            <a:r>
              <a:rPr lang="en-US" altLang="zh-CN" sz="2800" b="1" dirty="0">
                <a:latin typeface="+mj-lt"/>
                <a:ea typeface="+mj-ea"/>
                <a:cs typeface="+mj-cs"/>
              </a:rPr>
              <a:t>CAD</a:t>
            </a:r>
            <a:r>
              <a:rPr lang="zh-CN" altLang="en-US" sz="2800" b="1" dirty="0">
                <a:latin typeface="+mj-lt"/>
                <a:ea typeface="+mj-ea"/>
                <a:cs typeface="+mj-cs"/>
              </a:rPr>
              <a:t>绘制工程图的技能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37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366826" y="1415608"/>
            <a:ext cx="6029325" cy="500066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 algn="l" eaLnBrk="1" hangingPunct="1"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在样板图中使用文字和表格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1438263" y="772667"/>
            <a:ext cx="5429262" cy="57148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hangingPunct="0">
              <a:defRPr/>
            </a:pPr>
            <a:r>
              <a:rPr lang="zh-CN" altLang="en-US" sz="2800" b="1" dirty="0">
                <a:latin typeface="+mj-lt"/>
                <a:ea typeface="+mj-ea"/>
                <a:cs typeface="+mj-cs"/>
              </a:rPr>
              <a:t>四、利用</a:t>
            </a:r>
            <a:r>
              <a:rPr lang="en-US" altLang="zh-CN" sz="2800" b="1" dirty="0">
                <a:latin typeface="+mj-lt"/>
                <a:ea typeface="+mj-ea"/>
                <a:cs typeface="+mj-cs"/>
              </a:rPr>
              <a:t>CAD</a:t>
            </a:r>
            <a:r>
              <a:rPr lang="zh-CN" altLang="en-US" sz="2800" b="1" dirty="0">
                <a:latin typeface="+mj-lt"/>
                <a:ea typeface="+mj-ea"/>
                <a:cs typeface="+mj-cs"/>
              </a:rPr>
              <a:t>绘制工程图的技能</a:t>
            </a:r>
          </a:p>
        </p:txBody>
      </p:sp>
      <p:sp>
        <p:nvSpPr>
          <p:cNvPr id="6" name="Text Box 17"/>
          <p:cNvSpPr txBox="1">
            <a:spLocks noChangeArrowheads="1"/>
          </p:cNvSpPr>
          <p:nvPr/>
        </p:nvSpPr>
        <p:spPr bwMode="auto">
          <a:xfrm>
            <a:off x="3738546" y="285708"/>
            <a:ext cx="474186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1" lang="zh-C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制图工具和基本技能</a:t>
            </a:r>
          </a:p>
        </p:txBody>
      </p:sp>
      <p:sp>
        <p:nvSpPr>
          <p:cNvPr id="7" name="矩形 6"/>
          <p:cNvSpPr/>
          <p:nvPr/>
        </p:nvSpPr>
        <p:spPr>
          <a:xfrm>
            <a:off x="1366826" y="1851716"/>
            <a:ext cx="984174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altLang="zh-CN" sz="2400" b="1" dirty="0">
                <a:latin typeface="+mn-ea"/>
              </a:rPr>
              <a:t>1. </a:t>
            </a:r>
            <a:r>
              <a:rPr lang="zh-CN" altLang="en-US" sz="2400" b="1" dirty="0">
                <a:latin typeface="+mn-ea"/>
              </a:rPr>
              <a:t>设置文字样式   </a:t>
            </a:r>
            <a:r>
              <a:rPr lang="zh-CN" altLang="en-US" sz="2000" dirty="0">
                <a:latin typeface="+mn-ea"/>
              </a:rPr>
              <a:t>在</a:t>
            </a:r>
            <a:r>
              <a:rPr lang="en-US" altLang="zh-CN" sz="2000" dirty="0">
                <a:latin typeface="+mn-ea"/>
              </a:rPr>
              <a:t>AutoCAD</a:t>
            </a:r>
            <a:r>
              <a:rPr lang="zh-CN" altLang="en-US" sz="2000" dirty="0">
                <a:latin typeface="+mn-ea"/>
              </a:rPr>
              <a:t>中，所有文字都与文字样式相关联。如文字注释和尺寸标注时，通常使用当前的文字样式，文字样式包括“字体”、“字型”、“高度”、等参数。</a:t>
            </a:r>
          </a:p>
        </p:txBody>
      </p:sp>
      <p:sp>
        <p:nvSpPr>
          <p:cNvPr id="8" name="矩形 7"/>
          <p:cNvSpPr/>
          <p:nvPr/>
        </p:nvSpPr>
        <p:spPr>
          <a:xfrm>
            <a:off x="1391651" y="3012231"/>
            <a:ext cx="250033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sz="2400" b="1" dirty="0">
                <a:latin typeface="+mn-ea"/>
              </a:rPr>
              <a:t>菜单栏：单击“格式”→“文字样式”</a:t>
            </a:r>
          </a:p>
        </p:txBody>
      </p:sp>
      <p:pic>
        <p:nvPicPr>
          <p:cNvPr id="9" name="Picture 4" descr="14-3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143094" y="2650941"/>
            <a:ext cx="6345394" cy="3878852"/>
          </a:xfrm>
          <a:prstGeom prst="rect">
            <a:avLst/>
          </a:prstGeom>
          <a:noFill/>
        </p:spPr>
      </p:pic>
      <p:sp>
        <p:nvSpPr>
          <p:cNvPr id="10" name="矩形 9"/>
          <p:cNvSpPr/>
          <p:nvPr/>
        </p:nvSpPr>
        <p:spPr>
          <a:xfrm>
            <a:off x="1366826" y="4347965"/>
            <a:ext cx="250033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sz="2400" b="1" dirty="0">
                <a:latin typeface="+mn-ea"/>
              </a:rPr>
              <a:t>系统弹出“文字样式”对话框。</a:t>
            </a:r>
          </a:p>
        </p:txBody>
      </p:sp>
      <p:sp>
        <p:nvSpPr>
          <p:cNvPr id="11" name="矩形 10"/>
          <p:cNvSpPr/>
          <p:nvPr/>
        </p:nvSpPr>
        <p:spPr>
          <a:xfrm>
            <a:off x="1366825" y="5517232"/>
            <a:ext cx="282295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+mn-ea"/>
              </a:rPr>
              <a:t>执行对话框可以完成相关操作 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7" name="Picture 4" descr="14-36"/>
          <p:cNvPicPr>
            <a:picLocks noGrp="1" noChangeAspect="1" noChangeArrowheads="1"/>
          </p:cNvPicPr>
          <p:nvPr>
            <p:ph type="body" idx="4294967295"/>
          </p:nvPr>
        </p:nvPicPr>
        <p:blipFill>
          <a:blip r:embed="rId2"/>
          <a:srcRect/>
          <a:stretch>
            <a:fillRect/>
          </a:stretch>
        </p:blipFill>
        <p:spPr>
          <a:xfrm>
            <a:off x="1723769" y="1985726"/>
            <a:ext cx="6048375" cy="3697288"/>
          </a:xfrm>
          <a:prstGeom prst="rect">
            <a:avLst/>
          </a:prstGeom>
          <a:noFill/>
        </p:spPr>
      </p:pic>
      <p:sp>
        <p:nvSpPr>
          <p:cNvPr id="104453" name="AutoShape 5"/>
          <p:cNvSpPr>
            <a:spLocks noChangeArrowheads="1"/>
          </p:cNvSpPr>
          <p:nvPr/>
        </p:nvSpPr>
        <p:spPr bwMode="auto">
          <a:xfrm>
            <a:off x="7605728" y="3052762"/>
            <a:ext cx="704850" cy="161925"/>
          </a:xfrm>
          <a:prstGeom prst="leftArrow">
            <a:avLst>
              <a:gd name="adj1" fmla="val 50000"/>
              <a:gd name="adj2" fmla="val 131616"/>
            </a:avLst>
          </a:prstGeom>
          <a:solidFill>
            <a:srgbClr val="FF00FF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3200"/>
          </a:p>
        </p:txBody>
      </p:sp>
      <p:sp>
        <p:nvSpPr>
          <p:cNvPr id="104454" name="Rectangle 6"/>
          <p:cNvSpPr>
            <a:spLocks noChangeArrowheads="1"/>
          </p:cNvSpPr>
          <p:nvPr/>
        </p:nvSpPr>
        <p:spPr bwMode="auto">
          <a:xfrm>
            <a:off x="7810512" y="1928803"/>
            <a:ext cx="2571768" cy="120032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zh-CN" altLang="en-US" sz="2400" dirty="0"/>
              <a:t>单击“文字样式”对话框中的“新建”按钮 </a:t>
            </a:r>
          </a:p>
        </p:txBody>
      </p:sp>
      <p:sp>
        <p:nvSpPr>
          <p:cNvPr id="104455" name="Rectangle 7"/>
          <p:cNvSpPr>
            <a:spLocks noChangeArrowheads="1"/>
          </p:cNvSpPr>
          <p:nvPr/>
        </p:nvSpPr>
        <p:spPr bwMode="auto">
          <a:xfrm>
            <a:off x="7751764" y="3321056"/>
            <a:ext cx="2701955" cy="83099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zh-CN" altLang="en-US" sz="2400" dirty="0"/>
              <a:t>系统出现“新建文字样式”对话框 </a:t>
            </a:r>
          </a:p>
        </p:txBody>
      </p:sp>
      <p:pic>
        <p:nvPicPr>
          <p:cNvPr id="104456" name="Picture 8" descr="14-3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708806" y="5214950"/>
            <a:ext cx="3744912" cy="1319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4457" name="AutoShape 9"/>
          <p:cNvSpPr>
            <a:spLocks noChangeArrowheads="1"/>
          </p:cNvSpPr>
          <p:nvPr/>
        </p:nvSpPr>
        <p:spPr bwMode="auto">
          <a:xfrm>
            <a:off x="8810645" y="4143380"/>
            <a:ext cx="285752" cy="1071570"/>
          </a:xfrm>
          <a:prstGeom prst="downArrow">
            <a:avLst>
              <a:gd name="adj1" fmla="val 50000"/>
              <a:gd name="adj2" fmla="val 106492"/>
            </a:avLst>
          </a:prstGeom>
          <a:solidFill>
            <a:srgbClr val="FF00FF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3200"/>
          </a:p>
        </p:txBody>
      </p:sp>
      <p:sp>
        <p:nvSpPr>
          <p:cNvPr id="104458" name="Rectangle 10"/>
          <p:cNvSpPr>
            <a:spLocks noChangeArrowheads="1"/>
          </p:cNvSpPr>
          <p:nvPr/>
        </p:nvSpPr>
        <p:spPr bwMode="auto">
          <a:xfrm>
            <a:off x="1738282" y="5812714"/>
            <a:ext cx="4714908" cy="83099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zh-CN" altLang="en-US" sz="2400" dirty="0"/>
              <a:t>在“样式名：”框中输入新名称，如：“汉字”，单击“确定”。 </a:t>
            </a:r>
          </a:p>
        </p:txBody>
      </p:sp>
      <p:sp>
        <p:nvSpPr>
          <p:cNvPr id="104461" name="AutoShape 13"/>
          <p:cNvSpPr>
            <a:spLocks noChangeArrowheads="1"/>
          </p:cNvSpPr>
          <p:nvPr/>
        </p:nvSpPr>
        <p:spPr bwMode="auto">
          <a:xfrm rot="20185101">
            <a:off x="6375456" y="6005475"/>
            <a:ext cx="1511376" cy="284009"/>
          </a:xfrm>
          <a:prstGeom prst="rightArrow">
            <a:avLst>
              <a:gd name="adj1" fmla="val 50000"/>
              <a:gd name="adj2" fmla="val 153663"/>
            </a:avLst>
          </a:prstGeom>
          <a:solidFill>
            <a:srgbClr val="FF00FF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3200"/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1366826" y="1416125"/>
            <a:ext cx="6029325" cy="500066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在样板图中使用文字和表格</a:t>
            </a:r>
          </a:p>
        </p:txBody>
      </p:sp>
      <p:sp>
        <p:nvSpPr>
          <p:cNvPr id="11" name="Rectangle 2"/>
          <p:cNvSpPr txBox="1">
            <a:spLocks noChangeArrowheads="1"/>
          </p:cNvSpPr>
          <p:nvPr/>
        </p:nvSpPr>
        <p:spPr bwMode="auto">
          <a:xfrm>
            <a:off x="1438263" y="773184"/>
            <a:ext cx="5429262" cy="57148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hangingPunct="0">
              <a:defRPr/>
            </a:pPr>
            <a:r>
              <a:rPr lang="zh-CN" altLang="en-US" sz="2800" b="1" dirty="0">
                <a:latin typeface="+mj-lt"/>
                <a:ea typeface="+mj-ea"/>
                <a:cs typeface="+mj-cs"/>
              </a:rPr>
              <a:t>四、利用</a:t>
            </a:r>
            <a:r>
              <a:rPr lang="en-US" altLang="zh-CN" sz="2800" b="1" dirty="0">
                <a:latin typeface="+mj-lt"/>
                <a:ea typeface="+mj-ea"/>
                <a:cs typeface="+mj-cs"/>
              </a:rPr>
              <a:t>CAD</a:t>
            </a:r>
            <a:r>
              <a:rPr lang="zh-CN" altLang="en-US" sz="2800" b="1" dirty="0">
                <a:latin typeface="+mj-lt"/>
                <a:ea typeface="+mj-ea"/>
                <a:cs typeface="+mj-cs"/>
              </a:rPr>
              <a:t>绘制工程图的技能</a:t>
            </a:r>
          </a:p>
        </p:txBody>
      </p:sp>
      <p:sp>
        <p:nvSpPr>
          <p:cNvPr id="12" name="Text Box 17"/>
          <p:cNvSpPr txBox="1">
            <a:spLocks noChangeArrowheads="1"/>
          </p:cNvSpPr>
          <p:nvPr/>
        </p:nvSpPr>
        <p:spPr bwMode="auto">
          <a:xfrm>
            <a:off x="3738546" y="285708"/>
            <a:ext cx="474186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1" lang="zh-C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制图工具和基本技能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04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104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04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44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44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04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04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04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53" grpId="0" animBg="1"/>
      <p:bldP spid="104454" grpId="0"/>
      <p:bldP spid="104455" grpId="0"/>
      <p:bldP spid="104457" grpId="0" animBg="1"/>
      <p:bldP spid="104458" grpId="0"/>
      <p:bldP spid="104461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4" name="Picture 4" descr="14-38"/>
          <p:cNvPicPr>
            <a:picLocks noGrp="1" noChangeAspect="1" noChangeArrowheads="1"/>
          </p:cNvPicPr>
          <p:nvPr>
            <p:ph type="body" idx="4294967295"/>
          </p:nvPr>
        </p:nvPicPr>
        <p:blipFill>
          <a:blip r:embed="rId2"/>
          <a:srcRect/>
          <a:stretch>
            <a:fillRect/>
          </a:stretch>
        </p:blipFill>
        <p:spPr>
          <a:xfrm>
            <a:off x="1703388" y="2514625"/>
            <a:ext cx="8640762" cy="3195637"/>
          </a:xfrm>
          <a:prstGeom prst="rect">
            <a:avLst/>
          </a:prstGeom>
          <a:noFill/>
        </p:spPr>
      </p:pic>
      <p:sp>
        <p:nvSpPr>
          <p:cNvPr id="103429" name="Rectangle 5"/>
          <p:cNvSpPr>
            <a:spLocks noChangeArrowheads="1"/>
          </p:cNvSpPr>
          <p:nvPr/>
        </p:nvSpPr>
        <p:spPr bwMode="auto">
          <a:xfrm>
            <a:off x="2135560" y="1890232"/>
            <a:ext cx="5673725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 sz="2400" dirty="0"/>
              <a:t>菜单栏：依次单击 “视图” →“文字”</a:t>
            </a:r>
          </a:p>
        </p:txBody>
      </p:sp>
      <p:sp>
        <p:nvSpPr>
          <p:cNvPr id="103430" name="Rectangle 6"/>
          <p:cNvSpPr>
            <a:spLocks noChangeArrowheads="1"/>
          </p:cNvSpPr>
          <p:nvPr/>
        </p:nvSpPr>
        <p:spPr bwMode="auto">
          <a:xfrm>
            <a:off x="1128526" y="5845823"/>
            <a:ext cx="9649196" cy="83099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zh-CN" altLang="en-US" sz="2400" dirty="0"/>
              <a:t>       在绘图窗口中指定一个放多行文字的区域，系统出现“文字编辑器”工具栏和文字输入窗口，在该窗口中完成文字的书写和编辑 </a:t>
            </a:r>
          </a:p>
        </p:txBody>
      </p:sp>
      <p:sp>
        <p:nvSpPr>
          <p:cNvPr id="103431" name="AutoShape 7"/>
          <p:cNvSpPr>
            <a:spLocks noChangeArrowheads="1"/>
          </p:cNvSpPr>
          <p:nvPr/>
        </p:nvSpPr>
        <p:spPr bwMode="auto">
          <a:xfrm rot="17773621">
            <a:off x="6583058" y="3793528"/>
            <a:ext cx="412750" cy="1661234"/>
          </a:xfrm>
          <a:prstGeom prst="upArrow">
            <a:avLst>
              <a:gd name="adj1" fmla="val 50000"/>
              <a:gd name="adj2" fmla="val 200673"/>
            </a:avLst>
          </a:prstGeom>
          <a:solidFill>
            <a:srgbClr val="FF00FF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3200"/>
          </a:p>
        </p:txBody>
      </p:sp>
      <p:sp>
        <p:nvSpPr>
          <p:cNvPr id="8" name="矩形 7"/>
          <p:cNvSpPr/>
          <p:nvPr/>
        </p:nvSpPr>
        <p:spPr>
          <a:xfrm>
            <a:off x="1416051" y="1324754"/>
            <a:ext cx="16273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书写文字</a:t>
            </a:r>
            <a:endParaRPr lang="zh-CN" altLang="en-US" sz="280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1487488" y="824710"/>
            <a:ext cx="5429262" cy="57148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hangingPunct="0">
              <a:defRPr/>
            </a:pPr>
            <a:r>
              <a:rPr lang="zh-CN" altLang="en-US" sz="2800" b="1" dirty="0">
                <a:latin typeface="+mj-lt"/>
                <a:ea typeface="+mj-ea"/>
                <a:cs typeface="+mj-cs"/>
              </a:rPr>
              <a:t>四、利用</a:t>
            </a:r>
            <a:r>
              <a:rPr lang="en-US" altLang="zh-CN" sz="2800" b="1" dirty="0">
                <a:latin typeface="+mj-lt"/>
                <a:ea typeface="+mj-ea"/>
                <a:cs typeface="+mj-cs"/>
              </a:rPr>
              <a:t>CAD</a:t>
            </a:r>
            <a:r>
              <a:rPr lang="zh-CN" altLang="en-US" sz="2800" b="1" dirty="0">
                <a:latin typeface="+mj-lt"/>
                <a:ea typeface="+mj-ea"/>
                <a:cs typeface="+mj-cs"/>
              </a:rPr>
              <a:t>绘制工程图的技能</a:t>
            </a:r>
          </a:p>
        </p:txBody>
      </p:sp>
      <p:sp>
        <p:nvSpPr>
          <p:cNvPr id="10" name="Text Box 17"/>
          <p:cNvSpPr txBox="1">
            <a:spLocks noChangeArrowheads="1"/>
          </p:cNvSpPr>
          <p:nvPr/>
        </p:nvSpPr>
        <p:spPr bwMode="auto">
          <a:xfrm>
            <a:off x="3738546" y="285729"/>
            <a:ext cx="474186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1" lang="zh-C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制图工具和基本技能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3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0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3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3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29" grpId="0"/>
      <p:bldP spid="103430" grpId="0"/>
      <p:bldP spid="103431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CORM_RATE_SLIDES" val="0"/>
  <p:tag name="ISPRING_SCORM_RATE_QUIZZES" val="0"/>
  <p:tag name="ISPRING_SCORM_PASSING_SCORE" val="0.0000000000"/>
  <p:tag name="ISPRING_RESOURCE_PATHS_HASH_2" val="d5f4306fe3cac84bc26f08efa7c2a468b6af47b"/>
</p:tagLst>
</file>

<file path=ppt/theme/theme1.xml><?xml version="1.0" encoding="utf-8"?>
<a:theme xmlns:a="http://schemas.openxmlformats.org/drawingml/2006/main" name="1_Office 主题">
  <a:themeElements>
    <a:clrScheme name="流畅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1295</TotalTime>
  <Words>2520</Words>
  <Application>Microsoft Office PowerPoint</Application>
  <PresentationFormat>宽屏</PresentationFormat>
  <Paragraphs>292</Paragraphs>
  <Slides>44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51" baseType="lpstr">
      <vt:lpstr>黑体</vt:lpstr>
      <vt:lpstr>华文行楷</vt:lpstr>
      <vt:lpstr>宋体</vt:lpstr>
      <vt:lpstr>Arial</vt:lpstr>
      <vt:lpstr>Calibri</vt:lpstr>
      <vt:lpstr>Times New Roman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启动AutoCAD命令的方法 </vt:lpstr>
      <vt:lpstr>PowerPoint 演示文稿</vt:lpstr>
      <vt:lpstr>图形文件管理</vt:lpstr>
      <vt:lpstr>PowerPoint 演示文稿</vt:lpstr>
      <vt:lpstr>PowerPoint 演示文稿</vt:lpstr>
      <vt:lpstr>1. 设置绘图初始环境</vt:lpstr>
      <vt:lpstr>PowerPoint 演示文稿</vt:lpstr>
      <vt:lpstr>PowerPoint 演示文稿</vt:lpstr>
      <vt:lpstr>PowerPoint 演示文稿</vt:lpstr>
      <vt:lpstr>选择与编辑图形</vt:lpstr>
      <vt:lpstr>2.编辑图形 命令菜单</vt:lpstr>
      <vt:lpstr>精确绘图工具</vt:lpstr>
      <vt:lpstr>极轴追踪</vt:lpstr>
      <vt:lpstr>极轴追踪</vt:lpstr>
      <vt:lpstr>PowerPoint 演示文稿</vt:lpstr>
      <vt:lpstr>PowerPoint 演示文稿</vt:lpstr>
      <vt:lpstr>设置符合国标要求的CAD绘图环境</vt:lpstr>
      <vt:lpstr>设置符合国标要求的绘图环境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建立样板图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在样板图中使用文字和表格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第2章 制图的基本技能</dc:title>
  <dc:creator>穆浩志</dc:creator>
  <cp:keywords>天津理工大学</cp:keywords>
  <cp:lastModifiedBy>Lenovo</cp:lastModifiedBy>
  <cp:revision>106</cp:revision>
  <dcterms:created xsi:type="dcterms:W3CDTF">2014-03-20T09:34:50Z</dcterms:created>
  <dcterms:modified xsi:type="dcterms:W3CDTF">2021-09-27T00:53:21Z</dcterms:modified>
</cp:coreProperties>
</file>
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24"/>
  </p:notesMasterIdLst>
  <p:sldIdLst>
    <p:sldId id="578" r:id="rId2"/>
    <p:sldId id="579" r:id="rId3"/>
    <p:sldId id="580" r:id="rId4"/>
    <p:sldId id="588" r:id="rId5"/>
    <p:sldId id="597" r:id="rId6"/>
    <p:sldId id="596" r:id="rId7"/>
    <p:sldId id="595" r:id="rId8"/>
    <p:sldId id="598" r:id="rId9"/>
    <p:sldId id="614" r:id="rId10"/>
    <p:sldId id="592" r:id="rId11"/>
    <p:sldId id="600" r:id="rId12"/>
    <p:sldId id="601" r:id="rId13"/>
    <p:sldId id="606" r:id="rId14"/>
    <p:sldId id="602" r:id="rId15"/>
    <p:sldId id="616" r:id="rId16"/>
    <p:sldId id="603" r:id="rId17"/>
    <p:sldId id="608" r:id="rId18"/>
    <p:sldId id="610" r:id="rId19"/>
    <p:sldId id="617" r:id="rId20"/>
    <p:sldId id="611" r:id="rId21"/>
    <p:sldId id="613" r:id="rId22"/>
    <p:sldId id="612" r:id="rId23"/>
  </p:sldIdLst>
  <p:sldSz cx="12192000" cy="6858000"/>
  <p:notesSz cx="6858000" cy="9144000"/>
  <p:custDataLst>
    <p:tags r:id="rId2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modifyVerifier cryptProviderType="rsaFull" cryptAlgorithmClass="hash" cryptAlgorithmType="typeAny" cryptAlgorithmSid="4" spinCount="50000" saltData="QGbP9IQxNFE7RiHzo0SiCw==" hashData="CjU8DbaoF3iN7cFOyMfWXCuwizU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8" autoAdjust="0"/>
    <p:restoredTop sz="94660"/>
  </p:normalViewPr>
  <p:slideViewPr>
    <p:cSldViewPr>
      <p:cViewPr varScale="1">
        <p:scale>
          <a:sx n="108" d="100"/>
          <a:sy n="108" d="100"/>
        </p:scale>
        <p:origin x="732" y="108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0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0D71A2C-D231-428D-8568-40AA4C5CA0E4}" type="datetimeFigureOut">
              <a:rPr lang="zh-CN" altLang="en-US"/>
              <a:pPr>
                <a:defRPr/>
              </a:pPr>
              <a:t>2020/5/19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CBE2C6F-007C-4BCA-A45E-4C7AE8B822C1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521D573-28D7-4F64-9C4F-5FCE4CD25608}" type="slidenum">
              <a:rPr lang="en-US" altLang="zh-CN"/>
              <a:pPr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B981113-502B-48C6-ADC2-6C38413DA2C7}" type="slidenum">
              <a:rPr lang="en-US" altLang="zh-CN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D50A1B2-2857-4BE4-9F79-700F41F4A4AD}" type="slidenum">
              <a:rPr lang="en-US" altLang="zh-CN"/>
              <a:pPr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99DDD1E-D5D6-4767-88A3-898F72DED64D}" type="slidenum">
              <a:rPr lang="en-US" altLang="zh-CN"/>
              <a:pPr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FE0575E-1A4B-456A-9908-5721BBE9EDA2}" type="slidenum">
              <a:rPr lang="en-US" altLang="zh-CN"/>
              <a:pPr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1BE9D5-197C-4386-836C-39B84515ABE0}" type="slidenum">
              <a:rPr lang="en-US" altLang="zh-CN"/>
              <a:pPr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F8FDC48-33A0-4BB7-A621-464038084509}" type="slidenum">
              <a:rPr lang="en-US" altLang="zh-CN"/>
              <a:pPr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2448137-4551-4BA6-879C-5A1EF731452A}" type="slidenum">
              <a:rPr lang="en-US" altLang="zh-CN"/>
              <a:pPr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49A6CE4-B876-4381-8EAA-81417B9B2D8B}" type="slidenum">
              <a:rPr lang="en-US" altLang="zh-CN"/>
              <a:pPr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112A6E7B-428D-45F9-8FB2-D6BD4E03E15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61DB6D47-455C-4093-B8ED-D548B6B7CA2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725A1E3D-A0DB-440D-9DFD-4C180AF8CBE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620CF98E-4353-4537-BC89-E9191E73DE7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B9ECA5F3-740D-4889-A311-8341D55E54A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CD89EE00-AC7E-4AB4-95AE-475354F4066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03CE7799-E9DD-4947-8305-173FBA18A23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38973465-3F51-45E6-9B69-ADE67199D98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7B30CEC7-02D6-422D-BE26-AF9D84B1F70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55FE930C-1204-4AD9-AA3B-80B1F496B76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D19A967B-B150-4C54-84C0-4B6C7E869D4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7C618603-C18E-40A9-AA20-9319485FB98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B835BD06-3A63-46C5-9CD5-23D6741623F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4E8DAFC9-5AA8-4AD1-9C95-96652F13F59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3586F011-45A4-4379-81A0-C659596159A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0A110284-0D91-4864-92FF-5FF01DB8FF5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2E2C99E4-9BE2-421D-A9F2-D770F6460C1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29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0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1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2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3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4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6" name="文本框 1"/>
          <p:cNvSpPr txBox="1">
            <a:spLocks noChangeArrowheads="1"/>
          </p:cNvSpPr>
          <p:nvPr userDrawn="1"/>
        </p:nvSpPr>
        <p:spPr bwMode="auto">
          <a:xfrm>
            <a:off x="9389534" y="973138"/>
            <a:ext cx="2741084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70A255-427A-4172-ACC4-D82231C20F10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768" y="30956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74" r:id="rId1"/>
    <p:sldLayoutId id="2147484475" r:id="rId2"/>
    <p:sldLayoutId id="2147484476" r:id="rId3"/>
    <p:sldLayoutId id="2147484477" r:id="rId4"/>
    <p:sldLayoutId id="2147484478" r:id="rId5"/>
    <p:sldLayoutId id="2147484479" r:id="rId6"/>
    <p:sldLayoutId id="2147484480" r:id="rId7"/>
    <p:sldLayoutId id="2147484481" r:id="rId8"/>
    <p:sldLayoutId id="2147484482" r:id="rId9"/>
    <p:sldLayoutId id="2147484483" r:id="rId10"/>
    <p:sldLayoutId id="2147484484" r:id="rId11"/>
    <p:sldLayoutId id="2147484485" r:id="rId12"/>
    <p:sldLayoutId id="2147484486" r:id="rId13"/>
    <p:sldLayoutId id="2147484487" r:id="rId14"/>
    <p:sldLayoutId id="2147484488" r:id="rId15"/>
    <p:sldLayoutId id="2147484489" r:id="rId16"/>
    <p:sldLayoutId id="2147484490" r:id="rId17"/>
    <p:sldLayoutId id="2147484491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19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image" Target="../media/image19.pn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tags" Target="../tags/tag52.xml"/><Relationship Id="rId2" Type="http://schemas.openxmlformats.org/officeDocument/2006/relationships/tags" Target="../tags/tag37.xml"/><Relationship Id="rId16" Type="http://schemas.openxmlformats.org/officeDocument/2006/relationships/tags" Target="../tags/tag51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tags" Target="../tags/tag50.xml"/><Relationship Id="rId10" Type="http://schemas.openxmlformats.org/officeDocument/2006/relationships/tags" Target="../tags/tag45.xml"/><Relationship Id="rId19" Type="http://schemas.openxmlformats.org/officeDocument/2006/relationships/image" Target="../media/image19.png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Relationship Id="rId9" Type="http://schemas.openxmlformats.org/officeDocument/2006/relationships/image" Target="../media/image49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13" Type="http://schemas.openxmlformats.org/officeDocument/2006/relationships/image" Target="../media/image61.jpeg"/><Relationship Id="rId3" Type="http://schemas.openxmlformats.org/officeDocument/2006/relationships/image" Target="../media/image51.jpeg"/><Relationship Id="rId7" Type="http://schemas.openxmlformats.org/officeDocument/2006/relationships/image" Target="../media/image55.jpeg"/><Relationship Id="rId12" Type="http://schemas.openxmlformats.org/officeDocument/2006/relationships/image" Target="../media/image60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11" Type="http://schemas.openxmlformats.org/officeDocument/2006/relationships/image" Target="../media/image59.jpeg"/><Relationship Id="rId5" Type="http://schemas.openxmlformats.org/officeDocument/2006/relationships/image" Target="../media/image53.png"/><Relationship Id="rId10" Type="http://schemas.openxmlformats.org/officeDocument/2006/relationships/image" Target="../media/image58.jpeg"/><Relationship Id="rId4" Type="http://schemas.openxmlformats.org/officeDocument/2006/relationships/image" Target="../media/image52.jpeg"/><Relationship Id="rId9" Type="http://schemas.openxmlformats.org/officeDocument/2006/relationships/image" Target="../media/image5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037138" y="1773239"/>
            <a:ext cx="53276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2636838" algn="ctr"/>
                <a:tab pos="5273675" algn="r"/>
              </a:tabLst>
            </a:pPr>
            <a:r>
              <a:rPr lang="en-US" altLang="zh-CN" sz="2800"/>
              <a:t>1.</a:t>
            </a:r>
            <a:r>
              <a:rPr lang="zh-CN" altLang="en-US" sz="2800"/>
              <a:t> 标注组合体的基本要求尺寸 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159250" y="3799543"/>
            <a:ext cx="67235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tabLst>
                <a:tab pos="2636838" algn="ctr"/>
                <a:tab pos="5273675" algn="r"/>
              </a:tabLst>
            </a:pPr>
            <a:r>
              <a:rPr lang="zh-CN" altLang="en-US" sz="2800" dirty="0">
                <a:solidFill>
                  <a:srgbClr val="FF0000"/>
                </a:solidFill>
              </a:rPr>
              <a:t>能</a:t>
            </a:r>
            <a:r>
              <a:rPr lang="zh-CN" altLang="en-US" sz="2800" dirty="0"/>
              <a:t>正确、完整、清晰地</a:t>
            </a:r>
            <a:r>
              <a:rPr lang="zh-CN" altLang="en-US" sz="2800" dirty="0">
                <a:solidFill>
                  <a:srgbClr val="FF0000"/>
                </a:solidFill>
              </a:rPr>
              <a:t>标注</a:t>
            </a:r>
            <a:r>
              <a:rPr lang="zh-CN" altLang="en-US" sz="2800" dirty="0"/>
              <a:t>组合体的</a:t>
            </a:r>
            <a:r>
              <a:rPr lang="zh-CN" altLang="en-US" sz="2800" dirty="0">
                <a:solidFill>
                  <a:srgbClr val="FF0000"/>
                </a:solidFill>
              </a:rPr>
              <a:t>尺寸</a:t>
            </a:r>
            <a:r>
              <a:rPr lang="zh-CN" altLang="en-US" sz="2800" dirty="0"/>
              <a:t> </a:t>
            </a:r>
          </a:p>
        </p:txBody>
      </p:sp>
      <p:sp>
        <p:nvSpPr>
          <p:cNvPr id="9" name="右箭头 8"/>
          <p:cNvSpPr>
            <a:spLocks noChangeArrowheads="1"/>
          </p:cNvSpPr>
          <p:nvPr/>
        </p:nvSpPr>
        <p:spPr bwMode="auto">
          <a:xfrm>
            <a:off x="1751014" y="5421313"/>
            <a:ext cx="3030537" cy="965200"/>
          </a:xfrm>
          <a:prstGeom prst="rightArrow">
            <a:avLst>
              <a:gd name="adj1" fmla="val 50000"/>
              <a:gd name="adj2" fmla="val 50062"/>
            </a:avLst>
          </a:prstGeom>
          <a:solidFill>
            <a:srgbClr val="00B050"/>
          </a:solidFill>
          <a:ln w="28575" algn="ctr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pPr indent="152400">
              <a:tabLst>
                <a:tab pos="2636838" algn="ctr"/>
                <a:tab pos="5273675" algn="r"/>
              </a:tabLst>
            </a:pPr>
            <a:r>
              <a:rPr lang="zh-CN" altLang="en-US" sz="2800">
                <a:cs typeface="Arial" charset="0"/>
              </a:rPr>
              <a:t>三、重点、难点：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046175" y="5414963"/>
            <a:ext cx="4849885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 eaLnBrk="1" hangingPunct="1"/>
            <a:r>
              <a:rPr lang="zh-CN" altLang="en-US" sz="2800" dirty="0"/>
              <a:t>用形体分析法和面形分析法</a:t>
            </a:r>
            <a:endParaRPr lang="en-US" altLang="zh-CN" sz="2800" dirty="0"/>
          </a:p>
          <a:p>
            <a:pPr marL="514350" indent="-514350" eaLnBrk="1" hangingPunct="1"/>
            <a:r>
              <a:rPr lang="zh-CN" altLang="en-US" sz="2800" dirty="0"/>
              <a:t>标注组合体的尺寸</a:t>
            </a:r>
          </a:p>
        </p:txBody>
      </p:sp>
      <p:sp>
        <p:nvSpPr>
          <p:cNvPr id="20486" name="Rectangle 2"/>
          <p:cNvSpPr>
            <a:spLocks noChangeArrowheads="1"/>
          </p:cNvSpPr>
          <p:nvPr/>
        </p:nvSpPr>
        <p:spPr bwMode="auto">
          <a:xfrm>
            <a:off x="3719736" y="431843"/>
            <a:ext cx="4567238" cy="70485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组合体的尺寸标注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5062538" y="2297114"/>
            <a:ext cx="532765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2636838" algn="ctr"/>
                <a:tab pos="5273675" algn="r"/>
              </a:tabLst>
            </a:pPr>
            <a:r>
              <a:rPr lang="en-US" altLang="zh-CN" sz="2800" dirty="0"/>
              <a:t>2.</a:t>
            </a:r>
            <a:r>
              <a:rPr lang="zh-CN" altLang="en-US" sz="2800" dirty="0"/>
              <a:t>用形体分析法和线面分析法标</a:t>
            </a:r>
            <a:endParaRPr lang="en-US" altLang="zh-CN" sz="2800" dirty="0"/>
          </a:p>
          <a:p>
            <a:pPr>
              <a:tabLst>
                <a:tab pos="2636838" algn="ctr"/>
                <a:tab pos="5273675" algn="r"/>
              </a:tabLst>
            </a:pPr>
            <a:r>
              <a:rPr lang="en-US" altLang="zh-CN" sz="2800" dirty="0"/>
              <a:t>   </a:t>
            </a:r>
            <a:r>
              <a:rPr lang="zh-CN" altLang="en-US" sz="2800" dirty="0"/>
              <a:t>注组合体的尺寸 </a:t>
            </a:r>
          </a:p>
        </p:txBody>
      </p:sp>
      <p:sp>
        <p:nvSpPr>
          <p:cNvPr id="14" name="AutoShape 20"/>
          <p:cNvSpPr>
            <a:spLocks/>
          </p:cNvSpPr>
          <p:nvPr/>
        </p:nvSpPr>
        <p:spPr bwMode="auto">
          <a:xfrm>
            <a:off x="4806950" y="1874838"/>
            <a:ext cx="255588" cy="1376362"/>
          </a:xfrm>
          <a:prstGeom prst="leftBrace">
            <a:avLst>
              <a:gd name="adj1" fmla="val 108400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2205038" y="2224088"/>
            <a:ext cx="2722562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本讲重点内容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		</a:t>
            </a:r>
          </a:p>
          <a:p>
            <a:pPr marL="342900" indent="-342900" eaLnBrk="1" hangingPunct="1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		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2205038" y="3713206"/>
            <a:ext cx="1954212" cy="72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学习目标</a:t>
            </a:r>
            <a:r>
              <a:rPr kumimoji="1"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:</a:t>
            </a:r>
            <a:endParaRPr kumimoji="1"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+mn-ea"/>
                <a:ea typeface="+mn-ea"/>
              </a:rPr>
              <a:t>		</a:t>
            </a:r>
          </a:p>
          <a:p>
            <a:pPr marL="342900" indent="-342900" eaLnBrk="1" hangingPunct="1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+mn-ea"/>
                <a:ea typeface="+mn-ea"/>
              </a:rPr>
              <a:t>		</a:t>
            </a:r>
            <a:endParaRPr kumimoji="1" lang="zh-CN" altLang="en-US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 animBg="1"/>
      <p:bldP spid="10" grpId="0"/>
      <p:bldP spid="13" grpId="0"/>
      <p:bldP spid="14" grpId="0" animBg="1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Text Box 2"/>
          <p:cNvSpPr txBox="1">
            <a:spLocks noChangeArrowheads="1"/>
          </p:cNvSpPr>
          <p:nvPr/>
        </p:nvSpPr>
        <p:spPr bwMode="auto">
          <a:xfrm>
            <a:off x="1381919" y="1321747"/>
            <a:ext cx="45132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solidFill>
                  <a:schemeClr val="tx2"/>
                </a:solidFill>
                <a:latin typeface="+mn-ea"/>
                <a:ea typeface="+mn-ea"/>
              </a:rPr>
              <a:t>1. </a:t>
            </a:r>
            <a:r>
              <a:rPr lang="zh-CN" altLang="en-US" sz="3200" b="1" dirty="0">
                <a:solidFill>
                  <a:schemeClr val="tx2"/>
                </a:solidFill>
                <a:latin typeface="+mn-ea"/>
                <a:ea typeface="+mn-ea"/>
              </a:rPr>
              <a:t>标注尺寸的基本要求</a:t>
            </a:r>
          </a:p>
        </p:txBody>
      </p:sp>
      <p:sp>
        <p:nvSpPr>
          <p:cNvPr id="210947" name="Text Box 3"/>
          <p:cNvSpPr txBox="1">
            <a:spLocks noChangeArrowheads="1"/>
          </p:cNvSpPr>
          <p:nvPr/>
        </p:nvSpPr>
        <p:spPr bwMode="auto">
          <a:xfrm>
            <a:off x="2189164" y="2703514"/>
            <a:ext cx="14128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正确：</a:t>
            </a:r>
          </a:p>
        </p:txBody>
      </p:sp>
      <p:sp>
        <p:nvSpPr>
          <p:cNvPr id="210948" name="Text Box 4"/>
          <p:cNvSpPr txBox="1">
            <a:spLocks noChangeArrowheads="1"/>
          </p:cNvSpPr>
          <p:nvPr/>
        </p:nvSpPr>
        <p:spPr bwMode="auto">
          <a:xfrm>
            <a:off x="2189164" y="3579814"/>
            <a:ext cx="14128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b="1">
                <a:solidFill>
                  <a:srgbClr val="FF0000"/>
                </a:solidFill>
                <a:latin typeface="+mn-ea"/>
                <a:ea typeface="+mn-ea"/>
              </a:rPr>
              <a:t>完全：</a:t>
            </a:r>
          </a:p>
        </p:txBody>
      </p:sp>
      <p:sp>
        <p:nvSpPr>
          <p:cNvPr id="210949" name="Text Box 5"/>
          <p:cNvSpPr txBox="1">
            <a:spLocks noChangeArrowheads="1"/>
          </p:cNvSpPr>
          <p:nvPr/>
        </p:nvSpPr>
        <p:spPr bwMode="auto">
          <a:xfrm>
            <a:off x="3394076" y="2703514"/>
            <a:ext cx="55086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>
                <a:solidFill>
                  <a:schemeClr val="tx2"/>
                </a:solidFill>
              </a:rPr>
              <a:t>要符合国家标准的有关规定。</a:t>
            </a:r>
          </a:p>
        </p:txBody>
      </p:sp>
      <p:sp>
        <p:nvSpPr>
          <p:cNvPr id="210950" name="Text Box 6"/>
          <p:cNvSpPr txBox="1">
            <a:spLocks noChangeArrowheads="1"/>
          </p:cNvSpPr>
          <p:nvPr/>
        </p:nvSpPr>
        <p:spPr bwMode="auto">
          <a:xfrm>
            <a:off x="3357564" y="3360738"/>
            <a:ext cx="7119937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3200">
                <a:solidFill>
                  <a:schemeClr val="tx2"/>
                </a:solidFill>
              </a:rPr>
              <a:t>将确定组合体各部分形状大小及相对位置的尺寸标注完全，不遗漏，不重复。</a:t>
            </a:r>
          </a:p>
        </p:txBody>
      </p:sp>
      <p:sp>
        <p:nvSpPr>
          <p:cNvPr id="210951" name="Text Box 7"/>
          <p:cNvSpPr txBox="1">
            <a:spLocks noChangeArrowheads="1"/>
          </p:cNvSpPr>
          <p:nvPr/>
        </p:nvSpPr>
        <p:spPr bwMode="auto">
          <a:xfrm>
            <a:off x="2225676" y="4638675"/>
            <a:ext cx="14128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b="1">
                <a:solidFill>
                  <a:srgbClr val="FF0000"/>
                </a:solidFill>
                <a:latin typeface="+mn-ea"/>
                <a:ea typeface="+mn-ea"/>
              </a:rPr>
              <a:t>清晰：</a:t>
            </a:r>
          </a:p>
        </p:txBody>
      </p:sp>
      <p:sp>
        <p:nvSpPr>
          <p:cNvPr id="210952" name="Text Box 8"/>
          <p:cNvSpPr txBox="1">
            <a:spLocks noChangeArrowheads="1"/>
          </p:cNvSpPr>
          <p:nvPr/>
        </p:nvSpPr>
        <p:spPr bwMode="auto">
          <a:xfrm>
            <a:off x="3321050" y="4675189"/>
            <a:ext cx="67373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>
                <a:solidFill>
                  <a:schemeClr val="tx2"/>
                </a:solidFill>
              </a:rPr>
              <a:t>尺寸布置要整齐、清晰，便于阅读。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849847F-5939-4FF5-9663-8FD7D9744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736" y="431843"/>
            <a:ext cx="4567238" cy="70485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组合体的尺寸标注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210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210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75"/>
                                        <p:tgtEl>
                                          <p:spTgt spid="21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75"/>
                                        <p:tgtEl>
                                          <p:spTgt spid="210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75"/>
                                        <p:tgtEl>
                                          <p:spTgt spid="21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6" grpId="0" build="p" autoUpdateAnimBg="0"/>
      <p:bldP spid="210947" grpId="0" build="p" autoUpdateAnimBg="0"/>
      <p:bldP spid="210948" grpId="0" build="p" autoUpdateAnimBg="0"/>
      <p:bldP spid="210949" grpId="0" autoUpdateAnimBg="0"/>
      <p:bldP spid="210950" grpId="0" autoUpdateAnimBg="0"/>
      <p:bldP spid="210951" grpId="0" build="p" autoUpdateAnimBg="0"/>
      <p:bldP spid="21095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Text Box 2"/>
          <p:cNvSpPr txBox="1">
            <a:spLocks noChangeArrowheads="1"/>
          </p:cNvSpPr>
          <p:nvPr/>
        </p:nvSpPr>
        <p:spPr bwMode="auto">
          <a:xfrm>
            <a:off x="1749426" y="1694658"/>
            <a:ext cx="9351130" cy="75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tx2"/>
                </a:solidFill>
              </a:rPr>
              <a:t>    </a:t>
            </a:r>
            <a:r>
              <a:rPr lang="zh-CN" altLang="en-US" sz="2400" b="1" dirty="0">
                <a:solidFill>
                  <a:schemeClr val="tx2"/>
                </a:solidFill>
              </a:rPr>
              <a:t>将组合体分解为若干个基本体和简单体，在形体分析的基础上标注三类尺寸。</a:t>
            </a:r>
          </a:p>
        </p:txBody>
      </p:sp>
      <p:sp>
        <p:nvSpPr>
          <p:cNvPr id="211971" name="Text Box 3"/>
          <p:cNvSpPr txBox="1">
            <a:spLocks noChangeArrowheads="1"/>
          </p:cNvSpPr>
          <p:nvPr/>
        </p:nvSpPr>
        <p:spPr bwMode="auto">
          <a:xfrm>
            <a:off x="3906838" y="2471739"/>
            <a:ext cx="25574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>
                <a:solidFill>
                  <a:srgbClr val="FF0000"/>
                </a:solidFill>
                <a:latin typeface="ISOCP" pitchFamily="2" charset="0"/>
              </a:rPr>
              <a:t>⑴  </a:t>
            </a:r>
            <a:r>
              <a:rPr lang="zh-CN" altLang="en-US" sz="2800">
                <a:solidFill>
                  <a:srgbClr val="FF0000"/>
                </a:solidFill>
                <a:latin typeface="ISOCP" pitchFamily="2" charset="0"/>
              </a:rPr>
              <a:t>定形尺寸：</a:t>
            </a:r>
          </a:p>
        </p:txBody>
      </p:sp>
      <p:sp>
        <p:nvSpPr>
          <p:cNvPr id="211972" name="Text Box 4"/>
          <p:cNvSpPr txBox="1">
            <a:spLocks noChangeArrowheads="1"/>
          </p:cNvSpPr>
          <p:nvPr/>
        </p:nvSpPr>
        <p:spPr bwMode="auto">
          <a:xfrm>
            <a:off x="4511824" y="2869409"/>
            <a:ext cx="55657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333399"/>
                </a:solidFill>
              </a:rPr>
              <a:t>确定各基本体形状和大小的尺寸。</a:t>
            </a:r>
          </a:p>
        </p:txBody>
      </p:sp>
      <p:sp>
        <p:nvSpPr>
          <p:cNvPr id="211973" name="Text Box 5"/>
          <p:cNvSpPr txBox="1">
            <a:spLocks noChangeArrowheads="1"/>
          </p:cNvSpPr>
          <p:nvPr/>
        </p:nvSpPr>
        <p:spPr bwMode="auto">
          <a:xfrm>
            <a:off x="3952876" y="3394076"/>
            <a:ext cx="25574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>
                <a:solidFill>
                  <a:srgbClr val="FF0000"/>
                </a:solidFill>
                <a:latin typeface="ISOCP" pitchFamily="2" charset="0"/>
              </a:rPr>
              <a:t>⑵  </a:t>
            </a:r>
            <a:r>
              <a:rPr lang="zh-CN" altLang="en-US" sz="2800">
                <a:solidFill>
                  <a:srgbClr val="FF0000"/>
                </a:solidFill>
                <a:latin typeface="ISOCP" pitchFamily="2" charset="0"/>
              </a:rPr>
              <a:t>定位尺寸：</a:t>
            </a:r>
          </a:p>
        </p:txBody>
      </p:sp>
      <p:sp>
        <p:nvSpPr>
          <p:cNvPr id="211974" name="Text Box 6"/>
          <p:cNvSpPr txBox="1">
            <a:spLocks noChangeArrowheads="1"/>
          </p:cNvSpPr>
          <p:nvPr/>
        </p:nvSpPr>
        <p:spPr bwMode="auto">
          <a:xfrm>
            <a:off x="4518024" y="3844131"/>
            <a:ext cx="5924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333399"/>
                </a:solidFill>
              </a:rPr>
              <a:t>确定各基本体之间相对位置的尺寸。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1677988" y="406402"/>
            <a:ext cx="46926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solidFill>
                  <a:schemeClr val="tx2"/>
                </a:solidFill>
                <a:latin typeface="+mn-ea"/>
                <a:ea typeface="+mn-ea"/>
              </a:rPr>
              <a:t>2.</a:t>
            </a:r>
            <a:r>
              <a:rPr lang="zh-CN" altLang="en-US" sz="3200" b="1" dirty="0">
                <a:solidFill>
                  <a:schemeClr val="tx2"/>
                </a:solidFill>
                <a:latin typeface="+mn-ea"/>
                <a:ea typeface="+mn-ea"/>
              </a:rPr>
              <a:t>组合体的尺寸标注方法</a:t>
            </a:r>
          </a:p>
        </p:txBody>
      </p:sp>
      <p:sp>
        <p:nvSpPr>
          <p:cNvPr id="211976" name="Text Box 8"/>
          <p:cNvSpPr txBox="1">
            <a:spLocks noChangeArrowheads="1"/>
          </p:cNvSpPr>
          <p:nvPr/>
        </p:nvSpPr>
        <p:spPr bwMode="auto">
          <a:xfrm>
            <a:off x="2065338" y="1160463"/>
            <a:ext cx="37750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ISOCP" pitchFamily="2" charset="0"/>
              </a:rPr>
              <a:t>基本方法：形体分析法</a:t>
            </a:r>
          </a:p>
        </p:txBody>
      </p:sp>
      <p:sp>
        <p:nvSpPr>
          <p:cNvPr id="211977" name="Text Box 9"/>
          <p:cNvSpPr txBox="1">
            <a:spLocks noChangeArrowheads="1"/>
          </p:cNvSpPr>
          <p:nvPr/>
        </p:nvSpPr>
        <p:spPr bwMode="auto">
          <a:xfrm>
            <a:off x="3906838" y="5745164"/>
            <a:ext cx="25574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>
                <a:solidFill>
                  <a:srgbClr val="FF0000"/>
                </a:solidFill>
                <a:latin typeface="ISOCP" pitchFamily="2" charset="0"/>
              </a:rPr>
              <a:t>⑶  </a:t>
            </a:r>
            <a:r>
              <a:rPr lang="zh-CN" altLang="en-US" sz="2800">
                <a:solidFill>
                  <a:srgbClr val="FF0000"/>
                </a:solidFill>
                <a:latin typeface="ISOCP" pitchFamily="2" charset="0"/>
              </a:rPr>
              <a:t>总体尺寸：</a:t>
            </a:r>
          </a:p>
        </p:txBody>
      </p:sp>
      <p:sp>
        <p:nvSpPr>
          <p:cNvPr id="211978" name="Text Box 10"/>
          <p:cNvSpPr txBox="1">
            <a:spLocks noChangeArrowheads="1"/>
          </p:cNvSpPr>
          <p:nvPr/>
        </p:nvSpPr>
        <p:spPr bwMode="auto">
          <a:xfrm>
            <a:off x="3937001" y="6267450"/>
            <a:ext cx="628967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333399"/>
                </a:solidFill>
              </a:rPr>
              <a:t>机件长、宽、高三个方向的最大尺寸。</a:t>
            </a:r>
          </a:p>
        </p:txBody>
      </p:sp>
      <p:sp>
        <p:nvSpPr>
          <p:cNvPr id="211979" name="Text Box 11"/>
          <p:cNvSpPr txBox="1">
            <a:spLocks noChangeArrowheads="1"/>
          </p:cNvSpPr>
          <p:nvPr/>
        </p:nvSpPr>
        <p:spPr bwMode="auto">
          <a:xfrm>
            <a:off x="4511824" y="4355583"/>
            <a:ext cx="6373813" cy="142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>
                <a:solidFill>
                  <a:schemeClr val="tx2"/>
                </a:solidFill>
              </a:rPr>
              <a:t>要标注定位尺寸，必须先选定尺寸基准。物体有长、宽、高三个方向的尺寸，每个方向至少要有一个基准。通常以物体的</a:t>
            </a:r>
            <a:r>
              <a:rPr lang="zh-CN" altLang="en-US" sz="2400" b="1" dirty="0">
                <a:solidFill>
                  <a:srgbClr val="FF3300"/>
                </a:solidFill>
              </a:rPr>
              <a:t>底面、端面、对称面和轴线</a:t>
            </a:r>
            <a:r>
              <a:rPr lang="zh-CN" altLang="en-US" sz="2400" b="1" dirty="0">
                <a:solidFill>
                  <a:schemeClr val="tx2"/>
                </a:solidFill>
              </a:rPr>
              <a:t>作为基准。</a:t>
            </a: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749426" y="4044951"/>
            <a:ext cx="17684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800">
                <a:solidFill>
                  <a:schemeClr val="tx2"/>
                </a:solidFill>
              </a:rPr>
              <a:t>三类尺寸</a:t>
            </a:r>
          </a:p>
        </p:txBody>
      </p:sp>
      <p:sp>
        <p:nvSpPr>
          <p:cNvPr id="13" name="AutoShape 20"/>
          <p:cNvSpPr>
            <a:spLocks/>
          </p:cNvSpPr>
          <p:nvPr/>
        </p:nvSpPr>
        <p:spPr bwMode="auto">
          <a:xfrm>
            <a:off x="3363914" y="2698750"/>
            <a:ext cx="409575" cy="3328988"/>
          </a:xfrm>
          <a:prstGeom prst="leftBrace">
            <a:avLst>
              <a:gd name="adj1" fmla="val 108334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21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211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211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1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1000"/>
                                        <p:tgtEl>
                                          <p:spTgt spid="21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21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0" grpId="0" autoUpdateAnimBg="0"/>
      <p:bldP spid="211971" grpId="0" build="p" autoUpdateAnimBg="0"/>
      <p:bldP spid="211972" grpId="0" autoUpdateAnimBg="0"/>
      <p:bldP spid="211973" grpId="0" build="p" autoUpdateAnimBg="0"/>
      <p:bldP spid="211974" grpId="0" autoUpdateAnimBg="0"/>
      <p:bldP spid="211976" grpId="0" autoUpdateAnimBg="0"/>
      <p:bldP spid="211977" grpId="0" build="p" autoUpdateAnimBg="0"/>
      <p:bldP spid="211978" grpId="0" autoUpdateAnimBg="0"/>
      <p:bldP spid="211979" grpId="0" autoUpdateAnimBg="0"/>
      <p:bldP spid="12" grpId="0" autoUpdateAnimBg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12"/>
          <p:cNvSpPr txBox="1">
            <a:spLocks noChangeArrowheads="1"/>
          </p:cNvSpPr>
          <p:nvPr/>
        </p:nvSpPr>
        <p:spPr bwMode="auto">
          <a:xfrm>
            <a:off x="1640683" y="476555"/>
            <a:ext cx="4303712" cy="584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b="1" dirty="0">
                <a:latin typeface="ISOCP" pitchFamily="2" charset="0"/>
              </a:rPr>
              <a:t>例：标注轴承座的尺寸</a:t>
            </a:r>
          </a:p>
        </p:txBody>
      </p:sp>
      <p:sp>
        <p:nvSpPr>
          <p:cNvPr id="229" name="矩形 228"/>
          <p:cNvSpPr/>
          <p:nvPr/>
        </p:nvSpPr>
        <p:spPr>
          <a:xfrm>
            <a:off x="1897064" y="1676401"/>
            <a:ext cx="189547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1</a:t>
            </a:r>
            <a:r>
              <a:rPr lang="zh-CN" altLang="en-US" sz="2400" b="1" dirty="0">
                <a:latin typeface="+mn-ea"/>
                <a:ea typeface="+mn-ea"/>
              </a:rPr>
              <a:t>）形体分析</a:t>
            </a:r>
          </a:p>
        </p:txBody>
      </p:sp>
      <p:pic>
        <p:nvPicPr>
          <p:cNvPr id="26628" name="Picture 22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89450" y="1341438"/>
            <a:ext cx="4438650" cy="40957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33" name="矩形 232"/>
          <p:cNvSpPr/>
          <p:nvPr/>
        </p:nvSpPr>
        <p:spPr>
          <a:xfrm>
            <a:off x="1897064" y="2151063"/>
            <a:ext cx="2541587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2</a:t>
            </a:r>
            <a:r>
              <a:rPr lang="zh-CN" altLang="en-US" sz="2400" b="1" dirty="0">
                <a:latin typeface="+mn-ea"/>
                <a:ea typeface="+mn-ea"/>
              </a:rPr>
              <a:t>）选定长、宽、高三个方向尺寸的主要基准</a:t>
            </a:r>
          </a:p>
        </p:txBody>
      </p:sp>
      <p:pic>
        <p:nvPicPr>
          <p:cNvPr id="30951" name="Picture 23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89451" y="1420813"/>
            <a:ext cx="4441825" cy="41259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30" name="图片 22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727950" y="4487864"/>
            <a:ext cx="2940050" cy="2370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" name="矩形 234"/>
          <p:cNvSpPr/>
          <p:nvPr/>
        </p:nvSpPr>
        <p:spPr>
          <a:xfrm>
            <a:off x="1860551" y="3502025"/>
            <a:ext cx="2373313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3</a:t>
            </a:r>
            <a:r>
              <a:rPr lang="zh-CN" altLang="en-US" sz="2400" b="1" dirty="0">
                <a:latin typeface="+mn-ea"/>
                <a:ea typeface="+mn-ea"/>
              </a:rPr>
              <a:t>）按形体分析逐个注出各基本几何体的定形尺寸和定位尺寸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/>
      <p:bldP spid="233" grpId="0"/>
      <p:bldP spid="2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12"/>
          <p:cNvSpPr txBox="1">
            <a:spLocks noChangeArrowheads="1"/>
          </p:cNvSpPr>
          <p:nvPr/>
        </p:nvSpPr>
        <p:spPr bwMode="auto">
          <a:xfrm>
            <a:off x="1567658" y="481362"/>
            <a:ext cx="4303712" cy="584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b="1">
                <a:latin typeface="ISOCP" pitchFamily="2" charset="0"/>
              </a:rPr>
              <a:t>例：标注轴承座的尺寸</a:t>
            </a:r>
          </a:p>
        </p:txBody>
      </p:sp>
      <p:sp>
        <p:nvSpPr>
          <p:cNvPr id="229" name="矩形 228"/>
          <p:cNvSpPr/>
          <p:nvPr/>
        </p:nvSpPr>
        <p:spPr>
          <a:xfrm>
            <a:off x="1824039" y="1639888"/>
            <a:ext cx="189547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1</a:t>
            </a:r>
            <a:r>
              <a:rPr lang="zh-CN" altLang="en-US" sz="2400" b="1" dirty="0">
                <a:latin typeface="+mn-ea"/>
                <a:ea typeface="+mn-ea"/>
              </a:rPr>
              <a:t>）形体分析</a:t>
            </a:r>
          </a:p>
        </p:txBody>
      </p:sp>
      <p:sp>
        <p:nvSpPr>
          <p:cNvPr id="233" name="矩形 232"/>
          <p:cNvSpPr/>
          <p:nvPr/>
        </p:nvSpPr>
        <p:spPr>
          <a:xfrm>
            <a:off x="1824039" y="2151063"/>
            <a:ext cx="2541587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2</a:t>
            </a:r>
            <a:r>
              <a:rPr lang="zh-CN" altLang="en-US" sz="2400" b="1" dirty="0">
                <a:latin typeface="+mn-ea"/>
                <a:ea typeface="+mn-ea"/>
              </a:rPr>
              <a:t>）选定长、宽、高三个方向尺寸的主要基准</a:t>
            </a:r>
          </a:p>
        </p:txBody>
      </p:sp>
      <p:sp>
        <p:nvSpPr>
          <p:cNvPr id="235" name="矩形 234"/>
          <p:cNvSpPr/>
          <p:nvPr/>
        </p:nvSpPr>
        <p:spPr>
          <a:xfrm>
            <a:off x="1787526" y="3502025"/>
            <a:ext cx="2373313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3</a:t>
            </a:r>
            <a:r>
              <a:rPr lang="zh-CN" altLang="en-US" sz="2400" b="1" dirty="0">
                <a:latin typeface="+mn-ea"/>
                <a:ea typeface="+mn-ea"/>
              </a:rPr>
              <a:t>）按形体分析逐个注出各基本几何体的定形尺寸和定位尺寸</a:t>
            </a:r>
          </a:p>
        </p:txBody>
      </p:sp>
      <p:pic>
        <p:nvPicPr>
          <p:cNvPr id="2867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18063" y="1822451"/>
            <a:ext cx="4933950" cy="43910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067676" y="5072064"/>
            <a:ext cx="1933575" cy="1304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4964113" y="5948364"/>
            <a:ext cx="1752600" cy="693737"/>
            <a:chOff x="1072" y="3195"/>
            <a:chExt cx="1844" cy="860"/>
          </a:xfrm>
        </p:grpSpPr>
        <p:sp>
          <p:nvSpPr>
            <p:cNvPr id="28794" name="Freeform 23"/>
            <p:cNvSpPr>
              <a:spLocks/>
            </p:cNvSpPr>
            <p:nvPr/>
          </p:nvSpPr>
          <p:spPr bwMode="auto">
            <a:xfrm>
              <a:off x="1072" y="3195"/>
              <a:ext cx="0" cy="860"/>
            </a:xfrm>
            <a:custGeom>
              <a:avLst/>
              <a:gdLst>
                <a:gd name="T0" fmla="*/ 0 w 1"/>
                <a:gd name="T1" fmla="*/ 0 h 1668"/>
                <a:gd name="T2" fmla="*/ 0 w 1"/>
                <a:gd name="T3" fmla="*/ 0 h 1668"/>
                <a:gd name="T4" fmla="*/ 0 w 1"/>
                <a:gd name="T5" fmla="*/ 0 h 1668"/>
                <a:gd name="T6" fmla="*/ 0 60000 65536"/>
                <a:gd name="T7" fmla="*/ 0 60000 65536"/>
                <a:gd name="T8" fmla="*/ 0 60000 65536"/>
                <a:gd name="T9" fmla="*/ 0 w 1"/>
                <a:gd name="T10" fmla="*/ 0 h 1668"/>
                <a:gd name="T11" fmla="*/ 0 w 1"/>
                <a:gd name="T12" fmla="*/ 1668 h 16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68">
                  <a:moveTo>
                    <a:pt x="0" y="0"/>
                  </a:moveTo>
                  <a:lnTo>
                    <a:pt x="0" y="1668"/>
                  </a:lnTo>
                  <a:lnTo>
                    <a:pt x="1" y="166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95" name="Freeform 24"/>
            <p:cNvSpPr>
              <a:spLocks/>
            </p:cNvSpPr>
            <p:nvPr/>
          </p:nvSpPr>
          <p:spPr bwMode="auto">
            <a:xfrm>
              <a:off x="2915" y="3423"/>
              <a:ext cx="1" cy="632"/>
            </a:xfrm>
            <a:custGeom>
              <a:avLst/>
              <a:gdLst>
                <a:gd name="T0" fmla="*/ 0 w 1"/>
                <a:gd name="T1" fmla="*/ 0 h 1660"/>
                <a:gd name="T2" fmla="*/ 0 w 1"/>
                <a:gd name="T3" fmla="*/ 0 h 1660"/>
                <a:gd name="T4" fmla="*/ 1 w 1"/>
                <a:gd name="T5" fmla="*/ 0 h 1660"/>
                <a:gd name="T6" fmla="*/ 0 60000 65536"/>
                <a:gd name="T7" fmla="*/ 0 60000 65536"/>
                <a:gd name="T8" fmla="*/ 0 60000 65536"/>
                <a:gd name="T9" fmla="*/ 0 w 1"/>
                <a:gd name="T10" fmla="*/ 0 h 1660"/>
                <a:gd name="T11" fmla="*/ 1 w 1"/>
                <a:gd name="T12" fmla="*/ 1660 h 16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60">
                  <a:moveTo>
                    <a:pt x="0" y="0"/>
                  </a:moveTo>
                  <a:lnTo>
                    <a:pt x="0" y="1660"/>
                  </a:lnTo>
                  <a:lnTo>
                    <a:pt x="1" y="166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96" name="Line 25"/>
            <p:cNvSpPr>
              <a:spLocks noChangeShapeType="1"/>
            </p:cNvSpPr>
            <p:nvPr/>
          </p:nvSpPr>
          <p:spPr bwMode="auto">
            <a:xfrm>
              <a:off x="1072" y="4005"/>
              <a:ext cx="18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6710363" y="4667250"/>
            <a:ext cx="773112" cy="1485900"/>
            <a:chOff x="2691" y="2756"/>
            <a:chExt cx="710" cy="887"/>
          </a:xfrm>
        </p:grpSpPr>
        <p:sp>
          <p:nvSpPr>
            <p:cNvPr id="28791" name="Freeform 27"/>
            <p:cNvSpPr>
              <a:spLocks/>
            </p:cNvSpPr>
            <p:nvPr/>
          </p:nvSpPr>
          <p:spPr bwMode="auto">
            <a:xfrm>
              <a:off x="2693" y="3643"/>
              <a:ext cx="708" cy="0"/>
            </a:xfrm>
            <a:custGeom>
              <a:avLst/>
              <a:gdLst>
                <a:gd name="T0" fmla="*/ 0 w 1780"/>
                <a:gd name="T1" fmla="*/ 0 h 1"/>
                <a:gd name="T2" fmla="*/ 0 w 1780"/>
                <a:gd name="T3" fmla="*/ 0 h 1"/>
                <a:gd name="T4" fmla="*/ 0 w 1780"/>
                <a:gd name="T5" fmla="*/ 0 h 1"/>
                <a:gd name="T6" fmla="*/ 0 60000 65536"/>
                <a:gd name="T7" fmla="*/ 0 60000 65536"/>
                <a:gd name="T8" fmla="*/ 0 60000 65536"/>
                <a:gd name="T9" fmla="*/ 0 w 1780"/>
                <a:gd name="T10" fmla="*/ 0 h 1"/>
                <a:gd name="T11" fmla="*/ 1780 w 1780"/>
                <a:gd name="T12" fmla="*/ 0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80" h="1">
                  <a:moveTo>
                    <a:pt x="0" y="0"/>
                  </a:moveTo>
                  <a:lnTo>
                    <a:pt x="1778" y="0"/>
                  </a:lnTo>
                  <a:lnTo>
                    <a:pt x="178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92" name="Freeform 28"/>
            <p:cNvSpPr>
              <a:spLocks/>
            </p:cNvSpPr>
            <p:nvPr/>
          </p:nvSpPr>
          <p:spPr bwMode="auto">
            <a:xfrm flipV="1">
              <a:off x="2691" y="2759"/>
              <a:ext cx="708" cy="0"/>
            </a:xfrm>
            <a:custGeom>
              <a:avLst/>
              <a:gdLst>
                <a:gd name="T0" fmla="*/ 0 w 1133"/>
                <a:gd name="T1" fmla="*/ 0 h 2"/>
                <a:gd name="T2" fmla="*/ 0 w 1133"/>
                <a:gd name="T3" fmla="*/ 0 h 2"/>
                <a:gd name="T4" fmla="*/ 0 w 1133"/>
                <a:gd name="T5" fmla="*/ 0 h 2"/>
                <a:gd name="T6" fmla="*/ 0 60000 65536"/>
                <a:gd name="T7" fmla="*/ 0 60000 65536"/>
                <a:gd name="T8" fmla="*/ 0 60000 65536"/>
                <a:gd name="T9" fmla="*/ 0 w 1133"/>
                <a:gd name="T10" fmla="*/ 0 h 2"/>
                <a:gd name="T11" fmla="*/ 1133 w 1133"/>
                <a:gd name="T12" fmla="*/ 0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3" h="2">
                  <a:moveTo>
                    <a:pt x="0" y="0"/>
                  </a:moveTo>
                  <a:lnTo>
                    <a:pt x="1132" y="0"/>
                  </a:lnTo>
                  <a:lnTo>
                    <a:pt x="113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93" name="Line 29"/>
            <p:cNvSpPr>
              <a:spLocks noChangeShapeType="1"/>
            </p:cNvSpPr>
            <p:nvPr/>
          </p:nvSpPr>
          <p:spPr bwMode="auto">
            <a:xfrm>
              <a:off x="3320" y="2756"/>
              <a:ext cx="0" cy="88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63"/>
          <p:cNvGrpSpPr>
            <a:grpSpLocks/>
          </p:cNvGrpSpPr>
          <p:nvPr/>
        </p:nvGrpSpPr>
        <p:grpSpPr bwMode="auto">
          <a:xfrm>
            <a:off x="6716714" y="3355975"/>
            <a:ext cx="401637" cy="323850"/>
            <a:chOff x="2931" y="1824"/>
            <a:chExt cx="191" cy="223"/>
          </a:xfrm>
        </p:grpSpPr>
        <p:sp>
          <p:nvSpPr>
            <p:cNvPr id="28788" name="Freeform 64"/>
            <p:cNvSpPr>
              <a:spLocks/>
            </p:cNvSpPr>
            <p:nvPr/>
          </p:nvSpPr>
          <p:spPr bwMode="auto">
            <a:xfrm>
              <a:off x="2931" y="2037"/>
              <a:ext cx="181" cy="0"/>
            </a:xfrm>
            <a:custGeom>
              <a:avLst/>
              <a:gdLst>
                <a:gd name="T0" fmla="*/ 0 w 933"/>
                <a:gd name="T1" fmla="*/ 0 h 2"/>
                <a:gd name="T2" fmla="*/ 0 w 933"/>
                <a:gd name="T3" fmla="*/ 0 h 2"/>
                <a:gd name="T4" fmla="*/ 0 w 933"/>
                <a:gd name="T5" fmla="*/ 0 h 2"/>
                <a:gd name="T6" fmla="*/ 0 60000 65536"/>
                <a:gd name="T7" fmla="*/ 0 60000 65536"/>
                <a:gd name="T8" fmla="*/ 0 60000 65536"/>
                <a:gd name="T9" fmla="*/ 0 w 933"/>
                <a:gd name="T10" fmla="*/ 0 h 2"/>
                <a:gd name="T11" fmla="*/ 933 w 933"/>
                <a:gd name="T12" fmla="*/ 0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3" h="2">
                  <a:moveTo>
                    <a:pt x="0" y="0"/>
                  </a:moveTo>
                  <a:lnTo>
                    <a:pt x="932" y="0"/>
                  </a:lnTo>
                  <a:lnTo>
                    <a:pt x="93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89" name="Freeform 65"/>
            <p:cNvSpPr>
              <a:spLocks/>
            </p:cNvSpPr>
            <p:nvPr/>
          </p:nvSpPr>
          <p:spPr bwMode="auto">
            <a:xfrm>
              <a:off x="2932" y="1839"/>
              <a:ext cx="190" cy="1"/>
            </a:xfrm>
            <a:custGeom>
              <a:avLst/>
              <a:gdLst>
                <a:gd name="T0" fmla="*/ 0 w 502"/>
                <a:gd name="T1" fmla="*/ 0 h 1"/>
                <a:gd name="T2" fmla="*/ 0 w 502"/>
                <a:gd name="T3" fmla="*/ 0 h 1"/>
                <a:gd name="T4" fmla="*/ 0 w 502"/>
                <a:gd name="T5" fmla="*/ 0 h 1"/>
                <a:gd name="T6" fmla="*/ 0 60000 65536"/>
                <a:gd name="T7" fmla="*/ 0 60000 65536"/>
                <a:gd name="T8" fmla="*/ 0 60000 65536"/>
                <a:gd name="T9" fmla="*/ 0 w 502"/>
                <a:gd name="T10" fmla="*/ 0 h 1"/>
                <a:gd name="T11" fmla="*/ 502 w 50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2" h="1">
                  <a:moveTo>
                    <a:pt x="0" y="0"/>
                  </a:moveTo>
                  <a:lnTo>
                    <a:pt x="501" y="0"/>
                  </a:lnTo>
                  <a:lnTo>
                    <a:pt x="50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90" name="Line 66"/>
            <p:cNvSpPr>
              <a:spLocks noChangeShapeType="1"/>
            </p:cNvSpPr>
            <p:nvPr/>
          </p:nvSpPr>
          <p:spPr bwMode="auto">
            <a:xfrm>
              <a:off x="3064" y="1824"/>
              <a:ext cx="0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6145214" y="4268788"/>
            <a:ext cx="625475" cy="684212"/>
            <a:chOff x="1294" y="3558"/>
            <a:chExt cx="1359" cy="445"/>
          </a:xfrm>
        </p:grpSpPr>
        <p:sp>
          <p:nvSpPr>
            <p:cNvPr id="28783" name="Freeform 15"/>
            <p:cNvSpPr>
              <a:spLocks/>
            </p:cNvSpPr>
            <p:nvPr/>
          </p:nvSpPr>
          <p:spPr bwMode="auto">
            <a:xfrm>
              <a:off x="1294" y="3606"/>
              <a:ext cx="100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4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84" name="Freeform 16"/>
            <p:cNvSpPr>
              <a:spLocks/>
            </p:cNvSpPr>
            <p:nvPr/>
          </p:nvSpPr>
          <p:spPr bwMode="auto">
            <a:xfrm>
              <a:off x="2520" y="3606"/>
              <a:ext cx="101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85" name="Freeform 17"/>
            <p:cNvSpPr>
              <a:spLocks/>
            </p:cNvSpPr>
            <p:nvPr/>
          </p:nvSpPr>
          <p:spPr bwMode="auto">
            <a:xfrm>
              <a:off x="1394" y="3625"/>
              <a:ext cx="1173" cy="1"/>
            </a:xfrm>
            <a:custGeom>
              <a:avLst/>
              <a:gdLst>
                <a:gd name="T0" fmla="*/ 0 w 3153"/>
                <a:gd name="T1" fmla="*/ 0 h 1"/>
                <a:gd name="T2" fmla="*/ 0 w 3153"/>
                <a:gd name="T3" fmla="*/ 0 h 1"/>
                <a:gd name="T4" fmla="*/ 0 w 3153"/>
                <a:gd name="T5" fmla="*/ 0 h 1"/>
                <a:gd name="T6" fmla="*/ 0 60000 65536"/>
                <a:gd name="T7" fmla="*/ 0 60000 65536"/>
                <a:gd name="T8" fmla="*/ 0 60000 65536"/>
                <a:gd name="T9" fmla="*/ 0 w 3153"/>
                <a:gd name="T10" fmla="*/ 0 h 1"/>
                <a:gd name="T11" fmla="*/ 3153 w 31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3" h="1">
                  <a:moveTo>
                    <a:pt x="0" y="0"/>
                  </a:moveTo>
                  <a:lnTo>
                    <a:pt x="3152" y="0"/>
                  </a:lnTo>
                  <a:lnTo>
                    <a:pt x="3153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86" name="Freeform 18"/>
            <p:cNvSpPr>
              <a:spLocks/>
            </p:cNvSpPr>
            <p:nvPr/>
          </p:nvSpPr>
          <p:spPr bwMode="auto">
            <a:xfrm>
              <a:off x="1294" y="3558"/>
              <a:ext cx="1" cy="310"/>
            </a:xfrm>
            <a:custGeom>
              <a:avLst/>
              <a:gdLst>
                <a:gd name="T0" fmla="*/ 0 w 1"/>
                <a:gd name="T1" fmla="*/ 0 h 818"/>
                <a:gd name="T2" fmla="*/ 0 w 1"/>
                <a:gd name="T3" fmla="*/ 0 h 818"/>
                <a:gd name="T4" fmla="*/ 1 w 1"/>
                <a:gd name="T5" fmla="*/ 0 h 818"/>
                <a:gd name="T6" fmla="*/ 0 60000 65536"/>
                <a:gd name="T7" fmla="*/ 0 60000 65536"/>
                <a:gd name="T8" fmla="*/ 0 60000 65536"/>
                <a:gd name="T9" fmla="*/ 0 w 1"/>
                <a:gd name="T10" fmla="*/ 0 h 818"/>
                <a:gd name="T11" fmla="*/ 1 w 1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8">
                  <a:moveTo>
                    <a:pt x="0" y="0"/>
                  </a:moveTo>
                  <a:lnTo>
                    <a:pt x="0" y="818"/>
                  </a:lnTo>
                  <a:lnTo>
                    <a:pt x="1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87" name="Freeform 20"/>
            <p:cNvSpPr>
              <a:spLocks/>
            </p:cNvSpPr>
            <p:nvPr/>
          </p:nvSpPr>
          <p:spPr bwMode="auto">
            <a:xfrm>
              <a:off x="2652" y="3558"/>
              <a:ext cx="1" cy="445"/>
            </a:xfrm>
            <a:custGeom>
              <a:avLst/>
              <a:gdLst>
                <a:gd name="T0" fmla="*/ 0 w 2"/>
                <a:gd name="T1" fmla="*/ 0 h 818"/>
                <a:gd name="T2" fmla="*/ 0 w 2"/>
                <a:gd name="T3" fmla="*/ 0 h 818"/>
                <a:gd name="T4" fmla="*/ 1 w 2"/>
                <a:gd name="T5" fmla="*/ 0 h 818"/>
                <a:gd name="T6" fmla="*/ 0 60000 65536"/>
                <a:gd name="T7" fmla="*/ 0 60000 65536"/>
                <a:gd name="T8" fmla="*/ 0 60000 65536"/>
                <a:gd name="T9" fmla="*/ 0 w 2"/>
                <a:gd name="T10" fmla="*/ 0 h 818"/>
                <a:gd name="T11" fmla="*/ 2 w 2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818">
                  <a:moveTo>
                    <a:pt x="0" y="0"/>
                  </a:moveTo>
                  <a:lnTo>
                    <a:pt x="0" y="818"/>
                  </a:lnTo>
                  <a:lnTo>
                    <a:pt x="2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5233989" y="4286251"/>
            <a:ext cx="922337" cy="468313"/>
            <a:chOff x="1314" y="3763"/>
            <a:chExt cx="1418" cy="330"/>
          </a:xfrm>
        </p:grpSpPr>
        <p:sp>
          <p:nvSpPr>
            <p:cNvPr id="28779" name="Freeform 15"/>
            <p:cNvSpPr>
              <a:spLocks/>
            </p:cNvSpPr>
            <p:nvPr/>
          </p:nvSpPr>
          <p:spPr bwMode="auto">
            <a:xfrm>
              <a:off x="1327" y="3802"/>
              <a:ext cx="100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4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80" name="Freeform 16"/>
            <p:cNvSpPr>
              <a:spLocks/>
            </p:cNvSpPr>
            <p:nvPr/>
          </p:nvSpPr>
          <p:spPr bwMode="auto">
            <a:xfrm>
              <a:off x="2631" y="3802"/>
              <a:ext cx="101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81" name="Freeform 17"/>
            <p:cNvSpPr>
              <a:spLocks/>
            </p:cNvSpPr>
            <p:nvPr/>
          </p:nvSpPr>
          <p:spPr bwMode="auto">
            <a:xfrm>
              <a:off x="1394" y="3819"/>
              <a:ext cx="1272" cy="1"/>
            </a:xfrm>
            <a:custGeom>
              <a:avLst/>
              <a:gdLst>
                <a:gd name="T0" fmla="*/ 0 w 3153"/>
                <a:gd name="T1" fmla="*/ 0 h 1"/>
                <a:gd name="T2" fmla="*/ 0 w 3153"/>
                <a:gd name="T3" fmla="*/ 0 h 1"/>
                <a:gd name="T4" fmla="*/ 0 w 3153"/>
                <a:gd name="T5" fmla="*/ 0 h 1"/>
                <a:gd name="T6" fmla="*/ 0 60000 65536"/>
                <a:gd name="T7" fmla="*/ 0 60000 65536"/>
                <a:gd name="T8" fmla="*/ 0 60000 65536"/>
                <a:gd name="T9" fmla="*/ 0 w 3153"/>
                <a:gd name="T10" fmla="*/ 0 h 1"/>
                <a:gd name="T11" fmla="*/ 3153 w 31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3" h="1">
                  <a:moveTo>
                    <a:pt x="0" y="0"/>
                  </a:moveTo>
                  <a:lnTo>
                    <a:pt x="3152" y="0"/>
                  </a:lnTo>
                  <a:lnTo>
                    <a:pt x="3153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82" name="Freeform 18"/>
            <p:cNvSpPr>
              <a:spLocks/>
            </p:cNvSpPr>
            <p:nvPr/>
          </p:nvSpPr>
          <p:spPr bwMode="auto">
            <a:xfrm>
              <a:off x="1314" y="3763"/>
              <a:ext cx="1" cy="330"/>
            </a:xfrm>
            <a:custGeom>
              <a:avLst/>
              <a:gdLst>
                <a:gd name="T0" fmla="*/ 0 w 1"/>
                <a:gd name="T1" fmla="*/ 0 h 818"/>
                <a:gd name="T2" fmla="*/ 0 w 1"/>
                <a:gd name="T3" fmla="*/ 0 h 818"/>
                <a:gd name="T4" fmla="*/ 1 w 1"/>
                <a:gd name="T5" fmla="*/ 0 h 818"/>
                <a:gd name="T6" fmla="*/ 0 60000 65536"/>
                <a:gd name="T7" fmla="*/ 0 60000 65536"/>
                <a:gd name="T8" fmla="*/ 0 60000 65536"/>
                <a:gd name="T9" fmla="*/ 0 w 1"/>
                <a:gd name="T10" fmla="*/ 0 h 818"/>
                <a:gd name="T11" fmla="*/ 1 w 1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8">
                  <a:moveTo>
                    <a:pt x="0" y="0"/>
                  </a:moveTo>
                  <a:lnTo>
                    <a:pt x="0" y="818"/>
                  </a:lnTo>
                  <a:lnTo>
                    <a:pt x="1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14"/>
          <p:cNvGrpSpPr>
            <a:grpSpLocks/>
          </p:cNvGrpSpPr>
          <p:nvPr/>
        </p:nvGrpSpPr>
        <p:grpSpPr bwMode="auto">
          <a:xfrm rot="-5400000">
            <a:off x="4351338" y="5210175"/>
            <a:ext cx="950912" cy="439738"/>
            <a:chOff x="1294" y="3558"/>
            <a:chExt cx="1400" cy="310"/>
          </a:xfrm>
        </p:grpSpPr>
        <p:sp>
          <p:nvSpPr>
            <p:cNvPr id="28774" name="Freeform 17"/>
            <p:cNvSpPr>
              <a:spLocks/>
            </p:cNvSpPr>
            <p:nvPr/>
          </p:nvSpPr>
          <p:spPr bwMode="auto">
            <a:xfrm>
              <a:off x="1394" y="3611"/>
              <a:ext cx="1199" cy="1"/>
            </a:xfrm>
            <a:custGeom>
              <a:avLst/>
              <a:gdLst>
                <a:gd name="T0" fmla="*/ 0 w 3153"/>
                <a:gd name="T1" fmla="*/ 0 h 1"/>
                <a:gd name="T2" fmla="*/ 0 w 3153"/>
                <a:gd name="T3" fmla="*/ 0 h 1"/>
                <a:gd name="T4" fmla="*/ 0 w 3153"/>
                <a:gd name="T5" fmla="*/ 0 h 1"/>
                <a:gd name="T6" fmla="*/ 0 60000 65536"/>
                <a:gd name="T7" fmla="*/ 0 60000 65536"/>
                <a:gd name="T8" fmla="*/ 0 60000 65536"/>
                <a:gd name="T9" fmla="*/ 0 w 3153"/>
                <a:gd name="T10" fmla="*/ 0 h 1"/>
                <a:gd name="T11" fmla="*/ 3153 w 31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3" h="1">
                  <a:moveTo>
                    <a:pt x="0" y="0"/>
                  </a:moveTo>
                  <a:lnTo>
                    <a:pt x="3152" y="0"/>
                  </a:lnTo>
                  <a:lnTo>
                    <a:pt x="3153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5" name="Freeform 18"/>
            <p:cNvSpPr>
              <a:spLocks/>
            </p:cNvSpPr>
            <p:nvPr/>
          </p:nvSpPr>
          <p:spPr bwMode="auto">
            <a:xfrm>
              <a:off x="1294" y="3558"/>
              <a:ext cx="1" cy="310"/>
            </a:xfrm>
            <a:custGeom>
              <a:avLst/>
              <a:gdLst>
                <a:gd name="T0" fmla="*/ 0 w 1"/>
                <a:gd name="T1" fmla="*/ 0 h 818"/>
                <a:gd name="T2" fmla="*/ 0 w 1"/>
                <a:gd name="T3" fmla="*/ 0 h 818"/>
                <a:gd name="T4" fmla="*/ 1 w 1"/>
                <a:gd name="T5" fmla="*/ 0 h 818"/>
                <a:gd name="T6" fmla="*/ 0 60000 65536"/>
                <a:gd name="T7" fmla="*/ 0 60000 65536"/>
                <a:gd name="T8" fmla="*/ 0 60000 65536"/>
                <a:gd name="T9" fmla="*/ 0 w 1"/>
                <a:gd name="T10" fmla="*/ 0 h 818"/>
                <a:gd name="T11" fmla="*/ 1 w 1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8">
                  <a:moveTo>
                    <a:pt x="0" y="0"/>
                  </a:moveTo>
                  <a:lnTo>
                    <a:pt x="0" y="818"/>
                  </a:lnTo>
                  <a:lnTo>
                    <a:pt x="1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6" name="Freeform 19"/>
            <p:cNvSpPr>
              <a:spLocks/>
            </p:cNvSpPr>
            <p:nvPr/>
          </p:nvSpPr>
          <p:spPr bwMode="auto">
            <a:xfrm>
              <a:off x="1294" y="3591"/>
              <a:ext cx="100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4"/>
                  </a:lnTo>
                  <a:lnTo>
                    <a:pt x="262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7" name="Freeform 20"/>
            <p:cNvSpPr>
              <a:spLocks/>
            </p:cNvSpPr>
            <p:nvPr/>
          </p:nvSpPr>
          <p:spPr bwMode="auto">
            <a:xfrm>
              <a:off x="2693" y="3558"/>
              <a:ext cx="1" cy="310"/>
            </a:xfrm>
            <a:custGeom>
              <a:avLst/>
              <a:gdLst>
                <a:gd name="T0" fmla="*/ 0 w 2"/>
                <a:gd name="T1" fmla="*/ 0 h 818"/>
                <a:gd name="T2" fmla="*/ 0 w 2"/>
                <a:gd name="T3" fmla="*/ 0 h 818"/>
                <a:gd name="T4" fmla="*/ 1 w 2"/>
                <a:gd name="T5" fmla="*/ 0 h 818"/>
                <a:gd name="T6" fmla="*/ 0 60000 65536"/>
                <a:gd name="T7" fmla="*/ 0 60000 65536"/>
                <a:gd name="T8" fmla="*/ 0 60000 65536"/>
                <a:gd name="T9" fmla="*/ 0 w 2"/>
                <a:gd name="T10" fmla="*/ 0 h 818"/>
                <a:gd name="T11" fmla="*/ 2 w 2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818">
                  <a:moveTo>
                    <a:pt x="0" y="0"/>
                  </a:moveTo>
                  <a:lnTo>
                    <a:pt x="0" y="818"/>
                  </a:lnTo>
                  <a:lnTo>
                    <a:pt x="2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8" name="Freeform 21"/>
            <p:cNvSpPr>
              <a:spLocks/>
            </p:cNvSpPr>
            <p:nvPr/>
          </p:nvSpPr>
          <p:spPr bwMode="auto">
            <a:xfrm>
              <a:off x="2592" y="3591"/>
              <a:ext cx="101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4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4562476" y="5903915"/>
            <a:ext cx="657225" cy="481201"/>
            <a:chOff x="804" y="3421"/>
            <a:chExt cx="490" cy="439"/>
          </a:xfrm>
        </p:grpSpPr>
        <p:sp>
          <p:nvSpPr>
            <p:cNvPr id="28768" name="Freeform 39"/>
            <p:cNvSpPr>
              <a:spLocks/>
            </p:cNvSpPr>
            <p:nvPr/>
          </p:nvSpPr>
          <p:spPr bwMode="auto">
            <a:xfrm>
              <a:off x="1165" y="3421"/>
              <a:ext cx="129" cy="181"/>
            </a:xfrm>
            <a:custGeom>
              <a:avLst/>
              <a:gdLst>
                <a:gd name="T0" fmla="*/ 0 w 339"/>
                <a:gd name="T1" fmla="*/ 0 h 476"/>
                <a:gd name="T2" fmla="*/ 0 w 339"/>
                <a:gd name="T3" fmla="*/ 0 h 476"/>
                <a:gd name="T4" fmla="*/ 0 w 339"/>
                <a:gd name="T5" fmla="*/ 0 h 476"/>
                <a:gd name="T6" fmla="*/ 0 60000 65536"/>
                <a:gd name="T7" fmla="*/ 0 60000 65536"/>
                <a:gd name="T8" fmla="*/ 0 60000 65536"/>
                <a:gd name="T9" fmla="*/ 0 w 339"/>
                <a:gd name="T10" fmla="*/ 0 h 476"/>
                <a:gd name="T11" fmla="*/ 339 w 339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9" h="476">
                  <a:moveTo>
                    <a:pt x="339" y="0"/>
                  </a:moveTo>
                  <a:lnTo>
                    <a:pt x="0" y="476"/>
                  </a:lnTo>
                  <a:lnTo>
                    <a:pt x="2" y="4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69" name="Freeform 40"/>
            <p:cNvSpPr>
              <a:spLocks/>
            </p:cNvSpPr>
            <p:nvPr/>
          </p:nvSpPr>
          <p:spPr bwMode="auto">
            <a:xfrm>
              <a:off x="1026" y="3602"/>
              <a:ext cx="140" cy="196"/>
            </a:xfrm>
            <a:custGeom>
              <a:avLst/>
              <a:gdLst>
                <a:gd name="T0" fmla="*/ 0 w 370"/>
                <a:gd name="T1" fmla="*/ 0 h 517"/>
                <a:gd name="T2" fmla="*/ 0 w 370"/>
                <a:gd name="T3" fmla="*/ 0 h 517"/>
                <a:gd name="T4" fmla="*/ 0 w 370"/>
                <a:gd name="T5" fmla="*/ 0 h 517"/>
                <a:gd name="T6" fmla="*/ 0 60000 65536"/>
                <a:gd name="T7" fmla="*/ 0 60000 65536"/>
                <a:gd name="T8" fmla="*/ 0 60000 65536"/>
                <a:gd name="T9" fmla="*/ 0 w 370"/>
                <a:gd name="T10" fmla="*/ 0 h 517"/>
                <a:gd name="T11" fmla="*/ 370 w 370"/>
                <a:gd name="T12" fmla="*/ 517 h 5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0" h="517">
                  <a:moveTo>
                    <a:pt x="0" y="517"/>
                  </a:moveTo>
                  <a:lnTo>
                    <a:pt x="368" y="0"/>
                  </a:lnTo>
                  <a:lnTo>
                    <a:pt x="37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0" name="Freeform 41"/>
            <p:cNvSpPr>
              <a:spLocks/>
            </p:cNvSpPr>
            <p:nvPr/>
          </p:nvSpPr>
          <p:spPr bwMode="auto">
            <a:xfrm>
              <a:off x="873" y="3798"/>
              <a:ext cx="153" cy="1"/>
            </a:xfrm>
            <a:custGeom>
              <a:avLst/>
              <a:gdLst>
                <a:gd name="T0" fmla="*/ 0 w 401"/>
                <a:gd name="T1" fmla="*/ 0 h 1"/>
                <a:gd name="T2" fmla="*/ 0 w 401"/>
                <a:gd name="T3" fmla="*/ 0 h 1"/>
                <a:gd name="T4" fmla="*/ 0 w 401"/>
                <a:gd name="T5" fmla="*/ 0 h 1"/>
                <a:gd name="T6" fmla="*/ 0 60000 65536"/>
                <a:gd name="T7" fmla="*/ 0 60000 65536"/>
                <a:gd name="T8" fmla="*/ 0 60000 65536"/>
                <a:gd name="T9" fmla="*/ 0 w 401"/>
                <a:gd name="T10" fmla="*/ 0 h 1"/>
                <a:gd name="T11" fmla="*/ 401 w 40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1" h="1">
                  <a:moveTo>
                    <a:pt x="40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1" name="Freeform 42"/>
            <p:cNvSpPr>
              <a:spLocks/>
            </p:cNvSpPr>
            <p:nvPr/>
          </p:nvSpPr>
          <p:spPr bwMode="auto">
            <a:xfrm>
              <a:off x="1094" y="3602"/>
              <a:ext cx="71" cy="91"/>
            </a:xfrm>
            <a:custGeom>
              <a:avLst/>
              <a:gdLst>
                <a:gd name="T0" fmla="*/ 0 w 188"/>
                <a:gd name="T1" fmla="*/ 0 h 240"/>
                <a:gd name="T2" fmla="*/ 0 w 188"/>
                <a:gd name="T3" fmla="*/ 0 h 240"/>
                <a:gd name="T4" fmla="*/ 0 w 188"/>
                <a:gd name="T5" fmla="*/ 0 h 240"/>
                <a:gd name="T6" fmla="*/ 0 w 188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8"/>
                <a:gd name="T13" fmla="*/ 0 h 240"/>
                <a:gd name="T14" fmla="*/ 188 w 1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8" h="240">
                  <a:moveTo>
                    <a:pt x="0" y="189"/>
                  </a:moveTo>
                  <a:lnTo>
                    <a:pt x="71" y="240"/>
                  </a:lnTo>
                  <a:lnTo>
                    <a:pt x="188" y="0"/>
                  </a:lnTo>
                  <a:lnTo>
                    <a:pt x="0" y="1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2" name="Freeform 43"/>
            <p:cNvSpPr>
              <a:spLocks/>
            </p:cNvSpPr>
            <p:nvPr/>
          </p:nvSpPr>
          <p:spPr bwMode="auto">
            <a:xfrm>
              <a:off x="1094" y="3602"/>
              <a:ext cx="71" cy="91"/>
            </a:xfrm>
            <a:custGeom>
              <a:avLst/>
              <a:gdLst>
                <a:gd name="T0" fmla="*/ 0 w 188"/>
                <a:gd name="T1" fmla="*/ 0 h 240"/>
                <a:gd name="T2" fmla="*/ 0 w 188"/>
                <a:gd name="T3" fmla="*/ 0 h 240"/>
                <a:gd name="T4" fmla="*/ 0 w 188"/>
                <a:gd name="T5" fmla="*/ 0 h 240"/>
                <a:gd name="T6" fmla="*/ 0 w 188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8"/>
                <a:gd name="T13" fmla="*/ 0 h 240"/>
                <a:gd name="T14" fmla="*/ 188 w 1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8" h="240">
                  <a:moveTo>
                    <a:pt x="0" y="189"/>
                  </a:moveTo>
                  <a:lnTo>
                    <a:pt x="71" y="240"/>
                  </a:lnTo>
                  <a:lnTo>
                    <a:pt x="188" y="0"/>
                  </a:lnTo>
                  <a:lnTo>
                    <a:pt x="0" y="189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3" name="Text Box 44"/>
            <p:cNvSpPr txBox="1">
              <a:spLocks noChangeArrowheads="1"/>
            </p:cNvSpPr>
            <p:nvPr/>
          </p:nvSpPr>
          <p:spPr bwMode="auto">
            <a:xfrm flipH="1">
              <a:off x="804" y="3495"/>
              <a:ext cx="16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>
                  <a:latin typeface="ISOCPEUR" pitchFamily="34" charset="0"/>
                </a:rPr>
                <a:t>R</a:t>
              </a:r>
            </a:p>
          </p:txBody>
        </p:sp>
      </p:grpSp>
      <p:grpSp>
        <p:nvGrpSpPr>
          <p:cNvPr id="9" name="Group 45"/>
          <p:cNvGrpSpPr>
            <a:grpSpLocks/>
          </p:cNvGrpSpPr>
          <p:nvPr/>
        </p:nvGrpSpPr>
        <p:grpSpPr bwMode="auto">
          <a:xfrm>
            <a:off x="4306889" y="4305301"/>
            <a:ext cx="1195387" cy="868363"/>
            <a:chOff x="511" y="2874"/>
            <a:chExt cx="1019" cy="750"/>
          </a:xfrm>
        </p:grpSpPr>
        <p:sp>
          <p:nvSpPr>
            <p:cNvPr id="28759" name="Freeform 46"/>
            <p:cNvSpPr>
              <a:spLocks/>
            </p:cNvSpPr>
            <p:nvPr/>
          </p:nvSpPr>
          <p:spPr bwMode="auto">
            <a:xfrm>
              <a:off x="1124" y="3270"/>
              <a:ext cx="87" cy="78"/>
            </a:xfrm>
            <a:custGeom>
              <a:avLst/>
              <a:gdLst>
                <a:gd name="T0" fmla="*/ 0 w 226"/>
                <a:gd name="T1" fmla="*/ 0 h 206"/>
                <a:gd name="T2" fmla="*/ 0 w 226"/>
                <a:gd name="T3" fmla="*/ 0 h 206"/>
                <a:gd name="T4" fmla="*/ 0 w 226"/>
                <a:gd name="T5" fmla="*/ 0 h 206"/>
                <a:gd name="T6" fmla="*/ 0 w 226"/>
                <a:gd name="T7" fmla="*/ 0 h 2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6"/>
                <a:gd name="T13" fmla="*/ 0 h 206"/>
                <a:gd name="T14" fmla="*/ 226 w 226"/>
                <a:gd name="T15" fmla="*/ 206 h 2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6" h="206">
                  <a:moveTo>
                    <a:pt x="57" y="0"/>
                  </a:moveTo>
                  <a:lnTo>
                    <a:pt x="0" y="67"/>
                  </a:lnTo>
                  <a:lnTo>
                    <a:pt x="226" y="206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60" name="Freeform 47"/>
            <p:cNvSpPr>
              <a:spLocks/>
            </p:cNvSpPr>
            <p:nvPr/>
          </p:nvSpPr>
          <p:spPr bwMode="auto">
            <a:xfrm>
              <a:off x="1378" y="3494"/>
              <a:ext cx="87" cy="77"/>
            </a:xfrm>
            <a:custGeom>
              <a:avLst/>
              <a:gdLst>
                <a:gd name="T0" fmla="*/ 0 w 228"/>
                <a:gd name="T1" fmla="*/ 0 h 206"/>
                <a:gd name="T2" fmla="*/ 0 w 228"/>
                <a:gd name="T3" fmla="*/ 0 h 206"/>
                <a:gd name="T4" fmla="*/ 0 w 228"/>
                <a:gd name="T5" fmla="*/ 0 h 206"/>
                <a:gd name="T6" fmla="*/ 0 w 228"/>
                <a:gd name="T7" fmla="*/ 0 h 2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8"/>
                <a:gd name="T13" fmla="*/ 0 h 206"/>
                <a:gd name="T14" fmla="*/ 228 w 228"/>
                <a:gd name="T15" fmla="*/ 206 h 2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8" h="206">
                  <a:moveTo>
                    <a:pt x="228" y="140"/>
                  </a:moveTo>
                  <a:lnTo>
                    <a:pt x="170" y="206"/>
                  </a:lnTo>
                  <a:lnTo>
                    <a:pt x="0" y="0"/>
                  </a:lnTo>
                  <a:lnTo>
                    <a:pt x="228" y="1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61" name="Freeform 48"/>
            <p:cNvSpPr>
              <a:spLocks/>
            </p:cNvSpPr>
            <p:nvPr/>
          </p:nvSpPr>
          <p:spPr bwMode="auto">
            <a:xfrm>
              <a:off x="1124" y="3270"/>
              <a:ext cx="87" cy="78"/>
            </a:xfrm>
            <a:custGeom>
              <a:avLst/>
              <a:gdLst>
                <a:gd name="T0" fmla="*/ 0 w 226"/>
                <a:gd name="T1" fmla="*/ 0 h 206"/>
                <a:gd name="T2" fmla="*/ 0 w 226"/>
                <a:gd name="T3" fmla="*/ 0 h 206"/>
                <a:gd name="T4" fmla="*/ 0 w 226"/>
                <a:gd name="T5" fmla="*/ 0 h 206"/>
                <a:gd name="T6" fmla="*/ 0 w 226"/>
                <a:gd name="T7" fmla="*/ 0 h 2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6"/>
                <a:gd name="T13" fmla="*/ 0 h 206"/>
                <a:gd name="T14" fmla="*/ 226 w 226"/>
                <a:gd name="T15" fmla="*/ 206 h 2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6" h="206">
                  <a:moveTo>
                    <a:pt x="57" y="0"/>
                  </a:moveTo>
                  <a:lnTo>
                    <a:pt x="0" y="67"/>
                  </a:lnTo>
                  <a:lnTo>
                    <a:pt x="226" y="206"/>
                  </a:lnTo>
                  <a:lnTo>
                    <a:pt x="5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62" name="Freeform 49"/>
            <p:cNvSpPr>
              <a:spLocks/>
            </p:cNvSpPr>
            <p:nvPr/>
          </p:nvSpPr>
          <p:spPr bwMode="auto">
            <a:xfrm>
              <a:off x="1211" y="3348"/>
              <a:ext cx="167" cy="146"/>
            </a:xfrm>
            <a:custGeom>
              <a:avLst/>
              <a:gdLst>
                <a:gd name="T0" fmla="*/ 0 w 442"/>
                <a:gd name="T1" fmla="*/ 0 h 382"/>
                <a:gd name="T2" fmla="*/ 0 w 442"/>
                <a:gd name="T3" fmla="*/ 0 h 382"/>
                <a:gd name="T4" fmla="*/ 0 w 442"/>
                <a:gd name="T5" fmla="*/ 0 h 382"/>
                <a:gd name="T6" fmla="*/ 0 60000 65536"/>
                <a:gd name="T7" fmla="*/ 0 60000 65536"/>
                <a:gd name="T8" fmla="*/ 0 60000 65536"/>
                <a:gd name="T9" fmla="*/ 0 w 442"/>
                <a:gd name="T10" fmla="*/ 0 h 382"/>
                <a:gd name="T11" fmla="*/ 442 w 442"/>
                <a:gd name="T12" fmla="*/ 382 h 3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2" h="382">
                  <a:moveTo>
                    <a:pt x="442" y="38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63" name="Freeform 50"/>
            <p:cNvSpPr>
              <a:spLocks/>
            </p:cNvSpPr>
            <p:nvPr/>
          </p:nvSpPr>
          <p:spPr bwMode="auto">
            <a:xfrm>
              <a:off x="1378" y="3494"/>
              <a:ext cx="87" cy="77"/>
            </a:xfrm>
            <a:custGeom>
              <a:avLst/>
              <a:gdLst>
                <a:gd name="T0" fmla="*/ 0 w 228"/>
                <a:gd name="T1" fmla="*/ 0 h 206"/>
                <a:gd name="T2" fmla="*/ 0 w 228"/>
                <a:gd name="T3" fmla="*/ 0 h 206"/>
                <a:gd name="T4" fmla="*/ 0 w 228"/>
                <a:gd name="T5" fmla="*/ 0 h 206"/>
                <a:gd name="T6" fmla="*/ 0 w 228"/>
                <a:gd name="T7" fmla="*/ 0 h 2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8"/>
                <a:gd name="T13" fmla="*/ 0 h 206"/>
                <a:gd name="T14" fmla="*/ 228 w 228"/>
                <a:gd name="T15" fmla="*/ 206 h 2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8" h="206">
                  <a:moveTo>
                    <a:pt x="228" y="140"/>
                  </a:moveTo>
                  <a:lnTo>
                    <a:pt x="170" y="206"/>
                  </a:lnTo>
                  <a:lnTo>
                    <a:pt x="0" y="0"/>
                  </a:lnTo>
                  <a:lnTo>
                    <a:pt x="228" y="14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64" name="Freeform 51"/>
            <p:cNvSpPr>
              <a:spLocks/>
            </p:cNvSpPr>
            <p:nvPr/>
          </p:nvSpPr>
          <p:spPr bwMode="auto">
            <a:xfrm>
              <a:off x="1454" y="3559"/>
              <a:ext cx="76" cy="65"/>
            </a:xfrm>
            <a:custGeom>
              <a:avLst/>
              <a:gdLst>
                <a:gd name="T0" fmla="*/ 0 w 201"/>
                <a:gd name="T1" fmla="*/ 0 h 171"/>
                <a:gd name="T2" fmla="*/ 0 w 201"/>
                <a:gd name="T3" fmla="*/ 0 h 171"/>
                <a:gd name="T4" fmla="*/ 0 w 201"/>
                <a:gd name="T5" fmla="*/ 0 h 171"/>
                <a:gd name="T6" fmla="*/ 0 60000 65536"/>
                <a:gd name="T7" fmla="*/ 0 60000 65536"/>
                <a:gd name="T8" fmla="*/ 0 60000 65536"/>
                <a:gd name="T9" fmla="*/ 0 w 201"/>
                <a:gd name="T10" fmla="*/ 0 h 171"/>
                <a:gd name="T11" fmla="*/ 201 w 201"/>
                <a:gd name="T12" fmla="*/ 171 h 1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" h="171">
                  <a:moveTo>
                    <a:pt x="0" y="0"/>
                  </a:moveTo>
                  <a:lnTo>
                    <a:pt x="200" y="171"/>
                  </a:lnTo>
                  <a:lnTo>
                    <a:pt x="201" y="17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65" name="Freeform 52"/>
            <p:cNvSpPr>
              <a:spLocks/>
            </p:cNvSpPr>
            <p:nvPr/>
          </p:nvSpPr>
          <p:spPr bwMode="auto">
            <a:xfrm>
              <a:off x="1016" y="3179"/>
              <a:ext cx="119" cy="104"/>
            </a:xfrm>
            <a:custGeom>
              <a:avLst/>
              <a:gdLst>
                <a:gd name="T0" fmla="*/ 0 w 314"/>
                <a:gd name="T1" fmla="*/ 0 h 273"/>
                <a:gd name="T2" fmla="*/ 0 w 314"/>
                <a:gd name="T3" fmla="*/ 0 h 273"/>
                <a:gd name="T4" fmla="*/ 0 w 314"/>
                <a:gd name="T5" fmla="*/ 0 h 273"/>
                <a:gd name="T6" fmla="*/ 0 60000 65536"/>
                <a:gd name="T7" fmla="*/ 0 60000 65536"/>
                <a:gd name="T8" fmla="*/ 0 60000 65536"/>
                <a:gd name="T9" fmla="*/ 0 w 314"/>
                <a:gd name="T10" fmla="*/ 0 h 273"/>
                <a:gd name="T11" fmla="*/ 314 w 314"/>
                <a:gd name="T12" fmla="*/ 273 h 2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4" h="273">
                  <a:moveTo>
                    <a:pt x="0" y="0"/>
                  </a:moveTo>
                  <a:lnTo>
                    <a:pt x="313" y="273"/>
                  </a:lnTo>
                  <a:lnTo>
                    <a:pt x="314" y="27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66" name="Text Box 53"/>
            <p:cNvSpPr txBox="1">
              <a:spLocks noChangeArrowheads="1"/>
            </p:cNvSpPr>
            <p:nvPr/>
          </p:nvSpPr>
          <p:spPr bwMode="auto">
            <a:xfrm>
              <a:off x="511" y="2874"/>
              <a:ext cx="593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1">
                  <a:latin typeface="ISOCP" pitchFamily="2" charset="0"/>
                </a:rPr>
                <a:t>4</a:t>
              </a:r>
              <a:r>
                <a:rPr lang="en-US" altLang="zh-CN" i="1">
                  <a:latin typeface="ISOCP" pitchFamily="2" charset="0"/>
                </a:rPr>
                <a:t>×</a:t>
              </a:r>
              <a:r>
                <a:rPr lang="en-US" altLang="zh-CN" sz="2000" i="1">
                  <a:latin typeface="ISOCPEUR" pitchFamily="34" charset="0"/>
                  <a:sym typeface="Symbol" pitchFamily="18" charset="2"/>
                </a:rPr>
                <a:t></a:t>
              </a:r>
            </a:p>
          </p:txBody>
        </p:sp>
        <p:sp>
          <p:nvSpPr>
            <p:cNvPr id="28767" name="Line 54"/>
            <p:cNvSpPr>
              <a:spLocks noChangeShapeType="1"/>
            </p:cNvSpPr>
            <p:nvPr/>
          </p:nvSpPr>
          <p:spPr bwMode="auto">
            <a:xfrm flipH="1">
              <a:off x="588" y="3179"/>
              <a:ext cx="4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67"/>
          <p:cNvGrpSpPr>
            <a:grpSpLocks/>
          </p:cNvGrpSpPr>
          <p:nvPr/>
        </p:nvGrpSpPr>
        <p:grpSpPr bwMode="auto">
          <a:xfrm>
            <a:off x="8240714" y="1732225"/>
            <a:ext cx="1184275" cy="1079239"/>
            <a:chOff x="1537" y="570"/>
            <a:chExt cx="770" cy="653"/>
          </a:xfrm>
        </p:grpSpPr>
        <p:sp>
          <p:nvSpPr>
            <p:cNvPr id="28751" name="Freeform 68"/>
            <p:cNvSpPr>
              <a:spLocks/>
            </p:cNvSpPr>
            <p:nvPr/>
          </p:nvSpPr>
          <p:spPr bwMode="auto">
            <a:xfrm>
              <a:off x="1537" y="755"/>
              <a:ext cx="229" cy="139"/>
            </a:xfrm>
            <a:custGeom>
              <a:avLst/>
              <a:gdLst>
                <a:gd name="T0" fmla="*/ 0 w 602"/>
                <a:gd name="T1" fmla="*/ 0 h 365"/>
                <a:gd name="T2" fmla="*/ 0 w 602"/>
                <a:gd name="T3" fmla="*/ 0 h 365"/>
                <a:gd name="T4" fmla="*/ 0 w 602"/>
                <a:gd name="T5" fmla="*/ 0 h 365"/>
                <a:gd name="T6" fmla="*/ 0 60000 65536"/>
                <a:gd name="T7" fmla="*/ 0 60000 65536"/>
                <a:gd name="T8" fmla="*/ 0 60000 65536"/>
                <a:gd name="T9" fmla="*/ 0 w 602"/>
                <a:gd name="T10" fmla="*/ 0 h 365"/>
                <a:gd name="T11" fmla="*/ 602 w 602"/>
                <a:gd name="T12" fmla="*/ 365 h 3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2" h="365">
                  <a:moveTo>
                    <a:pt x="0" y="0"/>
                  </a:moveTo>
                  <a:lnTo>
                    <a:pt x="601" y="365"/>
                  </a:lnTo>
                  <a:lnTo>
                    <a:pt x="602" y="36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52" name="Freeform 69"/>
            <p:cNvSpPr>
              <a:spLocks/>
            </p:cNvSpPr>
            <p:nvPr/>
          </p:nvSpPr>
          <p:spPr bwMode="auto">
            <a:xfrm>
              <a:off x="1757" y="879"/>
              <a:ext cx="94" cy="66"/>
            </a:xfrm>
            <a:custGeom>
              <a:avLst/>
              <a:gdLst>
                <a:gd name="T0" fmla="*/ 0 w 246"/>
                <a:gd name="T1" fmla="*/ 0 h 174"/>
                <a:gd name="T2" fmla="*/ 0 w 246"/>
                <a:gd name="T3" fmla="*/ 0 h 174"/>
                <a:gd name="T4" fmla="*/ 0 w 246"/>
                <a:gd name="T5" fmla="*/ 0 h 174"/>
                <a:gd name="T6" fmla="*/ 0 w 246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6"/>
                <a:gd name="T13" fmla="*/ 0 h 174"/>
                <a:gd name="T14" fmla="*/ 246 w 246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6" h="174">
                  <a:moveTo>
                    <a:pt x="45" y="0"/>
                  </a:moveTo>
                  <a:lnTo>
                    <a:pt x="0" y="75"/>
                  </a:lnTo>
                  <a:lnTo>
                    <a:pt x="246" y="17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53" name="Freeform 70"/>
            <p:cNvSpPr>
              <a:spLocks/>
            </p:cNvSpPr>
            <p:nvPr/>
          </p:nvSpPr>
          <p:spPr bwMode="auto">
            <a:xfrm>
              <a:off x="1757" y="879"/>
              <a:ext cx="94" cy="66"/>
            </a:xfrm>
            <a:custGeom>
              <a:avLst/>
              <a:gdLst>
                <a:gd name="T0" fmla="*/ 0 w 246"/>
                <a:gd name="T1" fmla="*/ 0 h 174"/>
                <a:gd name="T2" fmla="*/ 0 w 246"/>
                <a:gd name="T3" fmla="*/ 0 h 174"/>
                <a:gd name="T4" fmla="*/ 0 w 246"/>
                <a:gd name="T5" fmla="*/ 0 h 174"/>
                <a:gd name="T6" fmla="*/ 0 w 246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6"/>
                <a:gd name="T13" fmla="*/ 0 h 174"/>
                <a:gd name="T14" fmla="*/ 246 w 246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6" h="174">
                  <a:moveTo>
                    <a:pt x="45" y="0"/>
                  </a:moveTo>
                  <a:lnTo>
                    <a:pt x="0" y="75"/>
                  </a:lnTo>
                  <a:lnTo>
                    <a:pt x="246" y="174"/>
                  </a:lnTo>
                  <a:lnTo>
                    <a:pt x="4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54" name="Freeform 71"/>
            <p:cNvSpPr>
              <a:spLocks/>
            </p:cNvSpPr>
            <p:nvPr/>
          </p:nvSpPr>
          <p:spPr bwMode="auto">
            <a:xfrm>
              <a:off x="2136" y="1119"/>
              <a:ext cx="95" cy="66"/>
            </a:xfrm>
            <a:custGeom>
              <a:avLst/>
              <a:gdLst>
                <a:gd name="T0" fmla="*/ 0 w 248"/>
                <a:gd name="T1" fmla="*/ 0 h 174"/>
                <a:gd name="T2" fmla="*/ 0 w 248"/>
                <a:gd name="T3" fmla="*/ 0 h 174"/>
                <a:gd name="T4" fmla="*/ 0 w 248"/>
                <a:gd name="T5" fmla="*/ 0 h 174"/>
                <a:gd name="T6" fmla="*/ 0 w 248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8"/>
                <a:gd name="T13" fmla="*/ 0 h 174"/>
                <a:gd name="T14" fmla="*/ 248 w 248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8" h="174">
                  <a:moveTo>
                    <a:pt x="248" y="99"/>
                  </a:moveTo>
                  <a:lnTo>
                    <a:pt x="202" y="174"/>
                  </a:lnTo>
                  <a:lnTo>
                    <a:pt x="0" y="0"/>
                  </a:lnTo>
                  <a:lnTo>
                    <a:pt x="248" y="9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55" name="Freeform 72"/>
            <p:cNvSpPr>
              <a:spLocks/>
            </p:cNvSpPr>
            <p:nvPr/>
          </p:nvSpPr>
          <p:spPr bwMode="auto">
            <a:xfrm>
              <a:off x="2136" y="1119"/>
              <a:ext cx="95" cy="66"/>
            </a:xfrm>
            <a:custGeom>
              <a:avLst/>
              <a:gdLst>
                <a:gd name="T0" fmla="*/ 0 w 248"/>
                <a:gd name="T1" fmla="*/ 0 h 174"/>
                <a:gd name="T2" fmla="*/ 0 w 248"/>
                <a:gd name="T3" fmla="*/ 0 h 174"/>
                <a:gd name="T4" fmla="*/ 0 w 248"/>
                <a:gd name="T5" fmla="*/ 0 h 174"/>
                <a:gd name="T6" fmla="*/ 0 w 248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8"/>
                <a:gd name="T13" fmla="*/ 0 h 174"/>
                <a:gd name="T14" fmla="*/ 248 w 248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8" h="174">
                  <a:moveTo>
                    <a:pt x="248" y="99"/>
                  </a:moveTo>
                  <a:lnTo>
                    <a:pt x="202" y="174"/>
                  </a:lnTo>
                  <a:lnTo>
                    <a:pt x="0" y="0"/>
                  </a:lnTo>
                  <a:lnTo>
                    <a:pt x="248" y="99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56" name="Freeform 73"/>
            <p:cNvSpPr>
              <a:spLocks/>
            </p:cNvSpPr>
            <p:nvPr/>
          </p:nvSpPr>
          <p:spPr bwMode="auto">
            <a:xfrm>
              <a:off x="1851" y="945"/>
              <a:ext cx="285" cy="174"/>
            </a:xfrm>
            <a:custGeom>
              <a:avLst/>
              <a:gdLst>
                <a:gd name="T0" fmla="*/ 0 w 750"/>
                <a:gd name="T1" fmla="*/ 0 h 456"/>
                <a:gd name="T2" fmla="*/ 0 w 750"/>
                <a:gd name="T3" fmla="*/ 0 h 456"/>
                <a:gd name="T4" fmla="*/ 0 w 750"/>
                <a:gd name="T5" fmla="*/ 0 h 456"/>
                <a:gd name="T6" fmla="*/ 0 60000 65536"/>
                <a:gd name="T7" fmla="*/ 0 60000 65536"/>
                <a:gd name="T8" fmla="*/ 0 60000 65536"/>
                <a:gd name="T9" fmla="*/ 0 w 750"/>
                <a:gd name="T10" fmla="*/ 0 h 456"/>
                <a:gd name="T11" fmla="*/ 750 w 750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0" h="456">
                  <a:moveTo>
                    <a:pt x="750" y="45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57" name="Freeform 74"/>
            <p:cNvSpPr>
              <a:spLocks/>
            </p:cNvSpPr>
            <p:nvPr/>
          </p:nvSpPr>
          <p:spPr bwMode="auto">
            <a:xfrm>
              <a:off x="2221" y="1171"/>
              <a:ext cx="86" cy="52"/>
            </a:xfrm>
            <a:custGeom>
              <a:avLst/>
              <a:gdLst>
                <a:gd name="T0" fmla="*/ 0 w 225"/>
                <a:gd name="T1" fmla="*/ 0 h 137"/>
                <a:gd name="T2" fmla="*/ 0 w 225"/>
                <a:gd name="T3" fmla="*/ 0 h 137"/>
                <a:gd name="T4" fmla="*/ 0 w 225"/>
                <a:gd name="T5" fmla="*/ 0 h 137"/>
                <a:gd name="T6" fmla="*/ 0 60000 65536"/>
                <a:gd name="T7" fmla="*/ 0 60000 65536"/>
                <a:gd name="T8" fmla="*/ 0 60000 65536"/>
                <a:gd name="T9" fmla="*/ 0 w 225"/>
                <a:gd name="T10" fmla="*/ 0 h 137"/>
                <a:gd name="T11" fmla="*/ 225 w 225"/>
                <a:gd name="T12" fmla="*/ 137 h 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5" h="137">
                  <a:moveTo>
                    <a:pt x="0" y="0"/>
                  </a:moveTo>
                  <a:lnTo>
                    <a:pt x="223" y="137"/>
                  </a:lnTo>
                  <a:lnTo>
                    <a:pt x="225" y="13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58" name="Text Box 75"/>
            <p:cNvSpPr txBox="1">
              <a:spLocks noChangeArrowheads="1"/>
            </p:cNvSpPr>
            <p:nvPr/>
          </p:nvSpPr>
          <p:spPr bwMode="auto">
            <a:xfrm rot="1630211">
              <a:off x="1551" y="570"/>
              <a:ext cx="207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1">
                  <a:latin typeface="ISOCPEUR" pitchFamily="34" charset="0"/>
                  <a:sym typeface="Symbol" pitchFamily="18" charset="2"/>
                </a:rPr>
                <a:t></a:t>
              </a:r>
            </a:p>
          </p:txBody>
        </p:sp>
      </p:grpSp>
      <p:grpSp>
        <p:nvGrpSpPr>
          <p:cNvPr id="11" name="Group 84"/>
          <p:cNvGrpSpPr>
            <a:grpSpLocks/>
          </p:cNvGrpSpPr>
          <p:nvPr/>
        </p:nvGrpSpPr>
        <p:grpSpPr bwMode="auto">
          <a:xfrm>
            <a:off x="4891089" y="1995489"/>
            <a:ext cx="725487" cy="966787"/>
            <a:chOff x="4618" y="690"/>
            <a:chExt cx="457" cy="678"/>
          </a:xfrm>
        </p:grpSpPr>
        <p:sp>
          <p:nvSpPr>
            <p:cNvPr id="28747" name="Line 85"/>
            <p:cNvSpPr>
              <a:spLocks noChangeShapeType="1"/>
            </p:cNvSpPr>
            <p:nvPr/>
          </p:nvSpPr>
          <p:spPr bwMode="auto">
            <a:xfrm>
              <a:off x="4834" y="690"/>
              <a:ext cx="0" cy="6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48" name="Text Box 86"/>
            <p:cNvSpPr txBox="1">
              <a:spLocks noChangeArrowheads="1"/>
            </p:cNvSpPr>
            <p:nvPr/>
          </p:nvSpPr>
          <p:spPr bwMode="auto">
            <a:xfrm rot="16200000">
              <a:off x="4632" y="925"/>
              <a:ext cx="22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Aft>
                  <a:spcPct val="25000"/>
                </a:spcAft>
              </a:pPr>
              <a:r>
                <a:rPr lang="en-US" altLang="zh-CN" sz="2000" i="1">
                  <a:latin typeface="ISOCPEUR" pitchFamily="34" charset="0"/>
                  <a:sym typeface="Symbol" pitchFamily="18" charset="2"/>
                </a:rPr>
                <a:t></a:t>
              </a:r>
            </a:p>
          </p:txBody>
        </p:sp>
        <p:sp>
          <p:nvSpPr>
            <p:cNvPr id="28749" name="Line 87"/>
            <p:cNvSpPr>
              <a:spLocks noChangeShapeType="1"/>
            </p:cNvSpPr>
            <p:nvPr/>
          </p:nvSpPr>
          <p:spPr bwMode="auto">
            <a:xfrm>
              <a:off x="4779" y="698"/>
              <a:ext cx="2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50" name="Line 88"/>
            <p:cNvSpPr>
              <a:spLocks noChangeShapeType="1"/>
            </p:cNvSpPr>
            <p:nvPr/>
          </p:nvSpPr>
          <p:spPr bwMode="auto">
            <a:xfrm>
              <a:off x="4779" y="1368"/>
              <a:ext cx="29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" name="Group 96"/>
          <p:cNvGrpSpPr>
            <a:grpSpLocks/>
          </p:cNvGrpSpPr>
          <p:nvPr/>
        </p:nvGrpSpPr>
        <p:grpSpPr bwMode="auto">
          <a:xfrm>
            <a:off x="5621338" y="1270000"/>
            <a:ext cx="1168400" cy="757238"/>
            <a:chOff x="3509" y="472"/>
            <a:chExt cx="889" cy="227"/>
          </a:xfrm>
        </p:grpSpPr>
        <p:sp>
          <p:nvSpPr>
            <p:cNvPr id="28744" name="Line 97"/>
            <p:cNvSpPr>
              <a:spLocks noChangeShapeType="1"/>
            </p:cNvSpPr>
            <p:nvPr/>
          </p:nvSpPr>
          <p:spPr bwMode="auto">
            <a:xfrm flipV="1">
              <a:off x="3509" y="472"/>
              <a:ext cx="0" cy="2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45" name="Line 98"/>
            <p:cNvSpPr>
              <a:spLocks noChangeShapeType="1"/>
            </p:cNvSpPr>
            <p:nvPr/>
          </p:nvSpPr>
          <p:spPr bwMode="auto">
            <a:xfrm flipV="1">
              <a:off x="4383" y="472"/>
              <a:ext cx="0" cy="22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46" name="Line 99"/>
            <p:cNvSpPr>
              <a:spLocks noChangeShapeType="1"/>
            </p:cNvSpPr>
            <p:nvPr/>
          </p:nvSpPr>
          <p:spPr bwMode="auto">
            <a:xfrm>
              <a:off x="3509" y="508"/>
              <a:ext cx="8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7270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031164" y="4779964"/>
            <a:ext cx="2117725" cy="18891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19" name="Group 6"/>
          <p:cNvGrpSpPr>
            <a:grpSpLocks/>
          </p:cNvGrpSpPr>
          <p:nvPr/>
        </p:nvGrpSpPr>
        <p:grpSpPr bwMode="auto">
          <a:xfrm>
            <a:off x="6499225" y="2954339"/>
            <a:ext cx="457200" cy="255587"/>
            <a:chOff x="3362" y="1366"/>
            <a:chExt cx="414" cy="242"/>
          </a:xfrm>
        </p:grpSpPr>
        <p:sp>
          <p:nvSpPr>
            <p:cNvPr id="28740" name="Line 7"/>
            <p:cNvSpPr>
              <a:spLocks noChangeShapeType="1"/>
            </p:cNvSpPr>
            <p:nvPr/>
          </p:nvSpPr>
          <p:spPr bwMode="auto">
            <a:xfrm>
              <a:off x="3619" y="1531"/>
              <a:ext cx="157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41" name="Line 8"/>
            <p:cNvSpPr>
              <a:spLocks noChangeShapeType="1"/>
            </p:cNvSpPr>
            <p:nvPr/>
          </p:nvSpPr>
          <p:spPr bwMode="auto">
            <a:xfrm>
              <a:off x="3362" y="1530"/>
              <a:ext cx="19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42" name="Line 9"/>
            <p:cNvSpPr>
              <a:spLocks noChangeShapeType="1"/>
            </p:cNvSpPr>
            <p:nvPr/>
          </p:nvSpPr>
          <p:spPr bwMode="auto">
            <a:xfrm>
              <a:off x="3622" y="1366"/>
              <a:ext cx="0" cy="24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43" name="Freeform 10"/>
            <p:cNvSpPr>
              <a:spLocks/>
            </p:cNvSpPr>
            <p:nvPr/>
          </p:nvSpPr>
          <p:spPr bwMode="auto">
            <a:xfrm>
              <a:off x="3557" y="1532"/>
              <a:ext cx="65" cy="1"/>
            </a:xfrm>
            <a:custGeom>
              <a:avLst/>
              <a:gdLst>
                <a:gd name="T0" fmla="*/ 0 w 293"/>
                <a:gd name="T1" fmla="*/ 0 h 1"/>
                <a:gd name="T2" fmla="*/ 0 w 293"/>
                <a:gd name="T3" fmla="*/ 0 h 1"/>
                <a:gd name="T4" fmla="*/ 0 w 293"/>
                <a:gd name="T5" fmla="*/ 0 h 1"/>
                <a:gd name="T6" fmla="*/ 0 60000 65536"/>
                <a:gd name="T7" fmla="*/ 0 60000 65536"/>
                <a:gd name="T8" fmla="*/ 0 60000 65536"/>
                <a:gd name="T9" fmla="*/ 0 w 293"/>
                <a:gd name="T10" fmla="*/ 0 h 1"/>
                <a:gd name="T11" fmla="*/ 293 w 29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3" h="1">
                  <a:moveTo>
                    <a:pt x="29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14"/>
          <p:cNvGrpSpPr>
            <a:grpSpLocks/>
          </p:cNvGrpSpPr>
          <p:nvPr/>
        </p:nvGrpSpPr>
        <p:grpSpPr bwMode="auto">
          <a:xfrm rot="-5400000">
            <a:off x="6669274" y="2729539"/>
            <a:ext cx="1188000" cy="684000"/>
            <a:chOff x="1288" y="3567"/>
            <a:chExt cx="1406" cy="482"/>
          </a:xfrm>
        </p:grpSpPr>
        <p:sp>
          <p:nvSpPr>
            <p:cNvPr id="28735" name="Freeform 17"/>
            <p:cNvSpPr>
              <a:spLocks/>
            </p:cNvSpPr>
            <p:nvPr/>
          </p:nvSpPr>
          <p:spPr bwMode="auto">
            <a:xfrm>
              <a:off x="1394" y="3952"/>
              <a:ext cx="1199" cy="1"/>
            </a:xfrm>
            <a:custGeom>
              <a:avLst/>
              <a:gdLst>
                <a:gd name="T0" fmla="*/ 0 w 3153"/>
                <a:gd name="T1" fmla="*/ 0 h 1"/>
                <a:gd name="T2" fmla="*/ 0 w 3153"/>
                <a:gd name="T3" fmla="*/ 0 h 1"/>
                <a:gd name="T4" fmla="*/ 0 w 3153"/>
                <a:gd name="T5" fmla="*/ 0 h 1"/>
                <a:gd name="T6" fmla="*/ 0 60000 65536"/>
                <a:gd name="T7" fmla="*/ 0 60000 65536"/>
                <a:gd name="T8" fmla="*/ 0 60000 65536"/>
                <a:gd name="T9" fmla="*/ 0 w 3153"/>
                <a:gd name="T10" fmla="*/ 0 h 1"/>
                <a:gd name="T11" fmla="*/ 3153 w 31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3" h="1">
                  <a:moveTo>
                    <a:pt x="0" y="0"/>
                  </a:moveTo>
                  <a:lnTo>
                    <a:pt x="3152" y="0"/>
                  </a:lnTo>
                  <a:lnTo>
                    <a:pt x="3153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6" name="Freeform 18"/>
            <p:cNvSpPr>
              <a:spLocks/>
            </p:cNvSpPr>
            <p:nvPr/>
          </p:nvSpPr>
          <p:spPr bwMode="auto">
            <a:xfrm>
              <a:off x="1288" y="3681"/>
              <a:ext cx="1" cy="355"/>
            </a:xfrm>
            <a:custGeom>
              <a:avLst/>
              <a:gdLst>
                <a:gd name="T0" fmla="*/ 0 w 1"/>
                <a:gd name="T1" fmla="*/ 0 h 818"/>
                <a:gd name="T2" fmla="*/ 0 w 1"/>
                <a:gd name="T3" fmla="*/ 0 h 818"/>
                <a:gd name="T4" fmla="*/ 1 w 1"/>
                <a:gd name="T5" fmla="*/ 0 h 818"/>
                <a:gd name="T6" fmla="*/ 0 60000 65536"/>
                <a:gd name="T7" fmla="*/ 0 60000 65536"/>
                <a:gd name="T8" fmla="*/ 0 60000 65536"/>
                <a:gd name="T9" fmla="*/ 0 w 1"/>
                <a:gd name="T10" fmla="*/ 0 h 818"/>
                <a:gd name="T11" fmla="*/ 1 w 1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8">
                  <a:moveTo>
                    <a:pt x="0" y="0"/>
                  </a:moveTo>
                  <a:lnTo>
                    <a:pt x="0" y="818"/>
                  </a:lnTo>
                  <a:lnTo>
                    <a:pt x="1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7" name="Freeform 19"/>
            <p:cNvSpPr>
              <a:spLocks/>
            </p:cNvSpPr>
            <p:nvPr/>
          </p:nvSpPr>
          <p:spPr bwMode="auto">
            <a:xfrm>
              <a:off x="1294" y="3934"/>
              <a:ext cx="100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4"/>
                  </a:lnTo>
                  <a:lnTo>
                    <a:pt x="262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8" name="Freeform 20"/>
            <p:cNvSpPr>
              <a:spLocks/>
            </p:cNvSpPr>
            <p:nvPr/>
          </p:nvSpPr>
          <p:spPr bwMode="auto">
            <a:xfrm>
              <a:off x="2693" y="3567"/>
              <a:ext cx="1" cy="482"/>
            </a:xfrm>
            <a:custGeom>
              <a:avLst/>
              <a:gdLst>
                <a:gd name="T0" fmla="*/ 0 w 2"/>
                <a:gd name="T1" fmla="*/ 0 h 818"/>
                <a:gd name="T2" fmla="*/ 0 w 2"/>
                <a:gd name="T3" fmla="*/ 0 h 818"/>
                <a:gd name="T4" fmla="*/ 1 w 2"/>
                <a:gd name="T5" fmla="*/ 0 h 818"/>
                <a:gd name="T6" fmla="*/ 0 60000 65536"/>
                <a:gd name="T7" fmla="*/ 0 60000 65536"/>
                <a:gd name="T8" fmla="*/ 0 60000 65536"/>
                <a:gd name="T9" fmla="*/ 0 w 2"/>
                <a:gd name="T10" fmla="*/ 0 h 818"/>
                <a:gd name="T11" fmla="*/ 2 w 2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818">
                  <a:moveTo>
                    <a:pt x="0" y="0"/>
                  </a:moveTo>
                  <a:lnTo>
                    <a:pt x="0" y="818"/>
                  </a:lnTo>
                  <a:lnTo>
                    <a:pt x="2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9" name="Freeform 21"/>
            <p:cNvSpPr>
              <a:spLocks/>
            </p:cNvSpPr>
            <p:nvPr/>
          </p:nvSpPr>
          <p:spPr bwMode="auto">
            <a:xfrm>
              <a:off x="2592" y="3933"/>
              <a:ext cx="101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4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7271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140701" y="4414839"/>
            <a:ext cx="752475" cy="6556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28" name="Group 84"/>
          <p:cNvGrpSpPr>
            <a:grpSpLocks/>
          </p:cNvGrpSpPr>
          <p:nvPr/>
        </p:nvGrpSpPr>
        <p:grpSpPr bwMode="auto">
          <a:xfrm rot="5400000">
            <a:off x="8655845" y="1493045"/>
            <a:ext cx="566737" cy="276225"/>
            <a:chOff x="4350" y="690"/>
            <a:chExt cx="725" cy="679"/>
          </a:xfrm>
        </p:grpSpPr>
        <p:sp>
          <p:nvSpPr>
            <p:cNvPr id="28731" name="Line 85"/>
            <p:cNvSpPr>
              <a:spLocks noChangeShapeType="1"/>
            </p:cNvSpPr>
            <p:nvPr/>
          </p:nvSpPr>
          <p:spPr bwMode="auto">
            <a:xfrm>
              <a:off x="4834" y="690"/>
              <a:ext cx="0" cy="6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32" name="Text Box 86"/>
            <p:cNvSpPr txBox="1">
              <a:spLocks noChangeArrowheads="1"/>
            </p:cNvSpPr>
            <p:nvPr/>
          </p:nvSpPr>
          <p:spPr bwMode="auto">
            <a:xfrm rot="16200000">
              <a:off x="4418" y="925"/>
              <a:ext cx="376" cy="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>
                  <a:latin typeface="ISOCPEUR" pitchFamily="34" charset="0"/>
                  <a:sym typeface="Symbol" pitchFamily="18" charset="2"/>
                </a:rPr>
                <a:t></a:t>
              </a:r>
            </a:p>
          </p:txBody>
        </p:sp>
        <p:sp>
          <p:nvSpPr>
            <p:cNvPr id="28733" name="Line 87"/>
            <p:cNvSpPr>
              <a:spLocks noChangeShapeType="1"/>
            </p:cNvSpPr>
            <p:nvPr/>
          </p:nvSpPr>
          <p:spPr bwMode="auto">
            <a:xfrm>
              <a:off x="4779" y="698"/>
              <a:ext cx="2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34" name="Line 88"/>
            <p:cNvSpPr>
              <a:spLocks noChangeShapeType="1"/>
            </p:cNvSpPr>
            <p:nvPr/>
          </p:nvSpPr>
          <p:spPr bwMode="auto">
            <a:xfrm>
              <a:off x="4779" y="1368"/>
              <a:ext cx="29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" name="Group 84"/>
          <p:cNvGrpSpPr>
            <a:grpSpLocks/>
          </p:cNvGrpSpPr>
          <p:nvPr/>
        </p:nvGrpSpPr>
        <p:grpSpPr bwMode="auto">
          <a:xfrm rot="5400000">
            <a:off x="8490744" y="1262857"/>
            <a:ext cx="920750" cy="417512"/>
            <a:chOff x="4664" y="690"/>
            <a:chExt cx="411" cy="678"/>
          </a:xfrm>
        </p:grpSpPr>
        <p:sp>
          <p:nvSpPr>
            <p:cNvPr id="28727" name="Line 85"/>
            <p:cNvSpPr>
              <a:spLocks noChangeShapeType="1"/>
            </p:cNvSpPr>
            <p:nvPr/>
          </p:nvSpPr>
          <p:spPr bwMode="auto">
            <a:xfrm>
              <a:off x="4834" y="690"/>
              <a:ext cx="0" cy="6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28" name="Text Box 86"/>
            <p:cNvSpPr txBox="1">
              <a:spLocks noChangeArrowheads="1"/>
            </p:cNvSpPr>
            <p:nvPr/>
          </p:nvSpPr>
          <p:spPr bwMode="auto">
            <a:xfrm rot="-5400000">
              <a:off x="4566" y="1025"/>
              <a:ext cx="376" cy="1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>
                  <a:latin typeface="ISOCPEUR" pitchFamily="34" charset="0"/>
                  <a:sym typeface="Symbol" pitchFamily="18" charset="2"/>
                </a:rPr>
                <a:t></a:t>
              </a:r>
            </a:p>
          </p:txBody>
        </p:sp>
        <p:sp>
          <p:nvSpPr>
            <p:cNvPr id="28729" name="Line 87"/>
            <p:cNvSpPr>
              <a:spLocks noChangeShapeType="1"/>
            </p:cNvSpPr>
            <p:nvPr/>
          </p:nvSpPr>
          <p:spPr bwMode="auto">
            <a:xfrm>
              <a:off x="4779" y="698"/>
              <a:ext cx="2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30" name="Line 88"/>
            <p:cNvSpPr>
              <a:spLocks noChangeShapeType="1"/>
            </p:cNvSpPr>
            <p:nvPr/>
          </p:nvSpPr>
          <p:spPr bwMode="auto">
            <a:xfrm>
              <a:off x="4779" y="1368"/>
              <a:ext cx="29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" name="Group 14"/>
          <p:cNvGrpSpPr>
            <a:grpSpLocks/>
          </p:cNvGrpSpPr>
          <p:nvPr/>
        </p:nvGrpSpPr>
        <p:grpSpPr bwMode="auto">
          <a:xfrm>
            <a:off x="6186489" y="1603375"/>
            <a:ext cx="585787" cy="450850"/>
            <a:chOff x="1294" y="3558"/>
            <a:chExt cx="1359" cy="445"/>
          </a:xfrm>
        </p:grpSpPr>
        <p:sp>
          <p:nvSpPr>
            <p:cNvPr id="28722" name="Freeform 15"/>
            <p:cNvSpPr>
              <a:spLocks/>
            </p:cNvSpPr>
            <p:nvPr/>
          </p:nvSpPr>
          <p:spPr bwMode="auto">
            <a:xfrm>
              <a:off x="1294" y="3606"/>
              <a:ext cx="100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4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3" name="Freeform 16"/>
            <p:cNvSpPr>
              <a:spLocks/>
            </p:cNvSpPr>
            <p:nvPr/>
          </p:nvSpPr>
          <p:spPr bwMode="auto">
            <a:xfrm>
              <a:off x="2520" y="3606"/>
              <a:ext cx="101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4" name="Freeform 17"/>
            <p:cNvSpPr>
              <a:spLocks/>
            </p:cNvSpPr>
            <p:nvPr/>
          </p:nvSpPr>
          <p:spPr bwMode="auto">
            <a:xfrm>
              <a:off x="1394" y="3625"/>
              <a:ext cx="1173" cy="1"/>
            </a:xfrm>
            <a:custGeom>
              <a:avLst/>
              <a:gdLst>
                <a:gd name="T0" fmla="*/ 0 w 3153"/>
                <a:gd name="T1" fmla="*/ 0 h 1"/>
                <a:gd name="T2" fmla="*/ 0 w 3153"/>
                <a:gd name="T3" fmla="*/ 0 h 1"/>
                <a:gd name="T4" fmla="*/ 0 w 3153"/>
                <a:gd name="T5" fmla="*/ 0 h 1"/>
                <a:gd name="T6" fmla="*/ 0 60000 65536"/>
                <a:gd name="T7" fmla="*/ 0 60000 65536"/>
                <a:gd name="T8" fmla="*/ 0 60000 65536"/>
                <a:gd name="T9" fmla="*/ 0 w 3153"/>
                <a:gd name="T10" fmla="*/ 0 h 1"/>
                <a:gd name="T11" fmla="*/ 3153 w 31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3" h="1">
                  <a:moveTo>
                    <a:pt x="0" y="0"/>
                  </a:moveTo>
                  <a:lnTo>
                    <a:pt x="3152" y="0"/>
                  </a:lnTo>
                  <a:lnTo>
                    <a:pt x="3153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5" name="Freeform 18"/>
            <p:cNvSpPr>
              <a:spLocks/>
            </p:cNvSpPr>
            <p:nvPr/>
          </p:nvSpPr>
          <p:spPr bwMode="auto">
            <a:xfrm>
              <a:off x="1294" y="3558"/>
              <a:ext cx="1" cy="310"/>
            </a:xfrm>
            <a:custGeom>
              <a:avLst/>
              <a:gdLst>
                <a:gd name="T0" fmla="*/ 0 w 1"/>
                <a:gd name="T1" fmla="*/ 0 h 818"/>
                <a:gd name="T2" fmla="*/ 0 w 1"/>
                <a:gd name="T3" fmla="*/ 0 h 818"/>
                <a:gd name="T4" fmla="*/ 1 w 1"/>
                <a:gd name="T5" fmla="*/ 0 h 818"/>
                <a:gd name="T6" fmla="*/ 0 60000 65536"/>
                <a:gd name="T7" fmla="*/ 0 60000 65536"/>
                <a:gd name="T8" fmla="*/ 0 60000 65536"/>
                <a:gd name="T9" fmla="*/ 0 w 1"/>
                <a:gd name="T10" fmla="*/ 0 h 818"/>
                <a:gd name="T11" fmla="*/ 1 w 1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8">
                  <a:moveTo>
                    <a:pt x="0" y="0"/>
                  </a:moveTo>
                  <a:lnTo>
                    <a:pt x="0" y="818"/>
                  </a:lnTo>
                  <a:lnTo>
                    <a:pt x="1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6" name="Freeform 20"/>
            <p:cNvSpPr>
              <a:spLocks/>
            </p:cNvSpPr>
            <p:nvPr/>
          </p:nvSpPr>
          <p:spPr bwMode="auto">
            <a:xfrm>
              <a:off x="2652" y="3558"/>
              <a:ext cx="1" cy="445"/>
            </a:xfrm>
            <a:custGeom>
              <a:avLst/>
              <a:gdLst>
                <a:gd name="T0" fmla="*/ 0 w 2"/>
                <a:gd name="T1" fmla="*/ 0 h 818"/>
                <a:gd name="T2" fmla="*/ 0 w 2"/>
                <a:gd name="T3" fmla="*/ 0 h 818"/>
                <a:gd name="T4" fmla="*/ 1 w 2"/>
                <a:gd name="T5" fmla="*/ 0 h 818"/>
                <a:gd name="T6" fmla="*/ 0 60000 65536"/>
                <a:gd name="T7" fmla="*/ 0 60000 65536"/>
                <a:gd name="T8" fmla="*/ 0 60000 65536"/>
                <a:gd name="T9" fmla="*/ 0 w 2"/>
                <a:gd name="T10" fmla="*/ 0 h 818"/>
                <a:gd name="T11" fmla="*/ 2 w 2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818">
                  <a:moveTo>
                    <a:pt x="0" y="0"/>
                  </a:moveTo>
                  <a:lnTo>
                    <a:pt x="0" y="818"/>
                  </a:lnTo>
                  <a:lnTo>
                    <a:pt x="2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4" name="Group 14"/>
          <p:cNvGrpSpPr>
            <a:grpSpLocks/>
          </p:cNvGrpSpPr>
          <p:nvPr/>
        </p:nvGrpSpPr>
        <p:grpSpPr bwMode="auto">
          <a:xfrm rot="-5400000">
            <a:off x="9383449" y="1695250"/>
            <a:ext cx="586004" cy="1021442"/>
            <a:chOff x="1294" y="3312"/>
            <a:chExt cx="1399" cy="720"/>
          </a:xfrm>
        </p:grpSpPr>
        <p:sp>
          <p:nvSpPr>
            <p:cNvPr id="28717" name="Freeform 17"/>
            <p:cNvSpPr>
              <a:spLocks/>
            </p:cNvSpPr>
            <p:nvPr/>
          </p:nvSpPr>
          <p:spPr bwMode="auto">
            <a:xfrm>
              <a:off x="1394" y="3952"/>
              <a:ext cx="1031" cy="0"/>
            </a:xfrm>
            <a:custGeom>
              <a:avLst/>
              <a:gdLst>
                <a:gd name="T0" fmla="*/ 0 w 3153"/>
                <a:gd name="T1" fmla="*/ 0 h 1"/>
                <a:gd name="T2" fmla="*/ 0 w 3153"/>
                <a:gd name="T3" fmla="*/ 0 h 1"/>
                <a:gd name="T4" fmla="*/ 0 w 3153"/>
                <a:gd name="T5" fmla="*/ 0 h 1"/>
                <a:gd name="T6" fmla="*/ 0 60000 65536"/>
                <a:gd name="T7" fmla="*/ 0 60000 65536"/>
                <a:gd name="T8" fmla="*/ 0 60000 65536"/>
                <a:gd name="T9" fmla="*/ 0 w 3153"/>
                <a:gd name="T10" fmla="*/ 0 h 1"/>
                <a:gd name="T11" fmla="*/ 3153 w 31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3" h="1">
                  <a:moveTo>
                    <a:pt x="0" y="0"/>
                  </a:moveTo>
                  <a:lnTo>
                    <a:pt x="3152" y="0"/>
                  </a:lnTo>
                  <a:lnTo>
                    <a:pt x="3153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8" name="Freeform 18"/>
            <p:cNvSpPr>
              <a:spLocks/>
            </p:cNvSpPr>
            <p:nvPr/>
          </p:nvSpPr>
          <p:spPr bwMode="auto">
            <a:xfrm>
              <a:off x="1306" y="3626"/>
              <a:ext cx="0" cy="406"/>
            </a:xfrm>
            <a:custGeom>
              <a:avLst/>
              <a:gdLst>
                <a:gd name="T0" fmla="*/ 0 w 1"/>
                <a:gd name="T1" fmla="*/ 0 h 818"/>
                <a:gd name="T2" fmla="*/ 0 w 1"/>
                <a:gd name="T3" fmla="*/ 0 h 818"/>
                <a:gd name="T4" fmla="*/ 1 w 1"/>
                <a:gd name="T5" fmla="*/ 0 h 818"/>
                <a:gd name="T6" fmla="*/ 0 60000 65536"/>
                <a:gd name="T7" fmla="*/ 0 60000 65536"/>
                <a:gd name="T8" fmla="*/ 0 60000 65536"/>
                <a:gd name="T9" fmla="*/ 0 w 1"/>
                <a:gd name="T10" fmla="*/ 0 h 818"/>
                <a:gd name="T11" fmla="*/ 1 w 1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8">
                  <a:moveTo>
                    <a:pt x="0" y="0"/>
                  </a:moveTo>
                  <a:lnTo>
                    <a:pt x="0" y="818"/>
                  </a:lnTo>
                  <a:lnTo>
                    <a:pt x="1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9" name="Freeform 19"/>
            <p:cNvSpPr>
              <a:spLocks/>
            </p:cNvSpPr>
            <p:nvPr/>
          </p:nvSpPr>
          <p:spPr bwMode="auto">
            <a:xfrm>
              <a:off x="1294" y="3934"/>
              <a:ext cx="258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4"/>
                  </a:lnTo>
                  <a:lnTo>
                    <a:pt x="262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0" name="Freeform 20"/>
            <p:cNvSpPr>
              <a:spLocks/>
            </p:cNvSpPr>
            <p:nvPr/>
          </p:nvSpPr>
          <p:spPr bwMode="auto">
            <a:xfrm>
              <a:off x="2693" y="3312"/>
              <a:ext cx="0" cy="711"/>
            </a:xfrm>
            <a:custGeom>
              <a:avLst/>
              <a:gdLst>
                <a:gd name="T0" fmla="*/ 0 w 2"/>
                <a:gd name="T1" fmla="*/ 0 h 818"/>
                <a:gd name="T2" fmla="*/ 0 w 2"/>
                <a:gd name="T3" fmla="*/ 0 h 818"/>
                <a:gd name="T4" fmla="*/ 1 w 2"/>
                <a:gd name="T5" fmla="*/ 0 h 818"/>
                <a:gd name="T6" fmla="*/ 0 60000 65536"/>
                <a:gd name="T7" fmla="*/ 0 60000 65536"/>
                <a:gd name="T8" fmla="*/ 0 60000 65536"/>
                <a:gd name="T9" fmla="*/ 0 w 2"/>
                <a:gd name="T10" fmla="*/ 0 h 818"/>
                <a:gd name="T11" fmla="*/ 2 w 2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818">
                  <a:moveTo>
                    <a:pt x="0" y="0"/>
                  </a:moveTo>
                  <a:lnTo>
                    <a:pt x="0" y="818"/>
                  </a:lnTo>
                  <a:lnTo>
                    <a:pt x="2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1" name="Freeform 21"/>
            <p:cNvSpPr>
              <a:spLocks/>
            </p:cNvSpPr>
            <p:nvPr/>
          </p:nvSpPr>
          <p:spPr bwMode="auto">
            <a:xfrm>
              <a:off x="2422" y="3934"/>
              <a:ext cx="258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4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5" name="Group 76"/>
          <p:cNvGrpSpPr>
            <a:grpSpLocks/>
          </p:cNvGrpSpPr>
          <p:nvPr/>
        </p:nvGrpSpPr>
        <p:grpSpPr bwMode="auto">
          <a:xfrm>
            <a:off x="8478839" y="3155950"/>
            <a:ext cx="936625" cy="52388"/>
            <a:chOff x="1694" y="1438"/>
            <a:chExt cx="599" cy="33"/>
          </a:xfrm>
        </p:grpSpPr>
        <p:sp>
          <p:nvSpPr>
            <p:cNvPr id="28710" name="Freeform 77"/>
            <p:cNvSpPr>
              <a:spLocks/>
            </p:cNvSpPr>
            <p:nvPr/>
          </p:nvSpPr>
          <p:spPr bwMode="auto">
            <a:xfrm>
              <a:off x="1894" y="1455"/>
              <a:ext cx="200" cy="1"/>
            </a:xfrm>
            <a:custGeom>
              <a:avLst/>
              <a:gdLst>
                <a:gd name="T0" fmla="*/ 0 w 527"/>
                <a:gd name="T1" fmla="*/ 0 h 1"/>
                <a:gd name="T2" fmla="*/ 0 w 527"/>
                <a:gd name="T3" fmla="*/ 0 h 1"/>
                <a:gd name="T4" fmla="*/ 0 w 527"/>
                <a:gd name="T5" fmla="*/ 0 h 1"/>
                <a:gd name="T6" fmla="*/ 0 60000 65536"/>
                <a:gd name="T7" fmla="*/ 0 60000 65536"/>
                <a:gd name="T8" fmla="*/ 0 60000 65536"/>
                <a:gd name="T9" fmla="*/ 0 w 527"/>
                <a:gd name="T10" fmla="*/ 0 h 1"/>
                <a:gd name="T11" fmla="*/ 527 w 52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7" h="1">
                  <a:moveTo>
                    <a:pt x="0" y="0"/>
                  </a:moveTo>
                  <a:lnTo>
                    <a:pt x="526" y="0"/>
                  </a:lnTo>
                  <a:lnTo>
                    <a:pt x="527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1" name="Freeform 78"/>
            <p:cNvSpPr>
              <a:spLocks/>
            </p:cNvSpPr>
            <p:nvPr/>
          </p:nvSpPr>
          <p:spPr bwMode="auto">
            <a:xfrm>
              <a:off x="2193" y="1455"/>
              <a:ext cx="100" cy="1"/>
            </a:xfrm>
            <a:custGeom>
              <a:avLst/>
              <a:gdLst>
                <a:gd name="T0" fmla="*/ 0 w 263"/>
                <a:gd name="T1" fmla="*/ 0 h 1"/>
                <a:gd name="T2" fmla="*/ 0 w 263"/>
                <a:gd name="T3" fmla="*/ 0 h 1"/>
                <a:gd name="T4" fmla="*/ 0 w 263"/>
                <a:gd name="T5" fmla="*/ 0 h 1"/>
                <a:gd name="T6" fmla="*/ 0 60000 65536"/>
                <a:gd name="T7" fmla="*/ 0 60000 65536"/>
                <a:gd name="T8" fmla="*/ 0 60000 65536"/>
                <a:gd name="T9" fmla="*/ 0 w 263"/>
                <a:gd name="T10" fmla="*/ 0 h 1"/>
                <a:gd name="T11" fmla="*/ 263 w 26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3" h="1">
                  <a:moveTo>
                    <a:pt x="0" y="0"/>
                  </a:moveTo>
                  <a:lnTo>
                    <a:pt x="261" y="0"/>
                  </a:lnTo>
                  <a:lnTo>
                    <a:pt x="26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2" name="Freeform 79"/>
            <p:cNvSpPr>
              <a:spLocks/>
            </p:cNvSpPr>
            <p:nvPr/>
          </p:nvSpPr>
          <p:spPr bwMode="auto">
            <a:xfrm>
              <a:off x="2094" y="1438"/>
              <a:ext cx="99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3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3" name="Freeform 80"/>
            <p:cNvSpPr>
              <a:spLocks/>
            </p:cNvSpPr>
            <p:nvPr/>
          </p:nvSpPr>
          <p:spPr bwMode="auto">
            <a:xfrm>
              <a:off x="2094" y="1438"/>
              <a:ext cx="99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3"/>
                  </a:lnTo>
                  <a:lnTo>
                    <a:pt x="26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4" name="Freeform 81"/>
            <p:cNvSpPr>
              <a:spLocks/>
            </p:cNvSpPr>
            <p:nvPr/>
          </p:nvSpPr>
          <p:spPr bwMode="auto">
            <a:xfrm>
              <a:off x="1794" y="1438"/>
              <a:ext cx="100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5" name="Freeform 82"/>
            <p:cNvSpPr>
              <a:spLocks/>
            </p:cNvSpPr>
            <p:nvPr/>
          </p:nvSpPr>
          <p:spPr bwMode="auto">
            <a:xfrm>
              <a:off x="1794" y="1438"/>
              <a:ext cx="100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3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6" name="Freeform 83"/>
            <p:cNvSpPr>
              <a:spLocks/>
            </p:cNvSpPr>
            <p:nvPr/>
          </p:nvSpPr>
          <p:spPr bwMode="auto">
            <a:xfrm>
              <a:off x="1694" y="1455"/>
              <a:ext cx="100" cy="1"/>
            </a:xfrm>
            <a:custGeom>
              <a:avLst/>
              <a:gdLst>
                <a:gd name="T0" fmla="*/ 0 w 262"/>
                <a:gd name="T1" fmla="*/ 0 h 1"/>
                <a:gd name="T2" fmla="*/ 0 w 262"/>
                <a:gd name="T3" fmla="*/ 0 h 1"/>
                <a:gd name="T4" fmla="*/ 0 w 262"/>
                <a:gd name="T5" fmla="*/ 0 h 1"/>
                <a:gd name="T6" fmla="*/ 0 60000 65536"/>
                <a:gd name="T7" fmla="*/ 0 60000 65536"/>
                <a:gd name="T8" fmla="*/ 0 60000 65536"/>
                <a:gd name="T9" fmla="*/ 0 w 262"/>
                <a:gd name="T10" fmla="*/ 0 h 1"/>
                <a:gd name="T11" fmla="*/ 262 w 26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" h="1">
                  <a:moveTo>
                    <a:pt x="26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6" name="Group 89"/>
          <p:cNvGrpSpPr>
            <a:grpSpLocks/>
          </p:cNvGrpSpPr>
          <p:nvPr/>
        </p:nvGrpSpPr>
        <p:grpSpPr bwMode="auto">
          <a:xfrm>
            <a:off x="4757739" y="2990850"/>
            <a:ext cx="974725" cy="395288"/>
            <a:chOff x="4578" y="1531"/>
            <a:chExt cx="365" cy="249"/>
          </a:xfrm>
        </p:grpSpPr>
        <p:sp>
          <p:nvSpPr>
            <p:cNvPr id="28707" name="Line 90"/>
            <p:cNvSpPr>
              <a:spLocks noChangeShapeType="1"/>
            </p:cNvSpPr>
            <p:nvPr/>
          </p:nvSpPr>
          <p:spPr bwMode="auto">
            <a:xfrm>
              <a:off x="4621" y="1531"/>
              <a:ext cx="0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8" name="Line 91"/>
            <p:cNvSpPr>
              <a:spLocks noChangeShapeType="1"/>
            </p:cNvSpPr>
            <p:nvPr/>
          </p:nvSpPr>
          <p:spPr bwMode="auto">
            <a:xfrm>
              <a:off x="4578" y="1547"/>
              <a:ext cx="36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9" name="Line 92"/>
            <p:cNvSpPr>
              <a:spLocks noChangeShapeType="1"/>
            </p:cNvSpPr>
            <p:nvPr/>
          </p:nvSpPr>
          <p:spPr bwMode="auto">
            <a:xfrm>
              <a:off x="4580" y="1777"/>
              <a:ext cx="8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7" name="Group 93"/>
          <p:cNvGrpSpPr>
            <a:grpSpLocks/>
          </p:cNvGrpSpPr>
          <p:nvPr/>
        </p:nvGrpSpPr>
        <p:grpSpPr bwMode="auto">
          <a:xfrm>
            <a:off x="5743576" y="3009901"/>
            <a:ext cx="695325" cy="252413"/>
            <a:chOff x="3815" y="1539"/>
            <a:chExt cx="457" cy="159"/>
          </a:xfrm>
        </p:grpSpPr>
        <p:sp>
          <p:nvSpPr>
            <p:cNvPr id="28705" name="Freeform 94"/>
            <p:cNvSpPr>
              <a:spLocks/>
            </p:cNvSpPr>
            <p:nvPr/>
          </p:nvSpPr>
          <p:spPr bwMode="auto">
            <a:xfrm>
              <a:off x="3821" y="1539"/>
              <a:ext cx="1" cy="159"/>
            </a:xfrm>
            <a:custGeom>
              <a:avLst/>
              <a:gdLst>
                <a:gd name="T0" fmla="*/ 0 w 1"/>
                <a:gd name="T1" fmla="*/ 0 h 416"/>
                <a:gd name="T2" fmla="*/ 0 w 1"/>
                <a:gd name="T3" fmla="*/ 0 h 416"/>
                <a:gd name="T4" fmla="*/ 1 w 1"/>
                <a:gd name="T5" fmla="*/ 0 h 416"/>
                <a:gd name="T6" fmla="*/ 0 60000 65536"/>
                <a:gd name="T7" fmla="*/ 0 60000 65536"/>
                <a:gd name="T8" fmla="*/ 0 60000 65536"/>
                <a:gd name="T9" fmla="*/ 0 w 1"/>
                <a:gd name="T10" fmla="*/ 0 h 416"/>
                <a:gd name="T11" fmla="*/ 1 w 1"/>
                <a:gd name="T12" fmla="*/ 416 h 4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16">
                  <a:moveTo>
                    <a:pt x="0" y="0"/>
                  </a:moveTo>
                  <a:lnTo>
                    <a:pt x="0" y="416"/>
                  </a:lnTo>
                  <a:lnTo>
                    <a:pt x="1" y="41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6" name="Line 95"/>
            <p:cNvSpPr>
              <a:spLocks noChangeShapeType="1"/>
            </p:cNvSpPr>
            <p:nvPr/>
          </p:nvSpPr>
          <p:spPr bwMode="auto">
            <a:xfrm>
              <a:off x="3815" y="1655"/>
              <a:ext cx="45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7271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593013" y="4403726"/>
            <a:ext cx="2686050" cy="22383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37" name="矩形 136"/>
          <p:cNvSpPr/>
          <p:nvPr/>
        </p:nvSpPr>
        <p:spPr>
          <a:xfrm>
            <a:off x="1751014" y="5218113"/>
            <a:ext cx="226377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4</a:t>
            </a:r>
            <a:r>
              <a:rPr lang="zh-CN" altLang="en-US" sz="2400" b="1" dirty="0">
                <a:latin typeface="+mn-ea"/>
                <a:ea typeface="+mn-ea"/>
              </a:rPr>
              <a:t>）标注总体尺寸并进行检查、修改、整理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643813" y="3838575"/>
            <a:ext cx="2673350" cy="290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9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4" name="Text Box 112"/>
          <p:cNvSpPr txBox="1">
            <a:spLocks noChangeArrowheads="1"/>
          </p:cNvSpPr>
          <p:nvPr/>
        </p:nvSpPr>
        <p:spPr bwMode="auto">
          <a:xfrm>
            <a:off x="1479799" y="467223"/>
            <a:ext cx="6773862" cy="584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latin typeface="+mn-ea"/>
                <a:ea typeface="+mn-ea"/>
              </a:rPr>
              <a:t>3.</a:t>
            </a:r>
            <a:r>
              <a:rPr lang="zh-CN" altLang="en-US" sz="3200" b="1" dirty="0"/>
              <a:t>清晰标注尺寸应注意以下几个问题</a:t>
            </a:r>
            <a:endParaRPr lang="zh-CN" altLang="en-US" sz="3200" dirty="0">
              <a:latin typeface="ISOCP" pitchFamily="2" charset="0"/>
            </a:endParaRP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35213" y="1895476"/>
            <a:ext cx="4933950" cy="43910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30724" name="Group 22"/>
          <p:cNvGrpSpPr>
            <a:grpSpLocks/>
          </p:cNvGrpSpPr>
          <p:nvPr/>
        </p:nvGrpSpPr>
        <p:grpSpPr bwMode="auto">
          <a:xfrm>
            <a:off x="2481263" y="6021389"/>
            <a:ext cx="1752600" cy="693737"/>
            <a:chOff x="1072" y="3195"/>
            <a:chExt cx="1844" cy="860"/>
          </a:xfrm>
        </p:grpSpPr>
        <p:sp>
          <p:nvSpPr>
            <p:cNvPr id="30836" name="Freeform 23"/>
            <p:cNvSpPr>
              <a:spLocks/>
            </p:cNvSpPr>
            <p:nvPr/>
          </p:nvSpPr>
          <p:spPr bwMode="auto">
            <a:xfrm>
              <a:off x="1072" y="3195"/>
              <a:ext cx="0" cy="860"/>
            </a:xfrm>
            <a:custGeom>
              <a:avLst/>
              <a:gdLst>
                <a:gd name="T0" fmla="*/ 0 w 1"/>
                <a:gd name="T1" fmla="*/ 0 h 1668"/>
                <a:gd name="T2" fmla="*/ 0 w 1"/>
                <a:gd name="T3" fmla="*/ 0 h 1668"/>
                <a:gd name="T4" fmla="*/ 0 w 1"/>
                <a:gd name="T5" fmla="*/ 0 h 1668"/>
                <a:gd name="T6" fmla="*/ 0 60000 65536"/>
                <a:gd name="T7" fmla="*/ 0 60000 65536"/>
                <a:gd name="T8" fmla="*/ 0 60000 65536"/>
                <a:gd name="T9" fmla="*/ 0 w 1"/>
                <a:gd name="T10" fmla="*/ 0 h 1668"/>
                <a:gd name="T11" fmla="*/ 0 w 1"/>
                <a:gd name="T12" fmla="*/ 1668 h 16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68">
                  <a:moveTo>
                    <a:pt x="0" y="0"/>
                  </a:moveTo>
                  <a:lnTo>
                    <a:pt x="0" y="1668"/>
                  </a:lnTo>
                  <a:lnTo>
                    <a:pt x="1" y="166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7" name="Freeform 24"/>
            <p:cNvSpPr>
              <a:spLocks/>
            </p:cNvSpPr>
            <p:nvPr/>
          </p:nvSpPr>
          <p:spPr bwMode="auto">
            <a:xfrm>
              <a:off x="2915" y="3423"/>
              <a:ext cx="1" cy="632"/>
            </a:xfrm>
            <a:custGeom>
              <a:avLst/>
              <a:gdLst>
                <a:gd name="T0" fmla="*/ 0 w 1"/>
                <a:gd name="T1" fmla="*/ 0 h 1660"/>
                <a:gd name="T2" fmla="*/ 0 w 1"/>
                <a:gd name="T3" fmla="*/ 0 h 1660"/>
                <a:gd name="T4" fmla="*/ 1 w 1"/>
                <a:gd name="T5" fmla="*/ 0 h 1660"/>
                <a:gd name="T6" fmla="*/ 0 60000 65536"/>
                <a:gd name="T7" fmla="*/ 0 60000 65536"/>
                <a:gd name="T8" fmla="*/ 0 60000 65536"/>
                <a:gd name="T9" fmla="*/ 0 w 1"/>
                <a:gd name="T10" fmla="*/ 0 h 1660"/>
                <a:gd name="T11" fmla="*/ 1 w 1"/>
                <a:gd name="T12" fmla="*/ 1660 h 16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60">
                  <a:moveTo>
                    <a:pt x="0" y="0"/>
                  </a:moveTo>
                  <a:lnTo>
                    <a:pt x="0" y="1660"/>
                  </a:lnTo>
                  <a:lnTo>
                    <a:pt x="1" y="166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8" name="Line 25"/>
            <p:cNvSpPr>
              <a:spLocks noChangeShapeType="1"/>
            </p:cNvSpPr>
            <p:nvPr/>
          </p:nvSpPr>
          <p:spPr bwMode="auto">
            <a:xfrm>
              <a:off x="1072" y="4005"/>
              <a:ext cx="18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25" name="Group 26"/>
          <p:cNvGrpSpPr>
            <a:grpSpLocks/>
          </p:cNvGrpSpPr>
          <p:nvPr/>
        </p:nvGrpSpPr>
        <p:grpSpPr bwMode="auto">
          <a:xfrm>
            <a:off x="4227513" y="4740275"/>
            <a:ext cx="773112" cy="1485900"/>
            <a:chOff x="2691" y="2756"/>
            <a:chExt cx="710" cy="887"/>
          </a:xfrm>
        </p:grpSpPr>
        <p:sp>
          <p:nvSpPr>
            <p:cNvPr id="30833" name="Freeform 27"/>
            <p:cNvSpPr>
              <a:spLocks/>
            </p:cNvSpPr>
            <p:nvPr/>
          </p:nvSpPr>
          <p:spPr bwMode="auto">
            <a:xfrm>
              <a:off x="2693" y="3643"/>
              <a:ext cx="708" cy="0"/>
            </a:xfrm>
            <a:custGeom>
              <a:avLst/>
              <a:gdLst>
                <a:gd name="T0" fmla="*/ 0 w 1780"/>
                <a:gd name="T1" fmla="*/ 0 h 1"/>
                <a:gd name="T2" fmla="*/ 0 w 1780"/>
                <a:gd name="T3" fmla="*/ 0 h 1"/>
                <a:gd name="T4" fmla="*/ 0 w 1780"/>
                <a:gd name="T5" fmla="*/ 0 h 1"/>
                <a:gd name="T6" fmla="*/ 0 60000 65536"/>
                <a:gd name="T7" fmla="*/ 0 60000 65536"/>
                <a:gd name="T8" fmla="*/ 0 60000 65536"/>
                <a:gd name="T9" fmla="*/ 0 w 1780"/>
                <a:gd name="T10" fmla="*/ 0 h 1"/>
                <a:gd name="T11" fmla="*/ 1780 w 1780"/>
                <a:gd name="T12" fmla="*/ 0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80" h="1">
                  <a:moveTo>
                    <a:pt x="0" y="0"/>
                  </a:moveTo>
                  <a:lnTo>
                    <a:pt x="1778" y="0"/>
                  </a:lnTo>
                  <a:lnTo>
                    <a:pt x="178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4" name="Freeform 28"/>
            <p:cNvSpPr>
              <a:spLocks/>
            </p:cNvSpPr>
            <p:nvPr/>
          </p:nvSpPr>
          <p:spPr bwMode="auto">
            <a:xfrm flipV="1">
              <a:off x="2691" y="2759"/>
              <a:ext cx="708" cy="0"/>
            </a:xfrm>
            <a:custGeom>
              <a:avLst/>
              <a:gdLst>
                <a:gd name="T0" fmla="*/ 0 w 1133"/>
                <a:gd name="T1" fmla="*/ 0 h 2"/>
                <a:gd name="T2" fmla="*/ 0 w 1133"/>
                <a:gd name="T3" fmla="*/ 0 h 2"/>
                <a:gd name="T4" fmla="*/ 0 w 1133"/>
                <a:gd name="T5" fmla="*/ 0 h 2"/>
                <a:gd name="T6" fmla="*/ 0 60000 65536"/>
                <a:gd name="T7" fmla="*/ 0 60000 65536"/>
                <a:gd name="T8" fmla="*/ 0 60000 65536"/>
                <a:gd name="T9" fmla="*/ 0 w 1133"/>
                <a:gd name="T10" fmla="*/ 0 h 2"/>
                <a:gd name="T11" fmla="*/ 1133 w 1133"/>
                <a:gd name="T12" fmla="*/ 0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3" h="2">
                  <a:moveTo>
                    <a:pt x="0" y="0"/>
                  </a:moveTo>
                  <a:lnTo>
                    <a:pt x="1132" y="0"/>
                  </a:lnTo>
                  <a:lnTo>
                    <a:pt x="113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5" name="Line 29"/>
            <p:cNvSpPr>
              <a:spLocks noChangeShapeType="1"/>
            </p:cNvSpPr>
            <p:nvPr/>
          </p:nvSpPr>
          <p:spPr bwMode="auto">
            <a:xfrm>
              <a:off x="3320" y="2756"/>
              <a:ext cx="0" cy="88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26" name="Group 63"/>
          <p:cNvGrpSpPr>
            <a:grpSpLocks/>
          </p:cNvGrpSpPr>
          <p:nvPr/>
        </p:nvGrpSpPr>
        <p:grpSpPr bwMode="auto">
          <a:xfrm>
            <a:off x="4233864" y="3429000"/>
            <a:ext cx="401637" cy="323850"/>
            <a:chOff x="2931" y="1824"/>
            <a:chExt cx="191" cy="223"/>
          </a:xfrm>
        </p:grpSpPr>
        <p:sp>
          <p:nvSpPr>
            <p:cNvPr id="30830" name="Freeform 64"/>
            <p:cNvSpPr>
              <a:spLocks/>
            </p:cNvSpPr>
            <p:nvPr/>
          </p:nvSpPr>
          <p:spPr bwMode="auto">
            <a:xfrm>
              <a:off x="2931" y="2037"/>
              <a:ext cx="181" cy="0"/>
            </a:xfrm>
            <a:custGeom>
              <a:avLst/>
              <a:gdLst>
                <a:gd name="T0" fmla="*/ 0 w 933"/>
                <a:gd name="T1" fmla="*/ 0 h 2"/>
                <a:gd name="T2" fmla="*/ 0 w 933"/>
                <a:gd name="T3" fmla="*/ 0 h 2"/>
                <a:gd name="T4" fmla="*/ 0 w 933"/>
                <a:gd name="T5" fmla="*/ 0 h 2"/>
                <a:gd name="T6" fmla="*/ 0 60000 65536"/>
                <a:gd name="T7" fmla="*/ 0 60000 65536"/>
                <a:gd name="T8" fmla="*/ 0 60000 65536"/>
                <a:gd name="T9" fmla="*/ 0 w 933"/>
                <a:gd name="T10" fmla="*/ 0 h 2"/>
                <a:gd name="T11" fmla="*/ 933 w 933"/>
                <a:gd name="T12" fmla="*/ 0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3" h="2">
                  <a:moveTo>
                    <a:pt x="0" y="0"/>
                  </a:moveTo>
                  <a:lnTo>
                    <a:pt x="932" y="0"/>
                  </a:lnTo>
                  <a:lnTo>
                    <a:pt x="93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1" name="Freeform 65"/>
            <p:cNvSpPr>
              <a:spLocks/>
            </p:cNvSpPr>
            <p:nvPr/>
          </p:nvSpPr>
          <p:spPr bwMode="auto">
            <a:xfrm>
              <a:off x="2932" y="1839"/>
              <a:ext cx="190" cy="1"/>
            </a:xfrm>
            <a:custGeom>
              <a:avLst/>
              <a:gdLst>
                <a:gd name="T0" fmla="*/ 0 w 502"/>
                <a:gd name="T1" fmla="*/ 0 h 1"/>
                <a:gd name="T2" fmla="*/ 0 w 502"/>
                <a:gd name="T3" fmla="*/ 0 h 1"/>
                <a:gd name="T4" fmla="*/ 0 w 502"/>
                <a:gd name="T5" fmla="*/ 0 h 1"/>
                <a:gd name="T6" fmla="*/ 0 60000 65536"/>
                <a:gd name="T7" fmla="*/ 0 60000 65536"/>
                <a:gd name="T8" fmla="*/ 0 60000 65536"/>
                <a:gd name="T9" fmla="*/ 0 w 502"/>
                <a:gd name="T10" fmla="*/ 0 h 1"/>
                <a:gd name="T11" fmla="*/ 502 w 50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2" h="1">
                  <a:moveTo>
                    <a:pt x="0" y="0"/>
                  </a:moveTo>
                  <a:lnTo>
                    <a:pt x="501" y="0"/>
                  </a:lnTo>
                  <a:lnTo>
                    <a:pt x="50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2" name="Line 66"/>
            <p:cNvSpPr>
              <a:spLocks noChangeShapeType="1"/>
            </p:cNvSpPr>
            <p:nvPr/>
          </p:nvSpPr>
          <p:spPr bwMode="auto">
            <a:xfrm>
              <a:off x="3064" y="1824"/>
              <a:ext cx="0" cy="2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27" name="Group 14"/>
          <p:cNvGrpSpPr>
            <a:grpSpLocks/>
          </p:cNvGrpSpPr>
          <p:nvPr/>
        </p:nvGrpSpPr>
        <p:grpSpPr bwMode="auto">
          <a:xfrm>
            <a:off x="3662364" y="4341813"/>
            <a:ext cx="625475" cy="684212"/>
            <a:chOff x="1294" y="3558"/>
            <a:chExt cx="1359" cy="445"/>
          </a:xfrm>
        </p:grpSpPr>
        <p:sp>
          <p:nvSpPr>
            <p:cNvPr id="30825" name="Freeform 15"/>
            <p:cNvSpPr>
              <a:spLocks/>
            </p:cNvSpPr>
            <p:nvPr/>
          </p:nvSpPr>
          <p:spPr bwMode="auto">
            <a:xfrm>
              <a:off x="1294" y="3606"/>
              <a:ext cx="100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4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6" name="Freeform 16"/>
            <p:cNvSpPr>
              <a:spLocks/>
            </p:cNvSpPr>
            <p:nvPr/>
          </p:nvSpPr>
          <p:spPr bwMode="auto">
            <a:xfrm>
              <a:off x="2520" y="3606"/>
              <a:ext cx="101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7" name="Freeform 17"/>
            <p:cNvSpPr>
              <a:spLocks/>
            </p:cNvSpPr>
            <p:nvPr/>
          </p:nvSpPr>
          <p:spPr bwMode="auto">
            <a:xfrm>
              <a:off x="1394" y="3625"/>
              <a:ext cx="1173" cy="1"/>
            </a:xfrm>
            <a:custGeom>
              <a:avLst/>
              <a:gdLst>
                <a:gd name="T0" fmla="*/ 0 w 3153"/>
                <a:gd name="T1" fmla="*/ 0 h 1"/>
                <a:gd name="T2" fmla="*/ 0 w 3153"/>
                <a:gd name="T3" fmla="*/ 0 h 1"/>
                <a:gd name="T4" fmla="*/ 0 w 3153"/>
                <a:gd name="T5" fmla="*/ 0 h 1"/>
                <a:gd name="T6" fmla="*/ 0 60000 65536"/>
                <a:gd name="T7" fmla="*/ 0 60000 65536"/>
                <a:gd name="T8" fmla="*/ 0 60000 65536"/>
                <a:gd name="T9" fmla="*/ 0 w 3153"/>
                <a:gd name="T10" fmla="*/ 0 h 1"/>
                <a:gd name="T11" fmla="*/ 3153 w 31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3" h="1">
                  <a:moveTo>
                    <a:pt x="0" y="0"/>
                  </a:moveTo>
                  <a:lnTo>
                    <a:pt x="3152" y="0"/>
                  </a:lnTo>
                  <a:lnTo>
                    <a:pt x="3153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8" name="Freeform 18"/>
            <p:cNvSpPr>
              <a:spLocks/>
            </p:cNvSpPr>
            <p:nvPr/>
          </p:nvSpPr>
          <p:spPr bwMode="auto">
            <a:xfrm>
              <a:off x="1294" y="3558"/>
              <a:ext cx="1" cy="310"/>
            </a:xfrm>
            <a:custGeom>
              <a:avLst/>
              <a:gdLst>
                <a:gd name="T0" fmla="*/ 0 w 1"/>
                <a:gd name="T1" fmla="*/ 0 h 818"/>
                <a:gd name="T2" fmla="*/ 0 w 1"/>
                <a:gd name="T3" fmla="*/ 0 h 818"/>
                <a:gd name="T4" fmla="*/ 1 w 1"/>
                <a:gd name="T5" fmla="*/ 0 h 818"/>
                <a:gd name="T6" fmla="*/ 0 60000 65536"/>
                <a:gd name="T7" fmla="*/ 0 60000 65536"/>
                <a:gd name="T8" fmla="*/ 0 60000 65536"/>
                <a:gd name="T9" fmla="*/ 0 w 1"/>
                <a:gd name="T10" fmla="*/ 0 h 818"/>
                <a:gd name="T11" fmla="*/ 1 w 1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8">
                  <a:moveTo>
                    <a:pt x="0" y="0"/>
                  </a:moveTo>
                  <a:lnTo>
                    <a:pt x="0" y="818"/>
                  </a:lnTo>
                  <a:lnTo>
                    <a:pt x="1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9" name="Freeform 20"/>
            <p:cNvSpPr>
              <a:spLocks/>
            </p:cNvSpPr>
            <p:nvPr/>
          </p:nvSpPr>
          <p:spPr bwMode="auto">
            <a:xfrm>
              <a:off x="2652" y="3558"/>
              <a:ext cx="1" cy="445"/>
            </a:xfrm>
            <a:custGeom>
              <a:avLst/>
              <a:gdLst>
                <a:gd name="T0" fmla="*/ 0 w 2"/>
                <a:gd name="T1" fmla="*/ 0 h 818"/>
                <a:gd name="T2" fmla="*/ 0 w 2"/>
                <a:gd name="T3" fmla="*/ 0 h 818"/>
                <a:gd name="T4" fmla="*/ 1 w 2"/>
                <a:gd name="T5" fmla="*/ 0 h 818"/>
                <a:gd name="T6" fmla="*/ 0 60000 65536"/>
                <a:gd name="T7" fmla="*/ 0 60000 65536"/>
                <a:gd name="T8" fmla="*/ 0 60000 65536"/>
                <a:gd name="T9" fmla="*/ 0 w 2"/>
                <a:gd name="T10" fmla="*/ 0 h 818"/>
                <a:gd name="T11" fmla="*/ 2 w 2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818">
                  <a:moveTo>
                    <a:pt x="0" y="0"/>
                  </a:moveTo>
                  <a:lnTo>
                    <a:pt x="0" y="818"/>
                  </a:lnTo>
                  <a:lnTo>
                    <a:pt x="2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728" name="Group 14"/>
          <p:cNvGrpSpPr>
            <a:grpSpLocks/>
          </p:cNvGrpSpPr>
          <p:nvPr/>
        </p:nvGrpSpPr>
        <p:grpSpPr bwMode="auto">
          <a:xfrm>
            <a:off x="2751139" y="4359276"/>
            <a:ext cx="923925" cy="468313"/>
            <a:chOff x="1314" y="3763"/>
            <a:chExt cx="1418" cy="330"/>
          </a:xfrm>
        </p:grpSpPr>
        <p:sp>
          <p:nvSpPr>
            <p:cNvPr id="30821" name="Freeform 15"/>
            <p:cNvSpPr>
              <a:spLocks/>
            </p:cNvSpPr>
            <p:nvPr/>
          </p:nvSpPr>
          <p:spPr bwMode="auto">
            <a:xfrm>
              <a:off x="1327" y="3802"/>
              <a:ext cx="100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4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2" name="Freeform 16"/>
            <p:cNvSpPr>
              <a:spLocks/>
            </p:cNvSpPr>
            <p:nvPr/>
          </p:nvSpPr>
          <p:spPr bwMode="auto">
            <a:xfrm>
              <a:off x="2631" y="3802"/>
              <a:ext cx="101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3" name="Freeform 17"/>
            <p:cNvSpPr>
              <a:spLocks/>
            </p:cNvSpPr>
            <p:nvPr/>
          </p:nvSpPr>
          <p:spPr bwMode="auto">
            <a:xfrm>
              <a:off x="1394" y="3819"/>
              <a:ext cx="1272" cy="1"/>
            </a:xfrm>
            <a:custGeom>
              <a:avLst/>
              <a:gdLst>
                <a:gd name="T0" fmla="*/ 0 w 3153"/>
                <a:gd name="T1" fmla="*/ 0 h 1"/>
                <a:gd name="T2" fmla="*/ 0 w 3153"/>
                <a:gd name="T3" fmla="*/ 0 h 1"/>
                <a:gd name="T4" fmla="*/ 0 w 3153"/>
                <a:gd name="T5" fmla="*/ 0 h 1"/>
                <a:gd name="T6" fmla="*/ 0 60000 65536"/>
                <a:gd name="T7" fmla="*/ 0 60000 65536"/>
                <a:gd name="T8" fmla="*/ 0 60000 65536"/>
                <a:gd name="T9" fmla="*/ 0 w 3153"/>
                <a:gd name="T10" fmla="*/ 0 h 1"/>
                <a:gd name="T11" fmla="*/ 3153 w 31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3" h="1">
                  <a:moveTo>
                    <a:pt x="0" y="0"/>
                  </a:moveTo>
                  <a:lnTo>
                    <a:pt x="3152" y="0"/>
                  </a:lnTo>
                  <a:lnTo>
                    <a:pt x="3153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4" name="Freeform 18"/>
            <p:cNvSpPr>
              <a:spLocks/>
            </p:cNvSpPr>
            <p:nvPr/>
          </p:nvSpPr>
          <p:spPr bwMode="auto">
            <a:xfrm>
              <a:off x="1314" y="3763"/>
              <a:ext cx="1" cy="330"/>
            </a:xfrm>
            <a:custGeom>
              <a:avLst/>
              <a:gdLst>
                <a:gd name="T0" fmla="*/ 0 w 1"/>
                <a:gd name="T1" fmla="*/ 0 h 818"/>
                <a:gd name="T2" fmla="*/ 0 w 1"/>
                <a:gd name="T3" fmla="*/ 0 h 818"/>
                <a:gd name="T4" fmla="*/ 1 w 1"/>
                <a:gd name="T5" fmla="*/ 0 h 818"/>
                <a:gd name="T6" fmla="*/ 0 60000 65536"/>
                <a:gd name="T7" fmla="*/ 0 60000 65536"/>
                <a:gd name="T8" fmla="*/ 0 60000 65536"/>
                <a:gd name="T9" fmla="*/ 0 w 1"/>
                <a:gd name="T10" fmla="*/ 0 h 818"/>
                <a:gd name="T11" fmla="*/ 1 w 1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8">
                  <a:moveTo>
                    <a:pt x="0" y="0"/>
                  </a:moveTo>
                  <a:lnTo>
                    <a:pt x="0" y="818"/>
                  </a:lnTo>
                  <a:lnTo>
                    <a:pt x="1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729" name="Group 14"/>
          <p:cNvGrpSpPr>
            <a:grpSpLocks/>
          </p:cNvGrpSpPr>
          <p:nvPr/>
        </p:nvGrpSpPr>
        <p:grpSpPr bwMode="auto">
          <a:xfrm rot="-5400000">
            <a:off x="1868488" y="5283200"/>
            <a:ext cx="950912" cy="439738"/>
            <a:chOff x="1294" y="3558"/>
            <a:chExt cx="1400" cy="310"/>
          </a:xfrm>
        </p:grpSpPr>
        <p:sp>
          <p:nvSpPr>
            <p:cNvPr id="30816" name="Freeform 17"/>
            <p:cNvSpPr>
              <a:spLocks/>
            </p:cNvSpPr>
            <p:nvPr/>
          </p:nvSpPr>
          <p:spPr bwMode="auto">
            <a:xfrm>
              <a:off x="1394" y="3611"/>
              <a:ext cx="1199" cy="1"/>
            </a:xfrm>
            <a:custGeom>
              <a:avLst/>
              <a:gdLst>
                <a:gd name="T0" fmla="*/ 0 w 3153"/>
                <a:gd name="T1" fmla="*/ 0 h 1"/>
                <a:gd name="T2" fmla="*/ 0 w 3153"/>
                <a:gd name="T3" fmla="*/ 0 h 1"/>
                <a:gd name="T4" fmla="*/ 0 w 3153"/>
                <a:gd name="T5" fmla="*/ 0 h 1"/>
                <a:gd name="T6" fmla="*/ 0 60000 65536"/>
                <a:gd name="T7" fmla="*/ 0 60000 65536"/>
                <a:gd name="T8" fmla="*/ 0 60000 65536"/>
                <a:gd name="T9" fmla="*/ 0 w 3153"/>
                <a:gd name="T10" fmla="*/ 0 h 1"/>
                <a:gd name="T11" fmla="*/ 3153 w 31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3" h="1">
                  <a:moveTo>
                    <a:pt x="0" y="0"/>
                  </a:moveTo>
                  <a:lnTo>
                    <a:pt x="3152" y="0"/>
                  </a:lnTo>
                  <a:lnTo>
                    <a:pt x="3153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7" name="Freeform 18"/>
            <p:cNvSpPr>
              <a:spLocks/>
            </p:cNvSpPr>
            <p:nvPr/>
          </p:nvSpPr>
          <p:spPr bwMode="auto">
            <a:xfrm>
              <a:off x="1294" y="3558"/>
              <a:ext cx="1" cy="310"/>
            </a:xfrm>
            <a:custGeom>
              <a:avLst/>
              <a:gdLst>
                <a:gd name="T0" fmla="*/ 0 w 1"/>
                <a:gd name="T1" fmla="*/ 0 h 818"/>
                <a:gd name="T2" fmla="*/ 0 w 1"/>
                <a:gd name="T3" fmla="*/ 0 h 818"/>
                <a:gd name="T4" fmla="*/ 1 w 1"/>
                <a:gd name="T5" fmla="*/ 0 h 818"/>
                <a:gd name="T6" fmla="*/ 0 60000 65536"/>
                <a:gd name="T7" fmla="*/ 0 60000 65536"/>
                <a:gd name="T8" fmla="*/ 0 60000 65536"/>
                <a:gd name="T9" fmla="*/ 0 w 1"/>
                <a:gd name="T10" fmla="*/ 0 h 818"/>
                <a:gd name="T11" fmla="*/ 1 w 1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8">
                  <a:moveTo>
                    <a:pt x="0" y="0"/>
                  </a:moveTo>
                  <a:lnTo>
                    <a:pt x="0" y="818"/>
                  </a:lnTo>
                  <a:lnTo>
                    <a:pt x="1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8" name="Freeform 19"/>
            <p:cNvSpPr>
              <a:spLocks/>
            </p:cNvSpPr>
            <p:nvPr/>
          </p:nvSpPr>
          <p:spPr bwMode="auto">
            <a:xfrm>
              <a:off x="1294" y="3591"/>
              <a:ext cx="100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4"/>
                  </a:lnTo>
                  <a:lnTo>
                    <a:pt x="262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9" name="Freeform 20"/>
            <p:cNvSpPr>
              <a:spLocks/>
            </p:cNvSpPr>
            <p:nvPr/>
          </p:nvSpPr>
          <p:spPr bwMode="auto">
            <a:xfrm>
              <a:off x="2693" y="3558"/>
              <a:ext cx="1" cy="310"/>
            </a:xfrm>
            <a:custGeom>
              <a:avLst/>
              <a:gdLst>
                <a:gd name="T0" fmla="*/ 0 w 2"/>
                <a:gd name="T1" fmla="*/ 0 h 818"/>
                <a:gd name="T2" fmla="*/ 0 w 2"/>
                <a:gd name="T3" fmla="*/ 0 h 818"/>
                <a:gd name="T4" fmla="*/ 1 w 2"/>
                <a:gd name="T5" fmla="*/ 0 h 818"/>
                <a:gd name="T6" fmla="*/ 0 60000 65536"/>
                <a:gd name="T7" fmla="*/ 0 60000 65536"/>
                <a:gd name="T8" fmla="*/ 0 60000 65536"/>
                <a:gd name="T9" fmla="*/ 0 w 2"/>
                <a:gd name="T10" fmla="*/ 0 h 818"/>
                <a:gd name="T11" fmla="*/ 2 w 2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818">
                  <a:moveTo>
                    <a:pt x="0" y="0"/>
                  </a:moveTo>
                  <a:lnTo>
                    <a:pt x="0" y="818"/>
                  </a:lnTo>
                  <a:lnTo>
                    <a:pt x="2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0" name="Freeform 21"/>
            <p:cNvSpPr>
              <a:spLocks/>
            </p:cNvSpPr>
            <p:nvPr/>
          </p:nvSpPr>
          <p:spPr bwMode="auto">
            <a:xfrm>
              <a:off x="2592" y="3591"/>
              <a:ext cx="101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4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38"/>
          <p:cNvGrpSpPr>
            <a:grpSpLocks/>
          </p:cNvGrpSpPr>
          <p:nvPr/>
        </p:nvGrpSpPr>
        <p:grpSpPr bwMode="auto">
          <a:xfrm>
            <a:off x="2079626" y="5976940"/>
            <a:ext cx="657225" cy="481201"/>
            <a:chOff x="804" y="3421"/>
            <a:chExt cx="490" cy="439"/>
          </a:xfrm>
        </p:grpSpPr>
        <p:sp>
          <p:nvSpPr>
            <p:cNvPr id="30810" name="Freeform 39"/>
            <p:cNvSpPr>
              <a:spLocks/>
            </p:cNvSpPr>
            <p:nvPr/>
          </p:nvSpPr>
          <p:spPr bwMode="auto">
            <a:xfrm>
              <a:off x="1165" y="3421"/>
              <a:ext cx="129" cy="181"/>
            </a:xfrm>
            <a:custGeom>
              <a:avLst/>
              <a:gdLst>
                <a:gd name="T0" fmla="*/ 0 w 339"/>
                <a:gd name="T1" fmla="*/ 0 h 476"/>
                <a:gd name="T2" fmla="*/ 0 w 339"/>
                <a:gd name="T3" fmla="*/ 0 h 476"/>
                <a:gd name="T4" fmla="*/ 0 w 339"/>
                <a:gd name="T5" fmla="*/ 0 h 476"/>
                <a:gd name="T6" fmla="*/ 0 60000 65536"/>
                <a:gd name="T7" fmla="*/ 0 60000 65536"/>
                <a:gd name="T8" fmla="*/ 0 60000 65536"/>
                <a:gd name="T9" fmla="*/ 0 w 339"/>
                <a:gd name="T10" fmla="*/ 0 h 476"/>
                <a:gd name="T11" fmla="*/ 339 w 339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9" h="476">
                  <a:moveTo>
                    <a:pt x="339" y="0"/>
                  </a:moveTo>
                  <a:lnTo>
                    <a:pt x="0" y="476"/>
                  </a:lnTo>
                  <a:lnTo>
                    <a:pt x="2" y="4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1" name="Freeform 40"/>
            <p:cNvSpPr>
              <a:spLocks/>
            </p:cNvSpPr>
            <p:nvPr/>
          </p:nvSpPr>
          <p:spPr bwMode="auto">
            <a:xfrm>
              <a:off x="1026" y="3602"/>
              <a:ext cx="140" cy="196"/>
            </a:xfrm>
            <a:custGeom>
              <a:avLst/>
              <a:gdLst>
                <a:gd name="T0" fmla="*/ 0 w 370"/>
                <a:gd name="T1" fmla="*/ 0 h 517"/>
                <a:gd name="T2" fmla="*/ 0 w 370"/>
                <a:gd name="T3" fmla="*/ 0 h 517"/>
                <a:gd name="T4" fmla="*/ 0 w 370"/>
                <a:gd name="T5" fmla="*/ 0 h 517"/>
                <a:gd name="T6" fmla="*/ 0 60000 65536"/>
                <a:gd name="T7" fmla="*/ 0 60000 65536"/>
                <a:gd name="T8" fmla="*/ 0 60000 65536"/>
                <a:gd name="T9" fmla="*/ 0 w 370"/>
                <a:gd name="T10" fmla="*/ 0 h 517"/>
                <a:gd name="T11" fmla="*/ 370 w 370"/>
                <a:gd name="T12" fmla="*/ 517 h 5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0" h="517">
                  <a:moveTo>
                    <a:pt x="0" y="517"/>
                  </a:moveTo>
                  <a:lnTo>
                    <a:pt x="368" y="0"/>
                  </a:lnTo>
                  <a:lnTo>
                    <a:pt x="37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2" name="Freeform 41"/>
            <p:cNvSpPr>
              <a:spLocks/>
            </p:cNvSpPr>
            <p:nvPr/>
          </p:nvSpPr>
          <p:spPr bwMode="auto">
            <a:xfrm>
              <a:off x="873" y="3798"/>
              <a:ext cx="153" cy="1"/>
            </a:xfrm>
            <a:custGeom>
              <a:avLst/>
              <a:gdLst>
                <a:gd name="T0" fmla="*/ 0 w 401"/>
                <a:gd name="T1" fmla="*/ 0 h 1"/>
                <a:gd name="T2" fmla="*/ 0 w 401"/>
                <a:gd name="T3" fmla="*/ 0 h 1"/>
                <a:gd name="T4" fmla="*/ 0 w 401"/>
                <a:gd name="T5" fmla="*/ 0 h 1"/>
                <a:gd name="T6" fmla="*/ 0 60000 65536"/>
                <a:gd name="T7" fmla="*/ 0 60000 65536"/>
                <a:gd name="T8" fmla="*/ 0 60000 65536"/>
                <a:gd name="T9" fmla="*/ 0 w 401"/>
                <a:gd name="T10" fmla="*/ 0 h 1"/>
                <a:gd name="T11" fmla="*/ 401 w 40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1" h="1">
                  <a:moveTo>
                    <a:pt x="40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3" name="Freeform 42"/>
            <p:cNvSpPr>
              <a:spLocks/>
            </p:cNvSpPr>
            <p:nvPr/>
          </p:nvSpPr>
          <p:spPr bwMode="auto">
            <a:xfrm>
              <a:off x="1094" y="3602"/>
              <a:ext cx="71" cy="91"/>
            </a:xfrm>
            <a:custGeom>
              <a:avLst/>
              <a:gdLst>
                <a:gd name="T0" fmla="*/ 0 w 188"/>
                <a:gd name="T1" fmla="*/ 0 h 240"/>
                <a:gd name="T2" fmla="*/ 0 w 188"/>
                <a:gd name="T3" fmla="*/ 0 h 240"/>
                <a:gd name="T4" fmla="*/ 0 w 188"/>
                <a:gd name="T5" fmla="*/ 0 h 240"/>
                <a:gd name="T6" fmla="*/ 0 w 188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8"/>
                <a:gd name="T13" fmla="*/ 0 h 240"/>
                <a:gd name="T14" fmla="*/ 188 w 1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8" h="240">
                  <a:moveTo>
                    <a:pt x="0" y="189"/>
                  </a:moveTo>
                  <a:lnTo>
                    <a:pt x="71" y="240"/>
                  </a:lnTo>
                  <a:lnTo>
                    <a:pt x="188" y="0"/>
                  </a:lnTo>
                  <a:lnTo>
                    <a:pt x="0" y="1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4" name="Freeform 43"/>
            <p:cNvSpPr>
              <a:spLocks/>
            </p:cNvSpPr>
            <p:nvPr/>
          </p:nvSpPr>
          <p:spPr bwMode="auto">
            <a:xfrm>
              <a:off x="1094" y="3602"/>
              <a:ext cx="71" cy="91"/>
            </a:xfrm>
            <a:custGeom>
              <a:avLst/>
              <a:gdLst>
                <a:gd name="T0" fmla="*/ 0 w 188"/>
                <a:gd name="T1" fmla="*/ 0 h 240"/>
                <a:gd name="T2" fmla="*/ 0 w 188"/>
                <a:gd name="T3" fmla="*/ 0 h 240"/>
                <a:gd name="T4" fmla="*/ 0 w 188"/>
                <a:gd name="T5" fmla="*/ 0 h 240"/>
                <a:gd name="T6" fmla="*/ 0 w 188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8"/>
                <a:gd name="T13" fmla="*/ 0 h 240"/>
                <a:gd name="T14" fmla="*/ 188 w 1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8" h="240">
                  <a:moveTo>
                    <a:pt x="0" y="189"/>
                  </a:moveTo>
                  <a:lnTo>
                    <a:pt x="71" y="240"/>
                  </a:lnTo>
                  <a:lnTo>
                    <a:pt x="188" y="0"/>
                  </a:lnTo>
                  <a:lnTo>
                    <a:pt x="0" y="189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5" name="Text Box 44"/>
            <p:cNvSpPr txBox="1">
              <a:spLocks noChangeArrowheads="1"/>
            </p:cNvSpPr>
            <p:nvPr/>
          </p:nvSpPr>
          <p:spPr bwMode="auto">
            <a:xfrm flipH="1">
              <a:off x="804" y="3495"/>
              <a:ext cx="16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>
                  <a:latin typeface="ISOCPEUR" pitchFamily="34" charset="0"/>
                </a:rPr>
                <a:t>R</a:t>
              </a:r>
            </a:p>
          </p:txBody>
        </p:sp>
      </p:grpSp>
      <p:grpSp>
        <p:nvGrpSpPr>
          <p:cNvPr id="30731" name="Group 45"/>
          <p:cNvGrpSpPr>
            <a:grpSpLocks/>
          </p:cNvGrpSpPr>
          <p:nvPr/>
        </p:nvGrpSpPr>
        <p:grpSpPr bwMode="auto">
          <a:xfrm>
            <a:off x="1824039" y="4378326"/>
            <a:ext cx="1195387" cy="868363"/>
            <a:chOff x="511" y="2874"/>
            <a:chExt cx="1019" cy="750"/>
          </a:xfrm>
        </p:grpSpPr>
        <p:sp>
          <p:nvSpPr>
            <p:cNvPr id="30801" name="Freeform 46"/>
            <p:cNvSpPr>
              <a:spLocks/>
            </p:cNvSpPr>
            <p:nvPr/>
          </p:nvSpPr>
          <p:spPr bwMode="auto">
            <a:xfrm>
              <a:off x="1124" y="3270"/>
              <a:ext cx="87" cy="78"/>
            </a:xfrm>
            <a:custGeom>
              <a:avLst/>
              <a:gdLst>
                <a:gd name="T0" fmla="*/ 0 w 226"/>
                <a:gd name="T1" fmla="*/ 0 h 206"/>
                <a:gd name="T2" fmla="*/ 0 w 226"/>
                <a:gd name="T3" fmla="*/ 0 h 206"/>
                <a:gd name="T4" fmla="*/ 0 w 226"/>
                <a:gd name="T5" fmla="*/ 0 h 206"/>
                <a:gd name="T6" fmla="*/ 0 w 226"/>
                <a:gd name="T7" fmla="*/ 0 h 2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6"/>
                <a:gd name="T13" fmla="*/ 0 h 206"/>
                <a:gd name="T14" fmla="*/ 226 w 226"/>
                <a:gd name="T15" fmla="*/ 206 h 2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6" h="206">
                  <a:moveTo>
                    <a:pt x="57" y="0"/>
                  </a:moveTo>
                  <a:lnTo>
                    <a:pt x="0" y="67"/>
                  </a:lnTo>
                  <a:lnTo>
                    <a:pt x="226" y="206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2" name="Freeform 47"/>
            <p:cNvSpPr>
              <a:spLocks/>
            </p:cNvSpPr>
            <p:nvPr/>
          </p:nvSpPr>
          <p:spPr bwMode="auto">
            <a:xfrm>
              <a:off x="1378" y="3494"/>
              <a:ext cx="87" cy="77"/>
            </a:xfrm>
            <a:custGeom>
              <a:avLst/>
              <a:gdLst>
                <a:gd name="T0" fmla="*/ 0 w 228"/>
                <a:gd name="T1" fmla="*/ 0 h 206"/>
                <a:gd name="T2" fmla="*/ 0 w 228"/>
                <a:gd name="T3" fmla="*/ 0 h 206"/>
                <a:gd name="T4" fmla="*/ 0 w 228"/>
                <a:gd name="T5" fmla="*/ 0 h 206"/>
                <a:gd name="T6" fmla="*/ 0 w 228"/>
                <a:gd name="T7" fmla="*/ 0 h 2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8"/>
                <a:gd name="T13" fmla="*/ 0 h 206"/>
                <a:gd name="T14" fmla="*/ 228 w 228"/>
                <a:gd name="T15" fmla="*/ 206 h 2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8" h="206">
                  <a:moveTo>
                    <a:pt x="228" y="140"/>
                  </a:moveTo>
                  <a:lnTo>
                    <a:pt x="170" y="206"/>
                  </a:lnTo>
                  <a:lnTo>
                    <a:pt x="0" y="0"/>
                  </a:lnTo>
                  <a:lnTo>
                    <a:pt x="228" y="1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3" name="Freeform 48"/>
            <p:cNvSpPr>
              <a:spLocks/>
            </p:cNvSpPr>
            <p:nvPr/>
          </p:nvSpPr>
          <p:spPr bwMode="auto">
            <a:xfrm>
              <a:off x="1124" y="3270"/>
              <a:ext cx="87" cy="78"/>
            </a:xfrm>
            <a:custGeom>
              <a:avLst/>
              <a:gdLst>
                <a:gd name="T0" fmla="*/ 0 w 226"/>
                <a:gd name="T1" fmla="*/ 0 h 206"/>
                <a:gd name="T2" fmla="*/ 0 w 226"/>
                <a:gd name="T3" fmla="*/ 0 h 206"/>
                <a:gd name="T4" fmla="*/ 0 w 226"/>
                <a:gd name="T5" fmla="*/ 0 h 206"/>
                <a:gd name="T6" fmla="*/ 0 w 226"/>
                <a:gd name="T7" fmla="*/ 0 h 2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6"/>
                <a:gd name="T13" fmla="*/ 0 h 206"/>
                <a:gd name="T14" fmla="*/ 226 w 226"/>
                <a:gd name="T15" fmla="*/ 206 h 2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6" h="206">
                  <a:moveTo>
                    <a:pt x="57" y="0"/>
                  </a:moveTo>
                  <a:lnTo>
                    <a:pt x="0" y="67"/>
                  </a:lnTo>
                  <a:lnTo>
                    <a:pt x="226" y="206"/>
                  </a:lnTo>
                  <a:lnTo>
                    <a:pt x="5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4" name="Freeform 49"/>
            <p:cNvSpPr>
              <a:spLocks/>
            </p:cNvSpPr>
            <p:nvPr/>
          </p:nvSpPr>
          <p:spPr bwMode="auto">
            <a:xfrm>
              <a:off x="1211" y="3348"/>
              <a:ext cx="167" cy="146"/>
            </a:xfrm>
            <a:custGeom>
              <a:avLst/>
              <a:gdLst>
                <a:gd name="T0" fmla="*/ 0 w 442"/>
                <a:gd name="T1" fmla="*/ 0 h 382"/>
                <a:gd name="T2" fmla="*/ 0 w 442"/>
                <a:gd name="T3" fmla="*/ 0 h 382"/>
                <a:gd name="T4" fmla="*/ 0 w 442"/>
                <a:gd name="T5" fmla="*/ 0 h 382"/>
                <a:gd name="T6" fmla="*/ 0 60000 65536"/>
                <a:gd name="T7" fmla="*/ 0 60000 65536"/>
                <a:gd name="T8" fmla="*/ 0 60000 65536"/>
                <a:gd name="T9" fmla="*/ 0 w 442"/>
                <a:gd name="T10" fmla="*/ 0 h 382"/>
                <a:gd name="T11" fmla="*/ 442 w 442"/>
                <a:gd name="T12" fmla="*/ 382 h 3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2" h="382">
                  <a:moveTo>
                    <a:pt x="442" y="38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5" name="Freeform 50"/>
            <p:cNvSpPr>
              <a:spLocks/>
            </p:cNvSpPr>
            <p:nvPr/>
          </p:nvSpPr>
          <p:spPr bwMode="auto">
            <a:xfrm>
              <a:off x="1378" y="3494"/>
              <a:ext cx="87" cy="77"/>
            </a:xfrm>
            <a:custGeom>
              <a:avLst/>
              <a:gdLst>
                <a:gd name="T0" fmla="*/ 0 w 228"/>
                <a:gd name="T1" fmla="*/ 0 h 206"/>
                <a:gd name="T2" fmla="*/ 0 w 228"/>
                <a:gd name="T3" fmla="*/ 0 h 206"/>
                <a:gd name="T4" fmla="*/ 0 w 228"/>
                <a:gd name="T5" fmla="*/ 0 h 206"/>
                <a:gd name="T6" fmla="*/ 0 w 228"/>
                <a:gd name="T7" fmla="*/ 0 h 2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8"/>
                <a:gd name="T13" fmla="*/ 0 h 206"/>
                <a:gd name="T14" fmla="*/ 228 w 228"/>
                <a:gd name="T15" fmla="*/ 206 h 2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8" h="206">
                  <a:moveTo>
                    <a:pt x="228" y="140"/>
                  </a:moveTo>
                  <a:lnTo>
                    <a:pt x="170" y="206"/>
                  </a:lnTo>
                  <a:lnTo>
                    <a:pt x="0" y="0"/>
                  </a:lnTo>
                  <a:lnTo>
                    <a:pt x="228" y="14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6" name="Freeform 51"/>
            <p:cNvSpPr>
              <a:spLocks/>
            </p:cNvSpPr>
            <p:nvPr/>
          </p:nvSpPr>
          <p:spPr bwMode="auto">
            <a:xfrm>
              <a:off x="1454" y="3559"/>
              <a:ext cx="76" cy="65"/>
            </a:xfrm>
            <a:custGeom>
              <a:avLst/>
              <a:gdLst>
                <a:gd name="T0" fmla="*/ 0 w 201"/>
                <a:gd name="T1" fmla="*/ 0 h 171"/>
                <a:gd name="T2" fmla="*/ 0 w 201"/>
                <a:gd name="T3" fmla="*/ 0 h 171"/>
                <a:gd name="T4" fmla="*/ 0 w 201"/>
                <a:gd name="T5" fmla="*/ 0 h 171"/>
                <a:gd name="T6" fmla="*/ 0 60000 65536"/>
                <a:gd name="T7" fmla="*/ 0 60000 65536"/>
                <a:gd name="T8" fmla="*/ 0 60000 65536"/>
                <a:gd name="T9" fmla="*/ 0 w 201"/>
                <a:gd name="T10" fmla="*/ 0 h 171"/>
                <a:gd name="T11" fmla="*/ 201 w 201"/>
                <a:gd name="T12" fmla="*/ 171 h 1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" h="171">
                  <a:moveTo>
                    <a:pt x="0" y="0"/>
                  </a:moveTo>
                  <a:lnTo>
                    <a:pt x="200" y="171"/>
                  </a:lnTo>
                  <a:lnTo>
                    <a:pt x="201" y="17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7" name="Freeform 52"/>
            <p:cNvSpPr>
              <a:spLocks/>
            </p:cNvSpPr>
            <p:nvPr/>
          </p:nvSpPr>
          <p:spPr bwMode="auto">
            <a:xfrm>
              <a:off x="1016" y="3179"/>
              <a:ext cx="119" cy="104"/>
            </a:xfrm>
            <a:custGeom>
              <a:avLst/>
              <a:gdLst>
                <a:gd name="T0" fmla="*/ 0 w 314"/>
                <a:gd name="T1" fmla="*/ 0 h 273"/>
                <a:gd name="T2" fmla="*/ 0 w 314"/>
                <a:gd name="T3" fmla="*/ 0 h 273"/>
                <a:gd name="T4" fmla="*/ 0 w 314"/>
                <a:gd name="T5" fmla="*/ 0 h 273"/>
                <a:gd name="T6" fmla="*/ 0 60000 65536"/>
                <a:gd name="T7" fmla="*/ 0 60000 65536"/>
                <a:gd name="T8" fmla="*/ 0 60000 65536"/>
                <a:gd name="T9" fmla="*/ 0 w 314"/>
                <a:gd name="T10" fmla="*/ 0 h 273"/>
                <a:gd name="T11" fmla="*/ 314 w 314"/>
                <a:gd name="T12" fmla="*/ 273 h 2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4" h="273">
                  <a:moveTo>
                    <a:pt x="0" y="0"/>
                  </a:moveTo>
                  <a:lnTo>
                    <a:pt x="313" y="273"/>
                  </a:lnTo>
                  <a:lnTo>
                    <a:pt x="314" y="27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8" name="Text Box 53"/>
            <p:cNvSpPr txBox="1">
              <a:spLocks noChangeArrowheads="1"/>
            </p:cNvSpPr>
            <p:nvPr/>
          </p:nvSpPr>
          <p:spPr bwMode="auto">
            <a:xfrm>
              <a:off x="511" y="2874"/>
              <a:ext cx="593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1">
                  <a:latin typeface="ISOCP" pitchFamily="2" charset="0"/>
                </a:rPr>
                <a:t>4</a:t>
              </a:r>
              <a:r>
                <a:rPr lang="en-US" altLang="zh-CN" i="1">
                  <a:latin typeface="ISOCP" pitchFamily="2" charset="0"/>
                </a:rPr>
                <a:t>×</a:t>
              </a:r>
              <a:r>
                <a:rPr lang="en-US" altLang="zh-CN" sz="2000" i="1">
                  <a:latin typeface="ISOCPEUR" pitchFamily="34" charset="0"/>
                  <a:sym typeface="Symbol" pitchFamily="18" charset="2"/>
                </a:rPr>
                <a:t></a:t>
              </a:r>
            </a:p>
          </p:txBody>
        </p:sp>
        <p:sp>
          <p:nvSpPr>
            <p:cNvPr id="30809" name="Line 54"/>
            <p:cNvSpPr>
              <a:spLocks noChangeShapeType="1"/>
            </p:cNvSpPr>
            <p:nvPr/>
          </p:nvSpPr>
          <p:spPr bwMode="auto">
            <a:xfrm flipH="1">
              <a:off x="588" y="3179"/>
              <a:ext cx="4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32" name="Group 67"/>
          <p:cNvGrpSpPr>
            <a:grpSpLocks/>
          </p:cNvGrpSpPr>
          <p:nvPr/>
        </p:nvGrpSpPr>
        <p:grpSpPr bwMode="auto">
          <a:xfrm>
            <a:off x="5757864" y="1805250"/>
            <a:ext cx="1184275" cy="1079239"/>
            <a:chOff x="1537" y="570"/>
            <a:chExt cx="770" cy="653"/>
          </a:xfrm>
        </p:grpSpPr>
        <p:sp>
          <p:nvSpPr>
            <p:cNvPr id="30793" name="Freeform 68"/>
            <p:cNvSpPr>
              <a:spLocks/>
            </p:cNvSpPr>
            <p:nvPr/>
          </p:nvSpPr>
          <p:spPr bwMode="auto">
            <a:xfrm>
              <a:off x="1537" y="755"/>
              <a:ext cx="229" cy="139"/>
            </a:xfrm>
            <a:custGeom>
              <a:avLst/>
              <a:gdLst>
                <a:gd name="T0" fmla="*/ 0 w 602"/>
                <a:gd name="T1" fmla="*/ 0 h 365"/>
                <a:gd name="T2" fmla="*/ 0 w 602"/>
                <a:gd name="T3" fmla="*/ 0 h 365"/>
                <a:gd name="T4" fmla="*/ 0 w 602"/>
                <a:gd name="T5" fmla="*/ 0 h 365"/>
                <a:gd name="T6" fmla="*/ 0 60000 65536"/>
                <a:gd name="T7" fmla="*/ 0 60000 65536"/>
                <a:gd name="T8" fmla="*/ 0 60000 65536"/>
                <a:gd name="T9" fmla="*/ 0 w 602"/>
                <a:gd name="T10" fmla="*/ 0 h 365"/>
                <a:gd name="T11" fmla="*/ 602 w 602"/>
                <a:gd name="T12" fmla="*/ 365 h 3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2" h="365">
                  <a:moveTo>
                    <a:pt x="0" y="0"/>
                  </a:moveTo>
                  <a:lnTo>
                    <a:pt x="601" y="365"/>
                  </a:lnTo>
                  <a:lnTo>
                    <a:pt x="602" y="36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4" name="Freeform 69"/>
            <p:cNvSpPr>
              <a:spLocks/>
            </p:cNvSpPr>
            <p:nvPr/>
          </p:nvSpPr>
          <p:spPr bwMode="auto">
            <a:xfrm>
              <a:off x="1757" y="879"/>
              <a:ext cx="94" cy="66"/>
            </a:xfrm>
            <a:custGeom>
              <a:avLst/>
              <a:gdLst>
                <a:gd name="T0" fmla="*/ 0 w 246"/>
                <a:gd name="T1" fmla="*/ 0 h 174"/>
                <a:gd name="T2" fmla="*/ 0 w 246"/>
                <a:gd name="T3" fmla="*/ 0 h 174"/>
                <a:gd name="T4" fmla="*/ 0 w 246"/>
                <a:gd name="T5" fmla="*/ 0 h 174"/>
                <a:gd name="T6" fmla="*/ 0 w 246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6"/>
                <a:gd name="T13" fmla="*/ 0 h 174"/>
                <a:gd name="T14" fmla="*/ 246 w 246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6" h="174">
                  <a:moveTo>
                    <a:pt x="45" y="0"/>
                  </a:moveTo>
                  <a:lnTo>
                    <a:pt x="0" y="75"/>
                  </a:lnTo>
                  <a:lnTo>
                    <a:pt x="246" y="17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5" name="Freeform 70"/>
            <p:cNvSpPr>
              <a:spLocks/>
            </p:cNvSpPr>
            <p:nvPr/>
          </p:nvSpPr>
          <p:spPr bwMode="auto">
            <a:xfrm>
              <a:off x="1757" y="879"/>
              <a:ext cx="94" cy="66"/>
            </a:xfrm>
            <a:custGeom>
              <a:avLst/>
              <a:gdLst>
                <a:gd name="T0" fmla="*/ 0 w 246"/>
                <a:gd name="T1" fmla="*/ 0 h 174"/>
                <a:gd name="T2" fmla="*/ 0 w 246"/>
                <a:gd name="T3" fmla="*/ 0 h 174"/>
                <a:gd name="T4" fmla="*/ 0 w 246"/>
                <a:gd name="T5" fmla="*/ 0 h 174"/>
                <a:gd name="T6" fmla="*/ 0 w 246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6"/>
                <a:gd name="T13" fmla="*/ 0 h 174"/>
                <a:gd name="T14" fmla="*/ 246 w 246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6" h="174">
                  <a:moveTo>
                    <a:pt x="45" y="0"/>
                  </a:moveTo>
                  <a:lnTo>
                    <a:pt x="0" y="75"/>
                  </a:lnTo>
                  <a:lnTo>
                    <a:pt x="246" y="174"/>
                  </a:lnTo>
                  <a:lnTo>
                    <a:pt x="4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6" name="Freeform 71"/>
            <p:cNvSpPr>
              <a:spLocks/>
            </p:cNvSpPr>
            <p:nvPr/>
          </p:nvSpPr>
          <p:spPr bwMode="auto">
            <a:xfrm>
              <a:off x="2136" y="1119"/>
              <a:ext cx="95" cy="66"/>
            </a:xfrm>
            <a:custGeom>
              <a:avLst/>
              <a:gdLst>
                <a:gd name="T0" fmla="*/ 0 w 248"/>
                <a:gd name="T1" fmla="*/ 0 h 174"/>
                <a:gd name="T2" fmla="*/ 0 w 248"/>
                <a:gd name="T3" fmla="*/ 0 h 174"/>
                <a:gd name="T4" fmla="*/ 0 w 248"/>
                <a:gd name="T5" fmla="*/ 0 h 174"/>
                <a:gd name="T6" fmla="*/ 0 w 248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8"/>
                <a:gd name="T13" fmla="*/ 0 h 174"/>
                <a:gd name="T14" fmla="*/ 248 w 248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8" h="174">
                  <a:moveTo>
                    <a:pt x="248" y="99"/>
                  </a:moveTo>
                  <a:lnTo>
                    <a:pt x="202" y="174"/>
                  </a:lnTo>
                  <a:lnTo>
                    <a:pt x="0" y="0"/>
                  </a:lnTo>
                  <a:lnTo>
                    <a:pt x="248" y="9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7" name="Freeform 72"/>
            <p:cNvSpPr>
              <a:spLocks/>
            </p:cNvSpPr>
            <p:nvPr/>
          </p:nvSpPr>
          <p:spPr bwMode="auto">
            <a:xfrm>
              <a:off x="2136" y="1119"/>
              <a:ext cx="95" cy="66"/>
            </a:xfrm>
            <a:custGeom>
              <a:avLst/>
              <a:gdLst>
                <a:gd name="T0" fmla="*/ 0 w 248"/>
                <a:gd name="T1" fmla="*/ 0 h 174"/>
                <a:gd name="T2" fmla="*/ 0 w 248"/>
                <a:gd name="T3" fmla="*/ 0 h 174"/>
                <a:gd name="T4" fmla="*/ 0 w 248"/>
                <a:gd name="T5" fmla="*/ 0 h 174"/>
                <a:gd name="T6" fmla="*/ 0 w 248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8"/>
                <a:gd name="T13" fmla="*/ 0 h 174"/>
                <a:gd name="T14" fmla="*/ 248 w 248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8" h="174">
                  <a:moveTo>
                    <a:pt x="248" y="99"/>
                  </a:moveTo>
                  <a:lnTo>
                    <a:pt x="202" y="174"/>
                  </a:lnTo>
                  <a:lnTo>
                    <a:pt x="0" y="0"/>
                  </a:lnTo>
                  <a:lnTo>
                    <a:pt x="248" y="99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8" name="Freeform 73"/>
            <p:cNvSpPr>
              <a:spLocks/>
            </p:cNvSpPr>
            <p:nvPr/>
          </p:nvSpPr>
          <p:spPr bwMode="auto">
            <a:xfrm>
              <a:off x="1851" y="945"/>
              <a:ext cx="285" cy="174"/>
            </a:xfrm>
            <a:custGeom>
              <a:avLst/>
              <a:gdLst>
                <a:gd name="T0" fmla="*/ 0 w 750"/>
                <a:gd name="T1" fmla="*/ 0 h 456"/>
                <a:gd name="T2" fmla="*/ 0 w 750"/>
                <a:gd name="T3" fmla="*/ 0 h 456"/>
                <a:gd name="T4" fmla="*/ 0 w 750"/>
                <a:gd name="T5" fmla="*/ 0 h 456"/>
                <a:gd name="T6" fmla="*/ 0 60000 65536"/>
                <a:gd name="T7" fmla="*/ 0 60000 65536"/>
                <a:gd name="T8" fmla="*/ 0 60000 65536"/>
                <a:gd name="T9" fmla="*/ 0 w 750"/>
                <a:gd name="T10" fmla="*/ 0 h 456"/>
                <a:gd name="T11" fmla="*/ 750 w 750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0" h="456">
                  <a:moveTo>
                    <a:pt x="750" y="45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9" name="Freeform 74"/>
            <p:cNvSpPr>
              <a:spLocks/>
            </p:cNvSpPr>
            <p:nvPr/>
          </p:nvSpPr>
          <p:spPr bwMode="auto">
            <a:xfrm>
              <a:off x="2221" y="1171"/>
              <a:ext cx="86" cy="52"/>
            </a:xfrm>
            <a:custGeom>
              <a:avLst/>
              <a:gdLst>
                <a:gd name="T0" fmla="*/ 0 w 225"/>
                <a:gd name="T1" fmla="*/ 0 h 137"/>
                <a:gd name="T2" fmla="*/ 0 w 225"/>
                <a:gd name="T3" fmla="*/ 0 h 137"/>
                <a:gd name="T4" fmla="*/ 0 w 225"/>
                <a:gd name="T5" fmla="*/ 0 h 137"/>
                <a:gd name="T6" fmla="*/ 0 60000 65536"/>
                <a:gd name="T7" fmla="*/ 0 60000 65536"/>
                <a:gd name="T8" fmla="*/ 0 60000 65536"/>
                <a:gd name="T9" fmla="*/ 0 w 225"/>
                <a:gd name="T10" fmla="*/ 0 h 137"/>
                <a:gd name="T11" fmla="*/ 225 w 225"/>
                <a:gd name="T12" fmla="*/ 137 h 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5" h="137">
                  <a:moveTo>
                    <a:pt x="0" y="0"/>
                  </a:moveTo>
                  <a:lnTo>
                    <a:pt x="223" y="137"/>
                  </a:lnTo>
                  <a:lnTo>
                    <a:pt x="225" y="13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0" name="Text Box 75"/>
            <p:cNvSpPr txBox="1">
              <a:spLocks noChangeArrowheads="1"/>
            </p:cNvSpPr>
            <p:nvPr/>
          </p:nvSpPr>
          <p:spPr bwMode="auto">
            <a:xfrm rot="1630211">
              <a:off x="1551" y="570"/>
              <a:ext cx="207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1">
                  <a:latin typeface="ISOCPEUR" pitchFamily="34" charset="0"/>
                  <a:sym typeface="Symbol" pitchFamily="18" charset="2"/>
                </a:rPr>
                <a:t></a:t>
              </a:r>
            </a:p>
          </p:txBody>
        </p:sp>
      </p:grpSp>
      <p:grpSp>
        <p:nvGrpSpPr>
          <p:cNvPr id="30720" name="Group 84"/>
          <p:cNvGrpSpPr>
            <a:grpSpLocks/>
          </p:cNvGrpSpPr>
          <p:nvPr/>
        </p:nvGrpSpPr>
        <p:grpSpPr bwMode="auto">
          <a:xfrm>
            <a:off x="2408239" y="2068514"/>
            <a:ext cx="725487" cy="966787"/>
            <a:chOff x="4618" y="690"/>
            <a:chExt cx="457" cy="678"/>
          </a:xfrm>
        </p:grpSpPr>
        <p:sp>
          <p:nvSpPr>
            <p:cNvPr id="30789" name="Line 85"/>
            <p:cNvSpPr>
              <a:spLocks noChangeShapeType="1"/>
            </p:cNvSpPr>
            <p:nvPr/>
          </p:nvSpPr>
          <p:spPr bwMode="auto">
            <a:xfrm>
              <a:off x="4834" y="690"/>
              <a:ext cx="0" cy="6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90" name="Text Box 86"/>
            <p:cNvSpPr txBox="1">
              <a:spLocks noChangeArrowheads="1"/>
            </p:cNvSpPr>
            <p:nvPr/>
          </p:nvSpPr>
          <p:spPr bwMode="auto">
            <a:xfrm rot="16200000">
              <a:off x="4632" y="925"/>
              <a:ext cx="22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Aft>
                  <a:spcPct val="25000"/>
                </a:spcAft>
              </a:pPr>
              <a:r>
                <a:rPr lang="en-US" altLang="zh-CN" sz="2000" i="1">
                  <a:latin typeface="ISOCPEUR" pitchFamily="34" charset="0"/>
                  <a:sym typeface="Symbol" pitchFamily="18" charset="2"/>
                </a:rPr>
                <a:t></a:t>
              </a:r>
            </a:p>
          </p:txBody>
        </p:sp>
        <p:sp>
          <p:nvSpPr>
            <p:cNvPr id="30791" name="Line 87"/>
            <p:cNvSpPr>
              <a:spLocks noChangeShapeType="1"/>
            </p:cNvSpPr>
            <p:nvPr/>
          </p:nvSpPr>
          <p:spPr bwMode="auto">
            <a:xfrm>
              <a:off x="4779" y="698"/>
              <a:ext cx="2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92" name="Line 88"/>
            <p:cNvSpPr>
              <a:spLocks noChangeShapeType="1"/>
            </p:cNvSpPr>
            <p:nvPr/>
          </p:nvSpPr>
          <p:spPr bwMode="auto">
            <a:xfrm>
              <a:off x="4779" y="1368"/>
              <a:ext cx="29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21" name="Group 96"/>
          <p:cNvGrpSpPr>
            <a:grpSpLocks/>
          </p:cNvGrpSpPr>
          <p:nvPr/>
        </p:nvGrpSpPr>
        <p:grpSpPr bwMode="auto">
          <a:xfrm>
            <a:off x="3138488" y="1343025"/>
            <a:ext cx="1168400" cy="757238"/>
            <a:chOff x="3509" y="472"/>
            <a:chExt cx="889" cy="227"/>
          </a:xfrm>
        </p:grpSpPr>
        <p:sp>
          <p:nvSpPr>
            <p:cNvPr id="30786" name="Line 97"/>
            <p:cNvSpPr>
              <a:spLocks noChangeShapeType="1"/>
            </p:cNvSpPr>
            <p:nvPr/>
          </p:nvSpPr>
          <p:spPr bwMode="auto">
            <a:xfrm flipV="1">
              <a:off x="3509" y="472"/>
              <a:ext cx="0" cy="2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87" name="Line 98"/>
            <p:cNvSpPr>
              <a:spLocks noChangeShapeType="1"/>
            </p:cNvSpPr>
            <p:nvPr/>
          </p:nvSpPr>
          <p:spPr bwMode="auto">
            <a:xfrm flipV="1">
              <a:off x="4383" y="472"/>
              <a:ext cx="0" cy="22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88" name="Line 99"/>
            <p:cNvSpPr>
              <a:spLocks noChangeShapeType="1"/>
            </p:cNvSpPr>
            <p:nvPr/>
          </p:nvSpPr>
          <p:spPr bwMode="auto">
            <a:xfrm>
              <a:off x="3509" y="508"/>
              <a:ext cx="8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22" name="Group 6"/>
          <p:cNvGrpSpPr>
            <a:grpSpLocks/>
          </p:cNvGrpSpPr>
          <p:nvPr/>
        </p:nvGrpSpPr>
        <p:grpSpPr bwMode="auto">
          <a:xfrm>
            <a:off x="4016375" y="3027364"/>
            <a:ext cx="457200" cy="255587"/>
            <a:chOff x="3362" y="1366"/>
            <a:chExt cx="414" cy="242"/>
          </a:xfrm>
        </p:grpSpPr>
        <p:sp>
          <p:nvSpPr>
            <p:cNvPr id="30782" name="Line 7"/>
            <p:cNvSpPr>
              <a:spLocks noChangeShapeType="1"/>
            </p:cNvSpPr>
            <p:nvPr/>
          </p:nvSpPr>
          <p:spPr bwMode="auto">
            <a:xfrm>
              <a:off x="3619" y="1531"/>
              <a:ext cx="157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83" name="Line 8"/>
            <p:cNvSpPr>
              <a:spLocks noChangeShapeType="1"/>
            </p:cNvSpPr>
            <p:nvPr/>
          </p:nvSpPr>
          <p:spPr bwMode="auto">
            <a:xfrm>
              <a:off x="3362" y="1530"/>
              <a:ext cx="19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84" name="Line 9"/>
            <p:cNvSpPr>
              <a:spLocks noChangeShapeType="1"/>
            </p:cNvSpPr>
            <p:nvPr/>
          </p:nvSpPr>
          <p:spPr bwMode="auto">
            <a:xfrm>
              <a:off x="3622" y="1366"/>
              <a:ext cx="0" cy="24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85" name="Freeform 10"/>
            <p:cNvSpPr>
              <a:spLocks/>
            </p:cNvSpPr>
            <p:nvPr/>
          </p:nvSpPr>
          <p:spPr bwMode="auto">
            <a:xfrm>
              <a:off x="3557" y="1532"/>
              <a:ext cx="65" cy="1"/>
            </a:xfrm>
            <a:custGeom>
              <a:avLst/>
              <a:gdLst>
                <a:gd name="T0" fmla="*/ 0 w 293"/>
                <a:gd name="T1" fmla="*/ 0 h 1"/>
                <a:gd name="T2" fmla="*/ 0 w 293"/>
                <a:gd name="T3" fmla="*/ 0 h 1"/>
                <a:gd name="T4" fmla="*/ 0 w 293"/>
                <a:gd name="T5" fmla="*/ 0 h 1"/>
                <a:gd name="T6" fmla="*/ 0 60000 65536"/>
                <a:gd name="T7" fmla="*/ 0 60000 65536"/>
                <a:gd name="T8" fmla="*/ 0 60000 65536"/>
                <a:gd name="T9" fmla="*/ 0 w 293"/>
                <a:gd name="T10" fmla="*/ 0 h 1"/>
                <a:gd name="T11" fmla="*/ 293 w 29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3" h="1">
                  <a:moveTo>
                    <a:pt x="29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Group 14"/>
          <p:cNvGrpSpPr>
            <a:grpSpLocks/>
          </p:cNvGrpSpPr>
          <p:nvPr/>
        </p:nvGrpSpPr>
        <p:grpSpPr bwMode="auto">
          <a:xfrm rot="-5400000">
            <a:off x="4208463" y="2809876"/>
            <a:ext cx="1173163" cy="684212"/>
            <a:chOff x="1288" y="3567"/>
            <a:chExt cx="1406" cy="482"/>
          </a:xfrm>
        </p:grpSpPr>
        <p:sp>
          <p:nvSpPr>
            <p:cNvPr id="30777" name="Freeform 17"/>
            <p:cNvSpPr>
              <a:spLocks/>
            </p:cNvSpPr>
            <p:nvPr/>
          </p:nvSpPr>
          <p:spPr bwMode="auto">
            <a:xfrm>
              <a:off x="1394" y="3952"/>
              <a:ext cx="1199" cy="1"/>
            </a:xfrm>
            <a:custGeom>
              <a:avLst/>
              <a:gdLst>
                <a:gd name="T0" fmla="*/ 0 w 3153"/>
                <a:gd name="T1" fmla="*/ 0 h 1"/>
                <a:gd name="T2" fmla="*/ 0 w 3153"/>
                <a:gd name="T3" fmla="*/ 0 h 1"/>
                <a:gd name="T4" fmla="*/ 0 w 3153"/>
                <a:gd name="T5" fmla="*/ 0 h 1"/>
                <a:gd name="T6" fmla="*/ 0 60000 65536"/>
                <a:gd name="T7" fmla="*/ 0 60000 65536"/>
                <a:gd name="T8" fmla="*/ 0 60000 65536"/>
                <a:gd name="T9" fmla="*/ 0 w 3153"/>
                <a:gd name="T10" fmla="*/ 0 h 1"/>
                <a:gd name="T11" fmla="*/ 3153 w 31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3" h="1">
                  <a:moveTo>
                    <a:pt x="0" y="0"/>
                  </a:moveTo>
                  <a:lnTo>
                    <a:pt x="3152" y="0"/>
                  </a:lnTo>
                  <a:lnTo>
                    <a:pt x="3153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8" name="Freeform 18"/>
            <p:cNvSpPr>
              <a:spLocks/>
            </p:cNvSpPr>
            <p:nvPr/>
          </p:nvSpPr>
          <p:spPr bwMode="auto">
            <a:xfrm>
              <a:off x="1288" y="3681"/>
              <a:ext cx="1" cy="355"/>
            </a:xfrm>
            <a:custGeom>
              <a:avLst/>
              <a:gdLst>
                <a:gd name="T0" fmla="*/ 0 w 1"/>
                <a:gd name="T1" fmla="*/ 0 h 818"/>
                <a:gd name="T2" fmla="*/ 0 w 1"/>
                <a:gd name="T3" fmla="*/ 0 h 818"/>
                <a:gd name="T4" fmla="*/ 1 w 1"/>
                <a:gd name="T5" fmla="*/ 0 h 818"/>
                <a:gd name="T6" fmla="*/ 0 60000 65536"/>
                <a:gd name="T7" fmla="*/ 0 60000 65536"/>
                <a:gd name="T8" fmla="*/ 0 60000 65536"/>
                <a:gd name="T9" fmla="*/ 0 w 1"/>
                <a:gd name="T10" fmla="*/ 0 h 818"/>
                <a:gd name="T11" fmla="*/ 1 w 1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8">
                  <a:moveTo>
                    <a:pt x="0" y="0"/>
                  </a:moveTo>
                  <a:lnTo>
                    <a:pt x="0" y="818"/>
                  </a:lnTo>
                  <a:lnTo>
                    <a:pt x="1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9" name="Freeform 19"/>
            <p:cNvSpPr>
              <a:spLocks/>
            </p:cNvSpPr>
            <p:nvPr/>
          </p:nvSpPr>
          <p:spPr bwMode="auto">
            <a:xfrm>
              <a:off x="1294" y="3934"/>
              <a:ext cx="100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4"/>
                  </a:lnTo>
                  <a:lnTo>
                    <a:pt x="262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0" name="Freeform 20"/>
            <p:cNvSpPr>
              <a:spLocks/>
            </p:cNvSpPr>
            <p:nvPr/>
          </p:nvSpPr>
          <p:spPr bwMode="auto">
            <a:xfrm>
              <a:off x="2693" y="3567"/>
              <a:ext cx="1" cy="482"/>
            </a:xfrm>
            <a:custGeom>
              <a:avLst/>
              <a:gdLst>
                <a:gd name="T0" fmla="*/ 0 w 2"/>
                <a:gd name="T1" fmla="*/ 0 h 818"/>
                <a:gd name="T2" fmla="*/ 0 w 2"/>
                <a:gd name="T3" fmla="*/ 0 h 818"/>
                <a:gd name="T4" fmla="*/ 1 w 2"/>
                <a:gd name="T5" fmla="*/ 0 h 818"/>
                <a:gd name="T6" fmla="*/ 0 60000 65536"/>
                <a:gd name="T7" fmla="*/ 0 60000 65536"/>
                <a:gd name="T8" fmla="*/ 0 60000 65536"/>
                <a:gd name="T9" fmla="*/ 0 w 2"/>
                <a:gd name="T10" fmla="*/ 0 h 818"/>
                <a:gd name="T11" fmla="*/ 2 w 2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818">
                  <a:moveTo>
                    <a:pt x="0" y="0"/>
                  </a:moveTo>
                  <a:lnTo>
                    <a:pt x="0" y="818"/>
                  </a:lnTo>
                  <a:lnTo>
                    <a:pt x="2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1" name="Freeform 21"/>
            <p:cNvSpPr>
              <a:spLocks/>
            </p:cNvSpPr>
            <p:nvPr/>
          </p:nvSpPr>
          <p:spPr bwMode="auto">
            <a:xfrm>
              <a:off x="2592" y="3933"/>
              <a:ext cx="101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4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737" name="Group 84"/>
          <p:cNvGrpSpPr>
            <a:grpSpLocks/>
          </p:cNvGrpSpPr>
          <p:nvPr/>
        </p:nvGrpSpPr>
        <p:grpSpPr bwMode="auto">
          <a:xfrm rot="5400000">
            <a:off x="6172995" y="1566070"/>
            <a:ext cx="566737" cy="276225"/>
            <a:chOff x="4350" y="690"/>
            <a:chExt cx="725" cy="679"/>
          </a:xfrm>
        </p:grpSpPr>
        <p:sp>
          <p:nvSpPr>
            <p:cNvPr id="30773" name="Line 85"/>
            <p:cNvSpPr>
              <a:spLocks noChangeShapeType="1"/>
            </p:cNvSpPr>
            <p:nvPr/>
          </p:nvSpPr>
          <p:spPr bwMode="auto">
            <a:xfrm>
              <a:off x="4834" y="690"/>
              <a:ext cx="0" cy="6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74" name="Text Box 86"/>
            <p:cNvSpPr txBox="1">
              <a:spLocks noChangeArrowheads="1"/>
            </p:cNvSpPr>
            <p:nvPr/>
          </p:nvSpPr>
          <p:spPr bwMode="auto">
            <a:xfrm rot="16200000">
              <a:off x="4418" y="925"/>
              <a:ext cx="376" cy="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>
                  <a:latin typeface="ISOCPEUR" pitchFamily="34" charset="0"/>
                  <a:sym typeface="Symbol" pitchFamily="18" charset="2"/>
                </a:rPr>
                <a:t></a:t>
              </a:r>
            </a:p>
          </p:txBody>
        </p:sp>
        <p:sp>
          <p:nvSpPr>
            <p:cNvPr id="30775" name="Line 87"/>
            <p:cNvSpPr>
              <a:spLocks noChangeShapeType="1"/>
            </p:cNvSpPr>
            <p:nvPr/>
          </p:nvSpPr>
          <p:spPr bwMode="auto">
            <a:xfrm>
              <a:off x="4779" y="698"/>
              <a:ext cx="2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76" name="Line 88"/>
            <p:cNvSpPr>
              <a:spLocks noChangeShapeType="1"/>
            </p:cNvSpPr>
            <p:nvPr/>
          </p:nvSpPr>
          <p:spPr bwMode="auto">
            <a:xfrm>
              <a:off x="4779" y="1368"/>
              <a:ext cx="29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38" name="Group 84"/>
          <p:cNvGrpSpPr>
            <a:grpSpLocks/>
          </p:cNvGrpSpPr>
          <p:nvPr/>
        </p:nvGrpSpPr>
        <p:grpSpPr bwMode="auto">
          <a:xfrm rot="5400000">
            <a:off x="6007894" y="1335882"/>
            <a:ext cx="920750" cy="417512"/>
            <a:chOff x="4664" y="690"/>
            <a:chExt cx="411" cy="678"/>
          </a:xfrm>
        </p:grpSpPr>
        <p:sp>
          <p:nvSpPr>
            <p:cNvPr id="30769" name="Line 85"/>
            <p:cNvSpPr>
              <a:spLocks noChangeShapeType="1"/>
            </p:cNvSpPr>
            <p:nvPr/>
          </p:nvSpPr>
          <p:spPr bwMode="auto">
            <a:xfrm>
              <a:off x="4834" y="690"/>
              <a:ext cx="0" cy="6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70" name="Text Box 86"/>
            <p:cNvSpPr txBox="1">
              <a:spLocks noChangeArrowheads="1"/>
            </p:cNvSpPr>
            <p:nvPr/>
          </p:nvSpPr>
          <p:spPr bwMode="auto">
            <a:xfrm rot="-5400000">
              <a:off x="4566" y="1025"/>
              <a:ext cx="376" cy="1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000" i="1">
                  <a:latin typeface="ISOCPEUR" pitchFamily="34" charset="0"/>
                  <a:sym typeface="Symbol" pitchFamily="18" charset="2"/>
                </a:rPr>
                <a:t></a:t>
              </a:r>
            </a:p>
          </p:txBody>
        </p:sp>
        <p:sp>
          <p:nvSpPr>
            <p:cNvPr id="30771" name="Line 87"/>
            <p:cNvSpPr>
              <a:spLocks noChangeShapeType="1"/>
            </p:cNvSpPr>
            <p:nvPr/>
          </p:nvSpPr>
          <p:spPr bwMode="auto">
            <a:xfrm>
              <a:off x="4779" y="698"/>
              <a:ext cx="2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72" name="Line 88"/>
            <p:cNvSpPr>
              <a:spLocks noChangeShapeType="1"/>
            </p:cNvSpPr>
            <p:nvPr/>
          </p:nvSpPr>
          <p:spPr bwMode="auto">
            <a:xfrm>
              <a:off x="4779" y="1368"/>
              <a:ext cx="29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39" name="Group 14"/>
          <p:cNvGrpSpPr>
            <a:grpSpLocks/>
          </p:cNvGrpSpPr>
          <p:nvPr/>
        </p:nvGrpSpPr>
        <p:grpSpPr bwMode="auto">
          <a:xfrm>
            <a:off x="3703639" y="1676400"/>
            <a:ext cx="585787" cy="450850"/>
            <a:chOff x="1294" y="3558"/>
            <a:chExt cx="1359" cy="445"/>
          </a:xfrm>
        </p:grpSpPr>
        <p:sp>
          <p:nvSpPr>
            <p:cNvPr id="30764" name="Freeform 15"/>
            <p:cNvSpPr>
              <a:spLocks/>
            </p:cNvSpPr>
            <p:nvPr/>
          </p:nvSpPr>
          <p:spPr bwMode="auto">
            <a:xfrm>
              <a:off x="1294" y="3606"/>
              <a:ext cx="100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4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5" name="Freeform 16"/>
            <p:cNvSpPr>
              <a:spLocks/>
            </p:cNvSpPr>
            <p:nvPr/>
          </p:nvSpPr>
          <p:spPr bwMode="auto">
            <a:xfrm>
              <a:off x="2520" y="3606"/>
              <a:ext cx="101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6" name="Freeform 17"/>
            <p:cNvSpPr>
              <a:spLocks/>
            </p:cNvSpPr>
            <p:nvPr/>
          </p:nvSpPr>
          <p:spPr bwMode="auto">
            <a:xfrm>
              <a:off x="1394" y="3625"/>
              <a:ext cx="1173" cy="1"/>
            </a:xfrm>
            <a:custGeom>
              <a:avLst/>
              <a:gdLst>
                <a:gd name="T0" fmla="*/ 0 w 3153"/>
                <a:gd name="T1" fmla="*/ 0 h 1"/>
                <a:gd name="T2" fmla="*/ 0 w 3153"/>
                <a:gd name="T3" fmla="*/ 0 h 1"/>
                <a:gd name="T4" fmla="*/ 0 w 3153"/>
                <a:gd name="T5" fmla="*/ 0 h 1"/>
                <a:gd name="T6" fmla="*/ 0 60000 65536"/>
                <a:gd name="T7" fmla="*/ 0 60000 65536"/>
                <a:gd name="T8" fmla="*/ 0 60000 65536"/>
                <a:gd name="T9" fmla="*/ 0 w 3153"/>
                <a:gd name="T10" fmla="*/ 0 h 1"/>
                <a:gd name="T11" fmla="*/ 3153 w 31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3" h="1">
                  <a:moveTo>
                    <a:pt x="0" y="0"/>
                  </a:moveTo>
                  <a:lnTo>
                    <a:pt x="3152" y="0"/>
                  </a:lnTo>
                  <a:lnTo>
                    <a:pt x="3153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7" name="Freeform 18"/>
            <p:cNvSpPr>
              <a:spLocks/>
            </p:cNvSpPr>
            <p:nvPr/>
          </p:nvSpPr>
          <p:spPr bwMode="auto">
            <a:xfrm>
              <a:off x="1294" y="3558"/>
              <a:ext cx="1" cy="310"/>
            </a:xfrm>
            <a:custGeom>
              <a:avLst/>
              <a:gdLst>
                <a:gd name="T0" fmla="*/ 0 w 1"/>
                <a:gd name="T1" fmla="*/ 0 h 818"/>
                <a:gd name="T2" fmla="*/ 0 w 1"/>
                <a:gd name="T3" fmla="*/ 0 h 818"/>
                <a:gd name="T4" fmla="*/ 1 w 1"/>
                <a:gd name="T5" fmla="*/ 0 h 818"/>
                <a:gd name="T6" fmla="*/ 0 60000 65536"/>
                <a:gd name="T7" fmla="*/ 0 60000 65536"/>
                <a:gd name="T8" fmla="*/ 0 60000 65536"/>
                <a:gd name="T9" fmla="*/ 0 w 1"/>
                <a:gd name="T10" fmla="*/ 0 h 818"/>
                <a:gd name="T11" fmla="*/ 1 w 1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8">
                  <a:moveTo>
                    <a:pt x="0" y="0"/>
                  </a:moveTo>
                  <a:lnTo>
                    <a:pt x="0" y="818"/>
                  </a:lnTo>
                  <a:lnTo>
                    <a:pt x="1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8" name="Freeform 20"/>
            <p:cNvSpPr>
              <a:spLocks/>
            </p:cNvSpPr>
            <p:nvPr/>
          </p:nvSpPr>
          <p:spPr bwMode="auto">
            <a:xfrm>
              <a:off x="2652" y="3558"/>
              <a:ext cx="1" cy="445"/>
            </a:xfrm>
            <a:custGeom>
              <a:avLst/>
              <a:gdLst>
                <a:gd name="T0" fmla="*/ 0 w 2"/>
                <a:gd name="T1" fmla="*/ 0 h 818"/>
                <a:gd name="T2" fmla="*/ 0 w 2"/>
                <a:gd name="T3" fmla="*/ 0 h 818"/>
                <a:gd name="T4" fmla="*/ 1 w 2"/>
                <a:gd name="T5" fmla="*/ 0 h 818"/>
                <a:gd name="T6" fmla="*/ 0 60000 65536"/>
                <a:gd name="T7" fmla="*/ 0 60000 65536"/>
                <a:gd name="T8" fmla="*/ 0 60000 65536"/>
                <a:gd name="T9" fmla="*/ 0 w 2"/>
                <a:gd name="T10" fmla="*/ 0 h 818"/>
                <a:gd name="T11" fmla="*/ 2 w 2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818">
                  <a:moveTo>
                    <a:pt x="0" y="0"/>
                  </a:moveTo>
                  <a:lnTo>
                    <a:pt x="0" y="818"/>
                  </a:lnTo>
                  <a:lnTo>
                    <a:pt x="2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740" name="Group 14"/>
          <p:cNvGrpSpPr>
            <a:grpSpLocks/>
          </p:cNvGrpSpPr>
          <p:nvPr/>
        </p:nvGrpSpPr>
        <p:grpSpPr bwMode="auto">
          <a:xfrm rot="-5400000">
            <a:off x="6842477" y="1790868"/>
            <a:ext cx="587624" cy="971787"/>
            <a:chOff x="1294" y="3356"/>
            <a:chExt cx="1350" cy="685"/>
          </a:xfrm>
        </p:grpSpPr>
        <p:sp>
          <p:nvSpPr>
            <p:cNvPr id="30759" name="Freeform 17"/>
            <p:cNvSpPr>
              <a:spLocks/>
            </p:cNvSpPr>
            <p:nvPr/>
          </p:nvSpPr>
          <p:spPr bwMode="auto">
            <a:xfrm>
              <a:off x="1394" y="3952"/>
              <a:ext cx="1075" cy="1"/>
            </a:xfrm>
            <a:custGeom>
              <a:avLst/>
              <a:gdLst>
                <a:gd name="T0" fmla="*/ 0 w 3153"/>
                <a:gd name="T1" fmla="*/ 0 h 1"/>
                <a:gd name="T2" fmla="*/ 0 w 3153"/>
                <a:gd name="T3" fmla="*/ 0 h 1"/>
                <a:gd name="T4" fmla="*/ 0 w 3153"/>
                <a:gd name="T5" fmla="*/ 0 h 1"/>
                <a:gd name="T6" fmla="*/ 0 60000 65536"/>
                <a:gd name="T7" fmla="*/ 0 60000 65536"/>
                <a:gd name="T8" fmla="*/ 0 60000 65536"/>
                <a:gd name="T9" fmla="*/ 0 w 3153"/>
                <a:gd name="T10" fmla="*/ 0 h 1"/>
                <a:gd name="T11" fmla="*/ 3153 w 31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3" h="1">
                  <a:moveTo>
                    <a:pt x="0" y="0"/>
                  </a:moveTo>
                  <a:lnTo>
                    <a:pt x="3152" y="0"/>
                  </a:lnTo>
                  <a:lnTo>
                    <a:pt x="3153" y="0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0" name="Freeform 18"/>
            <p:cNvSpPr>
              <a:spLocks/>
            </p:cNvSpPr>
            <p:nvPr/>
          </p:nvSpPr>
          <p:spPr bwMode="auto">
            <a:xfrm>
              <a:off x="1302" y="3681"/>
              <a:ext cx="0" cy="355"/>
            </a:xfrm>
            <a:custGeom>
              <a:avLst/>
              <a:gdLst>
                <a:gd name="T0" fmla="*/ 0 w 1"/>
                <a:gd name="T1" fmla="*/ 0 h 818"/>
                <a:gd name="T2" fmla="*/ 0 w 1"/>
                <a:gd name="T3" fmla="*/ 0 h 818"/>
                <a:gd name="T4" fmla="*/ 1 w 1"/>
                <a:gd name="T5" fmla="*/ 0 h 818"/>
                <a:gd name="T6" fmla="*/ 0 60000 65536"/>
                <a:gd name="T7" fmla="*/ 0 60000 65536"/>
                <a:gd name="T8" fmla="*/ 0 60000 65536"/>
                <a:gd name="T9" fmla="*/ 0 w 1"/>
                <a:gd name="T10" fmla="*/ 0 h 818"/>
                <a:gd name="T11" fmla="*/ 1 w 1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8">
                  <a:moveTo>
                    <a:pt x="0" y="0"/>
                  </a:moveTo>
                  <a:lnTo>
                    <a:pt x="0" y="818"/>
                  </a:lnTo>
                  <a:lnTo>
                    <a:pt x="1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1" name="Freeform 19"/>
            <p:cNvSpPr>
              <a:spLocks/>
            </p:cNvSpPr>
            <p:nvPr/>
          </p:nvSpPr>
          <p:spPr bwMode="auto">
            <a:xfrm>
              <a:off x="1294" y="3934"/>
              <a:ext cx="248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4"/>
                  </a:lnTo>
                  <a:lnTo>
                    <a:pt x="262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2" name="Freeform 20"/>
            <p:cNvSpPr>
              <a:spLocks/>
            </p:cNvSpPr>
            <p:nvPr/>
          </p:nvSpPr>
          <p:spPr bwMode="auto">
            <a:xfrm>
              <a:off x="2637" y="3356"/>
              <a:ext cx="0" cy="685"/>
            </a:xfrm>
            <a:custGeom>
              <a:avLst/>
              <a:gdLst>
                <a:gd name="T0" fmla="*/ 0 w 2"/>
                <a:gd name="T1" fmla="*/ 0 h 818"/>
                <a:gd name="T2" fmla="*/ 0 w 2"/>
                <a:gd name="T3" fmla="*/ 0 h 818"/>
                <a:gd name="T4" fmla="*/ 1 w 2"/>
                <a:gd name="T5" fmla="*/ 0 h 818"/>
                <a:gd name="T6" fmla="*/ 0 60000 65536"/>
                <a:gd name="T7" fmla="*/ 0 60000 65536"/>
                <a:gd name="T8" fmla="*/ 0 60000 65536"/>
                <a:gd name="T9" fmla="*/ 0 w 2"/>
                <a:gd name="T10" fmla="*/ 0 h 818"/>
                <a:gd name="T11" fmla="*/ 2 w 2"/>
                <a:gd name="T12" fmla="*/ 818 h 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818">
                  <a:moveTo>
                    <a:pt x="0" y="0"/>
                  </a:moveTo>
                  <a:lnTo>
                    <a:pt x="0" y="818"/>
                  </a:lnTo>
                  <a:lnTo>
                    <a:pt x="2" y="818"/>
                  </a:lnTo>
                </a:path>
              </a:pathLst>
            </a:cu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3" name="Freeform 21"/>
            <p:cNvSpPr>
              <a:spLocks/>
            </p:cNvSpPr>
            <p:nvPr/>
          </p:nvSpPr>
          <p:spPr bwMode="auto">
            <a:xfrm>
              <a:off x="2396" y="3935"/>
              <a:ext cx="248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4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741" name="Group 76"/>
          <p:cNvGrpSpPr>
            <a:grpSpLocks/>
          </p:cNvGrpSpPr>
          <p:nvPr/>
        </p:nvGrpSpPr>
        <p:grpSpPr bwMode="auto">
          <a:xfrm>
            <a:off x="5995989" y="3228975"/>
            <a:ext cx="936625" cy="52388"/>
            <a:chOff x="1694" y="1438"/>
            <a:chExt cx="599" cy="33"/>
          </a:xfrm>
        </p:grpSpPr>
        <p:sp>
          <p:nvSpPr>
            <p:cNvPr id="30752" name="Freeform 77"/>
            <p:cNvSpPr>
              <a:spLocks/>
            </p:cNvSpPr>
            <p:nvPr/>
          </p:nvSpPr>
          <p:spPr bwMode="auto">
            <a:xfrm>
              <a:off x="1894" y="1455"/>
              <a:ext cx="200" cy="1"/>
            </a:xfrm>
            <a:custGeom>
              <a:avLst/>
              <a:gdLst>
                <a:gd name="T0" fmla="*/ 0 w 527"/>
                <a:gd name="T1" fmla="*/ 0 h 1"/>
                <a:gd name="T2" fmla="*/ 0 w 527"/>
                <a:gd name="T3" fmla="*/ 0 h 1"/>
                <a:gd name="T4" fmla="*/ 0 w 527"/>
                <a:gd name="T5" fmla="*/ 0 h 1"/>
                <a:gd name="T6" fmla="*/ 0 60000 65536"/>
                <a:gd name="T7" fmla="*/ 0 60000 65536"/>
                <a:gd name="T8" fmla="*/ 0 60000 65536"/>
                <a:gd name="T9" fmla="*/ 0 w 527"/>
                <a:gd name="T10" fmla="*/ 0 h 1"/>
                <a:gd name="T11" fmla="*/ 527 w 52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7" h="1">
                  <a:moveTo>
                    <a:pt x="0" y="0"/>
                  </a:moveTo>
                  <a:lnTo>
                    <a:pt x="526" y="0"/>
                  </a:lnTo>
                  <a:lnTo>
                    <a:pt x="527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3" name="Freeform 78"/>
            <p:cNvSpPr>
              <a:spLocks/>
            </p:cNvSpPr>
            <p:nvPr/>
          </p:nvSpPr>
          <p:spPr bwMode="auto">
            <a:xfrm>
              <a:off x="2193" y="1455"/>
              <a:ext cx="100" cy="1"/>
            </a:xfrm>
            <a:custGeom>
              <a:avLst/>
              <a:gdLst>
                <a:gd name="T0" fmla="*/ 0 w 263"/>
                <a:gd name="T1" fmla="*/ 0 h 1"/>
                <a:gd name="T2" fmla="*/ 0 w 263"/>
                <a:gd name="T3" fmla="*/ 0 h 1"/>
                <a:gd name="T4" fmla="*/ 0 w 263"/>
                <a:gd name="T5" fmla="*/ 0 h 1"/>
                <a:gd name="T6" fmla="*/ 0 60000 65536"/>
                <a:gd name="T7" fmla="*/ 0 60000 65536"/>
                <a:gd name="T8" fmla="*/ 0 60000 65536"/>
                <a:gd name="T9" fmla="*/ 0 w 263"/>
                <a:gd name="T10" fmla="*/ 0 h 1"/>
                <a:gd name="T11" fmla="*/ 263 w 26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3" h="1">
                  <a:moveTo>
                    <a:pt x="0" y="0"/>
                  </a:moveTo>
                  <a:lnTo>
                    <a:pt x="261" y="0"/>
                  </a:lnTo>
                  <a:lnTo>
                    <a:pt x="26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4" name="Freeform 79"/>
            <p:cNvSpPr>
              <a:spLocks/>
            </p:cNvSpPr>
            <p:nvPr/>
          </p:nvSpPr>
          <p:spPr bwMode="auto">
            <a:xfrm>
              <a:off x="2094" y="1438"/>
              <a:ext cx="99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3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5" name="Freeform 80"/>
            <p:cNvSpPr>
              <a:spLocks/>
            </p:cNvSpPr>
            <p:nvPr/>
          </p:nvSpPr>
          <p:spPr bwMode="auto">
            <a:xfrm>
              <a:off x="2094" y="1438"/>
              <a:ext cx="99" cy="33"/>
            </a:xfrm>
            <a:custGeom>
              <a:avLst/>
              <a:gdLst>
                <a:gd name="T0" fmla="*/ 0 w 262"/>
                <a:gd name="T1" fmla="*/ 0 h 87"/>
                <a:gd name="T2" fmla="*/ 0 w 262"/>
                <a:gd name="T3" fmla="*/ 0 h 87"/>
                <a:gd name="T4" fmla="*/ 0 w 262"/>
                <a:gd name="T5" fmla="*/ 0 h 87"/>
                <a:gd name="T6" fmla="*/ 0 w 26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2"/>
                <a:gd name="T13" fmla="*/ 0 h 87"/>
                <a:gd name="T14" fmla="*/ 262 w 262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2" h="87">
                  <a:moveTo>
                    <a:pt x="262" y="0"/>
                  </a:moveTo>
                  <a:lnTo>
                    <a:pt x="262" y="87"/>
                  </a:lnTo>
                  <a:lnTo>
                    <a:pt x="0" y="43"/>
                  </a:lnTo>
                  <a:lnTo>
                    <a:pt x="26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6" name="Freeform 81"/>
            <p:cNvSpPr>
              <a:spLocks/>
            </p:cNvSpPr>
            <p:nvPr/>
          </p:nvSpPr>
          <p:spPr bwMode="auto">
            <a:xfrm>
              <a:off x="1794" y="1438"/>
              <a:ext cx="100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7" name="Freeform 82"/>
            <p:cNvSpPr>
              <a:spLocks/>
            </p:cNvSpPr>
            <p:nvPr/>
          </p:nvSpPr>
          <p:spPr bwMode="auto">
            <a:xfrm>
              <a:off x="1794" y="1438"/>
              <a:ext cx="100" cy="33"/>
            </a:xfrm>
            <a:custGeom>
              <a:avLst/>
              <a:gdLst>
                <a:gd name="T0" fmla="*/ 0 w 263"/>
                <a:gd name="T1" fmla="*/ 0 h 87"/>
                <a:gd name="T2" fmla="*/ 0 w 263"/>
                <a:gd name="T3" fmla="*/ 0 h 87"/>
                <a:gd name="T4" fmla="*/ 0 w 263"/>
                <a:gd name="T5" fmla="*/ 0 h 87"/>
                <a:gd name="T6" fmla="*/ 0 w 26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87"/>
                <a:gd name="T14" fmla="*/ 263 w 26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87">
                  <a:moveTo>
                    <a:pt x="0" y="0"/>
                  </a:moveTo>
                  <a:lnTo>
                    <a:pt x="0" y="87"/>
                  </a:lnTo>
                  <a:lnTo>
                    <a:pt x="263" y="43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8" name="Freeform 83"/>
            <p:cNvSpPr>
              <a:spLocks/>
            </p:cNvSpPr>
            <p:nvPr/>
          </p:nvSpPr>
          <p:spPr bwMode="auto">
            <a:xfrm>
              <a:off x="1694" y="1455"/>
              <a:ext cx="100" cy="1"/>
            </a:xfrm>
            <a:custGeom>
              <a:avLst/>
              <a:gdLst>
                <a:gd name="T0" fmla="*/ 0 w 262"/>
                <a:gd name="T1" fmla="*/ 0 h 1"/>
                <a:gd name="T2" fmla="*/ 0 w 262"/>
                <a:gd name="T3" fmla="*/ 0 h 1"/>
                <a:gd name="T4" fmla="*/ 0 w 262"/>
                <a:gd name="T5" fmla="*/ 0 h 1"/>
                <a:gd name="T6" fmla="*/ 0 60000 65536"/>
                <a:gd name="T7" fmla="*/ 0 60000 65536"/>
                <a:gd name="T8" fmla="*/ 0 60000 65536"/>
                <a:gd name="T9" fmla="*/ 0 w 262"/>
                <a:gd name="T10" fmla="*/ 0 h 1"/>
                <a:gd name="T11" fmla="*/ 262 w 26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" h="1">
                  <a:moveTo>
                    <a:pt x="26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742" name="Group 89"/>
          <p:cNvGrpSpPr>
            <a:grpSpLocks/>
          </p:cNvGrpSpPr>
          <p:nvPr/>
        </p:nvGrpSpPr>
        <p:grpSpPr bwMode="auto">
          <a:xfrm>
            <a:off x="2276475" y="3063875"/>
            <a:ext cx="973138" cy="395288"/>
            <a:chOff x="4578" y="1531"/>
            <a:chExt cx="365" cy="249"/>
          </a:xfrm>
        </p:grpSpPr>
        <p:sp>
          <p:nvSpPr>
            <p:cNvPr id="30749" name="Line 90"/>
            <p:cNvSpPr>
              <a:spLocks noChangeShapeType="1"/>
            </p:cNvSpPr>
            <p:nvPr/>
          </p:nvSpPr>
          <p:spPr bwMode="auto">
            <a:xfrm>
              <a:off x="4621" y="1531"/>
              <a:ext cx="0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50" name="Line 91"/>
            <p:cNvSpPr>
              <a:spLocks noChangeShapeType="1"/>
            </p:cNvSpPr>
            <p:nvPr/>
          </p:nvSpPr>
          <p:spPr bwMode="auto">
            <a:xfrm>
              <a:off x="4578" y="1547"/>
              <a:ext cx="36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51" name="Line 92"/>
            <p:cNvSpPr>
              <a:spLocks noChangeShapeType="1"/>
            </p:cNvSpPr>
            <p:nvPr/>
          </p:nvSpPr>
          <p:spPr bwMode="auto">
            <a:xfrm>
              <a:off x="4580" y="1777"/>
              <a:ext cx="8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30" name="Group 93"/>
          <p:cNvGrpSpPr>
            <a:grpSpLocks/>
          </p:cNvGrpSpPr>
          <p:nvPr/>
        </p:nvGrpSpPr>
        <p:grpSpPr bwMode="auto">
          <a:xfrm>
            <a:off x="3260726" y="3082926"/>
            <a:ext cx="695325" cy="252413"/>
            <a:chOff x="3815" y="1539"/>
            <a:chExt cx="457" cy="159"/>
          </a:xfrm>
        </p:grpSpPr>
        <p:sp>
          <p:nvSpPr>
            <p:cNvPr id="30747" name="Freeform 94"/>
            <p:cNvSpPr>
              <a:spLocks/>
            </p:cNvSpPr>
            <p:nvPr/>
          </p:nvSpPr>
          <p:spPr bwMode="auto">
            <a:xfrm>
              <a:off x="3821" y="1539"/>
              <a:ext cx="1" cy="159"/>
            </a:xfrm>
            <a:custGeom>
              <a:avLst/>
              <a:gdLst>
                <a:gd name="T0" fmla="*/ 0 w 1"/>
                <a:gd name="T1" fmla="*/ 0 h 416"/>
                <a:gd name="T2" fmla="*/ 0 w 1"/>
                <a:gd name="T3" fmla="*/ 0 h 416"/>
                <a:gd name="T4" fmla="*/ 1 w 1"/>
                <a:gd name="T5" fmla="*/ 0 h 416"/>
                <a:gd name="T6" fmla="*/ 0 60000 65536"/>
                <a:gd name="T7" fmla="*/ 0 60000 65536"/>
                <a:gd name="T8" fmla="*/ 0 60000 65536"/>
                <a:gd name="T9" fmla="*/ 0 w 1"/>
                <a:gd name="T10" fmla="*/ 0 h 416"/>
                <a:gd name="T11" fmla="*/ 1 w 1"/>
                <a:gd name="T12" fmla="*/ 416 h 4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16">
                  <a:moveTo>
                    <a:pt x="0" y="0"/>
                  </a:moveTo>
                  <a:lnTo>
                    <a:pt x="0" y="416"/>
                  </a:lnTo>
                  <a:lnTo>
                    <a:pt x="1" y="41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8" name="Line 95"/>
            <p:cNvSpPr>
              <a:spLocks noChangeShapeType="1"/>
            </p:cNvSpPr>
            <p:nvPr/>
          </p:nvSpPr>
          <p:spPr bwMode="auto">
            <a:xfrm>
              <a:off x="3815" y="1655"/>
              <a:ext cx="45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8031164" y="1785939"/>
            <a:ext cx="2409825" cy="15700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 1</a:t>
            </a:r>
            <a:r>
              <a:rPr lang="zh-CN" altLang="en-US" sz="2400" b="1" dirty="0">
                <a:latin typeface="+mn-ea"/>
                <a:ea typeface="+mn-ea"/>
              </a:rPr>
              <a:t>）尺寸尽可能地注在反映形体形状特征最明显的投影上。</a:t>
            </a:r>
          </a:p>
        </p:txBody>
      </p:sp>
      <p:sp>
        <p:nvSpPr>
          <p:cNvPr id="6" name="矩形 5"/>
          <p:cNvSpPr/>
          <p:nvPr/>
        </p:nvSpPr>
        <p:spPr>
          <a:xfrm>
            <a:off x="5621339" y="4005263"/>
            <a:ext cx="4746625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2</a:t>
            </a:r>
            <a:r>
              <a:rPr lang="zh-CN" altLang="en-US" sz="2400" b="1" dirty="0">
                <a:latin typeface="+mn-ea"/>
                <a:ea typeface="+mn-ea"/>
              </a:rPr>
              <a:t>）同一形体的定形尺寸和定位尺寸应尽量集中注在同一投影上。</a:t>
            </a:r>
          </a:p>
        </p:txBody>
      </p:sp>
      <p:sp>
        <p:nvSpPr>
          <p:cNvPr id="124" name="矩形 123"/>
          <p:cNvSpPr/>
          <p:nvPr/>
        </p:nvSpPr>
        <p:spPr>
          <a:xfrm>
            <a:off x="5584826" y="4999038"/>
            <a:ext cx="4710113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3</a:t>
            </a:r>
            <a:r>
              <a:rPr lang="zh-CN" altLang="en-US" sz="2400" b="1" dirty="0">
                <a:latin typeface="+mn-ea"/>
                <a:ea typeface="+mn-ea"/>
              </a:rPr>
              <a:t>）半径尺寸必须注在反映圆弧的投影上，且不能注出半径的个数。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 tmFilter="0, 0; .2, .5; .8, .5; 1, 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500" autoRev="1" fill="hold"/>
                                        <p:tgtEl>
                                          <p:spTgt spid="307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 tmFilter="0, 0; .2, .5; .8, .5; 1, 0"/>
                                        <p:tgtEl>
                                          <p:spTgt spid="307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500" autoRev="1" fill="hold"/>
                                        <p:tgtEl>
                                          <p:spTgt spid="307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 tmFilter="0, 0; .2, .5; .8, .5; 1, 0"/>
                                        <p:tgtEl>
                                          <p:spTgt spid="307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500" autoRev="1" fill="hold"/>
                                        <p:tgtEl>
                                          <p:spTgt spid="307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5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 tmFilter="0, 0; .2, .5; .8, .5; 1, 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500" autoRev="1" fill="hold"/>
                                        <p:tgtEl>
                                          <p:spTgt spid="307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335213" y="1603376"/>
            <a:ext cx="788670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4</a:t>
            </a:r>
            <a:r>
              <a:rPr lang="zh-CN" altLang="en-US" sz="2400" b="1" dirty="0">
                <a:latin typeface="+mn-ea"/>
                <a:ea typeface="+mn-ea"/>
              </a:rPr>
              <a:t>）同轴回转体的直径尺寸最好注在非圆投影上，即避免在同心圆较多的投影上标注过多的直径尺寸。</a:t>
            </a:r>
          </a:p>
        </p:txBody>
      </p:sp>
      <p:sp>
        <p:nvSpPr>
          <p:cNvPr id="4" name="Text Box 112"/>
          <p:cNvSpPr txBox="1">
            <a:spLocks noChangeArrowheads="1"/>
          </p:cNvSpPr>
          <p:nvPr/>
        </p:nvSpPr>
        <p:spPr bwMode="auto">
          <a:xfrm>
            <a:off x="1347301" y="589757"/>
            <a:ext cx="6773862" cy="584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latin typeface="+mn-ea"/>
                <a:ea typeface="+mn-ea"/>
              </a:rPr>
              <a:t>3.</a:t>
            </a:r>
            <a:r>
              <a:rPr lang="zh-CN" altLang="en-US" sz="3200" b="1" dirty="0"/>
              <a:t>清晰标注尺寸应注意以下几个问题</a:t>
            </a:r>
            <a:endParaRPr lang="zh-CN" altLang="en-US" sz="3200" dirty="0">
              <a:latin typeface="ISOCP" pitchFamily="2" charset="0"/>
            </a:endParaRPr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3"/>
          <a:srcRect r="52036"/>
          <a:stretch>
            <a:fillRect/>
          </a:stretch>
        </p:blipFill>
        <p:spPr bwMode="auto">
          <a:xfrm>
            <a:off x="1738313" y="2460625"/>
            <a:ext cx="4284662" cy="21717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 l="52905"/>
          <a:stretch>
            <a:fillRect/>
          </a:stretch>
        </p:blipFill>
        <p:spPr bwMode="auto">
          <a:xfrm>
            <a:off x="6088064" y="2443163"/>
            <a:ext cx="4206875" cy="21717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028950" y="4906963"/>
            <a:ext cx="11049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600">
                <a:solidFill>
                  <a:srgbClr val="FF3300"/>
                </a:solidFill>
                <a:latin typeface="ISOCP" pitchFamily="2" charset="0"/>
              </a:rPr>
              <a:t>好！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7118351" y="4979988"/>
            <a:ext cx="15652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600">
                <a:solidFill>
                  <a:schemeClr val="tx2"/>
                </a:solidFill>
                <a:latin typeface="ISOCP" pitchFamily="2" charset="0"/>
              </a:rPr>
              <a:t>不好！</a:t>
            </a:r>
          </a:p>
        </p:txBody>
      </p:sp>
      <p:sp>
        <p:nvSpPr>
          <p:cNvPr id="9" name="矩形 8"/>
          <p:cNvSpPr/>
          <p:nvPr/>
        </p:nvSpPr>
        <p:spPr>
          <a:xfrm>
            <a:off x="2335213" y="5665788"/>
            <a:ext cx="7485062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5</a:t>
            </a:r>
            <a:r>
              <a:rPr lang="zh-CN" altLang="en-US" sz="2400" b="1" dirty="0">
                <a:latin typeface="+mn-ea"/>
                <a:ea typeface="+mn-ea"/>
              </a:rPr>
              <a:t>）尺寸线平行排列时，为避免尺寸线与尺寸界线相交，应小尺寸在里，大尺寸在外。</a:t>
            </a:r>
          </a:p>
        </p:txBody>
      </p:sp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08239" y="2617788"/>
            <a:ext cx="1393825" cy="6207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12"/>
          <p:cNvSpPr txBox="1">
            <a:spLocks noChangeArrowheads="1"/>
          </p:cNvSpPr>
          <p:nvPr/>
        </p:nvSpPr>
        <p:spPr bwMode="auto">
          <a:xfrm>
            <a:off x="1504157" y="540545"/>
            <a:ext cx="6773862" cy="584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latin typeface="+mn-ea"/>
                <a:ea typeface="+mn-ea"/>
              </a:rPr>
              <a:t>3.</a:t>
            </a:r>
            <a:r>
              <a:rPr lang="zh-CN" altLang="en-US" sz="3200" b="1" dirty="0"/>
              <a:t>清晰标注尺寸应注意以下几个问题</a:t>
            </a:r>
            <a:endParaRPr lang="zh-CN" altLang="en-US" sz="3200" dirty="0">
              <a:latin typeface="ISOCP" pitchFamily="2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35213" y="1493839"/>
            <a:ext cx="5111750" cy="15700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6</a:t>
            </a:r>
            <a:r>
              <a:rPr lang="zh-CN" altLang="en-US" sz="2400" b="1" dirty="0">
                <a:latin typeface="+mn-ea"/>
                <a:ea typeface="+mn-ea"/>
              </a:rPr>
              <a:t>）尺寸应尽量注在投影外部，保持投影图的清晰。如所引尺寸界线过长或多次与图线相交时，可注在投影图内适当的空白处。</a:t>
            </a:r>
          </a:p>
        </p:txBody>
      </p:sp>
      <p:pic>
        <p:nvPicPr>
          <p:cNvPr id="3482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39063" y="1530351"/>
            <a:ext cx="2081212" cy="2035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7577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62975" y="2708275"/>
            <a:ext cx="742950" cy="2794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2262188" y="3063876"/>
            <a:ext cx="40894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7</a:t>
            </a:r>
            <a:r>
              <a:rPr lang="zh-CN" altLang="en-US" sz="2400" b="1" dirty="0">
                <a:latin typeface="+mn-ea"/>
                <a:ea typeface="+mn-ea"/>
              </a:rPr>
              <a:t>）一般应避免标注封闭尺寸。</a:t>
            </a:r>
          </a:p>
        </p:txBody>
      </p:sp>
      <p:pic>
        <p:nvPicPr>
          <p:cNvPr id="7578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17775" y="3903664"/>
            <a:ext cx="4991100" cy="23336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7578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679701" y="5283201"/>
            <a:ext cx="619125" cy="3714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7578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810250" y="5648326"/>
            <a:ext cx="1562100" cy="5048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6" name="乘号 15"/>
          <p:cNvSpPr/>
          <p:nvPr/>
        </p:nvSpPr>
        <p:spPr bwMode="auto">
          <a:xfrm>
            <a:off x="2809876" y="5364164"/>
            <a:ext cx="328613" cy="365125"/>
          </a:xfrm>
          <a:prstGeom prst="mathMultiply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endParaRPr lang="zh-CN" altLang="en-US" sz="3600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17" name="乘号 16"/>
          <p:cNvSpPr/>
          <p:nvPr/>
        </p:nvSpPr>
        <p:spPr bwMode="auto">
          <a:xfrm>
            <a:off x="6278563" y="5802314"/>
            <a:ext cx="328612" cy="365125"/>
          </a:xfrm>
          <a:prstGeom prst="mathMultiply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endParaRPr lang="zh-CN" altLang="en-US" sz="3600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152650" y="6203951"/>
            <a:ext cx="5614988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latin typeface="+mn-ea"/>
                <a:ea typeface="+mn-ea"/>
              </a:rPr>
              <a:t>8</a:t>
            </a:r>
            <a:r>
              <a:rPr lang="zh-CN" altLang="en-US" sz="2400" b="1" dirty="0">
                <a:latin typeface="+mn-ea"/>
                <a:ea typeface="+mn-ea"/>
              </a:rPr>
              <a:t>）对称性的尺寸，一般按对称要求注。</a:t>
            </a:r>
          </a:p>
        </p:txBody>
      </p:sp>
      <p:pic>
        <p:nvPicPr>
          <p:cNvPr id="75784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000625" y="3478213"/>
            <a:ext cx="4457700" cy="27622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6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438400" y="1019175"/>
            <a:ext cx="7761288" cy="1244600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采用形体分析法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Microsoft Yahei" panose="020B0503020204020204" pitchFamily="34" charset="-122"/>
              </a:rPr>
              <a:t>进行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组合体尺寸标注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，下列说法正确的是：</a:t>
            </a:r>
            <a:endParaRPr lang="zh-CN" altLang="en-US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352800" y="2786064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确定长、宽、高三个方向的尺寸基准</a:t>
            </a:r>
            <a:endParaRPr lang="zh-CN" altLang="en-US" sz="26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352800" y="3643314"/>
            <a:ext cx="6846888" cy="64293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注出各基本几何体的定形尺寸和定位尺寸</a:t>
            </a:r>
            <a:endParaRPr lang="zh-CN" altLang="en-US" sz="26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352800" y="4500564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综合考虑，注出组合体的总体尺寸</a:t>
            </a:r>
            <a:endParaRPr lang="zh-CN" altLang="en-US" sz="26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352800" y="5357814"/>
            <a:ext cx="6846888" cy="64293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选择基准时，长、宽、高每个方向上有一个主要基准</a:t>
            </a:r>
            <a:endParaRPr lang="zh-CN" altLang="en-US" sz="26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36871" name="矩形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49563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36872" name="矩形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6813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36873" name="矩形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063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36874" name="矩形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1313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36875" name="圆角矩形 11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grpSp>
        <p:nvGrpSpPr>
          <p:cNvPr id="36876" name="组合 16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36878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36879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</p:spPr>
          <p:txBody>
            <a:bodyPr wrap="none" anchor="ctr"/>
            <a:lstStyle/>
            <a:p>
              <a:pPr eaLnBrk="1" fontAlgn="auto" hangingPunct="1">
                <a:spcAft>
                  <a:spcPts val="0"/>
                </a:spcAft>
                <a:defRPr/>
              </a:pPr>
              <a:r>
                <a:rPr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</p:spPr>
          <p:txBody>
            <a:bodyPr wrap="none" anchor="ctr"/>
            <a:lstStyle/>
            <a:p>
              <a:pPr eaLnBrk="1" fontAlgn="auto" hangingPunct="1"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4</a:t>
              </a:r>
              <a:r>
                <a:rPr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6877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2736850" y="441325"/>
            <a:ext cx="5988050" cy="584200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利用</a:t>
            </a:r>
            <a:r>
              <a:rPr lang="en-US" altLang="zh-CN" sz="3200" b="1" dirty="0">
                <a:latin typeface="黑体" pitchFamily="49" charset="-122"/>
                <a:ea typeface="黑体" pitchFamily="49" charset="-122"/>
              </a:rPr>
              <a:t>CAD</a:t>
            </a:r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绘制组合体并标注尺寸</a:t>
            </a:r>
            <a:endParaRPr lang="zh-CN" altLang="en-US" sz="3200" b="1" dirty="0">
              <a:solidFill>
                <a:srgbClr val="FF3300"/>
              </a:solidFill>
              <a:latin typeface="黑体" pitchFamily="49" charset="-122"/>
              <a:ea typeface="黑体" pitchFamily="49" charset="-122"/>
              <a:sym typeface="Monotype Sorts"/>
            </a:endParaRPr>
          </a:p>
        </p:txBody>
      </p:sp>
      <p:sp>
        <p:nvSpPr>
          <p:cNvPr id="37891" name="矩形 5"/>
          <p:cNvSpPr>
            <a:spLocks noChangeArrowheads="1"/>
          </p:cNvSpPr>
          <p:nvPr/>
        </p:nvSpPr>
        <p:spPr bwMode="auto">
          <a:xfrm>
            <a:off x="1127448" y="1152526"/>
            <a:ext cx="55705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1.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在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CAD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系统中设置尺寸标注样式</a:t>
            </a:r>
          </a:p>
        </p:txBody>
      </p:sp>
      <p:sp>
        <p:nvSpPr>
          <p:cNvPr id="7" name="矩形 6"/>
          <p:cNvSpPr/>
          <p:nvPr/>
        </p:nvSpPr>
        <p:spPr>
          <a:xfrm>
            <a:off x="1897064" y="1895476"/>
            <a:ext cx="7850187" cy="830263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为符合国家技术标准要求，在尺寸标注之前先要进行标注样式的设置，把图层置换到“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08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尺寸线”层 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897063" y="1895476"/>
            <a:ext cx="8361362" cy="830263"/>
          </a:xfrm>
          <a:prstGeom prst="rect">
            <a:avLst/>
          </a:prstGeom>
          <a:gradFill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/>
              <a:t>在菜单栏：依次单击 “格式” →“标注样式”系统弹出“标注样式管理器”对话框 。</a:t>
            </a:r>
          </a:p>
        </p:txBody>
      </p:sp>
      <p:pic>
        <p:nvPicPr>
          <p:cNvPr id="9" name="Picture 4" descr="14-4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563" y="2808288"/>
            <a:ext cx="5594350" cy="399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7" descr="14-5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55901" y="3365501"/>
            <a:ext cx="6151563" cy="3465513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9199563" y="3606800"/>
            <a:ext cx="646112" cy="369888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单击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8724901" y="3943350"/>
            <a:ext cx="1008063" cy="215900"/>
          </a:xfrm>
          <a:prstGeom prst="leftArrow">
            <a:avLst>
              <a:gd name="adj1" fmla="val 50000"/>
              <a:gd name="adj2" fmla="val 116728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3200"/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897063" y="1895476"/>
            <a:ext cx="8361362" cy="461963"/>
          </a:xfrm>
          <a:prstGeom prst="rect">
            <a:avLst/>
          </a:prstGeom>
          <a:gradFill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400"/>
              <a:t>在“新样式名”文本栏中输入新标注样式的名字 </a:t>
            </a:r>
          </a:p>
        </p:txBody>
      </p:sp>
      <p:sp>
        <p:nvSpPr>
          <p:cNvPr id="15" name="AutoShape 18"/>
          <p:cNvSpPr>
            <a:spLocks noChangeArrowheads="1"/>
          </p:cNvSpPr>
          <p:nvPr/>
        </p:nvSpPr>
        <p:spPr bwMode="auto">
          <a:xfrm>
            <a:off x="1524001" y="3721100"/>
            <a:ext cx="1116013" cy="647700"/>
          </a:xfrm>
          <a:prstGeom prst="wedgeRoundRectCallout">
            <a:avLst>
              <a:gd name="adj1" fmla="val 89241"/>
              <a:gd name="adj2" fmla="val 56088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400"/>
              <a:t>输入</a:t>
            </a:r>
            <a:endParaRPr lang="en-US" altLang="zh-CN" sz="2400"/>
          </a:p>
        </p:txBody>
      </p:sp>
      <p:sp>
        <p:nvSpPr>
          <p:cNvPr id="17" name="AutoShape 21"/>
          <p:cNvSpPr>
            <a:spLocks noChangeArrowheads="1"/>
          </p:cNvSpPr>
          <p:nvPr/>
        </p:nvSpPr>
        <p:spPr bwMode="auto">
          <a:xfrm>
            <a:off x="9163050" y="4670425"/>
            <a:ext cx="1296988" cy="431800"/>
          </a:xfrm>
          <a:prstGeom prst="wedgeEllipseCallout">
            <a:avLst>
              <a:gd name="adj1" fmla="val -97088"/>
              <a:gd name="adj2" fmla="val -100208"/>
            </a:avLst>
          </a:prstGeom>
          <a:solidFill>
            <a:srgbClr val="FF99CC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400"/>
              <a:t>单击</a:t>
            </a: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1897063" y="1895476"/>
            <a:ext cx="8361362" cy="461963"/>
          </a:xfrm>
          <a:prstGeom prst="rect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latin typeface="+mn-ea"/>
                <a:ea typeface="+mn-ea"/>
              </a:rPr>
              <a:t>弹出“新建标注样式：</a:t>
            </a:r>
            <a:r>
              <a:rPr lang="en-US" altLang="zh-CN" sz="2400" dirty="0">
                <a:latin typeface="+mn-ea"/>
                <a:ea typeface="+mn-ea"/>
              </a:rPr>
              <a:t>GB</a:t>
            </a:r>
            <a:r>
              <a:rPr lang="zh-CN" altLang="en-US" sz="2400" dirty="0">
                <a:latin typeface="+mn-ea"/>
                <a:ea typeface="+mn-ea"/>
              </a:rPr>
              <a:t>全尺寸”对话框 </a:t>
            </a:r>
          </a:p>
        </p:txBody>
      </p:sp>
      <p:pic>
        <p:nvPicPr>
          <p:cNvPr id="19" name="Picture 14" descr="14-51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736851" y="2370138"/>
            <a:ext cx="5440363" cy="4487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AutoShape 15"/>
          <p:cNvSpPr>
            <a:spLocks noChangeArrowheads="1"/>
          </p:cNvSpPr>
          <p:nvPr/>
        </p:nvSpPr>
        <p:spPr bwMode="auto">
          <a:xfrm>
            <a:off x="1751013" y="3355976"/>
            <a:ext cx="1314450" cy="803275"/>
          </a:xfrm>
          <a:prstGeom prst="wedgeRoundRectCallout">
            <a:avLst>
              <a:gd name="adj1" fmla="val 56858"/>
              <a:gd name="adj2" fmla="val -114758"/>
              <a:gd name="adj3" fmla="val 16667"/>
            </a:avLst>
          </a:prstGeom>
          <a:solidFill>
            <a:srgbClr val="FF99CC">
              <a:alpha val="81000"/>
            </a:srgbClr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CN" sz="2400" dirty="0">
                <a:latin typeface="+mn-ea"/>
                <a:ea typeface="+mn-ea"/>
              </a:rPr>
              <a:t>“</a:t>
            </a:r>
            <a:r>
              <a:rPr lang="zh-CN" altLang="en-US" sz="2400" dirty="0">
                <a:latin typeface="+mn-ea"/>
                <a:ea typeface="+mn-ea"/>
              </a:rPr>
              <a:t>线”选项卡</a:t>
            </a:r>
          </a:p>
        </p:txBody>
      </p:sp>
      <p:sp>
        <p:nvSpPr>
          <p:cNvPr id="21" name="AutoShape 21"/>
          <p:cNvSpPr>
            <a:spLocks noChangeArrowheads="1"/>
          </p:cNvSpPr>
          <p:nvPr/>
        </p:nvSpPr>
        <p:spPr bwMode="auto">
          <a:xfrm>
            <a:off x="1524000" y="2808288"/>
            <a:ext cx="1296988" cy="431800"/>
          </a:xfrm>
          <a:prstGeom prst="wedgeEllipseCallout">
            <a:avLst>
              <a:gd name="adj1" fmla="val 60968"/>
              <a:gd name="adj2" fmla="val -35139"/>
            </a:avLst>
          </a:prstGeom>
          <a:solidFill>
            <a:srgbClr val="FF99CC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400"/>
              <a:t>单击</a:t>
            </a:r>
          </a:p>
        </p:txBody>
      </p:sp>
      <p:sp>
        <p:nvSpPr>
          <p:cNvPr id="22" name="AutoShape 17"/>
          <p:cNvSpPr>
            <a:spLocks noChangeArrowheads="1"/>
          </p:cNvSpPr>
          <p:nvPr/>
        </p:nvSpPr>
        <p:spPr bwMode="auto">
          <a:xfrm>
            <a:off x="1714501" y="4524376"/>
            <a:ext cx="1387475" cy="620713"/>
          </a:xfrm>
          <a:prstGeom prst="wedgeRoundRectCallout">
            <a:avLst>
              <a:gd name="adj1" fmla="val 167847"/>
              <a:gd name="adj2" fmla="val -116171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400"/>
              <a:t>输入</a:t>
            </a:r>
            <a:r>
              <a:rPr lang="en-US" altLang="zh-CN" sz="2400"/>
              <a:t>7</a:t>
            </a:r>
          </a:p>
        </p:txBody>
      </p:sp>
      <p:sp>
        <p:nvSpPr>
          <p:cNvPr id="23" name="AutoShape 20"/>
          <p:cNvSpPr>
            <a:spLocks noChangeArrowheads="1"/>
          </p:cNvSpPr>
          <p:nvPr/>
        </p:nvSpPr>
        <p:spPr bwMode="auto">
          <a:xfrm>
            <a:off x="6311900" y="4468814"/>
            <a:ext cx="1081088" cy="403225"/>
          </a:xfrm>
          <a:prstGeom prst="wedgeRoundRectCallout">
            <a:avLst>
              <a:gd name="adj1" fmla="val 29167"/>
              <a:gd name="adj2" fmla="val 136000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400"/>
              <a:t>输入</a:t>
            </a:r>
            <a:r>
              <a:rPr lang="en-US" altLang="zh-CN" sz="2400"/>
              <a:t>2</a:t>
            </a:r>
          </a:p>
        </p:txBody>
      </p:sp>
      <p:sp>
        <p:nvSpPr>
          <p:cNvPr id="24" name="AutoShape 18"/>
          <p:cNvSpPr>
            <a:spLocks noChangeArrowheads="1"/>
          </p:cNvSpPr>
          <p:nvPr/>
        </p:nvSpPr>
        <p:spPr bwMode="auto">
          <a:xfrm>
            <a:off x="7958139" y="5948364"/>
            <a:ext cx="1095375" cy="511175"/>
          </a:xfrm>
          <a:prstGeom prst="wedgeRoundRectCallout">
            <a:avLst>
              <a:gd name="adj1" fmla="val -95477"/>
              <a:gd name="adj2" fmla="val -129255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400"/>
              <a:t>输入</a:t>
            </a:r>
            <a:r>
              <a:rPr lang="en-US" altLang="zh-CN" sz="2400"/>
              <a:t>0</a:t>
            </a:r>
          </a:p>
        </p:txBody>
      </p:sp>
      <p:sp>
        <p:nvSpPr>
          <p:cNvPr id="25" name="AutoShape 12"/>
          <p:cNvSpPr>
            <a:spLocks noChangeArrowheads="1"/>
          </p:cNvSpPr>
          <p:nvPr/>
        </p:nvSpPr>
        <p:spPr bwMode="auto">
          <a:xfrm>
            <a:off x="4084639" y="3216276"/>
            <a:ext cx="985837" cy="390525"/>
          </a:xfrm>
          <a:prstGeom prst="wedgeRoundRectCallout">
            <a:avLst>
              <a:gd name="adj1" fmla="val -91190"/>
              <a:gd name="adj2" fmla="val -148148"/>
              <a:gd name="adj3" fmla="val 16667"/>
            </a:avLst>
          </a:prstGeom>
          <a:solidFill>
            <a:srgbClr val="FF0066">
              <a:alpha val="41176"/>
            </a:srgbClr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400"/>
              <a:t>单击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8" grpId="1" animBg="1"/>
      <p:bldP spid="13" grpId="0" animBg="1"/>
      <p:bldP spid="13" grpId="1" animBg="1"/>
      <p:bldP spid="10" grpId="0" animBg="1"/>
      <p:bldP spid="14" grpId="0" animBg="1"/>
      <p:bldP spid="15" grpId="0" build="allAtOnce" animBg="1"/>
      <p:bldP spid="15" grpId="1" build="allAtOnce" animBg="1"/>
      <p:bldP spid="17" grpId="0" animBg="1"/>
      <p:bldP spid="17" grpId="1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4" descr="14-51b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3719514" y="2205038"/>
            <a:ext cx="5221287" cy="4481512"/>
          </a:xfrm>
          <a:noFill/>
        </p:spPr>
      </p:pic>
      <p:sp>
        <p:nvSpPr>
          <p:cNvPr id="112646" name="AutoShape 6"/>
          <p:cNvSpPr>
            <a:spLocks noChangeArrowheads="1"/>
          </p:cNvSpPr>
          <p:nvPr/>
        </p:nvSpPr>
        <p:spPr bwMode="auto">
          <a:xfrm>
            <a:off x="9271001" y="4760914"/>
            <a:ext cx="1217613" cy="1487487"/>
          </a:xfrm>
          <a:prstGeom prst="wedgeRoundRectCallout">
            <a:avLst>
              <a:gd name="adj1" fmla="val -223548"/>
              <a:gd name="adj2" fmla="val -37293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dirty="0">
                <a:latin typeface="+mn-ea"/>
              </a:rPr>
              <a:t>其他各处选项默认</a:t>
            </a:r>
          </a:p>
        </p:txBody>
      </p:sp>
      <p:sp>
        <p:nvSpPr>
          <p:cNvPr id="112647" name="AutoShape 7"/>
          <p:cNvSpPr>
            <a:spLocks noChangeArrowheads="1"/>
          </p:cNvSpPr>
          <p:nvPr/>
        </p:nvSpPr>
        <p:spPr bwMode="auto">
          <a:xfrm>
            <a:off x="5159375" y="3117851"/>
            <a:ext cx="1549400" cy="493713"/>
          </a:xfrm>
          <a:prstGeom prst="wedgeRoundRectCallout">
            <a:avLst>
              <a:gd name="adj1" fmla="val -56009"/>
              <a:gd name="adj2" fmla="val -139671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400"/>
              <a:t>单击文字</a:t>
            </a:r>
          </a:p>
        </p:txBody>
      </p:sp>
      <p:sp>
        <p:nvSpPr>
          <p:cNvPr id="39941" name="Text Box 2"/>
          <p:cNvSpPr txBox="1">
            <a:spLocks noChangeArrowheads="1"/>
          </p:cNvSpPr>
          <p:nvPr/>
        </p:nvSpPr>
        <p:spPr bwMode="auto">
          <a:xfrm>
            <a:off x="2736850" y="404813"/>
            <a:ext cx="6203950" cy="584200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利用</a:t>
            </a:r>
            <a:r>
              <a:rPr lang="en-US" altLang="zh-CN" sz="3200" b="1">
                <a:latin typeface="黑体" pitchFamily="49" charset="-122"/>
                <a:ea typeface="黑体" pitchFamily="49" charset="-122"/>
              </a:rPr>
              <a:t>CAD</a:t>
            </a:r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绘制组合体并标注尺寸</a:t>
            </a:r>
            <a:endParaRPr lang="zh-CN" altLang="en-US" sz="3200" b="1">
              <a:solidFill>
                <a:srgbClr val="FF3300"/>
              </a:solidFill>
              <a:latin typeface="黑体" pitchFamily="49" charset="-122"/>
              <a:ea typeface="黑体" pitchFamily="49" charset="-122"/>
              <a:sym typeface="Monotype Sorts"/>
            </a:endParaRPr>
          </a:p>
        </p:txBody>
      </p:sp>
      <p:sp>
        <p:nvSpPr>
          <p:cNvPr id="39942" name="矩形 5"/>
          <p:cNvSpPr>
            <a:spLocks noChangeArrowheads="1"/>
          </p:cNvSpPr>
          <p:nvPr/>
        </p:nvSpPr>
        <p:spPr bwMode="auto">
          <a:xfrm>
            <a:off x="1055440" y="1259437"/>
            <a:ext cx="581025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1.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在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CAD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系统中设置尺寸标注样式</a:t>
            </a: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1595439" y="4689475"/>
            <a:ext cx="1958975" cy="604838"/>
            <a:chOff x="71963" y="4689140"/>
            <a:chExt cx="1958393" cy="605681"/>
          </a:xfrm>
        </p:grpSpPr>
        <p:sp>
          <p:nvSpPr>
            <p:cNvPr id="39944" name="AutoShape 5"/>
            <p:cNvSpPr>
              <a:spLocks noChangeArrowheads="1"/>
            </p:cNvSpPr>
            <p:nvPr/>
          </p:nvSpPr>
          <p:spPr bwMode="auto">
            <a:xfrm>
              <a:off x="71963" y="4689140"/>
              <a:ext cx="1958393" cy="605681"/>
            </a:xfrm>
            <a:prstGeom prst="wedgeRoundRectCallout">
              <a:avLst>
                <a:gd name="adj1" fmla="val 75051"/>
                <a:gd name="adj2" fmla="val -124648"/>
                <a:gd name="adj3" fmla="val 16667"/>
              </a:avLst>
            </a:prstGeom>
            <a:solidFill>
              <a:srgbClr val="FF99CC"/>
            </a:solidFill>
            <a:ln w="9525" algn="ctr">
              <a:solidFill>
                <a:srgbClr val="FFFF99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eaLnBrk="1" hangingPunct="1"/>
              <a:endParaRPr lang="en-US" altLang="zh-CN" sz="2400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287799" y="4760678"/>
              <a:ext cx="1577506" cy="462606"/>
            </a:xfrm>
            <a:prstGeom prst="rect">
              <a:avLst/>
            </a:prstGeom>
          </p:spPr>
          <p:txBody>
            <a:bodyPr anchor="ctr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dirty="0">
                  <a:latin typeface="+mn-ea"/>
                  <a:ea typeface="+mn-ea"/>
                </a:rPr>
                <a:t>输入数字</a:t>
              </a:r>
              <a:r>
                <a:rPr lang="en-US" altLang="zh-CN" sz="2400" dirty="0">
                  <a:latin typeface="+mn-ea"/>
                  <a:ea typeface="+mn-ea"/>
                </a:rPr>
                <a:t>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6" grpId="0" animBg="1"/>
      <p:bldP spid="11264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019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/>
            <a:fld id="{3C4CD937-E967-4D32-AB17-8B48DB96D397}" type="slidenum">
              <a:rPr lang="en-US" altLang="zh-CN" sz="1400"/>
              <a:pPr algn="r" eaLnBrk="1" hangingPunct="1"/>
              <a:t>12</a:t>
            </a:fld>
            <a:r>
              <a:rPr lang="en-US" altLang="zh-CN" sz="1400"/>
              <a:t>/57</a:t>
            </a:r>
          </a:p>
        </p:txBody>
      </p:sp>
      <p:pic>
        <p:nvPicPr>
          <p:cNvPr id="40963" name="Picture 4" descr="14-51c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3735389" y="1881188"/>
            <a:ext cx="5221287" cy="4800600"/>
          </a:xfrm>
          <a:noFill/>
        </p:spPr>
      </p:pic>
      <p:sp>
        <p:nvSpPr>
          <p:cNvPr id="114694" name="AutoShape 6"/>
          <p:cNvSpPr>
            <a:spLocks noChangeArrowheads="1"/>
          </p:cNvSpPr>
          <p:nvPr/>
        </p:nvSpPr>
        <p:spPr bwMode="auto">
          <a:xfrm>
            <a:off x="6203951" y="3644901"/>
            <a:ext cx="2016125" cy="549275"/>
          </a:xfrm>
          <a:prstGeom prst="wedgeRoundRectCallout">
            <a:avLst>
              <a:gd name="adj1" fmla="val -69968"/>
              <a:gd name="adj2" fmla="val -210736"/>
              <a:gd name="adj3" fmla="val 16667"/>
            </a:avLst>
          </a:prstGeom>
          <a:solidFill>
            <a:srgbClr val="FF99CC">
              <a:alpha val="65881"/>
            </a:srgbClr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000"/>
              <a:t>单击此处选择“数字、字母”</a:t>
            </a:r>
          </a:p>
        </p:txBody>
      </p:sp>
      <p:sp>
        <p:nvSpPr>
          <p:cNvPr id="114695" name="AutoShape 7"/>
          <p:cNvSpPr>
            <a:spLocks noChangeArrowheads="1"/>
          </p:cNvSpPr>
          <p:nvPr/>
        </p:nvSpPr>
        <p:spPr bwMode="auto">
          <a:xfrm>
            <a:off x="1866900" y="2816226"/>
            <a:ext cx="1924050" cy="504825"/>
          </a:xfrm>
          <a:prstGeom prst="wedgeRoundRectCallout">
            <a:avLst>
              <a:gd name="adj1" fmla="val 146630"/>
              <a:gd name="adj2" fmla="val 100194"/>
              <a:gd name="adj3" fmla="val 16667"/>
            </a:avLst>
          </a:prstGeom>
          <a:solidFill>
            <a:srgbClr val="FF99CC">
              <a:alpha val="52156"/>
            </a:srgbClr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000"/>
              <a:t>此处输入</a:t>
            </a:r>
            <a:r>
              <a:rPr lang="en-US" altLang="zh-CN" sz="2000"/>
              <a:t>3.5</a:t>
            </a:r>
          </a:p>
        </p:txBody>
      </p:sp>
      <p:sp>
        <p:nvSpPr>
          <p:cNvPr id="114696" name="AutoShape 8"/>
          <p:cNvSpPr>
            <a:spLocks noChangeArrowheads="1"/>
          </p:cNvSpPr>
          <p:nvPr/>
        </p:nvSpPr>
        <p:spPr bwMode="auto">
          <a:xfrm>
            <a:off x="7135814" y="4545013"/>
            <a:ext cx="2168525" cy="476250"/>
          </a:xfrm>
          <a:prstGeom prst="wedgeRoundRectCallout">
            <a:avLst>
              <a:gd name="adj1" fmla="val -50491"/>
              <a:gd name="adj2" fmla="val 134282"/>
              <a:gd name="adj3" fmla="val 16667"/>
            </a:avLst>
          </a:prstGeom>
          <a:solidFill>
            <a:srgbClr val="FF99CC">
              <a:alpha val="56862"/>
            </a:srgbClr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000"/>
              <a:t>选择“</a:t>
            </a:r>
            <a:r>
              <a:rPr lang="en-US" altLang="zh-CN" sz="2000"/>
              <a:t>ISO</a:t>
            </a:r>
            <a:r>
              <a:rPr lang="zh-CN" altLang="en-US" sz="2000"/>
              <a:t>标准”</a:t>
            </a:r>
          </a:p>
        </p:txBody>
      </p:sp>
      <p:sp>
        <p:nvSpPr>
          <p:cNvPr id="114697" name="AutoShape 9"/>
          <p:cNvSpPr>
            <a:spLocks noChangeArrowheads="1"/>
          </p:cNvSpPr>
          <p:nvPr/>
        </p:nvSpPr>
        <p:spPr bwMode="auto">
          <a:xfrm>
            <a:off x="1530350" y="5629276"/>
            <a:ext cx="1995488" cy="619125"/>
          </a:xfrm>
          <a:prstGeom prst="wedgeRoundRectCallout">
            <a:avLst>
              <a:gd name="adj1" fmla="val 70060"/>
              <a:gd name="adj2" fmla="val -199676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000"/>
              <a:t>其他选项默认</a:t>
            </a:r>
          </a:p>
        </p:txBody>
      </p:sp>
      <p:sp>
        <p:nvSpPr>
          <p:cNvPr id="114698" name="AutoShape 10"/>
          <p:cNvSpPr>
            <a:spLocks noChangeArrowheads="1"/>
          </p:cNvSpPr>
          <p:nvPr/>
        </p:nvSpPr>
        <p:spPr bwMode="auto">
          <a:xfrm>
            <a:off x="6816725" y="2609851"/>
            <a:ext cx="1690688" cy="549275"/>
          </a:xfrm>
          <a:prstGeom prst="wedgeRoundRectCallout">
            <a:avLst>
              <a:gd name="adj1" fmla="val -130204"/>
              <a:gd name="adj2" fmla="val -98315"/>
              <a:gd name="adj3" fmla="val 16667"/>
            </a:avLst>
          </a:prstGeom>
          <a:solidFill>
            <a:srgbClr val="FF99CC">
              <a:alpha val="54901"/>
            </a:srgbClr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000"/>
              <a:t>单击“调整”</a:t>
            </a:r>
          </a:p>
        </p:txBody>
      </p:sp>
      <p:sp>
        <p:nvSpPr>
          <p:cNvPr id="40969" name="Text Box 2"/>
          <p:cNvSpPr txBox="1">
            <a:spLocks noChangeArrowheads="1"/>
          </p:cNvSpPr>
          <p:nvPr/>
        </p:nvSpPr>
        <p:spPr bwMode="auto">
          <a:xfrm>
            <a:off x="2736851" y="476250"/>
            <a:ext cx="6937375" cy="584200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利用</a:t>
            </a:r>
            <a:r>
              <a:rPr lang="en-US" altLang="zh-CN" sz="3200" b="1">
                <a:latin typeface="黑体" pitchFamily="49" charset="-122"/>
                <a:ea typeface="黑体" pitchFamily="49" charset="-122"/>
              </a:rPr>
              <a:t>CAD</a:t>
            </a:r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绘制组合体并标注尺寸</a:t>
            </a:r>
            <a:endParaRPr lang="zh-CN" altLang="en-US" sz="3200" b="1">
              <a:solidFill>
                <a:srgbClr val="FF3300"/>
              </a:solidFill>
              <a:latin typeface="黑体" pitchFamily="49" charset="-122"/>
              <a:ea typeface="黑体" pitchFamily="49" charset="-122"/>
              <a:sym typeface="Monotype Sorts"/>
            </a:endParaRPr>
          </a:p>
        </p:txBody>
      </p:sp>
      <p:sp>
        <p:nvSpPr>
          <p:cNvPr id="40970" name="矩形 5"/>
          <p:cNvSpPr>
            <a:spLocks noChangeArrowheads="1"/>
          </p:cNvSpPr>
          <p:nvPr/>
        </p:nvSpPr>
        <p:spPr bwMode="auto">
          <a:xfrm>
            <a:off x="950120" y="1268413"/>
            <a:ext cx="55705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1.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在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CAD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系统中设置尺寸标注样式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1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4" grpId="0" animBg="1"/>
      <p:bldP spid="114695" grpId="0" animBg="1"/>
      <p:bldP spid="114696" grpId="0" animBg="1"/>
      <p:bldP spid="114697" grpId="0" animBg="1"/>
      <p:bldP spid="11469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4" descr="14-51d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3040064" y="1808164"/>
            <a:ext cx="5373687" cy="4930775"/>
          </a:xfrm>
          <a:noFill/>
        </p:spPr>
      </p:pic>
      <p:sp>
        <p:nvSpPr>
          <p:cNvPr id="116741" name="AutoShape 5"/>
          <p:cNvSpPr>
            <a:spLocks noChangeArrowheads="1"/>
          </p:cNvSpPr>
          <p:nvPr/>
        </p:nvSpPr>
        <p:spPr bwMode="auto">
          <a:xfrm>
            <a:off x="1524001" y="2346326"/>
            <a:ext cx="1763713" cy="684213"/>
          </a:xfrm>
          <a:prstGeom prst="wedgeRoundRectCallout">
            <a:avLst>
              <a:gd name="adj1" fmla="val 49856"/>
              <a:gd name="adj2" fmla="val 130690"/>
              <a:gd name="adj3" fmla="val 16667"/>
            </a:avLst>
          </a:prstGeom>
          <a:solidFill>
            <a:srgbClr val="FF99CC">
              <a:alpha val="63136"/>
            </a:srgbClr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000"/>
              <a:t>选择“文字”优先</a:t>
            </a:r>
          </a:p>
        </p:txBody>
      </p:sp>
      <p:sp>
        <p:nvSpPr>
          <p:cNvPr id="116742" name="AutoShape 6"/>
          <p:cNvSpPr>
            <a:spLocks noChangeArrowheads="1"/>
          </p:cNvSpPr>
          <p:nvPr/>
        </p:nvSpPr>
        <p:spPr bwMode="auto">
          <a:xfrm>
            <a:off x="8524876" y="4273550"/>
            <a:ext cx="2270125" cy="1150938"/>
          </a:xfrm>
          <a:prstGeom prst="wedgeRoundRectCallout">
            <a:avLst>
              <a:gd name="adj1" fmla="val -103167"/>
              <a:gd name="adj2" fmla="val 87343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000"/>
              <a:t>把“优化”选项中的两项打</a:t>
            </a:r>
            <a:r>
              <a:rPr lang="zh-CN" altLang="en-US" sz="4000"/>
              <a:t>∨</a:t>
            </a:r>
          </a:p>
        </p:txBody>
      </p:sp>
      <p:sp>
        <p:nvSpPr>
          <p:cNvPr id="116744" name="AutoShape 8"/>
          <p:cNvSpPr>
            <a:spLocks noChangeArrowheads="1"/>
          </p:cNvSpPr>
          <p:nvPr/>
        </p:nvSpPr>
        <p:spPr bwMode="auto">
          <a:xfrm>
            <a:off x="5051425" y="5940425"/>
            <a:ext cx="863600" cy="431800"/>
          </a:xfrm>
          <a:prstGeom prst="wedgeRoundRectCallout">
            <a:avLst>
              <a:gd name="adj1" fmla="val 53574"/>
              <a:gd name="adj2" fmla="val 77657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000"/>
              <a:t>单击</a:t>
            </a:r>
            <a:endParaRPr lang="zh-CN" altLang="en-US" sz="4000"/>
          </a:p>
        </p:txBody>
      </p:sp>
      <p:sp>
        <p:nvSpPr>
          <p:cNvPr id="41990" name="Text Box 2"/>
          <p:cNvSpPr txBox="1">
            <a:spLocks noChangeArrowheads="1"/>
          </p:cNvSpPr>
          <p:nvPr/>
        </p:nvSpPr>
        <p:spPr bwMode="auto">
          <a:xfrm>
            <a:off x="2736851" y="476250"/>
            <a:ext cx="6937375" cy="584200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利用</a:t>
            </a:r>
            <a:r>
              <a:rPr lang="en-US" altLang="zh-CN" sz="3200" b="1">
                <a:latin typeface="黑体" pitchFamily="49" charset="-122"/>
                <a:ea typeface="黑体" pitchFamily="49" charset="-122"/>
              </a:rPr>
              <a:t>CAD</a:t>
            </a:r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绘制组合体并标注尺寸</a:t>
            </a:r>
            <a:endParaRPr lang="zh-CN" altLang="en-US" sz="3200" b="1">
              <a:solidFill>
                <a:srgbClr val="FF3300"/>
              </a:solidFill>
              <a:latin typeface="黑体" pitchFamily="49" charset="-122"/>
              <a:ea typeface="黑体" pitchFamily="49" charset="-122"/>
              <a:sym typeface="Monotype Sorts"/>
            </a:endParaRPr>
          </a:p>
        </p:txBody>
      </p:sp>
      <p:sp>
        <p:nvSpPr>
          <p:cNvPr id="41991" name="矩形 5"/>
          <p:cNvSpPr>
            <a:spLocks noChangeArrowheads="1"/>
          </p:cNvSpPr>
          <p:nvPr/>
        </p:nvSpPr>
        <p:spPr bwMode="auto">
          <a:xfrm>
            <a:off x="947428" y="1233795"/>
            <a:ext cx="55705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1.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在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CAD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系统中设置尺寸标注样式</a:t>
            </a: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1955800" y="5121275"/>
            <a:ext cx="863600" cy="431800"/>
          </a:xfrm>
          <a:prstGeom prst="wedgeRoundRectCallout">
            <a:avLst>
              <a:gd name="adj1" fmla="val 112870"/>
              <a:gd name="adj2" fmla="val -54787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000"/>
              <a:t>单击</a:t>
            </a:r>
            <a:endParaRPr lang="zh-CN" altLang="en-US" sz="4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1" grpId="0" animBg="1"/>
      <p:bldP spid="116742" grpId="0" animBg="1"/>
      <p:bldP spid="116744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45" name="Picture 9" descr="14-5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16163" y="2044700"/>
            <a:ext cx="6507162" cy="462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6746" name="AutoShape 10"/>
          <p:cNvSpPr>
            <a:spLocks noChangeArrowheads="1"/>
          </p:cNvSpPr>
          <p:nvPr/>
        </p:nvSpPr>
        <p:spPr bwMode="auto">
          <a:xfrm>
            <a:off x="8904288" y="1901825"/>
            <a:ext cx="1490662" cy="719138"/>
          </a:xfrm>
          <a:prstGeom prst="wedgeRoundRectCallout">
            <a:avLst>
              <a:gd name="adj1" fmla="val -72838"/>
              <a:gd name="adj2" fmla="val 121593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000"/>
              <a:t>单击“置为当前”</a:t>
            </a:r>
          </a:p>
        </p:txBody>
      </p:sp>
      <p:sp>
        <p:nvSpPr>
          <p:cNvPr id="116747" name="AutoShape 11"/>
          <p:cNvSpPr>
            <a:spLocks noChangeArrowheads="1"/>
          </p:cNvSpPr>
          <p:nvPr/>
        </p:nvSpPr>
        <p:spPr bwMode="auto">
          <a:xfrm>
            <a:off x="8899525" y="5357813"/>
            <a:ext cx="750888" cy="449262"/>
          </a:xfrm>
          <a:prstGeom prst="wedgeRoundRectCallout">
            <a:avLst>
              <a:gd name="adj1" fmla="val -258509"/>
              <a:gd name="adj2" fmla="val 144542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000"/>
              <a:t>单击</a:t>
            </a:r>
          </a:p>
        </p:txBody>
      </p:sp>
      <p:sp>
        <p:nvSpPr>
          <p:cNvPr id="43013" name="Text Box 2"/>
          <p:cNvSpPr txBox="1">
            <a:spLocks noChangeArrowheads="1"/>
          </p:cNvSpPr>
          <p:nvPr/>
        </p:nvSpPr>
        <p:spPr bwMode="auto">
          <a:xfrm>
            <a:off x="2736851" y="476250"/>
            <a:ext cx="6937375" cy="584200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利用</a:t>
            </a:r>
            <a:r>
              <a:rPr lang="en-US" altLang="zh-CN" sz="3200" b="1">
                <a:latin typeface="黑体" pitchFamily="49" charset="-122"/>
                <a:ea typeface="黑体" pitchFamily="49" charset="-122"/>
              </a:rPr>
              <a:t>CAD</a:t>
            </a:r>
            <a:r>
              <a:rPr lang="zh-CN" altLang="en-US" sz="3200" b="1">
                <a:latin typeface="黑体" pitchFamily="49" charset="-122"/>
                <a:ea typeface="黑体" pitchFamily="49" charset="-122"/>
              </a:rPr>
              <a:t>绘制组合体并标注尺寸</a:t>
            </a:r>
            <a:endParaRPr lang="zh-CN" altLang="en-US" sz="3200" b="1">
              <a:solidFill>
                <a:srgbClr val="FF3300"/>
              </a:solidFill>
              <a:latin typeface="黑体" pitchFamily="49" charset="-122"/>
              <a:ea typeface="黑体" pitchFamily="49" charset="-122"/>
              <a:sym typeface="Monotype Sorts"/>
            </a:endParaRPr>
          </a:p>
        </p:txBody>
      </p:sp>
      <p:sp>
        <p:nvSpPr>
          <p:cNvPr id="43014" name="矩形 5"/>
          <p:cNvSpPr>
            <a:spLocks noChangeArrowheads="1"/>
          </p:cNvSpPr>
          <p:nvPr/>
        </p:nvSpPr>
        <p:spPr bwMode="auto">
          <a:xfrm>
            <a:off x="1055440" y="1293268"/>
            <a:ext cx="55705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1.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在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CAD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系统中设置尺寸标注样式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6" grpId="0" animBg="1"/>
      <p:bldP spid="11674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文本框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38400" y="1135063"/>
            <a:ext cx="7653338" cy="100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在</a:t>
            </a:r>
            <a:r>
              <a:rPr lang="en-US" altLang="zh-CN" sz="2800" b="1">
                <a:latin typeface="黑体" pitchFamily="49" charset="-122"/>
                <a:ea typeface="黑体" pitchFamily="49" charset="-122"/>
              </a:rPr>
              <a:t>CAD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中</a:t>
            </a:r>
            <a:r>
              <a:rPr lang="zh-CN" altLang="zh-CN" sz="2800" b="1">
                <a:latin typeface="黑体" pitchFamily="49" charset="-122"/>
                <a:ea typeface="黑体" pitchFamily="49" charset="-122"/>
              </a:rPr>
              <a:t>标注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组合体</a:t>
            </a:r>
            <a:r>
              <a:rPr lang="zh-CN" altLang="zh-CN" sz="2800" b="1">
                <a:latin typeface="黑体" pitchFamily="49" charset="-122"/>
                <a:ea typeface="黑体" pitchFamily="49" charset="-122"/>
              </a:rPr>
              <a:t>尺寸</a:t>
            </a: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时，操作方法正确的是：</a:t>
            </a:r>
            <a:endParaRPr lang="zh-CN" altLang="en-US" sz="2800" b="1">
              <a:solidFill>
                <a:srgbClr val="000000"/>
              </a:solidFill>
              <a:latin typeface="黑体" pitchFamily="49" charset="-122"/>
              <a:ea typeface="黑体" pitchFamily="49" charset="-122"/>
              <a:sym typeface="Microsoft Yahei" pitchFamily="34" charset="-122"/>
            </a:endParaRPr>
          </a:p>
        </p:txBody>
      </p:sp>
      <p:sp>
        <p:nvSpPr>
          <p:cNvPr id="44035" name="文本框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52800" y="2786064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600" b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按国家机械制图标准</a:t>
            </a:r>
            <a:r>
              <a:rPr lang="zh-CN" altLang="zh-CN" sz="2600" b="1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</a:rPr>
              <a:t>设置尺寸标注样式</a:t>
            </a:r>
            <a:endParaRPr lang="zh-CN" altLang="en-US" sz="2600" b="1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3352800" y="3643314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无需设置，直接使用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CAD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默认</a:t>
            </a: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3352800" y="4500564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将图层置换到尺寸线层</a:t>
            </a: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3352800" y="5357814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任意图层均可标注尺寸</a:t>
            </a:r>
          </a:p>
        </p:txBody>
      </p:sp>
      <p:sp>
        <p:nvSpPr>
          <p:cNvPr id="44039" name="矩形 8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49563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44040" name="矩形 9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6813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44041" name="矩形 10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063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44042" name="矩形 11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1313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44043" name="圆角矩形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grpSp>
        <p:nvGrpSpPr>
          <p:cNvPr id="44044" name="组合 17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44046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44047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</p:spPr>
          <p:txBody>
            <a:bodyPr wrap="none" anchor="ctr"/>
            <a:lstStyle/>
            <a:p>
              <a:pPr eaLnBrk="1" fontAlgn="auto" hangingPunct="1">
                <a:spcAft>
                  <a:spcPts val="0"/>
                </a:spcAft>
                <a:defRPr/>
              </a:pPr>
              <a:r>
                <a:rPr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</p:spPr>
          <p:txBody>
            <a:bodyPr wrap="none" anchor="ctr"/>
            <a:lstStyle/>
            <a:p>
              <a:pPr eaLnBrk="1" fontAlgn="auto" hangingPunct="1"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1</a:t>
              </a:r>
              <a:r>
                <a:rPr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4045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6" name="Picture 4" descr="14-50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2100264" y="1557338"/>
            <a:ext cx="8135937" cy="4919662"/>
          </a:xfrm>
          <a:noFill/>
        </p:spPr>
      </p:pic>
      <p:sp>
        <p:nvSpPr>
          <p:cNvPr id="45059" name="矩形 1"/>
          <p:cNvSpPr>
            <a:spLocks noChangeArrowheads="1"/>
          </p:cNvSpPr>
          <p:nvPr/>
        </p:nvSpPr>
        <p:spPr bwMode="auto">
          <a:xfrm>
            <a:off x="3038476" y="476250"/>
            <a:ext cx="5110163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>
                <a:latin typeface="黑体" pitchFamily="49" charset="-122"/>
                <a:ea typeface="黑体" pitchFamily="49" charset="-122"/>
              </a:rPr>
              <a:t>绘制组合体视图并标注尺寸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矩形 1"/>
          <p:cNvSpPr>
            <a:spLocks noChangeArrowheads="1"/>
          </p:cNvSpPr>
          <p:nvPr/>
        </p:nvSpPr>
        <p:spPr bwMode="auto">
          <a:xfrm>
            <a:off x="3038476" y="476250"/>
            <a:ext cx="5110163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>
                <a:latin typeface="黑体" pitchFamily="49" charset="-122"/>
                <a:ea typeface="黑体" pitchFamily="49" charset="-122"/>
              </a:rPr>
              <a:t>绘制组合体视图并标注尺寸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6959600" y="1268413"/>
            <a:ext cx="3708400" cy="40481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  <a:miter lim="800000"/>
            <a:headEnd/>
            <a:tailEnd/>
          </a:ln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1800" dirty="0">
                <a:latin typeface="+mn-ea"/>
                <a:ea typeface="+mn-ea"/>
              </a:rPr>
              <a:t>1. </a:t>
            </a:r>
            <a:r>
              <a:rPr lang="zh-CN" altLang="en-US" sz="1800" dirty="0">
                <a:latin typeface="+mn-ea"/>
                <a:ea typeface="+mn-ea"/>
              </a:rPr>
              <a:t>调用</a:t>
            </a:r>
            <a:r>
              <a:rPr lang="en-US" altLang="zh-CN" sz="1800" dirty="0">
                <a:latin typeface="+mn-ea"/>
                <a:ea typeface="+mn-ea"/>
              </a:rPr>
              <a:t>A4</a:t>
            </a:r>
            <a:r>
              <a:rPr lang="zh-CN" altLang="en-US" sz="1800" dirty="0">
                <a:latin typeface="+mn-ea"/>
                <a:ea typeface="+mn-ea"/>
              </a:rPr>
              <a:t>样板图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962776" y="1665289"/>
            <a:ext cx="3705225" cy="92233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latin typeface="+mn-ea"/>
                <a:ea typeface="+mn-ea"/>
              </a:rPr>
              <a:t>2.</a:t>
            </a:r>
            <a:r>
              <a:rPr lang="zh-CN" altLang="en-US" dirty="0">
                <a:latin typeface="+mn-ea"/>
                <a:ea typeface="+mn-ea"/>
              </a:rPr>
              <a:t>布局。将“</a:t>
            </a:r>
            <a:r>
              <a:rPr lang="en-US" altLang="zh-CN" dirty="0">
                <a:latin typeface="+mn-ea"/>
                <a:ea typeface="+mn-ea"/>
              </a:rPr>
              <a:t>01</a:t>
            </a:r>
            <a:r>
              <a:rPr lang="zh-CN" altLang="en-US" dirty="0">
                <a:latin typeface="+mn-ea"/>
                <a:ea typeface="+mn-ea"/>
              </a:rPr>
              <a:t>粗实线”层置为当前层；调用</a:t>
            </a:r>
            <a:r>
              <a:rPr lang="en-US" altLang="zh-CN" dirty="0">
                <a:latin typeface="+mn-ea"/>
                <a:ea typeface="+mn-ea"/>
              </a:rPr>
              <a:t>Line“</a:t>
            </a:r>
            <a:r>
              <a:rPr lang="zh-CN" altLang="en-US" dirty="0">
                <a:latin typeface="+mn-ea"/>
                <a:ea typeface="+mn-ea"/>
              </a:rPr>
              <a:t>直线” 画基准线</a:t>
            </a:r>
          </a:p>
        </p:txBody>
      </p:sp>
      <p:pic>
        <p:nvPicPr>
          <p:cNvPr id="5" name="Picture 5" descr="11-69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3750" y="1978026"/>
            <a:ext cx="4654550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6958014" y="2565401"/>
            <a:ext cx="3709987" cy="6461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latin typeface="+mn-ea"/>
                <a:ea typeface="+mn-ea"/>
              </a:rPr>
              <a:t>Offset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偏移”命令绘制出投影中圆的中心线和底板圆孔轴线</a:t>
            </a:r>
            <a:r>
              <a:rPr lang="zh-CN" altLang="en-US" dirty="0">
                <a:latin typeface="+mn-ea"/>
                <a:ea typeface="+mn-ea"/>
              </a:rPr>
              <a:t> </a:t>
            </a:r>
          </a:p>
        </p:txBody>
      </p:sp>
      <p:pic>
        <p:nvPicPr>
          <p:cNvPr id="8" name="Picture 10" descr="11-69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97064" y="2181226"/>
            <a:ext cx="4560887" cy="388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6958014" y="3176589"/>
            <a:ext cx="3709987" cy="36988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latin typeface="+mn-ea"/>
                <a:ea typeface="+mn-ea"/>
              </a:rPr>
              <a:t>4.</a:t>
            </a:r>
            <a:r>
              <a:rPr lang="zh-CN" altLang="en-US" dirty="0">
                <a:latin typeface="+mn-ea"/>
                <a:ea typeface="+mn-ea"/>
              </a:rPr>
              <a:t>构造组合体底板的投影 </a:t>
            </a:r>
          </a:p>
        </p:txBody>
      </p:sp>
      <p:pic>
        <p:nvPicPr>
          <p:cNvPr id="10" name="Picture 12" descr="11-69c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93889" y="2320926"/>
            <a:ext cx="4287837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6958014" y="3500439"/>
            <a:ext cx="3709987" cy="36988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/>
              <a:t>5.</a:t>
            </a:r>
            <a:r>
              <a:rPr lang="zh-CN" altLang="en-US" dirty="0"/>
              <a:t>构造圆柱部分的投影 </a:t>
            </a:r>
          </a:p>
        </p:txBody>
      </p:sp>
      <p:pic>
        <p:nvPicPr>
          <p:cNvPr id="12" name="Picture 14" descr="11-69d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93888" y="2300288"/>
            <a:ext cx="4151312" cy="3624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6958014" y="3824288"/>
            <a:ext cx="3709987" cy="6477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latin typeface="+mn-ea"/>
                <a:ea typeface="+mn-ea"/>
              </a:rPr>
              <a:t>6.</a:t>
            </a:r>
            <a:r>
              <a:rPr lang="zh-CN" altLang="en-US" dirty="0">
                <a:latin typeface="+mn-ea"/>
                <a:ea typeface="+mn-ea"/>
              </a:rPr>
              <a:t>构造水平投影底板被圆柱遮挡部分的虚线 </a:t>
            </a:r>
          </a:p>
        </p:txBody>
      </p:sp>
      <p:pic>
        <p:nvPicPr>
          <p:cNvPr id="14" name="Picture 16" descr="11-69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817689" y="2268538"/>
            <a:ext cx="4217987" cy="368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6958014" y="4459288"/>
            <a:ext cx="3709987" cy="6477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latin typeface="+mn-ea"/>
                <a:ea typeface="+mn-ea"/>
              </a:rPr>
              <a:t>7.</a:t>
            </a:r>
            <a:r>
              <a:rPr lang="zh-CN" altLang="en-US" dirty="0">
                <a:latin typeface="+mn-ea"/>
                <a:ea typeface="+mn-ea"/>
              </a:rPr>
              <a:t>将各条对称中心线和轴线换至“点画线”层 ，整理图形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666876" y="2320925"/>
            <a:ext cx="4956175" cy="344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6958014" y="5086351"/>
            <a:ext cx="3709987" cy="6461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latin typeface="+mn-ea"/>
                <a:ea typeface="+mn-ea"/>
              </a:rPr>
              <a:t>5. </a:t>
            </a:r>
            <a:r>
              <a:rPr lang="zh-CN" altLang="en-US" dirty="0">
                <a:latin typeface="+mn-ea"/>
                <a:ea typeface="+mn-ea"/>
              </a:rPr>
              <a:t>标注尺寸。将“</a:t>
            </a:r>
            <a:r>
              <a:rPr lang="en-US" altLang="zh-CN" dirty="0">
                <a:latin typeface="+mn-ea"/>
                <a:ea typeface="+mn-ea"/>
              </a:rPr>
              <a:t>08</a:t>
            </a:r>
            <a:r>
              <a:rPr lang="zh-CN" altLang="en-US" dirty="0">
                <a:latin typeface="+mn-ea"/>
                <a:ea typeface="+mn-ea"/>
              </a:rPr>
              <a:t>尺寸线”层置为当前层 </a:t>
            </a: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6958014" y="5732463"/>
            <a:ext cx="3709987" cy="6477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/>
              <a:t>在功能区，执行“常用”→“注释”→“线性” 命令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9" grpId="0" animBg="1"/>
      <p:bldP spid="11" grpId="0" animBg="1"/>
      <p:bldP spid="13" grpId="0" animBg="1"/>
      <p:bldP spid="15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矩形 1"/>
          <p:cNvSpPr>
            <a:spLocks noChangeArrowheads="1"/>
          </p:cNvSpPr>
          <p:nvPr/>
        </p:nvSpPr>
        <p:spPr bwMode="auto">
          <a:xfrm>
            <a:off x="3038476" y="476250"/>
            <a:ext cx="5110163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>
                <a:latin typeface="黑体" pitchFamily="49" charset="-122"/>
                <a:ea typeface="黑体" pitchFamily="49" charset="-122"/>
              </a:rPr>
              <a:t>绘制组合体视图并标注尺寸</a:t>
            </a:r>
          </a:p>
        </p:txBody>
      </p:sp>
      <p:pic>
        <p:nvPicPr>
          <p:cNvPr id="47107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3389" y="1449389"/>
            <a:ext cx="7286625" cy="515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9951" y="3919538"/>
            <a:ext cx="33115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AutoShape 24"/>
          <p:cNvSpPr>
            <a:spLocks noChangeArrowheads="1"/>
          </p:cNvSpPr>
          <p:nvPr/>
        </p:nvSpPr>
        <p:spPr bwMode="auto">
          <a:xfrm>
            <a:off x="6311901" y="4508501"/>
            <a:ext cx="1692275" cy="900113"/>
          </a:xfrm>
          <a:prstGeom prst="wedgeRoundRectCallout">
            <a:avLst>
              <a:gd name="adj1" fmla="val -115556"/>
              <a:gd name="adj2" fmla="val 18056"/>
              <a:gd name="adj3" fmla="val 16667"/>
            </a:avLst>
          </a:prstGeom>
          <a:solidFill>
            <a:srgbClr val="FF99CC"/>
          </a:soli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000"/>
              <a:t>标注底板线性尺寸（定形、定位）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78388" y="2808289"/>
            <a:ext cx="481012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AutoShape 25"/>
          <p:cNvSpPr>
            <a:spLocks noChangeArrowheads="1"/>
          </p:cNvSpPr>
          <p:nvPr/>
        </p:nvSpPr>
        <p:spPr bwMode="auto">
          <a:xfrm>
            <a:off x="1744664" y="1281113"/>
            <a:ext cx="790575" cy="1403350"/>
          </a:xfrm>
          <a:prstGeom prst="wedgeRoundRectCallout">
            <a:avLst>
              <a:gd name="adj1" fmla="val 104620"/>
              <a:gd name="adj2" fmla="val 35495"/>
              <a:gd name="adj3" fmla="val 16667"/>
            </a:avLst>
          </a:prstGeom>
          <a:solidFill>
            <a:srgbClr val="FF99CC"/>
          </a:soli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000"/>
              <a:t>标注圆柱桶线性尺寸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949575" y="2049463"/>
            <a:ext cx="28575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30964" y="3148014"/>
            <a:ext cx="998537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413625" y="2247900"/>
            <a:ext cx="628650" cy="96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2116138" y="3405188"/>
            <a:ext cx="1350962" cy="755650"/>
          </a:xfrm>
          <a:prstGeom prst="wedgeRoundRectCallout">
            <a:avLst>
              <a:gd name="adj1" fmla="val -27449"/>
              <a:gd name="adj2" fmla="val 106023"/>
              <a:gd name="adj3" fmla="val 16667"/>
            </a:avLst>
          </a:prstGeom>
          <a:solidFill>
            <a:srgbClr val="FF99CC">
              <a:alpha val="58823"/>
            </a:srgbClr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/>
              <a:t>标注底板圆孔尺寸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9226550" y="1412875"/>
            <a:ext cx="1354138" cy="9271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  <a:miter lim="800000"/>
            <a:headEnd/>
            <a:tailEnd/>
          </a:ln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800" b="1" dirty="0">
                <a:latin typeface="+mn-ea"/>
                <a:ea typeface="+mn-ea"/>
              </a:rPr>
              <a:t>标注底板上圆孔的直径“</a:t>
            </a:r>
            <a:r>
              <a:rPr lang="en-US" altLang="zh-CN" sz="1800" b="1" dirty="0">
                <a:latin typeface="+mn-ea"/>
                <a:ea typeface="+mn-ea"/>
              </a:rPr>
              <a:t>2×</a:t>
            </a:r>
            <a:r>
              <a:rPr lang="en-US" altLang="zh-CN" sz="1800" b="1" i="1" dirty="0">
                <a:latin typeface="+mn-ea"/>
                <a:ea typeface="+mn-ea"/>
              </a:rPr>
              <a:t>φ</a:t>
            </a:r>
            <a:r>
              <a:rPr lang="en-US" altLang="zh-CN" sz="1800" b="1" dirty="0">
                <a:latin typeface="+mn-ea"/>
                <a:ea typeface="+mn-ea"/>
              </a:rPr>
              <a:t>9” </a:t>
            </a:r>
          </a:p>
        </p:txBody>
      </p:sp>
      <p:sp>
        <p:nvSpPr>
          <p:cNvPr id="14" name="矩形 13"/>
          <p:cNvSpPr/>
          <p:nvPr/>
        </p:nvSpPr>
        <p:spPr>
          <a:xfrm>
            <a:off x="9226551" y="2373313"/>
            <a:ext cx="1343025" cy="14779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latin typeface="Arial" panose="020B0604020202020204" pitchFamily="34" charset="0"/>
              </a:rPr>
              <a:t>依次单击后“线性” 黑三角后的→“直径” 命令</a:t>
            </a:r>
          </a:p>
        </p:txBody>
      </p:sp>
      <p:sp>
        <p:nvSpPr>
          <p:cNvPr id="15" name="矩形 14"/>
          <p:cNvSpPr/>
          <p:nvPr/>
        </p:nvSpPr>
        <p:spPr>
          <a:xfrm>
            <a:off x="9226551" y="3919539"/>
            <a:ext cx="1370013" cy="23082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</a:rPr>
              <a:t>在圆周上拾取任意一点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</a:rPr>
              <a:t>  选择重新输入文字“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</a:rPr>
              <a:t>T”  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</a:rPr>
              <a:t>回车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</a:rPr>
              <a:t>  输入文字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</a:rPr>
              <a:t>2*%%C9     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</a:rPr>
              <a:t>回车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</a:rPr>
              <a:t>.</a:t>
            </a:r>
            <a:endParaRPr lang="zh-CN" altLang="en-US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</a:rPr>
              <a:t>  指定尺寸线的位置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432050" y="1238250"/>
            <a:ext cx="7797800" cy="1246188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关于利用</a:t>
            </a:r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CAD</a:t>
            </a: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绘制组合体的方法，说法正确的是：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352800" y="2786064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cs typeface="+mj-cs"/>
                <a:sym typeface="Microsoft Yahei" panose="020B0503020204020204" pitchFamily="34" charset="-122"/>
              </a:rPr>
              <a:t>上述例题不是最简单的方法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352800" y="3643314"/>
            <a:ext cx="7315200" cy="64293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cs typeface="+mj-cs"/>
                <a:sym typeface="Microsoft Yahei" panose="020B0503020204020204" pitchFamily="34" charset="-122"/>
              </a:rPr>
              <a:t>利用极轴追踪和捕捉绘制组合体比这个例题方法简单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352800" y="4500564"/>
            <a:ext cx="6877050" cy="64293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+mn-ea"/>
                <a:ea typeface="+mn-ea"/>
                <a:cs typeface="+mj-cs"/>
                <a:sym typeface="Microsoft Yahei" panose="020B0503020204020204" pitchFamily="34" charset="-122"/>
              </a:rPr>
              <a:t>绘制组合体图形应该从有积聚性的投影开始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352800" y="5357814"/>
            <a:ext cx="6877050" cy="642937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+mn-ea"/>
                <a:ea typeface="+mn-ea"/>
                <a:cs typeface="+mj-cs"/>
                <a:sym typeface="Microsoft Yahei" panose="020B0503020204020204" pitchFamily="34" charset="-122"/>
              </a:rPr>
              <a:t>标注非圆直径不一定采用例题中的方法</a:t>
            </a:r>
          </a:p>
        </p:txBody>
      </p:sp>
      <p:sp>
        <p:nvSpPr>
          <p:cNvPr id="48135" name="矩形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49563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48136" name="矩形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6813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48137" name="矩形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063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48138" name="矩形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1313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48139" name="圆角矩形 11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 eaLnBrk="1" hangingPunct="1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grpSp>
        <p:nvGrpSpPr>
          <p:cNvPr id="48140" name="组合 16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48142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48143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</p:spPr>
          <p:txBody>
            <a:bodyPr wrap="none" anchor="ctr"/>
            <a:lstStyle/>
            <a:p>
              <a:pPr eaLnBrk="1" fontAlgn="auto" hangingPunct="1">
                <a:spcAft>
                  <a:spcPts val="0"/>
                </a:spcAft>
                <a:defRPr/>
              </a:pPr>
              <a:r>
                <a:rPr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</p:spPr>
          <p:txBody>
            <a:bodyPr wrap="none" anchor="ctr"/>
            <a:lstStyle/>
            <a:p>
              <a:pPr eaLnBrk="1" fontAlgn="auto" hangingPunct="1"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1</a:t>
              </a:r>
              <a:r>
                <a:rPr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8141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24226" y="333376"/>
            <a:ext cx="5313363" cy="714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eaLnBrk="1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3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3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构建组合体三维实体</a:t>
            </a:r>
            <a:endParaRPr lang="zh-CN" altLang="zh-CN" sz="3200" kern="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71700" y="1520825"/>
            <a:ext cx="8064500" cy="9540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单击功能区中的“常用”按钮，“坐标”工具栏显示在用户界面中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pic>
        <p:nvPicPr>
          <p:cNvPr id="67586" name="Picture 2" descr="14-9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71700" y="2600326"/>
            <a:ext cx="8064500" cy="161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846264" y="2578100"/>
            <a:ext cx="29543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例：</a:t>
            </a:r>
            <a:r>
              <a:rPr lang="zh-CN" altLang="zh-CN" b="1">
                <a:latin typeface="Times New Roman" pitchFamily="18" charset="0"/>
                <a:cs typeface="Times New Roman" pitchFamily="18" charset="0"/>
              </a:rPr>
              <a:t>创建如图所示的组合体</a:t>
            </a:r>
            <a:endParaRPr lang="zh-CN" altLang="en-US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6164" y="3073400"/>
            <a:ext cx="4789487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24226" y="333376"/>
            <a:ext cx="5313363" cy="714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eaLnBrk="1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3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3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构建组合体三维实体</a:t>
            </a:r>
            <a:endParaRPr lang="zh-CN" altLang="zh-CN" sz="3200" kern="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251700" y="1449389"/>
            <a:ext cx="3416300" cy="4603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latin typeface="+mn-ea"/>
                <a:ea typeface="+mn-ea"/>
              </a:rPr>
              <a:t>1) </a:t>
            </a:r>
            <a:r>
              <a:rPr lang="zh-CN" altLang="zh-CN" sz="2400" dirty="0">
                <a:latin typeface="+mn-ea"/>
                <a:ea typeface="+mn-ea"/>
                <a:cs typeface="Times New Roman" panose="02020603050405020304" pitchFamily="18" charset="0"/>
              </a:rPr>
              <a:t>构建底板、圆柱体。</a:t>
            </a:r>
            <a:endParaRPr lang="zh-CN" altLang="en-US" sz="2400" dirty="0">
              <a:latin typeface="+mn-ea"/>
              <a:ea typeface="+mn-ea"/>
            </a:endParaRPr>
          </a:p>
        </p:txBody>
      </p:sp>
      <p:pic>
        <p:nvPicPr>
          <p:cNvPr id="68614" name="Picture 6" descr="14-1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2488" y="1836739"/>
            <a:ext cx="1871662" cy="2052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7251700" y="1928814"/>
            <a:ext cx="3416300" cy="2409825"/>
            <a:chOff x="5727680" y="1929337"/>
            <a:chExt cx="3416320" cy="2409138"/>
          </a:xfrm>
        </p:grpSpPr>
        <p:pic>
          <p:nvPicPr>
            <p:cNvPr id="50188" name="Picture 8" descr="11-132-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848364" y="2780928"/>
              <a:ext cx="360040" cy="288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0189" name="Picture 7" descr="14-85a-1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493953" y="3645024"/>
              <a:ext cx="762634" cy="324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5727680" y="1929337"/>
              <a:ext cx="3416320" cy="83161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r>
                <a:rPr lang="en-US" altLang="zh-CN" sz="2400" dirty="0">
                  <a:latin typeface="+mn-ea"/>
                  <a:ea typeface="+mn-ea"/>
                  <a:cs typeface="Times New Roman" panose="02020603050405020304" pitchFamily="18" charset="0"/>
                </a:rPr>
                <a:t>2</a:t>
              </a:r>
              <a:r>
                <a:rPr lang="zh-CN" altLang="en-US" sz="2400" dirty="0">
                  <a:latin typeface="+mn-ea"/>
                  <a:ea typeface="+mn-ea"/>
                  <a:cs typeface="Times New Roman" panose="02020603050405020304" pitchFamily="18" charset="0"/>
                </a:rPr>
                <a:t>）创建肋板。</a:t>
              </a:r>
              <a:endParaRPr lang="en-US" altLang="zh-CN" sz="2400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defRPr/>
              </a:pPr>
              <a:r>
                <a:rPr lang="en-US" altLang="zh-CN" sz="2400" dirty="0">
                  <a:latin typeface="+mn-ea"/>
                  <a:ea typeface="+mn-ea"/>
                  <a:cs typeface="Times New Roman" panose="02020603050405020304" pitchFamily="18" charset="0"/>
                </a:rPr>
                <a:t>   </a:t>
              </a:r>
              <a:r>
                <a:rPr lang="zh-CN" altLang="en-US" sz="2400" dirty="0">
                  <a:latin typeface="+mn-ea"/>
                  <a:ea typeface="+mn-ea"/>
                  <a:cs typeface="Times New Roman" panose="02020603050405020304" pitchFamily="18" charset="0"/>
                </a:rPr>
                <a:t>在工具栏选择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6156308" y="2737144"/>
              <a:ext cx="1800236" cy="368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dirty="0">
                  <a:latin typeface="+mn-ea"/>
                  <a:ea typeface="+mn-ea"/>
                  <a:cs typeface="Times New Roman" panose="02020603050405020304" pitchFamily="18" charset="0"/>
                </a:rPr>
                <a:t>执行多段线命令</a:t>
              </a:r>
              <a:endParaRPr lang="zh-CN" altLang="en-US" dirty="0">
                <a:latin typeface="+mn-ea"/>
                <a:ea typeface="+mn-ea"/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6154721" y="3068837"/>
              <a:ext cx="2989279" cy="645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r>
                <a:rPr lang="zh-CN" altLang="en-US" dirty="0">
                  <a:latin typeface="+mn-ea"/>
                  <a:ea typeface="+mn-ea"/>
                  <a:cs typeface="Times New Roman" panose="02020603050405020304" pitchFamily="18" charset="0"/>
                </a:rPr>
                <a:t>用相对坐标输入坐标绘制肋板平面图</a:t>
              </a:r>
              <a:endParaRPr lang="zh-CN" altLang="en-US" dirty="0">
                <a:latin typeface="+mn-ea"/>
                <a:ea typeface="+mn-ea"/>
              </a:endParaRP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6151545" y="3968692"/>
              <a:ext cx="2992455" cy="3697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r>
                <a:rPr lang="zh-CN" altLang="en-US" dirty="0">
                  <a:latin typeface="+mn-ea"/>
                  <a:ea typeface="+mn-ea"/>
                  <a:cs typeface="Times New Roman" panose="02020603050405020304" pitchFamily="18" charset="0"/>
                </a:rPr>
                <a:t>创建肋板，厚度为</a:t>
              </a:r>
              <a:r>
                <a:rPr lang="en-US" altLang="zh-CN" dirty="0">
                  <a:latin typeface="+mn-ea"/>
                  <a:ea typeface="+mn-ea"/>
                  <a:cs typeface="Times New Roman" panose="02020603050405020304" pitchFamily="18" charset="0"/>
                </a:rPr>
                <a:t>6</a:t>
              </a:r>
              <a:endParaRPr lang="zh-CN" altLang="en-US" dirty="0">
                <a:latin typeface="+mn-ea"/>
                <a:ea typeface="+mn-ea"/>
              </a:endParaRPr>
            </a:p>
          </p:txBody>
        </p:sp>
        <p:sp>
          <p:nvSpPr>
            <p:cNvPr id="24" name="Rectangle 12"/>
            <p:cNvSpPr>
              <a:spLocks noChangeArrowheads="1"/>
            </p:cNvSpPr>
            <p:nvPr/>
          </p:nvSpPr>
          <p:spPr bwMode="auto">
            <a:xfrm>
              <a:off x="6154721" y="3644935"/>
              <a:ext cx="1339858" cy="3697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dirty="0">
                  <a:latin typeface="+mn-ea"/>
                  <a:ea typeface="+mn-ea"/>
                  <a:cs typeface="Times New Roman" panose="02020603050405020304" pitchFamily="18" charset="0"/>
                </a:rPr>
                <a:t>用拉伸命令</a:t>
              </a:r>
              <a:endParaRPr lang="zh-CN" altLang="en-US" dirty="0">
                <a:latin typeface="+mn-ea"/>
                <a:ea typeface="+mn-ea"/>
              </a:endParaRPr>
            </a:p>
          </p:txBody>
        </p:sp>
        <p:pic>
          <p:nvPicPr>
            <p:cNvPr id="50195" name="Picture 9" descr="14-113-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8139990" y="2382564"/>
              <a:ext cx="981467" cy="3089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8622" name="Picture 14" descr="7-3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75139" y="1755776"/>
            <a:ext cx="1368425" cy="125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23" name="Picture 15" descr="snap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602288" y="2551113"/>
            <a:ext cx="1655762" cy="152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7451726" y="4295775"/>
            <a:ext cx="32162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zh-CN">
                <a:latin typeface="Times New Roman" pitchFamily="18" charset="0"/>
                <a:cs typeface="Times New Roman" pitchFamily="18" charset="0"/>
              </a:rPr>
              <a:t>肋板的移动基点</a:t>
            </a:r>
            <a:r>
              <a:rPr lang="en-US" altLang="zh-CN" i="1">
                <a:latin typeface="Times New Roman" pitchFamily="18" charset="0"/>
              </a:rPr>
              <a:t>A</a:t>
            </a:r>
            <a:r>
              <a:rPr lang="zh-CN" altLang="zh-CN">
                <a:latin typeface="Times New Roman" pitchFamily="18" charset="0"/>
                <a:cs typeface="Times New Roman" pitchFamily="18" charset="0"/>
              </a:rPr>
              <a:t>用“中点捕捉”拾取，移动的目标点为底板上表面右侧的圆心，捕捉拾取。</a:t>
            </a:r>
            <a:endParaRPr lang="zh-CN" altLang="en-US"/>
          </a:p>
        </p:txBody>
      </p:sp>
      <p:pic>
        <p:nvPicPr>
          <p:cNvPr id="68624" name="Picture 16" descr="14-116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219325" y="4305300"/>
            <a:ext cx="1677988" cy="200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矩形 19"/>
          <p:cNvSpPr/>
          <p:nvPr/>
        </p:nvSpPr>
        <p:spPr>
          <a:xfrm>
            <a:off x="7251700" y="5421313"/>
            <a:ext cx="3416300" cy="12001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latin typeface="+mn-ea"/>
                <a:ea typeface="+mn-ea"/>
              </a:rPr>
              <a:t>3) </a:t>
            </a:r>
            <a:r>
              <a:rPr lang="zh-CN" altLang="zh-CN" sz="2400" dirty="0">
                <a:latin typeface="+mn-ea"/>
                <a:ea typeface="+mn-ea"/>
                <a:cs typeface="Times New Roman" panose="02020603050405020304" pitchFamily="18" charset="0"/>
              </a:rPr>
              <a:t>用并集命令，将底板、圆柱体、肋板结合为一体</a:t>
            </a:r>
            <a:endParaRPr lang="zh-CN" altLang="en-US" sz="2400" dirty="0">
              <a:latin typeface="+mn-ea"/>
              <a:ea typeface="+mn-ea"/>
            </a:endParaRPr>
          </a:p>
        </p:txBody>
      </p:sp>
      <p:pic>
        <p:nvPicPr>
          <p:cNvPr id="68625" name="Picture 17" descr="14-117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792663" y="4391026"/>
            <a:ext cx="1662112" cy="191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8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8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8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24226" y="333376"/>
            <a:ext cx="5313363" cy="714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eaLnBrk="1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3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3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zh-CN" sz="3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构建组合体三维实体</a:t>
            </a:r>
            <a:endParaRPr lang="zh-CN" altLang="zh-CN" sz="3200" kern="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6499225" y="1309689"/>
            <a:ext cx="3881438" cy="523875"/>
            <a:chOff x="5263748" y="1307523"/>
            <a:chExt cx="3880252" cy="523220"/>
          </a:xfrm>
        </p:grpSpPr>
        <p:sp>
          <p:nvSpPr>
            <p:cNvPr id="3" name="Rectangle 2"/>
            <p:cNvSpPr>
              <a:spLocks noChangeArrowheads="1"/>
            </p:cNvSpPr>
            <p:nvPr/>
          </p:nvSpPr>
          <p:spPr bwMode="auto">
            <a:xfrm>
              <a:off x="5263748" y="1307523"/>
              <a:ext cx="2728079" cy="52322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4) 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在工具栏选择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pic>
          <p:nvPicPr>
            <p:cNvPr id="51233" name="Picture 1" descr="14-113-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969903" y="1461120"/>
              <a:ext cx="1174097" cy="3696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494463" y="1844676"/>
            <a:ext cx="3886200" cy="46196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用差集命令构建</a:t>
            </a:r>
            <a:r>
              <a:rPr lang="en-US" altLang="zh-CN" sz="2400" i="1" dirty="0">
                <a:latin typeface="Gabriola" panose="04040605051002020D02" pitchFamily="82" charset="0"/>
                <a:cs typeface="Times New Roman" panose="02020603050405020304" pitchFamily="18" charset="0"/>
              </a:rPr>
              <a:t>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的通孔</a:t>
            </a:r>
            <a:r>
              <a:rPr lang="zh-CN" altLang="en-US" sz="240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9636" name="Picture 4" descr="14-1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2976" y="1412875"/>
            <a:ext cx="1547813" cy="179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6494463" y="2349501"/>
            <a:ext cx="3886200" cy="4603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构建底板上的小孔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69637" name="Picture 5" descr="14-11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37050" y="1416051"/>
            <a:ext cx="1543050" cy="179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6489701" y="2809876"/>
            <a:ext cx="3903663" cy="46196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5)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构建圆柱上的两个正垂孔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1955801" y="3357564"/>
            <a:ext cx="8194675" cy="1412875"/>
            <a:chOff x="431540" y="3356992"/>
            <a:chExt cx="8195655" cy="1413448"/>
          </a:xfrm>
        </p:grpSpPr>
        <p:grpSp>
          <p:nvGrpSpPr>
            <p:cNvPr id="51217" name="组合 13"/>
            <p:cNvGrpSpPr>
              <a:grpSpLocks/>
            </p:cNvGrpSpPr>
            <p:nvPr/>
          </p:nvGrpSpPr>
          <p:grpSpPr bwMode="auto">
            <a:xfrm>
              <a:off x="5186798" y="3356992"/>
              <a:ext cx="2094725" cy="369332"/>
              <a:chOff x="5186798" y="3753036"/>
              <a:chExt cx="2094725" cy="369332"/>
            </a:xfrm>
          </p:grpSpPr>
          <p:pic>
            <p:nvPicPr>
              <p:cNvPr id="51229" name="Picture 10" descr="11-117-3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5186798" y="3846513"/>
                <a:ext cx="1242238" cy="2685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1230" name="Picture 9" descr="14-119-1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660232" y="3869962"/>
                <a:ext cx="621291" cy="2431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1231" name="Rectangle 12"/>
              <p:cNvSpPr>
                <a:spLocks noChangeArrowheads="1"/>
              </p:cNvSpPr>
              <p:nvPr/>
            </p:nvSpPr>
            <p:spPr bwMode="auto">
              <a:xfrm>
                <a:off x="6336196" y="3753036"/>
                <a:ext cx="415498" cy="369332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cs typeface="Times New Roman" pitchFamily="18" charset="0"/>
                  </a:rPr>
                  <a:t>→</a:t>
                </a:r>
                <a:endParaRPr lang="en-US" altLang="zh-CN"/>
              </a:p>
            </p:txBody>
          </p:sp>
        </p:grpSp>
        <p:grpSp>
          <p:nvGrpSpPr>
            <p:cNvPr id="51218" name="组合 16"/>
            <p:cNvGrpSpPr>
              <a:grpSpLocks/>
            </p:cNvGrpSpPr>
            <p:nvPr/>
          </p:nvGrpSpPr>
          <p:grpSpPr bwMode="auto">
            <a:xfrm>
              <a:off x="431540" y="3429000"/>
              <a:ext cx="8195655" cy="1341440"/>
              <a:chOff x="431540" y="3429000"/>
              <a:chExt cx="8195655" cy="1341440"/>
            </a:xfrm>
          </p:grpSpPr>
          <p:sp>
            <p:nvSpPr>
              <p:cNvPr id="51219" name="Rectangle 11"/>
              <p:cNvSpPr>
                <a:spLocks noChangeArrowheads="1"/>
              </p:cNvSpPr>
              <p:nvPr/>
            </p:nvSpPr>
            <p:spPr bwMode="auto">
              <a:xfrm>
                <a:off x="431540" y="3429000"/>
                <a:ext cx="4801314" cy="369332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zh-CN" altLang="en-US">
                    <a:latin typeface="Times New Roman" pitchFamily="18" charset="0"/>
                    <a:cs typeface="Times New Roman" pitchFamily="18" charset="0"/>
                  </a:rPr>
                  <a:t>在功能区“视图”下的“视图”工具栏中选择</a:t>
                </a:r>
                <a:endParaRPr lang="zh-CN" altLang="en-US"/>
              </a:p>
            </p:txBody>
          </p:sp>
          <p:grpSp>
            <p:nvGrpSpPr>
              <p:cNvPr id="51220" name="组合 14"/>
              <p:cNvGrpSpPr>
                <a:grpSpLocks/>
              </p:cNvGrpSpPr>
              <p:nvPr/>
            </p:nvGrpSpPr>
            <p:grpSpPr bwMode="auto">
              <a:xfrm>
                <a:off x="812139" y="3700115"/>
                <a:ext cx="6098272" cy="441488"/>
                <a:chOff x="812139" y="3977990"/>
                <a:chExt cx="6098272" cy="485798"/>
              </a:xfrm>
            </p:grpSpPr>
            <p:pic>
              <p:nvPicPr>
                <p:cNvPr id="51225" name="Picture 8" descr="11-117-3"/>
                <p:cNvPicPr>
                  <a:picLocks noChangeAspect="1" noChangeArrowheads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3508843" y="4075841"/>
                  <a:ext cx="1294843" cy="27996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51226" name="Picture 7" descr="14-82-7"/>
                <p:cNvPicPr>
                  <a:picLocks noChangeAspect="1" noChangeArrowheads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5121999" y="4075839"/>
                  <a:ext cx="1788412" cy="3341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1227" name="Rectangle 13"/>
                <p:cNvSpPr>
                  <a:spLocks noChangeArrowheads="1"/>
                </p:cNvSpPr>
                <p:nvPr/>
              </p:nvSpPr>
              <p:spPr bwMode="auto">
                <a:xfrm>
                  <a:off x="812139" y="4057223"/>
                  <a:ext cx="2724149" cy="406565"/>
                </a:xfrm>
                <a:prstGeom prst="rect">
                  <a:avLst/>
                </a:prstGeom>
                <a:noFill/>
                <a:ln w="2857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r>
                    <a:rPr lang="zh-CN" altLang="en-US">
                      <a:latin typeface="Times New Roman" pitchFamily="18" charset="0"/>
                      <a:cs typeface="Times New Roman" pitchFamily="18" charset="0"/>
                    </a:rPr>
                    <a:t>在“视图”工具栏中选择</a:t>
                  </a:r>
                  <a:endParaRPr lang="zh-CN" altLang="en-US"/>
                </a:p>
              </p:txBody>
            </p:sp>
            <p:sp>
              <p:nvSpPr>
                <p:cNvPr id="51228" name="Rectangle 14"/>
                <p:cNvSpPr>
                  <a:spLocks noChangeArrowheads="1"/>
                </p:cNvSpPr>
                <p:nvPr/>
              </p:nvSpPr>
              <p:spPr bwMode="auto">
                <a:xfrm>
                  <a:off x="4752020" y="3977990"/>
                  <a:ext cx="415548" cy="406565"/>
                </a:xfrm>
                <a:prstGeom prst="rect">
                  <a:avLst/>
                </a:prstGeom>
                <a:noFill/>
                <a:ln w="2857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>
                      <a:cs typeface="Times New Roman" pitchFamily="18" charset="0"/>
                    </a:rPr>
                    <a:t>→</a:t>
                  </a:r>
                  <a:endParaRPr lang="en-US" altLang="zh-CN"/>
                </a:p>
              </p:txBody>
            </p:sp>
          </p:grpSp>
          <p:grpSp>
            <p:nvGrpSpPr>
              <p:cNvPr id="51221" name="组合 15"/>
              <p:cNvGrpSpPr>
                <a:grpSpLocks/>
              </p:cNvGrpSpPr>
              <p:nvPr/>
            </p:nvGrpSpPr>
            <p:grpSpPr bwMode="auto">
              <a:xfrm>
                <a:off x="1799692" y="4113076"/>
                <a:ext cx="6827503" cy="369332"/>
                <a:chOff x="1799692" y="4113076"/>
                <a:chExt cx="6827503" cy="369332"/>
              </a:xfrm>
            </p:grpSpPr>
            <p:pic>
              <p:nvPicPr>
                <p:cNvPr id="51223" name="Picture 6" descr="14-95-2"/>
                <p:cNvPicPr>
                  <a:picLocks noChangeAspect="1" noChangeArrowheads="1"/>
                </p:cNvPicPr>
                <p:nvPr/>
              </p:nvPicPr>
              <p:blipFill>
                <a:blip r:embed="rId8"/>
                <a:srcRect/>
                <a:stretch>
                  <a:fillRect/>
                </a:stretch>
              </p:blipFill>
              <p:spPr bwMode="auto">
                <a:xfrm>
                  <a:off x="8352420" y="4149080"/>
                  <a:ext cx="274775" cy="24585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1224" name="Rectangle 15"/>
                <p:cNvSpPr>
                  <a:spLocks noChangeArrowheads="1"/>
                </p:cNvSpPr>
                <p:nvPr/>
              </p:nvSpPr>
              <p:spPr bwMode="auto">
                <a:xfrm>
                  <a:off x="1799692" y="4113076"/>
                  <a:ext cx="6624736" cy="369332"/>
                </a:xfrm>
                <a:prstGeom prst="rect">
                  <a:avLst/>
                </a:prstGeom>
                <a:noFill/>
                <a:ln w="28575" algn="ctr">
                  <a:noFill/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en-US">
                      <a:latin typeface="Times New Roman" pitchFamily="18" charset="0"/>
                      <a:cs typeface="Times New Roman" pitchFamily="18" charset="0"/>
                    </a:rPr>
                    <a:t>捕捉工具只设定圆心捕捉，在“坐标”工具栏单击“原点”命令</a:t>
                  </a:r>
                  <a:endParaRPr lang="zh-CN" altLang="en-US"/>
                </a:p>
              </p:txBody>
            </p:sp>
          </p:grpSp>
          <p:sp>
            <p:nvSpPr>
              <p:cNvPr id="51222" name="Rectangle 16"/>
              <p:cNvSpPr>
                <a:spLocks noChangeArrowheads="1"/>
              </p:cNvSpPr>
              <p:nvPr/>
            </p:nvSpPr>
            <p:spPr bwMode="auto">
              <a:xfrm>
                <a:off x="1377558" y="4401108"/>
                <a:ext cx="4634602" cy="369332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zh-CN" altLang="en-US">
                    <a:latin typeface="Times New Roman" pitchFamily="18" charset="0"/>
                    <a:cs typeface="Times New Roman" pitchFamily="18" charset="0"/>
                  </a:rPr>
                  <a:t>捕捉圆柱的底面圆心，将坐标原点移到此处</a:t>
                </a:r>
                <a:r>
                  <a:rPr lang="zh-CN" altLang="en-US"/>
                  <a:t> </a:t>
                </a:r>
              </a:p>
            </p:txBody>
          </p:sp>
        </p:grpSp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1631950" y="4805364"/>
            <a:ext cx="3379788" cy="1785937"/>
            <a:chOff x="507868" y="4983350"/>
            <a:chExt cx="2979099" cy="1608710"/>
          </a:xfrm>
        </p:grpSpPr>
        <p:pic>
          <p:nvPicPr>
            <p:cNvPr id="51215" name="Picture 23" descr="14-12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07868" y="4983350"/>
              <a:ext cx="1435840" cy="1608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16" name="Picture 24" descr="14-121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2138020" y="4983350"/>
              <a:ext cx="1348947" cy="1565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9657" name="Picture 25" descr="14-122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519739" y="4760913"/>
            <a:ext cx="1812925" cy="177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矩形 22"/>
          <p:cNvSpPr/>
          <p:nvPr/>
        </p:nvSpPr>
        <p:spPr>
          <a:xfrm>
            <a:off x="6484939" y="3271838"/>
            <a:ext cx="3908425" cy="8318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latin typeface="+mn-ea"/>
                <a:ea typeface="+mn-ea"/>
              </a:rPr>
              <a:t>6) </a:t>
            </a:r>
            <a:r>
              <a:rPr lang="zh-CN" altLang="zh-CN" sz="2400" dirty="0">
                <a:latin typeface="+mn-ea"/>
                <a:ea typeface="+mn-ea"/>
                <a:cs typeface="Times New Roman" panose="02020603050405020304" pitchFamily="18" charset="0"/>
              </a:rPr>
              <a:t>构建</a:t>
            </a:r>
            <a:r>
              <a:rPr lang="en-US" altLang="zh-CN" sz="2400" i="1" dirty="0">
                <a:latin typeface="+mn-ea"/>
                <a:ea typeface="+mn-ea"/>
                <a:cs typeface="Times New Roman" panose="02020603050405020304" pitchFamily="18" charset="0"/>
              </a:rPr>
              <a:t>φ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15mm</a:t>
            </a:r>
            <a:r>
              <a:rPr lang="zh-CN" altLang="zh-CN" sz="2400" dirty="0"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i="1" dirty="0">
                <a:latin typeface="+mn-ea"/>
                <a:ea typeface="+mn-ea"/>
                <a:cs typeface="Times New Roman" panose="02020603050405020304" pitchFamily="18" charset="0"/>
              </a:rPr>
              <a:t>φ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10mm</a:t>
            </a:r>
            <a:r>
              <a:rPr lang="zh-CN" altLang="zh-CN" sz="2400" dirty="0">
                <a:latin typeface="+mn-ea"/>
                <a:ea typeface="+mn-ea"/>
                <a:cs typeface="Times New Roman" panose="02020603050405020304" pitchFamily="18" charset="0"/>
              </a:rPr>
              <a:t>的圆柱</a:t>
            </a:r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zh-CN" sz="2400" dirty="0">
                <a:latin typeface="Arial" panose="020B0604020202020204" pitchFamily="34" charset="0"/>
              </a:rPr>
              <a:t>整理，完成着色</a:t>
            </a:r>
            <a:r>
              <a:rPr lang="zh-CN" altLang="en-US" sz="2400" dirty="0">
                <a:latin typeface="Arial" panose="020B0604020202020204" pitchFamily="34" charset="0"/>
              </a:rPr>
              <a:t>。</a:t>
            </a:r>
            <a:endParaRPr lang="zh-CN" altLang="en-US" sz="2400" dirty="0">
              <a:latin typeface="+mn-ea"/>
              <a:ea typeface="+mn-ea"/>
            </a:endParaRPr>
          </a:p>
        </p:txBody>
      </p:sp>
      <p:pic>
        <p:nvPicPr>
          <p:cNvPr id="69658" name="Picture 26" descr="14-12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5878513" y="4814889"/>
            <a:ext cx="1566862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59" name="Picture 27" descr="14-124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002588" y="4711701"/>
            <a:ext cx="1579562" cy="178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750"/>
                                        <p:tgtEl>
                                          <p:spTgt spid="696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2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ef43314674c038536aa76c1229e5d9e61fe1948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4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/>
      <a:bodyPr anchor="ctr">
        <a:spAutoFit/>
      </a:bodyPr>
      <a:lstStyle>
        <a:defPPr algn="ctr" fontAlgn="auto">
          <a:spcAft>
            <a:spcPts val="0"/>
          </a:spcAft>
          <a:defRPr kumimoji="0" sz="4400" b="1" dirty="0">
            <a:solidFill>
              <a:schemeClr val="tx2"/>
            </a:solidFill>
            <a:latin typeface="黑体" pitchFamily="2" charset="-122"/>
            <a:ea typeface="黑体" pitchFamily="2" charset="-122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4013</TotalTime>
  <Words>1392</Words>
  <Application>Microsoft Office PowerPoint</Application>
  <PresentationFormat>宽屏</PresentationFormat>
  <Paragraphs>196</Paragraphs>
  <Slides>22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黑体</vt:lpstr>
      <vt:lpstr>华文行楷</vt:lpstr>
      <vt:lpstr>宋体</vt:lpstr>
      <vt:lpstr>Microsoft Yahei</vt:lpstr>
      <vt:lpstr>Arial</vt:lpstr>
      <vt:lpstr>Calibri</vt:lpstr>
      <vt:lpstr>Gabriola</vt:lpstr>
      <vt:lpstr>ISOCP</vt:lpstr>
      <vt:lpstr>ISOCPEUR</vt:lpstr>
      <vt:lpstr>Times New Roman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穆浩志</dc:creator>
  <cp:keywords>天津理工大学</cp:keywords>
  <cp:lastModifiedBy>Lenovo</cp:lastModifiedBy>
  <cp:revision>295</cp:revision>
  <dcterms:created xsi:type="dcterms:W3CDTF">2014-03-20T09:34:50Z</dcterms:created>
  <dcterms:modified xsi:type="dcterms:W3CDTF">2020-05-19T06:15:55Z</dcterms:modified>
</cp:coreProperties>
</file>
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96" r:id="rId1"/>
  </p:sldMasterIdLst>
  <p:notesMasterIdLst>
    <p:notesMasterId r:id="rId44"/>
  </p:notesMasterIdLst>
  <p:sldIdLst>
    <p:sldId id="445" r:id="rId2"/>
    <p:sldId id="446" r:id="rId3"/>
    <p:sldId id="494" r:id="rId4"/>
    <p:sldId id="495" r:id="rId5"/>
    <p:sldId id="449" r:id="rId6"/>
    <p:sldId id="496" r:id="rId7"/>
    <p:sldId id="452" r:id="rId8"/>
    <p:sldId id="522" r:id="rId9"/>
    <p:sldId id="497" r:id="rId10"/>
    <p:sldId id="498" r:id="rId11"/>
    <p:sldId id="499" r:id="rId12"/>
    <p:sldId id="461" r:id="rId13"/>
    <p:sldId id="500" r:id="rId14"/>
    <p:sldId id="501" r:id="rId15"/>
    <p:sldId id="502" r:id="rId16"/>
    <p:sldId id="503" r:id="rId17"/>
    <p:sldId id="523" r:id="rId18"/>
    <p:sldId id="504" r:id="rId19"/>
    <p:sldId id="513" r:id="rId20"/>
    <p:sldId id="508" r:id="rId21"/>
    <p:sldId id="506" r:id="rId22"/>
    <p:sldId id="509" r:id="rId23"/>
    <p:sldId id="507" r:id="rId24"/>
    <p:sldId id="483" r:id="rId25"/>
    <p:sldId id="524" r:id="rId26"/>
    <p:sldId id="510" r:id="rId27"/>
    <p:sldId id="526" r:id="rId28"/>
    <p:sldId id="512" r:id="rId29"/>
    <p:sldId id="479" r:id="rId30"/>
    <p:sldId id="480" r:id="rId31"/>
    <p:sldId id="525" r:id="rId32"/>
    <p:sldId id="515" r:id="rId33"/>
    <p:sldId id="465" r:id="rId34"/>
    <p:sldId id="511" r:id="rId35"/>
    <p:sldId id="518" r:id="rId36"/>
    <p:sldId id="519" r:id="rId37"/>
    <p:sldId id="517" r:id="rId38"/>
    <p:sldId id="520" r:id="rId39"/>
    <p:sldId id="384" r:id="rId40"/>
    <p:sldId id="458" r:id="rId41"/>
    <p:sldId id="460" r:id="rId42"/>
    <p:sldId id="521" r:id="rId43"/>
  </p:sldIdLst>
  <p:sldSz cx="12192000" cy="6858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黑体" panose="02010609060101010101" pitchFamily="49" charset="-122"/>
      <p:regular r:id="rId49"/>
    </p:embeddedFont>
    <p:embeddedFont>
      <p:font typeface="华文行楷" panose="02010800040101010101" pitchFamily="2" charset="-122"/>
      <p:regular r:id="rId50"/>
    </p:embeddedFont>
  </p:embeddedFontLst>
  <p:custDataLst>
    <p:tags r:id="rId5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MNzv4f2Atydr2Kc5RA7tzQ==" hashData="BMkZShMLaftkJwWSAlOBaLiL3Ak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3300"/>
    <a:srgbClr val="FFCC99"/>
    <a:srgbClr val="FF9933"/>
    <a:srgbClr val="00FFFF"/>
    <a:srgbClr val="B28300"/>
    <a:srgbClr val="FFFF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9" autoAdjust="0"/>
    <p:restoredTop sz="92587" autoAdjust="0"/>
  </p:normalViewPr>
  <p:slideViewPr>
    <p:cSldViewPr snapToGrid="0">
      <p:cViewPr varScale="1">
        <p:scale>
          <a:sx n="106" d="100"/>
          <a:sy n="106" d="100"/>
        </p:scale>
        <p:origin x="94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8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FC6C8ED-AFCC-49D8-B4CE-0B1F57161A42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D6B864A-C5DE-47BC-B6FC-BA916562C1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09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B864A-C5DE-47BC-B6FC-BA916562C1DE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4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ED9447BE-842D-4C83-8385-AECA14065B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E7ABD029-198A-487D-9138-51EED2F0CB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644406E5-439F-4DF0-8549-0E441E8CDA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26AEB3D5-639D-4EC6-8287-4E2AAF076E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9A6440D9-157E-4313-AE7D-CFE63E1523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75228D6C-31B9-4A50-BE09-EC394A65F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916B3214-8F05-4319-BA42-06BE73AD20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BC61C98E-9025-446B-BC93-931234ACCF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F18E2434-8976-4326-AEF9-8EB59E3964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EABF27AD-1F84-4393-A162-BD11EEF93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54C96976-E81E-4058-A56C-F0F9DF2DB9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800" b="0" smtClean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EE89C844-27AC-455B-A4B1-3774CA374C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 kumimoji="0" sz="1800" b="0"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2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3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TextBox 11"/>
          <p:cNvSpPr txBox="1">
            <a:spLocks noChangeArrowheads="1"/>
          </p:cNvSpPr>
          <p:nvPr userDrawn="1"/>
        </p:nvSpPr>
        <p:spPr bwMode="auto">
          <a:xfrm>
            <a:off x="9272570" y="1097303"/>
            <a:ext cx="305646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kumimoji="0" lang="zh-CN" altLang="en-US" sz="2400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35C375-AFA3-41F5-A0A7-477F04CBD9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193" y="47625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slide" Target="slide40.xml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5.jpeg"/><Relationship Id="rId5" Type="http://schemas.openxmlformats.org/officeDocument/2006/relationships/image" Target="../media/image54.png"/><Relationship Id="rId4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0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7550" y="2122798"/>
            <a:ext cx="8204994" cy="2030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914707" y="831929"/>
            <a:ext cx="252986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零件编号</a:t>
            </a:r>
          </a:p>
        </p:txBody>
      </p:sp>
      <p:sp>
        <p:nvSpPr>
          <p:cNvPr id="62467" name="Text Box 66"/>
          <p:cNvSpPr txBox="1">
            <a:spLocks noChangeArrowheads="1"/>
          </p:cNvSpPr>
          <p:nvPr/>
        </p:nvSpPr>
        <p:spPr bwMode="auto">
          <a:xfrm>
            <a:off x="3405188" y="206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62470" name="矩形 62"/>
          <p:cNvSpPr>
            <a:spLocks noChangeArrowheads="1"/>
          </p:cNvSpPr>
          <p:nvPr/>
        </p:nvSpPr>
        <p:spPr bwMode="auto">
          <a:xfrm>
            <a:off x="1618130" y="1412148"/>
            <a:ext cx="2197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序号的组成：</a:t>
            </a:r>
          </a:p>
        </p:txBody>
      </p:sp>
      <p:sp>
        <p:nvSpPr>
          <p:cNvPr id="64" name="矩形 63"/>
          <p:cNvSpPr/>
          <p:nvPr/>
        </p:nvSpPr>
        <p:spPr>
          <a:xfrm>
            <a:off x="1407490" y="4256739"/>
            <a:ext cx="43636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1. </a:t>
            </a:r>
            <a:r>
              <a:rPr lang="zh-CN" altLang="en-US" dirty="0">
                <a:solidFill>
                  <a:srgbClr val="0070C0"/>
                </a:solidFill>
                <a:latin typeface="+mn-ea"/>
                <a:ea typeface="+mn-ea"/>
              </a:rPr>
              <a:t>圆点画在被编号零件图形中</a:t>
            </a:r>
          </a:p>
        </p:txBody>
      </p:sp>
      <p:sp>
        <p:nvSpPr>
          <p:cNvPr id="68" name="矩形 67"/>
          <p:cNvSpPr/>
          <p:nvPr/>
        </p:nvSpPr>
        <p:spPr>
          <a:xfrm>
            <a:off x="1407490" y="4934884"/>
            <a:ext cx="8906404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+mn-ea"/>
                <a:ea typeface="+mn-ea"/>
              </a:rPr>
              <a:t>装配图中一个零件须编写一个序号，同一装配图中相同的零件</a:t>
            </a:r>
            <a:endParaRPr lang="en-US" altLang="zh-CN" dirty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  </a:t>
            </a:r>
            <a:r>
              <a:rPr lang="zh-CN" altLang="en-US" dirty="0">
                <a:solidFill>
                  <a:srgbClr val="0070C0"/>
                </a:solidFill>
                <a:latin typeface="+mn-ea"/>
                <a:ea typeface="+mn-ea"/>
              </a:rPr>
              <a:t>不重复编号。</a:t>
            </a:r>
            <a:r>
              <a:rPr lang="zh-CN" altLang="en-US" dirty="0">
                <a:latin typeface="宋体" pitchFamily="2" charset="-122"/>
              </a:rPr>
              <a:t>其数量填 在明细栏内</a:t>
            </a:r>
          </a:p>
        </p:txBody>
      </p:sp>
      <p:sp>
        <p:nvSpPr>
          <p:cNvPr id="10" name="矩形 62"/>
          <p:cNvSpPr>
            <a:spLocks noChangeArrowheads="1"/>
          </p:cNvSpPr>
          <p:nvPr/>
        </p:nvSpPr>
        <p:spPr bwMode="auto">
          <a:xfrm>
            <a:off x="3485030" y="1412147"/>
            <a:ext cx="99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圆点</a:t>
            </a:r>
          </a:p>
        </p:txBody>
      </p:sp>
      <p:sp>
        <p:nvSpPr>
          <p:cNvPr id="12" name="矩形 62"/>
          <p:cNvSpPr>
            <a:spLocks noChangeArrowheads="1"/>
          </p:cNvSpPr>
          <p:nvPr/>
        </p:nvSpPr>
        <p:spPr bwMode="auto">
          <a:xfrm>
            <a:off x="4221630" y="1389923"/>
            <a:ext cx="398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、指引线、水平线（或圆）</a:t>
            </a:r>
          </a:p>
        </p:txBody>
      </p:sp>
      <p:sp>
        <p:nvSpPr>
          <p:cNvPr id="13" name="矩形 62"/>
          <p:cNvSpPr>
            <a:spLocks noChangeArrowheads="1"/>
          </p:cNvSpPr>
          <p:nvPr/>
        </p:nvSpPr>
        <p:spPr bwMode="auto">
          <a:xfrm>
            <a:off x="8044330" y="1386747"/>
            <a:ext cx="1231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及数字</a:t>
            </a: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9463" y="2052297"/>
            <a:ext cx="8034339" cy="2105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0250" y="2062162"/>
            <a:ext cx="8066025" cy="212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8130" y="2088398"/>
            <a:ext cx="8196817" cy="205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3103418" y="255731"/>
            <a:ext cx="6002482" cy="575543"/>
          </a:xfrm>
          <a:prstGeom prst="rect">
            <a:avLst/>
          </a:prstGeom>
          <a:gradFill rotWithShape="0">
            <a:gsLst>
              <a:gs pos="0">
                <a:srgbClr val="FF66FF"/>
              </a:gs>
              <a:gs pos="50000">
                <a:schemeClr val="bg1"/>
              </a:gs>
              <a:gs pos="100000">
                <a:srgbClr val="FF66FF"/>
              </a:gs>
            </a:gsLst>
            <a:lin ang="5400000" scaled="1"/>
          </a:gradFill>
          <a:ln w="9525" cmpd="dbl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装配图中零件的序号和明细栏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62470" grpId="0"/>
      <p:bldP spid="64" grpId="0"/>
      <p:bldP spid="68" grpId="0"/>
      <p:bldP spid="10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2698" y="2850143"/>
            <a:ext cx="30480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453096" y="2364836"/>
            <a:ext cx="9183523" cy="7572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4.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零件编号应按</a:t>
            </a:r>
            <a:r>
              <a:rPr lang="zh-CN" altLang="en-US" dirty="0">
                <a:latin typeface="宋体" pitchFamily="2" charset="-122"/>
              </a:rPr>
              <a:t>顺时针或逆时针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方向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顺序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编号，全图按</a:t>
            </a:r>
            <a:r>
              <a:rPr lang="zh-CN" altLang="en-US" dirty="0">
                <a:latin typeface="宋体" pitchFamily="2" charset="-122"/>
              </a:rPr>
              <a:t>水平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方向或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latin typeface="宋体" pitchFamily="2" charset="-122"/>
              </a:rPr>
              <a:t>垂直方向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整齐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排列。</a:t>
            </a:r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2647965" y="3984036"/>
            <a:ext cx="3371850" cy="1133475"/>
            <a:chOff x="420" y="3426"/>
            <a:chExt cx="2124" cy="714"/>
          </a:xfrm>
        </p:grpSpPr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20" y="3732"/>
              <a:ext cx="444" cy="384"/>
              <a:chOff x="420" y="3732"/>
              <a:chExt cx="444" cy="384"/>
            </a:xfrm>
          </p:grpSpPr>
          <p:sp>
            <p:nvSpPr>
              <p:cNvPr id="63520" name="Line 8"/>
              <p:cNvSpPr>
                <a:spLocks noChangeShapeType="1"/>
              </p:cNvSpPr>
              <p:nvPr/>
            </p:nvSpPr>
            <p:spPr bwMode="auto">
              <a:xfrm>
                <a:off x="564" y="373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21" name="Line 14"/>
              <p:cNvSpPr>
                <a:spLocks noChangeShapeType="1"/>
              </p:cNvSpPr>
              <p:nvPr/>
            </p:nvSpPr>
            <p:spPr bwMode="auto">
              <a:xfrm flipH="1">
                <a:off x="420" y="3732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38"/>
            <p:cNvGrpSpPr>
              <a:grpSpLocks/>
            </p:cNvGrpSpPr>
            <p:nvPr/>
          </p:nvGrpSpPr>
          <p:grpSpPr bwMode="auto">
            <a:xfrm>
              <a:off x="900" y="3732"/>
              <a:ext cx="468" cy="408"/>
              <a:chOff x="900" y="3732"/>
              <a:chExt cx="468" cy="408"/>
            </a:xfrm>
          </p:grpSpPr>
          <p:sp>
            <p:nvSpPr>
              <p:cNvPr id="63518" name="Line 10"/>
              <p:cNvSpPr>
                <a:spLocks noChangeShapeType="1"/>
              </p:cNvSpPr>
              <p:nvPr/>
            </p:nvSpPr>
            <p:spPr bwMode="auto">
              <a:xfrm>
                <a:off x="1068" y="373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19" name="Line 15"/>
              <p:cNvSpPr>
                <a:spLocks noChangeShapeType="1"/>
              </p:cNvSpPr>
              <p:nvPr/>
            </p:nvSpPr>
            <p:spPr bwMode="auto">
              <a:xfrm flipH="1">
                <a:off x="900" y="3732"/>
                <a:ext cx="168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39"/>
            <p:cNvGrpSpPr>
              <a:grpSpLocks/>
            </p:cNvGrpSpPr>
            <p:nvPr/>
          </p:nvGrpSpPr>
          <p:grpSpPr bwMode="auto">
            <a:xfrm>
              <a:off x="1488" y="3720"/>
              <a:ext cx="444" cy="396"/>
              <a:chOff x="1488" y="3720"/>
              <a:chExt cx="444" cy="396"/>
            </a:xfrm>
          </p:grpSpPr>
          <p:sp>
            <p:nvSpPr>
              <p:cNvPr id="63516" name="Line 11"/>
              <p:cNvSpPr>
                <a:spLocks noChangeShapeType="1"/>
              </p:cNvSpPr>
              <p:nvPr/>
            </p:nvSpPr>
            <p:spPr bwMode="auto">
              <a:xfrm>
                <a:off x="1632" y="372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17" name="Line 16"/>
              <p:cNvSpPr>
                <a:spLocks noChangeShapeType="1"/>
              </p:cNvSpPr>
              <p:nvPr/>
            </p:nvSpPr>
            <p:spPr bwMode="auto">
              <a:xfrm flipH="1">
                <a:off x="1488" y="3720"/>
                <a:ext cx="144" cy="3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2064" y="3708"/>
              <a:ext cx="480" cy="432"/>
              <a:chOff x="2064" y="3708"/>
              <a:chExt cx="480" cy="432"/>
            </a:xfrm>
          </p:grpSpPr>
          <p:sp>
            <p:nvSpPr>
              <p:cNvPr id="63514" name="Line 12"/>
              <p:cNvSpPr>
                <a:spLocks noChangeShapeType="1"/>
              </p:cNvSpPr>
              <p:nvPr/>
            </p:nvSpPr>
            <p:spPr bwMode="auto">
              <a:xfrm>
                <a:off x="2244" y="370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15" name="Line 17"/>
              <p:cNvSpPr>
                <a:spLocks noChangeShapeType="1"/>
              </p:cNvSpPr>
              <p:nvPr/>
            </p:nvSpPr>
            <p:spPr bwMode="auto">
              <a:xfrm flipH="1">
                <a:off x="2064" y="3708"/>
                <a:ext cx="18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/>
                <a:tailEnd type="oval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3510" name="Text Box 29"/>
            <p:cNvSpPr txBox="1">
              <a:spLocks noChangeArrowheads="1"/>
            </p:cNvSpPr>
            <p:nvPr/>
          </p:nvSpPr>
          <p:spPr bwMode="auto">
            <a:xfrm>
              <a:off x="602" y="343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511" name="Text Box 30"/>
            <p:cNvSpPr txBox="1">
              <a:spLocks noChangeArrowheads="1"/>
            </p:cNvSpPr>
            <p:nvPr/>
          </p:nvSpPr>
          <p:spPr bwMode="auto">
            <a:xfrm>
              <a:off x="1142" y="3450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3512" name="Text Box 31"/>
            <p:cNvSpPr txBox="1">
              <a:spLocks noChangeArrowheads="1"/>
            </p:cNvSpPr>
            <p:nvPr/>
          </p:nvSpPr>
          <p:spPr bwMode="auto">
            <a:xfrm>
              <a:off x="1694" y="343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513" name="Text Box 32"/>
            <p:cNvSpPr txBox="1">
              <a:spLocks noChangeArrowheads="1"/>
            </p:cNvSpPr>
            <p:nvPr/>
          </p:nvSpPr>
          <p:spPr bwMode="auto">
            <a:xfrm>
              <a:off x="2294" y="342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5548760" y="3088686"/>
            <a:ext cx="476250" cy="1343025"/>
            <a:chOff x="2256" y="2862"/>
            <a:chExt cx="300" cy="846"/>
          </a:xfrm>
        </p:grpSpPr>
        <p:grpSp>
          <p:nvGrpSpPr>
            <p:cNvPr id="9" name="Group 43"/>
            <p:cNvGrpSpPr>
              <a:grpSpLocks/>
            </p:cNvGrpSpPr>
            <p:nvPr/>
          </p:nvGrpSpPr>
          <p:grpSpPr bwMode="auto">
            <a:xfrm>
              <a:off x="2256" y="2862"/>
              <a:ext cx="300" cy="639"/>
              <a:chOff x="2256" y="2862"/>
              <a:chExt cx="300" cy="639"/>
            </a:xfrm>
          </p:grpSpPr>
          <p:sp>
            <p:nvSpPr>
              <p:cNvPr id="63497" name="Line 9"/>
              <p:cNvSpPr>
                <a:spLocks noChangeShapeType="1"/>
              </p:cNvSpPr>
              <p:nvPr/>
            </p:nvSpPr>
            <p:spPr bwMode="auto">
              <a:xfrm>
                <a:off x="2256" y="3444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98" name="Line 13"/>
              <p:cNvSpPr>
                <a:spLocks noChangeShapeType="1"/>
              </p:cNvSpPr>
              <p:nvPr/>
            </p:nvSpPr>
            <p:spPr bwMode="auto">
              <a:xfrm>
                <a:off x="2256" y="313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99" name="Text Box 33"/>
              <p:cNvSpPr txBox="1">
                <a:spLocks noChangeArrowheads="1"/>
              </p:cNvSpPr>
              <p:nvPr/>
            </p:nvSpPr>
            <p:spPr bwMode="auto">
              <a:xfrm>
                <a:off x="2306" y="3174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chemeClr val="tx1"/>
                    </a:solidFill>
                  </a:rPr>
                  <a:t>5</a:t>
                </a:r>
                <a:endParaRPr lang="en-US" altLang="zh-CN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500" name="Text Box 34"/>
              <p:cNvSpPr txBox="1">
                <a:spLocks noChangeArrowheads="1"/>
              </p:cNvSpPr>
              <p:nvPr/>
            </p:nvSpPr>
            <p:spPr bwMode="auto">
              <a:xfrm>
                <a:off x="2318" y="2862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chemeClr val="tx1"/>
                    </a:solidFill>
                  </a:rPr>
                  <a:t>6</a:t>
                </a:r>
                <a:endParaRPr lang="en-US" altLang="zh-CN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496" name="Line 44"/>
            <p:cNvSpPr>
              <a:spLocks noChangeShapeType="1"/>
            </p:cNvSpPr>
            <p:nvPr/>
          </p:nvSpPr>
          <p:spPr bwMode="auto">
            <a:xfrm flipV="1">
              <a:off x="2256" y="3120"/>
              <a:ext cx="0" cy="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453096" y="5805669"/>
            <a:ext cx="9183523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宋体" pitchFamily="2" charset="-122"/>
              </a:rPr>
              <a:t>先画出需要编号零件的指引线和横线，检查无重复、无遗漏时，再统一填写序号。</a:t>
            </a:r>
          </a:p>
        </p:txBody>
      </p:sp>
      <p:sp>
        <p:nvSpPr>
          <p:cNvPr id="38" name="矩形 37"/>
          <p:cNvSpPr/>
          <p:nvPr/>
        </p:nvSpPr>
        <p:spPr>
          <a:xfrm>
            <a:off x="1434032" y="1505315"/>
            <a:ext cx="9202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3.</a:t>
            </a:r>
            <a:r>
              <a:rPr lang="zh-CN" altLang="en-US" dirty="0">
                <a:solidFill>
                  <a:srgbClr val="0070C0"/>
                </a:solidFill>
                <a:latin typeface="+mn-ea"/>
                <a:ea typeface="+mn-ea"/>
              </a:rPr>
              <a:t>指引线用细实线绘制，不能与相邻的图线（如剖面线）平行，与</a:t>
            </a:r>
            <a:endParaRPr lang="en-US" altLang="zh-CN" dirty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  </a:t>
            </a:r>
            <a:r>
              <a:rPr lang="zh-CN" altLang="en-US" dirty="0">
                <a:solidFill>
                  <a:srgbClr val="0070C0"/>
                </a:solidFill>
                <a:latin typeface="+mn-ea"/>
                <a:ea typeface="+mn-ea"/>
              </a:rPr>
              <a:t>相应图线所成的角度应大于</a:t>
            </a:r>
            <a:r>
              <a:rPr lang="en-US" dirty="0">
                <a:solidFill>
                  <a:srgbClr val="0070C0"/>
                </a:solidFill>
                <a:latin typeface="+mn-ea"/>
                <a:ea typeface="+mn-ea"/>
              </a:rPr>
              <a:t>15</a:t>
            </a:r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°</a:t>
            </a:r>
            <a:endParaRPr lang="zh-CN" altLang="en-US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1023330" y="937940"/>
            <a:ext cx="234872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一、零件编号</a:t>
            </a:r>
          </a:p>
        </p:txBody>
      </p:sp>
      <p:sp>
        <p:nvSpPr>
          <p:cNvPr id="39" name="Rectangle 67"/>
          <p:cNvSpPr>
            <a:spLocks noChangeArrowheads="1"/>
          </p:cNvSpPr>
          <p:nvPr/>
        </p:nvSpPr>
        <p:spPr bwMode="auto">
          <a:xfrm>
            <a:off x="3103418" y="255731"/>
            <a:ext cx="6002482" cy="575543"/>
          </a:xfrm>
          <a:prstGeom prst="rect">
            <a:avLst/>
          </a:prstGeom>
          <a:gradFill rotWithShape="0">
            <a:gsLst>
              <a:gs pos="0">
                <a:srgbClr val="FF66FF"/>
              </a:gs>
              <a:gs pos="50000">
                <a:schemeClr val="bg1"/>
              </a:gs>
              <a:gs pos="100000">
                <a:srgbClr val="FF66FF"/>
              </a:gs>
            </a:gsLst>
            <a:lin ang="5400000" scaled="1"/>
          </a:gradFill>
          <a:ln w="9525" cmpd="dbl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装配图中零件的序号和明细栏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37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66941" y="4173394"/>
            <a:ext cx="39814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28742" y="899248"/>
            <a:ext cx="198804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二、明细栏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858370" y="1566123"/>
            <a:ext cx="10475259" cy="757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明细栏是</a:t>
            </a:r>
            <a:r>
              <a:rPr lang="zh-CN" altLang="en-US" dirty="0"/>
              <a:t>是填写各零件序号、规格、名称、材料和数量等内容的表格。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部件全部零件的详细目录。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58369" y="2447487"/>
            <a:ext cx="10295140" cy="757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    明细栏在标题栏的上方，当位置不够时可移一部分紧接标题栏左边继续填写 。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642"/>
          <a:stretch>
            <a:fillRect/>
          </a:stretch>
        </p:blipFill>
        <p:spPr bwMode="auto">
          <a:xfrm>
            <a:off x="2607717" y="4168835"/>
            <a:ext cx="4009159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7897754" y="5888148"/>
            <a:ext cx="111280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标题栏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94383" y="5443164"/>
            <a:ext cx="37814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537428" y="3328851"/>
            <a:ext cx="4216670" cy="1421928"/>
          </a:xfrm>
          <a:prstGeom prst="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注意：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明细栏中的零件序号应与装配图中的零件编号一致，并且由下往上填写，因此，</a:t>
            </a:r>
            <a:r>
              <a:rPr lang="zh-CN" altLang="en-US" dirty="0">
                <a:latin typeface="宋体" pitchFamily="2" charset="-122"/>
              </a:rPr>
              <a:t>应先编零件序号再填明细栏</a:t>
            </a:r>
            <a:endParaRPr lang="zh-CN" altLang="en-US" dirty="0"/>
          </a:p>
        </p:txBody>
      </p:sp>
      <p:sp>
        <p:nvSpPr>
          <p:cNvPr id="13" name="Rectangle 67"/>
          <p:cNvSpPr>
            <a:spLocks noChangeArrowheads="1"/>
          </p:cNvSpPr>
          <p:nvPr/>
        </p:nvSpPr>
        <p:spPr bwMode="auto">
          <a:xfrm>
            <a:off x="3103418" y="255731"/>
            <a:ext cx="6002482" cy="575543"/>
          </a:xfrm>
          <a:prstGeom prst="rect">
            <a:avLst/>
          </a:prstGeom>
          <a:gradFill rotWithShape="0">
            <a:gsLst>
              <a:gs pos="0">
                <a:srgbClr val="FF66FF"/>
              </a:gs>
              <a:gs pos="50000">
                <a:schemeClr val="bg1"/>
              </a:gs>
              <a:gs pos="100000">
                <a:srgbClr val="FF66FF"/>
              </a:gs>
            </a:gsLst>
            <a:lin ang="5400000" scaled="1"/>
          </a:gradFill>
          <a:ln w="9525" cmpd="dbl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装配图中零件的序号和明细栏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9" grpId="0" autoUpdateAnimBg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 r="80068" b="12590"/>
          <a:stretch>
            <a:fillRect/>
          </a:stretch>
        </p:blipFill>
        <p:spPr bwMode="auto">
          <a:xfrm>
            <a:off x="4540970" y="1450214"/>
            <a:ext cx="1466130" cy="251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矩形 1"/>
          <p:cNvSpPr/>
          <p:nvPr/>
        </p:nvSpPr>
        <p:spPr>
          <a:xfrm>
            <a:off x="3443096" y="288715"/>
            <a:ext cx="5465374" cy="584775"/>
          </a:xfrm>
          <a:prstGeom prst="rect">
            <a:avLst/>
          </a:prstGeom>
          <a:gradFill>
            <a:gsLst>
              <a:gs pos="0">
                <a:srgbClr val="FFCC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2060"/>
                </a:solidFill>
              </a:rPr>
              <a:t>装配图中合理的装配结构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95520" y="873490"/>
            <a:ext cx="3732068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．接触面的结构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27200" y="1557252"/>
            <a:ext cx="2621843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两零件接触时，同一方向一般只能有一个面接触</a:t>
            </a: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l="31391" r="44259" b="13604"/>
          <a:stretch>
            <a:fillRect/>
          </a:stretch>
        </p:blipFill>
        <p:spPr bwMode="auto">
          <a:xfrm>
            <a:off x="6308444" y="1422576"/>
            <a:ext cx="1702231" cy="23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 l="66382" b="14683"/>
          <a:stretch>
            <a:fillRect/>
          </a:stretch>
        </p:blipFill>
        <p:spPr bwMode="auto">
          <a:xfrm>
            <a:off x="8271184" y="1586454"/>
            <a:ext cx="2193616" cy="2177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 l="32306" r="43161"/>
          <a:stretch>
            <a:fillRect/>
          </a:stretch>
        </p:blipFill>
        <p:spPr bwMode="auto">
          <a:xfrm>
            <a:off x="6295745" y="3766618"/>
            <a:ext cx="1717955" cy="1951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 r="80707"/>
          <a:stretch>
            <a:fillRect/>
          </a:stretch>
        </p:blipFill>
        <p:spPr bwMode="auto">
          <a:xfrm>
            <a:off x="4648005" y="3931172"/>
            <a:ext cx="1270195" cy="1834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 l="68998"/>
          <a:stretch>
            <a:fillRect/>
          </a:stretch>
        </p:blipFill>
        <p:spPr bwMode="auto">
          <a:xfrm>
            <a:off x="8318501" y="3970964"/>
            <a:ext cx="1872606" cy="168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图片 12" descr="笑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7870" y="2813463"/>
            <a:ext cx="366887" cy="370484"/>
          </a:xfrm>
          <a:prstGeom prst="rect">
            <a:avLst/>
          </a:prstGeom>
        </p:spPr>
      </p:pic>
      <p:pic>
        <p:nvPicPr>
          <p:cNvPr id="14" name="图片 13" descr="生气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1984" y="4940228"/>
            <a:ext cx="330588" cy="330588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5062219" y="2661921"/>
            <a:ext cx="504000" cy="56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6687820" y="2603501"/>
            <a:ext cx="972000" cy="1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笑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9210" y="2838863"/>
            <a:ext cx="366887" cy="370484"/>
          </a:xfrm>
          <a:prstGeom prst="rect">
            <a:avLst/>
          </a:prstGeom>
        </p:spPr>
      </p:pic>
      <p:pic>
        <p:nvPicPr>
          <p:cNvPr id="20" name="图片 19" descr="生气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45084" y="4991028"/>
            <a:ext cx="330588" cy="330588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8555038" y="2309484"/>
            <a:ext cx="1046163" cy="700416"/>
            <a:chOff x="6116637" y="2843528"/>
            <a:chExt cx="1104266" cy="604522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6116637" y="2853054"/>
              <a:ext cx="180340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7040563" y="2843528"/>
              <a:ext cx="180340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360795" y="3448050"/>
              <a:ext cx="573405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 descr="笑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00410" y="2876963"/>
            <a:ext cx="366887" cy="370484"/>
          </a:xfrm>
          <a:prstGeom prst="rect">
            <a:avLst/>
          </a:prstGeom>
        </p:spPr>
      </p:pic>
      <p:pic>
        <p:nvPicPr>
          <p:cNvPr id="28" name="图片 27" descr="生气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6284" y="5130728"/>
            <a:ext cx="330588" cy="330588"/>
          </a:xfrm>
          <a:prstGeom prst="rect">
            <a:avLst/>
          </a:prstGeom>
        </p:spPr>
      </p:pic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4902218" y="5724574"/>
            <a:ext cx="5288889" cy="830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零件之间有锥面接触时，要在结构上保证锥面的接触</a:t>
            </a:r>
            <a:endParaRPr lang="zh-CN" altLang="en-US" dirty="0">
              <a:solidFill>
                <a:schemeClr val="tx1"/>
              </a:solidFill>
              <a:latin typeface="宋体" pitchFamily="2" charset="-122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67794" y="2876963"/>
            <a:ext cx="14097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" name="图片 33" descr="笑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9214" y="4175951"/>
            <a:ext cx="366887" cy="370484"/>
          </a:xfrm>
          <a:prstGeom prst="rect">
            <a:avLst/>
          </a:prstGeom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10658" y="4740688"/>
            <a:ext cx="13239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图片 35" descr="生气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5228" y="5832816"/>
            <a:ext cx="330588" cy="3305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8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6"/>
                                            </p:cond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0"/>
                            </p:stCondLst>
                            <p:childTnLst>
                              <p:par>
                                <p:cTn id="10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3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5843" y="4744752"/>
            <a:ext cx="3894859" cy="172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289122" y="1532120"/>
            <a:ext cx="9307160" cy="830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         轴与孔配合时，</a:t>
            </a:r>
            <a:r>
              <a:rPr lang="zh-CN" altLang="en-US" dirty="0">
                <a:solidFill>
                  <a:srgbClr val="FF0000"/>
                </a:solidFill>
              </a:rPr>
              <a:t>轴肩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dirty="0">
                <a:solidFill>
                  <a:srgbClr val="FF0000"/>
                </a:solidFill>
              </a:rPr>
              <a:t>孔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端面</a:t>
            </a:r>
            <a:r>
              <a:rPr lang="zh-CN" altLang="en-US" dirty="0">
                <a:solidFill>
                  <a:schemeClr val="tx1"/>
                </a:solidFill>
              </a:rPr>
              <a:t>互相</a:t>
            </a:r>
            <a:r>
              <a:rPr lang="zh-CN" altLang="en-US" dirty="0">
                <a:solidFill>
                  <a:srgbClr val="FF0000"/>
                </a:solidFill>
              </a:rPr>
              <a:t>接触</a:t>
            </a:r>
            <a:r>
              <a:rPr lang="zh-CN" altLang="en-US" dirty="0">
                <a:solidFill>
                  <a:schemeClr val="tx1"/>
                </a:solidFill>
              </a:rPr>
              <a:t>，应在</a:t>
            </a:r>
            <a:r>
              <a:rPr lang="zh-CN" altLang="en-US" dirty="0">
                <a:solidFill>
                  <a:srgbClr val="FF0000"/>
                </a:solidFill>
              </a:rPr>
              <a:t>轴肩根部切槽</a:t>
            </a:r>
            <a:r>
              <a:rPr lang="zh-CN" altLang="en-US" dirty="0">
                <a:solidFill>
                  <a:schemeClr val="tx1"/>
                </a:solidFill>
              </a:rPr>
              <a:t>或在</a:t>
            </a:r>
            <a:r>
              <a:rPr lang="zh-CN" altLang="en-US" dirty="0">
                <a:solidFill>
                  <a:srgbClr val="FF0000"/>
                </a:solidFill>
              </a:rPr>
              <a:t>孔的端部</a:t>
            </a:r>
            <a:r>
              <a:rPr lang="zh-CN" altLang="en-US" dirty="0">
                <a:solidFill>
                  <a:schemeClr val="tx1"/>
                </a:solidFill>
              </a:rPr>
              <a:t>加工出</a:t>
            </a:r>
            <a:r>
              <a:rPr lang="zh-CN" altLang="en-US" dirty="0">
                <a:solidFill>
                  <a:srgbClr val="FF0000"/>
                </a:solidFill>
              </a:rPr>
              <a:t>倒角</a:t>
            </a:r>
            <a:endParaRPr lang="zh-CN" altLang="en-US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43096" y="288715"/>
            <a:ext cx="5465374" cy="584775"/>
          </a:xfrm>
          <a:prstGeom prst="rect">
            <a:avLst/>
          </a:prstGeom>
          <a:gradFill>
            <a:gsLst>
              <a:gs pos="0">
                <a:srgbClr val="FFCC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2060"/>
                </a:solidFill>
              </a:rPr>
              <a:t>装配图中合理的装配结构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92573" y="879615"/>
            <a:ext cx="3732068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．接触面的结构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 r="24640"/>
          <a:stretch>
            <a:fillRect/>
          </a:stretch>
        </p:blipFill>
        <p:spPr bwMode="auto">
          <a:xfrm>
            <a:off x="2017485" y="2594302"/>
            <a:ext cx="6081487" cy="162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 l="77788"/>
          <a:stretch>
            <a:fillRect/>
          </a:stretch>
        </p:blipFill>
        <p:spPr bwMode="auto">
          <a:xfrm>
            <a:off x="8273147" y="2601562"/>
            <a:ext cx="1792513" cy="162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4030" y="2985182"/>
            <a:ext cx="3965121" cy="161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72450" y="3021014"/>
            <a:ext cx="1720850" cy="155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图片 11" descr="生气.jp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8984" y="3594028"/>
            <a:ext cx="330588" cy="330588"/>
          </a:xfrm>
          <a:prstGeom prst="rect">
            <a:avLst/>
          </a:prstGeom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588251" y="5096453"/>
            <a:ext cx="3175301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在螺纹连接结构设计时，要充分考虑螺纹联接的紧固性</a:t>
            </a:r>
            <a:endParaRPr lang="zh-CN" altLang="en-US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092573" y="4448320"/>
            <a:ext cx="300355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螺纹连接结构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7"/>
          <a:srcRect r="50000"/>
          <a:stretch>
            <a:fillRect/>
          </a:stretch>
        </p:blipFill>
        <p:spPr bwMode="auto">
          <a:xfrm>
            <a:off x="5430982" y="4742153"/>
            <a:ext cx="1828801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7"/>
          <a:srcRect l="52273"/>
          <a:stretch>
            <a:fillRect/>
          </a:stretch>
        </p:blipFill>
        <p:spPr bwMode="auto">
          <a:xfrm>
            <a:off x="7661569" y="4728293"/>
            <a:ext cx="1745672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图片 16" descr="笑.jpg"/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6016" y="6083135"/>
            <a:ext cx="366887" cy="370484"/>
          </a:xfrm>
          <a:prstGeom prst="rect">
            <a:avLst/>
          </a:prstGeom>
        </p:spPr>
      </p:pic>
      <p:pic>
        <p:nvPicPr>
          <p:cNvPr id="18" name="图片 17" descr="生气.jp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3857" y="6143265"/>
            <a:ext cx="330588" cy="3305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 autoUpdateAnimBg="0"/>
      <p:bldP spid="13" grpId="0" animBg="1" autoUpdateAnimBg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43096" y="288715"/>
            <a:ext cx="5465374" cy="584775"/>
          </a:xfrm>
          <a:prstGeom prst="rect">
            <a:avLst/>
          </a:prstGeom>
          <a:gradFill>
            <a:gsLst>
              <a:gs pos="0">
                <a:srgbClr val="FFCC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2060"/>
                </a:solidFill>
              </a:rPr>
              <a:t>装配图中合理的装配结构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133263" y="916488"/>
            <a:ext cx="300355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螺纹连接结构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03567" y="1530391"/>
            <a:ext cx="97061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        为保证螺纹</a:t>
            </a:r>
            <a:r>
              <a:rPr lang="zh-CN" altLang="en-US" dirty="0">
                <a:solidFill>
                  <a:srgbClr val="FF0000"/>
                </a:solidFill>
              </a:rPr>
              <a:t>拧紧</a:t>
            </a:r>
            <a:r>
              <a:rPr lang="zh-CN" altLang="en-US" dirty="0">
                <a:solidFill>
                  <a:schemeClr val="tx1"/>
                </a:solidFill>
              </a:rPr>
              <a:t>，且</a:t>
            </a:r>
            <a:r>
              <a:rPr lang="zh-CN" altLang="en-US" dirty="0">
                <a:solidFill>
                  <a:srgbClr val="FF0000"/>
                </a:solidFill>
              </a:rPr>
              <a:t>减少</a:t>
            </a:r>
            <a:r>
              <a:rPr lang="zh-CN" altLang="en-US" dirty="0">
                <a:solidFill>
                  <a:schemeClr val="tx1"/>
                </a:solidFill>
              </a:rPr>
              <a:t>加工面</a:t>
            </a:r>
            <a:r>
              <a:rPr lang="zh-CN" altLang="en-US" dirty="0">
                <a:solidFill>
                  <a:srgbClr val="FF0000"/>
                </a:solidFill>
              </a:rPr>
              <a:t>面积</a:t>
            </a:r>
            <a:r>
              <a:rPr lang="zh-CN" altLang="en-US" dirty="0">
                <a:solidFill>
                  <a:schemeClr val="tx1"/>
                </a:solidFill>
              </a:rPr>
              <a:t>，通常在被联接件表面</a:t>
            </a:r>
            <a:r>
              <a:rPr lang="zh-CN" altLang="en-US" dirty="0">
                <a:solidFill>
                  <a:srgbClr val="FF0000"/>
                </a:solidFill>
              </a:rPr>
              <a:t>设计</a:t>
            </a:r>
            <a:r>
              <a:rPr lang="zh-CN" altLang="en-US" dirty="0">
                <a:solidFill>
                  <a:schemeClr val="tx1"/>
                </a:solidFill>
              </a:rPr>
              <a:t>出</a:t>
            </a:r>
            <a:endParaRPr lang="zh-CN" altLang="en-US" dirty="0">
              <a:solidFill>
                <a:srgbClr val="FF0000"/>
              </a:solidFill>
              <a:latin typeface="宋体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5168" y="2435371"/>
            <a:ext cx="415290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1924" y="2413466"/>
            <a:ext cx="41338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3557137" y="2187292"/>
            <a:ext cx="803425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凸台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105045" y="2079778"/>
            <a:ext cx="803425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凹坑</a:t>
            </a:r>
            <a:endParaRPr lang="zh-CN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9989" y="2736850"/>
            <a:ext cx="38576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97613" y="2723215"/>
            <a:ext cx="37623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133263" y="4301094"/>
            <a:ext cx="256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定位结构</a:t>
            </a:r>
          </a:p>
        </p:txBody>
      </p:sp>
      <p:pic>
        <p:nvPicPr>
          <p:cNvPr id="13" name="Picture 3" descr="10-11"/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679404" y="4706943"/>
            <a:ext cx="4154488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1110508" y="906682"/>
            <a:ext cx="291465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．可拆装结构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1387746" y="1560297"/>
            <a:ext cx="243330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在画装配图时，要考虑方便零件的装拆。</a:t>
            </a:r>
            <a:endParaRPr lang="zh-CN" altLang="en-US" dirty="0">
              <a:solidFill>
                <a:srgbClr val="0070C0"/>
              </a:solidFill>
              <a:latin typeface="宋体" pitchFamily="2" charset="-122"/>
            </a:endParaRPr>
          </a:p>
        </p:txBody>
      </p:sp>
      <p:pic>
        <p:nvPicPr>
          <p:cNvPr id="69637" name="Picture 3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131100" y="1283396"/>
            <a:ext cx="5618018" cy="2649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3443096" y="288715"/>
            <a:ext cx="5465374" cy="584775"/>
          </a:xfrm>
          <a:prstGeom prst="rect">
            <a:avLst/>
          </a:prstGeom>
          <a:gradFill>
            <a:gsLst>
              <a:gs pos="0">
                <a:srgbClr val="FFCC99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2060"/>
                </a:solidFill>
              </a:rPr>
              <a:t>装配图中合理的装配结构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124199" y="2905780"/>
            <a:ext cx="231889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．密封结构</a:t>
            </a:r>
          </a:p>
        </p:txBody>
      </p:sp>
      <p:pic>
        <p:nvPicPr>
          <p:cNvPr id="8" name="Picture 2" descr="12-15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698727" y="3931708"/>
            <a:ext cx="6050391" cy="2302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319725" y="3719307"/>
            <a:ext cx="2123371" cy="236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 防止部件内部的液体或气体渗漏，灰尘进入部件内，部件要设计出设置密封结构。</a:t>
            </a:r>
            <a:endParaRPr lang="zh-CN" altLang="en-US" dirty="0">
              <a:solidFill>
                <a:srgbClr val="0070C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7" grpId="0"/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15" name="Picture 4" descr="12-1(b)">
            <a:extLst>
              <a:ext uri="{FF2B5EF4-FFF2-40B4-BE49-F238E27FC236}">
                <a16:creationId xmlns:a16="http://schemas.microsoft.com/office/drawing/2014/main" id="{1B9F67D4-8F21-4A0D-B897-3ADD2975E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6204" y="1839218"/>
            <a:ext cx="2861289" cy="273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5" descr="12-1">
            <a:extLst>
              <a:ext uri="{FF2B5EF4-FFF2-40B4-BE49-F238E27FC236}">
                <a16:creationId xmlns:a16="http://schemas.microsoft.com/office/drawing/2014/main" id="{E5258CA8-24A5-430D-83DB-BF1B4B691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2166" y="1839218"/>
            <a:ext cx="6184685" cy="433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652984" y="1376234"/>
            <a:ext cx="91534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在分析部件，确定视图表达方案的基础上，按下列步骤画图。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53646" y="1986995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以</a:t>
            </a:r>
            <a:r>
              <a:rPr lang="zh-CN" altLang="en-US" dirty="0"/>
              <a:t>球阀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为例。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201100" y="3304649"/>
            <a:ext cx="3413691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根据部件的大小，视图数量</a:t>
            </a: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, 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确定画图的比例、图幅大小，画出图框，留出标题栏和明细栏的位置。 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053646" y="2645822"/>
            <a:ext cx="23492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⒈ </a:t>
            </a:r>
            <a:r>
              <a:rPr lang="zh-CN" altLang="en-US" dirty="0">
                <a:latin typeface="宋体" pitchFamily="2" charset="-122"/>
              </a:rPr>
              <a:t>确定图幅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7770" y="2024186"/>
            <a:ext cx="56673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05630" y="5446759"/>
            <a:ext cx="2658773" cy="653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46"/>
          <a:stretch>
            <a:fillRect/>
          </a:stretch>
        </p:blipFill>
        <p:spPr bwMode="auto">
          <a:xfrm>
            <a:off x="7942824" y="4616327"/>
            <a:ext cx="2592388" cy="866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184392" y="5542407"/>
            <a:ext cx="2074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2. </a:t>
            </a:r>
            <a:r>
              <a:rPr lang="zh-CN" altLang="en-US" dirty="0">
                <a:latin typeface="宋体" pitchFamily="2" charset="-122"/>
              </a:rPr>
              <a:t>布置视图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184392" y="6111069"/>
            <a:ext cx="55562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画各视图的主要基线。留有适当间隔。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75874" y="2700121"/>
            <a:ext cx="41243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/>
          <a:srcRect t="65405"/>
          <a:stretch>
            <a:fillRect/>
          </a:stretch>
        </p:blipFill>
        <p:spPr bwMode="auto">
          <a:xfrm>
            <a:off x="5648885" y="4249521"/>
            <a:ext cx="1714500" cy="82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11" grpId="0" autoUpdateAnimBg="0"/>
      <p:bldP spid="1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9405" y="1414463"/>
            <a:ext cx="7452014" cy="54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024126" y="938512"/>
            <a:ext cx="26812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3. </a:t>
            </a:r>
            <a:r>
              <a:rPr lang="zh-CN" altLang="en-US" dirty="0">
                <a:latin typeface="宋体" pitchFamily="2" charset="-122"/>
              </a:rPr>
              <a:t>画主要装配线</a:t>
            </a:r>
          </a:p>
        </p:txBody>
      </p:sp>
      <p:sp>
        <p:nvSpPr>
          <p:cNvPr id="4" name="矩形 3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7256" y="3212309"/>
            <a:ext cx="400932" cy="79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86164" y="2533322"/>
            <a:ext cx="2014537" cy="180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05274" y="3209440"/>
            <a:ext cx="914402" cy="779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19538" y="2314298"/>
            <a:ext cx="1690687" cy="2007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5781" y="3043123"/>
            <a:ext cx="492921" cy="142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78330" y="2172446"/>
            <a:ext cx="41523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567113" y="2321061"/>
            <a:ext cx="2081212" cy="201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66801" y="2862264"/>
            <a:ext cx="467138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29114" y="2688519"/>
            <a:ext cx="533399" cy="29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0" name="Picture 18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881439" y="2299526"/>
            <a:ext cx="1757361" cy="204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1" name="Picture 19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705725" y="2305311"/>
            <a:ext cx="1485901" cy="211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" name="Picture 20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7750" y="4521201"/>
            <a:ext cx="3092450" cy="213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>
            <a:hlinkClick r:id="rId15" action="ppaction://hlinksldjump"/>
          </p:cNvPr>
          <p:cNvSpPr txBox="1"/>
          <p:nvPr/>
        </p:nvSpPr>
        <p:spPr>
          <a:xfrm>
            <a:off x="5500255" y="2549236"/>
            <a:ext cx="1884218" cy="400110"/>
          </a:xfrm>
          <a:prstGeom prst="rect">
            <a:avLst/>
          </a:prstGeom>
          <a:solidFill>
            <a:srgbClr val="FFFF66"/>
          </a:solidFill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放大主视图？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5231" y="1456026"/>
            <a:ext cx="7416078" cy="531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970826" y="970471"/>
            <a:ext cx="439780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宋体" pitchFamily="2" charset="-122"/>
              </a:rPr>
              <a:t>⒋ </a:t>
            </a:r>
            <a:r>
              <a:rPr lang="zh-CN" altLang="en-US" dirty="0">
                <a:latin typeface="宋体" pitchFamily="2" charset="-122"/>
              </a:rPr>
              <a:t>画其它装配线及细部结构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5527964" y="2576946"/>
            <a:ext cx="1884219" cy="400110"/>
          </a:xfrm>
          <a:prstGeom prst="rect">
            <a:avLst/>
          </a:prstGeom>
          <a:solidFill>
            <a:srgbClr val="FFFF66"/>
          </a:solidFill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放大主视图？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2051"/>
          <p:cNvSpPr txBox="1">
            <a:spLocks noChangeArrowheads="1"/>
          </p:cNvSpPr>
          <p:nvPr/>
        </p:nvSpPr>
        <p:spPr bwMode="auto">
          <a:xfrm>
            <a:off x="960161" y="889654"/>
            <a:ext cx="2647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⒌  </a:t>
            </a:r>
            <a:r>
              <a:rPr lang="zh-CN" altLang="en-US" dirty="0">
                <a:latin typeface="宋体" pitchFamily="2" charset="-122"/>
              </a:rPr>
              <a:t>完成装配图</a:t>
            </a:r>
          </a:p>
        </p:txBody>
      </p:sp>
      <p:sp>
        <p:nvSpPr>
          <p:cNvPr id="63490" name="Text Box 2050"/>
          <p:cNvSpPr txBox="1">
            <a:spLocks noChangeArrowheads="1"/>
          </p:cNvSpPr>
          <p:nvPr/>
        </p:nvSpPr>
        <p:spPr bwMode="auto">
          <a:xfrm>
            <a:off x="880921" y="1706895"/>
            <a:ext cx="2305563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★检查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无误后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加深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图线，画剖面线。</a:t>
            </a:r>
          </a:p>
        </p:txBody>
      </p:sp>
      <p:sp>
        <p:nvSpPr>
          <p:cNvPr id="5" name="矩形 4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302" y="1462852"/>
            <a:ext cx="7438095" cy="5114286"/>
          </a:xfrm>
          <a:prstGeom prst="rect">
            <a:avLst/>
          </a:prstGeom>
        </p:spPr>
      </p:pic>
      <p:sp>
        <p:nvSpPr>
          <p:cNvPr id="6" name="Text Box 2050">
            <a:extLst>
              <a:ext uri="{FF2B5EF4-FFF2-40B4-BE49-F238E27FC236}">
                <a16:creationId xmlns:a16="http://schemas.microsoft.com/office/drawing/2014/main" id="{8CA10B42-EEB5-46F6-B803-00BEEBDFF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577" y="3031967"/>
            <a:ext cx="172408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★标尺寸</a:t>
            </a:r>
            <a:endParaRPr lang="zh-CN" altLang="en-US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7" name="Text Box 2050">
            <a:extLst>
              <a:ext uri="{FF2B5EF4-FFF2-40B4-BE49-F238E27FC236}">
                <a16:creationId xmlns:a16="http://schemas.microsoft.com/office/drawing/2014/main" id="{3989C9D7-248E-46E6-804E-1682C760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30" y="3636995"/>
            <a:ext cx="2305563" cy="2308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对零件进行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编号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填写明细栏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标题栏</a:t>
            </a: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</a:t>
            </a:r>
            <a:r>
              <a:rPr lang="zh-CN" altLang="en-US" dirty="0">
                <a:solidFill>
                  <a:srgbClr val="0070C0"/>
                </a:solidFill>
                <a:latin typeface="宋体" pitchFamily="2" charset="-122"/>
              </a:rPr>
              <a:t>书写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技术要求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等，完成装配图。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" grpId="0" autoUpdateAnimBg="0"/>
      <p:bldP spid="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9067" y="344130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用</a:t>
            </a:r>
            <a:r>
              <a:rPr 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绘制机械装配图</a:t>
            </a:r>
          </a:p>
        </p:txBody>
      </p:sp>
      <p:sp>
        <p:nvSpPr>
          <p:cNvPr id="4" name="矩形 3"/>
          <p:cNvSpPr/>
          <p:nvPr/>
        </p:nvSpPr>
        <p:spPr>
          <a:xfrm>
            <a:off x="1143128" y="948429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建立零件图块</a:t>
            </a:r>
          </a:p>
        </p:txBody>
      </p:sp>
      <p:sp>
        <p:nvSpPr>
          <p:cNvPr id="5" name="矩形 4"/>
          <p:cNvSpPr/>
          <p:nvPr/>
        </p:nvSpPr>
        <p:spPr>
          <a:xfrm>
            <a:off x="1551710" y="1429618"/>
            <a:ext cx="8063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dirty="0" err="1"/>
              <a:t>WBlock</a:t>
            </a:r>
            <a:r>
              <a:rPr lang="zh-CN" altLang="en-US" dirty="0">
                <a:solidFill>
                  <a:schemeClr val="tx1"/>
                </a:solidFill>
              </a:rPr>
              <a:t>命令分别将零件的有关视图</a:t>
            </a:r>
            <a:r>
              <a:rPr lang="zh-CN" altLang="en-US" dirty="0"/>
              <a:t>建成图块保存</a:t>
            </a:r>
            <a:r>
              <a:rPr lang="zh-CN" altLang="en-US" dirty="0">
                <a:solidFill>
                  <a:schemeClr val="tx1"/>
                </a:solidFill>
              </a:rPr>
              <a:t>起来。</a:t>
            </a:r>
          </a:p>
        </p:txBody>
      </p:sp>
      <p:sp>
        <p:nvSpPr>
          <p:cNvPr id="6" name="矩形 5"/>
          <p:cNvSpPr/>
          <p:nvPr/>
        </p:nvSpPr>
        <p:spPr>
          <a:xfrm>
            <a:off x="1284080" y="2105785"/>
            <a:ext cx="32973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一个视图或剖视图建成一个图块</a:t>
            </a:r>
          </a:p>
        </p:txBody>
      </p:sp>
      <p:pic>
        <p:nvPicPr>
          <p:cNvPr id="5122" name="Picture 2" descr="14-68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934479" y="2105785"/>
            <a:ext cx="5916728" cy="4173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AA54F61-B77E-4C7A-A422-9F0B695D8C0A}"/>
              </a:ext>
            </a:extLst>
          </p:cNvPr>
          <p:cNvSpPr/>
          <p:nvPr/>
        </p:nvSpPr>
        <p:spPr>
          <a:xfrm>
            <a:off x="1284080" y="3094538"/>
            <a:ext cx="32973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视图和剖视图中</a:t>
            </a:r>
            <a:r>
              <a:rPr lang="zh-CN" altLang="en-US" dirty="0">
                <a:solidFill>
                  <a:srgbClr val="FF0000"/>
                </a:solidFill>
              </a:rPr>
              <a:t>有标注</a:t>
            </a:r>
            <a:r>
              <a:rPr lang="zh-CN" altLang="en-US" dirty="0">
                <a:solidFill>
                  <a:srgbClr val="0070C0"/>
                </a:solidFill>
              </a:rPr>
              <a:t>（尺寸、文字等）建立图块前应先</a:t>
            </a:r>
            <a:r>
              <a:rPr lang="zh-CN" altLang="en-US" dirty="0">
                <a:solidFill>
                  <a:srgbClr val="FF0000"/>
                </a:solidFill>
              </a:rPr>
              <a:t>擦去</a:t>
            </a:r>
            <a:r>
              <a:rPr lang="zh-CN" altLang="en-US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7CB553-A724-44A1-9496-29E5A54EAAD7}"/>
              </a:ext>
            </a:extLst>
          </p:cNvPr>
          <p:cNvSpPr/>
          <p:nvPr/>
        </p:nvSpPr>
        <p:spPr>
          <a:xfrm>
            <a:off x="1292746" y="4452624"/>
            <a:ext cx="32973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选择各图块的插入</a:t>
            </a:r>
            <a:r>
              <a:rPr lang="zh-CN" altLang="en-US" dirty="0">
                <a:solidFill>
                  <a:srgbClr val="FF0000"/>
                </a:solidFill>
              </a:rPr>
              <a:t>基准点</a:t>
            </a:r>
            <a:r>
              <a:rPr lang="zh-CN" altLang="en-US" dirty="0">
                <a:solidFill>
                  <a:srgbClr val="0070C0"/>
                </a:solidFill>
              </a:rPr>
              <a:t>时，要选择能方便、准确地在装配图上</a:t>
            </a:r>
            <a:r>
              <a:rPr lang="zh-CN" altLang="en-US" dirty="0">
                <a:solidFill>
                  <a:srgbClr val="FF0000"/>
                </a:solidFill>
              </a:rPr>
              <a:t>定位</a:t>
            </a:r>
            <a:r>
              <a:rPr lang="zh-CN" altLang="en-US" dirty="0">
                <a:solidFill>
                  <a:srgbClr val="0070C0"/>
                </a:solidFill>
              </a:rPr>
              <a:t>的点。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2171" y="926879"/>
            <a:ext cx="219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拼画装配图</a:t>
            </a:r>
          </a:p>
        </p:txBody>
      </p:sp>
      <p:sp>
        <p:nvSpPr>
          <p:cNvPr id="3" name="矩形 2"/>
          <p:cNvSpPr/>
          <p:nvPr/>
        </p:nvSpPr>
        <p:spPr>
          <a:xfrm>
            <a:off x="3209067" y="344130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用</a:t>
            </a:r>
            <a:r>
              <a:rPr 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绘制机械装配图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972170" y="1562892"/>
            <a:ext cx="10014077" cy="948797"/>
            <a:chOff x="514346" y="1731671"/>
            <a:chExt cx="8301042" cy="957682"/>
          </a:xfrm>
        </p:grpSpPr>
        <p:sp>
          <p:nvSpPr>
            <p:cNvPr id="15" name="矩形 14"/>
            <p:cNvSpPr/>
            <p:nvPr/>
          </p:nvSpPr>
          <p:spPr>
            <a:xfrm>
              <a:off x="1140837" y="1757295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在菜单栏单击</a:t>
              </a:r>
            </a:p>
          </p:txBody>
        </p:sp>
        <p:pic>
          <p:nvPicPr>
            <p:cNvPr id="6156" name="Picture 12" descr="14-67-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784184" y="1790184"/>
              <a:ext cx="1433246" cy="380706"/>
            </a:xfrm>
            <a:prstGeom prst="rect">
              <a:avLst/>
            </a:prstGeom>
            <a:noFill/>
          </p:spPr>
        </p:pic>
        <p:pic>
          <p:nvPicPr>
            <p:cNvPr id="6159" name="Picture 15" descr="14-67-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36183" y="1791723"/>
              <a:ext cx="1637550" cy="388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矩形 20"/>
            <p:cNvSpPr/>
            <p:nvPr/>
          </p:nvSpPr>
          <p:spPr>
            <a:xfrm>
              <a:off x="5873733" y="1731671"/>
              <a:ext cx="26741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执行</a:t>
              </a:r>
              <a:r>
                <a:rPr lang="en-US" dirty="0">
                  <a:solidFill>
                    <a:schemeClr val="tx1"/>
                  </a:solidFill>
                </a:rPr>
                <a:t>Insert</a:t>
              </a:r>
              <a:r>
                <a:rPr lang="zh-CN" altLang="en-US" dirty="0">
                  <a:solidFill>
                    <a:schemeClr val="tx1"/>
                  </a:solidFill>
                </a:rPr>
                <a:t>命令，插入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514346" y="2227688"/>
              <a:ext cx="830104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组成旋塞阀的各零件图块，构造未经修改的旋塞阀装配图。</a:t>
              </a:r>
            </a:p>
          </p:txBody>
        </p:sp>
      </p:grpSp>
      <p:sp>
        <p:nvSpPr>
          <p:cNvPr id="24" name="矩形 23"/>
          <p:cNvSpPr/>
          <p:nvPr/>
        </p:nvSpPr>
        <p:spPr>
          <a:xfrm>
            <a:off x="1239736" y="3787369"/>
            <a:ext cx="1276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构造装配图时要注意</a:t>
            </a:r>
          </a:p>
        </p:txBody>
      </p:sp>
      <p:sp>
        <p:nvSpPr>
          <p:cNvPr id="25" name="矩形 24"/>
          <p:cNvSpPr/>
          <p:nvPr/>
        </p:nvSpPr>
        <p:spPr>
          <a:xfrm>
            <a:off x="2921640" y="2717647"/>
            <a:ext cx="81326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绘图环境设置：</a:t>
            </a:r>
            <a:r>
              <a:rPr lang="zh-CN" altLang="en-US" sz="2000" dirty="0">
                <a:solidFill>
                  <a:srgbClr val="0070C0"/>
                </a:solidFill>
              </a:rPr>
              <a:t>应与各零件图一致，如图层、颜色、线型等。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7EF9CB-085E-4B7E-BCD7-0917F58DBA9B}"/>
              </a:ext>
            </a:extLst>
          </p:cNvPr>
          <p:cNvSpPr/>
          <p:nvPr/>
        </p:nvSpPr>
        <p:spPr>
          <a:xfrm>
            <a:off x="2921640" y="3403280"/>
            <a:ext cx="8030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2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调整各零件的绘图比例：</a:t>
            </a:r>
            <a:r>
              <a:rPr lang="zh-CN" altLang="en-US" sz="2000" dirty="0">
                <a:solidFill>
                  <a:srgbClr val="0070C0"/>
                </a:solidFill>
              </a:rPr>
              <a:t>注意块插入时与装配图一致。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FA51AB-8420-44B4-A99F-8B4F87DE64E8}"/>
              </a:ext>
            </a:extLst>
          </p:cNvPr>
          <p:cNvSpPr/>
          <p:nvPr/>
        </p:nvSpPr>
        <p:spPr>
          <a:xfrm>
            <a:off x="2921640" y="4035284"/>
            <a:ext cx="77418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3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插入图块的当前层应为“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”层：</a:t>
            </a:r>
            <a:r>
              <a:rPr lang="zh-CN" altLang="en-US" sz="2000" dirty="0">
                <a:solidFill>
                  <a:srgbClr val="0070C0"/>
                </a:solidFill>
              </a:rPr>
              <a:t>因为图块中“</a:t>
            </a:r>
            <a:r>
              <a:rPr lang="en-US" altLang="zh-CN" sz="2000" dirty="0">
                <a:solidFill>
                  <a:srgbClr val="0070C0"/>
                </a:solidFill>
              </a:rPr>
              <a:t>0</a:t>
            </a:r>
            <a:r>
              <a:rPr lang="zh-CN" altLang="en-US" sz="2000" dirty="0">
                <a:solidFill>
                  <a:srgbClr val="0070C0"/>
                </a:solidFill>
              </a:rPr>
              <a:t>”层上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                     </a:t>
            </a:r>
            <a:r>
              <a:rPr lang="zh-CN" altLang="en-US" sz="2000" dirty="0">
                <a:solidFill>
                  <a:srgbClr val="0070C0"/>
                </a:solidFill>
              </a:rPr>
              <a:t>的对象按当前图层的颜色、线型绘制，而其他图层上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                     </a:t>
            </a:r>
            <a:r>
              <a:rPr lang="zh-CN" altLang="en-US" sz="2000" dirty="0">
                <a:solidFill>
                  <a:srgbClr val="0070C0"/>
                </a:solidFill>
              </a:rPr>
              <a:t>的对象按原信息绘制。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E6734E-F6AE-4DF0-9EA8-FDEB320EA90F}"/>
              </a:ext>
            </a:extLst>
          </p:cNvPr>
          <p:cNvSpPr/>
          <p:nvPr/>
        </p:nvSpPr>
        <p:spPr>
          <a:xfrm>
            <a:off x="2959006" y="5115003"/>
            <a:ext cx="79932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插入点用目标捕捉功能确定：</a:t>
            </a:r>
            <a:r>
              <a:rPr lang="zh-CN" altLang="en-US" sz="2000" dirty="0">
                <a:solidFill>
                  <a:srgbClr val="0070C0"/>
                </a:solidFill>
              </a:rPr>
              <a:t>装配图上的插入点和零件图块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                                                                    </a:t>
            </a:r>
            <a:r>
              <a:rPr lang="zh-CN" altLang="en-US" sz="2000" dirty="0">
                <a:solidFill>
                  <a:srgbClr val="0070C0"/>
                </a:solidFill>
              </a:rPr>
              <a:t>上 的插入点相匹配。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B29C1B-25D0-443E-B24F-016637F099BB}"/>
              </a:ext>
            </a:extLst>
          </p:cNvPr>
          <p:cNvSpPr/>
          <p:nvPr/>
        </p:nvSpPr>
        <p:spPr>
          <a:xfrm>
            <a:off x="2975007" y="5903356"/>
            <a:ext cx="7849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5</a:t>
            </a:r>
            <a:r>
              <a:rPr lang="zh-CN" altLang="en-US" dirty="0">
                <a:solidFill>
                  <a:srgbClr val="0070C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注意插入图块的顺：</a:t>
            </a:r>
            <a:r>
              <a:rPr lang="zh-CN" altLang="en-US" sz="2000" dirty="0">
                <a:solidFill>
                  <a:srgbClr val="0070C0"/>
                </a:solidFill>
              </a:rPr>
              <a:t>为了使各零件装配定位方便。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CBBBE222-A75D-406C-BBC0-5D5CE91474B8}"/>
              </a:ext>
            </a:extLst>
          </p:cNvPr>
          <p:cNvSpPr/>
          <p:nvPr/>
        </p:nvSpPr>
        <p:spPr>
          <a:xfrm>
            <a:off x="2373741" y="2802892"/>
            <a:ext cx="547899" cy="3562129"/>
          </a:xfrm>
          <a:prstGeom prst="leftBrace">
            <a:avLst>
              <a:gd name="adj1" fmla="val 124320"/>
              <a:gd name="adj2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4" grpId="0"/>
      <p:bldP spid="5" grpId="0"/>
      <p:bldP spid="6" grpId="0"/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9067" y="344130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用</a:t>
            </a:r>
            <a:r>
              <a:rPr 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绘制机械装配图</a:t>
            </a:r>
          </a:p>
        </p:txBody>
      </p:sp>
      <p:sp>
        <p:nvSpPr>
          <p:cNvPr id="64513" name="Rectangle 1"/>
          <p:cNvSpPr>
            <a:spLocks noChangeArrowheads="1"/>
          </p:cNvSpPr>
          <p:nvPr/>
        </p:nvSpPr>
        <p:spPr bwMode="auto">
          <a:xfrm>
            <a:off x="1110547" y="928905"/>
            <a:ext cx="26462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3.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修改装配图</a:t>
            </a:r>
            <a:endParaRPr kumimoji="0" lang="zh-CN" altLang="en-US" dirty="0">
              <a:solidFill>
                <a:schemeClr val="tx1"/>
              </a:solidFill>
              <a:latin typeface="Arial" pitchFamily="34" charset="0"/>
              <a:cs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65355" y="1659416"/>
            <a:ext cx="1755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1) </a:t>
            </a:r>
            <a:r>
              <a:rPr lang="zh-CN" altLang="en-US" dirty="0"/>
              <a:t>分解图块</a:t>
            </a:r>
          </a:p>
        </p:txBody>
      </p:sp>
      <p:sp>
        <p:nvSpPr>
          <p:cNvPr id="5" name="矩形 4"/>
          <p:cNvSpPr/>
          <p:nvPr/>
        </p:nvSpPr>
        <p:spPr>
          <a:xfrm>
            <a:off x="1865355" y="2416951"/>
            <a:ext cx="2374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2) </a:t>
            </a:r>
            <a:r>
              <a:rPr lang="zh-CN" altLang="en-US" dirty="0"/>
              <a:t>修改剖面符号</a:t>
            </a:r>
          </a:p>
        </p:txBody>
      </p:sp>
      <p:sp>
        <p:nvSpPr>
          <p:cNvPr id="6" name="矩形 5"/>
          <p:cNvSpPr/>
          <p:nvPr/>
        </p:nvSpPr>
        <p:spPr>
          <a:xfrm>
            <a:off x="1867193" y="3342650"/>
            <a:ext cx="26837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3) </a:t>
            </a:r>
            <a:r>
              <a:rPr lang="zh-CN" altLang="en-US" dirty="0"/>
              <a:t>重叠对象的选取</a:t>
            </a:r>
          </a:p>
        </p:txBody>
      </p:sp>
      <p:sp>
        <p:nvSpPr>
          <p:cNvPr id="7" name="矩形 6"/>
          <p:cNvSpPr/>
          <p:nvPr/>
        </p:nvSpPr>
        <p:spPr>
          <a:xfrm>
            <a:off x="1779544" y="4582761"/>
            <a:ext cx="28590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4) </a:t>
            </a:r>
            <a:r>
              <a:rPr lang="zh-CN" altLang="en-US" dirty="0"/>
              <a:t>在“剖面符号”层绘制填料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3620964" y="1659415"/>
            <a:ext cx="7892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zh-CN" altLang="en-US" dirty="0">
                <a:solidFill>
                  <a:srgbClr val="0070C0"/>
                </a:solidFill>
                <a:cs typeface="Times New Roman" pitchFamily="18" charset="0"/>
              </a:rPr>
              <a:t>用“</a:t>
            </a:r>
            <a:r>
              <a:rPr kumimoji="0" lang="en-US" altLang="zh-CN" dirty="0">
                <a:solidFill>
                  <a:srgbClr val="0070C0"/>
                </a:solidFill>
                <a:cs typeface="Times New Roman" pitchFamily="18" charset="0"/>
              </a:rPr>
              <a:t>Explode</a:t>
            </a:r>
            <a:r>
              <a:rPr kumimoji="0" lang="zh-CN" altLang="en-US" dirty="0">
                <a:solidFill>
                  <a:srgbClr val="0070C0"/>
                </a:solidFill>
                <a:cs typeface="Times New Roman" pitchFamily="18" charset="0"/>
              </a:rPr>
              <a:t>”命令先将图块分解，才能修改其中的图线。</a:t>
            </a:r>
            <a:endParaRPr kumimoji="0" lang="zh-CN" altLang="en-US" dirty="0">
              <a:solidFill>
                <a:srgbClr val="0070C0"/>
              </a:solidFill>
              <a:latin typeface="Arial" pitchFamily="34" charset="0"/>
              <a:cs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20392" y="2730520"/>
            <a:ext cx="70927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零件图块插入后，零件之间经常出现重叠或相距很近的情况。在选取编辑修改的对象时，将光标移到目标处，按住“</a:t>
            </a:r>
            <a:r>
              <a:rPr lang="en-US" dirty="0">
                <a:solidFill>
                  <a:srgbClr val="0070C0"/>
                </a:solidFill>
              </a:rPr>
              <a:t>Shift</a:t>
            </a:r>
            <a:r>
              <a:rPr lang="zh-CN" altLang="en-US" dirty="0">
                <a:solidFill>
                  <a:srgbClr val="0070C0"/>
                </a:solidFill>
              </a:rPr>
              <a:t>”键不动，可反复按“空格键”交替选择对象，选对后单击确认。</a:t>
            </a:r>
          </a:p>
        </p:txBody>
      </p:sp>
      <p:sp>
        <p:nvSpPr>
          <p:cNvPr id="12" name="矩形 11"/>
          <p:cNvSpPr/>
          <p:nvPr/>
        </p:nvSpPr>
        <p:spPr>
          <a:xfrm>
            <a:off x="4420392" y="4413755"/>
            <a:ext cx="69403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在“类型和图案”选项组中的“类型”下拉列表中选择用户定义；在“角度和方向”选项组中的“角度”下拉列表中选择“</a:t>
            </a:r>
            <a:r>
              <a:rPr lang="en-US" dirty="0">
                <a:solidFill>
                  <a:srgbClr val="0070C0"/>
                </a:solidFill>
              </a:rPr>
              <a:t>45</a:t>
            </a:r>
            <a:r>
              <a:rPr lang="zh-CN" altLang="en-US" dirty="0">
                <a:solidFill>
                  <a:srgbClr val="0070C0"/>
                </a:solidFill>
              </a:rPr>
              <a:t>”，并在“双向”前打“∨”，然后确定。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CBB0E455-AA65-4289-BC18-616C33A96523}"/>
              </a:ext>
            </a:extLst>
          </p:cNvPr>
          <p:cNvSpPr/>
          <p:nvPr/>
        </p:nvSpPr>
        <p:spPr>
          <a:xfrm>
            <a:off x="1483713" y="1932443"/>
            <a:ext cx="381642" cy="2993113"/>
          </a:xfrm>
          <a:prstGeom prst="leftBrace">
            <a:avLst>
              <a:gd name="adj1" fmla="val 124320"/>
              <a:gd name="adj2" fmla="val 4894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64516" grpId="0"/>
      <p:bldP spid="11" grpId="0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9067" y="344130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用</a:t>
            </a:r>
            <a:r>
              <a:rPr 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绘制机械装配图</a:t>
            </a:r>
          </a:p>
        </p:txBody>
      </p:sp>
      <p:sp>
        <p:nvSpPr>
          <p:cNvPr id="3" name="矩形 2"/>
          <p:cNvSpPr/>
          <p:nvPr/>
        </p:nvSpPr>
        <p:spPr>
          <a:xfrm>
            <a:off x="1061613" y="960200"/>
            <a:ext cx="32800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绘制和注写其他内容</a:t>
            </a:r>
          </a:p>
        </p:txBody>
      </p:sp>
      <p:sp>
        <p:nvSpPr>
          <p:cNvPr id="4" name="矩形 3"/>
          <p:cNvSpPr/>
          <p:nvPr/>
        </p:nvSpPr>
        <p:spPr>
          <a:xfrm>
            <a:off x="1487686" y="1504357"/>
            <a:ext cx="2813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）配合代号的注法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682838" y="1293966"/>
            <a:ext cx="5597235" cy="874691"/>
            <a:chOff x="4253346" y="1641063"/>
            <a:chExt cx="4516587" cy="830997"/>
          </a:xfrm>
        </p:grpSpPr>
        <p:sp>
          <p:nvSpPr>
            <p:cNvPr id="65538" name="Rectangle 2"/>
            <p:cNvSpPr>
              <a:spLocks noChangeArrowheads="1"/>
            </p:cNvSpPr>
            <p:nvPr/>
          </p:nvSpPr>
          <p:spPr bwMode="auto">
            <a:xfrm>
              <a:off x="4253346" y="1641063"/>
              <a:ext cx="207818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kumimoji="0" lang="zh-CN" altLang="en-US" b="0" dirty="0">
                  <a:solidFill>
                    <a:schemeClr val="tx1"/>
                  </a:solidFill>
                  <a:cs typeface="Times New Roman" pitchFamily="18" charset="0"/>
                </a:rPr>
                <a:t>如：配合代号“</a:t>
              </a:r>
              <a:endParaRPr kumimoji="0" lang="zh-CN" altLang="en-US" b="0" dirty="0">
                <a:solidFill>
                  <a:schemeClr val="tx1"/>
                </a:solidFill>
                <a:latin typeface="Arial" pitchFamily="34" charset="0"/>
                <a:cs typeface="宋体" pitchFamily="2" charset="-122"/>
              </a:endParaRPr>
            </a:p>
          </p:txBody>
        </p:sp>
        <p:graphicFrame>
          <p:nvGraphicFramePr>
            <p:cNvPr id="65537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879853"/>
                </p:ext>
              </p:extLst>
            </p:nvPr>
          </p:nvGraphicFramePr>
          <p:xfrm>
            <a:off x="6082150" y="1793961"/>
            <a:ext cx="387928" cy="556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0" name="Equation" r:id="rId3" imgW="279400" imgH="419100" progId="Equation.3">
                    <p:embed/>
                  </p:oleObj>
                </mc:Choice>
                <mc:Fallback>
                  <p:oleObj name="Equation" r:id="rId3" imgW="279400" imgH="419100" progId="Equation.3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2150" y="1793961"/>
                          <a:ext cx="387928" cy="5560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39" name="Rectangle 3"/>
            <p:cNvSpPr>
              <a:spLocks noChangeArrowheads="1"/>
            </p:cNvSpPr>
            <p:nvPr/>
          </p:nvSpPr>
          <p:spPr bwMode="auto">
            <a:xfrm>
              <a:off x="6470078" y="1833524"/>
              <a:ext cx="229985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kumimoji="0" lang="en-US" altLang="zh-CN" b="0" dirty="0">
                  <a:solidFill>
                    <a:schemeClr val="tx1"/>
                  </a:solidFill>
                  <a:cs typeface="Times New Roman" pitchFamily="18" charset="0"/>
                </a:rPr>
                <a:t>”</a:t>
              </a:r>
              <a:r>
                <a:rPr kumimoji="0" lang="zh-CN" altLang="en-US" b="0" dirty="0">
                  <a:solidFill>
                    <a:schemeClr val="tx1"/>
                  </a:solidFill>
                  <a:cs typeface="Times New Roman" pitchFamily="18" charset="0"/>
                </a:rPr>
                <a:t>的注写方法</a:t>
              </a:r>
              <a:r>
                <a:rPr kumimoji="0" lang="zh-CN" altLang="en-US" b="0" dirty="0">
                  <a:solidFill>
                    <a:schemeClr val="tx1"/>
                  </a:solidFill>
                  <a:latin typeface="Arial" pitchFamily="34" charset="0"/>
                  <a:cs typeface="宋体" pitchFamily="2" charset="-122"/>
                </a:rPr>
                <a:t> 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1815529" y="2002502"/>
            <a:ext cx="268777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启动</a:t>
            </a:r>
            <a:r>
              <a:rPr lang="en-US" dirty="0" err="1">
                <a:solidFill>
                  <a:srgbClr val="FF0000"/>
                </a:solidFill>
              </a:rPr>
              <a:t>Mtext</a:t>
            </a:r>
            <a:r>
              <a:rPr lang="zh-CN" altLang="en-US" dirty="0">
                <a:solidFill>
                  <a:schemeClr val="tx1"/>
                </a:solidFill>
              </a:rPr>
              <a:t>命令，确定书写范围后，在弹出的文字输入窗口中输入“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9/</a:t>
            </a:r>
            <a:r>
              <a:rPr lang="en-US" i="1" dirty="0">
                <a:solidFill>
                  <a:schemeClr val="tx1"/>
                </a:solidFill>
              </a:rPr>
              <a:t>f9</a:t>
            </a:r>
            <a:r>
              <a:rPr lang="zh-CN" altLang="en-US" i="1" dirty="0">
                <a:solidFill>
                  <a:schemeClr val="tx1"/>
                </a:solidFill>
              </a:rPr>
              <a:t>”</a:t>
            </a:r>
            <a:r>
              <a:rPr lang="zh-CN" altLang="en-US" dirty="0">
                <a:solidFill>
                  <a:schemeClr val="tx1"/>
                </a:solidFill>
              </a:rPr>
              <a:t>，用光标选中“</a:t>
            </a:r>
            <a:r>
              <a:rPr lang="en-US" i="1" dirty="0">
                <a:solidFill>
                  <a:schemeClr val="tx1"/>
                </a:solidFill>
              </a:rPr>
              <a:t>H</a:t>
            </a:r>
            <a:r>
              <a:rPr lang="en-US" dirty="0">
                <a:solidFill>
                  <a:schemeClr val="tx1"/>
                </a:solidFill>
              </a:rPr>
              <a:t>9/</a:t>
            </a:r>
            <a:r>
              <a:rPr lang="en-US" i="1" dirty="0">
                <a:solidFill>
                  <a:schemeClr val="tx1"/>
                </a:solidFill>
              </a:rPr>
              <a:t>f9</a:t>
            </a:r>
            <a:r>
              <a:rPr lang="zh-CN" altLang="en-US" i="1" dirty="0">
                <a:solidFill>
                  <a:schemeClr val="tx1"/>
                </a:solidFill>
              </a:rPr>
              <a:t>”，</a:t>
            </a:r>
            <a:r>
              <a:rPr lang="zh-CN" altLang="en-US" dirty="0"/>
              <a:t>在“格式”工具栏中单击堆叠。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1730518" y="5169665"/>
            <a:ext cx="28135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2</a:t>
            </a:r>
            <a:r>
              <a:rPr kumimoji="0" lang="zh-CN" altLang="en-US" dirty="0">
                <a:solidFill>
                  <a:srgbClr val="FF0000"/>
                </a:solidFill>
                <a:cs typeface="Times New Roman" pitchFamily="18" charset="0"/>
              </a:rPr>
              <a:t>）零件序号的注法</a:t>
            </a:r>
            <a:endParaRPr kumimoji="0" lang="zh-CN" altLang="en-US" b="0" dirty="0">
              <a:solidFill>
                <a:srgbClr val="FF0000"/>
              </a:solidFill>
              <a:latin typeface="Arial" pitchFamily="34" charset="0"/>
              <a:cs typeface="宋体" pitchFamily="2" charset="-122"/>
            </a:endParaRPr>
          </a:p>
        </p:txBody>
      </p:sp>
      <p:pic>
        <p:nvPicPr>
          <p:cNvPr id="65545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35250" y="2071687"/>
            <a:ext cx="5777655" cy="2966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 bwMode="auto">
          <a:xfrm>
            <a:off x="5195453" y="4588734"/>
            <a:ext cx="651742" cy="39369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7954179" y="4491842"/>
            <a:ext cx="651742" cy="39369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230583" y="5737651"/>
            <a:ext cx="6797633" cy="475519"/>
            <a:chOff x="1607127" y="5527964"/>
            <a:chExt cx="6797633" cy="475519"/>
          </a:xfrm>
        </p:grpSpPr>
        <p:sp>
          <p:nvSpPr>
            <p:cNvPr id="65547" name="Rectangle 11"/>
            <p:cNvSpPr>
              <a:spLocks noChangeArrowheads="1"/>
            </p:cNvSpPr>
            <p:nvPr/>
          </p:nvSpPr>
          <p:spPr bwMode="auto">
            <a:xfrm>
              <a:off x="1607127" y="5541818"/>
              <a:ext cx="265970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kumimoji="0" lang="zh-CN" altLang="en-US" dirty="0">
                  <a:solidFill>
                    <a:schemeClr val="tx1"/>
                  </a:solidFill>
                  <a:cs typeface="Times New Roman" pitchFamily="18" charset="0"/>
                </a:rPr>
                <a:t>利用多重引线命令</a:t>
              </a:r>
              <a:endParaRPr kumimoji="0" lang="zh-CN" altLang="en-US" dirty="0">
                <a:solidFill>
                  <a:schemeClr val="tx1"/>
                </a:solidFill>
                <a:latin typeface="Arial" pitchFamily="34" charset="0"/>
                <a:cs typeface="宋体" pitchFamily="2" charset="-122"/>
              </a:endParaRPr>
            </a:p>
          </p:txBody>
        </p:sp>
        <p:pic>
          <p:nvPicPr>
            <p:cNvPr id="65546" name="Picture 10" descr="14-76-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67199" y="5597236"/>
              <a:ext cx="1710172" cy="346364"/>
            </a:xfrm>
            <a:prstGeom prst="rect">
              <a:avLst/>
            </a:prstGeom>
            <a:noFill/>
          </p:spPr>
        </p:pic>
        <p:sp>
          <p:nvSpPr>
            <p:cNvPr id="65548" name="Rectangle 12"/>
            <p:cNvSpPr>
              <a:spLocks noChangeArrowheads="1"/>
            </p:cNvSpPr>
            <p:nvPr/>
          </p:nvSpPr>
          <p:spPr bwMode="auto">
            <a:xfrm>
              <a:off x="6054437" y="5527964"/>
              <a:ext cx="235032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kumimoji="0" lang="zh-CN" altLang="en-US" dirty="0">
                  <a:solidFill>
                    <a:schemeClr val="tx1"/>
                  </a:solidFill>
                  <a:cs typeface="Times New Roman" pitchFamily="18" charset="0"/>
                </a:rPr>
                <a:t>标注零件序号。</a:t>
              </a:r>
              <a:endParaRPr kumimoji="0" lang="zh-CN" altLang="en-US" dirty="0">
                <a:solidFill>
                  <a:schemeClr val="tx1"/>
                </a:solidFill>
                <a:latin typeface="Arial" pitchFamily="34" charset="0"/>
                <a:cs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65543" grpId="0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165B20-BC92-470F-9719-D35768625A3B}"/>
              </a:ext>
            </a:extLst>
          </p:cNvPr>
          <p:cNvSpPr/>
          <p:nvPr/>
        </p:nvSpPr>
        <p:spPr>
          <a:xfrm>
            <a:off x="3209067" y="344130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用</a:t>
            </a:r>
            <a:r>
              <a:rPr 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绘制机械装配图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5DCBB79-E09D-406E-9C74-42BA3120F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770" y="5436921"/>
            <a:ext cx="25365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34963"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3.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绘制明细栏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pic>
        <p:nvPicPr>
          <p:cNvPr id="66562" name="Picture 2" descr="14-77">
            <a:extLst>
              <a:ext uri="{FF2B5EF4-FFF2-40B4-BE49-F238E27FC236}">
                <a16:creationId xmlns:a16="http://schemas.microsoft.com/office/drawing/2014/main" id="{40AB0983-A28E-4172-AE97-CD63C11EF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64" y="1493846"/>
            <a:ext cx="5819827" cy="39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3" name="Picture 3" descr="14-78">
            <a:extLst>
              <a:ext uri="{FF2B5EF4-FFF2-40B4-BE49-F238E27FC236}">
                <a16:creationId xmlns:a16="http://schemas.microsoft.com/office/drawing/2014/main" id="{8EB21218-9691-4F96-9341-72772561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956" y="1493846"/>
            <a:ext cx="6479483" cy="505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5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676702" y="5437609"/>
            <a:ext cx="4515980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宋体" pitchFamily="2" charset="-122"/>
                <a:sym typeface="Monotype Sorts"/>
              </a:rPr>
              <a:t>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了解部件的</a:t>
            </a:r>
            <a:r>
              <a:rPr lang="zh-CN" altLang="en-US" dirty="0">
                <a:latin typeface="宋体" pitchFamily="2" charset="-122"/>
              </a:rPr>
              <a:t>尺寸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和</a:t>
            </a:r>
            <a:r>
              <a:rPr lang="zh-CN" altLang="en-US" dirty="0">
                <a:latin typeface="宋体" pitchFamily="2" charset="-122"/>
              </a:rPr>
              <a:t>技术要求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6907" y="3768456"/>
            <a:ext cx="1552761" cy="9198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333399"/>
                </a:solidFill>
                <a:latin typeface="宋体" pitchFamily="2" charset="-122"/>
              </a:rPr>
              <a:t>读装配图的要求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668126" y="2890397"/>
            <a:ext cx="6062878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宋体" pitchFamily="2" charset="-122"/>
                <a:sym typeface="Monotype Sorts"/>
              </a:rPr>
              <a:t>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了解部件的</a:t>
            </a:r>
            <a:r>
              <a:rPr lang="zh-CN" altLang="en-US" dirty="0">
                <a:latin typeface="宋体" pitchFamily="2" charset="-122"/>
              </a:rPr>
              <a:t>功用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、使用</a:t>
            </a:r>
            <a:r>
              <a:rPr lang="zh-CN" altLang="en-US" dirty="0">
                <a:latin typeface="宋体" pitchFamily="2" charset="-122"/>
              </a:rPr>
              <a:t>性能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和</a:t>
            </a:r>
            <a:r>
              <a:rPr lang="zh-CN" altLang="en-US" dirty="0">
                <a:latin typeface="宋体" pitchFamily="2" charset="-122"/>
              </a:rPr>
              <a:t>工作原理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666944" y="3708553"/>
            <a:ext cx="7707638" cy="7940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dirty="0">
                <a:latin typeface="宋体" pitchFamily="2" charset="-122"/>
                <a:sym typeface="Monotype Sorts"/>
              </a:rPr>
              <a:t>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弄清各零件的</a:t>
            </a:r>
            <a:r>
              <a:rPr lang="zh-CN" altLang="en-US" dirty="0">
                <a:latin typeface="宋体" pitchFamily="2" charset="-122"/>
              </a:rPr>
              <a:t>作用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和它们之间的</a:t>
            </a:r>
            <a:r>
              <a:rPr lang="zh-CN" altLang="en-US" dirty="0">
                <a:latin typeface="宋体" pitchFamily="2" charset="-122"/>
              </a:rPr>
              <a:t>相对位置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</a:t>
            </a:r>
            <a:r>
              <a:rPr lang="zh-CN" altLang="en-US" dirty="0">
                <a:latin typeface="宋体" pitchFamily="2" charset="-122"/>
              </a:rPr>
              <a:t>装配关系</a:t>
            </a:r>
            <a:endParaRPr lang="en-US" altLang="zh-CN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和</a:t>
            </a:r>
            <a:r>
              <a:rPr lang="zh-CN" altLang="en-US" dirty="0">
                <a:latin typeface="宋体" pitchFamily="2" charset="-122"/>
              </a:rPr>
              <a:t>连接固定方式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64167" y="4665079"/>
            <a:ext cx="3897221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宋体" pitchFamily="2" charset="-122"/>
                <a:sym typeface="Monotype Sorts"/>
              </a:rPr>
              <a:t>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弄懂各零件的</a:t>
            </a:r>
            <a:r>
              <a:rPr lang="zh-CN" altLang="en-US" dirty="0">
                <a:latin typeface="宋体" pitchFamily="2" charset="-122"/>
              </a:rPr>
              <a:t>结构形状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047960" y="1849584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i="1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27019" y="1611630"/>
            <a:ext cx="9947563" cy="794064"/>
          </a:xfrm>
          <a:prstGeom prst="rect">
            <a:avLst/>
          </a:prstGeo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8100000" scaled="1"/>
            <a:tileRect/>
          </a:gra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读装配图是工程技术人员必备的一种能力，在设计、装配、安装、调试以及进行技术交流时，都要读装配图。</a:t>
            </a:r>
          </a:p>
        </p:txBody>
      </p:sp>
      <p:sp>
        <p:nvSpPr>
          <p:cNvPr id="134145" name="Rectangle 1"/>
          <p:cNvSpPr>
            <a:spLocks noChangeArrowheads="1"/>
          </p:cNvSpPr>
          <p:nvPr/>
        </p:nvSpPr>
        <p:spPr bwMode="auto">
          <a:xfrm>
            <a:off x="1047008" y="914592"/>
            <a:ext cx="43332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．读装配图的方法和步骤</a:t>
            </a:r>
            <a:endParaRPr kumimoji="0" lang="zh-CN" altLang="en-US" sz="2800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E6A5D28F-FEC1-4988-A6E3-A7EE2E2F3054}"/>
              </a:ext>
            </a:extLst>
          </p:cNvPr>
          <p:cNvSpPr/>
          <p:nvPr/>
        </p:nvSpPr>
        <p:spPr>
          <a:xfrm>
            <a:off x="3079668" y="3079558"/>
            <a:ext cx="381642" cy="2596385"/>
          </a:xfrm>
          <a:prstGeom prst="leftBrace">
            <a:avLst>
              <a:gd name="adj1" fmla="val 124320"/>
              <a:gd name="adj2" fmla="val 4894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9" grpId="0" animBg="1" autoUpdateAnimBg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51801" y="865708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36341" y="1368910"/>
            <a:ext cx="18886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宋体" pitchFamily="2" charset="-122"/>
                <a:sym typeface="Monotype Sorts"/>
              </a:rPr>
              <a:t>1) </a:t>
            </a:r>
            <a:r>
              <a:rPr lang="zh-CN" altLang="en-US" dirty="0">
                <a:solidFill>
                  <a:srgbClr val="0070C0"/>
                </a:solidFill>
              </a:rPr>
              <a:t>概括了解</a:t>
            </a:r>
            <a:endParaRPr lang="zh-CN" altLang="en-US" dirty="0">
              <a:solidFill>
                <a:srgbClr val="0070C0"/>
              </a:solidFill>
              <a:latin typeface="宋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752550" y="145048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i="1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70156" y="1877806"/>
            <a:ext cx="38141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从</a:t>
            </a:r>
            <a:r>
              <a:rPr lang="zh-CN" altLang="en-US" dirty="0">
                <a:solidFill>
                  <a:srgbClr val="FF0000"/>
                </a:solidFill>
              </a:rPr>
              <a:t>标题栏</a:t>
            </a:r>
            <a:r>
              <a:rPr lang="zh-CN" altLang="en-US" dirty="0">
                <a:solidFill>
                  <a:srgbClr val="0070C0"/>
                </a:solidFill>
              </a:rPr>
              <a:t>中</a:t>
            </a:r>
            <a:r>
              <a:rPr lang="zh-CN" altLang="en-US" dirty="0">
                <a:solidFill>
                  <a:srgbClr val="FF0000"/>
                </a:solidFill>
              </a:rPr>
              <a:t>了解</a:t>
            </a:r>
            <a:r>
              <a:rPr lang="zh-CN" altLang="en-US" dirty="0">
                <a:solidFill>
                  <a:srgbClr val="0070C0"/>
                </a:solidFill>
              </a:rPr>
              <a:t>机器或部件的</a:t>
            </a:r>
            <a:r>
              <a:rPr lang="zh-CN" altLang="en-US" dirty="0">
                <a:solidFill>
                  <a:srgbClr val="FF0000"/>
                </a:solidFill>
              </a:rPr>
              <a:t>名称</a:t>
            </a:r>
            <a:r>
              <a:rPr lang="zh-CN" altLang="en-US" dirty="0">
                <a:solidFill>
                  <a:srgbClr val="0070C0"/>
                </a:solidFill>
              </a:rPr>
              <a:t>。通过</a:t>
            </a:r>
            <a:r>
              <a:rPr lang="zh-CN" altLang="en-US" dirty="0">
                <a:solidFill>
                  <a:srgbClr val="FF0000"/>
                </a:solidFill>
              </a:rPr>
              <a:t>查阅</a:t>
            </a:r>
            <a:r>
              <a:rPr lang="zh-CN" altLang="en-US" dirty="0">
                <a:solidFill>
                  <a:srgbClr val="0070C0"/>
                </a:solidFill>
              </a:rPr>
              <a:t>有关技术</a:t>
            </a:r>
            <a:r>
              <a:rPr lang="zh-CN" altLang="en-US" dirty="0">
                <a:solidFill>
                  <a:srgbClr val="FF0000"/>
                </a:solidFill>
              </a:rPr>
              <a:t>资料</a:t>
            </a:r>
            <a:r>
              <a:rPr lang="zh-CN" altLang="en-US" dirty="0">
                <a:solidFill>
                  <a:srgbClr val="0070C0"/>
                </a:solidFill>
              </a:rPr>
              <a:t>或实际</a:t>
            </a:r>
            <a:r>
              <a:rPr lang="zh-CN" altLang="en-US" dirty="0">
                <a:solidFill>
                  <a:srgbClr val="FF0000"/>
                </a:solidFill>
              </a:rPr>
              <a:t>调查</a:t>
            </a:r>
            <a:r>
              <a:rPr lang="zh-CN" altLang="en-US" dirty="0">
                <a:solidFill>
                  <a:srgbClr val="0070C0"/>
                </a:solidFill>
              </a:rPr>
              <a:t>研究</a:t>
            </a:r>
            <a:r>
              <a:rPr lang="zh-CN" altLang="en-US" dirty="0">
                <a:solidFill>
                  <a:srgbClr val="FF0000"/>
                </a:solidFill>
              </a:rPr>
              <a:t>获取</a:t>
            </a:r>
            <a:r>
              <a:rPr lang="zh-CN" altLang="en-US" dirty="0">
                <a:solidFill>
                  <a:srgbClr val="0070C0"/>
                </a:solidFill>
              </a:rPr>
              <a:t>机器或部件的</a:t>
            </a:r>
            <a:r>
              <a:rPr lang="zh-CN" altLang="en-US" dirty="0">
                <a:solidFill>
                  <a:srgbClr val="FF0000"/>
                </a:solidFill>
              </a:rPr>
              <a:t>用途和规格</a:t>
            </a:r>
            <a:r>
              <a:rPr lang="zh-CN" altLang="en-US" dirty="0">
                <a:solidFill>
                  <a:srgbClr val="0070C0"/>
                </a:solidFill>
              </a:rPr>
              <a:t>。</a:t>
            </a:r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2796" y="1655698"/>
            <a:ext cx="6389687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97475" y="4123824"/>
            <a:ext cx="44767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矩形 14"/>
          <p:cNvSpPr/>
          <p:nvPr/>
        </p:nvSpPr>
        <p:spPr>
          <a:xfrm>
            <a:off x="969970" y="3816798"/>
            <a:ext cx="35881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对照装配图中</a:t>
            </a:r>
            <a:r>
              <a:rPr lang="zh-CN" altLang="en-US" dirty="0">
                <a:solidFill>
                  <a:srgbClr val="FF0000"/>
                </a:solidFill>
              </a:rPr>
              <a:t>序号和明细栏</a:t>
            </a:r>
            <a:r>
              <a:rPr lang="zh-CN" altLang="en-US" dirty="0">
                <a:solidFill>
                  <a:srgbClr val="0070C0"/>
                </a:solidFill>
              </a:rPr>
              <a:t>，弄清楚机器或部件中</a:t>
            </a:r>
            <a:r>
              <a:rPr lang="zh-CN" altLang="en-US" dirty="0">
                <a:solidFill>
                  <a:srgbClr val="FF0000"/>
                </a:solidFill>
              </a:rPr>
              <a:t>标准件、非标准件的数目</a:t>
            </a:r>
            <a:r>
              <a:rPr lang="zh-CN" altLang="en-US" dirty="0">
                <a:solidFill>
                  <a:srgbClr val="0070C0"/>
                </a:solidFill>
              </a:rPr>
              <a:t>，了解各零件的</a:t>
            </a:r>
            <a:r>
              <a:rPr lang="zh-CN" altLang="en-US" dirty="0">
                <a:solidFill>
                  <a:srgbClr val="FF0000"/>
                </a:solidFill>
              </a:rPr>
              <a:t>名称、数量、材料</a:t>
            </a:r>
            <a:r>
              <a:rPr lang="zh-CN" altLang="en-US" dirty="0">
                <a:solidFill>
                  <a:srgbClr val="0070C0"/>
                </a:solidFill>
              </a:rPr>
              <a:t>以及</a:t>
            </a:r>
            <a:r>
              <a:rPr lang="zh-CN" altLang="en-US" dirty="0">
                <a:solidFill>
                  <a:srgbClr val="FF0000"/>
                </a:solidFill>
              </a:rPr>
              <a:t>标准件的规格</a:t>
            </a:r>
            <a:r>
              <a:rPr lang="zh-CN" altLang="en-US" dirty="0">
                <a:solidFill>
                  <a:srgbClr val="0070C0"/>
                </a:solidFill>
              </a:rPr>
              <a:t>代号等。</a:t>
            </a:r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06814" y="4111240"/>
            <a:ext cx="44672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63854" y="1788468"/>
            <a:ext cx="345757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10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23720" y="892237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23720" y="1426331"/>
            <a:ext cx="1733167" cy="4931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宋体" pitchFamily="2" charset="-122"/>
                <a:sym typeface="Monotype Sorts"/>
              </a:rPr>
              <a:t>2)</a:t>
            </a:r>
            <a:r>
              <a:rPr lang="zh-CN" altLang="en-US" dirty="0">
                <a:solidFill>
                  <a:srgbClr val="0070C0"/>
                </a:solidFill>
              </a:rPr>
              <a:t>分析视图</a:t>
            </a:r>
          </a:p>
        </p:txBody>
      </p:sp>
      <p:sp>
        <p:nvSpPr>
          <p:cNvPr id="6" name="矩形 5"/>
          <p:cNvSpPr/>
          <p:nvPr/>
        </p:nvSpPr>
        <p:spPr>
          <a:xfrm>
            <a:off x="1023720" y="1976904"/>
            <a:ext cx="26576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了解部件的</a:t>
            </a:r>
            <a:r>
              <a:rPr lang="zh-CN" altLang="en-US" dirty="0">
                <a:solidFill>
                  <a:srgbClr val="FF0000"/>
                </a:solidFill>
              </a:rPr>
              <a:t>工作原理</a:t>
            </a:r>
            <a:r>
              <a:rPr lang="zh-CN" altLang="en-US" dirty="0">
                <a:solidFill>
                  <a:srgbClr val="0070C0"/>
                </a:solidFill>
              </a:rPr>
              <a:t>以及</a:t>
            </a:r>
            <a:r>
              <a:rPr lang="zh-CN" altLang="en-US" dirty="0">
                <a:solidFill>
                  <a:srgbClr val="FF0000"/>
                </a:solidFill>
              </a:rPr>
              <a:t>主要装配干线</a:t>
            </a:r>
            <a:r>
              <a:rPr lang="zh-CN" altLang="en-US" dirty="0">
                <a:solidFill>
                  <a:srgbClr val="0070C0"/>
                </a:solidFill>
              </a:rPr>
              <a:t>上各</a:t>
            </a:r>
            <a:r>
              <a:rPr lang="zh-CN" altLang="en-US" dirty="0">
                <a:solidFill>
                  <a:srgbClr val="FF0000"/>
                </a:solidFill>
              </a:rPr>
              <a:t>零件</a:t>
            </a:r>
            <a:r>
              <a:rPr lang="zh-CN" altLang="en-US" dirty="0">
                <a:solidFill>
                  <a:srgbClr val="0070C0"/>
                </a:solidFill>
              </a:rPr>
              <a:t>之间的</a:t>
            </a:r>
            <a:r>
              <a:rPr lang="zh-CN" altLang="en-US" dirty="0">
                <a:solidFill>
                  <a:srgbClr val="FF0000"/>
                </a:solidFill>
              </a:rPr>
              <a:t>定位、配合和连接关系。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0975" y="1536638"/>
            <a:ext cx="7211132" cy="499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35C267-2E90-43B8-A9D1-B05BB4E597F0}"/>
              </a:ext>
            </a:extLst>
          </p:cNvPr>
          <p:cNvSpPr/>
          <p:nvPr/>
        </p:nvSpPr>
        <p:spPr>
          <a:xfrm>
            <a:off x="1023720" y="4173605"/>
            <a:ext cx="24913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★ </a:t>
            </a:r>
            <a:r>
              <a:rPr lang="zh-CN" altLang="en-US" dirty="0">
                <a:solidFill>
                  <a:srgbClr val="0070C0"/>
                </a:solidFill>
              </a:rPr>
              <a:t>了解零件间</a:t>
            </a:r>
            <a:r>
              <a:rPr lang="zh-CN" altLang="en-US" dirty="0">
                <a:solidFill>
                  <a:srgbClr val="FF0000"/>
                </a:solidFill>
              </a:rPr>
              <a:t>运动</a:t>
            </a:r>
            <a:r>
              <a:rPr lang="zh-CN" altLang="en-US" dirty="0">
                <a:solidFill>
                  <a:srgbClr val="0070C0"/>
                </a:solidFill>
              </a:rPr>
              <a:t>和动力</a:t>
            </a:r>
            <a:r>
              <a:rPr lang="zh-CN" altLang="en-US" dirty="0">
                <a:solidFill>
                  <a:srgbClr val="FF0000"/>
                </a:solidFill>
              </a:rPr>
              <a:t>传递方式</a:t>
            </a:r>
            <a:r>
              <a:rPr lang="zh-CN" altLang="en-US" dirty="0">
                <a:solidFill>
                  <a:srgbClr val="0070C0"/>
                </a:solidFill>
              </a:rPr>
              <a:t>，并了解部件的</a:t>
            </a:r>
            <a:r>
              <a:rPr lang="zh-CN" altLang="en-US" dirty="0">
                <a:solidFill>
                  <a:srgbClr val="FF0000"/>
                </a:solidFill>
              </a:rPr>
              <a:t>润滑、密封</a:t>
            </a:r>
            <a:r>
              <a:rPr lang="zh-CN" altLang="en-US" dirty="0">
                <a:solidFill>
                  <a:srgbClr val="0070C0"/>
                </a:solidFill>
              </a:rPr>
              <a:t>方式等。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41602" y="936740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42641" y="1385907"/>
            <a:ext cx="1733167" cy="4931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宋体" pitchFamily="2" charset="-122"/>
                <a:sym typeface="Monotype Sorts"/>
              </a:rPr>
              <a:t>2)</a:t>
            </a:r>
            <a:r>
              <a:rPr lang="zh-CN" altLang="en-US" dirty="0">
                <a:solidFill>
                  <a:srgbClr val="0070C0"/>
                </a:solidFill>
              </a:rPr>
              <a:t>分析视图</a:t>
            </a:r>
          </a:p>
        </p:txBody>
      </p:sp>
      <p:sp>
        <p:nvSpPr>
          <p:cNvPr id="6" name="矩形 5"/>
          <p:cNvSpPr/>
          <p:nvPr/>
        </p:nvSpPr>
        <p:spPr>
          <a:xfrm>
            <a:off x="769845" y="4637090"/>
            <a:ext cx="38105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70C0"/>
                </a:solidFill>
              </a:rPr>
              <a:t>        键</a:t>
            </a:r>
            <a:r>
              <a:rPr lang="en-US" b="0" dirty="0">
                <a:solidFill>
                  <a:srgbClr val="0070C0"/>
                </a:solidFill>
              </a:rPr>
              <a:t>11</a:t>
            </a:r>
            <a:r>
              <a:rPr lang="zh-CN" altLang="en-US" b="0" dirty="0">
                <a:solidFill>
                  <a:srgbClr val="0070C0"/>
                </a:solidFill>
              </a:rPr>
              <a:t>在导套槽内起导向作用，导套下方槽尺寸限定了焊机的移动距离。</a:t>
            </a:r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8035" y="1513736"/>
            <a:ext cx="6791324" cy="3874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>
          <a:xfrm>
            <a:off x="667488" y="1827405"/>
            <a:ext cx="38905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主视图</a:t>
            </a:r>
            <a:r>
              <a:rPr lang="zh-CN" altLang="en-US" dirty="0">
                <a:solidFill>
                  <a:srgbClr val="0070C0"/>
                </a:solidFill>
              </a:rPr>
              <a:t>表达：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zh-CN" dirty="0">
                <a:solidFill>
                  <a:srgbClr val="FF0000"/>
                </a:solidFill>
              </a:rPr>
              <a:t>★</a:t>
            </a:r>
            <a:r>
              <a:rPr lang="zh-CN" altLang="en-US" dirty="0">
                <a:solidFill>
                  <a:srgbClr val="FF0000"/>
                </a:solidFill>
              </a:rPr>
              <a:t>部件工作原理</a:t>
            </a:r>
            <a:r>
              <a:rPr lang="zh-CN" altLang="en-US" dirty="0"/>
              <a:t>，</a:t>
            </a:r>
            <a:r>
              <a:rPr lang="zh-CN" altLang="en-US" b="0" dirty="0">
                <a:solidFill>
                  <a:srgbClr val="0070C0"/>
                </a:solidFill>
              </a:rPr>
              <a:t>微动机构是氩弧焊机的微调装置。</a:t>
            </a:r>
          </a:p>
        </p:txBody>
      </p:sp>
      <p:sp>
        <p:nvSpPr>
          <p:cNvPr id="12" name="矩形 11"/>
          <p:cNvSpPr/>
          <p:nvPr/>
        </p:nvSpPr>
        <p:spPr>
          <a:xfrm>
            <a:off x="913357" y="2981344"/>
            <a:ext cx="19871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转动手轮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98182" y="2289883"/>
            <a:ext cx="782204" cy="1955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>
          <a:xfrm>
            <a:off x="2431917" y="2999138"/>
            <a:ext cx="19871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螺杆</a:t>
            </a:r>
            <a:r>
              <a:rPr lang="en-US" altLang="zh-CN" dirty="0"/>
              <a:t>7</a:t>
            </a:r>
            <a:r>
              <a:rPr lang="zh-CN" altLang="en-US" dirty="0"/>
              <a:t>旋转</a:t>
            </a:r>
          </a:p>
        </p:txBody>
      </p:sp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58100" y="2981344"/>
            <a:ext cx="2724151" cy="582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769845" y="3436827"/>
            <a:ext cx="38105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导杆</a:t>
            </a:r>
            <a:r>
              <a:rPr lang="en-US" altLang="zh-CN" dirty="0"/>
              <a:t>10</a:t>
            </a:r>
            <a:r>
              <a:rPr lang="zh-CN" altLang="en-US" dirty="0"/>
              <a:t>在导套</a:t>
            </a:r>
            <a:r>
              <a:rPr lang="en-US" altLang="zh-CN" dirty="0"/>
              <a:t>9</a:t>
            </a:r>
            <a:r>
              <a:rPr lang="zh-CN" altLang="en-US" dirty="0"/>
              <a:t>内作轴向移动，</a:t>
            </a:r>
            <a:r>
              <a:rPr lang="zh-CN" altLang="en-US" b="0" dirty="0">
                <a:solidFill>
                  <a:srgbClr val="0070C0"/>
                </a:solidFill>
              </a:rPr>
              <a:t>导杆</a:t>
            </a:r>
            <a:r>
              <a:rPr lang="en-US" altLang="zh-CN" b="0" dirty="0">
                <a:solidFill>
                  <a:srgbClr val="0070C0"/>
                </a:solidFill>
              </a:rPr>
              <a:t>10</a:t>
            </a:r>
            <a:r>
              <a:rPr lang="zh-CN" altLang="en-US" b="0" dirty="0">
                <a:solidFill>
                  <a:srgbClr val="0070C0"/>
                </a:solidFill>
              </a:rPr>
              <a:t>带动氩弧焊机进行微调。</a:t>
            </a:r>
          </a:p>
        </p:txBody>
      </p:sp>
      <p:pic>
        <p:nvPicPr>
          <p:cNvPr id="67592" name="Picture 8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34436" y="2881414"/>
            <a:ext cx="4649030" cy="807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93" name="Picture 9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23897" y="2640432"/>
            <a:ext cx="4157663" cy="1261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94" name="Picture 10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00012" y="3440532"/>
            <a:ext cx="561855" cy="34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319E47E-3DC7-41E7-B4A6-D76119B43C52}"/>
              </a:ext>
            </a:extLst>
          </p:cNvPr>
          <p:cNvSpPr/>
          <p:nvPr/>
        </p:nvSpPr>
        <p:spPr>
          <a:xfrm>
            <a:off x="769845" y="5961948"/>
            <a:ext cx="47165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★</a:t>
            </a:r>
            <a:r>
              <a:rPr lang="zh-CN" altLang="en-US" dirty="0">
                <a:solidFill>
                  <a:srgbClr val="FF0000"/>
                </a:solidFill>
              </a:rPr>
              <a:t>零件之间主要的装配关系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4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03247" y="880564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97187" y="1345351"/>
            <a:ext cx="1733167" cy="4931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宋体" pitchFamily="2" charset="-122"/>
                <a:sym typeface="Monotype Sorts"/>
              </a:rPr>
              <a:t>2)</a:t>
            </a:r>
            <a:r>
              <a:rPr lang="zh-CN" altLang="en-US" dirty="0">
                <a:solidFill>
                  <a:srgbClr val="0070C0"/>
                </a:solidFill>
              </a:rPr>
              <a:t>分析视图</a:t>
            </a:r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1540" y="1463119"/>
            <a:ext cx="7659490" cy="436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>
          <a:xfrm>
            <a:off x="797140" y="1897009"/>
            <a:ext cx="3021751" cy="3785652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零件间装配关系：</a:t>
            </a:r>
            <a:endParaRPr lang="en-US" altLang="zh-CN" dirty="0"/>
          </a:p>
          <a:p>
            <a:r>
              <a:rPr lang="en-US" altLang="zh-CN" b="0" dirty="0">
                <a:solidFill>
                  <a:srgbClr val="0070C0"/>
                </a:solidFill>
              </a:rPr>
              <a:t>       8</a:t>
            </a:r>
            <a:r>
              <a:rPr lang="zh-CN" altLang="en-US" b="0" dirty="0">
                <a:solidFill>
                  <a:srgbClr val="0070C0"/>
                </a:solidFill>
              </a:rPr>
              <a:t>与</a:t>
            </a:r>
            <a:r>
              <a:rPr lang="en-US" altLang="zh-CN" b="0" dirty="0">
                <a:solidFill>
                  <a:srgbClr val="0070C0"/>
                </a:solidFill>
              </a:rPr>
              <a:t>9</a:t>
            </a:r>
            <a:r>
              <a:rPr lang="zh-CN" altLang="en-US" b="0" dirty="0">
                <a:solidFill>
                  <a:srgbClr val="0070C0"/>
                </a:solidFill>
              </a:rPr>
              <a:t>间隙配合安装，</a:t>
            </a:r>
            <a:r>
              <a:rPr lang="en-US" altLang="zh-CN" b="0" dirty="0">
                <a:solidFill>
                  <a:srgbClr val="0070C0"/>
                </a:solidFill>
              </a:rPr>
              <a:t>6</a:t>
            </a:r>
            <a:r>
              <a:rPr lang="zh-CN" altLang="en-US" b="0" dirty="0">
                <a:solidFill>
                  <a:srgbClr val="0070C0"/>
                </a:solidFill>
              </a:rPr>
              <a:t>定位固定。 </a:t>
            </a:r>
            <a:r>
              <a:rPr lang="en-US" altLang="zh-CN" b="0" dirty="0">
                <a:solidFill>
                  <a:srgbClr val="0070C0"/>
                </a:solidFill>
              </a:rPr>
              <a:t>10</a:t>
            </a:r>
            <a:r>
              <a:rPr lang="zh-CN" altLang="en-US" b="0" dirty="0">
                <a:solidFill>
                  <a:srgbClr val="0070C0"/>
                </a:solidFill>
              </a:rPr>
              <a:t>与</a:t>
            </a:r>
            <a:r>
              <a:rPr lang="en-US" altLang="zh-CN" b="0" dirty="0">
                <a:solidFill>
                  <a:srgbClr val="0070C0"/>
                </a:solidFill>
              </a:rPr>
              <a:t>9</a:t>
            </a:r>
            <a:r>
              <a:rPr lang="zh-CN" altLang="en-US" b="0" dirty="0">
                <a:solidFill>
                  <a:srgbClr val="0070C0"/>
                </a:solidFill>
              </a:rPr>
              <a:t>间隙配合安装。</a:t>
            </a:r>
            <a:endParaRPr lang="en-US" altLang="zh-CN" b="0" dirty="0">
              <a:solidFill>
                <a:srgbClr val="0070C0"/>
              </a:solidFill>
            </a:endParaRPr>
          </a:p>
          <a:p>
            <a:r>
              <a:rPr lang="zh-CN" altLang="en-US" b="0" dirty="0">
                <a:solidFill>
                  <a:srgbClr val="0070C0"/>
                </a:solidFill>
              </a:rPr>
              <a:t>    轴套</a:t>
            </a:r>
            <a:r>
              <a:rPr lang="en-US" b="0" dirty="0">
                <a:solidFill>
                  <a:srgbClr val="0070C0"/>
                </a:solidFill>
              </a:rPr>
              <a:t>5</a:t>
            </a:r>
            <a:r>
              <a:rPr lang="zh-CN" altLang="en-US" b="0" dirty="0">
                <a:solidFill>
                  <a:srgbClr val="0070C0"/>
                </a:solidFill>
              </a:rPr>
              <a:t>与导杆</a:t>
            </a:r>
            <a:r>
              <a:rPr lang="en-US" b="0" dirty="0">
                <a:solidFill>
                  <a:srgbClr val="0070C0"/>
                </a:solidFill>
              </a:rPr>
              <a:t>9</a:t>
            </a:r>
            <a:r>
              <a:rPr lang="zh-CN" altLang="en-US" b="0" dirty="0">
                <a:solidFill>
                  <a:srgbClr val="0070C0"/>
                </a:solidFill>
              </a:rPr>
              <a:t>以螺纹连接，螺钉</a:t>
            </a:r>
            <a:r>
              <a:rPr lang="en-US" b="0" dirty="0">
                <a:solidFill>
                  <a:srgbClr val="0070C0"/>
                </a:solidFill>
              </a:rPr>
              <a:t>4</a:t>
            </a:r>
            <a:r>
              <a:rPr lang="zh-CN" altLang="en-US" b="0" dirty="0">
                <a:solidFill>
                  <a:srgbClr val="0070C0"/>
                </a:solidFill>
              </a:rPr>
              <a:t>连接固定。</a:t>
            </a:r>
            <a:endParaRPr lang="en-US" altLang="zh-CN" b="0" dirty="0">
              <a:solidFill>
                <a:srgbClr val="0070C0"/>
              </a:solidFill>
            </a:endParaRPr>
          </a:p>
          <a:p>
            <a:r>
              <a:rPr lang="en-US" b="0" dirty="0">
                <a:solidFill>
                  <a:srgbClr val="0070C0"/>
                </a:solidFill>
              </a:rPr>
              <a:t>      7</a:t>
            </a:r>
            <a:r>
              <a:rPr lang="zh-CN" altLang="en-US" b="0" dirty="0">
                <a:solidFill>
                  <a:srgbClr val="0070C0"/>
                </a:solidFill>
              </a:rPr>
              <a:t>和</a:t>
            </a:r>
            <a:r>
              <a:rPr lang="en-US" b="0" dirty="0">
                <a:solidFill>
                  <a:srgbClr val="0070C0"/>
                </a:solidFill>
              </a:rPr>
              <a:t>5</a:t>
            </a:r>
            <a:r>
              <a:rPr lang="zh-CN" altLang="en-US" b="0" dirty="0">
                <a:solidFill>
                  <a:srgbClr val="0070C0"/>
                </a:solidFill>
              </a:rPr>
              <a:t>间隙配合安装，对螺杆起支撑、定位作用。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29" y="5929194"/>
            <a:ext cx="10473002" cy="830997"/>
          </a:xfrm>
          <a:prstGeom prst="rect">
            <a:avLst/>
          </a:prstGeom>
          <a:gradFill flip="none" rotWithShape="1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        B-B</a:t>
            </a:r>
            <a:r>
              <a:rPr lang="zh-CN" altLang="en-US" dirty="0">
                <a:solidFill>
                  <a:srgbClr val="FF0000"/>
                </a:solidFill>
              </a:rPr>
              <a:t>断面图</a:t>
            </a:r>
            <a:r>
              <a:rPr lang="zh-CN" altLang="en-US" dirty="0">
                <a:solidFill>
                  <a:srgbClr val="0070C0"/>
                </a:solidFill>
              </a:rPr>
              <a:t>来表达导套</a:t>
            </a:r>
            <a:r>
              <a:rPr lang="en-US" altLang="zh-CN" dirty="0">
                <a:solidFill>
                  <a:srgbClr val="0070C0"/>
                </a:solidFill>
              </a:rPr>
              <a:t>9</a:t>
            </a:r>
            <a:r>
              <a:rPr lang="zh-CN" altLang="en-US" dirty="0">
                <a:solidFill>
                  <a:srgbClr val="0070C0"/>
                </a:solidFill>
              </a:rPr>
              <a:t>、导杆</a:t>
            </a:r>
            <a:r>
              <a:rPr lang="en-US" dirty="0">
                <a:solidFill>
                  <a:srgbClr val="0070C0"/>
                </a:solidFill>
              </a:rPr>
              <a:t>10</a:t>
            </a:r>
            <a:r>
              <a:rPr lang="zh-CN" altLang="en-US" dirty="0">
                <a:solidFill>
                  <a:srgbClr val="0070C0"/>
                </a:solidFill>
              </a:rPr>
              <a:t>、键</a:t>
            </a:r>
            <a:r>
              <a:rPr lang="en-US" dirty="0">
                <a:solidFill>
                  <a:srgbClr val="0070C0"/>
                </a:solidFill>
              </a:rPr>
              <a:t>11</a:t>
            </a:r>
            <a:r>
              <a:rPr lang="zh-CN" altLang="en-US" dirty="0">
                <a:solidFill>
                  <a:srgbClr val="0070C0"/>
                </a:solidFill>
              </a:rPr>
              <a:t>和螺钉</a:t>
            </a:r>
            <a:r>
              <a:rPr lang="en-US" dirty="0">
                <a:solidFill>
                  <a:srgbClr val="0070C0"/>
                </a:solidFill>
              </a:rPr>
              <a:t>12</a:t>
            </a:r>
            <a:r>
              <a:rPr lang="zh-CN" altLang="en-US" dirty="0">
                <a:solidFill>
                  <a:srgbClr val="0070C0"/>
                </a:solidFill>
              </a:rPr>
              <a:t>之间的</a:t>
            </a:r>
            <a:r>
              <a:rPr lang="zh-CN" altLang="en-US" dirty="0">
                <a:solidFill>
                  <a:srgbClr val="FF0000"/>
                </a:solidFill>
              </a:rPr>
              <a:t>联接装配关系</a:t>
            </a:r>
            <a:r>
              <a:rPr lang="zh-CN" altLang="en-US" dirty="0">
                <a:solidFill>
                  <a:srgbClr val="0070C0"/>
                </a:solidFill>
              </a:rPr>
              <a:t>。底盘的简化画法表达了微动机构支座与其他设备的安装尺寸和位置。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3446" y="2533570"/>
            <a:ext cx="3667598" cy="26336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88398" y="2739296"/>
            <a:ext cx="4715622" cy="14419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0359" y="3022124"/>
            <a:ext cx="5277444" cy="94798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43753" y="3083273"/>
            <a:ext cx="3085760" cy="7102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5439" y="2667155"/>
            <a:ext cx="788136" cy="15276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39416" y="2311917"/>
            <a:ext cx="981859" cy="22845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 bwMode="auto">
          <a:xfrm>
            <a:off x="7896343" y="3388483"/>
            <a:ext cx="914400" cy="914400"/>
          </a:xfrm>
          <a:prstGeom prst="rect">
            <a:avLst/>
          </a:prstGeom>
          <a:noFill/>
          <a:ln w="4445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03247" y="883008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03247" y="1379278"/>
            <a:ext cx="1733167" cy="4931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宋体" pitchFamily="2" charset="-122"/>
                <a:sym typeface="Monotype Sorts"/>
              </a:rPr>
              <a:t>3)</a:t>
            </a:r>
            <a:r>
              <a:rPr lang="zh-CN" altLang="en-US" dirty="0">
                <a:solidFill>
                  <a:srgbClr val="0070C0"/>
                </a:solidFill>
              </a:rPr>
              <a:t>分析零件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998056" y="3034359"/>
            <a:ext cx="358784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★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先看</a:t>
            </a:r>
            <a:r>
              <a:rPr lang="zh-CN" altLang="en-US" dirty="0">
                <a:latin typeface="宋体" pitchFamily="2" charset="-122"/>
              </a:rPr>
              <a:t>容易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分离的零件，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再看</a:t>
            </a:r>
            <a:r>
              <a:rPr lang="zh-CN" altLang="en-US" dirty="0">
                <a:latin typeface="宋体" pitchFamily="2" charset="-122"/>
              </a:rPr>
              <a:t>其它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零件；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998056" y="1925361"/>
            <a:ext cx="266130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★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先看</a:t>
            </a:r>
            <a:r>
              <a:rPr lang="zh-CN" altLang="en-US" dirty="0">
                <a:latin typeface="宋体" pitchFamily="2" charset="-122"/>
              </a:rPr>
              <a:t>主要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零件，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再看</a:t>
            </a:r>
            <a:r>
              <a:rPr lang="zh-CN" altLang="en-US" dirty="0">
                <a:latin typeface="宋体" pitchFamily="2" charset="-122"/>
              </a:rPr>
              <a:t>次要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零件；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998056" y="4147346"/>
            <a:ext cx="3072139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★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先</a:t>
            </a:r>
            <a:r>
              <a:rPr lang="zh-CN" altLang="en-US" dirty="0">
                <a:latin typeface="宋体" pitchFamily="2" charset="-122"/>
              </a:rPr>
              <a:t>分离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零件，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再分析零件的结构</a:t>
            </a:r>
            <a:r>
              <a:rPr lang="zh-CN" altLang="en-US" dirty="0">
                <a:latin typeface="宋体" pitchFamily="2" charset="-122"/>
              </a:rPr>
              <a:t>形状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059" y="1467783"/>
            <a:ext cx="7495238" cy="52476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583" y="1467782"/>
            <a:ext cx="7649613" cy="5355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/>
      <p:bldP spid="9" grpId="0" autoUpdateAnimBg="0"/>
      <p:bldP spid="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37" name="Text Box 65"/>
          <p:cNvSpPr txBox="1">
            <a:spLocks noChangeArrowheads="1"/>
          </p:cNvSpPr>
          <p:nvPr/>
        </p:nvSpPr>
        <p:spPr bwMode="auto">
          <a:xfrm>
            <a:off x="1003247" y="1976498"/>
            <a:ext cx="183758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rgbClr val="0070C0"/>
                </a:solidFill>
                <a:latin typeface="宋体" pitchFamily="2" charset="-122"/>
              </a:rPr>
              <a:t>逐个零件分析后各零件</a:t>
            </a:r>
            <a:r>
              <a:rPr lang="zh-CN" altLang="en-US" dirty="0">
                <a:solidFill>
                  <a:srgbClr val="0070C0"/>
                </a:solidFill>
              </a:rPr>
              <a:t>的</a:t>
            </a:r>
            <a:r>
              <a:rPr lang="zh-CN" altLang="en-US" dirty="0">
                <a:solidFill>
                  <a:srgbClr val="0070C0"/>
                </a:solidFill>
                <a:latin typeface="宋体" pitchFamily="2" charset="-122"/>
              </a:rPr>
              <a:t>形状</a:t>
            </a:r>
            <a:r>
              <a:rPr lang="zh-CN" altLang="en-US" dirty="0">
                <a:solidFill>
                  <a:srgbClr val="0070C0"/>
                </a:solidFill>
              </a:rPr>
              <a:t>为：</a:t>
            </a:r>
          </a:p>
        </p:txBody>
      </p:sp>
      <p:sp>
        <p:nvSpPr>
          <p:cNvPr id="70" name="矩形 69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71" name="Text Box 3"/>
          <p:cNvSpPr txBox="1">
            <a:spLocks noChangeArrowheads="1"/>
          </p:cNvSpPr>
          <p:nvPr/>
        </p:nvSpPr>
        <p:spPr bwMode="auto">
          <a:xfrm>
            <a:off x="1003247" y="915054"/>
            <a:ext cx="3896159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读装配图的步骤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13" y="1391723"/>
            <a:ext cx="7295836" cy="5165194"/>
          </a:xfrm>
          <a:prstGeom prst="rect">
            <a:avLst/>
          </a:prstGeom>
        </p:spPr>
      </p:pic>
      <p:sp>
        <p:nvSpPr>
          <p:cNvPr id="3" name="文本框 2">
            <a:hlinkClick r:id="rId3" action="ppaction://hlinksldjump"/>
          </p:cNvPr>
          <p:cNvSpPr txBox="1"/>
          <p:nvPr/>
        </p:nvSpPr>
        <p:spPr>
          <a:xfrm>
            <a:off x="10411522" y="6239551"/>
            <a:ext cx="1460810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装配图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3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786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4" name="矩形 3"/>
          <p:cNvSpPr/>
          <p:nvPr/>
        </p:nvSpPr>
        <p:spPr>
          <a:xfrm>
            <a:off x="1868568" y="4112564"/>
            <a:ext cx="1266518" cy="83099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拆图的方法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9481" y="1354856"/>
            <a:ext cx="10496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）拆图方法：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               </a:t>
            </a:r>
            <a:r>
              <a:rPr lang="zh-CN" altLang="en-US" dirty="0">
                <a:solidFill>
                  <a:srgbClr val="0070C0"/>
                </a:solidFill>
              </a:rPr>
              <a:t>在部件的设计中，需要根据装配图拆画零件工作图，简称</a:t>
            </a:r>
            <a:r>
              <a:rPr lang="zh-CN" altLang="en-US" dirty="0"/>
              <a:t>拆图</a:t>
            </a:r>
            <a:r>
              <a:rPr lang="zh-CN" altLang="en-US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3750926" y="2486969"/>
            <a:ext cx="1822561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分析被拆零件在装配图中的功能</a:t>
            </a:r>
          </a:p>
        </p:txBody>
      </p:sp>
      <p:sp>
        <p:nvSpPr>
          <p:cNvPr id="7" name="矩形 6"/>
          <p:cNvSpPr/>
          <p:nvPr/>
        </p:nvSpPr>
        <p:spPr>
          <a:xfrm>
            <a:off x="6344014" y="2428914"/>
            <a:ext cx="1798504" cy="1200329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按投影关系确定零件的结构形状</a:t>
            </a:r>
          </a:p>
        </p:txBody>
      </p:sp>
      <p:sp>
        <p:nvSpPr>
          <p:cNvPr id="8" name="矩形 7"/>
          <p:cNvSpPr/>
          <p:nvPr/>
        </p:nvSpPr>
        <p:spPr>
          <a:xfrm>
            <a:off x="8752216" y="2748224"/>
            <a:ext cx="1422184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分离零件</a:t>
            </a:r>
          </a:p>
        </p:txBody>
      </p:sp>
      <p:sp>
        <p:nvSpPr>
          <p:cNvPr id="9" name="矩形 8"/>
          <p:cNvSpPr/>
          <p:nvPr/>
        </p:nvSpPr>
        <p:spPr>
          <a:xfrm>
            <a:off x="4078620" y="4069028"/>
            <a:ext cx="1349723" cy="830997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81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分析装配关系</a:t>
            </a:r>
          </a:p>
        </p:txBody>
      </p:sp>
      <p:cxnSp>
        <p:nvCxnSpPr>
          <p:cNvPr id="11" name="直接连接符 10"/>
          <p:cNvCxnSpPr>
            <a:stCxn id="4" idx="3"/>
            <a:endCxn id="6" idx="1"/>
          </p:cNvCxnSpPr>
          <p:nvPr/>
        </p:nvCxnSpPr>
        <p:spPr>
          <a:xfrm flipV="1">
            <a:off x="3135087" y="3087134"/>
            <a:ext cx="615839" cy="1440929"/>
          </a:xfrm>
          <a:prstGeom prst="bentConnector3">
            <a:avLst>
              <a:gd name="adj1" fmla="val 50000"/>
            </a:avLst>
          </a:prstGeom>
          <a:ln w="381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rot="10800000" flipH="1">
            <a:off x="5545725" y="3033096"/>
            <a:ext cx="811532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rot="10800000" flipH="1">
            <a:off x="8125889" y="3025839"/>
            <a:ext cx="648000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405166" y="3822282"/>
            <a:ext cx="1895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结合零件的加工制造方法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5407840" y="4470400"/>
            <a:ext cx="206701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460839" y="4039997"/>
            <a:ext cx="1567046" cy="830997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确定其工艺结构</a:t>
            </a:r>
          </a:p>
        </p:txBody>
      </p:sp>
      <p:sp>
        <p:nvSpPr>
          <p:cNvPr id="20" name="矩形 19"/>
          <p:cNvSpPr/>
          <p:nvPr/>
        </p:nvSpPr>
        <p:spPr>
          <a:xfrm>
            <a:off x="3831771" y="5462397"/>
            <a:ext cx="2206172" cy="830997"/>
          </a:xfrm>
          <a:prstGeom prst="rect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确定零件的详细结构形状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039207" y="5863770"/>
            <a:ext cx="1188000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267186" y="5578512"/>
            <a:ext cx="2040943" cy="461665"/>
          </a:xfrm>
          <a:prstGeom prst="rect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</p:spPr>
        <p:txBody>
          <a:bodyPr wrap="none">
            <a:spAutoFit/>
          </a:bodyPr>
          <a:lstStyle/>
          <a:p>
            <a:r>
              <a:rPr lang="zh-CN" altLang="en-US" dirty="0"/>
              <a:t>补齐所缺图线</a:t>
            </a:r>
          </a:p>
        </p:txBody>
      </p:sp>
      <p:cxnSp>
        <p:nvCxnSpPr>
          <p:cNvPr id="37" name="直接连接符 10"/>
          <p:cNvCxnSpPr/>
          <p:nvPr/>
        </p:nvCxnSpPr>
        <p:spPr>
          <a:xfrm rot="16200000" flipH="1">
            <a:off x="2820629" y="4872842"/>
            <a:ext cx="1584000" cy="360000"/>
          </a:xfrm>
          <a:prstGeom prst="bentConnector2">
            <a:avLst/>
          </a:prstGeom>
          <a:ln w="381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3433892" y="4535713"/>
            <a:ext cx="648000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6" grpId="0"/>
      <p:bldP spid="19" grpId="0" animBg="1"/>
      <p:bldP spid="20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014230" y="893012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9746" y="273384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5" name="矩形 4"/>
          <p:cNvSpPr/>
          <p:nvPr/>
        </p:nvSpPr>
        <p:spPr>
          <a:xfrm>
            <a:off x="1164934" y="1507573"/>
            <a:ext cx="4931065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）尺寸标注：</a:t>
            </a:r>
            <a:r>
              <a:rPr 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   </a:t>
            </a:r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标注零件图尺寸时应注意，有配合关系的表面要标注公差带代号或极限偏差数值。</a:t>
            </a:r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2"/>
          <a:srcRect r="57731" b="11465"/>
          <a:stretch>
            <a:fillRect/>
          </a:stretch>
        </p:blipFill>
        <p:spPr bwMode="auto">
          <a:xfrm>
            <a:off x="5791510" y="1307403"/>
            <a:ext cx="4249511" cy="507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矩形 24"/>
          <p:cNvSpPr/>
          <p:nvPr/>
        </p:nvSpPr>
        <p:spPr bwMode="auto">
          <a:xfrm>
            <a:off x="8807307" y="3068661"/>
            <a:ext cx="653141" cy="167969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1164933" y="3827332"/>
            <a:ext cx="4931065" cy="2238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eaLnBrk="1" hangingPunct="1">
              <a:lnSpc>
                <a:spcPct val="150000"/>
              </a:lnSpc>
            </a:pPr>
            <a:r>
              <a:rPr kumimoji="0" lang="zh-CN" altLang="en-US" dirty="0">
                <a:solidFill>
                  <a:schemeClr val="tx1"/>
                </a:solidFill>
                <a:cs typeface="宋体" pitchFamily="2" charset="-122"/>
              </a:rPr>
              <a:t>   支座与导套的</a:t>
            </a:r>
            <a:r>
              <a:rPr kumimoji="0" lang="zh-CN" altLang="en-US" dirty="0">
                <a:solidFill>
                  <a:srgbClr val="FF0000"/>
                </a:solidFill>
                <a:cs typeface="宋体" pitchFamily="2" charset="-122"/>
              </a:rPr>
              <a:t>配合尺寸</a:t>
            </a:r>
            <a:r>
              <a:rPr kumimoji="0" lang="zh-CN" altLang="en-US" dirty="0">
                <a:solidFill>
                  <a:schemeClr val="tx1"/>
                </a:solidFill>
                <a:cs typeface="宋体" pitchFamily="2" charset="-122"/>
              </a:rPr>
              <a:t>为</a:t>
            </a:r>
            <a:r>
              <a:rPr kumimoji="0" lang="zh-CN" altLang="zh-CN" i="1" dirty="0">
                <a:solidFill>
                  <a:srgbClr val="FF0000"/>
                </a:solidFill>
                <a:cs typeface="宋体" pitchFamily="2" charset="-122"/>
              </a:rPr>
              <a:t>φ</a:t>
            </a:r>
            <a:r>
              <a:rPr kumimoji="0" lang="zh-CN" altLang="zh-CN" dirty="0">
                <a:solidFill>
                  <a:srgbClr val="FF0000"/>
                </a:solidFill>
                <a:cs typeface="Times New Roman" pitchFamily="18" charset="0"/>
              </a:rPr>
              <a:t>30</a:t>
            </a:r>
            <a:r>
              <a:rPr kumimoji="0" lang="zh-CN" altLang="zh-CN" i="1" dirty="0">
                <a:solidFill>
                  <a:srgbClr val="FF0000"/>
                </a:solidFill>
                <a:cs typeface="Times New Roman" pitchFamily="18" charset="0"/>
              </a:rPr>
              <a:t>H</a:t>
            </a:r>
            <a:r>
              <a:rPr kumimoji="0" lang="zh-CN" altLang="zh-CN" dirty="0">
                <a:solidFill>
                  <a:srgbClr val="FF0000"/>
                </a:solidFill>
                <a:cs typeface="Times New Roman" pitchFamily="18" charset="0"/>
              </a:rPr>
              <a:t>8/</a:t>
            </a:r>
            <a:r>
              <a:rPr kumimoji="0" lang="zh-CN" altLang="zh-CN" i="1" dirty="0">
                <a:solidFill>
                  <a:srgbClr val="FF0000"/>
                </a:solidFill>
                <a:cs typeface="Times New Roman" pitchFamily="18" charset="0"/>
              </a:rPr>
              <a:t>k</a:t>
            </a:r>
            <a:r>
              <a:rPr kumimoji="0" lang="zh-CN" altLang="zh-CN" dirty="0">
                <a:solidFill>
                  <a:srgbClr val="FF0000"/>
                </a:solidFill>
                <a:cs typeface="Times New Roman" pitchFamily="18" charset="0"/>
              </a:rPr>
              <a:t>7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，对于导套，在其零件图上应标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注</a:t>
            </a:r>
            <a:r>
              <a:rPr kumimoji="0" lang="zh-CN" altLang="zh-CN" i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φ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30</a:t>
            </a:r>
            <a:r>
              <a:rPr kumimoji="0" lang="en-US" altLang="zh-CN" i="1" dirty="0">
                <a:solidFill>
                  <a:srgbClr val="FF0000"/>
                </a:solidFill>
                <a:cs typeface="Times New Roman" pitchFamily="18" charset="0"/>
              </a:rPr>
              <a:t>k7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，而对于支座，在其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零件图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上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应标注</a:t>
            </a:r>
            <a:r>
              <a:rPr kumimoji="0" lang="en-US" altLang="zh-CN" i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φ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30</a:t>
            </a:r>
            <a:r>
              <a:rPr kumimoji="0" lang="en-US" altLang="zh-CN" i="1" dirty="0">
                <a:solidFill>
                  <a:srgbClr val="FF0000"/>
                </a:solidFill>
                <a:cs typeface="Times New Roman" pitchFamily="18" charset="0"/>
              </a:rPr>
              <a:t>H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8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。</a:t>
            </a:r>
            <a:endParaRPr kumimoji="0" lang="zh-CN" altLang="en-US" dirty="0">
              <a:solidFill>
                <a:schemeClr val="tx1"/>
              </a:solidFill>
              <a:latin typeface="Arial" pitchFamily="34" charset="0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812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animBg="1"/>
      <p:bldP spid="13516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003078" y="92560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5" name="矩形 4"/>
          <p:cNvSpPr/>
          <p:nvPr/>
        </p:nvSpPr>
        <p:spPr>
          <a:xfrm>
            <a:off x="1167834" y="1501654"/>
            <a:ext cx="100500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）技术要求：</a:t>
            </a:r>
            <a:r>
              <a:rPr lang="zh-CN" altLang="en-US" dirty="0">
                <a:solidFill>
                  <a:srgbClr val="0070C0"/>
                </a:solidFill>
              </a:rPr>
              <a:t>标注表面结构要求时，应先分析所拆画零件各表面形成的方式。在技术要求中，写出该零件在设计、加工、使用过程中需要的技术方面的要求。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67834" y="3445801"/>
            <a:ext cx="201351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）拆画零件</a:t>
            </a: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图的步骤</a:t>
            </a:r>
            <a:endParaRPr lang="zh-CN" altLang="en-US" b="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478690" y="2739459"/>
            <a:ext cx="576060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按</a:t>
            </a:r>
            <a:r>
              <a:rPr lang="zh-CN" altLang="en-US" dirty="0">
                <a:latin typeface="宋体" pitchFamily="2" charset="-122"/>
              </a:rPr>
              <a:t>读装配图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的要求，看懂部件的工作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原理、装配关系和零件的结构形状。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520257" y="3659206"/>
            <a:ext cx="591299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根据零件图视图表达的要求，</a:t>
            </a:r>
            <a:r>
              <a:rPr lang="zh-CN" altLang="en-US" dirty="0">
                <a:latin typeface="宋体" pitchFamily="2" charset="-122"/>
              </a:rPr>
              <a:t>确定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各</a:t>
            </a:r>
          </a:p>
          <a:p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   零件的视图</a:t>
            </a:r>
            <a:r>
              <a:rPr lang="zh-CN" altLang="en-US" dirty="0">
                <a:latin typeface="宋体" pitchFamily="2" charset="-122"/>
              </a:rPr>
              <a:t>表达方案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534112" y="4605643"/>
            <a:ext cx="564976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根据零件图的内容和画图要求，</a:t>
            </a:r>
            <a:r>
              <a:rPr lang="zh-CN" altLang="en-US" dirty="0">
                <a:latin typeface="宋体" pitchFamily="2" charset="-122"/>
              </a:rPr>
              <a:t>画出</a:t>
            </a:r>
          </a:p>
          <a:p>
            <a:r>
              <a:rPr lang="zh-CN" altLang="en-US" dirty="0">
                <a:latin typeface="宋体" pitchFamily="2" charset="-122"/>
              </a:rPr>
              <a:t>   零件工作图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997200" y="763031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b="0">
              <a:solidFill>
                <a:schemeClr val="tx1"/>
              </a:solidFill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925019" y="5552080"/>
            <a:ext cx="10649946" cy="461665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zh-CN" altLang="en-US" dirty="0">
                <a:solidFill>
                  <a:srgbClr val="002060"/>
                </a:solidFill>
                <a:latin typeface="宋体" pitchFamily="2" charset="-122"/>
              </a:rPr>
              <a:t>区分零件图与装配图在视图内容、表达方法、尺寸标注等方面的不同。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utoUpdateAnimBg="0"/>
      <p:bldP spid="9" grpId="0" autoUpdateAnimBg="0"/>
      <p:bldP spid="10" grpId="0" autoUpdateAnimBg="0"/>
      <p:bldP spid="11" grpId="0" autoUpdateAnimBg="0"/>
      <p:bldP spid="1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021381" y="1905902"/>
            <a:ext cx="364000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① 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根据剖面线的方向和间隔的不同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，及视图间的投影关系等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区分形体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1038246" y="3986531"/>
            <a:ext cx="355019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③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看尺寸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，综合考虑零件的功用、加工、装配等情况，然后确定零件的形状。</a:t>
            </a: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996560" y="5536035"/>
            <a:ext cx="355687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④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形状不能确定的部分，要根据零件的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功用及结构常识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确定。</a:t>
            </a: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1041831" y="3238645"/>
            <a:ext cx="355687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②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看零件编号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，分离不剖零件。</a:t>
            </a:r>
          </a:p>
        </p:txBody>
      </p:sp>
      <p:sp>
        <p:nvSpPr>
          <p:cNvPr id="7" name="矩形 6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29143" y="1378071"/>
            <a:ext cx="1422184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分析零件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097" y="1643315"/>
            <a:ext cx="6800000" cy="494285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59" y="1711989"/>
            <a:ext cx="6809577" cy="5056157"/>
          </a:xfrm>
          <a:prstGeom prst="rect">
            <a:avLst/>
          </a:prstGeom>
        </p:spPr>
      </p:pic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4358446" y="1331186"/>
            <a:ext cx="51667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i="1" dirty="0"/>
              <a:t>怎样把零件从装配图中分离出来呢？</a:t>
            </a:r>
            <a:endParaRPr lang="zh-CN" alt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94F45F2-E0F7-485A-8DC5-117F93421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638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79" grpId="0" autoUpdateAnimBg="0"/>
      <p:bldP spid="75780" grpId="0" autoUpdateAnimBg="0"/>
      <p:bldP spid="75782" grpId="0" autoUpdateAnimBg="0"/>
      <p:bldP spid="9" grpId="0" autoUpdateAnimBg="0"/>
      <p:bldP spid="7578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52888" y="1912939"/>
            <a:ext cx="6399213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8306" name="Text Box 1026"/>
          <p:cNvSpPr txBox="1">
            <a:spLocks noChangeArrowheads="1"/>
          </p:cNvSpPr>
          <p:nvPr/>
        </p:nvSpPr>
        <p:spPr bwMode="auto">
          <a:xfrm>
            <a:off x="1003247" y="1384208"/>
            <a:ext cx="1423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轴套</a:t>
            </a:r>
          </a:p>
        </p:txBody>
      </p:sp>
      <p:sp>
        <p:nvSpPr>
          <p:cNvPr id="8" name="矩形 7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8186058" y="5013960"/>
            <a:ext cx="2222862" cy="14916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5320146" y="2036618"/>
            <a:ext cx="318655" cy="304800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5869" y="1504574"/>
            <a:ext cx="7218608" cy="5133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1003247" y="4501407"/>
            <a:ext cx="25693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</a:rPr>
              <a:t>       只要先</a:t>
            </a:r>
            <a:r>
              <a:rPr lang="zh-CN" altLang="en-US" sz="2000" dirty="0">
                <a:solidFill>
                  <a:srgbClr val="FF0000"/>
                </a:solidFill>
              </a:rPr>
              <a:t>拆去紧定螺钉</a:t>
            </a:r>
            <a:r>
              <a:rPr lang="en-US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、手轮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、垫片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和紧定螺钉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zh-CN" altLang="en-US" sz="2000" dirty="0">
                <a:solidFill>
                  <a:schemeClr val="accent2"/>
                </a:solidFill>
              </a:rPr>
              <a:t>即可将该零件卸下。</a:t>
            </a:r>
          </a:p>
        </p:txBody>
      </p:sp>
      <p:sp>
        <p:nvSpPr>
          <p:cNvPr id="76803" name="Text Box 1027"/>
          <p:cNvSpPr txBox="1">
            <a:spLocks noChangeArrowheads="1"/>
          </p:cNvSpPr>
          <p:nvPr/>
        </p:nvSpPr>
        <p:spPr bwMode="auto">
          <a:xfrm>
            <a:off x="1003247" y="1966677"/>
            <a:ext cx="273262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</a:rPr>
              <a:t>        从明细栏中找到轴套的序号，了解到该零件的材料为</a:t>
            </a:r>
            <a:r>
              <a:rPr lang="en-US" sz="2000" dirty="0">
                <a:solidFill>
                  <a:schemeClr val="accent2"/>
                </a:solidFill>
              </a:rPr>
              <a:t>45</a:t>
            </a:r>
            <a:r>
              <a:rPr lang="zh-CN" altLang="en-US" sz="2000" dirty="0">
                <a:solidFill>
                  <a:schemeClr val="accent2"/>
                </a:solidFill>
              </a:rPr>
              <a:t>（分析出该零件为</a:t>
            </a:r>
            <a:r>
              <a:rPr lang="zh-CN" altLang="en-US" sz="2000" dirty="0">
                <a:solidFill>
                  <a:srgbClr val="FF0000"/>
                </a:solidFill>
              </a:rPr>
              <a:t>机加工件</a:t>
            </a:r>
            <a:r>
              <a:rPr lang="zh-CN" altLang="en-US" sz="2000" dirty="0">
                <a:solidFill>
                  <a:schemeClr val="accent2"/>
                </a:solidFill>
              </a:rPr>
              <a:t>）、数量为“</a:t>
            </a:r>
            <a:r>
              <a:rPr lang="en-US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”件。再从装配图中找到该零件的位置。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B23C4A9-9DD2-4682-82C4-41E2F12C2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932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/>
      <p:bldP spid="7680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551" y="2589358"/>
            <a:ext cx="5316454" cy="3699697"/>
          </a:xfrm>
          <a:prstGeom prst="rect">
            <a:avLst/>
          </a:prstGeom>
        </p:spPr>
      </p:pic>
      <p:sp>
        <p:nvSpPr>
          <p:cNvPr id="98306" name="Text Box 1026"/>
          <p:cNvSpPr txBox="1">
            <a:spLocks noChangeArrowheads="1"/>
          </p:cNvSpPr>
          <p:nvPr/>
        </p:nvSpPr>
        <p:spPr bwMode="auto">
          <a:xfrm>
            <a:off x="1003247" y="1384208"/>
            <a:ext cx="1423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轴套</a:t>
            </a:r>
          </a:p>
        </p:txBody>
      </p:sp>
      <p:sp>
        <p:nvSpPr>
          <p:cNvPr id="8" name="矩形 7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16" name="矩形 15"/>
          <p:cNvSpPr/>
          <p:nvPr/>
        </p:nvSpPr>
        <p:spPr>
          <a:xfrm>
            <a:off x="1003247" y="4501407"/>
            <a:ext cx="25693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</a:rPr>
              <a:t>       只要先</a:t>
            </a:r>
            <a:r>
              <a:rPr lang="zh-CN" altLang="en-US" sz="2000" dirty="0">
                <a:solidFill>
                  <a:srgbClr val="FF0000"/>
                </a:solidFill>
              </a:rPr>
              <a:t>拆去紧定螺钉</a:t>
            </a:r>
            <a:r>
              <a:rPr lang="en-US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、手轮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、垫片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和紧定螺钉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zh-CN" altLang="en-US" sz="2000" dirty="0">
                <a:solidFill>
                  <a:schemeClr val="accent2"/>
                </a:solidFill>
              </a:rPr>
              <a:t>即可将该零件卸下。</a:t>
            </a:r>
          </a:p>
        </p:txBody>
      </p:sp>
      <p:sp>
        <p:nvSpPr>
          <p:cNvPr id="76803" name="Text Box 1027"/>
          <p:cNvSpPr txBox="1">
            <a:spLocks noChangeArrowheads="1"/>
          </p:cNvSpPr>
          <p:nvPr/>
        </p:nvSpPr>
        <p:spPr bwMode="auto">
          <a:xfrm>
            <a:off x="1003247" y="1966677"/>
            <a:ext cx="273262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</a:rPr>
              <a:t>        从明细栏中找到轴套的序号，了解到该零件的材料为</a:t>
            </a:r>
            <a:r>
              <a:rPr lang="en-US" sz="2000" dirty="0">
                <a:solidFill>
                  <a:schemeClr val="accent2"/>
                </a:solidFill>
              </a:rPr>
              <a:t>45</a:t>
            </a:r>
            <a:r>
              <a:rPr lang="zh-CN" altLang="en-US" sz="2000" dirty="0">
                <a:solidFill>
                  <a:schemeClr val="accent2"/>
                </a:solidFill>
              </a:rPr>
              <a:t>（分析出该零件为</a:t>
            </a:r>
            <a:r>
              <a:rPr lang="zh-CN" altLang="en-US" sz="2000" dirty="0">
                <a:solidFill>
                  <a:srgbClr val="FF0000"/>
                </a:solidFill>
              </a:rPr>
              <a:t>机加工件</a:t>
            </a:r>
            <a:r>
              <a:rPr lang="zh-CN" altLang="en-US" sz="2000" dirty="0">
                <a:solidFill>
                  <a:schemeClr val="accent2"/>
                </a:solidFill>
              </a:rPr>
              <a:t>）、数量为“</a:t>
            </a:r>
            <a:r>
              <a:rPr lang="en-US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”件。再从装配图中找到该零件的位置。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22" t="22695" r="95276" b="45966"/>
          <a:stretch/>
        </p:blipFill>
        <p:spPr>
          <a:xfrm>
            <a:off x="6408510" y="3515282"/>
            <a:ext cx="178129" cy="11162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06" r="83316" b="20831"/>
          <a:stretch/>
        </p:blipFill>
        <p:spPr>
          <a:xfrm>
            <a:off x="5314030" y="2650797"/>
            <a:ext cx="1163083" cy="287382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222" t="8309" r="80791" b="75228"/>
          <a:stretch/>
        </p:blipFill>
        <p:spPr>
          <a:xfrm>
            <a:off x="5908410" y="3484547"/>
            <a:ext cx="296884" cy="64126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4615" y="3178390"/>
            <a:ext cx="514286" cy="41904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26606" y="3196355"/>
            <a:ext cx="857143" cy="180000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9A4DD9BD-D885-40F5-BD2D-F67F5D23B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439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11111E-6 L -4.79167E-6 -0.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81481E-6 L -0.21862 0.0011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3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48148E-6 L -0.09231 0.0060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22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48148E-6 L -0.05052 0.0004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22222E-6 L -0.17865 0.0055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3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026"/>
          <p:cNvSpPr txBox="1">
            <a:spLocks noChangeArrowheads="1"/>
          </p:cNvSpPr>
          <p:nvPr/>
        </p:nvSpPr>
        <p:spPr bwMode="auto">
          <a:xfrm>
            <a:off x="914598" y="1519543"/>
            <a:ext cx="1423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轴套</a:t>
            </a:r>
          </a:p>
        </p:txBody>
      </p:sp>
      <p:sp>
        <p:nvSpPr>
          <p:cNvPr id="76803" name="Text Box 1027"/>
          <p:cNvSpPr txBox="1">
            <a:spLocks noChangeArrowheads="1"/>
          </p:cNvSpPr>
          <p:nvPr/>
        </p:nvSpPr>
        <p:spPr bwMode="auto">
          <a:xfrm>
            <a:off x="914599" y="2027214"/>
            <a:ext cx="3220940" cy="277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根据剖面线的方向及视图间的投影关系，在主、左视图中分离出轴套的主要轮廓。</a:t>
            </a:r>
            <a:endParaRPr lang="zh-CN" altLang="en-US" b="0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76805" name="Text Box 1029"/>
          <p:cNvSpPr txBox="1">
            <a:spLocks noChangeArrowheads="1"/>
          </p:cNvSpPr>
          <p:nvPr/>
        </p:nvSpPr>
        <p:spPr bwMode="auto">
          <a:xfrm>
            <a:off x="900744" y="4595284"/>
            <a:ext cx="3220940" cy="166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在有配合关系的轴肩处应设计退刀槽或砂轮越程槽。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071386" y="2104852"/>
            <a:ext cx="5970153" cy="3699164"/>
            <a:chOff x="4474585" y="2453554"/>
            <a:chExt cx="3615315" cy="2227984"/>
          </a:xfrm>
        </p:grpSpPr>
        <p:pic>
          <p:nvPicPr>
            <p:cNvPr id="136194" name="Picture 2"/>
            <p:cNvPicPr>
              <a:picLocks noChangeAspect="1" noChangeArrowheads="1"/>
            </p:cNvPicPr>
            <p:nvPr/>
          </p:nvPicPr>
          <p:blipFill>
            <a:blip r:embed="rId2"/>
            <a:srcRect r="80650"/>
            <a:stretch>
              <a:fillRect/>
            </a:stretch>
          </p:blipFill>
          <p:spPr bwMode="auto">
            <a:xfrm>
              <a:off x="4474585" y="2453554"/>
              <a:ext cx="1302760" cy="2200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/>
            <a:srcRect l="65240"/>
            <a:stretch>
              <a:fillRect/>
            </a:stretch>
          </p:blipFill>
          <p:spPr bwMode="auto">
            <a:xfrm>
              <a:off x="5749636" y="2481263"/>
              <a:ext cx="2340264" cy="2200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816E2151-534E-48E5-9B97-FA8D16453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1FC37E-A7F8-412D-875B-76A8D1933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65" y="2104852"/>
            <a:ext cx="5888313" cy="365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130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  <p:bldP spid="7680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17" descr="D:\MHZ\mpwj\教材类\2013教材改2\工图 初稿前\立体图jpg\12-20.jp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21425479">
            <a:off x="4597637" y="1932141"/>
            <a:ext cx="7076394" cy="380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A8B7F3-CC8B-4EB7-AF4D-EF61F979E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86" y="939357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pic>
        <p:nvPicPr>
          <p:cNvPr id="6" name="Picture 1" descr="12-20c-1">
            <a:extLst>
              <a:ext uri="{FF2B5EF4-FFF2-40B4-BE49-F238E27FC236}">
                <a16:creationId xmlns:a16="http://schemas.microsoft.com/office/drawing/2014/main" id="{767E476A-540D-4EEE-9F11-A890291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69986" y="2313688"/>
            <a:ext cx="1706428" cy="243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12-20a-1">
            <a:extLst>
              <a:ext uri="{FF2B5EF4-FFF2-40B4-BE49-F238E27FC236}">
                <a16:creationId xmlns:a16="http://schemas.microsoft.com/office/drawing/2014/main" id="{DD49C8A7-9B60-47C3-8061-2CD00197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787764" y="2241019"/>
            <a:ext cx="1475473" cy="2576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293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014230" y="893012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9746" y="273384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5" name="矩形 4"/>
          <p:cNvSpPr/>
          <p:nvPr/>
        </p:nvSpPr>
        <p:spPr>
          <a:xfrm>
            <a:off x="1342922" y="1674673"/>
            <a:ext cx="36618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尺寸标注：</a:t>
            </a:r>
            <a:r>
              <a:rPr 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    有配合关系的表面要标注公差带代号或极限偏差数值。</a:t>
            </a:r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2"/>
          <a:srcRect r="57731" b="11465"/>
          <a:stretch>
            <a:fillRect/>
          </a:stretch>
        </p:blipFill>
        <p:spPr bwMode="auto">
          <a:xfrm>
            <a:off x="5791510" y="1307403"/>
            <a:ext cx="4249511" cy="507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矩形 24"/>
          <p:cNvSpPr/>
          <p:nvPr/>
        </p:nvSpPr>
        <p:spPr bwMode="auto">
          <a:xfrm>
            <a:off x="7024255" y="3428999"/>
            <a:ext cx="928255" cy="19881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1342922" y="3748998"/>
            <a:ext cx="42495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eaLnBrk="1" hangingPunct="1"/>
            <a:r>
              <a:rPr kumimoji="0" lang="zh-CN" altLang="en-US" dirty="0">
                <a:solidFill>
                  <a:schemeClr val="tx1"/>
                </a:solidFill>
                <a:cs typeface="宋体" pitchFamily="2" charset="-122"/>
              </a:rPr>
              <a:t>   轴套与导杆的</a:t>
            </a:r>
            <a:r>
              <a:rPr kumimoji="0" lang="zh-CN" altLang="en-US" dirty="0">
                <a:solidFill>
                  <a:srgbClr val="FF0000"/>
                </a:solidFill>
                <a:cs typeface="宋体" pitchFamily="2" charset="-122"/>
              </a:rPr>
              <a:t>配合尺寸</a:t>
            </a:r>
            <a:r>
              <a:rPr kumimoji="0" lang="zh-CN" altLang="en-US" dirty="0">
                <a:solidFill>
                  <a:schemeClr val="tx1"/>
                </a:solidFill>
                <a:cs typeface="宋体" pitchFamily="2" charset="-122"/>
              </a:rPr>
              <a:t>为</a:t>
            </a:r>
            <a:r>
              <a:rPr kumimoji="0" lang="zh-CN" altLang="zh-CN" i="1" dirty="0">
                <a:solidFill>
                  <a:srgbClr val="FF0000"/>
                </a:solidFill>
                <a:cs typeface="宋体" pitchFamily="2" charset="-122"/>
              </a:rPr>
              <a:t>φ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8</a:t>
            </a:r>
            <a:r>
              <a:rPr kumimoji="0" lang="zh-CN" altLang="zh-CN" i="1" dirty="0">
                <a:solidFill>
                  <a:srgbClr val="FF0000"/>
                </a:solidFill>
                <a:cs typeface="Times New Roman" pitchFamily="18" charset="0"/>
              </a:rPr>
              <a:t>H</a:t>
            </a:r>
            <a:r>
              <a:rPr kumimoji="0" lang="zh-CN" altLang="zh-CN" dirty="0">
                <a:solidFill>
                  <a:srgbClr val="FF0000"/>
                </a:solidFill>
                <a:cs typeface="Times New Roman" pitchFamily="18" charset="0"/>
              </a:rPr>
              <a:t>8/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h</a:t>
            </a:r>
            <a:r>
              <a:rPr kumimoji="0" lang="zh-CN" altLang="zh-CN" dirty="0">
                <a:solidFill>
                  <a:srgbClr val="FF0000"/>
                </a:solidFill>
                <a:cs typeface="Times New Roman" pitchFamily="18" charset="0"/>
              </a:rPr>
              <a:t>7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，对于轴套，在其零件图上应标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注</a:t>
            </a:r>
            <a:r>
              <a:rPr kumimoji="0" lang="zh-CN" altLang="zh-CN" i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φ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8</a:t>
            </a:r>
            <a:r>
              <a:rPr kumimoji="0" lang="en-US" altLang="zh-CN" i="1" dirty="0">
                <a:solidFill>
                  <a:srgbClr val="FF0000"/>
                </a:solidFill>
                <a:cs typeface="Times New Roman" pitchFamily="18" charset="0"/>
              </a:rPr>
              <a:t>H8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，而对于导杆，在其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零件图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上</a:t>
            </a:r>
            <a:r>
              <a:rPr kumimoji="0" lang="zh-CN" altLang="en-US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应标注</a:t>
            </a:r>
            <a:r>
              <a:rPr kumimoji="0" lang="en-US" altLang="zh-CN" i="1" dirty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φ</a:t>
            </a:r>
            <a:r>
              <a:rPr kumimoji="0" lang="en-US" altLang="zh-CN" dirty="0">
                <a:solidFill>
                  <a:srgbClr val="FF0000"/>
                </a:solidFill>
                <a:cs typeface="Times New Roman" pitchFamily="18" charset="0"/>
              </a:rPr>
              <a:t>8h7</a:t>
            </a:r>
            <a:r>
              <a:rPr kumimoji="0" lang="zh-CN" altLang="en-US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。</a:t>
            </a:r>
            <a:endParaRPr kumimoji="0" lang="zh-CN" altLang="en-US" dirty="0">
              <a:solidFill>
                <a:schemeClr val="tx1"/>
              </a:solidFill>
              <a:latin typeface="Arial" pitchFamily="34" charset="0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4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5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animBg="1"/>
      <p:bldP spid="13516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8092" y="1910130"/>
            <a:ext cx="6810808" cy="4700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58759" y="889372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10" name="Text Box 1026"/>
          <p:cNvSpPr txBox="1">
            <a:spLocks noChangeArrowheads="1"/>
          </p:cNvSpPr>
          <p:nvPr/>
        </p:nvSpPr>
        <p:spPr bwMode="auto">
          <a:xfrm>
            <a:off x="6592555" y="1351037"/>
            <a:ext cx="19018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轴套零件图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F0EECE-3639-4408-97D8-65F040E17419}"/>
              </a:ext>
            </a:extLst>
          </p:cNvPr>
          <p:cNvSpPr/>
          <p:nvPr/>
        </p:nvSpPr>
        <p:spPr>
          <a:xfrm>
            <a:off x="1243100" y="1526612"/>
            <a:ext cx="27608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技术要求：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        分析零件各表面形成的方式，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0070C0"/>
                </a:solidFill>
              </a:rPr>
              <a:t>标注表面结构要求。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       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       </a:t>
            </a:r>
            <a:r>
              <a:rPr lang="zh-CN" altLang="en-US" dirty="0">
                <a:solidFill>
                  <a:srgbClr val="0070C0"/>
                </a:solidFill>
              </a:rPr>
              <a:t>在技术要求中写出零件在设计、加工、使用过程中需要的技术方面的要求。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125741" y="888516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1205903" y="1431749"/>
            <a:ext cx="4422341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宋体" pitchFamily="2" charset="-122"/>
              </a:rPr>
              <a:t>5</a:t>
            </a:r>
            <a:r>
              <a:rPr lang="zh-CN" altLang="en-US" dirty="0">
                <a:latin typeface="宋体" pitchFamily="2" charset="-122"/>
              </a:rPr>
              <a:t>）拆画零件图应注意的问题</a:t>
            </a:r>
            <a:r>
              <a:rPr lang="en-US" altLang="zh-CN" dirty="0">
                <a:latin typeface="宋体" pitchFamily="2" charset="-122"/>
              </a:rPr>
              <a:t>: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1240168" y="1944221"/>
            <a:ext cx="913046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零件的</a:t>
            </a:r>
            <a:r>
              <a:rPr lang="zh-CN" altLang="en-US" sz="2000" dirty="0">
                <a:latin typeface="宋体" pitchFamily="2" charset="-122"/>
              </a:rPr>
              <a:t>视图表达方案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应根据零件的结构形状确定，而</a:t>
            </a:r>
            <a:r>
              <a:rPr lang="zh-CN" altLang="en-US" sz="2000" dirty="0">
                <a:latin typeface="宋体" pitchFamily="2" charset="-122"/>
              </a:rPr>
              <a:t>不能盲目照抄装配图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95840" y="2331449"/>
            <a:ext cx="5834753" cy="402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1" descr="12-20c-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25881" y="2346721"/>
            <a:ext cx="1035275" cy="1475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94046" y="3886461"/>
            <a:ext cx="1039648" cy="1510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1247165" y="2497437"/>
            <a:ext cx="933534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在装配图中允许不画的</a:t>
            </a:r>
            <a:r>
              <a:rPr lang="zh-CN" altLang="en-US" sz="2000" dirty="0">
                <a:latin typeface="宋体" pitchFamily="2" charset="-122"/>
              </a:rPr>
              <a:t>零件的工艺结构，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</a:rPr>
              <a:t>如</a:t>
            </a:r>
            <a:r>
              <a:rPr lang="zh-CN" altLang="en-US" sz="2000" dirty="0">
                <a:solidFill>
                  <a:srgbClr val="FF0000"/>
                </a:solidFill>
                <a:latin typeface="宋体" pitchFamily="2" charset="-122"/>
              </a:rPr>
              <a:t>倒角、圆角、退刀槽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等，</a:t>
            </a:r>
            <a:r>
              <a:rPr lang="zh-CN" altLang="en-US" sz="2000" dirty="0">
                <a:latin typeface="宋体" pitchFamily="2" charset="-122"/>
              </a:rPr>
              <a:t>在零件图</a:t>
            </a:r>
            <a:endParaRPr lang="en-US" altLang="zh-CN" sz="2000" dirty="0">
              <a:latin typeface="宋体" pitchFamily="2" charset="-122"/>
            </a:endParaRPr>
          </a:p>
          <a:p>
            <a:r>
              <a:rPr lang="en-US" altLang="zh-CN" sz="2000" dirty="0">
                <a:latin typeface="宋体" pitchFamily="2" charset="-122"/>
              </a:rPr>
              <a:t>   </a:t>
            </a:r>
            <a:r>
              <a:rPr lang="zh-CN" altLang="en-US" sz="2000" dirty="0">
                <a:latin typeface="宋体" pitchFamily="2" charset="-122"/>
              </a:rPr>
              <a:t>中应全部画出。</a:t>
            </a:r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4372" y="3356039"/>
            <a:ext cx="4971298" cy="2947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1247165" y="3799626"/>
            <a:ext cx="3314132" cy="13234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</a:rPr>
              <a:t>☆ 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零件图的尺寸，除在装配图中注出者外，其余</a:t>
            </a:r>
            <a:r>
              <a:rPr lang="zh-CN" altLang="en-US" sz="2000" dirty="0">
                <a:latin typeface="宋体" pitchFamily="2" charset="-122"/>
              </a:rPr>
              <a:t>尺寸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都在图上</a:t>
            </a:r>
            <a:r>
              <a:rPr lang="zh-CN" altLang="en-US" sz="2000" dirty="0">
                <a:latin typeface="宋体" pitchFamily="2" charset="-122"/>
              </a:rPr>
              <a:t>按比例直接量取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</a:rPr>
              <a:t>，并圆整。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09A4A23-3BCF-4E59-8938-C4A140C73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1631" y="1350181"/>
            <a:ext cx="6810808" cy="4700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299028" y="6118915"/>
            <a:ext cx="9810048" cy="461665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宋体" pitchFamily="2" charset="-122"/>
              </a:rPr>
              <a:t>与标准件连接或配合的尺寸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,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如螺纹、倒角、退刀槽等</a:t>
            </a:r>
            <a:r>
              <a:rPr lang="zh-CN" altLang="en-US" dirty="0">
                <a:latin typeface="宋体" pitchFamily="2" charset="-122"/>
              </a:rPr>
              <a:t>要查标准注出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314804" y="6134982"/>
            <a:ext cx="9810047" cy="461665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latin typeface="宋体" pitchFamily="2" charset="-122"/>
              </a:rPr>
              <a:t>配合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要求的</a:t>
            </a:r>
            <a:r>
              <a:rPr lang="zh-CN" altLang="en-US" dirty="0">
                <a:latin typeface="宋体" pitchFamily="2" charset="-122"/>
              </a:rPr>
              <a:t>表面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，要注出尺寸的</a:t>
            </a:r>
            <a:r>
              <a:rPr lang="zh-CN" altLang="en-US" dirty="0">
                <a:latin typeface="宋体" pitchFamily="2" charset="-122"/>
              </a:rPr>
              <a:t>公差带代号或偏差数值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  <a:endParaRPr lang="zh-CN" altLang="en-US" b="0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utoUpdateAnimBg="0"/>
      <p:bldP spid="22" grpId="0"/>
      <p:bldP spid="23" grpId="0" autoUpdateAnimBg="0"/>
      <p:bldP spid="24" grpId="0" animBg="1" autoUpdateAnimBg="0"/>
      <p:bldP spid="26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208057" y="1341532"/>
            <a:ext cx="836813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6) </a:t>
            </a:r>
            <a:r>
              <a:rPr lang="zh-CN" altLang="en-US" dirty="0">
                <a:latin typeface="宋体" pitchFamily="2" charset="-122"/>
              </a:rPr>
              <a:t>根据零件各表面的作用和工作要求，注出表面结构符号。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27250" y="1768153"/>
            <a:ext cx="3230393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①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配合表面：</a:t>
            </a:r>
            <a:r>
              <a:rPr lang="en-US" altLang="zh-CN" i="1" dirty="0">
                <a:solidFill>
                  <a:schemeClr val="tx1"/>
                </a:solidFill>
              </a:rPr>
              <a:t>Ra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值取</a:t>
            </a:r>
            <a:r>
              <a:rPr lang="en-US" altLang="zh-CN" dirty="0">
                <a:solidFill>
                  <a:srgbClr val="0000CC"/>
                </a:solidFill>
              </a:rPr>
              <a:t>3.2~0.8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，公差等级高的</a:t>
            </a:r>
            <a:r>
              <a:rPr lang="en-US" altLang="zh-CN" i="1" dirty="0">
                <a:solidFill>
                  <a:schemeClr val="tx1"/>
                </a:solidFill>
              </a:rPr>
              <a:t>Ra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取较小值。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27250" y="2945905"/>
            <a:ext cx="323039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②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接触面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: </a:t>
            </a:r>
            <a:r>
              <a:rPr lang="en-US" altLang="zh-CN" i="1" dirty="0">
                <a:solidFill>
                  <a:schemeClr val="tx1"/>
                </a:solidFill>
              </a:rPr>
              <a:t>Ra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值取</a:t>
            </a:r>
            <a:r>
              <a:rPr lang="en-US" altLang="zh-CN" dirty="0">
                <a:solidFill>
                  <a:srgbClr val="0000CC"/>
                </a:solidFill>
              </a:rPr>
              <a:t>6.3~3.2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，如零件的定位底面</a:t>
            </a:r>
            <a:r>
              <a:rPr lang="en-US" altLang="zh-CN" i="1" dirty="0">
                <a:solidFill>
                  <a:schemeClr val="tx1"/>
                </a:solidFill>
                <a:latin typeface="宋体" pitchFamily="2" charset="-122"/>
              </a:rPr>
              <a:t>Ra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可取</a:t>
            </a:r>
            <a:r>
              <a:rPr lang="en-US" altLang="zh-CN" dirty="0">
                <a:solidFill>
                  <a:srgbClr val="0000CC"/>
                </a:solidFill>
              </a:rPr>
              <a:t>3.2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，一般端面可取</a:t>
            </a:r>
            <a:r>
              <a:rPr lang="en-US" altLang="zh-CN" dirty="0">
                <a:solidFill>
                  <a:srgbClr val="0000CC"/>
                </a:solidFill>
              </a:rPr>
              <a:t>6.3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等。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27250" y="4472507"/>
            <a:ext cx="363445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③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需加工的自由表面（不与其它零件接触的表面）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: </a:t>
            </a:r>
            <a:r>
              <a:rPr lang="en-US" altLang="zh-CN" i="1" dirty="0">
                <a:solidFill>
                  <a:schemeClr val="tx1"/>
                </a:solidFill>
              </a:rPr>
              <a:t>Ra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值可取</a:t>
            </a:r>
            <a:r>
              <a:rPr lang="en-US" altLang="zh-CN" dirty="0">
                <a:solidFill>
                  <a:srgbClr val="0000CC"/>
                </a:solidFill>
              </a:rPr>
              <a:t>25~12.5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，如螺栓孔等。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208057" y="6043648"/>
            <a:ext cx="102107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7</a:t>
            </a:r>
            <a:r>
              <a:rPr lang="zh-CN" altLang="en-US" dirty="0">
                <a:latin typeface="宋体" pitchFamily="2" charset="-122"/>
              </a:rPr>
              <a:t>）根据零件在部件中的作用和加工条件，确定零件图的其它技术要求。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36532" y="895368"/>
            <a:ext cx="34355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0" lang="en-US" altLang="zh-CN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</a:t>
            </a:r>
            <a:r>
              <a:rPr kumimoji="0" lang="zh-CN" altLang="en-US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由装配图拆画零件图</a:t>
            </a:r>
            <a:endParaRPr kumimoji="0" lang="zh-CN" altLang="en-US" b="0" dirty="0">
              <a:solidFill>
                <a:schemeClr val="tx1"/>
              </a:solidFill>
              <a:latin typeface="黑体" pitchFamily="49" charset="-122"/>
              <a:ea typeface="黑体" pitchFamily="49" charset="-122"/>
              <a:cs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51327" y="33027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读装配图及由装配图拆画零件图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026641" y="2145951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b="0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80F6FE1-0D66-4D1E-B684-1E4E5BFC9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03310" y="1768153"/>
            <a:ext cx="6373938" cy="4399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 autoUpdateAnimBg="0"/>
      <p:bldP spid="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92432" y="496532"/>
            <a:ext cx="14221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小  结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17752" y="1201377"/>
            <a:ext cx="5753498" cy="424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一、掌握装配图的</a:t>
            </a:r>
            <a:r>
              <a:rPr lang="zh-CN" altLang="en-US" dirty="0">
                <a:solidFill>
                  <a:srgbClr val="3333CC"/>
                </a:solidFill>
                <a:latin typeface="宋体" pitchFamily="2" charset="-122"/>
              </a:rPr>
              <a:t>规定画法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</a:t>
            </a:r>
            <a:r>
              <a:rPr lang="zh-CN" altLang="en-US" dirty="0">
                <a:solidFill>
                  <a:srgbClr val="3333CC"/>
                </a:solidFill>
                <a:latin typeface="宋体" pitchFamily="2" charset="-122"/>
              </a:rPr>
              <a:t>特殊画法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17752" y="1746759"/>
            <a:ext cx="9541587" cy="10895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二、画装配图首先选好主视图，确定较好的视图表达方案，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把部件的</a:t>
            </a:r>
            <a:endParaRPr lang="en-US" altLang="zh-CN" dirty="0">
              <a:solidFill>
                <a:schemeClr val="tx2"/>
              </a:solidFill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rgbClr val="3333CC"/>
                </a:solidFill>
                <a:latin typeface="宋体" pitchFamily="2" charset="-122"/>
              </a:rPr>
              <a:t>工作原理、装配关系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零件之间的连接固定方式和重要零件的主</a:t>
            </a:r>
            <a:endParaRPr lang="en-US" altLang="zh-CN" dirty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要结构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表达清楚。</a:t>
            </a:r>
            <a:endParaRPr lang="zh-CN" altLang="en-US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17752" y="2804195"/>
            <a:ext cx="8121650" cy="424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三、根据尺寸的作用，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弄清装配图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应标注哪几类尺寸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。</a:t>
            </a:r>
            <a:endParaRPr lang="zh-CN" altLang="en-US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60467" y="3345298"/>
            <a:ext cx="9526583" cy="10895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四、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掌握正确的画图方法和步骤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。画图时必须首先了解每个零件在</a:t>
            </a:r>
            <a:r>
              <a:rPr lang="zh-CN" altLang="en-US" dirty="0">
                <a:latin typeface="宋体" pitchFamily="2" charset="-122"/>
              </a:rPr>
              <a:t>轴</a:t>
            </a:r>
            <a:endParaRPr lang="en-US" altLang="zh-CN" dirty="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宋体" pitchFamily="2" charset="-122"/>
              </a:rPr>
              <a:t>    </a:t>
            </a:r>
            <a:r>
              <a:rPr lang="zh-CN" altLang="en-US" dirty="0">
                <a:latin typeface="宋体" pitchFamily="2" charset="-122"/>
              </a:rPr>
              <a:t>向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</a:t>
            </a:r>
            <a:r>
              <a:rPr lang="zh-CN" altLang="en-US" dirty="0">
                <a:latin typeface="宋体" pitchFamily="2" charset="-122"/>
              </a:rPr>
              <a:t>径向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的</a:t>
            </a:r>
            <a:r>
              <a:rPr lang="zh-CN" altLang="en-US" dirty="0">
                <a:latin typeface="宋体" pitchFamily="2" charset="-122"/>
              </a:rPr>
              <a:t>固定方式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，使它在装配体中有一个固定的位置，一般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latin typeface="宋体" pitchFamily="2" charset="-122"/>
              </a:rPr>
              <a:t>径向靠配合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、键、销联接固定；</a:t>
            </a:r>
            <a:r>
              <a:rPr lang="zh-CN" altLang="en-US" dirty="0">
                <a:latin typeface="宋体" pitchFamily="2" charset="-122"/>
              </a:rPr>
              <a:t>轴向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靠</a:t>
            </a:r>
            <a:r>
              <a:rPr lang="zh-CN" altLang="en-US" dirty="0">
                <a:latin typeface="宋体" pitchFamily="2" charset="-122"/>
              </a:rPr>
              <a:t>轴肩或端面固定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630507" y="6123400"/>
            <a:ext cx="652774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③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通过拆画零件图，提高看图和画图的能力。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17752" y="4482623"/>
            <a:ext cx="5599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五、读装配图的</a:t>
            </a:r>
            <a:r>
              <a:rPr lang="zh-CN" altLang="en-US" dirty="0">
                <a:solidFill>
                  <a:schemeClr val="accent2"/>
                </a:solidFill>
                <a:latin typeface="宋体" pitchFamily="2" charset="-122"/>
              </a:rPr>
              <a:t>方法和步骤，</a:t>
            </a:r>
            <a:r>
              <a:rPr lang="zh-CN" altLang="en-US" dirty="0">
                <a:latin typeface="宋体" pitchFamily="2" charset="-122"/>
              </a:rPr>
              <a:t>重点掌握</a:t>
            </a: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: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44384" y="4923241"/>
            <a:ext cx="65277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①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分析部件的工作原理和零件间的装配关系。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44384" y="5315355"/>
            <a:ext cx="7655336" cy="91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②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确定主要零件的结构形状。这是看图中的难点，在</a:t>
            </a:r>
            <a:endParaRPr lang="en-US" altLang="zh-CN" dirty="0">
              <a:solidFill>
                <a:schemeClr val="tx1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宋体" pitchFamily="2" charset="-122"/>
              </a:rPr>
              <a:t>练习中逐步掌握。</a:t>
            </a:r>
          </a:p>
        </p:txBody>
      </p:sp>
    </p:spTree>
    <p:extLst>
      <p:ext uri="{BB962C8B-B14F-4D97-AF65-F5344CB8AC3E}">
        <p14:creationId xmlns:p14="http://schemas.microsoft.com/office/powerpoint/2010/main" val="383947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WordArt 1026">
            <a:hlinkClick r:id="" action="ppaction://hlinkshowjump?jump=firstslide"/>
          </p:cNvPr>
          <p:cNvSpPr>
            <a:spLocks noChangeArrowheads="1" noChangeShapeType="1" noTextEdit="1"/>
          </p:cNvSpPr>
          <p:nvPr/>
        </p:nvSpPr>
        <p:spPr bwMode="auto">
          <a:xfrm>
            <a:off x="3960814" y="2557463"/>
            <a:ext cx="3159125" cy="2182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100000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/>
                <a:ea typeface="宋体"/>
              </a:rPr>
              <a:t>结束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2"/>
          <p:cNvSpPr txBox="1">
            <a:spLocks noChangeArrowheads="1"/>
          </p:cNvSpPr>
          <p:nvPr/>
        </p:nvSpPr>
        <p:spPr bwMode="auto">
          <a:xfrm>
            <a:off x="1166923" y="970471"/>
            <a:ext cx="2994169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3. </a:t>
            </a:r>
            <a:r>
              <a:rPr lang="zh-CN" altLang="en-US" dirty="0">
                <a:latin typeface="宋体" pitchFamily="2" charset="-122"/>
              </a:rPr>
              <a:t>画主要装配线</a:t>
            </a:r>
          </a:p>
        </p:txBody>
      </p:sp>
      <p:pic>
        <p:nvPicPr>
          <p:cNvPr id="75779" name="图片 38" descr="4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4799" y="1529099"/>
            <a:ext cx="7095692" cy="4959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8077201" y="5874327"/>
            <a:ext cx="1343891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返回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图片 68" descr="5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7059" y="1479563"/>
            <a:ext cx="6567050" cy="5206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2113826" y="1011093"/>
            <a:ext cx="439780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宋体" pitchFamily="2" charset="-122"/>
              </a:rPr>
              <a:t>⒋ </a:t>
            </a:r>
            <a:r>
              <a:rPr lang="zh-CN" altLang="en-US" dirty="0">
                <a:latin typeface="宋体" pitchFamily="2" charset="-122"/>
              </a:rPr>
              <a:t>画其它装配线及细部结构</a:t>
            </a:r>
          </a:p>
        </p:txBody>
      </p:sp>
      <p:sp>
        <p:nvSpPr>
          <p:cNvPr id="5" name="矩形 4"/>
          <p:cNvSpPr/>
          <p:nvPr/>
        </p:nvSpPr>
        <p:spPr>
          <a:xfrm>
            <a:off x="3311237" y="385696"/>
            <a:ext cx="5006570" cy="584775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画装配图的方法和步骤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8783782" y="5486402"/>
            <a:ext cx="1288473" cy="461665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返回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2661425" y="346131"/>
            <a:ext cx="1137425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 fontAlgn="auto">
              <a:spcAft>
                <a:spcPts val="0"/>
              </a:spcAft>
            </a:pPr>
            <a:r>
              <a:rPr kumimoji="0" lang="zh-CN" altLang="en-US" sz="2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cs typeface="+mj-cs"/>
              </a:rPr>
              <a:t>返回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379" y="880503"/>
            <a:ext cx="8584234" cy="59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68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d9c64a2f61f4162c56cf253f9c4b52e1ca26edfc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7451</TotalTime>
  <Words>2906</Words>
  <Application>Microsoft Office PowerPoint</Application>
  <PresentationFormat>宽屏</PresentationFormat>
  <Paragraphs>264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黑体</vt:lpstr>
      <vt:lpstr>Arial</vt:lpstr>
      <vt:lpstr>华文行楷</vt:lpstr>
      <vt:lpstr>Times New Roman</vt:lpstr>
      <vt:lpstr>宋体</vt:lpstr>
      <vt:lpstr>Calibri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穆浩志</dc:creator>
  <cp:keywords>天津理工大学</cp:keywords>
  <cp:lastModifiedBy>Lenovo</cp:lastModifiedBy>
  <cp:revision>420</cp:revision>
  <dcterms:created xsi:type="dcterms:W3CDTF">2001-04-01T01:42:18Z</dcterms:created>
  <dcterms:modified xsi:type="dcterms:W3CDTF">2021-03-09T05:40:47Z</dcterms:modified>
</cp:coreProperties>
</file>
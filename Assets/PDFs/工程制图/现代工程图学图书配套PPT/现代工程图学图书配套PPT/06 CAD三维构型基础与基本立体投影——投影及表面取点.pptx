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79" r:id="rId1"/>
  </p:sldMasterIdLst>
  <p:notesMasterIdLst>
    <p:notesMasterId r:id="rId29"/>
  </p:notesMasterIdLst>
  <p:sldIdLst>
    <p:sldId id="480" r:id="rId2"/>
    <p:sldId id="475" r:id="rId3"/>
    <p:sldId id="499" r:id="rId4"/>
    <p:sldId id="483" r:id="rId5"/>
    <p:sldId id="484" r:id="rId6"/>
    <p:sldId id="485" r:id="rId7"/>
    <p:sldId id="486" r:id="rId8"/>
    <p:sldId id="489" r:id="rId9"/>
    <p:sldId id="493" r:id="rId10"/>
    <p:sldId id="492" r:id="rId11"/>
    <p:sldId id="494" r:id="rId12"/>
    <p:sldId id="491" r:id="rId13"/>
    <p:sldId id="495" r:id="rId14"/>
    <p:sldId id="490" r:id="rId15"/>
    <p:sldId id="496" r:id="rId16"/>
    <p:sldId id="498" r:id="rId17"/>
    <p:sldId id="497" r:id="rId18"/>
    <p:sldId id="488" r:id="rId19"/>
    <p:sldId id="383" r:id="rId20"/>
    <p:sldId id="385" r:id="rId21"/>
    <p:sldId id="267" r:id="rId22"/>
    <p:sldId id="386" r:id="rId23"/>
    <p:sldId id="396" r:id="rId24"/>
    <p:sldId id="477" r:id="rId25"/>
    <p:sldId id="476" r:id="rId26"/>
    <p:sldId id="478" r:id="rId27"/>
    <p:sldId id="479" r:id="rId28"/>
  </p:sldIdLst>
  <p:sldSz cx="12192000" cy="6858000"/>
  <p:notesSz cx="6858000" cy="9144000"/>
  <p:custDataLst>
    <p:tags r:id="rId30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modifyVerifier cryptProviderType="rsaAES" cryptAlgorithmClass="hash" cryptAlgorithmType="typeAny" cryptAlgorithmSid="14" spinCount="100000" saltData="kg3CqSYyQmru4Jj4RFnosw==" hashData="8+Qg17vZXyit3J5gJm3sfCgeBhkMUgWBow15z8nFGLsfFYXCb9geS9Gr0Zql3JJ/JkoG1zjNTCO7C/p5z7iccA=="/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36" autoAdjust="0"/>
    <p:restoredTop sz="94746" autoAdjust="0"/>
  </p:normalViewPr>
  <p:slideViewPr>
    <p:cSldViewPr>
      <p:cViewPr varScale="1">
        <p:scale>
          <a:sx n="67" d="100"/>
          <a:sy n="67" d="100"/>
        </p:scale>
        <p:origin x="86" y="379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8" d="100"/>
          <a:sy n="68" d="100"/>
        </p:scale>
        <p:origin x="-2808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ags" Target="tags/tag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963A54E8-3F9B-4211-9A70-F564B1640666}" type="datetimeFigureOut">
              <a:rPr lang="zh-CN" altLang="en-US"/>
              <a:pPr>
                <a:defRPr/>
              </a:pPr>
              <a:t>2021/8/17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A2109B4-2BE4-4871-9042-B81A18466F7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32601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03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54AA141-C0C4-4767-8EE1-A186C51071FE}" type="slidenum">
              <a:rPr lang="zh-CN" altLang="en-US" smtClean="0">
                <a:ea typeface="宋体" charset="-122"/>
              </a:rPr>
              <a:pPr/>
              <a:t>4</a:t>
            </a:fld>
            <a:endParaRPr lang="en-US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2109B4-2BE4-4871-9042-B81A18466F76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9896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FE3E270-E8DF-47E3-9413-557D38AC2D53}" type="slidenum">
              <a:rPr lang="en-US" altLang="zh-CN"/>
              <a:pPr eaLnBrk="1" hangingPunct="1"/>
              <a:t>18</a:t>
            </a:fld>
            <a:endParaRPr lang="en-US" altLang="zh-CN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1051287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8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369DD83-66D2-4B96-8CEA-13215AA7AD14}" type="slidenum">
              <a:rPr lang="zh-CN" altLang="en-US"/>
              <a:pPr eaLnBrk="1" hangingPunct="1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2942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3FD1507D-F05C-4DEA-9E45-33E9DBDD9CD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9186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1C5A6EA6-81F2-487E-AD7F-ED67FF17666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084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DA257143-0046-475F-9CAF-AD9FA859F2CA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200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386242B8-2017-4805-A9FC-F98CA2A048D4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0316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CDFD0B22-47AB-4DC5-87DF-41BA992FFBAA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7791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4B4526A8-D9B0-4052-8F55-964672431F45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2278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22F3ED67-9595-4A86-AE8A-5BF6508946ED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2885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1F28BAF5-A705-49F5-889E-E58E5BA97DEA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0941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E619D9BF-0212-40D7-97F7-08171AD9D0E8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9064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2D8FF276-60FA-4FAC-994A-190D0E1801C2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158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FB8FEE21-2BF5-480F-8CC8-E30A3C5B66A4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78665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12A8ED73-1E5B-4F5E-BF15-C66ADF17E5A1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42246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74D46294-4575-4BF1-B6B0-252D9B5A44A2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58135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1047270C-765B-49CD-B045-78762A971DC7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19938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98A85570-81DC-4364-A806-4AD263077782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19383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48AFF789-A572-44A4-807A-8EEDD0C3E80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42501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265BE3E4-8A8E-42EC-88DC-F379ED4A561A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29654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F96890F3-CB43-4CE4-B37F-37275AC5F3C3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8532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47700" y="142875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97485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2" name="Rectangle 2"/>
          <p:cNvSpPr>
            <a:spLocks noChangeArrowheads="1"/>
          </p:cNvSpPr>
          <p:nvPr userDrawn="1"/>
        </p:nvSpPr>
        <p:spPr bwMode="ltGray">
          <a:xfrm>
            <a:off x="556684" y="679451"/>
            <a:ext cx="584200" cy="473075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latin typeface="Arial" charset="0"/>
            </a:endParaRPr>
          </a:p>
        </p:txBody>
      </p:sp>
      <p:sp>
        <p:nvSpPr>
          <p:cNvPr id="23" name="Rectangle 3"/>
          <p:cNvSpPr>
            <a:spLocks noChangeArrowheads="1"/>
          </p:cNvSpPr>
          <p:nvPr userDrawn="1"/>
        </p:nvSpPr>
        <p:spPr bwMode="ltGray">
          <a:xfrm>
            <a:off x="1066801" y="679450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latin typeface="Arial" charset="0"/>
            </a:endParaRPr>
          </a:p>
        </p:txBody>
      </p:sp>
      <p:sp>
        <p:nvSpPr>
          <p:cNvPr id="24" name="Rectangle 4"/>
          <p:cNvSpPr>
            <a:spLocks noChangeArrowheads="1"/>
          </p:cNvSpPr>
          <p:nvPr userDrawn="1"/>
        </p:nvSpPr>
        <p:spPr bwMode="ltGray">
          <a:xfrm>
            <a:off x="721785" y="1101726"/>
            <a:ext cx="563033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latin typeface="Arial" charset="0"/>
            </a:endParaRPr>
          </a:p>
        </p:txBody>
      </p:sp>
      <p:sp>
        <p:nvSpPr>
          <p:cNvPr id="25" name="Rectangle 5"/>
          <p:cNvSpPr>
            <a:spLocks noChangeArrowheads="1"/>
          </p:cNvSpPr>
          <p:nvPr userDrawn="1"/>
        </p:nvSpPr>
        <p:spPr bwMode="ltGray">
          <a:xfrm>
            <a:off x="1214967" y="1101726"/>
            <a:ext cx="491067" cy="473075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latin typeface="Arial" charset="0"/>
            </a:endParaRPr>
          </a:p>
        </p:txBody>
      </p:sp>
      <p:sp>
        <p:nvSpPr>
          <p:cNvPr id="26" name="Rectangle 6"/>
          <p:cNvSpPr>
            <a:spLocks noChangeArrowheads="1"/>
          </p:cNvSpPr>
          <p:nvPr userDrawn="1"/>
        </p:nvSpPr>
        <p:spPr bwMode="ltGray">
          <a:xfrm>
            <a:off x="169333" y="1028700"/>
            <a:ext cx="747184" cy="42068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latin typeface="Arial" charset="0"/>
            </a:endParaRPr>
          </a:p>
        </p:txBody>
      </p:sp>
      <p:sp>
        <p:nvSpPr>
          <p:cNvPr id="27" name="Rectangle 7"/>
          <p:cNvSpPr>
            <a:spLocks noChangeArrowheads="1"/>
          </p:cNvSpPr>
          <p:nvPr userDrawn="1"/>
        </p:nvSpPr>
        <p:spPr bwMode="gray">
          <a:xfrm>
            <a:off x="1016000" y="571500"/>
            <a:ext cx="42333" cy="1049338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latin typeface="Arial" charset="0"/>
            </a:endParaRPr>
          </a:p>
        </p:txBody>
      </p:sp>
      <p:sp>
        <p:nvSpPr>
          <p:cNvPr id="28" name="Rectangle 8"/>
          <p:cNvSpPr>
            <a:spLocks noChangeArrowheads="1"/>
          </p:cNvSpPr>
          <p:nvPr userDrawn="1"/>
        </p:nvSpPr>
        <p:spPr bwMode="gray">
          <a:xfrm>
            <a:off x="590551" y="1362075"/>
            <a:ext cx="10968567" cy="460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latin typeface="Arial" charset="0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651990" y="1082329"/>
            <a:ext cx="2201344" cy="461665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algn="ctr" fontAlgn="auto">
              <a:spcAft>
                <a:spcPts val="0"/>
              </a:spcAft>
            </a:pPr>
            <a:r>
              <a:rPr kumimoji="0" lang="zh-CN" altLang="en-US" sz="2400" b="1" dirty="0">
                <a:solidFill>
                  <a:schemeClr val="tx2"/>
                </a:solidFill>
                <a:latin typeface="华文行楷" pitchFamily="2" charset="-122"/>
                <a:ea typeface="华文行楷" pitchFamily="2" charset="-122"/>
                <a:cs typeface="+mj-cs"/>
              </a:rPr>
              <a:t>主讲：穆浩志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0C3542E-3B0F-476D-AB4C-86205C0FBC91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6193" y="48419"/>
            <a:ext cx="1085850" cy="10477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60" r:id="rId1"/>
    <p:sldLayoutId id="2147484261" r:id="rId2"/>
    <p:sldLayoutId id="2147484262" r:id="rId3"/>
    <p:sldLayoutId id="2147484263" r:id="rId4"/>
    <p:sldLayoutId id="2147484264" r:id="rId5"/>
    <p:sldLayoutId id="2147484265" r:id="rId6"/>
    <p:sldLayoutId id="2147484266" r:id="rId7"/>
    <p:sldLayoutId id="2147484267" r:id="rId8"/>
    <p:sldLayoutId id="2147484268" r:id="rId9"/>
    <p:sldLayoutId id="2147484269" r:id="rId10"/>
    <p:sldLayoutId id="2147484270" r:id="rId11"/>
    <p:sldLayoutId id="2147484271" r:id="rId12"/>
    <p:sldLayoutId id="2147484272" r:id="rId13"/>
    <p:sldLayoutId id="2147484273" r:id="rId14"/>
    <p:sldLayoutId id="2147484274" r:id="rId15"/>
    <p:sldLayoutId id="2147484275" r:id="rId16"/>
    <p:sldLayoutId id="2147484276" r:id="rId17"/>
    <p:sldLayoutId id="2147484277" r:id="rId18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jpe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jpeg"/><Relationship Id="rId9" Type="http://schemas.openxmlformats.org/officeDocument/2006/relationships/image" Target="../media/image3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2.png"/><Relationship Id="rId4" Type="http://schemas.openxmlformats.org/officeDocument/2006/relationships/image" Target="../media/image3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jpeg"/><Relationship Id="rId4" Type="http://schemas.openxmlformats.org/officeDocument/2006/relationships/image" Target="../media/image62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095500" y="1643063"/>
            <a:ext cx="4267200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kumimoji="1"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本讲重点内容</a:t>
            </a: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		</a:t>
            </a:r>
          </a:p>
          <a:p>
            <a:pPr marL="342900" indent="-342900">
              <a:lnSpc>
                <a:spcPct val="125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		</a:t>
            </a:r>
            <a:endParaRPr kumimoji="1" lang="zh-CN" altLang="en-US" sz="28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3" name="Text Box 50"/>
          <p:cNvSpPr txBox="1">
            <a:spLocks noChangeArrowheads="1"/>
          </p:cNvSpPr>
          <p:nvPr/>
        </p:nvSpPr>
        <p:spPr bwMode="auto">
          <a:xfrm>
            <a:off x="1987488" y="2276872"/>
            <a:ext cx="6448772" cy="1200329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152400" eaLnBrk="0" hangingPunct="0">
              <a:tabLst>
                <a:tab pos="2636838" algn="ctr"/>
                <a:tab pos="5273675" algn="r"/>
              </a:tabLst>
              <a:defRPr/>
            </a:pPr>
            <a:r>
              <a:rPr lang="zh-CN" altLang="en-US" sz="2400" dirty="0">
                <a:latin typeface="Arial" charset="0"/>
              </a:rPr>
              <a:t>几何体的投影表达及其表面取点的方法</a:t>
            </a:r>
            <a:endParaRPr lang="en-US" altLang="zh-CN" sz="2400" dirty="0">
              <a:latin typeface="Arial" charset="0"/>
            </a:endParaRPr>
          </a:p>
          <a:p>
            <a:pPr indent="152400" eaLnBrk="0" hangingPunct="0">
              <a:tabLst>
                <a:tab pos="2636838" algn="ctr"/>
                <a:tab pos="5273675" algn="r"/>
              </a:tabLst>
              <a:defRPr/>
            </a:pPr>
            <a:endParaRPr lang="en-US" altLang="zh-CN" sz="2400" dirty="0">
              <a:latin typeface="Arial" charset="0"/>
            </a:endParaRPr>
          </a:p>
          <a:p>
            <a:pPr indent="152400" eaLnBrk="0" hangingPunct="0">
              <a:tabLst>
                <a:tab pos="2636838" algn="ctr"/>
                <a:tab pos="5273675" algn="r"/>
              </a:tabLst>
              <a:defRPr/>
            </a:pPr>
            <a:r>
              <a:rPr lang="zh-CN" altLang="zh-CN" sz="2400" dirty="0">
                <a:latin typeface="Arial" charset="0"/>
              </a:rPr>
              <a:t>利用</a:t>
            </a:r>
            <a:r>
              <a:rPr lang="en-US" altLang="zh-CN" sz="2400" dirty="0">
                <a:latin typeface="Arial" charset="0"/>
              </a:rPr>
              <a:t>CAD</a:t>
            </a:r>
            <a:r>
              <a:rPr lang="zh-CN" altLang="zh-CN" sz="2400" dirty="0">
                <a:latin typeface="Arial" charset="0"/>
              </a:rPr>
              <a:t>软件构建三维实体</a:t>
            </a:r>
            <a:endParaRPr lang="zh-CN" altLang="en-US" sz="2400" dirty="0">
              <a:latin typeface="Arial" charset="0"/>
            </a:endParaRPr>
          </a:p>
        </p:txBody>
      </p:sp>
      <p:sp>
        <p:nvSpPr>
          <p:cNvPr id="4" name="Rectangle 52"/>
          <p:cNvSpPr>
            <a:spLocks noChangeArrowheads="1"/>
          </p:cNvSpPr>
          <p:nvPr/>
        </p:nvSpPr>
        <p:spPr bwMode="auto">
          <a:xfrm>
            <a:off x="2089854" y="3492426"/>
            <a:ext cx="3409950" cy="728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kumimoji="1"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学习目标</a:t>
            </a: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dirty="0">
                <a:latin typeface="宋体" pitchFamily="2" charset="-122"/>
              </a:rPr>
              <a:t>		</a:t>
            </a:r>
          </a:p>
          <a:p>
            <a:pPr marL="342900" indent="-342900">
              <a:lnSpc>
                <a:spcPct val="125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dirty="0">
                <a:latin typeface="宋体" pitchFamily="2" charset="-122"/>
              </a:rPr>
              <a:t>		</a:t>
            </a:r>
            <a:endParaRPr kumimoji="1" lang="zh-CN" altLang="en-US" sz="2800" dirty="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5" name="Text Box 53"/>
          <p:cNvSpPr txBox="1">
            <a:spLocks noChangeArrowheads="1"/>
          </p:cNvSpPr>
          <p:nvPr/>
        </p:nvSpPr>
        <p:spPr bwMode="auto">
          <a:xfrm>
            <a:off x="1987489" y="3960346"/>
            <a:ext cx="8239125" cy="2492990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800" dirty="0">
                <a:latin typeface="+mn-ea"/>
                <a:ea typeface="+mn-ea"/>
              </a:rPr>
              <a:t>★</a:t>
            </a:r>
            <a:r>
              <a:rPr lang="zh-CN" altLang="en-US" sz="2400" dirty="0">
                <a:latin typeface="+mn-ea"/>
                <a:ea typeface="+mn-ea"/>
              </a:rPr>
              <a:t> 理解掌握几何体的投影表达</a:t>
            </a:r>
            <a:r>
              <a:rPr lang="zh-CN" altLang="en-US" sz="2400" dirty="0">
                <a:latin typeface="+mn-ea"/>
              </a:rPr>
              <a:t>及其表面取点的方法；</a:t>
            </a:r>
            <a:r>
              <a:rPr lang="zh-CN" altLang="zh-CN" sz="2400" dirty="0"/>
              <a:t>掌握</a:t>
            </a:r>
            <a:endParaRPr lang="en-US" altLang="zh-CN" sz="2400" dirty="0"/>
          </a:p>
          <a:p>
            <a:pPr>
              <a:lnSpc>
                <a:spcPct val="150000"/>
              </a:lnSpc>
              <a:defRPr/>
            </a:pPr>
            <a:r>
              <a:rPr lang="en-US" altLang="zh-CN" sz="2400" dirty="0"/>
              <a:t>      CAD</a:t>
            </a:r>
            <a:r>
              <a:rPr lang="zh-CN" altLang="zh-CN" sz="2400" dirty="0"/>
              <a:t>软件构建三维实体的方法</a:t>
            </a:r>
            <a:endParaRPr lang="zh-CN" altLang="en-US" sz="24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800" dirty="0">
                <a:latin typeface="+mn-ea"/>
                <a:ea typeface="+mn-ea"/>
              </a:rPr>
              <a:t>★ </a:t>
            </a:r>
            <a:r>
              <a:rPr lang="zh-CN" altLang="en-US" sz="2400" dirty="0">
                <a:latin typeface="+mn-ea"/>
                <a:ea typeface="+mn-ea"/>
              </a:rPr>
              <a:t>会利用投影关系，确定几何体</a:t>
            </a:r>
            <a:r>
              <a:rPr lang="zh-CN" altLang="en-US" sz="2400" dirty="0">
                <a:latin typeface="+mn-ea"/>
              </a:rPr>
              <a:t>表面上的点；</a:t>
            </a:r>
            <a:r>
              <a:rPr lang="zh-CN" altLang="zh-CN" sz="2400" dirty="0"/>
              <a:t>会利用</a:t>
            </a:r>
            <a:r>
              <a:rPr lang="en-US" altLang="zh-CN" sz="2400" dirty="0"/>
              <a:t>CAD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400" dirty="0"/>
              <a:t>      </a:t>
            </a:r>
            <a:r>
              <a:rPr lang="zh-CN" altLang="zh-CN" sz="2400" dirty="0"/>
              <a:t>软件构建三维实体</a:t>
            </a:r>
            <a:endParaRPr lang="zh-CN" altLang="en-US" sz="2400" dirty="0">
              <a:latin typeface="Arial" charset="0"/>
            </a:endParaRPr>
          </a:p>
        </p:txBody>
      </p:sp>
      <p:sp>
        <p:nvSpPr>
          <p:cNvPr id="12" name="Text Box 31"/>
          <p:cNvSpPr txBox="1">
            <a:spLocks noChangeArrowheads="1"/>
          </p:cNvSpPr>
          <p:nvPr/>
        </p:nvSpPr>
        <p:spPr bwMode="auto">
          <a:xfrm>
            <a:off x="2639616" y="474250"/>
            <a:ext cx="6448771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CAD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三维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构形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基础与基本立体投影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67"/>
          <p:cNvSpPr>
            <a:spLocks noChangeArrowheads="1"/>
          </p:cNvSpPr>
          <p:nvPr/>
        </p:nvSpPr>
        <p:spPr bwMode="auto">
          <a:xfrm>
            <a:off x="2517775" y="361950"/>
            <a:ext cx="7010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生活中哪些产品是基于六棱柱形状的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？</a:t>
            </a:r>
          </a:p>
        </p:txBody>
      </p:sp>
      <p:pic>
        <p:nvPicPr>
          <p:cNvPr id="3" name="图片 2" descr="六边形产品1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8564" y="1603376"/>
            <a:ext cx="2625725" cy="197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 descr="六边形产品2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530350"/>
            <a:ext cx="4591050" cy="288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 descr="六边形产品3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378325"/>
            <a:ext cx="4819650" cy="2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5" descr="六边形产品4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7388" y="3538539"/>
            <a:ext cx="4710112" cy="315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343472" y="3825114"/>
            <a:ext cx="9793088" cy="929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  <a:cs typeface="宋体" panose="02010600030101010101" pitchFamily="2" charset="-122"/>
              </a:rPr>
              <a:t>☆</a:t>
            </a:r>
            <a:r>
              <a:rPr lang="zh-CN" altLang="zh-CN" sz="2400" b="1" dirty="0">
                <a:solidFill>
                  <a:srgbClr val="FF0000"/>
                </a:solidFill>
                <a:latin typeface="+mn-ea"/>
                <a:ea typeface="+mn-ea"/>
                <a:cs typeface="宋体" panose="02010600030101010101" pitchFamily="2" charset="-122"/>
              </a:rPr>
              <a:t>几何模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  <a:cs typeface="宋体" panose="02010600030101010101" pitchFamily="2" charset="-122"/>
              </a:rPr>
              <a:t>形：</a:t>
            </a:r>
            <a:endParaRPr lang="zh-CN" altLang="en-US" sz="2400" b="1" dirty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+mn-ea"/>
                <a:ea typeface="+mn-ea"/>
                <a:cs typeface="宋体" panose="02010600030101010101" pitchFamily="2" charset="-122"/>
              </a:rPr>
              <a:t>  </a:t>
            </a:r>
            <a:r>
              <a:rPr lang="zh-CN" altLang="zh-CN" sz="2400" b="1" dirty="0">
                <a:latin typeface="+mn-ea"/>
                <a:ea typeface="+mn-ea"/>
                <a:cs typeface="宋体" panose="02010600030101010101" pitchFamily="2" charset="-122"/>
              </a:rPr>
              <a:t>用来描述产品的形状、尺寸大小、位置与结构关系等几何信息的模</a:t>
            </a:r>
            <a:r>
              <a:rPr lang="zh-CN" altLang="en-US" sz="2400" b="1" dirty="0">
                <a:latin typeface="+mn-ea"/>
                <a:ea typeface="+mn-ea"/>
                <a:cs typeface="宋体" panose="02010600030101010101" pitchFamily="2" charset="-122"/>
              </a:rPr>
              <a:t>形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343472" y="4754214"/>
            <a:ext cx="9793088" cy="1483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☆</a:t>
            </a:r>
            <a:r>
              <a:rPr lang="zh-CN" altLang="zh-CN" sz="2400" b="1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实体造</a:t>
            </a:r>
            <a:r>
              <a:rPr lang="zh-CN" altLang="en-US" sz="2400" b="1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形</a:t>
            </a:r>
            <a:r>
              <a:rPr lang="zh-CN" altLang="zh-CN" sz="2400" b="1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法</a:t>
            </a:r>
            <a:r>
              <a:rPr lang="zh-CN" altLang="en-US" sz="2400" b="1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：</a:t>
            </a:r>
            <a:endParaRPr lang="en-US" altLang="zh-CN" sz="2400" b="1" kern="100" dirty="0">
              <a:solidFill>
                <a:srgbClr val="FF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kern="100" dirty="0">
                <a:latin typeface="+mn-ea"/>
                <a:ea typeface="+mn-ea"/>
                <a:cs typeface="Times New Roman" panose="02020603050405020304" pitchFamily="18" charset="0"/>
              </a:rPr>
              <a:t>       </a:t>
            </a:r>
            <a:r>
              <a:rPr lang="zh-CN" altLang="en-US" sz="2400" b="1" kern="100" dirty="0">
                <a:latin typeface="+mn-ea"/>
                <a:ea typeface="+mn-ea"/>
                <a:cs typeface="Times New Roman" panose="02020603050405020304" pitchFamily="18" charset="0"/>
              </a:rPr>
              <a:t>将</a:t>
            </a:r>
            <a:r>
              <a:rPr lang="zh-CN" altLang="zh-CN" sz="2400" b="1" kern="100" dirty="0">
                <a:latin typeface="+mn-ea"/>
                <a:ea typeface="+mn-ea"/>
                <a:cs typeface="Times New Roman" panose="02020603050405020304" pitchFamily="18" charset="0"/>
              </a:rPr>
              <a:t>长方体、圆柱体、球体、圆环等基本几何体作为基本立体，通过立体之间的交、并、差运算，构造所需要的三维实体</a:t>
            </a:r>
            <a:r>
              <a:rPr lang="zh-CN" altLang="en-US" sz="2400" b="1" kern="100" dirty="0"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zh-CN" sz="2400" b="1" kern="100" dirty="0">
                <a:latin typeface="+mn-ea"/>
                <a:ea typeface="+mn-ea"/>
                <a:cs typeface="Times New Roman" panose="02020603050405020304" pitchFamily="18" charset="0"/>
              </a:rPr>
              <a:t>方法</a:t>
            </a:r>
            <a:r>
              <a:rPr lang="zh-CN" altLang="en-US" sz="2400" b="1" kern="100" dirty="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6" name="Text Box 31">
            <a:extLst>
              <a:ext uri="{FF2B5EF4-FFF2-40B4-BE49-F238E27FC236}">
                <a16:creationId xmlns:a16="http://schemas.microsoft.com/office/drawing/2014/main" id="{FB742704-FA00-4C93-A0D0-85636F4565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9616" y="474250"/>
            <a:ext cx="6448771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CAD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三维构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形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基础与基本立体投影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96283E4-CBCA-4CE1-ADDF-724D28769757}"/>
              </a:ext>
            </a:extLst>
          </p:cNvPr>
          <p:cNvSpPr/>
          <p:nvPr/>
        </p:nvSpPr>
        <p:spPr>
          <a:xfrm>
            <a:off x="1293895" y="1495422"/>
            <a:ext cx="21435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n-ea"/>
                <a:cs typeface="宋体" panose="02010600030101010101" pitchFamily="2" charset="-122"/>
              </a:rPr>
              <a:t>☆</a:t>
            </a:r>
            <a:r>
              <a:rPr lang="zh-CN" altLang="zh-CN" sz="24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几何体概述</a:t>
            </a:r>
            <a:r>
              <a:rPr lang="en-US" altLang="zh-CN" sz="24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E2E1CF4-3EDD-46FB-94CB-7B7193DE3239}"/>
              </a:ext>
            </a:extLst>
          </p:cNvPr>
          <p:cNvSpPr/>
          <p:nvPr/>
        </p:nvSpPr>
        <p:spPr>
          <a:xfrm>
            <a:off x="1343472" y="2271061"/>
            <a:ext cx="11221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CN" sz="2400" b="1" kern="100" dirty="0">
                <a:latin typeface="黑体" panose="02010609060101010101" pitchFamily="49" charset="-122"/>
                <a:ea typeface="黑体" panose="02010609060101010101" pitchFamily="49" charset="-122"/>
              </a:rPr>
              <a:t>按其表面性质不同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A590084-C349-4122-A628-4664B15383CA}"/>
              </a:ext>
            </a:extLst>
          </p:cNvPr>
          <p:cNvSpPr/>
          <p:nvPr/>
        </p:nvSpPr>
        <p:spPr>
          <a:xfrm>
            <a:off x="2963651" y="2182882"/>
            <a:ext cx="58006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400" b="1" kern="100" dirty="0">
                <a:latin typeface="黑体" panose="02010609060101010101" pitchFamily="49" charset="-122"/>
                <a:ea typeface="黑体" panose="02010609060101010101" pitchFamily="49" charset="-122"/>
              </a:rPr>
              <a:t>平面基本几何体</a:t>
            </a:r>
            <a:r>
              <a:rPr lang="zh-CN" altLang="en-US" sz="2400" kern="100" dirty="0">
                <a:latin typeface="Times New Roman" panose="02020603050405020304" pitchFamily="18" charset="0"/>
              </a:rPr>
              <a:t>（</a:t>
            </a:r>
            <a:r>
              <a:rPr lang="zh-CN" altLang="zh-CN" sz="2400" kern="100" dirty="0">
                <a:latin typeface="Times New Roman" panose="02020603050405020304" pitchFamily="18" charset="0"/>
              </a:rPr>
              <a:t>平面几何体</a:t>
            </a:r>
            <a:r>
              <a:rPr lang="zh-CN" altLang="en-US" sz="2400" kern="100" dirty="0">
                <a:latin typeface="Times New Roman" panose="02020603050405020304" pitchFamily="18" charset="0"/>
              </a:rPr>
              <a:t>）</a:t>
            </a:r>
            <a:endParaRPr lang="en-US" altLang="zh-CN" sz="2400" kern="100" dirty="0">
              <a:latin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</a:rPr>
              <a:t>                            </a:t>
            </a:r>
            <a:r>
              <a:rPr lang="zh-CN" altLang="zh-CN" sz="2400" kern="100" dirty="0">
                <a:latin typeface="Times New Roman" panose="02020603050405020304" pitchFamily="18" charset="0"/>
              </a:rPr>
              <a:t>如棱柱体、棱锥体等</a:t>
            </a:r>
          </a:p>
        </p:txBody>
      </p:sp>
      <p:sp>
        <p:nvSpPr>
          <p:cNvPr id="9" name="AutoShape 20">
            <a:extLst>
              <a:ext uri="{FF2B5EF4-FFF2-40B4-BE49-F238E27FC236}">
                <a16:creationId xmlns:a16="http://schemas.microsoft.com/office/drawing/2014/main" id="{AC560BA3-B1EE-4761-BC0E-3C3224B77865}"/>
              </a:ext>
            </a:extLst>
          </p:cNvPr>
          <p:cNvSpPr>
            <a:spLocks/>
          </p:cNvSpPr>
          <p:nvPr/>
        </p:nvSpPr>
        <p:spPr bwMode="auto">
          <a:xfrm>
            <a:off x="2639616" y="2314636"/>
            <a:ext cx="266470" cy="1200330"/>
          </a:xfrm>
          <a:prstGeom prst="leftBrace">
            <a:avLst>
              <a:gd name="adj1" fmla="val 108333"/>
              <a:gd name="adj2" fmla="val 50000"/>
            </a:avLst>
          </a:prstGeom>
          <a:noFill/>
          <a:ln w="349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2987CB0-D223-42CB-B720-DF10E0A78A87}"/>
              </a:ext>
            </a:extLst>
          </p:cNvPr>
          <p:cNvSpPr/>
          <p:nvPr/>
        </p:nvSpPr>
        <p:spPr>
          <a:xfrm>
            <a:off x="2933699" y="3001034"/>
            <a:ext cx="535015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曲面基本几何体</a:t>
            </a:r>
            <a:r>
              <a:rPr lang="zh-CN" altLang="en-US" sz="2400" b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zh-CN" altLang="zh-CN" sz="2400" kern="100" dirty="0">
                <a:cs typeface="Times New Roman" panose="02020603050405020304" pitchFamily="18" charset="0"/>
              </a:rPr>
              <a:t>曲面几何体</a:t>
            </a:r>
            <a:r>
              <a:rPr lang="zh-CN" altLang="en-US" sz="2400" b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altLang="zh-CN" sz="2400" kern="100" dirty="0">
              <a:cs typeface="Times New Roman" panose="02020603050405020304" pitchFamily="18" charset="0"/>
            </a:endParaRPr>
          </a:p>
          <a:p>
            <a:r>
              <a:rPr lang="en-US" altLang="zh-CN" sz="2400" kern="100" dirty="0">
                <a:cs typeface="Times New Roman" panose="02020603050405020304" pitchFamily="18" charset="0"/>
              </a:rPr>
              <a:t>                   </a:t>
            </a:r>
            <a:r>
              <a:rPr lang="zh-CN" altLang="zh-CN" sz="2400" kern="100" dirty="0">
                <a:cs typeface="Times New Roman" panose="02020603050405020304" pitchFamily="18" charset="0"/>
              </a:rPr>
              <a:t>如圆柱体、圆锥体</a:t>
            </a:r>
            <a:r>
              <a:rPr lang="zh-CN" altLang="en-US" sz="2400" kern="100" dirty="0">
                <a:cs typeface="Times New Roman" panose="02020603050405020304" pitchFamily="18" charset="0"/>
              </a:rPr>
              <a:t>、圆球</a:t>
            </a:r>
          </a:p>
        </p:txBody>
      </p:sp>
      <p:sp>
        <p:nvSpPr>
          <p:cNvPr id="11" name="AutoShape 4">
            <a:extLst>
              <a:ext uri="{FF2B5EF4-FFF2-40B4-BE49-F238E27FC236}">
                <a16:creationId xmlns:a16="http://schemas.microsoft.com/office/drawing/2014/main" id="{A9D9799C-BC3B-42D3-8263-D91A129F6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4787" y="2065521"/>
            <a:ext cx="598778" cy="805643"/>
          </a:xfrm>
          <a:prstGeom prst="cube">
            <a:avLst>
              <a:gd name="adj" fmla="val 25000"/>
            </a:avLst>
          </a:prstGeom>
          <a:gradFill rotWithShape="0">
            <a:gsLst>
              <a:gs pos="0">
                <a:srgbClr val="007000"/>
              </a:gs>
              <a:gs pos="50000">
                <a:srgbClr val="009900"/>
              </a:gs>
              <a:gs pos="100000">
                <a:srgbClr val="0070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" name="AutoShape 5">
            <a:extLst>
              <a:ext uri="{FF2B5EF4-FFF2-40B4-BE49-F238E27FC236}">
                <a16:creationId xmlns:a16="http://schemas.microsoft.com/office/drawing/2014/main" id="{4AF1328C-96C1-42EF-AFC4-48ABFF1A4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1794" y="3174735"/>
            <a:ext cx="641548" cy="821526"/>
          </a:xfrm>
          <a:prstGeom prst="can">
            <a:avLst>
              <a:gd name="adj" fmla="val 32326"/>
            </a:avLst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grpSp>
        <p:nvGrpSpPr>
          <p:cNvPr id="13" name="Group 15">
            <a:extLst>
              <a:ext uri="{FF2B5EF4-FFF2-40B4-BE49-F238E27FC236}">
                <a16:creationId xmlns:a16="http://schemas.microsoft.com/office/drawing/2014/main" id="{6DAB65A6-3B7A-4267-AA98-E65CFE49600A}"/>
              </a:ext>
            </a:extLst>
          </p:cNvPr>
          <p:cNvGrpSpPr>
            <a:grpSpLocks/>
          </p:cNvGrpSpPr>
          <p:nvPr/>
        </p:nvGrpSpPr>
        <p:grpSpPr bwMode="auto">
          <a:xfrm>
            <a:off x="9420219" y="1916832"/>
            <a:ext cx="855398" cy="931828"/>
            <a:chOff x="1491" y="1995"/>
            <a:chExt cx="960" cy="1056"/>
          </a:xfrm>
        </p:grpSpPr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7CF3ADF1-663A-491E-9AFC-F3F18F298A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1" y="1995"/>
              <a:ext cx="624" cy="1056"/>
            </a:xfrm>
            <a:custGeom>
              <a:avLst/>
              <a:gdLst>
                <a:gd name="T0" fmla="*/ 480 w 624"/>
                <a:gd name="T1" fmla="*/ 0 h 960"/>
                <a:gd name="T2" fmla="*/ 0 w 624"/>
                <a:gd name="T3" fmla="*/ 27794 h 960"/>
                <a:gd name="T4" fmla="*/ 624 w 624"/>
                <a:gd name="T5" fmla="*/ 32680 h 960"/>
                <a:gd name="T6" fmla="*/ 480 w 624"/>
                <a:gd name="T7" fmla="*/ 0 h 9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4"/>
                <a:gd name="T13" fmla="*/ 0 h 960"/>
                <a:gd name="T14" fmla="*/ 624 w 624"/>
                <a:gd name="T15" fmla="*/ 960 h 9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4" h="960">
                  <a:moveTo>
                    <a:pt x="480" y="0"/>
                  </a:moveTo>
                  <a:lnTo>
                    <a:pt x="0" y="816"/>
                  </a:lnTo>
                  <a:lnTo>
                    <a:pt x="624" y="960"/>
                  </a:lnTo>
                  <a:lnTo>
                    <a:pt x="480" y="0"/>
                  </a:lnTo>
                  <a:close/>
                </a:path>
              </a:pathLst>
            </a:custGeom>
            <a:gradFill rotWithShape="0">
              <a:gsLst>
                <a:gs pos="0">
                  <a:srgbClr val="297A29"/>
                </a:gs>
                <a:gs pos="50000">
                  <a:srgbClr val="339933"/>
                </a:gs>
                <a:gs pos="100000">
                  <a:srgbClr val="297A29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7E8C8890-D8E6-4FAF-ACD5-292DE173F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1" y="1995"/>
              <a:ext cx="480" cy="1056"/>
            </a:xfrm>
            <a:custGeom>
              <a:avLst/>
              <a:gdLst>
                <a:gd name="T0" fmla="*/ 0 w 480"/>
                <a:gd name="T1" fmla="*/ 0 h 960"/>
                <a:gd name="T2" fmla="*/ 480 w 480"/>
                <a:gd name="T3" fmla="*/ 24479 h 960"/>
                <a:gd name="T4" fmla="*/ 144 w 480"/>
                <a:gd name="T5" fmla="*/ 32680 h 960"/>
                <a:gd name="T6" fmla="*/ 0 w 480"/>
                <a:gd name="T7" fmla="*/ 0 h 9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0"/>
                <a:gd name="T13" fmla="*/ 0 h 960"/>
                <a:gd name="T14" fmla="*/ 480 w 480"/>
                <a:gd name="T15" fmla="*/ 960 h 9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0" h="960">
                  <a:moveTo>
                    <a:pt x="0" y="0"/>
                  </a:moveTo>
                  <a:lnTo>
                    <a:pt x="480" y="720"/>
                  </a:lnTo>
                  <a:lnTo>
                    <a:pt x="144" y="96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297A29"/>
                </a:gs>
                <a:gs pos="50000">
                  <a:srgbClr val="339933"/>
                </a:gs>
                <a:gs pos="100000">
                  <a:srgbClr val="297A29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6" name="Oval 9">
            <a:extLst>
              <a:ext uri="{FF2B5EF4-FFF2-40B4-BE49-F238E27FC236}">
                <a16:creationId xmlns:a16="http://schemas.microsoft.com/office/drawing/2014/main" id="{AC3A1A5E-5E95-4EC8-8A75-EC17FA888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5617" y="3229277"/>
            <a:ext cx="727088" cy="635337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pic>
        <p:nvPicPr>
          <p:cNvPr id="17" name="Picture 11">
            <a:extLst>
              <a:ext uri="{FF2B5EF4-FFF2-40B4-BE49-F238E27FC236}">
                <a16:creationId xmlns:a16="http://schemas.microsoft.com/office/drawing/2014/main" id="{E62E7E89-71E9-468B-B818-1114898D46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5006" y="2970031"/>
            <a:ext cx="949848" cy="1103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8537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3" grpId="0"/>
      <p:bldP spid="7" grpId="0"/>
      <p:bldP spid="8" grpId="0"/>
      <p:bldP spid="9" grpId="0" animBg="1"/>
      <p:bldP spid="10" grpId="0"/>
      <p:bldP spid="11" grpId="0" animBg="1" autoUpdateAnimBg="0"/>
      <p:bldP spid="12" grpId="0" animBg="1" autoUpdateAnimBg="0"/>
      <p:bldP spid="16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5-1"/>
          <p:cNvPicPr>
            <a:picLocks noChangeAspect="1" noChangeArrowheads="1"/>
          </p:cNvPicPr>
          <p:nvPr/>
        </p:nvPicPr>
        <p:blipFill>
          <a:blip r:embed="rId4">
            <a:lum bright="10000"/>
          </a:blip>
          <a:srcRect/>
          <a:stretch>
            <a:fillRect/>
          </a:stretch>
        </p:blipFill>
        <p:spPr bwMode="auto">
          <a:xfrm>
            <a:off x="6350000" y="1931989"/>
            <a:ext cx="3873500" cy="240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882267" y="2747356"/>
            <a:ext cx="3482595" cy="1200329"/>
          </a:xfrm>
          <a:prstGeom prst="rect">
            <a:avLst/>
          </a:prstGeom>
          <a:noFill/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1" dirty="0"/>
              <a:t>      以物体的</a:t>
            </a:r>
            <a:r>
              <a:rPr lang="zh-CN" altLang="en-US" sz="2400" b="1" dirty="0">
                <a:solidFill>
                  <a:srgbClr val="FF0066"/>
                </a:solidFill>
              </a:rPr>
              <a:t>边界表面为基础</a:t>
            </a:r>
            <a:r>
              <a:rPr lang="zh-CN" altLang="en-US" sz="2400" b="1" dirty="0"/>
              <a:t>，定义和描述几何形体的方法。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702314" y="1853466"/>
            <a:ext cx="253146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边界表示法 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703512" y="4712484"/>
            <a:ext cx="9023473" cy="954107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/>
              <a:t>       它用</a:t>
            </a:r>
            <a:r>
              <a:rPr lang="zh-CN" altLang="en-US" sz="2800" b="1" dirty="0">
                <a:solidFill>
                  <a:srgbClr val="FF0000"/>
                </a:solidFill>
              </a:rPr>
              <a:t>点、边、面、环</a:t>
            </a:r>
            <a:r>
              <a:rPr lang="zh-CN" altLang="en-US" sz="2800" b="1" dirty="0"/>
              <a:t>以及它们之间</a:t>
            </a:r>
            <a:r>
              <a:rPr lang="zh-CN" altLang="en-US" sz="2800" b="1" dirty="0">
                <a:solidFill>
                  <a:srgbClr val="FF0000"/>
                </a:solidFill>
              </a:rPr>
              <a:t>相互的邻接关系</a:t>
            </a:r>
            <a:r>
              <a:rPr lang="zh-CN" altLang="en-US" sz="2800" b="1" dirty="0"/>
              <a:t>定义三维实体，形体</a:t>
            </a:r>
            <a:r>
              <a:rPr lang="zh-CN" altLang="en-US" sz="2800" b="1" dirty="0">
                <a:solidFill>
                  <a:srgbClr val="FF0000"/>
                </a:solidFill>
              </a:rPr>
              <a:t>表面</a:t>
            </a:r>
            <a:r>
              <a:rPr lang="zh-CN" altLang="en-US" sz="2800" b="1" dirty="0"/>
              <a:t>、</a:t>
            </a:r>
            <a:r>
              <a:rPr lang="zh-CN" altLang="en-US" sz="2800" b="1" dirty="0">
                <a:solidFill>
                  <a:srgbClr val="FF0000"/>
                </a:solidFill>
              </a:rPr>
              <a:t>边界线</a:t>
            </a:r>
            <a:r>
              <a:rPr lang="zh-CN" altLang="en-US" sz="2800" b="1" dirty="0"/>
              <a:t>、</a:t>
            </a:r>
            <a:r>
              <a:rPr lang="zh-CN" altLang="en-US" sz="2800" b="1" dirty="0">
                <a:solidFill>
                  <a:srgbClr val="FF0000"/>
                </a:solidFill>
              </a:rPr>
              <a:t>交线</a:t>
            </a:r>
            <a:r>
              <a:rPr lang="zh-CN" altLang="en-US" sz="2800" b="1" dirty="0"/>
              <a:t>等都</a:t>
            </a:r>
            <a:r>
              <a:rPr lang="zh-CN" altLang="en-US" sz="2800" b="1" dirty="0">
                <a:solidFill>
                  <a:srgbClr val="FF0000"/>
                </a:solidFill>
              </a:rPr>
              <a:t>显式给出</a:t>
            </a:r>
            <a:r>
              <a:rPr lang="zh-CN" altLang="en-US" sz="2800" b="1" dirty="0"/>
              <a:t>。</a:t>
            </a:r>
            <a:endParaRPr lang="zh-CN" altLang="en-US" sz="2800" dirty="0"/>
          </a:p>
        </p:txBody>
      </p:sp>
      <p:cxnSp>
        <p:nvCxnSpPr>
          <p:cNvPr id="9" name="直接连接符 8"/>
          <p:cNvCxnSpPr>
            <a:cxnSpLocks noChangeShapeType="1"/>
          </p:cNvCxnSpPr>
          <p:nvPr/>
        </p:nvCxnSpPr>
        <p:spPr bwMode="auto">
          <a:xfrm rot="5400000">
            <a:off x="5932489" y="2862264"/>
            <a:ext cx="985837" cy="1587"/>
          </a:xfrm>
          <a:prstGeom prst="line">
            <a:avLst/>
          </a:prstGeom>
          <a:noFill/>
          <a:ln w="34925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10" name="直接连接符 9"/>
          <p:cNvCxnSpPr>
            <a:cxnSpLocks noChangeShapeType="1"/>
          </p:cNvCxnSpPr>
          <p:nvPr/>
        </p:nvCxnSpPr>
        <p:spPr bwMode="auto">
          <a:xfrm rot="10800000" flipV="1">
            <a:off x="6416676" y="3192463"/>
            <a:ext cx="288925" cy="169862"/>
          </a:xfrm>
          <a:prstGeom prst="line">
            <a:avLst/>
          </a:prstGeom>
          <a:noFill/>
          <a:ln w="34925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 rot="5400000">
            <a:off x="6203950" y="2711450"/>
            <a:ext cx="985838" cy="1588"/>
          </a:xfrm>
          <a:prstGeom prst="line">
            <a:avLst/>
          </a:prstGeom>
          <a:noFill/>
          <a:ln w="34925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17" name="直接连接符 16"/>
          <p:cNvCxnSpPr>
            <a:cxnSpLocks noChangeShapeType="1"/>
          </p:cNvCxnSpPr>
          <p:nvPr/>
        </p:nvCxnSpPr>
        <p:spPr bwMode="auto">
          <a:xfrm rot="10800000" flipV="1">
            <a:off x="6429376" y="2214564"/>
            <a:ext cx="269875" cy="161925"/>
          </a:xfrm>
          <a:prstGeom prst="line">
            <a:avLst/>
          </a:prstGeom>
          <a:noFill/>
          <a:ln w="34925" algn="ctr">
            <a:solidFill>
              <a:srgbClr val="FF0000"/>
            </a:solidFill>
            <a:round/>
            <a:headEnd/>
            <a:tailEnd/>
          </a:ln>
        </p:spPr>
      </p:cxnSp>
      <p:grpSp>
        <p:nvGrpSpPr>
          <p:cNvPr id="2" name="组合 40"/>
          <p:cNvGrpSpPr>
            <a:grpSpLocks/>
          </p:cNvGrpSpPr>
          <p:nvPr/>
        </p:nvGrpSpPr>
        <p:grpSpPr bwMode="auto">
          <a:xfrm>
            <a:off x="9186863" y="2462213"/>
            <a:ext cx="1003300" cy="1555750"/>
            <a:chOff x="7662941" y="2462462"/>
            <a:chExt cx="1003810" cy="1556086"/>
          </a:xfrm>
        </p:grpSpPr>
        <p:grpSp>
          <p:nvGrpSpPr>
            <p:cNvPr id="3" name="组合 39"/>
            <p:cNvGrpSpPr>
              <a:grpSpLocks/>
            </p:cNvGrpSpPr>
            <p:nvPr/>
          </p:nvGrpSpPr>
          <p:grpSpPr bwMode="auto">
            <a:xfrm>
              <a:off x="7662941" y="2462462"/>
              <a:ext cx="1003810" cy="1556086"/>
              <a:chOff x="7662941" y="2462462"/>
              <a:chExt cx="1003810" cy="1556086"/>
            </a:xfrm>
          </p:grpSpPr>
          <p:cxnSp>
            <p:nvCxnSpPr>
              <p:cNvPr id="22560" name="直接连接符 21"/>
              <p:cNvCxnSpPr>
                <a:cxnSpLocks noChangeShapeType="1"/>
              </p:cNvCxnSpPr>
              <p:nvPr/>
            </p:nvCxnSpPr>
            <p:spPr bwMode="auto">
              <a:xfrm rot="10800000" flipV="1">
                <a:off x="7675607" y="2462462"/>
                <a:ext cx="285289" cy="163251"/>
              </a:xfrm>
              <a:prstGeom prst="line">
                <a:avLst/>
              </a:prstGeom>
              <a:noFill/>
              <a:ln w="28575" algn="ctr">
                <a:solidFill>
                  <a:srgbClr val="FF0000"/>
                </a:solidFill>
                <a:round/>
                <a:headEnd/>
                <a:tailEnd/>
              </a:ln>
            </p:spPr>
          </p:cxnSp>
          <p:cxnSp>
            <p:nvCxnSpPr>
              <p:cNvPr id="22561" name="直接连接符 24"/>
              <p:cNvCxnSpPr>
                <a:cxnSpLocks noChangeShapeType="1"/>
              </p:cNvCxnSpPr>
              <p:nvPr/>
            </p:nvCxnSpPr>
            <p:spPr bwMode="auto">
              <a:xfrm rot="10800000" flipV="1">
                <a:off x="8377373" y="3850695"/>
                <a:ext cx="285289" cy="163251"/>
              </a:xfrm>
              <a:prstGeom prst="line">
                <a:avLst/>
              </a:prstGeom>
              <a:noFill/>
              <a:ln w="28575" algn="ctr">
                <a:solidFill>
                  <a:srgbClr val="FF0000"/>
                </a:solidFill>
                <a:round/>
                <a:headEnd/>
                <a:tailEnd/>
              </a:ln>
            </p:spPr>
          </p:cxnSp>
          <p:cxnSp>
            <p:nvCxnSpPr>
              <p:cNvPr id="22562" name="直接连接符 25"/>
              <p:cNvCxnSpPr>
                <a:cxnSpLocks noChangeShapeType="1"/>
              </p:cNvCxnSpPr>
              <p:nvPr/>
            </p:nvCxnSpPr>
            <p:spPr bwMode="auto">
              <a:xfrm rot="10800000">
                <a:off x="7662941" y="3599191"/>
                <a:ext cx="723071" cy="419357"/>
              </a:xfrm>
              <a:prstGeom prst="line">
                <a:avLst/>
              </a:prstGeom>
              <a:noFill/>
              <a:ln w="28575" algn="ctr">
                <a:solidFill>
                  <a:srgbClr val="FF0000"/>
                </a:solidFill>
                <a:round/>
                <a:headEnd/>
                <a:tailEnd/>
              </a:ln>
            </p:spPr>
          </p:cxnSp>
          <p:cxnSp>
            <p:nvCxnSpPr>
              <p:cNvPr id="22563" name="直接连接符 26"/>
              <p:cNvCxnSpPr>
                <a:cxnSpLocks noChangeShapeType="1"/>
              </p:cNvCxnSpPr>
              <p:nvPr/>
            </p:nvCxnSpPr>
            <p:spPr bwMode="auto">
              <a:xfrm rot="16200000" flipV="1">
                <a:off x="7606088" y="2813506"/>
                <a:ext cx="1402183" cy="719142"/>
              </a:xfrm>
              <a:prstGeom prst="line">
                <a:avLst/>
              </a:prstGeom>
              <a:noFill/>
              <a:ln w="28575" algn="ctr">
                <a:solidFill>
                  <a:srgbClr val="FF0000"/>
                </a:solidFill>
                <a:round/>
                <a:headEnd/>
                <a:tailEnd/>
              </a:ln>
            </p:spPr>
          </p:cxnSp>
          <p:cxnSp>
            <p:nvCxnSpPr>
              <p:cNvPr id="22564" name="直接连接符 27"/>
              <p:cNvCxnSpPr>
                <a:cxnSpLocks noChangeShapeType="1"/>
              </p:cNvCxnSpPr>
              <p:nvPr/>
            </p:nvCxnSpPr>
            <p:spPr bwMode="auto">
              <a:xfrm rot="16200000" flipV="1">
                <a:off x="7338403" y="2962918"/>
                <a:ext cx="1388822" cy="714415"/>
              </a:xfrm>
              <a:prstGeom prst="line">
                <a:avLst/>
              </a:prstGeom>
              <a:noFill/>
              <a:ln w="28575" algn="ctr">
                <a:solidFill>
                  <a:srgbClr val="FF0000"/>
                </a:solidFill>
                <a:round/>
                <a:headEnd/>
                <a:tailEnd/>
              </a:ln>
            </p:spPr>
          </p:cxnSp>
        </p:grpSp>
        <p:cxnSp>
          <p:nvCxnSpPr>
            <p:cNvPr id="22559" name="直接连接符 34"/>
            <p:cNvCxnSpPr>
              <a:cxnSpLocks noChangeShapeType="1"/>
            </p:cNvCxnSpPr>
            <p:nvPr/>
          </p:nvCxnSpPr>
          <p:spPr bwMode="auto">
            <a:xfrm rot="5400000">
              <a:off x="7170234" y="3109573"/>
              <a:ext cx="1010493" cy="9360"/>
            </a:xfrm>
            <a:prstGeom prst="line">
              <a:avLst/>
            </a:prstGeom>
            <a:noFill/>
            <a:ln w="28575" algn="ctr">
              <a:solidFill>
                <a:srgbClr val="FF0000"/>
              </a:solidFill>
              <a:round/>
              <a:headEnd/>
              <a:tailEnd/>
            </a:ln>
          </p:spPr>
        </p:cxnSp>
      </p:grpSp>
      <p:cxnSp>
        <p:nvCxnSpPr>
          <p:cNvPr id="42" name="直接连接符 41"/>
          <p:cNvCxnSpPr>
            <a:cxnSpLocks noChangeShapeType="1"/>
          </p:cNvCxnSpPr>
          <p:nvPr/>
        </p:nvCxnSpPr>
        <p:spPr bwMode="auto">
          <a:xfrm rot="5400000">
            <a:off x="6443664" y="3300414"/>
            <a:ext cx="985837" cy="1587"/>
          </a:xfrm>
          <a:prstGeom prst="line">
            <a:avLst/>
          </a:prstGeom>
          <a:noFill/>
          <a:ln w="34925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43" name="直接连接符 42"/>
          <p:cNvCxnSpPr>
            <a:cxnSpLocks noChangeShapeType="1"/>
          </p:cNvCxnSpPr>
          <p:nvPr/>
        </p:nvCxnSpPr>
        <p:spPr bwMode="auto">
          <a:xfrm rot="16200000" flipH="1">
            <a:off x="6600825" y="3162300"/>
            <a:ext cx="1390650" cy="717550"/>
          </a:xfrm>
          <a:prstGeom prst="line">
            <a:avLst/>
          </a:prstGeom>
          <a:noFill/>
          <a:ln w="34925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44" name="直接连接符 43"/>
          <p:cNvCxnSpPr>
            <a:cxnSpLocks noChangeShapeType="1"/>
          </p:cNvCxnSpPr>
          <p:nvPr/>
        </p:nvCxnSpPr>
        <p:spPr bwMode="auto">
          <a:xfrm>
            <a:off x="6937376" y="3794125"/>
            <a:ext cx="708025" cy="406400"/>
          </a:xfrm>
          <a:prstGeom prst="line">
            <a:avLst/>
          </a:prstGeom>
          <a:noFill/>
          <a:ln w="34925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45" name="直接连接符 44"/>
          <p:cNvCxnSpPr>
            <a:cxnSpLocks noChangeShapeType="1"/>
          </p:cNvCxnSpPr>
          <p:nvPr/>
        </p:nvCxnSpPr>
        <p:spPr bwMode="auto">
          <a:xfrm rot="5400000">
            <a:off x="7064375" y="2533650"/>
            <a:ext cx="985838" cy="1588"/>
          </a:xfrm>
          <a:prstGeom prst="line">
            <a:avLst/>
          </a:prstGeom>
          <a:noFill/>
          <a:ln w="34925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55" name="直接连接符 54"/>
          <p:cNvCxnSpPr>
            <a:cxnSpLocks noChangeShapeType="1"/>
          </p:cNvCxnSpPr>
          <p:nvPr/>
        </p:nvCxnSpPr>
        <p:spPr bwMode="auto">
          <a:xfrm rot="16200000" flipH="1">
            <a:off x="7226300" y="2371725"/>
            <a:ext cx="1384300" cy="723900"/>
          </a:xfrm>
          <a:prstGeom prst="line">
            <a:avLst/>
          </a:prstGeom>
          <a:noFill/>
          <a:ln w="34925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56" name="直接连接符 55"/>
          <p:cNvCxnSpPr>
            <a:cxnSpLocks noChangeShapeType="1"/>
          </p:cNvCxnSpPr>
          <p:nvPr/>
        </p:nvCxnSpPr>
        <p:spPr bwMode="auto">
          <a:xfrm rot="10800000">
            <a:off x="7543800" y="3016250"/>
            <a:ext cx="742950" cy="412750"/>
          </a:xfrm>
          <a:prstGeom prst="line">
            <a:avLst/>
          </a:prstGeom>
          <a:noFill/>
          <a:ln w="34925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61" name="直接连接符 60"/>
          <p:cNvCxnSpPr>
            <a:cxnSpLocks noChangeShapeType="1"/>
          </p:cNvCxnSpPr>
          <p:nvPr/>
        </p:nvCxnSpPr>
        <p:spPr bwMode="auto">
          <a:xfrm rot="16200000" flipV="1">
            <a:off x="7777163" y="3014663"/>
            <a:ext cx="1400175" cy="711200"/>
          </a:xfrm>
          <a:prstGeom prst="line">
            <a:avLst/>
          </a:prstGeom>
          <a:noFill/>
          <a:ln w="34925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65" name="直接连接符 64"/>
          <p:cNvCxnSpPr>
            <a:cxnSpLocks noChangeShapeType="1"/>
          </p:cNvCxnSpPr>
          <p:nvPr/>
        </p:nvCxnSpPr>
        <p:spPr bwMode="auto">
          <a:xfrm rot="10800000" flipV="1">
            <a:off x="8834438" y="3895725"/>
            <a:ext cx="284162" cy="173038"/>
          </a:xfrm>
          <a:prstGeom prst="line">
            <a:avLst/>
          </a:prstGeom>
          <a:noFill/>
          <a:ln w="34925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74" name="直接连接符 73"/>
          <p:cNvCxnSpPr>
            <a:cxnSpLocks noChangeShapeType="1"/>
          </p:cNvCxnSpPr>
          <p:nvPr/>
        </p:nvCxnSpPr>
        <p:spPr bwMode="auto">
          <a:xfrm rot="16200000" flipV="1">
            <a:off x="8075613" y="2865438"/>
            <a:ext cx="1384300" cy="701675"/>
          </a:xfrm>
          <a:prstGeom prst="line">
            <a:avLst/>
          </a:prstGeom>
          <a:noFill/>
          <a:ln w="34925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77" name="直接连接符 76"/>
          <p:cNvCxnSpPr>
            <a:cxnSpLocks noChangeShapeType="1"/>
          </p:cNvCxnSpPr>
          <p:nvPr/>
        </p:nvCxnSpPr>
        <p:spPr bwMode="auto">
          <a:xfrm rot="10800000" flipV="1">
            <a:off x="8113714" y="2498725"/>
            <a:ext cx="312737" cy="173038"/>
          </a:xfrm>
          <a:prstGeom prst="line">
            <a:avLst/>
          </a:prstGeom>
          <a:noFill/>
          <a:ln w="34925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81" name="直接连接符 80"/>
          <p:cNvCxnSpPr>
            <a:cxnSpLocks noChangeShapeType="1"/>
          </p:cNvCxnSpPr>
          <p:nvPr/>
        </p:nvCxnSpPr>
        <p:spPr bwMode="auto">
          <a:xfrm rot="10800000" flipV="1">
            <a:off x="8027989" y="3670300"/>
            <a:ext cx="293687" cy="165100"/>
          </a:xfrm>
          <a:prstGeom prst="line">
            <a:avLst/>
          </a:prstGeom>
          <a:noFill/>
          <a:ln w="34925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82" name="直接连接符 81"/>
          <p:cNvCxnSpPr>
            <a:cxnSpLocks noChangeShapeType="1"/>
          </p:cNvCxnSpPr>
          <p:nvPr/>
        </p:nvCxnSpPr>
        <p:spPr bwMode="auto">
          <a:xfrm rot="10800000" flipV="1">
            <a:off x="7337426" y="3246439"/>
            <a:ext cx="284163" cy="173037"/>
          </a:xfrm>
          <a:prstGeom prst="line">
            <a:avLst/>
          </a:prstGeom>
          <a:noFill/>
          <a:ln w="34925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83" name="直接连接符 82"/>
          <p:cNvCxnSpPr>
            <a:cxnSpLocks noChangeShapeType="1"/>
          </p:cNvCxnSpPr>
          <p:nvPr/>
        </p:nvCxnSpPr>
        <p:spPr bwMode="auto">
          <a:xfrm rot="10800000">
            <a:off x="7327901" y="3419476"/>
            <a:ext cx="714375" cy="415925"/>
          </a:xfrm>
          <a:prstGeom prst="line">
            <a:avLst/>
          </a:prstGeom>
          <a:noFill/>
          <a:ln w="34925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84" name="直接连接符 83"/>
          <p:cNvCxnSpPr>
            <a:cxnSpLocks noChangeShapeType="1"/>
          </p:cNvCxnSpPr>
          <p:nvPr/>
        </p:nvCxnSpPr>
        <p:spPr bwMode="auto">
          <a:xfrm>
            <a:off x="7593014" y="3246438"/>
            <a:ext cx="731837" cy="430212"/>
          </a:xfrm>
          <a:prstGeom prst="line">
            <a:avLst/>
          </a:prstGeom>
          <a:noFill/>
          <a:ln w="34925" algn="ctr">
            <a:solidFill>
              <a:srgbClr val="FF0000"/>
            </a:solidFill>
            <a:round/>
            <a:headEnd/>
            <a:tailEnd/>
          </a:ln>
        </p:spPr>
      </p:cxnSp>
      <p:sp>
        <p:nvSpPr>
          <p:cNvPr id="39" name="矩形 38"/>
          <p:cNvSpPr/>
          <p:nvPr/>
        </p:nvSpPr>
        <p:spPr>
          <a:xfrm>
            <a:off x="1271464" y="1285859"/>
            <a:ext cx="37914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一、</a:t>
            </a:r>
            <a:r>
              <a:rPr lang="zh-CN" altLang="zh-CN" sz="2800" b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几何体的构</a:t>
            </a:r>
            <a:r>
              <a:rPr lang="zh-CN" altLang="en-US" sz="2800" b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形</a:t>
            </a:r>
            <a:r>
              <a:rPr lang="zh-CN" altLang="zh-CN" sz="2800" b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方法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" name="Text Box 31">
            <a:extLst>
              <a:ext uri="{FF2B5EF4-FFF2-40B4-BE49-F238E27FC236}">
                <a16:creationId xmlns:a16="http://schemas.microsoft.com/office/drawing/2014/main" id="{28CCB541-0AD8-4F78-9F42-DABF33AB25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9616" y="474250"/>
            <a:ext cx="6448771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CAD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三维构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形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基础与基本立体投影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5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0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5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0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5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5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6000"/>
                            </p:stCondLst>
                            <p:childTnLst>
                              <p:par>
                                <p:cTn id="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6500"/>
                            </p:stCondLst>
                            <p:childTnLst>
                              <p:par>
                                <p:cTn id="8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7000"/>
                            </p:stCondLst>
                            <p:childTnLst>
                              <p:par>
                                <p:cTn id="8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7500"/>
                            </p:stCondLst>
                            <p:childTnLst>
                              <p:par>
                                <p:cTn id="9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8000"/>
                            </p:stCondLst>
                            <p:childTnLst>
                              <p:par>
                                <p:cTn id="9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10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4" dur="50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1773310" y="2451628"/>
            <a:ext cx="9912428" cy="870046"/>
          </a:xfrm>
          <a:ln w="25400">
            <a:solidFill>
              <a:schemeClr val="accent1"/>
            </a:solidFill>
          </a:ln>
        </p:spPr>
        <p:txBody>
          <a:bodyPr/>
          <a:lstStyle/>
          <a:p>
            <a:pPr marL="0" indent="0" eaLnBrk="1" hangingPunct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zh-CN" altLang="en-US" sz="2400" b="1" dirty="0"/>
              <a:t>先定义一些常用</a:t>
            </a:r>
            <a:r>
              <a:rPr lang="zh-CN" altLang="en-US" sz="2400" b="1" dirty="0">
                <a:solidFill>
                  <a:srgbClr val="FF0000"/>
                </a:solidFill>
              </a:rPr>
              <a:t>体素</a:t>
            </a:r>
            <a:r>
              <a:rPr lang="zh-CN" altLang="en-US" sz="2400" b="1" dirty="0"/>
              <a:t>如：</a:t>
            </a:r>
            <a:r>
              <a:rPr lang="zh-CN" altLang="en-US" sz="2400" b="1" u="sng" dirty="0">
                <a:solidFill>
                  <a:srgbClr val="0070C0"/>
                </a:solidFill>
              </a:rPr>
              <a:t>长方体、圆柱体、球体、圆锥、圆环、楔、棱锥体</a:t>
            </a:r>
            <a:r>
              <a:rPr lang="zh-CN" altLang="en-US" sz="2400" b="1" dirty="0"/>
              <a:t>等</a:t>
            </a:r>
            <a:r>
              <a:rPr lang="en-US" altLang="zh-CN" sz="2400" b="1" dirty="0"/>
              <a:t>,</a:t>
            </a:r>
            <a:r>
              <a:rPr lang="zh-CN" altLang="en-US" sz="2400" b="1" dirty="0"/>
              <a:t>用集合运算</a:t>
            </a:r>
            <a:r>
              <a:rPr lang="zh-CN" altLang="en-US" sz="2400" b="1" dirty="0">
                <a:solidFill>
                  <a:srgbClr val="FF0066"/>
                </a:solidFill>
              </a:rPr>
              <a:t>并、交、差</a:t>
            </a:r>
            <a:r>
              <a:rPr lang="zh-CN" altLang="en-US" sz="2400" b="1" dirty="0"/>
              <a:t>把体素修改成复杂形状的形体。 </a:t>
            </a:r>
          </a:p>
        </p:txBody>
      </p:sp>
      <p:pic>
        <p:nvPicPr>
          <p:cNvPr id="7178" name="Picture 10"/>
          <p:cNvPicPr>
            <a:picLocks noChangeAspect="1" noChangeArrowheads="1"/>
          </p:cNvPicPr>
          <p:nvPr/>
        </p:nvPicPr>
        <p:blipFill>
          <a:blip r:embed="rId2"/>
          <a:srcRect l="52487" t="65607" r="22585" b="22145"/>
          <a:stretch>
            <a:fillRect/>
          </a:stretch>
        </p:blipFill>
        <p:spPr bwMode="auto">
          <a:xfrm>
            <a:off x="5025882" y="3596255"/>
            <a:ext cx="3097213" cy="1141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9" name="Picture 11"/>
          <p:cNvPicPr>
            <a:picLocks noChangeAspect="1" noChangeArrowheads="1"/>
          </p:cNvPicPr>
          <p:nvPr/>
        </p:nvPicPr>
        <p:blipFill>
          <a:blip r:embed="rId2"/>
          <a:srcRect l="47902" t="21008" r="23236" b="62364"/>
          <a:stretch>
            <a:fillRect/>
          </a:stretch>
        </p:blipFill>
        <p:spPr bwMode="auto">
          <a:xfrm>
            <a:off x="8478745" y="3620231"/>
            <a:ext cx="3167062" cy="136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80" name="Picture 12"/>
          <p:cNvPicPr>
            <a:picLocks noChangeAspect="1" noChangeArrowheads="1"/>
          </p:cNvPicPr>
          <p:nvPr/>
        </p:nvPicPr>
        <p:blipFill>
          <a:blip r:embed="rId2"/>
          <a:srcRect l="26895" t="67137" r="56818" b="20390"/>
          <a:stretch>
            <a:fillRect/>
          </a:stretch>
        </p:blipFill>
        <p:spPr bwMode="auto">
          <a:xfrm>
            <a:off x="1382638" y="3596255"/>
            <a:ext cx="2100254" cy="120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81" name="Text Box 13"/>
          <p:cNvSpPr txBox="1">
            <a:spLocks noChangeArrowheads="1"/>
          </p:cNvSpPr>
          <p:nvPr/>
        </p:nvSpPr>
        <p:spPr bwMode="auto">
          <a:xfrm>
            <a:off x="2197008" y="4850920"/>
            <a:ext cx="14287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 </a:t>
            </a:r>
            <a:r>
              <a:rPr lang="zh-CN" altLang="en-US" b="1" dirty="0"/>
              <a:t>立体的并集 </a:t>
            </a:r>
          </a:p>
        </p:txBody>
      </p:sp>
      <p:sp>
        <p:nvSpPr>
          <p:cNvPr id="7182" name="Text Box 14"/>
          <p:cNvSpPr txBox="1">
            <a:spLocks noChangeArrowheads="1"/>
          </p:cNvSpPr>
          <p:nvPr/>
        </p:nvSpPr>
        <p:spPr bwMode="auto">
          <a:xfrm>
            <a:off x="5200482" y="4744013"/>
            <a:ext cx="26638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 dirty="0"/>
              <a:t>立体的交集</a:t>
            </a:r>
            <a:r>
              <a:rPr lang="zh-CN" altLang="en-US" dirty="0"/>
              <a:t> </a:t>
            </a:r>
          </a:p>
        </p:txBody>
      </p:sp>
      <p:sp>
        <p:nvSpPr>
          <p:cNvPr id="7183" name="Text Box 15"/>
          <p:cNvSpPr txBox="1">
            <a:spLocks noChangeArrowheads="1"/>
          </p:cNvSpPr>
          <p:nvPr/>
        </p:nvSpPr>
        <p:spPr bwMode="auto">
          <a:xfrm>
            <a:off x="8589844" y="4896564"/>
            <a:ext cx="26638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 dirty="0"/>
              <a:t>立体的差集</a:t>
            </a:r>
            <a:r>
              <a:rPr lang="zh-CN" altLang="en-US" dirty="0"/>
              <a:t> </a:t>
            </a:r>
          </a:p>
        </p:txBody>
      </p:sp>
      <p:sp>
        <p:nvSpPr>
          <p:cNvPr id="23561" name="矩形 8"/>
          <p:cNvSpPr>
            <a:spLocks noChangeArrowheads="1"/>
          </p:cNvSpPr>
          <p:nvPr/>
        </p:nvSpPr>
        <p:spPr bwMode="auto">
          <a:xfrm>
            <a:off x="1703512" y="1952755"/>
            <a:ext cx="3071675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构造实体几何法</a:t>
            </a:r>
          </a:p>
        </p:txBody>
      </p:sp>
      <p:sp>
        <p:nvSpPr>
          <p:cNvPr id="11" name="矩形 10"/>
          <p:cNvSpPr/>
          <p:nvPr/>
        </p:nvSpPr>
        <p:spPr>
          <a:xfrm>
            <a:off x="1201851" y="1364313"/>
            <a:ext cx="37914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一、</a:t>
            </a:r>
            <a:r>
              <a:rPr lang="zh-CN" altLang="zh-CN" sz="2800" b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几何体的构</a:t>
            </a:r>
            <a:r>
              <a:rPr lang="zh-CN" altLang="en-US" sz="2800" b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形</a:t>
            </a:r>
            <a:r>
              <a:rPr lang="zh-CN" altLang="zh-CN" sz="2800" b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方法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2" name="Picture 12"/>
          <p:cNvPicPr>
            <a:picLocks noChangeAspect="1" noChangeArrowheads="1"/>
          </p:cNvPicPr>
          <p:nvPr/>
        </p:nvPicPr>
        <p:blipFill>
          <a:blip r:embed="rId2"/>
          <a:srcRect l="43108" t="67137" r="46846" b="20390"/>
          <a:stretch>
            <a:fillRect/>
          </a:stretch>
        </p:blipFill>
        <p:spPr bwMode="auto">
          <a:xfrm>
            <a:off x="3554330" y="3577178"/>
            <a:ext cx="1295408" cy="120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矩形 12"/>
          <p:cNvSpPr/>
          <p:nvPr/>
        </p:nvSpPr>
        <p:spPr>
          <a:xfrm>
            <a:off x="2542040" y="5868220"/>
            <a:ext cx="8064896" cy="4637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  <a:buFontTx/>
              <a:buNone/>
            </a:pPr>
            <a:r>
              <a:rPr lang="zh-CN" altLang="en-US" sz="2400" b="1" dirty="0"/>
              <a:t> 实体的构造是体素间进行交、并、差集合运算的过程。</a:t>
            </a:r>
          </a:p>
        </p:txBody>
      </p:sp>
      <p:sp>
        <p:nvSpPr>
          <p:cNvPr id="14" name="Text Box 31">
            <a:extLst>
              <a:ext uri="{FF2B5EF4-FFF2-40B4-BE49-F238E27FC236}">
                <a16:creationId xmlns:a16="http://schemas.microsoft.com/office/drawing/2014/main" id="{E76E0086-1199-4110-A60F-FCA5829B7C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9616" y="474250"/>
            <a:ext cx="6448771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CAD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三维构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形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基础与基本立体投影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17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650"/>
                            </p:stCondLst>
                            <p:childTnLst>
                              <p:par>
                                <p:cTn id="18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9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8" dur="5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uiExpand="1" build="p" animBg="1"/>
      <p:bldP spid="7181" grpId="0"/>
      <p:bldP spid="7182" grpId="0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idx="1"/>
          </p:nvPr>
        </p:nvSpPr>
        <p:spPr>
          <a:xfrm>
            <a:off x="1487488" y="2298487"/>
            <a:ext cx="9577064" cy="3727461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buNone/>
              <a:defRPr/>
            </a:pPr>
            <a:r>
              <a:rPr lang="en-US" altLang="zh-CN" sz="2400" b="1" dirty="0"/>
              <a:t>      1</a:t>
            </a:r>
            <a:r>
              <a:rPr lang="zh-CN" altLang="en-US" sz="2400" b="1" dirty="0"/>
              <a:t>）平移扫描法</a:t>
            </a:r>
          </a:p>
          <a:p>
            <a:pPr marL="0" indent="0" eaLnBrk="1" hangingPunct="1">
              <a:spcBef>
                <a:spcPct val="0"/>
              </a:spcBef>
              <a:buNone/>
              <a:defRPr/>
            </a:pPr>
            <a:r>
              <a:rPr lang="zh-CN" altLang="en-US" sz="2400" b="1" dirty="0"/>
              <a:t>             平移扫描的</a:t>
            </a:r>
            <a:r>
              <a:rPr lang="zh-CN" altLang="en-US" sz="24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运动轨迹</a:t>
            </a:r>
            <a:r>
              <a:rPr lang="zh-CN" altLang="en-US" sz="2400" b="1" dirty="0"/>
              <a:t>通常</a:t>
            </a:r>
            <a:r>
              <a:rPr lang="zh-CN" altLang="en-US" sz="24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是一条直线</a:t>
            </a:r>
            <a:r>
              <a:rPr lang="zh-CN" altLang="en-US" sz="2400" b="1" dirty="0"/>
              <a:t>。</a:t>
            </a:r>
          </a:p>
          <a:p>
            <a:pPr marL="0" indent="0" eaLnBrk="1" hangingPunct="1">
              <a:spcBef>
                <a:spcPct val="0"/>
              </a:spcBef>
              <a:buNone/>
              <a:defRPr/>
            </a:pPr>
            <a:r>
              <a:rPr lang="zh-CN" altLang="en-US" sz="2400" b="1" dirty="0"/>
              <a:t>              如果扫描用的是一个平面图形，则该</a:t>
            </a:r>
            <a:r>
              <a:rPr lang="zh-CN" altLang="en-US" sz="2400" b="1" dirty="0">
                <a:solidFill>
                  <a:srgbClr val="FF0000"/>
                </a:solidFill>
              </a:rPr>
              <a:t>平面图形</a:t>
            </a:r>
            <a:r>
              <a:rPr lang="zh-CN" altLang="en-US" sz="2400" b="1" dirty="0"/>
              <a:t>就</a:t>
            </a:r>
            <a:r>
              <a:rPr lang="zh-CN" altLang="en-US" sz="2400" b="1" dirty="0">
                <a:solidFill>
                  <a:srgbClr val="FF0000"/>
                </a:solidFill>
              </a:rPr>
              <a:t>是</a:t>
            </a:r>
            <a:r>
              <a:rPr lang="zh-CN" altLang="en-US" sz="2400" b="1" dirty="0"/>
              <a:t>待构造实体的一个</a:t>
            </a:r>
            <a:r>
              <a:rPr lang="zh-CN" altLang="en-US" sz="24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剖面。</a:t>
            </a:r>
            <a:endParaRPr lang="en-US" altLang="zh-CN" sz="2400" b="1" dirty="0"/>
          </a:p>
          <a:p>
            <a:pPr marL="0" indent="0" eaLnBrk="1" hangingPunct="1">
              <a:spcBef>
                <a:spcPct val="0"/>
              </a:spcBef>
              <a:buNone/>
              <a:defRPr/>
            </a:pPr>
            <a:r>
              <a:rPr lang="zh-CN" altLang="en-US" sz="2400" b="1" dirty="0">
                <a:latin typeface="+mn-ea"/>
              </a:rPr>
              <a:t>         指定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平移</a:t>
            </a:r>
            <a:r>
              <a:rPr lang="zh-CN" altLang="en-US" sz="2400" b="1" dirty="0"/>
              <a:t>的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方向</a:t>
            </a:r>
            <a:r>
              <a:rPr lang="zh-CN" altLang="en-US" sz="2400" b="1" dirty="0"/>
              <a:t>和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距离</a:t>
            </a:r>
            <a:r>
              <a:rPr lang="zh-CN" altLang="en-US" sz="2400" b="1" dirty="0"/>
              <a:t>就能生成三维实体</a:t>
            </a:r>
          </a:p>
        </p:txBody>
      </p:sp>
      <p:sp>
        <p:nvSpPr>
          <p:cNvPr id="24579" name="矩形 4"/>
          <p:cNvSpPr>
            <a:spLocks noChangeArrowheads="1"/>
          </p:cNvSpPr>
          <p:nvPr/>
        </p:nvSpPr>
        <p:spPr bwMode="auto">
          <a:xfrm>
            <a:off x="1492340" y="1765052"/>
            <a:ext cx="1628972" cy="437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扫描法</a:t>
            </a:r>
          </a:p>
        </p:txBody>
      </p:sp>
      <p:pic>
        <p:nvPicPr>
          <p:cNvPr id="7" name="图片 6" descr="l2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32225" y="4784744"/>
            <a:ext cx="1550988" cy="129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图片 5" descr="l1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868738" y="4289444"/>
            <a:ext cx="1643062" cy="176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图片 7" descr="l3.jp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191375" y="4587894"/>
            <a:ext cx="1036638" cy="134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图片 8" descr="l4.jp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227888" y="4138630"/>
            <a:ext cx="1752600" cy="181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952597" y="6000769"/>
            <a:ext cx="834392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FF0066"/>
                </a:solidFill>
                <a:latin typeface="黑体" pitchFamily="49" charset="-122"/>
                <a:ea typeface="黑体" pitchFamily="49" charset="-122"/>
              </a:rPr>
              <a:t>☆</a:t>
            </a:r>
            <a:r>
              <a:rPr lang="zh-CN" altLang="en-US" sz="2800" b="1" dirty="0">
                <a:solidFill>
                  <a:srgbClr val="FF0066"/>
                </a:solidFill>
                <a:latin typeface="黑体" pitchFamily="49" charset="-122"/>
                <a:ea typeface="黑体" pitchFamily="49" charset="-122"/>
              </a:rPr>
              <a:t>平移扫描</a:t>
            </a:r>
            <a:r>
              <a:rPr lang="zh-CN" altLang="en-US" sz="2800" b="1" dirty="0">
                <a:latin typeface="Segoe UI" pitchFamily="34" charset="0"/>
              </a:rPr>
              <a:t>只能</a:t>
            </a:r>
            <a:r>
              <a:rPr lang="zh-CN" altLang="en-US" sz="2800" b="1" dirty="0">
                <a:solidFill>
                  <a:srgbClr val="FF0066"/>
                </a:solidFill>
                <a:latin typeface="Segoe UI" pitchFamily="34" charset="0"/>
              </a:rPr>
              <a:t>构造</a:t>
            </a:r>
            <a:r>
              <a:rPr lang="zh-CN" altLang="en-US" sz="2800" b="1" dirty="0">
                <a:latin typeface="Segoe UI" pitchFamily="34" charset="0"/>
              </a:rPr>
              <a:t>具有</a:t>
            </a:r>
            <a:r>
              <a:rPr lang="zh-CN" altLang="en-US" sz="2800" b="1" dirty="0">
                <a:solidFill>
                  <a:srgbClr val="FF0066"/>
                </a:solidFill>
                <a:latin typeface="Segoe UI" pitchFamily="34" charset="0"/>
              </a:rPr>
              <a:t>相同剖面</a:t>
            </a:r>
            <a:r>
              <a:rPr lang="zh-CN" altLang="en-US" sz="2800" b="1" dirty="0">
                <a:latin typeface="Segoe UI" pitchFamily="34" charset="0"/>
              </a:rPr>
              <a:t>形状的实体</a:t>
            </a:r>
            <a:endParaRPr lang="zh-CN" altLang="en-US" sz="2800" dirty="0">
              <a:latin typeface="Segoe UI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83432" y="1196752"/>
            <a:ext cx="37914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一、</a:t>
            </a:r>
            <a:r>
              <a:rPr lang="zh-CN" altLang="zh-CN" sz="2800" b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几何体的构</a:t>
            </a:r>
            <a:r>
              <a:rPr lang="zh-CN" altLang="en-US" sz="2800" b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形</a:t>
            </a:r>
            <a:r>
              <a:rPr lang="zh-CN" altLang="zh-CN" sz="2800" b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方法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Text Box 31">
            <a:extLst>
              <a:ext uri="{FF2B5EF4-FFF2-40B4-BE49-F238E27FC236}">
                <a16:creationId xmlns:a16="http://schemas.microsoft.com/office/drawing/2014/main" id="{3922B87D-B8AE-49FC-8C15-92D13C671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9616" y="474250"/>
            <a:ext cx="6448771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CAD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三维构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形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基础与基本立体投影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8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 uiExpand="1" build="p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idx="1"/>
          </p:nvPr>
        </p:nvSpPr>
        <p:spPr>
          <a:xfrm>
            <a:off x="1681758" y="2749546"/>
            <a:ext cx="9886850" cy="3005165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   </a:t>
            </a:r>
            <a:r>
              <a:rPr lang="zh-CN" altLang="en-US" sz="2400" b="1" dirty="0"/>
              <a:t>当一个</a:t>
            </a:r>
            <a:r>
              <a:rPr lang="zh-CN" altLang="en-US" sz="2400" b="1" dirty="0">
                <a:solidFill>
                  <a:srgbClr val="FF0000"/>
                </a:solidFill>
              </a:rPr>
              <a:t>平面</a:t>
            </a:r>
            <a:r>
              <a:rPr lang="zh-CN" altLang="en-US" sz="2400" b="1" dirty="0"/>
              <a:t>图形</a:t>
            </a:r>
            <a:r>
              <a:rPr lang="zh-CN" altLang="en-US" sz="2400" b="1" dirty="0">
                <a:solidFill>
                  <a:srgbClr val="FF0000"/>
                </a:solidFill>
              </a:rPr>
              <a:t>绕着</a:t>
            </a:r>
            <a:r>
              <a:rPr lang="zh-CN" altLang="en-US" sz="2400" b="1" dirty="0"/>
              <a:t>与其</a:t>
            </a:r>
            <a:r>
              <a:rPr lang="zh-CN" altLang="en-US" sz="2400" b="1" dirty="0">
                <a:solidFill>
                  <a:srgbClr val="0070C0"/>
                </a:solidFill>
              </a:rPr>
              <a:t>共面的轴</a:t>
            </a:r>
            <a:r>
              <a:rPr lang="zh-CN" altLang="en-US" sz="2400" b="1" dirty="0">
                <a:solidFill>
                  <a:srgbClr val="FF0000"/>
                </a:solidFill>
              </a:rPr>
              <a:t>旋转</a:t>
            </a:r>
            <a:r>
              <a:rPr lang="zh-CN" altLang="en-US" sz="2400" b="1" dirty="0"/>
              <a:t>一角度时，即扫描出一个实体。</a:t>
            </a:r>
            <a:endParaRPr lang="en-US" altLang="zh-CN" sz="2400" b="1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66"/>
                </a:solidFill>
              </a:rPr>
              <a:t>   </a:t>
            </a:r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/>
          <a:srcRect l="24942" t="54263" r="51683" b="28569"/>
          <a:stretch>
            <a:fillRect/>
          </a:stretch>
        </p:blipFill>
        <p:spPr bwMode="auto">
          <a:xfrm>
            <a:off x="2262189" y="3783036"/>
            <a:ext cx="3578225" cy="197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3"/>
          <a:srcRect l="49934" t="54263" r="24522" b="28569"/>
          <a:stretch>
            <a:fillRect/>
          </a:stretch>
        </p:blipFill>
        <p:spPr bwMode="auto">
          <a:xfrm>
            <a:off x="6022976" y="3819549"/>
            <a:ext cx="3819525" cy="192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5" name="矩形 4"/>
          <p:cNvSpPr>
            <a:spLocks noChangeArrowheads="1"/>
          </p:cNvSpPr>
          <p:nvPr/>
        </p:nvSpPr>
        <p:spPr bwMode="auto">
          <a:xfrm>
            <a:off x="1523301" y="2276872"/>
            <a:ext cx="2196435" cy="38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2400" b="1" dirty="0">
                <a:latin typeface="+mn-ea"/>
                <a:ea typeface="+mn-ea"/>
              </a:rPr>
              <a:t>2</a:t>
            </a:r>
            <a:r>
              <a:rPr lang="zh-CN" altLang="en-US" sz="2400" b="1" dirty="0">
                <a:latin typeface="+mn-ea"/>
                <a:ea typeface="+mn-ea"/>
              </a:rPr>
              <a:t>）旋转扫描法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3047200" y="5754711"/>
            <a:ext cx="636744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☆</a:t>
            </a:r>
            <a:r>
              <a:rPr lang="zh-CN" altLang="en-US" sz="2800" b="1" dirty="0">
                <a:solidFill>
                  <a:srgbClr val="FF0000"/>
                </a:solidFill>
              </a:rPr>
              <a:t>旋转扫描</a:t>
            </a:r>
            <a:r>
              <a:rPr lang="zh-CN" altLang="en-US" sz="2800" b="1" dirty="0"/>
              <a:t>只能</a:t>
            </a:r>
            <a:r>
              <a:rPr lang="zh-CN" altLang="en-US" sz="2800" b="1" dirty="0">
                <a:solidFill>
                  <a:srgbClr val="FF0000"/>
                </a:solidFill>
              </a:rPr>
              <a:t>构造</a:t>
            </a:r>
            <a:r>
              <a:rPr lang="zh-CN" altLang="en-US" sz="2800" b="1" dirty="0"/>
              <a:t>具有</a:t>
            </a:r>
            <a:r>
              <a:rPr lang="zh-CN" altLang="en-US" sz="2800" b="1" dirty="0">
                <a:solidFill>
                  <a:srgbClr val="FF0000"/>
                </a:solidFill>
              </a:rPr>
              <a:t>轴对称的实体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7" name="矩形 4"/>
          <p:cNvSpPr>
            <a:spLocks noChangeArrowheads="1"/>
          </p:cNvSpPr>
          <p:nvPr/>
        </p:nvSpPr>
        <p:spPr bwMode="auto">
          <a:xfrm>
            <a:off x="1319432" y="1781417"/>
            <a:ext cx="1628972" cy="437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扫描法</a:t>
            </a:r>
          </a:p>
        </p:txBody>
      </p:sp>
      <p:sp>
        <p:nvSpPr>
          <p:cNvPr id="9" name="矩形 8"/>
          <p:cNvSpPr/>
          <p:nvPr/>
        </p:nvSpPr>
        <p:spPr>
          <a:xfrm>
            <a:off x="911424" y="1196752"/>
            <a:ext cx="37914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一、</a:t>
            </a:r>
            <a:r>
              <a:rPr lang="zh-CN" altLang="zh-CN" sz="2800" b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几何体的构</a:t>
            </a:r>
            <a:r>
              <a:rPr lang="zh-CN" altLang="en-US" sz="2800" b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形</a:t>
            </a:r>
            <a:r>
              <a:rPr lang="zh-CN" altLang="zh-CN" sz="2800" b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方法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ext Box 31">
            <a:extLst>
              <a:ext uri="{FF2B5EF4-FFF2-40B4-BE49-F238E27FC236}">
                <a16:creationId xmlns:a16="http://schemas.microsoft.com/office/drawing/2014/main" id="{BA6A52E6-E43E-4D0E-BF75-0B79554622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9616" y="474250"/>
            <a:ext cx="6448771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CAD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三维构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形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基础与基本立体投影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11424" y="1265088"/>
            <a:ext cx="37946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二、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CAD</a:t>
            </a:r>
            <a:r>
              <a:rPr lang="x-none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三维构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形</a:t>
            </a:r>
            <a:r>
              <a:rPr lang="x-none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基础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395632" y="1743199"/>
            <a:ext cx="23519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三维实体润饰</a:t>
            </a:r>
          </a:p>
        </p:txBody>
      </p:sp>
      <p:sp>
        <p:nvSpPr>
          <p:cNvPr id="6" name="矩形 5"/>
          <p:cNvSpPr/>
          <p:nvPr/>
        </p:nvSpPr>
        <p:spPr>
          <a:xfrm>
            <a:off x="1810613" y="2249780"/>
            <a:ext cx="25074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 </a:t>
            </a:r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1)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三维视图命令</a:t>
            </a:r>
            <a:endParaRPr lang="zh-CN" altLang="en-US" sz="2400" dirty="0"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15362" name="Picture 2" descr="s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54074" y="3354461"/>
            <a:ext cx="1155615" cy="357190"/>
          </a:xfrm>
          <a:prstGeom prst="rect">
            <a:avLst/>
          </a:prstGeom>
          <a:noFill/>
        </p:spPr>
      </p:pic>
      <p:pic>
        <p:nvPicPr>
          <p:cNvPr id="15361" name="Picture 1" descr="14-96-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58749" y="3354461"/>
            <a:ext cx="1491793" cy="357190"/>
          </a:xfrm>
          <a:prstGeom prst="rect">
            <a:avLst/>
          </a:prstGeom>
          <a:noFill/>
        </p:spPr>
      </p:pic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2163271" y="2750759"/>
            <a:ext cx="20717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在菜单栏单击</a:t>
            </a:r>
            <a:endParaRPr lang="zh-CN" altLang="en-US" sz="2400" b="1" dirty="0">
              <a:cs typeface="宋体" pitchFamily="2" charset="-122"/>
            </a:endParaRP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3499024" y="3302223"/>
            <a:ext cx="35719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→</a:t>
            </a:r>
            <a:endParaRPr lang="en-US" altLang="zh-CN" sz="2400" b="1" dirty="0">
              <a:latin typeface="+mn-ea"/>
              <a:ea typeface="+mn-ea"/>
              <a:cs typeface="宋体" pitchFamily="2" charset="-122"/>
            </a:endParaRPr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2162399" y="4190828"/>
            <a:ext cx="3387629" cy="1200329"/>
          </a:xfrm>
          <a:prstGeom prst="rect">
            <a:avLst/>
          </a:prstGeom>
          <a:gradFill flip="none" rotWithShape="1">
            <a:gsLst>
              <a:gs pos="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810000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或在功能区单击“视图”工具栏中的按钮，可调用“三维视图”命令</a:t>
            </a:r>
            <a:r>
              <a:rPr lang="zh-CN" altLang="en-US" sz="2400" b="1" dirty="0">
                <a:cs typeface="宋体" pitchFamily="2" charset="-122"/>
              </a:rPr>
              <a:t> </a:t>
            </a:r>
          </a:p>
        </p:txBody>
      </p:sp>
      <p:pic>
        <p:nvPicPr>
          <p:cNvPr id="15366" name="Picture 6"/>
          <p:cNvPicPr>
            <a:picLocks noChangeAspect="1" noChangeArrowheads="1"/>
          </p:cNvPicPr>
          <p:nvPr/>
        </p:nvPicPr>
        <p:blipFill>
          <a:blip r:embed="rId4"/>
          <a:srcRect r="29763"/>
          <a:stretch>
            <a:fillRect/>
          </a:stretch>
        </p:blipFill>
        <p:spPr bwMode="auto">
          <a:xfrm>
            <a:off x="5810248" y="1915355"/>
            <a:ext cx="3143272" cy="469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矩形 12"/>
          <p:cNvSpPr/>
          <p:nvPr/>
        </p:nvSpPr>
        <p:spPr bwMode="auto">
          <a:xfrm>
            <a:off x="7287755" y="4759428"/>
            <a:ext cx="1714512" cy="214314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itchFamily="2" charset="-122"/>
            </a:endParaRPr>
          </a:p>
        </p:txBody>
      </p:sp>
      <p:pic>
        <p:nvPicPr>
          <p:cNvPr id="15367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882083" y="2714621"/>
            <a:ext cx="1590675" cy="296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矩形 15"/>
          <p:cNvSpPr/>
          <p:nvPr/>
        </p:nvSpPr>
        <p:spPr bwMode="auto">
          <a:xfrm>
            <a:off x="7167570" y="2139941"/>
            <a:ext cx="571504" cy="142876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5" name="Text Box 31">
            <a:extLst>
              <a:ext uri="{FF2B5EF4-FFF2-40B4-BE49-F238E27FC236}">
                <a16:creationId xmlns:a16="http://schemas.microsoft.com/office/drawing/2014/main" id="{36572D9E-8F72-4DDF-8DEA-1FEAB8E502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9616" y="474250"/>
            <a:ext cx="6448771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CAD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三维构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形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基础与基本立体投影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/>
      <p:bldP spid="15364" grpId="0"/>
      <p:bldP spid="15365" grpId="0" animBg="1"/>
      <p:bldP spid="13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 descr="14-9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0" y="1772816"/>
            <a:ext cx="4357719" cy="3857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矩形 3"/>
          <p:cNvSpPr/>
          <p:nvPr/>
        </p:nvSpPr>
        <p:spPr>
          <a:xfrm>
            <a:off x="911424" y="1196752"/>
            <a:ext cx="37946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二、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CAD</a:t>
            </a:r>
            <a:r>
              <a:rPr lang="x-none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三维构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形</a:t>
            </a:r>
            <a:r>
              <a:rPr lang="x-none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基础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91544" y="2345063"/>
            <a:ext cx="23519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1)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三维视图命令</a:t>
            </a:r>
            <a:endParaRPr lang="zh-CN" altLang="en-US" sz="24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1802509" y="3068960"/>
            <a:ext cx="3462654" cy="1569660"/>
          </a:xfrm>
          <a:prstGeom prst="rect">
            <a:avLst/>
          </a:prstGeom>
          <a:gradFill flip="none" rotWithShape="1">
            <a:gsLst>
              <a:gs pos="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810000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sz="2400" b="1" dirty="0"/>
              <a:t>利用“三维视图”命令，可以显示生成实体的六个二维基本视图和四个方向的正等轴测图</a:t>
            </a:r>
            <a:endParaRPr lang="zh-CN" altLang="en-US" sz="2400" b="1" dirty="0">
              <a:cs typeface="宋体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516374" y="1749026"/>
            <a:ext cx="23519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三维实体润饰</a:t>
            </a:r>
          </a:p>
        </p:txBody>
      </p:sp>
      <p:sp>
        <p:nvSpPr>
          <p:cNvPr id="8" name="Text Box 31">
            <a:extLst>
              <a:ext uri="{FF2B5EF4-FFF2-40B4-BE49-F238E27FC236}">
                <a16:creationId xmlns:a16="http://schemas.microsoft.com/office/drawing/2014/main" id="{FE017C0C-FBF9-4074-B743-43E80F61B6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9616" y="474250"/>
            <a:ext cx="6448771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CAD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三维构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形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基础与基本立体投影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500"/>
                                        <p:tgtEl>
                                          <p:spTgt spid="47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11424" y="1196752"/>
            <a:ext cx="37946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二、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CAD</a:t>
            </a:r>
            <a:r>
              <a:rPr lang="x-none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三维构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形</a:t>
            </a:r>
            <a:r>
              <a:rPr lang="x-none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基础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31504" y="2204864"/>
            <a:ext cx="23519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2)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视觉样式命令</a:t>
            </a:r>
            <a:endParaRPr lang="zh-CN" altLang="en-US" sz="2400" dirty="0"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15362" name="Picture 2" descr="s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33457" y="3317067"/>
            <a:ext cx="986121" cy="304801"/>
          </a:xfrm>
          <a:prstGeom prst="rect">
            <a:avLst/>
          </a:prstGeom>
          <a:noFill/>
        </p:spPr>
      </p:pic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2338500" y="2832427"/>
            <a:ext cx="20717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在菜单栏单击</a:t>
            </a:r>
            <a:endParaRPr lang="zh-CN" altLang="en-US" sz="2400" b="1" dirty="0">
              <a:cs typeface="宋体" pitchFamily="2" charset="-122"/>
            </a:endParaRP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3353210" y="3222886"/>
            <a:ext cx="35719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→</a:t>
            </a:r>
            <a:endParaRPr lang="en-US" altLang="zh-CN" sz="2400" b="1" dirty="0">
              <a:latin typeface="+mn-ea"/>
              <a:ea typeface="+mn-ea"/>
              <a:cs typeface="宋体" pitchFamily="2" charset="-122"/>
            </a:endParaRPr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2301994" y="3986282"/>
            <a:ext cx="3181267" cy="1569660"/>
          </a:xfrm>
          <a:prstGeom prst="rect">
            <a:avLst/>
          </a:prstGeom>
          <a:gradFill>
            <a:gsLst>
              <a:gs pos="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81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sz="2400" b="1" dirty="0"/>
              <a:t>或在功能区单击“视觉样式”工具栏中的按钮，可调用“视觉样式”命令</a:t>
            </a:r>
            <a:endParaRPr lang="zh-CN" altLang="en-US" sz="2400" b="1" dirty="0">
              <a:cs typeface="宋体" pitchFamily="2" charset="-122"/>
            </a:endParaRPr>
          </a:p>
        </p:txBody>
      </p:sp>
      <p:pic>
        <p:nvPicPr>
          <p:cNvPr id="15366" name="Picture 6"/>
          <p:cNvPicPr>
            <a:picLocks noChangeAspect="1" noChangeArrowheads="1"/>
          </p:cNvPicPr>
          <p:nvPr/>
        </p:nvPicPr>
        <p:blipFill>
          <a:blip r:embed="rId3"/>
          <a:srcRect r="29763"/>
          <a:stretch>
            <a:fillRect/>
          </a:stretch>
        </p:blipFill>
        <p:spPr bwMode="auto">
          <a:xfrm>
            <a:off x="5810248" y="1915355"/>
            <a:ext cx="3143272" cy="469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矩形 12"/>
          <p:cNvSpPr/>
          <p:nvPr/>
        </p:nvSpPr>
        <p:spPr bwMode="auto">
          <a:xfrm>
            <a:off x="7287755" y="5572140"/>
            <a:ext cx="1714512" cy="214314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7167570" y="2139941"/>
            <a:ext cx="571504" cy="142876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lvl="0"/>
            <a:r>
              <a:rPr lang="zh-CN" altLang="en-US" sz="3600" b="1" dirty="0">
                <a:cs typeface="宋体" pitchFamily="2" charset="-122"/>
              </a:rPr>
              <a:t> </a:t>
            </a:r>
          </a:p>
        </p:txBody>
      </p:sp>
      <p:pic>
        <p:nvPicPr>
          <p:cNvPr id="46082" name="Picture 2" descr="14-96-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815038" y="3297989"/>
            <a:ext cx="1630229" cy="357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083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739207" y="3929067"/>
            <a:ext cx="1762125" cy="254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矩形 17"/>
          <p:cNvSpPr/>
          <p:nvPr/>
        </p:nvSpPr>
        <p:spPr>
          <a:xfrm>
            <a:off x="1342829" y="1686935"/>
            <a:ext cx="23519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三维实体润饰</a:t>
            </a:r>
          </a:p>
        </p:txBody>
      </p:sp>
      <p:sp>
        <p:nvSpPr>
          <p:cNvPr id="15" name="Text Box 31">
            <a:extLst>
              <a:ext uri="{FF2B5EF4-FFF2-40B4-BE49-F238E27FC236}">
                <a16:creationId xmlns:a16="http://schemas.microsoft.com/office/drawing/2014/main" id="{0103D604-1FDD-4FE3-B35B-ACE766CDFC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9616" y="474250"/>
            <a:ext cx="6448771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CAD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三维构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形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基础与基本立体投影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6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/>
      <p:bldP spid="15364" grpId="0"/>
      <p:bldP spid="15365" grpId="0" animBg="1"/>
      <p:bldP spid="13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11424" y="1196752"/>
            <a:ext cx="37946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二、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CAD</a:t>
            </a:r>
            <a:r>
              <a:rPr lang="x-none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三维构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形</a:t>
            </a:r>
            <a:r>
              <a:rPr lang="x-none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基础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1919536" y="2919758"/>
            <a:ext cx="4625974" cy="2308324"/>
          </a:xfrm>
          <a:prstGeom prst="rect">
            <a:avLst/>
          </a:prstGeom>
          <a:gradFill>
            <a:gsLst>
              <a:gs pos="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81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400" b="1" dirty="0"/>
              <a:t>利用“视觉样式”命令，可以</a:t>
            </a:r>
            <a:r>
              <a:rPr lang="zh-CN" altLang="en-US" sz="2400" b="1" dirty="0">
                <a:solidFill>
                  <a:srgbClr val="FF0000"/>
                </a:solidFill>
              </a:rPr>
              <a:t>生成</a:t>
            </a:r>
            <a:r>
              <a:rPr lang="zh-CN" altLang="en-US" sz="2400" b="1" dirty="0"/>
              <a:t>各种</a:t>
            </a:r>
            <a:r>
              <a:rPr lang="zh-CN" altLang="en-US" sz="2400" b="1" dirty="0">
                <a:solidFill>
                  <a:srgbClr val="FF0000"/>
                </a:solidFill>
              </a:rPr>
              <a:t>模形图像</a:t>
            </a:r>
            <a:r>
              <a:rPr lang="zh-CN" altLang="en-US" sz="2400" b="1" dirty="0"/>
              <a:t>，如二维线框图、三维线框图、三维消隐、真实、概念。通过“</a:t>
            </a:r>
            <a:r>
              <a:rPr lang="zh-CN" altLang="en-US" sz="2400" b="1" dirty="0">
                <a:solidFill>
                  <a:srgbClr val="FF0000"/>
                </a:solidFill>
              </a:rPr>
              <a:t>视觉样式管理</a:t>
            </a:r>
            <a:r>
              <a:rPr lang="zh-CN" altLang="en-US" sz="2400" b="1" dirty="0"/>
              <a:t>器”可以进行</a:t>
            </a:r>
            <a:r>
              <a:rPr lang="zh-CN" altLang="en-US" sz="2400" b="1" dirty="0">
                <a:solidFill>
                  <a:srgbClr val="FF0000"/>
                </a:solidFill>
              </a:rPr>
              <a:t>精度</a:t>
            </a:r>
            <a:r>
              <a:rPr lang="zh-CN" altLang="en-US" sz="2400" b="1" dirty="0"/>
              <a:t>等参数</a:t>
            </a:r>
            <a:r>
              <a:rPr lang="zh-CN" altLang="en-US" sz="2400" b="1" dirty="0">
                <a:solidFill>
                  <a:srgbClr val="FF0000"/>
                </a:solidFill>
              </a:rPr>
              <a:t>调整</a:t>
            </a:r>
            <a:r>
              <a:rPr lang="zh-CN" altLang="en-US" sz="2400" b="1" dirty="0"/>
              <a:t>。系统默认的显示为俯视图、二维线框。</a:t>
            </a:r>
          </a:p>
        </p:txBody>
      </p:sp>
      <p:pic>
        <p:nvPicPr>
          <p:cNvPr id="48130" name="Picture 2" descr="14-9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03424" y="2204864"/>
            <a:ext cx="4297871" cy="3429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矩形 16"/>
          <p:cNvSpPr/>
          <p:nvPr/>
        </p:nvSpPr>
        <p:spPr>
          <a:xfrm>
            <a:off x="1559496" y="2322416"/>
            <a:ext cx="23519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2)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视觉样式命令</a:t>
            </a:r>
            <a:endParaRPr lang="zh-CN" altLang="en-US" sz="24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319592" y="1752193"/>
            <a:ext cx="23519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三维实体润饰</a:t>
            </a:r>
          </a:p>
        </p:txBody>
      </p:sp>
      <p:sp>
        <p:nvSpPr>
          <p:cNvPr id="8" name="Text Box 31">
            <a:extLst>
              <a:ext uri="{FF2B5EF4-FFF2-40B4-BE49-F238E27FC236}">
                <a16:creationId xmlns:a16="http://schemas.microsoft.com/office/drawing/2014/main" id="{C6BEE734-9E74-47FD-9658-E323DBAF6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9616" y="474250"/>
            <a:ext cx="6448771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CAD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三维构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形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基础与基本立体投影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4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11424" y="1196752"/>
            <a:ext cx="37946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二、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CAD</a:t>
            </a:r>
            <a:r>
              <a:rPr lang="x-none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三维构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形</a:t>
            </a:r>
            <a:r>
              <a:rPr lang="x-none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基础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391523" y="1714357"/>
            <a:ext cx="29578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绘制基本三维实体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  <a:cs typeface="宋体" pitchFamily="2" charset="-122"/>
            </a:endParaRP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1559496" y="2336809"/>
            <a:ext cx="5400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   打开</a:t>
            </a:r>
            <a:r>
              <a:rPr lang="en-US" altLang="zh-CN" sz="2400" b="1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AutoCAD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，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在快速访问工具栏 </a:t>
            </a:r>
            <a:endParaRPr lang="zh-CN" altLang="en-US" sz="2400" b="1" dirty="0">
              <a:latin typeface="+mn-ea"/>
              <a:ea typeface="+mn-ea"/>
              <a:cs typeface="宋体" pitchFamily="2" charset="-122"/>
            </a:endParaRPr>
          </a:p>
        </p:txBody>
      </p:sp>
      <p:pic>
        <p:nvPicPr>
          <p:cNvPr id="14338" name="Picture 2" descr="CTKJ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38415" y="3000372"/>
            <a:ext cx="3046621" cy="357190"/>
          </a:xfrm>
          <a:prstGeom prst="rect">
            <a:avLst/>
          </a:prstGeom>
          <a:noFill/>
        </p:spPr>
      </p:pic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5810248" y="2928935"/>
            <a:ext cx="36551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中选“三维建模”工作空</a:t>
            </a:r>
            <a:r>
              <a:rPr lang="zh-CN" altLang="en-US" sz="2400" b="1" dirty="0">
                <a:cs typeface="宋体" pitchFamily="2" charset="-122"/>
              </a:rPr>
              <a:t> </a:t>
            </a:r>
          </a:p>
        </p:txBody>
      </p:sp>
      <p:sp>
        <p:nvSpPr>
          <p:cNvPr id="13" name="矩形 12"/>
          <p:cNvSpPr/>
          <p:nvPr/>
        </p:nvSpPr>
        <p:spPr bwMode="auto">
          <a:xfrm>
            <a:off x="5524496" y="3000372"/>
            <a:ext cx="357191" cy="35719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itchFamily="2" charset="-122"/>
            </a:endParaRPr>
          </a:p>
        </p:txBody>
      </p:sp>
      <p:pic>
        <p:nvPicPr>
          <p:cNvPr id="14341" name="Picture 5" descr="14-8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95472" y="3500438"/>
            <a:ext cx="8080298" cy="1428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矩形 14"/>
          <p:cNvSpPr/>
          <p:nvPr/>
        </p:nvSpPr>
        <p:spPr bwMode="auto">
          <a:xfrm>
            <a:off x="2471713" y="3870328"/>
            <a:ext cx="357191" cy="214314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2095472" y="4071942"/>
            <a:ext cx="1643074" cy="835032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166910" y="5072075"/>
            <a:ext cx="464347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  <a:ea typeface="+mn-ea"/>
              </a:rPr>
              <a:t>示例：构建直径为</a:t>
            </a:r>
            <a:r>
              <a:rPr lang="en-US" sz="2400" b="1" dirty="0">
                <a:latin typeface="+mn-ea"/>
                <a:ea typeface="+mn-ea"/>
              </a:rPr>
              <a:t>60mm</a:t>
            </a:r>
            <a:r>
              <a:rPr lang="zh-CN" altLang="en-US" sz="2400" b="1" dirty="0">
                <a:latin typeface="+mn-ea"/>
                <a:ea typeface="+mn-ea"/>
              </a:rPr>
              <a:t>、高度为</a:t>
            </a:r>
            <a:r>
              <a:rPr lang="en-US" sz="2400" b="1" dirty="0">
                <a:latin typeface="+mn-ea"/>
                <a:ea typeface="+mn-ea"/>
              </a:rPr>
              <a:t>80mm</a:t>
            </a:r>
            <a:r>
              <a:rPr lang="zh-CN" altLang="en-US" sz="2400" b="1" dirty="0">
                <a:latin typeface="+mn-ea"/>
                <a:ea typeface="+mn-ea"/>
              </a:rPr>
              <a:t>的圆柱体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2166911" y="5929331"/>
            <a:ext cx="2286015" cy="461665"/>
            <a:chOff x="642910" y="5929330"/>
            <a:chExt cx="1068998" cy="461665"/>
          </a:xfrm>
        </p:grpSpPr>
        <p:sp>
          <p:nvSpPr>
            <p:cNvPr id="18" name="矩形 17"/>
            <p:cNvSpPr/>
            <p:nvPr/>
          </p:nvSpPr>
          <p:spPr>
            <a:xfrm>
              <a:off x="642910" y="5929330"/>
              <a:ext cx="53449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b="1" dirty="0"/>
                <a:t>1)</a:t>
              </a:r>
              <a:r>
                <a:rPr lang="zh-CN" altLang="en-US" sz="2400" b="1" dirty="0"/>
                <a:t>单击</a:t>
              </a:r>
            </a:p>
          </p:txBody>
        </p:sp>
        <p:pic>
          <p:nvPicPr>
            <p:cNvPr id="14342" name="Picture 6" descr="14-84-4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144003" y="6000768"/>
              <a:ext cx="567905" cy="3571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1" name="矩形 20"/>
          <p:cNvSpPr/>
          <p:nvPr/>
        </p:nvSpPr>
        <p:spPr bwMode="auto">
          <a:xfrm>
            <a:off x="2166910" y="4286256"/>
            <a:ext cx="500066" cy="214314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9" name="Text Box 31">
            <a:extLst>
              <a:ext uri="{FF2B5EF4-FFF2-40B4-BE49-F238E27FC236}">
                <a16:creationId xmlns:a16="http://schemas.microsoft.com/office/drawing/2014/main" id="{43E214E0-7302-4A55-87D0-4074A48C81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9616" y="474250"/>
            <a:ext cx="6448771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CAD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三维构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形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基础与基本立体投影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/>
      <p:bldP spid="14340" grpId="0"/>
      <p:bldP spid="13" grpId="0" animBg="1"/>
      <p:bldP spid="15" grpId="0" animBg="1"/>
      <p:bldP spid="16" grpId="0" animBg="1"/>
      <p:bldP spid="17" grpId="0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740726" y="2233388"/>
            <a:ext cx="60114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+mn-ea"/>
                <a:ea typeface="+mn-ea"/>
              </a:rPr>
              <a:t>2</a:t>
            </a:r>
            <a:r>
              <a:rPr lang="zh-CN" altLang="en-US" sz="2400" b="1" dirty="0">
                <a:latin typeface="+mn-ea"/>
                <a:ea typeface="+mn-ea"/>
              </a:rPr>
              <a:t>）光标在绘图区域内任意点单击，确定圆柱体底面中心点坐标</a:t>
            </a:r>
          </a:p>
        </p:txBody>
      </p:sp>
      <p:sp>
        <p:nvSpPr>
          <p:cNvPr id="4" name="矩形 3"/>
          <p:cNvSpPr/>
          <p:nvPr/>
        </p:nvSpPr>
        <p:spPr>
          <a:xfrm>
            <a:off x="839416" y="1196752"/>
            <a:ext cx="37946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二、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CAD</a:t>
            </a:r>
            <a:r>
              <a:rPr lang="x-none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三维构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形</a:t>
            </a:r>
            <a:r>
              <a:rPr lang="x-none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基础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319515" y="1679321"/>
            <a:ext cx="29578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绘制基本三维实体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  <a:cs typeface="宋体" pitchFamily="2" charset="-122"/>
            </a:endParaRPr>
          </a:p>
        </p:txBody>
      </p:sp>
      <p:pic>
        <p:nvPicPr>
          <p:cNvPr id="49154" name="Picture 2" descr="14-84-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38349" y="3137885"/>
            <a:ext cx="5065887" cy="285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155" name="Picture 3" descr="14-84-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38348" y="3566513"/>
            <a:ext cx="5938672" cy="285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3167042" y="4000505"/>
            <a:ext cx="44935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绘图区内显示的是二维线框图形</a:t>
            </a:r>
          </a:p>
        </p:txBody>
      </p:sp>
      <p:sp>
        <p:nvSpPr>
          <p:cNvPr id="49164" name="Rectangle 12"/>
          <p:cNvSpPr>
            <a:spLocks noChangeArrowheads="1"/>
          </p:cNvSpPr>
          <p:nvPr/>
        </p:nvSpPr>
        <p:spPr bwMode="auto">
          <a:xfrm>
            <a:off x="1524000" y="494184"/>
            <a:ext cx="216726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zh-CN" sz="900">
                <a:cs typeface="宋体" pitchFamily="2" charset="-122"/>
              </a:rPr>
              <a:t> </a:t>
            </a:r>
            <a:endParaRPr lang="zh-CN" altLang="zh-CN">
              <a:cs typeface="宋体" pitchFamily="2" charset="-122"/>
            </a:endParaRPr>
          </a:p>
        </p:txBody>
      </p:sp>
      <p:sp>
        <p:nvSpPr>
          <p:cNvPr id="49160" name="Rectangle 8"/>
          <p:cNvSpPr>
            <a:spLocks noChangeArrowheads="1"/>
          </p:cNvSpPr>
          <p:nvPr/>
        </p:nvSpPr>
        <p:spPr bwMode="auto">
          <a:xfrm>
            <a:off x="1740726" y="4462170"/>
            <a:ext cx="23391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3)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在功能区单击</a:t>
            </a:r>
            <a:endParaRPr lang="zh-CN" altLang="en-US" sz="2400" b="1" dirty="0">
              <a:latin typeface="+mn-ea"/>
              <a:ea typeface="+mn-ea"/>
              <a:cs typeface="宋体" pitchFamily="2" charset="-122"/>
            </a:endParaRPr>
          </a:p>
        </p:txBody>
      </p:sp>
      <p:sp>
        <p:nvSpPr>
          <p:cNvPr id="26" name="Rectangle 8"/>
          <p:cNvSpPr>
            <a:spLocks noChangeArrowheads="1"/>
          </p:cNvSpPr>
          <p:nvPr/>
        </p:nvSpPr>
        <p:spPr bwMode="auto">
          <a:xfrm>
            <a:off x="1722180" y="5643578"/>
            <a:ext cx="23391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4)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在功能区单击</a:t>
            </a:r>
            <a:endParaRPr lang="zh-CN" altLang="en-US" sz="2400" b="1" dirty="0">
              <a:latin typeface="+mn-ea"/>
              <a:ea typeface="+mn-ea"/>
              <a:cs typeface="宋体" pitchFamily="2" charset="-122"/>
            </a:endParaRPr>
          </a:p>
        </p:txBody>
      </p:sp>
      <p:pic>
        <p:nvPicPr>
          <p:cNvPr id="49171" name="Picture 19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524892" y="1571612"/>
            <a:ext cx="1508520" cy="15001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9170" name="Picture 18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8524892" y="1428736"/>
            <a:ext cx="1428760" cy="1991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9172" name="Picture 20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8524893" y="1285860"/>
            <a:ext cx="1547817" cy="2214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9173" name="Picture 21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655840" y="4500570"/>
            <a:ext cx="1622334" cy="1143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7" name="矩形 36"/>
          <p:cNvSpPr/>
          <p:nvPr/>
        </p:nvSpPr>
        <p:spPr bwMode="auto">
          <a:xfrm>
            <a:off x="5513096" y="5429264"/>
            <a:ext cx="500066" cy="214314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itchFamily="2" charset="-122"/>
            </a:endParaRPr>
          </a:p>
        </p:txBody>
      </p:sp>
      <p:pic>
        <p:nvPicPr>
          <p:cNvPr id="38" name="Picture 4" descr="14-82-7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667768" y="4714884"/>
            <a:ext cx="1912015" cy="357190"/>
          </a:xfrm>
          <a:prstGeom prst="rect">
            <a:avLst/>
          </a:prstGeom>
          <a:noFill/>
        </p:spPr>
      </p:pic>
      <p:sp>
        <p:nvSpPr>
          <p:cNvPr id="39" name="矩形 38"/>
          <p:cNvSpPr/>
          <p:nvPr/>
        </p:nvSpPr>
        <p:spPr bwMode="auto">
          <a:xfrm>
            <a:off x="6013162" y="5143512"/>
            <a:ext cx="285752" cy="214314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40" name="Rectangle 8"/>
          <p:cNvSpPr>
            <a:spLocks noChangeArrowheads="1"/>
          </p:cNvSpPr>
          <p:nvPr/>
        </p:nvSpPr>
        <p:spPr bwMode="auto">
          <a:xfrm>
            <a:off x="6667505" y="4643447"/>
            <a:ext cx="204094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从菜单中选择</a:t>
            </a:r>
            <a:endParaRPr lang="zh-CN" altLang="en-US" sz="2400" b="1" dirty="0">
              <a:latin typeface="+mn-ea"/>
              <a:ea typeface="+mn-ea"/>
              <a:cs typeface="宋体" pitchFamily="2" charset="-122"/>
            </a:endParaRPr>
          </a:p>
        </p:txBody>
      </p:sp>
      <p:pic>
        <p:nvPicPr>
          <p:cNvPr id="49174" name="Picture 22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4774918" y="5715016"/>
            <a:ext cx="1952625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2" name="矩形 41"/>
          <p:cNvSpPr/>
          <p:nvPr/>
        </p:nvSpPr>
        <p:spPr bwMode="auto">
          <a:xfrm>
            <a:off x="5346421" y="6357958"/>
            <a:ext cx="785818" cy="285752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43" name="矩形 42"/>
          <p:cNvSpPr/>
          <p:nvPr/>
        </p:nvSpPr>
        <p:spPr bwMode="auto">
          <a:xfrm>
            <a:off x="4774917" y="5715016"/>
            <a:ext cx="714380" cy="214314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23" name="Text Box 31">
            <a:extLst>
              <a:ext uri="{FF2B5EF4-FFF2-40B4-BE49-F238E27FC236}">
                <a16:creationId xmlns:a16="http://schemas.microsoft.com/office/drawing/2014/main" id="{42FB7514-5D0A-4F20-97F7-F619A9354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9616" y="474250"/>
            <a:ext cx="6448771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CAD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三维构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形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基础与基本立体投影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49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49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500"/>
                                        <p:tgtEl>
                                          <p:spTgt spid="491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49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500"/>
                            </p:stCondLst>
                            <p:childTnLst>
                              <p:par>
                                <p:cTn id="53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5" dur="500"/>
                                        <p:tgtEl>
                                          <p:spTgt spid="49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4" dur="500"/>
                                        <p:tgtEl>
                                          <p:spTgt spid="49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8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000"/>
                            </p:stCondLst>
                            <p:childTnLst>
                              <p:par>
                                <p:cTn id="7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49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49160" grpId="0"/>
      <p:bldP spid="26" grpId="0"/>
      <p:bldP spid="37" grpId="0" animBg="1"/>
      <p:bldP spid="39" grpId="0" animBg="1"/>
      <p:bldP spid="40" grpId="0"/>
      <p:bldP spid="42" grpId="0" animBg="1"/>
      <p:bldP spid="4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39008" y="1500174"/>
            <a:ext cx="2981072" cy="1838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矩形 3"/>
          <p:cNvSpPr/>
          <p:nvPr/>
        </p:nvSpPr>
        <p:spPr>
          <a:xfrm>
            <a:off x="990119" y="1196752"/>
            <a:ext cx="52148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三、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通过二维图形构建三维实体</a:t>
            </a:r>
          </a:p>
        </p:txBody>
      </p:sp>
      <p:sp>
        <p:nvSpPr>
          <p:cNvPr id="13313" name="Rectangle 1"/>
          <p:cNvSpPr>
            <a:spLocks noChangeArrowheads="1"/>
          </p:cNvSpPr>
          <p:nvPr/>
        </p:nvSpPr>
        <p:spPr bwMode="auto">
          <a:xfrm>
            <a:off x="2452663" y="1928803"/>
            <a:ext cx="432554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268288"/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1. 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用拉伸命令构建三维实体</a:t>
            </a:r>
            <a:endParaRPr lang="zh-CN" altLang="en-US" sz="2400" dirty="0">
              <a:latin typeface="+mn-ea"/>
              <a:ea typeface="+mn-ea"/>
              <a:cs typeface="宋体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452662" y="2500307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b="1" dirty="0">
                <a:latin typeface="+mn-ea"/>
                <a:ea typeface="+mn-ea"/>
              </a:rPr>
              <a:t>示例：以图所示作为底面、构建高度为</a:t>
            </a:r>
            <a:r>
              <a:rPr lang="en-US" sz="2400" b="1" dirty="0">
                <a:latin typeface="+mn-ea"/>
                <a:ea typeface="+mn-ea"/>
              </a:rPr>
              <a:t>12mm</a:t>
            </a:r>
            <a:r>
              <a:rPr lang="zh-CN" altLang="en-US" sz="2400" b="1" dirty="0">
                <a:latin typeface="+mn-ea"/>
                <a:ea typeface="+mn-ea"/>
              </a:rPr>
              <a:t>的平板</a:t>
            </a:r>
          </a:p>
        </p:txBody>
      </p:sp>
      <p:sp>
        <p:nvSpPr>
          <p:cNvPr id="10" name="矩形 9"/>
          <p:cNvSpPr/>
          <p:nvPr/>
        </p:nvSpPr>
        <p:spPr>
          <a:xfrm>
            <a:off x="2809853" y="3500439"/>
            <a:ext cx="31245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+mn-ea"/>
                <a:ea typeface="+mn-ea"/>
              </a:rPr>
              <a:t>1</a:t>
            </a:r>
            <a:r>
              <a:rPr lang="zh-CN" altLang="en-US" sz="2400" b="1" dirty="0">
                <a:latin typeface="+mn-ea"/>
                <a:ea typeface="+mn-ea"/>
              </a:rPr>
              <a:t>）绘制平板底面图形</a:t>
            </a:r>
          </a:p>
        </p:txBody>
      </p:sp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24694" y="4076450"/>
            <a:ext cx="2643206" cy="1567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318" name="Rectangle 6"/>
          <p:cNvSpPr>
            <a:spLocks noChangeArrowheads="1"/>
          </p:cNvSpPr>
          <p:nvPr/>
        </p:nvSpPr>
        <p:spPr bwMode="auto">
          <a:xfrm>
            <a:off x="2822552" y="3929067"/>
            <a:ext cx="219483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2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）菜单栏单击</a:t>
            </a:r>
            <a:endParaRPr lang="zh-CN" altLang="en-US" sz="2400" b="1" dirty="0">
              <a:latin typeface="+mn-ea"/>
              <a:ea typeface="+mn-ea"/>
              <a:cs typeface="宋体" pitchFamily="2" charset="-122"/>
            </a:endParaRPr>
          </a:p>
        </p:txBody>
      </p:sp>
      <p:pic>
        <p:nvPicPr>
          <p:cNvPr id="13320" name="Picture 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238877" y="2643183"/>
            <a:ext cx="3881445" cy="3769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矩形 15"/>
          <p:cNvSpPr/>
          <p:nvPr/>
        </p:nvSpPr>
        <p:spPr bwMode="auto">
          <a:xfrm>
            <a:off x="9024958" y="2786058"/>
            <a:ext cx="428628" cy="142876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7" name="矩形 16"/>
          <p:cNvSpPr/>
          <p:nvPr/>
        </p:nvSpPr>
        <p:spPr bwMode="auto">
          <a:xfrm>
            <a:off x="9010670" y="6111894"/>
            <a:ext cx="1071570" cy="285752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itchFamily="2" charset="-122"/>
            </a:endParaRPr>
          </a:p>
        </p:txBody>
      </p:sp>
      <p:pic>
        <p:nvPicPr>
          <p:cNvPr id="13321" name="Picture 9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238877" y="2643183"/>
            <a:ext cx="2847975" cy="258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矩形 18"/>
          <p:cNvSpPr/>
          <p:nvPr/>
        </p:nvSpPr>
        <p:spPr bwMode="auto">
          <a:xfrm>
            <a:off x="6238876" y="2928934"/>
            <a:ext cx="1071570" cy="285752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6246814" y="3311524"/>
            <a:ext cx="1071570" cy="285752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949868" y="4399969"/>
            <a:ext cx="26613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+mn-ea"/>
              </a:rPr>
              <a:t>3</a:t>
            </a:r>
            <a:r>
              <a:rPr lang="zh-CN" altLang="en-US" sz="2400" b="1" dirty="0">
                <a:latin typeface="+mn-ea"/>
              </a:rPr>
              <a:t>）</a:t>
            </a:r>
            <a:r>
              <a:rPr lang="zh-CN" altLang="en-US" sz="2400" b="1" dirty="0">
                <a:latin typeface="+mn-ea"/>
                <a:ea typeface="+mn-ea"/>
              </a:rPr>
              <a:t>拉伸</a:t>
            </a:r>
            <a:r>
              <a:rPr lang="en-US" altLang="zh-CN" sz="2400" b="1" dirty="0">
                <a:latin typeface="+mn-ea"/>
                <a:ea typeface="+mn-ea"/>
              </a:rPr>
              <a:t>,</a:t>
            </a:r>
            <a:r>
              <a:rPr lang="zh-CN" altLang="en-US" sz="2400" b="1" dirty="0">
                <a:latin typeface="+mn-ea"/>
                <a:ea typeface="+mn-ea"/>
              </a:rPr>
              <a:t>在菜单栏</a:t>
            </a:r>
          </a:p>
        </p:txBody>
      </p:sp>
      <p:pic>
        <p:nvPicPr>
          <p:cNvPr id="13322" name="Picture 10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381225" y="1928802"/>
            <a:ext cx="7008813" cy="247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3" name="矩形 22"/>
          <p:cNvSpPr/>
          <p:nvPr/>
        </p:nvSpPr>
        <p:spPr bwMode="auto">
          <a:xfrm>
            <a:off x="6315076" y="2143116"/>
            <a:ext cx="714380" cy="214314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6596066" y="2357430"/>
            <a:ext cx="1285884" cy="23972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25" name="矩形 24"/>
          <p:cNvSpPr/>
          <p:nvPr/>
        </p:nvSpPr>
        <p:spPr bwMode="auto">
          <a:xfrm>
            <a:off x="7953388" y="4143380"/>
            <a:ext cx="1285884" cy="23972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949868" y="4931211"/>
            <a:ext cx="20425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+mn-ea"/>
              </a:rPr>
              <a:t>4</a:t>
            </a:r>
            <a:r>
              <a:rPr lang="zh-CN" altLang="en-US" sz="2400" b="1" dirty="0">
                <a:latin typeface="+mn-ea"/>
              </a:rPr>
              <a:t>）输入厚度</a:t>
            </a:r>
            <a:r>
              <a:rPr lang="en-US" altLang="zh-CN" sz="2400" b="1" dirty="0">
                <a:latin typeface="+mn-ea"/>
              </a:rPr>
              <a:t>8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22" name="Text Box 31">
            <a:extLst>
              <a:ext uri="{FF2B5EF4-FFF2-40B4-BE49-F238E27FC236}">
                <a16:creationId xmlns:a16="http://schemas.microsoft.com/office/drawing/2014/main" id="{F42B3465-E154-4A29-9F89-8251ED2C97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9616" y="474250"/>
            <a:ext cx="6448771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CAD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三维构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形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基础与基本立体投影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3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5" dur="2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7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1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3" grpId="0"/>
      <p:bldP spid="7" grpId="0"/>
      <p:bldP spid="10" grpId="0"/>
      <p:bldP spid="13318" grpId="0"/>
      <p:bldP spid="16" grpId="0" animBg="1"/>
      <p:bldP spid="16" grpId="1" animBg="1"/>
      <p:bldP spid="17" grpId="0" animBg="1"/>
      <p:bldP spid="17" grpId="1" animBg="1"/>
      <p:bldP spid="19" grpId="0" animBg="1"/>
      <p:bldP spid="19" grpId="1" animBg="1"/>
      <p:bldP spid="20" grpId="0" animBg="1"/>
      <p:bldP spid="20" grpId="1" animBg="1"/>
      <p:bldP spid="21" grpId="0"/>
      <p:bldP spid="23" grpId="0" animBg="1"/>
      <p:bldP spid="24" grpId="0" animBg="1"/>
      <p:bldP spid="25" grpId="0" animBg="1"/>
      <p:bldP spid="2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93635" y="3411024"/>
            <a:ext cx="3214710" cy="2154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矩形 3"/>
          <p:cNvSpPr/>
          <p:nvPr/>
        </p:nvSpPr>
        <p:spPr>
          <a:xfrm>
            <a:off x="941149" y="1262706"/>
            <a:ext cx="52148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三、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通过二维图形构建三维实体</a:t>
            </a:r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1912106" y="2071933"/>
            <a:ext cx="23391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5)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在功能区单击</a:t>
            </a:r>
            <a:endParaRPr lang="zh-CN" altLang="en-US" sz="2400" b="1" dirty="0">
              <a:latin typeface="+mn-ea"/>
              <a:ea typeface="+mn-ea"/>
              <a:cs typeface="宋体" pitchFamily="2" charset="-122"/>
            </a:endParaRP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1872967" y="3107529"/>
            <a:ext cx="23391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6)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在功能区单击</a:t>
            </a:r>
            <a:endParaRPr lang="zh-CN" altLang="en-US" sz="2400" b="1" dirty="0">
              <a:latin typeface="+mn-ea"/>
              <a:ea typeface="+mn-ea"/>
              <a:cs typeface="宋体" pitchFamily="2" charset="-122"/>
            </a:endParaRPr>
          </a:p>
        </p:txBody>
      </p:sp>
      <p:pic>
        <p:nvPicPr>
          <p:cNvPr id="7" name="Picture 2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55840" y="2071678"/>
            <a:ext cx="1622334" cy="1143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矩形 7"/>
          <p:cNvSpPr/>
          <p:nvPr/>
        </p:nvSpPr>
        <p:spPr bwMode="auto">
          <a:xfrm>
            <a:off x="5513096" y="3000372"/>
            <a:ext cx="500066" cy="214314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itchFamily="2" charset="-122"/>
            </a:endParaRPr>
          </a:p>
        </p:txBody>
      </p:sp>
      <p:pic>
        <p:nvPicPr>
          <p:cNvPr id="9" name="Picture 4" descr="14-82-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596330" y="2285992"/>
            <a:ext cx="1912015" cy="357190"/>
          </a:xfrm>
          <a:prstGeom prst="rect">
            <a:avLst/>
          </a:prstGeom>
          <a:noFill/>
        </p:spPr>
      </p:pic>
      <p:sp>
        <p:nvSpPr>
          <p:cNvPr id="10" name="矩形 9"/>
          <p:cNvSpPr/>
          <p:nvPr/>
        </p:nvSpPr>
        <p:spPr bwMode="auto">
          <a:xfrm>
            <a:off x="6013162" y="2714620"/>
            <a:ext cx="285752" cy="214314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6596067" y="2214555"/>
            <a:ext cx="204094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从菜单中选择</a:t>
            </a:r>
            <a:endParaRPr lang="zh-CN" altLang="en-US" sz="2400" b="1" dirty="0">
              <a:latin typeface="+mn-ea"/>
              <a:ea typeface="+mn-ea"/>
              <a:cs typeface="宋体" pitchFamily="2" charset="-122"/>
            </a:endParaRPr>
          </a:p>
        </p:txBody>
      </p:sp>
      <p:pic>
        <p:nvPicPr>
          <p:cNvPr id="12" name="Picture 2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774918" y="3286124"/>
            <a:ext cx="1952625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矩形 12"/>
          <p:cNvSpPr/>
          <p:nvPr/>
        </p:nvSpPr>
        <p:spPr bwMode="auto">
          <a:xfrm>
            <a:off x="5346421" y="3929066"/>
            <a:ext cx="785818" cy="285752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4774917" y="3286124"/>
            <a:ext cx="714380" cy="214314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itchFamily="2" charset="-122"/>
            </a:endParaRPr>
          </a:p>
        </p:txBody>
      </p:sp>
      <p:pic>
        <p:nvPicPr>
          <p:cNvPr id="15" name="Picture 11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80724" y="3500438"/>
            <a:ext cx="3143272" cy="2053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ext Box 31">
            <a:extLst>
              <a:ext uri="{FF2B5EF4-FFF2-40B4-BE49-F238E27FC236}">
                <a16:creationId xmlns:a16="http://schemas.microsoft.com/office/drawing/2014/main" id="{AFC10B45-65B7-4179-9A5F-4FA7A58F4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9616" y="474250"/>
            <a:ext cx="6448771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CAD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三维构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形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基础与基本立体投影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2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 animBg="1"/>
      <p:bldP spid="10" grpId="0" animBg="1"/>
      <p:bldP spid="11" grpId="0"/>
      <p:bldP spid="13" grpId="0" animBg="1"/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2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616449" y="3488779"/>
            <a:ext cx="1438275" cy="292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 Box 31"/>
          <p:cNvSpPr txBox="1">
            <a:spLocks noChangeArrowheads="1"/>
          </p:cNvSpPr>
          <p:nvPr/>
        </p:nvSpPr>
        <p:spPr bwMode="auto">
          <a:xfrm>
            <a:off x="2855641" y="512982"/>
            <a:ext cx="6096719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CAD</a:t>
            </a:r>
            <a:r>
              <a:rPr lang="zh-CN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三维构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形</a:t>
            </a:r>
            <a:r>
              <a:rPr lang="zh-CN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基础与基本立体投影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81111" y="1199592"/>
            <a:ext cx="52148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三、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通过二维图形构建三维实体</a:t>
            </a:r>
          </a:p>
        </p:txBody>
      </p:sp>
      <p:sp>
        <p:nvSpPr>
          <p:cNvPr id="50177" name="Rectangle 1"/>
          <p:cNvSpPr>
            <a:spLocks noChangeArrowheads="1"/>
          </p:cNvSpPr>
          <p:nvPr/>
        </p:nvSpPr>
        <p:spPr bwMode="auto">
          <a:xfrm>
            <a:off x="1919536" y="1813935"/>
            <a:ext cx="38988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2.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用旋转命令构建三维实体</a:t>
            </a:r>
            <a:endParaRPr lang="zh-CN" altLang="en-US" sz="2400" dirty="0">
              <a:latin typeface="+mn-ea"/>
              <a:ea typeface="+mn-ea"/>
              <a:cs typeface="宋体" pitchFamily="2" charset="-122"/>
            </a:endParaRPr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72847" y="3203026"/>
            <a:ext cx="3814479" cy="2628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矩形 5"/>
          <p:cNvSpPr/>
          <p:nvPr/>
        </p:nvSpPr>
        <p:spPr>
          <a:xfrm>
            <a:off x="2228578" y="2308572"/>
            <a:ext cx="89799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示例：以所示图形作为母线、绕给定旋转轴旋转构建图三维实体</a:t>
            </a:r>
          </a:p>
        </p:txBody>
      </p:sp>
      <p:sp>
        <p:nvSpPr>
          <p:cNvPr id="50180" name="Rectangle 4"/>
          <p:cNvSpPr>
            <a:spLocks noChangeArrowheads="1"/>
          </p:cNvSpPr>
          <p:nvPr/>
        </p:nvSpPr>
        <p:spPr bwMode="auto">
          <a:xfrm>
            <a:off x="1924459" y="2660202"/>
            <a:ext cx="464347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266700"/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itchFamily="18" charset="0"/>
              </a:rPr>
              <a:t>1) 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itchFamily="18" charset="0"/>
              </a:rPr>
              <a:t>绘制母线二维图形</a:t>
            </a:r>
          </a:p>
          <a:p>
            <a:pPr indent="266700" eaLnBrk="0" hangingPunct="0"/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itchFamily="18" charset="0"/>
              </a:rPr>
              <a:t>2) 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itchFamily="18" charset="0"/>
              </a:rPr>
              <a:t>用“边界”命令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将图形转换为多段线</a:t>
            </a:r>
            <a:r>
              <a:rPr lang="zh-CN" altLang="en-US" b="1" dirty="0">
                <a:cs typeface="宋体" pitchFamily="2" charset="-122"/>
              </a:rPr>
              <a:t> </a:t>
            </a:r>
            <a:endParaRPr kumimoji="0" lang="zh-CN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  <a:cs typeface="宋体" pitchFamily="2" charset="-122"/>
            </a:endParaRPr>
          </a:p>
        </p:txBody>
      </p:sp>
      <p:pic>
        <p:nvPicPr>
          <p:cNvPr id="10" name="Picture 10"/>
          <p:cNvPicPr>
            <a:picLocks noChangeAspect="1" noChangeArrowheads="1"/>
          </p:cNvPicPr>
          <p:nvPr/>
        </p:nvPicPr>
        <p:blipFill>
          <a:blip r:embed="rId4"/>
          <a:srcRect r="20498"/>
          <a:stretch>
            <a:fillRect/>
          </a:stretch>
        </p:blipFill>
        <p:spPr bwMode="auto">
          <a:xfrm>
            <a:off x="3044284" y="3774530"/>
            <a:ext cx="5572164" cy="247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矩形 10"/>
          <p:cNvSpPr/>
          <p:nvPr/>
        </p:nvSpPr>
        <p:spPr bwMode="auto">
          <a:xfrm>
            <a:off x="7044812" y="3988844"/>
            <a:ext cx="714380" cy="214314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7325802" y="4203158"/>
            <a:ext cx="1285884" cy="23972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8572906" y="5460014"/>
            <a:ext cx="1285884" cy="23972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166910" y="3222952"/>
            <a:ext cx="14638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+mn-ea"/>
              </a:rPr>
              <a:t>3</a:t>
            </a:r>
            <a:r>
              <a:rPr lang="zh-CN" altLang="en-US" b="1" dirty="0">
                <a:latin typeface="+mn-ea"/>
              </a:rPr>
              <a:t>）</a:t>
            </a:r>
            <a:r>
              <a:rPr lang="zh-CN" altLang="en-US" b="1" dirty="0">
                <a:latin typeface="+mn-ea"/>
                <a:ea typeface="+mn-ea"/>
              </a:rPr>
              <a:t>在菜单栏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0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4" dur="500"/>
                                        <p:tgtEl>
                                          <p:spTgt spid="5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7" grpId="0"/>
      <p:bldP spid="6" grpId="0"/>
      <p:bldP spid="50180" grpId="0"/>
      <p:bldP spid="11" grpId="0" animBg="1"/>
      <p:bldP spid="12" grpId="0" animBg="1"/>
      <p:bldP spid="13" grpId="0" animBg="1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41149" y="1250925"/>
            <a:ext cx="52148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三、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通过二维图形构建三维实体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674001" y="1967203"/>
            <a:ext cx="38988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2.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用旋转命令构建三维实体</a:t>
            </a:r>
            <a:endParaRPr lang="zh-CN" altLang="en-US" sz="2400" dirty="0">
              <a:latin typeface="+mn-ea"/>
              <a:ea typeface="+mn-ea"/>
              <a:cs typeface="宋体" pitchFamily="2" charset="-122"/>
            </a:endParaRP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1690813" y="2934298"/>
            <a:ext cx="23391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5)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在功能区单击</a:t>
            </a:r>
            <a:endParaRPr lang="zh-CN" altLang="en-US" sz="2400" b="1" dirty="0">
              <a:latin typeface="+mn-ea"/>
              <a:ea typeface="+mn-ea"/>
              <a:cs typeface="宋体" pitchFamily="2" charset="-122"/>
            </a:endParaRP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1738452" y="4110343"/>
            <a:ext cx="23391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6)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在功能区单击</a:t>
            </a:r>
            <a:endParaRPr lang="zh-CN" altLang="en-US" sz="2400" b="1" dirty="0">
              <a:latin typeface="+mn-ea"/>
              <a:ea typeface="+mn-ea"/>
              <a:cs typeface="宋体" pitchFamily="2" charset="-122"/>
            </a:endParaRPr>
          </a:p>
        </p:txBody>
      </p:sp>
      <p:pic>
        <p:nvPicPr>
          <p:cNvPr id="8" name="Picture 2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55840" y="3014052"/>
            <a:ext cx="1622334" cy="1143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矩形 8"/>
          <p:cNvSpPr/>
          <p:nvPr/>
        </p:nvSpPr>
        <p:spPr bwMode="auto">
          <a:xfrm>
            <a:off x="5513096" y="3942746"/>
            <a:ext cx="500066" cy="214314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itchFamily="2" charset="-122"/>
            </a:endParaRPr>
          </a:p>
        </p:txBody>
      </p:sp>
      <p:pic>
        <p:nvPicPr>
          <p:cNvPr id="10" name="Picture 4" descr="14-82-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684580" y="2928934"/>
            <a:ext cx="1912015" cy="357190"/>
          </a:xfrm>
          <a:prstGeom prst="rect">
            <a:avLst/>
          </a:prstGeom>
          <a:noFill/>
        </p:spPr>
      </p:pic>
      <p:sp>
        <p:nvSpPr>
          <p:cNvPr id="11" name="矩形 10"/>
          <p:cNvSpPr/>
          <p:nvPr/>
        </p:nvSpPr>
        <p:spPr bwMode="auto">
          <a:xfrm>
            <a:off x="6013162" y="3656994"/>
            <a:ext cx="285752" cy="214314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6684317" y="2857497"/>
            <a:ext cx="204094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从菜单中选择</a:t>
            </a:r>
            <a:endParaRPr lang="zh-CN" altLang="en-US" sz="2400" b="1" dirty="0">
              <a:latin typeface="+mn-ea"/>
              <a:ea typeface="+mn-ea"/>
              <a:cs typeface="宋体" pitchFamily="2" charset="-122"/>
            </a:endParaRPr>
          </a:p>
        </p:txBody>
      </p:sp>
      <p:pic>
        <p:nvPicPr>
          <p:cNvPr id="13" name="Picture 2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74918" y="4228498"/>
            <a:ext cx="1952625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矩形 13"/>
          <p:cNvSpPr/>
          <p:nvPr/>
        </p:nvSpPr>
        <p:spPr bwMode="auto">
          <a:xfrm>
            <a:off x="5346421" y="4871440"/>
            <a:ext cx="785818" cy="285752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4774917" y="4228498"/>
            <a:ext cx="714380" cy="214314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1674002" y="2395831"/>
            <a:ext cx="312777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4)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选择旋转角度为</a:t>
            </a: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360</a:t>
            </a:r>
            <a:endParaRPr lang="zh-CN" altLang="en-US" sz="2400" b="1" dirty="0">
              <a:latin typeface="+mn-ea"/>
              <a:ea typeface="+mn-ea"/>
              <a:cs typeface="宋体" pitchFamily="2" charset="-122"/>
            </a:endParaRPr>
          </a:p>
        </p:txBody>
      </p:sp>
      <p:pic>
        <p:nvPicPr>
          <p:cNvPr id="51201" name="Picture 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310446" y="3714753"/>
            <a:ext cx="2457450" cy="242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10447" y="3714753"/>
            <a:ext cx="2390775" cy="235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 Box 31">
            <a:extLst>
              <a:ext uri="{FF2B5EF4-FFF2-40B4-BE49-F238E27FC236}">
                <a16:creationId xmlns:a16="http://schemas.microsoft.com/office/drawing/2014/main" id="{5BEA558E-80CB-4726-AD8E-A1B3FE1F4B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9616" y="474250"/>
            <a:ext cx="6448771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CAD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三维构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形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基础与基本立体投影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1000"/>
                                        <p:tgtEl>
                                          <p:spTgt spid="51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000"/>
                            </p:stCondLst>
                            <p:childTnLst>
                              <p:par>
                                <p:cTn id="60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2" dur="500"/>
                                        <p:tgtEl>
                                          <p:spTgt spid="5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 animBg="1"/>
      <p:bldP spid="11" grpId="0" animBg="1"/>
      <p:bldP spid="12" grpId="0"/>
      <p:bldP spid="14" grpId="0" animBg="1"/>
      <p:bldP spid="15" grpId="0" animBg="1"/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24100" y="2895800"/>
            <a:ext cx="3357586" cy="33826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2493" name="Text Box 1053"/>
          <p:cNvSpPr txBox="1">
            <a:spLocks noChangeArrowheads="1"/>
          </p:cNvSpPr>
          <p:nvPr/>
        </p:nvSpPr>
        <p:spPr bwMode="auto">
          <a:xfrm>
            <a:off x="1614466" y="1872889"/>
            <a:ext cx="312136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dirty="0">
                <a:latin typeface="宋体" pitchFamily="2" charset="-122"/>
              </a:rPr>
              <a:t>1. 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几何体的三面投影</a:t>
            </a:r>
            <a:endParaRPr kumimoji="1" lang="zh-CN" alt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08" name="标题 1"/>
          <p:cNvSpPr txBox="1">
            <a:spLocks/>
          </p:cNvSpPr>
          <p:nvPr/>
        </p:nvSpPr>
        <p:spPr>
          <a:xfrm>
            <a:off x="924868" y="1284683"/>
            <a:ext cx="4500561" cy="500066"/>
          </a:xfrm>
          <a:prstGeom prst="rect">
            <a:avLst/>
          </a:prstGeom>
          <a:noFill/>
        </p:spPr>
        <p:txBody>
          <a:bodyPr/>
          <a:lstStyle/>
          <a:p>
            <a:pPr eaLnBrk="0" hangingPunct="0">
              <a:defRPr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四、几何体的构形及其投影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 </a:t>
            </a: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64258" y="4347413"/>
            <a:ext cx="1171575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452684" y="2852936"/>
            <a:ext cx="3341205" cy="350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2515" name="Text Box 1075"/>
          <p:cNvSpPr txBox="1">
            <a:spLocks noChangeArrowheads="1"/>
          </p:cNvSpPr>
          <p:nvPr/>
        </p:nvSpPr>
        <p:spPr bwMode="auto">
          <a:xfrm>
            <a:off x="1415480" y="2344409"/>
            <a:ext cx="999694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宋体" panose="02010600030101010101" pitchFamily="2" charset="-122"/>
              </a:rPr>
              <a:t>    </a:t>
            </a:r>
            <a:r>
              <a:rPr lang="zh-CN" altLang="en-US" sz="2400" b="1" dirty="0">
                <a:latin typeface="宋体" panose="02010600030101010101" pitchFamily="2" charset="-122"/>
              </a:rPr>
              <a:t>几何体的投影，实质上是构成该几何体的所有表面的投影总和。</a:t>
            </a:r>
          </a:p>
        </p:txBody>
      </p:sp>
      <p:sp>
        <p:nvSpPr>
          <p:cNvPr id="129" name="Line 1034"/>
          <p:cNvSpPr>
            <a:spLocks noChangeShapeType="1"/>
          </p:cNvSpPr>
          <p:nvPr/>
        </p:nvSpPr>
        <p:spPr bwMode="auto">
          <a:xfrm>
            <a:off x="6799238" y="4424586"/>
            <a:ext cx="3246438" cy="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" name="Line 1035"/>
          <p:cNvSpPr>
            <a:spLocks noChangeShapeType="1"/>
          </p:cNvSpPr>
          <p:nvPr/>
        </p:nvSpPr>
        <p:spPr bwMode="auto">
          <a:xfrm>
            <a:off x="8375673" y="2895799"/>
            <a:ext cx="0" cy="313200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" name="Line 1037"/>
          <p:cNvSpPr>
            <a:spLocks noChangeShapeType="1"/>
          </p:cNvSpPr>
          <p:nvPr/>
        </p:nvSpPr>
        <p:spPr bwMode="auto">
          <a:xfrm>
            <a:off x="8391548" y="4424586"/>
            <a:ext cx="1509970" cy="1540506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6"/>
          <a:srcRect t="2379" r="1413"/>
          <a:stretch>
            <a:fillRect/>
          </a:stretch>
        </p:blipFill>
        <p:spPr bwMode="auto">
          <a:xfrm>
            <a:off x="6953251" y="4808421"/>
            <a:ext cx="1106125" cy="66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3" name="Line 1046"/>
          <p:cNvSpPr>
            <a:spLocks noChangeShapeType="1"/>
          </p:cNvSpPr>
          <p:nvPr/>
        </p:nvSpPr>
        <p:spPr bwMode="auto">
          <a:xfrm>
            <a:off x="8024827" y="4820191"/>
            <a:ext cx="747713" cy="0"/>
          </a:xfrm>
          <a:prstGeom prst="line">
            <a:avLst/>
          </a:prstGeom>
          <a:noFill/>
          <a:ln w="19050">
            <a:solidFill>
              <a:srgbClr val="99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" name="Line 1047"/>
          <p:cNvSpPr>
            <a:spLocks noChangeShapeType="1"/>
          </p:cNvSpPr>
          <p:nvPr/>
        </p:nvSpPr>
        <p:spPr bwMode="auto">
          <a:xfrm flipV="1">
            <a:off x="8772539" y="4013741"/>
            <a:ext cx="0" cy="806450"/>
          </a:xfrm>
          <a:prstGeom prst="line">
            <a:avLst/>
          </a:prstGeom>
          <a:noFill/>
          <a:ln w="19050">
            <a:solidFill>
              <a:srgbClr val="99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" name="Line 1048"/>
          <p:cNvSpPr>
            <a:spLocks noChangeShapeType="1"/>
          </p:cNvSpPr>
          <p:nvPr/>
        </p:nvSpPr>
        <p:spPr bwMode="auto">
          <a:xfrm>
            <a:off x="8040701" y="5429791"/>
            <a:ext cx="1341438" cy="0"/>
          </a:xfrm>
          <a:prstGeom prst="line">
            <a:avLst/>
          </a:prstGeom>
          <a:noFill/>
          <a:ln w="19050">
            <a:solidFill>
              <a:srgbClr val="99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6" name="Line 1049"/>
          <p:cNvSpPr>
            <a:spLocks noChangeShapeType="1"/>
          </p:cNvSpPr>
          <p:nvPr/>
        </p:nvSpPr>
        <p:spPr bwMode="auto">
          <a:xfrm flipV="1">
            <a:off x="9396426" y="3997867"/>
            <a:ext cx="0" cy="1431925"/>
          </a:xfrm>
          <a:prstGeom prst="line">
            <a:avLst/>
          </a:prstGeom>
          <a:noFill/>
          <a:ln w="19050">
            <a:solidFill>
              <a:srgbClr val="99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7" name="Line 1036"/>
          <p:cNvSpPr>
            <a:spLocks noChangeShapeType="1"/>
          </p:cNvSpPr>
          <p:nvPr/>
        </p:nvSpPr>
        <p:spPr bwMode="auto">
          <a:xfrm>
            <a:off x="6981205" y="3987389"/>
            <a:ext cx="0" cy="823912"/>
          </a:xfrm>
          <a:prstGeom prst="line">
            <a:avLst/>
          </a:prstGeom>
          <a:noFill/>
          <a:ln w="19050">
            <a:solidFill>
              <a:srgbClr val="99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" name="Line 1038"/>
          <p:cNvSpPr>
            <a:spLocks noChangeShapeType="1"/>
          </p:cNvSpPr>
          <p:nvPr/>
        </p:nvSpPr>
        <p:spPr bwMode="auto">
          <a:xfrm>
            <a:off x="8036258" y="3966751"/>
            <a:ext cx="0" cy="844550"/>
          </a:xfrm>
          <a:prstGeom prst="line">
            <a:avLst/>
          </a:prstGeom>
          <a:noFill/>
          <a:ln w="19050">
            <a:solidFill>
              <a:srgbClr val="99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945637" y="3651138"/>
            <a:ext cx="1114425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0" name="Line 1044"/>
          <p:cNvSpPr>
            <a:spLocks noChangeShapeType="1"/>
          </p:cNvSpPr>
          <p:nvPr/>
        </p:nvSpPr>
        <p:spPr bwMode="auto">
          <a:xfrm>
            <a:off x="8035302" y="3683523"/>
            <a:ext cx="756000" cy="0"/>
          </a:xfrm>
          <a:prstGeom prst="line">
            <a:avLst/>
          </a:prstGeom>
          <a:noFill/>
          <a:ln w="19050">
            <a:solidFill>
              <a:srgbClr val="99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" name="Line 1045"/>
          <p:cNvSpPr>
            <a:spLocks noChangeShapeType="1"/>
          </p:cNvSpPr>
          <p:nvPr/>
        </p:nvSpPr>
        <p:spPr bwMode="auto">
          <a:xfrm>
            <a:off x="8029903" y="3992769"/>
            <a:ext cx="756000" cy="0"/>
          </a:xfrm>
          <a:prstGeom prst="line">
            <a:avLst/>
          </a:prstGeom>
          <a:noFill/>
          <a:ln w="19050">
            <a:solidFill>
              <a:srgbClr val="99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758256" y="3662568"/>
            <a:ext cx="665144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9" name="Picture 15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6953251" y="3357762"/>
            <a:ext cx="581025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41" name="Picture 17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6962776" y="4810337"/>
            <a:ext cx="581025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0" name="Line 1038"/>
          <p:cNvSpPr>
            <a:spLocks noChangeShapeType="1"/>
          </p:cNvSpPr>
          <p:nvPr/>
        </p:nvSpPr>
        <p:spPr bwMode="auto">
          <a:xfrm>
            <a:off x="7504110" y="3675283"/>
            <a:ext cx="0" cy="1152000"/>
          </a:xfrm>
          <a:prstGeom prst="line">
            <a:avLst/>
          </a:prstGeom>
          <a:noFill/>
          <a:ln w="19050">
            <a:solidFill>
              <a:srgbClr val="99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1" name="Line 1068"/>
          <p:cNvSpPr>
            <a:spLocks noChangeShapeType="1"/>
          </p:cNvSpPr>
          <p:nvPr/>
        </p:nvSpPr>
        <p:spPr bwMode="auto">
          <a:xfrm>
            <a:off x="6981831" y="3686419"/>
            <a:ext cx="0" cy="1152000"/>
          </a:xfrm>
          <a:prstGeom prst="line">
            <a:avLst/>
          </a:prstGeom>
          <a:noFill/>
          <a:ln w="19050">
            <a:solidFill>
              <a:srgbClr val="99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2" name="Line 1050"/>
          <p:cNvSpPr>
            <a:spLocks noChangeShapeType="1"/>
          </p:cNvSpPr>
          <p:nvPr/>
        </p:nvSpPr>
        <p:spPr bwMode="auto">
          <a:xfrm>
            <a:off x="7510471" y="5072274"/>
            <a:ext cx="1512000" cy="0"/>
          </a:xfrm>
          <a:prstGeom prst="line">
            <a:avLst/>
          </a:prstGeom>
          <a:noFill/>
          <a:ln w="19050">
            <a:solidFill>
              <a:srgbClr val="99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" name="Line 1051"/>
          <p:cNvSpPr>
            <a:spLocks noChangeShapeType="1"/>
          </p:cNvSpPr>
          <p:nvPr/>
        </p:nvSpPr>
        <p:spPr bwMode="auto">
          <a:xfrm flipV="1">
            <a:off x="9024958" y="3687984"/>
            <a:ext cx="0" cy="1368000"/>
          </a:xfrm>
          <a:prstGeom prst="line">
            <a:avLst/>
          </a:prstGeom>
          <a:noFill/>
          <a:ln w="19050">
            <a:solidFill>
              <a:srgbClr val="99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1042" name="Picture 18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8739206" y="3339667"/>
            <a:ext cx="32385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0" name="Text Box 31">
            <a:extLst>
              <a:ext uri="{FF2B5EF4-FFF2-40B4-BE49-F238E27FC236}">
                <a16:creationId xmlns:a16="http://schemas.microsoft.com/office/drawing/2014/main" id="{259A50B0-0AB7-4ADB-A4B8-82E73F125A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9616" y="474250"/>
            <a:ext cx="6448771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CAD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三维构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形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基础与基本立体投影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2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500"/>
                            </p:stCondLst>
                            <p:childTnLst>
                              <p:par>
                                <p:cTn id="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000"/>
                            </p:stCondLst>
                            <p:childTnLst>
                              <p:par>
                                <p:cTn id="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500"/>
                            </p:stCondLst>
                            <p:childTnLst>
                              <p:par>
                                <p:cTn id="8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000"/>
                            </p:stCondLst>
                            <p:childTnLst>
                              <p:par>
                                <p:cTn id="10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9" dur="500"/>
                                        <p:tgtEl>
                                          <p:spTgt spid="62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93" grpId="0" autoUpdateAnimBg="0"/>
      <p:bldP spid="62515" grpId="0" autoUpdateAnimBg="0"/>
      <p:bldP spid="129" grpId="0" animBg="1"/>
      <p:bldP spid="130" grpId="0" animBg="1"/>
      <p:bldP spid="131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40" grpId="0" animBg="1"/>
      <p:bldP spid="141" grpId="0" animBg="1"/>
      <p:bldP spid="150" grpId="0" animBg="1"/>
      <p:bldP spid="151" grpId="0" animBg="1"/>
      <p:bldP spid="152" grpId="0" animBg="1"/>
      <p:bldP spid="15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96404" y="2355985"/>
            <a:ext cx="2928958" cy="25414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3554" name="Rectangle 3"/>
          <p:cNvSpPr>
            <a:spLocks noChangeArrowheads="1"/>
          </p:cNvSpPr>
          <p:nvPr/>
        </p:nvSpPr>
        <p:spPr bwMode="auto">
          <a:xfrm>
            <a:off x="1602097" y="1786010"/>
            <a:ext cx="4071966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宋体" panose="02010600030101010101" pitchFamily="2" charset="-122"/>
              </a:rPr>
              <a:t>2. </a:t>
            </a:r>
            <a:r>
              <a:rPr lang="zh-CN" altLang="en-US" sz="2400" b="1" dirty="0">
                <a:latin typeface="宋体" panose="02010600030101010101" pitchFamily="2" charset="-122"/>
              </a:rPr>
              <a:t>三面投影的对应关系</a:t>
            </a:r>
          </a:p>
        </p:txBody>
      </p:sp>
      <p:sp>
        <p:nvSpPr>
          <p:cNvPr id="64520" name="Text Box 8"/>
          <p:cNvSpPr txBox="1">
            <a:spLocks noChangeArrowheads="1"/>
          </p:cNvSpPr>
          <p:nvPr/>
        </p:nvSpPr>
        <p:spPr bwMode="auto">
          <a:xfrm>
            <a:off x="2309786" y="2500307"/>
            <a:ext cx="42862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三面投影之间的度量对应关系</a:t>
            </a:r>
            <a:endParaRPr lang="zh-CN" altLang="en-US" sz="2400" dirty="0"/>
          </a:p>
        </p:txBody>
      </p:sp>
      <p:sp>
        <p:nvSpPr>
          <p:cNvPr id="64521" name="AutoShape 9"/>
          <p:cNvSpPr>
            <a:spLocks noChangeArrowheads="1"/>
          </p:cNvSpPr>
          <p:nvPr/>
        </p:nvSpPr>
        <p:spPr bwMode="auto">
          <a:xfrm>
            <a:off x="4310050" y="4643447"/>
            <a:ext cx="1981200" cy="674687"/>
          </a:xfrm>
          <a:prstGeom prst="wedgeEllipseCallout">
            <a:avLst>
              <a:gd name="adj1" fmla="val 24474"/>
              <a:gd name="adj2" fmla="val -149159"/>
            </a:avLst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/>
              <a:t>三等关系</a:t>
            </a:r>
          </a:p>
        </p:txBody>
      </p:sp>
      <p:sp>
        <p:nvSpPr>
          <p:cNvPr id="23615" name="Text Box 12"/>
          <p:cNvSpPr txBox="1">
            <a:spLocks noChangeArrowheads="1"/>
          </p:cNvSpPr>
          <p:nvPr/>
        </p:nvSpPr>
        <p:spPr bwMode="auto">
          <a:xfrm>
            <a:off x="2309786" y="3071811"/>
            <a:ext cx="464347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/>
              <a:t>正面投影与水平投影</a:t>
            </a:r>
            <a:r>
              <a:rPr lang="en-US" altLang="zh-CN" sz="2400" dirty="0"/>
              <a:t>——</a:t>
            </a:r>
            <a:r>
              <a:rPr lang="zh-CN" altLang="en-US" sz="2400" b="1" dirty="0">
                <a:solidFill>
                  <a:srgbClr val="FF0000"/>
                </a:solidFill>
              </a:rPr>
              <a:t>长对正</a:t>
            </a:r>
          </a:p>
        </p:txBody>
      </p:sp>
      <p:sp>
        <p:nvSpPr>
          <p:cNvPr id="64525" name="Text Box 13"/>
          <p:cNvSpPr txBox="1">
            <a:spLocks noChangeArrowheads="1"/>
          </p:cNvSpPr>
          <p:nvPr/>
        </p:nvSpPr>
        <p:spPr bwMode="auto">
          <a:xfrm>
            <a:off x="2309786" y="3571877"/>
            <a:ext cx="45005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/>
              <a:t>正面投影与侧面投影</a:t>
            </a:r>
            <a:r>
              <a:rPr lang="en-US" altLang="zh-CN" sz="2400" dirty="0"/>
              <a:t>——</a:t>
            </a:r>
            <a:r>
              <a:rPr lang="zh-CN" altLang="en-US" sz="2400" b="1" dirty="0">
                <a:solidFill>
                  <a:srgbClr val="FF0000"/>
                </a:solidFill>
              </a:rPr>
              <a:t>高平齐</a:t>
            </a:r>
          </a:p>
        </p:txBody>
      </p:sp>
      <p:sp>
        <p:nvSpPr>
          <p:cNvPr id="64526" name="Text Box 14"/>
          <p:cNvSpPr txBox="1">
            <a:spLocks noChangeArrowheads="1"/>
          </p:cNvSpPr>
          <p:nvPr/>
        </p:nvSpPr>
        <p:spPr bwMode="auto">
          <a:xfrm>
            <a:off x="2309786" y="4071943"/>
            <a:ext cx="45005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/>
              <a:t>水平投影与侧面投影</a:t>
            </a:r>
            <a:r>
              <a:rPr lang="en-US" altLang="zh-CN" sz="2400" dirty="0"/>
              <a:t>——</a:t>
            </a:r>
            <a:r>
              <a:rPr lang="zh-CN" altLang="en-US" sz="2400" b="1" dirty="0">
                <a:solidFill>
                  <a:srgbClr val="FF0000"/>
                </a:solidFill>
              </a:rPr>
              <a:t>宽相等</a:t>
            </a:r>
          </a:p>
        </p:txBody>
      </p: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7186666" y="3141802"/>
            <a:ext cx="1188000" cy="1080000"/>
            <a:chOff x="3191" y="922"/>
            <a:chExt cx="1082" cy="579"/>
          </a:xfrm>
        </p:grpSpPr>
        <p:sp>
          <p:nvSpPr>
            <p:cNvPr id="23610" name="Freeform 16"/>
            <p:cNvSpPr>
              <a:spLocks/>
            </p:cNvSpPr>
            <p:nvPr/>
          </p:nvSpPr>
          <p:spPr bwMode="auto">
            <a:xfrm>
              <a:off x="3191" y="946"/>
              <a:ext cx="1" cy="555"/>
            </a:xfrm>
            <a:custGeom>
              <a:avLst/>
              <a:gdLst>
                <a:gd name="T0" fmla="*/ 0 w 1"/>
                <a:gd name="T1" fmla="*/ 0 h 371"/>
                <a:gd name="T2" fmla="*/ 0 w 1"/>
                <a:gd name="T3" fmla="*/ 1099688498 h 371"/>
                <a:gd name="T4" fmla="*/ 0 60000 65536"/>
                <a:gd name="T5" fmla="*/ 0 60000 65536"/>
                <a:gd name="T6" fmla="*/ 0 w 1"/>
                <a:gd name="T7" fmla="*/ 0 h 371"/>
                <a:gd name="T8" fmla="*/ 1 w 1"/>
                <a:gd name="T9" fmla="*/ 371 h 37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71">
                  <a:moveTo>
                    <a:pt x="0" y="0"/>
                  </a:moveTo>
                  <a:lnTo>
                    <a:pt x="0" y="371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611" name="Freeform 17"/>
            <p:cNvSpPr>
              <a:spLocks/>
            </p:cNvSpPr>
            <p:nvPr/>
          </p:nvSpPr>
          <p:spPr bwMode="auto">
            <a:xfrm>
              <a:off x="4267" y="922"/>
              <a:ext cx="1" cy="556"/>
            </a:xfrm>
            <a:custGeom>
              <a:avLst/>
              <a:gdLst>
                <a:gd name="T0" fmla="*/ 0 w 1"/>
                <a:gd name="T1" fmla="*/ 0 h 556"/>
                <a:gd name="T2" fmla="*/ 0 w 1"/>
                <a:gd name="T3" fmla="*/ 556 h 556"/>
                <a:gd name="T4" fmla="*/ 0 60000 65536"/>
                <a:gd name="T5" fmla="*/ 0 60000 65536"/>
                <a:gd name="T6" fmla="*/ 0 w 1"/>
                <a:gd name="T7" fmla="*/ 0 h 556"/>
                <a:gd name="T8" fmla="*/ 1 w 1"/>
                <a:gd name="T9" fmla="*/ 556 h 55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56">
                  <a:moveTo>
                    <a:pt x="0" y="0"/>
                  </a:moveTo>
                  <a:lnTo>
                    <a:pt x="0" y="55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612" name="Freeform 18"/>
            <p:cNvSpPr>
              <a:spLocks/>
            </p:cNvSpPr>
            <p:nvPr/>
          </p:nvSpPr>
          <p:spPr bwMode="auto">
            <a:xfrm>
              <a:off x="3191" y="1197"/>
              <a:ext cx="1082" cy="1"/>
            </a:xfrm>
            <a:custGeom>
              <a:avLst/>
              <a:gdLst>
                <a:gd name="T0" fmla="*/ 0 w 1082"/>
                <a:gd name="T1" fmla="*/ 1 h 1"/>
                <a:gd name="T2" fmla="*/ 1082 w 1082"/>
                <a:gd name="T3" fmla="*/ 0 h 1"/>
                <a:gd name="T4" fmla="*/ 0 60000 65536"/>
                <a:gd name="T5" fmla="*/ 0 60000 65536"/>
                <a:gd name="T6" fmla="*/ 0 w 1082"/>
                <a:gd name="T7" fmla="*/ 0 h 1"/>
                <a:gd name="T8" fmla="*/ 1082 w 1082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082" h="1">
                  <a:moveTo>
                    <a:pt x="0" y="1"/>
                  </a:moveTo>
                  <a:lnTo>
                    <a:pt x="1082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613" name="Text Box 19"/>
            <p:cNvSpPr txBox="1">
              <a:spLocks noChangeArrowheads="1"/>
            </p:cNvSpPr>
            <p:nvPr/>
          </p:nvSpPr>
          <p:spPr bwMode="auto">
            <a:xfrm>
              <a:off x="3621" y="1024"/>
              <a:ext cx="35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600"/>
                <a:t>长</a:t>
              </a:r>
              <a:endParaRPr lang="zh-CN" altLang="en-US"/>
            </a:p>
          </p:txBody>
        </p:sp>
      </p:grpSp>
      <p:grpSp>
        <p:nvGrpSpPr>
          <p:cNvPr id="4" name="Group 20"/>
          <p:cNvGrpSpPr>
            <a:grpSpLocks/>
          </p:cNvGrpSpPr>
          <p:nvPr/>
        </p:nvGrpSpPr>
        <p:grpSpPr bwMode="auto">
          <a:xfrm>
            <a:off x="7769314" y="2436951"/>
            <a:ext cx="1627193" cy="755650"/>
            <a:chOff x="3888" y="484"/>
            <a:chExt cx="1025" cy="476"/>
          </a:xfrm>
        </p:grpSpPr>
        <p:sp>
          <p:nvSpPr>
            <p:cNvPr id="23606" name="Line 21"/>
            <p:cNvSpPr>
              <a:spLocks noChangeShapeType="1"/>
            </p:cNvSpPr>
            <p:nvPr/>
          </p:nvSpPr>
          <p:spPr bwMode="auto">
            <a:xfrm>
              <a:off x="4278" y="949"/>
              <a:ext cx="6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07" name="Line 22"/>
            <p:cNvSpPr>
              <a:spLocks noChangeShapeType="1"/>
            </p:cNvSpPr>
            <p:nvPr/>
          </p:nvSpPr>
          <p:spPr bwMode="auto">
            <a:xfrm>
              <a:off x="3888" y="494"/>
              <a:ext cx="10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08" name="Text Box 23"/>
            <p:cNvSpPr txBox="1">
              <a:spLocks noChangeArrowheads="1"/>
            </p:cNvSpPr>
            <p:nvPr/>
          </p:nvSpPr>
          <p:spPr bwMode="auto">
            <a:xfrm rot="-5400000">
              <a:off x="4431" y="633"/>
              <a:ext cx="2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600"/>
                <a:t>高</a:t>
              </a:r>
              <a:endParaRPr lang="zh-CN" altLang="en-US"/>
            </a:p>
          </p:txBody>
        </p:sp>
        <p:sp>
          <p:nvSpPr>
            <p:cNvPr id="23609" name="Freeform 24"/>
            <p:cNvSpPr>
              <a:spLocks/>
            </p:cNvSpPr>
            <p:nvPr/>
          </p:nvSpPr>
          <p:spPr bwMode="auto">
            <a:xfrm>
              <a:off x="4641" y="484"/>
              <a:ext cx="1" cy="476"/>
            </a:xfrm>
            <a:custGeom>
              <a:avLst/>
              <a:gdLst>
                <a:gd name="T0" fmla="*/ 0 w 1"/>
                <a:gd name="T1" fmla="*/ 0 h 328"/>
                <a:gd name="T2" fmla="*/ 0 w 1"/>
                <a:gd name="T3" fmla="*/ 996456585 h 328"/>
                <a:gd name="T4" fmla="*/ 0 60000 65536"/>
                <a:gd name="T5" fmla="*/ 0 60000 65536"/>
                <a:gd name="T6" fmla="*/ 0 w 1"/>
                <a:gd name="T7" fmla="*/ 0 h 328"/>
                <a:gd name="T8" fmla="*/ 1 w 1"/>
                <a:gd name="T9" fmla="*/ 328 h 32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28">
                  <a:moveTo>
                    <a:pt x="0" y="0"/>
                  </a:moveTo>
                  <a:lnTo>
                    <a:pt x="0" y="328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8367777" y="3162441"/>
            <a:ext cx="1622425" cy="1617663"/>
            <a:chOff x="4265" y="941"/>
            <a:chExt cx="1022" cy="1019"/>
          </a:xfrm>
        </p:grpSpPr>
        <p:sp>
          <p:nvSpPr>
            <p:cNvPr id="23598" name="Line 26"/>
            <p:cNvSpPr>
              <a:spLocks noChangeShapeType="1"/>
            </p:cNvSpPr>
            <p:nvPr/>
          </p:nvSpPr>
          <p:spPr bwMode="auto">
            <a:xfrm>
              <a:off x="4275" y="1584"/>
              <a:ext cx="38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9" name="Line 27"/>
            <p:cNvSpPr>
              <a:spLocks noChangeShapeType="1"/>
            </p:cNvSpPr>
            <p:nvPr/>
          </p:nvSpPr>
          <p:spPr bwMode="auto">
            <a:xfrm>
              <a:off x="4265" y="1956"/>
              <a:ext cx="4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00" name="Freeform 28"/>
            <p:cNvSpPr>
              <a:spLocks/>
            </p:cNvSpPr>
            <p:nvPr/>
          </p:nvSpPr>
          <p:spPr bwMode="auto">
            <a:xfrm>
              <a:off x="4903" y="941"/>
              <a:ext cx="1" cy="408"/>
            </a:xfrm>
            <a:custGeom>
              <a:avLst/>
              <a:gdLst>
                <a:gd name="T0" fmla="*/ 0 w 1"/>
                <a:gd name="T1" fmla="*/ 311 h 311"/>
                <a:gd name="T2" fmla="*/ 0 w 1"/>
                <a:gd name="T3" fmla="*/ 0 h 311"/>
                <a:gd name="T4" fmla="*/ 0 60000 65536"/>
                <a:gd name="T5" fmla="*/ 0 60000 65536"/>
                <a:gd name="T6" fmla="*/ 0 w 1"/>
                <a:gd name="T7" fmla="*/ 0 h 311"/>
                <a:gd name="T8" fmla="*/ 1 w 1"/>
                <a:gd name="T9" fmla="*/ 311 h 31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11">
                  <a:moveTo>
                    <a:pt x="0" y="311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601" name="Freeform 29"/>
            <p:cNvSpPr>
              <a:spLocks/>
            </p:cNvSpPr>
            <p:nvPr/>
          </p:nvSpPr>
          <p:spPr bwMode="auto">
            <a:xfrm>
              <a:off x="5275" y="944"/>
              <a:ext cx="1" cy="408"/>
            </a:xfrm>
            <a:custGeom>
              <a:avLst/>
              <a:gdLst>
                <a:gd name="T0" fmla="*/ 0 w 1"/>
                <a:gd name="T1" fmla="*/ 290 h 290"/>
                <a:gd name="T2" fmla="*/ 0 w 1"/>
                <a:gd name="T3" fmla="*/ 0 h 290"/>
                <a:gd name="T4" fmla="*/ 0 60000 65536"/>
                <a:gd name="T5" fmla="*/ 0 60000 65536"/>
                <a:gd name="T6" fmla="*/ 0 w 1"/>
                <a:gd name="T7" fmla="*/ 0 h 290"/>
                <a:gd name="T8" fmla="*/ 1 w 1"/>
                <a:gd name="T9" fmla="*/ 290 h 29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90">
                  <a:moveTo>
                    <a:pt x="0" y="29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602" name="Freeform 30"/>
            <p:cNvSpPr>
              <a:spLocks/>
            </p:cNvSpPr>
            <p:nvPr/>
          </p:nvSpPr>
          <p:spPr bwMode="auto">
            <a:xfrm>
              <a:off x="4615" y="1574"/>
              <a:ext cx="1" cy="386"/>
            </a:xfrm>
            <a:custGeom>
              <a:avLst/>
              <a:gdLst>
                <a:gd name="T0" fmla="*/ 0 w 1"/>
                <a:gd name="T1" fmla="*/ 0 h 600"/>
                <a:gd name="T2" fmla="*/ 0 w 1"/>
                <a:gd name="T3" fmla="*/ 600 h 600"/>
                <a:gd name="T4" fmla="*/ 0 60000 65536"/>
                <a:gd name="T5" fmla="*/ 0 60000 65536"/>
                <a:gd name="T6" fmla="*/ 0 w 1"/>
                <a:gd name="T7" fmla="*/ 0 h 600"/>
                <a:gd name="T8" fmla="*/ 1 w 1"/>
                <a:gd name="T9" fmla="*/ 600 h 6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600">
                  <a:moveTo>
                    <a:pt x="0" y="0"/>
                  </a:moveTo>
                  <a:lnTo>
                    <a:pt x="0" y="60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603" name="Text Box 31"/>
            <p:cNvSpPr txBox="1">
              <a:spLocks noChangeArrowheads="1"/>
            </p:cNvSpPr>
            <p:nvPr/>
          </p:nvSpPr>
          <p:spPr bwMode="auto">
            <a:xfrm rot="16200000">
              <a:off x="4392" y="1628"/>
              <a:ext cx="30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600" dirty="0"/>
                <a:t>宽</a:t>
              </a:r>
            </a:p>
          </p:txBody>
        </p:sp>
        <p:sp>
          <p:nvSpPr>
            <p:cNvPr id="23604" name="Line 32"/>
            <p:cNvSpPr>
              <a:spLocks noChangeShapeType="1"/>
            </p:cNvSpPr>
            <p:nvPr/>
          </p:nvSpPr>
          <p:spPr bwMode="auto">
            <a:xfrm>
              <a:off x="4901" y="1300"/>
              <a:ext cx="38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05" name="Text Box 33"/>
            <p:cNvSpPr txBox="1">
              <a:spLocks noChangeArrowheads="1"/>
            </p:cNvSpPr>
            <p:nvPr/>
          </p:nvSpPr>
          <p:spPr bwMode="auto">
            <a:xfrm>
              <a:off x="4970" y="1102"/>
              <a:ext cx="25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600" dirty="0"/>
                <a:t>宽</a:t>
              </a:r>
              <a:endParaRPr lang="zh-CN" altLang="en-US" dirty="0"/>
            </a:p>
          </p:txBody>
        </p:sp>
      </p:grpSp>
      <p:sp>
        <p:nvSpPr>
          <p:cNvPr id="65" name="标题 1"/>
          <p:cNvSpPr txBox="1">
            <a:spLocks/>
          </p:cNvSpPr>
          <p:nvPr/>
        </p:nvSpPr>
        <p:spPr>
          <a:xfrm>
            <a:off x="881059" y="1285944"/>
            <a:ext cx="4500561" cy="500066"/>
          </a:xfrm>
          <a:prstGeom prst="rect">
            <a:avLst/>
          </a:prstGeom>
          <a:noFill/>
        </p:spPr>
        <p:txBody>
          <a:bodyPr/>
          <a:lstStyle/>
          <a:p>
            <a:pPr eaLnBrk="0" hangingPunct="0">
              <a:defRPr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四、几何体的构形及其投影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 </a:t>
            </a:r>
          </a:p>
        </p:txBody>
      </p:sp>
      <p:sp>
        <p:nvSpPr>
          <p:cNvPr id="68" name="Text Box 8"/>
          <p:cNvSpPr txBox="1">
            <a:spLocks noChangeArrowheads="1"/>
          </p:cNvSpPr>
          <p:nvPr/>
        </p:nvSpPr>
        <p:spPr bwMode="auto">
          <a:xfrm>
            <a:off x="2466044" y="5357827"/>
            <a:ext cx="234407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三面投影之间的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方位</a:t>
            </a:r>
            <a:r>
              <a:rPr lang="zh-CN" altLang="en-US" sz="24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对应关系</a:t>
            </a:r>
            <a:endParaRPr lang="zh-CN" altLang="en-US" sz="24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922" t="54799" r="45098"/>
          <a:stretch>
            <a:fillRect/>
          </a:stretch>
        </p:blipFill>
        <p:spPr bwMode="auto">
          <a:xfrm>
            <a:off x="6819938" y="3821121"/>
            <a:ext cx="1857388" cy="13552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0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2484" b="55049"/>
          <a:stretch>
            <a:fillRect/>
          </a:stretch>
        </p:blipFill>
        <p:spPr bwMode="auto">
          <a:xfrm>
            <a:off x="8944028" y="2111371"/>
            <a:ext cx="1366814" cy="134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45620" b="55367"/>
          <a:stretch>
            <a:fillRect/>
          </a:stretch>
        </p:blipFill>
        <p:spPr bwMode="auto">
          <a:xfrm>
            <a:off x="6634200" y="2125659"/>
            <a:ext cx="1981216" cy="1338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2" name="Text Box 4"/>
          <p:cNvSpPr txBox="1">
            <a:spLocks noChangeArrowheads="1"/>
          </p:cNvSpPr>
          <p:nvPr/>
        </p:nvSpPr>
        <p:spPr bwMode="auto">
          <a:xfrm>
            <a:off x="5381620" y="5443382"/>
            <a:ext cx="4892686" cy="120032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正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面</a:t>
            </a:r>
            <a:r>
              <a:rPr lang="zh-CN" altLang="en-US" sz="2400" b="1" dirty="0">
                <a:latin typeface="宋体" panose="02010600030101010101" pitchFamily="2" charset="-122"/>
              </a:rPr>
              <a:t>投影反映：上、下 、左、右</a:t>
            </a:r>
          </a:p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水平</a:t>
            </a:r>
            <a:r>
              <a:rPr lang="zh-CN" altLang="en-US" sz="2400" b="1" dirty="0">
                <a:latin typeface="宋体" panose="02010600030101010101" pitchFamily="2" charset="-122"/>
              </a:rPr>
              <a:t>投影反映：前、后 、左、右</a:t>
            </a:r>
          </a:p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侧面</a:t>
            </a:r>
            <a:r>
              <a:rPr lang="zh-CN" altLang="en-US" sz="2400" b="1" dirty="0">
                <a:latin typeface="宋体" panose="02010600030101010101" pitchFamily="2" charset="-122"/>
              </a:rPr>
              <a:t>投影反映：上、下 、前、后</a:t>
            </a:r>
          </a:p>
        </p:txBody>
      </p:sp>
      <p:sp>
        <p:nvSpPr>
          <p:cNvPr id="35" name="Text Box 31">
            <a:extLst>
              <a:ext uri="{FF2B5EF4-FFF2-40B4-BE49-F238E27FC236}">
                <a16:creationId xmlns:a16="http://schemas.microsoft.com/office/drawing/2014/main" id="{7F5AB82D-9517-487D-85E6-AC23C9B58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9616" y="474250"/>
            <a:ext cx="6448771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CAD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三维构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形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基础与基本立体投影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645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75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23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withGroup">
                            <p:stCondLst>
                              <p:cond delay="1150"/>
                            </p:stCondLst>
                            <p:childTnLst>
                              <p:par>
                                <p:cTn id="18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" dur="500"/>
                                        <p:tgtEl>
                                          <p:spTgt spid="64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withGroup">
                            <p:stCondLst>
                              <p:cond delay="1150"/>
                            </p:stCondLst>
                            <p:childTnLst>
                              <p:par>
                                <p:cTn id="2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4" dur="500"/>
                                        <p:tgtEl>
                                          <p:spTgt spid="64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150"/>
                            </p:stCondLst>
                            <p:childTnLst>
                              <p:par>
                                <p:cTn id="36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45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45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45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45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75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20" grpId="0" build="p" autoUpdateAnimBg="0"/>
      <p:bldP spid="64521" grpId="0" animBg="1" autoUpdateAnimBg="0"/>
      <p:bldP spid="23615" grpId="0"/>
      <p:bldP spid="64525" grpId="0"/>
      <p:bldP spid="64526" grpId="0"/>
      <p:bldP spid="68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Text Box 3"/>
          <p:cNvSpPr txBox="1">
            <a:spLocks noChangeArrowheads="1"/>
          </p:cNvSpPr>
          <p:nvPr/>
        </p:nvSpPr>
        <p:spPr bwMode="auto">
          <a:xfrm>
            <a:off x="1676985" y="1840089"/>
            <a:ext cx="29706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宋体" panose="02010600030101010101" pitchFamily="2" charset="-122"/>
              </a:rPr>
              <a:t>3.</a:t>
            </a:r>
            <a:r>
              <a:rPr lang="zh-CN" altLang="en-US" sz="2400" b="1" dirty="0">
                <a:latin typeface="宋体" panose="02010600030101010101" pitchFamily="2" charset="-122"/>
              </a:rPr>
              <a:t>常见的基本几何体</a:t>
            </a:r>
            <a:endParaRPr lang="zh-CN" altLang="en-US" sz="2400" b="1" dirty="0"/>
          </a:p>
        </p:txBody>
      </p:sp>
      <p:sp>
        <p:nvSpPr>
          <p:cNvPr id="66564" name="AutoShape 4"/>
          <p:cNvSpPr>
            <a:spLocks noChangeArrowheads="1"/>
          </p:cNvSpPr>
          <p:nvPr/>
        </p:nvSpPr>
        <p:spPr bwMode="auto">
          <a:xfrm>
            <a:off x="2628928" y="3546226"/>
            <a:ext cx="1066800" cy="1449388"/>
          </a:xfrm>
          <a:prstGeom prst="cube">
            <a:avLst>
              <a:gd name="adj" fmla="val 25000"/>
            </a:avLst>
          </a:prstGeom>
          <a:gradFill rotWithShape="0">
            <a:gsLst>
              <a:gs pos="0">
                <a:srgbClr val="007000"/>
              </a:gs>
              <a:gs pos="50000">
                <a:srgbClr val="009900"/>
              </a:gs>
              <a:gs pos="100000">
                <a:srgbClr val="0070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6565" name="AutoShape 5"/>
          <p:cNvSpPr>
            <a:spLocks noChangeArrowheads="1"/>
          </p:cNvSpPr>
          <p:nvPr/>
        </p:nvSpPr>
        <p:spPr bwMode="auto">
          <a:xfrm>
            <a:off x="6445278" y="3360489"/>
            <a:ext cx="1143000" cy="1477962"/>
          </a:xfrm>
          <a:prstGeom prst="can">
            <a:avLst>
              <a:gd name="adj" fmla="val 32326"/>
            </a:avLst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4019578" y="3476376"/>
            <a:ext cx="1524000" cy="1676400"/>
            <a:chOff x="1491" y="1995"/>
            <a:chExt cx="960" cy="1056"/>
          </a:xfrm>
        </p:grpSpPr>
        <p:sp>
          <p:nvSpPr>
            <p:cNvPr id="25615" name="Freeform 7"/>
            <p:cNvSpPr>
              <a:spLocks/>
            </p:cNvSpPr>
            <p:nvPr/>
          </p:nvSpPr>
          <p:spPr bwMode="auto">
            <a:xfrm>
              <a:off x="1491" y="1995"/>
              <a:ext cx="624" cy="1056"/>
            </a:xfrm>
            <a:custGeom>
              <a:avLst/>
              <a:gdLst>
                <a:gd name="T0" fmla="*/ 480 w 624"/>
                <a:gd name="T1" fmla="*/ 0 h 960"/>
                <a:gd name="T2" fmla="*/ 0 w 624"/>
                <a:gd name="T3" fmla="*/ 27794 h 960"/>
                <a:gd name="T4" fmla="*/ 624 w 624"/>
                <a:gd name="T5" fmla="*/ 32680 h 960"/>
                <a:gd name="T6" fmla="*/ 480 w 624"/>
                <a:gd name="T7" fmla="*/ 0 h 9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4"/>
                <a:gd name="T13" fmla="*/ 0 h 960"/>
                <a:gd name="T14" fmla="*/ 624 w 624"/>
                <a:gd name="T15" fmla="*/ 960 h 9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4" h="960">
                  <a:moveTo>
                    <a:pt x="480" y="0"/>
                  </a:moveTo>
                  <a:lnTo>
                    <a:pt x="0" y="816"/>
                  </a:lnTo>
                  <a:lnTo>
                    <a:pt x="624" y="960"/>
                  </a:lnTo>
                  <a:lnTo>
                    <a:pt x="480" y="0"/>
                  </a:lnTo>
                  <a:close/>
                </a:path>
              </a:pathLst>
            </a:custGeom>
            <a:gradFill rotWithShape="0">
              <a:gsLst>
                <a:gs pos="0">
                  <a:srgbClr val="297A29"/>
                </a:gs>
                <a:gs pos="50000">
                  <a:srgbClr val="339933"/>
                </a:gs>
                <a:gs pos="100000">
                  <a:srgbClr val="297A29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616" name="Freeform 8"/>
            <p:cNvSpPr>
              <a:spLocks/>
            </p:cNvSpPr>
            <p:nvPr/>
          </p:nvSpPr>
          <p:spPr bwMode="auto">
            <a:xfrm>
              <a:off x="1971" y="1995"/>
              <a:ext cx="480" cy="1056"/>
            </a:xfrm>
            <a:custGeom>
              <a:avLst/>
              <a:gdLst>
                <a:gd name="T0" fmla="*/ 0 w 480"/>
                <a:gd name="T1" fmla="*/ 0 h 960"/>
                <a:gd name="T2" fmla="*/ 480 w 480"/>
                <a:gd name="T3" fmla="*/ 24479 h 960"/>
                <a:gd name="T4" fmla="*/ 144 w 480"/>
                <a:gd name="T5" fmla="*/ 32680 h 960"/>
                <a:gd name="T6" fmla="*/ 0 w 480"/>
                <a:gd name="T7" fmla="*/ 0 h 9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0"/>
                <a:gd name="T13" fmla="*/ 0 h 960"/>
                <a:gd name="T14" fmla="*/ 480 w 480"/>
                <a:gd name="T15" fmla="*/ 960 h 9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0" h="960">
                  <a:moveTo>
                    <a:pt x="0" y="0"/>
                  </a:moveTo>
                  <a:lnTo>
                    <a:pt x="480" y="720"/>
                  </a:lnTo>
                  <a:lnTo>
                    <a:pt x="144" y="96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297A29"/>
                </a:gs>
                <a:gs pos="50000">
                  <a:srgbClr val="339933"/>
                </a:gs>
                <a:gs pos="100000">
                  <a:srgbClr val="297A29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66569" name="Oval 9"/>
          <p:cNvSpPr>
            <a:spLocks noChangeArrowheads="1"/>
          </p:cNvSpPr>
          <p:nvPr/>
        </p:nvSpPr>
        <p:spPr bwMode="auto">
          <a:xfrm>
            <a:off x="6292878" y="5128964"/>
            <a:ext cx="1295400" cy="114300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pic>
        <p:nvPicPr>
          <p:cNvPr id="66570" name="Picture 10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4328" y="4838451"/>
            <a:ext cx="23622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71" name="Picture 1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0229" y="2996952"/>
            <a:ext cx="1692275" cy="196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72" name="Text Box 12"/>
          <p:cNvSpPr txBox="1">
            <a:spLocks noChangeArrowheads="1"/>
          </p:cNvSpPr>
          <p:nvPr/>
        </p:nvSpPr>
        <p:spPr bwMode="auto">
          <a:xfrm>
            <a:off x="3467208" y="2713137"/>
            <a:ext cx="17235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/>
              <a:t>平面基本体</a:t>
            </a:r>
          </a:p>
        </p:txBody>
      </p:sp>
      <p:sp>
        <p:nvSpPr>
          <p:cNvPr id="66573" name="Text Box 13"/>
          <p:cNvSpPr txBox="1">
            <a:spLocks noChangeArrowheads="1"/>
          </p:cNvSpPr>
          <p:nvPr/>
        </p:nvSpPr>
        <p:spPr bwMode="auto">
          <a:xfrm>
            <a:off x="7289416" y="2701335"/>
            <a:ext cx="187324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/>
              <a:t>曲面基本体</a:t>
            </a:r>
          </a:p>
        </p:txBody>
      </p:sp>
      <p:sp>
        <p:nvSpPr>
          <p:cNvPr id="66574" name="AutoShape 14"/>
          <p:cNvSpPr>
            <a:spLocks/>
          </p:cNvSpPr>
          <p:nvPr/>
        </p:nvSpPr>
        <p:spPr bwMode="auto">
          <a:xfrm rot="5400000">
            <a:off x="6062045" y="473358"/>
            <a:ext cx="461666" cy="3866318"/>
          </a:xfrm>
          <a:prstGeom prst="leftBrace">
            <a:avLst>
              <a:gd name="adj1" fmla="val 63235"/>
              <a:gd name="adj2" fmla="val 50028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2646390" y="3300165"/>
            <a:ext cx="29495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chemeClr val="accent2"/>
                </a:solidFill>
                <a:latin typeface="+mn-ea"/>
                <a:ea typeface="+mn-ea"/>
              </a:rPr>
              <a:t>其表面均为平面</a:t>
            </a:r>
            <a:endParaRPr lang="en-US" altLang="zh-CN" sz="24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defRPr/>
            </a:pPr>
            <a:r>
              <a:rPr lang="zh-CN" altLang="en-US" sz="2400" b="1" dirty="0">
                <a:solidFill>
                  <a:schemeClr val="accent2"/>
                </a:solidFill>
                <a:latin typeface="+mn-ea"/>
                <a:ea typeface="+mn-ea"/>
              </a:rPr>
              <a:t>如棱柱体、棱锥体等</a:t>
            </a:r>
          </a:p>
        </p:txBody>
      </p:sp>
      <p:sp>
        <p:nvSpPr>
          <p:cNvPr id="11279" name="Rectangle 15"/>
          <p:cNvSpPr>
            <a:spLocks noChangeArrowheads="1"/>
          </p:cNvSpPr>
          <p:nvPr/>
        </p:nvSpPr>
        <p:spPr bwMode="auto">
          <a:xfrm>
            <a:off x="5822978" y="3665289"/>
            <a:ext cx="4130674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indent="2667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表面由平面和曲面组成</a:t>
            </a:r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如：圆柱体、圆锥体等</a:t>
            </a:r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或其表面均为曲面</a:t>
            </a:r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如：圆球体、圆环体</a:t>
            </a:r>
            <a:endParaRPr lang="zh-CN" altLang="en-US" sz="2400" dirty="0"/>
          </a:p>
        </p:txBody>
      </p:sp>
      <p:sp>
        <p:nvSpPr>
          <p:cNvPr id="18" name="标题 1"/>
          <p:cNvSpPr txBox="1">
            <a:spLocks/>
          </p:cNvSpPr>
          <p:nvPr/>
        </p:nvSpPr>
        <p:spPr>
          <a:xfrm>
            <a:off x="912046" y="1257788"/>
            <a:ext cx="4500561" cy="500066"/>
          </a:xfrm>
          <a:prstGeom prst="rect">
            <a:avLst/>
          </a:prstGeom>
          <a:noFill/>
        </p:spPr>
        <p:txBody>
          <a:bodyPr/>
          <a:lstStyle/>
          <a:p>
            <a:pPr eaLnBrk="0" hangingPunct="0">
              <a:defRPr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四、几何体的构形及其投影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 </a:t>
            </a:r>
          </a:p>
        </p:txBody>
      </p:sp>
      <p:sp>
        <p:nvSpPr>
          <p:cNvPr id="20" name="Text Box 31">
            <a:extLst>
              <a:ext uri="{FF2B5EF4-FFF2-40B4-BE49-F238E27FC236}">
                <a16:creationId xmlns:a16="http://schemas.microsoft.com/office/drawing/2014/main" id="{CA90C923-B6BD-4C56-BC20-2E031BD2BA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9616" y="474250"/>
            <a:ext cx="6448771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CAD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三维构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形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基础与基本立体投影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6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6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Righ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6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1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112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112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1" dur="1000"/>
                                        <p:tgtEl>
                                          <p:spTgt spid="112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66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5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66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id="6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500"/>
                                        <p:tgtEl>
                                          <p:spTgt spid="66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withGroup">
                            <p:stCondLst>
                              <p:cond delay="2500"/>
                            </p:stCondLst>
                            <p:childTnLst>
                              <p:par>
                                <p:cTn id="66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500"/>
                                        <p:tgtEl>
                                          <p:spTgt spid="66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3" grpId="0" autoUpdateAnimBg="0"/>
      <p:bldP spid="66564" grpId="0" animBg="1" autoUpdateAnimBg="0"/>
      <p:bldP spid="66565" grpId="0" animBg="1" autoUpdateAnimBg="0"/>
      <p:bldP spid="66569" grpId="0" animBg="1" autoUpdateAnimBg="0"/>
      <p:bldP spid="66572" grpId="0" autoUpdateAnimBg="0"/>
      <p:bldP spid="66573" grpId="0" autoUpdateAnimBg="0"/>
      <p:bldP spid="66574" grpId="0" animBg="1" autoUpdateAnimBg="0"/>
      <p:bldP spid="15" grpId="0" autoUpdateAnimBg="0"/>
      <p:bldP spid="15" grpId="1"/>
      <p:bldP spid="11279" grpId="0"/>
      <p:bldP spid="11279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1631504" y="4741381"/>
            <a:ext cx="9577064" cy="9198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defRPr/>
            </a:pPr>
            <a:r>
              <a:rPr kumimoji="1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     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绘制</a:t>
            </a:r>
            <a:r>
              <a:rPr kumimoji="1" lang="zh-CN" altLang="en-US" sz="24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平面几何体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的三面投影，就是把围成它的</a:t>
            </a:r>
            <a:r>
              <a:rPr kumimoji="1" lang="zh-CN" altLang="en-US" sz="24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平面、棱线和顶点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绘制出来，可见的投影用</a:t>
            </a:r>
            <a:r>
              <a:rPr kumimoji="1" lang="zh-CN" altLang="en-US" sz="24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粗实线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，不可见的投影用</a:t>
            </a:r>
            <a:r>
              <a:rPr kumimoji="1" lang="zh-CN" altLang="en-US" sz="24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虚线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。</a:t>
            </a: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2432410" y="3481628"/>
            <a:ext cx="48734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b="1" dirty="0">
                <a:latin typeface="+mn-ea"/>
                <a:ea typeface="+mn-ea"/>
              </a:rPr>
              <a:t>平面几何体的投影和表面取点</a:t>
            </a:r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5" name="Rectangle 14"/>
          <p:cNvSpPr>
            <a:spLocks noChangeArrowheads="1"/>
          </p:cNvSpPr>
          <p:nvPr/>
        </p:nvSpPr>
        <p:spPr bwMode="auto">
          <a:xfrm>
            <a:off x="2009054" y="2526022"/>
            <a:ext cx="4671472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1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、理解几何立体绘图成图原理；</a:t>
            </a:r>
          </a:p>
        </p:txBody>
      </p:sp>
      <p:sp>
        <p:nvSpPr>
          <p:cNvPr id="6" name="Rectangle 15"/>
          <p:cNvSpPr>
            <a:spLocks noChangeArrowheads="1"/>
          </p:cNvSpPr>
          <p:nvPr/>
        </p:nvSpPr>
        <p:spPr bwMode="auto">
          <a:xfrm>
            <a:off x="2009055" y="3019705"/>
            <a:ext cx="4980851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、掌握几何立体绘图方法和技能。</a:t>
            </a: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991544" y="2050319"/>
            <a:ext cx="23487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b="1" dirty="0">
                <a:latin typeface="+mn-ea"/>
                <a:ea typeface="+mn-ea"/>
              </a:rPr>
              <a:t>为什么学习？</a:t>
            </a:r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8" name="Rectangle 15"/>
          <p:cNvSpPr>
            <a:spLocks noChangeArrowheads="1"/>
          </p:cNvSpPr>
          <p:nvPr/>
        </p:nvSpPr>
        <p:spPr bwMode="auto">
          <a:xfrm>
            <a:off x="7289999" y="3971893"/>
            <a:ext cx="3070225" cy="52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绘图方法和技能？</a:t>
            </a:r>
          </a:p>
        </p:txBody>
      </p:sp>
      <p:sp>
        <p:nvSpPr>
          <p:cNvPr id="11" name="标题 1"/>
          <p:cNvSpPr txBox="1">
            <a:spLocks/>
          </p:cNvSpPr>
          <p:nvPr/>
        </p:nvSpPr>
        <p:spPr>
          <a:xfrm>
            <a:off x="983432" y="1276247"/>
            <a:ext cx="4500561" cy="500066"/>
          </a:xfrm>
          <a:prstGeom prst="rect">
            <a:avLst/>
          </a:prstGeom>
          <a:noFill/>
        </p:spPr>
        <p:txBody>
          <a:bodyPr/>
          <a:lstStyle/>
          <a:p>
            <a:pPr eaLnBrk="0" hangingPunct="0">
              <a:defRPr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四、几何体的构形及其投影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 </a:t>
            </a:r>
          </a:p>
        </p:txBody>
      </p:sp>
      <p:sp>
        <p:nvSpPr>
          <p:cNvPr id="12" name="Text Box 31">
            <a:extLst>
              <a:ext uri="{FF2B5EF4-FFF2-40B4-BE49-F238E27FC236}">
                <a16:creationId xmlns:a16="http://schemas.microsoft.com/office/drawing/2014/main" id="{AA88940B-F807-467F-9BE7-6E62CC4CCC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9616" y="474250"/>
            <a:ext cx="6448771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CAD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三维构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形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基础与基本立体投影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/>
      <p:bldP spid="4" grpId="0"/>
      <p:bldP spid="5" grpId="0"/>
      <p:bldP spid="6" grpId="0"/>
      <p:bldP spid="7" grpId="0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91" name="Text Box 7"/>
          <p:cNvSpPr txBox="1">
            <a:spLocks noChangeArrowheads="1"/>
          </p:cNvSpPr>
          <p:nvPr/>
        </p:nvSpPr>
        <p:spPr bwMode="auto">
          <a:xfrm>
            <a:off x="2243139" y="4072337"/>
            <a:ext cx="4681537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宋体" panose="02010600030101010101" pitchFamily="2" charset="-122"/>
              </a:rPr>
              <a:t>    </a:t>
            </a:r>
            <a:r>
              <a:rPr lang="zh-CN" altLang="en-US" sz="2400" b="1">
                <a:latin typeface="宋体" panose="02010600030101010101" pitchFamily="2" charset="-122"/>
              </a:rPr>
              <a:t>在图示位置时，六棱柱的两底面为水平面，在俯视图中反映实形。前后两侧棱面是正平面，其余四个侧棱面是铅垂面，它们的水平投影都积聚成直线，与六边形的边重合。</a:t>
            </a:r>
          </a:p>
        </p:txBody>
      </p:sp>
      <p:sp>
        <p:nvSpPr>
          <p:cNvPr id="67592" name="Text Box 8"/>
          <p:cNvSpPr txBox="1">
            <a:spLocks noChangeArrowheads="1"/>
          </p:cNvSpPr>
          <p:nvPr/>
        </p:nvSpPr>
        <p:spPr bwMode="auto">
          <a:xfrm>
            <a:off x="2470151" y="4615262"/>
            <a:ext cx="4454525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chemeClr val="accent2"/>
                </a:solidFill>
              </a:rPr>
              <a:t>点的可见性规定：</a:t>
            </a:r>
            <a:endParaRPr lang="zh-CN" altLang="en-US" sz="2400" b="1"/>
          </a:p>
          <a:p>
            <a:pPr eaLnBrk="1" hangingPunct="1"/>
            <a:r>
              <a:rPr lang="zh-CN" altLang="en-US" sz="2400" b="1">
                <a:latin typeface="宋体" panose="02010600030101010101" pitchFamily="2" charset="-122"/>
              </a:rPr>
              <a:t>    </a:t>
            </a:r>
            <a:r>
              <a:rPr lang="zh-CN" altLang="en-US" sz="2400" b="1"/>
              <a:t>若点所在的平面的投影可见，点的投影也可见；若平面的投影积聚成直线，点的投影也可见。</a:t>
            </a:r>
          </a:p>
        </p:txBody>
      </p:sp>
      <p:sp>
        <p:nvSpPr>
          <p:cNvPr id="67593" name="Text Box 9"/>
          <p:cNvSpPr txBox="1">
            <a:spLocks noChangeArrowheads="1"/>
          </p:cNvSpPr>
          <p:nvPr/>
        </p:nvSpPr>
        <p:spPr bwMode="auto">
          <a:xfrm>
            <a:off x="2654301" y="5002612"/>
            <a:ext cx="4100513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400" b="1">
                <a:solidFill>
                  <a:schemeClr val="accent2"/>
                </a:solidFill>
                <a:latin typeface="宋体" panose="02010600030101010101" pitchFamily="2" charset="-122"/>
              </a:rPr>
              <a:t>由于棱柱的表面都是平面，所以在棱柱的表面上取点与在平面上取点的方法相同。</a:t>
            </a:r>
          </a:p>
        </p:txBody>
      </p:sp>
      <p:sp>
        <p:nvSpPr>
          <p:cNvPr id="67594" name="Line 10"/>
          <p:cNvSpPr>
            <a:spLocks noChangeShapeType="1"/>
          </p:cNvSpPr>
          <p:nvPr/>
        </p:nvSpPr>
        <p:spPr bwMode="auto">
          <a:xfrm>
            <a:off x="8610600" y="5002213"/>
            <a:ext cx="1524000" cy="0"/>
          </a:xfrm>
          <a:prstGeom prst="line">
            <a:avLst/>
          </a:prstGeom>
          <a:noFill/>
          <a:ln w="19050">
            <a:solidFill>
              <a:srgbClr val="99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595" name="Freeform 11"/>
          <p:cNvSpPr>
            <a:spLocks/>
          </p:cNvSpPr>
          <p:nvPr/>
        </p:nvSpPr>
        <p:spPr bwMode="auto">
          <a:xfrm>
            <a:off x="9061451" y="5006975"/>
            <a:ext cx="1096963" cy="1588"/>
          </a:xfrm>
          <a:custGeom>
            <a:avLst/>
            <a:gdLst>
              <a:gd name="T0" fmla="*/ 0 w 691"/>
              <a:gd name="T1" fmla="*/ 0 h 1"/>
              <a:gd name="T2" fmla="*/ 2147483647 w 691"/>
              <a:gd name="T3" fmla="*/ 0 h 1"/>
              <a:gd name="T4" fmla="*/ 0 60000 65536"/>
              <a:gd name="T5" fmla="*/ 0 60000 65536"/>
              <a:gd name="T6" fmla="*/ 0 w 691"/>
              <a:gd name="T7" fmla="*/ 0 h 1"/>
              <a:gd name="T8" fmla="*/ 691 w 691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91" h="1">
                <a:moveTo>
                  <a:pt x="0" y="0"/>
                </a:moveTo>
                <a:lnTo>
                  <a:pt x="691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7597" name="Line 13"/>
          <p:cNvSpPr>
            <a:spLocks noChangeShapeType="1"/>
          </p:cNvSpPr>
          <p:nvPr/>
        </p:nvSpPr>
        <p:spPr bwMode="auto">
          <a:xfrm>
            <a:off x="8610600" y="3843338"/>
            <a:ext cx="1524000" cy="0"/>
          </a:xfrm>
          <a:prstGeom prst="line">
            <a:avLst/>
          </a:prstGeom>
          <a:noFill/>
          <a:ln w="19050">
            <a:solidFill>
              <a:srgbClr val="99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598" name="Text Box 14"/>
          <p:cNvSpPr txBox="1">
            <a:spLocks noChangeArrowheads="1"/>
          </p:cNvSpPr>
          <p:nvPr/>
        </p:nvSpPr>
        <p:spPr bwMode="auto">
          <a:xfrm>
            <a:off x="2292351" y="3631013"/>
            <a:ext cx="31085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⑵ </a:t>
            </a:r>
            <a:r>
              <a:rPr lang="zh-CN" altLang="en-US" sz="2400" b="1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正六棱柱的三视图</a:t>
            </a:r>
            <a:endParaRPr lang="zh-CN" altLang="en-US" sz="2400" b="1"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67599" name="Text Box 15"/>
          <p:cNvSpPr txBox="1">
            <a:spLocks noChangeArrowheads="1"/>
          </p:cNvSpPr>
          <p:nvPr/>
        </p:nvSpPr>
        <p:spPr bwMode="auto">
          <a:xfrm>
            <a:off x="2292351" y="4094563"/>
            <a:ext cx="31085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⑶ </a:t>
            </a:r>
            <a:r>
              <a:rPr lang="zh-CN" altLang="en-US" sz="2400" b="1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正六棱柱面上取点</a:t>
            </a:r>
            <a:endParaRPr lang="zh-CN" altLang="en-US" sz="2400" b="1"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67600" name="Freeform 16"/>
          <p:cNvSpPr>
            <a:spLocks/>
          </p:cNvSpPr>
          <p:nvPr/>
        </p:nvSpPr>
        <p:spPr bwMode="auto">
          <a:xfrm>
            <a:off x="7315200" y="3843339"/>
            <a:ext cx="1295400" cy="1158875"/>
          </a:xfrm>
          <a:custGeom>
            <a:avLst/>
            <a:gdLst>
              <a:gd name="T0" fmla="*/ 0 w 816"/>
              <a:gd name="T1" fmla="*/ 0 h 816"/>
              <a:gd name="T2" fmla="*/ 0 w 816"/>
              <a:gd name="T3" fmla="*/ 2147483647 h 816"/>
              <a:gd name="T4" fmla="*/ 2147483647 w 816"/>
              <a:gd name="T5" fmla="*/ 2147483647 h 816"/>
              <a:gd name="T6" fmla="*/ 2147483647 w 816"/>
              <a:gd name="T7" fmla="*/ 0 h 816"/>
              <a:gd name="T8" fmla="*/ 0 w 816"/>
              <a:gd name="T9" fmla="*/ 0 h 8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6"/>
              <a:gd name="T16" fmla="*/ 0 h 816"/>
              <a:gd name="T17" fmla="*/ 816 w 816"/>
              <a:gd name="T18" fmla="*/ 816 h 8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6" h="816">
                <a:moveTo>
                  <a:pt x="0" y="0"/>
                </a:moveTo>
                <a:lnTo>
                  <a:pt x="0" y="816"/>
                </a:lnTo>
                <a:lnTo>
                  <a:pt x="816" y="816"/>
                </a:lnTo>
                <a:lnTo>
                  <a:pt x="816" y="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7601" name="Line 17"/>
          <p:cNvSpPr>
            <a:spLocks noChangeShapeType="1"/>
          </p:cNvSpPr>
          <p:nvPr/>
        </p:nvSpPr>
        <p:spPr bwMode="auto">
          <a:xfrm>
            <a:off x="7642225" y="3830639"/>
            <a:ext cx="0" cy="11715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602" name="Line 18"/>
          <p:cNvSpPr>
            <a:spLocks noChangeShapeType="1"/>
          </p:cNvSpPr>
          <p:nvPr/>
        </p:nvSpPr>
        <p:spPr bwMode="auto">
          <a:xfrm>
            <a:off x="8283575" y="3843339"/>
            <a:ext cx="0" cy="11588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603" name="AutoShape 19"/>
          <p:cNvSpPr>
            <a:spLocks noChangeArrowheads="1"/>
          </p:cNvSpPr>
          <p:nvPr/>
        </p:nvSpPr>
        <p:spPr bwMode="auto">
          <a:xfrm>
            <a:off x="7315200" y="5307013"/>
            <a:ext cx="1295400" cy="1066800"/>
          </a:xfrm>
          <a:prstGeom prst="hexagon">
            <a:avLst>
              <a:gd name="adj" fmla="val 30357"/>
              <a:gd name="vf" fmla="val 11547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7604" name="Line 20"/>
          <p:cNvSpPr>
            <a:spLocks noChangeShapeType="1"/>
          </p:cNvSpPr>
          <p:nvPr/>
        </p:nvSpPr>
        <p:spPr bwMode="auto">
          <a:xfrm>
            <a:off x="7467600" y="4164013"/>
            <a:ext cx="0" cy="190500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605" name="Line 21"/>
          <p:cNvSpPr>
            <a:spLocks noChangeShapeType="1"/>
          </p:cNvSpPr>
          <p:nvPr/>
        </p:nvSpPr>
        <p:spPr bwMode="auto">
          <a:xfrm>
            <a:off x="7467600" y="4175125"/>
            <a:ext cx="2438400" cy="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7202496" y="3887789"/>
            <a:ext cx="417513" cy="428625"/>
            <a:chOff x="3577" y="2514"/>
            <a:chExt cx="263" cy="270"/>
          </a:xfrm>
        </p:grpSpPr>
        <p:sp>
          <p:nvSpPr>
            <p:cNvPr id="27710" name="Text Box 26"/>
            <p:cNvSpPr txBox="1">
              <a:spLocks noChangeArrowheads="1"/>
            </p:cNvSpPr>
            <p:nvPr/>
          </p:nvSpPr>
          <p:spPr bwMode="auto">
            <a:xfrm>
              <a:off x="3664" y="2630"/>
              <a:ext cx="17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000">
                  <a:solidFill>
                    <a:srgbClr val="FF3300"/>
                  </a:solidFill>
                  <a:sym typeface="Wingdings" panose="05000000000000000000" pitchFamily="2" charset="2"/>
                </a:rPr>
                <a:t></a:t>
              </a:r>
              <a:endParaRPr lang="en-US" altLang="zh-CN" sz="1600"/>
            </a:p>
          </p:txBody>
        </p:sp>
        <p:sp>
          <p:nvSpPr>
            <p:cNvPr id="27711" name="Text Box 27"/>
            <p:cNvSpPr txBox="1">
              <a:spLocks noChangeArrowheads="1"/>
            </p:cNvSpPr>
            <p:nvPr/>
          </p:nvSpPr>
          <p:spPr bwMode="auto">
            <a:xfrm>
              <a:off x="3577" y="2514"/>
              <a:ext cx="26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600"/>
                <a:t> </a:t>
              </a:r>
              <a:r>
                <a:rPr lang="en-US" altLang="zh-CN" i="1">
                  <a:latin typeface="Dutch801 Rm BT" panose="02020603060505020304" pitchFamily="18" charset="0"/>
                </a:rPr>
                <a:t>a</a:t>
              </a:r>
              <a:r>
                <a:rPr lang="en-US" altLang="zh-CN">
                  <a:sym typeface="Symbol" panose="05050102010706020507" pitchFamily="18" charset="2"/>
                </a:rPr>
                <a:t></a:t>
              </a:r>
              <a:endParaRPr lang="en-US" altLang="zh-CN">
                <a:sym typeface="CommercialPi BT" panose="05020102010206080802" pitchFamily="18" charset="2"/>
              </a:endParaRPr>
            </a:p>
          </p:txBody>
        </p:sp>
      </p:grpSp>
      <p:grpSp>
        <p:nvGrpSpPr>
          <p:cNvPr id="4" name="Group 28"/>
          <p:cNvGrpSpPr>
            <a:grpSpLocks/>
          </p:cNvGrpSpPr>
          <p:nvPr/>
        </p:nvGrpSpPr>
        <p:grpSpPr bwMode="auto">
          <a:xfrm>
            <a:off x="7212014" y="5946783"/>
            <a:ext cx="382587" cy="369888"/>
            <a:chOff x="3599" y="3811"/>
            <a:chExt cx="241" cy="233"/>
          </a:xfrm>
        </p:grpSpPr>
        <p:sp>
          <p:nvSpPr>
            <p:cNvPr id="27708" name="Text Box 29"/>
            <p:cNvSpPr txBox="1">
              <a:spLocks noChangeArrowheads="1"/>
            </p:cNvSpPr>
            <p:nvPr/>
          </p:nvSpPr>
          <p:spPr bwMode="auto">
            <a:xfrm>
              <a:off x="3664" y="3830"/>
              <a:ext cx="17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000">
                  <a:solidFill>
                    <a:srgbClr val="FF3300"/>
                  </a:solidFill>
                  <a:sym typeface="Wingdings" panose="05000000000000000000" pitchFamily="2" charset="2"/>
                </a:rPr>
                <a:t></a:t>
              </a:r>
              <a:endParaRPr lang="en-US" altLang="zh-CN" sz="1600"/>
            </a:p>
          </p:txBody>
        </p:sp>
        <p:sp>
          <p:nvSpPr>
            <p:cNvPr id="27709" name="Text Box 30"/>
            <p:cNvSpPr txBox="1">
              <a:spLocks noChangeArrowheads="1"/>
            </p:cNvSpPr>
            <p:nvPr/>
          </p:nvSpPr>
          <p:spPr bwMode="auto">
            <a:xfrm>
              <a:off x="3599" y="3811"/>
              <a:ext cx="19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latin typeface="Dutch801 Rm BT" panose="02020603060505020304" pitchFamily="18" charset="0"/>
                </a:rPr>
                <a:t>a</a:t>
              </a:r>
              <a:endParaRPr lang="en-US" altLang="zh-CN" sz="1600"/>
            </a:p>
          </p:txBody>
        </p:sp>
      </p:grpSp>
      <p:grpSp>
        <p:nvGrpSpPr>
          <p:cNvPr id="5" name="Group 31"/>
          <p:cNvGrpSpPr>
            <a:grpSpLocks/>
          </p:cNvGrpSpPr>
          <p:nvPr/>
        </p:nvGrpSpPr>
        <p:grpSpPr bwMode="auto">
          <a:xfrm>
            <a:off x="9704397" y="3821114"/>
            <a:ext cx="454025" cy="465137"/>
            <a:chOff x="5153" y="2184"/>
            <a:chExt cx="286" cy="293"/>
          </a:xfrm>
        </p:grpSpPr>
        <p:sp>
          <p:nvSpPr>
            <p:cNvPr id="27706" name="Text Box 32"/>
            <p:cNvSpPr txBox="1">
              <a:spLocks noChangeArrowheads="1"/>
            </p:cNvSpPr>
            <p:nvPr/>
          </p:nvSpPr>
          <p:spPr bwMode="auto">
            <a:xfrm>
              <a:off x="5184" y="2323"/>
              <a:ext cx="192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000">
                  <a:solidFill>
                    <a:srgbClr val="FF3300"/>
                  </a:solidFill>
                  <a:sym typeface="Wingdings" panose="05000000000000000000" pitchFamily="2" charset="2"/>
                </a:rPr>
                <a:t></a:t>
              </a:r>
              <a:endParaRPr lang="en-US" altLang="zh-CN" sz="1600"/>
            </a:p>
          </p:txBody>
        </p:sp>
        <p:sp>
          <p:nvSpPr>
            <p:cNvPr id="27707" name="Text Box 33"/>
            <p:cNvSpPr txBox="1">
              <a:spLocks noChangeArrowheads="1"/>
            </p:cNvSpPr>
            <p:nvPr/>
          </p:nvSpPr>
          <p:spPr bwMode="auto">
            <a:xfrm>
              <a:off x="5153" y="2184"/>
              <a:ext cx="28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600"/>
                <a:t> </a:t>
              </a:r>
              <a:r>
                <a:rPr lang="en-US" altLang="zh-CN" i="1">
                  <a:latin typeface="Dutch801 Rm BT" panose="02020603060505020304" pitchFamily="18" charset="0"/>
                </a:rPr>
                <a:t>a</a:t>
              </a:r>
              <a:r>
                <a:rPr lang="en-US" altLang="zh-CN">
                  <a:sym typeface="Symbol" panose="05050102010706020507" pitchFamily="18" charset="2"/>
                </a:rPr>
                <a:t></a:t>
              </a:r>
            </a:p>
          </p:txBody>
        </p:sp>
      </p:grpSp>
      <p:sp>
        <p:nvSpPr>
          <p:cNvPr id="67618" name="Freeform 34"/>
          <p:cNvSpPr>
            <a:spLocks/>
          </p:cNvSpPr>
          <p:nvPr/>
        </p:nvSpPr>
        <p:spPr bwMode="auto">
          <a:xfrm>
            <a:off x="7307264" y="5005389"/>
            <a:ext cx="1322387" cy="1587"/>
          </a:xfrm>
          <a:custGeom>
            <a:avLst/>
            <a:gdLst>
              <a:gd name="T0" fmla="*/ 0 w 833"/>
              <a:gd name="T1" fmla="*/ 0 h 1"/>
              <a:gd name="T2" fmla="*/ 2147483647 w 833"/>
              <a:gd name="T3" fmla="*/ 0 h 1"/>
              <a:gd name="T4" fmla="*/ 0 60000 65536"/>
              <a:gd name="T5" fmla="*/ 0 60000 65536"/>
              <a:gd name="T6" fmla="*/ 0 w 833"/>
              <a:gd name="T7" fmla="*/ 0 h 1"/>
              <a:gd name="T8" fmla="*/ 833 w 833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833" h="1">
                <a:moveTo>
                  <a:pt x="0" y="0"/>
                </a:moveTo>
                <a:lnTo>
                  <a:pt x="833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6" name="Group 35"/>
          <p:cNvGrpSpPr>
            <a:grpSpLocks/>
          </p:cNvGrpSpPr>
          <p:nvPr/>
        </p:nvGrpSpPr>
        <p:grpSpPr bwMode="auto">
          <a:xfrm>
            <a:off x="7315200" y="5002213"/>
            <a:ext cx="1295400" cy="838200"/>
            <a:chOff x="3648" y="3216"/>
            <a:chExt cx="816" cy="528"/>
          </a:xfrm>
        </p:grpSpPr>
        <p:sp>
          <p:nvSpPr>
            <p:cNvPr id="27704" name="Line 36"/>
            <p:cNvSpPr>
              <a:spLocks noChangeShapeType="1"/>
            </p:cNvSpPr>
            <p:nvPr/>
          </p:nvSpPr>
          <p:spPr bwMode="auto">
            <a:xfrm flipV="1">
              <a:off x="3648" y="3216"/>
              <a:ext cx="0" cy="528"/>
            </a:xfrm>
            <a:prstGeom prst="line">
              <a:avLst/>
            </a:prstGeom>
            <a:noFill/>
            <a:ln w="19050">
              <a:solidFill>
                <a:srgbClr val="99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705" name="Line 37"/>
            <p:cNvSpPr>
              <a:spLocks noChangeShapeType="1"/>
            </p:cNvSpPr>
            <p:nvPr/>
          </p:nvSpPr>
          <p:spPr bwMode="auto">
            <a:xfrm flipV="1">
              <a:off x="4464" y="3216"/>
              <a:ext cx="0" cy="528"/>
            </a:xfrm>
            <a:prstGeom prst="line">
              <a:avLst/>
            </a:prstGeom>
            <a:noFill/>
            <a:ln w="19050">
              <a:solidFill>
                <a:srgbClr val="99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7622" name="Freeform 38"/>
          <p:cNvSpPr>
            <a:spLocks/>
          </p:cNvSpPr>
          <p:nvPr/>
        </p:nvSpPr>
        <p:spPr bwMode="auto">
          <a:xfrm>
            <a:off x="7642225" y="5006975"/>
            <a:ext cx="1588" cy="1397000"/>
          </a:xfrm>
          <a:custGeom>
            <a:avLst/>
            <a:gdLst>
              <a:gd name="T0" fmla="*/ 0 w 1"/>
              <a:gd name="T1" fmla="*/ 2147483647 h 880"/>
              <a:gd name="T2" fmla="*/ 0 w 1"/>
              <a:gd name="T3" fmla="*/ 0 h 880"/>
              <a:gd name="T4" fmla="*/ 0 60000 65536"/>
              <a:gd name="T5" fmla="*/ 0 60000 65536"/>
              <a:gd name="T6" fmla="*/ 0 w 1"/>
              <a:gd name="T7" fmla="*/ 0 h 880"/>
              <a:gd name="T8" fmla="*/ 1 w 1"/>
              <a:gd name="T9" fmla="*/ 880 h 88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880">
                <a:moveTo>
                  <a:pt x="0" y="88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99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7623" name="Freeform 39"/>
          <p:cNvSpPr>
            <a:spLocks/>
          </p:cNvSpPr>
          <p:nvPr/>
        </p:nvSpPr>
        <p:spPr bwMode="auto">
          <a:xfrm>
            <a:off x="8288339" y="5006976"/>
            <a:ext cx="1587" cy="1362075"/>
          </a:xfrm>
          <a:custGeom>
            <a:avLst/>
            <a:gdLst>
              <a:gd name="T0" fmla="*/ 0 w 1"/>
              <a:gd name="T1" fmla="*/ 2147483647 h 858"/>
              <a:gd name="T2" fmla="*/ 0 w 1"/>
              <a:gd name="T3" fmla="*/ 0 h 858"/>
              <a:gd name="T4" fmla="*/ 0 60000 65536"/>
              <a:gd name="T5" fmla="*/ 0 60000 65536"/>
              <a:gd name="T6" fmla="*/ 0 w 1"/>
              <a:gd name="T7" fmla="*/ 0 h 858"/>
              <a:gd name="T8" fmla="*/ 1 w 1"/>
              <a:gd name="T9" fmla="*/ 858 h 85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858">
                <a:moveTo>
                  <a:pt x="0" y="858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99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7" name="Group 40"/>
          <p:cNvGrpSpPr>
            <a:grpSpLocks/>
          </p:cNvGrpSpPr>
          <p:nvPr/>
        </p:nvGrpSpPr>
        <p:grpSpPr bwMode="auto">
          <a:xfrm>
            <a:off x="7467600" y="4164013"/>
            <a:ext cx="2438400" cy="1905000"/>
            <a:chOff x="3744" y="2400"/>
            <a:chExt cx="1536" cy="1200"/>
          </a:xfrm>
        </p:grpSpPr>
        <p:sp>
          <p:nvSpPr>
            <p:cNvPr id="27702" name="Line 41"/>
            <p:cNvSpPr>
              <a:spLocks noChangeShapeType="1"/>
            </p:cNvSpPr>
            <p:nvPr/>
          </p:nvSpPr>
          <p:spPr bwMode="auto">
            <a:xfrm>
              <a:off x="3744" y="3456"/>
              <a:ext cx="0" cy="14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703" name="Line 42"/>
            <p:cNvSpPr>
              <a:spLocks noChangeShapeType="1"/>
            </p:cNvSpPr>
            <p:nvPr/>
          </p:nvSpPr>
          <p:spPr bwMode="auto">
            <a:xfrm>
              <a:off x="5088" y="2400"/>
              <a:ext cx="192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" name="Group 43"/>
          <p:cNvGrpSpPr>
            <a:grpSpLocks/>
          </p:cNvGrpSpPr>
          <p:nvPr/>
        </p:nvGrpSpPr>
        <p:grpSpPr bwMode="auto">
          <a:xfrm>
            <a:off x="7523164" y="4268789"/>
            <a:ext cx="534987" cy="458787"/>
            <a:chOff x="3779" y="2754"/>
            <a:chExt cx="337" cy="289"/>
          </a:xfrm>
        </p:grpSpPr>
        <p:sp>
          <p:nvSpPr>
            <p:cNvPr id="27700" name="Text Box 44"/>
            <p:cNvSpPr txBox="1">
              <a:spLocks noChangeArrowheads="1"/>
            </p:cNvSpPr>
            <p:nvPr/>
          </p:nvSpPr>
          <p:spPr bwMode="auto">
            <a:xfrm>
              <a:off x="3902" y="2889"/>
              <a:ext cx="17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000">
                  <a:solidFill>
                    <a:srgbClr val="FF3300"/>
                  </a:solidFill>
                  <a:sym typeface="Wingdings" panose="05000000000000000000" pitchFamily="2" charset="2"/>
                </a:rPr>
                <a:t></a:t>
              </a:r>
              <a:endParaRPr lang="en-US" altLang="zh-CN" sz="1600"/>
            </a:p>
          </p:txBody>
        </p:sp>
        <p:sp>
          <p:nvSpPr>
            <p:cNvPr id="27701" name="Text Box 45"/>
            <p:cNvSpPr txBox="1">
              <a:spLocks noChangeArrowheads="1"/>
            </p:cNvSpPr>
            <p:nvPr/>
          </p:nvSpPr>
          <p:spPr bwMode="auto">
            <a:xfrm>
              <a:off x="3779" y="2754"/>
              <a:ext cx="33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600"/>
                <a:t> </a:t>
              </a:r>
              <a:r>
                <a:rPr lang="en-US" altLang="zh-CN" sz="1400"/>
                <a:t>(</a:t>
              </a:r>
              <a:r>
                <a:rPr lang="en-US" altLang="zh-CN" i="1">
                  <a:latin typeface="Dutch801 Rm BT" panose="02020603060505020304" pitchFamily="18" charset="0"/>
                </a:rPr>
                <a:t>b</a:t>
              </a:r>
              <a:r>
                <a:rPr lang="en-US" altLang="zh-CN">
                  <a:sym typeface="Symbol" panose="05050102010706020507" pitchFamily="18" charset="2"/>
                </a:rPr>
                <a:t></a:t>
              </a:r>
              <a:r>
                <a:rPr lang="en-US" altLang="zh-CN" sz="1400"/>
                <a:t>)</a:t>
              </a:r>
            </a:p>
          </p:txBody>
        </p:sp>
      </p:grpSp>
      <p:sp>
        <p:nvSpPr>
          <p:cNvPr id="67630" name="Line 46"/>
          <p:cNvSpPr>
            <a:spLocks noChangeShapeType="1"/>
          </p:cNvSpPr>
          <p:nvPr/>
        </p:nvSpPr>
        <p:spPr bwMode="auto">
          <a:xfrm>
            <a:off x="7848600" y="4621213"/>
            <a:ext cx="0" cy="175260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" name="Group 47"/>
          <p:cNvGrpSpPr>
            <a:grpSpLocks/>
          </p:cNvGrpSpPr>
          <p:nvPr/>
        </p:nvGrpSpPr>
        <p:grpSpPr bwMode="auto">
          <a:xfrm>
            <a:off x="7593014" y="5011738"/>
            <a:ext cx="407987" cy="420687"/>
            <a:chOff x="3823" y="2923"/>
            <a:chExt cx="257" cy="265"/>
          </a:xfrm>
        </p:grpSpPr>
        <p:sp>
          <p:nvSpPr>
            <p:cNvPr id="27698" name="Text Box 48"/>
            <p:cNvSpPr txBox="1">
              <a:spLocks noChangeArrowheads="1"/>
            </p:cNvSpPr>
            <p:nvPr/>
          </p:nvSpPr>
          <p:spPr bwMode="auto">
            <a:xfrm>
              <a:off x="3888" y="3044"/>
              <a:ext cx="19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900">
                  <a:solidFill>
                    <a:srgbClr val="FF3300"/>
                  </a:solidFill>
                  <a:sym typeface="Wingdings" panose="05000000000000000000" pitchFamily="2" charset="2"/>
                </a:rPr>
                <a:t></a:t>
              </a:r>
              <a:endParaRPr lang="en-US" altLang="zh-CN" sz="1600"/>
            </a:p>
          </p:txBody>
        </p:sp>
        <p:sp>
          <p:nvSpPr>
            <p:cNvPr id="27699" name="Text Box 49"/>
            <p:cNvSpPr txBox="1">
              <a:spLocks noChangeArrowheads="1"/>
            </p:cNvSpPr>
            <p:nvPr/>
          </p:nvSpPr>
          <p:spPr bwMode="auto">
            <a:xfrm>
              <a:off x="3823" y="2923"/>
              <a:ext cx="19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latin typeface="Dutch801 Rm BT" panose="02020603060505020304" pitchFamily="18" charset="0"/>
                </a:rPr>
                <a:t>b</a:t>
              </a:r>
              <a:endParaRPr lang="en-US" altLang="zh-CN" sz="1600"/>
            </a:p>
          </p:txBody>
        </p:sp>
      </p:grpSp>
      <p:sp>
        <p:nvSpPr>
          <p:cNvPr id="67634" name="Freeform 50"/>
          <p:cNvSpPr>
            <a:spLocks/>
          </p:cNvSpPr>
          <p:nvPr/>
        </p:nvSpPr>
        <p:spPr bwMode="auto">
          <a:xfrm>
            <a:off x="7845425" y="4602164"/>
            <a:ext cx="1233488" cy="1587"/>
          </a:xfrm>
          <a:custGeom>
            <a:avLst/>
            <a:gdLst>
              <a:gd name="T0" fmla="*/ 0 w 777"/>
              <a:gd name="T1" fmla="*/ 0 h 1"/>
              <a:gd name="T2" fmla="*/ 2147483647 w 777"/>
              <a:gd name="T3" fmla="*/ 0 h 1"/>
              <a:gd name="T4" fmla="*/ 0 60000 65536"/>
              <a:gd name="T5" fmla="*/ 0 60000 65536"/>
              <a:gd name="T6" fmla="*/ 0 w 777"/>
              <a:gd name="T7" fmla="*/ 0 h 1"/>
              <a:gd name="T8" fmla="*/ 777 w 777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77" h="1">
                <a:moveTo>
                  <a:pt x="0" y="0"/>
                </a:moveTo>
                <a:lnTo>
                  <a:pt x="777" y="0"/>
                </a:lnTo>
              </a:path>
            </a:pathLst>
          </a:custGeom>
          <a:noFill/>
          <a:ln w="1905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7635" name="Text Box 51"/>
          <p:cNvSpPr txBox="1">
            <a:spLocks noChangeArrowheads="1"/>
          </p:cNvSpPr>
          <p:nvPr/>
        </p:nvSpPr>
        <p:spPr bwMode="auto">
          <a:xfrm>
            <a:off x="2322514" y="1967204"/>
            <a:ext cx="28007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⑴ </a:t>
            </a: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正六棱柱的组成</a:t>
            </a:r>
          </a:p>
        </p:txBody>
      </p:sp>
      <p:grpSp>
        <p:nvGrpSpPr>
          <p:cNvPr id="10" name="Group 52"/>
          <p:cNvGrpSpPr>
            <a:grpSpLocks/>
          </p:cNvGrpSpPr>
          <p:nvPr/>
        </p:nvGrpSpPr>
        <p:grpSpPr bwMode="auto">
          <a:xfrm>
            <a:off x="8001000" y="5002213"/>
            <a:ext cx="1600200" cy="838200"/>
            <a:chOff x="4080" y="2928"/>
            <a:chExt cx="1008" cy="528"/>
          </a:xfrm>
        </p:grpSpPr>
        <p:sp>
          <p:nvSpPr>
            <p:cNvPr id="27696" name="Line 53"/>
            <p:cNvSpPr>
              <a:spLocks noChangeShapeType="1"/>
            </p:cNvSpPr>
            <p:nvPr/>
          </p:nvSpPr>
          <p:spPr bwMode="auto">
            <a:xfrm>
              <a:off x="4080" y="3120"/>
              <a:ext cx="0" cy="33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97" name="Line 54"/>
            <p:cNvSpPr>
              <a:spLocks noChangeShapeType="1"/>
            </p:cNvSpPr>
            <p:nvPr/>
          </p:nvSpPr>
          <p:spPr bwMode="auto">
            <a:xfrm rot="5400000">
              <a:off x="4920" y="2760"/>
              <a:ext cx="0" cy="33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7639" name="Freeform 55"/>
          <p:cNvSpPr>
            <a:spLocks/>
          </p:cNvSpPr>
          <p:nvPr/>
        </p:nvSpPr>
        <p:spPr bwMode="auto">
          <a:xfrm>
            <a:off x="9061450" y="3844926"/>
            <a:ext cx="6350" cy="1171575"/>
          </a:xfrm>
          <a:custGeom>
            <a:avLst/>
            <a:gdLst>
              <a:gd name="T0" fmla="*/ 2147483647 w 4"/>
              <a:gd name="T1" fmla="*/ 2147483647 h 738"/>
              <a:gd name="T2" fmla="*/ 0 w 4"/>
              <a:gd name="T3" fmla="*/ 0 h 738"/>
              <a:gd name="T4" fmla="*/ 0 60000 65536"/>
              <a:gd name="T5" fmla="*/ 0 60000 65536"/>
              <a:gd name="T6" fmla="*/ 0 w 4"/>
              <a:gd name="T7" fmla="*/ 0 h 738"/>
              <a:gd name="T8" fmla="*/ 4 w 4"/>
              <a:gd name="T9" fmla="*/ 738 h 73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" h="738">
                <a:moveTo>
                  <a:pt x="4" y="738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7640" name="Freeform 56"/>
          <p:cNvSpPr>
            <a:spLocks/>
          </p:cNvSpPr>
          <p:nvPr/>
        </p:nvSpPr>
        <p:spPr bwMode="auto">
          <a:xfrm flipH="1">
            <a:off x="10058400" y="3843339"/>
            <a:ext cx="76200" cy="1163637"/>
          </a:xfrm>
          <a:custGeom>
            <a:avLst/>
            <a:gdLst>
              <a:gd name="T0" fmla="*/ 0 w 1"/>
              <a:gd name="T1" fmla="*/ 2147483647 h 816"/>
              <a:gd name="T2" fmla="*/ 0 w 1"/>
              <a:gd name="T3" fmla="*/ 0 h 816"/>
              <a:gd name="T4" fmla="*/ 0 60000 65536"/>
              <a:gd name="T5" fmla="*/ 0 60000 65536"/>
              <a:gd name="T6" fmla="*/ 0 w 1"/>
              <a:gd name="T7" fmla="*/ 0 h 816"/>
              <a:gd name="T8" fmla="*/ 1 w 1"/>
              <a:gd name="T9" fmla="*/ 816 h 81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816">
                <a:moveTo>
                  <a:pt x="0" y="816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7641" name="Freeform 57"/>
          <p:cNvSpPr>
            <a:spLocks/>
          </p:cNvSpPr>
          <p:nvPr/>
        </p:nvSpPr>
        <p:spPr bwMode="auto">
          <a:xfrm>
            <a:off x="9056688" y="3830638"/>
            <a:ext cx="1090612" cy="4762"/>
          </a:xfrm>
          <a:custGeom>
            <a:avLst/>
            <a:gdLst>
              <a:gd name="T0" fmla="*/ 0 w 687"/>
              <a:gd name="T1" fmla="*/ 2147483647 h 3"/>
              <a:gd name="T2" fmla="*/ 2147483647 w 687"/>
              <a:gd name="T3" fmla="*/ 0 h 3"/>
              <a:gd name="T4" fmla="*/ 0 60000 65536"/>
              <a:gd name="T5" fmla="*/ 0 60000 65536"/>
              <a:gd name="T6" fmla="*/ 0 w 687"/>
              <a:gd name="T7" fmla="*/ 0 h 3"/>
              <a:gd name="T8" fmla="*/ 687 w 687"/>
              <a:gd name="T9" fmla="*/ 3 h 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87" h="3">
                <a:moveTo>
                  <a:pt x="0" y="3"/>
                </a:moveTo>
                <a:lnTo>
                  <a:pt x="687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7642" name="Line 58"/>
          <p:cNvSpPr>
            <a:spLocks noChangeShapeType="1"/>
          </p:cNvSpPr>
          <p:nvPr/>
        </p:nvSpPr>
        <p:spPr bwMode="auto">
          <a:xfrm flipV="1">
            <a:off x="9601200" y="3827463"/>
            <a:ext cx="0" cy="1174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" name="Group 59"/>
          <p:cNvGrpSpPr>
            <a:grpSpLocks/>
          </p:cNvGrpSpPr>
          <p:nvPr/>
        </p:nvGrpSpPr>
        <p:grpSpPr bwMode="auto">
          <a:xfrm>
            <a:off x="8928102" y="4300539"/>
            <a:ext cx="525463" cy="428625"/>
            <a:chOff x="4664" y="2486"/>
            <a:chExt cx="331" cy="270"/>
          </a:xfrm>
        </p:grpSpPr>
        <p:sp>
          <p:nvSpPr>
            <p:cNvPr id="27694" name="Text Box 60"/>
            <p:cNvSpPr txBox="1">
              <a:spLocks noChangeArrowheads="1"/>
            </p:cNvSpPr>
            <p:nvPr/>
          </p:nvSpPr>
          <p:spPr bwMode="auto">
            <a:xfrm>
              <a:off x="4664" y="2602"/>
              <a:ext cx="17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000">
                  <a:solidFill>
                    <a:srgbClr val="FF3300"/>
                  </a:solidFill>
                  <a:sym typeface="Wingdings" panose="05000000000000000000" pitchFamily="2" charset="2"/>
                </a:rPr>
                <a:t></a:t>
              </a:r>
              <a:endParaRPr lang="en-US" altLang="zh-CN" sz="1600"/>
            </a:p>
          </p:txBody>
        </p:sp>
        <p:sp>
          <p:nvSpPr>
            <p:cNvPr id="27695" name="Text Box 61"/>
            <p:cNvSpPr txBox="1">
              <a:spLocks noChangeArrowheads="1"/>
            </p:cNvSpPr>
            <p:nvPr/>
          </p:nvSpPr>
          <p:spPr bwMode="auto">
            <a:xfrm>
              <a:off x="4709" y="2486"/>
              <a:ext cx="28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600"/>
                <a:t> </a:t>
              </a:r>
              <a:r>
                <a:rPr lang="en-US" altLang="zh-CN" i="1">
                  <a:latin typeface="Dutch801 Rm BT" panose="02020603060505020304" pitchFamily="18" charset="0"/>
                </a:rPr>
                <a:t>b</a:t>
              </a:r>
              <a:r>
                <a:rPr lang="en-US" altLang="zh-CN">
                  <a:sym typeface="Symbol" panose="05050102010706020507" pitchFamily="18" charset="2"/>
                </a:rPr>
                <a:t></a:t>
              </a:r>
              <a:endParaRPr lang="en-US" altLang="zh-CN">
                <a:sym typeface="CommercialPi BT" panose="05020102010206080802" pitchFamily="18" charset="2"/>
              </a:endParaRPr>
            </a:p>
          </p:txBody>
        </p:sp>
      </p:grpSp>
      <p:grpSp>
        <p:nvGrpSpPr>
          <p:cNvPr id="12" name="Group 62"/>
          <p:cNvGrpSpPr>
            <a:grpSpLocks/>
          </p:cNvGrpSpPr>
          <p:nvPr/>
        </p:nvGrpSpPr>
        <p:grpSpPr bwMode="auto">
          <a:xfrm>
            <a:off x="8001000" y="5002213"/>
            <a:ext cx="2133600" cy="1371600"/>
            <a:chOff x="4080" y="2928"/>
            <a:chExt cx="1344" cy="864"/>
          </a:xfrm>
        </p:grpSpPr>
        <p:sp>
          <p:nvSpPr>
            <p:cNvPr id="27692" name="Line 63"/>
            <p:cNvSpPr>
              <a:spLocks noChangeShapeType="1"/>
            </p:cNvSpPr>
            <p:nvPr/>
          </p:nvSpPr>
          <p:spPr bwMode="auto">
            <a:xfrm rot="5400000">
              <a:off x="5256" y="2760"/>
              <a:ext cx="0" cy="33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93" name="Line 64"/>
            <p:cNvSpPr>
              <a:spLocks noChangeShapeType="1"/>
            </p:cNvSpPr>
            <p:nvPr/>
          </p:nvSpPr>
          <p:spPr bwMode="auto">
            <a:xfrm>
              <a:off x="4080" y="3456"/>
              <a:ext cx="0" cy="33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7649" name="Text Box 65"/>
          <p:cNvSpPr txBox="1">
            <a:spLocks noChangeArrowheads="1"/>
          </p:cNvSpPr>
          <p:nvPr/>
        </p:nvSpPr>
        <p:spPr bwMode="auto">
          <a:xfrm>
            <a:off x="2481263" y="2442986"/>
            <a:ext cx="498951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宋体" panose="02010600030101010101" pitchFamily="2" charset="-122"/>
              </a:rPr>
              <a:t>    </a:t>
            </a:r>
            <a:r>
              <a:rPr lang="zh-CN" altLang="en-US" sz="2400" b="1" dirty="0">
                <a:latin typeface="宋体" panose="02010600030101010101" pitchFamily="2" charset="-122"/>
              </a:rPr>
              <a:t>由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两个底面和若干侧棱面</a:t>
            </a:r>
            <a:r>
              <a:rPr lang="zh-CN" altLang="en-US" sz="2400" b="1" dirty="0">
                <a:latin typeface="宋体" panose="02010600030101010101" pitchFamily="2" charset="-122"/>
              </a:rPr>
              <a:t>组成。侧棱面与侧棱面的交线叫侧棱线，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侧棱线相互平行</a:t>
            </a:r>
            <a:r>
              <a:rPr lang="zh-CN" altLang="en-US" sz="2400" b="1" dirty="0"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67650" name="Text Box 66"/>
          <p:cNvSpPr txBox="1">
            <a:spLocks noChangeArrowheads="1"/>
          </p:cNvSpPr>
          <p:nvPr/>
        </p:nvSpPr>
        <p:spPr bwMode="auto">
          <a:xfrm>
            <a:off x="1835200" y="1357299"/>
            <a:ext cx="37753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正六棱柱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拉伸体</a:t>
            </a:r>
            <a:endParaRPr lang="zh-CN" altLang="en-US" sz="2800" dirty="0"/>
          </a:p>
        </p:txBody>
      </p:sp>
      <p:sp>
        <p:nvSpPr>
          <p:cNvPr id="68" name="矩形 67"/>
          <p:cNvSpPr>
            <a:spLocks noChangeArrowheads="1"/>
          </p:cNvSpPr>
          <p:nvPr/>
        </p:nvSpPr>
        <p:spPr bwMode="auto">
          <a:xfrm>
            <a:off x="1415040" y="705492"/>
            <a:ext cx="559480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一、平面几何体的投影和表面取点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218125" y="2572375"/>
            <a:ext cx="1677126" cy="1038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245910" y="1546131"/>
            <a:ext cx="1637429" cy="20193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88513" y="5763595"/>
            <a:ext cx="1819275" cy="18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4" name="Picture 5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 rot="16200000">
            <a:off x="7267887" y="5766127"/>
            <a:ext cx="1404000" cy="139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5" name="Picture 5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 rot="16200000">
            <a:off x="7267887" y="4346920"/>
            <a:ext cx="1404000" cy="139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6" name="Picture 5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 rot="16200000">
            <a:off x="8911306" y="4346920"/>
            <a:ext cx="1404000" cy="139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0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7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67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7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7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7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76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67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676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67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676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67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67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67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67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67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67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67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67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1" dur="500"/>
                                        <p:tgtEl>
                                          <p:spTgt spid="675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67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67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2" dur="500"/>
                                        <p:tgtEl>
                                          <p:spTgt spid="675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67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8" dur="500"/>
                                        <p:tgtEl>
                                          <p:spTgt spid="67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67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 nodeType="clickPar">
                      <p:stCondLst>
                        <p:cond delay="indefinite"/>
                      </p:stCondLst>
                      <p:childTnLst>
                        <p:par>
                          <p:cTn id="1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0" dur="500"/>
                                        <p:tgtEl>
                                          <p:spTgt spid="67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 nodeType="clickPar">
                      <p:stCondLst>
                        <p:cond delay="indefinite"/>
                      </p:stCondLst>
                      <p:childTnLst>
                        <p:par>
                          <p:cTn id="2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3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 nodeType="clickPar">
                      <p:stCondLst>
                        <p:cond delay="indefinite"/>
                      </p:stCondLst>
                      <p:childTnLst>
                        <p:par>
                          <p:cTn id="2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67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 nodeType="clickPar">
                      <p:stCondLst>
                        <p:cond delay="indefinite"/>
                      </p:stCondLst>
                      <p:childTnLst>
                        <p:par>
                          <p:cTn id="2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4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91" grpId="0" autoUpdateAnimBg="0"/>
      <p:bldP spid="67592" grpId="0" autoUpdateAnimBg="0"/>
      <p:bldP spid="67593" grpId="0" autoUpdateAnimBg="0"/>
      <p:bldP spid="67594" grpId="0" animBg="1"/>
      <p:bldP spid="67595" grpId="0" animBg="1"/>
      <p:bldP spid="67597" grpId="0" animBg="1"/>
      <p:bldP spid="67598" grpId="0" autoUpdateAnimBg="0"/>
      <p:bldP spid="67599" grpId="0" autoUpdateAnimBg="0"/>
      <p:bldP spid="67600" grpId="0" animBg="1"/>
      <p:bldP spid="67601" grpId="0" animBg="1"/>
      <p:bldP spid="67602" grpId="0" animBg="1"/>
      <p:bldP spid="67603" grpId="0" animBg="1"/>
      <p:bldP spid="67604" grpId="0" animBg="1"/>
      <p:bldP spid="67605" grpId="0" animBg="1"/>
      <p:bldP spid="67618" grpId="0" animBg="1"/>
      <p:bldP spid="67622" grpId="0" animBg="1"/>
      <p:bldP spid="67623" grpId="0" animBg="1"/>
      <p:bldP spid="67630" grpId="0" animBg="1"/>
      <p:bldP spid="67634" grpId="0" animBg="1"/>
      <p:bldP spid="67635" grpId="0" autoUpdateAnimBg="0"/>
      <p:bldP spid="67639" grpId="0" animBg="1"/>
      <p:bldP spid="67640" grpId="0" animBg="1"/>
      <p:bldP spid="67641" grpId="0" animBg="1"/>
      <p:bldP spid="67642" grpId="0" animBg="1"/>
      <p:bldP spid="67649" grpId="0" autoUpdateAnimBg="0"/>
      <p:bldP spid="67650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572378" y="1911337"/>
            <a:ext cx="1584325" cy="2773363"/>
            <a:chOff x="4042" y="1584"/>
            <a:chExt cx="998" cy="1747"/>
          </a:xfrm>
        </p:grpSpPr>
        <p:sp>
          <p:nvSpPr>
            <p:cNvPr id="28765" name="Line 3"/>
            <p:cNvSpPr>
              <a:spLocks noChangeShapeType="1"/>
            </p:cNvSpPr>
            <p:nvPr/>
          </p:nvSpPr>
          <p:spPr bwMode="auto">
            <a:xfrm>
              <a:off x="4042" y="3071"/>
              <a:ext cx="0" cy="26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66" name="Line 4"/>
            <p:cNvSpPr>
              <a:spLocks noChangeShapeType="1"/>
            </p:cNvSpPr>
            <p:nvPr/>
          </p:nvSpPr>
          <p:spPr bwMode="auto">
            <a:xfrm>
              <a:off x="4800" y="1584"/>
              <a:ext cx="24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8613" name="Text Box 5"/>
          <p:cNvSpPr txBox="1">
            <a:spLocks noChangeArrowheads="1"/>
          </p:cNvSpPr>
          <p:nvPr/>
        </p:nvSpPr>
        <p:spPr bwMode="auto">
          <a:xfrm>
            <a:off x="1774041" y="4729149"/>
            <a:ext cx="4443412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00099"/>
                </a:solidFill>
                <a:latin typeface="+mn-ea"/>
                <a:ea typeface="+mn-ea"/>
              </a:rPr>
              <a:t>   </a:t>
            </a:r>
            <a:r>
              <a:rPr lang="zh-CN" altLang="en-US" sz="2400" b="1" dirty="0">
                <a:solidFill>
                  <a:srgbClr val="000099"/>
                </a:solidFill>
                <a:latin typeface="+mn-ea"/>
                <a:ea typeface="+mn-ea"/>
              </a:rPr>
              <a:t>棱锥处于图示位置时，其底面</a:t>
            </a:r>
            <a:r>
              <a:rPr lang="en-US" altLang="zh-CN" sz="2400" b="1" dirty="0">
                <a:solidFill>
                  <a:srgbClr val="000099"/>
                </a:solidFill>
                <a:latin typeface="+mn-ea"/>
                <a:ea typeface="+mn-ea"/>
              </a:rPr>
              <a:t>ABC</a:t>
            </a:r>
            <a:r>
              <a:rPr lang="zh-CN" altLang="en-US" sz="2400" b="1" dirty="0">
                <a:solidFill>
                  <a:srgbClr val="000099"/>
                </a:solidFill>
                <a:latin typeface="+mn-ea"/>
                <a:ea typeface="+mn-ea"/>
              </a:rPr>
              <a:t>是水平面，在俯视图上反映实形。侧棱面</a:t>
            </a:r>
            <a:r>
              <a:rPr lang="en-US" altLang="zh-CN" sz="2400" b="1" dirty="0">
                <a:solidFill>
                  <a:srgbClr val="000099"/>
                </a:solidFill>
                <a:latin typeface="+mn-ea"/>
                <a:ea typeface="+mn-ea"/>
              </a:rPr>
              <a:t>SAC</a:t>
            </a:r>
            <a:r>
              <a:rPr lang="zh-CN" altLang="en-US" sz="2400" b="1" dirty="0">
                <a:solidFill>
                  <a:srgbClr val="000099"/>
                </a:solidFill>
                <a:latin typeface="+mn-ea"/>
                <a:ea typeface="+mn-ea"/>
              </a:rPr>
              <a:t>为侧垂面，另两个侧棱面为一般位置平面。</a:t>
            </a:r>
          </a:p>
        </p:txBody>
      </p:sp>
      <p:sp>
        <p:nvSpPr>
          <p:cNvPr id="68614" name="Text Box 6"/>
          <p:cNvSpPr txBox="1">
            <a:spLocks noChangeArrowheads="1"/>
          </p:cNvSpPr>
          <p:nvPr/>
        </p:nvSpPr>
        <p:spPr bwMode="auto">
          <a:xfrm>
            <a:off x="9129716" y="3281319"/>
            <a:ext cx="63671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/>
              <a:t>(    )</a:t>
            </a:r>
          </a:p>
        </p:txBody>
      </p:sp>
      <p:sp>
        <p:nvSpPr>
          <p:cNvPr id="68615" name="Line 7"/>
          <p:cNvSpPr>
            <a:spLocks noChangeShapeType="1"/>
          </p:cNvSpPr>
          <p:nvPr/>
        </p:nvSpPr>
        <p:spPr bwMode="auto">
          <a:xfrm>
            <a:off x="7556502" y="1909749"/>
            <a:ext cx="1600200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16" name="Line 8"/>
          <p:cNvSpPr>
            <a:spLocks noChangeShapeType="1"/>
          </p:cNvSpPr>
          <p:nvPr/>
        </p:nvSpPr>
        <p:spPr bwMode="auto">
          <a:xfrm flipV="1">
            <a:off x="8775702" y="1681149"/>
            <a:ext cx="0" cy="2057400"/>
          </a:xfrm>
          <a:prstGeom prst="line">
            <a:avLst/>
          </a:prstGeom>
          <a:noFill/>
          <a:ln w="12700">
            <a:solidFill>
              <a:srgbClr val="CC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7413627" y="1558911"/>
            <a:ext cx="412750" cy="488950"/>
            <a:chOff x="3952" y="1766"/>
            <a:chExt cx="260" cy="308"/>
          </a:xfrm>
        </p:grpSpPr>
        <p:sp>
          <p:nvSpPr>
            <p:cNvPr id="28763" name="Text Box 10"/>
            <p:cNvSpPr txBox="1">
              <a:spLocks noChangeArrowheads="1"/>
            </p:cNvSpPr>
            <p:nvPr/>
          </p:nvSpPr>
          <p:spPr bwMode="auto">
            <a:xfrm>
              <a:off x="3969" y="1766"/>
              <a:ext cx="24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600"/>
                <a:t> </a:t>
              </a:r>
              <a:r>
                <a:rPr lang="en-US" altLang="zh-CN" i="1">
                  <a:latin typeface="Dutch801 Rm BT" panose="02020603060505020304" pitchFamily="18" charset="0"/>
                </a:rPr>
                <a:t>s</a:t>
              </a:r>
              <a:r>
                <a:rPr lang="en-US" altLang="zh-CN">
                  <a:sym typeface="Symbol" panose="05050102010706020507" pitchFamily="18" charset="2"/>
                </a:rPr>
                <a:t></a:t>
              </a:r>
            </a:p>
          </p:txBody>
        </p:sp>
        <p:sp>
          <p:nvSpPr>
            <p:cNvPr id="28764" name="Text Box 11"/>
            <p:cNvSpPr txBox="1">
              <a:spLocks noChangeArrowheads="1"/>
            </p:cNvSpPr>
            <p:nvPr/>
          </p:nvSpPr>
          <p:spPr bwMode="auto">
            <a:xfrm>
              <a:off x="3952" y="1920"/>
              <a:ext cx="17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000">
                  <a:solidFill>
                    <a:srgbClr val="FF66FF"/>
                  </a:solidFill>
                  <a:sym typeface="Wingdings" panose="05000000000000000000" pitchFamily="2" charset="2"/>
                </a:rPr>
                <a:t></a:t>
              </a:r>
              <a:endParaRPr lang="en-US" altLang="zh-CN" sz="1600"/>
            </a:p>
          </p:txBody>
        </p:sp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8956678" y="1544624"/>
            <a:ext cx="422275" cy="488950"/>
            <a:chOff x="4924" y="1766"/>
            <a:chExt cx="266" cy="308"/>
          </a:xfrm>
        </p:grpSpPr>
        <p:sp>
          <p:nvSpPr>
            <p:cNvPr id="28761" name="Text Box 13"/>
            <p:cNvSpPr txBox="1">
              <a:spLocks noChangeArrowheads="1"/>
            </p:cNvSpPr>
            <p:nvPr/>
          </p:nvSpPr>
          <p:spPr bwMode="auto">
            <a:xfrm>
              <a:off x="4924" y="1766"/>
              <a:ext cx="26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600"/>
                <a:t> </a:t>
              </a:r>
              <a:r>
                <a:rPr lang="en-US" altLang="zh-CN" i="1">
                  <a:latin typeface="Dutch801 Rm BT" panose="02020603060505020304" pitchFamily="18" charset="0"/>
                </a:rPr>
                <a:t>s</a:t>
              </a:r>
              <a:r>
                <a:rPr lang="en-US" altLang="zh-CN">
                  <a:sym typeface="Symbol" panose="05050102010706020507" pitchFamily="18" charset="2"/>
                </a:rPr>
                <a:t></a:t>
              </a:r>
            </a:p>
          </p:txBody>
        </p:sp>
        <p:sp>
          <p:nvSpPr>
            <p:cNvPr id="28762" name="Text Box 14"/>
            <p:cNvSpPr txBox="1">
              <a:spLocks noChangeArrowheads="1"/>
            </p:cNvSpPr>
            <p:nvPr/>
          </p:nvSpPr>
          <p:spPr bwMode="auto">
            <a:xfrm>
              <a:off x="4960" y="1920"/>
              <a:ext cx="17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000">
                  <a:solidFill>
                    <a:srgbClr val="FF66FF"/>
                  </a:solidFill>
                  <a:sym typeface="Wingdings" panose="05000000000000000000" pitchFamily="2" charset="2"/>
                </a:rPr>
                <a:t></a:t>
              </a:r>
              <a:endParaRPr lang="en-US" altLang="zh-CN" sz="1600"/>
            </a:p>
          </p:txBody>
        </p:sp>
      </p:grpSp>
      <p:sp>
        <p:nvSpPr>
          <p:cNvPr id="68623" name="AutoShape 15"/>
          <p:cNvSpPr>
            <a:spLocks noChangeArrowheads="1"/>
          </p:cNvSpPr>
          <p:nvPr/>
        </p:nvSpPr>
        <p:spPr bwMode="auto">
          <a:xfrm>
            <a:off x="6870702" y="1909749"/>
            <a:ext cx="1371600" cy="182880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sz="1600"/>
          </a:p>
        </p:txBody>
      </p:sp>
      <p:sp>
        <p:nvSpPr>
          <p:cNvPr id="68624" name="Line 16"/>
          <p:cNvSpPr>
            <a:spLocks noChangeShapeType="1"/>
          </p:cNvSpPr>
          <p:nvPr/>
        </p:nvSpPr>
        <p:spPr bwMode="auto">
          <a:xfrm>
            <a:off x="7556502" y="1682736"/>
            <a:ext cx="0" cy="2057400"/>
          </a:xfrm>
          <a:prstGeom prst="line">
            <a:avLst/>
          </a:prstGeom>
          <a:noFill/>
          <a:ln w="9525">
            <a:solidFill>
              <a:srgbClr val="CC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83" name="Rectangle 17"/>
          <p:cNvSpPr>
            <a:spLocks noChangeArrowheads="1"/>
          </p:cNvSpPr>
          <p:nvPr/>
        </p:nvSpPr>
        <p:spPr bwMode="auto">
          <a:xfrm>
            <a:off x="1817304" y="1446006"/>
            <a:ext cx="1769419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棱锥</a:t>
            </a:r>
            <a:endParaRPr lang="zh-CN" altLang="en-US" sz="2800" dirty="0">
              <a:solidFill>
                <a:schemeClr val="tx2"/>
              </a:solidFill>
            </a:endParaRPr>
          </a:p>
        </p:txBody>
      </p:sp>
      <p:sp>
        <p:nvSpPr>
          <p:cNvPr id="68626" name="Text Box 18"/>
          <p:cNvSpPr txBox="1">
            <a:spLocks noChangeArrowheads="1"/>
          </p:cNvSpPr>
          <p:nvPr/>
        </p:nvSpPr>
        <p:spPr bwMode="auto">
          <a:xfrm>
            <a:off x="2023024" y="3736539"/>
            <a:ext cx="25058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FF3300"/>
                </a:solidFill>
                <a:latin typeface="+mn-ea"/>
                <a:ea typeface="+mn-ea"/>
                <a:sym typeface="Symbol" panose="05050102010706020507" pitchFamily="18" charset="2"/>
              </a:rPr>
              <a:t>⑵ </a:t>
            </a:r>
            <a:r>
              <a:rPr lang="zh-CN" altLang="en-US" sz="2400" b="1" dirty="0">
                <a:solidFill>
                  <a:srgbClr val="FF3300"/>
                </a:solidFill>
                <a:latin typeface="+mn-ea"/>
                <a:ea typeface="+mn-ea"/>
                <a:sym typeface="Symbol" panose="05050102010706020507" pitchFamily="18" charset="2"/>
              </a:rPr>
              <a:t>棱锥的三视图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68627" name="Text Box 19"/>
          <p:cNvSpPr txBox="1">
            <a:spLocks noChangeArrowheads="1"/>
          </p:cNvSpPr>
          <p:nvPr/>
        </p:nvSpPr>
        <p:spPr bwMode="auto">
          <a:xfrm>
            <a:off x="2006756" y="4246675"/>
            <a:ext cx="28151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FF3300"/>
                </a:solidFill>
                <a:latin typeface="+mn-ea"/>
                <a:ea typeface="+mn-ea"/>
                <a:sym typeface="Symbol" panose="05050102010706020507" pitchFamily="18" charset="2"/>
              </a:rPr>
              <a:t>⑶ </a:t>
            </a:r>
            <a:r>
              <a:rPr lang="zh-CN" altLang="en-US" sz="2400" b="1" dirty="0">
                <a:solidFill>
                  <a:srgbClr val="FF3300"/>
                </a:solidFill>
                <a:latin typeface="+mn-ea"/>
                <a:ea typeface="+mn-ea"/>
                <a:sym typeface="Symbol" panose="05050102010706020507" pitchFamily="18" charset="2"/>
              </a:rPr>
              <a:t>在棱锥面上取点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68628" name="AutoShape 20"/>
          <p:cNvSpPr>
            <a:spLocks noChangeArrowheads="1"/>
          </p:cNvSpPr>
          <p:nvPr/>
        </p:nvSpPr>
        <p:spPr bwMode="auto">
          <a:xfrm rot="10800000">
            <a:off x="6870702" y="4271949"/>
            <a:ext cx="1371600" cy="99060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sz="1600"/>
          </a:p>
        </p:txBody>
      </p:sp>
      <p:sp>
        <p:nvSpPr>
          <p:cNvPr id="68629" name="Line 21"/>
          <p:cNvSpPr>
            <a:spLocks noChangeShapeType="1"/>
          </p:cNvSpPr>
          <p:nvPr/>
        </p:nvSpPr>
        <p:spPr bwMode="auto">
          <a:xfrm flipV="1">
            <a:off x="7556502" y="4652949"/>
            <a:ext cx="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6870702" y="4271949"/>
            <a:ext cx="1371600" cy="381000"/>
            <a:chOff x="3600" y="3504"/>
            <a:chExt cx="864" cy="240"/>
          </a:xfrm>
        </p:grpSpPr>
        <p:sp>
          <p:nvSpPr>
            <p:cNvPr id="28759" name="Line 23"/>
            <p:cNvSpPr>
              <a:spLocks noChangeShapeType="1"/>
            </p:cNvSpPr>
            <p:nvPr/>
          </p:nvSpPr>
          <p:spPr bwMode="auto">
            <a:xfrm>
              <a:off x="3600" y="3504"/>
              <a:ext cx="432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60" name="Line 24"/>
            <p:cNvSpPr>
              <a:spLocks noChangeShapeType="1"/>
            </p:cNvSpPr>
            <p:nvPr/>
          </p:nvSpPr>
          <p:spPr bwMode="auto">
            <a:xfrm flipV="1">
              <a:off x="4032" y="3504"/>
              <a:ext cx="432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8633" name="Freeform 25"/>
          <p:cNvSpPr>
            <a:spLocks/>
          </p:cNvSpPr>
          <p:nvPr/>
        </p:nvSpPr>
        <p:spPr bwMode="auto">
          <a:xfrm>
            <a:off x="8775702" y="1909749"/>
            <a:ext cx="990600" cy="1828800"/>
          </a:xfrm>
          <a:custGeom>
            <a:avLst/>
            <a:gdLst>
              <a:gd name="T0" fmla="*/ 2147483647 w 624"/>
              <a:gd name="T1" fmla="*/ 0 h 1152"/>
              <a:gd name="T2" fmla="*/ 0 w 624"/>
              <a:gd name="T3" fmla="*/ 2147483647 h 1152"/>
              <a:gd name="T4" fmla="*/ 2147483647 w 624"/>
              <a:gd name="T5" fmla="*/ 2147483647 h 1152"/>
              <a:gd name="T6" fmla="*/ 2147483647 w 624"/>
              <a:gd name="T7" fmla="*/ 0 h 1152"/>
              <a:gd name="T8" fmla="*/ 0 60000 65536"/>
              <a:gd name="T9" fmla="*/ 0 60000 65536"/>
              <a:gd name="T10" fmla="*/ 0 60000 65536"/>
              <a:gd name="T11" fmla="*/ 0 60000 65536"/>
              <a:gd name="T12" fmla="*/ 0 w 624"/>
              <a:gd name="T13" fmla="*/ 0 h 1152"/>
              <a:gd name="T14" fmla="*/ 624 w 624"/>
              <a:gd name="T15" fmla="*/ 1152 h 11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24" h="1152">
                <a:moveTo>
                  <a:pt x="240" y="0"/>
                </a:moveTo>
                <a:lnTo>
                  <a:pt x="0" y="1152"/>
                </a:lnTo>
                <a:lnTo>
                  <a:pt x="624" y="1152"/>
                </a:lnTo>
                <a:lnTo>
                  <a:pt x="240" y="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8634" name="Line 26"/>
          <p:cNvSpPr>
            <a:spLocks noChangeShapeType="1"/>
          </p:cNvSpPr>
          <p:nvPr/>
        </p:nvSpPr>
        <p:spPr bwMode="auto">
          <a:xfrm>
            <a:off x="7099302" y="3143236"/>
            <a:ext cx="2209800" cy="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35" name="Line 27"/>
          <p:cNvSpPr>
            <a:spLocks noChangeShapeType="1"/>
          </p:cNvSpPr>
          <p:nvPr/>
        </p:nvSpPr>
        <p:spPr bwMode="auto">
          <a:xfrm>
            <a:off x="7099302" y="3128949"/>
            <a:ext cx="0" cy="129540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36" name="Line 28"/>
          <p:cNvSpPr>
            <a:spLocks noChangeShapeType="1"/>
          </p:cNvSpPr>
          <p:nvPr/>
        </p:nvSpPr>
        <p:spPr bwMode="auto">
          <a:xfrm>
            <a:off x="7099302" y="4424349"/>
            <a:ext cx="457200" cy="68580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37" name="Freeform 29"/>
          <p:cNvSpPr>
            <a:spLocks/>
          </p:cNvSpPr>
          <p:nvPr/>
        </p:nvSpPr>
        <p:spPr bwMode="auto">
          <a:xfrm>
            <a:off x="7327902" y="3128949"/>
            <a:ext cx="1588" cy="1693862"/>
          </a:xfrm>
          <a:custGeom>
            <a:avLst/>
            <a:gdLst>
              <a:gd name="T0" fmla="*/ 0 w 1"/>
              <a:gd name="T1" fmla="*/ 0 h 1067"/>
              <a:gd name="T2" fmla="*/ 0 w 1"/>
              <a:gd name="T3" fmla="*/ 2147483647 h 1067"/>
              <a:gd name="T4" fmla="*/ 0 60000 65536"/>
              <a:gd name="T5" fmla="*/ 0 60000 65536"/>
              <a:gd name="T6" fmla="*/ 0 w 1"/>
              <a:gd name="T7" fmla="*/ 0 h 1067"/>
              <a:gd name="T8" fmla="*/ 1 w 1"/>
              <a:gd name="T9" fmla="*/ 1067 h 106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067">
                <a:moveTo>
                  <a:pt x="0" y="0"/>
                </a:moveTo>
                <a:lnTo>
                  <a:pt x="0" y="1067"/>
                </a:lnTo>
              </a:path>
            </a:pathLst>
          </a:custGeom>
          <a:noFill/>
          <a:ln w="1905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6" name="Group 30"/>
          <p:cNvGrpSpPr>
            <a:grpSpLocks/>
          </p:cNvGrpSpPr>
          <p:nvPr/>
        </p:nvGrpSpPr>
        <p:grpSpPr bwMode="auto">
          <a:xfrm>
            <a:off x="7121529" y="2792399"/>
            <a:ext cx="417513" cy="488950"/>
            <a:chOff x="3758" y="2572"/>
            <a:chExt cx="263" cy="308"/>
          </a:xfrm>
        </p:grpSpPr>
        <p:sp>
          <p:nvSpPr>
            <p:cNvPr id="28757" name="Text Box 31"/>
            <p:cNvSpPr txBox="1">
              <a:spLocks noChangeArrowheads="1"/>
            </p:cNvSpPr>
            <p:nvPr/>
          </p:nvSpPr>
          <p:spPr bwMode="auto">
            <a:xfrm>
              <a:off x="3802" y="2707"/>
              <a:ext cx="18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>
                  <a:solidFill>
                    <a:srgbClr val="FF3300"/>
                  </a:solidFill>
                  <a:sym typeface="Wingdings" panose="05000000000000000000" pitchFamily="2" charset="2"/>
                </a:rPr>
                <a:t></a:t>
              </a:r>
              <a:endParaRPr lang="en-US" altLang="zh-CN" sz="1600"/>
            </a:p>
          </p:txBody>
        </p:sp>
        <p:sp>
          <p:nvSpPr>
            <p:cNvPr id="28758" name="Text Box 32"/>
            <p:cNvSpPr txBox="1">
              <a:spLocks noChangeArrowheads="1"/>
            </p:cNvSpPr>
            <p:nvPr/>
          </p:nvSpPr>
          <p:spPr bwMode="auto">
            <a:xfrm>
              <a:off x="3758" y="2572"/>
              <a:ext cx="26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600"/>
                <a:t> </a:t>
              </a:r>
              <a:r>
                <a:rPr lang="en-US" altLang="zh-CN" i="1">
                  <a:latin typeface="Dutch801 Rm BT" panose="02020603060505020304" pitchFamily="18" charset="0"/>
                </a:rPr>
                <a:t>k</a:t>
              </a:r>
              <a:r>
                <a:rPr lang="en-US" altLang="zh-CN">
                  <a:sym typeface="Symbol" panose="05050102010706020507" pitchFamily="18" charset="2"/>
                </a:rPr>
                <a:t></a:t>
              </a:r>
            </a:p>
          </p:txBody>
        </p:sp>
      </p:grpSp>
      <p:grpSp>
        <p:nvGrpSpPr>
          <p:cNvPr id="7" name="Group 33"/>
          <p:cNvGrpSpPr>
            <a:grpSpLocks/>
          </p:cNvGrpSpPr>
          <p:nvPr/>
        </p:nvGrpSpPr>
        <p:grpSpPr bwMode="auto">
          <a:xfrm>
            <a:off x="7175497" y="4594219"/>
            <a:ext cx="428625" cy="369888"/>
            <a:chOff x="3792" y="3687"/>
            <a:chExt cx="270" cy="233"/>
          </a:xfrm>
        </p:grpSpPr>
        <p:sp>
          <p:nvSpPr>
            <p:cNvPr id="28755" name="Text Box 34"/>
            <p:cNvSpPr txBox="1">
              <a:spLocks noChangeArrowheads="1"/>
            </p:cNvSpPr>
            <p:nvPr/>
          </p:nvSpPr>
          <p:spPr bwMode="auto">
            <a:xfrm>
              <a:off x="3792" y="3715"/>
              <a:ext cx="18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>
                  <a:solidFill>
                    <a:srgbClr val="FF3300"/>
                  </a:solidFill>
                  <a:sym typeface="Wingdings" panose="05000000000000000000" pitchFamily="2" charset="2"/>
                </a:rPr>
                <a:t></a:t>
              </a:r>
              <a:endParaRPr lang="en-US" altLang="zh-CN" sz="1600"/>
            </a:p>
          </p:txBody>
        </p:sp>
        <p:sp>
          <p:nvSpPr>
            <p:cNvPr id="28756" name="Text Box 35"/>
            <p:cNvSpPr txBox="1">
              <a:spLocks noChangeArrowheads="1"/>
            </p:cNvSpPr>
            <p:nvPr/>
          </p:nvSpPr>
          <p:spPr bwMode="auto">
            <a:xfrm>
              <a:off x="3872" y="3687"/>
              <a:ext cx="19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latin typeface="Dutch801 Rm BT" panose="02020603060505020304" pitchFamily="18" charset="0"/>
                </a:rPr>
                <a:t>k</a:t>
              </a:r>
              <a:endParaRPr lang="en-US" altLang="zh-CN" sz="1600"/>
            </a:p>
          </p:txBody>
        </p:sp>
      </p:grpSp>
      <p:grpSp>
        <p:nvGrpSpPr>
          <p:cNvPr id="8" name="Group 36"/>
          <p:cNvGrpSpPr>
            <a:grpSpLocks/>
          </p:cNvGrpSpPr>
          <p:nvPr/>
        </p:nvGrpSpPr>
        <p:grpSpPr bwMode="auto">
          <a:xfrm>
            <a:off x="9067803" y="2808275"/>
            <a:ext cx="454025" cy="473075"/>
            <a:chOff x="4984" y="2582"/>
            <a:chExt cx="286" cy="298"/>
          </a:xfrm>
        </p:grpSpPr>
        <p:sp>
          <p:nvSpPr>
            <p:cNvPr id="28753" name="Text Box 37"/>
            <p:cNvSpPr txBox="1">
              <a:spLocks noChangeArrowheads="1"/>
            </p:cNvSpPr>
            <p:nvPr/>
          </p:nvSpPr>
          <p:spPr bwMode="auto">
            <a:xfrm>
              <a:off x="5044" y="2707"/>
              <a:ext cx="18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>
                  <a:solidFill>
                    <a:srgbClr val="FF3300"/>
                  </a:solidFill>
                  <a:sym typeface="Wingdings" panose="05000000000000000000" pitchFamily="2" charset="2"/>
                </a:rPr>
                <a:t></a:t>
              </a:r>
              <a:endParaRPr lang="en-US" altLang="zh-CN" sz="1600"/>
            </a:p>
          </p:txBody>
        </p:sp>
        <p:sp>
          <p:nvSpPr>
            <p:cNvPr id="28754" name="Text Box 38"/>
            <p:cNvSpPr txBox="1">
              <a:spLocks noChangeArrowheads="1"/>
            </p:cNvSpPr>
            <p:nvPr/>
          </p:nvSpPr>
          <p:spPr bwMode="auto">
            <a:xfrm>
              <a:off x="4984" y="2582"/>
              <a:ext cx="28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600"/>
                <a:t> </a:t>
              </a:r>
              <a:r>
                <a:rPr lang="en-US" altLang="zh-CN" i="1">
                  <a:latin typeface="Dutch801 Rm BT" panose="02020603060505020304" pitchFamily="18" charset="0"/>
                </a:rPr>
                <a:t>k</a:t>
              </a:r>
              <a:r>
                <a:rPr lang="en-US" altLang="zh-CN">
                  <a:sym typeface="Symbol" panose="05050102010706020507" pitchFamily="18" charset="2"/>
                </a:rPr>
                <a:t></a:t>
              </a:r>
            </a:p>
          </p:txBody>
        </p:sp>
      </p:grpSp>
      <p:sp>
        <p:nvSpPr>
          <p:cNvPr id="68647" name="Text Box 39"/>
          <p:cNvSpPr txBox="1">
            <a:spLocks noChangeArrowheads="1"/>
          </p:cNvSpPr>
          <p:nvPr/>
        </p:nvSpPr>
        <p:spPr bwMode="auto">
          <a:xfrm>
            <a:off x="7350127" y="3690408"/>
            <a:ext cx="4171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/>
              <a:t> </a:t>
            </a:r>
            <a:r>
              <a:rPr lang="en-US" altLang="zh-CN" i="1">
                <a:latin typeface="Dutch801 Rm BT" panose="02020603060505020304" pitchFamily="18" charset="0"/>
              </a:rPr>
              <a:t>b</a:t>
            </a:r>
            <a:r>
              <a:rPr lang="en-US" altLang="zh-CN">
                <a:sym typeface="Symbol" panose="05050102010706020507" pitchFamily="18" charset="2"/>
              </a:rPr>
              <a:t></a:t>
            </a:r>
          </a:p>
        </p:txBody>
      </p:sp>
      <p:grpSp>
        <p:nvGrpSpPr>
          <p:cNvPr id="9" name="Group 43"/>
          <p:cNvGrpSpPr>
            <a:grpSpLocks/>
          </p:cNvGrpSpPr>
          <p:nvPr/>
        </p:nvGrpSpPr>
        <p:grpSpPr bwMode="auto">
          <a:xfrm>
            <a:off x="6524626" y="4071940"/>
            <a:ext cx="1925638" cy="1414463"/>
            <a:chOff x="3150" y="2858"/>
            <a:chExt cx="1213" cy="891"/>
          </a:xfrm>
        </p:grpSpPr>
        <p:sp>
          <p:nvSpPr>
            <p:cNvPr id="28750" name="Text Box 44"/>
            <p:cNvSpPr txBox="1">
              <a:spLocks noChangeArrowheads="1"/>
            </p:cNvSpPr>
            <p:nvPr/>
          </p:nvSpPr>
          <p:spPr bwMode="auto">
            <a:xfrm>
              <a:off x="3150" y="2858"/>
              <a:ext cx="1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 dirty="0">
                  <a:latin typeface="+mn-lt"/>
                </a:rPr>
                <a:t>a</a:t>
              </a:r>
              <a:endParaRPr lang="en-US" altLang="zh-CN" sz="1600" dirty="0">
                <a:latin typeface="+mn-lt"/>
              </a:endParaRPr>
            </a:p>
          </p:txBody>
        </p:sp>
        <p:sp>
          <p:nvSpPr>
            <p:cNvPr id="28751" name="Text Box 45"/>
            <p:cNvSpPr txBox="1">
              <a:spLocks noChangeArrowheads="1"/>
            </p:cNvSpPr>
            <p:nvPr/>
          </p:nvSpPr>
          <p:spPr bwMode="auto">
            <a:xfrm>
              <a:off x="3792" y="3516"/>
              <a:ext cx="19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 dirty="0">
                  <a:latin typeface="Dutch801 Rm BT" panose="02020603060505020304" pitchFamily="18" charset="0"/>
                </a:rPr>
                <a:t>b</a:t>
              </a:r>
              <a:endParaRPr lang="en-US" altLang="zh-CN" sz="1600" dirty="0"/>
            </a:p>
          </p:txBody>
        </p:sp>
        <p:sp>
          <p:nvSpPr>
            <p:cNvPr id="28752" name="Text Box 46"/>
            <p:cNvSpPr txBox="1">
              <a:spLocks noChangeArrowheads="1"/>
            </p:cNvSpPr>
            <p:nvPr/>
          </p:nvSpPr>
          <p:spPr bwMode="auto">
            <a:xfrm>
              <a:off x="4185" y="2903"/>
              <a:ext cx="1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dirty="0">
                  <a:latin typeface="+mj-lt"/>
                </a:rPr>
                <a:t>c</a:t>
              </a:r>
              <a:endParaRPr lang="en-US" altLang="zh-CN" sz="1600" dirty="0">
                <a:latin typeface="+mj-lt"/>
              </a:endParaRPr>
            </a:p>
          </p:txBody>
        </p:sp>
      </p:grpSp>
      <p:sp>
        <p:nvSpPr>
          <p:cNvPr id="68655" name="Text Box 47"/>
          <p:cNvSpPr txBox="1">
            <a:spLocks noChangeArrowheads="1"/>
          </p:cNvSpPr>
          <p:nvPr/>
        </p:nvSpPr>
        <p:spPr bwMode="auto">
          <a:xfrm>
            <a:off x="8412165" y="3646474"/>
            <a:ext cx="7601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dirty="0">
                <a:latin typeface="+mn-lt"/>
              </a:rPr>
              <a:t> </a:t>
            </a:r>
            <a:r>
              <a:rPr lang="en-US" altLang="zh-CN" i="1" dirty="0">
                <a:latin typeface="+mn-lt"/>
              </a:rPr>
              <a:t>a</a:t>
            </a:r>
            <a:r>
              <a:rPr lang="en-US" altLang="zh-CN" dirty="0">
                <a:latin typeface="+mn-lt"/>
                <a:sym typeface="Symbol" panose="05050102010706020507" pitchFamily="18" charset="2"/>
              </a:rPr>
              <a:t></a:t>
            </a:r>
            <a:r>
              <a:rPr lang="en-US" altLang="zh-CN" sz="1600" dirty="0">
                <a:latin typeface="+mn-lt"/>
              </a:rPr>
              <a:t>(</a:t>
            </a:r>
            <a:r>
              <a:rPr lang="en-US" altLang="zh-CN" i="1" dirty="0">
                <a:latin typeface="+mn-lt"/>
              </a:rPr>
              <a:t>c</a:t>
            </a:r>
            <a:r>
              <a:rPr lang="en-US" altLang="zh-CN" dirty="0">
                <a:latin typeface="+mn-lt"/>
                <a:sym typeface="Symbol" panose="05050102010706020507" pitchFamily="18" charset="2"/>
              </a:rPr>
              <a:t></a:t>
            </a:r>
            <a:r>
              <a:rPr lang="en-US" altLang="zh-CN" sz="1600" dirty="0">
                <a:latin typeface="+mn-lt"/>
              </a:rPr>
              <a:t>)</a:t>
            </a:r>
          </a:p>
        </p:txBody>
      </p:sp>
      <p:sp>
        <p:nvSpPr>
          <p:cNvPr id="68656" name="Text Box 48"/>
          <p:cNvSpPr txBox="1">
            <a:spLocks noChangeArrowheads="1"/>
          </p:cNvSpPr>
          <p:nvPr/>
        </p:nvSpPr>
        <p:spPr bwMode="auto">
          <a:xfrm>
            <a:off x="9698040" y="3690408"/>
            <a:ext cx="3962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latin typeface="Dutch801 Rm BT" panose="02020603060505020304" pitchFamily="18" charset="0"/>
              </a:rPr>
              <a:t>b</a:t>
            </a:r>
            <a:r>
              <a:rPr lang="en-US" altLang="zh-CN">
                <a:sym typeface="Symbol" panose="05050102010706020507" pitchFamily="18" charset="2"/>
              </a:rPr>
              <a:t></a:t>
            </a:r>
          </a:p>
        </p:txBody>
      </p:sp>
      <p:sp>
        <p:nvSpPr>
          <p:cNvPr id="68657" name="Line 49"/>
          <p:cNvSpPr>
            <a:spLocks noChangeShapeType="1"/>
          </p:cNvSpPr>
          <p:nvPr/>
        </p:nvSpPr>
        <p:spPr bwMode="auto">
          <a:xfrm>
            <a:off x="6642102" y="3738549"/>
            <a:ext cx="1752600" cy="0"/>
          </a:xfrm>
          <a:prstGeom prst="line">
            <a:avLst/>
          </a:prstGeom>
          <a:noFill/>
          <a:ln w="9525">
            <a:solidFill>
              <a:srgbClr val="CC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58" name="Line 50"/>
          <p:cNvSpPr>
            <a:spLocks noChangeShapeType="1"/>
          </p:cNvSpPr>
          <p:nvPr/>
        </p:nvSpPr>
        <p:spPr bwMode="auto">
          <a:xfrm>
            <a:off x="8623302" y="3738549"/>
            <a:ext cx="1371600" cy="0"/>
          </a:xfrm>
          <a:prstGeom prst="line">
            <a:avLst/>
          </a:prstGeom>
          <a:noFill/>
          <a:ln w="9525">
            <a:solidFill>
              <a:srgbClr val="CC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" name="Group 51"/>
          <p:cNvGrpSpPr>
            <a:grpSpLocks/>
          </p:cNvGrpSpPr>
          <p:nvPr/>
        </p:nvGrpSpPr>
        <p:grpSpPr bwMode="auto">
          <a:xfrm>
            <a:off x="6870702" y="3740136"/>
            <a:ext cx="1371600" cy="533400"/>
            <a:chOff x="3600" y="3168"/>
            <a:chExt cx="864" cy="336"/>
          </a:xfrm>
        </p:grpSpPr>
        <p:sp>
          <p:nvSpPr>
            <p:cNvPr id="28748" name="Line 52"/>
            <p:cNvSpPr>
              <a:spLocks noChangeShapeType="1"/>
            </p:cNvSpPr>
            <p:nvPr/>
          </p:nvSpPr>
          <p:spPr bwMode="auto">
            <a:xfrm>
              <a:off x="3600" y="3168"/>
              <a:ext cx="0" cy="33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49" name="Line 53"/>
            <p:cNvSpPr>
              <a:spLocks noChangeShapeType="1"/>
            </p:cNvSpPr>
            <p:nvPr/>
          </p:nvSpPr>
          <p:spPr bwMode="auto">
            <a:xfrm>
              <a:off x="4464" y="3168"/>
              <a:ext cx="0" cy="33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8662" name="Line 54"/>
          <p:cNvSpPr>
            <a:spLocks noChangeShapeType="1"/>
          </p:cNvSpPr>
          <p:nvPr/>
        </p:nvSpPr>
        <p:spPr bwMode="auto">
          <a:xfrm>
            <a:off x="6870702" y="3738549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63" name="Line 55"/>
          <p:cNvSpPr>
            <a:spLocks noChangeShapeType="1"/>
          </p:cNvSpPr>
          <p:nvPr/>
        </p:nvSpPr>
        <p:spPr bwMode="auto">
          <a:xfrm>
            <a:off x="8775702" y="3736961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" name="Group 56"/>
          <p:cNvGrpSpPr>
            <a:grpSpLocks/>
          </p:cNvGrpSpPr>
          <p:nvPr/>
        </p:nvGrpSpPr>
        <p:grpSpPr bwMode="auto">
          <a:xfrm>
            <a:off x="7427915" y="4246549"/>
            <a:ext cx="280987" cy="544512"/>
            <a:chOff x="3951" y="3064"/>
            <a:chExt cx="177" cy="343"/>
          </a:xfrm>
        </p:grpSpPr>
        <p:sp>
          <p:nvSpPr>
            <p:cNvPr id="28746" name="Text Box 57"/>
            <p:cNvSpPr txBox="1">
              <a:spLocks noChangeArrowheads="1"/>
            </p:cNvSpPr>
            <p:nvPr/>
          </p:nvSpPr>
          <p:spPr bwMode="auto">
            <a:xfrm>
              <a:off x="3951" y="3064"/>
              <a:ext cx="17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latin typeface="Dutch801 Rm BT" panose="02020603060505020304" pitchFamily="18" charset="0"/>
                </a:rPr>
                <a:t>s</a:t>
              </a:r>
              <a:endParaRPr lang="en-US" altLang="zh-CN" sz="1600"/>
            </a:p>
          </p:txBody>
        </p:sp>
        <p:sp>
          <p:nvSpPr>
            <p:cNvPr id="28747" name="Text Box 58"/>
            <p:cNvSpPr txBox="1">
              <a:spLocks noChangeArrowheads="1"/>
            </p:cNvSpPr>
            <p:nvPr/>
          </p:nvSpPr>
          <p:spPr bwMode="auto">
            <a:xfrm>
              <a:off x="3952" y="3253"/>
              <a:ext cx="17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000">
                  <a:solidFill>
                    <a:srgbClr val="FF66FF"/>
                  </a:solidFill>
                  <a:sym typeface="Wingdings" panose="05000000000000000000" pitchFamily="2" charset="2"/>
                </a:rPr>
                <a:t></a:t>
              </a:r>
              <a:endParaRPr lang="en-US" altLang="zh-CN" sz="1600"/>
            </a:p>
          </p:txBody>
        </p:sp>
      </p:grpSp>
      <p:grpSp>
        <p:nvGrpSpPr>
          <p:cNvPr id="12" name="Group 59"/>
          <p:cNvGrpSpPr>
            <a:grpSpLocks/>
          </p:cNvGrpSpPr>
          <p:nvPr/>
        </p:nvGrpSpPr>
        <p:grpSpPr bwMode="auto">
          <a:xfrm>
            <a:off x="7327902" y="3128949"/>
            <a:ext cx="1981200" cy="1600200"/>
            <a:chOff x="3888" y="2351"/>
            <a:chExt cx="1248" cy="1008"/>
          </a:xfrm>
        </p:grpSpPr>
        <p:sp>
          <p:nvSpPr>
            <p:cNvPr id="28744" name="Line 60"/>
            <p:cNvSpPr>
              <a:spLocks noChangeShapeType="1"/>
            </p:cNvSpPr>
            <p:nvPr/>
          </p:nvSpPr>
          <p:spPr bwMode="auto">
            <a:xfrm>
              <a:off x="3888" y="3071"/>
              <a:ext cx="0" cy="28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45" name="Line 61"/>
            <p:cNvSpPr>
              <a:spLocks noChangeShapeType="1"/>
            </p:cNvSpPr>
            <p:nvPr/>
          </p:nvSpPr>
          <p:spPr bwMode="auto">
            <a:xfrm>
              <a:off x="4800" y="2351"/>
              <a:ext cx="336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8670" name="Line 62"/>
          <p:cNvSpPr>
            <a:spLocks noChangeShapeType="1"/>
          </p:cNvSpPr>
          <p:nvPr/>
        </p:nvSpPr>
        <p:spPr bwMode="auto">
          <a:xfrm>
            <a:off x="7556502" y="1911336"/>
            <a:ext cx="381000" cy="18288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71" name="Line 63"/>
          <p:cNvSpPr>
            <a:spLocks noChangeShapeType="1"/>
          </p:cNvSpPr>
          <p:nvPr/>
        </p:nvSpPr>
        <p:spPr bwMode="auto">
          <a:xfrm>
            <a:off x="7937502" y="3740136"/>
            <a:ext cx="0" cy="9906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72" name="Line 64"/>
          <p:cNvSpPr>
            <a:spLocks noChangeShapeType="1"/>
          </p:cNvSpPr>
          <p:nvPr/>
        </p:nvSpPr>
        <p:spPr bwMode="auto">
          <a:xfrm>
            <a:off x="7556502" y="4654536"/>
            <a:ext cx="381000" cy="762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73" name="Line 65"/>
          <p:cNvSpPr>
            <a:spLocks noChangeShapeType="1"/>
          </p:cNvSpPr>
          <p:nvPr/>
        </p:nvSpPr>
        <p:spPr bwMode="auto">
          <a:xfrm>
            <a:off x="7861302" y="3359136"/>
            <a:ext cx="0" cy="13716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74" name="Line 66"/>
          <p:cNvSpPr>
            <a:spLocks noChangeShapeType="1"/>
          </p:cNvSpPr>
          <p:nvPr/>
        </p:nvSpPr>
        <p:spPr bwMode="auto">
          <a:xfrm>
            <a:off x="7861302" y="3359136"/>
            <a:ext cx="1371600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3" name="Group 67"/>
          <p:cNvGrpSpPr>
            <a:grpSpLocks/>
          </p:cNvGrpSpPr>
          <p:nvPr/>
        </p:nvGrpSpPr>
        <p:grpSpPr bwMode="auto">
          <a:xfrm>
            <a:off x="9056690" y="3230555"/>
            <a:ext cx="544512" cy="401638"/>
            <a:chOff x="2817" y="2802"/>
            <a:chExt cx="343" cy="253"/>
          </a:xfrm>
        </p:grpSpPr>
        <p:sp>
          <p:nvSpPr>
            <p:cNvPr id="28742" name="Text Box 68"/>
            <p:cNvSpPr txBox="1">
              <a:spLocks noChangeArrowheads="1"/>
            </p:cNvSpPr>
            <p:nvPr/>
          </p:nvSpPr>
          <p:spPr bwMode="auto">
            <a:xfrm>
              <a:off x="2817" y="2802"/>
              <a:ext cx="18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>
                  <a:solidFill>
                    <a:srgbClr val="FF3300"/>
                  </a:solidFill>
                  <a:sym typeface="Wingdings" panose="05000000000000000000" pitchFamily="2" charset="2"/>
                </a:rPr>
                <a:t></a:t>
              </a:r>
              <a:endParaRPr lang="en-US" altLang="zh-CN" sz="1600"/>
            </a:p>
          </p:txBody>
        </p:sp>
        <p:sp>
          <p:nvSpPr>
            <p:cNvPr id="28743" name="Text Box 69"/>
            <p:cNvSpPr txBox="1">
              <a:spLocks noChangeArrowheads="1"/>
            </p:cNvSpPr>
            <p:nvPr/>
          </p:nvSpPr>
          <p:spPr bwMode="auto">
            <a:xfrm>
              <a:off x="2869" y="2822"/>
              <a:ext cx="2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600"/>
                <a:t> </a:t>
              </a:r>
              <a:r>
                <a:rPr lang="en-US" altLang="zh-CN" i="1">
                  <a:latin typeface="Dutch801 Rm BT" panose="02020603060505020304" pitchFamily="18" charset="0"/>
                </a:rPr>
                <a:t>n</a:t>
              </a:r>
              <a:r>
                <a:rPr lang="en-US" altLang="zh-CN">
                  <a:sym typeface="Symbol" panose="05050102010706020507" pitchFamily="18" charset="2"/>
                </a:rPr>
                <a:t></a:t>
              </a:r>
            </a:p>
          </p:txBody>
        </p:sp>
      </p:grpSp>
      <p:grpSp>
        <p:nvGrpSpPr>
          <p:cNvPr id="14" name="Group 70"/>
          <p:cNvGrpSpPr>
            <a:grpSpLocks/>
          </p:cNvGrpSpPr>
          <p:nvPr/>
        </p:nvGrpSpPr>
        <p:grpSpPr bwMode="auto">
          <a:xfrm>
            <a:off x="7861302" y="3359136"/>
            <a:ext cx="1371600" cy="1371600"/>
            <a:chOff x="4224" y="2496"/>
            <a:chExt cx="864" cy="864"/>
          </a:xfrm>
        </p:grpSpPr>
        <p:sp>
          <p:nvSpPr>
            <p:cNvPr id="28740" name="Line 71"/>
            <p:cNvSpPr>
              <a:spLocks noChangeShapeType="1"/>
            </p:cNvSpPr>
            <p:nvPr/>
          </p:nvSpPr>
          <p:spPr bwMode="auto">
            <a:xfrm>
              <a:off x="4224" y="3072"/>
              <a:ext cx="0" cy="288"/>
            </a:xfrm>
            <a:prstGeom prst="line">
              <a:avLst/>
            </a:prstGeom>
            <a:noFill/>
            <a:ln w="38100">
              <a:solidFill>
                <a:srgbClr val="99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41" name="Line 72"/>
            <p:cNvSpPr>
              <a:spLocks noChangeShapeType="1"/>
            </p:cNvSpPr>
            <p:nvPr/>
          </p:nvSpPr>
          <p:spPr bwMode="auto">
            <a:xfrm>
              <a:off x="4800" y="2496"/>
              <a:ext cx="288" cy="0"/>
            </a:xfrm>
            <a:prstGeom prst="line">
              <a:avLst/>
            </a:prstGeom>
            <a:noFill/>
            <a:ln w="38100">
              <a:solidFill>
                <a:srgbClr val="99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8681" name="Text Box 73"/>
          <p:cNvSpPr txBox="1">
            <a:spLocks noChangeArrowheads="1"/>
          </p:cNvSpPr>
          <p:nvPr/>
        </p:nvSpPr>
        <p:spPr bwMode="auto">
          <a:xfrm>
            <a:off x="2025510" y="1921975"/>
            <a:ext cx="21964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⑴ </a:t>
            </a: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棱锥的组成</a:t>
            </a:r>
          </a:p>
        </p:txBody>
      </p:sp>
      <p:grpSp>
        <p:nvGrpSpPr>
          <p:cNvPr id="15" name="Group 74"/>
          <p:cNvGrpSpPr>
            <a:grpSpLocks/>
          </p:cNvGrpSpPr>
          <p:nvPr/>
        </p:nvGrpSpPr>
        <p:grpSpPr bwMode="auto">
          <a:xfrm>
            <a:off x="7556502" y="3738549"/>
            <a:ext cx="2209800" cy="1524000"/>
            <a:chOff x="4032" y="2736"/>
            <a:chExt cx="1392" cy="960"/>
          </a:xfrm>
        </p:grpSpPr>
        <p:sp>
          <p:nvSpPr>
            <p:cNvPr id="28738" name="Line 75"/>
            <p:cNvSpPr>
              <a:spLocks noChangeShapeType="1"/>
            </p:cNvSpPr>
            <p:nvPr/>
          </p:nvSpPr>
          <p:spPr bwMode="auto">
            <a:xfrm>
              <a:off x="4032" y="3072"/>
              <a:ext cx="0" cy="62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39" name="Line 76"/>
            <p:cNvSpPr>
              <a:spLocks noChangeShapeType="1"/>
            </p:cNvSpPr>
            <p:nvPr/>
          </p:nvSpPr>
          <p:spPr bwMode="auto">
            <a:xfrm>
              <a:off x="4800" y="2736"/>
              <a:ext cx="624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8685" name="Line 77"/>
          <p:cNvSpPr>
            <a:spLocks noChangeShapeType="1"/>
          </p:cNvSpPr>
          <p:nvPr/>
        </p:nvSpPr>
        <p:spPr bwMode="auto">
          <a:xfrm flipV="1">
            <a:off x="7556502" y="3663937"/>
            <a:ext cx="0" cy="1598613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86" name="Line 78"/>
          <p:cNvSpPr>
            <a:spLocks noChangeShapeType="1"/>
          </p:cNvSpPr>
          <p:nvPr/>
        </p:nvSpPr>
        <p:spPr bwMode="auto">
          <a:xfrm flipV="1">
            <a:off x="7556502" y="1911336"/>
            <a:ext cx="0" cy="1828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6" name="Group 79"/>
          <p:cNvGrpSpPr>
            <a:grpSpLocks/>
          </p:cNvGrpSpPr>
          <p:nvPr/>
        </p:nvGrpSpPr>
        <p:grpSpPr bwMode="auto">
          <a:xfrm>
            <a:off x="7634290" y="3022586"/>
            <a:ext cx="425450" cy="488950"/>
            <a:chOff x="3755" y="2572"/>
            <a:chExt cx="268" cy="308"/>
          </a:xfrm>
        </p:grpSpPr>
        <p:sp>
          <p:nvSpPr>
            <p:cNvPr id="28736" name="Text Box 80"/>
            <p:cNvSpPr txBox="1">
              <a:spLocks noChangeArrowheads="1"/>
            </p:cNvSpPr>
            <p:nvPr/>
          </p:nvSpPr>
          <p:spPr bwMode="auto">
            <a:xfrm>
              <a:off x="3802" y="2707"/>
              <a:ext cx="18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>
                  <a:solidFill>
                    <a:srgbClr val="FF3300"/>
                  </a:solidFill>
                  <a:sym typeface="Wingdings" panose="05000000000000000000" pitchFamily="2" charset="2"/>
                </a:rPr>
                <a:t></a:t>
              </a:r>
              <a:endParaRPr lang="en-US" altLang="zh-CN" sz="1600"/>
            </a:p>
          </p:txBody>
        </p:sp>
        <p:sp>
          <p:nvSpPr>
            <p:cNvPr id="28737" name="Text Box 81"/>
            <p:cNvSpPr txBox="1">
              <a:spLocks noChangeArrowheads="1"/>
            </p:cNvSpPr>
            <p:nvPr/>
          </p:nvSpPr>
          <p:spPr bwMode="auto">
            <a:xfrm>
              <a:off x="3755" y="2572"/>
              <a:ext cx="26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600"/>
                <a:t> </a:t>
              </a:r>
              <a:r>
                <a:rPr lang="en-US" altLang="zh-CN" i="1">
                  <a:latin typeface="Dutch801 Rm BT" panose="02020603060505020304" pitchFamily="18" charset="0"/>
                </a:rPr>
                <a:t>n</a:t>
              </a:r>
              <a:r>
                <a:rPr lang="en-US" altLang="zh-CN">
                  <a:sym typeface="Symbol" panose="05050102010706020507" pitchFamily="18" charset="2"/>
                </a:rPr>
                <a:t></a:t>
              </a:r>
            </a:p>
          </p:txBody>
        </p:sp>
      </p:grpSp>
      <p:sp>
        <p:nvSpPr>
          <p:cNvPr id="68698" name="Text Box 90"/>
          <p:cNvSpPr txBox="1">
            <a:spLocks noChangeArrowheads="1"/>
          </p:cNvSpPr>
          <p:nvPr/>
        </p:nvSpPr>
        <p:spPr bwMode="auto">
          <a:xfrm>
            <a:off x="1651002" y="2428976"/>
            <a:ext cx="408780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+mn-ea"/>
                <a:ea typeface="+mn-ea"/>
              </a:rPr>
              <a:t>    </a:t>
            </a:r>
            <a:r>
              <a:rPr lang="zh-CN" altLang="en-US" sz="2400" b="1" dirty="0">
                <a:latin typeface="+mn-ea"/>
                <a:ea typeface="+mn-ea"/>
              </a:rPr>
              <a:t>由</a:t>
            </a:r>
            <a:r>
              <a:rPr lang="zh-CN" altLang="en-US" sz="2400" b="1" dirty="0">
                <a:solidFill>
                  <a:srgbClr val="000099"/>
                </a:solidFill>
                <a:latin typeface="+mn-ea"/>
                <a:ea typeface="+mn-ea"/>
              </a:rPr>
              <a:t>一个底面和若干侧棱面</a:t>
            </a:r>
            <a:r>
              <a:rPr lang="zh-CN" altLang="en-US" sz="2400" b="1" dirty="0">
                <a:latin typeface="+mn-ea"/>
                <a:ea typeface="+mn-ea"/>
              </a:rPr>
              <a:t>组成。</a:t>
            </a:r>
            <a:r>
              <a:rPr lang="zh-CN" altLang="en-US" sz="2400" b="1" dirty="0">
                <a:solidFill>
                  <a:srgbClr val="000099"/>
                </a:solidFill>
                <a:latin typeface="+mn-ea"/>
                <a:ea typeface="+mn-ea"/>
              </a:rPr>
              <a:t>侧棱线交于有限远的一点</a:t>
            </a:r>
            <a:r>
              <a:rPr lang="en-US" altLang="zh-CN" sz="2400" b="1" dirty="0">
                <a:solidFill>
                  <a:srgbClr val="000099"/>
                </a:solidFill>
                <a:latin typeface="+mn-ea"/>
                <a:ea typeface="+mn-ea"/>
              </a:rPr>
              <a:t>——</a:t>
            </a:r>
            <a:r>
              <a:rPr lang="zh-CN" altLang="en-US" sz="2400" b="1" dirty="0">
                <a:solidFill>
                  <a:srgbClr val="000099"/>
                </a:solidFill>
                <a:latin typeface="+mn-ea"/>
                <a:ea typeface="+mn-ea"/>
              </a:rPr>
              <a:t>锥顶。</a:t>
            </a:r>
          </a:p>
        </p:txBody>
      </p:sp>
      <p:sp>
        <p:nvSpPr>
          <p:cNvPr id="68699" name="Text Box 91"/>
          <p:cNvSpPr txBox="1">
            <a:spLocks noChangeArrowheads="1"/>
          </p:cNvSpPr>
          <p:nvPr/>
        </p:nvSpPr>
        <p:spPr bwMode="auto">
          <a:xfrm>
            <a:off x="1747266" y="4793800"/>
            <a:ext cx="43878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chemeClr val="accent2"/>
                </a:solidFill>
                <a:latin typeface="+mn-ea"/>
                <a:ea typeface="+mn-ea"/>
              </a:rPr>
              <a:t>    </a:t>
            </a:r>
            <a:r>
              <a:rPr lang="zh-CN" altLang="en-US" sz="2400" b="1" dirty="0">
                <a:solidFill>
                  <a:schemeClr val="accent2"/>
                </a:solidFill>
                <a:latin typeface="+mn-ea"/>
                <a:ea typeface="+mn-ea"/>
              </a:rPr>
              <a:t>同样采用平面上取点法。</a:t>
            </a:r>
          </a:p>
        </p:txBody>
      </p:sp>
      <p:grpSp>
        <p:nvGrpSpPr>
          <p:cNvPr id="18" name="Group 92"/>
          <p:cNvGrpSpPr>
            <a:grpSpLocks/>
          </p:cNvGrpSpPr>
          <p:nvPr/>
        </p:nvGrpSpPr>
        <p:grpSpPr bwMode="auto">
          <a:xfrm>
            <a:off x="7526340" y="4530719"/>
            <a:ext cx="481012" cy="369888"/>
            <a:chOff x="3149" y="3782"/>
            <a:chExt cx="303" cy="233"/>
          </a:xfrm>
        </p:grpSpPr>
        <p:sp>
          <p:nvSpPr>
            <p:cNvPr id="28732" name="Text Box 93"/>
            <p:cNvSpPr txBox="1">
              <a:spLocks noChangeArrowheads="1"/>
            </p:cNvSpPr>
            <p:nvPr/>
          </p:nvSpPr>
          <p:spPr bwMode="auto">
            <a:xfrm>
              <a:off x="3264" y="3811"/>
              <a:ext cx="18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>
                  <a:solidFill>
                    <a:srgbClr val="FF3300"/>
                  </a:solidFill>
                  <a:sym typeface="Wingdings" panose="05000000000000000000" pitchFamily="2" charset="2"/>
                </a:rPr>
                <a:t></a:t>
              </a:r>
              <a:endParaRPr lang="en-US" altLang="zh-CN" sz="1600"/>
            </a:p>
          </p:txBody>
        </p:sp>
        <p:sp>
          <p:nvSpPr>
            <p:cNvPr id="28733" name="Text Box 94"/>
            <p:cNvSpPr txBox="1">
              <a:spLocks noChangeArrowheads="1"/>
            </p:cNvSpPr>
            <p:nvPr/>
          </p:nvSpPr>
          <p:spPr bwMode="auto">
            <a:xfrm>
              <a:off x="3149" y="3782"/>
              <a:ext cx="19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latin typeface="Dutch801 Rm BT" panose="02020603060505020304" pitchFamily="18" charset="0"/>
                </a:rPr>
                <a:t>n</a:t>
              </a:r>
              <a:endParaRPr lang="en-US" altLang="zh-CN" sz="1600"/>
            </a:p>
          </p:txBody>
        </p:sp>
      </p:grpSp>
      <p:grpSp>
        <p:nvGrpSpPr>
          <p:cNvPr id="19" name="Group 100"/>
          <p:cNvGrpSpPr>
            <a:grpSpLocks/>
          </p:cNvGrpSpPr>
          <p:nvPr/>
        </p:nvGrpSpPr>
        <p:grpSpPr bwMode="auto">
          <a:xfrm>
            <a:off x="7953388" y="4057520"/>
            <a:ext cx="2285323" cy="2743464"/>
            <a:chOff x="2870" y="178"/>
            <a:chExt cx="1299" cy="1636"/>
          </a:xfrm>
        </p:grpSpPr>
        <p:sp>
          <p:nvSpPr>
            <p:cNvPr id="28728" name="Text Box 96"/>
            <p:cNvSpPr txBox="1">
              <a:spLocks noChangeArrowheads="1"/>
            </p:cNvSpPr>
            <p:nvPr/>
          </p:nvSpPr>
          <p:spPr bwMode="auto">
            <a:xfrm>
              <a:off x="2870" y="1242"/>
              <a:ext cx="171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A</a:t>
              </a:r>
              <a:endParaRPr lang="en-US" altLang="zh-CN"/>
            </a:p>
          </p:txBody>
        </p:sp>
        <p:sp>
          <p:nvSpPr>
            <p:cNvPr id="28729" name="Text Box 97"/>
            <p:cNvSpPr txBox="1">
              <a:spLocks noChangeArrowheads="1"/>
            </p:cNvSpPr>
            <p:nvPr/>
          </p:nvSpPr>
          <p:spPr bwMode="auto">
            <a:xfrm>
              <a:off x="3430" y="1594"/>
              <a:ext cx="171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B</a:t>
              </a:r>
              <a:endParaRPr lang="en-US" altLang="zh-CN"/>
            </a:p>
          </p:txBody>
        </p:sp>
        <p:sp>
          <p:nvSpPr>
            <p:cNvPr id="28730" name="Text Box 98"/>
            <p:cNvSpPr txBox="1">
              <a:spLocks noChangeArrowheads="1"/>
            </p:cNvSpPr>
            <p:nvPr/>
          </p:nvSpPr>
          <p:spPr bwMode="auto">
            <a:xfrm>
              <a:off x="3998" y="1130"/>
              <a:ext cx="171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 dirty="0">
                  <a:latin typeface="宋体" panose="02010600030101010101" pitchFamily="2" charset="-122"/>
                </a:rPr>
                <a:t>C</a:t>
              </a:r>
              <a:endParaRPr lang="en-US" altLang="zh-CN" dirty="0"/>
            </a:p>
          </p:txBody>
        </p:sp>
        <p:sp>
          <p:nvSpPr>
            <p:cNvPr id="28731" name="Text Box 99"/>
            <p:cNvSpPr txBox="1">
              <a:spLocks noChangeArrowheads="1"/>
            </p:cNvSpPr>
            <p:nvPr/>
          </p:nvSpPr>
          <p:spPr bwMode="auto">
            <a:xfrm>
              <a:off x="3462" y="178"/>
              <a:ext cx="171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 dirty="0">
                  <a:latin typeface="宋体" panose="02010600030101010101" pitchFamily="2" charset="-122"/>
                </a:rPr>
                <a:t>S</a:t>
              </a:r>
              <a:endParaRPr lang="en-US" altLang="zh-CN" dirty="0"/>
            </a:p>
          </p:txBody>
        </p:sp>
      </p:grpSp>
      <p:grpSp>
        <p:nvGrpSpPr>
          <p:cNvPr id="20" name="Group 40"/>
          <p:cNvGrpSpPr>
            <a:grpSpLocks/>
          </p:cNvGrpSpPr>
          <p:nvPr/>
        </p:nvGrpSpPr>
        <p:grpSpPr bwMode="auto">
          <a:xfrm>
            <a:off x="6453191" y="3602029"/>
            <a:ext cx="2090738" cy="458788"/>
            <a:chOff x="3337" y="3081"/>
            <a:chExt cx="1317" cy="289"/>
          </a:xfrm>
        </p:grpSpPr>
        <p:sp>
          <p:nvSpPr>
            <p:cNvPr id="28726" name="Text Box 41"/>
            <p:cNvSpPr txBox="1">
              <a:spLocks noChangeArrowheads="1"/>
            </p:cNvSpPr>
            <p:nvPr/>
          </p:nvSpPr>
          <p:spPr bwMode="auto">
            <a:xfrm>
              <a:off x="3337" y="3081"/>
              <a:ext cx="25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600" dirty="0">
                  <a:latin typeface="+mn-lt"/>
                </a:rPr>
                <a:t> </a:t>
              </a:r>
              <a:r>
                <a:rPr lang="en-US" altLang="zh-CN" i="1" dirty="0">
                  <a:latin typeface="+mn-lt"/>
                </a:rPr>
                <a:t>a</a:t>
              </a:r>
              <a:r>
                <a:rPr lang="en-US" altLang="zh-CN" dirty="0">
                  <a:latin typeface="+mn-lt"/>
                  <a:sym typeface="Symbol" panose="05050102010706020507" pitchFamily="18" charset="2"/>
                </a:rPr>
                <a:t></a:t>
              </a:r>
            </a:p>
          </p:txBody>
        </p:sp>
        <p:sp>
          <p:nvSpPr>
            <p:cNvPr id="28727" name="Text Box 42"/>
            <p:cNvSpPr txBox="1">
              <a:spLocks noChangeArrowheads="1"/>
            </p:cNvSpPr>
            <p:nvPr/>
          </p:nvSpPr>
          <p:spPr bwMode="auto">
            <a:xfrm>
              <a:off x="4392" y="3137"/>
              <a:ext cx="26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600"/>
                <a:t> </a:t>
              </a:r>
              <a:r>
                <a:rPr lang="en-US" altLang="zh-CN"/>
                <a:t>c</a:t>
              </a:r>
              <a:r>
                <a:rPr lang="en-US" altLang="zh-CN">
                  <a:sym typeface="Symbol" panose="05050102010706020507" pitchFamily="18" charset="2"/>
                </a:rPr>
                <a:t></a:t>
              </a:r>
            </a:p>
          </p:txBody>
        </p:sp>
      </p:grpSp>
      <p:sp>
        <p:nvSpPr>
          <p:cNvPr id="95" name="矩形 94"/>
          <p:cNvSpPr>
            <a:spLocks noChangeArrowheads="1"/>
          </p:cNvSpPr>
          <p:nvPr/>
        </p:nvSpPr>
        <p:spPr bwMode="auto">
          <a:xfrm>
            <a:off x="1491996" y="607237"/>
            <a:ext cx="559480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一、平面几何体的投影和表面取点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145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239140" y="4429133"/>
            <a:ext cx="1714512" cy="20893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6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68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8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8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8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8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8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68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68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8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75"/>
                                        <p:tgtEl>
                                          <p:spTgt spid="686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75"/>
                                        <p:tgtEl>
                                          <p:spTgt spid="686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68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686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686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68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68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68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3" dur="500"/>
                                        <p:tgtEl>
                                          <p:spTgt spid="68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8" dur="500"/>
                                        <p:tgtEl>
                                          <p:spTgt spid="686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68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68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9" dur="500"/>
                                        <p:tgtEl>
                                          <p:spTgt spid="68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 nodeType="clickPar">
                      <p:stCondLst>
                        <p:cond delay="indefinite"/>
                      </p:stCondLst>
                      <p:childTnLst>
                        <p:par>
                          <p:cTn id="1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68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1" dur="500"/>
                                        <p:tgtEl>
                                          <p:spTgt spid="68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6" dur="500"/>
                                        <p:tgtEl>
                                          <p:spTgt spid="68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 nodeType="clickPar">
                      <p:stCondLst>
                        <p:cond delay="indefinite"/>
                      </p:stCondLst>
                      <p:childTnLst>
                        <p:par>
                          <p:cTn id="1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1" dur="500"/>
                                        <p:tgtEl>
                                          <p:spTgt spid="68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 nodeType="clickPar">
                      <p:stCondLst>
                        <p:cond delay="indefinite"/>
                      </p:stCondLst>
                      <p:childTnLst>
                        <p:par>
                          <p:cTn id="2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4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 nodeType="clickPar">
                      <p:stCondLst>
                        <p:cond delay="indefinite"/>
                      </p:stCondLst>
                      <p:childTnLst>
                        <p:par>
                          <p:cTn id="2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 nodeType="clickPar">
                      <p:stCondLst>
                        <p:cond delay="indefinite"/>
                      </p:stCondLst>
                      <p:childTnLst>
                        <p:par>
                          <p:cTn id="2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4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 nodeType="clickPar">
                      <p:stCondLst>
                        <p:cond delay="indefinite"/>
                      </p:stCondLst>
                      <p:childTnLst>
                        <p:par>
                          <p:cTn id="2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2" dur="500"/>
                                        <p:tgtEl>
                                          <p:spTgt spid="68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 nodeType="clickPar">
                      <p:stCondLst>
                        <p:cond delay="indefinite"/>
                      </p:stCondLst>
                      <p:childTnLst>
                        <p:par>
                          <p:cTn id="2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7" dur="500"/>
                                        <p:tgtEl>
                                          <p:spTgt spid="68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 nodeType="clickPar">
                      <p:stCondLst>
                        <p:cond delay="indefinite"/>
                      </p:stCondLst>
                      <p:childTnLst>
                        <p:par>
                          <p:cTn id="2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2" dur="500"/>
                                        <p:tgtEl>
                                          <p:spTgt spid="68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 nodeType="clickPar">
                      <p:stCondLst>
                        <p:cond delay="indefinite"/>
                      </p:stCondLst>
                      <p:childTnLst>
                        <p:par>
                          <p:cTn id="2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7" dur="500"/>
                                        <p:tgtEl>
                                          <p:spTgt spid="68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 nodeType="clickPar">
                      <p:stCondLst>
                        <p:cond delay="indefinite"/>
                      </p:stCondLst>
                      <p:childTnLst>
                        <p:par>
                          <p:cTn id="2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 nodeType="clickPar">
                      <p:stCondLst>
                        <p:cond delay="indefinite"/>
                      </p:stCondLst>
                      <p:childTnLst>
                        <p:par>
                          <p:cTn id="2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8" dur="500"/>
                                        <p:tgtEl>
                                          <p:spTgt spid="6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 nodeType="clickPar">
                      <p:stCondLst>
                        <p:cond delay="indefinite"/>
                      </p:stCondLst>
                      <p:childTnLst>
                        <p:par>
                          <p:cTn id="2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 nodeType="clickPar">
                      <p:stCondLst>
                        <p:cond delay="indefinite"/>
                      </p:stCondLst>
                      <p:childTnLst>
                        <p:par>
                          <p:cTn id="2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 nodeType="clickPar">
                      <p:stCondLst>
                        <p:cond delay="indefinite"/>
                      </p:stCondLst>
                      <p:childTnLst>
                        <p:par>
                          <p:cTn id="2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3" dur="500" fill="hold"/>
                                        <p:tgtEl>
                                          <p:spTgt spid="68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4" dur="500" fill="hold"/>
                                        <p:tgtEl>
                                          <p:spTgt spid="68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3" grpId="0" autoUpdateAnimBg="0"/>
      <p:bldP spid="68614" grpId="0" autoUpdateAnimBg="0"/>
      <p:bldP spid="68615" grpId="0" animBg="1"/>
      <p:bldP spid="68616" grpId="0" animBg="1"/>
      <p:bldP spid="68623" grpId="0" animBg="1" autoUpdateAnimBg="0"/>
      <p:bldP spid="68624" grpId="0" animBg="1"/>
      <p:bldP spid="68626" grpId="0" autoUpdateAnimBg="0"/>
      <p:bldP spid="68627" grpId="0" autoUpdateAnimBg="0"/>
      <p:bldP spid="68628" grpId="0" animBg="1" autoUpdateAnimBg="0"/>
      <p:bldP spid="68629" grpId="0" animBg="1"/>
      <p:bldP spid="68633" grpId="0" animBg="1"/>
      <p:bldP spid="68634" grpId="0" animBg="1"/>
      <p:bldP spid="68635" grpId="0" animBg="1"/>
      <p:bldP spid="68636" grpId="0" animBg="1"/>
      <p:bldP spid="68637" grpId="0" animBg="1"/>
      <p:bldP spid="68647" grpId="0" build="p" autoUpdateAnimBg="0"/>
      <p:bldP spid="68655" grpId="0" build="p" autoUpdateAnimBg="0"/>
      <p:bldP spid="68656" grpId="0" build="p" autoUpdateAnimBg="0"/>
      <p:bldP spid="68657" grpId="0" animBg="1"/>
      <p:bldP spid="68658" grpId="0" animBg="1"/>
      <p:bldP spid="68662" grpId="0" animBg="1"/>
      <p:bldP spid="68663" grpId="0" animBg="1"/>
      <p:bldP spid="68670" grpId="0" animBg="1"/>
      <p:bldP spid="68671" grpId="0" animBg="1"/>
      <p:bldP spid="68672" grpId="0" animBg="1"/>
      <p:bldP spid="68673" grpId="0" animBg="1"/>
      <p:bldP spid="68674" grpId="0" animBg="1"/>
      <p:bldP spid="68681" grpId="0" autoUpdateAnimBg="0"/>
      <p:bldP spid="68685" grpId="0" animBg="1"/>
      <p:bldP spid="68686" grpId="0" animBg="1"/>
      <p:bldP spid="68698" grpId="0" autoUpdateAnimBg="0"/>
      <p:bldP spid="68699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67"/>
          <p:cNvSpPr>
            <a:spLocks noChangeArrowheads="1"/>
          </p:cNvSpPr>
          <p:nvPr/>
        </p:nvSpPr>
        <p:spPr bwMode="auto">
          <a:xfrm>
            <a:off x="2846388" y="215900"/>
            <a:ext cx="5257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zh-CN" altLang="en-US" sz="3600" b="1" dirty="0">
                <a:latin typeface="+mn-ea"/>
                <a:ea typeface="+mn-ea"/>
              </a:rPr>
              <a:t>生活中产品</a:t>
            </a:r>
            <a:r>
              <a:rPr lang="zh-CN" altLang="en-US" sz="3600" b="1" dirty="0">
                <a:solidFill>
                  <a:schemeClr val="tx2"/>
                </a:solidFill>
                <a:latin typeface="+mn-ea"/>
                <a:ea typeface="+mn-ea"/>
              </a:rPr>
              <a:t>圆柱</a:t>
            </a:r>
            <a:r>
              <a:rPr lang="zh-CN" altLang="en-US" sz="3600" b="1" dirty="0">
                <a:latin typeface="+mn-ea"/>
                <a:ea typeface="+mn-ea"/>
              </a:rPr>
              <a:t>形状的？</a:t>
            </a:r>
            <a:endParaRPr lang="zh-CN" altLang="en-US" sz="3600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pic>
        <p:nvPicPr>
          <p:cNvPr id="7" name="图片 6" descr="圆柱截切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717032"/>
            <a:ext cx="4133850" cy="281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 descr="圆柱产品1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420815"/>
            <a:ext cx="4133850" cy="2537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8" descr="圆柱产品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4072" y="1860737"/>
            <a:ext cx="3294063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9" descr="圆柱产品3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096" y="4025713"/>
            <a:ext cx="3171825" cy="233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2"/>
          <p:cNvSpPr txBox="1">
            <a:spLocks noChangeArrowheads="1"/>
          </p:cNvSpPr>
          <p:nvPr/>
        </p:nvSpPr>
        <p:spPr bwMode="auto">
          <a:xfrm>
            <a:off x="1666845" y="5000636"/>
            <a:ext cx="3751259" cy="142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2400" b="1" dirty="0">
                <a:latin typeface="宋体" panose="02010600030101010101" pitchFamily="2" charset="-122"/>
              </a:rPr>
              <a:t>    </a:t>
            </a:r>
            <a:r>
              <a:rPr lang="zh-CN" altLang="en-US" sz="2400" b="1" dirty="0">
                <a:latin typeface="宋体" panose="02010600030101010101" pitchFamily="2" charset="-122"/>
              </a:rPr>
              <a:t>圆柱面的俯视图积聚成一个圆，在另两个视图上分别以两个方向的轮廓素线的投影表示。</a:t>
            </a:r>
          </a:p>
        </p:txBody>
      </p:sp>
      <p:sp>
        <p:nvSpPr>
          <p:cNvPr id="69635" name="Rectangle 3"/>
          <p:cNvSpPr>
            <a:spLocks noChangeArrowheads="1"/>
          </p:cNvSpPr>
          <p:nvPr/>
        </p:nvSpPr>
        <p:spPr bwMode="auto">
          <a:xfrm>
            <a:off x="8069287" y="2659054"/>
            <a:ext cx="1066800" cy="1295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36" name="Rectangle 4"/>
          <p:cNvSpPr>
            <a:spLocks noChangeArrowheads="1"/>
          </p:cNvSpPr>
          <p:nvPr/>
        </p:nvSpPr>
        <p:spPr bwMode="auto">
          <a:xfrm>
            <a:off x="6469087" y="2659054"/>
            <a:ext cx="1066800" cy="1295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sz="1600"/>
          </a:p>
        </p:txBody>
      </p:sp>
      <p:sp>
        <p:nvSpPr>
          <p:cNvPr id="69638" name="Text Box 6"/>
          <p:cNvSpPr txBox="1">
            <a:spLocks noChangeArrowheads="1"/>
          </p:cNvSpPr>
          <p:nvPr/>
        </p:nvSpPr>
        <p:spPr bwMode="auto">
          <a:xfrm>
            <a:off x="1719374" y="1263250"/>
            <a:ext cx="56165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3200" dirty="0">
                <a:latin typeface="+mn-ea"/>
                <a:ea typeface="+mn-ea"/>
              </a:rPr>
              <a:t>1.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圆柱体的三面投影及表面取点</a:t>
            </a:r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69639" name="Text Box 7"/>
          <p:cNvSpPr txBox="1">
            <a:spLocks noChangeArrowheads="1"/>
          </p:cNvSpPr>
          <p:nvPr/>
        </p:nvSpPr>
        <p:spPr bwMode="auto">
          <a:xfrm>
            <a:off x="1641476" y="2928935"/>
            <a:ext cx="295465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 ⑵ </a:t>
            </a: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圆柱体的三视图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69640" name="Text Box 8"/>
          <p:cNvSpPr txBox="1">
            <a:spLocks noChangeArrowheads="1"/>
          </p:cNvSpPr>
          <p:nvPr/>
        </p:nvSpPr>
        <p:spPr bwMode="auto">
          <a:xfrm>
            <a:off x="1641475" y="3500439"/>
            <a:ext cx="449353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⑶ </a:t>
            </a: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轮廓线素线的投影分析与曲</a:t>
            </a:r>
          </a:p>
          <a:p>
            <a:pPr eaLnBrk="1" hangingPunct="1"/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    面的可见性的判断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69641" name="Text Box 9"/>
          <p:cNvSpPr txBox="1">
            <a:spLocks noChangeArrowheads="1"/>
          </p:cNvSpPr>
          <p:nvPr/>
        </p:nvSpPr>
        <p:spPr bwMode="auto">
          <a:xfrm>
            <a:off x="1641475" y="4396096"/>
            <a:ext cx="26468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⑷ </a:t>
            </a: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圆柱面上取点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69644" name="Oval 12"/>
          <p:cNvSpPr>
            <a:spLocks noChangeArrowheads="1"/>
          </p:cNvSpPr>
          <p:nvPr/>
        </p:nvSpPr>
        <p:spPr bwMode="auto">
          <a:xfrm>
            <a:off x="6469087" y="4411654"/>
            <a:ext cx="1066800" cy="9906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47" name="Freeform 15"/>
          <p:cNvSpPr>
            <a:spLocks/>
          </p:cNvSpPr>
          <p:nvPr/>
        </p:nvSpPr>
        <p:spPr bwMode="auto">
          <a:xfrm>
            <a:off x="6692926" y="3355968"/>
            <a:ext cx="2382837" cy="1587"/>
          </a:xfrm>
          <a:custGeom>
            <a:avLst/>
            <a:gdLst>
              <a:gd name="T0" fmla="*/ 0 w 1501"/>
              <a:gd name="T1" fmla="*/ 0 h 1"/>
              <a:gd name="T2" fmla="*/ 2147483647 w 1501"/>
              <a:gd name="T3" fmla="*/ 0 h 1"/>
              <a:gd name="T4" fmla="*/ 0 60000 65536"/>
              <a:gd name="T5" fmla="*/ 0 60000 65536"/>
              <a:gd name="T6" fmla="*/ 0 w 1501"/>
              <a:gd name="T7" fmla="*/ 0 h 1"/>
              <a:gd name="T8" fmla="*/ 1501 w 1501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501" h="1">
                <a:moveTo>
                  <a:pt x="0" y="0"/>
                </a:moveTo>
                <a:lnTo>
                  <a:pt x="1501" y="0"/>
                </a:lnTo>
              </a:path>
            </a:pathLst>
          </a:cu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48" name="Line 16"/>
          <p:cNvSpPr>
            <a:spLocks noChangeShapeType="1"/>
          </p:cNvSpPr>
          <p:nvPr/>
        </p:nvSpPr>
        <p:spPr bwMode="auto">
          <a:xfrm>
            <a:off x="6697687" y="3344854"/>
            <a:ext cx="0" cy="19812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49" name="Line 17"/>
          <p:cNvSpPr>
            <a:spLocks noChangeShapeType="1"/>
          </p:cNvSpPr>
          <p:nvPr/>
        </p:nvSpPr>
        <p:spPr bwMode="auto">
          <a:xfrm>
            <a:off x="6369076" y="3954454"/>
            <a:ext cx="12652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6378606" y="2963854"/>
            <a:ext cx="471488" cy="533400"/>
            <a:chOff x="3687" y="2592"/>
            <a:chExt cx="297" cy="336"/>
          </a:xfrm>
        </p:grpSpPr>
        <p:sp>
          <p:nvSpPr>
            <p:cNvPr id="30785" name="Text Box 19"/>
            <p:cNvSpPr txBox="1">
              <a:spLocks noChangeArrowheads="1"/>
            </p:cNvSpPr>
            <p:nvPr/>
          </p:nvSpPr>
          <p:spPr bwMode="auto">
            <a:xfrm>
              <a:off x="3796" y="2755"/>
              <a:ext cx="18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>
                  <a:solidFill>
                    <a:srgbClr val="FF3300"/>
                  </a:solidFill>
                  <a:sym typeface="Wingdings" panose="05000000000000000000" pitchFamily="2" charset="2"/>
                </a:rPr>
                <a:t></a:t>
              </a:r>
              <a:endParaRPr lang="en-US" altLang="zh-CN" sz="1600"/>
            </a:p>
          </p:txBody>
        </p:sp>
        <p:sp>
          <p:nvSpPr>
            <p:cNvPr id="30786" name="Text Box 20"/>
            <p:cNvSpPr txBox="1">
              <a:spLocks noChangeArrowheads="1"/>
            </p:cNvSpPr>
            <p:nvPr/>
          </p:nvSpPr>
          <p:spPr bwMode="auto">
            <a:xfrm>
              <a:off x="3687" y="2592"/>
              <a:ext cx="26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dirty="0">
                  <a:latin typeface="+mj-lt"/>
                </a:rPr>
                <a:t> </a:t>
              </a:r>
              <a:r>
                <a:rPr lang="en-US" altLang="zh-CN" i="1" dirty="0">
                  <a:latin typeface="+mj-lt"/>
                </a:rPr>
                <a:t>a</a:t>
              </a:r>
              <a:r>
                <a:rPr lang="en-US" altLang="zh-CN" dirty="0">
                  <a:latin typeface="+mj-lt"/>
                  <a:sym typeface="Symbol" panose="05050102010706020507" pitchFamily="18" charset="2"/>
                </a:rPr>
                <a:t></a:t>
              </a:r>
            </a:p>
          </p:txBody>
        </p:sp>
      </p:grpSp>
      <p:grpSp>
        <p:nvGrpSpPr>
          <p:cNvPr id="3" name="Group 21"/>
          <p:cNvGrpSpPr>
            <a:grpSpLocks/>
          </p:cNvGrpSpPr>
          <p:nvPr/>
        </p:nvGrpSpPr>
        <p:grpSpPr bwMode="auto">
          <a:xfrm>
            <a:off x="6384951" y="5173663"/>
            <a:ext cx="458787" cy="385763"/>
            <a:chOff x="3691" y="3984"/>
            <a:chExt cx="289" cy="243"/>
          </a:xfrm>
        </p:grpSpPr>
        <p:sp>
          <p:nvSpPr>
            <p:cNvPr id="30783" name="Text Box 22"/>
            <p:cNvSpPr txBox="1">
              <a:spLocks noChangeArrowheads="1"/>
            </p:cNvSpPr>
            <p:nvPr/>
          </p:nvSpPr>
          <p:spPr bwMode="auto">
            <a:xfrm>
              <a:off x="3792" y="3984"/>
              <a:ext cx="18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>
                  <a:solidFill>
                    <a:srgbClr val="FF3300"/>
                  </a:solidFill>
                  <a:sym typeface="Wingdings" panose="05000000000000000000" pitchFamily="2" charset="2"/>
                </a:rPr>
                <a:t></a:t>
              </a:r>
              <a:endParaRPr lang="en-US" altLang="zh-CN" sz="1600"/>
            </a:p>
          </p:txBody>
        </p:sp>
        <p:sp>
          <p:nvSpPr>
            <p:cNvPr id="30784" name="Text Box 23"/>
            <p:cNvSpPr txBox="1">
              <a:spLocks noChangeArrowheads="1"/>
            </p:cNvSpPr>
            <p:nvPr/>
          </p:nvSpPr>
          <p:spPr bwMode="auto">
            <a:xfrm>
              <a:off x="3691" y="3994"/>
              <a:ext cx="1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 dirty="0">
                  <a:latin typeface="+mn-lt"/>
                </a:rPr>
                <a:t>a</a:t>
              </a:r>
              <a:endParaRPr lang="en-US" altLang="zh-CN" sz="1600" dirty="0">
                <a:latin typeface="+mn-lt"/>
              </a:endParaRPr>
            </a:p>
          </p:txBody>
        </p:sp>
      </p:grpSp>
      <p:grpSp>
        <p:nvGrpSpPr>
          <p:cNvPr id="4" name="Group 24"/>
          <p:cNvGrpSpPr>
            <a:grpSpLocks/>
          </p:cNvGrpSpPr>
          <p:nvPr/>
        </p:nvGrpSpPr>
        <p:grpSpPr bwMode="auto">
          <a:xfrm>
            <a:off x="8697930" y="3005130"/>
            <a:ext cx="511175" cy="500063"/>
            <a:chOff x="5148" y="2090"/>
            <a:chExt cx="322" cy="315"/>
          </a:xfrm>
        </p:grpSpPr>
        <p:sp>
          <p:nvSpPr>
            <p:cNvPr id="30781" name="Text Box 25"/>
            <p:cNvSpPr txBox="1">
              <a:spLocks noChangeArrowheads="1"/>
            </p:cNvSpPr>
            <p:nvPr/>
          </p:nvSpPr>
          <p:spPr bwMode="auto">
            <a:xfrm>
              <a:off x="5282" y="2232"/>
              <a:ext cx="18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>
                  <a:solidFill>
                    <a:srgbClr val="FF3300"/>
                  </a:solidFill>
                  <a:sym typeface="Wingdings" panose="05000000000000000000" pitchFamily="2" charset="2"/>
                </a:rPr>
                <a:t></a:t>
              </a:r>
              <a:endParaRPr lang="en-US" altLang="zh-CN" sz="1600"/>
            </a:p>
          </p:txBody>
        </p:sp>
        <p:sp>
          <p:nvSpPr>
            <p:cNvPr id="30782" name="Text Box 26"/>
            <p:cNvSpPr txBox="1">
              <a:spLocks noChangeArrowheads="1"/>
            </p:cNvSpPr>
            <p:nvPr/>
          </p:nvSpPr>
          <p:spPr bwMode="auto">
            <a:xfrm>
              <a:off x="5148" y="2090"/>
              <a:ext cx="28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600" dirty="0">
                  <a:latin typeface="+mn-lt"/>
                </a:rPr>
                <a:t> </a:t>
              </a:r>
              <a:r>
                <a:rPr lang="en-US" altLang="zh-CN" i="1" dirty="0">
                  <a:latin typeface="+mn-lt"/>
                </a:rPr>
                <a:t>a</a:t>
              </a:r>
              <a:r>
                <a:rPr lang="en-US" altLang="zh-CN" dirty="0">
                  <a:latin typeface="+mn-lt"/>
                  <a:sym typeface="Symbol" panose="05050102010706020507" pitchFamily="18" charset="2"/>
                </a:rPr>
                <a:t></a:t>
              </a:r>
              <a:endParaRPr lang="en-US" altLang="zh-CN" dirty="0">
                <a:latin typeface="+mn-lt"/>
                <a:sym typeface="CommercialPi BT" panose="05020102010206080802" pitchFamily="18" charset="2"/>
              </a:endParaRPr>
            </a:p>
          </p:txBody>
        </p:sp>
      </p:grpSp>
      <p:grpSp>
        <p:nvGrpSpPr>
          <p:cNvPr id="5" name="Group 27"/>
          <p:cNvGrpSpPr>
            <a:grpSpLocks/>
          </p:cNvGrpSpPr>
          <p:nvPr/>
        </p:nvGrpSpPr>
        <p:grpSpPr bwMode="auto">
          <a:xfrm>
            <a:off x="6711976" y="3344854"/>
            <a:ext cx="2332037" cy="2025650"/>
            <a:chOff x="3897" y="2304"/>
            <a:chExt cx="1469" cy="1276"/>
          </a:xfrm>
        </p:grpSpPr>
        <p:sp>
          <p:nvSpPr>
            <p:cNvPr id="30779" name="Freeform 28"/>
            <p:cNvSpPr>
              <a:spLocks/>
            </p:cNvSpPr>
            <p:nvPr/>
          </p:nvSpPr>
          <p:spPr bwMode="auto">
            <a:xfrm>
              <a:off x="3897" y="3264"/>
              <a:ext cx="1" cy="316"/>
            </a:xfrm>
            <a:custGeom>
              <a:avLst/>
              <a:gdLst>
                <a:gd name="T0" fmla="*/ 1 w 1"/>
                <a:gd name="T1" fmla="*/ 0 h 316"/>
                <a:gd name="T2" fmla="*/ 0 w 1"/>
                <a:gd name="T3" fmla="*/ 316 h 316"/>
                <a:gd name="T4" fmla="*/ 0 60000 65536"/>
                <a:gd name="T5" fmla="*/ 0 60000 65536"/>
                <a:gd name="T6" fmla="*/ 0 w 1"/>
                <a:gd name="T7" fmla="*/ 0 h 316"/>
                <a:gd name="T8" fmla="*/ 1 w 1"/>
                <a:gd name="T9" fmla="*/ 316 h 31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16">
                  <a:moveTo>
                    <a:pt x="1" y="0"/>
                  </a:moveTo>
                  <a:lnTo>
                    <a:pt x="0" y="316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0780" name="Freeform 29"/>
            <p:cNvSpPr>
              <a:spLocks/>
            </p:cNvSpPr>
            <p:nvPr/>
          </p:nvSpPr>
          <p:spPr bwMode="auto">
            <a:xfrm>
              <a:off x="5088" y="2304"/>
              <a:ext cx="278" cy="1"/>
            </a:xfrm>
            <a:custGeom>
              <a:avLst/>
              <a:gdLst>
                <a:gd name="T0" fmla="*/ 0 w 278"/>
                <a:gd name="T1" fmla="*/ 0 h 1"/>
                <a:gd name="T2" fmla="*/ 278 w 278"/>
                <a:gd name="T3" fmla="*/ 0 h 1"/>
                <a:gd name="T4" fmla="*/ 0 60000 65536"/>
                <a:gd name="T5" fmla="*/ 0 60000 65536"/>
                <a:gd name="T6" fmla="*/ 0 w 278"/>
                <a:gd name="T7" fmla="*/ 0 h 1"/>
                <a:gd name="T8" fmla="*/ 278 w 278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8" h="1">
                  <a:moveTo>
                    <a:pt x="0" y="0"/>
                  </a:moveTo>
                  <a:lnTo>
                    <a:pt x="278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69662" name="Line 30"/>
          <p:cNvSpPr>
            <a:spLocks noChangeShapeType="1"/>
          </p:cNvSpPr>
          <p:nvPr/>
        </p:nvSpPr>
        <p:spPr bwMode="auto">
          <a:xfrm>
            <a:off x="7993087" y="3954454"/>
            <a:ext cx="1295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" name="Group 32"/>
          <p:cNvGrpSpPr>
            <a:grpSpLocks/>
          </p:cNvGrpSpPr>
          <p:nvPr/>
        </p:nvGrpSpPr>
        <p:grpSpPr bwMode="auto">
          <a:xfrm>
            <a:off x="6469087" y="3954454"/>
            <a:ext cx="1066800" cy="914400"/>
            <a:chOff x="3744" y="3216"/>
            <a:chExt cx="672" cy="576"/>
          </a:xfrm>
        </p:grpSpPr>
        <p:sp>
          <p:nvSpPr>
            <p:cNvPr id="30777" name="Line 33"/>
            <p:cNvSpPr>
              <a:spLocks noChangeShapeType="1"/>
            </p:cNvSpPr>
            <p:nvPr/>
          </p:nvSpPr>
          <p:spPr bwMode="auto">
            <a:xfrm flipV="1">
              <a:off x="3744" y="3216"/>
              <a:ext cx="0" cy="57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78" name="Line 34"/>
            <p:cNvSpPr>
              <a:spLocks noChangeShapeType="1"/>
            </p:cNvSpPr>
            <p:nvPr/>
          </p:nvSpPr>
          <p:spPr bwMode="auto">
            <a:xfrm flipV="1">
              <a:off x="4416" y="3216"/>
              <a:ext cx="0" cy="57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9667" name="Text Box 35"/>
          <p:cNvSpPr txBox="1">
            <a:spLocks noChangeArrowheads="1"/>
          </p:cNvSpPr>
          <p:nvPr/>
        </p:nvSpPr>
        <p:spPr bwMode="auto">
          <a:xfrm>
            <a:off x="1677989" y="1967204"/>
            <a:ext cx="42082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 ⑴ </a:t>
            </a: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圆柱体</a:t>
            </a:r>
            <a:r>
              <a:rPr lang="en-US" altLang="zh-CN" sz="2400" b="1" dirty="0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——</a:t>
            </a: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旋转体、拉伸</a:t>
            </a:r>
          </a:p>
        </p:txBody>
      </p:sp>
      <p:sp>
        <p:nvSpPr>
          <p:cNvPr id="69668" name="AutoShape 36"/>
          <p:cNvSpPr>
            <a:spLocks noChangeArrowheads="1"/>
          </p:cNvSpPr>
          <p:nvPr/>
        </p:nvSpPr>
        <p:spPr bwMode="auto">
          <a:xfrm>
            <a:off x="8596330" y="4357694"/>
            <a:ext cx="1447800" cy="1981200"/>
          </a:xfrm>
          <a:prstGeom prst="can">
            <a:avLst>
              <a:gd name="adj" fmla="val 34211"/>
            </a:avLst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grpSp>
        <p:nvGrpSpPr>
          <p:cNvPr id="7" name="Group 37"/>
          <p:cNvGrpSpPr>
            <a:grpSpLocks/>
          </p:cNvGrpSpPr>
          <p:nvPr/>
        </p:nvGrpSpPr>
        <p:grpSpPr bwMode="auto">
          <a:xfrm>
            <a:off x="7535887" y="2659054"/>
            <a:ext cx="533400" cy="1295400"/>
            <a:chOff x="4416" y="1872"/>
            <a:chExt cx="336" cy="816"/>
          </a:xfrm>
        </p:grpSpPr>
        <p:sp>
          <p:nvSpPr>
            <p:cNvPr id="30775" name="Line 38"/>
            <p:cNvSpPr>
              <a:spLocks noChangeShapeType="1"/>
            </p:cNvSpPr>
            <p:nvPr/>
          </p:nvSpPr>
          <p:spPr bwMode="auto">
            <a:xfrm>
              <a:off x="4416" y="1872"/>
              <a:ext cx="336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76" name="Line 39"/>
            <p:cNvSpPr>
              <a:spLocks noChangeShapeType="1"/>
            </p:cNvSpPr>
            <p:nvPr/>
          </p:nvSpPr>
          <p:spPr bwMode="auto">
            <a:xfrm>
              <a:off x="4416" y="2688"/>
              <a:ext cx="336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9672" name="Text Box 40"/>
          <p:cNvSpPr txBox="1">
            <a:spLocks noChangeArrowheads="1"/>
          </p:cNvSpPr>
          <p:nvPr/>
        </p:nvSpPr>
        <p:spPr bwMode="auto">
          <a:xfrm>
            <a:off x="2452663" y="2395832"/>
            <a:ext cx="38779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latin typeface="宋体" panose="02010600030101010101" pitchFamily="2" charset="-122"/>
              </a:rPr>
              <a:t>由</a:t>
            </a: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</a:rPr>
              <a:t>圆柱面和两个底面</a:t>
            </a:r>
            <a:r>
              <a:rPr lang="zh-CN" altLang="en-US" sz="2400" b="1" dirty="0">
                <a:latin typeface="宋体" panose="02010600030101010101" pitchFamily="2" charset="-122"/>
              </a:rPr>
              <a:t>组成。</a:t>
            </a:r>
          </a:p>
        </p:txBody>
      </p:sp>
      <p:sp>
        <p:nvSpPr>
          <p:cNvPr id="69684" name="Text Box 52"/>
          <p:cNvSpPr txBox="1">
            <a:spLocks noChangeArrowheads="1"/>
          </p:cNvSpPr>
          <p:nvPr/>
        </p:nvSpPr>
        <p:spPr bwMode="auto">
          <a:xfrm>
            <a:off x="5953125" y="5857893"/>
            <a:ext cx="18256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chemeClr val="accent2"/>
                </a:solidFill>
              </a:rPr>
              <a:t>利用投影的积聚性</a:t>
            </a:r>
            <a:endParaRPr lang="zh-CN" altLang="en-US" sz="2400" dirty="0"/>
          </a:p>
        </p:txBody>
      </p:sp>
      <p:sp>
        <p:nvSpPr>
          <p:cNvPr id="69685" name="Text Box 53"/>
          <p:cNvSpPr txBox="1">
            <a:spLocks noChangeArrowheads="1"/>
          </p:cNvSpPr>
          <p:nvPr/>
        </p:nvSpPr>
        <p:spPr bwMode="auto">
          <a:xfrm>
            <a:off x="5891237" y="4659305"/>
            <a:ext cx="649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latin typeface="宋体" panose="02010600030101010101" pitchFamily="2" charset="-122"/>
              </a:rPr>
              <a:t>1(2</a:t>
            </a:r>
            <a:r>
              <a:rPr lang="en-US" altLang="zh-CN" sz="2000"/>
              <a:t>)</a:t>
            </a:r>
          </a:p>
        </p:txBody>
      </p:sp>
      <p:grpSp>
        <p:nvGrpSpPr>
          <p:cNvPr id="10" name="Group 63"/>
          <p:cNvGrpSpPr>
            <a:grpSpLocks/>
          </p:cNvGrpSpPr>
          <p:nvPr/>
        </p:nvGrpSpPr>
        <p:grpSpPr bwMode="auto">
          <a:xfrm>
            <a:off x="6062690" y="2386005"/>
            <a:ext cx="407988" cy="1738313"/>
            <a:chOff x="3515" y="1896"/>
            <a:chExt cx="257" cy="1095"/>
          </a:xfrm>
        </p:grpSpPr>
        <p:sp>
          <p:nvSpPr>
            <p:cNvPr id="30766" name="Text Box 54"/>
            <p:cNvSpPr txBox="1">
              <a:spLocks noChangeArrowheads="1"/>
            </p:cNvSpPr>
            <p:nvPr/>
          </p:nvSpPr>
          <p:spPr bwMode="auto">
            <a:xfrm>
              <a:off x="3548" y="1896"/>
              <a:ext cx="2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宋体" panose="02010600030101010101" pitchFamily="2" charset="-122"/>
                </a:rPr>
                <a:t>1</a:t>
              </a:r>
              <a:r>
                <a:rPr lang="en-US" altLang="zh-CN"/>
                <a:t>′</a:t>
              </a:r>
            </a:p>
          </p:txBody>
        </p:sp>
        <p:sp>
          <p:nvSpPr>
            <p:cNvPr id="30767" name="Text Box 55"/>
            <p:cNvSpPr txBox="1">
              <a:spLocks noChangeArrowheads="1"/>
            </p:cNvSpPr>
            <p:nvPr/>
          </p:nvSpPr>
          <p:spPr bwMode="auto">
            <a:xfrm>
              <a:off x="3515" y="2739"/>
              <a:ext cx="2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宋体" panose="02010600030101010101" pitchFamily="2" charset="-122"/>
                </a:rPr>
                <a:t>2</a:t>
              </a:r>
              <a:r>
                <a:rPr lang="en-US" altLang="zh-CN"/>
                <a:t>′</a:t>
              </a:r>
            </a:p>
          </p:txBody>
        </p:sp>
      </p:grpSp>
      <p:grpSp>
        <p:nvGrpSpPr>
          <p:cNvPr id="11" name="Group 64"/>
          <p:cNvGrpSpPr>
            <a:grpSpLocks/>
          </p:cNvGrpSpPr>
          <p:nvPr/>
        </p:nvGrpSpPr>
        <p:grpSpPr bwMode="auto">
          <a:xfrm>
            <a:off x="8321706" y="2263767"/>
            <a:ext cx="412750" cy="2038350"/>
            <a:chOff x="4971" y="1786"/>
            <a:chExt cx="260" cy="1284"/>
          </a:xfrm>
        </p:grpSpPr>
        <p:sp>
          <p:nvSpPr>
            <p:cNvPr id="30764" name="Text Box 56"/>
            <p:cNvSpPr txBox="1">
              <a:spLocks noChangeArrowheads="1"/>
            </p:cNvSpPr>
            <p:nvPr/>
          </p:nvSpPr>
          <p:spPr bwMode="auto">
            <a:xfrm>
              <a:off x="4982" y="1786"/>
              <a:ext cx="24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宋体" panose="02010600030101010101" pitchFamily="2" charset="-122"/>
                </a:rPr>
                <a:t>1</a:t>
              </a:r>
              <a:r>
                <a:rPr lang="en-US" altLang="zh-CN"/>
                <a:t>″</a:t>
              </a:r>
            </a:p>
          </p:txBody>
        </p:sp>
        <p:sp>
          <p:nvSpPr>
            <p:cNvPr id="30765" name="Text Box 57"/>
            <p:cNvSpPr txBox="1">
              <a:spLocks noChangeArrowheads="1"/>
            </p:cNvSpPr>
            <p:nvPr/>
          </p:nvSpPr>
          <p:spPr bwMode="auto">
            <a:xfrm>
              <a:off x="4971" y="2818"/>
              <a:ext cx="24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宋体" panose="02010600030101010101" pitchFamily="2" charset="-122"/>
                </a:rPr>
                <a:t>2</a:t>
              </a:r>
              <a:r>
                <a:rPr lang="en-US" altLang="zh-CN"/>
                <a:t>″</a:t>
              </a:r>
            </a:p>
          </p:txBody>
        </p:sp>
      </p:grpSp>
      <p:grpSp>
        <p:nvGrpSpPr>
          <p:cNvPr id="12" name="Group 65"/>
          <p:cNvGrpSpPr>
            <a:grpSpLocks/>
          </p:cNvGrpSpPr>
          <p:nvPr/>
        </p:nvGrpSpPr>
        <p:grpSpPr bwMode="auto">
          <a:xfrm>
            <a:off x="8944010" y="2282817"/>
            <a:ext cx="500063" cy="2017712"/>
            <a:chOff x="5363" y="1776"/>
            <a:chExt cx="315" cy="1271"/>
          </a:xfrm>
        </p:grpSpPr>
        <p:sp>
          <p:nvSpPr>
            <p:cNvPr id="30762" name="Text Box 58"/>
            <p:cNvSpPr txBox="1">
              <a:spLocks noChangeArrowheads="1"/>
            </p:cNvSpPr>
            <p:nvPr/>
          </p:nvSpPr>
          <p:spPr bwMode="auto">
            <a:xfrm>
              <a:off x="5429" y="1776"/>
              <a:ext cx="24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宋体" panose="02010600030101010101" pitchFamily="2" charset="-122"/>
                </a:rPr>
                <a:t>3</a:t>
              </a:r>
              <a:r>
                <a:rPr lang="en-US" altLang="zh-CN"/>
                <a:t>″</a:t>
              </a:r>
            </a:p>
          </p:txBody>
        </p:sp>
        <p:sp>
          <p:nvSpPr>
            <p:cNvPr id="30763" name="Text Box 59"/>
            <p:cNvSpPr txBox="1">
              <a:spLocks noChangeArrowheads="1"/>
            </p:cNvSpPr>
            <p:nvPr/>
          </p:nvSpPr>
          <p:spPr bwMode="auto">
            <a:xfrm>
              <a:off x="5363" y="2795"/>
              <a:ext cx="24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宋体" panose="02010600030101010101" pitchFamily="2" charset="-122"/>
                </a:rPr>
                <a:t>4</a:t>
              </a:r>
              <a:r>
                <a:rPr lang="en-US" altLang="zh-CN"/>
                <a:t>″</a:t>
              </a:r>
            </a:p>
          </p:txBody>
        </p:sp>
      </p:grpSp>
      <p:grpSp>
        <p:nvGrpSpPr>
          <p:cNvPr id="13" name="Group 66"/>
          <p:cNvGrpSpPr>
            <a:grpSpLocks/>
          </p:cNvGrpSpPr>
          <p:nvPr/>
        </p:nvGrpSpPr>
        <p:grpSpPr bwMode="auto">
          <a:xfrm>
            <a:off x="6770716" y="2243129"/>
            <a:ext cx="357188" cy="2058988"/>
            <a:chOff x="3994" y="1751"/>
            <a:chExt cx="225" cy="1297"/>
          </a:xfrm>
        </p:grpSpPr>
        <p:sp>
          <p:nvSpPr>
            <p:cNvPr id="30760" name="Text Box 60"/>
            <p:cNvSpPr txBox="1">
              <a:spLocks noChangeArrowheads="1"/>
            </p:cNvSpPr>
            <p:nvPr/>
          </p:nvSpPr>
          <p:spPr bwMode="auto">
            <a:xfrm>
              <a:off x="3994" y="1751"/>
              <a:ext cx="2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宋体" panose="02010600030101010101" pitchFamily="2" charset="-122"/>
                </a:rPr>
                <a:t>3</a:t>
              </a:r>
              <a:r>
                <a:rPr lang="en-US" altLang="zh-CN" dirty="0"/>
                <a:t>′</a:t>
              </a:r>
            </a:p>
          </p:txBody>
        </p:sp>
        <p:sp>
          <p:nvSpPr>
            <p:cNvPr id="30761" name="Text Box 61"/>
            <p:cNvSpPr txBox="1">
              <a:spLocks noChangeArrowheads="1"/>
            </p:cNvSpPr>
            <p:nvPr/>
          </p:nvSpPr>
          <p:spPr bwMode="auto">
            <a:xfrm>
              <a:off x="3995" y="2796"/>
              <a:ext cx="2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宋体" panose="02010600030101010101" pitchFamily="2" charset="-122"/>
                </a:rPr>
                <a:t>4</a:t>
              </a:r>
              <a:r>
                <a:rPr lang="en-US" altLang="zh-CN" dirty="0"/>
                <a:t>′</a:t>
              </a:r>
            </a:p>
          </p:txBody>
        </p:sp>
      </p:grpSp>
      <p:sp>
        <p:nvSpPr>
          <p:cNvPr id="30758" name="矩形 66"/>
          <p:cNvSpPr>
            <a:spLocks noChangeArrowheads="1"/>
          </p:cNvSpPr>
          <p:nvPr/>
        </p:nvSpPr>
        <p:spPr bwMode="auto">
          <a:xfrm>
            <a:off x="1379374" y="512842"/>
            <a:ext cx="60245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二、曲面立体的投影表面取点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9694" name="Text Box 62"/>
          <p:cNvSpPr txBox="1">
            <a:spLocks noChangeArrowheads="1"/>
          </p:cNvSpPr>
          <p:nvPr/>
        </p:nvSpPr>
        <p:spPr bwMode="auto">
          <a:xfrm>
            <a:off x="6681812" y="5418130"/>
            <a:ext cx="692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latin typeface="宋体" panose="02010600030101010101" pitchFamily="2" charset="-122"/>
              </a:rPr>
              <a:t>3(4)</a:t>
            </a:r>
            <a:endParaRPr lang="en-US" altLang="zh-CN"/>
          </a:p>
        </p:txBody>
      </p:sp>
      <p:sp>
        <p:nvSpPr>
          <p:cNvPr id="76" name="椭圆 75"/>
          <p:cNvSpPr/>
          <p:nvPr/>
        </p:nvSpPr>
        <p:spPr bwMode="auto">
          <a:xfrm>
            <a:off x="8596330" y="5832492"/>
            <a:ext cx="1443020" cy="500066"/>
          </a:xfrm>
          <a:prstGeom prst="ellipse">
            <a:avLst/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78" name="AutoShape 36"/>
          <p:cNvSpPr>
            <a:spLocks noChangeArrowheads="1"/>
          </p:cNvSpPr>
          <p:nvPr/>
        </p:nvSpPr>
        <p:spPr bwMode="auto">
          <a:xfrm>
            <a:off x="8596330" y="4357694"/>
            <a:ext cx="1447800" cy="1981200"/>
          </a:xfrm>
          <a:prstGeom prst="can">
            <a:avLst>
              <a:gd name="adj" fmla="val 34211"/>
            </a:avLst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grpSp>
        <p:nvGrpSpPr>
          <p:cNvPr id="81" name="组合 80"/>
          <p:cNvGrpSpPr/>
          <p:nvPr/>
        </p:nvGrpSpPr>
        <p:grpSpPr>
          <a:xfrm>
            <a:off x="9345000" y="4581527"/>
            <a:ext cx="699140" cy="1546233"/>
            <a:chOff x="7821000" y="4581526"/>
            <a:chExt cx="699140" cy="1546233"/>
          </a:xfrm>
        </p:grpSpPr>
        <p:grpSp>
          <p:nvGrpSpPr>
            <p:cNvPr id="72" name="组合 71"/>
            <p:cNvGrpSpPr/>
            <p:nvPr/>
          </p:nvGrpSpPr>
          <p:grpSpPr>
            <a:xfrm>
              <a:off x="7823199" y="4581526"/>
              <a:ext cx="696941" cy="1546233"/>
              <a:chOff x="7823199" y="4581526"/>
              <a:chExt cx="696941" cy="1546233"/>
            </a:xfrm>
          </p:grpSpPr>
          <p:sp>
            <p:nvSpPr>
              <p:cNvPr id="30772" name="Freeform 43"/>
              <p:cNvSpPr>
                <a:spLocks/>
              </p:cNvSpPr>
              <p:nvPr/>
            </p:nvSpPr>
            <p:spPr bwMode="auto">
              <a:xfrm>
                <a:off x="8513790" y="4630746"/>
                <a:ext cx="1588" cy="1497013"/>
              </a:xfrm>
              <a:custGeom>
                <a:avLst/>
                <a:gdLst>
                  <a:gd name="T0" fmla="*/ 0 w 1"/>
                  <a:gd name="T1" fmla="*/ 0 h 943"/>
                  <a:gd name="T2" fmla="*/ 1 w 1"/>
                  <a:gd name="T3" fmla="*/ 943 h 943"/>
                  <a:gd name="T4" fmla="*/ 0 60000 65536"/>
                  <a:gd name="T5" fmla="*/ 0 60000 65536"/>
                  <a:gd name="T6" fmla="*/ 0 w 1"/>
                  <a:gd name="T7" fmla="*/ 0 h 943"/>
                  <a:gd name="T8" fmla="*/ 1 w 1"/>
                  <a:gd name="T9" fmla="*/ 943 h 94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943">
                    <a:moveTo>
                      <a:pt x="0" y="0"/>
                    </a:moveTo>
                    <a:lnTo>
                      <a:pt x="1" y="943"/>
                    </a:lnTo>
                  </a:path>
                </a:pathLst>
              </a:cu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8" name="Freeform 43"/>
              <p:cNvSpPr>
                <a:spLocks/>
              </p:cNvSpPr>
              <p:nvPr/>
            </p:nvSpPr>
            <p:spPr bwMode="auto">
              <a:xfrm>
                <a:off x="7823199" y="4581526"/>
                <a:ext cx="696941" cy="65096"/>
              </a:xfrm>
              <a:custGeom>
                <a:avLst/>
                <a:gdLst>
                  <a:gd name="T0" fmla="*/ 0 w 1"/>
                  <a:gd name="T1" fmla="*/ 0 h 943"/>
                  <a:gd name="T2" fmla="*/ 1 w 1"/>
                  <a:gd name="T3" fmla="*/ 943 h 943"/>
                  <a:gd name="T4" fmla="*/ 0 60000 65536"/>
                  <a:gd name="T5" fmla="*/ 0 60000 65536"/>
                  <a:gd name="T6" fmla="*/ 0 w 1"/>
                  <a:gd name="T7" fmla="*/ 0 h 943"/>
                  <a:gd name="T8" fmla="*/ 1 w 1"/>
                  <a:gd name="T9" fmla="*/ 943 h 94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943">
                    <a:moveTo>
                      <a:pt x="0" y="0"/>
                    </a:moveTo>
                    <a:lnTo>
                      <a:pt x="1" y="943"/>
                    </a:lnTo>
                  </a:path>
                </a:pathLst>
              </a:cu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79" name="Freeform 43"/>
            <p:cNvSpPr>
              <a:spLocks/>
            </p:cNvSpPr>
            <p:nvPr/>
          </p:nvSpPr>
          <p:spPr bwMode="auto">
            <a:xfrm>
              <a:off x="7821000" y="6060450"/>
              <a:ext cx="696941" cy="65096"/>
            </a:xfrm>
            <a:custGeom>
              <a:avLst/>
              <a:gdLst>
                <a:gd name="T0" fmla="*/ 0 w 1"/>
                <a:gd name="T1" fmla="*/ 0 h 943"/>
                <a:gd name="T2" fmla="*/ 1 w 1"/>
                <a:gd name="T3" fmla="*/ 943 h 943"/>
                <a:gd name="T4" fmla="*/ 0 60000 65536"/>
                <a:gd name="T5" fmla="*/ 0 60000 65536"/>
                <a:gd name="T6" fmla="*/ 0 w 1"/>
                <a:gd name="T7" fmla="*/ 0 h 943"/>
                <a:gd name="T8" fmla="*/ 1 w 1"/>
                <a:gd name="T9" fmla="*/ 943 h 94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943">
                  <a:moveTo>
                    <a:pt x="0" y="0"/>
                  </a:moveTo>
                  <a:lnTo>
                    <a:pt x="1" y="943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0" name="Freeform 43"/>
            <p:cNvSpPr>
              <a:spLocks/>
            </p:cNvSpPr>
            <p:nvPr/>
          </p:nvSpPr>
          <p:spPr bwMode="auto">
            <a:xfrm>
              <a:off x="7833700" y="4585344"/>
              <a:ext cx="1588" cy="1497013"/>
            </a:xfrm>
            <a:custGeom>
              <a:avLst/>
              <a:gdLst>
                <a:gd name="T0" fmla="*/ 0 w 1"/>
                <a:gd name="T1" fmla="*/ 0 h 943"/>
                <a:gd name="T2" fmla="*/ 1 w 1"/>
                <a:gd name="T3" fmla="*/ 943 h 943"/>
                <a:gd name="T4" fmla="*/ 0 60000 65536"/>
                <a:gd name="T5" fmla="*/ 0 60000 65536"/>
                <a:gd name="T6" fmla="*/ 0 w 1"/>
                <a:gd name="T7" fmla="*/ 0 h 943"/>
                <a:gd name="T8" fmla="*/ 1 w 1"/>
                <a:gd name="T9" fmla="*/ 943 h 94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943">
                  <a:moveTo>
                    <a:pt x="0" y="0"/>
                  </a:moveTo>
                  <a:lnTo>
                    <a:pt x="1" y="943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pic>
        <p:nvPicPr>
          <p:cNvPr id="82" name="Picture 5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309674" y="4835572"/>
            <a:ext cx="1404000" cy="139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3" name="Picture 5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 rot="16200000">
            <a:off x="6371965" y="4852481"/>
            <a:ext cx="1260000" cy="125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4" name="Picture 5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 rot="16200000">
            <a:off x="6262005" y="3244681"/>
            <a:ext cx="1476000" cy="146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5" name="Picture 5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 rot="16200000">
            <a:off x="7873674" y="3238331"/>
            <a:ext cx="1476000" cy="146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9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9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69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96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96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9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9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69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6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696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696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696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75"/>
                                        <p:tgtEl>
                                          <p:spTgt spid="696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75"/>
                                        <p:tgtEl>
                                          <p:spTgt spid="696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696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696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69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69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69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69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4" grpId="0" autoUpdateAnimBg="0"/>
      <p:bldP spid="69635" grpId="0" animBg="1"/>
      <p:bldP spid="69636" grpId="0" animBg="1" autoUpdateAnimBg="0"/>
      <p:bldP spid="69638" grpId="0" autoUpdateAnimBg="0"/>
      <p:bldP spid="69639" grpId="0" autoUpdateAnimBg="0"/>
      <p:bldP spid="69640" grpId="0" autoUpdateAnimBg="0"/>
      <p:bldP spid="69641" grpId="0" autoUpdateAnimBg="0"/>
      <p:bldP spid="69644" grpId="0" animBg="1"/>
      <p:bldP spid="69647" grpId="0" animBg="1"/>
      <p:bldP spid="69648" grpId="0" animBg="1"/>
      <p:bldP spid="69649" grpId="0" animBg="1"/>
      <p:bldP spid="69662" grpId="0" animBg="1"/>
      <p:bldP spid="69667" grpId="0" autoUpdateAnimBg="0"/>
      <p:bldP spid="69668" grpId="0" animBg="1"/>
      <p:bldP spid="69672" grpId="0" autoUpdateAnimBg="0"/>
      <p:bldP spid="69684" grpId="0" autoUpdateAnimBg="0"/>
      <p:bldP spid="69685" grpId="0" build="p" autoUpdateAnimBg="0"/>
      <p:bldP spid="69694" grpId="0" build="p" autoUpdateAnimBg="0"/>
      <p:bldP spid="76" grpId="0" animBg="1"/>
      <p:bldP spid="7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24826" y="1142985"/>
            <a:ext cx="1500198" cy="1893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0658" name="Text Box 2"/>
          <p:cNvSpPr txBox="1">
            <a:spLocks noChangeArrowheads="1"/>
          </p:cNvSpPr>
          <p:nvPr/>
        </p:nvSpPr>
        <p:spPr bwMode="auto">
          <a:xfrm>
            <a:off x="1968500" y="3727771"/>
            <a:ext cx="341632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FF3300"/>
                </a:solidFill>
                <a:sym typeface="Symbol" panose="05050102010706020507" pitchFamily="18" charset="2"/>
              </a:rPr>
              <a:t>⑶</a:t>
            </a:r>
            <a:r>
              <a:rPr lang="en-US" altLang="zh-CN" sz="2400" b="1" dirty="0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400" b="1" dirty="0">
                <a:solidFill>
                  <a:srgbClr val="FF3300"/>
                </a:solidFill>
                <a:sym typeface="Symbol" panose="05050102010706020507" pitchFamily="18" charset="2"/>
              </a:rPr>
              <a:t>轮廓线素线的投影与</a:t>
            </a:r>
          </a:p>
          <a:p>
            <a:pPr eaLnBrk="1" hangingPunct="1"/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   </a:t>
            </a:r>
            <a:r>
              <a:rPr lang="zh-CN" altLang="en-US" sz="2400" b="1" dirty="0">
                <a:solidFill>
                  <a:srgbClr val="FF3300"/>
                </a:solidFill>
                <a:sym typeface="Symbol" panose="05050102010706020507" pitchFamily="18" charset="2"/>
              </a:rPr>
              <a:t>曲面的可见性的判断</a:t>
            </a:r>
            <a:endParaRPr lang="zh-CN" altLang="en-US" sz="2400" b="1" dirty="0">
              <a:sym typeface="Symbol" panose="05050102010706020507" pitchFamily="18" charset="2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9144000" y="2839463"/>
            <a:ext cx="488950" cy="433962"/>
            <a:chOff x="2390" y="3681"/>
            <a:chExt cx="308" cy="220"/>
          </a:xfrm>
        </p:grpSpPr>
        <p:sp>
          <p:nvSpPr>
            <p:cNvPr id="31831" name="Text Box 4"/>
            <p:cNvSpPr txBox="1">
              <a:spLocks noChangeArrowheads="1"/>
            </p:cNvSpPr>
            <p:nvPr/>
          </p:nvSpPr>
          <p:spPr bwMode="auto">
            <a:xfrm>
              <a:off x="2424" y="3681"/>
              <a:ext cx="274" cy="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/>
                <a:t> </a:t>
              </a:r>
              <a:r>
                <a:rPr lang="en-US" altLang="zh-CN" i="1">
                  <a:latin typeface="Dutch801 Rm BT" panose="02020603060505020304" pitchFamily="18" charset="0"/>
                </a:rPr>
                <a:t>s</a:t>
              </a:r>
              <a:r>
                <a:rPr lang="en-US" altLang="zh-CN">
                  <a:sym typeface="Symbol" panose="05050102010706020507" pitchFamily="18" charset="2"/>
                </a:rPr>
                <a:t></a:t>
              </a:r>
            </a:p>
          </p:txBody>
        </p:sp>
        <p:sp>
          <p:nvSpPr>
            <p:cNvPr id="31832" name="Text Box 5"/>
            <p:cNvSpPr txBox="1">
              <a:spLocks noChangeArrowheads="1"/>
            </p:cNvSpPr>
            <p:nvPr/>
          </p:nvSpPr>
          <p:spPr bwMode="auto">
            <a:xfrm>
              <a:off x="2390" y="3785"/>
              <a:ext cx="189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900">
                  <a:solidFill>
                    <a:srgbClr val="FF3300"/>
                  </a:solidFill>
                </a:rPr>
                <a:t>●</a:t>
              </a:r>
              <a:endParaRPr lang="en-US" altLang="zh-CN"/>
            </a:p>
          </p:txBody>
        </p:sp>
      </p:grpSp>
      <p:sp>
        <p:nvSpPr>
          <p:cNvPr id="70662" name="Text Box 6"/>
          <p:cNvSpPr txBox="1">
            <a:spLocks noChangeArrowheads="1"/>
          </p:cNvSpPr>
          <p:nvPr/>
        </p:nvSpPr>
        <p:spPr bwMode="auto">
          <a:xfrm>
            <a:off x="2038350" y="3429000"/>
            <a:ext cx="42418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+mn-ea"/>
                <a:ea typeface="+mn-ea"/>
              </a:rPr>
              <a:t>    </a:t>
            </a:r>
            <a:r>
              <a:rPr lang="zh-CN" altLang="en-US" sz="2400" b="1" dirty="0">
                <a:latin typeface="+mn-ea"/>
                <a:ea typeface="+mn-ea"/>
              </a:rPr>
              <a:t>在图示位置，俯视图为一圆。另两个视图为等边三角形，三角形的底边为圆锥底面的投影，两腰分别为圆锥面不同方向的两条轮廓素线的投影。</a:t>
            </a:r>
          </a:p>
        </p:txBody>
      </p:sp>
      <p:sp>
        <p:nvSpPr>
          <p:cNvPr id="70663" name="Text Box 7"/>
          <p:cNvSpPr txBox="1">
            <a:spLocks noChangeArrowheads="1"/>
          </p:cNvSpPr>
          <p:nvPr/>
        </p:nvSpPr>
        <p:spPr bwMode="auto">
          <a:xfrm>
            <a:off x="2174875" y="2916558"/>
            <a:ext cx="420687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+mn-ea"/>
                <a:ea typeface="+mn-ea"/>
              </a:rPr>
              <a:t>    </a:t>
            </a:r>
            <a:r>
              <a:rPr lang="zh-CN" altLang="en-US" sz="2400" b="1" dirty="0">
                <a:latin typeface="+mn-ea"/>
                <a:ea typeface="+mn-ea"/>
              </a:rPr>
              <a:t>圆锥是三角形动平面，以一直角边为轴线</a:t>
            </a:r>
            <a:r>
              <a:rPr lang="zh-CN" altLang="en-US" sz="2400" b="1" dirty="0">
                <a:latin typeface="+mn-ea"/>
                <a:ea typeface="+mn-ea"/>
                <a:sym typeface="Symbol" panose="05050102010706020507" pitchFamily="18" charset="2"/>
              </a:rPr>
              <a:t>旋转而成。</a:t>
            </a:r>
          </a:p>
        </p:txBody>
      </p:sp>
      <p:sp>
        <p:nvSpPr>
          <p:cNvPr id="70669" name="Text Box 13"/>
          <p:cNvSpPr txBox="1">
            <a:spLocks noChangeArrowheads="1"/>
          </p:cNvSpPr>
          <p:nvPr/>
        </p:nvSpPr>
        <p:spPr bwMode="auto">
          <a:xfrm>
            <a:off x="2006601" y="1881508"/>
            <a:ext cx="31085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FF3300"/>
                </a:solidFill>
                <a:latin typeface="+mn-ea"/>
                <a:ea typeface="+mn-ea"/>
                <a:sym typeface="Symbol" panose="05050102010706020507" pitchFamily="18" charset="2"/>
              </a:rPr>
              <a:t>⑴ </a:t>
            </a:r>
            <a:r>
              <a:rPr lang="zh-CN" altLang="en-US" sz="2400" b="1" dirty="0">
                <a:solidFill>
                  <a:srgbClr val="FF3300"/>
                </a:solidFill>
                <a:latin typeface="+mn-ea"/>
                <a:ea typeface="+mn-ea"/>
                <a:sym typeface="Symbol" panose="05050102010706020507" pitchFamily="18" charset="2"/>
              </a:rPr>
              <a:t>圆锥体</a:t>
            </a:r>
            <a:r>
              <a:rPr lang="en-US" altLang="zh-CN" sz="2400" b="1" dirty="0">
                <a:solidFill>
                  <a:srgbClr val="FF3300"/>
                </a:solidFill>
                <a:latin typeface="+mn-ea"/>
                <a:ea typeface="+mn-ea"/>
                <a:sym typeface="Symbol" panose="05050102010706020507" pitchFamily="18" charset="2"/>
              </a:rPr>
              <a:t>——</a:t>
            </a:r>
            <a:r>
              <a:rPr lang="zh-CN" altLang="en-US" sz="2400" b="1" dirty="0">
                <a:solidFill>
                  <a:srgbClr val="FF3300"/>
                </a:solidFill>
                <a:latin typeface="+mn-ea"/>
                <a:ea typeface="+mn-ea"/>
                <a:sym typeface="Symbol" panose="05050102010706020507" pitchFamily="18" charset="2"/>
              </a:rPr>
              <a:t>旋转体</a:t>
            </a:r>
          </a:p>
        </p:txBody>
      </p:sp>
      <p:sp>
        <p:nvSpPr>
          <p:cNvPr id="70670" name="Oval 14"/>
          <p:cNvSpPr>
            <a:spLocks noChangeArrowheads="1"/>
          </p:cNvSpPr>
          <p:nvPr/>
        </p:nvSpPr>
        <p:spPr bwMode="auto">
          <a:xfrm>
            <a:off x="6781800" y="5308595"/>
            <a:ext cx="1219200" cy="1143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sz="1600"/>
          </a:p>
        </p:txBody>
      </p: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7231064" y="2814633"/>
            <a:ext cx="452437" cy="481012"/>
            <a:chOff x="3604" y="1318"/>
            <a:chExt cx="285" cy="303"/>
          </a:xfrm>
        </p:grpSpPr>
        <p:sp>
          <p:nvSpPr>
            <p:cNvPr id="31826" name="Text Box 16"/>
            <p:cNvSpPr txBox="1">
              <a:spLocks noChangeArrowheads="1"/>
            </p:cNvSpPr>
            <p:nvPr/>
          </p:nvSpPr>
          <p:spPr bwMode="auto">
            <a:xfrm>
              <a:off x="3638" y="1318"/>
              <a:ext cx="25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/>
                <a:t> </a:t>
              </a:r>
              <a:r>
                <a:rPr lang="en-US" altLang="zh-CN" i="1">
                  <a:latin typeface="Dutch801 Rm BT" panose="02020603060505020304" pitchFamily="18" charset="0"/>
                </a:rPr>
                <a:t>s</a:t>
              </a:r>
              <a:r>
                <a:rPr lang="en-US" altLang="zh-CN">
                  <a:sym typeface="Symbol" panose="05050102010706020507" pitchFamily="18" charset="2"/>
                </a:rPr>
                <a:t></a:t>
              </a:r>
            </a:p>
          </p:txBody>
        </p:sp>
        <p:sp>
          <p:nvSpPr>
            <p:cNvPr id="31827" name="Text Box 17"/>
            <p:cNvSpPr txBox="1">
              <a:spLocks noChangeArrowheads="1"/>
            </p:cNvSpPr>
            <p:nvPr/>
          </p:nvSpPr>
          <p:spPr bwMode="auto">
            <a:xfrm>
              <a:off x="3604" y="1477"/>
              <a:ext cx="189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900">
                  <a:solidFill>
                    <a:srgbClr val="FF3300"/>
                  </a:solidFill>
                </a:rPr>
                <a:t>●</a:t>
              </a:r>
              <a:endParaRPr lang="en-US" altLang="zh-CN"/>
            </a:p>
          </p:txBody>
        </p:sp>
      </p:grpSp>
      <p:sp>
        <p:nvSpPr>
          <p:cNvPr id="36877" name="Rectangle 18"/>
          <p:cNvSpPr>
            <a:spLocks noChangeArrowheads="1"/>
          </p:cNvSpPr>
          <p:nvPr/>
        </p:nvSpPr>
        <p:spPr bwMode="auto">
          <a:xfrm>
            <a:off x="1774818" y="1263156"/>
            <a:ext cx="4392620" cy="482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altLang="zh-CN" sz="2800" b="1" dirty="0">
                <a:solidFill>
                  <a:schemeClr val="tx2"/>
                </a:solidFill>
                <a:latin typeface="+mn-ea"/>
                <a:ea typeface="+mn-ea"/>
              </a:rPr>
              <a:t>2.</a:t>
            </a:r>
            <a:r>
              <a:rPr lang="zh-CN" altLang="en-US" sz="2800" b="1" dirty="0">
                <a:solidFill>
                  <a:schemeClr val="tx2"/>
                </a:solidFill>
                <a:latin typeface="+mn-ea"/>
                <a:ea typeface="+mn-ea"/>
              </a:rPr>
              <a:t>圆锥的投影及表面取点</a:t>
            </a:r>
          </a:p>
        </p:txBody>
      </p:sp>
      <p:sp>
        <p:nvSpPr>
          <p:cNvPr id="70675" name="Text Box 19"/>
          <p:cNvSpPr txBox="1">
            <a:spLocks noChangeArrowheads="1"/>
          </p:cNvSpPr>
          <p:nvPr/>
        </p:nvSpPr>
        <p:spPr bwMode="auto">
          <a:xfrm>
            <a:off x="1989139" y="3005458"/>
            <a:ext cx="28007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FF3300"/>
                </a:solidFill>
                <a:latin typeface="+mn-ea"/>
                <a:ea typeface="+mn-ea"/>
                <a:sym typeface="Symbol" panose="05050102010706020507" pitchFamily="18" charset="2"/>
              </a:rPr>
              <a:t>⑵ </a:t>
            </a:r>
            <a:r>
              <a:rPr lang="zh-CN" altLang="en-US" sz="2400" b="1" dirty="0">
                <a:solidFill>
                  <a:srgbClr val="FF3300"/>
                </a:solidFill>
                <a:latin typeface="+mn-ea"/>
                <a:ea typeface="+mn-ea"/>
              </a:rPr>
              <a:t>圆锥体的三视图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70676" name="Text Box 20"/>
          <p:cNvSpPr txBox="1">
            <a:spLocks noChangeArrowheads="1"/>
          </p:cNvSpPr>
          <p:nvPr/>
        </p:nvSpPr>
        <p:spPr bwMode="auto">
          <a:xfrm>
            <a:off x="2009775" y="4643447"/>
            <a:ext cx="24929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FF3300"/>
                </a:solidFill>
                <a:latin typeface="+mn-ea"/>
                <a:ea typeface="+mn-ea"/>
                <a:sym typeface="Symbol" panose="05050102010706020507" pitchFamily="18" charset="2"/>
              </a:rPr>
              <a:t>⑷ </a:t>
            </a:r>
            <a:r>
              <a:rPr lang="zh-CN" altLang="en-US" sz="2400" b="1" dirty="0">
                <a:solidFill>
                  <a:srgbClr val="FF3300"/>
                </a:solidFill>
                <a:latin typeface="+mn-ea"/>
                <a:ea typeface="+mn-ea"/>
                <a:sym typeface="Symbol" panose="05050102010706020507" pitchFamily="18" charset="2"/>
              </a:rPr>
              <a:t>圆锥面上取点</a:t>
            </a:r>
            <a:endParaRPr lang="zh-CN" altLang="en-US" sz="2400" b="1" dirty="0"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70678" name="Line 22"/>
          <p:cNvSpPr>
            <a:spLocks noChangeShapeType="1"/>
          </p:cNvSpPr>
          <p:nvPr/>
        </p:nvSpPr>
        <p:spPr bwMode="auto">
          <a:xfrm flipH="1">
            <a:off x="7010400" y="3174995"/>
            <a:ext cx="381000" cy="167640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79" name="Freeform 23"/>
          <p:cNvSpPr>
            <a:spLocks/>
          </p:cNvSpPr>
          <p:nvPr/>
        </p:nvSpPr>
        <p:spPr bwMode="auto">
          <a:xfrm>
            <a:off x="7127875" y="4389434"/>
            <a:ext cx="2533650" cy="1587"/>
          </a:xfrm>
          <a:custGeom>
            <a:avLst/>
            <a:gdLst>
              <a:gd name="T0" fmla="*/ 0 w 1596"/>
              <a:gd name="T1" fmla="*/ 0 h 1"/>
              <a:gd name="T2" fmla="*/ 2147483647 w 1596"/>
              <a:gd name="T3" fmla="*/ 0 h 1"/>
              <a:gd name="T4" fmla="*/ 0 60000 65536"/>
              <a:gd name="T5" fmla="*/ 0 60000 65536"/>
              <a:gd name="T6" fmla="*/ 0 w 1596"/>
              <a:gd name="T7" fmla="*/ 0 h 1"/>
              <a:gd name="T8" fmla="*/ 1596 w 1596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596" h="1">
                <a:moveTo>
                  <a:pt x="0" y="0"/>
                </a:moveTo>
                <a:lnTo>
                  <a:pt x="1596" y="0"/>
                </a:lnTo>
              </a:path>
            </a:pathLst>
          </a:custGeom>
          <a:noFill/>
          <a:ln w="1905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0680" name="Freeform 24"/>
          <p:cNvSpPr>
            <a:spLocks/>
          </p:cNvSpPr>
          <p:nvPr/>
        </p:nvSpPr>
        <p:spPr bwMode="auto">
          <a:xfrm>
            <a:off x="7127875" y="4433883"/>
            <a:ext cx="1588" cy="1770062"/>
          </a:xfrm>
          <a:custGeom>
            <a:avLst/>
            <a:gdLst>
              <a:gd name="T0" fmla="*/ 0 w 1"/>
              <a:gd name="T1" fmla="*/ 0 h 1115"/>
              <a:gd name="T2" fmla="*/ 0 w 1"/>
              <a:gd name="T3" fmla="*/ 2147483647 h 1115"/>
              <a:gd name="T4" fmla="*/ 0 60000 65536"/>
              <a:gd name="T5" fmla="*/ 0 60000 65536"/>
              <a:gd name="T6" fmla="*/ 0 w 1"/>
              <a:gd name="T7" fmla="*/ 0 h 1115"/>
              <a:gd name="T8" fmla="*/ 1 w 1"/>
              <a:gd name="T9" fmla="*/ 1115 h 111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115">
                <a:moveTo>
                  <a:pt x="0" y="0"/>
                </a:moveTo>
                <a:lnTo>
                  <a:pt x="0" y="1115"/>
                </a:lnTo>
              </a:path>
            </a:pathLst>
          </a:custGeom>
          <a:noFill/>
          <a:ln w="1905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0681" name="Line 25"/>
          <p:cNvSpPr>
            <a:spLocks noChangeShapeType="1"/>
          </p:cNvSpPr>
          <p:nvPr/>
        </p:nvSpPr>
        <p:spPr bwMode="auto">
          <a:xfrm>
            <a:off x="7010400" y="4851395"/>
            <a:ext cx="0" cy="152400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" name="Group 26"/>
          <p:cNvGrpSpPr>
            <a:grpSpLocks/>
          </p:cNvGrpSpPr>
          <p:nvPr/>
        </p:nvGrpSpPr>
        <p:grpSpPr bwMode="auto">
          <a:xfrm>
            <a:off x="6970713" y="4057199"/>
            <a:ext cx="438719" cy="470325"/>
            <a:chOff x="3383" y="2570"/>
            <a:chExt cx="388" cy="301"/>
          </a:xfrm>
        </p:grpSpPr>
        <p:sp>
          <p:nvSpPr>
            <p:cNvPr id="31824" name="Text Box 27"/>
            <p:cNvSpPr txBox="1">
              <a:spLocks noChangeArrowheads="1"/>
            </p:cNvSpPr>
            <p:nvPr/>
          </p:nvSpPr>
          <p:spPr bwMode="auto">
            <a:xfrm>
              <a:off x="3383" y="2713"/>
              <a:ext cx="248" cy="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000">
                  <a:solidFill>
                    <a:srgbClr val="FF3300"/>
                  </a:solidFill>
                  <a:sym typeface="Wingdings" panose="05000000000000000000" pitchFamily="2" charset="2"/>
                </a:rPr>
                <a:t></a:t>
              </a:r>
              <a:endParaRPr lang="en-US" altLang="zh-CN" sz="1600"/>
            </a:p>
          </p:txBody>
        </p:sp>
        <p:sp>
          <p:nvSpPr>
            <p:cNvPr id="31825" name="Text Box 28"/>
            <p:cNvSpPr txBox="1">
              <a:spLocks noChangeArrowheads="1"/>
            </p:cNvSpPr>
            <p:nvPr/>
          </p:nvSpPr>
          <p:spPr bwMode="auto">
            <a:xfrm>
              <a:off x="3391" y="2570"/>
              <a:ext cx="380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/>
                <a:t> </a:t>
              </a:r>
              <a:r>
                <a:rPr lang="en-US" altLang="zh-CN" i="1">
                  <a:latin typeface="Dutch801 Rm BT" panose="02020603060505020304" pitchFamily="18" charset="0"/>
                </a:rPr>
                <a:t>k</a:t>
              </a:r>
              <a:r>
                <a:rPr lang="en-US" altLang="zh-CN">
                  <a:sym typeface="Symbol" panose="05050102010706020507" pitchFamily="18" charset="2"/>
                </a:rPr>
                <a:t></a:t>
              </a:r>
            </a:p>
          </p:txBody>
        </p:sp>
      </p:grpSp>
      <p:sp>
        <p:nvSpPr>
          <p:cNvPr id="70685" name="Freeform 29"/>
          <p:cNvSpPr>
            <a:spLocks/>
          </p:cNvSpPr>
          <p:nvPr/>
        </p:nvSpPr>
        <p:spPr bwMode="auto">
          <a:xfrm>
            <a:off x="6637338" y="4859334"/>
            <a:ext cx="1524000" cy="1587"/>
          </a:xfrm>
          <a:custGeom>
            <a:avLst/>
            <a:gdLst>
              <a:gd name="T0" fmla="*/ 0 w 960"/>
              <a:gd name="T1" fmla="*/ 0 h 1"/>
              <a:gd name="T2" fmla="*/ 2147483647 w 960"/>
              <a:gd name="T3" fmla="*/ 0 h 1"/>
              <a:gd name="T4" fmla="*/ 0 60000 65536"/>
              <a:gd name="T5" fmla="*/ 0 60000 65536"/>
              <a:gd name="T6" fmla="*/ 0 w 960"/>
              <a:gd name="T7" fmla="*/ 0 h 1"/>
              <a:gd name="T8" fmla="*/ 960 w 960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960" h="1">
                <a:moveTo>
                  <a:pt x="0" y="0"/>
                </a:moveTo>
                <a:lnTo>
                  <a:pt x="96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0687" name="Text Box 31"/>
          <p:cNvSpPr txBox="1">
            <a:spLocks noChangeArrowheads="1"/>
          </p:cNvSpPr>
          <p:nvPr/>
        </p:nvSpPr>
        <p:spPr bwMode="auto">
          <a:xfrm>
            <a:off x="2331692" y="5390713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+mn-ea"/>
                <a:ea typeface="+mn-ea"/>
              </a:rPr>
              <a:t>★</a:t>
            </a:r>
            <a:r>
              <a:rPr lang="zh-CN" altLang="en-US" sz="2400" b="1" dirty="0">
                <a:latin typeface="+mn-ea"/>
                <a:ea typeface="+mn-ea"/>
              </a:rPr>
              <a:t>辅助直线法</a:t>
            </a:r>
          </a:p>
        </p:txBody>
      </p:sp>
      <p:sp>
        <p:nvSpPr>
          <p:cNvPr id="70688" name="Text Box 32"/>
          <p:cNvSpPr txBox="1">
            <a:spLocks noChangeArrowheads="1"/>
          </p:cNvSpPr>
          <p:nvPr/>
        </p:nvSpPr>
        <p:spPr bwMode="auto">
          <a:xfrm>
            <a:off x="2331692" y="5953209"/>
            <a:ext cx="17235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+mn-ea"/>
                <a:ea typeface="+mn-ea"/>
              </a:rPr>
              <a:t>★</a:t>
            </a:r>
            <a:r>
              <a:rPr lang="zh-CN" altLang="en-US" sz="2400" b="1" dirty="0">
                <a:latin typeface="+mn-ea"/>
                <a:ea typeface="+mn-ea"/>
              </a:rPr>
              <a:t>辅助圆法</a:t>
            </a:r>
          </a:p>
        </p:txBody>
      </p:sp>
      <p:sp>
        <p:nvSpPr>
          <p:cNvPr id="70689" name="Freeform 33"/>
          <p:cNvSpPr>
            <a:spLocks/>
          </p:cNvSpPr>
          <p:nvPr/>
        </p:nvSpPr>
        <p:spPr bwMode="auto">
          <a:xfrm>
            <a:off x="8562975" y="4837109"/>
            <a:ext cx="1479550" cy="1587"/>
          </a:xfrm>
          <a:custGeom>
            <a:avLst/>
            <a:gdLst>
              <a:gd name="T0" fmla="*/ 0 w 932"/>
              <a:gd name="T1" fmla="*/ 0 h 1"/>
              <a:gd name="T2" fmla="*/ 2147483647 w 932"/>
              <a:gd name="T3" fmla="*/ 0 h 1"/>
              <a:gd name="T4" fmla="*/ 0 60000 65536"/>
              <a:gd name="T5" fmla="*/ 0 60000 65536"/>
              <a:gd name="T6" fmla="*/ 0 w 932"/>
              <a:gd name="T7" fmla="*/ 0 h 1"/>
              <a:gd name="T8" fmla="*/ 932 w 932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932" h="1">
                <a:moveTo>
                  <a:pt x="0" y="0"/>
                </a:moveTo>
                <a:lnTo>
                  <a:pt x="932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6" name="Group 34"/>
          <p:cNvGrpSpPr>
            <a:grpSpLocks/>
          </p:cNvGrpSpPr>
          <p:nvPr/>
        </p:nvGrpSpPr>
        <p:grpSpPr bwMode="auto">
          <a:xfrm>
            <a:off x="6781800" y="4851395"/>
            <a:ext cx="1219200" cy="1066800"/>
            <a:chOff x="3312" y="3072"/>
            <a:chExt cx="768" cy="672"/>
          </a:xfrm>
        </p:grpSpPr>
        <p:sp>
          <p:nvSpPr>
            <p:cNvPr id="31822" name="Line 35"/>
            <p:cNvSpPr>
              <a:spLocks noChangeShapeType="1"/>
            </p:cNvSpPr>
            <p:nvPr/>
          </p:nvSpPr>
          <p:spPr bwMode="auto">
            <a:xfrm flipV="1">
              <a:off x="3312" y="3072"/>
              <a:ext cx="0" cy="67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23" name="Line 36"/>
            <p:cNvSpPr>
              <a:spLocks noChangeShapeType="1"/>
            </p:cNvSpPr>
            <p:nvPr/>
          </p:nvSpPr>
          <p:spPr bwMode="auto">
            <a:xfrm flipV="1">
              <a:off x="4080" y="3072"/>
              <a:ext cx="0" cy="67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0693" name="Line 37"/>
          <p:cNvSpPr>
            <a:spLocks noChangeShapeType="1"/>
          </p:cNvSpPr>
          <p:nvPr/>
        </p:nvSpPr>
        <p:spPr bwMode="auto">
          <a:xfrm>
            <a:off x="7391400" y="3174995"/>
            <a:ext cx="1905000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" name="Group 38"/>
          <p:cNvGrpSpPr>
            <a:grpSpLocks/>
          </p:cNvGrpSpPr>
          <p:nvPr/>
        </p:nvGrpSpPr>
        <p:grpSpPr bwMode="auto">
          <a:xfrm>
            <a:off x="7246943" y="4135434"/>
            <a:ext cx="630238" cy="447675"/>
            <a:chOff x="3605" y="2150"/>
            <a:chExt cx="397" cy="282"/>
          </a:xfrm>
        </p:grpSpPr>
        <p:sp>
          <p:nvSpPr>
            <p:cNvPr id="31820" name="Text Box 39"/>
            <p:cNvSpPr txBox="1">
              <a:spLocks noChangeArrowheads="1"/>
            </p:cNvSpPr>
            <p:nvPr/>
          </p:nvSpPr>
          <p:spPr bwMode="auto">
            <a:xfrm>
              <a:off x="3742" y="2150"/>
              <a:ext cx="17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000">
                  <a:solidFill>
                    <a:srgbClr val="FF3300"/>
                  </a:solidFill>
                  <a:sym typeface="Wingdings" panose="05000000000000000000" pitchFamily="2" charset="2"/>
                </a:rPr>
                <a:t></a:t>
              </a:r>
              <a:endParaRPr lang="en-US" altLang="zh-CN" sz="1600"/>
            </a:p>
          </p:txBody>
        </p:sp>
        <p:sp>
          <p:nvSpPr>
            <p:cNvPr id="31821" name="Text Box 40"/>
            <p:cNvSpPr txBox="1">
              <a:spLocks noChangeArrowheads="1"/>
            </p:cNvSpPr>
            <p:nvPr/>
          </p:nvSpPr>
          <p:spPr bwMode="auto">
            <a:xfrm>
              <a:off x="3605" y="2180"/>
              <a:ext cx="3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/>
                <a:t>(</a:t>
              </a:r>
              <a:r>
                <a:rPr lang="en-US" altLang="zh-CN" sz="2000">
                  <a:latin typeface="Italic" panose="00000400000000000000" pitchFamily="2" charset="0"/>
                </a:rPr>
                <a:t>n</a:t>
              </a:r>
              <a:r>
                <a:rPr lang="en-US" altLang="zh-CN">
                  <a:sym typeface="Symbol" panose="05050102010706020507" pitchFamily="18" charset="2"/>
                </a:rPr>
                <a:t></a:t>
              </a:r>
              <a:r>
                <a:rPr lang="en-US" altLang="zh-CN" sz="2000"/>
                <a:t>)</a:t>
              </a:r>
            </a:p>
          </p:txBody>
        </p:sp>
      </p:grpSp>
      <p:sp>
        <p:nvSpPr>
          <p:cNvPr id="70697" name="Freeform 41"/>
          <p:cNvSpPr>
            <a:spLocks/>
          </p:cNvSpPr>
          <p:nvPr/>
        </p:nvSpPr>
        <p:spPr bwMode="auto">
          <a:xfrm>
            <a:off x="6992939" y="4254495"/>
            <a:ext cx="808037" cy="1588"/>
          </a:xfrm>
          <a:custGeom>
            <a:avLst/>
            <a:gdLst>
              <a:gd name="T0" fmla="*/ 2147483647 w 509"/>
              <a:gd name="T1" fmla="*/ 0 h 1"/>
              <a:gd name="T2" fmla="*/ 0 w 509"/>
              <a:gd name="T3" fmla="*/ 0 h 1"/>
              <a:gd name="T4" fmla="*/ 0 60000 65536"/>
              <a:gd name="T5" fmla="*/ 0 60000 65536"/>
              <a:gd name="T6" fmla="*/ 0 w 509"/>
              <a:gd name="T7" fmla="*/ 0 h 1"/>
              <a:gd name="T8" fmla="*/ 509 w 509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09" h="1">
                <a:moveTo>
                  <a:pt x="509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CC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0698" name="Text Box 42"/>
          <p:cNvSpPr txBox="1">
            <a:spLocks noChangeArrowheads="1"/>
          </p:cNvSpPr>
          <p:nvPr/>
        </p:nvSpPr>
        <p:spPr bwMode="auto">
          <a:xfrm>
            <a:off x="7340600" y="5546204"/>
            <a:ext cx="2696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latin typeface="Dutch801 Rm BT" panose="02020603060505020304" pitchFamily="18" charset="0"/>
              </a:rPr>
              <a:t>s</a:t>
            </a:r>
            <a:endParaRPr lang="en-US" altLang="zh-CN" sz="1600">
              <a:solidFill>
                <a:schemeClr val="tx2"/>
              </a:solidFill>
            </a:endParaRPr>
          </a:p>
        </p:txBody>
      </p:sp>
      <p:sp>
        <p:nvSpPr>
          <p:cNvPr id="70701" name="Freeform 45"/>
          <p:cNvSpPr>
            <a:spLocks/>
          </p:cNvSpPr>
          <p:nvPr/>
        </p:nvSpPr>
        <p:spPr bwMode="auto">
          <a:xfrm>
            <a:off x="7621589" y="4254495"/>
            <a:ext cx="1587" cy="1968500"/>
          </a:xfrm>
          <a:custGeom>
            <a:avLst/>
            <a:gdLst>
              <a:gd name="T0" fmla="*/ 0 w 1"/>
              <a:gd name="T1" fmla="*/ 0 h 1240"/>
              <a:gd name="T2" fmla="*/ 0 w 1"/>
              <a:gd name="T3" fmla="*/ 2147483647 h 1240"/>
              <a:gd name="T4" fmla="*/ 0 60000 65536"/>
              <a:gd name="T5" fmla="*/ 0 60000 65536"/>
              <a:gd name="T6" fmla="*/ 0 w 1"/>
              <a:gd name="T7" fmla="*/ 0 h 1240"/>
              <a:gd name="T8" fmla="*/ 1 w 1"/>
              <a:gd name="T9" fmla="*/ 1240 h 124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240">
                <a:moveTo>
                  <a:pt x="0" y="0"/>
                </a:moveTo>
                <a:lnTo>
                  <a:pt x="0" y="1240"/>
                </a:lnTo>
              </a:path>
            </a:pathLst>
          </a:custGeom>
          <a:noFill/>
          <a:ln w="19050">
            <a:solidFill>
              <a:srgbClr val="CC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0702" name="Freeform 46"/>
          <p:cNvSpPr>
            <a:spLocks/>
          </p:cNvSpPr>
          <p:nvPr/>
        </p:nvSpPr>
        <p:spPr bwMode="auto">
          <a:xfrm>
            <a:off x="7016750" y="5891209"/>
            <a:ext cx="381000" cy="447675"/>
          </a:xfrm>
          <a:custGeom>
            <a:avLst/>
            <a:gdLst>
              <a:gd name="T0" fmla="*/ 2147483647 w 240"/>
              <a:gd name="T1" fmla="*/ 0 h 282"/>
              <a:gd name="T2" fmla="*/ 0 w 240"/>
              <a:gd name="T3" fmla="*/ 2147483647 h 282"/>
              <a:gd name="T4" fmla="*/ 0 60000 65536"/>
              <a:gd name="T5" fmla="*/ 0 60000 65536"/>
              <a:gd name="T6" fmla="*/ 0 w 240"/>
              <a:gd name="T7" fmla="*/ 0 h 282"/>
              <a:gd name="T8" fmla="*/ 240 w 240"/>
              <a:gd name="T9" fmla="*/ 282 h 28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40" h="282">
                <a:moveTo>
                  <a:pt x="240" y="0"/>
                </a:moveTo>
                <a:lnTo>
                  <a:pt x="0" y="282"/>
                </a:lnTo>
              </a:path>
            </a:pathLst>
          </a:custGeom>
          <a:noFill/>
          <a:ln w="1905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0703" name="Freeform 47"/>
          <p:cNvSpPr>
            <a:spLocks/>
          </p:cNvSpPr>
          <p:nvPr/>
        </p:nvSpPr>
        <p:spPr bwMode="auto">
          <a:xfrm>
            <a:off x="7778750" y="4254495"/>
            <a:ext cx="1588" cy="1658938"/>
          </a:xfrm>
          <a:custGeom>
            <a:avLst/>
            <a:gdLst>
              <a:gd name="T0" fmla="*/ 0 w 1"/>
              <a:gd name="T1" fmla="*/ 0 h 1045"/>
              <a:gd name="T2" fmla="*/ 0 w 1"/>
              <a:gd name="T3" fmla="*/ 2147483647 h 1045"/>
              <a:gd name="T4" fmla="*/ 0 60000 65536"/>
              <a:gd name="T5" fmla="*/ 0 60000 65536"/>
              <a:gd name="T6" fmla="*/ 0 w 1"/>
              <a:gd name="T7" fmla="*/ 0 h 1045"/>
              <a:gd name="T8" fmla="*/ 1 w 1"/>
              <a:gd name="T9" fmla="*/ 1045 h 104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045">
                <a:moveTo>
                  <a:pt x="0" y="0"/>
                </a:moveTo>
                <a:lnTo>
                  <a:pt x="0" y="1045"/>
                </a:lnTo>
              </a:path>
            </a:pathLst>
          </a:custGeom>
          <a:noFill/>
          <a:ln w="19050">
            <a:solidFill>
              <a:srgbClr val="CC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8" name="Group 48"/>
          <p:cNvGrpSpPr>
            <a:grpSpLocks/>
          </p:cNvGrpSpPr>
          <p:nvPr/>
        </p:nvGrpSpPr>
        <p:grpSpPr bwMode="auto">
          <a:xfrm>
            <a:off x="7150101" y="4389434"/>
            <a:ext cx="2466975" cy="1793875"/>
            <a:chOff x="3544" y="2301"/>
            <a:chExt cx="1554" cy="1130"/>
          </a:xfrm>
        </p:grpSpPr>
        <p:sp>
          <p:nvSpPr>
            <p:cNvPr id="31818" name="Freeform 49"/>
            <p:cNvSpPr>
              <a:spLocks/>
            </p:cNvSpPr>
            <p:nvPr/>
          </p:nvSpPr>
          <p:spPr bwMode="auto">
            <a:xfrm>
              <a:off x="3544" y="3247"/>
              <a:ext cx="1" cy="184"/>
            </a:xfrm>
            <a:custGeom>
              <a:avLst/>
              <a:gdLst>
                <a:gd name="T0" fmla="*/ 0 w 1"/>
                <a:gd name="T1" fmla="*/ 0 h 184"/>
                <a:gd name="T2" fmla="*/ 0 w 1"/>
                <a:gd name="T3" fmla="*/ 184 h 184"/>
                <a:gd name="T4" fmla="*/ 0 60000 65536"/>
                <a:gd name="T5" fmla="*/ 0 60000 65536"/>
                <a:gd name="T6" fmla="*/ 0 w 1"/>
                <a:gd name="T7" fmla="*/ 0 h 184"/>
                <a:gd name="T8" fmla="*/ 1 w 1"/>
                <a:gd name="T9" fmla="*/ 184 h 18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84">
                  <a:moveTo>
                    <a:pt x="0" y="0"/>
                  </a:moveTo>
                  <a:lnTo>
                    <a:pt x="0" y="184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819" name="Freeform 50"/>
            <p:cNvSpPr>
              <a:spLocks/>
            </p:cNvSpPr>
            <p:nvPr/>
          </p:nvSpPr>
          <p:spPr bwMode="auto">
            <a:xfrm>
              <a:off x="4895" y="2301"/>
              <a:ext cx="203" cy="4"/>
            </a:xfrm>
            <a:custGeom>
              <a:avLst/>
              <a:gdLst>
                <a:gd name="T0" fmla="*/ 0 w 203"/>
                <a:gd name="T1" fmla="*/ 4 h 4"/>
                <a:gd name="T2" fmla="*/ 203 w 203"/>
                <a:gd name="T3" fmla="*/ 0 h 4"/>
                <a:gd name="T4" fmla="*/ 0 60000 65536"/>
                <a:gd name="T5" fmla="*/ 0 60000 65536"/>
                <a:gd name="T6" fmla="*/ 0 w 203"/>
                <a:gd name="T7" fmla="*/ 0 h 4"/>
                <a:gd name="T8" fmla="*/ 203 w 203"/>
                <a:gd name="T9" fmla="*/ 4 h 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3" h="4">
                  <a:moveTo>
                    <a:pt x="0" y="4"/>
                  </a:moveTo>
                  <a:lnTo>
                    <a:pt x="203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70707" name="Oval 51"/>
          <p:cNvSpPr>
            <a:spLocks noChangeArrowheads="1"/>
          </p:cNvSpPr>
          <p:nvPr/>
        </p:nvSpPr>
        <p:spPr bwMode="auto">
          <a:xfrm>
            <a:off x="7010400" y="5537195"/>
            <a:ext cx="762000" cy="685800"/>
          </a:xfrm>
          <a:prstGeom prst="ellipse">
            <a:avLst/>
          </a:prstGeom>
          <a:noFill/>
          <a:ln w="19050">
            <a:solidFill>
              <a:srgbClr val="CC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9" name="Group 52"/>
          <p:cNvGrpSpPr>
            <a:grpSpLocks/>
          </p:cNvGrpSpPr>
          <p:nvPr/>
        </p:nvGrpSpPr>
        <p:grpSpPr bwMode="auto">
          <a:xfrm>
            <a:off x="7315201" y="5260969"/>
            <a:ext cx="454025" cy="470315"/>
            <a:chOff x="2604" y="3268"/>
            <a:chExt cx="276" cy="262"/>
          </a:xfrm>
        </p:grpSpPr>
        <p:sp>
          <p:nvSpPr>
            <p:cNvPr id="31816" name="Text Box 53"/>
            <p:cNvSpPr txBox="1">
              <a:spLocks noChangeArrowheads="1"/>
            </p:cNvSpPr>
            <p:nvPr/>
          </p:nvSpPr>
          <p:spPr bwMode="auto">
            <a:xfrm>
              <a:off x="2698" y="3401"/>
              <a:ext cx="182" cy="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900">
                  <a:solidFill>
                    <a:srgbClr val="FF3300"/>
                  </a:solidFill>
                </a:rPr>
                <a:t>●</a:t>
              </a:r>
              <a:endParaRPr lang="en-US" altLang="zh-CN"/>
            </a:p>
          </p:txBody>
        </p:sp>
        <p:sp>
          <p:nvSpPr>
            <p:cNvPr id="31817" name="Text Box 54"/>
            <p:cNvSpPr txBox="1">
              <a:spLocks noChangeArrowheads="1"/>
            </p:cNvSpPr>
            <p:nvPr/>
          </p:nvSpPr>
          <p:spPr bwMode="auto">
            <a:xfrm>
              <a:off x="2604" y="3268"/>
              <a:ext cx="188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latin typeface="Dutch801 Rm BT" panose="02020603060505020304" pitchFamily="18" charset="0"/>
                </a:rPr>
                <a:t>n</a:t>
              </a:r>
              <a:endParaRPr lang="en-US" altLang="zh-CN" sz="1600"/>
            </a:p>
          </p:txBody>
        </p:sp>
      </p:grpSp>
      <p:grpSp>
        <p:nvGrpSpPr>
          <p:cNvPr id="10" name="Group 55"/>
          <p:cNvGrpSpPr>
            <a:grpSpLocks/>
          </p:cNvGrpSpPr>
          <p:nvPr/>
        </p:nvGrpSpPr>
        <p:grpSpPr bwMode="auto">
          <a:xfrm>
            <a:off x="6997694" y="6070603"/>
            <a:ext cx="452230" cy="369888"/>
            <a:chOff x="3434" y="3868"/>
            <a:chExt cx="234" cy="233"/>
          </a:xfrm>
        </p:grpSpPr>
        <p:sp>
          <p:nvSpPr>
            <p:cNvPr id="31814" name="Text Box 56"/>
            <p:cNvSpPr txBox="1">
              <a:spLocks noChangeArrowheads="1"/>
            </p:cNvSpPr>
            <p:nvPr/>
          </p:nvSpPr>
          <p:spPr bwMode="auto">
            <a:xfrm>
              <a:off x="3434" y="3868"/>
              <a:ext cx="14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000" dirty="0">
                  <a:solidFill>
                    <a:srgbClr val="FF3300"/>
                  </a:solidFill>
                  <a:sym typeface="Wingdings" panose="05000000000000000000" pitchFamily="2" charset="2"/>
                </a:rPr>
                <a:t></a:t>
              </a:r>
              <a:endParaRPr lang="en-US" altLang="zh-CN" sz="1600" dirty="0"/>
            </a:p>
          </p:txBody>
        </p:sp>
        <p:sp>
          <p:nvSpPr>
            <p:cNvPr id="31815" name="Text Box 57"/>
            <p:cNvSpPr txBox="1">
              <a:spLocks noChangeArrowheads="1"/>
            </p:cNvSpPr>
            <p:nvPr/>
          </p:nvSpPr>
          <p:spPr bwMode="auto">
            <a:xfrm>
              <a:off x="3512" y="3868"/>
              <a:ext cx="15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latin typeface="Dutch801 Rm BT" panose="02020603060505020304" pitchFamily="18" charset="0"/>
                </a:rPr>
                <a:t>k</a:t>
              </a:r>
              <a:endParaRPr lang="en-US" altLang="zh-CN" sz="1600"/>
            </a:p>
          </p:txBody>
        </p:sp>
      </p:grpSp>
      <p:grpSp>
        <p:nvGrpSpPr>
          <p:cNvPr id="11" name="Group 58"/>
          <p:cNvGrpSpPr>
            <a:grpSpLocks/>
          </p:cNvGrpSpPr>
          <p:nvPr/>
        </p:nvGrpSpPr>
        <p:grpSpPr bwMode="auto">
          <a:xfrm>
            <a:off x="9313864" y="4278308"/>
            <a:ext cx="466725" cy="450850"/>
            <a:chOff x="4907" y="2240"/>
            <a:chExt cx="294" cy="284"/>
          </a:xfrm>
        </p:grpSpPr>
        <p:sp>
          <p:nvSpPr>
            <p:cNvPr id="31812" name="Text Box 59"/>
            <p:cNvSpPr txBox="1">
              <a:spLocks noChangeArrowheads="1"/>
            </p:cNvSpPr>
            <p:nvPr/>
          </p:nvSpPr>
          <p:spPr bwMode="auto">
            <a:xfrm>
              <a:off x="5012" y="2240"/>
              <a:ext cx="17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000">
                  <a:solidFill>
                    <a:srgbClr val="FF3300"/>
                  </a:solidFill>
                  <a:sym typeface="Wingdings" panose="05000000000000000000" pitchFamily="2" charset="2"/>
                </a:rPr>
                <a:t></a:t>
              </a:r>
              <a:endParaRPr lang="en-US" altLang="zh-CN" sz="1600"/>
            </a:p>
          </p:txBody>
        </p:sp>
        <p:sp>
          <p:nvSpPr>
            <p:cNvPr id="31813" name="Text Box 60"/>
            <p:cNvSpPr txBox="1">
              <a:spLocks noChangeArrowheads="1"/>
            </p:cNvSpPr>
            <p:nvPr/>
          </p:nvSpPr>
          <p:spPr bwMode="auto">
            <a:xfrm>
              <a:off x="4907" y="2272"/>
              <a:ext cx="29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/>
                <a:t> </a:t>
              </a:r>
              <a:r>
                <a:rPr lang="en-US" altLang="zh-CN" i="1" dirty="0">
                  <a:latin typeface="Dutch801 Rm BT" panose="02020603060505020304" pitchFamily="18" charset="0"/>
                </a:rPr>
                <a:t>k</a:t>
              </a:r>
              <a:r>
                <a:rPr lang="en-US" altLang="zh-CN" dirty="0">
                  <a:sym typeface="Symbol" panose="05050102010706020507" pitchFamily="18" charset="2"/>
                </a:rPr>
                <a:t></a:t>
              </a:r>
            </a:p>
          </p:txBody>
        </p:sp>
      </p:grpSp>
      <p:sp>
        <p:nvSpPr>
          <p:cNvPr id="70717" name="Freeform 61"/>
          <p:cNvSpPr>
            <a:spLocks/>
          </p:cNvSpPr>
          <p:nvPr/>
        </p:nvSpPr>
        <p:spPr bwMode="auto">
          <a:xfrm>
            <a:off x="8355023" y="1965309"/>
            <a:ext cx="836613" cy="187325"/>
          </a:xfrm>
          <a:custGeom>
            <a:avLst/>
            <a:gdLst>
              <a:gd name="T0" fmla="*/ 0 w 527"/>
              <a:gd name="T1" fmla="*/ 2147483647 h 118"/>
              <a:gd name="T2" fmla="*/ 2147483647 w 527"/>
              <a:gd name="T3" fmla="*/ 2147483647 h 118"/>
              <a:gd name="T4" fmla="*/ 2147483647 w 527"/>
              <a:gd name="T5" fmla="*/ 2147483647 h 118"/>
              <a:gd name="T6" fmla="*/ 2147483647 w 527"/>
              <a:gd name="T7" fmla="*/ 2147483647 h 118"/>
              <a:gd name="T8" fmla="*/ 2147483647 w 527"/>
              <a:gd name="T9" fmla="*/ 2147483647 h 118"/>
              <a:gd name="T10" fmla="*/ 2147483647 w 527"/>
              <a:gd name="T11" fmla="*/ 2147483647 h 118"/>
              <a:gd name="T12" fmla="*/ 2147483647 w 527"/>
              <a:gd name="T13" fmla="*/ 0 h 11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27"/>
              <a:gd name="T22" fmla="*/ 0 h 118"/>
              <a:gd name="T23" fmla="*/ 527 w 527"/>
              <a:gd name="T24" fmla="*/ 118 h 11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27" h="118">
                <a:moveTo>
                  <a:pt x="0" y="17"/>
                </a:moveTo>
                <a:cubicBezTo>
                  <a:pt x="17" y="29"/>
                  <a:pt x="67" y="71"/>
                  <a:pt x="100" y="87"/>
                </a:cubicBezTo>
                <a:cubicBezTo>
                  <a:pt x="133" y="103"/>
                  <a:pt x="160" y="110"/>
                  <a:pt x="196" y="114"/>
                </a:cubicBezTo>
                <a:cubicBezTo>
                  <a:pt x="232" y="118"/>
                  <a:pt x="283" y="117"/>
                  <a:pt x="318" y="114"/>
                </a:cubicBezTo>
                <a:cubicBezTo>
                  <a:pt x="353" y="111"/>
                  <a:pt x="379" y="106"/>
                  <a:pt x="405" y="96"/>
                </a:cubicBezTo>
                <a:cubicBezTo>
                  <a:pt x="431" y="86"/>
                  <a:pt x="455" y="68"/>
                  <a:pt x="475" y="52"/>
                </a:cubicBezTo>
                <a:cubicBezTo>
                  <a:pt x="495" y="36"/>
                  <a:pt x="516" y="11"/>
                  <a:pt x="527" y="0"/>
                </a:cubicBezTo>
              </a:path>
            </a:pathLst>
          </a:cu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0718" name="Text Box 62"/>
          <p:cNvSpPr txBox="1">
            <a:spLocks noChangeArrowheads="1"/>
          </p:cNvSpPr>
          <p:nvPr/>
        </p:nvSpPr>
        <p:spPr bwMode="auto">
          <a:xfrm>
            <a:off x="8699510" y="1891772"/>
            <a:ext cx="4283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latin typeface="宋体" panose="02010600030101010101" pitchFamily="2" charset="-122"/>
              </a:rPr>
              <a:t>N</a:t>
            </a:r>
            <a:r>
              <a:rPr lang="en-US" altLang="zh-CN" sz="1000" dirty="0">
                <a:solidFill>
                  <a:srgbClr val="FF0000"/>
                </a:solidFill>
              </a:rPr>
              <a:t>●</a:t>
            </a:r>
          </a:p>
        </p:txBody>
      </p:sp>
      <p:sp>
        <p:nvSpPr>
          <p:cNvPr id="70719" name="Text Box 63"/>
          <p:cNvSpPr txBox="1">
            <a:spLocks noChangeArrowheads="1"/>
          </p:cNvSpPr>
          <p:nvPr/>
        </p:nvSpPr>
        <p:spPr bwMode="auto">
          <a:xfrm>
            <a:off x="2554289" y="2414908"/>
            <a:ext cx="295465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latin typeface="+mn-ea"/>
                <a:ea typeface="+mn-ea"/>
              </a:rPr>
              <a:t>动平面直角三角形。</a:t>
            </a:r>
          </a:p>
        </p:txBody>
      </p:sp>
      <p:sp>
        <p:nvSpPr>
          <p:cNvPr id="70724" name="Text Box 68"/>
          <p:cNvSpPr txBox="1">
            <a:spLocks noChangeArrowheads="1"/>
          </p:cNvSpPr>
          <p:nvPr/>
        </p:nvSpPr>
        <p:spPr bwMode="auto">
          <a:xfrm>
            <a:off x="8248651" y="5356906"/>
            <a:ext cx="203676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accent2"/>
                </a:solidFill>
              </a:rPr>
              <a:t>如何在圆锥面上作直线？</a:t>
            </a:r>
          </a:p>
        </p:txBody>
      </p:sp>
      <p:sp>
        <p:nvSpPr>
          <p:cNvPr id="70725" name="Text Box 69"/>
          <p:cNvSpPr txBox="1">
            <a:spLocks noChangeArrowheads="1"/>
          </p:cNvSpPr>
          <p:nvPr/>
        </p:nvSpPr>
        <p:spPr bwMode="auto">
          <a:xfrm>
            <a:off x="8351839" y="5398181"/>
            <a:ext cx="16795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3300"/>
                </a:solidFill>
              </a:rPr>
              <a:t>过锥顶作一条素线。</a:t>
            </a:r>
          </a:p>
        </p:txBody>
      </p:sp>
      <p:sp>
        <p:nvSpPr>
          <p:cNvPr id="70726" name="Text Box 70"/>
          <p:cNvSpPr txBox="1">
            <a:spLocks noChangeArrowheads="1"/>
          </p:cNvSpPr>
          <p:nvPr/>
        </p:nvSpPr>
        <p:spPr bwMode="auto">
          <a:xfrm>
            <a:off x="8375650" y="5763692"/>
            <a:ext cx="13388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accent2"/>
                </a:solidFill>
              </a:rPr>
              <a:t>圆的半径？</a:t>
            </a:r>
          </a:p>
        </p:txBody>
      </p:sp>
      <p:sp>
        <p:nvSpPr>
          <p:cNvPr id="70727" name="Line 71"/>
          <p:cNvSpPr>
            <a:spLocks noChangeShapeType="1"/>
          </p:cNvSpPr>
          <p:nvPr/>
        </p:nvSpPr>
        <p:spPr bwMode="auto">
          <a:xfrm>
            <a:off x="6781800" y="4851395"/>
            <a:ext cx="12192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28" name="Line 72"/>
          <p:cNvSpPr>
            <a:spLocks noChangeShapeType="1"/>
          </p:cNvSpPr>
          <p:nvPr/>
        </p:nvSpPr>
        <p:spPr bwMode="auto">
          <a:xfrm>
            <a:off x="8686800" y="4851395"/>
            <a:ext cx="12192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29" name="Line 73"/>
          <p:cNvSpPr>
            <a:spLocks noChangeShapeType="1"/>
          </p:cNvSpPr>
          <p:nvPr/>
        </p:nvSpPr>
        <p:spPr bwMode="auto">
          <a:xfrm flipH="1">
            <a:off x="6781800" y="3174996"/>
            <a:ext cx="609600" cy="16859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30" name="Line 74"/>
          <p:cNvSpPr>
            <a:spLocks noChangeShapeType="1"/>
          </p:cNvSpPr>
          <p:nvPr/>
        </p:nvSpPr>
        <p:spPr bwMode="auto">
          <a:xfrm flipH="1" flipV="1">
            <a:off x="9296400" y="3173408"/>
            <a:ext cx="609600" cy="1676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31" name="Line 75"/>
          <p:cNvSpPr>
            <a:spLocks noChangeShapeType="1"/>
          </p:cNvSpPr>
          <p:nvPr/>
        </p:nvSpPr>
        <p:spPr bwMode="auto">
          <a:xfrm flipH="1">
            <a:off x="8686800" y="3173409"/>
            <a:ext cx="609600" cy="16859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32" name="Line 76"/>
          <p:cNvSpPr>
            <a:spLocks noChangeShapeType="1"/>
          </p:cNvSpPr>
          <p:nvPr/>
        </p:nvSpPr>
        <p:spPr bwMode="auto">
          <a:xfrm flipH="1" flipV="1">
            <a:off x="7391400" y="3174995"/>
            <a:ext cx="609600" cy="1676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33" name="Line 77"/>
          <p:cNvSpPr>
            <a:spLocks noChangeShapeType="1"/>
          </p:cNvSpPr>
          <p:nvPr/>
        </p:nvSpPr>
        <p:spPr bwMode="auto">
          <a:xfrm>
            <a:off x="7780339" y="4256083"/>
            <a:ext cx="1533525" cy="0"/>
          </a:xfrm>
          <a:prstGeom prst="line">
            <a:avLst/>
          </a:prstGeom>
          <a:noFill/>
          <a:ln w="19050">
            <a:solidFill>
              <a:srgbClr val="CC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3" name="Group 78"/>
          <p:cNvGrpSpPr>
            <a:grpSpLocks/>
          </p:cNvGrpSpPr>
          <p:nvPr/>
        </p:nvGrpSpPr>
        <p:grpSpPr bwMode="auto">
          <a:xfrm>
            <a:off x="7620001" y="4262433"/>
            <a:ext cx="1692275" cy="1655762"/>
            <a:chOff x="3840" y="2221"/>
            <a:chExt cx="1066" cy="1043"/>
          </a:xfrm>
        </p:grpSpPr>
        <p:sp>
          <p:nvSpPr>
            <p:cNvPr id="31807" name="Line 79"/>
            <p:cNvSpPr>
              <a:spLocks noChangeShapeType="1"/>
            </p:cNvSpPr>
            <p:nvPr/>
          </p:nvSpPr>
          <p:spPr bwMode="auto">
            <a:xfrm>
              <a:off x="3840" y="3072"/>
              <a:ext cx="0" cy="192"/>
            </a:xfrm>
            <a:prstGeom prst="line">
              <a:avLst/>
            </a:prstGeom>
            <a:noFill/>
            <a:ln w="38100">
              <a:solidFill>
                <a:srgbClr val="99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08" name="Freeform 80"/>
            <p:cNvSpPr>
              <a:spLocks/>
            </p:cNvSpPr>
            <p:nvPr/>
          </p:nvSpPr>
          <p:spPr bwMode="auto">
            <a:xfrm>
              <a:off x="4689" y="2221"/>
              <a:ext cx="217" cy="1"/>
            </a:xfrm>
            <a:custGeom>
              <a:avLst/>
              <a:gdLst>
                <a:gd name="T0" fmla="*/ 0 w 217"/>
                <a:gd name="T1" fmla="*/ 1 h 1"/>
                <a:gd name="T2" fmla="*/ 217 w 217"/>
                <a:gd name="T3" fmla="*/ 0 h 1"/>
                <a:gd name="T4" fmla="*/ 0 60000 65536"/>
                <a:gd name="T5" fmla="*/ 0 60000 65536"/>
                <a:gd name="T6" fmla="*/ 0 w 217"/>
                <a:gd name="T7" fmla="*/ 0 h 1"/>
                <a:gd name="T8" fmla="*/ 217 w 217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17" h="1">
                  <a:moveTo>
                    <a:pt x="0" y="1"/>
                  </a:moveTo>
                  <a:lnTo>
                    <a:pt x="217" y="0"/>
                  </a:lnTo>
                </a:path>
              </a:pathLst>
            </a:custGeom>
            <a:noFill/>
            <a:ln w="38100">
              <a:solidFill>
                <a:srgbClr val="99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4" name="Group 81"/>
          <p:cNvGrpSpPr>
            <a:grpSpLocks/>
          </p:cNvGrpSpPr>
          <p:nvPr/>
        </p:nvGrpSpPr>
        <p:grpSpPr bwMode="auto">
          <a:xfrm>
            <a:off x="8843966" y="4097333"/>
            <a:ext cx="635000" cy="400050"/>
            <a:chOff x="2592" y="3768"/>
            <a:chExt cx="400" cy="252"/>
          </a:xfrm>
        </p:grpSpPr>
        <p:sp>
          <p:nvSpPr>
            <p:cNvPr id="31805" name="Text Box 82"/>
            <p:cNvSpPr txBox="1">
              <a:spLocks noChangeArrowheads="1"/>
            </p:cNvSpPr>
            <p:nvPr/>
          </p:nvSpPr>
          <p:spPr bwMode="auto">
            <a:xfrm>
              <a:off x="2630" y="3768"/>
              <a:ext cx="36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/>
                <a:t>(</a:t>
              </a:r>
              <a:r>
                <a:rPr lang="en-US" altLang="zh-CN" i="1">
                  <a:latin typeface="Dutch801 Rm BT" panose="02020603060505020304" pitchFamily="18" charset="0"/>
                </a:rPr>
                <a:t>n</a:t>
              </a:r>
              <a:r>
                <a:rPr lang="en-US" altLang="zh-CN">
                  <a:sym typeface="Symbol" panose="05050102010706020507" pitchFamily="18" charset="2"/>
                </a:rPr>
                <a:t></a:t>
              </a:r>
              <a:r>
                <a:rPr lang="en-US" altLang="zh-CN" sz="2000"/>
                <a:t>)</a:t>
              </a:r>
            </a:p>
          </p:txBody>
        </p:sp>
        <p:sp>
          <p:nvSpPr>
            <p:cNvPr id="31806" name="Text Box 83"/>
            <p:cNvSpPr txBox="1">
              <a:spLocks noChangeArrowheads="1"/>
            </p:cNvSpPr>
            <p:nvPr/>
          </p:nvSpPr>
          <p:spPr bwMode="auto">
            <a:xfrm>
              <a:off x="2592" y="3801"/>
              <a:ext cx="181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800">
                  <a:solidFill>
                    <a:srgbClr val="FF3300"/>
                  </a:solidFill>
                </a:rPr>
                <a:t>●</a:t>
              </a:r>
              <a:endParaRPr lang="en-US" altLang="zh-CN"/>
            </a:p>
          </p:txBody>
        </p:sp>
      </p:grpSp>
      <p:sp>
        <p:nvSpPr>
          <p:cNvPr id="70740" name="Text Box 84"/>
          <p:cNvSpPr txBox="1">
            <a:spLocks noChangeArrowheads="1"/>
          </p:cNvSpPr>
          <p:nvPr/>
        </p:nvSpPr>
        <p:spPr bwMode="auto">
          <a:xfrm>
            <a:off x="6337301" y="4677842"/>
            <a:ext cx="3449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latin typeface="Dutch801 Rm BT" panose="02020603060505020304" pitchFamily="18" charset="0"/>
              </a:rPr>
              <a:t>b</a:t>
            </a:r>
            <a:r>
              <a:rPr lang="en-US" altLang="zh-CN"/>
              <a:t>′</a:t>
            </a:r>
          </a:p>
        </p:txBody>
      </p:sp>
      <p:sp>
        <p:nvSpPr>
          <p:cNvPr id="70741" name="Text Box 85"/>
          <p:cNvSpPr txBox="1">
            <a:spLocks noChangeArrowheads="1"/>
          </p:cNvSpPr>
          <p:nvPr/>
        </p:nvSpPr>
        <p:spPr bwMode="auto">
          <a:xfrm>
            <a:off x="9017001" y="4819129"/>
            <a:ext cx="3834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 dirty="0">
                <a:latin typeface="Dutch801 Rm BT" panose="02020603060505020304" pitchFamily="18" charset="0"/>
              </a:rPr>
              <a:t>b</a:t>
            </a:r>
            <a:r>
              <a:rPr lang="en-US" altLang="zh-CN" dirty="0"/>
              <a:t>″</a:t>
            </a:r>
          </a:p>
        </p:txBody>
      </p:sp>
      <p:sp>
        <p:nvSpPr>
          <p:cNvPr id="70742" name="Text Box 86"/>
          <p:cNvSpPr txBox="1">
            <a:spLocks noChangeArrowheads="1"/>
          </p:cNvSpPr>
          <p:nvPr/>
        </p:nvSpPr>
        <p:spPr bwMode="auto">
          <a:xfrm>
            <a:off x="6503989" y="5825604"/>
            <a:ext cx="30168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latin typeface="Dutch801 Rm BT" panose="02020603060505020304" pitchFamily="18" charset="0"/>
              </a:rPr>
              <a:t>b</a:t>
            </a:r>
            <a:endParaRPr lang="en-US" altLang="zh-CN"/>
          </a:p>
        </p:txBody>
      </p:sp>
      <p:sp>
        <p:nvSpPr>
          <p:cNvPr id="70743" name="Text Box 87"/>
          <p:cNvSpPr txBox="1">
            <a:spLocks noChangeArrowheads="1"/>
          </p:cNvSpPr>
          <p:nvPr/>
        </p:nvSpPr>
        <p:spPr bwMode="auto">
          <a:xfrm>
            <a:off x="6729413" y="4819129"/>
            <a:ext cx="3497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latin typeface="Dutch801 Rm BT" panose="02020603060505020304" pitchFamily="18" charset="0"/>
              </a:rPr>
              <a:t>d</a:t>
            </a:r>
            <a:r>
              <a:rPr lang="en-US" altLang="zh-CN"/>
              <a:t>′</a:t>
            </a:r>
          </a:p>
        </p:txBody>
      </p:sp>
      <p:sp>
        <p:nvSpPr>
          <p:cNvPr id="70744" name="Text Box 88"/>
          <p:cNvSpPr txBox="1">
            <a:spLocks noChangeArrowheads="1"/>
          </p:cNvSpPr>
          <p:nvPr/>
        </p:nvSpPr>
        <p:spPr bwMode="auto">
          <a:xfrm>
            <a:off x="6762750" y="6317729"/>
            <a:ext cx="3064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latin typeface="Dutch801 Rm BT" panose="02020603060505020304" pitchFamily="18" charset="0"/>
              </a:rPr>
              <a:t>d</a:t>
            </a:r>
            <a:endParaRPr lang="en-US" altLang="zh-CN"/>
          </a:p>
        </p:txBody>
      </p:sp>
      <p:sp>
        <p:nvSpPr>
          <p:cNvPr id="89" name="矩形 66"/>
          <p:cNvSpPr>
            <a:spLocks noChangeArrowheads="1"/>
          </p:cNvSpPr>
          <p:nvPr/>
        </p:nvSpPr>
        <p:spPr bwMode="auto">
          <a:xfrm>
            <a:off x="1422377" y="605463"/>
            <a:ext cx="60245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二、曲面立体的投影表面取点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1" name="Picture 5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682445" y="5840466"/>
            <a:ext cx="1404000" cy="139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" name="Picture 5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 rot="16200000">
            <a:off x="6692596" y="5816313"/>
            <a:ext cx="1404000" cy="139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3" name="Picture 5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 rot="16200000">
            <a:off x="6424046" y="3928797"/>
            <a:ext cx="1944000" cy="1933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4" name="Picture 5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 rot="16200000">
            <a:off x="8350375" y="3929539"/>
            <a:ext cx="1908000" cy="189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0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2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0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706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0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0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0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1" dur="500"/>
                                        <p:tgtEl>
                                          <p:spTgt spid="70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7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70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75"/>
                                        <p:tgtEl>
                                          <p:spTgt spid="70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706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70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70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70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70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3" dur="500"/>
                                        <p:tgtEl>
                                          <p:spTgt spid="706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8" dur="500"/>
                                        <p:tgtEl>
                                          <p:spTgt spid="70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75"/>
                                        <p:tgtEl>
                                          <p:spTgt spid="707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75"/>
                                        <p:tgtEl>
                                          <p:spTgt spid="707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75"/>
                                        <p:tgtEl>
                                          <p:spTgt spid="707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8" dur="500"/>
                                        <p:tgtEl>
                                          <p:spTgt spid="70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9" dur="500"/>
                                        <p:tgtEl>
                                          <p:spTgt spid="70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5000" fill="hold"/>
                                        <p:tgtEl>
                                          <p:spTgt spid="707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0" fill="hold"/>
                                        <p:tgtEl>
                                          <p:spTgt spid="707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70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70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6" dur="500"/>
                                        <p:tgtEl>
                                          <p:spTgt spid="70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1" dur="75"/>
                                        <p:tgtEl>
                                          <p:spTgt spid="707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 nodeType="clickPar">
                      <p:stCondLst>
                        <p:cond delay="indefinite"/>
                      </p:stCondLst>
                      <p:childTnLst>
                        <p:par>
                          <p:cTn id="1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6" dur="500"/>
                                        <p:tgtEl>
                                          <p:spTgt spid="70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1" dur="75"/>
                                        <p:tgtEl>
                                          <p:spTgt spid="707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6" dur="500"/>
                                        <p:tgtEl>
                                          <p:spTgt spid="70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 nodeType="clickPar">
                      <p:stCondLst>
                        <p:cond delay="indefinite"/>
                      </p:stCondLst>
                      <p:childTnLst>
                        <p:par>
                          <p:cTn id="1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1" dur="500"/>
                                        <p:tgtEl>
                                          <p:spTgt spid="70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 nodeType="clickPar">
                      <p:stCondLst>
                        <p:cond delay="indefinite"/>
                      </p:stCondLst>
                      <p:childTnLst>
                        <p:par>
                          <p:cTn id="2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4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 nodeType="clickPar">
                      <p:stCondLst>
                        <p:cond delay="indefinite"/>
                      </p:stCondLst>
                      <p:childTnLst>
                        <p:par>
                          <p:cTn id="2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70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 nodeType="clickPar">
                      <p:stCondLst>
                        <p:cond delay="indefinite"/>
                      </p:stCondLst>
                      <p:childTnLst>
                        <p:par>
                          <p:cTn id="2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 nodeType="clickPar">
                      <p:stCondLst>
                        <p:cond delay="indefinite"/>
                      </p:stCondLst>
                      <p:childTnLst>
                        <p:par>
                          <p:cTn id="2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 nodeType="clickPar">
                      <p:stCondLst>
                        <p:cond delay="indefinite"/>
                      </p:stCondLst>
                      <p:childTnLst>
                        <p:par>
                          <p:cTn id="2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7" dur="500"/>
                                        <p:tgtEl>
                                          <p:spTgt spid="70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 nodeType="clickPar">
                      <p:stCondLst>
                        <p:cond delay="indefinite"/>
                      </p:stCondLst>
                      <p:childTnLst>
                        <p:par>
                          <p:cTn id="2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2" dur="500" fill="hold"/>
                                        <p:tgtEl>
                                          <p:spTgt spid="70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3" dur="500" fill="hold"/>
                                        <p:tgtEl>
                                          <p:spTgt spid="70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 nodeType="clickPar">
                      <p:stCondLst>
                        <p:cond delay="indefinite"/>
                      </p:stCondLst>
                      <p:childTnLst>
                        <p:par>
                          <p:cTn id="2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8" dur="500"/>
                                        <p:tgtEl>
                                          <p:spTgt spid="70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 nodeType="clickPar">
                      <p:stCondLst>
                        <p:cond delay="indefinite"/>
                      </p:stCondLst>
                      <p:childTnLst>
                        <p:par>
                          <p:cTn id="2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1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 nodeType="clickPar">
                      <p:stCondLst>
                        <p:cond delay="indefinite"/>
                      </p:stCondLst>
                      <p:childTnLst>
                        <p:par>
                          <p:cTn id="2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9" dur="500"/>
                                        <p:tgtEl>
                                          <p:spTgt spid="70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 nodeType="clickPar">
                      <p:stCondLst>
                        <p:cond delay="indefinite"/>
                      </p:stCondLst>
                      <p:childTnLst>
                        <p:par>
                          <p:cTn id="2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70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5" dur="500" fill="hold"/>
                                        <p:tgtEl>
                                          <p:spTgt spid="70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 nodeType="clickPar">
                      <p:stCondLst>
                        <p:cond delay="indefinite"/>
                      </p:stCondLst>
                      <p:childTnLst>
                        <p:par>
                          <p:cTn id="2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0" dur="500"/>
                                        <p:tgtEl>
                                          <p:spTgt spid="70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 nodeType="clickPar">
                      <p:stCondLst>
                        <p:cond delay="indefinite"/>
                      </p:stCondLst>
                      <p:childTnLst>
                        <p:par>
                          <p:cTn id="2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5" dur="500"/>
                                        <p:tgtEl>
                                          <p:spTgt spid="70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 nodeType="clickPar">
                      <p:stCondLst>
                        <p:cond delay="indefinite"/>
                      </p:stCondLst>
                      <p:childTnLst>
                        <p:par>
                          <p:cTn id="2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0" dur="500"/>
                                        <p:tgtEl>
                                          <p:spTgt spid="70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 nodeType="clickPar">
                      <p:stCondLst>
                        <p:cond delay="indefinite"/>
                      </p:stCondLst>
                      <p:childTnLst>
                        <p:par>
                          <p:cTn id="2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 nodeType="clickPar">
                      <p:stCondLst>
                        <p:cond delay="indefinite"/>
                      </p:stCondLst>
                      <p:childTnLst>
                        <p:par>
                          <p:cTn id="2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1" dur="500"/>
                                        <p:tgtEl>
                                          <p:spTgt spid="70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 nodeType="clickPar">
                      <p:stCondLst>
                        <p:cond delay="indefinite"/>
                      </p:stCondLst>
                      <p:childTnLst>
                        <p:par>
                          <p:cTn id="2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 nodeType="clickPar">
                      <p:stCondLst>
                        <p:cond delay="indefinite"/>
                      </p:stCondLst>
                      <p:childTnLst>
                        <p:par>
                          <p:cTn id="2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8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8" grpId="0" autoUpdateAnimBg="0"/>
      <p:bldP spid="70662" grpId="0" autoUpdateAnimBg="0"/>
      <p:bldP spid="70663" grpId="0" autoUpdateAnimBg="0"/>
      <p:bldP spid="70669" grpId="0" autoUpdateAnimBg="0"/>
      <p:bldP spid="70670" grpId="0" animBg="1" autoUpdateAnimBg="0"/>
      <p:bldP spid="70675" grpId="0" autoUpdateAnimBg="0"/>
      <p:bldP spid="70676" grpId="0" autoUpdateAnimBg="0"/>
      <p:bldP spid="70678" grpId="0" animBg="1"/>
      <p:bldP spid="70679" grpId="0" animBg="1"/>
      <p:bldP spid="70680" grpId="0" animBg="1"/>
      <p:bldP spid="70681" grpId="0" animBg="1"/>
      <p:bldP spid="70685" grpId="0" animBg="1"/>
      <p:bldP spid="70687" grpId="0" autoUpdateAnimBg="0"/>
      <p:bldP spid="70688" grpId="0" autoUpdateAnimBg="0"/>
      <p:bldP spid="70689" grpId="0" animBg="1"/>
      <p:bldP spid="70693" grpId="0" animBg="1"/>
      <p:bldP spid="70697" grpId="0" animBg="1"/>
      <p:bldP spid="70698" grpId="0" build="p" autoUpdateAnimBg="0"/>
      <p:bldP spid="70701" grpId="0" animBg="1"/>
      <p:bldP spid="70702" grpId="0" animBg="1"/>
      <p:bldP spid="70703" grpId="0" animBg="1"/>
      <p:bldP spid="70707" grpId="0" animBg="1"/>
      <p:bldP spid="70717" grpId="0" animBg="1"/>
      <p:bldP spid="70718" grpId="0" autoUpdateAnimBg="0"/>
      <p:bldP spid="70719" grpId="0" autoUpdateAnimBg="0"/>
      <p:bldP spid="70724" grpId="0" autoUpdateAnimBg="0"/>
      <p:bldP spid="70725" grpId="0" autoUpdateAnimBg="0"/>
      <p:bldP spid="70726" grpId="0" autoUpdateAnimBg="0"/>
      <p:bldP spid="70727" grpId="0" animBg="1"/>
      <p:bldP spid="70728" grpId="0" animBg="1"/>
      <p:bldP spid="70729" grpId="0" animBg="1"/>
      <p:bldP spid="70730" grpId="0" animBg="1"/>
      <p:bldP spid="70731" grpId="0" animBg="1"/>
      <p:bldP spid="70732" grpId="0" animBg="1"/>
      <p:bldP spid="70733" grpId="0" animBg="1"/>
      <p:bldP spid="70740" grpId="0" build="p" autoUpdateAnimBg="0"/>
      <p:bldP spid="70741" grpId="0" build="p" autoUpdateAnimBg="0"/>
      <p:bldP spid="70742" grpId="0" build="p" autoUpdateAnimBg="0"/>
      <p:bldP spid="70743" grpId="0" build="p" autoUpdateAnimBg="0"/>
      <p:bldP spid="70744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2"/>
          <p:cNvSpPr txBox="1">
            <a:spLocks noChangeArrowheads="1"/>
          </p:cNvSpPr>
          <p:nvPr/>
        </p:nvSpPr>
        <p:spPr bwMode="auto">
          <a:xfrm>
            <a:off x="2301876" y="3922713"/>
            <a:ext cx="3365497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宋体" panose="02010600030101010101" pitchFamily="2" charset="-122"/>
              </a:rPr>
              <a:t>    </a:t>
            </a:r>
            <a:r>
              <a:rPr lang="zh-CN" altLang="en-US" sz="2400" b="1" dirty="0">
                <a:latin typeface="宋体" panose="02010600030101010101" pitchFamily="2" charset="-122"/>
              </a:rPr>
              <a:t>三个视图分别为三</a:t>
            </a:r>
          </a:p>
          <a:p>
            <a:pPr eaLnBrk="1" hangingPunct="1"/>
            <a:r>
              <a:rPr lang="zh-CN" altLang="en-US" sz="2400" b="1" dirty="0">
                <a:latin typeface="宋体" panose="02010600030101010101" pitchFamily="2" charset="-122"/>
              </a:rPr>
              <a:t>个和圆球的直径相等的</a:t>
            </a:r>
          </a:p>
          <a:p>
            <a:pPr eaLnBrk="1" hangingPunct="1"/>
            <a:r>
              <a:rPr lang="zh-CN" altLang="en-US" sz="2400" b="1" dirty="0">
                <a:latin typeface="宋体" panose="02010600030101010101" pitchFamily="2" charset="-122"/>
              </a:rPr>
              <a:t>圆，它们分别是圆球三</a:t>
            </a:r>
          </a:p>
          <a:p>
            <a:pPr eaLnBrk="1" hangingPunct="1"/>
            <a:r>
              <a:rPr lang="zh-CN" altLang="en-US" sz="2400" b="1" dirty="0">
                <a:latin typeface="宋体" panose="02010600030101010101" pitchFamily="2" charset="-122"/>
              </a:rPr>
              <a:t>个方向轮廓线的投影。</a:t>
            </a:r>
          </a:p>
        </p:txBody>
      </p:sp>
      <p:sp>
        <p:nvSpPr>
          <p:cNvPr id="44035" name="Rectangle 3"/>
          <p:cNvSpPr>
            <a:spLocks noChangeArrowheads="1"/>
          </p:cNvSpPr>
          <p:nvPr/>
        </p:nvSpPr>
        <p:spPr bwMode="auto">
          <a:xfrm>
            <a:off x="1559496" y="1357604"/>
            <a:ext cx="4394207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altLang="zh-CN" sz="2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3.</a:t>
            </a:r>
            <a:r>
              <a:rPr lang="zh-CN" altLang="en-US" sz="2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圆球</a:t>
            </a:r>
            <a:r>
              <a:rPr lang="zh-CN" altLang="en-US" sz="2800" b="1" dirty="0">
                <a:solidFill>
                  <a:schemeClr val="tx2"/>
                </a:solidFill>
                <a:latin typeface="+mn-ea"/>
              </a:rPr>
              <a:t>的投影及表面取点</a:t>
            </a:r>
          </a:p>
        </p:txBody>
      </p:sp>
      <p:sp>
        <p:nvSpPr>
          <p:cNvPr id="71684" name="Text Box 4"/>
          <p:cNvSpPr txBox="1">
            <a:spLocks noChangeArrowheads="1"/>
          </p:cNvSpPr>
          <p:nvPr/>
        </p:nvSpPr>
        <p:spPr bwMode="auto">
          <a:xfrm>
            <a:off x="2139690" y="2435930"/>
            <a:ext cx="395631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宋体" panose="02010600030101010101" pitchFamily="2" charset="-122"/>
                <a:sym typeface="Symbol" panose="05050102010706020507" pitchFamily="18" charset="2"/>
              </a:rPr>
              <a:t>    </a:t>
            </a:r>
            <a:r>
              <a:rPr lang="zh-CN" altLang="en-US" sz="2400" b="1" dirty="0">
                <a:latin typeface="宋体" panose="02010600030101010101" pitchFamily="2" charset="-122"/>
                <a:sym typeface="Symbol" panose="05050102010706020507" pitchFamily="18" charset="2"/>
              </a:rPr>
              <a:t>以半圆动平面的直径边为轴旋转而成。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71685" name="Text Box 5"/>
          <p:cNvSpPr txBox="1">
            <a:spLocks noChangeArrowheads="1"/>
          </p:cNvSpPr>
          <p:nvPr/>
        </p:nvSpPr>
        <p:spPr bwMode="auto">
          <a:xfrm>
            <a:off x="2227263" y="3352801"/>
            <a:ext cx="24929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⑵ </a:t>
            </a: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圆球的三视图</a:t>
            </a:r>
            <a:endParaRPr lang="zh-CN" altLang="en-US" sz="2400" b="1" dirty="0"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71686" name="Text Box 6"/>
          <p:cNvSpPr txBox="1">
            <a:spLocks noChangeArrowheads="1"/>
          </p:cNvSpPr>
          <p:nvPr/>
        </p:nvSpPr>
        <p:spPr bwMode="auto">
          <a:xfrm>
            <a:off x="2241551" y="4089401"/>
            <a:ext cx="416877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⑶ </a:t>
            </a: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轮廓线的投影与曲</a:t>
            </a:r>
          </a:p>
          <a:p>
            <a:pPr eaLnBrk="1" hangingPunct="1"/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   面可见性的判断</a:t>
            </a:r>
            <a:endParaRPr lang="zh-CN" altLang="en-US" sz="2400" b="1" dirty="0"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71687" name="Text Box 7"/>
          <p:cNvSpPr txBox="1">
            <a:spLocks noChangeArrowheads="1"/>
          </p:cNvSpPr>
          <p:nvPr/>
        </p:nvSpPr>
        <p:spPr bwMode="auto">
          <a:xfrm>
            <a:off x="2247900" y="5133976"/>
            <a:ext cx="24929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⑷ </a:t>
            </a:r>
            <a:r>
              <a:rPr lang="zh-CN" altLang="en-US" sz="2400" b="1">
                <a:solidFill>
                  <a:srgbClr val="FF3300"/>
                </a:solidFill>
                <a:latin typeface="宋体" panose="02010600030101010101" pitchFamily="2" charset="-122"/>
              </a:rPr>
              <a:t>圆球面上取点</a:t>
            </a:r>
            <a:endParaRPr lang="zh-CN" altLang="en-US" sz="2400" b="1">
              <a:latin typeface="宋体" panose="02010600030101010101" pitchFamily="2" charset="-122"/>
            </a:endParaRPr>
          </a:p>
        </p:txBody>
      </p:sp>
      <p:sp>
        <p:nvSpPr>
          <p:cNvPr id="71688" name="Oval 8"/>
          <p:cNvSpPr>
            <a:spLocks noChangeArrowheads="1"/>
          </p:cNvSpPr>
          <p:nvPr/>
        </p:nvSpPr>
        <p:spPr bwMode="auto">
          <a:xfrm>
            <a:off x="7750175" y="1527175"/>
            <a:ext cx="1397000" cy="136525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71689" name="Oval 9"/>
          <p:cNvSpPr>
            <a:spLocks noChangeArrowheads="1"/>
          </p:cNvSpPr>
          <p:nvPr/>
        </p:nvSpPr>
        <p:spPr bwMode="auto">
          <a:xfrm>
            <a:off x="6573838" y="3359150"/>
            <a:ext cx="1371600" cy="1295400"/>
          </a:xfrm>
          <a:prstGeom prst="ellips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692" name="Oval 12"/>
          <p:cNvSpPr>
            <a:spLocks noChangeArrowheads="1"/>
          </p:cNvSpPr>
          <p:nvPr/>
        </p:nvSpPr>
        <p:spPr bwMode="auto">
          <a:xfrm>
            <a:off x="6573838" y="5111750"/>
            <a:ext cx="1371600" cy="1295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sz="1600"/>
          </a:p>
        </p:txBody>
      </p:sp>
      <p:sp>
        <p:nvSpPr>
          <p:cNvPr id="71693" name="Oval 13"/>
          <p:cNvSpPr>
            <a:spLocks noChangeArrowheads="1"/>
          </p:cNvSpPr>
          <p:nvPr/>
        </p:nvSpPr>
        <p:spPr bwMode="auto">
          <a:xfrm>
            <a:off x="8555038" y="3359150"/>
            <a:ext cx="1371600" cy="1295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sz="1600"/>
          </a:p>
        </p:txBody>
      </p:sp>
      <p:sp>
        <p:nvSpPr>
          <p:cNvPr id="71696" name="Freeform 16"/>
          <p:cNvSpPr>
            <a:spLocks/>
          </p:cNvSpPr>
          <p:nvPr/>
        </p:nvSpPr>
        <p:spPr bwMode="auto">
          <a:xfrm>
            <a:off x="6708776" y="3525839"/>
            <a:ext cx="3228975" cy="1587"/>
          </a:xfrm>
          <a:custGeom>
            <a:avLst/>
            <a:gdLst>
              <a:gd name="T0" fmla="*/ 0 w 2034"/>
              <a:gd name="T1" fmla="*/ 0 h 1"/>
              <a:gd name="T2" fmla="*/ 2147483647 w 2034"/>
              <a:gd name="T3" fmla="*/ 0 h 1"/>
              <a:gd name="T4" fmla="*/ 0 60000 65536"/>
              <a:gd name="T5" fmla="*/ 0 60000 65536"/>
              <a:gd name="T6" fmla="*/ 0 w 2034"/>
              <a:gd name="T7" fmla="*/ 0 h 1"/>
              <a:gd name="T8" fmla="*/ 2034 w 2034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034" h="1">
                <a:moveTo>
                  <a:pt x="0" y="0"/>
                </a:moveTo>
                <a:lnTo>
                  <a:pt x="2034" y="0"/>
                </a:lnTo>
              </a:path>
            </a:pathLst>
          </a:custGeom>
          <a:noFill/>
          <a:ln w="19050">
            <a:solidFill>
              <a:srgbClr val="66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697" name="Oval 17"/>
          <p:cNvSpPr>
            <a:spLocks noChangeArrowheads="1"/>
          </p:cNvSpPr>
          <p:nvPr/>
        </p:nvSpPr>
        <p:spPr bwMode="auto">
          <a:xfrm>
            <a:off x="6802438" y="5340350"/>
            <a:ext cx="914400" cy="838200"/>
          </a:xfrm>
          <a:prstGeom prst="ellipse">
            <a:avLst/>
          </a:prstGeom>
          <a:noFill/>
          <a:ln w="19050">
            <a:solidFill>
              <a:srgbClr val="66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700" name="Line 20"/>
          <p:cNvSpPr>
            <a:spLocks noChangeShapeType="1"/>
          </p:cNvSpPr>
          <p:nvPr/>
        </p:nvSpPr>
        <p:spPr bwMode="auto">
          <a:xfrm>
            <a:off x="7031038" y="3511550"/>
            <a:ext cx="0" cy="2693988"/>
          </a:xfrm>
          <a:prstGeom prst="line">
            <a:avLst/>
          </a:prstGeom>
          <a:noFill/>
          <a:ln w="19050">
            <a:solidFill>
              <a:srgbClr val="66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6648450" y="3389314"/>
            <a:ext cx="539750" cy="427037"/>
            <a:chOff x="3160" y="2131"/>
            <a:chExt cx="340" cy="269"/>
          </a:xfrm>
        </p:grpSpPr>
        <p:sp>
          <p:nvSpPr>
            <p:cNvPr id="32803" name="Text Box 22"/>
            <p:cNvSpPr txBox="1">
              <a:spLocks noChangeArrowheads="1"/>
            </p:cNvSpPr>
            <p:nvPr/>
          </p:nvSpPr>
          <p:spPr bwMode="auto">
            <a:xfrm>
              <a:off x="3312" y="2131"/>
              <a:ext cx="18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>
                  <a:solidFill>
                    <a:srgbClr val="CC3300"/>
                  </a:solidFill>
                  <a:sym typeface="Wingdings" panose="05000000000000000000" pitchFamily="2" charset="2"/>
                </a:rPr>
                <a:t></a:t>
              </a:r>
              <a:endParaRPr lang="en-US" altLang="zh-CN" sz="1200"/>
            </a:p>
          </p:txBody>
        </p:sp>
        <p:sp>
          <p:nvSpPr>
            <p:cNvPr id="32804" name="Text Box 23"/>
            <p:cNvSpPr txBox="1">
              <a:spLocks noChangeArrowheads="1"/>
            </p:cNvSpPr>
            <p:nvPr/>
          </p:nvSpPr>
          <p:spPr bwMode="auto">
            <a:xfrm>
              <a:off x="3160" y="2188"/>
              <a:ext cx="33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600">
                  <a:latin typeface="Italic" panose="00000400000000000000" pitchFamily="2" charset="0"/>
                </a:rPr>
                <a:t> k</a:t>
              </a:r>
              <a:r>
                <a:rPr lang="en-US" altLang="zh-CN" sz="1600">
                  <a:sym typeface="Symbol" panose="05050102010706020507" pitchFamily="18" charset="2"/>
                </a:rPr>
                <a:t></a:t>
              </a:r>
              <a:endParaRPr lang="en-US" altLang="zh-CN" sz="1600">
                <a:sym typeface="CommercialPi BT" panose="05020102010206080802" pitchFamily="18" charset="2"/>
              </a:endParaRPr>
            </a:p>
          </p:txBody>
        </p:sp>
      </p:grpSp>
      <p:grpSp>
        <p:nvGrpSpPr>
          <p:cNvPr id="3" name="Group 24"/>
          <p:cNvGrpSpPr>
            <a:grpSpLocks/>
          </p:cNvGrpSpPr>
          <p:nvPr/>
        </p:nvGrpSpPr>
        <p:grpSpPr bwMode="auto">
          <a:xfrm>
            <a:off x="7031038" y="3511550"/>
            <a:ext cx="2514600" cy="2590800"/>
            <a:chOff x="3408" y="1536"/>
            <a:chExt cx="1584" cy="1632"/>
          </a:xfrm>
        </p:grpSpPr>
        <p:sp>
          <p:nvSpPr>
            <p:cNvPr id="32801" name="Line 25"/>
            <p:cNvSpPr>
              <a:spLocks noChangeShapeType="1"/>
            </p:cNvSpPr>
            <p:nvPr/>
          </p:nvSpPr>
          <p:spPr bwMode="auto">
            <a:xfrm>
              <a:off x="3408" y="2976"/>
              <a:ext cx="0" cy="192"/>
            </a:xfrm>
            <a:prstGeom prst="line">
              <a:avLst/>
            </a:prstGeom>
            <a:noFill/>
            <a:ln w="38100">
              <a:solidFill>
                <a:srgbClr val="33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02" name="Line 26"/>
            <p:cNvSpPr>
              <a:spLocks noChangeShapeType="1"/>
            </p:cNvSpPr>
            <p:nvPr/>
          </p:nvSpPr>
          <p:spPr bwMode="auto">
            <a:xfrm>
              <a:off x="4800" y="1536"/>
              <a:ext cx="192" cy="0"/>
            </a:xfrm>
            <a:prstGeom prst="line">
              <a:avLst/>
            </a:prstGeom>
            <a:noFill/>
            <a:ln w="38100">
              <a:solidFill>
                <a:srgbClr val="33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1707" name="Text Box 27"/>
          <p:cNvSpPr txBox="1">
            <a:spLocks noChangeArrowheads="1"/>
          </p:cNvSpPr>
          <p:nvPr/>
        </p:nvSpPr>
        <p:spPr bwMode="auto">
          <a:xfrm>
            <a:off x="2702073" y="5651847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latin typeface="宋体" panose="02010600030101010101" pitchFamily="2" charset="-122"/>
              </a:rPr>
              <a:t>辅助圆法</a:t>
            </a:r>
          </a:p>
        </p:txBody>
      </p:sp>
      <p:sp>
        <p:nvSpPr>
          <p:cNvPr id="71708" name="Line 28"/>
          <p:cNvSpPr>
            <a:spLocks noChangeShapeType="1"/>
          </p:cNvSpPr>
          <p:nvPr/>
        </p:nvSpPr>
        <p:spPr bwMode="auto">
          <a:xfrm>
            <a:off x="6802438" y="3511550"/>
            <a:ext cx="0" cy="2286000"/>
          </a:xfrm>
          <a:prstGeom prst="line">
            <a:avLst/>
          </a:prstGeom>
          <a:noFill/>
          <a:ln w="19050">
            <a:solidFill>
              <a:srgbClr val="66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29"/>
          <p:cNvGrpSpPr>
            <a:grpSpLocks/>
          </p:cNvGrpSpPr>
          <p:nvPr/>
        </p:nvGrpSpPr>
        <p:grpSpPr bwMode="auto">
          <a:xfrm>
            <a:off x="6789751" y="5989631"/>
            <a:ext cx="388938" cy="377825"/>
            <a:chOff x="3249" y="3766"/>
            <a:chExt cx="245" cy="238"/>
          </a:xfrm>
        </p:grpSpPr>
        <p:sp>
          <p:nvSpPr>
            <p:cNvPr id="32799" name="Text Box 30"/>
            <p:cNvSpPr txBox="1">
              <a:spLocks noChangeArrowheads="1"/>
            </p:cNvSpPr>
            <p:nvPr/>
          </p:nvSpPr>
          <p:spPr bwMode="auto">
            <a:xfrm>
              <a:off x="3306" y="3766"/>
              <a:ext cx="18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 dirty="0">
                  <a:solidFill>
                    <a:srgbClr val="CC3300"/>
                  </a:solidFill>
                  <a:sym typeface="Wingdings" panose="05000000000000000000" pitchFamily="2" charset="2"/>
                </a:rPr>
                <a:t></a:t>
              </a:r>
              <a:endParaRPr lang="en-US" altLang="zh-CN" sz="1200" dirty="0"/>
            </a:p>
          </p:txBody>
        </p:sp>
        <p:sp>
          <p:nvSpPr>
            <p:cNvPr id="32800" name="Text Box 31"/>
            <p:cNvSpPr txBox="1">
              <a:spLocks noChangeArrowheads="1"/>
            </p:cNvSpPr>
            <p:nvPr/>
          </p:nvSpPr>
          <p:spPr bwMode="auto">
            <a:xfrm>
              <a:off x="3249" y="3792"/>
              <a:ext cx="21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600" dirty="0">
                  <a:latin typeface="Italic" panose="00000400000000000000" pitchFamily="2" charset="0"/>
                </a:rPr>
                <a:t>k</a:t>
              </a:r>
              <a:endParaRPr lang="en-US" altLang="zh-CN" sz="1600" dirty="0">
                <a:solidFill>
                  <a:srgbClr val="CC3300"/>
                </a:solidFill>
              </a:endParaRPr>
            </a:p>
          </p:txBody>
        </p:sp>
      </p:grpSp>
      <p:grpSp>
        <p:nvGrpSpPr>
          <p:cNvPr id="5" name="Group 32"/>
          <p:cNvGrpSpPr>
            <a:grpSpLocks/>
          </p:cNvGrpSpPr>
          <p:nvPr/>
        </p:nvGrpSpPr>
        <p:grpSpPr bwMode="auto">
          <a:xfrm>
            <a:off x="9332919" y="3389316"/>
            <a:ext cx="584200" cy="444500"/>
            <a:chOff x="4858" y="2131"/>
            <a:chExt cx="368" cy="280"/>
          </a:xfrm>
        </p:grpSpPr>
        <p:sp>
          <p:nvSpPr>
            <p:cNvPr id="32797" name="Text Box 33"/>
            <p:cNvSpPr txBox="1">
              <a:spLocks noChangeArrowheads="1"/>
            </p:cNvSpPr>
            <p:nvPr/>
          </p:nvSpPr>
          <p:spPr bwMode="auto">
            <a:xfrm>
              <a:off x="4896" y="2131"/>
              <a:ext cx="18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>
                  <a:solidFill>
                    <a:srgbClr val="CC3300"/>
                  </a:solidFill>
                  <a:sym typeface="Wingdings" panose="05000000000000000000" pitchFamily="2" charset="2"/>
                </a:rPr>
                <a:t></a:t>
              </a:r>
              <a:endParaRPr lang="en-US" altLang="zh-CN" sz="1200"/>
            </a:p>
          </p:txBody>
        </p:sp>
        <p:sp>
          <p:nvSpPr>
            <p:cNvPr id="32798" name="Text Box 34"/>
            <p:cNvSpPr txBox="1">
              <a:spLocks noChangeArrowheads="1"/>
            </p:cNvSpPr>
            <p:nvPr/>
          </p:nvSpPr>
          <p:spPr bwMode="auto">
            <a:xfrm>
              <a:off x="4858" y="2178"/>
              <a:ext cx="36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600">
                  <a:latin typeface="Italic" panose="00000400000000000000" pitchFamily="2" charset="0"/>
                </a:rPr>
                <a:t> k</a:t>
              </a:r>
              <a:r>
                <a:rPr lang="en-US" altLang="zh-CN">
                  <a:sym typeface="Symbol" panose="05050102010706020507" pitchFamily="18" charset="2"/>
                </a:rPr>
                <a:t></a:t>
              </a:r>
            </a:p>
          </p:txBody>
        </p:sp>
      </p:grpSp>
      <p:sp>
        <p:nvSpPr>
          <p:cNvPr id="71715" name="Text Box 35"/>
          <p:cNvSpPr txBox="1">
            <a:spLocks noChangeArrowheads="1"/>
          </p:cNvSpPr>
          <p:nvPr/>
        </p:nvSpPr>
        <p:spPr bwMode="auto">
          <a:xfrm>
            <a:off x="2198689" y="1967204"/>
            <a:ext cx="28007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⑴ </a:t>
            </a: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圆球</a:t>
            </a:r>
            <a:r>
              <a:rPr lang="en-US" altLang="zh-CN" sz="2400" b="1" dirty="0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——</a:t>
            </a: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回转体</a:t>
            </a:r>
          </a:p>
        </p:txBody>
      </p:sp>
      <p:sp>
        <p:nvSpPr>
          <p:cNvPr id="71716" name="Text Box 36"/>
          <p:cNvSpPr txBox="1">
            <a:spLocks noChangeArrowheads="1"/>
          </p:cNvSpPr>
          <p:nvPr/>
        </p:nvSpPr>
        <p:spPr bwMode="auto">
          <a:xfrm>
            <a:off x="8259764" y="5365751"/>
            <a:ext cx="17235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chemeClr val="accent2"/>
                </a:solidFill>
              </a:rPr>
              <a:t>圆的半径？</a:t>
            </a:r>
          </a:p>
        </p:txBody>
      </p:sp>
      <p:sp>
        <p:nvSpPr>
          <p:cNvPr id="37" name="矩形 66"/>
          <p:cNvSpPr>
            <a:spLocks noChangeArrowheads="1"/>
          </p:cNvSpPr>
          <p:nvPr/>
        </p:nvSpPr>
        <p:spPr bwMode="auto">
          <a:xfrm>
            <a:off x="1415480" y="645478"/>
            <a:ext cx="60245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二、曲面立体的投影表面取点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9" name="Picture 5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6411278" y="3894781"/>
            <a:ext cx="1764000" cy="1754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" name="Picture 5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8352486" y="3890967"/>
            <a:ext cx="1764000" cy="1754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" name="Picture 5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378894" y="5715017"/>
            <a:ext cx="1764000" cy="1754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2" name="Picture 5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 rot="16200000">
            <a:off x="8369546" y="3932748"/>
            <a:ext cx="1764000" cy="1754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215204" y="3165760"/>
            <a:ext cx="98783" cy="1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4" name="Picture 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215194" y="4957042"/>
            <a:ext cx="98783" cy="1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1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1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1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71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4" dur="500"/>
                                        <p:tgtEl>
                                          <p:spTgt spid="716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71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71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71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71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717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71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71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71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71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2" grpId="0" autoUpdateAnimBg="0"/>
      <p:bldP spid="71684" grpId="0" autoUpdateAnimBg="0"/>
      <p:bldP spid="71685" grpId="0" autoUpdateAnimBg="0"/>
      <p:bldP spid="71686" grpId="0" autoUpdateAnimBg="0"/>
      <p:bldP spid="71687" grpId="0" autoUpdateAnimBg="0"/>
      <p:bldP spid="71688" grpId="0" animBg="1"/>
      <p:bldP spid="71689" grpId="0" animBg="1"/>
      <p:bldP spid="71692" grpId="0" animBg="1" autoUpdateAnimBg="0"/>
      <p:bldP spid="71693" grpId="0" animBg="1" autoUpdateAnimBg="0"/>
      <p:bldP spid="71696" grpId="0" animBg="1"/>
      <p:bldP spid="71697" grpId="0" animBg="1"/>
      <p:bldP spid="71700" grpId="0" animBg="1"/>
      <p:bldP spid="71707" grpId="0" autoUpdateAnimBg="0"/>
      <p:bldP spid="71708" grpId="0" animBg="1"/>
      <p:bldP spid="71715" grpId="0" autoUpdateAnimBg="0"/>
      <p:bldP spid="71716" grpId="0" autoUpdateAnimBg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4f7fdee148e555d4f14b397e979643e7c9ab48b"/>
</p:tagLst>
</file>

<file path=ppt/theme/theme1.xml><?xml version="1.0" encoding="utf-8"?>
<a:theme xmlns:a="http://schemas.openxmlformats.org/drawingml/2006/main" name="1_Office 主题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rotWithShape="0">
          <a:gsLst>
            <a:gs pos="0">
              <a:srgbClr val="DDEBCF"/>
            </a:gs>
            <a:gs pos="50000">
              <a:srgbClr val="9CB86E"/>
            </a:gs>
            <a:gs pos="100000">
              <a:srgbClr val="156B13"/>
            </a:gs>
          </a:gsLst>
          <a:lin ang="5400000"/>
        </a:gradFill>
        <a:ln w="9525">
          <a:noFill/>
          <a:miter lim="800000"/>
          <a:headEnd/>
          <a:tailEnd/>
        </a:ln>
      </a:spPr>
      <a:bodyPr anchor="ctr"/>
      <a:lstStyle>
        <a:defPPr>
          <a:defRPr sz="3600" dirty="0">
            <a:solidFill>
              <a:schemeClr val="tx2"/>
            </a:solidFill>
            <a:latin typeface="宋体" pitchFamily="2" charset="-122"/>
          </a:defRPr>
        </a:defPPr>
      </a:lstStyle>
    </a:spDef>
    <a:txDef>
      <a:spPr/>
      <a:bodyPr anchor="ctr">
        <a:spAutoFit/>
      </a:bodyPr>
      <a:lstStyle>
        <a:defPPr algn="ctr" fontAlgn="auto">
          <a:spcAft>
            <a:spcPts val="0"/>
          </a:spcAft>
          <a:defRPr kumimoji="0" sz="4400" b="1" dirty="0">
            <a:solidFill>
              <a:schemeClr val="tx2"/>
            </a:solidFill>
            <a:latin typeface="黑体" pitchFamily="2" charset="-122"/>
            <a:ea typeface="黑体" pitchFamily="2" charset="-122"/>
            <a:cs typeface="+mj-cs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3578</TotalTime>
  <Words>2106</Words>
  <Application>Microsoft Office PowerPoint</Application>
  <PresentationFormat>宽屏</PresentationFormat>
  <Paragraphs>311</Paragraphs>
  <Slides>27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7" baseType="lpstr">
      <vt:lpstr>黑体</vt:lpstr>
      <vt:lpstr>华文行楷</vt:lpstr>
      <vt:lpstr>宋体</vt:lpstr>
      <vt:lpstr>Arial</vt:lpstr>
      <vt:lpstr>Calibri</vt:lpstr>
      <vt:lpstr>Dutch801 Rm BT</vt:lpstr>
      <vt:lpstr>Italic</vt:lpstr>
      <vt:lpstr>Segoe UI</vt:lpstr>
      <vt:lpstr>Times New Roman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CAD三维构型基础与基本立体投影</dc:title>
  <dc:subject>CAD三维构型基础与基本立体投影</dc:subject>
  <dc:creator>穆浩志</dc:creator>
  <cp:keywords>天津理工大学</cp:keywords>
  <cp:lastModifiedBy>Lenovo</cp:lastModifiedBy>
  <cp:revision>268</cp:revision>
  <dcterms:created xsi:type="dcterms:W3CDTF">2014-03-20T09:34:50Z</dcterms:created>
  <dcterms:modified xsi:type="dcterms:W3CDTF">2021-08-17T06:55:25Z</dcterms:modified>
</cp:coreProperties>
</file>
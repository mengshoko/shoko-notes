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23"/>
  </p:notesMasterIdLst>
  <p:sldIdLst>
    <p:sldId id="556" r:id="rId2"/>
    <p:sldId id="557" r:id="rId3"/>
    <p:sldId id="558" r:id="rId4"/>
    <p:sldId id="565" r:id="rId5"/>
    <p:sldId id="564" r:id="rId6"/>
    <p:sldId id="563" r:id="rId7"/>
    <p:sldId id="567" r:id="rId8"/>
    <p:sldId id="562" r:id="rId9"/>
    <p:sldId id="576" r:id="rId10"/>
    <p:sldId id="559" r:id="rId11"/>
    <p:sldId id="561" r:id="rId12"/>
    <p:sldId id="571" r:id="rId13"/>
    <p:sldId id="570" r:id="rId14"/>
    <p:sldId id="572" r:id="rId15"/>
    <p:sldId id="569" r:id="rId16"/>
    <p:sldId id="577" r:id="rId17"/>
    <p:sldId id="568" r:id="rId18"/>
    <p:sldId id="573" r:id="rId19"/>
    <p:sldId id="575" r:id="rId20"/>
    <p:sldId id="574" r:id="rId21"/>
    <p:sldId id="560" r:id="rId22"/>
  </p:sldIdLst>
  <p:sldSz cx="12192000" cy="685800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modifyVerifier cryptProviderType="rsaFull" cryptAlgorithmClass="hash" cryptAlgorithmType="typeAny" cryptAlgorithmSid="4" spinCount="50000" saltData="mO70nCLIcukbO/AWMqOVBA==" hashData="3UCDgBbuXkPhh88f0aBJLmsLrss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4622" autoAdjust="0"/>
  </p:normalViewPr>
  <p:slideViewPr>
    <p:cSldViewPr>
      <p:cViewPr varScale="1">
        <p:scale>
          <a:sx n="108" d="100"/>
          <a:sy n="108" d="100"/>
        </p:scale>
        <p:origin x="732" y="90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94F821-7148-4155-8A4B-3568DDD25123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50BB752-86F0-4A2B-B1F4-3D725A534A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08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5882894-31D0-4353-8FC4-53FD4467D4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1325CCF-3893-4AF4-9378-6503525C1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528D238-9626-4573-9B0E-3A01311DA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BC39A87-C04B-44B8-8492-59308235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1C292D2-F234-45FE-9C8F-D7CD6A71B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B59C782-E5B5-4D1E-84E8-00EB87A66F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3F1626B-87FC-4106-99C3-08CD08C6C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D8AFA40-474E-4131-9465-1772CE74A1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624BEE-B42A-4D24-A6A0-A13054AF2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D04EAC3-810B-4186-9CDC-14BAD1372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3A06682-6D3C-44FE-A8FD-CF179FE87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73827A9-F015-4526-A947-A7D0641A67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730E9EB-F9AD-4188-B464-117A56F21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7FC85D4-21D3-4B1F-9919-8F298A4744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4B1C4B7-372D-48C2-8DDA-B810BF3CD4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E84D88-8CA2-4D77-8F92-4C576078AA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E7EA432-7B9C-4122-898F-523AEF872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623D218-3769-4A9E-A4E2-A5A466000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0136772" y="1128681"/>
            <a:ext cx="1849992" cy="292104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5400" dirty="0">
                <a:ln w="11430"/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860FAD-3F9C-4A1A-8CA3-D867F4329B53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290" y="58650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31" r:id="rId4"/>
    <p:sldLayoutId id="2147484732" r:id="rId5"/>
    <p:sldLayoutId id="2147484733" r:id="rId6"/>
    <p:sldLayoutId id="2147484734" r:id="rId7"/>
    <p:sldLayoutId id="2147484735" r:id="rId8"/>
    <p:sldLayoutId id="2147484736" r:id="rId9"/>
    <p:sldLayoutId id="2147484737" r:id="rId10"/>
    <p:sldLayoutId id="2147484738" r:id="rId11"/>
    <p:sldLayoutId id="2147484739" r:id="rId12"/>
    <p:sldLayoutId id="2147484740" r:id="rId13"/>
    <p:sldLayoutId id="2147484741" r:id="rId14"/>
    <p:sldLayoutId id="2147484742" r:id="rId15"/>
    <p:sldLayoutId id="2147484743" r:id="rId16"/>
    <p:sldLayoutId id="2147484744" r:id="rId17"/>
    <p:sldLayoutId id="2147484745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25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25.tmp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1" name="Picture 6" descr="https://timgsa.baidu.com/timg?image&amp;quality=80&amp;size=b9999_10000&amp;sec=1544420868174&amp;di=13ab9acd3bd088a5093665f48d160eb8&amp;imgtype=0&amp;src=http%3A%2F%2F5b0988e595225.cdn.sohucs.com%2Fimages%2F20181204%2F5053e3dc35054dccbabc3b3ef082f824.jpeg"/>
          <p:cNvPicPr>
            <a:picLocks noChangeAspect="1" noChangeArrowheads="1"/>
          </p:cNvPicPr>
          <p:nvPr/>
        </p:nvPicPr>
        <p:blipFill>
          <a:blip r:embed="rId2"/>
          <a:srcRect l="37132" t="7832" r="39101" b="3999"/>
          <a:stretch>
            <a:fillRect/>
          </a:stretch>
        </p:blipFill>
        <p:spPr bwMode="auto">
          <a:xfrm rot="-7444178">
            <a:off x="2417389" y="3420502"/>
            <a:ext cx="1131887" cy="388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8" descr="https://timgsa.baidu.com/timg?image&amp;quality=80&amp;size=b9999_10000&amp;sec=1544421615718&amp;di=2f71f1f397b6775f930c7b301a6db246&amp;imgtype=0&amp;src=http%3A%2F%2Fimg011.hc360.cn%2Fy5%2FM03%2F57%2FDD%2FwKhQUVXRa6OEYP_SAAAAAA33R3U937.jpg"/>
          <p:cNvPicPr>
            <a:picLocks noChangeAspect="1" noChangeArrowheads="1"/>
          </p:cNvPicPr>
          <p:nvPr/>
        </p:nvPicPr>
        <p:blipFill>
          <a:blip r:embed="rId3"/>
          <a:srcRect l="15419" t="53947" b="17493"/>
          <a:stretch>
            <a:fillRect/>
          </a:stretch>
        </p:blipFill>
        <p:spPr bwMode="auto">
          <a:xfrm>
            <a:off x="1595500" y="1647843"/>
            <a:ext cx="8254057" cy="215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0" descr="https://timgsa.baidu.com/timg?image&amp;quality=80&amp;size=b9999_10000&amp;sec=1544421889636&amp;di=4981682e38c9e8575e12d54570518fea&amp;imgtype=0&amp;src=http%3A%2F%2Fphoto.16pic.com%2F00%2F08%2F85%2F16pic_885442_b.jpg"/>
          <p:cNvPicPr>
            <a:picLocks noChangeAspect="1" noChangeArrowheads="1"/>
          </p:cNvPicPr>
          <p:nvPr/>
        </p:nvPicPr>
        <p:blipFill>
          <a:blip r:embed="rId4"/>
          <a:srcRect l="14029" t="22092" r="10599" b="4268"/>
          <a:stretch>
            <a:fillRect/>
          </a:stretch>
        </p:blipFill>
        <p:spPr bwMode="auto">
          <a:xfrm>
            <a:off x="5091878" y="4021155"/>
            <a:ext cx="475768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023664" y="1877365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一、概念</a:t>
            </a:r>
            <a:endParaRPr lang="zh-CN" altLang="en-US" sz="2400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61918" y="2128041"/>
            <a:ext cx="887058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57200"/>
            <a:r>
              <a:rPr lang="zh-CN" altLang="en-US" sz="2400" dirty="0">
                <a:latin typeface="宋体" charset="-122"/>
              </a:rPr>
              <a:t> 假想用剖切平面将机件的某处垂直于轮廓线或轴线切断，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</a:rPr>
              <a:t>仅画出剖切平面与机件接触部分的图形</a:t>
            </a:r>
            <a:r>
              <a:rPr lang="en-US" altLang="zh-CN" sz="2400" dirty="0">
                <a:solidFill>
                  <a:schemeClr val="tx2"/>
                </a:solidFill>
                <a:latin typeface="宋体" charset="-122"/>
              </a:rPr>
              <a:t>,</a:t>
            </a:r>
            <a:r>
              <a:rPr lang="zh-CN" altLang="en-US" sz="2400" dirty="0">
                <a:latin typeface="宋体" charset="-122"/>
              </a:rPr>
              <a:t>称为断面图，简称断面。</a:t>
            </a:r>
          </a:p>
        </p:txBody>
      </p:sp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1045623" y="1396859"/>
            <a:ext cx="2810818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断面图</a:t>
            </a:r>
          </a:p>
        </p:txBody>
      </p:sp>
      <p:pic>
        <p:nvPicPr>
          <p:cNvPr id="9" name="Picture 4" descr="7-24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381565" y="2902642"/>
            <a:ext cx="2879725" cy="284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7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3052" y="3267767"/>
            <a:ext cx="3505200" cy="21034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5" name="Picture 7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65190" y="3705917"/>
            <a:ext cx="484187" cy="178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6" name="Picture 7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55940" y="3998017"/>
            <a:ext cx="1260475" cy="12509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7" name="Picture 7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38502" y="3669405"/>
            <a:ext cx="1085850" cy="3238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1503052" y="5770461"/>
            <a:ext cx="92374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★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适用条件</a:t>
            </a:r>
            <a:r>
              <a:rPr lang="en-US" altLang="zh-C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: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用于表达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机件某部分的断面形状</a:t>
            </a:r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，如轴、杆上的孔、槽等结构。</a:t>
            </a:r>
          </a:p>
        </p:txBody>
      </p:sp>
    </p:spTree>
    <p:extLst>
      <p:ext uri="{BB962C8B-B14F-4D97-AF65-F5344CB8AC3E}">
        <p14:creationId xmlns:p14="http://schemas.microsoft.com/office/powerpoint/2010/main" val="667533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33"/>
          <p:cNvSpPr txBox="1">
            <a:spLocks noChangeArrowheads="1"/>
          </p:cNvSpPr>
          <p:nvPr/>
        </p:nvSpPr>
        <p:spPr bwMode="auto">
          <a:xfrm>
            <a:off x="1112763" y="1307777"/>
            <a:ext cx="30572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二、断面图的种类</a:t>
            </a:r>
            <a:endParaRPr lang="zh-CN" altLang="en-US" sz="2800" dirty="0"/>
          </a:p>
        </p:txBody>
      </p:sp>
      <p:sp>
        <p:nvSpPr>
          <p:cNvPr id="7" name="Text Box 70"/>
          <p:cNvSpPr txBox="1">
            <a:spLocks noChangeArrowheads="1"/>
          </p:cNvSpPr>
          <p:nvPr/>
        </p:nvSpPr>
        <p:spPr bwMode="auto">
          <a:xfrm>
            <a:off x="4578077" y="1307777"/>
            <a:ext cx="19796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charset="-122"/>
              </a:rPr>
              <a:t>◆移出断面</a:t>
            </a:r>
          </a:p>
        </p:txBody>
      </p:sp>
      <p:sp>
        <p:nvSpPr>
          <p:cNvPr id="8" name="Text Box 71"/>
          <p:cNvSpPr txBox="1">
            <a:spLocks noChangeArrowheads="1"/>
          </p:cNvSpPr>
          <p:nvPr/>
        </p:nvSpPr>
        <p:spPr bwMode="auto">
          <a:xfrm>
            <a:off x="4567056" y="1736425"/>
            <a:ext cx="19796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charset="-122"/>
              </a:rPr>
              <a:t>◆重合断面</a:t>
            </a:r>
          </a:p>
        </p:txBody>
      </p:sp>
      <p:sp>
        <p:nvSpPr>
          <p:cNvPr id="9" name="Text Box 37"/>
          <p:cNvSpPr txBox="1">
            <a:spLocks noChangeArrowheads="1"/>
          </p:cNvSpPr>
          <p:nvPr/>
        </p:nvSpPr>
        <p:spPr bwMode="auto">
          <a:xfrm>
            <a:off x="1379476" y="1958980"/>
            <a:ext cx="25298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  <a:sym typeface="Symbol" pitchFamily="18" charset="2"/>
              </a:rPr>
              <a:t>⒈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  <a:sym typeface="Symbol" pitchFamily="18" charset="2"/>
              </a:rPr>
              <a:t>移出断面图</a:t>
            </a:r>
            <a:endParaRPr lang="zh-CN" alt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Text Box 38"/>
          <p:cNvSpPr txBox="1">
            <a:spLocks noChangeArrowheads="1"/>
          </p:cNvSpPr>
          <p:nvPr/>
        </p:nvSpPr>
        <p:spPr bwMode="auto">
          <a:xfrm>
            <a:off x="2971808" y="2513231"/>
            <a:ext cx="6718300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画在视图之外，轮廓线用粗实线绘制</a:t>
            </a:r>
            <a:r>
              <a:rPr lang="zh-CN" altLang="en-US" sz="2400" dirty="0">
                <a:latin typeface="宋体" charset="-122"/>
              </a:rPr>
              <a:t>。配置在剖切线的延长线上或其他适当的位置。</a:t>
            </a:r>
          </a:p>
        </p:txBody>
      </p:sp>
      <p:sp>
        <p:nvSpPr>
          <p:cNvPr id="15" name="Text Box 39"/>
          <p:cNvSpPr txBox="1">
            <a:spLocks noChangeArrowheads="1"/>
          </p:cNvSpPr>
          <p:nvPr/>
        </p:nvSpPr>
        <p:spPr bwMode="auto">
          <a:xfrm>
            <a:off x="1703512" y="2539188"/>
            <a:ext cx="1268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charset="-122"/>
              </a:rPr>
              <a:t>⑴ </a:t>
            </a:r>
            <a:r>
              <a:rPr lang="zh-CN" altLang="en-US" sz="2400" b="1" dirty="0">
                <a:latin typeface="宋体" charset="-122"/>
              </a:rPr>
              <a:t>画法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9677" y="3889323"/>
            <a:ext cx="5705475" cy="1162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03165" y="3524198"/>
            <a:ext cx="7161212" cy="1809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49177" y="3414660"/>
            <a:ext cx="7170738" cy="3333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49177" y="3451173"/>
            <a:ext cx="7142163" cy="3324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96789" y="3425773"/>
            <a:ext cx="7342188" cy="33432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6" name="Picture 4" descr="10-2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917756" y="4082998"/>
            <a:ext cx="3051175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703689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/>
      <p:bldP spid="10" grpId="0" autoUpdateAnimBg="0"/>
      <p:bldP spid="1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99"/>
          <p:cNvPicPr>
            <a:picLocks noChangeAspect="1" noChangeArrowheads="1"/>
          </p:cNvPicPr>
          <p:nvPr/>
        </p:nvPicPr>
        <p:blipFill>
          <a:blip r:embed="rId2"/>
          <a:srcRect b="31013"/>
          <a:stretch>
            <a:fillRect/>
          </a:stretch>
        </p:blipFill>
        <p:spPr bwMode="auto">
          <a:xfrm>
            <a:off x="3277927" y="1647689"/>
            <a:ext cx="6718300" cy="27749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" name="Text Box 36"/>
          <p:cNvSpPr txBox="1">
            <a:spLocks noChangeArrowheads="1"/>
          </p:cNvSpPr>
          <p:nvPr/>
        </p:nvSpPr>
        <p:spPr bwMode="auto">
          <a:xfrm>
            <a:off x="1199121" y="5862362"/>
            <a:ext cx="96130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chemeClr val="tx2"/>
                </a:solidFill>
                <a:latin typeface="宋体" charset="-122"/>
              </a:rPr>
              <a:t>☆</a:t>
            </a:r>
            <a:r>
              <a:rPr lang="zh-CN" altLang="en-US" sz="2800" b="1" dirty="0">
                <a:solidFill>
                  <a:schemeClr val="tx2"/>
                </a:solidFill>
                <a:latin typeface="宋体" charset="-122"/>
              </a:rPr>
              <a:t>剖切平面通过回转面形成的孔或凹坑的轴线时应按剖视画。</a:t>
            </a:r>
          </a:p>
        </p:txBody>
      </p:sp>
      <p:sp>
        <p:nvSpPr>
          <p:cNvPr id="5" name="Text Box 98"/>
          <p:cNvSpPr txBox="1">
            <a:spLocks noChangeArrowheads="1"/>
          </p:cNvSpPr>
          <p:nvPr/>
        </p:nvSpPr>
        <p:spPr bwMode="auto">
          <a:xfrm>
            <a:off x="1199121" y="5332742"/>
            <a:ext cx="19805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注意事项：</a:t>
            </a:r>
          </a:p>
        </p:txBody>
      </p:sp>
      <p:sp>
        <p:nvSpPr>
          <p:cNvPr id="6" name="Text Box 33"/>
          <p:cNvSpPr txBox="1">
            <a:spLocks noChangeArrowheads="1"/>
          </p:cNvSpPr>
          <p:nvPr/>
        </p:nvSpPr>
        <p:spPr bwMode="auto">
          <a:xfrm>
            <a:off x="1293552" y="1246051"/>
            <a:ext cx="30572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二、断面图的种类</a:t>
            </a:r>
            <a:endParaRPr lang="zh-CN" altLang="en-US" sz="2800" dirty="0"/>
          </a:p>
        </p:txBody>
      </p:sp>
      <p:sp>
        <p:nvSpPr>
          <p:cNvPr id="7" name="Text Box 37"/>
          <p:cNvSpPr txBox="1">
            <a:spLocks noChangeArrowheads="1"/>
          </p:cNvSpPr>
          <p:nvPr/>
        </p:nvSpPr>
        <p:spPr bwMode="auto">
          <a:xfrm>
            <a:off x="1525327" y="1866764"/>
            <a:ext cx="25298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  <a:sym typeface="Symbol" pitchFamily="18" charset="2"/>
              </a:rPr>
              <a:t>⒈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  <a:sym typeface="Symbol" pitchFamily="18" charset="2"/>
              </a:rPr>
              <a:t>移出断面图</a:t>
            </a:r>
            <a:endParaRPr lang="zh-CN" alt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39"/>
          <p:cNvSpPr txBox="1">
            <a:spLocks noChangeArrowheads="1"/>
          </p:cNvSpPr>
          <p:nvPr/>
        </p:nvSpPr>
        <p:spPr bwMode="auto">
          <a:xfrm>
            <a:off x="1890452" y="2377939"/>
            <a:ext cx="1441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宋体" charset="-122"/>
              </a:rPr>
              <a:t>⑴ </a:t>
            </a:r>
            <a:r>
              <a:rPr lang="zh-CN" altLang="en-US" sz="2800" b="1" dirty="0">
                <a:latin typeface="宋体" charset="-122"/>
              </a:rPr>
              <a:t>画法</a:t>
            </a:r>
          </a:p>
        </p:txBody>
      </p:sp>
      <p:sp>
        <p:nvSpPr>
          <p:cNvPr id="9" name="椭圆 8"/>
          <p:cNvSpPr>
            <a:spLocks noChangeArrowheads="1"/>
          </p:cNvSpPr>
          <p:nvPr/>
        </p:nvSpPr>
        <p:spPr bwMode="auto">
          <a:xfrm>
            <a:off x="3716077" y="2670039"/>
            <a:ext cx="438150" cy="511175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charset="-122"/>
            </a:endParaRPr>
          </a:p>
        </p:txBody>
      </p:sp>
      <p:sp>
        <p:nvSpPr>
          <p:cNvPr id="10" name="椭圆 9"/>
          <p:cNvSpPr>
            <a:spLocks noChangeArrowheads="1"/>
          </p:cNvSpPr>
          <p:nvPr/>
        </p:nvSpPr>
        <p:spPr bwMode="auto">
          <a:xfrm>
            <a:off x="4373302" y="2889114"/>
            <a:ext cx="438150" cy="511175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charset="-122"/>
            </a:endParaRPr>
          </a:p>
        </p:txBody>
      </p:sp>
      <p:pic>
        <p:nvPicPr>
          <p:cNvPr id="11" name="Picture 99"/>
          <p:cNvPicPr>
            <a:picLocks noChangeAspect="1" noChangeArrowheads="1"/>
          </p:cNvPicPr>
          <p:nvPr/>
        </p:nvPicPr>
        <p:blipFill>
          <a:blip r:embed="rId2"/>
          <a:srcRect l="48914" t="70802"/>
          <a:stretch>
            <a:fillRect/>
          </a:stretch>
        </p:blipFill>
        <p:spPr bwMode="auto">
          <a:xfrm>
            <a:off x="6564052" y="4495664"/>
            <a:ext cx="3432175" cy="1174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2" name="Picture 99"/>
          <p:cNvPicPr>
            <a:picLocks noChangeAspect="1" noChangeArrowheads="1"/>
          </p:cNvPicPr>
          <p:nvPr/>
        </p:nvPicPr>
        <p:blipFill>
          <a:blip r:embed="rId2"/>
          <a:srcRect t="70802" r="83151"/>
          <a:stretch>
            <a:fillRect/>
          </a:stretch>
        </p:blipFill>
        <p:spPr bwMode="auto">
          <a:xfrm>
            <a:off x="3277927" y="4495664"/>
            <a:ext cx="1131888" cy="1174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3" name="Picture 99"/>
          <p:cNvPicPr>
            <a:picLocks noChangeAspect="1" noChangeArrowheads="1"/>
          </p:cNvPicPr>
          <p:nvPr/>
        </p:nvPicPr>
        <p:blipFill>
          <a:blip r:embed="rId2"/>
          <a:srcRect l="23369" t="70802" r="56522"/>
          <a:stretch>
            <a:fillRect/>
          </a:stretch>
        </p:blipFill>
        <p:spPr bwMode="auto">
          <a:xfrm>
            <a:off x="4847965" y="4495664"/>
            <a:ext cx="1350962" cy="1174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064364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build="p" autoUpdateAnimBg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98"/>
          <p:cNvSpPr txBox="1">
            <a:spLocks noChangeArrowheads="1"/>
          </p:cNvSpPr>
          <p:nvPr/>
        </p:nvSpPr>
        <p:spPr bwMode="auto">
          <a:xfrm>
            <a:off x="1021371" y="1367111"/>
            <a:ext cx="197828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注意事项：</a:t>
            </a: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1409213" y="1968582"/>
            <a:ext cx="6829671" cy="467061"/>
          </a:xfrm>
          <a:prstGeom prst="rect">
            <a:avLst/>
          </a:prstGeom>
          <a:gradFill flip="none" rotWithShape="1">
            <a:gsLst>
              <a:gs pos="0">
                <a:srgbClr val="0070C0">
                  <a:alpha val="4900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2800" dirty="0">
                <a:latin typeface="+mj-lt"/>
                <a:ea typeface="+mj-ea"/>
                <a:cs typeface="+mj-cs"/>
              </a:rPr>
              <a:t> 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剖切面通过圆孔、锥孔轴线的正误对比</a:t>
            </a:r>
          </a:p>
        </p:txBody>
      </p:sp>
      <p:pic>
        <p:nvPicPr>
          <p:cNvPr id="5" name="Picture 1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1371" y="3032956"/>
            <a:ext cx="4856163" cy="22669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964721" y="4895094"/>
            <a:ext cx="498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宋体" charset="-122"/>
              </a:rPr>
              <a:t>正确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650271" y="4895094"/>
            <a:ext cx="498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宋体" charset="-122"/>
              </a:rPr>
              <a:t>错误</a:t>
            </a:r>
            <a:endParaRPr lang="zh-CN" altLang="en-US" sz="2000">
              <a:solidFill>
                <a:srgbClr val="FF0000"/>
              </a:solidFill>
            </a:endParaRPr>
          </a:p>
        </p:txBody>
      </p:sp>
      <p:pic>
        <p:nvPicPr>
          <p:cNvPr id="8" name="Picture 1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7296" y="3125123"/>
            <a:ext cx="4841875" cy="20812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0200183" y="4914235"/>
            <a:ext cx="498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宋体" charset="-122"/>
              </a:rPr>
              <a:t>正确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8885733" y="4914235"/>
            <a:ext cx="498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宋体" charset="-122"/>
              </a:rPr>
              <a:t>错误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781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9" grpId="0" autoUpdateAnimBg="0"/>
      <p:bldP spid="1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 l="79185"/>
          <a:stretch>
            <a:fillRect/>
          </a:stretch>
        </p:blipFill>
        <p:spPr bwMode="auto">
          <a:xfrm>
            <a:off x="9753786" y="1793034"/>
            <a:ext cx="876300" cy="2571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r="22549"/>
          <a:stretch>
            <a:fillRect/>
          </a:stretch>
        </p:blipFill>
        <p:spPr bwMode="auto">
          <a:xfrm>
            <a:off x="6420036" y="1793034"/>
            <a:ext cx="3260725" cy="2571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908409" y="2386411"/>
            <a:ext cx="536069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chemeClr val="tx2"/>
                </a:solidFill>
                <a:latin typeface="宋体" charset="-122"/>
              </a:rPr>
              <a:t>☆ </a:t>
            </a:r>
            <a:r>
              <a:rPr lang="zh-CN" altLang="en-US" sz="2800" dirty="0">
                <a:solidFill>
                  <a:schemeClr val="tx2"/>
                </a:solidFill>
                <a:latin typeface="宋体" charset="-122"/>
              </a:rPr>
              <a:t>当剖切平面通过非圆孔的某些结构，出现完全分离的两个断面时，这些结构应按剖视绘制。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888724" y="4202859"/>
            <a:ext cx="498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宋体" charset="-122"/>
              </a:rPr>
              <a:t>正确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990199" y="4202859"/>
            <a:ext cx="498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宋体" charset="-122"/>
              </a:rPr>
              <a:t>错误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8" name="Text Box 98"/>
          <p:cNvSpPr txBox="1">
            <a:spLocks noChangeArrowheads="1"/>
          </p:cNvSpPr>
          <p:nvPr/>
        </p:nvSpPr>
        <p:spPr bwMode="auto">
          <a:xfrm>
            <a:off x="920130" y="1459690"/>
            <a:ext cx="20997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注意事项：</a:t>
            </a:r>
          </a:p>
        </p:txBody>
      </p:sp>
      <p:sp>
        <p:nvSpPr>
          <p:cNvPr id="9" name="Text Box 47"/>
          <p:cNvSpPr txBox="1">
            <a:spLocks noChangeArrowheads="1"/>
          </p:cNvSpPr>
          <p:nvPr/>
        </p:nvSpPr>
        <p:spPr bwMode="auto">
          <a:xfrm>
            <a:off x="920129" y="4404359"/>
            <a:ext cx="528766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☆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当移出断面对称时，断面可画在视图中断处。 </a:t>
            </a:r>
          </a:p>
          <a:p>
            <a:endParaRPr lang="zh-CN" altLang="en-US" sz="2800" dirty="0">
              <a:solidFill>
                <a:srgbClr val="333399"/>
              </a:solidFill>
              <a:latin typeface="宋体" charset="-122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0820" y="4725144"/>
            <a:ext cx="4867275" cy="16176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5530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utoUpdateAnimBg="0"/>
      <p:bldP spid="7" grpId="0" autoUpdateAnimBg="0"/>
      <p:bldP spid="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861660" y="1907086"/>
            <a:ext cx="608467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☆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由两个或多个相交的剖切平面剖切得出的移出断面，中间</a:t>
            </a:r>
            <a:r>
              <a:rPr lang="zh-CN" altLang="en-US" sz="2800" dirty="0">
                <a:solidFill>
                  <a:srgbClr val="FF0000"/>
                </a:solidFill>
                <a:latin typeface="宋体" charset="-122"/>
              </a:rPr>
              <a:t>一般应断开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。</a:t>
            </a:r>
          </a:p>
        </p:txBody>
      </p:sp>
      <p:sp>
        <p:nvSpPr>
          <p:cNvPr id="4" name="Text Box 98"/>
          <p:cNvSpPr txBox="1">
            <a:spLocks noChangeArrowheads="1"/>
          </p:cNvSpPr>
          <p:nvPr/>
        </p:nvSpPr>
        <p:spPr bwMode="auto">
          <a:xfrm>
            <a:off x="1097039" y="1366156"/>
            <a:ext cx="19386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注意事项：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64152" y="1818186"/>
            <a:ext cx="2486025" cy="19431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4152" y="1862636"/>
            <a:ext cx="2581275" cy="1981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99027" y="3140573"/>
            <a:ext cx="1323975" cy="11334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780075" y="3504945"/>
            <a:ext cx="451117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宋体" charset="-122"/>
              </a:rPr>
              <a:t>⑵ </a:t>
            </a:r>
            <a:r>
              <a:rPr lang="zh-CN" altLang="en-US" sz="3200" b="1" dirty="0">
                <a:latin typeface="宋体" charset="-122"/>
              </a:rPr>
              <a:t>移出断面的标注方法</a:t>
            </a:r>
          </a:p>
        </p:txBody>
      </p:sp>
      <p:sp>
        <p:nvSpPr>
          <p:cNvPr id="9" name="Text Box 99"/>
          <p:cNvSpPr txBox="1">
            <a:spLocks noChangeArrowheads="1"/>
          </p:cNvSpPr>
          <p:nvPr/>
        </p:nvSpPr>
        <p:spPr bwMode="auto">
          <a:xfrm>
            <a:off x="1403989" y="4202145"/>
            <a:ext cx="4078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宋体" charset="-122"/>
              </a:rPr>
              <a:t>标注内容与剖视图相同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93360" y="5083673"/>
            <a:ext cx="9253027" cy="8248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①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配置在剖切符号延长线上的不对称的移出断面，或按投影关系配置的对称的移出断面，可省略字母。</a:t>
            </a:r>
          </a:p>
        </p:txBody>
      </p:sp>
    </p:spTree>
    <p:extLst>
      <p:ext uri="{BB962C8B-B14F-4D97-AF65-F5344CB8AC3E}">
        <p14:creationId xmlns:p14="http://schemas.microsoft.com/office/powerpoint/2010/main" val="20470501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8" grpId="0"/>
      <p:bldP spid="9" grpId="0" autoUpdateAnimBg="0"/>
      <p:bldP spid="1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102"/>
          <p:cNvPicPr>
            <a:picLocks noChangeAspect="1" noChangeArrowheads="1"/>
          </p:cNvPicPr>
          <p:nvPr/>
        </p:nvPicPr>
        <p:blipFill>
          <a:blip r:embed="rId2"/>
          <a:srcRect b="31879"/>
          <a:stretch>
            <a:fillRect/>
          </a:stretch>
        </p:blipFill>
        <p:spPr bwMode="auto">
          <a:xfrm>
            <a:off x="4490777" y="1890655"/>
            <a:ext cx="6326188" cy="22637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005421" y="1308836"/>
            <a:ext cx="39549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宋体" charset="-122"/>
              </a:rPr>
              <a:t>⑵ </a:t>
            </a:r>
            <a:r>
              <a:rPr lang="zh-CN" altLang="en-US" sz="2800" b="1" dirty="0">
                <a:latin typeface="宋体" charset="-122"/>
              </a:rPr>
              <a:t>移出断面的标注方法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394282" y="2124156"/>
            <a:ext cx="2822651" cy="2308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宋体" charset="-122"/>
              </a:rPr>
              <a:t>① </a:t>
            </a:r>
            <a:r>
              <a:rPr lang="zh-CN" altLang="en-US" sz="2400" b="1" dirty="0">
                <a:solidFill>
                  <a:srgbClr val="333399"/>
                </a:solidFill>
                <a:latin typeface="宋体" charset="-122"/>
              </a:rPr>
              <a:t>配置在剖切符号延长线上的不对称的移出断面，或按投影关系配置的对称的移出断面，可省略字母。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94282" y="5466565"/>
            <a:ext cx="8894762" cy="4062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 b="1" dirty="0">
                <a:solidFill>
                  <a:srgbClr val="333399"/>
                </a:solidFill>
                <a:latin typeface="宋体" charset="-122"/>
              </a:rPr>
              <a:t>② </a:t>
            </a:r>
            <a:r>
              <a:rPr lang="zh-CN" altLang="en-US" sz="2400" b="1" dirty="0">
                <a:solidFill>
                  <a:srgbClr val="333399"/>
                </a:solidFill>
                <a:latin typeface="宋体" charset="-122"/>
              </a:rPr>
              <a:t>配置在其他位置的对称的移出断面图，可省略箭头。</a:t>
            </a:r>
          </a:p>
        </p:txBody>
      </p:sp>
      <p:sp>
        <p:nvSpPr>
          <p:cNvPr id="7" name="Text Box 100"/>
          <p:cNvSpPr txBox="1">
            <a:spLocks noChangeArrowheads="1"/>
          </p:cNvSpPr>
          <p:nvPr/>
        </p:nvSpPr>
        <p:spPr bwMode="auto">
          <a:xfrm>
            <a:off x="1394282" y="5972117"/>
            <a:ext cx="9634266" cy="40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 b="1" dirty="0">
                <a:solidFill>
                  <a:srgbClr val="333399"/>
                </a:solidFill>
                <a:latin typeface="宋体" charset="-122"/>
              </a:rPr>
              <a:t>③ </a:t>
            </a:r>
            <a:r>
              <a:rPr lang="zh-CN" altLang="en-US" sz="2400" b="1" dirty="0">
                <a:solidFill>
                  <a:srgbClr val="333399"/>
                </a:solidFill>
                <a:latin typeface="宋体" charset="-122"/>
              </a:rPr>
              <a:t>配置在剖切线的延长线上的对称的移出断面，可省略标注。</a:t>
            </a:r>
          </a:p>
        </p:txBody>
      </p:sp>
      <p:pic>
        <p:nvPicPr>
          <p:cNvPr id="8" name="Picture 102"/>
          <p:cNvPicPr>
            <a:picLocks noChangeAspect="1" noChangeArrowheads="1"/>
          </p:cNvPicPr>
          <p:nvPr/>
        </p:nvPicPr>
        <p:blipFill>
          <a:blip r:embed="rId2"/>
          <a:srcRect l="50214" t="67023" r="31894"/>
          <a:stretch>
            <a:fillRect/>
          </a:stretch>
        </p:blipFill>
        <p:spPr bwMode="auto">
          <a:xfrm>
            <a:off x="7667365" y="4117917"/>
            <a:ext cx="1131887" cy="1095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9" name="Picture 102"/>
          <p:cNvPicPr>
            <a:picLocks noChangeAspect="1" noChangeArrowheads="1"/>
          </p:cNvPicPr>
          <p:nvPr/>
        </p:nvPicPr>
        <p:blipFill>
          <a:blip r:embed="rId2"/>
          <a:srcRect l="73302" t="67023"/>
          <a:stretch>
            <a:fillRect/>
          </a:stretch>
        </p:blipFill>
        <p:spPr bwMode="auto">
          <a:xfrm>
            <a:off x="9127865" y="4117917"/>
            <a:ext cx="1689100" cy="1095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0" name="Picture 102"/>
          <p:cNvPicPr>
            <a:picLocks noChangeAspect="1" noChangeArrowheads="1"/>
          </p:cNvPicPr>
          <p:nvPr/>
        </p:nvPicPr>
        <p:blipFill>
          <a:blip r:embed="rId2"/>
          <a:srcRect l="24242" t="65924" r="58444"/>
          <a:stretch>
            <a:fillRect/>
          </a:stretch>
        </p:blipFill>
        <p:spPr bwMode="auto">
          <a:xfrm>
            <a:off x="6024302" y="4081405"/>
            <a:ext cx="1095375" cy="11318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1" name="Picture 102"/>
          <p:cNvPicPr>
            <a:picLocks noChangeAspect="1" noChangeArrowheads="1"/>
          </p:cNvPicPr>
          <p:nvPr/>
        </p:nvPicPr>
        <p:blipFill>
          <a:blip r:embed="rId2"/>
          <a:srcRect t="64825" r="83263"/>
          <a:stretch>
            <a:fillRect/>
          </a:stretch>
        </p:blipFill>
        <p:spPr bwMode="auto">
          <a:xfrm>
            <a:off x="4490777" y="4044892"/>
            <a:ext cx="1058863" cy="11684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62061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5395438-0E99-4DCD-9ADB-00E5827BCF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关于断面图形的画法，下面描述正确的是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：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6378EC-FB0B-4CA0-A7FE-71AF8270A7A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移出断面，画在视图之外，轮廓线用粗实线绘制。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D5DA59-5861-4993-A3B8-C7031282280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87818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移出断面，可以配置在剖切线的延长线上或其他适当的位置。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7A7D80-EEE1-4271-AE8D-17811E796E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剖切平面通过非圆孔的某些结构，出现完全分离的两个断面时，这些结构应按剖视绘制。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031E45-B56A-475F-BF1A-701D5E507F7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剖切平面通过回转面形成的孔或凹坑的轴线时应按剖视画。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7065F1-BDC5-4EAD-AAA0-081D6BEA329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21F5FE-65E2-4D10-A897-8ECAA8DA1F2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C67D5B-B63C-48D1-9C6F-56A4B5C0EA7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A547B3-FE88-435D-B8A0-76E3194392D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B079F39-C6CB-463C-9914-A28DB58A7769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AA867B1-6CFC-4E0C-B584-C63C9E5833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B3C293D4-00DB-48ED-8B1E-927D4CED675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8CCA9DC5-8531-4558-93C8-A914F2987CB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6539DDDF-B9D1-4DE8-9E91-C0B71860A68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95A6330E-DB5E-4825-B971-68E33CEC6A1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4</a:t>
              </a:r>
              <a:r>
                <a:rPr kumimoji="0"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24AE447-64E0-43B8-B9FE-3D825C9F672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639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87388" y="1215814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  <a:sym typeface="Symbol" pitchFamily="18" charset="2"/>
              </a:rPr>
              <a:t> ⒉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  <a:sym typeface="Symbol" pitchFamily="18" charset="2"/>
              </a:rPr>
              <a:t>重合断面图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271464" y="1769524"/>
            <a:ext cx="14478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宋体" charset="-122"/>
              </a:rPr>
              <a:t>⑴ </a:t>
            </a:r>
            <a:r>
              <a:rPr lang="zh-CN" altLang="en-US" sz="2800" b="1" dirty="0">
                <a:latin typeface="宋体" charset="-122"/>
              </a:rPr>
              <a:t>画法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413222" y="2358568"/>
            <a:ext cx="493480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宋体" charset="-122"/>
              </a:rPr>
              <a:t>☆ </a:t>
            </a:r>
            <a:r>
              <a:rPr lang="zh-CN" altLang="en-US" sz="2800" dirty="0">
                <a:latin typeface="宋体" charset="-122"/>
              </a:rPr>
              <a:t>当视图中的轮廓线与断面图的图线重合时，视图中的轮廓线仍应连续画出。</a:t>
            </a:r>
          </a:p>
        </p:txBody>
      </p:sp>
      <p:pic>
        <p:nvPicPr>
          <p:cNvPr id="6" name="Picture 9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116" y="2126246"/>
            <a:ext cx="3138488" cy="1971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059996" y="4365862"/>
            <a:ext cx="3924649" cy="14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/>
              <a:t>☆ 当重合断面画成局部剖视图的形式时，可不画波浪线。</a:t>
            </a:r>
          </a:p>
        </p:txBody>
      </p:sp>
      <p:pic>
        <p:nvPicPr>
          <p:cNvPr id="8" name="Picture 9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90677" y="3809684"/>
            <a:ext cx="2015419" cy="251197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59119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7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9442" y="2293407"/>
            <a:ext cx="2905125" cy="1781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977243" y="1363985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⑵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标注方法</a:t>
            </a:r>
            <a:endParaRPr lang="zh-CN" altLang="en-US" sz="2800" dirty="0"/>
          </a:p>
        </p:txBody>
      </p:sp>
      <p:sp>
        <p:nvSpPr>
          <p:cNvPr id="5" name="Text Box 22"/>
          <p:cNvSpPr txBox="1">
            <a:spLocks noChangeArrowheads="1"/>
          </p:cNvSpPr>
          <p:nvPr/>
        </p:nvSpPr>
        <p:spPr bwMode="auto">
          <a:xfrm>
            <a:off x="1313819" y="2043375"/>
            <a:ext cx="5916438" cy="8679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①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不对称的重合断面，在不至于引起误解时，可省略标注。</a:t>
            </a:r>
          </a:p>
        </p:txBody>
      </p:sp>
      <p:sp>
        <p:nvSpPr>
          <p:cNvPr id="6" name="Text Box 23"/>
          <p:cNvSpPr txBox="1">
            <a:spLocks noChangeArrowheads="1"/>
          </p:cNvSpPr>
          <p:nvPr/>
        </p:nvSpPr>
        <p:spPr bwMode="auto">
          <a:xfrm>
            <a:off x="6941194" y="4797399"/>
            <a:ext cx="3956546" cy="13849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②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对称的重合断面不必标注，但必须用剖切线表示剖切平面的位置。</a:t>
            </a:r>
          </a:p>
        </p:txBody>
      </p: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8640067" y="1891769"/>
            <a:ext cx="401638" cy="2519363"/>
            <a:chOff x="3792" y="2784"/>
            <a:chExt cx="192" cy="1104"/>
          </a:xfrm>
        </p:grpSpPr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3792" y="2784"/>
              <a:ext cx="0" cy="1104"/>
              <a:chOff x="3792" y="2736"/>
              <a:chExt cx="0" cy="1104"/>
            </a:xfrm>
          </p:grpSpPr>
          <p:sp>
            <p:nvSpPr>
              <p:cNvPr id="12" name="Line 26"/>
              <p:cNvSpPr>
                <a:spLocks noChangeShapeType="1"/>
              </p:cNvSpPr>
              <p:nvPr/>
            </p:nvSpPr>
            <p:spPr bwMode="auto">
              <a:xfrm flipV="1">
                <a:off x="3792" y="2736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27"/>
              <p:cNvSpPr>
                <a:spLocks noChangeShapeType="1"/>
              </p:cNvSpPr>
              <p:nvPr/>
            </p:nvSpPr>
            <p:spPr bwMode="auto">
              <a:xfrm flipV="1">
                <a:off x="3792" y="3696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Group 28"/>
            <p:cNvGrpSpPr>
              <a:grpSpLocks/>
            </p:cNvGrpSpPr>
            <p:nvPr/>
          </p:nvGrpSpPr>
          <p:grpSpPr bwMode="auto">
            <a:xfrm>
              <a:off x="3792" y="2784"/>
              <a:ext cx="192" cy="1104"/>
              <a:chOff x="3792" y="2736"/>
              <a:chExt cx="192" cy="1104"/>
            </a:xfrm>
          </p:grpSpPr>
          <p:sp>
            <p:nvSpPr>
              <p:cNvPr id="10" name="Line 29"/>
              <p:cNvSpPr>
                <a:spLocks noChangeShapeType="1"/>
              </p:cNvSpPr>
              <p:nvPr/>
            </p:nvSpPr>
            <p:spPr bwMode="auto">
              <a:xfrm>
                <a:off x="3792" y="273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Line 30"/>
              <p:cNvSpPr>
                <a:spLocks noChangeShapeType="1"/>
              </p:cNvSpPr>
              <p:nvPr/>
            </p:nvSpPr>
            <p:spPr bwMode="auto">
              <a:xfrm>
                <a:off x="3792" y="3840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15" name="Picture 7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85955" y="2353732"/>
            <a:ext cx="2867025" cy="1695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6" name="Picture 7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13819" y="3446436"/>
            <a:ext cx="4722813" cy="2701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059712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7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04420" y="1988840"/>
            <a:ext cx="5732463" cy="35845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" name="Text Box 31"/>
          <p:cNvSpPr txBox="1">
            <a:spLocks noChangeArrowheads="1"/>
          </p:cNvSpPr>
          <p:nvPr/>
        </p:nvSpPr>
        <p:spPr bwMode="auto">
          <a:xfrm>
            <a:off x="1038262" y="1218458"/>
            <a:ext cx="2837384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/>
              <a:t>其他表达方法</a:t>
            </a:r>
          </a:p>
        </p:txBody>
      </p:sp>
      <p:sp>
        <p:nvSpPr>
          <p:cNvPr id="5" name="Text Box 74"/>
          <p:cNvSpPr txBox="1">
            <a:spLocks noChangeArrowheads="1"/>
          </p:cNvSpPr>
          <p:nvPr/>
        </p:nvSpPr>
        <p:spPr bwMode="auto">
          <a:xfrm>
            <a:off x="1698074" y="4541226"/>
            <a:ext cx="310843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charset="-122"/>
              </a:rPr>
              <a:t>2.</a:t>
            </a:r>
            <a:r>
              <a:rPr lang="zh-CN" altLang="en-US" sz="2400" b="1" dirty="0">
                <a:latin typeface="宋体" charset="-122"/>
              </a:rPr>
              <a:t>局部放大图的画法：</a:t>
            </a:r>
            <a:endParaRPr lang="en-US" altLang="zh-CN" sz="2400" b="1" dirty="0">
              <a:latin typeface="宋体" charset="-122"/>
            </a:endParaRPr>
          </a:p>
          <a:p>
            <a:r>
              <a:rPr lang="zh-CN" altLang="en-US" sz="2400" dirty="0">
                <a:solidFill>
                  <a:srgbClr val="0070C0"/>
                </a:solidFill>
                <a:latin typeface="宋体" charset="-122"/>
              </a:rPr>
              <a:t>   它与被放大部分原来的表达方法无关。</a:t>
            </a:r>
          </a:p>
        </p:txBody>
      </p:sp>
      <p:pic>
        <p:nvPicPr>
          <p:cNvPr id="6" name="Picture 7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67908" y="1988840"/>
            <a:ext cx="5746750" cy="3578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7" name="Text Box 74"/>
          <p:cNvSpPr txBox="1">
            <a:spLocks noChangeArrowheads="1"/>
          </p:cNvSpPr>
          <p:nvPr/>
        </p:nvSpPr>
        <p:spPr bwMode="auto">
          <a:xfrm>
            <a:off x="1379477" y="1709230"/>
            <a:ext cx="30603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宋体" charset="-122"/>
              </a:rPr>
              <a:t>一、局部放大图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811524" y="2635875"/>
            <a:ext cx="320435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 将图样中所表示的</a:t>
            </a:r>
            <a:r>
              <a:rPr lang="zh-CN" altLang="en-US" sz="2400" dirty="0">
                <a:solidFill>
                  <a:srgbClr val="FF0000"/>
                </a:solidFill>
              </a:rPr>
              <a:t>物体</a:t>
            </a:r>
            <a:r>
              <a:rPr lang="zh-CN" altLang="en-US" sz="2400" dirty="0"/>
              <a:t>部分</a:t>
            </a:r>
            <a:r>
              <a:rPr lang="zh-CN" altLang="en-US" sz="2400" dirty="0">
                <a:solidFill>
                  <a:srgbClr val="FF0000"/>
                </a:solidFill>
              </a:rPr>
              <a:t>结构</a:t>
            </a:r>
            <a:r>
              <a:rPr lang="zh-CN" altLang="en-US" sz="2400" dirty="0"/>
              <a:t>，</a:t>
            </a:r>
            <a:r>
              <a:rPr lang="zh-CN" altLang="en-US" sz="2400" b="1" dirty="0">
                <a:solidFill>
                  <a:srgbClr val="FF0000"/>
                </a:solidFill>
              </a:rPr>
              <a:t>用大于原图</a:t>
            </a:r>
            <a:r>
              <a:rPr lang="zh-CN" altLang="en-US" sz="2400" dirty="0"/>
              <a:t>形的</a:t>
            </a:r>
            <a:r>
              <a:rPr lang="zh-CN" altLang="en-US" sz="2400" b="1" dirty="0">
                <a:solidFill>
                  <a:srgbClr val="FF0000"/>
                </a:solidFill>
              </a:rPr>
              <a:t>比例</a:t>
            </a:r>
            <a:r>
              <a:rPr lang="zh-CN" altLang="en-US" sz="2400" dirty="0"/>
              <a:t>所绘出的图形，称为局部放大图。</a:t>
            </a:r>
          </a:p>
        </p:txBody>
      </p:sp>
      <p:sp>
        <p:nvSpPr>
          <p:cNvPr id="9" name="矩形 75"/>
          <p:cNvSpPr>
            <a:spLocks noChangeArrowheads="1"/>
          </p:cNvSpPr>
          <p:nvPr/>
        </p:nvSpPr>
        <p:spPr bwMode="auto">
          <a:xfrm>
            <a:off x="1668222" y="2217469"/>
            <a:ext cx="1241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/>
              <a:t>1.</a:t>
            </a:r>
            <a:r>
              <a:rPr lang="zh-CN" altLang="en-US" sz="2400" b="1" dirty="0"/>
              <a:t>概念</a:t>
            </a:r>
          </a:p>
        </p:txBody>
      </p:sp>
      <p:sp>
        <p:nvSpPr>
          <p:cNvPr id="10" name="Text Box 74"/>
          <p:cNvSpPr txBox="1">
            <a:spLocks noChangeArrowheads="1"/>
          </p:cNvSpPr>
          <p:nvPr/>
        </p:nvSpPr>
        <p:spPr bwMode="auto">
          <a:xfrm>
            <a:off x="1664762" y="5814806"/>
            <a:ext cx="31137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charset="-122"/>
              </a:rPr>
              <a:t>3.</a:t>
            </a:r>
            <a:r>
              <a:rPr lang="zh-CN" altLang="en-US" sz="2400" b="1" dirty="0">
                <a:latin typeface="宋体" charset="-122"/>
              </a:rPr>
              <a:t>局部放大图的标注</a:t>
            </a:r>
            <a:endParaRPr lang="en-US" altLang="zh-CN" sz="2400" b="1" dirty="0"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87640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712218" y="2210189"/>
            <a:ext cx="94243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简化表示法包括</a:t>
            </a:r>
            <a:r>
              <a:rPr lang="zh-CN" altLang="en-US" sz="2400" b="1" dirty="0">
                <a:solidFill>
                  <a:srgbClr val="FF0000"/>
                </a:solidFill>
              </a:rPr>
              <a:t>规定画法</a:t>
            </a:r>
            <a:r>
              <a:rPr lang="zh-CN" altLang="en-US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省略画法</a:t>
            </a:r>
            <a:r>
              <a:rPr lang="zh-CN" altLang="en-US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示意画法</a:t>
            </a:r>
            <a:r>
              <a:rPr lang="zh-CN" altLang="en-US" sz="2400" dirty="0">
                <a:solidFill>
                  <a:srgbClr val="FF0000"/>
                </a:solidFill>
              </a:rPr>
              <a:t>等</a:t>
            </a:r>
            <a:r>
              <a:rPr lang="zh-CN" altLang="en-US" sz="2400" dirty="0"/>
              <a:t>在内的图示方法。</a:t>
            </a:r>
          </a:p>
        </p:txBody>
      </p:sp>
      <p:sp>
        <p:nvSpPr>
          <p:cNvPr id="4" name="Text Box 74"/>
          <p:cNvSpPr txBox="1">
            <a:spLocks noChangeArrowheads="1"/>
          </p:cNvSpPr>
          <p:nvPr/>
        </p:nvSpPr>
        <p:spPr bwMode="auto">
          <a:xfrm>
            <a:off x="1038263" y="1686969"/>
            <a:ext cx="28373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宋体" charset="-122"/>
              </a:rPr>
              <a:t>二、简化表示法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537258" y="2852382"/>
            <a:ext cx="23383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肋板的画法</a:t>
            </a:r>
            <a:endParaRPr lang="zh-CN" altLang="en-US" sz="2800" dirty="0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712218" y="3350411"/>
            <a:ext cx="4131754" cy="2665413"/>
            <a:chOff x="2627" y="676"/>
            <a:chExt cx="2783" cy="1489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2627" y="1031"/>
              <a:ext cx="2783" cy="11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>
                  <a:latin typeface="宋体" charset="-122"/>
                </a:rPr>
                <a:t>    </a:t>
              </a:r>
              <a:r>
                <a:rPr lang="zh-CN" altLang="en-US" sz="2800"/>
                <a:t>对于机件的肋板，如按纵向剖切，肋板不画剖面符号，而用粗实线将它与其邻接部分分开。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711" y="676"/>
              <a:ext cx="794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800" dirty="0">
                  <a:solidFill>
                    <a:srgbClr val="FF0000"/>
                  </a:solidFill>
                </a:rPr>
                <a:t>规则：</a:t>
              </a:r>
            </a:p>
          </p:txBody>
        </p:sp>
      </p:grp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23075" y="3228806"/>
            <a:ext cx="3602038" cy="24368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96100" y="3155781"/>
            <a:ext cx="3395663" cy="25812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1038262" y="1218458"/>
            <a:ext cx="2837384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/>
              <a:t>其他表达方法</a:t>
            </a:r>
          </a:p>
        </p:txBody>
      </p:sp>
    </p:spTree>
    <p:extLst>
      <p:ext uri="{BB962C8B-B14F-4D97-AF65-F5344CB8AC3E}">
        <p14:creationId xmlns:p14="http://schemas.microsoft.com/office/powerpoint/2010/main" val="32918625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矩形 77"/>
          <p:cNvSpPr>
            <a:spLocks noChangeArrowheads="1"/>
          </p:cNvSpPr>
          <p:nvPr/>
        </p:nvSpPr>
        <p:spPr bwMode="auto">
          <a:xfrm>
            <a:off x="1734605" y="2191374"/>
            <a:ext cx="345122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简化表示法包括</a:t>
            </a:r>
            <a:r>
              <a:rPr lang="zh-CN" altLang="en-US" sz="2400" b="1" dirty="0">
                <a:solidFill>
                  <a:srgbClr val="FF0000"/>
                </a:solidFill>
              </a:rPr>
              <a:t>规定画法</a:t>
            </a:r>
            <a:r>
              <a:rPr lang="zh-CN" altLang="en-US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省略画法</a:t>
            </a:r>
            <a:r>
              <a:rPr lang="zh-CN" altLang="en-US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示意画法</a:t>
            </a:r>
            <a:r>
              <a:rPr lang="zh-CN" altLang="en-US" sz="2400" dirty="0">
                <a:solidFill>
                  <a:srgbClr val="FF0000"/>
                </a:solidFill>
              </a:rPr>
              <a:t>等</a:t>
            </a:r>
            <a:r>
              <a:rPr lang="zh-CN" altLang="en-US" sz="2400" dirty="0"/>
              <a:t>在内的图示方法。</a:t>
            </a:r>
          </a:p>
        </p:txBody>
      </p:sp>
      <p:sp>
        <p:nvSpPr>
          <p:cNvPr id="4" name="Text Box 74"/>
          <p:cNvSpPr txBox="1">
            <a:spLocks noChangeArrowheads="1"/>
          </p:cNvSpPr>
          <p:nvPr/>
        </p:nvSpPr>
        <p:spPr bwMode="auto">
          <a:xfrm>
            <a:off x="1038263" y="1702536"/>
            <a:ext cx="28373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宋体" charset="-122"/>
              </a:rPr>
              <a:t>二、简化表示法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350963" y="3370362"/>
            <a:ext cx="23383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肋板的画法</a:t>
            </a:r>
            <a:endParaRPr lang="zh-CN" altLang="en-US" sz="2800" dirty="0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360687" y="3865792"/>
            <a:ext cx="4211972" cy="1808819"/>
            <a:chOff x="2627" y="660"/>
            <a:chExt cx="2783" cy="1547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2627" y="989"/>
              <a:ext cx="2783" cy="121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400" dirty="0">
                  <a:latin typeface="宋体" charset="-122"/>
                </a:rPr>
                <a:t>    </a:t>
              </a:r>
              <a:r>
                <a:rPr lang="zh-CN" altLang="en-US" sz="2400" dirty="0"/>
                <a:t>对于机件的肋板，如按纵向剖切，肋板不画剖面符号，而用粗实线将它与其邻接部分分开。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711" y="660"/>
              <a:ext cx="732" cy="35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规则：</a:t>
              </a:r>
            </a:p>
          </p:txBody>
        </p:sp>
      </p:grp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659" y="1817973"/>
            <a:ext cx="5405437" cy="3821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259796" y="1318172"/>
            <a:ext cx="1958975" cy="837676"/>
          </a:xfrm>
          <a:prstGeom prst="wedgeRoundRectCallout">
            <a:avLst>
              <a:gd name="adj1" fmla="val 47051"/>
              <a:gd name="adj2" fmla="val 85407"/>
              <a:gd name="adj3" fmla="val 16667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/>
              <a:t>肋不对称画成对称</a:t>
            </a:r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6888696" y="1213810"/>
            <a:ext cx="1808163" cy="919401"/>
          </a:xfrm>
          <a:prstGeom prst="wedgeRoundRectCallout">
            <a:avLst>
              <a:gd name="adj1" fmla="val 48227"/>
              <a:gd name="adj2" fmla="val 111167"/>
              <a:gd name="adj3" fmla="val 16667"/>
            </a:avLst>
          </a:prstGeom>
          <a:solidFill>
            <a:srgbClr val="66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b="1" dirty="0"/>
              <a:t>孔未剖到画成剖到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360687" y="5740617"/>
            <a:ext cx="10334091" cy="75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chemeClr val="tx2"/>
                </a:solidFill>
                <a:latin typeface="宋体" charset="-122"/>
              </a:rPr>
              <a:t>    </a:t>
            </a:r>
            <a:r>
              <a:rPr lang="zh-CN" altLang="en-US" sz="2400" dirty="0">
                <a:solidFill>
                  <a:schemeClr val="tx2"/>
                </a:solidFill>
                <a:latin typeface="宋体" charset="-122"/>
              </a:rPr>
              <a:t>若干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直径相同且成规律分布的孔</a:t>
            </a:r>
            <a:r>
              <a:rPr lang="zh-CN" altLang="en-US" sz="2400" dirty="0">
                <a:solidFill>
                  <a:schemeClr val="tx2"/>
                </a:solidFill>
                <a:latin typeface="宋体" charset="-122"/>
              </a:rPr>
              <a:t>，可以仅画出一个或几个，其余只需用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细点画线</a:t>
            </a:r>
            <a:r>
              <a:rPr lang="zh-CN" altLang="en-US" sz="2400" dirty="0">
                <a:solidFill>
                  <a:schemeClr val="tx2"/>
                </a:solidFill>
                <a:latin typeface="宋体" charset="-122"/>
              </a:rPr>
              <a:t>表示其中心位置。</a:t>
            </a:r>
          </a:p>
        </p:txBody>
      </p:sp>
      <p:sp>
        <p:nvSpPr>
          <p:cNvPr id="13" name="Text Box 31"/>
          <p:cNvSpPr txBox="1">
            <a:spLocks noChangeArrowheads="1"/>
          </p:cNvSpPr>
          <p:nvPr/>
        </p:nvSpPr>
        <p:spPr bwMode="auto">
          <a:xfrm>
            <a:off x="1038262" y="1218458"/>
            <a:ext cx="2837384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/>
              <a:t>其他表达方法</a:t>
            </a:r>
          </a:p>
        </p:txBody>
      </p:sp>
    </p:spTree>
    <p:extLst>
      <p:ext uri="{BB962C8B-B14F-4D97-AF65-F5344CB8AC3E}">
        <p14:creationId xmlns:p14="http://schemas.microsoft.com/office/powerpoint/2010/main" val="688767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  <p:bldP spid="11" grpId="0" animBg="1" autoUpdateAnimBg="0"/>
      <p:bldP spid="1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73"/>
          <p:cNvPicPr>
            <a:picLocks noChangeAspect="1" noChangeArrowheads="1"/>
          </p:cNvPicPr>
          <p:nvPr/>
        </p:nvPicPr>
        <p:blipFill>
          <a:blip r:embed="rId2"/>
          <a:srcRect l="52917"/>
          <a:stretch>
            <a:fillRect/>
          </a:stretch>
        </p:blipFill>
        <p:spPr bwMode="auto">
          <a:xfrm>
            <a:off x="6369993" y="3132596"/>
            <a:ext cx="3943350" cy="24463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" name="Picture 73"/>
          <p:cNvPicPr>
            <a:picLocks noChangeAspect="1" noChangeArrowheads="1"/>
          </p:cNvPicPr>
          <p:nvPr/>
        </p:nvPicPr>
        <p:blipFill>
          <a:blip r:embed="rId2"/>
          <a:srcRect r="50775"/>
          <a:stretch>
            <a:fillRect/>
          </a:stretch>
        </p:blipFill>
        <p:spPr bwMode="auto">
          <a:xfrm>
            <a:off x="2244081" y="3059571"/>
            <a:ext cx="3541712" cy="21018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988802" y="1737742"/>
            <a:ext cx="20313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charset="-122"/>
              </a:rPr>
              <a:t>三、断开画法</a:t>
            </a: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1635516" y="2203365"/>
            <a:ext cx="95410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宋体" charset="-122"/>
              </a:rPr>
              <a:t>轴、杆类较长的机件，当沿长度方向形状相同或按一定规律变化时，允许断开画出。</a:t>
            </a: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3875895" y="5816128"/>
            <a:ext cx="42149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3300"/>
                </a:solidFill>
                <a:latin typeface="宋体" charset="-122"/>
              </a:rPr>
              <a:t>标注尺寸时，仍注实长。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 r="51321"/>
          <a:stretch>
            <a:fillRect/>
          </a:stretch>
        </p:blipFill>
        <p:spPr bwMode="auto">
          <a:xfrm>
            <a:off x="2207568" y="2986546"/>
            <a:ext cx="3559175" cy="15668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2964806" y="3689808"/>
            <a:ext cx="2433637" cy="2117725"/>
            <a:chOff x="1392" y="1947"/>
            <a:chExt cx="1120" cy="298"/>
          </a:xfrm>
        </p:grpSpPr>
        <p:sp>
          <p:nvSpPr>
            <p:cNvPr id="10" name="Line 3"/>
            <p:cNvSpPr>
              <a:spLocks noChangeShapeType="1"/>
            </p:cNvSpPr>
            <p:nvPr/>
          </p:nvSpPr>
          <p:spPr bwMode="auto">
            <a:xfrm>
              <a:off x="1392" y="1947"/>
              <a:ext cx="0" cy="2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4"/>
            <p:cNvSpPr>
              <a:spLocks noChangeShapeType="1"/>
            </p:cNvSpPr>
            <p:nvPr/>
          </p:nvSpPr>
          <p:spPr bwMode="auto">
            <a:xfrm>
              <a:off x="2512" y="2012"/>
              <a:ext cx="0" cy="2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5"/>
            <p:cNvSpPr>
              <a:spLocks noChangeShapeType="1"/>
            </p:cNvSpPr>
            <p:nvPr/>
          </p:nvSpPr>
          <p:spPr bwMode="auto">
            <a:xfrm>
              <a:off x="1392" y="2207"/>
              <a:ext cx="11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1739" y="2137"/>
              <a:ext cx="403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/>
                <a:t>实长</a:t>
              </a:r>
            </a:p>
          </p:txBody>
        </p:sp>
      </p:grpSp>
      <p:pic>
        <p:nvPicPr>
          <p:cNvPr id="15" name="Picture 74"/>
          <p:cNvPicPr>
            <a:picLocks noChangeAspect="1" noChangeArrowheads="1"/>
          </p:cNvPicPr>
          <p:nvPr/>
        </p:nvPicPr>
        <p:blipFill>
          <a:blip r:embed="rId3"/>
          <a:srcRect l="52434"/>
          <a:stretch>
            <a:fillRect/>
          </a:stretch>
        </p:blipFill>
        <p:spPr bwMode="auto">
          <a:xfrm>
            <a:off x="6333481" y="3059571"/>
            <a:ext cx="4044950" cy="1822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16" name="Group 7"/>
          <p:cNvGrpSpPr>
            <a:grpSpLocks/>
          </p:cNvGrpSpPr>
          <p:nvPr/>
        </p:nvGrpSpPr>
        <p:grpSpPr bwMode="auto">
          <a:xfrm>
            <a:off x="6735118" y="4264483"/>
            <a:ext cx="3286125" cy="839788"/>
            <a:chOff x="744" y="3153"/>
            <a:chExt cx="2705" cy="425"/>
          </a:xfrm>
        </p:grpSpPr>
        <p:sp>
          <p:nvSpPr>
            <p:cNvPr id="17" name="Line 8"/>
            <p:cNvSpPr>
              <a:spLocks noChangeShapeType="1"/>
            </p:cNvSpPr>
            <p:nvPr/>
          </p:nvSpPr>
          <p:spPr bwMode="auto">
            <a:xfrm>
              <a:off x="744" y="3153"/>
              <a:ext cx="1" cy="4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3447" y="3157"/>
              <a:ext cx="1" cy="421"/>
            </a:xfrm>
            <a:custGeom>
              <a:avLst/>
              <a:gdLst>
                <a:gd name="T0" fmla="*/ 0 w 1"/>
                <a:gd name="T1" fmla="*/ 0 h 421"/>
                <a:gd name="T2" fmla="*/ 0 w 1"/>
                <a:gd name="T3" fmla="*/ 421 h 421"/>
                <a:gd name="T4" fmla="*/ 0 60000 65536"/>
                <a:gd name="T5" fmla="*/ 0 60000 65536"/>
                <a:gd name="T6" fmla="*/ 0 w 1"/>
                <a:gd name="T7" fmla="*/ 0 h 421"/>
                <a:gd name="T8" fmla="*/ 1 w 1"/>
                <a:gd name="T9" fmla="*/ 421 h 4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21">
                  <a:moveTo>
                    <a:pt x="0" y="0"/>
                  </a:moveTo>
                  <a:lnTo>
                    <a:pt x="0" y="42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auto">
            <a:xfrm>
              <a:off x="744" y="3540"/>
              <a:ext cx="270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Text Box 11"/>
            <p:cNvSpPr txBox="1">
              <a:spLocks noChangeArrowheads="1"/>
            </p:cNvSpPr>
            <p:nvPr/>
          </p:nvSpPr>
          <p:spPr bwMode="auto">
            <a:xfrm>
              <a:off x="1860" y="3274"/>
              <a:ext cx="6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/>
                <a:t>实长</a:t>
              </a:r>
            </a:p>
          </p:txBody>
        </p:sp>
      </p:grpSp>
      <p:sp>
        <p:nvSpPr>
          <p:cNvPr id="21" name="Text Box 31"/>
          <p:cNvSpPr txBox="1">
            <a:spLocks noChangeArrowheads="1"/>
          </p:cNvSpPr>
          <p:nvPr/>
        </p:nvSpPr>
        <p:spPr bwMode="auto">
          <a:xfrm>
            <a:off x="1038262" y="1218458"/>
            <a:ext cx="2837384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/>
              <a:t>其他表达方法</a:t>
            </a:r>
          </a:p>
        </p:txBody>
      </p:sp>
    </p:spTree>
    <p:extLst>
      <p:ext uri="{BB962C8B-B14F-4D97-AF65-F5344CB8AC3E}">
        <p14:creationId xmlns:p14="http://schemas.microsoft.com/office/powerpoint/2010/main" val="5954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BEA0EF3-B99C-4C1F-A835-CB94721C71E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选择正确的描述：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6A6EAA-4A0A-4A14-AA1E-ED9792BC40C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对于机件的肋板，如按纵向剖切，肋板不画剖面符号，而用粗实线将它与其邻接部分分开。</a:t>
            </a:r>
            <a:endParaRPr kumimoji="0"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F2A600-88AC-4818-9625-3B9A8D18236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轴、杆类较长的机件，当沿长度方向形状相同或按一定规律变化时，允许断开画出，但标注尺寸时，仍注实长。</a:t>
            </a:r>
            <a:endParaRPr kumimoji="0"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FEB3D9-5B0D-470D-8D8A-5F3E9787C61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将图样中所表示的物体部分结构，用大于原图形的比例所绘出的图形，称为局部放大图。</a:t>
            </a:r>
            <a:endParaRPr kumimoji="0"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C923E8-239D-4701-85D2-E626DCC78AC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局部放大图的画法与被放大部分原来的表达方法无关。</a:t>
            </a:r>
            <a:endParaRPr kumimoji="0"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75A6D7-4F46-4A97-9506-B1B69FDC3E3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0924B1-EFC2-457E-8625-A7BF60B7938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670A40-4D48-44F3-B9F4-5025B6E0B89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280705-9AB6-40E8-9B5E-94548A9E41C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91780E4-86D9-4826-9DA3-B40019769D89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E995D8D-4571-4772-A62F-5590247071A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B4D8D6CC-E8FE-49F2-900A-0F30A50AF2B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44CA75D-A943-4607-BBDA-7D37EE802B3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232A9837-F4B2-4A30-ADE4-DE2EF23A1E4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E1202AF7-DE3F-4CC4-8F81-3B193D79AAB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4</a:t>
              </a:r>
              <a:r>
                <a:rPr kumimoji="0"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84787A8-E247-44AE-9EF5-0B95D99CFBB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063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986980" y="2237658"/>
            <a:ext cx="1328738" cy="2362200"/>
            <a:chOff x="1943" y="1237"/>
            <a:chExt cx="848" cy="1488"/>
          </a:xfrm>
        </p:grpSpPr>
        <p:sp>
          <p:nvSpPr>
            <p:cNvPr id="4" name="Line 3"/>
            <p:cNvSpPr>
              <a:spLocks noChangeShapeType="1"/>
            </p:cNvSpPr>
            <p:nvPr/>
          </p:nvSpPr>
          <p:spPr bwMode="auto">
            <a:xfrm>
              <a:off x="2363" y="1237"/>
              <a:ext cx="0" cy="14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1944" y="1285"/>
              <a:ext cx="0" cy="13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2782" y="1285"/>
              <a:ext cx="0" cy="13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1945" y="1293"/>
              <a:ext cx="8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2412" y="1293"/>
              <a:ext cx="0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2314" y="1302"/>
              <a:ext cx="0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1951" y="1933"/>
              <a:ext cx="3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407" y="1933"/>
              <a:ext cx="3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H="1">
              <a:off x="2412" y="1293"/>
              <a:ext cx="369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2412" y="1293"/>
              <a:ext cx="369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945" y="1293"/>
              <a:ext cx="369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1952" y="1293"/>
              <a:ext cx="362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1943" y="2514"/>
              <a:ext cx="848" cy="165"/>
            </a:xfrm>
            <a:custGeom>
              <a:avLst/>
              <a:gdLst>
                <a:gd name="T0" fmla="*/ 0 w 1003"/>
                <a:gd name="T1" fmla="*/ 81 h 165"/>
                <a:gd name="T2" fmla="*/ 4 w 1003"/>
                <a:gd name="T3" fmla="*/ 103 h 165"/>
                <a:gd name="T4" fmla="*/ 10 w 1003"/>
                <a:gd name="T5" fmla="*/ 140 h 165"/>
                <a:gd name="T6" fmla="*/ 15 w 1003"/>
                <a:gd name="T7" fmla="*/ 140 h 165"/>
                <a:gd name="T8" fmla="*/ 19 w 1003"/>
                <a:gd name="T9" fmla="*/ 125 h 165"/>
                <a:gd name="T10" fmla="*/ 20 w 1003"/>
                <a:gd name="T11" fmla="*/ 103 h 165"/>
                <a:gd name="T12" fmla="*/ 25 w 1003"/>
                <a:gd name="T13" fmla="*/ 140 h 165"/>
                <a:gd name="T14" fmla="*/ 30 w 1003"/>
                <a:gd name="T15" fmla="*/ 161 h 165"/>
                <a:gd name="T16" fmla="*/ 35 w 1003"/>
                <a:gd name="T17" fmla="*/ 161 h 165"/>
                <a:gd name="T18" fmla="*/ 40 w 1003"/>
                <a:gd name="T19" fmla="*/ 140 h 165"/>
                <a:gd name="T20" fmla="*/ 41 w 1003"/>
                <a:gd name="T21" fmla="*/ 74 h 165"/>
                <a:gd name="T22" fmla="*/ 38 w 1003"/>
                <a:gd name="T23" fmla="*/ 23 h 165"/>
                <a:gd name="T24" fmla="*/ 33 w 1003"/>
                <a:gd name="T25" fmla="*/ 1 h 165"/>
                <a:gd name="T26" fmla="*/ 30 w 1003"/>
                <a:gd name="T27" fmla="*/ 16 h 165"/>
                <a:gd name="T28" fmla="*/ 26 w 1003"/>
                <a:gd name="T29" fmla="*/ 52 h 165"/>
                <a:gd name="T30" fmla="*/ 22 w 1003"/>
                <a:gd name="T31" fmla="*/ 81 h 165"/>
                <a:gd name="T32" fmla="*/ 21 w 1003"/>
                <a:gd name="T33" fmla="*/ 103 h 16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03"/>
                <a:gd name="T52" fmla="*/ 0 h 165"/>
                <a:gd name="T53" fmla="*/ 1003 w 1003"/>
                <a:gd name="T54" fmla="*/ 165 h 16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03" h="165">
                  <a:moveTo>
                    <a:pt x="0" y="81"/>
                  </a:moveTo>
                  <a:cubicBezTo>
                    <a:pt x="16" y="85"/>
                    <a:pt x="55" y="93"/>
                    <a:pt x="95" y="103"/>
                  </a:cubicBezTo>
                  <a:cubicBezTo>
                    <a:pt x="135" y="113"/>
                    <a:pt x="197" y="134"/>
                    <a:pt x="240" y="140"/>
                  </a:cubicBezTo>
                  <a:cubicBezTo>
                    <a:pt x="283" y="146"/>
                    <a:pt x="321" y="142"/>
                    <a:pt x="356" y="140"/>
                  </a:cubicBezTo>
                  <a:cubicBezTo>
                    <a:pt x="391" y="138"/>
                    <a:pt x="429" y="131"/>
                    <a:pt x="451" y="125"/>
                  </a:cubicBezTo>
                  <a:cubicBezTo>
                    <a:pt x="473" y="119"/>
                    <a:pt x="464" y="101"/>
                    <a:pt x="487" y="103"/>
                  </a:cubicBezTo>
                  <a:cubicBezTo>
                    <a:pt x="510" y="105"/>
                    <a:pt x="550" y="130"/>
                    <a:pt x="589" y="140"/>
                  </a:cubicBezTo>
                  <a:cubicBezTo>
                    <a:pt x="628" y="150"/>
                    <a:pt x="675" y="157"/>
                    <a:pt x="720" y="161"/>
                  </a:cubicBezTo>
                  <a:cubicBezTo>
                    <a:pt x="765" y="165"/>
                    <a:pt x="817" y="164"/>
                    <a:pt x="858" y="161"/>
                  </a:cubicBezTo>
                  <a:cubicBezTo>
                    <a:pt x="899" y="158"/>
                    <a:pt x="944" y="154"/>
                    <a:pt x="967" y="140"/>
                  </a:cubicBezTo>
                  <a:cubicBezTo>
                    <a:pt x="990" y="126"/>
                    <a:pt x="1003" y="93"/>
                    <a:pt x="996" y="74"/>
                  </a:cubicBezTo>
                  <a:cubicBezTo>
                    <a:pt x="989" y="55"/>
                    <a:pt x="955" y="35"/>
                    <a:pt x="924" y="23"/>
                  </a:cubicBezTo>
                  <a:cubicBezTo>
                    <a:pt x="893" y="11"/>
                    <a:pt x="842" y="2"/>
                    <a:pt x="807" y="1"/>
                  </a:cubicBezTo>
                  <a:cubicBezTo>
                    <a:pt x="772" y="0"/>
                    <a:pt x="743" y="8"/>
                    <a:pt x="713" y="16"/>
                  </a:cubicBezTo>
                  <a:cubicBezTo>
                    <a:pt x="683" y="24"/>
                    <a:pt x="654" y="41"/>
                    <a:pt x="626" y="52"/>
                  </a:cubicBezTo>
                  <a:cubicBezTo>
                    <a:pt x="598" y="63"/>
                    <a:pt x="567" y="73"/>
                    <a:pt x="546" y="81"/>
                  </a:cubicBezTo>
                  <a:cubicBezTo>
                    <a:pt x="525" y="89"/>
                    <a:pt x="511" y="99"/>
                    <a:pt x="502" y="103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2418" y="2545"/>
              <a:ext cx="100" cy="101"/>
            </a:xfrm>
            <a:custGeom>
              <a:avLst/>
              <a:gdLst>
                <a:gd name="T0" fmla="*/ 0 w 100"/>
                <a:gd name="T1" fmla="*/ 101 h 101"/>
                <a:gd name="T2" fmla="*/ 100 w 100"/>
                <a:gd name="T3" fmla="*/ 0 h 101"/>
                <a:gd name="T4" fmla="*/ 0 60000 65536"/>
                <a:gd name="T5" fmla="*/ 0 60000 65536"/>
                <a:gd name="T6" fmla="*/ 0 w 100"/>
                <a:gd name="T7" fmla="*/ 0 h 101"/>
                <a:gd name="T8" fmla="*/ 100 w 100"/>
                <a:gd name="T9" fmla="*/ 101 h 1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" h="101">
                  <a:moveTo>
                    <a:pt x="0" y="101"/>
                  </a:moveTo>
                  <a:lnTo>
                    <a:pt x="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2521" y="2521"/>
              <a:ext cx="146" cy="147"/>
            </a:xfrm>
            <a:custGeom>
              <a:avLst/>
              <a:gdLst>
                <a:gd name="T0" fmla="*/ 0 w 146"/>
                <a:gd name="T1" fmla="*/ 147 h 147"/>
                <a:gd name="T2" fmla="*/ 146 w 146"/>
                <a:gd name="T3" fmla="*/ 0 h 147"/>
                <a:gd name="T4" fmla="*/ 0 60000 65536"/>
                <a:gd name="T5" fmla="*/ 0 60000 65536"/>
                <a:gd name="T6" fmla="*/ 0 w 146"/>
                <a:gd name="T7" fmla="*/ 0 h 147"/>
                <a:gd name="T8" fmla="*/ 146 w 146"/>
                <a:gd name="T9" fmla="*/ 147 h 14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6" h="147">
                  <a:moveTo>
                    <a:pt x="0" y="147"/>
                  </a:moveTo>
                  <a:lnTo>
                    <a:pt x="14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2628" y="2554"/>
              <a:ext cx="121" cy="122"/>
            </a:xfrm>
            <a:custGeom>
              <a:avLst/>
              <a:gdLst>
                <a:gd name="T0" fmla="*/ 0 w 121"/>
                <a:gd name="T1" fmla="*/ 122 h 122"/>
                <a:gd name="T2" fmla="*/ 121 w 121"/>
                <a:gd name="T3" fmla="*/ 0 h 122"/>
                <a:gd name="T4" fmla="*/ 0 60000 65536"/>
                <a:gd name="T5" fmla="*/ 0 60000 65536"/>
                <a:gd name="T6" fmla="*/ 0 w 121"/>
                <a:gd name="T7" fmla="*/ 0 h 122"/>
                <a:gd name="T8" fmla="*/ 121 w 121"/>
                <a:gd name="T9" fmla="*/ 122 h 1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1" h="122">
                  <a:moveTo>
                    <a:pt x="0" y="122"/>
                  </a:moveTo>
                  <a:lnTo>
                    <a:pt x="12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1" name="Group 19"/>
          <p:cNvGrpSpPr>
            <a:grpSpLocks/>
          </p:cNvGrpSpPr>
          <p:nvPr/>
        </p:nvGrpSpPr>
        <p:grpSpPr bwMode="auto">
          <a:xfrm>
            <a:off x="7158930" y="2696446"/>
            <a:ext cx="2349500" cy="1004887"/>
            <a:chOff x="1348" y="3063"/>
            <a:chExt cx="1480" cy="633"/>
          </a:xfrm>
        </p:grpSpPr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2731" y="3063"/>
              <a:ext cx="0" cy="6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1348" y="3383"/>
              <a:ext cx="14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>
              <a:off x="1495" y="3071"/>
              <a:ext cx="12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H="1">
              <a:off x="1466" y="3696"/>
              <a:ext cx="126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H="1">
              <a:off x="2113" y="3129"/>
              <a:ext cx="6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H="1">
              <a:off x="2114" y="3632"/>
              <a:ext cx="6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2121" y="3129"/>
              <a:ext cx="0" cy="5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2128" y="3129"/>
              <a:ext cx="603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H="1">
              <a:off x="2121" y="3129"/>
              <a:ext cx="610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1436" y="3071"/>
              <a:ext cx="126" cy="625"/>
            </a:xfrm>
            <a:custGeom>
              <a:avLst/>
              <a:gdLst>
                <a:gd name="T0" fmla="*/ 59 w 126"/>
                <a:gd name="T1" fmla="*/ 0 h 625"/>
                <a:gd name="T2" fmla="*/ 30 w 126"/>
                <a:gd name="T3" fmla="*/ 65 h 625"/>
                <a:gd name="T4" fmla="*/ 16 w 126"/>
                <a:gd name="T5" fmla="*/ 123 h 625"/>
                <a:gd name="T6" fmla="*/ 23 w 126"/>
                <a:gd name="T7" fmla="*/ 196 h 625"/>
                <a:gd name="T8" fmla="*/ 45 w 126"/>
                <a:gd name="T9" fmla="*/ 254 h 625"/>
                <a:gd name="T10" fmla="*/ 66 w 126"/>
                <a:gd name="T11" fmla="*/ 320 h 625"/>
                <a:gd name="T12" fmla="*/ 110 w 126"/>
                <a:gd name="T13" fmla="*/ 407 h 625"/>
                <a:gd name="T14" fmla="*/ 125 w 126"/>
                <a:gd name="T15" fmla="*/ 480 h 625"/>
                <a:gd name="T16" fmla="*/ 117 w 126"/>
                <a:gd name="T17" fmla="*/ 531 h 625"/>
                <a:gd name="T18" fmla="*/ 95 w 126"/>
                <a:gd name="T19" fmla="*/ 581 h 625"/>
                <a:gd name="T20" fmla="*/ 52 w 126"/>
                <a:gd name="T21" fmla="*/ 625 h 625"/>
                <a:gd name="T22" fmla="*/ 16 w 126"/>
                <a:gd name="T23" fmla="*/ 581 h 625"/>
                <a:gd name="T24" fmla="*/ 1 w 126"/>
                <a:gd name="T25" fmla="*/ 516 h 625"/>
                <a:gd name="T26" fmla="*/ 8 w 126"/>
                <a:gd name="T27" fmla="*/ 458 h 625"/>
                <a:gd name="T28" fmla="*/ 30 w 126"/>
                <a:gd name="T29" fmla="*/ 407 h 625"/>
                <a:gd name="T30" fmla="*/ 66 w 126"/>
                <a:gd name="T31" fmla="*/ 312 h 6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26"/>
                <a:gd name="T49" fmla="*/ 0 h 625"/>
                <a:gd name="T50" fmla="*/ 126 w 126"/>
                <a:gd name="T51" fmla="*/ 625 h 62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26" h="625">
                  <a:moveTo>
                    <a:pt x="59" y="0"/>
                  </a:moveTo>
                  <a:cubicBezTo>
                    <a:pt x="54" y="11"/>
                    <a:pt x="37" y="45"/>
                    <a:pt x="30" y="65"/>
                  </a:cubicBezTo>
                  <a:cubicBezTo>
                    <a:pt x="23" y="85"/>
                    <a:pt x="17" y="101"/>
                    <a:pt x="16" y="123"/>
                  </a:cubicBezTo>
                  <a:cubicBezTo>
                    <a:pt x="15" y="145"/>
                    <a:pt x="18" y="174"/>
                    <a:pt x="23" y="196"/>
                  </a:cubicBezTo>
                  <a:cubicBezTo>
                    <a:pt x="28" y="218"/>
                    <a:pt x="38" y="233"/>
                    <a:pt x="45" y="254"/>
                  </a:cubicBezTo>
                  <a:cubicBezTo>
                    <a:pt x="52" y="275"/>
                    <a:pt x="55" y="295"/>
                    <a:pt x="66" y="320"/>
                  </a:cubicBezTo>
                  <a:cubicBezTo>
                    <a:pt x="77" y="345"/>
                    <a:pt x="100" y="380"/>
                    <a:pt x="110" y="407"/>
                  </a:cubicBezTo>
                  <a:cubicBezTo>
                    <a:pt x="120" y="434"/>
                    <a:pt x="124" y="459"/>
                    <a:pt x="125" y="480"/>
                  </a:cubicBezTo>
                  <a:cubicBezTo>
                    <a:pt x="126" y="501"/>
                    <a:pt x="122" y="514"/>
                    <a:pt x="117" y="531"/>
                  </a:cubicBezTo>
                  <a:cubicBezTo>
                    <a:pt x="112" y="548"/>
                    <a:pt x="106" y="565"/>
                    <a:pt x="95" y="581"/>
                  </a:cubicBezTo>
                  <a:cubicBezTo>
                    <a:pt x="84" y="597"/>
                    <a:pt x="65" y="625"/>
                    <a:pt x="52" y="625"/>
                  </a:cubicBezTo>
                  <a:cubicBezTo>
                    <a:pt x="39" y="625"/>
                    <a:pt x="24" y="599"/>
                    <a:pt x="16" y="581"/>
                  </a:cubicBezTo>
                  <a:cubicBezTo>
                    <a:pt x="8" y="563"/>
                    <a:pt x="2" y="536"/>
                    <a:pt x="1" y="516"/>
                  </a:cubicBezTo>
                  <a:cubicBezTo>
                    <a:pt x="0" y="496"/>
                    <a:pt x="3" y="476"/>
                    <a:pt x="8" y="458"/>
                  </a:cubicBezTo>
                  <a:cubicBezTo>
                    <a:pt x="13" y="440"/>
                    <a:pt x="20" y="431"/>
                    <a:pt x="30" y="407"/>
                  </a:cubicBezTo>
                  <a:cubicBezTo>
                    <a:pt x="40" y="383"/>
                    <a:pt x="58" y="332"/>
                    <a:pt x="66" y="312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V="1">
              <a:off x="1444" y="3449"/>
              <a:ext cx="95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 flipV="1">
              <a:off x="1444" y="3507"/>
              <a:ext cx="109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 flipV="1">
              <a:off x="1466" y="3579"/>
              <a:ext cx="95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1038262" y="1713694"/>
            <a:ext cx="35702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charset="-122"/>
              </a:rPr>
              <a:t>四、机件上小平面的画法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4955016" y="1641613"/>
            <a:ext cx="56047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宋体" charset="-122"/>
              </a:rPr>
              <a:t>当回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</a:rPr>
              <a:t>转体机件上的平面</a:t>
            </a:r>
            <a:r>
              <a:rPr lang="zh-CN" altLang="en-US" sz="2400" b="1" dirty="0">
                <a:latin typeface="宋体" charset="-122"/>
              </a:rPr>
              <a:t>在图形中不能充分表达时，可用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</a:rPr>
              <a:t>相交的两条细实线</a:t>
            </a:r>
            <a:r>
              <a:rPr lang="zh-CN" altLang="en-US" sz="2400" b="1" dirty="0">
                <a:latin typeface="宋体" charset="-122"/>
              </a:rPr>
              <a:t>表示。</a:t>
            </a:r>
          </a:p>
        </p:txBody>
      </p:sp>
      <p:pic>
        <p:nvPicPr>
          <p:cNvPr id="37" name="Picture 4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41180" y="3936283"/>
            <a:ext cx="4078288" cy="2562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8" name="Picture 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14705" y="3918821"/>
            <a:ext cx="1570038" cy="2616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9" name="Picture 5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02805" y="4591921"/>
            <a:ext cx="2066925" cy="19431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0" name="Text Box 31"/>
          <p:cNvSpPr txBox="1">
            <a:spLocks noChangeArrowheads="1"/>
          </p:cNvSpPr>
          <p:nvPr/>
        </p:nvSpPr>
        <p:spPr bwMode="auto">
          <a:xfrm>
            <a:off x="1038262" y="1218458"/>
            <a:ext cx="2837384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/>
              <a:t>其他表达方法</a:t>
            </a:r>
          </a:p>
        </p:txBody>
      </p:sp>
    </p:spTree>
    <p:extLst>
      <p:ext uri="{BB962C8B-B14F-4D97-AF65-F5344CB8AC3E}">
        <p14:creationId xmlns:p14="http://schemas.microsoft.com/office/powerpoint/2010/main" val="20791078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31"/>
          <p:cNvSpPr txBox="1">
            <a:spLocks noChangeArrowheads="1"/>
          </p:cNvSpPr>
          <p:nvPr/>
        </p:nvSpPr>
        <p:spPr bwMode="auto">
          <a:xfrm>
            <a:off x="1038262" y="1218458"/>
            <a:ext cx="2837384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/>
              <a:t>其他表达方法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5397500" y="1771055"/>
            <a:ext cx="1841500" cy="769937"/>
            <a:chOff x="1037" y="386"/>
            <a:chExt cx="1160" cy="485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1037" y="386"/>
              <a:ext cx="1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宋体" charset="-122"/>
                </a:rPr>
                <a:t>交线用轮廓线代替</a:t>
              </a: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auto">
            <a:xfrm>
              <a:off x="1074" y="599"/>
              <a:ext cx="124" cy="272"/>
            </a:xfrm>
            <a:custGeom>
              <a:avLst/>
              <a:gdLst>
                <a:gd name="T0" fmla="*/ 0 w 374"/>
                <a:gd name="T1" fmla="*/ 0 h 814"/>
                <a:gd name="T2" fmla="*/ 0 w 374"/>
                <a:gd name="T3" fmla="*/ 0 h 814"/>
                <a:gd name="T4" fmla="*/ 0 w 374"/>
                <a:gd name="T5" fmla="*/ 0 h 814"/>
                <a:gd name="T6" fmla="*/ 0 60000 65536"/>
                <a:gd name="T7" fmla="*/ 0 60000 65536"/>
                <a:gd name="T8" fmla="*/ 0 60000 65536"/>
                <a:gd name="T9" fmla="*/ 0 w 374"/>
                <a:gd name="T10" fmla="*/ 0 h 814"/>
                <a:gd name="T11" fmla="*/ 374 w 374"/>
                <a:gd name="T12" fmla="*/ 814 h 8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4" h="814">
                  <a:moveTo>
                    <a:pt x="374" y="814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1074" y="599"/>
              <a:ext cx="182" cy="159"/>
            </a:xfrm>
            <a:custGeom>
              <a:avLst/>
              <a:gdLst>
                <a:gd name="T0" fmla="*/ 0 w 548"/>
                <a:gd name="T1" fmla="*/ 0 h 476"/>
                <a:gd name="T2" fmla="*/ 0 w 548"/>
                <a:gd name="T3" fmla="*/ 0 h 476"/>
                <a:gd name="T4" fmla="*/ 0 w 548"/>
                <a:gd name="T5" fmla="*/ 0 h 476"/>
                <a:gd name="T6" fmla="*/ 0 60000 65536"/>
                <a:gd name="T7" fmla="*/ 0 60000 65536"/>
                <a:gd name="T8" fmla="*/ 0 60000 65536"/>
                <a:gd name="T9" fmla="*/ 0 w 548"/>
                <a:gd name="T10" fmla="*/ 0 h 476"/>
                <a:gd name="T11" fmla="*/ 548 w 548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8" h="476">
                  <a:moveTo>
                    <a:pt x="548" y="47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074" y="600"/>
              <a:ext cx="107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4959350" y="2271117"/>
            <a:ext cx="5516563" cy="1266825"/>
            <a:chOff x="1146" y="1152"/>
            <a:chExt cx="3475" cy="798"/>
          </a:xfrm>
        </p:grpSpPr>
        <p:grpSp>
          <p:nvGrpSpPr>
            <p:cNvPr id="10" name="Group 8"/>
            <p:cNvGrpSpPr>
              <a:grpSpLocks/>
            </p:cNvGrpSpPr>
            <p:nvPr/>
          </p:nvGrpSpPr>
          <p:grpSpPr bwMode="auto">
            <a:xfrm>
              <a:off x="1146" y="1152"/>
              <a:ext cx="1689" cy="798"/>
              <a:chOff x="1146" y="1152"/>
              <a:chExt cx="1689" cy="798"/>
            </a:xfrm>
          </p:grpSpPr>
          <p:grpSp>
            <p:nvGrpSpPr>
              <p:cNvPr id="46" name="Group 9"/>
              <p:cNvGrpSpPr>
                <a:grpSpLocks/>
              </p:cNvGrpSpPr>
              <p:nvPr/>
            </p:nvGrpSpPr>
            <p:grpSpPr bwMode="auto">
              <a:xfrm>
                <a:off x="1146" y="1152"/>
                <a:ext cx="821" cy="747"/>
                <a:chOff x="1146" y="1152"/>
                <a:chExt cx="821" cy="747"/>
              </a:xfrm>
            </p:grpSpPr>
            <p:sp>
              <p:nvSpPr>
                <p:cNvPr id="71" name="Rectangle 10"/>
                <p:cNvSpPr>
                  <a:spLocks noChangeArrowheads="1"/>
                </p:cNvSpPr>
                <p:nvPr/>
              </p:nvSpPr>
              <p:spPr bwMode="auto">
                <a:xfrm>
                  <a:off x="1225" y="1209"/>
                  <a:ext cx="680" cy="69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11"/>
                <p:cNvSpPr>
                  <a:spLocks/>
                </p:cNvSpPr>
                <p:nvPr/>
              </p:nvSpPr>
              <p:spPr bwMode="auto">
                <a:xfrm>
                  <a:off x="1224" y="1327"/>
                  <a:ext cx="680" cy="1"/>
                </a:xfrm>
                <a:custGeom>
                  <a:avLst/>
                  <a:gdLst>
                    <a:gd name="T0" fmla="*/ 0 w 2039"/>
                    <a:gd name="T1" fmla="*/ 0 h 1"/>
                    <a:gd name="T2" fmla="*/ 0 w 2039"/>
                    <a:gd name="T3" fmla="*/ 0 h 1"/>
                    <a:gd name="T4" fmla="*/ 0 w 2039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2039"/>
                    <a:gd name="T10" fmla="*/ 0 h 1"/>
                    <a:gd name="T11" fmla="*/ 2039 w 2039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39" h="1">
                      <a:moveTo>
                        <a:pt x="2039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" name="Freeform 12"/>
                <p:cNvSpPr>
                  <a:spLocks/>
                </p:cNvSpPr>
                <p:nvPr/>
              </p:nvSpPr>
              <p:spPr bwMode="auto">
                <a:xfrm>
                  <a:off x="1560" y="1152"/>
                  <a:ext cx="1" cy="221"/>
                </a:xfrm>
                <a:custGeom>
                  <a:avLst/>
                  <a:gdLst>
                    <a:gd name="T0" fmla="*/ 0 w 1"/>
                    <a:gd name="T1" fmla="*/ 0 h 662"/>
                    <a:gd name="T2" fmla="*/ 0 w 1"/>
                    <a:gd name="T3" fmla="*/ 0 h 662"/>
                    <a:gd name="T4" fmla="*/ 1 w 1"/>
                    <a:gd name="T5" fmla="*/ 0 h 662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662"/>
                    <a:gd name="T11" fmla="*/ 1 w 1"/>
                    <a:gd name="T12" fmla="*/ 662 h 66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662">
                      <a:moveTo>
                        <a:pt x="0" y="0"/>
                      </a:moveTo>
                      <a:lnTo>
                        <a:pt x="0" y="662"/>
                      </a:lnTo>
                      <a:lnTo>
                        <a:pt x="1" y="662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" name="Freeform 13"/>
                <p:cNvSpPr>
                  <a:spLocks/>
                </p:cNvSpPr>
                <p:nvPr/>
              </p:nvSpPr>
              <p:spPr bwMode="auto">
                <a:xfrm>
                  <a:off x="1432" y="1209"/>
                  <a:ext cx="62" cy="62"/>
                </a:xfrm>
                <a:custGeom>
                  <a:avLst/>
                  <a:gdLst>
                    <a:gd name="T0" fmla="*/ 0 w 186"/>
                    <a:gd name="T1" fmla="*/ 0 h 187"/>
                    <a:gd name="T2" fmla="*/ 0 w 186"/>
                    <a:gd name="T3" fmla="*/ 0 h 187"/>
                    <a:gd name="T4" fmla="*/ 0 w 186"/>
                    <a:gd name="T5" fmla="*/ 0 h 187"/>
                    <a:gd name="T6" fmla="*/ 0 60000 65536"/>
                    <a:gd name="T7" fmla="*/ 0 60000 65536"/>
                    <a:gd name="T8" fmla="*/ 0 60000 65536"/>
                    <a:gd name="T9" fmla="*/ 0 w 186"/>
                    <a:gd name="T10" fmla="*/ 0 h 187"/>
                    <a:gd name="T11" fmla="*/ 186 w 186"/>
                    <a:gd name="T12" fmla="*/ 187 h 18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6" h="187">
                      <a:moveTo>
                        <a:pt x="186" y="187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4"/>
                <p:cNvSpPr>
                  <a:spLocks/>
                </p:cNvSpPr>
                <p:nvPr/>
              </p:nvSpPr>
              <p:spPr bwMode="auto">
                <a:xfrm>
                  <a:off x="1494" y="1271"/>
                  <a:ext cx="1" cy="56"/>
                </a:xfrm>
                <a:custGeom>
                  <a:avLst/>
                  <a:gdLst>
                    <a:gd name="T0" fmla="*/ 0 w 1"/>
                    <a:gd name="T1" fmla="*/ 0 h 167"/>
                    <a:gd name="T2" fmla="*/ 0 w 1"/>
                    <a:gd name="T3" fmla="*/ 0 h 167"/>
                    <a:gd name="T4" fmla="*/ 1 w 1"/>
                    <a:gd name="T5" fmla="*/ 0 h 16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67"/>
                    <a:gd name="T11" fmla="*/ 1 w 1"/>
                    <a:gd name="T12" fmla="*/ 167 h 16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67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1" y="167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" name="Freeform 15"/>
                <p:cNvSpPr>
                  <a:spLocks/>
                </p:cNvSpPr>
                <p:nvPr/>
              </p:nvSpPr>
              <p:spPr bwMode="auto">
                <a:xfrm>
                  <a:off x="1494" y="1271"/>
                  <a:ext cx="132" cy="1"/>
                </a:xfrm>
                <a:custGeom>
                  <a:avLst/>
                  <a:gdLst>
                    <a:gd name="T0" fmla="*/ 0 w 396"/>
                    <a:gd name="T1" fmla="*/ 0 h 1"/>
                    <a:gd name="T2" fmla="*/ 0 w 396"/>
                    <a:gd name="T3" fmla="*/ 0 h 1"/>
                    <a:gd name="T4" fmla="*/ 0 w 396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396"/>
                    <a:gd name="T10" fmla="*/ 0 h 1"/>
                    <a:gd name="T11" fmla="*/ 396 w 396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6" h="1">
                      <a:moveTo>
                        <a:pt x="0" y="0"/>
                      </a:moveTo>
                      <a:lnTo>
                        <a:pt x="395" y="0"/>
                      </a:lnTo>
                      <a:lnTo>
                        <a:pt x="396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" name="Freeform 16"/>
                <p:cNvSpPr>
                  <a:spLocks/>
                </p:cNvSpPr>
                <p:nvPr/>
              </p:nvSpPr>
              <p:spPr bwMode="auto">
                <a:xfrm>
                  <a:off x="1625" y="1209"/>
                  <a:ext cx="63" cy="62"/>
                </a:xfrm>
                <a:custGeom>
                  <a:avLst/>
                  <a:gdLst>
                    <a:gd name="T0" fmla="*/ 0 w 189"/>
                    <a:gd name="T1" fmla="*/ 0 h 187"/>
                    <a:gd name="T2" fmla="*/ 0 w 189"/>
                    <a:gd name="T3" fmla="*/ 0 h 187"/>
                    <a:gd name="T4" fmla="*/ 0 w 189"/>
                    <a:gd name="T5" fmla="*/ 0 h 187"/>
                    <a:gd name="T6" fmla="*/ 0 60000 65536"/>
                    <a:gd name="T7" fmla="*/ 0 60000 65536"/>
                    <a:gd name="T8" fmla="*/ 0 60000 65536"/>
                    <a:gd name="T9" fmla="*/ 0 w 189"/>
                    <a:gd name="T10" fmla="*/ 0 h 187"/>
                    <a:gd name="T11" fmla="*/ 189 w 189"/>
                    <a:gd name="T12" fmla="*/ 187 h 18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9" h="187">
                      <a:moveTo>
                        <a:pt x="0" y="187"/>
                      </a:moveTo>
                      <a:lnTo>
                        <a:pt x="187" y="0"/>
                      </a:lnTo>
                      <a:lnTo>
                        <a:pt x="189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7"/>
                <p:cNvSpPr>
                  <a:spLocks/>
                </p:cNvSpPr>
                <p:nvPr/>
              </p:nvSpPr>
              <p:spPr bwMode="auto">
                <a:xfrm>
                  <a:off x="1625" y="1271"/>
                  <a:ext cx="1" cy="56"/>
                </a:xfrm>
                <a:custGeom>
                  <a:avLst/>
                  <a:gdLst>
                    <a:gd name="T0" fmla="*/ 0 w 1"/>
                    <a:gd name="T1" fmla="*/ 0 h 167"/>
                    <a:gd name="T2" fmla="*/ 0 w 1"/>
                    <a:gd name="T3" fmla="*/ 0 h 167"/>
                    <a:gd name="T4" fmla="*/ 1 w 1"/>
                    <a:gd name="T5" fmla="*/ 0 h 16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67"/>
                    <a:gd name="T11" fmla="*/ 1 w 1"/>
                    <a:gd name="T12" fmla="*/ 167 h 16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67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1" y="167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Freeform 18"/>
                <p:cNvSpPr>
                  <a:spLocks/>
                </p:cNvSpPr>
                <p:nvPr/>
              </p:nvSpPr>
              <p:spPr bwMode="auto">
                <a:xfrm>
                  <a:off x="1224" y="1780"/>
                  <a:ext cx="680" cy="1"/>
                </a:xfrm>
                <a:custGeom>
                  <a:avLst/>
                  <a:gdLst>
                    <a:gd name="T0" fmla="*/ 0 w 2039"/>
                    <a:gd name="T1" fmla="*/ 0 h 1"/>
                    <a:gd name="T2" fmla="*/ 0 w 2039"/>
                    <a:gd name="T3" fmla="*/ 0 h 1"/>
                    <a:gd name="T4" fmla="*/ 0 w 2039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2039"/>
                    <a:gd name="T10" fmla="*/ 0 h 1"/>
                    <a:gd name="T11" fmla="*/ 2039 w 2039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39" h="1">
                      <a:moveTo>
                        <a:pt x="2039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80" name="Group 19"/>
                <p:cNvGrpSpPr>
                  <a:grpSpLocks/>
                </p:cNvGrpSpPr>
                <p:nvPr/>
              </p:nvGrpSpPr>
              <p:grpSpPr bwMode="auto">
                <a:xfrm>
                  <a:off x="1146" y="1554"/>
                  <a:ext cx="821" cy="1"/>
                  <a:chOff x="761" y="1103"/>
                  <a:chExt cx="821" cy="1"/>
                </a:xfrm>
              </p:grpSpPr>
              <p:sp>
                <p:nvSpPr>
                  <p:cNvPr id="92" name="Freeform 20"/>
                  <p:cNvSpPr>
                    <a:spLocks/>
                  </p:cNvSpPr>
                  <p:nvPr/>
                </p:nvSpPr>
                <p:spPr bwMode="auto">
                  <a:xfrm>
                    <a:off x="1199" y="1103"/>
                    <a:ext cx="383" cy="1"/>
                  </a:xfrm>
                  <a:custGeom>
                    <a:avLst/>
                    <a:gdLst>
                      <a:gd name="T0" fmla="*/ 0 w 1149"/>
                      <a:gd name="T1" fmla="*/ 0 h 1"/>
                      <a:gd name="T2" fmla="*/ 0 w 1149"/>
                      <a:gd name="T3" fmla="*/ 0 h 1"/>
                      <a:gd name="T4" fmla="*/ 0 w 1149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1149"/>
                      <a:gd name="T10" fmla="*/ 0 h 1"/>
                      <a:gd name="T11" fmla="*/ 1149 w 1149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149" h="1">
                        <a:moveTo>
                          <a:pt x="1149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" name="Freeform 21"/>
                  <p:cNvSpPr>
                    <a:spLocks/>
                  </p:cNvSpPr>
                  <p:nvPr/>
                </p:nvSpPr>
                <p:spPr bwMode="auto">
                  <a:xfrm>
                    <a:off x="761" y="1103"/>
                    <a:ext cx="341" cy="1"/>
                  </a:xfrm>
                  <a:custGeom>
                    <a:avLst/>
                    <a:gdLst>
                      <a:gd name="T0" fmla="*/ 0 w 1023"/>
                      <a:gd name="T1" fmla="*/ 0 h 1"/>
                      <a:gd name="T2" fmla="*/ 0 w 1023"/>
                      <a:gd name="T3" fmla="*/ 0 h 1"/>
                      <a:gd name="T4" fmla="*/ 0 w 1023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1023"/>
                      <a:gd name="T10" fmla="*/ 0 h 1"/>
                      <a:gd name="T11" fmla="*/ 1023 w 1023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23" h="1">
                        <a:moveTo>
                          <a:pt x="1023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" name="Freeform 22"/>
                  <p:cNvSpPr>
                    <a:spLocks/>
                  </p:cNvSpPr>
                  <p:nvPr/>
                </p:nvSpPr>
                <p:spPr bwMode="auto">
                  <a:xfrm>
                    <a:off x="1139" y="1103"/>
                    <a:ext cx="19" cy="1"/>
                  </a:xfrm>
                  <a:custGeom>
                    <a:avLst/>
                    <a:gdLst>
                      <a:gd name="T0" fmla="*/ 0 w 56"/>
                      <a:gd name="T1" fmla="*/ 0 h 1"/>
                      <a:gd name="T2" fmla="*/ 0 w 56"/>
                      <a:gd name="T3" fmla="*/ 0 h 1"/>
                      <a:gd name="T4" fmla="*/ 0 w 56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56"/>
                      <a:gd name="T10" fmla="*/ 0 h 1"/>
                      <a:gd name="T11" fmla="*/ 56 w 56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6" h="1">
                        <a:moveTo>
                          <a:pt x="56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1" name="Group 23"/>
                <p:cNvGrpSpPr>
                  <a:grpSpLocks/>
                </p:cNvGrpSpPr>
                <p:nvPr/>
              </p:nvGrpSpPr>
              <p:grpSpPr bwMode="auto">
                <a:xfrm>
                  <a:off x="1224" y="1209"/>
                  <a:ext cx="680" cy="689"/>
                  <a:chOff x="839" y="758"/>
                  <a:chExt cx="680" cy="689"/>
                </a:xfrm>
              </p:grpSpPr>
              <p:sp>
                <p:nvSpPr>
                  <p:cNvPr id="82" name="Freeform 24"/>
                  <p:cNvSpPr>
                    <a:spLocks/>
                  </p:cNvSpPr>
                  <p:nvPr/>
                </p:nvSpPr>
                <p:spPr bwMode="auto">
                  <a:xfrm>
                    <a:off x="839" y="1343"/>
                    <a:ext cx="104" cy="104"/>
                  </a:xfrm>
                  <a:custGeom>
                    <a:avLst/>
                    <a:gdLst>
                      <a:gd name="T0" fmla="*/ 0 w 312"/>
                      <a:gd name="T1" fmla="*/ 0 h 312"/>
                      <a:gd name="T2" fmla="*/ 0 w 312"/>
                      <a:gd name="T3" fmla="*/ 0 h 312"/>
                      <a:gd name="T4" fmla="*/ 0 w 312"/>
                      <a:gd name="T5" fmla="*/ 0 h 312"/>
                      <a:gd name="T6" fmla="*/ 0 60000 65536"/>
                      <a:gd name="T7" fmla="*/ 0 60000 65536"/>
                      <a:gd name="T8" fmla="*/ 0 60000 65536"/>
                      <a:gd name="T9" fmla="*/ 0 w 312"/>
                      <a:gd name="T10" fmla="*/ 0 h 312"/>
                      <a:gd name="T11" fmla="*/ 312 w 312"/>
                      <a:gd name="T12" fmla="*/ 312 h 31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12" h="312">
                        <a:moveTo>
                          <a:pt x="312" y="312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Freeform 25"/>
                  <p:cNvSpPr>
                    <a:spLocks/>
                  </p:cNvSpPr>
                  <p:nvPr/>
                </p:nvSpPr>
                <p:spPr bwMode="auto">
                  <a:xfrm>
                    <a:off x="976" y="1329"/>
                    <a:ext cx="118" cy="118"/>
                  </a:xfrm>
                  <a:custGeom>
                    <a:avLst/>
                    <a:gdLst>
                      <a:gd name="T0" fmla="*/ 0 w 354"/>
                      <a:gd name="T1" fmla="*/ 0 h 354"/>
                      <a:gd name="T2" fmla="*/ 0 w 354"/>
                      <a:gd name="T3" fmla="*/ 0 h 354"/>
                      <a:gd name="T4" fmla="*/ 0 w 354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4"/>
                      <a:gd name="T10" fmla="*/ 0 h 354"/>
                      <a:gd name="T11" fmla="*/ 354 w 354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" name="Freeform 26"/>
                  <p:cNvSpPr>
                    <a:spLocks/>
                  </p:cNvSpPr>
                  <p:nvPr/>
                </p:nvSpPr>
                <p:spPr bwMode="auto">
                  <a:xfrm>
                    <a:off x="1127" y="1329"/>
                    <a:ext cx="118" cy="118"/>
                  </a:xfrm>
                  <a:custGeom>
                    <a:avLst/>
                    <a:gdLst>
                      <a:gd name="T0" fmla="*/ 0 w 354"/>
                      <a:gd name="T1" fmla="*/ 0 h 354"/>
                      <a:gd name="T2" fmla="*/ 0 w 354"/>
                      <a:gd name="T3" fmla="*/ 0 h 354"/>
                      <a:gd name="T4" fmla="*/ 0 w 354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4"/>
                      <a:gd name="T10" fmla="*/ 0 h 354"/>
                      <a:gd name="T11" fmla="*/ 354 w 354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Freeform 27"/>
                  <p:cNvSpPr>
                    <a:spLocks/>
                  </p:cNvSpPr>
                  <p:nvPr/>
                </p:nvSpPr>
                <p:spPr bwMode="auto">
                  <a:xfrm>
                    <a:off x="1278" y="1329"/>
                    <a:ext cx="118" cy="118"/>
                  </a:xfrm>
                  <a:custGeom>
                    <a:avLst/>
                    <a:gdLst>
                      <a:gd name="T0" fmla="*/ 0 w 353"/>
                      <a:gd name="T1" fmla="*/ 0 h 354"/>
                      <a:gd name="T2" fmla="*/ 0 w 353"/>
                      <a:gd name="T3" fmla="*/ 0 h 354"/>
                      <a:gd name="T4" fmla="*/ 0 w 353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3"/>
                      <a:gd name="T10" fmla="*/ 0 h 354"/>
                      <a:gd name="T11" fmla="*/ 353 w 353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3" h="354">
                        <a:moveTo>
                          <a:pt x="353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Freeform 28"/>
                  <p:cNvSpPr>
                    <a:spLocks/>
                  </p:cNvSpPr>
                  <p:nvPr/>
                </p:nvSpPr>
                <p:spPr bwMode="auto">
                  <a:xfrm>
                    <a:off x="1429" y="1329"/>
                    <a:ext cx="90" cy="91"/>
                  </a:xfrm>
                  <a:custGeom>
                    <a:avLst/>
                    <a:gdLst>
                      <a:gd name="T0" fmla="*/ 0 w 271"/>
                      <a:gd name="T1" fmla="*/ 0 h 272"/>
                      <a:gd name="T2" fmla="*/ 0 w 271"/>
                      <a:gd name="T3" fmla="*/ 0 h 272"/>
                      <a:gd name="T4" fmla="*/ 0 w 271"/>
                      <a:gd name="T5" fmla="*/ 0 h 272"/>
                      <a:gd name="T6" fmla="*/ 0 60000 65536"/>
                      <a:gd name="T7" fmla="*/ 0 60000 65536"/>
                      <a:gd name="T8" fmla="*/ 0 60000 65536"/>
                      <a:gd name="T9" fmla="*/ 0 w 271"/>
                      <a:gd name="T10" fmla="*/ 0 h 272"/>
                      <a:gd name="T11" fmla="*/ 271 w 271"/>
                      <a:gd name="T12" fmla="*/ 272 h 27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71" h="272">
                        <a:moveTo>
                          <a:pt x="271" y="272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" name="Freeform 29"/>
                  <p:cNvSpPr>
                    <a:spLocks/>
                  </p:cNvSpPr>
                  <p:nvPr/>
                </p:nvSpPr>
                <p:spPr bwMode="auto">
                  <a:xfrm>
                    <a:off x="858" y="758"/>
                    <a:ext cx="118" cy="118"/>
                  </a:xfrm>
                  <a:custGeom>
                    <a:avLst/>
                    <a:gdLst>
                      <a:gd name="T0" fmla="*/ 0 w 354"/>
                      <a:gd name="T1" fmla="*/ 0 h 354"/>
                      <a:gd name="T2" fmla="*/ 0 w 354"/>
                      <a:gd name="T3" fmla="*/ 0 h 354"/>
                      <a:gd name="T4" fmla="*/ 0 w 354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4"/>
                      <a:gd name="T10" fmla="*/ 0 h 354"/>
                      <a:gd name="T11" fmla="*/ 354 w 354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8" name="Freeform 30"/>
                  <p:cNvSpPr>
                    <a:spLocks/>
                  </p:cNvSpPr>
                  <p:nvPr/>
                </p:nvSpPr>
                <p:spPr bwMode="auto">
                  <a:xfrm>
                    <a:off x="1009" y="758"/>
                    <a:ext cx="100" cy="100"/>
                  </a:xfrm>
                  <a:custGeom>
                    <a:avLst/>
                    <a:gdLst>
                      <a:gd name="T0" fmla="*/ 0 w 299"/>
                      <a:gd name="T1" fmla="*/ 0 h 300"/>
                      <a:gd name="T2" fmla="*/ 0 w 299"/>
                      <a:gd name="T3" fmla="*/ 0 h 300"/>
                      <a:gd name="T4" fmla="*/ 0 w 299"/>
                      <a:gd name="T5" fmla="*/ 0 h 300"/>
                      <a:gd name="T6" fmla="*/ 0 60000 65536"/>
                      <a:gd name="T7" fmla="*/ 0 60000 65536"/>
                      <a:gd name="T8" fmla="*/ 0 60000 65536"/>
                      <a:gd name="T9" fmla="*/ 0 w 299"/>
                      <a:gd name="T10" fmla="*/ 0 h 300"/>
                      <a:gd name="T11" fmla="*/ 299 w 299"/>
                      <a:gd name="T12" fmla="*/ 300 h 3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99" h="300">
                        <a:moveTo>
                          <a:pt x="299" y="30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9" name="Freeform 31"/>
                  <p:cNvSpPr>
                    <a:spLocks/>
                  </p:cNvSpPr>
                  <p:nvPr/>
                </p:nvSpPr>
                <p:spPr bwMode="auto">
                  <a:xfrm>
                    <a:off x="1240" y="839"/>
                    <a:ext cx="38" cy="37"/>
                  </a:xfrm>
                  <a:custGeom>
                    <a:avLst/>
                    <a:gdLst>
                      <a:gd name="T0" fmla="*/ 0 w 112"/>
                      <a:gd name="T1" fmla="*/ 0 h 112"/>
                      <a:gd name="T2" fmla="*/ 0 w 112"/>
                      <a:gd name="T3" fmla="*/ 0 h 112"/>
                      <a:gd name="T4" fmla="*/ 0 w 112"/>
                      <a:gd name="T5" fmla="*/ 0 h 112"/>
                      <a:gd name="T6" fmla="*/ 0 60000 65536"/>
                      <a:gd name="T7" fmla="*/ 0 60000 65536"/>
                      <a:gd name="T8" fmla="*/ 0 60000 65536"/>
                      <a:gd name="T9" fmla="*/ 0 w 112"/>
                      <a:gd name="T10" fmla="*/ 0 h 112"/>
                      <a:gd name="T11" fmla="*/ 112 w 112"/>
                      <a:gd name="T12" fmla="*/ 112 h 11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12" h="112">
                        <a:moveTo>
                          <a:pt x="112" y="112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0" name="Freeform 32"/>
                  <p:cNvSpPr>
                    <a:spLocks/>
                  </p:cNvSpPr>
                  <p:nvPr/>
                </p:nvSpPr>
                <p:spPr bwMode="auto">
                  <a:xfrm>
                    <a:off x="1311" y="758"/>
                    <a:ext cx="118" cy="118"/>
                  </a:xfrm>
                  <a:custGeom>
                    <a:avLst/>
                    <a:gdLst>
                      <a:gd name="T0" fmla="*/ 0 w 354"/>
                      <a:gd name="T1" fmla="*/ 0 h 354"/>
                      <a:gd name="T2" fmla="*/ 0 w 354"/>
                      <a:gd name="T3" fmla="*/ 0 h 354"/>
                      <a:gd name="T4" fmla="*/ 0 w 354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4"/>
                      <a:gd name="T10" fmla="*/ 0 h 354"/>
                      <a:gd name="T11" fmla="*/ 354 w 354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1" name="Freeform 33"/>
                  <p:cNvSpPr>
                    <a:spLocks/>
                  </p:cNvSpPr>
                  <p:nvPr/>
                </p:nvSpPr>
                <p:spPr bwMode="auto">
                  <a:xfrm>
                    <a:off x="1461" y="758"/>
                    <a:ext cx="58" cy="58"/>
                  </a:xfrm>
                  <a:custGeom>
                    <a:avLst/>
                    <a:gdLst>
                      <a:gd name="T0" fmla="*/ 0 w 173"/>
                      <a:gd name="T1" fmla="*/ 0 h 173"/>
                      <a:gd name="T2" fmla="*/ 0 w 173"/>
                      <a:gd name="T3" fmla="*/ 0 h 173"/>
                      <a:gd name="T4" fmla="*/ 0 w 173"/>
                      <a:gd name="T5" fmla="*/ 0 h 173"/>
                      <a:gd name="T6" fmla="*/ 0 60000 65536"/>
                      <a:gd name="T7" fmla="*/ 0 60000 65536"/>
                      <a:gd name="T8" fmla="*/ 0 60000 65536"/>
                      <a:gd name="T9" fmla="*/ 0 w 173"/>
                      <a:gd name="T10" fmla="*/ 0 h 173"/>
                      <a:gd name="T11" fmla="*/ 173 w 173"/>
                      <a:gd name="T12" fmla="*/ 173 h 173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73" h="173">
                        <a:moveTo>
                          <a:pt x="173" y="173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47" name="Group 34"/>
              <p:cNvGrpSpPr>
                <a:grpSpLocks/>
              </p:cNvGrpSpPr>
              <p:nvPr/>
            </p:nvGrpSpPr>
            <p:grpSpPr bwMode="auto">
              <a:xfrm>
                <a:off x="2027" y="1157"/>
                <a:ext cx="808" cy="793"/>
                <a:chOff x="1642" y="706"/>
                <a:chExt cx="808" cy="793"/>
              </a:xfrm>
            </p:grpSpPr>
            <p:sp>
              <p:nvSpPr>
                <p:cNvPr id="48" name="Oval 35"/>
                <p:cNvSpPr>
                  <a:spLocks noChangeArrowheads="1"/>
                </p:cNvSpPr>
                <p:nvPr/>
              </p:nvSpPr>
              <p:spPr bwMode="auto">
                <a:xfrm>
                  <a:off x="1692" y="762"/>
                  <a:ext cx="685" cy="685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Oval 36"/>
                <p:cNvSpPr>
                  <a:spLocks noChangeArrowheads="1"/>
                </p:cNvSpPr>
                <p:nvPr/>
              </p:nvSpPr>
              <p:spPr bwMode="auto">
                <a:xfrm>
                  <a:off x="1810" y="886"/>
                  <a:ext cx="452" cy="431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37"/>
                <p:cNvSpPr>
                  <a:spLocks/>
                </p:cNvSpPr>
                <p:nvPr/>
              </p:nvSpPr>
              <p:spPr bwMode="auto">
                <a:xfrm>
                  <a:off x="2036" y="706"/>
                  <a:ext cx="1" cy="458"/>
                </a:xfrm>
                <a:custGeom>
                  <a:avLst/>
                  <a:gdLst>
                    <a:gd name="T0" fmla="*/ 0 w 1"/>
                    <a:gd name="T1" fmla="*/ 0 h 1373"/>
                    <a:gd name="T2" fmla="*/ 0 w 1"/>
                    <a:gd name="T3" fmla="*/ 0 h 1373"/>
                    <a:gd name="T4" fmla="*/ 1 w 1"/>
                    <a:gd name="T5" fmla="*/ 0 h 1373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373"/>
                    <a:gd name="T11" fmla="*/ 1 w 1"/>
                    <a:gd name="T12" fmla="*/ 1373 h 13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373">
                      <a:moveTo>
                        <a:pt x="0" y="0"/>
                      </a:moveTo>
                      <a:lnTo>
                        <a:pt x="0" y="1373"/>
                      </a:lnTo>
                      <a:lnTo>
                        <a:pt x="1" y="137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Freeform 38"/>
                <p:cNvSpPr>
                  <a:spLocks/>
                </p:cNvSpPr>
                <p:nvPr/>
              </p:nvSpPr>
              <p:spPr bwMode="auto">
                <a:xfrm>
                  <a:off x="2102" y="820"/>
                  <a:ext cx="1" cy="66"/>
                </a:xfrm>
                <a:custGeom>
                  <a:avLst/>
                  <a:gdLst>
                    <a:gd name="T0" fmla="*/ 0 w 1"/>
                    <a:gd name="T1" fmla="*/ 0 h 197"/>
                    <a:gd name="T2" fmla="*/ 0 w 1"/>
                    <a:gd name="T3" fmla="*/ 0 h 197"/>
                    <a:gd name="T4" fmla="*/ 1 w 1"/>
                    <a:gd name="T5" fmla="*/ 0 h 19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97"/>
                    <a:gd name="T11" fmla="*/ 1 w 1"/>
                    <a:gd name="T12" fmla="*/ 197 h 19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97">
                      <a:moveTo>
                        <a:pt x="0" y="0"/>
                      </a:moveTo>
                      <a:lnTo>
                        <a:pt x="0" y="197"/>
                      </a:lnTo>
                      <a:lnTo>
                        <a:pt x="1" y="197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Freeform 39"/>
                <p:cNvSpPr>
                  <a:spLocks/>
                </p:cNvSpPr>
                <p:nvPr/>
              </p:nvSpPr>
              <p:spPr bwMode="auto">
                <a:xfrm>
                  <a:off x="1970" y="820"/>
                  <a:ext cx="132" cy="1"/>
                </a:xfrm>
                <a:custGeom>
                  <a:avLst/>
                  <a:gdLst>
                    <a:gd name="T0" fmla="*/ 0 w 395"/>
                    <a:gd name="T1" fmla="*/ 0 h 1"/>
                    <a:gd name="T2" fmla="*/ 0 w 395"/>
                    <a:gd name="T3" fmla="*/ 0 h 1"/>
                    <a:gd name="T4" fmla="*/ 0 w 395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395"/>
                    <a:gd name="T10" fmla="*/ 0 h 1"/>
                    <a:gd name="T11" fmla="*/ 395 w 395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" h="1">
                      <a:moveTo>
                        <a:pt x="0" y="0"/>
                      </a:moveTo>
                      <a:lnTo>
                        <a:pt x="394" y="0"/>
                      </a:lnTo>
                      <a:lnTo>
                        <a:pt x="395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Freeform 40"/>
                <p:cNvSpPr>
                  <a:spLocks/>
                </p:cNvSpPr>
                <p:nvPr/>
              </p:nvSpPr>
              <p:spPr bwMode="auto">
                <a:xfrm>
                  <a:off x="2102" y="776"/>
                  <a:ext cx="44" cy="44"/>
                </a:xfrm>
                <a:custGeom>
                  <a:avLst/>
                  <a:gdLst>
                    <a:gd name="T0" fmla="*/ 0 w 134"/>
                    <a:gd name="T1" fmla="*/ 0 h 132"/>
                    <a:gd name="T2" fmla="*/ 0 w 134"/>
                    <a:gd name="T3" fmla="*/ 0 h 132"/>
                    <a:gd name="T4" fmla="*/ 0 w 134"/>
                    <a:gd name="T5" fmla="*/ 0 h 132"/>
                    <a:gd name="T6" fmla="*/ 0 60000 65536"/>
                    <a:gd name="T7" fmla="*/ 0 60000 65536"/>
                    <a:gd name="T8" fmla="*/ 0 60000 65536"/>
                    <a:gd name="T9" fmla="*/ 0 w 134"/>
                    <a:gd name="T10" fmla="*/ 0 h 132"/>
                    <a:gd name="T11" fmla="*/ 134 w 134"/>
                    <a:gd name="T12" fmla="*/ 132 h 1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4" h="132">
                      <a:moveTo>
                        <a:pt x="0" y="132"/>
                      </a:moveTo>
                      <a:lnTo>
                        <a:pt x="133" y="0"/>
                      </a:lnTo>
                      <a:lnTo>
                        <a:pt x="134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Freeform 41"/>
                <p:cNvSpPr>
                  <a:spLocks/>
                </p:cNvSpPr>
                <p:nvPr/>
              </p:nvSpPr>
              <p:spPr bwMode="auto">
                <a:xfrm>
                  <a:off x="1926" y="776"/>
                  <a:ext cx="44" cy="44"/>
                </a:xfrm>
                <a:custGeom>
                  <a:avLst/>
                  <a:gdLst>
                    <a:gd name="T0" fmla="*/ 0 w 134"/>
                    <a:gd name="T1" fmla="*/ 0 h 132"/>
                    <a:gd name="T2" fmla="*/ 0 w 134"/>
                    <a:gd name="T3" fmla="*/ 0 h 132"/>
                    <a:gd name="T4" fmla="*/ 0 w 134"/>
                    <a:gd name="T5" fmla="*/ 0 h 132"/>
                    <a:gd name="T6" fmla="*/ 0 60000 65536"/>
                    <a:gd name="T7" fmla="*/ 0 60000 65536"/>
                    <a:gd name="T8" fmla="*/ 0 60000 65536"/>
                    <a:gd name="T9" fmla="*/ 0 w 134"/>
                    <a:gd name="T10" fmla="*/ 0 h 132"/>
                    <a:gd name="T11" fmla="*/ 134 w 134"/>
                    <a:gd name="T12" fmla="*/ 132 h 1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4" h="132">
                      <a:moveTo>
                        <a:pt x="134" y="132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Freeform 42"/>
                <p:cNvSpPr>
                  <a:spLocks/>
                </p:cNvSpPr>
                <p:nvPr/>
              </p:nvSpPr>
              <p:spPr bwMode="auto">
                <a:xfrm>
                  <a:off x="1970" y="820"/>
                  <a:ext cx="1" cy="66"/>
                </a:xfrm>
                <a:custGeom>
                  <a:avLst/>
                  <a:gdLst>
                    <a:gd name="T0" fmla="*/ 0 w 1"/>
                    <a:gd name="T1" fmla="*/ 0 h 197"/>
                    <a:gd name="T2" fmla="*/ 0 w 1"/>
                    <a:gd name="T3" fmla="*/ 0 h 197"/>
                    <a:gd name="T4" fmla="*/ 1 w 1"/>
                    <a:gd name="T5" fmla="*/ 0 h 19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97"/>
                    <a:gd name="T11" fmla="*/ 1 w 1"/>
                    <a:gd name="T12" fmla="*/ 197 h 19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97">
                      <a:moveTo>
                        <a:pt x="0" y="0"/>
                      </a:moveTo>
                      <a:lnTo>
                        <a:pt x="0" y="197"/>
                      </a:lnTo>
                      <a:lnTo>
                        <a:pt x="1" y="197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Freeform 43"/>
                <p:cNvSpPr>
                  <a:spLocks/>
                </p:cNvSpPr>
                <p:nvPr/>
              </p:nvSpPr>
              <p:spPr bwMode="auto">
                <a:xfrm>
                  <a:off x="2036" y="1273"/>
                  <a:ext cx="1" cy="226"/>
                </a:xfrm>
                <a:custGeom>
                  <a:avLst/>
                  <a:gdLst>
                    <a:gd name="T0" fmla="*/ 0 w 1"/>
                    <a:gd name="T1" fmla="*/ 0 h 677"/>
                    <a:gd name="T2" fmla="*/ 0 w 1"/>
                    <a:gd name="T3" fmla="*/ 0 h 677"/>
                    <a:gd name="T4" fmla="*/ 1 w 1"/>
                    <a:gd name="T5" fmla="*/ 0 h 67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677"/>
                    <a:gd name="T11" fmla="*/ 1 w 1"/>
                    <a:gd name="T12" fmla="*/ 677 h 67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677">
                      <a:moveTo>
                        <a:pt x="0" y="677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Freeform 44"/>
                <p:cNvSpPr>
                  <a:spLocks/>
                </p:cNvSpPr>
                <p:nvPr/>
              </p:nvSpPr>
              <p:spPr bwMode="auto">
                <a:xfrm>
                  <a:off x="1642" y="1103"/>
                  <a:ext cx="444" cy="1"/>
                </a:xfrm>
                <a:custGeom>
                  <a:avLst/>
                  <a:gdLst>
                    <a:gd name="T0" fmla="*/ 0 w 1331"/>
                    <a:gd name="T1" fmla="*/ 0 h 1"/>
                    <a:gd name="T2" fmla="*/ 0 w 1331"/>
                    <a:gd name="T3" fmla="*/ 0 h 1"/>
                    <a:gd name="T4" fmla="*/ 0 w 1331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1331"/>
                    <a:gd name="T10" fmla="*/ 0 h 1"/>
                    <a:gd name="T11" fmla="*/ 1331 w 1331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31" h="1">
                      <a:moveTo>
                        <a:pt x="0" y="0"/>
                      </a:moveTo>
                      <a:lnTo>
                        <a:pt x="1330" y="0"/>
                      </a:lnTo>
                      <a:lnTo>
                        <a:pt x="1331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Freeform 45"/>
                <p:cNvSpPr>
                  <a:spLocks/>
                </p:cNvSpPr>
                <p:nvPr/>
              </p:nvSpPr>
              <p:spPr bwMode="auto">
                <a:xfrm>
                  <a:off x="2127" y="1103"/>
                  <a:ext cx="18" cy="1"/>
                </a:xfrm>
                <a:custGeom>
                  <a:avLst/>
                  <a:gdLst>
                    <a:gd name="T0" fmla="*/ 0 w 55"/>
                    <a:gd name="T1" fmla="*/ 0 h 1"/>
                    <a:gd name="T2" fmla="*/ 0 w 55"/>
                    <a:gd name="T3" fmla="*/ 0 h 1"/>
                    <a:gd name="T4" fmla="*/ 0 w 55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1"/>
                    <a:gd name="T11" fmla="*/ 55 w 55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1">
                      <a:moveTo>
                        <a:pt x="0" y="0"/>
                      </a:moveTo>
                      <a:lnTo>
                        <a:pt x="54" y="0"/>
                      </a:lnTo>
                      <a:lnTo>
                        <a:pt x="55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Freeform 46"/>
                <p:cNvSpPr>
                  <a:spLocks/>
                </p:cNvSpPr>
                <p:nvPr/>
              </p:nvSpPr>
              <p:spPr bwMode="auto">
                <a:xfrm>
                  <a:off x="2177" y="1103"/>
                  <a:ext cx="273" cy="1"/>
                </a:xfrm>
                <a:custGeom>
                  <a:avLst/>
                  <a:gdLst>
                    <a:gd name="T0" fmla="*/ 0 w 819"/>
                    <a:gd name="T1" fmla="*/ 0 h 1"/>
                    <a:gd name="T2" fmla="*/ 0 w 819"/>
                    <a:gd name="T3" fmla="*/ 0 h 1"/>
                    <a:gd name="T4" fmla="*/ 0 w 819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819"/>
                    <a:gd name="T10" fmla="*/ 0 h 1"/>
                    <a:gd name="T11" fmla="*/ 819 w 819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9" h="1">
                      <a:moveTo>
                        <a:pt x="0" y="0"/>
                      </a:moveTo>
                      <a:lnTo>
                        <a:pt x="817" y="0"/>
                      </a:lnTo>
                      <a:lnTo>
                        <a:pt x="819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Freeform 47"/>
                <p:cNvSpPr>
                  <a:spLocks/>
                </p:cNvSpPr>
                <p:nvPr/>
              </p:nvSpPr>
              <p:spPr bwMode="auto">
                <a:xfrm>
                  <a:off x="2036" y="1222"/>
                  <a:ext cx="1" cy="19"/>
                </a:xfrm>
                <a:custGeom>
                  <a:avLst/>
                  <a:gdLst>
                    <a:gd name="T0" fmla="*/ 0 w 1"/>
                    <a:gd name="T1" fmla="*/ 0 h 55"/>
                    <a:gd name="T2" fmla="*/ 0 w 1"/>
                    <a:gd name="T3" fmla="*/ 0 h 55"/>
                    <a:gd name="T4" fmla="*/ 1 w 1"/>
                    <a:gd name="T5" fmla="*/ 0 h 55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55"/>
                    <a:gd name="T11" fmla="*/ 1 w 1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55">
                      <a:moveTo>
                        <a:pt x="0" y="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Freeform 48"/>
                <p:cNvSpPr>
                  <a:spLocks/>
                </p:cNvSpPr>
                <p:nvPr/>
              </p:nvSpPr>
              <p:spPr bwMode="auto">
                <a:xfrm>
                  <a:off x="2036" y="1041"/>
                  <a:ext cx="1" cy="145"/>
                </a:xfrm>
                <a:custGeom>
                  <a:avLst/>
                  <a:gdLst>
                    <a:gd name="T0" fmla="*/ 0 w 1"/>
                    <a:gd name="T1" fmla="*/ 0 h 433"/>
                    <a:gd name="T2" fmla="*/ 0 w 1"/>
                    <a:gd name="T3" fmla="*/ 0 h 433"/>
                    <a:gd name="T4" fmla="*/ 1 w 1"/>
                    <a:gd name="T5" fmla="*/ 0 h 433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433"/>
                    <a:gd name="T11" fmla="*/ 1 w 1"/>
                    <a:gd name="T12" fmla="*/ 433 h 4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433">
                      <a:moveTo>
                        <a:pt x="0" y="433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" name="Freeform 49"/>
                <p:cNvSpPr>
                  <a:spLocks/>
                </p:cNvSpPr>
                <p:nvPr/>
              </p:nvSpPr>
              <p:spPr bwMode="auto">
                <a:xfrm>
                  <a:off x="1694" y="1142"/>
                  <a:ext cx="302" cy="303"/>
                </a:xfrm>
                <a:custGeom>
                  <a:avLst/>
                  <a:gdLst>
                    <a:gd name="T0" fmla="*/ 0 w 907"/>
                    <a:gd name="T1" fmla="*/ 0 h 908"/>
                    <a:gd name="T2" fmla="*/ 0 w 907"/>
                    <a:gd name="T3" fmla="*/ 0 h 908"/>
                    <a:gd name="T4" fmla="*/ 0 w 907"/>
                    <a:gd name="T5" fmla="*/ 0 h 908"/>
                    <a:gd name="T6" fmla="*/ 0 60000 65536"/>
                    <a:gd name="T7" fmla="*/ 0 60000 65536"/>
                    <a:gd name="T8" fmla="*/ 0 60000 65536"/>
                    <a:gd name="T9" fmla="*/ 0 w 907"/>
                    <a:gd name="T10" fmla="*/ 0 h 908"/>
                    <a:gd name="T11" fmla="*/ 907 w 907"/>
                    <a:gd name="T12" fmla="*/ 908 h 9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7" h="908">
                      <a:moveTo>
                        <a:pt x="907" y="908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" name="Freeform 50"/>
                <p:cNvSpPr>
                  <a:spLocks/>
                </p:cNvSpPr>
                <p:nvPr/>
              </p:nvSpPr>
              <p:spPr bwMode="auto">
                <a:xfrm>
                  <a:off x="2032" y="1329"/>
                  <a:ext cx="103" cy="103"/>
                </a:xfrm>
                <a:custGeom>
                  <a:avLst/>
                  <a:gdLst>
                    <a:gd name="T0" fmla="*/ 0 w 310"/>
                    <a:gd name="T1" fmla="*/ 0 h 310"/>
                    <a:gd name="T2" fmla="*/ 0 w 310"/>
                    <a:gd name="T3" fmla="*/ 0 h 310"/>
                    <a:gd name="T4" fmla="*/ 0 w 310"/>
                    <a:gd name="T5" fmla="*/ 0 h 310"/>
                    <a:gd name="T6" fmla="*/ 0 60000 65536"/>
                    <a:gd name="T7" fmla="*/ 0 60000 65536"/>
                    <a:gd name="T8" fmla="*/ 0 60000 65536"/>
                    <a:gd name="T9" fmla="*/ 0 w 310"/>
                    <a:gd name="T10" fmla="*/ 0 h 310"/>
                    <a:gd name="T11" fmla="*/ 310 w 310"/>
                    <a:gd name="T12" fmla="*/ 310 h 3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0" h="310">
                      <a:moveTo>
                        <a:pt x="310" y="31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" name="Freeform 51"/>
                <p:cNvSpPr>
                  <a:spLocks/>
                </p:cNvSpPr>
                <p:nvPr/>
              </p:nvSpPr>
              <p:spPr bwMode="auto">
                <a:xfrm>
                  <a:off x="1706" y="1003"/>
                  <a:ext cx="104" cy="104"/>
                </a:xfrm>
                <a:custGeom>
                  <a:avLst/>
                  <a:gdLst>
                    <a:gd name="T0" fmla="*/ 0 w 310"/>
                    <a:gd name="T1" fmla="*/ 0 h 310"/>
                    <a:gd name="T2" fmla="*/ 0 w 310"/>
                    <a:gd name="T3" fmla="*/ 0 h 310"/>
                    <a:gd name="T4" fmla="*/ 0 w 310"/>
                    <a:gd name="T5" fmla="*/ 0 h 310"/>
                    <a:gd name="T6" fmla="*/ 0 60000 65536"/>
                    <a:gd name="T7" fmla="*/ 0 60000 65536"/>
                    <a:gd name="T8" fmla="*/ 0 60000 65536"/>
                    <a:gd name="T9" fmla="*/ 0 w 310"/>
                    <a:gd name="T10" fmla="*/ 0 h 310"/>
                    <a:gd name="T11" fmla="*/ 310 w 310"/>
                    <a:gd name="T12" fmla="*/ 310 h 3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0" h="310">
                      <a:moveTo>
                        <a:pt x="310" y="310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" name="Freeform 52"/>
                <p:cNvSpPr>
                  <a:spLocks/>
                </p:cNvSpPr>
                <p:nvPr/>
              </p:nvSpPr>
              <p:spPr bwMode="auto">
                <a:xfrm>
                  <a:off x="2151" y="1297"/>
                  <a:ext cx="85" cy="86"/>
                </a:xfrm>
                <a:custGeom>
                  <a:avLst/>
                  <a:gdLst>
                    <a:gd name="T0" fmla="*/ 0 w 255"/>
                    <a:gd name="T1" fmla="*/ 0 h 256"/>
                    <a:gd name="T2" fmla="*/ 0 w 255"/>
                    <a:gd name="T3" fmla="*/ 0 h 256"/>
                    <a:gd name="T4" fmla="*/ 0 w 255"/>
                    <a:gd name="T5" fmla="*/ 0 h 256"/>
                    <a:gd name="T6" fmla="*/ 0 60000 65536"/>
                    <a:gd name="T7" fmla="*/ 0 60000 65536"/>
                    <a:gd name="T8" fmla="*/ 0 60000 65536"/>
                    <a:gd name="T9" fmla="*/ 0 w 255"/>
                    <a:gd name="T10" fmla="*/ 0 h 256"/>
                    <a:gd name="T11" fmla="*/ 255 w 255"/>
                    <a:gd name="T12" fmla="*/ 256 h 25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5" h="256">
                      <a:moveTo>
                        <a:pt x="255" y="256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Freeform 53"/>
                <p:cNvSpPr>
                  <a:spLocks/>
                </p:cNvSpPr>
                <p:nvPr/>
              </p:nvSpPr>
              <p:spPr bwMode="auto">
                <a:xfrm>
                  <a:off x="1756" y="902"/>
                  <a:ext cx="85" cy="85"/>
                </a:xfrm>
                <a:custGeom>
                  <a:avLst/>
                  <a:gdLst>
                    <a:gd name="T0" fmla="*/ 0 w 255"/>
                    <a:gd name="T1" fmla="*/ 0 h 255"/>
                    <a:gd name="T2" fmla="*/ 0 w 255"/>
                    <a:gd name="T3" fmla="*/ 0 h 255"/>
                    <a:gd name="T4" fmla="*/ 0 w 255"/>
                    <a:gd name="T5" fmla="*/ 0 h 255"/>
                    <a:gd name="T6" fmla="*/ 0 60000 65536"/>
                    <a:gd name="T7" fmla="*/ 0 60000 65536"/>
                    <a:gd name="T8" fmla="*/ 0 60000 65536"/>
                    <a:gd name="T9" fmla="*/ 0 w 255"/>
                    <a:gd name="T10" fmla="*/ 0 h 255"/>
                    <a:gd name="T11" fmla="*/ 255 w 255"/>
                    <a:gd name="T12" fmla="*/ 255 h 2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5" h="255">
                      <a:moveTo>
                        <a:pt x="255" y="2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" name="Freeform 54"/>
                <p:cNvSpPr>
                  <a:spLocks/>
                </p:cNvSpPr>
                <p:nvPr/>
              </p:nvSpPr>
              <p:spPr bwMode="auto">
                <a:xfrm>
                  <a:off x="2227" y="1223"/>
                  <a:ext cx="85" cy="85"/>
                </a:xfrm>
                <a:custGeom>
                  <a:avLst/>
                  <a:gdLst>
                    <a:gd name="T0" fmla="*/ 0 w 255"/>
                    <a:gd name="T1" fmla="*/ 0 h 253"/>
                    <a:gd name="T2" fmla="*/ 0 w 255"/>
                    <a:gd name="T3" fmla="*/ 0 h 253"/>
                    <a:gd name="T4" fmla="*/ 0 w 255"/>
                    <a:gd name="T5" fmla="*/ 0 h 253"/>
                    <a:gd name="T6" fmla="*/ 0 60000 65536"/>
                    <a:gd name="T7" fmla="*/ 0 60000 65536"/>
                    <a:gd name="T8" fmla="*/ 0 60000 65536"/>
                    <a:gd name="T9" fmla="*/ 0 w 255"/>
                    <a:gd name="T10" fmla="*/ 0 h 253"/>
                    <a:gd name="T11" fmla="*/ 255 w 255"/>
                    <a:gd name="T12" fmla="*/ 253 h 25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5" h="253">
                      <a:moveTo>
                        <a:pt x="255" y="253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" name="Freeform 55"/>
                <p:cNvSpPr>
                  <a:spLocks/>
                </p:cNvSpPr>
                <p:nvPr/>
              </p:nvSpPr>
              <p:spPr bwMode="auto">
                <a:xfrm>
                  <a:off x="1831" y="826"/>
                  <a:ext cx="85" cy="85"/>
                </a:xfrm>
                <a:custGeom>
                  <a:avLst/>
                  <a:gdLst>
                    <a:gd name="T0" fmla="*/ 0 w 255"/>
                    <a:gd name="T1" fmla="*/ 0 h 255"/>
                    <a:gd name="T2" fmla="*/ 0 w 255"/>
                    <a:gd name="T3" fmla="*/ 0 h 255"/>
                    <a:gd name="T4" fmla="*/ 0 w 255"/>
                    <a:gd name="T5" fmla="*/ 0 h 255"/>
                    <a:gd name="T6" fmla="*/ 0 60000 65536"/>
                    <a:gd name="T7" fmla="*/ 0 60000 65536"/>
                    <a:gd name="T8" fmla="*/ 0 60000 65536"/>
                    <a:gd name="T9" fmla="*/ 0 w 255"/>
                    <a:gd name="T10" fmla="*/ 0 h 255"/>
                    <a:gd name="T11" fmla="*/ 255 w 255"/>
                    <a:gd name="T12" fmla="*/ 255 h 2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5" h="255">
                      <a:moveTo>
                        <a:pt x="255" y="2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56"/>
                <p:cNvSpPr>
                  <a:spLocks/>
                </p:cNvSpPr>
                <p:nvPr/>
              </p:nvSpPr>
              <p:spPr bwMode="auto">
                <a:xfrm>
                  <a:off x="2262" y="1107"/>
                  <a:ext cx="102" cy="101"/>
                </a:xfrm>
                <a:custGeom>
                  <a:avLst/>
                  <a:gdLst>
                    <a:gd name="T0" fmla="*/ 0 w 304"/>
                    <a:gd name="T1" fmla="*/ 0 h 304"/>
                    <a:gd name="T2" fmla="*/ 0 w 304"/>
                    <a:gd name="T3" fmla="*/ 0 h 304"/>
                    <a:gd name="T4" fmla="*/ 0 w 304"/>
                    <a:gd name="T5" fmla="*/ 0 h 304"/>
                    <a:gd name="T6" fmla="*/ 0 60000 65536"/>
                    <a:gd name="T7" fmla="*/ 0 60000 65536"/>
                    <a:gd name="T8" fmla="*/ 0 60000 65536"/>
                    <a:gd name="T9" fmla="*/ 0 w 304"/>
                    <a:gd name="T10" fmla="*/ 0 h 304"/>
                    <a:gd name="T11" fmla="*/ 304 w 304"/>
                    <a:gd name="T12" fmla="*/ 304 h 30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4" h="304">
                      <a:moveTo>
                        <a:pt x="304" y="304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Freeform 57"/>
                <p:cNvSpPr>
                  <a:spLocks/>
                </p:cNvSpPr>
                <p:nvPr/>
              </p:nvSpPr>
              <p:spPr bwMode="auto">
                <a:xfrm>
                  <a:off x="2114" y="808"/>
                  <a:ext cx="265" cy="265"/>
                </a:xfrm>
                <a:custGeom>
                  <a:avLst/>
                  <a:gdLst>
                    <a:gd name="T0" fmla="*/ 0 w 793"/>
                    <a:gd name="T1" fmla="*/ 0 h 794"/>
                    <a:gd name="T2" fmla="*/ 0 w 793"/>
                    <a:gd name="T3" fmla="*/ 0 h 794"/>
                    <a:gd name="T4" fmla="*/ 0 w 793"/>
                    <a:gd name="T5" fmla="*/ 0 h 794"/>
                    <a:gd name="T6" fmla="*/ 0 60000 65536"/>
                    <a:gd name="T7" fmla="*/ 0 60000 65536"/>
                    <a:gd name="T8" fmla="*/ 0 60000 65536"/>
                    <a:gd name="T9" fmla="*/ 0 w 793"/>
                    <a:gd name="T10" fmla="*/ 0 h 794"/>
                    <a:gd name="T11" fmla="*/ 793 w 793"/>
                    <a:gd name="T12" fmla="*/ 794 h 7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93" h="794">
                      <a:moveTo>
                        <a:pt x="793" y="794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1" name="Rectangle 58"/>
            <p:cNvSpPr>
              <a:spLocks noChangeArrowheads="1"/>
            </p:cNvSpPr>
            <p:nvPr/>
          </p:nvSpPr>
          <p:spPr bwMode="auto">
            <a:xfrm>
              <a:off x="4162" y="1471"/>
              <a:ext cx="339" cy="40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Freeform 59"/>
            <p:cNvSpPr>
              <a:spLocks/>
            </p:cNvSpPr>
            <p:nvPr/>
          </p:nvSpPr>
          <p:spPr bwMode="auto">
            <a:xfrm>
              <a:off x="3254" y="1673"/>
              <a:ext cx="358" cy="1"/>
            </a:xfrm>
            <a:custGeom>
              <a:avLst/>
              <a:gdLst>
                <a:gd name="T0" fmla="*/ 0 w 1073"/>
                <a:gd name="T1" fmla="*/ 0 h 1"/>
                <a:gd name="T2" fmla="*/ 0 w 1073"/>
                <a:gd name="T3" fmla="*/ 0 h 1"/>
                <a:gd name="T4" fmla="*/ 0 w 1073"/>
                <a:gd name="T5" fmla="*/ 0 h 1"/>
                <a:gd name="T6" fmla="*/ 0 60000 65536"/>
                <a:gd name="T7" fmla="*/ 0 60000 65536"/>
                <a:gd name="T8" fmla="*/ 0 60000 65536"/>
                <a:gd name="T9" fmla="*/ 0 w 1073"/>
                <a:gd name="T10" fmla="*/ 0 h 1"/>
                <a:gd name="T11" fmla="*/ 1073 w 10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3" h="1">
                  <a:moveTo>
                    <a:pt x="0" y="0"/>
                  </a:moveTo>
                  <a:lnTo>
                    <a:pt x="1071" y="0"/>
                  </a:lnTo>
                  <a:lnTo>
                    <a:pt x="1073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60"/>
            <p:cNvSpPr>
              <a:spLocks/>
            </p:cNvSpPr>
            <p:nvPr/>
          </p:nvSpPr>
          <p:spPr bwMode="auto">
            <a:xfrm>
              <a:off x="3351" y="1429"/>
              <a:ext cx="753" cy="1"/>
            </a:xfrm>
            <a:custGeom>
              <a:avLst/>
              <a:gdLst>
                <a:gd name="T0" fmla="*/ 0 w 2258"/>
                <a:gd name="T1" fmla="*/ 0 h 1"/>
                <a:gd name="T2" fmla="*/ 0 w 2258"/>
                <a:gd name="T3" fmla="*/ 0 h 1"/>
                <a:gd name="T4" fmla="*/ 0 w 2258"/>
                <a:gd name="T5" fmla="*/ 0 h 1"/>
                <a:gd name="T6" fmla="*/ 0 60000 65536"/>
                <a:gd name="T7" fmla="*/ 0 60000 65536"/>
                <a:gd name="T8" fmla="*/ 0 60000 65536"/>
                <a:gd name="T9" fmla="*/ 0 w 2258"/>
                <a:gd name="T10" fmla="*/ 0 h 1"/>
                <a:gd name="T11" fmla="*/ 2258 w 225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58" h="1">
                  <a:moveTo>
                    <a:pt x="0" y="0"/>
                  </a:moveTo>
                  <a:lnTo>
                    <a:pt x="2257" y="0"/>
                  </a:lnTo>
                  <a:lnTo>
                    <a:pt x="2258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61"/>
            <p:cNvSpPr>
              <a:spLocks/>
            </p:cNvSpPr>
            <p:nvPr/>
          </p:nvSpPr>
          <p:spPr bwMode="auto">
            <a:xfrm>
              <a:off x="4103" y="1429"/>
              <a:ext cx="1" cy="488"/>
            </a:xfrm>
            <a:custGeom>
              <a:avLst/>
              <a:gdLst>
                <a:gd name="T0" fmla="*/ 0 w 1"/>
                <a:gd name="T1" fmla="*/ 0 h 1466"/>
                <a:gd name="T2" fmla="*/ 0 w 1"/>
                <a:gd name="T3" fmla="*/ 0 h 1466"/>
                <a:gd name="T4" fmla="*/ 1 w 1"/>
                <a:gd name="T5" fmla="*/ 0 h 1466"/>
                <a:gd name="T6" fmla="*/ 0 60000 65536"/>
                <a:gd name="T7" fmla="*/ 0 60000 65536"/>
                <a:gd name="T8" fmla="*/ 0 60000 65536"/>
                <a:gd name="T9" fmla="*/ 0 w 1"/>
                <a:gd name="T10" fmla="*/ 0 h 1466"/>
                <a:gd name="T11" fmla="*/ 1 w 1"/>
                <a:gd name="T12" fmla="*/ 1466 h 14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66">
                  <a:moveTo>
                    <a:pt x="0" y="0"/>
                  </a:moveTo>
                  <a:lnTo>
                    <a:pt x="0" y="1466"/>
                  </a:lnTo>
                  <a:lnTo>
                    <a:pt x="1" y="146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62"/>
            <p:cNvSpPr>
              <a:spLocks/>
            </p:cNvSpPr>
            <p:nvPr/>
          </p:nvSpPr>
          <p:spPr bwMode="auto">
            <a:xfrm>
              <a:off x="4500" y="1470"/>
              <a:ext cx="60" cy="59"/>
            </a:xfrm>
            <a:custGeom>
              <a:avLst/>
              <a:gdLst>
                <a:gd name="T0" fmla="*/ 0 w 179"/>
                <a:gd name="T1" fmla="*/ 0 h 178"/>
                <a:gd name="T2" fmla="*/ 0 w 179"/>
                <a:gd name="T3" fmla="*/ 0 h 178"/>
                <a:gd name="T4" fmla="*/ 0 w 179"/>
                <a:gd name="T5" fmla="*/ 0 h 178"/>
                <a:gd name="T6" fmla="*/ 0 60000 65536"/>
                <a:gd name="T7" fmla="*/ 0 60000 65536"/>
                <a:gd name="T8" fmla="*/ 0 60000 65536"/>
                <a:gd name="T9" fmla="*/ 0 w 179"/>
                <a:gd name="T10" fmla="*/ 0 h 178"/>
                <a:gd name="T11" fmla="*/ 179 w 179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" h="178">
                  <a:moveTo>
                    <a:pt x="0" y="0"/>
                  </a:moveTo>
                  <a:lnTo>
                    <a:pt x="178" y="178"/>
                  </a:lnTo>
                  <a:lnTo>
                    <a:pt x="179" y="178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63"/>
            <p:cNvSpPr>
              <a:spLocks/>
            </p:cNvSpPr>
            <p:nvPr/>
          </p:nvSpPr>
          <p:spPr bwMode="auto">
            <a:xfrm>
              <a:off x="4560" y="1529"/>
              <a:ext cx="1" cy="288"/>
            </a:xfrm>
            <a:custGeom>
              <a:avLst/>
              <a:gdLst>
                <a:gd name="T0" fmla="*/ 0 w 1"/>
                <a:gd name="T1" fmla="*/ 0 h 862"/>
                <a:gd name="T2" fmla="*/ 0 w 1"/>
                <a:gd name="T3" fmla="*/ 0 h 862"/>
                <a:gd name="T4" fmla="*/ 1 w 1"/>
                <a:gd name="T5" fmla="*/ 0 h 862"/>
                <a:gd name="T6" fmla="*/ 0 60000 65536"/>
                <a:gd name="T7" fmla="*/ 0 60000 65536"/>
                <a:gd name="T8" fmla="*/ 0 60000 65536"/>
                <a:gd name="T9" fmla="*/ 0 w 1"/>
                <a:gd name="T10" fmla="*/ 0 h 862"/>
                <a:gd name="T11" fmla="*/ 1 w 1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62">
                  <a:moveTo>
                    <a:pt x="0" y="0"/>
                  </a:moveTo>
                  <a:lnTo>
                    <a:pt x="0" y="862"/>
                  </a:lnTo>
                  <a:lnTo>
                    <a:pt x="1" y="86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64"/>
            <p:cNvSpPr>
              <a:spLocks/>
            </p:cNvSpPr>
            <p:nvPr/>
          </p:nvSpPr>
          <p:spPr bwMode="auto">
            <a:xfrm>
              <a:off x="4103" y="1525"/>
              <a:ext cx="65" cy="1"/>
            </a:xfrm>
            <a:custGeom>
              <a:avLst/>
              <a:gdLst>
                <a:gd name="T0" fmla="*/ 0 w 195"/>
                <a:gd name="T1" fmla="*/ 0 h 1"/>
                <a:gd name="T2" fmla="*/ 0 w 195"/>
                <a:gd name="T3" fmla="*/ 0 h 1"/>
                <a:gd name="T4" fmla="*/ 0 w 195"/>
                <a:gd name="T5" fmla="*/ 0 h 1"/>
                <a:gd name="T6" fmla="*/ 0 60000 65536"/>
                <a:gd name="T7" fmla="*/ 0 60000 65536"/>
                <a:gd name="T8" fmla="*/ 0 60000 65536"/>
                <a:gd name="T9" fmla="*/ 0 w 195"/>
                <a:gd name="T10" fmla="*/ 0 h 1"/>
                <a:gd name="T11" fmla="*/ 195 w 19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" h="1">
                  <a:moveTo>
                    <a:pt x="0" y="0"/>
                  </a:moveTo>
                  <a:lnTo>
                    <a:pt x="194" y="0"/>
                  </a:lnTo>
                  <a:lnTo>
                    <a:pt x="195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65"/>
            <p:cNvSpPr>
              <a:spLocks/>
            </p:cNvSpPr>
            <p:nvPr/>
          </p:nvSpPr>
          <p:spPr bwMode="auto">
            <a:xfrm>
              <a:off x="3329" y="1917"/>
              <a:ext cx="775" cy="1"/>
            </a:xfrm>
            <a:custGeom>
              <a:avLst/>
              <a:gdLst>
                <a:gd name="T0" fmla="*/ 0 w 2323"/>
                <a:gd name="T1" fmla="*/ 0 h 1"/>
                <a:gd name="T2" fmla="*/ 0 w 2323"/>
                <a:gd name="T3" fmla="*/ 0 h 1"/>
                <a:gd name="T4" fmla="*/ 0 w 2323"/>
                <a:gd name="T5" fmla="*/ 0 h 1"/>
                <a:gd name="T6" fmla="*/ 0 60000 65536"/>
                <a:gd name="T7" fmla="*/ 0 60000 65536"/>
                <a:gd name="T8" fmla="*/ 0 60000 65536"/>
                <a:gd name="T9" fmla="*/ 0 w 2323"/>
                <a:gd name="T10" fmla="*/ 0 h 1"/>
                <a:gd name="T11" fmla="*/ 2323 w 232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3" h="1">
                  <a:moveTo>
                    <a:pt x="0" y="0"/>
                  </a:moveTo>
                  <a:lnTo>
                    <a:pt x="2322" y="0"/>
                  </a:lnTo>
                  <a:lnTo>
                    <a:pt x="2323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66"/>
            <p:cNvSpPr>
              <a:spLocks/>
            </p:cNvSpPr>
            <p:nvPr/>
          </p:nvSpPr>
          <p:spPr bwMode="auto">
            <a:xfrm>
              <a:off x="4103" y="1820"/>
              <a:ext cx="65" cy="1"/>
            </a:xfrm>
            <a:custGeom>
              <a:avLst/>
              <a:gdLst>
                <a:gd name="T0" fmla="*/ 0 w 195"/>
                <a:gd name="T1" fmla="*/ 0 h 1"/>
                <a:gd name="T2" fmla="*/ 0 w 195"/>
                <a:gd name="T3" fmla="*/ 0 h 1"/>
                <a:gd name="T4" fmla="*/ 0 w 195"/>
                <a:gd name="T5" fmla="*/ 0 h 1"/>
                <a:gd name="T6" fmla="*/ 0 60000 65536"/>
                <a:gd name="T7" fmla="*/ 0 60000 65536"/>
                <a:gd name="T8" fmla="*/ 0 60000 65536"/>
                <a:gd name="T9" fmla="*/ 0 w 195"/>
                <a:gd name="T10" fmla="*/ 0 h 1"/>
                <a:gd name="T11" fmla="*/ 195 w 19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" h="1">
                  <a:moveTo>
                    <a:pt x="0" y="0"/>
                  </a:moveTo>
                  <a:lnTo>
                    <a:pt x="194" y="0"/>
                  </a:lnTo>
                  <a:lnTo>
                    <a:pt x="195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67"/>
            <p:cNvSpPr>
              <a:spLocks/>
            </p:cNvSpPr>
            <p:nvPr/>
          </p:nvSpPr>
          <p:spPr bwMode="auto">
            <a:xfrm>
              <a:off x="4500" y="1817"/>
              <a:ext cx="60" cy="59"/>
            </a:xfrm>
            <a:custGeom>
              <a:avLst/>
              <a:gdLst>
                <a:gd name="T0" fmla="*/ 0 w 179"/>
                <a:gd name="T1" fmla="*/ 0 h 178"/>
                <a:gd name="T2" fmla="*/ 0 w 179"/>
                <a:gd name="T3" fmla="*/ 0 h 178"/>
                <a:gd name="T4" fmla="*/ 0 w 179"/>
                <a:gd name="T5" fmla="*/ 0 h 178"/>
                <a:gd name="T6" fmla="*/ 0 60000 65536"/>
                <a:gd name="T7" fmla="*/ 0 60000 65536"/>
                <a:gd name="T8" fmla="*/ 0 60000 65536"/>
                <a:gd name="T9" fmla="*/ 0 w 179"/>
                <a:gd name="T10" fmla="*/ 0 h 178"/>
                <a:gd name="T11" fmla="*/ 179 w 179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" h="178">
                  <a:moveTo>
                    <a:pt x="0" y="178"/>
                  </a:moveTo>
                  <a:lnTo>
                    <a:pt x="178" y="0"/>
                  </a:lnTo>
                  <a:lnTo>
                    <a:pt x="179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68"/>
            <p:cNvSpPr>
              <a:spLocks/>
            </p:cNvSpPr>
            <p:nvPr/>
          </p:nvSpPr>
          <p:spPr bwMode="auto">
            <a:xfrm>
              <a:off x="3877" y="1153"/>
              <a:ext cx="63" cy="126"/>
            </a:xfrm>
            <a:custGeom>
              <a:avLst/>
              <a:gdLst>
                <a:gd name="T0" fmla="*/ 0 w 189"/>
                <a:gd name="T1" fmla="*/ 0 h 379"/>
                <a:gd name="T2" fmla="*/ 0 w 189"/>
                <a:gd name="T3" fmla="*/ 0 h 379"/>
                <a:gd name="T4" fmla="*/ 0 w 189"/>
                <a:gd name="T5" fmla="*/ 0 h 379"/>
                <a:gd name="T6" fmla="*/ 0 w 189"/>
                <a:gd name="T7" fmla="*/ 0 h 379"/>
                <a:gd name="T8" fmla="*/ 0 w 189"/>
                <a:gd name="T9" fmla="*/ 0 h 379"/>
                <a:gd name="T10" fmla="*/ 0 w 189"/>
                <a:gd name="T11" fmla="*/ 0 h 3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9"/>
                <a:gd name="T19" fmla="*/ 0 h 379"/>
                <a:gd name="T20" fmla="*/ 189 w 189"/>
                <a:gd name="T21" fmla="*/ 379 h 3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9" h="379">
                  <a:moveTo>
                    <a:pt x="0" y="379"/>
                  </a:moveTo>
                  <a:lnTo>
                    <a:pt x="134" y="324"/>
                  </a:lnTo>
                  <a:lnTo>
                    <a:pt x="189" y="190"/>
                  </a:lnTo>
                  <a:lnTo>
                    <a:pt x="134" y="56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69"/>
            <p:cNvSpPr>
              <a:spLocks/>
            </p:cNvSpPr>
            <p:nvPr/>
          </p:nvSpPr>
          <p:spPr bwMode="auto">
            <a:xfrm>
              <a:off x="3464" y="1153"/>
              <a:ext cx="63" cy="126"/>
            </a:xfrm>
            <a:custGeom>
              <a:avLst/>
              <a:gdLst>
                <a:gd name="T0" fmla="*/ 0 w 190"/>
                <a:gd name="T1" fmla="*/ 0 h 379"/>
                <a:gd name="T2" fmla="*/ 0 w 190"/>
                <a:gd name="T3" fmla="*/ 0 h 379"/>
                <a:gd name="T4" fmla="*/ 0 w 190"/>
                <a:gd name="T5" fmla="*/ 0 h 379"/>
                <a:gd name="T6" fmla="*/ 0 w 190"/>
                <a:gd name="T7" fmla="*/ 0 h 379"/>
                <a:gd name="T8" fmla="*/ 0 w 190"/>
                <a:gd name="T9" fmla="*/ 0 h 379"/>
                <a:gd name="T10" fmla="*/ 0 w 190"/>
                <a:gd name="T11" fmla="*/ 0 h 3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0"/>
                <a:gd name="T19" fmla="*/ 0 h 379"/>
                <a:gd name="T20" fmla="*/ 190 w 190"/>
                <a:gd name="T21" fmla="*/ 379 h 3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0" h="379">
                  <a:moveTo>
                    <a:pt x="188" y="0"/>
                  </a:moveTo>
                  <a:lnTo>
                    <a:pt x="56" y="56"/>
                  </a:lnTo>
                  <a:lnTo>
                    <a:pt x="0" y="190"/>
                  </a:lnTo>
                  <a:lnTo>
                    <a:pt x="56" y="324"/>
                  </a:lnTo>
                  <a:lnTo>
                    <a:pt x="188" y="379"/>
                  </a:lnTo>
                  <a:lnTo>
                    <a:pt x="190" y="379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70"/>
            <p:cNvSpPr>
              <a:spLocks/>
            </p:cNvSpPr>
            <p:nvPr/>
          </p:nvSpPr>
          <p:spPr bwMode="auto">
            <a:xfrm>
              <a:off x="3526" y="1153"/>
              <a:ext cx="352" cy="1"/>
            </a:xfrm>
            <a:custGeom>
              <a:avLst/>
              <a:gdLst>
                <a:gd name="T0" fmla="*/ 0 w 1054"/>
                <a:gd name="T1" fmla="*/ 0 h 1"/>
                <a:gd name="T2" fmla="*/ 0 w 1054"/>
                <a:gd name="T3" fmla="*/ 0 h 1"/>
                <a:gd name="T4" fmla="*/ 0 w 1054"/>
                <a:gd name="T5" fmla="*/ 0 h 1"/>
                <a:gd name="T6" fmla="*/ 0 60000 65536"/>
                <a:gd name="T7" fmla="*/ 0 60000 65536"/>
                <a:gd name="T8" fmla="*/ 0 60000 65536"/>
                <a:gd name="T9" fmla="*/ 0 w 1054"/>
                <a:gd name="T10" fmla="*/ 0 h 1"/>
                <a:gd name="T11" fmla="*/ 1054 w 105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4" h="1">
                  <a:moveTo>
                    <a:pt x="0" y="0"/>
                  </a:moveTo>
                  <a:lnTo>
                    <a:pt x="1053" y="0"/>
                  </a:lnTo>
                  <a:lnTo>
                    <a:pt x="1054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71"/>
            <p:cNvSpPr>
              <a:spLocks/>
            </p:cNvSpPr>
            <p:nvPr/>
          </p:nvSpPr>
          <p:spPr bwMode="auto">
            <a:xfrm>
              <a:off x="3526" y="1279"/>
              <a:ext cx="351" cy="1"/>
            </a:xfrm>
            <a:custGeom>
              <a:avLst/>
              <a:gdLst>
                <a:gd name="T0" fmla="*/ 0 w 1053"/>
                <a:gd name="T1" fmla="*/ 0 h 1"/>
                <a:gd name="T2" fmla="*/ 0 w 1053"/>
                <a:gd name="T3" fmla="*/ 0 h 1"/>
                <a:gd name="T4" fmla="*/ 0 w 1053"/>
                <a:gd name="T5" fmla="*/ 0 h 1"/>
                <a:gd name="T6" fmla="*/ 0 60000 65536"/>
                <a:gd name="T7" fmla="*/ 0 60000 65536"/>
                <a:gd name="T8" fmla="*/ 0 60000 65536"/>
                <a:gd name="T9" fmla="*/ 0 w 1053"/>
                <a:gd name="T10" fmla="*/ 0 h 1"/>
                <a:gd name="T11" fmla="*/ 1053 w 10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3" h="1">
                  <a:moveTo>
                    <a:pt x="1053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72"/>
            <p:cNvSpPr>
              <a:spLocks/>
            </p:cNvSpPr>
            <p:nvPr/>
          </p:nvSpPr>
          <p:spPr bwMode="auto">
            <a:xfrm>
              <a:off x="3940" y="1429"/>
              <a:ext cx="1" cy="69"/>
            </a:xfrm>
            <a:custGeom>
              <a:avLst/>
              <a:gdLst>
                <a:gd name="T0" fmla="*/ 0 w 1"/>
                <a:gd name="T1" fmla="*/ 0 h 207"/>
                <a:gd name="T2" fmla="*/ 0 w 1"/>
                <a:gd name="T3" fmla="*/ 0 h 207"/>
                <a:gd name="T4" fmla="*/ 1 w 1"/>
                <a:gd name="T5" fmla="*/ 0 h 207"/>
                <a:gd name="T6" fmla="*/ 0 60000 65536"/>
                <a:gd name="T7" fmla="*/ 0 60000 65536"/>
                <a:gd name="T8" fmla="*/ 0 60000 65536"/>
                <a:gd name="T9" fmla="*/ 0 w 1"/>
                <a:gd name="T10" fmla="*/ 0 h 207"/>
                <a:gd name="T11" fmla="*/ 1 w 1"/>
                <a:gd name="T12" fmla="*/ 207 h 2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07">
                  <a:moveTo>
                    <a:pt x="0" y="0"/>
                  </a:moveTo>
                  <a:lnTo>
                    <a:pt x="0" y="207"/>
                  </a:lnTo>
                  <a:lnTo>
                    <a:pt x="1" y="20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73"/>
            <p:cNvSpPr>
              <a:spLocks/>
            </p:cNvSpPr>
            <p:nvPr/>
          </p:nvSpPr>
          <p:spPr bwMode="auto">
            <a:xfrm>
              <a:off x="3464" y="1498"/>
              <a:ext cx="476" cy="1"/>
            </a:xfrm>
            <a:custGeom>
              <a:avLst/>
              <a:gdLst>
                <a:gd name="T0" fmla="*/ 0 w 1430"/>
                <a:gd name="T1" fmla="*/ 0 h 1"/>
                <a:gd name="T2" fmla="*/ 0 w 1430"/>
                <a:gd name="T3" fmla="*/ 0 h 1"/>
                <a:gd name="T4" fmla="*/ 0 w 1430"/>
                <a:gd name="T5" fmla="*/ 0 h 1"/>
                <a:gd name="T6" fmla="*/ 0 60000 65536"/>
                <a:gd name="T7" fmla="*/ 0 60000 65536"/>
                <a:gd name="T8" fmla="*/ 0 60000 65536"/>
                <a:gd name="T9" fmla="*/ 0 w 1430"/>
                <a:gd name="T10" fmla="*/ 0 h 1"/>
                <a:gd name="T11" fmla="*/ 1430 w 143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30" h="1">
                  <a:moveTo>
                    <a:pt x="143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74"/>
            <p:cNvSpPr>
              <a:spLocks/>
            </p:cNvSpPr>
            <p:nvPr/>
          </p:nvSpPr>
          <p:spPr bwMode="auto">
            <a:xfrm>
              <a:off x="3464" y="1429"/>
              <a:ext cx="1" cy="69"/>
            </a:xfrm>
            <a:custGeom>
              <a:avLst/>
              <a:gdLst>
                <a:gd name="T0" fmla="*/ 0 w 1"/>
                <a:gd name="T1" fmla="*/ 0 h 207"/>
                <a:gd name="T2" fmla="*/ 0 w 1"/>
                <a:gd name="T3" fmla="*/ 0 h 207"/>
                <a:gd name="T4" fmla="*/ 1 w 1"/>
                <a:gd name="T5" fmla="*/ 0 h 207"/>
                <a:gd name="T6" fmla="*/ 0 60000 65536"/>
                <a:gd name="T7" fmla="*/ 0 60000 65536"/>
                <a:gd name="T8" fmla="*/ 0 60000 65536"/>
                <a:gd name="T9" fmla="*/ 0 w 1"/>
                <a:gd name="T10" fmla="*/ 0 h 207"/>
                <a:gd name="T11" fmla="*/ 1 w 1"/>
                <a:gd name="T12" fmla="*/ 207 h 2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07">
                  <a:moveTo>
                    <a:pt x="0" y="0"/>
                  </a:moveTo>
                  <a:lnTo>
                    <a:pt x="0" y="207"/>
                  </a:lnTo>
                  <a:lnTo>
                    <a:pt x="1" y="20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75"/>
            <p:cNvSpPr>
              <a:spLocks/>
            </p:cNvSpPr>
            <p:nvPr/>
          </p:nvSpPr>
          <p:spPr bwMode="auto">
            <a:xfrm>
              <a:off x="3314" y="1429"/>
              <a:ext cx="38" cy="488"/>
            </a:xfrm>
            <a:custGeom>
              <a:avLst/>
              <a:gdLst>
                <a:gd name="T0" fmla="*/ 0 w 114"/>
                <a:gd name="T1" fmla="*/ 0 h 1466"/>
                <a:gd name="T2" fmla="*/ 0 w 114"/>
                <a:gd name="T3" fmla="*/ 0 h 1466"/>
                <a:gd name="T4" fmla="*/ 0 w 114"/>
                <a:gd name="T5" fmla="*/ 0 h 1466"/>
                <a:gd name="T6" fmla="*/ 0 w 114"/>
                <a:gd name="T7" fmla="*/ 0 h 1466"/>
                <a:gd name="T8" fmla="*/ 0 w 114"/>
                <a:gd name="T9" fmla="*/ 0 h 1466"/>
                <a:gd name="T10" fmla="*/ 0 w 114"/>
                <a:gd name="T11" fmla="*/ 0 h 14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4"/>
                <a:gd name="T19" fmla="*/ 0 h 1466"/>
                <a:gd name="T20" fmla="*/ 114 w 114"/>
                <a:gd name="T21" fmla="*/ 1466 h 146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4" h="1466">
                  <a:moveTo>
                    <a:pt x="112" y="0"/>
                  </a:moveTo>
                  <a:lnTo>
                    <a:pt x="0" y="358"/>
                  </a:lnTo>
                  <a:lnTo>
                    <a:pt x="114" y="727"/>
                  </a:lnTo>
                  <a:lnTo>
                    <a:pt x="55" y="1099"/>
                  </a:lnTo>
                  <a:lnTo>
                    <a:pt x="47" y="1466"/>
                  </a:lnTo>
                  <a:lnTo>
                    <a:pt x="48" y="146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76"/>
            <p:cNvSpPr>
              <a:spLocks/>
            </p:cNvSpPr>
            <p:nvPr/>
          </p:nvSpPr>
          <p:spPr bwMode="auto">
            <a:xfrm>
              <a:off x="3663" y="1673"/>
              <a:ext cx="21" cy="1"/>
            </a:xfrm>
            <a:custGeom>
              <a:avLst/>
              <a:gdLst>
                <a:gd name="T0" fmla="*/ 0 w 65"/>
                <a:gd name="T1" fmla="*/ 0 h 1"/>
                <a:gd name="T2" fmla="*/ 0 w 65"/>
                <a:gd name="T3" fmla="*/ 0 h 1"/>
                <a:gd name="T4" fmla="*/ 0 w 65"/>
                <a:gd name="T5" fmla="*/ 0 h 1"/>
                <a:gd name="T6" fmla="*/ 0 60000 65536"/>
                <a:gd name="T7" fmla="*/ 0 60000 65536"/>
                <a:gd name="T8" fmla="*/ 0 60000 65536"/>
                <a:gd name="T9" fmla="*/ 0 w 65"/>
                <a:gd name="T10" fmla="*/ 0 h 1"/>
                <a:gd name="T11" fmla="*/ 65 w 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" h="1">
                  <a:moveTo>
                    <a:pt x="0" y="0"/>
                  </a:moveTo>
                  <a:lnTo>
                    <a:pt x="64" y="0"/>
                  </a:lnTo>
                  <a:lnTo>
                    <a:pt x="65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77"/>
            <p:cNvSpPr>
              <a:spLocks/>
            </p:cNvSpPr>
            <p:nvPr/>
          </p:nvSpPr>
          <p:spPr bwMode="auto">
            <a:xfrm>
              <a:off x="3744" y="1673"/>
              <a:ext cx="529" cy="1"/>
            </a:xfrm>
            <a:custGeom>
              <a:avLst/>
              <a:gdLst>
                <a:gd name="T0" fmla="*/ 0 w 1585"/>
                <a:gd name="T1" fmla="*/ 0 h 1"/>
                <a:gd name="T2" fmla="*/ 0 w 1585"/>
                <a:gd name="T3" fmla="*/ 0 h 1"/>
                <a:gd name="T4" fmla="*/ 0 w 1585"/>
                <a:gd name="T5" fmla="*/ 0 h 1"/>
                <a:gd name="T6" fmla="*/ 0 60000 65536"/>
                <a:gd name="T7" fmla="*/ 0 60000 65536"/>
                <a:gd name="T8" fmla="*/ 0 60000 65536"/>
                <a:gd name="T9" fmla="*/ 0 w 1585"/>
                <a:gd name="T10" fmla="*/ 0 h 1"/>
                <a:gd name="T11" fmla="*/ 1585 w 158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5" h="1">
                  <a:moveTo>
                    <a:pt x="0" y="0"/>
                  </a:moveTo>
                  <a:lnTo>
                    <a:pt x="1583" y="0"/>
                  </a:lnTo>
                  <a:lnTo>
                    <a:pt x="1585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78"/>
            <p:cNvSpPr>
              <a:spLocks/>
            </p:cNvSpPr>
            <p:nvPr/>
          </p:nvSpPr>
          <p:spPr bwMode="auto">
            <a:xfrm>
              <a:off x="4319" y="1673"/>
              <a:ext cx="22" cy="1"/>
            </a:xfrm>
            <a:custGeom>
              <a:avLst/>
              <a:gdLst>
                <a:gd name="T0" fmla="*/ 0 w 66"/>
                <a:gd name="T1" fmla="*/ 0 h 1"/>
                <a:gd name="T2" fmla="*/ 0 w 66"/>
                <a:gd name="T3" fmla="*/ 0 h 1"/>
                <a:gd name="T4" fmla="*/ 0 w 66"/>
                <a:gd name="T5" fmla="*/ 0 h 1"/>
                <a:gd name="T6" fmla="*/ 0 60000 65536"/>
                <a:gd name="T7" fmla="*/ 0 60000 65536"/>
                <a:gd name="T8" fmla="*/ 0 60000 65536"/>
                <a:gd name="T9" fmla="*/ 0 w 66"/>
                <a:gd name="T10" fmla="*/ 0 h 1"/>
                <a:gd name="T11" fmla="*/ 66 w 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1">
                  <a:moveTo>
                    <a:pt x="0" y="0"/>
                  </a:moveTo>
                  <a:lnTo>
                    <a:pt x="64" y="0"/>
                  </a:lnTo>
                  <a:lnTo>
                    <a:pt x="6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79"/>
            <p:cNvSpPr>
              <a:spLocks/>
            </p:cNvSpPr>
            <p:nvPr/>
          </p:nvSpPr>
          <p:spPr bwMode="auto">
            <a:xfrm>
              <a:off x="4388" y="1673"/>
              <a:ext cx="233" cy="1"/>
            </a:xfrm>
            <a:custGeom>
              <a:avLst/>
              <a:gdLst>
                <a:gd name="T0" fmla="*/ 0 w 697"/>
                <a:gd name="T1" fmla="*/ 0 h 1"/>
                <a:gd name="T2" fmla="*/ 0 w 697"/>
                <a:gd name="T3" fmla="*/ 0 h 1"/>
                <a:gd name="T4" fmla="*/ 0 w 697"/>
                <a:gd name="T5" fmla="*/ 0 h 1"/>
                <a:gd name="T6" fmla="*/ 0 60000 65536"/>
                <a:gd name="T7" fmla="*/ 0 60000 65536"/>
                <a:gd name="T8" fmla="*/ 0 60000 65536"/>
                <a:gd name="T9" fmla="*/ 0 w 697"/>
                <a:gd name="T10" fmla="*/ 0 h 1"/>
                <a:gd name="T11" fmla="*/ 697 w 69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7" h="1">
                  <a:moveTo>
                    <a:pt x="0" y="0"/>
                  </a:moveTo>
                  <a:lnTo>
                    <a:pt x="696" y="0"/>
                  </a:lnTo>
                  <a:lnTo>
                    <a:pt x="697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80"/>
            <p:cNvSpPr>
              <a:spLocks/>
            </p:cNvSpPr>
            <p:nvPr/>
          </p:nvSpPr>
          <p:spPr bwMode="auto">
            <a:xfrm>
              <a:off x="3402" y="1429"/>
              <a:ext cx="650" cy="155"/>
            </a:xfrm>
            <a:custGeom>
              <a:avLst/>
              <a:gdLst>
                <a:gd name="T0" fmla="*/ 0 w 1949"/>
                <a:gd name="T1" fmla="*/ 0 h 465"/>
                <a:gd name="T2" fmla="*/ 0 w 1949"/>
                <a:gd name="T3" fmla="*/ 0 h 465"/>
                <a:gd name="T4" fmla="*/ 0 w 1949"/>
                <a:gd name="T5" fmla="*/ 0 h 465"/>
                <a:gd name="T6" fmla="*/ 0 w 1949"/>
                <a:gd name="T7" fmla="*/ 0 h 465"/>
                <a:gd name="T8" fmla="*/ 0 w 1949"/>
                <a:gd name="T9" fmla="*/ 0 h 465"/>
                <a:gd name="T10" fmla="*/ 0 w 1949"/>
                <a:gd name="T11" fmla="*/ 0 h 465"/>
                <a:gd name="T12" fmla="*/ 0 w 1949"/>
                <a:gd name="T13" fmla="*/ 0 h 465"/>
                <a:gd name="T14" fmla="*/ 0 w 1949"/>
                <a:gd name="T15" fmla="*/ 0 h 465"/>
                <a:gd name="T16" fmla="*/ 0 w 1949"/>
                <a:gd name="T17" fmla="*/ 0 h 465"/>
                <a:gd name="T18" fmla="*/ 0 w 1949"/>
                <a:gd name="T19" fmla="*/ 0 h 465"/>
                <a:gd name="T20" fmla="*/ 0 w 1949"/>
                <a:gd name="T21" fmla="*/ 0 h 465"/>
                <a:gd name="T22" fmla="*/ 0 w 1949"/>
                <a:gd name="T23" fmla="*/ 0 h 46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949"/>
                <a:gd name="T37" fmla="*/ 0 h 465"/>
                <a:gd name="T38" fmla="*/ 1949 w 1949"/>
                <a:gd name="T39" fmla="*/ 465 h 46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949" h="465">
                  <a:moveTo>
                    <a:pt x="0" y="0"/>
                  </a:moveTo>
                  <a:lnTo>
                    <a:pt x="94" y="295"/>
                  </a:lnTo>
                  <a:lnTo>
                    <a:pt x="202" y="377"/>
                  </a:lnTo>
                  <a:lnTo>
                    <a:pt x="357" y="418"/>
                  </a:lnTo>
                  <a:lnTo>
                    <a:pt x="648" y="465"/>
                  </a:lnTo>
                  <a:lnTo>
                    <a:pt x="944" y="398"/>
                  </a:lnTo>
                  <a:lnTo>
                    <a:pt x="1239" y="427"/>
                  </a:lnTo>
                  <a:lnTo>
                    <a:pt x="1536" y="412"/>
                  </a:lnTo>
                  <a:lnTo>
                    <a:pt x="1758" y="208"/>
                  </a:lnTo>
                  <a:lnTo>
                    <a:pt x="1879" y="125"/>
                  </a:lnTo>
                  <a:lnTo>
                    <a:pt x="1948" y="0"/>
                  </a:lnTo>
                  <a:lnTo>
                    <a:pt x="1949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81"/>
            <p:cNvSpPr>
              <a:spLocks/>
            </p:cNvSpPr>
            <p:nvPr/>
          </p:nvSpPr>
          <p:spPr bwMode="auto">
            <a:xfrm>
              <a:off x="3408" y="1429"/>
              <a:ext cx="10" cy="9"/>
            </a:xfrm>
            <a:custGeom>
              <a:avLst/>
              <a:gdLst>
                <a:gd name="T0" fmla="*/ 0 w 32"/>
                <a:gd name="T1" fmla="*/ 0 h 29"/>
                <a:gd name="T2" fmla="*/ 0 w 32"/>
                <a:gd name="T3" fmla="*/ 0 h 29"/>
                <a:gd name="T4" fmla="*/ 0 w 32"/>
                <a:gd name="T5" fmla="*/ 0 h 29"/>
                <a:gd name="T6" fmla="*/ 0 60000 65536"/>
                <a:gd name="T7" fmla="*/ 0 60000 65536"/>
                <a:gd name="T8" fmla="*/ 0 60000 65536"/>
                <a:gd name="T9" fmla="*/ 0 w 32"/>
                <a:gd name="T10" fmla="*/ 0 h 29"/>
                <a:gd name="T11" fmla="*/ 32 w 32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" h="29">
                  <a:moveTo>
                    <a:pt x="0" y="29"/>
                  </a:moveTo>
                  <a:lnTo>
                    <a:pt x="30" y="0"/>
                  </a:lnTo>
                  <a:lnTo>
                    <a:pt x="3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82"/>
            <p:cNvSpPr>
              <a:spLocks/>
            </p:cNvSpPr>
            <p:nvPr/>
          </p:nvSpPr>
          <p:spPr bwMode="auto">
            <a:xfrm>
              <a:off x="3429" y="1477"/>
              <a:ext cx="35" cy="35"/>
            </a:xfrm>
            <a:custGeom>
              <a:avLst/>
              <a:gdLst>
                <a:gd name="T0" fmla="*/ 0 w 105"/>
                <a:gd name="T1" fmla="*/ 0 h 105"/>
                <a:gd name="T2" fmla="*/ 0 w 105"/>
                <a:gd name="T3" fmla="*/ 0 h 105"/>
                <a:gd name="T4" fmla="*/ 0 w 105"/>
                <a:gd name="T5" fmla="*/ 0 h 105"/>
                <a:gd name="T6" fmla="*/ 0 60000 65536"/>
                <a:gd name="T7" fmla="*/ 0 60000 65536"/>
                <a:gd name="T8" fmla="*/ 0 60000 65536"/>
                <a:gd name="T9" fmla="*/ 0 w 105"/>
                <a:gd name="T10" fmla="*/ 0 h 105"/>
                <a:gd name="T11" fmla="*/ 105 w 105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" h="105">
                  <a:moveTo>
                    <a:pt x="0" y="105"/>
                  </a:moveTo>
                  <a:lnTo>
                    <a:pt x="104" y="0"/>
                  </a:lnTo>
                  <a:lnTo>
                    <a:pt x="105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83"/>
            <p:cNvSpPr>
              <a:spLocks/>
            </p:cNvSpPr>
            <p:nvPr/>
          </p:nvSpPr>
          <p:spPr bwMode="auto">
            <a:xfrm>
              <a:off x="3478" y="1498"/>
              <a:ext cx="59" cy="59"/>
            </a:xfrm>
            <a:custGeom>
              <a:avLst/>
              <a:gdLst>
                <a:gd name="T0" fmla="*/ 0 w 178"/>
                <a:gd name="T1" fmla="*/ 0 h 177"/>
                <a:gd name="T2" fmla="*/ 0 w 178"/>
                <a:gd name="T3" fmla="*/ 0 h 177"/>
                <a:gd name="T4" fmla="*/ 0 w 178"/>
                <a:gd name="T5" fmla="*/ 0 h 177"/>
                <a:gd name="T6" fmla="*/ 0 60000 65536"/>
                <a:gd name="T7" fmla="*/ 0 60000 65536"/>
                <a:gd name="T8" fmla="*/ 0 60000 65536"/>
                <a:gd name="T9" fmla="*/ 0 w 178"/>
                <a:gd name="T10" fmla="*/ 0 h 177"/>
                <a:gd name="T11" fmla="*/ 178 w 178"/>
                <a:gd name="T12" fmla="*/ 177 h 1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8" h="177">
                  <a:moveTo>
                    <a:pt x="0" y="177"/>
                  </a:moveTo>
                  <a:lnTo>
                    <a:pt x="177" y="0"/>
                  </a:lnTo>
                  <a:lnTo>
                    <a:pt x="17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84"/>
            <p:cNvSpPr>
              <a:spLocks/>
            </p:cNvSpPr>
            <p:nvPr/>
          </p:nvSpPr>
          <p:spPr bwMode="auto">
            <a:xfrm>
              <a:off x="3552" y="1498"/>
              <a:ext cx="80" cy="78"/>
            </a:xfrm>
            <a:custGeom>
              <a:avLst/>
              <a:gdLst>
                <a:gd name="T0" fmla="*/ 0 w 238"/>
                <a:gd name="T1" fmla="*/ 0 h 236"/>
                <a:gd name="T2" fmla="*/ 0 w 238"/>
                <a:gd name="T3" fmla="*/ 0 h 236"/>
                <a:gd name="T4" fmla="*/ 0 w 238"/>
                <a:gd name="T5" fmla="*/ 0 h 236"/>
                <a:gd name="T6" fmla="*/ 0 60000 65536"/>
                <a:gd name="T7" fmla="*/ 0 60000 65536"/>
                <a:gd name="T8" fmla="*/ 0 60000 65536"/>
                <a:gd name="T9" fmla="*/ 0 w 238"/>
                <a:gd name="T10" fmla="*/ 0 h 236"/>
                <a:gd name="T11" fmla="*/ 238 w 238"/>
                <a:gd name="T12" fmla="*/ 236 h 2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8" h="236">
                  <a:moveTo>
                    <a:pt x="0" y="236"/>
                  </a:moveTo>
                  <a:lnTo>
                    <a:pt x="237" y="0"/>
                  </a:lnTo>
                  <a:lnTo>
                    <a:pt x="23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85"/>
            <p:cNvSpPr>
              <a:spLocks/>
            </p:cNvSpPr>
            <p:nvPr/>
          </p:nvSpPr>
          <p:spPr bwMode="auto">
            <a:xfrm>
              <a:off x="3643" y="1498"/>
              <a:ext cx="83" cy="82"/>
            </a:xfrm>
            <a:custGeom>
              <a:avLst/>
              <a:gdLst>
                <a:gd name="T0" fmla="*/ 0 w 249"/>
                <a:gd name="T1" fmla="*/ 0 h 248"/>
                <a:gd name="T2" fmla="*/ 0 w 249"/>
                <a:gd name="T3" fmla="*/ 0 h 248"/>
                <a:gd name="T4" fmla="*/ 0 w 249"/>
                <a:gd name="T5" fmla="*/ 0 h 248"/>
                <a:gd name="T6" fmla="*/ 0 60000 65536"/>
                <a:gd name="T7" fmla="*/ 0 60000 65536"/>
                <a:gd name="T8" fmla="*/ 0 60000 65536"/>
                <a:gd name="T9" fmla="*/ 0 w 249"/>
                <a:gd name="T10" fmla="*/ 0 h 248"/>
                <a:gd name="T11" fmla="*/ 249 w 249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9" h="248">
                  <a:moveTo>
                    <a:pt x="0" y="248"/>
                  </a:moveTo>
                  <a:lnTo>
                    <a:pt x="248" y="0"/>
                  </a:lnTo>
                  <a:lnTo>
                    <a:pt x="249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86"/>
            <p:cNvSpPr>
              <a:spLocks/>
            </p:cNvSpPr>
            <p:nvPr/>
          </p:nvSpPr>
          <p:spPr bwMode="auto">
            <a:xfrm>
              <a:off x="3759" y="1498"/>
              <a:ext cx="61" cy="60"/>
            </a:xfrm>
            <a:custGeom>
              <a:avLst/>
              <a:gdLst>
                <a:gd name="T0" fmla="*/ 0 w 182"/>
                <a:gd name="T1" fmla="*/ 0 h 181"/>
                <a:gd name="T2" fmla="*/ 0 w 182"/>
                <a:gd name="T3" fmla="*/ 0 h 181"/>
                <a:gd name="T4" fmla="*/ 0 w 182"/>
                <a:gd name="T5" fmla="*/ 0 h 181"/>
                <a:gd name="T6" fmla="*/ 0 60000 65536"/>
                <a:gd name="T7" fmla="*/ 0 60000 65536"/>
                <a:gd name="T8" fmla="*/ 0 60000 65536"/>
                <a:gd name="T9" fmla="*/ 0 w 182"/>
                <a:gd name="T10" fmla="*/ 0 h 181"/>
                <a:gd name="T11" fmla="*/ 182 w 182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181">
                  <a:moveTo>
                    <a:pt x="0" y="181"/>
                  </a:moveTo>
                  <a:lnTo>
                    <a:pt x="181" y="0"/>
                  </a:lnTo>
                  <a:lnTo>
                    <a:pt x="18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87"/>
            <p:cNvSpPr>
              <a:spLocks/>
            </p:cNvSpPr>
            <p:nvPr/>
          </p:nvSpPr>
          <p:spPr bwMode="auto">
            <a:xfrm>
              <a:off x="3835" y="1498"/>
              <a:ext cx="79" cy="78"/>
            </a:xfrm>
            <a:custGeom>
              <a:avLst/>
              <a:gdLst>
                <a:gd name="T0" fmla="*/ 0 w 237"/>
                <a:gd name="T1" fmla="*/ 0 h 235"/>
                <a:gd name="T2" fmla="*/ 0 w 237"/>
                <a:gd name="T3" fmla="*/ 0 h 235"/>
                <a:gd name="T4" fmla="*/ 0 w 237"/>
                <a:gd name="T5" fmla="*/ 0 h 235"/>
                <a:gd name="T6" fmla="*/ 0 60000 65536"/>
                <a:gd name="T7" fmla="*/ 0 60000 65536"/>
                <a:gd name="T8" fmla="*/ 0 60000 65536"/>
                <a:gd name="T9" fmla="*/ 0 w 237"/>
                <a:gd name="T10" fmla="*/ 0 h 235"/>
                <a:gd name="T11" fmla="*/ 237 w 237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7" h="235">
                  <a:moveTo>
                    <a:pt x="0" y="235"/>
                  </a:moveTo>
                  <a:lnTo>
                    <a:pt x="236" y="0"/>
                  </a:lnTo>
                  <a:lnTo>
                    <a:pt x="237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88"/>
            <p:cNvSpPr>
              <a:spLocks/>
            </p:cNvSpPr>
            <p:nvPr/>
          </p:nvSpPr>
          <p:spPr bwMode="auto">
            <a:xfrm>
              <a:off x="3940" y="1429"/>
              <a:ext cx="43" cy="42"/>
            </a:xfrm>
            <a:custGeom>
              <a:avLst/>
              <a:gdLst>
                <a:gd name="T0" fmla="*/ 0 w 129"/>
                <a:gd name="T1" fmla="*/ 0 h 128"/>
                <a:gd name="T2" fmla="*/ 0 w 129"/>
                <a:gd name="T3" fmla="*/ 0 h 128"/>
                <a:gd name="T4" fmla="*/ 0 w 129"/>
                <a:gd name="T5" fmla="*/ 0 h 128"/>
                <a:gd name="T6" fmla="*/ 0 60000 65536"/>
                <a:gd name="T7" fmla="*/ 0 60000 65536"/>
                <a:gd name="T8" fmla="*/ 0 60000 65536"/>
                <a:gd name="T9" fmla="*/ 0 w 129"/>
                <a:gd name="T10" fmla="*/ 0 h 128"/>
                <a:gd name="T11" fmla="*/ 129 w 129"/>
                <a:gd name="T12" fmla="*/ 128 h 1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" h="128">
                  <a:moveTo>
                    <a:pt x="0" y="128"/>
                  </a:moveTo>
                  <a:lnTo>
                    <a:pt x="128" y="0"/>
                  </a:lnTo>
                  <a:lnTo>
                    <a:pt x="129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89"/>
            <p:cNvSpPr>
              <a:spLocks noChangeShapeType="1"/>
            </p:cNvSpPr>
            <p:nvPr/>
          </p:nvSpPr>
          <p:spPr bwMode="auto">
            <a:xfrm>
              <a:off x="3402" y="1211"/>
              <a:ext cx="2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90"/>
            <p:cNvSpPr>
              <a:spLocks noChangeShapeType="1"/>
            </p:cNvSpPr>
            <p:nvPr/>
          </p:nvSpPr>
          <p:spPr bwMode="auto">
            <a:xfrm>
              <a:off x="3636" y="1212"/>
              <a:ext cx="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91"/>
            <p:cNvSpPr>
              <a:spLocks noChangeShapeType="1"/>
            </p:cNvSpPr>
            <p:nvPr/>
          </p:nvSpPr>
          <p:spPr bwMode="auto">
            <a:xfrm>
              <a:off x="3711" y="1211"/>
              <a:ext cx="3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5" name="Group 92"/>
          <p:cNvGrpSpPr>
            <a:grpSpLocks/>
          </p:cNvGrpSpPr>
          <p:nvPr/>
        </p:nvGrpSpPr>
        <p:grpSpPr bwMode="auto">
          <a:xfrm>
            <a:off x="8183563" y="1685330"/>
            <a:ext cx="1847850" cy="1025525"/>
            <a:chOff x="2792" y="398"/>
            <a:chExt cx="1164" cy="646"/>
          </a:xfrm>
        </p:grpSpPr>
        <p:sp>
          <p:nvSpPr>
            <p:cNvPr id="96" name="Rectangle 93"/>
            <p:cNvSpPr>
              <a:spLocks noChangeArrowheads="1"/>
            </p:cNvSpPr>
            <p:nvPr/>
          </p:nvSpPr>
          <p:spPr bwMode="auto">
            <a:xfrm>
              <a:off x="2792" y="398"/>
              <a:ext cx="1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宋体" charset="-122"/>
                </a:rPr>
                <a:t>交线用轮廓线代替</a:t>
              </a:r>
              <a:endParaRPr lang="zh-CN" altLang="en-US"/>
            </a:p>
          </p:txBody>
        </p:sp>
        <p:sp>
          <p:nvSpPr>
            <p:cNvPr id="97" name="Freeform 94"/>
            <p:cNvSpPr>
              <a:spLocks/>
            </p:cNvSpPr>
            <p:nvPr/>
          </p:nvSpPr>
          <p:spPr bwMode="auto">
            <a:xfrm>
              <a:off x="2828" y="600"/>
              <a:ext cx="284" cy="444"/>
            </a:xfrm>
            <a:custGeom>
              <a:avLst/>
              <a:gdLst>
                <a:gd name="T0" fmla="*/ 0 w 851"/>
                <a:gd name="T1" fmla="*/ 0 h 1332"/>
                <a:gd name="T2" fmla="*/ 0 w 851"/>
                <a:gd name="T3" fmla="*/ 0 h 1332"/>
                <a:gd name="T4" fmla="*/ 0 w 851"/>
                <a:gd name="T5" fmla="*/ 0 h 1332"/>
                <a:gd name="T6" fmla="*/ 0 60000 65536"/>
                <a:gd name="T7" fmla="*/ 0 60000 65536"/>
                <a:gd name="T8" fmla="*/ 0 60000 65536"/>
                <a:gd name="T9" fmla="*/ 0 w 851"/>
                <a:gd name="T10" fmla="*/ 0 h 1332"/>
                <a:gd name="T11" fmla="*/ 851 w 851"/>
                <a:gd name="T12" fmla="*/ 1332 h 13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1" h="1332">
                  <a:moveTo>
                    <a:pt x="851" y="133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95"/>
            <p:cNvSpPr>
              <a:spLocks noChangeShapeType="1"/>
            </p:cNvSpPr>
            <p:nvPr/>
          </p:nvSpPr>
          <p:spPr bwMode="auto">
            <a:xfrm>
              <a:off x="2828" y="600"/>
              <a:ext cx="11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9" name="Group 96"/>
          <p:cNvGrpSpPr>
            <a:grpSpLocks/>
          </p:cNvGrpSpPr>
          <p:nvPr/>
        </p:nvGrpSpPr>
        <p:grpSpPr bwMode="auto">
          <a:xfrm>
            <a:off x="5081588" y="3935719"/>
            <a:ext cx="5441950" cy="2470150"/>
            <a:chOff x="1283" y="1131"/>
            <a:chExt cx="3428" cy="1556"/>
          </a:xfrm>
        </p:grpSpPr>
        <p:grpSp>
          <p:nvGrpSpPr>
            <p:cNvPr id="100" name="Group 97"/>
            <p:cNvGrpSpPr>
              <a:grpSpLocks/>
            </p:cNvGrpSpPr>
            <p:nvPr/>
          </p:nvGrpSpPr>
          <p:grpSpPr bwMode="auto">
            <a:xfrm>
              <a:off x="2959" y="1251"/>
              <a:ext cx="1477" cy="1436"/>
              <a:chOff x="2959" y="1251"/>
              <a:chExt cx="1477" cy="1436"/>
            </a:xfrm>
          </p:grpSpPr>
          <p:sp>
            <p:nvSpPr>
              <p:cNvPr id="142" name="Oval 98"/>
              <p:cNvSpPr>
                <a:spLocks noChangeArrowheads="1"/>
              </p:cNvSpPr>
              <p:nvPr/>
            </p:nvSpPr>
            <p:spPr bwMode="auto">
              <a:xfrm>
                <a:off x="3097" y="1356"/>
                <a:ext cx="1257" cy="12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99"/>
              <p:cNvSpPr>
                <a:spLocks/>
              </p:cNvSpPr>
              <p:nvPr/>
            </p:nvSpPr>
            <p:spPr bwMode="auto">
              <a:xfrm>
                <a:off x="2959" y="1985"/>
                <a:ext cx="1477" cy="1"/>
              </a:xfrm>
              <a:custGeom>
                <a:avLst/>
                <a:gdLst>
                  <a:gd name="T0" fmla="*/ 0 w 5909"/>
                  <a:gd name="T1" fmla="*/ 0 h 1"/>
                  <a:gd name="T2" fmla="*/ 0 w 5909"/>
                  <a:gd name="T3" fmla="*/ 0 h 1"/>
                  <a:gd name="T4" fmla="*/ 0 w 590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909"/>
                  <a:gd name="T10" fmla="*/ 0 h 1"/>
                  <a:gd name="T11" fmla="*/ 5909 w 590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09" h="1">
                    <a:moveTo>
                      <a:pt x="0" y="0"/>
                    </a:moveTo>
                    <a:lnTo>
                      <a:pt x="5908" y="0"/>
                    </a:lnTo>
                    <a:lnTo>
                      <a:pt x="5909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100"/>
              <p:cNvSpPr>
                <a:spLocks/>
              </p:cNvSpPr>
              <p:nvPr/>
            </p:nvSpPr>
            <p:spPr bwMode="auto">
              <a:xfrm>
                <a:off x="3726" y="1251"/>
                <a:ext cx="1" cy="1436"/>
              </a:xfrm>
              <a:custGeom>
                <a:avLst/>
                <a:gdLst>
                  <a:gd name="T0" fmla="*/ 0 w 1"/>
                  <a:gd name="T1" fmla="*/ 0 h 5742"/>
                  <a:gd name="T2" fmla="*/ 0 w 1"/>
                  <a:gd name="T3" fmla="*/ 0 h 5742"/>
                  <a:gd name="T4" fmla="*/ 1 w 1"/>
                  <a:gd name="T5" fmla="*/ 0 h 574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742"/>
                  <a:gd name="T11" fmla="*/ 1 w 1"/>
                  <a:gd name="T12" fmla="*/ 5742 h 57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742">
                    <a:moveTo>
                      <a:pt x="0" y="0"/>
                    </a:moveTo>
                    <a:lnTo>
                      <a:pt x="0" y="5742"/>
                    </a:lnTo>
                    <a:lnTo>
                      <a:pt x="1" y="5742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Freeform 101"/>
              <p:cNvSpPr>
                <a:spLocks/>
              </p:cNvSpPr>
              <p:nvPr/>
            </p:nvSpPr>
            <p:spPr bwMode="auto">
              <a:xfrm>
                <a:off x="3451" y="1497"/>
                <a:ext cx="556" cy="963"/>
              </a:xfrm>
              <a:custGeom>
                <a:avLst/>
                <a:gdLst>
                  <a:gd name="T0" fmla="*/ 0 w 2224"/>
                  <a:gd name="T1" fmla="*/ 0 h 3854"/>
                  <a:gd name="T2" fmla="*/ 0 w 2224"/>
                  <a:gd name="T3" fmla="*/ 0 h 3854"/>
                  <a:gd name="T4" fmla="*/ 0 w 2224"/>
                  <a:gd name="T5" fmla="*/ 0 h 3854"/>
                  <a:gd name="T6" fmla="*/ 0 60000 65536"/>
                  <a:gd name="T7" fmla="*/ 0 60000 65536"/>
                  <a:gd name="T8" fmla="*/ 0 60000 65536"/>
                  <a:gd name="T9" fmla="*/ 0 w 2224"/>
                  <a:gd name="T10" fmla="*/ 0 h 3854"/>
                  <a:gd name="T11" fmla="*/ 2224 w 2224"/>
                  <a:gd name="T12" fmla="*/ 3854 h 38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4" h="3854">
                    <a:moveTo>
                      <a:pt x="0" y="3854"/>
                    </a:moveTo>
                    <a:lnTo>
                      <a:pt x="2223" y="0"/>
                    </a:lnTo>
                    <a:lnTo>
                      <a:pt x="2224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Freeform 102"/>
              <p:cNvSpPr>
                <a:spLocks/>
              </p:cNvSpPr>
              <p:nvPr/>
            </p:nvSpPr>
            <p:spPr bwMode="auto">
              <a:xfrm>
                <a:off x="3448" y="1504"/>
                <a:ext cx="556" cy="963"/>
              </a:xfrm>
              <a:custGeom>
                <a:avLst/>
                <a:gdLst>
                  <a:gd name="T0" fmla="*/ 0 w 2223"/>
                  <a:gd name="T1" fmla="*/ 0 h 3853"/>
                  <a:gd name="T2" fmla="*/ 0 w 2223"/>
                  <a:gd name="T3" fmla="*/ 0 h 3853"/>
                  <a:gd name="T4" fmla="*/ 0 w 2223"/>
                  <a:gd name="T5" fmla="*/ 0 h 3853"/>
                  <a:gd name="T6" fmla="*/ 0 60000 65536"/>
                  <a:gd name="T7" fmla="*/ 0 60000 65536"/>
                  <a:gd name="T8" fmla="*/ 0 60000 65536"/>
                  <a:gd name="T9" fmla="*/ 0 w 2223"/>
                  <a:gd name="T10" fmla="*/ 0 h 3853"/>
                  <a:gd name="T11" fmla="*/ 2223 w 2223"/>
                  <a:gd name="T12" fmla="*/ 3853 h 38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3" h="3853">
                    <a:moveTo>
                      <a:pt x="0" y="0"/>
                    </a:moveTo>
                    <a:lnTo>
                      <a:pt x="2222" y="3853"/>
                    </a:lnTo>
                    <a:lnTo>
                      <a:pt x="2223" y="3853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Freeform 103"/>
              <p:cNvSpPr>
                <a:spLocks/>
              </p:cNvSpPr>
              <p:nvPr/>
            </p:nvSpPr>
            <p:spPr bwMode="auto">
              <a:xfrm>
                <a:off x="3516" y="1515"/>
                <a:ext cx="602" cy="1042"/>
              </a:xfrm>
              <a:custGeom>
                <a:avLst/>
                <a:gdLst>
                  <a:gd name="T0" fmla="*/ 0 w 2406"/>
                  <a:gd name="T1" fmla="*/ 0 h 4169"/>
                  <a:gd name="T2" fmla="*/ 0 w 2406"/>
                  <a:gd name="T3" fmla="*/ 0 h 4169"/>
                  <a:gd name="T4" fmla="*/ 0 w 2406"/>
                  <a:gd name="T5" fmla="*/ 0 h 4169"/>
                  <a:gd name="T6" fmla="*/ 0 60000 65536"/>
                  <a:gd name="T7" fmla="*/ 0 60000 65536"/>
                  <a:gd name="T8" fmla="*/ 0 60000 65536"/>
                  <a:gd name="T9" fmla="*/ 0 w 2406"/>
                  <a:gd name="T10" fmla="*/ 0 h 4169"/>
                  <a:gd name="T11" fmla="*/ 2406 w 2406"/>
                  <a:gd name="T12" fmla="*/ 4169 h 41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6" h="4169">
                    <a:moveTo>
                      <a:pt x="0" y="4169"/>
                    </a:moveTo>
                    <a:lnTo>
                      <a:pt x="2405" y="0"/>
                    </a:lnTo>
                    <a:lnTo>
                      <a:pt x="2406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Freeform 104"/>
              <p:cNvSpPr>
                <a:spLocks/>
              </p:cNvSpPr>
              <p:nvPr/>
            </p:nvSpPr>
            <p:spPr bwMode="auto">
              <a:xfrm>
                <a:off x="3626" y="1611"/>
                <a:ext cx="557" cy="966"/>
              </a:xfrm>
              <a:custGeom>
                <a:avLst/>
                <a:gdLst>
                  <a:gd name="T0" fmla="*/ 0 w 2232"/>
                  <a:gd name="T1" fmla="*/ 0 h 3865"/>
                  <a:gd name="T2" fmla="*/ 0 w 2232"/>
                  <a:gd name="T3" fmla="*/ 0 h 3865"/>
                  <a:gd name="T4" fmla="*/ 0 w 2232"/>
                  <a:gd name="T5" fmla="*/ 0 h 3865"/>
                  <a:gd name="T6" fmla="*/ 0 60000 65536"/>
                  <a:gd name="T7" fmla="*/ 0 60000 65536"/>
                  <a:gd name="T8" fmla="*/ 0 60000 65536"/>
                  <a:gd name="T9" fmla="*/ 0 w 2232"/>
                  <a:gd name="T10" fmla="*/ 0 h 3865"/>
                  <a:gd name="T11" fmla="*/ 2232 w 2232"/>
                  <a:gd name="T12" fmla="*/ 3865 h 38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32" h="3865">
                    <a:moveTo>
                      <a:pt x="0" y="3865"/>
                    </a:moveTo>
                    <a:lnTo>
                      <a:pt x="2230" y="0"/>
                    </a:lnTo>
                    <a:lnTo>
                      <a:pt x="2232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Freeform 105"/>
              <p:cNvSpPr>
                <a:spLocks/>
              </p:cNvSpPr>
              <p:nvPr/>
            </p:nvSpPr>
            <p:spPr bwMode="auto">
              <a:xfrm>
                <a:off x="3754" y="1713"/>
                <a:ext cx="491" cy="852"/>
              </a:xfrm>
              <a:custGeom>
                <a:avLst/>
                <a:gdLst>
                  <a:gd name="T0" fmla="*/ 0 w 1968"/>
                  <a:gd name="T1" fmla="*/ 0 h 3408"/>
                  <a:gd name="T2" fmla="*/ 0 w 1968"/>
                  <a:gd name="T3" fmla="*/ 0 h 3408"/>
                  <a:gd name="T4" fmla="*/ 0 w 1968"/>
                  <a:gd name="T5" fmla="*/ 0 h 3408"/>
                  <a:gd name="T6" fmla="*/ 0 60000 65536"/>
                  <a:gd name="T7" fmla="*/ 0 60000 65536"/>
                  <a:gd name="T8" fmla="*/ 0 60000 65536"/>
                  <a:gd name="T9" fmla="*/ 0 w 1968"/>
                  <a:gd name="T10" fmla="*/ 0 h 3408"/>
                  <a:gd name="T11" fmla="*/ 1968 w 1968"/>
                  <a:gd name="T12" fmla="*/ 3408 h 34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68" h="3408">
                    <a:moveTo>
                      <a:pt x="0" y="3408"/>
                    </a:moveTo>
                    <a:lnTo>
                      <a:pt x="1966" y="0"/>
                    </a:lnTo>
                    <a:lnTo>
                      <a:pt x="1968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Freeform 106"/>
              <p:cNvSpPr>
                <a:spLocks/>
              </p:cNvSpPr>
              <p:nvPr/>
            </p:nvSpPr>
            <p:spPr bwMode="auto">
              <a:xfrm>
                <a:off x="3874" y="1808"/>
                <a:ext cx="437" cy="757"/>
              </a:xfrm>
              <a:custGeom>
                <a:avLst/>
                <a:gdLst>
                  <a:gd name="T0" fmla="*/ 0 w 1748"/>
                  <a:gd name="T1" fmla="*/ 0 h 3030"/>
                  <a:gd name="T2" fmla="*/ 0 w 1748"/>
                  <a:gd name="T3" fmla="*/ 0 h 3030"/>
                  <a:gd name="T4" fmla="*/ 0 w 1748"/>
                  <a:gd name="T5" fmla="*/ 0 h 3030"/>
                  <a:gd name="T6" fmla="*/ 0 60000 65536"/>
                  <a:gd name="T7" fmla="*/ 0 60000 65536"/>
                  <a:gd name="T8" fmla="*/ 0 60000 65536"/>
                  <a:gd name="T9" fmla="*/ 0 w 1748"/>
                  <a:gd name="T10" fmla="*/ 0 h 3030"/>
                  <a:gd name="T11" fmla="*/ 1748 w 1748"/>
                  <a:gd name="T12" fmla="*/ 3030 h 30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48" h="3030">
                    <a:moveTo>
                      <a:pt x="0" y="3030"/>
                    </a:moveTo>
                    <a:lnTo>
                      <a:pt x="1747" y="0"/>
                    </a:lnTo>
                    <a:lnTo>
                      <a:pt x="1748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Freeform 107"/>
              <p:cNvSpPr>
                <a:spLocks/>
              </p:cNvSpPr>
              <p:nvPr/>
            </p:nvSpPr>
            <p:spPr bwMode="auto">
              <a:xfrm>
                <a:off x="4051" y="2026"/>
                <a:ext cx="256" cy="442"/>
              </a:xfrm>
              <a:custGeom>
                <a:avLst/>
                <a:gdLst>
                  <a:gd name="T0" fmla="*/ 0 w 1021"/>
                  <a:gd name="T1" fmla="*/ 0 h 1767"/>
                  <a:gd name="T2" fmla="*/ 0 w 1021"/>
                  <a:gd name="T3" fmla="*/ 0 h 1767"/>
                  <a:gd name="T4" fmla="*/ 0 w 1021"/>
                  <a:gd name="T5" fmla="*/ 0 h 1767"/>
                  <a:gd name="T6" fmla="*/ 0 60000 65536"/>
                  <a:gd name="T7" fmla="*/ 0 60000 65536"/>
                  <a:gd name="T8" fmla="*/ 0 60000 65536"/>
                  <a:gd name="T9" fmla="*/ 0 w 1021"/>
                  <a:gd name="T10" fmla="*/ 0 h 1767"/>
                  <a:gd name="T11" fmla="*/ 1021 w 1021"/>
                  <a:gd name="T12" fmla="*/ 1767 h 17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1" h="1767">
                    <a:moveTo>
                      <a:pt x="0" y="1767"/>
                    </a:moveTo>
                    <a:lnTo>
                      <a:pt x="1020" y="0"/>
                    </a:lnTo>
                    <a:lnTo>
                      <a:pt x="1021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108"/>
              <p:cNvSpPr>
                <a:spLocks/>
              </p:cNvSpPr>
              <p:nvPr/>
            </p:nvSpPr>
            <p:spPr bwMode="auto">
              <a:xfrm>
                <a:off x="3329" y="1507"/>
                <a:ext cx="607" cy="1053"/>
              </a:xfrm>
              <a:custGeom>
                <a:avLst/>
                <a:gdLst>
                  <a:gd name="T0" fmla="*/ 0 w 2429"/>
                  <a:gd name="T1" fmla="*/ 0 h 4212"/>
                  <a:gd name="T2" fmla="*/ 0 w 2429"/>
                  <a:gd name="T3" fmla="*/ 0 h 4212"/>
                  <a:gd name="T4" fmla="*/ 0 w 2429"/>
                  <a:gd name="T5" fmla="*/ 0 h 4212"/>
                  <a:gd name="T6" fmla="*/ 0 60000 65536"/>
                  <a:gd name="T7" fmla="*/ 0 60000 65536"/>
                  <a:gd name="T8" fmla="*/ 0 60000 65536"/>
                  <a:gd name="T9" fmla="*/ 0 w 2429"/>
                  <a:gd name="T10" fmla="*/ 0 h 4212"/>
                  <a:gd name="T11" fmla="*/ 2429 w 2429"/>
                  <a:gd name="T12" fmla="*/ 4212 h 42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9" h="4212">
                    <a:moveTo>
                      <a:pt x="0" y="0"/>
                    </a:moveTo>
                    <a:lnTo>
                      <a:pt x="2428" y="4212"/>
                    </a:lnTo>
                    <a:lnTo>
                      <a:pt x="2429" y="4212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Freeform 109"/>
              <p:cNvSpPr>
                <a:spLocks/>
              </p:cNvSpPr>
              <p:nvPr/>
            </p:nvSpPr>
            <p:spPr bwMode="auto">
              <a:xfrm>
                <a:off x="3267" y="1609"/>
                <a:ext cx="553" cy="958"/>
              </a:xfrm>
              <a:custGeom>
                <a:avLst/>
                <a:gdLst>
                  <a:gd name="T0" fmla="*/ 0 w 2212"/>
                  <a:gd name="T1" fmla="*/ 0 h 3833"/>
                  <a:gd name="T2" fmla="*/ 0 w 2212"/>
                  <a:gd name="T3" fmla="*/ 0 h 3833"/>
                  <a:gd name="T4" fmla="*/ 0 w 2212"/>
                  <a:gd name="T5" fmla="*/ 0 h 3833"/>
                  <a:gd name="T6" fmla="*/ 0 60000 65536"/>
                  <a:gd name="T7" fmla="*/ 0 60000 65536"/>
                  <a:gd name="T8" fmla="*/ 0 60000 65536"/>
                  <a:gd name="T9" fmla="*/ 0 w 2212"/>
                  <a:gd name="T10" fmla="*/ 0 h 3833"/>
                  <a:gd name="T11" fmla="*/ 2212 w 2212"/>
                  <a:gd name="T12" fmla="*/ 3833 h 38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12" h="3833">
                    <a:moveTo>
                      <a:pt x="0" y="0"/>
                    </a:moveTo>
                    <a:lnTo>
                      <a:pt x="2211" y="3833"/>
                    </a:lnTo>
                    <a:lnTo>
                      <a:pt x="2212" y="3833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Freeform 110"/>
              <p:cNvSpPr>
                <a:spLocks/>
              </p:cNvSpPr>
              <p:nvPr/>
            </p:nvSpPr>
            <p:spPr bwMode="auto">
              <a:xfrm>
                <a:off x="3214" y="1726"/>
                <a:ext cx="485" cy="841"/>
              </a:xfrm>
              <a:custGeom>
                <a:avLst/>
                <a:gdLst>
                  <a:gd name="T0" fmla="*/ 0 w 1940"/>
                  <a:gd name="T1" fmla="*/ 0 h 3362"/>
                  <a:gd name="T2" fmla="*/ 0 w 1940"/>
                  <a:gd name="T3" fmla="*/ 0 h 3362"/>
                  <a:gd name="T4" fmla="*/ 0 w 1940"/>
                  <a:gd name="T5" fmla="*/ 0 h 3362"/>
                  <a:gd name="T6" fmla="*/ 0 60000 65536"/>
                  <a:gd name="T7" fmla="*/ 0 60000 65536"/>
                  <a:gd name="T8" fmla="*/ 0 60000 65536"/>
                  <a:gd name="T9" fmla="*/ 0 w 1940"/>
                  <a:gd name="T10" fmla="*/ 0 h 3362"/>
                  <a:gd name="T11" fmla="*/ 1940 w 1940"/>
                  <a:gd name="T12" fmla="*/ 3362 h 33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40" h="3362">
                    <a:moveTo>
                      <a:pt x="0" y="0"/>
                    </a:moveTo>
                    <a:lnTo>
                      <a:pt x="1939" y="3362"/>
                    </a:lnTo>
                    <a:lnTo>
                      <a:pt x="1940" y="3362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111"/>
              <p:cNvSpPr>
                <a:spLocks/>
              </p:cNvSpPr>
              <p:nvPr/>
            </p:nvSpPr>
            <p:spPr bwMode="auto">
              <a:xfrm>
                <a:off x="3154" y="1833"/>
                <a:ext cx="424" cy="734"/>
              </a:xfrm>
              <a:custGeom>
                <a:avLst/>
                <a:gdLst>
                  <a:gd name="T0" fmla="*/ 0 w 1696"/>
                  <a:gd name="T1" fmla="*/ 0 h 2939"/>
                  <a:gd name="T2" fmla="*/ 0 w 1696"/>
                  <a:gd name="T3" fmla="*/ 0 h 2939"/>
                  <a:gd name="T4" fmla="*/ 0 w 1696"/>
                  <a:gd name="T5" fmla="*/ 0 h 2939"/>
                  <a:gd name="T6" fmla="*/ 0 60000 65536"/>
                  <a:gd name="T7" fmla="*/ 0 60000 65536"/>
                  <a:gd name="T8" fmla="*/ 0 60000 65536"/>
                  <a:gd name="T9" fmla="*/ 0 w 1696"/>
                  <a:gd name="T10" fmla="*/ 0 h 2939"/>
                  <a:gd name="T11" fmla="*/ 1696 w 1696"/>
                  <a:gd name="T12" fmla="*/ 2939 h 29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96" h="2939">
                    <a:moveTo>
                      <a:pt x="0" y="0"/>
                    </a:moveTo>
                    <a:lnTo>
                      <a:pt x="1695" y="2939"/>
                    </a:lnTo>
                    <a:lnTo>
                      <a:pt x="1696" y="2939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Freeform 112"/>
              <p:cNvSpPr>
                <a:spLocks/>
              </p:cNvSpPr>
              <p:nvPr/>
            </p:nvSpPr>
            <p:spPr bwMode="auto">
              <a:xfrm>
                <a:off x="3144" y="2025"/>
                <a:ext cx="258" cy="446"/>
              </a:xfrm>
              <a:custGeom>
                <a:avLst/>
                <a:gdLst>
                  <a:gd name="T0" fmla="*/ 0 w 1030"/>
                  <a:gd name="T1" fmla="*/ 0 h 1784"/>
                  <a:gd name="T2" fmla="*/ 0 w 1030"/>
                  <a:gd name="T3" fmla="*/ 0 h 1784"/>
                  <a:gd name="T4" fmla="*/ 0 w 1030"/>
                  <a:gd name="T5" fmla="*/ 0 h 1784"/>
                  <a:gd name="T6" fmla="*/ 0 60000 65536"/>
                  <a:gd name="T7" fmla="*/ 0 60000 65536"/>
                  <a:gd name="T8" fmla="*/ 0 60000 65536"/>
                  <a:gd name="T9" fmla="*/ 0 w 1030"/>
                  <a:gd name="T10" fmla="*/ 0 h 1784"/>
                  <a:gd name="T11" fmla="*/ 1030 w 1030"/>
                  <a:gd name="T12" fmla="*/ 1784 h 17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30" h="1784">
                    <a:moveTo>
                      <a:pt x="0" y="0"/>
                    </a:moveTo>
                    <a:lnTo>
                      <a:pt x="1029" y="1784"/>
                    </a:lnTo>
                    <a:lnTo>
                      <a:pt x="1030" y="1784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Freeform 113"/>
              <p:cNvSpPr>
                <a:spLocks/>
              </p:cNvSpPr>
              <p:nvPr/>
            </p:nvSpPr>
            <p:spPr bwMode="auto">
              <a:xfrm>
                <a:off x="3329" y="1410"/>
                <a:ext cx="607" cy="1053"/>
              </a:xfrm>
              <a:custGeom>
                <a:avLst/>
                <a:gdLst>
                  <a:gd name="T0" fmla="*/ 0 w 2429"/>
                  <a:gd name="T1" fmla="*/ 0 h 4210"/>
                  <a:gd name="T2" fmla="*/ 0 w 2429"/>
                  <a:gd name="T3" fmla="*/ 0 h 4210"/>
                  <a:gd name="T4" fmla="*/ 0 w 2429"/>
                  <a:gd name="T5" fmla="*/ 0 h 4210"/>
                  <a:gd name="T6" fmla="*/ 0 60000 65536"/>
                  <a:gd name="T7" fmla="*/ 0 60000 65536"/>
                  <a:gd name="T8" fmla="*/ 0 60000 65536"/>
                  <a:gd name="T9" fmla="*/ 0 w 2429"/>
                  <a:gd name="T10" fmla="*/ 0 h 4210"/>
                  <a:gd name="T11" fmla="*/ 2429 w 2429"/>
                  <a:gd name="T12" fmla="*/ 4210 h 42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9" h="4210">
                    <a:moveTo>
                      <a:pt x="0" y="4210"/>
                    </a:moveTo>
                    <a:lnTo>
                      <a:pt x="2428" y="0"/>
                    </a:lnTo>
                    <a:lnTo>
                      <a:pt x="2429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114"/>
              <p:cNvSpPr>
                <a:spLocks/>
              </p:cNvSpPr>
              <p:nvPr/>
            </p:nvSpPr>
            <p:spPr bwMode="auto">
              <a:xfrm>
                <a:off x="3267" y="1392"/>
                <a:ext cx="559" cy="969"/>
              </a:xfrm>
              <a:custGeom>
                <a:avLst/>
                <a:gdLst>
                  <a:gd name="T0" fmla="*/ 0 w 2238"/>
                  <a:gd name="T1" fmla="*/ 0 h 3878"/>
                  <a:gd name="T2" fmla="*/ 0 w 2238"/>
                  <a:gd name="T3" fmla="*/ 0 h 3878"/>
                  <a:gd name="T4" fmla="*/ 0 w 2238"/>
                  <a:gd name="T5" fmla="*/ 0 h 3878"/>
                  <a:gd name="T6" fmla="*/ 0 60000 65536"/>
                  <a:gd name="T7" fmla="*/ 0 60000 65536"/>
                  <a:gd name="T8" fmla="*/ 0 60000 65536"/>
                  <a:gd name="T9" fmla="*/ 0 w 2238"/>
                  <a:gd name="T10" fmla="*/ 0 h 3878"/>
                  <a:gd name="T11" fmla="*/ 2238 w 2238"/>
                  <a:gd name="T12" fmla="*/ 3878 h 38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38" h="3878">
                    <a:moveTo>
                      <a:pt x="0" y="3878"/>
                    </a:moveTo>
                    <a:lnTo>
                      <a:pt x="2237" y="0"/>
                    </a:lnTo>
                    <a:lnTo>
                      <a:pt x="2238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115"/>
              <p:cNvSpPr>
                <a:spLocks/>
              </p:cNvSpPr>
              <p:nvPr/>
            </p:nvSpPr>
            <p:spPr bwMode="auto">
              <a:xfrm>
                <a:off x="3191" y="1404"/>
                <a:ext cx="507" cy="879"/>
              </a:xfrm>
              <a:custGeom>
                <a:avLst/>
                <a:gdLst>
                  <a:gd name="T0" fmla="*/ 0 w 2027"/>
                  <a:gd name="T1" fmla="*/ 0 h 3513"/>
                  <a:gd name="T2" fmla="*/ 0 w 2027"/>
                  <a:gd name="T3" fmla="*/ 0 h 3513"/>
                  <a:gd name="T4" fmla="*/ 0 w 2027"/>
                  <a:gd name="T5" fmla="*/ 0 h 3513"/>
                  <a:gd name="T6" fmla="*/ 0 60000 65536"/>
                  <a:gd name="T7" fmla="*/ 0 60000 65536"/>
                  <a:gd name="T8" fmla="*/ 0 60000 65536"/>
                  <a:gd name="T9" fmla="*/ 0 w 2027"/>
                  <a:gd name="T10" fmla="*/ 0 h 3513"/>
                  <a:gd name="T11" fmla="*/ 2027 w 2027"/>
                  <a:gd name="T12" fmla="*/ 3513 h 35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7" h="3513">
                    <a:moveTo>
                      <a:pt x="0" y="3513"/>
                    </a:moveTo>
                    <a:lnTo>
                      <a:pt x="2026" y="0"/>
                    </a:lnTo>
                    <a:lnTo>
                      <a:pt x="2027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116"/>
              <p:cNvSpPr>
                <a:spLocks/>
              </p:cNvSpPr>
              <p:nvPr/>
            </p:nvSpPr>
            <p:spPr bwMode="auto">
              <a:xfrm>
                <a:off x="3140" y="1395"/>
                <a:ext cx="442" cy="767"/>
              </a:xfrm>
              <a:custGeom>
                <a:avLst/>
                <a:gdLst>
                  <a:gd name="T0" fmla="*/ 0 w 1770"/>
                  <a:gd name="T1" fmla="*/ 0 h 3065"/>
                  <a:gd name="T2" fmla="*/ 0 w 1770"/>
                  <a:gd name="T3" fmla="*/ 0 h 3065"/>
                  <a:gd name="T4" fmla="*/ 0 w 1770"/>
                  <a:gd name="T5" fmla="*/ 0 h 3065"/>
                  <a:gd name="T6" fmla="*/ 0 60000 65536"/>
                  <a:gd name="T7" fmla="*/ 0 60000 65536"/>
                  <a:gd name="T8" fmla="*/ 0 60000 65536"/>
                  <a:gd name="T9" fmla="*/ 0 w 1770"/>
                  <a:gd name="T10" fmla="*/ 0 h 3065"/>
                  <a:gd name="T11" fmla="*/ 1770 w 1770"/>
                  <a:gd name="T12" fmla="*/ 3065 h 30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70" h="3065">
                    <a:moveTo>
                      <a:pt x="0" y="3065"/>
                    </a:moveTo>
                    <a:lnTo>
                      <a:pt x="1769" y="0"/>
                    </a:lnTo>
                    <a:lnTo>
                      <a:pt x="1770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117"/>
              <p:cNvSpPr>
                <a:spLocks/>
              </p:cNvSpPr>
              <p:nvPr/>
            </p:nvSpPr>
            <p:spPr bwMode="auto">
              <a:xfrm>
                <a:off x="3510" y="1402"/>
                <a:ext cx="608" cy="1053"/>
              </a:xfrm>
              <a:custGeom>
                <a:avLst/>
                <a:gdLst>
                  <a:gd name="T0" fmla="*/ 0 w 2429"/>
                  <a:gd name="T1" fmla="*/ 0 h 4210"/>
                  <a:gd name="T2" fmla="*/ 0 w 2429"/>
                  <a:gd name="T3" fmla="*/ 0 h 4210"/>
                  <a:gd name="T4" fmla="*/ 0 w 2429"/>
                  <a:gd name="T5" fmla="*/ 0 h 4210"/>
                  <a:gd name="T6" fmla="*/ 0 60000 65536"/>
                  <a:gd name="T7" fmla="*/ 0 60000 65536"/>
                  <a:gd name="T8" fmla="*/ 0 60000 65536"/>
                  <a:gd name="T9" fmla="*/ 0 w 2429"/>
                  <a:gd name="T10" fmla="*/ 0 h 4210"/>
                  <a:gd name="T11" fmla="*/ 2429 w 2429"/>
                  <a:gd name="T12" fmla="*/ 4210 h 42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9" h="4210">
                    <a:moveTo>
                      <a:pt x="0" y="0"/>
                    </a:moveTo>
                    <a:lnTo>
                      <a:pt x="2428" y="4210"/>
                    </a:lnTo>
                    <a:lnTo>
                      <a:pt x="2429" y="421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118"/>
              <p:cNvSpPr>
                <a:spLocks/>
              </p:cNvSpPr>
              <p:nvPr/>
            </p:nvSpPr>
            <p:spPr bwMode="auto">
              <a:xfrm>
                <a:off x="3632" y="1403"/>
                <a:ext cx="553" cy="958"/>
              </a:xfrm>
              <a:custGeom>
                <a:avLst/>
                <a:gdLst>
                  <a:gd name="T0" fmla="*/ 0 w 2212"/>
                  <a:gd name="T1" fmla="*/ 0 h 3835"/>
                  <a:gd name="T2" fmla="*/ 0 w 2212"/>
                  <a:gd name="T3" fmla="*/ 0 h 3835"/>
                  <a:gd name="T4" fmla="*/ 0 w 2212"/>
                  <a:gd name="T5" fmla="*/ 0 h 3835"/>
                  <a:gd name="T6" fmla="*/ 0 60000 65536"/>
                  <a:gd name="T7" fmla="*/ 0 60000 65536"/>
                  <a:gd name="T8" fmla="*/ 0 60000 65536"/>
                  <a:gd name="T9" fmla="*/ 0 w 2212"/>
                  <a:gd name="T10" fmla="*/ 0 h 3835"/>
                  <a:gd name="T11" fmla="*/ 2212 w 2212"/>
                  <a:gd name="T12" fmla="*/ 3835 h 38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12" h="3835">
                    <a:moveTo>
                      <a:pt x="0" y="0"/>
                    </a:moveTo>
                    <a:lnTo>
                      <a:pt x="2211" y="3835"/>
                    </a:lnTo>
                    <a:lnTo>
                      <a:pt x="2212" y="3835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119"/>
              <p:cNvSpPr>
                <a:spLocks/>
              </p:cNvSpPr>
              <p:nvPr/>
            </p:nvSpPr>
            <p:spPr bwMode="auto">
              <a:xfrm>
                <a:off x="3754" y="1406"/>
                <a:ext cx="489" cy="846"/>
              </a:xfrm>
              <a:custGeom>
                <a:avLst/>
                <a:gdLst>
                  <a:gd name="T0" fmla="*/ 0 w 1955"/>
                  <a:gd name="T1" fmla="*/ 0 h 3387"/>
                  <a:gd name="T2" fmla="*/ 0 w 1955"/>
                  <a:gd name="T3" fmla="*/ 0 h 3387"/>
                  <a:gd name="T4" fmla="*/ 0 w 1955"/>
                  <a:gd name="T5" fmla="*/ 0 h 3387"/>
                  <a:gd name="T6" fmla="*/ 0 60000 65536"/>
                  <a:gd name="T7" fmla="*/ 0 60000 65536"/>
                  <a:gd name="T8" fmla="*/ 0 60000 65536"/>
                  <a:gd name="T9" fmla="*/ 0 w 1955"/>
                  <a:gd name="T10" fmla="*/ 0 h 3387"/>
                  <a:gd name="T11" fmla="*/ 1955 w 1955"/>
                  <a:gd name="T12" fmla="*/ 3387 h 33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55" h="3387">
                    <a:moveTo>
                      <a:pt x="0" y="0"/>
                    </a:moveTo>
                    <a:lnTo>
                      <a:pt x="1954" y="3387"/>
                    </a:lnTo>
                    <a:lnTo>
                      <a:pt x="1955" y="3387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120"/>
              <p:cNvSpPr>
                <a:spLocks/>
              </p:cNvSpPr>
              <p:nvPr/>
            </p:nvSpPr>
            <p:spPr bwMode="auto">
              <a:xfrm>
                <a:off x="3873" y="1402"/>
                <a:ext cx="433" cy="751"/>
              </a:xfrm>
              <a:custGeom>
                <a:avLst/>
                <a:gdLst>
                  <a:gd name="T0" fmla="*/ 0 w 1733"/>
                  <a:gd name="T1" fmla="*/ 0 h 3002"/>
                  <a:gd name="T2" fmla="*/ 0 w 1733"/>
                  <a:gd name="T3" fmla="*/ 0 h 3002"/>
                  <a:gd name="T4" fmla="*/ 0 w 1733"/>
                  <a:gd name="T5" fmla="*/ 0 h 3002"/>
                  <a:gd name="T6" fmla="*/ 0 60000 65536"/>
                  <a:gd name="T7" fmla="*/ 0 60000 65536"/>
                  <a:gd name="T8" fmla="*/ 0 60000 65536"/>
                  <a:gd name="T9" fmla="*/ 0 w 1733"/>
                  <a:gd name="T10" fmla="*/ 0 h 3002"/>
                  <a:gd name="T11" fmla="*/ 1733 w 1733"/>
                  <a:gd name="T12" fmla="*/ 3002 h 300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33" h="3002">
                    <a:moveTo>
                      <a:pt x="0" y="0"/>
                    </a:moveTo>
                    <a:lnTo>
                      <a:pt x="1731" y="3002"/>
                    </a:lnTo>
                    <a:lnTo>
                      <a:pt x="1733" y="3002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121"/>
              <p:cNvSpPr>
                <a:spLocks/>
              </p:cNvSpPr>
              <p:nvPr/>
            </p:nvSpPr>
            <p:spPr bwMode="auto">
              <a:xfrm>
                <a:off x="4050" y="1500"/>
                <a:ext cx="257" cy="444"/>
              </a:xfrm>
              <a:custGeom>
                <a:avLst/>
                <a:gdLst>
                  <a:gd name="T0" fmla="*/ 0 w 1026"/>
                  <a:gd name="T1" fmla="*/ 0 h 1778"/>
                  <a:gd name="T2" fmla="*/ 0 w 1026"/>
                  <a:gd name="T3" fmla="*/ 0 h 1778"/>
                  <a:gd name="T4" fmla="*/ 0 w 1026"/>
                  <a:gd name="T5" fmla="*/ 0 h 1778"/>
                  <a:gd name="T6" fmla="*/ 0 60000 65536"/>
                  <a:gd name="T7" fmla="*/ 0 60000 65536"/>
                  <a:gd name="T8" fmla="*/ 0 60000 65536"/>
                  <a:gd name="T9" fmla="*/ 0 w 1026"/>
                  <a:gd name="T10" fmla="*/ 0 h 1778"/>
                  <a:gd name="T11" fmla="*/ 1026 w 1026"/>
                  <a:gd name="T12" fmla="*/ 1778 h 17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6" h="1778">
                    <a:moveTo>
                      <a:pt x="0" y="0"/>
                    </a:moveTo>
                    <a:lnTo>
                      <a:pt x="1025" y="1778"/>
                    </a:lnTo>
                    <a:lnTo>
                      <a:pt x="1026" y="1778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122"/>
              <p:cNvSpPr>
                <a:spLocks/>
              </p:cNvSpPr>
              <p:nvPr/>
            </p:nvSpPr>
            <p:spPr bwMode="auto">
              <a:xfrm>
                <a:off x="3508" y="1424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2" y="42"/>
                    </a:lnTo>
                    <a:lnTo>
                      <a:pt x="0" y="146"/>
                    </a:lnTo>
                    <a:lnTo>
                      <a:pt x="42" y="249"/>
                    </a:lnTo>
                    <a:lnTo>
                      <a:pt x="146" y="291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Freeform 123"/>
              <p:cNvSpPr>
                <a:spLocks/>
              </p:cNvSpPr>
              <p:nvPr/>
            </p:nvSpPr>
            <p:spPr bwMode="auto">
              <a:xfrm>
                <a:off x="3629" y="1424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2"/>
                    </a:lnTo>
                    <a:lnTo>
                      <a:pt x="144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4" y="291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Freeform 124"/>
              <p:cNvSpPr>
                <a:spLocks/>
              </p:cNvSpPr>
              <p:nvPr/>
            </p:nvSpPr>
            <p:spPr bwMode="auto">
              <a:xfrm>
                <a:off x="3750" y="1424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5" y="291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125"/>
              <p:cNvSpPr>
                <a:spLocks/>
              </p:cNvSpPr>
              <p:nvPr/>
            </p:nvSpPr>
            <p:spPr bwMode="auto">
              <a:xfrm>
                <a:off x="3870" y="1424"/>
                <a:ext cx="73" cy="73"/>
              </a:xfrm>
              <a:custGeom>
                <a:avLst/>
                <a:gdLst>
                  <a:gd name="T0" fmla="*/ 0 w 291"/>
                  <a:gd name="T1" fmla="*/ 0 h 291"/>
                  <a:gd name="T2" fmla="*/ 0 w 291"/>
                  <a:gd name="T3" fmla="*/ 0 h 291"/>
                  <a:gd name="T4" fmla="*/ 0 w 291"/>
                  <a:gd name="T5" fmla="*/ 0 h 291"/>
                  <a:gd name="T6" fmla="*/ 0 w 291"/>
                  <a:gd name="T7" fmla="*/ 0 h 291"/>
                  <a:gd name="T8" fmla="*/ 0 w 291"/>
                  <a:gd name="T9" fmla="*/ 0 h 291"/>
                  <a:gd name="T10" fmla="*/ 0 w 291"/>
                  <a:gd name="T11" fmla="*/ 0 h 291"/>
                  <a:gd name="T12" fmla="*/ 0 w 291"/>
                  <a:gd name="T13" fmla="*/ 0 h 291"/>
                  <a:gd name="T14" fmla="*/ 0 w 291"/>
                  <a:gd name="T15" fmla="*/ 0 h 291"/>
                  <a:gd name="T16" fmla="*/ 0 w 291"/>
                  <a:gd name="T17" fmla="*/ 0 h 291"/>
                  <a:gd name="T18" fmla="*/ 0 w 291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1"/>
                  <a:gd name="T32" fmla="*/ 291 w 291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1">
                    <a:moveTo>
                      <a:pt x="290" y="146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2" y="42"/>
                    </a:lnTo>
                    <a:lnTo>
                      <a:pt x="0" y="146"/>
                    </a:lnTo>
                    <a:lnTo>
                      <a:pt x="42" y="249"/>
                    </a:lnTo>
                    <a:lnTo>
                      <a:pt x="146" y="291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1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Freeform 126"/>
              <p:cNvSpPr>
                <a:spLocks/>
              </p:cNvSpPr>
              <p:nvPr/>
            </p:nvSpPr>
            <p:spPr bwMode="auto">
              <a:xfrm>
                <a:off x="4052" y="1529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6" y="291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Freeform 127"/>
              <p:cNvSpPr>
                <a:spLocks/>
              </p:cNvSpPr>
              <p:nvPr/>
            </p:nvSpPr>
            <p:spPr bwMode="auto">
              <a:xfrm>
                <a:off x="3931" y="1529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5" y="291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Freeform 128"/>
              <p:cNvSpPr>
                <a:spLocks/>
              </p:cNvSpPr>
              <p:nvPr/>
            </p:nvSpPr>
            <p:spPr bwMode="auto">
              <a:xfrm>
                <a:off x="3447" y="1529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5" y="291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Freeform 129"/>
              <p:cNvSpPr>
                <a:spLocks/>
              </p:cNvSpPr>
              <p:nvPr/>
            </p:nvSpPr>
            <p:spPr bwMode="auto">
              <a:xfrm>
                <a:off x="3326" y="1529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6" y="291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130"/>
              <p:cNvSpPr>
                <a:spLocks/>
              </p:cNvSpPr>
              <p:nvPr/>
            </p:nvSpPr>
            <p:spPr bwMode="auto">
              <a:xfrm>
                <a:off x="3266" y="1634"/>
                <a:ext cx="73" cy="73"/>
              </a:xfrm>
              <a:custGeom>
                <a:avLst/>
                <a:gdLst>
                  <a:gd name="T0" fmla="*/ 0 w 292"/>
                  <a:gd name="T1" fmla="*/ 0 h 290"/>
                  <a:gd name="T2" fmla="*/ 0 w 292"/>
                  <a:gd name="T3" fmla="*/ 0 h 290"/>
                  <a:gd name="T4" fmla="*/ 0 w 292"/>
                  <a:gd name="T5" fmla="*/ 0 h 290"/>
                  <a:gd name="T6" fmla="*/ 0 w 292"/>
                  <a:gd name="T7" fmla="*/ 0 h 290"/>
                  <a:gd name="T8" fmla="*/ 0 w 292"/>
                  <a:gd name="T9" fmla="*/ 0 h 290"/>
                  <a:gd name="T10" fmla="*/ 0 w 292"/>
                  <a:gd name="T11" fmla="*/ 0 h 290"/>
                  <a:gd name="T12" fmla="*/ 0 w 292"/>
                  <a:gd name="T13" fmla="*/ 0 h 290"/>
                  <a:gd name="T14" fmla="*/ 0 w 292"/>
                  <a:gd name="T15" fmla="*/ 0 h 290"/>
                  <a:gd name="T16" fmla="*/ 0 w 292"/>
                  <a:gd name="T17" fmla="*/ 0 h 290"/>
                  <a:gd name="T18" fmla="*/ 0 w 292"/>
                  <a:gd name="T19" fmla="*/ 0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0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7"/>
                    </a:lnTo>
                    <a:lnTo>
                      <a:pt x="145" y="290"/>
                    </a:lnTo>
                    <a:lnTo>
                      <a:pt x="248" y="247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Freeform 131"/>
              <p:cNvSpPr>
                <a:spLocks/>
              </p:cNvSpPr>
              <p:nvPr/>
            </p:nvSpPr>
            <p:spPr bwMode="auto">
              <a:xfrm>
                <a:off x="3206" y="1739"/>
                <a:ext cx="73" cy="73"/>
              </a:xfrm>
              <a:custGeom>
                <a:avLst/>
                <a:gdLst>
                  <a:gd name="T0" fmla="*/ 0 w 291"/>
                  <a:gd name="T1" fmla="*/ 0 h 291"/>
                  <a:gd name="T2" fmla="*/ 0 w 291"/>
                  <a:gd name="T3" fmla="*/ 0 h 291"/>
                  <a:gd name="T4" fmla="*/ 0 w 291"/>
                  <a:gd name="T5" fmla="*/ 0 h 291"/>
                  <a:gd name="T6" fmla="*/ 0 w 291"/>
                  <a:gd name="T7" fmla="*/ 0 h 291"/>
                  <a:gd name="T8" fmla="*/ 0 w 291"/>
                  <a:gd name="T9" fmla="*/ 0 h 291"/>
                  <a:gd name="T10" fmla="*/ 0 w 291"/>
                  <a:gd name="T11" fmla="*/ 0 h 291"/>
                  <a:gd name="T12" fmla="*/ 0 w 291"/>
                  <a:gd name="T13" fmla="*/ 0 h 291"/>
                  <a:gd name="T14" fmla="*/ 0 w 291"/>
                  <a:gd name="T15" fmla="*/ 0 h 291"/>
                  <a:gd name="T16" fmla="*/ 0 w 291"/>
                  <a:gd name="T17" fmla="*/ 0 h 291"/>
                  <a:gd name="T18" fmla="*/ 0 w 291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1"/>
                  <a:gd name="T32" fmla="*/ 291 w 291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1">
                    <a:moveTo>
                      <a:pt x="290" y="146"/>
                    </a:moveTo>
                    <a:lnTo>
                      <a:pt x="248" y="43"/>
                    </a:lnTo>
                    <a:lnTo>
                      <a:pt x="144" y="0"/>
                    </a:lnTo>
                    <a:lnTo>
                      <a:pt x="42" y="43"/>
                    </a:lnTo>
                    <a:lnTo>
                      <a:pt x="0" y="146"/>
                    </a:lnTo>
                    <a:lnTo>
                      <a:pt x="42" y="248"/>
                    </a:lnTo>
                    <a:lnTo>
                      <a:pt x="144" y="291"/>
                    </a:lnTo>
                    <a:lnTo>
                      <a:pt x="248" y="248"/>
                    </a:lnTo>
                    <a:lnTo>
                      <a:pt x="290" y="146"/>
                    </a:lnTo>
                    <a:lnTo>
                      <a:pt x="291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Freeform 132"/>
              <p:cNvSpPr>
                <a:spLocks/>
              </p:cNvSpPr>
              <p:nvPr/>
            </p:nvSpPr>
            <p:spPr bwMode="auto">
              <a:xfrm>
                <a:off x="3145" y="1844"/>
                <a:ext cx="73" cy="73"/>
              </a:xfrm>
              <a:custGeom>
                <a:avLst/>
                <a:gdLst>
                  <a:gd name="T0" fmla="*/ 0 w 292"/>
                  <a:gd name="T1" fmla="*/ 0 h 290"/>
                  <a:gd name="T2" fmla="*/ 0 w 292"/>
                  <a:gd name="T3" fmla="*/ 0 h 290"/>
                  <a:gd name="T4" fmla="*/ 0 w 292"/>
                  <a:gd name="T5" fmla="*/ 0 h 290"/>
                  <a:gd name="T6" fmla="*/ 0 w 292"/>
                  <a:gd name="T7" fmla="*/ 0 h 290"/>
                  <a:gd name="T8" fmla="*/ 0 w 292"/>
                  <a:gd name="T9" fmla="*/ 0 h 290"/>
                  <a:gd name="T10" fmla="*/ 0 w 292"/>
                  <a:gd name="T11" fmla="*/ 0 h 290"/>
                  <a:gd name="T12" fmla="*/ 0 w 292"/>
                  <a:gd name="T13" fmla="*/ 0 h 290"/>
                  <a:gd name="T14" fmla="*/ 0 w 292"/>
                  <a:gd name="T15" fmla="*/ 0 h 290"/>
                  <a:gd name="T16" fmla="*/ 0 w 292"/>
                  <a:gd name="T17" fmla="*/ 0 h 290"/>
                  <a:gd name="T18" fmla="*/ 0 w 292"/>
                  <a:gd name="T19" fmla="*/ 0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0" y="144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3" y="42"/>
                    </a:lnTo>
                    <a:lnTo>
                      <a:pt x="0" y="144"/>
                    </a:lnTo>
                    <a:lnTo>
                      <a:pt x="43" y="247"/>
                    </a:lnTo>
                    <a:lnTo>
                      <a:pt x="146" y="290"/>
                    </a:lnTo>
                    <a:lnTo>
                      <a:pt x="248" y="247"/>
                    </a:lnTo>
                    <a:lnTo>
                      <a:pt x="290" y="144"/>
                    </a:lnTo>
                    <a:lnTo>
                      <a:pt x="292" y="14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Freeform 133"/>
              <p:cNvSpPr>
                <a:spLocks/>
              </p:cNvSpPr>
              <p:nvPr/>
            </p:nvSpPr>
            <p:spPr bwMode="auto">
              <a:xfrm>
                <a:off x="3145" y="2053"/>
                <a:ext cx="73" cy="73"/>
              </a:xfrm>
              <a:custGeom>
                <a:avLst/>
                <a:gdLst>
                  <a:gd name="T0" fmla="*/ 0 w 292"/>
                  <a:gd name="T1" fmla="*/ 0 h 292"/>
                  <a:gd name="T2" fmla="*/ 0 w 292"/>
                  <a:gd name="T3" fmla="*/ 0 h 292"/>
                  <a:gd name="T4" fmla="*/ 0 w 292"/>
                  <a:gd name="T5" fmla="*/ 0 h 292"/>
                  <a:gd name="T6" fmla="*/ 0 w 292"/>
                  <a:gd name="T7" fmla="*/ 0 h 292"/>
                  <a:gd name="T8" fmla="*/ 0 w 292"/>
                  <a:gd name="T9" fmla="*/ 0 h 292"/>
                  <a:gd name="T10" fmla="*/ 0 w 292"/>
                  <a:gd name="T11" fmla="*/ 0 h 292"/>
                  <a:gd name="T12" fmla="*/ 0 w 292"/>
                  <a:gd name="T13" fmla="*/ 0 h 292"/>
                  <a:gd name="T14" fmla="*/ 0 w 292"/>
                  <a:gd name="T15" fmla="*/ 0 h 292"/>
                  <a:gd name="T16" fmla="*/ 0 w 292"/>
                  <a:gd name="T17" fmla="*/ 0 h 292"/>
                  <a:gd name="T18" fmla="*/ 0 w 292"/>
                  <a:gd name="T19" fmla="*/ 0 h 2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2"/>
                  <a:gd name="T32" fmla="*/ 292 w 292"/>
                  <a:gd name="T33" fmla="*/ 292 h 2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2">
                    <a:moveTo>
                      <a:pt x="290" y="146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6" y="292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Freeform 134"/>
              <p:cNvSpPr>
                <a:spLocks/>
              </p:cNvSpPr>
              <p:nvPr/>
            </p:nvSpPr>
            <p:spPr bwMode="auto">
              <a:xfrm>
                <a:off x="3206" y="1949"/>
                <a:ext cx="73" cy="72"/>
              </a:xfrm>
              <a:custGeom>
                <a:avLst/>
                <a:gdLst>
                  <a:gd name="T0" fmla="*/ 0 w 291"/>
                  <a:gd name="T1" fmla="*/ 0 h 291"/>
                  <a:gd name="T2" fmla="*/ 0 w 291"/>
                  <a:gd name="T3" fmla="*/ 0 h 291"/>
                  <a:gd name="T4" fmla="*/ 0 w 291"/>
                  <a:gd name="T5" fmla="*/ 0 h 291"/>
                  <a:gd name="T6" fmla="*/ 0 w 291"/>
                  <a:gd name="T7" fmla="*/ 0 h 291"/>
                  <a:gd name="T8" fmla="*/ 0 w 291"/>
                  <a:gd name="T9" fmla="*/ 0 h 291"/>
                  <a:gd name="T10" fmla="*/ 0 w 291"/>
                  <a:gd name="T11" fmla="*/ 0 h 291"/>
                  <a:gd name="T12" fmla="*/ 0 w 291"/>
                  <a:gd name="T13" fmla="*/ 0 h 291"/>
                  <a:gd name="T14" fmla="*/ 0 w 291"/>
                  <a:gd name="T15" fmla="*/ 0 h 291"/>
                  <a:gd name="T16" fmla="*/ 0 w 291"/>
                  <a:gd name="T17" fmla="*/ 0 h 291"/>
                  <a:gd name="T18" fmla="*/ 0 w 291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1"/>
                  <a:gd name="T32" fmla="*/ 291 w 291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4" y="0"/>
                    </a:lnTo>
                    <a:lnTo>
                      <a:pt x="42" y="43"/>
                    </a:lnTo>
                    <a:lnTo>
                      <a:pt x="0" y="145"/>
                    </a:lnTo>
                    <a:lnTo>
                      <a:pt x="42" y="248"/>
                    </a:lnTo>
                    <a:lnTo>
                      <a:pt x="144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1" y="14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9" name="Freeform 135"/>
              <p:cNvSpPr>
                <a:spLocks/>
              </p:cNvSpPr>
              <p:nvPr/>
            </p:nvSpPr>
            <p:spPr bwMode="auto">
              <a:xfrm>
                <a:off x="3206" y="2158"/>
                <a:ext cx="73" cy="73"/>
              </a:xfrm>
              <a:custGeom>
                <a:avLst/>
                <a:gdLst>
                  <a:gd name="T0" fmla="*/ 0 w 291"/>
                  <a:gd name="T1" fmla="*/ 0 h 292"/>
                  <a:gd name="T2" fmla="*/ 0 w 291"/>
                  <a:gd name="T3" fmla="*/ 0 h 292"/>
                  <a:gd name="T4" fmla="*/ 0 w 291"/>
                  <a:gd name="T5" fmla="*/ 0 h 292"/>
                  <a:gd name="T6" fmla="*/ 0 w 291"/>
                  <a:gd name="T7" fmla="*/ 0 h 292"/>
                  <a:gd name="T8" fmla="*/ 0 w 291"/>
                  <a:gd name="T9" fmla="*/ 0 h 292"/>
                  <a:gd name="T10" fmla="*/ 0 w 291"/>
                  <a:gd name="T11" fmla="*/ 0 h 292"/>
                  <a:gd name="T12" fmla="*/ 0 w 291"/>
                  <a:gd name="T13" fmla="*/ 0 h 292"/>
                  <a:gd name="T14" fmla="*/ 0 w 291"/>
                  <a:gd name="T15" fmla="*/ 0 h 292"/>
                  <a:gd name="T16" fmla="*/ 0 w 291"/>
                  <a:gd name="T17" fmla="*/ 0 h 292"/>
                  <a:gd name="T18" fmla="*/ 0 w 291"/>
                  <a:gd name="T19" fmla="*/ 0 h 2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2"/>
                  <a:gd name="T32" fmla="*/ 291 w 291"/>
                  <a:gd name="T33" fmla="*/ 292 h 2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2">
                    <a:moveTo>
                      <a:pt x="290" y="146"/>
                    </a:moveTo>
                    <a:lnTo>
                      <a:pt x="248" y="42"/>
                    </a:lnTo>
                    <a:lnTo>
                      <a:pt x="144" y="0"/>
                    </a:lnTo>
                    <a:lnTo>
                      <a:pt x="42" y="42"/>
                    </a:lnTo>
                    <a:lnTo>
                      <a:pt x="0" y="146"/>
                    </a:lnTo>
                    <a:lnTo>
                      <a:pt x="42" y="249"/>
                    </a:lnTo>
                    <a:lnTo>
                      <a:pt x="144" y="292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1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Freeform 136"/>
              <p:cNvSpPr>
                <a:spLocks/>
              </p:cNvSpPr>
              <p:nvPr/>
            </p:nvSpPr>
            <p:spPr bwMode="auto">
              <a:xfrm>
                <a:off x="3266" y="2263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5" y="291"/>
                    </a:lnTo>
                    <a:lnTo>
                      <a:pt x="248" y="248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1" name="Freeform 137"/>
              <p:cNvSpPr>
                <a:spLocks/>
              </p:cNvSpPr>
              <p:nvPr/>
            </p:nvSpPr>
            <p:spPr bwMode="auto">
              <a:xfrm>
                <a:off x="3326" y="2368"/>
                <a:ext cx="73" cy="73"/>
              </a:xfrm>
              <a:custGeom>
                <a:avLst/>
                <a:gdLst>
                  <a:gd name="T0" fmla="*/ 0 w 292"/>
                  <a:gd name="T1" fmla="*/ 0 h 290"/>
                  <a:gd name="T2" fmla="*/ 0 w 292"/>
                  <a:gd name="T3" fmla="*/ 0 h 290"/>
                  <a:gd name="T4" fmla="*/ 0 w 292"/>
                  <a:gd name="T5" fmla="*/ 0 h 290"/>
                  <a:gd name="T6" fmla="*/ 0 w 292"/>
                  <a:gd name="T7" fmla="*/ 0 h 290"/>
                  <a:gd name="T8" fmla="*/ 0 w 292"/>
                  <a:gd name="T9" fmla="*/ 0 h 290"/>
                  <a:gd name="T10" fmla="*/ 0 w 292"/>
                  <a:gd name="T11" fmla="*/ 0 h 290"/>
                  <a:gd name="T12" fmla="*/ 0 w 292"/>
                  <a:gd name="T13" fmla="*/ 0 h 290"/>
                  <a:gd name="T14" fmla="*/ 0 w 292"/>
                  <a:gd name="T15" fmla="*/ 0 h 290"/>
                  <a:gd name="T16" fmla="*/ 0 w 292"/>
                  <a:gd name="T17" fmla="*/ 0 h 290"/>
                  <a:gd name="T18" fmla="*/ 0 w 292"/>
                  <a:gd name="T19" fmla="*/ 0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1" y="146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6" y="290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2" name="Freeform 138"/>
              <p:cNvSpPr>
                <a:spLocks/>
              </p:cNvSpPr>
              <p:nvPr/>
            </p:nvSpPr>
            <p:spPr bwMode="auto">
              <a:xfrm>
                <a:off x="3447" y="2368"/>
                <a:ext cx="73" cy="73"/>
              </a:xfrm>
              <a:custGeom>
                <a:avLst/>
                <a:gdLst>
                  <a:gd name="T0" fmla="*/ 0 w 292"/>
                  <a:gd name="T1" fmla="*/ 0 h 290"/>
                  <a:gd name="T2" fmla="*/ 0 w 292"/>
                  <a:gd name="T3" fmla="*/ 0 h 290"/>
                  <a:gd name="T4" fmla="*/ 0 w 292"/>
                  <a:gd name="T5" fmla="*/ 0 h 290"/>
                  <a:gd name="T6" fmla="*/ 0 w 292"/>
                  <a:gd name="T7" fmla="*/ 0 h 290"/>
                  <a:gd name="T8" fmla="*/ 0 w 292"/>
                  <a:gd name="T9" fmla="*/ 0 h 290"/>
                  <a:gd name="T10" fmla="*/ 0 w 292"/>
                  <a:gd name="T11" fmla="*/ 0 h 290"/>
                  <a:gd name="T12" fmla="*/ 0 w 292"/>
                  <a:gd name="T13" fmla="*/ 0 h 290"/>
                  <a:gd name="T14" fmla="*/ 0 w 292"/>
                  <a:gd name="T15" fmla="*/ 0 h 290"/>
                  <a:gd name="T16" fmla="*/ 0 w 292"/>
                  <a:gd name="T17" fmla="*/ 0 h 290"/>
                  <a:gd name="T18" fmla="*/ 0 w 292"/>
                  <a:gd name="T19" fmla="*/ 0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1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5" y="290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" name="Freeform 139"/>
              <p:cNvSpPr>
                <a:spLocks/>
              </p:cNvSpPr>
              <p:nvPr/>
            </p:nvSpPr>
            <p:spPr bwMode="auto">
              <a:xfrm>
                <a:off x="3508" y="2473"/>
                <a:ext cx="73" cy="72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2" y="43"/>
                    </a:lnTo>
                    <a:lnTo>
                      <a:pt x="0" y="145"/>
                    </a:lnTo>
                    <a:lnTo>
                      <a:pt x="42" y="248"/>
                    </a:lnTo>
                    <a:lnTo>
                      <a:pt x="146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" name="Freeform 140"/>
              <p:cNvSpPr>
                <a:spLocks/>
              </p:cNvSpPr>
              <p:nvPr/>
            </p:nvSpPr>
            <p:spPr bwMode="auto">
              <a:xfrm>
                <a:off x="3629" y="2473"/>
                <a:ext cx="73" cy="72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4" y="0"/>
                    </a:lnTo>
                    <a:lnTo>
                      <a:pt x="43" y="43"/>
                    </a:lnTo>
                    <a:lnTo>
                      <a:pt x="0" y="145"/>
                    </a:lnTo>
                    <a:lnTo>
                      <a:pt x="43" y="248"/>
                    </a:lnTo>
                    <a:lnTo>
                      <a:pt x="144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" name="Freeform 141"/>
              <p:cNvSpPr>
                <a:spLocks/>
              </p:cNvSpPr>
              <p:nvPr/>
            </p:nvSpPr>
            <p:spPr bwMode="auto">
              <a:xfrm>
                <a:off x="3750" y="2473"/>
                <a:ext cx="73" cy="72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5"/>
                    </a:lnTo>
                    <a:lnTo>
                      <a:pt x="43" y="248"/>
                    </a:lnTo>
                    <a:lnTo>
                      <a:pt x="145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Freeform 142"/>
              <p:cNvSpPr>
                <a:spLocks/>
              </p:cNvSpPr>
              <p:nvPr/>
            </p:nvSpPr>
            <p:spPr bwMode="auto">
              <a:xfrm>
                <a:off x="3870" y="2473"/>
                <a:ext cx="73" cy="72"/>
              </a:xfrm>
              <a:custGeom>
                <a:avLst/>
                <a:gdLst>
                  <a:gd name="T0" fmla="*/ 0 w 291"/>
                  <a:gd name="T1" fmla="*/ 0 h 291"/>
                  <a:gd name="T2" fmla="*/ 0 w 291"/>
                  <a:gd name="T3" fmla="*/ 0 h 291"/>
                  <a:gd name="T4" fmla="*/ 0 w 291"/>
                  <a:gd name="T5" fmla="*/ 0 h 291"/>
                  <a:gd name="T6" fmla="*/ 0 w 291"/>
                  <a:gd name="T7" fmla="*/ 0 h 291"/>
                  <a:gd name="T8" fmla="*/ 0 w 291"/>
                  <a:gd name="T9" fmla="*/ 0 h 291"/>
                  <a:gd name="T10" fmla="*/ 0 w 291"/>
                  <a:gd name="T11" fmla="*/ 0 h 291"/>
                  <a:gd name="T12" fmla="*/ 0 w 291"/>
                  <a:gd name="T13" fmla="*/ 0 h 291"/>
                  <a:gd name="T14" fmla="*/ 0 w 291"/>
                  <a:gd name="T15" fmla="*/ 0 h 291"/>
                  <a:gd name="T16" fmla="*/ 0 w 291"/>
                  <a:gd name="T17" fmla="*/ 0 h 291"/>
                  <a:gd name="T18" fmla="*/ 0 w 291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1"/>
                  <a:gd name="T32" fmla="*/ 291 w 291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2" y="43"/>
                    </a:lnTo>
                    <a:lnTo>
                      <a:pt x="0" y="145"/>
                    </a:lnTo>
                    <a:lnTo>
                      <a:pt x="42" y="248"/>
                    </a:lnTo>
                    <a:lnTo>
                      <a:pt x="146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1" y="14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7" name="Freeform 143"/>
              <p:cNvSpPr>
                <a:spLocks/>
              </p:cNvSpPr>
              <p:nvPr/>
            </p:nvSpPr>
            <p:spPr bwMode="auto">
              <a:xfrm>
                <a:off x="3931" y="2368"/>
                <a:ext cx="73" cy="73"/>
              </a:xfrm>
              <a:custGeom>
                <a:avLst/>
                <a:gdLst>
                  <a:gd name="T0" fmla="*/ 0 w 292"/>
                  <a:gd name="T1" fmla="*/ 0 h 290"/>
                  <a:gd name="T2" fmla="*/ 0 w 292"/>
                  <a:gd name="T3" fmla="*/ 0 h 290"/>
                  <a:gd name="T4" fmla="*/ 0 w 292"/>
                  <a:gd name="T5" fmla="*/ 0 h 290"/>
                  <a:gd name="T6" fmla="*/ 0 w 292"/>
                  <a:gd name="T7" fmla="*/ 0 h 290"/>
                  <a:gd name="T8" fmla="*/ 0 w 292"/>
                  <a:gd name="T9" fmla="*/ 0 h 290"/>
                  <a:gd name="T10" fmla="*/ 0 w 292"/>
                  <a:gd name="T11" fmla="*/ 0 h 290"/>
                  <a:gd name="T12" fmla="*/ 0 w 292"/>
                  <a:gd name="T13" fmla="*/ 0 h 290"/>
                  <a:gd name="T14" fmla="*/ 0 w 292"/>
                  <a:gd name="T15" fmla="*/ 0 h 290"/>
                  <a:gd name="T16" fmla="*/ 0 w 292"/>
                  <a:gd name="T17" fmla="*/ 0 h 290"/>
                  <a:gd name="T18" fmla="*/ 0 w 292"/>
                  <a:gd name="T19" fmla="*/ 0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1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5" y="290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8" name="Freeform 144"/>
              <p:cNvSpPr>
                <a:spLocks/>
              </p:cNvSpPr>
              <p:nvPr/>
            </p:nvSpPr>
            <p:spPr bwMode="auto">
              <a:xfrm>
                <a:off x="4052" y="2368"/>
                <a:ext cx="73" cy="73"/>
              </a:xfrm>
              <a:custGeom>
                <a:avLst/>
                <a:gdLst>
                  <a:gd name="T0" fmla="*/ 0 w 292"/>
                  <a:gd name="T1" fmla="*/ 0 h 290"/>
                  <a:gd name="T2" fmla="*/ 0 w 292"/>
                  <a:gd name="T3" fmla="*/ 0 h 290"/>
                  <a:gd name="T4" fmla="*/ 0 w 292"/>
                  <a:gd name="T5" fmla="*/ 0 h 290"/>
                  <a:gd name="T6" fmla="*/ 0 w 292"/>
                  <a:gd name="T7" fmla="*/ 0 h 290"/>
                  <a:gd name="T8" fmla="*/ 0 w 292"/>
                  <a:gd name="T9" fmla="*/ 0 h 290"/>
                  <a:gd name="T10" fmla="*/ 0 w 292"/>
                  <a:gd name="T11" fmla="*/ 0 h 290"/>
                  <a:gd name="T12" fmla="*/ 0 w 292"/>
                  <a:gd name="T13" fmla="*/ 0 h 290"/>
                  <a:gd name="T14" fmla="*/ 0 w 292"/>
                  <a:gd name="T15" fmla="*/ 0 h 290"/>
                  <a:gd name="T16" fmla="*/ 0 w 292"/>
                  <a:gd name="T17" fmla="*/ 0 h 290"/>
                  <a:gd name="T18" fmla="*/ 0 w 292"/>
                  <a:gd name="T19" fmla="*/ 0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1" y="146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6" y="290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" name="Freeform 145"/>
              <p:cNvSpPr>
                <a:spLocks/>
              </p:cNvSpPr>
              <p:nvPr/>
            </p:nvSpPr>
            <p:spPr bwMode="auto">
              <a:xfrm>
                <a:off x="4112" y="2263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3"/>
                    </a:lnTo>
                    <a:lnTo>
                      <a:pt x="144" y="0"/>
                    </a:lnTo>
                    <a:lnTo>
                      <a:pt x="42" y="43"/>
                    </a:lnTo>
                    <a:lnTo>
                      <a:pt x="0" y="146"/>
                    </a:lnTo>
                    <a:lnTo>
                      <a:pt x="42" y="248"/>
                    </a:lnTo>
                    <a:lnTo>
                      <a:pt x="144" y="291"/>
                    </a:lnTo>
                    <a:lnTo>
                      <a:pt x="248" y="248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" name="Freeform 146"/>
              <p:cNvSpPr>
                <a:spLocks/>
              </p:cNvSpPr>
              <p:nvPr/>
            </p:nvSpPr>
            <p:spPr bwMode="auto">
              <a:xfrm>
                <a:off x="4173" y="2158"/>
                <a:ext cx="73" cy="73"/>
              </a:xfrm>
              <a:custGeom>
                <a:avLst/>
                <a:gdLst>
                  <a:gd name="T0" fmla="*/ 0 w 292"/>
                  <a:gd name="T1" fmla="*/ 0 h 292"/>
                  <a:gd name="T2" fmla="*/ 0 w 292"/>
                  <a:gd name="T3" fmla="*/ 0 h 292"/>
                  <a:gd name="T4" fmla="*/ 0 w 292"/>
                  <a:gd name="T5" fmla="*/ 0 h 292"/>
                  <a:gd name="T6" fmla="*/ 0 w 292"/>
                  <a:gd name="T7" fmla="*/ 0 h 292"/>
                  <a:gd name="T8" fmla="*/ 0 w 292"/>
                  <a:gd name="T9" fmla="*/ 0 h 292"/>
                  <a:gd name="T10" fmla="*/ 0 w 292"/>
                  <a:gd name="T11" fmla="*/ 0 h 292"/>
                  <a:gd name="T12" fmla="*/ 0 w 292"/>
                  <a:gd name="T13" fmla="*/ 0 h 292"/>
                  <a:gd name="T14" fmla="*/ 0 w 292"/>
                  <a:gd name="T15" fmla="*/ 0 h 292"/>
                  <a:gd name="T16" fmla="*/ 0 w 292"/>
                  <a:gd name="T17" fmla="*/ 0 h 292"/>
                  <a:gd name="T18" fmla="*/ 0 w 292"/>
                  <a:gd name="T19" fmla="*/ 0 h 2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2"/>
                  <a:gd name="T32" fmla="*/ 292 w 292"/>
                  <a:gd name="T33" fmla="*/ 292 h 2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2">
                    <a:moveTo>
                      <a:pt x="291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5" y="292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1" name="Freeform 147"/>
              <p:cNvSpPr>
                <a:spLocks/>
              </p:cNvSpPr>
              <p:nvPr/>
            </p:nvSpPr>
            <p:spPr bwMode="auto">
              <a:xfrm>
                <a:off x="4233" y="2053"/>
                <a:ext cx="73" cy="73"/>
              </a:xfrm>
              <a:custGeom>
                <a:avLst/>
                <a:gdLst>
                  <a:gd name="T0" fmla="*/ 0 w 291"/>
                  <a:gd name="T1" fmla="*/ 0 h 292"/>
                  <a:gd name="T2" fmla="*/ 0 w 291"/>
                  <a:gd name="T3" fmla="*/ 0 h 292"/>
                  <a:gd name="T4" fmla="*/ 0 w 291"/>
                  <a:gd name="T5" fmla="*/ 0 h 292"/>
                  <a:gd name="T6" fmla="*/ 0 w 291"/>
                  <a:gd name="T7" fmla="*/ 0 h 292"/>
                  <a:gd name="T8" fmla="*/ 0 w 291"/>
                  <a:gd name="T9" fmla="*/ 0 h 292"/>
                  <a:gd name="T10" fmla="*/ 0 w 291"/>
                  <a:gd name="T11" fmla="*/ 0 h 292"/>
                  <a:gd name="T12" fmla="*/ 0 w 291"/>
                  <a:gd name="T13" fmla="*/ 0 h 292"/>
                  <a:gd name="T14" fmla="*/ 0 w 291"/>
                  <a:gd name="T15" fmla="*/ 0 h 292"/>
                  <a:gd name="T16" fmla="*/ 0 w 291"/>
                  <a:gd name="T17" fmla="*/ 0 h 292"/>
                  <a:gd name="T18" fmla="*/ 0 w 291"/>
                  <a:gd name="T19" fmla="*/ 0 h 2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2"/>
                  <a:gd name="T32" fmla="*/ 291 w 291"/>
                  <a:gd name="T33" fmla="*/ 292 h 2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2">
                    <a:moveTo>
                      <a:pt x="290" y="146"/>
                    </a:moveTo>
                    <a:lnTo>
                      <a:pt x="247" y="43"/>
                    </a:lnTo>
                    <a:lnTo>
                      <a:pt x="145" y="0"/>
                    </a:lnTo>
                    <a:lnTo>
                      <a:pt x="42" y="43"/>
                    </a:lnTo>
                    <a:lnTo>
                      <a:pt x="0" y="146"/>
                    </a:lnTo>
                    <a:lnTo>
                      <a:pt x="42" y="249"/>
                    </a:lnTo>
                    <a:lnTo>
                      <a:pt x="145" y="292"/>
                    </a:lnTo>
                    <a:lnTo>
                      <a:pt x="247" y="249"/>
                    </a:lnTo>
                    <a:lnTo>
                      <a:pt x="290" y="146"/>
                    </a:lnTo>
                    <a:lnTo>
                      <a:pt x="291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Freeform 148"/>
              <p:cNvSpPr>
                <a:spLocks/>
              </p:cNvSpPr>
              <p:nvPr/>
            </p:nvSpPr>
            <p:spPr bwMode="auto">
              <a:xfrm>
                <a:off x="4233" y="1844"/>
                <a:ext cx="73" cy="73"/>
              </a:xfrm>
              <a:custGeom>
                <a:avLst/>
                <a:gdLst>
                  <a:gd name="T0" fmla="*/ 0 w 291"/>
                  <a:gd name="T1" fmla="*/ 0 h 290"/>
                  <a:gd name="T2" fmla="*/ 0 w 291"/>
                  <a:gd name="T3" fmla="*/ 0 h 290"/>
                  <a:gd name="T4" fmla="*/ 0 w 291"/>
                  <a:gd name="T5" fmla="*/ 0 h 290"/>
                  <a:gd name="T6" fmla="*/ 0 w 291"/>
                  <a:gd name="T7" fmla="*/ 0 h 290"/>
                  <a:gd name="T8" fmla="*/ 0 w 291"/>
                  <a:gd name="T9" fmla="*/ 0 h 290"/>
                  <a:gd name="T10" fmla="*/ 0 w 291"/>
                  <a:gd name="T11" fmla="*/ 0 h 290"/>
                  <a:gd name="T12" fmla="*/ 0 w 291"/>
                  <a:gd name="T13" fmla="*/ 0 h 290"/>
                  <a:gd name="T14" fmla="*/ 0 w 291"/>
                  <a:gd name="T15" fmla="*/ 0 h 290"/>
                  <a:gd name="T16" fmla="*/ 0 w 291"/>
                  <a:gd name="T17" fmla="*/ 0 h 290"/>
                  <a:gd name="T18" fmla="*/ 0 w 291"/>
                  <a:gd name="T19" fmla="*/ 0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0"/>
                  <a:gd name="T32" fmla="*/ 291 w 291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0">
                    <a:moveTo>
                      <a:pt x="290" y="144"/>
                    </a:moveTo>
                    <a:lnTo>
                      <a:pt x="247" y="42"/>
                    </a:lnTo>
                    <a:lnTo>
                      <a:pt x="145" y="0"/>
                    </a:lnTo>
                    <a:lnTo>
                      <a:pt x="42" y="42"/>
                    </a:lnTo>
                    <a:lnTo>
                      <a:pt x="0" y="144"/>
                    </a:lnTo>
                    <a:lnTo>
                      <a:pt x="42" y="247"/>
                    </a:lnTo>
                    <a:lnTo>
                      <a:pt x="145" y="290"/>
                    </a:lnTo>
                    <a:lnTo>
                      <a:pt x="247" y="247"/>
                    </a:lnTo>
                    <a:lnTo>
                      <a:pt x="290" y="144"/>
                    </a:lnTo>
                    <a:lnTo>
                      <a:pt x="291" y="14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3" name="Freeform 149"/>
              <p:cNvSpPr>
                <a:spLocks/>
              </p:cNvSpPr>
              <p:nvPr/>
            </p:nvSpPr>
            <p:spPr bwMode="auto">
              <a:xfrm>
                <a:off x="4173" y="1739"/>
                <a:ext cx="73" cy="73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5" y="291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Freeform 150"/>
              <p:cNvSpPr>
                <a:spLocks/>
              </p:cNvSpPr>
              <p:nvPr/>
            </p:nvSpPr>
            <p:spPr bwMode="auto">
              <a:xfrm>
                <a:off x="4112" y="1634"/>
                <a:ext cx="73" cy="73"/>
              </a:xfrm>
              <a:custGeom>
                <a:avLst/>
                <a:gdLst>
                  <a:gd name="T0" fmla="*/ 0 w 292"/>
                  <a:gd name="T1" fmla="*/ 0 h 290"/>
                  <a:gd name="T2" fmla="*/ 0 w 292"/>
                  <a:gd name="T3" fmla="*/ 0 h 290"/>
                  <a:gd name="T4" fmla="*/ 0 w 292"/>
                  <a:gd name="T5" fmla="*/ 0 h 290"/>
                  <a:gd name="T6" fmla="*/ 0 w 292"/>
                  <a:gd name="T7" fmla="*/ 0 h 290"/>
                  <a:gd name="T8" fmla="*/ 0 w 292"/>
                  <a:gd name="T9" fmla="*/ 0 h 290"/>
                  <a:gd name="T10" fmla="*/ 0 w 292"/>
                  <a:gd name="T11" fmla="*/ 0 h 290"/>
                  <a:gd name="T12" fmla="*/ 0 w 292"/>
                  <a:gd name="T13" fmla="*/ 0 h 290"/>
                  <a:gd name="T14" fmla="*/ 0 w 292"/>
                  <a:gd name="T15" fmla="*/ 0 h 290"/>
                  <a:gd name="T16" fmla="*/ 0 w 292"/>
                  <a:gd name="T17" fmla="*/ 0 h 290"/>
                  <a:gd name="T18" fmla="*/ 0 w 292"/>
                  <a:gd name="T19" fmla="*/ 0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0" y="146"/>
                    </a:moveTo>
                    <a:lnTo>
                      <a:pt x="248" y="42"/>
                    </a:lnTo>
                    <a:lnTo>
                      <a:pt x="144" y="0"/>
                    </a:lnTo>
                    <a:lnTo>
                      <a:pt x="42" y="42"/>
                    </a:lnTo>
                    <a:lnTo>
                      <a:pt x="0" y="146"/>
                    </a:lnTo>
                    <a:lnTo>
                      <a:pt x="42" y="247"/>
                    </a:lnTo>
                    <a:lnTo>
                      <a:pt x="144" y="290"/>
                    </a:lnTo>
                    <a:lnTo>
                      <a:pt x="248" y="247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Freeform 151"/>
              <p:cNvSpPr>
                <a:spLocks/>
              </p:cNvSpPr>
              <p:nvPr/>
            </p:nvSpPr>
            <p:spPr bwMode="auto">
              <a:xfrm>
                <a:off x="3689" y="1949"/>
                <a:ext cx="73" cy="72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5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3" y="43"/>
                    </a:lnTo>
                    <a:lnTo>
                      <a:pt x="0" y="145"/>
                    </a:lnTo>
                    <a:lnTo>
                      <a:pt x="43" y="248"/>
                    </a:lnTo>
                    <a:lnTo>
                      <a:pt x="146" y="291"/>
                    </a:lnTo>
                    <a:lnTo>
                      <a:pt x="248" y="248"/>
                    </a:lnTo>
                    <a:lnTo>
                      <a:pt x="291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" name="Freeform 152"/>
              <p:cNvSpPr>
                <a:spLocks/>
              </p:cNvSpPr>
              <p:nvPr/>
            </p:nvSpPr>
            <p:spPr bwMode="auto">
              <a:xfrm>
                <a:off x="4173" y="1949"/>
                <a:ext cx="73" cy="72"/>
              </a:xfrm>
              <a:custGeom>
                <a:avLst/>
                <a:gdLst>
                  <a:gd name="T0" fmla="*/ 0 w 292"/>
                  <a:gd name="T1" fmla="*/ 0 h 291"/>
                  <a:gd name="T2" fmla="*/ 0 w 292"/>
                  <a:gd name="T3" fmla="*/ 0 h 291"/>
                  <a:gd name="T4" fmla="*/ 0 w 292"/>
                  <a:gd name="T5" fmla="*/ 0 h 291"/>
                  <a:gd name="T6" fmla="*/ 0 w 292"/>
                  <a:gd name="T7" fmla="*/ 0 h 291"/>
                  <a:gd name="T8" fmla="*/ 0 w 292"/>
                  <a:gd name="T9" fmla="*/ 0 h 291"/>
                  <a:gd name="T10" fmla="*/ 0 w 292"/>
                  <a:gd name="T11" fmla="*/ 0 h 291"/>
                  <a:gd name="T12" fmla="*/ 0 w 292"/>
                  <a:gd name="T13" fmla="*/ 0 h 291"/>
                  <a:gd name="T14" fmla="*/ 0 w 292"/>
                  <a:gd name="T15" fmla="*/ 0 h 291"/>
                  <a:gd name="T16" fmla="*/ 0 w 292"/>
                  <a:gd name="T17" fmla="*/ 0 h 291"/>
                  <a:gd name="T18" fmla="*/ 0 w 292"/>
                  <a:gd name="T19" fmla="*/ 0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5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5"/>
                    </a:lnTo>
                    <a:lnTo>
                      <a:pt x="43" y="248"/>
                    </a:lnTo>
                    <a:lnTo>
                      <a:pt x="145" y="291"/>
                    </a:lnTo>
                    <a:lnTo>
                      <a:pt x="248" y="248"/>
                    </a:lnTo>
                    <a:lnTo>
                      <a:pt x="291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7" name="Freeform 153"/>
              <p:cNvSpPr>
                <a:spLocks/>
              </p:cNvSpPr>
              <p:nvPr/>
            </p:nvSpPr>
            <p:spPr bwMode="auto">
              <a:xfrm>
                <a:off x="3471" y="1461"/>
                <a:ext cx="518" cy="1"/>
              </a:xfrm>
              <a:custGeom>
                <a:avLst/>
                <a:gdLst>
                  <a:gd name="T0" fmla="*/ 0 w 2070"/>
                  <a:gd name="T1" fmla="*/ 0 h 1"/>
                  <a:gd name="T2" fmla="*/ 0 w 2070"/>
                  <a:gd name="T3" fmla="*/ 0 h 1"/>
                  <a:gd name="T4" fmla="*/ 0 w 207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070"/>
                  <a:gd name="T10" fmla="*/ 0 h 1"/>
                  <a:gd name="T11" fmla="*/ 2070 w 207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70" h="1">
                    <a:moveTo>
                      <a:pt x="0" y="0"/>
                    </a:moveTo>
                    <a:lnTo>
                      <a:pt x="2069" y="0"/>
                    </a:lnTo>
                    <a:lnTo>
                      <a:pt x="2070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Freeform 154"/>
              <p:cNvSpPr>
                <a:spLocks/>
              </p:cNvSpPr>
              <p:nvPr/>
            </p:nvSpPr>
            <p:spPr bwMode="auto">
              <a:xfrm>
                <a:off x="3290" y="1566"/>
                <a:ext cx="866" cy="1"/>
              </a:xfrm>
              <a:custGeom>
                <a:avLst/>
                <a:gdLst>
                  <a:gd name="T0" fmla="*/ 0 w 3465"/>
                  <a:gd name="T1" fmla="*/ 0 h 1"/>
                  <a:gd name="T2" fmla="*/ 0 w 3465"/>
                  <a:gd name="T3" fmla="*/ 0 h 1"/>
                  <a:gd name="T4" fmla="*/ 0 w 34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65"/>
                  <a:gd name="T10" fmla="*/ 0 h 1"/>
                  <a:gd name="T11" fmla="*/ 3465 w 34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65" h="1">
                    <a:moveTo>
                      <a:pt x="0" y="0"/>
                    </a:moveTo>
                    <a:lnTo>
                      <a:pt x="3464" y="0"/>
                    </a:lnTo>
                    <a:lnTo>
                      <a:pt x="3465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Freeform 155"/>
              <p:cNvSpPr>
                <a:spLocks/>
              </p:cNvSpPr>
              <p:nvPr/>
            </p:nvSpPr>
            <p:spPr bwMode="auto">
              <a:xfrm>
                <a:off x="3230" y="1671"/>
                <a:ext cx="999" cy="1"/>
              </a:xfrm>
              <a:custGeom>
                <a:avLst/>
                <a:gdLst>
                  <a:gd name="T0" fmla="*/ 0 w 3998"/>
                  <a:gd name="T1" fmla="*/ 0 h 1"/>
                  <a:gd name="T2" fmla="*/ 0 w 3998"/>
                  <a:gd name="T3" fmla="*/ 0 h 1"/>
                  <a:gd name="T4" fmla="*/ 0 w 399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998"/>
                  <a:gd name="T10" fmla="*/ 0 h 1"/>
                  <a:gd name="T11" fmla="*/ 3998 w 399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98" h="1">
                    <a:moveTo>
                      <a:pt x="0" y="0"/>
                    </a:moveTo>
                    <a:lnTo>
                      <a:pt x="3996" y="0"/>
                    </a:lnTo>
                    <a:lnTo>
                      <a:pt x="3998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Freeform 156"/>
              <p:cNvSpPr>
                <a:spLocks/>
              </p:cNvSpPr>
              <p:nvPr/>
            </p:nvSpPr>
            <p:spPr bwMode="auto">
              <a:xfrm>
                <a:off x="3181" y="1775"/>
                <a:ext cx="1102" cy="1"/>
              </a:xfrm>
              <a:custGeom>
                <a:avLst/>
                <a:gdLst>
                  <a:gd name="T0" fmla="*/ 0 w 4411"/>
                  <a:gd name="T1" fmla="*/ 0 h 1"/>
                  <a:gd name="T2" fmla="*/ 0 w 4411"/>
                  <a:gd name="T3" fmla="*/ 0 h 1"/>
                  <a:gd name="T4" fmla="*/ 0 w 441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11"/>
                  <a:gd name="T10" fmla="*/ 0 h 1"/>
                  <a:gd name="T11" fmla="*/ 4411 w 441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11" h="1">
                    <a:moveTo>
                      <a:pt x="0" y="0"/>
                    </a:moveTo>
                    <a:lnTo>
                      <a:pt x="4410" y="0"/>
                    </a:lnTo>
                    <a:lnTo>
                      <a:pt x="4411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1" name="Freeform 157"/>
              <p:cNvSpPr>
                <a:spLocks/>
              </p:cNvSpPr>
              <p:nvPr/>
            </p:nvSpPr>
            <p:spPr bwMode="auto">
              <a:xfrm>
                <a:off x="3130" y="1880"/>
                <a:ext cx="1201" cy="1"/>
              </a:xfrm>
              <a:custGeom>
                <a:avLst/>
                <a:gdLst>
                  <a:gd name="T0" fmla="*/ 0 w 4803"/>
                  <a:gd name="T1" fmla="*/ 0 h 1"/>
                  <a:gd name="T2" fmla="*/ 0 w 4803"/>
                  <a:gd name="T3" fmla="*/ 0 h 1"/>
                  <a:gd name="T4" fmla="*/ 0 w 480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803"/>
                  <a:gd name="T10" fmla="*/ 0 h 1"/>
                  <a:gd name="T11" fmla="*/ 4803 w 480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3" h="1">
                    <a:moveTo>
                      <a:pt x="0" y="0"/>
                    </a:moveTo>
                    <a:lnTo>
                      <a:pt x="4801" y="0"/>
                    </a:lnTo>
                    <a:lnTo>
                      <a:pt x="4803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2" name="Freeform 158"/>
              <p:cNvSpPr>
                <a:spLocks/>
              </p:cNvSpPr>
              <p:nvPr/>
            </p:nvSpPr>
            <p:spPr bwMode="auto">
              <a:xfrm>
                <a:off x="3471" y="2509"/>
                <a:ext cx="511" cy="1"/>
              </a:xfrm>
              <a:custGeom>
                <a:avLst/>
                <a:gdLst>
                  <a:gd name="T0" fmla="*/ 0 w 2042"/>
                  <a:gd name="T1" fmla="*/ 0 h 1"/>
                  <a:gd name="T2" fmla="*/ 0 w 2042"/>
                  <a:gd name="T3" fmla="*/ 0 h 1"/>
                  <a:gd name="T4" fmla="*/ 0 w 204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042"/>
                  <a:gd name="T10" fmla="*/ 0 h 1"/>
                  <a:gd name="T11" fmla="*/ 2042 w 204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42" h="1">
                    <a:moveTo>
                      <a:pt x="0" y="0"/>
                    </a:moveTo>
                    <a:lnTo>
                      <a:pt x="2041" y="0"/>
                    </a:lnTo>
                    <a:lnTo>
                      <a:pt x="2042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Freeform 159"/>
              <p:cNvSpPr>
                <a:spLocks/>
              </p:cNvSpPr>
              <p:nvPr/>
            </p:nvSpPr>
            <p:spPr bwMode="auto">
              <a:xfrm>
                <a:off x="3290" y="2404"/>
                <a:ext cx="866" cy="1"/>
              </a:xfrm>
              <a:custGeom>
                <a:avLst/>
                <a:gdLst>
                  <a:gd name="T0" fmla="*/ 0 w 3465"/>
                  <a:gd name="T1" fmla="*/ 0 h 1"/>
                  <a:gd name="T2" fmla="*/ 0 w 3465"/>
                  <a:gd name="T3" fmla="*/ 0 h 1"/>
                  <a:gd name="T4" fmla="*/ 0 w 34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65"/>
                  <a:gd name="T10" fmla="*/ 0 h 1"/>
                  <a:gd name="T11" fmla="*/ 3465 w 34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65" h="1">
                    <a:moveTo>
                      <a:pt x="0" y="0"/>
                    </a:moveTo>
                    <a:lnTo>
                      <a:pt x="3464" y="0"/>
                    </a:lnTo>
                    <a:lnTo>
                      <a:pt x="3465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" name="Freeform 160"/>
              <p:cNvSpPr>
                <a:spLocks/>
              </p:cNvSpPr>
              <p:nvPr/>
            </p:nvSpPr>
            <p:spPr bwMode="auto">
              <a:xfrm>
                <a:off x="3230" y="2300"/>
                <a:ext cx="995" cy="1"/>
              </a:xfrm>
              <a:custGeom>
                <a:avLst/>
                <a:gdLst>
                  <a:gd name="T0" fmla="*/ 0 w 3984"/>
                  <a:gd name="T1" fmla="*/ 0 h 1"/>
                  <a:gd name="T2" fmla="*/ 0 w 3984"/>
                  <a:gd name="T3" fmla="*/ 0 h 1"/>
                  <a:gd name="T4" fmla="*/ 0 w 398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984"/>
                  <a:gd name="T10" fmla="*/ 0 h 1"/>
                  <a:gd name="T11" fmla="*/ 3984 w 398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84" h="1">
                    <a:moveTo>
                      <a:pt x="0" y="0"/>
                    </a:moveTo>
                    <a:lnTo>
                      <a:pt x="3982" y="0"/>
                    </a:lnTo>
                    <a:lnTo>
                      <a:pt x="3984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Freeform 161"/>
              <p:cNvSpPr>
                <a:spLocks/>
              </p:cNvSpPr>
              <p:nvPr/>
            </p:nvSpPr>
            <p:spPr bwMode="auto">
              <a:xfrm>
                <a:off x="3169" y="2195"/>
                <a:ext cx="1104" cy="1"/>
              </a:xfrm>
              <a:custGeom>
                <a:avLst/>
                <a:gdLst>
                  <a:gd name="T0" fmla="*/ 0 w 4414"/>
                  <a:gd name="T1" fmla="*/ 0 h 1"/>
                  <a:gd name="T2" fmla="*/ 0 w 4414"/>
                  <a:gd name="T3" fmla="*/ 0 h 1"/>
                  <a:gd name="T4" fmla="*/ 0 w 441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14"/>
                  <a:gd name="T10" fmla="*/ 0 h 1"/>
                  <a:gd name="T11" fmla="*/ 4414 w 441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14" h="1">
                    <a:moveTo>
                      <a:pt x="0" y="0"/>
                    </a:moveTo>
                    <a:lnTo>
                      <a:pt x="4413" y="0"/>
                    </a:lnTo>
                    <a:lnTo>
                      <a:pt x="4414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" name="Freeform 162"/>
              <p:cNvSpPr>
                <a:spLocks/>
              </p:cNvSpPr>
              <p:nvPr/>
            </p:nvSpPr>
            <p:spPr bwMode="auto">
              <a:xfrm>
                <a:off x="3109" y="2090"/>
                <a:ext cx="1218" cy="1"/>
              </a:xfrm>
              <a:custGeom>
                <a:avLst/>
                <a:gdLst>
                  <a:gd name="T0" fmla="*/ 0 w 4875"/>
                  <a:gd name="T1" fmla="*/ 0 h 1"/>
                  <a:gd name="T2" fmla="*/ 0 w 4875"/>
                  <a:gd name="T3" fmla="*/ 0 h 1"/>
                  <a:gd name="T4" fmla="*/ 0 w 487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875"/>
                  <a:gd name="T10" fmla="*/ 0 h 1"/>
                  <a:gd name="T11" fmla="*/ 4875 w 487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75" h="1">
                    <a:moveTo>
                      <a:pt x="0" y="0"/>
                    </a:moveTo>
                    <a:lnTo>
                      <a:pt x="4874" y="0"/>
                    </a:lnTo>
                    <a:lnTo>
                      <a:pt x="4875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Freeform 163"/>
              <p:cNvSpPr>
                <a:spLocks/>
              </p:cNvSpPr>
              <p:nvPr/>
            </p:nvSpPr>
            <p:spPr bwMode="auto">
              <a:xfrm>
                <a:off x="3147" y="1494"/>
                <a:ext cx="257" cy="446"/>
              </a:xfrm>
              <a:custGeom>
                <a:avLst/>
                <a:gdLst>
                  <a:gd name="T0" fmla="*/ 0 w 1030"/>
                  <a:gd name="T1" fmla="*/ 0 h 1785"/>
                  <a:gd name="T2" fmla="*/ 0 w 1030"/>
                  <a:gd name="T3" fmla="*/ 0 h 1785"/>
                  <a:gd name="T4" fmla="*/ 0 w 1030"/>
                  <a:gd name="T5" fmla="*/ 0 h 1785"/>
                  <a:gd name="T6" fmla="*/ 0 60000 65536"/>
                  <a:gd name="T7" fmla="*/ 0 60000 65536"/>
                  <a:gd name="T8" fmla="*/ 0 60000 65536"/>
                  <a:gd name="T9" fmla="*/ 0 w 1030"/>
                  <a:gd name="T10" fmla="*/ 0 h 1785"/>
                  <a:gd name="T11" fmla="*/ 1030 w 1030"/>
                  <a:gd name="T12" fmla="*/ 1785 h 1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30" h="1785">
                    <a:moveTo>
                      <a:pt x="0" y="1785"/>
                    </a:moveTo>
                    <a:lnTo>
                      <a:pt x="1029" y="0"/>
                    </a:lnTo>
                    <a:lnTo>
                      <a:pt x="1030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" name="Freeform 164"/>
              <p:cNvSpPr>
                <a:spLocks/>
              </p:cNvSpPr>
              <p:nvPr/>
            </p:nvSpPr>
            <p:spPr bwMode="auto">
              <a:xfrm>
                <a:off x="3907" y="1447"/>
                <a:ext cx="34" cy="14"/>
              </a:xfrm>
              <a:custGeom>
                <a:avLst/>
                <a:gdLst>
                  <a:gd name="T0" fmla="*/ 0 w 135"/>
                  <a:gd name="T1" fmla="*/ 0 h 55"/>
                  <a:gd name="T2" fmla="*/ 0 w 135"/>
                  <a:gd name="T3" fmla="*/ 0 h 55"/>
                  <a:gd name="T4" fmla="*/ 0 w 135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135"/>
                  <a:gd name="T10" fmla="*/ 0 h 55"/>
                  <a:gd name="T11" fmla="*/ 135 w 135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5" h="55">
                    <a:moveTo>
                      <a:pt x="0" y="55"/>
                    </a:moveTo>
                    <a:lnTo>
                      <a:pt x="134" y="0"/>
                    </a:lnTo>
                    <a:lnTo>
                      <a:pt x="135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1" name="Group 165"/>
            <p:cNvGrpSpPr>
              <a:grpSpLocks/>
            </p:cNvGrpSpPr>
            <p:nvPr/>
          </p:nvGrpSpPr>
          <p:grpSpPr bwMode="auto">
            <a:xfrm>
              <a:off x="1283" y="1671"/>
              <a:ext cx="1528" cy="742"/>
              <a:chOff x="1283" y="1671"/>
              <a:chExt cx="1528" cy="742"/>
            </a:xfrm>
          </p:grpSpPr>
          <p:sp>
            <p:nvSpPr>
              <p:cNvPr id="110" name="AutoShape 166"/>
              <p:cNvSpPr>
                <a:spLocks noChangeArrowheads="1"/>
              </p:cNvSpPr>
              <p:nvPr/>
            </p:nvSpPr>
            <p:spPr bwMode="auto">
              <a:xfrm>
                <a:off x="1283" y="1671"/>
                <a:ext cx="1528" cy="733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167"/>
              <p:cNvSpPr>
                <a:spLocks/>
              </p:cNvSpPr>
              <p:nvPr/>
            </p:nvSpPr>
            <p:spPr bwMode="auto">
              <a:xfrm>
                <a:off x="1284" y="2308"/>
                <a:ext cx="106" cy="105"/>
              </a:xfrm>
              <a:custGeom>
                <a:avLst/>
                <a:gdLst>
                  <a:gd name="T0" fmla="*/ 0 w 421"/>
                  <a:gd name="T1" fmla="*/ 0 h 419"/>
                  <a:gd name="T2" fmla="*/ 0 w 421"/>
                  <a:gd name="T3" fmla="*/ 0 h 419"/>
                  <a:gd name="T4" fmla="*/ 0 w 421"/>
                  <a:gd name="T5" fmla="*/ 0 h 419"/>
                  <a:gd name="T6" fmla="*/ 0 w 421"/>
                  <a:gd name="T7" fmla="*/ 0 h 4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1"/>
                  <a:gd name="T13" fmla="*/ 0 h 419"/>
                  <a:gd name="T14" fmla="*/ 421 w 421"/>
                  <a:gd name="T15" fmla="*/ 419 h 4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1" h="419">
                    <a:moveTo>
                      <a:pt x="0" y="0"/>
                    </a:moveTo>
                    <a:lnTo>
                      <a:pt x="123" y="296"/>
                    </a:lnTo>
                    <a:lnTo>
                      <a:pt x="420" y="419"/>
                    </a:lnTo>
                    <a:lnTo>
                      <a:pt x="421" y="419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Freeform 168"/>
              <p:cNvSpPr>
                <a:spLocks/>
              </p:cNvSpPr>
              <p:nvPr/>
            </p:nvSpPr>
            <p:spPr bwMode="auto">
              <a:xfrm>
                <a:off x="1370" y="1767"/>
                <a:ext cx="129" cy="65"/>
              </a:xfrm>
              <a:custGeom>
                <a:avLst/>
                <a:gdLst>
                  <a:gd name="T0" fmla="*/ 0 w 517"/>
                  <a:gd name="T1" fmla="*/ 0 h 259"/>
                  <a:gd name="T2" fmla="*/ 0 w 517"/>
                  <a:gd name="T3" fmla="*/ 0 h 259"/>
                  <a:gd name="T4" fmla="*/ 0 w 517"/>
                  <a:gd name="T5" fmla="*/ 0 h 259"/>
                  <a:gd name="T6" fmla="*/ 0 w 517"/>
                  <a:gd name="T7" fmla="*/ 0 h 259"/>
                  <a:gd name="T8" fmla="*/ 0 w 517"/>
                  <a:gd name="T9" fmla="*/ 0 h 259"/>
                  <a:gd name="T10" fmla="*/ 0 w 517"/>
                  <a:gd name="T11" fmla="*/ 0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7"/>
                  <a:gd name="T19" fmla="*/ 0 h 259"/>
                  <a:gd name="T20" fmla="*/ 517 w 517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7" h="259">
                    <a:moveTo>
                      <a:pt x="517" y="259"/>
                    </a:moveTo>
                    <a:lnTo>
                      <a:pt x="442" y="76"/>
                    </a:lnTo>
                    <a:lnTo>
                      <a:pt x="259" y="0"/>
                    </a:lnTo>
                    <a:lnTo>
                      <a:pt x="77" y="76"/>
                    </a:lnTo>
                    <a:lnTo>
                      <a:pt x="0" y="259"/>
                    </a:lnTo>
                    <a:lnTo>
                      <a:pt x="2" y="259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Freeform 169"/>
              <p:cNvSpPr>
                <a:spLocks/>
              </p:cNvSpPr>
              <p:nvPr/>
            </p:nvSpPr>
            <p:spPr bwMode="auto">
              <a:xfrm>
                <a:off x="1370" y="2258"/>
                <a:ext cx="129" cy="64"/>
              </a:xfrm>
              <a:custGeom>
                <a:avLst/>
                <a:gdLst>
                  <a:gd name="T0" fmla="*/ 0 w 518"/>
                  <a:gd name="T1" fmla="*/ 0 h 259"/>
                  <a:gd name="T2" fmla="*/ 0 w 518"/>
                  <a:gd name="T3" fmla="*/ 0 h 259"/>
                  <a:gd name="T4" fmla="*/ 0 w 518"/>
                  <a:gd name="T5" fmla="*/ 0 h 259"/>
                  <a:gd name="T6" fmla="*/ 0 w 518"/>
                  <a:gd name="T7" fmla="*/ 0 h 259"/>
                  <a:gd name="T8" fmla="*/ 0 w 518"/>
                  <a:gd name="T9" fmla="*/ 0 h 259"/>
                  <a:gd name="T10" fmla="*/ 0 w 518"/>
                  <a:gd name="T11" fmla="*/ 0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8"/>
                  <a:gd name="T19" fmla="*/ 0 h 259"/>
                  <a:gd name="T20" fmla="*/ 518 w 518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8" h="259">
                    <a:moveTo>
                      <a:pt x="0" y="0"/>
                    </a:moveTo>
                    <a:lnTo>
                      <a:pt x="77" y="182"/>
                    </a:lnTo>
                    <a:lnTo>
                      <a:pt x="259" y="259"/>
                    </a:lnTo>
                    <a:lnTo>
                      <a:pt x="442" y="182"/>
                    </a:lnTo>
                    <a:lnTo>
                      <a:pt x="517" y="0"/>
                    </a:lnTo>
                    <a:lnTo>
                      <a:pt x="518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Freeform 170"/>
              <p:cNvSpPr>
                <a:spLocks/>
              </p:cNvSpPr>
              <p:nvPr/>
            </p:nvSpPr>
            <p:spPr bwMode="auto">
              <a:xfrm>
                <a:off x="1370" y="1832"/>
                <a:ext cx="1" cy="426"/>
              </a:xfrm>
              <a:custGeom>
                <a:avLst/>
                <a:gdLst>
                  <a:gd name="T0" fmla="*/ 0 w 2"/>
                  <a:gd name="T1" fmla="*/ 0 h 1701"/>
                  <a:gd name="T2" fmla="*/ 0 w 2"/>
                  <a:gd name="T3" fmla="*/ 0 h 1701"/>
                  <a:gd name="T4" fmla="*/ 1 w 2"/>
                  <a:gd name="T5" fmla="*/ 0 h 170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01"/>
                  <a:gd name="T11" fmla="*/ 2 w 2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2" y="170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171"/>
              <p:cNvSpPr>
                <a:spLocks/>
              </p:cNvSpPr>
              <p:nvPr/>
            </p:nvSpPr>
            <p:spPr bwMode="auto">
              <a:xfrm>
                <a:off x="1499" y="1832"/>
                <a:ext cx="1" cy="426"/>
              </a:xfrm>
              <a:custGeom>
                <a:avLst/>
                <a:gdLst>
                  <a:gd name="T0" fmla="*/ 0 w 1"/>
                  <a:gd name="T1" fmla="*/ 0 h 1701"/>
                  <a:gd name="T2" fmla="*/ 0 w 1"/>
                  <a:gd name="T3" fmla="*/ 0 h 1701"/>
                  <a:gd name="T4" fmla="*/ 1 w 1"/>
                  <a:gd name="T5" fmla="*/ 0 h 170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701"/>
                  <a:gd name="T11" fmla="*/ 1 w 1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1" y="170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Freeform 172"/>
              <p:cNvSpPr>
                <a:spLocks/>
              </p:cNvSpPr>
              <p:nvPr/>
            </p:nvSpPr>
            <p:spPr bwMode="auto">
              <a:xfrm>
                <a:off x="1434" y="1729"/>
                <a:ext cx="1" cy="299"/>
              </a:xfrm>
              <a:custGeom>
                <a:avLst/>
                <a:gdLst>
                  <a:gd name="T0" fmla="*/ 0 w 1"/>
                  <a:gd name="T1" fmla="*/ 0 h 1197"/>
                  <a:gd name="T2" fmla="*/ 0 w 1"/>
                  <a:gd name="T3" fmla="*/ 0 h 1197"/>
                  <a:gd name="T4" fmla="*/ 1 w 1"/>
                  <a:gd name="T5" fmla="*/ 0 h 119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97"/>
                  <a:gd name="T11" fmla="*/ 1 w 1"/>
                  <a:gd name="T12" fmla="*/ 1197 h 11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97">
                    <a:moveTo>
                      <a:pt x="0" y="0"/>
                    </a:moveTo>
                    <a:lnTo>
                      <a:pt x="0" y="1197"/>
                    </a:lnTo>
                    <a:lnTo>
                      <a:pt x="1" y="1197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173"/>
              <p:cNvSpPr>
                <a:spLocks/>
              </p:cNvSpPr>
              <p:nvPr/>
            </p:nvSpPr>
            <p:spPr bwMode="auto">
              <a:xfrm>
                <a:off x="1590" y="1767"/>
                <a:ext cx="129" cy="65"/>
              </a:xfrm>
              <a:custGeom>
                <a:avLst/>
                <a:gdLst>
                  <a:gd name="T0" fmla="*/ 0 w 517"/>
                  <a:gd name="T1" fmla="*/ 0 h 259"/>
                  <a:gd name="T2" fmla="*/ 0 w 517"/>
                  <a:gd name="T3" fmla="*/ 0 h 259"/>
                  <a:gd name="T4" fmla="*/ 0 w 517"/>
                  <a:gd name="T5" fmla="*/ 0 h 259"/>
                  <a:gd name="T6" fmla="*/ 0 w 517"/>
                  <a:gd name="T7" fmla="*/ 0 h 259"/>
                  <a:gd name="T8" fmla="*/ 0 w 517"/>
                  <a:gd name="T9" fmla="*/ 0 h 259"/>
                  <a:gd name="T10" fmla="*/ 0 w 517"/>
                  <a:gd name="T11" fmla="*/ 0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7"/>
                  <a:gd name="T19" fmla="*/ 0 h 259"/>
                  <a:gd name="T20" fmla="*/ 517 w 517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7" h="259">
                    <a:moveTo>
                      <a:pt x="517" y="259"/>
                    </a:moveTo>
                    <a:lnTo>
                      <a:pt x="442" y="76"/>
                    </a:lnTo>
                    <a:lnTo>
                      <a:pt x="259" y="0"/>
                    </a:lnTo>
                    <a:lnTo>
                      <a:pt x="75" y="76"/>
                    </a:lnTo>
                    <a:lnTo>
                      <a:pt x="0" y="259"/>
                    </a:lnTo>
                    <a:lnTo>
                      <a:pt x="2" y="259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Freeform 174"/>
              <p:cNvSpPr>
                <a:spLocks/>
              </p:cNvSpPr>
              <p:nvPr/>
            </p:nvSpPr>
            <p:spPr bwMode="auto">
              <a:xfrm>
                <a:off x="1654" y="1729"/>
                <a:ext cx="1" cy="281"/>
              </a:xfrm>
              <a:custGeom>
                <a:avLst/>
                <a:gdLst>
                  <a:gd name="T0" fmla="*/ 0 w 1"/>
                  <a:gd name="T1" fmla="*/ 0 h 1122"/>
                  <a:gd name="T2" fmla="*/ 0 w 1"/>
                  <a:gd name="T3" fmla="*/ 0 h 1122"/>
                  <a:gd name="T4" fmla="*/ 1 w 1"/>
                  <a:gd name="T5" fmla="*/ 0 h 112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22"/>
                  <a:gd name="T11" fmla="*/ 1 w 1"/>
                  <a:gd name="T12" fmla="*/ 1122 h 11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22">
                    <a:moveTo>
                      <a:pt x="0" y="0"/>
                    </a:moveTo>
                    <a:lnTo>
                      <a:pt x="0" y="1122"/>
                    </a:lnTo>
                    <a:lnTo>
                      <a:pt x="1" y="1122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Freeform 175"/>
              <p:cNvSpPr>
                <a:spLocks/>
              </p:cNvSpPr>
              <p:nvPr/>
            </p:nvSpPr>
            <p:spPr bwMode="auto">
              <a:xfrm>
                <a:off x="1590" y="1832"/>
                <a:ext cx="1" cy="426"/>
              </a:xfrm>
              <a:custGeom>
                <a:avLst/>
                <a:gdLst>
                  <a:gd name="T0" fmla="*/ 0 w 2"/>
                  <a:gd name="T1" fmla="*/ 0 h 1701"/>
                  <a:gd name="T2" fmla="*/ 0 w 2"/>
                  <a:gd name="T3" fmla="*/ 0 h 1701"/>
                  <a:gd name="T4" fmla="*/ 1 w 2"/>
                  <a:gd name="T5" fmla="*/ 0 h 170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01"/>
                  <a:gd name="T11" fmla="*/ 2 w 2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2" y="170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Freeform 176"/>
              <p:cNvSpPr>
                <a:spLocks/>
              </p:cNvSpPr>
              <p:nvPr/>
            </p:nvSpPr>
            <p:spPr bwMode="auto">
              <a:xfrm>
                <a:off x="1719" y="1832"/>
                <a:ext cx="1" cy="426"/>
              </a:xfrm>
              <a:custGeom>
                <a:avLst/>
                <a:gdLst>
                  <a:gd name="T0" fmla="*/ 0 w 1"/>
                  <a:gd name="T1" fmla="*/ 0 h 1701"/>
                  <a:gd name="T2" fmla="*/ 0 w 1"/>
                  <a:gd name="T3" fmla="*/ 0 h 1701"/>
                  <a:gd name="T4" fmla="*/ 1 w 1"/>
                  <a:gd name="T5" fmla="*/ 0 h 170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701"/>
                  <a:gd name="T11" fmla="*/ 1 w 1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1" y="170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177"/>
              <p:cNvSpPr>
                <a:spLocks/>
              </p:cNvSpPr>
              <p:nvPr/>
            </p:nvSpPr>
            <p:spPr bwMode="auto">
              <a:xfrm>
                <a:off x="1590" y="2258"/>
                <a:ext cx="129" cy="64"/>
              </a:xfrm>
              <a:custGeom>
                <a:avLst/>
                <a:gdLst>
                  <a:gd name="T0" fmla="*/ 0 w 518"/>
                  <a:gd name="T1" fmla="*/ 0 h 259"/>
                  <a:gd name="T2" fmla="*/ 0 w 518"/>
                  <a:gd name="T3" fmla="*/ 0 h 259"/>
                  <a:gd name="T4" fmla="*/ 0 w 518"/>
                  <a:gd name="T5" fmla="*/ 0 h 259"/>
                  <a:gd name="T6" fmla="*/ 0 w 518"/>
                  <a:gd name="T7" fmla="*/ 0 h 259"/>
                  <a:gd name="T8" fmla="*/ 0 w 518"/>
                  <a:gd name="T9" fmla="*/ 0 h 259"/>
                  <a:gd name="T10" fmla="*/ 0 w 518"/>
                  <a:gd name="T11" fmla="*/ 0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8"/>
                  <a:gd name="T19" fmla="*/ 0 h 259"/>
                  <a:gd name="T20" fmla="*/ 518 w 518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8" h="259">
                    <a:moveTo>
                      <a:pt x="0" y="0"/>
                    </a:moveTo>
                    <a:lnTo>
                      <a:pt x="75" y="182"/>
                    </a:lnTo>
                    <a:lnTo>
                      <a:pt x="259" y="259"/>
                    </a:lnTo>
                    <a:lnTo>
                      <a:pt x="442" y="182"/>
                    </a:lnTo>
                    <a:lnTo>
                      <a:pt x="517" y="0"/>
                    </a:lnTo>
                    <a:lnTo>
                      <a:pt x="518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178"/>
              <p:cNvSpPr>
                <a:spLocks/>
              </p:cNvSpPr>
              <p:nvPr/>
            </p:nvSpPr>
            <p:spPr bwMode="auto">
              <a:xfrm>
                <a:off x="2668" y="1729"/>
                <a:ext cx="1" cy="304"/>
              </a:xfrm>
              <a:custGeom>
                <a:avLst/>
                <a:gdLst>
                  <a:gd name="T0" fmla="*/ 0 w 1"/>
                  <a:gd name="T1" fmla="*/ 0 h 1215"/>
                  <a:gd name="T2" fmla="*/ 0 w 1"/>
                  <a:gd name="T3" fmla="*/ 0 h 1215"/>
                  <a:gd name="T4" fmla="*/ 1 w 1"/>
                  <a:gd name="T5" fmla="*/ 0 h 121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15"/>
                  <a:gd name="T11" fmla="*/ 1 w 1"/>
                  <a:gd name="T12" fmla="*/ 1215 h 12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15">
                    <a:moveTo>
                      <a:pt x="0" y="0"/>
                    </a:moveTo>
                    <a:lnTo>
                      <a:pt x="0" y="1215"/>
                    </a:lnTo>
                    <a:lnTo>
                      <a:pt x="1" y="1215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179"/>
              <p:cNvSpPr>
                <a:spLocks/>
              </p:cNvSpPr>
              <p:nvPr/>
            </p:nvSpPr>
            <p:spPr bwMode="auto">
              <a:xfrm>
                <a:off x="2604" y="1767"/>
                <a:ext cx="129" cy="65"/>
              </a:xfrm>
              <a:custGeom>
                <a:avLst/>
                <a:gdLst>
                  <a:gd name="T0" fmla="*/ 0 w 517"/>
                  <a:gd name="T1" fmla="*/ 0 h 259"/>
                  <a:gd name="T2" fmla="*/ 0 w 517"/>
                  <a:gd name="T3" fmla="*/ 0 h 259"/>
                  <a:gd name="T4" fmla="*/ 0 w 517"/>
                  <a:gd name="T5" fmla="*/ 0 h 259"/>
                  <a:gd name="T6" fmla="*/ 0 w 517"/>
                  <a:gd name="T7" fmla="*/ 0 h 259"/>
                  <a:gd name="T8" fmla="*/ 0 w 517"/>
                  <a:gd name="T9" fmla="*/ 0 h 259"/>
                  <a:gd name="T10" fmla="*/ 0 w 517"/>
                  <a:gd name="T11" fmla="*/ 0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7"/>
                  <a:gd name="T19" fmla="*/ 0 h 259"/>
                  <a:gd name="T20" fmla="*/ 517 w 517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7" h="259">
                    <a:moveTo>
                      <a:pt x="517" y="259"/>
                    </a:moveTo>
                    <a:lnTo>
                      <a:pt x="441" y="76"/>
                    </a:lnTo>
                    <a:lnTo>
                      <a:pt x="259" y="0"/>
                    </a:lnTo>
                    <a:lnTo>
                      <a:pt x="75" y="76"/>
                    </a:lnTo>
                    <a:lnTo>
                      <a:pt x="0" y="259"/>
                    </a:lnTo>
                    <a:lnTo>
                      <a:pt x="2" y="259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Freeform 180"/>
              <p:cNvSpPr>
                <a:spLocks/>
              </p:cNvSpPr>
              <p:nvPr/>
            </p:nvSpPr>
            <p:spPr bwMode="auto">
              <a:xfrm>
                <a:off x="2733" y="1832"/>
                <a:ext cx="1" cy="426"/>
              </a:xfrm>
              <a:custGeom>
                <a:avLst/>
                <a:gdLst>
                  <a:gd name="T0" fmla="*/ 0 w 1"/>
                  <a:gd name="T1" fmla="*/ 0 h 1701"/>
                  <a:gd name="T2" fmla="*/ 0 w 1"/>
                  <a:gd name="T3" fmla="*/ 0 h 1701"/>
                  <a:gd name="T4" fmla="*/ 1 w 1"/>
                  <a:gd name="T5" fmla="*/ 0 h 170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701"/>
                  <a:gd name="T11" fmla="*/ 1 w 1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1" y="170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181"/>
              <p:cNvSpPr>
                <a:spLocks/>
              </p:cNvSpPr>
              <p:nvPr/>
            </p:nvSpPr>
            <p:spPr bwMode="auto">
              <a:xfrm>
                <a:off x="2604" y="1832"/>
                <a:ext cx="1" cy="426"/>
              </a:xfrm>
              <a:custGeom>
                <a:avLst/>
                <a:gdLst>
                  <a:gd name="T0" fmla="*/ 0 w 2"/>
                  <a:gd name="T1" fmla="*/ 0 h 1701"/>
                  <a:gd name="T2" fmla="*/ 0 w 2"/>
                  <a:gd name="T3" fmla="*/ 0 h 1701"/>
                  <a:gd name="T4" fmla="*/ 1 w 2"/>
                  <a:gd name="T5" fmla="*/ 0 h 170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01"/>
                  <a:gd name="T11" fmla="*/ 2 w 2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2" y="170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182"/>
              <p:cNvSpPr>
                <a:spLocks/>
              </p:cNvSpPr>
              <p:nvPr/>
            </p:nvSpPr>
            <p:spPr bwMode="auto">
              <a:xfrm>
                <a:off x="2604" y="2258"/>
                <a:ext cx="129" cy="64"/>
              </a:xfrm>
              <a:custGeom>
                <a:avLst/>
                <a:gdLst>
                  <a:gd name="T0" fmla="*/ 0 w 518"/>
                  <a:gd name="T1" fmla="*/ 0 h 259"/>
                  <a:gd name="T2" fmla="*/ 0 w 518"/>
                  <a:gd name="T3" fmla="*/ 0 h 259"/>
                  <a:gd name="T4" fmla="*/ 0 w 518"/>
                  <a:gd name="T5" fmla="*/ 0 h 259"/>
                  <a:gd name="T6" fmla="*/ 0 w 518"/>
                  <a:gd name="T7" fmla="*/ 0 h 259"/>
                  <a:gd name="T8" fmla="*/ 0 w 518"/>
                  <a:gd name="T9" fmla="*/ 0 h 259"/>
                  <a:gd name="T10" fmla="*/ 0 w 518"/>
                  <a:gd name="T11" fmla="*/ 0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8"/>
                  <a:gd name="T19" fmla="*/ 0 h 259"/>
                  <a:gd name="T20" fmla="*/ 518 w 518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8" h="259">
                    <a:moveTo>
                      <a:pt x="0" y="0"/>
                    </a:moveTo>
                    <a:lnTo>
                      <a:pt x="75" y="182"/>
                    </a:lnTo>
                    <a:lnTo>
                      <a:pt x="259" y="259"/>
                    </a:lnTo>
                    <a:lnTo>
                      <a:pt x="441" y="182"/>
                    </a:lnTo>
                    <a:lnTo>
                      <a:pt x="517" y="0"/>
                    </a:lnTo>
                    <a:lnTo>
                      <a:pt x="518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183"/>
              <p:cNvSpPr>
                <a:spLocks/>
              </p:cNvSpPr>
              <p:nvPr/>
            </p:nvSpPr>
            <p:spPr bwMode="auto">
              <a:xfrm>
                <a:off x="1654" y="1767"/>
                <a:ext cx="1015" cy="1"/>
              </a:xfrm>
              <a:custGeom>
                <a:avLst/>
                <a:gdLst>
                  <a:gd name="T0" fmla="*/ 0 w 4058"/>
                  <a:gd name="T1" fmla="*/ 0 h 1"/>
                  <a:gd name="T2" fmla="*/ 0 w 4058"/>
                  <a:gd name="T3" fmla="*/ 0 h 1"/>
                  <a:gd name="T4" fmla="*/ 0 w 405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058"/>
                  <a:gd name="T10" fmla="*/ 0 h 1"/>
                  <a:gd name="T11" fmla="*/ 4058 w 405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8" h="1">
                    <a:moveTo>
                      <a:pt x="0" y="0"/>
                    </a:moveTo>
                    <a:lnTo>
                      <a:pt x="4057" y="0"/>
                    </a:lnTo>
                    <a:lnTo>
                      <a:pt x="4058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Freeform 184"/>
              <p:cNvSpPr>
                <a:spLocks/>
              </p:cNvSpPr>
              <p:nvPr/>
            </p:nvSpPr>
            <p:spPr bwMode="auto">
              <a:xfrm>
                <a:off x="1654" y="2322"/>
                <a:ext cx="1015" cy="1"/>
              </a:xfrm>
              <a:custGeom>
                <a:avLst/>
                <a:gdLst>
                  <a:gd name="T0" fmla="*/ 0 w 4058"/>
                  <a:gd name="T1" fmla="*/ 0 h 1"/>
                  <a:gd name="T2" fmla="*/ 0 w 4058"/>
                  <a:gd name="T3" fmla="*/ 0 h 1"/>
                  <a:gd name="T4" fmla="*/ 0 w 405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058"/>
                  <a:gd name="T10" fmla="*/ 0 h 1"/>
                  <a:gd name="T11" fmla="*/ 4058 w 405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8" h="1">
                    <a:moveTo>
                      <a:pt x="0" y="0"/>
                    </a:moveTo>
                    <a:lnTo>
                      <a:pt x="4057" y="0"/>
                    </a:lnTo>
                    <a:lnTo>
                      <a:pt x="4058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185"/>
              <p:cNvSpPr>
                <a:spLocks/>
              </p:cNvSpPr>
              <p:nvPr/>
            </p:nvSpPr>
            <p:spPr bwMode="auto">
              <a:xfrm>
                <a:off x="1434" y="2113"/>
                <a:ext cx="1" cy="266"/>
              </a:xfrm>
              <a:custGeom>
                <a:avLst/>
                <a:gdLst>
                  <a:gd name="T0" fmla="*/ 0 w 1"/>
                  <a:gd name="T1" fmla="*/ 0 h 1065"/>
                  <a:gd name="T2" fmla="*/ 0 w 1"/>
                  <a:gd name="T3" fmla="*/ 0 h 1065"/>
                  <a:gd name="T4" fmla="*/ 1 w 1"/>
                  <a:gd name="T5" fmla="*/ 0 h 106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65"/>
                  <a:gd name="T11" fmla="*/ 1 w 1"/>
                  <a:gd name="T12" fmla="*/ 1065 h 10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65">
                    <a:moveTo>
                      <a:pt x="0" y="0"/>
                    </a:moveTo>
                    <a:lnTo>
                      <a:pt x="0" y="1065"/>
                    </a:lnTo>
                    <a:lnTo>
                      <a:pt x="1" y="1065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Freeform 186"/>
              <p:cNvSpPr>
                <a:spLocks/>
              </p:cNvSpPr>
              <p:nvPr/>
            </p:nvSpPr>
            <p:spPr bwMode="auto">
              <a:xfrm>
                <a:off x="1434" y="2058"/>
                <a:ext cx="1" cy="24"/>
              </a:xfrm>
              <a:custGeom>
                <a:avLst/>
                <a:gdLst>
                  <a:gd name="T0" fmla="*/ 0 w 1"/>
                  <a:gd name="T1" fmla="*/ 0 h 98"/>
                  <a:gd name="T2" fmla="*/ 0 w 1"/>
                  <a:gd name="T3" fmla="*/ 0 h 98"/>
                  <a:gd name="T4" fmla="*/ 1 w 1"/>
                  <a:gd name="T5" fmla="*/ 0 h 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8"/>
                  <a:gd name="T11" fmla="*/ 1 w 1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8">
                    <a:moveTo>
                      <a:pt x="0" y="0"/>
                    </a:moveTo>
                    <a:lnTo>
                      <a:pt x="0" y="98"/>
                    </a:lnTo>
                    <a:lnTo>
                      <a:pt x="1" y="98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187"/>
              <p:cNvSpPr>
                <a:spLocks/>
              </p:cNvSpPr>
              <p:nvPr/>
            </p:nvSpPr>
            <p:spPr bwMode="auto">
              <a:xfrm>
                <a:off x="1654" y="2094"/>
                <a:ext cx="1" cy="285"/>
              </a:xfrm>
              <a:custGeom>
                <a:avLst/>
                <a:gdLst>
                  <a:gd name="T0" fmla="*/ 0 w 1"/>
                  <a:gd name="T1" fmla="*/ 0 h 1140"/>
                  <a:gd name="T2" fmla="*/ 0 w 1"/>
                  <a:gd name="T3" fmla="*/ 0 h 1140"/>
                  <a:gd name="T4" fmla="*/ 1 w 1"/>
                  <a:gd name="T5" fmla="*/ 0 h 114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40"/>
                  <a:gd name="T11" fmla="*/ 1 w 1"/>
                  <a:gd name="T12" fmla="*/ 1140 h 11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40">
                    <a:moveTo>
                      <a:pt x="0" y="0"/>
                    </a:moveTo>
                    <a:lnTo>
                      <a:pt x="0" y="1140"/>
                    </a:lnTo>
                    <a:lnTo>
                      <a:pt x="1" y="114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Freeform 188"/>
              <p:cNvSpPr>
                <a:spLocks/>
              </p:cNvSpPr>
              <p:nvPr/>
            </p:nvSpPr>
            <p:spPr bwMode="auto">
              <a:xfrm>
                <a:off x="1654" y="2040"/>
                <a:ext cx="1" cy="25"/>
              </a:xfrm>
              <a:custGeom>
                <a:avLst/>
                <a:gdLst>
                  <a:gd name="T0" fmla="*/ 0 w 1"/>
                  <a:gd name="T1" fmla="*/ 0 h 98"/>
                  <a:gd name="T2" fmla="*/ 0 w 1"/>
                  <a:gd name="T3" fmla="*/ 0 h 98"/>
                  <a:gd name="T4" fmla="*/ 1 w 1"/>
                  <a:gd name="T5" fmla="*/ 0 h 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8"/>
                  <a:gd name="T11" fmla="*/ 1 w 1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8">
                    <a:moveTo>
                      <a:pt x="0" y="0"/>
                    </a:moveTo>
                    <a:lnTo>
                      <a:pt x="0" y="98"/>
                    </a:lnTo>
                    <a:lnTo>
                      <a:pt x="1" y="98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189"/>
              <p:cNvSpPr>
                <a:spLocks/>
              </p:cNvSpPr>
              <p:nvPr/>
            </p:nvSpPr>
            <p:spPr bwMode="auto">
              <a:xfrm>
                <a:off x="2668" y="2108"/>
                <a:ext cx="1" cy="271"/>
              </a:xfrm>
              <a:custGeom>
                <a:avLst/>
                <a:gdLst>
                  <a:gd name="T0" fmla="*/ 0 w 1"/>
                  <a:gd name="T1" fmla="*/ 0 h 1085"/>
                  <a:gd name="T2" fmla="*/ 0 w 1"/>
                  <a:gd name="T3" fmla="*/ 0 h 1085"/>
                  <a:gd name="T4" fmla="*/ 1 w 1"/>
                  <a:gd name="T5" fmla="*/ 0 h 108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85"/>
                  <a:gd name="T11" fmla="*/ 1 w 1"/>
                  <a:gd name="T12" fmla="*/ 1085 h 10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85">
                    <a:moveTo>
                      <a:pt x="0" y="0"/>
                    </a:moveTo>
                    <a:lnTo>
                      <a:pt x="0" y="1085"/>
                    </a:lnTo>
                    <a:lnTo>
                      <a:pt x="1" y="1085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Freeform 190"/>
              <p:cNvSpPr>
                <a:spLocks/>
              </p:cNvSpPr>
              <p:nvPr/>
            </p:nvSpPr>
            <p:spPr bwMode="auto">
              <a:xfrm>
                <a:off x="2668" y="2059"/>
                <a:ext cx="1" cy="25"/>
              </a:xfrm>
              <a:custGeom>
                <a:avLst/>
                <a:gdLst>
                  <a:gd name="T0" fmla="*/ 0 w 1"/>
                  <a:gd name="T1" fmla="*/ 0 h 100"/>
                  <a:gd name="T2" fmla="*/ 0 w 1"/>
                  <a:gd name="T3" fmla="*/ 0 h 100"/>
                  <a:gd name="T4" fmla="*/ 1 w 1"/>
                  <a:gd name="T5" fmla="*/ 0 h 10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0"/>
                  <a:gd name="T11" fmla="*/ 1 w 1"/>
                  <a:gd name="T12" fmla="*/ 100 h 1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0">
                    <a:moveTo>
                      <a:pt x="0" y="0"/>
                    </a:moveTo>
                    <a:lnTo>
                      <a:pt x="0" y="100"/>
                    </a:lnTo>
                    <a:lnTo>
                      <a:pt x="1" y="10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Freeform 191"/>
              <p:cNvSpPr>
                <a:spLocks/>
              </p:cNvSpPr>
              <p:nvPr/>
            </p:nvSpPr>
            <p:spPr bwMode="auto">
              <a:xfrm>
                <a:off x="1345" y="1832"/>
                <a:ext cx="183" cy="1"/>
              </a:xfrm>
              <a:custGeom>
                <a:avLst/>
                <a:gdLst>
                  <a:gd name="T0" fmla="*/ 0 w 731"/>
                  <a:gd name="T1" fmla="*/ 0 h 1"/>
                  <a:gd name="T2" fmla="*/ 0 w 731"/>
                  <a:gd name="T3" fmla="*/ 0 h 1"/>
                  <a:gd name="T4" fmla="*/ 0 w 73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1"/>
                  <a:gd name="T10" fmla="*/ 0 h 1"/>
                  <a:gd name="T11" fmla="*/ 731 w 73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1" h="1">
                    <a:moveTo>
                      <a:pt x="73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192"/>
              <p:cNvSpPr>
                <a:spLocks/>
              </p:cNvSpPr>
              <p:nvPr/>
            </p:nvSpPr>
            <p:spPr bwMode="auto">
              <a:xfrm>
                <a:off x="1345" y="2258"/>
                <a:ext cx="183" cy="1"/>
              </a:xfrm>
              <a:custGeom>
                <a:avLst/>
                <a:gdLst>
                  <a:gd name="T0" fmla="*/ 0 w 731"/>
                  <a:gd name="T1" fmla="*/ 0 h 1"/>
                  <a:gd name="T2" fmla="*/ 0 w 731"/>
                  <a:gd name="T3" fmla="*/ 0 h 1"/>
                  <a:gd name="T4" fmla="*/ 0 w 73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1"/>
                  <a:gd name="T10" fmla="*/ 0 h 1"/>
                  <a:gd name="T11" fmla="*/ 731 w 73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1" h="1">
                    <a:moveTo>
                      <a:pt x="73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193"/>
              <p:cNvSpPr>
                <a:spLocks/>
              </p:cNvSpPr>
              <p:nvPr/>
            </p:nvSpPr>
            <p:spPr bwMode="auto">
              <a:xfrm>
                <a:off x="1565" y="1832"/>
                <a:ext cx="182" cy="1"/>
              </a:xfrm>
              <a:custGeom>
                <a:avLst/>
                <a:gdLst>
                  <a:gd name="T0" fmla="*/ 0 w 731"/>
                  <a:gd name="T1" fmla="*/ 0 h 1"/>
                  <a:gd name="T2" fmla="*/ 0 w 731"/>
                  <a:gd name="T3" fmla="*/ 0 h 1"/>
                  <a:gd name="T4" fmla="*/ 0 w 73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1"/>
                  <a:gd name="T10" fmla="*/ 0 h 1"/>
                  <a:gd name="T11" fmla="*/ 731 w 73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1" h="1">
                    <a:moveTo>
                      <a:pt x="73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Freeform 194"/>
              <p:cNvSpPr>
                <a:spLocks/>
              </p:cNvSpPr>
              <p:nvPr/>
            </p:nvSpPr>
            <p:spPr bwMode="auto">
              <a:xfrm>
                <a:off x="1565" y="2258"/>
                <a:ext cx="182" cy="1"/>
              </a:xfrm>
              <a:custGeom>
                <a:avLst/>
                <a:gdLst>
                  <a:gd name="T0" fmla="*/ 0 w 731"/>
                  <a:gd name="T1" fmla="*/ 0 h 1"/>
                  <a:gd name="T2" fmla="*/ 0 w 731"/>
                  <a:gd name="T3" fmla="*/ 0 h 1"/>
                  <a:gd name="T4" fmla="*/ 0 w 73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1"/>
                  <a:gd name="T10" fmla="*/ 0 h 1"/>
                  <a:gd name="T11" fmla="*/ 731 w 73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1" h="1">
                    <a:moveTo>
                      <a:pt x="73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195"/>
              <p:cNvSpPr>
                <a:spLocks/>
              </p:cNvSpPr>
              <p:nvPr/>
            </p:nvSpPr>
            <p:spPr bwMode="auto">
              <a:xfrm>
                <a:off x="2579" y="2258"/>
                <a:ext cx="183" cy="1"/>
              </a:xfrm>
              <a:custGeom>
                <a:avLst/>
                <a:gdLst>
                  <a:gd name="T0" fmla="*/ 0 w 732"/>
                  <a:gd name="T1" fmla="*/ 0 h 1"/>
                  <a:gd name="T2" fmla="*/ 0 w 732"/>
                  <a:gd name="T3" fmla="*/ 0 h 1"/>
                  <a:gd name="T4" fmla="*/ 0 w 73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2"/>
                  <a:gd name="T10" fmla="*/ 0 h 1"/>
                  <a:gd name="T11" fmla="*/ 732 w 73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2" h="1">
                    <a:moveTo>
                      <a:pt x="732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196"/>
              <p:cNvSpPr>
                <a:spLocks/>
              </p:cNvSpPr>
              <p:nvPr/>
            </p:nvSpPr>
            <p:spPr bwMode="auto">
              <a:xfrm>
                <a:off x="2579" y="1832"/>
                <a:ext cx="183" cy="1"/>
              </a:xfrm>
              <a:custGeom>
                <a:avLst/>
                <a:gdLst>
                  <a:gd name="T0" fmla="*/ 0 w 732"/>
                  <a:gd name="T1" fmla="*/ 0 h 1"/>
                  <a:gd name="T2" fmla="*/ 0 w 732"/>
                  <a:gd name="T3" fmla="*/ 0 h 1"/>
                  <a:gd name="T4" fmla="*/ 0 w 73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2"/>
                  <a:gd name="T10" fmla="*/ 0 h 1"/>
                  <a:gd name="T11" fmla="*/ 732 w 73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2" h="1">
                    <a:moveTo>
                      <a:pt x="732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Arc 197"/>
              <p:cNvSpPr>
                <a:spLocks/>
              </p:cNvSpPr>
              <p:nvPr/>
            </p:nvSpPr>
            <p:spPr bwMode="auto">
              <a:xfrm flipH="1">
                <a:off x="1284" y="1671"/>
                <a:ext cx="87" cy="8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02" name="Group 198"/>
            <p:cNvGrpSpPr>
              <a:grpSpLocks/>
            </p:cNvGrpSpPr>
            <p:nvPr/>
          </p:nvGrpSpPr>
          <p:grpSpPr bwMode="auto">
            <a:xfrm>
              <a:off x="3940" y="1131"/>
              <a:ext cx="771" cy="316"/>
              <a:chOff x="3940" y="1131"/>
              <a:chExt cx="771" cy="316"/>
            </a:xfrm>
          </p:grpSpPr>
          <p:sp>
            <p:nvSpPr>
              <p:cNvPr id="107" name="Freeform 199"/>
              <p:cNvSpPr>
                <a:spLocks/>
              </p:cNvSpPr>
              <p:nvPr/>
            </p:nvSpPr>
            <p:spPr bwMode="auto">
              <a:xfrm>
                <a:off x="3940" y="1336"/>
                <a:ext cx="213" cy="111"/>
              </a:xfrm>
              <a:custGeom>
                <a:avLst/>
                <a:gdLst>
                  <a:gd name="T0" fmla="*/ 0 w 852"/>
                  <a:gd name="T1" fmla="*/ 0 h 343"/>
                  <a:gd name="T2" fmla="*/ 0 w 852"/>
                  <a:gd name="T3" fmla="*/ 0 h 343"/>
                  <a:gd name="T4" fmla="*/ 0 w 852"/>
                  <a:gd name="T5" fmla="*/ 0 h 343"/>
                  <a:gd name="T6" fmla="*/ 0 60000 65536"/>
                  <a:gd name="T7" fmla="*/ 0 60000 65536"/>
                  <a:gd name="T8" fmla="*/ 0 60000 65536"/>
                  <a:gd name="T9" fmla="*/ 0 w 852"/>
                  <a:gd name="T10" fmla="*/ 0 h 343"/>
                  <a:gd name="T11" fmla="*/ 852 w 852"/>
                  <a:gd name="T12" fmla="*/ 343 h 3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52" h="343">
                    <a:moveTo>
                      <a:pt x="852" y="0"/>
                    </a:moveTo>
                    <a:lnTo>
                      <a:pt x="0" y="343"/>
                    </a:lnTo>
                    <a:lnTo>
                      <a:pt x="1" y="343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Freeform 200"/>
              <p:cNvSpPr>
                <a:spLocks/>
              </p:cNvSpPr>
              <p:nvPr/>
            </p:nvSpPr>
            <p:spPr bwMode="auto">
              <a:xfrm>
                <a:off x="4153" y="1335"/>
                <a:ext cx="552" cy="1"/>
              </a:xfrm>
              <a:custGeom>
                <a:avLst/>
                <a:gdLst>
                  <a:gd name="T0" fmla="*/ 0 w 1523"/>
                  <a:gd name="T1" fmla="*/ 0 h 1"/>
                  <a:gd name="T2" fmla="*/ 0 w 1523"/>
                  <a:gd name="T3" fmla="*/ 0 h 1"/>
                  <a:gd name="T4" fmla="*/ 0 w 152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23"/>
                  <a:gd name="T10" fmla="*/ 0 h 1"/>
                  <a:gd name="T11" fmla="*/ 1523 w 152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3" h="1">
                    <a:moveTo>
                      <a:pt x="0" y="0"/>
                    </a:moveTo>
                    <a:lnTo>
                      <a:pt x="1522" y="0"/>
                    </a:lnTo>
                    <a:lnTo>
                      <a:pt x="1523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Text Box 201"/>
              <p:cNvSpPr txBox="1">
                <a:spLocks noChangeArrowheads="1"/>
              </p:cNvSpPr>
              <p:nvPr/>
            </p:nvSpPr>
            <p:spPr bwMode="auto">
              <a:xfrm>
                <a:off x="4072" y="1131"/>
                <a:ext cx="63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000" i="1">
                    <a:solidFill>
                      <a:srgbClr val="FF0000"/>
                    </a:solidFill>
                  </a:rPr>
                  <a:t>85×</a:t>
                </a:r>
                <a:r>
                  <a:rPr lang="en-US" altLang="zh-CN" sz="2000" i="1">
                    <a:solidFill>
                      <a:srgbClr val="FF3300"/>
                    </a:solidFill>
                    <a:latin typeface="ISOCPEUR" pitchFamily="34" charset="0"/>
                    <a:sym typeface="Symbol" pitchFamily="18" charset="2"/>
                  </a:rPr>
                  <a:t></a:t>
                </a:r>
                <a:r>
                  <a:rPr lang="en-US" altLang="zh-CN" sz="200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000" i="1">
                    <a:solidFill>
                      <a:srgbClr val="FF0000"/>
                    </a:solidFill>
                  </a:rPr>
                  <a:t>5</a:t>
                </a:r>
              </a:p>
            </p:txBody>
          </p:sp>
        </p:grpSp>
        <p:grpSp>
          <p:nvGrpSpPr>
            <p:cNvPr id="103" name="Group 202"/>
            <p:cNvGrpSpPr>
              <a:grpSpLocks/>
            </p:cNvGrpSpPr>
            <p:nvPr/>
          </p:nvGrpSpPr>
          <p:grpSpPr bwMode="auto">
            <a:xfrm>
              <a:off x="1688" y="1395"/>
              <a:ext cx="643" cy="426"/>
              <a:chOff x="1688" y="1395"/>
              <a:chExt cx="643" cy="426"/>
            </a:xfrm>
          </p:grpSpPr>
          <p:sp>
            <p:nvSpPr>
              <p:cNvPr id="104" name="Rectangle 203"/>
              <p:cNvSpPr>
                <a:spLocks noChangeArrowheads="1"/>
              </p:cNvSpPr>
              <p:nvPr/>
            </p:nvSpPr>
            <p:spPr bwMode="auto">
              <a:xfrm>
                <a:off x="1751" y="1395"/>
                <a:ext cx="580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en-US">
                    <a:solidFill>
                      <a:srgbClr val="FF0000"/>
                    </a:solidFill>
                    <a:latin typeface="宋体" charset="-122"/>
                  </a:rPr>
                  <a:t>共</a:t>
                </a:r>
                <a:r>
                  <a:rPr lang="en-US" altLang="zh-CN">
                    <a:solidFill>
                      <a:srgbClr val="FF0000"/>
                    </a:solidFill>
                    <a:latin typeface="宋体" charset="-122"/>
                  </a:rPr>
                  <a:t>××</a:t>
                </a:r>
                <a:r>
                  <a:rPr lang="zh-CN" altLang="en-US">
                    <a:solidFill>
                      <a:srgbClr val="FF0000"/>
                    </a:solidFill>
                    <a:latin typeface="宋体" charset="-122"/>
                  </a:rPr>
                  <a:t>槽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5" name="Freeform 204"/>
              <p:cNvSpPr>
                <a:spLocks/>
              </p:cNvSpPr>
              <p:nvPr/>
            </p:nvSpPr>
            <p:spPr bwMode="auto">
              <a:xfrm>
                <a:off x="1688" y="1584"/>
                <a:ext cx="101" cy="237"/>
              </a:xfrm>
              <a:custGeom>
                <a:avLst/>
                <a:gdLst>
                  <a:gd name="T0" fmla="*/ 0 w 404"/>
                  <a:gd name="T1" fmla="*/ 0 h 946"/>
                  <a:gd name="T2" fmla="*/ 0 w 404"/>
                  <a:gd name="T3" fmla="*/ 0 h 946"/>
                  <a:gd name="T4" fmla="*/ 0 w 404"/>
                  <a:gd name="T5" fmla="*/ 0 h 946"/>
                  <a:gd name="T6" fmla="*/ 0 60000 65536"/>
                  <a:gd name="T7" fmla="*/ 0 60000 65536"/>
                  <a:gd name="T8" fmla="*/ 0 60000 65536"/>
                  <a:gd name="T9" fmla="*/ 0 w 404"/>
                  <a:gd name="T10" fmla="*/ 0 h 946"/>
                  <a:gd name="T11" fmla="*/ 404 w 404"/>
                  <a:gd name="T12" fmla="*/ 946 h 9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4" h="946">
                    <a:moveTo>
                      <a:pt x="0" y="946"/>
                    </a:moveTo>
                    <a:lnTo>
                      <a:pt x="403" y="0"/>
                    </a:lnTo>
                    <a:lnTo>
                      <a:pt x="404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205"/>
              <p:cNvSpPr>
                <a:spLocks noChangeShapeType="1"/>
              </p:cNvSpPr>
              <p:nvPr/>
            </p:nvSpPr>
            <p:spPr bwMode="auto">
              <a:xfrm>
                <a:off x="1789" y="1584"/>
                <a:ext cx="54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09" name="Text Box 206"/>
          <p:cNvSpPr txBox="1">
            <a:spLocks noChangeArrowheads="1"/>
          </p:cNvSpPr>
          <p:nvPr/>
        </p:nvSpPr>
        <p:spPr bwMode="auto">
          <a:xfrm>
            <a:off x="922883" y="1823880"/>
            <a:ext cx="300960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宋体" charset="-122"/>
              </a:rPr>
              <a:t>五、圆柱体上因钻小</a:t>
            </a:r>
            <a:r>
              <a:rPr lang="en-US" altLang="zh-CN" sz="2400" b="1" dirty="0">
                <a:latin typeface="宋体" charset="-122"/>
              </a:rPr>
              <a:t> </a:t>
            </a:r>
            <a:r>
              <a:rPr lang="zh-CN" altLang="en-US" sz="2400" b="1" dirty="0">
                <a:latin typeface="宋体" charset="-122"/>
              </a:rPr>
              <a:t>孔、铣键槽等出现的交线允许省略，但必须有其他视图清楚地表示了孔、槽的形状。</a:t>
            </a:r>
          </a:p>
        </p:txBody>
      </p:sp>
      <p:sp>
        <p:nvSpPr>
          <p:cNvPr id="210" name="Text Box 207"/>
          <p:cNvSpPr txBox="1">
            <a:spLocks noChangeArrowheads="1"/>
          </p:cNvSpPr>
          <p:nvPr/>
        </p:nvSpPr>
        <p:spPr bwMode="auto">
          <a:xfrm>
            <a:off x="908329" y="3843970"/>
            <a:ext cx="3232495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宋体" charset="-122"/>
              </a:rPr>
              <a:t>六、当机件上有若干相同的结构要素并按一定的规律分布时，只需画出几个完整的结构要素，其余的用细实线连接或画出其中心位置。</a:t>
            </a:r>
          </a:p>
        </p:txBody>
      </p:sp>
    </p:spTree>
    <p:extLst>
      <p:ext uri="{BB962C8B-B14F-4D97-AF65-F5344CB8AC3E}">
        <p14:creationId xmlns:p14="http://schemas.microsoft.com/office/powerpoint/2010/main" val="35992837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35848" y="2963198"/>
            <a:ext cx="3028950" cy="34004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927935" y="3281547"/>
            <a:ext cx="2924175" cy="3213100"/>
            <a:chOff x="493" y="1674"/>
            <a:chExt cx="1842" cy="2024"/>
          </a:xfrm>
        </p:grpSpPr>
        <p:sp>
          <p:nvSpPr>
            <p:cNvPr id="6" name="Freeform 3"/>
            <p:cNvSpPr>
              <a:spLocks/>
            </p:cNvSpPr>
            <p:nvPr/>
          </p:nvSpPr>
          <p:spPr bwMode="auto">
            <a:xfrm>
              <a:off x="1271" y="1674"/>
              <a:ext cx="1064" cy="2024"/>
            </a:xfrm>
            <a:custGeom>
              <a:avLst/>
              <a:gdLst>
                <a:gd name="T0" fmla="*/ 0 w 1064"/>
                <a:gd name="T1" fmla="*/ 0 h 2024"/>
                <a:gd name="T2" fmla="*/ 0 w 1064"/>
                <a:gd name="T3" fmla="*/ 1388 h 2024"/>
                <a:gd name="T4" fmla="*/ 1064 w 1064"/>
                <a:gd name="T5" fmla="*/ 2024 h 2024"/>
                <a:gd name="T6" fmla="*/ 1064 w 1064"/>
                <a:gd name="T7" fmla="*/ 727 h 2024"/>
                <a:gd name="T8" fmla="*/ 0 w 1064"/>
                <a:gd name="T9" fmla="*/ 0 h 20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4"/>
                <a:gd name="T16" fmla="*/ 0 h 2024"/>
                <a:gd name="T17" fmla="*/ 1064 w 1064"/>
                <a:gd name="T18" fmla="*/ 2024 h 20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4" h="2024">
                  <a:moveTo>
                    <a:pt x="0" y="0"/>
                  </a:moveTo>
                  <a:lnTo>
                    <a:pt x="0" y="1388"/>
                  </a:lnTo>
                  <a:lnTo>
                    <a:pt x="1064" y="2024"/>
                  </a:lnTo>
                  <a:lnTo>
                    <a:pt x="1064" y="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Freeform 4"/>
            <p:cNvSpPr>
              <a:spLocks/>
            </p:cNvSpPr>
            <p:nvPr/>
          </p:nvSpPr>
          <p:spPr bwMode="auto">
            <a:xfrm>
              <a:off x="493" y="2362"/>
              <a:ext cx="1297" cy="337"/>
            </a:xfrm>
            <a:custGeom>
              <a:avLst/>
              <a:gdLst>
                <a:gd name="T0" fmla="*/ 1297 w 1297"/>
                <a:gd name="T1" fmla="*/ 337 h 337"/>
                <a:gd name="T2" fmla="*/ 804 w 1297"/>
                <a:gd name="T3" fmla="*/ 0 h 337"/>
                <a:gd name="T4" fmla="*/ 0 w 1297"/>
                <a:gd name="T5" fmla="*/ 0 h 337"/>
                <a:gd name="T6" fmla="*/ 467 w 1297"/>
                <a:gd name="T7" fmla="*/ 337 h 337"/>
                <a:gd name="T8" fmla="*/ 1297 w 1297"/>
                <a:gd name="T9" fmla="*/ 337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7"/>
                <a:gd name="T16" fmla="*/ 0 h 337"/>
                <a:gd name="T17" fmla="*/ 1297 w 1297"/>
                <a:gd name="T18" fmla="*/ 337 h 3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7" h="337">
                  <a:moveTo>
                    <a:pt x="1297" y="337"/>
                  </a:moveTo>
                  <a:lnTo>
                    <a:pt x="804" y="0"/>
                  </a:lnTo>
                  <a:lnTo>
                    <a:pt x="0" y="0"/>
                  </a:lnTo>
                  <a:lnTo>
                    <a:pt x="467" y="337"/>
                  </a:lnTo>
                  <a:lnTo>
                    <a:pt x="1297" y="337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960" y="2037"/>
              <a:ext cx="817" cy="1337"/>
            </a:xfrm>
            <a:custGeom>
              <a:avLst/>
              <a:gdLst>
                <a:gd name="T0" fmla="*/ 817 w 817"/>
                <a:gd name="T1" fmla="*/ 0 h 1337"/>
                <a:gd name="T2" fmla="*/ 817 w 817"/>
                <a:gd name="T3" fmla="*/ 1337 h 1337"/>
                <a:gd name="T4" fmla="*/ 0 w 817"/>
                <a:gd name="T5" fmla="*/ 1337 h 1337"/>
                <a:gd name="T6" fmla="*/ 0 w 817"/>
                <a:gd name="T7" fmla="*/ 0 h 1337"/>
                <a:gd name="T8" fmla="*/ 817 w 817"/>
                <a:gd name="T9" fmla="*/ 0 h 1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1337"/>
                <a:gd name="T17" fmla="*/ 817 w 817"/>
                <a:gd name="T18" fmla="*/ 1337 h 13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1337">
                  <a:moveTo>
                    <a:pt x="817" y="0"/>
                  </a:moveTo>
                  <a:lnTo>
                    <a:pt x="817" y="1337"/>
                  </a:lnTo>
                  <a:lnTo>
                    <a:pt x="0" y="1337"/>
                  </a:lnTo>
                  <a:lnTo>
                    <a:pt x="0" y="0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99FF99">
                <a:alpha val="50195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947" y="2699"/>
              <a:ext cx="1388" cy="322"/>
            </a:xfrm>
            <a:custGeom>
              <a:avLst/>
              <a:gdLst>
                <a:gd name="T0" fmla="*/ 830 w 1388"/>
                <a:gd name="T1" fmla="*/ 0 h 322"/>
                <a:gd name="T2" fmla="*/ 1388 w 1388"/>
                <a:gd name="T3" fmla="*/ 322 h 322"/>
                <a:gd name="T4" fmla="*/ 480 w 1388"/>
                <a:gd name="T5" fmla="*/ 322 h 322"/>
                <a:gd name="T6" fmla="*/ 0 w 1388"/>
                <a:gd name="T7" fmla="*/ 0 h 322"/>
                <a:gd name="T8" fmla="*/ 830 w 1388"/>
                <a:gd name="T9" fmla="*/ 0 h 3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8"/>
                <a:gd name="T16" fmla="*/ 0 h 322"/>
                <a:gd name="T17" fmla="*/ 1388 w 1388"/>
                <a:gd name="T18" fmla="*/ 322 h 3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8" h="322">
                  <a:moveTo>
                    <a:pt x="830" y="0"/>
                  </a:moveTo>
                  <a:lnTo>
                    <a:pt x="1388" y="322"/>
                  </a:lnTo>
                  <a:lnTo>
                    <a:pt x="480" y="322"/>
                  </a:lnTo>
                  <a:lnTo>
                    <a:pt x="0" y="0"/>
                  </a:lnTo>
                  <a:lnTo>
                    <a:pt x="830" y="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 rot="111486">
              <a:off x="2121" y="2314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>
                  <a:latin typeface="宋体" charset="-122"/>
                </a:rPr>
                <a:t>W</a:t>
              </a:r>
              <a:endParaRPr lang="en-US" altLang="zh-CN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935" y="1990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/>
                <a:t>V</a:t>
              </a:r>
              <a:endParaRPr lang="en-US" altLang="zh-CN"/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381" y="280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>
                  <a:latin typeface="宋体" charset="-122"/>
                </a:rPr>
                <a:t>H</a:t>
              </a:r>
              <a:endParaRPr lang="en-US" altLang="zh-CN"/>
            </a:p>
          </p:txBody>
        </p:sp>
      </p:grpSp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8624848" y="4497572"/>
            <a:ext cx="492125" cy="679450"/>
            <a:chOff x="932" y="2427"/>
            <a:chExt cx="310" cy="428"/>
          </a:xfrm>
        </p:grpSpPr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932" y="2480"/>
              <a:ext cx="310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000"/>
                <a:t>Ⅰ</a:t>
              </a: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960" y="2427"/>
              <a:ext cx="234" cy="428"/>
            </a:xfrm>
            <a:custGeom>
              <a:avLst/>
              <a:gdLst>
                <a:gd name="T0" fmla="*/ 0 w 234"/>
                <a:gd name="T1" fmla="*/ 0 h 428"/>
                <a:gd name="T2" fmla="*/ 117 w 234"/>
                <a:gd name="T3" fmla="*/ 77 h 428"/>
                <a:gd name="T4" fmla="*/ 208 w 234"/>
                <a:gd name="T5" fmla="*/ 194 h 428"/>
                <a:gd name="T6" fmla="*/ 234 w 234"/>
                <a:gd name="T7" fmla="*/ 350 h 428"/>
                <a:gd name="T8" fmla="*/ 208 w 234"/>
                <a:gd name="T9" fmla="*/ 428 h 4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428"/>
                <a:gd name="T17" fmla="*/ 234 w 234"/>
                <a:gd name="T18" fmla="*/ 428 h 4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428">
                  <a:moveTo>
                    <a:pt x="0" y="0"/>
                  </a:moveTo>
                  <a:cubicBezTo>
                    <a:pt x="41" y="22"/>
                    <a:pt x="82" y="45"/>
                    <a:pt x="117" y="77"/>
                  </a:cubicBezTo>
                  <a:cubicBezTo>
                    <a:pt x="152" y="109"/>
                    <a:pt x="189" y="149"/>
                    <a:pt x="208" y="194"/>
                  </a:cubicBezTo>
                  <a:cubicBezTo>
                    <a:pt x="227" y="239"/>
                    <a:pt x="234" y="311"/>
                    <a:pt x="234" y="350"/>
                  </a:cubicBezTo>
                  <a:cubicBezTo>
                    <a:pt x="234" y="389"/>
                    <a:pt x="221" y="408"/>
                    <a:pt x="208" y="428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Group 13"/>
          <p:cNvGrpSpPr>
            <a:grpSpLocks/>
          </p:cNvGrpSpPr>
          <p:nvPr/>
        </p:nvGrpSpPr>
        <p:grpSpPr bwMode="auto">
          <a:xfrm>
            <a:off x="8310523" y="4464234"/>
            <a:ext cx="439737" cy="396875"/>
            <a:chOff x="2398" y="2523"/>
            <a:chExt cx="277" cy="250"/>
          </a:xfrm>
        </p:grpSpPr>
        <p:sp>
          <p:nvSpPr>
            <p:cNvPr id="18" name="Freeform 14"/>
            <p:cNvSpPr>
              <a:spLocks/>
            </p:cNvSpPr>
            <p:nvPr/>
          </p:nvSpPr>
          <p:spPr bwMode="auto">
            <a:xfrm>
              <a:off x="2434" y="2559"/>
              <a:ext cx="188" cy="127"/>
            </a:xfrm>
            <a:custGeom>
              <a:avLst/>
              <a:gdLst>
                <a:gd name="T0" fmla="*/ 188 w 188"/>
                <a:gd name="T1" fmla="*/ 0 h 127"/>
                <a:gd name="T2" fmla="*/ 93 w 188"/>
                <a:gd name="T3" fmla="*/ 8 h 127"/>
                <a:gd name="T4" fmla="*/ 42 w 188"/>
                <a:gd name="T5" fmla="*/ 44 h 127"/>
                <a:gd name="T6" fmla="*/ 0 w 188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"/>
                <a:gd name="T13" fmla="*/ 0 h 127"/>
                <a:gd name="T14" fmla="*/ 188 w 188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" h="127">
                  <a:moveTo>
                    <a:pt x="188" y="0"/>
                  </a:moveTo>
                  <a:cubicBezTo>
                    <a:pt x="172" y="1"/>
                    <a:pt x="117" y="1"/>
                    <a:pt x="93" y="8"/>
                  </a:cubicBezTo>
                  <a:cubicBezTo>
                    <a:pt x="69" y="15"/>
                    <a:pt x="57" y="24"/>
                    <a:pt x="42" y="44"/>
                  </a:cubicBezTo>
                  <a:cubicBezTo>
                    <a:pt x="27" y="64"/>
                    <a:pt x="9" y="110"/>
                    <a:pt x="0" y="127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sm" len="med"/>
              <a:tailEnd type="triangle" w="sm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2398" y="2523"/>
              <a:ext cx="27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/>
                <a:t>Ⅱ</a:t>
              </a:r>
            </a:p>
          </p:txBody>
        </p:sp>
      </p:grpSp>
      <p:grpSp>
        <p:nvGrpSpPr>
          <p:cNvPr id="20" name="Group 16"/>
          <p:cNvGrpSpPr>
            <a:grpSpLocks/>
          </p:cNvGrpSpPr>
          <p:nvPr/>
        </p:nvGrpSpPr>
        <p:grpSpPr bwMode="auto">
          <a:xfrm>
            <a:off x="8291473" y="4697597"/>
            <a:ext cx="439737" cy="646112"/>
            <a:chOff x="722" y="2553"/>
            <a:chExt cx="277" cy="407"/>
          </a:xfrm>
        </p:grpSpPr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722" y="2614"/>
              <a:ext cx="27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/>
                <a:t>Ⅲ</a:t>
              </a: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747" y="2553"/>
              <a:ext cx="220" cy="407"/>
            </a:xfrm>
            <a:custGeom>
              <a:avLst/>
              <a:gdLst>
                <a:gd name="T0" fmla="*/ 16 w 220"/>
                <a:gd name="T1" fmla="*/ 0 h 407"/>
                <a:gd name="T2" fmla="*/ 2 w 220"/>
                <a:gd name="T3" fmla="*/ 116 h 407"/>
                <a:gd name="T4" fmla="*/ 31 w 220"/>
                <a:gd name="T5" fmla="*/ 233 h 407"/>
                <a:gd name="T6" fmla="*/ 118 w 220"/>
                <a:gd name="T7" fmla="*/ 342 h 407"/>
                <a:gd name="T8" fmla="*/ 220 w 220"/>
                <a:gd name="T9" fmla="*/ 407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0"/>
                <a:gd name="T16" fmla="*/ 0 h 407"/>
                <a:gd name="T17" fmla="*/ 220 w 220"/>
                <a:gd name="T18" fmla="*/ 407 h 4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0" h="407">
                  <a:moveTo>
                    <a:pt x="16" y="0"/>
                  </a:moveTo>
                  <a:cubicBezTo>
                    <a:pt x="15" y="19"/>
                    <a:pt x="0" y="77"/>
                    <a:pt x="2" y="116"/>
                  </a:cubicBezTo>
                  <a:cubicBezTo>
                    <a:pt x="4" y="155"/>
                    <a:pt x="12" y="195"/>
                    <a:pt x="31" y="233"/>
                  </a:cubicBezTo>
                  <a:cubicBezTo>
                    <a:pt x="50" y="271"/>
                    <a:pt x="87" y="313"/>
                    <a:pt x="118" y="342"/>
                  </a:cubicBezTo>
                  <a:cubicBezTo>
                    <a:pt x="149" y="371"/>
                    <a:pt x="199" y="394"/>
                    <a:pt x="220" y="407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3" name="Group 19"/>
          <p:cNvGrpSpPr>
            <a:grpSpLocks/>
          </p:cNvGrpSpPr>
          <p:nvPr/>
        </p:nvGrpSpPr>
        <p:grpSpPr bwMode="auto">
          <a:xfrm>
            <a:off x="8550235" y="4986522"/>
            <a:ext cx="492125" cy="396875"/>
            <a:chOff x="885" y="2735"/>
            <a:chExt cx="310" cy="250"/>
          </a:xfrm>
        </p:grpSpPr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885" y="2735"/>
              <a:ext cx="3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000"/>
                <a:t>Ⅳ</a:t>
              </a:r>
            </a:p>
          </p:txBody>
        </p:sp>
        <p:sp>
          <p:nvSpPr>
            <p:cNvPr id="25" name="Freeform 21"/>
            <p:cNvSpPr>
              <a:spLocks/>
            </p:cNvSpPr>
            <p:nvPr/>
          </p:nvSpPr>
          <p:spPr bwMode="auto">
            <a:xfrm>
              <a:off x="945" y="2837"/>
              <a:ext cx="226" cy="138"/>
            </a:xfrm>
            <a:custGeom>
              <a:avLst/>
              <a:gdLst>
                <a:gd name="T0" fmla="*/ 226 w 226"/>
                <a:gd name="T1" fmla="*/ 0 h 138"/>
                <a:gd name="T2" fmla="*/ 204 w 226"/>
                <a:gd name="T3" fmla="*/ 58 h 138"/>
                <a:gd name="T4" fmla="*/ 168 w 226"/>
                <a:gd name="T5" fmla="*/ 116 h 138"/>
                <a:gd name="T6" fmla="*/ 88 w 226"/>
                <a:gd name="T7" fmla="*/ 138 h 138"/>
                <a:gd name="T8" fmla="*/ 0 w 226"/>
                <a:gd name="T9" fmla="*/ 116 h 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6"/>
                <a:gd name="T16" fmla="*/ 0 h 138"/>
                <a:gd name="T17" fmla="*/ 226 w 226"/>
                <a:gd name="T18" fmla="*/ 138 h 1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6" h="138">
                  <a:moveTo>
                    <a:pt x="226" y="0"/>
                  </a:moveTo>
                  <a:cubicBezTo>
                    <a:pt x="222" y="10"/>
                    <a:pt x="214" y="39"/>
                    <a:pt x="204" y="58"/>
                  </a:cubicBezTo>
                  <a:cubicBezTo>
                    <a:pt x="194" y="77"/>
                    <a:pt x="187" y="103"/>
                    <a:pt x="168" y="116"/>
                  </a:cubicBezTo>
                  <a:cubicBezTo>
                    <a:pt x="149" y="129"/>
                    <a:pt x="116" y="138"/>
                    <a:pt x="88" y="138"/>
                  </a:cubicBezTo>
                  <a:cubicBezTo>
                    <a:pt x="60" y="138"/>
                    <a:pt x="18" y="121"/>
                    <a:pt x="0" y="116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sm" len="med"/>
              <a:tailEnd type="triangle" w="sm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1318073" y="1579415"/>
            <a:ext cx="33140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宋体" charset="-122"/>
              </a:rPr>
              <a:t>什么是第三角画法？</a:t>
            </a: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1305757" y="1970877"/>
            <a:ext cx="968678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dirty="0">
                <a:latin typeface="宋体" charset="-122"/>
              </a:rPr>
              <a:t>    </a:t>
            </a:r>
            <a:r>
              <a:rPr lang="zh-CN" altLang="en-US" sz="2400" dirty="0">
                <a:latin typeface="宋体" charset="-122"/>
              </a:rPr>
              <a:t>三个互相垂直的投影面</a:t>
            </a:r>
            <a:r>
              <a:rPr lang="en-US" altLang="zh-CN" sz="2400" dirty="0">
                <a:latin typeface="宋体" charset="-122"/>
              </a:rPr>
              <a:t>V</a:t>
            </a:r>
            <a:r>
              <a:rPr lang="zh-CN" altLang="en-US" sz="2400" dirty="0">
                <a:latin typeface="宋体" charset="-122"/>
              </a:rPr>
              <a:t>、</a:t>
            </a:r>
            <a:r>
              <a:rPr lang="en-US" altLang="zh-CN" sz="2400" dirty="0">
                <a:latin typeface="宋体" charset="-122"/>
              </a:rPr>
              <a:t>H</a:t>
            </a:r>
            <a:r>
              <a:rPr lang="zh-CN" altLang="en-US" sz="2400" dirty="0">
                <a:latin typeface="宋体" charset="-122"/>
              </a:rPr>
              <a:t>、</a:t>
            </a:r>
            <a:r>
              <a:rPr lang="en-US" altLang="zh-CN" sz="2400" dirty="0">
                <a:latin typeface="宋体" charset="-122"/>
              </a:rPr>
              <a:t>W</a:t>
            </a:r>
            <a:r>
              <a:rPr lang="zh-CN" altLang="en-US" sz="2400" dirty="0">
                <a:latin typeface="宋体" charset="-122"/>
              </a:rPr>
              <a:t>，将</a:t>
            </a:r>
            <a:r>
              <a:rPr lang="en-US" altLang="zh-CN" sz="2400" dirty="0">
                <a:latin typeface="宋体" charset="-122"/>
              </a:rPr>
              <a:t>W</a:t>
            </a:r>
            <a:r>
              <a:rPr lang="zh-CN" altLang="en-US" sz="2400" dirty="0">
                <a:latin typeface="宋体" charset="-122"/>
              </a:rPr>
              <a:t>面左侧空间划分为四个区域，按顺序分别称为第一角、第二角、第三角、第四角。</a:t>
            </a: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1359352" y="3553006"/>
            <a:ext cx="25443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latin typeface="宋体" charset="-122"/>
              </a:rPr>
              <a:t>将物体放在第三角，使投影面处在观察者和物体之间进行投射。</a:t>
            </a:r>
          </a:p>
        </p:txBody>
      </p: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1305757" y="1054191"/>
            <a:ext cx="3314079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第三角投影法简介</a:t>
            </a:r>
          </a:p>
        </p:txBody>
      </p:sp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39036" y="3047335"/>
            <a:ext cx="2857500" cy="3238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31" name="组合 50"/>
          <p:cNvGrpSpPr>
            <a:grpSpLocks/>
          </p:cNvGrpSpPr>
          <p:nvPr/>
        </p:nvGrpSpPr>
        <p:grpSpPr bwMode="auto">
          <a:xfrm>
            <a:off x="4683473" y="3409285"/>
            <a:ext cx="3017838" cy="3014663"/>
            <a:chOff x="4044292" y="3885379"/>
            <a:chExt cx="3018102" cy="3014574"/>
          </a:xfrm>
        </p:grpSpPr>
        <p:sp>
          <p:nvSpPr>
            <p:cNvPr id="32" name="矩形 26"/>
            <p:cNvSpPr>
              <a:spLocks noChangeArrowheads="1"/>
            </p:cNvSpPr>
            <p:nvPr/>
          </p:nvSpPr>
          <p:spPr bwMode="auto">
            <a:xfrm>
              <a:off x="5283210" y="5145111"/>
              <a:ext cx="1643085" cy="1606572"/>
            </a:xfrm>
            <a:prstGeom prst="rect">
              <a:avLst/>
            </a:prstGeom>
            <a:solidFill>
              <a:srgbClr val="92D050">
                <a:alpha val="34117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charset="-122"/>
              </a:endParaRPr>
            </a:p>
          </p:txBody>
        </p:sp>
        <p:sp>
          <p:nvSpPr>
            <p:cNvPr id="33" name="菱形 48"/>
            <p:cNvSpPr>
              <a:spLocks noChangeArrowheads="1"/>
            </p:cNvSpPr>
            <p:nvPr/>
          </p:nvSpPr>
          <p:spPr bwMode="auto">
            <a:xfrm rot="-1368630">
              <a:off x="5727519" y="3885379"/>
              <a:ext cx="1267236" cy="3014574"/>
            </a:xfrm>
            <a:prstGeom prst="diamond">
              <a:avLst/>
            </a:prstGeom>
            <a:solidFill>
              <a:srgbClr val="FFFF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charset="-122"/>
              </a:endParaRPr>
            </a:p>
          </p:txBody>
        </p:sp>
        <p:sp>
          <p:nvSpPr>
            <p:cNvPr id="34" name="流程图: 决策 49"/>
            <p:cNvSpPr>
              <a:spLocks noChangeArrowheads="1"/>
            </p:cNvSpPr>
            <p:nvPr/>
          </p:nvSpPr>
          <p:spPr bwMode="auto">
            <a:xfrm rot="1355378">
              <a:off x="4044292" y="3950612"/>
              <a:ext cx="3018102" cy="1245382"/>
            </a:xfrm>
            <a:prstGeom prst="flowChartDecision">
              <a:avLst/>
            </a:prstGeom>
            <a:solidFill>
              <a:srgbClr val="7030A0">
                <a:alpha val="349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53832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  <p:bldP spid="27" grpId="0" autoUpdateAnimBg="0"/>
      <p:bldP spid="2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机件的常用表达方法（三）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 r="50000"/>
          <a:stretch>
            <a:fillRect/>
          </a:stretch>
        </p:blipFill>
        <p:spPr bwMode="auto">
          <a:xfrm>
            <a:off x="1991544" y="2240868"/>
            <a:ext cx="4235450" cy="4127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 l="54478" t="25400"/>
          <a:stretch>
            <a:fillRect/>
          </a:stretch>
        </p:blipFill>
        <p:spPr bwMode="auto">
          <a:xfrm>
            <a:off x="6300019" y="2148793"/>
            <a:ext cx="4459287" cy="35607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1305757" y="1054191"/>
            <a:ext cx="3314079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第三角投影法简介</a:t>
            </a:r>
          </a:p>
        </p:txBody>
      </p:sp>
    </p:spTree>
    <p:extLst>
      <p:ext uri="{BB962C8B-B14F-4D97-AF65-F5344CB8AC3E}">
        <p14:creationId xmlns:p14="http://schemas.microsoft.com/office/powerpoint/2010/main" val="152324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523491" y="2041392"/>
            <a:ext cx="8565745" cy="13849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latin typeface="宋体" charset="-122"/>
              </a:rPr>
              <a:t>    </a:t>
            </a:r>
            <a:r>
              <a:rPr lang="zh-CN" altLang="en-US" sz="2800" dirty="0">
                <a:latin typeface="宋体" charset="-122"/>
              </a:rPr>
              <a:t>本章所介绍的各种视图、剖视图、断面图的画法及标注方法，均系国标规定，必须很好掌握，才能画出合格的工作图。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523492" y="3681028"/>
            <a:ext cx="8565744" cy="19303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宋体" charset="-122"/>
              </a:rPr>
              <a:t>    </a:t>
            </a:r>
            <a:r>
              <a:rPr lang="zh-CN" altLang="en-US" sz="2800" dirty="0">
                <a:latin typeface="宋体" charset="-122"/>
              </a:rPr>
              <a:t>简化画法只介绍了常用的几种，这部分内容较多，需要时可查阅有关标准（ </a:t>
            </a:r>
            <a:r>
              <a:rPr lang="en-US" altLang="zh-CN" sz="2800" dirty="0">
                <a:latin typeface="宋体" charset="-122"/>
              </a:rPr>
              <a:t>GB-T16675.1-2012 </a:t>
            </a:r>
            <a:r>
              <a:rPr lang="zh-CN" altLang="en-US" sz="2800" dirty="0">
                <a:latin typeface="宋体" charset="-122"/>
              </a:rPr>
              <a:t>技术制图 简化表示法 图样画法）。</a:t>
            </a:r>
          </a:p>
        </p:txBody>
      </p:sp>
      <p:sp>
        <p:nvSpPr>
          <p:cNvPr id="5" name="矩形 4"/>
          <p:cNvSpPr/>
          <p:nvPr/>
        </p:nvSpPr>
        <p:spPr>
          <a:xfrm>
            <a:off x="3933880" y="476672"/>
            <a:ext cx="3272050" cy="707886"/>
          </a:xfrm>
          <a:prstGeom prst="rect">
            <a:avLst/>
          </a:prstGeom>
          <a:noFill/>
        </p:spPr>
        <p:txBody>
          <a:bodyPr wrap="none">
            <a:prstTxWarp prst="textWave2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40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ea typeface="宋体" pitchFamily="2" charset="-122"/>
              </a:rPr>
              <a:t>本章内容回顾</a:t>
            </a:r>
          </a:p>
        </p:txBody>
      </p:sp>
    </p:spTree>
    <p:extLst>
      <p:ext uri="{BB962C8B-B14F-4D97-AF65-F5344CB8AC3E}">
        <p14:creationId xmlns:p14="http://schemas.microsoft.com/office/powerpoint/2010/main" val="301221438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aafe1b52da329f1ab8a9a940a6326d67cc30705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4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4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4493</TotalTime>
  <Words>1321</Words>
  <Application>Microsoft Office PowerPoint</Application>
  <PresentationFormat>宽屏</PresentationFormat>
  <Paragraphs>138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黑体</vt:lpstr>
      <vt:lpstr>华文行楷</vt:lpstr>
      <vt:lpstr>宋体</vt:lpstr>
      <vt:lpstr>Microsoft Yahei</vt:lpstr>
      <vt:lpstr>Arial</vt:lpstr>
      <vt:lpstr>Calibri</vt:lpstr>
      <vt:lpstr>ISOCPEUR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机件的表达 1</dc:title>
  <dc:creator>穆浩志</dc:creator>
  <cp:keywords>天津理工大学</cp:keywords>
  <cp:lastModifiedBy>Lenovo</cp:lastModifiedBy>
  <cp:revision>412</cp:revision>
  <dcterms:created xsi:type="dcterms:W3CDTF">2014-03-20T09:34:50Z</dcterms:created>
  <dcterms:modified xsi:type="dcterms:W3CDTF">2021-03-09T05:45:29Z</dcterms:modified>
</cp:coreProperties>
</file>
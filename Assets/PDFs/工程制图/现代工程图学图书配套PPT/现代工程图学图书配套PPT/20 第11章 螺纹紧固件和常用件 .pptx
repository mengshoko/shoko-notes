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av" ContentType="audio/wav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79" r:id="rId1"/>
  </p:sldMasterIdLst>
  <p:notesMasterIdLst>
    <p:notesMasterId r:id="rId41"/>
  </p:notesMasterIdLst>
  <p:handoutMasterIdLst>
    <p:handoutMasterId r:id="rId42"/>
  </p:handoutMasterIdLst>
  <p:sldIdLst>
    <p:sldId id="556" r:id="rId2"/>
    <p:sldId id="593" r:id="rId3"/>
    <p:sldId id="557" r:id="rId4"/>
    <p:sldId id="558" r:id="rId5"/>
    <p:sldId id="559" r:id="rId6"/>
    <p:sldId id="560" r:id="rId7"/>
    <p:sldId id="561" r:id="rId8"/>
    <p:sldId id="562" r:id="rId9"/>
    <p:sldId id="563" r:id="rId10"/>
    <p:sldId id="564" r:id="rId11"/>
    <p:sldId id="565" r:id="rId12"/>
    <p:sldId id="566" r:id="rId13"/>
    <p:sldId id="567" r:id="rId14"/>
    <p:sldId id="568" r:id="rId15"/>
    <p:sldId id="569" r:id="rId16"/>
    <p:sldId id="570" r:id="rId17"/>
    <p:sldId id="571" r:id="rId18"/>
    <p:sldId id="572" r:id="rId19"/>
    <p:sldId id="573" r:id="rId20"/>
    <p:sldId id="574" r:id="rId21"/>
    <p:sldId id="575" r:id="rId22"/>
    <p:sldId id="576" r:id="rId23"/>
    <p:sldId id="577" r:id="rId24"/>
    <p:sldId id="578" r:id="rId25"/>
    <p:sldId id="579" r:id="rId26"/>
    <p:sldId id="580" r:id="rId27"/>
    <p:sldId id="581" r:id="rId28"/>
    <p:sldId id="582" r:id="rId29"/>
    <p:sldId id="583" r:id="rId30"/>
    <p:sldId id="584" r:id="rId31"/>
    <p:sldId id="585" r:id="rId32"/>
    <p:sldId id="586" r:id="rId33"/>
    <p:sldId id="587" r:id="rId34"/>
    <p:sldId id="588" r:id="rId35"/>
    <p:sldId id="589" r:id="rId36"/>
    <p:sldId id="591" r:id="rId37"/>
    <p:sldId id="592" r:id="rId38"/>
    <p:sldId id="594" r:id="rId39"/>
    <p:sldId id="595" r:id="rId40"/>
  </p:sldIdLst>
  <p:sldSz cx="12192000" cy="6858000"/>
  <p:notesSz cx="6858000" cy="9144000"/>
  <p:custDataLst>
    <p:tags r:id="rId43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  <p:modifyVerifier cryptProviderType="rsaFull" cryptAlgorithmClass="hash" cryptAlgorithmType="typeAny" cryptAlgorithmSid="4" spinCount="50000" saltData="mO70nCLIcukbO/AWMqOVBA==" hashData="3UCDgBbuXkPhh88f0aBJLmsLrss="/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 autoAdjust="0"/>
    <p:restoredTop sz="93902" autoAdjust="0"/>
  </p:normalViewPr>
  <p:slideViewPr>
    <p:cSldViewPr>
      <p:cViewPr varScale="1">
        <p:scale>
          <a:sx n="107" d="100"/>
          <a:sy n="107" d="100"/>
        </p:scale>
        <p:origin x="768" y="114"/>
      </p:cViewPr>
      <p:guideLst>
        <p:guide orient="horz" pos="2160"/>
        <p:guide pos="3840"/>
      </p:guideLst>
    </p:cSldViewPr>
  </p:slid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8" d="100"/>
          <a:sy n="68" d="100"/>
        </p:scale>
        <p:origin x="-2808" y="-96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handoutMaster" Target="handoutMasters/handoutMaster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gs" Target="tags/tag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A5DBDB-D3C0-43E7-B9D8-8BF08541952E}" type="datetimeFigureOut">
              <a:rPr lang="zh-CN" altLang="en-US" smtClean="0"/>
              <a:t>2021/3/9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EB47A9-A4E7-482B-A9E3-5150A330642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D994F821-7148-4155-8A4B-3568DDD25123}" type="datetimeFigureOut">
              <a:rPr lang="zh-CN" altLang="en-US"/>
              <a:pPr>
                <a:defRPr/>
              </a:pPr>
              <a:t>2021/3/9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charset="0"/>
                <a:ea typeface="宋体" pitchFamily="2" charset="-122"/>
              </a:defRPr>
            </a:lvl1pPr>
          </a:lstStyle>
          <a:p>
            <a:pPr>
              <a:defRPr/>
            </a:pPr>
            <a:fld id="{350BB752-86F0-4A2B-B1F4-3D725A534A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49088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50BB752-86F0-4A2B-B1F4-3D725A534A06}" type="slidenum">
              <a:rPr lang="zh-CN" altLang="en-US" smtClean="0"/>
              <a:pPr>
                <a:defRPr/>
              </a:pPr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6324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5882894-31D0-4353-8FC4-53FD4467D42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51325CCF-3893-4AF4-9378-6503525C1C9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1528D238-9626-4573-9B0E-3A01311DAB9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BC39A87-C04B-44B8-8492-59308235E3A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91C292D2-F234-45FE-9C8F-D7CD6A71BC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B59C782-E5B5-4D1E-84E8-00EB87A66F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23F1626B-87FC-4106-99C3-08CD08C6CED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D8AFA40-474E-4131-9465-1772CE74A1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624BEE-B42A-4D24-A6A0-A13054AF2E7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ED04EAC3-810B-4186-9CDC-14BAD13725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83A06682-6D3C-44FE-A8FD-CF179FE872D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73827A9-F015-4526-A947-A7D0641A67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7730E9EB-F9AD-4188-B464-117A56F21EC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37FC85D4-21D3-4B1F-9919-8F298A4744B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B4B1C4B7-372D-48C2-8DDA-B810BF3CD4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44E84D88-8CA2-4D77-8F92-4C576078AA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AE7EA432-7B9C-4122-898F-523AEF872E2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7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灯片编号占位符 9"/>
          <p:cNvSpPr>
            <a:spLocks noGrp="1"/>
          </p:cNvSpPr>
          <p:nvPr>
            <p:ph type="sldNum" sz="quarter" idx="11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fld id="{0623D218-3769-4A9E-A4E2-A5A466000D8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" name="页脚占位符 11"/>
          <p:cNvSpPr>
            <a:spLocks noGrp="1"/>
          </p:cNvSpPr>
          <p:nvPr>
            <p:ph type="ftr" sz="quarter" idx="12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rtlCol="0"/>
          <a:lstStyle>
            <a:lvl1pPr>
              <a:defRPr>
                <a:ea typeface="宋体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647700" y="14287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609600" y="197485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" name="Rectangle 2"/>
          <p:cNvSpPr>
            <a:spLocks noChangeArrowheads="1"/>
          </p:cNvSpPr>
          <p:nvPr userDrawn="1"/>
        </p:nvSpPr>
        <p:spPr bwMode="ltGray">
          <a:xfrm>
            <a:off x="556684" y="679451"/>
            <a:ext cx="584200" cy="473075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3" name="Rectangle 3"/>
          <p:cNvSpPr>
            <a:spLocks noChangeArrowheads="1"/>
          </p:cNvSpPr>
          <p:nvPr userDrawn="1"/>
        </p:nvSpPr>
        <p:spPr bwMode="ltGray">
          <a:xfrm>
            <a:off x="1066801" y="679450"/>
            <a:ext cx="438151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4" name="Rectangle 4"/>
          <p:cNvSpPr>
            <a:spLocks noChangeArrowheads="1"/>
          </p:cNvSpPr>
          <p:nvPr userDrawn="1"/>
        </p:nvSpPr>
        <p:spPr bwMode="ltGray">
          <a:xfrm>
            <a:off x="721785" y="1101726"/>
            <a:ext cx="563033" cy="474663"/>
          </a:xfrm>
          <a:prstGeom prst="rect">
            <a:avLst/>
          </a:prstGeom>
          <a:solidFill>
            <a:schemeClr val="folHlink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5" name="Rectangle 5"/>
          <p:cNvSpPr>
            <a:spLocks noChangeArrowheads="1"/>
          </p:cNvSpPr>
          <p:nvPr userDrawn="1"/>
        </p:nvSpPr>
        <p:spPr bwMode="ltGray">
          <a:xfrm>
            <a:off x="1214967" y="1101726"/>
            <a:ext cx="491067" cy="47307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6" name="Rectangle 6"/>
          <p:cNvSpPr>
            <a:spLocks noChangeArrowheads="1"/>
          </p:cNvSpPr>
          <p:nvPr userDrawn="1"/>
        </p:nvSpPr>
        <p:spPr bwMode="ltGray">
          <a:xfrm>
            <a:off x="169333" y="1028700"/>
            <a:ext cx="747184" cy="420688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7" name="Rectangle 7"/>
          <p:cNvSpPr>
            <a:spLocks noChangeArrowheads="1"/>
          </p:cNvSpPr>
          <p:nvPr userDrawn="1"/>
        </p:nvSpPr>
        <p:spPr bwMode="gray">
          <a:xfrm>
            <a:off x="1016000" y="571500"/>
            <a:ext cx="42333" cy="1049338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28" name="Rectangle 8"/>
          <p:cNvSpPr>
            <a:spLocks noChangeArrowheads="1"/>
          </p:cNvSpPr>
          <p:nvPr userDrawn="1"/>
        </p:nvSpPr>
        <p:spPr bwMode="gray">
          <a:xfrm>
            <a:off x="590551" y="1362075"/>
            <a:ext cx="10968567" cy="46038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CN" altLang="zh-CN">
              <a:ea typeface="宋体" pitchFamily="2" charset="-122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10136772" y="1128681"/>
            <a:ext cx="1849992" cy="292104"/>
          </a:xfrm>
          <a:prstGeom prst="rect">
            <a:avLst/>
          </a:prstGeom>
          <a:noFill/>
        </p:spPr>
        <p:txBody>
          <a:bodyPr wrap="none">
            <a:prstTxWarp prst="textPlain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>
              <a:defRPr/>
            </a:pPr>
            <a:r>
              <a:rPr lang="zh-CN" altLang="en-US" sz="5400" dirty="0">
                <a:ln w="11430"/>
                <a:solidFill>
                  <a:srgbClr val="C00000"/>
                </a:solidFill>
                <a:latin typeface="华文行楷" pitchFamily="2" charset="-122"/>
                <a:ea typeface="华文行楷" pitchFamily="2" charset="-122"/>
              </a:rPr>
              <a:t>主讲：穆浩志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133DBCF0-7D0A-4ADD-9736-CC38ED21DEF8}"/>
              </a:ext>
            </a:extLst>
          </p:cNvPr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8481" y="29268"/>
            <a:ext cx="1085850" cy="10477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728" r:id="rId1"/>
    <p:sldLayoutId id="2147484729" r:id="rId2"/>
    <p:sldLayoutId id="2147484730" r:id="rId3"/>
    <p:sldLayoutId id="2147484731" r:id="rId4"/>
    <p:sldLayoutId id="2147484732" r:id="rId5"/>
    <p:sldLayoutId id="2147484733" r:id="rId6"/>
    <p:sldLayoutId id="2147484734" r:id="rId7"/>
    <p:sldLayoutId id="2147484735" r:id="rId8"/>
    <p:sldLayoutId id="2147484736" r:id="rId9"/>
    <p:sldLayoutId id="2147484737" r:id="rId10"/>
    <p:sldLayoutId id="2147484738" r:id="rId11"/>
    <p:sldLayoutId id="2147484739" r:id="rId12"/>
    <p:sldLayoutId id="2147484740" r:id="rId13"/>
    <p:sldLayoutId id="2147484741" r:id="rId14"/>
    <p:sldLayoutId id="2147484742" r:id="rId15"/>
    <p:sldLayoutId id="2147484743" r:id="rId16"/>
    <p:sldLayoutId id="2147484744" r:id="rId17"/>
    <p:sldLayoutId id="2147484745" r:id="rId18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FF5A434-FDCC-47C1-A9CB-6F371B712BFA}"/>
              </a:ext>
            </a:extLst>
          </p:cNvPr>
          <p:cNvSpPr/>
          <p:nvPr/>
        </p:nvSpPr>
        <p:spPr>
          <a:xfrm>
            <a:off x="4149725" y="512676"/>
            <a:ext cx="3892550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200" kern="10" dirty="0">
                <a:solidFill>
                  <a:srgbClr val="336699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螺纹紧固件及常用件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B80A8BF-F51E-400E-ACD3-1E3BB03926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9848" y="2112167"/>
            <a:ext cx="28479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indent="152400" algn="ctr">
              <a:tabLst>
                <a:tab pos="2636838" algn="ctr"/>
                <a:tab pos="5273675" algn="r"/>
              </a:tabLst>
            </a:pPr>
            <a:r>
              <a:rPr lang="zh-CN" altLang="en-US" sz="2800" b="1" dirty="0">
                <a:latin typeface="+mn-ea"/>
                <a:ea typeface="+mn-ea"/>
                <a:cs typeface="Arial" charset="0"/>
              </a:rPr>
              <a:t>教学内容：</a:t>
            </a:r>
          </a:p>
        </p:txBody>
      </p:sp>
      <p:sp>
        <p:nvSpPr>
          <p:cNvPr id="4" name="右箭头 3">
            <a:extLst>
              <a:ext uri="{FF2B5EF4-FFF2-40B4-BE49-F238E27FC236}">
                <a16:creationId xmlns:a16="http://schemas.microsoft.com/office/drawing/2014/main" id="{E4DA5153-A21E-45F2-A0FF-DC6E0447D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9862" y="3764785"/>
            <a:ext cx="2847975" cy="813603"/>
          </a:xfrm>
          <a:prstGeom prst="rightArrow">
            <a:avLst>
              <a:gd name="adj1" fmla="val 50000"/>
              <a:gd name="adj2" fmla="val 49937"/>
            </a:avLst>
          </a:prstGeom>
          <a:noFill/>
          <a:ln w="28575" algn="ctr">
            <a:noFill/>
            <a:round/>
            <a:headEnd/>
            <a:tailEnd/>
          </a:ln>
        </p:spPr>
        <p:txBody>
          <a:bodyPr wrap="none" anchor="ctr"/>
          <a:lstStyle/>
          <a:p>
            <a:pPr algn="ctr">
              <a:tabLst>
                <a:tab pos="2636838" algn="ctr"/>
                <a:tab pos="5273675" algn="r"/>
              </a:tabLst>
            </a:pPr>
            <a:r>
              <a:rPr lang="zh-CN" altLang="en-US" sz="2800" b="1" dirty="0">
                <a:latin typeface="+mn-ea"/>
                <a:ea typeface="+mn-ea"/>
                <a:cs typeface="Arial" charset="0"/>
              </a:rPr>
              <a:t>学习目标</a:t>
            </a:r>
            <a:r>
              <a:rPr lang="en-US" altLang="zh-CN" sz="2800" b="1" dirty="0">
                <a:latin typeface="+mn-ea"/>
                <a:ea typeface="+mn-ea"/>
                <a:cs typeface="Arial" charset="0"/>
              </a:rPr>
              <a:t>:</a:t>
            </a:r>
            <a:endParaRPr lang="en-US" altLang="zh-CN" sz="2800" b="1" dirty="0">
              <a:latin typeface="+mn-ea"/>
              <a:ea typeface="+mn-ea"/>
            </a:endParaRPr>
          </a:p>
        </p:txBody>
      </p:sp>
      <p:sp>
        <p:nvSpPr>
          <p:cNvPr id="5" name="AutoShape 20">
            <a:extLst>
              <a:ext uri="{FF2B5EF4-FFF2-40B4-BE49-F238E27FC236}">
                <a16:creationId xmlns:a16="http://schemas.microsoft.com/office/drawing/2014/main" id="{2FD74F32-23B6-430A-BAAC-3DD6FD8BB012}"/>
              </a:ext>
            </a:extLst>
          </p:cNvPr>
          <p:cNvSpPr>
            <a:spLocks/>
          </p:cNvSpPr>
          <p:nvPr/>
        </p:nvSpPr>
        <p:spPr bwMode="auto">
          <a:xfrm>
            <a:off x="3802502" y="1659165"/>
            <a:ext cx="258763" cy="1466850"/>
          </a:xfrm>
          <a:prstGeom prst="leftBrace">
            <a:avLst>
              <a:gd name="adj1" fmla="val 108400"/>
              <a:gd name="adj2" fmla="val 50000"/>
            </a:avLst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2800">
              <a:latin typeface="+mn-ea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0CA53D-0731-409E-A2CA-F5BEA7F27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4108" y="1412552"/>
            <a:ext cx="550068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zh-CN" sz="2800" dirty="0">
                <a:latin typeface="+mn-ea"/>
                <a:ea typeface="+mn-ea"/>
              </a:rPr>
              <a:t>1.</a:t>
            </a:r>
            <a:r>
              <a:rPr lang="zh-CN" altLang="en-US" sz="2800" dirty="0">
                <a:latin typeface="+mn-ea"/>
                <a:ea typeface="+mn-ea"/>
              </a:rPr>
              <a:t>螺纹基本知识</a:t>
            </a:r>
          </a:p>
        </p:txBody>
      </p:sp>
      <p:sp>
        <p:nvSpPr>
          <p:cNvPr id="7" name="AutoShape 20">
            <a:extLst>
              <a:ext uri="{FF2B5EF4-FFF2-40B4-BE49-F238E27FC236}">
                <a16:creationId xmlns:a16="http://schemas.microsoft.com/office/drawing/2014/main" id="{BB7FEC42-9619-47ED-9538-03EF52D747D7}"/>
              </a:ext>
            </a:extLst>
          </p:cNvPr>
          <p:cNvSpPr>
            <a:spLocks/>
          </p:cNvSpPr>
          <p:nvPr/>
        </p:nvSpPr>
        <p:spPr bwMode="auto">
          <a:xfrm>
            <a:off x="3862854" y="3573057"/>
            <a:ext cx="258763" cy="1466850"/>
          </a:xfrm>
          <a:prstGeom prst="leftBrace">
            <a:avLst>
              <a:gd name="adj1" fmla="val 108336"/>
              <a:gd name="adj2" fmla="val 50000"/>
            </a:avLst>
          </a:prstGeom>
          <a:ln>
            <a:headEnd/>
            <a:tailEnd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wrap="none" anchor="ctr"/>
          <a:lstStyle/>
          <a:p>
            <a:pPr algn="ctr">
              <a:defRPr/>
            </a:pPr>
            <a:endParaRPr lang="zh-CN" altLang="en-US" sz="2800">
              <a:latin typeface="+mn-ea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ED58D4-C143-418C-9705-F7AF20667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58640" y="3875595"/>
            <a:ext cx="710195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+mn-ea"/>
                <a:ea typeface="+mn-ea"/>
                <a:cs typeface="Times New Roman" pitchFamily="18" charset="0"/>
              </a:rPr>
              <a:t>2.</a:t>
            </a:r>
            <a:r>
              <a:rPr lang="zh-CN" altLang="en-US" sz="2800" dirty="0">
                <a:latin typeface="+mn-ea"/>
                <a:ea typeface="+mn-ea"/>
              </a:rPr>
              <a:t>掌握螺纹及其连接的规定画法，螺纹紧固件的画法和规定标记</a:t>
            </a:r>
            <a:endParaRPr lang="en-US" altLang="zh-CN" sz="2800" dirty="0">
              <a:latin typeface="+mn-ea"/>
              <a:ea typeface="+mn-ea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42CD2F4-2B87-4C57-BC9D-1A8CBFCF23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696" y="3352375"/>
            <a:ext cx="641644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800" dirty="0">
                <a:latin typeface="+mn-ea"/>
                <a:ea typeface="+mn-ea"/>
                <a:cs typeface="Times New Roman" pitchFamily="18" charset="0"/>
              </a:rPr>
              <a:t>1.</a:t>
            </a:r>
            <a:r>
              <a:rPr lang="zh-CN" altLang="en-US" sz="2800" dirty="0">
                <a:latin typeface="+mn-ea"/>
                <a:ea typeface="+mn-ea"/>
              </a:rPr>
              <a:t>掌握常用件和标准结构要素的概念</a:t>
            </a:r>
          </a:p>
        </p:txBody>
      </p:sp>
      <p:sp>
        <p:nvSpPr>
          <p:cNvPr id="10" name="右箭头 9">
            <a:extLst>
              <a:ext uri="{FF2B5EF4-FFF2-40B4-BE49-F238E27FC236}">
                <a16:creationId xmlns:a16="http://schemas.microsoft.com/office/drawing/2014/main" id="{02BF0805-B644-4361-8A1E-487ADBE5D7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3512" y="5567188"/>
            <a:ext cx="2781300" cy="939800"/>
          </a:xfrm>
          <a:prstGeom prst="rightArrow">
            <a:avLst>
              <a:gd name="adj1" fmla="val 50000"/>
              <a:gd name="adj2" fmla="val 50050"/>
            </a:avLst>
          </a:prstGeom>
          <a:noFill/>
          <a:ln w="28575" algn="ctr">
            <a:noFill/>
            <a:round/>
            <a:headEnd/>
            <a:tailEnd/>
          </a:ln>
        </p:spPr>
        <p:txBody>
          <a:bodyPr wrap="none" anchor="ctr"/>
          <a:lstStyle/>
          <a:p>
            <a:pPr indent="152400" algn="ctr">
              <a:tabLst>
                <a:tab pos="2636838" algn="ctr"/>
                <a:tab pos="5273675" algn="r"/>
              </a:tabLst>
            </a:pPr>
            <a:r>
              <a:rPr lang="zh-CN" altLang="en-US" sz="2800" b="1" dirty="0">
                <a:latin typeface="+mn-ea"/>
                <a:ea typeface="+mn-ea"/>
                <a:cs typeface="Arial" charset="0"/>
              </a:rPr>
              <a:t>重点、难点：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EC93074-1CC9-405E-9AD2-6479509039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28531" y="5758398"/>
            <a:ext cx="56435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zh-CN" altLang="en-US" sz="2800" dirty="0">
                <a:latin typeface="+mn-ea"/>
                <a:ea typeface="+mn-ea"/>
              </a:rPr>
              <a:t>螺纹紧固件的规定标记和螺纹画法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8E6E94A-65AC-4AE4-8BA2-DE2CF04609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7593" y="1851527"/>
            <a:ext cx="540543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en-US" altLang="zh-CN" sz="2800" dirty="0">
                <a:latin typeface="+mn-ea"/>
                <a:ea typeface="+mn-ea"/>
              </a:rPr>
              <a:t>2.</a:t>
            </a:r>
            <a:r>
              <a:rPr lang="zh-CN" altLang="en-US" sz="2800" dirty="0">
                <a:latin typeface="+mn-ea"/>
                <a:ea typeface="+mn-ea"/>
              </a:rPr>
              <a:t>螺纹紧固件的规定标记和画法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69157F0-9D1B-4DCF-84AF-A3AA48CAE4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4108" y="2351549"/>
            <a:ext cx="598512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charset="0"/>
              <a:buNone/>
            </a:pPr>
            <a:r>
              <a:rPr lang="en-US" altLang="zh-CN" sz="2800" dirty="0">
                <a:latin typeface="+mn-ea"/>
                <a:ea typeface="+mn-ea"/>
              </a:rPr>
              <a:t>3.</a:t>
            </a:r>
            <a:r>
              <a:rPr lang="zh-CN" altLang="en-US" sz="2800" dirty="0">
                <a:latin typeface="+mn-ea"/>
                <a:ea typeface="+mn-ea"/>
              </a:rPr>
              <a:t>键、销</a:t>
            </a:r>
            <a:r>
              <a:rPr lang="zh-CN" altLang="zh-CN" sz="2800" dirty="0">
                <a:latin typeface="+mn-ea"/>
                <a:ea typeface="+mn-ea"/>
              </a:rPr>
              <a:t>规定画法、代号、标</a:t>
            </a:r>
            <a:r>
              <a:rPr lang="zh-CN" altLang="en-US" sz="2800" dirty="0">
                <a:latin typeface="+mn-ea"/>
                <a:ea typeface="+mn-ea"/>
              </a:rPr>
              <a:t>记。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5EBDDDB-576B-4E4B-8552-32F9515E9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9816" y="4752950"/>
            <a:ext cx="685875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en-US" altLang="zh-CN" sz="2800" dirty="0">
                <a:latin typeface="+mn-ea"/>
                <a:ea typeface="+mn-ea"/>
                <a:cs typeface="Times New Roman" pitchFamily="18" charset="0"/>
              </a:rPr>
              <a:t>3.</a:t>
            </a:r>
            <a:r>
              <a:rPr lang="zh-CN" altLang="en-US" sz="2800" dirty="0">
                <a:latin typeface="+mn-ea"/>
                <a:ea typeface="+mn-ea"/>
              </a:rPr>
              <a:t>掌握键、销</a:t>
            </a:r>
            <a:r>
              <a:rPr lang="zh-CN" altLang="zh-CN" sz="2800" dirty="0">
                <a:latin typeface="+mn-ea"/>
                <a:ea typeface="+mn-ea"/>
              </a:rPr>
              <a:t>规定画法、代号、标</a:t>
            </a:r>
            <a:r>
              <a:rPr lang="zh-CN" altLang="en-US" sz="2800" dirty="0">
                <a:latin typeface="+mn-ea"/>
                <a:ea typeface="+mn-ea"/>
              </a:rPr>
              <a:t>记。  </a:t>
            </a:r>
            <a:endParaRPr lang="en-US" altLang="zh-CN" sz="2800" dirty="0">
              <a:latin typeface="+mn-ea"/>
              <a:ea typeface="+mn-ea"/>
            </a:endParaRPr>
          </a:p>
          <a:p>
            <a:pPr algn="just"/>
            <a:r>
              <a:rPr lang="en-US" altLang="zh-CN" sz="2800" dirty="0">
                <a:latin typeface="+mn-ea"/>
                <a:ea typeface="+mn-ea"/>
              </a:rPr>
              <a:t>  </a:t>
            </a:r>
            <a:r>
              <a:rPr lang="zh-CN" altLang="en-US" sz="2800" dirty="0">
                <a:latin typeface="+mn-ea"/>
                <a:ea typeface="+mn-ea"/>
              </a:rPr>
              <a:t>直齿圆柱齿轮的画法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04352EA-2098-4807-B371-40717B806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644" y="2828879"/>
            <a:ext cx="39549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800" dirty="0">
                <a:latin typeface="+mn-ea"/>
                <a:ea typeface="+mn-ea"/>
              </a:rPr>
              <a:t>4.</a:t>
            </a:r>
            <a:r>
              <a:rPr lang="zh-CN" altLang="zh-CN" sz="2800" dirty="0">
                <a:latin typeface="+mn-ea"/>
                <a:ea typeface="+mn-ea"/>
              </a:rPr>
              <a:t> </a:t>
            </a:r>
            <a:r>
              <a:rPr lang="zh-CN" altLang="en-US" sz="2800" dirty="0">
                <a:latin typeface="+mn-ea"/>
                <a:ea typeface="+mn-ea"/>
              </a:rPr>
              <a:t>直齿圆柱齿轮的画法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4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hammer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  <p:bldP spid="5" grpId="0" animBg="1"/>
      <p:bldP spid="6" grpId="0"/>
      <p:bldP spid="7" grpId="0" animBg="1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42CB468-1BD8-444F-96AE-0DD6A3A17E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50892" y="2601377"/>
            <a:ext cx="1446213" cy="2262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DA5C59E5-2C7B-4E79-B0B3-F9FB5E5622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7211"/>
          <a:stretch>
            <a:fillRect/>
          </a:stretch>
        </p:blipFill>
        <p:spPr bwMode="auto">
          <a:xfrm>
            <a:off x="8583787" y="4346994"/>
            <a:ext cx="2441575" cy="140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501C0174-DEF0-4C07-AD26-D601DC8768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9290"/>
          <a:stretch>
            <a:fillRect/>
          </a:stretch>
        </p:blipFill>
        <p:spPr bwMode="auto">
          <a:xfrm>
            <a:off x="8583787" y="1864143"/>
            <a:ext cx="2027238" cy="1508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F7365F2-2FD3-4407-9D56-7C75CCE10E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18792" y="2602965"/>
            <a:ext cx="1389063" cy="215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 Box 2">
            <a:extLst>
              <a:ext uri="{FF2B5EF4-FFF2-40B4-BE49-F238E27FC236}">
                <a16:creationId xmlns:a16="http://schemas.microsoft.com/office/drawing/2014/main" id="{48734988-08F1-4764-AA82-306333ECF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5680" y="372527"/>
            <a:ext cx="6107112" cy="58420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CA5974DB-924A-4915-BA74-5B702A4AD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40" y="928670"/>
            <a:ext cx="379095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一、螺纹的形成及加工</a:t>
            </a:r>
          </a:p>
        </p:txBody>
      </p:sp>
      <p:sp>
        <p:nvSpPr>
          <p:cNvPr id="8" name="Text Box 4">
            <a:extLst>
              <a:ext uri="{FF2B5EF4-FFF2-40B4-BE49-F238E27FC236}">
                <a16:creationId xmlns:a16="http://schemas.microsoft.com/office/drawing/2014/main" id="{C335D29F-63B6-4A39-B68F-76454A0F6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406" y="1571612"/>
            <a:ext cx="23526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 dirty="0">
                <a:latin typeface="宋体" pitchFamily="2" charset="-122"/>
              </a:rPr>
              <a:t>⒈  </a:t>
            </a:r>
            <a:r>
              <a:rPr lang="zh-CN" altLang="en-US" sz="2400" b="1" dirty="0">
                <a:latin typeface="宋体" pitchFamily="2" charset="-122"/>
              </a:rPr>
              <a:t>螺纹的形成</a:t>
            </a:r>
          </a:p>
        </p:txBody>
      </p:sp>
      <p:sp>
        <p:nvSpPr>
          <p:cNvPr id="9" name="Line 5">
            <a:extLst>
              <a:ext uri="{FF2B5EF4-FFF2-40B4-BE49-F238E27FC236}">
                <a16:creationId xmlns:a16="http://schemas.microsoft.com/office/drawing/2014/main" id="{BD46AD93-D0E7-415B-B816-63B81D715BFB}"/>
              </a:ext>
            </a:extLst>
          </p:cNvPr>
          <p:cNvSpPr>
            <a:spLocks noChangeShapeType="1"/>
          </p:cNvSpPr>
          <p:nvPr/>
        </p:nvSpPr>
        <p:spPr bwMode="auto">
          <a:xfrm>
            <a:off x="3599855" y="3895190"/>
            <a:ext cx="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Freeform 7">
            <a:extLst>
              <a:ext uri="{FF2B5EF4-FFF2-40B4-BE49-F238E27FC236}">
                <a16:creationId xmlns:a16="http://schemas.microsoft.com/office/drawing/2014/main" id="{34DE4752-1AB3-48BB-A106-76BA457DBCA1}"/>
              </a:ext>
            </a:extLst>
          </p:cNvPr>
          <p:cNvSpPr>
            <a:spLocks/>
          </p:cNvSpPr>
          <p:nvPr/>
        </p:nvSpPr>
        <p:spPr bwMode="auto">
          <a:xfrm>
            <a:off x="2998192" y="4053940"/>
            <a:ext cx="1055688" cy="615950"/>
          </a:xfrm>
          <a:custGeom>
            <a:avLst/>
            <a:gdLst>
              <a:gd name="T0" fmla="*/ 0 w 639"/>
              <a:gd name="T1" fmla="*/ 2147483646 h 408"/>
              <a:gd name="T2" fmla="*/ 2147483646 w 639"/>
              <a:gd name="T3" fmla="*/ 2147483646 h 408"/>
              <a:gd name="T4" fmla="*/ 2147483646 w 639"/>
              <a:gd name="T5" fmla="*/ 2147483646 h 408"/>
              <a:gd name="T6" fmla="*/ 2147483646 w 639"/>
              <a:gd name="T7" fmla="*/ 2147483646 h 408"/>
              <a:gd name="T8" fmla="*/ 2147483646 w 639"/>
              <a:gd name="T9" fmla="*/ 2147483646 h 408"/>
              <a:gd name="T10" fmla="*/ 2147483646 w 639"/>
              <a:gd name="T11" fmla="*/ 2147483646 h 408"/>
              <a:gd name="T12" fmla="*/ 2147483646 w 639"/>
              <a:gd name="T13" fmla="*/ 2147483646 h 408"/>
              <a:gd name="T14" fmla="*/ 2147483646 w 639"/>
              <a:gd name="T15" fmla="*/ 0 h 4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w 639"/>
              <a:gd name="T25" fmla="*/ 0 h 408"/>
              <a:gd name="T26" fmla="*/ 639 w 639"/>
              <a:gd name="T27" fmla="*/ 408 h 408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639" h="408">
                <a:moveTo>
                  <a:pt x="0" y="389"/>
                </a:moveTo>
                <a:lnTo>
                  <a:pt x="140" y="408"/>
                </a:lnTo>
                <a:lnTo>
                  <a:pt x="277" y="381"/>
                </a:lnTo>
                <a:lnTo>
                  <a:pt x="414" y="326"/>
                </a:lnTo>
                <a:lnTo>
                  <a:pt x="504" y="259"/>
                </a:lnTo>
                <a:lnTo>
                  <a:pt x="572" y="192"/>
                </a:lnTo>
                <a:lnTo>
                  <a:pt x="620" y="106"/>
                </a:lnTo>
                <a:lnTo>
                  <a:pt x="639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Freeform 8">
            <a:extLst>
              <a:ext uri="{FF2B5EF4-FFF2-40B4-BE49-F238E27FC236}">
                <a16:creationId xmlns:a16="http://schemas.microsoft.com/office/drawing/2014/main" id="{C1E5C47E-A52C-41DF-AAAF-84131D23EAC6}"/>
              </a:ext>
            </a:extLst>
          </p:cNvPr>
          <p:cNvSpPr>
            <a:spLocks/>
          </p:cNvSpPr>
          <p:nvPr/>
        </p:nvSpPr>
        <p:spPr bwMode="auto">
          <a:xfrm>
            <a:off x="2794992" y="3663415"/>
            <a:ext cx="1250950" cy="503237"/>
          </a:xfrm>
          <a:custGeom>
            <a:avLst/>
            <a:gdLst>
              <a:gd name="T0" fmla="*/ 2147483646 w 788"/>
              <a:gd name="T1" fmla="*/ 2147483646 h 317"/>
              <a:gd name="T2" fmla="*/ 2147483646 w 788"/>
              <a:gd name="T3" fmla="*/ 2147483646 h 317"/>
              <a:gd name="T4" fmla="*/ 2147483646 w 788"/>
              <a:gd name="T5" fmla="*/ 2147483646 h 317"/>
              <a:gd name="T6" fmla="*/ 2147483646 w 788"/>
              <a:gd name="T7" fmla="*/ 2147483646 h 317"/>
              <a:gd name="T8" fmla="*/ 2147483646 w 788"/>
              <a:gd name="T9" fmla="*/ 2147483646 h 317"/>
              <a:gd name="T10" fmla="*/ 2147483646 w 788"/>
              <a:gd name="T11" fmla="*/ 2147483646 h 317"/>
              <a:gd name="T12" fmla="*/ 2147483646 w 788"/>
              <a:gd name="T13" fmla="*/ 0 h 317"/>
              <a:gd name="T14" fmla="*/ 2147483646 w 788"/>
              <a:gd name="T15" fmla="*/ 2147483646 h 317"/>
              <a:gd name="T16" fmla="*/ 2147483646 w 788"/>
              <a:gd name="T17" fmla="*/ 2147483646 h 317"/>
              <a:gd name="T18" fmla="*/ 2147483646 w 788"/>
              <a:gd name="T19" fmla="*/ 2147483646 h 317"/>
              <a:gd name="T20" fmla="*/ 0 w 788"/>
              <a:gd name="T21" fmla="*/ 2147483646 h 317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88"/>
              <a:gd name="T34" fmla="*/ 0 h 317"/>
              <a:gd name="T35" fmla="*/ 788 w 788"/>
              <a:gd name="T36" fmla="*/ 317 h 317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88" h="317">
                <a:moveTo>
                  <a:pt x="788" y="317"/>
                </a:moveTo>
                <a:lnTo>
                  <a:pt x="773" y="217"/>
                </a:lnTo>
                <a:lnTo>
                  <a:pt x="716" y="125"/>
                </a:lnTo>
                <a:lnTo>
                  <a:pt x="648" y="82"/>
                </a:lnTo>
                <a:lnTo>
                  <a:pt x="572" y="39"/>
                </a:lnTo>
                <a:lnTo>
                  <a:pt x="437" y="10"/>
                </a:lnTo>
                <a:lnTo>
                  <a:pt x="284" y="0"/>
                </a:lnTo>
                <a:lnTo>
                  <a:pt x="159" y="29"/>
                </a:lnTo>
                <a:lnTo>
                  <a:pt x="82" y="53"/>
                </a:lnTo>
                <a:lnTo>
                  <a:pt x="24" y="97"/>
                </a:lnTo>
                <a:lnTo>
                  <a:pt x="0" y="149"/>
                </a:lnTo>
              </a:path>
            </a:pathLst>
          </a:custGeom>
          <a:noFill/>
          <a:ln w="1905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Freeform 9">
            <a:extLst>
              <a:ext uri="{FF2B5EF4-FFF2-40B4-BE49-F238E27FC236}">
                <a16:creationId xmlns:a16="http://schemas.microsoft.com/office/drawing/2014/main" id="{C41DC2D6-5FCB-4697-ADA0-C61089B898C9}"/>
              </a:ext>
            </a:extLst>
          </p:cNvPr>
          <p:cNvSpPr>
            <a:spLocks/>
          </p:cNvSpPr>
          <p:nvPr/>
        </p:nvSpPr>
        <p:spPr bwMode="auto">
          <a:xfrm>
            <a:off x="2804517" y="3511015"/>
            <a:ext cx="1241425" cy="604837"/>
          </a:xfrm>
          <a:custGeom>
            <a:avLst/>
            <a:gdLst>
              <a:gd name="T0" fmla="*/ 0 w 782"/>
              <a:gd name="T1" fmla="*/ 2147483646 h 381"/>
              <a:gd name="T2" fmla="*/ 2147483646 w 782"/>
              <a:gd name="T3" fmla="*/ 2147483646 h 381"/>
              <a:gd name="T4" fmla="*/ 2147483646 w 782"/>
              <a:gd name="T5" fmla="*/ 2147483646 h 381"/>
              <a:gd name="T6" fmla="*/ 2147483646 w 782"/>
              <a:gd name="T7" fmla="*/ 2147483646 h 381"/>
              <a:gd name="T8" fmla="*/ 2147483646 w 782"/>
              <a:gd name="T9" fmla="*/ 2147483646 h 381"/>
              <a:gd name="T10" fmla="*/ 2147483646 w 782"/>
              <a:gd name="T11" fmla="*/ 2147483646 h 381"/>
              <a:gd name="T12" fmla="*/ 2147483646 w 782"/>
              <a:gd name="T13" fmla="*/ 2147483646 h 381"/>
              <a:gd name="T14" fmla="*/ 2147483646 w 782"/>
              <a:gd name="T15" fmla="*/ 2147483646 h 381"/>
              <a:gd name="T16" fmla="*/ 2147483646 w 782"/>
              <a:gd name="T17" fmla="*/ 2147483646 h 381"/>
              <a:gd name="T18" fmla="*/ 2147483646 w 782"/>
              <a:gd name="T19" fmla="*/ 2147483646 h 381"/>
              <a:gd name="T20" fmla="*/ 2147483646 w 782"/>
              <a:gd name="T21" fmla="*/ 0 h 381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782"/>
              <a:gd name="T34" fmla="*/ 0 h 381"/>
              <a:gd name="T35" fmla="*/ 782 w 782"/>
              <a:gd name="T36" fmla="*/ 381 h 381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782" h="381">
                <a:moveTo>
                  <a:pt x="0" y="258"/>
                </a:moveTo>
                <a:lnTo>
                  <a:pt x="27" y="313"/>
                </a:lnTo>
                <a:lnTo>
                  <a:pt x="109" y="354"/>
                </a:lnTo>
                <a:lnTo>
                  <a:pt x="219" y="381"/>
                </a:lnTo>
                <a:lnTo>
                  <a:pt x="329" y="368"/>
                </a:lnTo>
                <a:lnTo>
                  <a:pt x="422" y="341"/>
                </a:lnTo>
                <a:lnTo>
                  <a:pt x="522" y="297"/>
                </a:lnTo>
                <a:lnTo>
                  <a:pt x="604" y="239"/>
                </a:lnTo>
                <a:lnTo>
                  <a:pt x="690" y="163"/>
                </a:lnTo>
                <a:lnTo>
                  <a:pt x="748" y="76"/>
                </a:lnTo>
                <a:lnTo>
                  <a:pt x="782" y="0"/>
                </a:lnTo>
              </a:path>
            </a:pathLst>
          </a:custGeom>
          <a:noFill/>
          <a:ln w="3810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Freeform 10">
            <a:extLst>
              <a:ext uri="{FF2B5EF4-FFF2-40B4-BE49-F238E27FC236}">
                <a16:creationId xmlns:a16="http://schemas.microsoft.com/office/drawing/2014/main" id="{2DD9D4FA-E44C-4C1E-BE5F-E9243B021BA6}"/>
              </a:ext>
            </a:extLst>
          </p:cNvPr>
          <p:cNvSpPr>
            <a:spLocks/>
          </p:cNvSpPr>
          <p:nvPr/>
        </p:nvSpPr>
        <p:spPr bwMode="auto">
          <a:xfrm>
            <a:off x="2804517" y="2937927"/>
            <a:ext cx="1233488" cy="536575"/>
          </a:xfrm>
          <a:custGeom>
            <a:avLst/>
            <a:gdLst>
              <a:gd name="T0" fmla="*/ 2147483646 w 777"/>
              <a:gd name="T1" fmla="*/ 2147483646 h 338"/>
              <a:gd name="T2" fmla="*/ 2147483646 w 777"/>
              <a:gd name="T3" fmla="*/ 2147483646 h 338"/>
              <a:gd name="T4" fmla="*/ 2147483646 w 777"/>
              <a:gd name="T5" fmla="*/ 2147483646 h 338"/>
              <a:gd name="T6" fmla="*/ 2147483646 w 777"/>
              <a:gd name="T7" fmla="*/ 2147483646 h 338"/>
              <a:gd name="T8" fmla="*/ 2147483646 w 777"/>
              <a:gd name="T9" fmla="*/ 2147483646 h 338"/>
              <a:gd name="T10" fmla="*/ 2147483646 w 777"/>
              <a:gd name="T11" fmla="*/ 2147483646 h 338"/>
              <a:gd name="T12" fmla="*/ 2147483646 w 777"/>
              <a:gd name="T13" fmla="*/ 0 h 338"/>
              <a:gd name="T14" fmla="*/ 2147483646 w 777"/>
              <a:gd name="T15" fmla="*/ 0 h 338"/>
              <a:gd name="T16" fmla="*/ 2147483646 w 777"/>
              <a:gd name="T17" fmla="*/ 2147483646 h 338"/>
              <a:gd name="T18" fmla="*/ 2147483646 w 777"/>
              <a:gd name="T19" fmla="*/ 2147483646 h 338"/>
              <a:gd name="T20" fmla="*/ 2147483646 w 777"/>
              <a:gd name="T21" fmla="*/ 2147483646 h 338"/>
              <a:gd name="T22" fmla="*/ 0 w 777"/>
              <a:gd name="T23" fmla="*/ 2147483646 h 338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777"/>
              <a:gd name="T37" fmla="*/ 0 h 338"/>
              <a:gd name="T38" fmla="*/ 777 w 777"/>
              <a:gd name="T39" fmla="*/ 338 h 338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777" h="338">
                <a:moveTo>
                  <a:pt x="777" y="338"/>
                </a:moveTo>
                <a:lnTo>
                  <a:pt x="762" y="246"/>
                </a:lnTo>
                <a:lnTo>
                  <a:pt x="724" y="165"/>
                </a:lnTo>
                <a:lnTo>
                  <a:pt x="672" y="110"/>
                </a:lnTo>
                <a:lnTo>
                  <a:pt x="576" y="55"/>
                </a:lnTo>
                <a:lnTo>
                  <a:pt x="480" y="14"/>
                </a:lnTo>
                <a:lnTo>
                  <a:pt x="356" y="0"/>
                </a:lnTo>
                <a:lnTo>
                  <a:pt x="260" y="0"/>
                </a:lnTo>
                <a:lnTo>
                  <a:pt x="164" y="28"/>
                </a:lnTo>
                <a:lnTo>
                  <a:pt x="81" y="74"/>
                </a:lnTo>
                <a:lnTo>
                  <a:pt x="27" y="124"/>
                </a:lnTo>
                <a:lnTo>
                  <a:pt x="0" y="192"/>
                </a:lnTo>
              </a:path>
            </a:pathLst>
          </a:custGeom>
          <a:noFill/>
          <a:ln w="19050">
            <a:solidFill>
              <a:srgbClr val="FF3300"/>
            </a:solidFill>
            <a:prstDash val="dash"/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" name="Group 12">
            <a:extLst>
              <a:ext uri="{FF2B5EF4-FFF2-40B4-BE49-F238E27FC236}">
                <a16:creationId xmlns:a16="http://schemas.microsoft.com/office/drawing/2014/main" id="{A161FA31-5F05-4A4B-B21F-E03FAF6B94BB}"/>
              </a:ext>
            </a:extLst>
          </p:cNvPr>
          <p:cNvGrpSpPr>
            <a:grpSpLocks/>
          </p:cNvGrpSpPr>
          <p:nvPr/>
        </p:nvGrpSpPr>
        <p:grpSpPr bwMode="auto">
          <a:xfrm>
            <a:off x="2780705" y="4517496"/>
            <a:ext cx="355600" cy="436563"/>
            <a:chOff x="671" y="3134"/>
            <a:chExt cx="224" cy="275"/>
          </a:xfrm>
        </p:grpSpPr>
        <p:sp>
          <p:nvSpPr>
            <p:cNvPr id="15" name="Text Box 13">
              <a:extLst>
                <a:ext uri="{FF2B5EF4-FFF2-40B4-BE49-F238E27FC236}">
                  <a16:creationId xmlns:a16="http://schemas.microsoft.com/office/drawing/2014/main" id="{3459FE33-551E-4D2F-8D5A-DB0533BB5B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1" y="3176"/>
              <a:ext cx="18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zh-CN" b="1">
                  <a:solidFill>
                    <a:srgbClr val="FF0000"/>
                  </a:solidFill>
                  <a:latin typeface="宋体" pitchFamily="2" charset="-122"/>
                </a:rPr>
                <a:t>A</a:t>
              </a:r>
              <a:endParaRPr lang="en-US" altLang="zh-CN" b="1">
                <a:solidFill>
                  <a:srgbClr val="FF0000"/>
                </a:solidFill>
              </a:endParaRPr>
            </a:p>
          </p:txBody>
        </p:sp>
        <p:sp>
          <p:nvSpPr>
            <p:cNvPr id="16" name="Text Box 14">
              <a:extLst>
                <a:ext uri="{FF2B5EF4-FFF2-40B4-BE49-F238E27FC236}">
                  <a16:creationId xmlns:a16="http://schemas.microsoft.com/office/drawing/2014/main" id="{E8C14B45-2A24-47CF-AB24-F652A04F3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7" y="3134"/>
              <a:ext cx="18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zh-CN" sz="900" b="1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17" name="Group 15">
            <a:extLst>
              <a:ext uri="{FF2B5EF4-FFF2-40B4-BE49-F238E27FC236}">
                <a16:creationId xmlns:a16="http://schemas.microsoft.com/office/drawing/2014/main" id="{1AF676AF-511D-472E-BEF3-CD9E4C9AB9B8}"/>
              </a:ext>
            </a:extLst>
          </p:cNvPr>
          <p:cNvGrpSpPr>
            <a:grpSpLocks/>
          </p:cNvGrpSpPr>
          <p:nvPr/>
        </p:nvGrpSpPr>
        <p:grpSpPr bwMode="auto">
          <a:xfrm>
            <a:off x="2721967" y="3665002"/>
            <a:ext cx="528638" cy="523875"/>
            <a:chOff x="634" y="2597"/>
            <a:chExt cx="333" cy="330"/>
          </a:xfrm>
        </p:grpSpPr>
        <p:sp>
          <p:nvSpPr>
            <p:cNvPr id="18" name="Text Box 16">
              <a:extLst>
                <a:ext uri="{FF2B5EF4-FFF2-40B4-BE49-F238E27FC236}">
                  <a16:creationId xmlns:a16="http://schemas.microsoft.com/office/drawing/2014/main" id="{D4E67A6A-4B66-4933-ACE3-54DFD8E2C2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4" y="2597"/>
              <a:ext cx="333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en-US" altLang="zh-CN" b="1" dirty="0">
                  <a:solidFill>
                    <a:srgbClr val="FF0000"/>
                  </a:solidFill>
                  <a:latin typeface="宋体" pitchFamily="2" charset="-122"/>
                </a:rPr>
                <a:t>A</a:t>
              </a:r>
              <a:r>
                <a:rPr lang="en-US" altLang="zh-CN" b="1" baseline="-25000" dirty="0">
                  <a:solidFill>
                    <a:srgbClr val="FF0000"/>
                  </a:solidFill>
                </a:rPr>
                <a:t>1</a:t>
              </a:r>
              <a:endParaRPr lang="en-US" altLang="zh-CN" b="1" dirty="0">
                <a:solidFill>
                  <a:srgbClr val="FF0000"/>
                </a:solidFill>
              </a:endParaRPr>
            </a:p>
          </p:txBody>
        </p:sp>
        <p:sp>
          <p:nvSpPr>
            <p:cNvPr id="19" name="Text Box 17">
              <a:extLst>
                <a:ext uri="{FF2B5EF4-FFF2-40B4-BE49-F238E27FC236}">
                  <a16:creationId xmlns:a16="http://schemas.microsoft.com/office/drawing/2014/main" id="{12434EAB-A959-49B3-B61B-297E46DB6C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" y="2783"/>
              <a:ext cx="188" cy="1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zh-CN" sz="900" b="1">
                  <a:solidFill>
                    <a:srgbClr val="FF0000"/>
                  </a:solidFill>
                </a:rPr>
                <a:t>●</a:t>
              </a:r>
            </a:p>
          </p:txBody>
        </p:sp>
      </p:grpSp>
      <p:grpSp>
        <p:nvGrpSpPr>
          <p:cNvPr id="20" name="Group 18">
            <a:extLst>
              <a:ext uri="{FF2B5EF4-FFF2-40B4-BE49-F238E27FC236}">
                <a16:creationId xmlns:a16="http://schemas.microsoft.com/office/drawing/2014/main" id="{F90B4129-974B-46C0-8608-54A0A28BE13E}"/>
              </a:ext>
            </a:extLst>
          </p:cNvPr>
          <p:cNvGrpSpPr>
            <a:grpSpLocks/>
          </p:cNvGrpSpPr>
          <p:nvPr/>
        </p:nvGrpSpPr>
        <p:grpSpPr bwMode="auto">
          <a:xfrm>
            <a:off x="1766292" y="4074580"/>
            <a:ext cx="1214438" cy="604838"/>
            <a:chOff x="32" y="2470"/>
            <a:chExt cx="765" cy="381"/>
          </a:xfrm>
        </p:grpSpPr>
        <p:sp>
          <p:nvSpPr>
            <p:cNvPr id="21" name="Line 19">
              <a:extLst>
                <a:ext uri="{FF2B5EF4-FFF2-40B4-BE49-F238E27FC236}">
                  <a16:creationId xmlns:a16="http://schemas.microsoft.com/office/drawing/2014/main" id="{533B4A22-A41E-46CE-A387-8A404CB1388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" y="2476"/>
              <a:ext cx="4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/>
            </a:p>
          </p:txBody>
        </p:sp>
        <p:sp>
          <p:nvSpPr>
            <p:cNvPr id="22" name="Line 20">
              <a:extLst>
                <a:ext uri="{FF2B5EF4-FFF2-40B4-BE49-F238E27FC236}">
                  <a16:creationId xmlns:a16="http://schemas.microsoft.com/office/drawing/2014/main" id="{E4BD4DAF-9F1A-4185-BE5B-FC8B3DCD38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0" y="2824"/>
              <a:ext cx="467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1600" b="1"/>
            </a:p>
          </p:txBody>
        </p:sp>
        <p:sp>
          <p:nvSpPr>
            <p:cNvPr id="23" name="Line 21">
              <a:extLst>
                <a:ext uri="{FF2B5EF4-FFF2-40B4-BE49-F238E27FC236}">
                  <a16:creationId xmlns:a16="http://schemas.microsoft.com/office/drawing/2014/main" id="{998FE5E0-F3DB-4195-BCC9-778F2A63BB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4" y="2470"/>
              <a:ext cx="1" cy="3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sz="1600" b="1"/>
            </a:p>
          </p:txBody>
        </p:sp>
        <p:sp>
          <p:nvSpPr>
            <p:cNvPr id="24" name="Text Box 22">
              <a:extLst>
                <a:ext uri="{FF2B5EF4-FFF2-40B4-BE49-F238E27FC236}">
                  <a16:creationId xmlns:a16="http://schemas.microsoft.com/office/drawing/2014/main" id="{94195857-81BE-45A2-874A-CD87169AE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" y="2481"/>
              <a:ext cx="319" cy="37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pPr algn="ctr" eaLnBrk="1" hangingPunct="1"/>
              <a:r>
                <a:rPr lang="zh-CN" altLang="en-US" sz="1600" b="1">
                  <a:solidFill>
                    <a:schemeClr val="tx2"/>
                  </a:solidFill>
                </a:rPr>
                <a:t>导程</a:t>
              </a:r>
            </a:p>
          </p:txBody>
        </p:sp>
      </p:grpSp>
      <p:grpSp>
        <p:nvGrpSpPr>
          <p:cNvPr id="25" name="Group 23">
            <a:extLst>
              <a:ext uri="{FF2B5EF4-FFF2-40B4-BE49-F238E27FC236}">
                <a16:creationId xmlns:a16="http://schemas.microsoft.com/office/drawing/2014/main" id="{8729FE97-A67E-487B-87DC-E8AC969805E5}"/>
              </a:ext>
            </a:extLst>
          </p:cNvPr>
          <p:cNvGrpSpPr>
            <a:grpSpLocks/>
          </p:cNvGrpSpPr>
          <p:nvPr/>
        </p:nvGrpSpPr>
        <p:grpSpPr bwMode="auto">
          <a:xfrm>
            <a:off x="3914180" y="3718977"/>
            <a:ext cx="1335087" cy="609600"/>
            <a:chOff x="1385" y="2246"/>
            <a:chExt cx="841" cy="384"/>
          </a:xfrm>
        </p:grpSpPr>
        <p:sp>
          <p:nvSpPr>
            <p:cNvPr id="26" name="Text Box 24">
              <a:extLst>
                <a:ext uri="{FF2B5EF4-FFF2-40B4-BE49-F238E27FC236}">
                  <a16:creationId xmlns:a16="http://schemas.microsoft.com/office/drawing/2014/main" id="{1281133E-902B-43A7-B81E-191A7BD58F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69" y="2401"/>
              <a:ext cx="502" cy="21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pPr algn="ctr" eaLnBrk="1" hangingPunct="1"/>
              <a:r>
                <a:rPr lang="zh-CN" altLang="en-US" sz="1600" b="1" dirty="0">
                  <a:solidFill>
                    <a:schemeClr val="tx2"/>
                  </a:solidFill>
                </a:rPr>
                <a:t>螺旋线</a:t>
              </a:r>
            </a:p>
          </p:txBody>
        </p:sp>
        <p:sp>
          <p:nvSpPr>
            <p:cNvPr id="27" name="Line 25">
              <a:extLst>
                <a:ext uri="{FF2B5EF4-FFF2-40B4-BE49-F238E27FC236}">
                  <a16:creationId xmlns:a16="http://schemas.microsoft.com/office/drawing/2014/main" id="{B0772BBA-6A40-4724-A69F-B4729D82E0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5" y="2246"/>
              <a:ext cx="222" cy="384"/>
            </a:xfrm>
            <a:prstGeom prst="line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lIns="90000" tIns="46800" rIns="90000" bIns="46800" anchor="ctr">
              <a:spAutoFit/>
            </a:bodyPr>
            <a:lstStyle/>
            <a:p>
              <a:endParaRPr lang="zh-CN" altLang="en-US" sz="1600" b="1"/>
            </a:p>
          </p:txBody>
        </p:sp>
        <p:sp>
          <p:nvSpPr>
            <p:cNvPr id="28" name="Line 26">
              <a:extLst>
                <a:ext uri="{FF2B5EF4-FFF2-40B4-BE49-F238E27FC236}">
                  <a16:creationId xmlns:a16="http://schemas.microsoft.com/office/drawing/2014/main" id="{F1B3DA69-EDDA-4B8A-BBBB-45FCDB266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09" y="2630"/>
              <a:ext cx="617" cy="0"/>
            </a:xfrm>
            <a:prstGeom prst="line">
              <a:avLst/>
            </a:prstGeom>
            <a:noFill/>
            <a:ln w="19050">
              <a:solidFill>
                <a:srgbClr val="003300"/>
              </a:solidFill>
              <a:round/>
              <a:headEnd/>
              <a:tailEnd/>
            </a:ln>
          </p:spPr>
          <p:txBody>
            <a:bodyPr wrap="none" lIns="90000" tIns="46800" rIns="90000" bIns="46800" anchor="ctr">
              <a:spAutoFit/>
            </a:bodyPr>
            <a:lstStyle/>
            <a:p>
              <a:endParaRPr lang="zh-CN" altLang="en-US" sz="1600" b="1"/>
            </a:p>
          </p:txBody>
        </p:sp>
      </p:grpSp>
      <p:sp>
        <p:nvSpPr>
          <p:cNvPr id="29" name="Text Box 27">
            <a:extLst>
              <a:ext uri="{FF2B5EF4-FFF2-40B4-BE49-F238E27FC236}">
                <a16:creationId xmlns:a16="http://schemas.microsoft.com/office/drawing/2014/main" id="{4FDF8150-83DF-495E-A3AD-D3EA4D2B8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6292" y="5068358"/>
            <a:ext cx="5492750" cy="12025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eaLnBrk="1" hangingPunct="1"/>
            <a:r>
              <a:rPr lang="zh-CN" altLang="en-US" sz="2400" dirty="0">
                <a:latin typeface="宋体" pitchFamily="2" charset="-122"/>
              </a:rPr>
              <a:t>　　一个与轴线共面的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平面图形</a:t>
            </a:r>
            <a:r>
              <a:rPr lang="zh-CN" altLang="en-US" sz="2400" dirty="0">
                <a:latin typeface="宋体" pitchFamily="2" charset="-122"/>
              </a:rPr>
              <a:t>（三角形、梯形等），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绕圆柱面</a:t>
            </a:r>
            <a:r>
              <a:rPr lang="zh-CN" altLang="en-US" sz="2400" dirty="0">
                <a:latin typeface="宋体" pitchFamily="2" charset="-122"/>
              </a:rPr>
              <a:t>作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螺旋运动</a:t>
            </a:r>
            <a:r>
              <a:rPr lang="zh-CN" altLang="en-US" sz="2400" dirty="0">
                <a:latin typeface="宋体" pitchFamily="2" charset="-122"/>
              </a:rPr>
              <a:t>，则得到一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圆柱螺旋体   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                    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30" name="Text Box 28">
            <a:extLst>
              <a:ext uri="{FF2B5EF4-FFF2-40B4-BE49-F238E27FC236}">
                <a16:creationId xmlns:a16="http://schemas.microsoft.com/office/drawing/2014/main" id="{2D05C9A1-4267-404F-A898-031B041C3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3841" y="5815478"/>
            <a:ext cx="1958975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 eaLnBrk="1" hangingPunct="1"/>
            <a:r>
              <a:rPr lang="en-US" altLang="zh-CN" sz="2800" dirty="0">
                <a:solidFill>
                  <a:srgbClr val="FF3300"/>
                </a:solidFill>
              </a:rPr>
              <a:t>——</a:t>
            </a:r>
            <a:r>
              <a:rPr lang="zh-CN" altLang="en-US" sz="2800" dirty="0">
                <a:solidFill>
                  <a:srgbClr val="FF3300"/>
                </a:solidFill>
              </a:rPr>
              <a:t>螺纹。</a:t>
            </a:r>
          </a:p>
        </p:txBody>
      </p:sp>
      <p:sp>
        <p:nvSpPr>
          <p:cNvPr id="31" name="Text Box 29">
            <a:extLst>
              <a:ext uri="{FF2B5EF4-FFF2-40B4-BE49-F238E27FC236}">
                <a16:creationId xmlns:a16="http://schemas.microsoft.com/office/drawing/2014/main" id="{D8AA39AC-77A1-4D6F-8749-0C74959B3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9192" y="3333215"/>
            <a:ext cx="3098800" cy="83343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 eaLnBrk="1" hangingPunct="1"/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制在零件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外表面</a:t>
            </a: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上的螺纹叫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外螺纹</a:t>
            </a: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32" name="Text Box 43">
            <a:extLst>
              <a:ext uri="{FF2B5EF4-FFF2-40B4-BE49-F238E27FC236}">
                <a16:creationId xmlns:a16="http://schemas.microsoft.com/office/drawing/2014/main" id="{E50EF21B-D7C3-4F82-B1C0-7CB9C37F5C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4088" y="5712878"/>
            <a:ext cx="3098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制在零件孔腔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内表面</a:t>
            </a: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上的螺纹叫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内螺纹</a:t>
            </a: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33" name="任意多边形 10">
            <a:extLst>
              <a:ext uri="{FF2B5EF4-FFF2-40B4-BE49-F238E27FC236}">
                <a16:creationId xmlns:a16="http://schemas.microsoft.com/office/drawing/2014/main" id="{D35D3F62-4FFB-4267-B72E-3C54F4D90492}"/>
              </a:ext>
            </a:extLst>
          </p:cNvPr>
          <p:cNvSpPr>
            <a:spLocks/>
          </p:cNvSpPr>
          <p:nvPr/>
        </p:nvSpPr>
        <p:spPr bwMode="auto">
          <a:xfrm>
            <a:off x="2809280" y="3295115"/>
            <a:ext cx="715962" cy="177800"/>
          </a:xfrm>
          <a:custGeom>
            <a:avLst/>
            <a:gdLst>
              <a:gd name="T0" fmla="*/ 0 w 716756"/>
              <a:gd name="T1" fmla="*/ 0 h 178108"/>
              <a:gd name="T2" fmla="*/ 75780 w 716756"/>
              <a:gd name="T3" fmla="*/ 82626 h 178108"/>
              <a:gd name="T4" fmla="*/ 170502 w 716756"/>
              <a:gd name="T5" fmla="*/ 132201 h 178108"/>
              <a:gd name="T6" fmla="*/ 229704 w 716756"/>
              <a:gd name="T7" fmla="*/ 158170 h 178108"/>
              <a:gd name="T8" fmla="*/ 352845 w 716756"/>
              <a:gd name="T9" fmla="*/ 174693 h 178108"/>
              <a:gd name="T10" fmla="*/ 492562 w 716756"/>
              <a:gd name="T11" fmla="*/ 162890 h 178108"/>
              <a:gd name="T12" fmla="*/ 712796 w 716756"/>
              <a:gd name="T13" fmla="*/ 56658 h 178108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716756"/>
              <a:gd name="T22" fmla="*/ 0 h 178108"/>
              <a:gd name="T23" fmla="*/ 716756 w 716756"/>
              <a:gd name="T24" fmla="*/ 178108 h 178108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716756" h="178108">
                <a:moveTo>
                  <a:pt x="0" y="0"/>
                </a:moveTo>
                <a:cubicBezTo>
                  <a:pt x="23812" y="30559"/>
                  <a:pt x="47625" y="61119"/>
                  <a:pt x="76200" y="83344"/>
                </a:cubicBezTo>
                <a:cubicBezTo>
                  <a:pt x="104775" y="105569"/>
                  <a:pt x="145653" y="120650"/>
                  <a:pt x="171450" y="133350"/>
                </a:cubicBezTo>
                <a:cubicBezTo>
                  <a:pt x="197247" y="146050"/>
                  <a:pt x="200422" y="152400"/>
                  <a:pt x="230981" y="159544"/>
                </a:cubicBezTo>
                <a:cubicBezTo>
                  <a:pt x="261540" y="166688"/>
                  <a:pt x="310753" y="175418"/>
                  <a:pt x="354806" y="176212"/>
                </a:cubicBezTo>
                <a:cubicBezTo>
                  <a:pt x="398859" y="177006"/>
                  <a:pt x="434975" y="184150"/>
                  <a:pt x="495300" y="164306"/>
                </a:cubicBezTo>
                <a:cubicBezTo>
                  <a:pt x="555625" y="144462"/>
                  <a:pt x="684609" y="72231"/>
                  <a:pt x="716756" y="57150"/>
                </a:cubicBezTo>
              </a:path>
            </a:pathLst>
          </a:custGeom>
          <a:noFill/>
          <a:ln w="38100">
            <a:solidFill>
              <a:srgbClr val="FF0000"/>
            </a:solidFill>
            <a:miter lim="800000"/>
            <a:headEnd/>
            <a:tailEnd/>
          </a:ln>
        </p:spPr>
        <p:txBody>
          <a:bodyPr anchor="ctr"/>
          <a:lstStyle/>
          <a:p>
            <a:endParaRPr lang="zh-CN" altLang="en-US"/>
          </a:p>
        </p:txBody>
      </p:sp>
      <p:grpSp>
        <p:nvGrpSpPr>
          <p:cNvPr id="34" name="组合 41">
            <a:extLst>
              <a:ext uri="{FF2B5EF4-FFF2-40B4-BE49-F238E27FC236}">
                <a16:creationId xmlns:a16="http://schemas.microsoft.com/office/drawing/2014/main" id="{99427BE3-A13A-4662-8BD5-B6AE1A73675E}"/>
              </a:ext>
            </a:extLst>
          </p:cNvPr>
          <p:cNvGrpSpPr>
            <a:grpSpLocks/>
          </p:cNvGrpSpPr>
          <p:nvPr/>
        </p:nvGrpSpPr>
        <p:grpSpPr bwMode="auto">
          <a:xfrm>
            <a:off x="5620742" y="3739615"/>
            <a:ext cx="1638300" cy="1004887"/>
            <a:chOff x="3929063" y="3505200"/>
            <a:chExt cx="1293018" cy="1106643"/>
          </a:xfrm>
        </p:grpSpPr>
        <p:sp>
          <p:nvSpPr>
            <p:cNvPr id="35" name="任意多边形 35">
              <a:extLst>
                <a:ext uri="{FF2B5EF4-FFF2-40B4-BE49-F238E27FC236}">
                  <a16:creationId xmlns:a16="http://schemas.microsoft.com/office/drawing/2014/main" id="{1D95C414-E7FE-4ACA-90C8-2E0FD021A6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1444" y="3505200"/>
              <a:ext cx="1290637" cy="1036233"/>
            </a:xfrm>
            <a:custGeom>
              <a:avLst/>
              <a:gdLst>
                <a:gd name="T0" fmla="*/ 176212 w 1290637"/>
                <a:gd name="T1" fmla="*/ 771525 h 1036233"/>
                <a:gd name="T2" fmla="*/ 166687 w 1290637"/>
                <a:gd name="T3" fmla="*/ 781050 h 1036233"/>
                <a:gd name="T4" fmla="*/ 152400 w 1290637"/>
                <a:gd name="T5" fmla="*/ 792956 h 1036233"/>
                <a:gd name="T6" fmla="*/ 126206 w 1290637"/>
                <a:gd name="T7" fmla="*/ 816769 h 1036233"/>
                <a:gd name="T8" fmla="*/ 109537 w 1290637"/>
                <a:gd name="T9" fmla="*/ 831056 h 1036233"/>
                <a:gd name="T10" fmla="*/ 95250 w 1290637"/>
                <a:gd name="T11" fmla="*/ 852488 h 1036233"/>
                <a:gd name="T12" fmla="*/ 80962 w 1290637"/>
                <a:gd name="T13" fmla="*/ 873919 h 1036233"/>
                <a:gd name="T14" fmla="*/ 69056 w 1290637"/>
                <a:gd name="T15" fmla="*/ 895350 h 1036233"/>
                <a:gd name="T16" fmla="*/ 54769 w 1290637"/>
                <a:gd name="T17" fmla="*/ 916781 h 1036233"/>
                <a:gd name="T18" fmla="*/ 35719 w 1290637"/>
                <a:gd name="T19" fmla="*/ 933450 h 1036233"/>
                <a:gd name="T20" fmla="*/ 21431 w 1290637"/>
                <a:gd name="T21" fmla="*/ 942975 h 1036233"/>
                <a:gd name="T22" fmla="*/ 7144 w 1290637"/>
                <a:gd name="T23" fmla="*/ 964406 h 1036233"/>
                <a:gd name="T24" fmla="*/ 7144 w 1290637"/>
                <a:gd name="T25" fmla="*/ 981075 h 1036233"/>
                <a:gd name="T26" fmla="*/ 42862 w 1290637"/>
                <a:gd name="T27" fmla="*/ 990600 h 1036233"/>
                <a:gd name="T28" fmla="*/ 66675 w 1290637"/>
                <a:gd name="T29" fmla="*/ 995363 h 1036233"/>
                <a:gd name="T30" fmla="*/ 119062 w 1290637"/>
                <a:gd name="T31" fmla="*/ 1004888 h 1036233"/>
                <a:gd name="T32" fmla="*/ 133350 w 1290637"/>
                <a:gd name="T33" fmla="*/ 1014413 h 1036233"/>
                <a:gd name="T34" fmla="*/ 245269 w 1290637"/>
                <a:gd name="T35" fmla="*/ 1026319 h 1036233"/>
                <a:gd name="T36" fmla="*/ 288131 w 1290637"/>
                <a:gd name="T37" fmla="*/ 1031081 h 1036233"/>
                <a:gd name="T38" fmla="*/ 483394 w 1290637"/>
                <a:gd name="T39" fmla="*/ 1026319 h 1036233"/>
                <a:gd name="T40" fmla="*/ 595312 w 1290637"/>
                <a:gd name="T41" fmla="*/ 1021556 h 1036233"/>
                <a:gd name="T42" fmla="*/ 626269 w 1290637"/>
                <a:gd name="T43" fmla="*/ 1014413 h 1036233"/>
                <a:gd name="T44" fmla="*/ 647700 w 1290637"/>
                <a:gd name="T45" fmla="*/ 1002506 h 1036233"/>
                <a:gd name="T46" fmla="*/ 673894 w 1290637"/>
                <a:gd name="T47" fmla="*/ 995363 h 1036233"/>
                <a:gd name="T48" fmla="*/ 733425 w 1290637"/>
                <a:gd name="T49" fmla="*/ 985838 h 1036233"/>
                <a:gd name="T50" fmla="*/ 754856 w 1290637"/>
                <a:gd name="T51" fmla="*/ 981075 h 1036233"/>
                <a:gd name="T52" fmla="*/ 773906 w 1290637"/>
                <a:gd name="T53" fmla="*/ 976313 h 1036233"/>
                <a:gd name="T54" fmla="*/ 804862 w 1290637"/>
                <a:gd name="T55" fmla="*/ 964406 h 1036233"/>
                <a:gd name="T56" fmla="*/ 819150 w 1290637"/>
                <a:gd name="T57" fmla="*/ 957263 h 1036233"/>
                <a:gd name="T58" fmla="*/ 850106 w 1290637"/>
                <a:gd name="T59" fmla="*/ 938213 h 1036233"/>
                <a:gd name="T60" fmla="*/ 871537 w 1290637"/>
                <a:gd name="T61" fmla="*/ 931069 h 1036233"/>
                <a:gd name="T62" fmla="*/ 888206 w 1290637"/>
                <a:gd name="T63" fmla="*/ 923925 h 1036233"/>
                <a:gd name="T64" fmla="*/ 916781 w 1290637"/>
                <a:gd name="T65" fmla="*/ 912019 h 1036233"/>
                <a:gd name="T66" fmla="*/ 931069 w 1290637"/>
                <a:gd name="T67" fmla="*/ 907256 h 1036233"/>
                <a:gd name="T68" fmla="*/ 947737 w 1290637"/>
                <a:gd name="T69" fmla="*/ 890588 h 1036233"/>
                <a:gd name="T70" fmla="*/ 966787 w 1290637"/>
                <a:gd name="T71" fmla="*/ 876300 h 1036233"/>
                <a:gd name="T72" fmla="*/ 990600 w 1290637"/>
                <a:gd name="T73" fmla="*/ 862013 h 1036233"/>
                <a:gd name="T74" fmla="*/ 1014412 w 1290637"/>
                <a:gd name="T75" fmla="*/ 838200 h 1036233"/>
                <a:gd name="T76" fmla="*/ 1031081 w 1290637"/>
                <a:gd name="T77" fmla="*/ 816769 h 1036233"/>
                <a:gd name="T78" fmla="*/ 1164431 w 1290637"/>
                <a:gd name="T79" fmla="*/ 685800 h 1036233"/>
                <a:gd name="T80" fmla="*/ 1281112 w 1290637"/>
                <a:gd name="T81" fmla="*/ 450056 h 1036233"/>
                <a:gd name="T82" fmla="*/ 1266825 w 1290637"/>
                <a:gd name="T83" fmla="*/ 176213 h 1036233"/>
                <a:gd name="T84" fmla="*/ 1152525 w 1290637"/>
                <a:gd name="T85" fmla="*/ 0 h 1036233"/>
                <a:gd name="T86" fmla="*/ 969169 w 1290637"/>
                <a:gd name="T87" fmla="*/ 180975 h 1036233"/>
                <a:gd name="T88" fmla="*/ 1007269 w 1290637"/>
                <a:gd name="T89" fmla="*/ 347663 h 1036233"/>
                <a:gd name="T90" fmla="*/ 945356 w 1290637"/>
                <a:gd name="T91" fmla="*/ 485775 h 1036233"/>
                <a:gd name="T92" fmla="*/ 807244 w 1290637"/>
                <a:gd name="T93" fmla="*/ 614363 h 1036233"/>
                <a:gd name="T94" fmla="*/ 535781 w 1290637"/>
                <a:gd name="T95" fmla="*/ 738188 h 1036233"/>
                <a:gd name="T96" fmla="*/ 185737 w 1290637"/>
                <a:gd name="T97" fmla="*/ 750094 h 1036233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1290637"/>
                <a:gd name="T148" fmla="*/ 0 h 1036233"/>
                <a:gd name="T149" fmla="*/ 1290637 w 1290637"/>
                <a:gd name="T150" fmla="*/ 1036233 h 1036233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1290637" h="1036233">
                  <a:moveTo>
                    <a:pt x="185737" y="750094"/>
                  </a:moveTo>
                  <a:cubicBezTo>
                    <a:pt x="180070" y="767096"/>
                    <a:pt x="183760" y="760204"/>
                    <a:pt x="176212" y="771525"/>
                  </a:cubicBezTo>
                  <a:cubicBezTo>
                    <a:pt x="175418" y="773906"/>
                    <a:pt x="175606" y="776894"/>
                    <a:pt x="173831" y="778669"/>
                  </a:cubicBezTo>
                  <a:cubicBezTo>
                    <a:pt x="172056" y="780444"/>
                    <a:pt x="168776" y="779658"/>
                    <a:pt x="166687" y="781050"/>
                  </a:cubicBezTo>
                  <a:cubicBezTo>
                    <a:pt x="163885" y="782918"/>
                    <a:pt x="162131" y="786038"/>
                    <a:pt x="159544" y="788194"/>
                  </a:cubicBezTo>
                  <a:cubicBezTo>
                    <a:pt x="157345" y="790026"/>
                    <a:pt x="154539" y="791055"/>
                    <a:pt x="152400" y="792956"/>
                  </a:cubicBezTo>
                  <a:cubicBezTo>
                    <a:pt x="133124" y="810090"/>
                    <a:pt x="145699" y="804715"/>
                    <a:pt x="130969" y="809625"/>
                  </a:cubicBezTo>
                  <a:cubicBezTo>
                    <a:pt x="129381" y="812006"/>
                    <a:pt x="128230" y="814745"/>
                    <a:pt x="126206" y="816769"/>
                  </a:cubicBezTo>
                  <a:cubicBezTo>
                    <a:pt x="123400" y="819575"/>
                    <a:pt x="119694" y="821330"/>
                    <a:pt x="116681" y="823913"/>
                  </a:cubicBezTo>
                  <a:cubicBezTo>
                    <a:pt x="114124" y="826104"/>
                    <a:pt x="111918" y="828675"/>
                    <a:pt x="109537" y="831056"/>
                  </a:cubicBezTo>
                  <a:cubicBezTo>
                    <a:pt x="107151" y="838215"/>
                    <a:pt x="107522" y="839190"/>
                    <a:pt x="102394" y="845344"/>
                  </a:cubicBezTo>
                  <a:cubicBezTo>
                    <a:pt x="100238" y="847931"/>
                    <a:pt x="97318" y="849830"/>
                    <a:pt x="95250" y="852488"/>
                  </a:cubicBezTo>
                  <a:cubicBezTo>
                    <a:pt x="91736" y="857006"/>
                    <a:pt x="88900" y="862013"/>
                    <a:pt x="85725" y="866775"/>
                  </a:cubicBezTo>
                  <a:lnTo>
                    <a:pt x="80962" y="873919"/>
                  </a:lnTo>
                  <a:cubicBezTo>
                    <a:pt x="79375" y="876300"/>
                    <a:pt x="77105" y="878348"/>
                    <a:pt x="76200" y="881063"/>
                  </a:cubicBezTo>
                  <a:cubicBezTo>
                    <a:pt x="72914" y="890921"/>
                    <a:pt x="75211" y="886118"/>
                    <a:pt x="69056" y="895350"/>
                  </a:cubicBezTo>
                  <a:cubicBezTo>
                    <a:pt x="66669" y="902511"/>
                    <a:pt x="67042" y="903482"/>
                    <a:pt x="61912" y="909638"/>
                  </a:cubicBezTo>
                  <a:cubicBezTo>
                    <a:pt x="59756" y="912225"/>
                    <a:pt x="56925" y="914194"/>
                    <a:pt x="54769" y="916781"/>
                  </a:cubicBezTo>
                  <a:cubicBezTo>
                    <a:pt x="52937" y="918980"/>
                    <a:pt x="52160" y="922040"/>
                    <a:pt x="50006" y="923925"/>
                  </a:cubicBezTo>
                  <a:cubicBezTo>
                    <a:pt x="45699" y="927694"/>
                    <a:pt x="40481" y="930275"/>
                    <a:pt x="35719" y="933450"/>
                  </a:cubicBezTo>
                  <a:lnTo>
                    <a:pt x="28575" y="938213"/>
                  </a:lnTo>
                  <a:lnTo>
                    <a:pt x="21431" y="942975"/>
                  </a:lnTo>
                  <a:lnTo>
                    <a:pt x="11906" y="957263"/>
                  </a:lnTo>
                  <a:cubicBezTo>
                    <a:pt x="10319" y="959644"/>
                    <a:pt x="8049" y="961691"/>
                    <a:pt x="7144" y="964406"/>
                  </a:cubicBezTo>
                  <a:cubicBezTo>
                    <a:pt x="4052" y="973680"/>
                    <a:pt x="6537" y="969775"/>
                    <a:pt x="0" y="976313"/>
                  </a:cubicBezTo>
                  <a:cubicBezTo>
                    <a:pt x="2381" y="977900"/>
                    <a:pt x="4584" y="979795"/>
                    <a:pt x="7144" y="981075"/>
                  </a:cubicBezTo>
                  <a:cubicBezTo>
                    <a:pt x="12586" y="983796"/>
                    <a:pt x="20762" y="984480"/>
                    <a:pt x="26194" y="985838"/>
                  </a:cubicBezTo>
                  <a:cubicBezTo>
                    <a:pt x="39789" y="989237"/>
                    <a:pt x="26537" y="987632"/>
                    <a:pt x="42862" y="990600"/>
                  </a:cubicBezTo>
                  <a:cubicBezTo>
                    <a:pt x="48384" y="991604"/>
                    <a:pt x="53975" y="992187"/>
                    <a:pt x="59531" y="992981"/>
                  </a:cubicBezTo>
                  <a:cubicBezTo>
                    <a:pt x="61912" y="993775"/>
                    <a:pt x="64240" y="994754"/>
                    <a:pt x="66675" y="995363"/>
                  </a:cubicBezTo>
                  <a:cubicBezTo>
                    <a:pt x="83109" y="999472"/>
                    <a:pt x="92153" y="998713"/>
                    <a:pt x="111919" y="1000125"/>
                  </a:cubicBezTo>
                  <a:cubicBezTo>
                    <a:pt x="114300" y="1001713"/>
                    <a:pt x="117038" y="1002864"/>
                    <a:pt x="119062" y="1004888"/>
                  </a:cubicBezTo>
                  <a:cubicBezTo>
                    <a:pt x="121086" y="1006912"/>
                    <a:pt x="121444" y="1010444"/>
                    <a:pt x="123825" y="1012031"/>
                  </a:cubicBezTo>
                  <a:cubicBezTo>
                    <a:pt x="126548" y="1013846"/>
                    <a:pt x="130215" y="1013473"/>
                    <a:pt x="133350" y="1014413"/>
                  </a:cubicBezTo>
                  <a:cubicBezTo>
                    <a:pt x="165007" y="1023911"/>
                    <a:pt x="131808" y="1018296"/>
                    <a:pt x="190500" y="1021556"/>
                  </a:cubicBezTo>
                  <a:cubicBezTo>
                    <a:pt x="212977" y="1029050"/>
                    <a:pt x="193526" y="1023276"/>
                    <a:pt x="245269" y="1026319"/>
                  </a:cubicBezTo>
                  <a:cubicBezTo>
                    <a:pt x="256390" y="1026973"/>
                    <a:pt x="267494" y="1027906"/>
                    <a:pt x="278606" y="1028700"/>
                  </a:cubicBezTo>
                  <a:cubicBezTo>
                    <a:pt x="281781" y="1029494"/>
                    <a:pt x="284858" y="1031081"/>
                    <a:pt x="288131" y="1031081"/>
                  </a:cubicBezTo>
                  <a:cubicBezTo>
                    <a:pt x="357072" y="1031081"/>
                    <a:pt x="339347" y="1036233"/>
                    <a:pt x="369094" y="1026319"/>
                  </a:cubicBezTo>
                  <a:cubicBezTo>
                    <a:pt x="422001" y="1030727"/>
                    <a:pt x="400542" y="1030001"/>
                    <a:pt x="483394" y="1026319"/>
                  </a:cubicBezTo>
                  <a:cubicBezTo>
                    <a:pt x="490575" y="1026000"/>
                    <a:pt x="497644" y="1024244"/>
                    <a:pt x="504825" y="1023938"/>
                  </a:cubicBezTo>
                  <a:cubicBezTo>
                    <a:pt x="534970" y="1022655"/>
                    <a:pt x="565150" y="1022350"/>
                    <a:pt x="595312" y="1021556"/>
                  </a:cubicBezTo>
                  <a:cubicBezTo>
                    <a:pt x="597693" y="1020762"/>
                    <a:pt x="599995" y="1019667"/>
                    <a:pt x="602456" y="1019175"/>
                  </a:cubicBezTo>
                  <a:cubicBezTo>
                    <a:pt x="629819" y="1013703"/>
                    <a:pt x="610129" y="1019792"/>
                    <a:pt x="626269" y="1014413"/>
                  </a:cubicBezTo>
                  <a:cubicBezTo>
                    <a:pt x="646734" y="1000767"/>
                    <a:pt x="620844" y="1017125"/>
                    <a:pt x="640556" y="1007269"/>
                  </a:cubicBezTo>
                  <a:cubicBezTo>
                    <a:pt x="643116" y="1005989"/>
                    <a:pt x="645020" y="1003511"/>
                    <a:pt x="647700" y="1002506"/>
                  </a:cubicBezTo>
                  <a:cubicBezTo>
                    <a:pt x="651490" y="1001085"/>
                    <a:pt x="655701" y="1001190"/>
                    <a:pt x="659606" y="1000125"/>
                  </a:cubicBezTo>
                  <a:cubicBezTo>
                    <a:pt x="664449" y="998804"/>
                    <a:pt x="668924" y="996073"/>
                    <a:pt x="673894" y="995363"/>
                  </a:cubicBezTo>
                  <a:cubicBezTo>
                    <a:pt x="699241" y="991741"/>
                    <a:pt x="684973" y="993489"/>
                    <a:pt x="716756" y="990600"/>
                  </a:cubicBezTo>
                  <a:cubicBezTo>
                    <a:pt x="724714" y="987948"/>
                    <a:pt x="724451" y="987832"/>
                    <a:pt x="733425" y="985838"/>
                  </a:cubicBezTo>
                  <a:cubicBezTo>
                    <a:pt x="737376" y="984960"/>
                    <a:pt x="741380" y="984334"/>
                    <a:pt x="745331" y="983456"/>
                  </a:cubicBezTo>
                  <a:cubicBezTo>
                    <a:pt x="748526" y="982746"/>
                    <a:pt x="751709" y="981974"/>
                    <a:pt x="754856" y="981075"/>
                  </a:cubicBezTo>
                  <a:cubicBezTo>
                    <a:pt x="757270" y="980385"/>
                    <a:pt x="759565" y="979303"/>
                    <a:pt x="762000" y="978694"/>
                  </a:cubicBezTo>
                  <a:cubicBezTo>
                    <a:pt x="765926" y="977712"/>
                    <a:pt x="770001" y="977378"/>
                    <a:pt x="773906" y="976313"/>
                  </a:cubicBezTo>
                  <a:cubicBezTo>
                    <a:pt x="793767" y="970896"/>
                    <a:pt x="782144" y="973464"/>
                    <a:pt x="797719" y="966788"/>
                  </a:cubicBezTo>
                  <a:cubicBezTo>
                    <a:pt x="800026" y="965799"/>
                    <a:pt x="802617" y="965529"/>
                    <a:pt x="804862" y="964406"/>
                  </a:cubicBezTo>
                  <a:cubicBezTo>
                    <a:pt x="807422" y="963126"/>
                    <a:pt x="809446" y="960924"/>
                    <a:pt x="812006" y="959644"/>
                  </a:cubicBezTo>
                  <a:cubicBezTo>
                    <a:pt x="814251" y="958522"/>
                    <a:pt x="816843" y="958252"/>
                    <a:pt x="819150" y="957263"/>
                  </a:cubicBezTo>
                  <a:cubicBezTo>
                    <a:pt x="829400" y="952870"/>
                    <a:pt x="832807" y="949745"/>
                    <a:pt x="842962" y="942975"/>
                  </a:cubicBezTo>
                  <a:cubicBezTo>
                    <a:pt x="845343" y="941388"/>
                    <a:pt x="847391" y="939118"/>
                    <a:pt x="850106" y="938213"/>
                  </a:cubicBezTo>
                  <a:lnTo>
                    <a:pt x="864394" y="933450"/>
                  </a:lnTo>
                  <a:lnTo>
                    <a:pt x="871537" y="931069"/>
                  </a:lnTo>
                  <a:cubicBezTo>
                    <a:pt x="873918" y="929481"/>
                    <a:pt x="876050" y="927433"/>
                    <a:pt x="878681" y="926306"/>
                  </a:cubicBezTo>
                  <a:cubicBezTo>
                    <a:pt x="881689" y="925017"/>
                    <a:pt x="885059" y="924824"/>
                    <a:pt x="888206" y="923925"/>
                  </a:cubicBezTo>
                  <a:cubicBezTo>
                    <a:pt x="890620" y="923235"/>
                    <a:pt x="892969" y="922338"/>
                    <a:pt x="895350" y="921544"/>
                  </a:cubicBezTo>
                  <a:cubicBezTo>
                    <a:pt x="906670" y="913996"/>
                    <a:pt x="899779" y="917686"/>
                    <a:pt x="916781" y="912019"/>
                  </a:cubicBezTo>
                  <a:lnTo>
                    <a:pt x="923925" y="909638"/>
                  </a:lnTo>
                  <a:lnTo>
                    <a:pt x="931069" y="907256"/>
                  </a:lnTo>
                  <a:cubicBezTo>
                    <a:pt x="931863" y="904875"/>
                    <a:pt x="931675" y="901888"/>
                    <a:pt x="933450" y="900113"/>
                  </a:cubicBezTo>
                  <a:cubicBezTo>
                    <a:pt x="937497" y="896066"/>
                    <a:pt x="947737" y="890588"/>
                    <a:pt x="947737" y="890588"/>
                  </a:cubicBezTo>
                  <a:cubicBezTo>
                    <a:pt x="949325" y="888207"/>
                    <a:pt x="950476" y="885468"/>
                    <a:pt x="952500" y="883444"/>
                  </a:cubicBezTo>
                  <a:cubicBezTo>
                    <a:pt x="959325" y="876619"/>
                    <a:pt x="959040" y="880173"/>
                    <a:pt x="966787" y="876300"/>
                  </a:cubicBezTo>
                  <a:cubicBezTo>
                    <a:pt x="985256" y="867066"/>
                    <a:pt x="963114" y="875145"/>
                    <a:pt x="981075" y="869156"/>
                  </a:cubicBezTo>
                  <a:cubicBezTo>
                    <a:pt x="984250" y="866775"/>
                    <a:pt x="987349" y="864289"/>
                    <a:pt x="990600" y="862013"/>
                  </a:cubicBezTo>
                  <a:cubicBezTo>
                    <a:pt x="995289" y="858731"/>
                    <a:pt x="1004887" y="852488"/>
                    <a:pt x="1004887" y="852488"/>
                  </a:cubicBezTo>
                  <a:lnTo>
                    <a:pt x="1014412" y="838200"/>
                  </a:lnTo>
                  <a:cubicBezTo>
                    <a:pt x="1016000" y="835819"/>
                    <a:pt x="1017151" y="833080"/>
                    <a:pt x="1019175" y="831056"/>
                  </a:cubicBezTo>
                  <a:cubicBezTo>
                    <a:pt x="1040038" y="810196"/>
                    <a:pt x="1014512" y="836653"/>
                    <a:pt x="1031081" y="816769"/>
                  </a:cubicBezTo>
                  <a:lnTo>
                    <a:pt x="1042987" y="804863"/>
                  </a:lnTo>
                  <a:lnTo>
                    <a:pt x="1164431" y="685800"/>
                  </a:lnTo>
                  <a:lnTo>
                    <a:pt x="1250156" y="557213"/>
                  </a:lnTo>
                  <a:lnTo>
                    <a:pt x="1281112" y="450056"/>
                  </a:lnTo>
                  <a:lnTo>
                    <a:pt x="1290637" y="323850"/>
                  </a:lnTo>
                  <a:lnTo>
                    <a:pt x="1266825" y="176213"/>
                  </a:lnTo>
                  <a:lnTo>
                    <a:pt x="1209675" y="71438"/>
                  </a:lnTo>
                  <a:lnTo>
                    <a:pt x="1152525" y="0"/>
                  </a:lnTo>
                  <a:cubicBezTo>
                    <a:pt x="1105222" y="39285"/>
                    <a:pt x="1071139" y="116681"/>
                    <a:pt x="1009650" y="116681"/>
                  </a:cubicBezTo>
                  <a:lnTo>
                    <a:pt x="969169" y="180975"/>
                  </a:lnTo>
                  <a:lnTo>
                    <a:pt x="1007269" y="266700"/>
                  </a:lnTo>
                  <a:lnTo>
                    <a:pt x="1007269" y="347663"/>
                  </a:lnTo>
                  <a:lnTo>
                    <a:pt x="988219" y="419100"/>
                  </a:lnTo>
                  <a:lnTo>
                    <a:pt x="945356" y="485775"/>
                  </a:lnTo>
                  <a:lnTo>
                    <a:pt x="890587" y="545306"/>
                  </a:lnTo>
                  <a:lnTo>
                    <a:pt x="807244" y="614363"/>
                  </a:lnTo>
                  <a:lnTo>
                    <a:pt x="688181" y="688181"/>
                  </a:lnTo>
                  <a:lnTo>
                    <a:pt x="535781" y="738188"/>
                  </a:lnTo>
                  <a:lnTo>
                    <a:pt x="323850" y="762000"/>
                  </a:lnTo>
                  <a:lnTo>
                    <a:pt x="185737" y="750094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0" scaled="1"/>
            </a:gra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任意多边形 36">
              <a:extLst>
                <a:ext uri="{FF2B5EF4-FFF2-40B4-BE49-F238E27FC236}">
                  <a16:creationId xmlns:a16="http://schemas.microsoft.com/office/drawing/2014/main" id="{425EBA34-AEDB-4554-A0C5-E92EA47888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9063" y="4352925"/>
              <a:ext cx="1000125" cy="258918"/>
            </a:xfrm>
            <a:custGeom>
              <a:avLst/>
              <a:gdLst>
                <a:gd name="T0" fmla="*/ 16014 w 1036370"/>
                <a:gd name="T1" fmla="*/ 138728 h 243042"/>
                <a:gd name="T2" fmla="*/ 38189 w 1036370"/>
                <a:gd name="T3" fmla="*/ 157646 h 243042"/>
                <a:gd name="T4" fmla="*/ 60365 w 1036370"/>
                <a:gd name="T5" fmla="*/ 173862 h 243042"/>
                <a:gd name="T6" fmla="*/ 75888 w 1036370"/>
                <a:gd name="T7" fmla="*/ 179266 h 243042"/>
                <a:gd name="T8" fmla="*/ 104717 w 1036370"/>
                <a:gd name="T9" fmla="*/ 200886 h 243042"/>
                <a:gd name="T10" fmla="*/ 124676 w 1036370"/>
                <a:gd name="T11" fmla="*/ 211697 h 243042"/>
                <a:gd name="T12" fmla="*/ 142417 w 1036370"/>
                <a:gd name="T13" fmla="*/ 222506 h 243042"/>
                <a:gd name="T14" fmla="*/ 162374 w 1036370"/>
                <a:gd name="T15" fmla="*/ 233316 h 243042"/>
                <a:gd name="T16" fmla="*/ 186768 w 1036370"/>
                <a:gd name="T17" fmla="*/ 246829 h 243042"/>
                <a:gd name="T18" fmla="*/ 224467 w 1036370"/>
                <a:gd name="T19" fmla="*/ 260341 h 243042"/>
                <a:gd name="T20" fmla="*/ 359741 w 1036370"/>
                <a:gd name="T21" fmla="*/ 263044 h 243042"/>
                <a:gd name="T22" fmla="*/ 479492 w 1036370"/>
                <a:gd name="T23" fmla="*/ 260341 h 243042"/>
                <a:gd name="T24" fmla="*/ 543802 w 1036370"/>
                <a:gd name="T25" fmla="*/ 254936 h 243042"/>
                <a:gd name="T26" fmla="*/ 583720 w 1036370"/>
                <a:gd name="T27" fmla="*/ 241424 h 243042"/>
                <a:gd name="T28" fmla="*/ 612548 w 1036370"/>
                <a:gd name="T29" fmla="*/ 233316 h 243042"/>
                <a:gd name="T30" fmla="*/ 654683 w 1036370"/>
                <a:gd name="T31" fmla="*/ 222506 h 243042"/>
                <a:gd name="T32" fmla="*/ 676858 w 1036370"/>
                <a:gd name="T33" fmla="*/ 211697 h 243042"/>
                <a:gd name="T34" fmla="*/ 696817 w 1036370"/>
                <a:gd name="T35" fmla="*/ 203588 h 243042"/>
                <a:gd name="T36" fmla="*/ 710123 w 1036370"/>
                <a:gd name="T37" fmla="*/ 195481 h 243042"/>
                <a:gd name="T38" fmla="*/ 738952 w 1036370"/>
                <a:gd name="T39" fmla="*/ 181969 h 243042"/>
                <a:gd name="T40" fmla="*/ 758910 w 1036370"/>
                <a:gd name="T41" fmla="*/ 171158 h 243042"/>
                <a:gd name="T42" fmla="*/ 774433 w 1036370"/>
                <a:gd name="T43" fmla="*/ 152242 h 243042"/>
                <a:gd name="T44" fmla="*/ 801045 w 1036370"/>
                <a:gd name="T45" fmla="*/ 144134 h 243042"/>
                <a:gd name="T46" fmla="*/ 821002 w 1036370"/>
                <a:gd name="T47" fmla="*/ 130621 h 243042"/>
                <a:gd name="T48" fmla="*/ 840962 w 1036370"/>
                <a:gd name="T49" fmla="*/ 119811 h 243042"/>
                <a:gd name="T50" fmla="*/ 860920 w 1036370"/>
                <a:gd name="T51" fmla="*/ 100893 h 243042"/>
                <a:gd name="T52" fmla="*/ 867573 w 1036370"/>
                <a:gd name="T53" fmla="*/ 81975 h 243042"/>
                <a:gd name="T54" fmla="*/ 887531 w 1036370"/>
                <a:gd name="T55" fmla="*/ 65761 h 243042"/>
                <a:gd name="T56" fmla="*/ 920796 w 1036370"/>
                <a:gd name="T57" fmla="*/ 41438 h 243042"/>
                <a:gd name="T58" fmla="*/ 940754 w 1036370"/>
                <a:gd name="T59" fmla="*/ 30628 h 243042"/>
                <a:gd name="T60" fmla="*/ 958495 w 1036370"/>
                <a:gd name="T61" fmla="*/ 3603 h 243042"/>
                <a:gd name="T62" fmla="*/ 825439 w 1036370"/>
                <a:gd name="T63" fmla="*/ 100893 h 243042"/>
                <a:gd name="T64" fmla="*/ 592590 w 1036370"/>
                <a:gd name="T65" fmla="*/ 176563 h 243042"/>
                <a:gd name="T66" fmla="*/ 306519 w 1036370"/>
                <a:gd name="T67" fmla="*/ 192779 h 243042"/>
                <a:gd name="T68" fmla="*/ 113588 w 1036370"/>
                <a:gd name="T69" fmla="*/ 168456 h 243042"/>
                <a:gd name="T70" fmla="*/ 490 w 1036370"/>
                <a:gd name="T71" fmla="*/ 119811 h 24304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w 1036370"/>
                <a:gd name="T109" fmla="*/ 0 h 243042"/>
                <a:gd name="T110" fmla="*/ 1036370 w 1036370"/>
                <a:gd name="T111" fmla="*/ 243042 h 243042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T108" t="T109" r="T110" b="T111"/>
              <a:pathLst>
                <a:path w="1036370" h="243042">
                  <a:moveTo>
                    <a:pt x="526" y="105569"/>
                  </a:moveTo>
                  <a:cubicBezTo>
                    <a:pt x="5076" y="119220"/>
                    <a:pt x="0" y="108862"/>
                    <a:pt x="17195" y="122237"/>
                  </a:cubicBezTo>
                  <a:cubicBezTo>
                    <a:pt x="19853" y="124304"/>
                    <a:pt x="21751" y="127225"/>
                    <a:pt x="24338" y="129381"/>
                  </a:cubicBezTo>
                  <a:cubicBezTo>
                    <a:pt x="28559" y="132899"/>
                    <a:pt x="36210" y="136850"/>
                    <a:pt x="41007" y="138906"/>
                  </a:cubicBezTo>
                  <a:cubicBezTo>
                    <a:pt x="43314" y="139895"/>
                    <a:pt x="45770" y="140493"/>
                    <a:pt x="48151" y="141287"/>
                  </a:cubicBezTo>
                  <a:cubicBezTo>
                    <a:pt x="49234" y="142100"/>
                    <a:pt x="62113" y="152034"/>
                    <a:pt x="64820" y="153194"/>
                  </a:cubicBezTo>
                  <a:cubicBezTo>
                    <a:pt x="67828" y="154483"/>
                    <a:pt x="71198" y="154676"/>
                    <a:pt x="74345" y="155575"/>
                  </a:cubicBezTo>
                  <a:cubicBezTo>
                    <a:pt x="76758" y="156264"/>
                    <a:pt x="79181" y="156967"/>
                    <a:pt x="81488" y="157956"/>
                  </a:cubicBezTo>
                  <a:cubicBezTo>
                    <a:pt x="102080" y="166782"/>
                    <a:pt x="81407" y="159517"/>
                    <a:pt x="98157" y="165100"/>
                  </a:cubicBezTo>
                  <a:cubicBezTo>
                    <a:pt x="102645" y="169588"/>
                    <a:pt x="106476" y="174353"/>
                    <a:pt x="112445" y="177006"/>
                  </a:cubicBezTo>
                  <a:cubicBezTo>
                    <a:pt x="117032" y="179045"/>
                    <a:pt x="122555" y="178985"/>
                    <a:pt x="126732" y="181769"/>
                  </a:cubicBezTo>
                  <a:cubicBezTo>
                    <a:pt x="129113" y="183356"/>
                    <a:pt x="131547" y="184868"/>
                    <a:pt x="133876" y="186531"/>
                  </a:cubicBezTo>
                  <a:cubicBezTo>
                    <a:pt x="137106" y="188838"/>
                    <a:pt x="139851" y="191900"/>
                    <a:pt x="143401" y="193675"/>
                  </a:cubicBezTo>
                  <a:cubicBezTo>
                    <a:pt x="146328" y="195139"/>
                    <a:pt x="149751" y="195262"/>
                    <a:pt x="152926" y="196056"/>
                  </a:cubicBezTo>
                  <a:cubicBezTo>
                    <a:pt x="155307" y="197644"/>
                    <a:pt x="157455" y="199657"/>
                    <a:pt x="160070" y="200819"/>
                  </a:cubicBezTo>
                  <a:cubicBezTo>
                    <a:pt x="164657" y="202858"/>
                    <a:pt x="174357" y="205581"/>
                    <a:pt x="174357" y="205581"/>
                  </a:cubicBezTo>
                  <a:cubicBezTo>
                    <a:pt x="188833" y="215232"/>
                    <a:pt x="173454" y="206136"/>
                    <a:pt x="191026" y="212725"/>
                  </a:cubicBezTo>
                  <a:cubicBezTo>
                    <a:pt x="194350" y="213971"/>
                    <a:pt x="197255" y="216169"/>
                    <a:pt x="200551" y="217487"/>
                  </a:cubicBezTo>
                  <a:cubicBezTo>
                    <a:pt x="223531" y="226679"/>
                    <a:pt x="206730" y="217957"/>
                    <a:pt x="233888" y="227012"/>
                  </a:cubicBezTo>
                  <a:lnTo>
                    <a:pt x="241032" y="229394"/>
                  </a:lnTo>
                  <a:cubicBezTo>
                    <a:pt x="250557" y="228600"/>
                    <a:pt x="260049" y="227012"/>
                    <a:pt x="269607" y="227012"/>
                  </a:cubicBezTo>
                  <a:cubicBezTo>
                    <a:pt x="348985" y="227012"/>
                    <a:pt x="338509" y="226467"/>
                    <a:pt x="386288" y="231775"/>
                  </a:cubicBezTo>
                  <a:cubicBezTo>
                    <a:pt x="431362" y="243042"/>
                    <a:pt x="399978" y="236085"/>
                    <a:pt x="507732" y="231775"/>
                  </a:cubicBezTo>
                  <a:cubicBezTo>
                    <a:pt x="510240" y="231675"/>
                    <a:pt x="512415" y="229886"/>
                    <a:pt x="514876" y="229394"/>
                  </a:cubicBezTo>
                  <a:cubicBezTo>
                    <a:pt x="520380" y="228293"/>
                    <a:pt x="525946" y="227398"/>
                    <a:pt x="531545" y="227012"/>
                  </a:cubicBezTo>
                  <a:cubicBezTo>
                    <a:pt x="548984" y="225809"/>
                    <a:pt x="566470" y="225425"/>
                    <a:pt x="583932" y="224631"/>
                  </a:cubicBezTo>
                  <a:cubicBezTo>
                    <a:pt x="605621" y="217402"/>
                    <a:pt x="571353" y="228495"/>
                    <a:pt x="602982" y="219869"/>
                  </a:cubicBezTo>
                  <a:cubicBezTo>
                    <a:pt x="615415" y="216478"/>
                    <a:pt x="615633" y="214754"/>
                    <a:pt x="626795" y="212725"/>
                  </a:cubicBezTo>
                  <a:cubicBezTo>
                    <a:pt x="632317" y="211721"/>
                    <a:pt x="637907" y="211138"/>
                    <a:pt x="643463" y="210344"/>
                  </a:cubicBezTo>
                  <a:cubicBezTo>
                    <a:pt x="648226" y="208756"/>
                    <a:pt x="652828" y="206565"/>
                    <a:pt x="657751" y="205581"/>
                  </a:cubicBezTo>
                  <a:cubicBezTo>
                    <a:pt x="665688" y="203994"/>
                    <a:pt x="673884" y="203379"/>
                    <a:pt x="681563" y="200819"/>
                  </a:cubicBezTo>
                  <a:cubicBezTo>
                    <a:pt x="693287" y="196910"/>
                    <a:pt x="686231" y="198850"/>
                    <a:pt x="702995" y="196056"/>
                  </a:cubicBezTo>
                  <a:cubicBezTo>
                    <a:pt x="707757" y="194469"/>
                    <a:pt x="712792" y="193539"/>
                    <a:pt x="717282" y="191294"/>
                  </a:cubicBezTo>
                  <a:cubicBezTo>
                    <a:pt x="720457" y="189706"/>
                    <a:pt x="723511" y="187849"/>
                    <a:pt x="726807" y="186531"/>
                  </a:cubicBezTo>
                  <a:cubicBezTo>
                    <a:pt x="731468" y="184667"/>
                    <a:pt x="736332" y="183357"/>
                    <a:pt x="741095" y="181769"/>
                  </a:cubicBezTo>
                  <a:lnTo>
                    <a:pt x="748238" y="179387"/>
                  </a:lnTo>
                  <a:cubicBezTo>
                    <a:pt x="750619" y="178593"/>
                    <a:pt x="753293" y="178398"/>
                    <a:pt x="755382" y="177006"/>
                  </a:cubicBezTo>
                  <a:cubicBezTo>
                    <a:pt x="757763" y="175419"/>
                    <a:pt x="759911" y="173406"/>
                    <a:pt x="762526" y="172244"/>
                  </a:cubicBezTo>
                  <a:cubicBezTo>
                    <a:pt x="767113" y="170205"/>
                    <a:pt x="772636" y="170265"/>
                    <a:pt x="776813" y="167481"/>
                  </a:cubicBezTo>
                  <a:cubicBezTo>
                    <a:pt x="788145" y="159927"/>
                    <a:pt x="779505" y="164530"/>
                    <a:pt x="793482" y="160337"/>
                  </a:cubicBezTo>
                  <a:cubicBezTo>
                    <a:pt x="798290" y="158894"/>
                    <a:pt x="807770" y="155575"/>
                    <a:pt x="807770" y="155575"/>
                  </a:cubicBezTo>
                  <a:cubicBezTo>
                    <a:pt x="810151" y="153987"/>
                    <a:pt x="812353" y="152092"/>
                    <a:pt x="814913" y="150812"/>
                  </a:cubicBezTo>
                  <a:cubicBezTo>
                    <a:pt x="817158" y="149689"/>
                    <a:pt x="820282" y="150206"/>
                    <a:pt x="822057" y="148431"/>
                  </a:cubicBezTo>
                  <a:cubicBezTo>
                    <a:pt x="826104" y="144384"/>
                    <a:pt x="825893" y="134776"/>
                    <a:pt x="831582" y="134144"/>
                  </a:cubicBezTo>
                  <a:lnTo>
                    <a:pt x="853013" y="131762"/>
                  </a:lnTo>
                  <a:cubicBezTo>
                    <a:pt x="855394" y="130175"/>
                    <a:pt x="857597" y="128280"/>
                    <a:pt x="860157" y="127000"/>
                  </a:cubicBezTo>
                  <a:cubicBezTo>
                    <a:pt x="862402" y="125878"/>
                    <a:pt x="865107" y="125838"/>
                    <a:pt x="867301" y="124619"/>
                  </a:cubicBezTo>
                  <a:cubicBezTo>
                    <a:pt x="872304" y="121839"/>
                    <a:pt x="876826" y="118269"/>
                    <a:pt x="881588" y="115094"/>
                  </a:cubicBezTo>
                  <a:cubicBezTo>
                    <a:pt x="883969" y="113506"/>
                    <a:pt x="886017" y="111236"/>
                    <a:pt x="888732" y="110331"/>
                  </a:cubicBezTo>
                  <a:lnTo>
                    <a:pt x="903020" y="105569"/>
                  </a:lnTo>
                  <a:cubicBezTo>
                    <a:pt x="920766" y="93736"/>
                    <a:pt x="898959" y="108951"/>
                    <a:pt x="917307" y="93662"/>
                  </a:cubicBezTo>
                  <a:cubicBezTo>
                    <a:pt x="919506" y="91830"/>
                    <a:pt x="922070" y="90487"/>
                    <a:pt x="924451" y="88900"/>
                  </a:cubicBezTo>
                  <a:cubicBezTo>
                    <a:pt x="926038" y="85725"/>
                    <a:pt x="927815" y="82638"/>
                    <a:pt x="929213" y="79375"/>
                  </a:cubicBezTo>
                  <a:cubicBezTo>
                    <a:pt x="930202" y="77068"/>
                    <a:pt x="929820" y="74006"/>
                    <a:pt x="931595" y="72231"/>
                  </a:cubicBezTo>
                  <a:cubicBezTo>
                    <a:pt x="935642" y="68184"/>
                    <a:pt x="941120" y="65881"/>
                    <a:pt x="945882" y="62706"/>
                  </a:cubicBezTo>
                  <a:cubicBezTo>
                    <a:pt x="948263" y="61119"/>
                    <a:pt x="950311" y="58849"/>
                    <a:pt x="953026" y="57944"/>
                  </a:cubicBezTo>
                  <a:lnTo>
                    <a:pt x="967313" y="53181"/>
                  </a:lnTo>
                  <a:cubicBezTo>
                    <a:pt x="973477" y="47017"/>
                    <a:pt x="980200" y="39360"/>
                    <a:pt x="988745" y="36512"/>
                  </a:cubicBezTo>
                  <a:lnTo>
                    <a:pt x="1003032" y="31750"/>
                  </a:lnTo>
                  <a:cubicBezTo>
                    <a:pt x="1005413" y="30162"/>
                    <a:pt x="1008388" y="29222"/>
                    <a:pt x="1010176" y="26987"/>
                  </a:cubicBezTo>
                  <a:cubicBezTo>
                    <a:pt x="1019413" y="15441"/>
                    <a:pt x="1004113" y="22659"/>
                    <a:pt x="1019701" y="17462"/>
                  </a:cubicBezTo>
                  <a:cubicBezTo>
                    <a:pt x="1022876" y="12700"/>
                    <a:pt x="1024463" y="0"/>
                    <a:pt x="1029226" y="3175"/>
                  </a:cubicBezTo>
                  <a:lnTo>
                    <a:pt x="1036370" y="7937"/>
                  </a:lnTo>
                  <a:lnTo>
                    <a:pt x="886351" y="88900"/>
                  </a:lnTo>
                  <a:lnTo>
                    <a:pt x="731570" y="138906"/>
                  </a:lnTo>
                  <a:lnTo>
                    <a:pt x="636320" y="155575"/>
                  </a:lnTo>
                  <a:lnTo>
                    <a:pt x="431532" y="172244"/>
                  </a:lnTo>
                  <a:cubicBezTo>
                    <a:pt x="397401" y="171431"/>
                    <a:pt x="363279" y="169862"/>
                    <a:pt x="329138" y="169862"/>
                  </a:cubicBezTo>
                  <a:cubicBezTo>
                    <a:pt x="297393" y="167420"/>
                    <a:pt x="265727" y="162719"/>
                    <a:pt x="233888" y="162719"/>
                  </a:cubicBezTo>
                  <a:cubicBezTo>
                    <a:pt x="129947" y="147870"/>
                    <a:pt x="167552" y="148431"/>
                    <a:pt x="121970" y="148431"/>
                  </a:cubicBezTo>
                  <a:cubicBezTo>
                    <a:pt x="56923" y="126749"/>
                    <a:pt x="80267" y="127000"/>
                    <a:pt x="55295" y="127000"/>
                  </a:cubicBezTo>
                  <a:lnTo>
                    <a:pt x="526" y="105569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5400000" scaled="1"/>
            </a:gra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7" name="组合 53">
            <a:extLst>
              <a:ext uri="{FF2B5EF4-FFF2-40B4-BE49-F238E27FC236}">
                <a16:creationId xmlns:a16="http://schemas.microsoft.com/office/drawing/2014/main" id="{9BC16E60-E8DD-46B4-BB4F-B0C0CECEB9E6}"/>
              </a:ext>
            </a:extLst>
          </p:cNvPr>
          <p:cNvGrpSpPr>
            <a:grpSpLocks/>
          </p:cNvGrpSpPr>
          <p:nvPr/>
        </p:nvGrpSpPr>
        <p:grpSpPr bwMode="auto">
          <a:xfrm>
            <a:off x="5441355" y="3125252"/>
            <a:ext cx="1258887" cy="533400"/>
            <a:chOff x="3726657" y="3069431"/>
            <a:chExt cx="1169194" cy="483393"/>
          </a:xfrm>
        </p:grpSpPr>
        <p:sp>
          <p:nvSpPr>
            <p:cNvPr id="38" name="任意多边形 51">
              <a:extLst>
                <a:ext uri="{FF2B5EF4-FFF2-40B4-BE49-F238E27FC236}">
                  <a16:creationId xmlns:a16="http://schemas.microsoft.com/office/drawing/2014/main" id="{3BDFED5C-1AFE-4E3A-9042-522FC4616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6657" y="3069431"/>
              <a:ext cx="1169194" cy="473869"/>
            </a:xfrm>
            <a:custGeom>
              <a:avLst/>
              <a:gdLst>
                <a:gd name="T0" fmla="*/ 934403 w 1171575"/>
                <a:gd name="T1" fmla="*/ 197674 h 515358"/>
                <a:gd name="T2" fmla="*/ 913060 w 1171575"/>
                <a:gd name="T3" fmla="*/ 205727 h 515358"/>
                <a:gd name="T4" fmla="*/ 898830 w 1171575"/>
                <a:gd name="T5" fmla="*/ 209753 h 515358"/>
                <a:gd name="T6" fmla="*/ 875114 w 1171575"/>
                <a:gd name="T7" fmla="*/ 217807 h 515358"/>
                <a:gd name="T8" fmla="*/ 839540 w 1171575"/>
                <a:gd name="T9" fmla="*/ 229886 h 515358"/>
                <a:gd name="T10" fmla="*/ 825310 w 1171575"/>
                <a:gd name="T11" fmla="*/ 233913 h 515358"/>
                <a:gd name="T12" fmla="*/ 794480 w 1171575"/>
                <a:gd name="T13" fmla="*/ 241966 h 515358"/>
                <a:gd name="T14" fmla="*/ 768392 w 1171575"/>
                <a:gd name="T15" fmla="*/ 248006 h 515358"/>
                <a:gd name="T16" fmla="*/ 713846 w 1171575"/>
                <a:gd name="T17" fmla="*/ 252033 h 515358"/>
                <a:gd name="T18" fmla="*/ 697245 w 1171575"/>
                <a:gd name="T19" fmla="*/ 256059 h 515358"/>
                <a:gd name="T20" fmla="*/ 635584 w 1171575"/>
                <a:gd name="T21" fmla="*/ 260086 h 515358"/>
                <a:gd name="T22" fmla="*/ 538349 w 1171575"/>
                <a:gd name="T23" fmla="*/ 262098 h 515358"/>
                <a:gd name="T24" fmla="*/ 495662 w 1171575"/>
                <a:gd name="T25" fmla="*/ 258073 h 515358"/>
                <a:gd name="T26" fmla="*/ 426885 w 1171575"/>
                <a:gd name="T27" fmla="*/ 252033 h 515358"/>
                <a:gd name="T28" fmla="*/ 388939 w 1171575"/>
                <a:gd name="T29" fmla="*/ 245992 h 515358"/>
                <a:gd name="T30" fmla="*/ 365224 w 1171575"/>
                <a:gd name="T31" fmla="*/ 237940 h 515358"/>
                <a:gd name="T32" fmla="*/ 343880 w 1171575"/>
                <a:gd name="T33" fmla="*/ 231900 h 515358"/>
                <a:gd name="T34" fmla="*/ 320164 w 1171575"/>
                <a:gd name="T35" fmla="*/ 221833 h 515358"/>
                <a:gd name="T36" fmla="*/ 282218 w 1171575"/>
                <a:gd name="T37" fmla="*/ 189620 h 515358"/>
                <a:gd name="T38" fmla="*/ 258504 w 1171575"/>
                <a:gd name="T39" fmla="*/ 167475 h 515358"/>
                <a:gd name="T40" fmla="*/ 249017 w 1171575"/>
                <a:gd name="T41" fmla="*/ 155395 h 515358"/>
                <a:gd name="T42" fmla="*/ 237158 w 1171575"/>
                <a:gd name="T43" fmla="*/ 127209 h 515358"/>
                <a:gd name="T44" fmla="*/ 222929 w 1171575"/>
                <a:gd name="T45" fmla="*/ 103051 h 515358"/>
                <a:gd name="T46" fmla="*/ 213442 w 1171575"/>
                <a:gd name="T47" fmla="*/ 76877 h 515358"/>
                <a:gd name="T48" fmla="*/ 208699 w 1171575"/>
                <a:gd name="T49" fmla="*/ 64798 h 515358"/>
                <a:gd name="T50" fmla="*/ 201585 w 1171575"/>
                <a:gd name="T51" fmla="*/ 44664 h 515358"/>
                <a:gd name="T52" fmla="*/ 196841 w 1171575"/>
                <a:gd name="T53" fmla="*/ 8426 h 515358"/>
                <a:gd name="T54" fmla="*/ 99607 w 1171575"/>
                <a:gd name="T55" fmla="*/ 50705 h 515358"/>
                <a:gd name="T56" fmla="*/ 42689 w 1171575"/>
                <a:gd name="T57" fmla="*/ 105063 h 515358"/>
                <a:gd name="T58" fmla="*/ 0 w 1171575"/>
                <a:gd name="T59" fmla="*/ 219820 h 515358"/>
                <a:gd name="T60" fmla="*/ 75890 w 1171575"/>
                <a:gd name="T61" fmla="*/ 336590 h 515358"/>
                <a:gd name="T62" fmla="*/ 218186 w 1171575"/>
                <a:gd name="T63" fmla="*/ 399001 h 515358"/>
                <a:gd name="T64" fmla="*/ 346251 w 1171575"/>
                <a:gd name="T65" fmla="*/ 423161 h 515358"/>
                <a:gd name="T66" fmla="*/ 637956 w 1171575"/>
                <a:gd name="T67" fmla="*/ 427187 h 515358"/>
                <a:gd name="T68" fmla="*/ 652185 w 1171575"/>
                <a:gd name="T69" fmla="*/ 419134 h 515358"/>
                <a:gd name="T70" fmla="*/ 884601 w 1171575"/>
                <a:gd name="T71" fmla="*/ 364776 h 515358"/>
                <a:gd name="T72" fmla="*/ 1166818 w 1171575"/>
                <a:gd name="T73" fmla="*/ 163448 h 515358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w 1171575"/>
                <a:gd name="T112" fmla="*/ 0 h 515358"/>
                <a:gd name="T113" fmla="*/ 1171575 w 1171575"/>
                <a:gd name="T114" fmla="*/ 515358 h 515358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T111" t="T112" r="T113" b="T114"/>
              <a:pathLst>
                <a:path w="1171575" h="515358">
                  <a:moveTo>
                    <a:pt x="954882" y="226660"/>
                  </a:moveTo>
                  <a:cubicBezTo>
                    <a:pt x="936942" y="238618"/>
                    <a:pt x="959746" y="224574"/>
                    <a:pt x="938213" y="233803"/>
                  </a:cubicBezTo>
                  <a:cubicBezTo>
                    <a:pt x="935582" y="234930"/>
                    <a:pt x="933684" y="237404"/>
                    <a:pt x="931069" y="238566"/>
                  </a:cubicBezTo>
                  <a:cubicBezTo>
                    <a:pt x="926482" y="240605"/>
                    <a:pt x="921544" y="241741"/>
                    <a:pt x="916782" y="243328"/>
                  </a:cubicBezTo>
                  <a:lnTo>
                    <a:pt x="909638" y="245710"/>
                  </a:lnTo>
                  <a:cubicBezTo>
                    <a:pt x="907257" y="246504"/>
                    <a:pt x="904583" y="246699"/>
                    <a:pt x="902494" y="248091"/>
                  </a:cubicBezTo>
                  <a:cubicBezTo>
                    <a:pt x="900113" y="249678"/>
                    <a:pt x="897910" y="251573"/>
                    <a:pt x="895350" y="252853"/>
                  </a:cubicBezTo>
                  <a:cubicBezTo>
                    <a:pt x="891342" y="254857"/>
                    <a:pt x="882506" y="256469"/>
                    <a:pt x="878682" y="257616"/>
                  </a:cubicBezTo>
                  <a:cubicBezTo>
                    <a:pt x="873873" y="259058"/>
                    <a:pt x="864394" y="262378"/>
                    <a:pt x="864394" y="262378"/>
                  </a:cubicBezTo>
                  <a:cubicBezTo>
                    <a:pt x="853072" y="269926"/>
                    <a:pt x="859967" y="266235"/>
                    <a:pt x="842963" y="271903"/>
                  </a:cubicBezTo>
                  <a:lnTo>
                    <a:pt x="835819" y="274285"/>
                  </a:lnTo>
                  <a:lnTo>
                    <a:pt x="828675" y="276666"/>
                  </a:lnTo>
                  <a:cubicBezTo>
                    <a:pt x="826294" y="278253"/>
                    <a:pt x="824091" y="280148"/>
                    <a:pt x="821532" y="281428"/>
                  </a:cubicBezTo>
                  <a:cubicBezTo>
                    <a:pt x="814879" y="284755"/>
                    <a:pt x="803869" y="285313"/>
                    <a:pt x="797719" y="286191"/>
                  </a:cubicBezTo>
                  <a:cubicBezTo>
                    <a:pt x="781380" y="291637"/>
                    <a:pt x="801672" y="285202"/>
                    <a:pt x="778669" y="290953"/>
                  </a:cubicBezTo>
                  <a:cubicBezTo>
                    <a:pt x="776234" y="291562"/>
                    <a:pt x="774021" y="293072"/>
                    <a:pt x="771525" y="293335"/>
                  </a:cubicBezTo>
                  <a:cubicBezTo>
                    <a:pt x="758870" y="294667"/>
                    <a:pt x="746125" y="294922"/>
                    <a:pt x="733425" y="295716"/>
                  </a:cubicBezTo>
                  <a:cubicBezTo>
                    <a:pt x="727869" y="296510"/>
                    <a:pt x="722279" y="297093"/>
                    <a:pt x="716757" y="298097"/>
                  </a:cubicBezTo>
                  <a:cubicBezTo>
                    <a:pt x="713537" y="298682"/>
                    <a:pt x="710379" y="299579"/>
                    <a:pt x="707232" y="300478"/>
                  </a:cubicBezTo>
                  <a:cubicBezTo>
                    <a:pt x="704818" y="301168"/>
                    <a:pt x="702549" y="302368"/>
                    <a:pt x="700088" y="302860"/>
                  </a:cubicBezTo>
                  <a:cubicBezTo>
                    <a:pt x="694584" y="303961"/>
                    <a:pt x="689015" y="304811"/>
                    <a:pt x="683419" y="305241"/>
                  </a:cubicBezTo>
                  <a:cubicBezTo>
                    <a:pt x="668361" y="306399"/>
                    <a:pt x="653256" y="306828"/>
                    <a:pt x="638175" y="307622"/>
                  </a:cubicBezTo>
                  <a:cubicBezTo>
                    <a:pt x="635794" y="308416"/>
                    <a:pt x="633501" y="309554"/>
                    <a:pt x="631032" y="310003"/>
                  </a:cubicBezTo>
                  <a:cubicBezTo>
                    <a:pt x="599610" y="315717"/>
                    <a:pt x="576420" y="311199"/>
                    <a:pt x="540544" y="310003"/>
                  </a:cubicBezTo>
                  <a:cubicBezTo>
                    <a:pt x="529432" y="309209"/>
                    <a:pt x="518280" y="308852"/>
                    <a:pt x="507207" y="307622"/>
                  </a:cubicBezTo>
                  <a:cubicBezTo>
                    <a:pt x="503954" y="307261"/>
                    <a:pt x="500945" y="305492"/>
                    <a:pt x="497682" y="305241"/>
                  </a:cubicBezTo>
                  <a:cubicBezTo>
                    <a:pt x="480253" y="303900"/>
                    <a:pt x="462757" y="303654"/>
                    <a:pt x="445294" y="302860"/>
                  </a:cubicBezTo>
                  <a:cubicBezTo>
                    <a:pt x="428179" y="297153"/>
                    <a:pt x="449537" y="304072"/>
                    <a:pt x="428625" y="298097"/>
                  </a:cubicBezTo>
                  <a:cubicBezTo>
                    <a:pt x="426212" y="297408"/>
                    <a:pt x="423951" y="296165"/>
                    <a:pt x="421482" y="295716"/>
                  </a:cubicBezTo>
                  <a:cubicBezTo>
                    <a:pt x="406981" y="293080"/>
                    <a:pt x="403290" y="294434"/>
                    <a:pt x="390525" y="290953"/>
                  </a:cubicBezTo>
                  <a:cubicBezTo>
                    <a:pt x="385682" y="289632"/>
                    <a:pt x="380728" y="288436"/>
                    <a:pt x="376238" y="286191"/>
                  </a:cubicBezTo>
                  <a:cubicBezTo>
                    <a:pt x="373063" y="284603"/>
                    <a:pt x="370113" y="282448"/>
                    <a:pt x="366713" y="281428"/>
                  </a:cubicBezTo>
                  <a:cubicBezTo>
                    <a:pt x="362088" y="280041"/>
                    <a:pt x="357188" y="279841"/>
                    <a:pt x="352425" y="279047"/>
                  </a:cubicBezTo>
                  <a:cubicBezTo>
                    <a:pt x="350044" y="277460"/>
                    <a:pt x="347841" y="275565"/>
                    <a:pt x="345282" y="274285"/>
                  </a:cubicBezTo>
                  <a:cubicBezTo>
                    <a:pt x="343037" y="273162"/>
                    <a:pt x="340317" y="273148"/>
                    <a:pt x="338138" y="271903"/>
                  </a:cubicBezTo>
                  <a:cubicBezTo>
                    <a:pt x="317955" y="260370"/>
                    <a:pt x="337849" y="267840"/>
                    <a:pt x="321469" y="262378"/>
                  </a:cubicBezTo>
                  <a:cubicBezTo>
                    <a:pt x="314442" y="251838"/>
                    <a:pt x="308655" y="241135"/>
                    <a:pt x="297657" y="233803"/>
                  </a:cubicBezTo>
                  <a:lnTo>
                    <a:pt x="283369" y="224278"/>
                  </a:lnTo>
                  <a:cubicBezTo>
                    <a:pt x="277016" y="220043"/>
                    <a:pt x="274021" y="218722"/>
                    <a:pt x="269082" y="212372"/>
                  </a:cubicBezTo>
                  <a:cubicBezTo>
                    <a:pt x="265568" y="207854"/>
                    <a:pt x="262732" y="202847"/>
                    <a:pt x="259557" y="198085"/>
                  </a:cubicBezTo>
                  <a:lnTo>
                    <a:pt x="254794" y="190941"/>
                  </a:lnTo>
                  <a:lnTo>
                    <a:pt x="250032" y="183797"/>
                  </a:lnTo>
                  <a:lnTo>
                    <a:pt x="245269" y="176653"/>
                  </a:lnTo>
                  <a:cubicBezTo>
                    <a:pt x="243991" y="170260"/>
                    <a:pt x="241579" y="155642"/>
                    <a:pt x="238125" y="150460"/>
                  </a:cubicBezTo>
                  <a:cubicBezTo>
                    <a:pt x="236538" y="148079"/>
                    <a:pt x="234525" y="145931"/>
                    <a:pt x="233363" y="143316"/>
                  </a:cubicBezTo>
                  <a:cubicBezTo>
                    <a:pt x="222030" y="117815"/>
                    <a:pt x="234614" y="138049"/>
                    <a:pt x="223838" y="121885"/>
                  </a:cubicBezTo>
                  <a:cubicBezTo>
                    <a:pt x="223044" y="118710"/>
                    <a:pt x="222397" y="115495"/>
                    <a:pt x="221457" y="112360"/>
                  </a:cubicBezTo>
                  <a:cubicBezTo>
                    <a:pt x="219293" y="105147"/>
                    <a:pt x="216694" y="98072"/>
                    <a:pt x="214313" y="90928"/>
                  </a:cubicBezTo>
                  <a:lnTo>
                    <a:pt x="211932" y="83785"/>
                  </a:lnTo>
                  <a:cubicBezTo>
                    <a:pt x="211138" y="81404"/>
                    <a:pt x="210159" y="79076"/>
                    <a:pt x="209550" y="76641"/>
                  </a:cubicBezTo>
                  <a:cubicBezTo>
                    <a:pt x="208756" y="73466"/>
                    <a:pt x="208109" y="70251"/>
                    <a:pt x="207169" y="67116"/>
                  </a:cubicBezTo>
                  <a:cubicBezTo>
                    <a:pt x="205727" y="62307"/>
                    <a:pt x="202407" y="52828"/>
                    <a:pt x="202407" y="52828"/>
                  </a:cubicBezTo>
                  <a:cubicBezTo>
                    <a:pt x="201613" y="42509"/>
                    <a:pt x="201234" y="32150"/>
                    <a:pt x="200025" y="21872"/>
                  </a:cubicBezTo>
                  <a:cubicBezTo>
                    <a:pt x="197452" y="0"/>
                    <a:pt x="197644" y="18427"/>
                    <a:pt x="197644" y="9966"/>
                  </a:cubicBezTo>
                  <a:cubicBezTo>
                    <a:pt x="165894" y="24253"/>
                    <a:pt x="133382" y="36956"/>
                    <a:pt x="102394" y="52828"/>
                  </a:cubicBezTo>
                  <a:cubicBezTo>
                    <a:pt x="100160" y="53972"/>
                    <a:pt x="100013" y="59972"/>
                    <a:pt x="100013" y="59972"/>
                  </a:cubicBezTo>
                  <a:cubicBezTo>
                    <a:pt x="95066" y="64704"/>
                    <a:pt x="48103" y="93300"/>
                    <a:pt x="42863" y="119503"/>
                  </a:cubicBezTo>
                  <a:cubicBezTo>
                    <a:pt x="42552" y="121060"/>
                    <a:pt x="42863" y="122678"/>
                    <a:pt x="42863" y="124266"/>
                  </a:cubicBezTo>
                  <a:cubicBezTo>
                    <a:pt x="5161" y="189616"/>
                    <a:pt x="7144" y="162352"/>
                    <a:pt x="7144" y="198085"/>
                  </a:cubicBezTo>
                  <a:lnTo>
                    <a:pt x="0" y="259997"/>
                  </a:lnTo>
                  <a:cubicBezTo>
                    <a:pt x="21874" y="345060"/>
                    <a:pt x="8604" y="317684"/>
                    <a:pt x="23813" y="348103"/>
                  </a:cubicBezTo>
                  <a:cubicBezTo>
                    <a:pt x="74380" y="398671"/>
                    <a:pt x="50246" y="398110"/>
                    <a:pt x="76200" y="398110"/>
                  </a:cubicBezTo>
                  <a:lnTo>
                    <a:pt x="211932" y="469547"/>
                  </a:lnTo>
                  <a:cubicBezTo>
                    <a:pt x="214162" y="470699"/>
                    <a:pt x="216745" y="470996"/>
                    <a:pt x="219075" y="471928"/>
                  </a:cubicBezTo>
                  <a:cubicBezTo>
                    <a:pt x="220723" y="472587"/>
                    <a:pt x="222250" y="473516"/>
                    <a:pt x="223838" y="474310"/>
                  </a:cubicBezTo>
                  <a:cubicBezTo>
                    <a:pt x="342843" y="501025"/>
                    <a:pt x="300657" y="500503"/>
                    <a:pt x="347663" y="500503"/>
                  </a:cubicBezTo>
                  <a:cubicBezTo>
                    <a:pt x="471454" y="515358"/>
                    <a:pt x="426753" y="514791"/>
                    <a:pt x="481013" y="514791"/>
                  </a:cubicBezTo>
                  <a:cubicBezTo>
                    <a:pt x="534194" y="511616"/>
                    <a:pt x="587545" y="510567"/>
                    <a:pt x="640557" y="505266"/>
                  </a:cubicBezTo>
                  <a:cubicBezTo>
                    <a:pt x="643908" y="504931"/>
                    <a:pt x="644898" y="499990"/>
                    <a:pt x="647700" y="498122"/>
                  </a:cubicBezTo>
                  <a:cubicBezTo>
                    <a:pt x="649789" y="496730"/>
                    <a:pt x="654844" y="495741"/>
                    <a:pt x="654844" y="495741"/>
                  </a:cubicBezTo>
                  <a:cubicBezTo>
                    <a:pt x="731838" y="476691"/>
                    <a:pt x="809359" y="459658"/>
                    <a:pt x="885825" y="438591"/>
                  </a:cubicBezTo>
                  <a:cubicBezTo>
                    <a:pt x="888245" y="437924"/>
                    <a:pt x="888207" y="431447"/>
                    <a:pt x="888207" y="431447"/>
                  </a:cubicBezTo>
                  <a:cubicBezTo>
                    <a:pt x="1050276" y="308080"/>
                    <a:pt x="980915" y="310003"/>
                    <a:pt x="1057275" y="310003"/>
                  </a:cubicBezTo>
                  <a:lnTo>
                    <a:pt x="1171575" y="193322"/>
                  </a:lnTo>
                  <a:lnTo>
                    <a:pt x="954882" y="226660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6200000"/>
            </a:gra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9" name="任意多边形 52">
              <a:extLst>
                <a:ext uri="{FF2B5EF4-FFF2-40B4-BE49-F238E27FC236}">
                  <a16:creationId xmlns:a16="http://schemas.microsoft.com/office/drawing/2014/main" id="{65BCC230-2973-45FB-8F55-D419B9151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0966" y="3302794"/>
              <a:ext cx="914400" cy="250030"/>
            </a:xfrm>
            <a:custGeom>
              <a:avLst/>
              <a:gdLst>
                <a:gd name="T0" fmla="*/ 853444 w 907749"/>
                <a:gd name="T1" fmla="*/ 45769 h 312369"/>
                <a:gd name="T2" fmla="*/ 831697 w 907749"/>
                <a:gd name="T3" fmla="*/ 54923 h 312369"/>
                <a:gd name="T4" fmla="*/ 809950 w 907749"/>
                <a:gd name="T5" fmla="*/ 68654 h 312369"/>
                <a:gd name="T6" fmla="*/ 776123 w 907749"/>
                <a:gd name="T7" fmla="*/ 79333 h 312369"/>
                <a:gd name="T8" fmla="*/ 747128 w 907749"/>
                <a:gd name="T9" fmla="*/ 91539 h 312369"/>
                <a:gd name="T10" fmla="*/ 725382 w 907749"/>
                <a:gd name="T11" fmla="*/ 100692 h 312369"/>
                <a:gd name="T12" fmla="*/ 708468 w 907749"/>
                <a:gd name="T13" fmla="*/ 111372 h 312369"/>
                <a:gd name="T14" fmla="*/ 693970 w 907749"/>
                <a:gd name="T15" fmla="*/ 117475 h 312369"/>
                <a:gd name="T16" fmla="*/ 643229 w 907749"/>
                <a:gd name="T17" fmla="*/ 128154 h 312369"/>
                <a:gd name="T18" fmla="*/ 626314 w 907749"/>
                <a:gd name="T19" fmla="*/ 131205 h 312369"/>
                <a:gd name="T20" fmla="*/ 597319 w 907749"/>
                <a:gd name="T21" fmla="*/ 137308 h 312369"/>
                <a:gd name="T22" fmla="*/ 573157 w 907749"/>
                <a:gd name="T23" fmla="*/ 141884 h 312369"/>
                <a:gd name="T24" fmla="*/ 546578 w 907749"/>
                <a:gd name="T25" fmla="*/ 144937 h 312369"/>
                <a:gd name="T26" fmla="*/ 474089 w 907749"/>
                <a:gd name="T27" fmla="*/ 157142 h 312369"/>
                <a:gd name="T28" fmla="*/ 447510 w 907749"/>
                <a:gd name="T29" fmla="*/ 161718 h 312369"/>
                <a:gd name="T30" fmla="*/ 396769 w 907749"/>
                <a:gd name="T31" fmla="*/ 164770 h 312369"/>
                <a:gd name="T32" fmla="*/ 157558 w 907749"/>
                <a:gd name="T33" fmla="*/ 166295 h 312369"/>
                <a:gd name="T34" fmla="*/ 75403 w 907749"/>
                <a:gd name="T35" fmla="*/ 160193 h 312369"/>
                <a:gd name="T36" fmla="*/ 51242 w 907749"/>
                <a:gd name="T37" fmla="*/ 157142 h 312369"/>
                <a:gd name="T38" fmla="*/ 31911 w 907749"/>
                <a:gd name="T39" fmla="*/ 154090 h 312369"/>
                <a:gd name="T40" fmla="*/ 14997 w 907749"/>
                <a:gd name="T41" fmla="*/ 149513 h 312369"/>
                <a:gd name="T42" fmla="*/ 22247 w 907749"/>
                <a:gd name="T43" fmla="*/ 147987 h 312369"/>
                <a:gd name="T44" fmla="*/ 43993 w 907749"/>
                <a:gd name="T45" fmla="*/ 160193 h 312369"/>
                <a:gd name="T46" fmla="*/ 82653 w 907749"/>
                <a:gd name="T47" fmla="*/ 166295 h 312369"/>
                <a:gd name="T48" fmla="*/ 116481 w 907749"/>
                <a:gd name="T49" fmla="*/ 172398 h 312369"/>
                <a:gd name="T50" fmla="*/ 147893 w 907749"/>
                <a:gd name="T51" fmla="*/ 178500 h 312369"/>
                <a:gd name="T52" fmla="*/ 172054 w 907749"/>
                <a:gd name="T53" fmla="*/ 184603 h 312369"/>
                <a:gd name="T54" fmla="*/ 222798 w 907749"/>
                <a:gd name="T55" fmla="*/ 190705 h 312369"/>
                <a:gd name="T56" fmla="*/ 336362 w 907749"/>
                <a:gd name="T57" fmla="*/ 196808 h 312369"/>
                <a:gd name="T58" fmla="*/ 406434 w 907749"/>
                <a:gd name="T59" fmla="*/ 195283 h 312369"/>
                <a:gd name="T60" fmla="*/ 568324 w 907749"/>
                <a:gd name="T61" fmla="*/ 190705 h 312369"/>
                <a:gd name="T62" fmla="*/ 597319 w 907749"/>
                <a:gd name="T63" fmla="*/ 183077 h 312369"/>
                <a:gd name="T64" fmla="*/ 619066 w 907749"/>
                <a:gd name="T65" fmla="*/ 175449 h 312369"/>
                <a:gd name="T66" fmla="*/ 648061 w 907749"/>
                <a:gd name="T67" fmla="*/ 170872 h 312369"/>
                <a:gd name="T68" fmla="*/ 664975 w 907749"/>
                <a:gd name="T69" fmla="*/ 166295 h 312369"/>
                <a:gd name="T70" fmla="*/ 686722 w 907749"/>
                <a:gd name="T71" fmla="*/ 161718 h 312369"/>
                <a:gd name="T72" fmla="*/ 701218 w 907749"/>
                <a:gd name="T73" fmla="*/ 158667 h 312369"/>
                <a:gd name="T74" fmla="*/ 722965 w 907749"/>
                <a:gd name="T75" fmla="*/ 152565 h 312369"/>
                <a:gd name="T76" fmla="*/ 747128 w 907749"/>
                <a:gd name="T77" fmla="*/ 146462 h 312369"/>
                <a:gd name="T78" fmla="*/ 771290 w 907749"/>
                <a:gd name="T79" fmla="*/ 137308 h 312369"/>
                <a:gd name="T80" fmla="*/ 797869 w 907749"/>
                <a:gd name="T81" fmla="*/ 123577 h 312369"/>
                <a:gd name="T82" fmla="*/ 812368 w 907749"/>
                <a:gd name="T83" fmla="*/ 106795 h 312369"/>
                <a:gd name="T84" fmla="*/ 826865 w 907749"/>
                <a:gd name="T85" fmla="*/ 93064 h 312369"/>
                <a:gd name="T86" fmla="*/ 843779 w 907749"/>
                <a:gd name="T87" fmla="*/ 79333 h 312369"/>
                <a:gd name="T88" fmla="*/ 867941 w 907749"/>
                <a:gd name="T89" fmla="*/ 56449 h 312369"/>
                <a:gd name="T90" fmla="*/ 877606 w 907749"/>
                <a:gd name="T91" fmla="*/ 45769 h 312369"/>
                <a:gd name="T92" fmla="*/ 889688 w 907749"/>
                <a:gd name="T93" fmla="*/ 36616 h 312369"/>
                <a:gd name="T94" fmla="*/ 901769 w 907749"/>
                <a:gd name="T95" fmla="*/ 22885 h 312369"/>
                <a:gd name="T96" fmla="*/ 921100 w 907749"/>
                <a:gd name="T97" fmla="*/ 0 h 312369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w 907749"/>
                <a:gd name="T148" fmla="*/ 0 h 312369"/>
                <a:gd name="T149" fmla="*/ 907749 w 907749"/>
                <a:gd name="T150" fmla="*/ 312369 h 312369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T147" t="T148" r="T149" b="T150"/>
              <a:pathLst>
                <a:path w="907749" h="312369">
                  <a:moveTo>
                    <a:pt x="852980" y="59531"/>
                  </a:moveTo>
                  <a:cubicBezTo>
                    <a:pt x="824394" y="78590"/>
                    <a:pt x="866481" y="49207"/>
                    <a:pt x="841074" y="71437"/>
                  </a:cubicBezTo>
                  <a:cubicBezTo>
                    <a:pt x="836766" y="75206"/>
                    <a:pt x="831549" y="77787"/>
                    <a:pt x="826786" y="80962"/>
                  </a:cubicBezTo>
                  <a:cubicBezTo>
                    <a:pt x="824405" y="82549"/>
                    <a:pt x="821667" y="83701"/>
                    <a:pt x="819643" y="85725"/>
                  </a:cubicBezTo>
                  <a:lnTo>
                    <a:pt x="805355" y="100012"/>
                  </a:lnTo>
                  <a:cubicBezTo>
                    <a:pt x="802974" y="102393"/>
                    <a:pt x="801013" y="105288"/>
                    <a:pt x="798211" y="107156"/>
                  </a:cubicBezTo>
                  <a:cubicBezTo>
                    <a:pt x="791035" y="111941"/>
                    <a:pt x="790005" y="113055"/>
                    <a:pt x="781543" y="116681"/>
                  </a:cubicBezTo>
                  <a:cubicBezTo>
                    <a:pt x="770045" y="121608"/>
                    <a:pt x="778039" y="115926"/>
                    <a:pt x="764874" y="123825"/>
                  </a:cubicBezTo>
                  <a:lnTo>
                    <a:pt x="743443" y="138112"/>
                  </a:lnTo>
                  <a:cubicBezTo>
                    <a:pt x="741062" y="139700"/>
                    <a:pt x="738323" y="140851"/>
                    <a:pt x="736299" y="142875"/>
                  </a:cubicBezTo>
                  <a:cubicBezTo>
                    <a:pt x="727380" y="151794"/>
                    <a:pt x="732350" y="148954"/>
                    <a:pt x="722011" y="152400"/>
                  </a:cubicBezTo>
                  <a:cubicBezTo>
                    <a:pt x="719630" y="153987"/>
                    <a:pt x="716656" y="154927"/>
                    <a:pt x="714868" y="157162"/>
                  </a:cubicBezTo>
                  <a:cubicBezTo>
                    <a:pt x="713300" y="159122"/>
                    <a:pt x="714261" y="162531"/>
                    <a:pt x="712486" y="164306"/>
                  </a:cubicBezTo>
                  <a:cubicBezTo>
                    <a:pt x="708439" y="168353"/>
                    <a:pt x="702961" y="170656"/>
                    <a:pt x="698199" y="173831"/>
                  </a:cubicBezTo>
                  <a:lnTo>
                    <a:pt x="691055" y="178594"/>
                  </a:lnTo>
                  <a:cubicBezTo>
                    <a:pt x="688674" y="180181"/>
                    <a:pt x="686626" y="182451"/>
                    <a:pt x="683911" y="183356"/>
                  </a:cubicBezTo>
                  <a:lnTo>
                    <a:pt x="648193" y="195262"/>
                  </a:lnTo>
                  <a:lnTo>
                    <a:pt x="633905" y="200025"/>
                  </a:lnTo>
                  <a:cubicBezTo>
                    <a:pt x="631524" y="200819"/>
                    <a:pt x="629196" y="201797"/>
                    <a:pt x="626761" y="202406"/>
                  </a:cubicBezTo>
                  <a:cubicBezTo>
                    <a:pt x="623586" y="203200"/>
                    <a:pt x="620445" y="204145"/>
                    <a:pt x="617236" y="204787"/>
                  </a:cubicBezTo>
                  <a:cubicBezTo>
                    <a:pt x="612502" y="205734"/>
                    <a:pt x="607662" y="206122"/>
                    <a:pt x="602949" y="207169"/>
                  </a:cubicBezTo>
                  <a:cubicBezTo>
                    <a:pt x="592176" y="209563"/>
                    <a:pt x="598936" y="209174"/>
                    <a:pt x="588661" y="214312"/>
                  </a:cubicBezTo>
                  <a:cubicBezTo>
                    <a:pt x="584848" y="216219"/>
                    <a:pt x="575562" y="218055"/>
                    <a:pt x="571993" y="219075"/>
                  </a:cubicBezTo>
                  <a:cubicBezTo>
                    <a:pt x="569579" y="219765"/>
                    <a:pt x="567310" y="220964"/>
                    <a:pt x="564849" y="221456"/>
                  </a:cubicBezTo>
                  <a:cubicBezTo>
                    <a:pt x="559345" y="222557"/>
                    <a:pt x="553702" y="222833"/>
                    <a:pt x="548180" y="223837"/>
                  </a:cubicBezTo>
                  <a:cubicBezTo>
                    <a:pt x="544960" y="224423"/>
                    <a:pt x="541883" y="225681"/>
                    <a:pt x="538655" y="226219"/>
                  </a:cubicBezTo>
                  <a:cubicBezTo>
                    <a:pt x="528549" y="227904"/>
                    <a:pt x="504958" y="230065"/>
                    <a:pt x="495793" y="230981"/>
                  </a:cubicBezTo>
                  <a:cubicBezTo>
                    <a:pt x="476073" y="237555"/>
                    <a:pt x="485684" y="232958"/>
                    <a:pt x="467218" y="245269"/>
                  </a:cubicBezTo>
                  <a:cubicBezTo>
                    <a:pt x="464837" y="246856"/>
                    <a:pt x="462914" y="249676"/>
                    <a:pt x="460074" y="250031"/>
                  </a:cubicBezTo>
                  <a:lnTo>
                    <a:pt x="441024" y="252412"/>
                  </a:lnTo>
                  <a:cubicBezTo>
                    <a:pt x="435460" y="253154"/>
                    <a:pt x="429942" y="254262"/>
                    <a:pt x="424355" y="254794"/>
                  </a:cubicBezTo>
                  <a:cubicBezTo>
                    <a:pt x="413265" y="255850"/>
                    <a:pt x="402123" y="256287"/>
                    <a:pt x="391018" y="257175"/>
                  </a:cubicBezTo>
                  <a:cubicBezTo>
                    <a:pt x="382279" y="257874"/>
                    <a:pt x="373555" y="258762"/>
                    <a:pt x="364824" y="259556"/>
                  </a:cubicBezTo>
                  <a:cubicBezTo>
                    <a:pt x="293807" y="283225"/>
                    <a:pt x="356449" y="263213"/>
                    <a:pt x="155274" y="259556"/>
                  </a:cubicBezTo>
                  <a:cubicBezTo>
                    <a:pt x="135418" y="259195"/>
                    <a:pt x="115587" y="257969"/>
                    <a:pt x="95743" y="257175"/>
                  </a:cubicBezTo>
                  <a:lnTo>
                    <a:pt x="74311" y="250031"/>
                  </a:lnTo>
                  <a:cubicBezTo>
                    <a:pt x="71930" y="249237"/>
                    <a:pt x="69653" y="248005"/>
                    <a:pt x="67168" y="247650"/>
                  </a:cubicBezTo>
                  <a:lnTo>
                    <a:pt x="50499" y="245269"/>
                  </a:lnTo>
                  <a:cubicBezTo>
                    <a:pt x="48118" y="244475"/>
                    <a:pt x="45790" y="243496"/>
                    <a:pt x="43355" y="242887"/>
                  </a:cubicBezTo>
                  <a:cubicBezTo>
                    <a:pt x="39429" y="241905"/>
                    <a:pt x="35400" y="241384"/>
                    <a:pt x="31449" y="240506"/>
                  </a:cubicBezTo>
                  <a:cubicBezTo>
                    <a:pt x="28254" y="239796"/>
                    <a:pt x="25099" y="238919"/>
                    <a:pt x="21924" y="238125"/>
                  </a:cubicBezTo>
                  <a:cubicBezTo>
                    <a:pt x="19543" y="236537"/>
                    <a:pt x="17411" y="234489"/>
                    <a:pt x="14780" y="233362"/>
                  </a:cubicBezTo>
                  <a:cubicBezTo>
                    <a:pt x="5624" y="229438"/>
                    <a:pt x="0" y="232733"/>
                    <a:pt x="12399" y="228600"/>
                  </a:cubicBezTo>
                  <a:cubicBezTo>
                    <a:pt x="15574" y="229394"/>
                    <a:pt x="18789" y="230041"/>
                    <a:pt x="21924" y="230981"/>
                  </a:cubicBezTo>
                  <a:cubicBezTo>
                    <a:pt x="26732" y="232424"/>
                    <a:pt x="36211" y="235744"/>
                    <a:pt x="36211" y="235744"/>
                  </a:cubicBezTo>
                  <a:cubicBezTo>
                    <a:pt x="37836" y="240618"/>
                    <a:pt x="39096" y="246481"/>
                    <a:pt x="43355" y="250031"/>
                  </a:cubicBezTo>
                  <a:cubicBezTo>
                    <a:pt x="51084" y="256472"/>
                    <a:pt x="60143" y="255608"/>
                    <a:pt x="69549" y="257175"/>
                  </a:cubicBezTo>
                  <a:cubicBezTo>
                    <a:pt x="73541" y="257840"/>
                    <a:pt x="77486" y="258762"/>
                    <a:pt x="81455" y="259556"/>
                  </a:cubicBezTo>
                  <a:cubicBezTo>
                    <a:pt x="86621" y="262139"/>
                    <a:pt x="92282" y="265532"/>
                    <a:pt x="98124" y="266700"/>
                  </a:cubicBezTo>
                  <a:cubicBezTo>
                    <a:pt x="103628" y="267801"/>
                    <a:pt x="109237" y="268287"/>
                    <a:pt x="114793" y="269081"/>
                  </a:cubicBezTo>
                  <a:cubicBezTo>
                    <a:pt x="119555" y="270669"/>
                    <a:pt x="124210" y="272627"/>
                    <a:pt x="129080" y="273844"/>
                  </a:cubicBezTo>
                  <a:cubicBezTo>
                    <a:pt x="133911" y="275052"/>
                    <a:pt x="140968" y="276557"/>
                    <a:pt x="145749" y="278606"/>
                  </a:cubicBezTo>
                  <a:cubicBezTo>
                    <a:pt x="149012" y="280004"/>
                    <a:pt x="151978" y="282051"/>
                    <a:pt x="155274" y="283369"/>
                  </a:cubicBezTo>
                  <a:cubicBezTo>
                    <a:pt x="159935" y="285233"/>
                    <a:pt x="169561" y="288131"/>
                    <a:pt x="169561" y="288131"/>
                  </a:cubicBezTo>
                  <a:cubicBezTo>
                    <a:pt x="171942" y="289719"/>
                    <a:pt x="174074" y="291767"/>
                    <a:pt x="176705" y="292894"/>
                  </a:cubicBezTo>
                  <a:cubicBezTo>
                    <a:pt x="186870" y="297251"/>
                    <a:pt x="217580" y="297514"/>
                    <a:pt x="219568" y="297656"/>
                  </a:cubicBezTo>
                  <a:cubicBezTo>
                    <a:pt x="240782" y="304728"/>
                    <a:pt x="232928" y="303361"/>
                    <a:pt x="262430" y="304800"/>
                  </a:cubicBezTo>
                  <a:cubicBezTo>
                    <a:pt x="285435" y="305922"/>
                    <a:pt x="308467" y="306387"/>
                    <a:pt x="331486" y="307181"/>
                  </a:cubicBezTo>
                  <a:cubicBezTo>
                    <a:pt x="357431" y="312369"/>
                    <a:pt x="345429" y="310980"/>
                    <a:pt x="391018" y="307181"/>
                  </a:cubicBezTo>
                  <a:cubicBezTo>
                    <a:pt x="394279" y="306909"/>
                    <a:pt x="397290" y="305161"/>
                    <a:pt x="400543" y="304800"/>
                  </a:cubicBezTo>
                  <a:cubicBezTo>
                    <a:pt x="411616" y="303570"/>
                    <a:pt x="422760" y="303093"/>
                    <a:pt x="433880" y="302419"/>
                  </a:cubicBezTo>
                  <a:cubicBezTo>
                    <a:pt x="487655" y="299160"/>
                    <a:pt x="496977" y="299512"/>
                    <a:pt x="560086" y="297656"/>
                  </a:cubicBezTo>
                  <a:cubicBezTo>
                    <a:pt x="564849" y="296069"/>
                    <a:pt x="570197" y="295679"/>
                    <a:pt x="574374" y="292894"/>
                  </a:cubicBezTo>
                  <a:cubicBezTo>
                    <a:pt x="583606" y="286739"/>
                    <a:pt x="578803" y="289036"/>
                    <a:pt x="588661" y="285750"/>
                  </a:cubicBezTo>
                  <a:cubicBezTo>
                    <a:pt x="609126" y="272106"/>
                    <a:pt x="583239" y="288460"/>
                    <a:pt x="602949" y="278606"/>
                  </a:cubicBezTo>
                  <a:cubicBezTo>
                    <a:pt x="605509" y="277326"/>
                    <a:pt x="607378" y="274749"/>
                    <a:pt x="610093" y="273844"/>
                  </a:cubicBezTo>
                  <a:cubicBezTo>
                    <a:pt x="614673" y="272317"/>
                    <a:pt x="619696" y="272633"/>
                    <a:pt x="624380" y="271462"/>
                  </a:cubicBezTo>
                  <a:cubicBezTo>
                    <a:pt x="629250" y="270244"/>
                    <a:pt x="633798" y="267917"/>
                    <a:pt x="638668" y="266700"/>
                  </a:cubicBezTo>
                  <a:lnTo>
                    <a:pt x="648193" y="264319"/>
                  </a:lnTo>
                  <a:cubicBezTo>
                    <a:pt x="650574" y="262731"/>
                    <a:pt x="652721" y="260718"/>
                    <a:pt x="655336" y="259556"/>
                  </a:cubicBezTo>
                  <a:cubicBezTo>
                    <a:pt x="659924" y="257517"/>
                    <a:pt x="664861" y="256382"/>
                    <a:pt x="669624" y="254794"/>
                  </a:cubicBezTo>
                  <a:lnTo>
                    <a:pt x="676768" y="252412"/>
                  </a:lnTo>
                  <a:lnTo>
                    <a:pt x="683911" y="250031"/>
                  </a:lnTo>
                  <a:lnTo>
                    <a:pt x="691055" y="247650"/>
                  </a:lnTo>
                  <a:cubicBezTo>
                    <a:pt x="693436" y="246062"/>
                    <a:pt x="695584" y="244049"/>
                    <a:pt x="698199" y="242887"/>
                  </a:cubicBezTo>
                  <a:cubicBezTo>
                    <a:pt x="702786" y="240848"/>
                    <a:pt x="707724" y="239712"/>
                    <a:pt x="712486" y="238125"/>
                  </a:cubicBezTo>
                  <a:cubicBezTo>
                    <a:pt x="714867" y="237331"/>
                    <a:pt x="717385" y="236867"/>
                    <a:pt x="719630" y="235744"/>
                  </a:cubicBezTo>
                  <a:cubicBezTo>
                    <a:pt x="731400" y="229858"/>
                    <a:pt x="725787" y="232103"/>
                    <a:pt x="736299" y="228600"/>
                  </a:cubicBezTo>
                  <a:cubicBezTo>
                    <a:pt x="753711" y="216991"/>
                    <a:pt x="731811" y="231165"/>
                    <a:pt x="752968" y="219075"/>
                  </a:cubicBezTo>
                  <a:cubicBezTo>
                    <a:pt x="755453" y="217655"/>
                    <a:pt x="757551" y="215592"/>
                    <a:pt x="760111" y="214312"/>
                  </a:cubicBezTo>
                  <a:cubicBezTo>
                    <a:pt x="770852" y="208941"/>
                    <a:pt x="764161" y="215701"/>
                    <a:pt x="774399" y="207169"/>
                  </a:cubicBezTo>
                  <a:cubicBezTo>
                    <a:pt x="782249" y="200628"/>
                    <a:pt x="780795" y="200595"/>
                    <a:pt x="786305" y="192881"/>
                  </a:cubicBezTo>
                  <a:cubicBezTo>
                    <a:pt x="788612" y="189651"/>
                    <a:pt x="791068" y="186531"/>
                    <a:pt x="793449" y="183356"/>
                  </a:cubicBezTo>
                  <a:cubicBezTo>
                    <a:pt x="795913" y="175964"/>
                    <a:pt x="796178" y="174045"/>
                    <a:pt x="800593" y="166687"/>
                  </a:cubicBezTo>
                  <a:cubicBezTo>
                    <a:pt x="803538" y="161779"/>
                    <a:pt x="806943" y="157162"/>
                    <a:pt x="810118" y="152400"/>
                  </a:cubicBezTo>
                  <a:cubicBezTo>
                    <a:pt x="811705" y="150019"/>
                    <a:pt x="812856" y="147280"/>
                    <a:pt x="814880" y="145256"/>
                  </a:cubicBezTo>
                  <a:lnTo>
                    <a:pt x="822024" y="138112"/>
                  </a:lnTo>
                  <a:cubicBezTo>
                    <a:pt x="826578" y="124450"/>
                    <a:pt x="821144" y="137204"/>
                    <a:pt x="831549" y="123825"/>
                  </a:cubicBezTo>
                  <a:cubicBezTo>
                    <a:pt x="835063" y="119307"/>
                    <a:pt x="837899" y="114300"/>
                    <a:pt x="841074" y="109537"/>
                  </a:cubicBezTo>
                  <a:lnTo>
                    <a:pt x="855361" y="88106"/>
                  </a:lnTo>
                  <a:cubicBezTo>
                    <a:pt x="856949" y="85725"/>
                    <a:pt x="858844" y="83522"/>
                    <a:pt x="860124" y="80962"/>
                  </a:cubicBezTo>
                  <a:cubicBezTo>
                    <a:pt x="861711" y="77787"/>
                    <a:pt x="862823" y="74325"/>
                    <a:pt x="864886" y="71437"/>
                  </a:cubicBezTo>
                  <a:cubicBezTo>
                    <a:pt x="866843" y="68697"/>
                    <a:pt x="869874" y="66881"/>
                    <a:pt x="872030" y="64294"/>
                  </a:cubicBezTo>
                  <a:cubicBezTo>
                    <a:pt x="873862" y="62095"/>
                    <a:pt x="875205" y="59531"/>
                    <a:pt x="876793" y="57150"/>
                  </a:cubicBezTo>
                  <a:cubicBezTo>
                    <a:pt x="877587" y="54769"/>
                    <a:pt x="877955" y="52200"/>
                    <a:pt x="879174" y="50006"/>
                  </a:cubicBezTo>
                  <a:cubicBezTo>
                    <a:pt x="881954" y="45003"/>
                    <a:pt x="888699" y="35719"/>
                    <a:pt x="888699" y="35719"/>
                  </a:cubicBezTo>
                  <a:cubicBezTo>
                    <a:pt x="895271" y="16001"/>
                    <a:pt x="890676" y="25608"/>
                    <a:pt x="902986" y="7144"/>
                  </a:cubicBezTo>
                  <a:lnTo>
                    <a:pt x="907749" y="0"/>
                  </a:lnTo>
                  <a:lnTo>
                    <a:pt x="852980" y="59531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5400000" scaled="1"/>
            </a:gra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" name="组合 56">
            <a:extLst>
              <a:ext uri="{FF2B5EF4-FFF2-40B4-BE49-F238E27FC236}">
                <a16:creationId xmlns:a16="http://schemas.microsoft.com/office/drawing/2014/main" id="{3548D85F-7475-4BB2-978A-52F1899BAA08}"/>
              </a:ext>
            </a:extLst>
          </p:cNvPr>
          <p:cNvGrpSpPr>
            <a:grpSpLocks/>
          </p:cNvGrpSpPr>
          <p:nvPr/>
        </p:nvGrpSpPr>
        <p:grpSpPr bwMode="auto">
          <a:xfrm rot="-188163">
            <a:off x="5444530" y="3088740"/>
            <a:ext cx="1828800" cy="1101725"/>
            <a:chOff x="3747896" y="3024188"/>
            <a:chExt cx="1781368" cy="1101909"/>
          </a:xfrm>
        </p:grpSpPr>
        <p:sp>
          <p:nvSpPr>
            <p:cNvPr id="41" name="任意多边形 39">
              <a:extLst>
                <a:ext uri="{FF2B5EF4-FFF2-40B4-BE49-F238E27FC236}">
                  <a16:creationId xmlns:a16="http://schemas.microsoft.com/office/drawing/2014/main" id="{4CCAF96E-8AF0-4F07-84EA-BC0DEB7E91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08894" y="3881799"/>
              <a:ext cx="1316297" cy="244298"/>
            </a:xfrm>
            <a:custGeom>
              <a:avLst/>
              <a:gdLst>
                <a:gd name="T0" fmla="*/ 0 w 1119768"/>
                <a:gd name="T1" fmla="*/ 36968 h 261556"/>
                <a:gd name="T2" fmla="*/ 149655 w 1119768"/>
                <a:gd name="T3" fmla="*/ 72514 h 261556"/>
                <a:gd name="T4" fmla="*/ 310000 w 1119768"/>
                <a:gd name="T5" fmla="*/ 96213 h 261556"/>
                <a:gd name="T6" fmla="*/ 448966 w 1119768"/>
                <a:gd name="T7" fmla="*/ 108062 h 261556"/>
                <a:gd name="T8" fmla="*/ 641382 w 1119768"/>
                <a:gd name="T9" fmla="*/ 123297 h 261556"/>
                <a:gd name="T10" fmla="*/ 828448 w 1119768"/>
                <a:gd name="T11" fmla="*/ 130068 h 261556"/>
                <a:gd name="T12" fmla="*/ 1085002 w 1119768"/>
                <a:gd name="T13" fmla="*/ 140222 h 261556"/>
                <a:gd name="T14" fmla="*/ 1282760 w 1119768"/>
                <a:gd name="T15" fmla="*/ 138530 h 261556"/>
                <a:gd name="T16" fmla="*/ 1469830 w 1119768"/>
                <a:gd name="T17" fmla="*/ 136837 h 261556"/>
                <a:gd name="T18" fmla="*/ 1592761 w 1119768"/>
                <a:gd name="T19" fmla="*/ 131760 h 261556"/>
                <a:gd name="T20" fmla="*/ 1811899 w 1119768"/>
                <a:gd name="T21" fmla="*/ 118219 h 261556"/>
                <a:gd name="T22" fmla="*/ 2020348 w 1119768"/>
                <a:gd name="T23" fmla="*/ 97906 h 261556"/>
                <a:gd name="T24" fmla="*/ 2266209 w 1119768"/>
                <a:gd name="T25" fmla="*/ 64052 h 261556"/>
                <a:gd name="T26" fmla="*/ 2431899 w 1119768"/>
                <a:gd name="T27" fmla="*/ 35276 h 261556"/>
                <a:gd name="T28" fmla="*/ 2512073 w 1119768"/>
                <a:gd name="T29" fmla="*/ 13270 h 261556"/>
                <a:gd name="T30" fmla="*/ 2405177 w 1119768"/>
                <a:gd name="T31" fmla="*/ 57281 h 261556"/>
                <a:gd name="T32" fmla="*/ 2234141 w 1119768"/>
                <a:gd name="T33" fmla="*/ 87748 h 261556"/>
                <a:gd name="T34" fmla="*/ 2084486 w 1119768"/>
                <a:gd name="T35" fmla="*/ 116526 h 261556"/>
                <a:gd name="T36" fmla="*/ 1945517 w 1119768"/>
                <a:gd name="T37" fmla="*/ 135145 h 261556"/>
                <a:gd name="T38" fmla="*/ 1790520 w 1119768"/>
                <a:gd name="T39" fmla="*/ 150380 h 261556"/>
                <a:gd name="T40" fmla="*/ 1619485 w 1119768"/>
                <a:gd name="T41" fmla="*/ 167306 h 261556"/>
                <a:gd name="T42" fmla="*/ 1443106 w 1119768"/>
                <a:gd name="T43" fmla="*/ 182541 h 261556"/>
                <a:gd name="T44" fmla="*/ 1288105 w 1119768"/>
                <a:gd name="T45" fmla="*/ 185927 h 261556"/>
                <a:gd name="T46" fmla="*/ 1036897 w 1119768"/>
                <a:gd name="T47" fmla="*/ 184233 h 261556"/>
                <a:gd name="T48" fmla="*/ 807069 w 1119768"/>
                <a:gd name="T49" fmla="*/ 175770 h 261556"/>
                <a:gd name="T50" fmla="*/ 652071 w 1119768"/>
                <a:gd name="T51" fmla="*/ 172385 h 261556"/>
                <a:gd name="T52" fmla="*/ 636036 w 1119768"/>
                <a:gd name="T53" fmla="*/ 168998 h 261556"/>
                <a:gd name="T54" fmla="*/ 620002 w 1119768"/>
                <a:gd name="T55" fmla="*/ 167306 h 261556"/>
                <a:gd name="T56" fmla="*/ 448966 w 1119768"/>
                <a:gd name="T57" fmla="*/ 157150 h 261556"/>
                <a:gd name="T58" fmla="*/ 315347 w 1119768"/>
                <a:gd name="T59" fmla="*/ 123297 h 261556"/>
                <a:gd name="T60" fmla="*/ 181725 w 1119768"/>
                <a:gd name="T61" fmla="*/ 99598 h 261556"/>
                <a:gd name="T62" fmla="*/ 0 w 1119768"/>
                <a:gd name="T63" fmla="*/ 36968 h 26155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w 1119768"/>
                <a:gd name="T97" fmla="*/ 0 h 261556"/>
                <a:gd name="T98" fmla="*/ 1119768 w 1119768"/>
                <a:gd name="T99" fmla="*/ 261556 h 26155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T96" t="T97" r="T98" b="T99"/>
              <a:pathLst>
                <a:path w="1119768" h="261556">
                  <a:moveTo>
                    <a:pt x="0" y="52006"/>
                  </a:moveTo>
                  <a:lnTo>
                    <a:pt x="66675" y="102012"/>
                  </a:lnTo>
                  <a:lnTo>
                    <a:pt x="138113" y="135350"/>
                  </a:lnTo>
                  <a:lnTo>
                    <a:pt x="200025" y="152018"/>
                  </a:lnTo>
                  <a:lnTo>
                    <a:pt x="285750" y="173450"/>
                  </a:lnTo>
                  <a:lnTo>
                    <a:pt x="369094" y="182975"/>
                  </a:lnTo>
                  <a:lnTo>
                    <a:pt x="483394" y="197262"/>
                  </a:lnTo>
                  <a:lnTo>
                    <a:pt x="571500" y="194881"/>
                  </a:lnTo>
                  <a:lnTo>
                    <a:pt x="654844" y="192500"/>
                  </a:lnTo>
                  <a:cubicBezTo>
                    <a:pt x="708349" y="187635"/>
                    <a:pt x="694830" y="200133"/>
                    <a:pt x="709613" y="185356"/>
                  </a:cubicBezTo>
                  <a:lnTo>
                    <a:pt x="807244" y="166306"/>
                  </a:lnTo>
                  <a:lnTo>
                    <a:pt x="900113" y="137731"/>
                  </a:lnTo>
                  <a:lnTo>
                    <a:pt x="1009650" y="90106"/>
                  </a:lnTo>
                  <a:lnTo>
                    <a:pt x="1083469" y="49625"/>
                  </a:lnTo>
                  <a:cubicBezTo>
                    <a:pt x="1119768" y="15745"/>
                    <a:pt x="1119188" y="0"/>
                    <a:pt x="1119188" y="18668"/>
                  </a:cubicBezTo>
                  <a:cubicBezTo>
                    <a:pt x="1075288" y="79640"/>
                    <a:pt x="1098196" y="67265"/>
                    <a:pt x="1071563" y="80581"/>
                  </a:cubicBezTo>
                  <a:cubicBezTo>
                    <a:pt x="994662" y="121434"/>
                    <a:pt x="995363" y="92300"/>
                    <a:pt x="995363" y="123443"/>
                  </a:cubicBezTo>
                  <a:cubicBezTo>
                    <a:pt x="931505" y="160284"/>
                    <a:pt x="950296" y="142313"/>
                    <a:pt x="928688" y="163925"/>
                  </a:cubicBezTo>
                  <a:lnTo>
                    <a:pt x="866775" y="190118"/>
                  </a:lnTo>
                  <a:lnTo>
                    <a:pt x="797719" y="211550"/>
                  </a:lnTo>
                  <a:lnTo>
                    <a:pt x="721519" y="235362"/>
                  </a:lnTo>
                  <a:lnTo>
                    <a:pt x="642938" y="256793"/>
                  </a:lnTo>
                  <a:lnTo>
                    <a:pt x="573881" y="261556"/>
                  </a:lnTo>
                  <a:lnTo>
                    <a:pt x="461963" y="259175"/>
                  </a:lnTo>
                  <a:lnTo>
                    <a:pt x="359569" y="247268"/>
                  </a:lnTo>
                  <a:cubicBezTo>
                    <a:pt x="336550" y="245681"/>
                    <a:pt x="313408" y="245368"/>
                    <a:pt x="290513" y="242506"/>
                  </a:cubicBezTo>
                  <a:cubicBezTo>
                    <a:pt x="287673" y="242151"/>
                    <a:pt x="285929" y="239023"/>
                    <a:pt x="283369" y="237743"/>
                  </a:cubicBezTo>
                  <a:cubicBezTo>
                    <a:pt x="281124" y="236620"/>
                    <a:pt x="276225" y="235362"/>
                    <a:pt x="276225" y="235362"/>
                  </a:cubicBezTo>
                  <a:cubicBezTo>
                    <a:pt x="201627" y="220924"/>
                    <a:pt x="227469" y="221075"/>
                    <a:pt x="200025" y="221075"/>
                  </a:cubicBezTo>
                  <a:lnTo>
                    <a:pt x="140494" y="173450"/>
                  </a:lnTo>
                  <a:lnTo>
                    <a:pt x="80963" y="140112"/>
                  </a:lnTo>
                  <a:lnTo>
                    <a:pt x="0" y="52006"/>
                  </a:lnTo>
                  <a:close/>
                </a:path>
              </a:pathLst>
            </a:custGeom>
            <a:solidFill>
              <a:srgbClr val="680000"/>
            </a:soli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任意多边形 55">
              <a:extLst>
                <a:ext uri="{FF2B5EF4-FFF2-40B4-BE49-F238E27FC236}">
                  <a16:creationId xmlns:a16="http://schemas.microsoft.com/office/drawing/2014/main" id="{C28659CD-7A60-4A12-B7FF-2D6CEE824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7896" y="3024188"/>
              <a:ext cx="1781368" cy="1054425"/>
            </a:xfrm>
            <a:custGeom>
              <a:avLst/>
              <a:gdLst>
                <a:gd name="T0" fmla="*/ 1442425 w 1830209"/>
                <a:gd name="T1" fmla="*/ 9525 h 1054425"/>
                <a:gd name="T2" fmla="*/ 1451449 w 1830209"/>
                <a:gd name="T3" fmla="*/ 123825 h 1054425"/>
                <a:gd name="T4" fmla="*/ 1448440 w 1830209"/>
                <a:gd name="T5" fmla="*/ 250825 h 1054425"/>
                <a:gd name="T6" fmla="*/ 1436409 w 1830209"/>
                <a:gd name="T7" fmla="*/ 317500 h 1054425"/>
                <a:gd name="T8" fmla="*/ 1421370 w 1830209"/>
                <a:gd name="T9" fmla="*/ 377825 h 1054425"/>
                <a:gd name="T10" fmla="*/ 1412347 w 1830209"/>
                <a:gd name="T11" fmla="*/ 396875 h 1054425"/>
                <a:gd name="T12" fmla="*/ 1400316 w 1830209"/>
                <a:gd name="T13" fmla="*/ 425450 h 1054425"/>
                <a:gd name="T14" fmla="*/ 1367230 w 1830209"/>
                <a:gd name="T15" fmla="*/ 473075 h 1054425"/>
                <a:gd name="T16" fmla="*/ 1352191 w 1830209"/>
                <a:gd name="T17" fmla="*/ 492125 h 1054425"/>
                <a:gd name="T18" fmla="*/ 1328128 w 1830209"/>
                <a:gd name="T19" fmla="*/ 517525 h 1054425"/>
                <a:gd name="T20" fmla="*/ 1301058 w 1830209"/>
                <a:gd name="T21" fmla="*/ 539750 h 1054425"/>
                <a:gd name="T22" fmla="*/ 1273988 w 1830209"/>
                <a:gd name="T23" fmla="*/ 549275 h 1054425"/>
                <a:gd name="T24" fmla="*/ 1246917 w 1830209"/>
                <a:gd name="T25" fmla="*/ 568325 h 1054425"/>
                <a:gd name="T26" fmla="*/ 1225863 w 1830209"/>
                <a:gd name="T27" fmla="*/ 593725 h 1054425"/>
                <a:gd name="T28" fmla="*/ 1213832 w 1830209"/>
                <a:gd name="T29" fmla="*/ 609600 h 1054425"/>
                <a:gd name="T30" fmla="*/ 1189769 w 1830209"/>
                <a:gd name="T31" fmla="*/ 635000 h 1054425"/>
                <a:gd name="T32" fmla="*/ 1171722 w 1830209"/>
                <a:gd name="T33" fmla="*/ 644525 h 1054425"/>
                <a:gd name="T34" fmla="*/ 1144652 w 1830209"/>
                <a:gd name="T35" fmla="*/ 654050 h 1054425"/>
                <a:gd name="T36" fmla="*/ 1105550 w 1830209"/>
                <a:gd name="T37" fmla="*/ 666750 h 1054425"/>
                <a:gd name="T38" fmla="*/ 1078481 w 1830209"/>
                <a:gd name="T39" fmla="*/ 685800 h 1054425"/>
                <a:gd name="T40" fmla="*/ 1051410 w 1830209"/>
                <a:gd name="T41" fmla="*/ 695325 h 1054425"/>
                <a:gd name="T42" fmla="*/ 1015316 w 1830209"/>
                <a:gd name="T43" fmla="*/ 720725 h 1054425"/>
                <a:gd name="T44" fmla="*/ 961176 w 1830209"/>
                <a:gd name="T45" fmla="*/ 736600 h 1054425"/>
                <a:gd name="T46" fmla="*/ 943130 w 1830209"/>
                <a:gd name="T47" fmla="*/ 742950 h 1054425"/>
                <a:gd name="T48" fmla="*/ 888989 w 1830209"/>
                <a:gd name="T49" fmla="*/ 752475 h 1054425"/>
                <a:gd name="T50" fmla="*/ 858911 w 1830209"/>
                <a:gd name="T51" fmla="*/ 768350 h 1054425"/>
                <a:gd name="T52" fmla="*/ 789731 w 1830209"/>
                <a:gd name="T53" fmla="*/ 781050 h 1054425"/>
                <a:gd name="T54" fmla="*/ 729575 w 1830209"/>
                <a:gd name="T55" fmla="*/ 796925 h 1054425"/>
                <a:gd name="T56" fmla="*/ 693481 w 1830209"/>
                <a:gd name="T57" fmla="*/ 806450 h 1054425"/>
                <a:gd name="T58" fmla="*/ 618286 w 1830209"/>
                <a:gd name="T59" fmla="*/ 812800 h 1054425"/>
                <a:gd name="T60" fmla="*/ 365630 w 1830209"/>
                <a:gd name="T61" fmla="*/ 800100 h 1054425"/>
                <a:gd name="T62" fmla="*/ 308482 w 1830209"/>
                <a:gd name="T63" fmla="*/ 784225 h 1054425"/>
                <a:gd name="T64" fmla="*/ 290436 w 1830209"/>
                <a:gd name="T65" fmla="*/ 768350 h 1054425"/>
                <a:gd name="T66" fmla="*/ 278405 w 1830209"/>
                <a:gd name="T67" fmla="*/ 752475 h 1054425"/>
                <a:gd name="T68" fmla="*/ 269381 w 1830209"/>
                <a:gd name="T69" fmla="*/ 733425 h 1054425"/>
                <a:gd name="T70" fmla="*/ 254342 w 1830209"/>
                <a:gd name="T71" fmla="*/ 717550 h 1054425"/>
                <a:gd name="T72" fmla="*/ 230279 w 1830209"/>
                <a:gd name="T73" fmla="*/ 676275 h 1054425"/>
                <a:gd name="T74" fmla="*/ 209225 w 1830209"/>
                <a:gd name="T75" fmla="*/ 628650 h 1054425"/>
                <a:gd name="T76" fmla="*/ 200201 w 1830209"/>
                <a:gd name="T77" fmla="*/ 609600 h 1054425"/>
                <a:gd name="T78" fmla="*/ 185162 w 1830209"/>
                <a:gd name="T79" fmla="*/ 565150 h 1054425"/>
                <a:gd name="T80" fmla="*/ 185162 w 1830209"/>
                <a:gd name="T81" fmla="*/ 533400 h 1054425"/>
                <a:gd name="T82" fmla="*/ 79890 w 1830209"/>
                <a:gd name="T83" fmla="*/ 546100 h 1054425"/>
                <a:gd name="T84" fmla="*/ 49811 w 1830209"/>
                <a:gd name="T85" fmla="*/ 596900 h 1054425"/>
                <a:gd name="T86" fmla="*/ 16725 w 1830209"/>
                <a:gd name="T87" fmla="*/ 679450 h 1054425"/>
                <a:gd name="T88" fmla="*/ 13718 w 1830209"/>
                <a:gd name="T89" fmla="*/ 844550 h 1054425"/>
                <a:gd name="T90" fmla="*/ 128014 w 1830209"/>
                <a:gd name="T91" fmla="*/ 955675 h 1054425"/>
                <a:gd name="T92" fmla="*/ 308482 w 1830209"/>
                <a:gd name="T93" fmla="*/ 1016000 h 1054425"/>
                <a:gd name="T94" fmla="*/ 440826 w 1830209"/>
                <a:gd name="T95" fmla="*/ 1038225 h 1054425"/>
                <a:gd name="T96" fmla="*/ 849887 w 1830209"/>
                <a:gd name="T97" fmla="*/ 1041400 h 1054425"/>
                <a:gd name="T98" fmla="*/ 1153676 w 1830209"/>
                <a:gd name="T99" fmla="*/ 971550 h 1054425"/>
                <a:gd name="T100" fmla="*/ 1361214 w 1830209"/>
                <a:gd name="T101" fmla="*/ 873125 h 1054425"/>
                <a:gd name="T102" fmla="*/ 1601838 w 1830209"/>
                <a:gd name="T103" fmla="*/ 635000 h 1054425"/>
                <a:gd name="T104" fmla="*/ 1698088 w 1830209"/>
                <a:gd name="T105" fmla="*/ 390525 h 1054425"/>
                <a:gd name="T106" fmla="*/ 1577776 w 1830209"/>
                <a:gd name="T107" fmla="*/ 95250 h 1054425"/>
                <a:gd name="T108" fmla="*/ 1433401 w 1830209"/>
                <a:gd name="T109" fmla="*/ 0 h 1054425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w 1830209"/>
                <a:gd name="T166" fmla="*/ 0 h 1054425"/>
                <a:gd name="T167" fmla="*/ 1830209 w 1830209"/>
                <a:gd name="T168" fmla="*/ 1054425 h 1054425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T165" t="T166" r="T167" b="T168"/>
              <a:pathLst>
                <a:path w="1830209" h="1054425">
                  <a:moveTo>
                    <a:pt x="1513080" y="0"/>
                  </a:moveTo>
                  <a:cubicBezTo>
                    <a:pt x="1516255" y="3175"/>
                    <a:pt x="1520424" y="5600"/>
                    <a:pt x="1522605" y="9525"/>
                  </a:cubicBezTo>
                  <a:cubicBezTo>
                    <a:pt x="1525856" y="15376"/>
                    <a:pt x="1528955" y="28575"/>
                    <a:pt x="1528955" y="28575"/>
                  </a:cubicBezTo>
                  <a:cubicBezTo>
                    <a:pt x="1530013" y="60325"/>
                    <a:pt x="1530208" y="92116"/>
                    <a:pt x="1532130" y="123825"/>
                  </a:cubicBezTo>
                  <a:cubicBezTo>
                    <a:pt x="1534488" y="162733"/>
                    <a:pt x="1542897" y="80209"/>
                    <a:pt x="1532130" y="155575"/>
                  </a:cubicBezTo>
                  <a:cubicBezTo>
                    <a:pt x="1531072" y="187325"/>
                    <a:pt x="1530717" y="219106"/>
                    <a:pt x="1528955" y="250825"/>
                  </a:cubicBezTo>
                  <a:cubicBezTo>
                    <a:pt x="1527782" y="271930"/>
                    <a:pt x="1522682" y="272514"/>
                    <a:pt x="1519430" y="295275"/>
                  </a:cubicBezTo>
                  <a:cubicBezTo>
                    <a:pt x="1518372" y="302683"/>
                    <a:pt x="1517594" y="310137"/>
                    <a:pt x="1516255" y="317500"/>
                  </a:cubicBezTo>
                  <a:cubicBezTo>
                    <a:pt x="1509340" y="355532"/>
                    <a:pt x="1516706" y="309122"/>
                    <a:pt x="1509905" y="339725"/>
                  </a:cubicBezTo>
                  <a:cubicBezTo>
                    <a:pt x="1501354" y="378204"/>
                    <a:pt x="1513211" y="339332"/>
                    <a:pt x="1500380" y="377825"/>
                  </a:cubicBezTo>
                  <a:cubicBezTo>
                    <a:pt x="1499322" y="381000"/>
                    <a:pt x="1499061" y="384565"/>
                    <a:pt x="1497205" y="387350"/>
                  </a:cubicBezTo>
                  <a:cubicBezTo>
                    <a:pt x="1495088" y="390525"/>
                    <a:pt x="1492405" y="393388"/>
                    <a:pt x="1490855" y="396875"/>
                  </a:cubicBezTo>
                  <a:cubicBezTo>
                    <a:pt x="1488137" y="402992"/>
                    <a:pt x="1488218" y="410356"/>
                    <a:pt x="1484505" y="415925"/>
                  </a:cubicBezTo>
                  <a:cubicBezTo>
                    <a:pt x="1482388" y="419100"/>
                    <a:pt x="1479862" y="422037"/>
                    <a:pt x="1478155" y="425450"/>
                  </a:cubicBezTo>
                  <a:cubicBezTo>
                    <a:pt x="1476658" y="428443"/>
                    <a:pt x="1476605" y="432049"/>
                    <a:pt x="1474980" y="434975"/>
                  </a:cubicBezTo>
                  <a:cubicBezTo>
                    <a:pt x="1463929" y="454867"/>
                    <a:pt x="1459874" y="456431"/>
                    <a:pt x="1443230" y="473075"/>
                  </a:cubicBezTo>
                  <a:cubicBezTo>
                    <a:pt x="1440055" y="476250"/>
                    <a:pt x="1436196" y="478864"/>
                    <a:pt x="1433705" y="482600"/>
                  </a:cubicBezTo>
                  <a:cubicBezTo>
                    <a:pt x="1431588" y="485775"/>
                    <a:pt x="1430053" y="489427"/>
                    <a:pt x="1427355" y="492125"/>
                  </a:cubicBezTo>
                  <a:cubicBezTo>
                    <a:pt x="1424657" y="494823"/>
                    <a:pt x="1421005" y="496358"/>
                    <a:pt x="1417830" y="498475"/>
                  </a:cubicBezTo>
                  <a:cubicBezTo>
                    <a:pt x="1412186" y="506942"/>
                    <a:pt x="1410417" y="510943"/>
                    <a:pt x="1401955" y="517525"/>
                  </a:cubicBezTo>
                  <a:cubicBezTo>
                    <a:pt x="1395931" y="522210"/>
                    <a:pt x="1388301" y="524829"/>
                    <a:pt x="1382905" y="530225"/>
                  </a:cubicBezTo>
                  <a:cubicBezTo>
                    <a:pt x="1379730" y="533400"/>
                    <a:pt x="1377305" y="537569"/>
                    <a:pt x="1373380" y="539750"/>
                  </a:cubicBezTo>
                  <a:cubicBezTo>
                    <a:pt x="1367529" y="543001"/>
                    <a:pt x="1360680" y="543983"/>
                    <a:pt x="1354330" y="546100"/>
                  </a:cubicBezTo>
                  <a:cubicBezTo>
                    <a:pt x="1351155" y="547158"/>
                    <a:pt x="1347590" y="547419"/>
                    <a:pt x="1344805" y="549275"/>
                  </a:cubicBezTo>
                  <a:cubicBezTo>
                    <a:pt x="1332495" y="557481"/>
                    <a:pt x="1338900" y="554418"/>
                    <a:pt x="1325755" y="558800"/>
                  </a:cubicBezTo>
                  <a:cubicBezTo>
                    <a:pt x="1322580" y="561975"/>
                    <a:pt x="1319679" y="565450"/>
                    <a:pt x="1316230" y="568325"/>
                  </a:cubicBezTo>
                  <a:cubicBezTo>
                    <a:pt x="1313299" y="570768"/>
                    <a:pt x="1309218" y="571803"/>
                    <a:pt x="1306705" y="574675"/>
                  </a:cubicBezTo>
                  <a:cubicBezTo>
                    <a:pt x="1301679" y="580418"/>
                    <a:pt x="1296418" y="586485"/>
                    <a:pt x="1294005" y="593725"/>
                  </a:cubicBezTo>
                  <a:cubicBezTo>
                    <a:pt x="1292947" y="596900"/>
                    <a:pt x="1292921" y="600637"/>
                    <a:pt x="1290830" y="603250"/>
                  </a:cubicBezTo>
                  <a:cubicBezTo>
                    <a:pt x="1288446" y="606230"/>
                    <a:pt x="1284480" y="607483"/>
                    <a:pt x="1281305" y="609600"/>
                  </a:cubicBezTo>
                  <a:cubicBezTo>
                    <a:pt x="1269663" y="627062"/>
                    <a:pt x="1281305" y="612246"/>
                    <a:pt x="1265430" y="625475"/>
                  </a:cubicBezTo>
                  <a:cubicBezTo>
                    <a:pt x="1261981" y="628350"/>
                    <a:pt x="1259641" y="632509"/>
                    <a:pt x="1255905" y="635000"/>
                  </a:cubicBezTo>
                  <a:cubicBezTo>
                    <a:pt x="1253120" y="636856"/>
                    <a:pt x="1249373" y="636678"/>
                    <a:pt x="1246380" y="638175"/>
                  </a:cubicBezTo>
                  <a:cubicBezTo>
                    <a:pt x="1242967" y="639882"/>
                    <a:pt x="1240342" y="642975"/>
                    <a:pt x="1236855" y="644525"/>
                  </a:cubicBezTo>
                  <a:cubicBezTo>
                    <a:pt x="1230738" y="647243"/>
                    <a:pt x="1224155" y="648758"/>
                    <a:pt x="1217805" y="650875"/>
                  </a:cubicBezTo>
                  <a:cubicBezTo>
                    <a:pt x="1214630" y="651933"/>
                    <a:pt x="1211527" y="653238"/>
                    <a:pt x="1208280" y="654050"/>
                  </a:cubicBezTo>
                  <a:cubicBezTo>
                    <a:pt x="1189086" y="658848"/>
                    <a:pt x="1199720" y="655845"/>
                    <a:pt x="1176530" y="663575"/>
                  </a:cubicBezTo>
                  <a:cubicBezTo>
                    <a:pt x="1173355" y="664633"/>
                    <a:pt x="1169790" y="664894"/>
                    <a:pt x="1167005" y="666750"/>
                  </a:cubicBezTo>
                  <a:lnTo>
                    <a:pt x="1147955" y="679450"/>
                  </a:lnTo>
                  <a:cubicBezTo>
                    <a:pt x="1144780" y="681567"/>
                    <a:pt x="1142050" y="684593"/>
                    <a:pt x="1138430" y="685800"/>
                  </a:cubicBezTo>
                  <a:lnTo>
                    <a:pt x="1119380" y="692150"/>
                  </a:lnTo>
                  <a:cubicBezTo>
                    <a:pt x="1116205" y="693208"/>
                    <a:pt x="1112640" y="693469"/>
                    <a:pt x="1109855" y="695325"/>
                  </a:cubicBezTo>
                  <a:lnTo>
                    <a:pt x="1081280" y="714375"/>
                  </a:lnTo>
                  <a:cubicBezTo>
                    <a:pt x="1078105" y="716492"/>
                    <a:pt x="1075375" y="719518"/>
                    <a:pt x="1071755" y="720725"/>
                  </a:cubicBezTo>
                  <a:cubicBezTo>
                    <a:pt x="1019926" y="738001"/>
                    <a:pt x="1084960" y="717424"/>
                    <a:pt x="1033655" y="730250"/>
                  </a:cubicBezTo>
                  <a:cubicBezTo>
                    <a:pt x="1027161" y="731873"/>
                    <a:pt x="1020955" y="734483"/>
                    <a:pt x="1014605" y="736600"/>
                  </a:cubicBezTo>
                  <a:lnTo>
                    <a:pt x="1005080" y="739775"/>
                  </a:lnTo>
                  <a:cubicBezTo>
                    <a:pt x="1001905" y="740833"/>
                    <a:pt x="998340" y="741094"/>
                    <a:pt x="995555" y="742950"/>
                  </a:cubicBezTo>
                  <a:cubicBezTo>
                    <a:pt x="992380" y="745067"/>
                    <a:pt x="989794" y="748673"/>
                    <a:pt x="986030" y="749300"/>
                  </a:cubicBezTo>
                  <a:cubicBezTo>
                    <a:pt x="970336" y="751916"/>
                    <a:pt x="954280" y="751417"/>
                    <a:pt x="938405" y="752475"/>
                  </a:cubicBezTo>
                  <a:cubicBezTo>
                    <a:pt x="932055" y="754592"/>
                    <a:pt x="924710" y="754809"/>
                    <a:pt x="919355" y="758825"/>
                  </a:cubicBezTo>
                  <a:cubicBezTo>
                    <a:pt x="915122" y="762000"/>
                    <a:pt x="911768" y="766987"/>
                    <a:pt x="906655" y="768350"/>
                  </a:cubicBezTo>
                  <a:cubicBezTo>
                    <a:pt x="895360" y="771362"/>
                    <a:pt x="883372" y="770467"/>
                    <a:pt x="871730" y="771525"/>
                  </a:cubicBezTo>
                  <a:cubicBezTo>
                    <a:pt x="846573" y="779911"/>
                    <a:pt x="859282" y="776775"/>
                    <a:pt x="833630" y="781050"/>
                  </a:cubicBezTo>
                  <a:cubicBezTo>
                    <a:pt x="817783" y="791615"/>
                    <a:pt x="829499" y="785686"/>
                    <a:pt x="805055" y="790575"/>
                  </a:cubicBezTo>
                  <a:cubicBezTo>
                    <a:pt x="759786" y="799629"/>
                    <a:pt x="840079" y="786164"/>
                    <a:pt x="770130" y="796925"/>
                  </a:cubicBezTo>
                  <a:cubicBezTo>
                    <a:pt x="763767" y="797904"/>
                    <a:pt x="757325" y="798539"/>
                    <a:pt x="751080" y="800100"/>
                  </a:cubicBezTo>
                  <a:cubicBezTo>
                    <a:pt x="744586" y="801723"/>
                    <a:pt x="738717" y="806146"/>
                    <a:pt x="732030" y="806450"/>
                  </a:cubicBezTo>
                  <a:lnTo>
                    <a:pt x="662180" y="809625"/>
                  </a:lnTo>
                  <a:cubicBezTo>
                    <a:pt x="659005" y="810683"/>
                    <a:pt x="656002" y="812800"/>
                    <a:pt x="652655" y="812800"/>
                  </a:cubicBezTo>
                  <a:cubicBezTo>
                    <a:pt x="573273" y="812800"/>
                    <a:pt x="493858" y="812563"/>
                    <a:pt x="414530" y="809625"/>
                  </a:cubicBezTo>
                  <a:cubicBezTo>
                    <a:pt x="402284" y="809171"/>
                    <a:pt x="396841" y="801914"/>
                    <a:pt x="385955" y="800100"/>
                  </a:cubicBezTo>
                  <a:cubicBezTo>
                    <a:pt x="336107" y="791792"/>
                    <a:pt x="398169" y="803154"/>
                    <a:pt x="347855" y="790575"/>
                  </a:cubicBezTo>
                  <a:cubicBezTo>
                    <a:pt x="341410" y="788964"/>
                    <a:pt x="332007" y="786958"/>
                    <a:pt x="325630" y="784225"/>
                  </a:cubicBezTo>
                  <a:cubicBezTo>
                    <a:pt x="321280" y="782361"/>
                    <a:pt x="317163" y="779992"/>
                    <a:pt x="312930" y="777875"/>
                  </a:cubicBezTo>
                  <a:cubicBezTo>
                    <a:pt x="310813" y="774700"/>
                    <a:pt x="309278" y="771048"/>
                    <a:pt x="306580" y="768350"/>
                  </a:cubicBezTo>
                  <a:cubicBezTo>
                    <a:pt x="303882" y="765652"/>
                    <a:pt x="299439" y="764980"/>
                    <a:pt x="297055" y="762000"/>
                  </a:cubicBezTo>
                  <a:cubicBezTo>
                    <a:pt x="294964" y="759387"/>
                    <a:pt x="295377" y="755468"/>
                    <a:pt x="293880" y="752475"/>
                  </a:cubicBezTo>
                  <a:cubicBezTo>
                    <a:pt x="292173" y="749062"/>
                    <a:pt x="289237" y="746363"/>
                    <a:pt x="287530" y="742950"/>
                  </a:cubicBezTo>
                  <a:cubicBezTo>
                    <a:pt x="286033" y="739957"/>
                    <a:pt x="286446" y="736038"/>
                    <a:pt x="284355" y="733425"/>
                  </a:cubicBezTo>
                  <a:cubicBezTo>
                    <a:pt x="281971" y="730445"/>
                    <a:pt x="278005" y="729192"/>
                    <a:pt x="274830" y="727075"/>
                  </a:cubicBezTo>
                  <a:cubicBezTo>
                    <a:pt x="272713" y="723900"/>
                    <a:pt x="270187" y="720963"/>
                    <a:pt x="268480" y="717550"/>
                  </a:cubicBezTo>
                  <a:cubicBezTo>
                    <a:pt x="261320" y="703231"/>
                    <a:pt x="270329" y="712149"/>
                    <a:pt x="258955" y="698500"/>
                  </a:cubicBezTo>
                  <a:cubicBezTo>
                    <a:pt x="234903" y="669638"/>
                    <a:pt x="263223" y="709847"/>
                    <a:pt x="243080" y="676275"/>
                  </a:cubicBezTo>
                  <a:cubicBezTo>
                    <a:pt x="239153" y="669731"/>
                    <a:pt x="232793" y="664465"/>
                    <a:pt x="230380" y="657225"/>
                  </a:cubicBezTo>
                  <a:lnTo>
                    <a:pt x="220855" y="628650"/>
                  </a:lnTo>
                  <a:cubicBezTo>
                    <a:pt x="219797" y="625475"/>
                    <a:pt x="219536" y="621910"/>
                    <a:pt x="217680" y="619125"/>
                  </a:cubicBezTo>
                  <a:cubicBezTo>
                    <a:pt x="215563" y="615950"/>
                    <a:pt x="212880" y="613087"/>
                    <a:pt x="211330" y="609600"/>
                  </a:cubicBezTo>
                  <a:cubicBezTo>
                    <a:pt x="196217" y="575595"/>
                    <a:pt x="213001" y="602581"/>
                    <a:pt x="198630" y="581025"/>
                  </a:cubicBezTo>
                  <a:cubicBezTo>
                    <a:pt x="197572" y="575733"/>
                    <a:pt x="196764" y="570385"/>
                    <a:pt x="195455" y="565150"/>
                  </a:cubicBezTo>
                  <a:cubicBezTo>
                    <a:pt x="194643" y="561903"/>
                    <a:pt x="192280" y="558972"/>
                    <a:pt x="192280" y="555625"/>
                  </a:cubicBezTo>
                  <a:cubicBezTo>
                    <a:pt x="192280" y="548141"/>
                    <a:pt x="194397" y="540808"/>
                    <a:pt x="195455" y="533400"/>
                  </a:cubicBezTo>
                  <a:cubicBezTo>
                    <a:pt x="192129" y="486839"/>
                    <a:pt x="192280" y="503804"/>
                    <a:pt x="192280" y="482600"/>
                  </a:cubicBezTo>
                  <a:cubicBezTo>
                    <a:pt x="86208" y="543672"/>
                    <a:pt x="116001" y="514429"/>
                    <a:pt x="84330" y="546100"/>
                  </a:cubicBezTo>
                  <a:cubicBezTo>
                    <a:pt x="74805" y="559858"/>
                    <a:pt x="64624" y="573185"/>
                    <a:pt x="55755" y="587375"/>
                  </a:cubicBezTo>
                  <a:cubicBezTo>
                    <a:pt x="53981" y="590213"/>
                    <a:pt x="54240" y="593994"/>
                    <a:pt x="52580" y="596900"/>
                  </a:cubicBezTo>
                  <a:cubicBezTo>
                    <a:pt x="47948" y="605007"/>
                    <a:pt x="45159" y="607496"/>
                    <a:pt x="39880" y="612775"/>
                  </a:cubicBezTo>
                  <a:cubicBezTo>
                    <a:pt x="14342" y="663851"/>
                    <a:pt x="17655" y="640659"/>
                    <a:pt x="17655" y="679450"/>
                  </a:cubicBezTo>
                  <a:cubicBezTo>
                    <a:pt x="0" y="728883"/>
                    <a:pt x="1780" y="708167"/>
                    <a:pt x="1780" y="739775"/>
                  </a:cubicBezTo>
                  <a:cubicBezTo>
                    <a:pt x="6144" y="774684"/>
                    <a:pt x="14480" y="809369"/>
                    <a:pt x="14480" y="844550"/>
                  </a:cubicBezTo>
                  <a:cubicBezTo>
                    <a:pt x="73088" y="919439"/>
                    <a:pt x="43983" y="903752"/>
                    <a:pt x="77980" y="920750"/>
                  </a:cubicBezTo>
                  <a:lnTo>
                    <a:pt x="135130" y="955675"/>
                  </a:lnTo>
                  <a:lnTo>
                    <a:pt x="224030" y="981075"/>
                  </a:lnTo>
                  <a:cubicBezTo>
                    <a:pt x="323851" y="1019715"/>
                    <a:pt x="297579" y="1044051"/>
                    <a:pt x="325630" y="1016000"/>
                  </a:cubicBezTo>
                  <a:cubicBezTo>
                    <a:pt x="369022" y="1025525"/>
                    <a:pt x="411932" y="1037595"/>
                    <a:pt x="455805" y="1044575"/>
                  </a:cubicBezTo>
                  <a:cubicBezTo>
                    <a:pt x="459573" y="1045175"/>
                    <a:pt x="465330" y="1038225"/>
                    <a:pt x="465330" y="1038225"/>
                  </a:cubicBezTo>
                  <a:cubicBezTo>
                    <a:pt x="675926" y="1054425"/>
                    <a:pt x="602710" y="1054100"/>
                    <a:pt x="684405" y="1054100"/>
                  </a:cubicBezTo>
                  <a:cubicBezTo>
                    <a:pt x="890774" y="1041202"/>
                    <a:pt x="819740" y="1041400"/>
                    <a:pt x="897130" y="1041400"/>
                  </a:cubicBezTo>
                  <a:lnTo>
                    <a:pt x="1071755" y="1009650"/>
                  </a:lnTo>
                  <a:cubicBezTo>
                    <a:pt x="1216084" y="974370"/>
                    <a:pt x="1179963" y="1009392"/>
                    <a:pt x="1217805" y="971550"/>
                  </a:cubicBezTo>
                  <a:cubicBezTo>
                    <a:pt x="1315226" y="929334"/>
                    <a:pt x="1297580" y="961225"/>
                    <a:pt x="1316230" y="923925"/>
                  </a:cubicBezTo>
                  <a:lnTo>
                    <a:pt x="1436880" y="873125"/>
                  </a:lnTo>
                  <a:lnTo>
                    <a:pt x="1579755" y="758825"/>
                  </a:lnTo>
                  <a:lnTo>
                    <a:pt x="1690880" y="635000"/>
                  </a:lnTo>
                  <a:lnTo>
                    <a:pt x="1751205" y="533400"/>
                  </a:lnTo>
                  <a:cubicBezTo>
                    <a:pt x="1796109" y="392274"/>
                    <a:pt x="1830209" y="428254"/>
                    <a:pt x="1792480" y="390525"/>
                  </a:cubicBezTo>
                  <a:cubicBezTo>
                    <a:pt x="1750757" y="197956"/>
                    <a:pt x="1751205" y="264998"/>
                    <a:pt x="1751205" y="193675"/>
                  </a:cubicBezTo>
                  <a:cubicBezTo>
                    <a:pt x="1722630" y="160867"/>
                    <a:pt x="1694746" y="127443"/>
                    <a:pt x="1665480" y="95250"/>
                  </a:cubicBezTo>
                  <a:cubicBezTo>
                    <a:pt x="1655074" y="83804"/>
                    <a:pt x="1655955" y="93966"/>
                    <a:pt x="1655955" y="85725"/>
                  </a:cubicBezTo>
                  <a:lnTo>
                    <a:pt x="151308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0000"/>
                </a:gs>
                <a:gs pos="45000">
                  <a:srgbClr val="FF7A00"/>
                </a:gs>
                <a:gs pos="70000">
                  <a:srgbClr val="FF0300"/>
                </a:gs>
                <a:gs pos="100000">
                  <a:srgbClr val="4D0808"/>
                </a:gs>
              </a:gsLst>
              <a:lin ang="18900000" scaled="1"/>
            </a:gradFill>
            <a:ln w="381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29097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0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500"/>
                            </p:stCondLst>
                            <p:childTnLst>
                              <p:par>
                                <p:cTn id="8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autoUpdateAnimBg="0"/>
      <p:bldP spid="8" grpId="0" build="p" autoUpdateAnimBg="0"/>
      <p:bldP spid="10" grpId="0" animBg="1"/>
      <p:bldP spid="11" grpId="0" animBg="1"/>
      <p:bldP spid="12" grpId="0" animBg="1"/>
      <p:bldP spid="13" grpId="0" animBg="1"/>
      <p:bldP spid="29" grpId="0" autoUpdateAnimBg="0"/>
      <p:bldP spid="30" grpId="0" autoUpdateAnimBg="0"/>
      <p:bldP spid="31" grpId="0" autoUpdateAnimBg="0"/>
      <p:bldP spid="32" grpId="0" autoUpdateAnimBg="0"/>
      <p:bldP spid="3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C6CD6740-0BCE-476F-8D1A-12B1E03EAD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40" y="857232"/>
            <a:ext cx="379095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一、螺纹的形成及加工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657A5083-F180-4DE6-8F59-1F324A6889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092" y="1428736"/>
            <a:ext cx="20431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 dirty="0">
                <a:latin typeface="宋体" pitchFamily="2" charset="-122"/>
              </a:rPr>
              <a:t>2.</a:t>
            </a:r>
            <a:r>
              <a:rPr lang="zh-CN" altLang="en-US" sz="2400" b="1" dirty="0">
                <a:latin typeface="宋体" pitchFamily="2" charset="-122"/>
              </a:rPr>
              <a:t>螺纹的加工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0D7D12-E61A-4CA0-8350-0A47271F84A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7211"/>
          <a:stretch>
            <a:fillRect/>
          </a:stretch>
        </p:blipFill>
        <p:spPr bwMode="auto">
          <a:xfrm>
            <a:off x="4673019" y="2967270"/>
            <a:ext cx="2443163" cy="1401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D74B5D5-9E17-4F44-B265-CF75C268456D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59290"/>
          <a:stretch>
            <a:fillRect/>
          </a:stretch>
        </p:blipFill>
        <p:spPr bwMode="auto">
          <a:xfrm>
            <a:off x="1847269" y="2816458"/>
            <a:ext cx="2474913" cy="184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56">
            <a:extLst>
              <a:ext uri="{FF2B5EF4-FFF2-40B4-BE49-F238E27FC236}">
                <a16:creationId xmlns:a16="http://schemas.microsoft.com/office/drawing/2014/main" id="{FFBED815-04E1-4FB3-BE87-FE162CB97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5883" y="5191567"/>
            <a:ext cx="1422184" cy="461665"/>
          </a:xfrm>
          <a:prstGeom prst="rect">
            <a:avLst/>
          </a:prstGeom>
          <a:solidFill>
            <a:srgbClr val="FFFF00"/>
          </a:solidFill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车外螺纹</a:t>
            </a:r>
          </a:p>
        </p:txBody>
      </p:sp>
      <p:sp>
        <p:nvSpPr>
          <p:cNvPr id="8" name="Text Box 57">
            <a:extLst>
              <a:ext uri="{FF2B5EF4-FFF2-40B4-BE49-F238E27FC236}">
                <a16:creationId xmlns:a16="http://schemas.microsoft.com/office/drawing/2014/main" id="{0996D4F8-E8EF-4918-BFBB-2657AE3399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787" y="5191567"/>
            <a:ext cx="1422184" cy="461665"/>
          </a:xfrm>
          <a:prstGeom prst="rect">
            <a:avLst/>
          </a:prstGeom>
          <a:solidFill>
            <a:srgbClr val="FFFF00"/>
          </a:solidFill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车内螺纹</a:t>
            </a:r>
          </a:p>
        </p:txBody>
      </p:sp>
      <p:grpSp>
        <p:nvGrpSpPr>
          <p:cNvPr id="9" name="Group 58">
            <a:extLst>
              <a:ext uri="{FF2B5EF4-FFF2-40B4-BE49-F238E27FC236}">
                <a16:creationId xmlns:a16="http://schemas.microsoft.com/office/drawing/2014/main" id="{EE91EF4B-9842-43AE-93F6-DF551D078348}"/>
              </a:ext>
            </a:extLst>
          </p:cNvPr>
          <p:cNvGrpSpPr>
            <a:grpSpLocks/>
          </p:cNvGrpSpPr>
          <p:nvPr/>
        </p:nvGrpSpPr>
        <p:grpSpPr bwMode="auto">
          <a:xfrm>
            <a:off x="3507794" y="2586270"/>
            <a:ext cx="1550988" cy="847725"/>
            <a:chOff x="1980" y="1414"/>
            <a:chExt cx="977" cy="534"/>
          </a:xfrm>
        </p:grpSpPr>
        <p:sp>
          <p:nvSpPr>
            <p:cNvPr id="10" name="Line 59">
              <a:extLst>
                <a:ext uri="{FF2B5EF4-FFF2-40B4-BE49-F238E27FC236}">
                  <a16:creationId xmlns:a16="http://schemas.microsoft.com/office/drawing/2014/main" id="{764CE79F-C06E-4FCA-B4B6-62E50C690C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214" y="1696"/>
              <a:ext cx="252" cy="25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Text Box 60" descr="编织物">
              <a:extLst>
                <a:ext uri="{FF2B5EF4-FFF2-40B4-BE49-F238E27FC236}">
                  <a16:creationId xmlns:a16="http://schemas.microsoft.com/office/drawing/2014/main" id="{1E365329-AFCB-4225-8742-8AC6305343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80" y="1414"/>
              <a:ext cx="977" cy="29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/>
                <a:t>工件</a:t>
              </a:r>
            </a:p>
          </p:txBody>
        </p:sp>
      </p:grpSp>
      <p:grpSp>
        <p:nvGrpSpPr>
          <p:cNvPr id="12" name="Group 61">
            <a:extLst>
              <a:ext uri="{FF2B5EF4-FFF2-40B4-BE49-F238E27FC236}">
                <a16:creationId xmlns:a16="http://schemas.microsoft.com/office/drawing/2014/main" id="{E5C5995F-F63D-446A-A853-6E5B79C4566E}"/>
              </a:ext>
            </a:extLst>
          </p:cNvPr>
          <p:cNvGrpSpPr>
            <a:grpSpLocks/>
          </p:cNvGrpSpPr>
          <p:nvPr/>
        </p:nvGrpSpPr>
        <p:grpSpPr bwMode="auto">
          <a:xfrm>
            <a:off x="1426582" y="4000733"/>
            <a:ext cx="885825" cy="841375"/>
            <a:chOff x="561" y="2426"/>
            <a:chExt cx="1037" cy="721"/>
          </a:xfrm>
        </p:grpSpPr>
        <p:sp>
          <p:nvSpPr>
            <p:cNvPr id="13" name="Line 62">
              <a:extLst>
                <a:ext uri="{FF2B5EF4-FFF2-40B4-BE49-F238E27FC236}">
                  <a16:creationId xmlns:a16="http://schemas.microsoft.com/office/drawing/2014/main" id="{43BE25BD-CB7B-43EA-868B-69CFCD3BE65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54" y="2426"/>
              <a:ext cx="180" cy="31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" name="Text Box 63" descr="编织物">
              <a:extLst>
                <a:ext uri="{FF2B5EF4-FFF2-40B4-BE49-F238E27FC236}">
                  <a16:creationId xmlns:a16="http://schemas.microsoft.com/office/drawing/2014/main" id="{CED354B0-94AB-402F-A3AC-7CD44669B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61" y="2752"/>
              <a:ext cx="1037" cy="39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/>
                <a:t>卡盘</a:t>
              </a:r>
            </a:p>
          </p:txBody>
        </p:sp>
      </p:grpSp>
      <p:sp>
        <p:nvSpPr>
          <p:cNvPr id="15" name="Freeform 66">
            <a:extLst>
              <a:ext uri="{FF2B5EF4-FFF2-40B4-BE49-F238E27FC236}">
                <a16:creationId xmlns:a16="http://schemas.microsoft.com/office/drawing/2014/main" id="{E548C17B-A3BA-4258-95DC-21746775EF8C}"/>
              </a:ext>
            </a:extLst>
          </p:cNvPr>
          <p:cNvSpPr>
            <a:spLocks/>
          </p:cNvSpPr>
          <p:nvPr/>
        </p:nvSpPr>
        <p:spPr bwMode="auto">
          <a:xfrm>
            <a:off x="3466519" y="4261083"/>
            <a:ext cx="488950" cy="368300"/>
          </a:xfrm>
          <a:custGeom>
            <a:avLst/>
            <a:gdLst>
              <a:gd name="T0" fmla="*/ 0 w 408"/>
              <a:gd name="T1" fmla="*/ 2147483646 h 129"/>
              <a:gd name="T2" fmla="*/ 2147483646 w 408"/>
              <a:gd name="T3" fmla="*/ 2147483646 h 129"/>
              <a:gd name="T4" fmla="*/ 2147483646 w 408"/>
              <a:gd name="T5" fmla="*/ 2147483646 h 129"/>
              <a:gd name="T6" fmla="*/ 2147483646 w 408"/>
              <a:gd name="T7" fmla="*/ 2147483646 h 129"/>
              <a:gd name="T8" fmla="*/ 2147483646 w 408"/>
              <a:gd name="T9" fmla="*/ 2147483646 h 129"/>
              <a:gd name="T10" fmla="*/ 2147483646 w 408"/>
              <a:gd name="T11" fmla="*/ 2147483646 h 129"/>
              <a:gd name="T12" fmla="*/ 2147483646 w 408"/>
              <a:gd name="T13" fmla="*/ 2147483646 h 129"/>
              <a:gd name="T14" fmla="*/ 2147483646 w 408"/>
              <a:gd name="T15" fmla="*/ 0 h 129"/>
              <a:gd name="T16" fmla="*/ 0 w 408"/>
              <a:gd name="T17" fmla="*/ 2147483646 h 12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408"/>
              <a:gd name="T28" fmla="*/ 0 h 129"/>
              <a:gd name="T29" fmla="*/ 408 w 408"/>
              <a:gd name="T30" fmla="*/ 129 h 129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408" h="129">
                <a:moveTo>
                  <a:pt x="0" y="3"/>
                </a:moveTo>
                <a:lnTo>
                  <a:pt x="69" y="66"/>
                </a:lnTo>
                <a:lnTo>
                  <a:pt x="87" y="39"/>
                </a:lnTo>
                <a:lnTo>
                  <a:pt x="375" y="129"/>
                </a:lnTo>
                <a:lnTo>
                  <a:pt x="327" y="57"/>
                </a:lnTo>
                <a:lnTo>
                  <a:pt x="408" y="42"/>
                </a:lnTo>
                <a:lnTo>
                  <a:pt x="108" y="24"/>
                </a:lnTo>
                <a:lnTo>
                  <a:pt x="135" y="0"/>
                </a:lnTo>
                <a:lnTo>
                  <a:pt x="0" y="3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Freeform 67">
            <a:extLst>
              <a:ext uri="{FF2B5EF4-FFF2-40B4-BE49-F238E27FC236}">
                <a16:creationId xmlns:a16="http://schemas.microsoft.com/office/drawing/2014/main" id="{E27869E7-5E56-450A-95F4-CA49546F41FB}"/>
              </a:ext>
            </a:extLst>
          </p:cNvPr>
          <p:cNvSpPr>
            <a:spLocks/>
          </p:cNvSpPr>
          <p:nvPr/>
        </p:nvSpPr>
        <p:spPr bwMode="auto">
          <a:xfrm>
            <a:off x="5560432" y="3199045"/>
            <a:ext cx="538162" cy="300038"/>
          </a:xfrm>
          <a:custGeom>
            <a:avLst/>
            <a:gdLst>
              <a:gd name="T0" fmla="*/ 2147483646 w 339"/>
              <a:gd name="T1" fmla="*/ 2147483646 h 189"/>
              <a:gd name="T2" fmla="*/ 2147483646 w 339"/>
              <a:gd name="T3" fmla="*/ 2147483646 h 189"/>
              <a:gd name="T4" fmla="*/ 2147483646 w 339"/>
              <a:gd name="T5" fmla="*/ 2147483646 h 189"/>
              <a:gd name="T6" fmla="*/ 2147483646 w 339"/>
              <a:gd name="T7" fmla="*/ 2147483646 h 189"/>
              <a:gd name="T8" fmla="*/ 2147483646 w 339"/>
              <a:gd name="T9" fmla="*/ 2147483646 h 189"/>
              <a:gd name="T10" fmla="*/ 2147483646 w 339"/>
              <a:gd name="T11" fmla="*/ 2147483646 h 189"/>
              <a:gd name="T12" fmla="*/ 2147483646 w 339"/>
              <a:gd name="T13" fmla="*/ 2147483646 h 189"/>
              <a:gd name="T14" fmla="*/ 2147483646 w 339"/>
              <a:gd name="T15" fmla="*/ 2147483646 h 189"/>
              <a:gd name="T16" fmla="*/ 2147483646 w 339"/>
              <a:gd name="T17" fmla="*/ 2147483646 h 189"/>
              <a:gd name="T18" fmla="*/ 2147483646 w 339"/>
              <a:gd name="T19" fmla="*/ 2147483646 h 189"/>
              <a:gd name="T20" fmla="*/ 2147483646 w 339"/>
              <a:gd name="T21" fmla="*/ 2147483646 h 189"/>
              <a:gd name="T22" fmla="*/ 2147483646 w 339"/>
              <a:gd name="T23" fmla="*/ 2147483646 h 189"/>
              <a:gd name="T24" fmla="*/ 2147483646 w 339"/>
              <a:gd name="T25" fmla="*/ 2147483646 h 189"/>
              <a:gd name="T26" fmla="*/ 2147483646 w 339"/>
              <a:gd name="T27" fmla="*/ 2147483646 h 189"/>
              <a:gd name="T28" fmla="*/ 2147483646 w 339"/>
              <a:gd name="T29" fmla="*/ 2147483646 h 189"/>
              <a:gd name="T30" fmla="*/ 2147483646 w 339"/>
              <a:gd name="T31" fmla="*/ 2147483646 h 189"/>
              <a:gd name="T32" fmla="*/ 2147483646 w 339"/>
              <a:gd name="T33" fmla="*/ 0 h 189"/>
              <a:gd name="T34" fmla="*/ 2147483646 w 339"/>
              <a:gd name="T35" fmla="*/ 2147483646 h 189"/>
              <a:gd name="T36" fmla="*/ 2147483646 w 339"/>
              <a:gd name="T37" fmla="*/ 2147483646 h 189"/>
              <a:gd name="T38" fmla="*/ 2147483646 w 339"/>
              <a:gd name="T39" fmla="*/ 2147483646 h 189"/>
              <a:gd name="T40" fmla="*/ 2147483646 w 339"/>
              <a:gd name="T41" fmla="*/ 2147483646 h 189"/>
              <a:gd name="T42" fmla="*/ 0 w 339"/>
              <a:gd name="T43" fmla="*/ 2147483646 h 189"/>
              <a:gd name="T44" fmla="*/ 2147483646 w 339"/>
              <a:gd name="T45" fmla="*/ 2147483646 h 189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w 339"/>
              <a:gd name="T70" fmla="*/ 0 h 189"/>
              <a:gd name="T71" fmla="*/ 339 w 339"/>
              <a:gd name="T72" fmla="*/ 189 h 189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T69" t="T70" r="T71" b="T72"/>
            <a:pathLst>
              <a:path w="339" h="189">
                <a:moveTo>
                  <a:pt x="18" y="189"/>
                </a:moveTo>
                <a:lnTo>
                  <a:pt x="117" y="138"/>
                </a:lnTo>
                <a:lnTo>
                  <a:pt x="72" y="129"/>
                </a:lnTo>
                <a:lnTo>
                  <a:pt x="111" y="96"/>
                </a:lnTo>
                <a:lnTo>
                  <a:pt x="174" y="42"/>
                </a:lnTo>
                <a:lnTo>
                  <a:pt x="201" y="42"/>
                </a:lnTo>
                <a:lnTo>
                  <a:pt x="222" y="42"/>
                </a:lnTo>
                <a:lnTo>
                  <a:pt x="246" y="57"/>
                </a:lnTo>
                <a:lnTo>
                  <a:pt x="255" y="81"/>
                </a:lnTo>
                <a:lnTo>
                  <a:pt x="282" y="72"/>
                </a:lnTo>
                <a:lnTo>
                  <a:pt x="309" y="81"/>
                </a:lnTo>
                <a:lnTo>
                  <a:pt x="339" y="99"/>
                </a:lnTo>
                <a:lnTo>
                  <a:pt x="318" y="69"/>
                </a:lnTo>
                <a:lnTo>
                  <a:pt x="291" y="39"/>
                </a:lnTo>
                <a:lnTo>
                  <a:pt x="264" y="18"/>
                </a:lnTo>
                <a:lnTo>
                  <a:pt x="228" y="6"/>
                </a:lnTo>
                <a:lnTo>
                  <a:pt x="180" y="0"/>
                </a:lnTo>
                <a:lnTo>
                  <a:pt x="126" y="15"/>
                </a:lnTo>
                <a:lnTo>
                  <a:pt x="90" y="45"/>
                </a:lnTo>
                <a:lnTo>
                  <a:pt x="57" y="81"/>
                </a:lnTo>
                <a:lnTo>
                  <a:pt x="33" y="114"/>
                </a:lnTo>
                <a:lnTo>
                  <a:pt x="0" y="99"/>
                </a:lnTo>
                <a:lnTo>
                  <a:pt x="18" y="189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Freeform 68">
            <a:extLst>
              <a:ext uri="{FF2B5EF4-FFF2-40B4-BE49-F238E27FC236}">
                <a16:creationId xmlns:a16="http://schemas.microsoft.com/office/drawing/2014/main" id="{36CF0D39-EF29-40D7-959B-D4064B8C25FB}"/>
              </a:ext>
            </a:extLst>
          </p:cNvPr>
          <p:cNvSpPr>
            <a:spLocks/>
          </p:cNvSpPr>
          <p:nvPr/>
        </p:nvSpPr>
        <p:spPr bwMode="auto">
          <a:xfrm>
            <a:off x="6784394" y="3603858"/>
            <a:ext cx="538163" cy="269875"/>
          </a:xfrm>
          <a:custGeom>
            <a:avLst/>
            <a:gdLst>
              <a:gd name="T0" fmla="*/ 0 w 339"/>
              <a:gd name="T1" fmla="*/ 2147483646 h 93"/>
              <a:gd name="T2" fmla="*/ 2147483646 w 339"/>
              <a:gd name="T3" fmla="*/ 0 h 93"/>
              <a:gd name="T4" fmla="*/ 2147483646 w 339"/>
              <a:gd name="T5" fmla="*/ 2147483646 h 93"/>
              <a:gd name="T6" fmla="*/ 2147483646 w 339"/>
              <a:gd name="T7" fmla="*/ 2147483646 h 93"/>
              <a:gd name="T8" fmla="*/ 2147483646 w 339"/>
              <a:gd name="T9" fmla="*/ 2147483646 h 93"/>
              <a:gd name="T10" fmla="*/ 2147483646 w 339"/>
              <a:gd name="T11" fmla="*/ 2147483646 h 93"/>
              <a:gd name="T12" fmla="*/ 2147483646 w 339"/>
              <a:gd name="T13" fmla="*/ 2147483646 h 93"/>
              <a:gd name="T14" fmla="*/ 2147483646 w 339"/>
              <a:gd name="T15" fmla="*/ 2147483646 h 93"/>
              <a:gd name="T16" fmla="*/ 0 w 339"/>
              <a:gd name="T17" fmla="*/ 2147483646 h 93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339"/>
              <a:gd name="T28" fmla="*/ 0 h 93"/>
              <a:gd name="T29" fmla="*/ 339 w 339"/>
              <a:gd name="T30" fmla="*/ 93 h 93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339" h="93">
                <a:moveTo>
                  <a:pt x="0" y="15"/>
                </a:moveTo>
                <a:lnTo>
                  <a:pt x="156" y="0"/>
                </a:lnTo>
                <a:lnTo>
                  <a:pt x="126" y="24"/>
                </a:lnTo>
                <a:lnTo>
                  <a:pt x="339" y="27"/>
                </a:lnTo>
                <a:lnTo>
                  <a:pt x="288" y="54"/>
                </a:lnTo>
                <a:lnTo>
                  <a:pt x="321" y="93"/>
                </a:lnTo>
                <a:lnTo>
                  <a:pt x="102" y="36"/>
                </a:lnTo>
                <a:lnTo>
                  <a:pt x="72" y="54"/>
                </a:lnTo>
                <a:lnTo>
                  <a:pt x="0" y="15"/>
                </a:lnTo>
                <a:close/>
              </a:path>
            </a:pathLst>
          </a:custGeom>
          <a:solidFill>
            <a:srgbClr val="FF3300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8" name="Group 69">
            <a:extLst>
              <a:ext uri="{FF2B5EF4-FFF2-40B4-BE49-F238E27FC236}">
                <a16:creationId xmlns:a16="http://schemas.microsoft.com/office/drawing/2014/main" id="{6D92A4FE-338E-4318-AE37-D9442A849083}"/>
              </a:ext>
            </a:extLst>
          </p:cNvPr>
          <p:cNvGrpSpPr>
            <a:grpSpLocks/>
          </p:cNvGrpSpPr>
          <p:nvPr/>
        </p:nvGrpSpPr>
        <p:grpSpPr bwMode="auto">
          <a:xfrm>
            <a:off x="2556882" y="4510320"/>
            <a:ext cx="1320800" cy="663575"/>
            <a:chOff x="1452" y="2502"/>
            <a:chExt cx="1037" cy="725"/>
          </a:xfrm>
        </p:grpSpPr>
        <p:sp>
          <p:nvSpPr>
            <p:cNvPr id="19" name="Line 70">
              <a:extLst>
                <a:ext uri="{FF2B5EF4-FFF2-40B4-BE49-F238E27FC236}">
                  <a16:creationId xmlns:a16="http://schemas.microsoft.com/office/drawing/2014/main" id="{C65F24E3-9BDF-43B4-B80D-659FBDD6F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50" y="2502"/>
              <a:ext cx="0" cy="30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Text Box 71" descr="编织物">
              <a:extLst>
                <a:ext uri="{FF2B5EF4-FFF2-40B4-BE49-F238E27FC236}">
                  <a16:creationId xmlns:a16="http://schemas.microsoft.com/office/drawing/2014/main" id="{6054CDAB-DE34-49DC-B0AA-41BCEDE76C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52" y="2723"/>
              <a:ext cx="1037" cy="504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/>
                <a:t>车刀</a:t>
              </a:r>
            </a:p>
          </p:txBody>
        </p:sp>
      </p:grpSp>
      <p:grpSp>
        <p:nvGrpSpPr>
          <p:cNvPr id="21" name="Group 115">
            <a:extLst>
              <a:ext uri="{FF2B5EF4-FFF2-40B4-BE49-F238E27FC236}">
                <a16:creationId xmlns:a16="http://schemas.microsoft.com/office/drawing/2014/main" id="{C38C6DA4-0E24-4FEB-A8AB-E53588585BFD}"/>
              </a:ext>
            </a:extLst>
          </p:cNvPr>
          <p:cNvGrpSpPr>
            <a:grpSpLocks/>
          </p:cNvGrpSpPr>
          <p:nvPr/>
        </p:nvGrpSpPr>
        <p:grpSpPr bwMode="auto">
          <a:xfrm>
            <a:off x="3093457" y="3157770"/>
            <a:ext cx="403225" cy="382588"/>
            <a:chOff x="1734" y="1698"/>
            <a:chExt cx="273" cy="216"/>
          </a:xfrm>
        </p:grpSpPr>
        <p:sp>
          <p:nvSpPr>
            <p:cNvPr id="22" name="Freeform 116">
              <a:extLst>
                <a:ext uri="{FF2B5EF4-FFF2-40B4-BE49-F238E27FC236}">
                  <a16:creationId xmlns:a16="http://schemas.microsoft.com/office/drawing/2014/main" id="{411C5806-3B44-458A-BF5B-F57409F15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1698"/>
              <a:ext cx="252" cy="216"/>
            </a:xfrm>
            <a:custGeom>
              <a:avLst/>
              <a:gdLst>
                <a:gd name="T0" fmla="*/ 0 w 252"/>
                <a:gd name="T1" fmla="*/ 114 h 216"/>
                <a:gd name="T2" fmla="*/ 18 w 252"/>
                <a:gd name="T3" fmla="*/ 216 h 216"/>
                <a:gd name="T4" fmla="*/ 111 w 252"/>
                <a:gd name="T5" fmla="*/ 138 h 216"/>
                <a:gd name="T6" fmla="*/ 69 w 252"/>
                <a:gd name="T7" fmla="*/ 132 h 216"/>
                <a:gd name="T8" fmla="*/ 120 w 252"/>
                <a:gd name="T9" fmla="*/ 63 h 216"/>
                <a:gd name="T10" fmla="*/ 144 w 252"/>
                <a:gd name="T11" fmla="*/ 39 h 216"/>
                <a:gd name="T12" fmla="*/ 204 w 252"/>
                <a:gd name="T13" fmla="*/ 21 h 216"/>
                <a:gd name="T14" fmla="*/ 252 w 252"/>
                <a:gd name="T15" fmla="*/ 30 h 216"/>
                <a:gd name="T16" fmla="*/ 219 w 252"/>
                <a:gd name="T17" fmla="*/ 3 h 216"/>
                <a:gd name="T18" fmla="*/ 168 w 252"/>
                <a:gd name="T19" fmla="*/ 0 h 216"/>
                <a:gd name="T20" fmla="*/ 141 w 252"/>
                <a:gd name="T21" fmla="*/ 6 h 216"/>
                <a:gd name="T22" fmla="*/ 108 w 252"/>
                <a:gd name="T23" fmla="*/ 21 h 216"/>
                <a:gd name="T24" fmla="*/ 84 w 252"/>
                <a:gd name="T25" fmla="*/ 42 h 216"/>
                <a:gd name="T26" fmla="*/ 63 w 252"/>
                <a:gd name="T27" fmla="*/ 66 h 216"/>
                <a:gd name="T28" fmla="*/ 39 w 252"/>
                <a:gd name="T29" fmla="*/ 105 h 216"/>
                <a:gd name="T30" fmla="*/ 30 w 252"/>
                <a:gd name="T31" fmla="*/ 126 h 216"/>
                <a:gd name="T32" fmla="*/ 0 w 252"/>
                <a:gd name="T33" fmla="*/ 114 h 21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252"/>
                <a:gd name="T52" fmla="*/ 0 h 216"/>
                <a:gd name="T53" fmla="*/ 252 w 252"/>
                <a:gd name="T54" fmla="*/ 216 h 21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252" h="216">
                  <a:moveTo>
                    <a:pt x="0" y="114"/>
                  </a:moveTo>
                  <a:lnTo>
                    <a:pt x="18" y="216"/>
                  </a:lnTo>
                  <a:lnTo>
                    <a:pt x="111" y="138"/>
                  </a:lnTo>
                  <a:lnTo>
                    <a:pt x="69" y="132"/>
                  </a:lnTo>
                  <a:lnTo>
                    <a:pt x="120" y="63"/>
                  </a:lnTo>
                  <a:lnTo>
                    <a:pt x="144" y="39"/>
                  </a:lnTo>
                  <a:lnTo>
                    <a:pt x="204" y="21"/>
                  </a:lnTo>
                  <a:lnTo>
                    <a:pt x="252" y="30"/>
                  </a:lnTo>
                  <a:lnTo>
                    <a:pt x="219" y="3"/>
                  </a:lnTo>
                  <a:lnTo>
                    <a:pt x="168" y="0"/>
                  </a:lnTo>
                  <a:lnTo>
                    <a:pt x="141" y="6"/>
                  </a:lnTo>
                  <a:lnTo>
                    <a:pt x="108" y="21"/>
                  </a:lnTo>
                  <a:lnTo>
                    <a:pt x="84" y="42"/>
                  </a:lnTo>
                  <a:lnTo>
                    <a:pt x="63" y="66"/>
                  </a:lnTo>
                  <a:lnTo>
                    <a:pt x="39" y="105"/>
                  </a:lnTo>
                  <a:lnTo>
                    <a:pt x="30" y="126"/>
                  </a:lnTo>
                  <a:lnTo>
                    <a:pt x="0" y="114"/>
                  </a:lnTo>
                  <a:close/>
                </a:path>
              </a:pathLst>
            </a:custGeom>
            <a:solidFill>
              <a:srgbClr val="FF0000"/>
            </a:solidFill>
            <a:ln w="2857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Freeform 117">
              <a:extLst>
                <a:ext uri="{FF2B5EF4-FFF2-40B4-BE49-F238E27FC236}">
                  <a16:creationId xmlns:a16="http://schemas.microsoft.com/office/drawing/2014/main" id="{1AE88737-D9F6-44C5-BBAB-468A3F8FA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2" y="1725"/>
              <a:ext cx="105" cy="51"/>
            </a:xfrm>
            <a:custGeom>
              <a:avLst/>
              <a:gdLst>
                <a:gd name="T0" fmla="*/ 105 w 105"/>
                <a:gd name="T1" fmla="*/ 33 h 51"/>
                <a:gd name="T2" fmla="*/ 90 w 105"/>
                <a:gd name="T3" fmla="*/ 9 h 51"/>
                <a:gd name="T4" fmla="*/ 63 w 105"/>
                <a:gd name="T5" fmla="*/ 0 h 51"/>
                <a:gd name="T6" fmla="*/ 36 w 105"/>
                <a:gd name="T7" fmla="*/ 0 h 51"/>
                <a:gd name="T8" fmla="*/ 0 w 105"/>
                <a:gd name="T9" fmla="*/ 6 h 51"/>
                <a:gd name="T10" fmla="*/ 30 w 105"/>
                <a:gd name="T11" fmla="*/ 21 h 51"/>
                <a:gd name="T12" fmla="*/ 48 w 105"/>
                <a:gd name="T13" fmla="*/ 51 h 51"/>
                <a:gd name="T14" fmla="*/ 60 w 105"/>
                <a:gd name="T15" fmla="*/ 24 h 51"/>
                <a:gd name="T16" fmla="*/ 105 w 105"/>
                <a:gd name="T17" fmla="*/ 33 h 5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05"/>
                <a:gd name="T28" fmla="*/ 0 h 51"/>
                <a:gd name="T29" fmla="*/ 105 w 105"/>
                <a:gd name="T30" fmla="*/ 51 h 5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05" h="51">
                  <a:moveTo>
                    <a:pt x="105" y="33"/>
                  </a:moveTo>
                  <a:lnTo>
                    <a:pt x="90" y="9"/>
                  </a:lnTo>
                  <a:lnTo>
                    <a:pt x="63" y="0"/>
                  </a:lnTo>
                  <a:lnTo>
                    <a:pt x="36" y="0"/>
                  </a:lnTo>
                  <a:lnTo>
                    <a:pt x="0" y="6"/>
                  </a:lnTo>
                  <a:lnTo>
                    <a:pt x="30" y="21"/>
                  </a:lnTo>
                  <a:lnTo>
                    <a:pt x="48" y="51"/>
                  </a:lnTo>
                  <a:lnTo>
                    <a:pt x="60" y="24"/>
                  </a:lnTo>
                  <a:lnTo>
                    <a:pt x="105" y="33"/>
                  </a:lnTo>
                  <a:close/>
                </a:path>
              </a:pathLst>
            </a:custGeom>
            <a:solidFill>
              <a:srgbClr val="FFCC66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A43E2D67-EC2A-4AC0-8E0B-AEB348E981CD}"/>
              </a:ext>
            </a:extLst>
          </p:cNvPr>
          <p:cNvSpPr/>
          <p:nvPr/>
        </p:nvSpPr>
        <p:spPr>
          <a:xfrm>
            <a:off x="5705882" y="1675611"/>
            <a:ext cx="4482112" cy="830263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 algn="ctr" eaLnBrk="1" hangingPunct="1">
              <a:defRPr/>
            </a:pPr>
            <a:r>
              <a:rPr lang="zh-CN" altLang="zh-CN" sz="2400" dirty="0"/>
              <a:t>螺纹的加工方法有车削、碾压以及用丝锥、板牙等工具加工。</a:t>
            </a:r>
            <a:endParaRPr lang="zh-CN" altLang="en-US" sz="2400" dirty="0">
              <a:latin typeface="宋体" panose="02010600030101010101" pitchFamily="2" charset="-122"/>
            </a:endParaRPr>
          </a:p>
        </p:txBody>
      </p:sp>
      <p:pic>
        <p:nvPicPr>
          <p:cNvPr id="25" name="Picture 103" descr="11-4">
            <a:extLst>
              <a:ext uri="{FF2B5EF4-FFF2-40B4-BE49-F238E27FC236}">
                <a16:creationId xmlns:a16="http://schemas.microsoft.com/office/drawing/2014/main" id="{A096CEC3-3B4C-4B22-804A-76BCEAFCF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49905"/>
          <a:stretch>
            <a:fillRect/>
          </a:stretch>
        </p:blipFill>
        <p:spPr bwMode="auto">
          <a:xfrm>
            <a:off x="8003595" y="2840270"/>
            <a:ext cx="1590675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103" descr="11-4">
            <a:extLst>
              <a:ext uri="{FF2B5EF4-FFF2-40B4-BE49-F238E27FC236}">
                <a16:creationId xmlns:a16="http://schemas.microsoft.com/office/drawing/2014/main" id="{F7AE0C4F-0E40-49DF-9995-E9995D0C3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49200"/>
          <a:stretch>
            <a:fillRect/>
          </a:stretch>
        </p:blipFill>
        <p:spPr bwMode="auto">
          <a:xfrm>
            <a:off x="9567183" y="2816458"/>
            <a:ext cx="16129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Text Box 57">
            <a:extLst>
              <a:ext uri="{FF2B5EF4-FFF2-40B4-BE49-F238E27FC236}">
                <a16:creationId xmlns:a16="http://schemas.microsoft.com/office/drawing/2014/main" id="{06D6AC01-37CF-44EB-B009-62DF3A493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2269" y="5164491"/>
            <a:ext cx="803426" cy="461665"/>
          </a:xfrm>
          <a:prstGeom prst="rect">
            <a:avLst/>
          </a:prstGeom>
          <a:solidFill>
            <a:srgbClr val="FFFF00"/>
          </a:solidFill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套扣</a:t>
            </a:r>
          </a:p>
        </p:txBody>
      </p:sp>
      <p:sp>
        <p:nvSpPr>
          <p:cNvPr id="28" name="Text Box 57">
            <a:extLst>
              <a:ext uri="{FF2B5EF4-FFF2-40B4-BE49-F238E27FC236}">
                <a16:creationId xmlns:a16="http://schemas.microsoft.com/office/drawing/2014/main" id="{975A9CD5-2725-44DD-80FF-2019B9DAF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46117" y="5164490"/>
            <a:ext cx="803425" cy="461665"/>
          </a:xfrm>
          <a:prstGeom prst="rect">
            <a:avLst/>
          </a:prstGeom>
          <a:solidFill>
            <a:srgbClr val="FFFF00"/>
          </a:solidFill>
          <a:ln w="381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solidFill>
                  <a:srgbClr val="FF3300"/>
                </a:solidFill>
                <a:latin typeface="Times New Roman" panose="02020603050405020304" pitchFamily="18" charset="0"/>
              </a:rPr>
              <a:t>攻丝</a:t>
            </a:r>
          </a:p>
        </p:txBody>
      </p:sp>
    </p:spTree>
    <p:extLst>
      <p:ext uri="{BB962C8B-B14F-4D97-AF65-F5344CB8AC3E}">
        <p14:creationId xmlns:p14="http://schemas.microsoft.com/office/powerpoint/2010/main" val="2586867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15" grpId="0" animBg="1"/>
      <p:bldP spid="16" grpId="0" animBg="1"/>
      <p:bldP spid="17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B66A8D41-A231-4A99-8062-37C68B3195C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881158" y="2918924"/>
            <a:ext cx="8915766" cy="10717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3">
            <a:extLst>
              <a:ext uri="{FF2B5EF4-FFF2-40B4-BE49-F238E27FC236}">
                <a16:creationId xmlns:a16="http://schemas.microsoft.com/office/drawing/2014/main" id="{60A8A01E-9A90-41A5-8423-D766B15346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2564" y="1861630"/>
            <a:ext cx="219803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altLang="zh-CN" sz="2400" b="1" dirty="0">
                <a:latin typeface="宋体" pitchFamily="2" charset="-122"/>
              </a:rPr>
              <a:t>1. </a:t>
            </a:r>
            <a:r>
              <a:rPr lang="zh-CN" altLang="en-US" sz="2400" b="1" dirty="0">
                <a:latin typeface="宋体" pitchFamily="2" charset="-122"/>
              </a:rPr>
              <a:t>螺纹的牙型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3AB3F08C-641F-4DC1-906D-1A92BF884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45809" y="5150461"/>
            <a:ext cx="155105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三角形</a:t>
            </a:r>
          </a:p>
        </p:txBody>
      </p:sp>
      <p:sp>
        <p:nvSpPr>
          <p:cNvPr id="5" name="Text Box 27">
            <a:extLst>
              <a:ext uri="{FF2B5EF4-FFF2-40B4-BE49-F238E27FC236}">
                <a16:creationId xmlns:a16="http://schemas.microsoft.com/office/drawing/2014/main" id="{A1034BD7-9254-4674-85FB-C13445DA4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0352" y="4294047"/>
            <a:ext cx="634206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zh-CN" altLang="en-US" sz="2400" b="1" dirty="0">
                <a:solidFill>
                  <a:srgbClr val="000099"/>
                </a:solidFill>
                <a:latin typeface="宋体" pitchFamily="2" charset="-122"/>
              </a:rPr>
              <a:t>在通过螺纹轴线的剖面上，螺纹的轮廓形状。</a:t>
            </a:r>
          </a:p>
        </p:txBody>
      </p:sp>
      <p:sp>
        <p:nvSpPr>
          <p:cNvPr id="6" name="Text Box 49">
            <a:extLst>
              <a:ext uri="{FF2B5EF4-FFF2-40B4-BE49-F238E27FC236}">
                <a16:creationId xmlns:a16="http://schemas.microsoft.com/office/drawing/2014/main" id="{EA131319-2089-4DBF-A7E4-96B0A52802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95079" y="5150461"/>
            <a:ext cx="90281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梯形</a:t>
            </a:r>
          </a:p>
        </p:txBody>
      </p:sp>
      <p:sp>
        <p:nvSpPr>
          <p:cNvPr id="7" name="Text Box 70">
            <a:extLst>
              <a:ext uri="{FF2B5EF4-FFF2-40B4-BE49-F238E27FC236}">
                <a16:creationId xmlns:a16="http://schemas.microsoft.com/office/drawing/2014/main" id="{D77420D5-E749-4141-BD77-7EB4C83E86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825" y="5142805"/>
            <a:ext cx="126188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8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锯齿形</a:t>
            </a:r>
          </a:p>
        </p:txBody>
      </p:sp>
      <p:sp>
        <p:nvSpPr>
          <p:cNvPr id="8" name="Text Box 71">
            <a:extLst>
              <a:ext uri="{FF2B5EF4-FFF2-40B4-BE49-F238E27FC236}">
                <a16:creationId xmlns:a16="http://schemas.microsoft.com/office/drawing/2014/main" id="{A617C438-9421-4D8C-80C3-FEC3445125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8050" y="5191796"/>
            <a:ext cx="198002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2800" dirty="0">
                <a:solidFill>
                  <a:schemeClr val="accent2"/>
                </a:solidFill>
              </a:rPr>
              <a:t>常用的有：</a:t>
            </a:r>
          </a:p>
        </p:txBody>
      </p:sp>
      <p:grpSp>
        <p:nvGrpSpPr>
          <p:cNvPr id="9" name="Group 72">
            <a:extLst>
              <a:ext uri="{FF2B5EF4-FFF2-40B4-BE49-F238E27FC236}">
                <a16:creationId xmlns:a16="http://schemas.microsoft.com/office/drawing/2014/main" id="{67D8FACF-B001-4EE0-8D81-2039CA487443}"/>
              </a:ext>
            </a:extLst>
          </p:cNvPr>
          <p:cNvGrpSpPr>
            <a:grpSpLocks/>
          </p:cNvGrpSpPr>
          <p:nvPr/>
        </p:nvGrpSpPr>
        <p:grpSpPr bwMode="auto">
          <a:xfrm>
            <a:off x="8382665" y="3611354"/>
            <a:ext cx="1415251" cy="889216"/>
            <a:chOff x="3065" y="1089"/>
            <a:chExt cx="547" cy="347"/>
          </a:xfrm>
        </p:grpSpPr>
        <p:sp>
          <p:nvSpPr>
            <p:cNvPr id="10" name="Line 73">
              <a:extLst>
                <a:ext uri="{FF2B5EF4-FFF2-40B4-BE49-F238E27FC236}">
                  <a16:creationId xmlns:a16="http://schemas.microsoft.com/office/drawing/2014/main" id="{8FA95971-1BA2-4E2A-9BA2-8988C63D00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65" y="1089"/>
              <a:ext cx="160" cy="34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Text Box 74">
              <a:extLst>
                <a:ext uri="{FF2B5EF4-FFF2-40B4-BE49-F238E27FC236}">
                  <a16:creationId xmlns:a16="http://schemas.microsoft.com/office/drawing/2014/main" id="{00F1EB5D-243A-4498-8126-3E0657BA15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56" y="1174"/>
              <a:ext cx="453" cy="26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800" dirty="0">
                  <a:solidFill>
                    <a:srgbClr val="FF3300"/>
                  </a:solidFill>
                </a:rPr>
                <a:t>牙型</a:t>
              </a:r>
            </a:p>
          </p:txBody>
        </p:sp>
        <p:sp>
          <p:nvSpPr>
            <p:cNvPr id="12" name="Line 75">
              <a:extLst>
                <a:ext uri="{FF2B5EF4-FFF2-40B4-BE49-F238E27FC236}">
                  <a16:creationId xmlns:a16="http://schemas.microsoft.com/office/drawing/2014/main" id="{3FA1FCD2-C5D2-4F35-8BD2-027FE3CDA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9" y="1431"/>
              <a:ext cx="39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" name="Text Box 3">
            <a:extLst>
              <a:ext uri="{FF2B5EF4-FFF2-40B4-BE49-F238E27FC236}">
                <a16:creationId xmlns:a16="http://schemas.microsoft.com/office/drawing/2014/main" id="{EF495F0B-8AC3-4334-8D2F-1982BBD475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9654" y="857232"/>
            <a:ext cx="307022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二、螺纹结构要素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7AA5CFB-985A-4212-9DD5-8126F5859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0208" y="2834935"/>
            <a:ext cx="1044575" cy="596900"/>
          </a:xfrm>
          <a:prstGeom prst="ellipse">
            <a:avLst/>
          </a:prstGeom>
          <a:noFill/>
          <a:ln w="38100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4000">
              <a:solidFill>
                <a:schemeClr val="accent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594AE70-AEE7-4450-8681-468B93E51C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8247" y="2769848"/>
            <a:ext cx="1044575" cy="596900"/>
          </a:xfrm>
          <a:prstGeom prst="ellipse">
            <a:avLst/>
          </a:prstGeom>
          <a:noFill/>
          <a:ln w="38100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4000">
              <a:solidFill>
                <a:schemeClr val="accent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2520CCD5-1CBA-4599-8DAA-303FBE467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9034" y="2778567"/>
            <a:ext cx="1044575" cy="598488"/>
          </a:xfrm>
          <a:prstGeom prst="ellipse">
            <a:avLst/>
          </a:prstGeom>
          <a:noFill/>
          <a:ln w="38100">
            <a:solidFill>
              <a:srgbClr val="FF5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4000">
              <a:solidFill>
                <a:schemeClr val="accent2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1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4157090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25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"/>
                            </p:stCondLst>
                            <p:childTnLst>
                              <p:par>
                                <p:cTn id="5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4" grpId="0"/>
      <p:bldP spid="5" grpId="0" autoUpdateAnimBg="0"/>
      <p:bldP spid="6" grpId="0"/>
      <p:bldP spid="7" grpId="0"/>
      <p:bldP spid="8" grpId="0" autoUpdateAnimBg="0"/>
      <p:bldP spid="15" grpId="0" animBg="1"/>
      <p:bldP spid="16" grpId="0" animBg="1"/>
      <p:bldP spid="1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31">
            <a:extLst>
              <a:ext uri="{FF2B5EF4-FFF2-40B4-BE49-F238E27FC236}">
                <a16:creationId xmlns:a16="http://schemas.microsoft.com/office/drawing/2014/main" id="{DCC28159-01EE-458C-9BC7-D84CCF58DF7F}"/>
              </a:ext>
            </a:extLst>
          </p:cNvPr>
          <p:cNvGrpSpPr>
            <a:grpSpLocks/>
          </p:cNvGrpSpPr>
          <p:nvPr/>
        </p:nvGrpSpPr>
        <p:grpSpPr bwMode="auto">
          <a:xfrm>
            <a:off x="2459596" y="3429000"/>
            <a:ext cx="8037512" cy="2805113"/>
            <a:chOff x="915865" y="3406326"/>
            <a:chExt cx="8037066" cy="2805235"/>
          </a:xfrm>
        </p:grpSpPr>
        <p:pic>
          <p:nvPicPr>
            <p:cNvPr id="3" name="Picture 30">
              <a:extLst>
                <a:ext uri="{FF2B5EF4-FFF2-40B4-BE49-F238E27FC236}">
                  <a16:creationId xmlns:a16="http://schemas.microsoft.com/office/drawing/2014/main" id="{2C035D8C-638A-427F-962A-153332FF4B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 r="47493"/>
            <a:stretch>
              <a:fillRect/>
            </a:stretch>
          </p:blipFill>
          <p:spPr bwMode="auto">
            <a:xfrm>
              <a:off x="915865" y="3408601"/>
              <a:ext cx="3533276" cy="280296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</p:pic>
        <p:pic>
          <p:nvPicPr>
            <p:cNvPr id="4" name="Picture 30">
              <a:extLst>
                <a:ext uri="{FF2B5EF4-FFF2-40B4-BE49-F238E27FC236}">
                  <a16:creationId xmlns:a16="http://schemas.microsoft.com/office/drawing/2014/main" id="{3CF10D3D-E64D-4134-AFFD-B4A9EFC7FA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/>
            <a:srcRect l="54366"/>
            <a:stretch>
              <a:fillRect/>
            </a:stretch>
          </p:blipFill>
          <p:spPr bwMode="auto">
            <a:xfrm>
              <a:off x="5882185" y="3406326"/>
              <a:ext cx="3070746" cy="2802960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</p:pic>
      </p:grpSp>
      <p:grpSp>
        <p:nvGrpSpPr>
          <p:cNvPr id="8" name="Group 71">
            <a:extLst>
              <a:ext uri="{FF2B5EF4-FFF2-40B4-BE49-F238E27FC236}">
                <a16:creationId xmlns:a16="http://schemas.microsoft.com/office/drawing/2014/main" id="{3A9D26D6-9C6D-4FBB-A1C1-921C4AED37B7}"/>
              </a:ext>
            </a:extLst>
          </p:cNvPr>
          <p:cNvGrpSpPr>
            <a:grpSpLocks/>
          </p:cNvGrpSpPr>
          <p:nvPr/>
        </p:nvGrpSpPr>
        <p:grpSpPr bwMode="auto">
          <a:xfrm>
            <a:off x="3050146" y="3241675"/>
            <a:ext cx="1581150" cy="768350"/>
            <a:chOff x="1500" y="1676"/>
            <a:chExt cx="712" cy="471"/>
          </a:xfrm>
        </p:grpSpPr>
        <p:sp>
          <p:nvSpPr>
            <p:cNvPr id="9" name="Text Box 72">
              <a:extLst>
                <a:ext uri="{FF2B5EF4-FFF2-40B4-BE49-F238E27FC236}">
                  <a16:creationId xmlns:a16="http://schemas.microsoft.com/office/drawing/2014/main" id="{AB0E8C68-2A1D-4AEF-ACFB-001894889C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00" y="1676"/>
              <a:ext cx="712" cy="2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zh-CN" altLang="en-US" sz="2800">
                  <a:solidFill>
                    <a:srgbClr val="FF3300"/>
                  </a:solidFill>
                </a:rPr>
                <a:t>牙底</a:t>
              </a:r>
            </a:p>
          </p:txBody>
        </p:sp>
        <p:sp>
          <p:nvSpPr>
            <p:cNvPr id="10" name="Line 73">
              <a:extLst>
                <a:ext uri="{FF2B5EF4-FFF2-40B4-BE49-F238E27FC236}">
                  <a16:creationId xmlns:a16="http://schemas.microsoft.com/office/drawing/2014/main" id="{20CC677D-CD6E-4636-9E5F-931F7533830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000" y="1921"/>
              <a:ext cx="72" cy="226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74">
            <a:extLst>
              <a:ext uri="{FF2B5EF4-FFF2-40B4-BE49-F238E27FC236}">
                <a16:creationId xmlns:a16="http://schemas.microsoft.com/office/drawing/2014/main" id="{A6ACDD16-8E59-4697-89D4-08E527A2161C}"/>
              </a:ext>
            </a:extLst>
          </p:cNvPr>
          <p:cNvGrpSpPr>
            <a:grpSpLocks/>
          </p:cNvGrpSpPr>
          <p:nvPr/>
        </p:nvGrpSpPr>
        <p:grpSpPr bwMode="auto">
          <a:xfrm>
            <a:off x="6953808" y="5659438"/>
            <a:ext cx="1449388" cy="1265237"/>
            <a:chOff x="3205" y="3515"/>
            <a:chExt cx="1056" cy="575"/>
          </a:xfrm>
        </p:grpSpPr>
        <p:sp>
          <p:nvSpPr>
            <p:cNvPr id="12" name="Text Box 75">
              <a:extLst>
                <a:ext uri="{FF2B5EF4-FFF2-40B4-BE49-F238E27FC236}">
                  <a16:creationId xmlns:a16="http://schemas.microsoft.com/office/drawing/2014/main" id="{660D3832-BDA5-44EE-9907-737F753E9D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" y="3763"/>
              <a:ext cx="969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zh-CN" altLang="en-US" sz="2800">
                  <a:solidFill>
                    <a:srgbClr val="FF3300"/>
                  </a:solidFill>
                </a:rPr>
                <a:t>牙底</a:t>
              </a:r>
            </a:p>
          </p:txBody>
        </p:sp>
        <p:sp>
          <p:nvSpPr>
            <p:cNvPr id="13" name="Line 76">
              <a:extLst>
                <a:ext uri="{FF2B5EF4-FFF2-40B4-BE49-F238E27FC236}">
                  <a16:creationId xmlns:a16="http://schemas.microsoft.com/office/drawing/2014/main" id="{CA946C64-6D1C-48C2-9B07-A06E06F739A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56" y="3515"/>
              <a:ext cx="305" cy="305"/>
            </a:xfrm>
            <a:prstGeom prst="line">
              <a:avLst/>
            </a:prstGeom>
            <a:noFill/>
            <a:ln w="50800">
              <a:solidFill>
                <a:srgbClr val="00B0F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77">
            <a:extLst>
              <a:ext uri="{FF2B5EF4-FFF2-40B4-BE49-F238E27FC236}">
                <a16:creationId xmlns:a16="http://schemas.microsoft.com/office/drawing/2014/main" id="{E455AD9C-9218-4A75-B27D-D83D5FF98887}"/>
              </a:ext>
            </a:extLst>
          </p:cNvPr>
          <p:cNvGrpSpPr>
            <a:grpSpLocks/>
          </p:cNvGrpSpPr>
          <p:nvPr/>
        </p:nvGrpSpPr>
        <p:grpSpPr bwMode="auto">
          <a:xfrm>
            <a:off x="8558771" y="2884488"/>
            <a:ext cx="923925" cy="1012825"/>
            <a:chOff x="4610" y="1662"/>
            <a:chExt cx="828" cy="460"/>
          </a:xfrm>
        </p:grpSpPr>
        <p:sp>
          <p:nvSpPr>
            <p:cNvPr id="15" name="Text Box 78">
              <a:extLst>
                <a:ext uri="{FF2B5EF4-FFF2-40B4-BE49-F238E27FC236}">
                  <a16:creationId xmlns:a16="http://schemas.microsoft.com/office/drawing/2014/main" id="{49F72973-4B93-4A64-94A5-A3413637A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0" y="1662"/>
              <a:ext cx="828" cy="23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zh-CN" altLang="en-US" sz="2800">
                  <a:solidFill>
                    <a:srgbClr val="0070C0"/>
                  </a:solidFill>
                </a:rPr>
                <a:t>牙顶</a:t>
              </a:r>
            </a:p>
          </p:txBody>
        </p:sp>
        <p:sp>
          <p:nvSpPr>
            <p:cNvPr id="16" name="Line 79">
              <a:extLst>
                <a:ext uri="{FF2B5EF4-FFF2-40B4-BE49-F238E27FC236}">
                  <a16:creationId xmlns:a16="http://schemas.microsoft.com/office/drawing/2014/main" id="{60986450-BE37-40CE-A781-E03A8311CD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13" y="1914"/>
              <a:ext cx="215" cy="208"/>
            </a:xfrm>
            <a:prstGeom prst="line">
              <a:avLst/>
            </a:prstGeom>
            <a:noFill/>
            <a:ln w="57150">
              <a:solidFill>
                <a:srgbClr val="00B0F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80">
            <a:extLst>
              <a:ext uri="{FF2B5EF4-FFF2-40B4-BE49-F238E27FC236}">
                <a16:creationId xmlns:a16="http://schemas.microsoft.com/office/drawing/2014/main" id="{83E5CD5B-F4E5-4E70-984C-8935CAA6BED5}"/>
              </a:ext>
            </a:extLst>
          </p:cNvPr>
          <p:cNvGrpSpPr>
            <a:grpSpLocks/>
          </p:cNvGrpSpPr>
          <p:nvPr/>
        </p:nvGrpSpPr>
        <p:grpSpPr bwMode="auto">
          <a:xfrm>
            <a:off x="3159683" y="5813425"/>
            <a:ext cx="1463675" cy="782638"/>
            <a:chOff x="1298" y="3558"/>
            <a:chExt cx="846" cy="422"/>
          </a:xfrm>
        </p:grpSpPr>
        <p:sp>
          <p:nvSpPr>
            <p:cNvPr id="18" name="Text Box 81">
              <a:extLst>
                <a:ext uri="{FF2B5EF4-FFF2-40B4-BE49-F238E27FC236}">
                  <a16:creationId xmlns:a16="http://schemas.microsoft.com/office/drawing/2014/main" id="{D5FC0E87-D2DC-40E4-B068-89269FF82F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8" y="3700"/>
              <a:ext cx="846" cy="2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zh-CN" altLang="en-US" sz="2800">
                  <a:solidFill>
                    <a:srgbClr val="FF3300"/>
                  </a:solidFill>
                </a:rPr>
                <a:t>牙顶</a:t>
              </a:r>
            </a:p>
          </p:txBody>
        </p:sp>
        <p:sp>
          <p:nvSpPr>
            <p:cNvPr id="19" name="Line 82">
              <a:extLst>
                <a:ext uri="{FF2B5EF4-FFF2-40B4-BE49-F238E27FC236}">
                  <a16:creationId xmlns:a16="http://schemas.microsoft.com/office/drawing/2014/main" id="{F5ECAFE2-3C98-483F-B51F-2458DC7CB4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88" y="3558"/>
              <a:ext cx="186" cy="186"/>
            </a:xfrm>
            <a:prstGeom prst="line">
              <a:avLst/>
            </a:prstGeom>
            <a:noFill/>
            <a:ln w="5080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0" name="Group 83">
            <a:extLst>
              <a:ext uri="{FF2B5EF4-FFF2-40B4-BE49-F238E27FC236}">
                <a16:creationId xmlns:a16="http://schemas.microsoft.com/office/drawing/2014/main" id="{5DE5D607-DFA4-443E-8A07-BF17B9DB4ED1}"/>
              </a:ext>
            </a:extLst>
          </p:cNvPr>
          <p:cNvGrpSpPr>
            <a:grpSpLocks/>
          </p:cNvGrpSpPr>
          <p:nvPr/>
        </p:nvGrpSpPr>
        <p:grpSpPr bwMode="auto">
          <a:xfrm>
            <a:off x="5063096" y="4076700"/>
            <a:ext cx="2868612" cy="1511300"/>
            <a:chOff x="2272" y="2212"/>
            <a:chExt cx="1807" cy="982"/>
          </a:xfrm>
        </p:grpSpPr>
        <p:sp>
          <p:nvSpPr>
            <p:cNvPr id="21" name="Line 84">
              <a:extLst>
                <a:ext uri="{FF2B5EF4-FFF2-40B4-BE49-F238E27FC236}">
                  <a16:creationId xmlns:a16="http://schemas.microsoft.com/office/drawing/2014/main" id="{10A0286C-9870-4CA4-9782-C71D14E01B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72" y="2219"/>
              <a:ext cx="1767" cy="0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85">
              <a:extLst>
                <a:ext uri="{FF2B5EF4-FFF2-40B4-BE49-F238E27FC236}">
                  <a16:creationId xmlns:a16="http://schemas.microsoft.com/office/drawing/2014/main" id="{0EF6CF56-318B-4F72-B0E2-3D4E05F114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55" y="3187"/>
              <a:ext cx="1724" cy="0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86">
              <a:extLst>
                <a:ext uri="{FF2B5EF4-FFF2-40B4-BE49-F238E27FC236}">
                  <a16:creationId xmlns:a16="http://schemas.microsoft.com/office/drawing/2014/main" id="{3CF2333D-B01D-403E-A62A-09E72021A8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46" y="2212"/>
              <a:ext cx="0" cy="982"/>
            </a:xfrm>
            <a:prstGeom prst="line">
              <a:avLst/>
            </a:prstGeom>
            <a:noFill/>
            <a:ln w="19050">
              <a:solidFill>
                <a:srgbClr val="CC0099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Text Box 87">
              <a:extLst>
                <a:ext uri="{FF2B5EF4-FFF2-40B4-BE49-F238E27FC236}">
                  <a16:creationId xmlns:a16="http://schemas.microsoft.com/office/drawing/2014/main" id="{15D6C21A-38CA-4209-A1E3-13F3CD1D50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2708" y="2498"/>
              <a:ext cx="582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0" lang="zh-CN" altLang="en-US" sz="2800">
                  <a:solidFill>
                    <a:srgbClr val="CC0099"/>
                  </a:solidFill>
                </a:rPr>
                <a:t>小径</a:t>
              </a:r>
            </a:p>
          </p:txBody>
        </p:sp>
      </p:grpSp>
      <p:grpSp>
        <p:nvGrpSpPr>
          <p:cNvPr id="25" name="Group 88">
            <a:extLst>
              <a:ext uri="{FF2B5EF4-FFF2-40B4-BE49-F238E27FC236}">
                <a16:creationId xmlns:a16="http://schemas.microsoft.com/office/drawing/2014/main" id="{12EC5EFA-F69A-4B27-8CB5-1270C6C4DDD0}"/>
              </a:ext>
            </a:extLst>
          </p:cNvPr>
          <p:cNvGrpSpPr>
            <a:grpSpLocks/>
          </p:cNvGrpSpPr>
          <p:nvPr/>
        </p:nvGrpSpPr>
        <p:grpSpPr bwMode="auto">
          <a:xfrm>
            <a:off x="5290108" y="3859213"/>
            <a:ext cx="2876550" cy="1954212"/>
            <a:chOff x="2617" y="2102"/>
            <a:chExt cx="1812" cy="1231"/>
          </a:xfrm>
        </p:grpSpPr>
        <p:sp>
          <p:nvSpPr>
            <p:cNvPr id="26" name="Line 89">
              <a:extLst>
                <a:ext uri="{FF2B5EF4-FFF2-40B4-BE49-F238E27FC236}">
                  <a16:creationId xmlns:a16="http://schemas.microsoft.com/office/drawing/2014/main" id="{B6E55283-AE2F-4EE3-88E6-7B8759B0A3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25" y="2109"/>
              <a:ext cx="1804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Line 90">
              <a:extLst>
                <a:ext uri="{FF2B5EF4-FFF2-40B4-BE49-F238E27FC236}">
                  <a16:creationId xmlns:a16="http://schemas.microsoft.com/office/drawing/2014/main" id="{C8D93F8F-390A-43E1-A883-A8C89BAB41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7" y="3333"/>
              <a:ext cx="1745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91">
              <a:extLst>
                <a:ext uri="{FF2B5EF4-FFF2-40B4-BE49-F238E27FC236}">
                  <a16:creationId xmlns:a16="http://schemas.microsoft.com/office/drawing/2014/main" id="{695E44A1-61BE-4F20-8B70-6E588299EC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22" y="2102"/>
              <a:ext cx="5" cy="123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Text Box 92">
              <a:extLst>
                <a:ext uri="{FF2B5EF4-FFF2-40B4-BE49-F238E27FC236}">
                  <a16:creationId xmlns:a16="http://schemas.microsoft.com/office/drawing/2014/main" id="{D7F927B3-FB3E-4A03-8311-EB0E51444A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384" y="2543"/>
              <a:ext cx="564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0" lang="zh-CN" altLang="en-US" sz="2800">
                  <a:solidFill>
                    <a:schemeClr val="accent2"/>
                  </a:solidFill>
                </a:rPr>
                <a:t>大径</a:t>
              </a:r>
            </a:p>
          </p:txBody>
        </p:sp>
      </p:grpSp>
      <p:sp>
        <p:nvSpPr>
          <p:cNvPr id="32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  <p:sp>
        <p:nvSpPr>
          <p:cNvPr id="31" name="Text Box 3">
            <a:extLst>
              <a:ext uri="{FF2B5EF4-FFF2-40B4-BE49-F238E27FC236}">
                <a16:creationId xmlns:a16="http://schemas.microsoft.com/office/drawing/2014/main" id="{6632F81A-10AF-4B3F-B871-62E403DD5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092" y="785794"/>
            <a:ext cx="30702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二、螺纹结构要素</a:t>
            </a:r>
          </a:p>
        </p:txBody>
      </p:sp>
      <p:sp>
        <p:nvSpPr>
          <p:cNvPr id="33" name="Text Box 68">
            <a:extLst>
              <a:ext uri="{FF2B5EF4-FFF2-40B4-BE49-F238E27FC236}">
                <a16:creationId xmlns:a16="http://schemas.microsoft.com/office/drawing/2014/main" id="{FCD0102A-FDC1-4F26-8F85-2FA528B153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406" y="1538277"/>
            <a:ext cx="3898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 dirty="0">
                <a:latin typeface="宋体" pitchFamily="2" charset="-122"/>
              </a:rPr>
              <a:t>2.</a:t>
            </a:r>
            <a:r>
              <a:rPr lang="zh-CN" altLang="en-US" sz="2400" b="1" dirty="0">
                <a:latin typeface="宋体" pitchFamily="2" charset="-122"/>
              </a:rPr>
              <a:t>螺纹的大径、小径和中径</a:t>
            </a:r>
          </a:p>
        </p:txBody>
      </p:sp>
      <p:sp>
        <p:nvSpPr>
          <p:cNvPr id="34" name="Text Box 69">
            <a:extLst>
              <a:ext uri="{FF2B5EF4-FFF2-40B4-BE49-F238E27FC236}">
                <a16:creationId xmlns:a16="http://schemas.microsoft.com/office/drawing/2014/main" id="{6FB1A8DF-8AA4-4C3E-A623-AFBF0B125A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970" y="2038641"/>
            <a:ext cx="94650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大径</a:t>
            </a:r>
            <a:r>
              <a:rPr lang="zh-CN" altLang="en-US" sz="2400" dirty="0">
                <a:latin typeface="宋体" pitchFamily="2" charset="-122"/>
              </a:rPr>
              <a:t>：与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外螺纹牙顶</a:t>
            </a:r>
            <a:r>
              <a:rPr lang="zh-CN" altLang="en-US" sz="2400" dirty="0">
                <a:latin typeface="宋体" pitchFamily="2" charset="-122"/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内螺纹牙底</a:t>
            </a:r>
            <a:r>
              <a:rPr lang="zh-CN" altLang="en-US" sz="2400" dirty="0">
                <a:latin typeface="宋体" pitchFamily="2" charset="-122"/>
              </a:rPr>
              <a:t>相切的假想圆柱面的直径。</a:t>
            </a:r>
            <a:r>
              <a:rPr lang="en-US" altLang="zh-CN" sz="2400" dirty="0">
                <a:latin typeface="宋体" pitchFamily="2" charset="-122"/>
              </a:rPr>
              <a:t>D</a:t>
            </a:r>
            <a:r>
              <a:rPr lang="zh-CN" altLang="en-US" sz="2400" dirty="0">
                <a:latin typeface="宋体" pitchFamily="2" charset="-122"/>
              </a:rPr>
              <a:t>、</a:t>
            </a:r>
            <a:r>
              <a:rPr lang="en-US" altLang="zh-CN" sz="2400" dirty="0">
                <a:latin typeface="宋体" pitchFamily="2" charset="-122"/>
              </a:rPr>
              <a:t>d</a:t>
            </a:r>
          </a:p>
        </p:txBody>
      </p:sp>
      <p:sp>
        <p:nvSpPr>
          <p:cNvPr id="35" name="Text Box 70">
            <a:extLst>
              <a:ext uri="{FF2B5EF4-FFF2-40B4-BE49-F238E27FC236}">
                <a16:creationId xmlns:a16="http://schemas.microsoft.com/office/drawing/2014/main" id="{C67F0F81-B624-402F-BD81-1830DF085A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0512" y="2528996"/>
            <a:ext cx="946507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小径</a:t>
            </a:r>
            <a:r>
              <a:rPr lang="zh-CN" altLang="en-US" sz="2400" dirty="0">
                <a:latin typeface="宋体" pitchFamily="2" charset="-122"/>
              </a:rPr>
              <a:t>：与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外螺纹牙底</a:t>
            </a:r>
            <a:r>
              <a:rPr lang="zh-CN" altLang="en-US" sz="2400" dirty="0">
                <a:latin typeface="宋体" pitchFamily="2" charset="-122"/>
              </a:rPr>
              <a:t>或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内螺纹牙顶</a:t>
            </a:r>
            <a:r>
              <a:rPr lang="zh-CN" altLang="en-US" sz="2400" dirty="0">
                <a:latin typeface="宋体" pitchFamily="2" charset="-122"/>
              </a:rPr>
              <a:t>相切的假想圆柱面的直径。 </a:t>
            </a:r>
            <a:r>
              <a:rPr lang="en-US" altLang="zh-CN" sz="2400" dirty="0">
                <a:latin typeface="宋体" pitchFamily="2" charset="-122"/>
              </a:rPr>
              <a:t>D</a:t>
            </a:r>
            <a:r>
              <a:rPr lang="en-US" altLang="zh-CN" sz="2400" baseline="-25000" dirty="0">
                <a:latin typeface="宋体" pitchFamily="2" charset="-122"/>
              </a:rPr>
              <a:t>1</a:t>
            </a:r>
            <a:r>
              <a:rPr lang="zh-CN" altLang="en-US" sz="2400" dirty="0">
                <a:latin typeface="宋体" pitchFamily="2" charset="-122"/>
              </a:rPr>
              <a:t>、</a:t>
            </a:r>
            <a:r>
              <a:rPr lang="en-US" altLang="zh-CN" sz="2400" dirty="0">
                <a:latin typeface="宋体" pitchFamily="2" charset="-122"/>
              </a:rPr>
              <a:t>d</a:t>
            </a:r>
            <a:r>
              <a:rPr lang="en-US" altLang="zh-CN" sz="2400" baseline="-25000" dirty="0">
                <a:latin typeface="宋体" pitchFamily="2" charset="-122"/>
              </a:rPr>
              <a:t>1</a:t>
            </a:r>
            <a:endParaRPr lang="en-US" altLang="zh-CN" sz="2400" dirty="0">
              <a:latin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8648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75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75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 autoUpdateAnimBg="0"/>
      <p:bldP spid="35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2">
            <a:extLst>
              <a:ext uri="{FF2B5EF4-FFF2-40B4-BE49-F238E27FC236}">
                <a16:creationId xmlns:a16="http://schemas.microsoft.com/office/drawing/2014/main" id="{3E6ACE63-DE28-4646-8C47-BC1A5B23DC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197" t="21725" r="48640" b="44650"/>
          <a:stretch>
            <a:fillRect/>
          </a:stretch>
        </p:blipFill>
        <p:spPr bwMode="auto">
          <a:xfrm>
            <a:off x="6262092" y="3456286"/>
            <a:ext cx="2154238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图片 71">
            <a:extLst>
              <a:ext uri="{FF2B5EF4-FFF2-40B4-BE49-F238E27FC236}">
                <a16:creationId xmlns:a16="http://schemas.microsoft.com/office/drawing/2014/main" id="{7760E438-EAB4-4268-A463-E8F9399EFDD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6" t="21725" r="78171" b="44650"/>
          <a:stretch>
            <a:fillRect/>
          </a:stretch>
        </p:blipFill>
        <p:spPr bwMode="auto">
          <a:xfrm>
            <a:off x="2956917" y="3456286"/>
            <a:ext cx="2759075" cy="1857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2">
            <a:extLst>
              <a:ext uri="{FF2B5EF4-FFF2-40B4-BE49-F238E27FC236}">
                <a16:creationId xmlns:a16="http://schemas.microsoft.com/office/drawing/2014/main" id="{8D607953-BD55-4E39-9DCA-DCFA9D9B12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7980" y="5953423"/>
            <a:ext cx="1885950" cy="579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3200">
                <a:solidFill>
                  <a:srgbClr val="002060"/>
                </a:solidFill>
              </a:rPr>
              <a:t> </a:t>
            </a:r>
            <a:r>
              <a:rPr lang="zh-CN" altLang="en-US" sz="3200">
                <a:solidFill>
                  <a:srgbClr val="002060"/>
                </a:solidFill>
              </a:rPr>
              <a:t>外螺纹</a:t>
            </a:r>
            <a:endParaRPr lang="zh-CN" altLang="en-US" b="0">
              <a:solidFill>
                <a:srgbClr val="002060"/>
              </a:solidFill>
            </a:endParaRP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E9A7A99E-48FA-4332-A964-11A7FD1F5C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5555" y="5948661"/>
            <a:ext cx="1612900" cy="579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200">
                <a:solidFill>
                  <a:srgbClr val="002060"/>
                </a:solidFill>
              </a:rPr>
              <a:t>内螺纹</a:t>
            </a:r>
            <a:endParaRPr lang="zh-CN" altLang="en-US" b="0">
              <a:solidFill>
                <a:srgbClr val="002060"/>
              </a:solidFill>
            </a:endParaRPr>
          </a:p>
        </p:txBody>
      </p:sp>
      <p:sp>
        <p:nvSpPr>
          <p:cNvPr id="6" name="Line 20">
            <a:extLst>
              <a:ext uri="{FF2B5EF4-FFF2-40B4-BE49-F238E27FC236}">
                <a16:creationId xmlns:a16="http://schemas.microsoft.com/office/drawing/2014/main" id="{809460B9-9C2E-4974-89D7-2397F7DBFBC1}"/>
              </a:ext>
            </a:extLst>
          </p:cNvPr>
          <p:cNvSpPr>
            <a:spLocks noChangeShapeType="1"/>
          </p:cNvSpPr>
          <p:nvPr/>
        </p:nvSpPr>
        <p:spPr bwMode="auto">
          <a:xfrm>
            <a:off x="2423517" y="3781723"/>
            <a:ext cx="8045450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21">
            <a:extLst>
              <a:ext uri="{FF2B5EF4-FFF2-40B4-BE49-F238E27FC236}">
                <a16:creationId xmlns:a16="http://schemas.microsoft.com/office/drawing/2014/main" id="{F6C04823-EB95-4B30-B179-583A805203E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07692" y="4721523"/>
            <a:ext cx="6630988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" name="Group 47">
            <a:extLst>
              <a:ext uri="{FF2B5EF4-FFF2-40B4-BE49-F238E27FC236}">
                <a16:creationId xmlns:a16="http://schemas.microsoft.com/office/drawing/2014/main" id="{50F09195-4DBA-4D92-9E07-FE08F7396F70}"/>
              </a:ext>
            </a:extLst>
          </p:cNvPr>
          <p:cNvGrpSpPr>
            <a:grpSpLocks/>
          </p:cNvGrpSpPr>
          <p:nvPr/>
        </p:nvGrpSpPr>
        <p:grpSpPr bwMode="auto">
          <a:xfrm>
            <a:off x="3183930" y="2859386"/>
            <a:ext cx="1343025" cy="904875"/>
            <a:chOff x="322" y="3336"/>
            <a:chExt cx="846" cy="570"/>
          </a:xfrm>
        </p:grpSpPr>
        <p:sp>
          <p:nvSpPr>
            <p:cNvPr id="9" name="Text Box 48">
              <a:extLst>
                <a:ext uri="{FF2B5EF4-FFF2-40B4-BE49-F238E27FC236}">
                  <a16:creationId xmlns:a16="http://schemas.microsoft.com/office/drawing/2014/main" id="{76DBE0A7-177F-47B7-A484-D4060B1DEE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" y="3336"/>
              <a:ext cx="846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zh-CN" altLang="en-US" sz="3200"/>
                <a:t>牙顶</a:t>
              </a:r>
            </a:p>
          </p:txBody>
        </p:sp>
        <p:sp>
          <p:nvSpPr>
            <p:cNvPr id="10" name="Line 49">
              <a:extLst>
                <a:ext uri="{FF2B5EF4-FFF2-40B4-BE49-F238E27FC236}">
                  <a16:creationId xmlns:a16="http://schemas.microsoft.com/office/drawing/2014/main" id="{AF21EAAF-500B-408F-A5B9-1E378C2CA5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9" y="3701"/>
              <a:ext cx="148" cy="205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50">
            <a:extLst>
              <a:ext uri="{FF2B5EF4-FFF2-40B4-BE49-F238E27FC236}">
                <a16:creationId xmlns:a16="http://schemas.microsoft.com/office/drawing/2014/main" id="{5C625C14-AEFF-4DAE-91F4-5CBA6A0B5F15}"/>
              </a:ext>
            </a:extLst>
          </p:cNvPr>
          <p:cNvGrpSpPr>
            <a:grpSpLocks/>
          </p:cNvGrpSpPr>
          <p:nvPr/>
        </p:nvGrpSpPr>
        <p:grpSpPr bwMode="auto">
          <a:xfrm>
            <a:off x="2755305" y="4732636"/>
            <a:ext cx="1263650" cy="1231900"/>
            <a:chOff x="436" y="1391"/>
            <a:chExt cx="796" cy="776"/>
          </a:xfrm>
        </p:grpSpPr>
        <p:sp>
          <p:nvSpPr>
            <p:cNvPr id="12" name="Text Box 51">
              <a:extLst>
                <a:ext uri="{FF2B5EF4-FFF2-40B4-BE49-F238E27FC236}">
                  <a16:creationId xmlns:a16="http://schemas.microsoft.com/office/drawing/2014/main" id="{65F183CD-E35E-4280-BB21-2F56944EE4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6" y="1802"/>
              <a:ext cx="71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zh-CN" altLang="en-US" sz="3200"/>
                <a:t>牙底</a:t>
              </a:r>
            </a:p>
          </p:txBody>
        </p:sp>
        <p:sp>
          <p:nvSpPr>
            <p:cNvPr id="13" name="Line 52">
              <a:extLst>
                <a:ext uri="{FF2B5EF4-FFF2-40B4-BE49-F238E27FC236}">
                  <a16:creationId xmlns:a16="http://schemas.microsoft.com/office/drawing/2014/main" id="{4237A86D-1F2A-4981-8A8A-9D4FF63CE6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31" y="1391"/>
              <a:ext cx="201" cy="454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" name="Group 53">
            <a:extLst>
              <a:ext uri="{FF2B5EF4-FFF2-40B4-BE49-F238E27FC236}">
                <a16:creationId xmlns:a16="http://schemas.microsoft.com/office/drawing/2014/main" id="{98509509-73BF-488D-B7DB-C1E52BE6ADE3}"/>
              </a:ext>
            </a:extLst>
          </p:cNvPr>
          <p:cNvGrpSpPr>
            <a:grpSpLocks/>
          </p:cNvGrpSpPr>
          <p:nvPr/>
        </p:nvGrpSpPr>
        <p:grpSpPr bwMode="auto">
          <a:xfrm>
            <a:off x="6789142" y="3822998"/>
            <a:ext cx="1538288" cy="2212975"/>
            <a:chOff x="3593" y="2363"/>
            <a:chExt cx="969" cy="1394"/>
          </a:xfrm>
        </p:grpSpPr>
        <p:sp>
          <p:nvSpPr>
            <p:cNvPr id="15" name="Text Box 54">
              <a:extLst>
                <a:ext uri="{FF2B5EF4-FFF2-40B4-BE49-F238E27FC236}">
                  <a16:creationId xmlns:a16="http://schemas.microsoft.com/office/drawing/2014/main" id="{14F9C985-51F1-46B2-8495-03EE6F6391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3" y="3392"/>
              <a:ext cx="969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zh-CN" altLang="en-US" sz="3200"/>
                <a:t>牙底</a:t>
              </a:r>
            </a:p>
          </p:txBody>
        </p:sp>
        <p:sp>
          <p:nvSpPr>
            <p:cNvPr id="16" name="Line 55">
              <a:extLst>
                <a:ext uri="{FF2B5EF4-FFF2-40B4-BE49-F238E27FC236}">
                  <a16:creationId xmlns:a16="http://schemas.microsoft.com/office/drawing/2014/main" id="{12F99E58-D6EB-4954-BE6F-5F8AFB508C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9" y="2363"/>
              <a:ext cx="312" cy="984"/>
            </a:xfrm>
            <a:prstGeom prst="line">
              <a:avLst/>
            </a:prstGeom>
            <a:noFill/>
            <a:ln w="5080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56">
            <a:extLst>
              <a:ext uri="{FF2B5EF4-FFF2-40B4-BE49-F238E27FC236}">
                <a16:creationId xmlns:a16="http://schemas.microsoft.com/office/drawing/2014/main" id="{6FAD4C1C-1F6A-42C2-BEBE-ED7DF79935A0}"/>
              </a:ext>
            </a:extLst>
          </p:cNvPr>
          <p:cNvGrpSpPr>
            <a:grpSpLocks/>
          </p:cNvGrpSpPr>
          <p:nvPr/>
        </p:nvGrpSpPr>
        <p:grpSpPr bwMode="auto">
          <a:xfrm>
            <a:off x="7001867" y="2603798"/>
            <a:ext cx="1293813" cy="1177925"/>
            <a:chOff x="3970" y="1895"/>
            <a:chExt cx="815" cy="742"/>
          </a:xfrm>
        </p:grpSpPr>
        <p:sp>
          <p:nvSpPr>
            <p:cNvPr id="18" name="Text Box 57">
              <a:extLst>
                <a:ext uri="{FF2B5EF4-FFF2-40B4-BE49-F238E27FC236}">
                  <a16:creationId xmlns:a16="http://schemas.microsoft.com/office/drawing/2014/main" id="{E76156B6-5EAC-4547-85FC-B5291FC627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83" y="1895"/>
              <a:ext cx="802" cy="3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 eaLnBrk="1" hangingPunct="1"/>
              <a:r>
                <a:rPr lang="zh-CN" altLang="en-US" sz="3200"/>
                <a:t>牙顶</a:t>
              </a:r>
            </a:p>
          </p:txBody>
        </p:sp>
        <p:sp>
          <p:nvSpPr>
            <p:cNvPr id="19" name="Line 58">
              <a:extLst>
                <a:ext uri="{FF2B5EF4-FFF2-40B4-BE49-F238E27FC236}">
                  <a16:creationId xmlns:a16="http://schemas.microsoft.com/office/drawing/2014/main" id="{44052A35-2C90-44F4-8B17-57AC751FE74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70" y="2219"/>
              <a:ext cx="375" cy="418"/>
            </a:xfrm>
            <a:prstGeom prst="line">
              <a:avLst/>
            </a:prstGeom>
            <a:noFill/>
            <a:ln w="50800">
              <a:solidFill>
                <a:srgbClr val="00B0F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" name="Line 59">
            <a:extLst>
              <a:ext uri="{FF2B5EF4-FFF2-40B4-BE49-F238E27FC236}">
                <a16:creationId xmlns:a16="http://schemas.microsoft.com/office/drawing/2014/main" id="{8DD9753D-5A65-47CD-8F2A-7AE60F32C4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0281642" y="3764261"/>
            <a:ext cx="0" cy="1998662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sm" len="lg"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Text Box 60">
            <a:extLst>
              <a:ext uri="{FF2B5EF4-FFF2-40B4-BE49-F238E27FC236}">
                <a16:creationId xmlns:a16="http://schemas.microsoft.com/office/drawing/2014/main" id="{FD23D247-6C36-40C5-BEDE-32910B0A8B4C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9294217" y="4496099"/>
            <a:ext cx="155892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/>
              <a:t>大径 </a:t>
            </a:r>
            <a:r>
              <a:rPr lang="en-US" altLang="zh-CN"/>
              <a:t>D</a:t>
            </a:r>
            <a:r>
              <a:rPr lang="zh-CN" altLang="en-US"/>
              <a:t>、</a:t>
            </a:r>
            <a:r>
              <a:rPr lang="en-US" altLang="zh-CN"/>
              <a:t>d</a:t>
            </a:r>
          </a:p>
        </p:txBody>
      </p:sp>
      <p:sp>
        <p:nvSpPr>
          <p:cNvPr id="22" name="Text Box 61">
            <a:extLst>
              <a:ext uri="{FF2B5EF4-FFF2-40B4-BE49-F238E27FC236}">
                <a16:creationId xmlns:a16="http://schemas.microsoft.com/office/drawing/2014/main" id="{17FC77BB-2AE5-4248-B2BA-B53C4867DF12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184555" y="5608936"/>
            <a:ext cx="1797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/>
              <a:t>小径</a:t>
            </a:r>
            <a:r>
              <a:rPr lang="en-US" altLang="zh-CN"/>
              <a:t>D</a:t>
            </a:r>
            <a:r>
              <a:rPr lang="en-US" altLang="zh-CN" baseline="-25000"/>
              <a:t>1</a:t>
            </a:r>
            <a:r>
              <a:rPr lang="zh-CN" altLang="en-US"/>
              <a:t>、</a:t>
            </a:r>
            <a:r>
              <a:rPr lang="en-US" altLang="zh-CN"/>
              <a:t>d</a:t>
            </a:r>
            <a:r>
              <a:rPr lang="en-US" altLang="zh-CN" baseline="-25000"/>
              <a:t>1</a:t>
            </a:r>
            <a:endParaRPr lang="en-US" altLang="zh-CN" b="0"/>
          </a:p>
        </p:txBody>
      </p:sp>
      <p:sp>
        <p:nvSpPr>
          <p:cNvPr id="23" name="Line 62">
            <a:extLst>
              <a:ext uri="{FF2B5EF4-FFF2-40B4-BE49-F238E27FC236}">
                <a16:creationId xmlns:a16="http://schemas.microsoft.com/office/drawing/2014/main" id="{62BFD556-0D86-4204-8AF2-7515BA70210E}"/>
              </a:ext>
            </a:extLst>
          </p:cNvPr>
          <p:cNvSpPr>
            <a:spLocks noChangeShapeType="1"/>
          </p:cNvSpPr>
          <p:nvPr/>
        </p:nvSpPr>
        <p:spPr bwMode="auto">
          <a:xfrm>
            <a:off x="9332317" y="4710411"/>
            <a:ext cx="0" cy="1666875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sm" len="lg"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Line 64">
            <a:extLst>
              <a:ext uri="{FF2B5EF4-FFF2-40B4-BE49-F238E27FC236}">
                <a16:creationId xmlns:a16="http://schemas.microsoft.com/office/drawing/2014/main" id="{422F9491-1F4C-4F4D-9DF1-7555A86C907C}"/>
              </a:ext>
            </a:extLst>
          </p:cNvPr>
          <p:cNvSpPr>
            <a:spLocks noChangeShapeType="1"/>
          </p:cNvSpPr>
          <p:nvPr/>
        </p:nvSpPr>
        <p:spPr bwMode="auto">
          <a:xfrm>
            <a:off x="9768880" y="4270673"/>
            <a:ext cx="0" cy="1874838"/>
          </a:xfrm>
          <a:prstGeom prst="line">
            <a:avLst/>
          </a:prstGeom>
          <a:noFill/>
          <a:ln w="19050">
            <a:solidFill>
              <a:srgbClr val="0070C0"/>
            </a:solidFill>
            <a:round/>
            <a:headEnd type="triangle" w="sm" len="lg"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Text Box 65">
            <a:extLst>
              <a:ext uri="{FF2B5EF4-FFF2-40B4-BE49-F238E27FC236}">
                <a16:creationId xmlns:a16="http://schemas.microsoft.com/office/drawing/2014/main" id="{67F77D67-F7CF-4735-B694-923059ADEAAD}"/>
              </a:ext>
            </a:extLst>
          </p:cNvPr>
          <p:cNvSpPr txBox="1">
            <a:spLocks noChangeArrowheads="1"/>
          </p:cNvSpPr>
          <p:nvPr/>
        </p:nvSpPr>
        <p:spPr bwMode="auto">
          <a:xfrm rot="-5400000">
            <a:off x="8667155" y="4942186"/>
            <a:ext cx="17970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>
                <a:solidFill>
                  <a:srgbClr val="002060"/>
                </a:solidFill>
              </a:rPr>
              <a:t>中径</a:t>
            </a:r>
            <a:r>
              <a:rPr lang="en-US" altLang="zh-CN">
                <a:solidFill>
                  <a:srgbClr val="002060"/>
                </a:solidFill>
              </a:rPr>
              <a:t>D</a:t>
            </a:r>
            <a:r>
              <a:rPr lang="en-US" altLang="zh-CN" baseline="-25000">
                <a:solidFill>
                  <a:srgbClr val="002060"/>
                </a:solidFill>
              </a:rPr>
              <a:t>2</a:t>
            </a:r>
            <a:r>
              <a:rPr lang="zh-CN" altLang="en-US">
                <a:solidFill>
                  <a:srgbClr val="002060"/>
                </a:solidFill>
              </a:rPr>
              <a:t>、</a:t>
            </a:r>
            <a:r>
              <a:rPr lang="en-US" altLang="zh-CN">
                <a:solidFill>
                  <a:srgbClr val="002060"/>
                </a:solidFill>
              </a:rPr>
              <a:t>d</a:t>
            </a:r>
            <a:r>
              <a:rPr lang="en-US" altLang="zh-CN" baseline="-25000">
                <a:solidFill>
                  <a:srgbClr val="002060"/>
                </a:solidFill>
              </a:rPr>
              <a:t>2</a:t>
            </a:r>
            <a:endParaRPr lang="en-US" altLang="zh-CN" b="0">
              <a:solidFill>
                <a:srgbClr val="002060"/>
              </a:solidFill>
            </a:endParaRPr>
          </a:p>
        </p:txBody>
      </p:sp>
      <p:sp>
        <p:nvSpPr>
          <p:cNvPr id="26" name="Text Box 66">
            <a:extLst>
              <a:ext uri="{FF2B5EF4-FFF2-40B4-BE49-F238E27FC236}">
                <a16:creationId xmlns:a16="http://schemas.microsoft.com/office/drawing/2014/main" id="{92C6F819-7EEC-40B8-9644-D05479739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38282" y="1428736"/>
            <a:ext cx="2349500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0" lang="zh-CN" altLang="en-US" sz="2800" dirty="0">
                <a:solidFill>
                  <a:srgbClr val="FF3300"/>
                </a:solidFill>
              </a:rPr>
              <a:t>螺纹的中径：</a:t>
            </a:r>
          </a:p>
        </p:txBody>
      </p:sp>
      <p:sp>
        <p:nvSpPr>
          <p:cNvPr id="27" name="Text Box 67">
            <a:extLst>
              <a:ext uri="{FF2B5EF4-FFF2-40B4-BE49-F238E27FC236}">
                <a16:creationId xmlns:a16="http://schemas.microsoft.com/office/drawing/2014/main" id="{E46AACC7-B822-401B-A9AF-C37C10A5B7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3343" y="1500174"/>
            <a:ext cx="585893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en-US" altLang="zh-CN" sz="2400" dirty="0">
                <a:solidFill>
                  <a:schemeClr val="tx2"/>
                </a:solidFill>
                <a:latin typeface="宋体" pitchFamily="2" charset="-122"/>
              </a:rPr>
              <a:t>    </a:t>
            </a:r>
            <a:r>
              <a:rPr kumimoji="0" lang="zh-CN" altLang="en-US" sz="2400" dirty="0">
                <a:solidFill>
                  <a:srgbClr val="002060"/>
                </a:solidFill>
                <a:latin typeface="宋体" pitchFamily="2" charset="-122"/>
              </a:rPr>
              <a:t>一个</a:t>
            </a:r>
            <a:r>
              <a:rPr kumimoji="0" lang="zh-CN" altLang="en-US" sz="2400" dirty="0">
                <a:solidFill>
                  <a:srgbClr val="FF0000"/>
                </a:solidFill>
                <a:latin typeface="宋体" pitchFamily="2" charset="-122"/>
              </a:rPr>
              <a:t>假想圆柱</a:t>
            </a:r>
            <a:r>
              <a:rPr kumimoji="0" lang="zh-CN" altLang="en-US" sz="2400" dirty="0">
                <a:solidFill>
                  <a:srgbClr val="002060"/>
                </a:solidFill>
                <a:latin typeface="宋体" pitchFamily="2" charset="-122"/>
              </a:rPr>
              <a:t>的直径。该圆柱的母线通过牙型上</a:t>
            </a:r>
            <a:r>
              <a:rPr kumimoji="0" lang="zh-CN" altLang="en-US" sz="2400" dirty="0">
                <a:solidFill>
                  <a:srgbClr val="FF3300"/>
                </a:solidFill>
                <a:latin typeface="宋体" pitchFamily="2" charset="-122"/>
              </a:rPr>
              <a:t>沟槽和凸起宽度相等</a:t>
            </a:r>
            <a:r>
              <a:rPr kumimoji="0" lang="zh-CN" altLang="en-US" sz="2400" dirty="0">
                <a:solidFill>
                  <a:srgbClr val="002060"/>
                </a:solidFill>
                <a:latin typeface="宋体" pitchFamily="2" charset="-122"/>
              </a:rPr>
              <a:t>的地方。</a:t>
            </a:r>
          </a:p>
        </p:txBody>
      </p:sp>
      <p:sp>
        <p:nvSpPr>
          <p:cNvPr id="28" name="Text Box 3">
            <a:extLst>
              <a:ext uri="{FF2B5EF4-FFF2-40B4-BE49-F238E27FC236}">
                <a16:creationId xmlns:a16="http://schemas.microsoft.com/office/drawing/2014/main" id="{934CD3B9-AE7C-496A-A08D-354C5C909E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40" y="785794"/>
            <a:ext cx="307022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二、螺纹结构要素</a:t>
            </a:r>
          </a:p>
        </p:txBody>
      </p:sp>
      <p:grpSp>
        <p:nvGrpSpPr>
          <p:cNvPr id="30" name="组合 17">
            <a:extLst>
              <a:ext uri="{FF2B5EF4-FFF2-40B4-BE49-F238E27FC236}">
                <a16:creationId xmlns:a16="http://schemas.microsoft.com/office/drawing/2014/main" id="{5924EF34-9C72-4B19-937D-1EE2960B14B1}"/>
              </a:ext>
            </a:extLst>
          </p:cNvPr>
          <p:cNvGrpSpPr>
            <a:grpSpLocks/>
          </p:cNvGrpSpPr>
          <p:nvPr/>
        </p:nvGrpSpPr>
        <p:grpSpPr bwMode="auto">
          <a:xfrm>
            <a:off x="2020292" y="4270673"/>
            <a:ext cx="7993063" cy="0"/>
            <a:chOff x="889000" y="2688609"/>
            <a:chExt cx="7993063" cy="0"/>
          </a:xfrm>
        </p:grpSpPr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86CE4FFF-75BA-4F98-8BC8-81DBBDCFF2FB}"/>
                </a:ext>
              </a:extLst>
            </p:cNvPr>
            <p:cNvCxnSpPr/>
            <p:nvPr/>
          </p:nvCxnSpPr>
          <p:spPr>
            <a:xfrm>
              <a:off x="889000" y="2688609"/>
              <a:ext cx="192246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连接符 31">
              <a:extLst>
                <a:ext uri="{FF2B5EF4-FFF2-40B4-BE49-F238E27FC236}">
                  <a16:creationId xmlns:a16="http://schemas.microsoft.com/office/drawing/2014/main" id="{DCB7CD4F-5B43-483C-BB6A-F9ACFA3BF3C7}"/>
                </a:ext>
              </a:extLst>
            </p:cNvPr>
            <p:cNvCxnSpPr/>
            <p:nvPr/>
          </p:nvCxnSpPr>
          <p:spPr>
            <a:xfrm>
              <a:off x="2921000" y="2688609"/>
              <a:ext cx="25876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FEBB8ED5-EB44-4F22-8690-2E1D77E03915}"/>
                </a:ext>
              </a:extLst>
            </p:cNvPr>
            <p:cNvCxnSpPr/>
            <p:nvPr/>
          </p:nvCxnSpPr>
          <p:spPr>
            <a:xfrm>
              <a:off x="3375025" y="2688609"/>
              <a:ext cx="128746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id="{4033C153-8D6C-43C8-B77F-545A21A876E6}"/>
                </a:ext>
              </a:extLst>
            </p:cNvPr>
            <p:cNvCxnSpPr/>
            <p:nvPr/>
          </p:nvCxnSpPr>
          <p:spPr>
            <a:xfrm>
              <a:off x="4791075" y="2688609"/>
              <a:ext cx="28257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F9332226-DC96-4180-87BA-41024E3F7E09}"/>
                </a:ext>
              </a:extLst>
            </p:cNvPr>
            <p:cNvCxnSpPr/>
            <p:nvPr/>
          </p:nvCxnSpPr>
          <p:spPr>
            <a:xfrm>
              <a:off x="5286375" y="2688609"/>
              <a:ext cx="2043113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C76208C6-96E2-4AFB-832F-0897FD9D0EF7}"/>
                </a:ext>
              </a:extLst>
            </p:cNvPr>
            <p:cNvCxnSpPr/>
            <p:nvPr/>
          </p:nvCxnSpPr>
          <p:spPr>
            <a:xfrm>
              <a:off x="7424738" y="2688609"/>
              <a:ext cx="192087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96421C7D-B668-4D7B-8A6A-5F7716710FD5}"/>
                </a:ext>
              </a:extLst>
            </p:cNvPr>
            <p:cNvCxnSpPr/>
            <p:nvPr/>
          </p:nvCxnSpPr>
          <p:spPr>
            <a:xfrm>
              <a:off x="7723188" y="2688609"/>
              <a:ext cx="1158875" cy="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1247689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utoUpdateAnimBg="0"/>
      <p:bldP spid="27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>
            <a:extLst>
              <a:ext uri="{FF2B5EF4-FFF2-40B4-BE49-F238E27FC236}">
                <a16:creationId xmlns:a16="http://schemas.microsoft.com/office/drawing/2014/main" id="{8861CB32-7AF5-47D5-8D9C-4DE85E533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20" y="2000240"/>
            <a:ext cx="564435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zh-CN" altLang="en-US" sz="2400" dirty="0">
                <a:latin typeface="宋体" pitchFamily="2" charset="-122"/>
              </a:rPr>
              <a:t>沿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一条螺旋线</a:t>
            </a:r>
            <a:r>
              <a:rPr lang="zh-CN" altLang="en-US" sz="2400" dirty="0">
                <a:latin typeface="宋体" pitchFamily="2" charset="-122"/>
              </a:rPr>
              <a:t>形成的螺纹叫做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单线螺纹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1F9821A2-9B8B-4805-AE94-6F8C3DDDDD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55565" y="5520680"/>
            <a:ext cx="11144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b="1" dirty="0">
                <a:solidFill>
                  <a:srgbClr val="333399"/>
                </a:solidFill>
              </a:rPr>
              <a:t>单线螺纹</a:t>
            </a:r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AFC32EB3-F1C1-4E68-B297-6EA4142BB7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4740" y="5489983"/>
            <a:ext cx="1114408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b="1" dirty="0">
                <a:solidFill>
                  <a:srgbClr val="333399"/>
                </a:solidFill>
              </a:rPr>
              <a:t>双线螺纹</a:t>
            </a:r>
          </a:p>
        </p:txBody>
      </p:sp>
      <p:sp>
        <p:nvSpPr>
          <p:cNvPr id="5" name="Text Box 68">
            <a:extLst>
              <a:ext uri="{FF2B5EF4-FFF2-40B4-BE49-F238E27FC236}">
                <a16:creationId xmlns:a16="http://schemas.microsoft.com/office/drawing/2014/main" id="{EDFB6B33-2BDD-4952-A573-85E8148BAF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968" y="1500174"/>
            <a:ext cx="25090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 dirty="0">
                <a:latin typeface="宋体" pitchFamily="2" charset="-122"/>
              </a:rPr>
              <a:t>3. </a:t>
            </a:r>
            <a:r>
              <a:rPr lang="zh-CN" altLang="en-US" sz="2400" b="1" dirty="0">
                <a:latin typeface="宋体" pitchFamily="2" charset="-122"/>
              </a:rPr>
              <a:t>螺纹的线数 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n</a:t>
            </a:r>
            <a:endParaRPr lang="zh-CN" altLang="en-US" sz="24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34808F-BF4C-49F5-8A8E-BC8607B6988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43526" r="57649"/>
          <a:stretch>
            <a:fillRect/>
          </a:stretch>
        </p:blipFill>
        <p:spPr bwMode="auto">
          <a:xfrm>
            <a:off x="2462250" y="4397227"/>
            <a:ext cx="2243137" cy="10334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734C5A5-D4B2-4874-9285-62DCBB011EC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60100" t="40872"/>
          <a:stretch>
            <a:fillRect/>
          </a:stretch>
        </p:blipFill>
        <p:spPr bwMode="auto">
          <a:xfrm>
            <a:off x="6145177" y="4385797"/>
            <a:ext cx="1939925" cy="993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71BC2A93-5DFA-43D2-8DBC-DD20648356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3968" y="5866606"/>
            <a:ext cx="42037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400" b="1" dirty="0">
                <a:latin typeface="宋体" pitchFamily="2" charset="-122"/>
              </a:rPr>
              <a:t>4. </a:t>
            </a:r>
            <a:r>
              <a:rPr lang="zh-CN" altLang="en-US" sz="2400" b="1" dirty="0">
                <a:latin typeface="宋体" pitchFamily="2" charset="-122"/>
              </a:rPr>
              <a:t>螺距和导程</a:t>
            </a:r>
          </a:p>
        </p:txBody>
      </p:sp>
      <p:sp>
        <p:nvSpPr>
          <p:cNvPr id="10" name="Text Box 7">
            <a:extLst>
              <a:ext uri="{FF2B5EF4-FFF2-40B4-BE49-F238E27FC236}">
                <a16:creationId xmlns:a16="http://schemas.microsoft.com/office/drawing/2014/main" id="{F4158373-0A0F-4ADD-AC32-E50A77CAA2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84687" y="3627289"/>
            <a:ext cx="846138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altLang="zh-CN" sz="2000" b="1">
                <a:solidFill>
                  <a:srgbClr val="FF0000"/>
                </a:solidFill>
              </a:rPr>
              <a:t>=</a:t>
            </a:r>
            <a:r>
              <a:rPr lang="zh-CN" altLang="en-US" sz="2000" b="1">
                <a:solidFill>
                  <a:srgbClr val="FF0000"/>
                </a:solidFill>
              </a:rPr>
              <a:t>导程</a:t>
            </a:r>
          </a:p>
        </p:txBody>
      </p:sp>
      <p:grpSp>
        <p:nvGrpSpPr>
          <p:cNvPr id="11" name="Group 44">
            <a:extLst>
              <a:ext uri="{FF2B5EF4-FFF2-40B4-BE49-F238E27FC236}">
                <a16:creationId xmlns:a16="http://schemas.microsoft.com/office/drawing/2014/main" id="{ED4876BE-4E1E-4AF7-BB60-848308E864A0}"/>
              </a:ext>
            </a:extLst>
          </p:cNvPr>
          <p:cNvGrpSpPr>
            <a:grpSpLocks/>
          </p:cNvGrpSpPr>
          <p:nvPr/>
        </p:nvGrpSpPr>
        <p:grpSpPr bwMode="auto">
          <a:xfrm>
            <a:off x="3127412" y="3644752"/>
            <a:ext cx="1404938" cy="801687"/>
            <a:chOff x="1057" y="2500"/>
            <a:chExt cx="885" cy="505"/>
          </a:xfrm>
        </p:grpSpPr>
        <p:sp>
          <p:nvSpPr>
            <p:cNvPr id="12" name="Text Box 45">
              <a:extLst>
                <a:ext uri="{FF2B5EF4-FFF2-40B4-BE49-F238E27FC236}">
                  <a16:creationId xmlns:a16="http://schemas.microsoft.com/office/drawing/2014/main" id="{F31AE2E0-D0A8-4657-B3FB-C027433771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7" y="2500"/>
              <a:ext cx="50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1800" b="1">
                  <a:solidFill>
                    <a:srgbClr val="FF0000"/>
                  </a:solidFill>
                </a:rPr>
                <a:t>螺距</a:t>
              </a:r>
            </a:p>
          </p:txBody>
        </p:sp>
        <p:sp>
          <p:nvSpPr>
            <p:cNvPr id="13" name="Line 46">
              <a:extLst>
                <a:ext uri="{FF2B5EF4-FFF2-40B4-BE49-F238E27FC236}">
                  <a16:creationId xmlns:a16="http://schemas.microsoft.com/office/drawing/2014/main" id="{8C10B06E-CDCA-4C61-8AC2-B5368CD0EF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57" y="2797"/>
              <a:ext cx="35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4" name="Line 47">
              <a:extLst>
                <a:ext uri="{FF2B5EF4-FFF2-40B4-BE49-F238E27FC236}">
                  <a16:creationId xmlns:a16="http://schemas.microsoft.com/office/drawing/2014/main" id="{5219E9D5-33D0-4F86-A46F-1EC587E82C4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99" y="2697"/>
              <a:ext cx="0" cy="3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5" name="Line 48">
              <a:extLst>
                <a:ext uri="{FF2B5EF4-FFF2-40B4-BE49-F238E27FC236}">
                  <a16:creationId xmlns:a16="http://schemas.microsoft.com/office/drawing/2014/main" id="{431BE8E4-1DF1-44D7-9393-860AC18A03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79" y="2693"/>
              <a:ext cx="0" cy="31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6" name="Line 49">
              <a:extLst>
                <a:ext uri="{FF2B5EF4-FFF2-40B4-BE49-F238E27FC236}">
                  <a16:creationId xmlns:a16="http://schemas.microsoft.com/office/drawing/2014/main" id="{3611FE4D-B352-4688-B418-441291B2FC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96" y="2795"/>
              <a:ext cx="167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17" name="Line 50">
              <a:extLst>
                <a:ext uri="{FF2B5EF4-FFF2-40B4-BE49-F238E27FC236}">
                  <a16:creationId xmlns:a16="http://schemas.microsoft.com/office/drawing/2014/main" id="{1D5A1BEF-9BEC-415F-A35D-121761B25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63" y="2795"/>
              <a:ext cx="379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18" name="Text Box 5">
            <a:extLst>
              <a:ext uri="{FF2B5EF4-FFF2-40B4-BE49-F238E27FC236}">
                <a16:creationId xmlns:a16="http://schemas.microsoft.com/office/drawing/2014/main" id="{55644DE4-6BAF-45CA-B91E-402D29DA3A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43387" y="6054725"/>
            <a:ext cx="23018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单线螺纹：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P=P</a:t>
            </a:r>
            <a:r>
              <a:rPr lang="en-US" altLang="zh-CN" sz="2400" baseline="-25000" dirty="0">
                <a:solidFill>
                  <a:srgbClr val="FF0000"/>
                </a:solidFill>
                <a:latin typeface="宋体" pitchFamily="2" charset="-122"/>
              </a:rPr>
              <a:t>h</a:t>
            </a:r>
            <a:endParaRPr lang="en-US" altLang="zh-CN" sz="2400" dirty="0">
              <a:solidFill>
                <a:srgbClr val="FF0000"/>
              </a:solidFill>
              <a:latin typeface="宋体" pitchFamily="2" charset="-122"/>
            </a:endParaRPr>
          </a:p>
        </p:txBody>
      </p:sp>
      <p:grpSp>
        <p:nvGrpSpPr>
          <p:cNvPr id="19" name="Group 51">
            <a:extLst>
              <a:ext uri="{FF2B5EF4-FFF2-40B4-BE49-F238E27FC236}">
                <a16:creationId xmlns:a16="http://schemas.microsoft.com/office/drawing/2014/main" id="{D6D60169-3DE1-4575-95BB-4209542E49F1}"/>
              </a:ext>
            </a:extLst>
          </p:cNvPr>
          <p:cNvGrpSpPr>
            <a:grpSpLocks/>
          </p:cNvGrpSpPr>
          <p:nvPr/>
        </p:nvGrpSpPr>
        <p:grpSpPr bwMode="auto">
          <a:xfrm>
            <a:off x="7135777" y="3758735"/>
            <a:ext cx="1111250" cy="674687"/>
            <a:chOff x="3018" y="2607"/>
            <a:chExt cx="700" cy="425"/>
          </a:xfrm>
        </p:grpSpPr>
        <p:sp>
          <p:nvSpPr>
            <p:cNvPr id="20" name="Line 52">
              <a:extLst>
                <a:ext uri="{FF2B5EF4-FFF2-40B4-BE49-F238E27FC236}">
                  <a16:creationId xmlns:a16="http://schemas.microsoft.com/office/drawing/2014/main" id="{DAAC01D9-5C91-481C-A813-C3275D4A80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06" y="2844"/>
              <a:ext cx="390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1" name="Text Box 53">
              <a:extLst>
                <a:ext uri="{FF2B5EF4-FFF2-40B4-BE49-F238E27FC236}">
                  <a16:creationId xmlns:a16="http://schemas.microsoft.com/office/drawing/2014/main" id="{261004EA-C98D-4AA1-B831-F0946A0DD3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41" y="2607"/>
              <a:ext cx="377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1600" b="1">
                  <a:solidFill>
                    <a:srgbClr val="FF0000"/>
                  </a:solidFill>
                </a:rPr>
                <a:t>螺距</a:t>
              </a:r>
            </a:p>
          </p:txBody>
        </p:sp>
        <p:sp>
          <p:nvSpPr>
            <p:cNvPr id="22" name="Line 54">
              <a:extLst>
                <a:ext uri="{FF2B5EF4-FFF2-40B4-BE49-F238E27FC236}">
                  <a16:creationId xmlns:a16="http://schemas.microsoft.com/office/drawing/2014/main" id="{C90F6075-1D42-438D-863A-6346E7FA6C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63" y="2797"/>
              <a:ext cx="0" cy="23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3" name="Line 55">
              <a:extLst>
                <a:ext uri="{FF2B5EF4-FFF2-40B4-BE49-F238E27FC236}">
                  <a16:creationId xmlns:a16="http://schemas.microsoft.com/office/drawing/2014/main" id="{2FAF5408-9AFB-4AE2-BB67-408B9E2CEE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3" y="2802"/>
              <a:ext cx="0" cy="22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4" name="Line 56">
              <a:extLst>
                <a:ext uri="{FF2B5EF4-FFF2-40B4-BE49-F238E27FC236}">
                  <a16:creationId xmlns:a16="http://schemas.microsoft.com/office/drawing/2014/main" id="{003C7942-0772-49A8-9B30-B34C63A9D8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63" y="2846"/>
              <a:ext cx="148" cy="1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5" name="Line 57">
              <a:extLst>
                <a:ext uri="{FF2B5EF4-FFF2-40B4-BE49-F238E27FC236}">
                  <a16:creationId xmlns:a16="http://schemas.microsoft.com/office/drawing/2014/main" id="{57F0EA3D-1DAA-43CE-B2AC-5DD6F4DEC0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8" y="2847"/>
              <a:ext cx="14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26" name="Group 58">
            <a:extLst>
              <a:ext uri="{FF2B5EF4-FFF2-40B4-BE49-F238E27FC236}">
                <a16:creationId xmlns:a16="http://schemas.microsoft.com/office/drawing/2014/main" id="{C00A34BB-41F3-4930-AC54-B93CBA9580CC}"/>
              </a:ext>
            </a:extLst>
          </p:cNvPr>
          <p:cNvGrpSpPr>
            <a:grpSpLocks/>
          </p:cNvGrpSpPr>
          <p:nvPr/>
        </p:nvGrpSpPr>
        <p:grpSpPr bwMode="auto">
          <a:xfrm>
            <a:off x="7034177" y="3490447"/>
            <a:ext cx="604838" cy="931863"/>
            <a:chOff x="2954" y="2438"/>
            <a:chExt cx="381" cy="587"/>
          </a:xfrm>
        </p:grpSpPr>
        <p:sp>
          <p:nvSpPr>
            <p:cNvPr id="27" name="Text Box 59">
              <a:extLst>
                <a:ext uri="{FF2B5EF4-FFF2-40B4-BE49-F238E27FC236}">
                  <a16:creationId xmlns:a16="http://schemas.microsoft.com/office/drawing/2014/main" id="{1FFED461-803B-4B62-8AD9-E19CC472D0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54" y="2438"/>
              <a:ext cx="381" cy="2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1600" b="1">
                  <a:solidFill>
                    <a:srgbClr val="FF0000"/>
                  </a:solidFill>
                </a:rPr>
                <a:t>导程</a:t>
              </a:r>
            </a:p>
          </p:txBody>
        </p:sp>
        <p:sp>
          <p:nvSpPr>
            <p:cNvPr id="28" name="Line 60">
              <a:extLst>
                <a:ext uri="{FF2B5EF4-FFF2-40B4-BE49-F238E27FC236}">
                  <a16:creationId xmlns:a16="http://schemas.microsoft.com/office/drawing/2014/main" id="{962AE324-9955-4C60-8D7A-4432E0A54BC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2" y="2671"/>
              <a:ext cx="319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29" name="Line 61">
              <a:extLst>
                <a:ext uri="{FF2B5EF4-FFF2-40B4-BE49-F238E27FC236}">
                  <a16:creationId xmlns:a16="http://schemas.microsoft.com/office/drawing/2014/main" id="{D8E53FD8-467E-40F4-9C7A-3705FA1443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8" y="2607"/>
              <a:ext cx="0" cy="41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0" name="Line 62">
              <a:extLst>
                <a:ext uri="{FF2B5EF4-FFF2-40B4-BE49-F238E27FC236}">
                  <a16:creationId xmlns:a16="http://schemas.microsoft.com/office/drawing/2014/main" id="{E31BA236-7289-4633-8E2C-AAAD0DF2A9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13" y="2611"/>
              <a:ext cx="0" cy="20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31" name="Text Box 6">
            <a:extLst>
              <a:ext uri="{FF2B5EF4-FFF2-40B4-BE49-F238E27FC236}">
                <a16:creationId xmlns:a16="http://schemas.microsoft.com/office/drawing/2014/main" id="{622BBE54-9D54-4FC9-9D4C-FDC2A452C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92635" y="6054725"/>
            <a:ext cx="26130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多线螺纹：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P=P</a:t>
            </a:r>
            <a:r>
              <a:rPr lang="en-US" altLang="zh-CN" sz="2400" baseline="-25000" dirty="0">
                <a:solidFill>
                  <a:srgbClr val="FF0000"/>
                </a:solidFill>
                <a:latin typeface="宋体" pitchFamily="2" charset="-122"/>
              </a:rPr>
              <a:t>h</a:t>
            </a:r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</a:rPr>
              <a:t>/n</a:t>
            </a:r>
          </a:p>
        </p:txBody>
      </p:sp>
      <p:sp>
        <p:nvSpPr>
          <p:cNvPr id="32" name="Text Box 3">
            <a:extLst>
              <a:ext uri="{FF2B5EF4-FFF2-40B4-BE49-F238E27FC236}">
                <a16:creationId xmlns:a16="http://schemas.microsoft.com/office/drawing/2014/main" id="{25FE30F9-0036-4A58-8142-407D170295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40" y="785794"/>
            <a:ext cx="3070225" cy="52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二、螺纹结构要素</a:t>
            </a:r>
          </a:p>
        </p:txBody>
      </p:sp>
      <p:pic>
        <p:nvPicPr>
          <p:cNvPr id="33" name="图片 32">
            <a:extLst>
              <a:ext uri="{FF2B5EF4-FFF2-40B4-BE49-F238E27FC236}">
                <a16:creationId xmlns:a16="http://schemas.microsoft.com/office/drawing/2014/main" id="{BBAA991A-AADD-4D02-8D9A-B05A25FDDE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979269" y="1794718"/>
            <a:ext cx="1406525" cy="18166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4" name="图片 33">
            <a:extLst>
              <a:ext uri="{FF2B5EF4-FFF2-40B4-BE49-F238E27FC236}">
                <a16:creationId xmlns:a16="http://schemas.microsoft.com/office/drawing/2014/main" id="{4DD33332-7996-4F3A-9C08-20D9D3C5F4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0064286" y="3789066"/>
            <a:ext cx="1397000" cy="2382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5" name="矩形 34">
            <a:extLst>
              <a:ext uri="{FF2B5EF4-FFF2-40B4-BE49-F238E27FC236}">
                <a16:creationId xmlns:a16="http://schemas.microsoft.com/office/drawing/2014/main" id="{7D02E845-BFC0-4CF4-85B9-273719209F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09720" y="2500306"/>
            <a:ext cx="765075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itchFamily="2" charset="-122"/>
              </a:rPr>
              <a:t>沿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两条或两条以上</a:t>
            </a:r>
            <a:r>
              <a:rPr lang="zh-CN" altLang="en-US" sz="2400" dirty="0">
                <a:latin typeface="宋体" pitchFamily="2" charset="-122"/>
              </a:rPr>
              <a:t>在轴向等距分布的螺旋线所形成的螺纹叫做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多线螺纹</a:t>
            </a:r>
            <a:r>
              <a:rPr lang="zh-CN" altLang="en-US" sz="2400" dirty="0">
                <a:latin typeface="宋体" pitchFamily="2" charset="-122"/>
              </a:rPr>
              <a:t>。</a:t>
            </a:r>
            <a:endParaRPr lang="zh-CN" altLang="en-US" sz="2400" dirty="0"/>
          </a:p>
        </p:txBody>
      </p:sp>
      <p:sp>
        <p:nvSpPr>
          <p:cNvPr id="36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1038840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75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75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2" grpId="1"/>
      <p:bldP spid="3" grpId="0" autoUpdateAnimBg="0"/>
      <p:bldP spid="3" grpId="1"/>
      <p:bldP spid="4" grpId="0" autoUpdateAnimBg="0"/>
      <p:bldP spid="9" grpId="0"/>
      <p:bldP spid="10" grpId="0" autoUpdateAnimBg="0"/>
      <p:bldP spid="18" grpId="0" autoUpdateAnimBg="0"/>
      <p:bldP spid="18" grpId="1"/>
      <p:bldP spid="31" grpId="0" autoUpdateAnimBg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D4C41532-B68C-40F0-8BA3-A7C51674D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52530" y="1428736"/>
            <a:ext cx="20415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 dirty="0">
                <a:latin typeface="宋体" pitchFamily="2" charset="-122"/>
              </a:rPr>
              <a:t>5.</a:t>
            </a:r>
            <a:r>
              <a:rPr lang="zh-CN" altLang="en-US" sz="2400" b="1" dirty="0">
                <a:latin typeface="宋体" pitchFamily="2" charset="-122"/>
              </a:rPr>
              <a:t>螺纹的旋向</a:t>
            </a:r>
          </a:p>
        </p:txBody>
      </p:sp>
      <p:sp>
        <p:nvSpPr>
          <p:cNvPr id="3" name="Text Box 4">
            <a:extLst>
              <a:ext uri="{FF2B5EF4-FFF2-40B4-BE49-F238E27FC236}">
                <a16:creationId xmlns:a16="http://schemas.microsoft.com/office/drawing/2014/main" id="{A24DE59A-87E8-47FF-B4BE-789316A8B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6155" y="5144877"/>
            <a:ext cx="132238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2400" dirty="0">
                <a:solidFill>
                  <a:srgbClr val="FF0000"/>
                </a:solidFill>
              </a:rPr>
              <a:t>左旋</a:t>
            </a:r>
            <a:endParaRPr lang="zh-CN" altLang="en-US" sz="2400" dirty="0"/>
          </a:p>
        </p:txBody>
      </p:sp>
      <p:sp>
        <p:nvSpPr>
          <p:cNvPr id="4" name="Text Box 5">
            <a:extLst>
              <a:ext uri="{FF2B5EF4-FFF2-40B4-BE49-F238E27FC236}">
                <a16:creationId xmlns:a16="http://schemas.microsoft.com/office/drawing/2014/main" id="{B4C2FF06-0494-4561-AB2A-EF5B3AD1F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448" y="5848140"/>
            <a:ext cx="10585175" cy="52322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5715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miter lim="800000"/>
            <a:headEnd/>
            <a:tailEnd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  <a:defRPr/>
            </a:pP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注意</a:t>
            </a:r>
            <a:r>
              <a:rPr lang="zh-CN" altLang="en-US" sz="2800" dirty="0">
                <a:latin typeface="宋体" panose="02010600030101010101" pitchFamily="2" charset="-122"/>
              </a:rPr>
              <a:t>：只有上述各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要素完全相同</a:t>
            </a:r>
            <a:r>
              <a:rPr lang="zh-CN" altLang="en-US" sz="2800" dirty="0">
                <a:latin typeface="宋体" panose="02010600030101010101" pitchFamily="2" charset="-122"/>
              </a:rPr>
              <a:t>的内、外螺纹才能旋合在一起。</a:t>
            </a:r>
          </a:p>
        </p:txBody>
      </p:sp>
      <p:sp>
        <p:nvSpPr>
          <p:cNvPr id="5" name="AutoShape 98">
            <a:extLst>
              <a:ext uri="{FF2B5EF4-FFF2-40B4-BE49-F238E27FC236}">
                <a16:creationId xmlns:a16="http://schemas.microsoft.com/office/drawing/2014/main" id="{04920E1A-A727-4DF5-8D7B-331EEA319D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4717" y="2558840"/>
            <a:ext cx="141288" cy="671512"/>
          </a:xfrm>
          <a:prstGeom prst="upArrow">
            <a:avLst>
              <a:gd name="adj1" fmla="val 50000"/>
              <a:gd name="adj2" fmla="val 118820"/>
            </a:avLst>
          </a:prstGeom>
          <a:solidFill>
            <a:srgbClr val="33CC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6" name="AutoShape 99">
            <a:extLst>
              <a:ext uri="{FF2B5EF4-FFF2-40B4-BE49-F238E27FC236}">
                <a16:creationId xmlns:a16="http://schemas.microsoft.com/office/drawing/2014/main" id="{47DE9947-3BED-48D5-9F98-C90DBFAE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3055" y="4551152"/>
            <a:ext cx="654050" cy="455613"/>
          </a:xfrm>
          <a:prstGeom prst="curvedLeftArrow">
            <a:avLst>
              <a:gd name="adj1" fmla="val 14634"/>
              <a:gd name="adj2" fmla="val 38329"/>
              <a:gd name="adj3" fmla="val 73824"/>
            </a:avLst>
          </a:prstGeom>
          <a:solidFill>
            <a:srgbClr val="33CC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7" name="AutoShape 100">
            <a:extLst>
              <a:ext uri="{FF2B5EF4-FFF2-40B4-BE49-F238E27FC236}">
                <a16:creationId xmlns:a16="http://schemas.microsoft.com/office/drawing/2014/main" id="{D5EC700F-ED0F-4E29-A2EC-706CCE670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30605" y="2535027"/>
            <a:ext cx="141287" cy="671513"/>
          </a:xfrm>
          <a:prstGeom prst="upArrow">
            <a:avLst>
              <a:gd name="adj1" fmla="val 50000"/>
              <a:gd name="adj2" fmla="val 118821"/>
            </a:avLst>
          </a:prstGeom>
          <a:solidFill>
            <a:srgbClr val="33CC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8" name="AutoShape 101">
            <a:extLst>
              <a:ext uri="{FF2B5EF4-FFF2-40B4-BE49-F238E27FC236}">
                <a16:creationId xmlns:a16="http://schemas.microsoft.com/office/drawing/2014/main" id="{73F483B4-769D-4952-A1F9-399ECDCC8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39980" y="4551152"/>
            <a:ext cx="687387" cy="406400"/>
          </a:xfrm>
          <a:prstGeom prst="curvedRightArrow">
            <a:avLst>
              <a:gd name="adj1" fmla="val 20000"/>
              <a:gd name="adj2" fmla="val 40000"/>
              <a:gd name="adj3" fmla="val 82425"/>
            </a:avLst>
          </a:prstGeom>
          <a:solidFill>
            <a:srgbClr val="33CC33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0" name="Text Box 3">
            <a:extLst>
              <a:ext uri="{FF2B5EF4-FFF2-40B4-BE49-F238E27FC236}">
                <a16:creationId xmlns:a16="http://schemas.microsoft.com/office/drawing/2014/main" id="{45252DC0-1146-437A-822A-D03FC2249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5340" y="714356"/>
            <a:ext cx="30702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宋体" pitchFamily="2" charset="-122"/>
              </a:rPr>
              <a:t>二、螺纹结构要素</a:t>
            </a:r>
          </a:p>
        </p:txBody>
      </p:sp>
      <p:grpSp>
        <p:nvGrpSpPr>
          <p:cNvPr id="11" name="组合 3">
            <a:extLst>
              <a:ext uri="{FF2B5EF4-FFF2-40B4-BE49-F238E27FC236}">
                <a16:creationId xmlns:a16="http://schemas.microsoft.com/office/drawing/2014/main" id="{37649D2A-EB86-47CC-B1BD-83FF007A5C6A}"/>
              </a:ext>
            </a:extLst>
          </p:cNvPr>
          <p:cNvGrpSpPr>
            <a:grpSpLocks/>
          </p:cNvGrpSpPr>
          <p:nvPr/>
        </p:nvGrpSpPr>
        <p:grpSpPr bwMode="auto">
          <a:xfrm>
            <a:off x="4612680" y="2027027"/>
            <a:ext cx="3516312" cy="2511425"/>
            <a:chOff x="2897026" y="1948789"/>
            <a:chExt cx="3516821" cy="2511578"/>
          </a:xfrm>
        </p:grpSpPr>
        <p:pic>
          <p:nvPicPr>
            <p:cNvPr id="12" name="Picture 103" descr="8-10">
              <a:extLst>
                <a:ext uri="{FF2B5EF4-FFF2-40B4-BE49-F238E27FC236}">
                  <a16:creationId xmlns:a16="http://schemas.microsoft.com/office/drawing/2014/main" id="{807CA932-E71C-44FE-92C2-A0B30895B50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52464" r="21599" b="22751"/>
            <a:stretch>
              <a:fillRect/>
            </a:stretch>
          </p:blipFill>
          <p:spPr bwMode="auto">
            <a:xfrm>
              <a:off x="5228337" y="1983228"/>
              <a:ext cx="1185510" cy="244748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3" name="Picture 103" descr="8-10">
              <a:extLst>
                <a:ext uri="{FF2B5EF4-FFF2-40B4-BE49-F238E27FC236}">
                  <a16:creationId xmlns:a16="http://schemas.microsoft.com/office/drawing/2014/main" id="{CCD57278-C681-4857-AE67-4D6EEB379E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 l="19167" r="52754" b="22943"/>
            <a:stretch>
              <a:fillRect/>
            </a:stretch>
          </p:blipFill>
          <p:spPr bwMode="auto">
            <a:xfrm>
              <a:off x="2897026" y="1948789"/>
              <a:ext cx="1320263" cy="251157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14" name="Picture 103" descr="8-10">
            <a:extLst>
              <a:ext uri="{FF2B5EF4-FFF2-40B4-BE49-F238E27FC236}">
                <a16:creationId xmlns:a16="http://schemas.microsoft.com/office/drawing/2014/main" id="{E3009033-F4DE-4268-97E7-3F103BF700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2708" t="65778" r="76244" b="-2"/>
          <a:stretch>
            <a:fillRect/>
          </a:stretch>
        </p:blipFill>
        <p:spPr bwMode="auto">
          <a:xfrm>
            <a:off x="3876080" y="4171740"/>
            <a:ext cx="949325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Picture 103" descr="8-10">
            <a:extLst>
              <a:ext uri="{FF2B5EF4-FFF2-40B4-BE49-F238E27FC236}">
                <a16:creationId xmlns:a16="http://schemas.microsoft.com/office/drawing/2014/main" id="{9D30DF96-678E-4CA6-8FE7-34FF50E2C4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76224" t="64452" r="1859" b="1672"/>
          <a:stretch>
            <a:fillRect/>
          </a:stretch>
        </p:blipFill>
        <p:spPr bwMode="auto">
          <a:xfrm>
            <a:off x="8027392" y="4116177"/>
            <a:ext cx="982663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Text Box 3">
            <a:extLst>
              <a:ext uri="{FF2B5EF4-FFF2-40B4-BE49-F238E27FC236}">
                <a16:creationId xmlns:a16="http://schemas.microsoft.com/office/drawing/2014/main" id="{6E6DE08F-1C2B-406F-A468-7F9F6C675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11367" y="5116302"/>
            <a:ext cx="16287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400">
                <a:solidFill>
                  <a:srgbClr val="FF0000"/>
                </a:solidFill>
              </a:rPr>
              <a:t>右旋</a:t>
            </a:r>
            <a:r>
              <a:rPr lang="en-US" altLang="zh-CN" sz="2400"/>
              <a:t>(</a:t>
            </a:r>
            <a:r>
              <a:rPr lang="zh-CN" altLang="en-US" sz="2400"/>
              <a:t>常用</a:t>
            </a:r>
            <a:r>
              <a:rPr lang="en-US" altLang="zh-CN" sz="2400"/>
              <a:t>)</a:t>
            </a:r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2640586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75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75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75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75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75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utoUpdateAnimBg="0"/>
      <p:bldP spid="5" grpId="0" animBg="1"/>
      <p:bldP spid="6" grpId="0" animBg="1"/>
      <p:bldP spid="7" grpId="0" animBg="1"/>
      <p:bldP spid="8" grpId="0" animBg="1"/>
      <p:bldP spid="16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34" descr="2">
            <a:extLst>
              <a:ext uri="{FF2B5EF4-FFF2-40B4-BE49-F238E27FC236}">
                <a16:creationId xmlns:a16="http://schemas.microsoft.com/office/drawing/2014/main" id="{3F710165-48B8-49DC-9A72-B456171DF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9513" y="3260998"/>
            <a:ext cx="1217613" cy="1147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94760758-AB25-4BEF-A6D2-CADFFA8CCF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5934" y="2469025"/>
            <a:ext cx="49404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联</a:t>
            </a:r>
          </a:p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接</a:t>
            </a:r>
          </a:p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螺</a:t>
            </a:r>
          </a:p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纹</a:t>
            </a: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4A546005-4546-4B94-96A4-4E36DE05A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7834" y="4737562"/>
            <a:ext cx="494046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传</a:t>
            </a:r>
          </a:p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动</a:t>
            </a:r>
          </a:p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螺</a:t>
            </a:r>
          </a:p>
          <a:p>
            <a:pPr algn="ctr"/>
            <a:r>
              <a:rPr lang="zh-CN" altLang="en-US" sz="2400" b="1">
                <a:solidFill>
                  <a:srgbClr val="002060"/>
                </a:solidFill>
              </a:rPr>
              <a:t>纹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048353B4-81B2-4E6B-BEA5-3229A59E1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9971" y="2442791"/>
            <a:ext cx="44114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M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9D64806E-AB89-46CA-AE11-AC6DBD9DF4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45137" y="3560391"/>
            <a:ext cx="42351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G</a:t>
            </a: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1BE68A33-E9E5-412C-BA0F-F8C6C69ED8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3294" y="4760541"/>
            <a:ext cx="4754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Tr</a:t>
            </a:r>
          </a:p>
        </p:txBody>
      </p:sp>
      <p:sp>
        <p:nvSpPr>
          <p:cNvPr id="8" name="Text Box 7">
            <a:extLst>
              <a:ext uri="{FF2B5EF4-FFF2-40B4-BE49-F238E27FC236}">
                <a16:creationId xmlns:a16="http://schemas.microsoft.com/office/drawing/2014/main" id="{A356AFBA-27CD-4669-90EE-913FE629F2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3309" y="5925766"/>
            <a:ext cx="40748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>
                <a:solidFill>
                  <a:srgbClr val="FF0000"/>
                </a:solidFill>
              </a:rPr>
              <a:t>B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63CD8F7-F490-421A-A699-6924BB0062C4}"/>
              </a:ext>
            </a:extLst>
          </p:cNvPr>
          <p:cNvGrpSpPr>
            <a:grpSpLocks/>
          </p:cNvGrpSpPr>
          <p:nvPr/>
        </p:nvGrpSpPr>
        <p:grpSpPr bwMode="auto">
          <a:xfrm>
            <a:off x="2384414" y="2060848"/>
            <a:ext cx="7969251" cy="4651375"/>
            <a:chOff x="512" y="1067"/>
            <a:chExt cx="5020" cy="2930"/>
          </a:xfrm>
        </p:grpSpPr>
        <p:sp>
          <p:nvSpPr>
            <p:cNvPr id="10" name="Text Box 9">
              <a:extLst>
                <a:ext uri="{FF2B5EF4-FFF2-40B4-BE49-F238E27FC236}">
                  <a16:creationId xmlns:a16="http://schemas.microsoft.com/office/drawing/2014/main" id="{40B1601E-E835-44EE-9E96-C9E61A68FD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79" y="1091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/>
                <a:t>粗牙</a:t>
              </a:r>
            </a:p>
          </p:txBody>
        </p:sp>
        <p:sp>
          <p:nvSpPr>
            <p:cNvPr id="11" name="Text Box 10">
              <a:extLst>
                <a:ext uri="{FF2B5EF4-FFF2-40B4-BE49-F238E27FC236}">
                  <a16:creationId xmlns:a16="http://schemas.microsoft.com/office/drawing/2014/main" id="{00F9D3DE-6F5F-4313-BC63-A3B0B7ADFE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0" y="1498"/>
              <a:ext cx="5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/>
                <a:t>细牙</a:t>
              </a:r>
            </a:p>
          </p:txBody>
        </p:sp>
        <p:sp>
          <p:nvSpPr>
            <p:cNvPr id="12" name="Line 11">
              <a:extLst>
                <a:ext uri="{FF2B5EF4-FFF2-40B4-BE49-F238E27FC236}">
                  <a16:creationId xmlns:a16="http://schemas.microsoft.com/office/drawing/2014/main" id="{FA4FBA7B-4130-4B89-88FA-76C6B55E8F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" y="1077"/>
              <a:ext cx="0" cy="29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13" name="Line 12">
              <a:extLst>
                <a:ext uri="{FF2B5EF4-FFF2-40B4-BE49-F238E27FC236}">
                  <a16:creationId xmlns:a16="http://schemas.microsoft.com/office/drawing/2014/main" id="{27074355-462B-4964-87D4-5442DCB9BEE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67" y="1453"/>
              <a:ext cx="505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14" name="Line 13">
              <a:extLst>
                <a:ext uri="{FF2B5EF4-FFF2-40B4-BE49-F238E27FC236}">
                  <a16:creationId xmlns:a16="http://schemas.microsoft.com/office/drawing/2014/main" id="{7461406A-4577-4021-84AD-C5B2830DC2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9" y="1825"/>
              <a:ext cx="496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15" name="Line 14">
              <a:extLst>
                <a:ext uri="{FF2B5EF4-FFF2-40B4-BE49-F238E27FC236}">
                  <a16:creationId xmlns:a16="http://schemas.microsoft.com/office/drawing/2014/main" id="{4C321787-4566-4E9C-93C7-107129005B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" y="3270"/>
              <a:ext cx="495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16" name="Text Box 15">
              <a:extLst>
                <a:ext uri="{FF2B5EF4-FFF2-40B4-BE49-F238E27FC236}">
                  <a16:creationId xmlns:a16="http://schemas.microsoft.com/office/drawing/2014/main" id="{5DA1EBF0-47C4-40FF-92E6-962FF7416A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" y="1464"/>
              <a:ext cx="60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>
                  <a:latin typeface="宋体" pitchFamily="2" charset="-122"/>
                </a:rPr>
                <a:t>螺 纹</a:t>
              </a:r>
              <a:endParaRPr lang="zh-CN" altLang="en-US" sz="2400" b="1"/>
            </a:p>
          </p:txBody>
        </p:sp>
        <p:sp>
          <p:nvSpPr>
            <p:cNvPr id="17" name="Text Box 16">
              <a:extLst>
                <a:ext uri="{FF2B5EF4-FFF2-40B4-BE49-F238E27FC236}">
                  <a16:creationId xmlns:a16="http://schemas.microsoft.com/office/drawing/2014/main" id="{4759AD08-98AC-45DE-ABE1-C394084A89F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1" y="2040"/>
              <a:ext cx="89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>
                  <a:latin typeface="宋体" pitchFamily="2" charset="-122"/>
                </a:rPr>
                <a:t>管 螺 纹</a:t>
              </a:r>
              <a:endParaRPr lang="zh-CN" altLang="en-US" sz="2400" b="1"/>
            </a:p>
          </p:txBody>
        </p:sp>
        <p:sp>
          <p:nvSpPr>
            <p:cNvPr id="18" name="Text Box 17">
              <a:extLst>
                <a:ext uri="{FF2B5EF4-FFF2-40B4-BE49-F238E27FC236}">
                  <a16:creationId xmlns:a16="http://schemas.microsoft.com/office/drawing/2014/main" id="{72433B7E-C9AD-42D4-8CA5-4137A728C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2746"/>
              <a:ext cx="8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/>
                <a:t>梯形螺纹</a:t>
              </a:r>
            </a:p>
          </p:txBody>
        </p:sp>
        <p:sp>
          <p:nvSpPr>
            <p:cNvPr id="19" name="Text Box 18">
              <a:extLst>
                <a:ext uri="{FF2B5EF4-FFF2-40B4-BE49-F238E27FC236}">
                  <a16:creationId xmlns:a16="http://schemas.microsoft.com/office/drawing/2014/main" id="{FB31F79E-B445-4F1A-A34D-6B11C3195F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" y="3362"/>
              <a:ext cx="897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r>
                <a:rPr lang="zh-CN" altLang="en-US" sz="2400" b="1">
                  <a:latin typeface="宋体" pitchFamily="2" charset="-122"/>
                </a:rPr>
                <a:t>锯 齿 形</a:t>
              </a:r>
            </a:p>
            <a:p>
              <a:r>
                <a:rPr lang="zh-CN" altLang="en-US" sz="2400" b="1">
                  <a:latin typeface="宋体" pitchFamily="2" charset="-122"/>
                </a:rPr>
                <a:t> </a:t>
              </a:r>
              <a:r>
                <a:rPr lang="zh-CN" altLang="en-US" sz="2400" b="1"/>
                <a:t>螺</a:t>
              </a:r>
              <a:r>
                <a:rPr lang="zh-CN" altLang="en-US" sz="2400" b="1">
                  <a:latin typeface="宋体" pitchFamily="2" charset="-122"/>
                </a:rPr>
                <a:t> </a:t>
              </a:r>
              <a:r>
                <a:rPr lang="zh-CN" altLang="en-US" sz="2400" b="1"/>
                <a:t>纹</a:t>
              </a:r>
            </a:p>
          </p:txBody>
        </p:sp>
        <p:sp>
          <p:nvSpPr>
            <p:cNvPr id="20" name="Line 19">
              <a:extLst>
                <a:ext uri="{FF2B5EF4-FFF2-40B4-BE49-F238E27FC236}">
                  <a16:creationId xmlns:a16="http://schemas.microsoft.com/office/drawing/2014/main" id="{EFD4DF21-3AA5-470C-93B2-9E231BB606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072" y="1067"/>
              <a:ext cx="0" cy="7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21" name="Text Box 20">
              <a:extLst>
                <a:ext uri="{FF2B5EF4-FFF2-40B4-BE49-F238E27FC236}">
                  <a16:creationId xmlns:a16="http://schemas.microsoft.com/office/drawing/2014/main" id="{9ACBFD3A-2EEC-4027-B6F2-960EAC9139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2" y="1172"/>
              <a:ext cx="60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>
                  <a:latin typeface="宋体" pitchFamily="2" charset="-122"/>
                </a:rPr>
                <a:t>普 通</a:t>
              </a:r>
              <a:endParaRPr lang="zh-CN" altLang="en-US" sz="2400" b="1"/>
            </a:p>
          </p:txBody>
        </p:sp>
      </p:grpSp>
      <p:sp>
        <p:nvSpPr>
          <p:cNvPr id="22" name="Line 21">
            <a:extLst>
              <a:ext uri="{FF2B5EF4-FFF2-40B4-BE49-F238E27FC236}">
                <a16:creationId xmlns:a16="http://schemas.microsoft.com/office/drawing/2014/main" id="{05BC8989-FC25-40DB-8148-6C81937E131B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7176" y="2670448"/>
            <a:ext cx="3543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400" b="1"/>
          </a:p>
        </p:txBody>
      </p:sp>
      <p:sp>
        <p:nvSpPr>
          <p:cNvPr id="23" name="Text Box 22">
            <a:extLst>
              <a:ext uri="{FF2B5EF4-FFF2-40B4-BE49-F238E27FC236}">
                <a16:creationId xmlns:a16="http://schemas.microsoft.com/office/drawing/2014/main" id="{90F53ED0-3CAD-4553-BA2C-844775085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5684" y="2153072"/>
            <a:ext cx="296908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/>
              <a:t>是最常用的</a:t>
            </a:r>
            <a:r>
              <a:rPr lang="zh-CN" altLang="en-US" sz="2400" b="1">
                <a:solidFill>
                  <a:srgbClr val="FF0000"/>
                </a:solidFill>
              </a:rPr>
              <a:t>联接螺纹</a:t>
            </a:r>
          </a:p>
        </p:txBody>
      </p:sp>
      <p:sp>
        <p:nvSpPr>
          <p:cNvPr id="24" name="Text Box 23">
            <a:extLst>
              <a:ext uri="{FF2B5EF4-FFF2-40B4-BE49-F238E27FC236}">
                <a16:creationId xmlns:a16="http://schemas.microsoft.com/office/drawing/2014/main" id="{037815DE-4840-41E5-9238-C1A1DC671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19851" y="2725366"/>
            <a:ext cx="437832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400" b="1"/>
              <a:t>用于</a:t>
            </a:r>
            <a:r>
              <a:rPr lang="zh-CN" altLang="en-US" sz="2400" b="1">
                <a:solidFill>
                  <a:srgbClr val="FF0000"/>
                </a:solidFill>
              </a:rPr>
              <a:t>细小的精密</a:t>
            </a:r>
            <a:r>
              <a:rPr lang="zh-CN" altLang="en-US" sz="2400" b="1"/>
              <a:t>或薄壁零件</a:t>
            </a:r>
          </a:p>
        </p:txBody>
      </p:sp>
      <p:sp>
        <p:nvSpPr>
          <p:cNvPr id="25" name="Text Box 24">
            <a:extLst>
              <a:ext uri="{FF2B5EF4-FFF2-40B4-BE49-F238E27FC236}">
                <a16:creationId xmlns:a16="http://schemas.microsoft.com/office/drawing/2014/main" id="{076A7AE7-5330-411A-A7AE-FC0776EF85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61151" y="3232333"/>
            <a:ext cx="3665537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b="1"/>
              <a:t>用于</a:t>
            </a:r>
            <a:r>
              <a:rPr lang="zh-CN" altLang="en-US" sz="2400" b="1">
                <a:solidFill>
                  <a:srgbClr val="FF0000"/>
                </a:solidFill>
              </a:rPr>
              <a:t>水管、油管、气管</a:t>
            </a:r>
            <a:r>
              <a:rPr lang="zh-CN" altLang="en-US" sz="2400" b="1"/>
              <a:t>等薄壁管子上，用于管路的联接。</a:t>
            </a:r>
          </a:p>
        </p:txBody>
      </p:sp>
      <p:sp>
        <p:nvSpPr>
          <p:cNvPr id="26" name="Text Box 25">
            <a:extLst>
              <a:ext uri="{FF2B5EF4-FFF2-40B4-BE49-F238E27FC236}">
                <a16:creationId xmlns:a16="http://schemas.microsoft.com/office/drawing/2014/main" id="{F324D06F-7F01-4929-93FA-9D17DE7C4A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7338" y="4464749"/>
            <a:ext cx="3587842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/>
              <a:t>用于各种</a:t>
            </a:r>
            <a:r>
              <a:rPr lang="zh-CN" altLang="en-US" sz="2400" b="1">
                <a:solidFill>
                  <a:srgbClr val="FF0000"/>
                </a:solidFill>
              </a:rPr>
              <a:t>机床的丝杠</a:t>
            </a:r>
            <a:r>
              <a:rPr lang="zh-CN" altLang="en-US" sz="2400" b="1"/>
              <a:t>，做</a:t>
            </a:r>
          </a:p>
          <a:p>
            <a:r>
              <a:rPr lang="zh-CN" altLang="en-US" sz="2400" b="1"/>
              <a:t>传动用。</a:t>
            </a:r>
          </a:p>
        </p:txBody>
      </p:sp>
      <p:sp>
        <p:nvSpPr>
          <p:cNvPr id="27" name="Text Box 26">
            <a:extLst>
              <a:ext uri="{FF2B5EF4-FFF2-40B4-BE49-F238E27FC236}">
                <a16:creationId xmlns:a16="http://schemas.microsoft.com/office/drawing/2014/main" id="{F7DE5B8D-E1B7-4CB4-AE2A-11955D4F6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0155" y="5901160"/>
            <a:ext cx="358784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/>
              <a:t>只能</a:t>
            </a:r>
            <a:r>
              <a:rPr lang="zh-CN" altLang="en-US" sz="2400" b="1">
                <a:solidFill>
                  <a:srgbClr val="FF0000"/>
                </a:solidFill>
              </a:rPr>
              <a:t>传递单方向的动力</a:t>
            </a:r>
            <a:r>
              <a:rPr lang="zh-CN" altLang="en-US" sz="2400" b="1"/>
              <a:t>。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A17AD81F-BC86-49C0-9C79-B746589A0314}"/>
              </a:ext>
            </a:extLst>
          </p:cNvPr>
          <p:cNvGrpSpPr>
            <a:grpSpLocks/>
          </p:cNvGrpSpPr>
          <p:nvPr/>
        </p:nvGrpSpPr>
        <p:grpSpPr bwMode="auto">
          <a:xfrm>
            <a:off x="1830376" y="1198836"/>
            <a:ext cx="8496300" cy="5527675"/>
            <a:chOff x="240" y="515"/>
            <a:chExt cx="5352" cy="3482"/>
          </a:xfrm>
        </p:grpSpPr>
        <p:sp>
          <p:nvSpPr>
            <p:cNvPr id="29" name="Line 28">
              <a:extLst>
                <a:ext uri="{FF2B5EF4-FFF2-40B4-BE49-F238E27FC236}">
                  <a16:creationId xmlns:a16="http://schemas.microsoft.com/office/drawing/2014/main" id="{C9836204-26AE-4571-94BD-3B80816223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3" y="1065"/>
              <a:ext cx="519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30" name="Freeform 29">
              <a:extLst>
                <a:ext uri="{FF2B5EF4-FFF2-40B4-BE49-F238E27FC236}">
                  <a16:creationId xmlns:a16="http://schemas.microsoft.com/office/drawing/2014/main" id="{C63DD202-61E7-4074-BED8-A05101BFC3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8" y="515"/>
              <a:ext cx="1" cy="3471"/>
            </a:xfrm>
            <a:custGeom>
              <a:avLst/>
              <a:gdLst>
                <a:gd name="T0" fmla="*/ 0 w 1"/>
                <a:gd name="T1" fmla="*/ 0 h 3471"/>
                <a:gd name="T2" fmla="*/ 0 w 1"/>
                <a:gd name="T3" fmla="*/ 3471 h 3471"/>
                <a:gd name="T4" fmla="*/ 0 60000 65536"/>
                <a:gd name="T5" fmla="*/ 0 60000 65536"/>
                <a:gd name="T6" fmla="*/ 0 w 1"/>
                <a:gd name="T7" fmla="*/ 0 h 3471"/>
                <a:gd name="T8" fmla="*/ 1 w 1"/>
                <a:gd name="T9" fmla="*/ 3471 h 347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471">
                  <a:moveTo>
                    <a:pt x="0" y="0"/>
                  </a:moveTo>
                  <a:lnTo>
                    <a:pt x="0" y="3471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DA246506-B434-43F9-96C4-382BD49619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" y="519"/>
              <a:ext cx="1" cy="3478"/>
            </a:xfrm>
            <a:custGeom>
              <a:avLst/>
              <a:gdLst>
                <a:gd name="T0" fmla="*/ 0 w 1"/>
                <a:gd name="T1" fmla="*/ 0 h 3478"/>
                <a:gd name="T2" fmla="*/ 0 w 1"/>
                <a:gd name="T3" fmla="*/ 3478 h 3478"/>
                <a:gd name="T4" fmla="*/ 0 60000 65536"/>
                <a:gd name="T5" fmla="*/ 0 60000 65536"/>
                <a:gd name="T6" fmla="*/ 0 w 1"/>
                <a:gd name="T7" fmla="*/ 0 h 3478"/>
                <a:gd name="T8" fmla="*/ 1 w 1"/>
                <a:gd name="T9" fmla="*/ 3478 h 34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478">
                  <a:moveTo>
                    <a:pt x="0" y="0"/>
                  </a:moveTo>
                  <a:lnTo>
                    <a:pt x="0" y="3478"/>
                  </a:lnTo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32" name="Line 31">
              <a:extLst>
                <a:ext uri="{FF2B5EF4-FFF2-40B4-BE49-F238E27FC236}">
                  <a16:creationId xmlns:a16="http://schemas.microsoft.com/office/drawing/2014/main" id="{EC1DC01B-EB3B-4701-A784-661BD1146B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" y="2541"/>
              <a:ext cx="529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33" name="Line 32">
              <a:extLst>
                <a:ext uri="{FF2B5EF4-FFF2-40B4-BE49-F238E27FC236}">
                  <a16:creationId xmlns:a16="http://schemas.microsoft.com/office/drawing/2014/main" id="{17E2C974-1D65-4F62-A554-869ECC27B4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7" y="523"/>
              <a:ext cx="0" cy="347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34" name="Text Box 33">
              <a:extLst>
                <a:ext uri="{FF2B5EF4-FFF2-40B4-BE49-F238E27FC236}">
                  <a16:creationId xmlns:a16="http://schemas.microsoft.com/office/drawing/2014/main" id="{7AD38A75-828D-46A0-A2CF-6C6041726F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" y="663"/>
              <a:ext cx="119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>
                  <a:latin typeface="宋体" pitchFamily="2" charset="-122"/>
                </a:rPr>
                <a:t>螺 纹 种 类</a:t>
              </a:r>
              <a:endParaRPr lang="zh-CN" altLang="en-US" sz="2400" b="1"/>
            </a:p>
          </p:txBody>
        </p:sp>
        <p:sp>
          <p:nvSpPr>
            <p:cNvPr id="35" name="Text Box 34">
              <a:extLst>
                <a:ext uri="{FF2B5EF4-FFF2-40B4-BE49-F238E27FC236}">
                  <a16:creationId xmlns:a16="http://schemas.microsoft.com/office/drawing/2014/main" id="{256648E8-0C81-422C-A288-9384A0DEAD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31" y="515"/>
              <a:ext cx="506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/>
                <a:t>特征</a:t>
              </a:r>
            </a:p>
            <a:p>
              <a:pPr algn="ctr"/>
              <a:r>
                <a:rPr lang="zh-CN" altLang="en-US" sz="2400" b="1"/>
                <a:t>代号</a:t>
              </a:r>
            </a:p>
          </p:txBody>
        </p:sp>
        <p:sp>
          <p:nvSpPr>
            <p:cNvPr id="36" name="Text Box 35">
              <a:extLst>
                <a:ext uri="{FF2B5EF4-FFF2-40B4-BE49-F238E27FC236}">
                  <a16:creationId xmlns:a16="http://schemas.microsoft.com/office/drawing/2014/main" id="{CA15E1AC-71FB-43E4-B0BC-8D14758377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80" y="651"/>
              <a:ext cx="89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 dirty="0">
                  <a:latin typeface="宋体" pitchFamily="2" charset="-122"/>
                </a:rPr>
                <a:t>外 形 图</a:t>
              </a:r>
              <a:endParaRPr lang="zh-CN" altLang="en-US" sz="2400" b="1" dirty="0"/>
            </a:p>
          </p:txBody>
        </p:sp>
        <p:sp>
          <p:nvSpPr>
            <p:cNvPr id="37" name="Text Box 36">
              <a:extLst>
                <a:ext uri="{FF2B5EF4-FFF2-40B4-BE49-F238E27FC236}">
                  <a16:creationId xmlns:a16="http://schemas.microsoft.com/office/drawing/2014/main" id="{AE16A0B6-2A0C-4ABB-BC36-567C0D3A4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1" y="658"/>
              <a:ext cx="9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>
                  <a:latin typeface="宋体" pitchFamily="2" charset="-122"/>
                </a:rPr>
                <a:t>用     途</a:t>
              </a:r>
              <a:endParaRPr lang="zh-CN" altLang="en-US" sz="2400" b="1"/>
            </a:p>
          </p:txBody>
        </p:sp>
        <p:sp>
          <p:nvSpPr>
            <p:cNvPr id="38" name="Line 37">
              <a:extLst>
                <a:ext uri="{FF2B5EF4-FFF2-40B4-BE49-F238E27FC236}">
                  <a16:creationId xmlns:a16="http://schemas.microsoft.com/office/drawing/2014/main" id="{E9F1AD43-7E31-4BCB-BA92-ED59C5EE8D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" y="515"/>
              <a:ext cx="511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  <p:sp>
          <p:nvSpPr>
            <p:cNvPr id="39" name="Line 38">
              <a:extLst>
                <a:ext uri="{FF2B5EF4-FFF2-40B4-BE49-F238E27FC236}">
                  <a16:creationId xmlns:a16="http://schemas.microsoft.com/office/drawing/2014/main" id="{DAF75338-EE7E-4F77-BDFD-840F437D34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" y="3983"/>
              <a:ext cx="534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</p:grpSp>
      <p:sp>
        <p:nvSpPr>
          <p:cNvPr id="40" name="Text Box 39">
            <a:extLst>
              <a:ext uri="{FF2B5EF4-FFF2-40B4-BE49-F238E27FC236}">
                <a16:creationId xmlns:a16="http://schemas.microsoft.com/office/drawing/2014/main" id="{45844DF5-C636-40FD-9339-C9E2BD351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8033" y="630014"/>
            <a:ext cx="649408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zh-CN" sz="2400" dirty="0">
                <a:latin typeface="黑体" pitchFamily="49" charset="-122"/>
                <a:ea typeface="黑体" pitchFamily="49" charset="-122"/>
              </a:rPr>
              <a:t>螺纹的种类</a:t>
            </a:r>
            <a:r>
              <a:rPr lang="en-US" altLang="zh-CN" sz="2400" dirty="0">
                <a:latin typeface="黑体" pitchFamily="49" charset="-122"/>
                <a:ea typeface="黑体" pitchFamily="49" charset="-122"/>
              </a:rPr>
              <a:t>:</a:t>
            </a:r>
            <a:r>
              <a:rPr kumimoji="0" lang="zh-CN" altLang="en-US" sz="2400" dirty="0">
                <a:solidFill>
                  <a:srgbClr val="FF0000"/>
                </a:solidFill>
                <a:ea typeface="黑体" pitchFamily="49" charset="-122"/>
              </a:rPr>
              <a:t>常用的几种螺纹的特征代号及用途</a:t>
            </a:r>
          </a:p>
        </p:txBody>
      </p:sp>
      <p:pic>
        <p:nvPicPr>
          <p:cNvPr id="41" name="Picture 133" descr="1">
            <a:extLst>
              <a:ext uri="{FF2B5EF4-FFF2-40B4-BE49-F238E27FC236}">
                <a16:creationId xmlns:a16="http://schemas.microsoft.com/office/drawing/2014/main" id="{86327F23-B572-46BD-8836-000A9DCA5A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86338" y="2098948"/>
            <a:ext cx="1231900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2" name="Picture 135" descr="6">
            <a:extLst>
              <a:ext uri="{FF2B5EF4-FFF2-40B4-BE49-F238E27FC236}">
                <a16:creationId xmlns:a16="http://schemas.microsoft.com/office/drawing/2014/main" id="{5B44B13D-54FB-44D1-8070-7E71A3227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894251" y="4481786"/>
            <a:ext cx="1673225" cy="101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3" name="Picture 136" descr="7">
            <a:extLst>
              <a:ext uri="{FF2B5EF4-FFF2-40B4-BE49-F238E27FC236}">
                <a16:creationId xmlns:a16="http://schemas.microsoft.com/office/drawing/2014/main" id="{27B29FC3-263C-4CB1-8ED7-1E08374C04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914888" y="5656536"/>
            <a:ext cx="1585913" cy="76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34943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22" grpId="0" animBg="1"/>
      <p:bldP spid="23" grpId="0" autoUpdateAnimBg="0"/>
      <p:bldP spid="24" grpId="0" autoUpdateAnimBg="0"/>
      <p:bldP spid="25" grpId="0" autoUpdateAnimBg="0"/>
      <p:bldP spid="26" grpId="0" autoUpdateAnimBg="0"/>
      <p:bldP spid="2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C0AF0A5F-EEF7-4D2F-83FE-7D0756C58E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9560" y="4079318"/>
            <a:ext cx="8305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  <a:sym typeface="Monotype Sorts"/>
              </a:rPr>
              <a:t>★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牙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底用细实线表示 </a:t>
            </a:r>
            <a:r>
              <a:rPr lang="en-US" altLang="zh-CN" sz="2400" dirty="0">
                <a:latin typeface="宋体" pitchFamily="2" charset="-122"/>
              </a:rPr>
              <a:t>(</a:t>
            </a:r>
            <a:r>
              <a:rPr lang="zh-CN" altLang="en-US" sz="2400" dirty="0">
                <a:latin typeface="宋体" pitchFamily="2" charset="-122"/>
              </a:rPr>
              <a:t>外螺纹的小径线，内螺纹的大径线</a:t>
            </a:r>
            <a:r>
              <a:rPr lang="en-US" altLang="zh-CN" sz="2400" dirty="0">
                <a:latin typeface="宋体" pitchFamily="2" charset="-122"/>
              </a:rPr>
              <a:t>)</a:t>
            </a:r>
            <a:r>
              <a:rPr lang="zh-CN" altLang="en-US" sz="2400" dirty="0">
                <a:latin typeface="宋体" pitchFamily="2" charset="-122"/>
              </a:rPr>
              <a:t>。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9D6203A-B1D4-4412-B1E1-DA0E964DF6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028" y="4620597"/>
            <a:ext cx="81438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  <a:sym typeface="Monotype Sorts"/>
              </a:rPr>
              <a:t>★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在投影为圆</a:t>
            </a:r>
            <a:r>
              <a:rPr lang="zh-CN" altLang="en-US" sz="2400" dirty="0">
                <a:latin typeface="宋体" pitchFamily="2" charset="-122"/>
              </a:rPr>
              <a:t>的视图上，表示牙底的细实线圆只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画约</a:t>
            </a:r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</a:rPr>
              <a:t>3/4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圈。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F017B6E6-072E-4C23-A0AA-85A4E6111A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028" y="5095517"/>
            <a:ext cx="4206875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  <a:sym typeface="Monotype Sorts"/>
              </a:rPr>
              <a:t>★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螺纹终止线用粗实线</a:t>
            </a:r>
            <a:r>
              <a:rPr lang="zh-CN" altLang="en-US" sz="2400" dirty="0">
                <a:latin typeface="宋体" pitchFamily="2" charset="-122"/>
              </a:rPr>
              <a:t>表示。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4705B0CC-9FD2-49EE-B7B7-8E8B96EA36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028" y="6155934"/>
            <a:ext cx="82232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  <a:sym typeface="Monotype Sorts"/>
              </a:rPr>
              <a:t>★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当需要表示螺纹收尾时</a:t>
            </a:r>
            <a:r>
              <a:rPr lang="zh-CN" altLang="en-US" sz="2400" dirty="0">
                <a:latin typeface="宋体" pitchFamily="2" charset="-122"/>
              </a:rPr>
              <a:t>，螺尾部分的牙底线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与轴线成</a:t>
            </a:r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</a:rPr>
              <a:t>30°</a:t>
            </a:r>
            <a:r>
              <a:rPr lang="zh-CN" altLang="en-US" sz="2400" dirty="0">
                <a:solidFill>
                  <a:schemeClr val="tx2"/>
                </a:solidFill>
                <a:latin typeface="宋体" pitchFamily="2" charset="-122"/>
              </a:rPr>
              <a:t>。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11C11D91-1E84-4E47-AF8A-6F9773C69A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028" y="5668062"/>
            <a:ext cx="107916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  <a:sym typeface="Monotype Sorts"/>
              </a:rPr>
              <a:t>★</a:t>
            </a:r>
            <a:r>
              <a:rPr lang="zh-CN" altLang="en-US" sz="2400" dirty="0">
                <a:latin typeface="宋体" pitchFamily="2" charset="-122"/>
              </a:rPr>
              <a:t>不论是内螺纹还是外螺纹，其剖视图或断面图上的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剖面线都必须画到粗实线</a:t>
            </a:r>
            <a:r>
              <a:rPr lang="zh-CN" altLang="en-US" sz="2400" dirty="0">
                <a:latin typeface="宋体" pitchFamily="2" charset="-122"/>
              </a:rPr>
              <a:t>。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DEE6C239-3077-4D23-A57C-3FADEF92D8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6778" y="785794"/>
            <a:ext cx="34305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三、螺纹的规定画法</a:t>
            </a:r>
          </a:p>
        </p:txBody>
      </p:sp>
      <p:pic>
        <p:nvPicPr>
          <p:cNvPr id="10" name="图片 1">
            <a:extLst>
              <a:ext uri="{FF2B5EF4-FFF2-40B4-BE49-F238E27FC236}">
                <a16:creationId xmlns:a16="http://schemas.microsoft.com/office/drawing/2014/main" id="{900338C5-4671-4962-B2F3-DC3F2982D6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64284" y="1638028"/>
            <a:ext cx="8048625" cy="1974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93AE347-9C91-4F76-9F8A-0453DFF2B49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66" r="1732"/>
          <a:stretch>
            <a:fillRect/>
          </a:stretch>
        </p:blipFill>
        <p:spPr bwMode="auto">
          <a:xfrm>
            <a:off x="2556359" y="1645965"/>
            <a:ext cx="7750175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BDE1AC5-5085-4C0A-83CA-7509CD307E4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03984" y="1734865"/>
            <a:ext cx="7853362" cy="1681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1C40AE26-9746-4E56-96E4-FE50245B44C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2559534" y="1722165"/>
            <a:ext cx="7974012" cy="174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255D3D50-9E03-48AC-9149-9525D6ACF9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542071" y="1687240"/>
            <a:ext cx="8129588" cy="180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509C0309-6A3B-460D-BF9D-93FEC962827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521434" y="1652315"/>
            <a:ext cx="8297862" cy="1839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3" name="组合 5">
            <a:extLst>
              <a:ext uri="{FF2B5EF4-FFF2-40B4-BE49-F238E27FC236}">
                <a16:creationId xmlns:a16="http://schemas.microsoft.com/office/drawing/2014/main" id="{41F7AB50-4A4B-4F5B-BE93-8B77EF7CB183}"/>
              </a:ext>
            </a:extLst>
          </p:cNvPr>
          <p:cNvGrpSpPr>
            <a:grpSpLocks/>
          </p:cNvGrpSpPr>
          <p:nvPr/>
        </p:nvGrpSpPr>
        <p:grpSpPr bwMode="auto">
          <a:xfrm>
            <a:off x="5608824" y="2861330"/>
            <a:ext cx="4697443" cy="1014412"/>
            <a:chOff x="3973513" y="2893988"/>
            <a:chExt cx="4697125" cy="1014413"/>
          </a:xfrm>
        </p:grpSpPr>
        <p:grpSp>
          <p:nvGrpSpPr>
            <p:cNvPr id="14" name="Group 16">
              <a:extLst>
                <a:ext uri="{FF2B5EF4-FFF2-40B4-BE49-F238E27FC236}">
                  <a16:creationId xmlns:a16="http://schemas.microsoft.com/office/drawing/2014/main" id="{861F1F43-8F7A-4F89-8919-DEA0E238A2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66999" y="2982888"/>
              <a:ext cx="3703639" cy="925513"/>
              <a:chOff x="3765" y="1281"/>
              <a:chExt cx="2333" cy="583"/>
            </a:xfrm>
          </p:grpSpPr>
          <p:sp>
            <p:nvSpPr>
              <p:cNvPr id="16" name="Text Box 17">
                <a:extLst>
                  <a:ext uri="{FF2B5EF4-FFF2-40B4-BE49-F238E27FC236}">
                    <a16:creationId xmlns:a16="http://schemas.microsoft.com/office/drawing/2014/main" id="{25A7ECF6-8276-49CC-AB43-A7D4F08852A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765" y="1573"/>
                <a:ext cx="155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 eaLnBrk="1" hangingPunct="1"/>
                <a:r>
                  <a:rPr kumimoji="0" lang="zh-CN" altLang="en-US" sz="2400" b="1" dirty="0">
                    <a:solidFill>
                      <a:srgbClr val="FF3300"/>
                    </a:solidFill>
                  </a:rPr>
                  <a:t>小径圆约画</a:t>
                </a:r>
                <a:r>
                  <a:rPr kumimoji="0" lang="en-US" altLang="zh-CN" sz="2400" b="1" dirty="0">
                    <a:solidFill>
                      <a:srgbClr val="FF3300"/>
                    </a:solidFill>
                  </a:rPr>
                  <a:t>3/4</a:t>
                </a:r>
                <a:r>
                  <a:rPr kumimoji="0" lang="zh-CN" altLang="en-US" sz="2400" b="1" dirty="0">
                    <a:solidFill>
                      <a:srgbClr val="FF3300"/>
                    </a:solidFill>
                  </a:rPr>
                  <a:t>圈</a:t>
                </a:r>
              </a:p>
            </p:txBody>
          </p:sp>
          <p:sp>
            <p:nvSpPr>
              <p:cNvPr id="17" name="Line 18">
                <a:extLst>
                  <a:ext uri="{FF2B5EF4-FFF2-40B4-BE49-F238E27FC236}">
                    <a16:creationId xmlns:a16="http://schemas.microsoft.com/office/drawing/2014/main" id="{3E355131-3653-4753-B591-8CFF2BD5B3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425" y="1281"/>
                <a:ext cx="673" cy="547"/>
              </a:xfrm>
              <a:prstGeom prst="line">
                <a:avLst/>
              </a:prstGeom>
              <a:noFill/>
              <a:ln w="12700">
                <a:solidFill>
                  <a:srgbClr val="FF3300"/>
                </a:solidFill>
                <a:round/>
                <a:headEnd type="triangle" w="sm" len="lg"/>
                <a:tailEnd type="non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" name="Line 19">
                <a:extLst>
                  <a:ext uri="{FF2B5EF4-FFF2-40B4-BE49-F238E27FC236}">
                    <a16:creationId xmlns:a16="http://schemas.microsoft.com/office/drawing/2014/main" id="{26D16369-7581-43A6-AB0D-67EE012B1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898" y="1829"/>
                <a:ext cx="1520" cy="0"/>
              </a:xfrm>
              <a:prstGeom prst="line">
                <a:avLst/>
              </a:prstGeom>
              <a:noFill/>
              <a:ln w="12700">
                <a:solidFill>
                  <a:srgbClr val="FF33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" name="Line 18">
              <a:extLst>
                <a:ext uri="{FF2B5EF4-FFF2-40B4-BE49-F238E27FC236}">
                  <a16:creationId xmlns:a16="http://schemas.microsoft.com/office/drawing/2014/main" id="{3C7FE242-A2C5-492B-86B8-5EE8631AA8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3513" y="2893988"/>
              <a:ext cx="1193509" cy="954949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" name="Text Box 2">
            <a:extLst>
              <a:ext uri="{FF2B5EF4-FFF2-40B4-BE49-F238E27FC236}">
                <a16:creationId xmlns:a16="http://schemas.microsoft.com/office/drawing/2014/main" id="{A9A471DA-EC2D-41DA-BCE8-2E0AFAC7B7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5028" y="3446105"/>
            <a:ext cx="3378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en-US" altLang="zh-CN" sz="2400" dirty="0">
                <a:solidFill>
                  <a:srgbClr val="FF0000"/>
                </a:solidFill>
                <a:latin typeface="宋体" pitchFamily="2" charset="-122"/>
                <a:sym typeface="Monotype Sorts"/>
              </a:rPr>
              <a:t>★</a:t>
            </a:r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牙顶用粗实线表示。</a:t>
            </a:r>
          </a:p>
        </p:txBody>
      </p:sp>
      <p:sp>
        <p:nvSpPr>
          <p:cNvPr id="22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331950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75"/>
                            </p:stCondLst>
                            <p:childTnLst>
                              <p:par>
                                <p:cTn id="3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975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build="p" autoUpdateAnimBg="0"/>
      <p:bldP spid="6" grpId="0" autoUpdateAnimBg="0"/>
      <p:bldP spid="7" grpId="0" autoUpdateAnimBg="0"/>
      <p:bldP spid="2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3">
            <a:extLst>
              <a:ext uri="{FF2B5EF4-FFF2-40B4-BE49-F238E27FC236}">
                <a16:creationId xmlns:a16="http://schemas.microsoft.com/office/drawing/2014/main" id="{98A1A294-F19D-441E-99F4-7DCA0889A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86786" y="3861048"/>
            <a:ext cx="1733550" cy="20859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pic>
        <p:nvPicPr>
          <p:cNvPr id="3" name="Picture 152">
            <a:extLst>
              <a:ext uri="{FF2B5EF4-FFF2-40B4-BE49-F238E27FC236}">
                <a16:creationId xmlns:a16="http://schemas.microsoft.com/office/drawing/2014/main" id="{52CAE31E-0958-47E6-B479-C3189F543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071727" y="4638419"/>
            <a:ext cx="2535237" cy="1119187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E5C537D5-FC4D-4427-88ED-C4E14C23827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l="74094"/>
          <a:stretch>
            <a:fillRect/>
          </a:stretch>
        </p:blipFill>
        <p:spPr bwMode="auto">
          <a:xfrm>
            <a:off x="3275496" y="1742232"/>
            <a:ext cx="2541588" cy="112077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7910FADC-495B-4DF2-AE6B-6C08897D387D}"/>
              </a:ext>
            </a:extLst>
          </p:cNvPr>
          <p:cNvSpPr>
            <a:spLocks/>
          </p:cNvSpPr>
          <p:nvPr/>
        </p:nvSpPr>
        <p:spPr bwMode="auto">
          <a:xfrm>
            <a:off x="7720496" y="1816845"/>
            <a:ext cx="1588" cy="952500"/>
          </a:xfrm>
          <a:custGeom>
            <a:avLst/>
            <a:gdLst>
              <a:gd name="T0" fmla="*/ 0 w 1"/>
              <a:gd name="T1" fmla="*/ 0 h 600"/>
              <a:gd name="T2" fmla="*/ 0 w 1"/>
              <a:gd name="T3" fmla="*/ 2147483646 h 600"/>
              <a:gd name="T4" fmla="*/ 0 60000 65536"/>
              <a:gd name="T5" fmla="*/ 0 60000 65536"/>
              <a:gd name="T6" fmla="*/ 0 w 1"/>
              <a:gd name="T7" fmla="*/ 0 h 600"/>
              <a:gd name="T8" fmla="*/ 1 w 1"/>
              <a:gd name="T9" fmla="*/ 600 h 60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600">
                <a:moveTo>
                  <a:pt x="0" y="0"/>
                </a:moveTo>
                <a:lnTo>
                  <a:pt x="0" y="600"/>
                </a:lnTo>
              </a:path>
            </a:pathLst>
          </a:cu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572440B7-327A-4247-9C0E-63A80898AA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1309" y="1812082"/>
            <a:ext cx="1001712" cy="971550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pPr algn="ctr"/>
            <a:endParaRPr lang="zh-CN" altLang="en-US"/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ABF59DC3-0DA8-4503-A2AC-E8BEF7E84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0404" y="1829655"/>
            <a:ext cx="21971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 dirty="0">
                <a:solidFill>
                  <a:schemeClr val="accent2"/>
                </a:solidFill>
                <a:latin typeface="宋体" pitchFamily="2" charset="-122"/>
              </a:rPr>
              <a:t>⒈ 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外螺纹画法</a:t>
            </a:r>
          </a:p>
        </p:txBody>
      </p:sp>
      <p:grpSp>
        <p:nvGrpSpPr>
          <p:cNvPr id="8" name="Group 8">
            <a:extLst>
              <a:ext uri="{FF2B5EF4-FFF2-40B4-BE49-F238E27FC236}">
                <a16:creationId xmlns:a16="http://schemas.microsoft.com/office/drawing/2014/main" id="{DBB3B811-830F-485E-99FF-410B968A2197}"/>
              </a:ext>
            </a:extLst>
          </p:cNvPr>
          <p:cNvGrpSpPr>
            <a:grpSpLocks/>
          </p:cNvGrpSpPr>
          <p:nvPr/>
        </p:nvGrpSpPr>
        <p:grpSpPr bwMode="auto">
          <a:xfrm>
            <a:off x="4254984" y="1234232"/>
            <a:ext cx="2493962" cy="581025"/>
            <a:chOff x="1321" y="467"/>
            <a:chExt cx="1571" cy="366"/>
          </a:xfrm>
        </p:grpSpPr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873E7DC4-8011-4053-A247-CF9F06477B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21" y="467"/>
              <a:ext cx="1548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rgbClr val="FF3300"/>
                  </a:solidFill>
                </a:rPr>
                <a:t> </a:t>
              </a:r>
              <a:r>
                <a:rPr lang="zh-CN" altLang="en-US">
                  <a:solidFill>
                    <a:srgbClr val="FF3300"/>
                  </a:solidFill>
                </a:rPr>
                <a:t>大径线画粗实线 </a:t>
              </a: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52E34DDA-85AB-4988-B344-D014E27E26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11" y="727"/>
              <a:ext cx="1381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1960A98C-5447-4542-A07F-36F9B1B2A4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3" y="724"/>
              <a:ext cx="109" cy="109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non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1FB517B1-35E5-47B2-9042-31F9D959339F}"/>
              </a:ext>
            </a:extLst>
          </p:cNvPr>
          <p:cNvGrpSpPr>
            <a:grpSpLocks/>
          </p:cNvGrpSpPr>
          <p:nvPr/>
        </p:nvGrpSpPr>
        <p:grpSpPr bwMode="auto">
          <a:xfrm>
            <a:off x="7714146" y="1250107"/>
            <a:ext cx="1970088" cy="641350"/>
            <a:chOff x="3500" y="465"/>
            <a:chExt cx="1241" cy="404"/>
          </a:xfrm>
        </p:grpSpPr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291C1A5C-91F8-4FE8-953A-EE698DA85F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465"/>
              <a:ext cx="1068" cy="28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>
                  <a:solidFill>
                    <a:srgbClr val="FF3300"/>
                  </a:solidFill>
                </a:rPr>
                <a:t>倒角圆不画</a:t>
              </a: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A852B5DF-B0EA-40B0-9897-880FBC7C48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47" y="724"/>
              <a:ext cx="1056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C9437D4F-8454-46B6-9C04-B7E11B3FB4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02" y="730"/>
              <a:ext cx="139" cy="139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4D829BCE-DE9B-4B69-AB40-E8985D6D38B7}"/>
              </a:ext>
            </a:extLst>
          </p:cNvPr>
          <p:cNvGrpSpPr>
            <a:grpSpLocks/>
          </p:cNvGrpSpPr>
          <p:nvPr/>
        </p:nvGrpSpPr>
        <p:grpSpPr bwMode="auto">
          <a:xfrm>
            <a:off x="8022121" y="2543921"/>
            <a:ext cx="1901825" cy="1163638"/>
            <a:chOff x="3718" y="1319"/>
            <a:chExt cx="1198" cy="733"/>
          </a:xfrm>
        </p:grpSpPr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EFBD38F3-F125-444C-807D-7E75AFD3FF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3" y="1632"/>
              <a:ext cx="758" cy="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0" lang="zh-CN" altLang="en-US" b="1" dirty="0">
                  <a:solidFill>
                    <a:srgbClr val="FF3300"/>
                  </a:solidFill>
                </a:rPr>
                <a:t>小径圆</a:t>
              </a:r>
              <a:endParaRPr kumimoji="0" lang="en-US" altLang="zh-CN" b="1" dirty="0">
                <a:solidFill>
                  <a:srgbClr val="FF3300"/>
                </a:solidFill>
              </a:endParaRPr>
            </a:p>
            <a:p>
              <a:pPr algn="ctr" eaLnBrk="1" hangingPunct="1"/>
              <a:r>
                <a:rPr kumimoji="0" lang="zh-CN" altLang="en-US" b="1" dirty="0">
                  <a:solidFill>
                    <a:srgbClr val="FF3300"/>
                  </a:solidFill>
                </a:rPr>
                <a:t>画约</a:t>
              </a:r>
              <a:r>
                <a:rPr kumimoji="0" lang="en-US" altLang="zh-CN" b="1" dirty="0">
                  <a:solidFill>
                    <a:srgbClr val="FF3300"/>
                  </a:solidFill>
                </a:rPr>
                <a:t>3/4</a:t>
              </a:r>
              <a:r>
                <a:rPr kumimoji="0" lang="zh-CN" altLang="en-US" b="1" dirty="0">
                  <a:solidFill>
                    <a:srgbClr val="FF3300"/>
                  </a:solidFill>
                </a:rPr>
                <a:t>圈</a:t>
              </a: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B1C87551-FD26-49D1-A52C-70FB2F3C5D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742" y="1319"/>
              <a:ext cx="174" cy="733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9E7227C9-3419-4B98-9692-3606662F179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18" y="2052"/>
              <a:ext cx="1024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0" name="Text Box 20">
            <a:extLst>
              <a:ext uri="{FF2B5EF4-FFF2-40B4-BE49-F238E27FC236}">
                <a16:creationId xmlns:a16="http://schemas.microsoft.com/office/drawing/2014/main" id="{9B81D3BC-6E19-4981-B16C-97D73C61C8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5109" y="3889868"/>
            <a:ext cx="30702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/>
              <a:t>外螺纹剖视画法：</a:t>
            </a:r>
          </a:p>
        </p:txBody>
      </p:sp>
      <p:grpSp>
        <p:nvGrpSpPr>
          <p:cNvPr id="21" name="Group 21">
            <a:extLst>
              <a:ext uri="{FF2B5EF4-FFF2-40B4-BE49-F238E27FC236}">
                <a16:creationId xmlns:a16="http://schemas.microsoft.com/office/drawing/2014/main" id="{0466E4C1-B3E3-477C-993D-26D21595D1C2}"/>
              </a:ext>
            </a:extLst>
          </p:cNvPr>
          <p:cNvGrpSpPr>
            <a:grpSpLocks/>
          </p:cNvGrpSpPr>
          <p:nvPr/>
        </p:nvGrpSpPr>
        <p:grpSpPr bwMode="auto">
          <a:xfrm>
            <a:off x="3554202" y="4752719"/>
            <a:ext cx="727075" cy="873125"/>
            <a:chOff x="1284" y="2970"/>
            <a:chExt cx="485" cy="550"/>
          </a:xfrm>
        </p:grpSpPr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28E9EB1D-7890-4187-9458-2B50E48E46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196" y="3118"/>
              <a:ext cx="40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zh-CN" altLang="en-US" sz="1800">
                  <a:solidFill>
                    <a:schemeClr val="accent2"/>
                  </a:solidFill>
                </a:rPr>
                <a:t>小径</a:t>
              </a: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3F55C2D3-F4D1-43B4-A2B6-289CEAF22B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3" y="2978"/>
              <a:ext cx="267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Freeform 24">
              <a:extLst>
                <a:ext uri="{FF2B5EF4-FFF2-40B4-BE49-F238E27FC236}">
                  <a16:creationId xmlns:a16="http://schemas.microsoft.com/office/drawing/2014/main" id="{ABED1ACC-3FFA-4340-A170-3D1BF9D75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3510"/>
              <a:ext cx="282" cy="1"/>
            </a:xfrm>
            <a:custGeom>
              <a:avLst/>
              <a:gdLst>
                <a:gd name="T0" fmla="*/ 2 w 405"/>
                <a:gd name="T1" fmla="*/ 0 h 1"/>
                <a:gd name="T2" fmla="*/ 0 w 405"/>
                <a:gd name="T3" fmla="*/ 0 h 1"/>
                <a:gd name="T4" fmla="*/ 0 60000 65536"/>
                <a:gd name="T5" fmla="*/ 0 60000 65536"/>
                <a:gd name="T6" fmla="*/ 0 w 405"/>
                <a:gd name="T7" fmla="*/ 0 h 1"/>
                <a:gd name="T8" fmla="*/ 405 w 40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5" h="1">
                  <a:moveTo>
                    <a:pt x="405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Freeform 25">
              <a:extLst>
                <a:ext uri="{FF2B5EF4-FFF2-40B4-BE49-F238E27FC236}">
                  <a16:creationId xmlns:a16="http://schemas.microsoft.com/office/drawing/2014/main" id="{A36B21FA-0A6B-4BD2-AA03-BF9ED477C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" y="2970"/>
              <a:ext cx="1" cy="550"/>
            </a:xfrm>
            <a:custGeom>
              <a:avLst/>
              <a:gdLst>
                <a:gd name="T0" fmla="*/ 0 w 1"/>
                <a:gd name="T1" fmla="*/ 0 h 811"/>
                <a:gd name="T2" fmla="*/ 0 w 1"/>
                <a:gd name="T3" fmla="*/ 3 h 811"/>
                <a:gd name="T4" fmla="*/ 0 60000 65536"/>
                <a:gd name="T5" fmla="*/ 0 60000 65536"/>
                <a:gd name="T6" fmla="*/ 0 w 1"/>
                <a:gd name="T7" fmla="*/ 0 h 811"/>
                <a:gd name="T8" fmla="*/ 1 w 1"/>
                <a:gd name="T9" fmla="*/ 811 h 81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811">
                  <a:moveTo>
                    <a:pt x="0" y="0"/>
                  </a:moveTo>
                  <a:lnTo>
                    <a:pt x="0" y="811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" name="Group 26">
            <a:extLst>
              <a:ext uri="{FF2B5EF4-FFF2-40B4-BE49-F238E27FC236}">
                <a16:creationId xmlns:a16="http://schemas.microsoft.com/office/drawing/2014/main" id="{752D56E7-6C0E-45B5-9D6B-1038F350B25C}"/>
              </a:ext>
            </a:extLst>
          </p:cNvPr>
          <p:cNvGrpSpPr>
            <a:grpSpLocks/>
          </p:cNvGrpSpPr>
          <p:nvPr/>
        </p:nvGrpSpPr>
        <p:grpSpPr bwMode="auto">
          <a:xfrm>
            <a:off x="3066839" y="4659056"/>
            <a:ext cx="1292225" cy="1081088"/>
            <a:chOff x="1058" y="2899"/>
            <a:chExt cx="748" cy="681"/>
          </a:xfrm>
        </p:grpSpPr>
        <p:sp>
          <p:nvSpPr>
            <p:cNvPr id="27" name="Line 27">
              <a:extLst>
                <a:ext uri="{FF2B5EF4-FFF2-40B4-BE49-F238E27FC236}">
                  <a16:creationId xmlns:a16="http://schemas.microsoft.com/office/drawing/2014/main" id="{FA00D223-1B99-4292-BE07-A0E081E2A0F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9" y="2913"/>
              <a:ext cx="567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05CC7DF7-8DB0-48D6-B3DC-18F745898A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39" y="3563"/>
              <a:ext cx="567" cy="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Freeform 29">
              <a:extLst>
                <a:ext uri="{FF2B5EF4-FFF2-40B4-BE49-F238E27FC236}">
                  <a16:creationId xmlns:a16="http://schemas.microsoft.com/office/drawing/2014/main" id="{54393E2C-F11C-4020-A7FF-226EB98AE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8" y="2899"/>
              <a:ext cx="1" cy="681"/>
            </a:xfrm>
            <a:custGeom>
              <a:avLst/>
              <a:gdLst>
                <a:gd name="T0" fmla="*/ 0 w 1"/>
                <a:gd name="T1" fmla="*/ 0 h 1006"/>
                <a:gd name="T2" fmla="*/ 0 w 1"/>
                <a:gd name="T3" fmla="*/ 4 h 1006"/>
                <a:gd name="T4" fmla="*/ 0 60000 65536"/>
                <a:gd name="T5" fmla="*/ 0 60000 65536"/>
                <a:gd name="T6" fmla="*/ 0 w 1"/>
                <a:gd name="T7" fmla="*/ 0 h 1006"/>
                <a:gd name="T8" fmla="*/ 1 w 1"/>
                <a:gd name="T9" fmla="*/ 1006 h 10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006">
                  <a:moveTo>
                    <a:pt x="0" y="0"/>
                  </a:moveTo>
                  <a:lnTo>
                    <a:pt x="0" y="1006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Text Box 30">
              <a:extLst>
                <a:ext uri="{FF2B5EF4-FFF2-40B4-BE49-F238E27FC236}">
                  <a16:creationId xmlns:a16="http://schemas.microsoft.com/office/drawing/2014/main" id="{B8AC1618-16A3-447C-BD50-3786229809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970" y="3129"/>
              <a:ext cx="409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zh-CN" altLang="en-US" sz="1800">
                  <a:solidFill>
                    <a:schemeClr val="accent2"/>
                  </a:solidFill>
                </a:rPr>
                <a:t>大径</a:t>
              </a:r>
            </a:p>
          </p:txBody>
        </p:sp>
      </p:grpSp>
      <p:grpSp>
        <p:nvGrpSpPr>
          <p:cNvPr id="31" name="Group 49">
            <a:extLst>
              <a:ext uri="{FF2B5EF4-FFF2-40B4-BE49-F238E27FC236}">
                <a16:creationId xmlns:a16="http://schemas.microsoft.com/office/drawing/2014/main" id="{D307621A-B4D5-4C7A-8F65-2E4F1BF231FB}"/>
              </a:ext>
            </a:extLst>
          </p:cNvPr>
          <p:cNvGrpSpPr>
            <a:grpSpLocks/>
          </p:cNvGrpSpPr>
          <p:nvPr/>
        </p:nvGrpSpPr>
        <p:grpSpPr bwMode="auto">
          <a:xfrm>
            <a:off x="2963652" y="5682998"/>
            <a:ext cx="2867025" cy="692150"/>
            <a:chOff x="1359" y="3397"/>
            <a:chExt cx="1806" cy="436"/>
          </a:xfrm>
        </p:grpSpPr>
        <p:sp>
          <p:nvSpPr>
            <p:cNvPr id="32" name="Text Box 50">
              <a:extLst>
                <a:ext uri="{FF2B5EF4-FFF2-40B4-BE49-F238E27FC236}">
                  <a16:creationId xmlns:a16="http://schemas.microsoft.com/office/drawing/2014/main" id="{FC045EC5-3D7C-4CE2-8EF3-61D352A293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59" y="3582"/>
              <a:ext cx="1434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eaLnBrk="1" hangingPunct="1"/>
              <a:r>
                <a:rPr lang="zh-CN" altLang="en-US" b="1" dirty="0">
                  <a:solidFill>
                    <a:srgbClr val="FF3300"/>
                  </a:solidFill>
                </a:rPr>
                <a:t>螺纹终止线画一小段</a:t>
              </a:r>
            </a:p>
          </p:txBody>
        </p:sp>
        <p:sp>
          <p:nvSpPr>
            <p:cNvPr id="33" name="Line 51">
              <a:extLst>
                <a:ext uri="{FF2B5EF4-FFF2-40B4-BE49-F238E27FC236}">
                  <a16:creationId xmlns:a16="http://schemas.microsoft.com/office/drawing/2014/main" id="{776D51F1-F6FF-4C19-A82B-E7F87193138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18" y="3826"/>
              <a:ext cx="1742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4" name="Line 52">
              <a:extLst>
                <a:ext uri="{FF2B5EF4-FFF2-40B4-BE49-F238E27FC236}">
                  <a16:creationId xmlns:a16="http://schemas.microsoft.com/office/drawing/2014/main" id="{1697F7B1-E6D8-4558-A108-3119358725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65" y="3397"/>
              <a:ext cx="0" cy="436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grpSp>
        <p:nvGrpSpPr>
          <p:cNvPr id="35" name="Group 53">
            <a:extLst>
              <a:ext uri="{FF2B5EF4-FFF2-40B4-BE49-F238E27FC236}">
                <a16:creationId xmlns:a16="http://schemas.microsoft.com/office/drawing/2014/main" id="{8D7B445E-EE11-4B44-91F2-6B30EC3EB632}"/>
              </a:ext>
            </a:extLst>
          </p:cNvPr>
          <p:cNvGrpSpPr>
            <a:grpSpLocks/>
          </p:cNvGrpSpPr>
          <p:nvPr/>
        </p:nvGrpSpPr>
        <p:grpSpPr bwMode="auto">
          <a:xfrm>
            <a:off x="6021177" y="5454396"/>
            <a:ext cx="3276600" cy="938213"/>
            <a:chOff x="3139" y="3235"/>
            <a:chExt cx="2064" cy="591"/>
          </a:xfrm>
        </p:grpSpPr>
        <p:sp>
          <p:nvSpPr>
            <p:cNvPr id="36" name="Line 54">
              <a:extLst>
                <a:ext uri="{FF2B5EF4-FFF2-40B4-BE49-F238E27FC236}">
                  <a16:creationId xmlns:a16="http://schemas.microsoft.com/office/drawing/2014/main" id="{99BE23E7-222F-4F01-BAE6-CE8010BCF7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9" y="3401"/>
              <a:ext cx="327" cy="425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7" name="Line 55">
              <a:extLst>
                <a:ext uri="{FF2B5EF4-FFF2-40B4-BE49-F238E27FC236}">
                  <a16:creationId xmlns:a16="http://schemas.microsoft.com/office/drawing/2014/main" id="{3E32232F-6E17-4ABB-8489-9D1B593EA0C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66" y="3235"/>
              <a:ext cx="756" cy="591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8" name="Line 56">
              <a:extLst>
                <a:ext uri="{FF2B5EF4-FFF2-40B4-BE49-F238E27FC236}">
                  <a16:creationId xmlns:a16="http://schemas.microsoft.com/office/drawing/2014/main" id="{FF2DAC83-100C-4941-B0DB-9176B2FDD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61" y="3826"/>
              <a:ext cx="1742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  <p:sp>
          <p:nvSpPr>
            <p:cNvPr id="39" name="Text Box 57">
              <a:extLst>
                <a:ext uri="{FF2B5EF4-FFF2-40B4-BE49-F238E27FC236}">
                  <a16:creationId xmlns:a16="http://schemas.microsoft.com/office/drawing/2014/main" id="{F05DEBD7-76EB-408A-A9DA-70F7DF141A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1" y="3590"/>
              <a:ext cx="1288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0" lang="zh-CN" altLang="en-US" b="1">
                  <a:solidFill>
                    <a:srgbClr val="FF3300"/>
                  </a:solidFill>
                </a:rPr>
                <a:t>剖面线画到大径线</a:t>
              </a:r>
            </a:p>
          </p:txBody>
        </p:sp>
      </p:grpSp>
      <p:grpSp>
        <p:nvGrpSpPr>
          <p:cNvPr id="40" name="Group 58">
            <a:extLst>
              <a:ext uri="{FF2B5EF4-FFF2-40B4-BE49-F238E27FC236}">
                <a16:creationId xmlns:a16="http://schemas.microsoft.com/office/drawing/2014/main" id="{0A0CED35-24DF-41EE-99DE-E40592D41855}"/>
              </a:ext>
            </a:extLst>
          </p:cNvPr>
          <p:cNvGrpSpPr>
            <a:grpSpLocks/>
          </p:cNvGrpSpPr>
          <p:nvPr/>
        </p:nvGrpSpPr>
        <p:grpSpPr bwMode="auto">
          <a:xfrm>
            <a:off x="4446377" y="4238369"/>
            <a:ext cx="695325" cy="1903412"/>
            <a:chOff x="1861" y="2634"/>
            <a:chExt cx="438" cy="1199"/>
          </a:xfrm>
        </p:grpSpPr>
        <p:grpSp>
          <p:nvGrpSpPr>
            <p:cNvPr id="41" name="Group 59">
              <a:extLst>
                <a:ext uri="{FF2B5EF4-FFF2-40B4-BE49-F238E27FC236}">
                  <a16:creationId xmlns:a16="http://schemas.microsoft.com/office/drawing/2014/main" id="{0C618C72-5C21-4F21-A960-C63F6998AF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61" y="2634"/>
              <a:ext cx="224" cy="1199"/>
              <a:chOff x="1981" y="651"/>
              <a:chExt cx="323" cy="1770"/>
            </a:xfrm>
          </p:grpSpPr>
          <p:sp>
            <p:nvSpPr>
              <p:cNvPr id="44" name="Line 60">
                <a:extLst>
                  <a:ext uri="{FF2B5EF4-FFF2-40B4-BE49-F238E27FC236}">
                    <a16:creationId xmlns:a16="http://schemas.microsoft.com/office/drawing/2014/main" id="{79C8DFF4-54A3-48B6-A4F7-C2B97451C6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864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5" name="Line 61">
                <a:extLst>
                  <a:ext uri="{FF2B5EF4-FFF2-40B4-BE49-F238E27FC236}">
                    <a16:creationId xmlns:a16="http://schemas.microsoft.com/office/drawing/2014/main" id="{FD3D00A9-C98D-41B9-8AE9-D512FA4E0C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4" y="2064"/>
                <a:ext cx="0" cy="144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46" name="Group 62">
                <a:extLst>
                  <a:ext uri="{FF2B5EF4-FFF2-40B4-BE49-F238E27FC236}">
                    <a16:creationId xmlns:a16="http://schemas.microsoft.com/office/drawing/2014/main" id="{AAF77460-7778-457C-BC07-4A8219C87A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81" y="651"/>
                <a:ext cx="322" cy="1770"/>
                <a:chOff x="1996" y="651"/>
                <a:chExt cx="322" cy="1770"/>
              </a:xfrm>
            </p:grpSpPr>
            <p:sp>
              <p:nvSpPr>
                <p:cNvPr id="47" name="Text Box 63">
                  <a:extLst>
                    <a:ext uri="{FF2B5EF4-FFF2-40B4-BE49-F238E27FC236}">
                      <a16:creationId xmlns:a16="http://schemas.microsoft.com/office/drawing/2014/main" id="{7E058071-76AD-4D5D-BC6F-8A8FF22B19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996" y="651"/>
                  <a:ext cx="310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/>
                  <a:r>
                    <a:rPr lang="en-US" altLang="zh-CN" i="1">
                      <a:solidFill>
                        <a:srgbClr val="0070C0"/>
                      </a:solidFill>
                      <a:latin typeface="黑体" pitchFamily="49" charset="-122"/>
                      <a:ea typeface="黑体" pitchFamily="49" charset="-122"/>
                    </a:rPr>
                    <a:t>A</a:t>
                  </a:r>
                </a:p>
              </p:txBody>
            </p:sp>
            <p:sp>
              <p:nvSpPr>
                <p:cNvPr id="48" name="Text Box 64">
                  <a:extLst>
                    <a:ext uri="{FF2B5EF4-FFF2-40B4-BE49-F238E27FC236}">
                      <a16:creationId xmlns:a16="http://schemas.microsoft.com/office/drawing/2014/main" id="{98372F7F-0251-4D3D-A1FA-2848722C4A01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009" y="1992"/>
                  <a:ext cx="309" cy="429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ctr">
                  <a:spAutoFit/>
                </a:bodyPr>
                <a:lstStyle/>
                <a:p>
                  <a:pPr algn="ctr" eaLnBrk="1" hangingPunct="1"/>
                  <a:r>
                    <a:rPr lang="en-US" altLang="zh-CN" i="1">
                      <a:solidFill>
                        <a:srgbClr val="0070C0"/>
                      </a:solidFill>
                      <a:latin typeface="黑体" pitchFamily="49" charset="-122"/>
                      <a:ea typeface="黑体" pitchFamily="49" charset="-122"/>
                    </a:rPr>
                    <a:t>A</a:t>
                  </a:r>
                </a:p>
              </p:txBody>
            </p:sp>
          </p:grpSp>
        </p:grpSp>
        <p:sp>
          <p:nvSpPr>
            <p:cNvPr id="42" name="Line 65">
              <a:extLst>
                <a:ext uri="{FF2B5EF4-FFF2-40B4-BE49-F238E27FC236}">
                  <a16:creationId xmlns:a16="http://schemas.microsoft.com/office/drawing/2014/main" id="{8A14561E-ACE9-4810-ADF7-3F80CFBE63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4" y="2780"/>
              <a:ext cx="189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66">
              <a:extLst>
                <a:ext uri="{FF2B5EF4-FFF2-40B4-BE49-F238E27FC236}">
                  <a16:creationId xmlns:a16="http://schemas.microsoft.com/office/drawing/2014/main" id="{CA54B8AA-3DAF-4845-9359-3C42B4F1F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1" y="3682"/>
              <a:ext cx="21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9" name="Arc 67">
            <a:extLst>
              <a:ext uri="{FF2B5EF4-FFF2-40B4-BE49-F238E27FC236}">
                <a16:creationId xmlns:a16="http://schemas.microsoft.com/office/drawing/2014/main" id="{C7167945-057E-42CA-A1A5-625DF39EA86B}"/>
              </a:ext>
            </a:extLst>
          </p:cNvPr>
          <p:cNvSpPr>
            <a:spLocks/>
          </p:cNvSpPr>
          <p:nvPr/>
        </p:nvSpPr>
        <p:spPr bwMode="auto">
          <a:xfrm flipV="1">
            <a:off x="9252434" y="1916857"/>
            <a:ext cx="785812" cy="766763"/>
          </a:xfrm>
          <a:custGeom>
            <a:avLst/>
            <a:gdLst>
              <a:gd name="T0" fmla="*/ 2147483646 w 43200"/>
              <a:gd name="T1" fmla="*/ 2147483646 h 43200"/>
              <a:gd name="T2" fmla="*/ 2147483646 w 43200"/>
              <a:gd name="T3" fmla="*/ 2147483646 h 43200"/>
              <a:gd name="T4" fmla="*/ 2147483646 w 43200"/>
              <a:gd name="T5" fmla="*/ 2147483646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19466" y="105"/>
                </a:moveTo>
                <a:cubicBezTo>
                  <a:pt x="20175" y="35"/>
                  <a:pt x="20887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21090"/>
                  <a:pt x="18" y="20581"/>
                  <a:pt x="53" y="20073"/>
                </a:cubicBezTo>
              </a:path>
              <a:path w="43200" h="43200" stroke="0" extrusionOk="0">
                <a:moveTo>
                  <a:pt x="19466" y="105"/>
                </a:moveTo>
                <a:cubicBezTo>
                  <a:pt x="20175" y="35"/>
                  <a:pt x="20887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21090"/>
                  <a:pt x="18" y="20581"/>
                  <a:pt x="53" y="20073"/>
                </a:cubicBezTo>
                <a:lnTo>
                  <a:pt x="21600" y="21600"/>
                </a:lnTo>
                <a:lnTo>
                  <a:pt x="19466" y="105"/>
                </a:lnTo>
                <a:close/>
              </a:path>
            </a:pathLst>
          </a:custGeom>
          <a:noFill/>
          <a:ln w="1905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0" name="Group 68">
            <a:extLst>
              <a:ext uri="{FF2B5EF4-FFF2-40B4-BE49-F238E27FC236}">
                <a16:creationId xmlns:a16="http://schemas.microsoft.com/office/drawing/2014/main" id="{55CB2EAD-21D2-4C6D-B4F8-F12B1A37345B}"/>
              </a:ext>
            </a:extLst>
          </p:cNvPr>
          <p:cNvGrpSpPr>
            <a:grpSpLocks/>
          </p:cNvGrpSpPr>
          <p:nvPr/>
        </p:nvGrpSpPr>
        <p:grpSpPr bwMode="auto">
          <a:xfrm>
            <a:off x="3640621" y="2688382"/>
            <a:ext cx="3043238" cy="1304925"/>
            <a:chOff x="1038" y="1353"/>
            <a:chExt cx="1917" cy="822"/>
          </a:xfrm>
        </p:grpSpPr>
        <p:sp>
          <p:nvSpPr>
            <p:cNvPr id="51" name="Text Box 69">
              <a:extLst>
                <a:ext uri="{FF2B5EF4-FFF2-40B4-BE49-F238E27FC236}">
                  <a16:creationId xmlns:a16="http://schemas.microsoft.com/office/drawing/2014/main" id="{0A11D27B-E316-4F68-BBE5-3E03997006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38" y="1483"/>
              <a:ext cx="1169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FF3300"/>
                  </a:solidFill>
                </a:rPr>
                <a:t>小径线画细实线且画到倒角内</a:t>
              </a:r>
            </a:p>
          </p:txBody>
        </p:sp>
        <p:sp>
          <p:nvSpPr>
            <p:cNvPr id="52" name="Text Box 70">
              <a:extLst>
                <a:ext uri="{FF2B5EF4-FFF2-40B4-BE49-F238E27FC236}">
                  <a16:creationId xmlns:a16="http://schemas.microsoft.com/office/drawing/2014/main" id="{95DC02A2-494F-4CE6-88C8-4F98FC634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3" y="1887"/>
              <a:ext cx="1135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zh-CN" altLang="en-US">
                  <a:solidFill>
                    <a:schemeClr val="accent2"/>
                  </a:solidFill>
                </a:rPr>
                <a:t>小径≈</a:t>
              </a:r>
              <a:r>
                <a:rPr lang="en-US" altLang="zh-CN">
                  <a:solidFill>
                    <a:schemeClr val="accent2"/>
                  </a:solidFill>
                </a:rPr>
                <a:t>0.85d</a:t>
              </a:r>
            </a:p>
          </p:txBody>
        </p:sp>
        <p:sp>
          <p:nvSpPr>
            <p:cNvPr id="53" name="Line 71">
              <a:extLst>
                <a:ext uri="{FF2B5EF4-FFF2-40B4-BE49-F238E27FC236}">
                  <a16:creationId xmlns:a16="http://schemas.microsoft.com/office/drawing/2014/main" id="{AA0F6947-8763-4AB0-8C09-C0E9F079C6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02" y="1929"/>
              <a:ext cx="1280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4" name="Line 72">
              <a:extLst>
                <a:ext uri="{FF2B5EF4-FFF2-40B4-BE49-F238E27FC236}">
                  <a16:creationId xmlns:a16="http://schemas.microsoft.com/office/drawing/2014/main" id="{647E7DB5-8020-4100-B494-BEE2D3F4FB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380" y="1353"/>
              <a:ext cx="575" cy="575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5" name="Group 73">
            <a:extLst>
              <a:ext uri="{FF2B5EF4-FFF2-40B4-BE49-F238E27FC236}">
                <a16:creationId xmlns:a16="http://schemas.microsoft.com/office/drawing/2014/main" id="{3426081C-1F83-4E2B-90B7-8B2A51EB8A6B}"/>
              </a:ext>
            </a:extLst>
          </p:cNvPr>
          <p:cNvGrpSpPr>
            <a:grpSpLocks/>
          </p:cNvGrpSpPr>
          <p:nvPr/>
        </p:nvGrpSpPr>
        <p:grpSpPr bwMode="auto">
          <a:xfrm>
            <a:off x="6085371" y="2756646"/>
            <a:ext cx="1639888" cy="1128713"/>
            <a:chOff x="2582" y="1410"/>
            <a:chExt cx="1033" cy="711"/>
          </a:xfrm>
        </p:grpSpPr>
        <p:sp>
          <p:nvSpPr>
            <p:cNvPr id="56" name="Text Box 74">
              <a:extLst>
                <a:ext uri="{FF2B5EF4-FFF2-40B4-BE49-F238E27FC236}">
                  <a16:creationId xmlns:a16="http://schemas.microsoft.com/office/drawing/2014/main" id="{DA9580D5-2FE5-41B0-8BEE-E975B1F476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82" y="1673"/>
              <a:ext cx="923" cy="407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square" anchor="ctr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FF3300"/>
                  </a:solidFill>
                </a:rPr>
                <a:t>螺纹终止线画粗实线</a:t>
              </a:r>
            </a:p>
          </p:txBody>
        </p:sp>
        <p:sp>
          <p:nvSpPr>
            <p:cNvPr id="57" name="Line 75">
              <a:extLst>
                <a:ext uri="{FF2B5EF4-FFF2-40B4-BE49-F238E27FC236}">
                  <a16:creationId xmlns:a16="http://schemas.microsoft.com/office/drawing/2014/main" id="{37565F31-0895-4B54-B7E6-344C6854A4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12" y="1410"/>
              <a:ext cx="0" cy="711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 type="triangle" w="sm" len="lg"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Line 76">
              <a:extLst>
                <a:ext uri="{FF2B5EF4-FFF2-40B4-BE49-F238E27FC236}">
                  <a16:creationId xmlns:a16="http://schemas.microsoft.com/office/drawing/2014/main" id="{7F8B2BD3-FC12-4D99-AAC1-24E94744CE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19" y="2115"/>
              <a:ext cx="996" cy="0"/>
            </a:xfrm>
            <a:prstGeom prst="line">
              <a:avLst/>
            </a:prstGeom>
            <a:noFill/>
            <a:ln w="12700">
              <a:solidFill>
                <a:srgbClr val="FF66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59" name="Line 102">
            <a:extLst>
              <a:ext uri="{FF2B5EF4-FFF2-40B4-BE49-F238E27FC236}">
                <a16:creationId xmlns:a16="http://schemas.microsoft.com/office/drawing/2014/main" id="{F7D92293-4A49-4822-AF14-321F513C9777}"/>
              </a:ext>
            </a:extLst>
          </p:cNvPr>
          <p:cNvSpPr>
            <a:spLocks noChangeShapeType="1"/>
          </p:cNvSpPr>
          <p:nvPr/>
        </p:nvSpPr>
        <p:spPr bwMode="auto">
          <a:xfrm>
            <a:off x="4504221" y="1927970"/>
            <a:ext cx="5145088" cy="0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60" name="Line 103">
            <a:extLst>
              <a:ext uri="{FF2B5EF4-FFF2-40B4-BE49-F238E27FC236}">
                <a16:creationId xmlns:a16="http://schemas.microsoft.com/office/drawing/2014/main" id="{691372E1-470C-4160-83FF-EE50D48DB6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15334" y="1820020"/>
            <a:ext cx="5156200" cy="0"/>
          </a:xfrm>
          <a:prstGeom prst="line">
            <a:avLst/>
          </a:prstGeom>
          <a:noFill/>
          <a:ln w="19050">
            <a:solidFill>
              <a:srgbClr val="CC00CC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1" name="Group 104">
            <a:extLst>
              <a:ext uri="{FF2B5EF4-FFF2-40B4-BE49-F238E27FC236}">
                <a16:creationId xmlns:a16="http://schemas.microsoft.com/office/drawing/2014/main" id="{8BEA3EEA-1CC5-410E-B145-91DDE91D13ED}"/>
              </a:ext>
            </a:extLst>
          </p:cNvPr>
          <p:cNvGrpSpPr>
            <a:grpSpLocks/>
          </p:cNvGrpSpPr>
          <p:nvPr/>
        </p:nvGrpSpPr>
        <p:grpSpPr bwMode="auto">
          <a:xfrm>
            <a:off x="6431446" y="1924795"/>
            <a:ext cx="1270000" cy="749300"/>
            <a:chOff x="2692" y="902"/>
            <a:chExt cx="800" cy="472"/>
          </a:xfrm>
        </p:grpSpPr>
        <p:sp>
          <p:nvSpPr>
            <p:cNvPr id="62" name="Freeform 105">
              <a:extLst>
                <a:ext uri="{FF2B5EF4-FFF2-40B4-BE49-F238E27FC236}">
                  <a16:creationId xmlns:a16="http://schemas.microsoft.com/office/drawing/2014/main" id="{19DAB95E-D53D-4961-9B71-6912C66CC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2" y="1372"/>
              <a:ext cx="800" cy="2"/>
            </a:xfrm>
            <a:custGeom>
              <a:avLst/>
              <a:gdLst>
                <a:gd name="T0" fmla="*/ 0 w 902"/>
                <a:gd name="T1" fmla="*/ 0 h 2"/>
                <a:gd name="T2" fmla="*/ 169 w 902"/>
                <a:gd name="T3" fmla="*/ 2 h 2"/>
                <a:gd name="T4" fmla="*/ 0 60000 65536"/>
                <a:gd name="T5" fmla="*/ 0 60000 65536"/>
                <a:gd name="T6" fmla="*/ 0 w 902"/>
                <a:gd name="T7" fmla="*/ 0 h 2"/>
                <a:gd name="T8" fmla="*/ 902 w 902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02" h="2">
                  <a:moveTo>
                    <a:pt x="0" y="0"/>
                  </a:moveTo>
                  <a:lnTo>
                    <a:pt x="902" y="2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" name="Freeform 106">
              <a:extLst>
                <a:ext uri="{FF2B5EF4-FFF2-40B4-BE49-F238E27FC236}">
                  <a16:creationId xmlns:a16="http://schemas.microsoft.com/office/drawing/2014/main" id="{C6F85B15-BB96-49CD-8188-9F438DAFD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7" y="902"/>
              <a:ext cx="795" cy="1"/>
            </a:xfrm>
            <a:custGeom>
              <a:avLst/>
              <a:gdLst>
                <a:gd name="T0" fmla="*/ 0 w 896"/>
                <a:gd name="T1" fmla="*/ 0 h 1"/>
                <a:gd name="T2" fmla="*/ 168 w 896"/>
                <a:gd name="T3" fmla="*/ 0 h 1"/>
                <a:gd name="T4" fmla="*/ 0 60000 65536"/>
                <a:gd name="T5" fmla="*/ 0 60000 65536"/>
                <a:gd name="T6" fmla="*/ 0 w 896"/>
                <a:gd name="T7" fmla="*/ 0 h 1"/>
                <a:gd name="T8" fmla="*/ 896 w 89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96" h="1">
                  <a:moveTo>
                    <a:pt x="0" y="0"/>
                  </a:moveTo>
                  <a:lnTo>
                    <a:pt x="896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4" name="Group 107">
            <a:extLst>
              <a:ext uri="{FF2B5EF4-FFF2-40B4-BE49-F238E27FC236}">
                <a16:creationId xmlns:a16="http://schemas.microsoft.com/office/drawing/2014/main" id="{62D70E76-DD90-4F69-AAE1-93D0F920E7FC}"/>
              </a:ext>
            </a:extLst>
          </p:cNvPr>
          <p:cNvGrpSpPr>
            <a:grpSpLocks/>
          </p:cNvGrpSpPr>
          <p:nvPr/>
        </p:nvGrpSpPr>
        <p:grpSpPr bwMode="auto">
          <a:xfrm>
            <a:off x="6421921" y="1816845"/>
            <a:ext cx="1990725" cy="971550"/>
            <a:chOff x="2686" y="834"/>
            <a:chExt cx="1254" cy="612"/>
          </a:xfrm>
        </p:grpSpPr>
        <p:sp>
          <p:nvSpPr>
            <p:cNvPr id="65" name="Line 108">
              <a:extLst>
                <a:ext uri="{FF2B5EF4-FFF2-40B4-BE49-F238E27FC236}">
                  <a16:creationId xmlns:a16="http://schemas.microsoft.com/office/drawing/2014/main" id="{F6B28CD0-6D19-4BD6-8D52-D8B27E80C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8" y="837"/>
              <a:ext cx="1152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Freeform 109">
              <a:extLst>
                <a:ext uri="{FF2B5EF4-FFF2-40B4-BE49-F238E27FC236}">
                  <a16:creationId xmlns:a16="http://schemas.microsoft.com/office/drawing/2014/main" id="{8BD54218-4634-456D-9152-4E9A2F86A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" y="840"/>
              <a:ext cx="1" cy="606"/>
            </a:xfrm>
            <a:custGeom>
              <a:avLst/>
              <a:gdLst>
                <a:gd name="T0" fmla="*/ 0 w 1"/>
                <a:gd name="T1" fmla="*/ 0 h 606"/>
                <a:gd name="T2" fmla="*/ 0 w 1"/>
                <a:gd name="T3" fmla="*/ 606 h 606"/>
                <a:gd name="T4" fmla="*/ 0 60000 65536"/>
                <a:gd name="T5" fmla="*/ 0 60000 65536"/>
                <a:gd name="T6" fmla="*/ 0 w 1"/>
                <a:gd name="T7" fmla="*/ 0 h 606"/>
                <a:gd name="T8" fmla="*/ 1 w 1"/>
                <a:gd name="T9" fmla="*/ 606 h 60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606">
                  <a:moveTo>
                    <a:pt x="0" y="0"/>
                  </a:moveTo>
                  <a:lnTo>
                    <a:pt x="0" y="606"/>
                  </a:lnTo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Line 110">
              <a:extLst>
                <a:ext uri="{FF2B5EF4-FFF2-40B4-BE49-F238E27FC236}">
                  <a16:creationId xmlns:a16="http://schemas.microsoft.com/office/drawing/2014/main" id="{9034BBF9-DEFD-45E4-90BD-5A119AF9FC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48" y="1437"/>
              <a:ext cx="1152" cy="1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8" name="Freeform 111">
              <a:extLst>
                <a:ext uri="{FF2B5EF4-FFF2-40B4-BE49-F238E27FC236}">
                  <a16:creationId xmlns:a16="http://schemas.microsoft.com/office/drawing/2014/main" id="{F18E34CD-E5D1-49E1-A4FD-8CAC8A5D5B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834"/>
              <a:ext cx="68" cy="75"/>
            </a:xfrm>
            <a:custGeom>
              <a:avLst/>
              <a:gdLst>
                <a:gd name="T0" fmla="*/ 81 w 65"/>
                <a:gd name="T1" fmla="*/ 0 h 65"/>
                <a:gd name="T2" fmla="*/ 0 w 65"/>
                <a:gd name="T3" fmla="*/ 133 h 65"/>
                <a:gd name="T4" fmla="*/ 0 60000 65536"/>
                <a:gd name="T5" fmla="*/ 0 60000 65536"/>
                <a:gd name="T6" fmla="*/ 0 w 65"/>
                <a:gd name="T7" fmla="*/ 0 h 65"/>
                <a:gd name="T8" fmla="*/ 65 w 65"/>
                <a:gd name="T9" fmla="*/ 65 h 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5" h="65">
                  <a:moveTo>
                    <a:pt x="65" y="0"/>
                  </a:moveTo>
                  <a:lnTo>
                    <a:pt x="0" y="65"/>
                  </a:lnTo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9" name="Freeform 112">
              <a:extLst>
                <a:ext uri="{FF2B5EF4-FFF2-40B4-BE49-F238E27FC236}">
                  <a16:creationId xmlns:a16="http://schemas.microsoft.com/office/drawing/2014/main" id="{A6748F01-89F3-408F-8311-0BA95C36C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897"/>
              <a:ext cx="1" cy="478"/>
            </a:xfrm>
            <a:custGeom>
              <a:avLst/>
              <a:gdLst>
                <a:gd name="T0" fmla="*/ 0 w 1"/>
                <a:gd name="T1" fmla="*/ 0 h 478"/>
                <a:gd name="T2" fmla="*/ 0 w 1"/>
                <a:gd name="T3" fmla="*/ 478 h 478"/>
                <a:gd name="T4" fmla="*/ 0 60000 65536"/>
                <a:gd name="T5" fmla="*/ 0 60000 65536"/>
                <a:gd name="T6" fmla="*/ 0 w 1"/>
                <a:gd name="T7" fmla="*/ 0 h 478"/>
                <a:gd name="T8" fmla="*/ 1 w 1"/>
                <a:gd name="T9" fmla="*/ 478 h 47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78">
                  <a:moveTo>
                    <a:pt x="0" y="0"/>
                  </a:moveTo>
                  <a:lnTo>
                    <a:pt x="0" y="478"/>
                  </a:lnTo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0" name="Freeform 113">
              <a:extLst>
                <a:ext uri="{FF2B5EF4-FFF2-40B4-BE49-F238E27FC236}">
                  <a16:creationId xmlns:a16="http://schemas.microsoft.com/office/drawing/2014/main" id="{9B2970FC-E81A-41F3-BB43-247B0540EC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1367"/>
              <a:ext cx="63" cy="71"/>
            </a:xfrm>
            <a:custGeom>
              <a:avLst/>
              <a:gdLst>
                <a:gd name="T0" fmla="*/ 5 w 75"/>
                <a:gd name="T1" fmla="*/ 9 h 75"/>
                <a:gd name="T2" fmla="*/ 0 w 75"/>
                <a:gd name="T3" fmla="*/ 0 h 75"/>
                <a:gd name="T4" fmla="*/ 0 60000 65536"/>
                <a:gd name="T5" fmla="*/ 0 60000 65536"/>
                <a:gd name="T6" fmla="*/ 0 w 75"/>
                <a:gd name="T7" fmla="*/ 0 h 75"/>
                <a:gd name="T8" fmla="*/ 75 w 75"/>
                <a:gd name="T9" fmla="*/ 75 h 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5" h="75">
                  <a:moveTo>
                    <a:pt x="75" y="75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1" name="Freeform 114">
              <a:extLst>
                <a:ext uri="{FF2B5EF4-FFF2-40B4-BE49-F238E27FC236}">
                  <a16:creationId xmlns:a16="http://schemas.microsoft.com/office/drawing/2014/main" id="{1F3A337E-9861-4061-A522-0B95C026BA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834"/>
              <a:ext cx="76" cy="606"/>
            </a:xfrm>
            <a:custGeom>
              <a:avLst/>
              <a:gdLst>
                <a:gd name="T0" fmla="*/ 36 w 76"/>
                <a:gd name="T1" fmla="*/ 0 h 606"/>
                <a:gd name="T2" fmla="*/ 72 w 76"/>
                <a:gd name="T3" fmla="*/ 126 h 606"/>
                <a:gd name="T4" fmla="*/ 12 w 76"/>
                <a:gd name="T5" fmla="*/ 270 h 606"/>
                <a:gd name="T6" fmla="*/ 36 w 76"/>
                <a:gd name="T7" fmla="*/ 426 h 606"/>
                <a:gd name="T8" fmla="*/ 0 w 76"/>
                <a:gd name="T9" fmla="*/ 528 h 606"/>
                <a:gd name="T10" fmla="*/ 36 w 76"/>
                <a:gd name="T11" fmla="*/ 606 h 6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76"/>
                <a:gd name="T19" fmla="*/ 0 h 606"/>
                <a:gd name="T20" fmla="*/ 76 w 76"/>
                <a:gd name="T21" fmla="*/ 606 h 60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76" h="606">
                  <a:moveTo>
                    <a:pt x="36" y="0"/>
                  </a:moveTo>
                  <a:cubicBezTo>
                    <a:pt x="56" y="40"/>
                    <a:pt x="76" y="81"/>
                    <a:pt x="72" y="126"/>
                  </a:cubicBezTo>
                  <a:cubicBezTo>
                    <a:pt x="68" y="171"/>
                    <a:pt x="18" y="220"/>
                    <a:pt x="12" y="270"/>
                  </a:cubicBezTo>
                  <a:cubicBezTo>
                    <a:pt x="6" y="320"/>
                    <a:pt x="38" y="383"/>
                    <a:pt x="36" y="426"/>
                  </a:cubicBezTo>
                  <a:cubicBezTo>
                    <a:pt x="34" y="469"/>
                    <a:pt x="0" y="498"/>
                    <a:pt x="0" y="528"/>
                  </a:cubicBezTo>
                  <a:cubicBezTo>
                    <a:pt x="0" y="558"/>
                    <a:pt x="29" y="594"/>
                    <a:pt x="36" y="606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72" name="Text Box 8">
            <a:extLst>
              <a:ext uri="{FF2B5EF4-FFF2-40B4-BE49-F238E27FC236}">
                <a16:creationId xmlns:a16="http://schemas.microsoft.com/office/drawing/2014/main" id="{B94BB2C1-22A2-48C4-BECA-091E22FB81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3902" y="785794"/>
            <a:ext cx="3430587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三、螺纹的规定画法</a:t>
            </a:r>
          </a:p>
        </p:txBody>
      </p:sp>
      <p:grpSp>
        <p:nvGrpSpPr>
          <p:cNvPr id="74" name="组合 184">
            <a:extLst>
              <a:ext uri="{FF2B5EF4-FFF2-40B4-BE49-F238E27FC236}">
                <a16:creationId xmlns:a16="http://schemas.microsoft.com/office/drawing/2014/main" id="{E2C9CCA7-A5E7-4B16-B4A1-D76FA3D236DF}"/>
              </a:ext>
            </a:extLst>
          </p:cNvPr>
          <p:cNvGrpSpPr>
            <a:grpSpLocks/>
          </p:cNvGrpSpPr>
          <p:nvPr/>
        </p:nvGrpSpPr>
        <p:grpSpPr bwMode="auto">
          <a:xfrm>
            <a:off x="6156809" y="2320082"/>
            <a:ext cx="2312987" cy="0"/>
            <a:chOff x="4405312" y="2528888"/>
            <a:chExt cx="2312353" cy="6351"/>
          </a:xfrm>
        </p:grpSpPr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943D5FB0-472A-43E9-A668-770EABA3A85F}"/>
                </a:ext>
              </a:extLst>
            </p:cNvPr>
            <p:cNvCxnSpPr/>
            <p:nvPr/>
          </p:nvCxnSpPr>
          <p:spPr>
            <a:xfrm>
              <a:off x="4405387" y="2422525"/>
              <a:ext cx="539602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直接连接符 75">
              <a:extLst>
                <a:ext uri="{FF2B5EF4-FFF2-40B4-BE49-F238E27FC236}">
                  <a16:creationId xmlns:a16="http://schemas.microsoft.com/office/drawing/2014/main" id="{F3F177D5-D58C-458D-B9FD-ADA27358FE26}"/>
                </a:ext>
              </a:extLst>
            </p:cNvPr>
            <p:cNvCxnSpPr/>
            <p:nvPr/>
          </p:nvCxnSpPr>
          <p:spPr>
            <a:xfrm>
              <a:off x="4983178" y="2422525"/>
              <a:ext cx="10792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7444D400-9A8B-40EE-B61F-31682EF9031E}"/>
                </a:ext>
              </a:extLst>
            </p:cNvPr>
            <p:cNvCxnSpPr/>
            <p:nvPr/>
          </p:nvCxnSpPr>
          <p:spPr>
            <a:xfrm>
              <a:off x="5145162" y="2422525"/>
              <a:ext cx="539602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9833C969-1613-4134-AD29-D23DBB811B06}"/>
                </a:ext>
              </a:extLst>
            </p:cNvPr>
            <p:cNvCxnSpPr/>
            <p:nvPr/>
          </p:nvCxnSpPr>
          <p:spPr>
            <a:xfrm>
              <a:off x="5770578" y="2422525"/>
              <a:ext cx="10792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36016033-FC77-424C-8C44-29F1AAFE067E}"/>
                </a:ext>
              </a:extLst>
            </p:cNvPr>
            <p:cNvCxnSpPr/>
            <p:nvPr/>
          </p:nvCxnSpPr>
          <p:spPr>
            <a:xfrm>
              <a:off x="5932596" y="2422525"/>
              <a:ext cx="785597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" name="组合 177">
            <a:extLst>
              <a:ext uri="{FF2B5EF4-FFF2-40B4-BE49-F238E27FC236}">
                <a16:creationId xmlns:a16="http://schemas.microsoft.com/office/drawing/2014/main" id="{2FA6158C-82E1-4196-AA8F-AE212D94DFA5}"/>
              </a:ext>
            </a:extLst>
          </p:cNvPr>
          <p:cNvGrpSpPr>
            <a:grpSpLocks/>
          </p:cNvGrpSpPr>
          <p:nvPr/>
        </p:nvGrpSpPr>
        <p:grpSpPr bwMode="auto">
          <a:xfrm>
            <a:off x="9155596" y="2316907"/>
            <a:ext cx="1263650" cy="0"/>
            <a:chOff x="7308850" y="2413000"/>
            <a:chExt cx="1263650" cy="14288"/>
          </a:xfrm>
        </p:grpSpPr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BFABE71-EBFF-4232-9919-06EC2F7CB772}"/>
                </a:ext>
              </a:extLst>
            </p:cNvPr>
            <p:cNvCxnSpPr/>
            <p:nvPr/>
          </p:nvCxnSpPr>
          <p:spPr>
            <a:xfrm>
              <a:off x="7150100" y="2419350"/>
              <a:ext cx="30480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C9F0B26B-711C-40E8-8B5F-11548D826EF6}"/>
                </a:ext>
              </a:extLst>
            </p:cNvPr>
            <p:cNvCxnSpPr/>
            <p:nvPr/>
          </p:nvCxnSpPr>
          <p:spPr>
            <a:xfrm>
              <a:off x="7512050" y="2419350"/>
              <a:ext cx="9525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0F232CD2-06EE-4E93-B82A-73CD9688A029}"/>
                </a:ext>
              </a:extLst>
            </p:cNvPr>
            <p:cNvCxnSpPr/>
            <p:nvPr/>
          </p:nvCxnSpPr>
          <p:spPr>
            <a:xfrm>
              <a:off x="7651750" y="2419350"/>
              <a:ext cx="30480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9F08CF00-EA1B-4F51-B02D-23526B256A03}"/>
                </a:ext>
              </a:extLst>
            </p:cNvPr>
            <p:cNvCxnSpPr/>
            <p:nvPr/>
          </p:nvCxnSpPr>
          <p:spPr>
            <a:xfrm>
              <a:off x="7969250" y="2419350"/>
              <a:ext cx="9525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E249E278-76C7-4E76-BA0A-8E6AD4CD595E}"/>
                </a:ext>
              </a:extLst>
            </p:cNvPr>
            <p:cNvCxnSpPr/>
            <p:nvPr/>
          </p:nvCxnSpPr>
          <p:spPr>
            <a:xfrm>
              <a:off x="8108950" y="2419350"/>
              <a:ext cx="30480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6" name="组合 178">
            <a:extLst>
              <a:ext uri="{FF2B5EF4-FFF2-40B4-BE49-F238E27FC236}">
                <a16:creationId xmlns:a16="http://schemas.microsoft.com/office/drawing/2014/main" id="{A7EE12DC-EFC6-44D3-B166-6F7D24807EDC}"/>
              </a:ext>
            </a:extLst>
          </p:cNvPr>
          <p:cNvGrpSpPr>
            <a:grpSpLocks/>
          </p:cNvGrpSpPr>
          <p:nvPr/>
        </p:nvGrpSpPr>
        <p:grpSpPr bwMode="auto">
          <a:xfrm rot="16200000">
            <a:off x="9027079" y="2302597"/>
            <a:ext cx="1244460" cy="0"/>
            <a:chOff x="7446519" y="2387671"/>
            <a:chExt cx="891475" cy="77717"/>
          </a:xfrm>
        </p:grpSpPr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id="{2289AA80-BB9D-4F80-B720-22001FCBF713}"/>
                </a:ext>
              </a:extLst>
            </p:cNvPr>
            <p:cNvCxnSpPr/>
            <p:nvPr/>
          </p:nvCxnSpPr>
          <p:spPr>
            <a:xfrm>
              <a:off x="7745413" y="2465388"/>
              <a:ext cx="30480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id="{189B3DA8-DCB5-4AD8-8EFD-C19C60333BD0}"/>
                </a:ext>
              </a:extLst>
            </p:cNvPr>
            <p:cNvCxnSpPr/>
            <p:nvPr/>
          </p:nvCxnSpPr>
          <p:spPr>
            <a:xfrm>
              <a:off x="7850188" y="2465388"/>
              <a:ext cx="9525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>
              <a:extLst>
                <a:ext uri="{FF2B5EF4-FFF2-40B4-BE49-F238E27FC236}">
                  <a16:creationId xmlns:a16="http://schemas.microsoft.com/office/drawing/2014/main" id="{832914A0-CB96-4EAE-9F85-4229CA5DA6FA}"/>
                </a:ext>
              </a:extLst>
            </p:cNvPr>
            <p:cNvCxnSpPr/>
            <p:nvPr/>
          </p:nvCxnSpPr>
          <p:spPr>
            <a:xfrm>
              <a:off x="7745413" y="2465388"/>
              <a:ext cx="30480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>
              <a:extLst>
                <a:ext uri="{FF2B5EF4-FFF2-40B4-BE49-F238E27FC236}">
                  <a16:creationId xmlns:a16="http://schemas.microsoft.com/office/drawing/2014/main" id="{52B8D74E-8374-4A43-A4E3-AD650A31488A}"/>
                </a:ext>
              </a:extLst>
            </p:cNvPr>
            <p:cNvCxnSpPr/>
            <p:nvPr/>
          </p:nvCxnSpPr>
          <p:spPr>
            <a:xfrm>
              <a:off x="7850188" y="2465388"/>
              <a:ext cx="9525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连接符 90">
              <a:extLst>
                <a:ext uri="{FF2B5EF4-FFF2-40B4-BE49-F238E27FC236}">
                  <a16:creationId xmlns:a16="http://schemas.microsoft.com/office/drawing/2014/main" id="{218FCA01-256C-4937-8110-B96E3DAD5A41}"/>
                </a:ext>
              </a:extLst>
            </p:cNvPr>
            <p:cNvCxnSpPr/>
            <p:nvPr/>
          </p:nvCxnSpPr>
          <p:spPr>
            <a:xfrm rot="10800000" flipH="1" flipV="1">
              <a:off x="7446519" y="2387671"/>
              <a:ext cx="891475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2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2116163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3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8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20" grpId="0" autoUpdateAnimBg="0"/>
      <p:bldP spid="49" grpId="0" animBg="1"/>
      <p:bldP spid="59" grpId="0" animBg="1"/>
      <p:bldP spid="6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86">
            <a:extLst>
              <a:ext uri="{FF2B5EF4-FFF2-40B4-BE49-F238E27FC236}">
                <a16:creationId xmlns:a16="http://schemas.microsoft.com/office/drawing/2014/main" id="{4CBDE2FD-5E0A-49FB-A7B5-C7E555448B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0019" y="4334620"/>
            <a:ext cx="4143375" cy="21272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pic>
        <p:nvPicPr>
          <p:cNvPr id="3" name="Picture 185">
            <a:extLst>
              <a:ext uri="{FF2B5EF4-FFF2-40B4-BE49-F238E27FC236}">
                <a16:creationId xmlns:a16="http://schemas.microsoft.com/office/drawing/2014/main" id="{8A002FFB-0082-48F8-B427-31008D551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8206" y="1910507"/>
            <a:ext cx="1343025" cy="160020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</p:pic>
      <p:sp>
        <p:nvSpPr>
          <p:cNvPr id="4" name="Oval 50">
            <a:extLst>
              <a:ext uri="{FF2B5EF4-FFF2-40B4-BE49-F238E27FC236}">
                <a16:creationId xmlns:a16="http://schemas.microsoft.com/office/drawing/2014/main" id="{7ACFE914-7B63-4280-B000-D84BF5E657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1519" y="1967657"/>
            <a:ext cx="1511300" cy="1504950"/>
          </a:xfrm>
          <a:prstGeom prst="ellipse">
            <a:avLst/>
          </a:prstGeom>
          <a:noFill/>
          <a:ln w="38100">
            <a:solidFill>
              <a:srgbClr val="00206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5" name="Oval 51">
            <a:extLst>
              <a:ext uri="{FF2B5EF4-FFF2-40B4-BE49-F238E27FC236}">
                <a16:creationId xmlns:a16="http://schemas.microsoft.com/office/drawing/2014/main" id="{80127A7F-C4FC-4357-974A-A680D6B01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9494" y="2291507"/>
            <a:ext cx="863600" cy="863600"/>
          </a:xfrm>
          <a:prstGeom prst="ellipse">
            <a:avLst/>
          </a:prstGeom>
          <a:noFill/>
          <a:ln w="38100">
            <a:solidFill>
              <a:srgbClr val="00206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6" name="Line 54">
            <a:extLst>
              <a:ext uri="{FF2B5EF4-FFF2-40B4-BE49-F238E27FC236}">
                <a16:creationId xmlns:a16="http://schemas.microsoft.com/office/drawing/2014/main" id="{7F18B214-1742-492E-A405-C5FC819DF42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19206" y="2167682"/>
            <a:ext cx="0" cy="1116013"/>
          </a:xfrm>
          <a:prstGeom prst="line">
            <a:avLst/>
          </a:prstGeom>
          <a:noFill/>
          <a:ln w="38100">
            <a:solidFill>
              <a:srgbClr val="00B0F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Line 55">
            <a:extLst>
              <a:ext uri="{FF2B5EF4-FFF2-40B4-BE49-F238E27FC236}">
                <a16:creationId xmlns:a16="http://schemas.microsoft.com/office/drawing/2014/main" id="{4304EECE-CBAB-4C4D-BA72-5526E8C350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758406" y="2180382"/>
            <a:ext cx="5605463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8" name="Line 56">
            <a:extLst>
              <a:ext uri="{FF2B5EF4-FFF2-40B4-BE49-F238E27FC236}">
                <a16:creationId xmlns:a16="http://schemas.microsoft.com/office/drawing/2014/main" id="{A6DEC8F0-0311-4B6B-8A38-B2A52484D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28256" y="2301032"/>
            <a:ext cx="5624513" cy="0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/>
          </a:ln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9" name="Group 57">
            <a:extLst>
              <a:ext uri="{FF2B5EF4-FFF2-40B4-BE49-F238E27FC236}">
                <a16:creationId xmlns:a16="http://schemas.microsoft.com/office/drawing/2014/main" id="{D8528FA9-653F-4CF1-A4A8-F3EE767DC459}"/>
              </a:ext>
            </a:extLst>
          </p:cNvPr>
          <p:cNvGrpSpPr>
            <a:grpSpLocks/>
          </p:cNvGrpSpPr>
          <p:nvPr/>
        </p:nvGrpSpPr>
        <p:grpSpPr bwMode="auto">
          <a:xfrm>
            <a:off x="7406481" y="3244009"/>
            <a:ext cx="1990725" cy="684213"/>
            <a:chOff x="3567" y="1794"/>
            <a:chExt cx="1254" cy="431"/>
          </a:xfrm>
        </p:grpSpPr>
        <p:sp>
          <p:nvSpPr>
            <p:cNvPr id="10" name="Text Box 58">
              <a:extLst>
                <a:ext uri="{FF2B5EF4-FFF2-40B4-BE49-F238E27FC236}">
                  <a16:creationId xmlns:a16="http://schemas.microsoft.com/office/drawing/2014/main" id="{113EBDB3-DCE0-48D9-AB6C-57CFA07EE8D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7" y="1970"/>
              <a:ext cx="125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3300"/>
                  </a:solidFill>
                </a:rPr>
                <a:t>螺纹终止线</a:t>
              </a:r>
            </a:p>
          </p:txBody>
        </p:sp>
        <p:sp>
          <p:nvSpPr>
            <p:cNvPr id="11" name="Line 59">
              <a:extLst>
                <a:ext uri="{FF2B5EF4-FFF2-40B4-BE49-F238E27FC236}">
                  <a16:creationId xmlns:a16="http://schemas.microsoft.com/office/drawing/2014/main" id="{7037995E-4FBB-4912-B112-59497ACEF54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" y="1794"/>
              <a:ext cx="0" cy="431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sz="2000" b="1"/>
            </a:p>
          </p:txBody>
        </p:sp>
        <p:sp>
          <p:nvSpPr>
            <p:cNvPr id="12" name="Line 60">
              <a:extLst>
                <a:ext uri="{FF2B5EF4-FFF2-40B4-BE49-F238E27FC236}">
                  <a16:creationId xmlns:a16="http://schemas.microsoft.com/office/drawing/2014/main" id="{C40E61E7-53FD-4677-8876-18A69BD0224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2" y="2217"/>
              <a:ext cx="924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sz="2000" b="1"/>
            </a:p>
          </p:txBody>
        </p:sp>
      </p:grpSp>
      <p:sp>
        <p:nvSpPr>
          <p:cNvPr id="13" name="Text Box 61">
            <a:extLst>
              <a:ext uri="{FF2B5EF4-FFF2-40B4-BE49-F238E27FC236}">
                <a16:creationId xmlns:a16="http://schemas.microsoft.com/office/drawing/2014/main" id="{FA9C8EC0-A0AE-4CFD-A666-6608B14297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266" y="1379488"/>
            <a:ext cx="253047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800" b="1" dirty="0">
                <a:solidFill>
                  <a:srgbClr val="002060"/>
                </a:solidFill>
                <a:latin typeface="宋体" pitchFamily="2" charset="-122"/>
              </a:rPr>
              <a:t>⒉ </a:t>
            </a:r>
            <a:r>
              <a:rPr lang="zh-CN" altLang="en-US" sz="2800" b="1" dirty="0">
                <a:solidFill>
                  <a:srgbClr val="002060"/>
                </a:solidFill>
                <a:latin typeface="宋体" pitchFamily="2" charset="-122"/>
              </a:rPr>
              <a:t>内螺纹画法</a:t>
            </a:r>
          </a:p>
        </p:txBody>
      </p:sp>
      <p:grpSp>
        <p:nvGrpSpPr>
          <p:cNvPr id="14" name="Group 62">
            <a:extLst>
              <a:ext uri="{FF2B5EF4-FFF2-40B4-BE49-F238E27FC236}">
                <a16:creationId xmlns:a16="http://schemas.microsoft.com/office/drawing/2014/main" id="{9E5FD5B6-55DE-47C2-A81C-B876A62D18E6}"/>
              </a:ext>
            </a:extLst>
          </p:cNvPr>
          <p:cNvGrpSpPr>
            <a:grpSpLocks/>
          </p:cNvGrpSpPr>
          <p:nvPr/>
        </p:nvGrpSpPr>
        <p:grpSpPr bwMode="auto">
          <a:xfrm>
            <a:off x="6095206" y="2175620"/>
            <a:ext cx="1530350" cy="1098550"/>
            <a:chOff x="2933" y="1146"/>
            <a:chExt cx="772" cy="638"/>
          </a:xfrm>
        </p:grpSpPr>
        <p:sp>
          <p:nvSpPr>
            <p:cNvPr id="15" name="Line 63">
              <a:extLst>
                <a:ext uri="{FF2B5EF4-FFF2-40B4-BE49-F238E27FC236}">
                  <a16:creationId xmlns:a16="http://schemas.microsoft.com/office/drawing/2014/main" id="{1DF19D37-21D7-419B-BDC7-03296794E8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3" y="1784"/>
              <a:ext cx="762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64">
              <a:extLst>
                <a:ext uri="{FF2B5EF4-FFF2-40B4-BE49-F238E27FC236}">
                  <a16:creationId xmlns:a16="http://schemas.microsoft.com/office/drawing/2014/main" id="{74437816-CBF5-4443-A5BA-7312CA79B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7" y="1146"/>
              <a:ext cx="768" cy="0"/>
            </a:xfrm>
            <a:prstGeom prst="line">
              <a:avLst/>
            </a:prstGeom>
            <a:noFill/>
            <a:ln w="19050">
              <a:solidFill>
                <a:srgbClr val="CC00CC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65">
            <a:extLst>
              <a:ext uri="{FF2B5EF4-FFF2-40B4-BE49-F238E27FC236}">
                <a16:creationId xmlns:a16="http://schemas.microsoft.com/office/drawing/2014/main" id="{20179113-9612-450E-97C6-1F880AF92784}"/>
              </a:ext>
            </a:extLst>
          </p:cNvPr>
          <p:cNvGrpSpPr>
            <a:grpSpLocks/>
          </p:cNvGrpSpPr>
          <p:nvPr/>
        </p:nvGrpSpPr>
        <p:grpSpPr bwMode="auto">
          <a:xfrm>
            <a:off x="4874419" y="1342182"/>
            <a:ext cx="2514600" cy="822325"/>
            <a:chOff x="1950" y="646"/>
            <a:chExt cx="1584" cy="518"/>
          </a:xfrm>
        </p:grpSpPr>
        <p:sp>
          <p:nvSpPr>
            <p:cNvPr id="18" name="Text Box 66">
              <a:extLst>
                <a:ext uri="{FF2B5EF4-FFF2-40B4-BE49-F238E27FC236}">
                  <a16:creationId xmlns:a16="http://schemas.microsoft.com/office/drawing/2014/main" id="{4A232343-DF60-4884-977B-5F530F3C54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54" y="646"/>
              <a:ext cx="134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2000" b="1">
                  <a:solidFill>
                    <a:srgbClr val="FF3300"/>
                  </a:solidFill>
                </a:rPr>
                <a:t> </a:t>
              </a:r>
              <a:r>
                <a:rPr lang="zh-CN" altLang="en-US" sz="2000" b="1">
                  <a:solidFill>
                    <a:srgbClr val="FF3300"/>
                  </a:solidFill>
                </a:rPr>
                <a:t>大径线画细实线 </a:t>
              </a:r>
            </a:p>
          </p:txBody>
        </p:sp>
        <p:sp>
          <p:nvSpPr>
            <p:cNvPr id="19" name="Line 67">
              <a:extLst>
                <a:ext uri="{FF2B5EF4-FFF2-40B4-BE49-F238E27FC236}">
                  <a16:creationId xmlns:a16="http://schemas.microsoft.com/office/drawing/2014/main" id="{697C1B09-D3CD-4FA4-B561-C46D69567C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50" y="888"/>
              <a:ext cx="1302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sz="2000" b="1"/>
            </a:p>
          </p:txBody>
        </p:sp>
        <p:sp>
          <p:nvSpPr>
            <p:cNvPr id="20" name="Line 68">
              <a:extLst>
                <a:ext uri="{FF2B5EF4-FFF2-40B4-BE49-F238E27FC236}">
                  <a16:creationId xmlns:a16="http://schemas.microsoft.com/office/drawing/2014/main" id="{291C32E2-44BF-4377-8935-AFA0E7D92BE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250" y="880"/>
              <a:ext cx="284" cy="284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</p:grpSp>
      <p:grpSp>
        <p:nvGrpSpPr>
          <p:cNvPr id="21" name="Group 69">
            <a:extLst>
              <a:ext uri="{FF2B5EF4-FFF2-40B4-BE49-F238E27FC236}">
                <a16:creationId xmlns:a16="http://schemas.microsoft.com/office/drawing/2014/main" id="{A8F977DE-DD62-4AAD-8F02-02BA5BBAB3C1}"/>
              </a:ext>
            </a:extLst>
          </p:cNvPr>
          <p:cNvGrpSpPr>
            <a:grpSpLocks/>
          </p:cNvGrpSpPr>
          <p:nvPr/>
        </p:nvGrpSpPr>
        <p:grpSpPr bwMode="auto">
          <a:xfrm>
            <a:off x="4561681" y="3163045"/>
            <a:ext cx="2581275" cy="773112"/>
            <a:chOff x="1792" y="1736"/>
            <a:chExt cx="1626" cy="487"/>
          </a:xfrm>
        </p:grpSpPr>
        <p:sp>
          <p:nvSpPr>
            <p:cNvPr id="22" name="Text Box 70">
              <a:extLst>
                <a:ext uri="{FF2B5EF4-FFF2-40B4-BE49-F238E27FC236}">
                  <a16:creationId xmlns:a16="http://schemas.microsoft.com/office/drawing/2014/main" id="{54E1C6BB-0C7B-43E9-B569-20450AE3BE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92" y="1971"/>
              <a:ext cx="162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000" b="1">
                  <a:solidFill>
                    <a:srgbClr val="FF3300"/>
                  </a:solidFill>
                </a:rPr>
                <a:t>小径线画粗实线 </a:t>
              </a:r>
            </a:p>
          </p:txBody>
        </p:sp>
        <p:sp>
          <p:nvSpPr>
            <p:cNvPr id="23" name="Line 71">
              <a:extLst>
                <a:ext uri="{FF2B5EF4-FFF2-40B4-BE49-F238E27FC236}">
                  <a16:creationId xmlns:a16="http://schemas.microsoft.com/office/drawing/2014/main" id="{4E8C5229-1A37-4842-9E85-D498AEF9305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39" y="2217"/>
              <a:ext cx="1437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sz="2000" b="1"/>
            </a:p>
          </p:txBody>
        </p:sp>
        <p:sp>
          <p:nvSpPr>
            <p:cNvPr id="24" name="Line 72">
              <a:extLst>
                <a:ext uri="{FF2B5EF4-FFF2-40B4-BE49-F238E27FC236}">
                  <a16:creationId xmlns:a16="http://schemas.microsoft.com/office/drawing/2014/main" id="{66BEF2B2-2DBB-4B1A-8468-8D6585FC9D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81" y="1736"/>
              <a:ext cx="29" cy="479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</p:grpSp>
      <p:grpSp>
        <p:nvGrpSpPr>
          <p:cNvPr id="25" name="Group 73">
            <a:extLst>
              <a:ext uri="{FF2B5EF4-FFF2-40B4-BE49-F238E27FC236}">
                <a16:creationId xmlns:a16="http://schemas.microsoft.com/office/drawing/2014/main" id="{0B6BBD22-4B76-4FF7-A277-41AA6A6D8931}"/>
              </a:ext>
            </a:extLst>
          </p:cNvPr>
          <p:cNvGrpSpPr>
            <a:grpSpLocks/>
          </p:cNvGrpSpPr>
          <p:nvPr/>
        </p:nvGrpSpPr>
        <p:grpSpPr bwMode="auto">
          <a:xfrm>
            <a:off x="8043071" y="1346945"/>
            <a:ext cx="1617663" cy="871537"/>
            <a:chOff x="4160" y="608"/>
            <a:chExt cx="1019" cy="549"/>
          </a:xfrm>
        </p:grpSpPr>
        <p:sp>
          <p:nvSpPr>
            <p:cNvPr id="26" name="Text Box 74">
              <a:extLst>
                <a:ext uri="{FF2B5EF4-FFF2-40B4-BE49-F238E27FC236}">
                  <a16:creationId xmlns:a16="http://schemas.microsoft.com/office/drawing/2014/main" id="{D6F9EFB5-4D99-4045-AD3D-7E038A6E5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98" y="608"/>
              <a:ext cx="929" cy="252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000" b="1">
                  <a:solidFill>
                    <a:srgbClr val="FF3300"/>
                  </a:solidFill>
                </a:rPr>
                <a:t>倒角圆不画</a:t>
              </a:r>
            </a:p>
          </p:txBody>
        </p:sp>
        <p:sp>
          <p:nvSpPr>
            <p:cNvPr id="27" name="Line 75">
              <a:extLst>
                <a:ext uri="{FF2B5EF4-FFF2-40B4-BE49-F238E27FC236}">
                  <a16:creationId xmlns:a16="http://schemas.microsoft.com/office/drawing/2014/main" id="{59ACFF29-C916-4A1F-A4E0-881D26629B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60" y="852"/>
              <a:ext cx="1019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 sz="2000" b="1"/>
            </a:p>
          </p:txBody>
        </p:sp>
        <p:sp>
          <p:nvSpPr>
            <p:cNvPr id="28" name="Line 76">
              <a:extLst>
                <a:ext uri="{FF2B5EF4-FFF2-40B4-BE49-F238E27FC236}">
                  <a16:creationId xmlns:a16="http://schemas.microsoft.com/office/drawing/2014/main" id="{432C1F5A-7FF7-44D8-B1C2-34E64E4BBE5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4" y="844"/>
              <a:ext cx="313" cy="313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</p:grpSp>
      <p:grpSp>
        <p:nvGrpSpPr>
          <p:cNvPr id="29" name="Group 77">
            <a:extLst>
              <a:ext uri="{FF2B5EF4-FFF2-40B4-BE49-F238E27FC236}">
                <a16:creationId xmlns:a16="http://schemas.microsoft.com/office/drawing/2014/main" id="{1B5DC07B-4547-47C2-A859-4CE99AD22E00}"/>
              </a:ext>
            </a:extLst>
          </p:cNvPr>
          <p:cNvGrpSpPr>
            <a:grpSpLocks/>
          </p:cNvGrpSpPr>
          <p:nvPr/>
        </p:nvGrpSpPr>
        <p:grpSpPr bwMode="auto">
          <a:xfrm>
            <a:off x="7639844" y="3072556"/>
            <a:ext cx="2493962" cy="1331480"/>
            <a:chOff x="3731" y="1771"/>
            <a:chExt cx="1571" cy="692"/>
          </a:xfrm>
        </p:grpSpPr>
        <p:sp>
          <p:nvSpPr>
            <p:cNvPr id="30" name="Text Box 78">
              <a:extLst>
                <a:ext uri="{FF2B5EF4-FFF2-40B4-BE49-F238E27FC236}">
                  <a16:creationId xmlns:a16="http://schemas.microsoft.com/office/drawing/2014/main" id="{CF4256F5-872C-4EF6-86AC-233FDD990B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14" y="2246"/>
              <a:ext cx="1316" cy="20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0" lang="zh-CN" altLang="en-US" sz="2000" b="1">
                  <a:solidFill>
                    <a:srgbClr val="FF3300"/>
                  </a:solidFill>
                </a:rPr>
                <a:t>大径圆约画</a:t>
              </a:r>
              <a:r>
                <a:rPr kumimoji="0" lang="en-US" altLang="zh-CN" sz="2000" b="1">
                  <a:solidFill>
                    <a:srgbClr val="FF3300"/>
                  </a:solidFill>
                </a:rPr>
                <a:t>3/4</a:t>
              </a:r>
              <a:r>
                <a:rPr kumimoji="0" lang="zh-CN" altLang="en-US" sz="2000" b="1">
                  <a:solidFill>
                    <a:srgbClr val="FF3300"/>
                  </a:solidFill>
                </a:rPr>
                <a:t>圈</a:t>
              </a:r>
            </a:p>
          </p:txBody>
        </p:sp>
        <p:sp>
          <p:nvSpPr>
            <p:cNvPr id="31" name="Line 79">
              <a:extLst>
                <a:ext uri="{FF2B5EF4-FFF2-40B4-BE49-F238E27FC236}">
                  <a16:creationId xmlns:a16="http://schemas.microsoft.com/office/drawing/2014/main" id="{E5B6912C-4ABE-48BD-8948-CD6478DAF1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1" y="1771"/>
              <a:ext cx="422" cy="692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  <p:sp>
          <p:nvSpPr>
            <p:cNvPr id="32" name="Line 80">
              <a:extLst>
                <a:ext uri="{FF2B5EF4-FFF2-40B4-BE49-F238E27FC236}">
                  <a16:creationId xmlns:a16="http://schemas.microsoft.com/office/drawing/2014/main" id="{A22480EA-CAED-4984-9CEC-61FB303457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1" y="2459"/>
              <a:ext cx="1571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</p:grpSp>
      <p:grpSp>
        <p:nvGrpSpPr>
          <p:cNvPr id="33" name="Group 82">
            <a:extLst>
              <a:ext uri="{FF2B5EF4-FFF2-40B4-BE49-F238E27FC236}">
                <a16:creationId xmlns:a16="http://schemas.microsoft.com/office/drawing/2014/main" id="{99800AD7-90A8-492B-9934-1C2C9A297619}"/>
              </a:ext>
            </a:extLst>
          </p:cNvPr>
          <p:cNvGrpSpPr>
            <a:grpSpLocks/>
          </p:cNvGrpSpPr>
          <p:nvPr/>
        </p:nvGrpSpPr>
        <p:grpSpPr bwMode="auto">
          <a:xfrm>
            <a:off x="3729831" y="5696695"/>
            <a:ext cx="6334125" cy="850900"/>
            <a:chOff x="415" y="3345"/>
            <a:chExt cx="3990" cy="536"/>
          </a:xfrm>
        </p:grpSpPr>
        <p:sp>
          <p:nvSpPr>
            <p:cNvPr id="34" name="Text Box 83">
              <a:extLst>
                <a:ext uri="{FF2B5EF4-FFF2-40B4-BE49-F238E27FC236}">
                  <a16:creationId xmlns:a16="http://schemas.microsoft.com/office/drawing/2014/main" id="{40E862BD-23E5-46D9-9BD8-B4275E46F7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56" y="3606"/>
              <a:ext cx="141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0" lang="zh-CN" altLang="en-US" sz="2000" b="1" dirty="0">
                  <a:solidFill>
                    <a:srgbClr val="FF3300"/>
                  </a:solidFill>
                </a:rPr>
                <a:t>剖面线画到小径线</a:t>
              </a:r>
            </a:p>
          </p:txBody>
        </p:sp>
        <p:sp>
          <p:nvSpPr>
            <p:cNvPr id="35" name="Line 84">
              <a:extLst>
                <a:ext uri="{FF2B5EF4-FFF2-40B4-BE49-F238E27FC236}">
                  <a16:creationId xmlns:a16="http://schemas.microsoft.com/office/drawing/2014/main" id="{CC520217-EA23-4D21-B8E0-62368E2181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475" y="3345"/>
              <a:ext cx="398" cy="533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  <p:sp>
          <p:nvSpPr>
            <p:cNvPr id="36" name="Line 85">
              <a:extLst>
                <a:ext uri="{FF2B5EF4-FFF2-40B4-BE49-F238E27FC236}">
                  <a16:creationId xmlns:a16="http://schemas.microsoft.com/office/drawing/2014/main" id="{A70D26DF-6B29-4A32-A2FD-CE39CA321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" y="3384"/>
              <a:ext cx="1061" cy="494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  <p:sp>
          <p:nvSpPr>
            <p:cNvPr id="37" name="Line 86">
              <a:extLst>
                <a:ext uri="{FF2B5EF4-FFF2-40B4-BE49-F238E27FC236}">
                  <a16:creationId xmlns:a16="http://schemas.microsoft.com/office/drawing/2014/main" id="{310E55A9-E0B9-46F0-9022-818479457D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479" y="3881"/>
              <a:ext cx="2926" cy="0"/>
            </a:xfrm>
            <a:prstGeom prst="line">
              <a:avLst/>
            </a:prstGeom>
            <a:noFill/>
            <a:ln w="1270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  <p:sp>
          <p:nvSpPr>
            <p:cNvPr id="38" name="Text Box 87">
              <a:extLst>
                <a:ext uri="{FF2B5EF4-FFF2-40B4-BE49-F238E27FC236}">
                  <a16:creationId xmlns:a16="http://schemas.microsoft.com/office/drawing/2014/main" id="{7F1C9019-9444-4564-BD7D-6CD5F8B969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1" y="3605"/>
              <a:ext cx="60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kumimoji="0" lang="zh-CN" altLang="en-US" sz="2000" b="1">
                  <a:solidFill>
                    <a:srgbClr val="002060"/>
                  </a:solidFill>
                </a:rPr>
                <a:t>粗实线</a:t>
              </a:r>
            </a:p>
          </p:txBody>
        </p:sp>
      </p:grpSp>
      <p:grpSp>
        <p:nvGrpSpPr>
          <p:cNvPr id="39" name="Group 88">
            <a:extLst>
              <a:ext uri="{FF2B5EF4-FFF2-40B4-BE49-F238E27FC236}">
                <a16:creationId xmlns:a16="http://schemas.microsoft.com/office/drawing/2014/main" id="{A1E7D6EF-A912-4F64-AEA6-8F57ACE1FEBE}"/>
              </a:ext>
            </a:extLst>
          </p:cNvPr>
          <p:cNvGrpSpPr>
            <a:grpSpLocks/>
          </p:cNvGrpSpPr>
          <p:nvPr/>
        </p:nvGrpSpPr>
        <p:grpSpPr bwMode="auto">
          <a:xfrm>
            <a:off x="6088856" y="1972420"/>
            <a:ext cx="1800225" cy="1512887"/>
            <a:chOff x="2796" y="764"/>
            <a:chExt cx="1116" cy="901"/>
          </a:xfrm>
        </p:grpSpPr>
        <p:sp>
          <p:nvSpPr>
            <p:cNvPr id="40" name="Freeform 89">
              <a:extLst>
                <a:ext uri="{FF2B5EF4-FFF2-40B4-BE49-F238E27FC236}">
                  <a16:creationId xmlns:a16="http://schemas.microsoft.com/office/drawing/2014/main" id="{C85B460A-0218-43E6-A61B-065EC2C9F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764"/>
              <a:ext cx="129" cy="132"/>
            </a:xfrm>
            <a:custGeom>
              <a:avLst/>
              <a:gdLst>
                <a:gd name="T0" fmla="*/ 0 w 129"/>
                <a:gd name="T1" fmla="*/ 132 h 132"/>
                <a:gd name="T2" fmla="*/ 129 w 129"/>
                <a:gd name="T3" fmla="*/ 0 h 132"/>
                <a:gd name="T4" fmla="*/ 0 60000 65536"/>
                <a:gd name="T5" fmla="*/ 0 60000 65536"/>
                <a:gd name="T6" fmla="*/ 0 w 129"/>
                <a:gd name="T7" fmla="*/ 0 h 132"/>
                <a:gd name="T8" fmla="*/ 129 w 129"/>
                <a:gd name="T9" fmla="*/ 132 h 13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9" h="132">
                  <a:moveTo>
                    <a:pt x="0" y="132"/>
                  </a:moveTo>
                  <a:lnTo>
                    <a:pt x="129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90">
              <a:extLst>
                <a:ext uri="{FF2B5EF4-FFF2-40B4-BE49-F238E27FC236}">
                  <a16:creationId xmlns:a16="http://schemas.microsoft.com/office/drawing/2014/main" id="{971B218E-633D-476F-B63B-C0D04C2F0A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873" y="764"/>
              <a:ext cx="179" cy="1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91">
              <a:extLst>
                <a:ext uri="{FF2B5EF4-FFF2-40B4-BE49-F238E27FC236}">
                  <a16:creationId xmlns:a16="http://schemas.microsoft.com/office/drawing/2014/main" id="{180BEB4B-2496-4ABA-A611-368C955989A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09" y="764"/>
              <a:ext cx="178" cy="1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92">
              <a:extLst>
                <a:ext uri="{FF2B5EF4-FFF2-40B4-BE49-F238E27FC236}">
                  <a16:creationId xmlns:a16="http://schemas.microsoft.com/office/drawing/2014/main" id="{9E770239-B4CF-4304-91F6-29CFC0B2244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51" y="764"/>
              <a:ext cx="179" cy="1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Freeform 93">
              <a:extLst>
                <a:ext uri="{FF2B5EF4-FFF2-40B4-BE49-F238E27FC236}">
                  <a16:creationId xmlns:a16="http://schemas.microsoft.com/office/drawing/2014/main" id="{B9FE564D-8820-427B-9669-192ED56D99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1469"/>
              <a:ext cx="193" cy="192"/>
            </a:xfrm>
            <a:custGeom>
              <a:avLst/>
              <a:gdLst>
                <a:gd name="T0" fmla="*/ 0 w 193"/>
                <a:gd name="T1" fmla="*/ 192 h 192"/>
                <a:gd name="T2" fmla="*/ 193 w 193"/>
                <a:gd name="T3" fmla="*/ 0 h 192"/>
                <a:gd name="T4" fmla="*/ 0 60000 65536"/>
                <a:gd name="T5" fmla="*/ 0 60000 65536"/>
                <a:gd name="T6" fmla="*/ 0 w 193"/>
                <a:gd name="T7" fmla="*/ 0 h 192"/>
                <a:gd name="T8" fmla="*/ 193 w 193"/>
                <a:gd name="T9" fmla="*/ 192 h 19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3" h="192">
                  <a:moveTo>
                    <a:pt x="0" y="192"/>
                  </a:moveTo>
                  <a:lnTo>
                    <a:pt x="193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Freeform 94">
              <a:extLst>
                <a:ext uri="{FF2B5EF4-FFF2-40B4-BE49-F238E27FC236}">
                  <a16:creationId xmlns:a16="http://schemas.microsoft.com/office/drawing/2014/main" id="{2D81FE72-E3A5-400F-91A9-734F9A89F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1481"/>
              <a:ext cx="176" cy="174"/>
            </a:xfrm>
            <a:custGeom>
              <a:avLst/>
              <a:gdLst>
                <a:gd name="T0" fmla="*/ 0 w 176"/>
                <a:gd name="T1" fmla="*/ 174 h 174"/>
                <a:gd name="T2" fmla="*/ 176 w 176"/>
                <a:gd name="T3" fmla="*/ 0 h 174"/>
                <a:gd name="T4" fmla="*/ 0 60000 65536"/>
                <a:gd name="T5" fmla="*/ 0 60000 65536"/>
                <a:gd name="T6" fmla="*/ 0 w 176"/>
                <a:gd name="T7" fmla="*/ 0 h 174"/>
                <a:gd name="T8" fmla="*/ 176 w 176"/>
                <a:gd name="T9" fmla="*/ 174 h 17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6" h="174">
                  <a:moveTo>
                    <a:pt x="0" y="174"/>
                  </a:moveTo>
                  <a:lnTo>
                    <a:pt x="176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Freeform 95">
              <a:extLst>
                <a:ext uri="{FF2B5EF4-FFF2-40B4-BE49-F238E27FC236}">
                  <a16:creationId xmlns:a16="http://schemas.microsoft.com/office/drawing/2014/main" id="{9C31C317-87E4-49AB-A353-5F1EB61C46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4" y="1475"/>
              <a:ext cx="182" cy="180"/>
            </a:xfrm>
            <a:custGeom>
              <a:avLst/>
              <a:gdLst>
                <a:gd name="T0" fmla="*/ 0 w 182"/>
                <a:gd name="T1" fmla="*/ 180 h 180"/>
                <a:gd name="T2" fmla="*/ 182 w 182"/>
                <a:gd name="T3" fmla="*/ 0 h 180"/>
                <a:gd name="T4" fmla="*/ 0 60000 65536"/>
                <a:gd name="T5" fmla="*/ 0 60000 65536"/>
                <a:gd name="T6" fmla="*/ 0 w 182"/>
                <a:gd name="T7" fmla="*/ 0 h 180"/>
                <a:gd name="T8" fmla="*/ 182 w 182"/>
                <a:gd name="T9" fmla="*/ 180 h 1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180">
                  <a:moveTo>
                    <a:pt x="0" y="180"/>
                  </a:moveTo>
                  <a:lnTo>
                    <a:pt x="182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Freeform 96">
              <a:extLst>
                <a:ext uri="{FF2B5EF4-FFF2-40B4-BE49-F238E27FC236}">
                  <a16:creationId xmlns:a16="http://schemas.microsoft.com/office/drawing/2014/main" id="{80DAD5A0-8F33-414D-997A-1006479E4B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3" y="1475"/>
              <a:ext cx="171" cy="181"/>
            </a:xfrm>
            <a:custGeom>
              <a:avLst/>
              <a:gdLst>
                <a:gd name="T0" fmla="*/ 0 w 171"/>
                <a:gd name="T1" fmla="*/ 202 h 176"/>
                <a:gd name="T2" fmla="*/ 171 w 171"/>
                <a:gd name="T3" fmla="*/ 0 h 176"/>
                <a:gd name="T4" fmla="*/ 0 60000 65536"/>
                <a:gd name="T5" fmla="*/ 0 60000 65536"/>
                <a:gd name="T6" fmla="*/ 0 w 171"/>
                <a:gd name="T7" fmla="*/ 0 h 176"/>
                <a:gd name="T8" fmla="*/ 171 w 171"/>
                <a:gd name="T9" fmla="*/ 176 h 1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1" h="176">
                  <a:moveTo>
                    <a:pt x="0" y="176"/>
                  </a:moveTo>
                  <a:lnTo>
                    <a:pt x="17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Freeform 97">
              <a:extLst>
                <a:ext uri="{FF2B5EF4-FFF2-40B4-BE49-F238E27FC236}">
                  <a16:creationId xmlns:a16="http://schemas.microsoft.com/office/drawing/2014/main" id="{FD72240D-B843-4900-93FF-C3DA2B92EA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7" y="1475"/>
              <a:ext cx="171" cy="176"/>
            </a:xfrm>
            <a:custGeom>
              <a:avLst/>
              <a:gdLst>
                <a:gd name="T0" fmla="*/ 0 w 171"/>
                <a:gd name="T1" fmla="*/ 176 h 176"/>
                <a:gd name="T2" fmla="*/ 171 w 171"/>
                <a:gd name="T3" fmla="*/ 0 h 176"/>
                <a:gd name="T4" fmla="*/ 0 60000 65536"/>
                <a:gd name="T5" fmla="*/ 0 60000 65536"/>
                <a:gd name="T6" fmla="*/ 0 w 171"/>
                <a:gd name="T7" fmla="*/ 0 h 176"/>
                <a:gd name="T8" fmla="*/ 171 w 171"/>
                <a:gd name="T9" fmla="*/ 176 h 17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71" h="176">
                  <a:moveTo>
                    <a:pt x="0" y="176"/>
                  </a:moveTo>
                  <a:lnTo>
                    <a:pt x="17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9" name="Line 98">
              <a:extLst>
                <a:ext uri="{FF2B5EF4-FFF2-40B4-BE49-F238E27FC236}">
                  <a16:creationId xmlns:a16="http://schemas.microsoft.com/office/drawing/2014/main" id="{8CC5633F-25BD-44AD-A51A-4B5CD2A526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299" y="764"/>
              <a:ext cx="170" cy="1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0" name="Line 99">
              <a:extLst>
                <a:ext uri="{FF2B5EF4-FFF2-40B4-BE49-F238E27FC236}">
                  <a16:creationId xmlns:a16="http://schemas.microsoft.com/office/drawing/2014/main" id="{D8D0793C-16C8-414C-8DD4-5B7172E0053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43" y="764"/>
              <a:ext cx="170" cy="1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" name="Line 100">
              <a:extLst>
                <a:ext uri="{FF2B5EF4-FFF2-40B4-BE49-F238E27FC236}">
                  <a16:creationId xmlns:a16="http://schemas.microsoft.com/office/drawing/2014/main" id="{85510512-154F-499A-9DD9-F61039967CA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91" y="764"/>
              <a:ext cx="175" cy="19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Line 101">
              <a:extLst>
                <a:ext uri="{FF2B5EF4-FFF2-40B4-BE49-F238E27FC236}">
                  <a16:creationId xmlns:a16="http://schemas.microsoft.com/office/drawing/2014/main" id="{5FA6E026-174F-4FAC-8D55-FCA17D98CB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49" y="770"/>
              <a:ext cx="156" cy="1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102">
              <a:extLst>
                <a:ext uri="{FF2B5EF4-FFF2-40B4-BE49-F238E27FC236}">
                  <a16:creationId xmlns:a16="http://schemas.microsoft.com/office/drawing/2014/main" id="{19B686CD-9D68-4C7F-B7E8-2E1ECE1EF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6" y="1457"/>
              <a:ext cx="200" cy="198"/>
            </a:xfrm>
            <a:custGeom>
              <a:avLst/>
              <a:gdLst>
                <a:gd name="T0" fmla="*/ 0 w 200"/>
                <a:gd name="T1" fmla="*/ 198 h 198"/>
                <a:gd name="T2" fmla="*/ 200 w 200"/>
                <a:gd name="T3" fmla="*/ 0 h 198"/>
                <a:gd name="T4" fmla="*/ 0 60000 65536"/>
                <a:gd name="T5" fmla="*/ 0 60000 65536"/>
                <a:gd name="T6" fmla="*/ 0 w 200"/>
                <a:gd name="T7" fmla="*/ 0 h 198"/>
                <a:gd name="T8" fmla="*/ 200 w 200"/>
                <a:gd name="T9" fmla="*/ 198 h 198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00" h="198">
                  <a:moveTo>
                    <a:pt x="0" y="198"/>
                  </a:moveTo>
                  <a:lnTo>
                    <a:pt x="200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Freeform 103">
              <a:extLst>
                <a:ext uri="{FF2B5EF4-FFF2-40B4-BE49-F238E27FC236}">
                  <a16:creationId xmlns:a16="http://schemas.microsoft.com/office/drawing/2014/main" id="{6827E867-2A7D-4F80-88EE-E6D127D7A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1" y="1475"/>
              <a:ext cx="191" cy="190"/>
            </a:xfrm>
            <a:custGeom>
              <a:avLst/>
              <a:gdLst>
                <a:gd name="T0" fmla="*/ 0 w 191"/>
                <a:gd name="T1" fmla="*/ 190 h 190"/>
                <a:gd name="T2" fmla="*/ 191 w 191"/>
                <a:gd name="T3" fmla="*/ 0 h 190"/>
                <a:gd name="T4" fmla="*/ 0 60000 65536"/>
                <a:gd name="T5" fmla="*/ 0 60000 65536"/>
                <a:gd name="T6" fmla="*/ 0 w 191"/>
                <a:gd name="T7" fmla="*/ 0 h 190"/>
                <a:gd name="T8" fmla="*/ 191 w 191"/>
                <a:gd name="T9" fmla="*/ 190 h 1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91" h="190">
                  <a:moveTo>
                    <a:pt x="0" y="190"/>
                  </a:moveTo>
                  <a:lnTo>
                    <a:pt x="191" y="0"/>
                  </a:lnTo>
                </a:path>
              </a:pathLst>
            </a:custGeom>
            <a:noFill/>
            <a:ln w="19050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104">
              <a:extLst>
                <a:ext uri="{FF2B5EF4-FFF2-40B4-BE49-F238E27FC236}">
                  <a16:creationId xmlns:a16="http://schemas.microsoft.com/office/drawing/2014/main" id="{11F13911-48E4-479E-9493-2E63289C0B2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16" y="1557"/>
              <a:ext cx="96" cy="9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56" name="Arc 105">
            <a:extLst>
              <a:ext uri="{FF2B5EF4-FFF2-40B4-BE49-F238E27FC236}">
                <a16:creationId xmlns:a16="http://schemas.microsoft.com/office/drawing/2014/main" id="{2A227C4B-B906-4D72-9EBB-3AC4D2328011}"/>
              </a:ext>
            </a:extLst>
          </p:cNvPr>
          <p:cNvSpPr>
            <a:spLocks/>
          </p:cNvSpPr>
          <p:nvPr/>
        </p:nvSpPr>
        <p:spPr bwMode="auto">
          <a:xfrm flipV="1">
            <a:off x="8549481" y="2175620"/>
            <a:ext cx="1081088" cy="1079500"/>
          </a:xfrm>
          <a:custGeom>
            <a:avLst/>
            <a:gdLst>
              <a:gd name="T0" fmla="*/ 2147483646 w 43200"/>
              <a:gd name="T1" fmla="*/ 0 h 43200"/>
              <a:gd name="T2" fmla="*/ 2147483646 w 43200"/>
              <a:gd name="T3" fmla="*/ 2147483646 h 43200"/>
              <a:gd name="T4" fmla="*/ 2147483646 w 43200"/>
              <a:gd name="T5" fmla="*/ 2147483646 h 43200"/>
              <a:gd name="T6" fmla="*/ 0 60000 65536"/>
              <a:gd name="T7" fmla="*/ 0 60000 65536"/>
              <a:gd name="T8" fmla="*/ 0 60000 65536"/>
              <a:gd name="T9" fmla="*/ 0 w 43200"/>
              <a:gd name="T10" fmla="*/ 0 h 43200"/>
              <a:gd name="T11" fmla="*/ 43200 w 43200"/>
              <a:gd name="T12" fmla="*/ 43200 h 4320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43200" fill="none" extrusionOk="0">
                <a:moveTo>
                  <a:pt x="21522" y="0"/>
                </a:moveTo>
                <a:cubicBezTo>
                  <a:pt x="21548" y="0"/>
                  <a:pt x="21574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20884"/>
                  <a:pt x="35" y="20169"/>
                  <a:pt x="106" y="19458"/>
                </a:cubicBezTo>
              </a:path>
              <a:path w="43200" h="43200" stroke="0" extrusionOk="0">
                <a:moveTo>
                  <a:pt x="21522" y="0"/>
                </a:moveTo>
                <a:cubicBezTo>
                  <a:pt x="21548" y="0"/>
                  <a:pt x="21574" y="-1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20884"/>
                  <a:pt x="35" y="20169"/>
                  <a:pt x="106" y="19458"/>
                </a:cubicBezTo>
                <a:lnTo>
                  <a:pt x="21600" y="21600"/>
                </a:lnTo>
                <a:lnTo>
                  <a:pt x="21522" y="0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7" name="Group 106">
            <a:extLst>
              <a:ext uri="{FF2B5EF4-FFF2-40B4-BE49-F238E27FC236}">
                <a16:creationId xmlns:a16="http://schemas.microsoft.com/office/drawing/2014/main" id="{06A82B42-07CD-46E8-9747-2EF81F6C210F}"/>
              </a:ext>
            </a:extLst>
          </p:cNvPr>
          <p:cNvGrpSpPr>
            <a:grpSpLocks/>
          </p:cNvGrpSpPr>
          <p:nvPr/>
        </p:nvGrpSpPr>
        <p:grpSpPr bwMode="auto">
          <a:xfrm>
            <a:off x="6095206" y="2167682"/>
            <a:ext cx="1841500" cy="1095375"/>
            <a:chOff x="2758" y="954"/>
            <a:chExt cx="1160" cy="677"/>
          </a:xfrm>
        </p:grpSpPr>
        <p:sp>
          <p:nvSpPr>
            <p:cNvPr id="58" name="Line 107">
              <a:extLst>
                <a:ext uri="{FF2B5EF4-FFF2-40B4-BE49-F238E27FC236}">
                  <a16:creationId xmlns:a16="http://schemas.microsoft.com/office/drawing/2014/main" id="{A3AC8C2B-241E-4782-BAD8-A021B0CE53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06" y="1564"/>
              <a:ext cx="1100" cy="0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9" name="Line 108">
              <a:extLst>
                <a:ext uri="{FF2B5EF4-FFF2-40B4-BE49-F238E27FC236}">
                  <a16:creationId xmlns:a16="http://schemas.microsoft.com/office/drawing/2014/main" id="{4C832758-E3DA-4F95-8E38-7D2BEB7833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9" y="1027"/>
              <a:ext cx="0" cy="534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0" name="Line 109">
              <a:extLst>
                <a:ext uri="{FF2B5EF4-FFF2-40B4-BE49-F238E27FC236}">
                  <a16:creationId xmlns:a16="http://schemas.microsoft.com/office/drawing/2014/main" id="{9E864412-E699-49AC-8524-836734706C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760" y="1566"/>
              <a:ext cx="58" cy="65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1" name="Line 110">
              <a:extLst>
                <a:ext uri="{FF2B5EF4-FFF2-40B4-BE49-F238E27FC236}">
                  <a16:creationId xmlns:a16="http://schemas.microsoft.com/office/drawing/2014/main" id="{E604CA1A-2D4A-454F-876A-C398FCC400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2758" y="954"/>
              <a:ext cx="61" cy="74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/>
            </a:ln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Line 111">
              <a:extLst>
                <a:ext uri="{FF2B5EF4-FFF2-40B4-BE49-F238E27FC236}">
                  <a16:creationId xmlns:a16="http://schemas.microsoft.com/office/drawing/2014/main" id="{A14D76A8-C830-494B-8E51-9640C998E27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2" y="1033"/>
              <a:ext cx="1106" cy="0"/>
            </a:xfrm>
            <a:prstGeom prst="line">
              <a:avLst/>
            </a:prstGeom>
            <a:noFill/>
            <a:ln w="38100">
              <a:solidFill>
                <a:srgbClr val="00B0F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3" name="Group 177">
            <a:extLst>
              <a:ext uri="{FF2B5EF4-FFF2-40B4-BE49-F238E27FC236}">
                <a16:creationId xmlns:a16="http://schemas.microsoft.com/office/drawing/2014/main" id="{EEEB298B-6E18-415C-9C2D-48DC30AF10B4}"/>
              </a:ext>
            </a:extLst>
          </p:cNvPr>
          <p:cNvGrpSpPr>
            <a:grpSpLocks/>
          </p:cNvGrpSpPr>
          <p:nvPr/>
        </p:nvGrpSpPr>
        <p:grpSpPr bwMode="auto">
          <a:xfrm>
            <a:off x="6082506" y="1964482"/>
            <a:ext cx="1862138" cy="1511300"/>
            <a:chOff x="2750" y="759"/>
            <a:chExt cx="1173" cy="897"/>
          </a:xfrm>
        </p:grpSpPr>
        <p:sp>
          <p:nvSpPr>
            <p:cNvPr id="64" name="Freeform 178">
              <a:extLst>
                <a:ext uri="{FF2B5EF4-FFF2-40B4-BE49-F238E27FC236}">
                  <a16:creationId xmlns:a16="http://schemas.microsoft.com/office/drawing/2014/main" id="{F8F46994-7E34-49E7-9326-94D7CA4E5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0" y="764"/>
              <a:ext cx="1162" cy="2"/>
            </a:xfrm>
            <a:custGeom>
              <a:avLst/>
              <a:gdLst>
                <a:gd name="T0" fmla="*/ 0 w 1162"/>
                <a:gd name="T1" fmla="*/ 0 h 2"/>
                <a:gd name="T2" fmla="*/ 1162 w 1162"/>
                <a:gd name="T3" fmla="*/ 2 h 2"/>
                <a:gd name="T4" fmla="*/ 0 60000 65536"/>
                <a:gd name="T5" fmla="*/ 0 60000 65536"/>
                <a:gd name="T6" fmla="*/ 0 w 1162"/>
                <a:gd name="T7" fmla="*/ 0 h 2"/>
                <a:gd name="T8" fmla="*/ 1162 w 1162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62" h="2">
                  <a:moveTo>
                    <a:pt x="0" y="0"/>
                  </a:moveTo>
                  <a:lnTo>
                    <a:pt x="1162" y="2"/>
                  </a:lnTo>
                </a:path>
              </a:pathLst>
            </a:custGeom>
            <a:noFill/>
            <a:ln w="38100">
              <a:solidFill>
                <a:srgbClr val="00206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5" name="Freeform 179">
              <a:extLst>
                <a:ext uri="{FF2B5EF4-FFF2-40B4-BE49-F238E27FC236}">
                  <a16:creationId xmlns:a16="http://schemas.microsoft.com/office/drawing/2014/main" id="{041512E2-1F41-45AC-B200-EA1956A29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4" y="1651"/>
              <a:ext cx="1159" cy="1"/>
            </a:xfrm>
            <a:custGeom>
              <a:avLst/>
              <a:gdLst>
                <a:gd name="T0" fmla="*/ 0 w 1159"/>
                <a:gd name="T1" fmla="*/ 0 h 1"/>
                <a:gd name="T2" fmla="*/ 1159 w 1159"/>
                <a:gd name="T3" fmla="*/ 0 h 1"/>
                <a:gd name="T4" fmla="*/ 0 60000 65536"/>
                <a:gd name="T5" fmla="*/ 0 60000 65536"/>
                <a:gd name="T6" fmla="*/ 0 w 1159"/>
                <a:gd name="T7" fmla="*/ 0 h 1"/>
                <a:gd name="T8" fmla="*/ 1159 w 115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159" h="1">
                  <a:moveTo>
                    <a:pt x="0" y="0"/>
                  </a:moveTo>
                  <a:lnTo>
                    <a:pt x="1159" y="0"/>
                  </a:lnTo>
                </a:path>
              </a:pathLst>
            </a:custGeom>
            <a:noFill/>
            <a:ln w="38100">
              <a:solidFill>
                <a:srgbClr val="00206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6" name="Line 180">
              <a:extLst>
                <a:ext uri="{FF2B5EF4-FFF2-40B4-BE49-F238E27FC236}">
                  <a16:creationId xmlns:a16="http://schemas.microsoft.com/office/drawing/2014/main" id="{8EE1D7D0-DEB0-43F5-9CD7-8F3DB2A6EA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9" y="759"/>
              <a:ext cx="0" cy="897"/>
            </a:xfrm>
            <a:prstGeom prst="line">
              <a:avLst/>
            </a:prstGeom>
            <a:noFill/>
            <a:ln w="38100">
              <a:solidFill>
                <a:srgbClr val="00206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7" name="Freeform 181">
              <a:extLst>
                <a:ext uri="{FF2B5EF4-FFF2-40B4-BE49-F238E27FC236}">
                  <a16:creationId xmlns:a16="http://schemas.microsoft.com/office/drawing/2014/main" id="{5D37611C-2885-44A0-881F-CB4353454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5" y="760"/>
              <a:ext cx="88" cy="872"/>
            </a:xfrm>
            <a:custGeom>
              <a:avLst/>
              <a:gdLst>
                <a:gd name="T0" fmla="*/ 69 w 88"/>
                <a:gd name="T1" fmla="*/ 0 h 872"/>
                <a:gd name="T2" fmla="*/ 77 w 88"/>
                <a:gd name="T3" fmla="*/ 176 h 872"/>
                <a:gd name="T4" fmla="*/ 5 w 88"/>
                <a:gd name="T5" fmla="*/ 328 h 872"/>
                <a:gd name="T6" fmla="*/ 45 w 88"/>
                <a:gd name="T7" fmla="*/ 512 h 872"/>
                <a:gd name="T8" fmla="*/ 21 w 88"/>
                <a:gd name="T9" fmla="*/ 616 h 872"/>
                <a:gd name="T10" fmla="*/ 69 w 88"/>
                <a:gd name="T11" fmla="*/ 696 h 872"/>
                <a:gd name="T12" fmla="*/ 77 w 88"/>
                <a:gd name="T13" fmla="*/ 768 h 872"/>
                <a:gd name="T14" fmla="*/ 69 w 88"/>
                <a:gd name="T15" fmla="*/ 872 h 8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88"/>
                <a:gd name="T25" fmla="*/ 0 h 872"/>
                <a:gd name="T26" fmla="*/ 88 w 88"/>
                <a:gd name="T27" fmla="*/ 872 h 872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88" h="872">
                  <a:moveTo>
                    <a:pt x="69" y="0"/>
                  </a:moveTo>
                  <a:cubicBezTo>
                    <a:pt x="78" y="60"/>
                    <a:pt x="88" y="121"/>
                    <a:pt x="77" y="176"/>
                  </a:cubicBezTo>
                  <a:cubicBezTo>
                    <a:pt x="66" y="231"/>
                    <a:pt x="10" y="272"/>
                    <a:pt x="5" y="328"/>
                  </a:cubicBezTo>
                  <a:cubicBezTo>
                    <a:pt x="0" y="384"/>
                    <a:pt x="42" y="464"/>
                    <a:pt x="45" y="512"/>
                  </a:cubicBezTo>
                  <a:cubicBezTo>
                    <a:pt x="48" y="560"/>
                    <a:pt x="17" y="585"/>
                    <a:pt x="21" y="616"/>
                  </a:cubicBezTo>
                  <a:cubicBezTo>
                    <a:pt x="25" y="647"/>
                    <a:pt x="60" y="671"/>
                    <a:pt x="69" y="696"/>
                  </a:cubicBezTo>
                  <a:cubicBezTo>
                    <a:pt x="78" y="721"/>
                    <a:pt x="77" y="739"/>
                    <a:pt x="77" y="768"/>
                  </a:cubicBezTo>
                  <a:cubicBezTo>
                    <a:pt x="77" y="797"/>
                    <a:pt x="71" y="850"/>
                    <a:pt x="69" y="872"/>
                  </a:cubicBezTo>
                </a:path>
              </a:pathLst>
            </a:custGeom>
            <a:noFill/>
            <a:ln w="19050">
              <a:solidFill>
                <a:srgbClr val="00206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68" name="Text Box 8">
            <a:extLst>
              <a:ext uri="{FF2B5EF4-FFF2-40B4-BE49-F238E27FC236}">
                <a16:creationId xmlns:a16="http://schemas.microsoft.com/office/drawing/2014/main" id="{CDF4304D-3300-417B-ADE3-CD9BD57D1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5874" y="795289"/>
            <a:ext cx="34305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三、螺纹的规定画法</a:t>
            </a:r>
          </a:p>
        </p:txBody>
      </p:sp>
      <p:grpSp>
        <p:nvGrpSpPr>
          <p:cNvPr id="70" name="组合 197">
            <a:extLst>
              <a:ext uri="{FF2B5EF4-FFF2-40B4-BE49-F238E27FC236}">
                <a16:creationId xmlns:a16="http://schemas.microsoft.com/office/drawing/2014/main" id="{6255E5ED-545C-4266-988E-C2C03402765A}"/>
              </a:ext>
            </a:extLst>
          </p:cNvPr>
          <p:cNvGrpSpPr>
            <a:grpSpLocks/>
          </p:cNvGrpSpPr>
          <p:nvPr/>
        </p:nvGrpSpPr>
        <p:grpSpPr bwMode="auto">
          <a:xfrm rot="-5400000">
            <a:off x="8179170" y="2731851"/>
            <a:ext cx="1836000" cy="0"/>
            <a:chOff x="6880792" y="2705662"/>
            <a:chExt cx="1337130" cy="474101"/>
          </a:xfrm>
        </p:grpSpPr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id="{7FB25E68-3C8E-4217-A7A8-FF2AB21C47ED}"/>
                </a:ext>
              </a:extLst>
            </p:cNvPr>
            <p:cNvCxnSpPr/>
            <p:nvPr/>
          </p:nvCxnSpPr>
          <p:spPr>
            <a:xfrm>
              <a:off x="7402404" y="3179763"/>
              <a:ext cx="305019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A655B0E9-99B1-4CEF-A980-99E39F5225CD}"/>
                </a:ext>
              </a:extLst>
            </p:cNvPr>
            <p:cNvCxnSpPr/>
            <p:nvPr/>
          </p:nvCxnSpPr>
          <p:spPr>
            <a:xfrm>
              <a:off x="7507102" y="3177382"/>
              <a:ext cx="95621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直接连接符 72">
              <a:extLst>
                <a:ext uri="{FF2B5EF4-FFF2-40B4-BE49-F238E27FC236}">
                  <a16:creationId xmlns:a16="http://schemas.microsoft.com/office/drawing/2014/main" id="{E6ED1001-ABCF-4C68-91ED-21C42D2137D8}"/>
                </a:ext>
              </a:extLst>
            </p:cNvPr>
            <p:cNvCxnSpPr/>
            <p:nvPr/>
          </p:nvCxnSpPr>
          <p:spPr>
            <a:xfrm>
              <a:off x="7402404" y="3179763"/>
              <a:ext cx="305019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直接连接符 73">
              <a:extLst>
                <a:ext uri="{FF2B5EF4-FFF2-40B4-BE49-F238E27FC236}">
                  <a16:creationId xmlns:a16="http://schemas.microsoft.com/office/drawing/2014/main" id="{DA8637EC-B364-48BF-80F0-73BCAF58EE0B}"/>
                </a:ext>
              </a:extLst>
            </p:cNvPr>
            <p:cNvCxnSpPr/>
            <p:nvPr/>
          </p:nvCxnSpPr>
          <p:spPr>
            <a:xfrm>
              <a:off x="7507707" y="3179763"/>
              <a:ext cx="94411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连接符 74">
              <a:extLst>
                <a:ext uri="{FF2B5EF4-FFF2-40B4-BE49-F238E27FC236}">
                  <a16:creationId xmlns:a16="http://schemas.microsoft.com/office/drawing/2014/main" id="{5BEE112A-E59A-4B66-9644-230F422986FB}"/>
                </a:ext>
              </a:extLst>
            </p:cNvPr>
            <p:cNvCxnSpPr/>
            <p:nvPr/>
          </p:nvCxnSpPr>
          <p:spPr>
            <a:xfrm flipV="1">
              <a:off x="6880792" y="2705662"/>
              <a:ext cx="133713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6" name="组合 99">
            <a:extLst>
              <a:ext uri="{FF2B5EF4-FFF2-40B4-BE49-F238E27FC236}">
                <a16:creationId xmlns:a16="http://schemas.microsoft.com/office/drawing/2014/main" id="{BA752AC9-ED23-4045-B4D6-7F4626B13BE7}"/>
              </a:ext>
            </a:extLst>
          </p:cNvPr>
          <p:cNvGrpSpPr/>
          <p:nvPr/>
        </p:nvGrpSpPr>
        <p:grpSpPr>
          <a:xfrm>
            <a:off x="3182854" y="2713782"/>
            <a:ext cx="6871885" cy="25400"/>
            <a:chOff x="1640598" y="2670175"/>
            <a:chExt cx="6871885" cy="25400"/>
          </a:xfrm>
        </p:grpSpPr>
        <p:cxnSp>
          <p:nvCxnSpPr>
            <p:cNvPr id="77" name="直接连接符 76">
              <a:extLst>
                <a:ext uri="{FF2B5EF4-FFF2-40B4-BE49-F238E27FC236}">
                  <a16:creationId xmlns:a16="http://schemas.microsoft.com/office/drawing/2014/main" id="{4A6F502E-C218-4788-B739-0A68D023C041}"/>
                </a:ext>
              </a:extLst>
            </p:cNvPr>
            <p:cNvCxnSpPr/>
            <p:nvPr/>
          </p:nvCxnSpPr>
          <p:spPr bwMode="auto">
            <a:xfrm>
              <a:off x="1640598" y="2670175"/>
              <a:ext cx="50400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连接符 77">
              <a:extLst>
                <a:ext uri="{FF2B5EF4-FFF2-40B4-BE49-F238E27FC236}">
                  <a16:creationId xmlns:a16="http://schemas.microsoft.com/office/drawing/2014/main" id="{9423D006-8D0F-471D-A69D-B943B051DB54}"/>
                </a:ext>
              </a:extLst>
            </p:cNvPr>
            <p:cNvCxnSpPr/>
            <p:nvPr/>
          </p:nvCxnSpPr>
          <p:spPr bwMode="auto">
            <a:xfrm>
              <a:off x="2236494" y="2670175"/>
              <a:ext cx="186498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id="{A04C01DA-A9EB-4E5D-9052-9948995427CA}"/>
                </a:ext>
              </a:extLst>
            </p:cNvPr>
            <p:cNvCxnSpPr/>
            <p:nvPr/>
          </p:nvCxnSpPr>
          <p:spPr bwMode="auto">
            <a:xfrm>
              <a:off x="2548433" y="2670175"/>
              <a:ext cx="932492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连接符 79">
              <a:extLst>
                <a:ext uri="{FF2B5EF4-FFF2-40B4-BE49-F238E27FC236}">
                  <a16:creationId xmlns:a16="http://schemas.microsoft.com/office/drawing/2014/main" id="{2ABD359A-4D3A-4391-9CEA-827F6EB6641E}"/>
                </a:ext>
              </a:extLst>
            </p:cNvPr>
            <p:cNvCxnSpPr/>
            <p:nvPr/>
          </p:nvCxnSpPr>
          <p:spPr bwMode="auto">
            <a:xfrm>
              <a:off x="3598469" y="2670175"/>
              <a:ext cx="186498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直接连接符 80">
              <a:extLst>
                <a:ext uri="{FF2B5EF4-FFF2-40B4-BE49-F238E27FC236}">
                  <a16:creationId xmlns:a16="http://schemas.microsoft.com/office/drawing/2014/main" id="{32F8A4C1-EC7C-4BF1-9971-9FD327D5D254}"/>
                </a:ext>
              </a:extLst>
            </p:cNvPr>
            <p:cNvCxnSpPr/>
            <p:nvPr/>
          </p:nvCxnSpPr>
          <p:spPr bwMode="auto">
            <a:xfrm>
              <a:off x="3916683" y="2670175"/>
              <a:ext cx="1357598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直接连接符 81">
              <a:extLst>
                <a:ext uri="{FF2B5EF4-FFF2-40B4-BE49-F238E27FC236}">
                  <a16:creationId xmlns:a16="http://schemas.microsoft.com/office/drawing/2014/main" id="{FC0CABA5-F66F-4E7A-91CA-10D170874A74}"/>
                </a:ext>
              </a:extLst>
            </p:cNvPr>
            <p:cNvCxnSpPr/>
            <p:nvPr/>
          </p:nvCxnSpPr>
          <p:spPr bwMode="auto">
            <a:xfrm>
              <a:off x="5338369" y="2682875"/>
              <a:ext cx="186498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连接符 82">
              <a:extLst>
                <a:ext uri="{FF2B5EF4-FFF2-40B4-BE49-F238E27FC236}">
                  <a16:creationId xmlns:a16="http://schemas.microsoft.com/office/drawing/2014/main" id="{0AE1E83E-7F7B-4A9E-BE93-28297A1A09CF}"/>
                </a:ext>
              </a:extLst>
            </p:cNvPr>
            <p:cNvCxnSpPr/>
            <p:nvPr/>
          </p:nvCxnSpPr>
          <p:spPr bwMode="auto">
            <a:xfrm>
              <a:off x="5656583" y="2682875"/>
              <a:ext cx="1357598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id="{2F57E828-0B3A-4EA9-959F-43B9DC3E3DD3}"/>
                </a:ext>
              </a:extLst>
            </p:cNvPr>
            <p:cNvCxnSpPr/>
            <p:nvPr/>
          </p:nvCxnSpPr>
          <p:spPr bwMode="auto">
            <a:xfrm>
              <a:off x="7078269" y="2695575"/>
              <a:ext cx="186498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直接连接符 84">
              <a:extLst>
                <a:ext uri="{FF2B5EF4-FFF2-40B4-BE49-F238E27FC236}">
                  <a16:creationId xmlns:a16="http://schemas.microsoft.com/office/drawing/2014/main" id="{679036B8-A5ED-4CCC-8091-467F38F909FB}"/>
                </a:ext>
              </a:extLst>
            </p:cNvPr>
            <p:cNvCxnSpPr/>
            <p:nvPr/>
          </p:nvCxnSpPr>
          <p:spPr bwMode="auto">
            <a:xfrm>
              <a:off x="7396483" y="2695575"/>
              <a:ext cx="1116000" cy="0"/>
            </a:xfrm>
            <a:prstGeom prst="line">
              <a:avLst/>
            </a:prstGeom>
            <a:ln w="19050">
              <a:solidFill>
                <a:srgbClr val="0099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6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4221353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9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5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FC179523-65AC-4DC3-B3AF-E4DF63C8CFB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47367" y="2189399"/>
            <a:ext cx="2590800" cy="2181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61">
            <a:extLst>
              <a:ext uri="{FF2B5EF4-FFF2-40B4-BE49-F238E27FC236}">
                <a16:creationId xmlns:a16="http://schemas.microsoft.com/office/drawing/2014/main" id="{A8CA56BE-A305-47DC-AA38-B583CA1AFF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8861" y="1317246"/>
            <a:ext cx="375936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</a:rPr>
              <a:t>3</a:t>
            </a:r>
            <a:r>
              <a:rPr lang="zh-CN" altLang="zh-CN" sz="2400" b="1" dirty="0">
                <a:solidFill>
                  <a:srgbClr val="002060"/>
                </a:solidFill>
              </a:rPr>
              <a:t>．内、外螺纹联接的画法</a:t>
            </a:r>
          </a:p>
        </p:txBody>
      </p:sp>
      <p:sp>
        <p:nvSpPr>
          <p:cNvPr id="4" name="Text Box 8">
            <a:extLst>
              <a:ext uri="{FF2B5EF4-FFF2-40B4-BE49-F238E27FC236}">
                <a16:creationId xmlns:a16="http://schemas.microsoft.com/office/drawing/2014/main" id="{4DD54B98-564F-4BE2-89DC-5A6B61C6AA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6380" y="818288"/>
            <a:ext cx="34305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三、螺纹的规定画法</a:t>
            </a:r>
          </a:p>
        </p:txBody>
      </p:sp>
      <p:grpSp>
        <p:nvGrpSpPr>
          <p:cNvPr id="6" name="Group 47">
            <a:extLst>
              <a:ext uri="{FF2B5EF4-FFF2-40B4-BE49-F238E27FC236}">
                <a16:creationId xmlns:a16="http://schemas.microsoft.com/office/drawing/2014/main" id="{5D23727A-790C-45C9-8956-75D84C1D4E4A}"/>
              </a:ext>
            </a:extLst>
          </p:cNvPr>
          <p:cNvGrpSpPr>
            <a:grpSpLocks/>
          </p:cNvGrpSpPr>
          <p:nvPr/>
        </p:nvGrpSpPr>
        <p:grpSpPr bwMode="auto">
          <a:xfrm>
            <a:off x="3968155" y="1627424"/>
            <a:ext cx="600075" cy="3163887"/>
            <a:chOff x="1909" y="597"/>
            <a:chExt cx="378" cy="1834"/>
          </a:xfrm>
        </p:grpSpPr>
        <p:sp>
          <p:nvSpPr>
            <p:cNvPr id="7" name="Freeform 48">
              <a:extLst>
                <a:ext uri="{FF2B5EF4-FFF2-40B4-BE49-F238E27FC236}">
                  <a16:creationId xmlns:a16="http://schemas.microsoft.com/office/drawing/2014/main" id="{F7F51EFF-989C-4938-A9F4-F5D662C9B0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4" y="2180"/>
              <a:ext cx="1" cy="163"/>
            </a:xfrm>
            <a:custGeom>
              <a:avLst/>
              <a:gdLst>
                <a:gd name="T0" fmla="*/ 0 w 1"/>
                <a:gd name="T1" fmla="*/ 0 h 163"/>
                <a:gd name="T2" fmla="*/ 0 w 1"/>
                <a:gd name="T3" fmla="*/ 163 h 163"/>
                <a:gd name="T4" fmla="*/ 0 60000 65536"/>
                <a:gd name="T5" fmla="*/ 0 60000 65536"/>
                <a:gd name="T6" fmla="*/ 0 w 1"/>
                <a:gd name="T7" fmla="*/ 0 h 163"/>
                <a:gd name="T8" fmla="*/ 1 w 1"/>
                <a:gd name="T9" fmla="*/ 163 h 1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63">
                  <a:moveTo>
                    <a:pt x="0" y="0"/>
                  </a:moveTo>
                  <a:lnTo>
                    <a:pt x="0" y="163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" name="Text Box 49">
              <a:extLst>
                <a:ext uri="{FF2B5EF4-FFF2-40B4-BE49-F238E27FC236}">
                  <a16:creationId xmlns:a16="http://schemas.microsoft.com/office/drawing/2014/main" id="{51008D3B-7C23-4FD3-BE64-2A5D389954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32" y="597"/>
              <a:ext cx="214" cy="2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zh-CN">
                  <a:solidFill>
                    <a:srgbClr val="FF0000"/>
                  </a:solidFill>
                  <a:latin typeface="宋体" pitchFamily="2" charset="-122"/>
                </a:rPr>
                <a:t>A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9" name="Text Box 50">
              <a:extLst>
                <a:ext uri="{FF2B5EF4-FFF2-40B4-BE49-F238E27FC236}">
                  <a16:creationId xmlns:a16="http://schemas.microsoft.com/office/drawing/2014/main" id="{3D574868-1501-4DC2-B3E3-36CE011648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09" y="2163"/>
              <a:ext cx="214" cy="268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zh-CN">
                  <a:solidFill>
                    <a:srgbClr val="FF0000"/>
                  </a:solidFill>
                  <a:latin typeface="宋体" pitchFamily="2" charset="-122"/>
                </a:rPr>
                <a:t>A</a:t>
              </a:r>
              <a:endParaRPr lang="en-US" altLang="zh-CN">
                <a:solidFill>
                  <a:srgbClr val="FF0000"/>
                </a:solidFill>
              </a:endParaRPr>
            </a:p>
          </p:txBody>
        </p:sp>
        <p:sp>
          <p:nvSpPr>
            <p:cNvPr id="10" name="Freeform 51">
              <a:extLst>
                <a:ext uri="{FF2B5EF4-FFF2-40B4-BE49-F238E27FC236}">
                  <a16:creationId xmlns:a16="http://schemas.microsoft.com/office/drawing/2014/main" id="{8324E82D-DCF9-4CE8-B73A-9D8FF4A08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6" y="703"/>
              <a:ext cx="1" cy="163"/>
            </a:xfrm>
            <a:custGeom>
              <a:avLst/>
              <a:gdLst>
                <a:gd name="T0" fmla="*/ 0 w 1"/>
                <a:gd name="T1" fmla="*/ 0 h 163"/>
                <a:gd name="T2" fmla="*/ 0 w 1"/>
                <a:gd name="T3" fmla="*/ 163 h 163"/>
                <a:gd name="T4" fmla="*/ 0 60000 65536"/>
                <a:gd name="T5" fmla="*/ 0 60000 65536"/>
                <a:gd name="T6" fmla="*/ 0 w 1"/>
                <a:gd name="T7" fmla="*/ 0 h 163"/>
                <a:gd name="T8" fmla="*/ 1 w 1"/>
                <a:gd name="T9" fmla="*/ 163 h 16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63">
                  <a:moveTo>
                    <a:pt x="0" y="0"/>
                  </a:moveTo>
                  <a:lnTo>
                    <a:pt x="0" y="163"/>
                  </a:lnTo>
                </a:path>
              </a:pathLst>
            </a:cu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" name="Line 52">
              <a:extLst>
                <a:ext uri="{FF2B5EF4-FFF2-40B4-BE49-F238E27FC236}">
                  <a16:creationId xmlns:a16="http://schemas.microsoft.com/office/drawing/2014/main" id="{13190029-111B-48FD-B3B1-137B75F9CE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7" y="707"/>
              <a:ext cx="13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" name="Line 53">
              <a:extLst>
                <a:ext uri="{FF2B5EF4-FFF2-40B4-BE49-F238E27FC236}">
                  <a16:creationId xmlns:a16="http://schemas.microsoft.com/office/drawing/2014/main" id="{D2B8D95B-6D7C-49C9-BEB5-60519495E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" y="2340"/>
              <a:ext cx="153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" name="Text Box 59">
            <a:extLst>
              <a:ext uri="{FF2B5EF4-FFF2-40B4-BE49-F238E27FC236}">
                <a16:creationId xmlns:a16="http://schemas.microsoft.com/office/drawing/2014/main" id="{27AD0167-46D7-40EF-A2E9-BE5F4B6A2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1705" y="4781261"/>
            <a:ext cx="173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画图要点：</a:t>
            </a:r>
          </a:p>
        </p:txBody>
      </p:sp>
      <p:sp>
        <p:nvSpPr>
          <p:cNvPr id="14" name="Text Box 60">
            <a:extLst>
              <a:ext uri="{FF2B5EF4-FFF2-40B4-BE49-F238E27FC236}">
                <a16:creationId xmlns:a16="http://schemas.microsoft.com/office/drawing/2014/main" id="{44737B96-DA95-4688-8A3C-0DC4D36DC6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0392" y="5535450"/>
            <a:ext cx="7672387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  <a:sym typeface="Monotype Sorts"/>
              </a:rPr>
              <a:t>★ 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大径线和大径线对齐；小径线和小径线对齐。</a:t>
            </a:r>
          </a:p>
        </p:txBody>
      </p:sp>
      <p:sp>
        <p:nvSpPr>
          <p:cNvPr id="15" name="Text Box 61">
            <a:extLst>
              <a:ext uri="{FF2B5EF4-FFF2-40B4-BE49-F238E27FC236}">
                <a16:creationId xmlns:a16="http://schemas.microsoft.com/office/drawing/2014/main" id="{6F710DCE-5652-4F4E-A3D5-4E0D6F01C0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8329" y="6041069"/>
            <a:ext cx="8158163" cy="4247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CN" sz="2400" b="1">
                <a:solidFill>
                  <a:srgbClr val="FF0000"/>
                </a:solidFill>
                <a:latin typeface="宋体" pitchFamily="2" charset="-122"/>
                <a:sym typeface="Monotype Sorts"/>
              </a:rPr>
              <a:t>★ 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旋合部分按外螺纹画；其余部分按各自的规定画。</a:t>
            </a: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AEA3524-FF9E-4602-9373-0FE8786E33A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18" t="2126" b="3877"/>
          <a:stretch>
            <a:fillRect/>
          </a:stretch>
        </p:blipFill>
        <p:spPr bwMode="auto">
          <a:xfrm>
            <a:off x="3790355" y="2684699"/>
            <a:ext cx="2719387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C9153A4E-E7F5-40E6-AC59-52705CBEAC3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93405" y="2221149"/>
            <a:ext cx="3667125" cy="2076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8" name="Group 54">
            <a:extLst>
              <a:ext uri="{FF2B5EF4-FFF2-40B4-BE49-F238E27FC236}">
                <a16:creationId xmlns:a16="http://schemas.microsoft.com/office/drawing/2014/main" id="{4B6E6D80-7F5C-40CA-82A4-6717B1E0C675}"/>
              </a:ext>
            </a:extLst>
          </p:cNvPr>
          <p:cNvGrpSpPr>
            <a:grpSpLocks/>
          </p:cNvGrpSpPr>
          <p:nvPr/>
        </p:nvGrpSpPr>
        <p:grpSpPr bwMode="auto">
          <a:xfrm>
            <a:off x="3841155" y="3722924"/>
            <a:ext cx="1249362" cy="1547812"/>
            <a:chOff x="1450" y="1484"/>
            <a:chExt cx="787" cy="975"/>
          </a:xfrm>
        </p:grpSpPr>
        <p:sp>
          <p:nvSpPr>
            <p:cNvPr id="19" name="Freeform 55">
              <a:extLst>
                <a:ext uri="{FF2B5EF4-FFF2-40B4-BE49-F238E27FC236}">
                  <a16:creationId xmlns:a16="http://schemas.microsoft.com/office/drawing/2014/main" id="{AC316383-5C3A-4130-9ED7-5D70A4FB5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484"/>
              <a:ext cx="29" cy="975"/>
            </a:xfrm>
            <a:custGeom>
              <a:avLst/>
              <a:gdLst>
                <a:gd name="T0" fmla="*/ 0 w 1"/>
                <a:gd name="T1" fmla="*/ 0 h 540"/>
                <a:gd name="T2" fmla="*/ 0 w 1"/>
                <a:gd name="T3" fmla="*/ 5738 h 540"/>
                <a:gd name="T4" fmla="*/ 0 60000 65536"/>
                <a:gd name="T5" fmla="*/ 0 60000 65536"/>
                <a:gd name="T6" fmla="*/ 0 w 1"/>
                <a:gd name="T7" fmla="*/ 0 h 540"/>
                <a:gd name="T8" fmla="*/ 1 w 1"/>
                <a:gd name="T9" fmla="*/ 540 h 54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40">
                  <a:moveTo>
                    <a:pt x="0" y="0"/>
                  </a:moveTo>
                  <a:lnTo>
                    <a:pt x="0" y="54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" name="Line 56">
              <a:extLst>
                <a:ext uri="{FF2B5EF4-FFF2-40B4-BE49-F238E27FC236}">
                  <a16:creationId xmlns:a16="http://schemas.microsoft.com/office/drawing/2014/main" id="{73E1A2C6-F749-44EC-88A1-C9A3A648578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35" y="1827"/>
              <a:ext cx="0" cy="62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Freeform 57">
              <a:extLst>
                <a:ext uri="{FF2B5EF4-FFF2-40B4-BE49-F238E27FC236}">
                  <a16:creationId xmlns:a16="http://schemas.microsoft.com/office/drawing/2014/main" id="{476310AB-3090-4868-B044-1E69D05D02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2373"/>
              <a:ext cx="785" cy="0"/>
            </a:xfrm>
            <a:custGeom>
              <a:avLst/>
              <a:gdLst>
                <a:gd name="T0" fmla="*/ 0 w 1257"/>
                <a:gd name="T1" fmla="*/ 0 h 2"/>
                <a:gd name="T2" fmla="*/ 191 w 1257"/>
                <a:gd name="T3" fmla="*/ 0 h 2"/>
                <a:gd name="T4" fmla="*/ 0 60000 65536"/>
                <a:gd name="T5" fmla="*/ 0 60000 65536"/>
                <a:gd name="T6" fmla="*/ 0 w 1257"/>
                <a:gd name="T7" fmla="*/ 0 h 2"/>
                <a:gd name="T8" fmla="*/ 1257 w 1257"/>
                <a:gd name="T9" fmla="*/ 0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57" h="2">
                  <a:moveTo>
                    <a:pt x="0" y="2"/>
                  </a:moveTo>
                  <a:lnTo>
                    <a:pt x="1257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Text Box 58">
              <a:extLst>
                <a:ext uri="{FF2B5EF4-FFF2-40B4-BE49-F238E27FC236}">
                  <a16:creationId xmlns:a16="http://schemas.microsoft.com/office/drawing/2014/main" id="{8969E166-C8C6-4074-A4DA-4AE5C6882D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67" y="2146"/>
              <a:ext cx="702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zh-CN" altLang="en-US" sz="1800" b="1" dirty="0">
                  <a:solidFill>
                    <a:schemeClr val="accent2"/>
                  </a:solidFill>
                </a:rPr>
                <a:t>旋入深度</a:t>
              </a:r>
            </a:p>
          </p:txBody>
        </p:sp>
      </p:grpSp>
      <p:sp>
        <p:nvSpPr>
          <p:cNvPr id="23" name="AutoShape 62">
            <a:extLst>
              <a:ext uri="{FF2B5EF4-FFF2-40B4-BE49-F238E27FC236}">
                <a16:creationId xmlns:a16="http://schemas.microsoft.com/office/drawing/2014/main" id="{1D7A279A-69A6-407B-B861-CA103DCD7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3280" y="4427774"/>
            <a:ext cx="1417637" cy="424732"/>
          </a:xfrm>
          <a:prstGeom prst="wedgeRectCallout">
            <a:avLst>
              <a:gd name="adj1" fmla="val -67169"/>
              <a:gd name="adj2" fmla="val -259257"/>
            </a:avLst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zh-CN" altLang="en-US" b="1" dirty="0"/>
              <a:t>按不剖画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B6C73489-7B4D-4B08-A9BE-EB457F7BABC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65442" y="1825861"/>
            <a:ext cx="2352675" cy="2570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5" name="组合 49">
            <a:extLst>
              <a:ext uri="{FF2B5EF4-FFF2-40B4-BE49-F238E27FC236}">
                <a16:creationId xmlns:a16="http://schemas.microsoft.com/office/drawing/2014/main" id="{6A796DE8-F93B-4791-A2B3-B31D3E3A5AE8}"/>
              </a:ext>
            </a:extLst>
          </p:cNvPr>
          <p:cNvGrpSpPr>
            <a:grpSpLocks/>
          </p:cNvGrpSpPr>
          <p:nvPr/>
        </p:nvGrpSpPr>
        <p:grpSpPr bwMode="auto">
          <a:xfrm>
            <a:off x="8714779" y="3722924"/>
            <a:ext cx="2216150" cy="1651218"/>
            <a:chOff x="7074895" y="3643708"/>
            <a:chExt cx="2215311" cy="1650315"/>
          </a:xfrm>
        </p:grpSpPr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5B19F36-278D-4113-9858-90ADB0535355}"/>
                </a:ext>
              </a:extLst>
            </p:cNvPr>
            <p:cNvSpPr/>
            <p:nvPr/>
          </p:nvSpPr>
          <p:spPr>
            <a:xfrm>
              <a:off x="7074895" y="4648045"/>
              <a:ext cx="2215311" cy="645978"/>
            </a:xfrm>
            <a:prstGeom prst="rect">
              <a:avLst/>
            </a:prstGeom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p:spPr>
          <p:txBody>
            <a:bodyPr>
              <a:spAutoFit/>
            </a:bodyPr>
            <a:lstStyle/>
            <a:p>
              <a:pPr algn="ctr" eaLnBrk="1" hangingPunct="1">
                <a:defRPr/>
              </a:pPr>
              <a:r>
                <a:rPr lang="zh-CN" altLang="en-US" b="1" dirty="0"/>
                <a:t>内、外螺纹剖面线方向相反</a:t>
              </a: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5C299B8E-2F2C-452A-98FA-ECF0979DB1BB}"/>
                </a:ext>
              </a:extLst>
            </p:cNvPr>
            <p:cNvCxnSpPr/>
            <p:nvPr/>
          </p:nvCxnSpPr>
          <p:spPr>
            <a:xfrm flipH="1" flipV="1">
              <a:off x="7719970" y="3699240"/>
              <a:ext cx="280881" cy="918660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FA366329-D3F6-4DA2-AB40-FA6D09E13962}"/>
                </a:ext>
              </a:extLst>
            </p:cNvPr>
            <p:cNvCxnSpPr/>
            <p:nvPr/>
          </p:nvCxnSpPr>
          <p:spPr>
            <a:xfrm flipH="1" flipV="1">
              <a:off x="7323245" y="3643708"/>
              <a:ext cx="677605" cy="97419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1531181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500"/>
                            </p:stCondLst>
                            <p:childTnLst>
                              <p:par>
                                <p:cTn id="1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75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75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3" dur="7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 autoUpdateAnimBg="0"/>
      <p:bldP spid="14" grpId="0" autoUpdateAnimBg="0"/>
      <p:bldP spid="15" grpId="0" autoUpdateAnimBg="0"/>
      <p:bldP spid="23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94485072-018F-41FE-B3B7-2B22512FDB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122279" y="2846218"/>
            <a:ext cx="3030868" cy="1017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Box 2">
            <a:extLst>
              <a:ext uri="{FF2B5EF4-FFF2-40B4-BE49-F238E27FC236}">
                <a16:creationId xmlns:a16="http://schemas.microsoft.com/office/drawing/2014/main" id="{7C2721F0-C0A3-4011-8D86-2BE39651AC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0076" y="1404077"/>
            <a:ext cx="2815194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宋体" pitchFamily="2" charset="-122"/>
              </a:rPr>
              <a:t>⒋ </a:t>
            </a:r>
            <a:r>
              <a:rPr lang="zh-CN" altLang="en-US" sz="2400" b="1" dirty="0">
                <a:solidFill>
                  <a:srgbClr val="002060"/>
                </a:solidFill>
                <a:latin typeface="宋体" pitchFamily="2" charset="-122"/>
              </a:rPr>
              <a:t>螺纹牙型的表示</a:t>
            </a:r>
          </a:p>
        </p:txBody>
      </p:sp>
      <p:sp>
        <p:nvSpPr>
          <p:cNvPr id="4" name="Text Box 45">
            <a:extLst>
              <a:ext uri="{FF2B5EF4-FFF2-40B4-BE49-F238E27FC236}">
                <a16:creationId xmlns:a16="http://schemas.microsoft.com/office/drawing/2014/main" id="{A1128CF0-9B26-49CD-8D16-87B8AC657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6752" y="1866802"/>
            <a:ext cx="1887537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⑴ 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重合画法</a:t>
            </a:r>
          </a:p>
        </p:txBody>
      </p:sp>
      <p:sp>
        <p:nvSpPr>
          <p:cNvPr id="5" name="Text Box 46">
            <a:extLst>
              <a:ext uri="{FF2B5EF4-FFF2-40B4-BE49-F238E27FC236}">
                <a16:creationId xmlns:a16="http://schemas.microsoft.com/office/drawing/2014/main" id="{F7E086BF-C343-4746-998E-8533E30B2D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0292" y="1866803"/>
            <a:ext cx="2505075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chemeClr val="tx2"/>
                </a:solidFill>
                <a:latin typeface="宋体" pitchFamily="2" charset="-122"/>
              </a:rPr>
              <a:t>⑵ </a:t>
            </a:r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移出局部放大</a:t>
            </a:r>
          </a:p>
        </p:txBody>
      </p:sp>
      <p:sp>
        <p:nvSpPr>
          <p:cNvPr id="6" name="Oval 59">
            <a:extLst>
              <a:ext uri="{FF2B5EF4-FFF2-40B4-BE49-F238E27FC236}">
                <a16:creationId xmlns:a16="http://schemas.microsoft.com/office/drawing/2014/main" id="{A0A5C789-D594-40D3-AB22-CE9AF1400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3351" y="2925184"/>
            <a:ext cx="321444" cy="314326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7" name="Text Box 81">
            <a:extLst>
              <a:ext uri="{FF2B5EF4-FFF2-40B4-BE49-F238E27FC236}">
                <a16:creationId xmlns:a16="http://schemas.microsoft.com/office/drawing/2014/main" id="{CB06564A-8E0E-4CD0-887E-65119C08D3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27061" y="1700778"/>
            <a:ext cx="569388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rgbClr val="FF3300"/>
                </a:solidFill>
                <a:latin typeface="ISOCPEUR" pitchFamily="34" charset="0"/>
              </a:rPr>
              <a:t>5:1</a:t>
            </a:r>
          </a:p>
        </p:txBody>
      </p:sp>
      <p:sp>
        <p:nvSpPr>
          <p:cNvPr id="8" name="Text Box 84">
            <a:extLst>
              <a:ext uri="{FF2B5EF4-FFF2-40B4-BE49-F238E27FC236}">
                <a16:creationId xmlns:a16="http://schemas.microsoft.com/office/drawing/2014/main" id="{4B392568-D355-42E2-9A03-D655F829F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34865" y="4131535"/>
            <a:ext cx="281519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宋体" pitchFamily="2" charset="-122"/>
              </a:rPr>
              <a:t>⒌ </a:t>
            </a:r>
            <a:r>
              <a:rPr lang="zh-CN" altLang="en-US" sz="2400" b="1" dirty="0">
                <a:solidFill>
                  <a:srgbClr val="002060"/>
                </a:solidFill>
                <a:latin typeface="宋体" pitchFamily="2" charset="-122"/>
              </a:rPr>
              <a:t>螺纹相贯的画法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D5A3768-ED68-484F-BA8D-55D2C96CB74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30076" y="2438332"/>
            <a:ext cx="4332536" cy="16930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85927B6-9D1E-46CB-B05E-20E43AA2C67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111009" y="2201285"/>
            <a:ext cx="2165814" cy="16624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43DBAF44-D466-48FC-8983-2DFA63C510E2}"/>
              </a:ext>
            </a:extLst>
          </p:cNvPr>
          <p:cNvSpPr/>
          <p:nvPr/>
        </p:nvSpPr>
        <p:spPr>
          <a:xfrm>
            <a:off x="1804935" y="4805315"/>
            <a:ext cx="299613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400" kern="100" dirty="0">
                <a:cs typeface="Times New Roman" panose="02020603050405020304" pitchFamily="18" charset="0"/>
              </a:rPr>
              <a:t>螺纹孔相贯时，只在牙顶处画一条相贯线（用粗实线表示）</a:t>
            </a:r>
            <a:endParaRPr lang="zh-CN" altLang="en-US" sz="2400" dirty="0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24D05290-0428-4789-A56A-D3B3344DE45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6846"/>
          <a:stretch>
            <a:fillRect/>
          </a:stretch>
        </p:blipFill>
        <p:spPr bwMode="auto">
          <a:xfrm>
            <a:off x="8540087" y="4425924"/>
            <a:ext cx="2060783" cy="20021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48452747-2643-4D54-9638-599EA88731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3935"/>
          <a:stretch>
            <a:fillRect/>
          </a:stretch>
        </p:blipFill>
        <p:spPr bwMode="auto">
          <a:xfrm>
            <a:off x="5123892" y="4489125"/>
            <a:ext cx="2770547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8">
            <a:extLst>
              <a:ext uri="{FF2B5EF4-FFF2-40B4-BE49-F238E27FC236}">
                <a16:creationId xmlns:a16="http://schemas.microsoft.com/office/drawing/2014/main" id="{75AD9E96-6D54-4581-99D3-8994864465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2102" y="843541"/>
            <a:ext cx="34305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三、螺纹的规定画法</a:t>
            </a:r>
          </a:p>
        </p:txBody>
      </p:sp>
      <p:sp>
        <p:nvSpPr>
          <p:cNvPr id="16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344642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nimBg="1"/>
      <p:bldP spid="7" grpId="0"/>
      <p:bldP spid="8" grpId="0" autoUpdateAnimBg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8931BE4A-5FC2-4A25-B954-1510C66AFD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223" y="794779"/>
            <a:ext cx="52339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四、螺纹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的工艺结构及尺寸注法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EF4F3D1-8570-46FB-AA37-CB570E0CC914}"/>
              </a:ext>
            </a:extLst>
          </p:cNvPr>
          <p:cNvSpPr/>
          <p:nvPr/>
        </p:nvSpPr>
        <p:spPr>
          <a:xfrm>
            <a:off x="1011223" y="1232754"/>
            <a:ext cx="3993401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400" kern="1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zh-CN" sz="2400" kern="1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．螺纹收尾和螺纹退刀槽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47AC7DF-FBE7-4C77-9A92-A62243509F20}"/>
              </a:ext>
            </a:extLst>
          </p:cNvPr>
          <p:cNvSpPr/>
          <p:nvPr/>
        </p:nvSpPr>
        <p:spPr>
          <a:xfrm>
            <a:off x="1418320" y="1851686"/>
            <a:ext cx="10225136" cy="830997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400" kern="100" dirty="0">
                <a:cs typeface="Times New Roman" panose="02020603050405020304" pitchFamily="18" charset="0"/>
              </a:rPr>
              <a:t>车削螺纹结束时，刀具逐渐退出工件，螺纹沟槽渐渐变浅，因此螺纹收尾部分的牙型是不完整的，</a:t>
            </a:r>
            <a:r>
              <a: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牙型不完整的收尾部分称为螺纹收尾</a:t>
            </a:r>
            <a:r>
              <a:rPr lang="zh-CN" altLang="zh-CN" sz="2400" kern="100" dirty="0">
                <a:cs typeface="Times New Roman" panose="02020603050405020304" pitchFamily="18" charset="0"/>
              </a:rPr>
              <a:t>，简称螺尾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590677B-4654-4E8D-B3EC-C91A76FD0B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903"/>
          <a:stretch>
            <a:fillRect/>
          </a:stretch>
        </p:blipFill>
        <p:spPr bwMode="auto">
          <a:xfrm>
            <a:off x="6683829" y="5068645"/>
            <a:ext cx="3506788" cy="1239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3F44B09-407F-42B3-AEE3-157BD56D0D69}"/>
              </a:ext>
            </a:extLst>
          </p:cNvPr>
          <p:cNvSpPr/>
          <p:nvPr/>
        </p:nvSpPr>
        <p:spPr>
          <a:xfrm>
            <a:off x="1413580" y="2887452"/>
            <a:ext cx="35910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400" b="1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螺尾部分一般不必画出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E9A3D1D-FF44-4ACB-BFC1-DDF3CC56DAF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7295" y="3429000"/>
            <a:ext cx="2443162" cy="3009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204C101-1C4D-46DF-B3BF-A5744E45265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3966"/>
          <a:stretch>
            <a:fillRect/>
          </a:stretch>
        </p:blipFill>
        <p:spPr bwMode="auto">
          <a:xfrm>
            <a:off x="6502854" y="3438283"/>
            <a:ext cx="3578225" cy="124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93E96BF-376E-4972-81AC-8D836A10AE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50479" y="3209683"/>
            <a:ext cx="3363913" cy="1401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D02867B2-5AF9-4965-A22A-0B1A84BD1EFC}"/>
              </a:ext>
            </a:extLst>
          </p:cNvPr>
          <p:cNvSpPr/>
          <p:nvPr/>
        </p:nvSpPr>
        <p:spPr>
          <a:xfrm>
            <a:off x="4835860" y="2869101"/>
            <a:ext cx="663883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zh-CN" sz="24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螺尾部分的牙底用与轴线成</a:t>
            </a:r>
            <a:r>
              <a:rPr lang="en-US" altLang="zh-CN" sz="2400" b="1" kern="100" dirty="0">
                <a:solidFill>
                  <a:srgbClr val="0070C0"/>
                </a:solidFill>
              </a:rPr>
              <a:t>30</a:t>
            </a:r>
            <a:r>
              <a:rPr lang="zh-CN" altLang="zh-CN" sz="24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°的细实线绘制</a:t>
            </a:r>
            <a:endParaRPr lang="zh-CN" altLang="en-US" sz="2400" b="1" dirty="0">
              <a:solidFill>
                <a:srgbClr val="0070C0"/>
              </a:solidFill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64CFFFD-37B9-43D6-8870-74C58F8048A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6683829" y="5133733"/>
            <a:ext cx="3486150" cy="1174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1772492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3F936CD9-F335-416E-A606-26D22F7796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3490" y="797000"/>
            <a:ext cx="52339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四、螺纹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的工艺结构及尺寸注法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06D9BF7-2227-4AF0-9C68-7A29A287E182}"/>
              </a:ext>
            </a:extLst>
          </p:cNvPr>
          <p:cNvSpPr/>
          <p:nvPr/>
        </p:nvSpPr>
        <p:spPr>
          <a:xfrm>
            <a:off x="1191454" y="1223862"/>
            <a:ext cx="4012637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6700" algn="just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1</a:t>
            </a:r>
            <a:r>
              <a:rPr lang="zh-CN" altLang="zh-CN" sz="2400" b="1" kern="1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．螺纹收尾和螺纹退刀槽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3A62268-7217-4C32-ACC3-CC3E8C42CA23}"/>
              </a:ext>
            </a:extLst>
          </p:cNvPr>
          <p:cNvSpPr/>
          <p:nvPr/>
        </p:nvSpPr>
        <p:spPr>
          <a:xfrm>
            <a:off x="1620943" y="1819451"/>
            <a:ext cx="9613068" cy="830997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400" kern="100" dirty="0">
                <a:cs typeface="Times New Roman" panose="02020603050405020304" pitchFamily="18" charset="0"/>
              </a:rPr>
              <a:t>希望不产生螺尾，可在加工螺纹前，预先在产生螺尾的部位加工出一个细颈或环形沟槽，便于刀具退出，这个细颈称为螺纹退刀槽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2FC5585-16BA-4B69-878E-6AB93B355C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7548" y="2960948"/>
            <a:ext cx="2743200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6BAEA2D-4A5C-4995-90C4-BDE41502D41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15880" y="2960948"/>
            <a:ext cx="6074861" cy="329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292774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8">
            <a:extLst>
              <a:ext uri="{FF2B5EF4-FFF2-40B4-BE49-F238E27FC236}">
                <a16:creationId xmlns:a16="http://schemas.microsoft.com/office/drawing/2014/main" id="{57A9F919-7A9D-4DAF-B94A-B87E6E8F3F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063" y="812210"/>
            <a:ext cx="52339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四、螺纹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的工艺结构及尺寸注法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7CF59C-D487-4637-B93B-E79A61CC7C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406" y="1372597"/>
            <a:ext cx="18870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2</a:t>
            </a:r>
            <a:r>
              <a:rPr lang="zh-CN" altLang="zh-CN" sz="2400" b="1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．螺纹倒角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5C192FD-45E9-4544-B47C-183310325EAE}"/>
              </a:ext>
            </a:extLst>
          </p:cNvPr>
          <p:cNvSpPr/>
          <p:nvPr/>
        </p:nvSpPr>
        <p:spPr>
          <a:xfrm>
            <a:off x="7445719" y="1809229"/>
            <a:ext cx="3407674" cy="1569660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400" b="1" kern="100" dirty="0">
                <a:cs typeface="Times New Roman" panose="02020603050405020304" pitchFamily="18" charset="0"/>
              </a:rPr>
              <a:t>为便于装配和防止端部螺纹损伤，常在内外螺纹的起始处加工出圆锥面，称为倒角</a:t>
            </a:r>
            <a:r>
              <a:rPr lang="zh-CN" altLang="en-US" sz="2400" b="1" kern="100" dirty="0">
                <a:cs typeface="Times New Roman" panose="02020603050405020304" pitchFamily="18" charset="0"/>
              </a:rPr>
              <a:t>。</a:t>
            </a:r>
            <a:endParaRPr lang="zh-CN" altLang="en-US" sz="24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5558A32-03F3-4E2A-BC19-0AB64A3BC3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96381" y="3908884"/>
            <a:ext cx="7477125" cy="2503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1EE657E-2C6C-48E0-8DB1-BCD558D35D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53606" y="3913647"/>
            <a:ext cx="6400800" cy="1085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14F9961-FF37-4AA1-9995-C08F41A9CEA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584049" y="1943100"/>
            <a:ext cx="5848350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248099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>
            <a:extLst>
              <a:ext uri="{FF2B5EF4-FFF2-40B4-BE49-F238E27FC236}">
                <a16:creationId xmlns:a16="http://schemas.microsoft.com/office/drawing/2014/main" id="{277CD83F-4271-4629-83EB-71639F80D56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297" r="3494"/>
          <a:stretch>
            <a:fillRect/>
          </a:stretch>
        </p:blipFill>
        <p:spPr bwMode="auto">
          <a:xfrm>
            <a:off x="5696831" y="1982391"/>
            <a:ext cx="995362" cy="374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64463D35-3210-4C57-8AF5-344FC1E5B2F4}"/>
              </a:ext>
            </a:extLst>
          </p:cNvPr>
          <p:cNvSpPr/>
          <p:nvPr/>
        </p:nvSpPr>
        <p:spPr>
          <a:xfrm>
            <a:off x="1053962" y="1113503"/>
            <a:ext cx="2159566" cy="5745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69875" algn="just">
              <a:lnSpc>
                <a:spcPct val="150000"/>
              </a:lnSpc>
              <a:spcAft>
                <a:spcPts val="0"/>
              </a:spcAft>
              <a:defRPr/>
            </a:pPr>
            <a:r>
              <a:rPr lang="en-US" altLang="zh-CN" sz="2400" b="1" kern="100" dirty="0">
                <a:solidFill>
                  <a:srgbClr val="00B0F0"/>
                </a:solidFill>
                <a:latin typeface="宋体" panose="02010600030101010101" pitchFamily="2" charset="-122"/>
              </a:rPr>
              <a:t>3</a:t>
            </a:r>
            <a:r>
              <a:rPr lang="zh-CN" altLang="zh-CN" sz="2400" b="1" kern="100" dirty="0">
                <a:solidFill>
                  <a:srgbClr val="00B0F0"/>
                </a:solidFill>
              </a:rPr>
              <a:t>．钻孔深度</a:t>
            </a:r>
          </a:p>
        </p:txBody>
      </p:sp>
      <p:sp>
        <p:nvSpPr>
          <p:cNvPr id="27" name="Text Box 8">
            <a:extLst>
              <a:ext uri="{FF2B5EF4-FFF2-40B4-BE49-F238E27FC236}">
                <a16:creationId xmlns:a16="http://schemas.microsoft.com/office/drawing/2014/main" id="{1C9268D0-11B7-4D00-86B0-03C1FE175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20483" y="670322"/>
            <a:ext cx="5233987" cy="522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四、螺纹</a:t>
            </a:r>
            <a:r>
              <a:rPr lang="zh-CN" altLang="zh-CN" sz="2800" dirty="0">
                <a:latin typeface="黑体" pitchFamily="49" charset="-122"/>
                <a:ea typeface="黑体" pitchFamily="49" charset="-122"/>
              </a:rPr>
              <a:t>的工艺结构及尺寸注法</a:t>
            </a:r>
            <a:endParaRPr lang="zh-CN" altLang="en-US" sz="28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B3E115D-6815-4942-98EB-32755156240F}"/>
              </a:ext>
            </a:extLst>
          </p:cNvPr>
          <p:cNvSpPr/>
          <p:nvPr/>
        </p:nvSpPr>
        <p:spPr>
          <a:xfrm>
            <a:off x="1336644" y="1697880"/>
            <a:ext cx="10068105" cy="830997"/>
          </a:xfrm>
          <a:prstGeom prst="rect">
            <a:avLst/>
          </a:prstGeom>
          <a:gradFill>
            <a:gsLst>
              <a:gs pos="0">
                <a:schemeClr val="accent2">
                  <a:lumMod val="5000"/>
                  <a:lumOff val="95000"/>
                </a:schemeClr>
              </a:gs>
              <a:gs pos="74000">
                <a:schemeClr val="accent2">
                  <a:lumMod val="45000"/>
                  <a:lumOff val="55000"/>
                </a:schemeClr>
              </a:gs>
              <a:gs pos="83000">
                <a:schemeClr val="accent2">
                  <a:lumMod val="45000"/>
                  <a:lumOff val="55000"/>
                </a:schemeClr>
              </a:gs>
              <a:gs pos="100000">
                <a:schemeClr val="accent2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zh-CN" sz="2400" kern="100" dirty="0">
                <a:cs typeface="Times New Roman" panose="02020603050405020304" pitchFamily="18" charset="0"/>
              </a:rPr>
              <a:t>加工不穿通的螺纹孔，要先进行钻孔形成钻孔深度，钻头尖使不通孔的末端形成圆锥面，再攻螺纹从而形成了螺孔深度</a:t>
            </a:r>
            <a:r>
              <a:rPr lang="zh-CN" altLang="en-US" sz="2400" kern="100" dirty="0">
                <a:cs typeface="Times New Roman" panose="02020603050405020304" pitchFamily="18" charset="0"/>
              </a:rPr>
              <a:t>。</a:t>
            </a:r>
            <a:endParaRPr lang="zh-CN" altLang="en-US" sz="2400" dirty="0"/>
          </a:p>
        </p:txBody>
      </p:sp>
      <p:pic>
        <p:nvPicPr>
          <p:cNvPr id="30" name="图片 5">
            <a:extLst>
              <a:ext uri="{FF2B5EF4-FFF2-40B4-BE49-F238E27FC236}">
                <a16:creationId xmlns:a16="http://schemas.microsoft.com/office/drawing/2014/main" id="{9DF10FD2-3C46-42F2-874E-CCD44B7917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636131" y="3204766"/>
            <a:ext cx="2581275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37138F10-F220-4047-A033-D2E35D55157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97" r="3494"/>
          <a:stretch>
            <a:fillRect/>
          </a:stretch>
        </p:blipFill>
        <p:spPr bwMode="auto">
          <a:xfrm>
            <a:off x="3498143" y="2501504"/>
            <a:ext cx="995363" cy="3738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2" name="图片 31">
            <a:extLst>
              <a:ext uri="{FF2B5EF4-FFF2-40B4-BE49-F238E27FC236}">
                <a16:creationId xmlns:a16="http://schemas.microsoft.com/office/drawing/2014/main" id="{2FFF6CAF-D53B-41DE-8D89-BC53640375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01218" y="3226991"/>
            <a:ext cx="2532063" cy="352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33" name="Group 2">
            <a:extLst>
              <a:ext uri="{FF2B5EF4-FFF2-40B4-BE49-F238E27FC236}">
                <a16:creationId xmlns:a16="http://schemas.microsoft.com/office/drawing/2014/main" id="{28DE594F-C340-44B0-9B40-1A1FDC9AE6FC}"/>
              </a:ext>
            </a:extLst>
          </p:cNvPr>
          <p:cNvGrpSpPr>
            <a:grpSpLocks/>
          </p:cNvGrpSpPr>
          <p:nvPr/>
        </p:nvGrpSpPr>
        <p:grpSpPr bwMode="auto">
          <a:xfrm>
            <a:off x="3460043" y="6179741"/>
            <a:ext cx="1014413" cy="568325"/>
            <a:chOff x="1152" y="3168"/>
            <a:chExt cx="1392" cy="878"/>
          </a:xfrm>
        </p:grpSpPr>
        <p:grpSp>
          <p:nvGrpSpPr>
            <p:cNvPr id="34" name="Group 3">
              <a:extLst>
                <a:ext uri="{FF2B5EF4-FFF2-40B4-BE49-F238E27FC236}">
                  <a16:creationId xmlns:a16="http://schemas.microsoft.com/office/drawing/2014/main" id="{080C699B-5962-4223-9032-456FF1BA73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3168"/>
              <a:ext cx="1392" cy="878"/>
              <a:chOff x="1152" y="2837"/>
              <a:chExt cx="1392" cy="878"/>
            </a:xfrm>
          </p:grpSpPr>
          <p:sp>
            <p:nvSpPr>
              <p:cNvPr id="36" name="Line 4">
                <a:extLst>
                  <a:ext uri="{FF2B5EF4-FFF2-40B4-BE49-F238E27FC236}">
                    <a16:creationId xmlns:a16="http://schemas.microsoft.com/office/drawing/2014/main" id="{2AA6AAE6-EFA1-4C79-AC90-30631E354C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2" y="2902"/>
                <a:ext cx="684" cy="394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7" name="Line 5">
                <a:extLst>
                  <a:ext uri="{FF2B5EF4-FFF2-40B4-BE49-F238E27FC236}">
                    <a16:creationId xmlns:a16="http://schemas.microsoft.com/office/drawing/2014/main" id="{1C67DBC3-D013-4F12-BD5E-116557672A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6" y="2913"/>
                <a:ext cx="708" cy="4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8" name="Arc 6">
                <a:extLst>
                  <a:ext uri="{FF2B5EF4-FFF2-40B4-BE49-F238E27FC236}">
                    <a16:creationId xmlns:a16="http://schemas.microsoft.com/office/drawing/2014/main" id="{9FFF11D4-C654-45FA-8121-2248B2BD9F98}"/>
                  </a:ext>
                </a:extLst>
              </p:cNvPr>
              <p:cNvSpPr>
                <a:spLocks/>
              </p:cNvSpPr>
              <p:nvPr/>
            </p:nvSpPr>
            <p:spPr bwMode="auto">
              <a:xfrm rot="8476323">
                <a:off x="1355" y="2837"/>
                <a:ext cx="992" cy="878"/>
              </a:xfrm>
              <a:custGeom>
                <a:avLst/>
                <a:gdLst>
                  <a:gd name="T0" fmla="*/ 0 w 26573"/>
                  <a:gd name="T1" fmla="*/ 0 h 21600"/>
                  <a:gd name="T2" fmla="*/ 0 w 26573"/>
                  <a:gd name="T3" fmla="*/ 0 h 21600"/>
                  <a:gd name="T4" fmla="*/ 0 w 2657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6573"/>
                  <a:gd name="T10" fmla="*/ 0 h 21600"/>
                  <a:gd name="T11" fmla="*/ 26573 w 2657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73" h="21600" fill="none" extrusionOk="0">
                    <a:moveTo>
                      <a:pt x="0" y="580"/>
                    </a:moveTo>
                    <a:cubicBezTo>
                      <a:pt x="1629" y="194"/>
                      <a:pt x="3298" y="-1"/>
                      <a:pt x="4973" y="0"/>
                    </a:cubicBezTo>
                    <a:cubicBezTo>
                      <a:pt x="16902" y="0"/>
                      <a:pt x="26573" y="9670"/>
                      <a:pt x="26573" y="21600"/>
                    </a:cubicBezTo>
                  </a:path>
                  <a:path w="26573" h="21600" stroke="0" extrusionOk="0">
                    <a:moveTo>
                      <a:pt x="0" y="580"/>
                    </a:moveTo>
                    <a:cubicBezTo>
                      <a:pt x="1629" y="194"/>
                      <a:pt x="3298" y="-1"/>
                      <a:pt x="4973" y="0"/>
                    </a:cubicBezTo>
                    <a:cubicBezTo>
                      <a:pt x="16902" y="0"/>
                      <a:pt x="26573" y="9670"/>
                      <a:pt x="26573" y="21600"/>
                    </a:cubicBezTo>
                    <a:lnTo>
                      <a:pt x="4973" y="21600"/>
                    </a:lnTo>
                    <a:lnTo>
                      <a:pt x="0" y="58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35" name="Text Box 7">
              <a:extLst>
                <a:ext uri="{FF2B5EF4-FFF2-40B4-BE49-F238E27FC236}">
                  <a16:creationId xmlns:a16="http://schemas.microsoft.com/office/drawing/2014/main" id="{F125035B-A762-4127-BDE0-8942A0358E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87" y="3503"/>
              <a:ext cx="54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zh-CN">
                  <a:solidFill>
                    <a:schemeClr val="accent2"/>
                  </a:solidFill>
                  <a:latin typeface="ISOCPEUR" pitchFamily="34" charset="0"/>
                </a:rPr>
                <a:t>120</a:t>
              </a:r>
              <a:r>
                <a:rPr lang="en-US" altLang="zh-CN">
                  <a:solidFill>
                    <a:schemeClr val="accent2"/>
                  </a:solidFill>
                </a:rPr>
                <a:t>°</a:t>
              </a:r>
            </a:p>
          </p:txBody>
        </p:sp>
      </p:grpSp>
      <p:grpSp>
        <p:nvGrpSpPr>
          <p:cNvPr id="39" name="Group 2">
            <a:extLst>
              <a:ext uri="{FF2B5EF4-FFF2-40B4-BE49-F238E27FC236}">
                <a16:creationId xmlns:a16="http://schemas.microsoft.com/office/drawing/2014/main" id="{7F5B2DBF-9C0C-43C5-9B95-686EBF0086F3}"/>
              </a:ext>
            </a:extLst>
          </p:cNvPr>
          <p:cNvGrpSpPr>
            <a:grpSpLocks/>
          </p:cNvGrpSpPr>
          <p:nvPr/>
        </p:nvGrpSpPr>
        <p:grpSpPr bwMode="auto">
          <a:xfrm>
            <a:off x="5644443" y="5652691"/>
            <a:ext cx="1014413" cy="568325"/>
            <a:chOff x="1152" y="3168"/>
            <a:chExt cx="1392" cy="878"/>
          </a:xfrm>
        </p:grpSpPr>
        <p:grpSp>
          <p:nvGrpSpPr>
            <p:cNvPr id="40" name="Group 3">
              <a:extLst>
                <a:ext uri="{FF2B5EF4-FFF2-40B4-BE49-F238E27FC236}">
                  <a16:creationId xmlns:a16="http://schemas.microsoft.com/office/drawing/2014/main" id="{B728D689-FC2B-4BDD-9807-3E13F1D15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3168"/>
              <a:ext cx="1392" cy="878"/>
              <a:chOff x="1152" y="2837"/>
              <a:chExt cx="1392" cy="878"/>
            </a:xfrm>
          </p:grpSpPr>
          <p:sp>
            <p:nvSpPr>
              <p:cNvPr id="42" name="Line 4">
                <a:extLst>
                  <a:ext uri="{FF2B5EF4-FFF2-40B4-BE49-F238E27FC236}">
                    <a16:creationId xmlns:a16="http://schemas.microsoft.com/office/drawing/2014/main" id="{3A05D555-582C-4AC8-B6ED-6CB60DE76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152" y="2902"/>
                <a:ext cx="684" cy="394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3" name="Line 5">
                <a:extLst>
                  <a:ext uri="{FF2B5EF4-FFF2-40B4-BE49-F238E27FC236}">
                    <a16:creationId xmlns:a16="http://schemas.microsoft.com/office/drawing/2014/main" id="{26636310-0AF6-4E0D-A0C7-AFBE51323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36" y="2913"/>
                <a:ext cx="708" cy="405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44" name="Arc 6">
                <a:extLst>
                  <a:ext uri="{FF2B5EF4-FFF2-40B4-BE49-F238E27FC236}">
                    <a16:creationId xmlns:a16="http://schemas.microsoft.com/office/drawing/2014/main" id="{13CF9D1A-A1FA-4840-8C23-0241FD67CCD6}"/>
                  </a:ext>
                </a:extLst>
              </p:cNvPr>
              <p:cNvSpPr>
                <a:spLocks/>
              </p:cNvSpPr>
              <p:nvPr/>
            </p:nvSpPr>
            <p:spPr bwMode="auto">
              <a:xfrm rot="8476323">
                <a:off x="1355" y="2837"/>
                <a:ext cx="992" cy="878"/>
              </a:xfrm>
              <a:custGeom>
                <a:avLst/>
                <a:gdLst>
                  <a:gd name="T0" fmla="*/ 0 w 26573"/>
                  <a:gd name="T1" fmla="*/ 0 h 21600"/>
                  <a:gd name="T2" fmla="*/ 0 w 26573"/>
                  <a:gd name="T3" fmla="*/ 0 h 21600"/>
                  <a:gd name="T4" fmla="*/ 0 w 26573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6573"/>
                  <a:gd name="T10" fmla="*/ 0 h 21600"/>
                  <a:gd name="T11" fmla="*/ 26573 w 26573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573" h="21600" fill="none" extrusionOk="0">
                    <a:moveTo>
                      <a:pt x="0" y="580"/>
                    </a:moveTo>
                    <a:cubicBezTo>
                      <a:pt x="1629" y="194"/>
                      <a:pt x="3298" y="-1"/>
                      <a:pt x="4973" y="0"/>
                    </a:cubicBezTo>
                    <a:cubicBezTo>
                      <a:pt x="16902" y="0"/>
                      <a:pt x="26573" y="9670"/>
                      <a:pt x="26573" y="21600"/>
                    </a:cubicBezTo>
                  </a:path>
                  <a:path w="26573" h="21600" stroke="0" extrusionOk="0">
                    <a:moveTo>
                      <a:pt x="0" y="580"/>
                    </a:moveTo>
                    <a:cubicBezTo>
                      <a:pt x="1629" y="194"/>
                      <a:pt x="3298" y="-1"/>
                      <a:pt x="4973" y="0"/>
                    </a:cubicBezTo>
                    <a:cubicBezTo>
                      <a:pt x="16902" y="0"/>
                      <a:pt x="26573" y="9670"/>
                      <a:pt x="26573" y="21600"/>
                    </a:cubicBezTo>
                    <a:lnTo>
                      <a:pt x="4973" y="21600"/>
                    </a:lnTo>
                    <a:lnTo>
                      <a:pt x="0" y="580"/>
                    </a:lnTo>
                    <a:close/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 type="triangl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41" name="Text Box 7">
              <a:extLst>
                <a:ext uri="{FF2B5EF4-FFF2-40B4-BE49-F238E27FC236}">
                  <a16:creationId xmlns:a16="http://schemas.microsoft.com/office/drawing/2014/main" id="{FCF1AA48-7378-4F94-86BF-75216EEC25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87" y="3291"/>
              <a:ext cx="1142" cy="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zh-CN">
                  <a:solidFill>
                    <a:schemeClr val="accent2"/>
                  </a:solidFill>
                  <a:latin typeface="ISOCPEUR" pitchFamily="34" charset="0"/>
                </a:rPr>
                <a:t>118</a:t>
              </a:r>
              <a:r>
                <a:rPr lang="en-US" altLang="zh-CN">
                  <a:solidFill>
                    <a:schemeClr val="accent2"/>
                  </a:solidFill>
                </a:rPr>
                <a:t>°</a:t>
              </a:r>
            </a:p>
          </p:txBody>
        </p:sp>
      </p:grpSp>
      <p:pic>
        <p:nvPicPr>
          <p:cNvPr id="45" name="图片 44">
            <a:extLst>
              <a:ext uri="{FF2B5EF4-FFF2-40B4-BE49-F238E27FC236}">
                <a16:creationId xmlns:a16="http://schemas.microsoft.com/office/drawing/2014/main" id="{8C1C992A-AEE2-430C-A644-8FA3DD02B71D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80656" y="577454"/>
            <a:ext cx="1270000" cy="4710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6" name="Text Box 12">
            <a:extLst>
              <a:ext uri="{FF2B5EF4-FFF2-40B4-BE49-F238E27FC236}">
                <a16:creationId xmlns:a16="http://schemas.microsoft.com/office/drawing/2014/main" id="{EF60525E-BA9C-41C3-A574-87E87EAD77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4993" y="2542779"/>
            <a:ext cx="552450" cy="698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eaVert" wrap="none" anchor="ctr">
            <a:spAutoFit/>
          </a:bodyPr>
          <a:lstStyle/>
          <a:p>
            <a:pPr algn="ctr"/>
            <a:r>
              <a:rPr lang="zh-CN" altLang="en-US">
                <a:solidFill>
                  <a:srgbClr val="FF3300"/>
                </a:solidFill>
              </a:rPr>
              <a:t>钻孔</a:t>
            </a:r>
          </a:p>
        </p:txBody>
      </p:sp>
      <p:sp>
        <p:nvSpPr>
          <p:cNvPr id="47" name="Text Box 357">
            <a:extLst>
              <a:ext uri="{FF2B5EF4-FFF2-40B4-BE49-F238E27FC236}">
                <a16:creationId xmlns:a16="http://schemas.microsoft.com/office/drawing/2014/main" id="{C420ECB6-A1E2-44B8-BA55-22552D4598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8843" y="2542779"/>
            <a:ext cx="554038" cy="6985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vert="eaVert" wrap="none" anchor="ctr">
            <a:spAutoFit/>
          </a:bodyPr>
          <a:lstStyle/>
          <a:p>
            <a:pPr algn="ctr"/>
            <a:r>
              <a:rPr lang="zh-CN" altLang="en-US">
                <a:solidFill>
                  <a:srgbClr val="FF3300"/>
                </a:solidFill>
              </a:rPr>
              <a:t>攻丝</a:t>
            </a:r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338B72F4-5FD9-46F9-94FC-BBE9429C533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707568" y="3157141"/>
            <a:ext cx="2506663" cy="354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49" name="Group 104">
            <a:extLst>
              <a:ext uri="{FF2B5EF4-FFF2-40B4-BE49-F238E27FC236}">
                <a16:creationId xmlns:a16="http://schemas.microsoft.com/office/drawing/2014/main" id="{2B68BBE8-10F9-4400-8E12-C26B1AE14019}"/>
              </a:ext>
            </a:extLst>
          </p:cNvPr>
          <p:cNvGrpSpPr>
            <a:grpSpLocks/>
          </p:cNvGrpSpPr>
          <p:nvPr/>
        </p:nvGrpSpPr>
        <p:grpSpPr bwMode="auto">
          <a:xfrm>
            <a:off x="4403018" y="4511279"/>
            <a:ext cx="995363" cy="1771650"/>
            <a:chOff x="4369" y="2390"/>
            <a:chExt cx="627" cy="1116"/>
          </a:xfrm>
        </p:grpSpPr>
        <p:sp>
          <p:nvSpPr>
            <p:cNvPr id="50" name="Text Box 105">
              <a:extLst>
                <a:ext uri="{FF2B5EF4-FFF2-40B4-BE49-F238E27FC236}">
                  <a16:creationId xmlns:a16="http://schemas.microsoft.com/office/drawing/2014/main" id="{7E174436-77D5-4181-8DEB-B0F3B02377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4634" y="2459"/>
              <a:ext cx="426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 eaLnBrk="1" hangingPunct="1"/>
              <a:r>
                <a:rPr lang="en-US" altLang="zh-CN">
                  <a:solidFill>
                    <a:schemeClr val="accent2"/>
                  </a:solidFill>
                  <a:latin typeface="ISOCPEUR" pitchFamily="34" charset="0"/>
                </a:rPr>
                <a:t>0.5D</a:t>
              </a:r>
            </a:p>
          </p:txBody>
        </p:sp>
        <p:sp>
          <p:nvSpPr>
            <p:cNvPr id="51" name="Freeform 106">
              <a:extLst>
                <a:ext uri="{FF2B5EF4-FFF2-40B4-BE49-F238E27FC236}">
                  <a16:creationId xmlns:a16="http://schemas.microsoft.com/office/drawing/2014/main" id="{FE93D4C0-4546-4081-9180-1872659BD3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9" y="2863"/>
              <a:ext cx="627" cy="0"/>
            </a:xfrm>
            <a:custGeom>
              <a:avLst/>
              <a:gdLst>
                <a:gd name="T0" fmla="*/ 0 w 856"/>
                <a:gd name="T1" fmla="*/ 0 h 1"/>
                <a:gd name="T2" fmla="*/ 246 w 856"/>
                <a:gd name="T3" fmla="*/ 0 h 1"/>
                <a:gd name="T4" fmla="*/ 0 60000 65536"/>
                <a:gd name="T5" fmla="*/ 0 60000 65536"/>
                <a:gd name="T6" fmla="*/ 0 w 856"/>
                <a:gd name="T7" fmla="*/ 0 h 1"/>
                <a:gd name="T8" fmla="*/ 856 w 856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56" h="1">
                  <a:moveTo>
                    <a:pt x="0" y="0"/>
                  </a:moveTo>
                  <a:lnTo>
                    <a:pt x="856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2" name="Freeform 107">
              <a:extLst>
                <a:ext uri="{FF2B5EF4-FFF2-40B4-BE49-F238E27FC236}">
                  <a16:creationId xmlns:a16="http://schemas.microsoft.com/office/drawing/2014/main" id="{72A5AB0B-49A0-46DB-896C-5848C1D04F8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369" y="3294"/>
              <a:ext cx="627" cy="0"/>
            </a:xfrm>
            <a:custGeom>
              <a:avLst/>
              <a:gdLst>
                <a:gd name="T0" fmla="*/ 0 w 916"/>
                <a:gd name="T1" fmla="*/ 0 h 1"/>
                <a:gd name="T2" fmla="*/ 201 w 916"/>
                <a:gd name="T3" fmla="*/ 0 h 1"/>
                <a:gd name="T4" fmla="*/ 0 60000 65536"/>
                <a:gd name="T5" fmla="*/ 0 60000 65536"/>
                <a:gd name="T6" fmla="*/ 0 w 916"/>
                <a:gd name="T7" fmla="*/ 0 h 1"/>
                <a:gd name="T8" fmla="*/ 916 w 916"/>
                <a:gd name="T9" fmla="*/ 0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16" h="1">
                  <a:moveTo>
                    <a:pt x="0" y="0"/>
                  </a:moveTo>
                  <a:lnTo>
                    <a:pt x="916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3" name="Freeform 108">
              <a:extLst>
                <a:ext uri="{FF2B5EF4-FFF2-40B4-BE49-F238E27FC236}">
                  <a16:creationId xmlns:a16="http://schemas.microsoft.com/office/drawing/2014/main" id="{D412C4DF-D47F-4F33-97C1-998FFE394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2" y="3296"/>
              <a:ext cx="0" cy="210"/>
            </a:xfrm>
            <a:custGeom>
              <a:avLst/>
              <a:gdLst>
                <a:gd name="T0" fmla="*/ 0 w 5"/>
                <a:gd name="T1" fmla="*/ 0 h 210"/>
                <a:gd name="T2" fmla="*/ 0 w 5"/>
                <a:gd name="T3" fmla="*/ 210 h 210"/>
                <a:gd name="T4" fmla="*/ 0 60000 65536"/>
                <a:gd name="T5" fmla="*/ 0 60000 65536"/>
                <a:gd name="T6" fmla="*/ 0 w 5"/>
                <a:gd name="T7" fmla="*/ 0 h 210"/>
                <a:gd name="T8" fmla="*/ 0 w 5"/>
                <a:gd name="T9" fmla="*/ 210 h 2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" h="210">
                  <a:moveTo>
                    <a:pt x="5" y="0"/>
                  </a:moveTo>
                  <a:lnTo>
                    <a:pt x="0" y="21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4" name="Freeform 109">
              <a:extLst>
                <a:ext uri="{FF2B5EF4-FFF2-40B4-BE49-F238E27FC236}">
                  <a16:creationId xmlns:a16="http://schemas.microsoft.com/office/drawing/2014/main" id="{E1E6AEA7-09F9-46FA-8E84-2C51B5C78C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2" y="2840"/>
              <a:ext cx="0" cy="454"/>
            </a:xfrm>
            <a:custGeom>
              <a:avLst/>
              <a:gdLst>
                <a:gd name="T0" fmla="*/ 0 w 7"/>
                <a:gd name="T1" fmla="*/ 3632 h 227"/>
                <a:gd name="T2" fmla="*/ 0 w 7"/>
                <a:gd name="T3" fmla="*/ 0 h 227"/>
                <a:gd name="T4" fmla="*/ 0 60000 65536"/>
                <a:gd name="T5" fmla="*/ 0 60000 65536"/>
                <a:gd name="T6" fmla="*/ 0 w 7"/>
                <a:gd name="T7" fmla="*/ 0 h 227"/>
                <a:gd name="T8" fmla="*/ 0 w 7"/>
                <a:gd name="T9" fmla="*/ 227 h 22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" h="227">
                  <a:moveTo>
                    <a:pt x="7" y="227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5" name="Line 110">
              <a:extLst>
                <a:ext uri="{FF2B5EF4-FFF2-40B4-BE49-F238E27FC236}">
                  <a16:creationId xmlns:a16="http://schemas.microsoft.com/office/drawing/2014/main" id="{08A28587-B979-4236-BAC7-AA7DE2AF8F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43" y="2404"/>
              <a:ext cx="0" cy="480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56" name="图片 55">
            <a:extLst>
              <a:ext uri="{FF2B5EF4-FFF2-40B4-BE49-F238E27FC236}">
                <a16:creationId xmlns:a16="http://schemas.microsoft.com/office/drawing/2014/main" id="{743D844E-F2AD-4590-89C1-8A1BB0784510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7289093" y="2577704"/>
            <a:ext cx="3297238" cy="4024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7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7042" y="0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15683714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2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9" dur="2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6"/>
                                            </p:cond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20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2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7"/>
                                            </p:cond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0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6" grpId="0" autoUpdateAnimBg="0"/>
      <p:bldP spid="47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76E28557-8127-4FED-B5C5-24BED4523B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1418" y="744537"/>
            <a:ext cx="41529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ea typeface="黑体" pitchFamily="49" charset="-122"/>
              </a:rPr>
              <a:t>五、</a:t>
            </a:r>
            <a:r>
              <a:rPr lang="zh-CN" altLang="zh-CN" sz="2800" dirty="0">
                <a:ea typeface="黑体" pitchFamily="49" charset="-122"/>
              </a:rPr>
              <a:t>常用螺纹的标注方法</a:t>
            </a: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4E9835-3C26-4898-B735-67AB0DB2A5C9}"/>
              </a:ext>
            </a:extLst>
          </p:cNvPr>
          <p:cNvSpPr/>
          <p:nvPr/>
        </p:nvSpPr>
        <p:spPr>
          <a:xfrm>
            <a:off x="1191418" y="1334293"/>
            <a:ext cx="2697163" cy="5603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arabicPeriod"/>
              <a:tabLst>
                <a:tab pos="454660" algn="l"/>
              </a:tabLst>
              <a:defRPr/>
            </a:pPr>
            <a:r>
              <a:rPr lang="zh-CN" altLang="zh-CN" sz="2400" b="1" kern="1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普通螺纹的标记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02767D0-F716-42EA-9382-A0D65E1F57F1}"/>
              </a:ext>
            </a:extLst>
          </p:cNvPr>
          <p:cNvSpPr/>
          <p:nvPr/>
        </p:nvSpPr>
        <p:spPr>
          <a:xfrm>
            <a:off x="4148298" y="1473199"/>
            <a:ext cx="4094163" cy="46196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altLang="zh-CN" sz="2400" b="1" kern="100" dirty="0"/>
              <a:t>普通螺纹的完整标记组成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185A3240-D933-453C-9C01-27832FEFB0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7106" y="2139950"/>
            <a:ext cx="2041525" cy="46196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螺纹特征代号</a:t>
            </a: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FE74A9B-2D0C-498C-9E06-EF8D7D6644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3406" y="2141537"/>
            <a:ext cx="1422400" cy="461963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尺寸代号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A79B60E0-C0CE-4FF9-A483-9AEDE09A05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1594" y="2806700"/>
            <a:ext cx="804862" cy="46196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旋向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D4BE1270-207F-48DA-939D-6F31A5BCC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4594" y="2133600"/>
            <a:ext cx="1731962" cy="46196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>
                <a:latin typeface="+mn-ea"/>
                <a:ea typeface="+mn-ea"/>
              </a:rPr>
              <a:t>公差带代号</a:t>
            </a: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2402CF3D-08EA-4215-89FD-EF1B3775657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7031" y="2132012"/>
            <a:ext cx="493713" cy="461963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－</a:t>
            </a:r>
          </a:p>
        </p:txBody>
      </p:sp>
      <p:sp>
        <p:nvSpPr>
          <p:cNvPr id="11" name="Text Box 11">
            <a:extLst>
              <a:ext uri="{FF2B5EF4-FFF2-40B4-BE49-F238E27FC236}">
                <a16:creationId xmlns:a16="http://schemas.microsoft.com/office/drawing/2014/main" id="{B3F06A81-EFFE-4E11-BF68-4A5424A603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1856" y="2127250"/>
            <a:ext cx="2039938" cy="46196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旋合长度代号</a:t>
            </a:r>
          </a:p>
        </p:txBody>
      </p:sp>
      <p:sp>
        <p:nvSpPr>
          <p:cNvPr id="12" name="Text Box 12">
            <a:extLst>
              <a:ext uri="{FF2B5EF4-FFF2-40B4-BE49-F238E27FC236}">
                <a16:creationId xmlns:a16="http://schemas.microsoft.com/office/drawing/2014/main" id="{34FDEAA0-C981-43C1-91F2-62753B2DD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275" y="3909218"/>
            <a:ext cx="4672012" cy="46037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dirty="0">
                <a:solidFill>
                  <a:srgbClr val="002060"/>
                </a:solidFill>
                <a:latin typeface="+mn-ea"/>
                <a:ea typeface="+mn-ea"/>
              </a:rPr>
              <a:t>☆</a:t>
            </a:r>
            <a:r>
              <a:rPr kumimoji="0" lang="zh-CN" altLang="en-US" dirty="0">
                <a:solidFill>
                  <a:srgbClr val="002060"/>
                </a:solidFill>
                <a:latin typeface="+mn-ea"/>
                <a:ea typeface="+mn-ea"/>
              </a:rPr>
              <a:t>尺寸代号 有单线和多线之分。</a:t>
            </a:r>
            <a:endParaRPr lang="zh-CN" altLang="en-US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13" name="Text Box 13">
            <a:extLst>
              <a:ext uri="{FF2B5EF4-FFF2-40B4-BE49-F238E27FC236}">
                <a16:creationId xmlns:a16="http://schemas.microsoft.com/office/drawing/2014/main" id="{17CF2A35-FD93-4A34-AA8E-9DBA2BF8EE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275" y="5815927"/>
            <a:ext cx="5289550" cy="461963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dirty="0">
                <a:solidFill>
                  <a:srgbClr val="002060"/>
                </a:solidFill>
                <a:latin typeface="+mn-ea"/>
                <a:ea typeface="+mn-ea"/>
              </a:rPr>
              <a:t>☆</a:t>
            </a:r>
            <a:r>
              <a:rPr kumimoji="0" lang="zh-CN" altLang="en-US" dirty="0">
                <a:solidFill>
                  <a:srgbClr val="002060"/>
                </a:solidFill>
                <a:latin typeface="+mn-ea"/>
                <a:ea typeface="+mn-ea"/>
              </a:rPr>
              <a:t>旋合长度为中等时，“</a:t>
            </a:r>
            <a:r>
              <a:rPr kumimoji="0" lang="en-US" altLang="zh-CN" dirty="0">
                <a:solidFill>
                  <a:srgbClr val="FF0000"/>
                </a:solidFill>
                <a:latin typeface="+mn-ea"/>
                <a:ea typeface="+mn-ea"/>
              </a:rPr>
              <a:t>N</a:t>
            </a:r>
            <a:r>
              <a:rPr kumimoji="0" lang="en-US" altLang="zh-CN" dirty="0">
                <a:solidFill>
                  <a:srgbClr val="002060"/>
                </a:solidFill>
                <a:latin typeface="+mn-ea"/>
                <a:ea typeface="+mn-ea"/>
              </a:rPr>
              <a:t>”</a:t>
            </a:r>
            <a:r>
              <a:rPr kumimoji="0" lang="zh-CN" altLang="en-US" dirty="0">
                <a:solidFill>
                  <a:srgbClr val="002060"/>
                </a:solidFill>
                <a:latin typeface="+mn-ea"/>
                <a:ea typeface="+mn-ea"/>
              </a:rPr>
              <a:t>可</a:t>
            </a:r>
            <a:r>
              <a:rPr lang="zh-CN" altLang="en-US" dirty="0">
                <a:solidFill>
                  <a:srgbClr val="002060"/>
                </a:solidFill>
                <a:latin typeface="+mn-ea"/>
                <a:ea typeface="+mn-ea"/>
              </a:rPr>
              <a:t>省略。</a:t>
            </a:r>
          </a:p>
        </p:txBody>
      </p:sp>
      <p:sp>
        <p:nvSpPr>
          <p:cNvPr id="14" name="Text Box 14">
            <a:extLst>
              <a:ext uri="{FF2B5EF4-FFF2-40B4-BE49-F238E27FC236}">
                <a16:creationId xmlns:a16="http://schemas.microsoft.com/office/drawing/2014/main" id="{8E3FD701-3AA9-46F6-9222-FDCE35F7DA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9388" y="6149302"/>
            <a:ext cx="7921625" cy="461963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dirty="0">
                <a:solidFill>
                  <a:srgbClr val="002060"/>
                </a:solidFill>
                <a:latin typeface="+mn-ea"/>
                <a:ea typeface="+mn-ea"/>
              </a:rPr>
              <a:t>☆</a:t>
            </a:r>
            <a:r>
              <a:rPr kumimoji="0" lang="zh-CN" altLang="en-US" dirty="0">
                <a:solidFill>
                  <a:srgbClr val="002060"/>
                </a:solidFill>
                <a:latin typeface="+mn-ea"/>
                <a:ea typeface="+mn-ea"/>
              </a:rPr>
              <a:t>旋向代号。右旋螺纹不用标注旋向，左旋时则标注</a:t>
            </a:r>
            <a:r>
              <a:rPr kumimoji="0" lang="en-US" altLang="zh-CN" dirty="0">
                <a:solidFill>
                  <a:srgbClr val="FF0000"/>
                </a:solidFill>
                <a:latin typeface="+mn-ea"/>
                <a:ea typeface="+mn-ea"/>
              </a:rPr>
              <a:t>LH</a:t>
            </a:r>
            <a:r>
              <a:rPr kumimoji="0" lang="zh-CN" altLang="en-US" dirty="0">
                <a:solidFill>
                  <a:srgbClr val="002060"/>
                </a:solidFill>
                <a:latin typeface="+mn-ea"/>
                <a:ea typeface="+mn-ea"/>
              </a:rPr>
              <a:t>。</a:t>
            </a:r>
          </a:p>
        </p:txBody>
      </p:sp>
      <p:grpSp>
        <p:nvGrpSpPr>
          <p:cNvPr id="15" name="Group 15">
            <a:extLst>
              <a:ext uri="{FF2B5EF4-FFF2-40B4-BE49-F238E27FC236}">
                <a16:creationId xmlns:a16="http://schemas.microsoft.com/office/drawing/2014/main" id="{CFB4E686-5F05-44C3-BC5F-6A6A85E6A7C4}"/>
              </a:ext>
            </a:extLst>
          </p:cNvPr>
          <p:cNvGrpSpPr>
            <a:grpSpLocks/>
          </p:cNvGrpSpPr>
          <p:nvPr/>
        </p:nvGrpSpPr>
        <p:grpSpPr bwMode="auto">
          <a:xfrm>
            <a:off x="3396456" y="2741612"/>
            <a:ext cx="1371600" cy="708025"/>
            <a:chOff x="4639" y="1296"/>
            <a:chExt cx="864" cy="446"/>
          </a:xfrm>
        </p:grpSpPr>
        <p:sp>
          <p:nvSpPr>
            <p:cNvPr id="16" name="Text Box 16">
              <a:extLst>
                <a:ext uri="{FF2B5EF4-FFF2-40B4-BE49-F238E27FC236}">
                  <a16:creationId xmlns:a16="http://schemas.microsoft.com/office/drawing/2014/main" id="{51437F78-28DC-4DF6-8BDC-0CC8620A62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77" y="1296"/>
              <a:ext cx="626" cy="44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zh-CN" altLang="en-US" sz="2000" dirty="0">
                  <a:solidFill>
                    <a:schemeClr val="accent2"/>
                  </a:solidFill>
                  <a:latin typeface="+mn-ea"/>
                  <a:ea typeface="+mn-ea"/>
                </a:rPr>
                <a:t>右旋</a:t>
              </a:r>
            </a:p>
            <a:p>
              <a:pPr algn="ctr" eaLnBrk="1" hangingPunct="1">
                <a:defRPr/>
              </a:pPr>
              <a:r>
                <a:rPr kumimoji="0" lang="zh-CN" altLang="en-US" sz="2000" dirty="0">
                  <a:solidFill>
                    <a:schemeClr val="accent2"/>
                  </a:solidFill>
                  <a:latin typeface="+mn-ea"/>
                  <a:ea typeface="+mn-ea"/>
                </a:rPr>
                <a:t>左旋</a:t>
              </a:r>
            </a:p>
          </p:txBody>
        </p:sp>
        <p:sp>
          <p:nvSpPr>
            <p:cNvPr id="17" name="Line 17">
              <a:extLst>
                <a:ext uri="{FF2B5EF4-FFF2-40B4-BE49-F238E27FC236}">
                  <a16:creationId xmlns:a16="http://schemas.microsoft.com/office/drawing/2014/main" id="{73A59AA4-7D05-44EE-9020-264D66615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39" y="1509"/>
              <a:ext cx="238" cy="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000">
                <a:latin typeface="+mn-ea"/>
                <a:ea typeface="+mn-ea"/>
              </a:endParaRP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B4C09D7D-D022-4733-A28B-97A1BF28332B}"/>
              </a:ext>
            </a:extLst>
          </p:cNvPr>
          <p:cNvGrpSpPr>
            <a:grpSpLocks/>
          </p:cNvGrpSpPr>
          <p:nvPr/>
        </p:nvGrpSpPr>
        <p:grpSpPr bwMode="auto">
          <a:xfrm>
            <a:off x="8276431" y="2595562"/>
            <a:ext cx="2265363" cy="1017588"/>
            <a:chOff x="2323" y="1622"/>
            <a:chExt cx="2380" cy="641"/>
          </a:xfrm>
        </p:grpSpPr>
        <p:sp>
          <p:nvSpPr>
            <p:cNvPr id="19" name="Text Box 19">
              <a:extLst>
                <a:ext uri="{FF2B5EF4-FFF2-40B4-BE49-F238E27FC236}">
                  <a16:creationId xmlns:a16="http://schemas.microsoft.com/office/drawing/2014/main" id="{FC0EF5C2-CE1A-4698-9A3D-62E9079CD8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3" y="1817"/>
              <a:ext cx="2380" cy="44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000" dirty="0">
                  <a:solidFill>
                    <a:schemeClr val="accent2"/>
                  </a:solidFill>
                  <a:latin typeface="+mn-ea"/>
                  <a:ea typeface="+mn-ea"/>
                </a:rPr>
                <a:t>长：</a:t>
              </a:r>
              <a:r>
                <a:rPr lang="en-US" altLang="zh-CN" sz="2000" dirty="0">
                  <a:solidFill>
                    <a:schemeClr val="accent2"/>
                  </a:solidFill>
                  <a:latin typeface="+mn-ea"/>
                  <a:ea typeface="+mn-ea"/>
                </a:rPr>
                <a:t>L </a:t>
              </a:r>
              <a:r>
                <a:rPr lang="zh-CN" altLang="zh-CN" sz="2000" dirty="0">
                  <a:solidFill>
                    <a:schemeClr val="accent2"/>
                  </a:solidFill>
                  <a:latin typeface="+mn-ea"/>
                  <a:ea typeface="+mn-ea"/>
                </a:rPr>
                <a:t>中等：</a:t>
              </a:r>
              <a:r>
                <a:rPr lang="en-US" altLang="zh-CN" sz="2000" dirty="0">
                  <a:solidFill>
                    <a:schemeClr val="accent2"/>
                  </a:solidFill>
                  <a:latin typeface="+mn-ea"/>
                  <a:ea typeface="+mn-ea"/>
                </a:rPr>
                <a:t>N</a:t>
              </a:r>
            </a:p>
            <a:p>
              <a:pPr eaLnBrk="1" hangingPunct="1">
                <a:defRPr/>
              </a:pPr>
              <a:r>
                <a:rPr lang="zh-CN" altLang="en-US" sz="2000" dirty="0">
                  <a:solidFill>
                    <a:schemeClr val="accent2"/>
                  </a:solidFill>
                  <a:latin typeface="+mn-ea"/>
                  <a:ea typeface="+mn-ea"/>
                </a:rPr>
                <a:t>短：</a:t>
              </a:r>
              <a:r>
                <a:rPr lang="en-US" altLang="zh-CN" sz="2000" dirty="0">
                  <a:solidFill>
                    <a:schemeClr val="accent2"/>
                  </a:solidFill>
                  <a:latin typeface="+mn-ea"/>
                  <a:ea typeface="+mn-ea"/>
                </a:rPr>
                <a:t>S</a:t>
              </a:r>
            </a:p>
          </p:txBody>
        </p:sp>
        <p:sp>
          <p:nvSpPr>
            <p:cNvPr id="20" name="Line 20">
              <a:extLst>
                <a:ext uri="{FF2B5EF4-FFF2-40B4-BE49-F238E27FC236}">
                  <a16:creationId xmlns:a16="http://schemas.microsoft.com/office/drawing/2014/main" id="{790BCD64-8282-4F82-BFFB-C17CE2FA33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" y="1622"/>
              <a:ext cx="0" cy="20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000">
                <a:latin typeface="+mn-ea"/>
                <a:ea typeface="+mn-ea"/>
              </a:endParaRPr>
            </a:p>
          </p:txBody>
        </p:sp>
      </p:grpSp>
      <p:grpSp>
        <p:nvGrpSpPr>
          <p:cNvPr id="21" name="Group 21">
            <a:extLst>
              <a:ext uri="{FF2B5EF4-FFF2-40B4-BE49-F238E27FC236}">
                <a16:creationId xmlns:a16="http://schemas.microsoft.com/office/drawing/2014/main" id="{EA12F30E-1628-43C8-B54B-A3D2DAD0948B}"/>
              </a:ext>
            </a:extLst>
          </p:cNvPr>
          <p:cNvGrpSpPr>
            <a:grpSpLocks/>
          </p:cNvGrpSpPr>
          <p:nvPr/>
        </p:nvGrpSpPr>
        <p:grpSpPr bwMode="auto">
          <a:xfrm>
            <a:off x="6366669" y="2581275"/>
            <a:ext cx="1474787" cy="1025525"/>
            <a:chOff x="897" y="1635"/>
            <a:chExt cx="929" cy="646"/>
          </a:xfrm>
        </p:grpSpPr>
        <p:sp>
          <p:nvSpPr>
            <p:cNvPr id="22" name="Text Box 22">
              <a:extLst>
                <a:ext uri="{FF2B5EF4-FFF2-40B4-BE49-F238E27FC236}">
                  <a16:creationId xmlns:a16="http://schemas.microsoft.com/office/drawing/2014/main" id="{255C6D77-A0B7-4345-B7A8-473B93020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835"/>
              <a:ext cx="929" cy="44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2000">
                  <a:solidFill>
                    <a:schemeClr val="accent2"/>
                  </a:solidFill>
                  <a:latin typeface="+mn-ea"/>
                  <a:ea typeface="+mn-ea"/>
                </a:rPr>
                <a:t>中</a:t>
              </a:r>
              <a:r>
                <a:rPr kumimoji="0" lang="zh-CN" altLang="en-US" sz="2000">
                  <a:solidFill>
                    <a:schemeClr val="accent2"/>
                  </a:solidFill>
                  <a:latin typeface="+mn-ea"/>
                  <a:ea typeface="+mn-ea"/>
                </a:rPr>
                <a:t>径</a:t>
              </a:r>
              <a:r>
                <a:rPr lang="zh-CN" altLang="en-US" sz="2000">
                  <a:solidFill>
                    <a:schemeClr val="accent2"/>
                  </a:solidFill>
                  <a:latin typeface="+mn-ea"/>
                  <a:ea typeface="+mn-ea"/>
                </a:rPr>
                <a:t>和</a:t>
              </a:r>
              <a:r>
                <a:rPr kumimoji="0" lang="zh-CN" altLang="en-US" sz="2000">
                  <a:solidFill>
                    <a:schemeClr val="accent2"/>
                  </a:solidFill>
                  <a:latin typeface="+mn-ea"/>
                  <a:ea typeface="+mn-ea"/>
                </a:rPr>
                <a:t>顶</a:t>
              </a:r>
              <a:r>
                <a:rPr lang="zh-CN" altLang="en-US" sz="2000">
                  <a:solidFill>
                    <a:schemeClr val="accent2"/>
                  </a:solidFill>
                  <a:latin typeface="+mn-ea"/>
                  <a:ea typeface="+mn-ea"/>
                </a:rPr>
                <a:t>径</a:t>
              </a:r>
            </a:p>
            <a:p>
              <a:pPr algn="ctr" eaLnBrk="1" hangingPunct="1">
                <a:defRPr/>
              </a:pPr>
              <a:r>
                <a:rPr lang="zh-CN" altLang="en-US" sz="2000">
                  <a:solidFill>
                    <a:schemeClr val="accent2"/>
                  </a:solidFill>
                  <a:latin typeface="+mn-ea"/>
                  <a:ea typeface="+mn-ea"/>
                </a:rPr>
                <a:t>公差带代号</a:t>
              </a:r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3D80B5FF-9EE1-47BC-802C-6D54C04472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5" y="1635"/>
              <a:ext cx="0" cy="195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000">
                <a:latin typeface="+mn-ea"/>
                <a:ea typeface="+mn-ea"/>
              </a:endParaRPr>
            </a:p>
          </p:txBody>
        </p:sp>
      </p:grpSp>
      <p:sp>
        <p:nvSpPr>
          <p:cNvPr id="24" name="Text Box 24">
            <a:extLst>
              <a:ext uri="{FF2B5EF4-FFF2-40B4-BE49-F238E27FC236}">
                <a16:creationId xmlns:a16="http://schemas.microsoft.com/office/drawing/2014/main" id="{E3E77010-F132-4D10-B7C7-B24BE456A3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169" y="2147887"/>
            <a:ext cx="493712" cy="461963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－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A83B7A8D-E7F3-4603-B560-D00C874ED8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275" y="3491705"/>
            <a:ext cx="5060950" cy="461963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rgbClr val="002060"/>
                </a:solidFill>
                <a:latin typeface="+mn-ea"/>
                <a:ea typeface="+mn-ea"/>
              </a:rPr>
              <a:t>☆</a:t>
            </a:r>
            <a:r>
              <a:rPr lang="zh-CN" altLang="en-US" dirty="0">
                <a:solidFill>
                  <a:srgbClr val="002060"/>
                </a:solidFill>
                <a:latin typeface="+mn-ea"/>
                <a:ea typeface="+mn-ea"/>
              </a:rPr>
              <a:t>螺纹特征代号用</a:t>
            </a:r>
            <a:r>
              <a:rPr lang="zh-CN" altLang="en-US" dirty="0">
                <a:solidFill>
                  <a:srgbClr val="FF0000"/>
                </a:solidFill>
                <a:latin typeface="+mn-ea"/>
                <a:ea typeface="+mn-ea"/>
              </a:rPr>
              <a:t>字母 </a:t>
            </a:r>
            <a:r>
              <a:rPr lang="en-US" altLang="zh-CN" dirty="0">
                <a:solidFill>
                  <a:srgbClr val="FF0000"/>
                </a:solidFill>
                <a:latin typeface="+mn-ea"/>
                <a:ea typeface="+mn-ea"/>
              </a:rPr>
              <a:t>M</a:t>
            </a:r>
            <a:r>
              <a:rPr lang="en-US" altLang="zh-CN" dirty="0">
                <a:solidFill>
                  <a:srgbClr val="002060"/>
                </a:solidFill>
                <a:latin typeface="+mn-ea"/>
                <a:ea typeface="+mn-ea"/>
              </a:rPr>
              <a:t> </a:t>
            </a:r>
            <a:r>
              <a:rPr lang="zh-CN" altLang="en-US" dirty="0">
                <a:solidFill>
                  <a:srgbClr val="002060"/>
                </a:solidFill>
                <a:latin typeface="+mn-ea"/>
                <a:ea typeface="+mn-ea"/>
              </a:rPr>
              <a:t>表示。           </a:t>
            </a:r>
          </a:p>
        </p:txBody>
      </p:sp>
      <p:sp>
        <p:nvSpPr>
          <p:cNvPr id="26" name="Text Box 29">
            <a:extLst>
              <a:ext uri="{FF2B5EF4-FFF2-40B4-BE49-F238E27FC236}">
                <a16:creationId xmlns:a16="http://schemas.microsoft.com/office/drawing/2014/main" id="{4B6A6942-ACBC-4C0D-9FD0-64C9B43350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275" y="5446040"/>
            <a:ext cx="7299325" cy="46196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rgbClr val="002060"/>
                </a:solidFill>
                <a:latin typeface="+mn-ea"/>
                <a:ea typeface="+mn-ea"/>
              </a:rPr>
              <a:t>☆</a:t>
            </a:r>
            <a:r>
              <a:rPr lang="zh-CN" altLang="en-US" dirty="0">
                <a:solidFill>
                  <a:srgbClr val="002060"/>
                </a:solidFill>
                <a:latin typeface="+mn-ea"/>
                <a:ea typeface="+mn-ea"/>
              </a:rPr>
              <a:t>公差带代号应按顺序标注中径、顶径公差带代号。</a:t>
            </a:r>
          </a:p>
        </p:txBody>
      </p:sp>
      <p:sp>
        <p:nvSpPr>
          <p:cNvPr id="27" name="Text Box 10">
            <a:extLst>
              <a:ext uri="{FF2B5EF4-FFF2-40B4-BE49-F238E27FC236}">
                <a16:creationId xmlns:a16="http://schemas.microsoft.com/office/drawing/2014/main" id="{1CE621D4-8523-4F50-820B-327BB0F07A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6306" y="2774950"/>
            <a:ext cx="495300" cy="46037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－</a:t>
            </a:r>
          </a:p>
        </p:txBody>
      </p:sp>
      <p:sp>
        <p:nvSpPr>
          <p:cNvPr id="28" name="Text Box 5">
            <a:extLst>
              <a:ext uri="{FF2B5EF4-FFF2-40B4-BE49-F238E27FC236}">
                <a16:creationId xmlns:a16="http://schemas.microsoft.com/office/drawing/2014/main" id="{AAED3677-3FD0-4D7C-A71A-87A0B0848C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8431" y="4476691"/>
            <a:ext cx="1217000" cy="400110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000" b="1"/>
              <a:t>公称直径</a:t>
            </a:r>
          </a:p>
        </p:txBody>
      </p:sp>
      <p:sp>
        <p:nvSpPr>
          <p:cNvPr id="29" name="Text Box 6">
            <a:extLst>
              <a:ext uri="{FF2B5EF4-FFF2-40B4-BE49-F238E27FC236}">
                <a16:creationId xmlns:a16="http://schemas.microsoft.com/office/drawing/2014/main" id="{7397ADC5-9FD3-47E8-8D80-6396947FD5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1550" y="4470341"/>
            <a:ext cx="4427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altLang="zh-CN" sz="2000" b="1"/>
              <a:t>×</a:t>
            </a:r>
          </a:p>
        </p:txBody>
      </p:sp>
      <p:sp>
        <p:nvSpPr>
          <p:cNvPr id="30" name="Text Box 7">
            <a:extLst>
              <a:ext uri="{FF2B5EF4-FFF2-40B4-BE49-F238E27FC236}">
                <a16:creationId xmlns:a16="http://schemas.microsoft.com/office/drawing/2014/main" id="{345C8F5A-3DED-4C0B-ABB0-AEE0F536E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3581" y="4476691"/>
            <a:ext cx="1648208" cy="400110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000" b="1"/>
              <a:t>导程</a:t>
            </a:r>
            <a:r>
              <a:rPr lang="en-US" altLang="zh-CN" sz="2000" b="1">
                <a:latin typeface="宋体" pitchFamily="2" charset="-122"/>
              </a:rPr>
              <a:t>(</a:t>
            </a:r>
            <a:r>
              <a:rPr lang="en-US" altLang="zh-CN" sz="2000" b="1"/>
              <a:t>P</a:t>
            </a:r>
            <a:r>
              <a:rPr lang="zh-CN" altLang="en-US" sz="2000" b="1"/>
              <a:t>螺距</a:t>
            </a:r>
            <a:r>
              <a:rPr lang="en-US" altLang="zh-CN" sz="2000" b="1">
                <a:latin typeface="宋体" pitchFamily="2" charset="-122"/>
              </a:rPr>
              <a:t>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12A871AA-87CB-4C04-A677-93D1E5BF8181}"/>
              </a:ext>
            </a:extLst>
          </p:cNvPr>
          <p:cNvSpPr/>
          <p:nvPr/>
        </p:nvSpPr>
        <p:spPr>
          <a:xfrm>
            <a:off x="1870869" y="4441003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sz="2000" b="1" dirty="0">
                <a:solidFill>
                  <a:srgbClr val="002060"/>
                </a:solidFill>
                <a:latin typeface="+mn-ea"/>
              </a:rPr>
              <a:t>单线尺寸代号：</a:t>
            </a:r>
            <a:endParaRPr lang="zh-CN" altLang="en-US" sz="2000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32" name="Text Box 5">
            <a:extLst>
              <a:ext uri="{FF2B5EF4-FFF2-40B4-BE49-F238E27FC236}">
                <a16:creationId xmlns:a16="http://schemas.microsoft.com/office/drawing/2014/main" id="{9682AD21-BC88-478C-8ADC-DC4BC0F35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8431" y="4876801"/>
            <a:ext cx="1217000" cy="400110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sz="2000" b="1"/>
              <a:t>公称直径</a:t>
            </a:r>
          </a:p>
        </p:txBody>
      </p:sp>
      <p:sp>
        <p:nvSpPr>
          <p:cNvPr id="33" name="Text Box 6">
            <a:extLst>
              <a:ext uri="{FF2B5EF4-FFF2-40B4-BE49-F238E27FC236}">
                <a16:creationId xmlns:a16="http://schemas.microsoft.com/office/drawing/2014/main" id="{3AD2386D-8A50-46B2-A59C-73D0D8CAA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1550" y="4870451"/>
            <a:ext cx="44275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altLang="zh-CN" sz="2000" b="1"/>
              <a:t>×</a:t>
            </a:r>
          </a:p>
        </p:txBody>
      </p:sp>
      <p:sp>
        <p:nvSpPr>
          <p:cNvPr id="34" name="Text Box 7">
            <a:extLst>
              <a:ext uri="{FF2B5EF4-FFF2-40B4-BE49-F238E27FC236}">
                <a16:creationId xmlns:a16="http://schemas.microsoft.com/office/drawing/2014/main" id="{1BEC5C3A-AE50-48A1-AECC-A21A27AD9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1994" y="4876801"/>
            <a:ext cx="1717137" cy="400110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000" b="1" dirty="0"/>
              <a:t>Ph</a:t>
            </a:r>
            <a:r>
              <a:rPr lang="zh-CN" altLang="en-US" sz="2000" b="1" dirty="0"/>
              <a:t>导程</a:t>
            </a:r>
            <a:r>
              <a:rPr lang="en-US" altLang="zh-CN" sz="2000" b="1" dirty="0"/>
              <a:t>P</a:t>
            </a:r>
            <a:r>
              <a:rPr lang="zh-CN" altLang="en-US" sz="2000" b="1" dirty="0"/>
              <a:t>螺距</a:t>
            </a:r>
            <a:endParaRPr lang="en-US" altLang="zh-CN" sz="2000" b="1" dirty="0">
              <a:latin typeface="宋体" pitchFamily="2" charset="-122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2B7AD68F-707C-41A0-89AD-32DC43B9BFD4}"/>
              </a:ext>
            </a:extLst>
          </p:cNvPr>
          <p:cNvSpPr/>
          <p:nvPr/>
        </p:nvSpPr>
        <p:spPr>
          <a:xfrm>
            <a:off x="1870869" y="4841113"/>
            <a:ext cx="199125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sz="2000" b="1" dirty="0">
                <a:solidFill>
                  <a:srgbClr val="002060"/>
                </a:solidFill>
                <a:latin typeface="+mn-ea"/>
              </a:rPr>
              <a:t>多线尺寸代号：</a:t>
            </a:r>
            <a:endParaRPr lang="zh-CN" altLang="en-US" sz="2000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36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2094230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6" grpId="0" animBg="1" autoUpdateAnimBg="0"/>
      <p:bldP spid="7" grpId="0" animBg="1" autoUpdateAnimBg="0"/>
      <p:bldP spid="8" grpId="0" animBg="1" autoUpdateAnimBg="0"/>
      <p:bldP spid="9" grpId="0" animBg="1" autoUpdateAnimBg="0"/>
      <p:bldP spid="10" grpId="0" autoUpdateAnimBg="0"/>
      <p:bldP spid="11" grpId="0" animBg="1" autoUpdateAnimBg="0"/>
      <p:bldP spid="12" grpId="0" autoUpdateAnimBg="0"/>
      <p:bldP spid="13" grpId="0" autoUpdateAnimBg="0"/>
      <p:bldP spid="14" grpId="0" autoUpdateAnimBg="0"/>
      <p:bldP spid="24" grpId="0" autoUpdateAnimBg="0"/>
      <p:bldP spid="25" grpId="0"/>
      <p:bldP spid="26" grpId="0" autoUpdateAnimBg="0"/>
      <p:bldP spid="27" grpId="0" autoUpdateAnimBg="0"/>
      <p:bldP spid="28" grpId="0" animBg="1" autoUpdateAnimBg="0"/>
      <p:bldP spid="29" grpId="0" autoUpdateAnimBg="0"/>
      <p:bldP spid="30" grpId="0" animBg="1" autoUpdateAnimBg="0"/>
      <p:bldP spid="31" grpId="0"/>
      <p:bldP spid="32" grpId="0" animBg="1" autoUpdateAnimBg="0"/>
      <p:bldP spid="33" grpId="0" autoUpdateAnimBg="0"/>
      <p:bldP spid="34" grpId="0" animBg="1" autoUpdateAnimBg="0"/>
      <p:bldP spid="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03C120D9-E003-40C3-9F10-8AB5C9CA2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396" y="1846396"/>
            <a:ext cx="1476375" cy="477837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标注示例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F5322949-7B16-456F-95E0-AD47D673E7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7511" y="2263273"/>
            <a:ext cx="4783137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>
                <a:solidFill>
                  <a:srgbClr val="FF3300"/>
                </a:solidFill>
              </a:rPr>
              <a:t>M20×Ph4P2</a:t>
            </a:r>
            <a:r>
              <a:rPr kumimoji="0" lang="zh-CN" altLang="en-US" sz="2400">
                <a:solidFill>
                  <a:srgbClr val="CC0099"/>
                </a:solidFill>
              </a:rPr>
              <a:t>－</a:t>
            </a:r>
            <a:r>
              <a:rPr lang="en-US" altLang="zh-CN" sz="2400">
                <a:solidFill>
                  <a:srgbClr val="FF3300"/>
                </a:solidFill>
              </a:rPr>
              <a:t>5g6g</a:t>
            </a:r>
            <a:r>
              <a:rPr kumimoji="0" lang="zh-CN" altLang="en-US" sz="2400">
                <a:solidFill>
                  <a:srgbClr val="CC0099"/>
                </a:solidFill>
              </a:rPr>
              <a:t>－</a:t>
            </a:r>
            <a:r>
              <a:rPr lang="en-US" altLang="zh-CN" sz="2400">
                <a:solidFill>
                  <a:srgbClr val="FF3300"/>
                </a:solidFill>
              </a:rPr>
              <a:t>S</a:t>
            </a:r>
            <a:r>
              <a:rPr kumimoji="0" lang="zh-CN" altLang="en-US" sz="2400">
                <a:solidFill>
                  <a:srgbClr val="CC0099"/>
                </a:solidFill>
              </a:rPr>
              <a:t> －</a:t>
            </a:r>
            <a:r>
              <a:rPr kumimoji="0" lang="en-US" altLang="zh-CN" sz="2400">
                <a:solidFill>
                  <a:srgbClr val="FF0000"/>
                </a:solidFill>
              </a:rPr>
              <a:t>LH</a:t>
            </a:r>
            <a:endParaRPr lang="en-US" altLang="zh-CN" sz="2400">
              <a:solidFill>
                <a:srgbClr val="FF0000"/>
              </a:solidFill>
            </a:endParaRPr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2D69099E-2F0D-4F76-AEF0-3044955B864F}"/>
              </a:ext>
            </a:extLst>
          </p:cNvPr>
          <p:cNvGrpSpPr>
            <a:grpSpLocks/>
          </p:cNvGrpSpPr>
          <p:nvPr/>
        </p:nvGrpSpPr>
        <p:grpSpPr bwMode="auto">
          <a:xfrm>
            <a:off x="2211936" y="2699836"/>
            <a:ext cx="2241550" cy="638175"/>
            <a:chOff x="622" y="817"/>
            <a:chExt cx="1412" cy="402"/>
          </a:xfrm>
        </p:grpSpPr>
        <p:sp>
          <p:nvSpPr>
            <p:cNvPr id="5" name="Text Box 5">
              <a:extLst>
                <a:ext uri="{FF2B5EF4-FFF2-40B4-BE49-F238E27FC236}">
                  <a16:creationId xmlns:a16="http://schemas.microsoft.com/office/drawing/2014/main" id="{758C019A-21AE-4B60-80E8-DECBA364CE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2" y="928"/>
              <a:ext cx="141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accent2"/>
                  </a:solidFill>
                </a:rPr>
                <a:t>普通螺纹</a:t>
              </a:r>
              <a:endParaRPr lang="zh-CN" altLang="en-US" sz="2400" b="0">
                <a:solidFill>
                  <a:schemeClr val="accent2"/>
                </a:solidFill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336305C-CCD2-491C-859C-CB93A4E1A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843" y="1202"/>
              <a:ext cx="1005" cy="5"/>
            </a:xfrm>
            <a:custGeom>
              <a:avLst/>
              <a:gdLst>
                <a:gd name="T0" fmla="*/ 0 w 1005"/>
                <a:gd name="T1" fmla="*/ 5 h 5"/>
                <a:gd name="T2" fmla="*/ 1005 w 1005"/>
                <a:gd name="T3" fmla="*/ 0 h 5"/>
                <a:gd name="T4" fmla="*/ 0 60000 65536"/>
                <a:gd name="T5" fmla="*/ 0 60000 65536"/>
                <a:gd name="T6" fmla="*/ 0 w 1005"/>
                <a:gd name="T7" fmla="*/ 0 h 5"/>
                <a:gd name="T8" fmla="*/ 1005 w 1005"/>
                <a:gd name="T9" fmla="*/ 5 h 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5" h="5">
                  <a:moveTo>
                    <a:pt x="0" y="5"/>
                  </a:moveTo>
                  <a:lnTo>
                    <a:pt x="1005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929BD1D3-1BB8-4C8B-8558-9B403C827BD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48" y="817"/>
              <a:ext cx="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85A4A62D-009D-4DDC-9184-26E731ACBB44}"/>
              </a:ext>
            </a:extLst>
          </p:cNvPr>
          <p:cNvGrpSpPr>
            <a:grpSpLocks/>
          </p:cNvGrpSpPr>
          <p:nvPr/>
        </p:nvGrpSpPr>
        <p:grpSpPr bwMode="auto">
          <a:xfrm>
            <a:off x="1453111" y="2699836"/>
            <a:ext cx="3038475" cy="1122362"/>
            <a:chOff x="242" y="817"/>
            <a:chExt cx="1914" cy="707"/>
          </a:xfrm>
        </p:grpSpPr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28977919-D370-4020-9804-DC6D74906C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2" y="1233"/>
              <a:ext cx="1914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accent2"/>
                  </a:solidFill>
                </a:rPr>
                <a:t>公称直径</a:t>
              </a:r>
              <a:r>
                <a:rPr lang="en-US" altLang="zh-CN" sz="2400">
                  <a:solidFill>
                    <a:schemeClr val="accent2"/>
                  </a:solidFill>
                </a:rPr>
                <a:t>d</a:t>
              </a:r>
              <a:r>
                <a:rPr lang="zh-CN" altLang="en-US" sz="2400">
                  <a:solidFill>
                    <a:schemeClr val="accent2"/>
                  </a:solidFill>
                </a:rPr>
                <a:t>＝</a:t>
              </a:r>
              <a:r>
                <a:rPr lang="en-US" altLang="zh-CN" sz="2400">
                  <a:solidFill>
                    <a:schemeClr val="accent2"/>
                  </a:solidFill>
                </a:rPr>
                <a:t>20</a:t>
              </a:r>
              <a:endParaRPr lang="en-US" altLang="zh-CN" sz="2400" b="0">
                <a:solidFill>
                  <a:schemeClr val="accent2"/>
                </a:solidFill>
              </a:endParaRPr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8377859D-82B3-47E7-87A3-003335F837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5" y="1494"/>
              <a:ext cx="1710" cy="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1" name="Line 11">
              <a:extLst>
                <a:ext uri="{FF2B5EF4-FFF2-40B4-BE49-F238E27FC236}">
                  <a16:creationId xmlns:a16="http://schemas.microsoft.com/office/drawing/2014/main" id="{25DDC1A3-768E-4DD1-B593-745227F8A5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6" y="817"/>
              <a:ext cx="0" cy="6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12" name="Group 12">
            <a:extLst>
              <a:ext uri="{FF2B5EF4-FFF2-40B4-BE49-F238E27FC236}">
                <a16:creationId xmlns:a16="http://schemas.microsoft.com/office/drawing/2014/main" id="{4BC922CE-21B2-4ED1-A451-0EDDA572842F}"/>
              </a:ext>
            </a:extLst>
          </p:cNvPr>
          <p:cNvGrpSpPr>
            <a:grpSpLocks/>
          </p:cNvGrpSpPr>
          <p:nvPr/>
        </p:nvGrpSpPr>
        <p:grpSpPr bwMode="auto">
          <a:xfrm>
            <a:off x="2578648" y="2699836"/>
            <a:ext cx="3124200" cy="2105780"/>
            <a:chOff x="696" y="817"/>
            <a:chExt cx="1968" cy="984"/>
          </a:xfrm>
        </p:grpSpPr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F35D7409-D7C1-4DD8-800A-D5388CF013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6" y="1561"/>
              <a:ext cx="1739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accent2"/>
                  </a:solidFill>
                </a:rPr>
                <a:t>螺距</a:t>
              </a:r>
              <a:r>
                <a:rPr lang="en-US" altLang="zh-CN" sz="2400">
                  <a:solidFill>
                    <a:schemeClr val="accent2"/>
                  </a:solidFill>
                </a:rPr>
                <a:t>P2 (</a:t>
              </a:r>
              <a:r>
                <a:rPr lang="zh-CN" altLang="en-US" sz="2400">
                  <a:solidFill>
                    <a:schemeClr val="accent2"/>
                  </a:solidFill>
                </a:rPr>
                <a:t>细牙</a:t>
              </a:r>
              <a:r>
                <a:rPr lang="en-US" altLang="zh-CN" sz="2400">
                  <a:solidFill>
                    <a:schemeClr val="accent2"/>
                  </a:solidFill>
                </a:rPr>
                <a:t>)</a:t>
              </a:r>
              <a:endParaRPr lang="en-US" altLang="zh-CN" sz="2400" b="0">
                <a:solidFill>
                  <a:schemeClr val="accent2"/>
                </a:solidFill>
              </a:endParaRPr>
            </a:p>
          </p:txBody>
        </p:sp>
        <p:sp>
          <p:nvSpPr>
            <p:cNvPr id="14" name="Line 14">
              <a:extLst>
                <a:ext uri="{FF2B5EF4-FFF2-40B4-BE49-F238E27FC236}">
                  <a16:creationId xmlns:a16="http://schemas.microsoft.com/office/drawing/2014/main" id="{AF81FD5F-AFEC-4D14-A96C-7425EF333C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817"/>
              <a:ext cx="0" cy="9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5" name="Line 15">
              <a:extLst>
                <a:ext uri="{FF2B5EF4-FFF2-40B4-BE49-F238E27FC236}">
                  <a16:creationId xmlns:a16="http://schemas.microsoft.com/office/drawing/2014/main" id="{599C5B84-2115-4509-B6FD-575B6274025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43" y="1801"/>
              <a:ext cx="18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62686D53-EBBD-4625-BAC4-E6C332A9B465}"/>
              </a:ext>
            </a:extLst>
          </p:cNvPr>
          <p:cNvGrpSpPr>
            <a:grpSpLocks/>
          </p:cNvGrpSpPr>
          <p:nvPr/>
        </p:nvGrpSpPr>
        <p:grpSpPr bwMode="auto">
          <a:xfrm>
            <a:off x="6677573" y="2661736"/>
            <a:ext cx="2797175" cy="609600"/>
            <a:chOff x="3790" y="817"/>
            <a:chExt cx="1762" cy="384"/>
          </a:xfrm>
        </p:grpSpPr>
        <p:sp>
          <p:nvSpPr>
            <p:cNvPr id="17" name="Text Box 17">
              <a:extLst>
                <a:ext uri="{FF2B5EF4-FFF2-40B4-BE49-F238E27FC236}">
                  <a16:creationId xmlns:a16="http://schemas.microsoft.com/office/drawing/2014/main" id="{A5F042AC-95CB-4CBF-8E63-C00098F3A7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0" y="908"/>
              <a:ext cx="176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accent2"/>
                  </a:solidFill>
                </a:rPr>
                <a:t>短旋合长度</a:t>
              </a:r>
              <a:endParaRPr lang="zh-CN" altLang="en-US" sz="2400" b="0">
                <a:solidFill>
                  <a:schemeClr val="accent2"/>
                </a:solidFill>
              </a:endParaRPr>
            </a:p>
          </p:txBody>
        </p:sp>
        <p:sp>
          <p:nvSpPr>
            <p:cNvPr id="18" name="Line 18">
              <a:extLst>
                <a:ext uri="{FF2B5EF4-FFF2-40B4-BE49-F238E27FC236}">
                  <a16:creationId xmlns:a16="http://schemas.microsoft.com/office/drawing/2014/main" id="{0E9ADBDF-D8D8-47DC-972B-9C06F0A2BB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817"/>
              <a:ext cx="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19" name="Line 19">
              <a:extLst>
                <a:ext uri="{FF2B5EF4-FFF2-40B4-BE49-F238E27FC236}">
                  <a16:creationId xmlns:a16="http://schemas.microsoft.com/office/drawing/2014/main" id="{BEDD07C4-6160-44E8-AC63-26F0F012E5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1201"/>
              <a:ext cx="114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20" name="Group 20">
            <a:extLst>
              <a:ext uri="{FF2B5EF4-FFF2-40B4-BE49-F238E27FC236}">
                <a16:creationId xmlns:a16="http://schemas.microsoft.com/office/drawing/2014/main" id="{007850D8-B685-49A7-B77F-613B45AB8505}"/>
              </a:ext>
            </a:extLst>
          </p:cNvPr>
          <p:cNvGrpSpPr>
            <a:grpSpLocks/>
          </p:cNvGrpSpPr>
          <p:nvPr/>
        </p:nvGrpSpPr>
        <p:grpSpPr bwMode="auto">
          <a:xfrm>
            <a:off x="6256886" y="2699836"/>
            <a:ext cx="3092450" cy="1090612"/>
            <a:chOff x="3490" y="817"/>
            <a:chExt cx="1948" cy="687"/>
          </a:xfrm>
        </p:grpSpPr>
        <p:sp>
          <p:nvSpPr>
            <p:cNvPr id="21" name="Text Box 21">
              <a:extLst>
                <a:ext uri="{FF2B5EF4-FFF2-40B4-BE49-F238E27FC236}">
                  <a16:creationId xmlns:a16="http://schemas.microsoft.com/office/drawing/2014/main" id="{C4D0F94C-9013-4AED-A747-C9FFA2F342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0" y="1213"/>
              <a:ext cx="194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accent2"/>
                  </a:solidFill>
                </a:rPr>
                <a:t>顶径公差带代号</a:t>
              </a:r>
            </a:p>
          </p:txBody>
        </p:sp>
        <p:sp>
          <p:nvSpPr>
            <p:cNvPr id="22" name="Line 22">
              <a:extLst>
                <a:ext uri="{FF2B5EF4-FFF2-40B4-BE49-F238E27FC236}">
                  <a16:creationId xmlns:a16="http://schemas.microsoft.com/office/drawing/2014/main" id="{9E369852-C731-4F4C-AE65-504DF5AE38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2" y="817"/>
              <a:ext cx="0" cy="6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3" name="Line 23">
              <a:extLst>
                <a:ext uri="{FF2B5EF4-FFF2-40B4-BE49-F238E27FC236}">
                  <a16:creationId xmlns:a16="http://schemas.microsoft.com/office/drawing/2014/main" id="{43EC22F0-4388-42B8-B48C-BC6EAA387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72" y="1494"/>
              <a:ext cx="150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24" name="Group 27">
            <a:extLst>
              <a:ext uri="{FF2B5EF4-FFF2-40B4-BE49-F238E27FC236}">
                <a16:creationId xmlns:a16="http://schemas.microsoft.com/office/drawing/2014/main" id="{AE586A65-8D9C-49AE-8BB4-CD5334B1CABB}"/>
              </a:ext>
            </a:extLst>
          </p:cNvPr>
          <p:cNvGrpSpPr>
            <a:grpSpLocks/>
          </p:cNvGrpSpPr>
          <p:nvPr/>
        </p:nvGrpSpPr>
        <p:grpSpPr bwMode="auto">
          <a:xfrm>
            <a:off x="6274348" y="2699836"/>
            <a:ext cx="3249613" cy="1562100"/>
            <a:chOff x="3336" y="817"/>
            <a:chExt cx="2047" cy="984"/>
          </a:xfrm>
        </p:grpSpPr>
        <p:sp>
          <p:nvSpPr>
            <p:cNvPr id="25" name="Text Box 28">
              <a:extLst>
                <a:ext uri="{FF2B5EF4-FFF2-40B4-BE49-F238E27FC236}">
                  <a16:creationId xmlns:a16="http://schemas.microsoft.com/office/drawing/2014/main" id="{5294735C-02FD-4971-AE4E-06AF81A16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5" y="1503"/>
              <a:ext cx="1798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accent2"/>
                  </a:solidFill>
                </a:rPr>
                <a:t>中径公差带代号</a:t>
              </a:r>
              <a:endParaRPr lang="zh-CN" altLang="en-US" sz="2400" b="0">
                <a:solidFill>
                  <a:schemeClr val="accent2"/>
                </a:solidFill>
              </a:endParaRPr>
            </a:p>
          </p:txBody>
        </p:sp>
        <p:sp>
          <p:nvSpPr>
            <p:cNvPr id="26" name="Line 29">
              <a:extLst>
                <a:ext uri="{FF2B5EF4-FFF2-40B4-BE49-F238E27FC236}">
                  <a16:creationId xmlns:a16="http://schemas.microsoft.com/office/drawing/2014/main" id="{BE78C640-11F7-463C-B3F2-C4524BF378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817"/>
              <a:ext cx="0" cy="9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27" name="Line 30">
              <a:extLst>
                <a:ext uri="{FF2B5EF4-FFF2-40B4-BE49-F238E27FC236}">
                  <a16:creationId xmlns:a16="http://schemas.microsoft.com/office/drawing/2014/main" id="{9F372A30-F8C0-4598-89DE-5E45944A62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1801"/>
              <a:ext cx="187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28" name="矩形 54">
            <a:extLst>
              <a:ext uri="{FF2B5EF4-FFF2-40B4-BE49-F238E27FC236}">
                <a16:creationId xmlns:a16="http://schemas.microsoft.com/office/drawing/2014/main" id="{19D6B8E2-5703-4478-9EF3-E3685F9598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9972" y="1288202"/>
            <a:ext cx="41529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ea typeface="黑体" pitchFamily="49" charset="-122"/>
              </a:rPr>
              <a:t>五、</a:t>
            </a:r>
            <a:r>
              <a:rPr lang="zh-CN" altLang="zh-CN" sz="2800" dirty="0">
                <a:ea typeface="黑体" pitchFamily="49" charset="-122"/>
              </a:rPr>
              <a:t>常用螺纹的标注方法</a:t>
            </a:r>
            <a:endParaRPr lang="zh-CN" altLang="en-US" sz="2800" dirty="0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575A24E1-C65E-44BA-8C93-60B9175EB514}"/>
              </a:ext>
            </a:extLst>
          </p:cNvPr>
          <p:cNvSpPr/>
          <p:nvPr/>
        </p:nvSpPr>
        <p:spPr>
          <a:xfrm>
            <a:off x="1436735" y="1719209"/>
            <a:ext cx="2685351" cy="55976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lnSpc>
                <a:spcPct val="150000"/>
              </a:lnSpc>
              <a:spcAft>
                <a:spcPts val="0"/>
              </a:spcAft>
              <a:buFont typeface="宋体" panose="02010600030101010101" pitchFamily="2" charset="-122"/>
              <a:buAutoNum type="arabicPeriod"/>
              <a:tabLst>
                <a:tab pos="454660" algn="l"/>
              </a:tabLst>
              <a:defRPr/>
            </a:pPr>
            <a:r>
              <a:rPr lang="zh-CN" altLang="zh-CN" sz="2400" kern="1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普通螺纹的标记</a:t>
            </a:r>
          </a:p>
        </p:txBody>
      </p:sp>
      <p:grpSp>
        <p:nvGrpSpPr>
          <p:cNvPr id="31" name="Group 12">
            <a:extLst>
              <a:ext uri="{FF2B5EF4-FFF2-40B4-BE49-F238E27FC236}">
                <a16:creationId xmlns:a16="http://schemas.microsoft.com/office/drawing/2014/main" id="{3E875E10-3DB5-4877-8387-40E64DC1A397}"/>
              </a:ext>
            </a:extLst>
          </p:cNvPr>
          <p:cNvGrpSpPr>
            <a:grpSpLocks/>
          </p:cNvGrpSpPr>
          <p:nvPr/>
        </p:nvGrpSpPr>
        <p:grpSpPr bwMode="auto">
          <a:xfrm>
            <a:off x="2969173" y="2656973"/>
            <a:ext cx="2414588" cy="1663700"/>
            <a:chOff x="1143" y="817"/>
            <a:chExt cx="1521" cy="989"/>
          </a:xfrm>
        </p:grpSpPr>
        <p:sp>
          <p:nvSpPr>
            <p:cNvPr id="32" name="Text Box 13">
              <a:extLst>
                <a:ext uri="{FF2B5EF4-FFF2-40B4-BE49-F238E27FC236}">
                  <a16:creationId xmlns:a16="http://schemas.microsoft.com/office/drawing/2014/main" id="{D1A2B4CE-476D-4802-B5C5-4A1F1012B5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98" y="1531"/>
              <a:ext cx="1245" cy="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>
                  <a:solidFill>
                    <a:schemeClr val="accent2"/>
                  </a:solidFill>
                </a:rPr>
                <a:t>导程为</a:t>
              </a:r>
              <a:r>
                <a:rPr lang="en-US" altLang="zh-CN" sz="2400">
                  <a:solidFill>
                    <a:schemeClr val="accent2"/>
                  </a:solidFill>
                </a:rPr>
                <a:t>4mm</a:t>
              </a:r>
            </a:p>
          </p:txBody>
        </p:sp>
        <p:sp>
          <p:nvSpPr>
            <p:cNvPr id="33" name="Line 14">
              <a:extLst>
                <a:ext uri="{FF2B5EF4-FFF2-40B4-BE49-F238E27FC236}">
                  <a16:creationId xmlns:a16="http://schemas.microsoft.com/office/drawing/2014/main" id="{1526C600-107B-4A05-A5F1-9E0B8372E8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817"/>
              <a:ext cx="0" cy="9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  <p:sp>
          <p:nvSpPr>
            <p:cNvPr id="34" name="Line 15">
              <a:extLst>
                <a:ext uri="{FF2B5EF4-FFF2-40B4-BE49-F238E27FC236}">
                  <a16:creationId xmlns:a16="http://schemas.microsoft.com/office/drawing/2014/main" id="{3B3A4BBE-8065-44BC-9521-AB629D481AD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43" y="1801"/>
              <a:ext cx="150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grpSp>
        <p:nvGrpSpPr>
          <p:cNvPr id="35" name="组合 13">
            <a:extLst>
              <a:ext uri="{FF2B5EF4-FFF2-40B4-BE49-F238E27FC236}">
                <a16:creationId xmlns:a16="http://schemas.microsoft.com/office/drawing/2014/main" id="{C330EDD5-CA4A-4782-B064-933F422DF10D}"/>
              </a:ext>
            </a:extLst>
          </p:cNvPr>
          <p:cNvGrpSpPr>
            <a:grpSpLocks/>
          </p:cNvGrpSpPr>
          <p:nvPr/>
        </p:nvGrpSpPr>
        <p:grpSpPr bwMode="auto">
          <a:xfrm>
            <a:off x="8052348" y="2493461"/>
            <a:ext cx="2309813" cy="1966912"/>
            <a:chOff x="6692901" y="2170906"/>
            <a:chExt cx="2309446" cy="1966912"/>
          </a:xfrm>
        </p:grpSpPr>
        <p:grpSp>
          <p:nvGrpSpPr>
            <p:cNvPr id="36" name="Group 24">
              <a:extLst>
                <a:ext uri="{FF2B5EF4-FFF2-40B4-BE49-F238E27FC236}">
                  <a16:creationId xmlns:a16="http://schemas.microsoft.com/office/drawing/2014/main" id="{5C9DED91-6B3C-4765-B835-77B0C1FB46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14910" y="2170906"/>
              <a:ext cx="1087437" cy="1966912"/>
              <a:chOff x="2651" y="817"/>
              <a:chExt cx="685" cy="1239"/>
            </a:xfrm>
          </p:grpSpPr>
          <p:sp>
            <p:nvSpPr>
              <p:cNvPr id="38" name="Text Box 25">
                <a:extLst>
                  <a:ext uri="{FF2B5EF4-FFF2-40B4-BE49-F238E27FC236}">
                    <a16:creationId xmlns:a16="http://schemas.microsoft.com/office/drawing/2014/main" id="{3FEE4DAC-3EBF-449F-B8E0-2D4480DCD0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51" y="1765"/>
                <a:ext cx="685" cy="29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ctr"/>
                <a:r>
                  <a:rPr lang="zh-CN" altLang="en-US" sz="2400">
                    <a:solidFill>
                      <a:schemeClr val="accent2"/>
                    </a:solidFill>
                  </a:rPr>
                  <a:t>左旋</a:t>
                </a:r>
                <a:endParaRPr lang="zh-CN" altLang="en-US" sz="2400" b="0">
                  <a:solidFill>
                    <a:schemeClr val="accent2"/>
                  </a:solidFill>
                </a:endParaRPr>
              </a:p>
            </p:txBody>
          </p:sp>
          <p:sp>
            <p:nvSpPr>
              <p:cNvPr id="39" name="Line 26">
                <a:extLst>
                  <a:ext uri="{FF2B5EF4-FFF2-40B4-BE49-F238E27FC236}">
                    <a16:creationId xmlns:a16="http://schemas.microsoft.com/office/drawing/2014/main" id="{AC280DFD-A6C0-4DDF-B6D7-0E0B502916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0" y="817"/>
                <a:ext cx="0" cy="98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 sz="2400"/>
              </a:p>
            </p:txBody>
          </p:sp>
        </p:grpSp>
        <p:sp>
          <p:nvSpPr>
            <p:cNvPr id="37" name="Line 26">
              <a:extLst>
                <a:ext uri="{FF2B5EF4-FFF2-40B4-BE49-F238E27FC236}">
                  <a16:creationId xmlns:a16="http://schemas.microsoft.com/office/drawing/2014/main" id="{D243BAB9-2AB5-45FB-A546-162B1D21F3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92901" y="2171698"/>
              <a:ext cx="177604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400"/>
            </a:p>
          </p:txBody>
        </p:sp>
      </p:grpSp>
      <p:sp>
        <p:nvSpPr>
          <p:cNvPr id="40" name="矩形 39">
            <a:extLst>
              <a:ext uri="{FF2B5EF4-FFF2-40B4-BE49-F238E27FC236}">
                <a16:creationId xmlns:a16="http://schemas.microsoft.com/office/drawing/2014/main" id="{1584D3EE-E9A7-403E-8906-4A67F0894125}"/>
              </a:ext>
            </a:extLst>
          </p:cNvPr>
          <p:cNvSpPr/>
          <p:nvPr/>
        </p:nvSpPr>
        <p:spPr>
          <a:xfrm>
            <a:off x="1071773" y="4903456"/>
            <a:ext cx="10405150" cy="1682577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16200000" scaled="1"/>
            <a:tileRect/>
          </a:gra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2400" dirty="0"/>
              <a:t>        </a:t>
            </a:r>
            <a:r>
              <a:rPr lang="zh-CN" altLang="en-US" sz="2400" dirty="0">
                <a:solidFill>
                  <a:srgbClr val="FF0000"/>
                </a:solidFill>
              </a:rPr>
              <a:t>公差带代号</a:t>
            </a:r>
            <a:r>
              <a:rPr lang="zh-CN" altLang="en-US" sz="2400" dirty="0"/>
              <a:t>包括</a:t>
            </a:r>
            <a:r>
              <a:rPr lang="zh-CN" altLang="en-US" sz="2400" dirty="0">
                <a:solidFill>
                  <a:srgbClr val="FF0000"/>
                </a:solidFill>
              </a:rPr>
              <a:t>中径</a:t>
            </a:r>
            <a:r>
              <a:rPr lang="zh-CN" altLang="en-US" sz="2400" dirty="0"/>
              <a:t>公差带代号和</a:t>
            </a:r>
            <a:r>
              <a:rPr lang="zh-CN" altLang="en-US" sz="2400" dirty="0">
                <a:solidFill>
                  <a:srgbClr val="FF0000"/>
                </a:solidFill>
              </a:rPr>
              <a:t>顶径</a:t>
            </a:r>
            <a:r>
              <a:rPr lang="zh-CN" altLang="en-US" sz="2400" dirty="0"/>
              <a:t>公差带代号。中径公差带代号</a:t>
            </a:r>
            <a:r>
              <a:rPr lang="zh-CN" altLang="en-US" sz="2400" dirty="0">
                <a:solidFill>
                  <a:srgbClr val="FF0000"/>
                </a:solidFill>
              </a:rPr>
              <a:t>在前</a:t>
            </a:r>
            <a:r>
              <a:rPr lang="zh-CN" altLang="en-US" sz="2400" dirty="0"/>
              <a:t>，顶径公差带代号</a:t>
            </a:r>
            <a:r>
              <a:rPr lang="zh-CN" altLang="en-US" sz="2400" dirty="0">
                <a:solidFill>
                  <a:srgbClr val="FF0000"/>
                </a:solidFill>
              </a:rPr>
              <a:t>在后</a:t>
            </a:r>
            <a:r>
              <a:rPr lang="zh-CN" altLang="en-US" sz="2400" dirty="0"/>
              <a:t>，如</a:t>
            </a:r>
            <a:r>
              <a:rPr lang="en-US" sz="2400" dirty="0"/>
              <a:t>5H6H</a:t>
            </a:r>
            <a:r>
              <a:rPr lang="zh-CN" altLang="en-US" sz="2400" dirty="0"/>
              <a:t>、</a:t>
            </a:r>
            <a:r>
              <a:rPr lang="en-US" sz="2400" dirty="0"/>
              <a:t>5g6g</a:t>
            </a:r>
            <a:r>
              <a:rPr lang="zh-CN" altLang="en-US" sz="2400" dirty="0"/>
              <a:t>。如果中径公差带代号与顶径公差带代号相同，则应只标注一个公差带代号，如</a:t>
            </a:r>
            <a:r>
              <a:rPr lang="en-US" sz="2400" dirty="0"/>
              <a:t>6H</a:t>
            </a:r>
            <a:r>
              <a:rPr lang="zh-CN" altLang="en-US" sz="2400" dirty="0"/>
              <a:t>、</a:t>
            </a:r>
            <a:r>
              <a:rPr lang="en-US" sz="2400" dirty="0"/>
              <a:t>5g</a:t>
            </a:r>
            <a:r>
              <a:rPr lang="zh-CN" altLang="en-US" sz="2400" dirty="0"/>
              <a:t>。</a:t>
            </a:r>
          </a:p>
        </p:txBody>
      </p:sp>
      <p:sp>
        <p:nvSpPr>
          <p:cNvPr id="41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22665729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54">
            <a:extLst>
              <a:ext uri="{FF2B5EF4-FFF2-40B4-BE49-F238E27FC236}">
                <a16:creationId xmlns:a16="http://schemas.microsoft.com/office/drawing/2014/main" id="{4A74E1AB-3AA2-4999-8536-35B3DA874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4651" y="840085"/>
            <a:ext cx="41529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ea typeface="黑体" pitchFamily="49" charset="-122"/>
              </a:rPr>
              <a:t>五、</a:t>
            </a:r>
            <a:r>
              <a:rPr lang="zh-CN" altLang="zh-CN" sz="2800" dirty="0">
                <a:ea typeface="黑体" pitchFamily="49" charset="-122"/>
              </a:rPr>
              <a:t>常用螺纹的标注方法</a:t>
            </a:r>
            <a:endParaRPr lang="zh-CN" altLang="en-US" sz="28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22EBC03-6CA8-4FDD-A2BF-DB579238DD32}"/>
              </a:ext>
            </a:extLst>
          </p:cNvPr>
          <p:cNvSpPr/>
          <p:nvPr/>
        </p:nvSpPr>
        <p:spPr>
          <a:xfrm>
            <a:off x="1342779" y="1411189"/>
            <a:ext cx="4518025" cy="46196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zh-CN" sz="2400" kern="1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梯形螺纹和锯齿形螺纹的标注</a:t>
            </a:r>
            <a:endParaRPr lang="zh-CN" altLang="en-US" sz="2400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4643A90-190D-4854-B18E-7D6738F9F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3219" y="1936077"/>
            <a:ext cx="2041525" cy="46196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螺纹特征代号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E30AB670-D793-4C5F-A4DF-D0D4CAEAF7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0644" y="1938635"/>
            <a:ext cx="1422400" cy="461963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尺寸代号</a:t>
            </a:r>
          </a:p>
        </p:txBody>
      </p:sp>
      <p:sp>
        <p:nvSpPr>
          <p:cNvPr id="7" name="Text Box 8">
            <a:extLst>
              <a:ext uri="{FF2B5EF4-FFF2-40B4-BE49-F238E27FC236}">
                <a16:creationId xmlns:a16="http://schemas.microsoft.com/office/drawing/2014/main" id="{E7DEE443-315A-4E0F-A735-A3C7D76318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65775" y="1942605"/>
            <a:ext cx="804862" cy="46196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旋向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FE33D9B5-D0D3-4723-A3E5-D46416216A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8475" y="1942605"/>
            <a:ext cx="1731962" cy="46196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公差带代号</a:t>
            </a:r>
          </a:p>
        </p:txBody>
      </p:sp>
      <p:sp>
        <p:nvSpPr>
          <p:cNvPr id="9" name="Text Box 10">
            <a:extLst>
              <a:ext uri="{FF2B5EF4-FFF2-40B4-BE49-F238E27FC236}">
                <a16:creationId xmlns:a16="http://schemas.microsoft.com/office/drawing/2014/main" id="{7287D74B-C2F5-41B6-B1BC-BD6A29F33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11912" y="1941017"/>
            <a:ext cx="493713" cy="461963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－</a:t>
            </a:r>
          </a:p>
        </p:txBody>
      </p:sp>
      <p:sp>
        <p:nvSpPr>
          <p:cNvPr id="10" name="Text Box 11">
            <a:extLst>
              <a:ext uri="{FF2B5EF4-FFF2-40B4-BE49-F238E27FC236}">
                <a16:creationId xmlns:a16="http://schemas.microsoft.com/office/drawing/2014/main" id="{59D21316-246A-4FB6-B683-4D987B9FA0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38406" y="1943397"/>
            <a:ext cx="2039938" cy="46196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旋合长度代号</a:t>
            </a:r>
          </a:p>
        </p:txBody>
      </p:sp>
      <p:grpSp>
        <p:nvGrpSpPr>
          <p:cNvPr id="11" name="Group 15">
            <a:extLst>
              <a:ext uri="{FF2B5EF4-FFF2-40B4-BE49-F238E27FC236}">
                <a16:creationId xmlns:a16="http://schemas.microsoft.com/office/drawing/2014/main" id="{CAD7A08A-AB79-40F1-9738-818FDC5D5025}"/>
              </a:ext>
            </a:extLst>
          </p:cNvPr>
          <p:cNvGrpSpPr>
            <a:grpSpLocks/>
          </p:cNvGrpSpPr>
          <p:nvPr/>
        </p:nvGrpSpPr>
        <p:grpSpPr bwMode="auto">
          <a:xfrm>
            <a:off x="5701480" y="2394546"/>
            <a:ext cx="993775" cy="1093787"/>
            <a:chOff x="4813" y="1077"/>
            <a:chExt cx="626" cy="689"/>
          </a:xfrm>
        </p:grpSpPr>
        <p:sp>
          <p:nvSpPr>
            <p:cNvPr id="12" name="Text Box 16">
              <a:extLst>
                <a:ext uri="{FF2B5EF4-FFF2-40B4-BE49-F238E27FC236}">
                  <a16:creationId xmlns:a16="http://schemas.microsoft.com/office/drawing/2014/main" id="{FE9F13E6-B8FA-4EAD-A932-6274852B4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13" y="1320"/>
              <a:ext cx="626" cy="44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kumimoji="0" lang="zh-CN" altLang="en-US" sz="2000" dirty="0">
                  <a:solidFill>
                    <a:schemeClr val="accent2"/>
                  </a:solidFill>
                  <a:latin typeface="+mn-ea"/>
                  <a:ea typeface="+mn-ea"/>
                </a:rPr>
                <a:t>右旋</a:t>
              </a:r>
            </a:p>
            <a:p>
              <a:pPr algn="ctr" eaLnBrk="1" hangingPunct="1">
                <a:defRPr/>
              </a:pPr>
              <a:r>
                <a:rPr kumimoji="0" lang="zh-CN" altLang="en-US" sz="2000" dirty="0">
                  <a:solidFill>
                    <a:schemeClr val="accent2"/>
                  </a:solidFill>
                  <a:latin typeface="+mn-ea"/>
                  <a:ea typeface="+mn-ea"/>
                </a:rPr>
                <a:t>左旋</a:t>
              </a:r>
            </a:p>
          </p:txBody>
        </p:sp>
        <p:sp>
          <p:nvSpPr>
            <p:cNvPr id="13" name="Line 17">
              <a:extLst>
                <a:ext uri="{FF2B5EF4-FFF2-40B4-BE49-F238E27FC236}">
                  <a16:creationId xmlns:a16="http://schemas.microsoft.com/office/drawing/2014/main" id="{629E96F0-5798-4A5E-9F46-967BFD10C6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79" y="1077"/>
              <a:ext cx="0" cy="24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000">
                <a:latin typeface="+mn-ea"/>
                <a:ea typeface="+mn-ea"/>
              </a:endParaRPr>
            </a:p>
          </p:txBody>
        </p:sp>
      </p:grpSp>
      <p:grpSp>
        <p:nvGrpSpPr>
          <p:cNvPr id="14" name="Group 18">
            <a:extLst>
              <a:ext uri="{FF2B5EF4-FFF2-40B4-BE49-F238E27FC236}">
                <a16:creationId xmlns:a16="http://schemas.microsoft.com/office/drawing/2014/main" id="{7BFB9A23-81AC-4874-AFEF-A9ECE178A141}"/>
              </a:ext>
            </a:extLst>
          </p:cNvPr>
          <p:cNvGrpSpPr>
            <a:grpSpLocks/>
          </p:cNvGrpSpPr>
          <p:nvPr/>
        </p:nvGrpSpPr>
        <p:grpSpPr bwMode="auto">
          <a:xfrm>
            <a:off x="9151119" y="2415877"/>
            <a:ext cx="2019300" cy="709613"/>
            <a:chOff x="2323" y="1622"/>
            <a:chExt cx="1520" cy="447"/>
          </a:xfrm>
        </p:grpSpPr>
        <p:sp>
          <p:nvSpPr>
            <p:cNvPr id="15" name="Text Box 19">
              <a:extLst>
                <a:ext uri="{FF2B5EF4-FFF2-40B4-BE49-F238E27FC236}">
                  <a16:creationId xmlns:a16="http://schemas.microsoft.com/office/drawing/2014/main" id="{60973BE9-46AB-41F5-83C3-3220071648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23" y="1817"/>
              <a:ext cx="1520" cy="252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defRPr/>
              </a:pPr>
              <a:r>
                <a:rPr lang="zh-CN" altLang="en-US" sz="2000" dirty="0">
                  <a:solidFill>
                    <a:schemeClr val="accent2"/>
                  </a:solidFill>
                  <a:latin typeface="+mn-ea"/>
                  <a:ea typeface="+mn-ea"/>
                </a:rPr>
                <a:t>长：</a:t>
              </a:r>
              <a:r>
                <a:rPr lang="en-US" altLang="zh-CN" sz="2000" dirty="0">
                  <a:solidFill>
                    <a:schemeClr val="accent2"/>
                  </a:solidFill>
                  <a:latin typeface="+mn-ea"/>
                  <a:ea typeface="+mn-ea"/>
                </a:rPr>
                <a:t>L </a:t>
              </a:r>
              <a:r>
                <a:rPr lang="zh-CN" altLang="zh-CN" sz="2000" dirty="0">
                  <a:solidFill>
                    <a:schemeClr val="accent2"/>
                  </a:solidFill>
                  <a:latin typeface="+mn-ea"/>
                  <a:ea typeface="+mn-ea"/>
                </a:rPr>
                <a:t>中等：</a:t>
              </a:r>
              <a:r>
                <a:rPr lang="en-US" altLang="zh-CN" sz="2000" dirty="0">
                  <a:solidFill>
                    <a:schemeClr val="accent2"/>
                  </a:solidFill>
                  <a:latin typeface="+mn-ea"/>
                  <a:ea typeface="+mn-ea"/>
                </a:rPr>
                <a:t>N</a:t>
              </a:r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8C280BE1-F64B-4D2A-8683-7BAEAF7132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05" y="1622"/>
              <a:ext cx="0" cy="208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000">
                <a:latin typeface="+mn-ea"/>
                <a:ea typeface="+mn-ea"/>
              </a:endParaRPr>
            </a:p>
          </p:txBody>
        </p:sp>
      </p:grpSp>
      <p:grpSp>
        <p:nvGrpSpPr>
          <p:cNvPr id="17" name="Group 21">
            <a:extLst>
              <a:ext uri="{FF2B5EF4-FFF2-40B4-BE49-F238E27FC236}">
                <a16:creationId xmlns:a16="http://schemas.microsoft.com/office/drawing/2014/main" id="{1FD77842-8AF3-49E8-9631-580105B35516}"/>
              </a:ext>
            </a:extLst>
          </p:cNvPr>
          <p:cNvGrpSpPr>
            <a:grpSpLocks/>
          </p:cNvGrpSpPr>
          <p:nvPr/>
        </p:nvGrpSpPr>
        <p:grpSpPr bwMode="auto">
          <a:xfrm>
            <a:off x="7188968" y="2391371"/>
            <a:ext cx="1474787" cy="1025525"/>
            <a:chOff x="897" y="1635"/>
            <a:chExt cx="929" cy="646"/>
          </a:xfrm>
        </p:grpSpPr>
        <p:sp>
          <p:nvSpPr>
            <p:cNvPr id="18" name="Text Box 22">
              <a:extLst>
                <a:ext uri="{FF2B5EF4-FFF2-40B4-BE49-F238E27FC236}">
                  <a16:creationId xmlns:a16="http://schemas.microsoft.com/office/drawing/2014/main" id="{18867802-53A7-49CC-B1AC-18687473623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97" y="1835"/>
              <a:ext cx="929" cy="446"/>
            </a:xfrm>
            <a:prstGeom prst="rect">
              <a:avLst/>
            </a:prstGeom>
            <a:noFill/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defRPr/>
              </a:pPr>
              <a:r>
                <a:rPr lang="zh-CN" altLang="en-US" sz="2000" dirty="0">
                  <a:solidFill>
                    <a:schemeClr val="accent2"/>
                  </a:solidFill>
                  <a:latin typeface="+mn-ea"/>
                  <a:ea typeface="+mn-ea"/>
                </a:rPr>
                <a:t>中</a:t>
              </a:r>
              <a:r>
                <a:rPr kumimoji="0" lang="zh-CN" altLang="en-US" sz="2000" dirty="0">
                  <a:solidFill>
                    <a:schemeClr val="accent2"/>
                  </a:solidFill>
                  <a:latin typeface="+mn-ea"/>
                  <a:ea typeface="+mn-ea"/>
                </a:rPr>
                <a:t>径</a:t>
              </a:r>
              <a:endParaRPr lang="zh-CN" altLang="en-US" sz="2000" dirty="0">
                <a:solidFill>
                  <a:schemeClr val="accent2"/>
                </a:solidFill>
                <a:latin typeface="+mn-ea"/>
                <a:ea typeface="+mn-ea"/>
              </a:endParaRPr>
            </a:p>
            <a:p>
              <a:pPr algn="ctr" eaLnBrk="1" hangingPunct="1">
                <a:defRPr/>
              </a:pPr>
              <a:r>
                <a:rPr lang="zh-CN" altLang="en-US" sz="2000" dirty="0">
                  <a:solidFill>
                    <a:schemeClr val="accent2"/>
                  </a:solidFill>
                  <a:latin typeface="+mn-ea"/>
                  <a:ea typeface="+mn-ea"/>
                </a:rPr>
                <a:t>公差带代号</a:t>
              </a:r>
            </a:p>
          </p:txBody>
        </p:sp>
        <p:sp>
          <p:nvSpPr>
            <p:cNvPr id="19" name="Line 23">
              <a:extLst>
                <a:ext uri="{FF2B5EF4-FFF2-40B4-BE49-F238E27FC236}">
                  <a16:creationId xmlns:a16="http://schemas.microsoft.com/office/drawing/2014/main" id="{6518CDFF-53E7-49FA-BFF3-FEA1FDAF5A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75" y="1635"/>
              <a:ext cx="0" cy="195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pPr>
                <a:defRPr/>
              </a:pPr>
              <a:endParaRPr lang="zh-CN" altLang="en-US" sz="2000">
                <a:latin typeface="+mn-ea"/>
                <a:ea typeface="+mn-ea"/>
              </a:endParaRPr>
            </a:p>
          </p:txBody>
        </p:sp>
      </p:grpSp>
      <p:sp>
        <p:nvSpPr>
          <p:cNvPr id="20" name="Text Box 24">
            <a:extLst>
              <a:ext uri="{FF2B5EF4-FFF2-40B4-BE49-F238E27FC236}">
                <a16:creationId xmlns:a16="http://schemas.microsoft.com/office/drawing/2014/main" id="{81326A46-26CB-4218-8A0F-55791791DB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87950" y="1944192"/>
            <a:ext cx="493712" cy="461963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－</a:t>
            </a:r>
          </a:p>
        </p:txBody>
      </p:sp>
      <p:sp>
        <p:nvSpPr>
          <p:cNvPr id="21" name="Text Box 10">
            <a:extLst>
              <a:ext uri="{FF2B5EF4-FFF2-40B4-BE49-F238E27FC236}">
                <a16:creationId xmlns:a16="http://schemas.microsoft.com/office/drawing/2014/main" id="{7D5B9EB1-0902-4A73-ACC4-1DE3AE1331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63756" y="1930697"/>
            <a:ext cx="495300" cy="46037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－</a:t>
            </a:r>
          </a:p>
        </p:txBody>
      </p:sp>
      <p:sp>
        <p:nvSpPr>
          <p:cNvPr id="22" name="Text Box 12">
            <a:extLst>
              <a:ext uri="{FF2B5EF4-FFF2-40B4-BE49-F238E27FC236}">
                <a16:creationId xmlns:a16="http://schemas.microsoft.com/office/drawing/2014/main" id="{C2761846-5C6F-4A9F-B018-2813122E2E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4651" y="4167504"/>
            <a:ext cx="2197100" cy="461962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dirty="0">
                <a:solidFill>
                  <a:srgbClr val="002060"/>
                </a:solidFill>
                <a:latin typeface="+mn-ea"/>
                <a:ea typeface="+mn-ea"/>
              </a:rPr>
              <a:t>☆</a:t>
            </a:r>
            <a:r>
              <a:rPr kumimoji="0" lang="zh-CN" altLang="en-US" dirty="0">
                <a:solidFill>
                  <a:srgbClr val="002060"/>
                </a:solidFill>
                <a:latin typeface="+mn-ea"/>
                <a:ea typeface="+mn-ea"/>
              </a:rPr>
              <a:t>尺寸代号 ：</a:t>
            </a:r>
            <a:endParaRPr lang="zh-CN" altLang="en-US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23" name="Text Box 13">
            <a:extLst>
              <a:ext uri="{FF2B5EF4-FFF2-40B4-BE49-F238E27FC236}">
                <a16:creationId xmlns:a16="http://schemas.microsoft.com/office/drawing/2014/main" id="{7161F56D-3131-426F-ABE1-3E542B929A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7848" y="5865483"/>
            <a:ext cx="6027738" cy="461963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dirty="0">
                <a:solidFill>
                  <a:srgbClr val="002060"/>
                </a:solidFill>
                <a:latin typeface="+mn-ea"/>
                <a:ea typeface="+mn-ea"/>
              </a:rPr>
              <a:t>☆</a:t>
            </a:r>
            <a:r>
              <a:rPr kumimoji="0" lang="zh-CN" altLang="en-US" dirty="0">
                <a:solidFill>
                  <a:srgbClr val="002060"/>
                </a:solidFill>
                <a:latin typeface="+mn-ea"/>
                <a:ea typeface="+mn-ea"/>
              </a:rPr>
              <a:t>旋合长度</a:t>
            </a:r>
            <a:r>
              <a:rPr kumimoji="0" lang="en-US" altLang="zh-CN" dirty="0">
                <a:solidFill>
                  <a:srgbClr val="002060"/>
                </a:solidFill>
                <a:latin typeface="+mn-ea"/>
                <a:ea typeface="+mn-ea"/>
              </a:rPr>
              <a:t>:</a:t>
            </a:r>
            <a:r>
              <a:rPr lang="zh-CN" altLang="en-US" dirty="0">
                <a:solidFill>
                  <a:srgbClr val="002060"/>
                </a:solidFill>
              </a:rPr>
              <a:t>梯形、锯齿形螺纹只分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L</a:t>
            </a:r>
            <a:r>
              <a:rPr lang="zh-CN" altLang="en-US" dirty="0">
                <a:solidFill>
                  <a:srgbClr val="002060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4" name="Text Box 14">
            <a:extLst>
              <a:ext uri="{FF2B5EF4-FFF2-40B4-BE49-F238E27FC236}">
                <a16:creationId xmlns:a16="http://schemas.microsoft.com/office/drawing/2014/main" id="{59972FF0-4F41-4463-AAF1-E897FD115F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779" y="6310994"/>
            <a:ext cx="7921625" cy="461963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kumimoji="0" lang="en-US" altLang="zh-CN" dirty="0">
                <a:solidFill>
                  <a:srgbClr val="002060"/>
                </a:solidFill>
                <a:latin typeface="+mn-ea"/>
                <a:ea typeface="+mn-ea"/>
              </a:rPr>
              <a:t>☆</a:t>
            </a:r>
            <a:r>
              <a:rPr kumimoji="0" lang="zh-CN" altLang="en-US" dirty="0">
                <a:solidFill>
                  <a:srgbClr val="002060"/>
                </a:solidFill>
                <a:latin typeface="+mn-ea"/>
                <a:ea typeface="+mn-ea"/>
              </a:rPr>
              <a:t>旋向代号。右旋螺纹不用标注旋向，左旋时则标注</a:t>
            </a:r>
            <a:r>
              <a:rPr kumimoji="0" lang="en-US" altLang="zh-CN" dirty="0">
                <a:solidFill>
                  <a:srgbClr val="002060"/>
                </a:solidFill>
                <a:latin typeface="+mn-ea"/>
                <a:ea typeface="+mn-ea"/>
              </a:rPr>
              <a:t>LH</a:t>
            </a:r>
            <a:r>
              <a:rPr kumimoji="0" lang="zh-CN" altLang="en-US" dirty="0">
                <a:solidFill>
                  <a:srgbClr val="002060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25" name="Text Box 26">
            <a:extLst>
              <a:ext uri="{FF2B5EF4-FFF2-40B4-BE49-F238E27FC236}">
                <a16:creationId xmlns:a16="http://schemas.microsoft.com/office/drawing/2014/main" id="{ED473C4C-B3FA-481C-97E9-67DB065B39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4651" y="3551482"/>
            <a:ext cx="8189912" cy="461963"/>
          </a:xfrm>
          <a:prstGeom prst="rect">
            <a:avLst/>
          </a:prstGeom>
          <a:noFill/>
          <a:ln>
            <a:noFill/>
          </a:ln>
        </p:spPr>
        <p:txBody>
          <a:bodyPr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rgbClr val="002060"/>
                </a:solidFill>
                <a:latin typeface="+mn-ea"/>
                <a:ea typeface="+mn-ea"/>
              </a:rPr>
              <a:t>☆</a:t>
            </a:r>
            <a:r>
              <a:rPr lang="zh-CN" altLang="en-US" dirty="0">
                <a:solidFill>
                  <a:srgbClr val="002060"/>
                </a:solidFill>
                <a:latin typeface="+mn-ea"/>
                <a:ea typeface="+mn-ea"/>
              </a:rPr>
              <a:t>螺纹特征代号</a:t>
            </a:r>
            <a:r>
              <a:rPr lang="en-US" altLang="zh-CN" dirty="0">
                <a:solidFill>
                  <a:srgbClr val="002060"/>
                </a:solidFill>
                <a:latin typeface="+mn-ea"/>
                <a:ea typeface="+mn-ea"/>
              </a:rPr>
              <a:t>:</a:t>
            </a:r>
            <a:r>
              <a:rPr lang="zh-CN" altLang="en-US" dirty="0">
                <a:solidFill>
                  <a:srgbClr val="FF0000"/>
                </a:solidFill>
              </a:rPr>
              <a:t>梯形螺纹 “</a:t>
            </a:r>
            <a:r>
              <a:rPr lang="en-US" dirty="0" err="1">
                <a:solidFill>
                  <a:srgbClr val="FF0000"/>
                </a:solidFill>
              </a:rPr>
              <a:t>Tr</a:t>
            </a:r>
            <a:r>
              <a:rPr lang="zh-CN" altLang="en-US" dirty="0">
                <a:solidFill>
                  <a:srgbClr val="FF0000"/>
                </a:solidFill>
              </a:rPr>
              <a:t>” ；锯齿形螺纹 “</a:t>
            </a:r>
            <a:r>
              <a:rPr lang="en-US" dirty="0">
                <a:solidFill>
                  <a:srgbClr val="FF0000"/>
                </a:solidFill>
              </a:rPr>
              <a:t>B</a:t>
            </a:r>
            <a:r>
              <a:rPr lang="zh-CN" altLang="en-US" dirty="0">
                <a:solidFill>
                  <a:srgbClr val="FF0000"/>
                </a:solidFill>
              </a:rPr>
              <a:t>” 。</a:t>
            </a:r>
            <a:endParaRPr lang="zh-CN" altLang="en-US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6" name="Text Box 29">
            <a:extLst>
              <a:ext uri="{FF2B5EF4-FFF2-40B4-BE49-F238E27FC236}">
                <a16:creationId xmlns:a16="http://schemas.microsoft.com/office/drawing/2014/main" id="{6C4217CA-2EB4-4609-B3A8-56DD99EC02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2779" y="5270387"/>
            <a:ext cx="9962357" cy="461665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rgbClr val="002060"/>
                </a:solidFill>
                <a:latin typeface="+mn-ea"/>
                <a:ea typeface="+mn-ea"/>
              </a:rPr>
              <a:t>☆</a:t>
            </a:r>
            <a:r>
              <a:rPr lang="zh-CN" altLang="en-US" dirty="0">
                <a:solidFill>
                  <a:srgbClr val="002060"/>
                </a:solidFill>
                <a:latin typeface="+mn-ea"/>
                <a:ea typeface="+mn-ea"/>
              </a:rPr>
              <a:t>公差带代号</a:t>
            </a:r>
            <a:r>
              <a:rPr lang="en-US" altLang="zh-CN" dirty="0">
                <a:solidFill>
                  <a:srgbClr val="002060"/>
                </a:solidFill>
                <a:latin typeface="+mn-ea"/>
                <a:ea typeface="+mn-ea"/>
              </a:rPr>
              <a:t>:</a:t>
            </a:r>
            <a:r>
              <a:rPr lang="zh-CN" altLang="en-US" dirty="0">
                <a:solidFill>
                  <a:srgbClr val="002060"/>
                </a:solidFill>
              </a:rPr>
              <a:t>由于顶径的公差带代号是唯一的，只注中径的公差带代号。</a:t>
            </a:r>
            <a:endParaRPr lang="zh-CN" altLang="en-US" dirty="0">
              <a:solidFill>
                <a:srgbClr val="002060"/>
              </a:solidFill>
              <a:latin typeface="+mn-ea"/>
              <a:ea typeface="+mn-ea"/>
            </a:endParaRPr>
          </a:p>
        </p:txBody>
      </p:sp>
      <p:sp>
        <p:nvSpPr>
          <p:cNvPr id="27" name="Text Box 5">
            <a:extLst>
              <a:ext uri="{FF2B5EF4-FFF2-40B4-BE49-F238E27FC236}">
                <a16:creationId xmlns:a16="http://schemas.microsoft.com/office/drawing/2014/main" id="{91A42156-0F7B-473B-973A-2BC09EBEB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9076" y="4216975"/>
            <a:ext cx="1114408" cy="36933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b="1"/>
              <a:t>公称直径</a:t>
            </a:r>
          </a:p>
        </p:txBody>
      </p:sp>
      <p:sp>
        <p:nvSpPr>
          <p:cNvPr id="28" name="Text Box 6">
            <a:extLst>
              <a:ext uri="{FF2B5EF4-FFF2-40B4-BE49-F238E27FC236}">
                <a16:creationId xmlns:a16="http://schemas.microsoft.com/office/drawing/2014/main" id="{82F6982F-5335-49D0-8896-7EF3D5D5F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2037" y="4210625"/>
            <a:ext cx="4171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altLang="zh-CN" b="1" dirty="0"/>
              <a:t>×</a:t>
            </a:r>
          </a:p>
        </p:txBody>
      </p:sp>
      <p:sp>
        <p:nvSpPr>
          <p:cNvPr id="29" name="Text Box 7">
            <a:extLst>
              <a:ext uri="{FF2B5EF4-FFF2-40B4-BE49-F238E27FC236}">
                <a16:creationId xmlns:a16="http://schemas.microsoft.com/office/drawing/2014/main" id="{380B9D0F-3084-48F7-913C-7C942DF01A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1244" y="4216975"/>
            <a:ext cx="1502334" cy="36933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b="1"/>
              <a:t>导程</a:t>
            </a:r>
            <a:r>
              <a:rPr lang="en-US" altLang="zh-CN" b="1">
                <a:latin typeface="宋体" pitchFamily="2" charset="-122"/>
              </a:rPr>
              <a:t>(</a:t>
            </a:r>
            <a:r>
              <a:rPr lang="en-US" altLang="zh-CN" b="1"/>
              <a:t>P</a:t>
            </a:r>
            <a:r>
              <a:rPr lang="zh-CN" altLang="en-US" b="1"/>
              <a:t>螺距</a:t>
            </a:r>
            <a:r>
              <a:rPr lang="en-US" altLang="zh-CN" b="1">
                <a:latin typeface="宋体" pitchFamily="2" charset="-122"/>
              </a:rPr>
              <a:t>)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4805D04-2BDF-44E5-BFC1-3B579E5ECE20}"/>
              </a:ext>
            </a:extLst>
          </p:cNvPr>
          <p:cNvSpPr/>
          <p:nvPr/>
        </p:nvSpPr>
        <p:spPr>
          <a:xfrm>
            <a:off x="3882817" y="4223982"/>
            <a:ext cx="6495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solidFill>
                  <a:srgbClr val="002060"/>
                </a:solidFill>
                <a:latin typeface="+mn-ea"/>
              </a:rPr>
              <a:t>单线</a:t>
            </a:r>
            <a:endParaRPr lang="zh-CN" altLang="en-US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:a16="http://schemas.microsoft.com/office/drawing/2014/main" id="{B61BA5D1-E736-4F0C-9ACC-070A9692DE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68570" y="4691359"/>
            <a:ext cx="1114408" cy="36933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b="1"/>
              <a:t>公称直径</a:t>
            </a:r>
          </a:p>
        </p:txBody>
      </p:sp>
      <p:sp>
        <p:nvSpPr>
          <p:cNvPr id="32" name="Text Box 6">
            <a:extLst>
              <a:ext uri="{FF2B5EF4-FFF2-40B4-BE49-F238E27FC236}">
                <a16:creationId xmlns:a16="http://schemas.microsoft.com/office/drawing/2014/main" id="{C21103D2-C7E8-4E14-B4CC-5EE8A2752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9747" y="4714436"/>
            <a:ext cx="41710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en-US" altLang="zh-CN" b="1" dirty="0"/>
              <a:t>×</a:t>
            </a:r>
          </a:p>
        </p:txBody>
      </p:sp>
      <p:sp>
        <p:nvSpPr>
          <p:cNvPr id="33" name="Text Box 7">
            <a:extLst>
              <a:ext uri="{FF2B5EF4-FFF2-40B4-BE49-F238E27FC236}">
                <a16:creationId xmlns:a16="http://schemas.microsoft.com/office/drawing/2014/main" id="{41E28975-D12B-477B-8724-FBCD81A6F6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7367" y="4720786"/>
            <a:ext cx="1422184" cy="369332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zh-CN" altLang="en-US" b="1"/>
              <a:t>导程</a:t>
            </a:r>
            <a:r>
              <a:rPr lang="en-US" altLang="zh-CN" b="1"/>
              <a:t>(P</a:t>
            </a:r>
            <a:r>
              <a:rPr lang="zh-CN" altLang="en-US" b="1"/>
              <a:t>螺距</a:t>
            </a:r>
            <a:r>
              <a:rPr lang="en-US" altLang="zh-CN" b="1"/>
              <a:t>)</a:t>
            </a:r>
            <a:endParaRPr lang="en-US" altLang="zh-CN" b="1">
              <a:latin typeface="宋体" pitchFamily="2" charset="-122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3C419F43-0B4D-4222-ACC8-A6D0C29B7C09}"/>
              </a:ext>
            </a:extLst>
          </p:cNvPr>
          <p:cNvSpPr/>
          <p:nvPr/>
        </p:nvSpPr>
        <p:spPr>
          <a:xfrm>
            <a:off x="3848867" y="4717275"/>
            <a:ext cx="18117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kumimoji="0" lang="zh-CN" altLang="en-US" b="1" dirty="0">
                <a:solidFill>
                  <a:srgbClr val="002060"/>
                </a:solidFill>
                <a:latin typeface="+mn-ea"/>
              </a:rPr>
              <a:t>多线尺寸代号：</a:t>
            </a:r>
            <a:endParaRPr lang="zh-CN" altLang="en-US" b="1" dirty="0">
              <a:solidFill>
                <a:srgbClr val="002060"/>
              </a:solidFill>
              <a:latin typeface="+mn-ea"/>
            </a:endParaRPr>
          </a:p>
        </p:txBody>
      </p:sp>
      <p:sp>
        <p:nvSpPr>
          <p:cNvPr id="35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523733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500"/>
                            </p:stCondLst>
                            <p:childTnLst>
                              <p:par>
                                <p:cTn id="10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 autoUpdateAnimBg="0"/>
      <p:bldP spid="6" grpId="0" animBg="1" autoUpdateAnimBg="0"/>
      <p:bldP spid="7" grpId="0" animBg="1" autoUpdateAnimBg="0"/>
      <p:bldP spid="8" grpId="0" animBg="1" autoUpdateAnimBg="0"/>
      <p:bldP spid="9" grpId="0" autoUpdateAnimBg="0"/>
      <p:bldP spid="10" grpId="0" animBg="1" autoUpdateAnimBg="0"/>
      <p:bldP spid="20" grpId="0" autoUpdateAnimBg="0"/>
      <p:bldP spid="21" grpId="0" autoUpdateAnimBg="0"/>
      <p:bldP spid="22" grpId="0" autoUpdateAnimBg="0"/>
      <p:bldP spid="23" grpId="0" autoUpdateAnimBg="0"/>
      <p:bldP spid="24" grpId="0" autoUpdateAnimBg="0"/>
      <p:bldP spid="25" grpId="0"/>
      <p:bldP spid="26" grpId="0" autoUpdateAnimBg="0"/>
      <p:bldP spid="27" grpId="0" animBg="1" autoUpdateAnimBg="0"/>
      <p:bldP spid="28" grpId="0" autoUpdateAnimBg="0"/>
      <p:bldP spid="29" grpId="0" animBg="1" autoUpdateAnimBg="0"/>
      <p:bldP spid="30" grpId="0"/>
      <p:bldP spid="31" grpId="0" animBg="1" autoUpdateAnimBg="0"/>
      <p:bldP spid="32" grpId="0" autoUpdateAnimBg="0"/>
      <p:bldP spid="33" grpId="0" animBg="1" autoUpdateAnimBg="0"/>
      <p:bldP spid="3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3">
            <a:extLst>
              <a:ext uri="{FF2B5EF4-FFF2-40B4-BE49-F238E27FC236}">
                <a16:creationId xmlns:a16="http://schemas.microsoft.com/office/drawing/2014/main" id="{D49600C2-2DD0-4A88-BDC4-38FCDDD92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10609" y="1917430"/>
            <a:ext cx="3280209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kumimoji="0" lang="en-US" altLang="zh-CN" sz="2000" b="1" dirty="0">
                <a:solidFill>
                  <a:srgbClr val="CC0099"/>
                </a:solidFill>
              </a:rPr>
              <a:t>Tr40×14(P7)</a:t>
            </a:r>
            <a:r>
              <a:rPr kumimoji="0" lang="zh-CN" altLang="en-US" sz="2000" b="1" dirty="0">
                <a:solidFill>
                  <a:srgbClr val="CC0099"/>
                </a:solidFill>
              </a:rPr>
              <a:t>－</a:t>
            </a:r>
            <a:r>
              <a:rPr kumimoji="0" lang="en-US" altLang="zh-CN" sz="2000" b="1" dirty="0">
                <a:solidFill>
                  <a:srgbClr val="CC0099"/>
                </a:solidFill>
              </a:rPr>
              <a:t>7H</a:t>
            </a:r>
            <a:r>
              <a:rPr kumimoji="0" lang="zh-CN" altLang="en-US" sz="2000" b="1" dirty="0">
                <a:solidFill>
                  <a:srgbClr val="CC0099"/>
                </a:solidFill>
              </a:rPr>
              <a:t>－</a:t>
            </a:r>
            <a:r>
              <a:rPr kumimoji="0" lang="en-US" altLang="zh-CN" sz="2000" b="1" dirty="0">
                <a:solidFill>
                  <a:srgbClr val="CC0099"/>
                </a:solidFill>
              </a:rPr>
              <a:t>L</a:t>
            </a:r>
          </a:p>
        </p:txBody>
      </p:sp>
      <p:grpSp>
        <p:nvGrpSpPr>
          <p:cNvPr id="3" name="Group 34">
            <a:extLst>
              <a:ext uri="{FF2B5EF4-FFF2-40B4-BE49-F238E27FC236}">
                <a16:creationId xmlns:a16="http://schemas.microsoft.com/office/drawing/2014/main" id="{2D62604B-9069-449E-8964-FF4C5CF50189}"/>
              </a:ext>
            </a:extLst>
          </p:cNvPr>
          <p:cNvGrpSpPr>
            <a:grpSpLocks/>
          </p:cNvGrpSpPr>
          <p:nvPr/>
        </p:nvGrpSpPr>
        <p:grpSpPr bwMode="auto">
          <a:xfrm>
            <a:off x="2791030" y="2285279"/>
            <a:ext cx="2241550" cy="619125"/>
            <a:chOff x="363" y="2555"/>
            <a:chExt cx="1412" cy="390"/>
          </a:xfrm>
        </p:grpSpPr>
        <p:sp>
          <p:nvSpPr>
            <p:cNvPr id="4" name="Text Box 35">
              <a:extLst>
                <a:ext uri="{FF2B5EF4-FFF2-40B4-BE49-F238E27FC236}">
                  <a16:creationId xmlns:a16="http://schemas.microsoft.com/office/drawing/2014/main" id="{F5CB0C9A-6403-482B-84D4-1D2C484F9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" y="2685"/>
              <a:ext cx="141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000" b="1">
                  <a:solidFill>
                    <a:srgbClr val="008000"/>
                  </a:solidFill>
                </a:rPr>
                <a:t>梯形螺纹</a:t>
              </a:r>
            </a:p>
          </p:txBody>
        </p:sp>
        <p:sp>
          <p:nvSpPr>
            <p:cNvPr id="5" name="Freeform 36">
              <a:extLst>
                <a:ext uri="{FF2B5EF4-FFF2-40B4-BE49-F238E27FC236}">
                  <a16:creationId xmlns:a16="http://schemas.microsoft.com/office/drawing/2014/main" id="{C4332BDE-0758-460C-8F8C-32114052B2D6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" y="2940"/>
              <a:ext cx="1005" cy="5"/>
            </a:xfrm>
            <a:custGeom>
              <a:avLst/>
              <a:gdLst>
                <a:gd name="T0" fmla="*/ 0 w 1005"/>
                <a:gd name="T1" fmla="*/ 5 h 5"/>
                <a:gd name="T2" fmla="*/ 1005 w 1005"/>
                <a:gd name="T3" fmla="*/ 0 h 5"/>
                <a:gd name="T4" fmla="*/ 0 60000 65536"/>
                <a:gd name="T5" fmla="*/ 0 60000 65536"/>
                <a:gd name="T6" fmla="*/ 0 w 1005"/>
                <a:gd name="T7" fmla="*/ 0 h 5"/>
                <a:gd name="T8" fmla="*/ 1005 w 1005"/>
                <a:gd name="T9" fmla="*/ 5 h 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5" h="5">
                  <a:moveTo>
                    <a:pt x="0" y="5"/>
                  </a:moveTo>
                  <a:lnTo>
                    <a:pt x="1005" y="0"/>
                  </a:ln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  <p:sp>
          <p:nvSpPr>
            <p:cNvPr id="6" name="Line 37">
              <a:extLst>
                <a:ext uri="{FF2B5EF4-FFF2-40B4-BE49-F238E27FC236}">
                  <a16:creationId xmlns:a16="http://schemas.microsoft.com/office/drawing/2014/main" id="{7836F9C5-5308-4B38-8C84-F52BDFF5EA7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589" y="2555"/>
              <a:ext cx="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</p:grpSp>
      <p:grpSp>
        <p:nvGrpSpPr>
          <p:cNvPr id="7" name="Group 38">
            <a:extLst>
              <a:ext uri="{FF2B5EF4-FFF2-40B4-BE49-F238E27FC236}">
                <a16:creationId xmlns:a16="http://schemas.microsoft.com/office/drawing/2014/main" id="{ACFC8B76-5702-487E-92B7-A083582A7385}"/>
              </a:ext>
            </a:extLst>
          </p:cNvPr>
          <p:cNvGrpSpPr>
            <a:grpSpLocks/>
          </p:cNvGrpSpPr>
          <p:nvPr/>
        </p:nvGrpSpPr>
        <p:grpSpPr bwMode="auto">
          <a:xfrm>
            <a:off x="2572012" y="2296108"/>
            <a:ext cx="2520950" cy="1090612"/>
            <a:chOff x="317" y="2577"/>
            <a:chExt cx="1588" cy="687"/>
          </a:xfrm>
        </p:grpSpPr>
        <p:sp>
          <p:nvSpPr>
            <p:cNvPr id="8" name="Text Box 39">
              <a:extLst>
                <a:ext uri="{FF2B5EF4-FFF2-40B4-BE49-F238E27FC236}">
                  <a16:creationId xmlns:a16="http://schemas.microsoft.com/office/drawing/2014/main" id="{4F27D820-3C77-466D-83F4-55145BC88F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7" y="3012"/>
              <a:ext cx="158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000" b="1">
                  <a:solidFill>
                    <a:srgbClr val="008000"/>
                  </a:solidFill>
                </a:rPr>
                <a:t>大径</a:t>
              </a:r>
              <a:r>
                <a:rPr lang="en-US" altLang="zh-CN" sz="2000" b="1">
                  <a:solidFill>
                    <a:srgbClr val="008000"/>
                  </a:solidFill>
                </a:rPr>
                <a:t>D</a:t>
              </a:r>
              <a:r>
                <a:rPr lang="zh-CN" altLang="en-US" sz="2000" b="1">
                  <a:solidFill>
                    <a:srgbClr val="008000"/>
                  </a:solidFill>
                </a:rPr>
                <a:t>＝</a:t>
              </a:r>
              <a:r>
                <a:rPr lang="en-US" altLang="zh-CN" sz="2000" b="1">
                  <a:solidFill>
                    <a:srgbClr val="008000"/>
                  </a:solidFill>
                </a:rPr>
                <a:t>40</a:t>
              </a:r>
            </a:p>
          </p:txBody>
        </p:sp>
        <p:sp>
          <p:nvSpPr>
            <p:cNvPr id="9" name="Line 40">
              <a:extLst>
                <a:ext uri="{FF2B5EF4-FFF2-40B4-BE49-F238E27FC236}">
                  <a16:creationId xmlns:a16="http://schemas.microsoft.com/office/drawing/2014/main" id="{D83061DD-7C38-49C6-804D-B5A14C7B9B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6" y="3254"/>
              <a:ext cx="129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  <p:sp>
          <p:nvSpPr>
            <p:cNvPr id="10" name="Line 41">
              <a:extLst>
                <a:ext uri="{FF2B5EF4-FFF2-40B4-BE49-F238E27FC236}">
                  <a16:creationId xmlns:a16="http://schemas.microsoft.com/office/drawing/2014/main" id="{B731B681-6405-45FD-AEAD-4003C86D998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859" y="2577"/>
              <a:ext cx="0" cy="6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</p:grpSp>
      <p:grpSp>
        <p:nvGrpSpPr>
          <p:cNvPr id="11" name="Group 42">
            <a:extLst>
              <a:ext uri="{FF2B5EF4-FFF2-40B4-BE49-F238E27FC236}">
                <a16:creationId xmlns:a16="http://schemas.microsoft.com/office/drawing/2014/main" id="{646F808C-B192-4546-BB69-1B95ECB43591}"/>
              </a:ext>
            </a:extLst>
          </p:cNvPr>
          <p:cNvGrpSpPr>
            <a:grpSpLocks/>
          </p:cNvGrpSpPr>
          <p:nvPr/>
        </p:nvGrpSpPr>
        <p:grpSpPr bwMode="auto">
          <a:xfrm>
            <a:off x="2435523" y="2310111"/>
            <a:ext cx="3482975" cy="1574800"/>
            <a:chOff x="501" y="2606"/>
            <a:chExt cx="2194" cy="992"/>
          </a:xfrm>
        </p:grpSpPr>
        <p:sp>
          <p:nvSpPr>
            <p:cNvPr id="12" name="Text Box 43">
              <a:extLst>
                <a:ext uri="{FF2B5EF4-FFF2-40B4-BE49-F238E27FC236}">
                  <a16:creationId xmlns:a16="http://schemas.microsoft.com/office/drawing/2014/main" id="{29260AAD-0297-4EA1-AE9B-EB95DB8A8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1" y="3339"/>
              <a:ext cx="2194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000" b="1">
                  <a:solidFill>
                    <a:srgbClr val="008000"/>
                  </a:solidFill>
                </a:rPr>
                <a:t>导程</a:t>
              </a:r>
              <a:r>
                <a:rPr lang="en-US" altLang="zh-CN" sz="2000" b="1">
                  <a:solidFill>
                    <a:srgbClr val="008000"/>
                  </a:solidFill>
                </a:rPr>
                <a:t>14</a:t>
              </a:r>
              <a:r>
                <a:rPr lang="zh-CN" altLang="en-US" sz="2000" b="1">
                  <a:solidFill>
                    <a:srgbClr val="008000"/>
                  </a:solidFill>
                </a:rPr>
                <a:t>螺距</a:t>
              </a:r>
              <a:r>
                <a:rPr lang="en-US" altLang="zh-CN" sz="2000" b="1">
                  <a:solidFill>
                    <a:srgbClr val="008000"/>
                  </a:solidFill>
                </a:rPr>
                <a:t>P7</a:t>
              </a:r>
              <a:r>
                <a:rPr lang="zh-CN" altLang="en-US" sz="2000" b="1">
                  <a:solidFill>
                    <a:srgbClr val="008000"/>
                  </a:solidFill>
                </a:rPr>
                <a:t>线数</a:t>
              </a:r>
              <a:r>
                <a:rPr lang="en-US" altLang="zh-CN" sz="2000" b="1">
                  <a:solidFill>
                    <a:srgbClr val="008000"/>
                  </a:solidFill>
                </a:rPr>
                <a:t>2</a:t>
              </a:r>
            </a:p>
          </p:txBody>
        </p:sp>
        <p:sp>
          <p:nvSpPr>
            <p:cNvPr id="13" name="Line 44">
              <a:extLst>
                <a:ext uri="{FF2B5EF4-FFF2-40B4-BE49-F238E27FC236}">
                  <a16:creationId xmlns:a16="http://schemas.microsoft.com/office/drawing/2014/main" id="{FD82430D-D1C5-4367-A3A2-5393B43DFB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51" y="2606"/>
              <a:ext cx="0" cy="9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  <p:sp>
          <p:nvSpPr>
            <p:cNvPr id="14" name="Line 45">
              <a:extLst>
                <a:ext uri="{FF2B5EF4-FFF2-40B4-BE49-F238E27FC236}">
                  <a16:creationId xmlns:a16="http://schemas.microsoft.com/office/drawing/2014/main" id="{F6433E12-2831-449A-B235-92E11871CF3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84" y="3590"/>
              <a:ext cx="2067" cy="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</p:grpSp>
      <p:grpSp>
        <p:nvGrpSpPr>
          <p:cNvPr id="15" name="Group 46">
            <a:extLst>
              <a:ext uri="{FF2B5EF4-FFF2-40B4-BE49-F238E27FC236}">
                <a16:creationId xmlns:a16="http://schemas.microsoft.com/office/drawing/2014/main" id="{C2AC8E2D-7A9B-4F65-B70B-9487BC8B0926}"/>
              </a:ext>
            </a:extLst>
          </p:cNvPr>
          <p:cNvGrpSpPr>
            <a:grpSpLocks/>
          </p:cNvGrpSpPr>
          <p:nvPr/>
        </p:nvGrpSpPr>
        <p:grpSpPr bwMode="auto">
          <a:xfrm>
            <a:off x="6554254" y="2304276"/>
            <a:ext cx="2403475" cy="1192320"/>
            <a:chOff x="3336" y="2577"/>
            <a:chExt cx="1514" cy="1024"/>
          </a:xfrm>
        </p:grpSpPr>
        <p:sp>
          <p:nvSpPr>
            <p:cNvPr id="16" name="Line 47">
              <a:extLst>
                <a:ext uri="{FF2B5EF4-FFF2-40B4-BE49-F238E27FC236}">
                  <a16:creationId xmlns:a16="http://schemas.microsoft.com/office/drawing/2014/main" id="{C55CE702-BB1B-48A3-A495-E728AE333E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2577"/>
              <a:ext cx="0" cy="10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  <p:sp>
          <p:nvSpPr>
            <p:cNvPr id="17" name="Text Box 48">
              <a:extLst>
                <a:ext uri="{FF2B5EF4-FFF2-40B4-BE49-F238E27FC236}">
                  <a16:creationId xmlns:a16="http://schemas.microsoft.com/office/drawing/2014/main" id="{0EA0836C-AB9E-4299-BA6F-B505D2203A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6" y="3257"/>
              <a:ext cx="1514" cy="34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000" b="1">
                  <a:solidFill>
                    <a:srgbClr val="008000"/>
                  </a:solidFill>
                </a:rPr>
                <a:t>中径公差带代号</a:t>
              </a:r>
            </a:p>
          </p:txBody>
        </p:sp>
        <p:sp>
          <p:nvSpPr>
            <p:cNvPr id="18" name="Line 49">
              <a:extLst>
                <a:ext uri="{FF2B5EF4-FFF2-40B4-BE49-F238E27FC236}">
                  <a16:creationId xmlns:a16="http://schemas.microsoft.com/office/drawing/2014/main" id="{A06E93AB-22FC-48E8-95B8-C094A9B47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6" y="3590"/>
              <a:ext cx="130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</p:grpSp>
      <p:grpSp>
        <p:nvGrpSpPr>
          <p:cNvPr id="19" name="Group 50">
            <a:extLst>
              <a:ext uri="{FF2B5EF4-FFF2-40B4-BE49-F238E27FC236}">
                <a16:creationId xmlns:a16="http://schemas.microsoft.com/office/drawing/2014/main" id="{68C6984A-A0F5-4BE7-B9B1-E48C9C64CD03}"/>
              </a:ext>
            </a:extLst>
          </p:cNvPr>
          <p:cNvGrpSpPr>
            <a:grpSpLocks/>
          </p:cNvGrpSpPr>
          <p:nvPr/>
        </p:nvGrpSpPr>
        <p:grpSpPr bwMode="auto">
          <a:xfrm>
            <a:off x="6628017" y="2303095"/>
            <a:ext cx="2797175" cy="609600"/>
            <a:chOff x="3672" y="2575"/>
            <a:chExt cx="1762" cy="384"/>
          </a:xfrm>
        </p:grpSpPr>
        <p:sp>
          <p:nvSpPr>
            <p:cNvPr id="20" name="Text Box 51">
              <a:extLst>
                <a:ext uri="{FF2B5EF4-FFF2-40B4-BE49-F238E27FC236}">
                  <a16:creationId xmlns:a16="http://schemas.microsoft.com/office/drawing/2014/main" id="{BA8E7D9A-8FD1-4880-99C4-6846C2169E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2" y="2685"/>
              <a:ext cx="1762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000" b="1">
                  <a:solidFill>
                    <a:srgbClr val="008000"/>
                  </a:solidFill>
                </a:rPr>
                <a:t>长旋合长度</a:t>
              </a:r>
            </a:p>
          </p:txBody>
        </p:sp>
        <p:sp>
          <p:nvSpPr>
            <p:cNvPr id="21" name="Line 52">
              <a:extLst>
                <a:ext uri="{FF2B5EF4-FFF2-40B4-BE49-F238E27FC236}">
                  <a16:creationId xmlns:a16="http://schemas.microsoft.com/office/drawing/2014/main" id="{97FA50AA-4ABB-41CD-B9FC-C6D6F184E7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8" y="2575"/>
              <a:ext cx="0" cy="3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  <p:sp>
          <p:nvSpPr>
            <p:cNvPr id="22" name="Line 53">
              <a:extLst>
                <a:ext uri="{FF2B5EF4-FFF2-40B4-BE49-F238E27FC236}">
                  <a16:creationId xmlns:a16="http://schemas.microsoft.com/office/drawing/2014/main" id="{12375C70-2DD8-4DAA-A92E-FFB0E753478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8" y="2959"/>
              <a:ext cx="114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000" b="1"/>
            </a:p>
          </p:txBody>
        </p:sp>
      </p:grpSp>
      <p:sp>
        <p:nvSpPr>
          <p:cNvPr id="23" name="Text Box 54">
            <a:extLst>
              <a:ext uri="{FF2B5EF4-FFF2-40B4-BE49-F238E27FC236}">
                <a16:creationId xmlns:a16="http://schemas.microsoft.com/office/drawing/2014/main" id="{8026698B-B978-40B6-B540-40EF294C0F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57729" y="3472101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0" lang="zh-CN" altLang="en-US" sz="2000" b="1" dirty="0">
                <a:solidFill>
                  <a:srgbClr val="008000"/>
                </a:solidFill>
              </a:rPr>
              <a:t>右旋</a:t>
            </a:r>
          </a:p>
        </p:txBody>
      </p:sp>
      <p:sp>
        <p:nvSpPr>
          <p:cNvPr id="24" name="Rectangle 2">
            <a:extLst>
              <a:ext uri="{FF2B5EF4-FFF2-40B4-BE49-F238E27FC236}">
                <a16:creationId xmlns:a16="http://schemas.microsoft.com/office/drawing/2014/main" id="{081237A0-3780-4242-9190-A9EE71A87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14104" y="1942889"/>
            <a:ext cx="1476375" cy="477838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000" b="1">
                <a:solidFill>
                  <a:schemeClr val="tx2"/>
                </a:solidFill>
                <a:latin typeface="宋体" pitchFamily="2" charset="-122"/>
              </a:rPr>
              <a:t>标注示例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A0D095D-A735-4637-BACC-85BF8BE70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7242" y="814176"/>
            <a:ext cx="415290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ea typeface="黑体" pitchFamily="49" charset="-122"/>
              </a:rPr>
              <a:t>五、</a:t>
            </a:r>
            <a:r>
              <a:rPr lang="zh-CN" altLang="zh-CN" sz="2800" dirty="0">
                <a:ea typeface="黑体" pitchFamily="49" charset="-122"/>
              </a:rPr>
              <a:t>常用螺纹的标注方法</a:t>
            </a:r>
            <a:endParaRPr lang="zh-CN" altLang="en-US" sz="2800" dirty="0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8CBF0A00-68FD-44B2-A21F-E7C7513DE220}"/>
              </a:ext>
            </a:extLst>
          </p:cNvPr>
          <p:cNvSpPr/>
          <p:nvPr/>
        </p:nvSpPr>
        <p:spPr>
          <a:xfrm>
            <a:off x="1486133" y="1371178"/>
            <a:ext cx="45175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b="1" kern="1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2.</a:t>
            </a:r>
            <a:r>
              <a:rPr lang="zh-CN" altLang="zh-CN" sz="2400" b="1" kern="1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  <a:cs typeface="Times New Roman" panose="02020603050405020304" pitchFamily="18" charset="0"/>
              </a:rPr>
              <a:t>梯形螺纹和锯齿形螺纹的标注</a:t>
            </a:r>
            <a:endParaRPr lang="zh-CN" altLang="en-US" sz="2400" b="1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CE66799-87A7-49CF-876E-1532A858E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448" y="3913486"/>
            <a:ext cx="4503268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zh-CN" sz="2400" b="1" dirty="0"/>
              <a:t>3.</a:t>
            </a:r>
            <a:r>
              <a:rPr lang="zh-CN" altLang="en-US" sz="2400" b="1" dirty="0"/>
              <a:t>管螺纹的标注</a:t>
            </a:r>
          </a:p>
          <a:p>
            <a:r>
              <a:rPr lang="zh-CN" altLang="en-US" sz="2400" b="1" dirty="0">
                <a:solidFill>
                  <a:srgbClr val="0070C0"/>
                </a:solidFill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</a:rPr>
              <a:t>1</a:t>
            </a:r>
            <a:r>
              <a:rPr lang="zh-CN" altLang="en-US" sz="2400" b="1" dirty="0">
                <a:solidFill>
                  <a:srgbClr val="0070C0"/>
                </a:solidFill>
              </a:rPr>
              <a:t>）</a:t>
            </a:r>
            <a:r>
              <a:rPr lang="en-US" altLang="zh-CN" sz="2400" b="1" dirty="0">
                <a:solidFill>
                  <a:srgbClr val="0070C0"/>
                </a:solidFill>
              </a:rPr>
              <a:t>55°</a:t>
            </a:r>
            <a:r>
              <a:rPr lang="zh-CN" altLang="en-US" sz="2400" b="1" dirty="0">
                <a:solidFill>
                  <a:srgbClr val="0070C0"/>
                </a:solidFill>
              </a:rPr>
              <a:t>密封管螺纹的标记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zh-CN" altLang="en-US" sz="2400" b="1" dirty="0">
                <a:solidFill>
                  <a:srgbClr val="0070C0"/>
                </a:solidFill>
              </a:rPr>
              <a:t>：</a:t>
            </a:r>
          </a:p>
        </p:txBody>
      </p:sp>
      <p:sp>
        <p:nvSpPr>
          <p:cNvPr id="29" name="Text Box 4">
            <a:extLst>
              <a:ext uri="{FF2B5EF4-FFF2-40B4-BE49-F238E27FC236}">
                <a16:creationId xmlns:a16="http://schemas.microsoft.com/office/drawing/2014/main" id="{96C7110F-2256-479A-88A5-DE4FC87DFD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7159" y="4242713"/>
            <a:ext cx="2040943" cy="46166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螺纹特征代号</a:t>
            </a:r>
          </a:p>
        </p:txBody>
      </p:sp>
      <p:sp>
        <p:nvSpPr>
          <p:cNvPr id="30" name="Text Box 5">
            <a:extLst>
              <a:ext uri="{FF2B5EF4-FFF2-40B4-BE49-F238E27FC236}">
                <a16:creationId xmlns:a16="http://schemas.microsoft.com/office/drawing/2014/main" id="{B0E50394-A143-4C8B-836D-2BC67CC6E8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91865" y="4242713"/>
            <a:ext cx="1422184" cy="46166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尺寸代号</a:t>
            </a:r>
          </a:p>
        </p:txBody>
      </p:sp>
      <p:sp>
        <p:nvSpPr>
          <p:cNvPr id="31" name="Text Box 8">
            <a:extLst>
              <a:ext uri="{FF2B5EF4-FFF2-40B4-BE49-F238E27FC236}">
                <a16:creationId xmlns:a16="http://schemas.microsoft.com/office/drawing/2014/main" id="{26F857A6-65B9-4FC7-AD2E-1CCB7FC059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88772" y="4251739"/>
            <a:ext cx="803425" cy="46166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旋向</a:t>
            </a:r>
          </a:p>
        </p:txBody>
      </p:sp>
      <p:sp>
        <p:nvSpPr>
          <p:cNvPr id="32" name="Text Box 24">
            <a:extLst>
              <a:ext uri="{FF2B5EF4-FFF2-40B4-BE49-F238E27FC236}">
                <a16:creationId xmlns:a16="http://schemas.microsoft.com/office/drawing/2014/main" id="{DC9EB1B8-3F11-499C-961B-0D0E9EB67A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1401" y="4234770"/>
            <a:ext cx="494046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－</a:t>
            </a:r>
          </a:p>
        </p:txBody>
      </p:sp>
      <p:sp>
        <p:nvSpPr>
          <p:cNvPr id="33" name="Text Box 4">
            <a:extLst>
              <a:ext uri="{FF2B5EF4-FFF2-40B4-BE49-F238E27FC236}">
                <a16:creationId xmlns:a16="http://schemas.microsoft.com/office/drawing/2014/main" id="{EB5B43DF-DAD2-43ED-BEEB-FF242B416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2880" y="5220655"/>
            <a:ext cx="2040943" cy="46166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螺纹特征代号</a:t>
            </a:r>
          </a:p>
        </p:txBody>
      </p:sp>
      <p:sp>
        <p:nvSpPr>
          <p:cNvPr id="34" name="Text Box 5">
            <a:extLst>
              <a:ext uri="{FF2B5EF4-FFF2-40B4-BE49-F238E27FC236}">
                <a16:creationId xmlns:a16="http://schemas.microsoft.com/office/drawing/2014/main" id="{5AFB62B6-7662-4AA5-9BE7-7DB72A981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0988" y="5228909"/>
            <a:ext cx="1422184" cy="46166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尺寸代号</a:t>
            </a:r>
          </a:p>
        </p:txBody>
      </p:sp>
      <p:sp>
        <p:nvSpPr>
          <p:cNvPr id="35" name="Text Box 8">
            <a:extLst>
              <a:ext uri="{FF2B5EF4-FFF2-40B4-BE49-F238E27FC236}">
                <a16:creationId xmlns:a16="http://schemas.microsoft.com/office/drawing/2014/main" id="{CCE97981-600F-44B3-83E4-74BA9B275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53643" y="5217083"/>
            <a:ext cx="803425" cy="46166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旋向</a:t>
            </a:r>
          </a:p>
        </p:txBody>
      </p:sp>
      <p:sp>
        <p:nvSpPr>
          <p:cNvPr id="36" name="Text Box 24">
            <a:extLst>
              <a:ext uri="{FF2B5EF4-FFF2-40B4-BE49-F238E27FC236}">
                <a16:creationId xmlns:a16="http://schemas.microsoft.com/office/drawing/2014/main" id="{65F60076-3B59-4049-894D-AB91DB244A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2376" y="5208057"/>
            <a:ext cx="494046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－</a:t>
            </a:r>
          </a:p>
        </p:txBody>
      </p:sp>
      <p:sp>
        <p:nvSpPr>
          <p:cNvPr id="37" name="Text Box 9">
            <a:extLst>
              <a:ext uri="{FF2B5EF4-FFF2-40B4-BE49-F238E27FC236}">
                <a16:creationId xmlns:a16="http://schemas.microsoft.com/office/drawing/2014/main" id="{B79E8EB4-F7D6-4317-8821-FFE4C6360A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1766" y="5228909"/>
            <a:ext cx="1731564" cy="461665"/>
          </a:xfrm>
          <a:prstGeom prst="rect">
            <a:avLst/>
          </a:prstGeom>
          <a:noFill/>
          <a:ln w="12700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公差带代号</a:t>
            </a:r>
          </a:p>
        </p:txBody>
      </p:sp>
      <p:sp>
        <p:nvSpPr>
          <p:cNvPr id="38" name="Text Box 10">
            <a:extLst>
              <a:ext uri="{FF2B5EF4-FFF2-40B4-BE49-F238E27FC236}">
                <a16:creationId xmlns:a16="http://schemas.microsoft.com/office/drawing/2014/main" id="{C3B1A05A-B411-43DE-9E27-762E1D0B3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7164" y="5190936"/>
            <a:ext cx="494046" cy="461665"/>
          </a:xfrm>
          <a:prstGeom prst="rect">
            <a:avLst/>
          </a:prstGeom>
          <a:noFill/>
          <a:ln>
            <a:noFill/>
          </a:ln>
        </p:spPr>
        <p:txBody>
          <a:bodyPr wrap="non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dirty="0">
                <a:latin typeface="+mn-ea"/>
                <a:ea typeface="+mn-ea"/>
              </a:rPr>
              <a:t>－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5B895516-6C79-48C0-B682-EEB89667F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0448" y="4775497"/>
            <a:ext cx="43925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0070C0"/>
                </a:solidFill>
              </a:rPr>
              <a:t>（</a:t>
            </a:r>
            <a:r>
              <a:rPr lang="en-US" altLang="zh-CN" sz="2400" b="1" dirty="0">
                <a:solidFill>
                  <a:srgbClr val="0070C0"/>
                </a:solidFill>
              </a:rPr>
              <a:t>2</a:t>
            </a:r>
            <a:r>
              <a:rPr lang="zh-CN" altLang="en-US" sz="2400" b="1" dirty="0">
                <a:solidFill>
                  <a:srgbClr val="0070C0"/>
                </a:solidFill>
              </a:rPr>
              <a:t>）</a:t>
            </a:r>
            <a:r>
              <a:rPr lang="en-US" altLang="zh-CN" sz="2400" b="1" dirty="0">
                <a:solidFill>
                  <a:srgbClr val="0070C0"/>
                </a:solidFill>
              </a:rPr>
              <a:t>55°</a:t>
            </a:r>
            <a:r>
              <a:rPr lang="zh-CN" altLang="en-US" sz="2400" b="1" dirty="0">
                <a:solidFill>
                  <a:srgbClr val="0070C0"/>
                </a:solidFill>
              </a:rPr>
              <a:t>非密封管螺纹标记：</a:t>
            </a:r>
          </a:p>
        </p:txBody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638E2F9A-9FF3-43F7-97BA-108D3211A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6133" y="5870364"/>
            <a:ext cx="9542415" cy="831850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b="1" dirty="0"/>
              <a:t>管螺纹的特征代号用“</a:t>
            </a:r>
            <a:r>
              <a:rPr lang="en-US" altLang="zh-CN" sz="2400" b="1" dirty="0"/>
              <a:t>G” </a:t>
            </a:r>
            <a:r>
              <a:rPr lang="zh-CN" altLang="en-US" sz="2400" b="1" dirty="0"/>
              <a:t>表示。尺寸代号不是指的螺纹的大径，故采用指引线形式标注。</a:t>
            </a:r>
          </a:p>
        </p:txBody>
      </p:sp>
      <p:sp>
        <p:nvSpPr>
          <p:cNvPr id="41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576087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5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23" grpId="0" autoUpdateAnimBg="0"/>
      <p:bldP spid="24" grpId="0"/>
      <p:bldP spid="27" grpId="0"/>
      <p:bldP spid="28" grpId="0"/>
      <p:bldP spid="29" grpId="0" animBg="1" autoUpdateAnimBg="0"/>
      <p:bldP spid="30" grpId="0" animBg="1" autoUpdateAnimBg="0"/>
      <p:bldP spid="31" grpId="0" animBg="1" autoUpdateAnimBg="0"/>
      <p:bldP spid="32" grpId="0" autoUpdateAnimBg="0"/>
      <p:bldP spid="33" grpId="0" animBg="1" autoUpdateAnimBg="0"/>
      <p:bldP spid="34" grpId="0" animBg="1" autoUpdateAnimBg="0"/>
      <p:bldP spid="35" grpId="0" animBg="1" autoUpdateAnimBg="0"/>
      <p:bldP spid="36" grpId="0" autoUpdateAnimBg="0"/>
      <p:bldP spid="37" grpId="0" animBg="1" autoUpdateAnimBg="0"/>
      <p:bldP spid="38" grpId="0" autoUpdateAnimBg="0"/>
      <p:bldP spid="39" grpId="0"/>
      <p:bldP spid="4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52">
            <a:extLst>
              <a:ext uri="{FF2B5EF4-FFF2-40B4-BE49-F238E27FC236}">
                <a16:creationId xmlns:a16="http://schemas.microsoft.com/office/drawing/2014/main" id="{3DFE7641-406B-4EB2-B84B-2DB3F41362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336900" y="3940535"/>
            <a:ext cx="2667000" cy="1566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151">
            <a:extLst>
              <a:ext uri="{FF2B5EF4-FFF2-40B4-BE49-F238E27FC236}">
                <a16:creationId xmlns:a16="http://schemas.microsoft.com/office/drawing/2014/main" id="{254D26B1-FE7A-48C8-83CF-1DD111F21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296125" y="1864085"/>
            <a:ext cx="2020888" cy="1658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" name="Picture 150">
            <a:extLst>
              <a:ext uri="{FF2B5EF4-FFF2-40B4-BE49-F238E27FC236}">
                <a16:creationId xmlns:a16="http://schemas.microsoft.com/office/drawing/2014/main" id="{6646C74A-4716-469E-A927-32099049B4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46438" y="2167297"/>
            <a:ext cx="2305050" cy="1050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 Box 2">
            <a:extLst>
              <a:ext uri="{FF2B5EF4-FFF2-40B4-BE49-F238E27FC236}">
                <a16:creationId xmlns:a16="http://schemas.microsoft.com/office/drawing/2014/main" id="{36B93E4A-6E9B-4A71-988C-B556847551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1238" y="1449747"/>
            <a:ext cx="26717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i="1">
                <a:solidFill>
                  <a:srgbClr val="FF0000"/>
                </a:solidFill>
                <a:latin typeface="ISOCPEUR" pitchFamily="34" charset="0"/>
              </a:rPr>
              <a:t>M20×2</a:t>
            </a:r>
            <a:endParaRPr lang="en-US" altLang="zh-CN" b="0" i="1">
              <a:solidFill>
                <a:srgbClr val="FF0000"/>
              </a:solidFill>
              <a:latin typeface="ISOCPEUR" pitchFamily="34" charset="0"/>
            </a:endParaRPr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9EDE7580-26EA-4938-AC9C-8301F1E4F3C2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070200" y="2221272"/>
            <a:ext cx="685800" cy="1588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3CBA2968-F6A4-4E0D-ACE7-1C0BC3B978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05125" y="3137260"/>
            <a:ext cx="650875" cy="476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6">
            <a:extLst>
              <a:ext uri="{FF2B5EF4-FFF2-40B4-BE49-F238E27FC236}">
                <a16:creationId xmlns:a16="http://schemas.microsoft.com/office/drawing/2014/main" id="{617CC954-0451-457F-9636-4A28912B1CD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22600" y="1822810"/>
            <a:ext cx="0" cy="40005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Line 7">
            <a:extLst>
              <a:ext uri="{FF2B5EF4-FFF2-40B4-BE49-F238E27FC236}">
                <a16:creationId xmlns:a16="http://schemas.microsoft.com/office/drawing/2014/main" id="{0A8F9FDB-0EE0-4FDC-A44C-81C7DF50539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22600" y="1822810"/>
            <a:ext cx="1150938" cy="1587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Line 8">
            <a:extLst>
              <a:ext uri="{FF2B5EF4-FFF2-40B4-BE49-F238E27FC236}">
                <a16:creationId xmlns:a16="http://schemas.microsoft.com/office/drawing/2014/main" id="{1D6A8E1C-2111-4909-9510-222EBB5770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75438" y="2235560"/>
            <a:ext cx="6858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Line 9">
            <a:extLst>
              <a:ext uri="{FF2B5EF4-FFF2-40B4-BE49-F238E27FC236}">
                <a16:creationId xmlns:a16="http://schemas.microsoft.com/office/drawing/2014/main" id="{E15385E7-A0DA-43DB-826D-8B1764DC3DE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89725" y="3134085"/>
            <a:ext cx="6858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Text Box 10">
            <a:extLst>
              <a:ext uri="{FF2B5EF4-FFF2-40B4-BE49-F238E27FC236}">
                <a16:creationId xmlns:a16="http://schemas.microsoft.com/office/drawing/2014/main" id="{5D256AFE-C10D-4C01-887B-5F46A62A07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84975" y="1449747"/>
            <a:ext cx="150971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i="1">
                <a:solidFill>
                  <a:srgbClr val="FF3300"/>
                </a:solidFill>
                <a:latin typeface="ISOCPEUR" pitchFamily="34" charset="0"/>
              </a:rPr>
              <a:t>M20-</a:t>
            </a:r>
            <a:r>
              <a:rPr lang="en-US" altLang="zh-CN" sz="2000" i="1">
                <a:solidFill>
                  <a:srgbClr val="FF3300"/>
                </a:solidFill>
                <a:latin typeface="Arial" charset="0"/>
              </a:rPr>
              <a:t>7</a:t>
            </a:r>
            <a:r>
              <a:rPr lang="en-US" altLang="zh-CN" i="1">
                <a:solidFill>
                  <a:srgbClr val="FF3300"/>
                </a:solidFill>
                <a:latin typeface="ISOCPEUR" pitchFamily="34" charset="0"/>
              </a:rPr>
              <a:t>H</a:t>
            </a:r>
            <a:endParaRPr lang="en-US" altLang="zh-CN" b="0" i="1">
              <a:solidFill>
                <a:srgbClr val="FF3300"/>
              </a:solidFill>
              <a:latin typeface="ISOCPEUR" pitchFamily="34" charset="0"/>
            </a:endParaRPr>
          </a:p>
        </p:txBody>
      </p:sp>
      <p:sp>
        <p:nvSpPr>
          <p:cNvPr id="14" name="Line 11">
            <a:extLst>
              <a:ext uri="{FF2B5EF4-FFF2-40B4-BE49-F238E27FC236}">
                <a16:creationId xmlns:a16="http://schemas.microsoft.com/office/drawing/2014/main" id="{62864810-1779-43CE-AEB1-F6D040F4496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154463" y="3654785"/>
            <a:ext cx="220662" cy="34925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12">
            <a:extLst>
              <a:ext uri="{FF2B5EF4-FFF2-40B4-BE49-F238E27FC236}">
                <a16:creationId xmlns:a16="http://schemas.microsoft.com/office/drawing/2014/main" id="{CF9237F9-026A-4DEB-92D6-66A40D510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4154463" y="3654785"/>
            <a:ext cx="9144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13">
            <a:extLst>
              <a:ext uri="{FF2B5EF4-FFF2-40B4-BE49-F238E27FC236}">
                <a16:creationId xmlns:a16="http://schemas.microsoft.com/office/drawing/2014/main" id="{1EDC2149-1492-439B-AAB5-A20553B81C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75100" y="3245210"/>
            <a:ext cx="6524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i="1">
                <a:solidFill>
                  <a:srgbClr val="FF3300"/>
                </a:solidFill>
                <a:latin typeface="ISOCPEUR" pitchFamily="34" charset="0"/>
              </a:rPr>
              <a:t>G1</a:t>
            </a:r>
            <a:endParaRPr lang="en-US" altLang="zh-CN" b="0" i="1">
              <a:solidFill>
                <a:srgbClr val="FF3300"/>
              </a:solidFill>
              <a:latin typeface="ISOCPEUR" pitchFamily="34" charset="0"/>
            </a:endParaRPr>
          </a:p>
        </p:txBody>
      </p:sp>
      <p:sp>
        <p:nvSpPr>
          <p:cNvPr id="17" name="Freeform 14">
            <a:extLst>
              <a:ext uri="{FF2B5EF4-FFF2-40B4-BE49-F238E27FC236}">
                <a16:creationId xmlns:a16="http://schemas.microsoft.com/office/drawing/2014/main" id="{B607C6CA-A032-416B-A9D9-0BE2AC3D6C8A}"/>
              </a:ext>
            </a:extLst>
          </p:cNvPr>
          <p:cNvSpPr>
            <a:spLocks/>
          </p:cNvSpPr>
          <p:nvPr/>
        </p:nvSpPr>
        <p:spPr bwMode="auto">
          <a:xfrm>
            <a:off x="3222600" y="2189522"/>
            <a:ext cx="1588" cy="965200"/>
          </a:xfrm>
          <a:custGeom>
            <a:avLst/>
            <a:gdLst>
              <a:gd name="T0" fmla="*/ 0 w 1"/>
              <a:gd name="T1" fmla="*/ 0 h 608"/>
              <a:gd name="T2" fmla="*/ 0 w 1"/>
              <a:gd name="T3" fmla="*/ 2147483646 h 608"/>
              <a:gd name="T4" fmla="*/ 0 60000 65536"/>
              <a:gd name="T5" fmla="*/ 0 60000 65536"/>
              <a:gd name="T6" fmla="*/ 0 w 1"/>
              <a:gd name="T7" fmla="*/ 0 h 608"/>
              <a:gd name="T8" fmla="*/ 1 w 1"/>
              <a:gd name="T9" fmla="*/ 608 h 608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608">
                <a:moveTo>
                  <a:pt x="0" y="0"/>
                </a:moveTo>
                <a:lnTo>
                  <a:pt x="0" y="608"/>
                </a:lnTo>
              </a:path>
            </a:pathLst>
          </a:custGeom>
          <a:noFill/>
          <a:ln w="19050">
            <a:solidFill>
              <a:srgbClr val="FF3300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Line 15">
            <a:extLst>
              <a:ext uri="{FF2B5EF4-FFF2-40B4-BE49-F238E27FC236}">
                <a16:creationId xmlns:a16="http://schemas.microsoft.com/office/drawing/2014/main" id="{5EA59F23-5C74-4414-9484-3E399B0A206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019900" y="2208572"/>
            <a:ext cx="0" cy="92551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triangl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Line 16">
            <a:extLst>
              <a:ext uri="{FF2B5EF4-FFF2-40B4-BE49-F238E27FC236}">
                <a16:creationId xmlns:a16="http://schemas.microsoft.com/office/drawing/2014/main" id="{6714D97D-1A46-4F10-B163-B9F261280504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9900" y="1843447"/>
            <a:ext cx="0" cy="411163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Text Box 72">
            <a:extLst>
              <a:ext uri="{FF2B5EF4-FFF2-40B4-BE49-F238E27FC236}">
                <a16:creationId xmlns:a16="http://schemas.microsoft.com/office/drawing/2014/main" id="{14AF43AD-8D5B-4B20-8911-C057C238D6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41948" y="4402497"/>
            <a:ext cx="4870450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800" dirty="0">
                <a:solidFill>
                  <a:schemeClr val="tx2"/>
                </a:solidFill>
              </a:rPr>
              <a:t>尺寸界线 应从何处引出</a:t>
            </a:r>
            <a:r>
              <a:rPr lang="en-US" altLang="zh-CN" sz="2800" dirty="0">
                <a:solidFill>
                  <a:schemeClr val="tx2"/>
                </a:solidFill>
              </a:rPr>
              <a:t>?</a:t>
            </a:r>
          </a:p>
        </p:txBody>
      </p:sp>
      <p:sp>
        <p:nvSpPr>
          <p:cNvPr id="21" name="Text Box 73">
            <a:extLst>
              <a:ext uri="{FF2B5EF4-FFF2-40B4-BE49-F238E27FC236}">
                <a16:creationId xmlns:a16="http://schemas.microsoft.com/office/drawing/2014/main" id="{A8688BFC-1351-4FD5-B488-1CF81B236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19947" y="3599691"/>
            <a:ext cx="4648200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注：</a:t>
            </a:r>
            <a:r>
              <a:rPr lang="en-US" altLang="zh-CN" sz="2400" b="1" dirty="0">
                <a:latin typeface="宋体" pitchFamily="2" charset="-122"/>
              </a:rPr>
              <a:t>G</a:t>
            </a:r>
            <a:r>
              <a:rPr lang="zh-CN" altLang="en-US" sz="2400" b="1" dirty="0">
                <a:latin typeface="宋体" pitchFamily="2" charset="-122"/>
              </a:rPr>
              <a:t>右面的数字不是管</a:t>
            </a:r>
            <a:r>
              <a:rPr lang="zh-CN" altLang="en-US" sz="2400" b="1" dirty="0">
                <a:latin typeface="宋体" pitchFamily="2" charset="-122"/>
                <a:sym typeface="CommercialPi BT" pitchFamily="18" charset="2"/>
              </a:rPr>
              <a:t>螺纹的大</a:t>
            </a:r>
            <a:endParaRPr lang="en-US" altLang="zh-CN" sz="2400" b="1" dirty="0">
              <a:latin typeface="宋体" pitchFamily="2" charset="-122"/>
              <a:sym typeface="CommercialPi BT" pitchFamily="18" charset="2"/>
            </a:endParaRPr>
          </a:p>
          <a:p>
            <a:r>
              <a:rPr lang="en-US" altLang="zh-CN" sz="2400" b="1" dirty="0">
                <a:latin typeface="宋体" pitchFamily="2" charset="-122"/>
                <a:sym typeface="CommercialPi BT" pitchFamily="18" charset="2"/>
              </a:rPr>
              <a:t>    </a:t>
            </a:r>
            <a:r>
              <a:rPr lang="zh-CN" altLang="en-US" sz="2400" b="1" dirty="0">
                <a:latin typeface="宋体" pitchFamily="2" charset="-122"/>
                <a:sym typeface="CommercialPi BT" pitchFamily="18" charset="2"/>
              </a:rPr>
              <a:t>径，而是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  <a:sym typeface="CommercialPi BT" pitchFamily="18" charset="2"/>
              </a:rPr>
              <a:t>它的尺寸代号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  <a:sym typeface="CommercialPi BT" pitchFamily="18" charset="2"/>
              </a:rPr>
              <a:t>。</a:t>
            </a:r>
            <a:endParaRPr lang="zh-CN" altLang="en-US" sz="2400" b="1" dirty="0">
              <a:solidFill>
                <a:srgbClr val="FF0000"/>
              </a:solidFill>
              <a:latin typeface="宋体" pitchFamily="2" charset="-122"/>
            </a:endParaRPr>
          </a:p>
        </p:txBody>
      </p:sp>
      <p:sp>
        <p:nvSpPr>
          <p:cNvPr id="22" name="Text Box 111">
            <a:extLst>
              <a:ext uri="{FF2B5EF4-FFF2-40B4-BE49-F238E27FC236}">
                <a16:creationId xmlns:a16="http://schemas.microsoft.com/office/drawing/2014/main" id="{1333FBBD-7ED5-427F-A7E1-956969D98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786" y="3331084"/>
            <a:ext cx="111280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/>
              <a:t>管螺纹</a:t>
            </a:r>
          </a:p>
        </p:txBody>
      </p:sp>
      <p:sp>
        <p:nvSpPr>
          <p:cNvPr id="23" name="Line 112">
            <a:extLst>
              <a:ext uri="{FF2B5EF4-FFF2-40B4-BE49-F238E27FC236}">
                <a16:creationId xmlns:a16="http://schemas.microsoft.com/office/drawing/2014/main" id="{222469E6-7D48-4331-97DD-0631CBC8E83C}"/>
              </a:ext>
            </a:extLst>
          </p:cNvPr>
          <p:cNvSpPr>
            <a:spLocks noChangeShapeType="1"/>
          </p:cNvSpPr>
          <p:nvPr/>
        </p:nvSpPr>
        <p:spPr bwMode="auto">
          <a:xfrm>
            <a:off x="7018313" y="1843447"/>
            <a:ext cx="1235075" cy="0"/>
          </a:xfrm>
          <a:prstGeom prst="lin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4" name="Group 113">
            <a:extLst>
              <a:ext uri="{FF2B5EF4-FFF2-40B4-BE49-F238E27FC236}">
                <a16:creationId xmlns:a16="http://schemas.microsoft.com/office/drawing/2014/main" id="{F2E1BF51-52AE-4BC9-92A3-A8DEBCAAD1B2}"/>
              </a:ext>
            </a:extLst>
          </p:cNvPr>
          <p:cNvGrpSpPr>
            <a:grpSpLocks/>
          </p:cNvGrpSpPr>
          <p:nvPr/>
        </p:nvGrpSpPr>
        <p:grpSpPr bwMode="auto">
          <a:xfrm>
            <a:off x="2927325" y="4332647"/>
            <a:ext cx="706438" cy="614363"/>
            <a:chOff x="188" y="2555"/>
            <a:chExt cx="445" cy="387"/>
          </a:xfrm>
        </p:grpSpPr>
        <p:sp>
          <p:nvSpPr>
            <p:cNvPr id="25" name="Line 114">
              <a:extLst>
                <a:ext uri="{FF2B5EF4-FFF2-40B4-BE49-F238E27FC236}">
                  <a16:creationId xmlns:a16="http://schemas.microsoft.com/office/drawing/2014/main" id="{E337B34A-3764-42BB-B8B7-19A87B2C99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67" y="2566"/>
              <a:ext cx="266" cy="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6" name="Line 116">
              <a:extLst>
                <a:ext uri="{FF2B5EF4-FFF2-40B4-BE49-F238E27FC236}">
                  <a16:creationId xmlns:a16="http://schemas.microsoft.com/office/drawing/2014/main" id="{FD6D08D7-08BC-4AA1-8CD6-B920F68D1B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3" y="2555"/>
              <a:ext cx="0" cy="301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7" name="Text Box 117">
              <a:extLst>
                <a:ext uri="{FF2B5EF4-FFF2-40B4-BE49-F238E27FC236}">
                  <a16:creationId xmlns:a16="http://schemas.microsoft.com/office/drawing/2014/main" id="{9AC9C3C7-7DE0-4CF8-847E-C2F582015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145" y="2611"/>
              <a:ext cx="37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3300"/>
                  </a:solidFill>
                  <a:latin typeface="ISOCPEUR" pitchFamily="34" charset="0"/>
                </a:rPr>
                <a:t>1″</a:t>
              </a:r>
              <a:endParaRPr lang="en-US" altLang="zh-CN">
                <a:solidFill>
                  <a:srgbClr val="FF3300"/>
                </a:solidFill>
                <a:latin typeface="ISOCPEUR" pitchFamily="34" charset="0"/>
              </a:endParaRPr>
            </a:p>
          </p:txBody>
        </p:sp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F9FC10FD-01C7-4CE5-A6D2-EB1505E4D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800" y="4877662"/>
            <a:ext cx="4572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尺寸界线  应从大径引出！</a:t>
            </a:r>
          </a:p>
        </p:txBody>
      </p:sp>
      <p:sp>
        <p:nvSpPr>
          <p:cNvPr id="30" name="Rectangle 153">
            <a:extLst>
              <a:ext uri="{FF2B5EF4-FFF2-40B4-BE49-F238E27FC236}">
                <a16:creationId xmlns:a16="http://schemas.microsoft.com/office/drawing/2014/main" id="{71B03250-9E00-4ED5-9848-FC22DF9E56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492" y="5655035"/>
            <a:ext cx="9688906" cy="831850"/>
          </a:xfrm>
          <a:prstGeom prst="rect">
            <a:avLst/>
          </a:prstGeom>
          <a:gradFill rotWithShape="0"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16200000"/>
          </a:gradFill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2400" dirty="0"/>
              <a:t>管螺纹的尺寸代号</a:t>
            </a:r>
            <a:r>
              <a:rPr lang="zh-CN" altLang="en-US" sz="2400" dirty="0"/>
              <a:t>，</a:t>
            </a:r>
            <a:r>
              <a:rPr lang="zh-CN" sz="2400" dirty="0"/>
              <a:t>是指以</a:t>
            </a:r>
            <a:r>
              <a:rPr lang="en-US" altLang="zh-CN" sz="2400" dirty="0"/>
              <a:t>in</a:t>
            </a:r>
            <a:r>
              <a:rPr lang="zh-CN" altLang="en-US" sz="2400" dirty="0"/>
              <a:t>为单位的管子的孔径</a:t>
            </a:r>
            <a:r>
              <a:rPr lang="zh-CN" altLang="en-US" sz="2400" dirty="0">
                <a:latin typeface="宋体" pitchFamily="2" charset="-122"/>
              </a:rPr>
              <a:t>，</a:t>
            </a:r>
            <a:r>
              <a:rPr lang="zh-CN" altLang="en-US" sz="2400" dirty="0"/>
              <a:t>至于管螺纹直径、螺距等相关要素可根据标记查阅相关标准</a:t>
            </a:r>
            <a:r>
              <a:rPr lang="zh-CN" altLang="en-US" sz="2400" dirty="0">
                <a:latin typeface="宋体" pitchFamily="2" charset="-122"/>
              </a:rPr>
              <a:t>。</a:t>
            </a:r>
            <a:endParaRPr lang="zh-CN" altLang="en-US" sz="2400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96DBE41-EC36-49CD-AFCC-594EFEDEDD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6813" y="768711"/>
            <a:ext cx="2787650" cy="590550"/>
          </a:xfrm>
          <a:prstGeom prst="rect">
            <a:avLst/>
          </a:prstGeom>
          <a:noFill/>
          <a:ln w="76200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800" dirty="0">
                <a:latin typeface="黑体" pitchFamily="49" charset="-122"/>
                <a:ea typeface="黑体" pitchFamily="49" charset="-122"/>
              </a:rPr>
              <a:t>六、标注方法</a:t>
            </a:r>
            <a:endParaRPr lang="zh-CN" altLang="en-US" sz="2800" b="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1" name="Text Box 2">
            <a:extLst>
              <a:ext uri="{FF2B5EF4-FFF2-40B4-BE49-F238E27FC236}">
                <a16:creationId xmlns:a16="http://schemas.microsoft.com/office/drawing/2014/main" id="{0DE844FA-B854-440C-B92B-D450825CC8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9676" y="296652"/>
            <a:ext cx="610711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螺纹的基本知识</a:t>
            </a:r>
          </a:p>
        </p:txBody>
      </p:sp>
    </p:spTree>
    <p:extLst>
      <p:ext uri="{BB962C8B-B14F-4D97-AF65-F5344CB8AC3E}">
        <p14:creationId xmlns:p14="http://schemas.microsoft.com/office/powerpoint/2010/main" val="4886491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500"/>
                            </p:stCondLst>
                            <p:childTnLst>
                              <p:par>
                                <p:cTn id="4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75"/>
                                  </p:iterate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7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utoUpdateAnimBg="0"/>
      <p:bldP spid="14" grpId="0" animBg="1"/>
      <p:bldP spid="15" grpId="0" animBg="1"/>
      <p:bldP spid="16" grpId="0" autoUpdateAnimBg="0"/>
      <p:bldP spid="17" grpId="0" animBg="1"/>
      <p:bldP spid="18" grpId="0" animBg="1"/>
      <p:bldP spid="19" grpId="0" animBg="1"/>
      <p:bldP spid="20" grpId="0" autoUpdateAnimBg="0"/>
      <p:bldP spid="21" grpId="0" autoUpdateAnimBg="0"/>
      <p:bldP spid="23" grpId="0" animBg="1"/>
      <p:bldP spid="29" grpId="0" autoUpdateAnimBg="0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BFEDFBE6-8D51-4131-844E-39DE25855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696" y="404664"/>
            <a:ext cx="570706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kumimoji="0"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螺纹紧固件</a:t>
            </a:r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的种类和规定标记</a:t>
            </a:r>
            <a:endParaRPr kumimoji="0" lang="zh-CN" altLang="en-US" sz="3200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6B0909B-4C2E-4A0F-BD84-0314A3ED6E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7488" y="1482576"/>
            <a:ext cx="10045116" cy="830263"/>
          </a:xfrm>
          <a:prstGeom prst="rect">
            <a:avLst/>
          </a:prstGeom>
          <a:gradFill rotWithShape="1">
            <a:gsLst>
              <a:gs pos="0">
                <a:srgbClr val="FFEFD1"/>
              </a:gs>
              <a:gs pos="64999">
                <a:srgbClr val="F0EBD5"/>
              </a:gs>
              <a:gs pos="100000">
                <a:srgbClr val="D1C39F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>
                <a:latin typeface="黑体" pitchFamily="49" charset="-122"/>
                <a:ea typeface="黑体" pitchFamily="49" charset="-122"/>
              </a:rPr>
              <a:t>    利用螺纹的旋紧作用，将两个或两个以上的零件联接在一起的有关零件称螺纹紧固件。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ADC8C7E-7E8B-42AA-920F-4A38C8CA2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072" y="2491105"/>
            <a:ext cx="4068451" cy="1938992"/>
          </a:xfrm>
          <a:prstGeom prst="rect">
            <a:avLst/>
          </a:prstGeom>
          <a:gradFill rotWithShape="1">
            <a:gsLst>
              <a:gs pos="0">
                <a:srgbClr val="5E9EFF"/>
              </a:gs>
              <a:gs pos="39999">
                <a:srgbClr val="85C2FF"/>
              </a:gs>
              <a:gs pos="70000">
                <a:srgbClr val="C4D6EB"/>
              </a:gs>
              <a:gs pos="100000">
                <a:srgbClr val="FFEBFA"/>
              </a:gs>
            </a:gsLst>
            <a:lin ang="16200000" scaled="1"/>
          </a:gra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b="1" dirty="0"/>
              <a:t>         常用的螺纹紧固件有：</a:t>
            </a:r>
            <a:r>
              <a:rPr lang="zh-CN" altLang="en-US" sz="2400" b="1" dirty="0">
                <a:solidFill>
                  <a:srgbClr val="FF0000"/>
                </a:solidFill>
              </a:rPr>
              <a:t>螺栓、螺柱、螺钉、螺母、垫圈</a:t>
            </a:r>
            <a:r>
              <a:rPr lang="zh-CN" altLang="en-US" sz="2400" b="1" dirty="0"/>
              <a:t>等，每一类又有不同的类别，结构形式和尺寸都已标准化，又称标准件。</a:t>
            </a:r>
          </a:p>
        </p:txBody>
      </p:sp>
      <p:pic>
        <p:nvPicPr>
          <p:cNvPr id="5" name="Picture 1" descr="螺纹紧固件">
            <a:extLst>
              <a:ext uri="{FF2B5EF4-FFF2-40B4-BE49-F238E27FC236}">
                <a16:creationId xmlns:a16="http://schemas.microsoft.com/office/drawing/2014/main" id="{E70289BD-2347-4267-91A8-C79DFFFAB7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601" t="6042" r="-702" b="3891"/>
          <a:stretch>
            <a:fillRect/>
          </a:stretch>
        </p:blipFill>
        <p:spPr bwMode="auto">
          <a:xfrm>
            <a:off x="5902871" y="2340768"/>
            <a:ext cx="5389647" cy="26724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754A1735-6172-451A-877B-9614B5A424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214" y="4806602"/>
            <a:ext cx="5943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螺纹紧固件有完整标记和简化标记两种。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87AA8ED-0301-4956-875E-2E2F5C968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4214" y="5373577"/>
            <a:ext cx="5943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黑体" pitchFamily="49" charset="-122"/>
                <a:ea typeface="黑体" pitchFamily="49" charset="-122"/>
              </a:rPr>
              <a:t>在设计和生产中一般</a:t>
            </a:r>
            <a:r>
              <a:rPr lang="zh-CN" altLang="en-US" sz="2400" dirty="0">
                <a:solidFill>
                  <a:srgbClr val="FF0000"/>
                </a:solidFill>
                <a:latin typeface="黑体" pitchFamily="49" charset="-122"/>
                <a:ea typeface="黑体" pitchFamily="49" charset="-122"/>
              </a:rPr>
              <a:t>采用简化的标记：</a:t>
            </a:r>
            <a:endParaRPr lang="zh-CN" altLang="en-US" sz="2400" dirty="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44D5FB2-02DB-4B64-B2B2-CCFA8E6E0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9936" y="5901648"/>
            <a:ext cx="363266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/>
              <a:t>螺母</a:t>
            </a:r>
            <a:r>
              <a:rPr lang="en-US" sz="2800" dirty="0"/>
              <a:t> </a:t>
            </a:r>
            <a:r>
              <a:rPr lang="en-US" altLang="zh-CN" sz="2800" dirty="0"/>
              <a:t>GB/T 6170  M12</a:t>
            </a:r>
            <a:endParaRPr lang="zh-CN" altLang="en-US" sz="2800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7D5CBCF-B3C2-4B88-964C-E5707BEA10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7478" y="5949424"/>
            <a:ext cx="6075126" cy="830997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2400" dirty="0"/>
              <a:t>螺纹规格为</a:t>
            </a:r>
            <a:r>
              <a:rPr lang="en-US" altLang="zh-CN" sz="2400" dirty="0"/>
              <a:t>D=M12</a:t>
            </a:r>
            <a:r>
              <a:rPr lang="zh-CN" altLang="en-US" sz="2400" dirty="0"/>
              <a:t>，性能等级为</a:t>
            </a:r>
            <a:r>
              <a:rPr lang="en-US" altLang="zh-CN" sz="2400" dirty="0"/>
              <a:t>8</a:t>
            </a:r>
            <a:r>
              <a:rPr lang="zh-CN" altLang="en-US" sz="2400" dirty="0"/>
              <a:t>级，不经表面处理，产品等级为</a:t>
            </a:r>
            <a:r>
              <a:rPr lang="en-US" altLang="zh-CN" sz="2400" dirty="0"/>
              <a:t>A</a:t>
            </a:r>
            <a:r>
              <a:rPr lang="zh-CN" altLang="en-US" sz="2400" dirty="0"/>
              <a:t>级的</a:t>
            </a:r>
            <a:r>
              <a:rPr lang="en-US" altLang="zh-CN" sz="2400" dirty="0"/>
              <a:t>I</a:t>
            </a:r>
            <a:r>
              <a:rPr lang="zh-CN" altLang="en-US" sz="2400" dirty="0"/>
              <a:t>型六角螺母。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A36F905-045A-4D96-AFA4-D5F89DFF3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046" y="5378013"/>
            <a:ext cx="3308919" cy="461665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400" b="1">
                <a:solidFill>
                  <a:srgbClr val="FF0000"/>
                </a:solidFill>
              </a:rPr>
              <a:t>名称</a:t>
            </a:r>
            <a:r>
              <a:rPr lang="en-US" sz="2400" b="1">
                <a:solidFill>
                  <a:srgbClr val="FF0000"/>
                </a:solidFill>
              </a:rPr>
              <a:t>  </a:t>
            </a:r>
            <a:r>
              <a:rPr lang="zh-CN" altLang="en-US" sz="2400" b="1">
                <a:solidFill>
                  <a:srgbClr val="FF0000"/>
                </a:solidFill>
              </a:rPr>
              <a:t>国标号</a:t>
            </a:r>
            <a:r>
              <a:rPr lang="en-US" sz="2400" b="1">
                <a:solidFill>
                  <a:srgbClr val="FF0000"/>
                </a:solidFill>
              </a:rPr>
              <a:t>  </a:t>
            </a:r>
            <a:r>
              <a:rPr lang="zh-CN" altLang="en-US" sz="2400" b="1">
                <a:solidFill>
                  <a:srgbClr val="FF0000"/>
                </a:solidFill>
              </a:rPr>
              <a:t>规格尺寸</a:t>
            </a:r>
          </a:p>
        </p:txBody>
      </p:sp>
    </p:spTree>
    <p:extLst>
      <p:ext uri="{BB962C8B-B14F-4D97-AF65-F5344CB8AC3E}">
        <p14:creationId xmlns:p14="http://schemas.microsoft.com/office/powerpoint/2010/main" val="2590132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/>
      <p:bldP spid="7" grpId="0"/>
      <p:bldP spid="8" grpId="0"/>
      <p:bldP spid="9" grpId="0" animBg="1"/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Box 3">
            <a:extLst>
              <a:ext uri="{FF2B5EF4-FFF2-40B4-BE49-F238E27FC236}">
                <a16:creationId xmlns:a16="http://schemas.microsoft.com/office/drawing/2014/main" id="{9E874282-3DA2-4D00-862E-7B27A8758D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5492" y="1356338"/>
            <a:ext cx="2976562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kumimoji="0" lang="en-US" altLang="zh-CN" sz="2400" b="1" dirty="0">
                <a:solidFill>
                  <a:srgbClr val="0070C0"/>
                </a:solidFill>
                <a:latin typeface="宋体" pitchFamily="2" charset="-122"/>
              </a:rPr>
              <a:t>⒈ </a:t>
            </a:r>
            <a:r>
              <a:rPr kumimoji="0"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六角螺母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111ECB8-530D-499D-B2FF-200BC8C278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468" y="1834951"/>
            <a:ext cx="173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0" lang="zh-CN" altLang="en-US" sz="2400" b="1" dirty="0">
                <a:latin typeface="宋体" pitchFamily="2" charset="-122"/>
              </a:rPr>
              <a:t>规定标记：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9C23A93-8BB7-49E6-8ACE-EA98E1DD62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1825" y="2473577"/>
            <a:ext cx="3219151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2400" b="1">
                <a:solidFill>
                  <a:srgbClr val="333399"/>
                </a:solidFill>
              </a:rPr>
              <a:t>螺母 </a:t>
            </a:r>
            <a:r>
              <a:rPr kumimoji="0" lang="en-US" altLang="zh-CN" sz="2400" b="1">
                <a:solidFill>
                  <a:srgbClr val="333399"/>
                </a:solidFill>
              </a:rPr>
              <a:t>GB/T</a:t>
            </a:r>
            <a:r>
              <a:rPr kumimoji="0" lang="en-US" altLang="zh-CN" sz="2400" b="1">
                <a:solidFill>
                  <a:srgbClr val="333399"/>
                </a:solidFill>
                <a:latin typeface="宋体" pitchFamily="2" charset="-122"/>
              </a:rPr>
              <a:t> </a:t>
            </a:r>
            <a:r>
              <a:rPr kumimoji="0" lang="en-US" altLang="zh-CN" sz="2400" b="1">
                <a:solidFill>
                  <a:srgbClr val="333399"/>
                </a:solidFill>
              </a:rPr>
              <a:t>6170</a:t>
            </a:r>
            <a:r>
              <a:rPr kumimoji="0" lang="en-US" altLang="zh-CN" sz="2400" b="1">
                <a:solidFill>
                  <a:srgbClr val="333399"/>
                </a:solidFill>
                <a:latin typeface="宋体" pitchFamily="2" charset="-122"/>
              </a:rPr>
              <a:t> </a:t>
            </a:r>
            <a:r>
              <a:rPr kumimoji="0" lang="en-US" altLang="zh-CN" sz="2400" b="1">
                <a:solidFill>
                  <a:srgbClr val="333399"/>
                </a:solidFill>
              </a:rPr>
              <a:t>M12</a:t>
            </a:r>
          </a:p>
        </p:txBody>
      </p:sp>
      <p:sp>
        <p:nvSpPr>
          <p:cNvPr id="6" name="Text Box 27">
            <a:extLst>
              <a:ext uri="{FF2B5EF4-FFF2-40B4-BE49-F238E27FC236}">
                <a16:creationId xmlns:a16="http://schemas.microsoft.com/office/drawing/2014/main" id="{72669144-9B12-4E2F-97CB-662850E09D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7435" y="1310196"/>
            <a:ext cx="173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/>
              <a:t>简化画法：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03D4D536-0CDB-4E25-BE7F-28EA8510F8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600" y="2516291"/>
            <a:ext cx="1600200" cy="365125"/>
          </a:xfrm>
          <a:prstGeom prst="rect">
            <a:avLst/>
          </a:prstGeom>
          <a:noFill/>
          <a:ln w="19050">
            <a:solidFill>
              <a:srgbClr val="FF3300"/>
            </a:solidFill>
            <a:prstDash val="lgDashDot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400" b="1"/>
          </a:p>
        </p:txBody>
      </p:sp>
      <p:sp>
        <p:nvSpPr>
          <p:cNvPr id="8" name="Rectangle 29">
            <a:extLst>
              <a:ext uri="{FF2B5EF4-FFF2-40B4-BE49-F238E27FC236}">
                <a16:creationId xmlns:a16="http://schemas.microsoft.com/office/drawing/2014/main" id="{74E71D77-507F-4F94-BD8E-68D26F8B4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9900" y="2508353"/>
            <a:ext cx="681038" cy="374650"/>
          </a:xfrm>
          <a:prstGeom prst="rect">
            <a:avLst/>
          </a:prstGeom>
          <a:noFill/>
          <a:ln w="19050">
            <a:solidFill>
              <a:srgbClr val="FF3300"/>
            </a:solidFill>
            <a:prstDash val="lgDashDot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 sz="2400" b="1"/>
          </a:p>
        </p:txBody>
      </p:sp>
      <p:grpSp>
        <p:nvGrpSpPr>
          <p:cNvPr id="9" name="Group 30">
            <a:extLst>
              <a:ext uri="{FF2B5EF4-FFF2-40B4-BE49-F238E27FC236}">
                <a16:creationId xmlns:a16="http://schemas.microsoft.com/office/drawing/2014/main" id="{C992E4F1-5DD2-4F24-A30A-1100EB56EDCE}"/>
              </a:ext>
            </a:extLst>
          </p:cNvPr>
          <p:cNvGrpSpPr>
            <a:grpSpLocks/>
          </p:cNvGrpSpPr>
          <p:nvPr/>
        </p:nvGrpSpPr>
        <p:grpSpPr bwMode="auto">
          <a:xfrm>
            <a:off x="2235000" y="2946503"/>
            <a:ext cx="1516063" cy="531813"/>
            <a:chOff x="2976" y="1117"/>
            <a:chExt cx="955" cy="335"/>
          </a:xfrm>
        </p:grpSpPr>
        <p:sp>
          <p:nvSpPr>
            <p:cNvPr id="10" name="Text Box 31">
              <a:extLst>
                <a:ext uri="{FF2B5EF4-FFF2-40B4-BE49-F238E27FC236}">
                  <a16:creationId xmlns:a16="http://schemas.microsoft.com/office/drawing/2014/main" id="{615EAB4F-0FA3-4CBC-AF88-61D4373D2C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161"/>
              <a:ext cx="90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sz="2400" b="1">
                  <a:solidFill>
                    <a:srgbClr val="FF3300"/>
                  </a:solidFill>
                </a:rPr>
                <a:t>国标号</a:t>
              </a:r>
            </a:p>
          </p:txBody>
        </p:sp>
        <p:sp>
          <p:nvSpPr>
            <p:cNvPr id="11" name="Line 32">
              <a:extLst>
                <a:ext uri="{FF2B5EF4-FFF2-40B4-BE49-F238E27FC236}">
                  <a16:creationId xmlns:a16="http://schemas.microsoft.com/office/drawing/2014/main" id="{482D2BA4-C0F8-4132-8129-D166265FD0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1" y="1117"/>
              <a:ext cx="220" cy="220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</p:grpSp>
      <p:grpSp>
        <p:nvGrpSpPr>
          <p:cNvPr id="12" name="Group 33">
            <a:extLst>
              <a:ext uri="{FF2B5EF4-FFF2-40B4-BE49-F238E27FC236}">
                <a16:creationId xmlns:a16="http://schemas.microsoft.com/office/drawing/2014/main" id="{BE551D59-E0C2-46C8-A36D-EC6E95DE9FD9}"/>
              </a:ext>
            </a:extLst>
          </p:cNvPr>
          <p:cNvGrpSpPr>
            <a:grpSpLocks/>
          </p:cNvGrpSpPr>
          <p:nvPr/>
        </p:nvGrpSpPr>
        <p:grpSpPr bwMode="auto">
          <a:xfrm>
            <a:off x="3852664" y="2886178"/>
            <a:ext cx="1422400" cy="601663"/>
            <a:chOff x="4017" y="1077"/>
            <a:chExt cx="896" cy="379"/>
          </a:xfrm>
        </p:grpSpPr>
        <p:sp>
          <p:nvSpPr>
            <p:cNvPr id="13" name="Text Box 34">
              <a:extLst>
                <a:ext uri="{FF2B5EF4-FFF2-40B4-BE49-F238E27FC236}">
                  <a16:creationId xmlns:a16="http://schemas.microsoft.com/office/drawing/2014/main" id="{0B5B9E7C-21D3-4AEB-88BA-55CD452475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7" y="1165"/>
              <a:ext cx="896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zh-CN" altLang="en-US" sz="2400" b="1">
                  <a:solidFill>
                    <a:srgbClr val="FF3300"/>
                  </a:solidFill>
                </a:rPr>
                <a:t>螺纹规格</a:t>
              </a:r>
            </a:p>
          </p:txBody>
        </p:sp>
        <p:sp>
          <p:nvSpPr>
            <p:cNvPr id="14" name="Line 35">
              <a:extLst>
                <a:ext uri="{FF2B5EF4-FFF2-40B4-BE49-F238E27FC236}">
                  <a16:creationId xmlns:a16="http://schemas.microsoft.com/office/drawing/2014/main" id="{B6603437-F2B6-4B27-A132-DB7F7D43E12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72" y="1077"/>
              <a:ext cx="143" cy="143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 sz="2400" b="1"/>
            </a:p>
          </p:txBody>
        </p:sp>
      </p:grpSp>
      <p:sp>
        <p:nvSpPr>
          <p:cNvPr id="15" name="Text Box 37">
            <a:extLst>
              <a:ext uri="{FF2B5EF4-FFF2-40B4-BE49-F238E27FC236}">
                <a16:creationId xmlns:a16="http://schemas.microsoft.com/office/drawing/2014/main" id="{35A0FC1A-CF0F-486F-8C5B-B2D09AA97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6588" y="2481515"/>
            <a:ext cx="80342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/>
              <a:t>例：</a:t>
            </a:r>
          </a:p>
        </p:txBody>
      </p:sp>
      <p:sp>
        <p:nvSpPr>
          <p:cNvPr id="16" name="Text Box 38">
            <a:extLst>
              <a:ext uri="{FF2B5EF4-FFF2-40B4-BE49-F238E27FC236}">
                <a16:creationId xmlns:a16="http://schemas.microsoft.com/office/drawing/2014/main" id="{70A4F485-00D1-43F4-898F-7ED2B45AF7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26199" y="3251748"/>
            <a:ext cx="2251075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000" b="1" dirty="0">
                <a:solidFill>
                  <a:schemeClr val="accent2"/>
                </a:solidFill>
                <a:latin typeface="宋体" pitchFamily="2" charset="-122"/>
              </a:rPr>
              <a:t>其中：</a:t>
            </a:r>
            <a:r>
              <a:rPr lang="en-US" altLang="zh-CN" sz="2000" b="1" dirty="0">
                <a:solidFill>
                  <a:schemeClr val="accent2"/>
                </a:solidFill>
                <a:latin typeface="宋体" pitchFamily="2" charset="-122"/>
              </a:rPr>
              <a:t>d=</a:t>
            </a:r>
            <a:r>
              <a:rPr lang="zh-CN" altLang="zh-CN" sz="2000" b="1" dirty="0">
                <a:solidFill>
                  <a:schemeClr val="accent2"/>
                </a:solidFill>
                <a:latin typeface="宋体" pitchFamily="2" charset="-122"/>
              </a:rPr>
              <a:t>螺纹大径</a:t>
            </a:r>
            <a:endParaRPr lang="zh-CN" altLang="en-US" sz="2000" b="1" dirty="0">
              <a:solidFill>
                <a:schemeClr val="accent2"/>
              </a:solidFill>
              <a:latin typeface="宋体" pitchFamily="2" charset="-122"/>
            </a:endParaRPr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id="{AB4983E0-C233-474E-8A85-ECE12D0D2C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6180" y="3728076"/>
            <a:ext cx="219643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en-US" altLang="zh-CN" sz="2400" b="1" dirty="0">
                <a:solidFill>
                  <a:schemeClr val="tx2"/>
                </a:solidFill>
                <a:latin typeface="宋体" pitchFamily="2" charset="-122"/>
              </a:rPr>
              <a:t>⒉ </a:t>
            </a:r>
            <a:r>
              <a:rPr kumimoji="0" lang="zh-CN" altLang="en-US" sz="2400" b="1" dirty="0">
                <a:solidFill>
                  <a:schemeClr val="tx2"/>
                </a:solidFill>
                <a:latin typeface="宋体" pitchFamily="2" charset="-122"/>
              </a:rPr>
              <a:t>六角头螺栓</a:t>
            </a:r>
          </a:p>
        </p:txBody>
      </p:sp>
      <p:sp>
        <p:nvSpPr>
          <p:cNvPr id="18" name="Text Box 3">
            <a:extLst>
              <a:ext uri="{FF2B5EF4-FFF2-40B4-BE49-F238E27FC236}">
                <a16:creationId xmlns:a16="http://schemas.microsoft.com/office/drawing/2014/main" id="{61B1C9E0-A195-4520-BBEB-1EAC25EE3E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0966" y="4331648"/>
            <a:ext cx="251618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kumimoji="0" lang="zh-CN" altLang="en-US" sz="2400" b="1" dirty="0">
                <a:latin typeface="宋体" pitchFamily="2" charset="-122"/>
              </a:rPr>
              <a:t>规定标记：</a:t>
            </a:r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id="{9B0120FF-DCC1-43D5-9624-E881A6A20E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4865" y="4919301"/>
            <a:ext cx="344517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2400" b="1" dirty="0">
                <a:solidFill>
                  <a:srgbClr val="333399"/>
                </a:solidFill>
                <a:latin typeface="宋体" pitchFamily="2" charset="-122"/>
              </a:rPr>
              <a:t>螺栓</a:t>
            </a:r>
            <a:r>
              <a:rPr kumimoji="0" lang="en-US" altLang="zh-CN" sz="2400" b="1" dirty="0">
                <a:solidFill>
                  <a:srgbClr val="333399"/>
                </a:solidFill>
                <a:latin typeface="宋体" pitchFamily="2" charset="-122"/>
              </a:rPr>
              <a:t>GB/T 5780 M12×80</a:t>
            </a:r>
          </a:p>
        </p:txBody>
      </p:sp>
      <p:sp>
        <p:nvSpPr>
          <p:cNvPr id="20" name="Text Box 6">
            <a:extLst>
              <a:ext uri="{FF2B5EF4-FFF2-40B4-BE49-F238E27FC236}">
                <a16:creationId xmlns:a16="http://schemas.microsoft.com/office/drawing/2014/main" id="{3679503C-771F-4303-8804-7B06C900E1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8868" y="4269296"/>
            <a:ext cx="173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/>
              <a:t>简化画法：</a:t>
            </a:r>
          </a:p>
        </p:txBody>
      </p:sp>
      <p:sp>
        <p:nvSpPr>
          <p:cNvPr id="24" name="Text Box 10">
            <a:extLst>
              <a:ext uri="{FF2B5EF4-FFF2-40B4-BE49-F238E27FC236}">
                <a16:creationId xmlns:a16="http://schemas.microsoft.com/office/drawing/2014/main" id="{976D6B3C-2E21-4820-A1C2-F68A37396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64165" y="4935176"/>
            <a:ext cx="87947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b="1" dirty="0"/>
              <a:t>例：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201BB7AD-F56B-4996-B181-22A6891EA8B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027069" y="1698985"/>
            <a:ext cx="3081337" cy="264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97661D6D-20DB-49A9-9463-59904412C6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192168" y="4673049"/>
            <a:ext cx="3514725" cy="159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1" name="Group 7">
            <a:extLst>
              <a:ext uri="{FF2B5EF4-FFF2-40B4-BE49-F238E27FC236}">
                <a16:creationId xmlns:a16="http://schemas.microsoft.com/office/drawing/2014/main" id="{91F11DFD-54D0-43E8-815E-B882438A4323}"/>
              </a:ext>
            </a:extLst>
          </p:cNvPr>
          <p:cNvGrpSpPr>
            <a:grpSpLocks/>
          </p:cNvGrpSpPr>
          <p:nvPr/>
        </p:nvGrpSpPr>
        <p:grpSpPr bwMode="auto">
          <a:xfrm>
            <a:off x="5983289" y="6135213"/>
            <a:ext cx="2420025" cy="612529"/>
            <a:chOff x="4636" y="658"/>
            <a:chExt cx="1250" cy="483"/>
          </a:xfrm>
        </p:grpSpPr>
        <p:sp>
          <p:nvSpPr>
            <p:cNvPr id="22" name="Text Box 8">
              <a:extLst>
                <a:ext uri="{FF2B5EF4-FFF2-40B4-BE49-F238E27FC236}">
                  <a16:creationId xmlns:a16="http://schemas.microsoft.com/office/drawing/2014/main" id="{73AD116B-6E17-4026-A7CB-4D6D92ABA5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" y="850"/>
              <a:ext cx="1098" cy="291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/>
              <a:r>
                <a:rPr lang="zh-CN" altLang="en-US" b="1">
                  <a:solidFill>
                    <a:srgbClr val="FF3300"/>
                  </a:solidFill>
                </a:rPr>
                <a:t>螺栓长度</a:t>
              </a:r>
            </a:p>
          </p:txBody>
        </p:sp>
        <p:sp>
          <p:nvSpPr>
            <p:cNvPr id="23" name="Line 9">
              <a:extLst>
                <a:ext uri="{FF2B5EF4-FFF2-40B4-BE49-F238E27FC236}">
                  <a16:creationId xmlns:a16="http://schemas.microsoft.com/office/drawing/2014/main" id="{96D5FF5E-6F9D-4D6B-8C26-D4B8A6C5C9E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623" y="658"/>
              <a:ext cx="263" cy="202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 type="triangle" w="sm" len="lg"/>
              <a:tailEnd/>
            </a:ln>
          </p:spPr>
          <p:txBody>
            <a:bodyPr wrap="none" anchor="ctr"/>
            <a:lstStyle/>
            <a:p>
              <a:endParaRPr lang="zh-CN" altLang="en-US" b="1"/>
            </a:p>
          </p:txBody>
        </p:sp>
      </p:grpSp>
      <p:sp>
        <p:nvSpPr>
          <p:cNvPr id="27" name="Text Box 2">
            <a:extLst>
              <a:ext uri="{FF2B5EF4-FFF2-40B4-BE49-F238E27FC236}">
                <a16:creationId xmlns:a16="http://schemas.microsoft.com/office/drawing/2014/main" id="{BFEDFBE6-8D51-4131-844E-39DE25855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696" y="404664"/>
            <a:ext cx="570706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kumimoji="0"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螺纹紧固件</a:t>
            </a:r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的种类和规定标记</a:t>
            </a:r>
            <a:endParaRPr kumimoji="0" lang="zh-CN" altLang="en-US" sz="3200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6049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75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75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75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50"/>
                            </p:stCondLst>
                            <p:childTnLst>
                              <p:par>
                                <p:cTn id="7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build="p" autoUpdateAnimBg="0" advAuto="0"/>
      <p:bldP spid="6" grpId="0" autoUpdateAnimBg="0"/>
      <p:bldP spid="7" grpId="0" animBg="1"/>
      <p:bldP spid="8" grpId="0" animBg="1"/>
      <p:bldP spid="15" grpId="0" build="p" autoUpdateAnimBg="0"/>
      <p:bldP spid="16" grpId="0" autoUpdateAnimBg="0"/>
      <p:bldP spid="17" grpId="0"/>
      <p:bldP spid="18" grpId="0" autoUpdateAnimBg="0"/>
      <p:bldP spid="19" grpId="0" autoUpdateAnimBg="0"/>
      <p:bldP spid="20" grpId="0" autoUpdateAnimBg="0"/>
      <p:bldP spid="24" grpId="0" build="p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1">
            <a:extLst>
              <a:ext uri="{FF2B5EF4-FFF2-40B4-BE49-F238E27FC236}">
                <a16:creationId xmlns:a16="http://schemas.microsoft.com/office/drawing/2014/main" id="{2DAEFC38-2477-4550-9357-C39E998DCA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1381860"/>
            <a:ext cx="1268413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0" lang="en-US" altLang="zh-CN" sz="2400" b="1" dirty="0">
                <a:latin typeface="宋体" pitchFamily="2" charset="-122"/>
              </a:rPr>
              <a:t>⒊ </a:t>
            </a:r>
            <a:r>
              <a:rPr kumimoji="0" lang="zh-CN" altLang="en-US" sz="2400" b="1" dirty="0">
                <a:latin typeface="宋体" pitchFamily="2" charset="-122"/>
              </a:rPr>
              <a:t>垫圈</a:t>
            </a:r>
          </a:p>
        </p:txBody>
      </p:sp>
      <p:sp>
        <p:nvSpPr>
          <p:cNvPr id="3" name="Text Box 12">
            <a:extLst>
              <a:ext uri="{FF2B5EF4-FFF2-40B4-BE49-F238E27FC236}">
                <a16:creationId xmlns:a16="http://schemas.microsoft.com/office/drawing/2014/main" id="{259AEFF3-128F-40EF-80BA-2DBA81BD9F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7088" y="1798351"/>
            <a:ext cx="17315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0" lang="zh-CN" altLang="en-US" sz="2400" b="1" dirty="0">
                <a:latin typeface="宋体" pitchFamily="2" charset="-122"/>
              </a:rPr>
              <a:t>规定标记：</a:t>
            </a:r>
          </a:p>
        </p:txBody>
      </p:sp>
      <p:sp>
        <p:nvSpPr>
          <p:cNvPr id="4" name="Text Box 13">
            <a:extLst>
              <a:ext uri="{FF2B5EF4-FFF2-40B4-BE49-F238E27FC236}">
                <a16:creationId xmlns:a16="http://schemas.microsoft.com/office/drawing/2014/main" id="{C63C33FD-711A-4826-8091-78DEC8BCD9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5145" y="2353409"/>
            <a:ext cx="2668588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2400" dirty="0">
                <a:solidFill>
                  <a:srgbClr val="333399"/>
                </a:solidFill>
                <a:latin typeface="宋体" pitchFamily="2" charset="-122"/>
              </a:rPr>
              <a:t>垫圈</a:t>
            </a:r>
            <a:r>
              <a:rPr kumimoji="0" lang="en-US" altLang="zh-CN" sz="2400" dirty="0">
                <a:solidFill>
                  <a:srgbClr val="333399"/>
                </a:solidFill>
                <a:latin typeface="宋体" pitchFamily="2" charset="-122"/>
              </a:rPr>
              <a:t>GB/T 97.1 12</a:t>
            </a:r>
          </a:p>
        </p:txBody>
      </p:sp>
      <p:sp>
        <p:nvSpPr>
          <p:cNvPr id="5" name="Text Box 14">
            <a:extLst>
              <a:ext uri="{FF2B5EF4-FFF2-40B4-BE49-F238E27FC236}">
                <a16:creationId xmlns:a16="http://schemas.microsoft.com/office/drawing/2014/main" id="{0D14333C-7158-448F-B625-8C25ABF594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0998" y="1394650"/>
            <a:ext cx="242411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kumimoji="0" lang="zh-CN" altLang="en-US" sz="2400" b="1" dirty="0">
                <a:latin typeface="宋体" pitchFamily="2" charset="-122"/>
              </a:rPr>
              <a:t>简化画法：</a:t>
            </a:r>
          </a:p>
        </p:txBody>
      </p:sp>
      <p:sp>
        <p:nvSpPr>
          <p:cNvPr id="6" name="Rectangle 15">
            <a:extLst>
              <a:ext uri="{FF2B5EF4-FFF2-40B4-BE49-F238E27FC236}">
                <a16:creationId xmlns:a16="http://schemas.microsoft.com/office/drawing/2014/main" id="{AC702B67-BE71-4002-AA7C-38F13687A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3670" y="2420084"/>
            <a:ext cx="515938" cy="403225"/>
          </a:xfrm>
          <a:prstGeom prst="rect">
            <a:avLst/>
          </a:prstGeom>
          <a:noFill/>
          <a:ln w="19050">
            <a:solidFill>
              <a:srgbClr val="FF3300"/>
            </a:solidFill>
            <a:prstDash val="lgDashDot"/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0" name="Text Box 49">
            <a:extLst>
              <a:ext uri="{FF2B5EF4-FFF2-40B4-BE49-F238E27FC236}">
                <a16:creationId xmlns:a16="http://schemas.microsoft.com/office/drawing/2014/main" id="{038FEEC6-4E6D-40D6-91CD-24B7D835D8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81895" y="2372459"/>
            <a:ext cx="803275" cy="4619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/>
              <a:t>例：</a:t>
            </a:r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A6B4E383-E96A-469E-9418-D5FD22E85F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321" y="3651083"/>
            <a:ext cx="18986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kumimoji="0" lang="en-US" altLang="zh-CN" sz="2400" b="1" dirty="0">
                <a:latin typeface="宋体" pitchFamily="2" charset="-122"/>
              </a:rPr>
              <a:t>⒋ </a:t>
            </a:r>
            <a:r>
              <a:rPr kumimoji="0" lang="zh-CN" altLang="en-US" sz="2400" b="1" dirty="0">
                <a:latin typeface="宋体" pitchFamily="2" charset="-122"/>
              </a:rPr>
              <a:t>螺钉</a:t>
            </a:r>
          </a:p>
        </p:txBody>
      </p:sp>
      <p:sp>
        <p:nvSpPr>
          <p:cNvPr id="13" name="Text Box 3">
            <a:extLst>
              <a:ext uri="{FF2B5EF4-FFF2-40B4-BE49-F238E27FC236}">
                <a16:creationId xmlns:a16="http://schemas.microsoft.com/office/drawing/2014/main" id="{96A5E3C7-3842-4F8C-83DB-A1C051816A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4902" y="4132997"/>
            <a:ext cx="1723549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kumimoji="0" lang="zh-CN" altLang="en-US" sz="2400">
                <a:latin typeface="宋体" pitchFamily="2" charset="-122"/>
              </a:rPr>
              <a:t>规定标记：</a:t>
            </a:r>
          </a:p>
        </p:txBody>
      </p:sp>
      <p:sp>
        <p:nvSpPr>
          <p:cNvPr id="14" name="Text Box 4">
            <a:extLst>
              <a:ext uri="{FF2B5EF4-FFF2-40B4-BE49-F238E27FC236}">
                <a16:creationId xmlns:a16="http://schemas.microsoft.com/office/drawing/2014/main" id="{7ED69157-30A5-4BBF-A0BD-2CF7397F71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2870" y="4628297"/>
            <a:ext cx="2954655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kumimoji="0" lang="zh-CN" altLang="en-US" sz="2400" dirty="0">
                <a:solidFill>
                  <a:srgbClr val="333399"/>
                </a:solidFill>
                <a:latin typeface="宋体" pitchFamily="2" charset="-122"/>
              </a:rPr>
              <a:t>螺钉</a:t>
            </a:r>
            <a:r>
              <a:rPr kumimoji="0" lang="en-US" altLang="zh-CN" sz="2400" dirty="0">
                <a:solidFill>
                  <a:srgbClr val="333399"/>
                </a:solidFill>
                <a:latin typeface="宋体" pitchFamily="2" charset="-122"/>
              </a:rPr>
              <a:t>GB/T 65 M12×l</a:t>
            </a:r>
          </a:p>
        </p:txBody>
      </p:sp>
      <p:grpSp>
        <p:nvGrpSpPr>
          <p:cNvPr id="15" name="Group 50">
            <a:extLst>
              <a:ext uri="{FF2B5EF4-FFF2-40B4-BE49-F238E27FC236}">
                <a16:creationId xmlns:a16="http://schemas.microsoft.com/office/drawing/2014/main" id="{16B54C1A-261E-4270-BA6B-B0A88E718731}"/>
              </a:ext>
            </a:extLst>
          </p:cNvPr>
          <p:cNvGrpSpPr>
            <a:grpSpLocks/>
          </p:cNvGrpSpPr>
          <p:nvPr/>
        </p:nvGrpSpPr>
        <p:grpSpPr bwMode="auto">
          <a:xfrm>
            <a:off x="2862870" y="5095022"/>
            <a:ext cx="2471738" cy="755650"/>
            <a:chOff x="460" y="615"/>
            <a:chExt cx="1557" cy="476"/>
          </a:xfrm>
        </p:grpSpPr>
        <p:sp>
          <p:nvSpPr>
            <p:cNvPr id="16" name="Text Box 51">
              <a:extLst>
                <a:ext uri="{FF2B5EF4-FFF2-40B4-BE49-F238E27FC236}">
                  <a16:creationId xmlns:a16="http://schemas.microsoft.com/office/drawing/2014/main" id="{01CEF12A-350C-40B1-892D-3CA8C0097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" y="839"/>
              <a:ext cx="155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r>
                <a:rPr lang="zh-CN" altLang="en-US" sz="2000" b="1" dirty="0">
                  <a:solidFill>
                    <a:schemeClr val="accent2"/>
                  </a:solidFill>
                </a:rPr>
                <a:t>开槽圆柱头螺钉</a:t>
              </a:r>
            </a:p>
          </p:txBody>
        </p:sp>
        <p:sp>
          <p:nvSpPr>
            <p:cNvPr id="17" name="Line 52">
              <a:extLst>
                <a:ext uri="{FF2B5EF4-FFF2-40B4-BE49-F238E27FC236}">
                  <a16:creationId xmlns:a16="http://schemas.microsoft.com/office/drawing/2014/main" id="{F04BEBEA-C817-4031-B7C3-991119AB0F1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385" y="615"/>
              <a:ext cx="459" cy="265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 sz="2000"/>
            </a:p>
          </p:txBody>
        </p:sp>
      </p:grpSp>
      <p:sp>
        <p:nvSpPr>
          <p:cNvPr id="18" name="Text Box 53">
            <a:extLst>
              <a:ext uri="{FF2B5EF4-FFF2-40B4-BE49-F238E27FC236}">
                <a16:creationId xmlns:a16="http://schemas.microsoft.com/office/drawing/2014/main" id="{BF0F5426-AA44-4E50-BAB9-D0C7F7555B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88611" y="3888938"/>
            <a:ext cx="17319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>
                <a:latin typeface="宋体" pitchFamily="2" charset="-122"/>
              </a:rPr>
              <a:t>简化画法：</a:t>
            </a:r>
          </a:p>
        </p:txBody>
      </p:sp>
      <p:sp>
        <p:nvSpPr>
          <p:cNvPr id="19" name="Text Box 54">
            <a:extLst>
              <a:ext uri="{FF2B5EF4-FFF2-40B4-BE49-F238E27FC236}">
                <a16:creationId xmlns:a16="http://schemas.microsoft.com/office/drawing/2014/main" id="{61F8B448-AD54-4F58-9383-5B867FB90C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10323" y="4628297"/>
            <a:ext cx="800219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/>
              <a:t>例：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14CD727E-93BD-4FE8-BA8F-96D8DB2B6D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117370" y="1843822"/>
            <a:ext cx="3255963" cy="1870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863DB0E5-D9EA-4F36-A029-6CBAF33F70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21676" y="4301272"/>
            <a:ext cx="4062412" cy="242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16">
            <a:extLst>
              <a:ext uri="{FF2B5EF4-FFF2-40B4-BE49-F238E27FC236}">
                <a16:creationId xmlns:a16="http://schemas.microsoft.com/office/drawing/2014/main" id="{D367D5FD-A9FC-4455-82C7-AF5A43C9870E}"/>
              </a:ext>
            </a:extLst>
          </p:cNvPr>
          <p:cNvGrpSpPr>
            <a:grpSpLocks/>
          </p:cNvGrpSpPr>
          <p:nvPr/>
        </p:nvGrpSpPr>
        <p:grpSpPr bwMode="auto">
          <a:xfrm>
            <a:off x="2519970" y="2823309"/>
            <a:ext cx="3117850" cy="833438"/>
            <a:chOff x="363" y="3350"/>
            <a:chExt cx="1964" cy="525"/>
          </a:xfrm>
        </p:grpSpPr>
        <p:sp>
          <p:nvSpPr>
            <p:cNvPr id="8" name="Text Box 17">
              <a:extLst>
                <a:ext uri="{FF2B5EF4-FFF2-40B4-BE49-F238E27FC236}">
                  <a16:creationId xmlns:a16="http://schemas.microsoft.com/office/drawing/2014/main" id="{6C6CE2E1-15FA-4008-9011-C1EA870109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" y="3421"/>
              <a:ext cx="1752" cy="454"/>
            </a:xfrm>
            <a:prstGeom prst="rect">
              <a:avLst/>
            </a:prstGeom>
            <a:noFill/>
            <a:ln w="9525">
              <a:solidFill>
                <a:srgbClr val="FF3300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lnSpc>
                  <a:spcPct val="85000"/>
                </a:lnSpc>
              </a:pPr>
              <a:r>
                <a:rPr kumimoji="0" lang="zh-CN" altLang="en-US" sz="2400" dirty="0">
                  <a:solidFill>
                    <a:srgbClr val="FF3300"/>
                  </a:solidFill>
                  <a:latin typeface="宋体" pitchFamily="2" charset="-122"/>
                </a:rPr>
                <a:t>规格</a:t>
              </a:r>
              <a:r>
                <a:rPr kumimoji="0" lang="zh-CN" altLang="en-US" sz="2400" dirty="0">
                  <a:solidFill>
                    <a:srgbClr val="FF0000"/>
                  </a:solidFill>
                  <a:latin typeface="宋体" pitchFamily="2" charset="-122"/>
                </a:rPr>
                <a:t>指用于</a:t>
              </a:r>
              <a:r>
                <a:rPr kumimoji="0" lang="en-US" altLang="zh-CN" sz="2400" dirty="0">
                  <a:solidFill>
                    <a:srgbClr val="FF0000"/>
                  </a:solidFill>
                  <a:latin typeface="宋体" pitchFamily="2" charset="-122"/>
                </a:rPr>
                <a:t>M12</a:t>
              </a:r>
              <a:r>
                <a:rPr kumimoji="0" lang="zh-CN" altLang="en-US" sz="2400" dirty="0">
                  <a:solidFill>
                    <a:srgbClr val="FF0000"/>
                  </a:solidFill>
                  <a:latin typeface="宋体" pitchFamily="2" charset="-122"/>
                </a:rPr>
                <a:t>的</a:t>
              </a:r>
            </a:p>
            <a:p>
              <a:pPr algn="ctr">
                <a:lnSpc>
                  <a:spcPct val="85000"/>
                </a:lnSpc>
              </a:pPr>
              <a:r>
                <a:rPr kumimoji="0" lang="zh-CN" altLang="en-US" sz="2400" dirty="0">
                  <a:solidFill>
                    <a:srgbClr val="FF0000"/>
                  </a:solidFill>
                  <a:latin typeface="宋体" pitchFamily="2" charset="-122"/>
                </a:rPr>
                <a:t>螺栓或螺钉</a:t>
              </a:r>
            </a:p>
          </p:txBody>
        </p:sp>
        <p:sp>
          <p:nvSpPr>
            <p:cNvPr id="9" name="Line 18">
              <a:extLst>
                <a:ext uri="{FF2B5EF4-FFF2-40B4-BE49-F238E27FC236}">
                  <a16:creationId xmlns:a16="http://schemas.microsoft.com/office/drawing/2014/main" id="{511FAF46-B496-44F9-9FAD-D52896F111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15" y="3350"/>
              <a:ext cx="212" cy="207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 type="triangle" w="med" len="med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" name="Text Box 2">
            <a:extLst>
              <a:ext uri="{FF2B5EF4-FFF2-40B4-BE49-F238E27FC236}">
                <a16:creationId xmlns:a16="http://schemas.microsoft.com/office/drawing/2014/main" id="{BFEDFBE6-8D51-4131-844E-39DE25855E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9696" y="404664"/>
            <a:ext cx="5707062" cy="584200"/>
          </a:xfrm>
          <a:prstGeom prst="rect">
            <a:avLst/>
          </a:prstGeom>
          <a:noFill/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hangingPunct="1"/>
            <a:r>
              <a:rPr kumimoji="0"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螺纹紧固件</a:t>
            </a:r>
            <a:r>
              <a:rPr lang="zh-CN" altLang="en-US" sz="3200" dirty="0">
                <a:solidFill>
                  <a:srgbClr val="002060"/>
                </a:solidFill>
                <a:latin typeface="黑体" pitchFamily="49" charset="-122"/>
                <a:ea typeface="黑体" pitchFamily="49" charset="-122"/>
              </a:rPr>
              <a:t>的种类和规定标记</a:t>
            </a:r>
            <a:endParaRPr kumimoji="0" lang="zh-CN" altLang="en-US" sz="3200" dirty="0">
              <a:solidFill>
                <a:srgbClr val="002060"/>
              </a:solidFill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60074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75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75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2" dur="75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"/>
                            </p:stCondLst>
                            <p:childTnLst>
                              <p:par>
                                <p:cTn id="59" presetID="3" presetClass="entr" presetSubtype="5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75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4" grpId="0" build="p" autoUpdateAnimBg="0" advAuto="0"/>
      <p:bldP spid="5" grpId="0" build="p" autoUpdateAnimBg="0"/>
      <p:bldP spid="6" grpId="0" animBg="1"/>
      <p:bldP spid="10" grpId="0" build="p" autoUpdateAnimBg="0"/>
      <p:bldP spid="12" grpId="0"/>
      <p:bldP spid="13" grpId="0" autoUpdateAnimBg="0"/>
      <p:bldP spid="14" grpId="0" autoUpdateAnimBg="0"/>
      <p:bldP spid="18" grpId="0" autoUpdateAnimBg="0"/>
      <p:bldP spid="19" grpId="0" build="p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6828DBE-C8DC-48EF-8D92-88D46183095F}"/>
              </a:ext>
            </a:extLst>
          </p:cNvPr>
          <p:cNvSpPr/>
          <p:nvPr/>
        </p:nvSpPr>
        <p:spPr>
          <a:xfrm>
            <a:off x="4716462" y="476672"/>
            <a:ext cx="275907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3200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 键的基本知识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4C47FCA-1F65-4D9E-8D08-7366CFF6D68D}"/>
              </a:ext>
            </a:extLst>
          </p:cNvPr>
          <p:cNvSpPr/>
          <p:nvPr/>
        </p:nvSpPr>
        <p:spPr>
          <a:xfrm>
            <a:off x="1235460" y="1545059"/>
            <a:ext cx="10045116" cy="830263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400" kern="100" dirty="0"/>
              <a:t>        </a:t>
            </a:r>
            <a:r>
              <a:rPr lang="zh-CN" altLang="zh-CN" sz="2400" kern="100" dirty="0"/>
              <a:t>键是</a:t>
            </a:r>
            <a:r>
              <a:rPr lang="zh-CN" altLang="zh-CN" sz="2400" kern="100" dirty="0">
                <a:solidFill>
                  <a:srgbClr val="FF0000"/>
                </a:solidFill>
              </a:rPr>
              <a:t>标准件</a:t>
            </a:r>
            <a:r>
              <a:rPr lang="zh-CN" altLang="zh-CN" sz="2400" kern="100" dirty="0"/>
              <a:t>，通常用来</a:t>
            </a:r>
            <a:r>
              <a:rPr lang="zh-CN" altLang="zh-CN" sz="2400" kern="100" dirty="0">
                <a:solidFill>
                  <a:srgbClr val="FF0000"/>
                </a:solidFill>
              </a:rPr>
              <a:t>联结</a:t>
            </a:r>
            <a:r>
              <a:rPr lang="zh-CN" altLang="zh-CN" sz="2400" kern="100" dirty="0"/>
              <a:t>轴与轴上的转动零件，如齿轮、带轮等，起</a:t>
            </a:r>
            <a:r>
              <a:rPr lang="zh-CN" altLang="zh-CN" sz="2400" kern="100" dirty="0">
                <a:solidFill>
                  <a:srgbClr val="FF0000"/>
                </a:solidFill>
              </a:rPr>
              <a:t>传递扭矩</a:t>
            </a:r>
            <a:r>
              <a:rPr lang="zh-CN" altLang="zh-CN" sz="2400" kern="100" dirty="0"/>
              <a:t>的作用。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9C479F-405D-4EE4-9E4C-99DEEBA92B56}"/>
              </a:ext>
            </a:extLst>
          </p:cNvPr>
          <p:cNvSpPr/>
          <p:nvPr/>
        </p:nvSpPr>
        <p:spPr>
          <a:xfrm>
            <a:off x="1883532" y="2399135"/>
            <a:ext cx="3925502" cy="831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键是标准件，不需要单独画出其图样，但要正确标记。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5" name="图片 5">
            <a:extLst>
              <a:ext uri="{FF2B5EF4-FFF2-40B4-BE49-F238E27FC236}">
                <a16:creationId xmlns:a16="http://schemas.microsoft.com/office/drawing/2014/main" id="{73EF10BC-D05C-4513-8A34-CFBD89C0D1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04112" y="2594397"/>
            <a:ext cx="3016250" cy="234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57CA486-6B3F-498B-AE07-41E89AC1FA63}"/>
              </a:ext>
            </a:extLst>
          </p:cNvPr>
          <p:cNvSpPr/>
          <p:nvPr/>
        </p:nvSpPr>
        <p:spPr>
          <a:xfrm>
            <a:off x="1364420" y="3309516"/>
            <a:ext cx="1576387" cy="4619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400" kern="100" dirty="0">
                <a:latin typeface="+mn-ea"/>
                <a:ea typeface="+mn-ea"/>
                <a:cs typeface="Times New Roman" panose="02020603050405020304" pitchFamily="18" charset="0"/>
              </a:rPr>
              <a:t>标记</a:t>
            </a:r>
            <a:r>
              <a:rPr lang="zh-CN" altLang="zh-CN" sz="2400" b="1" kern="100" dirty="0">
                <a:latin typeface="+mn-ea"/>
                <a:ea typeface="+mn-ea"/>
                <a:cs typeface="Times New Roman" panose="02020603050405020304" pitchFamily="18" charset="0"/>
              </a:rPr>
              <a:t>示例</a:t>
            </a:r>
            <a:r>
              <a:rPr lang="en-US" altLang="zh-CN" sz="2400" kern="100" dirty="0">
                <a:latin typeface="+mn-ea"/>
                <a:ea typeface="+mn-ea"/>
                <a:cs typeface="Times New Roman" panose="02020603050405020304" pitchFamily="18" charset="0"/>
              </a:rPr>
              <a:t>:</a:t>
            </a:r>
            <a:endParaRPr lang="zh-CN" altLang="en-US" sz="2400" dirty="0">
              <a:latin typeface="+mn-ea"/>
              <a:ea typeface="+mn-ea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A42C5E0-FAEB-44A2-900A-ACC5991220B8}"/>
              </a:ext>
            </a:extLst>
          </p:cNvPr>
          <p:cNvSpPr/>
          <p:nvPr/>
        </p:nvSpPr>
        <p:spPr>
          <a:xfrm>
            <a:off x="2793170" y="3333329"/>
            <a:ext cx="1635125" cy="461962"/>
          </a:xfrm>
          <a:prstGeom prst="rect">
            <a:avLst/>
          </a:prstGeom>
        </p:spPr>
        <p:txBody>
          <a:bodyPr>
            <a:spAutoFit/>
          </a:bodyPr>
          <a:lstStyle/>
          <a:p>
            <a:pPr indent="47625" algn="just">
              <a:spcAft>
                <a:spcPts val="0"/>
              </a:spcAft>
              <a:defRPr/>
            </a:pPr>
            <a:r>
              <a:rPr lang="zh-CN" altLang="zh-CN" sz="2400" dirty="0">
                <a:solidFill>
                  <a:srgbClr val="0070C0"/>
                </a:solidFill>
              </a:rPr>
              <a:t>普通平</a:t>
            </a:r>
            <a:r>
              <a:rPr lang="zh-CN" altLang="zh-CN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键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6B717E3-FCED-4D2E-8720-B3E5D1605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0675" y="3925466"/>
            <a:ext cx="564975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just"/>
            <a:r>
              <a:rPr lang="zh-CN" altLang="en-US" sz="2400">
                <a:solidFill>
                  <a:srgbClr val="FF3300"/>
                </a:solidFill>
                <a:latin typeface="宋体" pitchFamily="2" charset="-122"/>
              </a:rPr>
              <a:t>标记</a:t>
            </a:r>
            <a:r>
              <a:rPr lang="en-US" altLang="zh-CN" sz="2400">
                <a:latin typeface="宋体" pitchFamily="2" charset="-122"/>
              </a:rPr>
              <a:t>: </a:t>
            </a:r>
            <a:r>
              <a:rPr lang="en-US" altLang="zh-CN" sz="2400">
                <a:solidFill>
                  <a:schemeClr val="accent1"/>
                </a:solidFill>
              </a:rPr>
              <a:t>GB/T 1096-2003 </a:t>
            </a:r>
            <a:r>
              <a:rPr lang="zh-CN" altLang="zh-CN" sz="2400">
                <a:solidFill>
                  <a:schemeClr val="accent1"/>
                </a:solidFill>
              </a:rPr>
              <a:t>键</a:t>
            </a:r>
            <a:r>
              <a:rPr lang="en-US" altLang="zh-CN" sz="2400">
                <a:solidFill>
                  <a:schemeClr val="accent1"/>
                </a:solidFill>
              </a:rPr>
              <a:t>18</a:t>
            </a:r>
            <a:r>
              <a:rPr lang="zh-CN" altLang="zh-CN" sz="2400">
                <a:solidFill>
                  <a:schemeClr val="accent1"/>
                </a:solidFill>
              </a:rPr>
              <a:t>×</a:t>
            </a:r>
            <a:r>
              <a:rPr lang="en-US" altLang="zh-CN" sz="2400">
                <a:solidFill>
                  <a:schemeClr val="accent1"/>
                </a:solidFill>
              </a:rPr>
              <a:t>11</a:t>
            </a:r>
            <a:r>
              <a:rPr lang="zh-CN" altLang="zh-CN" sz="2400">
                <a:solidFill>
                  <a:schemeClr val="accent1"/>
                </a:solidFill>
              </a:rPr>
              <a:t>×</a:t>
            </a:r>
            <a:r>
              <a:rPr lang="en-US" altLang="zh-CN" sz="2400">
                <a:solidFill>
                  <a:schemeClr val="accent1"/>
                </a:solidFill>
              </a:rPr>
              <a:t>100 </a:t>
            </a:r>
            <a:endParaRPr lang="zh-CN" altLang="zh-CN" sz="2400">
              <a:solidFill>
                <a:schemeClr val="accent1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565C5FA-61D9-4341-B535-33B6509618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0445" y="4482679"/>
            <a:ext cx="5913437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/>
            <a:r>
              <a:rPr lang="zh-CN" altLang="zh-CN" sz="2400">
                <a:solidFill>
                  <a:srgbClr val="FF0000"/>
                </a:solidFill>
              </a:rPr>
              <a:t>表示</a:t>
            </a:r>
            <a:r>
              <a:rPr lang="en-US" altLang="zh-CN" sz="2400">
                <a:solidFill>
                  <a:srgbClr val="FF0000"/>
                </a:solidFill>
              </a:rPr>
              <a:t>: </a:t>
            </a:r>
            <a:r>
              <a:rPr lang="zh-CN" altLang="zh-CN" sz="2400">
                <a:solidFill>
                  <a:srgbClr val="00B0F0"/>
                </a:solidFill>
              </a:rPr>
              <a:t>键宽</a:t>
            </a:r>
            <a:r>
              <a:rPr lang="en-US" altLang="zh-CN" sz="2400" i="1">
                <a:solidFill>
                  <a:srgbClr val="00B0F0"/>
                </a:solidFill>
              </a:rPr>
              <a:t>b</a:t>
            </a:r>
            <a:r>
              <a:rPr lang="en-US" altLang="zh-CN" sz="2400">
                <a:solidFill>
                  <a:srgbClr val="00B0F0"/>
                </a:solidFill>
              </a:rPr>
              <a:t>=18mm</a:t>
            </a:r>
            <a:r>
              <a:rPr lang="zh-CN" altLang="zh-CN" sz="2400">
                <a:solidFill>
                  <a:srgbClr val="00B0F0"/>
                </a:solidFill>
              </a:rPr>
              <a:t>，键高</a:t>
            </a:r>
            <a:r>
              <a:rPr lang="en-US" altLang="zh-CN" sz="2400" i="1">
                <a:solidFill>
                  <a:srgbClr val="00B0F0"/>
                </a:solidFill>
              </a:rPr>
              <a:t>h</a:t>
            </a:r>
            <a:r>
              <a:rPr lang="en-US" altLang="zh-CN" sz="2400">
                <a:solidFill>
                  <a:srgbClr val="00B0F0"/>
                </a:solidFill>
              </a:rPr>
              <a:t>=11mm</a:t>
            </a:r>
            <a:r>
              <a:rPr lang="zh-CN" altLang="zh-CN" sz="2400">
                <a:solidFill>
                  <a:srgbClr val="00B0F0"/>
                </a:solidFill>
              </a:rPr>
              <a:t>，键</a:t>
            </a:r>
            <a:endParaRPr lang="en-US" altLang="zh-CN" sz="2400">
              <a:solidFill>
                <a:srgbClr val="00B0F0"/>
              </a:solidFill>
            </a:endParaRPr>
          </a:p>
          <a:p>
            <a:pPr algn="just"/>
            <a:r>
              <a:rPr lang="en-US" altLang="zh-CN" sz="2400">
                <a:solidFill>
                  <a:srgbClr val="00B0F0"/>
                </a:solidFill>
              </a:rPr>
              <a:t>         </a:t>
            </a:r>
            <a:r>
              <a:rPr lang="zh-CN" altLang="zh-CN" sz="2400">
                <a:solidFill>
                  <a:srgbClr val="00B0F0"/>
                </a:solidFill>
              </a:rPr>
              <a:t>长</a:t>
            </a:r>
            <a:r>
              <a:rPr lang="en-US" altLang="zh-CN" sz="2400" i="1">
                <a:solidFill>
                  <a:srgbClr val="00B0F0"/>
                </a:solidFill>
              </a:rPr>
              <a:t>L</a:t>
            </a:r>
            <a:r>
              <a:rPr lang="en-US" altLang="zh-CN" sz="2400">
                <a:solidFill>
                  <a:srgbClr val="00B0F0"/>
                </a:solidFill>
              </a:rPr>
              <a:t>=100mm</a:t>
            </a:r>
            <a:r>
              <a:rPr lang="zh-CN" altLang="zh-CN" sz="2400">
                <a:solidFill>
                  <a:srgbClr val="00B0F0"/>
                </a:solidFill>
              </a:rPr>
              <a:t>的圆头普通平键</a:t>
            </a:r>
            <a:r>
              <a:rPr lang="en-US" altLang="zh-CN" sz="2400">
                <a:solidFill>
                  <a:srgbClr val="00B0F0"/>
                </a:solidFill>
              </a:rPr>
              <a:t>(A</a:t>
            </a:r>
            <a:r>
              <a:rPr lang="zh-CN" altLang="zh-CN" sz="2400">
                <a:solidFill>
                  <a:srgbClr val="00B0F0"/>
                </a:solidFill>
              </a:rPr>
              <a:t>型</a:t>
            </a:r>
            <a:r>
              <a:rPr lang="en-US" altLang="zh-CN" sz="2400">
                <a:solidFill>
                  <a:srgbClr val="00B0F0"/>
                </a:solidFill>
              </a:rPr>
              <a:t>)</a:t>
            </a:r>
            <a:r>
              <a:rPr lang="zh-CN" altLang="zh-CN" sz="2400">
                <a:solidFill>
                  <a:srgbClr val="00B0F0"/>
                </a:solidFill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22CA8D5-4811-4DE0-A12B-21D2346A1958}"/>
              </a:ext>
            </a:extLst>
          </p:cNvPr>
          <p:cNvSpPr/>
          <p:nvPr/>
        </p:nvSpPr>
        <p:spPr>
          <a:xfrm>
            <a:off x="3467708" y="5559851"/>
            <a:ext cx="6387764" cy="83185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zh-CN" sz="2400" kern="100" dirty="0">
                <a:cs typeface="Times New Roman" panose="02020603050405020304" pitchFamily="18" charset="0"/>
              </a:rPr>
              <a:t>普通平键分</a:t>
            </a:r>
            <a:r>
              <a:rPr lang="en-US" altLang="zh-CN" sz="2400" i="1" kern="100" dirty="0"/>
              <a:t>A</a:t>
            </a:r>
            <a:r>
              <a:rPr lang="zh-CN" altLang="zh-CN" sz="2400" kern="100" dirty="0">
                <a:cs typeface="Times New Roman" panose="02020603050405020304" pitchFamily="18" charset="0"/>
              </a:rPr>
              <a:t>、</a:t>
            </a:r>
            <a:r>
              <a:rPr lang="en-US" altLang="zh-CN" sz="2400" i="1" kern="100" dirty="0"/>
              <a:t>B</a:t>
            </a:r>
            <a:r>
              <a:rPr lang="zh-CN" altLang="zh-CN" sz="2400" kern="100" dirty="0">
                <a:cs typeface="Times New Roman" panose="02020603050405020304" pitchFamily="18" charset="0"/>
              </a:rPr>
              <a:t>、</a:t>
            </a:r>
            <a:r>
              <a:rPr lang="en-US" altLang="zh-CN" sz="2400" i="1" kern="100" dirty="0"/>
              <a:t>C</a:t>
            </a:r>
            <a:r>
              <a:rPr lang="zh-CN" altLang="zh-CN" sz="2400" kern="100" dirty="0">
                <a:cs typeface="Times New Roman" panose="02020603050405020304" pitchFamily="18" charset="0"/>
              </a:rPr>
              <a:t>三种形式，</a:t>
            </a:r>
            <a:r>
              <a:rPr lang="en-US" altLang="zh-CN" sz="2400" i="1" kern="100" dirty="0">
                <a:solidFill>
                  <a:srgbClr val="FF0000"/>
                </a:solidFill>
              </a:rPr>
              <a:t>A</a:t>
            </a:r>
            <a:r>
              <a:rPr lang="zh-CN" altLang="zh-CN" sz="2400" kern="100" dirty="0">
                <a:solidFill>
                  <a:srgbClr val="FF0000"/>
                </a:solidFill>
                <a:cs typeface="Times New Roman" panose="02020603050405020304" pitchFamily="18" charset="0"/>
              </a:rPr>
              <a:t>型省略不注</a:t>
            </a:r>
            <a:endParaRPr lang="en-US" altLang="zh-CN" sz="2400" kern="100" dirty="0"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zh-CN" sz="2400" kern="100" dirty="0"/>
              <a:t>B</a:t>
            </a:r>
            <a:r>
              <a:rPr lang="zh-CN" altLang="zh-CN" sz="2400" kern="100" dirty="0">
                <a:cs typeface="Times New Roman" panose="02020603050405020304" pitchFamily="18" charset="0"/>
              </a:rPr>
              <a:t>型和</a:t>
            </a:r>
            <a:r>
              <a:rPr lang="en-US" altLang="zh-CN" sz="2400" i="1" kern="100" dirty="0"/>
              <a:t>C</a:t>
            </a:r>
            <a:r>
              <a:rPr lang="zh-CN" altLang="zh-CN" sz="2400" kern="100" dirty="0">
                <a:cs typeface="Times New Roman" panose="02020603050405020304" pitchFamily="18" charset="0"/>
              </a:rPr>
              <a:t>型必须在标记中写“</a:t>
            </a:r>
            <a:r>
              <a:rPr lang="en-US" altLang="zh-CN" sz="2400" i="1" kern="100" dirty="0"/>
              <a:t>B</a:t>
            </a:r>
            <a:r>
              <a:rPr lang="zh-CN" altLang="zh-CN" sz="2400" kern="100" dirty="0">
                <a:cs typeface="Times New Roman" panose="02020603050405020304" pitchFamily="18" charset="0"/>
              </a:rPr>
              <a:t>”和“</a:t>
            </a:r>
            <a:r>
              <a:rPr lang="en-US" altLang="zh-CN" sz="2400" i="1" kern="100" dirty="0"/>
              <a:t>C</a:t>
            </a:r>
            <a:r>
              <a:rPr lang="zh-CN" altLang="zh-CN" sz="2400" kern="100" dirty="0">
                <a:cs typeface="Times New Roman" panose="02020603050405020304" pitchFamily="18" charset="0"/>
              </a:rPr>
              <a:t>”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66006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/>
      <p:bldP spid="6" grpId="0"/>
      <p:bldP spid="7" grpId="0"/>
      <p:bldP spid="8" grpId="0"/>
      <p:bldP spid="9" grpId="0"/>
      <p:bldP spid="1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1ED5348E-0459-4055-9F4B-C97DC86880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55440" y="1296565"/>
            <a:ext cx="1627188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0070C0"/>
                </a:solidFill>
                <a:latin typeface="宋体" pitchFamily="2" charset="-122"/>
              </a:rPr>
              <a:t>键的种类</a:t>
            </a: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59887AB6-8D51-415F-A332-059983BE4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9464" y="3167484"/>
            <a:ext cx="142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/>
              <a:t>普通平键</a:t>
            </a: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9ED1583-C045-4744-B643-60BCB39431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07301" y="3129383"/>
            <a:ext cx="11128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/>
              <a:t>半圆键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28FD1F00-0315-4A7B-B3E9-03EC8707E4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0461" y="3158646"/>
            <a:ext cx="14224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/>
              <a:t>钩头楔键</a:t>
            </a:r>
          </a:p>
        </p:txBody>
      </p:sp>
      <p:pic>
        <p:nvPicPr>
          <p:cNvPr id="6" name="Picture 22">
            <a:extLst>
              <a:ext uri="{FF2B5EF4-FFF2-40B4-BE49-F238E27FC236}">
                <a16:creationId xmlns:a16="http://schemas.microsoft.com/office/drawing/2014/main" id="{31C55E88-66A5-4FDC-A0FB-69B6ED862E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 l="16000" t="42334" r="15500" b="39000"/>
          <a:stretch>
            <a:fillRect/>
          </a:stretch>
        </p:blipFill>
        <p:spPr bwMode="auto">
          <a:xfrm>
            <a:off x="2920427" y="1329569"/>
            <a:ext cx="7773198" cy="15884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E251669C-7DE0-4958-B4B0-19F095FE0877}"/>
              </a:ext>
            </a:extLst>
          </p:cNvPr>
          <p:cNvSpPr/>
          <p:nvPr/>
        </p:nvSpPr>
        <p:spPr>
          <a:xfrm>
            <a:off x="4871864" y="476672"/>
            <a:ext cx="275907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3200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 键的基本知识</a:t>
            </a:r>
            <a:endParaRPr lang="zh-CN" altLang="en-US" sz="3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52B7C1-A2A7-407A-A81A-2661C6407570}"/>
              </a:ext>
            </a:extLst>
          </p:cNvPr>
          <p:cNvSpPr/>
          <p:nvPr/>
        </p:nvSpPr>
        <p:spPr>
          <a:xfrm>
            <a:off x="1193626" y="3721198"/>
            <a:ext cx="4511675" cy="522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800" kern="100" dirty="0">
                <a:solidFill>
                  <a:srgbClr val="0070C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键的选取及键槽尺寸的确定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C2108DF-FC76-4AB9-A0D6-17F355F7A961}"/>
              </a:ext>
            </a:extLst>
          </p:cNvPr>
          <p:cNvSpPr/>
          <p:nvPr/>
        </p:nvSpPr>
        <p:spPr>
          <a:xfrm>
            <a:off x="1193626" y="4335236"/>
            <a:ext cx="10302974" cy="954107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  <a:defRPr/>
            </a:pPr>
            <a:r>
              <a:rPr lang="en-US" altLang="zh-CN" sz="2800" b="1" kern="100" dirty="0">
                <a:solidFill>
                  <a:srgbClr val="FF0000"/>
                </a:solidFill>
              </a:rPr>
              <a:t>       </a:t>
            </a:r>
            <a:r>
              <a:rPr lang="zh-CN" altLang="zh-CN" sz="2800" b="1" kern="100" dirty="0">
                <a:solidFill>
                  <a:srgbClr val="FF0000"/>
                </a:solidFill>
              </a:rPr>
              <a:t>键</a:t>
            </a:r>
            <a:r>
              <a:rPr lang="zh-CN" altLang="zh-CN" sz="2800" b="1" kern="100" dirty="0"/>
              <a:t>可</a:t>
            </a:r>
            <a:r>
              <a:rPr lang="zh-CN" altLang="zh-CN" sz="2800" b="1" kern="100" dirty="0">
                <a:solidFill>
                  <a:srgbClr val="FF0000"/>
                </a:solidFill>
              </a:rPr>
              <a:t>按</a:t>
            </a:r>
            <a:r>
              <a:rPr lang="zh-CN" altLang="zh-CN" sz="2800" b="1" kern="100" dirty="0"/>
              <a:t>轴径大小和</a:t>
            </a:r>
            <a:r>
              <a:rPr lang="zh-CN" altLang="zh-CN" sz="2800" b="1" kern="100" dirty="0">
                <a:solidFill>
                  <a:srgbClr val="FF0000"/>
                </a:solidFill>
              </a:rPr>
              <a:t>设计要求</a:t>
            </a:r>
            <a:r>
              <a:rPr lang="zh-CN" altLang="zh-CN" sz="2800" b="1" kern="100" dirty="0"/>
              <a:t>，</a:t>
            </a:r>
            <a:r>
              <a:rPr lang="zh-CN" altLang="zh-CN" sz="2800" b="1" kern="100" dirty="0">
                <a:solidFill>
                  <a:srgbClr val="FF0000"/>
                </a:solidFill>
              </a:rPr>
              <a:t>查阅</a:t>
            </a:r>
            <a:r>
              <a:rPr lang="zh-CN" altLang="zh-CN" sz="2800" b="1" kern="100" dirty="0"/>
              <a:t>相应的</a:t>
            </a:r>
            <a:r>
              <a:rPr lang="zh-CN" altLang="zh-CN" sz="2800" b="1" kern="100" dirty="0">
                <a:solidFill>
                  <a:srgbClr val="FF0000"/>
                </a:solidFill>
              </a:rPr>
              <a:t>国家标准选取</a:t>
            </a:r>
            <a:r>
              <a:rPr lang="zh-CN" altLang="zh-CN" sz="2800" b="1" kern="100" dirty="0"/>
              <a:t>键的</a:t>
            </a:r>
            <a:r>
              <a:rPr lang="zh-CN" altLang="zh-CN" sz="2800" b="1" kern="100" dirty="0">
                <a:solidFill>
                  <a:srgbClr val="FF0000"/>
                </a:solidFill>
              </a:rPr>
              <a:t>类型和规格</a:t>
            </a:r>
            <a:r>
              <a:rPr lang="zh-CN" altLang="zh-CN" sz="2800" b="1" kern="100" dirty="0"/>
              <a:t>，并给出正确的标记。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7F8F767-9FEF-4644-BBBC-627E440BB9BA}"/>
              </a:ext>
            </a:extLst>
          </p:cNvPr>
          <p:cNvSpPr/>
          <p:nvPr/>
        </p:nvSpPr>
        <p:spPr>
          <a:xfrm>
            <a:off x="1869034" y="5509480"/>
            <a:ext cx="962756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zh-CN" altLang="en-US" sz="2400" b="1" kern="100" dirty="0">
                <a:latin typeface="+mn-ea"/>
                <a:ea typeface="+mn-ea"/>
                <a:cs typeface="Times New Roman" panose="02020603050405020304" pitchFamily="18" charset="0"/>
              </a:rPr>
              <a:t>例：</a:t>
            </a:r>
            <a:r>
              <a:rPr lang="zh-CN" altLang="zh-CN" sz="2400" b="1" kern="100" dirty="0">
                <a:latin typeface="+mn-ea"/>
                <a:ea typeface="+mn-ea"/>
                <a:cs typeface="Times New Roman" panose="02020603050405020304" pitchFamily="18" charset="0"/>
              </a:rPr>
              <a:t>用普通平键联结轴和轮毂，轴和轮毂上的键槽尺寸可以根据轴径从附录表</a:t>
            </a:r>
            <a:r>
              <a:rPr lang="en-US" altLang="zh-CN" sz="2400" b="1" kern="100" dirty="0">
                <a:highlight>
                  <a:srgbClr val="FFFF00"/>
                </a:highlight>
                <a:latin typeface="+mn-ea"/>
                <a:ea typeface="+mn-ea"/>
              </a:rPr>
              <a:t>D-1</a:t>
            </a:r>
            <a:r>
              <a:rPr lang="zh-CN" altLang="zh-CN" sz="2400" b="1" kern="100" dirty="0">
                <a:latin typeface="+mn-ea"/>
                <a:ea typeface="+mn-ea"/>
                <a:cs typeface="Times New Roman" panose="02020603050405020304" pitchFamily="18" charset="0"/>
              </a:rPr>
              <a:t>中查到。</a:t>
            </a:r>
            <a:endParaRPr lang="zh-CN" altLang="en-US" sz="24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7994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8" grpId="0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4F911F1F-3D54-46FC-A508-60A8EF7481F4}"/>
              </a:ext>
            </a:extLst>
          </p:cNvPr>
          <p:cNvSpPr/>
          <p:nvPr/>
        </p:nvSpPr>
        <p:spPr>
          <a:xfrm>
            <a:off x="4871864" y="476672"/>
            <a:ext cx="275907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3200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 键的基本知识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5954BB3-9CD9-4D02-8B0F-EC0838A15BFE}"/>
              </a:ext>
            </a:extLst>
          </p:cNvPr>
          <p:cNvSpPr/>
          <p:nvPr/>
        </p:nvSpPr>
        <p:spPr>
          <a:xfrm>
            <a:off x="1080914" y="1256135"/>
            <a:ext cx="3790950" cy="522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8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键槽的画法及尺寸标注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4C51985B-4B2B-47EE-B84B-0BAAE21AFD6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5496" y="1973685"/>
            <a:ext cx="3990975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F24C579-9485-4A43-B0F9-DF8C832948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6171" y="2346748"/>
            <a:ext cx="1066800" cy="428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ECF8278-2D4B-4DF7-92BB-0DF2EB7FAB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421971" y="2695998"/>
            <a:ext cx="485775" cy="866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92869CAA-27EC-4EED-B9D5-2E86C3BFE0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442734" y="2791248"/>
            <a:ext cx="941387" cy="781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4BF23B51-AAD4-4395-9621-B9BD71423E5F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832884" y="2295948"/>
            <a:ext cx="1733550" cy="50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6667B743-9629-4686-A459-BB6CE555618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6977846" y="1876848"/>
            <a:ext cx="285750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FB679EFA-5657-4E24-8295-DE778507F57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965396" y="2467398"/>
            <a:ext cx="7429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F1216D7-647D-4C2B-BA29-8A1986F5B02E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9332109" y="2154660"/>
            <a:ext cx="9048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263939DC-46EE-473C-922F-A7093B05B406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843159" y="1695873"/>
            <a:ext cx="1038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Text Box 17">
            <a:extLst>
              <a:ext uri="{FF2B5EF4-FFF2-40B4-BE49-F238E27FC236}">
                <a16:creationId xmlns:a16="http://schemas.microsoft.com/office/drawing/2014/main" id="{BDDBA942-57FC-4EF0-9764-97C9B84574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0416" y="5371032"/>
            <a:ext cx="449262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b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、</a:t>
            </a:r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t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、</a:t>
            </a:r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L</a:t>
            </a:r>
            <a:r>
              <a:rPr lang="zh-CN" altLang="en-US" sz="2400" b="1" dirty="0">
                <a:latin typeface="宋体" pitchFamily="2" charset="-122"/>
              </a:rPr>
              <a:t>可按轴径</a:t>
            </a:r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d</a:t>
            </a:r>
            <a:r>
              <a:rPr lang="zh-CN" altLang="en-US" sz="2400" b="1" dirty="0">
                <a:latin typeface="宋体" pitchFamily="2" charset="-122"/>
              </a:rPr>
              <a:t>从标准中查出。</a:t>
            </a:r>
          </a:p>
        </p:txBody>
      </p:sp>
      <p:sp>
        <p:nvSpPr>
          <p:cNvPr id="14" name="Text Box 84">
            <a:extLst>
              <a:ext uri="{FF2B5EF4-FFF2-40B4-BE49-F238E27FC236}">
                <a16:creationId xmlns:a16="http://schemas.microsoft.com/office/drawing/2014/main" id="{60060FE7-AE1C-4EF7-8F60-ED86C38C0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9212" y="4052566"/>
            <a:ext cx="1874529" cy="4936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t</a:t>
            </a:r>
            <a:r>
              <a:rPr lang="en-US" altLang="zh-CN" sz="2400" b="1" dirty="0"/>
              <a:t>—</a:t>
            </a:r>
            <a:r>
              <a:rPr lang="zh-CN" altLang="en-US" sz="2400" b="1" dirty="0">
                <a:latin typeface="宋体" pitchFamily="2" charset="-122"/>
              </a:rPr>
              <a:t>键槽深度</a:t>
            </a:r>
          </a:p>
        </p:txBody>
      </p:sp>
      <p:sp>
        <p:nvSpPr>
          <p:cNvPr id="15" name="Text Box 85">
            <a:extLst>
              <a:ext uri="{FF2B5EF4-FFF2-40B4-BE49-F238E27FC236}">
                <a16:creationId xmlns:a16="http://schemas.microsoft.com/office/drawing/2014/main" id="{93B76B88-FE2C-4D95-96C2-5913A7A98D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0416" y="4648105"/>
            <a:ext cx="1874529" cy="4936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b</a:t>
            </a:r>
            <a:r>
              <a:rPr lang="en-US" altLang="zh-CN" sz="2400" b="1" dirty="0"/>
              <a:t>—</a:t>
            </a:r>
            <a:r>
              <a:rPr lang="zh-CN" altLang="en-US" sz="2400" b="1" dirty="0">
                <a:latin typeface="宋体" pitchFamily="2" charset="-122"/>
              </a:rPr>
              <a:t>键槽宽度</a:t>
            </a:r>
          </a:p>
        </p:txBody>
      </p:sp>
      <p:sp>
        <p:nvSpPr>
          <p:cNvPr id="16" name="Text Box 38">
            <a:extLst>
              <a:ext uri="{FF2B5EF4-FFF2-40B4-BE49-F238E27FC236}">
                <a16:creationId xmlns:a16="http://schemas.microsoft.com/office/drawing/2014/main" id="{75D7A6FD-FDD8-4971-AEDD-42E4FA4712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7846" y="5382049"/>
            <a:ext cx="4064605" cy="46166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t</a:t>
            </a:r>
            <a:r>
              <a:rPr lang="en-US" altLang="zh-CN" sz="2400" b="1" baseline="-25000" dirty="0">
                <a:solidFill>
                  <a:srgbClr val="FF3300"/>
                </a:solidFill>
                <a:latin typeface="宋体" pitchFamily="2" charset="-122"/>
              </a:rPr>
              <a:t>1</a:t>
            </a:r>
            <a:r>
              <a:rPr lang="zh-CN" altLang="en-US" sz="2400" b="1" baseline="-25000" dirty="0">
                <a:solidFill>
                  <a:srgbClr val="FF3300"/>
                </a:solidFill>
                <a:latin typeface="宋体" pitchFamily="2" charset="-122"/>
              </a:rPr>
              <a:t>、</a:t>
            </a:r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b</a:t>
            </a:r>
            <a:r>
              <a:rPr lang="zh-CN" altLang="en-US" sz="2400" b="1" dirty="0">
                <a:latin typeface="宋体" pitchFamily="2" charset="-122"/>
              </a:rPr>
              <a:t>可按孔径</a:t>
            </a:r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D</a:t>
            </a:r>
            <a:r>
              <a:rPr lang="zh-CN" altLang="en-US" sz="2400" b="1" dirty="0">
                <a:latin typeface="宋体" pitchFamily="2" charset="-122"/>
              </a:rPr>
              <a:t>从标准中查出。</a:t>
            </a:r>
          </a:p>
        </p:txBody>
      </p:sp>
      <p:sp>
        <p:nvSpPr>
          <p:cNvPr id="17" name="Text Box 42">
            <a:extLst>
              <a:ext uri="{FF2B5EF4-FFF2-40B4-BE49-F238E27FC236}">
                <a16:creationId xmlns:a16="http://schemas.microsoft.com/office/drawing/2014/main" id="{650739CD-0382-47BC-A814-59D3C9F1A1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77846" y="4743874"/>
            <a:ext cx="2998788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b </a:t>
            </a:r>
            <a:r>
              <a:rPr lang="en-US" altLang="zh-CN" sz="2400" b="1" dirty="0"/>
              <a:t>—</a:t>
            </a:r>
            <a:r>
              <a:rPr lang="zh-CN" altLang="en-US" sz="2400" b="1" dirty="0">
                <a:latin typeface="宋体" pitchFamily="2" charset="-122"/>
              </a:rPr>
              <a:t>键槽宽度</a:t>
            </a:r>
          </a:p>
        </p:txBody>
      </p:sp>
      <p:sp>
        <p:nvSpPr>
          <p:cNvPr id="18" name="Text Box 43">
            <a:extLst>
              <a:ext uri="{FF2B5EF4-FFF2-40B4-BE49-F238E27FC236}">
                <a16:creationId xmlns:a16="http://schemas.microsoft.com/office/drawing/2014/main" id="{8EE50313-F275-42AA-B982-015AB8254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4657" y="4209525"/>
            <a:ext cx="3021013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t</a:t>
            </a:r>
            <a:r>
              <a:rPr lang="en-US" altLang="zh-CN" sz="2400" b="1" baseline="-25000" dirty="0">
                <a:solidFill>
                  <a:srgbClr val="FF3300"/>
                </a:solidFill>
                <a:latin typeface="宋体" pitchFamily="2" charset="-122"/>
              </a:rPr>
              <a:t>1 </a:t>
            </a:r>
            <a:r>
              <a:rPr lang="en-US" altLang="zh-CN" sz="2400" b="1" dirty="0"/>
              <a:t>—</a:t>
            </a:r>
            <a:r>
              <a:rPr lang="zh-CN" altLang="en-US" sz="2400" b="1" dirty="0">
                <a:latin typeface="宋体" pitchFamily="2" charset="-122"/>
              </a:rPr>
              <a:t>轮毂上键槽深度</a:t>
            </a:r>
          </a:p>
        </p:txBody>
      </p:sp>
    </p:spTree>
    <p:extLst>
      <p:ext uri="{BB962C8B-B14F-4D97-AF65-F5344CB8AC3E}">
        <p14:creationId xmlns:p14="http://schemas.microsoft.com/office/powerpoint/2010/main" val="141111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3" grpId="0" autoUpdateAnimBg="0"/>
      <p:bldP spid="14" grpId="0" autoUpdateAnimBg="0"/>
      <p:bldP spid="15" grpId="0" autoUpdateAnimBg="0"/>
      <p:bldP spid="16" grpId="0" autoUpdateAnimBg="0"/>
      <p:bldP spid="17" grpId="0" autoUpdateAnimBg="0"/>
      <p:bldP spid="18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65286DA-8298-4E2A-821C-C1ACA27341F3}"/>
              </a:ext>
            </a:extLst>
          </p:cNvPr>
          <p:cNvSpPr/>
          <p:nvPr/>
        </p:nvSpPr>
        <p:spPr>
          <a:xfrm>
            <a:off x="5087888" y="332656"/>
            <a:ext cx="275907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3200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zh-CN" altLang="en-US" sz="3200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销</a:t>
            </a:r>
            <a:r>
              <a:rPr lang="zh-CN" altLang="zh-CN" sz="3200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的基本知识</a:t>
            </a:r>
            <a:endParaRPr lang="zh-CN" altLang="en-US" sz="3200" dirty="0"/>
          </a:p>
        </p:txBody>
      </p:sp>
      <p:pic>
        <p:nvPicPr>
          <p:cNvPr id="3" name="Picture 2" descr="常用的销">
            <a:extLst>
              <a:ext uri="{FF2B5EF4-FFF2-40B4-BE49-F238E27FC236}">
                <a16:creationId xmlns:a16="http://schemas.microsoft.com/office/drawing/2014/main" id="{331E2E18-A9AC-4FE1-8C07-DDB2841F3A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6599" t="4042" r="6554" b="14731"/>
          <a:stretch>
            <a:fillRect/>
          </a:stretch>
        </p:blipFill>
        <p:spPr bwMode="auto">
          <a:xfrm rot="853816">
            <a:off x="8681455" y="2187253"/>
            <a:ext cx="1447800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ext Box 14">
            <a:extLst>
              <a:ext uri="{FF2B5EF4-FFF2-40B4-BE49-F238E27FC236}">
                <a16:creationId xmlns:a16="http://schemas.microsoft.com/office/drawing/2014/main" id="{7A2E4FE7-D4D9-4863-847F-D2DA42592A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6672" y="1317699"/>
            <a:ext cx="3789362" cy="5254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zh-CN" altLang="en-US" sz="2800" dirty="0">
                <a:solidFill>
                  <a:srgbClr val="0070C0"/>
                </a:solidFill>
                <a:latin typeface="宋体" pitchFamily="2" charset="-122"/>
              </a:rPr>
              <a:t>销的种类、功用及标记</a:t>
            </a:r>
          </a:p>
        </p:txBody>
      </p:sp>
      <p:sp>
        <p:nvSpPr>
          <p:cNvPr id="5" name="Text Box 2">
            <a:extLst>
              <a:ext uri="{FF2B5EF4-FFF2-40B4-BE49-F238E27FC236}">
                <a16:creationId xmlns:a16="http://schemas.microsoft.com/office/drawing/2014/main" id="{04998F2E-E5CA-455B-BA60-E2750D1D41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162" y="2892499"/>
            <a:ext cx="1731963" cy="461963"/>
          </a:xfrm>
          <a:prstGeom prst="rect">
            <a:avLst/>
          </a:prstGeom>
          <a:noFill/>
          <a:ln w="9525">
            <a:noFill/>
            <a:prstDash val="lgDashDot"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2.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销的功用</a:t>
            </a: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7EA2854F-68A4-4E10-B940-BB8838593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6162" y="3437434"/>
            <a:ext cx="10012446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lgDashDot"/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en-US" altLang="zh-CN" kern="100" dirty="0">
                <a:solidFill>
                  <a:srgbClr val="FF0000"/>
                </a:solidFill>
              </a:rPr>
              <a:t>        </a:t>
            </a:r>
            <a:r>
              <a:rPr lang="zh-CN" altLang="zh-CN" kern="100" dirty="0">
                <a:solidFill>
                  <a:srgbClr val="FF0000"/>
                </a:solidFill>
              </a:rPr>
              <a:t>圆柱销和圆锥销</a:t>
            </a:r>
            <a:r>
              <a:rPr lang="zh-CN" altLang="zh-CN" kern="100" dirty="0"/>
              <a:t>可起</a:t>
            </a:r>
            <a:r>
              <a:rPr lang="zh-CN" altLang="zh-CN" kern="100" dirty="0">
                <a:solidFill>
                  <a:srgbClr val="FF0000"/>
                </a:solidFill>
              </a:rPr>
              <a:t>定位和连接</a:t>
            </a:r>
            <a:r>
              <a:rPr lang="zh-CN" altLang="zh-CN" kern="100" dirty="0"/>
              <a:t>作用</a:t>
            </a:r>
            <a:r>
              <a:rPr lang="zh-CN" altLang="en-US" dirty="0">
                <a:latin typeface="宋体" panose="02010600030101010101" pitchFamily="2" charset="-122"/>
              </a:rPr>
              <a:t>，也可用于零件之间的联接，能传递不大的扭矩。</a:t>
            </a:r>
            <a:r>
              <a:rPr lang="zh-CN" altLang="zh-CN" kern="100" dirty="0">
                <a:solidFill>
                  <a:srgbClr val="FF0000"/>
                </a:solidFill>
              </a:rPr>
              <a:t>开口销</a:t>
            </a:r>
            <a:r>
              <a:rPr lang="zh-CN" altLang="zh-CN" kern="100" dirty="0"/>
              <a:t>常与带孔螺栓和槽形螺母配合使用，起</a:t>
            </a:r>
            <a:r>
              <a:rPr lang="zh-CN" altLang="zh-CN" kern="100" dirty="0">
                <a:solidFill>
                  <a:srgbClr val="FF0000"/>
                </a:solidFill>
              </a:rPr>
              <a:t>防松</a:t>
            </a:r>
            <a:r>
              <a:rPr lang="zh-CN" altLang="zh-CN" kern="100" dirty="0"/>
              <a:t>作用。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EA892C4E-0AC9-47E1-A43F-D9E8282014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0775" y="1868443"/>
            <a:ext cx="1733550" cy="460375"/>
          </a:xfrm>
          <a:prstGeom prst="rect">
            <a:avLst/>
          </a:prstGeom>
          <a:noFill/>
          <a:ln w="9525">
            <a:noFill/>
            <a:prstDash val="lgDashDot"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1.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销的种类</a:t>
            </a:r>
          </a:p>
        </p:txBody>
      </p:sp>
      <p:sp>
        <p:nvSpPr>
          <p:cNvPr id="8" name="Text Box 5">
            <a:extLst>
              <a:ext uri="{FF2B5EF4-FFF2-40B4-BE49-F238E27FC236}">
                <a16:creationId xmlns:a16="http://schemas.microsoft.com/office/drawing/2014/main" id="{345FB76A-1F67-425D-A8B9-4474EAE6D9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94859" y="1839988"/>
            <a:ext cx="1112838" cy="460375"/>
          </a:xfrm>
          <a:prstGeom prst="rect">
            <a:avLst/>
          </a:prstGeom>
          <a:noFill/>
          <a:ln w="9525">
            <a:noFill/>
            <a:prstDash val="lgDashDot"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latin typeface="宋体" pitchFamily="2" charset="-122"/>
              </a:rPr>
              <a:t>圆柱销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:a16="http://schemas.microsoft.com/office/drawing/2014/main" id="{C79CB074-D0E2-4122-B460-2595CE45F9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1436" y="1839988"/>
            <a:ext cx="1112838" cy="460375"/>
          </a:xfrm>
          <a:prstGeom prst="rect">
            <a:avLst/>
          </a:prstGeom>
          <a:noFill/>
          <a:ln w="9525">
            <a:noFill/>
            <a:prstDash val="lgDashDot"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latin typeface="宋体" pitchFamily="2" charset="-122"/>
              </a:rPr>
              <a:t>圆锥销</a:t>
            </a:r>
          </a:p>
        </p:txBody>
      </p:sp>
      <p:sp>
        <p:nvSpPr>
          <p:cNvPr id="11" name="Text Box 6">
            <a:extLst>
              <a:ext uri="{FF2B5EF4-FFF2-40B4-BE49-F238E27FC236}">
                <a16:creationId xmlns:a16="http://schemas.microsoft.com/office/drawing/2014/main" id="{F32C6213-146F-48CA-A6B6-200AD0F60E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8936" y="1866856"/>
            <a:ext cx="1112838" cy="461962"/>
          </a:xfrm>
          <a:prstGeom prst="rect">
            <a:avLst/>
          </a:prstGeom>
          <a:noFill/>
          <a:ln w="9525">
            <a:noFill/>
            <a:prstDash val="lgDashDot"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latin typeface="宋体" pitchFamily="2" charset="-122"/>
              </a:rPr>
              <a:t>开口销</a:t>
            </a:r>
          </a:p>
        </p:txBody>
      </p:sp>
      <p:pic>
        <p:nvPicPr>
          <p:cNvPr id="12" name="Picture 2" descr="常用的销">
            <a:extLst>
              <a:ext uri="{FF2B5EF4-FFF2-40B4-BE49-F238E27FC236}">
                <a16:creationId xmlns:a16="http://schemas.microsoft.com/office/drawing/2014/main" id="{9DB91FE7-1E98-4608-9F58-D8831451B6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780" t="4042" r="68990" b="14731"/>
          <a:stretch>
            <a:fillRect/>
          </a:stretch>
        </p:blipFill>
        <p:spPr bwMode="auto">
          <a:xfrm rot="1281326">
            <a:off x="4211674" y="2183900"/>
            <a:ext cx="1522413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2" descr="常用的销">
            <a:extLst>
              <a:ext uri="{FF2B5EF4-FFF2-40B4-BE49-F238E27FC236}">
                <a16:creationId xmlns:a16="http://schemas.microsoft.com/office/drawing/2014/main" id="{ED95331A-974C-42DE-8C3C-B4C683192D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7775" t="4042" r="36227" b="14731"/>
          <a:stretch>
            <a:fillRect/>
          </a:stretch>
        </p:blipFill>
        <p:spPr bwMode="auto">
          <a:xfrm rot="1157035">
            <a:off x="6610496" y="2198762"/>
            <a:ext cx="1401762" cy="99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 Box 7">
            <a:extLst>
              <a:ext uri="{FF2B5EF4-FFF2-40B4-BE49-F238E27FC236}">
                <a16:creationId xmlns:a16="http://schemas.microsoft.com/office/drawing/2014/main" id="{320572E2-C348-4D7C-881E-649897C914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023" y="4425528"/>
            <a:ext cx="1887055" cy="461665"/>
          </a:xfrm>
          <a:prstGeom prst="rect">
            <a:avLst/>
          </a:prstGeom>
          <a:noFill/>
          <a:ln w="9525">
            <a:noFill/>
            <a:prstDash val="lgDashDot"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solidFill>
                  <a:srgbClr val="FF3300"/>
                </a:solidFill>
                <a:latin typeface="宋体" pitchFamily="2" charset="-122"/>
              </a:rPr>
              <a:t>⒊ 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销的标记</a:t>
            </a:r>
          </a:p>
        </p:txBody>
      </p:sp>
      <p:sp>
        <p:nvSpPr>
          <p:cNvPr id="15" name="Text Box 8">
            <a:extLst>
              <a:ext uri="{FF2B5EF4-FFF2-40B4-BE49-F238E27FC236}">
                <a16:creationId xmlns:a16="http://schemas.microsoft.com/office/drawing/2014/main" id="{C5D86529-8062-4DC3-919E-BDE1FAD391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9024" y="5687293"/>
            <a:ext cx="9915568" cy="831850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zh-CN" dirty="0"/>
              <a:t>圆柱销，淬硬钢和马氏体不锈钢，公称直径</a:t>
            </a:r>
            <a:r>
              <a:rPr lang="en-US" altLang="zh-CN" dirty="0"/>
              <a:t>6mm</a:t>
            </a:r>
            <a:r>
              <a:rPr lang="zh-CN" altLang="zh-CN" dirty="0"/>
              <a:t>，公差</a:t>
            </a:r>
            <a:r>
              <a:rPr lang="en-US" altLang="zh-CN" dirty="0"/>
              <a:t>m6</a:t>
            </a:r>
            <a:r>
              <a:rPr lang="zh-CN" altLang="zh-CN" dirty="0"/>
              <a:t>，公称长度</a:t>
            </a:r>
            <a:r>
              <a:rPr lang="en-US" altLang="zh-CN" dirty="0"/>
              <a:t>30mm</a:t>
            </a:r>
            <a:r>
              <a:rPr lang="zh-CN" altLang="zh-CN" dirty="0"/>
              <a:t>，不经淬火、不经表面处理</a:t>
            </a:r>
            <a:endParaRPr lang="zh-CN" altLang="en-US" dirty="0">
              <a:latin typeface="宋体" panose="02010600030101010101" pitchFamily="2" charset="-122"/>
            </a:endParaRPr>
          </a:p>
        </p:txBody>
      </p:sp>
      <p:sp>
        <p:nvSpPr>
          <p:cNvPr id="16" name="Text Box 9">
            <a:extLst>
              <a:ext uri="{FF2B5EF4-FFF2-40B4-BE49-F238E27FC236}">
                <a16:creationId xmlns:a16="http://schemas.microsoft.com/office/drawing/2014/main" id="{75B8A532-E0E4-49D3-94F9-DA894F4F5D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76293" y="4906918"/>
            <a:ext cx="403713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solidFill>
                  <a:srgbClr val="FF0000"/>
                </a:solidFill>
                <a:latin typeface="宋体" pitchFamily="2" charset="-122"/>
              </a:rPr>
              <a:t>标记</a:t>
            </a:r>
            <a:r>
              <a:rPr lang="zh-CN" altLang="en-US" sz="2400" dirty="0">
                <a:latin typeface="宋体" pitchFamily="2" charset="-122"/>
              </a:rPr>
              <a:t>：</a:t>
            </a:r>
            <a:r>
              <a:rPr lang="zh-CN" altLang="zh-CN" sz="2400" dirty="0">
                <a:solidFill>
                  <a:srgbClr val="0070C0"/>
                </a:solidFill>
              </a:rPr>
              <a:t>销</a:t>
            </a:r>
            <a:r>
              <a:rPr lang="en-US" altLang="zh-CN" sz="2400" dirty="0">
                <a:solidFill>
                  <a:srgbClr val="0070C0"/>
                </a:solidFill>
              </a:rPr>
              <a:t> GB/T 119.2  6</a:t>
            </a:r>
            <a:r>
              <a:rPr lang="zh-CN" altLang="zh-CN" sz="2400" dirty="0">
                <a:solidFill>
                  <a:srgbClr val="0070C0"/>
                </a:solidFill>
              </a:rPr>
              <a:t>×</a:t>
            </a:r>
            <a:r>
              <a:rPr lang="en-US" altLang="zh-CN" sz="2400" dirty="0">
                <a:solidFill>
                  <a:srgbClr val="0070C0"/>
                </a:solidFill>
              </a:rPr>
              <a:t>30</a:t>
            </a:r>
            <a:endParaRPr lang="zh-CN" altLang="zh-CN" sz="2400" dirty="0">
              <a:solidFill>
                <a:srgbClr val="0070C0"/>
              </a:solidFill>
            </a:endParaRP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F5C47D7E-B863-4B48-8F42-12CE983D147A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89800" y="4068043"/>
            <a:ext cx="2341563" cy="163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755123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1" grpId="0" autoUpdateAnimBg="0"/>
      <p:bldP spid="14" grpId="0" autoUpdateAnimBg="0"/>
      <p:bldP spid="15" grpId="0" animBg="1" autoUpdateAnimBg="0"/>
      <p:bldP spid="16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BD534EA1-87F0-4581-BED6-FBDA3B8217AE}"/>
              </a:ext>
            </a:extLst>
          </p:cNvPr>
          <p:cNvSpPr/>
          <p:nvPr/>
        </p:nvSpPr>
        <p:spPr>
          <a:xfrm>
            <a:off x="4973637" y="476672"/>
            <a:ext cx="224472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3200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齿轮表示法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3E56F7-F154-409A-BCBC-1268696E39F2}"/>
              </a:ext>
            </a:extLst>
          </p:cNvPr>
          <p:cNvSpPr/>
          <p:nvPr/>
        </p:nvSpPr>
        <p:spPr>
          <a:xfrm>
            <a:off x="3355975" y="6056734"/>
            <a:ext cx="5913437" cy="523220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</p:spPr>
        <p:txBody>
          <a:bodyPr>
            <a:spAutoFit/>
          </a:bodyPr>
          <a:lstStyle/>
          <a:p>
            <a:pPr algn="ctr">
              <a:spcAft>
                <a:spcPts val="0"/>
              </a:spcAft>
              <a:defRPr/>
            </a:pPr>
            <a:r>
              <a:rPr lang="zh-CN" altLang="zh-CN" sz="2800" kern="100" dirty="0">
                <a:solidFill>
                  <a:schemeClr val="accent1"/>
                </a:solidFill>
              </a:rPr>
              <a:t>齿轮必须成对使用才能达到使用要求。</a:t>
            </a:r>
          </a:p>
        </p:txBody>
      </p:sp>
      <p:sp>
        <p:nvSpPr>
          <p:cNvPr id="4" name="Text Box 2">
            <a:extLst>
              <a:ext uri="{FF2B5EF4-FFF2-40B4-BE49-F238E27FC236}">
                <a16:creationId xmlns:a16="http://schemas.microsoft.com/office/drawing/2014/main" id="{A1C2BBCF-174D-404E-97AB-25C8F18942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437756"/>
            <a:ext cx="1266825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dirty="0">
                <a:latin typeface="宋体" pitchFamily="2" charset="-122"/>
                <a:sym typeface="Monotype Sorts"/>
              </a:rPr>
              <a:t>★</a:t>
            </a:r>
            <a:r>
              <a:rPr lang="zh-CN" altLang="en-US" sz="2800" dirty="0">
                <a:latin typeface="宋体" pitchFamily="2" charset="-122"/>
              </a:rPr>
              <a:t>种类</a:t>
            </a:r>
          </a:p>
        </p:txBody>
      </p:sp>
      <p:sp>
        <p:nvSpPr>
          <p:cNvPr id="5" name="Text Box 3">
            <a:extLst>
              <a:ext uri="{FF2B5EF4-FFF2-40B4-BE49-F238E27FC236}">
                <a16:creationId xmlns:a16="http://schemas.microsoft.com/office/drawing/2014/main" id="{122D566B-09E3-40C5-AC9D-2376248D33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1586781"/>
            <a:ext cx="1266825" cy="5238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800" dirty="0">
                <a:solidFill>
                  <a:srgbClr val="002060"/>
                </a:solidFill>
                <a:latin typeface="宋体" pitchFamily="2" charset="-122"/>
                <a:sym typeface="Monotype Sorts"/>
              </a:rPr>
              <a:t>★</a:t>
            </a:r>
            <a:r>
              <a:rPr lang="zh-CN" altLang="en-US" sz="2800" dirty="0">
                <a:solidFill>
                  <a:srgbClr val="002060"/>
                </a:solidFill>
                <a:latin typeface="宋体" pitchFamily="2" charset="-122"/>
              </a:rPr>
              <a:t>作用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A1EF9167-9E1E-4E01-9544-0442092330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709" y="1401069"/>
            <a:ext cx="2351087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latin typeface="宋体" pitchFamily="2" charset="-122"/>
              </a:rPr>
              <a:t>传递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运动</a:t>
            </a:r>
            <a:r>
              <a:rPr lang="zh-CN" altLang="en-US" sz="2400" dirty="0">
                <a:latin typeface="宋体" pitchFamily="2" charset="-122"/>
              </a:rPr>
              <a:t>和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动力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7" name="Text Box 5">
            <a:extLst>
              <a:ext uri="{FF2B5EF4-FFF2-40B4-BE49-F238E27FC236}">
                <a16:creationId xmlns:a16="http://schemas.microsoft.com/office/drawing/2014/main" id="{43EF7950-BE9F-415A-B30B-248DD8D543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1904528"/>
            <a:ext cx="2968625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latin typeface="宋体" pitchFamily="2" charset="-122"/>
              </a:rPr>
              <a:t>改变轴的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转速</a:t>
            </a:r>
            <a:r>
              <a:rPr lang="zh-CN" altLang="en-US" sz="2400" dirty="0">
                <a:latin typeface="宋体" pitchFamily="2" charset="-122"/>
              </a:rPr>
              <a:t>与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转向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C9D1DC31-0F85-4F20-A5B0-CD613CEEF8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3560" y="2747892"/>
            <a:ext cx="1620957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dirty="0">
                <a:latin typeface="宋体" pitchFamily="2" charset="-122"/>
              </a:rPr>
              <a:t>圆柱齿轮</a:t>
            </a:r>
          </a:p>
        </p:txBody>
      </p:sp>
      <p:sp>
        <p:nvSpPr>
          <p:cNvPr id="9" name="Text Box 7">
            <a:extLst>
              <a:ext uri="{FF2B5EF4-FFF2-40B4-BE49-F238E27FC236}">
                <a16:creationId xmlns:a16="http://schemas.microsoft.com/office/drawing/2014/main" id="{57BD4136-6C55-43F0-ADC4-58DCC0DB13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3527" y="2705030"/>
            <a:ext cx="1620957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dirty="0">
                <a:latin typeface="宋体" pitchFamily="2" charset="-122"/>
              </a:rPr>
              <a:t>圆锥齿轮</a:t>
            </a: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D2ECB891-1469-4717-BF0C-C45B8CD2E5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3494" y="2700021"/>
            <a:ext cx="1620957" cy="52322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dirty="0">
                <a:latin typeface="宋体" pitchFamily="2" charset="-122"/>
              </a:rPr>
              <a:t>蜗轮蜗杆</a:t>
            </a:r>
          </a:p>
        </p:txBody>
      </p:sp>
      <p:sp>
        <p:nvSpPr>
          <p:cNvPr id="11" name="Text Box 10">
            <a:extLst>
              <a:ext uri="{FF2B5EF4-FFF2-40B4-BE49-F238E27FC236}">
                <a16:creationId xmlns:a16="http://schemas.microsoft.com/office/drawing/2014/main" id="{8A4CA010-DEC2-401D-A95F-779B613FD7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9975" y="5235697"/>
            <a:ext cx="2351087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两平行轴</a:t>
            </a:r>
            <a:r>
              <a:rPr lang="zh-CN" altLang="en-US" sz="2400" dirty="0">
                <a:latin typeface="宋体" pitchFamily="2" charset="-122"/>
              </a:rPr>
              <a:t>的传动</a:t>
            </a:r>
          </a:p>
        </p:txBody>
      </p:sp>
      <p:sp>
        <p:nvSpPr>
          <p:cNvPr id="12" name="Text Box 13">
            <a:extLst>
              <a:ext uri="{FF2B5EF4-FFF2-40B4-BE49-F238E27FC236}">
                <a16:creationId xmlns:a16="http://schemas.microsoft.com/office/drawing/2014/main" id="{9AE4FDBB-283E-47E4-8B76-0D974957F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9852" y="5232522"/>
            <a:ext cx="2351088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两相交轴</a:t>
            </a:r>
            <a:r>
              <a:rPr lang="zh-CN" altLang="en-US" sz="2400" dirty="0">
                <a:latin typeface="宋体" pitchFamily="2" charset="-122"/>
              </a:rPr>
              <a:t>的传动</a:t>
            </a:r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id="{4B5AB14A-103D-465A-856E-46BD215A59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3494" y="5232522"/>
            <a:ext cx="2349500" cy="460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两交叉轴</a:t>
            </a:r>
            <a:r>
              <a:rPr lang="zh-CN" altLang="en-US" sz="2400" dirty="0">
                <a:latin typeface="宋体" pitchFamily="2" charset="-122"/>
              </a:rPr>
              <a:t>的传动</a:t>
            </a:r>
          </a:p>
        </p:txBody>
      </p:sp>
      <p:sp>
        <p:nvSpPr>
          <p:cNvPr id="14" name="AutoShape 29">
            <a:extLst>
              <a:ext uri="{FF2B5EF4-FFF2-40B4-BE49-F238E27FC236}">
                <a16:creationId xmlns:a16="http://schemas.microsoft.com/office/drawing/2014/main" id="{D6A13F4C-63A7-4994-8834-8230FC247C56}"/>
              </a:ext>
            </a:extLst>
          </p:cNvPr>
          <p:cNvSpPr>
            <a:spLocks/>
          </p:cNvSpPr>
          <p:nvPr/>
        </p:nvSpPr>
        <p:spPr bwMode="auto">
          <a:xfrm>
            <a:off x="2819336" y="1438747"/>
            <a:ext cx="215628" cy="848568"/>
          </a:xfrm>
          <a:prstGeom prst="leftBrace">
            <a:avLst>
              <a:gd name="adj1" fmla="val 6333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2AF7033B-FF2B-4C05-BF2D-70EC6D93A3E6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r="72523"/>
          <a:stretch>
            <a:fillRect/>
          </a:stretch>
        </p:blipFill>
        <p:spPr bwMode="auto">
          <a:xfrm>
            <a:off x="2984300" y="3465587"/>
            <a:ext cx="1096962" cy="1695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CF5F1E47-3ACE-4D4E-AC23-2113E7B14C5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33467" r="30045"/>
          <a:stretch>
            <a:fillRect/>
          </a:stretch>
        </p:blipFill>
        <p:spPr bwMode="auto">
          <a:xfrm>
            <a:off x="5560627" y="3395364"/>
            <a:ext cx="1389063" cy="161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911C857C-AABD-4814-87EF-D86B81952A9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l="76756"/>
          <a:stretch>
            <a:fillRect/>
          </a:stretch>
        </p:blipFill>
        <p:spPr bwMode="auto">
          <a:xfrm>
            <a:off x="8652284" y="3522388"/>
            <a:ext cx="854075" cy="1563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48568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/>
      <p:bldP spid="12" grpId="0"/>
      <p:bldP spid="13" grpId="0"/>
      <p:bldP spid="14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12D1C3AA-0855-45EB-8CCD-6AE6978CB982}"/>
              </a:ext>
            </a:extLst>
          </p:cNvPr>
          <p:cNvSpPr/>
          <p:nvPr/>
        </p:nvSpPr>
        <p:spPr>
          <a:xfrm>
            <a:off x="4973637" y="440668"/>
            <a:ext cx="224472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3200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齿轮表示法</a:t>
            </a:r>
            <a:endParaRPr lang="zh-CN" altLang="en-US" sz="3200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B5491EE-541D-47E4-9062-D70B539CE462}"/>
              </a:ext>
            </a:extLst>
          </p:cNvPr>
          <p:cNvSpPr/>
          <p:nvPr/>
        </p:nvSpPr>
        <p:spPr>
          <a:xfrm>
            <a:off x="1108483" y="1815043"/>
            <a:ext cx="1627188" cy="522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800" kern="100" dirty="0">
                <a:solidFill>
                  <a:srgbClr val="0070C0"/>
                </a:solidFill>
                <a:ea typeface="黑体" panose="02010609060101010101" pitchFamily="49" charset="-122"/>
                <a:cs typeface="Times New Roman" panose="02020603050405020304" pitchFamily="18" charset="0"/>
              </a:rPr>
              <a:t>圆柱齿轮</a:t>
            </a:r>
            <a:endParaRPr lang="zh-CN" altLang="en-US" sz="2800" dirty="0">
              <a:solidFill>
                <a:srgbClr val="0070C0"/>
              </a:solidFill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5C510B5-6F4B-4183-B923-21D684EA1439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1566147" y="2502513"/>
            <a:ext cx="3627419" cy="1168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76EA7F7F-759B-4D5F-9C31-5154DEC846C6}"/>
              </a:ext>
            </a:extLst>
          </p:cNvPr>
          <p:cNvSpPr/>
          <p:nvPr/>
        </p:nvSpPr>
        <p:spPr>
          <a:xfrm>
            <a:off x="2922192" y="1574713"/>
            <a:ext cx="305552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常见的圆柱齿轮有直齿、斜齿和人字齿</a:t>
            </a:r>
            <a:r>
              <a:rPr lang="zh-CN" altLang="en-US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。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1F9B522-7B42-462B-9A4B-7A1ACFE8BB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28149" y="1268760"/>
            <a:ext cx="5029200" cy="3613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2">
            <a:extLst>
              <a:ext uri="{FF2B5EF4-FFF2-40B4-BE49-F238E27FC236}">
                <a16:creationId xmlns:a16="http://schemas.microsoft.com/office/drawing/2014/main" id="{E4288829-DDA2-44C2-90CD-9578A4E00BAA}"/>
              </a:ext>
            </a:extLst>
          </p:cNvPr>
          <p:cNvSpPr txBox="1">
            <a:spLocks noChangeArrowheads="1"/>
          </p:cNvSpPr>
          <p:nvPr/>
        </p:nvSpPr>
        <p:spPr bwMode="auto">
          <a:xfrm rot="-2025108">
            <a:off x="7087036" y="2722910"/>
            <a:ext cx="542925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FF3300"/>
                </a:solidFill>
              </a:rPr>
              <a:t>齿厚</a:t>
            </a:r>
            <a:endParaRPr lang="en-US" altLang="zh-CN" sz="1400"/>
          </a:p>
        </p:txBody>
      </p:sp>
      <p:sp>
        <p:nvSpPr>
          <p:cNvPr id="8" name="Text Box 15">
            <a:extLst>
              <a:ext uri="{FF2B5EF4-FFF2-40B4-BE49-F238E27FC236}">
                <a16:creationId xmlns:a16="http://schemas.microsoft.com/office/drawing/2014/main" id="{77D6C6BB-E38E-4F28-B82E-739D042AAD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22161" y="2160935"/>
            <a:ext cx="544513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zh-CN" altLang="en-US" sz="1400">
                <a:solidFill>
                  <a:srgbClr val="FF3300"/>
                </a:solidFill>
              </a:rPr>
              <a:t>齿距</a:t>
            </a:r>
            <a:endParaRPr lang="en-US" altLang="zh-CN" sz="1400"/>
          </a:p>
        </p:txBody>
      </p:sp>
      <p:sp>
        <p:nvSpPr>
          <p:cNvPr id="9" name="Text Box 16">
            <a:extLst>
              <a:ext uri="{FF2B5EF4-FFF2-40B4-BE49-F238E27FC236}">
                <a16:creationId xmlns:a16="http://schemas.microsoft.com/office/drawing/2014/main" id="{71411CB1-1E07-4C3E-957D-DC91EA2A5340}"/>
              </a:ext>
            </a:extLst>
          </p:cNvPr>
          <p:cNvSpPr txBox="1">
            <a:spLocks noChangeArrowheads="1"/>
          </p:cNvSpPr>
          <p:nvPr/>
        </p:nvSpPr>
        <p:spPr bwMode="auto">
          <a:xfrm rot="-990134">
            <a:off x="10304899" y="3837335"/>
            <a:ext cx="722312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zh-CN" sz="1400">
                <a:solidFill>
                  <a:srgbClr val="FF3300"/>
                </a:solidFill>
              </a:rPr>
              <a:t>齿顶圆</a:t>
            </a:r>
            <a:endParaRPr lang="en-US" altLang="zh-CN" sz="1400"/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DA7BF042-F873-4597-8D1D-D7BD91FE5B99}"/>
              </a:ext>
            </a:extLst>
          </p:cNvPr>
          <p:cNvSpPr txBox="1">
            <a:spLocks noChangeArrowheads="1"/>
          </p:cNvSpPr>
          <p:nvPr/>
        </p:nvSpPr>
        <p:spPr bwMode="auto">
          <a:xfrm rot="-1031326">
            <a:off x="9309536" y="3927822"/>
            <a:ext cx="7239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FF3300"/>
                </a:solidFill>
              </a:rPr>
              <a:t>齿根圆</a:t>
            </a:r>
            <a:endParaRPr lang="en-US" altLang="zh-CN" sz="1400"/>
          </a:p>
        </p:txBody>
      </p:sp>
      <p:sp>
        <p:nvSpPr>
          <p:cNvPr id="11" name="Text Box 18">
            <a:extLst>
              <a:ext uri="{FF2B5EF4-FFF2-40B4-BE49-F238E27FC236}">
                <a16:creationId xmlns:a16="http://schemas.microsoft.com/office/drawing/2014/main" id="{0AE94683-31B4-4743-B5B8-54F917EE03B5}"/>
              </a:ext>
            </a:extLst>
          </p:cNvPr>
          <p:cNvSpPr txBox="1">
            <a:spLocks noChangeArrowheads="1"/>
          </p:cNvSpPr>
          <p:nvPr/>
        </p:nvSpPr>
        <p:spPr bwMode="auto">
          <a:xfrm rot="-2247725">
            <a:off x="8792011" y="3638897"/>
            <a:ext cx="722313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FF3300"/>
                </a:solidFill>
              </a:rPr>
              <a:t>分度圆</a:t>
            </a:r>
            <a:endParaRPr lang="en-US" altLang="zh-CN" sz="1400"/>
          </a:p>
        </p:txBody>
      </p:sp>
      <p:sp>
        <p:nvSpPr>
          <p:cNvPr id="12" name="Text Box 27">
            <a:extLst>
              <a:ext uri="{FF2B5EF4-FFF2-40B4-BE49-F238E27FC236}">
                <a16:creationId xmlns:a16="http://schemas.microsoft.com/office/drawing/2014/main" id="{B45F39D4-2E06-4585-8F96-B2EBAF069883}"/>
              </a:ext>
            </a:extLst>
          </p:cNvPr>
          <p:cNvSpPr txBox="1">
            <a:spLocks noChangeArrowheads="1"/>
          </p:cNvSpPr>
          <p:nvPr/>
        </p:nvSpPr>
        <p:spPr bwMode="auto">
          <a:xfrm rot="2238632">
            <a:off x="5834499" y="2560985"/>
            <a:ext cx="7239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FF3300"/>
                </a:solidFill>
              </a:rPr>
              <a:t>齿顶高</a:t>
            </a:r>
            <a:endParaRPr lang="en-US" altLang="zh-CN" sz="1400" b="0"/>
          </a:p>
        </p:txBody>
      </p:sp>
      <p:sp>
        <p:nvSpPr>
          <p:cNvPr id="13" name="Text Box 28">
            <a:extLst>
              <a:ext uri="{FF2B5EF4-FFF2-40B4-BE49-F238E27FC236}">
                <a16:creationId xmlns:a16="http://schemas.microsoft.com/office/drawing/2014/main" id="{8E0F0F36-00AA-4B55-82B3-069687FBED1A}"/>
              </a:ext>
            </a:extLst>
          </p:cNvPr>
          <p:cNvSpPr txBox="1">
            <a:spLocks noChangeArrowheads="1"/>
          </p:cNvSpPr>
          <p:nvPr/>
        </p:nvSpPr>
        <p:spPr bwMode="auto">
          <a:xfrm rot="2318607">
            <a:off x="6858436" y="3345210"/>
            <a:ext cx="72390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1400">
                <a:solidFill>
                  <a:srgbClr val="FF3300"/>
                </a:solidFill>
              </a:rPr>
              <a:t>齿根高</a:t>
            </a:r>
            <a:endParaRPr lang="en-US" altLang="zh-CN" sz="1400" b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18CCED1-E621-468B-A722-B4252EAC24AC}"/>
              </a:ext>
            </a:extLst>
          </p:cNvPr>
          <p:cNvSpPr/>
          <p:nvPr/>
        </p:nvSpPr>
        <p:spPr>
          <a:xfrm>
            <a:off x="1235460" y="3845497"/>
            <a:ext cx="233218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齿轮</a:t>
            </a:r>
            <a:r>
              <a:rPr lang="zh-CN" altLang="en-US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的齿数  </a:t>
            </a:r>
            <a:r>
              <a:rPr lang="en-US" altLang="zh-CN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Z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DF86D43-09CA-492E-B3C3-B575D8CEC605}"/>
              </a:ext>
            </a:extLst>
          </p:cNvPr>
          <p:cNvSpPr/>
          <p:nvPr/>
        </p:nvSpPr>
        <p:spPr>
          <a:xfrm>
            <a:off x="1235460" y="4251001"/>
            <a:ext cx="52637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zh-CN" altLang="zh-CN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齿轮</a:t>
            </a:r>
            <a:r>
              <a:rPr lang="zh-CN" altLang="en-US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的模数  </a:t>
            </a:r>
            <a:r>
              <a:rPr lang="en-US" altLang="zh-CN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m </a:t>
            </a:r>
            <a:r>
              <a:rPr lang="zh-CN" altLang="en-US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；</a:t>
            </a:r>
            <a:r>
              <a:rPr lang="en-US" altLang="zh-CN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 m=p(</a:t>
            </a:r>
            <a:r>
              <a:rPr lang="zh-CN" altLang="en-US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齿距</a:t>
            </a:r>
            <a:r>
              <a:rPr lang="en-US" altLang="zh-CN" sz="2400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)/π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7BA59276-2AD4-4D97-84EF-97EDA4EB28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967" y="4809059"/>
            <a:ext cx="9524064" cy="195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069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3" dur="7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  <p:bldP spid="13" grpId="0" autoUpdateAnimBg="0"/>
      <p:bldP spid="14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B312978-E15B-400A-AB1A-53AD70C6FECD}"/>
              </a:ext>
            </a:extLst>
          </p:cNvPr>
          <p:cNvSpPr/>
          <p:nvPr/>
        </p:nvSpPr>
        <p:spPr>
          <a:xfrm>
            <a:off x="3659275" y="512676"/>
            <a:ext cx="487345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kern="100" dirty="0">
                <a:cs typeface="Times New Roman" panose="02020603050405020304" pitchFamily="18" charset="0"/>
              </a:rPr>
              <a:t>标准直齿圆柱齿轮的尺寸关系</a:t>
            </a:r>
            <a:endParaRPr lang="zh-CN" altLang="en-US" sz="2800" b="1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A56A58-CBE9-46FE-918A-D6DB70BF98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b="84416"/>
          <a:stretch/>
        </p:blipFill>
        <p:spPr>
          <a:xfrm>
            <a:off x="1307468" y="1492345"/>
            <a:ext cx="9721080" cy="784527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FD6A03D-AB89-45A3-8009-A03E4C2FAD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 t="14702"/>
          <a:stretch/>
        </p:blipFill>
        <p:spPr>
          <a:xfrm>
            <a:off x="1307468" y="2276872"/>
            <a:ext cx="9721080" cy="4294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116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7D54BABB-1CCF-4A65-AE9D-A77C951FD0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07868" y="1992250"/>
            <a:ext cx="4537075" cy="305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E17FA23A-9841-48A6-83EA-7A408985A879}"/>
              </a:ext>
            </a:extLst>
          </p:cNvPr>
          <p:cNvSpPr/>
          <p:nvPr/>
        </p:nvSpPr>
        <p:spPr>
          <a:xfrm>
            <a:off x="5127613" y="461814"/>
            <a:ext cx="2244725" cy="5842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3200" kern="100" dirty="0">
                <a:ea typeface="黑体" panose="02010609060101010101" pitchFamily="49" charset="-122"/>
                <a:cs typeface="Times New Roman" panose="02020603050405020304" pitchFamily="18" charset="0"/>
              </a:rPr>
              <a:t>齿轮表示法</a:t>
            </a:r>
            <a:endParaRPr lang="zh-CN" altLang="en-US" sz="3200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5677C67-C408-4D53-9E36-EDCDF4BBCDA7}"/>
              </a:ext>
            </a:extLst>
          </p:cNvPr>
          <p:cNvSpPr/>
          <p:nvPr/>
        </p:nvSpPr>
        <p:spPr>
          <a:xfrm>
            <a:off x="1069170" y="1434802"/>
            <a:ext cx="3430587" cy="5222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zh-CN" sz="2800" b="1" kern="100" dirty="0">
                <a:solidFill>
                  <a:srgbClr val="0070C0"/>
                </a:solidFill>
                <a:cs typeface="Times New Roman" panose="02020603050405020304" pitchFamily="18" charset="0"/>
              </a:rPr>
              <a:t>圆柱齿轮的规定画法</a:t>
            </a:r>
            <a:endParaRPr lang="zh-CN" altLang="en-US" sz="2800" b="1" dirty="0">
              <a:solidFill>
                <a:srgbClr val="0070C0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8604ED5-A843-44E8-84EA-08F4CFE7F5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75061"/>
          <a:stretch>
            <a:fillRect/>
          </a:stretch>
        </p:blipFill>
        <p:spPr bwMode="auto">
          <a:xfrm>
            <a:off x="9646544" y="2511363"/>
            <a:ext cx="1776413" cy="2293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Line 22">
            <a:extLst>
              <a:ext uri="{FF2B5EF4-FFF2-40B4-BE49-F238E27FC236}">
                <a16:creationId xmlns:a16="http://schemas.microsoft.com/office/drawing/2014/main" id="{27B210AD-1D5F-49B3-B6D6-02B5554DC1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23855" y="2278000"/>
            <a:ext cx="280988" cy="27305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Text Box 23">
            <a:extLst>
              <a:ext uri="{FF2B5EF4-FFF2-40B4-BE49-F238E27FC236}">
                <a16:creationId xmlns:a16="http://schemas.microsoft.com/office/drawing/2014/main" id="{5FBED7EF-F82A-48FF-B11A-BD0FF9C09B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17395" y="1454851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>
                <a:solidFill>
                  <a:srgbClr val="FF3300"/>
                </a:solidFill>
              </a:rPr>
              <a:t>齿根圆</a:t>
            </a:r>
            <a:endParaRPr lang="zh-CN" altLang="en-US" sz="2000"/>
          </a:p>
        </p:txBody>
      </p:sp>
      <p:sp>
        <p:nvSpPr>
          <p:cNvPr id="8" name="Line 25">
            <a:extLst>
              <a:ext uri="{FF2B5EF4-FFF2-40B4-BE49-F238E27FC236}">
                <a16:creationId xmlns:a16="http://schemas.microsoft.com/office/drawing/2014/main" id="{267DB074-7974-4A71-972E-5FA1A38A1F0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050868" y="4667187"/>
            <a:ext cx="381000" cy="37782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none" w="sm" len="lg"/>
            <a:tailEnd type="triangle" w="sm" len="lg"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Line 26">
            <a:extLst>
              <a:ext uri="{FF2B5EF4-FFF2-40B4-BE49-F238E27FC236}">
                <a16:creationId xmlns:a16="http://schemas.microsoft.com/office/drawing/2014/main" id="{788434E7-E4F7-4B50-8DDF-1EBDA5C2E34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31868" y="5038662"/>
            <a:ext cx="960437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Text Box 27">
            <a:extLst>
              <a:ext uri="{FF2B5EF4-FFF2-40B4-BE49-F238E27FC236}">
                <a16:creationId xmlns:a16="http://schemas.microsoft.com/office/drawing/2014/main" id="{F99EDC4D-ACE8-448D-9DBB-64DDE5E7C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2744" y="2902376"/>
            <a:ext cx="2968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宋体" pitchFamily="2" charset="-122"/>
              </a:rPr>
              <a:t>★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齿顶圆</a:t>
            </a:r>
            <a:r>
              <a:rPr lang="zh-CN" altLang="en-US" sz="2400" dirty="0">
                <a:latin typeface="宋体" pitchFamily="2" charset="-122"/>
              </a:rPr>
              <a:t>画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粗实线。</a:t>
            </a:r>
          </a:p>
        </p:txBody>
      </p:sp>
      <p:sp>
        <p:nvSpPr>
          <p:cNvPr id="11" name="Text Box 28">
            <a:extLst>
              <a:ext uri="{FF2B5EF4-FFF2-40B4-BE49-F238E27FC236}">
                <a16:creationId xmlns:a16="http://schemas.microsoft.com/office/drawing/2014/main" id="{915AE07B-75B9-4108-BBE4-FA8364C391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043" y="4300224"/>
            <a:ext cx="3398973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宋体" pitchFamily="2" charset="-122"/>
              </a:rPr>
              <a:t>★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齿根圆</a:t>
            </a:r>
            <a:r>
              <a:rPr lang="zh-CN" altLang="en-US" sz="2400" dirty="0">
                <a:latin typeface="宋体" pitchFamily="2" charset="-122"/>
              </a:rPr>
              <a:t>在剖视图中画</a:t>
            </a:r>
            <a:endParaRPr lang="en-US" altLang="zh-CN" sz="2400" dirty="0">
              <a:latin typeface="宋体" pitchFamily="2" charset="-122"/>
            </a:endParaRPr>
          </a:p>
          <a:p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</a:rPr>
              <a:t>  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粗实线</a:t>
            </a:r>
            <a:r>
              <a:rPr lang="zh-CN" altLang="en-US" sz="2400" dirty="0">
                <a:latin typeface="宋体" pitchFamily="2" charset="-122"/>
              </a:rPr>
              <a:t>，在端视图中</a:t>
            </a:r>
            <a:endParaRPr lang="en-US" altLang="zh-CN" sz="2400" dirty="0">
              <a:latin typeface="宋体" pitchFamily="2" charset="-122"/>
            </a:endParaRPr>
          </a:p>
          <a:p>
            <a:r>
              <a:rPr lang="en-US" altLang="zh-CN" sz="2400" dirty="0">
                <a:latin typeface="宋体" pitchFamily="2" charset="-122"/>
              </a:rPr>
              <a:t>  </a:t>
            </a:r>
            <a:r>
              <a:rPr lang="zh-CN" altLang="en-US" sz="2400" dirty="0">
                <a:latin typeface="宋体" pitchFamily="2" charset="-122"/>
              </a:rPr>
              <a:t>画细实线或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省略不画</a:t>
            </a:r>
            <a:r>
              <a:rPr lang="zh-CN" altLang="en-US" sz="2400" dirty="0">
                <a:latin typeface="宋体" pitchFamily="2" charset="-122"/>
              </a:rPr>
              <a:t>。</a:t>
            </a:r>
          </a:p>
        </p:txBody>
      </p:sp>
      <p:sp>
        <p:nvSpPr>
          <p:cNvPr id="12" name="Text Box 29">
            <a:extLst>
              <a:ext uri="{FF2B5EF4-FFF2-40B4-BE49-F238E27FC236}">
                <a16:creationId xmlns:a16="http://schemas.microsoft.com/office/drawing/2014/main" id="{55C167E4-5348-4F67-88B6-45E68A070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804" y="5641415"/>
            <a:ext cx="678842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宋体" pitchFamily="2" charset="-122"/>
              </a:rPr>
              <a:t>★</a:t>
            </a:r>
            <a:r>
              <a:rPr lang="zh-CN" altLang="en-US" sz="2400" dirty="0">
                <a:latin typeface="宋体" pitchFamily="2" charset="-122"/>
              </a:rPr>
              <a:t>在非圆投影的剖视图中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轮齿</a:t>
            </a:r>
            <a:r>
              <a:rPr lang="zh-CN" altLang="en-US" sz="2400" dirty="0">
                <a:latin typeface="宋体" pitchFamily="2" charset="-122"/>
              </a:rPr>
              <a:t>部分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不画剖面线。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13" name="Line 32">
            <a:extLst>
              <a:ext uri="{FF2B5EF4-FFF2-40B4-BE49-F238E27FC236}">
                <a16:creationId xmlns:a16="http://schemas.microsoft.com/office/drawing/2014/main" id="{210860C8-A1A5-4634-92AF-BA55F8E758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01668" y="2271650"/>
            <a:ext cx="1036637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Freeform 33">
            <a:extLst>
              <a:ext uri="{FF2B5EF4-FFF2-40B4-BE49-F238E27FC236}">
                <a16:creationId xmlns:a16="http://schemas.microsoft.com/office/drawing/2014/main" id="{E9E3F705-D883-47A3-9FA6-5C8D30DEDB56}"/>
              </a:ext>
            </a:extLst>
          </p:cNvPr>
          <p:cNvSpPr>
            <a:spLocks/>
          </p:cNvSpPr>
          <p:nvPr/>
        </p:nvSpPr>
        <p:spPr bwMode="auto">
          <a:xfrm>
            <a:off x="5287280" y="1860487"/>
            <a:ext cx="679450" cy="1030288"/>
          </a:xfrm>
          <a:custGeom>
            <a:avLst/>
            <a:gdLst>
              <a:gd name="T0" fmla="*/ 0 w 428"/>
              <a:gd name="T1" fmla="*/ 2147483646 h 649"/>
              <a:gd name="T2" fmla="*/ 2147483646 w 428"/>
              <a:gd name="T3" fmla="*/ 0 h 649"/>
              <a:gd name="T4" fmla="*/ 0 60000 65536"/>
              <a:gd name="T5" fmla="*/ 0 60000 65536"/>
              <a:gd name="T6" fmla="*/ 0 w 428"/>
              <a:gd name="T7" fmla="*/ 0 h 649"/>
              <a:gd name="T8" fmla="*/ 428 w 428"/>
              <a:gd name="T9" fmla="*/ 649 h 649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428" h="649">
                <a:moveTo>
                  <a:pt x="0" y="649"/>
                </a:moveTo>
                <a:lnTo>
                  <a:pt x="428" y="0"/>
                </a:lnTo>
              </a:path>
            </a:pathLst>
          </a:custGeom>
          <a:noFill/>
          <a:ln w="19050">
            <a:solidFill>
              <a:srgbClr val="FF3300"/>
            </a:solidFill>
            <a:round/>
            <a:headEnd type="triangle" w="sm" len="lg"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Line 34">
            <a:extLst>
              <a:ext uri="{FF2B5EF4-FFF2-40B4-BE49-F238E27FC236}">
                <a16:creationId xmlns:a16="http://schemas.microsoft.com/office/drawing/2014/main" id="{F0A31D5D-CE99-4C79-A0C5-41B63FFD50E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987243" y="1860487"/>
            <a:ext cx="976312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Text Box 46">
            <a:extLst>
              <a:ext uri="{FF2B5EF4-FFF2-40B4-BE49-F238E27FC236}">
                <a16:creationId xmlns:a16="http://schemas.microsoft.com/office/drawing/2014/main" id="{97D8C102-CB59-4D54-97B2-01B3F4A856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1902" y="2207515"/>
            <a:ext cx="198804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rgbClr val="3333CC"/>
                </a:solidFill>
                <a:latin typeface="宋体" pitchFamily="2" charset="-122"/>
              </a:rPr>
              <a:t>画图要点：</a:t>
            </a:r>
          </a:p>
        </p:txBody>
      </p:sp>
      <p:sp>
        <p:nvSpPr>
          <p:cNvPr id="17" name="Text Box 47">
            <a:extLst>
              <a:ext uri="{FF2B5EF4-FFF2-40B4-BE49-F238E27FC236}">
                <a16:creationId xmlns:a16="http://schemas.microsoft.com/office/drawing/2014/main" id="{A8C07196-8393-4A29-A07A-0B541FCDB9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6043" y="3645455"/>
            <a:ext cx="296862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dirty="0">
                <a:solidFill>
                  <a:srgbClr val="00B0F0"/>
                </a:solidFill>
                <a:latin typeface="宋体" pitchFamily="2" charset="-122"/>
              </a:rPr>
              <a:t>★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分度圆</a:t>
            </a:r>
            <a:r>
              <a:rPr lang="zh-CN" altLang="en-US" sz="2400" dirty="0">
                <a:latin typeface="宋体" pitchFamily="2" charset="-122"/>
              </a:rPr>
              <a:t>画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点划线。</a:t>
            </a:r>
          </a:p>
        </p:txBody>
      </p:sp>
      <p:sp>
        <p:nvSpPr>
          <p:cNvPr id="18" name="Text Box 49">
            <a:extLst>
              <a:ext uri="{FF2B5EF4-FFF2-40B4-BE49-F238E27FC236}">
                <a16:creationId xmlns:a16="http://schemas.microsoft.com/office/drawing/2014/main" id="{2D509EF0-47BF-4073-8796-6AB7C4255C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30233" y="1880301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>
                <a:solidFill>
                  <a:srgbClr val="FF3300"/>
                </a:solidFill>
              </a:rPr>
              <a:t>齿顶圆</a:t>
            </a:r>
            <a:endParaRPr lang="zh-CN" altLang="en-US" sz="2000"/>
          </a:p>
        </p:txBody>
      </p:sp>
      <p:sp>
        <p:nvSpPr>
          <p:cNvPr id="19" name="Text Box 24">
            <a:extLst>
              <a:ext uri="{FF2B5EF4-FFF2-40B4-BE49-F238E27FC236}">
                <a16:creationId xmlns:a16="http://schemas.microsoft.com/office/drawing/2014/main" id="{564743FE-A582-41E3-ABDA-55C8752998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1214" y="4605245"/>
            <a:ext cx="954107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 dirty="0">
                <a:solidFill>
                  <a:srgbClr val="FF3300"/>
                </a:solidFill>
              </a:rPr>
              <a:t>分度圆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773287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2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0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8" presetClass="entr" presetSubtype="3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8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animBg="1"/>
      <p:bldP spid="7" grpId="0" autoUpdateAnimBg="0"/>
      <p:bldP spid="8" grpId="0" animBg="1"/>
      <p:bldP spid="9" grpId="0" animBg="1"/>
      <p:bldP spid="10" grpId="0" autoUpdateAnimBg="0"/>
      <p:bldP spid="11" grpId="0" autoUpdateAnimBg="0"/>
      <p:bldP spid="12" grpId="0" autoUpdateAnimBg="0"/>
      <p:bldP spid="13" grpId="0" animBg="1"/>
      <p:bldP spid="14" grpId="0" animBg="1"/>
      <p:bldP spid="15" grpId="0" animBg="1"/>
      <p:bldP spid="16" grpId="0" autoUpdateAnimBg="0"/>
      <p:bldP spid="17" grpId="0" autoUpdateAnimBg="0"/>
      <p:bldP spid="18" grpId="0" autoUpdateAnimBg="0"/>
      <p:bldP spid="1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F85B3DA1-B708-42DD-BAF3-621A99625F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3860" y="1340395"/>
            <a:ext cx="4073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zh-CN" sz="2800" dirty="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滚动轴承的结构和分类</a:t>
            </a:r>
            <a:endParaRPr lang="zh-CN" altLang="en-US" sz="2800" dirty="0">
              <a:solidFill>
                <a:srgbClr val="00B0F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3" name="Text Box 6">
            <a:extLst>
              <a:ext uri="{FF2B5EF4-FFF2-40B4-BE49-F238E27FC236}">
                <a16:creationId xmlns:a16="http://schemas.microsoft.com/office/drawing/2014/main" id="{1158DCBC-253E-422D-B2C5-BCFB0DAE3E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39716" y="422945"/>
            <a:ext cx="5407025" cy="58420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zh-CN" sz="3200">
                <a:latin typeface="黑体" pitchFamily="49" charset="-122"/>
                <a:ea typeface="黑体" pitchFamily="49" charset="-122"/>
              </a:rPr>
              <a:t>滚动轴承表示法</a:t>
            </a:r>
            <a:endParaRPr lang="zh-CN" altLang="en-US" sz="3200"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" name="Text Box 3">
            <a:extLst>
              <a:ext uri="{FF2B5EF4-FFF2-40B4-BE49-F238E27FC236}">
                <a16:creationId xmlns:a16="http://schemas.microsoft.com/office/drawing/2014/main" id="{E58E2E74-D910-414D-8DB3-3F769E4F7A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8251" y="1930946"/>
            <a:ext cx="1255712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4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☆结构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5AD8C45C-C96C-4B86-872F-8EE93D9952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3963" y="1956493"/>
            <a:ext cx="528757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dirty="0">
                <a:latin typeface="宋体" pitchFamily="2" charset="-122"/>
              </a:rPr>
              <a:t>由内圈、外圈、滚动体和保持架组成。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E9717CB-21AA-475D-8DA0-1FFB09118BA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572091" y="1369094"/>
            <a:ext cx="1347787" cy="2611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 Box 14">
            <a:extLst>
              <a:ext uri="{FF2B5EF4-FFF2-40B4-BE49-F238E27FC236}">
                <a16:creationId xmlns:a16="http://schemas.microsoft.com/office/drawing/2014/main" id="{1F07723F-1408-4E9C-B957-45BC19BE7B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25102" y="1634970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>
                <a:solidFill>
                  <a:srgbClr val="FF3300"/>
                </a:solidFill>
              </a:rPr>
              <a:t>外圈</a:t>
            </a:r>
            <a:endParaRPr lang="zh-CN" altLang="en-US" sz="2000"/>
          </a:p>
        </p:txBody>
      </p:sp>
      <p:sp>
        <p:nvSpPr>
          <p:cNvPr id="8" name="Text Box 15">
            <a:extLst>
              <a:ext uri="{FF2B5EF4-FFF2-40B4-BE49-F238E27FC236}">
                <a16:creationId xmlns:a16="http://schemas.microsoft.com/office/drawing/2014/main" id="{B395C592-96E0-41B9-8775-3437680AA9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50502" y="2123920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>
                <a:solidFill>
                  <a:srgbClr val="FF3300"/>
                </a:solidFill>
              </a:rPr>
              <a:t>滚珠</a:t>
            </a:r>
            <a:endParaRPr lang="zh-CN" altLang="en-US" sz="2000"/>
          </a:p>
        </p:txBody>
      </p:sp>
      <p:sp>
        <p:nvSpPr>
          <p:cNvPr id="9" name="Text Box 16">
            <a:extLst>
              <a:ext uri="{FF2B5EF4-FFF2-40B4-BE49-F238E27FC236}">
                <a16:creationId xmlns:a16="http://schemas.microsoft.com/office/drawing/2014/main" id="{25763499-6181-4BB7-AC39-E0024CAA9F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36215" y="2803370"/>
            <a:ext cx="69762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>
                <a:solidFill>
                  <a:srgbClr val="FF3300"/>
                </a:solidFill>
              </a:rPr>
              <a:t>内圈</a:t>
            </a:r>
            <a:endParaRPr lang="zh-CN" altLang="en-US" sz="2000"/>
          </a:p>
        </p:txBody>
      </p:sp>
      <p:sp>
        <p:nvSpPr>
          <p:cNvPr id="10" name="Text Box 17">
            <a:extLst>
              <a:ext uri="{FF2B5EF4-FFF2-40B4-BE49-F238E27FC236}">
                <a16:creationId xmlns:a16="http://schemas.microsoft.com/office/drawing/2014/main" id="{96199210-3425-41F4-BEB8-DF9073CC10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119893" y="3290733"/>
            <a:ext cx="95410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000">
                <a:solidFill>
                  <a:srgbClr val="FF3300"/>
                </a:solidFill>
              </a:rPr>
              <a:t>保持架</a:t>
            </a:r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C912AE6F-8AE1-4874-B715-8111C99A7A32}"/>
              </a:ext>
            </a:extLst>
          </p:cNvPr>
          <p:cNvSpPr>
            <a:spLocks noChangeShapeType="1"/>
          </p:cNvSpPr>
          <p:nvPr/>
        </p:nvSpPr>
        <p:spPr bwMode="auto">
          <a:xfrm>
            <a:off x="9526178" y="1872332"/>
            <a:ext cx="576263" cy="157162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oval" w="sm" len="sm"/>
            <a:tailEnd/>
          </a:ln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2" name="Line 19">
            <a:extLst>
              <a:ext uri="{FF2B5EF4-FFF2-40B4-BE49-F238E27FC236}">
                <a16:creationId xmlns:a16="http://schemas.microsoft.com/office/drawing/2014/main" id="{39F31817-B2E5-47AF-824C-0AEECFA72BA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02441" y="2029494"/>
            <a:ext cx="8382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3" name="Line 20">
            <a:extLst>
              <a:ext uri="{FF2B5EF4-FFF2-40B4-BE49-F238E27FC236}">
                <a16:creationId xmlns:a16="http://schemas.microsoft.com/office/drawing/2014/main" id="{23DDC5EC-E1F6-48E5-9F74-671029D9F48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530941" y="2518444"/>
            <a:ext cx="619125" cy="1555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oval" w="sm" len="sm"/>
            <a:tailEnd/>
          </a:ln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4" name="Line 21">
            <a:extLst>
              <a:ext uri="{FF2B5EF4-FFF2-40B4-BE49-F238E27FC236}">
                <a16:creationId xmlns:a16="http://schemas.microsoft.com/office/drawing/2014/main" id="{F27A774C-AF24-4A8B-BAA6-E03B13DC83A1}"/>
              </a:ext>
            </a:extLst>
          </p:cNvPr>
          <p:cNvSpPr>
            <a:spLocks noChangeShapeType="1"/>
          </p:cNvSpPr>
          <p:nvPr/>
        </p:nvSpPr>
        <p:spPr bwMode="auto">
          <a:xfrm>
            <a:off x="9694453" y="2961357"/>
            <a:ext cx="396875" cy="22225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oval" w="sm" len="sm"/>
            <a:tailEnd/>
          </a:ln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5" name="Line 22">
            <a:extLst>
              <a:ext uri="{FF2B5EF4-FFF2-40B4-BE49-F238E27FC236}">
                <a16:creationId xmlns:a16="http://schemas.microsoft.com/office/drawing/2014/main" id="{5F23C4DD-D03D-4CAB-8F11-E9AE41D4238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81803" y="3185194"/>
            <a:ext cx="85725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6" name="Line 23">
            <a:extLst>
              <a:ext uri="{FF2B5EF4-FFF2-40B4-BE49-F238E27FC236}">
                <a16:creationId xmlns:a16="http://schemas.microsoft.com/office/drawing/2014/main" id="{DE9D9135-A092-4EEB-95A0-086B5734CDC6}"/>
              </a:ext>
            </a:extLst>
          </p:cNvPr>
          <p:cNvSpPr>
            <a:spLocks noChangeShapeType="1"/>
          </p:cNvSpPr>
          <p:nvPr/>
        </p:nvSpPr>
        <p:spPr bwMode="auto">
          <a:xfrm>
            <a:off x="9638891" y="3307432"/>
            <a:ext cx="508000" cy="396875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 type="oval" w="sm" len="sm"/>
            <a:tailEnd/>
          </a:ln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7" name="Line 24">
            <a:extLst>
              <a:ext uri="{FF2B5EF4-FFF2-40B4-BE49-F238E27FC236}">
                <a16:creationId xmlns:a16="http://schemas.microsoft.com/office/drawing/2014/main" id="{0547B78E-D9E3-45D3-AD3E-879C9F2C1C33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45303" y="3697957"/>
            <a:ext cx="865188" cy="1587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8" name="Line 25">
            <a:extLst>
              <a:ext uri="{FF2B5EF4-FFF2-40B4-BE49-F238E27FC236}">
                <a16:creationId xmlns:a16="http://schemas.microsoft.com/office/drawing/2014/main" id="{B5E1BAA4-B38F-41FE-A87E-5E1E56734D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0145303" y="2505744"/>
            <a:ext cx="736600" cy="127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 sz="2000"/>
          </a:p>
        </p:txBody>
      </p:sp>
      <p:sp>
        <p:nvSpPr>
          <p:cNvPr id="19" name="Text Box 5">
            <a:extLst>
              <a:ext uri="{FF2B5EF4-FFF2-40B4-BE49-F238E27FC236}">
                <a16:creationId xmlns:a16="http://schemas.microsoft.com/office/drawing/2014/main" id="{BEB72B75-98B0-4205-BCF8-535E2EDB5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14451" y="2640559"/>
            <a:ext cx="11128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☆分类</a:t>
            </a:r>
          </a:p>
        </p:txBody>
      </p:sp>
      <p:sp>
        <p:nvSpPr>
          <p:cNvPr id="20" name="Text Box 7">
            <a:extLst>
              <a:ext uri="{FF2B5EF4-FFF2-40B4-BE49-F238E27FC236}">
                <a16:creationId xmlns:a16="http://schemas.microsoft.com/office/drawing/2014/main" id="{8A111E70-1556-4B50-BE81-4FA6F2F3F8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916" y="2669914"/>
            <a:ext cx="389731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2"/>
                </a:solidFill>
                <a:latin typeface="宋体" pitchFamily="2" charset="-122"/>
              </a:rPr>
              <a:t>按其承受的载荷方向分为：</a:t>
            </a:r>
          </a:p>
        </p:txBody>
      </p:sp>
      <p:sp>
        <p:nvSpPr>
          <p:cNvPr id="21" name="Text Box 9">
            <a:extLst>
              <a:ext uri="{FF2B5EF4-FFF2-40B4-BE49-F238E27FC236}">
                <a16:creationId xmlns:a16="http://schemas.microsoft.com/office/drawing/2014/main" id="{E3547C4E-D68A-49C9-B12C-9134FE8FF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62952" y="5841151"/>
            <a:ext cx="314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  <a:latin typeface="宋体" pitchFamily="2" charset="-122"/>
              </a:rPr>
              <a:t>●</a:t>
            </a:r>
            <a:r>
              <a:rPr lang="zh-CN" altLang="en-US" sz="2400" b="1" dirty="0">
                <a:latin typeface="宋体" pitchFamily="2" charset="-122"/>
              </a:rPr>
              <a:t>向心推力轴承</a:t>
            </a:r>
            <a:endParaRPr lang="zh-CN" altLang="en-US" sz="2400" b="1" dirty="0">
              <a:solidFill>
                <a:srgbClr val="FF3300"/>
              </a:solidFill>
              <a:latin typeface="宋体" pitchFamily="2" charset="-122"/>
            </a:endParaRPr>
          </a:p>
        </p:txBody>
      </p:sp>
      <p:sp>
        <p:nvSpPr>
          <p:cNvPr id="22" name="Text Box 13">
            <a:extLst>
              <a:ext uri="{FF2B5EF4-FFF2-40B4-BE49-F238E27FC236}">
                <a16:creationId xmlns:a16="http://schemas.microsoft.com/office/drawing/2014/main" id="{CEFC11D6-85F4-4FC8-991D-4172051E62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49834" y="3615023"/>
            <a:ext cx="17303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/>
                </a:solidFill>
                <a:latin typeface="宋体" pitchFamily="2" charset="-122"/>
              </a:rPr>
              <a:t>●</a:t>
            </a:r>
            <a:r>
              <a:rPr lang="zh-CN" altLang="en-US" sz="2400" b="1" dirty="0">
                <a:latin typeface="宋体" pitchFamily="2" charset="-122"/>
              </a:rPr>
              <a:t>向心轴承</a:t>
            </a:r>
            <a:endParaRPr lang="en-US" altLang="zh-CN" sz="2400" b="1" dirty="0"/>
          </a:p>
        </p:txBody>
      </p:sp>
      <p:sp>
        <p:nvSpPr>
          <p:cNvPr id="23" name="Text Box 26">
            <a:extLst>
              <a:ext uri="{FF2B5EF4-FFF2-40B4-BE49-F238E27FC236}">
                <a16:creationId xmlns:a16="http://schemas.microsoft.com/office/drawing/2014/main" id="{0C735289-80D3-4245-AB79-6725A1C920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2730" y="4867205"/>
            <a:ext cx="17319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accent2"/>
                </a:solidFill>
                <a:latin typeface="宋体" pitchFamily="2" charset="-122"/>
              </a:rPr>
              <a:t>●</a:t>
            </a:r>
            <a:r>
              <a:rPr lang="zh-CN" altLang="en-US" sz="2400" b="1" dirty="0">
                <a:latin typeface="宋体" pitchFamily="2" charset="-122"/>
              </a:rPr>
              <a:t>推力轴承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87F4DD03-4FC3-4386-8785-6B0871063A8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4077879" y="3131877"/>
            <a:ext cx="771525" cy="1495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86F2CAE5-7D48-492E-8B9D-82CDE066D05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l="41399" r="39331"/>
          <a:stretch>
            <a:fillRect/>
          </a:stretch>
        </p:blipFill>
        <p:spPr bwMode="auto">
          <a:xfrm>
            <a:off x="5106963" y="4337720"/>
            <a:ext cx="738188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图片 25">
            <a:extLst>
              <a:ext uri="{FF2B5EF4-FFF2-40B4-BE49-F238E27FC236}">
                <a16:creationId xmlns:a16="http://schemas.microsoft.com/office/drawing/2014/main" id="{55CC4BE6-1403-401B-BE09-3D53F10F8AD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rcRect l="83286" r="1783"/>
          <a:stretch/>
        </p:blipFill>
        <p:spPr bwMode="auto">
          <a:xfrm>
            <a:off x="6224947" y="5352132"/>
            <a:ext cx="571500" cy="1257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FE298354-31E4-478E-994D-A86A5DA64A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3719" y="3611453"/>
            <a:ext cx="1731963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zh-CN" altLang="en-US" sz="2400" b="1" dirty="0">
                <a:latin typeface="宋体" pitchFamily="2" charset="-122"/>
              </a:rPr>
              <a:t>承受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径向力</a:t>
            </a:r>
            <a:endParaRPr lang="zh-CN" altLang="en-US" sz="2400" b="1" dirty="0">
              <a:latin typeface="宋体" pitchFamily="2" charset="-122"/>
            </a:endParaRPr>
          </a:p>
        </p:txBody>
      </p:sp>
      <p:sp>
        <p:nvSpPr>
          <p:cNvPr id="28" name="Text Box 26">
            <a:extLst>
              <a:ext uri="{FF2B5EF4-FFF2-40B4-BE49-F238E27FC236}">
                <a16:creationId xmlns:a16="http://schemas.microsoft.com/office/drawing/2014/main" id="{0F45699D-F746-483C-ABD6-8D4B962196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34956" y="4861525"/>
            <a:ext cx="17303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b="1" dirty="0">
                <a:latin typeface="宋体" pitchFamily="2" charset="-122"/>
              </a:rPr>
              <a:t>承受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轴向力</a:t>
            </a:r>
            <a:endParaRPr lang="zh-CN" altLang="en-US" sz="2400" b="1" dirty="0">
              <a:latin typeface="宋体" pitchFamily="2" charset="-122"/>
            </a:endParaRPr>
          </a:p>
        </p:txBody>
      </p:sp>
      <p:sp>
        <p:nvSpPr>
          <p:cNvPr id="29" name="Text Box 11">
            <a:extLst>
              <a:ext uri="{FF2B5EF4-FFF2-40B4-BE49-F238E27FC236}">
                <a16:creationId xmlns:a16="http://schemas.microsoft.com/office/drawing/2014/main" id="{093876EE-E7E8-488B-8399-C945E778B1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3890" y="5710907"/>
            <a:ext cx="3584575" cy="463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zh-CN" altLang="en-US" sz="2400" b="1" dirty="0">
                <a:latin typeface="宋体" pitchFamily="2" charset="-122"/>
              </a:rPr>
              <a:t>同时承受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径向力和轴向力</a:t>
            </a:r>
          </a:p>
        </p:txBody>
      </p:sp>
      <p:sp>
        <p:nvSpPr>
          <p:cNvPr id="30" name="Line 10">
            <a:extLst>
              <a:ext uri="{FF2B5EF4-FFF2-40B4-BE49-F238E27FC236}">
                <a16:creationId xmlns:a16="http://schemas.microsoft.com/office/drawing/2014/main" id="{4270184E-8BFC-4A84-8332-C15DCDCAF9F2}"/>
              </a:ext>
            </a:extLst>
          </p:cNvPr>
          <p:cNvSpPr>
            <a:spLocks noChangeShapeType="1"/>
          </p:cNvSpPr>
          <p:nvPr/>
        </p:nvSpPr>
        <p:spPr bwMode="auto">
          <a:xfrm>
            <a:off x="6133281" y="5106000"/>
            <a:ext cx="5715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31" name="Line 10">
            <a:extLst>
              <a:ext uri="{FF2B5EF4-FFF2-40B4-BE49-F238E27FC236}">
                <a16:creationId xmlns:a16="http://schemas.microsoft.com/office/drawing/2014/main" id="{B60B103B-B202-4F48-9771-373EECC7A616}"/>
              </a:ext>
            </a:extLst>
          </p:cNvPr>
          <p:cNvSpPr>
            <a:spLocks noChangeShapeType="1"/>
          </p:cNvSpPr>
          <p:nvPr/>
        </p:nvSpPr>
        <p:spPr bwMode="auto">
          <a:xfrm>
            <a:off x="5171257" y="3841641"/>
            <a:ext cx="5715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  <p:sp>
        <p:nvSpPr>
          <p:cNvPr id="32" name="Line 10">
            <a:extLst>
              <a:ext uri="{FF2B5EF4-FFF2-40B4-BE49-F238E27FC236}">
                <a16:creationId xmlns:a16="http://schemas.microsoft.com/office/drawing/2014/main" id="{9587B634-3DAD-41C9-A0EE-819194A5217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5252" y="5980782"/>
            <a:ext cx="5715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stealth" w="lg" len="lg"/>
          </a:ln>
        </p:spPr>
        <p:txBody>
          <a:bodyPr wrap="none" lIns="90000" tIns="46800" rIns="90000" bIns="46800"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000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00"/>
                            </p:stCondLst>
                            <p:childTnLst>
                              <p:par>
                                <p:cTn id="37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2" presetClass="entr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8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7" presetClass="entr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8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1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500"/>
                            </p:stCondLst>
                            <p:childTnLst>
                              <p:par>
                                <p:cTn id="12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"/>
                            </p:stCondLst>
                            <p:childTnLst>
                              <p:par>
                                <p:cTn id="1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000"/>
                            </p:stCondLst>
                            <p:childTnLst>
                              <p:par>
                                <p:cTn id="1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nimBg="1" autoUpdateAnimBg="0"/>
      <p:bldP spid="4" grpId="0" autoUpdateAnimBg="0"/>
      <p:bldP spid="4" grpId="1" autoUpdateAnimBg="0"/>
      <p:bldP spid="5" grpId="0" autoUpdateAnimBg="0"/>
      <p:bldP spid="5" grpId="1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utoUpdateAnimBg="0"/>
      <p:bldP spid="19" grpId="1" autoUpdateAnimBg="0"/>
      <p:bldP spid="20" grpId="0" autoUpdateAnimBg="0"/>
      <p:bldP spid="20" grpId="1" autoUpdateAnimBg="0"/>
      <p:bldP spid="21" grpId="0"/>
      <p:bldP spid="22" grpId="0" autoUpdateAnimBg="0"/>
      <p:bldP spid="23" grpId="0" autoUpdateAnimBg="0"/>
      <p:bldP spid="27" grpId="0"/>
      <p:bldP spid="28" grpId="0" autoUpdateAnimBg="0"/>
      <p:bldP spid="29" grpId="0"/>
      <p:bldP spid="30" grpId="0" animBg="1"/>
      <p:bldP spid="31" grpId="0" animBg="1"/>
      <p:bldP spid="3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Box 17">
            <a:extLst>
              <a:ext uri="{FF2B5EF4-FFF2-40B4-BE49-F238E27FC236}">
                <a16:creationId xmlns:a16="http://schemas.microsoft.com/office/drawing/2014/main" id="{AB6FBD19-DF5E-4CFD-8603-DD0AE5EDD0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4137" y="1554889"/>
            <a:ext cx="4129088" cy="461962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轴 承 类 型 代 号</a:t>
            </a:r>
          </a:p>
        </p:txBody>
      </p:sp>
      <p:sp>
        <p:nvSpPr>
          <p:cNvPr id="34" name="Text Box 2">
            <a:extLst>
              <a:ext uri="{FF2B5EF4-FFF2-40B4-BE49-F238E27FC236}">
                <a16:creationId xmlns:a16="http://schemas.microsoft.com/office/drawing/2014/main" id="{04762F7D-6557-4C9D-BF87-088EF6105A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6183" y="2405697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endParaRPr lang="zh-CN" altLang="zh-CN" sz="2400" b="1"/>
          </a:p>
        </p:txBody>
      </p:sp>
      <p:sp>
        <p:nvSpPr>
          <p:cNvPr id="35" name="Text Box 3">
            <a:extLst>
              <a:ext uri="{FF2B5EF4-FFF2-40B4-BE49-F238E27FC236}">
                <a16:creationId xmlns:a16="http://schemas.microsoft.com/office/drawing/2014/main" id="{9DF95BA4-F207-4040-81F3-326A6F94FF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0851" y="1440377"/>
            <a:ext cx="162095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800" dirty="0">
                <a:solidFill>
                  <a:srgbClr val="FF3300"/>
                </a:solidFill>
                <a:latin typeface="宋体" pitchFamily="2" charset="-122"/>
              </a:rPr>
              <a:t>☆</a:t>
            </a:r>
            <a:r>
              <a:rPr lang="zh-CN" altLang="en-US" sz="28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代号：</a:t>
            </a:r>
          </a:p>
        </p:txBody>
      </p:sp>
      <p:sp>
        <p:nvSpPr>
          <p:cNvPr id="36" name="Text Box 4">
            <a:extLst>
              <a:ext uri="{FF2B5EF4-FFF2-40B4-BE49-F238E27FC236}">
                <a16:creationId xmlns:a16="http://schemas.microsoft.com/office/drawing/2014/main" id="{0B266A9A-9807-440C-968A-9D4211A213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1808" y="2713672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endParaRPr lang="zh-CN" altLang="zh-CN" sz="2400" b="1"/>
          </a:p>
        </p:txBody>
      </p:sp>
      <p:sp>
        <p:nvSpPr>
          <p:cNvPr id="37" name="Text Box 5">
            <a:extLst>
              <a:ext uri="{FF2B5EF4-FFF2-40B4-BE49-F238E27FC236}">
                <a16:creationId xmlns:a16="http://schemas.microsoft.com/office/drawing/2014/main" id="{61C13244-3A16-44AB-AA55-485C6CD810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986" y="1976438"/>
            <a:ext cx="250507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① </a:t>
            </a:r>
            <a:r>
              <a:rPr lang="zh-CN" altLang="en-US" sz="2400" b="1" dirty="0">
                <a:latin typeface="宋体" pitchFamily="2" charset="-122"/>
              </a:rPr>
              <a:t>代号的构成：</a:t>
            </a:r>
          </a:p>
        </p:txBody>
      </p:sp>
      <p:sp>
        <p:nvSpPr>
          <p:cNvPr id="38" name="Text Box 6">
            <a:extLst>
              <a:ext uri="{FF2B5EF4-FFF2-40B4-BE49-F238E27FC236}">
                <a16:creationId xmlns:a16="http://schemas.microsoft.com/office/drawing/2014/main" id="{F0E52F4A-657A-42B2-9260-1E47CD0003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3986" y="3092300"/>
            <a:ext cx="188595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② </a:t>
            </a:r>
            <a:r>
              <a:rPr lang="zh-CN" altLang="en-US" sz="2400" b="1" dirty="0">
                <a:latin typeface="宋体" pitchFamily="2" charset="-122"/>
              </a:rPr>
              <a:t>基本代号</a:t>
            </a:r>
          </a:p>
        </p:txBody>
      </p:sp>
      <p:sp>
        <p:nvSpPr>
          <p:cNvPr id="39" name="Text Box 7">
            <a:extLst>
              <a:ext uri="{FF2B5EF4-FFF2-40B4-BE49-F238E27FC236}">
                <a16:creationId xmlns:a16="http://schemas.microsoft.com/office/drawing/2014/main" id="{347F754F-985E-4789-9215-69A3C5BFB2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523" y="2357157"/>
            <a:ext cx="528454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按顺序由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前置代号</a:t>
            </a:r>
            <a:r>
              <a:rPr lang="zh-CN" altLang="en-US" sz="2400" b="1" dirty="0">
                <a:latin typeface="宋体" pitchFamily="2" charset="-122"/>
              </a:rPr>
              <a:t>、</a:t>
            </a:r>
            <a:r>
              <a:rPr lang="zh-CN" altLang="en-US" sz="2400" b="1" dirty="0">
                <a:solidFill>
                  <a:srgbClr val="FF0066"/>
                </a:solidFill>
                <a:latin typeface="宋体" pitchFamily="2" charset="-122"/>
              </a:rPr>
              <a:t>基本代号</a:t>
            </a:r>
            <a:r>
              <a:rPr lang="zh-CN" altLang="en-US" sz="2400" b="1" dirty="0">
                <a:latin typeface="宋体" pitchFamily="2" charset="-122"/>
              </a:rPr>
              <a:t>、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后置代号</a:t>
            </a:r>
            <a:r>
              <a:rPr lang="zh-CN" altLang="en-US" sz="2400" b="1" dirty="0">
                <a:latin typeface="宋体" pitchFamily="2" charset="-122"/>
              </a:rPr>
              <a:t>构成。</a:t>
            </a:r>
          </a:p>
        </p:txBody>
      </p:sp>
      <p:sp>
        <p:nvSpPr>
          <p:cNvPr id="40" name="Text Box 8">
            <a:extLst>
              <a:ext uri="{FF2B5EF4-FFF2-40B4-BE49-F238E27FC236}">
                <a16:creationId xmlns:a16="http://schemas.microsoft.com/office/drawing/2014/main" id="{AB342F6E-076A-46FB-AD5E-2D78B94FA7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4074" y="3517350"/>
            <a:ext cx="5392989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基本代号表示轴承的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基本类型</a:t>
            </a:r>
            <a:r>
              <a:rPr lang="zh-CN" altLang="en-US" sz="2400" b="1" dirty="0">
                <a:latin typeface="宋体" pitchFamily="2" charset="-122"/>
              </a:rPr>
              <a:t>、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结构</a:t>
            </a:r>
            <a:r>
              <a:rPr lang="zh-CN" altLang="en-US" sz="2400" b="1" dirty="0">
                <a:latin typeface="宋体" pitchFamily="2" charset="-122"/>
              </a:rPr>
              <a:t>和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尺寸</a:t>
            </a:r>
            <a:r>
              <a:rPr lang="zh-CN" altLang="en-US" sz="2400" b="1" dirty="0">
                <a:latin typeface="宋体" pitchFamily="2" charset="-122"/>
              </a:rPr>
              <a:t>，是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轴承代号的基础</a:t>
            </a:r>
            <a:r>
              <a:rPr lang="zh-CN" altLang="en-US" sz="2400" b="1" dirty="0">
                <a:latin typeface="宋体" pitchFamily="2" charset="-122"/>
              </a:rPr>
              <a:t>。</a:t>
            </a:r>
          </a:p>
        </p:txBody>
      </p:sp>
      <p:sp>
        <p:nvSpPr>
          <p:cNvPr id="41" name="Text Box 9">
            <a:extLst>
              <a:ext uri="{FF2B5EF4-FFF2-40B4-BE49-F238E27FC236}">
                <a16:creationId xmlns:a16="http://schemas.microsoft.com/office/drawing/2014/main" id="{AB6F7073-9DA5-4B3F-ABE0-6DAA955125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780" y="4409788"/>
            <a:ext cx="5407025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solidFill>
                  <a:srgbClr val="FF0066"/>
                </a:solidFill>
                <a:latin typeface="宋体" pitchFamily="2" charset="-122"/>
              </a:rPr>
              <a:t>    基本代号</a:t>
            </a:r>
            <a:r>
              <a:rPr lang="zh-CN" altLang="en-US" sz="2400" b="1" dirty="0">
                <a:latin typeface="宋体" pitchFamily="2" charset="-122"/>
              </a:rPr>
              <a:t>由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轴承类型代号</a:t>
            </a:r>
            <a:r>
              <a:rPr lang="zh-CN" altLang="en-US" sz="2400" b="1" dirty="0">
                <a:latin typeface="宋体" pitchFamily="2" charset="-122"/>
              </a:rPr>
              <a:t>、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尺寸系列代号</a:t>
            </a:r>
            <a:r>
              <a:rPr lang="zh-CN" altLang="en-US" sz="2400" b="1" dirty="0">
                <a:latin typeface="宋体" pitchFamily="2" charset="-122"/>
              </a:rPr>
              <a:t>和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内径代号</a:t>
            </a:r>
            <a:r>
              <a:rPr lang="zh-CN" altLang="en-US" sz="2400" b="1" dirty="0">
                <a:latin typeface="宋体" pitchFamily="2" charset="-122"/>
              </a:rPr>
              <a:t>构成。</a:t>
            </a:r>
          </a:p>
        </p:txBody>
      </p:sp>
      <p:sp>
        <p:nvSpPr>
          <p:cNvPr id="42" name="Text Box 10">
            <a:extLst>
              <a:ext uri="{FF2B5EF4-FFF2-40B4-BE49-F238E27FC236}">
                <a16:creationId xmlns:a16="http://schemas.microsoft.com/office/drawing/2014/main" id="{5F3F423C-8A78-46A7-AD1C-3DA9B9EC51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3780" y="5320574"/>
            <a:ext cx="5284541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    </a:t>
            </a:r>
            <a:r>
              <a:rPr lang="zh-CN" altLang="en-US" sz="2400" b="1" dirty="0">
                <a:latin typeface="宋体" pitchFamily="2" charset="-122"/>
              </a:rPr>
              <a:t>基本代号通常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用</a:t>
            </a:r>
            <a:r>
              <a:rPr lang="en-US" altLang="zh-CN" sz="2400" b="1" dirty="0">
                <a:solidFill>
                  <a:schemeClr val="accent2"/>
                </a:solidFill>
                <a:latin typeface="宋体" pitchFamily="2" charset="-122"/>
              </a:rPr>
              <a:t>4 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位数字表示</a:t>
            </a:r>
            <a:r>
              <a:rPr lang="zh-CN" altLang="en-US" sz="2400" b="1" dirty="0">
                <a:latin typeface="宋体" pitchFamily="2" charset="-122"/>
              </a:rPr>
              <a:t>，从左往右依次为：</a:t>
            </a:r>
          </a:p>
        </p:txBody>
      </p:sp>
      <p:sp>
        <p:nvSpPr>
          <p:cNvPr id="43" name="Text Box 11">
            <a:extLst>
              <a:ext uri="{FF2B5EF4-FFF2-40B4-BE49-F238E27FC236}">
                <a16:creationId xmlns:a16="http://schemas.microsoft.com/office/drawing/2014/main" id="{7AB3D4EB-092E-49C9-A54B-E6C166A212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087" y="6157691"/>
            <a:ext cx="6307947" cy="4638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pPr algn="ctr"/>
            <a:r>
              <a:rPr lang="en-US" altLang="zh-CN" sz="2400" b="1" dirty="0">
                <a:latin typeface="宋体" pitchFamily="2" charset="-122"/>
              </a:rPr>
              <a:t>★</a:t>
            </a:r>
            <a:r>
              <a:rPr lang="zh-CN" altLang="en-US" sz="2400" b="1" dirty="0">
                <a:latin typeface="宋体" pitchFamily="2" charset="-122"/>
              </a:rPr>
              <a:t>第一位数字是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轴承类型代号</a:t>
            </a:r>
            <a:r>
              <a:rPr lang="zh-CN" altLang="en-US" sz="2400" b="1" dirty="0">
                <a:latin typeface="宋体" pitchFamily="2" charset="-122"/>
              </a:rPr>
              <a:t>。如表所示</a:t>
            </a:r>
          </a:p>
        </p:txBody>
      </p:sp>
      <p:sp>
        <p:nvSpPr>
          <p:cNvPr id="44" name="Text Box 2">
            <a:extLst>
              <a:ext uri="{FF2B5EF4-FFF2-40B4-BE49-F238E27FC236}">
                <a16:creationId xmlns:a16="http://schemas.microsoft.com/office/drawing/2014/main" id="{B0F4A834-CB93-4C99-83E0-86896ECF01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61282" y="833933"/>
            <a:ext cx="4073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滚动轴承的结构和分类</a:t>
            </a:r>
            <a:endParaRPr lang="zh-CN" altLang="en-US" sz="280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45" name="Text Box 6">
            <a:extLst>
              <a:ext uri="{FF2B5EF4-FFF2-40B4-BE49-F238E27FC236}">
                <a16:creationId xmlns:a16="http://schemas.microsoft.com/office/drawing/2014/main" id="{70035490-571F-481E-AC0A-1142F970DC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18384" y="255468"/>
            <a:ext cx="5407025" cy="58420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zh-CN" sz="3200" dirty="0">
                <a:latin typeface="黑体" pitchFamily="49" charset="-122"/>
                <a:ea typeface="黑体" pitchFamily="49" charset="-122"/>
              </a:rPr>
              <a:t>滚动轴承表示法</a:t>
            </a:r>
            <a:endParaRPr lang="zh-CN" altLang="en-US" sz="3200" dirty="0"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46" name="图片 45">
            <a:extLst>
              <a:ext uri="{FF2B5EF4-FFF2-40B4-BE49-F238E27FC236}">
                <a16:creationId xmlns:a16="http://schemas.microsoft.com/office/drawing/2014/main" id="{C2E453DB-0BB3-426D-8979-5591068265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787506" y="1976438"/>
            <a:ext cx="4662350" cy="4391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775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9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34" grpId="0" build="p" autoUpdateAnimBg="0"/>
      <p:bldP spid="36" grpId="0" build="p" autoUpdateAnimBg="0"/>
      <p:bldP spid="37" grpId="0" autoUpdateAnimBg="0"/>
      <p:bldP spid="38" grpId="0" autoUpdateAnimBg="0"/>
      <p:bldP spid="39" grpId="0" autoUpdateAnimBg="0"/>
      <p:bldP spid="40" grpId="0" autoUpdateAnimBg="0"/>
      <p:bldP spid="41" grpId="0" autoUpdateAnimBg="0"/>
      <p:bldP spid="42" grpId="0" autoUpdateAnimBg="0"/>
      <p:bldP spid="43" grpId="0" autoUpdateAnimBg="0"/>
      <p:bldP spid="44" grpId="0" autoUpdateAnimBg="0"/>
      <p:bldP spid="45" grpId="0" animBg="1" autoUpdateAnimBg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DCA990CF-FE4E-49E9-9993-2FEBF6C544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9496" y="4054090"/>
            <a:ext cx="51498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zh-CN" altLang="en-US" sz="2400" dirty="0">
                <a:latin typeface="宋体" pitchFamily="2" charset="-122"/>
              </a:rPr>
              <a:t>如：轴承代号 </a:t>
            </a:r>
            <a:r>
              <a:rPr lang="en-US" altLang="zh-CN" sz="2400" dirty="0">
                <a:solidFill>
                  <a:schemeClr val="accent2"/>
                </a:solidFill>
                <a:latin typeface="宋体" pitchFamily="2" charset="-122"/>
              </a:rPr>
              <a:t>6204  GB/T 276-1994</a:t>
            </a:r>
            <a:endParaRPr lang="en-US" altLang="zh-CN" sz="2400" dirty="0">
              <a:latin typeface="宋体" pitchFamily="2" charset="-122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A80FB57C-72F7-4617-BB51-AE9495EB62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5108" y="2693294"/>
            <a:ext cx="4516437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★</a:t>
            </a:r>
            <a:r>
              <a:rPr lang="zh-CN" altLang="en-US" sz="2400" b="1" dirty="0">
                <a:latin typeface="宋体" pitchFamily="2" charset="-122"/>
              </a:rPr>
              <a:t>右边的两位数字是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内径代号。</a:t>
            </a:r>
            <a:endParaRPr lang="zh-CN" altLang="en-US" sz="2400" b="1" dirty="0">
              <a:latin typeface="宋体" pitchFamily="2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56E2703B-33D3-4DBF-870F-3A0D4F21B5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53269" y="1880970"/>
            <a:ext cx="62071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en-US" altLang="zh-CN" sz="2400" b="1" dirty="0">
                <a:latin typeface="宋体" pitchFamily="2" charset="-122"/>
              </a:rPr>
              <a:t>★</a:t>
            </a:r>
            <a:r>
              <a:rPr lang="zh-CN" altLang="en-US" sz="2400" b="1" dirty="0">
                <a:latin typeface="宋体" pitchFamily="2" charset="-122"/>
              </a:rPr>
              <a:t>第二位数字是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尺寸系列代号</a:t>
            </a:r>
            <a:r>
              <a:rPr lang="zh-CN" altLang="en-US" sz="2400" b="1" dirty="0">
                <a:latin typeface="宋体" pitchFamily="2" charset="-122"/>
              </a:rPr>
              <a:t>。</a:t>
            </a: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1CBB6B19-2F0C-4B5C-B116-40EA8D1472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434" y="1870311"/>
            <a:ext cx="4964126" cy="120032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</p:spPr>
        <p:txBody>
          <a:bodyPr wrap="square"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zh-CN" altLang="en-US" sz="2400" dirty="0">
                <a:latin typeface="宋体" panose="02010600030101010101" pitchFamily="2" charset="-122"/>
              </a:rPr>
              <a:t>尺寸系列是指同一内径的轴承具有不同的外径和宽度，因而有不同的承载能力。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BDDB2F6D-CD20-49B7-8473-17B28AC17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9747" y="3431774"/>
            <a:ext cx="8775180" cy="463846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lIns="90000" tIns="46800" rIns="90000" bIns="46800" anchor="ctr">
            <a:spAutoFit/>
          </a:bodyPr>
          <a:lstStyle/>
          <a:p>
            <a:r>
              <a:rPr lang="en-US" altLang="zh-CN" sz="2400" dirty="0">
                <a:latin typeface="宋体" pitchFamily="2" charset="-122"/>
              </a:rPr>
              <a:t>    </a:t>
            </a:r>
            <a:r>
              <a:rPr lang="zh-CN" altLang="en-US" sz="2400" dirty="0">
                <a:latin typeface="宋体" pitchFamily="2" charset="-122"/>
              </a:rPr>
              <a:t>当内径尺寸在</a:t>
            </a:r>
            <a:r>
              <a:rPr lang="en-US" altLang="zh-CN" sz="2400" dirty="0">
                <a:solidFill>
                  <a:schemeClr val="accent2"/>
                </a:solidFill>
                <a:latin typeface="宋体" pitchFamily="2" charset="-122"/>
              </a:rPr>
              <a:t>20-480mm</a:t>
            </a:r>
            <a:r>
              <a:rPr lang="zh-CN" altLang="en-US" sz="2400" dirty="0">
                <a:latin typeface="宋体" pitchFamily="2" charset="-122"/>
              </a:rPr>
              <a:t>范围内时，</a:t>
            </a:r>
            <a:r>
              <a:rPr lang="zh-CN" altLang="en-US" sz="2400" dirty="0">
                <a:solidFill>
                  <a:srgbClr val="FF3300"/>
                </a:solidFill>
              </a:rPr>
              <a:t>内径尺寸</a:t>
            </a:r>
            <a:r>
              <a:rPr lang="en-US" altLang="zh-CN" sz="2400" dirty="0">
                <a:solidFill>
                  <a:srgbClr val="FF3300"/>
                </a:solidFill>
              </a:rPr>
              <a:t>=</a:t>
            </a:r>
            <a:r>
              <a:rPr lang="zh-CN" altLang="en-US" sz="2400" dirty="0">
                <a:solidFill>
                  <a:srgbClr val="FF3300"/>
                </a:solidFill>
              </a:rPr>
              <a:t>内径代号</a:t>
            </a:r>
            <a:r>
              <a:rPr lang="zh-CN" altLang="en-US" sz="2400" dirty="0">
                <a:solidFill>
                  <a:srgbClr val="FF3300"/>
                </a:solidFill>
                <a:sym typeface="CommercialPi BT" pitchFamily="18" charset="2"/>
              </a:rPr>
              <a:t></a:t>
            </a:r>
            <a:r>
              <a:rPr lang="en-US" altLang="zh-CN" sz="2400" dirty="0">
                <a:solidFill>
                  <a:srgbClr val="FF3300"/>
                </a:solidFill>
                <a:sym typeface="CommercialPi BT" pitchFamily="18" charset="2"/>
              </a:rPr>
              <a:t>5 </a:t>
            </a:r>
            <a:r>
              <a:rPr lang="zh-CN" altLang="en-US" sz="2400" dirty="0">
                <a:solidFill>
                  <a:srgbClr val="FF3300"/>
                </a:solidFill>
                <a:sym typeface="CommercialPi BT" pitchFamily="18" charset="2"/>
              </a:rPr>
              <a:t>。</a:t>
            </a:r>
            <a:endParaRPr lang="zh-CN" altLang="en-US" sz="2400" dirty="0">
              <a:latin typeface="宋体" pitchFamily="2" charset="-122"/>
            </a:endParaRP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F8C2B6E8-BD72-4FA6-B362-A3E980EC0A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88493" y="4741970"/>
            <a:ext cx="4357688" cy="463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  <a:latin typeface="宋体" pitchFamily="2" charset="-122"/>
              </a:rPr>
              <a:t>6</a:t>
            </a:r>
            <a:r>
              <a:rPr lang="en-US" altLang="zh-CN" sz="2400" dirty="0"/>
              <a:t>—</a:t>
            </a:r>
            <a:r>
              <a:rPr lang="zh-CN" altLang="en-US" sz="2400" dirty="0">
                <a:latin typeface="宋体" pitchFamily="2" charset="-122"/>
              </a:rPr>
              <a:t>类型代号（深沟球轴承）。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918C9A59-008F-4E09-AE51-B1B4BF3ADC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03190" y="5311872"/>
            <a:ext cx="3740150" cy="463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r>
              <a:rPr lang="en-US" altLang="zh-CN" sz="2400" dirty="0">
                <a:solidFill>
                  <a:schemeClr val="accent2"/>
                </a:solidFill>
                <a:latin typeface="宋体" pitchFamily="2" charset="-122"/>
              </a:rPr>
              <a:t>2</a:t>
            </a:r>
            <a:r>
              <a:rPr lang="en-US" altLang="zh-CN" sz="2400" dirty="0"/>
              <a:t>—</a:t>
            </a:r>
            <a:r>
              <a:rPr lang="zh-CN" altLang="en-US" sz="2400" dirty="0">
                <a:latin typeface="宋体" pitchFamily="2" charset="-122"/>
              </a:rPr>
              <a:t>尺寸系列（</a:t>
            </a:r>
            <a:r>
              <a:rPr lang="en-US" altLang="zh-CN" sz="2400" dirty="0">
                <a:latin typeface="宋体" pitchFamily="2" charset="-122"/>
              </a:rPr>
              <a:t>02</a:t>
            </a:r>
            <a:r>
              <a:rPr lang="zh-CN" altLang="en-US" sz="2400" dirty="0">
                <a:latin typeface="宋体" pitchFamily="2" charset="-122"/>
              </a:rPr>
              <a:t>）代号。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9A8811A4-7244-410E-AC6B-C4DF0798C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8130" y="5881774"/>
            <a:ext cx="5905500" cy="46355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lIns="90000" tIns="46800" rIns="90000" bIns="46800" anchor="ctr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2"/>
                </a:solidFill>
                <a:latin typeface="宋体" pitchFamily="2" charset="-122"/>
              </a:rPr>
              <a:t>04</a:t>
            </a:r>
            <a:r>
              <a:rPr lang="en-US" altLang="zh-CN" sz="2400" dirty="0"/>
              <a:t>—</a:t>
            </a:r>
            <a:r>
              <a:rPr lang="zh-CN" altLang="en-US" sz="2400" dirty="0">
                <a:latin typeface="宋体" pitchFamily="2" charset="-122"/>
              </a:rPr>
              <a:t>内径代号（内径尺寸</a:t>
            </a:r>
            <a:r>
              <a:rPr lang="en-US" altLang="zh-CN" sz="2400" dirty="0">
                <a:latin typeface="宋体" pitchFamily="2" charset="-122"/>
              </a:rPr>
              <a:t>=04</a:t>
            </a:r>
            <a:r>
              <a:rPr lang="en-US" altLang="zh-CN" sz="2400" dirty="0">
                <a:latin typeface="宋体" pitchFamily="2" charset="-122"/>
                <a:sym typeface="CommercialPi BT" pitchFamily="18" charset="2"/>
              </a:rPr>
              <a:t></a:t>
            </a:r>
            <a:r>
              <a:rPr lang="en-US" altLang="zh-CN" sz="2400" dirty="0">
                <a:latin typeface="宋体" pitchFamily="2" charset="-122"/>
              </a:rPr>
              <a:t>5=20mm</a:t>
            </a:r>
            <a:r>
              <a:rPr lang="zh-CN" altLang="en-US" sz="2400" dirty="0">
                <a:latin typeface="宋体" pitchFamily="2" charset="-122"/>
              </a:rPr>
              <a:t>）。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F2ACCC5-B14C-4A47-B965-E30DA7A5301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9027093" y="4285071"/>
            <a:ext cx="1062038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2">
            <a:extLst>
              <a:ext uri="{FF2B5EF4-FFF2-40B4-BE49-F238E27FC236}">
                <a16:creationId xmlns:a16="http://schemas.microsoft.com/office/drawing/2014/main" id="{2BB54756-54D6-4F98-9D52-EBBF93991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57287" y="1344439"/>
            <a:ext cx="4073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zh-CN" sz="2800" dirty="0">
                <a:solidFill>
                  <a:srgbClr val="00B0F0"/>
                </a:solidFill>
                <a:latin typeface="黑体" pitchFamily="49" charset="-122"/>
                <a:ea typeface="黑体" pitchFamily="49" charset="-122"/>
              </a:rPr>
              <a:t>滚动轴承的结构和分类</a:t>
            </a:r>
            <a:endParaRPr lang="zh-CN" altLang="en-US" sz="2800" dirty="0">
              <a:solidFill>
                <a:srgbClr val="00B0F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2" name="Text Box 6">
            <a:extLst>
              <a:ext uri="{FF2B5EF4-FFF2-40B4-BE49-F238E27FC236}">
                <a16:creationId xmlns:a16="http://schemas.microsoft.com/office/drawing/2014/main" id="{363AC00C-4728-4FD7-9E6F-E87A6E5AA4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2487" y="512676"/>
            <a:ext cx="5407025" cy="58420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zh-CN" sz="3200">
                <a:latin typeface="黑体" pitchFamily="49" charset="-122"/>
                <a:ea typeface="黑体" pitchFamily="49" charset="-122"/>
              </a:rPr>
              <a:t>滚动轴承表示法</a:t>
            </a:r>
            <a:endParaRPr lang="zh-CN" altLang="en-US" sz="320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33881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utoUpdateAnimBg="0"/>
      <p:bldP spid="3" grpId="0" autoUpdateAnimBg="0"/>
      <p:bldP spid="5" grpId="0" animBg="1" autoUpdateAnimBg="0"/>
      <p:bldP spid="6" grpId="0" autoUpdateAnimBg="0"/>
      <p:bldP spid="7" grpId="0" autoUpdateAnimBg="0"/>
      <p:bldP spid="8" grpId="0" autoUpdateAnimBg="0"/>
      <p:bldP spid="9" grpId="0" autoUpdateAnimBg="0"/>
      <p:bldP spid="12" grpId="0" animBg="1" autoUpdateAnimBg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821339E4-E8B7-4E21-B7E1-888DE847ACAE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980361" y="2879568"/>
            <a:ext cx="1752600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0EC6C01-FF98-4AFA-990A-4155BBEF9D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0116" y="1917910"/>
            <a:ext cx="3225800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zh-CN" altLang="en-US" sz="2400" b="1" dirty="0">
                <a:solidFill>
                  <a:srgbClr val="0070C0"/>
                </a:solidFill>
                <a:latin typeface="宋体" pitchFamily="2" charset="-122"/>
              </a:rPr>
              <a:t>滚动轴承的画法</a:t>
            </a:r>
          </a:p>
        </p:txBody>
      </p:sp>
      <p:sp>
        <p:nvSpPr>
          <p:cNvPr id="4" name="Text Box 20">
            <a:extLst>
              <a:ext uri="{FF2B5EF4-FFF2-40B4-BE49-F238E27FC236}">
                <a16:creationId xmlns:a16="http://schemas.microsoft.com/office/drawing/2014/main" id="{DA870298-3D91-4CE4-9A5F-260306E714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0136" y="1544468"/>
            <a:ext cx="33909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深沟球轴承简化画法：</a:t>
            </a:r>
          </a:p>
        </p:txBody>
      </p:sp>
      <p:sp>
        <p:nvSpPr>
          <p:cNvPr id="5" name="Text Box 56">
            <a:extLst>
              <a:ext uri="{FF2B5EF4-FFF2-40B4-BE49-F238E27FC236}">
                <a16:creationId xmlns:a16="http://schemas.microsoft.com/office/drawing/2014/main" id="{6986909C-817B-4213-B9C1-E3B09FE041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80017" y="5080254"/>
            <a:ext cx="4735103" cy="1057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800" b="1" dirty="0">
                <a:solidFill>
                  <a:srgbClr val="FF3300"/>
                </a:solidFill>
                <a:latin typeface="宋体" pitchFamily="2" charset="-122"/>
              </a:rPr>
              <a:t>d</a:t>
            </a:r>
            <a:r>
              <a:rPr lang="zh-CN" altLang="en-US" sz="2800" b="1" dirty="0">
                <a:solidFill>
                  <a:srgbClr val="FF3300"/>
                </a:solidFill>
                <a:latin typeface="宋体" pitchFamily="2" charset="-122"/>
              </a:rPr>
              <a:t>、</a:t>
            </a:r>
            <a:r>
              <a:rPr lang="en-US" altLang="zh-CN" sz="2800" b="1" dirty="0">
                <a:solidFill>
                  <a:srgbClr val="FF3300"/>
                </a:solidFill>
                <a:latin typeface="宋体" pitchFamily="2" charset="-122"/>
              </a:rPr>
              <a:t>D</a:t>
            </a:r>
            <a:r>
              <a:rPr lang="zh-CN" altLang="en-US" sz="2800" b="1" dirty="0">
                <a:solidFill>
                  <a:srgbClr val="FF3300"/>
                </a:solidFill>
                <a:latin typeface="宋体" pitchFamily="2" charset="-122"/>
              </a:rPr>
              <a:t>、</a:t>
            </a:r>
            <a:r>
              <a:rPr lang="en-US" altLang="zh-CN" sz="2800" b="1" dirty="0">
                <a:solidFill>
                  <a:srgbClr val="FF3300"/>
                </a:solidFill>
                <a:latin typeface="宋体" pitchFamily="2" charset="-122"/>
              </a:rPr>
              <a:t>B</a:t>
            </a:r>
            <a:r>
              <a:rPr lang="en-US" altLang="zh-CN" sz="2800" b="1" dirty="0">
                <a:latin typeface="宋体" pitchFamily="2" charset="-122"/>
              </a:rPr>
              <a:t> </a:t>
            </a:r>
            <a:r>
              <a:rPr lang="zh-CN" altLang="en-US" sz="2800" b="1" dirty="0">
                <a:latin typeface="宋体" pitchFamily="2" charset="-122"/>
              </a:rPr>
              <a:t>根据轴承代号在画图前</a:t>
            </a:r>
            <a:r>
              <a:rPr lang="zh-CN" altLang="en-US" sz="2800" b="1" dirty="0">
                <a:solidFill>
                  <a:srgbClr val="FF0000"/>
                </a:solidFill>
                <a:latin typeface="宋体" pitchFamily="2" charset="-122"/>
              </a:rPr>
              <a:t>查标准确定。</a:t>
            </a:r>
          </a:p>
        </p:txBody>
      </p:sp>
      <p:sp>
        <p:nvSpPr>
          <p:cNvPr id="6" name="Text Box 57">
            <a:extLst>
              <a:ext uri="{FF2B5EF4-FFF2-40B4-BE49-F238E27FC236}">
                <a16:creationId xmlns:a16="http://schemas.microsoft.com/office/drawing/2014/main" id="{3660D940-F82F-436F-A1D2-188EEF53EB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10589" y="2404546"/>
            <a:ext cx="4974325" cy="8309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zh-CN" sz="2400" dirty="0">
                <a:latin typeface="宋体" pitchFamily="2" charset="-122"/>
              </a:rPr>
              <a:t>☆</a:t>
            </a:r>
            <a:r>
              <a:rPr lang="zh-CN" altLang="en-US" sz="2400" dirty="0">
                <a:latin typeface="宋体" pitchFamily="2" charset="-122"/>
              </a:rPr>
              <a:t>滚动轴承是标准件，在装配图中</a:t>
            </a:r>
            <a:endParaRPr lang="en-US" altLang="zh-CN" sz="2400" dirty="0">
              <a:latin typeface="宋体" pitchFamily="2" charset="-122"/>
            </a:endParaRPr>
          </a:p>
          <a:p>
            <a:r>
              <a:rPr lang="en-US" altLang="zh-CN" sz="2400" dirty="0">
                <a:latin typeface="宋体" pitchFamily="2" charset="-122"/>
              </a:rPr>
              <a:t>  </a:t>
            </a:r>
            <a:r>
              <a:rPr lang="zh-CN" altLang="en-US" sz="2400" dirty="0">
                <a:latin typeface="宋体" pitchFamily="2" charset="-122"/>
              </a:rPr>
              <a:t>通常采用</a:t>
            </a:r>
            <a:r>
              <a:rPr lang="zh-CN" altLang="en-US" sz="2400" dirty="0">
                <a:solidFill>
                  <a:srgbClr val="FF3300"/>
                </a:solidFill>
                <a:latin typeface="宋体" pitchFamily="2" charset="-122"/>
              </a:rPr>
              <a:t>简化画法</a:t>
            </a:r>
            <a:r>
              <a:rPr lang="en-US" altLang="zh-CN" sz="2400" dirty="0">
                <a:latin typeface="宋体" pitchFamily="2" charset="-122"/>
              </a:rPr>
              <a:t>(</a:t>
            </a:r>
            <a:r>
              <a:rPr lang="zh-CN" altLang="en-US" sz="2400" dirty="0">
                <a:latin typeface="宋体" pitchFamily="2" charset="-122"/>
              </a:rPr>
              <a:t>比例画法）。</a:t>
            </a:r>
          </a:p>
        </p:txBody>
      </p:sp>
      <p:sp>
        <p:nvSpPr>
          <p:cNvPr id="7" name="Text Box 58">
            <a:extLst>
              <a:ext uri="{FF2B5EF4-FFF2-40B4-BE49-F238E27FC236}">
                <a16:creationId xmlns:a16="http://schemas.microsoft.com/office/drawing/2014/main" id="{B52EF4E4-AA12-4C87-9FC9-A49B3AFD02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8012" y="3879565"/>
            <a:ext cx="1731963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/>
            <a:r>
              <a:rPr lang="en-US" altLang="zh-CN" sz="2400" dirty="0">
                <a:latin typeface="宋体" pitchFamily="2" charset="-122"/>
              </a:rPr>
              <a:t>☆</a:t>
            </a:r>
            <a:r>
              <a:rPr lang="zh-CN" altLang="en-US" sz="2400" dirty="0">
                <a:latin typeface="宋体" pitchFamily="2" charset="-122"/>
              </a:rPr>
              <a:t>主要参数</a:t>
            </a:r>
          </a:p>
        </p:txBody>
      </p:sp>
      <p:sp>
        <p:nvSpPr>
          <p:cNvPr id="8" name="Text Box 59">
            <a:extLst>
              <a:ext uri="{FF2B5EF4-FFF2-40B4-BE49-F238E27FC236}">
                <a16:creationId xmlns:a16="http://schemas.microsoft.com/office/drawing/2014/main" id="{52C293F4-B149-4B21-A99E-10371C615D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63937" y="3356162"/>
            <a:ext cx="2270125" cy="460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dirty="0">
                <a:latin typeface="宋体" pitchFamily="2" charset="-122"/>
              </a:rPr>
              <a:t> </a:t>
            </a:r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</a:rPr>
              <a:t>d </a:t>
            </a:r>
            <a:r>
              <a:rPr lang="en-US" altLang="zh-CN" sz="2400" dirty="0">
                <a:latin typeface="宋体" pitchFamily="2" charset="-122"/>
              </a:rPr>
              <a:t>(</a:t>
            </a:r>
            <a:r>
              <a:rPr lang="zh-CN" altLang="en-US" sz="2400" dirty="0">
                <a:latin typeface="宋体" pitchFamily="2" charset="-122"/>
              </a:rPr>
              <a:t>内径</a:t>
            </a:r>
            <a:r>
              <a:rPr lang="en-US" altLang="zh-CN" sz="2400" dirty="0">
                <a:latin typeface="宋体" pitchFamily="2" charset="-122"/>
              </a:rPr>
              <a:t>)</a:t>
            </a:r>
          </a:p>
        </p:txBody>
      </p:sp>
      <p:sp>
        <p:nvSpPr>
          <p:cNvPr id="9" name="Text Box 60">
            <a:extLst>
              <a:ext uri="{FF2B5EF4-FFF2-40B4-BE49-F238E27FC236}">
                <a16:creationId xmlns:a16="http://schemas.microsoft.com/office/drawing/2014/main" id="{8BD878C3-F1AB-4419-AD0F-43FA8BD1A14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8341" y="3903737"/>
            <a:ext cx="1974850" cy="460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</a:rPr>
              <a:t>D</a:t>
            </a:r>
            <a:r>
              <a:rPr lang="en-US" altLang="zh-CN" sz="2400" dirty="0">
                <a:latin typeface="宋体" pitchFamily="2" charset="-122"/>
              </a:rPr>
              <a:t> (</a:t>
            </a:r>
            <a:r>
              <a:rPr lang="zh-CN" altLang="en-US" sz="2400" dirty="0">
                <a:latin typeface="宋体" pitchFamily="2" charset="-122"/>
              </a:rPr>
              <a:t>外径</a:t>
            </a:r>
            <a:r>
              <a:rPr lang="en-US" altLang="zh-CN" sz="2400" dirty="0">
                <a:latin typeface="宋体" pitchFamily="2" charset="-122"/>
              </a:rPr>
              <a:t>)</a:t>
            </a:r>
            <a:endParaRPr lang="en-US" altLang="zh-CN" sz="2400" b="0" dirty="0">
              <a:latin typeface="宋体" pitchFamily="2" charset="-122"/>
            </a:endParaRPr>
          </a:p>
        </p:txBody>
      </p:sp>
      <p:sp>
        <p:nvSpPr>
          <p:cNvPr id="10" name="Text Box 61">
            <a:extLst>
              <a:ext uri="{FF2B5EF4-FFF2-40B4-BE49-F238E27FC236}">
                <a16:creationId xmlns:a16="http://schemas.microsoft.com/office/drawing/2014/main" id="{36FDC44F-42CF-4B57-BDEE-9C79C5B4CF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1028" y="4336580"/>
            <a:ext cx="2149475" cy="460375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en-US" altLang="zh-CN" sz="2400" dirty="0">
                <a:solidFill>
                  <a:srgbClr val="FF3300"/>
                </a:solidFill>
                <a:latin typeface="宋体" pitchFamily="2" charset="-122"/>
              </a:rPr>
              <a:t>B </a:t>
            </a:r>
            <a:r>
              <a:rPr lang="en-US" altLang="zh-CN" sz="2400" dirty="0">
                <a:latin typeface="宋体" pitchFamily="2" charset="-122"/>
              </a:rPr>
              <a:t>(</a:t>
            </a:r>
            <a:r>
              <a:rPr lang="zh-CN" altLang="en-US" sz="2400" dirty="0">
                <a:latin typeface="宋体" pitchFamily="2" charset="-122"/>
              </a:rPr>
              <a:t>宽度</a:t>
            </a:r>
            <a:r>
              <a:rPr lang="en-US" altLang="zh-CN" sz="2400" dirty="0">
                <a:latin typeface="宋体" pitchFamily="2" charset="-122"/>
              </a:rPr>
              <a:t>)</a:t>
            </a:r>
            <a:endParaRPr lang="en-US" altLang="zh-CN" sz="2400" b="0" dirty="0">
              <a:latin typeface="宋体" pitchFamily="2" charset="-122"/>
            </a:endParaRPr>
          </a:p>
        </p:txBody>
      </p:sp>
      <p:sp>
        <p:nvSpPr>
          <p:cNvPr id="11" name="AutoShape 62">
            <a:extLst>
              <a:ext uri="{FF2B5EF4-FFF2-40B4-BE49-F238E27FC236}">
                <a16:creationId xmlns:a16="http://schemas.microsoft.com/office/drawing/2014/main" id="{8AF45AF7-B24F-4D74-AAFB-386682B93C72}"/>
              </a:ext>
            </a:extLst>
          </p:cNvPr>
          <p:cNvSpPr>
            <a:spLocks/>
          </p:cNvSpPr>
          <p:nvPr/>
        </p:nvSpPr>
        <p:spPr bwMode="auto">
          <a:xfrm>
            <a:off x="3683794" y="3593943"/>
            <a:ext cx="264724" cy="1042193"/>
          </a:xfrm>
          <a:prstGeom prst="leftBrace">
            <a:avLst>
              <a:gd name="adj1" fmla="val 61531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  <p:sp>
        <p:nvSpPr>
          <p:cNvPr id="12" name="Text Box 2">
            <a:extLst>
              <a:ext uri="{FF2B5EF4-FFF2-40B4-BE49-F238E27FC236}">
                <a16:creationId xmlns:a16="http://schemas.microsoft.com/office/drawing/2014/main" id="{D43E320C-FB03-4A5C-B3B9-FEFEF5D5C7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5460" y="1315169"/>
            <a:ext cx="4073525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zh-CN" sz="2800" dirty="0">
                <a:solidFill>
                  <a:srgbClr val="0070C0"/>
                </a:solidFill>
                <a:latin typeface="黑体" pitchFamily="49" charset="-122"/>
                <a:ea typeface="黑体" pitchFamily="49" charset="-122"/>
              </a:rPr>
              <a:t>滚动轴承的结构和分类</a:t>
            </a:r>
            <a:endParaRPr lang="zh-CN" altLang="en-US" sz="2800" dirty="0">
              <a:solidFill>
                <a:srgbClr val="0070C0"/>
              </a:solidFill>
              <a:latin typeface="黑体" pitchFamily="49" charset="-122"/>
              <a:ea typeface="黑体" pitchFamily="49" charset="-122"/>
            </a:endParaRPr>
          </a:p>
        </p:txBody>
      </p:sp>
      <p:sp>
        <p:nvSpPr>
          <p:cNvPr id="13" name="Text Box 6">
            <a:extLst>
              <a:ext uri="{FF2B5EF4-FFF2-40B4-BE49-F238E27FC236}">
                <a16:creationId xmlns:a16="http://schemas.microsoft.com/office/drawing/2014/main" id="{880CEEDA-5D82-454C-94E6-3614F3427A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92487" y="368660"/>
            <a:ext cx="5407025" cy="58420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zh-CN" altLang="zh-CN" sz="3200">
                <a:latin typeface="黑体" pitchFamily="49" charset="-122"/>
                <a:ea typeface="黑体" pitchFamily="49" charset="-122"/>
              </a:rPr>
              <a:t>滚动轴承表示法</a:t>
            </a:r>
            <a:endParaRPr lang="zh-CN" altLang="en-US" sz="3200">
              <a:latin typeface="黑体" pitchFamily="49" charset="-122"/>
              <a:ea typeface="黑体" pitchFamily="49" charset="-122"/>
            </a:endParaRPr>
          </a:p>
        </p:txBody>
      </p:sp>
      <p:grpSp>
        <p:nvGrpSpPr>
          <p:cNvPr id="14" name="Group 21">
            <a:extLst>
              <a:ext uri="{FF2B5EF4-FFF2-40B4-BE49-F238E27FC236}">
                <a16:creationId xmlns:a16="http://schemas.microsoft.com/office/drawing/2014/main" id="{F2C23CF0-C41D-440E-A9AE-16C8F0B8DB29}"/>
              </a:ext>
            </a:extLst>
          </p:cNvPr>
          <p:cNvGrpSpPr>
            <a:grpSpLocks/>
          </p:cNvGrpSpPr>
          <p:nvPr/>
        </p:nvGrpSpPr>
        <p:grpSpPr bwMode="auto">
          <a:xfrm>
            <a:off x="9340849" y="3124043"/>
            <a:ext cx="1277937" cy="3167063"/>
            <a:chOff x="4499" y="2218"/>
            <a:chExt cx="805" cy="1520"/>
          </a:xfrm>
        </p:grpSpPr>
        <p:sp>
          <p:nvSpPr>
            <p:cNvPr id="15" name="Freeform 22">
              <a:extLst>
                <a:ext uri="{FF2B5EF4-FFF2-40B4-BE49-F238E27FC236}">
                  <a16:creationId xmlns:a16="http://schemas.microsoft.com/office/drawing/2014/main" id="{E0EC50D0-DACB-4BBC-8141-DD6ABE4D3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2220"/>
              <a:ext cx="802" cy="2"/>
            </a:xfrm>
            <a:custGeom>
              <a:avLst/>
              <a:gdLst>
                <a:gd name="T0" fmla="*/ 0 w 802"/>
                <a:gd name="T1" fmla="*/ 0 h 2"/>
                <a:gd name="T2" fmla="*/ 802 w 802"/>
                <a:gd name="T3" fmla="*/ 2 h 2"/>
                <a:gd name="T4" fmla="*/ 0 60000 65536"/>
                <a:gd name="T5" fmla="*/ 0 60000 65536"/>
                <a:gd name="T6" fmla="*/ 0 w 802"/>
                <a:gd name="T7" fmla="*/ 0 h 2"/>
                <a:gd name="T8" fmla="*/ 802 w 802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02" h="2">
                  <a:moveTo>
                    <a:pt x="0" y="0"/>
                  </a:moveTo>
                  <a:lnTo>
                    <a:pt x="802" y="2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Freeform 23">
              <a:extLst>
                <a:ext uri="{FF2B5EF4-FFF2-40B4-BE49-F238E27FC236}">
                  <a16:creationId xmlns:a16="http://schemas.microsoft.com/office/drawing/2014/main" id="{4269BCE7-CE99-4A42-8590-A684304B5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3727"/>
              <a:ext cx="805" cy="1"/>
            </a:xfrm>
            <a:custGeom>
              <a:avLst/>
              <a:gdLst>
                <a:gd name="T0" fmla="*/ 0 w 805"/>
                <a:gd name="T1" fmla="*/ 0 h 1"/>
                <a:gd name="T2" fmla="*/ 805 w 805"/>
                <a:gd name="T3" fmla="*/ 1 h 1"/>
                <a:gd name="T4" fmla="*/ 0 60000 65536"/>
                <a:gd name="T5" fmla="*/ 0 60000 65536"/>
                <a:gd name="T6" fmla="*/ 0 w 805"/>
                <a:gd name="T7" fmla="*/ 0 h 1"/>
                <a:gd name="T8" fmla="*/ 805 w 805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05" h="1">
                  <a:moveTo>
                    <a:pt x="0" y="0"/>
                  </a:moveTo>
                  <a:lnTo>
                    <a:pt x="805" y="1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4">
              <a:extLst>
                <a:ext uri="{FF2B5EF4-FFF2-40B4-BE49-F238E27FC236}">
                  <a16:creationId xmlns:a16="http://schemas.microsoft.com/office/drawing/2014/main" id="{42B3CE4F-9620-44A3-91C5-8E1D344DA4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27" y="2218"/>
              <a:ext cx="0" cy="152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Text Box 25">
              <a:extLst>
                <a:ext uri="{FF2B5EF4-FFF2-40B4-BE49-F238E27FC236}">
                  <a16:creationId xmlns:a16="http://schemas.microsoft.com/office/drawing/2014/main" id="{56576056-2F9E-4FA7-8EA3-E8EF33E0B8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5003" y="2788"/>
              <a:ext cx="22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latin typeface="ISOCPEUR" pitchFamily="34" charset="0"/>
                </a:rPr>
                <a:t>D</a:t>
              </a:r>
            </a:p>
          </p:txBody>
        </p:sp>
      </p:grpSp>
      <p:grpSp>
        <p:nvGrpSpPr>
          <p:cNvPr id="19" name="Group 26">
            <a:extLst>
              <a:ext uri="{FF2B5EF4-FFF2-40B4-BE49-F238E27FC236}">
                <a16:creationId xmlns:a16="http://schemas.microsoft.com/office/drawing/2014/main" id="{841B89F0-85E4-4D6C-B88B-B0439B54C9DE}"/>
              </a:ext>
            </a:extLst>
          </p:cNvPr>
          <p:cNvGrpSpPr>
            <a:grpSpLocks/>
          </p:cNvGrpSpPr>
          <p:nvPr/>
        </p:nvGrpSpPr>
        <p:grpSpPr bwMode="auto">
          <a:xfrm>
            <a:off x="7238999" y="3125808"/>
            <a:ext cx="1354137" cy="2146587"/>
            <a:chOff x="3195" y="2221"/>
            <a:chExt cx="853" cy="1095"/>
          </a:xfrm>
        </p:grpSpPr>
        <p:sp>
          <p:nvSpPr>
            <p:cNvPr id="20" name="Freeform 27">
              <a:extLst>
                <a:ext uri="{FF2B5EF4-FFF2-40B4-BE49-F238E27FC236}">
                  <a16:creationId xmlns:a16="http://schemas.microsoft.com/office/drawing/2014/main" id="{ECA7543F-AFC5-4C6F-9C37-A28EA962F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8" y="2221"/>
              <a:ext cx="720" cy="3"/>
            </a:xfrm>
            <a:custGeom>
              <a:avLst/>
              <a:gdLst>
                <a:gd name="T0" fmla="*/ 720 w 720"/>
                <a:gd name="T1" fmla="*/ 3 h 3"/>
                <a:gd name="T2" fmla="*/ 0 w 720"/>
                <a:gd name="T3" fmla="*/ 0 h 3"/>
                <a:gd name="T4" fmla="*/ 0 60000 65536"/>
                <a:gd name="T5" fmla="*/ 0 60000 65536"/>
                <a:gd name="T6" fmla="*/ 0 w 720"/>
                <a:gd name="T7" fmla="*/ 0 h 3"/>
                <a:gd name="T8" fmla="*/ 720 w 720"/>
                <a:gd name="T9" fmla="*/ 3 h 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20" h="3">
                  <a:moveTo>
                    <a:pt x="720" y="3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" name="Line 28">
              <a:extLst>
                <a:ext uri="{FF2B5EF4-FFF2-40B4-BE49-F238E27FC236}">
                  <a16:creationId xmlns:a16="http://schemas.microsoft.com/office/drawing/2014/main" id="{947EF853-3361-49A6-84BA-F9F77064C7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222"/>
              <a:ext cx="0" cy="51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" name="Line 29">
              <a:extLst>
                <a:ext uri="{FF2B5EF4-FFF2-40B4-BE49-F238E27FC236}">
                  <a16:creationId xmlns:a16="http://schemas.microsoft.com/office/drawing/2014/main" id="{20D73468-5822-4674-A2CF-E483329A19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7" y="2735"/>
              <a:ext cx="691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" name="Line 30">
              <a:extLst>
                <a:ext uri="{FF2B5EF4-FFF2-40B4-BE49-F238E27FC236}">
                  <a16:creationId xmlns:a16="http://schemas.microsoft.com/office/drawing/2014/main" id="{30A62A1B-22EC-4631-9830-3ED943E44C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46" y="3314"/>
              <a:ext cx="682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" name="Line 31">
              <a:extLst>
                <a:ext uri="{FF2B5EF4-FFF2-40B4-BE49-F238E27FC236}">
                  <a16:creationId xmlns:a16="http://schemas.microsoft.com/office/drawing/2014/main" id="{23FF984B-65C9-4EBF-89EE-79BF87F249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4" y="2728"/>
              <a:ext cx="0" cy="588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5" name="Text Box 32">
              <a:extLst>
                <a:ext uri="{FF2B5EF4-FFF2-40B4-BE49-F238E27FC236}">
                  <a16:creationId xmlns:a16="http://schemas.microsoft.com/office/drawing/2014/main" id="{5D192C2E-EC61-43D8-842A-2100E1F423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249" y="2897"/>
              <a:ext cx="207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latin typeface="ISOCPEUR" pitchFamily="34" charset="0"/>
                </a:rPr>
                <a:t>d</a:t>
              </a:r>
            </a:p>
          </p:txBody>
        </p:sp>
        <p:sp>
          <p:nvSpPr>
            <p:cNvPr id="26" name="Text Box 33">
              <a:extLst>
                <a:ext uri="{FF2B5EF4-FFF2-40B4-BE49-F238E27FC236}">
                  <a16:creationId xmlns:a16="http://schemas.microsoft.com/office/drawing/2014/main" id="{0775E3E6-A67C-485D-9442-F2349337C8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3225" y="2295"/>
              <a:ext cx="23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latin typeface="ISOCPEUR" pitchFamily="34" charset="0"/>
                </a:rPr>
                <a:t>A</a:t>
              </a:r>
            </a:p>
          </p:txBody>
        </p:sp>
      </p:grpSp>
      <p:grpSp>
        <p:nvGrpSpPr>
          <p:cNvPr id="27" name="Group 39">
            <a:extLst>
              <a:ext uri="{FF2B5EF4-FFF2-40B4-BE49-F238E27FC236}">
                <a16:creationId xmlns:a16="http://schemas.microsoft.com/office/drawing/2014/main" id="{29E8265B-1097-49AB-8B93-097EA153EFDA}"/>
              </a:ext>
            </a:extLst>
          </p:cNvPr>
          <p:cNvGrpSpPr>
            <a:grpSpLocks/>
          </p:cNvGrpSpPr>
          <p:nvPr/>
        </p:nvGrpSpPr>
        <p:grpSpPr bwMode="auto">
          <a:xfrm>
            <a:off x="8453436" y="2044543"/>
            <a:ext cx="1011238" cy="1177925"/>
            <a:chOff x="4029" y="1492"/>
            <a:chExt cx="637" cy="742"/>
          </a:xfrm>
        </p:grpSpPr>
        <p:sp>
          <p:nvSpPr>
            <p:cNvPr id="28" name="Line 40">
              <a:extLst>
                <a:ext uri="{FF2B5EF4-FFF2-40B4-BE49-F238E27FC236}">
                  <a16:creationId xmlns:a16="http://schemas.microsoft.com/office/drawing/2014/main" id="{B72B157D-27DE-4651-AC05-84E66B9EA3A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9" y="1660"/>
              <a:ext cx="0" cy="57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9" name="Line 41">
              <a:extLst>
                <a:ext uri="{FF2B5EF4-FFF2-40B4-BE49-F238E27FC236}">
                  <a16:creationId xmlns:a16="http://schemas.microsoft.com/office/drawing/2014/main" id="{6B730A25-B343-4C35-A24F-DAA990A86C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9" y="1672"/>
              <a:ext cx="0" cy="562"/>
            </a:xfrm>
            <a:prstGeom prst="line">
              <a:avLst/>
            </a:prstGeom>
            <a:noFill/>
            <a:ln w="12700">
              <a:solidFill>
                <a:srgbClr val="FF0000">
                  <a:alpha val="96861"/>
                </a:srgbClr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" name="Line 42">
              <a:extLst>
                <a:ext uri="{FF2B5EF4-FFF2-40B4-BE49-F238E27FC236}">
                  <a16:creationId xmlns:a16="http://schemas.microsoft.com/office/drawing/2014/main" id="{3A2AF3A1-C0CC-4C4F-A4DB-5923BF629E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31" y="1720"/>
              <a:ext cx="635" cy="1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1" name="Text Box 43">
              <a:extLst>
                <a:ext uri="{FF2B5EF4-FFF2-40B4-BE49-F238E27FC236}">
                  <a16:creationId xmlns:a16="http://schemas.microsoft.com/office/drawing/2014/main" id="{DB97C394-F71E-4113-8E5C-A14F633935B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38" y="1492"/>
              <a:ext cx="220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latin typeface="ISOCPEUR" pitchFamily="34" charset="0"/>
                </a:rPr>
                <a:t>B</a:t>
              </a:r>
            </a:p>
          </p:txBody>
        </p:sp>
      </p:grpSp>
      <p:grpSp>
        <p:nvGrpSpPr>
          <p:cNvPr id="32" name="Group 44">
            <a:extLst>
              <a:ext uri="{FF2B5EF4-FFF2-40B4-BE49-F238E27FC236}">
                <a16:creationId xmlns:a16="http://schemas.microsoft.com/office/drawing/2014/main" id="{C23DCB58-6A6B-4708-B557-2232676CFB7F}"/>
              </a:ext>
            </a:extLst>
          </p:cNvPr>
          <p:cNvGrpSpPr>
            <a:grpSpLocks/>
          </p:cNvGrpSpPr>
          <p:nvPr/>
        </p:nvGrpSpPr>
        <p:grpSpPr bwMode="auto">
          <a:xfrm>
            <a:off x="8696324" y="2400143"/>
            <a:ext cx="1020762" cy="849313"/>
            <a:chOff x="4116" y="1712"/>
            <a:chExt cx="643" cy="535"/>
          </a:xfrm>
        </p:grpSpPr>
        <p:sp>
          <p:nvSpPr>
            <p:cNvPr id="33" name="Freeform 45">
              <a:extLst>
                <a:ext uri="{FF2B5EF4-FFF2-40B4-BE49-F238E27FC236}">
                  <a16:creationId xmlns:a16="http://schemas.microsoft.com/office/drawing/2014/main" id="{FF9EFC4D-FFF1-43CF-9F29-2380FA799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3" y="1935"/>
              <a:ext cx="1" cy="312"/>
            </a:xfrm>
            <a:custGeom>
              <a:avLst/>
              <a:gdLst>
                <a:gd name="T0" fmla="*/ 0 w 1"/>
                <a:gd name="T1" fmla="*/ 312 h 312"/>
                <a:gd name="T2" fmla="*/ 0 w 1"/>
                <a:gd name="T3" fmla="*/ 0 h 312"/>
                <a:gd name="T4" fmla="*/ 0 60000 65536"/>
                <a:gd name="T5" fmla="*/ 0 60000 65536"/>
                <a:gd name="T6" fmla="*/ 0 w 1"/>
                <a:gd name="T7" fmla="*/ 0 h 312"/>
                <a:gd name="T8" fmla="*/ 1 w 1"/>
                <a:gd name="T9" fmla="*/ 312 h 3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12">
                  <a:moveTo>
                    <a:pt x="0" y="312"/>
                  </a:moveTo>
                  <a:lnTo>
                    <a:pt x="0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4" name="Line 46">
              <a:extLst>
                <a:ext uri="{FF2B5EF4-FFF2-40B4-BE49-F238E27FC236}">
                  <a16:creationId xmlns:a16="http://schemas.microsoft.com/office/drawing/2014/main" id="{1F6EDDCF-048D-4905-B015-8DB4D11AEAF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6" y="1970"/>
              <a:ext cx="643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5" name="Line 47">
              <a:extLst>
                <a:ext uri="{FF2B5EF4-FFF2-40B4-BE49-F238E27FC236}">
                  <a16:creationId xmlns:a16="http://schemas.microsoft.com/office/drawing/2014/main" id="{F017E8C7-7D6D-4D66-AD88-74F9C475CF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83" y="1970"/>
              <a:ext cx="105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6" name="Line 48">
              <a:extLst>
                <a:ext uri="{FF2B5EF4-FFF2-40B4-BE49-F238E27FC236}">
                  <a16:creationId xmlns:a16="http://schemas.microsoft.com/office/drawing/2014/main" id="{F356D7BB-6252-425C-8459-8B079465325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88" y="1970"/>
              <a:ext cx="125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7" name="Text Box 49">
              <a:extLst>
                <a:ext uri="{FF2B5EF4-FFF2-40B4-BE49-F238E27FC236}">
                  <a16:creationId xmlns:a16="http://schemas.microsoft.com/office/drawing/2014/main" id="{8246E7C7-1E36-4DE5-85A1-3408CB45E94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2" y="1712"/>
              <a:ext cx="402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i="1">
                  <a:solidFill>
                    <a:srgbClr val="FF0000"/>
                  </a:solidFill>
                  <a:latin typeface="ISOCPEUR" pitchFamily="34" charset="0"/>
                </a:rPr>
                <a:t>B/2</a:t>
              </a:r>
            </a:p>
          </p:txBody>
        </p:sp>
      </p:grpSp>
      <p:grpSp>
        <p:nvGrpSpPr>
          <p:cNvPr id="38" name="Group 50">
            <a:extLst>
              <a:ext uri="{FF2B5EF4-FFF2-40B4-BE49-F238E27FC236}">
                <a16:creationId xmlns:a16="http://schemas.microsoft.com/office/drawing/2014/main" id="{EED5C71C-407E-406C-81D5-3EC9FB278A02}"/>
              </a:ext>
            </a:extLst>
          </p:cNvPr>
          <p:cNvGrpSpPr>
            <a:grpSpLocks/>
          </p:cNvGrpSpPr>
          <p:nvPr/>
        </p:nvGrpSpPr>
        <p:grpSpPr bwMode="auto">
          <a:xfrm>
            <a:off x="9555161" y="2614456"/>
            <a:ext cx="533400" cy="1392237"/>
            <a:chOff x="4644" y="1833"/>
            <a:chExt cx="536" cy="877"/>
          </a:xfrm>
        </p:grpSpPr>
        <p:sp>
          <p:nvSpPr>
            <p:cNvPr id="39" name="Freeform 51">
              <a:extLst>
                <a:ext uri="{FF2B5EF4-FFF2-40B4-BE49-F238E27FC236}">
                  <a16:creationId xmlns:a16="http://schemas.microsoft.com/office/drawing/2014/main" id="{FC9C322A-56EA-4923-AEB9-EFE7CEB0E7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4" y="2471"/>
              <a:ext cx="536" cy="1"/>
            </a:xfrm>
            <a:custGeom>
              <a:avLst/>
              <a:gdLst>
                <a:gd name="T0" fmla="*/ 0 w 536"/>
                <a:gd name="T1" fmla="*/ 0 h 1"/>
                <a:gd name="T2" fmla="*/ 536 w 536"/>
                <a:gd name="T3" fmla="*/ 0 h 1"/>
                <a:gd name="T4" fmla="*/ 0 60000 65536"/>
                <a:gd name="T5" fmla="*/ 0 60000 65536"/>
                <a:gd name="T6" fmla="*/ 0 w 536"/>
                <a:gd name="T7" fmla="*/ 0 h 1"/>
                <a:gd name="T8" fmla="*/ 536 w 53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6" h="1">
                  <a:moveTo>
                    <a:pt x="0" y="0"/>
                  </a:moveTo>
                  <a:lnTo>
                    <a:pt x="536" y="0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" name="Line 52">
              <a:extLst>
                <a:ext uri="{FF2B5EF4-FFF2-40B4-BE49-F238E27FC236}">
                  <a16:creationId xmlns:a16="http://schemas.microsoft.com/office/drawing/2014/main" id="{9A72E33C-5875-47A2-AFC2-25EA03346A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2" y="1837"/>
              <a:ext cx="0" cy="873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1" name="Line 53">
              <a:extLst>
                <a:ext uri="{FF2B5EF4-FFF2-40B4-BE49-F238E27FC236}">
                  <a16:creationId xmlns:a16="http://schemas.microsoft.com/office/drawing/2014/main" id="{6DBBCBE3-63F8-4FB8-A5CA-9216ADE19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22" y="2079"/>
              <a:ext cx="0" cy="8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54">
              <a:extLst>
                <a:ext uri="{FF2B5EF4-FFF2-40B4-BE49-F238E27FC236}">
                  <a16:creationId xmlns:a16="http://schemas.microsoft.com/office/drawing/2014/main" id="{D1478DF2-D279-4024-A891-B14561A2C58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022" y="2459"/>
              <a:ext cx="0" cy="8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Text Box 55">
              <a:extLst>
                <a:ext uri="{FF2B5EF4-FFF2-40B4-BE49-F238E27FC236}">
                  <a16:creationId xmlns:a16="http://schemas.microsoft.com/office/drawing/2014/main" id="{BC2A2233-7631-4E3F-912B-AF29A98841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4691" y="1817"/>
              <a:ext cx="339" cy="37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 sz="1800" i="1">
                  <a:solidFill>
                    <a:srgbClr val="FF0000"/>
                  </a:solidFill>
                  <a:latin typeface="ISOCPEUR" pitchFamily="34" charset="0"/>
                </a:rPr>
                <a:t>A/2</a:t>
              </a:r>
            </a:p>
          </p:txBody>
        </p:sp>
      </p:grpSp>
      <p:grpSp>
        <p:nvGrpSpPr>
          <p:cNvPr id="44" name="Group 65">
            <a:extLst>
              <a:ext uri="{FF2B5EF4-FFF2-40B4-BE49-F238E27FC236}">
                <a16:creationId xmlns:a16="http://schemas.microsoft.com/office/drawing/2014/main" id="{F9AC2A44-EE6F-4D91-8236-C4B9F4ADC94D}"/>
              </a:ext>
            </a:extLst>
          </p:cNvPr>
          <p:cNvGrpSpPr>
            <a:grpSpLocks/>
          </p:cNvGrpSpPr>
          <p:nvPr/>
        </p:nvGrpSpPr>
        <p:grpSpPr bwMode="auto">
          <a:xfrm>
            <a:off x="8955086" y="3624106"/>
            <a:ext cx="1155700" cy="933450"/>
            <a:chOff x="4280" y="2456"/>
            <a:chExt cx="728" cy="588"/>
          </a:xfrm>
        </p:grpSpPr>
        <p:sp>
          <p:nvSpPr>
            <p:cNvPr id="45" name="Line 66">
              <a:extLst>
                <a:ext uri="{FF2B5EF4-FFF2-40B4-BE49-F238E27FC236}">
                  <a16:creationId xmlns:a16="http://schemas.microsoft.com/office/drawing/2014/main" id="{AFE404C6-CC50-4E4C-9737-5852015B7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1" y="2695"/>
              <a:ext cx="0" cy="24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6" name="Line 67">
              <a:extLst>
                <a:ext uri="{FF2B5EF4-FFF2-40B4-BE49-F238E27FC236}">
                  <a16:creationId xmlns:a16="http://schemas.microsoft.com/office/drawing/2014/main" id="{5FEB18F4-2D2E-4C59-80D7-5C9A245584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80" y="2456"/>
              <a:ext cx="428" cy="247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7" name="Arc 68">
              <a:extLst>
                <a:ext uri="{FF2B5EF4-FFF2-40B4-BE49-F238E27FC236}">
                  <a16:creationId xmlns:a16="http://schemas.microsoft.com/office/drawing/2014/main" id="{606F347D-4AB9-4470-971B-41C7935C476D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4285" y="2527"/>
              <a:ext cx="377" cy="343"/>
            </a:xfrm>
            <a:custGeom>
              <a:avLst/>
              <a:gdLst>
                <a:gd name="T0" fmla="*/ 0 w 20535"/>
                <a:gd name="T1" fmla="*/ 0 h 21600"/>
                <a:gd name="T2" fmla="*/ 0 w 20535"/>
                <a:gd name="T3" fmla="*/ 0 h 21600"/>
                <a:gd name="T4" fmla="*/ 0 w 20535"/>
                <a:gd name="T5" fmla="*/ 0 h 21600"/>
                <a:gd name="T6" fmla="*/ 0 60000 65536"/>
                <a:gd name="T7" fmla="*/ 0 60000 65536"/>
                <a:gd name="T8" fmla="*/ 0 60000 65536"/>
                <a:gd name="T9" fmla="*/ 0 w 20535"/>
                <a:gd name="T10" fmla="*/ 0 h 21600"/>
                <a:gd name="T11" fmla="*/ 20535 w 20535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535" h="21600" fill="none" extrusionOk="0">
                  <a:moveTo>
                    <a:pt x="-1" y="19"/>
                  </a:moveTo>
                  <a:cubicBezTo>
                    <a:pt x="307" y="6"/>
                    <a:pt x="615" y="-1"/>
                    <a:pt x="924" y="0"/>
                  </a:cubicBezTo>
                  <a:cubicBezTo>
                    <a:pt x="9348" y="0"/>
                    <a:pt x="17004" y="4898"/>
                    <a:pt x="20535" y="12546"/>
                  </a:cubicBezTo>
                </a:path>
                <a:path w="20535" h="21600" stroke="0" extrusionOk="0">
                  <a:moveTo>
                    <a:pt x="-1" y="19"/>
                  </a:moveTo>
                  <a:cubicBezTo>
                    <a:pt x="307" y="6"/>
                    <a:pt x="615" y="-1"/>
                    <a:pt x="924" y="0"/>
                  </a:cubicBezTo>
                  <a:cubicBezTo>
                    <a:pt x="9348" y="0"/>
                    <a:pt x="17004" y="4898"/>
                    <a:pt x="20535" y="12546"/>
                  </a:cubicBezTo>
                  <a:lnTo>
                    <a:pt x="924" y="21600"/>
                  </a:lnTo>
                  <a:lnTo>
                    <a:pt x="-1" y="19"/>
                  </a:lnTo>
                  <a:close/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triangle" w="sm" len="lg"/>
              <a:tailEnd type="triangl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8" name="Text Box 69">
              <a:extLst>
                <a:ext uri="{FF2B5EF4-FFF2-40B4-BE49-F238E27FC236}">
                  <a16:creationId xmlns:a16="http://schemas.microsoft.com/office/drawing/2014/main" id="{482FDE92-9136-479F-9AE0-512C5E69B9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15" y="2753"/>
              <a:ext cx="493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>
                  <a:solidFill>
                    <a:srgbClr val="FF0000"/>
                  </a:solidFill>
                  <a:latin typeface="ISOCPEUR" pitchFamily="34" charset="0"/>
                </a:rPr>
                <a:t>60</a:t>
              </a:r>
              <a:r>
                <a:rPr lang="en-US" altLang="zh-CN" i="1">
                  <a:solidFill>
                    <a:srgbClr val="FF0000"/>
                  </a:solidFill>
                </a:rPr>
                <a:t>°</a:t>
              </a: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15525049-B53E-47DA-B465-C344313197F7}"/>
              </a:ext>
            </a:extLst>
          </p:cNvPr>
          <p:cNvGrpSpPr>
            <a:grpSpLocks/>
          </p:cNvGrpSpPr>
          <p:nvPr/>
        </p:nvGrpSpPr>
        <p:grpSpPr bwMode="auto">
          <a:xfrm>
            <a:off x="7726361" y="3349468"/>
            <a:ext cx="1223963" cy="579438"/>
            <a:chOff x="5482777" y="3432721"/>
            <a:chExt cx="1224003" cy="578729"/>
          </a:xfrm>
        </p:grpSpPr>
        <p:grpSp>
          <p:nvGrpSpPr>
            <p:cNvPr id="50" name="Group 34">
              <a:extLst>
                <a:ext uri="{FF2B5EF4-FFF2-40B4-BE49-F238E27FC236}">
                  <a16:creationId xmlns:a16="http://schemas.microsoft.com/office/drawing/2014/main" id="{DC64C019-9951-407F-97BD-3DA4D07E7EB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482777" y="3432721"/>
              <a:ext cx="1224003" cy="578729"/>
              <a:chOff x="3294" y="2116"/>
              <a:chExt cx="1576" cy="730"/>
            </a:xfrm>
          </p:grpSpPr>
          <p:sp>
            <p:nvSpPr>
              <p:cNvPr id="53" name="Line 35">
                <a:extLst>
                  <a:ext uri="{FF2B5EF4-FFF2-40B4-BE49-F238E27FC236}">
                    <a16:creationId xmlns:a16="http://schemas.microsoft.com/office/drawing/2014/main" id="{D0CBB708-5142-40BE-AFC2-40F8528472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665" y="2746"/>
                <a:ext cx="1205" cy="0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4" name="Freeform 36">
                <a:extLst>
                  <a:ext uri="{FF2B5EF4-FFF2-40B4-BE49-F238E27FC236}">
                    <a16:creationId xmlns:a16="http://schemas.microsoft.com/office/drawing/2014/main" id="{8FD5BB17-36C9-4B53-97EF-817750A280EF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3656" y="2202"/>
                <a:ext cx="1213" cy="0"/>
              </a:xfrm>
              <a:custGeom>
                <a:avLst/>
                <a:gdLst>
                  <a:gd name="T0" fmla="*/ 1213 w 617"/>
                  <a:gd name="T1" fmla="*/ 1 h 3"/>
                  <a:gd name="T2" fmla="*/ 0 w 617"/>
                  <a:gd name="T3" fmla="*/ 0 h 3"/>
                  <a:gd name="T4" fmla="*/ 0 60000 65536"/>
                  <a:gd name="T5" fmla="*/ 0 60000 65536"/>
                  <a:gd name="T6" fmla="*/ 0 w 617"/>
                  <a:gd name="T7" fmla="*/ 0 h 3"/>
                  <a:gd name="T8" fmla="*/ 617 w 617"/>
                  <a:gd name="T9" fmla="*/ 0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17" h="3">
                    <a:moveTo>
                      <a:pt x="617" y="3"/>
                    </a:moveTo>
                    <a:lnTo>
                      <a:pt x="0" y="0"/>
                    </a:lnTo>
                  </a:path>
                </a:pathLst>
              </a:custGeom>
              <a:noFill/>
              <a:ln w="12700">
                <a:solidFill>
                  <a:srgbClr val="FF0000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5" name="Freeform 37">
                <a:extLst>
                  <a:ext uri="{FF2B5EF4-FFF2-40B4-BE49-F238E27FC236}">
                    <a16:creationId xmlns:a16="http://schemas.microsoft.com/office/drawing/2014/main" id="{05D554EE-36D5-453E-9E77-A4B77CB0E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5" y="2424"/>
                <a:ext cx="3" cy="303"/>
              </a:xfrm>
              <a:custGeom>
                <a:avLst/>
                <a:gdLst>
                  <a:gd name="T0" fmla="*/ 3 w 3"/>
                  <a:gd name="T1" fmla="*/ 0 h 303"/>
                  <a:gd name="T2" fmla="*/ 0 w 3"/>
                  <a:gd name="T3" fmla="*/ 303 h 303"/>
                  <a:gd name="T4" fmla="*/ 0 60000 65536"/>
                  <a:gd name="T5" fmla="*/ 0 60000 65536"/>
                  <a:gd name="T6" fmla="*/ 0 w 3"/>
                  <a:gd name="T7" fmla="*/ 0 h 303"/>
                  <a:gd name="T8" fmla="*/ 3 w 3"/>
                  <a:gd name="T9" fmla="*/ 303 h 30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303">
                    <a:moveTo>
                      <a:pt x="3" y="0"/>
                    </a:moveTo>
                    <a:lnTo>
                      <a:pt x="0" y="303"/>
                    </a:lnTo>
                  </a:path>
                </a:pathLst>
              </a:custGeom>
              <a:noFill/>
              <a:ln w="12700">
                <a:solidFill>
                  <a:srgbClr val="FF0000"/>
                </a:solidFill>
                <a:round/>
                <a:headEnd type="none" w="sm" len="lg"/>
                <a:tailEnd type="triangle" w="sm" len="lg"/>
              </a:ln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6" name="Text Box 38">
                <a:extLst>
                  <a:ext uri="{FF2B5EF4-FFF2-40B4-BE49-F238E27FC236}">
                    <a16:creationId xmlns:a16="http://schemas.microsoft.com/office/drawing/2014/main" id="{7DBED896-5416-4D89-A08D-601437AE931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 rot="-5400000">
                <a:off x="3187" y="2223"/>
                <a:ext cx="730" cy="51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>
                <a:spAutoFit/>
              </a:bodyPr>
              <a:lstStyle/>
              <a:p>
                <a:pPr algn="ctr"/>
                <a:r>
                  <a:rPr lang="en-US" altLang="zh-CN" sz="2000" i="1">
                    <a:solidFill>
                      <a:srgbClr val="FF0000"/>
                    </a:solidFill>
                    <a:latin typeface="ISOCPEUR" pitchFamily="34" charset="0"/>
                  </a:rPr>
                  <a:t>A/2</a:t>
                </a:r>
              </a:p>
            </p:txBody>
          </p:sp>
        </p:grpSp>
        <p:sp>
          <p:nvSpPr>
            <p:cNvPr id="51" name="Freeform 37">
              <a:extLst>
                <a:ext uri="{FF2B5EF4-FFF2-40B4-BE49-F238E27FC236}">
                  <a16:creationId xmlns:a16="http://schemas.microsoft.com/office/drawing/2014/main" id="{253D60F0-1CB6-47BB-B598-EAF2151A0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1169" y="3492824"/>
              <a:ext cx="0" cy="240213"/>
            </a:xfrm>
            <a:custGeom>
              <a:avLst/>
              <a:gdLst>
                <a:gd name="T0" fmla="*/ 1 w 3"/>
                <a:gd name="T1" fmla="*/ 0 h 303"/>
                <a:gd name="T2" fmla="*/ 0 w 3"/>
                <a:gd name="T3" fmla="*/ 240213 h 303"/>
                <a:gd name="T4" fmla="*/ 0 60000 65536"/>
                <a:gd name="T5" fmla="*/ 0 60000 65536"/>
                <a:gd name="T6" fmla="*/ 0 w 3"/>
                <a:gd name="T7" fmla="*/ 0 h 303"/>
                <a:gd name="T8" fmla="*/ 0 w 3"/>
                <a:gd name="T9" fmla="*/ 303 h 30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" h="303">
                  <a:moveTo>
                    <a:pt x="3" y="0"/>
                  </a:moveTo>
                  <a:lnTo>
                    <a:pt x="0" y="303"/>
                  </a:lnTo>
                </a:path>
              </a:pathLst>
            </a:custGeom>
            <a:noFill/>
            <a:ln w="12700">
              <a:solidFill>
                <a:srgbClr val="FF0000"/>
              </a:solidFill>
              <a:round/>
              <a:headEnd type="triangle" w="sm" len="lg"/>
              <a:tailEnd type="none" w="sm" len="lg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cxnSp>
          <p:nvCxnSpPr>
            <p:cNvPr id="52" name="直接连接符 51">
              <a:extLst>
                <a:ext uri="{FF2B5EF4-FFF2-40B4-BE49-F238E27FC236}">
                  <a16:creationId xmlns:a16="http://schemas.microsoft.com/office/drawing/2014/main" id="{40C0B0D2-CDA5-4869-BFA3-26C9DC154C22}"/>
                </a:ext>
              </a:extLst>
            </p:cNvPr>
            <p:cNvCxnSpPr>
              <a:stCxn id="55" idx="1"/>
              <a:endCxn id="51" idx="0"/>
            </p:cNvCxnSpPr>
            <p:nvPr/>
          </p:nvCxnSpPr>
          <p:spPr>
            <a:xfrm flipV="1">
              <a:off x="5879665" y="3492972"/>
              <a:ext cx="1588" cy="423344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905653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000"/>
                            </p:stCondLst>
                            <p:childTnLst>
                              <p:par>
                                <p:cTn id="7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nimBg="1"/>
      <p:bldP spid="13" grpId="0" animBg="1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>
            <a:extLst>
              <a:ext uri="{FF2B5EF4-FFF2-40B4-BE49-F238E27FC236}">
                <a16:creationId xmlns:a16="http://schemas.microsoft.com/office/drawing/2014/main" id="{DE185BB9-3604-478E-9550-4407ABE6FE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02137" y="476250"/>
            <a:ext cx="3387725" cy="584200"/>
          </a:xfrm>
          <a:prstGeom prst="rect">
            <a:avLst/>
          </a:prstGeom>
          <a:solidFill>
            <a:schemeClr val="bg1"/>
          </a:solidFill>
          <a:ln w="57150">
            <a:solidFill>
              <a:schemeClr val="bg1"/>
            </a:solidFill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/>
            <a:r>
              <a:rPr lang="zh-CN" altLang="en-US" sz="3200" dirty="0">
                <a:solidFill>
                  <a:srgbClr val="FF3300"/>
                </a:solidFill>
                <a:latin typeface="黑体" pitchFamily="49" charset="-122"/>
                <a:ea typeface="黑体" pitchFamily="49" charset="-122"/>
              </a:rPr>
              <a:t>小  结 </a:t>
            </a:r>
            <a:endParaRPr lang="zh-CN" altLang="en-US" sz="3200" dirty="0">
              <a:solidFill>
                <a:srgbClr val="FF3300"/>
              </a:solidFill>
              <a:latin typeface="黑体" pitchFamily="49" charset="-122"/>
              <a:ea typeface="黑体" pitchFamily="49" charset="-122"/>
              <a:sym typeface="Monotype Sorts"/>
            </a:endParaRPr>
          </a:p>
        </p:txBody>
      </p:sp>
      <p:sp>
        <p:nvSpPr>
          <p:cNvPr id="3" name="Text Box 3">
            <a:extLst>
              <a:ext uri="{FF2B5EF4-FFF2-40B4-BE49-F238E27FC236}">
                <a16:creationId xmlns:a16="http://schemas.microsoft.com/office/drawing/2014/main" id="{859F0AEA-EDF9-4734-AB37-2D32D8AE5E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244" y="1772551"/>
            <a:ext cx="3387726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zh-CN" altLang="en-US" sz="2400" b="1" dirty="0">
                <a:latin typeface="宋体" pitchFamily="2" charset="-122"/>
              </a:rPr>
              <a:t>一、螺纹的规定画法中</a:t>
            </a:r>
            <a:endParaRPr lang="en-US" altLang="zh-CN" sz="2400" b="1" dirty="0">
              <a:latin typeface="宋体" pitchFamily="2" charset="-122"/>
            </a:endParaRPr>
          </a:p>
          <a:p>
            <a:r>
              <a:rPr lang="en-US" altLang="zh-CN" sz="2400" b="1" dirty="0">
                <a:solidFill>
                  <a:srgbClr val="FF0000"/>
                </a:solidFill>
                <a:latin typeface="宋体" pitchFamily="2" charset="-122"/>
              </a:rPr>
              <a:t>     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要抓住三条线</a:t>
            </a:r>
            <a:endParaRPr lang="zh-CN" altLang="en-US" sz="2400" b="1" dirty="0">
              <a:latin typeface="宋体" pitchFamily="2" charset="-122"/>
            </a:endParaRPr>
          </a:p>
        </p:txBody>
      </p:sp>
      <p:sp>
        <p:nvSpPr>
          <p:cNvPr id="4" name="Text Box 4">
            <a:extLst>
              <a:ext uri="{FF2B5EF4-FFF2-40B4-BE49-F238E27FC236}">
                <a16:creationId xmlns:a16="http://schemas.microsoft.com/office/drawing/2014/main" id="{EA683DEA-4581-4E54-9B39-9873366225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4970" y="2033696"/>
            <a:ext cx="62198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 eaLnBrk="1" hangingPunct="1"/>
            <a:r>
              <a:rPr lang="en-US" altLang="zh-CN" sz="2400" b="1" dirty="0">
                <a:latin typeface="宋体" pitchFamily="2" charset="-122"/>
                <a:sym typeface="Monotype Sorts"/>
              </a:rPr>
              <a:t>☆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牙</a:t>
            </a:r>
            <a:r>
              <a:rPr lang="zh-CN" altLang="en-US" sz="2400" b="1" dirty="0">
                <a:solidFill>
                  <a:srgbClr val="FF0000"/>
                </a:solidFill>
                <a:latin typeface="宋体" pitchFamily="2" charset="-122"/>
              </a:rPr>
              <a:t>底用细实线表示 </a:t>
            </a:r>
            <a:r>
              <a:rPr lang="en-US" altLang="zh-CN" sz="2400" b="1" dirty="0">
                <a:solidFill>
                  <a:schemeClr val="accent2"/>
                </a:solidFill>
                <a:latin typeface="宋体" pitchFamily="2" charset="-122"/>
              </a:rPr>
              <a:t>(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用手摸不着的直径</a:t>
            </a:r>
            <a:r>
              <a:rPr lang="en-US" altLang="zh-CN" sz="2400" b="1" dirty="0">
                <a:solidFill>
                  <a:schemeClr val="accent2"/>
                </a:solidFill>
                <a:latin typeface="宋体" pitchFamily="2" charset="-122"/>
              </a:rPr>
              <a:t>)</a:t>
            </a:r>
            <a:r>
              <a:rPr lang="zh-CN" altLang="en-US" sz="2400" b="1" dirty="0">
                <a:solidFill>
                  <a:schemeClr val="accent2"/>
                </a:solidFill>
                <a:latin typeface="宋体" pitchFamily="2" charset="-122"/>
              </a:rPr>
              <a:t>。</a:t>
            </a:r>
            <a:endParaRPr lang="zh-CN" altLang="en-US" sz="2400" b="1" dirty="0">
              <a:latin typeface="宋体" pitchFamily="2" charset="-122"/>
            </a:endParaRPr>
          </a:p>
        </p:txBody>
      </p:sp>
      <p:sp>
        <p:nvSpPr>
          <p:cNvPr id="5" name="Text Box 5">
            <a:extLst>
              <a:ext uri="{FF2B5EF4-FFF2-40B4-BE49-F238E27FC236}">
                <a16:creationId xmlns:a16="http://schemas.microsoft.com/office/drawing/2014/main" id="{E6B4D525-7FDF-49B3-BA0B-D82FE3BCF4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4970" y="2422634"/>
            <a:ext cx="4206875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r>
              <a:rPr lang="en-US" altLang="zh-CN" sz="2400" b="1">
                <a:latin typeface="宋体" pitchFamily="2" charset="-122"/>
                <a:sym typeface="Monotype Sorts"/>
              </a:rPr>
              <a:t>☆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螺纹终止线用粗实线</a:t>
            </a:r>
            <a:r>
              <a:rPr lang="zh-CN" altLang="en-US" sz="2400" b="1">
                <a:latin typeface="宋体" pitchFamily="2" charset="-122"/>
              </a:rPr>
              <a:t>表示。</a:t>
            </a:r>
          </a:p>
        </p:txBody>
      </p:sp>
      <p:sp>
        <p:nvSpPr>
          <p:cNvPr id="6" name="Text Box 6">
            <a:extLst>
              <a:ext uri="{FF2B5EF4-FFF2-40B4-BE49-F238E27FC236}">
                <a16:creationId xmlns:a16="http://schemas.microsoft.com/office/drawing/2014/main" id="{F493411B-2C0F-42FB-8F43-F0F6B85202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1744" y="2984283"/>
            <a:ext cx="4206601" cy="461665"/>
          </a:xfrm>
          <a:prstGeom prst="rect">
            <a:avLst/>
          </a:prstGeom>
          <a:gradFill>
            <a:gsLst>
              <a:gs pos="0">
                <a:schemeClr val="accent3">
                  <a:lumMod val="5000"/>
                  <a:lumOff val="95000"/>
                </a:schemeClr>
              </a:gs>
              <a:gs pos="74000">
                <a:schemeClr val="accent3">
                  <a:lumMod val="45000"/>
                  <a:lumOff val="55000"/>
                </a:schemeClr>
              </a:gs>
              <a:gs pos="83000">
                <a:schemeClr val="accent3">
                  <a:lumMod val="45000"/>
                  <a:lumOff val="55000"/>
                </a:schemeClr>
              </a:gs>
              <a:gs pos="100000">
                <a:schemeClr val="accent3">
                  <a:lumMod val="30000"/>
                  <a:lumOff val="70000"/>
                </a:schemeClr>
              </a:gs>
            </a:gsLst>
            <a:lin ang="5400000" scaled="1"/>
          </a:gradFill>
          <a:ln w="12700">
            <a:noFill/>
            <a:prstDash val="lgDashDot"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zh-CN" altLang="en-US" sz="2400" b="1" dirty="0">
                <a:latin typeface="宋体" pitchFamily="2" charset="-122"/>
                <a:sym typeface="Monotype Sorts"/>
              </a:rPr>
              <a:t>注意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  <a:sym typeface="Monotype Sorts"/>
              </a:rPr>
              <a:t>剖视图中剖面线</a:t>
            </a:r>
            <a:r>
              <a:rPr lang="zh-CN" altLang="en-US" sz="2400" b="1" dirty="0">
                <a:latin typeface="宋体" pitchFamily="2" charset="-122"/>
                <a:sym typeface="Monotype Sorts"/>
              </a:rPr>
              <a:t>的画法。</a:t>
            </a:r>
          </a:p>
        </p:txBody>
      </p:sp>
      <p:sp>
        <p:nvSpPr>
          <p:cNvPr id="7" name="Text Box 7">
            <a:extLst>
              <a:ext uri="{FF2B5EF4-FFF2-40B4-BE49-F238E27FC236}">
                <a16:creationId xmlns:a16="http://schemas.microsoft.com/office/drawing/2014/main" id="{8440556E-498C-4D3D-9D55-4A2A3EE302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43" y="3631245"/>
            <a:ext cx="10009112" cy="7571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 dirty="0">
                <a:latin typeface="宋体" pitchFamily="2" charset="-122"/>
              </a:rPr>
              <a:t>二、螺纹标注的目的，主要是把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螺纹的类型和参数</a:t>
            </a:r>
            <a:r>
              <a:rPr lang="zh-CN" altLang="en-US" sz="2400" b="1" dirty="0">
                <a:latin typeface="宋体" pitchFamily="2" charset="-122"/>
              </a:rPr>
              <a:t>体现出来。</a:t>
            </a:r>
            <a:endParaRPr lang="en-US" altLang="zh-CN" sz="2400" b="1" dirty="0">
              <a:latin typeface="宋体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尺寸界线要从大径引出。</a:t>
            </a:r>
            <a:endParaRPr lang="zh-CN" altLang="en-US" sz="2400" b="1" dirty="0">
              <a:latin typeface="宋体" pitchFamily="2" charset="-122"/>
            </a:endParaRP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DBE139C7-016F-4FD5-BDB0-3D7305CAE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4970" y="1605071"/>
            <a:ext cx="6219825" cy="461963"/>
          </a:xfrm>
          <a:prstGeom prst="rect">
            <a:avLst/>
          </a:prstGeom>
          <a:noFill/>
          <a:ln w="12700">
            <a:noFill/>
            <a:prstDash val="lgDashDot"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r>
              <a:rPr lang="en-US" altLang="zh-CN" sz="2400" b="1">
                <a:latin typeface="宋体" pitchFamily="2" charset="-122"/>
                <a:sym typeface="Monotype Sorts"/>
              </a:rPr>
              <a:t>☆</a:t>
            </a:r>
            <a:r>
              <a:rPr lang="zh-CN" altLang="en-US" sz="2400" b="1">
                <a:solidFill>
                  <a:srgbClr val="FF0000"/>
                </a:solidFill>
                <a:latin typeface="宋体" pitchFamily="2" charset="-122"/>
              </a:rPr>
              <a:t>牙顶用粗实线表示</a:t>
            </a:r>
            <a:r>
              <a:rPr lang="zh-CN" altLang="en-US" sz="2400" b="1">
                <a:latin typeface="宋体" pitchFamily="2" charset="-122"/>
              </a:rPr>
              <a:t> </a:t>
            </a:r>
            <a:r>
              <a:rPr lang="en-US" altLang="zh-CN" sz="2400" b="1">
                <a:solidFill>
                  <a:schemeClr val="accent2"/>
                </a:solidFill>
                <a:latin typeface="宋体" pitchFamily="2" charset="-122"/>
              </a:rPr>
              <a:t>(</a:t>
            </a:r>
            <a:r>
              <a:rPr lang="zh-CN" altLang="en-US" sz="2400" b="1">
                <a:solidFill>
                  <a:schemeClr val="accent2"/>
                </a:solidFill>
                <a:latin typeface="宋体" pitchFamily="2" charset="-122"/>
              </a:rPr>
              <a:t>用手摸得着的直径</a:t>
            </a:r>
            <a:r>
              <a:rPr lang="en-US" altLang="zh-CN" sz="2400" b="1">
                <a:solidFill>
                  <a:schemeClr val="accent2"/>
                </a:solidFill>
                <a:latin typeface="宋体" pitchFamily="2" charset="-122"/>
              </a:rPr>
              <a:t>)</a:t>
            </a:r>
            <a:r>
              <a:rPr lang="zh-CN" altLang="en-US" sz="2400" b="1">
                <a:solidFill>
                  <a:schemeClr val="accent2"/>
                </a:solidFill>
                <a:latin typeface="宋体" pitchFamily="2" charset="-122"/>
              </a:rPr>
              <a:t>。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88E17D1A-391E-4484-A369-1AF5DA524E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948" y="4419989"/>
            <a:ext cx="10009112" cy="757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sz="2400" b="1" dirty="0">
                <a:latin typeface="宋体" pitchFamily="2" charset="-122"/>
              </a:rPr>
              <a:t>三、螺栓、螺钉、螺柱、螺母、垫圈都是标准件，掌握其简化画法，</a:t>
            </a:r>
            <a:endParaRPr lang="en-US" altLang="zh-CN" sz="2400" b="1" dirty="0">
              <a:latin typeface="宋体" pitchFamily="2" charset="-122"/>
            </a:endParaRPr>
          </a:p>
          <a:p>
            <a:pPr algn="ctr">
              <a:lnSpc>
                <a:spcPct val="90000"/>
              </a:lnSpc>
            </a:pPr>
            <a:r>
              <a:rPr lang="zh-CN" altLang="en-US" sz="2400" b="1" dirty="0">
                <a:latin typeface="宋体" pitchFamily="2" charset="-122"/>
              </a:rPr>
              <a:t>注意比较它们的相同点和区别。掌握</a:t>
            </a:r>
            <a:r>
              <a:rPr lang="zh-CN" altLang="en-US" sz="2400" b="1" dirty="0">
                <a:solidFill>
                  <a:srgbClr val="FF3300"/>
                </a:solidFill>
                <a:latin typeface="宋体" pitchFamily="2" charset="-122"/>
              </a:rPr>
              <a:t>其标记内容。</a:t>
            </a:r>
            <a:endParaRPr lang="zh-CN" altLang="en-US" sz="2400" b="1" dirty="0">
              <a:latin typeface="宋体" pitchFamily="2" charset="-122"/>
            </a:endParaRPr>
          </a:p>
        </p:txBody>
      </p:sp>
      <p:sp>
        <p:nvSpPr>
          <p:cNvPr id="10" name="Text Box 10">
            <a:extLst>
              <a:ext uri="{FF2B5EF4-FFF2-40B4-BE49-F238E27FC236}">
                <a16:creationId xmlns:a16="http://schemas.microsoft.com/office/drawing/2014/main" id="{05E65804-FDE2-47F4-A39B-6DEF720B67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5062" y="5187595"/>
            <a:ext cx="7950200" cy="46196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r>
              <a:rPr lang="zh-CN" altLang="en-US" sz="2400" b="1" dirty="0">
                <a:solidFill>
                  <a:schemeClr val="tx2"/>
                </a:solidFill>
                <a:latin typeface="宋体" pitchFamily="2" charset="-122"/>
              </a:rPr>
              <a:t>四、会查阅螺纹及螺纹连接件的标准手册。</a:t>
            </a:r>
          </a:p>
        </p:txBody>
      </p:sp>
      <p:sp>
        <p:nvSpPr>
          <p:cNvPr id="11" name="Text Box 2">
            <a:extLst>
              <a:ext uri="{FF2B5EF4-FFF2-40B4-BE49-F238E27FC236}">
                <a16:creationId xmlns:a16="http://schemas.microsoft.com/office/drawing/2014/main" id="{204C8094-3428-475F-A442-0938A85903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1330" y="5761923"/>
            <a:ext cx="808355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zh-CN" altLang="en-US" sz="2400" b="1" dirty="0">
                <a:latin typeface="宋体" pitchFamily="2" charset="-122"/>
              </a:rPr>
              <a:t>五、键、销的标记；滚动轴承代号的意义。</a:t>
            </a:r>
          </a:p>
        </p:txBody>
      </p:sp>
      <p:sp>
        <p:nvSpPr>
          <p:cNvPr id="12" name="Text Box 4">
            <a:extLst>
              <a:ext uri="{FF2B5EF4-FFF2-40B4-BE49-F238E27FC236}">
                <a16:creationId xmlns:a16="http://schemas.microsoft.com/office/drawing/2014/main" id="{B2938AC7-23B6-4314-9F37-AE69E297AE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2858" y="6223885"/>
            <a:ext cx="7461250" cy="4766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1" dirty="0">
                <a:latin typeface="宋体" pitchFamily="2" charset="-122"/>
              </a:rPr>
              <a:t>六、自学齿轮几何尺寸的计算方法。</a:t>
            </a:r>
          </a:p>
        </p:txBody>
      </p:sp>
      <p:sp>
        <p:nvSpPr>
          <p:cNvPr id="13" name="AutoShape 29">
            <a:extLst>
              <a:ext uri="{FF2B5EF4-FFF2-40B4-BE49-F238E27FC236}">
                <a16:creationId xmlns:a16="http://schemas.microsoft.com/office/drawing/2014/main" id="{A984C851-B763-413B-9E00-8BCB9D65DF67}"/>
              </a:ext>
            </a:extLst>
          </p:cNvPr>
          <p:cNvSpPr>
            <a:spLocks/>
          </p:cNvSpPr>
          <p:nvPr/>
        </p:nvSpPr>
        <p:spPr bwMode="auto">
          <a:xfrm>
            <a:off x="4291537" y="1685904"/>
            <a:ext cx="221199" cy="1141344"/>
          </a:xfrm>
          <a:prstGeom prst="leftBrace">
            <a:avLst>
              <a:gd name="adj1" fmla="val 63335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0664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75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/>
      <p:bldP spid="4" grpId="0" autoUpdateAnimBg="0"/>
      <p:bldP spid="5" grpId="0" autoUpdateAnimBg="0"/>
      <p:bldP spid="6" grpId="0" animBg="1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build="p" autoUpdateAnimBg="0"/>
      <p:bldP spid="12" grpId="0" build="p" autoUpdateAnimBg="0"/>
      <p:bldP spid="13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af515f54b149ebc2e5c4888adbe80647824b378"/>
</p:tagLst>
</file>

<file path=ppt/theme/theme1.xml><?xml version="1.0" encoding="utf-8"?>
<a:theme xmlns:a="http://schemas.openxmlformats.org/drawingml/2006/main" name="1_Office 主题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gradFill rotWithShape="0">
          <a:gsLst>
            <a:gs pos="0">
              <a:srgbClr val="DDEBCF"/>
            </a:gs>
            <a:gs pos="50000">
              <a:srgbClr val="9CB86E"/>
            </a:gs>
            <a:gs pos="100000">
              <a:srgbClr val="156B13"/>
            </a:gs>
          </a:gsLst>
          <a:lin ang="5400000"/>
        </a:gradFill>
        <a:ln w="9525">
          <a:noFill/>
          <a:miter lim="800000"/>
          <a:headEnd/>
          <a:tailEnd/>
        </a:ln>
      </a:spPr>
      <a:bodyPr anchor="ctr"/>
      <a:lstStyle>
        <a:defPPr>
          <a:defRPr sz="3600" dirty="0">
            <a:solidFill>
              <a:schemeClr val="tx2"/>
            </a:solidFill>
            <a:latin typeface="宋体" pitchFamily="2" charset="-122"/>
          </a:defRPr>
        </a:defPPr>
      </a:lstStyle>
    </a:spDef>
    <a:txDef>
      <a:spPr/>
      <a:bodyPr anchor="ctr">
        <a:spAutoFit/>
      </a:bodyPr>
      <a:lstStyle>
        <a:defPPr algn="ctr" fontAlgn="auto">
          <a:spcAft>
            <a:spcPts val="0"/>
          </a:spcAft>
          <a:defRPr kumimoji="0" sz="4400" b="1" dirty="0">
            <a:solidFill>
              <a:schemeClr val="tx2"/>
            </a:solidFill>
            <a:latin typeface="黑体" pitchFamily="2" charset="-122"/>
            <a:ea typeface="黑体" pitchFamily="2" charset="-122"/>
            <a:cs typeface="+mj-cs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4723</TotalTime>
  <Words>2992</Words>
  <Application>Microsoft Office PowerPoint</Application>
  <PresentationFormat>宽屏</PresentationFormat>
  <Paragraphs>493</Paragraphs>
  <Slides>39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47" baseType="lpstr">
      <vt:lpstr>黑体</vt:lpstr>
      <vt:lpstr>华文行楷</vt:lpstr>
      <vt:lpstr>宋体</vt:lpstr>
      <vt:lpstr>Arial</vt:lpstr>
      <vt:lpstr>Calibri</vt:lpstr>
      <vt:lpstr>ISOCPEUR</vt:lpstr>
      <vt:lpstr>Times New Roman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第9章 机件的表达 1</dc:title>
  <dc:creator>穆浩志</dc:creator>
  <cp:keywords>天津理工大学</cp:keywords>
  <cp:lastModifiedBy>Lenovo</cp:lastModifiedBy>
  <cp:revision>471</cp:revision>
  <dcterms:created xsi:type="dcterms:W3CDTF">2014-03-20T09:34:50Z</dcterms:created>
  <dcterms:modified xsi:type="dcterms:W3CDTF">2021-03-09T05:37:37Z</dcterms:modified>
</cp:coreProperties>
</file>
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9" r:id="rId1"/>
  </p:sldMasterIdLst>
  <p:notesMasterIdLst>
    <p:notesMasterId r:id="rId16"/>
  </p:notesMasterIdLst>
  <p:sldIdLst>
    <p:sldId id="556" r:id="rId2"/>
    <p:sldId id="557" r:id="rId3"/>
    <p:sldId id="558" r:id="rId4"/>
    <p:sldId id="569" r:id="rId5"/>
    <p:sldId id="559" r:id="rId6"/>
    <p:sldId id="560" r:id="rId7"/>
    <p:sldId id="561" r:id="rId8"/>
    <p:sldId id="562" r:id="rId9"/>
    <p:sldId id="563" r:id="rId10"/>
    <p:sldId id="564" r:id="rId11"/>
    <p:sldId id="565" r:id="rId12"/>
    <p:sldId id="566" r:id="rId13"/>
    <p:sldId id="567" r:id="rId14"/>
    <p:sldId id="568" r:id="rId15"/>
  </p:sldIdLst>
  <p:sldSz cx="12192000" cy="6858000"/>
  <p:notesSz cx="6858000" cy="9144000"/>
  <p:custDataLst>
    <p:tags r:id="rId1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modifyVerifier cryptProviderType="rsaFull" cryptAlgorithmClass="hash" cryptAlgorithmType="typeAny" cryptAlgorithmSid="4" spinCount="50000" saltData="mO70nCLIcukbO/AWMqOVBA==" hashData="3UCDgBbuXkPhh88f0aBJLmsLrss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8" autoAdjust="0"/>
    <p:restoredTop sz="93902" autoAdjust="0"/>
  </p:normalViewPr>
  <p:slideViewPr>
    <p:cSldViewPr>
      <p:cViewPr varScale="1">
        <p:scale>
          <a:sx n="107" d="100"/>
          <a:sy n="107" d="100"/>
        </p:scale>
        <p:origin x="768" y="114"/>
      </p:cViewPr>
      <p:guideLst>
        <p:guide orient="horz" pos="2160"/>
        <p:guide pos="3840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2808" y="-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994F821-7148-4155-8A4B-3568DDD25123}" type="datetimeFigureOut">
              <a:rPr lang="zh-CN" altLang="en-US"/>
              <a:pPr>
                <a:defRPr/>
              </a:pPr>
              <a:t>2021/3/9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350BB752-86F0-4A2B-B1F4-3D725A534A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908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5882894-31D0-4353-8FC4-53FD4467D4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51325CCF-3893-4AF4-9378-6503525C1C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1528D238-9626-4573-9B0E-3A01311DAB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7BC39A87-C04B-44B8-8492-59308235E3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91C292D2-F234-45FE-9C8F-D7CD6A71BC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EB59C782-E5B5-4D1E-84E8-00EB87A66F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23F1626B-87FC-4106-99C3-08CD08C6CE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3D8AFA40-474E-4131-9465-1772CE74A1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44624BEE-B42A-4D24-A6A0-A13054AF2E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ED04EAC3-810B-4186-9CDC-14BAD13725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83A06682-6D3C-44FE-A8FD-CF179FE872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B73827A9-F015-4526-A947-A7D0641A67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7730E9EB-F9AD-4188-B464-117A56F21E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37FC85D4-21D3-4B1F-9919-8F298A4744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B4B1C4B7-372D-48C2-8DDA-B810BF3CD4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44E84D88-8CA2-4D77-8F92-4C576078AA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AE7EA432-7B9C-4122-898F-523AEF872E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623D218-3769-4A9E-A4E2-A5A466000D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47700" y="14287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3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4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5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6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7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8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0136772" y="1128681"/>
            <a:ext cx="1849992" cy="292104"/>
          </a:xfrm>
          <a:prstGeom prst="rect">
            <a:avLst/>
          </a:prstGeom>
          <a:noFill/>
        </p:spPr>
        <p:txBody>
          <a:bodyPr wrap="none">
            <a:prstTxWarp prst="textPlain">
              <a:avLst/>
            </a:prstTxWarp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>
              <a:defRPr/>
            </a:pPr>
            <a:r>
              <a:rPr lang="zh-CN" altLang="en-US" sz="5400" dirty="0">
                <a:ln w="11430"/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主讲：穆浩志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F76FF18-5378-45F2-B1D7-CE32A5838F68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033" y="70885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28" r:id="rId1"/>
    <p:sldLayoutId id="2147484729" r:id="rId2"/>
    <p:sldLayoutId id="2147484730" r:id="rId3"/>
    <p:sldLayoutId id="2147484731" r:id="rId4"/>
    <p:sldLayoutId id="2147484732" r:id="rId5"/>
    <p:sldLayoutId id="2147484733" r:id="rId6"/>
    <p:sldLayoutId id="2147484734" r:id="rId7"/>
    <p:sldLayoutId id="2147484735" r:id="rId8"/>
    <p:sldLayoutId id="2147484736" r:id="rId9"/>
    <p:sldLayoutId id="2147484737" r:id="rId10"/>
    <p:sldLayoutId id="2147484738" r:id="rId11"/>
    <p:sldLayoutId id="2147484739" r:id="rId12"/>
    <p:sldLayoutId id="2147484740" r:id="rId13"/>
    <p:sldLayoutId id="2147484741" r:id="rId14"/>
    <p:sldLayoutId id="2147484742" r:id="rId15"/>
    <p:sldLayoutId id="2147484743" r:id="rId16"/>
    <p:sldLayoutId id="2147484744" r:id="rId17"/>
    <p:sldLayoutId id="2147484745" r:id="rId1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jpeg"/><Relationship Id="rId5" Type="http://schemas.openxmlformats.org/officeDocument/2006/relationships/image" Target="../media/image6.jpeg"/><Relationship Id="rId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image" Target="../media/image14.png"/><Relationship Id="rId2" Type="http://schemas.openxmlformats.org/officeDocument/2006/relationships/tags" Target="../tags/tag3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1EE01E6-9F77-412D-A68F-4570FA8BA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609" y="367302"/>
            <a:ext cx="5143500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1620000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绘制零件图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8C8BC4-ADD3-4AC7-860F-747FA4EF8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725" y="1438073"/>
            <a:ext cx="56515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★在</a:t>
            </a:r>
            <a:r>
              <a:rPr lang="en-US" altLang="zh-CN" sz="2800" b="1" dirty="0">
                <a:solidFill>
                  <a:srgbClr val="FF0000"/>
                </a:solidFill>
              </a:rPr>
              <a:t>CAD</a:t>
            </a:r>
            <a:r>
              <a:rPr lang="zh-CN" altLang="en-US" sz="2800" b="1" dirty="0">
                <a:solidFill>
                  <a:srgbClr val="FF0000"/>
                </a:solidFill>
              </a:rPr>
              <a:t>环境中设置尺寸公差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F453D1-6B04-4A69-AACF-CC37365C6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1966319"/>
            <a:ext cx="65913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1. </a:t>
            </a:r>
            <a:r>
              <a:rPr lang="zh-CN" altLang="en-US" sz="2400" dirty="0">
                <a:solidFill>
                  <a:srgbClr val="FF0000"/>
                </a:solidFill>
              </a:rPr>
              <a:t>对称式偏差</a:t>
            </a:r>
            <a:r>
              <a:rPr lang="en-US" altLang="zh-CN" sz="2400" dirty="0">
                <a:solidFill>
                  <a:srgbClr val="FF0000"/>
                </a:solidFill>
              </a:rPr>
              <a:t>     </a:t>
            </a:r>
            <a:r>
              <a:rPr lang="zh-CN" altLang="en-US" sz="2400" dirty="0"/>
              <a:t>例如“</a:t>
            </a:r>
            <a:r>
              <a:rPr lang="en-US" altLang="zh-CN" sz="2400" dirty="0"/>
              <a:t>50±0.01</a:t>
            </a:r>
            <a:r>
              <a:rPr lang="zh-CN" altLang="en-US" sz="2400" dirty="0"/>
              <a:t>”。</a:t>
            </a:r>
          </a:p>
        </p:txBody>
      </p:sp>
      <p:pic>
        <p:nvPicPr>
          <p:cNvPr id="5" name="图片 30" descr="14-61-8">
            <a:extLst>
              <a:ext uri="{FF2B5EF4-FFF2-40B4-BE49-F238E27FC236}">
                <a16:creationId xmlns:a16="http://schemas.microsoft.com/office/drawing/2014/main" id="{42250FAE-889B-4106-882A-2E71122B3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3802" y="3610251"/>
            <a:ext cx="6799263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31" descr="14-61-9">
            <a:extLst>
              <a:ext uri="{FF2B5EF4-FFF2-40B4-BE49-F238E27FC236}">
                <a16:creationId xmlns:a16="http://schemas.microsoft.com/office/drawing/2014/main" id="{20590D74-F1D8-4644-9E0F-D2B296BD9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97633" y="4631703"/>
            <a:ext cx="3225800" cy="33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7EA5CBA-7172-4E96-8669-DDE7E0FF2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2487810"/>
            <a:ext cx="6832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sz="2400" dirty="0">
                <a:latin typeface="+mn-ea"/>
                <a:ea typeface="+mn-ea"/>
                <a:cs typeface="Times New Roman" pitchFamily="18" charset="0"/>
              </a:rPr>
              <a:t>（</a:t>
            </a:r>
            <a:r>
              <a:rPr lang="en-US" altLang="zh-CN" sz="2400" dirty="0">
                <a:latin typeface="+mn-ea"/>
                <a:ea typeface="+mn-ea"/>
                <a:cs typeface="Times New Roman" pitchFamily="18" charset="0"/>
              </a:rPr>
              <a:t>1</a:t>
            </a:r>
            <a:r>
              <a:rPr lang="zh-CN" altLang="en-US" sz="2400" dirty="0">
                <a:latin typeface="+mn-ea"/>
                <a:ea typeface="+mn-ea"/>
                <a:cs typeface="Times New Roman" pitchFamily="18" charset="0"/>
              </a:rPr>
              <a:t>）直接键入， 在标注尺寸时，系统提示后，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C7864A8-8A70-4333-B7CF-7A3CAF072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638" y="3014939"/>
            <a:ext cx="51943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fontAlgn="ctr"/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选择输入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，重新输入文字。如：</a:t>
            </a:r>
            <a:endParaRPr lang="zh-CN" altLang="en-US" sz="2400" dirty="0">
              <a:cs typeface="Times New Roman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7C6F5EDF-F42A-41A0-B8FD-6DD5CF675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3802" y="4037211"/>
            <a:ext cx="6096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fontAlgn="ctr">
              <a:defRPr/>
            </a:pPr>
            <a:r>
              <a:rPr lang="zh-CN" altLang="en-US" sz="2400" dirty="0">
                <a:latin typeface="+mn-ea"/>
                <a:cs typeface="Times New Roman" pitchFamily="18" charset="0"/>
              </a:rPr>
              <a:t>系统提示后，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输入</a:t>
            </a:r>
            <a:r>
              <a:rPr lang="zh-CN" altLang="en-US" sz="2400" dirty="0">
                <a:latin typeface="黑体"/>
                <a:cs typeface="Times New Roman" pitchFamily="18" charset="0"/>
              </a:rPr>
              <a:t>“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50%%p0.01</a:t>
            </a:r>
            <a:r>
              <a:rPr lang="en-US" altLang="zh-CN" sz="2400" dirty="0">
                <a:latin typeface="黑体"/>
                <a:cs typeface="Times New Roman" pitchFamily="18" charset="0"/>
              </a:rPr>
              <a:t>”</a:t>
            </a:r>
            <a:r>
              <a:rPr lang="zh-CN" altLang="en-US" sz="2400" dirty="0">
                <a:latin typeface="黑体"/>
                <a:cs typeface="Times New Roman" pitchFamily="18" charset="0"/>
              </a:rPr>
              <a:t>如：</a:t>
            </a:r>
            <a:endParaRPr lang="zh-CN" altLang="en-US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FFE6A29-3F95-49D2-9285-44476F883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6967" y="4557898"/>
            <a:ext cx="33274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可以得</a:t>
            </a:r>
            <a:r>
              <a:rPr lang="zh-CN" altLang="en-US" sz="2800">
                <a:cs typeface="Times New Roman" pitchFamily="18" charset="0"/>
              </a:rPr>
              <a:t>“</a:t>
            </a:r>
            <a:r>
              <a:rPr lang="en-US" altLang="zh-CN" sz="2800">
                <a:latin typeface="Times New Roman" pitchFamily="18" charset="0"/>
                <a:cs typeface="Times New Roman" pitchFamily="18" charset="0"/>
              </a:rPr>
              <a:t>50±0.01”</a:t>
            </a:r>
            <a:endParaRPr lang="zh-CN" altLang="en-US" sz="2800">
              <a:cs typeface="Times New Roman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740B19-04EB-4A4B-B7DE-CC0FD6C0CB24}"/>
              </a:ext>
            </a:extLst>
          </p:cNvPr>
          <p:cNvSpPr/>
          <p:nvPr/>
        </p:nvSpPr>
        <p:spPr>
          <a:xfrm>
            <a:off x="1487488" y="5081773"/>
            <a:ext cx="2814638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sz="24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）设置尺寸样式</a:t>
            </a:r>
          </a:p>
        </p:txBody>
      </p:sp>
      <p:grpSp>
        <p:nvGrpSpPr>
          <p:cNvPr id="12" name="组合 18">
            <a:extLst>
              <a:ext uri="{FF2B5EF4-FFF2-40B4-BE49-F238E27FC236}">
                <a16:creationId xmlns:a16="http://schemas.microsoft.com/office/drawing/2014/main" id="{82D36EC4-DE93-4019-BA47-D16749C38764}"/>
              </a:ext>
            </a:extLst>
          </p:cNvPr>
          <p:cNvGrpSpPr>
            <a:grpSpLocks/>
          </p:cNvGrpSpPr>
          <p:nvPr/>
        </p:nvGrpSpPr>
        <p:grpSpPr bwMode="auto">
          <a:xfrm>
            <a:off x="2310018" y="5664373"/>
            <a:ext cx="7594600" cy="912813"/>
            <a:chOff x="1104900" y="5600700"/>
            <a:chExt cx="7594600" cy="912117"/>
          </a:xfrm>
        </p:grpSpPr>
        <p:grpSp>
          <p:nvGrpSpPr>
            <p:cNvPr id="13" name="组合 16">
              <a:extLst>
                <a:ext uri="{FF2B5EF4-FFF2-40B4-BE49-F238E27FC236}">
                  <a16:creationId xmlns:a16="http://schemas.microsoft.com/office/drawing/2014/main" id="{ED74BC84-673B-4E23-AF19-537C347085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900" y="5600700"/>
              <a:ext cx="1356284" cy="461665"/>
              <a:chOff x="1104900" y="5600700"/>
              <a:chExt cx="1356284" cy="461665"/>
            </a:xfrm>
          </p:grpSpPr>
          <p:pic>
            <p:nvPicPr>
              <p:cNvPr id="17" name="图片 32" descr="14-61-3">
                <a:extLst>
                  <a:ext uri="{FF2B5EF4-FFF2-40B4-BE49-F238E27FC236}">
                    <a16:creationId xmlns:a16="http://schemas.microsoft.com/office/drawing/2014/main" id="{FAFEC26D-CEAC-49D8-8FC8-B95142C8B8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1955799" y="5664200"/>
                <a:ext cx="505385" cy="3905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" name="Rectangle 13">
                <a:extLst>
                  <a:ext uri="{FF2B5EF4-FFF2-40B4-BE49-F238E27FC236}">
                    <a16:creationId xmlns:a16="http://schemas.microsoft.com/office/drawing/2014/main" id="{DD60FCC8-92CE-4DC3-9015-4DB9E6C6AE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900" y="5600700"/>
                <a:ext cx="838200" cy="4616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r>
                  <a:rPr lang="zh-CN" altLang="en-US" sz="2400" dirty="0">
                    <a:latin typeface="+mn-ea"/>
                    <a:ea typeface="+mn-ea"/>
                    <a:cs typeface="Times New Roman" pitchFamily="18" charset="0"/>
                  </a:rPr>
                  <a:t>单击</a:t>
                </a:r>
                <a:endParaRPr lang="zh-CN" altLang="en-US" sz="24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14" name="组合 17">
              <a:extLst>
                <a:ext uri="{FF2B5EF4-FFF2-40B4-BE49-F238E27FC236}">
                  <a16:creationId xmlns:a16="http://schemas.microsoft.com/office/drawing/2014/main" id="{3565ED34-4C70-4162-B2AB-6C145C1B0B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52700" y="5681820"/>
              <a:ext cx="6146800" cy="830997"/>
              <a:chOff x="2552700" y="5681820"/>
              <a:chExt cx="6146800" cy="830997"/>
            </a:xfrm>
          </p:grpSpPr>
          <p:pic>
            <p:nvPicPr>
              <p:cNvPr id="15" name="图片 33" descr="xjn">
                <a:extLst>
                  <a:ext uri="{FF2B5EF4-FFF2-40B4-BE49-F238E27FC236}">
                    <a16:creationId xmlns:a16="http://schemas.microsoft.com/office/drawing/2014/main" id="{F367E1E7-FB4E-415B-AE78-6BD9C05CA0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7327900" y="6146800"/>
                <a:ext cx="1337667" cy="3397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B86FA212-8AAA-4F58-942C-0535B2133B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2700" y="5681601"/>
                <a:ext cx="6146800" cy="8312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r>
                  <a:rPr lang="zh-CN" altLang="en-US" sz="2400" dirty="0">
                    <a:latin typeface="+mn-ea"/>
                    <a:ea typeface="+mn-ea"/>
                    <a:cs typeface="Times New Roman" pitchFamily="18" charset="0"/>
                  </a:rPr>
                  <a:t>按钮，在“标注样式管理器”对话框中，选择尺寸样式“</a:t>
                </a:r>
                <a:r>
                  <a:rPr lang="en-US" altLang="zh-CN" sz="2400" dirty="0">
                    <a:latin typeface="+mn-ea"/>
                    <a:ea typeface="+mn-ea"/>
                    <a:cs typeface="Times New Roman" pitchFamily="18" charset="0"/>
                  </a:rPr>
                  <a:t>GB</a:t>
                </a:r>
                <a:r>
                  <a:rPr lang="zh-CN" altLang="en-US" sz="2400" dirty="0">
                    <a:latin typeface="+mn-ea"/>
                    <a:ea typeface="+mn-ea"/>
                    <a:cs typeface="Times New Roman" pitchFamily="18" charset="0"/>
                  </a:rPr>
                  <a:t>全线尺寸”，单击</a:t>
                </a:r>
                <a:endParaRPr lang="zh-CN" altLang="en-US" sz="2400" dirty="0">
                  <a:latin typeface="+mn-ea"/>
                  <a:ea typeface="+mn-ea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0D713C8-641F-48BD-900F-ACE8062A0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444" y="1418501"/>
            <a:ext cx="56515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★在</a:t>
            </a:r>
            <a:r>
              <a:rPr lang="en-US" altLang="zh-CN" sz="2800" b="1" dirty="0">
                <a:solidFill>
                  <a:srgbClr val="FF0000"/>
                </a:solidFill>
              </a:rPr>
              <a:t>CAD</a:t>
            </a:r>
            <a:r>
              <a:rPr lang="zh-CN" altLang="en-US" sz="2800" b="1" dirty="0">
                <a:solidFill>
                  <a:srgbClr val="FF0000"/>
                </a:solidFill>
              </a:rPr>
              <a:t>环境中设置尺寸公差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C8E1E8-17CD-4EE8-882B-AFEEB006F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1875840"/>
            <a:ext cx="261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1. </a:t>
            </a:r>
            <a:r>
              <a:rPr lang="zh-CN" altLang="en-US" sz="2400" dirty="0">
                <a:solidFill>
                  <a:srgbClr val="FF0000"/>
                </a:solidFill>
              </a:rPr>
              <a:t>对称式偏差</a:t>
            </a:r>
            <a:r>
              <a:rPr lang="en-US" altLang="zh-CN" sz="2400" dirty="0">
                <a:solidFill>
                  <a:srgbClr val="FF0000"/>
                </a:solidFill>
              </a:rPr>
              <a:t>     </a:t>
            </a:r>
            <a:endParaRPr lang="zh-CN" altLang="en-US" sz="2400" dirty="0"/>
          </a:p>
        </p:txBody>
      </p:sp>
      <p:grpSp>
        <p:nvGrpSpPr>
          <p:cNvPr id="5" name="组合 8">
            <a:extLst>
              <a:ext uri="{FF2B5EF4-FFF2-40B4-BE49-F238E27FC236}">
                <a16:creationId xmlns:a16="http://schemas.microsoft.com/office/drawing/2014/main" id="{5AE0B0FD-0091-4C92-AC2D-65103D0DBF32}"/>
              </a:ext>
            </a:extLst>
          </p:cNvPr>
          <p:cNvGrpSpPr>
            <a:grpSpLocks/>
          </p:cNvGrpSpPr>
          <p:nvPr/>
        </p:nvGrpSpPr>
        <p:grpSpPr bwMode="auto">
          <a:xfrm>
            <a:off x="1780458" y="2796136"/>
            <a:ext cx="4652092" cy="830997"/>
            <a:chOff x="863600" y="2973814"/>
            <a:chExt cx="3937000" cy="830997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C366040B-1044-4781-A83D-0091257D4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600" y="2973814"/>
              <a:ext cx="3937000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r>
                <a:rPr lang="zh-CN" altLang="en-US" sz="2400" dirty="0">
                  <a:latin typeface="+mn-ea"/>
                  <a:ea typeface="+mn-ea"/>
                  <a:cs typeface="Times New Roman" pitchFamily="18" charset="0"/>
                </a:rPr>
                <a:t>在新样式名文本框中输入：</a:t>
              </a:r>
              <a:endParaRPr lang="en-US" altLang="zh-CN" sz="2400" dirty="0">
                <a:latin typeface="+mn-ea"/>
                <a:ea typeface="+mn-ea"/>
                <a:cs typeface="Times New Roman" pitchFamily="18" charset="0"/>
              </a:endParaRPr>
            </a:p>
            <a:p>
              <a:pPr>
                <a:defRPr/>
              </a:pPr>
              <a:r>
                <a:rPr lang="zh-CN" altLang="en-US" sz="2400" dirty="0">
                  <a:latin typeface="+mn-ea"/>
                  <a:ea typeface="+mn-ea"/>
                  <a:cs typeface="Times New Roman" pitchFamily="18" charset="0"/>
                </a:rPr>
                <a:t>“</a:t>
              </a:r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GB</a:t>
              </a:r>
              <a:r>
                <a:rPr lang="zh-CN" altLang="en-US" sz="2400" dirty="0">
                  <a:latin typeface="+mn-ea"/>
                  <a:ea typeface="+mn-ea"/>
                  <a:cs typeface="Times New Roman" pitchFamily="18" charset="0"/>
                </a:rPr>
                <a:t>对称偏差”，点击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pic>
          <p:nvPicPr>
            <p:cNvPr id="7" name="图片 34" descr="jx">
              <a:extLst>
                <a:ext uri="{FF2B5EF4-FFF2-40B4-BE49-F238E27FC236}">
                  <a16:creationId xmlns:a16="http://schemas.microsoft.com/office/drawing/2014/main" id="{01425035-26F1-4735-8D79-428E7A7D87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619500" y="3467100"/>
              <a:ext cx="1104713" cy="288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Rectangle 3">
            <a:extLst>
              <a:ext uri="{FF2B5EF4-FFF2-40B4-BE49-F238E27FC236}">
                <a16:creationId xmlns:a16="http://schemas.microsoft.com/office/drawing/2014/main" id="{4084FC65-1624-4A61-A5B8-E4A462168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4" y="3663734"/>
            <a:ext cx="451348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打开“新标注样式：“</a:t>
            </a:r>
            <a:r>
              <a:rPr lang="en-US" altLang="zh-CN" sz="2000" dirty="0">
                <a:latin typeface="+mn-ea"/>
                <a:ea typeface="+mn-ea"/>
                <a:cs typeface="Times New Roman" pitchFamily="18" charset="0"/>
              </a:rPr>
              <a:t>GB</a:t>
            </a: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对称偏差”对话框。</a:t>
            </a:r>
            <a:r>
              <a:rPr lang="zh-CN" altLang="en-US" sz="2000" dirty="0">
                <a:latin typeface="+mn-ea"/>
                <a:ea typeface="+mn-ea"/>
              </a:rPr>
              <a:t>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56E7A8A-C1F3-4575-A666-F1AA1C740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1088" y="2297870"/>
            <a:ext cx="46414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+mn-ea"/>
                <a:ea typeface="+mn-ea"/>
                <a:cs typeface="Times New Roman" pitchFamily="18" charset="0"/>
              </a:rPr>
              <a:t>打开“创建新标注样式”对话框</a:t>
            </a:r>
            <a:endParaRPr lang="zh-CN" altLang="en-US" sz="2400" dirty="0">
              <a:latin typeface="+mn-ea"/>
              <a:ea typeface="+mn-ea"/>
            </a:endParaRPr>
          </a:p>
        </p:txBody>
      </p:sp>
      <p:pic>
        <p:nvPicPr>
          <p:cNvPr id="10" name="图片 42" descr="14-62">
            <a:extLst>
              <a:ext uri="{FF2B5EF4-FFF2-40B4-BE49-F238E27FC236}">
                <a16:creationId xmlns:a16="http://schemas.microsoft.com/office/drawing/2014/main" id="{47F37295-EB05-40A5-89B1-22ED4B711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9045" y="1557032"/>
            <a:ext cx="4949631" cy="4532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8C60DEF-D3F8-4806-AE8F-D4C12216E42C}"/>
              </a:ext>
            </a:extLst>
          </p:cNvPr>
          <p:cNvSpPr/>
          <p:nvPr/>
        </p:nvSpPr>
        <p:spPr>
          <a:xfrm>
            <a:off x="1780457" y="4519900"/>
            <a:ext cx="4561829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+mn-ea"/>
                <a:ea typeface="+mn-ea"/>
              </a:rPr>
              <a:t>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选择“方式</a:t>
            </a:r>
            <a:r>
              <a:rPr lang="zh-CN" altLang="en-US" sz="2400" dirty="0">
                <a:latin typeface="+mn-ea"/>
                <a:ea typeface="+mn-ea"/>
              </a:rPr>
              <a:t>”下拉列表中的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“对称”</a:t>
            </a:r>
            <a:r>
              <a:rPr lang="zh-CN" altLang="en-US" sz="2400" dirty="0">
                <a:latin typeface="+mn-ea"/>
                <a:ea typeface="+mn-ea"/>
              </a:rPr>
              <a:t>，将“精度”设为“</a:t>
            </a:r>
            <a:r>
              <a:rPr lang="en-US" sz="2400" dirty="0">
                <a:latin typeface="+mn-ea"/>
                <a:ea typeface="+mn-ea"/>
              </a:rPr>
              <a:t>0.000</a:t>
            </a:r>
            <a:r>
              <a:rPr lang="zh-CN" altLang="en-US" sz="2400" dirty="0">
                <a:latin typeface="+mn-ea"/>
                <a:ea typeface="+mn-ea"/>
              </a:rPr>
              <a:t>”，再将“上偏差”设置为“</a:t>
            </a:r>
            <a:r>
              <a:rPr lang="en-US" sz="2400" dirty="0">
                <a:latin typeface="+mn-ea"/>
                <a:ea typeface="+mn-ea"/>
              </a:rPr>
              <a:t>0.01</a:t>
            </a:r>
            <a:r>
              <a:rPr lang="zh-CN" altLang="en-US" sz="2400" dirty="0">
                <a:latin typeface="+mn-ea"/>
                <a:ea typeface="+mn-ea"/>
              </a:rPr>
              <a:t>”，其他设置不变。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EE01E6-9F77-412D-A68F-4570FA8BA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609" y="367302"/>
            <a:ext cx="5143500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1620000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绘制零件图</a:t>
            </a:r>
          </a:p>
        </p:txBody>
      </p:sp>
    </p:spTree>
    <p:extLst>
      <p:ext uri="{BB962C8B-B14F-4D97-AF65-F5344CB8AC3E}">
        <p14:creationId xmlns:p14="http://schemas.microsoft.com/office/powerpoint/2010/main" val="359468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">
            <a:extLst>
              <a:ext uri="{FF2B5EF4-FFF2-40B4-BE49-F238E27FC236}">
                <a16:creationId xmlns:a16="http://schemas.microsoft.com/office/drawing/2014/main" id="{60F56F8D-6587-4981-A619-E2111C5DF33E}"/>
              </a:ext>
            </a:extLst>
          </p:cNvPr>
          <p:cNvGrpSpPr>
            <a:grpSpLocks/>
          </p:cNvGrpSpPr>
          <p:nvPr/>
        </p:nvGrpSpPr>
        <p:grpSpPr bwMode="auto">
          <a:xfrm>
            <a:off x="1356891" y="1974233"/>
            <a:ext cx="4381500" cy="461963"/>
            <a:chOff x="381000" y="1511300"/>
            <a:chExt cx="4838700" cy="46166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047937B-9BC0-49C0-AE1B-08FC59E70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1511300"/>
              <a:ext cx="48387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2. 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不对称偏差。例如：</a:t>
              </a:r>
              <a:endParaRPr lang="zh-CN" altLang="en-US" sz="2400" dirty="0">
                <a:solidFill>
                  <a:srgbClr val="FF0000"/>
                </a:solidFill>
                <a:cs typeface="Times New Roman" pitchFamily="18" charset="0"/>
              </a:endParaRPr>
            </a:p>
          </p:txBody>
        </p:sp>
        <p:graphicFrame>
          <p:nvGraphicFramePr>
            <p:cNvPr id="4" name="对象 38">
              <a:extLst>
                <a:ext uri="{FF2B5EF4-FFF2-40B4-BE49-F238E27FC236}">
                  <a16:creationId xmlns:a16="http://schemas.microsoft.com/office/drawing/2014/main" id="{4EE88ED1-B50C-4200-89B1-9A801DB6FA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6833" y="1535530"/>
            <a:ext cx="927100" cy="406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7" name="Equation" r:id="rId3" imgW="545863" imgH="241195" progId="Equation.3">
                    <p:embed/>
                  </p:oleObj>
                </mc:Choice>
                <mc:Fallback>
                  <p:oleObj name="Equation" r:id="rId3" imgW="545863" imgH="241195" progId="Equation.3">
                    <p:embed/>
                    <p:pic>
                      <p:nvPicPr>
                        <p:cNvPr id="17422" name="对象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6833" y="1535530"/>
                          <a:ext cx="927100" cy="4066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0F1638E4-FA0A-4CF9-8643-80AD6411B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520" y="1411427"/>
            <a:ext cx="56515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★在</a:t>
            </a:r>
            <a:r>
              <a:rPr lang="en-US" altLang="zh-CN" sz="2800" b="1" dirty="0">
                <a:solidFill>
                  <a:srgbClr val="FF0000"/>
                </a:solidFill>
              </a:rPr>
              <a:t>CAD</a:t>
            </a:r>
            <a:r>
              <a:rPr lang="zh-CN" altLang="en-US" sz="2800" b="1" dirty="0">
                <a:solidFill>
                  <a:srgbClr val="FF0000"/>
                </a:solidFill>
              </a:rPr>
              <a:t>环境中设置尺寸公差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4DD40F4-620A-4FBE-B108-6CF47156E513}"/>
              </a:ext>
            </a:extLst>
          </p:cNvPr>
          <p:cNvGrpSpPr>
            <a:grpSpLocks/>
          </p:cNvGrpSpPr>
          <p:nvPr/>
        </p:nvGrpSpPr>
        <p:grpSpPr bwMode="auto">
          <a:xfrm>
            <a:off x="1308100" y="3010828"/>
            <a:ext cx="5543994" cy="830997"/>
            <a:chOff x="863600" y="2973826"/>
            <a:chExt cx="4356100" cy="830834"/>
          </a:xfrm>
        </p:grpSpPr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A130387A-6939-46BE-903A-86DE2509C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600" y="2973826"/>
              <a:ext cx="4356100" cy="8308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r>
                <a:rPr lang="zh-CN" altLang="en-US" sz="2400" dirty="0">
                  <a:latin typeface="+mn-ea"/>
                  <a:ea typeface="+mn-ea"/>
                  <a:cs typeface="Times New Roman" pitchFamily="18" charset="0"/>
                </a:rPr>
                <a:t>在新样式名文本框中输入：</a:t>
              </a:r>
              <a:endParaRPr lang="en-US" altLang="zh-CN" sz="2400" dirty="0">
                <a:latin typeface="+mn-ea"/>
                <a:ea typeface="+mn-ea"/>
                <a:cs typeface="Times New Roman" pitchFamily="18" charset="0"/>
              </a:endParaRPr>
            </a:p>
            <a:p>
              <a:pPr>
                <a:defRPr/>
              </a:pPr>
              <a:r>
                <a:rPr lang="zh-CN" altLang="en-US" sz="2400" dirty="0">
                  <a:latin typeface="+mn-ea"/>
                  <a:ea typeface="+mn-ea"/>
                  <a:cs typeface="Times New Roman" pitchFamily="18" charset="0"/>
                </a:rPr>
                <a:t>“</a:t>
              </a:r>
              <a:r>
                <a:rPr lang="en-US" altLang="zh-CN" sz="2400" dirty="0">
                  <a:latin typeface="+mn-ea"/>
                  <a:ea typeface="+mn-ea"/>
                  <a:cs typeface="Times New Roman" pitchFamily="18" charset="0"/>
                </a:rPr>
                <a:t>GB</a:t>
              </a:r>
              <a:r>
                <a:rPr lang="zh-CN" altLang="en-US" sz="2400" dirty="0">
                  <a:latin typeface="+mn-ea"/>
                  <a:ea typeface="+mn-ea"/>
                  <a:cs typeface="Times New Roman" pitchFamily="18" charset="0"/>
                </a:rPr>
                <a:t>不对称偏差”，点击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pic>
          <p:nvPicPr>
            <p:cNvPr id="10" name="图片 34" descr="jx">
              <a:extLst>
                <a:ext uri="{FF2B5EF4-FFF2-40B4-BE49-F238E27FC236}">
                  <a16:creationId xmlns:a16="http://schemas.microsoft.com/office/drawing/2014/main" id="{B8910911-85B4-40D3-8740-A63D8EBD19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724141" y="3454936"/>
              <a:ext cx="1104713" cy="288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" name="Rectangle 2">
            <a:extLst>
              <a:ext uri="{FF2B5EF4-FFF2-40B4-BE49-F238E27FC236}">
                <a16:creationId xmlns:a16="http://schemas.microsoft.com/office/drawing/2014/main" id="{920E8625-4C15-478A-9A7B-295BE5BA7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100" y="2533600"/>
            <a:ext cx="4787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+mn-ea"/>
                <a:ea typeface="+mn-ea"/>
                <a:cs typeface="Times New Roman" pitchFamily="18" charset="0"/>
              </a:rPr>
              <a:t>打开“创建新标注样式”对话框</a:t>
            </a:r>
            <a:endParaRPr lang="zh-CN" altLang="en-US" sz="2400" dirty="0">
              <a:latin typeface="+mn-ea"/>
              <a:ea typeface="+mn-ea"/>
            </a:endParaRPr>
          </a:p>
        </p:txBody>
      </p:sp>
      <p:pic>
        <p:nvPicPr>
          <p:cNvPr id="12" name="图片 43" descr="14-63">
            <a:extLst>
              <a:ext uri="{FF2B5EF4-FFF2-40B4-BE49-F238E27FC236}">
                <a16:creationId xmlns:a16="http://schemas.microsoft.com/office/drawing/2014/main" id="{968E0DA7-528C-41BF-A46E-ECEFF0451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694015" y="1594794"/>
            <a:ext cx="4906753" cy="44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11D5F4F6-FE96-4670-828D-B1E45B459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100" y="3841618"/>
            <a:ext cx="530692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+mn-ea"/>
                <a:ea typeface="+mn-ea"/>
                <a:cs typeface="Times New Roman" pitchFamily="18" charset="0"/>
              </a:rPr>
              <a:t>打开“新标注样式：“</a:t>
            </a:r>
            <a:r>
              <a:rPr lang="en-US" altLang="zh-CN" sz="2400" dirty="0">
                <a:latin typeface="+mn-ea"/>
                <a:ea typeface="+mn-ea"/>
                <a:cs typeface="Times New Roman" pitchFamily="18" charset="0"/>
              </a:rPr>
              <a:t>GB</a:t>
            </a:r>
            <a:r>
              <a:rPr lang="zh-CN" altLang="en-US" sz="2400" dirty="0">
                <a:latin typeface="+mn-ea"/>
                <a:ea typeface="+mn-ea"/>
                <a:cs typeface="Times New Roman" pitchFamily="18" charset="0"/>
              </a:rPr>
              <a:t>不对称偏差”对话框。</a:t>
            </a:r>
            <a:r>
              <a:rPr lang="zh-CN" altLang="en-US" sz="2400" dirty="0">
                <a:latin typeface="+mn-ea"/>
                <a:ea typeface="+mn-ea"/>
              </a:rPr>
              <a:t>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0F352D3-2702-4451-9F6A-DAF235A79A77}"/>
              </a:ext>
            </a:extLst>
          </p:cNvPr>
          <p:cNvSpPr/>
          <p:nvPr/>
        </p:nvSpPr>
        <p:spPr>
          <a:xfrm>
            <a:off x="942656" y="4731270"/>
            <a:ext cx="5651500" cy="163121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选择“方式”下拉列表中的“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极限偏差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”，将“精度”设为“</a:t>
            </a:r>
            <a:r>
              <a:rPr lang="en-US" sz="2000" dirty="0">
                <a:solidFill>
                  <a:schemeClr val="tx1"/>
                </a:solidFill>
                <a:latin typeface="+mn-ea"/>
                <a:ea typeface="+mn-ea"/>
              </a:rPr>
              <a:t>0.000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”，再将“上偏差”设置为“</a:t>
            </a:r>
            <a:r>
              <a:rPr lang="en-US" sz="2000" dirty="0">
                <a:solidFill>
                  <a:schemeClr val="tx1"/>
                </a:solidFill>
                <a:latin typeface="+mn-ea"/>
                <a:ea typeface="+mn-ea"/>
              </a:rPr>
              <a:t>-0.025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”，“下偏差”设置为“</a:t>
            </a:r>
            <a:r>
              <a:rPr lang="en-US" sz="2000" dirty="0">
                <a:solidFill>
                  <a:schemeClr val="tx1"/>
                </a:solidFill>
                <a:latin typeface="+mn-ea"/>
                <a:ea typeface="+mn-ea"/>
              </a:rPr>
              <a:t>0.05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”， 注意：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“下偏差”的值本身带有“</a:t>
            </a:r>
            <a:r>
              <a:rPr lang="en-US" sz="2000" dirty="0">
                <a:solidFill>
                  <a:srgbClr val="FF0000"/>
                </a:solidFill>
                <a:latin typeface="+mn-ea"/>
                <a:ea typeface="+mn-ea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号。“高度比例（</a:t>
            </a:r>
            <a:r>
              <a:rPr lang="en-US" sz="2000" dirty="0">
                <a:solidFill>
                  <a:schemeClr val="tx1"/>
                </a:solidFill>
                <a:latin typeface="+mn-ea"/>
                <a:ea typeface="+mn-ea"/>
              </a:rPr>
              <a:t>H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）”设为“</a:t>
            </a:r>
            <a:r>
              <a:rPr lang="en-US" sz="2000" dirty="0">
                <a:solidFill>
                  <a:schemeClr val="tx1"/>
                </a:solidFill>
                <a:latin typeface="+mn-ea"/>
                <a:ea typeface="+mn-ea"/>
              </a:rPr>
              <a:t>0.7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”。其他设置不变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D348589-35D2-4D7B-BA85-B3E848C704D7}"/>
              </a:ext>
            </a:extLst>
          </p:cNvPr>
          <p:cNvSpPr/>
          <p:nvPr/>
        </p:nvSpPr>
        <p:spPr bwMode="auto">
          <a:xfrm>
            <a:off x="6852094" y="2276872"/>
            <a:ext cx="2376254" cy="25672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8882232-C6BE-4EB0-BD56-8DC37BB874DF}"/>
              </a:ext>
            </a:extLst>
          </p:cNvPr>
          <p:cNvSpPr/>
          <p:nvPr/>
        </p:nvSpPr>
        <p:spPr bwMode="auto">
          <a:xfrm>
            <a:off x="6852094" y="2568163"/>
            <a:ext cx="2376254" cy="25672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A8BE801-FDC2-4F54-BE24-3EC6618AA847}"/>
              </a:ext>
            </a:extLst>
          </p:cNvPr>
          <p:cNvSpPr/>
          <p:nvPr/>
        </p:nvSpPr>
        <p:spPr bwMode="auto">
          <a:xfrm>
            <a:off x="6850177" y="2855194"/>
            <a:ext cx="2376254" cy="25672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7286D37-AC30-4FA9-89FA-6C128C09C05B}"/>
              </a:ext>
            </a:extLst>
          </p:cNvPr>
          <p:cNvSpPr/>
          <p:nvPr/>
        </p:nvSpPr>
        <p:spPr bwMode="auto">
          <a:xfrm>
            <a:off x="6850177" y="3176788"/>
            <a:ext cx="2376254" cy="25672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FE53399-F0B7-4F50-8FC6-EB6FBDC6D15D}"/>
              </a:ext>
            </a:extLst>
          </p:cNvPr>
          <p:cNvSpPr/>
          <p:nvPr/>
        </p:nvSpPr>
        <p:spPr bwMode="auto">
          <a:xfrm>
            <a:off x="6865965" y="3495299"/>
            <a:ext cx="2376254" cy="25672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1EE01E6-9F77-412D-A68F-4570FA8BA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609" y="367302"/>
            <a:ext cx="5143500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1620000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绘制零件图</a:t>
            </a:r>
          </a:p>
        </p:txBody>
      </p:sp>
    </p:spTree>
    <p:extLst>
      <p:ext uri="{BB962C8B-B14F-4D97-AF65-F5344CB8AC3E}">
        <p14:creationId xmlns:p14="http://schemas.microsoft.com/office/powerpoint/2010/main" val="2839723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6000"/>
                            </p:stCondLst>
                            <p:childTnLst>
                              <p:par>
                                <p:cTn id="4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000"/>
                            </p:stCondLst>
                            <p:childTnLst>
                              <p:par>
                                <p:cTn id="4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 animBg="1"/>
      <p:bldP spid="15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">
            <a:extLst>
              <a:ext uri="{FF2B5EF4-FFF2-40B4-BE49-F238E27FC236}">
                <a16:creationId xmlns:a16="http://schemas.microsoft.com/office/drawing/2014/main" id="{60F56F8D-6587-4981-A619-E2111C5DF33E}"/>
              </a:ext>
            </a:extLst>
          </p:cNvPr>
          <p:cNvGrpSpPr>
            <a:grpSpLocks/>
          </p:cNvGrpSpPr>
          <p:nvPr/>
        </p:nvGrpSpPr>
        <p:grpSpPr bwMode="auto">
          <a:xfrm>
            <a:off x="1356891" y="1974233"/>
            <a:ext cx="4381500" cy="461963"/>
            <a:chOff x="381000" y="1511300"/>
            <a:chExt cx="4838700" cy="46166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047937B-9BC0-49C0-AE1B-08FC59E70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1511300"/>
              <a:ext cx="48387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2. 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不对称偏差。例如：</a:t>
              </a:r>
              <a:endParaRPr lang="zh-CN" altLang="en-US" sz="2400" dirty="0">
                <a:solidFill>
                  <a:srgbClr val="FF0000"/>
                </a:solidFill>
                <a:cs typeface="Times New Roman" pitchFamily="18" charset="0"/>
              </a:endParaRPr>
            </a:p>
          </p:txBody>
        </p:sp>
        <p:graphicFrame>
          <p:nvGraphicFramePr>
            <p:cNvPr id="4" name="对象 38">
              <a:extLst>
                <a:ext uri="{FF2B5EF4-FFF2-40B4-BE49-F238E27FC236}">
                  <a16:creationId xmlns:a16="http://schemas.microsoft.com/office/drawing/2014/main" id="{4EE88ED1-B50C-4200-89B1-9A801DB6FA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6833" y="1535530"/>
            <a:ext cx="927100" cy="406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3" name="Equation" r:id="rId3" imgW="545863" imgH="241195" progId="Equation.3">
                    <p:embed/>
                  </p:oleObj>
                </mc:Choice>
                <mc:Fallback>
                  <p:oleObj name="Equation" r:id="rId3" imgW="545863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6833" y="1535530"/>
                          <a:ext cx="927100" cy="4066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0F1638E4-FA0A-4CF9-8643-80AD6411B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520" y="1411427"/>
            <a:ext cx="56515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★在</a:t>
            </a:r>
            <a:r>
              <a:rPr lang="en-US" altLang="zh-CN" sz="2800" b="1" dirty="0">
                <a:solidFill>
                  <a:srgbClr val="FF0000"/>
                </a:solidFill>
              </a:rPr>
              <a:t>CAD</a:t>
            </a:r>
            <a:r>
              <a:rPr lang="zh-CN" altLang="en-US" sz="2800" b="1" dirty="0">
                <a:solidFill>
                  <a:srgbClr val="FF0000"/>
                </a:solidFill>
              </a:rPr>
              <a:t>环境中设置尺寸公差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20E8625-4C15-478A-9A7B-295BE5BA7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608" y="2410204"/>
            <a:ext cx="3468683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    在标注尺寸时，当系统出现“指定尺寸线位置”</a:t>
            </a:r>
            <a:r>
              <a:rPr lang="zh-CN" altLang="en-US" sz="2000" dirty="0">
                <a:latin typeface="+mn-ea"/>
                <a:cs typeface="Times New Roman" pitchFamily="18" charset="0"/>
              </a:rPr>
              <a:t>提示</a:t>
            </a: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时，键盘输入字母</a:t>
            </a:r>
            <a:r>
              <a:rPr lang="en-US" altLang="zh-CN" sz="2000" dirty="0">
                <a:latin typeface="+mn-ea"/>
                <a:ea typeface="+mn-ea"/>
                <a:cs typeface="Times New Roman" pitchFamily="18" charset="0"/>
              </a:rPr>
              <a:t>T,</a:t>
            </a: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回车，在输入框内输入：</a:t>
            </a:r>
            <a:endParaRPr lang="en-US" altLang="zh-CN" sz="2000" dirty="0">
              <a:latin typeface="+mn-ea"/>
              <a:ea typeface="+mn-ea"/>
              <a:cs typeface="Times New Roman" pitchFamily="18" charset="0"/>
            </a:endParaRPr>
          </a:p>
          <a:p>
            <a:pPr>
              <a:defRPr/>
            </a:pPr>
            <a:r>
              <a:rPr lang="en-US" altLang="zh-CN" sz="2000" dirty="0">
                <a:latin typeface="+mn-ea"/>
                <a:ea typeface="+mn-ea"/>
                <a:cs typeface="Times New Roman" pitchFamily="18" charset="0"/>
              </a:rPr>
              <a:t>%%C50-0.025^-0.050</a:t>
            </a:r>
            <a:r>
              <a:rPr lang="zh-CN" altLang="en-US" sz="2000" dirty="0">
                <a:latin typeface="+mn-ea"/>
                <a:ea typeface="+mn-ea"/>
                <a:cs typeface="Times New Roman" pitchFamily="18" charset="0"/>
              </a:rPr>
              <a:t>后回车。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1EE01E6-9F77-412D-A68F-4570FA8BA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609" y="367302"/>
            <a:ext cx="5143500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1620000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绘制零件图</a:t>
            </a: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920E8625-4C15-478A-9A7B-295BE5BA7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608" y="4162360"/>
            <a:ext cx="430818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+mn-ea"/>
                <a:ea typeface="+mn-ea"/>
              </a:rPr>
              <a:t>双击该尺寸，将</a:t>
            </a:r>
            <a:r>
              <a:rPr lang="en-US" altLang="zh-CN" sz="2000" dirty="0">
                <a:latin typeface="+mn-ea"/>
                <a:ea typeface="+mn-ea"/>
              </a:rPr>
              <a:t>-0.025^-0.050</a:t>
            </a:r>
            <a:r>
              <a:rPr lang="zh-CN" altLang="en-US" sz="2000" dirty="0">
                <a:latin typeface="+mn-ea"/>
                <a:ea typeface="+mn-ea"/>
              </a:rPr>
              <a:t>选中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6791" y="2436196"/>
            <a:ext cx="5674781" cy="384827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6791" y="2394572"/>
            <a:ext cx="6105894" cy="4077078"/>
          </a:xfrm>
          <a:prstGeom prst="rect">
            <a:avLst/>
          </a:prstGeom>
        </p:spPr>
      </p:pic>
      <p:sp>
        <p:nvSpPr>
          <p:cNvPr id="25" name="Rectangle 2">
            <a:extLst>
              <a:ext uri="{FF2B5EF4-FFF2-40B4-BE49-F238E27FC236}">
                <a16:creationId xmlns:a16="http://schemas.microsoft.com/office/drawing/2014/main" id="{920E8625-4C15-478A-9A7B-295BE5BA7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607" y="4638318"/>
            <a:ext cx="430818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+mn-ea"/>
                <a:ea typeface="+mn-ea"/>
              </a:rPr>
              <a:t>在常用工具栏的“格式”中选择“</a:t>
            </a:r>
            <a:r>
              <a:rPr lang="en-US" altLang="zh-CN" sz="2000" dirty="0">
                <a:latin typeface="+mn-ea"/>
                <a:ea typeface="+mn-ea"/>
              </a:rPr>
              <a:t>a/b</a:t>
            </a:r>
            <a:r>
              <a:rPr lang="zh-CN" altLang="en-US" sz="2000" dirty="0">
                <a:latin typeface="+mn-ea"/>
                <a:ea typeface="+mn-ea"/>
              </a:rPr>
              <a:t>”堆叠。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4161" y="2387222"/>
            <a:ext cx="6105895" cy="4150938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1532" y="2386710"/>
            <a:ext cx="6108524" cy="4459730"/>
          </a:xfrm>
          <a:prstGeom prst="rect">
            <a:avLst/>
          </a:prstGeom>
        </p:spPr>
      </p:pic>
      <p:sp>
        <p:nvSpPr>
          <p:cNvPr id="28" name="Rectangle 2">
            <a:extLst>
              <a:ext uri="{FF2B5EF4-FFF2-40B4-BE49-F238E27FC236}">
                <a16:creationId xmlns:a16="http://schemas.microsoft.com/office/drawing/2014/main" id="{920E8625-4C15-478A-9A7B-295BE5BA7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49" y="5439635"/>
            <a:ext cx="430818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+mn-ea"/>
                <a:ea typeface="+mn-ea"/>
              </a:rPr>
              <a:t>回车确认，完成标注。</a:t>
            </a:r>
          </a:p>
        </p:txBody>
      </p:sp>
    </p:spTree>
    <p:extLst>
      <p:ext uri="{BB962C8B-B14F-4D97-AF65-F5344CB8AC3E}">
        <p14:creationId xmlns:p14="http://schemas.microsoft.com/office/powerpoint/2010/main" val="272667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2" grpId="0"/>
      <p:bldP spid="25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id="{0C873225-D7D0-4991-8B98-3A6D22C18C05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54039" y="788342"/>
            <a:ext cx="8345488" cy="128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2800">
                <a:solidFill>
                  <a:schemeClr val="tx1"/>
                </a:solidFill>
              </a:rPr>
              <a:t>利用</a:t>
            </a:r>
            <a:r>
              <a:rPr lang="en-US" altLang="zh-CN" sz="2800">
                <a:solidFill>
                  <a:schemeClr val="tx1"/>
                </a:solidFill>
              </a:rPr>
              <a:t>AutoCAD</a:t>
            </a:r>
            <a:r>
              <a:rPr lang="zh-CN" altLang="en-US" sz="2800">
                <a:solidFill>
                  <a:schemeClr val="tx1"/>
                </a:solidFill>
              </a:rPr>
              <a:t>标注对称式偏差</a:t>
            </a:r>
            <a:r>
              <a:rPr lang="en-US" altLang="zh-CN" sz="2800">
                <a:solidFill>
                  <a:schemeClr val="tx1"/>
                </a:solidFill>
              </a:rPr>
              <a:t>,</a:t>
            </a:r>
            <a:r>
              <a:rPr lang="zh-CN" altLang="en-US" sz="2800">
                <a:solidFill>
                  <a:schemeClr val="tx1"/>
                </a:solidFill>
              </a:rPr>
              <a:t>例如“</a:t>
            </a:r>
            <a:r>
              <a:rPr lang="en-US" altLang="zh-CN" sz="2800">
                <a:solidFill>
                  <a:schemeClr val="tx1"/>
                </a:solidFill>
              </a:rPr>
              <a:t>50±0.01</a:t>
            </a:r>
            <a:r>
              <a:rPr lang="zh-CN" altLang="en-US" sz="2800">
                <a:solidFill>
                  <a:schemeClr val="tx1"/>
                </a:solidFill>
              </a:rPr>
              <a:t>”。</a:t>
            </a:r>
          </a:p>
        </p:txBody>
      </p:sp>
      <p:sp>
        <p:nvSpPr>
          <p:cNvPr id="3" name="文本框 3">
            <a:extLst>
              <a:ext uri="{FF2B5EF4-FFF2-40B4-BE49-F238E27FC236}">
                <a16:creationId xmlns:a16="http://schemas.microsoft.com/office/drawing/2014/main" id="{3CEF5870-2AFA-4187-8EAF-8318758539FE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71664" y="2426642"/>
            <a:ext cx="660717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直接标注。</a:t>
            </a: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执行命令后输入：“</a:t>
            </a: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50%%p0.01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</a:t>
            </a:r>
            <a:endParaRPr kumimoji="0" lang="zh-CN" altLang="en-US" sz="2400">
              <a:solidFill>
                <a:schemeClr val="tx1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BAC2AA-597D-4A15-81B6-D9B9E7996CC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071664" y="3291830"/>
            <a:ext cx="7027863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直接标注。</a:t>
            </a:r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执行命令后输入：</a:t>
            </a:r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50%%p0.01</a:t>
            </a:r>
            <a:endParaRPr kumimoji="0" lang="zh-CN" altLang="en-US" sz="2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5" name="文本框 5">
            <a:extLst>
              <a:ext uri="{FF2B5EF4-FFF2-40B4-BE49-F238E27FC236}">
                <a16:creationId xmlns:a16="http://schemas.microsoft.com/office/drawing/2014/main" id="{7E6E3946-E88C-4897-BE0E-F87528B22774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71664" y="4149080"/>
            <a:ext cx="64008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直接标注。</a:t>
            </a: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执行命令后输入：</a:t>
            </a: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50</a:t>
            </a:r>
            <a:r>
              <a:rPr lang="en-US" altLang="zh-CN" sz="2400">
                <a:solidFill>
                  <a:schemeClr val="tx1"/>
                </a:solidFill>
              </a:rPr>
              <a:t>±</a:t>
            </a: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%%p0.01</a:t>
            </a:r>
            <a:endParaRPr kumimoji="0" lang="zh-CN" altLang="en-US" sz="2400">
              <a:solidFill>
                <a:schemeClr val="tx1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6" name="椭圆 7">
            <a:extLst>
              <a:ext uri="{FF2B5EF4-FFF2-40B4-BE49-F238E27FC236}">
                <a16:creationId xmlns:a16="http://schemas.microsoft.com/office/drawing/2014/main" id="{B59A4D10-08E5-41F3-AFD7-323796489FCF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2357289" y="2498080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7" name="椭圆 8">
            <a:extLst>
              <a:ext uri="{FF2B5EF4-FFF2-40B4-BE49-F238E27FC236}">
                <a16:creationId xmlns:a16="http://schemas.microsoft.com/office/drawing/2014/main" id="{F6633990-BCBB-4CCC-B6AE-98FD5E9E528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357289" y="3355330"/>
            <a:ext cx="514350" cy="514350"/>
          </a:xfrm>
          <a:prstGeom prst="ellipse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8" name="椭圆 9">
            <a:extLst>
              <a:ext uri="{FF2B5EF4-FFF2-40B4-BE49-F238E27FC236}">
                <a16:creationId xmlns:a16="http://schemas.microsoft.com/office/drawing/2014/main" id="{563FB5C8-9DD7-4E2E-97DE-1E782118D59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357289" y="4212580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9" name="圆角矩形 11">
            <a:extLst>
              <a:ext uri="{FF2B5EF4-FFF2-40B4-BE49-F238E27FC236}">
                <a16:creationId xmlns:a16="http://schemas.microsoft.com/office/drawing/2014/main" id="{B1DFFCF8-DE43-4E11-A076-8110F48F42D9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415064" y="5863580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grpSp>
        <p:nvGrpSpPr>
          <p:cNvPr id="10" name="组合 16">
            <a:extLst>
              <a:ext uri="{FF2B5EF4-FFF2-40B4-BE49-F238E27FC236}">
                <a16:creationId xmlns:a16="http://schemas.microsoft.com/office/drawing/2014/main" id="{37C891F4-1726-4113-A922-3F6180BB77FB}"/>
              </a:ext>
            </a:extLst>
          </p:cNvPr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0" y="0"/>
            <a:ext cx="9144000" cy="635000"/>
            <a:chOff x="-1242864" y="351483"/>
            <a:chExt cx="9144000" cy="635000"/>
          </a:xfrm>
        </p:grpSpPr>
        <p:sp>
          <p:nvSpPr>
            <p:cNvPr id="11" name="TitleBackground">
              <a:extLst>
                <a:ext uri="{FF2B5EF4-FFF2-40B4-BE49-F238E27FC236}">
                  <a16:creationId xmlns:a16="http://schemas.microsoft.com/office/drawing/2014/main" id="{4EB6FE5D-0A6D-4F2C-B3AB-D39DA843FA54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-1242864" y="351483"/>
              <a:ext cx="9144000" cy="635000"/>
            </a:xfrm>
            <a:prstGeom prst="rect">
              <a:avLst/>
            </a:prstGeom>
            <a:solidFill>
              <a:srgbClr val="F6F7F8"/>
            </a:soli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ColorBlock">
              <a:extLst>
                <a:ext uri="{FF2B5EF4-FFF2-40B4-BE49-F238E27FC236}">
                  <a16:creationId xmlns:a16="http://schemas.microsoft.com/office/drawing/2014/main" id="{42D08C5B-F07B-4B0F-806F-DAF2994EBC3B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-1242864" y="351483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TypeText">
              <a:extLst>
                <a:ext uri="{FF2B5EF4-FFF2-40B4-BE49-F238E27FC236}">
                  <a16:creationId xmlns:a16="http://schemas.microsoft.com/office/drawing/2014/main" id="{F551D238-DC35-4FFF-9594-830072954FD4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-988864" y="351483"/>
              <a:ext cx="1905000" cy="635000"/>
            </a:xfrm>
            <a:prstGeom prst="rect">
              <a:avLst/>
            </a:prstGeom>
          </p:spPr>
          <p:txBody>
            <a:bodyPr wrap="none" anchor="ctr"/>
            <a:lstStyle/>
            <a:p>
              <a:pPr fontAlgn="auto">
                <a:spcAft>
                  <a:spcPts val="0"/>
                </a:spcAft>
                <a:defRPr/>
              </a:pPr>
              <a:r>
                <a:rPr kumimoji="0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单选题</a:t>
              </a:r>
              <a:endParaRPr kumimoji="0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4" name="TipText">
              <a:extLst>
                <a:ext uri="{FF2B5EF4-FFF2-40B4-BE49-F238E27FC236}">
                  <a16:creationId xmlns:a16="http://schemas.microsoft.com/office/drawing/2014/main" id="{628E2925-C039-498B-89D4-8FEE5F65CEAE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83041" y="460703"/>
              <a:ext cx="2286000" cy="508000"/>
            </a:xfrm>
            <a:prstGeom prst="rect">
              <a:avLst/>
            </a:prstGeom>
          </p:spPr>
          <p:txBody>
            <a:bodyPr wrap="none" anchor="ctr"/>
            <a:lstStyle/>
            <a:p>
              <a:pPr fontAlgn="auto">
                <a:spcAft>
                  <a:spcPts val="0"/>
                </a:spcAft>
                <a:defRPr/>
              </a:pPr>
              <a:r>
                <a:rPr kumimoji="0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kumimoji="0"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15" name="图片 1">
            <a:extLst>
              <a:ext uri="{FF2B5EF4-FFF2-40B4-BE49-F238E27FC236}">
                <a16:creationId xmlns:a16="http://schemas.microsoft.com/office/drawing/2014/main" id="{618719EF-65CC-42E3-9A88-E274D4517362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/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03256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0AFCE23-36D2-4D00-9EC3-D8F909A80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187" y="1311945"/>
            <a:ext cx="2159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★图块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8764058-BB4D-435E-BC56-F95F634F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52786" y="2560511"/>
            <a:ext cx="6832625" cy="570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91C79C7-7FBE-4393-A39F-B1B1DCB1D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687" y="1845903"/>
            <a:ext cx="292186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1. </a:t>
            </a:r>
            <a:r>
              <a:rPr lang="zh-CN" altLang="en-US" sz="2400" b="1" dirty="0">
                <a:solidFill>
                  <a:schemeClr val="tx1"/>
                </a:solidFill>
              </a:rPr>
              <a:t>创建图块</a:t>
            </a:r>
          </a:p>
          <a:p>
            <a:pPr fontAlgn="ctr"/>
            <a:r>
              <a:rPr lang="en-US" altLang="zh-CN" sz="2400" b="1" dirty="0">
                <a:solidFill>
                  <a:schemeClr val="tx1"/>
                </a:solidFill>
              </a:rPr>
              <a:t>  (1) </a:t>
            </a:r>
            <a:r>
              <a:rPr lang="zh-CN" altLang="en-US" sz="2400" b="1" dirty="0">
                <a:solidFill>
                  <a:schemeClr val="tx1"/>
                </a:solidFill>
              </a:rPr>
              <a:t>块（</a:t>
            </a:r>
            <a:r>
              <a:rPr lang="en-US" altLang="zh-CN" sz="2400" b="1" dirty="0">
                <a:solidFill>
                  <a:schemeClr val="tx1"/>
                </a:solidFill>
              </a:rPr>
              <a:t>Block</a:t>
            </a:r>
            <a:r>
              <a:rPr lang="zh-CN" altLang="en-US" sz="2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C9F966-FC0F-43A2-BABF-61366C8F6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9404" y="3199185"/>
            <a:ext cx="28921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(2)</a:t>
            </a:r>
            <a:r>
              <a:rPr lang="zh-CN" altLang="en-US" sz="2400" b="1" dirty="0">
                <a:solidFill>
                  <a:schemeClr val="tx1"/>
                </a:solidFill>
              </a:rPr>
              <a:t>写块（</a:t>
            </a:r>
            <a:r>
              <a:rPr lang="en-US" altLang="zh-CN" sz="2400" b="1" dirty="0" err="1">
                <a:solidFill>
                  <a:schemeClr val="tx1"/>
                </a:solidFill>
              </a:rPr>
              <a:t>Wblock</a:t>
            </a:r>
            <a:r>
              <a:rPr lang="zh-CN" altLang="en-US" sz="2400" b="1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3FBEC1-D124-418F-90F8-51C9D05FD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7099" y="3899781"/>
            <a:ext cx="4572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2. </a:t>
            </a:r>
            <a:r>
              <a:rPr lang="zh-CN" altLang="en-US" sz="2800" b="1" dirty="0">
                <a:solidFill>
                  <a:schemeClr val="tx1"/>
                </a:solidFill>
              </a:rPr>
              <a:t>图块插入命令（</a:t>
            </a:r>
            <a:r>
              <a:rPr lang="en-US" altLang="zh-CN" sz="2800" b="1" dirty="0">
                <a:solidFill>
                  <a:schemeClr val="tx1"/>
                </a:solidFill>
              </a:rPr>
              <a:t>Insert</a:t>
            </a:r>
            <a:r>
              <a:rPr lang="zh-CN" altLang="en-US" sz="2800" b="1" dirty="0">
                <a:solidFill>
                  <a:schemeClr val="tx1"/>
                </a:solidFill>
              </a:rPr>
              <a:t>）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7D753C93-2A2E-4E0B-9FC7-A93DD8274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62286" y="4429650"/>
            <a:ext cx="5546871" cy="570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B60378B-1CCB-4341-9C3D-BF2333BF9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0207" y="5181616"/>
            <a:ext cx="26981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★标注表面结构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D98074A2-CC31-4042-A3BC-70666F947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534" y="5157716"/>
            <a:ext cx="29706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+mn-ea"/>
                <a:ea typeface="+mn-ea"/>
                <a:cs typeface="Times New Roman" pitchFamily="18" charset="0"/>
              </a:rPr>
              <a:t>1.</a:t>
            </a:r>
            <a:r>
              <a:rPr lang="zh-CN" altLang="en-US" sz="2400" b="1" dirty="0">
                <a:latin typeface="+mn-ea"/>
                <a:ea typeface="+mn-ea"/>
                <a:cs typeface="Times New Roman" pitchFamily="18" charset="0"/>
              </a:rPr>
              <a:t>绘制表面结构符号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599089-AD07-47C8-978A-D2AA2771F188}"/>
              </a:ext>
            </a:extLst>
          </p:cNvPr>
          <p:cNvSpPr/>
          <p:nvPr/>
        </p:nvSpPr>
        <p:spPr>
          <a:xfrm>
            <a:off x="4726094" y="5566420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n-ea"/>
                <a:ea typeface="+mn-ea"/>
              </a:rPr>
              <a:t>2. </a:t>
            </a:r>
            <a:r>
              <a:rPr lang="zh-CN" altLang="en-US" sz="2400" b="1" dirty="0">
                <a:latin typeface="+mn-ea"/>
                <a:ea typeface="+mn-ea"/>
              </a:rPr>
              <a:t>定义表面结构图块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EFA7E4-5733-4D30-8B09-2F6C838EB497}"/>
              </a:ext>
            </a:extLst>
          </p:cNvPr>
          <p:cNvSpPr/>
          <p:nvPr/>
        </p:nvSpPr>
        <p:spPr>
          <a:xfrm>
            <a:off x="4726094" y="5972820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n-ea"/>
                <a:ea typeface="+mn-ea"/>
              </a:rPr>
              <a:t>3. </a:t>
            </a:r>
            <a:r>
              <a:rPr lang="zh-CN" altLang="en-US" sz="2400" b="1" dirty="0">
                <a:latin typeface="+mn-ea"/>
                <a:ea typeface="+mn-ea"/>
              </a:rPr>
              <a:t>插入表面结构图块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EE01E6-9F77-412D-A68F-4570FA8BA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609" y="367302"/>
            <a:ext cx="5143500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1620000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绘制零件图</a:t>
            </a:r>
          </a:p>
        </p:txBody>
      </p:sp>
    </p:spTree>
    <p:extLst>
      <p:ext uri="{BB962C8B-B14F-4D97-AF65-F5344CB8AC3E}">
        <p14:creationId xmlns:p14="http://schemas.microsoft.com/office/powerpoint/2010/main" val="3840399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56CF9E3-56D9-44B7-A7FB-B827FB8FF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125" y="1101576"/>
            <a:ext cx="36857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★</a:t>
            </a:r>
            <a:r>
              <a:rPr lang="en-US" altLang="zh-CN" sz="2800" b="1" dirty="0">
                <a:solidFill>
                  <a:srgbClr val="FF0000"/>
                </a:solidFill>
              </a:rPr>
              <a:t> CAD</a:t>
            </a:r>
            <a:r>
              <a:rPr lang="zh-CN" altLang="en-US" sz="2800" b="1" dirty="0">
                <a:solidFill>
                  <a:srgbClr val="FF0000"/>
                </a:solidFill>
              </a:rPr>
              <a:t>绘制零件图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1F1674A-E042-4F91-ACC5-62A32FA0B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529" y="2051732"/>
            <a:ext cx="27080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宋体" pitchFamily="2" charset="-122"/>
                <a:ea typeface="宋体" pitchFamily="2" charset="-122"/>
              </a:rPr>
              <a:t>一、画图前的准备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58B1D81C-D7EB-4394-B975-355D1780F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615" y="1766005"/>
            <a:ext cx="77449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⒈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了解零件的用途、结构特点、材料及相应的加工方法。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0A7BDE9C-2B35-4531-AD36-BC3D79BB5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615" y="2340271"/>
            <a:ext cx="7137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⒉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分析零件的结构形状，确定零件的视图表达方案。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0A2EA335-5EA5-43BE-8340-8C41D2F66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6886" y="4220535"/>
            <a:ext cx="236327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400" b="1" dirty="0">
                <a:latin typeface="宋体" pitchFamily="2" charset="-122"/>
                <a:ea typeface="宋体" pitchFamily="2" charset="-122"/>
              </a:rPr>
              <a:t>二、画图方法和步骤：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FE6FC255-02C2-4651-BC16-FBBFDA5C2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2016" y="3088224"/>
            <a:ext cx="15779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⒈ 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定图幅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BED886D9-9399-44FD-ACBA-F68A1B6FE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0913" y="3004811"/>
            <a:ext cx="603963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根据视图数量和大小</a:t>
            </a: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,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选择适当的绘图比例，确定图幅大小。</a:t>
            </a: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9BA64596-B27B-4D3F-AC65-F09AD749B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3447" y="4396540"/>
            <a:ext cx="2616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⒊ 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布置视图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2D8FC2A9-772A-4156-9AB6-476068D85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3447" y="3903882"/>
            <a:ext cx="3902075" cy="461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⒉ 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画出图框和标题栏     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79C90AFA-C85B-461B-A54C-DF006260A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9816" y="4792242"/>
            <a:ext cx="73356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根据各视图的轮廓尺寸，画出确定各视图位置的基线。</a:t>
            </a:r>
          </a:p>
        </p:txBody>
      </p:sp>
      <p:sp>
        <p:nvSpPr>
          <p:cNvPr id="13" name="Text Box 21">
            <a:extLst>
              <a:ext uri="{FF2B5EF4-FFF2-40B4-BE49-F238E27FC236}">
                <a16:creationId xmlns:a16="http://schemas.microsoft.com/office/drawing/2014/main" id="{759A3F05-200E-40E6-AFA4-71EFBEC49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9816" y="5174712"/>
            <a:ext cx="510909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对称线、轴线、某一基面的投影线。</a:t>
            </a:r>
          </a:p>
        </p:txBody>
      </p:sp>
      <p:sp>
        <p:nvSpPr>
          <p:cNvPr id="14" name="Text Box 22">
            <a:extLst>
              <a:ext uri="{FF2B5EF4-FFF2-40B4-BE49-F238E27FC236}">
                <a16:creationId xmlns:a16="http://schemas.microsoft.com/office/drawing/2014/main" id="{4714B2E1-D62C-4CA0-8EE7-16A492017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1547" y="5570116"/>
            <a:ext cx="6062663" cy="461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注意：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各视图之间要留出标注尺寸的位置。</a:t>
            </a:r>
          </a:p>
        </p:txBody>
      </p:sp>
      <p:sp>
        <p:nvSpPr>
          <p:cNvPr id="15" name="Text Box 28">
            <a:extLst>
              <a:ext uri="{FF2B5EF4-FFF2-40B4-BE49-F238E27FC236}">
                <a16:creationId xmlns:a16="http://schemas.microsoft.com/office/drawing/2014/main" id="{3F84D027-47BC-4277-BB52-C27A32D0C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615" y="6029612"/>
            <a:ext cx="551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⒋ 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画底稿、加深、完成零件图。</a:t>
            </a: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BB15E630-4CD8-48BC-805D-92E0F823C775}"/>
              </a:ext>
            </a:extLst>
          </p:cNvPr>
          <p:cNvSpPr/>
          <p:nvPr/>
        </p:nvSpPr>
        <p:spPr>
          <a:xfrm>
            <a:off x="3678418" y="1978553"/>
            <a:ext cx="147197" cy="693738"/>
          </a:xfrm>
          <a:prstGeom prst="leftBrace">
            <a:avLst>
              <a:gd name="adj1" fmla="val 54162"/>
              <a:gd name="adj2" fmla="val 50000"/>
            </a:avLst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左大括号 16">
            <a:extLst>
              <a:ext uri="{FF2B5EF4-FFF2-40B4-BE49-F238E27FC236}">
                <a16:creationId xmlns:a16="http://schemas.microsoft.com/office/drawing/2014/main" id="{25CF4375-EDD6-49C8-9C70-550A629B758F}"/>
              </a:ext>
            </a:extLst>
          </p:cNvPr>
          <p:cNvSpPr/>
          <p:nvPr/>
        </p:nvSpPr>
        <p:spPr>
          <a:xfrm>
            <a:off x="3440001" y="3291494"/>
            <a:ext cx="343446" cy="2828170"/>
          </a:xfrm>
          <a:prstGeom prst="leftBrace">
            <a:avLst>
              <a:gd name="adj1" fmla="val 98048"/>
              <a:gd name="adj2" fmla="val 50000"/>
            </a:avLst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1EE01E6-9F77-412D-A68F-4570FA8BA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609" y="367302"/>
            <a:ext cx="5143500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1620000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绘制零件图</a:t>
            </a:r>
          </a:p>
        </p:txBody>
      </p:sp>
    </p:spTree>
    <p:extLst>
      <p:ext uri="{BB962C8B-B14F-4D97-AF65-F5344CB8AC3E}">
        <p14:creationId xmlns:p14="http://schemas.microsoft.com/office/powerpoint/2010/main" val="1946344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8">
            <a:extLst>
              <a:ext uri="{FF2B5EF4-FFF2-40B4-BE49-F238E27FC236}">
                <a16:creationId xmlns:a16="http://schemas.microsoft.com/office/drawing/2014/main" id="{606139BC-53B4-4D09-AE84-CC71563BC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759" y="1306712"/>
            <a:ext cx="132943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★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</a:rPr>
              <a:t>示例</a:t>
            </a:r>
          </a:p>
        </p:txBody>
      </p:sp>
      <p:pic>
        <p:nvPicPr>
          <p:cNvPr id="4" name="图片 113" descr="14-68">
            <a:extLst>
              <a:ext uri="{FF2B5EF4-FFF2-40B4-BE49-F238E27FC236}">
                <a16:creationId xmlns:a16="http://schemas.microsoft.com/office/drawing/2014/main" id="{7F7BF231-4A3E-4232-AE4A-7B87734D1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2840" t="4939" r="2524" b="4015"/>
          <a:stretch>
            <a:fillRect/>
          </a:stretch>
        </p:blipFill>
        <p:spPr bwMode="auto">
          <a:xfrm>
            <a:off x="6679753" y="1903214"/>
            <a:ext cx="47625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BCED1D1-CEFF-42A4-9BD8-7AE93F365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1908" y="1301552"/>
            <a:ext cx="3429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/>
              <a:t>绘制旋塞阀阀体零件图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4C630B-9249-4EAC-AC67-933E474D4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945" y="1782963"/>
            <a:ext cx="28829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dirty="0"/>
              <a:t>1. </a:t>
            </a:r>
            <a:r>
              <a:rPr lang="zh-CN" altLang="en-US" sz="2000" dirty="0"/>
              <a:t>调用样板图</a:t>
            </a:r>
            <a:r>
              <a:rPr lang="en-US" altLang="zh-CN" sz="2000" dirty="0"/>
              <a:t>A4-H</a:t>
            </a:r>
            <a:r>
              <a:rPr lang="zh-CN" altLang="en-US" sz="2000" dirty="0"/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273382-12D9-4B21-9B17-403C0ECED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945" y="2197302"/>
            <a:ext cx="2844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dirty="0"/>
              <a:t>2. </a:t>
            </a:r>
            <a:r>
              <a:rPr lang="zh-CN" altLang="en-US" sz="2000" dirty="0"/>
              <a:t>画基准线（布局）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E9C65E-B0D1-40E8-A1AE-3C98D559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944" y="2622354"/>
            <a:ext cx="444096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/>
            <a:r>
              <a:rPr lang="en-US" altLang="zh-CN" sz="2000" dirty="0"/>
              <a:t>3. </a:t>
            </a:r>
            <a:r>
              <a:rPr lang="zh-CN" altLang="en-US" sz="2000" dirty="0"/>
              <a:t>画主、俯、左三视图。主视图画全剖视图，左视图画半剖视图。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CC0F55-73CE-476D-98D0-5E820C23A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943" y="3446067"/>
            <a:ext cx="479559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/>
            <a:r>
              <a:rPr lang="en-US" altLang="zh-CN" sz="2000" dirty="0"/>
              <a:t>4.</a:t>
            </a:r>
            <a:r>
              <a:rPr lang="zh-CN" altLang="en-US" sz="2000" dirty="0"/>
              <a:t>置换图层到“剖面符号”画剖面符号。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7E9730-53D5-485F-AD60-1A4EB85B0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943" y="4000042"/>
            <a:ext cx="472257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/>
            <a:r>
              <a:rPr lang="en-US" altLang="zh-CN" sz="2000" dirty="0"/>
              <a:t>5.</a:t>
            </a:r>
            <a:r>
              <a:rPr lang="zh-CN" altLang="en-US" sz="2000" dirty="0"/>
              <a:t>用写块（</a:t>
            </a:r>
            <a:r>
              <a:rPr lang="en-US" altLang="zh-CN" sz="2000" dirty="0" err="1"/>
              <a:t>WBlock</a:t>
            </a:r>
            <a:r>
              <a:rPr lang="zh-CN" altLang="en-US" sz="2000" dirty="0"/>
              <a:t>）命令将绘制的图形建立图块保存。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A9EB41-3CF3-4048-9377-54A8A844E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4824809"/>
            <a:ext cx="498080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/>
            <a:r>
              <a:rPr lang="en-US" altLang="zh-CN" sz="2000" dirty="0"/>
              <a:t>6.</a:t>
            </a:r>
            <a:r>
              <a:rPr lang="zh-CN" altLang="en-US" sz="2000" dirty="0"/>
              <a:t>图层置换到尺寸线层，完成尺寸标注。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A15B55-15F6-49C1-9DE5-A90FEB614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04" y="5318919"/>
            <a:ext cx="4038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ctr"/>
            <a:r>
              <a:rPr lang="en-US" altLang="zh-CN" sz="2000" dirty="0"/>
              <a:t>7.</a:t>
            </a:r>
            <a:r>
              <a:rPr lang="zh-CN" altLang="en-US" sz="2000" dirty="0"/>
              <a:t>注写技术要求，填写标题栏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EA8268-BBAA-4626-8F51-8E669386A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04" y="5909270"/>
            <a:ext cx="6324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ctr"/>
            <a:r>
              <a:rPr lang="en-US" altLang="zh-CN" sz="2000" dirty="0"/>
              <a:t>8.</a:t>
            </a:r>
            <a:r>
              <a:rPr lang="zh-CN" altLang="en-US" sz="2000" dirty="0"/>
              <a:t>检查，存图。</a:t>
            </a:r>
            <a:r>
              <a:rPr lang="zh-CN" altLang="en-US" sz="2000" dirty="0">
                <a:solidFill>
                  <a:srgbClr val="FF0000"/>
                </a:solidFill>
              </a:rPr>
              <a:t>文件名</a:t>
            </a:r>
            <a:r>
              <a:rPr lang="en-US" altLang="zh-CN" sz="2000" dirty="0">
                <a:solidFill>
                  <a:srgbClr val="FF0000"/>
                </a:solidFill>
              </a:rPr>
              <a:t>=</a:t>
            </a:r>
            <a:r>
              <a:rPr lang="zh-CN" altLang="en-US" sz="2000" dirty="0">
                <a:solidFill>
                  <a:srgbClr val="FF0000"/>
                </a:solidFill>
              </a:rPr>
              <a:t>学号</a:t>
            </a:r>
            <a:r>
              <a:rPr lang="en-US" altLang="zh-CN" sz="2000" dirty="0">
                <a:solidFill>
                  <a:srgbClr val="FF0000"/>
                </a:solidFill>
              </a:rPr>
              <a:t>+</a:t>
            </a:r>
            <a:r>
              <a:rPr lang="zh-CN" altLang="en-US" sz="2000" dirty="0">
                <a:solidFill>
                  <a:srgbClr val="FF0000"/>
                </a:solidFill>
              </a:rPr>
              <a:t>姓名</a:t>
            </a:r>
            <a:r>
              <a:rPr lang="en-US" altLang="zh-CN" sz="2000" dirty="0">
                <a:solidFill>
                  <a:srgbClr val="FF0000"/>
                </a:solidFill>
              </a:rPr>
              <a:t>+</a:t>
            </a:r>
            <a:r>
              <a:rPr lang="zh-CN" altLang="en-US" sz="2000" dirty="0">
                <a:solidFill>
                  <a:srgbClr val="FF0000"/>
                </a:solidFill>
              </a:rPr>
              <a:t>作业名称</a:t>
            </a: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19FBC53E-9C67-4289-A670-DFB93376B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49541" y="1753989"/>
            <a:ext cx="520065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D0E2DD1A-CBF8-49F0-802A-97A1749F4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16291" y="2055614"/>
            <a:ext cx="1871662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3EA9C232-F850-4A1B-8E33-7F0210807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45191" y="2155627"/>
            <a:ext cx="919162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8">
            <a:extLst>
              <a:ext uri="{FF2B5EF4-FFF2-40B4-BE49-F238E27FC236}">
                <a16:creationId xmlns:a16="http://schemas.microsoft.com/office/drawing/2014/main" id="{E4C11115-BEB6-424E-A9BF-2E10DE0B0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267003" y="1747639"/>
            <a:ext cx="5124450" cy="353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9">
            <a:extLst>
              <a:ext uri="{FF2B5EF4-FFF2-40B4-BE49-F238E27FC236}">
                <a16:creationId xmlns:a16="http://schemas.microsoft.com/office/drawing/2014/main" id="{0DA72E16-24EE-4536-B91D-9B2844AEC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247953" y="1725414"/>
            <a:ext cx="51562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10">
            <a:extLst>
              <a:ext uri="{FF2B5EF4-FFF2-40B4-BE49-F238E27FC236}">
                <a16:creationId xmlns:a16="http://schemas.microsoft.com/office/drawing/2014/main" id="{E47FC560-D234-4AC4-846C-347DEAF1D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240016" y="1763514"/>
            <a:ext cx="5145087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1">
            <a:extLst>
              <a:ext uri="{FF2B5EF4-FFF2-40B4-BE49-F238E27FC236}">
                <a16:creationId xmlns:a16="http://schemas.microsoft.com/office/drawing/2014/main" id="{17007DDF-053B-42A3-8DE4-CA2E4A7B3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9073703" y="4700389"/>
            <a:ext cx="2289175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B1EE01E6-9F77-412D-A68F-4570FA8BA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609" y="367302"/>
            <a:ext cx="5143500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1620000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CAD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绘制零件图</a:t>
            </a:r>
          </a:p>
        </p:txBody>
      </p:sp>
    </p:spTree>
    <p:extLst>
      <p:ext uri="{BB962C8B-B14F-4D97-AF65-F5344CB8AC3E}">
        <p14:creationId xmlns:p14="http://schemas.microsoft.com/office/powerpoint/2010/main" val="300607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58ADD6D3-8AD5-4993-A073-E01218D76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440" y="3767326"/>
            <a:ext cx="23495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从右图可知：零件名称为泵体。材料是铸铁。绘图比例</a:t>
            </a: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1:3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。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5BD0025-4170-4A18-B94A-DF6B3A8EE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128" y="2193760"/>
            <a:ext cx="252558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   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了解零件的名称、材料、绘图比例等内容。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AE6B14E1-379B-4174-A664-AC9CD64AB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4801" y="415057"/>
            <a:ext cx="6127750" cy="579437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762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读零件图的方法与步骤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F0959A6A-BF72-4B17-98AA-0FACFA08F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440" y="1394544"/>
            <a:ext cx="23495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2800" b="1" dirty="0">
                <a:solidFill>
                  <a:srgbClr val="FF3300"/>
                </a:solidFill>
              </a:rPr>
              <a:t>一、看标题栏</a:t>
            </a:r>
          </a:p>
        </p:txBody>
      </p:sp>
      <p:pic>
        <p:nvPicPr>
          <p:cNvPr id="6" name="Picture 9" descr="10-56">
            <a:extLst>
              <a:ext uri="{FF2B5EF4-FFF2-40B4-BE49-F238E27FC236}">
                <a16:creationId xmlns:a16="http://schemas.microsoft.com/office/drawing/2014/main" id="{F879E5B9-091F-4E17-848E-B80B05172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35760" y="1409094"/>
            <a:ext cx="7200800" cy="531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Line 10">
            <a:extLst>
              <a:ext uri="{FF2B5EF4-FFF2-40B4-BE49-F238E27FC236}">
                <a16:creationId xmlns:a16="http://schemas.microsoft.com/office/drawing/2014/main" id="{82C80969-84B6-4A70-812E-DCECD49B8A8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0250" y="5655316"/>
            <a:ext cx="286314" cy="362586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9730A1CC-B004-4BFC-85FF-AA7259E7AA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55131" y="6230305"/>
            <a:ext cx="434840" cy="425276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92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7"/>
                                            </p:cond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5" grpId="0" autoUpdateAnimBg="0"/>
      <p:bldP spid="7" grpId="0" animBg="1"/>
      <p:bldP spid="7" grpId="1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32" descr="10-56">
            <a:extLst>
              <a:ext uri="{FF2B5EF4-FFF2-40B4-BE49-F238E27FC236}">
                <a16:creationId xmlns:a16="http://schemas.microsoft.com/office/drawing/2014/main" id="{5B201A75-80F5-4705-B2D7-9CBFD0125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1924" y="1848780"/>
            <a:ext cx="6040437" cy="445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1026">
            <a:extLst>
              <a:ext uri="{FF2B5EF4-FFF2-40B4-BE49-F238E27FC236}">
                <a16:creationId xmlns:a16="http://schemas.microsoft.com/office/drawing/2014/main" id="{3FA7AAEC-0F02-45CD-976B-59D9663C6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420" y="1848780"/>
            <a:ext cx="4464496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solidFill>
                  <a:schemeClr val="tx1"/>
                </a:solidFill>
              </a:rPr>
              <a:t>主视图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单一剖切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平面的</a:t>
            </a:r>
            <a:r>
              <a:rPr lang="en-US" altLang="zh-CN" sz="2400" b="0" i="1" dirty="0">
                <a:solidFill>
                  <a:schemeClr val="tx1"/>
                </a:solidFill>
                <a:latin typeface="+mn-ea"/>
                <a:ea typeface="+mn-ea"/>
              </a:rPr>
              <a:t>B-B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半剖视图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。</a:t>
            </a:r>
            <a:endParaRPr lang="en-US" altLang="zh-CN" sz="24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作用：表达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零件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外形结构、三个</a:t>
            </a:r>
            <a:r>
              <a:rPr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M6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螺纹孔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分布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位置，半剖表达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右侧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凸台上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螺纹孔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和底板上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沉孔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结构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形状、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两个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φ6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通孔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位置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</a:p>
        </p:txBody>
      </p:sp>
      <p:sp>
        <p:nvSpPr>
          <p:cNvPr id="4" name="Text Box 1028">
            <a:extLst>
              <a:ext uri="{FF2B5EF4-FFF2-40B4-BE49-F238E27FC236}">
                <a16:creationId xmlns:a16="http://schemas.microsoft.com/office/drawing/2014/main" id="{D35EE822-C0D1-4E26-BD28-B4B06C0E5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532" y="1324905"/>
            <a:ext cx="23495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2800" b="1" dirty="0">
                <a:solidFill>
                  <a:srgbClr val="FF3300"/>
                </a:solidFill>
              </a:rPr>
              <a:t>二、分析视图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7521AA-6F66-4CD2-817B-C9C188042F7A}"/>
              </a:ext>
            </a:extLst>
          </p:cNvPr>
          <p:cNvSpPr/>
          <p:nvPr/>
        </p:nvSpPr>
        <p:spPr>
          <a:xfrm>
            <a:off x="860401" y="4738408"/>
            <a:ext cx="446449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400" b="0" dirty="0">
                <a:solidFill>
                  <a:schemeClr val="tx1"/>
                </a:solidFill>
              </a:rPr>
              <a:t>左视图</a:t>
            </a: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局部剖视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，作用：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表达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零件的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外形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结构，及</a:t>
            </a:r>
            <a:r>
              <a:rPr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M6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螺纹孔的深度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内腔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φ14H7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孔的深度和相通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关系 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AE6B14E1-379B-4174-A664-AC9CD64AB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4801" y="415057"/>
            <a:ext cx="6127750" cy="579437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762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读零件图的方法与步骤</a:t>
            </a:r>
          </a:p>
        </p:txBody>
      </p:sp>
    </p:spTree>
    <p:extLst>
      <p:ext uri="{BB962C8B-B14F-4D97-AF65-F5344CB8AC3E}">
        <p14:creationId xmlns:p14="http://schemas.microsoft.com/office/powerpoint/2010/main" val="3616945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10-56">
            <a:extLst>
              <a:ext uri="{FF2B5EF4-FFF2-40B4-BE49-F238E27FC236}">
                <a16:creationId xmlns:a16="http://schemas.microsoft.com/office/drawing/2014/main" id="{B96C08FC-9D81-46C0-8326-DD9B0F4C2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47828" y="1533860"/>
            <a:ext cx="6792912" cy="5014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4242237-AB8C-458F-B35A-24D5B2DF8DEF}"/>
              </a:ext>
            </a:extLst>
          </p:cNvPr>
          <p:cNvSpPr/>
          <p:nvPr/>
        </p:nvSpPr>
        <p:spPr>
          <a:xfrm>
            <a:off x="1451484" y="1952836"/>
            <a:ext cx="23495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俯视图采取了单一剖切平面的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全剖视图</a:t>
            </a:r>
            <a:endParaRPr lang="zh-CN" altLang="en-US" sz="2400" dirty="0">
              <a:latin typeface="+mn-ea"/>
              <a:ea typeface="+mn-ea"/>
            </a:endParaRPr>
          </a:p>
          <a:p>
            <a:pPr eaLnBrk="1" hangingPunct="1">
              <a:defRPr/>
            </a:pPr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作用：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表达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底板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与主体连接部分的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断面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形状，同时表达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底板的形状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和其上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两沉孔的位置 </a:t>
            </a:r>
          </a:p>
        </p:txBody>
      </p:sp>
      <p:sp>
        <p:nvSpPr>
          <p:cNvPr id="4" name="Text Box 1028">
            <a:extLst>
              <a:ext uri="{FF2B5EF4-FFF2-40B4-BE49-F238E27FC236}">
                <a16:creationId xmlns:a16="http://schemas.microsoft.com/office/drawing/2014/main" id="{389C9016-736E-4C5C-9D8A-ECDCD77D7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432" y="1295189"/>
            <a:ext cx="23495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2800" b="1" dirty="0">
                <a:solidFill>
                  <a:srgbClr val="FF3300"/>
                </a:solidFill>
              </a:rPr>
              <a:t>二、分析视图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AE6B14E1-379B-4174-A664-AC9CD64AB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4801" y="415057"/>
            <a:ext cx="6127750" cy="579437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762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读零件图的方法与步骤</a:t>
            </a:r>
          </a:p>
        </p:txBody>
      </p:sp>
    </p:spTree>
    <p:extLst>
      <p:ext uri="{BB962C8B-B14F-4D97-AF65-F5344CB8AC3E}">
        <p14:creationId xmlns:p14="http://schemas.microsoft.com/office/powerpoint/2010/main" val="654578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B43133F2-4208-48C2-9CAC-70052B1A1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03" y="1983520"/>
            <a:ext cx="48013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altLang="zh-CN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☆</a:t>
            </a:r>
            <a:r>
              <a:rPr lang="zh-CN" altLang="en-US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先看主要部分，后看次要部分；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2C92467A-D842-4E2C-91B2-C0FEDCAD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3539" y="2377804"/>
            <a:ext cx="510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☆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先看整体，后看细节；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EDB49534-53D1-49F2-AE90-17885C687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03" y="2751311"/>
            <a:ext cx="54168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☆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先看容易看懂部分，后看难懂部分。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A5ECF0B5-786C-4E3B-9D40-22262BD5C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2229" y="1566651"/>
            <a:ext cx="17319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看图步骤：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C8A8D62A-D64E-4E3F-9E8B-D4F4D9E45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3559" y="3297847"/>
            <a:ext cx="517514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zh-CN" altLang="en-US" sz="20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按投影对应关系分析形体时，要</a:t>
            </a:r>
            <a:r>
              <a:rPr lang="zh-CN" altLang="en-US" sz="20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兼顾零件的尺寸及其功用</a:t>
            </a:r>
            <a:r>
              <a:rPr lang="zh-CN" altLang="en-US" sz="20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，以便帮助想象零件的形状。</a:t>
            </a:r>
          </a:p>
        </p:txBody>
      </p:sp>
      <p:sp>
        <p:nvSpPr>
          <p:cNvPr id="7" name="Text Box 1028">
            <a:extLst>
              <a:ext uri="{FF2B5EF4-FFF2-40B4-BE49-F238E27FC236}">
                <a16:creationId xmlns:a16="http://schemas.microsoft.com/office/drawing/2014/main" id="{244312A7-EDDD-4395-B637-A92F6B5FB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432" y="1061033"/>
            <a:ext cx="63166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2800" b="1" dirty="0">
                <a:solidFill>
                  <a:srgbClr val="FF3300"/>
                </a:solidFill>
              </a:rPr>
              <a:t>三、分析投影</a:t>
            </a:r>
            <a:r>
              <a:rPr lang="zh-CN" altLang="en-US" sz="2800" b="1" dirty="0"/>
              <a:t>，想象零件的结构形状。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B4FB28-0946-4065-A6DB-24D4AAAF9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7656" y="4048342"/>
            <a:ext cx="50064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从三个视图看，泵体由三部分组成：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73ED86D-2EFC-441D-86BB-8D72E49CF4FB}"/>
              </a:ext>
            </a:extLst>
          </p:cNvPr>
          <p:cNvSpPr/>
          <p:nvPr/>
        </p:nvSpPr>
        <p:spPr>
          <a:xfrm>
            <a:off x="1267655" y="4570106"/>
            <a:ext cx="500647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壳体为</a:t>
            </a:r>
            <a:r>
              <a:rPr lang="zh-CN" altLang="en-US" sz="2000" dirty="0">
                <a:latin typeface="+mn-ea"/>
                <a:ea typeface="+mn-ea"/>
              </a:rPr>
              <a:t>圆柱形，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前面有一个均布</a:t>
            </a:r>
            <a:r>
              <a:rPr lang="zh-CN" altLang="en-US" sz="2000" dirty="0">
                <a:latin typeface="+mn-ea"/>
                <a:ea typeface="+mn-ea"/>
              </a:rPr>
              <a:t>三个螺孔的凸缘，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左右各有</a:t>
            </a:r>
            <a:r>
              <a:rPr lang="zh-CN" altLang="en-US" sz="2000" dirty="0">
                <a:latin typeface="+mn-ea"/>
                <a:ea typeface="+mn-ea"/>
              </a:rPr>
              <a:t>圆形凸台，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凸台上有</a:t>
            </a:r>
            <a:r>
              <a:rPr lang="zh-CN" altLang="en-US" sz="2000" dirty="0">
                <a:latin typeface="+mn-ea"/>
                <a:ea typeface="+mn-ea"/>
              </a:rPr>
              <a:t>螺纹孔与内腔相通；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后部有一</a:t>
            </a:r>
            <a:r>
              <a:rPr lang="zh-CN" altLang="en-US" sz="2000" dirty="0">
                <a:latin typeface="+mn-ea"/>
                <a:ea typeface="+mn-ea"/>
              </a:rPr>
              <a:t>圆台形凸台，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凸台里边有一带锥角的</a:t>
            </a:r>
            <a:r>
              <a:rPr lang="zh-CN" altLang="en-US" sz="2000" dirty="0">
                <a:latin typeface="+mn-ea"/>
                <a:ea typeface="+mn-ea"/>
              </a:rPr>
              <a:t>盲孔；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内腔后壁上有</a:t>
            </a:r>
            <a:r>
              <a:rPr lang="zh-CN" altLang="en-US" sz="2000" dirty="0">
                <a:latin typeface="+mn-ea"/>
                <a:ea typeface="+mn-ea"/>
              </a:rPr>
              <a:t>两个小通孔。</a:t>
            </a:r>
          </a:p>
        </p:txBody>
      </p:sp>
      <p:pic>
        <p:nvPicPr>
          <p:cNvPr id="11" name="Picture 12" descr="10-56">
            <a:extLst>
              <a:ext uri="{FF2B5EF4-FFF2-40B4-BE49-F238E27FC236}">
                <a16:creationId xmlns:a16="http://schemas.microsoft.com/office/drawing/2014/main" id="{10D2A3D9-51C7-4543-92D1-80F8A7115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5781" y="1983519"/>
            <a:ext cx="5240488" cy="3859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 Box 4">
            <a:extLst>
              <a:ext uri="{FF2B5EF4-FFF2-40B4-BE49-F238E27FC236}">
                <a16:creationId xmlns:a16="http://schemas.microsoft.com/office/drawing/2014/main" id="{AE6B14E1-379B-4174-A664-AC9CD64AB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4801" y="415057"/>
            <a:ext cx="6127750" cy="579437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762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读零件图的方法与步骤</a:t>
            </a:r>
          </a:p>
        </p:txBody>
      </p:sp>
    </p:spTree>
    <p:extLst>
      <p:ext uri="{BB962C8B-B14F-4D97-AF65-F5344CB8AC3E}">
        <p14:creationId xmlns:p14="http://schemas.microsoft.com/office/powerpoint/2010/main" val="156287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  <p:bldP spid="5" grpId="0" autoUpdateAnimBg="0"/>
      <p:bldP spid="6" grpId="0" autoUpdateAnimBg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F3036235-3F91-4B51-8E78-033E81511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0772" y="1539564"/>
            <a:ext cx="47652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从三个视图看，泵体由三部分组成</a:t>
            </a: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DB167CA2-16AB-4EAD-BB08-A152F1409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0773" y="2049895"/>
            <a:ext cx="476522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sz="2400" b="0" dirty="0">
                <a:solidFill>
                  <a:srgbClr val="0070C0"/>
                </a:solidFill>
                <a:latin typeface="+mn-ea"/>
                <a:ea typeface="+mn-ea"/>
              </a:rPr>
              <a:t>壳体为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圆柱形，</a:t>
            </a:r>
            <a:r>
              <a:rPr lang="zh-CN" altLang="en-US" sz="2400" b="0" dirty="0">
                <a:solidFill>
                  <a:srgbClr val="0070C0"/>
                </a:solidFill>
                <a:latin typeface="+mn-ea"/>
                <a:ea typeface="+mn-ea"/>
              </a:rPr>
              <a:t>前面有一个均布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三个螺孔的凸缘，</a:t>
            </a:r>
            <a:r>
              <a:rPr lang="zh-CN" altLang="en-US" sz="2400" b="0" dirty="0">
                <a:solidFill>
                  <a:srgbClr val="0070C0"/>
                </a:solidFill>
                <a:latin typeface="+mn-ea"/>
                <a:ea typeface="+mn-ea"/>
              </a:rPr>
              <a:t>左右各有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圆形凸台，</a:t>
            </a:r>
            <a:r>
              <a:rPr lang="zh-CN" altLang="en-US" sz="2400" b="0" dirty="0">
                <a:solidFill>
                  <a:srgbClr val="0070C0"/>
                </a:solidFill>
                <a:latin typeface="+mn-ea"/>
                <a:ea typeface="+mn-ea"/>
              </a:rPr>
              <a:t>凸台上有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螺纹孔与内腔相通；</a:t>
            </a:r>
            <a:r>
              <a:rPr lang="zh-CN" altLang="en-US" sz="2400" b="0" dirty="0">
                <a:solidFill>
                  <a:srgbClr val="0070C0"/>
                </a:solidFill>
                <a:latin typeface="+mn-ea"/>
                <a:ea typeface="+mn-ea"/>
              </a:rPr>
              <a:t>后部有一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圆台形凸台，</a:t>
            </a:r>
            <a:r>
              <a:rPr lang="zh-CN" altLang="en-US" sz="2400" b="0" dirty="0">
                <a:solidFill>
                  <a:srgbClr val="0070C0"/>
                </a:solidFill>
                <a:latin typeface="+mn-ea"/>
                <a:ea typeface="+mn-ea"/>
              </a:rPr>
              <a:t>凸台里边有一带锥角的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盲孔。</a:t>
            </a:r>
            <a:endParaRPr lang="en-US" altLang="zh-CN" sz="24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84752D94-D7F0-48C7-AF6C-7E979E59A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149" y="6027773"/>
            <a:ext cx="55385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70C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lang="zh-CN" altLang="en-US" sz="2400" b="1" dirty="0">
                <a:solidFill>
                  <a:srgbClr val="0070C0"/>
                </a:solidFill>
                <a:latin typeface="宋体" pitchFamily="2" charset="-122"/>
                <a:ea typeface="宋体" pitchFamily="2" charset="-122"/>
              </a:rPr>
              <a:t>综合分析后，想象出泵体的形状。</a:t>
            </a:r>
          </a:p>
        </p:txBody>
      </p:sp>
      <p:pic>
        <p:nvPicPr>
          <p:cNvPr id="5" name="Picture 12" descr="10-56">
            <a:extLst>
              <a:ext uri="{FF2B5EF4-FFF2-40B4-BE49-F238E27FC236}">
                <a16:creationId xmlns:a16="http://schemas.microsoft.com/office/drawing/2014/main" id="{402F4310-7D77-4DD1-805A-E956654CA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58143" y="2049895"/>
            <a:ext cx="5544700" cy="4084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8">
            <a:extLst>
              <a:ext uri="{FF2B5EF4-FFF2-40B4-BE49-F238E27FC236}">
                <a16:creationId xmlns:a16="http://schemas.microsoft.com/office/drawing/2014/main" id="{03346143-3995-4C0C-9CAF-4DA89CE8D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615" y="4223500"/>
            <a:ext cx="473338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底板为带圆角的长方形板，其上有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两个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φ11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的沉孔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，底部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中间有凹槽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，底面为安装基面。壳体与底板由断面为丁字形的柱体连接。</a:t>
            </a:r>
          </a:p>
        </p:txBody>
      </p:sp>
      <p:pic>
        <p:nvPicPr>
          <p:cNvPr id="7" name="Picture 11" descr="13-45">
            <a:extLst>
              <a:ext uri="{FF2B5EF4-FFF2-40B4-BE49-F238E27FC236}">
                <a16:creationId xmlns:a16="http://schemas.microsoft.com/office/drawing/2014/main" id="{B7F32622-F41C-4D13-A467-091C75AA3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9030493" y="3221496"/>
            <a:ext cx="2713037" cy="290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1028">
            <a:extLst>
              <a:ext uri="{FF2B5EF4-FFF2-40B4-BE49-F238E27FC236}">
                <a16:creationId xmlns:a16="http://schemas.microsoft.com/office/drawing/2014/main" id="{5EFCF515-0843-4E73-98FA-8029A1A96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448" y="992584"/>
            <a:ext cx="63166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2800" b="1" dirty="0">
                <a:solidFill>
                  <a:srgbClr val="FF3300"/>
                </a:solidFill>
              </a:rPr>
              <a:t>三、分析投影</a:t>
            </a:r>
            <a:r>
              <a:rPr lang="zh-CN" altLang="en-US" sz="2800" b="1" dirty="0"/>
              <a:t>，想象零件的结构形状。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AE6B14E1-379B-4174-A664-AC9CD64AB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4801" y="415057"/>
            <a:ext cx="6127750" cy="579437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762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读零件图的方法与步骤</a:t>
            </a:r>
          </a:p>
        </p:txBody>
      </p:sp>
    </p:spTree>
    <p:extLst>
      <p:ext uri="{BB962C8B-B14F-4D97-AF65-F5344CB8AC3E}">
        <p14:creationId xmlns:p14="http://schemas.microsoft.com/office/powerpoint/2010/main" val="84956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91133CB7-F982-437D-8A7F-DF8D1341D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020" y="1055539"/>
            <a:ext cx="41513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2800" b="1" dirty="0">
                <a:solidFill>
                  <a:srgbClr val="FF3300"/>
                </a:solidFill>
              </a:rPr>
              <a:t>四、分析尺寸和技术要求</a:t>
            </a:r>
          </a:p>
        </p:txBody>
      </p:sp>
      <p:sp>
        <p:nvSpPr>
          <p:cNvPr id="3" name="Text Box 9">
            <a:extLst>
              <a:ext uri="{FF2B5EF4-FFF2-40B4-BE49-F238E27FC236}">
                <a16:creationId xmlns:a16="http://schemas.microsoft.com/office/drawing/2014/main" id="{D39CBBE2-8D62-4BF9-8EF3-E94F58CBF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5658" y="2013195"/>
            <a:ext cx="3469072" cy="1089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零件中长、宽、高三个方向的主要尺寸基准分别是：</a:t>
            </a:r>
          </a:p>
        </p:txBody>
      </p:sp>
      <p:pic>
        <p:nvPicPr>
          <p:cNvPr id="4" name="Picture 14" descr="10-56">
            <a:extLst>
              <a:ext uri="{FF2B5EF4-FFF2-40B4-BE49-F238E27FC236}">
                <a16:creationId xmlns:a16="http://schemas.microsoft.com/office/drawing/2014/main" id="{CD998B20-DE16-4709-99B4-7779C7F27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15880" y="1579414"/>
            <a:ext cx="6391275" cy="471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15">
            <a:extLst>
              <a:ext uri="{FF2B5EF4-FFF2-40B4-BE49-F238E27FC236}">
                <a16:creationId xmlns:a16="http://schemas.microsoft.com/office/drawing/2014/main" id="{3178ECA8-BE11-48D7-A8E5-05566D8BB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7059" y="4265464"/>
            <a:ext cx="3467671" cy="1938992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各主要尺寸都是从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基准直接注出的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图中还注出了各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配合表面的尺寸公差和各表面结构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的要求，以及形位公差等。</a:t>
            </a:r>
          </a:p>
        </p:txBody>
      </p:sp>
      <p:sp>
        <p:nvSpPr>
          <p:cNvPr id="6" name="Line 17">
            <a:extLst>
              <a:ext uri="{FF2B5EF4-FFF2-40B4-BE49-F238E27FC236}">
                <a16:creationId xmlns:a16="http://schemas.microsoft.com/office/drawing/2014/main" id="{59F05CF3-C9E1-4FF6-ABF0-037EADBAA1C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28780" y="4265464"/>
            <a:ext cx="227012" cy="296862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" name="Line 18">
            <a:extLst>
              <a:ext uri="{FF2B5EF4-FFF2-40B4-BE49-F238E27FC236}">
                <a16:creationId xmlns:a16="http://schemas.microsoft.com/office/drawing/2014/main" id="{E626467C-DE0A-4103-92B1-4C6827510D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111755" y="3076426"/>
            <a:ext cx="334962" cy="204788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" name="Line 19">
            <a:extLst>
              <a:ext uri="{FF2B5EF4-FFF2-40B4-BE49-F238E27FC236}">
                <a16:creationId xmlns:a16="http://schemas.microsoft.com/office/drawing/2014/main" id="{86D3979C-B14F-4E00-B8C4-A63D1CA1A9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46542" y="3138339"/>
            <a:ext cx="139700" cy="442912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" name="Text Box 20">
            <a:extLst>
              <a:ext uri="{FF2B5EF4-FFF2-40B4-BE49-F238E27FC236}">
                <a16:creationId xmlns:a16="http://schemas.microsoft.com/office/drawing/2014/main" id="{003ACECF-5C6C-4127-8DD2-598048D46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1503" y="3311805"/>
            <a:ext cx="3260886" cy="757130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>
                <a:solidFill>
                  <a:srgbClr val="0070C0"/>
                </a:solidFill>
              </a:rPr>
              <a:t>左右对称面、前端面和</a:t>
            </a:r>
            <a:r>
              <a:rPr lang="en-US" altLang="zh-CN" sz="2400" b="1" i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φ</a:t>
            </a:r>
            <a:r>
              <a:rPr lang="en-US" altLang="zh-CN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14H7</a:t>
            </a:r>
            <a:r>
              <a:rPr lang="zh-CN" altLang="en-US" sz="2400" b="1" dirty="0">
                <a:solidFill>
                  <a:srgbClr val="0070C0"/>
                </a:solidFill>
              </a:rPr>
              <a:t>孔的轴线。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AE6B14E1-379B-4174-A664-AC9CD64AB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4801" y="415057"/>
            <a:ext cx="6127750" cy="579437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762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读零件图的方法与步骤</a:t>
            </a:r>
          </a:p>
        </p:txBody>
      </p:sp>
    </p:spTree>
    <p:extLst>
      <p:ext uri="{BB962C8B-B14F-4D97-AF65-F5344CB8AC3E}">
        <p14:creationId xmlns:p14="http://schemas.microsoft.com/office/powerpoint/2010/main" val="388227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f9acae47c46be974784ae78fb944cc76459bbf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/>
        </a:gradFill>
        <a:ln w="9525">
          <a:noFill/>
          <a:miter lim="800000"/>
          <a:headEnd/>
          <a:tailEnd/>
        </a:ln>
      </a:spPr>
      <a:bodyPr anchor="ctr"/>
      <a:lstStyle>
        <a:defPPr>
          <a:defRPr sz="3600" dirty="0">
            <a:solidFill>
              <a:schemeClr val="tx2"/>
            </a:solidFill>
            <a:latin typeface="宋体" pitchFamily="2" charset="-122"/>
          </a:defRPr>
        </a:defPPr>
      </a:lstStyle>
    </a:spDef>
    <a:txDef>
      <a:spPr/>
      <a:bodyPr anchor="ctr">
        <a:spAutoFit/>
      </a:bodyPr>
      <a:lstStyle>
        <a:defPPr algn="ctr" fontAlgn="auto">
          <a:spcAft>
            <a:spcPts val="0"/>
          </a:spcAft>
          <a:defRPr kumimoji="0" sz="4400" b="1" dirty="0">
            <a:solidFill>
              <a:schemeClr val="tx2"/>
            </a:solidFill>
            <a:latin typeface="黑体" pitchFamily="2" charset="-122"/>
            <a:ea typeface="黑体" pitchFamily="2" charset="-122"/>
            <a:cs typeface="+mj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4482</TotalTime>
  <Words>1256</Words>
  <Application>Microsoft Office PowerPoint</Application>
  <PresentationFormat>宽屏</PresentationFormat>
  <Paragraphs>115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黑体</vt:lpstr>
      <vt:lpstr>华文行楷</vt:lpstr>
      <vt:lpstr>宋体</vt:lpstr>
      <vt:lpstr>Microsoft Yahei</vt:lpstr>
      <vt:lpstr>Arial</vt:lpstr>
      <vt:lpstr>Calibri</vt:lpstr>
      <vt:lpstr>Times New Roman</vt:lpstr>
      <vt:lpstr>1_Office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第9章 机件的表达 1</dc:title>
  <dc:creator>穆浩志</dc:creator>
  <cp:keywords>天津理工大学</cp:keywords>
  <cp:lastModifiedBy>Lenovo</cp:lastModifiedBy>
  <cp:revision>456</cp:revision>
  <dcterms:created xsi:type="dcterms:W3CDTF">2014-03-20T09:34:50Z</dcterms:created>
  <dcterms:modified xsi:type="dcterms:W3CDTF">2021-03-09T05:36:36Z</dcterms:modified>
</cp:coreProperties>
</file>
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9" r:id="rId1"/>
  </p:sldMasterIdLst>
  <p:notesMasterIdLst>
    <p:notesMasterId r:id="rId19"/>
  </p:notesMasterIdLst>
  <p:sldIdLst>
    <p:sldId id="489" r:id="rId2"/>
    <p:sldId id="521" r:id="rId3"/>
    <p:sldId id="490" r:id="rId4"/>
    <p:sldId id="523" r:id="rId5"/>
    <p:sldId id="514" r:id="rId6"/>
    <p:sldId id="494" r:id="rId7"/>
    <p:sldId id="496" r:id="rId8"/>
    <p:sldId id="519" r:id="rId9"/>
    <p:sldId id="515" r:id="rId10"/>
    <p:sldId id="500" r:id="rId11"/>
    <p:sldId id="516" r:id="rId12"/>
    <p:sldId id="517" r:id="rId13"/>
    <p:sldId id="520" r:id="rId14"/>
    <p:sldId id="507" r:id="rId15"/>
    <p:sldId id="522" r:id="rId16"/>
    <p:sldId id="518" r:id="rId17"/>
    <p:sldId id="513" r:id="rId18"/>
  </p:sldIdLst>
  <p:sldSz cx="12192000" cy="6858000"/>
  <p:notesSz cx="6858000" cy="9144000"/>
  <p:custDataLst>
    <p:tags r:id="rId20"/>
  </p:custDataLst>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modifyVerifier cryptProviderType="rsaFull" cryptAlgorithmClass="hash" cryptAlgorithmType="typeAny" cryptAlgorithmSid="4" spinCount="50000" saltData="+rplypygJYS1RH3bHNbXFA==" hashData="2BLeQtKt6bg9zuLvfcVLV80zWyI="/>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19A4"/>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78" autoAdjust="0"/>
    <p:restoredTop sz="94660"/>
  </p:normalViewPr>
  <p:slideViewPr>
    <p:cSldViewPr>
      <p:cViewPr varScale="1">
        <p:scale>
          <a:sx n="108" d="100"/>
          <a:sy n="108" d="100"/>
        </p:scale>
        <p:origin x="732" y="108"/>
      </p:cViewPr>
      <p:guideLst>
        <p:guide orient="horz" pos="2160"/>
        <p:guide pos="3840"/>
      </p:guideLst>
    </p:cSldViewPr>
  </p:slideViewPr>
  <p:notesTextViewPr>
    <p:cViewPr>
      <p:scale>
        <a:sx n="50" d="100"/>
        <a:sy n="50" d="100"/>
      </p:scale>
      <p:origin x="0" y="0"/>
    </p:cViewPr>
  </p:notesTextViewPr>
  <p:sorterViewPr>
    <p:cViewPr>
      <p:scale>
        <a:sx n="66" d="100"/>
        <a:sy n="66" d="100"/>
      </p:scale>
      <p:origin x="0" y="0"/>
    </p:cViewPr>
  </p:sorterViewPr>
  <p:notesViewPr>
    <p:cSldViewPr>
      <p:cViewPr varScale="1">
        <p:scale>
          <a:sx n="68" d="100"/>
          <a:sy n="68" d="100"/>
        </p:scale>
        <p:origin x="-2808" y="-96"/>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宋体"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宋体" pitchFamily="2" charset="-122"/>
              </a:defRPr>
            </a:lvl1pPr>
          </a:lstStyle>
          <a:p>
            <a:pPr>
              <a:defRPr/>
            </a:pPr>
            <a:fld id="{FCDDCCAC-52B6-45F1-92FC-81A163E7A1D4}" type="datetimeFigureOut">
              <a:rPr lang="zh-CN" altLang="en-US"/>
              <a:pPr>
                <a:defRPr/>
              </a:pPr>
              <a:t>2020/5/19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宋体"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3040D86C-DB7D-4610-9B9D-08C8CAF6E9A7}" type="slidenum">
              <a:rPr lang="zh-CN" altLang="en-US"/>
              <a:pPr/>
              <a:t>‹#›</a:t>
            </a:fld>
            <a:endParaRPr lang="zh-CN" altLang="en-US"/>
          </a:p>
        </p:txBody>
      </p:sp>
    </p:spTree>
    <p:extLst>
      <p:ext uri="{BB962C8B-B14F-4D97-AF65-F5344CB8AC3E}">
        <p14:creationId xmlns:p14="http://schemas.microsoft.com/office/powerpoint/2010/main" val="39975809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2355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23556" name="灯片编号占位符 3"/>
          <p:cNvSpPr>
            <a:spLocks noGrp="1"/>
          </p:cNvSpPr>
          <p:nvPr>
            <p:ph type="sldNum" sz="quarter" idx="5"/>
          </p:nvPr>
        </p:nvSpPr>
        <p:spPr bwMode="auto">
          <a:noFill/>
          <a:ln>
            <a:miter lim="800000"/>
            <a:headEnd/>
            <a:tailEnd/>
          </a:ln>
        </p:spPr>
        <p:txBody>
          <a:bodyPr/>
          <a:lstStyle/>
          <a:p>
            <a:fld id="{591D92E0-B380-4DBF-9991-168DBCB836DF}" type="slidenum">
              <a:rPr lang="en-US" altLang="zh-CN"/>
              <a:pPr/>
              <a:t>1</a:t>
            </a:fld>
            <a:endParaRPr lang="en-US" altLang="zh-CN"/>
          </a:p>
        </p:txBody>
      </p:sp>
    </p:spTree>
    <p:extLst>
      <p:ext uri="{BB962C8B-B14F-4D97-AF65-F5344CB8AC3E}">
        <p14:creationId xmlns:p14="http://schemas.microsoft.com/office/powerpoint/2010/main" val="2344204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2560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25604" name="灯片编号占位符 3"/>
          <p:cNvSpPr>
            <a:spLocks noGrp="1"/>
          </p:cNvSpPr>
          <p:nvPr>
            <p:ph type="sldNum" sz="quarter" idx="5"/>
          </p:nvPr>
        </p:nvSpPr>
        <p:spPr bwMode="auto">
          <a:noFill/>
          <a:ln>
            <a:miter lim="800000"/>
            <a:headEnd/>
            <a:tailEnd/>
          </a:ln>
        </p:spPr>
        <p:txBody>
          <a:bodyPr/>
          <a:lstStyle/>
          <a:p>
            <a:fld id="{22C7602B-A84F-43C6-9C38-82400E14A81A}" type="slidenum">
              <a:rPr lang="en-US" altLang="zh-CN"/>
              <a:pPr/>
              <a:t>3</a:t>
            </a:fld>
            <a:endParaRPr lang="en-US" altLang="zh-CN"/>
          </a:p>
        </p:txBody>
      </p:sp>
    </p:spTree>
    <p:extLst>
      <p:ext uri="{BB962C8B-B14F-4D97-AF65-F5344CB8AC3E}">
        <p14:creationId xmlns:p14="http://schemas.microsoft.com/office/powerpoint/2010/main" val="3243270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2765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27652" name="灯片编号占位符 3"/>
          <p:cNvSpPr>
            <a:spLocks noGrp="1"/>
          </p:cNvSpPr>
          <p:nvPr>
            <p:ph type="sldNum" sz="quarter" idx="5"/>
          </p:nvPr>
        </p:nvSpPr>
        <p:spPr bwMode="auto">
          <a:noFill/>
          <a:ln>
            <a:miter lim="800000"/>
            <a:headEnd/>
            <a:tailEnd/>
          </a:ln>
        </p:spPr>
        <p:txBody>
          <a:bodyPr/>
          <a:lstStyle/>
          <a:p>
            <a:fld id="{1420B2C2-6C94-45E1-BFCD-8763A305BB3F}" type="slidenum">
              <a:rPr lang="en-US" altLang="zh-CN"/>
              <a:pPr/>
              <a:t>4</a:t>
            </a:fld>
            <a:endParaRPr lang="en-US" altLang="zh-CN"/>
          </a:p>
        </p:txBody>
      </p:sp>
    </p:spTree>
    <p:extLst>
      <p:ext uri="{BB962C8B-B14F-4D97-AF65-F5344CB8AC3E}">
        <p14:creationId xmlns:p14="http://schemas.microsoft.com/office/powerpoint/2010/main" val="2909465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2969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29700" name="灯片编号占位符 3"/>
          <p:cNvSpPr>
            <a:spLocks noGrp="1"/>
          </p:cNvSpPr>
          <p:nvPr>
            <p:ph type="sldNum" sz="quarter" idx="5"/>
          </p:nvPr>
        </p:nvSpPr>
        <p:spPr bwMode="auto">
          <a:noFill/>
          <a:ln>
            <a:miter lim="800000"/>
            <a:headEnd/>
            <a:tailEnd/>
          </a:ln>
        </p:spPr>
        <p:txBody>
          <a:bodyPr/>
          <a:lstStyle/>
          <a:p>
            <a:fld id="{357CADA7-8D9C-4920-BC60-B08BE3DD31FA}" type="slidenum">
              <a:rPr lang="en-US" altLang="zh-CN"/>
              <a:pPr/>
              <a:t>5</a:t>
            </a:fld>
            <a:endParaRPr lang="en-US" altLang="zh-CN"/>
          </a:p>
        </p:txBody>
      </p:sp>
    </p:spTree>
    <p:extLst>
      <p:ext uri="{BB962C8B-B14F-4D97-AF65-F5344CB8AC3E}">
        <p14:creationId xmlns:p14="http://schemas.microsoft.com/office/powerpoint/2010/main" val="1637130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174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1748" name="灯片编号占位符 3"/>
          <p:cNvSpPr>
            <a:spLocks noGrp="1"/>
          </p:cNvSpPr>
          <p:nvPr>
            <p:ph type="sldNum" sz="quarter" idx="5"/>
          </p:nvPr>
        </p:nvSpPr>
        <p:spPr bwMode="auto">
          <a:noFill/>
          <a:ln>
            <a:miter lim="800000"/>
            <a:headEnd/>
            <a:tailEnd/>
          </a:ln>
        </p:spPr>
        <p:txBody>
          <a:bodyPr/>
          <a:lstStyle/>
          <a:p>
            <a:fld id="{D33101BB-BEC9-4D67-83B1-C4884F1D1F4D}" type="slidenum">
              <a:rPr lang="en-US" altLang="zh-CN"/>
              <a:pPr/>
              <a:t>6</a:t>
            </a:fld>
            <a:endParaRPr lang="en-US" altLang="zh-CN"/>
          </a:p>
        </p:txBody>
      </p:sp>
    </p:spTree>
    <p:extLst>
      <p:ext uri="{BB962C8B-B14F-4D97-AF65-F5344CB8AC3E}">
        <p14:creationId xmlns:p14="http://schemas.microsoft.com/office/powerpoint/2010/main" val="2891888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3796" name="灯片编号占位符 3"/>
          <p:cNvSpPr>
            <a:spLocks noGrp="1"/>
          </p:cNvSpPr>
          <p:nvPr>
            <p:ph type="sldNum" sz="quarter" idx="5"/>
          </p:nvPr>
        </p:nvSpPr>
        <p:spPr bwMode="auto">
          <a:noFill/>
          <a:ln>
            <a:miter lim="800000"/>
            <a:headEnd/>
            <a:tailEnd/>
          </a:ln>
        </p:spPr>
        <p:txBody>
          <a:bodyPr/>
          <a:lstStyle/>
          <a:p>
            <a:fld id="{B40D2CE4-3CBB-4572-9830-86248257EB8D}" type="slidenum">
              <a:rPr lang="en-US" altLang="zh-CN"/>
              <a:pPr/>
              <a:t>7</a:t>
            </a:fld>
            <a:endParaRPr lang="en-US" altLang="zh-CN"/>
          </a:p>
        </p:txBody>
      </p:sp>
    </p:spTree>
    <p:extLst>
      <p:ext uri="{BB962C8B-B14F-4D97-AF65-F5344CB8AC3E}">
        <p14:creationId xmlns:p14="http://schemas.microsoft.com/office/powerpoint/2010/main" val="414936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68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6868" name="灯片编号占位符 3"/>
          <p:cNvSpPr>
            <a:spLocks noGrp="1"/>
          </p:cNvSpPr>
          <p:nvPr>
            <p:ph type="sldNum" sz="quarter" idx="5"/>
          </p:nvPr>
        </p:nvSpPr>
        <p:spPr bwMode="auto">
          <a:noFill/>
          <a:ln>
            <a:miter lim="800000"/>
            <a:headEnd/>
            <a:tailEnd/>
          </a:ln>
        </p:spPr>
        <p:txBody>
          <a:bodyPr/>
          <a:lstStyle/>
          <a:p>
            <a:fld id="{47BAEA37-F038-4A0A-814B-7567D1ECD471}" type="slidenum">
              <a:rPr lang="en-US" altLang="zh-CN"/>
              <a:pPr/>
              <a:t>9</a:t>
            </a:fld>
            <a:endParaRPr lang="en-US" altLang="zh-CN"/>
          </a:p>
        </p:txBody>
      </p:sp>
    </p:spTree>
    <p:extLst>
      <p:ext uri="{BB962C8B-B14F-4D97-AF65-F5344CB8AC3E}">
        <p14:creationId xmlns:p14="http://schemas.microsoft.com/office/powerpoint/2010/main" val="1649852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891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38916" name="灯片编号占位符 3"/>
          <p:cNvSpPr>
            <a:spLocks noGrp="1"/>
          </p:cNvSpPr>
          <p:nvPr>
            <p:ph type="sldNum" sz="quarter" idx="5"/>
          </p:nvPr>
        </p:nvSpPr>
        <p:spPr bwMode="auto">
          <a:noFill/>
          <a:ln>
            <a:miter lim="800000"/>
            <a:headEnd/>
            <a:tailEnd/>
          </a:ln>
        </p:spPr>
        <p:txBody>
          <a:bodyPr/>
          <a:lstStyle/>
          <a:p>
            <a:fld id="{19C626C5-CC9C-4C7A-B73D-1F766E82D748}" type="slidenum">
              <a:rPr lang="en-US" altLang="zh-CN"/>
              <a:pPr/>
              <a:t>10</a:t>
            </a:fld>
            <a:endParaRPr lang="en-US" altLang="zh-CN"/>
          </a:p>
        </p:txBody>
      </p:sp>
    </p:spTree>
    <p:extLst>
      <p:ext uri="{BB962C8B-B14F-4D97-AF65-F5344CB8AC3E}">
        <p14:creationId xmlns:p14="http://schemas.microsoft.com/office/powerpoint/2010/main" val="2849741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096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0964" name="灯片编号占位符 3"/>
          <p:cNvSpPr>
            <a:spLocks noGrp="1"/>
          </p:cNvSpPr>
          <p:nvPr>
            <p:ph type="sldNum" sz="quarter" idx="5"/>
          </p:nvPr>
        </p:nvSpPr>
        <p:spPr bwMode="auto">
          <a:noFill/>
          <a:ln>
            <a:miter lim="800000"/>
            <a:headEnd/>
            <a:tailEnd/>
          </a:ln>
        </p:spPr>
        <p:txBody>
          <a:bodyPr/>
          <a:lstStyle/>
          <a:p>
            <a:fld id="{C7325CA0-7905-49C0-B4CE-C8E2F55A4569}" type="slidenum">
              <a:rPr lang="en-US" altLang="zh-CN"/>
              <a:pPr/>
              <a:t>11</a:t>
            </a:fld>
            <a:endParaRPr lang="en-US" altLang="zh-CN"/>
          </a:p>
        </p:txBody>
      </p:sp>
    </p:spTree>
    <p:extLst>
      <p:ext uri="{BB962C8B-B14F-4D97-AF65-F5344CB8AC3E}">
        <p14:creationId xmlns:p14="http://schemas.microsoft.com/office/powerpoint/2010/main" val="3080492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301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3012" name="灯片编号占位符 3"/>
          <p:cNvSpPr>
            <a:spLocks noGrp="1"/>
          </p:cNvSpPr>
          <p:nvPr>
            <p:ph type="sldNum" sz="quarter" idx="5"/>
          </p:nvPr>
        </p:nvSpPr>
        <p:spPr bwMode="auto">
          <a:noFill/>
          <a:ln>
            <a:miter lim="800000"/>
            <a:headEnd/>
            <a:tailEnd/>
          </a:ln>
        </p:spPr>
        <p:txBody>
          <a:bodyPr/>
          <a:lstStyle/>
          <a:p>
            <a:fld id="{F8D04D3E-D29F-430C-B5F3-CF9AC02691FE}" type="slidenum">
              <a:rPr lang="en-US" altLang="zh-CN"/>
              <a:pPr/>
              <a:t>12</a:t>
            </a:fld>
            <a:endParaRPr lang="en-US" altLang="zh-CN"/>
          </a:p>
        </p:txBody>
      </p:sp>
    </p:spTree>
    <p:extLst>
      <p:ext uri="{BB962C8B-B14F-4D97-AF65-F5344CB8AC3E}">
        <p14:creationId xmlns:p14="http://schemas.microsoft.com/office/powerpoint/2010/main" val="2487760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60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6084" name="灯片编号占位符 3"/>
          <p:cNvSpPr>
            <a:spLocks noGrp="1"/>
          </p:cNvSpPr>
          <p:nvPr>
            <p:ph type="sldNum" sz="quarter" idx="5"/>
          </p:nvPr>
        </p:nvSpPr>
        <p:spPr bwMode="auto">
          <a:noFill/>
          <a:ln>
            <a:miter lim="800000"/>
            <a:headEnd/>
            <a:tailEnd/>
          </a:ln>
        </p:spPr>
        <p:txBody>
          <a:bodyPr/>
          <a:lstStyle/>
          <a:p>
            <a:fld id="{82C762C9-B8AB-4D92-9094-B3C2A3D26393}" type="slidenum">
              <a:rPr lang="en-US" altLang="zh-CN"/>
              <a:pPr/>
              <a:t>14</a:t>
            </a:fld>
            <a:endParaRPr lang="en-US" altLang="zh-CN"/>
          </a:p>
        </p:txBody>
      </p:sp>
    </p:spTree>
    <p:extLst>
      <p:ext uri="{BB962C8B-B14F-4D97-AF65-F5344CB8AC3E}">
        <p14:creationId xmlns:p14="http://schemas.microsoft.com/office/powerpoint/2010/main" val="464082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608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6084" name="灯片编号占位符 3"/>
          <p:cNvSpPr>
            <a:spLocks noGrp="1"/>
          </p:cNvSpPr>
          <p:nvPr>
            <p:ph type="sldNum" sz="quarter" idx="5"/>
          </p:nvPr>
        </p:nvSpPr>
        <p:spPr bwMode="auto">
          <a:noFill/>
          <a:ln>
            <a:miter lim="800000"/>
            <a:headEnd/>
            <a:tailEnd/>
          </a:ln>
        </p:spPr>
        <p:txBody>
          <a:bodyPr/>
          <a:lstStyle/>
          <a:p>
            <a:fld id="{82C762C9-B8AB-4D92-9094-B3C2A3D26393}" type="slidenum">
              <a:rPr lang="en-US" altLang="zh-CN"/>
              <a:pPr/>
              <a:t>15</a:t>
            </a:fld>
            <a:endParaRPr lang="en-US" altLang="zh-CN"/>
          </a:p>
        </p:txBody>
      </p:sp>
    </p:spTree>
    <p:extLst>
      <p:ext uri="{BB962C8B-B14F-4D97-AF65-F5344CB8AC3E}">
        <p14:creationId xmlns:p14="http://schemas.microsoft.com/office/powerpoint/2010/main" val="27777501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48131"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8132" name="灯片编号占位符 3"/>
          <p:cNvSpPr>
            <a:spLocks noGrp="1"/>
          </p:cNvSpPr>
          <p:nvPr>
            <p:ph type="sldNum" sz="quarter" idx="5"/>
          </p:nvPr>
        </p:nvSpPr>
        <p:spPr bwMode="auto">
          <a:noFill/>
          <a:ln>
            <a:miter lim="800000"/>
            <a:headEnd/>
            <a:tailEnd/>
          </a:ln>
        </p:spPr>
        <p:txBody>
          <a:bodyPr/>
          <a:lstStyle/>
          <a:p>
            <a:fld id="{E1387FF6-2957-4130-8C32-5C999EDA86C4}" type="slidenum">
              <a:rPr lang="en-US" altLang="zh-CN"/>
              <a:pPr/>
              <a:t>16</a:t>
            </a:fld>
            <a:endParaRPr lang="en-US" altLang="zh-CN"/>
          </a:p>
        </p:txBody>
      </p:sp>
    </p:spTree>
    <p:extLst>
      <p:ext uri="{BB962C8B-B14F-4D97-AF65-F5344CB8AC3E}">
        <p14:creationId xmlns:p14="http://schemas.microsoft.com/office/powerpoint/2010/main" val="3289975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50179"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50180" name="灯片编号占位符 3"/>
          <p:cNvSpPr>
            <a:spLocks noGrp="1"/>
          </p:cNvSpPr>
          <p:nvPr>
            <p:ph type="sldNum" sz="quarter" idx="5"/>
          </p:nvPr>
        </p:nvSpPr>
        <p:spPr bwMode="auto">
          <a:noFill/>
          <a:ln>
            <a:miter lim="800000"/>
            <a:headEnd/>
            <a:tailEnd/>
          </a:ln>
        </p:spPr>
        <p:txBody>
          <a:bodyPr/>
          <a:lstStyle/>
          <a:p>
            <a:fld id="{18A661D0-7D76-4B2D-BB43-E197E419C423}" type="slidenum">
              <a:rPr lang="en-US" altLang="zh-CN"/>
              <a:pPr/>
              <a:t>17</a:t>
            </a:fld>
            <a:endParaRPr lang="en-US" altLang="zh-CN"/>
          </a:p>
        </p:txBody>
      </p:sp>
    </p:spTree>
    <p:extLst>
      <p:ext uri="{BB962C8B-B14F-4D97-AF65-F5344CB8AC3E}">
        <p14:creationId xmlns:p14="http://schemas.microsoft.com/office/powerpoint/2010/main" val="2703543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lvl1pPr eaLnBrk="1" hangingPunct="1">
              <a:defRPr>
                <a:latin typeface="Arial" charset="0"/>
              </a:defRPr>
            </a:lvl1pPr>
          </a:lstStyle>
          <a:p>
            <a:pPr>
              <a:defRPr/>
            </a:pPr>
            <a:endParaRPr lang="en-US" altLang="zh-CN"/>
          </a:p>
        </p:txBody>
      </p:sp>
      <p:sp>
        <p:nvSpPr>
          <p:cNvPr id="5" name="页脚占位符 4"/>
          <p:cNvSpPr>
            <a:spLocks noGrp="1"/>
          </p:cNvSpPr>
          <p:nvPr>
            <p:ph type="ftr" sz="quarter" idx="11"/>
          </p:nvPr>
        </p:nvSpPr>
        <p:spPr>
          <a:xfrm>
            <a:off x="4165600" y="6356351"/>
            <a:ext cx="3860800" cy="365125"/>
          </a:xfrm>
          <a:prstGeom prst="rect">
            <a:avLst/>
          </a:prstGeom>
        </p:spPr>
        <p:txBody>
          <a:bodyPr/>
          <a:lstStyle>
            <a:lvl1pPr eaLnBrk="1" hangingPunct="1">
              <a:defRPr>
                <a:latin typeface="Arial" charset="0"/>
              </a:defRPr>
            </a:lvl1pPr>
          </a:lstStyle>
          <a:p>
            <a:pPr>
              <a:defRPr/>
            </a:pPr>
            <a:endParaRPr lang="en-US" altLang="zh-CN"/>
          </a:p>
        </p:txBody>
      </p:sp>
      <p:sp>
        <p:nvSpPr>
          <p:cNvPr id="6" name="灯片编号占位符 5"/>
          <p:cNvSpPr>
            <a:spLocks noGrp="1"/>
          </p:cNvSpPr>
          <p:nvPr>
            <p:ph type="sldNum" sz="quarter" idx="12"/>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CA04B1EF-87E6-411A-87C3-98F06B8C976D}" type="slidenum">
              <a:rPr lang="en-US" altLang="zh-CN"/>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lvl1pPr eaLnBrk="1" hangingPunct="1">
              <a:defRPr>
                <a:latin typeface="Arial" charset="0"/>
              </a:defRPr>
            </a:lvl1pPr>
          </a:lstStyle>
          <a:p>
            <a:pPr>
              <a:defRPr/>
            </a:pPr>
            <a:endParaRPr lang="en-US" altLang="zh-CN"/>
          </a:p>
        </p:txBody>
      </p:sp>
      <p:sp>
        <p:nvSpPr>
          <p:cNvPr id="3" name="页脚占位符 2"/>
          <p:cNvSpPr>
            <a:spLocks noGrp="1"/>
          </p:cNvSpPr>
          <p:nvPr>
            <p:ph type="ftr" sz="quarter" idx="11"/>
          </p:nvPr>
        </p:nvSpPr>
        <p:spPr>
          <a:xfrm>
            <a:off x="4165600" y="6356351"/>
            <a:ext cx="3860800" cy="365125"/>
          </a:xfrm>
          <a:prstGeom prst="rect">
            <a:avLst/>
          </a:prstGeom>
        </p:spPr>
        <p:txBody>
          <a:bodyPr/>
          <a:lstStyle>
            <a:lvl1pPr eaLnBrk="1" hangingPunct="1">
              <a:defRPr>
                <a:latin typeface="Arial" charset="0"/>
              </a:defRPr>
            </a:lvl1pPr>
          </a:lstStyle>
          <a:p>
            <a:pPr>
              <a:defRPr/>
            </a:pPr>
            <a:endParaRPr lang="en-US" altLang="zh-CN"/>
          </a:p>
        </p:txBody>
      </p:sp>
      <p:sp>
        <p:nvSpPr>
          <p:cNvPr id="4" name="灯片编号占位符 3"/>
          <p:cNvSpPr>
            <a:spLocks noGrp="1"/>
          </p:cNvSpPr>
          <p:nvPr>
            <p:ph type="sldNum" sz="quarter" idx="12"/>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B2BC7011-4B8C-45A1-BE81-776013C8BD89}"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8214A0F3-F703-497A-9497-913EB5D5FB04}"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C109CDBE-FB70-4F7A-8D25-C0115199EDF7}"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3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35CE2EB1-61A5-44B8-BEF0-872B4DB8A206}"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4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A5EBA786-DE3D-4248-BBA1-19421E408A91}"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6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EDDA48F9-725A-4401-BB9C-8E09D3F1DC7D}"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7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7E164BDE-6309-4065-AD63-64E141AF7803}"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8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EBBF8BC7-48C3-4A42-8CA9-492CFD768FF9}"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9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7F399D0D-CFF4-4292-BE71-F084A0855060}"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0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482D7637-4329-4708-B31B-B40023FA70D4}"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3C17FBE4-1C7D-44EA-9FC6-B51B858C8B8B}"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FCE40B6D-B3DC-4B54-825D-5B6917035713}"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7E5D96BA-D6AD-4119-8806-67E831A7F28C}"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CF58429A-6EF0-47ED-A57A-9C1C4F88CAA6}"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C34CA70D-9486-4FEA-95EB-E4DD166C1059}"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39605662-B147-460C-BF90-C370187415E3}"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两栏内容">
    <p:spTree>
      <p:nvGrpSpPr>
        <p:cNvPr id="1" name=""/>
        <p:cNvGrpSpPr/>
        <p:nvPr/>
      </p:nvGrpSpPr>
      <p:grpSpPr>
        <a:xfrm>
          <a:off x="0" y="0"/>
          <a:ext cx="0" cy="0"/>
          <a:chOff x="0" y="0"/>
          <a:chExt cx="0" cy="0"/>
        </a:xfrm>
      </p:grpSpPr>
      <p:sp>
        <p:nvSpPr>
          <p:cNvPr id="2" name="日期占位符 7"/>
          <p:cNvSpPr>
            <a:spLocks noGrp="1"/>
          </p:cNvSpPr>
          <p:nvPr>
            <p:ph type="dt" sz="half" idx="10"/>
          </p:nvPr>
        </p:nvSpPr>
        <p:spPr>
          <a:xfrm>
            <a:off x="609600" y="6356351"/>
            <a:ext cx="2844800" cy="365125"/>
          </a:xfrm>
          <a:prstGeom prst="rect">
            <a:avLst/>
          </a:prstGeom>
        </p:spPr>
        <p:txBody>
          <a:bodyPr rtlCol="0"/>
          <a:lstStyle>
            <a:lvl1pPr eaLnBrk="1" hangingPunct="1">
              <a:defRPr>
                <a:latin typeface="Arial" charset="0"/>
              </a:defRPr>
            </a:lvl1pPr>
          </a:lstStyle>
          <a:p>
            <a:pPr>
              <a:defRPr/>
            </a:pPr>
            <a:endParaRPr lang="en-US" altLang="zh-CN"/>
          </a:p>
        </p:txBody>
      </p:sp>
      <p:sp>
        <p:nvSpPr>
          <p:cNvPr id="3" name="灯片编号占位符 9"/>
          <p:cNvSpPr>
            <a:spLocks noGrp="1"/>
          </p:cNvSpPr>
          <p:nvPr>
            <p:ph type="sldNum" sz="quarter" idx="11"/>
          </p:nvPr>
        </p:nvSpPr>
        <p:spPr>
          <a:xfrm>
            <a:off x="8737600" y="6356351"/>
            <a:ext cx="28448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fld id="{BE6A4543-53C0-4436-A009-0504C52B5888}" type="slidenum">
              <a:rPr lang="en-US" altLang="zh-CN"/>
              <a:pPr/>
              <a:t>‹#›</a:t>
            </a:fld>
            <a:endParaRPr lang="en-US" altLang="zh-CN"/>
          </a:p>
        </p:txBody>
      </p:sp>
      <p:sp>
        <p:nvSpPr>
          <p:cNvPr id="4" name="页脚占位符 11"/>
          <p:cNvSpPr>
            <a:spLocks noGrp="1"/>
          </p:cNvSpPr>
          <p:nvPr>
            <p:ph type="ftr" sz="quarter" idx="12"/>
          </p:nvPr>
        </p:nvSpPr>
        <p:spPr>
          <a:xfrm>
            <a:off x="4165600" y="6356351"/>
            <a:ext cx="3860800" cy="365125"/>
          </a:xfrm>
          <a:prstGeom prst="rect">
            <a:avLst/>
          </a:prstGeom>
        </p:spPr>
        <p:txBody>
          <a:bodyPr rtlCol="0"/>
          <a:lstStyle>
            <a:lvl1pPr eaLnBrk="1" hangingPunct="1">
              <a:defRPr>
                <a:latin typeface="Arial" charset="0"/>
              </a:defRPr>
            </a:lvl1pPr>
          </a:lstStyle>
          <a:p>
            <a:pPr>
              <a:defRPr/>
            </a:pPr>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transition>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47700" y="14287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609600" y="197485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2"/>
          <p:cNvSpPr>
            <a:spLocks noChangeArrowheads="1"/>
          </p:cNvSpPr>
          <p:nvPr userDrawn="1"/>
        </p:nvSpPr>
        <p:spPr bwMode="ltGray">
          <a:xfrm>
            <a:off x="556684" y="679451"/>
            <a:ext cx="584200" cy="47307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29" name="Rectangle 3"/>
          <p:cNvSpPr>
            <a:spLocks noChangeArrowheads="1"/>
          </p:cNvSpPr>
          <p:nvPr userDrawn="1"/>
        </p:nvSpPr>
        <p:spPr bwMode="ltGray">
          <a:xfrm>
            <a:off x="1066801" y="679450"/>
            <a:ext cx="438151"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0" name="Rectangle 4"/>
          <p:cNvSpPr>
            <a:spLocks noChangeArrowheads="1"/>
          </p:cNvSpPr>
          <p:nvPr userDrawn="1"/>
        </p:nvSpPr>
        <p:spPr bwMode="ltGray">
          <a:xfrm>
            <a:off x="721785" y="1101726"/>
            <a:ext cx="563033"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1" name="Rectangle 5"/>
          <p:cNvSpPr>
            <a:spLocks noChangeArrowheads="1"/>
          </p:cNvSpPr>
          <p:nvPr userDrawn="1"/>
        </p:nvSpPr>
        <p:spPr bwMode="ltGray">
          <a:xfrm>
            <a:off x="1214967" y="1101726"/>
            <a:ext cx="491067" cy="473075"/>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2" name="Rectangle 6"/>
          <p:cNvSpPr>
            <a:spLocks noChangeArrowheads="1"/>
          </p:cNvSpPr>
          <p:nvPr userDrawn="1"/>
        </p:nvSpPr>
        <p:spPr bwMode="ltGray">
          <a:xfrm>
            <a:off x="169333" y="1028700"/>
            <a:ext cx="747184" cy="420688"/>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3" name="Rectangle 7"/>
          <p:cNvSpPr>
            <a:spLocks noChangeArrowheads="1"/>
          </p:cNvSpPr>
          <p:nvPr userDrawn="1"/>
        </p:nvSpPr>
        <p:spPr bwMode="gray">
          <a:xfrm>
            <a:off x="1016000" y="571500"/>
            <a:ext cx="42333" cy="104933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4" name="Rectangle 8"/>
          <p:cNvSpPr>
            <a:spLocks noChangeArrowheads="1"/>
          </p:cNvSpPr>
          <p:nvPr userDrawn="1"/>
        </p:nvSpPr>
        <p:spPr bwMode="gray">
          <a:xfrm>
            <a:off x="590551" y="1362075"/>
            <a:ext cx="10968567" cy="46038"/>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a:p>
        </p:txBody>
      </p:sp>
      <p:sp>
        <p:nvSpPr>
          <p:cNvPr id="1036" name="文本框 2"/>
          <p:cNvSpPr txBox="1">
            <a:spLocks noChangeArrowheads="1"/>
          </p:cNvSpPr>
          <p:nvPr userDrawn="1"/>
        </p:nvSpPr>
        <p:spPr bwMode="auto">
          <a:xfrm>
            <a:off x="9570508" y="998538"/>
            <a:ext cx="246697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b="1" dirty="0">
                <a:solidFill>
                  <a:schemeClr val="tx2"/>
                </a:solidFill>
                <a:latin typeface="华文行楷" panose="02010800040101010101" pitchFamily="2" charset="-122"/>
                <a:ea typeface="华文行楷" panose="02010800040101010101" pitchFamily="2" charset="-122"/>
              </a:rPr>
              <a:t>主讲：穆浩志</a:t>
            </a:r>
          </a:p>
        </p:txBody>
      </p:sp>
      <p:pic>
        <p:nvPicPr>
          <p:cNvPr id="3" name="图片 2">
            <a:extLst>
              <a:ext uri="{FF2B5EF4-FFF2-40B4-BE49-F238E27FC236}">
                <a16:creationId xmlns:a16="http://schemas.microsoft.com/office/drawing/2014/main" id="{60FA3932-D3FB-4494-BBE4-071F4260510C}"/>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11039475" y="20639"/>
            <a:ext cx="1085850" cy="1047750"/>
          </a:xfrm>
          <a:prstGeom prst="rect">
            <a:avLst/>
          </a:prstGeom>
        </p:spPr>
      </p:pic>
    </p:spTree>
  </p:cSld>
  <p:clrMap bg1="lt1" tx1="dk1" bg2="lt2" tx2="dk2" accent1="accent1" accent2="accent2" accent3="accent3" accent4="accent4" accent5="accent5" accent6="accent6" hlink="hlink" folHlink="folHlink"/>
  <p:sldLayoutIdLst>
    <p:sldLayoutId id="2147484490" r:id="rId1"/>
    <p:sldLayoutId id="2147484491" r:id="rId2"/>
    <p:sldLayoutId id="2147484492" r:id="rId3"/>
    <p:sldLayoutId id="2147484493" r:id="rId4"/>
    <p:sldLayoutId id="2147484494" r:id="rId5"/>
    <p:sldLayoutId id="2147484495" r:id="rId6"/>
    <p:sldLayoutId id="2147484496" r:id="rId7"/>
    <p:sldLayoutId id="2147484497" r:id="rId8"/>
    <p:sldLayoutId id="2147484498" r:id="rId9"/>
    <p:sldLayoutId id="2147484499" r:id="rId10"/>
    <p:sldLayoutId id="2147484500" r:id="rId11"/>
    <p:sldLayoutId id="2147484501" r:id="rId12"/>
    <p:sldLayoutId id="2147484502" r:id="rId13"/>
    <p:sldLayoutId id="2147484503" r:id="rId14"/>
    <p:sldLayoutId id="2147484504" r:id="rId15"/>
    <p:sldLayoutId id="2147484505" r:id="rId16"/>
    <p:sldLayoutId id="2147484506" r:id="rId17"/>
    <p:sldLayoutId id="2147484507" r:id="rId18"/>
    <p:sldLayoutId id="2147484508" r:id="rId19"/>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audio" Target="../media/audio2.wav"/></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audio" Target="../media/audio2.wav"/><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notesSlide" Target="../notesSlides/notesSlide2.xml"/><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audio" Target="../media/audio3.wav"/><Relationship Id="rId7"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9.xml"/><Relationship Id="rId5" Type="http://schemas.openxmlformats.org/officeDocument/2006/relationships/image" Target="../media/image36.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2.xml"/><Relationship Id="rId3" Type="http://schemas.openxmlformats.org/officeDocument/2006/relationships/tags" Target="../tags/tag4.xml"/><Relationship Id="rId21" Type="http://schemas.openxmlformats.org/officeDocument/2006/relationships/image" Target="../media/image39.png"/><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image" Target="../media/image38.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image" Target="../media/image41.png"/><Relationship Id="rId10" Type="http://schemas.openxmlformats.org/officeDocument/2006/relationships/tags" Target="../tags/tag11.xml"/><Relationship Id="rId19" Type="http://schemas.openxmlformats.org/officeDocument/2006/relationships/image" Target="../media/image37.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image" Target="../media/image4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43.png"/><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2.png"/><Relationship Id="rId7"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19.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12.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18" Type="http://schemas.openxmlformats.org/officeDocument/2006/relationships/image" Target="../media/image66.png"/><Relationship Id="rId3" Type="http://schemas.openxmlformats.org/officeDocument/2006/relationships/image" Target="../media/image52.png"/><Relationship Id="rId21" Type="http://schemas.openxmlformats.org/officeDocument/2006/relationships/image" Target="../media/image42.png"/><Relationship Id="rId7" Type="http://schemas.openxmlformats.org/officeDocument/2006/relationships/image" Target="../media/image55.png"/><Relationship Id="rId12" Type="http://schemas.openxmlformats.org/officeDocument/2006/relationships/image" Target="../media/image60.png"/><Relationship Id="rId17" Type="http://schemas.openxmlformats.org/officeDocument/2006/relationships/image" Target="../media/image65.png"/><Relationship Id="rId2" Type="http://schemas.openxmlformats.org/officeDocument/2006/relationships/notesSlide" Target="../notesSlides/notesSlide10.xml"/><Relationship Id="rId16" Type="http://schemas.openxmlformats.org/officeDocument/2006/relationships/image" Target="../media/image64.png"/><Relationship Id="rId20" Type="http://schemas.openxmlformats.org/officeDocument/2006/relationships/image" Target="../media/image68.png"/><Relationship Id="rId1" Type="http://schemas.openxmlformats.org/officeDocument/2006/relationships/slideLayout" Target="../slideLayouts/slideLayout19.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5" Type="http://schemas.openxmlformats.org/officeDocument/2006/relationships/image" Target="../media/image63.png"/><Relationship Id="rId10" Type="http://schemas.openxmlformats.org/officeDocument/2006/relationships/image" Target="../media/image58.png"/><Relationship Id="rId19" Type="http://schemas.openxmlformats.org/officeDocument/2006/relationships/image" Target="../media/image67.png"/><Relationship Id="rId4" Type="http://schemas.openxmlformats.org/officeDocument/2006/relationships/image" Target="../media/image47.png"/><Relationship Id="rId9" Type="http://schemas.openxmlformats.org/officeDocument/2006/relationships/image" Target="../media/image57.png"/><Relationship Id="rId14" Type="http://schemas.openxmlformats.org/officeDocument/2006/relationships/image" Target="../media/image62.png"/></Relationships>
</file>

<file path=ppt/slides/_rels/slide13.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image" Target="../media/image41.png"/><Relationship Id="rId2" Type="http://schemas.openxmlformats.org/officeDocument/2006/relationships/tags" Target="../tags/tag20.xml"/><Relationship Id="rId16"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s/_rels/slide14.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s>
</file>

<file path=ppt/slides/_rels/slide1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12" Type="http://schemas.openxmlformats.org/officeDocument/2006/relationships/image" Target="../media/image77.png"/><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0"/>
          <p:cNvSpPr>
            <a:spLocks/>
          </p:cNvSpPr>
          <p:nvPr/>
        </p:nvSpPr>
        <p:spPr bwMode="auto">
          <a:xfrm>
            <a:off x="4635500" y="1885951"/>
            <a:ext cx="255588" cy="1376363"/>
          </a:xfrm>
          <a:prstGeom prst="leftBrace">
            <a:avLst>
              <a:gd name="adj1" fmla="val 108400"/>
              <a:gd name="adj2" fmla="val 50000"/>
            </a:avLst>
          </a:prstGeom>
          <a:noFill/>
          <a:ln w="19050">
            <a:solidFill>
              <a:srgbClr val="000000"/>
            </a:solidFill>
            <a:round/>
            <a:headEnd/>
            <a:tailEnd/>
          </a:ln>
        </p:spPr>
        <p:txBody>
          <a:bodyPr wrap="none" anchor="ctr"/>
          <a:lstStyle/>
          <a:p>
            <a:pPr eaLnBrk="1" hangingPunct="1"/>
            <a:endParaRPr lang="zh-CN" altLang="en-US"/>
          </a:p>
        </p:txBody>
      </p:sp>
      <p:sp>
        <p:nvSpPr>
          <p:cNvPr id="5" name="矩形 4"/>
          <p:cNvSpPr>
            <a:spLocks noChangeArrowheads="1"/>
          </p:cNvSpPr>
          <p:nvPr/>
        </p:nvSpPr>
        <p:spPr bwMode="auto">
          <a:xfrm>
            <a:off x="4708525" y="1625601"/>
            <a:ext cx="3835400" cy="461963"/>
          </a:xfrm>
          <a:prstGeom prst="rect">
            <a:avLst/>
          </a:prstGeom>
          <a:noFill/>
          <a:ln w="9525">
            <a:noFill/>
            <a:miter lim="800000"/>
            <a:headEnd/>
            <a:tailEnd/>
          </a:ln>
        </p:spPr>
        <p:txBody>
          <a:bodyPr>
            <a:spAutoFit/>
          </a:bodyPr>
          <a:lstStyle/>
          <a:p>
            <a:pPr indent="298450">
              <a:tabLst>
                <a:tab pos="2636838" algn="ctr"/>
                <a:tab pos="5273675" algn="r"/>
              </a:tabLst>
            </a:pPr>
            <a:r>
              <a:rPr lang="en-US" altLang="zh-CN" sz="2400" dirty="0"/>
              <a:t>1.</a:t>
            </a:r>
            <a:r>
              <a:rPr lang="en-US" altLang="zh-CN" sz="2400" dirty="0">
                <a:cs typeface="Arial" charset="0"/>
              </a:rPr>
              <a:t> </a:t>
            </a:r>
            <a:r>
              <a:rPr lang="zh-CN" altLang="en-US" sz="2400" dirty="0">
                <a:cs typeface="Arial" charset="0"/>
              </a:rPr>
              <a:t>组合体的构型</a:t>
            </a:r>
            <a:endParaRPr lang="zh-CN" altLang="en-US" sz="2400" dirty="0"/>
          </a:p>
        </p:txBody>
      </p:sp>
      <p:sp>
        <p:nvSpPr>
          <p:cNvPr id="6" name="矩形 5"/>
          <p:cNvSpPr>
            <a:spLocks noChangeArrowheads="1"/>
          </p:cNvSpPr>
          <p:nvPr/>
        </p:nvSpPr>
        <p:spPr bwMode="auto">
          <a:xfrm>
            <a:off x="4745039" y="2938463"/>
            <a:ext cx="5233987" cy="461962"/>
          </a:xfrm>
          <a:prstGeom prst="rect">
            <a:avLst/>
          </a:prstGeom>
          <a:noFill/>
          <a:ln w="9525">
            <a:noFill/>
            <a:miter lim="800000"/>
            <a:headEnd/>
            <a:tailEnd/>
          </a:ln>
        </p:spPr>
        <p:txBody>
          <a:bodyPr>
            <a:spAutoFit/>
          </a:bodyPr>
          <a:lstStyle/>
          <a:p>
            <a:pPr indent="298450">
              <a:tabLst>
                <a:tab pos="2636838" algn="ctr"/>
                <a:tab pos="5273675" algn="r"/>
              </a:tabLst>
              <a:defRPr/>
            </a:pPr>
            <a:r>
              <a:rPr lang="en-US" altLang="zh-CN" sz="2400" b="1" dirty="0">
                <a:latin typeface="+mn-ea"/>
                <a:ea typeface="+mn-ea"/>
                <a:cs typeface="Arial" charset="0"/>
              </a:rPr>
              <a:t>3.</a:t>
            </a:r>
            <a:r>
              <a:rPr lang="zh-CN" altLang="en-US" sz="2400" dirty="0">
                <a:latin typeface="+mn-ea"/>
                <a:ea typeface="+mn-ea"/>
                <a:cs typeface="Arial" charset="0"/>
              </a:rPr>
              <a:t>画组合体三面投影的方法和步骤</a:t>
            </a:r>
            <a:endParaRPr lang="zh-CN" altLang="en-US" sz="2400" dirty="0">
              <a:latin typeface="+mn-ea"/>
              <a:ea typeface="+mn-ea"/>
            </a:endParaRPr>
          </a:p>
        </p:txBody>
      </p:sp>
      <p:sp>
        <p:nvSpPr>
          <p:cNvPr id="8" name="AutoShape 20"/>
          <p:cNvSpPr>
            <a:spLocks/>
          </p:cNvSpPr>
          <p:nvPr/>
        </p:nvSpPr>
        <p:spPr bwMode="auto">
          <a:xfrm>
            <a:off x="4635500" y="3778251"/>
            <a:ext cx="255588" cy="1255713"/>
          </a:xfrm>
          <a:prstGeom prst="leftBrace">
            <a:avLst>
              <a:gd name="adj1" fmla="val 108337"/>
              <a:gd name="adj2" fmla="val 50000"/>
            </a:avLst>
          </a:prstGeom>
          <a:noFill/>
          <a:ln w="19050">
            <a:solidFill>
              <a:srgbClr val="000000"/>
            </a:solidFill>
            <a:round/>
            <a:headEnd/>
            <a:tailEnd/>
          </a:ln>
        </p:spPr>
        <p:txBody>
          <a:bodyPr wrap="none" anchor="ctr"/>
          <a:lstStyle/>
          <a:p>
            <a:pPr eaLnBrk="1" hangingPunct="1"/>
            <a:endParaRPr lang="zh-CN" altLang="en-US"/>
          </a:p>
        </p:txBody>
      </p:sp>
      <p:sp>
        <p:nvSpPr>
          <p:cNvPr id="9" name="矩形 8"/>
          <p:cNvSpPr>
            <a:spLocks noChangeArrowheads="1"/>
          </p:cNvSpPr>
          <p:nvPr/>
        </p:nvSpPr>
        <p:spPr bwMode="auto">
          <a:xfrm>
            <a:off x="5037139" y="4143376"/>
            <a:ext cx="5380037" cy="461963"/>
          </a:xfrm>
          <a:prstGeom prst="rect">
            <a:avLst/>
          </a:prstGeom>
          <a:noFill/>
          <a:ln w="9525">
            <a:noFill/>
            <a:miter lim="800000"/>
            <a:headEnd/>
            <a:tailEnd/>
          </a:ln>
        </p:spPr>
        <p:txBody>
          <a:bodyPr>
            <a:spAutoFit/>
          </a:bodyPr>
          <a:lstStyle/>
          <a:p>
            <a:pPr eaLnBrk="1" hangingPunct="1">
              <a:defRPr/>
            </a:pPr>
            <a:r>
              <a:rPr lang="en-US" altLang="zh-CN" sz="2400" b="1" dirty="0">
                <a:latin typeface="+mn-ea"/>
                <a:ea typeface="+mn-ea"/>
              </a:rPr>
              <a:t>2.</a:t>
            </a:r>
            <a:r>
              <a:rPr lang="zh-CN" altLang="en-US" sz="2400" dirty="0">
                <a:latin typeface="+mn-ea"/>
                <a:ea typeface="+mn-ea"/>
                <a:cs typeface="Arial" charset="0"/>
              </a:rPr>
              <a:t>用形体分析法绘制组合体三视图</a:t>
            </a:r>
            <a:endParaRPr lang="zh-CN" altLang="en-US" sz="2400" dirty="0">
              <a:latin typeface="+mn-ea"/>
              <a:ea typeface="+mn-ea"/>
            </a:endParaRPr>
          </a:p>
        </p:txBody>
      </p:sp>
      <p:sp>
        <p:nvSpPr>
          <p:cNvPr id="10" name="矩形 9"/>
          <p:cNvSpPr>
            <a:spLocks noChangeArrowheads="1"/>
          </p:cNvSpPr>
          <p:nvPr/>
        </p:nvSpPr>
        <p:spPr bwMode="auto">
          <a:xfrm>
            <a:off x="5037139" y="3671888"/>
            <a:ext cx="4530725" cy="461962"/>
          </a:xfrm>
          <a:prstGeom prst="rect">
            <a:avLst/>
          </a:prstGeom>
          <a:noFill/>
          <a:ln w="9525">
            <a:noFill/>
            <a:miter lim="800000"/>
            <a:headEnd/>
            <a:tailEnd/>
          </a:ln>
        </p:spPr>
        <p:txBody>
          <a:bodyPr>
            <a:spAutoFit/>
          </a:bodyPr>
          <a:lstStyle/>
          <a:p>
            <a:pPr eaLnBrk="1" hangingPunct="1">
              <a:defRPr/>
            </a:pPr>
            <a:r>
              <a:rPr lang="en-US" altLang="zh-CN" sz="2400" b="1" dirty="0">
                <a:latin typeface="+mn-ea"/>
                <a:ea typeface="+mn-ea"/>
                <a:cs typeface="Arial" charset="0"/>
              </a:rPr>
              <a:t>1.</a:t>
            </a:r>
            <a:r>
              <a:rPr lang="zh-CN" altLang="en-US" sz="2400" dirty="0">
                <a:latin typeface="+mn-ea"/>
                <a:ea typeface="+mn-ea"/>
                <a:cs typeface="Arial" charset="0"/>
              </a:rPr>
              <a:t>掌握</a:t>
            </a:r>
            <a:r>
              <a:rPr lang="zh-CN" altLang="en-US" sz="2400" dirty="0">
                <a:latin typeface="+mn-ea"/>
                <a:ea typeface="+mn-ea"/>
              </a:rPr>
              <a:t>组合体的构型</a:t>
            </a:r>
            <a:endParaRPr lang="en-US" altLang="zh-CN" sz="2400" dirty="0">
              <a:latin typeface="+mn-ea"/>
              <a:ea typeface="+mn-ea"/>
            </a:endParaRPr>
          </a:p>
        </p:txBody>
      </p:sp>
      <p:sp>
        <p:nvSpPr>
          <p:cNvPr id="11" name="右箭头 10"/>
          <p:cNvSpPr>
            <a:spLocks noChangeArrowheads="1"/>
          </p:cNvSpPr>
          <p:nvPr/>
        </p:nvSpPr>
        <p:spPr bwMode="auto">
          <a:xfrm>
            <a:off x="1714500" y="5603876"/>
            <a:ext cx="3221038" cy="962025"/>
          </a:xfrm>
          <a:prstGeom prst="rightArrow">
            <a:avLst>
              <a:gd name="adj1" fmla="val 50000"/>
              <a:gd name="adj2" fmla="val 69614"/>
            </a:avLst>
          </a:prstGeom>
          <a:solidFill>
            <a:srgbClr val="00B050"/>
          </a:solidFill>
          <a:ln w="28575" algn="ctr">
            <a:solidFill>
              <a:schemeClr val="accent1"/>
            </a:solidFill>
            <a:round/>
            <a:headEnd/>
            <a:tailEnd/>
          </a:ln>
        </p:spPr>
        <p:txBody>
          <a:bodyPr wrap="none" anchor="ctr"/>
          <a:lstStyle/>
          <a:p>
            <a:pPr indent="152400">
              <a:tabLst>
                <a:tab pos="2636838" algn="ctr"/>
                <a:tab pos="5273675" algn="r"/>
              </a:tabLst>
            </a:pPr>
            <a:r>
              <a:rPr lang="zh-CN" altLang="en-US" sz="2800">
                <a:cs typeface="Arial" charset="0"/>
              </a:rPr>
              <a:t>重点、难点：</a:t>
            </a:r>
          </a:p>
        </p:txBody>
      </p:sp>
      <p:sp>
        <p:nvSpPr>
          <p:cNvPr id="12" name="矩形 11"/>
          <p:cNvSpPr>
            <a:spLocks noChangeArrowheads="1"/>
          </p:cNvSpPr>
          <p:nvPr/>
        </p:nvSpPr>
        <p:spPr bwMode="auto">
          <a:xfrm>
            <a:off x="4935538" y="5564188"/>
            <a:ext cx="5740400" cy="461963"/>
          </a:xfrm>
          <a:prstGeom prst="rect">
            <a:avLst/>
          </a:prstGeom>
          <a:noFill/>
          <a:ln w="9525">
            <a:noFill/>
            <a:miter lim="800000"/>
            <a:headEnd/>
            <a:tailEnd/>
          </a:ln>
        </p:spPr>
        <p:txBody>
          <a:bodyPr>
            <a:spAutoFit/>
          </a:bodyPr>
          <a:lstStyle/>
          <a:p>
            <a:pPr marL="216000" indent="-514350" eaLnBrk="1" hangingPunct="1">
              <a:defRPr/>
            </a:pPr>
            <a:r>
              <a:rPr lang="en-US" altLang="zh-CN" sz="2400" b="1" dirty="0">
                <a:latin typeface="+mn-ea"/>
                <a:ea typeface="+mn-ea"/>
              </a:rPr>
              <a:t>1.</a:t>
            </a:r>
            <a:r>
              <a:rPr lang="zh-CN" altLang="en-US" sz="2400" dirty="0">
                <a:solidFill>
                  <a:srgbClr val="FF0000"/>
                </a:solidFill>
                <a:latin typeface="+mn-ea"/>
                <a:ea typeface="+mn-ea"/>
              </a:rPr>
              <a:t>相邻表面</a:t>
            </a:r>
            <a:r>
              <a:rPr lang="zh-CN" altLang="en-US" sz="2400" dirty="0">
                <a:latin typeface="+mn-ea"/>
                <a:ea typeface="+mn-ea"/>
              </a:rPr>
              <a:t>之间各种</a:t>
            </a:r>
            <a:r>
              <a:rPr lang="zh-CN" altLang="en-US" sz="2400" dirty="0">
                <a:solidFill>
                  <a:srgbClr val="FF0000"/>
                </a:solidFill>
                <a:latin typeface="+mn-ea"/>
                <a:ea typeface="+mn-ea"/>
              </a:rPr>
              <a:t>位置关系</a:t>
            </a:r>
            <a:r>
              <a:rPr lang="zh-CN" altLang="en-US" sz="2400" dirty="0">
                <a:latin typeface="+mn-ea"/>
                <a:ea typeface="+mn-ea"/>
              </a:rPr>
              <a:t>的画图方法</a:t>
            </a:r>
            <a:endParaRPr lang="en-US" altLang="zh-CN" sz="2400" dirty="0">
              <a:latin typeface="+mn-ea"/>
              <a:ea typeface="+mn-ea"/>
            </a:endParaRPr>
          </a:p>
        </p:txBody>
      </p:sp>
      <p:sp>
        <p:nvSpPr>
          <p:cNvPr id="14" name="矩形 13"/>
          <p:cNvSpPr>
            <a:spLocks noChangeArrowheads="1"/>
          </p:cNvSpPr>
          <p:nvPr/>
        </p:nvSpPr>
        <p:spPr bwMode="auto">
          <a:xfrm>
            <a:off x="4745038" y="4618038"/>
            <a:ext cx="4564062" cy="461962"/>
          </a:xfrm>
          <a:prstGeom prst="rect">
            <a:avLst/>
          </a:prstGeom>
          <a:noFill/>
          <a:ln w="9525">
            <a:noFill/>
            <a:miter lim="800000"/>
            <a:headEnd/>
            <a:tailEnd/>
          </a:ln>
        </p:spPr>
        <p:txBody>
          <a:bodyPr>
            <a:spAutoFit/>
          </a:bodyPr>
          <a:lstStyle/>
          <a:p>
            <a:pPr indent="298450">
              <a:tabLst>
                <a:tab pos="2636838" algn="ctr"/>
                <a:tab pos="5273675" algn="r"/>
              </a:tabLst>
              <a:defRPr/>
            </a:pPr>
            <a:r>
              <a:rPr lang="en-US" altLang="zh-CN" sz="2400" b="1" dirty="0">
                <a:latin typeface="+mn-ea"/>
                <a:ea typeface="+mn-ea"/>
                <a:cs typeface="Arial" charset="0"/>
              </a:rPr>
              <a:t>3.</a:t>
            </a:r>
            <a:r>
              <a:rPr lang="zh-CN" altLang="en-US" sz="2400" dirty="0">
                <a:latin typeface="+mn-ea"/>
                <a:ea typeface="+mn-ea"/>
                <a:cs typeface="Arial" charset="0"/>
              </a:rPr>
              <a:t>组合形体的构型及表达</a:t>
            </a:r>
            <a:endParaRPr lang="zh-CN" altLang="en-US" sz="2400" dirty="0">
              <a:latin typeface="+mn-ea"/>
              <a:ea typeface="+mn-ea"/>
            </a:endParaRPr>
          </a:p>
        </p:txBody>
      </p:sp>
      <p:sp>
        <p:nvSpPr>
          <p:cNvPr id="15" name="矩形 14"/>
          <p:cNvSpPr>
            <a:spLocks noChangeArrowheads="1"/>
          </p:cNvSpPr>
          <p:nvPr/>
        </p:nvSpPr>
        <p:spPr bwMode="auto">
          <a:xfrm>
            <a:off x="4935538" y="6080127"/>
            <a:ext cx="5233987" cy="461963"/>
          </a:xfrm>
          <a:prstGeom prst="rect">
            <a:avLst/>
          </a:prstGeom>
          <a:noFill/>
          <a:ln w="9525">
            <a:noFill/>
            <a:miter lim="800000"/>
            <a:headEnd/>
            <a:tailEnd/>
          </a:ln>
        </p:spPr>
        <p:txBody>
          <a:bodyPr>
            <a:spAutoFit/>
          </a:bodyPr>
          <a:lstStyle/>
          <a:p>
            <a:pPr eaLnBrk="1" hangingPunct="1"/>
            <a:r>
              <a:rPr lang="en-US" altLang="zh-CN" sz="2400" i="1" dirty="0"/>
              <a:t>2.</a:t>
            </a:r>
            <a:r>
              <a:rPr lang="zh-CN" altLang="en-US" sz="2400" dirty="0">
                <a:solidFill>
                  <a:srgbClr val="FF0000"/>
                </a:solidFill>
              </a:rPr>
              <a:t>形体分析</a:t>
            </a:r>
            <a:r>
              <a:rPr lang="zh-CN" altLang="en-US" sz="2400" dirty="0"/>
              <a:t>方法进行组合体的画图</a:t>
            </a:r>
            <a:endParaRPr lang="en-US" altLang="zh-CN" sz="2400" dirty="0"/>
          </a:p>
        </p:txBody>
      </p:sp>
      <p:sp>
        <p:nvSpPr>
          <p:cNvPr id="16" name="矩形 15"/>
          <p:cNvSpPr>
            <a:spLocks noChangeArrowheads="1"/>
          </p:cNvSpPr>
          <p:nvPr/>
        </p:nvSpPr>
        <p:spPr bwMode="auto">
          <a:xfrm>
            <a:off x="4745039" y="2098676"/>
            <a:ext cx="5380037" cy="830997"/>
          </a:xfrm>
          <a:prstGeom prst="rect">
            <a:avLst/>
          </a:prstGeom>
          <a:noFill/>
          <a:ln w="9525">
            <a:noFill/>
            <a:miter lim="800000"/>
            <a:headEnd/>
            <a:tailEnd/>
          </a:ln>
        </p:spPr>
        <p:txBody>
          <a:bodyPr wrap="square">
            <a:spAutoFit/>
          </a:bodyPr>
          <a:lstStyle/>
          <a:p>
            <a:pPr indent="298450">
              <a:tabLst>
                <a:tab pos="2636838" algn="ctr"/>
                <a:tab pos="5273675" algn="r"/>
              </a:tabLst>
              <a:defRPr/>
            </a:pPr>
            <a:r>
              <a:rPr lang="en-US" altLang="zh-CN" sz="2400" b="1" dirty="0">
                <a:latin typeface="+mn-ea"/>
                <a:ea typeface="+mn-ea"/>
                <a:cs typeface="Arial" charset="0"/>
              </a:rPr>
              <a:t>2.</a:t>
            </a:r>
            <a:r>
              <a:rPr lang="zh-CN" altLang="en-US" sz="2400" dirty="0">
                <a:latin typeface="+mn-ea"/>
                <a:ea typeface="+mn-ea"/>
                <a:cs typeface="Arial" charset="0"/>
              </a:rPr>
              <a:t>组合体的</a:t>
            </a:r>
            <a:r>
              <a:rPr lang="zh-CN" altLang="en-US" sz="2400" dirty="0">
                <a:solidFill>
                  <a:srgbClr val="FF0000"/>
                </a:solidFill>
                <a:latin typeface="+mn-ea"/>
                <a:ea typeface="+mn-ea"/>
                <a:cs typeface="Arial" charset="0"/>
              </a:rPr>
              <a:t>组合方式</a:t>
            </a:r>
            <a:r>
              <a:rPr lang="zh-CN" altLang="en-US" sz="2400" dirty="0">
                <a:latin typeface="+mn-ea"/>
                <a:ea typeface="+mn-ea"/>
                <a:cs typeface="Arial" charset="0"/>
              </a:rPr>
              <a:t>和</a:t>
            </a:r>
            <a:r>
              <a:rPr lang="zh-CN" altLang="en-US" sz="2400" dirty="0">
                <a:solidFill>
                  <a:srgbClr val="FF0000"/>
                </a:solidFill>
                <a:latin typeface="+mn-ea"/>
                <a:ea typeface="+mn-ea"/>
                <a:cs typeface="Arial" charset="0"/>
              </a:rPr>
              <a:t>相邻表</a:t>
            </a:r>
            <a:r>
              <a:rPr lang="zh-CN" altLang="en-US" sz="2400" dirty="0">
                <a:solidFill>
                  <a:srgbClr val="FF0000"/>
                </a:solidFill>
                <a:latin typeface="+mn-ea"/>
                <a:cs typeface="Arial" charset="0"/>
              </a:rPr>
              <a:t>面之</a:t>
            </a:r>
            <a:endParaRPr lang="en-US" altLang="zh-CN" sz="2400" dirty="0">
              <a:solidFill>
                <a:srgbClr val="FF0000"/>
              </a:solidFill>
              <a:latin typeface="+mn-ea"/>
              <a:cs typeface="Arial" charset="0"/>
            </a:endParaRPr>
          </a:p>
          <a:p>
            <a:pPr indent="298450">
              <a:tabLst>
                <a:tab pos="2636838" algn="ctr"/>
                <a:tab pos="5273675" algn="r"/>
              </a:tabLst>
              <a:defRPr/>
            </a:pPr>
            <a:r>
              <a:rPr lang="en-US" altLang="zh-CN" sz="2400" dirty="0">
                <a:solidFill>
                  <a:srgbClr val="FF0000"/>
                </a:solidFill>
                <a:latin typeface="+mn-ea"/>
                <a:cs typeface="Arial" charset="0"/>
              </a:rPr>
              <a:t>   </a:t>
            </a:r>
            <a:r>
              <a:rPr lang="zh-CN" altLang="en-US" sz="2400" dirty="0">
                <a:solidFill>
                  <a:srgbClr val="FF0000"/>
                </a:solidFill>
                <a:latin typeface="+mn-ea"/>
                <a:cs typeface="Arial" charset="0"/>
              </a:rPr>
              <a:t>间</a:t>
            </a:r>
            <a:r>
              <a:rPr lang="zh-CN" altLang="en-US" sz="2400" dirty="0">
                <a:latin typeface="+mn-ea"/>
                <a:cs typeface="Arial" charset="0"/>
              </a:rPr>
              <a:t>的关系</a:t>
            </a:r>
            <a:endParaRPr lang="zh-CN" altLang="en-US" sz="2400" dirty="0">
              <a:latin typeface="+mn-ea"/>
              <a:ea typeface="+mn-ea"/>
            </a:endParaRPr>
          </a:p>
        </p:txBody>
      </p:sp>
      <p:sp>
        <p:nvSpPr>
          <p:cNvPr id="17" name="Rectangle 2"/>
          <p:cNvSpPr>
            <a:spLocks noChangeArrowheads="1"/>
          </p:cNvSpPr>
          <p:nvPr/>
        </p:nvSpPr>
        <p:spPr bwMode="auto">
          <a:xfrm>
            <a:off x="2771937" y="2238375"/>
            <a:ext cx="1808794" cy="620713"/>
          </a:xfrm>
          <a:prstGeom prst="rect">
            <a:avLst/>
          </a:prstGeom>
          <a:noFill/>
          <a:ln w="9525">
            <a:noFill/>
            <a:miter lim="800000"/>
            <a:headEnd/>
            <a:tailEnd/>
          </a:ln>
          <a:effectLst/>
        </p:spPr>
        <p:txBody>
          <a:bodyPr/>
          <a:lstStyle/>
          <a:p>
            <a:pPr marL="342900" indent="-342900" eaLnBrk="1" hangingPunct="1">
              <a:lnSpc>
                <a:spcPct val="120000"/>
              </a:lnSpc>
              <a:spcBef>
                <a:spcPct val="20000"/>
              </a:spcBef>
              <a:buClr>
                <a:schemeClr val="tx1"/>
              </a:buClr>
              <a:buSzPct val="70000"/>
              <a:defRPr/>
            </a:pPr>
            <a:r>
              <a:rPr kumimoji="1" lang="zh-CN" altLang="en-US" sz="2800" b="1" dirty="0">
                <a:solidFill>
                  <a:srgbClr val="0070C0"/>
                </a:solidFill>
                <a:effectLst>
                  <a:outerShdw blurRad="38100" dist="38100" dir="2700000" algn="tl">
                    <a:srgbClr val="000000">
                      <a:alpha val="43137"/>
                    </a:srgbClr>
                  </a:outerShdw>
                </a:effectLst>
              </a:rPr>
              <a:t>本讲内容</a:t>
            </a:r>
          </a:p>
          <a:p>
            <a:pPr marL="342900" indent="-342900" eaLnBrk="1" hangingPunct="1">
              <a:lnSpc>
                <a:spcPct val="150000"/>
              </a:lnSpc>
              <a:buClr>
                <a:schemeClr val="tx1"/>
              </a:buClr>
              <a:buSzPct val="70000"/>
              <a:defRPr/>
            </a:pPr>
            <a:r>
              <a:rPr kumimoji="1" lang="zh-CN" altLang="en-US" sz="2800" dirty="0">
                <a:solidFill>
                  <a:srgbClr val="0070C0"/>
                </a:solidFill>
                <a:effectLst>
                  <a:outerShdw blurRad="38100" dist="38100" dir="2700000" algn="tl">
                    <a:srgbClr val="000000">
                      <a:alpha val="43137"/>
                    </a:srgbClr>
                  </a:outerShdw>
                </a:effectLst>
                <a:latin typeface="宋体" pitchFamily="2" charset="-122"/>
              </a:rPr>
              <a:t>		</a:t>
            </a:r>
          </a:p>
          <a:p>
            <a:pPr marL="342900" indent="-342900" eaLnBrk="1" hangingPunct="1">
              <a:lnSpc>
                <a:spcPct val="125000"/>
              </a:lnSpc>
              <a:buClr>
                <a:schemeClr val="tx1"/>
              </a:buClr>
              <a:buSzPct val="70000"/>
              <a:defRPr/>
            </a:pPr>
            <a:r>
              <a:rPr kumimoji="1" lang="zh-CN" altLang="en-US" sz="2800" dirty="0">
                <a:solidFill>
                  <a:srgbClr val="0070C0"/>
                </a:solidFill>
                <a:effectLst>
                  <a:outerShdw blurRad="38100" dist="38100" dir="2700000" algn="tl">
                    <a:srgbClr val="000000">
                      <a:alpha val="43137"/>
                    </a:srgbClr>
                  </a:outerShdw>
                </a:effectLst>
                <a:latin typeface="宋体" pitchFamily="2" charset="-122"/>
              </a:rPr>
              <a:t>		</a:t>
            </a:r>
            <a:endParaRPr kumimoji="1" lang="zh-CN" altLang="en-US" sz="2800" dirty="0">
              <a:solidFill>
                <a:srgbClr val="0070C0"/>
              </a:solidFill>
              <a:effectLst>
                <a:outerShdw blurRad="38100" dist="38100" dir="2700000" algn="tl">
                  <a:srgbClr val="000000">
                    <a:alpha val="43137"/>
                  </a:srgbClr>
                </a:outerShdw>
              </a:effectLst>
            </a:endParaRPr>
          </a:p>
        </p:txBody>
      </p:sp>
      <p:sp>
        <p:nvSpPr>
          <p:cNvPr id="19" name="Rectangle 52"/>
          <p:cNvSpPr>
            <a:spLocks noChangeArrowheads="1"/>
          </p:cNvSpPr>
          <p:nvPr/>
        </p:nvSpPr>
        <p:spPr bwMode="auto">
          <a:xfrm>
            <a:off x="2761618" y="4064000"/>
            <a:ext cx="1819113" cy="620713"/>
          </a:xfrm>
          <a:prstGeom prst="rect">
            <a:avLst/>
          </a:prstGeom>
          <a:noFill/>
          <a:ln w="9525">
            <a:noFill/>
            <a:miter lim="800000"/>
            <a:headEnd/>
            <a:tailEnd/>
          </a:ln>
          <a:effectLst/>
        </p:spPr>
        <p:txBody>
          <a:bodyPr/>
          <a:lstStyle/>
          <a:p>
            <a:pPr marL="342900" indent="-342900" eaLnBrk="1" hangingPunct="1">
              <a:lnSpc>
                <a:spcPct val="120000"/>
              </a:lnSpc>
              <a:spcBef>
                <a:spcPct val="20000"/>
              </a:spcBef>
              <a:buClr>
                <a:schemeClr val="tx1"/>
              </a:buClr>
              <a:buSzPct val="70000"/>
              <a:defRPr/>
            </a:pPr>
            <a:r>
              <a:rPr kumimoji="1" lang="zh-CN" altLang="en-US" sz="2800" b="1" dirty="0">
                <a:solidFill>
                  <a:srgbClr val="0070C0"/>
                </a:solidFill>
                <a:effectLst>
                  <a:outerShdw blurRad="38100" dist="38100" dir="2700000" algn="tl">
                    <a:srgbClr val="000000">
                      <a:alpha val="43137"/>
                    </a:srgbClr>
                  </a:outerShdw>
                </a:effectLst>
              </a:rPr>
              <a:t>学习目标</a:t>
            </a:r>
          </a:p>
          <a:p>
            <a:pPr marL="342900" indent="-342900" eaLnBrk="1" hangingPunct="1">
              <a:lnSpc>
                <a:spcPct val="150000"/>
              </a:lnSpc>
              <a:buClr>
                <a:schemeClr val="tx1"/>
              </a:buClr>
              <a:buSzPct val="70000"/>
              <a:defRPr/>
            </a:pPr>
            <a:r>
              <a:rPr kumimoji="1" lang="zh-CN" altLang="en-US" sz="2800" dirty="0">
                <a:latin typeface="宋体" pitchFamily="2" charset="-122"/>
              </a:rPr>
              <a:t>		</a:t>
            </a:r>
          </a:p>
          <a:p>
            <a:pPr marL="342900" indent="-342900" eaLnBrk="1" hangingPunct="1">
              <a:lnSpc>
                <a:spcPct val="125000"/>
              </a:lnSpc>
              <a:buClr>
                <a:schemeClr val="tx1"/>
              </a:buClr>
              <a:buSzPct val="70000"/>
              <a:defRPr/>
            </a:pPr>
            <a:r>
              <a:rPr kumimoji="1" lang="zh-CN" altLang="en-US" sz="2800" dirty="0">
                <a:latin typeface="宋体" pitchFamily="2" charset="-122"/>
              </a:rPr>
              <a:t>		</a:t>
            </a:r>
            <a:endParaRPr kumimoji="1" lang="zh-CN" altLang="en-US" sz="2800" dirty="0">
              <a:solidFill>
                <a:srgbClr val="FF0000"/>
              </a:solidFill>
            </a:endParaRPr>
          </a:p>
        </p:txBody>
      </p:sp>
      <p:sp>
        <p:nvSpPr>
          <p:cNvPr id="2" name="矩形 1"/>
          <p:cNvSpPr/>
          <p:nvPr/>
        </p:nvSpPr>
        <p:spPr>
          <a:xfrm>
            <a:off x="1523492" y="1293880"/>
            <a:ext cx="2698750" cy="523875"/>
          </a:xfrm>
          <a:prstGeom prst="rect">
            <a:avLst/>
          </a:prstGeom>
        </p:spPr>
        <p:txBody>
          <a:bodyPr wrap="none">
            <a:spAutoFit/>
          </a:bodyPr>
          <a:lstStyle/>
          <a:p>
            <a:pPr eaLnBrk="1" hangingPunct="1">
              <a:defRPr/>
            </a:pPr>
            <a:r>
              <a:rPr lang="zh-CN" altLang="en-US" sz="2800" b="1" dirty="0">
                <a:solidFill>
                  <a:schemeClr val="tx2"/>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组合方式及视图</a:t>
            </a:r>
          </a:p>
        </p:txBody>
      </p:sp>
      <p:sp>
        <p:nvSpPr>
          <p:cNvPr id="18" name="Text Box 31">
            <a:extLst>
              <a:ext uri="{FF2B5EF4-FFF2-40B4-BE49-F238E27FC236}">
                <a16:creationId xmlns:a16="http://schemas.microsoft.com/office/drawing/2014/main" id="{A4824508-8EB7-4536-A6F1-BB3935EB09CC}"/>
              </a:ext>
            </a:extLst>
          </p:cNvPr>
          <p:cNvSpPr txBox="1">
            <a:spLocks noChangeArrowheads="1"/>
          </p:cNvSpPr>
          <p:nvPr/>
        </p:nvSpPr>
        <p:spPr bwMode="auto">
          <a:xfrm>
            <a:off x="3467101" y="282575"/>
            <a:ext cx="4968875" cy="584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solidFill>
                  <a:schemeClr val="tx2"/>
                </a:solidFill>
                <a:latin typeface="黑体" pitchFamily="49" charset="-122"/>
                <a:ea typeface="黑体" pitchFamily="49" charset="-122"/>
              </a:rPr>
              <a:t>组合体的构形及表达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10" dur="1000" fill="hold"/>
                                        <p:tgtEl>
                                          <p:spTgt spid="17"/>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7"/>
                                        </p:tgtEl>
                                      </p:cBhvr>
                                    </p:animEffect>
                                  </p:childTnLst>
                                </p:cTn>
                              </p:par>
                            </p:childTnLst>
                          </p:cTn>
                        </p:par>
                        <p:par>
                          <p:cTn id="15" fill="hold" nodeType="withGroup">
                            <p:stCondLst>
                              <p:cond delay="1000"/>
                            </p:stCondLst>
                            <p:childTnLst>
                              <p:par>
                                <p:cTn id="16" presetID="25"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p:cTn id="18" dur="500" decel="50000" fill="hold">
                                          <p:stCondLst>
                                            <p:cond delay="0"/>
                                          </p:stCondLst>
                                        </p:cTn>
                                        <p:tgtEl>
                                          <p:spTgt spid="19"/>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19"/>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19"/>
                                        </p:tgtEl>
                                        <p:attrNameLst>
                                          <p:attrName>ppt_w</p:attrName>
                                        </p:attrNameLst>
                                      </p:cBhvr>
                                      <p:tavLst>
                                        <p:tav tm="0">
                                          <p:val>
                                            <p:strVal val="#ppt_w*.05"/>
                                          </p:val>
                                        </p:tav>
                                        <p:tav tm="100000">
                                          <p:val>
                                            <p:strVal val="#ppt_w"/>
                                          </p:val>
                                        </p:tav>
                                      </p:tavLst>
                                    </p:anim>
                                    <p:anim calcmode="lin" valueType="num">
                                      <p:cBhvr>
                                        <p:cTn id="21" dur="1000" fill="hold"/>
                                        <p:tgtEl>
                                          <p:spTgt spid="19"/>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19"/>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19"/>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19"/>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1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childTnLst>
                          </p:cTn>
                        </p:par>
                        <p:par>
                          <p:cTn id="31" fill="hold" nodeType="withGroup">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nodeType="withGroup">
                            <p:stCondLst>
                              <p:cond delay="1000"/>
                            </p:stCondLst>
                            <p:childTnLst>
                              <p:par>
                                <p:cTn id="36" presetID="22" presetClass="entr" presetSubtype="1" fill="hold" grpId="0" nodeType="after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up)">
                                      <p:cBhvr>
                                        <p:cTn id="38" dur="500"/>
                                        <p:tgtEl>
                                          <p:spTgt spid="16"/>
                                        </p:tgtEl>
                                      </p:cBhvr>
                                    </p:animEffect>
                                  </p:childTnLst>
                                </p:cTn>
                              </p:par>
                            </p:childTnLst>
                          </p:cTn>
                        </p:par>
                        <p:par>
                          <p:cTn id="39" fill="hold" nodeType="afterGroup">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up)">
                                      <p:cBhvr>
                                        <p:cTn id="47" dur="500"/>
                                        <p:tgtEl>
                                          <p:spTgt spid="8"/>
                                        </p:tgtEl>
                                      </p:cBhvr>
                                    </p:animEffect>
                                  </p:childTnLst>
                                </p:cTn>
                              </p:par>
                            </p:childTnLst>
                          </p:cTn>
                        </p:par>
                        <p:par>
                          <p:cTn id="48" fill="hold" nodeType="withGroup">
                            <p:stCondLst>
                              <p:cond delay="500"/>
                            </p:stCondLst>
                            <p:childTnLst>
                              <p:par>
                                <p:cTn id="49" presetID="22" presetClass="entr" presetSubtype="1"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up)">
                                      <p:cBhvr>
                                        <p:cTn id="51" dur="500"/>
                                        <p:tgtEl>
                                          <p:spTgt spid="10"/>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2" fill="hold" nodeType="afterGroup">
                            <p:stCondLst>
                              <p:cond delay="1000"/>
                            </p:stCondLst>
                            <p:childTnLst>
                              <p:par>
                                <p:cTn id="53" presetID="22" presetClass="entr" presetSubtype="1" fill="hold" grpId="0" nodeType="after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up)">
                                      <p:cBhvr>
                                        <p:cTn id="55" dur="500"/>
                                        <p:tgtEl>
                                          <p:spTgt spid="9"/>
                                        </p:tgtEl>
                                      </p:cBhvr>
                                    </p:animEffect>
                                  </p:childTnLst>
                                </p:cTn>
                              </p:par>
                            </p:childTnLst>
                          </p:cTn>
                        </p:par>
                        <p:par>
                          <p:cTn id="56" fill="hold" nodeType="withGroup">
                            <p:stCondLst>
                              <p:cond delay="1500"/>
                            </p:stCondLst>
                            <p:childTnLst>
                              <p:par>
                                <p:cTn id="57" presetID="22" presetClass="entr" presetSubtype="1"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up)">
                                      <p:cBhvr>
                                        <p:cTn id="59" dur="500"/>
                                        <p:tgtEl>
                                          <p:spTgt spid="1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ipe(left)">
                                      <p:cBhvr>
                                        <p:cTn id="64" dur="500"/>
                                        <p:tgtEl>
                                          <p:spTgt spid="11"/>
                                        </p:tgtEl>
                                      </p:cBhvr>
                                    </p:animEffect>
                                  </p:childTnLst>
                                  <p:subTnLst>
                                    <p:audio>
                                      <p:cMediaNode>
                                        <p:cTn display="0" masterRel="sameClick">
                                          <p:stCondLst>
                                            <p:cond evt="begin" delay="0">
                                              <p:tn val="62"/>
                                            </p:cond>
                                          </p:stCondLst>
                                          <p:endCondLst>
                                            <p:cond evt="onStopAudio" delay="0">
                                              <p:tgtEl>
                                                <p:sldTgt/>
                                              </p:tgtEl>
                                            </p:cond>
                                          </p:endCondLst>
                                        </p:cTn>
                                        <p:tgtEl>
                                          <p:sndTgt r:embed="rId4" name="hammer.wav"/>
                                        </p:tgtEl>
                                      </p:cMediaNode>
                                    </p:audio>
                                  </p:subTnLst>
                                </p:cTn>
                              </p:par>
                            </p:childTnLst>
                          </p:cTn>
                        </p:par>
                        <p:par>
                          <p:cTn id="65" fill="hold" nodeType="withGroup">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12"/>
                                        </p:tgtEl>
                                        <p:attrNameLst>
                                          <p:attrName>style.visibility</p:attrName>
                                        </p:attrNameLst>
                                      </p:cBhvr>
                                      <p:to>
                                        <p:strVal val="visible"/>
                                      </p:to>
                                    </p:set>
                                    <p:animEffect transition="in" filter="wipe(left)">
                                      <p:cBhvr>
                                        <p:cTn id="68" dur="500"/>
                                        <p:tgtEl>
                                          <p:spTgt spid="12"/>
                                        </p:tgtEl>
                                      </p:cBhvr>
                                    </p:animEffect>
                                  </p:childTnLst>
                                </p:cTn>
                              </p:par>
                            </p:childTnLst>
                          </p:cTn>
                        </p:par>
                        <p:par>
                          <p:cTn id="69" fill="hold" nodeType="withGroup">
                            <p:stCondLst>
                              <p:cond delay="1000"/>
                            </p:stCondLst>
                            <p:childTnLst>
                              <p:par>
                                <p:cTn id="70" presetID="22" presetClass="entr" presetSubtype="8" fill="hold" grpId="0" nodeType="after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wipe(left)">
                                      <p:cBhvr>
                                        <p:cTn id="72" dur="500"/>
                                        <p:tgtEl>
                                          <p:spTgt spid="15"/>
                                        </p:tgtEl>
                                      </p:cBhvr>
                                    </p:animEffect>
                                  </p:childTnLst>
                                  <p:subTnLst>
                                    <p:audio>
                                      <p:cMediaNode>
                                        <p:cTn display="0" masterRel="sameClick">
                                          <p:stCondLst>
                                            <p:cond evt="begin" delay="0">
                                              <p:tn val="7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8" grpId="0" animBg="1"/>
      <p:bldP spid="9" grpId="0"/>
      <p:bldP spid="10" grpId="0"/>
      <p:bldP spid="11" grpId="0" animBg="1"/>
      <p:bldP spid="12" grpId="0"/>
      <p:bldP spid="14" grpId="0"/>
      <p:bldP spid="15" grpId="0"/>
      <p:bldP spid="16" grpId="0"/>
      <p:bldP spid="17"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6325E4DA-4817-45C7-BDED-AB41691CE03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5493119" y="3098814"/>
            <a:ext cx="2923809" cy="1990476"/>
          </a:xfrm>
          <a:prstGeom prst="rect">
            <a:avLst/>
          </a:prstGeom>
        </p:spPr>
      </p:pic>
      <p:sp>
        <p:nvSpPr>
          <p:cNvPr id="2" name="Text Box 31">
            <a:extLst>
              <a:ext uri="{FF2B5EF4-FFF2-40B4-BE49-F238E27FC236}">
                <a16:creationId xmlns:a16="http://schemas.microsoft.com/office/drawing/2014/main" id="{5F813741-9E43-4A06-9E27-4321F241F846}"/>
              </a:ext>
            </a:extLst>
          </p:cNvPr>
          <p:cNvSpPr txBox="1">
            <a:spLocks noChangeArrowheads="1"/>
          </p:cNvSpPr>
          <p:nvPr/>
        </p:nvSpPr>
        <p:spPr bwMode="auto">
          <a:xfrm>
            <a:off x="3467101" y="282575"/>
            <a:ext cx="4968875" cy="584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solidFill>
                  <a:schemeClr val="tx2"/>
                </a:solidFill>
                <a:latin typeface="黑体" pitchFamily="49" charset="-122"/>
                <a:ea typeface="黑体" pitchFamily="49" charset="-122"/>
              </a:rPr>
              <a:t>组合体的构形及表达</a:t>
            </a:r>
          </a:p>
        </p:txBody>
      </p:sp>
      <p:sp>
        <p:nvSpPr>
          <p:cNvPr id="3" name="矩形 2">
            <a:extLst>
              <a:ext uri="{FF2B5EF4-FFF2-40B4-BE49-F238E27FC236}">
                <a16:creationId xmlns:a16="http://schemas.microsoft.com/office/drawing/2014/main" id="{6C9F0A10-79A9-4EF3-B978-B10B1EE349CA}"/>
              </a:ext>
            </a:extLst>
          </p:cNvPr>
          <p:cNvSpPr/>
          <p:nvPr/>
        </p:nvSpPr>
        <p:spPr>
          <a:xfrm>
            <a:off x="1163452" y="1412776"/>
            <a:ext cx="2348720" cy="523220"/>
          </a:xfrm>
          <a:prstGeom prst="rect">
            <a:avLst/>
          </a:prstGeom>
        </p:spPr>
        <p:txBody>
          <a:bodyPr wrap="none">
            <a:spAutoFit/>
          </a:bodyPr>
          <a:lstStyle/>
          <a:p>
            <a:r>
              <a:rPr lang="zh-CN" altLang="en-US" sz="2800" b="1" dirty="0">
                <a:solidFill>
                  <a:schemeClr val="tx2"/>
                </a:solidFill>
                <a:latin typeface="黑体" pitchFamily="49" charset="-122"/>
                <a:ea typeface="黑体" pitchFamily="49" charset="-122"/>
              </a:rPr>
              <a:t>组合体的构形</a:t>
            </a:r>
            <a:endParaRPr lang="zh-CN" altLang="en-US" sz="2800" dirty="0"/>
          </a:p>
        </p:txBody>
      </p:sp>
      <p:sp>
        <p:nvSpPr>
          <p:cNvPr id="4" name="矩形 3">
            <a:extLst>
              <a:ext uri="{FF2B5EF4-FFF2-40B4-BE49-F238E27FC236}">
                <a16:creationId xmlns:a16="http://schemas.microsoft.com/office/drawing/2014/main" id="{C603BCE8-9FDA-4C64-B78C-3516AF0F622E}"/>
              </a:ext>
            </a:extLst>
          </p:cNvPr>
          <p:cNvSpPr/>
          <p:nvPr/>
        </p:nvSpPr>
        <p:spPr>
          <a:xfrm>
            <a:off x="2347387" y="2114171"/>
            <a:ext cx="1620957" cy="523220"/>
          </a:xfrm>
          <a:prstGeom prst="rect">
            <a:avLst/>
          </a:prstGeom>
        </p:spPr>
        <p:txBody>
          <a:bodyPr wrap="none">
            <a:spAutoFit/>
          </a:bodyPr>
          <a:lstStyle/>
          <a:p>
            <a:r>
              <a:rPr lang="zh-CN" altLang="en-US" sz="2800" dirty="0"/>
              <a:t>几何形成</a:t>
            </a:r>
          </a:p>
        </p:txBody>
      </p:sp>
      <p:sp>
        <p:nvSpPr>
          <p:cNvPr id="5" name="矩形 4">
            <a:extLst>
              <a:ext uri="{FF2B5EF4-FFF2-40B4-BE49-F238E27FC236}">
                <a16:creationId xmlns:a16="http://schemas.microsoft.com/office/drawing/2014/main" id="{8CBADF3B-E4F7-4544-817D-A9D9EAEF2B08}"/>
              </a:ext>
            </a:extLst>
          </p:cNvPr>
          <p:cNvSpPr/>
          <p:nvPr/>
        </p:nvSpPr>
        <p:spPr>
          <a:xfrm>
            <a:off x="2347387" y="2994444"/>
            <a:ext cx="1620957" cy="523220"/>
          </a:xfrm>
          <a:prstGeom prst="rect">
            <a:avLst/>
          </a:prstGeom>
        </p:spPr>
        <p:txBody>
          <a:bodyPr wrap="none">
            <a:spAutoFit/>
          </a:bodyPr>
          <a:lstStyle/>
          <a:p>
            <a:r>
              <a:rPr lang="zh-CN" altLang="en-US" sz="2800" dirty="0"/>
              <a:t>三维造型</a:t>
            </a:r>
          </a:p>
        </p:txBody>
      </p:sp>
      <p:pic>
        <p:nvPicPr>
          <p:cNvPr id="13" name="图片 12">
            <a:extLst>
              <a:ext uri="{FF2B5EF4-FFF2-40B4-BE49-F238E27FC236}">
                <a16:creationId xmlns:a16="http://schemas.microsoft.com/office/drawing/2014/main" id="{1D51065E-7F14-487B-9D67-7E96CB29A5A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692441" y="2191235"/>
            <a:ext cx="1780952" cy="1895238"/>
          </a:xfrm>
          <a:prstGeom prst="rect">
            <a:avLst/>
          </a:prstGeom>
        </p:spPr>
      </p:pic>
      <p:pic>
        <p:nvPicPr>
          <p:cNvPr id="10" name="图片 9">
            <a:extLst>
              <a:ext uri="{FF2B5EF4-FFF2-40B4-BE49-F238E27FC236}">
                <a16:creationId xmlns:a16="http://schemas.microsoft.com/office/drawing/2014/main" id="{DFBB7D92-F54D-45DC-8CCE-320269FDD0B2}"/>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982312" y="3128045"/>
            <a:ext cx="1676190" cy="1466667"/>
          </a:xfrm>
          <a:prstGeom prst="rect">
            <a:avLst/>
          </a:prstGeom>
        </p:spPr>
      </p:pic>
      <p:pic>
        <p:nvPicPr>
          <p:cNvPr id="9" name="图片 8">
            <a:extLst>
              <a:ext uri="{FF2B5EF4-FFF2-40B4-BE49-F238E27FC236}">
                <a16:creationId xmlns:a16="http://schemas.microsoft.com/office/drawing/2014/main" id="{DDF7E95A-8671-4AE6-B42D-7950F58C994D}"/>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216238" y="1974514"/>
            <a:ext cx="2028571" cy="1809524"/>
          </a:xfrm>
          <a:prstGeom prst="rect">
            <a:avLst/>
          </a:prstGeom>
        </p:spPr>
      </p:pic>
      <p:pic>
        <p:nvPicPr>
          <p:cNvPr id="12" name="图片 11">
            <a:extLst>
              <a:ext uri="{FF2B5EF4-FFF2-40B4-BE49-F238E27FC236}">
                <a16:creationId xmlns:a16="http://schemas.microsoft.com/office/drawing/2014/main" id="{63225D95-0833-4517-81B8-4275A12E5839}"/>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6945108" y="2059475"/>
            <a:ext cx="628571" cy="561905"/>
          </a:xfrm>
          <a:prstGeom prst="rect">
            <a:avLst/>
          </a:prstGeom>
        </p:spPr>
      </p:pic>
      <p:pic>
        <p:nvPicPr>
          <p:cNvPr id="8" name="图片 7">
            <a:extLst>
              <a:ext uri="{FF2B5EF4-FFF2-40B4-BE49-F238E27FC236}">
                <a16:creationId xmlns:a16="http://schemas.microsoft.com/office/drawing/2014/main" id="{BCEAEC4F-EA08-41D2-855F-24926DE7585B}"/>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5491464" y="1941474"/>
            <a:ext cx="2942857" cy="3152381"/>
          </a:xfrm>
          <a:prstGeom prst="rect">
            <a:avLst/>
          </a:prstGeom>
        </p:spPr>
      </p:pic>
    </p:spTree>
    <p:extLst>
      <p:ext uri="{BB962C8B-B14F-4D97-AF65-F5344CB8AC3E}">
        <p14:creationId xmlns:p14="http://schemas.microsoft.com/office/powerpoint/2010/main" val="1695811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70833E-6 -0.25 L -2.70833E-6 3.7037E-6 " pathEditMode="relative" rAng="0" ptsTypes="AA">
                                      <p:cBhvr>
                                        <p:cTn id="6" dur="2000" fill="hold"/>
                                        <p:tgtEl>
                                          <p:spTgt spid="12"/>
                                        </p:tgtEl>
                                        <p:attrNameLst>
                                          <p:attrName>ppt_x</p:attrName>
                                          <p:attrName>ppt_y</p:attrName>
                                        </p:attrNameLst>
                                      </p:cBhvr>
                                      <p:rCtr x="0" y="12500"/>
                                    </p:animMotion>
                                  </p:childTnLst>
                                </p:cTn>
                              </p:par>
                            </p:childTnLst>
                          </p:cTn>
                        </p:par>
                        <p:par>
                          <p:cTn id="7" fill="hold">
                            <p:stCondLst>
                              <p:cond delay="2000"/>
                            </p:stCondLst>
                            <p:childTnLst>
                              <p:par>
                                <p:cTn id="8" presetID="56" presetClass="path" presetSubtype="0" accel="50000" decel="50000" fill="hold" nodeType="afterEffect">
                                  <p:stCondLst>
                                    <p:cond delay="0"/>
                                  </p:stCondLst>
                                  <p:childTnLst>
                                    <p:animMotion origin="layout" path="M -0.25 0.25 L 5E-6 -2.96296E-6 " pathEditMode="relative" rAng="0" ptsTypes="AA">
                                      <p:cBhvr>
                                        <p:cTn id="9" dur="2000" fill="hold"/>
                                        <p:tgtEl>
                                          <p:spTgt spid="10"/>
                                        </p:tgtEl>
                                        <p:attrNameLst>
                                          <p:attrName>ppt_x</p:attrName>
                                          <p:attrName>ppt_y</p:attrName>
                                        </p:attrNameLst>
                                      </p:cBhvr>
                                      <p:rCtr x="12500" y="-12500"/>
                                    </p:animMotion>
                                  </p:childTnLst>
                                </p:cTn>
                              </p:par>
                            </p:childTnLst>
                          </p:cTn>
                        </p:par>
                        <p:par>
                          <p:cTn id="10" fill="hold">
                            <p:stCondLst>
                              <p:cond delay="4000"/>
                            </p:stCondLst>
                            <p:childTnLst>
                              <p:par>
                                <p:cTn id="11" presetID="64" presetClass="path" presetSubtype="0" accel="50000" decel="50000" fill="hold" nodeType="afterEffect">
                                  <p:stCondLst>
                                    <p:cond delay="0"/>
                                  </p:stCondLst>
                                  <p:childTnLst>
                                    <p:animMotion origin="layout" path="M 0.00117 0.39421 L 4.79167E-6 1.11111E-6 " pathEditMode="relative" rAng="0" ptsTypes="AA">
                                      <p:cBhvr>
                                        <p:cTn id="12" dur="2000" fill="hold"/>
                                        <p:tgtEl>
                                          <p:spTgt spid="13"/>
                                        </p:tgtEl>
                                        <p:attrNameLst>
                                          <p:attrName>ppt_x</p:attrName>
                                          <p:attrName>ppt_y</p:attrName>
                                        </p:attrNameLst>
                                      </p:cBhvr>
                                      <p:rCtr x="-65" y="-19722"/>
                                    </p:animMotion>
                                  </p:childTnLst>
                                </p:cTn>
                              </p:par>
                            </p:childTnLst>
                          </p:cTn>
                        </p:par>
                        <p:par>
                          <p:cTn id="13" fill="hold">
                            <p:stCondLst>
                              <p:cond delay="6000"/>
                            </p:stCondLst>
                            <p:childTnLst>
                              <p:par>
                                <p:cTn id="14" presetID="35" presetClass="path" presetSubtype="0" accel="50000" decel="50000" fill="hold" nodeType="afterEffect">
                                  <p:stCondLst>
                                    <p:cond delay="0"/>
                                  </p:stCondLst>
                                  <p:childTnLst>
                                    <p:animMotion origin="layout" path="M 0.30091 -0.00116 L -2.70833E-6 -7.40741E-7 " pathEditMode="relative" rAng="0" ptsTypes="AA">
                                      <p:cBhvr>
                                        <p:cTn id="15" dur="2000" fill="hold"/>
                                        <p:tgtEl>
                                          <p:spTgt spid="11"/>
                                        </p:tgtEl>
                                        <p:attrNameLst>
                                          <p:attrName>ppt_x</p:attrName>
                                          <p:attrName>ppt_y</p:attrName>
                                        </p:attrNameLst>
                                      </p:cBhvr>
                                      <p:rCtr x="-15052" y="46"/>
                                    </p:animMotion>
                                  </p:childTnLst>
                                </p:cTn>
                              </p:par>
                            </p:childTnLst>
                          </p:cTn>
                        </p:par>
                        <p:par>
                          <p:cTn id="16" fill="hold">
                            <p:stCondLst>
                              <p:cond delay="8000"/>
                            </p:stCondLst>
                            <p:childTnLst>
                              <p:par>
                                <p:cTn id="17" presetID="1"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4"/>
          <a:srcRect/>
          <a:stretch>
            <a:fillRect/>
          </a:stretch>
        </p:blipFill>
        <p:spPr bwMode="auto">
          <a:xfrm>
            <a:off x="4722814" y="4386263"/>
            <a:ext cx="458787" cy="469900"/>
          </a:xfrm>
          <a:prstGeom prst="rect">
            <a:avLst/>
          </a:prstGeom>
          <a:noFill/>
          <a:ln w="9525">
            <a:noFill/>
            <a:miter lim="800000"/>
            <a:headEnd/>
            <a:tailEnd/>
          </a:ln>
        </p:spPr>
      </p:pic>
      <p:pic>
        <p:nvPicPr>
          <p:cNvPr id="11" name="图片 10"/>
          <p:cNvPicPr>
            <a:picLocks noChangeAspect="1"/>
          </p:cNvPicPr>
          <p:nvPr/>
        </p:nvPicPr>
        <p:blipFill>
          <a:blip r:embed="rId5"/>
          <a:srcRect/>
          <a:stretch>
            <a:fillRect/>
          </a:stretch>
        </p:blipFill>
        <p:spPr bwMode="auto">
          <a:xfrm>
            <a:off x="5570538" y="3481389"/>
            <a:ext cx="849312" cy="877887"/>
          </a:xfrm>
          <a:prstGeom prst="rect">
            <a:avLst/>
          </a:prstGeom>
          <a:noFill/>
          <a:ln w="9525">
            <a:noFill/>
            <a:miter lim="800000"/>
            <a:headEnd/>
            <a:tailEnd/>
          </a:ln>
        </p:spPr>
      </p:pic>
      <p:pic>
        <p:nvPicPr>
          <p:cNvPr id="13" name="图片 12"/>
          <p:cNvPicPr>
            <a:picLocks noChangeAspect="1"/>
          </p:cNvPicPr>
          <p:nvPr/>
        </p:nvPicPr>
        <p:blipFill>
          <a:blip r:embed="rId6"/>
          <a:srcRect/>
          <a:stretch>
            <a:fillRect/>
          </a:stretch>
        </p:blipFill>
        <p:spPr bwMode="auto">
          <a:xfrm>
            <a:off x="5375275" y="3108325"/>
            <a:ext cx="1250950" cy="1257300"/>
          </a:xfrm>
          <a:prstGeom prst="rect">
            <a:avLst/>
          </a:prstGeom>
          <a:noFill/>
          <a:ln w="9525">
            <a:noFill/>
            <a:miter lim="800000"/>
            <a:headEnd/>
            <a:tailEnd/>
          </a:ln>
        </p:spPr>
      </p:pic>
      <p:pic>
        <p:nvPicPr>
          <p:cNvPr id="12" name="图片 11"/>
          <p:cNvPicPr>
            <a:picLocks noChangeAspect="1"/>
          </p:cNvPicPr>
          <p:nvPr/>
        </p:nvPicPr>
        <p:blipFill>
          <a:blip r:embed="rId7"/>
          <a:srcRect/>
          <a:stretch>
            <a:fillRect/>
          </a:stretch>
        </p:blipFill>
        <p:spPr bwMode="auto">
          <a:xfrm>
            <a:off x="6196014" y="3479801"/>
            <a:ext cx="414337" cy="436563"/>
          </a:xfrm>
          <a:prstGeom prst="rect">
            <a:avLst/>
          </a:prstGeom>
          <a:noFill/>
          <a:ln w="9525">
            <a:noFill/>
            <a:miter lim="800000"/>
            <a:headEnd/>
            <a:tailEnd/>
          </a:ln>
        </p:spPr>
      </p:pic>
      <p:pic>
        <p:nvPicPr>
          <p:cNvPr id="10" name="图片 9"/>
          <p:cNvPicPr>
            <a:picLocks noChangeAspect="1"/>
          </p:cNvPicPr>
          <p:nvPr/>
        </p:nvPicPr>
        <p:blipFill>
          <a:blip r:embed="rId8"/>
          <a:srcRect/>
          <a:stretch>
            <a:fillRect/>
          </a:stretch>
        </p:blipFill>
        <p:spPr bwMode="auto">
          <a:xfrm>
            <a:off x="5400676" y="3595689"/>
            <a:ext cx="434975" cy="441325"/>
          </a:xfrm>
          <a:prstGeom prst="rect">
            <a:avLst/>
          </a:prstGeom>
          <a:noFill/>
          <a:ln w="9525">
            <a:noFill/>
            <a:miter lim="800000"/>
            <a:headEnd/>
            <a:tailEnd/>
          </a:ln>
        </p:spPr>
      </p:pic>
      <p:sp>
        <p:nvSpPr>
          <p:cNvPr id="179203" name="Text Box 3"/>
          <p:cNvSpPr txBox="1">
            <a:spLocks noChangeArrowheads="1"/>
          </p:cNvSpPr>
          <p:nvPr/>
        </p:nvSpPr>
        <p:spPr bwMode="auto">
          <a:xfrm>
            <a:off x="1889125" y="2968625"/>
            <a:ext cx="719138" cy="1816100"/>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0800000" scaled="0"/>
            <a:tileRect/>
          </a:grad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800" dirty="0">
                <a:latin typeface="黑体" panose="02010609060101010101" pitchFamily="49" charset="-122"/>
                <a:ea typeface="黑体" panose="02010609060101010101" pitchFamily="49" charset="-122"/>
              </a:rPr>
              <a:t>组合形式</a:t>
            </a:r>
          </a:p>
        </p:txBody>
      </p:sp>
      <p:sp>
        <p:nvSpPr>
          <p:cNvPr id="3110" name="Rectangle 38"/>
          <p:cNvSpPr>
            <a:spLocks noChangeArrowheads="1"/>
          </p:cNvSpPr>
          <p:nvPr/>
        </p:nvSpPr>
        <p:spPr bwMode="auto">
          <a:xfrm>
            <a:off x="3181351" y="2060575"/>
            <a:ext cx="1266825" cy="655638"/>
          </a:xfrm>
          <a:prstGeom prst="rect">
            <a:avLst/>
          </a:prstGeom>
          <a:noFill/>
          <a:ln w="19050">
            <a:noFill/>
            <a:miter lim="800000"/>
            <a:headEnd/>
            <a:tailEnd/>
          </a:ln>
        </p:spPr>
        <p:txBody>
          <a:bodyPr wrap="none">
            <a:spAutoFit/>
          </a:bodyPr>
          <a:lstStyle/>
          <a:p>
            <a:pPr>
              <a:lnSpc>
                <a:spcPct val="150000"/>
              </a:lnSpc>
            </a:pPr>
            <a:r>
              <a:rPr lang="zh-CN" altLang="en-US" sz="2800" b="1" dirty="0">
                <a:solidFill>
                  <a:srgbClr val="FF0000"/>
                </a:solidFill>
                <a:ea typeface="黑体" pitchFamily="49" charset="-122"/>
              </a:rPr>
              <a:t>叠加型</a:t>
            </a:r>
          </a:p>
        </p:txBody>
      </p:sp>
      <p:sp>
        <p:nvSpPr>
          <p:cNvPr id="3111" name="Rectangle 39"/>
          <p:cNvSpPr>
            <a:spLocks noChangeArrowheads="1"/>
          </p:cNvSpPr>
          <p:nvPr/>
        </p:nvSpPr>
        <p:spPr bwMode="auto">
          <a:xfrm>
            <a:off x="3105151" y="3652839"/>
            <a:ext cx="1266825" cy="523875"/>
          </a:xfrm>
          <a:prstGeom prst="rect">
            <a:avLst/>
          </a:prstGeom>
          <a:noFill/>
          <a:ln w="19050">
            <a:noFill/>
            <a:miter lim="800000"/>
            <a:headEnd/>
            <a:tailEnd/>
          </a:ln>
        </p:spPr>
        <p:txBody>
          <a:bodyPr wrap="none">
            <a:spAutoFit/>
          </a:bodyPr>
          <a:lstStyle/>
          <a:p>
            <a:pPr eaLnBrk="1" hangingPunct="1"/>
            <a:r>
              <a:rPr lang="zh-CN" altLang="en-US" sz="2800" b="1" dirty="0">
                <a:solidFill>
                  <a:srgbClr val="FF0000"/>
                </a:solidFill>
                <a:ea typeface="黑体" pitchFamily="49" charset="-122"/>
              </a:rPr>
              <a:t>切割型</a:t>
            </a:r>
            <a:endParaRPr lang="zh-CN" altLang="en-US" sz="2800" dirty="0">
              <a:solidFill>
                <a:srgbClr val="FF0000"/>
              </a:solidFill>
            </a:endParaRPr>
          </a:p>
        </p:txBody>
      </p:sp>
      <p:sp>
        <p:nvSpPr>
          <p:cNvPr id="3112" name="Rectangle 40"/>
          <p:cNvSpPr>
            <a:spLocks noChangeArrowheads="1"/>
          </p:cNvSpPr>
          <p:nvPr/>
        </p:nvSpPr>
        <p:spPr bwMode="auto">
          <a:xfrm>
            <a:off x="3097214" y="4994275"/>
            <a:ext cx="1266825" cy="522288"/>
          </a:xfrm>
          <a:prstGeom prst="rect">
            <a:avLst/>
          </a:prstGeom>
          <a:noFill/>
          <a:ln w="19050">
            <a:noFill/>
            <a:miter lim="800000"/>
            <a:headEnd/>
            <a:tailEnd/>
          </a:ln>
        </p:spPr>
        <p:txBody>
          <a:bodyPr wrap="none">
            <a:spAutoFit/>
          </a:bodyPr>
          <a:lstStyle/>
          <a:p>
            <a:r>
              <a:rPr lang="zh-CN" altLang="en-US" sz="2800" b="1">
                <a:solidFill>
                  <a:srgbClr val="FF0000"/>
                </a:solidFill>
                <a:ea typeface="黑体" pitchFamily="49" charset="-122"/>
              </a:rPr>
              <a:t>综合型</a:t>
            </a:r>
            <a:endParaRPr lang="zh-CN" altLang="en-US" sz="2800" b="1"/>
          </a:p>
        </p:txBody>
      </p:sp>
      <p:sp>
        <p:nvSpPr>
          <p:cNvPr id="3113" name="AutoShape 20"/>
          <p:cNvSpPr>
            <a:spLocks/>
          </p:cNvSpPr>
          <p:nvPr/>
        </p:nvSpPr>
        <p:spPr bwMode="auto">
          <a:xfrm>
            <a:off x="2835275" y="2312989"/>
            <a:ext cx="266700" cy="3203575"/>
          </a:xfrm>
          <a:prstGeom prst="leftBrace">
            <a:avLst>
              <a:gd name="adj1" fmla="val 89144"/>
              <a:gd name="adj2" fmla="val 50000"/>
            </a:avLst>
          </a:prstGeom>
          <a:noFill/>
          <a:ln w="28575">
            <a:solidFill>
              <a:srgbClr val="000000"/>
            </a:solidFill>
            <a:round/>
            <a:headEnd/>
            <a:tailEnd/>
          </a:ln>
        </p:spPr>
        <p:txBody>
          <a:bodyPr wrap="none" anchor="ctr"/>
          <a:lstStyle/>
          <a:p>
            <a:pPr eaLnBrk="1" hangingPunct="1"/>
            <a:endParaRPr lang="zh-CN" altLang="en-US"/>
          </a:p>
        </p:txBody>
      </p:sp>
      <p:sp>
        <p:nvSpPr>
          <p:cNvPr id="40" name="矩形 39"/>
          <p:cNvSpPr/>
          <p:nvPr/>
        </p:nvSpPr>
        <p:spPr>
          <a:xfrm>
            <a:off x="1327152" y="902493"/>
            <a:ext cx="2709396" cy="523220"/>
          </a:xfrm>
          <a:prstGeom prst="rect">
            <a:avLst/>
          </a:prstGeom>
        </p:spPr>
        <p:txBody>
          <a:bodyPr wrap="none">
            <a:spAutoFit/>
          </a:bodyPr>
          <a:lstStyle/>
          <a:p>
            <a:pPr eaLnBrk="1" hangingPunct="1">
              <a:defRPr/>
            </a:pPr>
            <a:r>
              <a:rPr lang="zh-CN" altLang="en-US" sz="2800" b="1" dirty="0">
                <a:solidFill>
                  <a:schemeClr val="tx2"/>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组合形式及视图</a:t>
            </a:r>
          </a:p>
        </p:txBody>
      </p:sp>
      <p:sp>
        <p:nvSpPr>
          <p:cNvPr id="41" name="AutoShape 5"/>
          <p:cNvSpPr>
            <a:spLocks noChangeArrowheads="1"/>
          </p:cNvSpPr>
          <p:nvPr/>
        </p:nvSpPr>
        <p:spPr bwMode="auto">
          <a:xfrm>
            <a:off x="5942013" y="2309814"/>
            <a:ext cx="576262" cy="261937"/>
          </a:xfrm>
          <a:prstGeom prst="rightArrow">
            <a:avLst>
              <a:gd name="adj1" fmla="val 50000"/>
              <a:gd name="adj2" fmla="val 110509"/>
            </a:avLst>
          </a:prstGeom>
          <a:solidFill>
            <a:srgbClr val="0000FF"/>
          </a:solidFill>
          <a:ln w="9525">
            <a:solidFill>
              <a:srgbClr val="0000FF"/>
            </a:solidFill>
            <a:miter lim="800000"/>
            <a:headEnd/>
            <a:tailEnd/>
          </a:ln>
        </p:spPr>
        <p:txBody>
          <a:bodyPr wrap="none" anchor="ctr"/>
          <a:lstStyle/>
          <a:p>
            <a:pPr eaLnBrk="1" hangingPunct="1"/>
            <a:endParaRPr lang="zh-CN" altLang="zh-CN">
              <a:solidFill>
                <a:schemeClr val="hlink"/>
              </a:solidFill>
            </a:endParaRPr>
          </a:p>
        </p:txBody>
      </p:sp>
      <p:pic>
        <p:nvPicPr>
          <p:cNvPr id="4" name="图片 3"/>
          <p:cNvPicPr>
            <a:picLocks noChangeAspect="1"/>
          </p:cNvPicPr>
          <p:nvPr/>
        </p:nvPicPr>
        <p:blipFill>
          <a:blip r:embed="rId9"/>
          <a:srcRect/>
          <a:stretch>
            <a:fillRect/>
          </a:stretch>
        </p:blipFill>
        <p:spPr bwMode="auto">
          <a:xfrm>
            <a:off x="4549775" y="1808163"/>
            <a:ext cx="1092200" cy="1160462"/>
          </a:xfrm>
          <a:prstGeom prst="rect">
            <a:avLst/>
          </a:prstGeom>
          <a:noFill/>
          <a:ln w="9525">
            <a:noFill/>
            <a:miter lim="800000"/>
            <a:headEnd/>
            <a:tailEnd/>
          </a:ln>
        </p:spPr>
      </p:pic>
      <p:pic>
        <p:nvPicPr>
          <p:cNvPr id="5" name="图片 4"/>
          <p:cNvPicPr>
            <a:picLocks noChangeAspect="1"/>
          </p:cNvPicPr>
          <p:nvPr/>
        </p:nvPicPr>
        <p:blipFill>
          <a:blip r:embed="rId10"/>
          <a:srcRect/>
          <a:stretch>
            <a:fillRect/>
          </a:stretch>
        </p:blipFill>
        <p:spPr bwMode="auto">
          <a:xfrm>
            <a:off x="6619876" y="2109788"/>
            <a:ext cx="1108075" cy="812800"/>
          </a:xfrm>
          <a:prstGeom prst="rect">
            <a:avLst/>
          </a:prstGeom>
          <a:noFill/>
          <a:ln w="9525">
            <a:noFill/>
            <a:miter lim="800000"/>
            <a:headEnd/>
            <a:tailEnd/>
          </a:ln>
        </p:spPr>
      </p:pic>
      <p:pic>
        <p:nvPicPr>
          <p:cNvPr id="6" name="图片 5"/>
          <p:cNvPicPr>
            <a:picLocks noChangeAspect="1"/>
          </p:cNvPicPr>
          <p:nvPr/>
        </p:nvPicPr>
        <p:blipFill>
          <a:blip r:embed="rId11"/>
          <a:srcRect/>
          <a:stretch>
            <a:fillRect/>
          </a:stretch>
        </p:blipFill>
        <p:spPr bwMode="auto">
          <a:xfrm>
            <a:off x="8237539" y="2055814"/>
            <a:ext cx="547687" cy="820737"/>
          </a:xfrm>
          <a:prstGeom prst="rect">
            <a:avLst/>
          </a:prstGeom>
          <a:noFill/>
          <a:ln w="9525">
            <a:noFill/>
            <a:miter lim="800000"/>
            <a:headEnd/>
            <a:tailEnd/>
          </a:ln>
        </p:spPr>
      </p:pic>
      <p:pic>
        <p:nvPicPr>
          <p:cNvPr id="7" name="图片 6"/>
          <p:cNvPicPr>
            <a:picLocks noChangeAspect="1"/>
          </p:cNvPicPr>
          <p:nvPr/>
        </p:nvPicPr>
        <p:blipFill>
          <a:blip r:embed="rId12"/>
          <a:srcRect/>
          <a:stretch>
            <a:fillRect/>
          </a:stretch>
        </p:blipFill>
        <p:spPr bwMode="auto">
          <a:xfrm>
            <a:off x="9551988" y="2003426"/>
            <a:ext cx="673100" cy="911225"/>
          </a:xfrm>
          <a:prstGeom prst="rect">
            <a:avLst/>
          </a:prstGeom>
          <a:noFill/>
          <a:ln w="9525">
            <a:noFill/>
            <a:miter lim="800000"/>
            <a:headEnd/>
            <a:tailEnd/>
          </a:ln>
        </p:spPr>
      </p:pic>
      <p:pic>
        <p:nvPicPr>
          <p:cNvPr id="8" name="图片 7"/>
          <p:cNvPicPr>
            <a:picLocks noChangeAspect="1"/>
          </p:cNvPicPr>
          <p:nvPr/>
        </p:nvPicPr>
        <p:blipFill>
          <a:blip r:embed="rId13"/>
          <a:srcRect/>
          <a:stretch>
            <a:fillRect/>
          </a:stretch>
        </p:blipFill>
        <p:spPr bwMode="auto">
          <a:xfrm>
            <a:off x="7924800" y="2282826"/>
            <a:ext cx="312738" cy="314325"/>
          </a:xfrm>
          <a:prstGeom prst="rect">
            <a:avLst/>
          </a:prstGeom>
          <a:noFill/>
          <a:ln w="9525">
            <a:noFill/>
            <a:miter lim="800000"/>
            <a:headEnd/>
            <a:tailEnd/>
          </a:ln>
        </p:spPr>
      </p:pic>
      <p:pic>
        <p:nvPicPr>
          <p:cNvPr id="55" name="图片 54"/>
          <p:cNvPicPr>
            <a:picLocks noChangeAspect="1"/>
          </p:cNvPicPr>
          <p:nvPr/>
        </p:nvPicPr>
        <p:blipFill>
          <a:blip r:embed="rId13"/>
          <a:srcRect/>
          <a:stretch>
            <a:fillRect/>
          </a:stretch>
        </p:blipFill>
        <p:spPr bwMode="auto">
          <a:xfrm>
            <a:off x="9012239" y="2282826"/>
            <a:ext cx="314325" cy="314325"/>
          </a:xfrm>
          <a:prstGeom prst="rect">
            <a:avLst/>
          </a:prstGeom>
          <a:noFill/>
          <a:ln w="9525">
            <a:noFill/>
            <a:miter lim="800000"/>
            <a:headEnd/>
            <a:tailEnd/>
          </a:ln>
        </p:spPr>
      </p:pic>
      <p:pic>
        <p:nvPicPr>
          <p:cNvPr id="14" name="图片 13"/>
          <p:cNvPicPr>
            <a:picLocks noChangeAspect="1"/>
          </p:cNvPicPr>
          <p:nvPr/>
        </p:nvPicPr>
        <p:blipFill>
          <a:blip r:embed="rId14"/>
          <a:srcRect/>
          <a:stretch>
            <a:fillRect/>
          </a:stretch>
        </p:blipFill>
        <p:spPr bwMode="auto">
          <a:xfrm>
            <a:off x="5378451" y="3090863"/>
            <a:ext cx="1230313" cy="1268412"/>
          </a:xfrm>
          <a:prstGeom prst="rect">
            <a:avLst/>
          </a:prstGeom>
          <a:noFill/>
          <a:ln w="9525">
            <a:noFill/>
            <a:miter lim="800000"/>
            <a:headEnd/>
            <a:tailEnd/>
          </a:ln>
        </p:spPr>
      </p:pic>
      <p:pic>
        <p:nvPicPr>
          <p:cNvPr id="9" name="图片 8"/>
          <p:cNvPicPr>
            <a:picLocks noChangeAspect="1"/>
          </p:cNvPicPr>
          <p:nvPr/>
        </p:nvPicPr>
        <p:blipFill>
          <a:blip r:embed="rId15"/>
          <a:srcRect/>
          <a:stretch>
            <a:fillRect/>
          </a:stretch>
        </p:blipFill>
        <p:spPr bwMode="auto">
          <a:xfrm>
            <a:off x="5373689" y="3089275"/>
            <a:ext cx="1252537" cy="1296988"/>
          </a:xfrm>
          <a:prstGeom prst="rect">
            <a:avLst/>
          </a:prstGeom>
          <a:noFill/>
          <a:ln w="9525">
            <a:noFill/>
            <a:miter lim="800000"/>
            <a:headEnd/>
            <a:tailEnd/>
          </a:ln>
        </p:spPr>
      </p:pic>
      <p:pic>
        <p:nvPicPr>
          <p:cNvPr id="16" name="图片 15"/>
          <p:cNvPicPr>
            <a:picLocks noChangeAspect="1"/>
          </p:cNvPicPr>
          <p:nvPr/>
        </p:nvPicPr>
        <p:blipFill>
          <a:blip r:embed="rId16"/>
          <a:srcRect/>
          <a:stretch>
            <a:fillRect/>
          </a:stretch>
        </p:blipFill>
        <p:spPr bwMode="auto">
          <a:xfrm>
            <a:off x="5194301" y="4595813"/>
            <a:ext cx="1382713" cy="1395412"/>
          </a:xfrm>
          <a:prstGeom prst="rect">
            <a:avLst/>
          </a:prstGeom>
          <a:noFill/>
          <a:ln w="9525">
            <a:noFill/>
            <a:miter lim="800000"/>
            <a:headEnd/>
            <a:tailEnd/>
          </a:ln>
        </p:spPr>
      </p:pic>
      <p:grpSp>
        <p:nvGrpSpPr>
          <p:cNvPr id="19" name="组合 18"/>
          <p:cNvGrpSpPr>
            <a:grpSpLocks/>
          </p:cNvGrpSpPr>
          <p:nvPr/>
        </p:nvGrpSpPr>
        <p:grpSpPr bwMode="auto">
          <a:xfrm>
            <a:off x="5700714" y="5748339"/>
            <a:ext cx="815975" cy="587375"/>
            <a:chOff x="4958778" y="5985472"/>
            <a:chExt cx="816968" cy="586350"/>
          </a:xfrm>
        </p:grpSpPr>
        <p:pic>
          <p:nvPicPr>
            <p:cNvPr id="24601" name="图片 17"/>
            <p:cNvPicPr>
              <a:picLocks noChangeAspect="1"/>
            </p:cNvPicPr>
            <p:nvPr/>
          </p:nvPicPr>
          <p:blipFill>
            <a:blip r:embed="rId17"/>
            <a:srcRect/>
            <a:stretch>
              <a:fillRect/>
            </a:stretch>
          </p:blipFill>
          <p:spPr bwMode="auto">
            <a:xfrm>
              <a:off x="4958778" y="6278647"/>
              <a:ext cx="252028" cy="293175"/>
            </a:xfrm>
            <a:prstGeom prst="rect">
              <a:avLst/>
            </a:prstGeom>
            <a:noFill/>
            <a:ln w="9525">
              <a:noFill/>
              <a:miter lim="800000"/>
              <a:headEnd/>
              <a:tailEnd/>
            </a:ln>
          </p:spPr>
        </p:pic>
        <p:pic>
          <p:nvPicPr>
            <p:cNvPr id="24602" name="图片 65"/>
            <p:cNvPicPr>
              <a:picLocks noChangeAspect="1"/>
            </p:cNvPicPr>
            <p:nvPr/>
          </p:nvPicPr>
          <p:blipFill>
            <a:blip r:embed="rId17"/>
            <a:srcRect/>
            <a:stretch>
              <a:fillRect/>
            </a:stretch>
          </p:blipFill>
          <p:spPr bwMode="auto">
            <a:xfrm>
              <a:off x="5523718" y="5985472"/>
              <a:ext cx="252028" cy="293175"/>
            </a:xfrm>
            <a:prstGeom prst="rect">
              <a:avLst/>
            </a:prstGeom>
            <a:noFill/>
            <a:ln w="9525">
              <a:noFill/>
              <a:miter lim="800000"/>
              <a:headEnd/>
              <a:tailEnd/>
            </a:ln>
          </p:spPr>
        </p:pic>
      </p:grpSp>
      <p:sp>
        <p:nvSpPr>
          <p:cNvPr id="27" name="Text Box 31">
            <a:extLst>
              <a:ext uri="{FF2B5EF4-FFF2-40B4-BE49-F238E27FC236}">
                <a16:creationId xmlns:a16="http://schemas.microsoft.com/office/drawing/2014/main" id="{6BB7CB6D-D3BC-4C19-9D70-B672D9FD0917}"/>
              </a:ext>
            </a:extLst>
          </p:cNvPr>
          <p:cNvSpPr txBox="1">
            <a:spLocks noChangeArrowheads="1"/>
          </p:cNvSpPr>
          <p:nvPr/>
        </p:nvSpPr>
        <p:spPr bwMode="auto">
          <a:xfrm>
            <a:off x="3467101" y="282575"/>
            <a:ext cx="4968875" cy="584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solidFill>
                  <a:schemeClr val="tx2"/>
                </a:solidFill>
                <a:latin typeface="黑体" pitchFamily="49" charset="-122"/>
                <a:ea typeface="黑体" pitchFamily="49" charset="-122"/>
              </a:rPr>
              <a:t>组合体的构形及表达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9203"/>
                                        </p:tgtEl>
                                        <p:attrNameLst>
                                          <p:attrName>style.visibility</p:attrName>
                                        </p:attrNameLst>
                                      </p:cBhvr>
                                      <p:to>
                                        <p:strVal val="visible"/>
                                      </p:to>
                                    </p:set>
                                    <p:anim calcmode="lin" valueType="num">
                                      <p:cBhvr additive="base">
                                        <p:cTn id="7" dur="500" fill="hold"/>
                                        <p:tgtEl>
                                          <p:spTgt spid="179203"/>
                                        </p:tgtEl>
                                        <p:attrNameLst>
                                          <p:attrName>ppt_x</p:attrName>
                                        </p:attrNameLst>
                                      </p:cBhvr>
                                      <p:tavLst>
                                        <p:tav tm="0">
                                          <p:val>
                                            <p:strVal val="0-#ppt_w/2"/>
                                          </p:val>
                                        </p:tav>
                                        <p:tav tm="100000">
                                          <p:val>
                                            <p:strVal val="#ppt_x"/>
                                          </p:val>
                                        </p:tav>
                                      </p:tavLst>
                                    </p:anim>
                                    <p:anim calcmode="lin" valueType="num">
                                      <p:cBhvr additive="base">
                                        <p:cTn id="8" dur="500" fill="hold"/>
                                        <p:tgtEl>
                                          <p:spTgt spid="17920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3113"/>
                                        </p:tgtEl>
                                        <p:attrNameLst>
                                          <p:attrName>style.visibility</p:attrName>
                                        </p:attrNameLst>
                                      </p:cBhvr>
                                      <p:to>
                                        <p:strVal val="visible"/>
                                      </p:to>
                                    </p:set>
                                    <p:animEffect transition="in" filter="wipe(up)">
                                      <p:cBhvr>
                                        <p:cTn id="13" dur="500"/>
                                        <p:tgtEl>
                                          <p:spTgt spid="311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iterate type="wd">
                                    <p:tmPct val="10000"/>
                                  </p:iterate>
                                  <p:childTnLst>
                                    <p:set>
                                      <p:cBhvr>
                                        <p:cTn id="17" dur="1" fill="hold">
                                          <p:stCondLst>
                                            <p:cond delay="0"/>
                                          </p:stCondLst>
                                        </p:cTn>
                                        <p:tgtEl>
                                          <p:spTgt spid="3110"/>
                                        </p:tgtEl>
                                        <p:attrNameLst>
                                          <p:attrName>style.visibility</p:attrName>
                                        </p:attrNameLst>
                                      </p:cBhvr>
                                      <p:to>
                                        <p:strVal val="visible"/>
                                      </p:to>
                                    </p:set>
                                    <p:animEffect transition="in" filter="wipe(left)">
                                      <p:cBhvr>
                                        <p:cTn id="18" dur="500"/>
                                        <p:tgtEl>
                                          <p:spTgt spid="3110"/>
                                        </p:tgtEl>
                                      </p:cBhvr>
                                    </p:animEffect>
                                  </p:childTnLst>
                                  <p:subTnLst>
                                    <p:audio>
                                      <p:cMediaNode>
                                        <p:cTn display="0" masterRel="sameClick">
                                          <p:stCondLst>
                                            <p:cond evt="begin" delay="0">
                                              <p:tn val="16"/>
                                            </p:cond>
                                          </p:stCondLst>
                                          <p:endCondLst>
                                            <p:cond evt="onStopAudio" delay="0">
                                              <p:tgtEl>
                                                <p:sldTgt/>
                                              </p:tgtEl>
                                            </p:cond>
                                          </p:endCondLst>
                                        </p:cTn>
                                        <p:tgtEl>
                                          <p:sndTgt r:embed="rId3" name="hammer.wav"/>
                                        </p:tgtEl>
                                      </p:cMediaNode>
                                    </p:audio>
                                  </p:subTnLst>
                                </p:cTn>
                              </p:par>
                              <p:par>
                                <p:cTn id="19" presetID="22" presetClass="entr" presetSubtype="8" fill="hold" grpId="0" nodeType="withEffect">
                                  <p:stCondLst>
                                    <p:cond delay="0"/>
                                  </p:stCondLst>
                                  <p:iterate type="wd">
                                    <p:tmPct val="10000"/>
                                  </p:iterate>
                                  <p:childTnLst>
                                    <p:set>
                                      <p:cBhvr>
                                        <p:cTn id="20" dur="1" fill="hold">
                                          <p:stCondLst>
                                            <p:cond delay="0"/>
                                          </p:stCondLst>
                                        </p:cTn>
                                        <p:tgtEl>
                                          <p:spTgt spid="3111"/>
                                        </p:tgtEl>
                                        <p:attrNameLst>
                                          <p:attrName>style.visibility</p:attrName>
                                        </p:attrNameLst>
                                      </p:cBhvr>
                                      <p:to>
                                        <p:strVal val="visible"/>
                                      </p:to>
                                    </p:set>
                                    <p:animEffect transition="in" filter="wipe(left)">
                                      <p:cBhvr>
                                        <p:cTn id="21" dur="500"/>
                                        <p:tgtEl>
                                          <p:spTgt spid="3111"/>
                                        </p:tgtEl>
                                      </p:cBhvr>
                                    </p:animEffect>
                                  </p:childTnLst>
                                  <p:subTnLst>
                                    <p:audio>
                                      <p:cMediaNode>
                                        <p:cTn display="0" masterRel="sameClick">
                                          <p:stCondLst>
                                            <p:cond evt="begin" delay="0">
                                              <p:tn val="19"/>
                                            </p:cond>
                                          </p:stCondLst>
                                          <p:endCondLst>
                                            <p:cond evt="onStopAudio" delay="0">
                                              <p:tgtEl>
                                                <p:sldTgt/>
                                              </p:tgtEl>
                                            </p:cond>
                                          </p:endCondLst>
                                        </p:cTn>
                                        <p:tgtEl>
                                          <p:sndTgt r:embed="rId3" name="hammer.wav"/>
                                        </p:tgtEl>
                                      </p:cMediaNode>
                                    </p:audio>
                                  </p:subTnLst>
                                </p:cTn>
                              </p:par>
                              <p:par>
                                <p:cTn id="22" presetID="22" presetClass="entr" presetSubtype="8" fill="hold" grpId="0" nodeType="withEffect">
                                  <p:stCondLst>
                                    <p:cond delay="0"/>
                                  </p:stCondLst>
                                  <p:iterate type="wd">
                                    <p:tmPct val="10000"/>
                                  </p:iterate>
                                  <p:childTnLst>
                                    <p:set>
                                      <p:cBhvr>
                                        <p:cTn id="23" dur="1" fill="hold">
                                          <p:stCondLst>
                                            <p:cond delay="0"/>
                                          </p:stCondLst>
                                        </p:cTn>
                                        <p:tgtEl>
                                          <p:spTgt spid="3112"/>
                                        </p:tgtEl>
                                        <p:attrNameLst>
                                          <p:attrName>style.visibility</p:attrName>
                                        </p:attrNameLst>
                                      </p:cBhvr>
                                      <p:to>
                                        <p:strVal val="visible"/>
                                      </p:to>
                                    </p:set>
                                    <p:animEffect transition="in" filter="wipe(left)">
                                      <p:cBhvr>
                                        <p:cTn id="24" dur="500"/>
                                        <p:tgtEl>
                                          <p:spTgt spid="3112"/>
                                        </p:tgtEl>
                                      </p:cBhvr>
                                    </p:animEffect>
                                  </p:childTnLst>
                                  <p:subTnLst>
                                    <p:audio>
                                      <p:cMediaNode>
                                        <p:cTn display="0" masterRel="sameClick">
                                          <p:stCondLst>
                                            <p:cond evt="begin" delay="0">
                                              <p:tn val="22"/>
                                            </p:cond>
                                          </p:stCondLst>
                                          <p:endCondLst>
                                            <p:cond evt="onStopAudio" delay="0">
                                              <p:tgtEl>
                                                <p:sldTgt/>
                                              </p:tgtEl>
                                            </p:cond>
                                          </p:endCondLst>
                                        </p:cTn>
                                        <p:tgtEl>
                                          <p:sndTgt r:embed="rId3" name="hammer.wav"/>
                                        </p:tgtEl>
                                      </p:cMediaNode>
                                    </p:audio>
                                  </p:sub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8"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p:tgtEl>
                                          <p:spTgt spid="4"/>
                                        </p:tgtEl>
                                        <p:attrNameLst>
                                          <p:attrName>ppt_x</p:attrName>
                                        </p:attrNameLst>
                                      </p:cBhvr>
                                      <p:tavLst>
                                        <p:tav tm="0">
                                          <p:val>
                                            <p:strVal val="#ppt_x-#ppt_w*1.125000"/>
                                          </p:val>
                                        </p:tav>
                                        <p:tav tm="100000">
                                          <p:val>
                                            <p:strVal val="#ppt_x"/>
                                          </p:val>
                                        </p:tav>
                                      </p:tavLst>
                                    </p:anim>
                                    <p:animEffect transition="in" filter="wipe(right)">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left)">
                                      <p:cBhvr>
                                        <p:cTn id="35" dur="500"/>
                                        <p:tgtEl>
                                          <p:spTgt spid="4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8"/>
                                        </p:tgtEl>
                                        <p:attrNameLst>
                                          <p:attrName>style.visibility</p:attrName>
                                        </p:attrNameLst>
                                      </p:cBhvr>
                                      <p:to>
                                        <p:strVal val="visible"/>
                                      </p:to>
                                    </p:set>
                                  </p:childTnLst>
                                </p:cTn>
                              </p:par>
                            </p:childTnLst>
                          </p:cTn>
                        </p:par>
                        <p:par>
                          <p:cTn id="44" fill="hold" nodeType="afterGroup">
                            <p:stCondLst>
                              <p:cond delay="0"/>
                            </p:stCondLst>
                            <p:childTnLst>
                              <p:par>
                                <p:cTn id="45" presetID="1" presetClass="entr" presetSubtype="0" fill="hold" nodeType="after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childTnLst>
                          </p:cTn>
                        </p:par>
                        <p:par>
                          <p:cTn id="51" fill="hold" nodeType="afterGroup">
                            <p:stCondLst>
                              <p:cond delay="0"/>
                            </p:stCondLst>
                            <p:childTnLst>
                              <p:par>
                                <p:cTn id="52" presetID="1" presetClass="entr" presetSubtype="0" fill="hold" nodeType="afterEffect">
                                  <p:stCondLst>
                                    <p:cond delay="0"/>
                                  </p:stCondLst>
                                  <p:childTnLst>
                                    <p:set>
                                      <p:cBhvr>
                                        <p:cTn id="53" dur="1" fill="hold">
                                          <p:stCondLst>
                                            <p:cond delay="0"/>
                                          </p:stCondLst>
                                        </p:cTn>
                                        <p:tgtEl>
                                          <p:spTgt spid="7"/>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8"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 calcmode="lin" valueType="num">
                                      <p:cBhvr additive="base">
                                        <p:cTn id="58" dur="500"/>
                                        <p:tgtEl>
                                          <p:spTgt spid="13"/>
                                        </p:tgtEl>
                                        <p:attrNameLst>
                                          <p:attrName>ppt_x</p:attrName>
                                        </p:attrNameLst>
                                      </p:cBhvr>
                                      <p:tavLst>
                                        <p:tav tm="0">
                                          <p:val>
                                            <p:strVal val="#ppt_x-#ppt_w*1.125000"/>
                                          </p:val>
                                        </p:tav>
                                        <p:tav tm="100000">
                                          <p:val>
                                            <p:strVal val="#ppt_x"/>
                                          </p:val>
                                        </p:tav>
                                      </p:tavLst>
                                    </p:anim>
                                    <p:animEffect transition="in" filter="wipe(right)">
                                      <p:cBhvr>
                                        <p:cTn id="59" dur="500"/>
                                        <p:tgtEl>
                                          <p:spTgt spid="1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nodeType="clickEffect">
                                  <p:stCondLst>
                                    <p:cond delay="0"/>
                                  </p:stCondLst>
                                  <p:childTnLst>
                                    <p:set>
                                      <p:cBhvr>
                                        <p:cTn id="63" dur="1" fill="hold">
                                          <p:stCondLst>
                                            <p:cond delay="0"/>
                                          </p:stCondLst>
                                        </p:cTn>
                                        <p:tgtEl>
                                          <p:spTgt spid="11"/>
                                        </p:tgtEl>
                                        <p:attrNameLst>
                                          <p:attrName>style.visibility</p:attrName>
                                        </p:attrNameLst>
                                      </p:cBhvr>
                                      <p:to>
                                        <p:strVal val="visible"/>
                                      </p:to>
                                    </p:set>
                                  </p:childTnLst>
                                </p:cTn>
                              </p:par>
                            </p:childTnLst>
                          </p:cTn>
                        </p:par>
                        <p:par>
                          <p:cTn id="64" fill="hold" nodeType="afterGroup">
                            <p:stCondLst>
                              <p:cond delay="0"/>
                            </p:stCondLst>
                            <p:childTnLst>
                              <p:par>
                                <p:cTn id="65" presetID="49" presetClass="path" presetSubtype="0" accel="50000" decel="50000" fill="hold" nodeType="afterEffect">
                                  <p:stCondLst>
                                    <p:cond delay="0"/>
                                  </p:stCondLst>
                                  <p:childTnLst>
                                    <p:animMotion origin="layout" path="M 1.11111E-6 2.22222E-6 L 0.12535 0.06412 " pathEditMode="relative" rAng="0" ptsTypes="AA">
                                      <p:cBhvr>
                                        <p:cTn id="66" dur="500" fill="hold"/>
                                        <p:tgtEl>
                                          <p:spTgt spid="11"/>
                                        </p:tgtEl>
                                        <p:attrNameLst>
                                          <p:attrName>ppt_x</p:attrName>
                                          <p:attrName>ppt_y</p:attrName>
                                        </p:attrNameLst>
                                      </p:cBhvr>
                                      <p:rCtr x="6300" y="3200"/>
                                    </p:animMotion>
                                  </p:childTnLst>
                                </p:cTn>
                              </p:par>
                            </p:childTnLst>
                          </p:cTn>
                        </p:par>
                        <p:par>
                          <p:cTn id="67" fill="hold" nodeType="afterGroup">
                            <p:stCondLst>
                              <p:cond delay="500"/>
                            </p:stCondLst>
                            <p:childTnLst>
                              <p:par>
                                <p:cTn id="68" presetID="1" presetClass="entr" presetSubtype="0" fill="hold" nodeType="afterEffect">
                                  <p:stCondLst>
                                    <p:cond delay="0"/>
                                  </p:stCondLst>
                                  <p:childTnLst>
                                    <p:set>
                                      <p:cBhvr>
                                        <p:cTn id="69" dur="1" fill="hold">
                                          <p:stCondLst>
                                            <p:cond delay="0"/>
                                          </p:stCondLst>
                                        </p:cTn>
                                        <p:tgtEl>
                                          <p:spTgt spid="14"/>
                                        </p:tgtEl>
                                        <p:attrNameLst>
                                          <p:attrName>style.visibility</p:attrName>
                                        </p:attrNameLst>
                                      </p:cBhvr>
                                      <p:to>
                                        <p:strVal val="visible"/>
                                      </p:to>
                                    </p:set>
                                  </p:childTnLst>
                                </p:cTn>
                              </p:par>
                              <p:par>
                                <p:cTn id="70" presetID="1" presetClass="entr" presetSubtype="0" fill="hold" nodeType="withEffect">
                                  <p:stCondLst>
                                    <p:cond delay="300"/>
                                  </p:stCondLst>
                                  <p:childTnLst>
                                    <p:set>
                                      <p:cBhvr>
                                        <p:cTn id="71" dur="1" fill="hold">
                                          <p:stCondLst>
                                            <p:cond delay="0"/>
                                          </p:stCondLst>
                                        </p:cTn>
                                        <p:tgtEl>
                                          <p:spTgt spid="12"/>
                                        </p:tgtEl>
                                        <p:attrNameLst>
                                          <p:attrName>style.visibility</p:attrName>
                                        </p:attrNameLst>
                                      </p:cBhvr>
                                      <p:to>
                                        <p:strVal val="visible"/>
                                      </p:to>
                                    </p:set>
                                  </p:childTnLst>
                                </p:cTn>
                              </p:par>
                              <p:par>
                                <p:cTn id="72" presetID="56" presetClass="path" presetSubtype="0" accel="50000" decel="50000" fill="hold" nodeType="withEffect">
                                  <p:stCondLst>
                                    <p:cond delay="0"/>
                                  </p:stCondLst>
                                  <p:childTnLst>
                                    <p:animMotion origin="layout" path="M 3.05556E-6 -3.7037E-7 L 0.06215 -0.06042 " pathEditMode="relative" rAng="0" ptsTypes="AA">
                                      <p:cBhvr>
                                        <p:cTn id="73" dur="1500" fill="hold"/>
                                        <p:tgtEl>
                                          <p:spTgt spid="12"/>
                                        </p:tgtEl>
                                        <p:attrNameLst>
                                          <p:attrName>ppt_x</p:attrName>
                                          <p:attrName>ppt_y</p:attrName>
                                        </p:attrNameLst>
                                      </p:cBhvr>
                                      <p:rCtr x="3100" y="-3000"/>
                                    </p:animMotion>
                                  </p:childTnLst>
                                </p:cTn>
                              </p:par>
                              <p:par>
                                <p:cTn id="74" presetID="1" presetClass="entr" presetSubtype="0" fill="hold" nodeType="withEffect">
                                  <p:stCondLst>
                                    <p:cond delay="0"/>
                                  </p:stCondLst>
                                  <p:childTnLst>
                                    <p:set>
                                      <p:cBhvr>
                                        <p:cTn id="75" dur="1" fill="hold">
                                          <p:stCondLst>
                                            <p:cond delay="0"/>
                                          </p:stCondLst>
                                        </p:cTn>
                                        <p:tgtEl>
                                          <p:spTgt spid="10"/>
                                        </p:tgtEl>
                                        <p:attrNameLst>
                                          <p:attrName>style.visibility</p:attrName>
                                        </p:attrNameLst>
                                      </p:cBhvr>
                                      <p:to>
                                        <p:strVal val="visible"/>
                                      </p:to>
                                    </p:set>
                                  </p:childTnLst>
                                </p:cTn>
                              </p:par>
                              <p:par>
                                <p:cTn id="76" presetID="49" presetClass="path" presetSubtype="0" accel="50000" decel="50000" fill="hold" nodeType="withEffect">
                                  <p:stCondLst>
                                    <p:cond delay="0"/>
                                  </p:stCondLst>
                                  <p:childTnLst>
                                    <p:animMotion origin="layout" path="M -3.05556E-6 -1.48148E-6 L -0.06979 -0.0618 " pathEditMode="relative" rAng="0" ptsTypes="AA">
                                      <p:cBhvr>
                                        <p:cTn id="77" dur="1500" fill="hold"/>
                                        <p:tgtEl>
                                          <p:spTgt spid="10"/>
                                        </p:tgtEl>
                                        <p:attrNameLst>
                                          <p:attrName>ppt_x</p:attrName>
                                          <p:attrName>ppt_y</p:attrName>
                                        </p:attrNameLst>
                                      </p:cBhvr>
                                      <p:rCtr x="-3500" y="-3100"/>
                                    </p:animMotion>
                                  </p:childTnLst>
                                </p:cTn>
                              </p:par>
                            </p:childTnLst>
                          </p:cTn>
                        </p:par>
                        <p:par>
                          <p:cTn id="78" fill="hold" nodeType="afterGroup">
                            <p:stCondLst>
                              <p:cond delay="2000"/>
                            </p:stCondLst>
                            <p:childTnLst>
                              <p:par>
                                <p:cTn id="79" presetID="1" presetClass="entr" presetSubtype="0" fill="hold" nodeType="afterEffect">
                                  <p:stCondLst>
                                    <p:cond delay="0"/>
                                  </p:stCondLst>
                                  <p:childTnLst>
                                    <p:set>
                                      <p:cBhvr>
                                        <p:cTn id="80" dur="1" fill="hold">
                                          <p:stCondLst>
                                            <p:cond delay="0"/>
                                          </p:stCondLst>
                                        </p:cTn>
                                        <p:tgtEl>
                                          <p:spTgt spid="9"/>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2" presetClass="entr" presetSubtype="8" fill="hold" nodeType="clickEffect">
                                  <p:stCondLst>
                                    <p:cond delay="0"/>
                                  </p:stCondLst>
                                  <p:childTnLst>
                                    <p:set>
                                      <p:cBhvr>
                                        <p:cTn id="84" dur="1" fill="hold">
                                          <p:stCondLst>
                                            <p:cond delay="0"/>
                                          </p:stCondLst>
                                        </p:cTn>
                                        <p:tgtEl>
                                          <p:spTgt spid="16"/>
                                        </p:tgtEl>
                                        <p:attrNameLst>
                                          <p:attrName>style.visibility</p:attrName>
                                        </p:attrNameLst>
                                      </p:cBhvr>
                                      <p:to>
                                        <p:strVal val="visible"/>
                                      </p:to>
                                    </p:set>
                                    <p:anim calcmode="lin" valueType="num">
                                      <p:cBhvr additive="base">
                                        <p:cTn id="85" dur="500"/>
                                        <p:tgtEl>
                                          <p:spTgt spid="16"/>
                                        </p:tgtEl>
                                        <p:attrNameLst>
                                          <p:attrName>ppt_x</p:attrName>
                                        </p:attrNameLst>
                                      </p:cBhvr>
                                      <p:tavLst>
                                        <p:tav tm="0">
                                          <p:val>
                                            <p:strVal val="#ppt_x-#ppt_w*1.125000"/>
                                          </p:val>
                                        </p:tav>
                                        <p:tav tm="100000">
                                          <p:val>
                                            <p:strVal val="#ppt_x"/>
                                          </p:val>
                                        </p:tav>
                                      </p:tavLst>
                                    </p:anim>
                                    <p:animEffect transition="in" filter="wipe(right)">
                                      <p:cBhvr>
                                        <p:cTn id="86" dur="500"/>
                                        <p:tgtEl>
                                          <p:spTgt spid="16"/>
                                        </p:tgtEl>
                                      </p:cBhvr>
                                    </p:animEffect>
                                  </p:childTnLst>
                                </p:cTn>
                              </p:par>
                            </p:childTnLst>
                          </p:cTn>
                        </p:par>
                        <p:par>
                          <p:cTn id="87" fill="hold" nodeType="afterGroup">
                            <p:stCondLst>
                              <p:cond delay="500"/>
                            </p:stCondLst>
                            <p:childTnLst>
                              <p:par>
                                <p:cTn id="88" presetID="12" presetClass="entr" presetSubtype="2" fill="hold" nodeType="afterEffect">
                                  <p:stCondLst>
                                    <p:cond delay="0"/>
                                  </p:stCondLst>
                                  <p:childTnLst>
                                    <p:set>
                                      <p:cBhvr>
                                        <p:cTn id="89" dur="1" fill="hold">
                                          <p:stCondLst>
                                            <p:cond delay="0"/>
                                          </p:stCondLst>
                                        </p:cTn>
                                        <p:tgtEl>
                                          <p:spTgt spid="17"/>
                                        </p:tgtEl>
                                        <p:attrNameLst>
                                          <p:attrName>style.visibility</p:attrName>
                                        </p:attrNameLst>
                                      </p:cBhvr>
                                      <p:to>
                                        <p:strVal val="visible"/>
                                      </p:to>
                                    </p:set>
                                    <p:anim calcmode="lin" valueType="num">
                                      <p:cBhvr additive="base">
                                        <p:cTn id="90" dur="500"/>
                                        <p:tgtEl>
                                          <p:spTgt spid="17"/>
                                        </p:tgtEl>
                                        <p:attrNameLst>
                                          <p:attrName>ppt_x</p:attrName>
                                        </p:attrNameLst>
                                      </p:cBhvr>
                                      <p:tavLst>
                                        <p:tav tm="0">
                                          <p:val>
                                            <p:strVal val="#ppt_x+#ppt_w*1.125000"/>
                                          </p:val>
                                        </p:tav>
                                        <p:tav tm="100000">
                                          <p:val>
                                            <p:strVal val="#ppt_x"/>
                                          </p:val>
                                        </p:tav>
                                      </p:tavLst>
                                    </p:anim>
                                    <p:animEffect transition="in" filter="wipe(left)">
                                      <p:cBhvr>
                                        <p:cTn id="91" dur="500"/>
                                        <p:tgtEl>
                                          <p:spTgt spid="17"/>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12" presetClass="entr" presetSubtype="1" fill="hold" nodeType="clickEffect">
                                  <p:stCondLst>
                                    <p:cond delay="0"/>
                                  </p:stCondLst>
                                  <p:childTnLst>
                                    <p:set>
                                      <p:cBhvr>
                                        <p:cTn id="95" dur="1" fill="hold">
                                          <p:stCondLst>
                                            <p:cond delay="0"/>
                                          </p:stCondLst>
                                        </p:cTn>
                                        <p:tgtEl>
                                          <p:spTgt spid="19"/>
                                        </p:tgtEl>
                                        <p:attrNameLst>
                                          <p:attrName>style.visibility</p:attrName>
                                        </p:attrNameLst>
                                      </p:cBhvr>
                                      <p:to>
                                        <p:strVal val="visible"/>
                                      </p:to>
                                    </p:set>
                                    <p:anim calcmode="lin" valueType="num">
                                      <p:cBhvr additive="base">
                                        <p:cTn id="96" dur="500"/>
                                        <p:tgtEl>
                                          <p:spTgt spid="19"/>
                                        </p:tgtEl>
                                        <p:attrNameLst>
                                          <p:attrName>ppt_y</p:attrName>
                                        </p:attrNameLst>
                                      </p:cBhvr>
                                      <p:tavLst>
                                        <p:tav tm="0">
                                          <p:val>
                                            <p:strVal val="#ppt_y-#ppt_h*1.125000"/>
                                          </p:val>
                                        </p:tav>
                                        <p:tav tm="100000">
                                          <p:val>
                                            <p:strVal val="#ppt_y"/>
                                          </p:val>
                                        </p:tav>
                                      </p:tavLst>
                                    </p:anim>
                                    <p:animEffect transition="in" filter="wipe(down)">
                                      <p:cBhvr>
                                        <p:cTn id="9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animBg="1" autoUpdateAnimBg="0"/>
      <p:bldP spid="3110" grpId="0"/>
      <p:bldP spid="3111" grpId="0"/>
      <p:bldP spid="3112" grpId="0"/>
      <p:bldP spid="3113" grpId="0" animBg="1"/>
      <p:bldP spid="41"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srcRect/>
          <a:stretch>
            <a:fillRect/>
          </a:stretch>
        </p:blipFill>
        <p:spPr bwMode="auto">
          <a:xfrm>
            <a:off x="8251826" y="3448050"/>
            <a:ext cx="1768475" cy="2871788"/>
          </a:xfrm>
          <a:prstGeom prst="rect">
            <a:avLst/>
          </a:prstGeom>
          <a:noFill/>
          <a:ln w="9525">
            <a:noFill/>
            <a:miter lim="800000"/>
            <a:headEnd/>
            <a:tailEnd/>
          </a:ln>
        </p:spPr>
      </p:pic>
      <p:pic>
        <p:nvPicPr>
          <p:cNvPr id="4" name="图片 3"/>
          <p:cNvPicPr>
            <a:picLocks noChangeAspect="1"/>
          </p:cNvPicPr>
          <p:nvPr/>
        </p:nvPicPr>
        <p:blipFill>
          <a:blip r:embed="rId4" cstate="print"/>
          <a:srcRect/>
          <a:stretch>
            <a:fillRect/>
          </a:stretch>
        </p:blipFill>
        <p:spPr bwMode="auto">
          <a:xfrm>
            <a:off x="4229100" y="3344864"/>
            <a:ext cx="1746250" cy="2865437"/>
          </a:xfrm>
          <a:prstGeom prst="rect">
            <a:avLst/>
          </a:prstGeom>
          <a:noFill/>
          <a:ln w="9525">
            <a:noFill/>
            <a:miter lim="800000"/>
            <a:headEnd/>
            <a:tailEnd/>
          </a:ln>
        </p:spPr>
      </p:pic>
      <p:sp>
        <p:nvSpPr>
          <p:cNvPr id="14343" name="Line 7"/>
          <p:cNvSpPr>
            <a:spLocks noChangeShapeType="1"/>
          </p:cNvSpPr>
          <p:nvPr/>
        </p:nvSpPr>
        <p:spPr bwMode="auto">
          <a:xfrm>
            <a:off x="8977314" y="3990975"/>
            <a:ext cx="396875" cy="0"/>
          </a:xfrm>
          <a:prstGeom prst="line">
            <a:avLst/>
          </a:prstGeom>
          <a:noFill/>
          <a:ln w="9525">
            <a:solidFill>
              <a:srgbClr val="FF0000"/>
            </a:solidFill>
            <a:prstDash val="dash"/>
            <a:round/>
            <a:headEnd/>
            <a:tailEnd/>
          </a:ln>
        </p:spPr>
        <p:txBody>
          <a:bodyPr/>
          <a:lstStyle/>
          <a:p>
            <a:endParaRPr lang="zh-CN" altLang="en-US"/>
          </a:p>
        </p:txBody>
      </p:sp>
      <p:sp>
        <p:nvSpPr>
          <p:cNvPr id="14347" name="Rectangle 11"/>
          <p:cNvSpPr>
            <a:spLocks noChangeArrowheads="1"/>
          </p:cNvSpPr>
          <p:nvPr/>
        </p:nvSpPr>
        <p:spPr bwMode="auto">
          <a:xfrm>
            <a:off x="5267325" y="2906861"/>
            <a:ext cx="3456967" cy="461665"/>
          </a:xfrm>
          <a:prstGeom prst="rect">
            <a:avLst/>
          </a:prstGeom>
          <a:noFill/>
          <a:ln w="9525">
            <a:noFill/>
            <a:miter lim="800000"/>
            <a:headEnd/>
            <a:tailEnd/>
          </a:ln>
        </p:spPr>
        <p:txBody>
          <a:bodyPr wrap="square" anchor="ctr">
            <a:spAutoFit/>
          </a:bodyPr>
          <a:lstStyle/>
          <a:p>
            <a:pPr algn="ctr" eaLnBrk="1" hangingPunct="1"/>
            <a:r>
              <a:rPr lang="zh-CN" altLang="en-US" sz="2400" dirty="0">
                <a:solidFill>
                  <a:srgbClr val="FF0000"/>
                </a:solidFill>
                <a:ea typeface="黑体" pitchFamily="49" charset="-122"/>
              </a:rPr>
              <a:t>两表面平齐无分界线</a:t>
            </a:r>
            <a:r>
              <a:rPr lang="zh-CN" altLang="en-US" sz="2400" dirty="0"/>
              <a:t> </a:t>
            </a:r>
          </a:p>
        </p:txBody>
      </p:sp>
      <p:sp>
        <p:nvSpPr>
          <p:cNvPr id="5130" name="Rectangle 10"/>
          <p:cNvSpPr>
            <a:spLocks noChangeArrowheads="1"/>
          </p:cNvSpPr>
          <p:nvPr/>
        </p:nvSpPr>
        <p:spPr bwMode="auto">
          <a:xfrm>
            <a:off x="2592387" y="1436685"/>
            <a:ext cx="7007225" cy="523875"/>
          </a:xfrm>
          <a:prstGeom prst="rect">
            <a:avLst/>
          </a:prstGeom>
          <a:noFill/>
          <a:ln w="19050">
            <a:noFill/>
            <a:miter lim="800000"/>
            <a:headEnd/>
            <a:tailEnd/>
          </a:ln>
        </p:spPr>
        <p:txBody>
          <a:bodyPr wrap="none">
            <a:spAutoFit/>
          </a:bodyPr>
          <a:lstStyle/>
          <a:p>
            <a:pPr eaLnBrk="1" hangingPunct="1"/>
            <a:r>
              <a:rPr lang="zh-CN" altLang="en-US" sz="2800" b="1" dirty="0"/>
              <a:t>组合体相临表面之间的连接关系及表示方法</a:t>
            </a:r>
          </a:p>
        </p:txBody>
      </p:sp>
      <p:sp>
        <p:nvSpPr>
          <p:cNvPr id="5131" name="Rectangle 11"/>
          <p:cNvSpPr>
            <a:spLocks noChangeArrowheads="1"/>
          </p:cNvSpPr>
          <p:nvPr/>
        </p:nvSpPr>
        <p:spPr bwMode="auto">
          <a:xfrm>
            <a:off x="1558926" y="2084385"/>
            <a:ext cx="3816350" cy="523875"/>
          </a:xfrm>
          <a:prstGeom prst="rect">
            <a:avLst/>
          </a:prstGeom>
          <a:gradFill>
            <a:gsLst>
              <a:gs pos="0">
                <a:schemeClr val="accent3">
                  <a:lumMod val="67000"/>
                </a:schemeClr>
              </a:gs>
              <a:gs pos="48000">
                <a:schemeClr val="accent3">
                  <a:lumMod val="97000"/>
                  <a:lumOff val="3000"/>
                </a:schemeClr>
              </a:gs>
              <a:gs pos="100000">
                <a:schemeClr val="accent3">
                  <a:lumMod val="60000"/>
                  <a:lumOff val="40000"/>
                </a:schemeClr>
              </a:gs>
            </a:gsLst>
            <a:lin ang="10800000" scaled="0"/>
          </a:gradFill>
          <a:ln w="28575">
            <a:noFill/>
            <a:miter lim="800000"/>
            <a:headEnd/>
            <a:tailEnd/>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800" b="1" dirty="0"/>
              <a:t>连接关系一般可分：</a:t>
            </a:r>
            <a:endParaRPr lang="en-US" altLang="zh-CN" sz="2800" b="1" dirty="0"/>
          </a:p>
        </p:txBody>
      </p:sp>
      <p:sp>
        <p:nvSpPr>
          <p:cNvPr id="5133" name="Rectangle 13"/>
          <p:cNvSpPr>
            <a:spLocks noChangeArrowheads="1"/>
          </p:cNvSpPr>
          <p:nvPr/>
        </p:nvSpPr>
        <p:spPr bwMode="auto">
          <a:xfrm>
            <a:off x="2203451" y="2990850"/>
            <a:ext cx="796925" cy="457200"/>
          </a:xfrm>
          <a:prstGeom prst="rect">
            <a:avLst/>
          </a:prstGeom>
          <a:solidFill>
            <a:srgbClr val="FFFF00"/>
          </a:solidFill>
          <a:ln w="9525">
            <a:noFill/>
            <a:miter lim="800000"/>
            <a:headEnd/>
            <a:tailEnd/>
          </a:ln>
        </p:spPr>
        <p:txBody>
          <a:bodyPr wrap="none">
            <a:spAutoFit/>
          </a:bodyPr>
          <a:lstStyle/>
          <a:p>
            <a:pPr eaLnBrk="1" hangingPunct="1"/>
            <a:r>
              <a:rPr lang="zh-CN" altLang="en-US" sz="2400" b="1" dirty="0">
                <a:solidFill>
                  <a:srgbClr val="FF0000"/>
                </a:solidFill>
              </a:rPr>
              <a:t>平齐</a:t>
            </a:r>
          </a:p>
        </p:txBody>
      </p:sp>
      <p:sp>
        <p:nvSpPr>
          <p:cNvPr id="20" name="矩形 19"/>
          <p:cNvSpPr/>
          <p:nvPr/>
        </p:nvSpPr>
        <p:spPr>
          <a:xfrm>
            <a:off x="1343472" y="879760"/>
            <a:ext cx="2709396" cy="523220"/>
          </a:xfrm>
          <a:prstGeom prst="rect">
            <a:avLst/>
          </a:prstGeom>
        </p:spPr>
        <p:txBody>
          <a:bodyPr wrap="none">
            <a:spAutoFit/>
          </a:bodyPr>
          <a:lstStyle/>
          <a:p>
            <a:pPr eaLnBrk="1" hangingPunct="1">
              <a:defRPr/>
            </a:pPr>
            <a:r>
              <a:rPr lang="zh-CN" altLang="en-US" sz="2800" b="1" dirty="0">
                <a:solidFill>
                  <a:schemeClr val="tx2"/>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组合形式及视图</a:t>
            </a:r>
          </a:p>
        </p:txBody>
      </p:sp>
      <p:pic>
        <p:nvPicPr>
          <p:cNvPr id="2" name="图片 1"/>
          <p:cNvPicPr>
            <a:picLocks noChangeAspect="1"/>
          </p:cNvPicPr>
          <p:nvPr/>
        </p:nvPicPr>
        <p:blipFill>
          <a:blip r:embed="rId5" cstate="print"/>
          <a:srcRect/>
          <a:stretch>
            <a:fillRect/>
          </a:stretch>
        </p:blipFill>
        <p:spPr bwMode="auto">
          <a:xfrm>
            <a:off x="2028825" y="4251326"/>
            <a:ext cx="1943100" cy="1952625"/>
          </a:xfrm>
          <a:prstGeom prst="rect">
            <a:avLst/>
          </a:prstGeom>
          <a:noFill/>
          <a:ln w="9525">
            <a:noFill/>
            <a:miter lim="800000"/>
            <a:headEnd/>
            <a:tailEnd/>
          </a:ln>
        </p:spPr>
      </p:pic>
      <p:sp>
        <p:nvSpPr>
          <p:cNvPr id="14342" name="Line 6"/>
          <p:cNvSpPr>
            <a:spLocks noChangeShapeType="1"/>
          </p:cNvSpPr>
          <p:nvPr/>
        </p:nvSpPr>
        <p:spPr bwMode="auto">
          <a:xfrm>
            <a:off x="4643438" y="4391025"/>
            <a:ext cx="863600" cy="0"/>
          </a:xfrm>
          <a:prstGeom prst="line">
            <a:avLst/>
          </a:prstGeom>
          <a:noFill/>
          <a:ln w="38100">
            <a:solidFill>
              <a:srgbClr val="FF0000"/>
            </a:solidFill>
            <a:round/>
            <a:headEnd/>
            <a:tailEnd/>
          </a:ln>
        </p:spPr>
        <p:txBody>
          <a:bodyPr/>
          <a:lstStyle/>
          <a:p>
            <a:endParaRPr lang="zh-CN" altLang="en-US"/>
          </a:p>
        </p:txBody>
      </p:sp>
      <p:pic>
        <p:nvPicPr>
          <p:cNvPr id="3" name="图片 2"/>
          <p:cNvPicPr>
            <a:picLocks noChangeAspect="1"/>
          </p:cNvPicPr>
          <p:nvPr/>
        </p:nvPicPr>
        <p:blipFill>
          <a:blip r:embed="rId6" cstate="print"/>
          <a:srcRect/>
          <a:stretch>
            <a:fillRect/>
          </a:stretch>
        </p:blipFill>
        <p:spPr bwMode="auto">
          <a:xfrm>
            <a:off x="6419850" y="4357689"/>
            <a:ext cx="1733550" cy="1639887"/>
          </a:xfrm>
          <a:prstGeom prst="rect">
            <a:avLst/>
          </a:prstGeom>
          <a:noFill/>
          <a:ln w="9525">
            <a:noFill/>
            <a:miter lim="800000"/>
            <a:headEnd/>
            <a:tailEnd/>
          </a:ln>
        </p:spPr>
      </p:pic>
      <p:grpSp>
        <p:nvGrpSpPr>
          <p:cNvPr id="11" name="组合 10"/>
          <p:cNvGrpSpPr>
            <a:grpSpLocks/>
          </p:cNvGrpSpPr>
          <p:nvPr/>
        </p:nvGrpSpPr>
        <p:grpSpPr bwMode="auto">
          <a:xfrm>
            <a:off x="5276850" y="3344863"/>
            <a:ext cx="3898900" cy="1020762"/>
            <a:chOff x="3752222" y="3344512"/>
            <a:chExt cx="3899524" cy="1020883"/>
          </a:xfrm>
        </p:grpSpPr>
        <p:cxnSp>
          <p:nvCxnSpPr>
            <p:cNvPr id="7" name="直接连接符 6"/>
            <p:cNvCxnSpPr/>
            <p:nvPr/>
          </p:nvCxnSpPr>
          <p:spPr>
            <a:xfrm flipH="1">
              <a:off x="3752222" y="3344512"/>
              <a:ext cx="1648089" cy="10208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384433" y="3344512"/>
              <a:ext cx="2267313" cy="64618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8" name="Text Box 31">
            <a:extLst>
              <a:ext uri="{FF2B5EF4-FFF2-40B4-BE49-F238E27FC236}">
                <a16:creationId xmlns:a16="http://schemas.microsoft.com/office/drawing/2014/main" id="{14A83739-9006-4E00-ACF7-18D7581EE74A}"/>
              </a:ext>
            </a:extLst>
          </p:cNvPr>
          <p:cNvSpPr txBox="1">
            <a:spLocks noChangeArrowheads="1"/>
          </p:cNvSpPr>
          <p:nvPr/>
        </p:nvSpPr>
        <p:spPr bwMode="auto">
          <a:xfrm>
            <a:off x="3467101" y="282575"/>
            <a:ext cx="4968875" cy="584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solidFill>
                  <a:schemeClr val="tx2"/>
                </a:solidFill>
                <a:latin typeface="黑体" pitchFamily="49" charset="-122"/>
                <a:ea typeface="黑体" pitchFamily="49" charset="-122"/>
              </a:rPr>
              <a:t>组合体的构形及表达</a:t>
            </a:r>
          </a:p>
        </p:txBody>
      </p:sp>
      <p:grpSp>
        <p:nvGrpSpPr>
          <p:cNvPr id="13" name="组合 12"/>
          <p:cNvGrpSpPr/>
          <p:nvPr/>
        </p:nvGrpSpPr>
        <p:grpSpPr>
          <a:xfrm>
            <a:off x="8977314" y="5288508"/>
            <a:ext cx="377825" cy="667122"/>
            <a:chOff x="8977314" y="5288508"/>
            <a:chExt cx="377825" cy="667122"/>
          </a:xfrm>
        </p:grpSpPr>
        <p:cxnSp>
          <p:nvCxnSpPr>
            <p:cNvPr id="8" name="直接连接符 7"/>
            <p:cNvCxnSpPr/>
            <p:nvPr/>
          </p:nvCxnSpPr>
          <p:spPr>
            <a:xfrm flipV="1">
              <a:off x="8977314" y="5288508"/>
              <a:ext cx="0" cy="660772"/>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flipV="1">
              <a:off x="9355139" y="5294858"/>
              <a:ext cx="0" cy="660772"/>
            </a:xfrm>
            <a:prstGeom prst="line">
              <a:avLst/>
            </a:prstGeom>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1667710729"/>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30"/>
                                        </p:tgtEl>
                                        <p:attrNameLst>
                                          <p:attrName>style.visibility</p:attrName>
                                        </p:attrNameLst>
                                      </p:cBhvr>
                                      <p:to>
                                        <p:strVal val="visible"/>
                                      </p:to>
                                    </p:set>
                                    <p:animEffect transition="in" filter="wipe(left)">
                                      <p:cBhvr>
                                        <p:cTn id="7" dur="500"/>
                                        <p:tgtEl>
                                          <p:spTgt spid="51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5131"/>
                                        </p:tgtEl>
                                        <p:attrNameLst>
                                          <p:attrName>style.visibility</p:attrName>
                                        </p:attrNameLst>
                                      </p:cBhvr>
                                      <p:to>
                                        <p:strVal val="visible"/>
                                      </p:to>
                                    </p:set>
                                    <p:anim calcmode="lin" valueType="num">
                                      <p:cBhvr>
                                        <p:cTn id="12" dur="500" fill="hold"/>
                                        <p:tgtEl>
                                          <p:spTgt spid="5131"/>
                                        </p:tgtEl>
                                        <p:attrNameLst>
                                          <p:attrName>ppt_w</p:attrName>
                                        </p:attrNameLst>
                                      </p:cBhvr>
                                      <p:tavLst>
                                        <p:tav tm="0">
                                          <p:val>
                                            <p:fltVal val="0"/>
                                          </p:val>
                                        </p:tav>
                                        <p:tav tm="100000">
                                          <p:val>
                                            <p:strVal val="#ppt_w"/>
                                          </p:val>
                                        </p:tav>
                                      </p:tavLst>
                                    </p:anim>
                                    <p:anim calcmode="lin" valueType="num">
                                      <p:cBhvr>
                                        <p:cTn id="13" dur="500" fill="hold"/>
                                        <p:tgtEl>
                                          <p:spTgt spid="5131"/>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133"/>
                                        </p:tgtEl>
                                        <p:attrNameLst>
                                          <p:attrName>style.visibility</p:attrName>
                                        </p:attrNameLst>
                                      </p:cBhvr>
                                      <p:to>
                                        <p:strVal val="visible"/>
                                      </p:to>
                                    </p:set>
                                    <p:animEffect transition="in" filter="wipe(left)">
                                      <p:cBhvr>
                                        <p:cTn id="18" dur="500"/>
                                        <p:tgtEl>
                                          <p:spTgt spid="513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p:tgtEl>
                                          <p:spTgt spid="2"/>
                                        </p:tgtEl>
                                        <p:attrNameLst>
                                          <p:attrName>ppt_x</p:attrName>
                                        </p:attrNameLst>
                                      </p:cBhvr>
                                      <p:tavLst>
                                        <p:tav tm="0">
                                          <p:val>
                                            <p:strVal val="#ppt_x-#ppt_w*1.125000"/>
                                          </p:val>
                                        </p:tav>
                                        <p:tav tm="100000">
                                          <p:val>
                                            <p:strVal val="#ppt_x"/>
                                          </p:val>
                                        </p:tav>
                                      </p:tavLst>
                                    </p:anim>
                                    <p:animEffect transition="in" filter="wipe(right)">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37"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barn(outVertical)">
                                      <p:cBhvr>
                                        <p:cTn id="29" dur="500"/>
                                        <p:tgtEl>
                                          <p:spTgt spid="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9" presetClass="entr" presetSubtype="0" decel="100000" fill="remove" grpId="0" nodeType="clickEffect">
                                  <p:stCondLst>
                                    <p:cond delay="0"/>
                                  </p:stCondLst>
                                  <p:childTnLst>
                                    <p:set>
                                      <p:cBhvr>
                                        <p:cTn id="33" dur="1" fill="hold">
                                          <p:stCondLst>
                                            <p:cond delay="0"/>
                                          </p:stCondLst>
                                        </p:cTn>
                                        <p:tgtEl>
                                          <p:spTgt spid="14342"/>
                                        </p:tgtEl>
                                        <p:attrNameLst>
                                          <p:attrName>style.visibility</p:attrName>
                                        </p:attrNameLst>
                                      </p:cBhvr>
                                      <p:to>
                                        <p:strVal val="visible"/>
                                      </p:to>
                                    </p:set>
                                    <p:anim calcmode="lin" valueType="num">
                                      <p:cBhvr>
                                        <p:cTn id="34" dur="3000" fill="hold"/>
                                        <p:tgtEl>
                                          <p:spTgt spid="14342"/>
                                        </p:tgtEl>
                                        <p:attrNameLst>
                                          <p:attrName>ppt_w</p:attrName>
                                        </p:attrNameLst>
                                      </p:cBhvr>
                                      <p:tavLst>
                                        <p:tav tm="0">
                                          <p:val>
                                            <p:fltVal val="0"/>
                                          </p:val>
                                        </p:tav>
                                        <p:tav tm="100000">
                                          <p:val>
                                            <p:strVal val="#ppt_w"/>
                                          </p:val>
                                        </p:tav>
                                      </p:tavLst>
                                    </p:anim>
                                    <p:anim calcmode="lin" valueType="num">
                                      <p:cBhvr>
                                        <p:cTn id="35" dur="3000" fill="hold"/>
                                        <p:tgtEl>
                                          <p:spTgt spid="14342"/>
                                        </p:tgtEl>
                                        <p:attrNameLst>
                                          <p:attrName>ppt_h</p:attrName>
                                        </p:attrNameLst>
                                      </p:cBhvr>
                                      <p:tavLst>
                                        <p:tav tm="0">
                                          <p:val>
                                            <p:fltVal val="0"/>
                                          </p:val>
                                        </p:tav>
                                        <p:tav tm="100000">
                                          <p:val>
                                            <p:strVal val="#ppt_h"/>
                                          </p:val>
                                        </p:tav>
                                      </p:tavLst>
                                    </p:anim>
                                    <p:anim calcmode="lin" valueType="num">
                                      <p:cBhvr>
                                        <p:cTn id="36" dur="3000" fill="hold"/>
                                        <p:tgtEl>
                                          <p:spTgt spid="14342"/>
                                        </p:tgtEl>
                                        <p:attrNameLst>
                                          <p:attrName>style.rotation</p:attrName>
                                        </p:attrNameLst>
                                      </p:cBhvr>
                                      <p:tavLst>
                                        <p:tav tm="0">
                                          <p:val>
                                            <p:fltVal val="360"/>
                                          </p:val>
                                        </p:tav>
                                        <p:tav tm="100000">
                                          <p:val>
                                            <p:fltVal val="0"/>
                                          </p:val>
                                        </p:tav>
                                      </p:tavLst>
                                    </p:anim>
                                    <p:animEffect transition="in" filter="fade">
                                      <p:cBhvr>
                                        <p:cTn id="37" dur="3000"/>
                                        <p:tgtEl>
                                          <p:spTgt spid="1434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p:tgtEl>
                                          <p:spTgt spid="3"/>
                                        </p:tgtEl>
                                        <p:attrNameLst>
                                          <p:attrName>ppt_x</p:attrName>
                                        </p:attrNameLst>
                                      </p:cBhvr>
                                      <p:tavLst>
                                        <p:tav tm="0">
                                          <p:val>
                                            <p:strVal val="#ppt_x-#ppt_w*1.125000"/>
                                          </p:val>
                                        </p:tav>
                                        <p:tav tm="100000">
                                          <p:val>
                                            <p:strVal val="#ppt_x"/>
                                          </p:val>
                                        </p:tav>
                                      </p:tavLst>
                                    </p:anim>
                                    <p:animEffect transition="in" filter="wipe(right)">
                                      <p:cBhvr>
                                        <p:cTn id="43" dur="500"/>
                                        <p:tgtEl>
                                          <p:spTgt spid="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6" presetClass="entr" presetSubtype="37"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barn(outVertical)">
                                      <p:cBhvr>
                                        <p:cTn id="48" dur="500"/>
                                        <p:tgtEl>
                                          <p:spTgt spid="5"/>
                                        </p:tgtEl>
                                      </p:cBhvr>
                                    </p:animEffect>
                                  </p:childTnLst>
                                </p:cTn>
                              </p:par>
                            </p:childTnLst>
                          </p:cTn>
                        </p:par>
                        <p:par>
                          <p:cTn id="49" fill="hold">
                            <p:stCondLst>
                              <p:cond delay="500"/>
                            </p:stCondLst>
                            <p:childTnLst>
                              <p:par>
                                <p:cTn id="50" presetID="1" presetClass="entr" presetSubtype="0"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49" presetClass="entr" presetSubtype="0" decel="100000" fill="remove" grpId="0" nodeType="clickEffect">
                                  <p:stCondLst>
                                    <p:cond delay="0"/>
                                  </p:stCondLst>
                                  <p:childTnLst>
                                    <p:set>
                                      <p:cBhvr>
                                        <p:cTn id="55" dur="1" fill="hold">
                                          <p:stCondLst>
                                            <p:cond delay="0"/>
                                          </p:stCondLst>
                                        </p:cTn>
                                        <p:tgtEl>
                                          <p:spTgt spid="14343"/>
                                        </p:tgtEl>
                                        <p:attrNameLst>
                                          <p:attrName>style.visibility</p:attrName>
                                        </p:attrNameLst>
                                      </p:cBhvr>
                                      <p:to>
                                        <p:strVal val="visible"/>
                                      </p:to>
                                    </p:set>
                                    <p:anim calcmode="lin" valueType="num">
                                      <p:cBhvr>
                                        <p:cTn id="56" dur="3000" fill="hold"/>
                                        <p:tgtEl>
                                          <p:spTgt spid="14343"/>
                                        </p:tgtEl>
                                        <p:attrNameLst>
                                          <p:attrName>ppt_w</p:attrName>
                                        </p:attrNameLst>
                                      </p:cBhvr>
                                      <p:tavLst>
                                        <p:tav tm="0">
                                          <p:val>
                                            <p:fltVal val="0"/>
                                          </p:val>
                                        </p:tav>
                                        <p:tav tm="100000">
                                          <p:val>
                                            <p:strVal val="#ppt_w"/>
                                          </p:val>
                                        </p:tav>
                                      </p:tavLst>
                                    </p:anim>
                                    <p:anim calcmode="lin" valueType="num">
                                      <p:cBhvr>
                                        <p:cTn id="57" dur="3000" fill="hold"/>
                                        <p:tgtEl>
                                          <p:spTgt spid="14343"/>
                                        </p:tgtEl>
                                        <p:attrNameLst>
                                          <p:attrName>ppt_h</p:attrName>
                                        </p:attrNameLst>
                                      </p:cBhvr>
                                      <p:tavLst>
                                        <p:tav tm="0">
                                          <p:val>
                                            <p:fltVal val="0"/>
                                          </p:val>
                                        </p:tav>
                                        <p:tav tm="100000">
                                          <p:val>
                                            <p:strVal val="#ppt_h"/>
                                          </p:val>
                                        </p:tav>
                                      </p:tavLst>
                                    </p:anim>
                                    <p:anim calcmode="lin" valueType="num">
                                      <p:cBhvr>
                                        <p:cTn id="58" dur="3000" fill="hold"/>
                                        <p:tgtEl>
                                          <p:spTgt spid="14343"/>
                                        </p:tgtEl>
                                        <p:attrNameLst>
                                          <p:attrName>style.rotation</p:attrName>
                                        </p:attrNameLst>
                                      </p:cBhvr>
                                      <p:tavLst>
                                        <p:tav tm="0">
                                          <p:val>
                                            <p:fltVal val="360"/>
                                          </p:val>
                                        </p:tav>
                                        <p:tav tm="100000">
                                          <p:val>
                                            <p:fltVal val="0"/>
                                          </p:val>
                                        </p:tav>
                                      </p:tavLst>
                                    </p:anim>
                                    <p:animEffect transition="in" filter="fade">
                                      <p:cBhvr>
                                        <p:cTn id="59" dur="3000"/>
                                        <p:tgtEl>
                                          <p:spTgt spid="14343"/>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4347"/>
                                        </p:tgtEl>
                                        <p:attrNameLst>
                                          <p:attrName>style.visibility</p:attrName>
                                        </p:attrNameLst>
                                      </p:cBhvr>
                                      <p:to>
                                        <p:strVal val="visible"/>
                                      </p:to>
                                    </p:set>
                                    <p:anim calcmode="lin" valueType="num">
                                      <p:cBhvr additive="base">
                                        <p:cTn id="64" dur="2000" fill="hold"/>
                                        <p:tgtEl>
                                          <p:spTgt spid="14347"/>
                                        </p:tgtEl>
                                        <p:attrNameLst>
                                          <p:attrName>ppt_x</p:attrName>
                                        </p:attrNameLst>
                                      </p:cBhvr>
                                      <p:tavLst>
                                        <p:tav tm="0">
                                          <p:val>
                                            <p:strVal val="#ppt_x"/>
                                          </p:val>
                                        </p:tav>
                                        <p:tav tm="100000">
                                          <p:val>
                                            <p:strVal val="#ppt_x"/>
                                          </p:val>
                                        </p:tav>
                                      </p:tavLst>
                                    </p:anim>
                                    <p:anim calcmode="lin" valueType="num">
                                      <p:cBhvr additive="base">
                                        <p:cTn id="65" dur="2000" fill="hold"/>
                                        <p:tgtEl>
                                          <p:spTgt spid="14347"/>
                                        </p:tgtEl>
                                        <p:attrNameLst>
                                          <p:attrName>ppt_y</p:attrName>
                                        </p:attrNameLst>
                                      </p:cBhvr>
                                      <p:tavLst>
                                        <p:tav tm="0">
                                          <p:val>
                                            <p:strVal val="1+#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1" fill="hold" nodeType="click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up)">
                                      <p:cBhvr>
                                        <p:cTn id="7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animBg="1"/>
      <p:bldP spid="14347" grpId="0"/>
      <p:bldP spid="5130" grpId="0"/>
      <p:bldP spid="5131" grpId="0" animBg="1"/>
      <p:bldP spid="5133" grpId="0" animBg="1"/>
      <p:bldP spid="14342"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 name="矩形 19"/>
          <p:cNvSpPr/>
          <p:nvPr/>
        </p:nvSpPr>
        <p:spPr>
          <a:xfrm>
            <a:off x="1409813" y="785813"/>
            <a:ext cx="2709396" cy="523220"/>
          </a:xfrm>
          <a:prstGeom prst="rect">
            <a:avLst/>
          </a:prstGeom>
        </p:spPr>
        <p:txBody>
          <a:bodyPr wrap="none">
            <a:spAutoFit/>
          </a:bodyPr>
          <a:lstStyle/>
          <a:p>
            <a:pPr eaLnBrk="1" hangingPunct="1">
              <a:defRPr/>
            </a:pPr>
            <a:r>
              <a:rPr lang="zh-CN" altLang="en-US" sz="2800" b="1" dirty="0">
                <a:solidFill>
                  <a:schemeClr val="tx2"/>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组合形式及视图</a:t>
            </a:r>
          </a:p>
        </p:txBody>
      </p:sp>
      <p:sp>
        <p:nvSpPr>
          <p:cNvPr id="28676" name="Rectangle 10"/>
          <p:cNvSpPr>
            <a:spLocks noChangeArrowheads="1"/>
          </p:cNvSpPr>
          <p:nvPr/>
        </p:nvSpPr>
        <p:spPr bwMode="auto">
          <a:xfrm>
            <a:off x="2516187" y="1418293"/>
            <a:ext cx="7007225" cy="523875"/>
          </a:xfrm>
          <a:prstGeom prst="rect">
            <a:avLst/>
          </a:prstGeom>
          <a:noFill/>
          <a:ln w="19050">
            <a:noFill/>
            <a:miter lim="800000"/>
            <a:headEnd/>
            <a:tailEnd/>
          </a:ln>
        </p:spPr>
        <p:txBody>
          <a:bodyPr wrap="none">
            <a:spAutoFit/>
          </a:bodyPr>
          <a:lstStyle/>
          <a:p>
            <a:pPr eaLnBrk="1" hangingPunct="1"/>
            <a:r>
              <a:rPr lang="zh-CN" altLang="en-US" sz="2800" b="1" dirty="0"/>
              <a:t>组合体相临表面之间的连接关系及表示方法</a:t>
            </a:r>
          </a:p>
        </p:txBody>
      </p:sp>
      <p:sp>
        <p:nvSpPr>
          <p:cNvPr id="2" name="矩形 1"/>
          <p:cNvSpPr>
            <a:spLocks noChangeArrowheads="1"/>
          </p:cNvSpPr>
          <p:nvPr/>
        </p:nvSpPr>
        <p:spPr bwMode="auto">
          <a:xfrm>
            <a:off x="2030413" y="2384426"/>
            <a:ext cx="800100" cy="461963"/>
          </a:xfrm>
          <a:prstGeom prst="rect">
            <a:avLst/>
          </a:prstGeom>
          <a:solidFill>
            <a:srgbClr val="FFFF00"/>
          </a:solidFill>
          <a:ln w="9525">
            <a:noFill/>
            <a:miter lim="800000"/>
            <a:headEnd/>
            <a:tailEnd/>
          </a:ln>
        </p:spPr>
        <p:txBody>
          <a:bodyPr wrap="none">
            <a:spAutoFit/>
          </a:bodyPr>
          <a:lstStyle/>
          <a:p>
            <a:pPr eaLnBrk="1" hangingPunct="1"/>
            <a:r>
              <a:rPr lang="zh-CN" altLang="en-US" sz="2400">
                <a:solidFill>
                  <a:srgbClr val="FF0000"/>
                </a:solidFill>
                <a:ea typeface="黑体" pitchFamily="49" charset="-122"/>
              </a:rPr>
              <a:t>相错</a:t>
            </a:r>
          </a:p>
        </p:txBody>
      </p:sp>
      <p:pic>
        <p:nvPicPr>
          <p:cNvPr id="3" name="图片 2"/>
          <p:cNvPicPr>
            <a:picLocks noChangeAspect="1"/>
          </p:cNvPicPr>
          <p:nvPr/>
        </p:nvPicPr>
        <p:blipFill>
          <a:blip r:embed="rId4"/>
          <a:srcRect/>
          <a:stretch>
            <a:fillRect/>
          </a:stretch>
        </p:blipFill>
        <p:spPr bwMode="auto">
          <a:xfrm>
            <a:off x="1793876" y="3752850"/>
            <a:ext cx="2074863" cy="1925638"/>
          </a:xfrm>
          <a:prstGeom prst="rect">
            <a:avLst/>
          </a:prstGeom>
          <a:noFill/>
          <a:ln w="9525">
            <a:noFill/>
            <a:miter lim="800000"/>
            <a:headEnd/>
            <a:tailEnd/>
          </a:ln>
        </p:spPr>
      </p:pic>
      <p:pic>
        <p:nvPicPr>
          <p:cNvPr id="4" name="图片 3"/>
          <p:cNvPicPr>
            <a:picLocks noChangeAspect="1"/>
          </p:cNvPicPr>
          <p:nvPr/>
        </p:nvPicPr>
        <p:blipFill>
          <a:blip r:embed="rId5"/>
          <a:srcRect/>
          <a:stretch>
            <a:fillRect/>
          </a:stretch>
        </p:blipFill>
        <p:spPr bwMode="auto">
          <a:xfrm>
            <a:off x="6167438" y="3824288"/>
            <a:ext cx="1924050" cy="1854200"/>
          </a:xfrm>
          <a:prstGeom prst="rect">
            <a:avLst/>
          </a:prstGeom>
          <a:noFill/>
          <a:ln w="9525">
            <a:noFill/>
            <a:miter lim="800000"/>
            <a:headEnd/>
            <a:tailEnd/>
          </a:ln>
        </p:spPr>
      </p:pic>
      <p:pic>
        <p:nvPicPr>
          <p:cNvPr id="5" name="图片 4"/>
          <p:cNvPicPr>
            <a:picLocks noChangeAspect="1"/>
          </p:cNvPicPr>
          <p:nvPr/>
        </p:nvPicPr>
        <p:blipFill>
          <a:blip r:embed="rId6"/>
          <a:srcRect/>
          <a:stretch>
            <a:fillRect/>
          </a:stretch>
        </p:blipFill>
        <p:spPr bwMode="auto">
          <a:xfrm>
            <a:off x="4043364" y="3027363"/>
            <a:ext cx="1800225" cy="2919412"/>
          </a:xfrm>
          <a:prstGeom prst="rect">
            <a:avLst/>
          </a:prstGeom>
          <a:noFill/>
          <a:ln w="9525">
            <a:noFill/>
            <a:miter lim="800000"/>
            <a:headEnd/>
            <a:tailEnd/>
          </a:ln>
        </p:spPr>
      </p:pic>
      <p:pic>
        <p:nvPicPr>
          <p:cNvPr id="6" name="图片 5"/>
          <p:cNvPicPr>
            <a:picLocks noChangeAspect="1"/>
          </p:cNvPicPr>
          <p:nvPr/>
        </p:nvPicPr>
        <p:blipFill>
          <a:blip r:embed="rId7"/>
          <a:srcRect/>
          <a:stretch>
            <a:fillRect/>
          </a:stretch>
        </p:blipFill>
        <p:spPr bwMode="auto">
          <a:xfrm>
            <a:off x="8291514" y="3228976"/>
            <a:ext cx="1895475" cy="2862263"/>
          </a:xfrm>
          <a:prstGeom prst="rect">
            <a:avLst/>
          </a:prstGeom>
          <a:noFill/>
          <a:ln w="9525">
            <a:noFill/>
            <a:miter lim="800000"/>
            <a:headEnd/>
            <a:tailEnd/>
          </a:ln>
        </p:spPr>
      </p:pic>
      <p:sp>
        <p:nvSpPr>
          <p:cNvPr id="24" name="Line 10"/>
          <p:cNvSpPr>
            <a:spLocks noChangeShapeType="1"/>
          </p:cNvSpPr>
          <p:nvPr/>
        </p:nvSpPr>
        <p:spPr bwMode="auto">
          <a:xfrm>
            <a:off x="4475163" y="4105275"/>
            <a:ext cx="900112" cy="0"/>
          </a:xfrm>
          <a:prstGeom prst="line">
            <a:avLst/>
          </a:prstGeom>
          <a:noFill/>
          <a:ln w="38100">
            <a:solidFill>
              <a:srgbClr val="FF0000"/>
            </a:solidFill>
            <a:round/>
            <a:headEnd/>
            <a:tailEnd/>
          </a:ln>
        </p:spPr>
        <p:txBody>
          <a:bodyPr/>
          <a:lstStyle/>
          <a:p>
            <a:endParaRPr lang="zh-CN" altLang="en-US"/>
          </a:p>
        </p:txBody>
      </p:sp>
      <p:sp>
        <p:nvSpPr>
          <p:cNvPr id="25" name="Line 15"/>
          <p:cNvSpPr>
            <a:spLocks noChangeShapeType="1"/>
          </p:cNvSpPr>
          <p:nvPr/>
        </p:nvSpPr>
        <p:spPr bwMode="auto">
          <a:xfrm>
            <a:off x="9004301" y="3738563"/>
            <a:ext cx="396875" cy="0"/>
          </a:xfrm>
          <a:prstGeom prst="line">
            <a:avLst/>
          </a:prstGeom>
          <a:noFill/>
          <a:ln w="19050">
            <a:solidFill>
              <a:srgbClr val="FF0000"/>
            </a:solidFill>
            <a:prstDash val="dash"/>
            <a:round/>
            <a:headEnd/>
            <a:tailEnd/>
          </a:ln>
        </p:spPr>
        <p:txBody>
          <a:bodyPr/>
          <a:lstStyle/>
          <a:p>
            <a:endParaRPr lang="zh-CN" altLang="en-US"/>
          </a:p>
        </p:txBody>
      </p:sp>
      <p:sp>
        <p:nvSpPr>
          <p:cNvPr id="26" name="Rectangle 8"/>
          <p:cNvSpPr>
            <a:spLocks noChangeArrowheads="1"/>
          </p:cNvSpPr>
          <p:nvPr/>
        </p:nvSpPr>
        <p:spPr bwMode="auto">
          <a:xfrm>
            <a:off x="5439569" y="2550641"/>
            <a:ext cx="3379788" cy="461665"/>
          </a:xfrm>
          <a:prstGeom prst="rect">
            <a:avLst/>
          </a:prstGeom>
          <a:noFill/>
          <a:ln w="9525">
            <a:noFill/>
            <a:miter lim="800000"/>
            <a:headEnd/>
            <a:tailEnd/>
          </a:ln>
        </p:spPr>
        <p:txBody>
          <a:bodyPr wrap="square" anchor="ctr">
            <a:spAutoFit/>
          </a:bodyPr>
          <a:lstStyle/>
          <a:p>
            <a:pPr eaLnBrk="1" hangingPunct="1"/>
            <a:r>
              <a:rPr lang="zh-CN" altLang="en-US" sz="2400" dirty="0">
                <a:solidFill>
                  <a:srgbClr val="FF0000"/>
                </a:solidFill>
                <a:ea typeface="黑体" pitchFamily="49" charset="-122"/>
              </a:rPr>
              <a:t>两表面相错有分界线</a:t>
            </a:r>
            <a:r>
              <a:rPr lang="zh-CN" altLang="en-US" sz="2400" dirty="0"/>
              <a:t> </a:t>
            </a:r>
          </a:p>
        </p:txBody>
      </p:sp>
      <p:grpSp>
        <p:nvGrpSpPr>
          <p:cNvPr id="27" name="组合 26"/>
          <p:cNvGrpSpPr>
            <a:grpSpLocks/>
          </p:cNvGrpSpPr>
          <p:nvPr/>
        </p:nvGrpSpPr>
        <p:grpSpPr bwMode="auto">
          <a:xfrm>
            <a:off x="5195888" y="3092451"/>
            <a:ext cx="3898900" cy="1020763"/>
            <a:chOff x="3752222" y="3344512"/>
            <a:chExt cx="3899524" cy="1020883"/>
          </a:xfrm>
        </p:grpSpPr>
        <p:cxnSp>
          <p:nvCxnSpPr>
            <p:cNvPr id="28" name="直接连接符 27"/>
            <p:cNvCxnSpPr/>
            <p:nvPr/>
          </p:nvCxnSpPr>
          <p:spPr>
            <a:xfrm flipH="1">
              <a:off x="3752222" y="3344512"/>
              <a:ext cx="1648089" cy="10208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384433" y="3344512"/>
              <a:ext cx="2267313" cy="64618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7" name="Text Box 31">
            <a:extLst>
              <a:ext uri="{FF2B5EF4-FFF2-40B4-BE49-F238E27FC236}">
                <a16:creationId xmlns:a16="http://schemas.microsoft.com/office/drawing/2014/main" id="{2DD92CA1-1BA9-43D3-AD80-FD5F7DF5C6C8}"/>
              </a:ext>
            </a:extLst>
          </p:cNvPr>
          <p:cNvSpPr txBox="1">
            <a:spLocks noChangeArrowheads="1"/>
          </p:cNvSpPr>
          <p:nvPr/>
        </p:nvSpPr>
        <p:spPr bwMode="auto">
          <a:xfrm>
            <a:off x="3467101" y="282575"/>
            <a:ext cx="4968875" cy="584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solidFill>
                  <a:schemeClr val="tx2"/>
                </a:solidFill>
                <a:latin typeface="黑体" pitchFamily="49" charset="-122"/>
                <a:ea typeface="黑体" pitchFamily="49" charset="-122"/>
              </a:rPr>
              <a:t>组合体的构形及表达</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nodeType="afterGroup">
                            <p:stCondLst>
                              <p:cond delay="500"/>
                            </p:stCondLst>
                            <p:childTnLst>
                              <p:par>
                                <p:cTn id="9" presetID="6" presetClass="entr" presetSubtype="3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circle(out)">
                                      <p:cBhvr>
                                        <p:cTn id="11" dur="2000"/>
                                        <p:tgtEl>
                                          <p:spTgt spid="3"/>
                                        </p:tgtEl>
                                      </p:cBhvr>
                                    </p:animEffect>
                                  </p:childTnLst>
                                </p:cTn>
                              </p:par>
                            </p:childTnLst>
                          </p:cTn>
                        </p:par>
                        <p:par>
                          <p:cTn id="12" fill="hold" nodeType="afterGroup">
                            <p:stCondLst>
                              <p:cond delay="2500"/>
                            </p:stCondLst>
                            <p:childTnLst>
                              <p:par>
                                <p:cTn id="13" presetID="53" presetClass="entr" presetSubtype="16"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Effect transition="in" filter="fade">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outVertic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37"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outVertical)">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9" presetClass="entr" presetSubtype="0" decel="10000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 calcmode="lin" valueType="num">
                                      <p:cBhvr>
                                        <p:cTn id="32" dur="2000" fill="hold"/>
                                        <p:tgtEl>
                                          <p:spTgt spid="24"/>
                                        </p:tgtEl>
                                        <p:attrNameLst>
                                          <p:attrName>ppt_w</p:attrName>
                                        </p:attrNameLst>
                                      </p:cBhvr>
                                      <p:tavLst>
                                        <p:tav tm="0">
                                          <p:val>
                                            <p:fltVal val="0"/>
                                          </p:val>
                                        </p:tav>
                                        <p:tav tm="100000">
                                          <p:val>
                                            <p:strVal val="#ppt_w"/>
                                          </p:val>
                                        </p:tav>
                                      </p:tavLst>
                                    </p:anim>
                                    <p:anim calcmode="lin" valueType="num">
                                      <p:cBhvr>
                                        <p:cTn id="33" dur="2000" fill="hold"/>
                                        <p:tgtEl>
                                          <p:spTgt spid="24"/>
                                        </p:tgtEl>
                                        <p:attrNameLst>
                                          <p:attrName>ppt_h</p:attrName>
                                        </p:attrNameLst>
                                      </p:cBhvr>
                                      <p:tavLst>
                                        <p:tav tm="0">
                                          <p:val>
                                            <p:fltVal val="0"/>
                                          </p:val>
                                        </p:tav>
                                        <p:tav tm="100000">
                                          <p:val>
                                            <p:strVal val="#ppt_h"/>
                                          </p:val>
                                        </p:tav>
                                      </p:tavLst>
                                    </p:anim>
                                    <p:anim calcmode="lin" valueType="num">
                                      <p:cBhvr>
                                        <p:cTn id="34" dur="2000" fill="hold"/>
                                        <p:tgtEl>
                                          <p:spTgt spid="24"/>
                                        </p:tgtEl>
                                        <p:attrNameLst>
                                          <p:attrName>style.rotation</p:attrName>
                                        </p:attrNameLst>
                                      </p:cBhvr>
                                      <p:tavLst>
                                        <p:tav tm="0">
                                          <p:val>
                                            <p:fltVal val="360"/>
                                          </p:val>
                                        </p:tav>
                                        <p:tav tm="100000">
                                          <p:val>
                                            <p:fltVal val="0"/>
                                          </p:val>
                                        </p:tav>
                                      </p:tavLst>
                                    </p:anim>
                                    <p:animEffect transition="in" filter="fade">
                                      <p:cBhvr>
                                        <p:cTn id="35" dur="2000"/>
                                        <p:tgtEl>
                                          <p:spTgt spid="2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5"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2000"/>
                                        <p:tgtEl>
                                          <p:spTgt spid="25"/>
                                        </p:tgtEl>
                                      </p:cBhvr>
                                    </p:animEffect>
                                    <p:anim calcmode="lin" valueType="num">
                                      <p:cBhvr>
                                        <p:cTn id="41" dur="2000" fill="hold"/>
                                        <p:tgtEl>
                                          <p:spTgt spid="25"/>
                                        </p:tgtEl>
                                        <p:attrNameLst>
                                          <p:attrName>ppt_w</p:attrName>
                                        </p:attrNameLst>
                                      </p:cBhvr>
                                      <p:tavLst>
                                        <p:tav tm="0" fmla="#ppt_w*sin(2.5*pi*$)">
                                          <p:val>
                                            <p:fltVal val="0"/>
                                          </p:val>
                                        </p:tav>
                                        <p:tav tm="100000">
                                          <p:val>
                                            <p:fltVal val="1"/>
                                          </p:val>
                                        </p:tav>
                                      </p:tavLst>
                                    </p:anim>
                                    <p:anim calcmode="lin" valueType="num">
                                      <p:cBhvr>
                                        <p:cTn id="42" dur="2000" fill="hold"/>
                                        <p:tgtEl>
                                          <p:spTgt spid="2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
                                            </p:cond>
                                          </p:stCondLst>
                                          <p:endCondLst>
                                            <p:cond evt="onStopAudio" delay="0">
                                              <p:tgtEl>
                                                <p:sldTgt/>
                                              </p:tgtEl>
                                            </p:cond>
                                          </p:endCondLst>
                                        </p:cTn>
                                        <p:tgtEl>
                                          <p:sndTgt r:embed="rId3" name="suction.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 calcmode="lin" valueType="num">
                                      <p:cBhvr additive="base">
                                        <p:cTn id="47" dur="750" fill="hold"/>
                                        <p:tgtEl>
                                          <p:spTgt spid="26"/>
                                        </p:tgtEl>
                                        <p:attrNameLst>
                                          <p:attrName>ppt_x</p:attrName>
                                        </p:attrNameLst>
                                      </p:cBhvr>
                                      <p:tavLst>
                                        <p:tav tm="0">
                                          <p:val>
                                            <p:strVal val="1+#ppt_w/2"/>
                                          </p:val>
                                        </p:tav>
                                        <p:tav tm="100000">
                                          <p:val>
                                            <p:strVal val="#ppt_x"/>
                                          </p:val>
                                        </p:tav>
                                      </p:tavLst>
                                    </p:anim>
                                    <p:anim calcmode="lin" valueType="num">
                                      <p:cBhvr additive="base">
                                        <p:cTn id="48" dur="75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P spid="25" grpId="0" animBg="1"/>
      <p:bldP spid="26"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rcRect/>
          <a:stretch>
            <a:fillRect/>
          </a:stretch>
        </p:blipFill>
        <p:spPr bwMode="auto">
          <a:xfrm>
            <a:off x="6275388" y="2960688"/>
            <a:ext cx="3313112" cy="2965450"/>
          </a:xfrm>
          <a:prstGeom prst="rect">
            <a:avLst/>
          </a:prstGeom>
          <a:noFill/>
          <a:ln w="9525">
            <a:noFill/>
            <a:miter lim="800000"/>
            <a:headEnd/>
            <a:tailEnd/>
          </a:ln>
        </p:spPr>
      </p:pic>
      <p:pic>
        <p:nvPicPr>
          <p:cNvPr id="8" name="图片 7"/>
          <p:cNvPicPr>
            <a:picLocks noChangeAspect="1"/>
          </p:cNvPicPr>
          <p:nvPr/>
        </p:nvPicPr>
        <p:blipFill>
          <a:blip r:embed="rId4"/>
          <a:srcRect/>
          <a:stretch>
            <a:fillRect/>
          </a:stretch>
        </p:blipFill>
        <p:spPr bwMode="auto">
          <a:xfrm>
            <a:off x="1708151" y="3076575"/>
            <a:ext cx="3706813" cy="3003550"/>
          </a:xfrm>
          <a:prstGeom prst="rect">
            <a:avLst/>
          </a:prstGeom>
          <a:noFill/>
          <a:ln w="9525">
            <a:noFill/>
            <a:miter lim="800000"/>
            <a:headEnd/>
            <a:tailEnd/>
          </a:ln>
        </p:spPr>
      </p:pic>
      <p:sp>
        <p:nvSpPr>
          <p:cNvPr id="17413" name="Rectangle 5"/>
          <p:cNvSpPr>
            <a:spLocks noChangeArrowheads="1"/>
          </p:cNvSpPr>
          <p:nvPr/>
        </p:nvSpPr>
        <p:spPr bwMode="auto">
          <a:xfrm>
            <a:off x="4450382" y="2183238"/>
            <a:ext cx="3671888" cy="461665"/>
          </a:xfrm>
          <a:prstGeom prst="rect">
            <a:avLst/>
          </a:prstGeom>
          <a:noFill/>
          <a:ln w="9525">
            <a:noFill/>
            <a:miter lim="800000"/>
            <a:headEnd/>
            <a:tailEnd/>
          </a:ln>
        </p:spPr>
        <p:txBody>
          <a:bodyPr anchor="ctr">
            <a:spAutoFit/>
          </a:bodyPr>
          <a:lstStyle/>
          <a:p>
            <a:pPr algn="ctr" eaLnBrk="1" hangingPunct="1"/>
            <a:r>
              <a:rPr lang="zh-CN" altLang="en-US" sz="2400" dirty="0">
                <a:solidFill>
                  <a:srgbClr val="FF0000"/>
                </a:solidFill>
                <a:ea typeface="黑体" pitchFamily="49" charset="-122"/>
              </a:rPr>
              <a:t>两表面相交有交线</a:t>
            </a:r>
            <a:r>
              <a:rPr lang="zh-CN" altLang="en-US" sz="2400" dirty="0"/>
              <a:t> </a:t>
            </a:r>
          </a:p>
        </p:txBody>
      </p:sp>
      <p:sp>
        <p:nvSpPr>
          <p:cNvPr id="17420" name="Line 12"/>
          <p:cNvSpPr>
            <a:spLocks noChangeShapeType="1"/>
          </p:cNvSpPr>
          <p:nvPr/>
        </p:nvSpPr>
        <p:spPr bwMode="auto">
          <a:xfrm flipV="1">
            <a:off x="2927350" y="4005263"/>
            <a:ext cx="0" cy="971550"/>
          </a:xfrm>
          <a:prstGeom prst="line">
            <a:avLst/>
          </a:prstGeom>
          <a:noFill/>
          <a:ln w="9525">
            <a:solidFill>
              <a:srgbClr val="FF0000"/>
            </a:solidFill>
            <a:round/>
            <a:headEnd/>
            <a:tailEnd/>
          </a:ln>
        </p:spPr>
        <p:txBody>
          <a:bodyPr/>
          <a:lstStyle/>
          <a:p>
            <a:endParaRPr lang="zh-CN" altLang="en-US"/>
          </a:p>
        </p:txBody>
      </p:sp>
      <p:sp>
        <p:nvSpPr>
          <p:cNvPr id="17421" name="Line 13"/>
          <p:cNvSpPr>
            <a:spLocks noChangeShapeType="1"/>
          </p:cNvSpPr>
          <p:nvPr/>
        </p:nvSpPr>
        <p:spPr bwMode="auto">
          <a:xfrm>
            <a:off x="2919413" y="3989388"/>
            <a:ext cx="0" cy="323850"/>
          </a:xfrm>
          <a:prstGeom prst="line">
            <a:avLst/>
          </a:prstGeom>
          <a:noFill/>
          <a:ln w="38100">
            <a:solidFill>
              <a:srgbClr val="FF0000"/>
            </a:solidFill>
            <a:round/>
            <a:headEnd/>
            <a:tailEnd/>
          </a:ln>
        </p:spPr>
        <p:txBody>
          <a:bodyPr/>
          <a:lstStyle/>
          <a:p>
            <a:endParaRPr lang="zh-CN" altLang="en-US"/>
          </a:p>
        </p:txBody>
      </p:sp>
      <p:sp>
        <p:nvSpPr>
          <p:cNvPr id="17423" name="Freeform 15"/>
          <p:cNvSpPr>
            <a:spLocks/>
          </p:cNvSpPr>
          <p:nvPr/>
        </p:nvSpPr>
        <p:spPr bwMode="auto">
          <a:xfrm>
            <a:off x="6753226" y="3411539"/>
            <a:ext cx="809625" cy="179387"/>
          </a:xfrm>
          <a:custGeom>
            <a:avLst/>
            <a:gdLst>
              <a:gd name="T0" fmla="*/ 0 w 363"/>
              <a:gd name="T1" fmla="*/ 0 h 45"/>
              <a:gd name="T2" fmla="*/ 2147483646 w 363"/>
              <a:gd name="T3" fmla="*/ 2147483646 h 45"/>
              <a:gd name="T4" fmla="*/ 2147483646 w 363"/>
              <a:gd name="T5" fmla="*/ 0 h 45"/>
              <a:gd name="T6" fmla="*/ 0 60000 65536"/>
              <a:gd name="T7" fmla="*/ 0 60000 65536"/>
              <a:gd name="T8" fmla="*/ 0 60000 65536"/>
              <a:gd name="T9" fmla="*/ 0 w 363"/>
              <a:gd name="T10" fmla="*/ 0 h 45"/>
              <a:gd name="T11" fmla="*/ 363 w 363"/>
              <a:gd name="T12" fmla="*/ 45 h 45"/>
            </a:gdLst>
            <a:ahLst/>
            <a:cxnLst>
              <a:cxn ang="T6">
                <a:pos x="T0" y="T1"/>
              </a:cxn>
              <a:cxn ang="T7">
                <a:pos x="T2" y="T3"/>
              </a:cxn>
              <a:cxn ang="T8">
                <a:pos x="T4" y="T5"/>
              </a:cxn>
            </a:cxnLst>
            <a:rect l="T9" t="T10" r="T11" b="T12"/>
            <a:pathLst>
              <a:path w="363" h="45">
                <a:moveTo>
                  <a:pt x="0" y="0"/>
                </a:moveTo>
                <a:cubicBezTo>
                  <a:pt x="60" y="22"/>
                  <a:pt x="121" y="45"/>
                  <a:pt x="181" y="45"/>
                </a:cubicBezTo>
                <a:cubicBezTo>
                  <a:pt x="241" y="45"/>
                  <a:pt x="318" y="15"/>
                  <a:pt x="363" y="0"/>
                </a:cubicBezTo>
              </a:path>
            </a:pathLst>
          </a:custGeom>
          <a:noFill/>
          <a:ln w="38100">
            <a:solidFill>
              <a:srgbClr val="FF0000"/>
            </a:solidFill>
            <a:round/>
            <a:headEnd/>
            <a:tailEnd/>
          </a:ln>
        </p:spPr>
        <p:txBody>
          <a:bodyPr/>
          <a:lstStyle/>
          <a:p>
            <a:endParaRPr lang="zh-CN" altLang="en-US"/>
          </a:p>
        </p:txBody>
      </p:sp>
      <p:sp>
        <p:nvSpPr>
          <p:cNvPr id="15" name="矩形 14"/>
          <p:cNvSpPr/>
          <p:nvPr/>
        </p:nvSpPr>
        <p:spPr>
          <a:xfrm>
            <a:off x="1403352" y="832643"/>
            <a:ext cx="2709396" cy="523220"/>
          </a:xfrm>
          <a:prstGeom prst="rect">
            <a:avLst/>
          </a:prstGeom>
        </p:spPr>
        <p:txBody>
          <a:bodyPr wrap="none">
            <a:spAutoFit/>
          </a:bodyPr>
          <a:lstStyle/>
          <a:p>
            <a:pPr eaLnBrk="1" hangingPunct="1">
              <a:defRPr/>
            </a:pPr>
            <a:r>
              <a:rPr lang="zh-CN" altLang="en-US" sz="2800" b="1" dirty="0">
                <a:solidFill>
                  <a:schemeClr val="tx2"/>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组合形式及视图</a:t>
            </a:r>
          </a:p>
        </p:txBody>
      </p:sp>
      <p:sp>
        <p:nvSpPr>
          <p:cNvPr id="30730" name="Rectangle 10"/>
          <p:cNvSpPr>
            <a:spLocks noChangeArrowheads="1"/>
          </p:cNvSpPr>
          <p:nvPr/>
        </p:nvSpPr>
        <p:spPr bwMode="auto">
          <a:xfrm>
            <a:off x="2668658" y="1481600"/>
            <a:ext cx="7007225" cy="523875"/>
          </a:xfrm>
          <a:prstGeom prst="rect">
            <a:avLst/>
          </a:prstGeom>
          <a:noFill/>
          <a:ln w="19050">
            <a:noFill/>
            <a:miter lim="800000"/>
            <a:headEnd/>
            <a:tailEnd/>
          </a:ln>
        </p:spPr>
        <p:txBody>
          <a:bodyPr wrap="none">
            <a:spAutoFit/>
          </a:bodyPr>
          <a:lstStyle/>
          <a:p>
            <a:pPr eaLnBrk="1" hangingPunct="1"/>
            <a:r>
              <a:rPr lang="zh-CN" altLang="en-US" sz="2800" b="1" dirty="0"/>
              <a:t>组合体相临表面之间的连接关系及表示方法</a:t>
            </a:r>
          </a:p>
        </p:txBody>
      </p:sp>
      <p:sp>
        <p:nvSpPr>
          <p:cNvPr id="17" name="矩形 16"/>
          <p:cNvSpPr>
            <a:spLocks noChangeArrowheads="1"/>
          </p:cNvSpPr>
          <p:nvPr/>
        </p:nvSpPr>
        <p:spPr bwMode="auto">
          <a:xfrm>
            <a:off x="2030413" y="2384426"/>
            <a:ext cx="800100" cy="461963"/>
          </a:xfrm>
          <a:prstGeom prst="rect">
            <a:avLst/>
          </a:prstGeom>
          <a:solidFill>
            <a:srgbClr val="FFFF00"/>
          </a:solidFill>
          <a:ln w="9525">
            <a:noFill/>
            <a:miter lim="800000"/>
            <a:headEnd/>
            <a:tailEnd/>
          </a:ln>
        </p:spPr>
        <p:txBody>
          <a:bodyPr wrap="none">
            <a:spAutoFit/>
          </a:bodyPr>
          <a:lstStyle/>
          <a:p>
            <a:pPr eaLnBrk="1" hangingPunct="1"/>
            <a:r>
              <a:rPr lang="zh-CN" altLang="en-US" sz="2400">
                <a:solidFill>
                  <a:srgbClr val="FF0000"/>
                </a:solidFill>
                <a:ea typeface="黑体" pitchFamily="49" charset="-122"/>
              </a:rPr>
              <a:t>相交</a:t>
            </a:r>
          </a:p>
        </p:txBody>
      </p:sp>
      <p:pic>
        <p:nvPicPr>
          <p:cNvPr id="4" name="图片 3"/>
          <p:cNvPicPr>
            <a:picLocks noChangeAspect="1"/>
          </p:cNvPicPr>
          <p:nvPr/>
        </p:nvPicPr>
        <p:blipFill>
          <a:blip r:embed="rId5"/>
          <a:srcRect/>
          <a:stretch>
            <a:fillRect/>
          </a:stretch>
        </p:blipFill>
        <p:spPr bwMode="auto">
          <a:xfrm>
            <a:off x="4438651" y="4438651"/>
            <a:ext cx="1503363" cy="1624013"/>
          </a:xfrm>
          <a:prstGeom prst="rect">
            <a:avLst/>
          </a:prstGeom>
          <a:noFill/>
          <a:ln w="9525">
            <a:noFill/>
            <a:miter lim="800000"/>
            <a:headEnd/>
            <a:tailEnd/>
          </a:ln>
        </p:spPr>
      </p:pic>
      <p:pic>
        <p:nvPicPr>
          <p:cNvPr id="5" name="图片 4"/>
          <p:cNvPicPr>
            <a:picLocks noChangeAspect="1"/>
          </p:cNvPicPr>
          <p:nvPr/>
        </p:nvPicPr>
        <p:blipFill>
          <a:blip r:embed="rId6"/>
          <a:srcRect/>
          <a:stretch>
            <a:fillRect/>
          </a:stretch>
        </p:blipFill>
        <p:spPr bwMode="auto">
          <a:xfrm>
            <a:off x="8743951" y="4568825"/>
            <a:ext cx="1535113" cy="1479550"/>
          </a:xfrm>
          <a:prstGeom prst="rect">
            <a:avLst/>
          </a:prstGeom>
          <a:noFill/>
          <a:ln w="9525">
            <a:noFill/>
            <a:miter lim="800000"/>
            <a:headEnd/>
            <a:tailEnd/>
          </a:ln>
        </p:spPr>
      </p:pic>
      <p:sp>
        <p:nvSpPr>
          <p:cNvPr id="17422" name="Line 14"/>
          <p:cNvSpPr>
            <a:spLocks noChangeShapeType="1"/>
          </p:cNvSpPr>
          <p:nvPr/>
        </p:nvSpPr>
        <p:spPr bwMode="auto">
          <a:xfrm flipH="1">
            <a:off x="7159626" y="3608388"/>
            <a:ext cx="2087563" cy="0"/>
          </a:xfrm>
          <a:prstGeom prst="line">
            <a:avLst/>
          </a:prstGeom>
          <a:noFill/>
          <a:ln w="9525">
            <a:solidFill>
              <a:srgbClr val="FF0000"/>
            </a:solidFill>
            <a:round/>
            <a:headEnd/>
            <a:tailEnd/>
          </a:ln>
        </p:spPr>
        <p:txBody>
          <a:bodyPr/>
          <a:lstStyle/>
          <a:p>
            <a:endParaRPr lang="zh-CN" altLang="en-US"/>
          </a:p>
        </p:txBody>
      </p:sp>
      <p:sp>
        <p:nvSpPr>
          <p:cNvPr id="18" name="Text Box 31">
            <a:extLst>
              <a:ext uri="{FF2B5EF4-FFF2-40B4-BE49-F238E27FC236}">
                <a16:creationId xmlns:a16="http://schemas.microsoft.com/office/drawing/2014/main" id="{513778D1-0DAF-4DAF-877B-C877FE0B5892}"/>
              </a:ext>
            </a:extLst>
          </p:cNvPr>
          <p:cNvSpPr txBox="1">
            <a:spLocks noChangeArrowheads="1"/>
          </p:cNvSpPr>
          <p:nvPr/>
        </p:nvSpPr>
        <p:spPr bwMode="auto">
          <a:xfrm>
            <a:off x="3467101" y="282575"/>
            <a:ext cx="4968875" cy="584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solidFill>
                  <a:schemeClr val="tx2"/>
                </a:solidFill>
                <a:latin typeface="黑体" pitchFamily="49" charset="-122"/>
                <a:ea typeface="黑体" pitchFamily="49" charset="-122"/>
              </a:rPr>
              <a:t>组合体的构形及表达</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nodeType="afterGroup">
                            <p:stCondLst>
                              <p:cond delay="500"/>
                            </p:stCondLst>
                            <p:childTnLst>
                              <p:par>
                                <p:cTn id="9" presetID="2" presetClass="entr" presetSubtype="4"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par>
                          <p:cTn id="13" fill="hold" nodeType="afterGroup">
                            <p:stCondLst>
                              <p:cond delay="1000"/>
                            </p:stCondLst>
                            <p:childTnLst>
                              <p:par>
                                <p:cTn id="14" presetID="2" presetClass="entr" presetSubtype="4"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p:tgtEl>
                                          <p:spTgt spid="8"/>
                                        </p:tgtEl>
                                        <p:attrNameLst>
                                          <p:attrName>ppt_x</p:attrName>
                                        </p:attrNameLst>
                                      </p:cBhvr>
                                      <p:tavLst>
                                        <p:tav tm="0">
                                          <p:val>
                                            <p:strVal val="#ppt_x+#ppt_w*1.125000"/>
                                          </p:val>
                                        </p:tav>
                                        <p:tav tm="100000">
                                          <p:val>
                                            <p:strVal val="#ppt_x"/>
                                          </p:val>
                                        </p:tav>
                                      </p:tavLst>
                                    </p:anim>
                                    <p:animEffect transition="in" filter="wipe(left)">
                                      <p:cBhvr>
                                        <p:cTn id="23" dur="500"/>
                                        <p:tgtEl>
                                          <p:spTgt spid="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2"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p:tgtEl>
                                          <p:spTgt spid="9"/>
                                        </p:tgtEl>
                                        <p:attrNameLst>
                                          <p:attrName>ppt_x</p:attrName>
                                        </p:attrNameLst>
                                      </p:cBhvr>
                                      <p:tavLst>
                                        <p:tav tm="0">
                                          <p:val>
                                            <p:strVal val="#ppt_x+#ppt_w*1.125000"/>
                                          </p:val>
                                        </p:tav>
                                        <p:tav tm="100000">
                                          <p:val>
                                            <p:strVal val="#ppt_x"/>
                                          </p:val>
                                        </p:tav>
                                      </p:tavLst>
                                    </p:anim>
                                    <p:animEffect transition="in" filter="wipe(left)">
                                      <p:cBhvr>
                                        <p:cTn id="29" dur="500"/>
                                        <p:tgtEl>
                                          <p:spTgt spid="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7420"/>
                                        </p:tgtEl>
                                        <p:attrNameLst>
                                          <p:attrName>style.visibility</p:attrName>
                                        </p:attrNameLst>
                                      </p:cBhvr>
                                      <p:to>
                                        <p:strVal val="visible"/>
                                      </p:to>
                                    </p:set>
                                    <p:animEffect transition="in" filter="wipe(down)">
                                      <p:cBhvr>
                                        <p:cTn id="34" dur="500"/>
                                        <p:tgtEl>
                                          <p:spTgt spid="1742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7421"/>
                                        </p:tgtEl>
                                        <p:attrNameLst>
                                          <p:attrName>style.visibility</p:attrName>
                                        </p:attrNameLst>
                                      </p:cBhvr>
                                      <p:to>
                                        <p:strVal val="visible"/>
                                      </p:to>
                                    </p:set>
                                    <p:animEffect transition="in" filter="wipe(down)">
                                      <p:cBhvr>
                                        <p:cTn id="39" dur="500"/>
                                        <p:tgtEl>
                                          <p:spTgt spid="1742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17422"/>
                                        </p:tgtEl>
                                        <p:attrNameLst>
                                          <p:attrName>style.visibility</p:attrName>
                                        </p:attrNameLst>
                                      </p:cBhvr>
                                      <p:to>
                                        <p:strVal val="visible"/>
                                      </p:to>
                                    </p:set>
                                    <p:animEffect transition="in" filter="wipe(right)">
                                      <p:cBhvr>
                                        <p:cTn id="44" dur="500"/>
                                        <p:tgtEl>
                                          <p:spTgt spid="1742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423"/>
                                        </p:tgtEl>
                                        <p:attrNameLst>
                                          <p:attrName>style.visibility</p:attrName>
                                        </p:attrNameLst>
                                      </p:cBhvr>
                                      <p:to>
                                        <p:strVal val="visible"/>
                                      </p:to>
                                    </p:set>
                                    <p:animEffect transition="in" filter="wipe(left)">
                                      <p:cBhvr>
                                        <p:cTn id="49" dur="500"/>
                                        <p:tgtEl>
                                          <p:spTgt spid="1742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7413"/>
                                        </p:tgtEl>
                                        <p:attrNameLst>
                                          <p:attrName>style.visibility</p:attrName>
                                        </p:attrNameLst>
                                      </p:cBhvr>
                                      <p:to>
                                        <p:strVal val="visible"/>
                                      </p:to>
                                    </p:set>
                                    <p:anim calcmode="lin" valueType="num">
                                      <p:cBhvr additive="base">
                                        <p:cTn id="54" dur="500" fill="hold"/>
                                        <p:tgtEl>
                                          <p:spTgt spid="17413"/>
                                        </p:tgtEl>
                                        <p:attrNameLst>
                                          <p:attrName>ppt_x</p:attrName>
                                        </p:attrNameLst>
                                      </p:cBhvr>
                                      <p:tavLst>
                                        <p:tav tm="0">
                                          <p:val>
                                            <p:strVal val="#ppt_x"/>
                                          </p:val>
                                        </p:tav>
                                        <p:tav tm="100000">
                                          <p:val>
                                            <p:strVal val="#ppt_x"/>
                                          </p:val>
                                        </p:tav>
                                      </p:tavLst>
                                    </p:anim>
                                    <p:anim calcmode="lin" valueType="num">
                                      <p:cBhvr additive="base">
                                        <p:cTn id="55"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p:bldP spid="17420" grpId="0" animBg="1"/>
      <p:bldP spid="17421" grpId="0" animBg="1"/>
      <p:bldP spid="17423" grpId="0" animBg="1"/>
      <p:bldP spid="17" grpId="0" animBg="1"/>
      <p:bldP spid="17422"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5" name="组合 4"/>
          <p:cNvGrpSpPr>
            <a:grpSpLocks/>
          </p:cNvGrpSpPr>
          <p:nvPr/>
        </p:nvGrpSpPr>
        <p:grpSpPr bwMode="auto">
          <a:xfrm>
            <a:off x="2078039" y="2952750"/>
            <a:ext cx="4103687" cy="3340100"/>
            <a:chOff x="311491" y="3048869"/>
            <a:chExt cx="4102913" cy="3339751"/>
          </a:xfrm>
        </p:grpSpPr>
        <p:pic>
          <p:nvPicPr>
            <p:cNvPr id="32803" name="图片 3"/>
            <p:cNvPicPr>
              <a:picLocks noChangeAspect="1"/>
            </p:cNvPicPr>
            <p:nvPr/>
          </p:nvPicPr>
          <p:blipFill>
            <a:blip r:embed="rId3"/>
            <a:srcRect r="36794"/>
            <a:stretch>
              <a:fillRect/>
            </a:stretch>
          </p:blipFill>
          <p:spPr bwMode="auto">
            <a:xfrm>
              <a:off x="311491" y="3049907"/>
              <a:ext cx="2280289" cy="3338713"/>
            </a:xfrm>
            <a:prstGeom prst="rect">
              <a:avLst/>
            </a:prstGeom>
            <a:noFill/>
            <a:ln w="9525">
              <a:noFill/>
              <a:miter lim="800000"/>
              <a:headEnd/>
              <a:tailEnd/>
            </a:ln>
          </p:spPr>
        </p:pic>
        <p:pic>
          <p:nvPicPr>
            <p:cNvPr id="32804" name="图片 20"/>
            <p:cNvPicPr>
              <a:picLocks noChangeAspect="1"/>
            </p:cNvPicPr>
            <p:nvPr/>
          </p:nvPicPr>
          <p:blipFill>
            <a:blip r:embed="rId3"/>
            <a:srcRect l="62791" b="53021"/>
            <a:stretch>
              <a:fillRect/>
            </a:stretch>
          </p:blipFill>
          <p:spPr bwMode="auto">
            <a:xfrm>
              <a:off x="3072036" y="3048869"/>
              <a:ext cx="1342368" cy="1568491"/>
            </a:xfrm>
            <a:prstGeom prst="rect">
              <a:avLst/>
            </a:prstGeom>
            <a:noFill/>
            <a:ln w="9525">
              <a:noFill/>
              <a:miter lim="800000"/>
              <a:headEnd/>
              <a:tailEnd/>
            </a:ln>
          </p:spPr>
        </p:pic>
      </p:grpSp>
      <p:sp>
        <p:nvSpPr>
          <p:cNvPr id="18450" name="Line 18"/>
          <p:cNvSpPr>
            <a:spLocks noChangeShapeType="1"/>
          </p:cNvSpPr>
          <p:nvPr/>
        </p:nvSpPr>
        <p:spPr bwMode="auto">
          <a:xfrm flipH="1">
            <a:off x="3395663" y="3965576"/>
            <a:ext cx="0" cy="360363"/>
          </a:xfrm>
          <a:prstGeom prst="line">
            <a:avLst/>
          </a:prstGeom>
          <a:noFill/>
          <a:ln w="38100">
            <a:solidFill>
              <a:srgbClr val="FF0000"/>
            </a:solidFill>
            <a:round/>
            <a:headEnd/>
            <a:tailEnd/>
          </a:ln>
        </p:spPr>
        <p:txBody>
          <a:bodyPr/>
          <a:lstStyle/>
          <a:p>
            <a:endParaRPr lang="zh-CN" altLang="en-US"/>
          </a:p>
        </p:txBody>
      </p:sp>
      <p:sp>
        <p:nvSpPr>
          <p:cNvPr id="18451" name="Line 19"/>
          <p:cNvSpPr>
            <a:spLocks noChangeShapeType="1"/>
          </p:cNvSpPr>
          <p:nvPr/>
        </p:nvSpPr>
        <p:spPr bwMode="auto">
          <a:xfrm>
            <a:off x="3001964" y="3984625"/>
            <a:ext cx="396875" cy="0"/>
          </a:xfrm>
          <a:prstGeom prst="line">
            <a:avLst/>
          </a:prstGeom>
          <a:noFill/>
          <a:ln w="38100">
            <a:solidFill>
              <a:srgbClr val="FF0000"/>
            </a:solidFill>
            <a:round/>
            <a:headEnd/>
            <a:tailEnd/>
          </a:ln>
        </p:spPr>
        <p:txBody>
          <a:bodyPr/>
          <a:lstStyle/>
          <a:p>
            <a:endParaRPr lang="zh-CN" altLang="en-US"/>
          </a:p>
        </p:txBody>
      </p:sp>
      <p:sp>
        <p:nvSpPr>
          <p:cNvPr id="16" name="矩形 15"/>
          <p:cNvSpPr/>
          <p:nvPr/>
        </p:nvSpPr>
        <p:spPr>
          <a:xfrm>
            <a:off x="1458119" y="827681"/>
            <a:ext cx="2709396" cy="523220"/>
          </a:xfrm>
          <a:prstGeom prst="rect">
            <a:avLst/>
          </a:prstGeom>
        </p:spPr>
        <p:txBody>
          <a:bodyPr wrap="none">
            <a:spAutoFit/>
          </a:bodyPr>
          <a:lstStyle/>
          <a:p>
            <a:pPr eaLnBrk="1" hangingPunct="1">
              <a:defRPr/>
            </a:pPr>
            <a:r>
              <a:rPr lang="zh-CN" altLang="en-US" sz="2800" b="1" dirty="0">
                <a:solidFill>
                  <a:schemeClr val="tx2"/>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组合形式及视图</a:t>
            </a:r>
          </a:p>
        </p:txBody>
      </p:sp>
      <p:sp>
        <p:nvSpPr>
          <p:cNvPr id="32775" name="Rectangle 10"/>
          <p:cNvSpPr>
            <a:spLocks noChangeArrowheads="1"/>
          </p:cNvSpPr>
          <p:nvPr/>
        </p:nvSpPr>
        <p:spPr bwMode="auto">
          <a:xfrm>
            <a:off x="2877793" y="1340581"/>
            <a:ext cx="7007225" cy="523875"/>
          </a:xfrm>
          <a:prstGeom prst="rect">
            <a:avLst/>
          </a:prstGeom>
          <a:noFill/>
          <a:ln w="19050">
            <a:noFill/>
            <a:miter lim="800000"/>
            <a:headEnd/>
            <a:tailEnd/>
          </a:ln>
        </p:spPr>
        <p:txBody>
          <a:bodyPr wrap="none">
            <a:spAutoFit/>
          </a:bodyPr>
          <a:lstStyle/>
          <a:p>
            <a:pPr eaLnBrk="1" hangingPunct="1"/>
            <a:r>
              <a:rPr lang="zh-CN" altLang="en-US" sz="2800" b="1" dirty="0"/>
              <a:t>组合体相临表面之间的连接关系及表示方法</a:t>
            </a:r>
          </a:p>
        </p:txBody>
      </p:sp>
      <p:sp>
        <p:nvSpPr>
          <p:cNvPr id="18" name="矩形 17"/>
          <p:cNvSpPr>
            <a:spLocks noChangeArrowheads="1"/>
          </p:cNvSpPr>
          <p:nvPr/>
        </p:nvSpPr>
        <p:spPr bwMode="auto">
          <a:xfrm>
            <a:off x="2030413" y="2384426"/>
            <a:ext cx="800100" cy="461963"/>
          </a:xfrm>
          <a:prstGeom prst="rect">
            <a:avLst/>
          </a:prstGeom>
          <a:solidFill>
            <a:srgbClr val="FFFF00"/>
          </a:solidFill>
          <a:ln w="9525">
            <a:noFill/>
            <a:miter lim="800000"/>
            <a:headEnd/>
            <a:tailEnd/>
          </a:ln>
        </p:spPr>
        <p:txBody>
          <a:bodyPr wrap="none">
            <a:spAutoFit/>
          </a:bodyPr>
          <a:lstStyle/>
          <a:p>
            <a:pPr eaLnBrk="1" hangingPunct="1"/>
            <a:r>
              <a:rPr lang="zh-CN" altLang="en-US" sz="2400">
                <a:solidFill>
                  <a:srgbClr val="FF0000"/>
                </a:solidFill>
                <a:ea typeface="黑体" pitchFamily="49" charset="-122"/>
              </a:rPr>
              <a:t>相切</a:t>
            </a:r>
          </a:p>
        </p:txBody>
      </p:sp>
      <p:pic>
        <p:nvPicPr>
          <p:cNvPr id="3" name="图片 2"/>
          <p:cNvPicPr>
            <a:picLocks noChangeAspect="1"/>
          </p:cNvPicPr>
          <p:nvPr/>
        </p:nvPicPr>
        <p:blipFill>
          <a:blip r:embed="rId4"/>
          <a:srcRect/>
          <a:stretch>
            <a:fillRect/>
          </a:stretch>
        </p:blipFill>
        <p:spPr bwMode="auto">
          <a:xfrm>
            <a:off x="4870450" y="4552951"/>
            <a:ext cx="1741488" cy="2047875"/>
          </a:xfrm>
          <a:prstGeom prst="rect">
            <a:avLst/>
          </a:prstGeom>
          <a:noFill/>
          <a:ln w="9525">
            <a:noFill/>
            <a:miter lim="800000"/>
            <a:headEnd/>
            <a:tailEnd/>
          </a:ln>
        </p:spPr>
      </p:pic>
      <p:cxnSp>
        <p:nvCxnSpPr>
          <p:cNvPr id="7" name="直接连接符 6"/>
          <p:cNvCxnSpPr/>
          <p:nvPr/>
        </p:nvCxnSpPr>
        <p:spPr>
          <a:xfrm flipH="1">
            <a:off x="3395664" y="5576889"/>
            <a:ext cx="166687" cy="515937"/>
          </a:xfrm>
          <a:prstGeom prst="line">
            <a:avLst/>
          </a:prstGeom>
          <a:ln>
            <a:solidFill>
              <a:srgbClr val="B719A4"/>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3395663" y="3933825"/>
            <a:ext cx="0" cy="2159000"/>
          </a:xfrm>
          <a:prstGeom prst="line">
            <a:avLst/>
          </a:prstGeom>
          <a:ln>
            <a:solidFill>
              <a:srgbClr val="B719A4"/>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992438" y="3984625"/>
            <a:ext cx="468312" cy="0"/>
          </a:xfrm>
          <a:prstGeom prst="line">
            <a:avLst/>
          </a:prstGeom>
          <a:ln>
            <a:solidFill>
              <a:srgbClr val="B719A4"/>
            </a:solidFill>
          </a:ln>
        </p:spPr>
        <p:style>
          <a:lnRef idx="1">
            <a:schemeClr val="accent1"/>
          </a:lnRef>
          <a:fillRef idx="0">
            <a:schemeClr val="accent1"/>
          </a:fillRef>
          <a:effectRef idx="0">
            <a:schemeClr val="accent1"/>
          </a:effectRef>
          <a:fontRef idx="minor">
            <a:schemeClr val="tx1"/>
          </a:fontRef>
        </p:style>
      </p:cxnSp>
      <p:pic>
        <p:nvPicPr>
          <p:cNvPr id="14" name="图片 13"/>
          <p:cNvPicPr>
            <a:picLocks noChangeAspect="1"/>
          </p:cNvPicPr>
          <p:nvPr/>
        </p:nvPicPr>
        <p:blipFill>
          <a:blip r:embed="rId5"/>
          <a:srcRect/>
          <a:stretch>
            <a:fillRect/>
          </a:stretch>
        </p:blipFill>
        <p:spPr bwMode="auto">
          <a:xfrm>
            <a:off x="6996113" y="2979738"/>
            <a:ext cx="3168650" cy="3186112"/>
          </a:xfrm>
          <a:prstGeom prst="rect">
            <a:avLst/>
          </a:prstGeom>
          <a:noFill/>
          <a:ln w="9525">
            <a:noFill/>
            <a:miter lim="800000"/>
            <a:headEnd/>
            <a:tailEnd/>
          </a:ln>
        </p:spPr>
      </p:pic>
      <p:cxnSp>
        <p:nvCxnSpPr>
          <p:cNvPr id="20" name="直接连接符 19"/>
          <p:cNvCxnSpPr/>
          <p:nvPr/>
        </p:nvCxnSpPr>
        <p:spPr>
          <a:xfrm>
            <a:off x="3395664" y="3986213"/>
            <a:ext cx="2663825" cy="19050"/>
          </a:xfrm>
          <a:prstGeom prst="line">
            <a:avLst/>
          </a:prstGeom>
          <a:ln>
            <a:solidFill>
              <a:srgbClr val="B719A4"/>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395663" y="5551488"/>
            <a:ext cx="0" cy="539750"/>
          </a:xfrm>
          <a:prstGeom prst="line">
            <a:avLst/>
          </a:prstGeom>
          <a:ln w="34925">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5483225" y="4005263"/>
            <a:ext cx="541338" cy="0"/>
          </a:xfrm>
          <a:prstGeom prst="line">
            <a:avLst/>
          </a:prstGeom>
          <a:ln w="34925">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3395663" y="5011738"/>
            <a:ext cx="0" cy="539750"/>
          </a:xfrm>
          <a:prstGeom prst="line">
            <a:avLst/>
          </a:prstGeom>
          <a:ln w="34925">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4979988" y="4005263"/>
            <a:ext cx="539750" cy="0"/>
          </a:xfrm>
          <a:prstGeom prst="line">
            <a:avLst/>
          </a:prstGeom>
          <a:ln w="34925">
            <a:solidFill>
              <a:srgbClr val="FF0066"/>
            </a:solidFill>
          </a:ln>
        </p:spPr>
        <p:style>
          <a:lnRef idx="1">
            <a:schemeClr val="accent1"/>
          </a:lnRef>
          <a:fillRef idx="0">
            <a:schemeClr val="accent1"/>
          </a:fillRef>
          <a:effectRef idx="0">
            <a:schemeClr val="accent1"/>
          </a:effectRef>
          <a:fontRef idx="minor">
            <a:schemeClr val="tx1"/>
          </a:fontRef>
        </p:style>
      </p:cxnSp>
      <p:sp>
        <p:nvSpPr>
          <p:cNvPr id="18453" name="Line 21"/>
          <p:cNvSpPr>
            <a:spLocks noChangeShapeType="1"/>
          </p:cNvSpPr>
          <p:nvPr/>
        </p:nvSpPr>
        <p:spPr bwMode="auto">
          <a:xfrm>
            <a:off x="7312026" y="3681413"/>
            <a:ext cx="1116013" cy="0"/>
          </a:xfrm>
          <a:prstGeom prst="line">
            <a:avLst/>
          </a:prstGeom>
          <a:noFill/>
          <a:ln w="38100">
            <a:solidFill>
              <a:srgbClr val="FF0000"/>
            </a:solidFill>
            <a:round/>
            <a:headEnd/>
            <a:tailEnd/>
          </a:ln>
        </p:spPr>
        <p:txBody>
          <a:bodyPr/>
          <a:lstStyle/>
          <a:p>
            <a:endParaRPr lang="zh-CN" altLang="en-US"/>
          </a:p>
        </p:txBody>
      </p:sp>
      <p:sp>
        <p:nvSpPr>
          <p:cNvPr id="18454" name="Line 22"/>
          <p:cNvSpPr>
            <a:spLocks noChangeShapeType="1"/>
          </p:cNvSpPr>
          <p:nvPr/>
        </p:nvSpPr>
        <p:spPr bwMode="auto">
          <a:xfrm>
            <a:off x="8793163" y="3681413"/>
            <a:ext cx="1079500" cy="0"/>
          </a:xfrm>
          <a:prstGeom prst="line">
            <a:avLst/>
          </a:prstGeom>
          <a:noFill/>
          <a:ln w="38100">
            <a:solidFill>
              <a:srgbClr val="FF0000"/>
            </a:solidFill>
            <a:round/>
            <a:headEnd/>
            <a:tailEnd/>
          </a:ln>
        </p:spPr>
        <p:txBody>
          <a:bodyPr/>
          <a:lstStyle/>
          <a:p>
            <a:endParaRPr lang="zh-CN" altLang="en-US"/>
          </a:p>
        </p:txBody>
      </p:sp>
      <p:sp>
        <p:nvSpPr>
          <p:cNvPr id="18452" name="Line 20"/>
          <p:cNvSpPr>
            <a:spLocks noChangeShapeType="1"/>
          </p:cNvSpPr>
          <p:nvPr/>
        </p:nvSpPr>
        <p:spPr bwMode="auto">
          <a:xfrm flipH="1">
            <a:off x="4981575" y="4005263"/>
            <a:ext cx="0" cy="323850"/>
          </a:xfrm>
          <a:prstGeom prst="line">
            <a:avLst/>
          </a:prstGeom>
          <a:noFill/>
          <a:ln w="38100">
            <a:solidFill>
              <a:srgbClr val="FF0000"/>
            </a:solidFill>
            <a:round/>
            <a:headEnd/>
            <a:tailEnd/>
          </a:ln>
        </p:spPr>
        <p:txBody>
          <a:bodyPr/>
          <a:lstStyle/>
          <a:p>
            <a:endParaRPr lang="zh-CN" altLang="en-US"/>
          </a:p>
        </p:txBody>
      </p:sp>
      <p:sp>
        <p:nvSpPr>
          <p:cNvPr id="39" name="Line 20"/>
          <p:cNvSpPr>
            <a:spLocks noChangeShapeType="1"/>
          </p:cNvSpPr>
          <p:nvPr/>
        </p:nvSpPr>
        <p:spPr bwMode="auto">
          <a:xfrm flipH="1">
            <a:off x="6016625" y="4005263"/>
            <a:ext cx="0" cy="323850"/>
          </a:xfrm>
          <a:prstGeom prst="line">
            <a:avLst/>
          </a:prstGeom>
          <a:noFill/>
          <a:ln w="38100">
            <a:solidFill>
              <a:srgbClr val="FF0000"/>
            </a:solidFill>
            <a:round/>
            <a:headEnd/>
            <a:tailEnd/>
          </a:ln>
        </p:spPr>
        <p:txBody>
          <a:bodyPr/>
          <a:lstStyle/>
          <a:p>
            <a:endParaRPr lang="zh-CN" altLang="en-US"/>
          </a:p>
        </p:txBody>
      </p:sp>
      <p:grpSp>
        <p:nvGrpSpPr>
          <p:cNvPr id="30" name="组合 29"/>
          <p:cNvGrpSpPr>
            <a:grpSpLocks/>
          </p:cNvGrpSpPr>
          <p:nvPr/>
        </p:nvGrpSpPr>
        <p:grpSpPr bwMode="auto">
          <a:xfrm>
            <a:off x="2413001" y="4325938"/>
            <a:ext cx="328613" cy="1225550"/>
            <a:chOff x="888988" y="4325252"/>
            <a:chExt cx="328290" cy="1225936"/>
          </a:xfrm>
        </p:grpSpPr>
        <p:cxnSp>
          <p:nvCxnSpPr>
            <p:cNvPr id="27" name="直接连接符 26"/>
            <p:cNvCxnSpPr/>
            <p:nvPr/>
          </p:nvCxnSpPr>
          <p:spPr>
            <a:xfrm flipV="1">
              <a:off x="888988" y="4325252"/>
              <a:ext cx="0" cy="1225936"/>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1217278" y="4325252"/>
              <a:ext cx="0" cy="1225936"/>
            </a:xfrm>
            <a:prstGeom prst="line">
              <a:avLst/>
            </a:prstGeom>
            <a:ln>
              <a:solidFill>
                <a:srgbClr val="FF0066"/>
              </a:solidFill>
            </a:ln>
          </p:spPr>
          <p:style>
            <a:lnRef idx="1">
              <a:schemeClr val="accent1"/>
            </a:lnRef>
            <a:fillRef idx="0">
              <a:schemeClr val="accent1"/>
            </a:fillRef>
            <a:effectRef idx="0">
              <a:schemeClr val="accent1"/>
            </a:effectRef>
            <a:fontRef idx="minor">
              <a:schemeClr val="tx1"/>
            </a:fontRef>
          </p:style>
        </p:cxnSp>
      </p:grpSp>
      <p:grpSp>
        <p:nvGrpSpPr>
          <p:cNvPr id="28675" name="组合 28674"/>
          <p:cNvGrpSpPr>
            <a:grpSpLocks/>
          </p:cNvGrpSpPr>
          <p:nvPr/>
        </p:nvGrpSpPr>
        <p:grpSpPr bwMode="auto">
          <a:xfrm>
            <a:off x="2411414" y="3990975"/>
            <a:ext cx="333375" cy="344488"/>
            <a:chOff x="887615" y="3991443"/>
            <a:chExt cx="333632" cy="343333"/>
          </a:xfrm>
        </p:grpSpPr>
        <p:cxnSp>
          <p:nvCxnSpPr>
            <p:cNvPr id="28673" name="直接连接符 28672"/>
            <p:cNvCxnSpPr/>
            <p:nvPr/>
          </p:nvCxnSpPr>
          <p:spPr>
            <a:xfrm flipV="1">
              <a:off x="887615" y="3994607"/>
              <a:ext cx="3177" cy="34016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V="1">
              <a:off x="1218070" y="3991443"/>
              <a:ext cx="3177" cy="34016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grpSp>
      <p:grpSp>
        <p:nvGrpSpPr>
          <p:cNvPr id="52" name="组合 51"/>
          <p:cNvGrpSpPr>
            <a:grpSpLocks/>
          </p:cNvGrpSpPr>
          <p:nvPr/>
        </p:nvGrpSpPr>
        <p:grpSpPr bwMode="auto">
          <a:xfrm>
            <a:off x="5337176" y="3992564"/>
            <a:ext cx="334963" cy="344487"/>
            <a:chOff x="887615" y="3991443"/>
            <a:chExt cx="333632" cy="343333"/>
          </a:xfrm>
        </p:grpSpPr>
        <p:cxnSp>
          <p:nvCxnSpPr>
            <p:cNvPr id="53" name="直接连接符 52"/>
            <p:cNvCxnSpPr/>
            <p:nvPr/>
          </p:nvCxnSpPr>
          <p:spPr>
            <a:xfrm flipV="1">
              <a:off x="887615" y="3994607"/>
              <a:ext cx="3162" cy="34016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1218085" y="3991443"/>
              <a:ext cx="3162" cy="34016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grpSp>
      <p:sp>
        <p:nvSpPr>
          <p:cNvPr id="55" name="AutoShape 23"/>
          <p:cNvSpPr>
            <a:spLocks noChangeArrowheads="1"/>
          </p:cNvSpPr>
          <p:nvPr/>
        </p:nvSpPr>
        <p:spPr bwMode="auto">
          <a:xfrm rot="2125007">
            <a:off x="6516689" y="6276975"/>
            <a:ext cx="561975" cy="122238"/>
          </a:xfrm>
          <a:prstGeom prst="leftArrow">
            <a:avLst>
              <a:gd name="adj1" fmla="val 50000"/>
              <a:gd name="adj2" fmla="val 114935"/>
            </a:avLst>
          </a:prstGeom>
          <a:solidFill>
            <a:schemeClr val="accent1"/>
          </a:solidFill>
          <a:ln w="12700">
            <a:solidFill>
              <a:schemeClr val="tx2"/>
            </a:solidFill>
            <a:miter lim="800000"/>
            <a:headEnd/>
            <a:tailEnd/>
          </a:ln>
        </p:spPr>
        <p:txBody>
          <a:bodyPr wrap="none" anchor="ctr"/>
          <a:lstStyle/>
          <a:p>
            <a:pPr eaLnBrk="1" hangingPunct="1"/>
            <a:endParaRPr lang="zh-CN" altLang="en-US"/>
          </a:p>
        </p:txBody>
      </p:sp>
      <p:sp>
        <p:nvSpPr>
          <p:cNvPr id="56" name="AutoShape 22"/>
          <p:cNvSpPr>
            <a:spLocks noChangeArrowheads="1"/>
          </p:cNvSpPr>
          <p:nvPr/>
        </p:nvSpPr>
        <p:spPr bwMode="auto">
          <a:xfrm rot="2945552">
            <a:off x="4741069" y="5231606"/>
            <a:ext cx="685800" cy="166688"/>
          </a:xfrm>
          <a:prstGeom prst="notchedRightArrow">
            <a:avLst>
              <a:gd name="adj1" fmla="val 50000"/>
              <a:gd name="adj2" fmla="val 102857"/>
            </a:avLst>
          </a:prstGeom>
          <a:gradFill rotWithShape="0">
            <a:gsLst>
              <a:gs pos="0">
                <a:schemeClr val="accent1">
                  <a:gamma/>
                  <a:shade val="46275"/>
                  <a:invGamma/>
                </a:schemeClr>
              </a:gs>
              <a:gs pos="50000">
                <a:schemeClr val="accent1"/>
              </a:gs>
              <a:gs pos="100000">
                <a:schemeClr val="accent1">
                  <a:gamma/>
                  <a:shade val="46275"/>
                  <a:invGamma/>
                </a:schemeClr>
              </a:gs>
            </a:gsLst>
            <a:lin ang="5400000" scaled="1"/>
          </a:gradFill>
          <a:ln w="9525">
            <a:solidFill>
              <a:srgbClr val="000000"/>
            </a:solidFill>
            <a:miter lim="800000"/>
            <a:headEnd/>
            <a:tailEnd/>
          </a:ln>
          <a:effectLst/>
        </p:spPr>
        <p:txBody>
          <a:bodyPr wrap="none" anchor="ctr"/>
          <a:lstStyle/>
          <a:p>
            <a:pPr eaLnBrk="1" hangingPunct="1">
              <a:defRPr/>
            </a:pPr>
            <a:endParaRPr lang="zh-CN" altLang="en-US"/>
          </a:p>
        </p:txBody>
      </p:sp>
      <p:sp>
        <p:nvSpPr>
          <p:cNvPr id="18437" name="Rectangle 5"/>
          <p:cNvSpPr>
            <a:spLocks noChangeArrowheads="1"/>
          </p:cNvSpPr>
          <p:nvPr/>
        </p:nvSpPr>
        <p:spPr bwMode="auto">
          <a:xfrm>
            <a:off x="4003675" y="2254326"/>
            <a:ext cx="5329238" cy="461665"/>
          </a:xfrm>
          <a:prstGeom prst="rect">
            <a:avLst/>
          </a:prstGeom>
          <a:noFill/>
          <a:ln w="9525">
            <a:noFill/>
            <a:miter lim="800000"/>
            <a:headEnd/>
            <a:tailEnd/>
          </a:ln>
        </p:spPr>
        <p:txBody>
          <a:bodyPr anchor="ctr">
            <a:spAutoFit/>
          </a:bodyPr>
          <a:lstStyle/>
          <a:p>
            <a:pPr algn="ctr" eaLnBrk="1" hangingPunct="1"/>
            <a:r>
              <a:rPr lang="zh-CN" altLang="en-US" sz="2400" dirty="0">
                <a:solidFill>
                  <a:srgbClr val="FF0000"/>
                </a:solidFill>
                <a:ea typeface="黑体" pitchFamily="49" charset="-122"/>
              </a:rPr>
              <a:t>两表面相切平滑过渡没有线</a:t>
            </a:r>
            <a:r>
              <a:rPr lang="zh-CN" altLang="en-US" sz="2400" dirty="0"/>
              <a:t> </a:t>
            </a:r>
          </a:p>
        </p:txBody>
      </p:sp>
      <p:sp>
        <p:nvSpPr>
          <p:cNvPr id="40" name="Text Box 31">
            <a:extLst>
              <a:ext uri="{FF2B5EF4-FFF2-40B4-BE49-F238E27FC236}">
                <a16:creationId xmlns:a16="http://schemas.microsoft.com/office/drawing/2014/main" id="{1CBE5DB3-FCB5-4FA4-91FC-62C8140CEA39}"/>
              </a:ext>
            </a:extLst>
          </p:cNvPr>
          <p:cNvSpPr txBox="1">
            <a:spLocks noChangeArrowheads="1"/>
          </p:cNvSpPr>
          <p:nvPr/>
        </p:nvSpPr>
        <p:spPr bwMode="auto">
          <a:xfrm>
            <a:off x="3467101" y="282575"/>
            <a:ext cx="4968875" cy="584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solidFill>
                  <a:schemeClr val="tx2"/>
                </a:solidFill>
                <a:latin typeface="黑体" pitchFamily="49" charset="-122"/>
                <a:ea typeface="黑体" pitchFamily="49" charset="-122"/>
              </a:rPr>
              <a:t>组合体的构形及表达</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4" fill="hold" grpId="0" nodeType="clickEffect">
                                  <p:stCondLst>
                                    <p:cond delay="0"/>
                                  </p:stCondLst>
                                  <p:childTnLst>
                                    <p:set>
                                      <p:cBhvr>
                                        <p:cTn id="17" dur="1" fill="hold">
                                          <p:stCondLst>
                                            <p:cond delay="0"/>
                                          </p:stCondLst>
                                        </p:cTn>
                                        <p:tgtEl>
                                          <p:spTgt spid="55"/>
                                        </p:tgtEl>
                                        <p:attrNameLst>
                                          <p:attrName>style.visibility</p:attrName>
                                        </p:attrNameLst>
                                      </p:cBhvr>
                                      <p:to>
                                        <p:strVal val="visible"/>
                                      </p:to>
                                    </p:set>
                                    <p:anim calcmode="lin" valueType="num">
                                      <p:cBhvr>
                                        <p:cTn id="18" dur="500" fill="hold"/>
                                        <p:tgtEl>
                                          <p:spTgt spid="55"/>
                                        </p:tgtEl>
                                        <p:attrNameLst>
                                          <p:attrName>ppt_x</p:attrName>
                                        </p:attrNameLst>
                                      </p:cBhvr>
                                      <p:tavLst>
                                        <p:tav tm="0">
                                          <p:val>
                                            <p:strVal val="#ppt_x"/>
                                          </p:val>
                                        </p:tav>
                                        <p:tav tm="100000">
                                          <p:val>
                                            <p:strVal val="#ppt_x"/>
                                          </p:val>
                                        </p:tav>
                                      </p:tavLst>
                                    </p:anim>
                                    <p:anim calcmode="lin" valueType="num">
                                      <p:cBhvr>
                                        <p:cTn id="19" dur="500" fill="hold"/>
                                        <p:tgtEl>
                                          <p:spTgt spid="55"/>
                                        </p:tgtEl>
                                        <p:attrNameLst>
                                          <p:attrName>ppt_y</p:attrName>
                                        </p:attrNameLst>
                                      </p:cBhvr>
                                      <p:tavLst>
                                        <p:tav tm="0">
                                          <p:val>
                                            <p:strVal val="#ppt_y+#ppt_h/2"/>
                                          </p:val>
                                        </p:tav>
                                        <p:tav tm="100000">
                                          <p:val>
                                            <p:strVal val="#ppt_y"/>
                                          </p:val>
                                        </p:tav>
                                      </p:tavLst>
                                    </p:anim>
                                    <p:anim calcmode="lin" valueType="num">
                                      <p:cBhvr>
                                        <p:cTn id="20" dur="500" fill="hold"/>
                                        <p:tgtEl>
                                          <p:spTgt spid="55"/>
                                        </p:tgtEl>
                                        <p:attrNameLst>
                                          <p:attrName>ppt_w</p:attrName>
                                        </p:attrNameLst>
                                      </p:cBhvr>
                                      <p:tavLst>
                                        <p:tav tm="0">
                                          <p:val>
                                            <p:strVal val="#ppt_w"/>
                                          </p:val>
                                        </p:tav>
                                        <p:tav tm="100000">
                                          <p:val>
                                            <p:strVal val="#ppt_w"/>
                                          </p:val>
                                        </p:tav>
                                      </p:tavLst>
                                    </p:anim>
                                    <p:anim calcmode="lin" valueType="num">
                                      <p:cBhvr>
                                        <p:cTn id="21" dur="500" fill="hold"/>
                                        <p:tgtEl>
                                          <p:spTgt spid="55"/>
                                        </p:tgtEl>
                                        <p:attrNameLst>
                                          <p:attrName>ppt_h</p:attrName>
                                        </p:attrNameLst>
                                      </p:cBhvr>
                                      <p:tavLst>
                                        <p:tav tm="0">
                                          <p:val>
                                            <p:fltVal val="0"/>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ntr" presetSubtype="37"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arn(outVertical)">
                                      <p:cBhvr>
                                        <p:cTn id="26" dur="500"/>
                                        <p:tgtEl>
                                          <p:spTgt spid="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9" fill="hold" grpId="0" nodeType="clickEffect">
                                  <p:stCondLst>
                                    <p:cond delay="0"/>
                                  </p:stCondLst>
                                  <p:childTnLst>
                                    <p:set>
                                      <p:cBhvr>
                                        <p:cTn id="30" dur="1" fill="hold">
                                          <p:stCondLst>
                                            <p:cond delay="0"/>
                                          </p:stCondLst>
                                        </p:cTn>
                                        <p:tgtEl>
                                          <p:spTgt spid="56"/>
                                        </p:tgtEl>
                                        <p:attrNameLst>
                                          <p:attrName>style.visibility</p:attrName>
                                        </p:attrNameLst>
                                      </p:cBhvr>
                                      <p:to>
                                        <p:strVal val="visible"/>
                                      </p:to>
                                    </p:set>
                                    <p:anim calcmode="lin" valueType="num">
                                      <p:cBhvr additive="base">
                                        <p:cTn id="31" dur="500" fill="hold"/>
                                        <p:tgtEl>
                                          <p:spTgt spid="56"/>
                                        </p:tgtEl>
                                        <p:attrNameLst>
                                          <p:attrName>ppt_x</p:attrName>
                                        </p:attrNameLst>
                                      </p:cBhvr>
                                      <p:tavLst>
                                        <p:tav tm="0">
                                          <p:val>
                                            <p:strVal val="0-#ppt_w/2"/>
                                          </p:val>
                                        </p:tav>
                                        <p:tav tm="100000">
                                          <p:val>
                                            <p:strVal val="#ppt_x"/>
                                          </p:val>
                                        </p:tav>
                                      </p:tavLst>
                                    </p:anim>
                                    <p:anim calcmode="lin" valueType="num">
                                      <p:cBhvr additive="base">
                                        <p:cTn id="32" dur="500" fill="hold"/>
                                        <p:tgtEl>
                                          <p:spTgt spid="56"/>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up)">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down)">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5" presetClass="entr" presetSubtype="0" fill="hold" grpId="0" nodeType="clickEffect">
                                  <p:stCondLst>
                                    <p:cond delay="0"/>
                                  </p:stCondLst>
                                  <p:childTnLst>
                                    <p:set>
                                      <p:cBhvr>
                                        <p:cTn id="51" dur="1" fill="hold">
                                          <p:stCondLst>
                                            <p:cond delay="0"/>
                                          </p:stCondLst>
                                        </p:cTn>
                                        <p:tgtEl>
                                          <p:spTgt spid="18451"/>
                                        </p:tgtEl>
                                        <p:attrNameLst>
                                          <p:attrName>style.visibility</p:attrName>
                                        </p:attrNameLst>
                                      </p:cBhvr>
                                      <p:to>
                                        <p:strVal val="visible"/>
                                      </p:to>
                                    </p:set>
                                    <p:animEffect transition="in" filter="fade">
                                      <p:cBhvr>
                                        <p:cTn id="52" dur="2000"/>
                                        <p:tgtEl>
                                          <p:spTgt spid="18451"/>
                                        </p:tgtEl>
                                      </p:cBhvr>
                                    </p:animEffect>
                                    <p:anim calcmode="lin" valueType="num">
                                      <p:cBhvr>
                                        <p:cTn id="53" dur="2000" fill="hold"/>
                                        <p:tgtEl>
                                          <p:spTgt spid="18451"/>
                                        </p:tgtEl>
                                        <p:attrNameLst>
                                          <p:attrName>ppt_w</p:attrName>
                                        </p:attrNameLst>
                                      </p:cBhvr>
                                      <p:tavLst>
                                        <p:tav tm="0" fmla="#ppt_w*sin(2.5*pi*$)">
                                          <p:val>
                                            <p:fltVal val="0"/>
                                          </p:val>
                                        </p:tav>
                                        <p:tav tm="100000">
                                          <p:val>
                                            <p:fltVal val="1"/>
                                          </p:val>
                                        </p:tav>
                                      </p:tavLst>
                                    </p:anim>
                                    <p:anim calcmode="lin" valueType="num">
                                      <p:cBhvr>
                                        <p:cTn id="54" dur="2000" fill="hold"/>
                                        <p:tgtEl>
                                          <p:spTgt spid="18451"/>
                                        </p:tgtEl>
                                        <p:attrNameLst>
                                          <p:attrName>ppt_h</p:attrName>
                                        </p:attrNameLst>
                                      </p:cBhvr>
                                      <p:tavLst>
                                        <p:tav tm="0">
                                          <p:val>
                                            <p:strVal val="#ppt_h"/>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45" presetClass="entr" presetSubtype="0" fill="hold" grpId="0" nodeType="clickEffect">
                                  <p:stCondLst>
                                    <p:cond delay="0"/>
                                  </p:stCondLst>
                                  <p:childTnLst>
                                    <p:set>
                                      <p:cBhvr>
                                        <p:cTn id="58" dur="1" fill="hold">
                                          <p:stCondLst>
                                            <p:cond delay="0"/>
                                          </p:stCondLst>
                                        </p:cTn>
                                        <p:tgtEl>
                                          <p:spTgt spid="18450"/>
                                        </p:tgtEl>
                                        <p:attrNameLst>
                                          <p:attrName>style.visibility</p:attrName>
                                        </p:attrNameLst>
                                      </p:cBhvr>
                                      <p:to>
                                        <p:strVal val="visible"/>
                                      </p:to>
                                    </p:set>
                                    <p:animEffect transition="in" filter="fade">
                                      <p:cBhvr>
                                        <p:cTn id="59" dur="2000"/>
                                        <p:tgtEl>
                                          <p:spTgt spid="18450"/>
                                        </p:tgtEl>
                                      </p:cBhvr>
                                    </p:animEffect>
                                    <p:anim calcmode="lin" valueType="num">
                                      <p:cBhvr>
                                        <p:cTn id="60" dur="2000" fill="hold"/>
                                        <p:tgtEl>
                                          <p:spTgt spid="18450"/>
                                        </p:tgtEl>
                                        <p:attrNameLst>
                                          <p:attrName>ppt_w</p:attrName>
                                        </p:attrNameLst>
                                      </p:cBhvr>
                                      <p:tavLst>
                                        <p:tav tm="0" fmla="#ppt_w*sin(2.5*pi*$)">
                                          <p:val>
                                            <p:fltVal val="0"/>
                                          </p:val>
                                        </p:tav>
                                        <p:tav tm="100000">
                                          <p:val>
                                            <p:fltVal val="1"/>
                                          </p:val>
                                        </p:tav>
                                      </p:tavLst>
                                    </p:anim>
                                    <p:anim calcmode="lin" valueType="num">
                                      <p:cBhvr>
                                        <p:cTn id="61" dur="2000" fill="hold"/>
                                        <p:tgtEl>
                                          <p:spTgt spid="18450"/>
                                        </p:tgtEl>
                                        <p:attrNameLst>
                                          <p:attrName>ppt_h</p:attrName>
                                        </p:attrNameLst>
                                      </p:cBhvr>
                                      <p:tavLst>
                                        <p:tav tm="0">
                                          <p:val>
                                            <p:strVal val="#ppt_h"/>
                                          </p:val>
                                        </p:tav>
                                        <p:tav tm="100000">
                                          <p:val>
                                            <p:strVal val="#ppt_h"/>
                                          </p:val>
                                        </p:tav>
                                      </p:tavLst>
                                    </p:anim>
                                  </p:childTnLst>
                                  <p:subTnLst>
                                    <p:set>
                                      <p:cBhvr override="childStyle">
                                        <p:cTn dur="1" fill="hold" display="0" masterRel="sameClick" afterEffect="1">
                                          <p:stCondLst>
                                            <p:cond evt="end" delay="0">
                                              <p:tn val="57"/>
                                            </p:cond>
                                          </p:stCondLst>
                                        </p:cTn>
                                        <p:tgtEl>
                                          <p:spTgt spid="18450"/>
                                        </p:tgtEl>
                                        <p:attrNameLst>
                                          <p:attrName>style.visibility</p:attrName>
                                        </p:attrNameLst>
                                      </p:cBhvr>
                                      <p:to>
                                        <p:strVal val="hidden"/>
                                      </p:to>
                                    </p:set>
                                  </p:sub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wipe(left)">
                                      <p:cBhvr>
                                        <p:cTn id="66" dur="500"/>
                                        <p:tgtEl>
                                          <p:spTgt spid="2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wipe(up)">
                                      <p:cBhvr>
                                        <p:cTn id="71" dur="500"/>
                                        <p:tgtEl>
                                          <p:spTgt spid="23"/>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wipe(left)">
                                      <p:cBhvr>
                                        <p:cTn id="76" dur="500"/>
                                        <p:tgtEl>
                                          <p:spTgt spid="34"/>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4" fill="hold" nodeType="click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wipe(down)">
                                      <p:cBhvr>
                                        <p:cTn id="81" dur="500"/>
                                        <p:tgtEl>
                                          <p:spTgt spid="36"/>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4" fill="hold" nodeType="click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wipe(down)">
                                      <p:cBhvr>
                                        <p:cTn id="86" dur="500"/>
                                        <p:tgtEl>
                                          <p:spTgt spid="37"/>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1" repeatCount="2000" fill="remove" grpId="0" nodeType="clickEffect">
                                  <p:stCondLst>
                                    <p:cond delay="0"/>
                                  </p:stCondLst>
                                  <p:childTnLst>
                                    <p:set>
                                      <p:cBhvr>
                                        <p:cTn id="90" dur="1" fill="hold">
                                          <p:stCondLst>
                                            <p:cond delay="0"/>
                                          </p:stCondLst>
                                        </p:cTn>
                                        <p:tgtEl>
                                          <p:spTgt spid="18452"/>
                                        </p:tgtEl>
                                        <p:attrNameLst>
                                          <p:attrName>style.visibility</p:attrName>
                                        </p:attrNameLst>
                                      </p:cBhvr>
                                      <p:to>
                                        <p:strVal val="visible"/>
                                      </p:to>
                                    </p:set>
                                    <p:animEffect transition="in" filter="wipe(up)">
                                      <p:cBhvr>
                                        <p:cTn id="91" dur="2000"/>
                                        <p:tgtEl>
                                          <p:spTgt spid="18452"/>
                                        </p:tgtEl>
                                      </p:cBhvr>
                                    </p:animEffect>
                                  </p:childTnLst>
                                </p:cTn>
                              </p:par>
                              <p:par>
                                <p:cTn id="92" presetID="22" presetClass="entr" presetSubtype="1" repeatCount="2000" fill="remove" grpId="0"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wipe(up)">
                                      <p:cBhvr>
                                        <p:cTn id="94" dur="2000"/>
                                        <p:tgtEl>
                                          <p:spTgt spid="39"/>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4" fill="hold" nodeType="clickEffect">
                                  <p:stCondLst>
                                    <p:cond delay="0"/>
                                  </p:stCondLst>
                                  <p:childTnLst>
                                    <p:set>
                                      <p:cBhvr>
                                        <p:cTn id="98" dur="1" fill="hold">
                                          <p:stCondLst>
                                            <p:cond delay="0"/>
                                          </p:stCondLst>
                                        </p:cTn>
                                        <p:tgtEl>
                                          <p:spTgt spid="30"/>
                                        </p:tgtEl>
                                        <p:attrNameLst>
                                          <p:attrName>style.visibility</p:attrName>
                                        </p:attrNameLst>
                                      </p:cBhvr>
                                      <p:to>
                                        <p:strVal val="visible"/>
                                      </p:to>
                                    </p:set>
                                    <p:animEffect transition="in" filter="wipe(down)">
                                      <p:cBhvr>
                                        <p:cTn id="99" dur="500"/>
                                        <p:tgtEl>
                                          <p:spTgt spid="30"/>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4" fill="hold" nodeType="clickEffect">
                                  <p:stCondLst>
                                    <p:cond delay="0"/>
                                  </p:stCondLst>
                                  <p:childTnLst>
                                    <p:set>
                                      <p:cBhvr>
                                        <p:cTn id="103" dur="1" fill="hold">
                                          <p:stCondLst>
                                            <p:cond delay="0"/>
                                          </p:stCondLst>
                                        </p:cTn>
                                        <p:tgtEl>
                                          <p:spTgt spid="28675"/>
                                        </p:tgtEl>
                                        <p:attrNameLst>
                                          <p:attrName>style.visibility</p:attrName>
                                        </p:attrNameLst>
                                      </p:cBhvr>
                                      <p:to>
                                        <p:strVal val="visible"/>
                                      </p:to>
                                    </p:set>
                                    <p:animEffect transition="in" filter="wipe(down)">
                                      <p:cBhvr>
                                        <p:cTn id="104" dur="500"/>
                                        <p:tgtEl>
                                          <p:spTgt spid="28675"/>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4" fill="hold" nodeType="click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wipe(down)">
                                      <p:cBhvr>
                                        <p:cTn id="109" dur="300"/>
                                        <p:tgtEl>
                                          <p:spTgt spid="52"/>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6" presetClass="entr" presetSubtype="37" fill="hold" nodeType="clickEffect">
                                  <p:stCondLst>
                                    <p:cond delay="0"/>
                                  </p:stCondLst>
                                  <p:childTnLst>
                                    <p:set>
                                      <p:cBhvr>
                                        <p:cTn id="113" dur="1" fill="hold">
                                          <p:stCondLst>
                                            <p:cond delay="0"/>
                                          </p:stCondLst>
                                        </p:cTn>
                                        <p:tgtEl>
                                          <p:spTgt spid="14"/>
                                        </p:tgtEl>
                                        <p:attrNameLst>
                                          <p:attrName>style.visibility</p:attrName>
                                        </p:attrNameLst>
                                      </p:cBhvr>
                                      <p:to>
                                        <p:strVal val="visible"/>
                                      </p:to>
                                    </p:set>
                                    <p:animEffect transition="in" filter="barn(outVertical)">
                                      <p:cBhvr>
                                        <p:cTn id="114" dur="500"/>
                                        <p:tgtEl>
                                          <p:spTgt spid="14"/>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repeatCount="2000" fill="remove" grpId="0" nodeType="clickEffect">
                                  <p:stCondLst>
                                    <p:cond delay="0"/>
                                  </p:stCondLst>
                                  <p:childTnLst>
                                    <p:set>
                                      <p:cBhvr>
                                        <p:cTn id="118" dur="1" fill="hold">
                                          <p:stCondLst>
                                            <p:cond delay="0"/>
                                          </p:stCondLst>
                                        </p:cTn>
                                        <p:tgtEl>
                                          <p:spTgt spid="18454"/>
                                        </p:tgtEl>
                                        <p:attrNameLst>
                                          <p:attrName>style.visibility</p:attrName>
                                        </p:attrNameLst>
                                      </p:cBhvr>
                                      <p:to>
                                        <p:strVal val="visible"/>
                                      </p:to>
                                    </p:set>
                                    <p:animEffect transition="in" filter="wipe(left)">
                                      <p:cBhvr>
                                        <p:cTn id="119" dur="2000"/>
                                        <p:tgtEl>
                                          <p:spTgt spid="18454"/>
                                        </p:tgtEl>
                                      </p:cBhvr>
                                    </p:animEffect>
                                  </p:childTnLst>
                                </p:cTn>
                              </p:par>
                              <p:par>
                                <p:cTn id="120" presetID="22" presetClass="entr" presetSubtype="8" repeatCount="2000" fill="remove" grpId="0" nodeType="withEffect">
                                  <p:stCondLst>
                                    <p:cond delay="0"/>
                                  </p:stCondLst>
                                  <p:childTnLst>
                                    <p:set>
                                      <p:cBhvr>
                                        <p:cTn id="121" dur="1" fill="hold">
                                          <p:stCondLst>
                                            <p:cond delay="0"/>
                                          </p:stCondLst>
                                        </p:cTn>
                                        <p:tgtEl>
                                          <p:spTgt spid="18453"/>
                                        </p:tgtEl>
                                        <p:attrNameLst>
                                          <p:attrName>style.visibility</p:attrName>
                                        </p:attrNameLst>
                                      </p:cBhvr>
                                      <p:to>
                                        <p:strVal val="visible"/>
                                      </p:to>
                                    </p:set>
                                    <p:animEffect transition="in" filter="wipe(left)">
                                      <p:cBhvr>
                                        <p:cTn id="122" dur="2000"/>
                                        <p:tgtEl>
                                          <p:spTgt spid="18453"/>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18437"/>
                                        </p:tgtEl>
                                        <p:attrNameLst>
                                          <p:attrName>style.visibility</p:attrName>
                                        </p:attrNameLst>
                                      </p:cBhvr>
                                      <p:to>
                                        <p:strVal val="visible"/>
                                      </p:to>
                                    </p:set>
                                    <p:anim calcmode="lin" valueType="num">
                                      <p:cBhvr additive="base">
                                        <p:cTn id="127" dur="2000" fill="hold"/>
                                        <p:tgtEl>
                                          <p:spTgt spid="18437"/>
                                        </p:tgtEl>
                                        <p:attrNameLst>
                                          <p:attrName>ppt_x</p:attrName>
                                        </p:attrNameLst>
                                      </p:cBhvr>
                                      <p:tavLst>
                                        <p:tav tm="0">
                                          <p:val>
                                            <p:strVal val="#ppt_x"/>
                                          </p:val>
                                        </p:tav>
                                        <p:tav tm="100000">
                                          <p:val>
                                            <p:strVal val="#ppt_x"/>
                                          </p:val>
                                        </p:tav>
                                      </p:tavLst>
                                    </p:anim>
                                    <p:anim calcmode="lin" valueType="num">
                                      <p:cBhvr additive="base">
                                        <p:cTn id="128" dur="2000" fill="hold"/>
                                        <p:tgtEl>
                                          <p:spTgt spid="184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50" grpId="0" animBg="1"/>
      <p:bldP spid="18451" grpId="0" animBg="1"/>
      <p:bldP spid="18" grpId="0" animBg="1"/>
      <p:bldP spid="18453" grpId="0" animBg="1"/>
      <p:bldP spid="18454" grpId="0" animBg="1"/>
      <p:bldP spid="18452" grpId="0" animBg="1"/>
      <p:bldP spid="39" grpId="0" animBg="1"/>
      <p:bldP spid="55" grpId="0" animBg="1"/>
      <p:bldP spid="56" grpId="0" animBg="1"/>
      <p:bldP spid="184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2251075" y="1127126"/>
            <a:ext cx="8129588" cy="1425575"/>
          </a:xfrm>
          <a:prstGeom prst="rect">
            <a:avLst/>
          </a:prstGeom>
        </p:spPr>
        <p:txBody>
          <a:bodyPr anchor="ctr"/>
          <a:lstStyle/>
          <a:p>
            <a:pPr fontAlgn="auto">
              <a:spcAft>
                <a:spcPts val="0"/>
              </a:spcAft>
              <a:defRPr/>
            </a:pPr>
            <a:r>
              <a:rPr lang="zh-CN" altLang="en-US" sz="2800" b="1" dirty="0">
                <a:latin typeface="黑体" panose="02010609060101010101" pitchFamily="49" charset="-122"/>
                <a:ea typeface="黑体" panose="02010609060101010101" pitchFamily="49" charset="-122"/>
              </a:rPr>
              <a:t>分析</a:t>
            </a:r>
            <a:r>
              <a:rPr lang="zh-CN" altLang="zh-CN" sz="2800" b="1" dirty="0">
                <a:latin typeface="黑体" panose="02010609060101010101" pitchFamily="49" charset="-122"/>
                <a:ea typeface="黑体" panose="02010609060101010101" pitchFamily="49" charset="-122"/>
              </a:rPr>
              <a:t>组合体</a:t>
            </a:r>
            <a:r>
              <a:rPr lang="zh-CN" altLang="en-US" sz="2800" b="1" dirty="0">
                <a:latin typeface="黑体" panose="02010609060101010101" pitchFamily="49" charset="-122"/>
                <a:ea typeface="黑体" panose="02010609060101010101" pitchFamily="49" charset="-122"/>
              </a:rPr>
              <a:t>图形</a:t>
            </a:r>
            <a:r>
              <a:rPr lang="zh-CN" altLang="zh-CN" sz="2800" b="1" dirty="0">
                <a:latin typeface="黑体" panose="02010609060101010101" pitchFamily="49" charset="-122"/>
                <a:ea typeface="黑体" panose="02010609060101010101" pitchFamily="49" charset="-122"/>
              </a:rPr>
              <a:t>各几何体表面之间的连接关系</a:t>
            </a:r>
            <a:r>
              <a:rPr lang="zh-CN" altLang="en-US" sz="2800" b="1" dirty="0">
                <a:latin typeface="黑体" panose="02010609060101010101" pitchFamily="49" charset="-122"/>
                <a:ea typeface="黑体" panose="02010609060101010101" pitchFamily="49" charset="-122"/>
              </a:rPr>
              <a:t>，下列说法正确的是：</a:t>
            </a:r>
            <a:endParaRPr lang="zh-CN" altLang="en-US" sz="2600" b="1" dirty="0">
              <a:solidFill>
                <a:srgbClr val="000000"/>
              </a:solidFill>
              <a:latin typeface="黑体" panose="02010609060101010101" pitchFamily="49" charset="-122"/>
              <a:ea typeface="黑体" panose="02010609060101010101" pitchFamily="49" charset="-122"/>
              <a:cs typeface="+mj-cs"/>
              <a:sym typeface="Microsoft Yahei" panose="020B0503020204020204" pitchFamily="34" charset="-122"/>
            </a:endParaRPr>
          </a:p>
        </p:txBody>
      </p:sp>
      <p:sp>
        <p:nvSpPr>
          <p:cNvPr id="6" name="文本框 5"/>
          <p:cNvSpPr txBox="1"/>
          <p:nvPr>
            <p:custDataLst>
              <p:tags r:id="rId3"/>
            </p:custDataLst>
          </p:nvPr>
        </p:nvSpPr>
        <p:spPr>
          <a:xfrm>
            <a:off x="3352800" y="2786064"/>
            <a:ext cx="6400800" cy="642937"/>
          </a:xfrm>
          <a:prstGeom prst="rect">
            <a:avLst/>
          </a:prstGeom>
        </p:spPr>
        <p:txBody>
          <a:bodyPr anchor="ctr"/>
          <a:lstStyle/>
          <a:p>
            <a:pPr fontAlgn="auto">
              <a:spcAft>
                <a:spcPts val="0"/>
              </a:spcAft>
              <a:defRPr/>
            </a:pPr>
            <a:r>
              <a:rPr lang="en-US" altLang="zh-CN"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a:t>
            </a: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平齐</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相交</a:t>
            </a:r>
          </a:p>
        </p:txBody>
      </p:sp>
      <p:sp>
        <p:nvSpPr>
          <p:cNvPr id="7" name="文本框 6"/>
          <p:cNvSpPr txBox="1"/>
          <p:nvPr>
            <p:custDataLst>
              <p:tags r:id="rId4"/>
            </p:custDataLst>
          </p:nvPr>
        </p:nvSpPr>
        <p:spPr>
          <a:xfrm>
            <a:off x="3352800" y="3643314"/>
            <a:ext cx="6400800" cy="642937"/>
          </a:xfrm>
          <a:prstGeom prst="rect">
            <a:avLst/>
          </a:prstGeom>
        </p:spPr>
        <p:txBody>
          <a:bodyPr anchor="ctr"/>
          <a:lstStyle/>
          <a:p>
            <a:pPr fontAlgn="auto">
              <a:spcAft>
                <a:spcPts val="0"/>
              </a:spcAft>
              <a:defRPr/>
            </a:pPr>
            <a:r>
              <a:rPr lang="en-US" altLang="zh-CN"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(A)</a:t>
            </a: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平齐</a:t>
            </a:r>
            <a:r>
              <a:rPr lang="en-US" altLang="zh-CN"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(B)</a:t>
            </a: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相交</a:t>
            </a:r>
          </a:p>
        </p:txBody>
      </p:sp>
      <p:sp>
        <p:nvSpPr>
          <p:cNvPr id="34821" name="文本框 7"/>
          <p:cNvSpPr txBox="1">
            <a:spLocks noChangeArrowheads="1"/>
          </p:cNvSpPr>
          <p:nvPr>
            <p:custDataLst>
              <p:tags r:id="rId5"/>
            </p:custDataLst>
          </p:nvPr>
        </p:nvSpPr>
        <p:spPr bwMode="auto">
          <a:xfrm>
            <a:off x="3352800" y="4500564"/>
            <a:ext cx="6400800" cy="642937"/>
          </a:xfrm>
          <a:prstGeom prst="rect">
            <a:avLst/>
          </a:prstGeom>
          <a:noFill/>
          <a:ln w="9525">
            <a:noFill/>
            <a:miter lim="800000"/>
            <a:headEnd/>
            <a:tailEnd/>
          </a:ln>
        </p:spPr>
        <p:txBody>
          <a:bodyPr anchor="ctr"/>
          <a:lstStyle/>
          <a:p>
            <a:r>
              <a:rPr lang="en-US" altLang="zh-CN" sz="2600" b="1">
                <a:solidFill>
                  <a:srgbClr val="000000"/>
                </a:solidFill>
                <a:latin typeface="Microsoft Yahei" pitchFamily="34" charset="-122"/>
                <a:ea typeface="Microsoft Yahei" pitchFamily="34" charset="-122"/>
                <a:sym typeface="Microsoft Yahei" pitchFamily="34" charset="-122"/>
              </a:rPr>
              <a:t>(C)</a:t>
            </a:r>
            <a:r>
              <a:rPr lang="zh-CN" altLang="en-US" sz="2600" b="1">
                <a:solidFill>
                  <a:srgbClr val="000000"/>
                </a:solidFill>
                <a:latin typeface="Microsoft Yahei" pitchFamily="34" charset="-122"/>
                <a:ea typeface="Microsoft Yahei" pitchFamily="34" charset="-122"/>
                <a:sym typeface="Microsoft Yahei" pitchFamily="34" charset="-122"/>
              </a:rPr>
              <a:t>相错</a:t>
            </a:r>
            <a:r>
              <a:rPr lang="en-US" altLang="zh-CN" sz="2600" b="1">
                <a:solidFill>
                  <a:srgbClr val="000000"/>
                </a:solidFill>
                <a:latin typeface="Microsoft Yahei" pitchFamily="34" charset="-122"/>
                <a:ea typeface="Microsoft Yahei" pitchFamily="34" charset="-122"/>
                <a:sym typeface="Microsoft Yahei" pitchFamily="34" charset="-122"/>
              </a:rPr>
              <a:t>(B)</a:t>
            </a:r>
            <a:r>
              <a:rPr lang="zh-CN" altLang="en-US" sz="2600" b="1">
                <a:solidFill>
                  <a:srgbClr val="000000"/>
                </a:solidFill>
                <a:latin typeface="Microsoft Yahei" pitchFamily="34" charset="-122"/>
                <a:ea typeface="Microsoft Yahei" pitchFamily="34" charset="-122"/>
                <a:sym typeface="Microsoft Yahei" pitchFamily="34" charset="-122"/>
              </a:rPr>
              <a:t>相切</a:t>
            </a:r>
          </a:p>
        </p:txBody>
      </p:sp>
      <p:sp>
        <p:nvSpPr>
          <p:cNvPr id="9" name="文本框 8"/>
          <p:cNvSpPr txBox="1"/>
          <p:nvPr>
            <p:custDataLst>
              <p:tags r:id="rId6"/>
            </p:custDataLst>
          </p:nvPr>
        </p:nvSpPr>
        <p:spPr>
          <a:xfrm>
            <a:off x="3352800" y="5357814"/>
            <a:ext cx="6400800" cy="642937"/>
          </a:xfrm>
          <a:prstGeom prst="rect">
            <a:avLst/>
          </a:prstGeom>
        </p:spPr>
        <p:txBody>
          <a:bodyPr anchor="ctr"/>
          <a:lstStyle/>
          <a:p>
            <a:pPr fontAlgn="auto">
              <a:spcAft>
                <a:spcPts val="0"/>
              </a:spcAft>
              <a:defRPr/>
            </a:pP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t>
            </a:r>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相错</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(D)</a:t>
            </a:r>
            <a:r>
              <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相切</a:t>
            </a:r>
          </a:p>
        </p:txBody>
      </p:sp>
      <p:sp>
        <p:nvSpPr>
          <p:cNvPr id="34823" name="矩形 9"/>
          <p:cNvSpPr>
            <a:spLocks noChangeAspect="1"/>
          </p:cNvSpPr>
          <p:nvPr>
            <p:custDataLst>
              <p:tags r:id="rId7"/>
            </p:custDataLst>
          </p:nvPr>
        </p:nvSpPr>
        <p:spPr bwMode="auto">
          <a:xfrm>
            <a:off x="2638425" y="2849563"/>
            <a:ext cx="514350" cy="514350"/>
          </a:xfrm>
          <a:prstGeom prst="rect">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A</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34824" name="矩形 10"/>
          <p:cNvSpPr>
            <a:spLocks noChangeAspect="1"/>
          </p:cNvSpPr>
          <p:nvPr>
            <p:custDataLst>
              <p:tags r:id="rId8"/>
            </p:custDataLst>
          </p:nvPr>
        </p:nvSpPr>
        <p:spPr bwMode="auto">
          <a:xfrm>
            <a:off x="2638425" y="3706813"/>
            <a:ext cx="514350" cy="514350"/>
          </a:xfrm>
          <a:prstGeom prst="rect">
            <a:avLst/>
          </a:prstGeom>
          <a:solidFill>
            <a:srgbClr val="00FF00"/>
          </a:solidFill>
          <a:ln w="254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B</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34825" name="矩形 11"/>
          <p:cNvSpPr>
            <a:spLocks noChangeAspect="1"/>
          </p:cNvSpPr>
          <p:nvPr>
            <p:custDataLst>
              <p:tags r:id="rId9"/>
            </p:custDataLst>
          </p:nvPr>
        </p:nvSpPr>
        <p:spPr bwMode="auto">
          <a:xfrm>
            <a:off x="2638425" y="4564063"/>
            <a:ext cx="514350" cy="514350"/>
          </a:xfrm>
          <a:prstGeom prst="rect">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C</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34826" name="矩形 12"/>
          <p:cNvSpPr>
            <a:spLocks noChangeAspect="1"/>
          </p:cNvSpPr>
          <p:nvPr>
            <p:custDataLst>
              <p:tags r:id="rId10"/>
            </p:custDataLst>
          </p:nvPr>
        </p:nvSpPr>
        <p:spPr bwMode="auto">
          <a:xfrm>
            <a:off x="2638425" y="5421313"/>
            <a:ext cx="514350" cy="514350"/>
          </a:xfrm>
          <a:prstGeom prst="rect">
            <a:avLst/>
          </a:prstGeom>
          <a:solidFill>
            <a:srgbClr val="00FF00"/>
          </a:solidFill>
          <a:ln w="254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D</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34827" name="圆角矩形 13"/>
          <p:cNvSpPr>
            <a:spLocks noChangeArrowheads="1"/>
          </p:cNvSpPr>
          <p:nvPr>
            <p:custDataLst>
              <p:tags r:id="rId11"/>
            </p:custDataLst>
          </p:nvPr>
        </p:nvSpPr>
        <p:spPr bwMode="auto">
          <a:xfrm>
            <a:off x="7696200" y="6215063"/>
            <a:ext cx="1543050" cy="411162"/>
          </a:xfrm>
          <a:prstGeom prst="roundRect">
            <a:avLst>
              <a:gd name="adj" fmla="val 16667"/>
            </a:avLst>
          </a:prstGeom>
          <a:solidFill>
            <a:srgbClr val="808080"/>
          </a:solidFill>
          <a:ln w="38100">
            <a:solidFill>
              <a:srgbClr val="000000"/>
            </a:solidFill>
            <a:miter lim="800000"/>
            <a:headEnd/>
            <a:tailEnd/>
          </a:ln>
        </p:spPr>
        <p:txBody>
          <a:bodyPr anchor="ctr" anchorCtr="1"/>
          <a:lstStyle/>
          <a:p>
            <a:pPr algn="ctr"/>
            <a:r>
              <a:rPr lang="zh-CN" altLang="en-US" sz="1600">
                <a:solidFill>
                  <a:srgbClr val="FFFFFF"/>
                </a:solidFill>
                <a:latin typeface="Microsoft Yahei" pitchFamily="34" charset="-122"/>
                <a:ea typeface="Microsoft Yahei" pitchFamily="34" charset="-122"/>
                <a:sym typeface="Microsoft Yahei" pitchFamily="34" charset="-122"/>
              </a:rPr>
              <a:t>提交</a:t>
            </a:r>
          </a:p>
        </p:txBody>
      </p:sp>
      <p:pic>
        <p:nvPicPr>
          <p:cNvPr id="34828" name="图片 21"/>
          <p:cNvPicPr>
            <a:picLocks noChangeAspect="1"/>
          </p:cNvPicPr>
          <p:nvPr/>
        </p:nvPicPr>
        <p:blipFill>
          <a:blip r:embed="rId19"/>
          <a:srcRect/>
          <a:stretch>
            <a:fillRect/>
          </a:stretch>
        </p:blipFill>
        <p:spPr bwMode="auto">
          <a:xfrm>
            <a:off x="6602413" y="2425701"/>
            <a:ext cx="1041400" cy="1755775"/>
          </a:xfrm>
          <a:prstGeom prst="rect">
            <a:avLst/>
          </a:prstGeom>
          <a:noFill/>
          <a:ln w="9525">
            <a:noFill/>
            <a:miter lim="800000"/>
            <a:headEnd/>
            <a:tailEnd/>
          </a:ln>
        </p:spPr>
      </p:pic>
      <p:pic>
        <p:nvPicPr>
          <p:cNvPr id="34829" name="图片 22"/>
          <p:cNvPicPr>
            <a:picLocks noChangeAspect="1"/>
          </p:cNvPicPr>
          <p:nvPr/>
        </p:nvPicPr>
        <p:blipFill>
          <a:blip r:embed="rId20"/>
          <a:srcRect/>
          <a:stretch>
            <a:fillRect/>
          </a:stretch>
        </p:blipFill>
        <p:spPr bwMode="auto">
          <a:xfrm>
            <a:off x="8221664" y="2462213"/>
            <a:ext cx="2014537" cy="1712912"/>
          </a:xfrm>
          <a:prstGeom prst="rect">
            <a:avLst/>
          </a:prstGeom>
          <a:noFill/>
          <a:ln w="9525">
            <a:noFill/>
            <a:miter lim="800000"/>
            <a:headEnd/>
            <a:tailEnd/>
          </a:ln>
        </p:spPr>
      </p:pic>
      <p:pic>
        <p:nvPicPr>
          <p:cNvPr id="34830" name="图片 23"/>
          <p:cNvPicPr>
            <a:picLocks noChangeAspect="1"/>
          </p:cNvPicPr>
          <p:nvPr/>
        </p:nvPicPr>
        <p:blipFill>
          <a:blip r:embed="rId21"/>
          <a:srcRect/>
          <a:stretch>
            <a:fillRect/>
          </a:stretch>
        </p:blipFill>
        <p:spPr bwMode="auto">
          <a:xfrm>
            <a:off x="6659563" y="4287839"/>
            <a:ext cx="927100" cy="1882775"/>
          </a:xfrm>
          <a:prstGeom prst="rect">
            <a:avLst/>
          </a:prstGeom>
          <a:noFill/>
          <a:ln w="9525">
            <a:noFill/>
            <a:miter lim="800000"/>
            <a:headEnd/>
            <a:tailEnd/>
          </a:ln>
        </p:spPr>
      </p:pic>
      <p:pic>
        <p:nvPicPr>
          <p:cNvPr id="34831" name="图片 24"/>
          <p:cNvPicPr>
            <a:picLocks noChangeAspect="1"/>
          </p:cNvPicPr>
          <p:nvPr/>
        </p:nvPicPr>
        <p:blipFill>
          <a:blip r:embed="rId22"/>
          <a:srcRect/>
          <a:stretch>
            <a:fillRect/>
          </a:stretch>
        </p:blipFill>
        <p:spPr bwMode="auto">
          <a:xfrm>
            <a:off x="8301038" y="4230689"/>
            <a:ext cx="1935162" cy="1773237"/>
          </a:xfrm>
          <a:prstGeom prst="rect">
            <a:avLst/>
          </a:prstGeom>
          <a:noFill/>
          <a:ln w="9525">
            <a:noFill/>
            <a:miter lim="800000"/>
            <a:headEnd/>
            <a:tailEnd/>
          </a:ln>
        </p:spPr>
      </p:pic>
      <p:grpSp>
        <p:nvGrpSpPr>
          <p:cNvPr id="34832" name="组合 18"/>
          <p:cNvGrpSpPr>
            <a:grpSpLocks/>
          </p:cNvGrpSpPr>
          <p:nvPr>
            <p:custDataLst>
              <p:tags r:id="rId12"/>
            </p:custDataLst>
          </p:nvPr>
        </p:nvGrpSpPr>
        <p:grpSpPr bwMode="auto">
          <a:xfrm>
            <a:off x="0" y="0"/>
            <a:ext cx="9144000" cy="635000"/>
            <a:chOff x="-1524000" y="0"/>
            <a:chExt cx="9144000" cy="635000"/>
          </a:xfrm>
        </p:grpSpPr>
        <p:sp>
          <p:nvSpPr>
            <p:cNvPr id="34834" name="TitleBackground"/>
            <p:cNvSpPr>
              <a:spLocks noChangeArrowheads="1"/>
            </p:cNvSpPr>
            <p:nvPr>
              <p:custDataLst>
                <p:tags r:id="rId14"/>
              </p:custDataLst>
            </p:nvPr>
          </p:nvSpPr>
          <p:spPr bwMode="auto">
            <a:xfrm>
              <a:off x="-1524000" y="0"/>
              <a:ext cx="9144000" cy="635000"/>
            </a:xfrm>
            <a:prstGeom prst="rect">
              <a:avLst/>
            </a:prstGeom>
            <a:solidFill>
              <a:srgbClr val="F6F7F8"/>
            </a:solidFill>
            <a:ln w="9525">
              <a:noFill/>
              <a:miter lim="800000"/>
              <a:headEnd/>
              <a:tailEnd/>
            </a:ln>
          </p:spPr>
          <p:txBody>
            <a:bodyPr anchor="ctr"/>
            <a:lstStyle/>
            <a:p>
              <a:pPr algn="ctr"/>
              <a:endParaRPr lang="zh-CN" altLang="en-US" sz="3600">
                <a:solidFill>
                  <a:schemeClr val="tx2"/>
                </a:solidFill>
                <a:latin typeface="宋体" pitchFamily="2" charset="-122"/>
              </a:endParaRPr>
            </a:p>
          </p:txBody>
        </p:sp>
        <p:sp>
          <p:nvSpPr>
            <p:cNvPr id="34835" name="ColorBlock"/>
            <p:cNvSpPr>
              <a:spLocks noChangeArrowheads="1"/>
            </p:cNvSpPr>
            <p:nvPr>
              <p:custDataLst>
                <p:tags r:id="rId15"/>
              </p:custDataLst>
            </p:nvPr>
          </p:nvSpPr>
          <p:spPr bwMode="auto">
            <a:xfrm>
              <a:off x="-1524000" y="0"/>
              <a:ext cx="190500" cy="635000"/>
            </a:xfrm>
            <a:prstGeom prst="rect">
              <a:avLst/>
            </a:prstGeom>
            <a:solidFill>
              <a:srgbClr val="639EF4"/>
            </a:solidFill>
            <a:ln w="9525">
              <a:noFill/>
              <a:miter lim="800000"/>
              <a:headEnd/>
              <a:tailEnd/>
            </a:ln>
          </p:spPr>
          <p:txBody>
            <a:bodyPr anchor="ctr"/>
            <a:lstStyle/>
            <a:p>
              <a:pPr algn="ctr"/>
              <a:endParaRPr lang="zh-CN" altLang="en-US" sz="3600">
                <a:solidFill>
                  <a:schemeClr val="tx2"/>
                </a:solidFill>
                <a:latin typeface="宋体" pitchFamily="2" charset="-122"/>
              </a:endParaRPr>
            </a:p>
          </p:txBody>
        </p:sp>
        <p:sp>
          <p:nvSpPr>
            <p:cNvPr id="17" name="TypeText"/>
            <p:cNvSpPr txBox="1"/>
            <p:nvPr>
              <p:custDataLst>
                <p:tags r:id="rId16"/>
              </p:custDataLst>
            </p:nvPr>
          </p:nvSpPr>
          <p:spPr>
            <a:xfrm>
              <a:off x="-1270000" y="0"/>
              <a:ext cx="1905000" cy="635000"/>
            </a:xfrm>
            <a:prstGeom prst="rect">
              <a:avLst/>
            </a:prstGeom>
          </p:spPr>
          <p:txBody>
            <a:bodyPr wrap="none" anchor="ctr"/>
            <a:lstStyle/>
            <a:p>
              <a:pPr fontAlgn="auto">
                <a:spcAft>
                  <a:spcPts val="0"/>
                </a:spcAft>
                <a:defRPr/>
              </a:pPr>
              <a:r>
                <a:rPr lang="zh-CN" altLang="en-US" sz="2600" b="1">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多选题</a:t>
              </a:r>
              <a:endPar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sp>
          <p:nvSpPr>
            <p:cNvPr id="18" name="TipText"/>
            <p:cNvSpPr txBox="1"/>
            <p:nvPr>
              <p:custDataLst>
                <p:tags r:id="rId17"/>
              </p:custDataLst>
            </p:nvPr>
          </p:nvSpPr>
          <p:spPr>
            <a:xfrm>
              <a:off x="1905" y="109220"/>
              <a:ext cx="2286000" cy="508000"/>
            </a:xfrm>
            <a:prstGeom prst="rect">
              <a:avLst/>
            </a:prstGeom>
          </p:spPr>
          <p:txBody>
            <a:bodyPr wrap="none" anchor="ctr"/>
            <a:lstStyle/>
            <a:p>
              <a:pPr fontAlgn="auto">
                <a:spcAft>
                  <a:spcPts val="0"/>
                </a:spcAft>
                <a:defRPr/>
              </a:pPr>
              <a:r>
                <a:rPr lang="en-US" altLang="zh-CN" sz="2000" b="1">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4</a:t>
              </a:r>
              <a:r>
                <a:rPr lang="zh-CN" altLang="en-US" sz="2000" b="1">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分</a:t>
              </a:r>
              <a:endParaRPr lang="zh-CN" altLang="en-US" sz="2000" b="1" dirty="0">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grpSp>
      <p:pic>
        <p:nvPicPr>
          <p:cNvPr id="34833" name="图片 3"/>
          <p:cNvPicPr>
            <a:picLocks/>
          </p:cNvPicPr>
          <p:nvPr>
            <p:custDataLst>
              <p:tags r:id="rId13"/>
            </p:custDataLst>
          </p:nvPr>
        </p:nvPicPr>
        <p:blipFill>
          <a:blip r:embed="rId23"/>
          <a:srcRect/>
          <a:stretch>
            <a:fillRect/>
          </a:stretch>
        </p:blipFill>
        <p:spPr bwMode="auto">
          <a:xfrm>
            <a:off x="10642600" y="63500"/>
            <a:ext cx="1422400" cy="508000"/>
          </a:xfrm>
          <a:prstGeom prst="rect">
            <a:avLst/>
          </a:prstGeom>
          <a:noFill/>
          <a:ln w="9525">
            <a:noFill/>
            <a:miter lim="800000"/>
            <a:headEnd/>
            <a:tailEnd/>
          </a:ln>
        </p:spPr>
      </p:pic>
    </p:spTree>
    <p:custDataLst>
      <p:tags r:id="rId1"/>
    </p:custData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1355324" y="2981356"/>
            <a:ext cx="1453890" cy="1384995"/>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0800000" scaled="1"/>
            <a:tileRect/>
          </a:grad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800" dirty="0">
                <a:solidFill>
                  <a:srgbClr val="FF0000"/>
                </a:solidFill>
                <a:latin typeface="黑体" panose="02010609060101010101" pitchFamily="49" charset="-122"/>
                <a:ea typeface="黑体" panose="02010609060101010101" pitchFamily="49" charset="-122"/>
              </a:rPr>
              <a:t>组合体的画图方法</a:t>
            </a:r>
          </a:p>
        </p:txBody>
      </p:sp>
      <p:sp>
        <p:nvSpPr>
          <p:cNvPr id="183299" name="Text Box 3"/>
          <p:cNvSpPr txBox="1">
            <a:spLocks noChangeArrowheads="1"/>
          </p:cNvSpPr>
          <p:nvPr/>
        </p:nvSpPr>
        <p:spPr bwMode="auto">
          <a:xfrm>
            <a:off x="6005514" y="1699004"/>
            <a:ext cx="4860924" cy="1570038"/>
          </a:xfrm>
          <a:prstGeom prst="rect">
            <a:avLst/>
          </a:prstGeom>
          <a:noFill/>
          <a:ln w="9525">
            <a:noFill/>
            <a:miter lim="800000"/>
            <a:headEnd/>
            <a:tailEnd/>
          </a:ln>
        </p:spPr>
        <p:txBody>
          <a:bodyPr wrap="square" anchor="ctr">
            <a:spAutoFit/>
          </a:bodyPr>
          <a:lstStyle/>
          <a:p>
            <a:pPr eaLnBrk="1" hangingPunct="1"/>
            <a:r>
              <a:rPr lang="zh-CN" altLang="en-US" sz="2400" dirty="0"/>
              <a:t>根据组合体的形状，将其分解成若干部分，弄清各部分的</a:t>
            </a:r>
            <a:r>
              <a:rPr lang="zh-CN" altLang="en-US" sz="2400" dirty="0">
                <a:solidFill>
                  <a:srgbClr val="FF0000"/>
                </a:solidFill>
              </a:rPr>
              <a:t>形状</a:t>
            </a:r>
            <a:r>
              <a:rPr lang="zh-CN" altLang="en-US" sz="2400" dirty="0"/>
              <a:t>和它们的</a:t>
            </a:r>
            <a:r>
              <a:rPr lang="zh-CN" altLang="en-US" sz="2400" dirty="0">
                <a:solidFill>
                  <a:srgbClr val="FF0000"/>
                </a:solidFill>
              </a:rPr>
              <a:t>相对位置及组合方式</a:t>
            </a:r>
            <a:r>
              <a:rPr lang="zh-CN" altLang="en-US" sz="2400" dirty="0"/>
              <a:t>，分别画出各部分的投影。</a:t>
            </a:r>
          </a:p>
        </p:txBody>
      </p:sp>
      <p:sp>
        <p:nvSpPr>
          <p:cNvPr id="183300" name="Text Box 4"/>
          <p:cNvSpPr txBox="1">
            <a:spLocks noChangeArrowheads="1"/>
          </p:cNvSpPr>
          <p:nvPr/>
        </p:nvSpPr>
        <p:spPr bwMode="auto">
          <a:xfrm>
            <a:off x="5876928" y="3302380"/>
            <a:ext cx="4989510" cy="2308225"/>
          </a:xfrm>
          <a:prstGeom prst="rect">
            <a:avLst/>
          </a:prstGeom>
          <a:noFill/>
          <a:ln w="9525">
            <a:noFill/>
            <a:miter lim="800000"/>
            <a:headEnd/>
            <a:tailEnd/>
          </a:ln>
        </p:spPr>
        <p:txBody>
          <a:bodyPr wrap="square" anchor="ctr">
            <a:spAutoFit/>
          </a:bodyPr>
          <a:lstStyle/>
          <a:p>
            <a:pPr eaLnBrk="1" hangingPunct="1"/>
            <a:r>
              <a:rPr lang="zh-CN" altLang="en-US" sz="2400" dirty="0"/>
              <a:t>对于用切割方式形成的组合体，常常利用“视图上的</a:t>
            </a:r>
            <a:r>
              <a:rPr lang="zh-CN" altLang="en-US" sz="2400" dirty="0">
                <a:solidFill>
                  <a:srgbClr val="FF3300"/>
                </a:solidFill>
              </a:rPr>
              <a:t>一个封闭线框</a:t>
            </a:r>
            <a:r>
              <a:rPr lang="zh-CN" altLang="en-US" sz="2400" dirty="0"/>
              <a:t>一般情况下</a:t>
            </a:r>
            <a:r>
              <a:rPr lang="zh-CN" altLang="en-US" sz="2400" dirty="0">
                <a:solidFill>
                  <a:srgbClr val="FF3300"/>
                </a:solidFill>
              </a:rPr>
              <a:t>代表一个面的投影”</a:t>
            </a:r>
            <a:r>
              <a:rPr lang="zh-CN" altLang="en-US" sz="2400" dirty="0">
                <a:solidFill>
                  <a:schemeClr val="tx2"/>
                </a:solidFill>
              </a:rPr>
              <a:t>的投影特性</a:t>
            </a:r>
            <a:r>
              <a:rPr lang="zh-CN" altLang="en-US" sz="2400" dirty="0"/>
              <a:t>，对体的主要表面的投影进行分析、检查，可以快速、正确地画出图形。</a:t>
            </a:r>
          </a:p>
        </p:txBody>
      </p:sp>
      <p:sp>
        <p:nvSpPr>
          <p:cNvPr id="183301" name="Text Box 5"/>
          <p:cNvSpPr txBox="1">
            <a:spLocks noChangeArrowheads="1"/>
          </p:cNvSpPr>
          <p:nvPr/>
        </p:nvSpPr>
        <p:spPr bwMode="auto">
          <a:xfrm>
            <a:off x="3608390" y="4394580"/>
            <a:ext cx="2124075" cy="523875"/>
          </a:xfrm>
          <a:prstGeom prst="rect">
            <a:avLst/>
          </a:prstGeom>
          <a:noFill/>
          <a:ln>
            <a:noFill/>
          </a:ln>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800" b="1" dirty="0">
                <a:solidFill>
                  <a:srgbClr val="FF3300"/>
                </a:solidFill>
                <a:latin typeface="+mn-ea"/>
                <a:ea typeface="+mn-ea"/>
              </a:rPr>
              <a:t>面形分析法：</a:t>
            </a:r>
          </a:p>
        </p:txBody>
      </p:sp>
      <p:sp>
        <p:nvSpPr>
          <p:cNvPr id="183302" name="Text Box 6"/>
          <p:cNvSpPr txBox="1">
            <a:spLocks noChangeArrowheads="1"/>
          </p:cNvSpPr>
          <p:nvPr/>
        </p:nvSpPr>
        <p:spPr bwMode="auto">
          <a:xfrm>
            <a:off x="3698430" y="2338419"/>
            <a:ext cx="2092325" cy="522287"/>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2800" b="1" dirty="0">
                <a:solidFill>
                  <a:srgbClr val="FF3300"/>
                </a:solidFill>
                <a:latin typeface="+mn-ea"/>
                <a:ea typeface="+mn-ea"/>
              </a:rPr>
              <a:t>形体分析法：</a:t>
            </a:r>
          </a:p>
        </p:txBody>
      </p:sp>
      <p:sp>
        <p:nvSpPr>
          <p:cNvPr id="183303" name="Text Box 7"/>
          <p:cNvSpPr txBox="1">
            <a:spLocks noChangeArrowheads="1"/>
          </p:cNvSpPr>
          <p:nvPr/>
        </p:nvSpPr>
        <p:spPr bwMode="auto">
          <a:xfrm>
            <a:off x="3755740" y="5957889"/>
            <a:ext cx="5211763" cy="523875"/>
          </a:xfrm>
          <a:prstGeom prst="rect">
            <a:avLst/>
          </a:prstGeom>
          <a:noFill/>
          <a:ln w="9525">
            <a:noFill/>
            <a:miter lim="800000"/>
            <a:headEnd/>
            <a:tailEnd/>
          </a:ln>
        </p:spPr>
        <p:txBody>
          <a:bodyPr wrap="none">
            <a:spAutoFit/>
          </a:bodyPr>
          <a:lstStyle/>
          <a:p>
            <a:pPr eaLnBrk="1" hangingPunct="1"/>
            <a:r>
              <a:rPr lang="zh-CN" altLang="en-US" sz="2800" dirty="0">
                <a:solidFill>
                  <a:srgbClr val="0033CC"/>
                </a:solidFill>
              </a:rPr>
              <a:t>形体分析为主，面形分析为辅。</a:t>
            </a:r>
          </a:p>
        </p:txBody>
      </p:sp>
      <p:sp>
        <p:nvSpPr>
          <p:cNvPr id="9" name="矩形 8"/>
          <p:cNvSpPr/>
          <p:nvPr/>
        </p:nvSpPr>
        <p:spPr>
          <a:xfrm>
            <a:off x="1451484" y="853653"/>
            <a:ext cx="2709396" cy="523220"/>
          </a:xfrm>
          <a:prstGeom prst="rect">
            <a:avLst/>
          </a:prstGeom>
        </p:spPr>
        <p:txBody>
          <a:bodyPr wrap="none">
            <a:spAutoFit/>
          </a:bodyPr>
          <a:lstStyle/>
          <a:p>
            <a:pPr eaLnBrk="1" hangingPunct="1">
              <a:defRPr/>
            </a:pPr>
            <a:r>
              <a:rPr lang="zh-CN" altLang="en-US" sz="2800" b="1" dirty="0">
                <a:solidFill>
                  <a:schemeClr val="tx2"/>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组合形式及视图</a:t>
            </a:r>
          </a:p>
        </p:txBody>
      </p:sp>
      <p:sp>
        <p:nvSpPr>
          <p:cNvPr id="11" name="AutoShape 20"/>
          <p:cNvSpPr>
            <a:spLocks/>
          </p:cNvSpPr>
          <p:nvPr/>
        </p:nvSpPr>
        <p:spPr bwMode="auto">
          <a:xfrm>
            <a:off x="3001965" y="2559429"/>
            <a:ext cx="468313" cy="2228850"/>
          </a:xfrm>
          <a:prstGeom prst="leftBrace">
            <a:avLst>
              <a:gd name="adj1" fmla="val 49268"/>
              <a:gd name="adj2" fmla="val 50000"/>
            </a:avLst>
          </a:prstGeom>
          <a:noFill/>
          <a:ln w="28575">
            <a:solidFill>
              <a:srgbClr val="000000"/>
            </a:solidFill>
            <a:round/>
            <a:headEnd/>
            <a:tailEnd/>
          </a:ln>
        </p:spPr>
        <p:txBody>
          <a:bodyPr wrap="none" anchor="ctr"/>
          <a:lstStyle/>
          <a:p>
            <a:pPr eaLnBrk="1" hangingPunct="1"/>
            <a:endParaRPr lang="zh-CN" altLang="en-US"/>
          </a:p>
        </p:txBody>
      </p:sp>
      <p:sp>
        <p:nvSpPr>
          <p:cNvPr id="13" name="Text Box 31">
            <a:extLst>
              <a:ext uri="{FF2B5EF4-FFF2-40B4-BE49-F238E27FC236}">
                <a16:creationId xmlns:a16="http://schemas.microsoft.com/office/drawing/2014/main" id="{986EFA67-2292-4A6F-A475-C08CE58F4DE7}"/>
              </a:ext>
            </a:extLst>
          </p:cNvPr>
          <p:cNvSpPr txBox="1">
            <a:spLocks noChangeArrowheads="1"/>
          </p:cNvSpPr>
          <p:nvPr/>
        </p:nvSpPr>
        <p:spPr bwMode="auto">
          <a:xfrm>
            <a:off x="3467101" y="282575"/>
            <a:ext cx="4968875" cy="584200"/>
          </a:xfrm>
          <a:prstGeom prst="rect">
            <a:avLst/>
          </a:prstGeom>
          <a:gradFill rotWithShape="0">
            <a:gsLst>
              <a:gs pos="0">
                <a:srgbClr val="FBEAC7"/>
              </a:gs>
              <a:gs pos="17999">
                <a:srgbClr val="FEE7F2"/>
              </a:gs>
              <a:gs pos="36000">
                <a:srgbClr val="FAC77D"/>
              </a:gs>
              <a:gs pos="61000">
                <a:srgbClr val="FBA97D"/>
              </a:gs>
              <a:gs pos="82001">
                <a:srgbClr val="FBD49C"/>
              </a:gs>
              <a:gs pos="100000">
                <a:srgbClr val="FEE7F2"/>
              </a:gs>
            </a:gsLst>
            <a:lin ang="5400000"/>
          </a:gradFill>
          <a:ln w="57150">
            <a:solidFill>
              <a:schemeClr val="bg1"/>
            </a:solidFill>
            <a:miter lim="800000"/>
            <a:headEnd/>
            <a:tailEnd/>
          </a:ln>
        </p:spPr>
        <p:txBody>
          <a:bodyPr>
            <a:spAutoFit/>
          </a:bodyPr>
          <a:lstStyle/>
          <a:p>
            <a:pPr algn="ctr" eaLnBrk="1" hangingPunct="1"/>
            <a:r>
              <a:rPr lang="zh-CN" altLang="en-US" sz="3200" b="1" dirty="0">
                <a:solidFill>
                  <a:schemeClr val="tx2"/>
                </a:solidFill>
                <a:latin typeface="黑体" pitchFamily="49" charset="-122"/>
                <a:ea typeface="黑体" pitchFamily="49" charset="-122"/>
              </a:rPr>
              <a:t>组合体的构形及表达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par>
                          <p:cTn id="8" fill="hold" nodeType="withGroup">
                            <p:stCondLst>
                              <p:cond delay="500"/>
                            </p:stCondLst>
                            <p:childTnLst>
                              <p:par>
                                <p:cTn id="9" presetID="22" presetClass="entr" presetSubtype="1" fill="hold" grpId="0" nodeType="afterEffect">
                                  <p:stCondLst>
                                    <p:cond delay="0"/>
                                  </p:stCondLst>
                                  <p:iterate type="lt">
                                    <p:tmPct val="100000"/>
                                  </p:iterate>
                                  <p:childTnLst>
                                    <p:set>
                                      <p:cBhvr>
                                        <p:cTn id="10" dur="1" fill="hold">
                                          <p:stCondLst>
                                            <p:cond delay="0"/>
                                          </p:stCondLst>
                                        </p:cTn>
                                        <p:tgtEl>
                                          <p:spTgt spid="183302">
                                            <p:txEl>
                                              <p:pRg st="0" end="0"/>
                                            </p:txEl>
                                          </p:spTgt>
                                        </p:tgtEl>
                                        <p:attrNameLst>
                                          <p:attrName>style.visibility</p:attrName>
                                        </p:attrNameLst>
                                      </p:cBhvr>
                                      <p:to>
                                        <p:strVal val="visible"/>
                                      </p:to>
                                    </p:set>
                                    <p:animEffect transition="in" filter="wipe(up)">
                                      <p:cBhvr>
                                        <p:cTn id="11" dur="75"/>
                                        <p:tgtEl>
                                          <p:spTgt spid="183302">
                                            <p:txEl>
                                              <p:pRg st="0" end="0"/>
                                            </p:txEl>
                                          </p:spTgt>
                                        </p:tgtEl>
                                      </p:cBhvr>
                                    </p:animEffect>
                                  </p:childTnLst>
                                </p:cTn>
                              </p:par>
                            </p:childTnLst>
                          </p:cTn>
                        </p:par>
                        <p:par>
                          <p:cTn id="12" fill="hold" nodeType="withGroup">
                            <p:stCondLst>
                              <p:cond delay="950"/>
                            </p:stCondLst>
                            <p:childTnLst>
                              <p:par>
                                <p:cTn id="13" presetID="22" presetClass="entr" presetSubtype="1" fill="hold" grpId="0" nodeType="afterEffect">
                                  <p:stCondLst>
                                    <p:cond delay="0"/>
                                  </p:stCondLst>
                                  <p:iterate type="lt">
                                    <p:tmPct val="100000"/>
                                  </p:iterate>
                                  <p:childTnLst>
                                    <p:set>
                                      <p:cBhvr>
                                        <p:cTn id="14" dur="1" fill="hold">
                                          <p:stCondLst>
                                            <p:cond delay="0"/>
                                          </p:stCondLst>
                                        </p:cTn>
                                        <p:tgtEl>
                                          <p:spTgt spid="183301">
                                            <p:txEl>
                                              <p:pRg st="0" end="0"/>
                                            </p:txEl>
                                          </p:spTgt>
                                        </p:tgtEl>
                                        <p:attrNameLst>
                                          <p:attrName>style.visibility</p:attrName>
                                        </p:attrNameLst>
                                      </p:cBhvr>
                                      <p:to>
                                        <p:strVal val="visible"/>
                                      </p:to>
                                    </p:set>
                                    <p:animEffect transition="in" filter="wipe(up)">
                                      <p:cBhvr>
                                        <p:cTn id="15" dur="75"/>
                                        <p:tgtEl>
                                          <p:spTgt spid="183301">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6" fill="hold" grpId="0" nodeType="clickEffect">
                                  <p:stCondLst>
                                    <p:cond delay="0"/>
                                  </p:stCondLst>
                                  <p:childTnLst>
                                    <p:set>
                                      <p:cBhvr>
                                        <p:cTn id="19" dur="1" fill="hold">
                                          <p:stCondLst>
                                            <p:cond delay="0"/>
                                          </p:stCondLst>
                                        </p:cTn>
                                        <p:tgtEl>
                                          <p:spTgt spid="183299"/>
                                        </p:tgtEl>
                                        <p:attrNameLst>
                                          <p:attrName>style.visibility</p:attrName>
                                        </p:attrNameLst>
                                      </p:cBhvr>
                                      <p:to>
                                        <p:strVal val="visible"/>
                                      </p:to>
                                    </p:set>
                                    <p:animEffect transition="in" filter="strips(downRight)">
                                      <p:cBhvr>
                                        <p:cTn id="20" dur="500"/>
                                        <p:tgtEl>
                                          <p:spTgt spid="18329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6" fill="hold" grpId="0" nodeType="clickEffect">
                                  <p:stCondLst>
                                    <p:cond delay="0"/>
                                  </p:stCondLst>
                                  <p:childTnLst>
                                    <p:set>
                                      <p:cBhvr>
                                        <p:cTn id="24" dur="1" fill="hold">
                                          <p:stCondLst>
                                            <p:cond delay="0"/>
                                          </p:stCondLst>
                                        </p:cTn>
                                        <p:tgtEl>
                                          <p:spTgt spid="183300"/>
                                        </p:tgtEl>
                                        <p:attrNameLst>
                                          <p:attrName>style.visibility</p:attrName>
                                        </p:attrNameLst>
                                      </p:cBhvr>
                                      <p:to>
                                        <p:strVal val="visible"/>
                                      </p:to>
                                    </p:set>
                                    <p:animEffect transition="in" filter="strips(downRight)">
                                      <p:cBhvr>
                                        <p:cTn id="25" dur="500"/>
                                        <p:tgtEl>
                                          <p:spTgt spid="18330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83303"/>
                                        </p:tgtEl>
                                        <p:attrNameLst>
                                          <p:attrName>style.visibility</p:attrName>
                                        </p:attrNameLst>
                                      </p:cBhvr>
                                      <p:to>
                                        <p:strVal val="visible"/>
                                      </p:to>
                                    </p:set>
                                    <p:anim calcmode="lin" valueType="num">
                                      <p:cBhvr additive="base">
                                        <p:cTn id="30" dur="500" fill="hold"/>
                                        <p:tgtEl>
                                          <p:spTgt spid="183303"/>
                                        </p:tgtEl>
                                        <p:attrNameLst>
                                          <p:attrName>ppt_x</p:attrName>
                                        </p:attrNameLst>
                                      </p:cBhvr>
                                      <p:tavLst>
                                        <p:tav tm="0">
                                          <p:val>
                                            <p:strVal val="#ppt_x"/>
                                          </p:val>
                                        </p:tav>
                                        <p:tav tm="100000">
                                          <p:val>
                                            <p:strVal val="#ppt_x"/>
                                          </p:val>
                                        </p:tav>
                                      </p:tavLst>
                                    </p:anim>
                                    <p:anim calcmode="lin" valueType="num">
                                      <p:cBhvr additive="base">
                                        <p:cTn id="31" dur="500" fill="hold"/>
                                        <p:tgtEl>
                                          <p:spTgt spid="1833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autoUpdateAnimBg="0"/>
      <p:bldP spid="183300" grpId="0" autoUpdateAnimBg="0"/>
      <p:bldP spid="183301" grpId="0" build="p" autoUpdateAnimBg="0"/>
      <p:bldP spid="183302" grpId="0" build="p" autoUpdateAnimBg="0"/>
      <p:bldP spid="183303" grpId="0" autoUpdateAnimBg="0"/>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矩形 7"/>
          <p:cNvSpPr>
            <a:spLocks noChangeArrowheads="1"/>
          </p:cNvSpPr>
          <p:nvPr/>
        </p:nvSpPr>
        <p:spPr bwMode="auto">
          <a:xfrm>
            <a:off x="2587626" y="433389"/>
            <a:ext cx="5954713" cy="523875"/>
          </a:xfrm>
          <a:prstGeom prst="rect">
            <a:avLst/>
          </a:prstGeom>
          <a:noFill/>
          <a:ln w="9525">
            <a:noFill/>
            <a:miter lim="800000"/>
            <a:headEnd/>
            <a:tailEnd/>
          </a:ln>
        </p:spPr>
        <p:txBody>
          <a:bodyPr>
            <a:spAutoFit/>
          </a:bodyPr>
          <a:lstStyle/>
          <a:p>
            <a:pPr eaLnBrk="1" hangingPunct="1"/>
            <a:r>
              <a:rPr lang="zh-CN" altLang="en-US" sz="2800">
                <a:ea typeface="黑体" pitchFamily="49" charset="-122"/>
              </a:rPr>
              <a:t>用形体分析方法画组合体三面投影图</a:t>
            </a:r>
          </a:p>
        </p:txBody>
      </p:sp>
      <p:sp>
        <p:nvSpPr>
          <p:cNvPr id="12297" name="矩形 11"/>
          <p:cNvSpPr>
            <a:spLocks noChangeArrowheads="1"/>
          </p:cNvSpPr>
          <p:nvPr/>
        </p:nvSpPr>
        <p:spPr bwMode="auto">
          <a:xfrm>
            <a:off x="983457" y="1245777"/>
            <a:ext cx="1722438" cy="461962"/>
          </a:xfrm>
          <a:prstGeom prst="rect">
            <a:avLst/>
          </a:prstGeom>
          <a:noFill/>
          <a:ln w="9525">
            <a:noFill/>
            <a:miter lim="800000"/>
            <a:headEnd/>
            <a:tailEnd/>
          </a:ln>
        </p:spPr>
        <p:txBody>
          <a:bodyPr wrap="none">
            <a:spAutoFit/>
          </a:bodyPr>
          <a:lstStyle/>
          <a:p>
            <a:pPr eaLnBrk="1" hangingPunct="1"/>
            <a:r>
              <a:rPr lang="en-US" altLang="zh-CN" sz="2400">
                <a:latin typeface="黑体" pitchFamily="49" charset="-122"/>
                <a:ea typeface="黑体" pitchFamily="49" charset="-122"/>
              </a:rPr>
              <a:t>1.</a:t>
            </a:r>
            <a:r>
              <a:rPr lang="zh-CN" altLang="en-US" sz="2400">
                <a:latin typeface="黑体" pitchFamily="49" charset="-122"/>
                <a:ea typeface="黑体" pitchFamily="49" charset="-122"/>
              </a:rPr>
              <a:t>形体分析</a:t>
            </a:r>
          </a:p>
        </p:txBody>
      </p:sp>
      <p:sp>
        <p:nvSpPr>
          <p:cNvPr id="13" name="矩形 12"/>
          <p:cNvSpPr>
            <a:spLocks noChangeArrowheads="1"/>
          </p:cNvSpPr>
          <p:nvPr/>
        </p:nvSpPr>
        <p:spPr bwMode="auto">
          <a:xfrm>
            <a:off x="1147764" y="1705359"/>
            <a:ext cx="3752850" cy="461962"/>
          </a:xfrm>
          <a:prstGeom prst="rect">
            <a:avLst/>
          </a:prstGeom>
          <a:noFill/>
          <a:ln w="9525">
            <a:noFill/>
            <a:miter lim="800000"/>
            <a:headEnd/>
            <a:tailEnd/>
          </a:ln>
        </p:spPr>
        <p:txBody>
          <a:bodyPr>
            <a:spAutoFit/>
          </a:bodyPr>
          <a:lstStyle/>
          <a:p>
            <a:pPr eaLnBrk="1" hangingPunct="1"/>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1</a:t>
            </a:r>
            <a:r>
              <a:rPr lang="zh-CN" altLang="en-US" sz="2400" dirty="0">
                <a:latin typeface="黑体" pitchFamily="49" charset="-122"/>
                <a:ea typeface="黑体" pitchFamily="49" charset="-122"/>
              </a:rPr>
              <a:t>）组合方式</a:t>
            </a:r>
            <a:r>
              <a:rPr lang="zh-CN" altLang="en-US" sz="2400" dirty="0">
                <a:ea typeface="黑体" pitchFamily="49" charset="-122"/>
              </a:rPr>
              <a:t> </a:t>
            </a:r>
            <a:endParaRPr lang="zh-CN" altLang="en-US" sz="2400" dirty="0"/>
          </a:p>
        </p:txBody>
      </p:sp>
      <p:pic>
        <p:nvPicPr>
          <p:cNvPr id="37893" name="图片 3"/>
          <p:cNvPicPr>
            <a:picLocks noChangeAspect="1"/>
          </p:cNvPicPr>
          <p:nvPr/>
        </p:nvPicPr>
        <p:blipFill>
          <a:blip r:embed="rId4"/>
          <a:srcRect/>
          <a:stretch>
            <a:fillRect/>
          </a:stretch>
        </p:blipFill>
        <p:spPr bwMode="auto">
          <a:xfrm>
            <a:off x="7212014" y="2012951"/>
            <a:ext cx="2181225" cy="2335213"/>
          </a:xfrm>
          <a:prstGeom prst="rect">
            <a:avLst/>
          </a:prstGeom>
          <a:noFill/>
          <a:ln w="9525">
            <a:noFill/>
            <a:miter lim="800000"/>
            <a:headEnd/>
            <a:tailEnd/>
          </a:ln>
        </p:spPr>
      </p:pic>
      <p:pic>
        <p:nvPicPr>
          <p:cNvPr id="2" name="图片 1"/>
          <p:cNvPicPr>
            <a:picLocks noChangeAspect="1"/>
          </p:cNvPicPr>
          <p:nvPr/>
        </p:nvPicPr>
        <p:blipFill>
          <a:blip r:embed="rId5"/>
          <a:srcRect/>
          <a:stretch>
            <a:fillRect/>
          </a:stretch>
        </p:blipFill>
        <p:spPr bwMode="auto">
          <a:xfrm>
            <a:off x="5922896" y="1245777"/>
            <a:ext cx="4140200" cy="3338513"/>
          </a:xfrm>
          <a:prstGeom prst="rect">
            <a:avLst/>
          </a:prstGeom>
          <a:noFill/>
          <a:ln w="9525">
            <a:noFill/>
            <a:miter lim="800000"/>
            <a:headEnd/>
            <a:tailEnd/>
          </a:ln>
        </p:spPr>
      </p:pic>
      <p:sp>
        <p:nvSpPr>
          <p:cNvPr id="9" name="Rectangle 8"/>
          <p:cNvSpPr>
            <a:spLocks noChangeArrowheads="1"/>
          </p:cNvSpPr>
          <p:nvPr/>
        </p:nvSpPr>
        <p:spPr bwMode="auto">
          <a:xfrm>
            <a:off x="1025096" y="2641601"/>
            <a:ext cx="3133725" cy="460375"/>
          </a:xfrm>
          <a:prstGeom prst="rect">
            <a:avLst/>
          </a:prstGeom>
          <a:noFill/>
          <a:ln w="19050">
            <a:noFill/>
            <a:miter lim="800000"/>
            <a:headEnd/>
            <a:tailEnd/>
          </a:ln>
        </p:spPr>
        <p:txBody>
          <a:bodyPr>
            <a:spAutoFit/>
          </a:bodyPr>
          <a:lstStyle/>
          <a:p>
            <a:pPr eaLnBrk="1" hangingPunct="1"/>
            <a:r>
              <a:rPr lang="en-US" altLang="zh-CN" sz="2400" dirty="0">
                <a:latin typeface="黑体" pitchFamily="49" charset="-122"/>
                <a:ea typeface="黑体" pitchFamily="49" charset="-122"/>
              </a:rPr>
              <a:t>2.</a:t>
            </a:r>
            <a:r>
              <a:rPr lang="zh-CN" altLang="en-US" sz="2400" dirty="0">
                <a:latin typeface="黑体" pitchFamily="49" charset="-122"/>
                <a:ea typeface="黑体" pitchFamily="49" charset="-122"/>
              </a:rPr>
              <a:t>正面投影图的选择</a:t>
            </a:r>
          </a:p>
        </p:txBody>
      </p:sp>
      <p:sp>
        <p:nvSpPr>
          <p:cNvPr id="10" name="矩形 9"/>
          <p:cNvSpPr>
            <a:spLocks noChangeArrowheads="1"/>
          </p:cNvSpPr>
          <p:nvPr/>
        </p:nvSpPr>
        <p:spPr bwMode="auto">
          <a:xfrm>
            <a:off x="1113737" y="2134568"/>
            <a:ext cx="4751387" cy="461962"/>
          </a:xfrm>
          <a:prstGeom prst="rect">
            <a:avLst/>
          </a:prstGeom>
          <a:noFill/>
          <a:ln w="9525">
            <a:noFill/>
            <a:miter lim="800000"/>
            <a:headEnd/>
            <a:tailEnd/>
          </a:ln>
        </p:spPr>
        <p:txBody>
          <a:bodyPr>
            <a:spAutoFit/>
          </a:bodyPr>
          <a:lstStyle/>
          <a:p>
            <a:pPr eaLnBrk="1" hangingPunct="1"/>
            <a:r>
              <a:rPr lang="zh-CN" altLang="en-US" sz="2400" dirty="0">
                <a:ea typeface="黑体" pitchFamily="49" charset="-122"/>
              </a:rPr>
              <a:t>（</a:t>
            </a:r>
            <a:r>
              <a:rPr lang="en-US" altLang="zh-CN" sz="2400" dirty="0">
                <a:ea typeface="黑体" pitchFamily="49" charset="-122"/>
              </a:rPr>
              <a:t>2</a:t>
            </a:r>
            <a:r>
              <a:rPr lang="zh-CN" altLang="en-US" sz="2400" dirty="0">
                <a:ea typeface="黑体" pitchFamily="49" charset="-122"/>
              </a:rPr>
              <a:t>）几何体相邻表面之间的关系</a:t>
            </a:r>
          </a:p>
        </p:txBody>
      </p:sp>
      <p:sp>
        <p:nvSpPr>
          <p:cNvPr id="4" name="矩形 3"/>
          <p:cNvSpPr/>
          <p:nvPr/>
        </p:nvSpPr>
        <p:spPr>
          <a:xfrm>
            <a:off x="1335628" y="3442941"/>
            <a:ext cx="9520744" cy="3046413"/>
          </a:xfrm>
          <a:prstGeom prst="rect">
            <a:avLst/>
          </a:prstGeom>
        </p:spPr>
        <p:txBody>
          <a:bodyPr wrap="square">
            <a:spAutoFit/>
          </a:bodyPr>
          <a:lstStyle/>
          <a:p>
            <a:pPr eaLnBrk="1" hangingPunct="1">
              <a:defRPr/>
            </a:pPr>
            <a:r>
              <a:rPr lang="zh-CN" altLang="en-US" sz="2400" dirty="0">
                <a:solidFill>
                  <a:srgbClr val="0070C0"/>
                </a:solidFill>
                <a:latin typeface="+mn-ea"/>
                <a:ea typeface="+mn-ea"/>
              </a:rPr>
              <a:t>考虑因素：</a:t>
            </a:r>
          </a:p>
          <a:p>
            <a:pPr eaLnBrk="1" hangingPunct="1">
              <a:defRPr/>
            </a:pPr>
            <a:r>
              <a:rPr lang="zh-CN" altLang="en-US" sz="2400" dirty="0">
                <a:solidFill>
                  <a:srgbClr val="FF0000"/>
                </a:solidFill>
                <a:latin typeface="+mn-ea"/>
                <a:ea typeface="+mn-ea"/>
              </a:rPr>
              <a:t>（</a:t>
            </a:r>
            <a:r>
              <a:rPr lang="en-US" altLang="zh-CN" sz="2400" dirty="0">
                <a:solidFill>
                  <a:srgbClr val="FF0000"/>
                </a:solidFill>
                <a:latin typeface="+mn-ea"/>
                <a:ea typeface="+mn-ea"/>
              </a:rPr>
              <a:t>1</a:t>
            </a:r>
            <a:r>
              <a:rPr lang="zh-CN" altLang="en-US" sz="2400" dirty="0">
                <a:solidFill>
                  <a:srgbClr val="FF0000"/>
                </a:solidFill>
                <a:latin typeface="+mn-ea"/>
                <a:ea typeface="+mn-ea"/>
              </a:rPr>
              <a:t>）平稳安放位置</a:t>
            </a:r>
          </a:p>
          <a:p>
            <a:pPr eaLnBrk="1" hangingPunct="1">
              <a:defRPr/>
            </a:pPr>
            <a:r>
              <a:rPr lang="zh-CN" altLang="en-US" sz="2400" dirty="0">
                <a:latin typeface="+mn-ea"/>
                <a:ea typeface="+mn-ea"/>
              </a:rPr>
              <a:t>    组合体的安放位置一般选择物</a:t>
            </a:r>
            <a:endParaRPr lang="en-US" altLang="zh-CN" sz="2400" dirty="0">
              <a:latin typeface="+mn-ea"/>
              <a:ea typeface="+mn-ea"/>
            </a:endParaRPr>
          </a:p>
          <a:p>
            <a:pPr eaLnBrk="1" hangingPunct="1">
              <a:defRPr/>
            </a:pPr>
            <a:r>
              <a:rPr lang="en-US" altLang="zh-CN" sz="2400" dirty="0">
                <a:latin typeface="+mn-ea"/>
                <a:ea typeface="+mn-ea"/>
              </a:rPr>
              <a:t>    </a:t>
            </a:r>
            <a:r>
              <a:rPr lang="zh-CN" altLang="en-US" sz="2400" dirty="0">
                <a:latin typeface="+mn-ea"/>
                <a:ea typeface="+mn-ea"/>
              </a:rPr>
              <a:t>体平稳时的位置。轴承座的底板底面水平向下为安放位置。</a:t>
            </a:r>
          </a:p>
          <a:p>
            <a:pPr eaLnBrk="1" hangingPunct="1">
              <a:defRPr/>
            </a:pPr>
            <a:r>
              <a:rPr lang="zh-CN" altLang="en-US" sz="2400" dirty="0">
                <a:solidFill>
                  <a:srgbClr val="FF0000"/>
                </a:solidFill>
                <a:latin typeface="+mn-ea"/>
                <a:ea typeface="+mn-ea"/>
              </a:rPr>
              <a:t>（</a:t>
            </a:r>
            <a:r>
              <a:rPr lang="en-US" altLang="zh-CN" sz="2400" dirty="0">
                <a:solidFill>
                  <a:srgbClr val="FF0000"/>
                </a:solidFill>
                <a:latin typeface="+mn-ea"/>
                <a:ea typeface="+mn-ea"/>
              </a:rPr>
              <a:t>2</a:t>
            </a:r>
            <a:r>
              <a:rPr lang="zh-CN" altLang="en-US" sz="2400" dirty="0">
                <a:solidFill>
                  <a:srgbClr val="FF0000"/>
                </a:solidFill>
                <a:latin typeface="+mn-ea"/>
                <a:ea typeface="+mn-ea"/>
              </a:rPr>
              <a:t>）正面投影的投射方向</a:t>
            </a:r>
          </a:p>
          <a:p>
            <a:pPr eaLnBrk="1" hangingPunct="1">
              <a:defRPr/>
            </a:pPr>
            <a:r>
              <a:rPr lang="zh-CN" altLang="en-US" sz="2400" dirty="0">
                <a:latin typeface="+mn-ea"/>
                <a:ea typeface="+mn-ea"/>
              </a:rPr>
              <a:t>    一般选择能够反应组合体各组成部分形状特征以及相互位置关系最多的方向作为正面投射方向，并使组合体的可见性最好，也就是使三个投影中虚线最少并合理利用图幅。</a:t>
            </a: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2297"/>
                                        </p:tgtEl>
                                        <p:attrNameLst>
                                          <p:attrName>style.visibility</p:attrName>
                                        </p:attrNameLst>
                                      </p:cBhvr>
                                      <p:to>
                                        <p:strVal val="visible"/>
                                      </p:to>
                                    </p:set>
                                    <p:anim calcmode="lin" valueType="num">
                                      <p:cBhvr>
                                        <p:cTn id="7" dur="500" fill="hold"/>
                                        <p:tgtEl>
                                          <p:spTgt spid="12297"/>
                                        </p:tgtEl>
                                        <p:attrNameLst>
                                          <p:attrName>ppt_w</p:attrName>
                                        </p:attrNameLst>
                                      </p:cBhvr>
                                      <p:tavLst>
                                        <p:tav tm="0">
                                          <p:val>
                                            <p:fltVal val="0"/>
                                          </p:val>
                                        </p:tav>
                                        <p:tav tm="100000">
                                          <p:val>
                                            <p:strVal val="#ppt_w"/>
                                          </p:val>
                                        </p:tav>
                                      </p:tavLst>
                                    </p:anim>
                                    <p:anim calcmode="lin" valueType="num">
                                      <p:cBhvr>
                                        <p:cTn id="8" dur="500" fill="hold"/>
                                        <p:tgtEl>
                                          <p:spTgt spid="1229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3" name="hammer.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dissolve">
                                      <p:cBhvr>
                                        <p:cTn id="18" dur="25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9" presetClass="entr" presetSubtype="0" decel="100000" fill="hold"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 calcmode="lin" valueType="num">
                                      <p:cBhvr>
                                        <p:cTn id="28"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9">
                                            <p:txEl>
                                              <p:pRg st="0" end="0"/>
                                            </p:txEl>
                                          </p:spTgt>
                                        </p:tgtEl>
                                        <p:attrNameLst>
                                          <p:attrName>ppt_h</p:attrName>
                                        </p:attrNameLst>
                                      </p:cBhvr>
                                      <p:tavLst>
                                        <p:tav tm="0">
                                          <p:val>
                                            <p:fltVal val="0"/>
                                          </p:val>
                                        </p:tav>
                                        <p:tav tm="100000">
                                          <p:val>
                                            <p:strVal val="#ppt_h"/>
                                          </p:val>
                                        </p:tav>
                                      </p:tavLst>
                                    </p:anim>
                                    <p:anim calcmode="lin" valueType="num">
                                      <p:cBhvr>
                                        <p:cTn id="30" dur="500" fill="hold"/>
                                        <p:tgtEl>
                                          <p:spTgt spid="9">
                                            <p:txEl>
                                              <p:pRg st="0" end="0"/>
                                            </p:txEl>
                                          </p:spTgt>
                                        </p:tgtEl>
                                        <p:attrNameLst>
                                          <p:attrName>style.rotation</p:attrName>
                                        </p:attrNameLst>
                                      </p:cBhvr>
                                      <p:tavLst>
                                        <p:tav tm="0">
                                          <p:val>
                                            <p:fltVal val="360"/>
                                          </p:val>
                                        </p:tav>
                                        <p:tav tm="100000">
                                          <p:val>
                                            <p:fltVal val="0"/>
                                          </p:val>
                                        </p:tav>
                                      </p:tavLst>
                                    </p:anim>
                                    <p:animEffect transition="in" filter="fade">
                                      <p:cBhvr>
                                        <p:cTn id="31" dur="500"/>
                                        <p:tgtEl>
                                          <p:spTgt spid="9">
                                            <p:txEl>
                                              <p:pRg st="0" end="0"/>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hammer.wav"/>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up)">
                                      <p:cBhvr>
                                        <p:cTn id="3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7" grpId="0"/>
      <p:bldP spid="13" grpId="0"/>
      <p:bldP spid="10"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矩形 7"/>
          <p:cNvSpPr>
            <a:spLocks noChangeArrowheads="1"/>
          </p:cNvSpPr>
          <p:nvPr/>
        </p:nvSpPr>
        <p:spPr bwMode="auto">
          <a:xfrm>
            <a:off x="2587626" y="433389"/>
            <a:ext cx="5954713" cy="523875"/>
          </a:xfrm>
          <a:prstGeom prst="rect">
            <a:avLst/>
          </a:prstGeom>
          <a:noFill/>
          <a:ln w="9525">
            <a:noFill/>
            <a:miter lim="800000"/>
            <a:headEnd/>
            <a:tailEnd/>
          </a:ln>
        </p:spPr>
        <p:txBody>
          <a:bodyPr>
            <a:spAutoFit/>
          </a:bodyPr>
          <a:lstStyle/>
          <a:p>
            <a:pPr eaLnBrk="1" hangingPunct="1"/>
            <a:r>
              <a:rPr lang="zh-CN" altLang="en-US" sz="2800">
                <a:ea typeface="黑体" pitchFamily="49" charset="-122"/>
              </a:rPr>
              <a:t>用形体分析方法画组合体三面投影图</a:t>
            </a:r>
          </a:p>
        </p:txBody>
      </p:sp>
      <p:sp>
        <p:nvSpPr>
          <p:cNvPr id="39939" name="矩形 11"/>
          <p:cNvSpPr>
            <a:spLocks noChangeArrowheads="1"/>
          </p:cNvSpPr>
          <p:nvPr/>
        </p:nvSpPr>
        <p:spPr bwMode="auto">
          <a:xfrm>
            <a:off x="1059176" y="1332459"/>
            <a:ext cx="1722438" cy="461962"/>
          </a:xfrm>
          <a:prstGeom prst="rect">
            <a:avLst/>
          </a:prstGeom>
          <a:noFill/>
          <a:ln w="9525">
            <a:noFill/>
            <a:miter lim="800000"/>
            <a:headEnd/>
            <a:tailEnd/>
          </a:ln>
        </p:spPr>
        <p:txBody>
          <a:bodyPr wrap="none">
            <a:spAutoFit/>
          </a:bodyPr>
          <a:lstStyle/>
          <a:p>
            <a:pPr eaLnBrk="1" hangingPunct="1"/>
            <a:r>
              <a:rPr lang="en-US" altLang="zh-CN" sz="2400" dirty="0">
                <a:latin typeface="黑体" pitchFamily="49" charset="-122"/>
                <a:ea typeface="黑体" pitchFamily="49" charset="-122"/>
              </a:rPr>
              <a:t>1.</a:t>
            </a:r>
            <a:r>
              <a:rPr lang="zh-CN" altLang="en-US" sz="2400" dirty="0">
                <a:latin typeface="黑体" pitchFamily="49" charset="-122"/>
                <a:ea typeface="黑体" pitchFamily="49" charset="-122"/>
              </a:rPr>
              <a:t>形体分析</a:t>
            </a:r>
          </a:p>
        </p:txBody>
      </p:sp>
      <p:sp>
        <p:nvSpPr>
          <p:cNvPr id="39940" name="矩形 12"/>
          <p:cNvSpPr>
            <a:spLocks noChangeArrowheads="1"/>
          </p:cNvSpPr>
          <p:nvPr/>
        </p:nvSpPr>
        <p:spPr bwMode="auto">
          <a:xfrm>
            <a:off x="1143960" y="1801085"/>
            <a:ext cx="3752850" cy="461962"/>
          </a:xfrm>
          <a:prstGeom prst="rect">
            <a:avLst/>
          </a:prstGeom>
          <a:noFill/>
          <a:ln w="9525">
            <a:noFill/>
            <a:miter lim="800000"/>
            <a:headEnd/>
            <a:tailEnd/>
          </a:ln>
        </p:spPr>
        <p:txBody>
          <a:bodyPr>
            <a:spAutoFit/>
          </a:bodyPr>
          <a:lstStyle/>
          <a:p>
            <a:pPr eaLnBrk="1" hangingPunct="1"/>
            <a:r>
              <a:rPr lang="zh-CN" altLang="en-US" sz="2400" dirty="0">
                <a:latin typeface="黑体" pitchFamily="49" charset="-122"/>
                <a:ea typeface="黑体" pitchFamily="49" charset="-122"/>
              </a:rPr>
              <a:t>（</a:t>
            </a:r>
            <a:r>
              <a:rPr lang="en-US" altLang="zh-CN" sz="2400" dirty="0">
                <a:latin typeface="黑体" pitchFamily="49" charset="-122"/>
                <a:ea typeface="黑体" pitchFamily="49" charset="-122"/>
              </a:rPr>
              <a:t>1</a:t>
            </a:r>
            <a:r>
              <a:rPr lang="zh-CN" altLang="en-US" sz="2400" dirty="0">
                <a:latin typeface="黑体" pitchFamily="49" charset="-122"/>
                <a:ea typeface="黑体" pitchFamily="49" charset="-122"/>
              </a:rPr>
              <a:t>）组合方式</a:t>
            </a:r>
            <a:r>
              <a:rPr lang="zh-CN" altLang="en-US" sz="2400" dirty="0">
                <a:ea typeface="黑体" pitchFamily="49" charset="-122"/>
              </a:rPr>
              <a:t> </a:t>
            </a:r>
            <a:endParaRPr lang="zh-CN" altLang="en-US" sz="2400" dirty="0"/>
          </a:p>
        </p:txBody>
      </p:sp>
      <p:pic>
        <p:nvPicPr>
          <p:cNvPr id="39941" name="图片 3"/>
          <p:cNvPicPr>
            <a:picLocks noChangeAspect="1"/>
          </p:cNvPicPr>
          <p:nvPr/>
        </p:nvPicPr>
        <p:blipFill>
          <a:blip r:embed="rId3"/>
          <a:srcRect/>
          <a:stretch>
            <a:fillRect/>
          </a:stretch>
        </p:blipFill>
        <p:spPr bwMode="auto">
          <a:xfrm>
            <a:off x="7212014" y="2012951"/>
            <a:ext cx="2181225" cy="2335213"/>
          </a:xfrm>
          <a:prstGeom prst="rect">
            <a:avLst/>
          </a:prstGeom>
          <a:noFill/>
          <a:ln w="9525">
            <a:noFill/>
            <a:miter lim="800000"/>
            <a:headEnd/>
            <a:tailEnd/>
          </a:ln>
        </p:spPr>
      </p:pic>
      <p:sp>
        <p:nvSpPr>
          <p:cNvPr id="39942" name="Rectangle 8"/>
          <p:cNvSpPr>
            <a:spLocks noChangeArrowheads="1"/>
          </p:cNvSpPr>
          <p:nvPr/>
        </p:nvSpPr>
        <p:spPr bwMode="auto">
          <a:xfrm>
            <a:off x="1143960" y="2876680"/>
            <a:ext cx="3133725" cy="460375"/>
          </a:xfrm>
          <a:prstGeom prst="rect">
            <a:avLst/>
          </a:prstGeom>
          <a:noFill/>
          <a:ln w="19050">
            <a:noFill/>
            <a:miter lim="800000"/>
            <a:headEnd/>
            <a:tailEnd/>
          </a:ln>
        </p:spPr>
        <p:txBody>
          <a:bodyPr>
            <a:spAutoFit/>
          </a:bodyPr>
          <a:lstStyle/>
          <a:p>
            <a:pPr eaLnBrk="1" hangingPunct="1"/>
            <a:r>
              <a:rPr lang="en-US" altLang="zh-CN" sz="2400" dirty="0">
                <a:latin typeface="黑体" pitchFamily="49" charset="-122"/>
                <a:ea typeface="黑体" pitchFamily="49" charset="-122"/>
              </a:rPr>
              <a:t>2.</a:t>
            </a:r>
            <a:r>
              <a:rPr lang="zh-CN" altLang="en-US" sz="2400" dirty="0">
                <a:latin typeface="黑体" pitchFamily="49" charset="-122"/>
                <a:ea typeface="黑体" pitchFamily="49" charset="-122"/>
              </a:rPr>
              <a:t>正面投影图的选择</a:t>
            </a:r>
          </a:p>
        </p:txBody>
      </p:sp>
      <p:sp>
        <p:nvSpPr>
          <p:cNvPr id="39943" name="矩形 9"/>
          <p:cNvSpPr>
            <a:spLocks noChangeArrowheads="1"/>
          </p:cNvSpPr>
          <p:nvPr/>
        </p:nvSpPr>
        <p:spPr bwMode="auto">
          <a:xfrm>
            <a:off x="1143960" y="2277337"/>
            <a:ext cx="4751387" cy="461962"/>
          </a:xfrm>
          <a:prstGeom prst="rect">
            <a:avLst/>
          </a:prstGeom>
          <a:noFill/>
          <a:ln w="9525">
            <a:noFill/>
            <a:miter lim="800000"/>
            <a:headEnd/>
            <a:tailEnd/>
          </a:ln>
        </p:spPr>
        <p:txBody>
          <a:bodyPr>
            <a:spAutoFit/>
          </a:bodyPr>
          <a:lstStyle/>
          <a:p>
            <a:pPr eaLnBrk="1" hangingPunct="1"/>
            <a:r>
              <a:rPr lang="zh-CN" altLang="en-US" sz="2400" dirty="0">
                <a:ea typeface="黑体" pitchFamily="49" charset="-122"/>
              </a:rPr>
              <a:t>（</a:t>
            </a:r>
            <a:r>
              <a:rPr lang="en-US" altLang="zh-CN" sz="2400" dirty="0">
                <a:ea typeface="黑体" pitchFamily="49" charset="-122"/>
              </a:rPr>
              <a:t>2</a:t>
            </a:r>
            <a:r>
              <a:rPr lang="zh-CN" altLang="en-US" sz="2400" dirty="0">
                <a:ea typeface="黑体" pitchFamily="49" charset="-122"/>
              </a:rPr>
              <a:t>）几何体相邻表面之间的关系</a:t>
            </a:r>
          </a:p>
        </p:txBody>
      </p:sp>
      <p:pic>
        <p:nvPicPr>
          <p:cNvPr id="3" name="图片 2"/>
          <p:cNvPicPr>
            <a:picLocks noChangeAspect="1"/>
          </p:cNvPicPr>
          <p:nvPr/>
        </p:nvPicPr>
        <p:blipFill>
          <a:blip r:embed="rId4"/>
          <a:srcRect/>
          <a:stretch>
            <a:fillRect/>
          </a:stretch>
        </p:blipFill>
        <p:spPr bwMode="auto">
          <a:xfrm>
            <a:off x="9504364" y="1684338"/>
            <a:ext cx="714375" cy="742950"/>
          </a:xfrm>
          <a:prstGeom prst="rect">
            <a:avLst/>
          </a:prstGeom>
          <a:noFill/>
          <a:ln w="9525">
            <a:noFill/>
            <a:miter lim="800000"/>
            <a:headEnd/>
            <a:tailEnd/>
          </a:ln>
        </p:spPr>
      </p:pic>
      <p:pic>
        <p:nvPicPr>
          <p:cNvPr id="4" name="图片 3"/>
          <p:cNvPicPr>
            <a:picLocks noChangeAspect="1"/>
          </p:cNvPicPr>
          <p:nvPr/>
        </p:nvPicPr>
        <p:blipFill>
          <a:blip r:embed="rId5"/>
          <a:srcRect/>
          <a:stretch>
            <a:fillRect/>
          </a:stretch>
        </p:blipFill>
        <p:spPr bwMode="auto">
          <a:xfrm>
            <a:off x="6376989" y="3608389"/>
            <a:ext cx="733425" cy="542925"/>
          </a:xfrm>
          <a:prstGeom prst="rect">
            <a:avLst/>
          </a:prstGeom>
          <a:noFill/>
          <a:ln w="9525">
            <a:noFill/>
            <a:miter lim="800000"/>
            <a:headEnd/>
            <a:tailEnd/>
          </a:ln>
        </p:spPr>
      </p:pic>
      <p:pic>
        <p:nvPicPr>
          <p:cNvPr id="5" name="图片 4"/>
          <p:cNvPicPr>
            <a:picLocks noChangeAspect="1"/>
          </p:cNvPicPr>
          <p:nvPr/>
        </p:nvPicPr>
        <p:blipFill>
          <a:blip r:embed="rId6"/>
          <a:srcRect/>
          <a:stretch>
            <a:fillRect/>
          </a:stretch>
        </p:blipFill>
        <p:spPr bwMode="auto">
          <a:xfrm>
            <a:off x="7212013" y="1674814"/>
            <a:ext cx="571500" cy="676275"/>
          </a:xfrm>
          <a:prstGeom prst="rect">
            <a:avLst/>
          </a:prstGeom>
          <a:noFill/>
          <a:ln w="9525">
            <a:noFill/>
            <a:miter lim="800000"/>
            <a:headEnd/>
            <a:tailEnd/>
          </a:ln>
        </p:spPr>
      </p:pic>
      <p:pic>
        <p:nvPicPr>
          <p:cNvPr id="6" name="图片 5"/>
          <p:cNvPicPr>
            <a:picLocks noChangeAspect="1"/>
          </p:cNvPicPr>
          <p:nvPr/>
        </p:nvPicPr>
        <p:blipFill>
          <a:blip r:embed="rId7"/>
          <a:srcRect/>
          <a:stretch>
            <a:fillRect/>
          </a:stretch>
        </p:blipFill>
        <p:spPr bwMode="auto">
          <a:xfrm>
            <a:off x="9494838" y="3803651"/>
            <a:ext cx="704850" cy="695325"/>
          </a:xfrm>
          <a:prstGeom prst="rect">
            <a:avLst/>
          </a:prstGeom>
          <a:noFill/>
          <a:ln w="9525">
            <a:noFill/>
            <a:miter lim="800000"/>
            <a:headEnd/>
            <a:tailEnd/>
          </a:ln>
        </p:spPr>
      </p:pic>
      <p:pic>
        <p:nvPicPr>
          <p:cNvPr id="7" name="图片 6"/>
          <p:cNvPicPr>
            <a:picLocks noChangeAspect="1"/>
          </p:cNvPicPr>
          <p:nvPr/>
        </p:nvPicPr>
        <p:blipFill>
          <a:blip r:embed="rId8"/>
          <a:srcRect/>
          <a:stretch>
            <a:fillRect/>
          </a:stretch>
        </p:blipFill>
        <p:spPr bwMode="auto">
          <a:xfrm>
            <a:off x="1992313" y="4559300"/>
            <a:ext cx="1592262" cy="1930400"/>
          </a:xfrm>
          <a:prstGeom prst="rect">
            <a:avLst/>
          </a:prstGeom>
          <a:noFill/>
          <a:ln w="9525">
            <a:noFill/>
            <a:miter lim="800000"/>
            <a:headEnd/>
            <a:tailEnd/>
          </a:ln>
        </p:spPr>
      </p:pic>
      <p:pic>
        <p:nvPicPr>
          <p:cNvPr id="8" name="图片 7"/>
          <p:cNvPicPr>
            <a:picLocks noChangeAspect="1"/>
          </p:cNvPicPr>
          <p:nvPr/>
        </p:nvPicPr>
        <p:blipFill>
          <a:blip r:embed="rId9"/>
          <a:srcRect/>
          <a:stretch>
            <a:fillRect/>
          </a:stretch>
        </p:blipFill>
        <p:spPr bwMode="auto">
          <a:xfrm>
            <a:off x="3997326" y="4576763"/>
            <a:ext cx="1554163" cy="1898650"/>
          </a:xfrm>
          <a:prstGeom prst="rect">
            <a:avLst/>
          </a:prstGeom>
          <a:noFill/>
          <a:ln w="9525">
            <a:noFill/>
            <a:miter lim="800000"/>
            <a:headEnd/>
            <a:tailEnd/>
          </a:ln>
        </p:spPr>
      </p:pic>
      <p:pic>
        <p:nvPicPr>
          <p:cNvPr id="12" name="图片 11"/>
          <p:cNvPicPr>
            <a:picLocks noChangeAspect="1"/>
          </p:cNvPicPr>
          <p:nvPr/>
        </p:nvPicPr>
        <p:blipFill>
          <a:blip r:embed="rId10"/>
          <a:srcRect/>
          <a:stretch>
            <a:fillRect/>
          </a:stretch>
        </p:blipFill>
        <p:spPr bwMode="auto">
          <a:xfrm>
            <a:off x="6045200" y="4576763"/>
            <a:ext cx="1885950" cy="1885950"/>
          </a:xfrm>
          <a:prstGeom prst="rect">
            <a:avLst/>
          </a:prstGeom>
          <a:noFill/>
          <a:ln w="9525">
            <a:noFill/>
            <a:miter lim="800000"/>
            <a:headEnd/>
            <a:tailEnd/>
          </a:ln>
        </p:spPr>
      </p:pic>
      <p:pic>
        <p:nvPicPr>
          <p:cNvPr id="14" name="图片 13"/>
          <p:cNvPicPr>
            <a:picLocks noChangeAspect="1"/>
          </p:cNvPicPr>
          <p:nvPr/>
        </p:nvPicPr>
        <p:blipFill>
          <a:blip r:embed="rId11"/>
          <a:srcRect/>
          <a:stretch>
            <a:fillRect/>
          </a:stretch>
        </p:blipFill>
        <p:spPr bwMode="auto">
          <a:xfrm>
            <a:off x="8302626" y="4554539"/>
            <a:ext cx="1909763" cy="1908175"/>
          </a:xfrm>
          <a:prstGeom prst="rect">
            <a:avLst/>
          </a:prstGeom>
          <a:noFill/>
          <a:ln w="9525">
            <a:noFill/>
            <a:miter lim="800000"/>
            <a:headEnd/>
            <a:tailEnd/>
          </a:ln>
        </p:spPr>
      </p:pic>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3"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1+#ppt_w/2"/>
                                          </p:val>
                                        </p:tav>
                                        <p:tav tm="100000">
                                          <p:val>
                                            <p:strVal val="#ppt_x"/>
                                          </p:val>
                                        </p:tav>
                                      </p:tavLst>
                                    </p:anim>
                                    <p:anim calcmode="lin" valueType="num">
                                      <p:cBhvr additive="base">
                                        <p:cTn id="13"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1"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p:tgtEl>
                                          <p:spTgt spid="8"/>
                                        </p:tgtEl>
                                        <p:attrNameLst>
                                          <p:attrName>ppt_y</p:attrName>
                                        </p:attrNameLst>
                                      </p:cBhvr>
                                      <p:tavLst>
                                        <p:tav tm="0">
                                          <p:val>
                                            <p:strVal val="#ppt_y-#ppt_h*1.125000"/>
                                          </p:val>
                                        </p:tav>
                                        <p:tav tm="100000">
                                          <p:val>
                                            <p:strVal val="#ppt_y"/>
                                          </p:val>
                                        </p:tav>
                                      </p:tavLst>
                                    </p:anim>
                                    <p:animEffect transition="in" filter="wipe(down)">
                                      <p:cBhvr>
                                        <p:cTn id="24" dur="500"/>
                                        <p:tgtEl>
                                          <p:spTgt spid="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6" presetClass="entr" presetSubtype="37"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arn(outVertical)">
                                      <p:cBhvr>
                                        <p:cTn id="34" dur="500"/>
                                        <p:tgtEl>
                                          <p:spTgt spid="1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2"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right)">
                                      <p:cBhvr>
                                        <p:cTn id="39" dur="500"/>
                                        <p:tgtEl>
                                          <p:spTgt spid="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1"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500"/>
                                        <p:tgtEl>
                                          <p:spTgt spid="14"/>
                                        </p:tgtEl>
                                        <p:attrNameLst>
                                          <p:attrName>ppt_y</p:attrName>
                                        </p:attrNameLst>
                                      </p:cBhvr>
                                      <p:tavLst>
                                        <p:tav tm="0">
                                          <p:val>
                                            <p:strVal val="#ppt_y-#ppt_h*1.125000"/>
                                          </p:val>
                                        </p:tav>
                                        <p:tav tm="100000">
                                          <p:val>
                                            <p:strVal val="#ppt_y"/>
                                          </p:val>
                                        </p:tav>
                                      </p:tavLst>
                                    </p:anim>
                                    <p:animEffect transition="in" filter="wipe(down)">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rcRect/>
          <a:stretch>
            <a:fillRect/>
          </a:stretch>
        </p:blipFill>
        <p:spPr bwMode="auto">
          <a:xfrm>
            <a:off x="3863976" y="1239838"/>
            <a:ext cx="4524375" cy="4367212"/>
          </a:xfrm>
          <a:prstGeom prst="rect">
            <a:avLst/>
          </a:prstGeom>
          <a:noFill/>
          <a:ln w="9525">
            <a:noFill/>
            <a:miter lim="800000"/>
            <a:headEnd/>
            <a:tailEnd/>
          </a:ln>
        </p:spPr>
      </p:pic>
      <p:sp>
        <p:nvSpPr>
          <p:cNvPr id="41987" name="矩形 7"/>
          <p:cNvSpPr>
            <a:spLocks noChangeArrowheads="1"/>
          </p:cNvSpPr>
          <p:nvPr/>
        </p:nvSpPr>
        <p:spPr bwMode="auto">
          <a:xfrm>
            <a:off x="2587626" y="433389"/>
            <a:ext cx="5954713" cy="523875"/>
          </a:xfrm>
          <a:prstGeom prst="rect">
            <a:avLst/>
          </a:prstGeom>
          <a:noFill/>
          <a:ln w="9525">
            <a:noFill/>
            <a:miter lim="800000"/>
            <a:headEnd/>
            <a:tailEnd/>
          </a:ln>
        </p:spPr>
        <p:txBody>
          <a:bodyPr>
            <a:spAutoFit/>
          </a:bodyPr>
          <a:lstStyle/>
          <a:p>
            <a:pPr eaLnBrk="1" hangingPunct="1"/>
            <a:r>
              <a:rPr lang="zh-CN" altLang="en-US" sz="2800">
                <a:ea typeface="黑体" pitchFamily="49" charset="-122"/>
              </a:rPr>
              <a:t>用形体分析方法画组合体三面投影图</a:t>
            </a:r>
          </a:p>
        </p:txBody>
      </p:sp>
      <p:pic>
        <p:nvPicPr>
          <p:cNvPr id="41988" name="图片 5"/>
          <p:cNvPicPr>
            <a:picLocks noChangeAspect="1"/>
          </p:cNvPicPr>
          <p:nvPr/>
        </p:nvPicPr>
        <p:blipFill>
          <a:blip r:embed="rId4"/>
          <a:srcRect/>
          <a:stretch>
            <a:fillRect/>
          </a:stretch>
        </p:blipFill>
        <p:spPr bwMode="auto">
          <a:xfrm>
            <a:off x="9494838" y="6154739"/>
            <a:ext cx="704850" cy="695325"/>
          </a:xfrm>
          <a:prstGeom prst="rect">
            <a:avLst/>
          </a:prstGeom>
          <a:noFill/>
          <a:ln w="9525">
            <a:noFill/>
            <a:miter lim="800000"/>
            <a:headEnd/>
            <a:tailEnd/>
          </a:ln>
        </p:spPr>
      </p:pic>
      <p:sp>
        <p:nvSpPr>
          <p:cNvPr id="16" name="矩形 15"/>
          <p:cNvSpPr>
            <a:spLocks noChangeArrowheads="1"/>
          </p:cNvSpPr>
          <p:nvPr/>
        </p:nvSpPr>
        <p:spPr bwMode="auto">
          <a:xfrm>
            <a:off x="1611315" y="1957389"/>
            <a:ext cx="1389062" cy="36988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9050" algn="ctr">
            <a:noFill/>
            <a:round/>
            <a:headEnd/>
            <a:tailEnd/>
          </a:ln>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defRPr/>
            </a:pPr>
            <a:r>
              <a:rPr lang="zh-CN" altLang="en-US" sz="1800" b="1">
                <a:latin typeface="+mn-ea"/>
                <a:ea typeface="+mn-ea"/>
              </a:rPr>
              <a:t>布局</a:t>
            </a:r>
          </a:p>
        </p:txBody>
      </p:sp>
      <p:sp>
        <p:nvSpPr>
          <p:cNvPr id="17" name="矩形 16"/>
          <p:cNvSpPr>
            <a:spLocks noChangeArrowheads="1"/>
          </p:cNvSpPr>
          <p:nvPr/>
        </p:nvSpPr>
        <p:spPr bwMode="auto">
          <a:xfrm>
            <a:off x="1611315" y="2419628"/>
            <a:ext cx="1389062" cy="36933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9050" algn="ctr">
            <a:noFill/>
            <a:round/>
            <a:headEnd/>
            <a:tailEnd/>
          </a:ln>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defRPr/>
            </a:pPr>
            <a:r>
              <a:rPr lang="zh-CN" altLang="en-US" sz="1800" b="1">
                <a:latin typeface="+mn-ea"/>
                <a:ea typeface="+mn-ea"/>
              </a:rPr>
              <a:t>选择基准</a:t>
            </a:r>
          </a:p>
        </p:txBody>
      </p:sp>
      <p:sp>
        <p:nvSpPr>
          <p:cNvPr id="18" name="矩形 17"/>
          <p:cNvSpPr>
            <a:spLocks noChangeArrowheads="1"/>
          </p:cNvSpPr>
          <p:nvPr/>
        </p:nvSpPr>
        <p:spPr bwMode="auto">
          <a:xfrm>
            <a:off x="1611315" y="2881314"/>
            <a:ext cx="1389062" cy="36988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9050" algn="ctr">
            <a:noFill/>
            <a:round/>
            <a:headEnd/>
            <a:tailEnd/>
          </a:ln>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defRPr/>
            </a:pPr>
            <a:r>
              <a:rPr lang="zh-CN" altLang="en-US" sz="1800" b="1">
                <a:latin typeface="+mn-ea"/>
                <a:ea typeface="+mn-ea"/>
              </a:rPr>
              <a:t>画底板</a:t>
            </a:r>
          </a:p>
        </p:txBody>
      </p:sp>
      <p:sp>
        <p:nvSpPr>
          <p:cNvPr id="19" name="矩形 18"/>
          <p:cNvSpPr>
            <a:spLocks noChangeArrowheads="1"/>
          </p:cNvSpPr>
          <p:nvPr/>
        </p:nvSpPr>
        <p:spPr bwMode="auto">
          <a:xfrm>
            <a:off x="1611315" y="3343275"/>
            <a:ext cx="1389062" cy="36988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9050" algn="ctr">
            <a:noFill/>
            <a:round/>
            <a:headEnd/>
            <a:tailEnd/>
          </a:ln>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defRPr/>
            </a:pPr>
            <a:r>
              <a:rPr lang="zh-CN" altLang="en-US" sz="1800" b="1">
                <a:latin typeface="+mn-ea"/>
                <a:ea typeface="+mn-ea"/>
              </a:rPr>
              <a:t>画轴套</a:t>
            </a:r>
          </a:p>
        </p:txBody>
      </p:sp>
      <p:sp>
        <p:nvSpPr>
          <p:cNvPr id="20" name="矩形 19"/>
          <p:cNvSpPr>
            <a:spLocks noChangeArrowheads="1"/>
          </p:cNvSpPr>
          <p:nvPr/>
        </p:nvSpPr>
        <p:spPr bwMode="auto">
          <a:xfrm>
            <a:off x="1611315" y="3805238"/>
            <a:ext cx="1389062" cy="3683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9050" algn="ctr">
            <a:noFill/>
            <a:round/>
            <a:headEnd/>
            <a:tailEnd/>
          </a:ln>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defRPr/>
            </a:pPr>
            <a:r>
              <a:rPr lang="zh-CN" altLang="en-US" sz="1800" b="1">
                <a:latin typeface="+mn-ea"/>
                <a:ea typeface="+mn-ea"/>
              </a:rPr>
              <a:t>画支板</a:t>
            </a:r>
          </a:p>
        </p:txBody>
      </p:sp>
      <p:sp>
        <p:nvSpPr>
          <p:cNvPr id="21" name="矩形 20"/>
          <p:cNvSpPr>
            <a:spLocks noChangeArrowheads="1"/>
          </p:cNvSpPr>
          <p:nvPr/>
        </p:nvSpPr>
        <p:spPr bwMode="auto">
          <a:xfrm>
            <a:off x="1611315" y="4294189"/>
            <a:ext cx="1389062" cy="36988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9050" algn="ctr">
            <a:noFill/>
            <a:round/>
            <a:headEnd/>
            <a:tailEnd/>
          </a:ln>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defRPr/>
            </a:pPr>
            <a:r>
              <a:rPr lang="zh-CN" altLang="en-US" sz="1800" b="1">
                <a:latin typeface="+mn-ea"/>
                <a:ea typeface="+mn-ea"/>
              </a:rPr>
              <a:t>画肋板</a:t>
            </a:r>
          </a:p>
        </p:txBody>
      </p:sp>
      <p:sp>
        <p:nvSpPr>
          <p:cNvPr id="22" name="矩形 21"/>
          <p:cNvSpPr>
            <a:spLocks noChangeArrowheads="1"/>
          </p:cNvSpPr>
          <p:nvPr/>
        </p:nvSpPr>
        <p:spPr bwMode="auto">
          <a:xfrm>
            <a:off x="1611315" y="4756428"/>
            <a:ext cx="1389062" cy="36933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9050" algn="ctr">
            <a:noFill/>
            <a:round/>
            <a:headEnd/>
            <a:tailEnd/>
          </a:ln>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defRPr/>
            </a:pPr>
            <a:r>
              <a:rPr lang="zh-CN" altLang="en-US" sz="1800" b="1">
                <a:latin typeface="+mn-ea"/>
                <a:ea typeface="+mn-ea"/>
              </a:rPr>
              <a:t>综合考虑</a:t>
            </a:r>
          </a:p>
        </p:txBody>
      </p:sp>
      <p:sp>
        <p:nvSpPr>
          <p:cNvPr id="23" name="矩形 22"/>
          <p:cNvSpPr>
            <a:spLocks noChangeArrowheads="1"/>
          </p:cNvSpPr>
          <p:nvPr/>
        </p:nvSpPr>
        <p:spPr bwMode="auto">
          <a:xfrm>
            <a:off x="1611315" y="5218114"/>
            <a:ext cx="1389062" cy="36988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9050" algn="ctr">
            <a:noFill/>
            <a:round/>
            <a:headEnd/>
            <a:tailEnd/>
          </a:ln>
        </p:spPr>
        <p:txBody>
          <a:bodyPr wrap="squar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defRPr/>
            </a:pPr>
            <a:r>
              <a:rPr lang="zh-CN" altLang="en-US" sz="1800" b="1">
                <a:latin typeface="+mn-ea"/>
                <a:ea typeface="+mn-ea"/>
              </a:rPr>
              <a:t>加深</a:t>
            </a:r>
          </a:p>
        </p:txBody>
      </p:sp>
      <p:pic>
        <p:nvPicPr>
          <p:cNvPr id="2" name="图片 1"/>
          <p:cNvPicPr>
            <a:picLocks noChangeAspect="1"/>
          </p:cNvPicPr>
          <p:nvPr/>
        </p:nvPicPr>
        <p:blipFill>
          <a:blip r:embed="rId5"/>
          <a:srcRect/>
          <a:stretch>
            <a:fillRect/>
          </a:stretch>
        </p:blipFill>
        <p:spPr bwMode="auto">
          <a:xfrm>
            <a:off x="3863976" y="1252538"/>
            <a:ext cx="4200525" cy="4229100"/>
          </a:xfrm>
          <a:prstGeom prst="rect">
            <a:avLst/>
          </a:prstGeom>
          <a:noFill/>
          <a:ln w="9525">
            <a:noFill/>
            <a:miter lim="800000"/>
            <a:headEnd/>
            <a:tailEnd/>
          </a:ln>
        </p:spPr>
      </p:pic>
      <p:pic>
        <p:nvPicPr>
          <p:cNvPr id="15" name="图片 14"/>
          <p:cNvPicPr>
            <a:picLocks noChangeAspect="1"/>
          </p:cNvPicPr>
          <p:nvPr/>
        </p:nvPicPr>
        <p:blipFill>
          <a:blip r:embed="rId6"/>
          <a:srcRect/>
          <a:stretch>
            <a:fillRect/>
          </a:stretch>
        </p:blipFill>
        <p:spPr bwMode="auto">
          <a:xfrm>
            <a:off x="8466138" y="2773363"/>
            <a:ext cx="1903412" cy="1270000"/>
          </a:xfrm>
          <a:prstGeom prst="rect">
            <a:avLst/>
          </a:prstGeom>
          <a:noFill/>
          <a:ln w="9525">
            <a:noFill/>
            <a:miter lim="800000"/>
            <a:headEnd/>
            <a:tailEnd/>
          </a:ln>
        </p:spPr>
      </p:pic>
      <p:pic>
        <p:nvPicPr>
          <p:cNvPr id="25" name="图片 24"/>
          <p:cNvPicPr>
            <a:picLocks noChangeAspect="1"/>
          </p:cNvPicPr>
          <p:nvPr/>
        </p:nvPicPr>
        <p:blipFill>
          <a:blip r:embed="rId7"/>
          <a:srcRect/>
          <a:stretch>
            <a:fillRect/>
          </a:stretch>
        </p:blipFill>
        <p:spPr bwMode="auto">
          <a:xfrm>
            <a:off x="8740775" y="2708276"/>
            <a:ext cx="1638300" cy="1471613"/>
          </a:xfrm>
          <a:prstGeom prst="rect">
            <a:avLst/>
          </a:prstGeom>
          <a:noFill/>
          <a:ln w="9525">
            <a:noFill/>
            <a:miter lim="800000"/>
            <a:headEnd/>
            <a:tailEnd/>
          </a:ln>
        </p:spPr>
      </p:pic>
      <p:pic>
        <p:nvPicPr>
          <p:cNvPr id="26" name="图片 25"/>
          <p:cNvPicPr>
            <a:picLocks noChangeAspect="1"/>
          </p:cNvPicPr>
          <p:nvPr/>
        </p:nvPicPr>
        <p:blipFill>
          <a:blip r:embed="rId8"/>
          <a:srcRect/>
          <a:stretch>
            <a:fillRect/>
          </a:stretch>
        </p:blipFill>
        <p:spPr bwMode="auto">
          <a:xfrm>
            <a:off x="8910639" y="2519364"/>
            <a:ext cx="1468437" cy="1684337"/>
          </a:xfrm>
          <a:prstGeom prst="rect">
            <a:avLst/>
          </a:prstGeom>
          <a:noFill/>
          <a:ln w="9525">
            <a:noFill/>
            <a:miter lim="800000"/>
            <a:headEnd/>
            <a:tailEnd/>
          </a:ln>
        </p:spPr>
      </p:pic>
      <p:pic>
        <p:nvPicPr>
          <p:cNvPr id="28" name="图片 27"/>
          <p:cNvPicPr>
            <a:picLocks noChangeAspect="1"/>
          </p:cNvPicPr>
          <p:nvPr/>
        </p:nvPicPr>
        <p:blipFill>
          <a:blip r:embed="rId9"/>
          <a:srcRect/>
          <a:stretch>
            <a:fillRect/>
          </a:stretch>
        </p:blipFill>
        <p:spPr bwMode="auto">
          <a:xfrm>
            <a:off x="3995739" y="2773363"/>
            <a:ext cx="2314575" cy="2724150"/>
          </a:xfrm>
          <a:prstGeom prst="rect">
            <a:avLst/>
          </a:prstGeom>
          <a:noFill/>
          <a:ln w="9525">
            <a:noFill/>
            <a:miter lim="800000"/>
            <a:headEnd/>
            <a:tailEnd/>
          </a:ln>
        </p:spPr>
      </p:pic>
      <p:pic>
        <p:nvPicPr>
          <p:cNvPr id="29" name="图片 28"/>
          <p:cNvPicPr>
            <a:picLocks noChangeAspect="1"/>
          </p:cNvPicPr>
          <p:nvPr/>
        </p:nvPicPr>
        <p:blipFill>
          <a:blip r:embed="rId10"/>
          <a:srcRect/>
          <a:stretch>
            <a:fillRect/>
          </a:stretch>
        </p:blipFill>
        <p:spPr bwMode="auto">
          <a:xfrm>
            <a:off x="3976688" y="1217614"/>
            <a:ext cx="4424362" cy="2173287"/>
          </a:xfrm>
          <a:prstGeom prst="rect">
            <a:avLst/>
          </a:prstGeom>
          <a:noFill/>
          <a:ln w="9525">
            <a:noFill/>
            <a:miter lim="800000"/>
            <a:headEnd/>
            <a:tailEnd/>
          </a:ln>
        </p:spPr>
      </p:pic>
      <p:pic>
        <p:nvPicPr>
          <p:cNvPr id="30" name="图片 29"/>
          <p:cNvPicPr>
            <a:picLocks noChangeAspect="1"/>
          </p:cNvPicPr>
          <p:nvPr/>
        </p:nvPicPr>
        <p:blipFill>
          <a:blip r:embed="rId11"/>
          <a:srcRect/>
          <a:stretch>
            <a:fillRect/>
          </a:stretch>
        </p:blipFill>
        <p:spPr bwMode="auto">
          <a:xfrm>
            <a:off x="4030664" y="1169988"/>
            <a:ext cx="4491037" cy="2209800"/>
          </a:xfrm>
          <a:prstGeom prst="rect">
            <a:avLst/>
          </a:prstGeom>
          <a:noFill/>
          <a:ln w="9525">
            <a:noFill/>
            <a:miter lim="800000"/>
            <a:headEnd/>
            <a:tailEnd/>
          </a:ln>
        </p:spPr>
      </p:pic>
      <p:pic>
        <p:nvPicPr>
          <p:cNvPr id="31" name="图片 30"/>
          <p:cNvPicPr>
            <a:picLocks noChangeAspect="1"/>
          </p:cNvPicPr>
          <p:nvPr/>
        </p:nvPicPr>
        <p:blipFill>
          <a:blip r:embed="rId12"/>
          <a:srcRect/>
          <a:stretch>
            <a:fillRect/>
          </a:stretch>
        </p:blipFill>
        <p:spPr bwMode="auto">
          <a:xfrm>
            <a:off x="3863975" y="1236664"/>
            <a:ext cx="2471738" cy="4414837"/>
          </a:xfrm>
          <a:prstGeom prst="rect">
            <a:avLst/>
          </a:prstGeom>
          <a:noFill/>
          <a:ln w="9525">
            <a:noFill/>
            <a:miter lim="800000"/>
            <a:headEnd/>
            <a:tailEnd/>
          </a:ln>
        </p:spPr>
      </p:pic>
      <p:pic>
        <p:nvPicPr>
          <p:cNvPr id="36867" name="图片 36866"/>
          <p:cNvPicPr>
            <a:picLocks noChangeAspect="1"/>
          </p:cNvPicPr>
          <p:nvPr/>
        </p:nvPicPr>
        <p:blipFill>
          <a:blip r:embed="rId13"/>
          <a:srcRect/>
          <a:stretch>
            <a:fillRect/>
          </a:stretch>
        </p:blipFill>
        <p:spPr bwMode="auto">
          <a:xfrm>
            <a:off x="3851276" y="1096964"/>
            <a:ext cx="4697413" cy="4543425"/>
          </a:xfrm>
          <a:prstGeom prst="rect">
            <a:avLst/>
          </a:prstGeom>
          <a:noFill/>
          <a:ln w="9525">
            <a:noFill/>
            <a:miter lim="800000"/>
            <a:headEnd/>
            <a:tailEnd/>
          </a:ln>
        </p:spPr>
      </p:pic>
      <p:sp>
        <p:nvSpPr>
          <p:cNvPr id="36871" name="任意多边形 36870"/>
          <p:cNvSpPr>
            <a:spLocks/>
          </p:cNvSpPr>
          <p:nvPr/>
        </p:nvSpPr>
        <p:spPr bwMode="auto">
          <a:xfrm>
            <a:off x="7067551" y="1679575"/>
            <a:ext cx="1044575" cy="0"/>
          </a:xfrm>
          <a:custGeom>
            <a:avLst/>
            <a:gdLst>
              <a:gd name="T0" fmla="*/ 0 w 1060450"/>
              <a:gd name="T1" fmla="*/ 0 h 38696"/>
              <a:gd name="T2" fmla="*/ 209369 w 1060450"/>
              <a:gd name="T3" fmla="*/ 0 h 38696"/>
              <a:gd name="T4" fmla="*/ 258632 w 1060450"/>
              <a:gd name="T5" fmla="*/ 0 h 38696"/>
              <a:gd name="T6" fmla="*/ 381791 w 1060450"/>
              <a:gd name="T7" fmla="*/ 0 h 38696"/>
              <a:gd name="T8" fmla="*/ 437211 w 1060450"/>
              <a:gd name="T9" fmla="*/ 0 h 38696"/>
              <a:gd name="T10" fmla="*/ 597317 w 1060450"/>
              <a:gd name="T11" fmla="*/ 0 h 38696"/>
              <a:gd name="T12" fmla="*/ 677371 w 1060450"/>
              <a:gd name="T13" fmla="*/ 0 h 38696"/>
              <a:gd name="T14" fmla="*/ 732791 w 1060450"/>
              <a:gd name="T15" fmla="*/ 0 h 38696"/>
              <a:gd name="T16" fmla="*/ 923687 w 1060450"/>
              <a:gd name="T17" fmla="*/ 0 h 38696"/>
              <a:gd name="T18" fmla="*/ 960635 w 1060450"/>
              <a:gd name="T19" fmla="*/ 0 h 38696"/>
              <a:gd name="T20" fmla="*/ 985266 w 1060450"/>
              <a:gd name="T21" fmla="*/ 0 h 38696"/>
              <a:gd name="T22" fmla="*/ 1028371 w 1060450"/>
              <a:gd name="T23" fmla="*/ 0 h 386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60450" h="38696">
                <a:moveTo>
                  <a:pt x="0" y="38100"/>
                </a:moveTo>
                <a:lnTo>
                  <a:pt x="215900" y="31750"/>
                </a:lnTo>
                <a:cubicBezTo>
                  <a:pt x="232946" y="30938"/>
                  <a:pt x="249678" y="26616"/>
                  <a:pt x="266700" y="25400"/>
                </a:cubicBezTo>
                <a:cubicBezTo>
                  <a:pt x="308979" y="22380"/>
                  <a:pt x="351367" y="21167"/>
                  <a:pt x="393700" y="19050"/>
                </a:cubicBezTo>
                <a:cubicBezTo>
                  <a:pt x="405763" y="16034"/>
                  <a:pt x="439984" y="7051"/>
                  <a:pt x="450850" y="6350"/>
                </a:cubicBezTo>
                <a:cubicBezTo>
                  <a:pt x="505810" y="2804"/>
                  <a:pt x="560917" y="2117"/>
                  <a:pt x="615950" y="0"/>
                </a:cubicBezTo>
                <a:lnTo>
                  <a:pt x="698500" y="6350"/>
                </a:lnTo>
                <a:cubicBezTo>
                  <a:pt x="717589" y="8085"/>
                  <a:pt x="736555" y="11040"/>
                  <a:pt x="755650" y="12700"/>
                </a:cubicBezTo>
                <a:cubicBezTo>
                  <a:pt x="811591" y="17564"/>
                  <a:pt x="898504" y="22224"/>
                  <a:pt x="952500" y="25400"/>
                </a:cubicBezTo>
                <a:cubicBezTo>
                  <a:pt x="965200" y="27517"/>
                  <a:pt x="977975" y="29225"/>
                  <a:pt x="990600" y="31750"/>
                </a:cubicBezTo>
                <a:cubicBezTo>
                  <a:pt x="999158" y="33462"/>
                  <a:pt x="1007309" y="37310"/>
                  <a:pt x="1016000" y="38100"/>
                </a:cubicBezTo>
                <a:cubicBezTo>
                  <a:pt x="1030756" y="39441"/>
                  <a:pt x="1045633" y="38100"/>
                  <a:pt x="1060450" y="38100"/>
                </a:cubicBezTo>
              </a:path>
            </a:pathLst>
          </a:custGeom>
          <a:noFill/>
          <a:ln w="22225">
            <a:solidFill>
              <a:srgbClr val="B719A4"/>
            </a:solidFill>
            <a:miter lim="800000"/>
            <a:headEnd/>
            <a:tailEnd/>
          </a:ln>
        </p:spPr>
        <p:txBody>
          <a:bodyPr anchor="ctr"/>
          <a:lstStyle/>
          <a:p>
            <a:endParaRPr lang="zh-CN" altLang="en-US"/>
          </a:p>
        </p:txBody>
      </p:sp>
      <p:sp>
        <p:nvSpPr>
          <p:cNvPr id="41" name="任意多边形 40"/>
          <p:cNvSpPr>
            <a:spLocks/>
          </p:cNvSpPr>
          <p:nvPr/>
        </p:nvSpPr>
        <p:spPr bwMode="auto">
          <a:xfrm rot="5400000">
            <a:off x="5168107" y="4661694"/>
            <a:ext cx="1008062" cy="0"/>
          </a:xfrm>
          <a:custGeom>
            <a:avLst/>
            <a:gdLst>
              <a:gd name="T0" fmla="*/ 0 w 1060450"/>
              <a:gd name="T1" fmla="*/ 0 h 38696"/>
              <a:gd name="T2" fmla="*/ 195084 w 1060450"/>
              <a:gd name="T3" fmla="*/ 0 h 38696"/>
              <a:gd name="T4" fmla="*/ 240985 w 1060450"/>
              <a:gd name="T5" fmla="*/ 0 h 38696"/>
              <a:gd name="T6" fmla="*/ 355741 w 1060450"/>
              <a:gd name="T7" fmla="*/ 0 h 38696"/>
              <a:gd name="T8" fmla="*/ 407380 w 1060450"/>
              <a:gd name="T9" fmla="*/ 0 h 38696"/>
              <a:gd name="T10" fmla="*/ 556561 w 1060450"/>
              <a:gd name="T11" fmla="*/ 0 h 38696"/>
              <a:gd name="T12" fmla="*/ 631152 w 1060450"/>
              <a:gd name="T13" fmla="*/ 0 h 38696"/>
              <a:gd name="T14" fmla="*/ 682791 w 1060450"/>
              <a:gd name="T15" fmla="*/ 0 h 38696"/>
              <a:gd name="T16" fmla="*/ 860661 w 1060450"/>
              <a:gd name="T17" fmla="*/ 0 h 38696"/>
              <a:gd name="T18" fmla="*/ 895088 w 1060450"/>
              <a:gd name="T19" fmla="*/ 0 h 38696"/>
              <a:gd name="T20" fmla="*/ 918039 w 1060450"/>
              <a:gd name="T21" fmla="*/ 0 h 38696"/>
              <a:gd name="T22" fmla="*/ 958203 w 1060450"/>
              <a:gd name="T23" fmla="*/ 0 h 386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060450" h="38696">
                <a:moveTo>
                  <a:pt x="0" y="38100"/>
                </a:moveTo>
                <a:lnTo>
                  <a:pt x="215900" y="31750"/>
                </a:lnTo>
                <a:cubicBezTo>
                  <a:pt x="232946" y="30938"/>
                  <a:pt x="249678" y="26616"/>
                  <a:pt x="266700" y="25400"/>
                </a:cubicBezTo>
                <a:cubicBezTo>
                  <a:pt x="308979" y="22380"/>
                  <a:pt x="351367" y="21167"/>
                  <a:pt x="393700" y="19050"/>
                </a:cubicBezTo>
                <a:cubicBezTo>
                  <a:pt x="405763" y="16034"/>
                  <a:pt x="439984" y="7051"/>
                  <a:pt x="450850" y="6350"/>
                </a:cubicBezTo>
                <a:cubicBezTo>
                  <a:pt x="505810" y="2804"/>
                  <a:pt x="560917" y="2117"/>
                  <a:pt x="615950" y="0"/>
                </a:cubicBezTo>
                <a:lnTo>
                  <a:pt x="698500" y="6350"/>
                </a:lnTo>
                <a:cubicBezTo>
                  <a:pt x="717589" y="8085"/>
                  <a:pt x="736555" y="11040"/>
                  <a:pt x="755650" y="12700"/>
                </a:cubicBezTo>
                <a:cubicBezTo>
                  <a:pt x="811591" y="17564"/>
                  <a:pt x="898504" y="22224"/>
                  <a:pt x="952500" y="25400"/>
                </a:cubicBezTo>
                <a:cubicBezTo>
                  <a:pt x="965200" y="27517"/>
                  <a:pt x="977975" y="29225"/>
                  <a:pt x="990600" y="31750"/>
                </a:cubicBezTo>
                <a:cubicBezTo>
                  <a:pt x="999158" y="33462"/>
                  <a:pt x="1007309" y="37310"/>
                  <a:pt x="1016000" y="38100"/>
                </a:cubicBezTo>
                <a:cubicBezTo>
                  <a:pt x="1030756" y="39441"/>
                  <a:pt x="1045633" y="38100"/>
                  <a:pt x="1060450" y="38100"/>
                </a:cubicBezTo>
              </a:path>
            </a:pathLst>
          </a:custGeom>
          <a:noFill/>
          <a:ln w="22225">
            <a:solidFill>
              <a:srgbClr val="B719A4"/>
            </a:solidFill>
            <a:miter lim="800000"/>
            <a:headEnd/>
            <a:tailEnd/>
          </a:ln>
        </p:spPr>
        <p:txBody>
          <a:bodyPr anchor="ctr"/>
          <a:lstStyle/>
          <a:p>
            <a:endParaRPr lang="zh-CN" altLang="en-US"/>
          </a:p>
        </p:txBody>
      </p:sp>
      <p:pic>
        <p:nvPicPr>
          <p:cNvPr id="36875" name="图片 36874"/>
          <p:cNvPicPr>
            <a:picLocks noChangeAspect="1"/>
          </p:cNvPicPr>
          <p:nvPr/>
        </p:nvPicPr>
        <p:blipFill>
          <a:blip r:embed="rId14"/>
          <a:srcRect/>
          <a:stretch>
            <a:fillRect/>
          </a:stretch>
        </p:blipFill>
        <p:spPr bwMode="auto">
          <a:xfrm>
            <a:off x="7375526" y="2311401"/>
            <a:ext cx="384175" cy="576263"/>
          </a:xfrm>
          <a:prstGeom prst="rect">
            <a:avLst/>
          </a:prstGeom>
          <a:noFill/>
          <a:ln w="9525">
            <a:noFill/>
            <a:miter lim="800000"/>
            <a:headEnd/>
            <a:tailEnd/>
          </a:ln>
        </p:spPr>
      </p:pic>
      <p:pic>
        <p:nvPicPr>
          <p:cNvPr id="36877" name="图片 36876"/>
          <p:cNvPicPr>
            <a:picLocks noChangeAspect="1"/>
          </p:cNvPicPr>
          <p:nvPr/>
        </p:nvPicPr>
        <p:blipFill>
          <a:blip r:embed="rId15"/>
          <a:srcRect/>
          <a:stretch>
            <a:fillRect/>
          </a:stretch>
        </p:blipFill>
        <p:spPr bwMode="auto">
          <a:xfrm>
            <a:off x="3878264" y="4510089"/>
            <a:ext cx="1836737" cy="376237"/>
          </a:xfrm>
          <a:prstGeom prst="rect">
            <a:avLst/>
          </a:prstGeom>
          <a:noFill/>
          <a:ln w="9525">
            <a:noFill/>
            <a:miter lim="800000"/>
            <a:headEnd/>
            <a:tailEnd/>
          </a:ln>
        </p:spPr>
      </p:pic>
      <p:pic>
        <p:nvPicPr>
          <p:cNvPr id="36879" name="图片 36878"/>
          <p:cNvPicPr>
            <a:picLocks noChangeAspect="1"/>
          </p:cNvPicPr>
          <p:nvPr/>
        </p:nvPicPr>
        <p:blipFill>
          <a:blip r:embed="rId16"/>
          <a:srcRect/>
          <a:stretch>
            <a:fillRect/>
          </a:stretch>
        </p:blipFill>
        <p:spPr bwMode="auto">
          <a:xfrm>
            <a:off x="3952876" y="2322513"/>
            <a:ext cx="1757363" cy="563562"/>
          </a:xfrm>
          <a:prstGeom prst="rect">
            <a:avLst/>
          </a:prstGeom>
          <a:noFill/>
          <a:ln w="9525">
            <a:noFill/>
            <a:miter lim="800000"/>
            <a:headEnd/>
            <a:tailEnd/>
          </a:ln>
        </p:spPr>
      </p:pic>
      <p:pic>
        <p:nvPicPr>
          <p:cNvPr id="24" name="图片 23"/>
          <p:cNvPicPr>
            <a:picLocks noChangeAspect="1"/>
          </p:cNvPicPr>
          <p:nvPr/>
        </p:nvPicPr>
        <p:blipFill>
          <a:blip r:embed="rId17"/>
          <a:srcRect/>
          <a:stretch>
            <a:fillRect/>
          </a:stretch>
        </p:blipFill>
        <p:spPr bwMode="auto">
          <a:xfrm>
            <a:off x="8659813" y="2700339"/>
            <a:ext cx="1695450" cy="1457325"/>
          </a:xfrm>
          <a:prstGeom prst="rect">
            <a:avLst/>
          </a:prstGeom>
          <a:noFill/>
          <a:ln w="9525">
            <a:noFill/>
            <a:miter lim="800000"/>
            <a:headEnd/>
            <a:tailEnd/>
          </a:ln>
        </p:spPr>
      </p:pic>
      <p:pic>
        <p:nvPicPr>
          <p:cNvPr id="27" name="图片 26"/>
          <p:cNvPicPr>
            <a:picLocks noChangeAspect="1"/>
          </p:cNvPicPr>
          <p:nvPr/>
        </p:nvPicPr>
        <p:blipFill>
          <a:blip r:embed="rId18"/>
          <a:srcRect/>
          <a:stretch>
            <a:fillRect/>
          </a:stretch>
        </p:blipFill>
        <p:spPr bwMode="auto">
          <a:xfrm>
            <a:off x="9494839" y="1890713"/>
            <a:ext cx="638175" cy="552450"/>
          </a:xfrm>
          <a:prstGeom prst="rect">
            <a:avLst/>
          </a:prstGeom>
          <a:noFill/>
          <a:ln w="9525">
            <a:noFill/>
            <a:miter lim="800000"/>
            <a:headEnd/>
            <a:tailEnd/>
          </a:ln>
        </p:spPr>
      </p:pic>
      <p:pic>
        <p:nvPicPr>
          <p:cNvPr id="36880" name="图片 36879"/>
          <p:cNvPicPr>
            <a:picLocks noChangeAspect="1"/>
          </p:cNvPicPr>
          <p:nvPr/>
        </p:nvPicPr>
        <p:blipFill>
          <a:blip r:embed="rId19"/>
          <a:srcRect/>
          <a:stretch>
            <a:fillRect/>
          </a:stretch>
        </p:blipFill>
        <p:spPr bwMode="auto">
          <a:xfrm>
            <a:off x="3792538" y="1123951"/>
            <a:ext cx="4729162" cy="4545013"/>
          </a:xfrm>
          <a:prstGeom prst="rect">
            <a:avLst/>
          </a:prstGeom>
          <a:noFill/>
          <a:ln w="9525">
            <a:noFill/>
            <a:miter lim="800000"/>
            <a:headEnd/>
            <a:tailEnd/>
          </a:ln>
        </p:spPr>
      </p:pic>
      <p:pic>
        <p:nvPicPr>
          <p:cNvPr id="36881" name="图片 36880"/>
          <p:cNvPicPr>
            <a:picLocks noChangeAspect="1"/>
          </p:cNvPicPr>
          <p:nvPr/>
        </p:nvPicPr>
        <p:blipFill>
          <a:blip r:embed="rId20"/>
          <a:srcRect/>
          <a:stretch>
            <a:fillRect/>
          </a:stretch>
        </p:blipFill>
        <p:spPr bwMode="auto">
          <a:xfrm>
            <a:off x="3676651" y="1136650"/>
            <a:ext cx="4816475" cy="4692650"/>
          </a:xfrm>
          <a:prstGeom prst="rect">
            <a:avLst/>
          </a:prstGeom>
          <a:noFill/>
          <a:ln w="9525">
            <a:noFill/>
            <a:miter lim="800000"/>
            <a:headEnd/>
            <a:tailEnd/>
          </a:ln>
        </p:spPr>
      </p:pic>
      <p:pic>
        <p:nvPicPr>
          <p:cNvPr id="42015" name="图片 3"/>
          <p:cNvPicPr>
            <a:picLocks noChangeAspect="1"/>
          </p:cNvPicPr>
          <p:nvPr/>
        </p:nvPicPr>
        <p:blipFill>
          <a:blip r:embed="rId21"/>
          <a:srcRect/>
          <a:stretch>
            <a:fillRect/>
          </a:stretch>
        </p:blipFill>
        <p:spPr bwMode="auto">
          <a:xfrm>
            <a:off x="7212014" y="4364038"/>
            <a:ext cx="2181225" cy="2335212"/>
          </a:xfrm>
          <a:prstGeom prst="rect">
            <a:avLst/>
          </a:prstGeom>
          <a:noFill/>
          <a:ln w="9525">
            <a:noFill/>
            <a:miter lim="800000"/>
            <a:headEnd/>
            <a:tailEnd/>
          </a:ln>
        </p:spPr>
      </p:pic>
    </p:spTree>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2"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p:tgtEl>
                                          <p:spTgt spid="15"/>
                                        </p:tgtEl>
                                        <p:attrNameLst>
                                          <p:attrName>ppt_x</p:attrName>
                                        </p:attrNameLst>
                                      </p:cBhvr>
                                      <p:tavLst>
                                        <p:tav tm="0">
                                          <p:val>
                                            <p:strVal val="#ppt_x+#ppt_w*1.125000"/>
                                          </p:val>
                                        </p:tav>
                                        <p:tav tm="100000">
                                          <p:val>
                                            <p:strVal val="#ppt_x"/>
                                          </p:val>
                                        </p:tav>
                                      </p:tavLst>
                                    </p:anim>
                                    <p:animEffect transition="in" filter="wipe(left)">
                                      <p:cBhvr>
                                        <p:cTn id="33" dur="500"/>
                                        <p:tgtEl>
                                          <p:spTgt spid="1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4" fill="hold"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wipe(down)">
                                      <p:cBhvr>
                                        <p:cTn id="38" dur="500"/>
                                        <p:tgtEl>
                                          <p:spTgt spid="2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wipe(left)">
                                      <p:cBhvr>
                                        <p:cTn id="43" dur="500"/>
                                        <p:tgtEl>
                                          <p:spTgt spid="2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nodeType="afterGroup">
                            <p:stCondLst>
                              <p:cond delay="500"/>
                            </p:stCondLst>
                            <p:childTnLst>
                              <p:par>
                                <p:cTn id="50" presetID="1" presetClass="exit" presetSubtype="0" fill="hold" nodeType="afterEffect">
                                  <p:stCondLst>
                                    <p:cond delay="0"/>
                                  </p:stCondLst>
                                  <p:childTnLst>
                                    <p:set>
                                      <p:cBhvr>
                                        <p:cTn id="51" dur="1" fill="hold">
                                          <p:stCondLst>
                                            <p:cond delay="0"/>
                                          </p:stCondLst>
                                        </p:cTn>
                                        <p:tgtEl>
                                          <p:spTgt spid="15"/>
                                        </p:tgtEl>
                                        <p:attrNameLst>
                                          <p:attrName>style.visibility</p:attrName>
                                        </p:attrNameLst>
                                      </p:cBhvr>
                                      <p:to>
                                        <p:strVal val="hidden"/>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2" fill="hold" nodeType="clickEffect">
                                  <p:stCondLst>
                                    <p:cond delay="0"/>
                                  </p:stCondLst>
                                  <p:childTnLst>
                                    <p:set>
                                      <p:cBhvr>
                                        <p:cTn id="55" dur="1" fill="hold">
                                          <p:stCondLst>
                                            <p:cond delay="0"/>
                                          </p:stCondLst>
                                        </p:cTn>
                                        <p:tgtEl>
                                          <p:spTgt spid="25"/>
                                        </p:tgtEl>
                                        <p:attrNameLst>
                                          <p:attrName>style.visibility</p:attrName>
                                        </p:attrNameLst>
                                      </p:cBhvr>
                                      <p:to>
                                        <p:strVal val="visible"/>
                                      </p:to>
                                    </p:set>
                                    <p:anim calcmode="lin" valueType="num">
                                      <p:cBhvr additive="base">
                                        <p:cTn id="56" dur="500"/>
                                        <p:tgtEl>
                                          <p:spTgt spid="25"/>
                                        </p:tgtEl>
                                        <p:attrNameLst>
                                          <p:attrName>ppt_x</p:attrName>
                                        </p:attrNameLst>
                                      </p:cBhvr>
                                      <p:tavLst>
                                        <p:tav tm="0">
                                          <p:val>
                                            <p:strVal val="#ppt_x+#ppt_w*1.125000"/>
                                          </p:val>
                                        </p:tav>
                                        <p:tav tm="100000">
                                          <p:val>
                                            <p:strVal val="#ppt_x"/>
                                          </p:val>
                                        </p:tav>
                                      </p:tavLst>
                                    </p:anim>
                                    <p:animEffect transition="in" filter="wipe(left)">
                                      <p:cBhvr>
                                        <p:cTn id="57" dur="500"/>
                                        <p:tgtEl>
                                          <p:spTgt spid="2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2"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wipe(right)">
                                      <p:cBhvr>
                                        <p:cTn id="62" dur="500"/>
                                        <p:tgtEl>
                                          <p:spTgt spid="3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up)">
                                      <p:cBhvr>
                                        <p:cTn id="67" dur="500"/>
                                        <p:tgtEl>
                                          <p:spTgt spid="3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wipe(left)">
                                      <p:cBhvr>
                                        <p:cTn id="72" dur="500"/>
                                        <p:tgtEl>
                                          <p:spTgt spid="2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xit" presetSubtype="0" fill="hold" nodeType="clickEffect">
                                  <p:stCondLst>
                                    <p:cond delay="0"/>
                                  </p:stCondLst>
                                  <p:childTnLst>
                                    <p:set>
                                      <p:cBhvr>
                                        <p:cTn id="76" dur="1" fill="hold">
                                          <p:stCondLst>
                                            <p:cond delay="0"/>
                                          </p:stCondLst>
                                        </p:cTn>
                                        <p:tgtEl>
                                          <p:spTgt spid="25"/>
                                        </p:tgtEl>
                                        <p:attrNameLst>
                                          <p:attrName>style.visibility</p:attrName>
                                        </p:attrNameLst>
                                      </p:cBhvr>
                                      <p:to>
                                        <p:strVal val="hidden"/>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2" presetClass="entr" presetSubtype="2" fill="hold" nodeType="click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p:tgtEl>
                                          <p:spTgt spid="26"/>
                                        </p:tgtEl>
                                        <p:attrNameLst>
                                          <p:attrName>ppt_x</p:attrName>
                                        </p:attrNameLst>
                                      </p:cBhvr>
                                      <p:tavLst>
                                        <p:tav tm="0">
                                          <p:val>
                                            <p:strVal val="#ppt_x+#ppt_w*1.125000"/>
                                          </p:val>
                                        </p:tav>
                                        <p:tav tm="100000">
                                          <p:val>
                                            <p:strVal val="#ppt_x"/>
                                          </p:val>
                                        </p:tav>
                                      </p:tavLst>
                                    </p:anim>
                                    <p:animEffect transition="in" filter="wipe(left)">
                                      <p:cBhvr>
                                        <p:cTn id="82" dur="500"/>
                                        <p:tgtEl>
                                          <p:spTgt spid="2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nodeType="clickEffect">
                                  <p:stCondLst>
                                    <p:cond delay="0"/>
                                  </p:stCondLst>
                                  <p:childTnLst>
                                    <p:set>
                                      <p:cBhvr>
                                        <p:cTn id="86" dur="1" fill="hold">
                                          <p:stCondLst>
                                            <p:cond delay="0"/>
                                          </p:stCondLst>
                                        </p:cTn>
                                        <p:tgtEl>
                                          <p:spTgt spid="36867"/>
                                        </p:tgtEl>
                                        <p:attrNameLst>
                                          <p:attrName>style.visibility</p:attrName>
                                        </p:attrNameLst>
                                      </p:cBhvr>
                                      <p:to>
                                        <p:strVal val="visible"/>
                                      </p:to>
                                    </p:set>
                                    <p:animEffect transition="in" filter="dissolve">
                                      <p:cBhvr>
                                        <p:cTn id="87" dur="500"/>
                                        <p:tgtEl>
                                          <p:spTgt spid="3686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37" fill="hold" grpId="0" nodeType="clickEffect">
                                  <p:stCondLst>
                                    <p:cond delay="0"/>
                                  </p:stCondLst>
                                  <p:childTnLst>
                                    <p:set>
                                      <p:cBhvr>
                                        <p:cTn id="91" dur="1" fill="hold">
                                          <p:stCondLst>
                                            <p:cond delay="0"/>
                                          </p:stCondLst>
                                        </p:cTn>
                                        <p:tgtEl>
                                          <p:spTgt spid="36871"/>
                                        </p:tgtEl>
                                        <p:attrNameLst>
                                          <p:attrName>style.visibility</p:attrName>
                                        </p:attrNameLst>
                                      </p:cBhvr>
                                      <p:to>
                                        <p:strVal val="visible"/>
                                      </p:to>
                                    </p:set>
                                    <p:animEffect transition="in" filter="barn(outVertical)">
                                      <p:cBhvr>
                                        <p:cTn id="92" dur="500"/>
                                        <p:tgtEl>
                                          <p:spTgt spid="36871"/>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37" fill="hold" grpId="0" nodeType="click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barn(outVertical)">
                                      <p:cBhvr>
                                        <p:cTn id="97" dur="500"/>
                                        <p:tgtEl>
                                          <p:spTgt spid="41"/>
                                        </p:tgtEl>
                                      </p:cBhvr>
                                    </p:animEffect>
                                  </p:childTnLst>
                                  <p:subTnLst>
                                    <p:set>
                                      <p:cBhvr override="childStyle">
                                        <p:cTn dur="1" fill="hold" display="0" masterRel="nextClick" afterEffect="1"/>
                                        <p:tgtEl>
                                          <p:spTgt spid="41"/>
                                        </p:tgtEl>
                                        <p:attrNameLst>
                                          <p:attrName>style.visibility</p:attrName>
                                        </p:attrNameLst>
                                      </p:cBhvr>
                                      <p:to>
                                        <p:strVal val="hidden"/>
                                      </p:to>
                                    </p:set>
                                  </p:sub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wipe(left)">
                                      <p:cBhvr>
                                        <p:cTn id="102" dur="500"/>
                                        <p:tgtEl>
                                          <p:spTgt spid="2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xit" presetSubtype="0" fill="hold" nodeType="clickEffect">
                                  <p:stCondLst>
                                    <p:cond delay="0"/>
                                  </p:stCondLst>
                                  <p:childTnLst>
                                    <p:set>
                                      <p:cBhvr>
                                        <p:cTn id="106" dur="1" fill="hold">
                                          <p:stCondLst>
                                            <p:cond delay="0"/>
                                          </p:stCondLst>
                                        </p:cTn>
                                        <p:tgtEl>
                                          <p:spTgt spid="26"/>
                                        </p:tgtEl>
                                        <p:attrNameLst>
                                          <p:attrName>style.visibility</p:attrName>
                                        </p:attrNameLst>
                                      </p:cBhvr>
                                      <p:to>
                                        <p:strVal val="hidden"/>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 presetClass="entr" presetSubtype="2" fill="hold" nodeType="clickEffect">
                                  <p:stCondLst>
                                    <p:cond delay="0"/>
                                  </p:stCondLst>
                                  <p:childTnLst>
                                    <p:set>
                                      <p:cBhvr>
                                        <p:cTn id="110" dur="1" fill="hold">
                                          <p:stCondLst>
                                            <p:cond delay="0"/>
                                          </p:stCondLst>
                                        </p:cTn>
                                        <p:tgtEl>
                                          <p:spTgt spid="24"/>
                                        </p:tgtEl>
                                        <p:attrNameLst>
                                          <p:attrName>style.visibility</p:attrName>
                                        </p:attrNameLst>
                                      </p:cBhvr>
                                      <p:to>
                                        <p:strVal val="visible"/>
                                      </p:to>
                                    </p:set>
                                    <p:anim calcmode="lin" valueType="num">
                                      <p:cBhvr additive="base">
                                        <p:cTn id="111" dur="500" fill="hold"/>
                                        <p:tgtEl>
                                          <p:spTgt spid="24"/>
                                        </p:tgtEl>
                                        <p:attrNameLst>
                                          <p:attrName>ppt_x</p:attrName>
                                        </p:attrNameLst>
                                      </p:cBhvr>
                                      <p:tavLst>
                                        <p:tav tm="0">
                                          <p:val>
                                            <p:strVal val="1+#ppt_w/2"/>
                                          </p:val>
                                        </p:tav>
                                        <p:tav tm="100000">
                                          <p:val>
                                            <p:strVal val="#ppt_x"/>
                                          </p:val>
                                        </p:tav>
                                      </p:tavLst>
                                    </p:anim>
                                    <p:anim calcmode="lin" valueType="num">
                                      <p:cBhvr additive="base">
                                        <p:cTn id="112"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4" fill="hold" nodeType="clickEffect">
                                  <p:stCondLst>
                                    <p:cond delay="0"/>
                                  </p:stCondLst>
                                  <p:childTnLst>
                                    <p:set>
                                      <p:cBhvr>
                                        <p:cTn id="116" dur="1" fill="hold">
                                          <p:stCondLst>
                                            <p:cond delay="0"/>
                                          </p:stCondLst>
                                        </p:cTn>
                                        <p:tgtEl>
                                          <p:spTgt spid="36875"/>
                                        </p:tgtEl>
                                        <p:attrNameLst>
                                          <p:attrName>style.visibility</p:attrName>
                                        </p:attrNameLst>
                                      </p:cBhvr>
                                      <p:to>
                                        <p:strVal val="visible"/>
                                      </p:to>
                                    </p:set>
                                    <p:animEffect transition="in" filter="wipe(down)">
                                      <p:cBhvr>
                                        <p:cTn id="117" dur="500"/>
                                        <p:tgtEl>
                                          <p:spTgt spid="36875"/>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36877"/>
                                        </p:tgtEl>
                                        <p:attrNameLst>
                                          <p:attrName>style.visibility</p:attrName>
                                        </p:attrNameLst>
                                      </p:cBhvr>
                                      <p:to>
                                        <p:strVal val="visible"/>
                                      </p:to>
                                    </p:set>
                                    <p:animEffect transition="in" filter="wipe(left)">
                                      <p:cBhvr>
                                        <p:cTn id="122" dur="500"/>
                                        <p:tgtEl>
                                          <p:spTgt spid="3687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2" fill="hold" nodeType="clickEffect">
                                  <p:stCondLst>
                                    <p:cond delay="0"/>
                                  </p:stCondLst>
                                  <p:childTnLst>
                                    <p:set>
                                      <p:cBhvr>
                                        <p:cTn id="126" dur="1" fill="hold">
                                          <p:stCondLst>
                                            <p:cond delay="0"/>
                                          </p:stCondLst>
                                        </p:cTn>
                                        <p:tgtEl>
                                          <p:spTgt spid="36879"/>
                                        </p:tgtEl>
                                        <p:attrNameLst>
                                          <p:attrName>style.visibility</p:attrName>
                                        </p:attrNameLst>
                                      </p:cBhvr>
                                      <p:to>
                                        <p:strVal val="visible"/>
                                      </p:to>
                                    </p:set>
                                    <p:animEffect transition="in" filter="wipe(right)">
                                      <p:cBhvr>
                                        <p:cTn id="127" dur="500"/>
                                        <p:tgtEl>
                                          <p:spTgt spid="36879"/>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2"/>
                                        </p:tgtEl>
                                        <p:attrNameLst>
                                          <p:attrName>style.visibility</p:attrName>
                                        </p:attrNameLst>
                                      </p:cBhvr>
                                      <p:to>
                                        <p:strVal val="visible"/>
                                      </p:to>
                                    </p:set>
                                    <p:animEffect transition="in" filter="wipe(left)">
                                      <p:cBhvr>
                                        <p:cTn id="132" dur="500"/>
                                        <p:tgtEl>
                                          <p:spTgt spid="22"/>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 presetClass="exit" presetSubtype="0" fill="hold" nodeType="clickEffect">
                                  <p:stCondLst>
                                    <p:cond delay="0"/>
                                  </p:stCondLst>
                                  <p:childTnLst>
                                    <p:set>
                                      <p:cBhvr>
                                        <p:cTn id="136" dur="1" fill="hold">
                                          <p:stCondLst>
                                            <p:cond delay="0"/>
                                          </p:stCondLst>
                                        </p:cTn>
                                        <p:tgtEl>
                                          <p:spTgt spid="24"/>
                                        </p:tgtEl>
                                        <p:attrNameLst>
                                          <p:attrName>style.visibility</p:attrName>
                                        </p:attrNameLst>
                                      </p:cBhvr>
                                      <p:to>
                                        <p:strVal val="hidden"/>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12" presetClass="entr" presetSubtype="2" fill="hold" nodeType="clickEffect">
                                  <p:stCondLst>
                                    <p:cond delay="0"/>
                                  </p:stCondLst>
                                  <p:childTnLst>
                                    <p:set>
                                      <p:cBhvr>
                                        <p:cTn id="140" dur="1" fill="hold">
                                          <p:stCondLst>
                                            <p:cond delay="0"/>
                                          </p:stCondLst>
                                        </p:cTn>
                                        <p:tgtEl>
                                          <p:spTgt spid="27"/>
                                        </p:tgtEl>
                                        <p:attrNameLst>
                                          <p:attrName>style.visibility</p:attrName>
                                        </p:attrNameLst>
                                      </p:cBhvr>
                                      <p:to>
                                        <p:strVal val="visible"/>
                                      </p:to>
                                    </p:set>
                                    <p:anim calcmode="lin" valueType="num">
                                      <p:cBhvr additive="base">
                                        <p:cTn id="141" dur="500"/>
                                        <p:tgtEl>
                                          <p:spTgt spid="27"/>
                                        </p:tgtEl>
                                        <p:attrNameLst>
                                          <p:attrName>ppt_x</p:attrName>
                                        </p:attrNameLst>
                                      </p:cBhvr>
                                      <p:tavLst>
                                        <p:tav tm="0">
                                          <p:val>
                                            <p:strVal val="#ppt_x+#ppt_w*1.125000"/>
                                          </p:val>
                                        </p:tav>
                                        <p:tav tm="100000">
                                          <p:val>
                                            <p:strVal val="#ppt_x"/>
                                          </p:val>
                                        </p:tav>
                                      </p:tavLst>
                                    </p:anim>
                                    <p:animEffect transition="in" filter="wipe(left)">
                                      <p:cBhvr>
                                        <p:cTn id="142" dur="500"/>
                                        <p:tgtEl>
                                          <p:spTgt spid="27"/>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9" presetClass="entr" presetSubtype="0" fill="hold" nodeType="clickEffect">
                                  <p:stCondLst>
                                    <p:cond delay="0"/>
                                  </p:stCondLst>
                                  <p:childTnLst>
                                    <p:set>
                                      <p:cBhvr>
                                        <p:cTn id="146" dur="1" fill="hold">
                                          <p:stCondLst>
                                            <p:cond delay="0"/>
                                          </p:stCondLst>
                                        </p:cTn>
                                        <p:tgtEl>
                                          <p:spTgt spid="36880"/>
                                        </p:tgtEl>
                                        <p:attrNameLst>
                                          <p:attrName>style.visibility</p:attrName>
                                        </p:attrNameLst>
                                      </p:cBhvr>
                                      <p:to>
                                        <p:strVal val="visible"/>
                                      </p:to>
                                    </p:set>
                                    <p:animEffect transition="in" filter="dissolve">
                                      <p:cBhvr>
                                        <p:cTn id="147" dur="500"/>
                                        <p:tgtEl>
                                          <p:spTgt spid="36880"/>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8" fill="hold" grpId="0" nodeType="clickEffect">
                                  <p:stCondLst>
                                    <p:cond delay="0"/>
                                  </p:stCondLst>
                                  <p:childTnLst>
                                    <p:set>
                                      <p:cBhvr>
                                        <p:cTn id="151" dur="1" fill="hold">
                                          <p:stCondLst>
                                            <p:cond delay="0"/>
                                          </p:stCondLst>
                                        </p:cTn>
                                        <p:tgtEl>
                                          <p:spTgt spid="23"/>
                                        </p:tgtEl>
                                        <p:attrNameLst>
                                          <p:attrName>style.visibility</p:attrName>
                                        </p:attrNameLst>
                                      </p:cBhvr>
                                      <p:to>
                                        <p:strVal val="visible"/>
                                      </p:to>
                                    </p:set>
                                    <p:animEffect transition="in" filter="wipe(left)">
                                      <p:cBhvr>
                                        <p:cTn id="152" dur="500"/>
                                        <p:tgtEl>
                                          <p:spTgt spid="23"/>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9" presetClass="entr" presetSubtype="0" fill="hold" nodeType="clickEffect">
                                  <p:stCondLst>
                                    <p:cond delay="0"/>
                                  </p:stCondLst>
                                  <p:childTnLst>
                                    <p:set>
                                      <p:cBhvr>
                                        <p:cTn id="156" dur="1" fill="hold">
                                          <p:stCondLst>
                                            <p:cond delay="0"/>
                                          </p:stCondLst>
                                        </p:cTn>
                                        <p:tgtEl>
                                          <p:spTgt spid="36881"/>
                                        </p:tgtEl>
                                        <p:attrNameLst>
                                          <p:attrName>style.visibility</p:attrName>
                                        </p:attrNameLst>
                                      </p:cBhvr>
                                      <p:to>
                                        <p:strVal val="visible"/>
                                      </p:to>
                                    </p:set>
                                    <p:animEffect transition="in" filter="dissolve">
                                      <p:cBhvr>
                                        <p:cTn id="157" dur="500"/>
                                        <p:tgtEl>
                                          <p:spTgt spid="36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36871" grpId="0" animBg="1"/>
      <p:bldP spid="4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2351088" y="1284289"/>
            <a:ext cx="7315200" cy="1000125"/>
          </a:xfrm>
          <a:prstGeom prst="rect">
            <a:avLst/>
          </a:prstGeom>
        </p:spPr>
        <p:txBody>
          <a:bodyPr anchor="ctr"/>
          <a:lstStyle/>
          <a:p>
            <a:pPr fontAlgn="auto">
              <a:spcAft>
                <a:spcPts val="0"/>
              </a:spcAft>
              <a:defRPr/>
            </a:pPr>
            <a:r>
              <a:rPr lang="zh-CN" altLang="en-US" sz="2800" b="1" dirty="0">
                <a:latin typeface="黑体" panose="02010609060101010101" pitchFamily="49" charset="-122"/>
                <a:ea typeface="黑体" panose="02010609060101010101" pitchFamily="49" charset="-122"/>
              </a:rPr>
              <a:t>选择正面投影图的一般原则是：</a:t>
            </a:r>
            <a:endPar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sp>
        <p:nvSpPr>
          <p:cNvPr id="6" name="文本框 5"/>
          <p:cNvSpPr txBox="1"/>
          <p:nvPr>
            <p:custDataLst>
              <p:tags r:id="rId3"/>
            </p:custDataLst>
          </p:nvPr>
        </p:nvSpPr>
        <p:spPr>
          <a:xfrm>
            <a:off x="3352800" y="2786064"/>
            <a:ext cx="6400800" cy="642937"/>
          </a:xfrm>
          <a:prstGeom prst="rect">
            <a:avLst/>
          </a:prstGeom>
        </p:spPr>
        <p:txBody>
          <a:bodyPr anchor="ctr"/>
          <a:lstStyle/>
          <a:p>
            <a:pPr fontAlgn="auto">
              <a:spcAft>
                <a:spcPts val="0"/>
              </a:spcAft>
              <a:defRPr/>
            </a:pPr>
            <a:r>
              <a:rPr lang="zh-CN" altLang="en-US" sz="2800" dirty="0">
                <a:latin typeface="黑体" panose="02010609060101010101" pitchFamily="49" charset="-122"/>
                <a:ea typeface="黑体" panose="02010609060101010101" pitchFamily="49" charset="-122"/>
              </a:rPr>
              <a:t>平稳安放位置</a:t>
            </a:r>
            <a:endParaRPr lang="zh-CN" altLang="en-US" sz="2600" b="1" dirty="0">
              <a:latin typeface="黑体" panose="02010609060101010101" pitchFamily="49" charset="-122"/>
              <a:ea typeface="黑体" panose="02010609060101010101" pitchFamily="49" charset="-122"/>
              <a:cs typeface="+mj-cs"/>
              <a:sym typeface="Microsoft Yahei" panose="020B0503020204020204" pitchFamily="34" charset="-122"/>
            </a:endParaRPr>
          </a:p>
        </p:txBody>
      </p:sp>
      <p:sp>
        <p:nvSpPr>
          <p:cNvPr id="44036" name="文本框 6"/>
          <p:cNvSpPr txBox="1">
            <a:spLocks noChangeArrowheads="1"/>
          </p:cNvSpPr>
          <p:nvPr>
            <p:custDataLst>
              <p:tags r:id="rId4"/>
            </p:custDataLst>
          </p:nvPr>
        </p:nvSpPr>
        <p:spPr bwMode="auto">
          <a:xfrm>
            <a:off x="3352801" y="3643314"/>
            <a:ext cx="4506913" cy="642937"/>
          </a:xfrm>
          <a:prstGeom prst="rect">
            <a:avLst/>
          </a:prstGeom>
          <a:noFill/>
          <a:ln w="9525">
            <a:noFill/>
            <a:miter lim="800000"/>
            <a:headEnd/>
            <a:tailEnd/>
          </a:ln>
        </p:spPr>
        <p:txBody>
          <a:bodyPr anchor="ctr"/>
          <a:lstStyle/>
          <a:p>
            <a:pPr eaLnBrk="1" hangingPunct="1"/>
            <a:r>
              <a:rPr lang="zh-CN" altLang="en-US" sz="2800">
                <a:latin typeface="黑体" pitchFamily="49" charset="-122"/>
                <a:ea typeface="黑体" pitchFamily="49" charset="-122"/>
              </a:rPr>
              <a:t>正面投影的投射方向</a:t>
            </a:r>
          </a:p>
        </p:txBody>
      </p:sp>
      <p:sp>
        <p:nvSpPr>
          <p:cNvPr id="8" name="文本框 7"/>
          <p:cNvSpPr txBox="1"/>
          <p:nvPr>
            <p:custDataLst>
              <p:tags r:id="rId5"/>
            </p:custDataLst>
          </p:nvPr>
        </p:nvSpPr>
        <p:spPr>
          <a:xfrm>
            <a:off x="3352800" y="4500564"/>
            <a:ext cx="6400800" cy="642937"/>
          </a:xfrm>
          <a:prstGeom prst="rect">
            <a:avLst/>
          </a:prstGeom>
        </p:spPr>
        <p:txBody>
          <a:bodyPr anchor="ctr"/>
          <a:lstStyle/>
          <a:p>
            <a:pPr fontAlgn="auto">
              <a:spcAft>
                <a:spcPts val="0"/>
              </a:spcAft>
              <a:defRPr/>
            </a:pPr>
            <a:r>
              <a:rPr lang="en-US" altLang="zh-CN" sz="2600" dirty="0">
                <a:solidFill>
                  <a:srgbClr val="000000"/>
                </a:solidFill>
                <a:latin typeface="黑体" panose="02010609060101010101" pitchFamily="49" charset="-122"/>
                <a:ea typeface="黑体" panose="02010609060101010101" pitchFamily="49" charset="-122"/>
                <a:cs typeface="+mj-cs"/>
                <a:sym typeface="Microsoft Yahei" panose="020B0503020204020204" pitchFamily="34" charset="-122"/>
              </a:rPr>
              <a:t>A</a:t>
            </a:r>
            <a:r>
              <a:rPr lang="zh-CN" altLang="en-US" sz="2600" dirty="0">
                <a:solidFill>
                  <a:srgbClr val="000000"/>
                </a:solidFill>
                <a:latin typeface="黑体" panose="02010609060101010101" pitchFamily="49" charset="-122"/>
                <a:ea typeface="黑体" panose="02010609060101010101" pitchFamily="49" charset="-122"/>
                <a:cs typeface="+mj-cs"/>
                <a:sym typeface="Microsoft Yahei" panose="020B0503020204020204" pitchFamily="34" charset="-122"/>
              </a:rPr>
              <a:t>、</a:t>
            </a:r>
            <a:r>
              <a:rPr lang="en-US" altLang="zh-CN" sz="2600" dirty="0">
                <a:solidFill>
                  <a:srgbClr val="000000"/>
                </a:solidFill>
                <a:latin typeface="黑体" panose="02010609060101010101" pitchFamily="49" charset="-122"/>
                <a:ea typeface="黑体" panose="02010609060101010101" pitchFamily="49" charset="-122"/>
                <a:cs typeface="+mj-cs"/>
                <a:sym typeface="Microsoft Yahei" panose="020B0503020204020204" pitchFamily="34" charset="-122"/>
              </a:rPr>
              <a:t>B</a:t>
            </a:r>
            <a:r>
              <a:rPr lang="zh-CN" altLang="en-US" sz="2600" dirty="0">
                <a:solidFill>
                  <a:srgbClr val="000000"/>
                </a:solidFill>
                <a:latin typeface="黑体" panose="02010609060101010101" pitchFamily="49" charset="-122"/>
                <a:ea typeface="黑体" panose="02010609060101010101" pitchFamily="49" charset="-122"/>
                <a:cs typeface="+mj-cs"/>
                <a:sym typeface="Microsoft Yahei" panose="020B0503020204020204" pitchFamily="34" charset="-122"/>
              </a:rPr>
              <a:t>两个因素都要考虑</a:t>
            </a:r>
          </a:p>
        </p:txBody>
      </p:sp>
      <p:sp>
        <p:nvSpPr>
          <p:cNvPr id="44038" name="椭圆 9"/>
          <p:cNvSpPr>
            <a:spLocks noChangeAspect="1"/>
          </p:cNvSpPr>
          <p:nvPr>
            <p:custDataLst>
              <p:tags r:id="rId6"/>
            </p:custDataLst>
          </p:nvPr>
        </p:nvSpPr>
        <p:spPr bwMode="auto">
          <a:xfrm>
            <a:off x="2638425" y="2849563"/>
            <a:ext cx="514350" cy="514350"/>
          </a:xfrm>
          <a:prstGeom prst="ellipse">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A</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44039" name="椭圆 10"/>
          <p:cNvSpPr>
            <a:spLocks noChangeAspect="1"/>
          </p:cNvSpPr>
          <p:nvPr>
            <p:custDataLst>
              <p:tags r:id="rId7"/>
            </p:custDataLst>
          </p:nvPr>
        </p:nvSpPr>
        <p:spPr bwMode="auto">
          <a:xfrm>
            <a:off x="2638425" y="3706813"/>
            <a:ext cx="514350" cy="514350"/>
          </a:xfrm>
          <a:prstGeom prst="ellipse">
            <a:avLst/>
          </a:prstGeom>
          <a:solidFill>
            <a:srgbClr val="808080"/>
          </a:solidFill>
          <a:ln w="127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B</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44040" name="椭圆 11"/>
          <p:cNvSpPr>
            <a:spLocks noChangeAspect="1"/>
          </p:cNvSpPr>
          <p:nvPr>
            <p:custDataLst>
              <p:tags r:id="rId8"/>
            </p:custDataLst>
          </p:nvPr>
        </p:nvSpPr>
        <p:spPr bwMode="auto">
          <a:xfrm>
            <a:off x="2638425" y="4564063"/>
            <a:ext cx="514350" cy="514350"/>
          </a:xfrm>
          <a:prstGeom prst="ellipse">
            <a:avLst/>
          </a:prstGeom>
          <a:solidFill>
            <a:srgbClr val="00FF00"/>
          </a:solidFill>
          <a:ln w="25400">
            <a:solidFill>
              <a:srgbClr val="000000"/>
            </a:solidFill>
            <a:miter lim="800000"/>
            <a:headEnd/>
            <a:tailEnd/>
          </a:ln>
        </p:spPr>
        <p:txBody>
          <a:bodyPr anchor="ctr" anchorCtr="1"/>
          <a:lstStyle/>
          <a:p>
            <a:pPr algn="ctr"/>
            <a:r>
              <a:rPr lang="en-US" altLang="zh-CN" sz="1600">
                <a:solidFill>
                  <a:srgbClr val="FFFFFF"/>
                </a:solidFill>
                <a:latin typeface="Microsoft Yahei" pitchFamily="34" charset="-122"/>
                <a:ea typeface="Microsoft Yahei" pitchFamily="34" charset="-122"/>
                <a:sym typeface="Microsoft Yahei" pitchFamily="34" charset="-122"/>
              </a:rPr>
              <a:t>C</a:t>
            </a:r>
            <a:endParaRPr lang="zh-CN" altLang="en-US" sz="1600">
              <a:solidFill>
                <a:srgbClr val="FFFFFF"/>
              </a:solidFill>
              <a:latin typeface="Microsoft Yahei" pitchFamily="34" charset="-122"/>
              <a:ea typeface="Microsoft Yahei" pitchFamily="34" charset="-122"/>
              <a:sym typeface="Microsoft Yahei" pitchFamily="34" charset="-122"/>
            </a:endParaRPr>
          </a:p>
        </p:txBody>
      </p:sp>
      <p:sp>
        <p:nvSpPr>
          <p:cNvPr id="44041" name="圆角矩形 13"/>
          <p:cNvSpPr>
            <a:spLocks noChangeArrowheads="1"/>
          </p:cNvSpPr>
          <p:nvPr>
            <p:custDataLst>
              <p:tags r:id="rId9"/>
            </p:custDataLst>
          </p:nvPr>
        </p:nvSpPr>
        <p:spPr bwMode="auto">
          <a:xfrm>
            <a:off x="7696200" y="6215063"/>
            <a:ext cx="1543050" cy="411162"/>
          </a:xfrm>
          <a:prstGeom prst="roundRect">
            <a:avLst>
              <a:gd name="adj" fmla="val 16667"/>
            </a:avLst>
          </a:prstGeom>
          <a:solidFill>
            <a:srgbClr val="808080"/>
          </a:solidFill>
          <a:ln w="38100">
            <a:solidFill>
              <a:srgbClr val="000000"/>
            </a:solidFill>
            <a:miter lim="800000"/>
            <a:headEnd/>
            <a:tailEnd/>
          </a:ln>
        </p:spPr>
        <p:txBody>
          <a:bodyPr anchor="ctr" anchorCtr="1"/>
          <a:lstStyle/>
          <a:p>
            <a:pPr algn="ctr"/>
            <a:r>
              <a:rPr lang="zh-CN" altLang="en-US" sz="1600">
                <a:solidFill>
                  <a:srgbClr val="FFFFFF"/>
                </a:solidFill>
                <a:latin typeface="Microsoft Yahei" pitchFamily="34" charset="-122"/>
                <a:ea typeface="Microsoft Yahei" pitchFamily="34" charset="-122"/>
                <a:sym typeface="Microsoft Yahei" pitchFamily="34" charset="-122"/>
              </a:rPr>
              <a:t>提交</a:t>
            </a:r>
          </a:p>
        </p:txBody>
      </p:sp>
      <p:grpSp>
        <p:nvGrpSpPr>
          <p:cNvPr id="44042" name="组合 18"/>
          <p:cNvGrpSpPr>
            <a:grpSpLocks/>
          </p:cNvGrpSpPr>
          <p:nvPr>
            <p:custDataLst>
              <p:tags r:id="rId10"/>
            </p:custDataLst>
          </p:nvPr>
        </p:nvGrpSpPr>
        <p:grpSpPr bwMode="auto">
          <a:xfrm>
            <a:off x="0" y="0"/>
            <a:ext cx="9144000" cy="635000"/>
            <a:chOff x="-1524000" y="0"/>
            <a:chExt cx="9144000" cy="635000"/>
          </a:xfrm>
        </p:grpSpPr>
        <p:sp>
          <p:nvSpPr>
            <p:cNvPr id="44045" name="TitleBackground"/>
            <p:cNvSpPr>
              <a:spLocks noChangeArrowheads="1"/>
            </p:cNvSpPr>
            <p:nvPr>
              <p:custDataLst>
                <p:tags r:id="rId12"/>
              </p:custDataLst>
            </p:nvPr>
          </p:nvSpPr>
          <p:spPr bwMode="auto">
            <a:xfrm>
              <a:off x="-1524000" y="0"/>
              <a:ext cx="9144000" cy="635000"/>
            </a:xfrm>
            <a:prstGeom prst="rect">
              <a:avLst/>
            </a:prstGeom>
            <a:solidFill>
              <a:srgbClr val="F6F7F8"/>
            </a:solidFill>
            <a:ln w="9525">
              <a:noFill/>
              <a:miter lim="800000"/>
              <a:headEnd/>
              <a:tailEnd/>
            </a:ln>
          </p:spPr>
          <p:txBody>
            <a:bodyPr anchor="ctr"/>
            <a:lstStyle/>
            <a:p>
              <a:pPr algn="ctr"/>
              <a:endParaRPr lang="zh-CN" altLang="en-US" sz="3600">
                <a:solidFill>
                  <a:schemeClr val="tx2"/>
                </a:solidFill>
                <a:latin typeface="宋体" pitchFamily="2" charset="-122"/>
              </a:endParaRPr>
            </a:p>
          </p:txBody>
        </p:sp>
        <p:sp>
          <p:nvSpPr>
            <p:cNvPr id="44046" name="ColorBlock"/>
            <p:cNvSpPr>
              <a:spLocks noChangeArrowheads="1"/>
            </p:cNvSpPr>
            <p:nvPr>
              <p:custDataLst>
                <p:tags r:id="rId13"/>
              </p:custDataLst>
            </p:nvPr>
          </p:nvSpPr>
          <p:spPr bwMode="auto">
            <a:xfrm>
              <a:off x="-1524000" y="0"/>
              <a:ext cx="190500" cy="635000"/>
            </a:xfrm>
            <a:prstGeom prst="rect">
              <a:avLst/>
            </a:prstGeom>
            <a:solidFill>
              <a:srgbClr val="639EF4"/>
            </a:solidFill>
            <a:ln w="9525">
              <a:noFill/>
              <a:miter lim="800000"/>
              <a:headEnd/>
              <a:tailEnd/>
            </a:ln>
          </p:spPr>
          <p:txBody>
            <a:bodyPr anchor="ctr"/>
            <a:lstStyle/>
            <a:p>
              <a:pPr algn="ctr"/>
              <a:endParaRPr lang="zh-CN" altLang="en-US" sz="3600">
                <a:solidFill>
                  <a:schemeClr val="tx2"/>
                </a:solidFill>
                <a:latin typeface="宋体" pitchFamily="2" charset="-122"/>
              </a:endParaRPr>
            </a:p>
          </p:txBody>
        </p:sp>
        <p:sp>
          <p:nvSpPr>
            <p:cNvPr id="17" name="TypeText"/>
            <p:cNvSpPr txBox="1"/>
            <p:nvPr>
              <p:custDataLst>
                <p:tags r:id="rId14"/>
              </p:custDataLst>
            </p:nvPr>
          </p:nvSpPr>
          <p:spPr>
            <a:xfrm>
              <a:off x="-1270000" y="0"/>
              <a:ext cx="1905000" cy="635000"/>
            </a:xfrm>
            <a:prstGeom prst="rect">
              <a:avLst/>
            </a:prstGeom>
          </p:spPr>
          <p:txBody>
            <a:bodyPr wrap="none" anchor="ctr"/>
            <a:lstStyle/>
            <a:p>
              <a:pPr fontAlgn="auto">
                <a:spcAft>
                  <a:spcPts val="0"/>
                </a:spcAft>
                <a:defRPr/>
              </a:pPr>
              <a:r>
                <a:rPr lang="zh-CN" altLang="en-US" sz="2600" b="1">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单选题</a:t>
              </a:r>
              <a:endParaRPr lang="zh-CN" altLang="en-US" sz="2600" b="1" dirty="0">
                <a:solidFill>
                  <a:srgbClr val="00000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sp>
          <p:nvSpPr>
            <p:cNvPr id="18" name="TipText"/>
            <p:cNvSpPr txBox="1"/>
            <p:nvPr>
              <p:custDataLst>
                <p:tags r:id="rId15"/>
              </p:custDataLst>
            </p:nvPr>
          </p:nvSpPr>
          <p:spPr>
            <a:xfrm>
              <a:off x="1905" y="109220"/>
              <a:ext cx="2286000" cy="508000"/>
            </a:xfrm>
            <a:prstGeom prst="rect">
              <a:avLst/>
            </a:prstGeom>
          </p:spPr>
          <p:txBody>
            <a:bodyPr wrap="none" anchor="ctr"/>
            <a:lstStyle/>
            <a:p>
              <a:pPr fontAlgn="auto">
                <a:spcAft>
                  <a:spcPts val="0"/>
                </a:spcAft>
                <a:defRPr/>
              </a:pPr>
              <a:r>
                <a:rPr lang="en-US" altLang="zh-CN" sz="2000" b="1">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1</a:t>
              </a:r>
              <a:r>
                <a:rPr lang="zh-CN" altLang="en-US" sz="2000" b="1">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rPr>
                <a:t>分</a:t>
              </a:r>
              <a:endParaRPr lang="zh-CN" altLang="en-US" sz="2000" b="1" dirty="0">
                <a:solidFill>
                  <a:srgbClr val="808080"/>
                </a:solidFill>
                <a:latin typeface="Microsoft Yahei" panose="020B0503020204020204" pitchFamily="34" charset="-122"/>
                <a:ea typeface="Microsoft Yahei" panose="020B0503020204020204" pitchFamily="34" charset="-122"/>
                <a:cs typeface="+mj-cs"/>
                <a:sym typeface="Microsoft Yahei" panose="020B0503020204020204" pitchFamily="34" charset="-122"/>
              </a:endParaRPr>
            </a:p>
          </p:txBody>
        </p:sp>
      </p:grpSp>
      <p:pic>
        <p:nvPicPr>
          <p:cNvPr id="44043" name="图片 3"/>
          <p:cNvPicPr>
            <a:picLocks/>
          </p:cNvPicPr>
          <p:nvPr>
            <p:custDataLst>
              <p:tags r:id="rId11"/>
            </p:custDataLst>
          </p:nvPr>
        </p:nvPicPr>
        <p:blipFill>
          <a:blip r:embed="rId17"/>
          <a:srcRect/>
          <a:stretch>
            <a:fillRect/>
          </a:stretch>
        </p:blipFill>
        <p:spPr bwMode="auto">
          <a:xfrm>
            <a:off x="10642600" y="63500"/>
            <a:ext cx="1422400" cy="508000"/>
          </a:xfrm>
          <a:prstGeom prst="rect">
            <a:avLst/>
          </a:prstGeom>
          <a:noFill/>
          <a:ln w="9525">
            <a:noFill/>
            <a:miter lim="800000"/>
            <a:headEnd/>
            <a:tailEnd/>
          </a:ln>
        </p:spPr>
      </p:pic>
    </p:spTree>
    <p:custDataLst>
      <p:tags r:id="rId1"/>
    </p:custData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BDDAC190-C5C4-4EB2-8F71-A2B56F1AF4DF}"/>
              </a:ext>
            </a:extLst>
          </p:cNvPr>
          <p:cNvPicPr>
            <a:picLocks noChangeAspect="1"/>
          </p:cNvPicPr>
          <p:nvPr/>
        </p:nvPicPr>
        <p:blipFill>
          <a:blip r:embed="rId3">
            <a:clrChange>
              <a:clrFrom>
                <a:srgbClr val="FFFFFF"/>
              </a:clrFrom>
              <a:clrTo>
                <a:srgbClr val="FFFFFF">
                  <a:alpha val="0"/>
                </a:srgbClr>
              </a:clrTo>
            </a:clrChange>
          </a:blip>
          <a:stretch>
            <a:fillRect/>
          </a:stretch>
        </p:blipFill>
        <p:spPr>
          <a:xfrm rot="254476">
            <a:off x="5231904" y="3933056"/>
            <a:ext cx="2333333" cy="1752381"/>
          </a:xfrm>
          <a:prstGeom prst="rect">
            <a:avLst/>
          </a:prstGeom>
        </p:spPr>
      </p:pic>
      <p:sp>
        <p:nvSpPr>
          <p:cNvPr id="45059" name="标题 3"/>
          <p:cNvSpPr>
            <a:spLocks noGrp="1"/>
          </p:cNvSpPr>
          <p:nvPr>
            <p:ph type="title"/>
          </p:nvPr>
        </p:nvSpPr>
        <p:spPr>
          <a:xfrm>
            <a:off x="2880519" y="282077"/>
            <a:ext cx="6430962" cy="715581"/>
          </a:xfrm>
        </p:spPr>
        <p:txBody>
          <a:bodyPr anchor="t">
            <a:spAutoFit/>
          </a:bodyPr>
          <a:lstStyle/>
          <a:p>
            <a:pPr algn="l">
              <a:lnSpc>
                <a:spcPct val="150000"/>
              </a:lnSpc>
            </a:pPr>
            <a:r>
              <a:rPr lang="zh-CN" altLang="en-US" sz="3200" dirty="0">
                <a:latin typeface="黑体" pitchFamily="49" charset="-122"/>
                <a:ea typeface="黑体" pitchFamily="49" charset="-122"/>
              </a:rPr>
              <a:t>按切割顺序画组合体三面投影</a:t>
            </a:r>
          </a:p>
        </p:txBody>
      </p:sp>
      <p:sp>
        <p:nvSpPr>
          <p:cNvPr id="3" name="矩形 2"/>
          <p:cNvSpPr/>
          <p:nvPr/>
        </p:nvSpPr>
        <p:spPr>
          <a:xfrm>
            <a:off x="7175500" y="1697871"/>
            <a:ext cx="3276600" cy="83185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spAutoFit/>
          </a:bodyPr>
          <a:lstStyle/>
          <a:p>
            <a:pPr eaLnBrk="1" hangingPunct="1">
              <a:defRPr/>
            </a:pPr>
            <a:r>
              <a:rPr lang="zh-CN" altLang="en-US" sz="2400" dirty="0">
                <a:latin typeface="+mn-ea"/>
              </a:rPr>
              <a:t>可以看成是一个棱柱和半圆柱和方柱切割而成</a:t>
            </a:r>
          </a:p>
        </p:txBody>
      </p:sp>
      <p:sp>
        <p:nvSpPr>
          <p:cNvPr id="4" name="矩形 3"/>
          <p:cNvSpPr/>
          <p:nvPr/>
        </p:nvSpPr>
        <p:spPr>
          <a:xfrm>
            <a:off x="7176120" y="2451523"/>
            <a:ext cx="3263602" cy="1200329"/>
          </a:xfrm>
          <a:prstGeom prst="rect">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p:spPr>
        <p:txBody>
          <a:bodyPr>
            <a:spAutoFit/>
          </a:bodyPr>
          <a:lstStyle/>
          <a:p>
            <a:pPr eaLnBrk="1" hangingPunct="1">
              <a:defRPr/>
            </a:pPr>
            <a:r>
              <a:rPr lang="en-US" altLang="zh-CN" sz="2400" dirty="0">
                <a:latin typeface="+mn-ea"/>
                <a:ea typeface="+mn-ea"/>
              </a:rPr>
              <a:t>1.</a:t>
            </a:r>
            <a:r>
              <a:rPr lang="zh-CN" altLang="en-US" sz="2400" dirty="0">
                <a:latin typeface="+mn-ea"/>
                <a:ea typeface="+mn-ea"/>
              </a:rPr>
              <a:t>先在左右对 称的方向上用侧平面切去形体</a:t>
            </a:r>
            <a:r>
              <a:rPr lang="en-US" altLang="zh-CN" sz="2400" dirty="0">
                <a:latin typeface="+mn-ea"/>
                <a:ea typeface="+mn-ea"/>
              </a:rPr>
              <a:t>Ⅰ</a:t>
            </a:r>
          </a:p>
        </p:txBody>
      </p:sp>
      <p:sp>
        <p:nvSpPr>
          <p:cNvPr id="2" name="矩形 1"/>
          <p:cNvSpPr/>
          <p:nvPr/>
        </p:nvSpPr>
        <p:spPr>
          <a:xfrm>
            <a:off x="7175500" y="3287713"/>
            <a:ext cx="3263900" cy="83185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spAutoFit/>
          </a:bodyPr>
          <a:lstStyle/>
          <a:p>
            <a:pPr eaLnBrk="1" hangingPunct="1">
              <a:defRPr/>
            </a:pPr>
            <a:r>
              <a:rPr lang="en-US" altLang="zh-CN" sz="2400" dirty="0">
                <a:latin typeface="+mn-ea"/>
                <a:ea typeface="+mn-ea"/>
              </a:rPr>
              <a:t>2.</a:t>
            </a:r>
            <a:r>
              <a:rPr lang="zh-CN" altLang="en-US" sz="2400" dirty="0">
                <a:latin typeface="+mn-ea"/>
                <a:ea typeface="+mn-ea"/>
              </a:rPr>
              <a:t>从左右两侧平面对称切去形体</a:t>
            </a:r>
            <a:r>
              <a:rPr lang="en-US" altLang="zh-CN" sz="2400" dirty="0">
                <a:latin typeface="+mn-ea"/>
                <a:ea typeface="+mn-ea"/>
              </a:rPr>
              <a:t>Ⅱ</a:t>
            </a:r>
          </a:p>
        </p:txBody>
      </p:sp>
      <p:sp>
        <p:nvSpPr>
          <p:cNvPr id="5" name="矩形 4"/>
          <p:cNvSpPr/>
          <p:nvPr/>
        </p:nvSpPr>
        <p:spPr>
          <a:xfrm>
            <a:off x="7175500" y="4130675"/>
            <a:ext cx="3263900" cy="157003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spAutoFit/>
          </a:bodyPr>
          <a:lstStyle/>
          <a:p>
            <a:pPr eaLnBrk="1" hangingPunct="1">
              <a:defRPr/>
            </a:pPr>
            <a:r>
              <a:rPr lang="en-US" altLang="zh-CN" sz="2400" dirty="0">
                <a:latin typeface="+mn-ea"/>
                <a:ea typeface="+mn-ea"/>
              </a:rPr>
              <a:t>3.</a:t>
            </a:r>
            <a:r>
              <a:rPr lang="zh-CN" altLang="en-US" sz="2400" dirty="0">
                <a:latin typeface="+mn-ea"/>
                <a:ea typeface="+mn-ea"/>
              </a:rPr>
              <a:t>顶端和前面各挖去圆柱</a:t>
            </a:r>
            <a:r>
              <a:rPr lang="en-US" altLang="zh-CN" sz="2400" dirty="0">
                <a:latin typeface="+mn-ea"/>
                <a:ea typeface="+mn-ea"/>
              </a:rPr>
              <a:t>Ⅲ</a:t>
            </a:r>
            <a:r>
              <a:rPr lang="zh-CN" altLang="en-US" sz="2400" dirty="0">
                <a:latin typeface="+mn-ea"/>
                <a:ea typeface="+mn-ea"/>
              </a:rPr>
              <a:t>、</a:t>
            </a:r>
            <a:r>
              <a:rPr lang="en-US" altLang="zh-CN" sz="2400" dirty="0">
                <a:latin typeface="+mn-ea"/>
                <a:ea typeface="+mn-ea"/>
              </a:rPr>
              <a:t>Ⅳ</a:t>
            </a:r>
            <a:r>
              <a:rPr lang="zh-CN" altLang="en-US" sz="2400" dirty="0">
                <a:latin typeface="+mn-ea"/>
                <a:ea typeface="+mn-ea"/>
              </a:rPr>
              <a:t>形成了两个圆柱孔且等径，其轴 线垂直相交</a:t>
            </a:r>
          </a:p>
        </p:txBody>
      </p:sp>
      <p:pic>
        <p:nvPicPr>
          <p:cNvPr id="15" name="图片 14">
            <a:extLst>
              <a:ext uri="{FF2B5EF4-FFF2-40B4-BE49-F238E27FC236}">
                <a16:creationId xmlns:a16="http://schemas.microsoft.com/office/drawing/2014/main" id="{00630FBD-C6E6-43C9-8BE0-B21BE7F31C3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642460" y="2052638"/>
            <a:ext cx="2542857" cy="2980952"/>
          </a:xfrm>
          <a:prstGeom prst="rect">
            <a:avLst/>
          </a:prstGeom>
        </p:spPr>
      </p:pic>
      <p:pic>
        <p:nvPicPr>
          <p:cNvPr id="14" name="图片 13">
            <a:extLst>
              <a:ext uri="{FF2B5EF4-FFF2-40B4-BE49-F238E27FC236}">
                <a16:creationId xmlns:a16="http://schemas.microsoft.com/office/drawing/2014/main" id="{3C29BC03-2C81-415D-A996-C8DB28DAD796}"/>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506530" y="2106640"/>
            <a:ext cx="2885714" cy="3066667"/>
          </a:xfrm>
          <a:prstGeom prst="rect">
            <a:avLst/>
          </a:prstGeom>
        </p:spPr>
      </p:pic>
      <p:pic>
        <p:nvPicPr>
          <p:cNvPr id="17" name="图片 16">
            <a:extLst>
              <a:ext uri="{FF2B5EF4-FFF2-40B4-BE49-F238E27FC236}">
                <a16:creationId xmlns:a16="http://schemas.microsoft.com/office/drawing/2014/main" id="{CEB0E493-2236-4DF8-B81A-7F79005E53CD}"/>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3671594" y="2242328"/>
            <a:ext cx="1561905" cy="2285714"/>
          </a:xfrm>
          <a:prstGeom prst="rect">
            <a:avLst/>
          </a:prstGeom>
        </p:spPr>
      </p:pic>
      <p:pic>
        <p:nvPicPr>
          <p:cNvPr id="16" name="图片 15">
            <a:extLst>
              <a:ext uri="{FF2B5EF4-FFF2-40B4-BE49-F238E27FC236}">
                <a16:creationId xmlns:a16="http://schemas.microsoft.com/office/drawing/2014/main" id="{9355E608-EAC7-4458-BFEF-8F3C36B21B92}"/>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2747393" y="2113796"/>
            <a:ext cx="2400000" cy="2961905"/>
          </a:xfrm>
          <a:prstGeom prst="rect">
            <a:avLst/>
          </a:prstGeom>
        </p:spPr>
      </p:pic>
      <p:pic>
        <p:nvPicPr>
          <p:cNvPr id="18" name="图片 17">
            <a:extLst>
              <a:ext uri="{FF2B5EF4-FFF2-40B4-BE49-F238E27FC236}">
                <a16:creationId xmlns:a16="http://schemas.microsoft.com/office/drawing/2014/main" id="{906C2172-D5A8-4EE4-AB2A-D9420B9B038A}"/>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2662120" y="2718356"/>
            <a:ext cx="1600000" cy="2352381"/>
          </a:xfrm>
          <a:prstGeom prst="rect">
            <a:avLst/>
          </a:prstGeom>
        </p:spPr>
      </p:pic>
      <p:pic>
        <p:nvPicPr>
          <p:cNvPr id="19" name="图片 18">
            <a:extLst>
              <a:ext uri="{FF2B5EF4-FFF2-40B4-BE49-F238E27FC236}">
                <a16:creationId xmlns:a16="http://schemas.microsoft.com/office/drawing/2014/main" id="{846B7828-D465-46E3-82ED-4F1832B85046}"/>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2680716" y="2026282"/>
            <a:ext cx="2504762" cy="2942857"/>
          </a:xfrm>
          <a:prstGeom prst="rect">
            <a:avLst/>
          </a:prstGeom>
        </p:spPr>
      </p:pic>
      <p:pic>
        <p:nvPicPr>
          <p:cNvPr id="21" name="图片 20">
            <a:extLst>
              <a:ext uri="{FF2B5EF4-FFF2-40B4-BE49-F238E27FC236}">
                <a16:creationId xmlns:a16="http://schemas.microsoft.com/office/drawing/2014/main" id="{8139AF8A-04B5-4461-87FA-898E06F48B64}"/>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3424346" y="65785"/>
            <a:ext cx="980952" cy="2847619"/>
          </a:xfrm>
          <a:prstGeom prst="rect">
            <a:avLst/>
          </a:prstGeom>
        </p:spPr>
      </p:pic>
      <p:pic>
        <p:nvPicPr>
          <p:cNvPr id="22" name="图片 21">
            <a:extLst>
              <a:ext uri="{FF2B5EF4-FFF2-40B4-BE49-F238E27FC236}">
                <a16:creationId xmlns:a16="http://schemas.microsoft.com/office/drawing/2014/main" id="{2D989121-65EC-4819-AA28-AF4395DF3E16}"/>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2668338" y="2045330"/>
            <a:ext cx="2447619" cy="2923809"/>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par>
                                <p:cTn id="18" presetID="1" presetClass="exit" presetSubtype="0" fill="hold" nodeType="withEffect">
                                  <p:stCondLst>
                                    <p:cond delay="0"/>
                                  </p:stCondLst>
                                  <p:childTnLst>
                                    <p:set>
                                      <p:cBhvr>
                                        <p:cTn id="19" dur="1" fill="hold">
                                          <p:stCondLst>
                                            <p:cond delay="0"/>
                                          </p:stCondLst>
                                        </p:cTn>
                                        <p:tgtEl>
                                          <p:spTgt spid="14"/>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15"/>
                                        </p:tgtEl>
                                        <p:attrNameLst>
                                          <p:attrName>style.visibility</p:attrName>
                                        </p:attrNameLst>
                                      </p:cBhvr>
                                      <p:to>
                                        <p:strVal val="hidden"/>
                                      </p:to>
                                    </p:set>
                                  </p:childTnLst>
                                </p:cTn>
                              </p:par>
                            </p:childTnLst>
                          </p:cTn>
                        </p:par>
                        <p:par>
                          <p:cTn id="22" fill="hold">
                            <p:stCondLst>
                              <p:cond delay="500"/>
                            </p:stCondLst>
                            <p:childTnLst>
                              <p:par>
                                <p:cTn id="23" presetID="1" presetClass="entr" presetSubtype="0"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6" presetClass="path" presetSubtype="0" accel="50000" decel="50000" fill="hold" nodeType="clickEffect">
                                  <p:stCondLst>
                                    <p:cond delay="0"/>
                                  </p:stCondLst>
                                  <p:childTnLst>
                                    <p:animMotion origin="layout" path="M -4.375E-6 -4.07407E-6 L -0.10885 0.16621 " pathEditMode="relative" rAng="0" ptsTypes="AA">
                                      <p:cBhvr>
                                        <p:cTn id="32" dur="2000" fill="hold"/>
                                        <p:tgtEl>
                                          <p:spTgt spid="18"/>
                                        </p:tgtEl>
                                        <p:attrNameLst>
                                          <p:attrName>ppt_x</p:attrName>
                                          <p:attrName>ppt_y</p:attrName>
                                        </p:attrNameLst>
                                      </p:cBhvr>
                                      <p:rCtr x="-5443" y="8310"/>
                                    </p:animMotion>
                                  </p:childTnLst>
                                </p:cTn>
                              </p:par>
                            </p:childTnLst>
                          </p:cTn>
                        </p:par>
                      </p:childTnLst>
                    </p:cTn>
                  </p:par>
                  <p:par>
                    <p:cTn id="33" fill="hold">
                      <p:stCondLst>
                        <p:cond delay="indefinite"/>
                      </p:stCondLst>
                      <p:childTnLst>
                        <p:par>
                          <p:cTn id="34" fill="hold">
                            <p:stCondLst>
                              <p:cond delay="0"/>
                            </p:stCondLst>
                            <p:childTnLst>
                              <p:par>
                                <p:cTn id="35" presetID="56" presetClass="path" presetSubtype="0" accel="50000" decel="50000" fill="hold" nodeType="clickEffect">
                                  <p:stCondLst>
                                    <p:cond delay="0"/>
                                  </p:stCondLst>
                                  <p:childTnLst>
                                    <p:animMotion origin="layout" path="M -4.375E-6 1.48148E-6 L 0.11706 -0.1213 " pathEditMode="relative" rAng="0" ptsTypes="AA">
                                      <p:cBhvr>
                                        <p:cTn id="36" dur="2000" fill="hold"/>
                                        <p:tgtEl>
                                          <p:spTgt spid="17"/>
                                        </p:tgtEl>
                                        <p:attrNameLst>
                                          <p:attrName>ppt_x</p:attrName>
                                          <p:attrName>ppt_y</p:attrName>
                                        </p:attrNameLst>
                                      </p:cBhvr>
                                      <p:rCtr x="5846" y="-6065"/>
                                    </p:animMotion>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250" fill="hold"/>
                                        <p:tgtEl>
                                          <p:spTgt spid="2"/>
                                        </p:tgtEl>
                                        <p:attrNameLst>
                                          <p:attrName>ppt_x</p:attrName>
                                        </p:attrNameLst>
                                      </p:cBhvr>
                                      <p:tavLst>
                                        <p:tav tm="0">
                                          <p:val>
                                            <p:strVal val="#ppt_x"/>
                                          </p:val>
                                        </p:tav>
                                        <p:tav tm="100000">
                                          <p:val>
                                            <p:strVal val="#ppt_x"/>
                                          </p:val>
                                        </p:tav>
                                      </p:tavLst>
                                    </p:anim>
                                    <p:anim calcmode="lin" valueType="num">
                                      <p:cBhvr additive="base">
                                        <p:cTn id="42" dur="25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18"/>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7"/>
                                        </p:tgtEl>
                                        <p:attrNameLst>
                                          <p:attrName>style.visibility</p:attrName>
                                        </p:attrNameLst>
                                      </p:cBhvr>
                                      <p:to>
                                        <p:strVal val="hidden"/>
                                      </p:to>
                                    </p:set>
                                  </p:childTnLst>
                                </p:cTn>
                              </p:par>
                            </p:childTnLst>
                          </p:cTn>
                        </p:par>
                        <p:par>
                          <p:cTn id="51" fill="hold">
                            <p:stCondLst>
                              <p:cond delay="0"/>
                            </p:stCondLst>
                            <p:childTnLst>
                              <p:par>
                                <p:cTn id="52" presetID="1" presetClass="exit" presetSubtype="0" fill="hold" nodeType="afterEffect">
                                  <p:stCondLst>
                                    <p:cond delay="0"/>
                                  </p:stCondLst>
                                  <p:childTnLst>
                                    <p:set>
                                      <p:cBhvr>
                                        <p:cTn id="53" dur="1" fill="hold">
                                          <p:stCondLst>
                                            <p:cond delay="0"/>
                                          </p:stCondLst>
                                        </p:cTn>
                                        <p:tgtEl>
                                          <p:spTgt spid="16"/>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5"/>
                                        </p:tgtEl>
                                        <p:attrNameLst>
                                          <p:attrName>style.visibility</p:attrName>
                                        </p:attrNameLst>
                                      </p:cBhvr>
                                      <p:to>
                                        <p:strVal val="visible"/>
                                      </p:to>
                                    </p:set>
                                    <p:anim calcmode="lin" valueType="num">
                                      <p:cBhvr additive="base">
                                        <p:cTn id="58" dur="500" fill="hold"/>
                                        <p:tgtEl>
                                          <p:spTgt spid="5"/>
                                        </p:tgtEl>
                                        <p:attrNameLst>
                                          <p:attrName>ppt_x</p:attrName>
                                        </p:attrNameLst>
                                      </p:cBhvr>
                                      <p:tavLst>
                                        <p:tav tm="0">
                                          <p:val>
                                            <p:strVal val="#ppt_x"/>
                                          </p:val>
                                        </p:tav>
                                        <p:tav tm="100000">
                                          <p:val>
                                            <p:strVal val="#ppt_x"/>
                                          </p:val>
                                        </p:tav>
                                      </p:tavLst>
                                    </p:anim>
                                    <p:anim calcmode="lin" valueType="num">
                                      <p:cBhvr additive="base">
                                        <p:cTn id="5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1" fill="hold" nodeType="clickEffect">
                                  <p:stCondLst>
                                    <p:cond delay="0"/>
                                  </p:stCondLst>
                                  <p:childTnLst>
                                    <p:set>
                                      <p:cBhvr>
                                        <p:cTn id="63" dur="1" fill="hold">
                                          <p:stCondLst>
                                            <p:cond delay="0"/>
                                          </p:stCondLst>
                                        </p:cTn>
                                        <p:tgtEl>
                                          <p:spTgt spid="21"/>
                                        </p:tgtEl>
                                        <p:attrNameLst>
                                          <p:attrName>style.visibility</p:attrName>
                                        </p:attrNameLst>
                                      </p:cBhvr>
                                      <p:to>
                                        <p:strVal val="visible"/>
                                      </p:to>
                                    </p:set>
                                    <p:anim calcmode="lin" valueType="num">
                                      <p:cBhvr additive="base">
                                        <p:cTn id="64" dur="500" fill="hold"/>
                                        <p:tgtEl>
                                          <p:spTgt spid="21"/>
                                        </p:tgtEl>
                                        <p:attrNameLst>
                                          <p:attrName>ppt_x</p:attrName>
                                        </p:attrNameLst>
                                      </p:cBhvr>
                                      <p:tavLst>
                                        <p:tav tm="0">
                                          <p:val>
                                            <p:strVal val="#ppt_x"/>
                                          </p:val>
                                        </p:tav>
                                        <p:tav tm="100000">
                                          <p:val>
                                            <p:strVal val="#ppt_x"/>
                                          </p:val>
                                        </p:tav>
                                      </p:tavLst>
                                    </p:anim>
                                    <p:anim calcmode="lin" valueType="num">
                                      <p:cBhvr additive="base">
                                        <p:cTn id="65" dur="500" fill="hold"/>
                                        <p:tgtEl>
                                          <p:spTgt spid="21"/>
                                        </p:tgtEl>
                                        <p:attrNameLst>
                                          <p:attrName>ppt_y</p:attrName>
                                        </p:attrNameLst>
                                      </p:cBhvr>
                                      <p:tavLst>
                                        <p:tav tm="0">
                                          <p:val>
                                            <p:strVal val="0-#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xit" presetSubtype="4" fill="hold" nodeType="clickEffect">
                                  <p:stCondLst>
                                    <p:cond delay="0"/>
                                  </p:stCondLst>
                                  <p:childTnLst>
                                    <p:anim calcmode="lin" valueType="num">
                                      <p:cBhvr additive="base">
                                        <p:cTn id="69" dur="500"/>
                                        <p:tgtEl>
                                          <p:spTgt spid="21"/>
                                        </p:tgtEl>
                                        <p:attrNameLst>
                                          <p:attrName>ppt_x</p:attrName>
                                        </p:attrNameLst>
                                      </p:cBhvr>
                                      <p:tavLst>
                                        <p:tav tm="0">
                                          <p:val>
                                            <p:strVal val="ppt_x"/>
                                          </p:val>
                                        </p:tav>
                                        <p:tav tm="100000">
                                          <p:val>
                                            <p:strVal val="ppt_x"/>
                                          </p:val>
                                        </p:tav>
                                      </p:tavLst>
                                    </p:anim>
                                    <p:anim calcmode="lin" valueType="num">
                                      <p:cBhvr additive="base">
                                        <p:cTn id="70" dur="500"/>
                                        <p:tgtEl>
                                          <p:spTgt spid="21"/>
                                        </p:tgtEl>
                                        <p:attrNameLst>
                                          <p:attrName>ppt_y</p:attrName>
                                        </p:attrNameLst>
                                      </p:cBhvr>
                                      <p:tavLst>
                                        <p:tav tm="0">
                                          <p:val>
                                            <p:strVal val="ppt_y"/>
                                          </p:val>
                                        </p:tav>
                                        <p:tav tm="100000">
                                          <p:val>
                                            <p:strVal val="1+ppt_h/2"/>
                                          </p:val>
                                        </p:tav>
                                      </p:tavLst>
                                    </p:anim>
                                    <p:set>
                                      <p:cBhvr>
                                        <p:cTn id="71" dur="1" fill="hold">
                                          <p:stCondLst>
                                            <p:cond delay="499"/>
                                          </p:stCondLst>
                                        </p:cTn>
                                        <p:tgtEl>
                                          <p:spTgt spid="21"/>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wipe(down)">
                                      <p:cBhvr>
                                        <p:cTn id="76" dur="500"/>
                                        <p:tgtEl>
                                          <p:spTgt spid="20"/>
                                        </p:tgtEl>
                                      </p:cBhvr>
                                    </p:animEffect>
                                  </p:childTnLst>
                                </p:cTn>
                              </p:par>
                            </p:childTnLst>
                          </p:cTn>
                        </p:par>
                      </p:childTnLst>
                    </p:cTn>
                  </p:par>
                  <p:par>
                    <p:cTn id="77" fill="hold">
                      <p:stCondLst>
                        <p:cond delay="indefinite"/>
                      </p:stCondLst>
                      <p:childTnLst>
                        <p:par>
                          <p:cTn id="78" fill="hold">
                            <p:stCondLst>
                              <p:cond delay="0"/>
                            </p:stCondLst>
                            <p:childTnLst>
                              <p:par>
                                <p:cTn id="79" presetID="49" presetClass="path" presetSubtype="0" accel="50000" decel="50000" fill="hold" nodeType="clickEffect">
                                  <p:stCondLst>
                                    <p:cond delay="0"/>
                                  </p:stCondLst>
                                  <p:childTnLst>
                                    <p:animMotion origin="layout" path="M 2.08333E-7 2.59259E-6 L -0.40872 -0.51459 " pathEditMode="relative" rAng="0" ptsTypes="AA">
                                      <p:cBhvr>
                                        <p:cTn id="80" dur="2000" fill="hold"/>
                                        <p:tgtEl>
                                          <p:spTgt spid="20"/>
                                        </p:tgtEl>
                                        <p:attrNameLst>
                                          <p:attrName>ppt_x</p:attrName>
                                          <p:attrName>ppt_y</p:attrName>
                                        </p:attrNameLst>
                                      </p:cBhvr>
                                      <p:rCtr x="-20443" y="-25741"/>
                                    </p:animMotion>
                                  </p:childTnLst>
                                </p:cTn>
                              </p:par>
                            </p:childTnLst>
                          </p:cTn>
                        </p:par>
                        <p:par>
                          <p:cTn id="81" fill="hold">
                            <p:stCondLst>
                              <p:cond delay="2000"/>
                            </p:stCondLst>
                            <p:childTnLst>
                              <p:par>
                                <p:cTn id="82" presetID="1" presetClass="exit" presetSubtype="0" fill="hold" nodeType="afterEffect">
                                  <p:stCondLst>
                                    <p:cond delay="0"/>
                                  </p:stCondLst>
                                  <p:childTnLst>
                                    <p:set>
                                      <p:cBhvr>
                                        <p:cTn id="83" dur="1" fill="hold">
                                          <p:stCondLst>
                                            <p:cond delay="0"/>
                                          </p:stCondLst>
                                        </p:cTn>
                                        <p:tgtEl>
                                          <p:spTgt spid="20"/>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标题 3"/>
          <p:cNvSpPr>
            <a:spLocks noGrp="1"/>
          </p:cNvSpPr>
          <p:nvPr>
            <p:ph type="title"/>
          </p:nvPr>
        </p:nvSpPr>
        <p:spPr>
          <a:xfrm>
            <a:off x="2880519" y="282077"/>
            <a:ext cx="6430962" cy="715581"/>
          </a:xfrm>
        </p:spPr>
        <p:txBody>
          <a:bodyPr anchor="t">
            <a:spAutoFit/>
          </a:bodyPr>
          <a:lstStyle/>
          <a:p>
            <a:pPr algn="l">
              <a:lnSpc>
                <a:spcPct val="150000"/>
              </a:lnSpc>
            </a:pPr>
            <a:r>
              <a:rPr lang="zh-CN" altLang="en-US" sz="3200" dirty="0">
                <a:latin typeface="黑体" pitchFamily="49" charset="-122"/>
                <a:ea typeface="黑体" pitchFamily="49" charset="-122"/>
              </a:rPr>
              <a:t>按切割顺序画组合体三面投影</a:t>
            </a:r>
          </a:p>
        </p:txBody>
      </p:sp>
      <p:sp>
        <p:nvSpPr>
          <p:cNvPr id="3" name="矩形 2"/>
          <p:cNvSpPr/>
          <p:nvPr/>
        </p:nvSpPr>
        <p:spPr>
          <a:xfrm>
            <a:off x="7175500" y="1636713"/>
            <a:ext cx="3276600" cy="83185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spAutoFit/>
          </a:bodyPr>
          <a:lstStyle/>
          <a:p>
            <a:pPr eaLnBrk="1" hangingPunct="1">
              <a:defRPr/>
            </a:pPr>
            <a:r>
              <a:rPr lang="zh-CN" altLang="en-US" sz="2400" dirty="0">
                <a:latin typeface="+mn-ea"/>
              </a:rPr>
              <a:t>可以看成是一个棱柱和半圆柱和方柱切割而成</a:t>
            </a:r>
          </a:p>
        </p:txBody>
      </p:sp>
      <p:sp>
        <p:nvSpPr>
          <p:cNvPr id="4" name="矩形 3"/>
          <p:cNvSpPr/>
          <p:nvPr/>
        </p:nvSpPr>
        <p:spPr>
          <a:xfrm>
            <a:off x="7176120" y="2451523"/>
            <a:ext cx="3263602" cy="1200329"/>
          </a:xfrm>
          <a:prstGeom prst="rect">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p:spPr>
        <p:txBody>
          <a:bodyPr>
            <a:spAutoFit/>
          </a:bodyPr>
          <a:lstStyle/>
          <a:p>
            <a:pPr eaLnBrk="1" hangingPunct="1">
              <a:defRPr/>
            </a:pPr>
            <a:r>
              <a:rPr lang="en-US" altLang="zh-CN" sz="2400" dirty="0">
                <a:latin typeface="+mn-ea"/>
                <a:ea typeface="+mn-ea"/>
              </a:rPr>
              <a:t>1.</a:t>
            </a:r>
            <a:r>
              <a:rPr lang="zh-CN" altLang="en-US" sz="2400" dirty="0">
                <a:latin typeface="+mn-ea"/>
                <a:ea typeface="+mn-ea"/>
              </a:rPr>
              <a:t>先在左右对 称的方向上用侧平面切去形体</a:t>
            </a:r>
            <a:r>
              <a:rPr lang="en-US" altLang="zh-CN" sz="2400" dirty="0">
                <a:latin typeface="+mn-ea"/>
                <a:ea typeface="+mn-ea"/>
              </a:rPr>
              <a:t>Ⅰ</a:t>
            </a:r>
          </a:p>
        </p:txBody>
      </p:sp>
      <p:sp>
        <p:nvSpPr>
          <p:cNvPr id="2" name="矩形 1"/>
          <p:cNvSpPr/>
          <p:nvPr/>
        </p:nvSpPr>
        <p:spPr>
          <a:xfrm>
            <a:off x="7175500" y="3287713"/>
            <a:ext cx="3263900" cy="83185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spAutoFit/>
          </a:bodyPr>
          <a:lstStyle/>
          <a:p>
            <a:pPr eaLnBrk="1" hangingPunct="1">
              <a:defRPr/>
            </a:pPr>
            <a:r>
              <a:rPr lang="en-US" altLang="zh-CN" sz="2400" dirty="0">
                <a:latin typeface="+mn-ea"/>
                <a:ea typeface="+mn-ea"/>
              </a:rPr>
              <a:t>2.</a:t>
            </a:r>
            <a:r>
              <a:rPr lang="zh-CN" altLang="en-US" sz="2400" dirty="0">
                <a:latin typeface="+mn-ea"/>
                <a:ea typeface="+mn-ea"/>
              </a:rPr>
              <a:t>从左右两侧平面对称切去形体</a:t>
            </a:r>
            <a:r>
              <a:rPr lang="en-US" altLang="zh-CN" sz="2400" dirty="0">
                <a:latin typeface="+mn-ea"/>
                <a:ea typeface="+mn-ea"/>
              </a:rPr>
              <a:t>Ⅱ</a:t>
            </a:r>
          </a:p>
        </p:txBody>
      </p:sp>
      <p:sp>
        <p:nvSpPr>
          <p:cNvPr id="5" name="矩形 4"/>
          <p:cNvSpPr/>
          <p:nvPr/>
        </p:nvSpPr>
        <p:spPr>
          <a:xfrm>
            <a:off x="7175500" y="4130675"/>
            <a:ext cx="3263900" cy="157003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spAutoFit/>
          </a:bodyPr>
          <a:lstStyle/>
          <a:p>
            <a:pPr eaLnBrk="1" hangingPunct="1">
              <a:defRPr/>
            </a:pPr>
            <a:r>
              <a:rPr lang="en-US" altLang="zh-CN" sz="2400" dirty="0">
                <a:latin typeface="+mn-ea"/>
                <a:ea typeface="+mn-ea"/>
              </a:rPr>
              <a:t>3.</a:t>
            </a:r>
            <a:r>
              <a:rPr lang="zh-CN" altLang="en-US" sz="2400" dirty="0">
                <a:latin typeface="+mn-ea"/>
                <a:ea typeface="+mn-ea"/>
              </a:rPr>
              <a:t>顶端和前面各挖去圆柱</a:t>
            </a:r>
            <a:r>
              <a:rPr lang="en-US" altLang="zh-CN" sz="2400" dirty="0">
                <a:latin typeface="+mn-ea"/>
                <a:ea typeface="+mn-ea"/>
              </a:rPr>
              <a:t>Ⅲ</a:t>
            </a:r>
            <a:r>
              <a:rPr lang="zh-CN" altLang="en-US" sz="2400" dirty="0">
                <a:latin typeface="+mn-ea"/>
                <a:ea typeface="+mn-ea"/>
              </a:rPr>
              <a:t>、</a:t>
            </a:r>
            <a:r>
              <a:rPr lang="en-US" altLang="zh-CN" sz="2400" dirty="0">
                <a:latin typeface="+mn-ea"/>
                <a:ea typeface="+mn-ea"/>
              </a:rPr>
              <a:t>Ⅳ</a:t>
            </a:r>
            <a:r>
              <a:rPr lang="zh-CN" altLang="en-US" sz="2400" dirty="0">
                <a:latin typeface="+mn-ea"/>
                <a:ea typeface="+mn-ea"/>
              </a:rPr>
              <a:t>形成了两个圆柱孔且等径，其轴 线垂直相交</a:t>
            </a:r>
          </a:p>
        </p:txBody>
      </p:sp>
      <p:pic>
        <p:nvPicPr>
          <p:cNvPr id="12" name="图片 1"/>
          <p:cNvPicPr>
            <a:picLocks noChangeAspect="1"/>
          </p:cNvPicPr>
          <p:nvPr/>
        </p:nvPicPr>
        <p:blipFill>
          <a:blip r:embed="rId3"/>
          <a:srcRect/>
          <a:stretch>
            <a:fillRect/>
          </a:stretch>
        </p:blipFill>
        <p:spPr bwMode="auto">
          <a:xfrm>
            <a:off x="1343472" y="1320006"/>
            <a:ext cx="5100638" cy="4767263"/>
          </a:xfrm>
          <a:prstGeom prst="rect">
            <a:avLst/>
          </a:prstGeom>
          <a:noFill/>
          <a:ln w="9525">
            <a:noFill/>
            <a:miter lim="800000"/>
            <a:headEnd/>
            <a:tailEnd/>
          </a:ln>
        </p:spPr>
      </p:pic>
    </p:spTree>
    <p:extLst>
      <p:ext uri="{BB962C8B-B14F-4D97-AF65-F5344CB8AC3E}">
        <p14:creationId xmlns:p14="http://schemas.microsoft.com/office/powerpoint/2010/main" val="392709169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Rectangle 3"/>
          <p:cNvSpPr>
            <a:spLocks noGrp="1" noChangeArrowheads="1"/>
          </p:cNvSpPr>
          <p:nvPr>
            <p:ph type="subTitle" idx="1"/>
          </p:nvPr>
        </p:nvSpPr>
        <p:spPr>
          <a:xfrm>
            <a:off x="1282551" y="2106729"/>
            <a:ext cx="2991058" cy="835025"/>
          </a:xfrm>
        </p:spPr>
        <p:txBody>
          <a:bodyPr/>
          <a:lstStyle/>
          <a:p>
            <a:pPr algn="l"/>
            <a:r>
              <a:rPr lang="en-US" altLang="zh-CN" sz="2400" dirty="0">
                <a:latin typeface="黑体" pitchFamily="49" charset="-122"/>
                <a:ea typeface="黑体" pitchFamily="49" charset="-122"/>
              </a:rPr>
              <a:t>1</a:t>
            </a:r>
            <a:r>
              <a:rPr lang="zh-CN" altLang="en-US" sz="2400" dirty="0">
                <a:latin typeface="黑体" pitchFamily="49" charset="-122"/>
                <a:ea typeface="黑体" pitchFamily="49" charset="-122"/>
              </a:rPr>
              <a:t>）选比例、定图幅</a:t>
            </a:r>
          </a:p>
        </p:txBody>
      </p:sp>
      <p:sp>
        <p:nvSpPr>
          <p:cNvPr id="47107" name="矩形 9"/>
          <p:cNvSpPr>
            <a:spLocks noChangeArrowheads="1"/>
          </p:cNvSpPr>
          <p:nvPr/>
        </p:nvSpPr>
        <p:spPr bwMode="auto">
          <a:xfrm>
            <a:off x="2733675" y="93663"/>
            <a:ext cx="7512050" cy="737510"/>
          </a:xfrm>
          <a:prstGeom prst="rect">
            <a:avLst/>
          </a:prstGeom>
          <a:noFill/>
          <a:ln w="9525">
            <a:noFill/>
            <a:miter lim="800000"/>
            <a:headEnd/>
            <a:tailEnd/>
          </a:ln>
        </p:spPr>
        <p:txBody>
          <a:bodyPr>
            <a:spAutoFit/>
          </a:bodyPr>
          <a:lstStyle/>
          <a:p>
            <a:pPr eaLnBrk="1" hangingPunct="1">
              <a:lnSpc>
                <a:spcPct val="150000"/>
              </a:lnSpc>
            </a:pPr>
            <a:r>
              <a:rPr lang="zh-CN" altLang="en-US" sz="3200">
                <a:latin typeface="Times New Roman" pitchFamily="18" charset="0"/>
              </a:rPr>
              <a:t>例</a:t>
            </a:r>
            <a:r>
              <a:rPr lang="en-US" altLang="zh-CN" sz="3200">
                <a:latin typeface="Times New Roman" pitchFamily="18" charset="0"/>
              </a:rPr>
              <a:t>2</a:t>
            </a:r>
            <a:r>
              <a:rPr lang="zh-CN" altLang="en-US" sz="3200">
                <a:latin typeface="Times New Roman" pitchFamily="18" charset="0"/>
              </a:rPr>
              <a:t>：</a:t>
            </a:r>
            <a:r>
              <a:rPr lang="zh-CN" altLang="en-US" sz="3200">
                <a:latin typeface="黑体" pitchFamily="49" charset="-122"/>
                <a:ea typeface="黑体" pitchFamily="49" charset="-122"/>
              </a:rPr>
              <a:t>按切割顺序画组合体三面投影</a:t>
            </a:r>
          </a:p>
        </p:txBody>
      </p:sp>
      <p:sp>
        <p:nvSpPr>
          <p:cNvPr id="47108" name="矩形 11"/>
          <p:cNvSpPr>
            <a:spLocks noChangeArrowheads="1"/>
          </p:cNvSpPr>
          <p:nvPr/>
        </p:nvSpPr>
        <p:spPr bwMode="auto">
          <a:xfrm>
            <a:off x="1181747" y="1346318"/>
            <a:ext cx="1627187" cy="638175"/>
          </a:xfrm>
          <a:prstGeom prst="rect">
            <a:avLst/>
          </a:prstGeom>
          <a:noFill/>
          <a:ln w="9525">
            <a:noFill/>
            <a:miter lim="800000"/>
            <a:headEnd/>
            <a:tailEnd/>
          </a:ln>
        </p:spPr>
        <p:txBody>
          <a:bodyPr wrap="none">
            <a:spAutoFit/>
          </a:bodyPr>
          <a:lstStyle/>
          <a:p>
            <a:pPr eaLnBrk="1" hangingPunct="1">
              <a:lnSpc>
                <a:spcPct val="150000"/>
              </a:lnSpc>
            </a:pPr>
            <a:r>
              <a:rPr lang="zh-CN" altLang="en-US" sz="2800" dirty="0">
                <a:latin typeface="黑体" pitchFamily="49" charset="-122"/>
                <a:ea typeface="黑体" pitchFamily="49" charset="-122"/>
              </a:rPr>
              <a:t>画图步骤</a:t>
            </a:r>
          </a:p>
        </p:txBody>
      </p:sp>
      <p:pic>
        <p:nvPicPr>
          <p:cNvPr id="2" name="图片 1"/>
          <p:cNvPicPr>
            <a:picLocks noChangeAspect="1"/>
          </p:cNvPicPr>
          <p:nvPr/>
        </p:nvPicPr>
        <p:blipFill>
          <a:blip r:embed="rId3"/>
          <a:srcRect/>
          <a:stretch>
            <a:fillRect/>
          </a:stretch>
        </p:blipFill>
        <p:spPr bwMode="auto">
          <a:xfrm>
            <a:off x="4500624" y="1376364"/>
            <a:ext cx="4962525" cy="4810125"/>
          </a:xfrm>
          <a:prstGeom prst="rect">
            <a:avLst/>
          </a:prstGeom>
          <a:noFill/>
          <a:ln w="9525">
            <a:noFill/>
            <a:miter lim="800000"/>
            <a:headEnd/>
            <a:tailEnd/>
          </a:ln>
        </p:spPr>
      </p:pic>
      <p:sp>
        <p:nvSpPr>
          <p:cNvPr id="3" name="矩形 2"/>
          <p:cNvSpPr>
            <a:spLocks noChangeArrowheads="1"/>
          </p:cNvSpPr>
          <p:nvPr/>
        </p:nvSpPr>
        <p:spPr bwMode="auto">
          <a:xfrm>
            <a:off x="1285726" y="2783708"/>
            <a:ext cx="3005345" cy="1200329"/>
          </a:xfrm>
          <a:prstGeom prst="rect">
            <a:avLst/>
          </a:prstGeom>
          <a:noFill/>
          <a:ln w="9525">
            <a:noFill/>
            <a:miter lim="800000"/>
            <a:headEnd/>
            <a:tailEnd/>
          </a:ln>
        </p:spPr>
        <p:txBody>
          <a:bodyPr wrap="square">
            <a:spAutoFit/>
          </a:bodyPr>
          <a:lstStyle/>
          <a:p>
            <a:r>
              <a:rPr lang="en-US" altLang="zh-CN" sz="2400" dirty="0">
                <a:latin typeface="黑体" pitchFamily="49" charset="-122"/>
                <a:ea typeface="黑体" pitchFamily="49" charset="-122"/>
              </a:rPr>
              <a:t>2</a:t>
            </a:r>
            <a:r>
              <a:rPr lang="zh-CN" altLang="en-US" sz="2400" dirty="0">
                <a:latin typeface="黑体" pitchFamily="49" charset="-122"/>
                <a:ea typeface="黑体" pitchFamily="49" charset="-122"/>
              </a:rPr>
              <a:t>）画出未切割的半</a:t>
            </a:r>
            <a:endParaRPr lang="en-US" altLang="zh-CN" sz="2400" dirty="0">
              <a:latin typeface="黑体" pitchFamily="49" charset="-122"/>
              <a:ea typeface="黑体" pitchFamily="49" charset="-122"/>
            </a:endParaRPr>
          </a:p>
          <a:p>
            <a:r>
              <a:rPr lang="en-US" altLang="zh-CN" sz="2400" dirty="0">
                <a:latin typeface="黑体" pitchFamily="49" charset="-122"/>
                <a:ea typeface="黑体" pitchFamily="49" charset="-122"/>
              </a:rPr>
              <a:t>   </a:t>
            </a:r>
            <a:r>
              <a:rPr lang="zh-CN" altLang="en-US" sz="2400" dirty="0">
                <a:latin typeface="黑体" pitchFamily="49" charset="-122"/>
                <a:ea typeface="黑体" pitchFamily="49" charset="-122"/>
              </a:rPr>
              <a:t>圆柱和方柱的组</a:t>
            </a:r>
            <a:endParaRPr lang="en-US" altLang="zh-CN" sz="2400" dirty="0">
              <a:latin typeface="黑体" pitchFamily="49" charset="-122"/>
              <a:ea typeface="黑体" pitchFamily="49" charset="-122"/>
            </a:endParaRPr>
          </a:p>
          <a:p>
            <a:r>
              <a:rPr lang="en-US" altLang="zh-CN" sz="2400" dirty="0">
                <a:latin typeface="黑体" pitchFamily="49" charset="-122"/>
                <a:ea typeface="黑体" pitchFamily="49" charset="-122"/>
              </a:rPr>
              <a:t>   </a:t>
            </a:r>
            <a:r>
              <a:rPr lang="zh-CN" altLang="en-US" sz="2400" dirty="0">
                <a:latin typeface="黑体" pitchFamily="49" charset="-122"/>
                <a:ea typeface="黑体" pitchFamily="49" charset="-122"/>
              </a:rPr>
              <a:t>合体投影</a:t>
            </a:r>
          </a:p>
        </p:txBody>
      </p:sp>
      <p:pic>
        <p:nvPicPr>
          <p:cNvPr id="4" name="图片 3"/>
          <p:cNvPicPr>
            <a:picLocks noChangeAspect="1"/>
          </p:cNvPicPr>
          <p:nvPr/>
        </p:nvPicPr>
        <p:blipFill>
          <a:blip r:embed="rId4"/>
          <a:srcRect r="54044"/>
          <a:stretch>
            <a:fillRect/>
          </a:stretch>
        </p:blipFill>
        <p:spPr bwMode="auto">
          <a:xfrm>
            <a:off x="4549835" y="1352550"/>
            <a:ext cx="2217738" cy="4743450"/>
          </a:xfrm>
          <a:prstGeom prst="rect">
            <a:avLst/>
          </a:prstGeom>
          <a:noFill/>
          <a:ln w="9525">
            <a:noFill/>
            <a:miter lim="800000"/>
            <a:headEnd/>
            <a:tailEnd/>
          </a:ln>
        </p:spPr>
      </p:pic>
      <p:pic>
        <p:nvPicPr>
          <p:cNvPr id="14" name="图片 13"/>
          <p:cNvPicPr>
            <a:picLocks noChangeAspect="1"/>
          </p:cNvPicPr>
          <p:nvPr/>
        </p:nvPicPr>
        <p:blipFill>
          <a:blip r:embed="rId4"/>
          <a:srcRect b="48267"/>
          <a:stretch>
            <a:fillRect/>
          </a:stretch>
        </p:blipFill>
        <p:spPr bwMode="auto">
          <a:xfrm>
            <a:off x="4530785" y="1328738"/>
            <a:ext cx="4870450" cy="2474912"/>
          </a:xfrm>
          <a:prstGeom prst="rect">
            <a:avLst/>
          </a:prstGeom>
          <a:noFill/>
          <a:ln w="9525">
            <a:noFill/>
            <a:miter lim="800000"/>
            <a:headEnd/>
            <a:tailEnd/>
          </a:ln>
        </p:spPr>
      </p:pic>
      <p:sp>
        <p:nvSpPr>
          <p:cNvPr id="5" name="矩形 4"/>
          <p:cNvSpPr>
            <a:spLocks noChangeArrowheads="1"/>
          </p:cNvSpPr>
          <p:nvPr/>
        </p:nvSpPr>
        <p:spPr bwMode="auto">
          <a:xfrm>
            <a:off x="1312570" y="4478790"/>
            <a:ext cx="3054556" cy="830997"/>
          </a:xfrm>
          <a:prstGeom prst="rect">
            <a:avLst/>
          </a:prstGeom>
          <a:noFill/>
          <a:ln w="9525">
            <a:noFill/>
            <a:miter lim="800000"/>
            <a:headEnd/>
            <a:tailEnd/>
          </a:ln>
        </p:spPr>
        <p:txBody>
          <a:bodyPr wrap="square">
            <a:spAutoFit/>
          </a:bodyPr>
          <a:lstStyle/>
          <a:p>
            <a:r>
              <a:rPr lang="en-US" altLang="zh-CN" sz="2400" dirty="0">
                <a:latin typeface="黑体" pitchFamily="49" charset="-122"/>
                <a:ea typeface="黑体" pitchFamily="49" charset="-122"/>
              </a:rPr>
              <a:t>3</a:t>
            </a:r>
            <a:r>
              <a:rPr lang="zh-CN" altLang="en-US" sz="2400" dirty="0">
                <a:latin typeface="黑体" pitchFamily="49" charset="-122"/>
                <a:ea typeface="黑体" pitchFamily="49" charset="-122"/>
              </a:rPr>
              <a:t>）按照切割过程依</a:t>
            </a:r>
            <a:endParaRPr lang="en-US" altLang="zh-CN" sz="2400" dirty="0">
              <a:latin typeface="黑体" pitchFamily="49" charset="-122"/>
              <a:ea typeface="黑体" pitchFamily="49" charset="-122"/>
            </a:endParaRPr>
          </a:p>
          <a:p>
            <a:r>
              <a:rPr lang="en-US" altLang="zh-CN" sz="2400" dirty="0">
                <a:latin typeface="黑体" pitchFamily="49" charset="-122"/>
                <a:ea typeface="黑体" pitchFamily="49" charset="-122"/>
              </a:rPr>
              <a:t>   </a:t>
            </a:r>
            <a:r>
              <a:rPr lang="zh-CN" altLang="en-US" sz="2400" dirty="0">
                <a:latin typeface="黑体" pitchFamily="49" charset="-122"/>
                <a:ea typeface="黑体" pitchFamily="49" charset="-122"/>
              </a:rPr>
              <a:t>次完成图形绘制</a:t>
            </a:r>
            <a:endParaRPr lang="zh-CN" altLang="en-US" sz="2400" dirty="0"/>
          </a:p>
        </p:txBody>
      </p:sp>
      <p:pic>
        <p:nvPicPr>
          <p:cNvPr id="6" name="图片 5"/>
          <p:cNvPicPr>
            <a:picLocks noChangeAspect="1"/>
          </p:cNvPicPr>
          <p:nvPr/>
        </p:nvPicPr>
        <p:blipFill>
          <a:blip r:embed="rId5"/>
          <a:srcRect r="57430"/>
          <a:stretch>
            <a:fillRect/>
          </a:stretch>
        </p:blipFill>
        <p:spPr bwMode="auto">
          <a:xfrm>
            <a:off x="4730811" y="1489076"/>
            <a:ext cx="1928813" cy="4543425"/>
          </a:xfrm>
          <a:prstGeom prst="rect">
            <a:avLst/>
          </a:prstGeom>
          <a:noFill/>
          <a:ln w="9525">
            <a:noFill/>
            <a:miter lim="800000"/>
            <a:headEnd/>
            <a:tailEnd/>
          </a:ln>
        </p:spPr>
      </p:pic>
      <p:pic>
        <p:nvPicPr>
          <p:cNvPr id="22" name="图片 21"/>
          <p:cNvPicPr>
            <a:picLocks noChangeAspect="1"/>
          </p:cNvPicPr>
          <p:nvPr/>
        </p:nvPicPr>
        <p:blipFill>
          <a:blip r:embed="rId5"/>
          <a:srcRect b="47800"/>
          <a:stretch>
            <a:fillRect/>
          </a:stretch>
        </p:blipFill>
        <p:spPr bwMode="auto">
          <a:xfrm>
            <a:off x="4735573" y="1497014"/>
            <a:ext cx="4532312" cy="2371725"/>
          </a:xfrm>
          <a:prstGeom prst="rect">
            <a:avLst/>
          </a:prstGeom>
          <a:noFill/>
          <a:ln w="9525">
            <a:noFill/>
            <a:miter lim="800000"/>
            <a:headEnd/>
            <a:tailEnd/>
          </a:ln>
        </p:spPr>
      </p:pic>
      <p:pic>
        <p:nvPicPr>
          <p:cNvPr id="7" name="图片 6"/>
          <p:cNvPicPr>
            <a:picLocks noChangeAspect="1"/>
          </p:cNvPicPr>
          <p:nvPr/>
        </p:nvPicPr>
        <p:blipFill>
          <a:blip r:embed="rId6"/>
          <a:srcRect l="53012" b="46996"/>
          <a:stretch>
            <a:fillRect/>
          </a:stretch>
        </p:blipFill>
        <p:spPr bwMode="auto">
          <a:xfrm>
            <a:off x="7104124" y="1524001"/>
            <a:ext cx="2147887" cy="2373313"/>
          </a:xfrm>
          <a:prstGeom prst="rect">
            <a:avLst/>
          </a:prstGeom>
          <a:noFill/>
          <a:ln w="9525">
            <a:noFill/>
            <a:miter lim="800000"/>
            <a:headEnd/>
            <a:tailEnd/>
          </a:ln>
        </p:spPr>
      </p:pic>
      <p:pic>
        <p:nvPicPr>
          <p:cNvPr id="24" name="图片 23"/>
          <p:cNvPicPr>
            <a:picLocks noChangeAspect="1"/>
          </p:cNvPicPr>
          <p:nvPr/>
        </p:nvPicPr>
        <p:blipFill>
          <a:blip r:embed="rId6"/>
          <a:srcRect r="55244"/>
          <a:stretch>
            <a:fillRect/>
          </a:stretch>
        </p:blipFill>
        <p:spPr bwMode="auto">
          <a:xfrm>
            <a:off x="4686360" y="1509713"/>
            <a:ext cx="2046288" cy="4476750"/>
          </a:xfrm>
          <a:prstGeom prst="rect">
            <a:avLst/>
          </a:prstGeom>
          <a:noFill/>
          <a:ln w="9525">
            <a:noFill/>
            <a:miter lim="800000"/>
            <a:headEnd/>
            <a:tailEnd/>
          </a:ln>
        </p:spPr>
      </p:pic>
      <p:pic>
        <p:nvPicPr>
          <p:cNvPr id="8" name="图片 7"/>
          <p:cNvPicPr>
            <a:picLocks noChangeAspect="1"/>
          </p:cNvPicPr>
          <p:nvPr/>
        </p:nvPicPr>
        <p:blipFill>
          <a:blip r:embed="rId7"/>
          <a:srcRect r="56967"/>
          <a:stretch>
            <a:fillRect/>
          </a:stretch>
        </p:blipFill>
        <p:spPr bwMode="auto">
          <a:xfrm>
            <a:off x="4619686" y="1490664"/>
            <a:ext cx="2005013" cy="4530725"/>
          </a:xfrm>
          <a:prstGeom prst="rect">
            <a:avLst/>
          </a:prstGeom>
          <a:noFill/>
          <a:ln w="9525">
            <a:noFill/>
            <a:miter lim="800000"/>
            <a:headEnd/>
            <a:tailEnd/>
          </a:ln>
        </p:spPr>
      </p:pic>
      <p:pic>
        <p:nvPicPr>
          <p:cNvPr id="26" name="图片 25"/>
          <p:cNvPicPr>
            <a:picLocks noChangeAspect="1"/>
          </p:cNvPicPr>
          <p:nvPr/>
        </p:nvPicPr>
        <p:blipFill>
          <a:blip r:embed="rId7"/>
          <a:srcRect l="52242" b="48415"/>
          <a:stretch>
            <a:fillRect/>
          </a:stretch>
        </p:blipFill>
        <p:spPr bwMode="auto">
          <a:xfrm>
            <a:off x="7043799" y="1489075"/>
            <a:ext cx="2224087" cy="2336800"/>
          </a:xfrm>
          <a:prstGeom prst="rect">
            <a:avLst/>
          </a:prstGeom>
          <a:noFill/>
          <a:ln w="9525">
            <a:noFill/>
            <a:miter lim="800000"/>
            <a:headEnd/>
            <a:tailEnd/>
          </a:ln>
        </p:spPr>
      </p:pic>
      <p:pic>
        <p:nvPicPr>
          <p:cNvPr id="9" name="图片 8"/>
          <p:cNvPicPr>
            <a:picLocks noChangeAspect="1"/>
          </p:cNvPicPr>
          <p:nvPr/>
        </p:nvPicPr>
        <p:blipFill>
          <a:blip r:embed="rId8"/>
          <a:srcRect/>
          <a:stretch>
            <a:fillRect/>
          </a:stretch>
        </p:blipFill>
        <p:spPr bwMode="auto">
          <a:xfrm>
            <a:off x="4705411" y="1508126"/>
            <a:ext cx="4543425" cy="4513263"/>
          </a:xfrm>
          <a:prstGeom prst="rect">
            <a:avLst/>
          </a:prstGeom>
          <a:noFill/>
          <a:ln w="9525">
            <a:noFill/>
            <a:miter lim="800000"/>
            <a:headEnd/>
            <a:tailEnd/>
          </a:ln>
        </p:spPr>
      </p:pic>
      <p:pic>
        <p:nvPicPr>
          <p:cNvPr id="15" name="图片 14">
            <a:extLst>
              <a:ext uri="{FF2B5EF4-FFF2-40B4-BE49-F238E27FC236}">
                <a16:creationId xmlns:a16="http://schemas.microsoft.com/office/drawing/2014/main" id="{BD39D967-5769-4B3B-85CA-5EBE30E7A61E}"/>
              </a:ext>
            </a:extLst>
          </p:cNvPr>
          <p:cNvPicPr>
            <a:picLocks noChangeAspect="1"/>
          </p:cNvPicPr>
          <p:nvPr/>
        </p:nvPicPr>
        <p:blipFill>
          <a:blip r:embed="rId9"/>
          <a:stretch>
            <a:fillRect/>
          </a:stretch>
        </p:blipFill>
        <p:spPr>
          <a:xfrm>
            <a:off x="8945725" y="3756026"/>
            <a:ext cx="2600000" cy="2942857"/>
          </a:xfrm>
          <a:prstGeom prst="rect">
            <a:avLst/>
          </a:prstGeom>
        </p:spPr>
      </p:pic>
      <p:pic>
        <p:nvPicPr>
          <p:cNvPr id="16" name="图片 15">
            <a:extLst>
              <a:ext uri="{FF2B5EF4-FFF2-40B4-BE49-F238E27FC236}">
                <a16:creationId xmlns:a16="http://schemas.microsoft.com/office/drawing/2014/main" id="{AA4C6FFE-2119-4DFB-A464-3C376364B10B}"/>
              </a:ext>
            </a:extLst>
          </p:cNvPr>
          <p:cNvPicPr>
            <a:picLocks noChangeAspect="1"/>
          </p:cNvPicPr>
          <p:nvPr/>
        </p:nvPicPr>
        <p:blipFill>
          <a:blip r:embed="rId10"/>
          <a:stretch>
            <a:fillRect/>
          </a:stretch>
        </p:blipFill>
        <p:spPr>
          <a:xfrm>
            <a:off x="8973283" y="3685002"/>
            <a:ext cx="2614624" cy="3038475"/>
          </a:xfrm>
          <a:prstGeom prst="rect">
            <a:avLst/>
          </a:prstGeom>
        </p:spPr>
      </p:pic>
      <p:pic>
        <p:nvPicPr>
          <p:cNvPr id="17" name="图片 16">
            <a:extLst>
              <a:ext uri="{FF2B5EF4-FFF2-40B4-BE49-F238E27FC236}">
                <a16:creationId xmlns:a16="http://schemas.microsoft.com/office/drawing/2014/main" id="{89227379-3008-4E71-84E2-6583BFD705A1}"/>
              </a:ext>
            </a:extLst>
          </p:cNvPr>
          <p:cNvPicPr>
            <a:picLocks noChangeAspect="1"/>
          </p:cNvPicPr>
          <p:nvPr/>
        </p:nvPicPr>
        <p:blipFill>
          <a:blip r:embed="rId11"/>
          <a:stretch>
            <a:fillRect/>
          </a:stretch>
        </p:blipFill>
        <p:spPr>
          <a:xfrm>
            <a:off x="9040963" y="3756212"/>
            <a:ext cx="2504762" cy="2942857"/>
          </a:xfrm>
          <a:prstGeom prst="rect">
            <a:avLst/>
          </a:prstGeom>
        </p:spPr>
      </p:pic>
      <p:pic>
        <p:nvPicPr>
          <p:cNvPr id="21" name="图片 20">
            <a:extLst>
              <a:ext uri="{FF2B5EF4-FFF2-40B4-BE49-F238E27FC236}">
                <a16:creationId xmlns:a16="http://schemas.microsoft.com/office/drawing/2014/main" id="{E899588D-90CE-490F-9C77-C4BBAED9AD95}"/>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9093611" y="3781426"/>
            <a:ext cx="2447619" cy="2923809"/>
          </a:xfrm>
          <a:prstGeom prst="rect">
            <a:avLst/>
          </a:prstGeom>
        </p:spPr>
      </p:pic>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 calcmode="lin" valueType="num">
                                      <p:cBhvr additive="base">
                                        <p:cTn id="7" dur="500" fill="hold"/>
                                        <p:tgtEl>
                                          <p:spTgt spid="337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37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up)">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0-#ppt_w/2"/>
                                          </p:val>
                                        </p:tav>
                                        <p:tav tm="100000">
                                          <p:val>
                                            <p:strVal val="#ppt_x"/>
                                          </p:val>
                                        </p:tav>
                                      </p:tavLst>
                                    </p:anim>
                                    <p:anim calcmode="lin" valueType="num">
                                      <p:cBhvr additive="base">
                                        <p:cTn id="4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down)">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wipe(left)">
                                      <p:cBhvr>
                                        <p:cTn id="54" dur="500"/>
                                        <p:tgtEl>
                                          <p:spTgt spid="22"/>
                                        </p:tgtEl>
                                      </p:cBhvr>
                                    </p:animEffec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dissolve">
                                      <p:cBhvr>
                                        <p:cTn id="59" dur="500"/>
                                        <p:tgtEl>
                                          <p:spTgt spid="1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wipe(up)">
                                      <p:cBhvr>
                                        <p:cTn id="64" dur="500"/>
                                        <p:tgtEl>
                                          <p:spTgt spid="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down)">
                                      <p:cBhvr>
                                        <p:cTn id="69" dur="500"/>
                                        <p:tgtEl>
                                          <p:spTgt spid="24"/>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nodeType="click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dissolve">
                                      <p:cBhvr>
                                        <p:cTn id="74" dur="500"/>
                                        <p:tgtEl>
                                          <p:spTgt spid="2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wipe(down)">
                                      <p:cBhvr>
                                        <p:cTn id="79" dur="500"/>
                                        <p:tgtEl>
                                          <p:spTgt spid="8"/>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wipe(left)">
                                      <p:cBhvr>
                                        <p:cTn id="84" dur="500"/>
                                        <p:tgtEl>
                                          <p:spTgt spid="26"/>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nodeType="clickEffect">
                                  <p:stCondLst>
                                    <p:cond delay="0"/>
                                  </p:stCondLst>
                                  <p:childTnLst>
                                    <p:set>
                                      <p:cBhvr>
                                        <p:cTn id="88" dur="1" fill="hold">
                                          <p:stCondLst>
                                            <p:cond delay="0"/>
                                          </p:stCondLst>
                                        </p:cTn>
                                        <p:tgtEl>
                                          <p:spTgt spid="9"/>
                                        </p:tgtEl>
                                        <p:attrNameLst>
                                          <p:attrName>style.visibility</p:attrName>
                                        </p:attrNameLst>
                                      </p:cBhvr>
                                      <p:to>
                                        <p:strVal val="visible"/>
                                      </p:to>
                                    </p:set>
                                    <p:animEffect transition="in" filter="dissolve">
                                      <p:cBhvr>
                                        <p:cTn id="8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P spid="3"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1026"/>
          <p:cNvSpPr txBox="1">
            <a:spLocks noChangeArrowheads="1"/>
          </p:cNvSpPr>
          <p:nvPr/>
        </p:nvSpPr>
        <p:spPr bwMode="auto">
          <a:xfrm>
            <a:off x="4657148" y="548988"/>
            <a:ext cx="2040943" cy="584775"/>
          </a:xfrm>
          <a:prstGeom prst="rect">
            <a:avLst/>
          </a:prstGeom>
          <a:noFill/>
          <a:ln w="19050">
            <a:noFill/>
            <a:miter lim="800000"/>
            <a:headEnd/>
            <a:tailEnd/>
          </a:ln>
        </p:spPr>
        <p:txBody>
          <a:bodyPr wrap="none" anchor="ctr">
            <a:spAutoFit/>
          </a:bodyPr>
          <a:lstStyle/>
          <a:p>
            <a:pPr algn="ctr" eaLnBrk="1" hangingPunct="1"/>
            <a:r>
              <a:rPr lang="zh-CN" altLang="en-US" sz="3200" b="1" dirty="0">
                <a:solidFill>
                  <a:srgbClr val="FF0000"/>
                </a:solidFill>
                <a:latin typeface="黑体" panose="02010609060101010101" pitchFamily="49" charset="-122"/>
                <a:ea typeface="黑体" panose="02010609060101010101" pitchFamily="49" charset="-122"/>
              </a:rPr>
              <a:t>小   结：</a:t>
            </a:r>
          </a:p>
        </p:txBody>
      </p:sp>
      <p:sp>
        <p:nvSpPr>
          <p:cNvPr id="199684" name="Text Box 1028"/>
          <p:cNvSpPr txBox="1">
            <a:spLocks noChangeArrowheads="1"/>
          </p:cNvSpPr>
          <p:nvPr/>
        </p:nvSpPr>
        <p:spPr bwMode="auto">
          <a:xfrm>
            <a:off x="2155825" y="1771651"/>
            <a:ext cx="8128000" cy="4187825"/>
          </a:xfrm>
          <a:prstGeom prst="rect">
            <a:avLst/>
          </a:prstGeom>
          <a:noFill/>
          <a:ln w="19050">
            <a:noFill/>
            <a:miter lim="800000"/>
            <a:headEnd/>
            <a:tailEnd/>
          </a:ln>
        </p:spPr>
        <p:txBody>
          <a:bodyPr lIns="90000" tIns="46800" rIns="90000" bIns="46800" anchor="ctr">
            <a:spAutoFit/>
          </a:bodyPr>
          <a:lstStyle/>
          <a:p>
            <a:pPr eaLnBrk="1" hangingPunct="1"/>
            <a:r>
              <a:rPr lang="zh-CN" altLang="en-US" sz="2800">
                <a:solidFill>
                  <a:schemeClr val="tx2"/>
                </a:solidFill>
              </a:rPr>
              <a:t>形体分析法较适合于</a:t>
            </a:r>
            <a:r>
              <a:rPr lang="en-US" altLang="zh-CN" sz="2800">
                <a:solidFill>
                  <a:schemeClr val="tx2"/>
                </a:solidFill>
              </a:rPr>
              <a:t>:</a:t>
            </a:r>
          </a:p>
          <a:p>
            <a:pPr eaLnBrk="1" hangingPunct="1"/>
            <a:r>
              <a:rPr lang="en-US" altLang="zh-CN" sz="2800">
                <a:solidFill>
                  <a:schemeClr val="tx2"/>
                </a:solidFill>
              </a:rPr>
              <a:t>                                  </a:t>
            </a:r>
            <a:r>
              <a:rPr lang="zh-CN" altLang="en-US" sz="2800" b="1">
                <a:solidFill>
                  <a:schemeClr val="tx2"/>
                </a:solidFill>
              </a:rPr>
              <a:t>以叠加方式</a:t>
            </a:r>
            <a:r>
              <a:rPr lang="zh-CN" altLang="en-US" sz="2800">
                <a:solidFill>
                  <a:schemeClr val="tx2"/>
                </a:solidFill>
              </a:rPr>
              <a:t>形成的组合体</a:t>
            </a:r>
            <a:endParaRPr lang="en-US" altLang="zh-CN" sz="2800">
              <a:solidFill>
                <a:schemeClr val="tx2"/>
              </a:solidFill>
            </a:endParaRPr>
          </a:p>
          <a:p>
            <a:pPr eaLnBrk="1" hangingPunct="1"/>
            <a:r>
              <a:rPr lang="zh-CN" altLang="en-US" sz="2800">
                <a:solidFill>
                  <a:schemeClr val="tx2"/>
                </a:solidFill>
              </a:rPr>
              <a:t>面形分析法较适合于</a:t>
            </a:r>
            <a:r>
              <a:rPr lang="en-US" altLang="zh-CN" sz="2800">
                <a:solidFill>
                  <a:schemeClr val="tx2"/>
                </a:solidFill>
              </a:rPr>
              <a:t>:</a:t>
            </a:r>
          </a:p>
          <a:p>
            <a:pPr eaLnBrk="1" hangingPunct="1"/>
            <a:r>
              <a:rPr lang="en-US" altLang="zh-CN" sz="2800">
                <a:solidFill>
                  <a:schemeClr val="tx2"/>
                </a:solidFill>
              </a:rPr>
              <a:t>                                  </a:t>
            </a:r>
            <a:r>
              <a:rPr lang="zh-CN" altLang="en-US" sz="2800" b="1">
                <a:solidFill>
                  <a:schemeClr val="tx2"/>
                </a:solidFill>
              </a:rPr>
              <a:t>以切割方式</a:t>
            </a:r>
            <a:r>
              <a:rPr lang="zh-CN" altLang="en-US" sz="2800">
                <a:solidFill>
                  <a:schemeClr val="tx2"/>
                </a:solidFill>
              </a:rPr>
              <a:t>形成的组合体。</a:t>
            </a:r>
          </a:p>
          <a:p>
            <a:pPr eaLnBrk="1" hangingPunct="1"/>
            <a:r>
              <a:rPr lang="zh-CN" altLang="en-US" sz="2800">
                <a:solidFill>
                  <a:schemeClr val="tx2"/>
                </a:solidFill>
              </a:rPr>
              <a:t>   </a:t>
            </a:r>
            <a:endParaRPr lang="en-US" altLang="zh-CN" sz="2800">
              <a:solidFill>
                <a:schemeClr val="tx2"/>
              </a:solidFill>
            </a:endParaRPr>
          </a:p>
          <a:p>
            <a:pPr eaLnBrk="1" hangingPunct="1">
              <a:lnSpc>
                <a:spcPct val="150000"/>
              </a:lnSpc>
            </a:pPr>
            <a:r>
              <a:rPr lang="zh-CN" altLang="en-US" sz="2800">
                <a:solidFill>
                  <a:schemeClr val="tx2"/>
                </a:solidFill>
              </a:rPr>
              <a:t>        由于组合体的组合方式往往</a:t>
            </a:r>
            <a:r>
              <a:rPr lang="zh-CN" altLang="en-US" sz="2800" b="1">
                <a:solidFill>
                  <a:srgbClr val="FF0000"/>
                </a:solidFill>
              </a:rPr>
              <a:t>既有叠加</a:t>
            </a:r>
            <a:r>
              <a:rPr lang="zh-CN" altLang="en-US" sz="2800">
                <a:solidFill>
                  <a:schemeClr val="tx2"/>
                </a:solidFill>
              </a:rPr>
              <a:t>又有</a:t>
            </a:r>
            <a:r>
              <a:rPr lang="zh-CN" altLang="en-US" sz="2800" b="1">
                <a:solidFill>
                  <a:srgbClr val="FF0000"/>
                </a:solidFill>
              </a:rPr>
              <a:t>切割</a:t>
            </a:r>
            <a:r>
              <a:rPr lang="zh-CN" altLang="en-US" sz="2800">
                <a:solidFill>
                  <a:schemeClr val="tx2"/>
                </a:solidFill>
              </a:rPr>
              <a:t>，所以画图时一般不是独立地采用某种方法，而是两者</a:t>
            </a:r>
            <a:r>
              <a:rPr lang="zh-CN" altLang="en-US" sz="2800" b="1">
                <a:solidFill>
                  <a:srgbClr val="FF0000"/>
                </a:solidFill>
              </a:rPr>
              <a:t>综合使用</a:t>
            </a:r>
            <a:r>
              <a:rPr lang="zh-CN" altLang="en-US" sz="2800">
                <a:solidFill>
                  <a:schemeClr val="tx2"/>
                </a:solidFill>
              </a:rPr>
              <a:t>，</a:t>
            </a:r>
            <a:r>
              <a:rPr lang="zh-CN" altLang="en-US" sz="2800" b="1">
                <a:solidFill>
                  <a:srgbClr val="FF0000"/>
                </a:solidFill>
              </a:rPr>
              <a:t>互相配合</a:t>
            </a:r>
            <a:r>
              <a:rPr lang="zh-CN" altLang="en-US" sz="2800">
                <a:solidFill>
                  <a:schemeClr val="tx2"/>
                </a:solidFill>
              </a:rPr>
              <a:t>，</a:t>
            </a:r>
            <a:r>
              <a:rPr lang="zh-CN" altLang="en-US" sz="2800" b="1">
                <a:solidFill>
                  <a:srgbClr val="FF0000"/>
                </a:solidFill>
              </a:rPr>
              <a:t>互相补充</a:t>
            </a:r>
            <a:r>
              <a:rPr lang="zh-CN" altLang="en-US" sz="2800">
                <a:solidFill>
                  <a:schemeClr val="tx2"/>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99684"/>
                                        </p:tgtEl>
                                        <p:attrNameLst>
                                          <p:attrName>style.visibility</p:attrName>
                                        </p:attrNameLst>
                                      </p:cBhvr>
                                      <p:to>
                                        <p:strVal val="visible"/>
                                      </p:to>
                                    </p:set>
                                    <p:animEffect transition="in" filter="strips(downRight)">
                                      <p:cBhvr>
                                        <p:cTn id="7" dur="500"/>
                                        <p:tgtEl>
                                          <p:spTgt spid="199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4" grpId="0" autoUpdateAnimBg="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ed6c4083e723f53560f492fa67efd8563b8f42"/>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MA"/>
  <p:tag name="PROBLEMSCORE_HALF" val="0.0"/>
  <p:tag name="PROBLEMSCORE" val="4.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1_Office 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rotWithShape="0">
          <a:gsLst>
            <a:gs pos="0">
              <a:srgbClr val="DDEBCF"/>
            </a:gs>
            <a:gs pos="50000">
              <a:srgbClr val="9CB86E"/>
            </a:gs>
            <a:gs pos="100000">
              <a:srgbClr val="156B13"/>
            </a:gs>
          </a:gsLst>
          <a:lin ang="5400000"/>
        </a:gradFill>
        <a:ln w="9525">
          <a:noFill/>
          <a:miter lim="800000"/>
          <a:headEnd/>
          <a:tailEnd/>
        </a:ln>
      </a:spPr>
      <a:bodyPr anchor="ctr"/>
      <a:lstStyle>
        <a:defPPr>
          <a:defRPr sz="3600" dirty="0">
            <a:solidFill>
              <a:schemeClr val="tx2"/>
            </a:solidFill>
            <a:latin typeface="宋体" pitchFamily="2" charset="-122"/>
          </a:defRPr>
        </a:defPPr>
      </a:lstStyle>
    </a:spDef>
    <a:txDef>
      <a:spPr/>
      <a:bodyPr anchor="ctr">
        <a:spAutoFit/>
      </a:bodyPr>
      <a:lstStyle>
        <a:defPPr algn="ctr" fontAlgn="auto">
          <a:spcAft>
            <a:spcPts val="0"/>
          </a:spcAft>
          <a:defRPr kumimoji="0" sz="4400" b="1" dirty="0">
            <a:solidFill>
              <a:schemeClr val="tx2"/>
            </a:solidFill>
            <a:latin typeface="黑体" pitchFamily="2" charset="-122"/>
            <a:ea typeface="黑体" pitchFamily="2" charset="-122"/>
            <a:cs typeface="+mj-cs"/>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4132</TotalTime>
  <Words>911</Words>
  <Application>Microsoft Office PowerPoint</Application>
  <PresentationFormat>宽屏</PresentationFormat>
  <Paragraphs>143</Paragraphs>
  <Slides>17</Slides>
  <Notes>14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黑体</vt:lpstr>
      <vt:lpstr>华文行楷</vt:lpstr>
      <vt:lpstr>宋体</vt:lpstr>
      <vt:lpstr>Microsoft Yahei</vt:lpstr>
      <vt:lpstr>Arial</vt:lpstr>
      <vt:lpstr>Calibri</vt:lpstr>
      <vt:lpstr>Times New Roman</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按切割顺序画组合体三面投影</vt:lpstr>
      <vt:lpstr>按切割顺序画组合体三面投影</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穆浩志</dc:creator>
  <cp:keywords>天津理工</cp:keywords>
  <cp:lastModifiedBy>Lenovo</cp:lastModifiedBy>
  <cp:revision>308</cp:revision>
  <dcterms:created xsi:type="dcterms:W3CDTF">2014-03-20T09:34:50Z</dcterms:created>
  <dcterms:modified xsi:type="dcterms:W3CDTF">2020-05-19T06:14:53Z</dcterms:modified>
</cp:coreProperties>
</file>
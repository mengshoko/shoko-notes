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25"/>
  </p:notesMasterIdLst>
  <p:sldIdLst>
    <p:sldId id="556" r:id="rId2"/>
    <p:sldId id="557" r:id="rId3"/>
    <p:sldId id="558" r:id="rId4"/>
    <p:sldId id="559" r:id="rId5"/>
    <p:sldId id="560" r:id="rId6"/>
    <p:sldId id="561" r:id="rId7"/>
    <p:sldId id="567" r:id="rId8"/>
    <p:sldId id="578" r:id="rId9"/>
    <p:sldId id="566" r:id="rId10"/>
    <p:sldId id="565" r:id="rId11"/>
    <p:sldId id="571" r:id="rId12"/>
    <p:sldId id="564" r:id="rId13"/>
    <p:sldId id="568" r:id="rId14"/>
    <p:sldId id="570" r:id="rId15"/>
    <p:sldId id="573" r:id="rId16"/>
    <p:sldId id="562" r:id="rId17"/>
    <p:sldId id="574" r:id="rId18"/>
    <p:sldId id="572" r:id="rId19"/>
    <p:sldId id="569" r:id="rId20"/>
    <p:sldId id="576" r:id="rId21"/>
    <p:sldId id="575" r:id="rId22"/>
    <p:sldId id="563" r:id="rId23"/>
    <p:sldId id="577" r:id="rId24"/>
  </p:sldIdLst>
  <p:sldSz cx="12192000" cy="6858000"/>
  <p:notesSz cx="6858000" cy="9144000"/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modifyVerifier cryptProviderType="rsaFull" cryptAlgorithmClass="hash" cryptAlgorithmType="typeAny" cryptAlgorithmSid="4" spinCount="50000" saltData="mO70nCLIcukbO/AWMqOVBA==" hashData="3UCDgBbuXkPhh88f0aBJLmsLrss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8" autoAdjust="0"/>
    <p:restoredTop sz="94660"/>
  </p:normalViewPr>
  <p:slideViewPr>
    <p:cSldViewPr>
      <p:cViewPr varScale="1">
        <p:scale>
          <a:sx n="108" d="100"/>
          <a:sy n="108" d="100"/>
        </p:scale>
        <p:origin x="732" y="108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0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994F821-7148-4155-8A4B-3568DDD25123}" type="datetimeFigureOut">
              <a:rPr lang="zh-CN" altLang="en-US"/>
              <a:pPr>
                <a:defRPr/>
              </a:pPr>
              <a:t>2021/3/9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50BB752-86F0-4A2B-B1F4-3D725A534A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5882894-31D0-4353-8FC4-53FD4467D4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51325CCF-3893-4AF4-9378-6503525C1C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1528D238-9626-4573-9B0E-3A01311DAB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BC39A87-C04B-44B8-8492-59308235E3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91C292D2-F234-45FE-9C8F-D7CD6A71BC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B59C782-E5B5-4D1E-84E8-00EB87A66F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23F1626B-87FC-4106-99C3-08CD08C6C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D8AFA40-474E-4131-9465-1772CE74A1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624BEE-B42A-4D24-A6A0-A13054AF2E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D04EAC3-810B-4186-9CDC-14BAD13725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83A06682-6D3C-44FE-A8FD-CF179FE872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73827A9-F015-4526-A947-A7D0641A67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730E9EB-F9AD-4188-B464-117A56F21E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7FC85D4-21D3-4B1F-9919-8F298A4744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4B1C4B7-372D-48C2-8DDA-B810BF3CD4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E84D88-8CA2-4D77-8F92-4C576078AA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AE7EA432-7B9C-4122-898F-523AEF872E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623D218-3769-4A9E-A4E2-A5A466000D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0136772" y="1128681"/>
            <a:ext cx="1849992" cy="292104"/>
          </a:xfrm>
          <a:prstGeom prst="rect">
            <a:avLst/>
          </a:prstGeom>
          <a:noFill/>
        </p:spPr>
        <p:txBody>
          <a:bodyPr wrap="none">
            <a:prstTxWarp prst="textPlain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>
              <a:defRPr/>
            </a:pPr>
            <a:r>
              <a:rPr lang="zh-CN" altLang="en-US" sz="5400" dirty="0">
                <a:ln w="11430"/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9E0BDE-8C1E-4765-AB35-733DB853D7DC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865" y="38068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28" r:id="rId1"/>
    <p:sldLayoutId id="2147484729" r:id="rId2"/>
    <p:sldLayoutId id="2147484730" r:id="rId3"/>
    <p:sldLayoutId id="2147484731" r:id="rId4"/>
    <p:sldLayoutId id="2147484732" r:id="rId5"/>
    <p:sldLayoutId id="2147484733" r:id="rId6"/>
    <p:sldLayoutId id="2147484734" r:id="rId7"/>
    <p:sldLayoutId id="2147484735" r:id="rId8"/>
    <p:sldLayoutId id="2147484736" r:id="rId9"/>
    <p:sldLayoutId id="2147484737" r:id="rId10"/>
    <p:sldLayoutId id="2147484738" r:id="rId11"/>
    <p:sldLayoutId id="2147484739" r:id="rId12"/>
    <p:sldLayoutId id="2147484740" r:id="rId13"/>
    <p:sldLayoutId id="2147484741" r:id="rId14"/>
    <p:sldLayoutId id="2147484742" r:id="rId15"/>
    <p:sldLayoutId id="2147484743" r:id="rId16"/>
    <p:sldLayoutId id="2147484744" r:id="rId17"/>
    <p:sldLayoutId id="2147484745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19.tmp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5.png"/><Relationship Id="rId7" Type="http://schemas.openxmlformats.org/officeDocument/2006/relationships/image" Target="../media/image1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1">
            <a:extLst>
              <a:ext uri="{FF2B5EF4-FFF2-40B4-BE49-F238E27FC236}">
                <a16:creationId xmlns:a16="http://schemas.microsoft.com/office/drawing/2014/main" id="{72657AC7-2F7E-43F7-A0D1-1EC52CAC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5" name="AutoShape 20">
            <a:extLst>
              <a:ext uri="{FF2B5EF4-FFF2-40B4-BE49-F238E27FC236}">
                <a16:creationId xmlns:a16="http://schemas.microsoft.com/office/drawing/2014/main" id="{59D1A671-A96A-4D24-83AF-F63A118D2DEE}"/>
              </a:ext>
            </a:extLst>
          </p:cNvPr>
          <p:cNvSpPr>
            <a:spLocks/>
          </p:cNvSpPr>
          <p:nvPr/>
        </p:nvSpPr>
        <p:spPr bwMode="auto">
          <a:xfrm>
            <a:off x="4644330" y="2183916"/>
            <a:ext cx="258763" cy="966788"/>
          </a:xfrm>
          <a:prstGeom prst="leftBrace">
            <a:avLst>
              <a:gd name="adj1" fmla="val 108159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FC8665-D21F-44E4-A03E-4F869844D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6580" y="1842604"/>
            <a:ext cx="4783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altLang="zh-CN" sz="2800">
                <a:latin typeface="宋体" charset="-122"/>
              </a:rPr>
              <a:t>1.</a:t>
            </a:r>
            <a:r>
              <a:rPr lang="zh-CN" altLang="en-US" sz="2800">
                <a:latin typeface="宋体" charset="-122"/>
              </a:rPr>
              <a:t>剖视图的分类及适用条件</a:t>
            </a:r>
            <a:endParaRPr lang="en-US" altLang="zh-CN" sz="2800">
              <a:latin typeface="宋体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85E5A7E-6D76-45DA-A781-AB71E473D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2555" y="3717441"/>
            <a:ext cx="6003925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/>
              <a:t>根据投影原理，会绘制全剖视图、半剖视图、局部剖视图并且会标注</a:t>
            </a:r>
            <a:endParaRPr lang="en-US" altLang="zh-CN" sz="2800"/>
          </a:p>
        </p:txBody>
      </p:sp>
      <p:sp>
        <p:nvSpPr>
          <p:cNvPr id="27" name="右箭头 9">
            <a:extLst>
              <a:ext uri="{FF2B5EF4-FFF2-40B4-BE49-F238E27FC236}">
                <a16:creationId xmlns:a16="http://schemas.microsoft.com/office/drawing/2014/main" id="{EC869C82-F82A-4781-9BC8-AA973B934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6505" y="5068404"/>
            <a:ext cx="3030538" cy="1204912"/>
          </a:xfrm>
          <a:prstGeom prst="rightArrow">
            <a:avLst>
              <a:gd name="adj1" fmla="val 50000"/>
              <a:gd name="adj2" fmla="val 49069"/>
            </a:avLst>
          </a:prstGeom>
          <a:solidFill>
            <a:srgbClr val="00B050"/>
          </a:solidFill>
          <a:ln w="28575" algn="ctr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pPr indent="152400">
              <a:tabLst>
                <a:tab pos="2636838" algn="ctr"/>
                <a:tab pos="5273675" algn="r"/>
              </a:tabLst>
            </a:pPr>
            <a:r>
              <a:rPr lang="zh-CN" altLang="en-US" sz="2800">
                <a:cs typeface="Arial" charset="0"/>
              </a:rPr>
              <a:t>重点、难点：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118761-2C0E-4621-BD6E-1C043617C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7368" y="5244616"/>
            <a:ext cx="5648127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/>
              <a:t>全剖视图 、半剖视图、局部剖视的画法及标注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9596709-46E5-4CC5-A658-4609BC187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7868" y="2366479"/>
            <a:ext cx="53721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>
                <a:latin typeface="宋体" charset="-122"/>
                <a:cs typeface="Arial" charset="0"/>
              </a:rPr>
              <a:t>2.</a:t>
            </a:r>
            <a:r>
              <a:rPr lang="zh-CN" altLang="en-US" sz="2800"/>
              <a:t>全剖视图、半剖视图、  局部剖视视图的画法及标注</a:t>
            </a:r>
            <a:endParaRPr lang="en-US" altLang="zh-CN" sz="2800"/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C734323C-621F-4121-B143-20343E87C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043" y="2366479"/>
            <a:ext cx="2722562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本讲重点内容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		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31" name="Rectangle 52">
            <a:extLst>
              <a:ext uri="{FF2B5EF4-FFF2-40B4-BE49-F238E27FC236}">
                <a16:creationId xmlns:a16="http://schemas.microsoft.com/office/drawing/2014/main" id="{1B1F4F45-C876-45A9-8560-640B2E128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7680" y="3865079"/>
            <a:ext cx="1954213" cy="72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学习目标</a:t>
            </a:r>
            <a:r>
              <a:rPr kumimoji="1"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:</a:t>
            </a:r>
            <a:endParaRPr kumimoji="1"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latin typeface="宋体" pitchFamily="2" charset="-122"/>
                <a:ea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latin typeface="宋体" pitchFamily="2" charset="-122"/>
                <a:ea typeface="宋体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26" grpId="0"/>
      <p:bldP spid="27" grpId="0" animBg="1"/>
      <p:bldP spid="28" grpId="0"/>
      <p:bldP spid="29" grpId="0"/>
      <p:bldP spid="30" grpId="0"/>
      <p:bldP spid="3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DE41D6B1-48AD-4AE2-A831-B39F78BA8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803" y="1321180"/>
            <a:ext cx="55948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charset="-122"/>
              </a:rPr>
              <a:t>一、剖视的分类、适用条件及画法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右箭头 55">
            <a:extLst>
              <a:ext uri="{FF2B5EF4-FFF2-40B4-BE49-F238E27FC236}">
                <a16:creationId xmlns:a16="http://schemas.microsoft.com/office/drawing/2014/main" id="{CD8F103E-1D0E-4704-802A-3C5CC08A2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3972" y="2032335"/>
            <a:ext cx="3492500" cy="801360"/>
          </a:xfrm>
          <a:prstGeom prst="rightArrow">
            <a:avLst>
              <a:gd name="adj1" fmla="val 50000"/>
              <a:gd name="adj2" fmla="val 105298"/>
            </a:avLst>
          </a:prstGeom>
          <a:solidFill>
            <a:srgbClr val="00B0F0"/>
          </a:solidFill>
          <a:ln w="28575" algn="ctr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2400">
                <a:latin typeface="宋体" charset="-122"/>
              </a:rPr>
              <a:t>按剖切机件范围的大小</a:t>
            </a:r>
          </a:p>
        </p:txBody>
      </p:sp>
      <p:sp>
        <p:nvSpPr>
          <p:cNvPr id="4" name="矩形 56">
            <a:extLst>
              <a:ext uri="{FF2B5EF4-FFF2-40B4-BE49-F238E27FC236}">
                <a16:creationId xmlns:a16="http://schemas.microsoft.com/office/drawing/2014/main" id="{55A4C247-FA5C-43B9-90B5-60298EB00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174" y="2154875"/>
            <a:ext cx="19800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charset="-122"/>
              </a:rPr>
              <a:t>剖视图分类</a:t>
            </a:r>
            <a:endParaRPr lang="zh-CN" altLang="en-US" sz="2800" dirty="0"/>
          </a:p>
        </p:txBody>
      </p:sp>
      <p:sp>
        <p:nvSpPr>
          <p:cNvPr id="5" name="AutoShape 20">
            <a:extLst>
              <a:ext uri="{FF2B5EF4-FFF2-40B4-BE49-F238E27FC236}">
                <a16:creationId xmlns:a16="http://schemas.microsoft.com/office/drawing/2014/main" id="{DF35D39A-1DEC-4D93-B431-86CBA4556DEF}"/>
              </a:ext>
            </a:extLst>
          </p:cNvPr>
          <p:cNvSpPr>
            <a:spLocks/>
          </p:cNvSpPr>
          <p:nvPr/>
        </p:nvSpPr>
        <p:spPr bwMode="auto">
          <a:xfrm>
            <a:off x="7755355" y="1730703"/>
            <a:ext cx="210507" cy="1371563"/>
          </a:xfrm>
          <a:prstGeom prst="leftBrace">
            <a:avLst>
              <a:gd name="adj1" fmla="val 108400"/>
              <a:gd name="adj2" fmla="val 50000"/>
            </a:avLst>
          </a:prstGeom>
          <a:ln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00718A78-E02F-42C0-963C-56202D674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7768" y="1563948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宋体" charset="-122"/>
              </a:rPr>
              <a:t>1.</a:t>
            </a:r>
            <a:r>
              <a:rPr lang="zh-CN" altLang="en-US" sz="2800" dirty="0">
                <a:latin typeface="宋体" charset="-122"/>
              </a:rPr>
              <a:t>全剖视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79859F05-010B-4AC2-8AAE-37C8C430F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1886" y="2161923"/>
            <a:ext cx="1720343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/>
              <a:t>⒉ </a:t>
            </a:r>
            <a:r>
              <a:rPr lang="zh-CN" altLang="en-US" sz="2800" dirty="0"/>
              <a:t>半剖视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4BA74872-2E56-4A85-A211-9130DA286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1272" y="2579046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宋体" charset="-122"/>
              </a:rPr>
              <a:t>3.</a:t>
            </a:r>
            <a:r>
              <a:rPr lang="zh-CN" altLang="en-US" sz="2800" dirty="0">
                <a:latin typeface="宋体" charset="-122"/>
              </a:rPr>
              <a:t>局部剖</a:t>
            </a:r>
          </a:p>
        </p:txBody>
      </p:sp>
      <p:sp>
        <p:nvSpPr>
          <p:cNvPr id="9" name="Text Box 31">
            <a:extLst>
              <a:ext uri="{FF2B5EF4-FFF2-40B4-BE49-F238E27FC236}">
                <a16:creationId xmlns:a16="http://schemas.microsoft.com/office/drawing/2014/main" id="{7232B175-F078-445C-A509-4E2C515E1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4946433E-06C0-4036-9A68-3046AE86D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285" y="3079347"/>
            <a:ext cx="16289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宋体" charset="-122"/>
              </a:rPr>
              <a:t>1.</a:t>
            </a:r>
            <a:r>
              <a:rPr lang="zh-CN" altLang="en-US" sz="2800" b="1" dirty="0">
                <a:latin typeface="宋体" charset="-122"/>
              </a:rPr>
              <a:t>全剖视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FA769151-3837-4BFC-8E1A-34F8ED31B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2270" y="3602567"/>
            <a:ext cx="58330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宋体" charset="-122"/>
              </a:rPr>
              <a:t>用剖切面完全地剖开物体所得的剖视图。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34F0A56B-7B09-4B63-8F27-A80AA80A6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8076" y="4912016"/>
            <a:ext cx="444276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99"/>
                </a:solidFill>
              </a:rPr>
              <a:t>外形较简单，内形较复杂，而图形又不对称时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AD266E73-4F8E-453F-845E-E038C4205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174" y="4257129"/>
            <a:ext cx="198804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适用范围：</a:t>
            </a:r>
          </a:p>
        </p:txBody>
      </p:sp>
      <p:pic>
        <p:nvPicPr>
          <p:cNvPr id="14" name="Picture 55">
            <a:extLst>
              <a:ext uri="{FF2B5EF4-FFF2-40B4-BE49-F238E27FC236}">
                <a16:creationId xmlns:a16="http://schemas.microsoft.com/office/drawing/2014/main" id="{4AFF6863-969A-4F8A-9FEB-E8739C91D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00155" y="3116363"/>
            <a:ext cx="4238625" cy="3619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483490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utoUpdateAnimBg="0"/>
      <p:bldP spid="7" grpId="0"/>
      <p:bldP spid="8" grpId="0" autoUpdateAnimBg="0"/>
      <p:bldP spid="10" grpId="0" autoUpdateAnimBg="0"/>
      <p:bldP spid="11" grpId="0" autoUpdateAnimBg="0"/>
      <p:bldP spid="12" grpId="0" autoUpdateAnimBg="0"/>
      <p:bldP spid="1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56">
            <a:extLst>
              <a:ext uri="{FF2B5EF4-FFF2-40B4-BE49-F238E27FC236}">
                <a16:creationId xmlns:a16="http://schemas.microsoft.com/office/drawing/2014/main" id="{104CD446-2E92-46D5-9AEB-1E56DC4A2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2874" y="3940175"/>
            <a:ext cx="2336800" cy="24653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F57B3553-CF0A-4A8D-B25E-D572B097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232" y="1297265"/>
            <a:ext cx="172675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/>
              <a:t>⒉ </a:t>
            </a:r>
            <a:r>
              <a:rPr lang="zh-CN" altLang="en-US" sz="2800" b="1" dirty="0"/>
              <a:t>半剖视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4A381A6-9A5B-425E-A3DB-AC65019C0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0541" y="1802754"/>
            <a:ext cx="2633277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不能表达外形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B300874-F273-4896-93A8-99ECC205C224}"/>
              </a:ext>
            </a:extLst>
          </p:cNvPr>
          <p:cNvGrpSpPr>
            <a:grpSpLocks/>
          </p:cNvGrpSpPr>
          <p:nvPr/>
        </p:nvGrpSpPr>
        <p:grpSpPr bwMode="auto">
          <a:xfrm>
            <a:off x="1138905" y="5187583"/>
            <a:ext cx="4389438" cy="465137"/>
            <a:chOff x="276" y="2654"/>
            <a:chExt cx="2974" cy="293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497AB4B4-DF86-4CEE-9FBA-F4DE57991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6" y="2659"/>
              <a:ext cx="21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i="1">
                  <a:latin typeface="宋体" charset="-122"/>
                </a:rPr>
                <a:t>A</a:t>
              </a:r>
              <a:endParaRPr lang="en-US" altLang="zh-CN"/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292D5A21-4F20-4879-A9DD-E975475FC6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" y="2654"/>
              <a:ext cx="21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i="1">
                  <a:latin typeface="宋体" charset="-122"/>
                </a:rPr>
                <a:t>A</a:t>
              </a:r>
              <a:endParaRPr lang="en-US" altLang="zh-CN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91296AB-3B87-46F4-919C-DF0910E97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" y="2826"/>
              <a:ext cx="150" cy="1"/>
            </a:xfrm>
            <a:custGeom>
              <a:avLst/>
              <a:gdLst>
                <a:gd name="T0" fmla="*/ 0 w 150"/>
                <a:gd name="T1" fmla="*/ 0 h 1"/>
                <a:gd name="T2" fmla="*/ 150 w 150"/>
                <a:gd name="T3" fmla="*/ 0 h 1"/>
                <a:gd name="T4" fmla="*/ 0 60000 65536"/>
                <a:gd name="T5" fmla="*/ 0 60000 65536"/>
                <a:gd name="T6" fmla="*/ 0 w 150"/>
                <a:gd name="T7" fmla="*/ 0 h 1"/>
                <a:gd name="T8" fmla="*/ 150 w 15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" h="1">
                  <a:moveTo>
                    <a:pt x="0" y="0"/>
                  </a:moveTo>
                  <a:lnTo>
                    <a:pt x="15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995602B-FAD9-447A-A762-104B077FD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2826"/>
              <a:ext cx="150" cy="1"/>
            </a:xfrm>
            <a:custGeom>
              <a:avLst/>
              <a:gdLst>
                <a:gd name="T0" fmla="*/ 0 w 150"/>
                <a:gd name="T1" fmla="*/ 0 h 1"/>
                <a:gd name="T2" fmla="*/ 150 w 150"/>
                <a:gd name="T3" fmla="*/ 0 h 1"/>
                <a:gd name="T4" fmla="*/ 0 60000 65536"/>
                <a:gd name="T5" fmla="*/ 0 60000 65536"/>
                <a:gd name="T6" fmla="*/ 0 w 150"/>
                <a:gd name="T7" fmla="*/ 0 h 1"/>
                <a:gd name="T8" fmla="*/ 150 w 15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" h="1">
                  <a:moveTo>
                    <a:pt x="0" y="0"/>
                  </a:moveTo>
                  <a:lnTo>
                    <a:pt x="15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6E9E997F-BE1B-4026-9880-6B2A13AF65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8" y="2671"/>
              <a:ext cx="0" cy="1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64E1CA2B-95A7-4AD2-9EF5-211A882DD2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3" y="2671"/>
              <a:ext cx="0" cy="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" name="Text Box 130">
            <a:extLst>
              <a:ext uri="{FF2B5EF4-FFF2-40B4-BE49-F238E27FC236}">
                <a16:creationId xmlns:a16="http://schemas.microsoft.com/office/drawing/2014/main" id="{F0A07DB8-453E-4811-8974-8904BDDCE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1717" y="2399000"/>
            <a:ext cx="2633277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</a:rPr>
              <a:t>存在什么问题？</a:t>
            </a:r>
            <a:endParaRPr lang="zh-CN" altLang="en-US" sz="2800" b="1" dirty="0"/>
          </a:p>
        </p:txBody>
      </p:sp>
      <p:pic>
        <p:nvPicPr>
          <p:cNvPr id="13" name="Picture 251">
            <a:extLst>
              <a:ext uri="{FF2B5EF4-FFF2-40B4-BE49-F238E27FC236}">
                <a16:creationId xmlns:a16="http://schemas.microsoft.com/office/drawing/2014/main" id="{EA71612D-9381-45CA-899A-38296E7B8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31043" y="1831608"/>
            <a:ext cx="3276600" cy="4733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4" name="Picture 257">
            <a:extLst>
              <a:ext uri="{FF2B5EF4-FFF2-40B4-BE49-F238E27FC236}">
                <a16:creationId xmlns:a16="http://schemas.microsoft.com/office/drawing/2014/main" id="{4CD87A83-32A1-4AA9-AB2B-255611D2D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6824" y="3665538"/>
            <a:ext cx="2884488" cy="27574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5" name="Picture 258">
            <a:extLst>
              <a:ext uri="{FF2B5EF4-FFF2-40B4-BE49-F238E27FC236}">
                <a16:creationId xmlns:a16="http://schemas.microsoft.com/office/drawing/2014/main" id="{314FF093-7F36-40DB-9774-20B2770CA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148924" y="3429000"/>
            <a:ext cx="2576513" cy="27384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6" name="Picture 260">
            <a:extLst>
              <a:ext uri="{FF2B5EF4-FFF2-40B4-BE49-F238E27FC236}">
                <a16:creationId xmlns:a16="http://schemas.microsoft.com/office/drawing/2014/main" id="{E10F5F70-C683-45A3-93D4-B3DF863DF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72730" y="1860183"/>
            <a:ext cx="2828925" cy="21240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7" name="Text Box 31">
            <a:extLst>
              <a:ext uri="{FF2B5EF4-FFF2-40B4-BE49-F238E27FC236}">
                <a16:creationId xmlns:a16="http://schemas.microsoft.com/office/drawing/2014/main" id="{90AF2554-C08C-4E58-A04B-A34E08239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956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3.33333E-6 L -0.18528 0.1456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71" y="7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D1571D40-5FBD-445E-8C0A-2FAF3ED4D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663" y="1961586"/>
            <a:ext cx="2193925" cy="584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解决办法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：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032CF6CD-5398-4FA5-A9D8-B67CEDED2BC6}"/>
              </a:ext>
            </a:extLst>
          </p:cNvPr>
          <p:cNvSpPr>
            <a:spLocks noChangeShapeType="1"/>
          </p:cNvSpPr>
          <p:nvPr/>
        </p:nvSpPr>
        <p:spPr bwMode="auto">
          <a:xfrm rot="21480000" flipH="1">
            <a:off x="6443278" y="4192997"/>
            <a:ext cx="101600" cy="2471737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A4B0188-0D1E-4AE9-9753-6C6C67F16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63" y="3328370"/>
            <a:ext cx="2419778" cy="164352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chemeClr val="accent2"/>
                </a:solidFill>
              </a:rPr>
              <a:t>　　以对称线为界，一半画视图，一半画剖视。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6923ED21-6874-4DAA-93F7-2080B8F99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663" y="2557538"/>
            <a:ext cx="1420582" cy="5847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半剖视</a:t>
            </a:r>
          </a:p>
        </p:txBody>
      </p:sp>
      <p:pic>
        <p:nvPicPr>
          <p:cNvPr id="7" name="Picture 167">
            <a:extLst>
              <a:ext uri="{FF2B5EF4-FFF2-40B4-BE49-F238E27FC236}">
                <a16:creationId xmlns:a16="http://schemas.microsoft.com/office/drawing/2014/main" id="{977C5C2E-8AC8-4FDB-89AE-D86320103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15928" y="1376772"/>
            <a:ext cx="7440612" cy="25257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636F25AA-25D6-44C8-8F39-474D9AC9A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r="50356"/>
          <a:stretch>
            <a:fillRect/>
          </a:stretch>
        </p:blipFill>
        <p:spPr bwMode="auto">
          <a:xfrm>
            <a:off x="4836728" y="4210459"/>
            <a:ext cx="1643062" cy="24653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9" name="Picture 167">
            <a:extLst>
              <a:ext uri="{FF2B5EF4-FFF2-40B4-BE49-F238E27FC236}">
                <a16:creationId xmlns:a16="http://schemas.microsoft.com/office/drawing/2014/main" id="{A2842618-AC7D-4F6A-B9AC-A40E63B0A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r="77037"/>
          <a:stretch>
            <a:fillRect/>
          </a:stretch>
        </p:blipFill>
        <p:spPr bwMode="auto">
          <a:xfrm>
            <a:off x="4800215" y="4150134"/>
            <a:ext cx="1708150" cy="2525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0" name="Picture 167">
            <a:extLst>
              <a:ext uri="{FF2B5EF4-FFF2-40B4-BE49-F238E27FC236}">
                <a16:creationId xmlns:a16="http://schemas.microsoft.com/office/drawing/2014/main" id="{6A3774A7-A5C7-40D2-8457-26135F1AD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77089"/>
          <a:stretch>
            <a:fillRect/>
          </a:stretch>
        </p:blipFill>
        <p:spPr bwMode="auto">
          <a:xfrm>
            <a:off x="6492490" y="4151722"/>
            <a:ext cx="1704975" cy="25257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1" name="Picture 168">
            <a:extLst>
              <a:ext uri="{FF2B5EF4-FFF2-40B4-BE49-F238E27FC236}">
                <a16:creationId xmlns:a16="http://schemas.microsoft.com/office/drawing/2014/main" id="{65614EC0-EC73-4075-9350-DEC06E278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22440" y="4192997"/>
            <a:ext cx="3322638" cy="24526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2" name="AutoShape 6">
            <a:extLst>
              <a:ext uri="{FF2B5EF4-FFF2-40B4-BE49-F238E27FC236}">
                <a16:creationId xmlns:a16="http://schemas.microsoft.com/office/drawing/2014/main" id="{3A89FAE8-674F-4D97-944D-D942CDE55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300" y="4681365"/>
            <a:ext cx="1762800" cy="809625"/>
          </a:xfrm>
          <a:prstGeom prst="wedgeRoundRectCallout">
            <a:avLst>
              <a:gd name="adj1" fmla="val 100238"/>
              <a:gd name="adj2" fmla="val 119797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 b="1">
                <a:solidFill>
                  <a:srgbClr val="FF0000"/>
                </a:solidFill>
              </a:rPr>
              <a:t>已表达清楚的</a:t>
            </a:r>
          </a:p>
          <a:p>
            <a:r>
              <a:rPr lang="zh-CN" altLang="en-US" b="1">
                <a:solidFill>
                  <a:srgbClr val="FF0000"/>
                </a:solidFill>
              </a:rPr>
              <a:t>内形虚线不画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982FD3E4-0054-45D6-ACB1-B348A21B2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3862" y="1365341"/>
            <a:ext cx="172675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/>
              <a:t>⒉ </a:t>
            </a:r>
            <a:r>
              <a:rPr lang="zh-CN" altLang="en-US" sz="2800" b="1" dirty="0"/>
              <a:t>半剖视</a:t>
            </a:r>
          </a:p>
        </p:txBody>
      </p:sp>
    </p:spTree>
    <p:extLst>
      <p:ext uri="{BB962C8B-B14F-4D97-AF65-F5344CB8AC3E}">
        <p14:creationId xmlns:p14="http://schemas.microsoft.com/office/powerpoint/2010/main" val="372689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utoUpdateAnimBg="0"/>
      <p:bldP spid="6" grpId="0" autoUpdateAnimBg="0"/>
      <p:bldP spid="12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" name="Picture 170">
            <a:extLst>
              <a:ext uri="{FF2B5EF4-FFF2-40B4-BE49-F238E27FC236}">
                <a16:creationId xmlns:a16="http://schemas.microsoft.com/office/drawing/2014/main" id="{EDFB9E57-35C2-4B78-97D5-7FC031FB8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66321" y="1469172"/>
            <a:ext cx="2852737" cy="21097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62B7E055-190A-463B-BD35-ADD0F9DD9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3958" y="1790482"/>
            <a:ext cx="198804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</a:rPr>
              <a:t>适用范围：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329D4A9-D2B1-408A-AC24-800F8EB09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3958" y="2470874"/>
            <a:ext cx="4240594" cy="95410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dirty="0">
                <a:solidFill>
                  <a:srgbClr val="000099"/>
                </a:solidFill>
              </a:rPr>
              <a:t>内、外形都需要表达，而形状又对称或基本对称时。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B7D97210-875D-42FE-97B0-29FFDF06631F}"/>
              </a:ext>
            </a:extLst>
          </p:cNvPr>
          <p:cNvGrpSpPr>
            <a:grpSpLocks/>
          </p:cNvGrpSpPr>
          <p:nvPr/>
        </p:nvGrpSpPr>
        <p:grpSpPr bwMode="auto">
          <a:xfrm>
            <a:off x="3377496" y="2035909"/>
            <a:ext cx="1828800" cy="3175"/>
            <a:chOff x="942" y="1152"/>
            <a:chExt cx="1152" cy="2"/>
          </a:xfrm>
        </p:grpSpPr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EDFB5B48-1186-411A-8E25-AE92FE8F48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" y="1152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1C9C42E4-94EE-42B5-93C3-88FC70400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" y="1154"/>
              <a:ext cx="13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7">
            <a:extLst>
              <a:ext uri="{FF2B5EF4-FFF2-40B4-BE49-F238E27FC236}">
                <a16:creationId xmlns:a16="http://schemas.microsoft.com/office/drawing/2014/main" id="{6483873A-E38F-4676-ABA5-EB4A06858F6D}"/>
              </a:ext>
            </a:extLst>
          </p:cNvPr>
          <p:cNvGrpSpPr>
            <a:grpSpLocks/>
          </p:cNvGrpSpPr>
          <p:nvPr/>
        </p:nvGrpSpPr>
        <p:grpSpPr bwMode="auto">
          <a:xfrm>
            <a:off x="3012371" y="1907322"/>
            <a:ext cx="2473325" cy="457200"/>
            <a:chOff x="746" y="1008"/>
            <a:chExt cx="1558" cy="288"/>
          </a:xfrm>
        </p:grpSpPr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FF5EF350-5EA2-427C-9B48-4281E01D0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" y="1008"/>
              <a:ext cx="21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i="1">
                  <a:latin typeface="宋体" charset="-122"/>
                </a:rPr>
                <a:t>B</a:t>
              </a:r>
              <a:endParaRPr lang="en-US" altLang="zh-CN"/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294D4693-C84A-4DBE-9B9C-3D08A7D32C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0" y="1008"/>
              <a:ext cx="21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i="1">
                  <a:latin typeface="宋体" charset="-122"/>
                </a:rPr>
                <a:t>B</a:t>
              </a:r>
              <a:endParaRPr lang="en-US" altLang="zh-CN"/>
            </a:p>
          </p:txBody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AD3AE77E-C921-4D0E-9A43-95B0FCA5B4A9}"/>
              </a:ext>
            </a:extLst>
          </p:cNvPr>
          <p:cNvGrpSpPr>
            <a:grpSpLocks/>
          </p:cNvGrpSpPr>
          <p:nvPr/>
        </p:nvGrpSpPr>
        <p:grpSpPr bwMode="auto">
          <a:xfrm>
            <a:off x="3377496" y="2032734"/>
            <a:ext cx="1817687" cy="231775"/>
            <a:chOff x="942" y="1149"/>
            <a:chExt cx="1145" cy="146"/>
          </a:xfrm>
        </p:grpSpPr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707512A6-F525-40D1-BA95-F2DD57EDF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" y="1149"/>
              <a:ext cx="0" cy="13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4B14E232-27E4-43FC-8BDB-4AC2B2A6C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7" y="1156"/>
              <a:ext cx="0" cy="13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" name="Text Box 166">
            <a:extLst>
              <a:ext uri="{FF2B5EF4-FFF2-40B4-BE49-F238E27FC236}">
                <a16:creationId xmlns:a16="http://schemas.microsoft.com/office/drawing/2014/main" id="{9841183B-8370-4498-AF96-FC5FBC87D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1696" y="3910747"/>
            <a:ext cx="876300" cy="3698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i="1">
                <a:latin typeface="宋体" charset="-122"/>
              </a:rPr>
              <a:t>B</a:t>
            </a:r>
            <a:r>
              <a:rPr lang="zh-CN" altLang="en-US"/>
              <a:t>－</a:t>
            </a:r>
            <a:r>
              <a:rPr lang="en-US" altLang="zh-CN" i="1">
                <a:latin typeface="宋体" charset="-122"/>
              </a:rPr>
              <a:t>B</a:t>
            </a:r>
            <a:endParaRPr lang="en-US" altLang="zh-CN"/>
          </a:p>
        </p:txBody>
      </p:sp>
      <p:pic>
        <p:nvPicPr>
          <p:cNvPr id="16" name="Picture 168">
            <a:extLst>
              <a:ext uri="{FF2B5EF4-FFF2-40B4-BE49-F238E27FC236}">
                <a16:creationId xmlns:a16="http://schemas.microsoft.com/office/drawing/2014/main" id="{79AFB412-130F-4CC5-81C4-E7811DCFD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20271" y="4207609"/>
            <a:ext cx="3105150" cy="2066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7" name="Picture 171">
            <a:extLst>
              <a:ext uri="{FF2B5EF4-FFF2-40B4-BE49-F238E27FC236}">
                <a16:creationId xmlns:a16="http://schemas.microsoft.com/office/drawing/2014/main" id="{FE3B058E-130F-44AE-B5FA-DC90227E7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b="2701"/>
          <a:stretch>
            <a:fillRect/>
          </a:stretch>
        </p:blipFill>
        <p:spPr bwMode="auto">
          <a:xfrm>
            <a:off x="2709158" y="4280634"/>
            <a:ext cx="3122613" cy="19748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8" name="图片 171" descr="9-13.jpg">
            <a:extLst>
              <a:ext uri="{FF2B5EF4-FFF2-40B4-BE49-F238E27FC236}">
                <a16:creationId xmlns:a16="http://schemas.microsoft.com/office/drawing/2014/main" id="{1B8CC8D5-C5AE-4D5E-ADDD-5FEE561068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247821" y="3952022"/>
            <a:ext cx="2598737" cy="2471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菱形 18">
            <a:extLst>
              <a:ext uri="{FF2B5EF4-FFF2-40B4-BE49-F238E27FC236}">
                <a16:creationId xmlns:a16="http://schemas.microsoft.com/office/drawing/2014/main" id="{4CD5209F-BCCA-4E00-8D57-651E679FB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1771" y="3769459"/>
            <a:ext cx="2774950" cy="1570038"/>
          </a:xfrm>
          <a:prstGeom prst="diamond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charset="-122"/>
            </a:endParaRPr>
          </a:p>
        </p:txBody>
      </p:sp>
      <p:pic>
        <p:nvPicPr>
          <p:cNvPr id="20" name="Picture 172">
            <a:extLst>
              <a:ext uri="{FF2B5EF4-FFF2-40B4-BE49-F238E27FC236}">
                <a16:creationId xmlns:a16="http://schemas.microsoft.com/office/drawing/2014/main" id="{D69EA1B5-D4BA-46C4-8A5B-7D0226301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249408" y="3926622"/>
            <a:ext cx="2617788" cy="25019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1" name="Text Box 2">
            <a:extLst>
              <a:ext uri="{FF2B5EF4-FFF2-40B4-BE49-F238E27FC236}">
                <a16:creationId xmlns:a16="http://schemas.microsoft.com/office/drawing/2014/main" id="{CFDF1968-CEE6-4194-AD06-4EAEF0BD9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436" y="1366414"/>
            <a:ext cx="172675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/>
              <a:t>⒉ </a:t>
            </a:r>
            <a:r>
              <a:rPr lang="zh-CN" altLang="en-US" sz="2800" b="1" dirty="0"/>
              <a:t>半剖视</a:t>
            </a:r>
          </a:p>
        </p:txBody>
      </p:sp>
    </p:spTree>
    <p:extLst>
      <p:ext uri="{BB962C8B-B14F-4D97-AF65-F5344CB8AC3E}">
        <p14:creationId xmlns:p14="http://schemas.microsoft.com/office/powerpoint/2010/main" val="351922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xit" presetSubtype="3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15" grpId="0" autoUpdateAnimBg="0"/>
      <p:bldP spid="19" grpId="0" animBg="1"/>
      <p:bldP spid="1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21">
            <a:extLst>
              <a:ext uri="{FF2B5EF4-FFF2-40B4-BE49-F238E27FC236}">
                <a16:creationId xmlns:a16="http://schemas.microsoft.com/office/drawing/2014/main" id="{C8C1CECC-55CF-4FA3-A80E-2B77E1FAA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878" y="1302246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局部剖</a:t>
            </a:r>
            <a:endParaRPr lang="zh-CN" altLang="en-US" sz="2800" dirty="0"/>
          </a:p>
        </p:txBody>
      </p:sp>
      <p:sp>
        <p:nvSpPr>
          <p:cNvPr id="4" name="Text Box 22">
            <a:extLst>
              <a:ext uri="{FF2B5EF4-FFF2-40B4-BE49-F238E27FC236}">
                <a16:creationId xmlns:a16="http://schemas.microsoft.com/office/drawing/2014/main" id="{335C5289-13EC-4CD5-81F4-3B0D85242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4706" y="1665053"/>
            <a:ext cx="5207877" cy="95410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</a:rPr>
              <a:t>用剖切平面局部地剖开物体所得的剖视图。</a:t>
            </a:r>
          </a:p>
        </p:txBody>
      </p:sp>
      <p:pic>
        <p:nvPicPr>
          <p:cNvPr id="5" name="Picture 170">
            <a:extLst>
              <a:ext uri="{FF2B5EF4-FFF2-40B4-BE49-F238E27FC236}">
                <a16:creationId xmlns:a16="http://schemas.microsoft.com/office/drawing/2014/main" id="{7A42E446-3E4C-4137-ABD5-918D8361B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35636" y="1719934"/>
            <a:ext cx="2852737" cy="21097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8E50B172-6E16-466E-A982-84D599D71CF5}"/>
              </a:ext>
            </a:extLst>
          </p:cNvPr>
          <p:cNvGrpSpPr>
            <a:grpSpLocks/>
          </p:cNvGrpSpPr>
          <p:nvPr/>
        </p:nvGrpSpPr>
        <p:grpSpPr bwMode="auto">
          <a:xfrm>
            <a:off x="3146811" y="2286671"/>
            <a:ext cx="1828800" cy="3175"/>
            <a:chOff x="942" y="1152"/>
            <a:chExt cx="1152" cy="2"/>
          </a:xfrm>
        </p:grpSpPr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D80E550F-1E6E-40E9-9858-788156B1F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" y="1152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FFE0218C-91A3-4821-951E-6010676E09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" y="1154"/>
              <a:ext cx="13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7">
            <a:extLst>
              <a:ext uri="{FF2B5EF4-FFF2-40B4-BE49-F238E27FC236}">
                <a16:creationId xmlns:a16="http://schemas.microsoft.com/office/drawing/2014/main" id="{29A7DB55-0AD0-4D0F-900A-5DCAF0A38BA4}"/>
              </a:ext>
            </a:extLst>
          </p:cNvPr>
          <p:cNvGrpSpPr>
            <a:grpSpLocks/>
          </p:cNvGrpSpPr>
          <p:nvPr/>
        </p:nvGrpSpPr>
        <p:grpSpPr bwMode="auto">
          <a:xfrm>
            <a:off x="2781686" y="2158084"/>
            <a:ext cx="2473325" cy="457200"/>
            <a:chOff x="746" y="1008"/>
            <a:chExt cx="1558" cy="288"/>
          </a:xfrm>
        </p:grpSpPr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5AD2ADA9-E4AA-487B-A7C1-1B6A679CF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" y="1008"/>
              <a:ext cx="21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i="1">
                  <a:latin typeface="宋体" charset="-122"/>
                </a:rPr>
                <a:t>B</a:t>
              </a:r>
              <a:endParaRPr lang="en-US" altLang="zh-CN"/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7BAE4733-B122-4E41-A671-B6134EB53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0" y="1008"/>
              <a:ext cx="21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i="1">
                  <a:latin typeface="宋体" charset="-122"/>
                </a:rPr>
                <a:t>B</a:t>
              </a:r>
              <a:endParaRPr lang="en-US" altLang="zh-CN"/>
            </a:p>
          </p:txBody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198CF81E-E86E-4CFC-B750-F8314FAC3FC3}"/>
              </a:ext>
            </a:extLst>
          </p:cNvPr>
          <p:cNvGrpSpPr>
            <a:grpSpLocks/>
          </p:cNvGrpSpPr>
          <p:nvPr/>
        </p:nvGrpSpPr>
        <p:grpSpPr bwMode="auto">
          <a:xfrm>
            <a:off x="3146811" y="2283496"/>
            <a:ext cx="1817687" cy="231775"/>
            <a:chOff x="942" y="1149"/>
            <a:chExt cx="1145" cy="146"/>
          </a:xfrm>
        </p:grpSpPr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69624527-381A-4EE2-AF98-B79D31BFD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" y="1149"/>
              <a:ext cx="0" cy="13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68F0CAE0-87D2-447E-9E1F-43691B94A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7" y="1156"/>
              <a:ext cx="0" cy="13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" name="Text Box 166">
            <a:extLst>
              <a:ext uri="{FF2B5EF4-FFF2-40B4-BE49-F238E27FC236}">
                <a16:creationId xmlns:a16="http://schemas.microsoft.com/office/drawing/2014/main" id="{3660F601-B433-4100-BA45-D1238C90C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1011" y="4161509"/>
            <a:ext cx="876300" cy="3698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i="1">
                <a:latin typeface="宋体" charset="-122"/>
              </a:rPr>
              <a:t>B</a:t>
            </a:r>
            <a:r>
              <a:rPr lang="zh-CN" altLang="en-US"/>
              <a:t>－</a:t>
            </a:r>
            <a:r>
              <a:rPr lang="en-US" altLang="zh-CN" i="1">
                <a:latin typeface="宋体" charset="-122"/>
              </a:rPr>
              <a:t>B</a:t>
            </a:r>
            <a:endParaRPr lang="en-US" altLang="zh-CN"/>
          </a:p>
        </p:txBody>
      </p:sp>
      <p:pic>
        <p:nvPicPr>
          <p:cNvPr id="16" name="Picture 171">
            <a:extLst>
              <a:ext uri="{FF2B5EF4-FFF2-40B4-BE49-F238E27FC236}">
                <a16:creationId xmlns:a16="http://schemas.microsoft.com/office/drawing/2014/main" id="{50C52E72-1EB5-40CB-9200-0A3B7AC84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b="2701"/>
          <a:stretch>
            <a:fillRect/>
          </a:stretch>
        </p:blipFill>
        <p:spPr bwMode="auto">
          <a:xfrm>
            <a:off x="2464186" y="4561559"/>
            <a:ext cx="3124200" cy="19748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7" name="Picture 167">
            <a:extLst>
              <a:ext uri="{FF2B5EF4-FFF2-40B4-BE49-F238E27FC236}">
                <a16:creationId xmlns:a16="http://schemas.microsoft.com/office/drawing/2014/main" id="{449FC2E0-14A4-42E9-BB6A-499FE7422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4359" t="6786" r="57692" b="79646"/>
          <a:stretch>
            <a:fillRect/>
          </a:stretch>
        </p:blipFill>
        <p:spPr bwMode="auto">
          <a:xfrm>
            <a:off x="3294448" y="1826296"/>
            <a:ext cx="525463" cy="3032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8" name="Picture 167">
            <a:extLst>
              <a:ext uri="{FF2B5EF4-FFF2-40B4-BE49-F238E27FC236}">
                <a16:creationId xmlns:a16="http://schemas.microsoft.com/office/drawing/2014/main" id="{32BDD6D2-D73D-41FF-8D5B-B1128A15C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563" t="74632" r="73076" b="8406"/>
          <a:stretch>
            <a:fillRect/>
          </a:stretch>
        </p:blipFill>
        <p:spPr bwMode="auto">
          <a:xfrm>
            <a:off x="2670561" y="3305846"/>
            <a:ext cx="693737" cy="3730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9" name="Text Box 12">
            <a:extLst>
              <a:ext uri="{FF2B5EF4-FFF2-40B4-BE49-F238E27FC236}">
                <a16:creationId xmlns:a16="http://schemas.microsoft.com/office/drawing/2014/main" id="{A97E0791-435B-4441-B71A-30B97F9A0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886" y="2586803"/>
            <a:ext cx="4602918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3300"/>
                </a:solidFill>
                <a:latin typeface="宋体" charset="-122"/>
              </a:rPr>
              <a:t>可用双折线代替</a:t>
            </a:r>
            <a:r>
              <a:rPr lang="zh-CN" altLang="en-US" sz="2800" b="1" dirty="0">
                <a:solidFill>
                  <a:srgbClr val="FF3300"/>
                </a:solidFill>
                <a:latin typeface="宋体" charset="-122"/>
                <a:sym typeface="Symbol" pitchFamily="18" charset="2"/>
              </a:rPr>
              <a:t>波浪线。</a:t>
            </a:r>
          </a:p>
        </p:txBody>
      </p:sp>
      <p:sp>
        <p:nvSpPr>
          <p:cNvPr id="20" name="Text Box 2">
            <a:extLst>
              <a:ext uri="{FF2B5EF4-FFF2-40B4-BE49-F238E27FC236}">
                <a16:creationId xmlns:a16="http://schemas.microsoft.com/office/drawing/2014/main" id="{EE7532F7-917F-448E-B344-9217BAFA9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046" y="3187614"/>
            <a:ext cx="198804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适用范围：</a:t>
            </a: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6D7C13B0-BEF2-4979-9542-89B0175F4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046" y="3685800"/>
            <a:ext cx="5051522" cy="95410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latin typeface="宋体" charset="-122"/>
              </a:rPr>
              <a:t>    </a:t>
            </a:r>
            <a:r>
              <a:rPr lang="zh-CN" altLang="en-US" sz="2800" b="1" dirty="0">
                <a:latin typeface="宋体" charset="-122"/>
              </a:rPr>
              <a:t>局部剖是一种较灵活的表示方法，适用范围较广。</a:t>
            </a: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EAD62923-6C99-436A-8ADC-439860827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046" y="4869160"/>
            <a:ext cx="5195537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只有局部内形需要剖切表示，而又不宜采用全剖视时。</a:t>
            </a:r>
          </a:p>
        </p:txBody>
      </p:sp>
    </p:spTree>
    <p:extLst>
      <p:ext uri="{BB962C8B-B14F-4D97-AF65-F5344CB8AC3E}">
        <p14:creationId xmlns:p14="http://schemas.microsoft.com/office/powerpoint/2010/main" val="121678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19" grpId="0"/>
      <p:bldP spid="20" grpId="0"/>
      <p:bldP spid="21" grpId="0" autoUpdateAnimBg="0"/>
      <p:bldP spid="22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C3933C8A-ED06-427F-9526-F9DD99EE0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447" y="1459796"/>
            <a:ext cx="6676828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当不对称机件的内、外形都需要表达时。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003D362E-289E-4900-AEDE-77A5C806E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80" y="1319286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局部剖</a:t>
            </a:r>
            <a:endParaRPr lang="zh-CN" altLang="en-US" sz="2800" dirty="0"/>
          </a:p>
        </p:txBody>
      </p:sp>
      <p:pic>
        <p:nvPicPr>
          <p:cNvPr id="5" name="Picture 153">
            <a:extLst>
              <a:ext uri="{FF2B5EF4-FFF2-40B4-BE49-F238E27FC236}">
                <a16:creationId xmlns:a16="http://schemas.microsoft.com/office/drawing/2014/main" id="{AB3D88D6-A707-458C-BE47-D1BDFD33B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1042" y="2207182"/>
            <a:ext cx="3305175" cy="41338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C0ED7041-3C73-4D08-8D5C-11683CE39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4000" contrast="2000"/>
          </a:blip>
          <a:srcRect t="29720" b="40567"/>
          <a:stretch>
            <a:fillRect/>
          </a:stretch>
        </p:blipFill>
        <p:spPr bwMode="auto">
          <a:xfrm>
            <a:off x="7522542" y="2167494"/>
            <a:ext cx="3468688" cy="199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B2586477-C2B3-4736-BC39-9DFE7141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6000" contrast="2000"/>
          </a:blip>
          <a:srcRect t="59431" b="5566"/>
          <a:stretch>
            <a:fillRect/>
          </a:stretch>
        </p:blipFill>
        <p:spPr bwMode="auto">
          <a:xfrm>
            <a:off x="7522542" y="4347132"/>
            <a:ext cx="3354388" cy="227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2FE03EBB-C9DA-4046-BE17-CBA2CCB9F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7455" y="2302432"/>
            <a:ext cx="1679575" cy="1971675"/>
          </a:xfrm>
          <a:prstGeom prst="ellipse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charset="-122"/>
            </a:endParaRPr>
          </a:p>
        </p:txBody>
      </p:sp>
      <p:grpSp>
        <p:nvGrpSpPr>
          <p:cNvPr id="9" name="组合 218">
            <a:extLst>
              <a:ext uri="{FF2B5EF4-FFF2-40B4-BE49-F238E27FC236}">
                <a16:creationId xmlns:a16="http://schemas.microsoft.com/office/drawing/2014/main" id="{F50E5FEC-F3EA-4A88-812F-F04565648CE7}"/>
              </a:ext>
            </a:extLst>
          </p:cNvPr>
          <p:cNvGrpSpPr>
            <a:grpSpLocks/>
          </p:cNvGrpSpPr>
          <p:nvPr/>
        </p:nvGrpSpPr>
        <p:grpSpPr bwMode="auto">
          <a:xfrm>
            <a:off x="3623642" y="2375457"/>
            <a:ext cx="1314450" cy="1331913"/>
            <a:chOff x="2490759" y="2355834"/>
            <a:chExt cx="1314468" cy="1331933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09D12CE-C344-4E6A-861B-2EDB3F9D8C30}"/>
                </a:ext>
              </a:extLst>
            </p:cNvPr>
            <p:cNvCxnSpPr/>
            <p:nvPr/>
          </p:nvCxnSpPr>
          <p:spPr>
            <a:xfrm>
              <a:off x="2705074" y="2616188"/>
              <a:ext cx="474670" cy="1588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87CF72C0-1288-4F49-8208-210947A7391B}"/>
                </a:ext>
              </a:extLst>
            </p:cNvPr>
            <p:cNvCxnSpPr/>
            <p:nvPr/>
          </p:nvCxnSpPr>
          <p:spPr>
            <a:xfrm>
              <a:off x="2490759" y="2757478"/>
              <a:ext cx="547694" cy="1587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D3991F3-6F64-485E-94DE-2FBA8F660413}"/>
                </a:ext>
              </a:extLst>
            </p:cNvPr>
            <p:cNvCxnSpPr/>
            <p:nvPr/>
          </p:nvCxnSpPr>
          <p:spPr>
            <a:xfrm rot="16200000" flipV="1">
              <a:off x="2714599" y="3047994"/>
              <a:ext cx="912826" cy="7937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0887CF1-28D5-4E63-8FF9-825B04D271ED}"/>
                </a:ext>
              </a:extLst>
            </p:cNvPr>
            <p:cNvCxnSpPr/>
            <p:nvPr/>
          </p:nvCxnSpPr>
          <p:spPr>
            <a:xfrm>
              <a:off x="3174980" y="3482976"/>
              <a:ext cx="620722" cy="1588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AA437BC0-3ECC-4C0F-BE93-07D20503B480}"/>
                </a:ext>
              </a:extLst>
            </p:cNvPr>
            <p:cNvCxnSpPr/>
            <p:nvPr/>
          </p:nvCxnSpPr>
          <p:spPr>
            <a:xfrm rot="60000" flipV="1">
              <a:off x="3024166" y="3662367"/>
              <a:ext cx="781061" cy="9525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74A5D34-811F-4ED7-A311-820FB2B11FA4}"/>
                </a:ext>
              </a:extLst>
            </p:cNvPr>
            <p:cNvCxnSpPr/>
            <p:nvPr/>
          </p:nvCxnSpPr>
          <p:spPr>
            <a:xfrm rot="16260000" flipV="1">
              <a:off x="2362169" y="2552687"/>
              <a:ext cx="401644" cy="7938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A34DEFF-3BF6-4A87-BFF3-4A4EC3338A6E}"/>
                </a:ext>
              </a:extLst>
            </p:cNvPr>
            <p:cNvCxnSpPr/>
            <p:nvPr/>
          </p:nvCxnSpPr>
          <p:spPr>
            <a:xfrm rot="16200000" flipV="1">
              <a:off x="2571722" y="3224210"/>
              <a:ext cx="912827" cy="7937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C8DB5FCF-EC19-4990-BB0C-D63C12C2E01C}"/>
                </a:ext>
              </a:extLst>
            </p:cNvPr>
            <p:cNvCxnSpPr/>
            <p:nvPr/>
          </p:nvCxnSpPr>
          <p:spPr>
            <a:xfrm>
              <a:off x="2541560" y="2365359"/>
              <a:ext cx="182564" cy="1588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4FE484E-9E43-4559-8B69-E25BCC7BF4E9}"/>
                </a:ext>
              </a:extLst>
            </p:cNvPr>
            <p:cNvCxnSpPr/>
            <p:nvPr/>
          </p:nvCxnSpPr>
          <p:spPr>
            <a:xfrm>
              <a:off x="2630461" y="2443148"/>
              <a:ext cx="109538" cy="1587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A3EDF7EF-01BA-45E0-A60F-F5A96BDAA6F9}"/>
                </a:ext>
              </a:extLst>
            </p:cNvPr>
            <p:cNvCxnSpPr/>
            <p:nvPr/>
          </p:nvCxnSpPr>
          <p:spPr>
            <a:xfrm rot="5400000" flipH="1" flipV="1">
              <a:off x="2665386" y="2411398"/>
              <a:ext cx="109539" cy="1587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946B15B7-3FDC-4640-A6EC-6F89FAAAD46F}"/>
                </a:ext>
              </a:extLst>
            </p:cNvPr>
            <p:cNvCxnSpPr/>
            <p:nvPr/>
          </p:nvCxnSpPr>
          <p:spPr>
            <a:xfrm>
              <a:off x="2625698" y="2516174"/>
              <a:ext cx="109540" cy="1587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8A13DA2-A83A-47DC-AE66-584CEA48C396}"/>
                </a:ext>
              </a:extLst>
            </p:cNvPr>
            <p:cNvCxnSpPr/>
            <p:nvPr/>
          </p:nvCxnSpPr>
          <p:spPr>
            <a:xfrm rot="5400000" flipH="1" flipV="1">
              <a:off x="2593947" y="2473311"/>
              <a:ext cx="109540" cy="1588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E849F4AF-518F-45D4-B1BF-E8AD8C41F384}"/>
                </a:ext>
              </a:extLst>
            </p:cNvPr>
            <p:cNvCxnSpPr/>
            <p:nvPr/>
          </p:nvCxnSpPr>
          <p:spPr>
            <a:xfrm rot="5400000" flipH="1" flipV="1">
              <a:off x="2662211" y="2573325"/>
              <a:ext cx="109539" cy="1587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A0159F4-C6D9-455B-82E8-959F2A825709}"/>
                </a:ext>
              </a:extLst>
            </p:cNvPr>
            <p:cNvCxnSpPr/>
            <p:nvPr/>
          </p:nvCxnSpPr>
          <p:spPr>
            <a:xfrm rot="5400000" flipH="1" flipV="1">
              <a:off x="3346433" y="3575052"/>
              <a:ext cx="146052" cy="0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4D2984A-13CD-45C0-87F5-2D4238DB6678}"/>
                </a:ext>
              </a:extLst>
            </p:cNvPr>
            <p:cNvCxnSpPr/>
            <p:nvPr/>
          </p:nvCxnSpPr>
          <p:spPr>
            <a:xfrm rot="5400000" flipH="1" flipV="1">
              <a:off x="3692512" y="3578228"/>
              <a:ext cx="219078" cy="0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20">
            <a:extLst>
              <a:ext uri="{FF2B5EF4-FFF2-40B4-BE49-F238E27FC236}">
                <a16:creationId xmlns:a16="http://schemas.microsoft.com/office/drawing/2014/main" id="{A985C6B1-6BF5-4F83-A85B-51ECE850E280}"/>
              </a:ext>
            </a:extLst>
          </p:cNvPr>
          <p:cNvGrpSpPr>
            <a:grpSpLocks/>
          </p:cNvGrpSpPr>
          <p:nvPr/>
        </p:nvGrpSpPr>
        <p:grpSpPr bwMode="auto">
          <a:xfrm>
            <a:off x="2372692" y="4804332"/>
            <a:ext cx="1433512" cy="1403350"/>
            <a:chOff x="1239792" y="4784725"/>
            <a:chExt cx="1433532" cy="1403388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F1514D9-1B1B-4BF5-AB2F-71F48B7C3426}"/>
                </a:ext>
              </a:extLst>
            </p:cNvPr>
            <p:cNvCxnSpPr/>
            <p:nvPr/>
          </p:nvCxnSpPr>
          <p:spPr>
            <a:xfrm>
              <a:off x="1239792" y="6170651"/>
              <a:ext cx="1433532" cy="1587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8BECB5-FAF9-41FD-8534-2AD3240B441D}"/>
                </a:ext>
              </a:extLst>
            </p:cNvPr>
            <p:cNvCxnSpPr/>
            <p:nvPr/>
          </p:nvCxnSpPr>
          <p:spPr>
            <a:xfrm rot="5400000" flipH="1" flipV="1">
              <a:off x="2576485" y="6091273"/>
              <a:ext cx="146054" cy="0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EC43D715-383E-4017-BD62-5A96872719BB}"/>
                </a:ext>
              </a:extLst>
            </p:cNvPr>
            <p:cNvCxnSpPr/>
            <p:nvPr/>
          </p:nvCxnSpPr>
          <p:spPr>
            <a:xfrm rot="5400000" flipH="1" flipV="1">
              <a:off x="2490758" y="6094448"/>
              <a:ext cx="146054" cy="0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01589F4-E1AF-47D0-9B0B-7B463DF61B0F}"/>
                </a:ext>
              </a:extLst>
            </p:cNvPr>
            <p:cNvCxnSpPr/>
            <p:nvPr/>
          </p:nvCxnSpPr>
          <p:spPr>
            <a:xfrm rot="5400000" flipH="1" flipV="1">
              <a:off x="2317718" y="6094448"/>
              <a:ext cx="146054" cy="0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CE1A37A-2828-44C8-B8BC-885B8B9630C4}"/>
                </a:ext>
              </a:extLst>
            </p:cNvPr>
            <p:cNvCxnSpPr/>
            <p:nvPr/>
          </p:nvCxnSpPr>
          <p:spPr>
            <a:xfrm rot="5400000" flipH="1" flipV="1">
              <a:off x="1441406" y="6094448"/>
              <a:ext cx="146054" cy="0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60243DA-375D-4B4D-A8A9-5C77D2D7AC68}"/>
                </a:ext>
              </a:extLst>
            </p:cNvPr>
            <p:cNvCxnSpPr/>
            <p:nvPr/>
          </p:nvCxnSpPr>
          <p:spPr>
            <a:xfrm rot="5400000" flipH="1" flipV="1">
              <a:off x="1269953" y="6094448"/>
              <a:ext cx="146054" cy="0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1BF94729-13D8-4DF2-9E7F-7F65D4A347A1}"/>
                </a:ext>
              </a:extLst>
            </p:cNvPr>
            <p:cNvCxnSpPr/>
            <p:nvPr/>
          </p:nvCxnSpPr>
          <p:spPr>
            <a:xfrm rot="16320000" flipV="1">
              <a:off x="1173115" y="6100799"/>
              <a:ext cx="165104" cy="6350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2FF851FB-EE14-495C-8035-F6BD390C760B}"/>
                </a:ext>
              </a:extLst>
            </p:cNvPr>
            <p:cNvCxnSpPr/>
            <p:nvPr/>
          </p:nvCxnSpPr>
          <p:spPr>
            <a:xfrm flipV="1">
              <a:off x="1239792" y="6024597"/>
              <a:ext cx="411168" cy="6350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F56D1A2-C5AA-45F7-A34E-3B74E5CD9FBB}"/>
                </a:ext>
              </a:extLst>
            </p:cNvPr>
            <p:cNvCxnSpPr/>
            <p:nvPr/>
          </p:nvCxnSpPr>
          <p:spPr>
            <a:xfrm flipV="1">
              <a:off x="2247868" y="6024597"/>
              <a:ext cx="411169" cy="6350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07142B21-30CF-482E-AC74-351610C6047D}"/>
                </a:ext>
              </a:extLst>
            </p:cNvPr>
            <p:cNvCxnSpPr/>
            <p:nvPr/>
          </p:nvCxnSpPr>
          <p:spPr>
            <a:xfrm rot="5400000" flipH="1" flipV="1">
              <a:off x="1766845" y="5829328"/>
              <a:ext cx="714394" cy="3175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063145EF-F023-47C6-8012-E0DB0BBF3535}"/>
                </a:ext>
              </a:extLst>
            </p:cNvPr>
            <p:cNvCxnSpPr/>
            <p:nvPr/>
          </p:nvCxnSpPr>
          <p:spPr>
            <a:xfrm rot="16260000" flipV="1">
              <a:off x="1140564" y="5549127"/>
              <a:ext cx="1262096" cy="15875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6D638D91-2862-487A-9868-AD9C99DFC0AC}"/>
                </a:ext>
              </a:extLst>
            </p:cNvPr>
            <p:cNvCxnSpPr/>
            <p:nvPr/>
          </p:nvCxnSpPr>
          <p:spPr>
            <a:xfrm rot="5340000" flipH="1" flipV="1">
              <a:off x="1088970" y="5465782"/>
              <a:ext cx="1095405" cy="15875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9AA50669-19F8-490B-BBF5-557972441A35}"/>
                </a:ext>
              </a:extLst>
            </p:cNvPr>
            <p:cNvCxnSpPr/>
            <p:nvPr/>
          </p:nvCxnSpPr>
          <p:spPr>
            <a:xfrm rot="5400000" flipH="1" flipV="1">
              <a:off x="2085938" y="5864255"/>
              <a:ext cx="365135" cy="0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任意多边形 215">
              <a:extLst>
                <a:ext uri="{FF2B5EF4-FFF2-40B4-BE49-F238E27FC236}">
                  <a16:creationId xmlns:a16="http://schemas.microsoft.com/office/drawing/2014/main" id="{0AD87DDF-AEA3-48FF-99EF-7F2AF5A6A398}"/>
                </a:ext>
              </a:extLst>
            </p:cNvPr>
            <p:cNvSpPr/>
            <p:nvPr/>
          </p:nvSpPr>
          <p:spPr>
            <a:xfrm>
              <a:off x="1770024" y="4784725"/>
              <a:ext cx="779473" cy="766784"/>
            </a:xfrm>
            <a:custGeom>
              <a:avLst/>
              <a:gdLst>
                <a:gd name="connsiteX0" fmla="*/ 20637 w 779462"/>
                <a:gd name="connsiteY0" fmla="*/ 0 h 767292"/>
                <a:gd name="connsiteX1" fmla="*/ 4762 w 779462"/>
                <a:gd name="connsiteY1" fmla="*/ 82550 h 767292"/>
                <a:gd name="connsiteX2" fmla="*/ 4762 w 779462"/>
                <a:gd name="connsiteY2" fmla="*/ 133350 h 767292"/>
                <a:gd name="connsiteX3" fmla="*/ 4762 w 779462"/>
                <a:gd name="connsiteY3" fmla="*/ 171450 h 767292"/>
                <a:gd name="connsiteX4" fmla="*/ 1587 w 779462"/>
                <a:gd name="connsiteY4" fmla="*/ 209550 h 767292"/>
                <a:gd name="connsiteX5" fmla="*/ 14287 w 779462"/>
                <a:gd name="connsiteY5" fmla="*/ 263525 h 767292"/>
                <a:gd name="connsiteX6" fmla="*/ 23812 w 779462"/>
                <a:gd name="connsiteY6" fmla="*/ 304800 h 767292"/>
                <a:gd name="connsiteX7" fmla="*/ 36512 w 779462"/>
                <a:gd name="connsiteY7" fmla="*/ 336550 h 767292"/>
                <a:gd name="connsiteX8" fmla="*/ 71437 w 779462"/>
                <a:gd name="connsiteY8" fmla="*/ 403225 h 767292"/>
                <a:gd name="connsiteX9" fmla="*/ 106362 w 779462"/>
                <a:gd name="connsiteY9" fmla="*/ 466725 h 767292"/>
                <a:gd name="connsiteX10" fmla="*/ 138112 w 779462"/>
                <a:gd name="connsiteY10" fmla="*/ 527050 h 767292"/>
                <a:gd name="connsiteX11" fmla="*/ 192087 w 779462"/>
                <a:gd name="connsiteY11" fmla="*/ 568325 h 767292"/>
                <a:gd name="connsiteX12" fmla="*/ 223837 w 779462"/>
                <a:gd name="connsiteY12" fmla="*/ 603250 h 767292"/>
                <a:gd name="connsiteX13" fmla="*/ 306387 w 779462"/>
                <a:gd name="connsiteY13" fmla="*/ 673100 h 767292"/>
                <a:gd name="connsiteX14" fmla="*/ 363537 w 779462"/>
                <a:gd name="connsiteY14" fmla="*/ 695325 h 767292"/>
                <a:gd name="connsiteX15" fmla="*/ 414337 w 779462"/>
                <a:gd name="connsiteY15" fmla="*/ 720725 h 767292"/>
                <a:gd name="connsiteX16" fmla="*/ 484187 w 779462"/>
                <a:gd name="connsiteY16" fmla="*/ 736600 h 767292"/>
                <a:gd name="connsiteX17" fmla="*/ 560387 w 779462"/>
                <a:gd name="connsiteY17" fmla="*/ 746125 h 767292"/>
                <a:gd name="connsiteX18" fmla="*/ 630237 w 779462"/>
                <a:gd name="connsiteY18" fmla="*/ 758825 h 767292"/>
                <a:gd name="connsiteX19" fmla="*/ 700087 w 779462"/>
                <a:gd name="connsiteY19" fmla="*/ 765175 h 767292"/>
                <a:gd name="connsiteX20" fmla="*/ 744537 w 779462"/>
                <a:gd name="connsiteY20" fmla="*/ 746125 h 767292"/>
                <a:gd name="connsiteX21" fmla="*/ 779462 w 779462"/>
                <a:gd name="connsiteY21" fmla="*/ 736600 h 767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79462" h="767292">
                  <a:moveTo>
                    <a:pt x="20637" y="0"/>
                  </a:moveTo>
                  <a:cubicBezTo>
                    <a:pt x="14022" y="30162"/>
                    <a:pt x="7408" y="60325"/>
                    <a:pt x="4762" y="82550"/>
                  </a:cubicBezTo>
                  <a:cubicBezTo>
                    <a:pt x="2116" y="104775"/>
                    <a:pt x="4762" y="133350"/>
                    <a:pt x="4762" y="133350"/>
                  </a:cubicBezTo>
                  <a:cubicBezTo>
                    <a:pt x="4762" y="148167"/>
                    <a:pt x="5291" y="158750"/>
                    <a:pt x="4762" y="171450"/>
                  </a:cubicBezTo>
                  <a:cubicBezTo>
                    <a:pt x="4233" y="184150"/>
                    <a:pt x="0" y="194204"/>
                    <a:pt x="1587" y="209550"/>
                  </a:cubicBezTo>
                  <a:cubicBezTo>
                    <a:pt x="3175" y="224896"/>
                    <a:pt x="10583" y="247650"/>
                    <a:pt x="14287" y="263525"/>
                  </a:cubicBezTo>
                  <a:cubicBezTo>
                    <a:pt x="17991" y="279400"/>
                    <a:pt x="20108" y="292629"/>
                    <a:pt x="23812" y="304800"/>
                  </a:cubicBezTo>
                  <a:cubicBezTo>
                    <a:pt x="27516" y="316971"/>
                    <a:pt x="28575" y="320146"/>
                    <a:pt x="36512" y="336550"/>
                  </a:cubicBezTo>
                  <a:cubicBezTo>
                    <a:pt x="44450" y="352954"/>
                    <a:pt x="59795" y="381529"/>
                    <a:pt x="71437" y="403225"/>
                  </a:cubicBezTo>
                  <a:cubicBezTo>
                    <a:pt x="83079" y="424921"/>
                    <a:pt x="95250" y="446088"/>
                    <a:pt x="106362" y="466725"/>
                  </a:cubicBezTo>
                  <a:cubicBezTo>
                    <a:pt x="117474" y="487362"/>
                    <a:pt x="123825" y="510117"/>
                    <a:pt x="138112" y="527050"/>
                  </a:cubicBezTo>
                  <a:cubicBezTo>
                    <a:pt x="152399" y="543983"/>
                    <a:pt x="177800" y="555625"/>
                    <a:pt x="192087" y="568325"/>
                  </a:cubicBezTo>
                  <a:cubicBezTo>
                    <a:pt x="206375" y="581025"/>
                    <a:pt x="204787" y="585788"/>
                    <a:pt x="223837" y="603250"/>
                  </a:cubicBezTo>
                  <a:cubicBezTo>
                    <a:pt x="242887" y="620712"/>
                    <a:pt x="283104" y="657754"/>
                    <a:pt x="306387" y="673100"/>
                  </a:cubicBezTo>
                  <a:cubicBezTo>
                    <a:pt x="329670" y="688446"/>
                    <a:pt x="345545" y="687388"/>
                    <a:pt x="363537" y="695325"/>
                  </a:cubicBezTo>
                  <a:cubicBezTo>
                    <a:pt x="381529" y="703263"/>
                    <a:pt x="394229" y="713846"/>
                    <a:pt x="414337" y="720725"/>
                  </a:cubicBezTo>
                  <a:cubicBezTo>
                    <a:pt x="434445" y="727604"/>
                    <a:pt x="459845" y="732367"/>
                    <a:pt x="484187" y="736600"/>
                  </a:cubicBezTo>
                  <a:cubicBezTo>
                    <a:pt x="508529" y="740833"/>
                    <a:pt x="536045" y="742421"/>
                    <a:pt x="560387" y="746125"/>
                  </a:cubicBezTo>
                  <a:cubicBezTo>
                    <a:pt x="584729" y="749829"/>
                    <a:pt x="606954" y="755650"/>
                    <a:pt x="630237" y="758825"/>
                  </a:cubicBezTo>
                  <a:cubicBezTo>
                    <a:pt x="653520" y="762000"/>
                    <a:pt x="681037" y="767292"/>
                    <a:pt x="700087" y="765175"/>
                  </a:cubicBezTo>
                  <a:cubicBezTo>
                    <a:pt x="719137" y="763058"/>
                    <a:pt x="731308" y="750887"/>
                    <a:pt x="744537" y="746125"/>
                  </a:cubicBezTo>
                  <a:cubicBezTo>
                    <a:pt x="757766" y="741363"/>
                    <a:pt x="768614" y="738981"/>
                    <a:pt x="779462" y="736600"/>
                  </a:cubicBezTo>
                </a:path>
              </a:pathLst>
            </a:cu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0" name="任意多边形 216">
              <a:extLst>
                <a:ext uri="{FF2B5EF4-FFF2-40B4-BE49-F238E27FC236}">
                  <a16:creationId xmlns:a16="http://schemas.microsoft.com/office/drawing/2014/main" id="{222C2E86-9573-4936-BC40-E89C6D067175}"/>
                </a:ext>
              </a:extLst>
            </p:cNvPr>
            <p:cNvSpPr/>
            <p:nvPr/>
          </p:nvSpPr>
          <p:spPr>
            <a:xfrm rot="16507273">
              <a:off x="2360582" y="5510235"/>
              <a:ext cx="46038" cy="287341"/>
            </a:xfrm>
            <a:custGeom>
              <a:avLst/>
              <a:gdLst>
                <a:gd name="connsiteX0" fmla="*/ 20637 w 779462"/>
                <a:gd name="connsiteY0" fmla="*/ 0 h 767292"/>
                <a:gd name="connsiteX1" fmla="*/ 4762 w 779462"/>
                <a:gd name="connsiteY1" fmla="*/ 82550 h 767292"/>
                <a:gd name="connsiteX2" fmla="*/ 4762 w 779462"/>
                <a:gd name="connsiteY2" fmla="*/ 133350 h 767292"/>
                <a:gd name="connsiteX3" fmla="*/ 4762 w 779462"/>
                <a:gd name="connsiteY3" fmla="*/ 171450 h 767292"/>
                <a:gd name="connsiteX4" fmla="*/ 1587 w 779462"/>
                <a:gd name="connsiteY4" fmla="*/ 209550 h 767292"/>
                <a:gd name="connsiteX5" fmla="*/ 14287 w 779462"/>
                <a:gd name="connsiteY5" fmla="*/ 263525 h 767292"/>
                <a:gd name="connsiteX6" fmla="*/ 23812 w 779462"/>
                <a:gd name="connsiteY6" fmla="*/ 304800 h 767292"/>
                <a:gd name="connsiteX7" fmla="*/ 36512 w 779462"/>
                <a:gd name="connsiteY7" fmla="*/ 336550 h 767292"/>
                <a:gd name="connsiteX8" fmla="*/ 71437 w 779462"/>
                <a:gd name="connsiteY8" fmla="*/ 403225 h 767292"/>
                <a:gd name="connsiteX9" fmla="*/ 106362 w 779462"/>
                <a:gd name="connsiteY9" fmla="*/ 466725 h 767292"/>
                <a:gd name="connsiteX10" fmla="*/ 138112 w 779462"/>
                <a:gd name="connsiteY10" fmla="*/ 527050 h 767292"/>
                <a:gd name="connsiteX11" fmla="*/ 192087 w 779462"/>
                <a:gd name="connsiteY11" fmla="*/ 568325 h 767292"/>
                <a:gd name="connsiteX12" fmla="*/ 223837 w 779462"/>
                <a:gd name="connsiteY12" fmla="*/ 603250 h 767292"/>
                <a:gd name="connsiteX13" fmla="*/ 306387 w 779462"/>
                <a:gd name="connsiteY13" fmla="*/ 673100 h 767292"/>
                <a:gd name="connsiteX14" fmla="*/ 363537 w 779462"/>
                <a:gd name="connsiteY14" fmla="*/ 695325 h 767292"/>
                <a:gd name="connsiteX15" fmla="*/ 414337 w 779462"/>
                <a:gd name="connsiteY15" fmla="*/ 720725 h 767292"/>
                <a:gd name="connsiteX16" fmla="*/ 484187 w 779462"/>
                <a:gd name="connsiteY16" fmla="*/ 736600 h 767292"/>
                <a:gd name="connsiteX17" fmla="*/ 560387 w 779462"/>
                <a:gd name="connsiteY17" fmla="*/ 746125 h 767292"/>
                <a:gd name="connsiteX18" fmla="*/ 630237 w 779462"/>
                <a:gd name="connsiteY18" fmla="*/ 758825 h 767292"/>
                <a:gd name="connsiteX19" fmla="*/ 700087 w 779462"/>
                <a:gd name="connsiteY19" fmla="*/ 765175 h 767292"/>
                <a:gd name="connsiteX20" fmla="*/ 744537 w 779462"/>
                <a:gd name="connsiteY20" fmla="*/ 746125 h 767292"/>
                <a:gd name="connsiteX21" fmla="*/ 779462 w 779462"/>
                <a:gd name="connsiteY21" fmla="*/ 736600 h 767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79462" h="767292">
                  <a:moveTo>
                    <a:pt x="20637" y="0"/>
                  </a:moveTo>
                  <a:cubicBezTo>
                    <a:pt x="14022" y="30162"/>
                    <a:pt x="7408" y="60325"/>
                    <a:pt x="4762" y="82550"/>
                  </a:cubicBezTo>
                  <a:cubicBezTo>
                    <a:pt x="2116" y="104775"/>
                    <a:pt x="4762" y="133350"/>
                    <a:pt x="4762" y="133350"/>
                  </a:cubicBezTo>
                  <a:cubicBezTo>
                    <a:pt x="4762" y="148167"/>
                    <a:pt x="5291" y="158750"/>
                    <a:pt x="4762" y="171450"/>
                  </a:cubicBezTo>
                  <a:cubicBezTo>
                    <a:pt x="4233" y="184150"/>
                    <a:pt x="0" y="194204"/>
                    <a:pt x="1587" y="209550"/>
                  </a:cubicBezTo>
                  <a:cubicBezTo>
                    <a:pt x="3175" y="224896"/>
                    <a:pt x="10583" y="247650"/>
                    <a:pt x="14287" y="263525"/>
                  </a:cubicBezTo>
                  <a:cubicBezTo>
                    <a:pt x="17991" y="279400"/>
                    <a:pt x="20108" y="292629"/>
                    <a:pt x="23812" y="304800"/>
                  </a:cubicBezTo>
                  <a:cubicBezTo>
                    <a:pt x="27516" y="316971"/>
                    <a:pt x="28575" y="320146"/>
                    <a:pt x="36512" y="336550"/>
                  </a:cubicBezTo>
                  <a:cubicBezTo>
                    <a:pt x="44450" y="352954"/>
                    <a:pt x="59795" y="381529"/>
                    <a:pt x="71437" y="403225"/>
                  </a:cubicBezTo>
                  <a:cubicBezTo>
                    <a:pt x="83079" y="424921"/>
                    <a:pt x="95250" y="446088"/>
                    <a:pt x="106362" y="466725"/>
                  </a:cubicBezTo>
                  <a:cubicBezTo>
                    <a:pt x="117474" y="487362"/>
                    <a:pt x="123825" y="510117"/>
                    <a:pt x="138112" y="527050"/>
                  </a:cubicBezTo>
                  <a:cubicBezTo>
                    <a:pt x="152399" y="543983"/>
                    <a:pt x="177800" y="555625"/>
                    <a:pt x="192087" y="568325"/>
                  </a:cubicBezTo>
                  <a:cubicBezTo>
                    <a:pt x="206375" y="581025"/>
                    <a:pt x="204787" y="585788"/>
                    <a:pt x="223837" y="603250"/>
                  </a:cubicBezTo>
                  <a:cubicBezTo>
                    <a:pt x="242887" y="620712"/>
                    <a:pt x="283104" y="657754"/>
                    <a:pt x="306387" y="673100"/>
                  </a:cubicBezTo>
                  <a:cubicBezTo>
                    <a:pt x="329670" y="688446"/>
                    <a:pt x="345545" y="687388"/>
                    <a:pt x="363537" y="695325"/>
                  </a:cubicBezTo>
                  <a:cubicBezTo>
                    <a:pt x="381529" y="703263"/>
                    <a:pt x="394229" y="713846"/>
                    <a:pt x="414337" y="720725"/>
                  </a:cubicBezTo>
                  <a:cubicBezTo>
                    <a:pt x="434445" y="727604"/>
                    <a:pt x="459845" y="732367"/>
                    <a:pt x="484187" y="736600"/>
                  </a:cubicBezTo>
                  <a:cubicBezTo>
                    <a:pt x="508529" y="740833"/>
                    <a:pt x="536045" y="742421"/>
                    <a:pt x="560387" y="746125"/>
                  </a:cubicBezTo>
                  <a:cubicBezTo>
                    <a:pt x="584729" y="749829"/>
                    <a:pt x="606954" y="755650"/>
                    <a:pt x="630237" y="758825"/>
                  </a:cubicBezTo>
                  <a:cubicBezTo>
                    <a:pt x="653520" y="762000"/>
                    <a:pt x="681037" y="767292"/>
                    <a:pt x="700087" y="765175"/>
                  </a:cubicBezTo>
                  <a:cubicBezTo>
                    <a:pt x="719137" y="763058"/>
                    <a:pt x="731308" y="750887"/>
                    <a:pt x="744537" y="746125"/>
                  </a:cubicBezTo>
                  <a:cubicBezTo>
                    <a:pt x="757766" y="741363"/>
                    <a:pt x="768614" y="738981"/>
                    <a:pt x="779462" y="736600"/>
                  </a:cubicBezTo>
                </a:path>
              </a:pathLst>
            </a:cu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B56FBA78-6F28-4AD6-8B79-3546CEB52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9517" y="4785282"/>
            <a:ext cx="1825625" cy="1168400"/>
          </a:xfrm>
          <a:prstGeom prst="ellipse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charset="-122"/>
            </a:endParaRPr>
          </a:p>
        </p:txBody>
      </p:sp>
      <p:sp>
        <p:nvSpPr>
          <p:cNvPr id="42" name="Rectangle 12">
            <a:extLst>
              <a:ext uri="{FF2B5EF4-FFF2-40B4-BE49-F238E27FC236}">
                <a16:creationId xmlns:a16="http://schemas.microsoft.com/office/drawing/2014/main" id="{C469C78F-6312-4D94-8570-11685539B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203" y="2392706"/>
            <a:ext cx="1822450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CN" altLang="en-US" sz="2400" b="1" dirty="0">
                <a:solidFill>
                  <a:schemeClr val="accent2"/>
                </a:solidFill>
                <a:latin typeface="+mn-ea"/>
                <a:ea typeface="+mn-ea"/>
              </a:rPr>
              <a:t>局部剖视图中视图与剖视图之间以波浪线 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C05DCAF9-B6AE-476D-A28F-066D0B78475D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3733179" y="3158095"/>
            <a:ext cx="1423988" cy="180975"/>
          </a:xfrm>
          <a:prstGeom prst="straightConnector1">
            <a:avLst/>
          </a:prstGeom>
          <a:noFill/>
          <a:ln w="349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9FDBD54-305C-47D5-830B-5DBB610843D5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3295029" y="3158095"/>
            <a:ext cx="1862138" cy="1677987"/>
          </a:xfrm>
          <a:prstGeom prst="straightConnector1">
            <a:avLst/>
          </a:prstGeom>
          <a:noFill/>
          <a:ln w="34925" algn="ctr">
            <a:solidFill>
              <a:srgbClr val="FF0000"/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26548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1" grpId="0" animBg="1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B7FA05F-7398-466B-BC43-E52841116D6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关于剖视图的适用条件，说法正确的是？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BFFE02-F51C-41D8-84DE-3070136EF6B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243572" y="27860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外形较简单，内形较复杂，而图形又不对称时，用全剖视图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3741E1-821A-4DAC-AAB6-5F20D5655AE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43572" y="3643313"/>
            <a:ext cx="8770168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内、外形都需要表达，而形状又对称或基本对称时，用半剖视图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44B420-6E01-4DE9-8663-4CF2BDA25EC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43572" y="45005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latin typeface="+mn-ea"/>
                <a:ea typeface="+mn-ea"/>
              </a:rPr>
              <a:t>当不对称机件的内、外形都需要表达时，用局部剖视图。</a:t>
            </a:r>
            <a:endParaRPr kumimoji="0" lang="zh-CN" altLang="en-US" sz="2400" b="1" dirty="0">
              <a:latin typeface="+mn-ea"/>
              <a:ea typeface="+mn-ea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6CB4DB-4536-4945-B4A5-46A87A3E35B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243572" y="535781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zh-CN" altLang="en-US" sz="2400" b="1" dirty="0">
                <a:latin typeface="+mn-ea"/>
                <a:ea typeface="+mn-ea"/>
                <a:cs typeface="+mj-cs"/>
                <a:sym typeface="Microsoft Yahei" panose="020B0503020204020204" pitchFamily="34" charset="-122"/>
              </a:rPr>
              <a:t>有的机件，虽然对称但不能采用半剖视图。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1D1F34-1CA4-4332-8825-E78C13B8A92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953E6D-BDF4-4758-8F9C-24BD2EC069D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30DD93-FB20-44A4-99E9-EE8A71F67AD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4F54CA-0489-47F4-BDB7-EB915C1517B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B7D919E-53EC-4520-B93C-321259580872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9687137-E8E9-4D95-8C47-B9956FD672C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993E468C-01EA-41EE-86F5-A2163EC4FCC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5FDC7CD2-E411-4113-8499-A8280A97E1E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5278CAD-8F4A-491D-B715-E27D3A62D44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6F3B781-875F-4321-989D-CC6A30A1D04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5693A2C-67B3-432C-BE13-EFB88298949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659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" name="Picture 131">
            <a:extLst>
              <a:ext uri="{FF2B5EF4-FFF2-40B4-BE49-F238E27FC236}">
                <a16:creationId xmlns:a16="http://schemas.microsoft.com/office/drawing/2014/main" id="{7DA79062-9251-4AFF-A9B1-ADD1CA108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01024" y="2297113"/>
            <a:ext cx="3814763" cy="17589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4" name="Picture 132">
            <a:extLst>
              <a:ext uri="{FF2B5EF4-FFF2-40B4-BE49-F238E27FC236}">
                <a16:creationId xmlns:a16="http://schemas.microsoft.com/office/drawing/2014/main" id="{05B0D2BE-ECFA-4904-9FEB-CEB495A6B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14799" y="2247900"/>
            <a:ext cx="3870325" cy="1838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09205B55-7E39-4E31-B022-01D6E91E0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693" y="2000325"/>
            <a:ext cx="2201068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① 当对称机件的轮廓线与中心线重合，不宜采用半剖视时。</a:t>
            </a: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100AB854-3900-4983-AD7F-6D49064BC872}"/>
              </a:ext>
            </a:extLst>
          </p:cNvPr>
          <p:cNvSpPr>
            <a:spLocks noChangeArrowheads="1"/>
          </p:cNvSpPr>
          <p:nvPr/>
        </p:nvSpPr>
        <p:spPr bwMode="auto">
          <a:xfrm rot="-1141184">
            <a:off x="3656112" y="3194050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3F8CA2F1-F2F9-462F-B589-931D6D675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2737" y="2119313"/>
            <a:ext cx="820737" cy="393700"/>
          </a:xfrm>
          <a:prstGeom prst="wedgeRectCallout">
            <a:avLst>
              <a:gd name="adj1" fmla="val -121676"/>
              <a:gd name="adj2" fmla="val 183736"/>
            </a:avLst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/>
              <a:t>错误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47B6D906-48C9-4A2F-A900-6AEBD75F0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1387" y="2151063"/>
            <a:ext cx="679450" cy="433387"/>
          </a:xfrm>
          <a:prstGeom prst="wedgeRectCallout">
            <a:avLst>
              <a:gd name="adj1" fmla="val -121495"/>
              <a:gd name="adj2" fmla="val 115935"/>
            </a:avLst>
          </a:prstGeom>
          <a:solidFill>
            <a:srgbClr val="FFCC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/>
              <a:t>正确</a:t>
            </a:r>
          </a:p>
        </p:txBody>
      </p:sp>
      <p:sp>
        <p:nvSpPr>
          <p:cNvPr id="9" name="Text Box 56">
            <a:extLst>
              <a:ext uri="{FF2B5EF4-FFF2-40B4-BE49-F238E27FC236}">
                <a16:creationId xmlns:a16="http://schemas.microsoft.com/office/drawing/2014/main" id="{53DBD34C-A7F7-4807-9792-E5B424473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692" y="4748305"/>
            <a:ext cx="6282431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② 被剖切结构为回转体时，可将该结构的中心线作为局部剖视图与视图的分界线。 </a:t>
            </a:r>
          </a:p>
        </p:txBody>
      </p:sp>
      <p:pic>
        <p:nvPicPr>
          <p:cNvPr id="10" name="Picture 133">
            <a:extLst>
              <a:ext uri="{FF2B5EF4-FFF2-40B4-BE49-F238E27FC236}">
                <a16:creationId xmlns:a16="http://schemas.microsoft.com/office/drawing/2014/main" id="{D5FAB969-2F4D-476E-8954-C5F4F3BCF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915374" y="4295775"/>
            <a:ext cx="2008188" cy="25622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1" name="Text Box 2">
            <a:extLst>
              <a:ext uri="{FF2B5EF4-FFF2-40B4-BE49-F238E27FC236}">
                <a16:creationId xmlns:a16="http://schemas.microsoft.com/office/drawing/2014/main" id="{07876B5F-2A42-418A-94FC-F45961274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410" y="1307307"/>
            <a:ext cx="55403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二、画局部剖应注意的问题：</a:t>
            </a:r>
          </a:p>
        </p:txBody>
      </p:sp>
    </p:spTree>
    <p:extLst>
      <p:ext uri="{BB962C8B-B14F-4D97-AF65-F5344CB8AC3E}">
        <p14:creationId xmlns:p14="http://schemas.microsoft.com/office/powerpoint/2010/main" val="180377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 autoUpdateAnimBg="0"/>
      <p:bldP spid="8" grpId="0" animBg="1" autoUpdateAnimBg="0"/>
      <p:bldP spid="9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" name="Picture 60">
            <a:extLst>
              <a:ext uri="{FF2B5EF4-FFF2-40B4-BE49-F238E27FC236}">
                <a16:creationId xmlns:a16="http://schemas.microsoft.com/office/drawing/2014/main" id="{E4E07864-BB7D-4EBB-A3AC-68A2B5261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b="55084"/>
          <a:stretch>
            <a:fillRect/>
          </a:stretch>
        </p:blipFill>
        <p:spPr bwMode="auto">
          <a:xfrm>
            <a:off x="3611724" y="1844824"/>
            <a:ext cx="7064375" cy="20843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6616CAD2-A5F6-4A3E-81AF-B28F12B72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361" y="2144623"/>
            <a:ext cx="2046226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宋体" pitchFamily="2" charset="-122"/>
                <a:ea typeface="宋体" pitchFamily="2" charset="-122"/>
                <a:sym typeface="Symbol" pitchFamily="18" charset="2"/>
              </a:rPr>
              <a:t>③ 波浪线不能与图上的其它图线重合。</a:t>
            </a:r>
            <a:endParaRPr lang="zh-CN" altLang="en-US" sz="28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AutoShape 30">
            <a:extLst>
              <a:ext uri="{FF2B5EF4-FFF2-40B4-BE49-F238E27FC236}">
                <a16:creationId xmlns:a16="http://schemas.microsoft.com/office/drawing/2014/main" id="{6DE8E5E2-23CB-4382-87CA-BB0FAB3E2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2361" y="2067074"/>
            <a:ext cx="1022350" cy="519112"/>
          </a:xfrm>
          <a:prstGeom prst="wedgeEllipseCallout">
            <a:avLst>
              <a:gd name="adj1" fmla="val -59912"/>
              <a:gd name="adj2" fmla="val 129532"/>
            </a:avLst>
          </a:prstGeom>
          <a:solidFill>
            <a:srgbClr val="FFFF00">
              <a:alpha val="54901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/>
              <a:t>错误</a:t>
            </a:r>
          </a:p>
        </p:txBody>
      </p:sp>
      <p:sp>
        <p:nvSpPr>
          <p:cNvPr id="6" name="AutoShape 30">
            <a:extLst>
              <a:ext uri="{FF2B5EF4-FFF2-40B4-BE49-F238E27FC236}">
                <a16:creationId xmlns:a16="http://schemas.microsoft.com/office/drawing/2014/main" id="{B2612AC7-939C-45D9-A184-4B785BABD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4386" y="2286149"/>
            <a:ext cx="1022350" cy="519112"/>
          </a:xfrm>
          <a:prstGeom prst="wedgeEllipseCallout">
            <a:avLst>
              <a:gd name="adj1" fmla="val -59912"/>
              <a:gd name="adj2" fmla="val 129532"/>
            </a:avLst>
          </a:prstGeom>
          <a:solidFill>
            <a:srgbClr val="FFFF00">
              <a:alpha val="54901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/>
              <a:t>错误</a:t>
            </a:r>
          </a:p>
        </p:txBody>
      </p:sp>
      <p:pic>
        <p:nvPicPr>
          <p:cNvPr id="7" name="Picture 60">
            <a:extLst>
              <a:ext uri="{FF2B5EF4-FFF2-40B4-BE49-F238E27FC236}">
                <a16:creationId xmlns:a16="http://schemas.microsoft.com/office/drawing/2014/main" id="{2E5E5300-AD7F-4664-B8CF-2FDBA1D03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52785" b="8656"/>
          <a:stretch>
            <a:fillRect/>
          </a:stretch>
        </p:blipFill>
        <p:spPr bwMode="auto">
          <a:xfrm>
            <a:off x="3721261" y="4261160"/>
            <a:ext cx="7064375" cy="178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8" name="AutoShape 31">
            <a:extLst>
              <a:ext uri="{FF2B5EF4-FFF2-40B4-BE49-F238E27FC236}">
                <a16:creationId xmlns:a16="http://schemas.microsoft.com/office/drawing/2014/main" id="{B04D9BE7-9A2C-418B-92B1-81E799A8C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211" y="5940735"/>
            <a:ext cx="1022350" cy="519113"/>
          </a:xfrm>
          <a:prstGeom prst="wedgeEllipseCallout">
            <a:avLst>
              <a:gd name="adj1" fmla="val 71685"/>
              <a:gd name="adj2" fmla="val -141690"/>
            </a:avLst>
          </a:prstGeom>
          <a:solidFill>
            <a:srgbClr val="FFCCFF">
              <a:alpha val="5607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/>
              <a:t>正确</a:t>
            </a:r>
          </a:p>
        </p:txBody>
      </p:sp>
      <p:sp>
        <p:nvSpPr>
          <p:cNvPr id="9" name="AutoShape 31">
            <a:extLst>
              <a:ext uri="{FF2B5EF4-FFF2-40B4-BE49-F238E27FC236}">
                <a16:creationId xmlns:a16="http://schemas.microsoft.com/office/drawing/2014/main" id="{58556ECB-510A-4EB5-8E7E-6D697B2F5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0111" y="3969060"/>
            <a:ext cx="1022350" cy="519113"/>
          </a:xfrm>
          <a:prstGeom prst="wedgeEllipseCallout">
            <a:avLst>
              <a:gd name="adj1" fmla="val 73548"/>
              <a:gd name="adj2" fmla="val -121507"/>
            </a:avLst>
          </a:prstGeom>
          <a:solidFill>
            <a:srgbClr val="FFCCFF">
              <a:alpha val="5607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/>
              <a:t>正确</a:t>
            </a:r>
          </a:p>
        </p:txBody>
      </p:sp>
      <p:sp>
        <p:nvSpPr>
          <p:cNvPr id="10" name="AutoShape 30">
            <a:extLst>
              <a:ext uri="{FF2B5EF4-FFF2-40B4-BE49-F238E27FC236}">
                <a16:creationId xmlns:a16="http://schemas.microsoft.com/office/drawing/2014/main" id="{4C2904D1-5159-4CFB-A0BB-9DB3B6403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11" y="5977248"/>
            <a:ext cx="1022350" cy="519112"/>
          </a:xfrm>
          <a:prstGeom prst="wedgeEllipseCallout">
            <a:avLst>
              <a:gd name="adj1" fmla="val -69852"/>
              <a:gd name="adj2" fmla="val -144347"/>
            </a:avLst>
          </a:prstGeom>
          <a:solidFill>
            <a:srgbClr val="FFFF00">
              <a:alpha val="54901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/>
              <a:t>错误</a:t>
            </a:r>
          </a:p>
        </p:txBody>
      </p:sp>
      <p:sp>
        <p:nvSpPr>
          <p:cNvPr id="11" name="AutoShape 31">
            <a:extLst>
              <a:ext uri="{FF2B5EF4-FFF2-40B4-BE49-F238E27FC236}">
                <a16:creationId xmlns:a16="http://schemas.microsoft.com/office/drawing/2014/main" id="{DF6DEB8C-D38A-43F1-9882-9C66B089A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6274" y="6050273"/>
            <a:ext cx="1022350" cy="519112"/>
          </a:xfrm>
          <a:prstGeom prst="wedgeEllipseCallout">
            <a:avLst>
              <a:gd name="adj1" fmla="val -42046"/>
              <a:gd name="adj2" fmla="val -159083"/>
            </a:avLst>
          </a:prstGeom>
          <a:solidFill>
            <a:srgbClr val="FFCCFF">
              <a:alpha val="5607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/>
              <a:t>正确</a:t>
            </a:r>
          </a:p>
        </p:txBody>
      </p:sp>
      <p:sp>
        <p:nvSpPr>
          <p:cNvPr id="12" name="AutoShape 30">
            <a:extLst>
              <a:ext uri="{FF2B5EF4-FFF2-40B4-BE49-F238E27FC236}">
                <a16:creationId xmlns:a16="http://schemas.microsoft.com/office/drawing/2014/main" id="{EBF24E87-0251-46FF-A694-F5F631797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411" y="6078848"/>
            <a:ext cx="1022350" cy="519112"/>
          </a:xfrm>
          <a:prstGeom prst="wedgeEllipseCallout">
            <a:avLst>
              <a:gd name="adj1" fmla="val -67644"/>
              <a:gd name="adj2" fmla="val -166083"/>
            </a:avLst>
          </a:prstGeom>
          <a:solidFill>
            <a:srgbClr val="FFFF00">
              <a:alpha val="54901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/>
              <a:t>错误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47890E96-C4E5-431B-9D71-726931CF6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410" y="1307307"/>
            <a:ext cx="55403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二、画局部剖应注意的问题：</a:t>
            </a:r>
          </a:p>
        </p:txBody>
      </p:sp>
    </p:spTree>
    <p:extLst>
      <p:ext uri="{BB962C8B-B14F-4D97-AF65-F5344CB8AC3E}">
        <p14:creationId xmlns:p14="http://schemas.microsoft.com/office/powerpoint/2010/main" val="176631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  <p:bldP spid="6" grpId="0" animBg="1" autoUpdateAnimBg="0"/>
      <p:bldP spid="8" grpId="0" animBg="1" autoUpdateAnimBg="0"/>
      <p:bldP spid="9" grpId="0" animBg="1" autoUpdateAnimBg="0"/>
      <p:bldP spid="10" grpId="0" animBg="1" autoUpdateAnimBg="0"/>
      <p:bldP spid="11" grpId="0" animBg="1" autoUpdateAnimBg="0"/>
      <p:bldP spid="12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3D84C458-9B05-4748-99A5-FBB315E67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3088" y="3867716"/>
            <a:ext cx="7191023" cy="18158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局部剖视图不受机件结构</a:t>
            </a:r>
            <a:r>
              <a:rPr lang="zh-CN" altLang="en-US" sz="2800" b="1" dirty="0">
                <a:latin typeface="+mn-ea"/>
                <a:ea typeface="+mn-ea"/>
              </a:rPr>
              <a:t>是否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对称</a:t>
            </a:r>
            <a:r>
              <a:rPr lang="zh-CN" altLang="en-US" sz="2800" b="1" dirty="0">
                <a:latin typeface="+mn-ea"/>
                <a:ea typeface="+mn-ea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限制</a:t>
            </a:r>
            <a:r>
              <a:rPr lang="zh-CN" altLang="en-US" sz="2800" b="1" dirty="0">
                <a:latin typeface="+mn-ea"/>
                <a:ea typeface="+mn-ea"/>
              </a:rPr>
              <a:t>，剖切位置及范围可根据实际需要选取，是一种比较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灵活</a:t>
            </a:r>
            <a:r>
              <a:rPr lang="zh-CN" altLang="en-US" sz="2800" b="1" dirty="0">
                <a:latin typeface="+mn-ea"/>
                <a:ea typeface="+mn-ea"/>
              </a:rPr>
              <a:t>的表达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方法</a:t>
            </a:r>
            <a:r>
              <a:rPr lang="zh-CN" altLang="en-US" sz="2800" b="1" dirty="0">
                <a:latin typeface="+mn-ea"/>
                <a:ea typeface="+mn-ea"/>
              </a:rPr>
              <a:t>。运用得当，可使视图简明、清晰。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43F47E40-BDA7-4374-BBD6-3E7646491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7728" y="5864709"/>
            <a:ext cx="66817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charset="-122"/>
                <a:sym typeface="Symbol" pitchFamily="18" charset="2"/>
              </a:rPr>
              <a:t>在一个视图中，</a:t>
            </a:r>
            <a:r>
              <a:rPr lang="zh-CN" altLang="en-US" sz="2800" b="1" dirty="0">
                <a:solidFill>
                  <a:srgbClr val="FF0000"/>
                </a:solidFill>
                <a:latin typeface="宋体" charset="-122"/>
                <a:sym typeface="Symbol" pitchFamily="18" charset="2"/>
              </a:rPr>
              <a:t>局部剖的数量不宜过多</a:t>
            </a:r>
            <a:r>
              <a:rPr lang="zh-CN" altLang="en-US" sz="2800" b="1" dirty="0">
                <a:latin typeface="宋体" charset="-122"/>
                <a:sym typeface="Symbol" pitchFamily="18" charset="2"/>
              </a:rPr>
              <a:t>。</a:t>
            </a:r>
            <a:endParaRPr lang="zh-CN" altLang="en-US" sz="2800" b="1" dirty="0">
              <a:latin typeface="宋体" charset="-122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AC697C1-3B2D-4D7F-A11E-9B87676BB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257" y="1332692"/>
            <a:ext cx="141008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小 结</a:t>
            </a:r>
          </a:p>
        </p:txBody>
      </p:sp>
      <p:sp>
        <p:nvSpPr>
          <p:cNvPr id="6" name="矩形 56">
            <a:extLst>
              <a:ext uri="{FF2B5EF4-FFF2-40B4-BE49-F238E27FC236}">
                <a16:creationId xmlns:a16="http://schemas.microsoft.com/office/drawing/2014/main" id="{1E5D3BA0-3D3C-4581-8390-30D613741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604" y="3288456"/>
            <a:ext cx="12668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宋体" charset="-122"/>
              </a:rPr>
              <a:t>剖视图</a:t>
            </a:r>
            <a:endParaRPr lang="zh-CN" altLang="en-US" sz="2800" b="1"/>
          </a:p>
        </p:txBody>
      </p:sp>
      <p:sp>
        <p:nvSpPr>
          <p:cNvPr id="7" name="AutoShape 20">
            <a:extLst>
              <a:ext uri="{FF2B5EF4-FFF2-40B4-BE49-F238E27FC236}">
                <a16:creationId xmlns:a16="http://schemas.microsoft.com/office/drawing/2014/main" id="{29C71844-60FA-4C86-8379-03F4F809450B}"/>
              </a:ext>
            </a:extLst>
          </p:cNvPr>
          <p:cNvSpPr>
            <a:spLocks/>
          </p:cNvSpPr>
          <p:nvPr/>
        </p:nvSpPr>
        <p:spPr bwMode="auto">
          <a:xfrm>
            <a:off x="2177566" y="2266106"/>
            <a:ext cx="328613" cy="2592388"/>
          </a:xfrm>
          <a:prstGeom prst="leftBrace">
            <a:avLst>
              <a:gd name="adj1" fmla="val 108400"/>
              <a:gd name="adj2" fmla="val 50000"/>
            </a:avLst>
          </a:prstGeom>
          <a:ln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4DE312D1-8208-4626-B122-E2474BC30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191" y="2143869"/>
            <a:ext cx="1862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>
                <a:latin typeface="宋体" charset="-122"/>
              </a:rPr>
              <a:t>1.</a:t>
            </a:r>
            <a:r>
              <a:rPr lang="zh-CN" altLang="en-US" sz="2800">
                <a:latin typeface="宋体" charset="-122"/>
              </a:rPr>
              <a:t>全剖视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60ACEEAE-EA83-4644-B83F-09E5C8BEB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166" y="3056681"/>
            <a:ext cx="1924050" cy="523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800"/>
              <a:t>⒉ </a:t>
            </a:r>
            <a:r>
              <a:rPr lang="zh-CN" altLang="en-US" sz="2800"/>
              <a:t>半剖视</a:t>
            </a:r>
          </a:p>
        </p:txBody>
      </p:sp>
      <p:sp>
        <p:nvSpPr>
          <p:cNvPr id="10" name="Text Box 21">
            <a:extLst>
              <a:ext uri="{FF2B5EF4-FFF2-40B4-BE49-F238E27FC236}">
                <a16:creationId xmlns:a16="http://schemas.microsoft.com/office/drawing/2014/main" id="{475F4D62-1B5E-4325-82D5-C59C8CAB5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704" y="4493369"/>
            <a:ext cx="18986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>
                <a:latin typeface="宋体" charset="-122"/>
              </a:rPr>
              <a:t>3.</a:t>
            </a:r>
            <a:r>
              <a:rPr lang="zh-CN" altLang="en-US" sz="2800">
                <a:latin typeface="宋体" charset="-122"/>
              </a:rPr>
              <a:t>局部剖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A7E756-D800-430A-92AE-F2293C160A11}"/>
              </a:ext>
            </a:extLst>
          </p:cNvPr>
          <p:cNvSpPr/>
          <p:nvPr/>
        </p:nvSpPr>
        <p:spPr>
          <a:xfrm>
            <a:off x="1155216" y="3836144"/>
            <a:ext cx="882650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按范围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823835FA-094C-417E-AE0B-47D4A1C51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8518" y="2146855"/>
            <a:ext cx="73443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99"/>
                </a:solidFill>
              </a:rPr>
              <a:t>外形较简单，内形较复杂，而图形又不对称时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3C0BEE94-04BF-40EF-8C7D-0A63F5B12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3088" y="2858244"/>
            <a:ext cx="7033592" cy="9540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000099"/>
                </a:solidFill>
              </a:rPr>
              <a:t>内、外形都需要表达，而形状又对称或基本对称时。</a:t>
            </a:r>
          </a:p>
        </p:txBody>
      </p:sp>
    </p:spTree>
    <p:extLst>
      <p:ext uri="{BB962C8B-B14F-4D97-AF65-F5344CB8AC3E}">
        <p14:creationId xmlns:p14="http://schemas.microsoft.com/office/powerpoint/2010/main" val="193659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utoUpdateAnimBg="0"/>
      <p:bldP spid="7" grpId="0" animBg="1"/>
      <p:bldP spid="8" grpId="0" autoUpdateAnimBg="0"/>
      <p:bldP spid="9" grpId="0"/>
      <p:bldP spid="10" grpId="0" autoUpdateAnimBg="0"/>
      <p:bldP spid="12" grpId="0" autoUpdateAnimBg="0"/>
      <p:bldP spid="1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08681CC4-08E4-4E9B-AEDF-F12B17628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443" y="1323927"/>
            <a:ext cx="34307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三、剖切平面的种类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4" name="AutoShape 20">
            <a:extLst>
              <a:ext uri="{FF2B5EF4-FFF2-40B4-BE49-F238E27FC236}">
                <a16:creationId xmlns:a16="http://schemas.microsoft.com/office/drawing/2014/main" id="{5749DB29-4BCD-4596-9E63-0E98AE7B7523}"/>
              </a:ext>
            </a:extLst>
          </p:cNvPr>
          <p:cNvSpPr>
            <a:spLocks/>
          </p:cNvSpPr>
          <p:nvPr/>
        </p:nvSpPr>
        <p:spPr bwMode="auto">
          <a:xfrm>
            <a:off x="4469705" y="2481238"/>
            <a:ext cx="109538" cy="693737"/>
          </a:xfrm>
          <a:prstGeom prst="leftBrace">
            <a:avLst>
              <a:gd name="adj1" fmla="val 108165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9D95C1-E387-449C-8150-32DC8BF74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243" y="2225650"/>
            <a:ext cx="38703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altLang="zh-CN" sz="2400" dirty="0">
                <a:latin typeface="宋体" charset="-122"/>
              </a:rPr>
              <a:t>1.</a:t>
            </a:r>
            <a:r>
              <a:rPr lang="zh-CN" altLang="en-US" sz="2400" dirty="0">
                <a:latin typeface="宋体" charset="-122"/>
              </a:rPr>
              <a:t>剖视的分类及适用条件</a:t>
            </a:r>
            <a:endParaRPr lang="en-US" altLang="zh-CN" sz="2400" dirty="0">
              <a:latin typeface="宋体" charset="-122"/>
            </a:endParaRPr>
          </a:p>
        </p:txBody>
      </p:sp>
      <p:sp>
        <p:nvSpPr>
          <p:cNvPr id="6" name="AutoShape 20">
            <a:extLst>
              <a:ext uri="{FF2B5EF4-FFF2-40B4-BE49-F238E27FC236}">
                <a16:creationId xmlns:a16="http://schemas.microsoft.com/office/drawing/2014/main" id="{B0D858F8-D0DB-48E5-BBD2-AF6D71650E32}"/>
              </a:ext>
            </a:extLst>
          </p:cNvPr>
          <p:cNvSpPr>
            <a:spLocks/>
          </p:cNvSpPr>
          <p:nvPr/>
        </p:nvSpPr>
        <p:spPr bwMode="auto">
          <a:xfrm>
            <a:off x="4464943" y="3602013"/>
            <a:ext cx="114300" cy="1069975"/>
          </a:xfrm>
          <a:prstGeom prst="leftBrace">
            <a:avLst>
              <a:gd name="adj1" fmla="val 107999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6D2EE3-E0B0-47C7-A113-610C450F6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243" y="4283050"/>
            <a:ext cx="48926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/>
              <a:t>2.</a:t>
            </a:r>
            <a:r>
              <a:rPr lang="zh-CN" altLang="en-US" sz="2400"/>
              <a:t>会应用这些方法表达机件。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5506CC-09D6-4968-9692-2ECC4AB39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5755" y="3416275"/>
            <a:ext cx="61341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+mn-ea"/>
                <a:ea typeface="+mn-ea"/>
                <a:cs typeface="Arial" charset="0"/>
              </a:rPr>
              <a:t>1.</a:t>
            </a:r>
            <a:r>
              <a:rPr lang="zh-CN" altLang="en-US" sz="2400" dirty="0">
                <a:latin typeface="+mn-ea"/>
                <a:ea typeface="+mn-ea"/>
                <a:cs typeface="Arial" charset="0"/>
              </a:rPr>
              <a:t>了解单一</a:t>
            </a:r>
            <a:r>
              <a:rPr lang="zh-CN" altLang="en-US" sz="2400" dirty="0">
                <a:ea typeface="宋体" pitchFamily="2" charset="-122"/>
              </a:rPr>
              <a:t>剖切平面、平行剖切平面和相交 剖切平面的应用及剖视图的画法、标注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DF7A2E-E948-45B2-BCD5-F1B210E1B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4830" y="5229200"/>
            <a:ext cx="5643563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/>
              <a:t>应用各类剖切平面剖切机件，绘制剖视图及标注。应用这些方法表达机件。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F58525-E0E9-4311-906F-3D24AC66F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268" y="2822550"/>
            <a:ext cx="38322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2636838" algn="ctr"/>
                <a:tab pos="5273675" algn="r"/>
              </a:tabLst>
            </a:pPr>
            <a:r>
              <a:rPr lang="en-US" altLang="zh-CN" sz="2400" dirty="0">
                <a:latin typeface="宋体" charset="-122"/>
                <a:cs typeface="Arial" charset="0"/>
              </a:rPr>
              <a:t>2.</a:t>
            </a:r>
            <a:r>
              <a:rPr lang="zh-CN" altLang="en-US" sz="2400" dirty="0">
                <a:latin typeface="宋体" charset="-122"/>
                <a:cs typeface="Arial" charset="0"/>
              </a:rPr>
              <a:t>剖切面的种类、注法</a:t>
            </a:r>
            <a:endParaRPr lang="zh-CN" altLang="en-US" sz="2400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5513A7D-ED52-40D6-89D3-63A82FE83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080" y="2554263"/>
            <a:ext cx="18827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教学内容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		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12" name="Rectangle 52">
            <a:extLst>
              <a:ext uri="{FF2B5EF4-FFF2-40B4-BE49-F238E27FC236}">
                <a16:creationId xmlns:a16="http://schemas.microsoft.com/office/drawing/2014/main" id="{736F3B11-ED03-408E-8F0C-F3AAD7F77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080" y="3795688"/>
            <a:ext cx="195421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学习目标</a:t>
            </a:r>
            <a:r>
              <a:rPr kumimoji="1"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:</a:t>
            </a:r>
            <a:endParaRPr kumimoji="1"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latin typeface="宋体" pitchFamily="2" charset="-122"/>
                <a:ea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latin typeface="宋体" pitchFamily="2" charset="-122"/>
                <a:ea typeface="宋体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3DD816-2B30-4F5D-93B8-CFDBE6538F54}"/>
              </a:ext>
            </a:extLst>
          </p:cNvPr>
          <p:cNvSpPr/>
          <p:nvPr/>
        </p:nvSpPr>
        <p:spPr>
          <a:xfrm>
            <a:off x="2644080" y="5292700"/>
            <a:ext cx="23479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ea typeface="宋体" pitchFamily="2" charset="-122"/>
                <a:cs typeface="Arial" charset="0"/>
              </a:rPr>
              <a:t>重点、难点：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189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A0C27556-728F-481C-8A8A-C4F07919E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507" y="1263761"/>
            <a:ext cx="34307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三、剖切平面的种类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D632397-8D61-4B2C-8AFB-230E35BDC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841" y="1845830"/>
            <a:ext cx="2710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3399"/>
                </a:solidFill>
                <a:latin typeface="宋体" charset="-122"/>
              </a:rPr>
              <a:t>1.</a:t>
            </a:r>
            <a:r>
              <a:rPr lang="zh-CN" altLang="en-US" sz="2800" b="1" dirty="0">
                <a:solidFill>
                  <a:srgbClr val="003399"/>
                </a:solidFill>
                <a:latin typeface="宋体" charset="-122"/>
              </a:rPr>
              <a:t>单一剖切平面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7A7F49D-DB83-4B01-A117-7E3256441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915" y="2338478"/>
            <a:ext cx="50339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dirty="0">
                <a:solidFill>
                  <a:schemeClr val="tx2"/>
                </a:solidFill>
                <a:latin typeface="宋体" charset="-122"/>
              </a:rPr>
              <a:t>⑴ </a:t>
            </a:r>
            <a:r>
              <a:rPr lang="zh-CN" altLang="en-US" sz="2800" dirty="0">
                <a:solidFill>
                  <a:schemeClr val="tx2"/>
                </a:solidFill>
                <a:latin typeface="宋体" charset="-122"/>
              </a:rPr>
              <a:t>平行于某一基本投影面</a:t>
            </a:r>
          </a:p>
        </p:txBody>
      </p:sp>
      <p:pic>
        <p:nvPicPr>
          <p:cNvPr id="6" name="Picture 138">
            <a:extLst>
              <a:ext uri="{FF2B5EF4-FFF2-40B4-BE49-F238E27FC236}">
                <a16:creationId xmlns:a16="http://schemas.microsoft.com/office/drawing/2014/main" id="{1B2E9787-94B1-42BE-BB44-522B7799E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95426" y="3098911"/>
            <a:ext cx="4124325" cy="3162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7" name="组合 141">
            <a:extLst>
              <a:ext uri="{FF2B5EF4-FFF2-40B4-BE49-F238E27FC236}">
                <a16:creationId xmlns:a16="http://schemas.microsoft.com/office/drawing/2014/main" id="{A73A9ED0-89FC-4B0F-8CC4-FB62229E18F2}"/>
              </a:ext>
            </a:extLst>
          </p:cNvPr>
          <p:cNvGrpSpPr>
            <a:grpSpLocks/>
          </p:cNvGrpSpPr>
          <p:nvPr/>
        </p:nvGrpSpPr>
        <p:grpSpPr bwMode="auto">
          <a:xfrm>
            <a:off x="2722351" y="4988036"/>
            <a:ext cx="3471863" cy="685800"/>
            <a:chOff x="484131" y="3105150"/>
            <a:chExt cx="3471903" cy="685800"/>
          </a:xfrm>
        </p:grpSpPr>
        <p:pic>
          <p:nvPicPr>
            <p:cNvPr id="8" name="Picture 139">
              <a:extLst>
                <a:ext uri="{FF2B5EF4-FFF2-40B4-BE49-F238E27FC236}">
                  <a16:creationId xmlns:a16="http://schemas.microsoft.com/office/drawing/2014/main" id="{2E4F8892-C978-489E-967D-D013F7341A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4131" y="3143250"/>
              <a:ext cx="542925" cy="6477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  <p:pic>
          <p:nvPicPr>
            <p:cNvPr id="9" name="Picture 140">
              <a:extLst>
                <a:ext uri="{FF2B5EF4-FFF2-40B4-BE49-F238E27FC236}">
                  <a16:creationId xmlns:a16="http://schemas.microsoft.com/office/drawing/2014/main" id="{DE57C221-B6B4-4E21-9D26-63A7EAC8D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94059" y="3105150"/>
              <a:ext cx="561975" cy="685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</p:grpSp>
      <p:pic>
        <p:nvPicPr>
          <p:cNvPr id="10" name="Picture 141">
            <a:extLst>
              <a:ext uri="{FF2B5EF4-FFF2-40B4-BE49-F238E27FC236}">
                <a16:creationId xmlns:a16="http://schemas.microsoft.com/office/drawing/2014/main" id="{2DABAEF4-830C-4A69-B237-D30050121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55926" y="2902061"/>
            <a:ext cx="466725" cy="2667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1" name="Picture 170">
            <a:extLst>
              <a:ext uri="{FF2B5EF4-FFF2-40B4-BE49-F238E27FC236}">
                <a16:creationId xmlns:a16="http://schemas.microsoft.com/office/drawing/2014/main" id="{16728E2C-22C6-4625-B102-FCDCEEC53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822989" y="1703499"/>
            <a:ext cx="2852737" cy="21097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12" name="Group 4">
            <a:extLst>
              <a:ext uri="{FF2B5EF4-FFF2-40B4-BE49-F238E27FC236}">
                <a16:creationId xmlns:a16="http://schemas.microsoft.com/office/drawing/2014/main" id="{E887BBBA-8DD1-4A92-8CAD-429869A8B535}"/>
              </a:ext>
            </a:extLst>
          </p:cNvPr>
          <p:cNvGrpSpPr>
            <a:grpSpLocks/>
          </p:cNvGrpSpPr>
          <p:nvPr/>
        </p:nvGrpSpPr>
        <p:grpSpPr bwMode="auto">
          <a:xfrm>
            <a:off x="8334164" y="2270236"/>
            <a:ext cx="1828800" cy="3175"/>
            <a:chOff x="942" y="1152"/>
            <a:chExt cx="1152" cy="2"/>
          </a:xfrm>
        </p:grpSpPr>
        <p:sp>
          <p:nvSpPr>
            <p:cNvPr id="13" name="Line 5">
              <a:extLst>
                <a:ext uri="{FF2B5EF4-FFF2-40B4-BE49-F238E27FC236}">
                  <a16:creationId xmlns:a16="http://schemas.microsoft.com/office/drawing/2014/main" id="{47B624D6-3478-4C0B-B8C8-F9B6887D16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" y="1152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6">
              <a:extLst>
                <a:ext uri="{FF2B5EF4-FFF2-40B4-BE49-F238E27FC236}">
                  <a16:creationId xmlns:a16="http://schemas.microsoft.com/office/drawing/2014/main" id="{CB331B48-10EA-4330-A443-8069B6656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" y="1154"/>
              <a:ext cx="13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" name="Group 7">
            <a:extLst>
              <a:ext uri="{FF2B5EF4-FFF2-40B4-BE49-F238E27FC236}">
                <a16:creationId xmlns:a16="http://schemas.microsoft.com/office/drawing/2014/main" id="{3120FD48-C1F3-47AF-8E7C-171F0B84C06B}"/>
              </a:ext>
            </a:extLst>
          </p:cNvPr>
          <p:cNvGrpSpPr>
            <a:grpSpLocks/>
          </p:cNvGrpSpPr>
          <p:nvPr/>
        </p:nvGrpSpPr>
        <p:grpSpPr bwMode="auto">
          <a:xfrm>
            <a:off x="7969039" y="2141649"/>
            <a:ext cx="2473325" cy="457200"/>
            <a:chOff x="746" y="1008"/>
            <a:chExt cx="1558" cy="288"/>
          </a:xfrm>
        </p:grpSpPr>
        <p:sp>
          <p:nvSpPr>
            <p:cNvPr id="16" name="Text Box 8">
              <a:extLst>
                <a:ext uri="{FF2B5EF4-FFF2-40B4-BE49-F238E27FC236}">
                  <a16:creationId xmlns:a16="http://schemas.microsoft.com/office/drawing/2014/main" id="{7D7C6E6E-6A36-4917-9403-A593AA888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" y="1008"/>
              <a:ext cx="21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i="1">
                  <a:latin typeface="宋体" charset="-122"/>
                </a:rPr>
                <a:t>B</a:t>
              </a:r>
              <a:endParaRPr lang="en-US" altLang="zh-CN"/>
            </a:p>
          </p:txBody>
        </p:sp>
        <p:sp>
          <p:nvSpPr>
            <p:cNvPr id="17" name="Text Box 9">
              <a:extLst>
                <a:ext uri="{FF2B5EF4-FFF2-40B4-BE49-F238E27FC236}">
                  <a16:creationId xmlns:a16="http://schemas.microsoft.com/office/drawing/2014/main" id="{696B20E2-383F-4D00-91EB-CB1953615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0" y="1008"/>
              <a:ext cx="21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i="1">
                  <a:latin typeface="宋体" charset="-122"/>
                </a:rPr>
                <a:t>B</a:t>
              </a:r>
              <a:endParaRPr lang="en-US" altLang="zh-CN"/>
            </a:p>
          </p:txBody>
        </p:sp>
      </p:grpSp>
      <p:grpSp>
        <p:nvGrpSpPr>
          <p:cNvPr id="18" name="Group 10">
            <a:extLst>
              <a:ext uri="{FF2B5EF4-FFF2-40B4-BE49-F238E27FC236}">
                <a16:creationId xmlns:a16="http://schemas.microsoft.com/office/drawing/2014/main" id="{F203421D-8B08-4015-9827-61229FFCF726}"/>
              </a:ext>
            </a:extLst>
          </p:cNvPr>
          <p:cNvGrpSpPr>
            <a:grpSpLocks/>
          </p:cNvGrpSpPr>
          <p:nvPr/>
        </p:nvGrpSpPr>
        <p:grpSpPr bwMode="auto">
          <a:xfrm>
            <a:off x="8334164" y="2267061"/>
            <a:ext cx="1817687" cy="231775"/>
            <a:chOff x="942" y="1149"/>
            <a:chExt cx="1145" cy="146"/>
          </a:xfrm>
        </p:grpSpPr>
        <p:sp>
          <p:nvSpPr>
            <p:cNvPr id="19" name="Line 11">
              <a:extLst>
                <a:ext uri="{FF2B5EF4-FFF2-40B4-BE49-F238E27FC236}">
                  <a16:creationId xmlns:a16="http://schemas.microsoft.com/office/drawing/2014/main" id="{3B97B6F2-054C-4310-AA2B-1DDE93690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" y="1149"/>
              <a:ext cx="0" cy="13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D87A17BA-8074-4B12-9E9D-2D8BA0DFB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7" y="1156"/>
              <a:ext cx="0" cy="13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1" name="Text Box 166">
            <a:extLst>
              <a:ext uri="{FF2B5EF4-FFF2-40B4-BE49-F238E27FC236}">
                <a16:creationId xmlns:a16="http://schemas.microsoft.com/office/drawing/2014/main" id="{950A0E8D-B096-43EF-94CE-B9E0C2B6A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8364" y="4145074"/>
            <a:ext cx="876300" cy="3698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i="1">
                <a:latin typeface="宋体" charset="-122"/>
              </a:rPr>
              <a:t>B</a:t>
            </a:r>
            <a:r>
              <a:rPr lang="zh-CN" altLang="en-US"/>
              <a:t>－</a:t>
            </a:r>
            <a:r>
              <a:rPr lang="en-US" altLang="zh-CN" i="1">
                <a:latin typeface="宋体" charset="-122"/>
              </a:rPr>
              <a:t>B</a:t>
            </a:r>
            <a:endParaRPr lang="en-US" altLang="zh-CN"/>
          </a:p>
        </p:txBody>
      </p:sp>
      <p:pic>
        <p:nvPicPr>
          <p:cNvPr id="22" name="Picture 171">
            <a:extLst>
              <a:ext uri="{FF2B5EF4-FFF2-40B4-BE49-F238E27FC236}">
                <a16:creationId xmlns:a16="http://schemas.microsoft.com/office/drawing/2014/main" id="{BEE53DD0-F29B-48CB-8CB9-38D55554E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 b="2701"/>
          <a:stretch>
            <a:fillRect/>
          </a:stretch>
        </p:blipFill>
        <p:spPr bwMode="auto">
          <a:xfrm>
            <a:off x="7651539" y="4545124"/>
            <a:ext cx="3124200" cy="19748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3" name="Picture 167">
            <a:extLst>
              <a:ext uri="{FF2B5EF4-FFF2-40B4-BE49-F238E27FC236}">
                <a16:creationId xmlns:a16="http://schemas.microsoft.com/office/drawing/2014/main" id="{772942FD-692E-4B4A-A34F-CF2D917A3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 l="24359" t="6786" r="57692" b="79646"/>
          <a:stretch>
            <a:fillRect/>
          </a:stretch>
        </p:blipFill>
        <p:spPr bwMode="auto">
          <a:xfrm>
            <a:off x="8481801" y="1809861"/>
            <a:ext cx="525463" cy="3032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4" name="Picture 167">
            <a:extLst>
              <a:ext uri="{FF2B5EF4-FFF2-40B4-BE49-F238E27FC236}">
                <a16:creationId xmlns:a16="http://schemas.microsoft.com/office/drawing/2014/main" id="{4B186124-0611-4B65-B8D8-5150BCBA1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 l="2563" t="74632" r="73076" b="8406"/>
          <a:stretch>
            <a:fillRect/>
          </a:stretch>
        </p:blipFill>
        <p:spPr bwMode="auto">
          <a:xfrm>
            <a:off x="7857914" y="3289411"/>
            <a:ext cx="693737" cy="3730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2566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B23E5AF-5732-42D7-857B-169B31100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1649" y="2386670"/>
            <a:ext cx="5881209" cy="95410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solidFill>
                  <a:srgbClr val="003399"/>
                </a:solidFill>
                <a:latin typeface="宋体" charset="-122"/>
              </a:rPr>
              <a:t>⑵ </a:t>
            </a:r>
            <a:r>
              <a:rPr lang="zh-CN" altLang="en-US" sz="2800" b="1" dirty="0">
                <a:solidFill>
                  <a:srgbClr val="003399"/>
                </a:solidFill>
                <a:latin typeface="宋体" charset="-122"/>
              </a:rPr>
              <a:t>不平行于任何基本投影面（投影面垂直面）</a:t>
            </a:r>
          </a:p>
        </p:txBody>
      </p:sp>
      <p:pic>
        <p:nvPicPr>
          <p:cNvPr id="4" name="图片 340" descr="9-18.jpg">
            <a:extLst>
              <a:ext uri="{FF2B5EF4-FFF2-40B4-BE49-F238E27FC236}">
                <a16:creationId xmlns:a16="http://schemas.microsoft.com/office/drawing/2014/main" id="{945519CC-450C-4F86-AB1A-749B299617D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37678" y="3345592"/>
            <a:ext cx="2933700" cy="315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30">
            <a:extLst>
              <a:ext uri="{FF2B5EF4-FFF2-40B4-BE49-F238E27FC236}">
                <a16:creationId xmlns:a16="http://schemas.microsoft.com/office/drawing/2014/main" id="{2A80AE53-0DEC-475F-81C0-14A49D621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268282" y="1683121"/>
            <a:ext cx="2628900" cy="48228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F87B513A-E46D-4D48-ABD6-37CD67778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507" y="1263761"/>
            <a:ext cx="34307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三、剖切平面的种类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649B89DF-DE99-4679-945A-6F2FDFBB2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841" y="1845830"/>
            <a:ext cx="2710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3399"/>
                </a:solidFill>
                <a:latin typeface="宋体" charset="-122"/>
              </a:rPr>
              <a:t>1.</a:t>
            </a:r>
            <a:r>
              <a:rPr lang="zh-CN" altLang="en-US" sz="2800" b="1" dirty="0">
                <a:solidFill>
                  <a:srgbClr val="003399"/>
                </a:solidFill>
                <a:latin typeface="宋体" charset="-122"/>
              </a:rPr>
              <a:t>单一剖切平面</a:t>
            </a:r>
          </a:p>
        </p:txBody>
      </p:sp>
      <p:pic>
        <p:nvPicPr>
          <p:cNvPr id="5" name="图片 341" descr="9-18-JP.jpg">
            <a:extLst>
              <a:ext uri="{FF2B5EF4-FFF2-40B4-BE49-F238E27FC236}">
                <a16:creationId xmlns:a16="http://schemas.microsoft.com/office/drawing/2014/main" id="{4DAFD649-8D59-4142-8C0D-7385BFA051D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592345">
            <a:off x="5305069" y="3435151"/>
            <a:ext cx="2597150" cy="275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36899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Line 2">
            <a:extLst>
              <a:ext uri="{FF2B5EF4-FFF2-40B4-BE49-F238E27FC236}">
                <a16:creationId xmlns:a16="http://schemas.microsoft.com/office/drawing/2014/main" id="{75ABA175-DB96-488C-995F-F0B00D4EFDC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5456" y="3938529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30A2726-6568-4A08-986D-943749C6E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162" y="1499351"/>
            <a:ext cx="23383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99"/>
                </a:solidFill>
                <a:latin typeface="宋体" charset="-122"/>
              </a:rPr>
              <a:t>☆标注方法：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0A6DA84-79E2-4708-B422-3E159A54B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112" y="2010526"/>
            <a:ext cx="25193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99"/>
                </a:solidFill>
                <a:latin typeface="宋体" charset="-122"/>
              </a:rPr>
              <a:t> ☆</a:t>
            </a:r>
            <a:r>
              <a:rPr lang="zh-CN" altLang="en-US" sz="2800" dirty="0">
                <a:solidFill>
                  <a:srgbClr val="000099"/>
                </a:solidFill>
                <a:latin typeface="宋体" charset="-122"/>
              </a:rPr>
              <a:t>适用范围：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DC5CD342-0559-4085-9F2A-1D0509FA9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74" y="2576216"/>
            <a:ext cx="2962275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latin typeface="宋体" charset="-122"/>
              </a:rPr>
              <a:t>当机件具有倾斜部分，同时这部分内形和外形都需表达时。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D517E0B0-6AAA-4A96-9957-C18A84249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764" y="3913575"/>
            <a:ext cx="248084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dirty="0">
                <a:solidFill>
                  <a:srgbClr val="000099"/>
                </a:solidFill>
                <a:latin typeface="宋体" charset="-122"/>
              </a:rPr>
              <a:t>☆</a:t>
            </a:r>
            <a:r>
              <a:rPr lang="zh-CN" altLang="en-US" sz="2800" dirty="0">
                <a:solidFill>
                  <a:srgbClr val="000099"/>
                </a:solidFill>
                <a:latin typeface="宋体" charset="-122"/>
              </a:rPr>
              <a:t>剖视可按斜视图的配置方式配置。</a:t>
            </a:r>
          </a:p>
        </p:txBody>
      </p:sp>
      <p:grpSp>
        <p:nvGrpSpPr>
          <p:cNvPr id="8" name="Group 184">
            <a:extLst>
              <a:ext uri="{FF2B5EF4-FFF2-40B4-BE49-F238E27FC236}">
                <a16:creationId xmlns:a16="http://schemas.microsoft.com/office/drawing/2014/main" id="{A7F50A48-2E9F-4683-B561-C2531D4B6B60}"/>
              </a:ext>
            </a:extLst>
          </p:cNvPr>
          <p:cNvGrpSpPr>
            <a:grpSpLocks/>
          </p:cNvGrpSpPr>
          <p:nvPr/>
        </p:nvGrpSpPr>
        <p:grpSpPr bwMode="auto">
          <a:xfrm>
            <a:off x="6533756" y="1755717"/>
            <a:ext cx="1169988" cy="2227262"/>
            <a:chOff x="2792" y="823"/>
            <a:chExt cx="737" cy="1403"/>
          </a:xfrm>
        </p:grpSpPr>
        <p:sp>
          <p:nvSpPr>
            <p:cNvPr id="9" name="Rectangle 185">
              <a:extLst>
                <a:ext uri="{FF2B5EF4-FFF2-40B4-BE49-F238E27FC236}">
                  <a16:creationId xmlns:a16="http://schemas.microsoft.com/office/drawing/2014/main" id="{A283B12D-C5B5-40ED-A3F0-C3892875F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1" y="823"/>
              <a:ext cx="9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latin typeface="宋体" charset="-122"/>
                </a:rPr>
                <a:t>A</a:t>
              </a:r>
              <a:endParaRPr lang="en-US" altLang="zh-CN"/>
            </a:p>
          </p:txBody>
        </p:sp>
        <p:sp>
          <p:nvSpPr>
            <p:cNvPr id="10" name="Rectangle 186">
              <a:extLst>
                <a:ext uri="{FF2B5EF4-FFF2-40B4-BE49-F238E27FC236}">
                  <a16:creationId xmlns:a16="http://schemas.microsoft.com/office/drawing/2014/main" id="{42700866-5BB7-4497-AAB0-68AF24F9A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1996"/>
              <a:ext cx="9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latin typeface="宋体" charset="-122"/>
                </a:rPr>
                <a:t>A</a:t>
              </a:r>
              <a:endParaRPr lang="en-US" altLang="zh-CN"/>
            </a:p>
          </p:txBody>
        </p:sp>
      </p:grpSp>
      <p:pic>
        <p:nvPicPr>
          <p:cNvPr id="11" name="图片 340" descr="9-18.jpg">
            <a:extLst>
              <a:ext uri="{FF2B5EF4-FFF2-40B4-BE49-F238E27FC236}">
                <a16:creationId xmlns:a16="http://schemas.microsoft.com/office/drawing/2014/main" id="{60ABD55D-6F9F-4EF4-9BE7-026AF3B355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7899" y="4161126"/>
            <a:ext cx="2117725" cy="227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330">
            <a:extLst>
              <a:ext uri="{FF2B5EF4-FFF2-40B4-BE49-F238E27FC236}">
                <a16:creationId xmlns:a16="http://schemas.microsoft.com/office/drawing/2014/main" id="{73B3EE6B-21EA-4124-945A-6B087D156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506769" y="2052579"/>
            <a:ext cx="2510440" cy="4606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13" name="Group 187">
            <a:extLst>
              <a:ext uri="{FF2B5EF4-FFF2-40B4-BE49-F238E27FC236}">
                <a16:creationId xmlns:a16="http://schemas.microsoft.com/office/drawing/2014/main" id="{39A3513A-FD8C-443C-9616-C69F95F69125}"/>
              </a:ext>
            </a:extLst>
          </p:cNvPr>
          <p:cNvGrpSpPr>
            <a:grpSpLocks/>
          </p:cNvGrpSpPr>
          <p:nvPr/>
        </p:nvGrpSpPr>
        <p:grpSpPr bwMode="auto">
          <a:xfrm>
            <a:off x="6586144" y="2062104"/>
            <a:ext cx="1146175" cy="1679575"/>
            <a:chOff x="2777" y="1016"/>
            <a:chExt cx="722" cy="1058"/>
          </a:xfrm>
        </p:grpSpPr>
        <p:sp>
          <p:nvSpPr>
            <p:cNvPr id="14" name="Freeform 188">
              <a:extLst>
                <a:ext uri="{FF2B5EF4-FFF2-40B4-BE49-F238E27FC236}">
                  <a16:creationId xmlns:a16="http://schemas.microsoft.com/office/drawing/2014/main" id="{900B70C1-1FFE-427A-85CA-CAB125D31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1113"/>
              <a:ext cx="74" cy="128"/>
            </a:xfrm>
            <a:custGeom>
              <a:avLst/>
              <a:gdLst>
                <a:gd name="T0" fmla="*/ 0 w 222"/>
                <a:gd name="T1" fmla="*/ 0 h 384"/>
                <a:gd name="T2" fmla="*/ 0 w 222"/>
                <a:gd name="T3" fmla="*/ 0 h 384"/>
                <a:gd name="T4" fmla="*/ 0 w 222"/>
                <a:gd name="T5" fmla="*/ 0 h 384"/>
                <a:gd name="T6" fmla="*/ 0 60000 65536"/>
                <a:gd name="T7" fmla="*/ 0 60000 65536"/>
                <a:gd name="T8" fmla="*/ 0 60000 65536"/>
                <a:gd name="T9" fmla="*/ 0 w 222"/>
                <a:gd name="T10" fmla="*/ 0 h 384"/>
                <a:gd name="T11" fmla="*/ 222 w 22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2" h="384">
                  <a:moveTo>
                    <a:pt x="222" y="0"/>
                  </a:moveTo>
                  <a:lnTo>
                    <a:pt x="0" y="384"/>
                  </a:lnTo>
                  <a:lnTo>
                    <a:pt x="1" y="384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5" name="Freeform 189">
              <a:extLst>
                <a:ext uri="{FF2B5EF4-FFF2-40B4-BE49-F238E27FC236}">
                  <a16:creationId xmlns:a16="http://schemas.microsoft.com/office/drawing/2014/main" id="{8E2FD406-C7E5-4D4D-8B34-C85E1EC8B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016"/>
              <a:ext cx="168" cy="97"/>
            </a:xfrm>
            <a:custGeom>
              <a:avLst/>
              <a:gdLst>
                <a:gd name="T0" fmla="*/ 0 w 502"/>
                <a:gd name="T1" fmla="*/ 0 h 289"/>
                <a:gd name="T2" fmla="*/ 0 w 502"/>
                <a:gd name="T3" fmla="*/ 0 h 289"/>
                <a:gd name="T4" fmla="*/ 0 w 502"/>
                <a:gd name="T5" fmla="*/ 0 h 289"/>
                <a:gd name="T6" fmla="*/ 0 60000 65536"/>
                <a:gd name="T7" fmla="*/ 0 60000 65536"/>
                <a:gd name="T8" fmla="*/ 0 60000 65536"/>
                <a:gd name="T9" fmla="*/ 0 w 502"/>
                <a:gd name="T10" fmla="*/ 0 h 289"/>
                <a:gd name="T11" fmla="*/ 502 w 502"/>
                <a:gd name="T12" fmla="*/ 289 h 2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2" h="289">
                  <a:moveTo>
                    <a:pt x="0" y="0"/>
                  </a:moveTo>
                  <a:lnTo>
                    <a:pt x="501" y="289"/>
                  </a:lnTo>
                  <a:lnTo>
                    <a:pt x="502" y="289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6" name="Freeform 190">
              <a:extLst>
                <a:ext uri="{FF2B5EF4-FFF2-40B4-BE49-F238E27FC236}">
                  <a16:creationId xmlns:a16="http://schemas.microsoft.com/office/drawing/2014/main" id="{A3FE1A72-350D-4FAD-812D-04F5D647E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016"/>
              <a:ext cx="121" cy="87"/>
            </a:xfrm>
            <a:custGeom>
              <a:avLst/>
              <a:gdLst>
                <a:gd name="T0" fmla="*/ 0 w 361"/>
                <a:gd name="T1" fmla="*/ 0 h 260"/>
                <a:gd name="T2" fmla="*/ 0 w 361"/>
                <a:gd name="T3" fmla="*/ 0 h 260"/>
                <a:gd name="T4" fmla="*/ 0 w 361"/>
                <a:gd name="T5" fmla="*/ 0 h 260"/>
                <a:gd name="T6" fmla="*/ 0 60000 65536"/>
                <a:gd name="T7" fmla="*/ 0 60000 65536"/>
                <a:gd name="T8" fmla="*/ 0 60000 65536"/>
                <a:gd name="T9" fmla="*/ 0 w 361"/>
                <a:gd name="T10" fmla="*/ 0 h 260"/>
                <a:gd name="T11" fmla="*/ 361 w 361"/>
                <a:gd name="T12" fmla="*/ 260 h 2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260">
                  <a:moveTo>
                    <a:pt x="361" y="26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7" name="Freeform 191">
              <a:extLst>
                <a:ext uri="{FF2B5EF4-FFF2-40B4-BE49-F238E27FC236}">
                  <a16:creationId xmlns:a16="http://schemas.microsoft.com/office/drawing/2014/main" id="{241C0C42-D63B-4B5C-B3A6-B9BAE63A8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016"/>
              <a:ext cx="138" cy="61"/>
            </a:xfrm>
            <a:custGeom>
              <a:avLst/>
              <a:gdLst>
                <a:gd name="T0" fmla="*/ 0 w 414"/>
                <a:gd name="T1" fmla="*/ 0 h 182"/>
                <a:gd name="T2" fmla="*/ 0 w 414"/>
                <a:gd name="T3" fmla="*/ 0 h 182"/>
                <a:gd name="T4" fmla="*/ 0 w 414"/>
                <a:gd name="T5" fmla="*/ 0 h 182"/>
                <a:gd name="T6" fmla="*/ 0 60000 65536"/>
                <a:gd name="T7" fmla="*/ 0 60000 65536"/>
                <a:gd name="T8" fmla="*/ 0 60000 65536"/>
                <a:gd name="T9" fmla="*/ 0 w 414"/>
                <a:gd name="T10" fmla="*/ 0 h 182"/>
                <a:gd name="T11" fmla="*/ 414 w 414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4" h="182">
                  <a:moveTo>
                    <a:pt x="0" y="0"/>
                  </a:moveTo>
                  <a:lnTo>
                    <a:pt x="413" y="182"/>
                  </a:lnTo>
                  <a:lnTo>
                    <a:pt x="414" y="182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8" name="Freeform 192">
              <a:extLst>
                <a:ext uri="{FF2B5EF4-FFF2-40B4-BE49-F238E27FC236}">
                  <a16:creationId xmlns:a16="http://schemas.microsoft.com/office/drawing/2014/main" id="{99B94ADD-F56C-4E3F-9646-11F775D25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1077"/>
              <a:ext cx="17" cy="26"/>
            </a:xfrm>
            <a:custGeom>
              <a:avLst/>
              <a:gdLst>
                <a:gd name="T0" fmla="*/ 0 w 52"/>
                <a:gd name="T1" fmla="*/ 0 h 78"/>
                <a:gd name="T2" fmla="*/ 0 w 52"/>
                <a:gd name="T3" fmla="*/ 0 h 78"/>
                <a:gd name="T4" fmla="*/ 0 w 52"/>
                <a:gd name="T5" fmla="*/ 0 h 78"/>
                <a:gd name="T6" fmla="*/ 0 60000 65536"/>
                <a:gd name="T7" fmla="*/ 0 60000 65536"/>
                <a:gd name="T8" fmla="*/ 0 60000 65536"/>
                <a:gd name="T9" fmla="*/ 0 w 52"/>
                <a:gd name="T10" fmla="*/ 0 h 78"/>
                <a:gd name="T11" fmla="*/ 52 w 52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" h="78">
                  <a:moveTo>
                    <a:pt x="52" y="0"/>
                  </a:moveTo>
                  <a:lnTo>
                    <a:pt x="0" y="78"/>
                  </a:lnTo>
                  <a:lnTo>
                    <a:pt x="1" y="78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9" name="Freeform 193">
              <a:extLst>
                <a:ext uri="{FF2B5EF4-FFF2-40B4-BE49-F238E27FC236}">
                  <a16:creationId xmlns:a16="http://schemas.microsoft.com/office/drawing/2014/main" id="{F7898C8C-EF3E-410E-83FC-21A4DDB28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016"/>
              <a:ext cx="138" cy="61"/>
            </a:xfrm>
            <a:custGeom>
              <a:avLst/>
              <a:gdLst>
                <a:gd name="T0" fmla="*/ 0 w 413"/>
                <a:gd name="T1" fmla="*/ 0 h 182"/>
                <a:gd name="T2" fmla="*/ 0 w 413"/>
                <a:gd name="T3" fmla="*/ 0 h 182"/>
                <a:gd name="T4" fmla="*/ 0 w 413"/>
                <a:gd name="T5" fmla="*/ 0 h 182"/>
                <a:gd name="T6" fmla="*/ 0 w 413"/>
                <a:gd name="T7" fmla="*/ 0 h 1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3"/>
                <a:gd name="T13" fmla="*/ 0 h 182"/>
                <a:gd name="T14" fmla="*/ 413 w 413"/>
                <a:gd name="T15" fmla="*/ 182 h 1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3" h="182">
                  <a:moveTo>
                    <a:pt x="258" y="146"/>
                  </a:moveTo>
                  <a:lnTo>
                    <a:pt x="0" y="0"/>
                  </a:lnTo>
                  <a:lnTo>
                    <a:pt x="413" y="182"/>
                  </a:lnTo>
                  <a:lnTo>
                    <a:pt x="258" y="14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" name="Freeform 194">
              <a:extLst>
                <a:ext uri="{FF2B5EF4-FFF2-40B4-BE49-F238E27FC236}">
                  <a16:creationId xmlns:a16="http://schemas.microsoft.com/office/drawing/2014/main" id="{77BCC99B-D77B-4F8A-8316-3F7A38D90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016"/>
              <a:ext cx="138" cy="61"/>
            </a:xfrm>
            <a:custGeom>
              <a:avLst/>
              <a:gdLst>
                <a:gd name="T0" fmla="*/ 0 w 413"/>
                <a:gd name="T1" fmla="*/ 0 h 182"/>
                <a:gd name="T2" fmla="*/ 0 w 413"/>
                <a:gd name="T3" fmla="*/ 0 h 182"/>
                <a:gd name="T4" fmla="*/ 0 w 413"/>
                <a:gd name="T5" fmla="*/ 0 h 182"/>
                <a:gd name="T6" fmla="*/ 0 w 413"/>
                <a:gd name="T7" fmla="*/ 0 h 1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3"/>
                <a:gd name="T13" fmla="*/ 0 h 182"/>
                <a:gd name="T14" fmla="*/ 413 w 413"/>
                <a:gd name="T15" fmla="*/ 182 h 1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3" h="182">
                  <a:moveTo>
                    <a:pt x="258" y="146"/>
                  </a:moveTo>
                  <a:lnTo>
                    <a:pt x="0" y="0"/>
                  </a:lnTo>
                  <a:lnTo>
                    <a:pt x="413" y="182"/>
                  </a:lnTo>
                  <a:lnTo>
                    <a:pt x="258" y="146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1" name="Freeform 195">
              <a:extLst>
                <a:ext uri="{FF2B5EF4-FFF2-40B4-BE49-F238E27FC236}">
                  <a16:creationId xmlns:a16="http://schemas.microsoft.com/office/drawing/2014/main" id="{224E6CA9-0651-4A68-8CD5-F632ABF0E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1065"/>
              <a:ext cx="52" cy="38"/>
            </a:xfrm>
            <a:custGeom>
              <a:avLst/>
              <a:gdLst>
                <a:gd name="T0" fmla="*/ 0 w 155"/>
                <a:gd name="T1" fmla="*/ 0 h 114"/>
                <a:gd name="T2" fmla="*/ 0 w 155"/>
                <a:gd name="T3" fmla="*/ 0 h 114"/>
                <a:gd name="T4" fmla="*/ 0 w 155"/>
                <a:gd name="T5" fmla="*/ 0 h 114"/>
                <a:gd name="T6" fmla="*/ 0 w 155"/>
                <a:gd name="T7" fmla="*/ 0 h 1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5"/>
                <a:gd name="T13" fmla="*/ 0 h 114"/>
                <a:gd name="T14" fmla="*/ 155 w 155"/>
                <a:gd name="T15" fmla="*/ 114 h 1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5" h="114">
                  <a:moveTo>
                    <a:pt x="0" y="0"/>
                  </a:moveTo>
                  <a:lnTo>
                    <a:pt x="155" y="36"/>
                  </a:lnTo>
                  <a:lnTo>
                    <a:pt x="103" y="1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2" name="Freeform 196">
              <a:extLst>
                <a:ext uri="{FF2B5EF4-FFF2-40B4-BE49-F238E27FC236}">
                  <a16:creationId xmlns:a16="http://schemas.microsoft.com/office/drawing/2014/main" id="{2F566D53-62E3-4FFA-875A-5A92055A8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1065"/>
              <a:ext cx="52" cy="38"/>
            </a:xfrm>
            <a:custGeom>
              <a:avLst/>
              <a:gdLst>
                <a:gd name="T0" fmla="*/ 0 w 155"/>
                <a:gd name="T1" fmla="*/ 0 h 114"/>
                <a:gd name="T2" fmla="*/ 0 w 155"/>
                <a:gd name="T3" fmla="*/ 0 h 114"/>
                <a:gd name="T4" fmla="*/ 0 w 155"/>
                <a:gd name="T5" fmla="*/ 0 h 114"/>
                <a:gd name="T6" fmla="*/ 0 w 155"/>
                <a:gd name="T7" fmla="*/ 0 h 1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5"/>
                <a:gd name="T13" fmla="*/ 0 h 114"/>
                <a:gd name="T14" fmla="*/ 155 w 155"/>
                <a:gd name="T15" fmla="*/ 114 h 1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5" h="114">
                  <a:moveTo>
                    <a:pt x="0" y="0"/>
                  </a:moveTo>
                  <a:lnTo>
                    <a:pt x="155" y="36"/>
                  </a:lnTo>
                  <a:lnTo>
                    <a:pt x="103" y="114"/>
                  </a:lnTo>
                  <a:lnTo>
                    <a:pt x="0" y="0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3" name="Freeform 197">
              <a:extLst>
                <a:ext uri="{FF2B5EF4-FFF2-40B4-BE49-F238E27FC236}">
                  <a16:creationId xmlns:a16="http://schemas.microsoft.com/office/drawing/2014/main" id="{35C268A5-8B08-4FA4-8241-CC8BEF888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016"/>
              <a:ext cx="121" cy="87"/>
            </a:xfrm>
            <a:custGeom>
              <a:avLst/>
              <a:gdLst>
                <a:gd name="T0" fmla="*/ 0 w 361"/>
                <a:gd name="T1" fmla="*/ 0 h 260"/>
                <a:gd name="T2" fmla="*/ 0 w 361"/>
                <a:gd name="T3" fmla="*/ 0 h 260"/>
                <a:gd name="T4" fmla="*/ 0 w 361"/>
                <a:gd name="T5" fmla="*/ 0 h 260"/>
                <a:gd name="T6" fmla="*/ 0 w 361"/>
                <a:gd name="T7" fmla="*/ 0 h 2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1"/>
                <a:gd name="T13" fmla="*/ 0 h 260"/>
                <a:gd name="T14" fmla="*/ 361 w 361"/>
                <a:gd name="T15" fmla="*/ 260 h 2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1" h="260">
                  <a:moveTo>
                    <a:pt x="258" y="146"/>
                  </a:moveTo>
                  <a:lnTo>
                    <a:pt x="361" y="260"/>
                  </a:lnTo>
                  <a:lnTo>
                    <a:pt x="0" y="0"/>
                  </a:lnTo>
                  <a:lnTo>
                    <a:pt x="258" y="14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4" name="Freeform 198">
              <a:extLst>
                <a:ext uri="{FF2B5EF4-FFF2-40B4-BE49-F238E27FC236}">
                  <a16:creationId xmlns:a16="http://schemas.microsoft.com/office/drawing/2014/main" id="{482968B1-DB10-4F21-83BB-DA0DEBAFF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016"/>
              <a:ext cx="121" cy="87"/>
            </a:xfrm>
            <a:custGeom>
              <a:avLst/>
              <a:gdLst>
                <a:gd name="T0" fmla="*/ 0 w 361"/>
                <a:gd name="T1" fmla="*/ 0 h 260"/>
                <a:gd name="T2" fmla="*/ 0 w 361"/>
                <a:gd name="T3" fmla="*/ 0 h 260"/>
                <a:gd name="T4" fmla="*/ 0 w 361"/>
                <a:gd name="T5" fmla="*/ 0 h 260"/>
                <a:gd name="T6" fmla="*/ 0 w 361"/>
                <a:gd name="T7" fmla="*/ 0 h 2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1"/>
                <a:gd name="T13" fmla="*/ 0 h 260"/>
                <a:gd name="T14" fmla="*/ 361 w 361"/>
                <a:gd name="T15" fmla="*/ 260 h 2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1" h="260">
                  <a:moveTo>
                    <a:pt x="258" y="146"/>
                  </a:moveTo>
                  <a:lnTo>
                    <a:pt x="361" y="260"/>
                  </a:lnTo>
                  <a:lnTo>
                    <a:pt x="0" y="0"/>
                  </a:lnTo>
                  <a:lnTo>
                    <a:pt x="258" y="146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5" name="Freeform 199">
              <a:extLst>
                <a:ext uri="{FF2B5EF4-FFF2-40B4-BE49-F238E27FC236}">
                  <a16:creationId xmlns:a16="http://schemas.microsoft.com/office/drawing/2014/main" id="{3EFC0FAA-25F7-4ECC-A88E-616742F65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977"/>
              <a:ext cx="137" cy="61"/>
            </a:xfrm>
            <a:custGeom>
              <a:avLst/>
              <a:gdLst>
                <a:gd name="T0" fmla="*/ 0 w 413"/>
                <a:gd name="T1" fmla="*/ 0 h 182"/>
                <a:gd name="T2" fmla="*/ 0 w 413"/>
                <a:gd name="T3" fmla="*/ 0 h 182"/>
                <a:gd name="T4" fmla="*/ 0 w 413"/>
                <a:gd name="T5" fmla="*/ 0 h 182"/>
                <a:gd name="T6" fmla="*/ 0 w 413"/>
                <a:gd name="T7" fmla="*/ 0 h 1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3"/>
                <a:gd name="T13" fmla="*/ 0 h 182"/>
                <a:gd name="T14" fmla="*/ 413 w 413"/>
                <a:gd name="T15" fmla="*/ 182 h 1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3" h="182">
                  <a:moveTo>
                    <a:pt x="258" y="148"/>
                  </a:moveTo>
                  <a:lnTo>
                    <a:pt x="0" y="0"/>
                  </a:lnTo>
                  <a:lnTo>
                    <a:pt x="413" y="182"/>
                  </a:lnTo>
                  <a:lnTo>
                    <a:pt x="258" y="1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6" name="Freeform 200">
              <a:extLst>
                <a:ext uri="{FF2B5EF4-FFF2-40B4-BE49-F238E27FC236}">
                  <a16:creationId xmlns:a16="http://schemas.microsoft.com/office/drawing/2014/main" id="{B4965EA8-CCEF-46B8-84FA-B83E05364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977"/>
              <a:ext cx="137" cy="61"/>
            </a:xfrm>
            <a:custGeom>
              <a:avLst/>
              <a:gdLst>
                <a:gd name="T0" fmla="*/ 0 w 413"/>
                <a:gd name="T1" fmla="*/ 0 h 182"/>
                <a:gd name="T2" fmla="*/ 0 w 413"/>
                <a:gd name="T3" fmla="*/ 0 h 182"/>
                <a:gd name="T4" fmla="*/ 0 w 413"/>
                <a:gd name="T5" fmla="*/ 0 h 182"/>
                <a:gd name="T6" fmla="*/ 0 w 413"/>
                <a:gd name="T7" fmla="*/ 0 h 1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3"/>
                <a:gd name="T13" fmla="*/ 0 h 182"/>
                <a:gd name="T14" fmla="*/ 413 w 413"/>
                <a:gd name="T15" fmla="*/ 182 h 1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3" h="182">
                  <a:moveTo>
                    <a:pt x="258" y="148"/>
                  </a:moveTo>
                  <a:lnTo>
                    <a:pt x="0" y="0"/>
                  </a:lnTo>
                  <a:lnTo>
                    <a:pt x="413" y="182"/>
                  </a:lnTo>
                  <a:lnTo>
                    <a:pt x="258" y="148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7" name="Freeform 201">
              <a:extLst>
                <a:ext uri="{FF2B5EF4-FFF2-40B4-BE49-F238E27FC236}">
                  <a16:creationId xmlns:a16="http://schemas.microsoft.com/office/drawing/2014/main" id="{37791E25-2B1C-4C35-B931-045A35D1F9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027"/>
              <a:ext cx="51" cy="37"/>
            </a:xfrm>
            <a:custGeom>
              <a:avLst/>
              <a:gdLst>
                <a:gd name="T0" fmla="*/ 0 w 155"/>
                <a:gd name="T1" fmla="*/ 0 h 112"/>
                <a:gd name="T2" fmla="*/ 0 w 155"/>
                <a:gd name="T3" fmla="*/ 0 h 112"/>
                <a:gd name="T4" fmla="*/ 0 w 155"/>
                <a:gd name="T5" fmla="*/ 0 h 112"/>
                <a:gd name="T6" fmla="*/ 0 w 155"/>
                <a:gd name="T7" fmla="*/ 0 h 1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5"/>
                <a:gd name="T13" fmla="*/ 0 h 112"/>
                <a:gd name="T14" fmla="*/ 155 w 155"/>
                <a:gd name="T15" fmla="*/ 112 h 1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5" h="112">
                  <a:moveTo>
                    <a:pt x="0" y="0"/>
                  </a:moveTo>
                  <a:lnTo>
                    <a:pt x="155" y="34"/>
                  </a:lnTo>
                  <a:lnTo>
                    <a:pt x="102" y="1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8" name="Freeform 202">
              <a:extLst>
                <a:ext uri="{FF2B5EF4-FFF2-40B4-BE49-F238E27FC236}">
                  <a16:creationId xmlns:a16="http://schemas.microsoft.com/office/drawing/2014/main" id="{134287AF-90C7-42A7-92E4-0A92092CE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027"/>
              <a:ext cx="51" cy="37"/>
            </a:xfrm>
            <a:custGeom>
              <a:avLst/>
              <a:gdLst>
                <a:gd name="T0" fmla="*/ 0 w 155"/>
                <a:gd name="T1" fmla="*/ 0 h 112"/>
                <a:gd name="T2" fmla="*/ 0 w 155"/>
                <a:gd name="T3" fmla="*/ 0 h 112"/>
                <a:gd name="T4" fmla="*/ 0 w 155"/>
                <a:gd name="T5" fmla="*/ 0 h 112"/>
                <a:gd name="T6" fmla="*/ 0 w 155"/>
                <a:gd name="T7" fmla="*/ 0 h 1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5"/>
                <a:gd name="T13" fmla="*/ 0 h 112"/>
                <a:gd name="T14" fmla="*/ 155 w 155"/>
                <a:gd name="T15" fmla="*/ 112 h 1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5" h="112">
                  <a:moveTo>
                    <a:pt x="0" y="0"/>
                  </a:moveTo>
                  <a:lnTo>
                    <a:pt x="155" y="34"/>
                  </a:lnTo>
                  <a:lnTo>
                    <a:pt x="102" y="112"/>
                  </a:lnTo>
                  <a:lnTo>
                    <a:pt x="0" y="0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9" name="Freeform 203">
              <a:extLst>
                <a:ext uri="{FF2B5EF4-FFF2-40B4-BE49-F238E27FC236}">
                  <a16:creationId xmlns:a16="http://schemas.microsoft.com/office/drawing/2014/main" id="{6712D0D1-0D38-41BD-8D21-CD5FFAE96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977"/>
              <a:ext cx="120" cy="87"/>
            </a:xfrm>
            <a:custGeom>
              <a:avLst/>
              <a:gdLst>
                <a:gd name="T0" fmla="*/ 0 w 360"/>
                <a:gd name="T1" fmla="*/ 0 h 260"/>
                <a:gd name="T2" fmla="*/ 0 w 360"/>
                <a:gd name="T3" fmla="*/ 0 h 260"/>
                <a:gd name="T4" fmla="*/ 0 w 360"/>
                <a:gd name="T5" fmla="*/ 0 h 260"/>
                <a:gd name="T6" fmla="*/ 0 w 360"/>
                <a:gd name="T7" fmla="*/ 0 h 2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0"/>
                <a:gd name="T13" fmla="*/ 0 h 260"/>
                <a:gd name="T14" fmla="*/ 360 w 360"/>
                <a:gd name="T15" fmla="*/ 260 h 2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0" h="260">
                  <a:moveTo>
                    <a:pt x="258" y="148"/>
                  </a:moveTo>
                  <a:lnTo>
                    <a:pt x="360" y="260"/>
                  </a:lnTo>
                  <a:lnTo>
                    <a:pt x="0" y="0"/>
                  </a:lnTo>
                  <a:lnTo>
                    <a:pt x="258" y="1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0" name="Freeform 204">
              <a:extLst>
                <a:ext uri="{FF2B5EF4-FFF2-40B4-BE49-F238E27FC236}">
                  <a16:creationId xmlns:a16="http://schemas.microsoft.com/office/drawing/2014/main" id="{49A65E73-C6DC-49B3-8059-7D3F608E3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977"/>
              <a:ext cx="120" cy="87"/>
            </a:xfrm>
            <a:custGeom>
              <a:avLst/>
              <a:gdLst>
                <a:gd name="T0" fmla="*/ 0 w 360"/>
                <a:gd name="T1" fmla="*/ 0 h 260"/>
                <a:gd name="T2" fmla="*/ 0 w 360"/>
                <a:gd name="T3" fmla="*/ 0 h 260"/>
                <a:gd name="T4" fmla="*/ 0 w 360"/>
                <a:gd name="T5" fmla="*/ 0 h 260"/>
                <a:gd name="T6" fmla="*/ 0 w 360"/>
                <a:gd name="T7" fmla="*/ 0 h 2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0"/>
                <a:gd name="T13" fmla="*/ 0 h 260"/>
                <a:gd name="T14" fmla="*/ 360 w 360"/>
                <a:gd name="T15" fmla="*/ 260 h 2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0" h="260">
                  <a:moveTo>
                    <a:pt x="258" y="148"/>
                  </a:moveTo>
                  <a:lnTo>
                    <a:pt x="360" y="260"/>
                  </a:lnTo>
                  <a:lnTo>
                    <a:pt x="0" y="0"/>
                  </a:lnTo>
                  <a:lnTo>
                    <a:pt x="258" y="148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1" name="Freeform 205">
              <a:extLst>
                <a:ext uri="{FF2B5EF4-FFF2-40B4-BE49-F238E27FC236}">
                  <a16:creationId xmlns:a16="http://schemas.microsoft.com/office/drawing/2014/main" id="{4DA12CA0-A621-4C14-B3E0-BCEF659E7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977"/>
              <a:ext cx="167" cy="97"/>
            </a:xfrm>
            <a:custGeom>
              <a:avLst/>
              <a:gdLst>
                <a:gd name="T0" fmla="*/ 0 w 503"/>
                <a:gd name="T1" fmla="*/ 0 h 289"/>
                <a:gd name="T2" fmla="*/ 0 w 503"/>
                <a:gd name="T3" fmla="*/ 0 h 289"/>
                <a:gd name="T4" fmla="*/ 0 w 503"/>
                <a:gd name="T5" fmla="*/ 0 h 289"/>
                <a:gd name="T6" fmla="*/ 0 60000 65536"/>
                <a:gd name="T7" fmla="*/ 0 60000 65536"/>
                <a:gd name="T8" fmla="*/ 0 60000 65536"/>
                <a:gd name="T9" fmla="*/ 0 w 503"/>
                <a:gd name="T10" fmla="*/ 0 h 289"/>
                <a:gd name="T11" fmla="*/ 503 w 503"/>
                <a:gd name="T12" fmla="*/ 289 h 2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3" h="289">
                  <a:moveTo>
                    <a:pt x="0" y="0"/>
                  </a:moveTo>
                  <a:lnTo>
                    <a:pt x="502" y="289"/>
                  </a:lnTo>
                  <a:lnTo>
                    <a:pt x="503" y="289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Freeform 206">
              <a:extLst>
                <a:ext uri="{FF2B5EF4-FFF2-40B4-BE49-F238E27FC236}">
                  <a16:creationId xmlns:a16="http://schemas.microsoft.com/office/drawing/2014/main" id="{5E702459-4117-4EB0-B841-402B79E69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977"/>
              <a:ext cx="120" cy="87"/>
            </a:xfrm>
            <a:custGeom>
              <a:avLst/>
              <a:gdLst>
                <a:gd name="T0" fmla="*/ 0 w 360"/>
                <a:gd name="T1" fmla="*/ 0 h 260"/>
                <a:gd name="T2" fmla="*/ 0 w 360"/>
                <a:gd name="T3" fmla="*/ 0 h 260"/>
                <a:gd name="T4" fmla="*/ 0 w 360"/>
                <a:gd name="T5" fmla="*/ 0 h 260"/>
                <a:gd name="T6" fmla="*/ 0 60000 65536"/>
                <a:gd name="T7" fmla="*/ 0 60000 65536"/>
                <a:gd name="T8" fmla="*/ 0 60000 65536"/>
                <a:gd name="T9" fmla="*/ 0 w 360"/>
                <a:gd name="T10" fmla="*/ 0 h 260"/>
                <a:gd name="T11" fmla="*/ 360 w 360"/>
                <a:gd name="T12" fmla="*/ 260 h 2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0" h="260">
                  <a:moveTo>
                    <a:pt x="360" y="26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3" name="Freeform 207">
              <a:extLst>
                <a:ext uri="{FF2B5EF4-FFF2-40B4-BE49-F238E27FC236}">
                  <a16:creationId xmlns:a16="http://schemas.microsoft.com/office/drawing/2014/main" id="{E86E8B63-0944-449E-AB37-F900D75E1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977"/>
              <a:ext cx="138" cy="61"/>
            </a:xfrm>
            <a:custGeom>
              <a:avLst/>
              <a:gdLst>
                <a:gd name="T0" fmla="*/ 0 w 414"/>
                <a:gd name="T1" fmla="*/ 0 h 182"/>
                <a:gd name="T2" fmla="*/ 0 w 414"/>
                <a:gd name="T3" fmla="*/ 0 h 182"/>
                <a:gd name="T4" fmla="*/ 0 w 414"/>
                <a:gd name="T5" fmla="*/ 0 h 182"/>
                <a:gd name="T6" fmla="*/ 0 60000 65536"/>
                <a:gd name="T7" fmla="*/ 0 60000 65536"/>
                <a:gd name="T8" fmla="*/ 0 60000 65536"/>
                <a:gd name="T9" fmla="*/ 0 w 414"/>
                <a:gd name="T10" fmla="*/ 0 h 182"/>
                <a:gd name="T11" fmla="*/ 414 w 414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4" h="182">
                  <a:moveTo>
                    <a:pt x="0" y="0"/>
                  </a:moveTo>
                  <a:lnTo>
                    <a:pt x="413" y="182"/>
                  </a:lnTo>
                  <a:lnTo>
                    <a:pt x="414" y="182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4" name="Freeform 208">
              <a:extLst>
                <a:ext uri="{FF2B5EF4-FFF2-40B4-BE49-F238E27FC236}">
                  <a16:creationId xmlns:a16="http://schemas.microsoft.com/office/drawing/2014/main" id="{9D326631-B3E8-4ADA-9D3B-E49FB69CC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2038"/>
              <a:ext cx="17" cy="26"/>
            </a:xfrm>
            <a:custGeom>
              <a:avLst/>
              <a:gdLst>
                <a:gd name="T0" fmla="*/ 0 w 53"/>
                <a:gd name="T1" fmla="*/ 0 h 78"/>
                <a:gd name="T2" fmla="*/ 0 w 53"/>
                <a:gd name="T3" fmla="*/ 0 h 78"/>
                <a:gd name="T4" fmla="*/ 0 w 53"/>
                <a:gd name="T5" fmla="*/ 0 h 78"/>
                <a:gd name="T6" fmla="*/ 0 60000 65536"/>
                <a:gd name="T7" fmla="*/ 0 60000 65536"/>
                <a:gd name="T8" fmla="*/ 0 60000 65536"/>
                <a:gd name="T9" fmla="*/ 0 w 53"/>
                <a:gd name="T10" fmla="*/ 0 h 78"/>
                <a:gd name="T11" fmla="*/ 53 w 53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78">
                  <a:moveTo>
                    <a:pt x="53" y="0"/>
                  </a:moveTo>
                  <a:lnTo>
                    <a:pt x="0" y="78"/>
                  </a:lnTo>
                  <a:lnTo>
                    <a:pt x="1" y="78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5" name="Freeform 209">
              <a:extLst>
                <a:ext uri="{FF2B5EF4-FFF2-40B4-BE49-F238E27FC236}">
                  <a16:creationId xmlns:a16="http://schemas.microsoft.com/office/drawing/2014/main" id="{36F39090-C18C-46C8-901B-656AB34F5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1946"/>
              <a:ext cx="74" cy="128"/>
            </a:xfrm>
            <a:custGeom>
              <a:avLst/>
              <a:gdLst>
                <a:gd name="T0" fmla="*/ 0 w 222"/>
                <a:gd name="T1" fmla="*/ 0 h 384"/>
                <a:gd name="T2" fmla="*/ 0 w 222"/>
                <a:gd name="T3" fmla="*/ 0 h 384"/>
                <a:gd name="T4" fmla="*/ 0 w 222"/>
                <a:gd name="T5" fmla="*/ 0 h 384"/>
                <a:gd name="T6" fmla="*/ 0 60000 65536"/>
                <a:gd name="T7" fmla="*/ 0 60000 65536"/>
                <a:gd name="T8" fmla="*/ 0 60000 65536"/>
                <a:gd name="T9" fmla="*/ 0 w 222"/>
                <a:gd name="T10" fmla="*/ 0 h 384"/>
                <a:gd name="T11" fmla="*/ 222 w 22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2" h="384">
                  <a:moveTo>
                    <a:pt x="0" y="384"/>
                  </a:moveTo>
                  <a:lnTo>
                    <a:pt x="221" y="0"/>
                  </a:lnTo>
                  <a:lnTo>
                    <a:pt x="22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36" name="图片 35" descr="9-19-XP.jpg">
            <a:extLst>
              <a:ext uri="{FF2B5EF4-FFF2-40B4-BE49-F238E27FC236}">
                <a16:creationId xmlns:a16="http://schemas.microsoft.com/office/drawing/2014/main" id="{07E10E87-3294-427D-93AD-EF58158F0B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-531878">
            <a:off x="5439075" y="3978897"/>
            <a:ext cx="1339850" cy="146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Rectangle 185">
            <a:extLst>
              <a:ext uri="{FF2B5EF4-FFF2-40B4-BE49-F238E27FC236}">
                <a16:creationId xmlns:a16="http://schemas.microsoft.com/office/drawing/2014/main" id="{02C82882-A625-4169-9ECD-C727D1E95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369" y="3586104"/>
            <a:ext cx="1555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i="1">
                <a:latin typeface="宋体" charset="-122"/>
              </a:rPr>
              <a:t>A</a:t>
            </a:r>
            <a:endParaRPr lang="en-US" altLang="zh-CN"/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6252B2FC-4818-457A-A142-747E0768B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958353" y="1319151"/>
            <a:ext cx="1788127" cy="1770066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39" name="Rectangle 8">
            <a:extLst>
              <a:ext uri="{FF2B5EF4-FFF2-40B4-BE49-F238E27FC236}">
                <a16:creationId xmlns:a16="http://schemas.microsoft.com/office/drawing/2014/main" id="{5ADE2006-2BE4-470E-AC3C-ABE83D11F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1819" y="1103254"/>
            <a:ext cx="6191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i="1">
                <a:latin typeface="宋体" charset="-122"/>
              </a:rPr>
              <a:t>A</a:t>
            </a:r>
            <a:r>
              <a:rPr lang="zh-CN" altLang="en-US">
                <a:latin typeface="宋体" charset="-122"/>
              </a:rPr>
              <a:t>－</a:t>
            </a:r>
            <a:r>
              <a:rPr lang="en-US" altLang="zh-CN" i="1">
                <a:latin typeface="宋体" charset="-122"/>
              </a:rPr>
              <a:t>A</a:t>
            </a:r>
            <a:endParaRPr lang="en-US" altLang="zh-CN"/>
          </a:p>
        </p:txBody>
      </p:sp>
      <p:pic>
        <p:nvPicPr>
          <p:cNvPr id="40" name="Picture 2">
            <a:extLst>
              <a:ext uri="{FF2B5EF4-FFF2-40B4-BE49-F238E27FC236}">
                <a16:creationId xmlns:a16="http://schemas.microsoft.com/office/drawing/2014/main" id="{169DB3DB-ADD0-4D7F-9F77-F22A6A921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138050" y="2165142"/>
            <a:ext cx="2043112" cy="20224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41" name="Rectangle 8">
            <a:extLst>
              <a:ext uri="{FF2B5EF4-FFF2-40B4-BE49-F238E27FC236}">
                <a16:creationId xmlns:a16="http://schemas.microsoft.com/office/drawing/2014/main" id="{6F046684-92E6-4CA1-8541-49E2E2AD3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0044" y="1870017"/>
            <a:ext cx="6191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i="1">
                <a:latin typeface="宋体" charset="-122"/>
              </a:rPr>
              <a:t>A</a:t>
            </a:r>
            <a:r>
              <a:rPr lang="zh-CN" altLang="en-US">
                <a:latin typeface="宋体" charset="-122"/>
              </a:rPr>
              <a:t>－</a:t>
            </a:r>
            <a:r>
              <a:rPr lang="en-US" altLang="zh-CN" i="1">
                <a:latin typeface="宋体" charset="-122"/>
              </a:rPr>
              <a:t>A</a:t>
            </a:r>
            <a:endParaRPr lang="en-US" altLang="zh-CN"/>
          </a:p>
        </p:txBody>
      </p:sp>
      <p:pic>
        <p:nvPicPr>
          <p:cNvPr id="42" name="Picture 2">
            <a:extLst>
              <a:ext uri="{FF2B5EF4-FFF2-40B4-BE49-F238E27FC236}">
                <a16:creationId xmlns:a16="http://schemas.microsoft.com/office/drawing/2014/main" id="{45C2F72A-DC13-45DC-9E65-58A5EE8B6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400439" y="4637029"/>
            <a:ext cx="2043112" cy="20224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43" name="Group 9">
            <a:extLst>
              <a:ext uri="{FF2B5EF4-FFF2-40B4-BE49-F238E27FC236}">
                <a16:creationId xmlns:a16="http://schemas.microsoft.com/office/drawing/2014/main" id="{E06C038E-6B59-4819-9B32-14B21827CAB5}"/>
              </a:ext>
            </a:extLst>
          </p:cNvPr>
          <p:cNvGrpSpPr>
            <a:grpSpLocks/>
          </p:cNvGrpSpPr>
          <p:nvPr/>
        </p:nvGrpSpPr>
        <p:grpSpPr bwMode="auto">
          <a:xfrm>
            <a:off x="9971938" y="4255521"/>
            <a:ext cx="900113" cy="365125"/>
            <a:chOff x="4404" y="2298"/>
            <a:chExt cx="567" cy="230"/>
          </a:xfrm>
        </p:grpSpPr>
        <p:sp>
          <p:nvSpPr>
            <p:cNvPr id="44" name="Arc 10">
              <a:extLst>
                <a:ext uri="{FF2B5EF4-FFF2-40B4-BE49-F238E27FC236}">
                  <a16:creationId xmlns:a16="http://schemas.microsoft.com/office/drawing/2014/main" id="{34D5B25A-D7BF-4AEA-9DBB-31BB0CA30285}"/>
                </a:ext>
              </a:extLst>
            </p:cNvPr>
            <p:cNvSpPr>
              <a:spLocks/>
            </p:cNvSpPr>
            <p:nvPr/>
          </p:nvSpPr>
          <p:spPr bwMode="auto">
            <a:xfrm rot="5400000" flipH="1">
              <a:off x="4809" y="2292"/>
              <a:ext cx="110" cy="214"/>
            </a:xfrm>
            <a:custGeom>
              <a:avLst/>
              <a:gdLst>
                <a:gd name="T0" fmla="*/ 0 w 21966"/>
                <a:gd name="T1" fmla="*/ 0 h 43200"/>
                <a:gd name="T2" fmla="*/ 0 w 21966"/>
                <a:gd name="T3" fmla="*/ 0 h 43200"/>
                <a:gd name="T4" fmla="*/ 0 w 21966"/>
                <a:gd name="T5" fmla="*/ 0 h 43200"/>
                <a:gd name="T6" fmla="*/ 0 60000 65536"/>
                <a:gd name="T7" fmla="*/ 0 60000 65536"/>
                <a:gd name="T8" fmla="*/ 0 60000 65536"/>
                <a:gd name="T9" fmla="*/ 0 w 21966"/>
                <a:gd name="T10" fmla="*/ 0 h 43200"/>
                <a:gd name="T11" fmla="*/ 21966 w 2196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66" h="43200" fill="none" extrusionOk="0">
                  <a:moveTo>
                    <a:pt x="365" y="0"/>
                  </a:moveTo>
                  <a:cubicBezTo>
                    <a:pt x="12295" y="0"/>
                    <a:pt x="21966" y="9670"/>
                    <a:pt x="21966" y="21600"/>
                  </a:cubicBezTo>
                  <a:cubicBezTo>
                    <a:pt x="21966" y="33529"/>
                    <a:pt x="12295" y="43200"/>
                    <a:pt x="366" y="43200"/>
                  </a:cubicBezTo>
                  <a:cubicBezTo>
                    <a:pt x="243" y="43200"/>
                    <a:pt x="121" y="43198"/>
                    <a:pt x="0" y="43196"/>
                  </a:cubicBezTo>
                </a:path>
                <a:path w="21966" h="43200" stroke="0" extrusionOk="0">
                  <a:moveTo>
                    <a:pt x="365" y="0"/>
                  </a:moveTo>
                  <a:cubicBezTo>
                    <a:pt x="12295" y="0"/>
                    <a:pt x="21966" y="9670"/>
                    <a:pt x="21966" y="21600"/>
                  </a:cubicBezTo>
                  <a:cubicBezTo>
                    <a:pt x="21966" y="33529"/>
                    <a:pt x="12295" y="43200"/>
                    <a:pt x="366" y="43200"/>
                  </a:cubicBezTo>
                  <a:cubicBezTo>
                    <a:pt x="243" y="43200"/>
                    <a:pt x="121" y="43198"/>
                    <a:pt x="0" y="43196"/>
                  </a:cubicBezTo>
                  <a:lnTo>
                    <a:pt x="366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Rectangle 11">
              <a:extLst>
                <a:ext uri="{FF2B5EF4-FFF2-40B4-BE49-F238E27FC236}">
                  <a16:creationId xmlns:a16="http://schemas.microsoft.com/office/drawing/2014/main" id="{E688D072-D60C-4B0A-8EE1-C0C13BBC6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4" y="2298"/>
              <a:ext cx="39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dirty="0">
                  <a:latin typeface="宋体" charset="-122"/>
                </a:rPr>
                <a:t>A</a:t>
              </a:r>
              <a:r>
                <a:rPr lang="zh-CN" altLang="en-US" dirty="0">
                  <a:latin typeface="宋体" charset="-122"/>
                </a:rPr>
                <a:t>－</a:t>
              </a:r>
              <a:r>
                <a:rPr lang="en-US" altLang="zh-CN" i="1" dirty="0">
                  <a:latin typeface="宋体" charset="-122"/>
                </a:rPr>
                <a:t>A</a:t>
              </a:r>
              <a:endParaRPr lang="en-US" altLang="zh-CN" dirty="0"/>
            </a:p>
          </p:txBody>
        </p:sp>
      </p:grpSp>
    </p:spTree>
    <p:extLst>
      <p:ext uri="{BB962C8B-B14F-4D97-AF65-F5344CB8AC3E}">
        <p14:creationId xmlns:p14="http://schemas.microsoft.com/office/powerpoint/2010/main" val="227148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75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1800000">
                                      <p:cBhvr>
                                        <p:cTn id="6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37" grpId="0"/>
      <p:bldP spid="39" grpId="0" build="p" autoUpdateAnimBg="0"/>
      <p:bldP spid="41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83003A53-E889-4D73-8254-7458AC5F3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786" y="1021333"/>
            <a:ext cx="40830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333399"/>
                </a:solidFill>
                <a:latin typeface="宋体" charset="-122"/>
              </a:rPr>
              <a:t>2. </a:t>
            </a:r>
            <a:r>
              <a:rPr lang="zh-CN" altLang="en-US" sz="3200" dirty="0">
                <a:solidFill>
                  <a:srgbClr val="333399"/>
                </a:solidFill>
                <a:latin typeface="宋体" charset="-122"/>
              </a:rPr>
              <a:t>两相交的剖切平面</a:t>
            </a:r>
          </a:p>
        </p:txBody>
      </p:sp>
      <p:sp>
        <p:nvSpPr>
          <p:cNvPr id="4" name="Text Box 47">
            <a:extLst>
              <a:ext uri="{FF2B5EF4-FFF2-40B4-BE49-F238E27FC236}">
                <a16:creationId xmlns:a16="http://schemas.microsoft.com/office/drawing/2014/main" id="{85FDE978-679E-416C-891B-C8914EE07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8041" y="4602489"/>
            <a:ext cx="28448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rgbClr val="FF3300"/>
                </a:solidFill>
                <a:latin typeface="宋体" charset="-122"/>
              </a:rPr>
              <a:t>☆ </a:t>
            </a:r>
            <a:r>
              <a:rPr lang="zh-CN" altLang="en-US" sz="3200">
                <a:solidFill>
                  <a:srgbClr val="FF3300"/>
                </a:solidFill>
                <a:latin typeface="宋体" charset="-122"/>
              </a:rPr>
              <a:t>标注方法：</a:t>
            </a:r>
          </a:p>
        </p:txBody>
      </p:sp>
      <p:sp>
        <p:nvSpPr>
          <p:cNvPr id="5" name="Text Box 48">
            <a:extLst>
              <a:ext uri="{FF2B5EF4-FFF2-40B4-BE49-F238E27FC236}">
                <a16:creationId xmlns:a16="http://schemas.microsoft.com/office/drawing/2014/main" id="{44FA9D99-2097-40A3-9CC0-78DA08541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027" y="5069693"/>
            <a:ext cx="2844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3300"/>
                </a:solidFill>
                <a:latin typeface="宋体" charset="-122"/>
              </a:rPr>
              <a:t>☆ </a:t>
            </a:r>
            <a:r>
              <a:rPr lang="zh-CN" altLang="en-US" sz="3200" dirty="0">
                <a:solidFill>
                  <a:srgbClr val="FF3300"/>
                </a:solidFill>
                <a:latin typeface="宋体" charset="-122"/>
              </a:rPr>
              <a:t>适用范围：</a:t>
            </a:r>
          </a:p>
        </p:txBody>
      </p:sp>
      <p:sp>
        <p:nvSpPr>
          <p:cNvPr id="6" name="Text Box 49">
            <a:extLst>
              <a:ext uri="{FF2B5EF4-FFF2-40B4-BE49-F238E27FC236}">
                <a16:creationId xmlns:a16="http://schemas.microsoft.com/office/drawing/2014/main" id="{6B8D773E-C38B-434A-B0B3-1B0097C38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5749" y="5589033"/>
            <a:ext cx="865603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6600CC"/>
                </a:solidFill>
                <a:latin typeface="宋体" charset="-122"/>
              </a:rPr>
              <a:t>    </a:t>
            </a:r>
            <a:r>
              <a:rPr lang="zh-CN" altLang="en-US" sz="2800" dirty="0">
                <a:solidFill>
                  <a:srgbClr val="6600CC"/>
                </a:solidFill>
                <a:latin typeface="宋体" charset="-122"/>
              </a:rPr>
              <a:t>当机件的内部结构形状用一个剖切平面剖切不能表达完全，且机件又具有回转轴时。</a:t>
            </a:r>
          </a:p>
        </p:txBody>
      </p:sp>
      <p:pic>
        <p:nvPicPr>
          <p:cNvPr id="7" name="Picture 207">
            <a:extLst>
              <a:ext uri="{FF2B5EF4-FFF2-40B4-BE49-F238E27FC236}">
                <a16:creationId xmlns:a16="http://schemas.microsoft.com/office/drawing/2014/main" id="{308F3360-8DDF-49CE-871A-B2717F7F4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202348" y="1516633"/>
            <a:ext cx="4600575" cy="29479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85BD0FB-80B4-4F88-8A4D-DE6061E4EAB2}"/>
              </a:ext>
            </a:extLst>
          </p:cNvPr>
          <p:cNvGrpSpPr>
            <a:grpSpLocks/>
          </p:cNvGrpSpPr>
          <p:nvPr/>
        </p:nvGrpSpPr>
        <p:grpSpPr bwMode="auto">
          <a:xfrm>
            <a:off x="6243998" y="1605533"/>
            <a:ext cx="1204912" cy="2720975"/>
            <a:chOff x="2263" y="541"/>
            <a:chExt cx="804" cy="1691"/>
          </a:xfrm>
        </p:grpSpPr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C8DDAFAF-7B3E-485B-9AD4-0B4CF970CD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63" y="541"/>
              <a:ext cx="1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51C7A67F-71B4-4580-AC2C-EF4B3E9937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65" y="2129"/>
              <a:ext cx="102" cy="1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11" name="图片 10" descr="9-19立体.tif">
            <a:extLst>
              <a:ext uri="{FF2B5EF4-FFF2-40B4-BE49-F238E27FC236}">
                <a16:creationId xmlns:a16="http://schemas.microsoft.com/office/drawing/2014/main" id="{94635249-ED3C-4B5D-9C4C-1AAE8471B2F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63248" y="1934118"/>
            <a:ext cx="2957569" cy="277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5455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autoUpdateAnimBg="0"/>
      <p:bldP spid="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53A112A0-A9BE-4F22-9B3C-44ED12801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1293811"/>
            <a:ext cx="32512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☆ </a:t>
            </a: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应注意的问题：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4957CFA8-4121-4FAD-BB70-AD9ACB7CB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7110" y="1991516"/>
            <a:ext cx="7537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333399"/>
                </a:solidFill>
                <a:latin typeface="宋体" charset="-122"/>
              </a:rPr>
              <a:t>① </a:t>
            </a:r>
            <a:r>
              <a:rPr lang="zh-CN" altLang="en-US" sz="2800" dirty="0">
                <a:solidFill>
                  <a:srgbClr val="333399"/>
                </a:solidFill>
                <a:latin typeface="宋体" charset="-122"/>
              </a:rPr>
              <a:t>两剖切面的交线一般应与机件的轴线重合。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358B954-9C8B-494B-B413-C77CE2943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1629" y="2449512"/>
            <a:ext cx="75374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333399"/>
                </a:solidFill>
                <a:latin typeface="宋体" charset="-122"/>
              </a:rPr>
              <a:t>② </a:t>
            </a:r>
            <a:r>
              <a:rPr lang="zh-CN" altLang="en-US" sz="2800" dirty="0">
                <a:solidFill>
                  <a:srgbClr val="333399"/>
                </a:solidFill>
                <a:latin typeface="宋体" charset="-122"/>
              </a:rPr>
              <a:t>应按“先剖切后旋转”的方法绘制剖视图。</a:t>
            </a:r>
          </a:p>
        </p:txBody>
      </p:sp>
      <p:pic>
        <p:nvPicPr>
          <p:cNvPr id="6" name="Picture 207">
            <a:extLst>
              <a:ext uri="{FF2B5EF4-FFF2-40B4-BE49-F238E27FC236}">
                <a16:creationId xmlns:a16="http://schemas.microsoft.com/office/drawing/2014/main" id="{300BBAC2-2CA3-4730-85AE-30B49B05A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778224" y="3084512"/>
            <a:ext cx="4600575" cy="29479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7" name="Group 7">
            <a:extLst>
              <a:ext uri="{FF2B5EF4-FFF2-40B4-BE49-F238E27FC236}">
                <a16:creationId xmlns:a16="http://schemas.microsoft.com/office/drawing/2014/main" id="{7BB3EC11-3527-4AD6-BD73-CA9423F5509C}"/>
              </a:ext>
            </a:extLst>
          </p:cNvPr>
          <p:cNvGrpSpPr>
            <a:grpSpLocks/>
          </p:cNvGrpSpPr>
          <p:nvPr/>
        </p:nvGrpSpPr>
        <p:grpSpPr bwMode="auto">
          <a:xfrm>
            <a:off x="5819874" y="3173412"/>
            <a:ext cx="1204913" cy="2720975"/>
            <a:chOff x="2263" y="541"/>
            <a:chExt cx="804" cy="1691"/>
          </a:xfrm>
        </p:grpSpPr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B023F390-5DF4-4C35-B9CE-87F62FEB1E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63" y="541"/>
              <a:ext cx="1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8AD0C50D-FDA5-4EDF-97D3-5B331345DB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65" y="2129"/>
              <a:ext cx="102" cy="1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10" name="图片 362" descr="9-19立体.tif">
            <a:extLst>
              <a:ext uri="{FF2B5EF4-FFF2-40B4-BE49-F238E27FC236}">
                <a16:creationId xmlns:a16="http://schemas.microsoft.com/office/drawing/2014/main" id="{60FE0AD2-EC60-4F30-9FBC-FA95A241108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439124" y="3429000"/>
            <a:ext cx="2960688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组合 372">
            <a:extLst>
              <a:ext uri="{FF2B5EF4-FFF2-40B4-BE49-F238E27FC236}">
                <a16:creationId xmlns:a16="http://schemas.microsoft.com/office/drawing/2014/main" id="{56BD9260-CEB2-4CE1-8427-BB40E21EBCBF}"/>
              </a:ext>
            </a:extLst>
          </p:cNvPr>
          <p:cNvGrpSpPr>
            <a:grpSpLocks/>
          </p:cNvGrpSpPr>
          <p:nvPr/>
        </p:nvGrpSpPr>
        <p:grpSpPr bwMode="auto">
          <a:xfrm>
            <a:off x="6064349" y="3155950"/>
            <a:ext cx="981075" cy="2587625"/>
            <a:chOff x="4133844" y="2973383"/>
            <a:chExt cx="981084" cy="2586987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24AD260-10E7-42BD-997B-834A81A8D4CA}"/>
                </a:ext>
              </a:extLst>
            </p:cNvPr>
            <p:cNvCxnSpPr/>
            <p:nvPr/>
          </p:nvCxnSpPr>
          <p:spPr>
            <a:xfrm rot="5400000">
              <a:off x="4025127" y="3082100"/>
              <a:ext cx="219021" cy="1588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68F4C514-1674-40DC-8996-FFB00F6DB361}"/>
                </a:ext>
              </a:extLst>
            </p:cNvPr>
            <p:cNvCxnSpPr/>
            <p:nvPr/>
          </p:nvCxnSpPr>
          <p:spPr>
            <a:xfrm rot="5400000">
              <a:off x="4043380" y="4504942"/>
              <a:ext cx="182517" cy="1588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4F46914-8F13-4E99-BEE0-411894612949}"/>
                </a:ext>
              </a:extLst>
            </p:cNvPr>
            <p:cNvCxnSpPr/>
            <p:nvPr/>
          </p:nvCxnSpPr>
          <p:spPr>
            <a:xfrm>
              <a:off x="4133844" y="4592234"/>
              <a:ext cx="146051" cy="146014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4D6AA5FD-EDF0-4A9A-97D2-41DC3CD3DE4A}"/>
                </a:ext>
              </a:extLst>
            </p:cNvPr>
            <p:cNvCxnSpPr/>
            <p:nvPr/>
          </p:nvCxnSpPr>
          <p:spPr>
            <a:xfrm rot="16200000" flipH="1">
              <a:off x="4993500" y="5438941"/>
              <a:ext cx="126969" cy="115888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BC52036A-F5E9-438E-A6EE-B5D305F38D93}"/>
              </a:ext>
            </a:extLst>
          </p:cNvPr>
          <p:cNvSpPr/>
          <p:nvPr/>
        </p:nvSpPr>
        <p:spPr bwMode="auto">
          <a:xfrm rot="2800852">
            <a:off x="8273355" y="4966494"/>
            <a:ext cx="1133475" cy="652462"/>
          </a:xfrm>
          <a:prstGeom prst="rect">
            <a:avLst/>
          </a:prstGeom>
          <a:solidFill>
            <a:schemeClr val="accent5">
              <a:lumMod val="40000"/>
              <a:lumOff val="60000"/>
              <a:alpha val="36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3600" dirty="0">
              <a:solidFill>
                <a:schemeClr val="tx2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7" name="环形箭头 380">
            <a:extLst>
              <a:ext uri="{FF2B5EF4-FFF2-40B4-BE49-F238E27FC236}">
                <a16:creationId xmlns:a16="http://schemas.microsoft.com/office/drawing/2014/main" id="{451C779E-AE4F-41AC-90BE-6D3A2A7B6555}"/>
              </a:ext>
            </a:extLst>
          </p:cNvPr>
          <p:cNvSpPr/>
          <p:nvPr/>
        </p:nvSpPr>
        <p:spPr bwMode="auto">
          <a:xfrm rot="9754850">
            <a:off x="8237637" y="5630862"/>
            <a:ext cx="630237" cy="466725"/>
          </a:xfrm>
          <a:prstGeom prst="circularArrow">
            <a:avLst>
              <a:gd name="adj1" fmla="val 8182"/>
              <a:gd name="adj2" fmla="val 1523517"/>
              <a:gd name="adj3" fmla="val 18064679"/>
              <a:gd name="adj4" fmla="val 11491923"/>
              <a:gd name="adj5" fmla="val 9489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3600" dirty="0">
              <a:solidFill>
                <a:schemeClr val="tx2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141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16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2527F62D-2B43-45C0-AC2F-F162CEF0E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8884" y="1756248"/>
            <a:ext cx="1013736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333399"/>
                </a:solidFill>
                <a:latin typeface="宋体" charset="-122"/>
              </a:rPr>
              <a:t>③ </a:t>
            </a:r>
            <a:r>
              <a:rPr lang="zh-CN" altLang="en-US" sz="2800" dirty="0">
                <a:solidFill>
                  <a:srgbClr val="333399"/>
                </a:solidFill>
                <a:latin typeface="宋体" charset="-122"/>
              </a:rPr>
              <a:t>位于剖切平面后且与所表达的结构关系不甚密切的结构，或一起旋转容易引起误解的结构，一般</a:t>
            </a:r>
            <a:r>
              <a:rPr lang="zh-CN" altLang="en-US" sz="2800" dirty="0">
                <a:solidFill>
                  <a:srgbClr val="FF0000"/>
                </a:solidFill>
                <a:latin typeface="宋体" charset="-122"/>
              </a:rPr>
              <a:t>仍按原来的位置投射</a:t>
            </a:r>
            <a:r>
              <a:rPr lang="zh-CN" altLang="en-US" sz="2800" dirty="0">
                <a:solidFill>
                  <a:srgbClr val="333399"/>
                </a:solidFill>
                <a:latin typeface="宋体" charset="-122"/>
              </a:rPr>
              <a:t>。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4E76B6E1-1FED-414A-8AB4-C99F6DA88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497" y="1204683"/>
            <a:ext cx="32512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☆ </a:t>
            </a: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应注意的问题：</a:t>
            </a:r>
          </a:p>
        </p:txBody>
      </p:sp>
      <p:sp>
        <p:nvSpPr>
          <p:cNvPr id="5" name="AutoShape 263">
            <a:extLst>
              <a:ext uri="{FF2B5EF4-FFF2-40B4-BE49-F238E27FC236}">
                <a16:creationId xmlns:a16="http://schemas.microsoft.com/office/drawing/2014/main" id="{D76A7021-A44F-45B8-BDBC-F5742CC95CB0}"/>
              </a:ext>
            </a:extLst>
          </p:cNvPr>
          <p:cNvSpPr>
            <a:spLocks noChangeArrowheads="1"/>
          </p:cNvSpPr>
          <p:nvPr/>
        </p:nvSpPr>
        <p:spPr bwMode="auto">
          <a:xfrm rot="2549321">
            <a:off x="4890729" y="5882994"/>
            <a:ext cx="157163" cy="565150"/>
          </a:xfrm>
          <a:prstGeom prst="upArrow">
            <a:avLst>
              <a:gd name="adj1" fmla="val 50000"/>
              <a:gd name="adj2" fmla="val 89899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" name="图片 5" descr="9-20立体.tif">
            <a:extLst>
              <a:ext uri="{FF2B5EF4-FFF2-40B4-BE49-F238E27FC236}">
                <a16:creationId xmlns:a16="http://schemas.microsoft.com/office/drawing/2014/main" id="{ECD102BC-A61B-46D1-A0AB-36C92C03C0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20818" y="3275182"/>
            <a:ext cx="3797300" cy="255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F3F79E3C-1755-499B-8A1F-E455C6972690}"/>
              </a:ext>
            </a:extLst>
          </p:cNvPr>
          <p:cNvGrpSpPr/>
          <p:nvPr/>
        </p:nvGrpSpPr>
        <p:grpSpPr>
          <a:xfrm>
            <a:off x="4828474" y="5167482"/>
            <a:ext cx="346076" cy="141287"/>
            <a:chOff x="2890838" y="5357813"/>
            <a:chExt cx="346076" cy="141287"/>
          </a:xfrm>
        </p:grpSpPr>
        <p:sp>
          <p:nvSpPr>
            <p:cNvPr id="8" name="Freeform 2603">
              <a:extLst>
                <a:ext uri="{FF2B5EF4-FFF2-40B4-BE49-F238E27FC236}">
                  <a16:creationId xmlns:a16="http://schemas.microsoft.com/office/drawing/2014/main" id="{C2B1F81B-F6C3-4FA8-936D-2B2E16748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838" y="5357813"/>
              <a:ext cx="93663" cy="141287"/>
            </a:xfrm>
            <a:custGeom>
              <a:avLst/>
              <a:gdLst/>
              <a:ahLst/>
              <a:cxnLst>
                <a:cxn ang="0">
                  <a:pos x="0" y="89"/>
                </a:cxn>
                <a:cxn ang="0">
                  <a:pos x="54" y="0"/>
                </a:cxn>
                <a:cxn ang="0">
                  <a:pos x="59" y="89"/>
                </a:cxn>
              </a:cxnLst>
              <a:rect l="0" t="0" r="r" b="b"/>
              <a:pathLst>
                <a:path w="59" h="89">
                  <a:moveTo>
                    <a:pt x="0" y="89"/>
                  </a:moveTo>
                  <a:lnTo>
                    <a:pt x="54" y="0"/>
                  </a:lnTo>
                  <a:lnTo>
                    <a:pt x="59" y="89"/>
                  </a:lnTo>
                </a:path>
              </a:pathLst>
            </a:cu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Line 2604">
              <a:extLst>
                <a:ext uri="{FF2B5EF4-FFF2-40B4-BE49-F238E27FC236}">
                  <a16:creationId xmlns:a16="http://schemas.microsoft.com/office/drawing/2014/main" id="{D433E69D-B74C-42C0-A857-39AA498523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4651" y="5459413"/>
              <a:ext cx="66675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Line 2605">
              <a:extLst>
                <a:ext uri="{FF2B5EF4-FFF2-40B4-BE49-F238E27FC236}">
                  <a16:creationId xmlns:a16="http://schemas.microsoft.com/office/drawing/2014/main" id="{4A694BF9-525D-4F01-8555-EFCF77903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3238" y="5451475"/>
              <a:ext cx="61913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2606">
              <a:extLst>
                <a:ext uri="{FF2B5EF4-FFF2-40B4-BE49-F238E27FC236}">
                  <a16:creationId xmlns:a16="http://schemas.microsoft.com/office/drawing/2014/main" id="{1257A812-D338-477F-BD1F-555EFE74E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5357813"/>
              <a:ext cx="93663" cy="141287"/>
            </a:xfrm>
            <a:custGeom>
              <a:avLst/>
              <a:gdLst/>
              <a:ahLst/>
              <a:cxnLst>
                <a:cxn ang="0">
                  <a:pos x="0" y="89"/>
                </a:cxn>
                <a:cxn ang="0">
                  <a:pos x="54" y="0"/>
                </a:cxn>
                <a:cxn ang="0">
                  <a:pos x="59" y="89"/>
                </a:cxn>
              </a:cxnLst>
              <a:rect l="0" t="0" r="r" b="b"/>
              <a:pathLst>
                <a:path w="59" h="89">
                  <a:moveTo>
                    <a:pt x="0" y="89"/>
                  </a:moveTo>
                  <a:lnTo>
                    <a:pt x="54" y="0"/>
                  </a:lnTo>
                  <a:lnTo>
                    <a:pt x="59" y="89"/>
                  </a:lnTo>
                </a:path>
              </a:pathLst>
            </a:cu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2607">
              <a:extLst>
                <a:ext uri="{FF2B5EF4-FFF2-40B4-BE49-F238E27FC236}">
                  <a16:creationId xmlns:a16="http://schemas.microsoft.com/office/drawing/2014/main" id="{F940784F-F474-4119-B5AF-FC818380EF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7063" y="5459413"/>
              <a:ext cx="65088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BEB4F6F-8EB8-41DF-A564-5581E89C4F49}"/>
              </a:ext>
            </a:extLst>
          </p:cNvPr>
          <p:cNvGrpSpPr/>
          <p:nvPr/>
        </p:nvGrpSpPr>
        <p:grpSpPr>
          <a:xfrm>
            <a:off x="2332924" y="4403894"/>
            <a:ext cx="93663" cy="139700"/>
            <a:chOff x="395288" y="4594225"/>
            <a:chExt cx="93663" cy="139700"/>
          </a:xfrm>
        </p:grpSpPr>
        <p:sp>
          <p:nvSpPr>
            <p:cNvPr id="14" name="Freeform 2642">
              <a:extLst>
                <a:ext uri="{FF2B5EF4-FFF2-40B4-BE49-F238E27FC236}">
                  <a16:creationId xmlns:a16="http://schemas.microsoft.com/office/drawing/2014/main" id="{35395BDA-CBC6-47D4-A473-F37593409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88" y="4594225"/>
              <a:ext cx="93663" cy="139700"/>
            </a:xfrm>
            <a:custGeom>
              <a:avLst/>
              <a:gdLst/>
              <a:ahLst/>
              <a:cxnLst>
                <a:cxn ang="0">
                  <a:pos x="0" y="88"/>
                </a:cxn>
                <a:cxn ang="0">
                  <a:pos x="54" y="0"/>
                </a:cxn>
                <a:cxn ang="0">
                  <a:pos x="59" y="88"/>
                </a:cxn>
              </a:cxnLst>
              <a:rect l="0" t="0" r="r" b="b"/>
              <a:pathLst>
                <a:path w="59" h="88">
                  <a:moveTo>
                    <a:pt x="0" y="88"/>
                  </a:moveTo>
                  <a:lnTo>
                    <a:pt x="54" y="0"/>
                  </a:lnTo>
                  <a:lnTo>
                    <a:pt x="59" y="88"/>
                  </a:lnTo>
                </a:path>
              </a:pathLst>
            </a:cu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Line 2643">
              <a:extLst>
                <a:ext uri="{FF2B5EF4-FFF2-40B4-BE49-F238E27FC236}">
                  <a16:creationId xmlns:a16="http://schemas.microsoft.com/office/drawing/2014/main" id="{0451AFFA-C305-412C-B5D9-3046F29EF3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9101" y="4694238"/>
              <a:ext cx="66675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6" name="Line 2644">
            <a:extLst>
              <a:ext uri="{FF2B5EF4-FFF2-40B4-BE49-F238E27FC236}">
                <a16:creationId xmlns:a16="http://schemas.microsoft.com/office/drawing/2014/main" id="{843D25AC-C78C-4253-9146-D87620F160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4699" y="4349919"/>
            <a:ext cx="1588" cy="242887"/>
          </a:xfrm>
          <a:prstGeom prst="line">
            <a:avLst/>
          </a:pr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Line 2646">
            <a:extLst>
              <a:ext uri="{FF2B5EF4-FFF2-40B4-BE49-F238E27FC236}">
                <a16:creationId xmlns:a16="http://schemas.microsoft.com/office/drawing/2014/main" id="{44F414A6-2801-4B6D-A49D-2A302B135C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7474" y="4065757"/>
            <a:ext cx="1588" cy="554037"/>
          </a:xfrm>
          <a:prstGeom prst="line">
            <a:avLst/>
          </a:pr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2664">
            <a:extLst>
              <a:ext uri="{FF2B5EF4-FFF2-40B4-BE49-F238E27FC236}">
                <a16:creationId xmlns:a16="http://schemas.microsoft.com/office/drawing/2014/main" id="{4C97CBDD-D5EA-49FE-8878-67ED782B4EC8}"/>
              </a:ext>
            </a:extLst>
          </p:cNvPr>
          <p:cNvSpPr>
            <a:spLocks/>
          </p:cNvSpPr>
          <p:nvPr/>
        </p:nvSpPr>
        <p:spPr bwMode="auto">
          <a:xfrm>
            <a:off x="2528187" y="4592807"/>
            <a:ext cx="71438" cy="2143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5" y="0"/>
              </a:cxn>
              <a:cxn ang="0">
                <a:pos x="23" y="135"/>
              </a:cxn>
              <a:cxn ang="0">
                <a:pos x="0" y="0"/>
              </a:cxn>
            </a:cxnLst>
            <a:rect l="0" t="0" r="r" b="b"/>
            <a:pathLst>
              <a:path w="45" h="135">
                <a:moveTo>
                  <a:pt x="0" y="0"/>
                </a:moveTo>
                <a:lnTo>
                  <a:pt x="45" y="0"/>
                </a:lnTo>
                <a:lnTo>
                  <a:pt x="23" y="1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2665">
            <a:extLst>
              <a:ext uri="{FF2B5EF4-FFF2-40B4-BE49-F238E27FC236}">
                <a16:creationId xmlns:a16="http://schemas.microsoft.com/office/drawing/2014/main" id="{432A3569-37AB-4DB9-87D7-99728C8921A6}"/>
              </a:ext>
            </a:extLst>
          </p:cNvPr>
          <p:cNvSpPr>
            <a:spLocks/>
          </p:cNvSpPr>
          <p:nvPr/>
        </p:nvSpPr>
        <p:spPr bwMode="auto">
          <a:xfrm>
            <a:off x="2528187" y="4592807"/>
            <a:ext cx="71438" cy="2143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5" y="0"/>
              </a:cxn>
              <a:cxn ang="0">
                <a:pos x="23" y="135"/>
              </a:cxn>
              <a:cxn ang="0">
                <a:pos x="0" y="0"/>
              </a:cxn>
            </a:cxnLst>
            <a:rect l="0" t="0" r="r" b="b"/>
            <a:pathLst>
              <a:path w="45" h="135">
                <a:moveTo>
                  <a:pt x="0" y="0"/>
                </a:moveTo>
                <a:lnTo>
                  <a:pt x="45" y="0"/>
                </a:lnTo>
                <a:lnTo>
                  <a:pt x="23" y="135"/>
                </a:lnTo>
                <a:lnTo>
                  <a:pt x="0" y="0"/>
                </a:lnTo>
                <a:close/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Line 2677">
            <a:extLst>
              <a:ext uri="{FF2B5EF4-FFF2-40B4-BE49-F238E27FC236}">
                <a16:creationId xmlns:a16="http://schemas.microsoft.com/office/drawing/2014/main" id="{A0E42A32-E77A-4C97-BD94-4521209D64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4699" y="4349919"/>
            <a:ext cx="179388" cy="158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A5161BA-5899-4EFA-B24F-3A59469A3277}"/>
              </a:ext>
            </a:extLst>
          </p:cNvPr>
          <p:cNvGrpSpPr/>
          <p:nvPr/>
        </p:nvGrpSpPr>
        <p:grpSpPr>
          <a:xfrm>
            <a:off x="4987224" y="3832394"/>
            <a:ext cx="0" cy="931863"/>
            <a:chOff x="3049588" y="4022725"/>
            <a:chExt cx="1588" cy="931863"/>
          </a:xfrm>
        </p:grpSpPr>
        <p:sp>
          <p:nvSpPr>
            <p:cNvPr id="22" name="Line 2692">
              <a:extLst>
                <a:ext uri="{FF2B5EF4-FFF2-40B4-BE49-F238E27FC236}">
                  <a16:creationId xmlns:a16="http://schemas.microsoft.com/office/drawing/2014/main" id="{5352D8FF-430C-4BC2-9135-0EAA405BA5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9588" y="4022725"/>
              <a:ext cx="1588" cy="16033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Line 2693">
              <a:extLst>
                <a:ext uri="{FF2B5EF4-FFF2-40B4-BE49-F238E27FC236}">
                  <a16:creationId xmlns:a16="http://schemas.microsoft.com/office/drawing/2014/main" id="{2170A8CD-7759-4A7E-A475-F7C670CC1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9588" y="4233863"/>
              <a:ext cx="1588" cy="50800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Line 2694">
              <a:extLst>
                <a:ext uri="{FF2B5EF4-FFF2-40B4-BE49-F238E27FC236}">
                  <a16:creationId xmlns:a16="http://schemas.microsoft.com/office/drawing/2014/main" id="{1FD8729D-17E0-46CE-8183-4BDB5C9EA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9588" y="4335463"/>
              <a:ext cx="1588" cy="304800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Line 2695">
              <a:extLst>
                <a:ext uri="{FF2B5EF4-FFF2-40B4-BE49-F238E27FC236}">
                  <a16:creationId xmlns:a16="http://schemas.microsoft.com/office/drawing/2014/main" id="{BE0CF44E-D714-426B-A330-6769B32BD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9588" y="4691063"/>
              <a:ext cx="1588" cy="50800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Line 2696">
              <a:extLst>
                <a:ext uri="{FF2B5EF4-FFF2-40B4-BE49-F238E27FC236}">
                  <a16:creationId xmlns:a16="http://schemas.microsoft.com/office/drawing/2014/main" id="{F1FE7741-12EB-4D88-BD98-D2B7C0F754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9588" y="4792663"/>
              <a:ext cx="1588" cy="161925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Freeform 2601">
            <a:extLst>
              <a:ext uri="{FF2B5EF4-FFF2-40B4-BE49-F238E27FC236}">
                <a16:creationId xmlns:a16="http://schemas.microsoft.com/office/drawing/2014/main" id="{F3ECE84E-7E0A-4614-ADEA-B43C35B96C31}"/>
              </a:ext>
            </a:extLst>
          </p:cNvPr>
          <p:cNvSpPr>
            <a:spLocks/>
          </p:cNvSpPr>
          <p:nvPr/>
        </p:nvSpPr>
        <p:spPr bwMode="auto">
          <a:xfrm>
            <a:off x="4774499" y="4130844"/>
            <a:ext cx="425450" cy="427037"/>
          </a:xfrm>
          <a:custGeom>
            <a:avLst/>
            <a:gdLst/>
            <a:ahLst/>
            <a:cxnLst>
              <a:cxn ang="0">
                <a:pos x="268" y="135"/>
              </a:cxn>
              <a:cxn ang="0">
                <a:pos x="267" y="118"/>
              </a:cxn>
              <a:cxn ang="0">
                <a:pos x="265" y="102"/>
              </a:cxn>
              <a:cxn ang="0">
                <a:pos x="260" y="87"/>
              </a:cxn>
              <a:cxn ang="0">
                <a:pos x="253" y="72"/>
              </a:cxn>
              <a:cxn ang="0">
                <a:pos x="245" y="58"/>
              </a:cxn>
              <a:cxn ang="0">
                <a:pos x="235" y="45"/>
              </a:cxn>
              <a:cxn ang="0">
                <a:pos x="223" y="34"/>
              </a:cxn>
              <a:cxn ang="0">
                <a:pos x="210" y="24"/>
              </a:cxn>
              <a:cxn ang="0">
                <a:pos x="197" y="15"/>
              </a:cxn>
              <a:cxn ang="0">
                <a:pos x="182" y="9"/>
              </a:cxn>
              <a:cxn ang="0">
                <a:pos x="166" y="4"/>
              </a:cxn>
              <a:cxn ang="0">
                <a:pos x="150" y="1"/>
              </a:cxn>
              <a:cxn ang="0">
                <a:pos x="134" y="0"/>
              </a:cxn>
              <a:cxn ang="0">
                <a:pos x="118" y="1"/>
              </a:cxn>
              <a:cxn ang="0">
                <a:pos x="102" y="4"/>
              </a:cxn>
              <a:cxn ang="0">
                <a:pos x="87" y="9"/>
              </a:cxn>
              <a:cxn ang="0">
                <a:pos x="72" y="15"/>
              </a:cxn>
              <a:cxn ang="0">
                <a:pos x="58" y="24"/>
              </a:cxn>
              <a:cxn ang="0">
                <a:pos x="45" y="34"/>
              </a:cxn>
              <a:cxn ang="0">
                <a:pos x="34" y="45"/>
              </a:cxn>
              <a:cxn ang="0">
                <a:pos x="24" y="58"/>
              </a:cxn>
              <a:cxn ang="0">
                <a:pos x="15" y="72"/>
              </a:cxn>
              <a:cxn ang="0">
                <a:pos x="9" y="87"/>
              </a:cxn>
              <a:cxn ang="0">
                <a:pos x="4" y="102"/>
              </a:cxn>
              <a:cxn ang="0">
                <a:pos x="1" y="118"/>
              </a:cxn>
              <a:cxn ang="0">
                <a:pos x="0" y="135"/>
              </a:cxn>
              <a:cxn ang="0">
                <a:pos x="1" y="151"/>
              </a:cxn>
              <a:cxn ang="0">
                <a:pos x="4" y="167"/>
              </a:cxn>
              <a:cxn ang="0">
                <a:pos x="9" y="182"/>
              </a:cxn>
              <a:cxn ang="0">
                <a:pos x="15" y="197"/>
              </a:cxn>
              <a:cxn ang="0">
                <a:pos x="24" y="211"/>
              </a:cxn>
              <a:cxn ang="0">
                <a:pos x="34" y="224"/>
              </a:cxn>
              <a:cxn ang="0">
                <a:pos x="45" y="235"/>
              </a:cxn>
              <a:cxn ang="0">
                <a:pos x="58" y="245"/>
              </a:cxn>
              <a:cxn ang="0">
                <a:pos x="72" y="254"/>
              </a:cxn>
              <a:cxn ang="0">
                <a:pos x="87" y="260"/>
              </a:cxn>
              <a:cxn ang="0">
                <a:pos x="102" y="265"/>
              </a:cxn>
              <a:cxn ang="0">
                <a:pos x="118" y="268"/>
              </a:cxn>
              <a:cxn ang="0">
                <a:pos x="134" y="269"/>
              </a:cxn>
              <a:cxn ang="0">
                <a:pos x="150" y="268"/>
              </a:cxn>
              <a:cxn ang="0">
                <a:pos x="166" y="265"/>
              </a:cxn>
              <a:cxn ang="0">
                <a:pos x="182" y="260"/>
              </a:cxn>
              <a:cxn ang="0">
                <a:pos x="197" y="254"/>
              </a:cxn>
              <a:cxn ang="0">
                <a:pos x="210" y="245"/>
              </a:cxn>
              <a:cxn ang="0">
                <a:pos x="223" y="235"/>
              </a:cxn>
              <a:cxn ang="0">
                <a:pos x="235" y="224"/>
              </a:cxn>
              <a:cxn ang="0">
                <a:pos x="245" y="211"/>
              </a:cxn>
              <a:cxn ang="0">
                <a:pos x="253" y="197"/>
              </a:cxn>
              <a:cxn ang="0">
                <a:pos x="260" y="182"/>
              </a:cxn>
              <a:cxn ang="0">
                <a:pos x="265" y="167"/>
              </a:cxn>
              <a:cxn ang="0">
                <a:pos x="267" y="151"/>
              </a:cxn>
              <a:cxn ang="0">
                <a:pos x="268" y="135"/>
              </a:cxn>
            </a:cxnLst>
            <a:rect l="0" t="0" r="r" b="b"/>
            <a:pathLst>
              <a:path w="268" h="269">
                <a:moveTo>
                  <a:pt x="268" y="135"/>
                </a:moveTo>
                <a:lnTo>
                  <a:pt x="267" y="118"/>
                </a:lnTo>
                <a:lnTo>
                  <a:pt x="265" y="102"/>
                </a:lnTo>
                <a:lnTo>
                  <a:pt x="260" y="87"/>
                </a:lnTo>
                <a:lnTo>
                  <a:pt x="253" y="72"/>
                </a:lnTo>
                <a:lnTo>
                  <a:pt x="245" y="58"/>
                </a:lnTo>
                <a:lnTo>
                  <a:pt x="235" y="45"/>
                </a:lnTo>
                <a:lnTo>
                  <a:pt x="223" y="34"/>
                </a:lnTo>
                <a:lnTo>
                  <a:pt x="210" y="24"/>
                </a:lnTo>
                <a:lnTo>
                  <a:pt x="197" y="15"/>
                </a:lnTo>
                <a:lnTo>
                  <a:pt x="182" y="9"/>
                </a:lnTo>
                <a:lnTo>
                  <a:pt x="166" y="4"/>
                </a:lnTo>
                <a:lnTo>
                  <a:pt x="150" y="1"/>
                </a:lnTo>
                <a:lnTo>
                  <a:pt x="134" y="0"/>
                </a:lnTo>
                <a:lnTo>
                  <a:pt x="118" y="1"/>
                </a:lnTo>
                <a:lnTo>
                  <a:pt x="102" y="4"/>
                </a:lnTo>
                <a:lnTo>
                  <a:pt x="87" y="9"/>
                </a:lnTo>
                <a:lnTo>
                  <a:pt x="72" y="15"/>
                </a:lnTo>
                <a:lnTo>
                  <a:pt x="58" y="24"/>
                </a:lnTo>
                <a:lnTo>
                  <a:pt x="45" y="34"/>
                </a:lnTo>
                <a:lnTo>
                  <a:pt x="34" y="45"/>
                </a:lnTo>
                <a:lnTo>
                  <a:pt x="24" y="58"/>
                </a:lnTo>
                <a:lnTo>
                  <a:pt x="15" y="72"/>
                </a:lnTo>
                <a:lnTo>
                  <a:pt x="9" y="87"/>
                </a:lnTo>
                <a:lnTo>
                  <a:pt x="4" y="102"/>
                </a:lnTo>
                <a:lnTo>
                  <a:pt x="1" y="118"/>
                </a:lnTo>
                <a:lnTo>
                  <a:pt x="0" y="135"/>
                </a:lnTo>
                <a:lnTo>
                  <a:pt x="1" y="151"/>
                </a:lnTo>
                <a:lnTo>
                  <a:pt x="4" y="167"/>
                </a:lnTo>
                <a:lnTo>
                  <a:pt x="9" y="182"/>
                </a:lnTo>
                <a:lnTo>
                  <a:pt x="15" y="197"/>
                </a:lnTo>
                <a:lnTo>
                  <a:pt x="24" y="211"/>
                </a:lnTo>
                <a:lnTo>
                  <a:pt x="34" y="224"/>
                </a:lnTo>
                <a:lnTo>
                  <a:pt x="45" y="235"/>
                </a:lnTo>
                <a:lnTo>
                  <a:pt x="58" y="245"/>
                </a:lnTo>
                <a:lnTo>
                  <a:pt x="72" y="254"/>
                </a:lnTo>
                <a:lnTo>
                  <a:pt x="87" y="260"/>
                </a:lnTo>
                <a:lnTo>
                  <a:pt x="102" y="265"/>
                </a:lnTo>
                <a:lnTo>
                  <a:pt x="118" y="268"/>
                </a:lnTo>
                <a:lnTo>
                  <a:pt x="134" y="269"/>
                </a:lnTo>
                <a:lnTo>
                  <a:pt x="150" y="268"/>
                </a:lnTo>
                <a:lnTo>
                  <a:pt x="166" y="265"/>
                </a:lnTo>
                <a:lnTo>
                  <a:pt x="182" y="260"/>
                </a:lnTo>
                <a:lnTo>
                  <a:pt x="197" y="254"/>
                </a:lnTo>
                <a:lnTo>
                  <a:pt x="210" y="245"/>
                </a:lnTo>
                <a:lnTo>
                  <a:pt x="223" y="235"/>
                </a:lnTo>
                <a:lnTo>
                  <a:pt x="235" y="224"/>
                </a:lnTo>
                <a:lnTo>
                  <a:pt x="245" y="211"/>
                </a:lnTo>
                <a:lnTo>
                  <a:pt x="253" y="197"/>
                </a:lnTo>
                <a:lnTo>
                  <a:pt x="260" y="182"/>
                </a:lnTo>
                <a:lnTo>
                  <a:pt x="265" y="167"/>
                </a:lnTo>
                <a:lnTo>
                  <a:pt x="267" y="151"/>
                </a:lnTo>
                <a:lnTo>
                  <a:pt x="268" y="135"/>
                </a:lnTo>
                <a:close/>
              </a:path>
            </a:pathLst>
          </a:custGeom>
          <a:noFill/>
          <a:ln w="254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2619">
            <a:extLst>
              <a:ext uri="{FF2B5EF4-FFF2-40B4-BE49-F238E27FC236}">
                <a16:creationId xmlns:a16="http://schemas.microsoft.com/office/drawing/2014/main" id="{206EABAD-9443-4ECA-9983-21AE323E0C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58424" y="3972094"/>
            <a:ext cx="1795463" cy="16033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Line 2621">
            <a:extLst>
              <a:ext uri="{FF2B5EF4-FFF2-40B4-BE49-F238E27FC236}">
                <a16:creationId xmlns:a16="http://schemas.microsoft.com/office/drawing/2014/main" id="{0DBE74A1-C79C-4B8E-AD3D-1810BBDCBC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8424" y="4557882"/>
            <a:ext cx="1795463" cy="16033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Freeform 2622">
            <a:extLst>
              <a:ext uri="{FF2B5EF4-FFF2-40B4-BE49-F238E27FC236}">
                <a16:creationId xmlns:a16="http://schemas.microsoft.com/office/drawing/2014/main" id="{F8A2F780-A362-45E3-B95E-D5D828089CCD}"/>
              </a:ext>
            </a:extLst>
          </p:cNvPr>
          <p:cNvSpPr>
            <a:spLocks/>
          </p:cNvSpPr>
          <p:nvPr/>
        </p:nvSpPr>
        <p:spPr bwMode="auto">
          <a:xfrm>
            <a:off x="4614162" y="3972094"/>
            <a:ext cx="746125" cy="746125"/>
          </a:xfrm>
          <a:custGeom>
            <a:avLst/>
            <a:gdLst/>
            <a:ahLst/>
            <a:cxnLst>
              <a:cxn ang="0">
                <a:pos x="469" y="213"/>
              </a:cxn>
              <a:cxn ang="0">
                <a:pos x="461" y="170"/>
              </a:cxn>
              <a:cxn ang="0">
                <a:pos x="445" y="130"/>
              </a:cxn>
              <a:cxn ang="0">
                <a:pos x="423" y="93"/>
              </a:cxn>
              <a:cxn ang="0">
                <a:pos x="393" y="61"/>
              </a:cxn>
              <a:cxn ang="0">
                <a:pos x="359" y="35"/>
              </a:cxn>
              <a:cxn ang="0">
                <a:pos x="320" y="15"/>
              </a:cxn>
              <a:cxn ang="0">
                <a:pos x="278" y="3"/>
              </a:cxn>
              <a:cxn ang="0">
                <a:pos x="235" y="0"/>
              </a:cxn>
              <a:cxn ang="0">
                <a:pos x="192" y="3"/>
              </a:cxn>
              <a:cxn ang="0">
                <a:pos x="150" y="15"/>
              </a:cxn>
              <a:cxn ang="0">
                <a:pos x="112" y="35"/>
              </a:cxn>
              <a:cxn ang="0">
                <a:pos x="77" y="61"/>
              </a:cxn>
              <a:cxn ang="0">
                <a:pos x="48" y="93"/>
              </a:cxn>
              <a:cxn ang="0">
                <a:pos x="25" y="130"/>
              </a:cxn>
              <a:cxn ang="0">
                <a:pos x="9" y="170"/>
              </a:cxn>
              <a:cxn ang="0">
                <a:pos x="1" y="213"/>
              </a:cxn>
              <a:cxn ang="0">
                <a:pos x="1" y="257"/>
              </a:cxn>
              <a:cxn ang="0">
                <a:pos x="9" y="299"/>
              </a:cxn>
              <a:cxn ang="0">
                <a:pos x="25" y="340"/>
              </a:cxn>
              <a:cxn ang="0">
                <a:pos x="48" y="377"/>
              </a:cxn>
              <a:cxn ang="0">
                <a:pos x="77" y="409"/>
              </a:cxn>
              <a:cxn ang="0">
                <a:pos x="112" y="435"/>
              </a:cxn>
              <a:cxn ang="0">
                <a:pos x="150" y="454"/>
              </a:cxn>
              <a:cxn ang="0">
                <a:pos x="192" y="466"/>
              </a:cxn>
              <a:cxn ang="0">
                <a:pos x="235" y="470"/>
              </a:cxn>
              <a:cxn ang="0">
                <a:pos x="278" y="466"/>
              </a:cxn>
              <a:cxn ang="0">
                <a:pos x="320" y="454"/>
              </a:cxn>
              <a:cxn ang="0">
                <a:pos x="359" y="435"/>
              </a:cxn>
              <a:cxn ang="0">
                <a:pos x="393" y="409"/>
              </a:cxn>
              <a:cxn ang="0">
                <a:pos x="423" y="377"/>
              </a:cxn>
              <a:cxn ang="0">
                <a:pos x="445" y="340"/>
              </a:cxn>
              <a:cxn ang="0">
                <a:pos x="461" y="299"/>
              </a:cxn>
              <a:cxn ang="0">
                <a:pos x="469" y="257"/>
              </a:cxn>
            </a:cxnLst>
            <a:rect l="0" t="0" r="r" b="b"/>
            <a:pathLst>
              <a:path w="470" h="470">
                <a:moveTo>
                  <a:pt x="470" y="235"/>
                </a:moveTo>
                <a:lnTo>
                  <a:pt x="469" y="213"/>
                </a:lnTo>
                <a:lnTo>
                  <a:pt x="466" y="192"/>
                </a:lnTo>
                <a:lnTo>
                  <a:pt x="461" y="170"/>
                </a:lnTo>
                <a:lnTo>
                  <a:pt x="454" y="150"/>
                </a:lnTo>
                <a:lnTo>
                  <a:pt x="445" y="130"/>
                </a:lnTo>
                <a:lnTo>
                  <a:pt x="435" y="111"/>
                </a:lnTo>
                <a:lnTo>
                  <a:pt x="423" y="93"/>
                </a:lnTo>
                <a:lnTo>
                  <a:pt x="409" y="76"/>
                </a:lnTo>
                <a:lnTo>
                  <a:pt x="393" y="61"/>
                </a:lnTo>
                <a:lnTo>
                  <a:pt x="377" y="47"/>
                </a:lnTo>
                <a:lnTo>
                  <a:pt x="359" y="35"/>
                </a:lnTo>
                <a:lnTo>
                  <a:pt x="340" y="24"/>
                </a:lnTo>
                <a:lnTo>
                  <a:pt x="320" y="15"/>
                </a:lnTo>
                <a:lnTo>
                  <a:pt x="299" y="8"/>
                </a:lnTo>
                <a:lnTo>
                  <a:pt x="278" y="3"/>
                </a:lnTo>
                <a:lnTo>
                  <a:pt x="257" y="1"/>
                </a:lnTo>
                <a:lnTo>
                  <a:pt x="235" y="0"/>
                </a:lnTo>
                <a:lnTo>
                  <a:pt x="214" y="1"/>
                </a:lnTo>
                <a:lnTo>
                  <a:pt x="192" y="3"/>
                </a:lnTo>
                <a:lnTo>
                  <a:pt x="171" y="8"/>
                </a:lnTo>
                <a:lnTo>
                  <a:pt x="150" y="15"/>
                </a:lnTo>
                <a:lnTo>
                  <a:pt x="131" y="24"/>
                </a:lnTo>
                <a:lnTo>
                  <a:pt x="112" y="35"/>
                </a:lnTo>
                <a:lnTo>
                  <a:pt x="94" y="47"/>
                </a:lnTo>
                <a:lnTo>
                  <a:pt x="77" y="61"/>
                </a:lnTo>
                <a:lnTo>
                  <a:pt x="62" y="76"/>
                </a:lnTo>
                <a:lnTo>
                  <a:pt x="48" y="93"/>
                </a:lnTo>
                <a:lnTo>
                  <a:pt x="35" y="111"/>
                </a:lnTo>
                <a:lnTo>
                  <a:pt x="25" y="130"/>
                </a:lnTo>
                <a:lnTo>
                  <a:pt x="16" y="150"/>
                </a:lnTo>
                <a:lnTo>
                  <a:pt x="9" y="170"/>
                </a:lnTo>
                <a:lnTo>
                  <a:pt x="4" y="192"/>
                </a:lnTo>
                <a:lnTo>
                  <a:pt x="1" y="213"/>
                </a:lnTo>
                <a:lnTo>
                  <a:pt x="0" y="235"/>
                </a:lnTo>
                <a:lnTo>
                  <a:pt x="1" y="257"/>
                </a:lnTo>
                <a:lnTo>
                  <a:pt x="4" y="278"/>
                </a:lnTo>
                <a:lnTo>
                  <a:pt x="9" y="299"/>
                </a:lnTo>
                <a:lnTo>
                  <a:pt x="16" y="320"/>
                </a:lnTo>
                <a:lnTo>
                  <a:pt x="25" y="340"/>
                </a:lnTo>
                <a:lnTo>
                  <a:pt x="35" y="359"/>
                </a:lnTo>
                <a:lnTo>
                  <a:pt x="48" y="377"/>
                </a:lnTo>
                <a:lnTo>
                  <a:pt x="62" y="393"/>
                </a:lnTo>
                <a:lnTo>
                  <a:pt x="77" y="409"/>
                </a:lnTo>
                <a:lnTo>
                  <a:pt x="94" y="423"/>
                </a:lnTo>
                <a:lnTo>
                  <a:pt x="112" y="435"/>
                </a:lnTo>
                <a:lnTo>
                  <a:pt x="131" y="446"/>
                </a:lnTo>
                <a:lnTo>
                  <a:pt x="150" y="454"/>
                </a:lnTo>
                <a:lnTo>
                  <a:pt x="171" y="461"/>
                </a:lnTo>
                <a:lnTo>
                  <a:pt x="192" y="466"/>
                </a:lnTo>
                <a:lnTo>
                  <a:pt x="214" y="469"/>
                </a:lnTo>
                <a:lnTo>
                  <a:pt x="235" y="470"/>
                </a:lnTo>
                <a:lnTo>
                  <a:pt x="257" y="469"/>
                </a:lnTo>
                <a:lnTo>
                  <a:pt x="278" y="466"/>
                </a:lnTo>
                <a:lnTo>
                  <a:pt x="299" y="461"/>
                </a:lnTo>
                <a:lnTo>
                  <a:pt x="320" y="454"/>
                </a:lnTo>
                <a:lnTo>
                  <a:pt x="340" y="446"/>
                </a:lnTo>
                <a:lnTo>
                  <a:pt x="359" y="435"/>
                </a:lnTo>
                <a:lnTo>
                  <a:pt x="377" y="423"/>
                </a:lnTo>
                <a:lnTo>
                  <a:pt x="393" y="409"/>
                </a:lnTo>
                <a:lnTo>
                  <a:pt x="409" y="393"/>
                </a:lnTo>
                <a:lnTo>
                  <a:pt x="423" y="377"/>
                </a:lnTo>
                <a:lnTo>
                  <a:pt x="435" y="359"/>
                </a:lnTo>
                <a:lnTo>
                  <a:pt x="445" y="340"/>
                </a:lnTo>
                <a:lnTo>
                  <a:pt x="454" y="320"/>
                </a:lnTo>
                <a:lnTo>
                  <a:pt x="461" y="299"/>
                </a:lnTo>
                <a:lnTo>
                  <a:pt x="466" y="278"/>
                </a:lnTo>
                <a:lnTo>
                  <a:pt x="469" y="257"/>
                </a:lnTo>
                <a:lnTo>
                  <a:pt x="470" y="235"/>
                </a:lnTo>
                <a:close/>
              </a:path>
            </a:pathLst>
          </a:custGeom>
          <a:noFill/>
          <a:ln w="254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Freeform 2645">
            <a:extLst>
              <a:ext uri="{FF2B5EF4-FFF2-40B4-BE49-F238E27FC236}">
                <a16:creationId xmlns:a16="http://schemas.microsoft.com/office/drawing/2014/main" id="{F22ED3A3-9CB7-4731-B143-5FE488DC7ABC}"/>
              </a:ext>
            </a:extLst>
          </p:cNvPr>
          <p:cNvSpPr>
            <a:spLocks/>
          </p:cNvSpPr>
          <p:nvPr/>
        </p:nvSpPr>
        <p:spPr bwMode="auto">
          <a:xfrm>
            <a:off x="2964749" y="4130844"/>
            <a:ext cx="425450" cy="427037"/>
          </a:xfrm>
          <a:custGeom>
            <a:avLst/>
            <a:gdLst/>
            <a:ahLst/>
            <a:cxnLst>
              <a:cxn ang="0">
                <a:pos x="268" y="135"/>
              </a:cxn>
              <a:cxn ang="0">
                <a:pos x="267" y="119"/>
              </a:cxn>
              <a:cxn ang="0">
                <a:pos x="264" y="103"/>
              </a:cxn>
              <a:cxn ang="0">
                <a:pos x="259" y="87"/>
              </a:cxn>
              <a:cxn ang="0">
                <a:pos x="253" y="73"/>
              </a:cxn>
              <a:cxn ang="0">
                <a:pos x="244" y="58"/>
              </a:cxn>
              <a:cxn ang="0">
                <a:pos x="234" y="46"/>
              </a:cxn>
              <a:cxn ang="0">
                <a:pos x="223" y="34"/>
              </a:cxn>
              <a:cxn ang="0">
                <a:pos x="210" y="24"/>
              </a:cxn>
              <a:cxn ang="0">
                <a:pos x="196" y="16"/>
              </a:cxn>
              <a:cxn ang="0">
                <a:pos x="181" y="9"/>
              </a:cxn>
              <a:cxn ang="0">
                <a:pos x="166" y="4"/>
              </a:cxn>
              <a:cxn ang="0">
                <a:pos x="150" y="1"/>
              </a:cxn>
              <a:cxn ang="0">
                <a:pos x="134" y="0"/>
              </a:cxn>
              <a:cxn ang="0">
                <a:pos x="118" y="1"/>
              </a:cxn>
              <a:cxn ang="0">
                <a:pos x="102" y="4"/>
              </a:cxn>
              <a:cxn ang="0">
                <a:pos x="86" y="9"/>
              </a:cxn>
              <a:cxn ang="0">
                <a:pos x="71" y="16"/>
              </a:cxn>
              <a:cxn ang="0">
                <a:pos x="58" y="24"/>
              </a:cxn>
              <a:cxn ang="0">
                <a:pos x="45" y="34"/>
              </a:cxn>
              <a:cxn ang="0">
                <a:pos x="33" y="46"/>
              </a:cxn>
              <a:cxn ang="0">
                <a:pos x="23" y="58"/>
              </a:cxn>
              <a:cxn ang="0">
                <a:pos x="15" y="73"/>
              </a:cxn>
              <a:cxn ang="0">
                <a:pos x="8" y="87"/>
              </a:cxn>
              <a:cxn ang="0">
                <a:pos x="3" y="103"/>
              </a:cxn>
              <a:cxn ang="0">
                <a:pos x="1" y="119"/>
              </a:cxn>
              <a:cxn ang="0">
                <a:pos x="0" y="135"/>
              </a:cxn>
              <a:cxn ang="0">
                <a:pos x="1" y="151"/>
              </a:cxn>
              <a:cxn ang="0">
                <a:pos x="3" y="167"/>
              </a:cxn>
              <a:cxn ang="0">
                <a:pos x="8" y="183"/>
              </a:cxn>
              <a:cxn ang="0">
                <a:pos x="15" y="197"/>
              </a:cxn>
              <a:cxn ang="0">
                <a:pos x="23" y="211"/>
              </a:cxn>
              <a:cxn ang="0">
                <a:pos x="33" y="224"/>
              </a:cxn>
              <a:cxn ang="0">
                <a:pos x="45" y="236"/>
              </a:cxn>
              <a:cxn ang="0">
                <a:pos x="58" y="246"/>
              </a:cxn>
              <a:cxn ang="0">
                <a:pos x="71" y="254"/>
              </a:cxn>
              <a:cxn ang="0">
                <a:pos x="86" y="261"/>
              </a:cxn>
              <a:cxn ang="0">
                <a:pos x="102" y="266"/>
              </a:cxn>
              <a:cxn ang="0">
                <a:pos x="118" y="268"/>
              </a:cxn>
              <a:cxn ang="0">
                <a:pos x="134" y="269"/>
              </a:cxn>
              <a:cxn ang="0">
                <a:pos x="150" y="268"/>
              </a:cxn>
              <a:cxn ang="0">
                <a:pos x="166" y="266"/>
              </a:cxn>
              <a:cxn ang="0">
                <a:pos x="181" y="261"/>
              </a:cxn>
              <a:cxn ang="0">
                <a:pos x="196" y="254"/>
              </a:cxn>
              <a:cxn ang="0">
                <a:pos x="210" y="246"/>
              </a:cxn>
              <a:cxn ang="0">
                <a:pos x="223" y="236"/>
              </a:cxn>
              <a:cxn ang="0">
                <a:pos x="234" y="224"/>
              </a:cxn>
              <a:cxn ang="0">
                <a:pos x="244" y="211"/>
              </a:cxn>
              <a:cxn ang="0">
                <a:pos x="253" y="197"/>
              </a:cxn>
              <a:cxn ang="0">
                <a:pos x="259" y="183"/>
              </a:cxn>
              <a:cxn ang="0">
                <a:pos x="264" y="167"/>
              </a:cxn>
              <a:cxn ang="0">
                <a:pos x="267" y="151"/>
              </a:cxn>
              <a:cxn ang="0">
                <a:pos x="268" y="135"/>
              </a:cxn>
            </a:cxnLst>
            <a:rect l="0" t="0" r="r" b="b"/>
            <a:pathLst>
              <a:path w="268" h="269">
                <a:moveTo>
                  <a:pt x="268" y="135"/>
                </a:moveTo>
                <a:lnTo>
                  <a:pt x="267" y="119"/>
                </a:lnTo>
                <a:lnTo>
                  <a:pt x="264" y="103"/>
                </a:lnTo>
                <a:lnTo>
                  <a:pt x="259" y="87"/>
                </a:lnTo>
                <a:lnTo>
                  <a:pt x="253" y="73"/>
                </a:lnTo>
                <a:lnTo>
                  <a:pt x="244" y="58"/>
                </a:lnTo>
                <a:lnTo>
                  <a:pt x="234" y="46"/>
                </a:lnTo>
                <a:lnTo>
                  <a:pt x="223" y="34"/>
                </a:lnTo>
                <a:lnTo>
                  <a:pt x="210" y="24"/>
                </a:lnTo>
                <a:lnTo>
                  <a:pt x="196" y="16"/>
                </a:lnTo>
                <a:lnTo>
                  <a:pt x="181" y="9"/>
                </a:lnTo>
                <a:lnTo>
                  <a:pt x="166" y="4"/>
                </a:lnTo>
                <a:lnTo>
                  <a:pt x="150" y="1"/>
                </a:lnTo>
                <a:lnTo>
                  <a:pt x="134" y="0"/>
                </a:lnTo>
                <a:lnTo>
                  <a:pt x="118" y="1"/>
                </a:lnTo>
                <a:lnTo>
                  <a:pt x="102" y="4"/>
                </a:lnTo>
                <a:lnTo>
                  <a:pt x="86" y="9"/>
                </a:lnTo>
                <a:lnTo>
                  <a:pt x="71" y="16"/>
                </a:lnTo>
                <a:lnTo>
                  <a:pt x="58" y="24"/>
                </a:lnTo>
                <a:lnTo>
                  <a:pt x="45" y="34"/>
                </a:lnTo>
                <a:lnTo>
                  <a:pt x="33" y="46"/>
                </a:lnTo>
                <a:lnTo>
                  <a:pt x="23" y="58"/>
                </a:lnTo>
                <a:lnTo>
                  <a:pt x="15" y="73"/>
                </a:lnTo>
                <a:lnTo>
                  <a:pt x="8" y="87"/>
                </a:lnTo>
                <a:lnTo>
                  <a:pt x="3" y="103"/>
                </a:lnTo>
                <a:lnTo>
                  <a:pt x="1" y="119"/>
                </a:lnTo>
                <a:lnTo>
                  <a:pt x="0" y="135"/>
                </a:lnTo>
                <a:lnTo>
                  <a:pt x="1" y="151"/>
                </a:lnTo>
                <a:lnTo>
                  <a:pt x="3" y="167"/>
                </a:lnTo>
                <a:lnTo>
                  <a:pt x="8" y="183"/>
                </a:lnTo>
                <a:lnTo>
                  <a:pt x="15" y="197"/>
                </a:lnTo>
                <a:lnTo>
                  <a:pt x="23" y="211"/>
                </a:lnTo>
                <a:lnTo>
                  <a:pt x="33" y="224"/>
                </a:lnTo>
                <a:lnTo>
                  <a:pt x="45" y="236"/>
                </a:lnTo>
                <a:lnTo>
                  <a:pt x="58" y="246"/>
                </a:lnTo>
                <a:lnTo>
                  <a:pt x="71" y="254"/>
                </a:lnTo>
                <a:lnTo>
                  <a:pt x="86" y="261"/>
                </a:lnTo>
                <a:lnTo>
                  <a:pt x="102" y="266"/>
                </a:lnTo>
                <a:lnTo>
                  <a:pt x="118" y="268"/>
                </a:lnTo>
                <a:lnTo>
                  <a:pt x="134" y="269"/>
                </a:lnTo>
                <a:lnTo>
                  <a:pt x="150" y="268"/>
                </a:lnTo>
                <a:lnTo>
                  <a:pt x="166" y="266"/>
                </a:lnTo>
                <a:lnTo>
                  <a:pt x="181" y="261"/>
                </a:lnTo>
                <a:lnTo>
                  <a:pt x="196" y="254"/>
                </a:lnTo>
                <a:lnTo>
                  <a:pt x="210" y="246"/>
                </a:lnTo>
                <a:lnTo>
                  <a:pt x="223" y="236"/>
                </a:lnTo>
                <a:lnTo>
                  <a:pt x="234" y="224"/>
                </a:lnTo>
                <a:lnTo>
                  <a:pt x="244" y="211"/>
                </a:lnTo>
                <a:lnTo>
                  <a:pt x="253" y="197"/>
                </a:lnTo>
                <a:lnTo>
                  <a:pt x="259" y="183"/>
                </a:lnTo>
                <a:lnTo>
                  <a:pt x="264" y="167"/>
                </a:lnTo>
                <a:lnTo>
                  <a:pt x="267" y="151"/>
                </a:lnTo>
                <a:lnTo>
                  <a:pt x="268" y="135"/>
                </a:lnTo>
                <a:close/>
              </a:path>
            </a:pathLst>
          </a:custGeom>
          <a:noFill/>
          <a:ln w="254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Line 2673">
            <a:extLst>
              <a:ext uri="{FF2B5EF4-FFF2-40B4-BE49-F238E27FC236}">
                <a16:creationId xmlns:a16="http://schemas.microsoft.com/office/drawing/2014/main" id="{423B8C77-EF7A-4B6E-B71A-B4A40B2625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3849" y="4399132"/>
            <a:ext cx="1235075" cy="158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Line 2674">
            <a:extLst>
              <a:ext uri="{FF2B5EF4-FFF2-40B4-BE49-F238E27FC236}">
                <a16:creationId xmlns:a16="http://schemas.microsoft.com/office/drawing/2014/main" id="{DC63B54F-30AD-4A00-A479-1190AF9C20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3849" y="4291182"/>
            <a:ext cx="1235075" cy="158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2675">
            <a:extLst>
              <a:ext uri="{FF2B5EF4-FFF2-40B4-BE49-F238E27FC236}">
                <a16:creationId xmlns:a16="http://schemas.microsoft.com/office/drawing/2014/main" id="{9D85A76A-CF86-489E-87E0-8B5220797B64}"/>
              </a:ext>
            </a:extLst>
          </p:cNvPr>
          <p:cNvSpPr>
            <a:spLocks/>
          </p:cNvSpPr>
          <p:nvPr/>
        </p:nvSpPr>
        <p:spPr bwMode="auto">
          <a:xfrm>
            <a:off x="3071112" y="4238794"/>
            <a:ext cx="212725" cy="212725"/>
          </a:xfrm>
          <a:custGeom>
            <a:avLst/>
            <a:gdLst/>
            <a:ahLst/>
            <a:cxnLst>
              <a:cxn ang="0">
                <a:pos x="134" y="67"/>
              </a:cxn>
              <a:cxn ang="0">
                <a:pos x="133" y="55"/>
              </a:cxn>
              <a:cxn ang="0">
                <a:pos x="130" y="44"/>
              </a:cxn>
              <a:cxn ang="0">
                <a:pos x="125" y="33"/>
              </a:cxn>
              <a:cxn ang="0">
                <a:pos x="118" y="24"/>
              </a:cxn>
              <a:cxn ang="0">
                <a:pos x="110" y="15"/>
              </a:cxn>
              <a:cxn ang="0">
                <a:pos x="100" y="9"/>
              </a:cxn>
              <a:cxn ang="0">
                <a:pos x="90" y="4"/>
              </a:cxn>
              <a:cxn ang="0">
                <a:pos x="78" y="1"/>
              </a:cxn>
              <a:cxn ang="0">
                <a:pos x="67" y="0"/>
              </a:cxn>
              <a:cxn ang="0">
                <a:pos x="55" y="1"/>
              </a:cxn>
              <a:cxn ang="0">
                <a:pos x="44" y="4"/>
              </a:cxn>
              <a:cxn ang="0">
                <a:pos x="33" y="9"/>
              </a:cxn>
              <a:cxn ang="0">
                <a:pos x="24" y="15"/>
              </a:cxn>
              <a:cxn ang="0">
                <a:pos x="15" y="24"/>
              </a:cxn>
              <a:cxn ang="0">
                <a:pos x="9" y="33"/>
              </a:cxn>
              <a:cxn ang="0">
                <a:pos x="4" y="44"/>
              </a:cxn>
              <a:cxn ang="0">
                <a:pos x="1" y="55"/>
              </a:cxn>
              <a:cxn ang="0">
                <a:pos x="0" y="67"/>
              </a:cxn>
              <a:cxn ang="0">
                <a:pos x="1" y="79"/>
              </a:cxn>
              <a:cxn ang="0">
                <a:pos x="4" y="90"/>
              </a:cxn>
              <a:cxn ang="0">
                <a:pos x="9" y="101"/>
              </a:cxn>
              <a:cxn ang="0">
                <a:pos x="15" y="110"/>
              </a:cxn>
              <a:cxn ang="0">
                <a:pos x="24" y="118"/>
              </a:cxn>
              <a:cxn ang="0">
                <a:pos x="33" y="125"/>
              </a:cxn>
              <a:cxn ang="0">
                <a:pos x="44" y="130"/>
              </a:cxn>
              <a:cxn ang="0">
                <a:pos x="55" y="133"/>
              </a:cxn>
              <a:cxn ang="0">
                <a:pos x="67" y="134"/>
              </a:cxn>
              <a:cxn ang="0">
                <a:pos x="78" y="133"/>
              </a:cxn>
              <a:cxn ang="0">
                <a:pos x="90" y="130"/>
              </a:cxn>
              <a:cxn ang="0">
                <a:pos x="100" y="125"/>
              </a:cxn>
              <a:cxn ang="0">
                <a:pos x="110" y="118"/>
              </a:cxn>
              <a:cxn ang="0">
                <a:pos x="118" y="110"/>
              </a:cxn>
              <a:cxn ang="0">
                <a:pos x="125" y="101"/>
              </a:cxn>
              <a:cxn ang="0">
                <a:pos x="130" y="90"/>
              </a:cxn>
              <a:cxn ang="0">
                <a:pos x="133" y="79"/>
              </a:cxn>
              <a:cxn ang="0">
                <a:pos x="134" y="67"/>
              </a:cxn>
            </a:cxnLst>
            <a:rect l="0" t="0" r="r" b="b"/>
            <a:pathLst>
              <a:path w="134" h="134">
                <a:moveTo>
                  <a:pt x="134" y="67"/>
                </a:moveTo>
                <a:lnTo>
                  <a:pt x="133" y="55"/>
                </a:lnTo>
                <a:lnTo>
                  <a:pt x="130" y="44"/>
                </a:lnTo>
                <a:lnTo>
                  <a:pt x="125" y="33"/>
                </a:lnTo>
                <a:lnTo>
                  <a:pt x="118" y="24"/>
                </a:lnTo>
                <a:lnTo>
                  <a:pt x="110" y="15"/>
                </a:lnTo>
                <a:lnTo>
                  <a:pt x="100" y="9"/>
                </a:lnTo>
                <a:lnTo>
                  <a:pt x="90" y="4"/>
                </a:lnTo>
                <a:lnTo>
                  <a:pt x="78" y="1"/>
                </a:lnTo>
                <a:lnTo>
                  <a:pt x="67" y="0"/>
                </a:lnTo>
                <a:lnTo>
                  <a:pt x="55" y="1"/>
                </a:lnTo>
                <a:lnTo>
                  <a:pt x="44" y="4"/>
                </a:lnTo>
                <a:lnTo>
                  <a:pt x="33" y="9"/>
                </a:lnTo>
                <a:lnTo>
                  <a:pt x="24" y="15"/>
                </a:lnTo>
                <a:lnTo>
                  <a:pt x="15" y="24"/>
                </a:lnTo>
                <a:lnTo>
                  <a:pt x="9" y="33"/>
                </a:lnTo>
                <a:lnTo>
                  <a:pt x="4" y="44"/>
                </a:lnTo>
                <a:lnTo>
                  <a:pt x="1" y="55"/>
                </a:lnTo>
                <a:lnTo>
                  <a:pt x="0" y="67"/>
                </a:lnTo>
                <a:lnTo>
                  <a:pt x="1" y="79"/>
                </a:lnTo>
                <a:lnTo>
                  <a:pt x="4" y="90"/>
                </a:lnTo>
                <a:lnTo>
                  <a:pt x="9" y="101"/>
                </a:lnTo>
                <a:lnTo>
                  <a:pt x="15" y="110"/>
                </a:lnTo>
                <a:lnTo>
                  <a:pt x="24" y="118"/>
                </a:lnTo>
                <a:lnTo>
                  <a:pt x="33" y="125"/>
                </a:lnTo>
                <a:lnTo>
                  <a:pt x="44" y="130"/>
                </a:lnTo>
                <a:lnTo>
                  <a:pt x="55" y="133"/>
                </a:lnTo>
                <a:lnTo>
                  <a:pt x="67" y="134"/>
                </a:lnTo>
                <a:lnTo>
                  <a:pt x="78" y="133"/>
                </a:lnTo>
                <a:lnTo>
                  <a:pt x="90" y="130"/>
                </a:lnTo>
                <a:lnTo>
                  <a:pt x="100" y="125"/>
                </a:lnTo>
                <a:lnTo>
                  <a:pt x="110" y="118"/>
                </a:lnTo>
                <a:lnTo>
                  <a:pt x="118" y="110"/>
                </a:lnTo>
                <a:lnTo>
                  <a:pt x="125" y="101"/>
                </a:lnTo>
                <a:lnTo>
                  <a:pt x="130" y="90"/>
                </a:lnTo>
                <a:lnTo>
                  <a:pt x="133" y="79"/>
                </a:lnTo>
                <a:lnTo>
                  <a:pt x="134" y="67"/>
                </a:lnTo>
                <a:close/>
              </a:path>
            </a:pathLst>
          </a:custGeom>
          <a:noFill/>
          <a:ln w="254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BF785EC-DF4C-45DE-ACF7-4E65EFEC1418}"/>
              </a:ext>
            </a:extLst>
          </p:cNvPr>
          <p:cNvGrpSpPr/>
          <p:nvPr/>
        </p:nvGrpSpPr>
        <p:grpSpPr>
          <a:xfrm>
            <a:off x="4855462" y="4173707"/>
            <a:ext cx="93663" cy="139700"/>
            <a:chOff x="2917826" y="4364038"/>
            <a:chExt cx="93663" cy="139700"/>
          </a:xfrm>
        </p:grpSpPr>
        <p:sp>
          <p:nvSpPr>
            <p:cNvPr id="36" name="Freeform 2678">
              <a:extLst>
                <a:ext uri="{FF2B5EF4-FFF2-40B4-BE49-F238E27FC236}">
                  <a16:creationId xmlns:a16="http://schemas.microsoft.com/office/drawing/2014/main" id="{A763AD67-3B9B-4EE7-AE44-0EF658899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826" y="4364038"/>
              <a:ext cx="93663" cy="139700"/>
            </a:xfrm>
            <a:custGeom>
              <a:avLst/>
              <a:gdLst/>
              <a:ahLst/>
              <a:cxnLst>
                <a:cxn ang="0">
                  <a:pos x="0" y="88"/>
                </a:cxn>
                <a:cxn ang="0">
                  <a:pos x="54" y="0"/>
                </a:cxn>
                <a:cxn ang="0">
                  <a:pos x="59" y="88"/>
                </a:cxn>
              </a:cxnLst>
              <a:rect l="0" t="0" r="r" b="b"/>
              <a:pathLst>
                <a:path w="59" h="88">
                  <a:moveTo>
                    <a:pt x="0" y="88"/>
                  </a:moveTo>
                  <a:lnTo>
                    <a:pt x="54" y="0"/>
                  </a:lnTo>
                  <a:lnTo>
                    <a:pt x="59" y="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Line 2679">
              <a:extLst>
                <a:ext uri="{FF2B5EF4-FFF2-40B4-BE49-F238E27FC236}">
                  <a16:creationId xmlns:a16="http://schemas.microsoft.com/office/drawing/2014/main" id="{AE3D5C5D-7194-49BB-91C5-F64AA28F30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41638" y="4464050"/>
              <a:ext cx="66675" cy="15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8" name="Freeform 2681">
            <a:extLst>
              <a:ext uri="{FF2B5EF4-FFF2-40B4-BE49-F238E27FC236}">
                <a16:creationId xmlns:a16="http://schemas.microsoft.com/office/drawing/2014/main" id="{8333894E-E303-4F78-B0F6-4159FE7C2077}"/>
              </a:ext>
            </a:extLst>
          </p:cNvPr>
          <p:cNvSpPr>
            <a:spLocks/>
          </p:cNvSpPr>
          <p:nvPr/>
        </p:nvSpPr>
        <p:spPr bwMode="auto">
          <a:xfrm>
            <a:off x="5196774" y="4384844"/>
            <a:ext cx="152400" cy="523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" y="4"/>
              </a:cxn>
              <a:cxn ang="0">
                <a:pos x="18" y="7"/>
              </a:cxn>
              <a:cxn ang="0">
                <a:pos x="24" y="10"/>
              </a:cxn>
              <a:cxn ang="0">
                <a:pos x="35" y="17"/>
              </a:cxn>
              <a:cxn ang="0">
                <a:pos x="46" y="24"/>
              </a:cxn>
              <a:cxn ang="0">
                <a:pos x="58" y="28"/>
              </a:cxn>
              <a:cxn ang="0">
                <a:pos x="70" y="31"/>
              </a:cxn>
              <a:cxn ang="0">
                <a:pos x="83" y="32"/>
              </a:cxn>
              <a:cxn ang="0">
                <a:pos x="96" y="33"/>
              </a:cxn>
            </a:cxnLst>
            <a:rect l="0" t="0" r="r" b="b"/>
            <a:pathLst>
              <a:path w="96" h="33">
                <a:moveTo>
                  <a:pt x="0" y="0"/>
                </a:moveTo>
                <a:lnTo>
                  <a:pt x="12" y="4"/>
                </a:lnTo>
                <a:lnTo>
                  <a:pt x="18" y="7"/>
                </a:lnTo>
                <a:lnTo>
                  <a:pt x="24" y="10"/>
                </a:lnTo>
                <a:lnTo>
                  <a:pt x="35" y="17"/>
                </a:lnTo>
                <a:lnTo>
                  <a:pt x="46" y="24"/>
                </a:lnTo>
                <a:lnTo>
                  <a:pt x="58" y="28"/>
                </a:lnTo>
                <a:lnTo>
                  <a:pt x="70" y="31"/>
                </a:lnTo>
                <a:lnTo>
                  <a:pt x="83" y="32"/>
                </a:lnTo>
                <a:lnTo>
                  <a:pt x="96" y="3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2682">
            <a:extLst>
              <a:ext uri="{FF2B5EF4-FFF2-40B4-BE49-F238E27FC236}">
                <a16:creationId xmlns:a16="http://schemas.microsoft.com/office/drawing/2014/main" id="{17F795F6-4D70-44FC-906D-796181EA8DE3}"/>
              </a:ext>
            </a:extLst>
          </p:cNvPr>
          <p:cNvSpPr>
            <a:spLocks/>
          </p:cNvSpPr>
          <p:nvPr/>
        </p:nvSpPr>
        <p:spPr bwMode="auto">
          <a:xfrm>
            <a:off x="5045962" y="4548357"/>
            <a:ext cx="17463" cy="163512"/>
          </a:xfrm>
          <a:custGeom>
            <a:avLst/>
            <a:gdLst/>
            <a:ahLst/>
            <a:cxnLst>
              <a:cxn ang="0">
                <a:pos x="4" y="0"/>
              </a:cxn>
              <a:cxn ang="0">
                <a:pos x="6" y="6"/>
              </a:cxn>
              <a:cxn ang="0">
                <a:pos x="7" y="9"/>
              </a:cxn>
              <a:cxn ang="0">
                <a:pos x="7" y="12"/>
              </a:cxn>
              <a:cxn ang="0">
                <a:pos x="5" y="18"/>
              </a:cxn>
              <a:cxn ang="0">
                <a:pos x="3" y="24"/>
              </a:cxn>
              <a:cxn ang="0">
                <a:pos x="0" y="31"/>
              </a:cxn>
              <a:cxn ang="0">
                <a:pos x="0" y="34"/>
              </a:cxn>
              <a:cxn ang="0">
                <a:pos x="0" y="37"/>
              </a:cxn>
              <a:cxn ang="0">
                <a:pos x="1" y="44"/>
              </a:cxn>
              <a:cxn ang="0">
                <a:pos x="4" y="50"/>
              </a:cxn>
              <a:cxn ang="0">
                <a:pos x="7" y="56"/>
              </a:cxn>
              <a:cxn ang="0">
                <a:pos x="9" y="63"/>
              </a:cxn>
              <a:cxn ang="0">
                <a:pos x="11" y="70"/>
              </a:cxn>
              <a:cxn ang="0">
                <a:pos x="11" y="76"/>
              </a:cxn>
              <a:cxn ang="0">
                <a:pos x="11" y="83"/>
              </a:cxn>
              <a:cxn ang="0">
                <a:pos x="11" y="89"/>
              </a:cxn>
              <a:cxn ang="0">
                <a:pos x="9" y="103"/>
              </a:cxn>
            </a:cxnLst>
            <a:rect l="0" t="0" r="r" b="b"/>
            <a:pathLst>
              <a:path w="11" h="103">
                <a:moveTo>
                  <a:pt x="4" y="0"/>
                </a:moveTo>
                <a:lnTo>
                  <a:pt x="6" y="6"/>
                </a:lnTo>
                <a:lnTo>
                  <a:pt x="7" y="9"/>
                </a:lnTo>
                <a:lnTo>
                  <a:pt x="7" y="12"/>
                </a:lnTo>
                <a:lnTo>
                  <a:pt x="5" y="18"/>
                </a:lnTo>
                <a:lnTo>
                  <a:pt x="3" y="24"/>
                </a:lnTo>
                <a:lnTo>
                  <a:pt x="0" y="31"/>
                </a:lnTo>
                <a:lnTo>
                  <a:pt x="0" y="34"/>
                </a:lnTo>
                <a:lnTo>
                  <a:pt x="0" y="37"/>
                </a:lnTo>
                <a:lnTo>
                  <a:pt x="1" y="44"/>
                </a:lnTo>
                <a:lnTo>
                  <a:pt x="4" y="50"/>
                </a:lnTo>
                <a:lnTo>
                  <a:pt x="7" y="56"/>
                </a:lnTo>
                <a:lnTo>
                  <a:pt x="9" y="63"/>
                </a:lnTo>
                <a:lnTo>
                  <a:pt x="11" y="70"/>
                </a:lnTo>
                <a:lnTo>
                  <a:pt x="11" y="76"/>
                </a:lnTo>
                <a:lnTo>
                  <a:pt x="11" y="83"/>
                </a:lnTo>
                <a:lnTo>
                  <a:pt x="11" y="89"/>
                </a:lnTo>
                <a:lnTo>
                  <a:pt x="9" y="10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Line 2683">
            <a:extLst>
              <a:ext uri="{FF2B5EF4-FFF2-40B4-BE49-F238E27FC236}">
                <a16:creationId xmlns:a16="http://schemas.microsoft.com/office/drawing/2014/main" id="{C9CA16C4-C0DD-4B25-B78E-C9B277D38F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3899" y="4546769"/>
            <a:ext cx="1588" cy="476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Line 2684">
            <a:extLst>
              <a:ext uri="{FF2B5EF4-FFF2-40B4-BE49-F238E27FC236}">
                <a16:creationId xmlns:a16="http://schemas.microsoft.com/office/drawing/2014/main" id="{2743A2E6-A45E-4F53-B46A-380AEE64C7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0887" y="4556294"/>
            <a:ext cx="41275" cy="1508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Line 2685">
            <a:extLst>
              <a:ext uri="{FF2B5EF4-FFF2-40B4-BE49-F238E27FC236}">
                <a16:creationId xmlns:a16="http://schemas.microsoft.com/office/drawing/2014/main" id="{9C195AAD-9497-4D64-833F-1A667CFC2A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07887" y="4399132"/>
            <a:ext cx="23813" cy="92075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Line 2686">
            <a:extLst>
              <a:ext uri="{FF2B5EF4-FFF2-40B4-BE49-F238E27FC236}">
                <a16:creationId xmlns:a16="http://schemas.microsoft.com/office/drawing/2014/main" id="{7216F41C-91A2-41D1-BD8A-86A7BA8F76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76149" y="4430882"/>
            <a:ext cx="17463" cy="66675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Line 2688">
            <a:extLst>
              <a:ext uri="{FF2B5EF4-FFF2-40B4-BE49-F238E27FC236}">
                <a16:creationId xmlns:a16="http://schemas.microsoft.com/office/drawing/2014/main" id="{D97E0B70-B72C-4D59-9E4D-7F9EE3AB13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1524" y="4459457"/>
            <a:ext cx="76200" cy="77787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Line 2689">
            <a:extLst>
              <a:ext uri="{FF2B5EF4-FFF2-40B4-BE49-F238E27FC236}">
                <a16:creationId xmlns:a16="http://schemas.microsoft.com/office/drawing/2014/main" id="{492D1B46-594F-4C76-AE67-A754CD8D6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2012" y="4551532"/>
            <a:ext cx="14288" cy="14287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Line 2690">
            <a:extLst>
              <a:ext uri="{FF2B5EF4-FFF2-40B4-BE49-F238E27FC236}">
                <a16:creationId xmlns:a16="http://schemas.microsoft.com/office/drawing/2014/main" id="{5EB8F952-BBBC-4527-888E-C4C87FF8D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0587" y="4580107"/>
            <a:ext cx="77788" cy="762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F9631469-F84B-499C-92AA-E5D2C589828C}"/>
              </a:ext>
            </a:extLst>
          </p:cNvPr>
          <p:cNvGrpSpPr/>
          <p:nvPr/>
        </p:nvGrpSpPr>
        <p:grpSpPr>
          <a:xfrm>
            <a:off x="5095174" y="4453107"/>
            <a:ext cx="231775" cy="233362"/>
            <a:chOff x="3157538" y="4643438"/>
            <a:chExt cx="231775" cy="233362"/>
          </a:xfrm>
        </p:grpSpPr>
        <p:sp>
          <p:nvSpPr>
            <p:cNvPr id="48" name="Line 2687">
              <a:extLst>
                <a:ext uri="{FF2B5EF4-FFF2-40B4-BE49-F238E27FC236}">
                  <a16:creationId xmlns:a16="http://schemas.microsoft.com/office/drawing/2014/main" id="{81096DD1-766B-4D7C-A238-FA3ACE942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151" y="4643438"/>
              <a:ext cx="42863" cy="428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Line 2714">
              <a:extLst>
                <a:ext uri="{FF2B5EF4-FFF2-40B4-BE49-F238E27FC236}">
                  <a16:creationId xmlns:a16="http://schemas.microsoft.com/office/drawing/2014/main" id="{C4103EF2-1AE2-4166-87E8-94F986CD18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5013" y="4686300"/>
              <a:ext cx="114300" cy="15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Line 2715">
              <a:extLst>
                <a:ext uri="{FF2B5EF4-FFF2-40B4-BE49-F238E27FC236}">
                  <a16:creationId xmlns:a16="http://schemas.microsoft.com/office/drawing/2014/main" id="{FDEB1563-21DB-46F3-B25E-6C4E0A345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7538" y="4719638"/>
              <a:ext cx="42863" cy="428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Line 2716">
              <a:extLst>
                <a:ext uri="{FF2B5EF4-FFF2-40B4-BE49-F238E27FC236}">
                  <a16:creationId xmlns:a16="http://schemas.microsoft.com/office/drawing/2014/main" id="{A9552BA4-B8B1-4753-A597-E328069D2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401" y="4762500"/>
              <a:ext cx="1588" cy="1143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Line 2717">
              <a:extLst>
                <a:ext uri="{FF2B5EF4-FFF2-40B4-BE49-F238E27FC236}">
                  <a16:creationId xmlns:a16="http://schemas.microsoft.com/office/drawing/2014/main" id="{B7721224-805D-48AF-82A9-9EE69FAF56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0401" y="4686300"/>
              <a:ext cx="74613" cy="76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A840DC8-2416-410B-86FA-74480D2C86F2}"/>
              </a:ext>
            </a:extLst>
          </p:cNvPr>
          <p:cNvGrpSpPr/>
          <p:nvPr/>
        </p:nvGrpSpPr>
        <p:grpSpPr>
          <a:xfrm>
            <a:off x="6785862" y="2713207"/>
            <a:ext cx="93663" cy="141287"/>
            <a:chOff x="4848226" y="2903538"/>
            <a:chExt cx="93663" cy="141287"/>
          </a:xfrm>
        </p:grpSpPr>
        <p:sp>
          <p:nvSpPr>
            <p:cNvPr id="54" name="Freeform 2745">
              <a:extLst>
                <a:ext uri="{FF2B5EF4-FFF2-40B4-BE49-F238E27FC236}">
                  <a16:creationId xmlns:a16="http://schemas.microsoft.com/office/drawing/2014/main" id="{8C4F648A-ED6C-40A5-B326-D1FF6FAA9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226" y="2903538"/>
              <a:ext cx="93663" cy="141287"/>
            </a:xfrm>
            <a:custGeom>
              <a:avLst/>
              <a:gdLst/>
              <a:ahLst/>
              <a:cxnLst>
                <a:cxn ang="0">
                  <a:pos x="0" y="89"/>
                </a:cxn>
                <a:cxn ang="0">
                  <a:pos x="54" y="0"/>
                </a:cxn>
                <a:cxn ang="0">
                  <a:pos x="59" y="89"/>
                </a:cxn>
              </a:cxnLst>
              <a:rect l="0" t="0" r="r" b="b"/>
              <a:pathLst>
                <a:path w="59" h="89">
                  <a:moveTo>
                    <a:pt x="0" y="89"/>
                  </a:moveTo>
                  <a:lnTo>
                    <a:pt x="54" y="0"/>
                  </a:lnTo>
                  <a:lnTo>
                    <a:pt x="59" y="89"/>
                  </a:lnTo>
                </a:path>
              </a:pathLst>
            </a:cu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Line 2746">
              <a:extLst>
                <a:ext uri="{FF2B5EF4-FFF2-40B4-BE49-F238E27FC236}">
                  <a16:creationId xmlns:a16="http://schemas.microsoft.com/office/drawing/2014/main" id="{A88C2ECA-FB8B-4AD9-8489-050E8C8823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72038" y="3005138"/>
              <a:ext cx="65088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A89467F2-2306-46D1-89EA-F56A26A9AEC3}"/>
              </a:ext>
            </a:extLst>
          </p:cNvPr>
          <p:cNvGrpSpPr/>
          <p:nvPr/>
        </p:nvGrpSpPr>
        <p:grpSpPr>
          <a:xfrm>
            <a:off x="2896487" y="4345157"/>
            <a:ext cx="2506663" cy="0"/>
            <a:chOff x="958851" y="4535488"/>
            <a:chExt cx="2506663" cy="1587"/>
          </a:xfrm>
        </p:grpSpPr>
        <p:sp>
          <p:nvSpPr>
            <p:cNvPr id="57" name="Line 2602">
              <a:extLst>
                <a:ext uri="{FF2B5EF4-FFF2-40B4-BE49-F238E27FC236}">
                  <a16:creationId xmlns:a16="http://schemas.microsoft.com/office/drawing/2014/main" id="{C3A6B3F1-9205-4595-8747-66B1542D53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1001" y="4535488"/>
              <a:ext cx="128588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Line 2608">
              <a:extLst>
                <a:ext uri="{FF2B5EF4-FFF2-40B4-BE49-F238E27FC236}">
                  <a16:creationId xmlns:a16="http://schemas.microsoft.com/office/drawing/2014/main" id="{E3BDCDD1-CE61-4DFE-941F-8D818769C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8851" y="4535488"/>
              <a:ext cx="263525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Line 2609">
              <a:extLst>
                <a:ext uri="{FF2B5EF4-FFF2-40B4-BE49-F238E27FC236}">
                  <a16:creationId xmlns:a16="http://schemas.microsoft.com/office/drawing/2014/main" id="{1B716E03-60EA-4C53-A9AE-F52C2502A5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3176" y="4535488"/>
              <a:ext cx="50800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Line 2610">
              <a:extLst>
                <a:ext uri="{FF2B5EF4-FFF2-40B4-BE49-F238E27FC236}">
                  <a16:creationId xmlns:a16="http://schemas.microsoft.com/office/drawing/2014/main" id="{58BE8275-09E8-4F20-9EE4-A4CA4909F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4776" y="4535488"/>
              <a:ext cx="304800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Line 2611">
              <a:extLst>
                <a:ext uri="{FF2B5EF4-FFF2-40B4-BE49-F238E27FC236}">
                  <a16:creationId xmlns:a16="http://schemas.microsoft.com/office/drawing/2014/main" id="{BC1F9D0B-5025-4A13-A4A5-94B6B79D4F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0376" y="4535488"/>
              <a:ext cx="50800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Line 2612">
              <a:extLst>
                <a:ext uri="{FF2B5EF4-FFF2-40B4-BE49-F238E27FC236}">
                  <a16:creationId xmlns:a16="http://schemas.microsoft.com/office/drawing/2014/main" id="{58E27223-5D19-4294-BE5B-DC562A504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1976" y="4535488"/>
              <a:ext cx="303213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Line 2613">
              <a:extLst>
                <a:ext uri="{FF2B5EF4-FFF2-40B4-BE49-F238E27FC236}">
                  <a16:creationId xmlns:a16="http://schemas.microsoft.com/office/drawing/2014/main" id="{078F913F-DAEF-4D94-B7B0-E6BD8FAD5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988" y="4535488"/>
              <a:ext cx="50800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Line 2614">
              <a:extLst>
                <a:ext uri="{FF2B5EF4-FFF2-40B4-BE49-F238E27FC236}">
                  <a16:creationId xmlns:a16="http://schemas.microsoft.com/office/drawing/2014/main" id="{869A2BE1-4E7C-4FB2-A66C-339597FD7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7588" y="4535488"/>
              <a:ext cx="304800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Line 2615">
              <a:extLst>
                <a:ext uri="{FF2B5EF4-FFF2-40B4-BE49-F238E27FC236}">
                  <a16:creationId xmlns:a16="http://schemas.microsoft.com/office/drawing/2014/main" id="{8278A6F0-90E3-4A2F-93A1-BA9F5272B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188" y="4535488"/>
              <a:ext cx="50800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Line 2616">
              <a:extLst>
                <a:ext uri="{FF2B5EF4-FFF2-40B4-BE49-F238E27FC236}">
                  <a16:creationId xmlns:a16="http://schemas.microsoft.com/office/drawing/2014/main" id="{F1307670-8DA2-4F44-AE36-07EFB6D3EC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788" y="4535488"/>
              <a:ext cx="303213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Line 2617">
              <a:extLst>
                <a:ext uri="{FF2B5EF4-FFF2-40B4-BE49-F238E27FC236}">
                  <a16:creationId xmlns:a16="http://schemas.microsoft.com/office/drawing/2014/main" id="{C0C50AF9-60A1-43FA-9621-E4933AB2F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8801" y="4535488"/>
              <a:ext cx="50800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Line 2618">
              <a:extLst>
                <a:ext uri="{FF2B5EF4-FFF2-40B4-BE49-F238E27FC236}">
                  <a16:creationId xmlns:a16="http://schemas.microsoft.com/office/drawing/2014/main" id="{47E5D16F-5AAA-42D7-8E0E-AD799C5D3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401" y="4535488"/>
              <a:ext cx="265113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Line 2751">
              <a:extLst>
                <a:ext uri="{FF2B5EF4-FFF2-40B4-BE49-F238E27FC236}">
                  <a16:creationId xmlns:a16="http://schemas.microsoft.com/office/drawing/2014/main" id="{5DE0E19A-0F7F-4725-AD94-B0429BDA7B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3801" y="4535488"/>
              <a:ext cx="103188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Line 2752">
              <a:extLst>
                <a:ext uri="{FF2B5EF4-FFF2-40B4-BE49-F238E27FC236}">
                  <a16:creationId xmlns:a16="http://schemas.microsoft.com/office/drawing/2014/main" id="{07E633BF-E254-450A-BEFE-6E25049DB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9588" y="4535488"/>
              <a:ext cx="212725" cy="1587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EDE314D8-CFF8-455B-A9A2-4CFEF6416649}"/>
              </a:ext>
            </a:extLst>
          </p:cNvPr>
          <p:cNvGrpSpPr/>
          <p:nvPr/>
        </p:nvGrpSpPr>
        <p:grpSpPr>
          <a:xfrm>
            <a:off x="2891724" y="5440532"/>
            <a:ext cx="3997325" cy="769937"/>
            <a:chOff x="954088" y="5630863"/>
            <a:chExt cx="3997325" cy="769937"/>
          </a:xfrm>
        </p:grpSpPr>
        <p:sp>
          <p:nvSpPr>
            <p:cNvPr id="72" name="Line 2576">
              <a:extLst>
                <a:ext uri="{FF2B5EF4-FFF2-40B4-BE49-F238E27FC236}">
                  <a16:creationId xmlns:a16="http://schemas.microsoft.com/office/drawing/2014/main" id="{EFA3863A-5DCA-4CD6-8DDF-82E89D7F1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6526" y="5695950"/>
              <a:ext cx="152400" cy="152400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Line 2582">
              <a:extLst>
                <a:ext uri="{FF2B5EF4-FFF2-40B4-BE49-F238E27FC236}">
                  <a16:creationId xmlns:a16="http://schemas.microsoft.com/office/drawing/2014/main" id="{D3862C34-A459-47E2-9B4A-251A2DAC27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2313" y="5700713"/>
              <a:ext cx="127000" cy="127000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AAAD301F-A3C5-455D-A359-004FB03FC2E0}"/>
                </a:ext>
              </a:extLst>
            </p:cNvPr>
            <p:cNvGrpSpPr/>
            <p:nvPr/>
          </p:nvGrpSpPr>
          <p:grpSpPr>
            <a:xfrm>
              <a:off x="3049588" y="5630863"/>
              <a:ext cx="1588" cy="769937"/>
              <a:chOff x="3049588" y="5630863"/>
              <a:chExt cx="1588" cy="769937"/>
            </a:xfrm>
          </p:grpSpPr>
          <p:sp>
            <p:nvSpPr>
              <p:cNvPr id="187" name="Line 2703">
                <a:extLst>
                  <a:ext uri="{FF2B5EF4-FFF2-40B4-BE49-F238E27FC236}">
                    <a16:creationId xmlns:a16="http://schemas.microsoft.com/office/drawing/2014/main" id="{58F1EC1B-EEBD-486D-8125-3F8CD2441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9588" y="5630863"/>
                <a:ext cx="1588" cy="201612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8" name="Line 2704">
                <a:extLst>
                  <a:ext uri="{FF2B5EF4-FFF2-40B4-BE49-F238E27FC236}">
                    <a16:creationId xmlns:a16="http://schemas.microsoft.com/office/drawing/2014/main" id="{ACFE562D-71A2-46A9-BFB3-5066CA4DB0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9588" y="5862638"/>
                <a:ext cx="1588" cy="30162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9" name="Line 2705">
                <a:extLst>
                  <a:ext uri="{FF2B5EF4-FFF2-40B4-BE49-F238E27FC236}">
                    <a16:creationId xmlns:a16="http://schemas.microsoft.com/office/drawing/2014/main" id="{7086784C-285F-43E8-A320-0E7737122E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9588" y="5924550"/>
                <a:ext cx="1588" cy="182562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0" name="Line 2706">
                <a:extLst>
                  <a:ext uri="{FF2B5EF4-FFF2-40B4-BE49-F238E27FC236}">
                    <a16:creationId xmlns:a16="http://schemas.microsoft.com/office/drawing/2014/main" id="{CD598563-1CB1-4CAF-B06A-2C96DBDD21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9588" y="6137275"/>
                <a:ext cx="1588" cy="30162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1" name="Line 2707">
                <a:extLst>
                  <a:ext uri="{FF2B5EF4-FFF2-40B4-BE49-F238E27FC236}">
                    <a16:creationId xmlns:a16="http://schemas.microsoft.com/office/drawing/2014/main" id="{CEA7CE7F-FB10-473E-9F2A-0B6BB40888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9588" y="6199188"/>
                <a:ext cx="1588" cy="201612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096009A3-F699-40C8-8284-C1295CEC276D}"/>
                </a:ext>
              </a:extLst>
            </p:cNvPr>
            <p:cNvGrpSpPr/>
            <p:nvPr/>
          </p:nvGrpSpPr>
          <p:grpSpPr>
            <a:xfrm>
              <a:off x="954088" y="5695950"/>
              <a:ext cx="3997325" cy="642937"/>
              <a:chOff x="954088" y="5695950"/>
              <a:chExt cx="3997325" cy="642937"/>
            </a:xfrm>
          </p:grpSpPr>
          <p:sp>
            <p:nvSpPr>
              <p:cNvPr id="76" name="Line 2580">
                <a:extLst>
                  <a:ext uri="{FF2B5EF4-FFF2-40B4-BE49-F238E27FC236}">
                    <a16:creationId xmlns:a16="http://schemas.microsoft.com/office/drawing/2014/main" id="{2C125EA9-59FA-4677-8B0D-F36B25D8EE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6526" y="6111875"/>
                <a:ext cx="160338" cy="161925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Line 2581">
                <a:extLst>
                  <a:ext uri="{FF2B5EF4-FFF2-40B4-BE49-F238E27FC236}">
                    <a16:creationId xmlns:a16="http://schemas.microsoft.com/office/drawing/2014/main" id="{C967E82A-0D3B-4838-85F1-4685459F35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54313" y="6254750"/>
                <a:ext cx="82550" cy="82550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Line 2586">
                <a:extLst>
                  <a:ext uri="{FF2B5EF4-FFF2-40B4-BE49-F238E27FC236}">
                    <a16:creationId xmlns:a16="http://schemas.microsoft.com/office/drawing/2014/main" id="{96A7E0D8-1C67-4FF1-BD1B-46FA9DA08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9463" y="6234113"/>
                <a:ext cx="103188" cy="103187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Line 2657">
                <a:extLst>
                  <a:ext uri="{FF2B5EF4-FFF2-40B4-BE49-F238E27FC236}">
                    <a16:creationId xmlns:a16="http://schemas.microsoft.com/office/drawing/2014/main" id="{93ABEEE9-84EC-4F7F-A810-C8AFC3BFD3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9838" y="5718175"/>
                <a:ext cx="1588" cy="601662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Line 2723">
                <a:extLst>
                  <a:ext uri="{FF2B5EF4-FFF2-40B4-BE49-F238E27FC236}">
                    <a16:creationId xmlns:a16="http://schemas.microsoft.com/office/drawing/2014/main" id="{05CE0CDB-369F-425C-AF58-61B16A102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6613" y="5735638"/>
                <a:ext cx="1588" cy="552450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Line 2563">
                <a:extLst>
                  <a:ext uri="{FF2B5EF4-FFF2-40B4-BE49-F238E27FC236}">
                    <a16:creationId xmlns:a16="http://schemas.microsoft.com/office/drawing/2014/main" id="{5EEF8B7B-41D2-4D46-8298-9403E3AEFC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25526" y="5840413"/>
                <a:ext cx="106363" cy="106362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Freeform 2564">
                <a:extLst>
                  <a:ext uri="{FF2B5EF4-FFF2-40B4-BE49-F238E27FC236}">
                    <a16:creationId xmlns:a16="http://schemas.microsoft.com/office/drawing/2014/main" id="{A03AC490-5E31-4194-908D-1763FECE97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526" y="5981700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67"/>
                  </a:cxn>
                  <a:cxn ang="0">
                    <a:pos x="45" y="22"/>
                  </a:cxn>
                  <a:cxn ang="0">
                    <a:pos x="67" y="0"/>
                  </a:cxn>
                </a:cxnLst>
                <a:rect l="0" t="0" r="r" b="b"/>
                <a:pathLst>
                  <a:path w="67" h="67">
                    <a:moveTo>
                      <a:pt x="0" y="67"/>
                    </a:moveTo>
                    <a:lnTo>
                      <a:pt x="45" y="22"/>
                    </a:lnTo>
                    <a:lnTo>
                      <a:pt x="67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Line 2565">
                <a:extLst>
                  <a:ext uri="{FF2B5EF4-FFF2-40B4-BE49-F238E27FC236}">
                    <a16:creationId xmlns:a16="http://schemas.microsoft.com/office/drawing/2014/main" id="{A54840C0-CC3D-484A-8DA6-81136EEF02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1401" y="6122988"/>
                <a:ext cx="90488" cy="90487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Line 2566">
                <a:extLst>
                  <a:ext uri="{FF2B5EF4-FFF2-40B4-BE49-F238E27FC236}">
                    <a16:creationId xmlns:a16="http://schemas.microsoft.com/office/drawing/2014/main" id="{3E2218AC-1BB9-43CB-A36D-AE4F6835A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6201" y="5818188"/>
                <a:ext cx="90488" cy="90487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2567">
                <a:extLst>
                  <a:ext uri="{FF2B5EF4-FFF2-40B4-BE49-F238E27FC236}">
                    <a16:creationId xmlns:a16="http://schemas.microsoft.com/office/drawing/2014/main" id="{2851083F-A15E-48F6-AE24-0AB3E4E4F3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6201" y="5945188"/>
                <a:ext cx="104775" cy="104775"/>
              </a:xfrm>
              <a:custGeom>
                <a:avLst/>
                <a:gdLst/>
                <a:ahLst/>
                <a:cxnLst>
                  <a:cxn ang="0">
                    <a:pos x="0" y="66"/>
                  </a:cxn>
                  <a:cxn ang="0">
                    <a:pos x="21" y="45"/>
                  </a:cxn>
                  <a:cxn ang="0">
                    <a:pos x="66" y="0"/>
                  </a:cxn>
                </a:cxnLst>
                <a:rect l="0" t="0" r="r" b="b"/>
                <a:pathLst>
                  <a:path w="66" h="66">
                    <a:moveTo>
                      <a:pt x="0" y="66"/>
                    </a:moveTo>
                    <a:lnTo>
                      <a:pt x="21" y="45"/>
                    </a:lnTo>
                    <a:lnTo>
                      <a:pt x="66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2568">
                <a:extLst>
                  <a:ext uri="{FF2B5EF4-FFF2-40B4-BE49-F238E27FC236}">
                    <a16:creationId xmlns:a16="http://schemas.microsoft.com/office/drawing/2014/main" id="{B2BF747A-F696-4644-8DF5-1203B78D0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6201" y="5962650"/>
                <a:ext cx="228600" cy="230187"/>
              </a:xfrm>
              <a:custGeom>
                <a:avLst/>
                <a:gdLst/>
                <a:ahLst/>
                <a:cxnLst>
                  <a:cxn ang="0">
                    <a:pos x="0" y="145"/>
                  </a:cxn>
                  <a:cxn ang="0">
                    <a:pos x="110" y="34"/>
                  </a:cxn>
                  <a:cxn ang="0">
                    <a:pos x="144" y="0"/>
                  </a:cxn>
                </a:cxnLst>
                <a:rect l="0" t="0" r="r" b="b"/>
                <a:pathLst>
                  <a:path w="144" h="145">
                    <a:moveTo>
                      <a:pt x="0" y="145"/>
                    </a:moveTo>
                    <a:lnTo>
                      <a:pt x="110" y="34"/>
                    </a:lnTo>
                    <a:lnTo>
                      <a:pt x="144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2569">
                <a:extLst>
                  <a:ext uri="{FF2B5EF4-FFF2-40B4-BE49-F238E27FC236}">
                    <a16:creationId xmlns:a16="http://schemas.microsoft.com/office/drawing/2014/main" id="{4968AADA-2D3E-4C89-B87F-697126D2B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726" y="5962650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67"/>
                  </a:cxn>
                  <a:cxn ang="0">
                    <a:pos x="33" y="34"/>
                  </a:cxn>
                  <a:cxn ang="0">
                    <a:pos x="67" y="0"/>
                  </a:cxn>
                </a:cxnLst>
                <a:rect l="0" t="0" r="r" b="b"/>
                <a:pathLst>
                  <a:path w="67" h="67">
                    <a:moveTo>
                      <a:pt x="0" y="67"/>
                    </a:moveTo>
                    <a:lnTo>
                      <a:pt x="33" y="34"/>
                    </a:lnTo>
                    <a:lnTo>
                      <a:pt x="67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2570">
                <a:extLst>
                  <a:ext uri="{FF2B5EF4-FFF2-40B4-BE49-F238E27FC236}">
                    <a16:creationId xmlns:a16="http://schemas.microsoft.com/office/drawing/2014/main" id="{27FE7DDD-A233-44A1-902E-C6F1184098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1013" y="5962650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67"/>
                  </a:cxn>
                  <a:cxn ang="0">
                    <a:pos x="33" y="34"/>
                  </a:cxn>
                  <a:cxn ang="0">
                    <a:pos x="67" y="0"/>
                  </a:cxn>
                </a:cxnLst>
                <a:rect l="0" t="0" r="r" b="b"/>
                <a:pathLst>
                  <a:path w="67" h="67">
                    <a:moveTo>
                      <a:pt x="0" y="67"/>
                    </a:moveTo>
                    <a:lnTo>
                      <a:pt x="33" y="34"/>
                    </a:lnTo>
                    <a:lnTo>
                      <a:pt x="67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2571">
                <a:extLst>
                  <a:ext uri="{FF2B5EF4-FFF2-40B4-BE49-F238E27FC236}">
                    <a16:creationId xmlns:a16="http://schemas.microsoft.com/office/drawing/2014/main" id="{707AE2E7-13CD-4099-B0EC-44BF8B218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713" y="5962650"/>
                <a:ext cx="107950" cy="106362"/>
              </a:xfrm>
              <a:custGeom>
                <a:avLst/>
                <a:gdLst/>
                <a:ahLst/>
                <a:cxnLst>
                  <a:cxn ang="0">
                    <a:pos x="0" y="67"/>
                  </a:cxn>
                  <a:cxn ang="0">
                    <a:pos x="34" y="34"/>
                  </a:cxn>
                  <a:cxn ang="0">
                    <a:pos x="68" y="0"/>
                  </a:cxn>
                </a:cxnLst>
                <a:rect l="0" t="0" r="r" b="b"/>
                <a:pathLst>
                  <a:path w="68" h="67">
                    <a:moveTo>
                      <a:pt x="0" y="67"/>
                    </a:moveTo>
                    <a:lnTo>
                      <a:pt x="34" y="34"/>
                    </a:lnTo>
                    <a:lnTo>
                      <a:pt x="68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2572">
                <a:extLst>
                  <a:ext uri="{FF2B5EF4-FFF2-40B4-BE49-F238E27FC236}">
                    <a16:creationId xmlns:a16="http://schemas.microsoft.com/office/drawing/2014/main" id="{C82F82F5-E1F5-4B97-B326-E0F9531A33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001" y="5962650"/>
                <a:ext cx="107950" cy="106362"/>
              </a:xfrm>
              <a:custGeom>
                <a:avLst/>
                <a:gdLst/>
                <a:ahLst/>
                <a:cxnLst>
                  <a:cxn ang="0">
                    <a:pos x="0" y="67"/>
                  </a:cxn>
                  <a:cxn ang="0">
                    <a:pos x="34" y="34"/>
                  </a:cxn>
                  <a:cxn ang="0">
                    <a:pos x="68" y="0"/>
                  </a:cxn>
                </a:cxnLst>
                <a:rect l="0" t="0" r="r" b="b"/>
                <a:pathLst>
                  <a:path w="68" h="67">
                    <a:moveTo>
                      <a:pt x="0" y="67"/>
                    </a:moveTo>
                    <a:lnTo>
                      <a:pt x="34" y="34"/>
                    </a:lnTo>
                    <a:lnTo>
                      <a:pt x="68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2573">
                <a:extLst>
                  <a:ext uri="{FF2B5EF4-FFF2-40B4-BE49-F238E27FC236}">
                    <a16:creationId xmlns:a16="http://schemas.microsoft.com/office/drawing/2014/main" id="{AE76AD6C-B3FB-429A-8A2C-128ECBBC66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3288" y="5962650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67"/>
                  </a:cxn>
                  <a:cxn ang="0">
                    <a:pos x="34" y="34"/>
                  </a:cxn>
                  <a:cxn ang="0">
                    <a:pos x="67" y="0"/>
                  </a:cxn>
                </a:cxnLst>
                <a:rect l="0" t="0" r="r" b="b"/>
                <a:pathLst>
                  <a:path w="67" h="67">
                    <a:moveTo>
                      <a:pt x="0" y="67"/>
                    </a:moveTo>
                    <a:lnTo>
                      <a:pt x="34" y="34"/>
                    </a:lnTo>
                    <a:lnTo>
                      <a:pt x="67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2574">
                <a:extLst>
                  <a:ext uri="{FF2B5EF4-FFF2-40B4-BE49-F238E27FC236}">
                    <a16:creationId xmlns:a16="http://schemas.microsoft.com/office/drawing/2014/main" id="{23E2A7A4-3ECE-4E83-86B1-89978A19EE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4576" y="5962650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67"/>
                  </a:cxn>
                  <a:cxn ang="0">
                    <a:pos x="34" y="34"/>
                  </a:cxn>
                  <a:cxn ang="0">
                    <a:pos x="67" y="0"/>
                  </a:cxn>
                </a:cxnLst>
                <a:rect l="0" t="0" r="r" b="b"/>
                <a:pathLst>
                  <a:path w="67" h="67">
                    <a:moveTo>
                      <a:pt x="0" y="67"/>
                    </a:moveTo>
                    <a:lnTo>
                      <a:pt x="34" y="34"/>
                    </a:lnTo>
                    <a:lnTo>
                      <a:pt x="67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Line 2575">
                <a:extLst>
                  <a:ext uri="{FF2B5EF4-FFF2-40B4-BE49-F238E27FC236}">
                    <a16:creationId xmlns:a16="http://schemas.microsoft.com/office/drawing/2014/main" id="{94E57D5A-4F73-44D1-8166-C2F0E77086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55863" y="6016625"/>
                <a:ext cx="53975" cy="52387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Line 2577">
                <a:extLst>
                  <a:ext uri="{FF2B5EF4-FFF2-40B4-BE49-F238E27FC236}">
                    <a16:creationId xmlns:a16="http://schemas.microsoft.com/office/drawing/2014/main" id="{C5B89DF2-916F-472A-9355-4EED4ECBAB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9838" y="5962650"/>
                <a:ext cx="52388" cy="53975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2578">
                <a:extLst>
                  <a:ext uri="{FF2B5EF4-FFF2-40B4-BE49-F238E27FC236}">
                    <a16:creationId xmlns:a16="http://schemas.microsoft.com/office/drawing/2014/main" id="{16628158-2E51-4A41-8155-48906093D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7151" y="5829300"/>
                <a:ext cx="239713" cy="239712"/>
              </a:xfrm>
              <a:custGeom>
                <a:avLst/>
                <a:gdLst/>
                <a:ahLst/>
                <a:cxnLst>
                  <a:cxn ang="0">
                    <a:pos x="0" y="151"/>
                  </a:cxn>
                  <a:cxn ang="0">
                    <a:pos x="34" y="118"/>
                  </a:cxn>
                  <a:cxn ang="0">
                    <a:pos x="151" y="0"/>
                  </a:cxn>
                </a:cxnLst>
                <a:rect l="0" t="0" r="r" b="b"/>
                <a:pathLst>
                  <a:path w="151" h="151">
                    <a:moveTo>
                      <a:pt x="0" y="151"/>
                    </a:moveTo>
                    <a:lnTo>
                      <a:pt x="34" y="118"/>
                    </a:lnTo>
                    <a:lnTo>
                      <a:pt x="151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2579">
                <a:extLst>
                  <a:ext uri="{FF2B5EF4-FFF2-40B4-BE49-F238E27FC236}">
                    <a16:creationId xmlns:a16="http://schemas.microsoft.com/office/drawing/2014/main" id="{273D640D-E596-4CFD-9033-248852C1CD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6526" y="5970588"/>
                <a:ext cx="160338" cy="160337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73" y="29"/>
                  </a:cxn>
                  <a:cxn ang="0">
                    <a:pos x="101" y="0"/>
                  </a:cxn>
                </a:cxnLst>
                <a:rect l="0" t="0" r="r" b="b"/>
                <a:pathLst>
                  <a:path w="101" h="101">
                    <a:moveTo>
                      <a:pt x="0" y="101"/>
                    </a:moveTo>
                    <a:lnTo>
                      <a:pt x="73" y="29"/>
                    </a:lnTo>
                    <a:lnTo>
                      <a:pt x="101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Line 2583">
                <a:extLst>
                  <a:ext uri="{FF2B5EF4-FFF2-40B4-BE49-F238E27FC236}">
                    <a16:creationId xmlns:a16="http://schemas.microsoft.com/office/drawing/2014/main" id="{D4EC23D1-0C60-4715-A947-EF70D2A87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62313" y="5808663"/>
                <a:ext cx="160338" cy="160337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2584">
                <a:extLst>
                  <a:ext uri="{FF2B5EF4-FFF2-40B4-BE49-F238E27FC236}">
                    <a16:creationId xmlns:a16="http://schemas.microsoft.com/office/drawing/2014/main" id="{4B644D99-00E8-42EF-A9A0-892BA01B56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2313" y="5940425"/>
                <a:ext cx="169863" cy="169862"/>
              </a:xfrm>
              <a:custGeom>
                <a:avLst/>
                <a:gdLst/>
                <a:ahLst/>
                <a:cxnLst>
                  <a:cxn ang="0">
                    <a:pos x="0" y="107"/>
                  </a:cxn>
                  <a:cxn ang="0">
                    <a:pos x="59" y="48"/>
                  </a:cxn>
                  <a:cxn ang="0">
                    <a:pos x="107" y="0"/>
                  </a:cxn>
                </a:cxnLst>
                <a:rect l="0" t="0" r="r" b="b"/>
                <a:pathLst>
                  <a:path w="107" h="107">
                    <a:moveTo>
                      <a:pt x="0" y="107"/>
                    </a:moveTo>
                    <a:lnTo>
                      <a:pt x="59" y="48"/>
                    </a:lnTo>
                    <a:lnTo>
                      <a:pt x="107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2585">
                <a:extLst>
                  <a:ext uri="{FF2B5EF4-FFF2-40B4-BE49-F238E27FC236}">
                    <a16:creationId xmlns:a16="http://schemas.microsoft.com/office/drawing/2014/main" id="{069F46B8-CCCF-4677-BA74-D900539E45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2313" y="5962650"/>
                <a:ext cx="288925" cy="288925"/>
              </a:xfrm>
              <a:custGeom>
                <a:avLst/>
                <a:gdLst/>
                <a:ahLst/>
                <a:cxnLst>
                  <a:cxn ang="0">
                    <a:pos x="0" y="182"/>
                  </a:cxn>
                  <a:cxn ang="0">
                    <a:pos x="148" y="34"/>
                  </a:cxn>
                  <a:cxn ang="0">
                    <a:pos x="182" y="0"/>
                  </a:cxn>
                </a:cxnLst>
                <a:rect l="0" t="0" r="r" b="b"/>
                <a:pathLst>
                  <a:path w="182" h="182">
                    <a:moveTo>
                      <a:pt x="0" y="182"/>
                    </a:moveTo>
                    <a:lnTo>
                      <a:pt x="148" y="34"/>
                    </a:lnTo>
                    <a:lnTo>
                      <a:pt x="182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Line 2587">
                <a:extLst>
                  <a:ext uri="{FF2B5EF4-FFF2-40B4-BE49-F238E27FC236}">
                    <a16:creationId xmlns:a16="http://schemas.microsoft.com/office/drawing/2014/main" id="{08742DCC-0C4E-4B78-B380-B15F917C0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38551" y="5962650"/>
                <a:ext cx="53975" cy="53975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Line 2588">
                <a:extLst>
                  <a:ext uri="{FF2B5EF4-FFF2-40B4-BE49-F238E27FC236}">
                    <a16:creationId xmlns:a16="http://schemas.microsoft.com/office/drawing/2014/main" id="{686A4B7F-4186-477C-A08F-5F1E7740B5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86163" y="6016625"/>
                <a:ext cx="52388" cy="52387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2589">
                <a:extLst>
                  <a:ext uri="{FF2B5EF4-FFF2-40B4-BE49-F238E27FC236}">
                    <a16:creationId xmlns:a16="http://schemas.microsoft.com/office/drawing/2014/main" id="{4C9AD711-C223-4D28-8BBA-7B6815767D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7451" y="5962650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67"/>
                  </a:cxn>
                  <a:cxn ang="0">
                    <a:pos x="33" y="34"/>
                  </a:cxn>
                  <a:cxn ang="0">
                    <a:pos x="67" y="0"/>
                  </a:cxn>
                </a:cxnLst>
                <a:rect l="0" t="0" r="r" b="b"/>
                <a:pathLst>
                  <a:path w="67" h="67">
                    <a:moveTo>
                      <a:pt x="0" y="67"/>
                    </a:moveTo>
                    <a:lnTo>
                      <a:pt x="33" y="34"/>
                    </a:lnTo>
                    <a:lnTo>
                      <a:pt x="67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2590">
                <a:extLst>
                  <a:ext uri="{FF2B5EF4-FFF2-40B4-BE49-F238E27FC236}">
                    <a16:creationId xmlns:a16="http://schemas.microsoft.com/office/drawing/2014/main" id="{5761AFFF-7D57-491D-87C6-9F2B2F58A6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738" y="5962650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67"/>
                  </a:cxn>
                  <a:cxn ang="0">
                    <a:pos x="33" y="34"/>
                  </a:cxn>
                  <a:cxn ang="0">
                    <a:pos x="67" y="0"/>
                  </a:cxn>
                </a:cxnLst>
                <a:rect l="0" t="0" r="r" b="b"/>
                <a:pathLst>
                  <a:path w="67" h="67">
                    <a:moveTo>
                      <a:pt x="0" y="67"/>
                    </a:moveTo>
                    <a:lnTo>
                      <a:pt x="33" y="34"/>
                    </a:lnTo>
                    <a:lnTo>
                      <a:pt x="67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591">
                <a:extLst>
                  <a:ext uri="{FF2B5EF4-FFF2-40B4-BE49-F238E27FC236}">
                    <a16:creationId xmlns:a16="http://schemas.microsoft.com/office/drawing/2014/main" id="{37975DFC-1FB0-4E69-80A9-5B033E1C9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0026" y="5962650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67"/>
                  </a:cxn>
                  <a:cxn ang="0">
                    <a:pos x="33" y="34"/>
                  </a:cxn>
                  <a:cxn ang="0">
                    <a:pos x="67" y="0"/>
                  </a:cxn>
                </a:cxnLst>
                <a:rect l="0" t="0" r="r" b="b"/>
                <a:pathLst>
                  <a:path w="67" h="67">
                    <a:moveTo>
                      <a:pt x="0" y="67"/>
                    </a:moveTo>
                    <a:lnTo>
                      <a:pt x="33" y="34"/>
                    </a:lnTo>
                    <a:lnTo>
                      <a:pt x="67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2592">
                <a:extLst>
                  <a:ext uri="{FF2B5EF4-FFF2-40B4-BE49-F238E27FC236}">
                    <a16:creationId xmlns:a16="http://schemas.microsoft.com/office/drawing/2014/main" id="{B9373ABE-64C0-4CE7-8A31-9B7A092792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1313" y="5962650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67"/>
                  </a:cxn>
                  <a:cxn ang="0">
                    <a:pos x="33" y="34"/>
                  </a:cxn>
                  <a:cxn ang="0">
                    <a:pos x="67" y="0"/>
                  </a:cxn>
                </a:cxnLst>
                <a:rect l="0" t="0" r="r" b="b"/>
                <a:pathLst>
                  <a:path w="67" h="67">
                    <a:moveTo>
                      <a:pt x="0" y="67"/>
                    </a:moveTo>
                    <a:lnTo>
                      <a:pt x="33" y="34"/>
                    </a:lnTo>
                    <a:lnTo>
                      <a:pt x="67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Line 2593">
                <a:extLst>
                  <a:ext uri="{FF2B5EF4-FFF2-40B4-BE49-F238E27FC236}">
                    <a16:creationId xmlns:a16="http://schemas.microsoft.com/office/drawing/2014/main" id="{6963750C-1EBB-4EFF-AE37-B50A35DDE5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91013" y="6016625"/>
                <a:ext cx="53975" cy="52387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Line 2594">
                <a:extLst>
                  <a:ext uri="{FF2B5EF4-FFF2-40B4-BE49-F238E27FC236}">
                    <a16:creationId xmlns:a16="http://schemas.microsoft.com/office/drawing/2014/main" id="{5E492593-018D-4A92-B15F-B3611C049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29126" y="5819775"/>
                <a:ext cx="111125" cy="111125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Line 2595">
                <a:extLst>
                  <a:ext uri="{FF2B5EF4-FFF2-40B4-BE49-F238E27FC236}">
                    <a16:creationId xmlns:a16="http://schemas.microsoft.com/office/drawing/2014/main" id="{F4E2406B-0B2C-43A6-8998-A64A35CBA1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4988" y="5957888"/>
                <a:ext cx="58738" cy="58737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2596">
                <a:extLst>
                  <a:ext uri="{FF2B5EF4-FFF2-40B4-BE49-F238E27FC236}">
                    <a16:creationId xmlns:a16="http://schemas.microsoft.com/office/drawing/2014/main" id="{C73BD6A6-F95E-4F2C-89FD-3477E3DA86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4363" y="5962650"/>
                <a:ext cx="115888" cy="115887"/>
              </a:xfrm>
              <a:custGeom>
                <a:avLst/>
                <a:gdLst/>
                <a:ahLst/>
                <a:cxnLst>
                  <a:cxn ang="0">
                    <a:pos x="0" y="73"/>
                  </a:cxn>
                  <a:cxn ang="0">
                    <a:pos x="39" y="34"/>
                  </a:cxn>
                  <a:cxn ang="0">
                    <a:pos x="73" y="0"/>
                  </a:cxn>
                </a:cxnLst>
                <a:rect l="0" t="0" r="r" b="b"/>
                <a:pathLst>
                  <a:path w="73" h="73">
                    <a:moveTo>
                      <a:pt x="0" y="73"/>
                    </a:moveTo>
                    <a:lnTo>
                      <a:pt x="39" y="34"/>
                    </a:lnTo>
                    <a:lnTo>
                      <a:pt x="73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Line 2597">
                <a:extLst>
                  <a:ext uri="{FF2B5EF4-FFF2-40B4-BE49-F238E27FC236}">
                    <a16:creationId xmlns:a16="http://schemas.microsoft.com/office/drawing/2014/main" id="{FCC837F5-7A9C-4C1E-B429-5E78225B00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41826" y="6103938"/>
                <a:ext cx="98425" cy="98425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Line 2598">
                <a:extLst>
                  <a:ext uri="{FF2B5EF4-FFF2-40B4-BE49-F238E27FC236}">
                    <a16:creationId xmlns:a16="http://schemas.microsoft.com/office/drawing/2014/main" id="{953AD11B-FAD2-4939-8516-580EFC358A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52976" y="5810250"/>
                <a:ext cx="80963" cy="79375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2599">
                <a:extLst>
                  <a:ext uri="{FF2B5EF4-FFF2-40B4-BE49-F238E27FC236}">
                    <a16:creationId xmlns:a16="http://schemas.microsoft.com/office/drawing/2014/main" id="{0F13CDCD-63E4-4BB5-B0C0-7CE7C3865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2976" y="5924550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67"/>
                  </a:cxn>
                  <a:cxn ang="0">
                    <a:pos x="10" y="58"/>
                  </a:cxn>
                  <a:cxn ang="0">
                    <a:pos x="67" y="0"/>
                  </a:cxn>
                </a:cxnLst>
                <a:rect l="0" t="0" r="r" b="b"/>
                <a:pathLst>
                  <a:path w="67" h="67">
                    <a:moveTo>
                      <a:pt x="0" y="67"/>
                    </a:moveTo>
                    <a:lnTo>
                      <a:pt x="10" y="58"/>
                    </a:lnTo>
                    <a:lnTo>
                      <a:pt x="67" y="0"/>
                    </a:lnTo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Line 2600">
                <a:extLst>
                  <a:ext uri="{FF2B5EF4-FFF2-40B4-BE49-F238E27FC236}">
                    <a16:creationId xmlns:a16="http://schemas.microsoft.com/office/drawing/2014/main" id="{5FC69BE6-6E65-47EB-B147-5E23B3B4AC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52976" y="6065838"/>
                <a:ext cx="106363" cy="107950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2680">
                <a:extLst>
                  <a:ext uri="{FF2B5EF4-FFF2-40B4-BE49-F238E27FC236}">
                    <a16:creationId xmlns:a16="http://schemas.microsoft.com/office/drawing/2014/main" id="{A9709313-8A35-4E8C-A920-7A0C2D5E1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948363"/>
                <a:ext cx="74613" cy="130175"/>
              </a:xfrm>
              <a:custGeom>
                <a:avLst/>
                <a:gdLst/>
                <a:ahLst/>
                <a:cxnLst>
                  <a:cxn ang="0">
                    <a:pos x="24" y="82"/>
                  </a:cxn>
                  <a:cxn ang="0">
                    <a:pos x="28" y="81"/>
                  </a:cxn>
                  <a:cxn ang="0">
                    <a:pos x="32" y="79"/>
                  </a:cxn>
                  <a:cxn ang="0">
                    <a:pos x="36" y="75"/>
                  </a:cxn>
                  <a:cxn ang="0">
                    <a:pos x="40" y="71"/>
                  </a:cxn>
                  <a:cxn ang="0">
                    <a:pos x="43" y="65"/>
                  </a:cxn>
                  <a:cxn ang="0">
                    <a:pos x="45" y="58"/>
                  </a:cxn>
                  <a:cxn ang="0">
                    <a:pos x="47" y="51"/>
                  </a:cxn>
                  <a:cxn ang="0">
                    <a:pos x="47" y="43"/>
                  </a:cxn>
                  <a:cxn ang="0">
                    <a:pos x="47" y="35"/>
                  </a:cxn>
                  <a:cxn ang="0">
                    <a:pos x="46" y="27"/>
                  </a:cxn>
                  <a:cxn ang="0">
                    <a:pos x="44" y="20"/>
                  </a:cxn>
                  <a:cxn ang="0">
                    <a:pos x="41" y="14"/>
                  </a:cxn>
                  <a:cxn ang="0">
                    <a:pos x="38" y="8"/>
                  </a:cxn>
                  <a:cxn ang="0">
                    <a:pos x="34" y="4"/>
                  </a:cxn>
                  <a:cxn ang="0">
                    <a:pos x="30" y="1"/>
                  </a:cxn>
                  <a:cxn ang="0">
                    <a:pos x="26" y="0"/>
                  </a:cxn>
                  <a:cxn ang="0">
                    <a:pos x="21" y="0"/>
                  </a:cxn>
                  <a:cxn ang="0">
                    <a:pos x="17" y="1"/>
                  </a:cxn>
                  <a:cxn ang="0">
                    <a:pos x="13" y="4"/>
                  </a:cxn>
                  <a:cxn ang="0">
                    <a:pos x="9" y="8"/>
                  </a:cxn>
                  <a:cxn ang="0">
                    <a:pos x="6" y="14"/>
                  </a:cxn>
                  <a:cxn ang="0">
                    <a:pos x="3" y="20"/>
                  </a:cxn>
                  <a:cxn ang="0">
                    <a:pos x="1" y="27"/>
                  </a:cxn>
                  <a:cxn ang="0">
                    <a:pos x="0" y="35"/>
                  </a:cxn>
                  <a:cxn ang="0">
                    <a:pos x="0" y="43"/>
                  </a:cxn>
                  <a:cxn ang="0">
                    <a:pos x="1" y="51"/>
                  </a:cxn>
                  <a:cxn ang="0">
                    <a:pos x="2" y="58"/>
                  </a:cxn>
                  <a:cxn ang="0">
                    <a:pos x="4" y="65"/>
                  </a:cxn>
                  <a:cxn ang="0">
                    <a:pos x="7" y="71"/>
                  </a:cxn>
                  <a:cxn ang="0">
                    <a:pos x="11" y="75"/>
                  </a:cxn>
                  <a:cxn ang="0">
                    <a:pos x="15" y="79"/>
                  </a:cxn>
                  <a:cxn ang="0">
                    <a:pos x="19" y="81"/>
                  </a:cxn>
                  <a:cxn ang="0">
                    <a:pos x="24" y="82"/>
                  </a:cxn>
                </a:cxnLst>
                <a:rect l="0" t="0" r="r" b="b"/>
                <a:pathLst>
                  <a:path w="47" h="82">
                    <a:moveTo>
                      <a:pt x="24" y="82"/>
                    </a:moveTo>
                    <a:lnTo>
                      <a:pt x="28" y="81"/>
                    </a:lnTo>
                    <a:lnTo>
                      <a:pt x="32" y="79"/>
                    </a:lnTo>
                    <a:lnTo>
                      <a:pt x="36" y="75"/>
                    </a:lnTo>
                    <a:lnTo>
                      <a:pt x="40" y="71"/>
                    </a:lnTo>
                    <a:lnTo>
                      <a:pt x="43" y="65"/>
                    </a:lnTo>
                    <a:lnTo>
                      <a:pt x="45" y="58"/>
                    </a:lnTo>
                    <a:lnTo>
                      <a:pt x="47" y="51"/>
                    </a:lnTo>
                    <a:lnTo>
                      <a:pt x="47" y="43"/>
                    </a:lnTo>
                    <a:lnTo>
                      <a:pt x="47" y="35"/>
                    </a:lnTo>
                    <a:lnTo>
                      <a:pt x="46" y="27"/>
                    </a:lnTo>
                    <a:lnTo>
                      <a:pt x="44" y="20"/>
                    </a:lnTo>
                    <a:lnTo>
                      <a:pt x="41" y="14"/>
                    </a:lnTo>
                    <a:lnTo>
                      <a:pt x="38" y="8"/>
                    </a:lnTo>
                    <a:lnTo>
                      <a:pt x="34" y="4"/>
                    </a:lnTo>
                    <a:lnTo>
                      <a:pt x="30" y="1"/>
                    </a:lnTo>
                    <a:lnTo>
                      <a:pt x="26" y="0"/>
                    </a:lnTo>
                    <a:lnTo>
                      <a:pt x="21" y="0"/>
                    </a:lnTo>
                    <a:lnTo>
                      <a:pt x="17" y="1"/>
                    </a:lnTo>
                    <a:lnTo>
                      <a:pt x="13" y="4"/>
                    </a:lnTo>
                    <a:lnTo>
                      <a:pt x="9" y="8"/>
                    </a:lnTo>
                    <a:lnTo>
                      <a:pt x="6" y="14"/>
                    </a:lnTo>
                    <a:lnTo>
                      <a:pt x="3" y="20"/>
                    </a:lnTo>
                    <a:lnTo>
                      <a:pt x="1" y="27"/>
                    </a:lnTo>
                    <a:lnTo>
                      <a:pt x="0" y="35"/>
                    </a:lnTo>
                    <a:lnTo>
                      <a:pt x="0" y="43"/>
                    </a:lnTo>
                    <a:lnTo>
                      <a:pt x="1" y="51"/>
                    </a:lnTo>
                    <a:lnTo>
                      <a:pt x="2" y="58"/>
                    </a:lnTo>
                    <a:lnTo>
                      <a:pt x="4" y="65"/>
                    </a:lnTo>
                    <a:lnTo>
                      <a:pt x="7" y="71"/>
                    </a:lnTo>
                    <a:lnTo>
                      <a:pt x="11" y="75"/>
                    </a:lnTo>
                    <a:lnTo>
                      <a:pt x="15" y="79"/>
                    </a:lnTo>
                    <a:lnTo>
                      <a:pt x="19" y="81"/>
                    </a:lnTo>
                    <a:lnTo>
                      <a:pt x="24" y="82"/>
                    </a:lnTo>
                    <a:close/>
                  </a:path>
                </a:pathLst>
              </a:cu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Line 2702">
                <a:extLst>
                  <a:ext uri="{FF2B5EF4-FFF2-40B4-BE49-F238E27FC236}">
                    <a16:creationId xmlns:a16="http://schemas.microsoft.com/office/drawing/2014/main" id="{88552262-7390-4CF5-9D9C-2A07F1B1A3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0401" y="5884863"/>
                <a:ext cx="1588" cy="263525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16" name="组合 115">
                <a:extLst>
                  <a:ext uri="{FF2B5EF4-FFF2-40B4-BE49-F238E27FC236}">
                    <a16:creationId xmlns:a16="http://schemas.microsoft.com/office/drawing/2014/main" id="{D65D2E86-697E-4565-8583-C1FA629CDB9E}"/>
                  </a:ext>
                </a:extLst>
              </p:cNvPr>
              <p:cNvGrpSpPr/>
              <p:nvPr/>
            </p:nvGrpSpPr>
            <p:grpSpPr>
              <a:xfrm>
                <a:off x="1025526" y="5695950"/>
                <a:ext cx="3835400" cy="642937"/>
                <a:chOff x="1025526" y="5695950"/>
                <a:chExt cx="3835400" cy="642937"/>
              </a:xfrm>
            </p:grpSpPr>
            <p:sp>
              <p:nvSpPr>
                <p:cNvPr id="136" name="Freeform 2670">
                  <a:extLst>
                    <a:ext uri="{FF2B5EF4-FFF2-40B4-BE49-F238E27FC236}">
                      <a16:creationId xmlns:a16="http://schemas.microsoft.com/office/drawing/2014/main" id="{23DBE6C9-8BF1-4320-B643-33FC5F3312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6526" y="5695950"/>
                  <a:ext cx="53975" cy="53975"/>
                </a:xfrm>
                <a:custGeom>
                  <a:avLst/>
                  <a:gdLst/>
                  <a:ahLst/>
                  <a:cxnLst>
                    <a:cxn ang="0">
                      <a:pos x="34" y="0"/>
                    </a:cxn>
                    <a:cxn ang="0">
                      <a:pos x="26" y="1"/>
                    </a:cxn>
                    <a:cxn ang="0">
                      <a:pos x="19" y="3"/>
                    </a:cxn>
                    <a:cxn ang="0">
                      <a:pos x="13" y="7"/>
                    </a:cxn>
                    <a:cxn ang="0">
                      <a:pos x="7" y="13"/>
                    </a:cxn>
                    <a:cxn ang="0">
                      <a:pos x="4" y="19"/>
                    </a:cxn>
                    <a:cxn ang="0">
                      <a:pos x="1" y="26"/>
                    </a:cxn>
                    <a:cxn ang="0">
                      <a:pos x="0" y="34"/>
                    </a:cxn>
                  </a:cxnLst>
                  <a:rect l="0" t="0" r="r" b="b"/>
                  <a:pathLst>
                    <a:path w="34" h="34">
                      <a:moveTo>
                        <a:pt x="34" y="0"/>
                      </a:moveTo>
                      <a:lnTo>
                        <a:pt x="26" y="1"/>
                      </a:lnTo>
                      <a:lnTo>
                        <a:pt x="19" y="3"/>
                      </a:lnTo>
                      <a:lnTo>
                        <a:pt x="13" y="7"/>
                      </a:lnTo>
                      <a:lnTo>
                        <a:pt x="7" y="13"/>
                      </a:lnTo>
                      <a:lnTo>
                        <a:pt x="4" y="19"/>
                      </a:lnTo>
                      <a:lnTo>
                        <a:pt x="1" y="26"/>
                      </a:lnTo>
                      <a:lnTo>
                        <a:pt x="0" y="34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7" name="Freeform 2655">
                  <a:extLst>
                    <a:ext uri="{FF2B5EF4-FFF2-40B4-BE49-F238E27FC236}">
                      <a16:creationId xmlns:a16="http://schemas.microsoft.com/office/drawing/2014/main" id="{15A02769-2E17-405F-BBBD-E981BB448B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25526" y="6176963"/>
                  <a:ext cx="53975" cy="5238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7"/>
                    </a:cxn>
                    <a:cxn ang="0">
                      <a:pos x="4" y="14"/>
                    </a:cxn>
                    <a:cxn ang="0">
                      <a:pos x="8" y="21"/>
                    </a:cxn>
                    <a:cxn ang="0">
                      <a:pos x="13" y="26"/>
                    </a:cxn>
                    <a:cxn ang="0">
                      <a:pos x="19" y="30"/>
                    </a:cxn>
                    <a:cxn ang="0">
                      <a:pos x="26" y="32"/>
                    </a:cxn>
                    <a:cxn ang="0">
                      <a:pos x="34" y="33"/>
                    </a:cxn>
                  </a:cxnLst>
                  <a:rect l="0" t="0" r="r" b="b"/>
                  <a:pathLst>
                    <a:path w="34" h="33">
                      <a:moveTo>
                        <a:pt x="0" y="0"/>
                      </a:moveTo>
                      <a:lnTo>
                        <a:pt x="1" y="7"/>
                      </a:lnTo>
                      <a:lnTo>
                        <a:pt x="4" y="14"/>
                      </a:lnTo>
                      <a:lnTo>
                        <a:pt x="8" y="21"/>
                      </a:lnTo>
                      <a:lnTo>
                        <a:pt x="13" y="26"/>
                      </a:lnTo>
                      <a:lnTo>
                        <a:pt x="19" y="30"/>
                      </a:lnTo>
                      <a:lnTo>
                        <a:pt x="26" y="32"/>
                      </a:lnTo>
                      <a:lnTo>
                        <a:pt x="34" y="33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8" name="Freeform 2660">
                  <a:extLst>
                    <a:ext uri="{FF2B5EF4-FFF2-40B4-BE49-F238E27FC236}">
                      <a16:creationId xmlns:a16="http://schemas.microsoft.com/office/drawing/2014/main" id="{944E3359-C375-4EA6-9FD2-1C5C4E10FC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98588" y="6176963"/>
                  <a:ext cx="53975" cy="52387"/>
                </a:xfrm>
                <a:custGeom>
                  <a:avLst/>
                  <a:gdLst/>
                  <a:ahLst/>
                  <a:cxnLst>
                    <a:cxn ang="0">
                      <a:pos x="0" y="33"/>
                    </a:cxn>
                    <a:cxn ang="0">
                      <a:pos x="7" y="32"/>
                    </a:cxn>
                    <a:cxn ang="0">
                      <a:pos x="15" y="30"/>
                    </a:cxn>
                    <a:cxn ang="0">
                      <a:pos x="21" y="26"/>
                    </a:cxn>
                    <a:cxn ang="0">
                      <a:pos x="26" y="21"/>
                    </a:cxn>
                    <a:cxn ang="0">
                      <a:pos x="30" y="14"/>
                    </a:cxn>
                    <a:cxn ang="0">
                      <a:pos x="33" y="7"/>
                    </a:cxn>
                    <a:cxn ang="0">
                      <a:pos x="34" y="0"/>
                    </a:cxn>
                  </a:cxnLst>
                  <a:rect l="0" t="0" r="r" b="b"/>
                  <a:pathLst>
                    <a:path w="34" h="33">
                      <a:moveTo>
                        <a:pt x="0" y="33"/>
                      </a:moveTo>
                      <a:lnTo>
                        <a:pt x="7" y="32"/>
                      </a:lnTo>
                      <a:lnTo>
                        <a:pt x="15" y="30"/>
                      </a:lnTo>
                      <a:lnTo>
                        <a:pt x="21" y="26"/>
                      </a:lnTo>
                      <a:lnTo>
                        <a:pt x="26" y="21"/>
                      </a:lnTo>
                      <a:lnTo>
                        <a:pt x="30" y="14"/>
                      </a:lnTo>
                      <a:lnTo>
                        <a:pt x="33" y="7"/>
                      </a:lnTo>
                      <a:lnTo>
                        <a:pt x="34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9" name="Line 2661">
                  <a:extLst>
                    <a:ext uri="{FF2B5EF4-FFF2-40B4-BE49-F238E27FC236}">
                      <a16:creationId xmlns:a16="http://schemas.microsoft.com/office/drawing/2014/main" id="{F756F125-BDA2-4810-A80B-37FE934981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52563" y="6122988"/>
                  <a:ext cx="1588" cy="53975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0" name="Freeform 2663">
                  <a:extLst>
                    <a:ext uri="{FF2B5EF4-FFF2-40B4-BE49-F238E27FC236}">
                      <a16:creationId xmlns:a16="http://schemas.microsoft.com/office/drawing/2014/main" id="{A9363047-8EE4-4CBB-81EF-D791180C35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98588" y="5802313"/>
                  <a:ext cx="52388" cy="80962"/>
                </a:xfrm>
                <a:custGeom>
                  <a:avLst/>
                  <a:gdLst/>
                  <a:ahLst/>
                  <a:cxnLst>
                    <a:cxn ang="0">
                      <a:pos x="29" y="51"/>
                    </a:cxn>
                    <a:cxn ang="0">
                      <a:pos x="32" y="44"/>
                    </a:cxn>
                    <a:cxn ang="0">
                      <a:pos x="33" y="36"/>
                    </a:cxn>
                    <a:cxn ang="0">
                      <a:pos x="33" y="28"/>
                    </a:cxn>
                    <a:cxn ang="0">
                      <a:pos x="31" y="21"/>
                    </a:cxn>
                    <a:cxn ang="0">
                      <a:pos x="27" y="14"/>
                    </a:cxn>
                    <a:cxn ang="0">
                      <a:pos x="22" y="8"/>
                    </a:cxn>
                    <a:cxn ang="0">
                      <a:pos x="15" y="4"/>
                    </a:cxn>
                    <a:cxn ang="0">
                      <a:pos x="8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3" h="51">
                      <a:moveTo>
                        <a:pt x="29" y="51"/>
                      </a:moveTo>
                      <a:lnTo>
                        <a:pt x="32" y="44"/>
                      </a:lnTo>
                      <a:lnTo>
                        <a:pt x="33" y="36"/>
                      </a:lnTo>
                      <a:lnTo>
                        <a:pt x="33" y="28"/>
                      </a:lnTo>
                      <a:lnTo>
                        <a:pt x="31" y="21"/>
                      </a:lnTo>
                      <a:lnTo>
                        <a:pt x="27" y="14"/>
                      </a:lnTo>
                      <a:lnTo>
                        <a:pt x="22" y="8"/>
                      </a:lnTo>
                      <a:lnTo>
                        <a:pt x="15" y="4"/>
                      </a:lnTo>
                      <a:lnTo>
                        <a:pt x="8" y="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41" name="组合 140">
                  <a:extLst>
                    <a:ext uri="{FF2B5EF4-FFF2-40B4-BE49-F238E27FC236}">
                      <a16:creationId xmlns:a16="http://schemas.microsoft.com/office/drawing/2014/main" id="{38FAC42D-C0E7-4277-849C-514B94BE86D5}"/>
                    </a:ext>
                  </a:extLst>
                </p:cNvPr>
                <p:cNvGrpSpPr/>
                <p:nvPr/>
              </p:nvGrpSpPr>
              <p:grpSpPr>
                <a:xfrm>
                  <a:off x="1025526" y="5695950"/>
                  <a:ext cx="3835400" cy="642937"/>
                  <a:chOff x="1025526" y="5695950"/>
                  <a:chExt cx="3835400" cy="642937"/>
                </a:xfrm>
              </p:grpSpPr>
              <p:sp>
                <p:nvSpPr>
                  <p:cNvPr id="142" name="Line 2651">
                    <a:extLst>
                      <a:ext uri="{FF2B5EF4-FFF2-40B4-BE49-F238E27FC236}">
                        <a16:creationId xmlns:a16="http://schemas.microsoft.com/office/drawing/2014/main" id="{694B7E59-3458-4F40-9F4D-EDA90A063DB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79501" y="5802313"/>
                    <a:ext cx="319088" cy="1587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" name="Line 2652">
                    <a:extLst>
                      <a:ext uri="{FF2B5EF4-FFF2-40B4-BE49-F238E27FC236}">
                        <a16:creationId xmlns:a16="http://schemas.microsoft.com/office/drawing/2014/main" id="{A8EF56B6-F11E-4DFA-B676-3E706B8ED03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79501" y="6229350"/>
                    <a:ext cx="319088" cy="1587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" name="Line 2653">
                    <a:extLst>
                      <a:ext uri="{FF2B5EF4-FFF2-40B4-BE49-F238E27FC236}">
                        <a16:creationId xmlns:a16="http://schemas.microsoft.com/office/drawing/2014/main" id="{F121ADAB-383E-4231-A4FF-39B072707E3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31888" y="5802313"/>
                    <a:ext cx="1588" cy="427037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5" name="Freeform 2656">
                    <a:extLst>
                      <a:ext uri="{FF2B5EF4-FFF2-40B4-BE49-F238E27FC236}">
                        <a16:creationId xmlns:a16="http://schemas.microsoft.com/office/drawing/2014/main" id="{8A6D880A-393B-4426-8383-B4785C7FC7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5526" y="5802313"/>
                    <a:ext cx="53975" cy="53975"/>
                  </a:xfrm>
                  <a:custGeom>
                    <a:avLst/>
                    <a:gdLst/>
                    <a:ahLst/>
                    <a:cxnLst>
                      <a:cxn ang="0">
                        <a:pos x="34" y="0"/>
                      </a:cxn>
                      <a:cxn ang="0">
                        <a:pos x="26" y="1"/>
                      </a:cxn>
                      <a:cxn ang="0">
                        <a:pos x="19" y="4"/>
                      </a:cxn>
                      <a:cxn ang="0">
                        <a:pos x="13" y="8"/>
                      </a:cxn>
                      <a:cxn ang="0">
                        <a:pos x="8" y="13"/>
                      </a:cxn>
                      <a:cxn ang="0">
                        <a:pos x="4" y="19"/>
                      </a:cxn>
                      <a:cxn ang="0">
                        <a:pos x="1" y="26"/>
                      </a:cxn>
                      <a:cxn ang="0">
                        <a:pos x="0" y="34"/>
                      </a:cxn>
                    </a:cxnLst>
                    <a:rect l="0" t="0" r="r" b="b"/>
                    <a:pathLst>
                      <a:path w="34" h="34">
                        <a:moveTo>
                          <a:pt x="34" y="0"/>
                        </a:moveTo>
                        <a:lnTo>
                          <a:pt x="26" y="1"/>
                        </a:lnTo>
                        <a:lnTo>
                          <a:pt x="19" y="4"/>
                        </a:lnTo>
                        <a:lnTo>
                          <a:pt x="13" y="8"/>
                        </a:lnTo>
                        <a:lnTo>
                          <a:pt x="8" y="13"/>
                        </a:lnTo>
                        <a:lnTo>
                          <a:pt x="4" y="19"/>
                        </a:lnTo>
                        <a:lnTo>
                          <a:pt x="1" y="26"/>
                        </a:lnTo>
                        <a:lnTo>
                          <a:pt x="0" y="34"/>
                        </a:lnTo>
                      </a:path>
                    </a:pathLst>
                  </a:custGeom>
                  <a:noFill/>
                  <a:ln w="254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" name="Line 2658">
                    <a:extLst>
                      <a:ext uri="{FF2B5EF4-FFF2-40B4-BE49-F238E27FC236}">
                        <a16:creationId xmlns:a16="http://schemas.microsoft.com/office/drawing/2014/main" id="{66AC2A90-E3C3-4372-8523-FCE78C9BA4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46201" y="5802313"/>
                    <a:ext cx="1588" cy="427037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" name="Freeform 2659">
                    <a:extLst>
                      <a:ext uri="{FF2B5EF4-FFF2-40B4-BE49-F238E27FC236}">
                        <a16:creationId xmlns:a16="http://schemas.microsoft.com/office/drawing/2014/main" id="{3329FED8-87B9-4F71-9497-485BF56FF1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52563" y="6069013"/>
                    <a:ext cx="52388" cy="53975"/>
                  </a:xfrm>
                  <a:custGeom>
                    <a:avLst/>
                    <a:gdLst/>
                    <a:ahLst/>
                    <a:cxnLst>
                      <a:cxn ang="0">
                        <a:pos x="33" y="0"/>
                      </a:cxn>
                      <a:cxn ang="0">
                        <a:pos x="26" y="1"/>
                      </a:cxn>
                      <a:cxn ang="0">
                        <a:pos x="19" y="4"/>
                      </a:cxn>
                      <a:cxn ang="0">
                        <a:pos x="12" y="8"/>
                      </a:cxn>
                      <a:cxn ang="0">
                        <a:pos x="7" y="13"/>
                      </a:cxn>
                      <a:cxn ang="0">
                        <a:pos x="3" y="19"/>
                      </a:cxn>
                      <a:cxn ang="0">
                        <a:pos x="1" y="27"/>
                      </a:cxn>
                      <a:cxn ang="0">
                        <a:pos x="0" y="34"/>
                      </a:cxn>
                    </a:cxnLst>
                    <a:rect l="0" t="0" r="r" b="b"/>
                    <a:pathLst>
                      <a:path w="33" h="34">
                        <a:moveTo>
                          <a:pt x="33" y="0"/>
                        </a:moveTo>
                        <a:lnTo>
                          <a:pt x="26" y="1"/>
                        </a:lnTo>
                        <a:lnTo>
                          <a:pt x="19" y="4"/>
                        </a:lnTo>
                        <a:lnTo>
                          <a:pt x="12" y="8"/>
                        </a:lnTo>
                        <a:lnTo>
                          <a:pt x="7" y="13"/>
                        </a:lnTo>
                        <a:lnTo>
                          <a:pt x="3" y="19"/>
                        </a:lnTo>
                        <a:lnTo>
                          <a:pt x="1" y="27"/>
                        </a:lnTo>
                        <a:lnTo>
                          <a:pt x="0" y="34"/>
                        </a:lnTo>
                      </a:path>
                    </a:pathLst>
                  </a:custGeom>
                  <a:noFill/>
                  <a:ln w="254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" name="Freeform 2662">
                    <a:extLst>
                      <a:ext uri="{FF2B5EF4-FFF2-40B4-BE49-F238E27FC236}">
                        <a16:creationId xmlns:a16="http://schemas.microsoft.com/office/drawing/2014/main" id="{5BE64666-336B-408A-B1F3-AF5E4395993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38276" y="5883275"/>
                    <a:ext cx="52388" cy="79375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1" y="7"/>
                      </a:cxn>
                      <a:cxn ang="0">
                        <a:pos x="0" y="15"/>
                      </a:cxn>
                      <a:cxn ang="0">
                        <a:pos x="0" y="22"/>
                      </a:cxn>
                      <a:cxn ang="0">
                        <a:pos x="2" y="30"/>
                      </a:cxn>
                      <a:cxn ang="0">
                        <a:pos x="6" y="37"/>
                      </a:cxn>
                      <a:cxn ang="0">
                        <a:pos x="12" y="42"/>
                      </a:cxn>
                      <a:cxn ang="0">
                        <a:pos x="18" y="47"/>
                      </a:cxn>
                      <a:cxn ang="0">
                        <a:pos x="25" y="49"/>
                      </a:cxn>
                      <a:cxn ang="0">
                        <a:pos x="33" y="50"/>
                      </a:cxn>
                    </a:cxnLst>
                    <a:rect l="0" t="0" r="r" b="b"/>
                    <a:pathLst>
                      <a:path w="33" h="50">
                        <a:moveTo>
                          <a:pt x="4" y="0"/>
                        </a:moveTo>
                        <a:lnTo>
                          <a:pt x="1" y="7"/>
                        </a:lnTo>
                        <a:lnTo>
                          <a:pt x="0" y="15"/>
                        </a:lnTo>
                        <a:lnTo>
                          <a:pt x="0" y="22"/>
                        </a:lnTo>
                        <a:lnTo>
                          <a:pt x="2" y="30"/>
                        </a:lnTo>
                        <a:lnTo>
                          <a:pt x="6" y="37"/>
                        </a:lnTo>
                        <a:lnTo>
                          <a:pt x="12" y="42"/>
                        </a:lnTo>
                        <a:lnTo>
                          <a:pt x="18" y="47"/>
                        </a:lnTo>
                        <a:lnTo>
                          <a:pt x="25" y="49"/>
                        </a:lnTo>
                        <a:lnTo>
                          <a:pt x="33" y="50"/>
                        </a:lnTo>
                      </a:path>
                    </a:pathLst>
                  </a:custGeom>
                  <a:noFill/>
                  <a:ln w="254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49" name="组合 148">
                    <a:extLst>
                      <a:ext uri="{FF2B5EF4-FFF2-40B4-BE49-F238E27FC236}">
                        <a16:creationId xmlns:a16="http://schemas.microsoft.com/office/drawing/2014/main" id="{F44AA0B6-24AF-44F7-B61E-100874F14DE4}"/>
                      </a:ext>
                    </a:extLst>
                  </p:cNvPr>
                  <p:cNvGrpSpPr/>
                  <p:nvPr/>
                </p:nvGrpSpPr>
                <p:grpSpPr>
                  <a:xfrm>
                    <a:off x="1025526" y="5695950"/>
                    <a:ext cx="3835400" cy="642937"/>
                    <a:chOff x="1025526" y="5695950"/>
                    <a:chExt cx="3835400" cy="642937"/>
                  </a:xfrm>
                </p:grpSpPr>
                <p:sp>
                  <p:nvSpPr>
                    <p:cNvPr id="150" name="Line 2666">
                      <a:extLst>
                        <a:ext uri="{FF2B5EF4-FFF2-40B4-BE49-F238E27FC236}">
                          <a16:creationId xmlns:a16="http://schemas.microsoft.com/office/drawing/2014/main" id="{662E8171-7E88-40EB-99EA-FCE15E54B8F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36863" y="5695950"/>
                      <a:ext cx="1588" cy="64135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1" name="Freeform 2667">
                      <a:extLst>
                        <a:ext uri="{FF2B5EF4-FFF2-40B4-BE49-F238E27FC236}">
                          <a16:creationId xmlns:a16="http://schemas.microsoft.com/office/drawing/2014/main" id="{CE4FBE58-30F9-4B64-B532-9BF8D67A386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76526" y="6283325"/>
                      <a:ext cx="53975" cy="539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" y="7"/>
                        </a:cxn>
                        <a:cxn ang="0">
                          <a:pos x="4" y="15"/>
                        </a:cxn>
                        <a:cxn ang="0">
                          <a:pos x="7" y="21"/>
                        </a:cxn>
                        <a:cxn ang="0">
                          <a:pos x="13" y="26"/>
                        </a:cxn>
                        <a:cxn ang="0">
                          <a:pos x="19" y="30"/>
                        </a:cxn>
                        <a:cxn ang="0">
                          <a:pos x="26" y="33"/>
                        </a:cxn>
                        <a:cxn ang="0">
                          <a:pos x="34" y="34"/>
                        </a:cxn>
                      </a:cxnLst>
                      <a:rect l="0" t="0" r="r" b="b"/>
                      <a:pathLst>
                        <a:path w="34" h="34">
                          <a:moveTo>
                            <a:pt x="0" y="0"/>
                          </a:moveTo>
                          <a:lnTo>
                            <a:pt x="1" y="7"/>
                          </a:lnTo>
                          <a:lnTo>
                            <a:pt x="4" y="15"/>
                          </a:lnTo>
                          <a:lnTo>
                            <a:pt x="7" y="21"/>
                          </a:lnTo>
                          <a:lnTo>
                            <a:pt x="13" y="26"/>
                          </a:lnTo>
                          <a:lnTo>
                            <a:pt x="19" y="30"/>
                          </a:lnTo>
                          <a:lnTo>
                            <a:pt x="26" y="33"/>
                          </a:lnTo>
                          <a:lnTo>
                            <a:pt x="34" y="34"/>
                          </a:lnTo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2" name="Line 2668">
                      <a:extLst>
                        <a:ext uri="{FF2B5EF4-FFF2-40B4-BE49-F238E27FC236}">
                          <a16:creationId xmlns:a16="http://schemas.microsoft.com/office/drawing/2014/main" id="{5DE83E45-FFD5-4700-AFA2-2261E7BDEBC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76526" y="6122988"/>
                      <a:ext cx="1588" cy="160337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3" name="Line 2701">
                      <a:extLst>
                        <a:ext uri="{FF2B5EF4-FFF2-40B4-BE49-F238E27FC236}">
                          <a16:creationId xmlns:a16="http://schemas.microsoft.com/office/drawing/2014/main" id="{3DC14DC9-BDF3-44DB-B389-460B534E17B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2313" y="5695950"/>
                      <a:ext cx="1588" cy="64135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" name="Line 2708">
                      <a:extLst>
                        <a:ext uri="{FF2B5EF4-FFF2-40B4-BE49-F238E27FC236}">
                          <a16:creationId xmlns:a16="http://schemas.microsoft.com/office/drawing/2014/main" id="{BD91AEAE-F267-4B82-A925-1177BCA1508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22651" y="6122988"/>
                      <a:ext cx="1588" cy="160337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5" name="Freeform 2713">
                      <a:extLst>
                        <a:ext uri="{FF2B5EF4-FFF2-40B4-BE49-F238E27FC236}">
                          <a16:creationId xmlns:a16="http://schemas.microsoft.com/office/drawing/2014/main" id="{D1C9B17C-9DCC-4D61-94E4-1D8A932EC97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368676" y="5695950"/>
                      <a:ext cx="53975" cy="53975"/>
                    </a:xfrm>
                    <a:custGeom>
                      <a:avLst/>
                      <a:gdLst/>
                      <a:ahLst/>
                      <a:cxnLst>
                        <a:cxn ang="0">
                          <a:pos x="34" y="34"/>
                        </a:cxn>
                        <a:cxn ang="0">
                          <a:pos x="33" y="26"/>
                        </a:cxn>
                        <a:cxn ang="0">
                          <a:pos x="30" y="19"/>
                        </a:cxn>
                        <a:cxn ang="0">
                          <a:pos x="26" y="13"/>
                        </a:cxn>
                        <a:cxn ang="0">
                          <a:pos x="21" y="7"/>
                        </a:cxn>
                        <a:cxn ang="0">
                          <a:pos x="15" y="3"/>
                        </a:cxn>
                        <a:cxn ang="0">
                          <a:pos x="8" y="1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34" h="34">
                          <a:moveTo>
                            <a:pt x="34" y="34"/>
                          </a:moveTo>
                          <a:lnTo>
                            <a:pt x="33" y="26"/>
                          </a:lnTo>
                          <a:lnTo>
                            <a:pt x="30" y="19"/>
                          </a:lnTo>
                          <a:lnTo>
                            <a:pt x="26" y="13"/>
                          </a:lnTo>
                          <a:lnTo>
                            <a:pt x="21" y="7"/>
                          </a:lnTo>
                          <a:lnTo>
                            <a:pt x="15" y="3"/>
                          </a:lnTo>
                          <a:lnTo>
                            <a:pt x="8" y="1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6" name="Line 2640">
                      <a:extLst>
                        <a:ext uri="{FF2B5EF4-FFF2-40B4-BE49-F238E27FC236}">
                          <a16:creationId xmlns:a16="http://schemas.microsoft.com/office/drawing/2014/main" id="{71CC9A94-CDC6-47F6-A1AD-E39DADF5D80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30501" y="6337300"/>
                      <a:ext cx="638175" cy="1587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7" name="Line 2641">
                      <a:extLst>
                        <a:ext uri="{FF2B5EF4-FFF2-40B4-BE49-F238E27FC236}">
                          <a16:creationId xmlns:a16="http://schemas.microsoft.com/office/drawing/2014/main" id="{7059F935-E4FE-405C-8A80-696F8028769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30501" y="5695950"/>
                      <a:ext cx="638175" cy="1587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8" name="Line 2647">
                      <a:extLst>
                        <a:ext uri="{FF2B5EF4-FFF2-40B4-BE49-F238E27FC236}">
                          <a16:creationId xmlns:a16="http://schemas.microsoft.com/office/drawing/2014/main" id="{F6343E25-1E24-4118-AE59-D5BEF7EBA42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52563" y="6176963"/>
                      <a:ext cx="1223963" cy="106362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9" name="Line 2648">
                      <a:extLst>
                        <a:ext uri="{FF2B5EF4-FFF2-40B4-BE49-F238E27FC236}">
                          <a16:creationId xmlns:a16="http://schemas.microsoft.com/office/drawing/2014/main" id="{6A47CACC-D5E1-4931-9056-B374F8019A1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452563" y="5749925"/>
                      <a:ext cx="1223963" cy="106362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0" name="Line 2649">
                      <a:extLst>
                        <a:ext uri="{FF2B5EF4-FFF2-40B4-BE49-F238E27FC236}">
                          <a16:creationId xmlns:a16="http://schemas.microsoft.com/office/drawing/2014/main" id="{A7BF45F5-4D45-4DCD-92A1-20B12F80869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04951" y="6069013"/>
                      <a:ext cx="1119188" cy="1587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1" name="Line 2650">
                      <a:extLst>
                        <a:ext uri="{FF2B5EF4-FFF2-40B4-BE49-F238E27FC236}">
                          <a16:creationId xmlns:a16="http://schemas.microsoft.com/office/drawing/2014/main" id="{C0CD17B0-B6A9-4DAA-A832-774D21462CE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90663" y="5962650"/>
                      <a:ext cx="1133475" cy="1587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2" name="Line 2654">
                      <a:extLst>
                        <a:ext uri="{FF2B5EF4-FFF2-40B4-BE49-F238E27FC236}">
                          <a16:creationId xmlns:a16="http://schemas.microsoft.com/office/drawing/2014/main" id="{F7559881-32D1-43CE-BD43-4A0E38D50BF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5526" y="5856288"/>
                      <a:ext cx="1588" cy="320675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3" name="Freeform 2669">
                      <a:extLst>
                        <a:ext uri="{FF2B5EF4-FFF2-40B4-BE49-F238E27FC236}">
                          <a16:creationId xmlns:a16="http://schemas.microsoft.com/office/drawing/2014/main" id="{8EB336A0-2BB7-482B-A0A0-50CE676D570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24138" y="6069013"/>
                      <a:ext cx="52388" cy="53975"/>
                    </a:xfrm>
                    <a:custGeom>
                      <a:avLst/>
                      <a:gdLst/>
                      <a:ahLst/>
                      <a:cxnLst>
                        <a:cxn ang="0">
                          <a:pos x="33" y="34"/>
                        </a:cxn>
                        <a:cxn ang="0">
                          <a:pos x="32" y="27"/>
                        </a:cxn>
                        <a:cxn ang="0">
                          <a:pos x="30" y="19"/>
                        </a:cxn>
                        <a:cxn ang="0">
                          <a:pos x="26" y="13"/>
                        </a:cxn>
                        <a:cxn ang="0">
                          <a:pos x="20" y="8"/>
                        </a:cxn>
                        <a:cxn ang="0">
                          <a:pos x="14" y="4"/>
                        </a:cxn>
                        <a:cxn ang="0">
                          <a:pos x="7" y="1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33" h="34">
                          <a:moveTo>
                            <a:pt x="33" y="34"/>
                          </a:moveTo>
                          <a:lnTo>
                            <a:pt x="32" y="27"/>
                          </a:lnTo>
                          <a:lnTo>
                            <a:pt x="30" y="19"/>
                          </a:lnTo>
                          <a:lnTo>
                            <a:pt x="26" y="13"/>
                          </a:lnTo>
                          <a:lnTo>
                            <a:pt x="20" y="8"/>
                          </a:lnTo>
                          <a:lnTo>
                            <a:pt x="14" y="4"/>
                          </a:lnTo>
                          <a:lnTo>
                            <a:pt x="7" y="1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4" name="Line 2671">
                      <a:extLst>
                        <a:ext uri="{FF2B5EF4-FFF2-40B4-BE49-F238E27FC236}">
                          <a16:creationId xmlns:a16="http://schemas.microsoft.com/office/drawing/2014/main" id="{EF822D8A-F73A-414F-8604-BBD29F92E46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76526" y="5749925"/>
                      <a:ext cx="1588" cy="160337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5" name="Freeform 2672">
                      <a:extLst>
                        <a:ext uri="{FF2B5EF4-FFF2-40B4-BE49-F238E27FC236}">
                          <a16:creationId xmlns:a16="http://schemas.microsoft.com/office/drawing/2014/main" id="{78ED2293-6D7C-485B-B4C5-49C8DC70F1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24138" y="5910263"/>
                      <a:ext cx="52388" cy="523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3"/>
                        </a:cxn>
                        <a:cxn ang="0">
                          <a:pos x="7" y="32"/>
                        </a:cxn>
                        <a:cxn ang="0">
                          <a:pos x="14" y="30"/>
                        </a:cxn>
                        <a:cxn ang="0">
                          <a:pos x="20" y="26"/>
                        </a:cxn>
                        <a:cxn ang="0">
                          <a:pos x="26" y="20"/>
                        </a:cxn>
                        <a:cxn ang="0">
                          <a:pos x="30" y="14"/>
                        </a:cxn>
                        <a:cxn ang="0">
                          <a:pos x="32" y="7"/>
                        </a:cxn>
                        <a:cxn ang="0">
                          <a:pos x="33" y="0"/>
                        </a:cxn>
                      </a:cxnLst>
                      <a:rect l="0" t="0" r="r" b="b"/>
                      <a:pathLst>
                        <a:path w="33" h="33">
                          <a:moveTo>
                            <a:pt x="0" y="33"/>
                          </a:moveTo>
                          <a:lnTo>
                            <a:pt x="7" y="32"/>
                          </a:lnTo>
                          <a:lnTo>
                            <a:pt x="14" y="30"/>
                          </a:lnTo>
                          <a:lnTo>
                            <a:pt x="20" y="26"/>
                          </a:lnTo>
                          <a:lnTo>
                            <a:pt x="26" y="20"/>
                          </a:lnTo>
                          <a:lnTo>
                            <a:pt x="30" y="14"/>
                          </a:lnTo>
                          <a:lnTo>
                            <a:pt x="32" y="7"/>
                          </a:lnTo>
                          <a:lnTo>
                            <a:pt x="33" y="0"/>
                          </a:lnTo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166" name="组合 165">
                      <a:extLst>
                        <a:ext uri="{FF2B5EF4-FFF2-40B4-BE49-F238E27FC236}">
                          <a16:creationId xmlns:a16="http://schemas.microsoft.com/office/drawing/2014/main" id="{CD060BCA-2ADE-438A-AC7E-FA9F2E75F6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68676" y="5749925"/>
                      <a:ext cx="1492250" cy="587375"/>
                      <a:chOff x="3368676" y="5749925"/>
                      <a:chExt cx="1492250" cy="587375"/>
                    </a:xfrm>
                  </p:grpSpPr>
                  <p:sp>
                    <p:nvSpPr>
                      <p:cNvPr id="167" name="Line 2697">
                        <a:extLst>
                          <a:ext uri="{FF2B5EF4-FFF2-40B4-BE49-F238E27FC236}">
                            <a16:creationId xmlns:a16="http://schemas.microsoft.com/office/drawing/2014/main" id="{C7B79ACA-122B-48F7-82A3-08A60CA24CC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422651" y="6176963"/>
                        <a:ext cx="1011238" cy="106362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68" name="Line 2698">
                        <a:extLst>
                          <a:ext uri="{FF2B5EF4-FFF2-40B4-BE49-F238E27FC236}">
                            <a16:creationId xmlns:a16="http://schemas.microsoft.com/office/drawing/2014/main" id="{17C6A188-EB40-4868-B35B-48FA801042C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22651" y="5749925"/>
                        <a:ext cx="1011238" cy="106362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69" name="Freeform 2709">
                        <a:extLst>
                          <a:ext uri="{FF2B5EF4-FFF2-40B4-BE49-F238E27FC236}">
                            <a16:creationId xmlns:a16="http://schemas.microsoft.com/office/drawing/2014/main" id="{139F6B8D-569A-4B2C-9355-8BABAF06478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8676" y="6283325"/>
                        <a:ext cx="53975" cy="5397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34"/>
                          </a:cxn>
                          <a:cxn ang="0">
                            <a:pos x="8" y="33"/>
                          </a:cxn>
                          <a:cxn ang="0">
                            <a:pos x="15" y="30"/>
                          </a:cxn>
                          <a:cxn ang="0">
                            <a:pos x="21" y="26"/>
                          </a:cxn>
                          <a:cxn ang="0">
                            <a:pos x="26" y="21"/>
                          </a:cxn>
                          <a:cxn ang="0">
                            <a:pos x="30" y="15"/>
                          </a:cxn>
                          <a:cxn ang="0">
                            <a:pos x="33" y="7"/>
                          </a:cxn>
                          <a:cxn ang="0">
                            <a:pos x="34" y="0"/>
                          </a:cxn>
                        </a:cxnLst>
                        <a:rect l="0" t="0" r="r" b="b"/>
                        <a:pathLst>
                          <a:path w="34" h="34">
                            <a:moveTo>
                              <a:pt x="0" y="34"/>
                            </a:moveTo>
                            <a:lnTo>
                              <a:pt x="8" y="33"/>
                            </a:lnTo>
                            <a:lnTo>
                              <a:pt x="15" y="30"/>
                            </a:lnTo>
                            <a:lnTo>
                              <a:pt x="21" y="26"/>
                            </a:lnTo>
                            <a:lnTo>
                              <a:pt x="26" y="21"/>
                            </a:lnTo>
                            <a:lnTo>
                              <a:pt x="30" y="15"/>
                            </a:lnTo>
                            <a:lnTo>
                              <a:pt x="33" y="7"/>
                            </a:lnTo>
                            <a:lnTo>
                              <a:pt x="34" y="0"/>
                            </a:lnTo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0" name="Line 2699">
                        <a:extLst>
                          <a:ext uri="{FF2B5EF4-FFF2-40B4-BE49-F238E27FC236}">
                            <a16:creationId xmlns:a16="http://schemas.microsoft.com/office/drawing/2014/main" id="{1DD84476-AC8E-4DDA-A21D-F0AF48EB04C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75038" y="6069013"/>
                        <a:ext cx="920750" cy="1587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1" name="Line 2700">
                        <a:extLst>
                          <a:ext uri="{FF2B5EF4-FFF2-40B4-BE49-F238E27FC236}">
                            <a16:creationId xmlns:a16="http://schemas.microsoft.com/office/drawing/2014/main" id="{A6BA421F-00E3-4FE3-BC22-00FA71837D4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75038" y="5962650"/>
                        <a:ext cx="906463" cy="1587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2" name="Freeform 2710">
                        <a:extLst>
                          <a:ext uri="{FF2B5EF4-FFF2-40B4-BE49-F238E27FC236}">
                            <a16:creationId xmlns:a16="http://schemas.microsoft.com/office/drawing/2014/main" id="{8311C7AA-53B9-439D-9098-9E770248867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22651" y="6069013"/>
                        <a:ext cx="52388" cy="5397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3" y="0"/>
                          </a:cxn>
                          <a:cxn ang="0">
                            <a:pos x="26" y="1"/>
                          </a:cxn>
                          <a:cxn ang="0">
                            <a:pos x="19" y="4"/>
                          </a:cxn>
                          <a:cxn ang="0">
                            <a:pos x="12" y="8"/>
                          </a:cxn>
                          <a:cxn ang="0">
                            <a:pos x="7" y="13"/>
                          </a:cxn>
                          <a:cxn ang="0">
                            <a:pos x="3" y="19"/>
                          </a:cxn>
                          <a:cxn ang="0">
                            <a:pos x="1" y="27"/>
                          </a:cxn>
                          <a:cxn ang="0">
                            <a:pos x="0" y="34"/>
                          </a:cxn>
                        </a:cxnLst>
                        <a:rect l="0" t="0" r="r" b="b"/>
                        <a:pathLst>
                          <a:path w="33" h="34">
                            <a:moveTo>
                              <a:pt x="33" y="0"/>
                            </a:moveTo>
                            <a:lnTo>
                              <a:pt x="26" y="1"/>
                            </a:lnTo>
                            <a:lnTo>
                              <a:pt x="19" y="4"/>
                            </a:lnTo>
                            <a:lnTo>
                              <a:pt x="12" y="8"/>
                            </a:lnTo>
                            <a:lnTo>
                              <a:pt x="7" y="13"/>
                            </a:lnTo>
                            <a:lnTo>
                              <a:pt x="3" y="19"/>
                            </a:lnTo>
                            <a:lnTo>
                              <a:pt x="1" y="27"/>
                            </a:lnTo>
                            <a:lnTo>
                              <a:pt x="0" y="34"/>
                            </a:lnTo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3" name="Line 2711">
                        <a:extLst>
                          <a:ext uri="{FF2B5EF4-FFF2-40B4-BE49-F238E27FC236}">
                            <a16:creationId xmlns:a16="http://schemas.microsoft.com/office/drawing/2014/main" id="{D017DEB1-252B-486E-9C8B-6295A07FFBE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22651" y="5749925"/>
                        <a:ext cx="1588" cy="160337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4" name="Freeform 2712">
                        <a:extLst>
                          <a:ext uri="{FF2B5EF4-FFF2-40B4-BE49-F238E27FC236}">
                            <a16:creationId xmlns:a16="http://schemas.microsoft.com/office/drawing/2014/main" id="{B1D41B94-019C-4231-B76B-0124F721AF2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22651" y="5910263"/>
                        <a:ext cx="52388" cy="5238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1" y="7"/>
                          </a:cxn>
                          <a:cxn ang="0">
                            <a:pos x="3" y="14"/>
                          </a:cxn>
                          <a:cxn ang="0">
                            <a:pos x="7" y="20"/>
                          </a:cxn>
                          <a:cxn ang="0">
                            <a:pos x="12" y="26"/>
                          </a:cxn>
                          <a:cxn ang="0">
                            <a:pos x="19" y="30"/>
                          </a:cxn>
                          <a:cxn ang="0">
                            <a:pos x="26" y="32"/>
                          </a:cxn>
                          <a:cxn ang="0">
                            <a:pos x="33" y="33"/>
                          </a:cxn>
                        </a:cxnLst>
                        <a:rect l="0" t="0" r="r" b="b"/>
                        <a:pathLst>
                          <a:path w="33" h="33">
                            <a:moveTo>
                              <a:pt x="0" y="0"/>
                            </a:moveTo>
                            <a:lnTo>
                              <a:pt x="1" y="7"/>
                            </a:lnTo>
                            <a:lnTo>
                              <a:pt x="3" y="14"/>
                            </a:lnTo>
                            <a:lnTo>
                              <a:pt x="7" y="20"/>
                            </a:lnTo>
                            <a:lnTo>
                              <a:pt x="12" y="26"/>
                            </a:lnTo>
                            <a:lnTo>
                              <a:pt x="19" y="30"/>
                            </a:lnTo>
                            <a:lnTo>
                              <a:pt x="26" y="32"/>
                            </a:lnTo>
                            <a:lnTo>
                              <a:pt x="33" y="33"/>
                            </a:lnTo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5" name="Freeform 2718">
                        <a:extLst>
                          <a:ext uri="{FF2B5EF4-FFF2-40B4-BE49-F238E27FC236}">
                            <a16:creationId xmlns:a16="http://schemas.microsoft.com/office/drawing/2014/main" id="{A23F98ED-B24B-4878-8FF4-DA1FAAC9E4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06951" y="6176963"/>
                        <a:ext cx="52388" cy="5238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33"/>
                          </a:cxn>
                          <a:cxn ang="0">
                            <a:pos x="7" y="32"/>
                          </a:cxn>
                          <a:cxn ang="0">
                            <a:pos x="14" y="30"/>
                          </a:cxn>
                          <a:cxn ang="0">
                            <a:pos x="21" y="26"/>
                          </a:cxn>
                          <a:cxn ang="0">
                            <a:pos x="26" y="21"/>
                          </a:cxn>
                          <a:cxn ang="0">
                            <a:pos x="30" y="14"/>
                          </a:cxn>
                          <a:cxn ang="0">
                            <a:pos x="33" y="7"/>
                          </a:cxn>
                          <a:cxn ang="0">
                            <a:pos x="33" y="0"/>
                          </a:cxn>
                        </a:cxnLst>
                        <a:rect l="0" t="0" r="r" b="b"/>
                        <a:pathLst>
                          <a:path w="33" h="33">
                            <a:moveTo>
                              <a:pt x="0" y="33"/>
                            </a:moveTo>
                            <a:lnTo>
                              <a:pt x="7" y="32"/>
                            </a:lnTo>
                            <a:lnTo>
                              <a:pt x="14" y="30"/>
                            </a:lnTo>
                            <a:lnTo>
                              <a:pt x="21" y="26"/>
                            </a:lnTo>
                            <a:lnTo>
                              <a:pt x="26" y="21"/>
                            </a:lnTo>
                            <a:lnTo>
                              <a:pt x="30" y="14"/>
                            </a:lnTo>
                            <a:lnTo>
                              <a:pt x="33" y="7"/>
                            </a:lnTo>
                            <a:lnTo>
                              <a:pt x="33" y="0"/>
                            </a:lnTo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" name="Freeform 2719">
                        <a:extLst>
                          <a:ext uri="{FF2B5EF4-FFF2-40B4-BE49-F238E27FC236}">
                            <a16:creationId xmlns:a16="http://schemas.microsoft.com/office/drawing/2014/main" id="{E68DBF6F-6B3A-41E9-A444-5F538CBB05B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06951" y="5802313"/>
                        <a:ext cx="52388" cy="5397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3" y="34"/>
                          </a:cxn>
                          <a:cxn ang="0">
                            <a:pos x="33" y="26"/>
                          </a:cxn>
                          <a:cxn ang="0">
                            <a:pos x="30" y="19"/>
                          </a:cxn>
                          <a:cxn ang="0">
                            <a:pos x="26" y="13"/>
                          </a:cxn>
                          <a:cxn ang="0">
                            <a:pos x="21" y="8"/>
                          </a:cxn>
                          <a:cxn ang="0">
                            <a:pos x="14" y="4"/>
                          </a:cxn>
                          <a:cxn ang="0">
                            <a:pos x="7" y="1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33" h="34">
                            <a:moveTo>
                              <a:pt x="33" y="34"/>
                            </a:moveTo>
                            <a:lnTo>
                              <a:pt x="33" y="26"/>
                            </a:lnTo>
                            <a:lnTo>
                              <a:pt x="30" y="19"/>
                            </a:lnTo>
                            <a:lnTo>
                              <a:pt x="26" y="13"/>
                            </a:lnTo>
                            <a:lnTo>
                              <a:pt x="21" y="8"/>
                            </a:lnTo>
                            <a:lnTo>
                              <a:pt x="14" y="4"/>
                            </a:lnTo>
                            <a:lnTo>
                              <a:pt x="7" y="1"/>
                            </a:lnTo>
                            <a:lnTo>
                              <a:pt x="0" y="0"/>
                            </a:lnTo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7" name="Line 2720">
                        <a:extLst>
                          <a:ext uri="{FF2B5EF4-FFF2-40B4-BE49-F238E27FC236}">
                            <a16:creationId xmlns:a16="http://schemas.microsoft.com/office/drawing/2014/main" id="{62D9D685-18D2-4884-8B43-E8C3B02D784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752976" y="5802313"/>
                        <a:ext cx="1588" cy="427037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8" name="Line 2721">
                        <a:extLst>
                          <a:ext uri="{FF2B5EF4-FFF2-40B4-BE49-F238E27FC236}">
                            <a16:creationId xmlns:a16="http://schemas.microsoft.com/office/drawing/2014/main" id="{FCD8B2D3-AFE9-41C6-BB41-7AB38679E13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540251" y="5802313"/>
                        <a:ext cx="1588" cy="427037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9" name="Line 2722">
                        <a:extLst>
                          <a:ext uri="{FF2B5EF4-FFF2-40B4-BE49-F238E27FC236}">
                            <a16:creationId xmlns:a16="http://schemas.microsoft.com/office/drawing/2014/main" id="{2CBEA786-9041-460A-A6D4-101044EA7E7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859338" y="5856288"/>
                        <a:ext cx="1588" cy="320675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80" name="Line 2724">
                        <a:extLst>
                          <a:ext uri="{FF2B5EF4-FFF2-40B4-BE49-F238E27FC236}">
                            <a16:creationId xmlns:a16="http://schemas.microsoft.com/office/drawing/2014/main" id="{A4E6BDA8-118F-4982-AAB9-66DD15AEAA5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487863" y="6229350"/>
                        <a:ext cx="319088" cy="1587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81" name="Freeform 2725">
                        <a:extLst>
                          <a:ext uri="{FF2B5EF4-FFF2-40B4-BE49-F238E27FC236}">
                            <a16:creationId xmlns:a16="http://schemas.microsoft.com/office/drawing/2014/main" id="{A0EE4C4E-AB53-4B0B-86C1-CB94BE49530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433888" y="6149975"/>
                        <a:ext cx="53975" cy="7937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" y="0"/>
                          </a:cxn>
                          <a:cxn ang="0">
                            <a:pos x="2" y="7"/>
                          </a:cxn>
                          <a:cxn ang="0">
                            <a:pos x="0" y="15"/>
                          </a:cxn>
                          <a:cxn ang="0">
                            <a:pos x="1" y="23"/>
                          </a:cxn>
                          <a:cxn ang="0">
                            <a:pos x="3" y="30"/>
                          </a:cxn>
                          <a:cxn ang="0">
                            <a:pos x="7" y="37"/>
                          </a:cxn>
                          <a:cxn ang="0">
                            <a:pos x="12" y="42"/>
                          </a:cxn>
                          <a:cxn ang="0">
                            <a:pos x="19" y="47"/>
                          </a:cxn>
                          <a:cxn ang="0">
                            <a:pos x="26" y="49"/>
                          </a:cxn>
                          <a:cxn ang="0">
                            <a:pos x="34" y="50"/>
                          </a:cxn>
                        </a:cxnLst>
                        <a:rect l="0" t="0" r="r" b="b"/>
                        <a:pathLst>
                          <a:path w="34" h="50">
                            <a:moveTo>
                              <a:pt x="5" y="0"/>
                            </a:moveTo>
                            <a:lnTo>
                              <a:pt x="2" y="7"/>
                            </a:lnTo>
                            <a:lnTo>
                              <a:pt x="0" y="15"/>
                            </a:lnTo>
                            <a:lnTo>
                              <a:pt x="1" y="23"/>
                            </a:lnTo>
                            <a:lnTo>
                              <a:pt x="3" y="30"/>
                            </a:lnTo>
                            <a:lnTo>
                              <a:pt x="7" y="37"/>
                            </a:lnTo>
                            <a:lnTo>
                              <a:pt x="12" y="42"/>
                            </a:lnTo>
                            <a:lnTo>
                              <a:pt x="19" y="47"/>
                            </a:lnTo>
                            <a:lnTo>
                              <a:pt x="26" y="49"/>
                            </a:lnTo>
                            <a:lnTo>
                              <a:pt x="34" y="50"/>
                            </a:lnTo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82" name="Freeform 2726">
                        <a:extLst>
                          <a:ext uri="{FF2B5EF4-FFF2-40B4-BE49-F238E27FC236}">
                            <a16:creationId xmlns:a16="http://schemas.microsoft.com/office/drawing/2014/main" id="{B22A4450-4BCF-4155-BD32-D564E01626B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395788" y="6069013"/>
                        <a:ext cx="52388" cy="8096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29" y="51"/>
                          </a:cxn>
                          <a:cxn ang="0">
                            <a:pos x="32" y="44"/>
                          </a:cxn>
                          <a:cxn ang="0">
                            <a:pos x="33" y="36"/>
                          </a:cxn>
                          <a:cxn ang="0">
                            <a:pos x="33" y="28"/>
                          </a:cxn>
                          <a:cxn ang="0">
                            <a:pos x="31" y="21"/>
                          </a:cxn>
                          <a:cxn ang="0">
                            <a:pos x="27" y="14"/>
                          </a:cxn>
                          <a:cxn ang="0">
                            <a:pos x="21" y="8"/>
                          </a:cxn>
                          <a:cxn ang="0">
                            <a:pos x="15" y="4"/>
                          </a:cxn>
                          <a:cxn ang="0">
                            <a:pos x="7" y="1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33" h="51">
                            <a:moveTo>
                              <a:pt x="29" y="51"/>
                            </a:moveTo>
                            <a:lnTo>
                              <a:pt x="32" y="44"/>
                            </a:lnTo>
                            <a:lnTo>
                              <a:pt x="33" y="36"/>
                            </a:lnTo>
                            <a:lnTo>
                              <a:pt x="33" y="28"/>
                            </a:lnTo>
                            <a:lnTo>
                              <a:pt x="31" y="21"/>
                            </a:lnTo>
                            <a:lnTo>
                              <a:pt x="27" y="14"/>
                            </a:lnTo>
                            <a:lnTo>
                              <a:pt x="21" y="8"/>
                            </a:lnTo>
                            <a:lnTo>
                              <a:pt x="15" y="4"/>
                            </a:lnTo>
                            <a:lnTo>
                              <a:pt x="7" y="1"/>
                            </a:lnTo>
                            <a:lnTo>
                              <a:pt x="0" y="0"/>
                            </a:lnTo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83" name="Line 2727">
                        <a:extLst>
                          <a:ext uri="{FF2B5EF4-FFF2-40B4-BE49-F238E27FC236}">
                            <a16:creationId xmlns:a16="http://schemas.microsoft.com/office/drawing/2014/main" id="{2B51F64A-424F-47C6-A170-C2E3BE4BAB1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487863" y="5802313"/>
                        <a:ext cx="319088" cy="1587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84" name="Freeform 2728">
                        <a:extLst>
                          <a:ext uri="{FF2B5EF4-FFF2-40B4-BE49-F238E27FC236}">
                            <a16:creationId xmlns:a16="http://schemas.microsoft.com/office/drawing/2014/main" id="{B0EC75AC-3267-4A07-A3FD-9F391C6947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381501" y="5910263"/>
                        <a:ext cx="52388" cy="5238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33"/>
                          </a:cxn>
                          <a:cxn ang="0">
                            <a:pos x="7" y="32"/>
                          </a:cxn>
                          <a:cxn ang="0">
                            <a:pos x="14" y="30"/>
                          </a:cxn>
                          <a:cxn ang="0">
                            <a:pos x="21" y="26"/>
                          </a:cxn>
                          <a:cxn ang="0">
                            <a:pos x="26" y="20"/>
                          </a:cxn>
                          <a:cxn ang="0">
                            <a:pos x="30" y="14"/>
                          </a:cxn>
                          <a:cxn ang="0">
                            <a:pos x="33" y="7"/>
                          </a:cxn>
                          <a:cxn ang="0">
                            <a:pos x="33" y="0"/>
                          </a:cxn>
                        </a:cxnLst>
                        <a:rect l="0" t="0" r="r" b="b"/>
                        <a:pathLst>
                          <a:path w="33" h="33">
                            <a:moveTo>
                              <a:pt x="0" y="33"/>
                            </a:moveTo>
                            <a:lnTo>
                              <a:pt x="7" y="32"/>
                            </a:lnTo>
                            <a:lnTo>
                              <a:pt x="14" y="30"/>
                            </a:lnTo>
                            <a:lnTo>
                              <a:pt x="21" y="26"/>
                            </a:lnTo>
                            <a:lnTo>
                              <a:pt x="26" y="20"/>
                            </a:lnTo>
                            <a:lnTo>
                              <a:pt x="30" y="14"/>
                            </a:lnTo>
                            <a:lnTo>
                              <a:pt x="33" y="7"/>
                            </a:lnTo>
                            <a:lnTo>
                              <a:pt x="33" y="0"/>
                            </a:lnTo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85" name="Freeform 2729">
                        <a:extLst>
                          <a:ext uri="{FF2B5EF4-FFF2-40B4-BE49-F238E27FC236}">
                            <a16:creationId xmlns:a16="http://schemas.microsoft.com/office/drawing/2014/main" id="{D23688E1-5AE0-4EF4-9F27-66010F7B4C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433888" y="5802313"/>
                        <a:ext cx="53975" cy="5397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4" y="0"/>
                          </a:cxn>
                          <a:cxn ang="0">
                            <a:pos x="26" y="1"/>
                          </a:cxn>
                          <a:cxn ang="0">
                            <a:pos x="19" y="4"/>
                          </a:cxn>
                          <a:cxn ang="0">
                            <a:pos x="13" y="8"/>
                          </a:cxn>
                          <a:cxn ang="0">
                            <a:pos x="8" y="13"/>
                          </a:cxn>
                          <a:cxn ang="0">
                            <a:pos x="4" y="19"/>
                          </a:cxn>
                          <a:cxn ang="0">
                            <a:pos x="1" y="26"/>
                          </a:cxn>
                          <a:cxn ang="0">
                            <a:pos x="0" y="34"/>
                          </a:cxn>
                        </a:cxnLst>
                        <a:rect l="0" t="0" r="r" b="b"/>
                        <a:pathLst>
                          <a:path w="34" h="34">
                            <a:moveTo>
                              <a:pt x="34" y="0"/>
                            </a:moveTo>
                            <a:lnTo>
                              <a:pt x="26" y="1"/>
                            </a:lnTo>
                            <a:lnTo>
                              <a:pt x="19" y="4"/>
                            </a:lnTo>
                            <a:lnTo>
                              <a:pt x="13" y="8"/>
                            </a:lnTo>
                            <a:lnTo>
                              <a:pt x="8" y="13"/>
                            </a:lnTo>
                            <a:lnTo>
                              <a:pt x="4" y="19"/>
                            </a:lnTo>
                            <a:lnTo>
                              <a:pt x="1" y="26"/>
                            </a:lnTo>
                            <a:lnTo>
                              <a:pt x="0" y="34"/>
                            </a:lnTo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86" name="Line 2730">
                        <a:extLst>
                          <a:ext uri="{FF2B5EF4-FFF2-40B4-BE49-F238E27FC236}">
                            <a16:creationId xmlns:a16="http://schemas.microsoft.com/office/drawing/2014/main" id="{260EC4BA-B8E3-44C7-A058-12EC5E57D4C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433888" y="5856288"/>
                        <a:ext cx="1588" cy="53975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</p:grpSp>
          <p:grpSp>
            <p:nvGrpSpPr>
              <p:cNvPr id="117" name="组合 116">
                <a:extLst>
                  <a:ext uri="{FF2B5EF4-FFF2-40B4-BE49-F238E27FC236}">
                    <a16:creationId xmlns:a16="http://schemas.microsoft.com/office/drawing/2014/main" id="{9E0BF329-EF0A-469F-9DCB-798FDF199FEF}"/>
                  </a:ext>
                </a:extLst>
              </p:cNvPr>
              <p:cNvGrpSpPr/>
              <p:nvPr/>
            </p:nvGrpSpPr>
            <p:grpSpPr>
              <a:xfrm>
                <a:off x="954088" y="6016625"/>
                <a:ext cx="3997325" cy="1587"/>
                <a:chOff x="954088" y="6016625"/>
                <a:chExt cx="3997325" cy="1587"/>
              </a:xfrm>
            </p:grpSpPr>
            <p:sp>
              <p:nvSpPr>
                <p:cNvPr id="118" name="Line 2623">
                  <a:extLst>
                    <a:ext uri="{FF2B5EF4-FFF2-40B4-BE49-F238E27FC236}">
                      <a16:creationId xmlns:a16="http://schemas.microsoft.com/office/drawing/2014/main" id="{DEC94B1A-DFC3-4849-A768-C883C12E60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54088" y="6016625"/>
                  <a:ext cx="325438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" name="Line 2624">
                  <a:extLst>
                    <a:ext uri="{FF2B5EF4-FFF2-40B4-BE49-F238E27FC236}">
                      <a16:creationId xmlns:a16="http://schemas.microsoft.com/office/drawing/2014/main" id="{237D6CD5-EB76-4BE1-8BA6-B2C35E09F2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0326" y="6016625"/>
                  <a:ext cx="50800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0" name="Line 2625">
                  <a:extLst>
                    <a:ext uri="{FF2B5EF4-FFF2-40B4-BE49-F238E27FC236}">
                      <a16:creationId xmlns:a16="http://schemas.microsoft.com/office/drawing/2014/main" id="{E658706C-EA85-4D1B-BB27-34B85C6928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1926" y="6016625"/>
                  <a:ext cx="303213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1" name="Line 2626">
                  <a:extLst>
                    <a:ext uri="{FF2B5EF4-FFF2-40B4-BE49-F238E27FC236}">
                      <a16:creationId xmlns:a16="http://schemas.microsoft.com/office/drawing/2014/main" id="{996A2D21-FC80-4221-9873-7736F648D9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85938" y="6016625"/>
                  <a:ext cx="50800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2" name="Line 2627">
                  <a:extLst>
                    <a:ext uri="{FF2B5EF4-FFF2-40B4-BE49-F238E27FC236}">
                      <a16:creationId xmlns:a16="http://schemas.microsoft.com/office/drawing/2014/main" id="{F1992613-49BB-4123-8957-EB61A2264C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87538" y="6016625"/>
                  <a:ext cx="304800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3" name="Line 2628">
                  <a:extLst>
                    <a:ext uri="{FF2B5EF4-FFF2-40B4-BE49-F238E27FC236}">
                      <a16:creationId xmlns:a16="http://schemas.microsoft.com/office/drawing/2014/main" id="{905DC6B6-04CC-47DC-BB4E-DA76BDD67C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3138" y="6016625"/>
                  <a:ext cx="50800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4" name="Line 2629">
                  <a:extLst>
                    <a:ext uri="{FF2B5EF4-FFF2-40B4-BE49-F238E27FC236}">
                      <a16:creationId xmlns:a16="http://schemas.microsoft.com/office/drawing/2014/main" id="{40CA9A49-60D4-4BCA-8083-23160283BC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4738" y="6016625"/>
                  <a:ext cx="304800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5" name="Line 2630">
                  <a:extLst>
                    <a:ext uri="{FF2B5EF4-FFF2-40B4-BE49-F238E27FC236}">
                      <a16:creationId xmlns:a16="http://schemas.microsoft.com/office/drawing/2014/main" id="{047755DE-AD99-43D5-9E45-832BE76C94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8751" y="6016625"/>
                  <a:ext cx="50800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6" name="Line 2631">
                  <a:extLst>
                    <a:ext uri="{FF2B5EF4-FFF2-40B4-BE49-F238E27FC236}">
                      <a16:creationId xmlns:a16="http://schemas.microsoft.com/office/drawing/2014/main" id="{B809DA7D-F100-4BC4-A204-21786699FF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00351" y="6016625"/>
                  <a:ext cx="304800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7" name="Line 2632">
                  <a:extLst>
                    <a:ext uri="{FF2B5EF4-FFF2-40B4-BE49-F238E27FC236}">
                      <a16:creationId xmlns:a16="http://schemas.microsoft.com/office/drawing/2014/main" id="{0C945175-655E-4940-8C4A-7534F07120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5951" y="6016625"/>
                  <a:ext cx="50800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8" name="Line 2633">
                  <a:extLst>
                    <a:ext uri="{FF2B5EF4-FFF2-40B4-BE49-F238E27FC236}">
                      <a16:creationId xmlns:a16="http://schemas.microsoft.com/office/drawing/2014/main" id="{E81FE2CA-548D-4EA9-BDCC-FE60EDEF1B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57551" y="6016625"/>
                  <a:ext cx="304800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9" name="Line 2634">
                  <a:extLst>
                    <a:ext uri="{FF2B5EF4-FFF2-40B4-BE49-F238E27FC236}">
                      <a16:creationId xmlns:a16="http://schemas.microsoft.com/office/drawing/2014/main" id="{1759C563-8223-412E-875B-23328C5610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13151" y="6016625"/>
                  <a:ext cx="49213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0" name="Line 2635">
                  <a:extLst>
                    <a:ext uri="{FF2B5EF4-FFF2-40B4-BE49-F238E27FC236}">
                      <a16:creationId xmlns:a16="http://schemas.microsoft.com/office/drawing/2014/main" id="{E66B9EDB-635B-44DA-9C54-512B2B37D8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13163" y="6016625"/>
                  <a:ext cx="304800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1" name="Line 2636">
                  <a:extLst>
                    <a:ext uri="{FF2B5EF4-FFF2-40B4-BE49-F238E27FC236}">
                      <a16:creationId xmlns:a16="http://schemas.microsoft.com/office/drawing/2014/main" id="{6B402C0F-0140-48F3-B1C7-6B2B52A460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68763" y="6016625"/>
                  <a:ext cx="50800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2" name="Line 2637">
                  <a:extLst>
                    <a:ext uri="{FF2B5EF4-FFF2-40B4-BE49-F238E27FC236}">
                      <a16:creationId xmlns:a16="http://schemas.microsoft.com/office/drawing/2014/main" id="{748EBE24-1002-4117-B9E0-141564E72F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0363" y="6016625"/>
                  <a:ext cx="304800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3" name="Line 2638">
                  <a:extLst>
                    <a:ext uri="{FF2B5EF4-FFF2-40B4-BE49-F238E27FC236}">
                      <a16:creationId xmlns:a16="http://schemas.microsoft.com/office/drawing/2014/main" id="{EF13BAB9-7AA3-4179-92AE-D602A15B36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25963" y="6016625"/>
                  <a:ext cx="50800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4" name="Line 2639">
                  <a:extLst>
                    <a:ext uri="{FF2B5EF4-FFF2-40B4-BE49-F238E27FC236}">
                      <a16:creationId xmlns:a16="http://schemas.microsoft.com/office/drawing/2014/main" id="{2D596D35-C06C-4749-835E-B474A42145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27563" y="6016625"/>
                  <a:ext cx="323850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5" name="Line 2753">
                  <a:extLst>
                    <a:ext uri="{FF2B5EF4-FFF2-40B4-BE49-F238E27FC236}">
                      <a16:creationId xmlns:a16="http://schemas.microsoft.com/office/drawing/2014/main" id="{77F11EB1-16AC-4DE5-A1D6-C3197AE9DB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49588" y="6016625"/>
                  <a:ext cx="174625" cy="1587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3616C1CA-8F44-416A-AB38-8F5F4D40BE08}"/>
              </a:ext>
            </a:extLst>
          </p:cNvPr>
          <p:cNvGrpSpPr/>
          <p:nvPr/>
        </p:nvGrpSpPr>
        <p:grpSpPr>
          <a:xfrm>
            <a:off x="3091703" y="2789407"/>
            <a:ext cx="3786234" cy="3113098"/>
            <a:chOff x="1154067" y="2979738"/>
            <a:chExt cx="3786234" cy="3113098"/>
          </a:xfrm>
        </p:grpSpPr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4CAED448-347A-4495-B50D-D0BADA891DF7}"/>
                </a:ext>
              </a:extLst>
            </p:cNvPr>
            <p:cNvGrpSpPr/>
            <p:nvPr/>
          </p:nvGrpSpPr>
          <p:grpSpPr>
            <a:xfrm>
              <a:off x="3016251" y="2979738"/>
              <a:ext cx="1924050" cy="1792287"/>
              <a:chOff x="3016251" y="2979738"/>
              <a:chExt cx="1924050" cy="1792287"/>
            </a:xfrm>
          </p:grpSpPr>
          <p:sp>
            <p:nvSpPr>
              <p:cNvPr id="218" name="Line 2740">
                <a:extLst>
                  <a:ext uri="{FF2B5EF4-FFF2-40B4-BE49-F238E27FC236}">
                    <a16:creationId xmlns:a16="http://schemas.microsoft.com/office/drawing/2014/main" id="{042DF6FB-3B10-4889-BBC5-2CE8D464BE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8751" y="3190875"/>
                <a:ext cx="415925" cy="417512"/>
              </a:xfrm>
              <a:prstGeom prst="line">
                <a:avLst/>
              </a:prstGeom>
              <a:noFill/>
              <a:ln w="2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19" name="组合 218">
                <a:extLst>
                  <a:ext uri="{FF2B5EF4-FFF2-40B4-BE49-F238E27FC236}">
                    <a16:creationId xmlns:a16="http://schemas.microsoft.com/office/drawing/2014/main" id="{38CBF7CA-BDF0-40EA-921F-5853925D0131}"/>
                  </a:ext>
                </a:extLst>
              </p:cNvPr>
              <p:cNvGrpSpPr/>
              <p:nvPr/>
            </p:nvGrpSpPr>
            <p:grpSpPr>
              <a:xfrm>
                <a:off x="3049588" y="3189288"/>
                <a:ext cx="1343025" cy="1346199"/>
                <a:chOff x="3049588" y="3189288"/>
                <a:chExt cx="1343025" cy="1346199"/>
              </a:xfrm>
            </p:grpSpPr>
            <p:sp>
              <p:nvSpPr>
                <p:cNvPr id="233" name="Line 2731">
                  <a:extLst>
                    <a:ext uri="{FF2B5EF4-FFF2-40B4-BE49-F238E27FC236}">
                      <a16:creationId xmlns:a16="http://schemas.microsoft.com/office/drawing/2014/main" id="{DB1232C4-D98D-4701-A302-30484E2205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49601" y="4189413"/>
                  <a:ext cx="244475" cy="244475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4" name="Line 2732">
                  <a:extLst>
                    <a:ext uri="{FF2B5EF4-FFF2-40B4-BE49-F238E27FC236}">
                      <a16:creationId xmlns:a16="http://schemas.microsoft.com/office/drawing/2014/main" id="{475C972F-59AE-43D6-8F11-7AB2F26F92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30588" y="4117975"/>
                  <a:ext cx="34925" cy="36512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5" name="Line 2733">
                  <a:extLst>
                    <a:ext uri="{FF2B5EF4-FFF2-40B4-BE49-F238E27FC236}">
                      <a16:creationId xmlns:a16="http://schemas.microsoft.com/office/drawing/2014/main" id="{4DBF5A51-8C92-4313-AF22-2AEE3A0F6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02026" y="3865563"/>
                  <a:ext cx="215900" cy="215900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6" name="Line 2734">
                  <a:extLst>
                    <a:ext uri="{FF2B5EF4-FFF2-40B4-BE49-F238E27FC236}">
                      <a16:creationId xmlns:a16="http://schemas.microsoft.com/office/drawing/2014/main" id="{9C24E31A-2F62-410C-8E6C-5372D9B4C3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52851" y="3794125"/>
                  <a:ext cx="36513" cy="36512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7" name="Line 2735">
                  <a:extLst>
                    <a:ext uri="{FF2B5EF4-FFF2-40B4-BE49-F238E27FC236}">
                      <a16:creationId xmlns:a16="http://schemas.microsoft.com/office/drawing/2014/main" id="{932CE535-735D-4922-941F-2A3CB65067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24288" y="3541713"/>
                  <a:ext cx="215900" cy="215900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8" name="Line 2736">
                  <a:extLst>
                    <a:ext uri="{FF2B5EF4-FFF2-40B4-BE49-F238E27FC236}">
                      <a16:creationId xmlns:a16="http://schemas.microsoft.com/office/drawing/2014/main" id="{059D4139-7B06-4B68-B761-E871699489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76701" y="3470275"/>
                  <a:ext cx="34925" cy="36512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9" name="Line 2737">
                  <a:extLst>
                    <a:ext uri="{FF2B5EF4-FFF2-40B4-BE49-F238E27FC236}">
                      <a16:creationId xmlns:a16="http://schemas.microsoft.com/office/drawing/2014/main" id="{468F941F-FC2A-4CF8-84E0-82FDDE5CC2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48138" y="3189288"/>
                  <a:ext cx="244475" cy="244475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0" name="Line 2744">
                  <a:extLst>
                    <a:ext uri="{FF2B5EF4-FFF2-40B4-BE49-F238E27FC236}">
                      <a16:creationId xmlns:a16="http://schemas.microsoft.com/office/drawing/2014/main" id="{6841A457-2913-442F-974C-90D4ACEE7F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49588" y="4422775"/>
                  <a:ext cx="112713" cy="112712"/>
                </a:xfrm>
                <a:prstGeom prst="line">
                  <a:avLst/>
                </a:prstGeom>
                <a:noFill/>
                <a:ln w="24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0" name="组合 219">
                <a:extLst>
                  <a:ext uri="{FF2B5EF4-FFF2-40B4-BE49-F238E27FC236}">
                    <a16:creationId xmlns:a16="http://schemas.microsoft.com/office/drawing/2014/main" id="{152B739C-65C6-41E0-A406-4DCF13BB2178}"/>
                  </a:ext>
                </a:extLst>
              </p:cNvPr>
              <p:cNvGrpSpPr/>
              <p:nvPr/>
            </p:nvGrpSpPr>
            <p:grpSpPr>
              <a:xfrm>
                <a:off x="3016251" y="2979738"/>
                <a:ext cx="1924050" cy="1792287"/>
                <a:chOff x="3016251" y="2979738"/>
                <a:chExt cx="1924050" cy="1792287"/>
              </a:xfrm>
            </p:grpSpPr>
            <p:sp>
              <p:nvSpPr>
                <p:cNvPr id="221" name="Freeform 2747">
                  <a:extLst>
                    <a:ext uri="{FF2B5EF4-FFF2-40B4-BE49-F238E27FC236}">
                      <a16:creationId xmlns:a16="http://schemas.microsoft.com/office/drawing/2014/main" id="{96868447-2950-4C77-A506-93D5AC3CA3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4088" y="3121025"/>
                  <a:ext cx="176213" cy="176212"/>
                </a:xfrm>
                <a:custGeom>
                  <a:avLst/>
                  <a:gdLst/>
                  <a:ahLst/>
                  <a:cxnLst>
                    <a:cxn ang="0">
                      <a:pos x="0" y="32"/>
                    </a:cxn>
                    <a:cxn ang="0">
                      <a:pos x="32" y="0"/>
                    </a:cxn>
                    <a:cxn ang="0">
                      <a:pos x="111" y="111"/>
                    </a:cxn>
                    <a:cxn ang="0">
                      <a:pos x="0" y="32"/>
                    </a:cxn>
                  </a:cxnLst>
                  <a:rect l="0" t="0" r="r" b="b"/>
                  <a:pathLst>
                    <a:path w="111" h="111">
                      <a:moveTo>
                        <a:pt x="0" y="32"/>
                      </a:moveTo>
                      <a:lnTo>
                        <a:pt x="32" y="0"/>
                      </a:lnTo>
                      <a:lnTo>
                        <a:pt x="111" y="111"/>
                      </a:lnTo>
                      <a:lnTo>
                        <a:pt x="0" y="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222" name="组合 221">
                  <a:extLst>
                    <a:ext uri="{FF2B5EF4-FFF2-40B4-BE49-F238E27FC236}">
                      <a16:creationId xmlns:a16="http://schemas.microsoft.com/office/drawing/2014/main" id="{8F629A16-9CFA-49F0-9BA9-34ABFB65923E}"/>
                    </a:ext>
                  </a:extLst>
                </p:cNvPr>
                <p:cNvGrpSpPr/>
                <p:nvPr/>
              </p:nvGrpSpPr>
              <p:grpSpPr>
                <a:xfrm>
                  <a:off x="3016251" y="2979738"/>
                  <a:ext cx="1924050" cy="1792287"/>
                  <a:chOff x="3016251" y="2979738"/>
                  <a:chExt cx="1924050" cy="1792287"/>
                </a:xfrm>
              </p:grpSpPr>
              <p:grpSp>
                <p:nvGrpSpPr>
                  <p:cNvPr id="223" name="组合 222">
                    <a:extLst>
                      <a:ext uri="{FF2B5EF4-FFF2-40B4-BE49-F238E27FC236}">
                        <a16:creationId xmlns:a16="http://schemas.microsoft.com/office/drawing/2014/main" id="{EE5AF958-0CD6-4E15-B1EF-238C9C5AB223}"/>
                      </a:ext>
                    </a:extLst>
                  </p:cNvPr>
                  <p:cNvGrpSpPr/>
                  <p:nvPr/>
                </p:nvGrpSpPr>
                <p:grpSpPr>
                  <a:xfrm>
                    <a:off x="3016251" y="3190875"/>
                    <a:ext cx="1377950" cy="1581150"/>
                    <a:chOff x="3016251" y="3190875"/>
                    <a:chExt cx="1377950" cy="1581150"/>
                  </a:xfrm>
                </p:grpSpPr>
                <p:sp>
                  <p:nvSpPr>
                    <p:cNvPr id="227" name="Line 2691">
                      <a:extLst>
                        <a:ext uri="{FF2B5EF4-FFF2-40B4-BE49-F238E27FC236}">
                          <a16:creationId xmlns:a16="http://schemas.microsoft.com/office/drawing/2014/main" id="{4C22D57D-D8DA-4D31-BACC-9F085D5C585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338513" y="3540125"/>
                      <a:ext cx="1008063" cy="123190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28" name="Freeform 2738">
                      <a:extLst>
                        <a:ext uri="{FF2B5EF4-FFF2-40B4-BE49-F238E27FC236}">
                          <a16:creationId xmlns:a16="http://schemas.microsoft.com/office/drawing/2014/main" id="{8932BD86-DCE5-4DE4-B4BE-A4518CFAEA8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075113" y="3297238"/>
                      <a:ext cx="212725" cy="214312"/>
                    </a:xfrm>
                    <a:custGeom>
                      <a:avLst/>
                      <a:gdLst/>
                      <a:ahLst/>
                      <a:cxnLst>
                        <a:cxn ang="0">
                          <a:pos x="134" y="68"/>
                        </a:cxn>
                        <a:cxn ang="0">
                          <a:pos x="133" y="56"/>
                        </a:cxn>
                        <a:cxn ang="0">
                          <a:pos x="130" y="45"/>
                        </a:cxn>
                        <a:cxn ang="0">
                          <a:pos x="125" y="34"/>
                        </a:cxn>
                        <a:cxn ang="0">
                          <a:pos x="118" y="24"/>
                        </a:cxn>
                        <a:cxn ang="0">
                          <a:pos x="110" y="16"/>
                        </a:cxn>
                        <a:cxn ang="0">
                          <a:pos x="100" y="9"/>
                        </a:cxn>
                        <a:cxn ang="0">
                          <a:pos x="90" y="4"/>
                        </a:cxn>
                        <a:cxn ang="0">
                          <a:pos x="79" y="1"/>
                        </a:cxn>
                        <a:cxn ang="0">
                          <a:pos x="67" y="0"/>
                        </a:cxn>
                        <a:cxn ang="0">
                          <a:pos x="55" y="1"/>
                        </a:cxn>
                        <a:cxn ang="0">
                          <a:pos x="44" y="4"/>
                        </a:cxn>
                        <a:cxn ang="0">
                          <a:pos x="33" y="9"/>
                        </a:cxn>
                        <a:cxn ang="0">
                          <a:pos x="24" y="16"/>
                        </a:cxn>
                        <a:cxn ang="0">
                          <a:pos x="16" y="24"/>
                        </a:cxn>
                        <a:cxn ang="0">
                          <a:pos x="9" y="34"/>
                        </a:cxn>
                        <a:cxn ang="0">
                          <a:pos x="4" y="45"/>
                        </a:cxn>
                        <a:cxn ang="0">
                          <a:pos x="1" y="56"/>
                        </a:cxn>
                        <a:cxn ang="0">
                          <a:pos x="0" y="68"/>
                        </a:cxn>
                        <a:cxn ang="0">
                          <a:pos x="1" y="79"/>
                        </a:cxn>
                        <a:cxn ang="0">
                          <a:pos x="4" y="91"/>
                        </a:cxn>
                        <a:cxn ang="0">
                          <a:pos x="9" y="101"/>
                        </a:cxn>
                        <a:cxn ang="0">
                          <a:pos x="16" y="111"/>
                        </a:cxn>
                        <a:cxn ang="0">
                          <a:pos x="24" y="119"/>
                        </a:cxn>
                        <a:cxn ang="0">
                          <a:pos x="33" y="126"/>
                        </a:cxn>
                        <a:cxn ang="0">
                          <a:pos x="44" y="131"/>
                        </a:cxn>
                        <a:cxn ang="0">
                          <a:pos x="55" y="134"/>
                        </a:cxn>
                        <a:cxn ang="0">
                          <a:pos x="67" y="135"/>
                        </a:cxn>
                        <a:cxn ang="0">
                          <a:pos x="79" y="134"/>
                        </a:cxn>
                        <a:cxn ang="0">
                          <a:pos x="90" y="131"/>
                        </a:cxn>
                        <a:cxn ang="0">
                          <a:pos x="100" y="126"/>
                        </a:cxn>
                        <a:cxn ang="0">
                          <a:pos x="110" y="119"/>
                        </a:cxn>
                        <a:cxn ang="0">
                          <a:pos x="118" y="111"/>
                        </a:cxn>
                        <a:cxn ang="0">
                          <a:pos x="125" y="101"/>
                        </a:cxn>
                        <a:cxn ang="0">
                          <a:pos x="130" y="91"/>
                        </a:cxn>
                        <a:cxn ang="0">
                          <a:pos x="133" y="79"/>
                        </a:cxn>
                        <a:cxn ang="0">
                          <a:pos x="134" y="68"/>
                        </a:cxn>
                      </a:cxnLst>
                      <a:rect l="0" t="0" r="r" b="b"/>
                      <a:pathLst>
                        <a:path w="134" h="135">
                          <a:moveTo>
                            <a:pt x="134" y="68"/>
                          </a:moveTo>
                          <a:lnTo>
                            <a:pt x="133" y="56"/>
                          </a:lnTo>
                          <a:lnTo>
                            <a:pt x="130" y="45"/>
                          </a:lnTo>
                          <a:lnTo>
                            <a:pt x="125" y="34"/>
                          </a:lnTo>
                          <a:lnTo>
                            <a:pt x="118" y="24"/>
                          </a:lnTo>
                          <a:lnTo>
                            <a:pt x="110" y="16"/>
                          </a:lnTo>
                          <a:lnTo>
                            <a:pt x="100" y="9"/>
                          </a:lnTo>
                          <a:lnTo>
                            <a:pt x="90" y="4"/>
                          </a:lnTo>
                          <a:lnTo>
                            <a:pt x="79" y="1"/>
                          </a:lnTo>
                          <a:lnTo>
                            <a:pt x="67" y="0"/>
                          </a:lnTo>
                          <a:lnTo>
                            <a:pt x="55" y="1"/>
                          </a:lnTo>
                          <a:lnTo>
                            <a:pt x="44" y="4"/>
                          </a:lnTo>
                          <a:lnTo>
                            <a:pt x="33" y="9"/>
                          </a:lnTo>
                          <a:lnTo>
                            <a:pt x="24" y="16"/>
                          </a:lnTo>
                          <a:lnTo>
                            <a:pt x="16" y="24"/>
                          </a:lnTo>
                          <a:lnTo>
                            <a:pt x="9" y="34"/>
                          </a:lnTo>
                          <a:lnTo>
                            <a:pt x="4" y="45"/>
                          </a:lnTo>
                          <a:lnTo>
                            <a:pt x="1" y="56"/>
                          </a:lnTo>
                          <a:lnTo>
                            <a:pt x="0" y="68"/>
                          </a:lnTo>
                          <a:lnTo>
                            <a:pt x="1" y="79"/>
                          </a:lnTo>
                          <a:lnTo>
                            <a:pt x="4" y="91"/>
                          </a:lnTo>
                          <a:lnTo>
                            <a:pt x="9" y="101"/>
                          </a:lnTo>
                          <a:lnTo>
                            <a:pt x="16" y="111"/>
                          </a:lnTo>
                          <a:lnTo>
                            <a:pt x="24" y="119"/>
                          </a:lnTo>
                          <a:lnTo>
                            <a:pt x="33" y="126"/>
                          </a:lnTo>
                          <a:lnTo>
                            <a:pt x="44" y="131"/>
                          </a:lnTo>
                          <a:lnTo>
                            <a:pt x="55" y="134"/>
                          </a:lnTo>
                          <a:lnTo>
                            <a:pt x="67" y="135"/>
                          </a:lnTo>
                          <a:lnTo>
                            <a:pt x="79" y="134"/>
                          </a:lnTo>
                          <a:lnTo>
                            <a:pt x="90" y="131"/>
                          </a:lnTo>
                          <a:lnTo>
                            <a:pt x="100" y="126"/>
                          </a:lnTo>
                          <a:lnTo>
                            <a:pt x="110" y="119"/>
                          </a:lnTo>
                          <a:lnTo>
                            <a:pt x="118" y="111"/>
                          </a:lnTo>
                          <a:lnTo>
                            <a:pt x="125" y="101"/>
                          </a:lnTo>
                          <a:lnTo>
                            <a:pt x="130" y="91"/>
                          </a:lnTo>
                          <a:lnTo>
                            <a:pt x="133" y="79"/>
                          </a:lnTo>
                          <a:lnTo>
                            <a:pt x="134" y="68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29" name="Freeform 2739">
                      <a:extLst>
                        <a:ext uri="{FF2B5EF4-FFF2-40B4-BE49-F238E27FC236}">
                          <a16:creationId xmlns:a16="http://schemas.microsoft.com/office/drawing/2014/main" id="{B3A0580E-4D52-4E09-8C39-51B10E9B2D7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968751" y="3190875"/>
                      <a:ext cx="425450" cy="427037"/>
                    </a:xfrm>
                    <a:custGeom>
                      <a:avLst/>
                      <a:gdLst/>
                      <a:ahLst/>
                      <a:cxnLst>
                        <a:cxn ang="0">
                          <a:pos x="268" y="135"/>
                        </a:cxn>
                        <a:cxn ang="0">
                          <a:pos x="267" y="118"/>
                        </a:cxn>
                        <a:cxn ang="0">
                          <a:pos x="264" y="102"/>
                        </a:cxn>
                        <a:cxn ang="0">
                          <a:pos x="259" y="87"/>
                        </a:cxn>
                        <a:cxn ang="0">
                          <a:pos x="253" y="72"/>
                        </a:cxn>
                        <a:cxn ang="0">
                          <a:pos x="244" y="58"/>
                        </a:cxn>
                        <a:cxn ang="0">
                          <a:pos x="234" y="45"/>
                        </a:cxn>
                        <a:cxn ang="0">
                          <a:pos x="223" y="34"/>
                        </a:cxn>
                        <a:cxn ang="0">
                          <a:pos x="210" y="24"/>
                        </a:cxn>
                        <a:cxn ang="0">
                          <a:pos x="196" y="16"/>
                        </a:cxn>
                        <a:cxn ang="0">
                          <a:pos x="181" y="9"/>
                        </a:cxn>
                        <a:cxn ang="0">
                          <a:pos x="166" y="4"/>
                        </a:cxn>
                        <a:cxn ang="0">
                          <a:pos x="150" y="1"/>
                        </a:cxn>
                        <a:cxn ang="0">
                          <a:pos x="134" y="0"/>
                        </a:cxn>
                        <a:cxn ang="0">
                          <a:pos x="118" y="1"/>
                        </a:cxn>
                        <a:cxn ang="0">
                          <a:pos x="102" y="4"/>
                        </a:cxn>
                        <a:cxn ang="0">
                          <a:pos x="86" y="9"/>
                        </a:cxn>
                        <a:cxn ang="0">
                          <a:pos x="72" y="16"/>
                        </a:cxn>
                        <a:cxn ang="0">
                          <a:pos x="58" y="24"/>
                        </a:cxn>
                        <a:cxn ang="0">
                          <a:pos x="45" y="34"/>
                        </a:cxn>
                        <a:cxn ang="0">
                          <a:pos x="33" y="45"/>
                        </a:cxn>
                        <a:cxn ang="0">
                          <a:pos x="24" y="58"/>
                        </a:cxn>
                        <a:cxn ang="0">
                          <a:pos x="15" y="72"/>
                        </a:cxn>
                        <a:cxn ang="0">
                          <a:pos x="9" y="87"/>
                        </a:cxn>
                        <a:cxn ang="0">
                          <a:pos x="4" y="102"/>
                        </a:cxn>
                        <a:cxn ang="0">
                          <a:pos x="1" y="118"/>
                        </a:cxn>
                        <a:cxn ang="0">
                          <a:pos x="0" y="135"/>
                        </a:cxn>
                        <a:cxn ang="0">
                          <a:pos x="1" y="151"/>
                        </a:cxn>
                        <a:cxn ang="0">
                          <a:pos x="4" y="167"/>
                        </a:cxn>
                        <a:cxn ang="0">
                          <a:pos x="9" y="182"/>
                        </a:cxn>
                        <a:cxn ang="0">
                          <a:pos x="15" y="197"/>
                        </a:cxn>
                        <a:cxn ang="0">
                          <a:pos x="24" y="211"/>
                        </a:cxn>
                        <a:cxn ang="0">
                          <a:pos x="33" y="224"/>
                        </a:cxn>
                        <a:cxn ang="0">
                          <a:pos x="45" y="235"/>
                        </a:cxn>
                        <a:cxn ang="0">
                          <a:pos x="58" y="245"/>
                        </a:cxn>
                        <a:cxn ang="0">
                          <a:pos x="72" y="254"/>
                        </a:cxn>
                        <a:cxn ang="0">
                          <a:pos x="86" y="260"/>
                        </a:cxn>
                        <a:cxn ang="0">
                          <a:pos x="102" y="265"/>
                        </a:cxn>
                        <a:cxn ang="0">
                          <a:pos x="118" y="268"/>
                        </a:cxn>
                        <a:cxn ang="0">
                          <a:pos x="134" y="269"/>
                        </a:cxn>
                        <a:cxn ang="0">
                          <a:pos x="150" y="268"/>
                        </a:cxn>
                        <a:cxn ang="0">
                          <a:pos x="166" y="265"/>
                        </a:cxn>
                        <a:cxn ang="0">
                          <a:pos x="181" y="260"/>
                        </a:cxn>
                        <a:cxn ang="0">
                          <a:pos x="196" y="254"/>
                        </a:cxn>
                        <a:cxn ang="0">
                          <a:pos x="210" y="245"/>
                        </a:cxn>
                        <a:cxn ang="0">
                          <a:pos x="223" y="235"/>
                        </a:cxn>
                        <a:cxn ang="0">
                          <a:pos x="234" y="224"/>
                        </a:cxn>
                        <a:cxn ang="0">
                          <a:pos x="244" y="211"/>
                        </a:cxn>
                        <a:cxn ang="0">
                          <a:pos x="253" y="197"/>
                        </a:cxn>
                        <a:cxn ang="0">
                          <a:pos x="259" y="182"/>
                        </a:cxn>
                        <a:cxn ang="0">
                          <a:pos x="264" y="167"/>
                        </a:cxn>
                        <a:cxn ang="0">
                          <a:pos x="267" y="151"/>
                        </a:cxn>
                        <a:cxn ang="0">
                          <a:pos x="268" y="135"/>
                        </a:cxn>
                      </a:cxnLst>
                      <a:rect l="0" t="0" r="r" b="b"/>
                      <a:pathLst>
                        <a:path w="268" h="269">
                          <a:moveTo>
                            <a:pt x="268" y="135"/>
                          </a:moveTo>
                          <a:lnTo>
                            <a:pt x="267" y="118"/>
                          </a:lnTo>
                          <a:lnTo>
                            <a:pt x="264" y="102"/>
                          </a:lnTo>
                          <a:lnTo>
                            <a:pt x="259" y="87"/>
                          </a:lnTo>
                          <a:lnTo>
                            <a:pt x="253" y="72"/>
                          </a:lnTo>
                          <a:lnTo>
                            <a:pt x="244" y="58"/>
                          </a:lnTo>
                          <a:lnTo>
                            <a:pt x="234" y="45"/>
                          </a:lnTo>
                          <a:lnTo>
                            <a:pt x="223" y="34"/>
                          </a:lnTo>
                          <a:lnTo>
                            <a:pt x="210" y="24"/>
                          </a:lnTo>
                          <a:lnTo>
                            <a:pt x="196" y="16"/>
                          </a:lnTo>
                          <a:lnTo>
                            <a:pt x="181" y="9"/>
                          </a:lnTo>
                          <a:lnTo>
                            <a:pt x="166" y="4"/>
                          </a:lnTo>
                          <a:lnTo>
                            <a:pt x="150" y="1"/>
                          </a:lnTo>
                          <a:lnTo>
                            <a:pt x="134" y="0"/>
                          </a:lnTo>
                          <a:lnTo>
                            <a:pt x="118" y="1"/>
                          </a:lnTo>
                          <a:lnTo>
                            <a:pt x="102" y="4"/>
                          </a:lnTo>
                          <a:lnTo>
                            <a:pt x="86" y="9"/>
                          </a:lnTo>
                          <a:lnTo>
                            <a:pt x="72" y="16"/>
                          </a:lnTo>
                          <a:lnTo>
                            <a:pt x="58" y="24"/>
                          </a:lnTo>
                          <a:lnTo>
                            <a:pt x="45" y="34"/>
                          </a:lnTo>
                          <a:lnTo>
                            <a:pt x="33" y="45"/>
                          </a:lnTo>
                          <a:lnTo>
                            <a:pt x="24" y="58"/>
                          </a:lnTo>
                          <a:lnTo>
                            <a:pt x="15" y="72"/>
                          </a:lnTo>
                          <a:lnTo>
                            <a:pt x="9" y="87"/>
                          </a:lnTo>
                          <a:lnTo>
                            <a:pt x="4" y="102"/>
                          </a:lnTo>
                          <a:lnTo>
                            <a:pt x="1" y="118"/>
                          </a:lnTo>
                          <a:lnTo>
                            <a:pt x="0" y="135"/>
                          </a:lnTo>
                          <a:lnTo>
                            <a:pt x="1" y="151"/>
                          </a:lnTo>
                          <a:lnTo>
                            <a:pt x="4" y="167"/>
                          </a:lnTo>
                          <a:lnTo>
                            <a:pt x="9" y="182"/>
                          </a:lnTo>
                          <a:lnTo>
                            <a:pt x="15" y="197"/>
                          </a:lnTo>
                          <a:lnTo>
                            <a:pt x="24" y="211"/>
                          </a:lnTo>
                          <a:lnTo>
                            <a:pt x="33" y="224"/>
                          </a:lnTo>
                          <a:lnTo>
                            <a:pt x="45" y="235"/>
                          </a:lnTo>
                          <a:lnTo>
                            <a:pt x="58" y="245"/>
                          </a:lnTo>
                          <a:lnTo>
                            <a:pt x="72" y="254"/>
                          </a:lnTo>
                          <a:lnTo>
                            <a:pt x="86" y="260"/>
                          </a:lnTo>
                          <a:lnTo>
                            <a:pt x="102" y="265"/>
                          </a:lnTo>
                          <a:lnTo>
                            <a:pt x="118" y="268"/>
                          </a:lnTo>
                          <a:lnTo>
                            <a:pt x="134" y="269"/>
                          </a:lnTo>
                          <a:lnTo>
                            <a:pt x="150" y="268"/>
                          </a:lnTo>
                          <a:lnTo>
                            <a:pt x="166" y="265"/>
                          </a:lnTo>
                          <a:lnTo>
                            <a:pt x="181" y="260"/>
                          </a:lnTo>
                          <a:lnTo>
                            <a:pt x="196" y="254"/>
                          </a:lnTo>
                          <a:lnTo>
                            <a:pt x="210" y="245"/>
                          </a:lnTo>
                          <a:lnTo>
                            <a:pt x="223" y="235"/>
                          </a:lnTo>
                          <a:lnTo>
                            <a:pt x="234" y="224"/>
                          </a:lnTo>
                          <a:lnTo>
                            <a:pt x="244" y="211"/>
                          </a:lnTo>
                          <a:lnTo>
                            <a:pt x="253" y="197"/>
                          </a:lnTo>
                          <a:lnTo>
                            <a:pt x="259" y="182"/>
                          </a:lnTo>
                          <a:lnTo>
                            <a:pt x="264" y="167"/>
                          </a:lnTo>
                          <a:lnTo>
                            <a:pt x="267" y="151"/>
                          </a:lnTo>
                          <a:lnTo>
                            <a:pt x="268" y="135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0" name="Line 2741">
                      <a:extLst>
                        <a:ext uri="{FF2B5EF4-FFF2-40B4-BE49-F238E27FC236}">
                          <a16:creationId xmlns:a16="http://schemas.microsoft.com/office/drawing/2014/main" id="{538C7F4F-D632-4DC5-BD52-2CD148E0968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016251" y="3244850"/>
                      <a:ext cx="1022350" cy="917575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1" name="Line 2742">
                      <a:extLst>
                        <a:ext uri="{FF2B5EF4-FFF2-40B4-BE49-F238E27FC236}">
                          <a16:creationId xmlns:a16="http://schemas.microsoft.com/office/drawing/2014/main" id="{8FFC3F75-D6A8-4105-BFB5-81CD16C42B7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348038" y="3587750"/>
                      <a:ext cx="722313" cy="72390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2" name="Line 2743">
                      <a:extLst>
                        <a:ext uri="{FF2B5EF4-FFF2-40B4-BE49-F238E27FC236}">
                          <a16:creationId xmlns:a16="http://schemas.microsoft.com/office/drawing/2014/main" id="{AA21CED6-358F-40CA-AD6B-1737BF098D3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273426" y="3509963"/>
                      <a:ext cx="723900" cy="725487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24" name="Freeform 2748">
                    <a:extLst>
                      <a:ext uri="{FF2B5EF4-FFF2-40B4-BE49-F238E27FC236}">
                        <a16:creationId xmlns:a16="http://schemas.microsoft.com/office/drawing/2014/main" id="{5AAAB0EB-50E5-4DE6-A0E0-F7E7A3F2A97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4088" y="3121025"/>
                    <a:ext cx="176213" cy="176212"/>
                  </a:xfrm>
                  <a:custGeom>
                    <a:avLst/>
                    <a:gdLst/>
                    <a:ahLst/>
                    <a:cxnLst>
                      <a:cxn ang="0">
                        <a:pos x="0" y="32"/>
                      </a:cxn>
                      <a:cxn ang="0">
                        <a:pos x="32" y="0"/>
                      </a:cxn>
                      <a:cxn ang="0">
                        <a:pos x="111" y="111"/>
                      </a:cxn>
                      <a:cxn ang="0">
                        <a:pos x="0" y="32"/>
                      </a:cxn>
                    </a:cxnLst>
                    <a:rect l="0" t="0" r="r" b="b"/>
                    <a:pathLst>
                      <a:path w="111" h="111">
                        <a:moveTo>
                          <a:pt x="0" y="32"/>
                        </a:moveTo>
                        <a:lnTo>
                          <a:pt x="32" y="0"/>
                        </a:lnTo>
                        <a:lnTo>
                          <a:pt x="111" y="111"/>
                        </a:lnTo>
                        <a:lnTo>
                          <a:pt x="0" y="32"/>
                        </a:lnTo>
                        <a:close/>
                      </a:path>
                    </a:pathLst>
                  </a:custGeom>
                  <a:noFill/>
                  <a:ln w="24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" name="Line 2749">
                    <a:extLst>
                      <a:ext uri="{FF2B5EF4-FFF2-40B4-BE49-F238E27FC236}">
                        <a16:creationId xmlns:a16="http://schemas.microsoft.com/office/drawing/2014/main" id="{DBE9F005-0089-48B6-BAF1-4FEA94B588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94213" y="2979738"/>
                    <a:ext cx="128588" cy="13176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" name="Line 2750">
                    <a:extLst>
                      <a:ext uri="{FF2B5EF4-FFF2-40B4-BE49-F238E27FC236}">
                        <a16:creationId xmlns:a16="http://schemas.microsoft.com/office/drawing/2014/main" id="{B6643867-1977-41FD-B5C0-EE2D5AA43E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22801" y="2979738"/>
                    <a:ext cx="166688" cy="166687"/>
                  </a:xfrm>
                  <a:prstGeom prst="line">
                    <a:avLst/>
                  </a:prstGeom>
                  <a:noFill/>
                  <a:ln w="24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EA4A5851-CDB5-4FDA-A94F-F3E0A0D6A8B7}"/>
                </a:ext>
              </a:extLst>
            </p:cNvPr>
            <p:cNvGrpSpPr/>
            <p:nvPr/>
          </p:nvGrpSpPr>
          <p:grpSpPr>
            <a:xfrm rot="10800000">
              <a:off x="1154067" y="4300549"/>
              <a:ext cx="1924050" cy="1792287"/>
              <a:chOff x="3016251" y="2979738"/>
              <a:chExt cx="1924050" cy="1792287"/>
            </a:xfrm>
            <a:noFill/>
          </p:grpSpPr>
          <p:sp>
            <p:nvSpPr>
              <p:cNvPr id="195" name="Line 2740">
                <a:extLst>
                  <a:ext uri="{FF2B5EF4-FFF2-40B4-BE49-F238E27FC236}">
                    <a16:creationId xmlns:a16="http://schemas.microsoft.com/office/drawing/2014/main" id="{F353A799-BF3F-4ACF-959C-BC54756AC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8751" y="3190875"/>
                <a:ext cx="415925" cy="417512"/>
              </a:xfrm>
              <a:prstGeom prst="line">
                <a:avLst/>
              </a:prstGeom>
              <a:grpFill/>
              <a:ln w="24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96" name="组合 3140">
                <a:extLst>
                  <a:ext uri="{FF2B5EF4-FFF2-40B4-BE49-F238E27FC236}">
                    <a16:creationId xmlns:a16="http://schemas.microsoft.com/office/drawing/2014/main" id="{BB8490F6-30B0-40FD-9666-5AA3983E70FC}"/>
                  </a:ext>
                </a:extLst>
              </p:cNvPr>
              <p:cNvGrpSpPr/>
              <p:nvPr/>
            </p:nvGrpSpPr>
            <p:grpSpPr>
              <a:xfrm>
                <a:off x="3049588" y="3189288"/>
                <a:ext cx="1343025" cy="1346199"/>
                <a:chOff x="3049588" y="3189288"/>
                <a:chExt cx="1343025" cy="1346199"/>
              </a:xfrm>
              <a:grpFill/>
            </p:grpSpPr>
            <p:sp>
              <p:nvSpPr>
                <p:cNvPr id="210" name="Line 2731">
                  <a:extLst>
                    <a:ext uri="{FF2B5EF4-FFF2-40B4-BE49-F238E27FC236}">
                      <a16:creationId xmlns:a16="http://schemas.microsoft.com/office/drawing/2014/main" id="{A254DC9E-06C4-4F47-9C86-E45FB6249B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49601" y="4189413"/>
                  <a:ext cx="244475" cy="244475"/>
                </a:xfrm>
                <a:prstGeom prst="line">
                  <a:avLst/>
                </a:prstGeom>
                <a:grpFill/>
                <a:ln w="24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" name="Line 2732">
                  <a:extLst>
                    <a:ext uri="{FF2B5EF4-FFF2-40B4-BE49-F238E27FC236}">
                      <a16:creationId xmlns:a16="http://schemas.microsoft.com/office/drawing/2014/main" id="{B1FB2CF9-05A3-46AF-A5A5-804756D54B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30588" y="4117975"/>
                  <a:ext cx="34925" cy="36512"/>
                </a:xfrm>
                <a:prstGeom prst="line">
                  <a:avLst/>
                </a:prstGeom>
                <a:grpFill/>
                <a:ln w="24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" name="Line 2733">
                  <a:extLst>
                    <a:ext uri="{FF2B5EF4-FFF2-40B4-BE49-F238E27FC236}">
                      <a16:creationId xmlns:a16="http://schemas.microsoft.com/office/drawing/2014/main" id="{7F71A79D-8FDA-467A-98F7-10265257DC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02026" y="3865563"/>
                  <a:ext cx="215900" cy="215900"/>
                </a:xfrm>
                <a:prstGeom prst="line">
                  <a:avLst/>
                </a:prstGeom>
                <a:grpFill/>
                <a:ln w="24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" name="Line 2734">
                  <a:extLst>
                    <a:ext uri="{FF2B5EF4-FFF2-40B4-BE49-F238E27FC236}">
                      <a16:creationId xmlns:a16="http://schemas.microsoft.com/office/drawing/2014/main" id="{F4C887E1-CFA9-4463-8950-090CA578EC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52851" y="3794125"/>
                  <a:ext cx="36513" cy="36512"/>
                </a:xfrm>
                <a:prstGeom prst="line">
                  <a:avLst/>
                </a:prstGeom>
                <a:grpFill/>
                <a:ln w="24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" name="Line 2735">
                  <a:extLst>
                    <a:ext uri="{FF2B5EF4-FFF2-40B4-BE49-F238E27FC236}">
                      <a16:creationId xmlns:a16="http://schemas.microsoft.com/office/drawing/2014/main" id="{3B43B66E-4BB5-4D94-9E30-EDC02D3993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24288" y="3541713"/>
                  <a:ext cx="215900" cy="215900"/>
                </a:xfrm>
                <a:prstGeom prst="line">
                  <a:avLst/>
                </a:prstGeom>
                <a:grpFill/>
                <a:ln w="24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" name="Line 2736">
                  <a:extLst>
                    <a:ext uri="{FF2B5EF4-FFF2-40B4-BE49-F238E27FC236}">
                      <a16:creationId xmlns:a16="http://schemas.microsoft.com/office/drawing/2014/main" id="{DD34542E-9060-46C1-88F4-D8F1A6E96D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76701" y="3470275"/>
                  <a:ext cx="34925" cy="36512"/>
                </a:xfrm>
                <a:prstGeom prst="line">
                  <a:avLst/>
                </a:prstGeom>
                <a:grpFill/>
                <a:ln w="24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" name="Line 2737">
                  <a:extLst>
                    <a:ext uri="{FF2B5EF4-FFF2-40B4-BE49-F238E27FC236}">
                      <a16:creationId xmlns:a16="http://schemas.microsoft.com/office/drawing/2014/main" id="{B17E4B4A-EF10-4888-89C2-26EDC89806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48138" y="3189288"/>
                  <a:ext cx="244475" cy="244475"/>
                </a:xfrm>
                <a:prstGeom prst="line">
                  <a:avLst/>
                </a:prstGeom>
                <a:grpFill/>
                <a:ln w="24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" name="Line 2744">
                  <a:extLst>
                    <a:ext uri="{FF2B5EF4-FFF2-40B4-BE49-F238E27FC236}">
                      <a16:creationId xmlns:a16="http://schemas.microsoft.com/office/drawing/2014/main" id="{1E51C948-F6D1-4DFD-9A36-47E6D2C61A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49588" y="4422775"/>
                  <a:ext cx="112713" cy="112712"/>
                </a:xfrm>
                <a:prstGeom prst="line">
                  <a:avLst/>
                </a:prstGeom>
                <a:grpFill/>
                <a:ln w="24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7" name="组合 3163">
                <a:extLst>
                  <a:ext uri="{FF2B5EF4-FFF2-40B4-BE49-F238E27FC236}">
                    <a16:creationId xmlns:a16="http://schemas.microsoft.com/office/drawing/2014/main" id="{036119B0-065E-4E48-B141-78BF0B2E1764}"/>
                  </a:ext>
                </a:extLst>
              </p:cNvPr>
              <p:cNvGrpSpPr/>
              <p:nvPr/>
            </p:nvGrpSpPr>
            <p:grpSpPr>
              <a:xfrm>
                <a:off x="3016251" y="2979738"/>
                <a:ext cx="1924050" cy="1792287"/>
                <a:chOff x="3016251" y="2979738"/>
                <a:chExt cx="1924050" cy="1792287"/>
              </a:xfrm>
              <a:grpFill/>
            </p:grpSpPr>
            <p:sp>
              <p:nvSpPr>
                <p:cNvPr id="198" name="Freeform 2747">
                  <a:extLst>
                    <a:ext uri="{FF2B5EF4-FFF2-40B4-BE49-F238E27FC236}">
                      <a16:creationId xmlns:a16="http://schemas.microsoft.com/office/drawing/2014/main" id="{3AAEC71E-BE1A-4497-A5B7-E99C696661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4088" y="3121025"/>
                  <a:ext cx="176213" cy="176212"/>
                </a:xfrm>
                <a:custGeom>
                  <a:avLst/>
                  <a:gdLst/>
                  <a:ahLst/>
                  <a:cxnLst>
                    <a:cxn ang="0">
                      <a:pos x="0" y="32"/>
                    </a:cxn>
                    <a:cxn ang="0">
                      <a:pos x="32" y="0"/>
                    </a:cxn>
                    <a:cxn ang="0">
                      <a:pos x="111" y="111"/>
                    </a:cxn>
                    <a:cxn ang="0">
                      <a:pos x="0" y="32"/>
                    </a:cxn>
                  </a:cxnLst>
                  <a:rect l="0" t="0" r="r" b="b"/>
                  <a:pathLst>
                    <a:path w="111" h="111">
                      <a:moveTo>
                        <a:pt x="0" y="32"/>
                      </a:moveTo>
                      <a:lnTo>
                        <a:pt x="32" y="0"/>
                      </a:lnTo>
                      <a:lnTo>
                        <a:pt x="111" y="111"/>
                      </a:lnTo>
                      <a:lnTo>
                        <a:pt x="0" y="3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99" name="组合 3151">
                  <a:extLst>
                    <a:ext uri="{FF2B5EF4-FFF2-40B4-BE49-F238E27FC236}">
                      <a16:creationId xmlns:a16="http://schemas.microsoft.com/office/drawing/2014/main" id="{23709B60-DEF4-45EE-84A4-78228A523485}"/>
                    </a:ext>
                  </a:extLst>
                </p:cNvPr>
                <p:cNvGrpSpPr/>
                <p:nvPr/>
              </p:nvGrpSpPr>
              <p:grpSpPr>
                <a:xfrm>
                  <a:off x="3016251" y="2979738"/>
                  <a:ext cx="1924050" cy="1792287"/>
                  <a:chOff x="3016251" y="2979738"/>
                  <a:chExt cx="1924050" cy="1792287"/>
                </a:xfrm>
                <a:grpFill/>
              </p:grpSpPr>
              <p:grpSp>
                <p:nvGrpSpPr>
                  <p:cNvPr id="200" name="组合 3142">
                    <a:extLst>
                      <a:ext uri="{FF2B5EF4-FFF2-40B4-BE49-F238E27FC236}">
                        <a16:creationId xmlns:a16="http://schemas.microsoft.com/office/drawing/2014/main" id="{98A1BFF9-A41E-417E-8A6C-CCCB80FB3C4E}"/>
                      </a:ext>
                    </a:extLst>
                  </p:cNvPr>
                  <p:cNvGrpSpPr/>
                  <p:nvPr/>
                </p:nvGrpSpPr>
                <p:grpSpPr>
                  <a:xfrm>
                    <a:off x="3016251" y="3190875"/>
                    <a:ext cx="1377950" cy="1581150"/>
                    <a:chOff x="3016251" y="3190875"/>
                    <a:chExt cx="1377950" cy="1581150"/>
                  </a:xfrm>
                  <a:grpFill/>
                </p:grpSpPr>
                <p:sp>
                  <p:nvSpPr>
                    <p:cNvPr id="204" name="Line 2691">
                      <a:extLst>
                        <a:ext uri="{FF2B5EF4-FFF2-40B4-BE49-F238E27FC236}">
                          <a16:creationId xmlns:a16="http://schemas.microsoft.com/office/drawing/2014/main" id="{C8C8034E-D1FA-4D73-BBAB-D9F6E61A38E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338513" y="3540125"/>
                      <a:ext cx="1008063" cy="1231900"/>
                    </a:xfrm>
                    <a:prstGeom prst="line">
                      <a:avLst/>
                    </a:prstGeom>
                    <a:grpFill/>
                    <a:ln w="2540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05" name="Freeform 2738">
                      <a:extLst>
                        <a:ext uri="{FF2B5EF4-FFF2-40B4-BE49-F238E27FC236}">
                          <a16:creationId xmlns:a16="http://schemas.microsoft.com/office/drawing/2014/main" id="{362A1A8D-9612-478D-A9D0-B8369B70FB2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075113" y="3297238"/>
                      <a:ext cx="212725" cy="214312"/>
                    </a:xfrm>
                    <a:custGeom>
                      <a:avLst/>
                      <a:gdLst/>
                      <a:ahLst/>
                      <a:cxnLst>
                        <a:cxn ang="0">
                          <a:pos x="134" y="68"/>
                        </a:cxn>
                        <a:cxn ang="0">
                          <a:pos x="133" y="56"/>
                        </a:cxn>
                        <a:cxn ang="0">
                          <a:pos x="130" y="45"/>
                        </a:cxn>
                        <a:cxn ang="0">
                          <a:pos x="125" y="34"/>
                        </a:cxn>
                        <a:cxn ang="0">
                          <a:pos x="118" y="24"/>
                        </a:cxn>
                        <a:cxn ang="0">
                          <a:pos x="110" y="16"/>
                        </a:cxn>
                        <a:cxn ang="0">
                          <a:pos x="100" y="9"/>
                        </a:cxn>
                        <a:cxn ang="0">
                          <a:pos x="90" y="4"/>
                        </a:cxn>
                        <a:cxn ang="0">
                          <a:pos x="79" y="1"/>
                        </a:cxn>
                        <a:cxn ang="0">
                          <a:pos x="67" y="0"/>
                        </a:cxn>
                        <a:cxn ang="0">
                          <a:pos x="55" y="1"/>
                        </a:cxn>
                        <a:cxn ang="0">
                          <a:pos x="44" y="4"/>
                        </a:cxn>
                        <a:cxn ang="0">
                          <a:pos x="33" y="9"/>
                        </a:cxn>
                        <a:cxn ang="0">
                          <a:pos x="24" y="16"/>
                        </a:cxn>
                        <a:cxn ang="0">
                          <a:pos x="16" y="24"/>
                        </a:cxn>
                        <a:cxn ang="0">
                          <a:pos x="9" y="34"/>
                        </a:cxn>
                        <a:cxn ang="0">
                          <a:pos x="4" y="45"/>
                        </a:cxn>
                        <a:cxn ang="0">
                          <a:pos x="1" y="56"/>
                        </a:cxn>
                        <a:cxn ang="0">
                          <a:pos x="0" y="68"/>
                        </a:cxn>
                        <a:cxn ang="0">
                          <a:pos x="1" y="79"/>
                        </a:cxn>
                        <a:cxn ang="0">
                          <a:pos x="4" y="91"/>
                        </a:cxn>
                        <a:cxn ang="0">
                          <a:pos x="9" y="101"/>
                        </a:cxn>
                        <a:cxn ang="0">
                          <a:pos x="16" y="111"/>
                        </a:cxn>
                        <a:cxn ang="0">
                          <a:pos x="24" y="119"/>
                        </a:cxn>
                        <a:cxn ang="0">
                          <a:pos x="33" y="126"/>
                        </a:cxn>
                        <a:cxn ang="0">
                          <a:pos x="44" y="131"/>
                        </a:cxn>
                        <a:cxn ang="0">
                          <a:pos x="55" y="134"/>
                        </a:cxn>
                        <a:cxn ang="0">
                          <a:pos x="67" y="135"/>
                        </a:cxn>
                        <a:cxn ang="0">
                          <a:pos x="79" y="134"/>
                        </a:cxn>
                        <a:cxn ang="0">
                          <a:pos x="90" y="131"/>
                        </a:cxn>
                        <a:cxn ang="0">
                          <a:pos x="100" y="126"/>
                        </a:cxn>
                        <a:cxn ang="0">
                          <a:pos x="110" y="119"/>
                        </a:cxn>
                        <a:cxn ang="0">
                          <a:pos x="118" y="111"/>
                        </a:cxn>
                        <a:cxn ang="0">
                          <a:pos x="125" y="101"/>
                        </a:cxn>
                        <a:cxn ang="0">
                          <a:pos x="130" y="91"/>
                        </a:cxn>
                        <a:cxn ang="0">
                          <a:pos x="133" y="79"/>
                        </a:cxn>
                        <a:cxn ang="0">
                          <a:pos x="134" y="68"/>
                        </a:cxn>
                      </a:cxnLst>
                      <a:rect l="0" t="0" r="r" b="b"/>
                      <a:pathLst>
                        <a:path w="134" h="135">
                          <a:moveTo>
                            <a:pt x="134" y="68"/>
                          </a:moveTo>
                          <a:lnTo>
                            <a:pt x="133" y="56"/>
                          </a:lnTo>
                          <a:lnTo>
                            <a:pt x="130" y="45"/>
                          </a:lnTo>
                          <a:lnTo>
                            <a:pt x="125" y="34"/>
                          </a:lnTo>
                          <a:lnTo>
                            <a:pt x="118" y="24"/>
                          </a:lnTo>
                          <a:lnTo>
                            <a:pt x="110" y="16"/>
                          </a:lnTo>
                          <a:lnTo>
                            <a:pt x="100" y="9"/>
                          </a:lnTo>
                          <a:lnTo>
                            <a:pt x="90" y="4"/>
                          </a:lnTo>
                          <a:lnTo>
                            <a:pt x="79" y="1"/>
                          </a:lnTo>
                          <a:lnTo>
                            <a:pt x="67" y="0"/>
                          </a:lnTo>
                          <a:lnTo>
                            <a:pt x="55" y="1"/>
                          </a:lnTo>
                          <a:lnTo>
                            <a:pt x="44" y="4"/>
                          </a:lnTo>
                          <a:lnTo>
                            <a:pt x="33" y="9"/>
                          </a:lnTo>
                          <a:lnTo>
                            <a:pt x="24" y="16"/>
                          </a:lnTo>
                          <a:lnTo>
                            <a:pt x="16" y="24"/>
                          </a:lnTo>
                          <a:lnTo>
                            <a:pt x="9" y="34"/>
                          </a:lnTo>
                          <a:lnTo>
                            <a:pt x="4" y="45"/>
                          </a:lnTo>
                          <a:lnTo>
                            <a:pt x="1" y="56"/>
                          </a:lnTo>
                          <a:lnTo>
                            <a:pt x="0" y="68"/>
                          </a:lnTo>
                          <a:lnTo>
                            <a:pt x="1" y="79"/>
                          </a:lnTo>
                          <a:lnTo>
                            <a:pt x="4" y="91"/>
                          </a:lnTo>
                          <a:lnTo>
                            <a:pt x="9" y="101"/>
                          </a:lnTo>
                          <a:lnTo>
                            <a:pt x="16" y="111"/>
                          </a:lnTo>
                          <a:lnTo>
                            <a:pt x="24" y="119"/>
                          </a:lnTo>
                          <a:lnTo>
                            <a:pt x="33" y="126"/>
                          </a:lnTo>
                          <a:lnTo>
                            <a:pt x="44" y="131"/>
                          </a:lnTo>
                          <a:lnTo>
                            <a:pt x="55" y="134"/>
                          </a:lnTo>
                          <a:lnTo>
                            <a:pt x="67" y="135"/>
                          </a:lnTo>
                          <a:lnTo>
                            <a:pt x="79" y="134"/>
                          </a:lnTo>
                          <a:lnTo>
                            <a:pt x="90" y="131"/>
                          </a:lnTo>
                          <a:lnTo>
                            <a:pt x="100" y="126"/>
                          </a:lnTo>
                          <a:lnTo>
                            <a:pt x="110" y="119"/>
                          </a:lnTo>
                          <a:lnTo>
                            <a:pt x="118" y="111"/>
                          </a:lnTo>
                          <a:lnTo>
                            <a:pt x="125" y="101"/>
                          </a:lnTo>
                          <a:lnTo>
                            <a:pt x="130" y="91"/>
                          </a:lnTo>
                          <a:lnTo>
                            <a:pt x="133" y="79"/>
                          </a:lnTo>
                          <a:lnTo>
                            <a:pt x="134" y="68"/>
                          </a:lnTo>
                          <a:close/>
                        </a:path>
                      </a:pathLst>
                    </a:custGeom>
                    <a:grpFill/>
                    <a:ln w="2540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06" name="Freeform 2739">
                      <a:extLst>
                        <a:ext uri="{FF2B5EF4-FFF2-40B4-BE49-F238E27FC236}">
                          <a16:creationId xmlns:a16="http://schemas.microsoft.com/office/drawing/2014/main" id="{92FA0FF9-7BEB-4BAB-9E57-530E59758C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968751" y="3190875"/>
                      <a:ext cx="425450" cy="427037"/>
                    </a:xfrm>
                    <a:custGeom>
                      <a:avLst/>
                      <a:gdLst/>
                      <a:ahLst/>
                      <a:cxnLst>
                        <a:cxn ang="0">
                          <a:pos x="268" y="135"/>
                        </a:cxn>
                        <a:cxn ang="0">
                          <a:pos x="267" y="118"/>
                        </a:cxn>
                        <a:cxn ang="0">
                          <a:pos x="264" y="102"/>
                        </a:cxn>
                        <a:cxn ang="0">
                          <a:pos x="259" y="87"/>
                        </a:cxn>
                        <a:cxn ang="0">
                          <a:pos x="253" y="72"/>
                        </a:cxn>
                        <a:cxn ang="0">
                          <a:pos x="244" y="58"/>
                        </a:cxn>
                        <a:cxn ang="0">
                          <a:pos x="234" y="45"/>
                        </a:cxn>
                        <a:cxn ang="0">
                          <a:pos x="223" y="34"/>
                        </a:cxn>
                        <a:cxn ang="0">
                          <a:pos x="210" y="24"/>
                        </a:cxn>
                        <a:cxn ang="0">
                          <a:pos x="196" y="16"/>
                        </a:cxn>
                        <a:cxn ang="0">
                          <a:pos x="181" y="9"/>
                        </a:cxn>
                        <a:cxn ang="0">
                          <a:pos x="166" y="4"/>
                        </a:cxn>
                        <a:cxn ang="0">
                          <a:pos x="150" y="1"/>
                        </a:cxn>
                        <a:cxn ang="0">
                          <a:pos x="134" y="0"/>
                        </a:cxn>
                        <a:cxn ang="0">
                          <a:pos x="118" y="1"/>
                        </a:cxn>
                        <a:cxn ang="0">
                          <a:pos x="102" y="4"/>
                        </a:cxn>
                        <a:cxn ang="0">
                          <a:pos x="86" y="9"/>
                        </a:cxn>
                        <a:cxn ang="0">
                          <a:pos x="72" y="16"/>
                        </a:cxn>
                        <a:cxn ang="0">
                          <a:pos x="58" y="24"/>
                        </a:cxn>
                        <a:cxn ang="0">
                          <a:pos x="45" y="34"/>
                        </a:cxn>
                        <a:cxn ang="0">
                          <a:pos x="33" y="45"/>
                        </a:cxn>
                        <a:cxn ang="0">
                          <a:pos x="24" y="58"/>
                        </a:cxn>
                        <a:cxn ang="0">
                          <a:pos x="15" y="72"/>
                        </a:cxn>
                        <a:cxn ang="0">
                          <a:pos x="9" y="87"/>
                        </a:cxn>
                        <a:cxn ang="0">
                          <a:pos x="4" y="102"/>
                        </a:cxn>
                        <a:cxn ang="0">
                          <a:pos x="1" y="118"/>
                        </a:cxn>
                        <a:cxn ang="0">
                          <a:pos x="0" y="135"/>
                        </a:cxn>
                        <a:cxn ang="0">
                          <a:pos x="1" y="151"/>
                        </a:cxn>
                        <a:cxn ang="0">
                          <a:pos x="4" y="167"/>
                        </a:cxn>
                        <a:cxn ang="0">
                          <a:pos x="9" y="182"/>
                        </a:cxn>
                        <a:cxn ang="0">
                          <a:pos x="15" y="197"/>
                        </a:cxn>
                        <a:cxn ang="0">
                          <a:pos x="24" y="211"/>
                        </a:cxn>
                        <a:cxn ang="0">
                          <a:pos x="33" y="224"/>
                        </a:cxn>
                        <a:cxn ang="0">
                          <a:pos x="45" y="235"/>
                        </a:cxn>
                        <a:cxn ang="0">
                          <a:pos x="58" y="245"/>
                        </a:cxn>
                        <a:cxn ang="0">
                          <a:pos x="72" y="254"/>
                        </a:cxn>
                        <a:cxn ang="0">
                          <a:pos x="86" y="260"/>
                        </a:cxn>
                        <a:cxn ang="0">
                          <a:pos x="102" y="265"/>
                        </a:cxn>
                        <a:cxn ang="0">
                          <a:pos x="118" y="268"/>
                        </a:cxn>
                        <a:cxn ang="0">
                          <a:pos x="134" y="269"/>
                        </a:cxn>
                        <a:cxn ang="0">
                          <a:pos x="150" y="268"/>
                        </a:cxn>
                        <a:cxn ang="0">
                          <a:pos x="166" y="265"/>
                        </a:cxn>
                        <a:cxn ang="0">
                          <a:pos x="181" y="260"/>
                        </a:cxn>
                        <a:cxn ang="0">
                          <a:pos x="196" y="254"/>
                        </a:cxn>
                        <a:cxn ang="0">
                          <a:pos x="210" y="245"/>
                        </a:cxn>
                        <a:cxn ang="0">
                          <a:pos x="223" y="235"/>
                        </a:cxn>
                        <a:cxn ang="0">
                          <a:pos x="234" y="224"/>
                        </a:cxn>
                        <a:cxn ang="0">
                          <a:pos x="244" y="211"/>
                        </a:cxn>
                        <a:cxn ang="0">
                          <a:pos x="253" y="197"/>
                        </a:cxn>
                        <a:cxn ang="0">
                          <a:pos x="259" y="182"/>
                        </a:cxn>
                        <a:cxn ang="0">
                          <a:pos x="264" y="167"/>
                        </a:cxn>
                        <a:cxn ang="0">
                          <a:pos x="267" y="151"/>
                        </a:cxn>
                        <a:cxn ang="0">
                          <a:pos x="268" y="135"/>
                        </a:cxn>
                      </a:cxnLst>
                      <a:rect l="0" t="0" r="r" b="b"/>
                      <a:pathLst>
                        <a:path w="268" h="269">
                          <a:moveTo>
                            <a:pt x="268" y="135"/>
                          </a:moveTo>
                          <a:lnTo>
                            <a:pt x="267" y="118"/>
                          </a:lnTo>
                          <a:lnTo>
                            <a:pt x="264" y="102"/>
                          </a:lnTo>
                          <a:lnTo>
                            <a:pt x="259" y="87"/>
                          </a:lnTo>
                          <a:lnTo>
                            <a:pt x="253" y="72"/>
                          </a:lnTo>
                          <a:lnTo>
                            <a:pt x="244" y="58"/>
                          </a:lnTo>
                          <a:lnTo>
                            <a:pt x="234" y="45"/>
                          </a:lnTo>
                          <a:lnTo>
                            <a:pt x="223" y="34"/>
                          </a:lnTo>
                          <a:lnTo>
                            <a:pt x="210" y="24"/>
                          </a:lnTo>
                          <a:lnTo>
                            <a:pt x="196" y="16"/>
                          </a:lnTo>
                          <a:lnTo>
                            <a:pt x="181" y="9"/>
                          </a:lnTo>
                          <a:lnTo>
                            <a:pt x="166" y="4"/>
                          </a:lnTo>
                          <a:lnTo>
                            <a:pt x="150" y="1"/>
                          </a:lnTo>
                          <a:lnTo>
                            <a:pt x="134" y="0"/>
                          </a:lnTo>
                          <a:lnTo>
                            <a:pt x="118" y="1"/>
                          </a:lnTo>
                          <a:lnTo>
                            <a:pt x="102" y="4"/>
                          </a:lnTo>
                          <a:lnTo>
                            <a:pt x="86" y="9"/>
                          </a:lnTo>
                          <a:lnTo>
                            <a:pt x="72" y="16"/>
                          </a:lnTo>
                          <a:lnTo>
                            <a:pt x="58" y="24"/>
                          </a:lnTo>
                          <a:lnTo>
                            <a:pt x="45" y="34"/>
                          </a:lnTo>
                          <a:lnTo>
                            <a:pt x="33" y="45"/>
                          </a:lnTo>
                          <a:lnTo>
                            <a:pt x="24" y="58"/>
                          </a:lnTo>
                          <a:lnTo>
                            <a:pt x="15" y="72"/>
                          </a:lnTo>
                          <a:lnTo>
                            <a:pt x="9" y="87"/>
                          </a:lnTo>
                          <a:lnTo>
                            <a:pt x="4" y="102"/>
                          </a:lnTo>
                          <a:lnTo>
                            <a:pt x="1" y="118"/>
                          </a:lnTo>
                          <a:lnTo>
                            <a:pt x="0" y="135"/>
                          </a:lnTo>
                          <a:lnTo>
                            <a:pt x="1" y="151"/>
                          </a:lnTo>
                          <a:lnTo>
                            <a:pt x="4" y="167"/>
                          </a:lnTo>
                          <a:lnTo>
                            <a:pt x="9" y="182"/>
                          </a:lnTo>
                          <a:lnTo>
                            <a:pt x="15" y="197"/>
                          </a:lnTo>
                          <a:lnTo>
                            <a:pt x="24" y="211"/>
                          </a:lnTo>
                          <a:lnTo>
                            <a:pt x="33" y="224"/>
                          </a:lnTo>
                          <a:lnTo>
                            <a:pt x="45" y="235"/>
                          </a:lnTo>
                          <a:lnTo>
                            <a:pt x="58" y="245"/>
                          </a:lnTo>
                          <a:lnTo>
                            <a:pt x="72" y="254"/>
                          </a:lnTo>
                          <a:lnTo>
                            <a:pt x="86" y="260"/>
                          </a:lnTo>
                          <a:lnTo>
                            <a:pt x="102" y="265"/>
                          </a:lnTo>
                          <a:lnTo>
                            <a:pt x="118" y="268"/>
                          </a:lnTo>
                          <a:lnTo>
                            <a:pt x="134" y="269"/>
                          </a:lnTo>
                          <a:lnTo>
                            <a:pt x="150" y="268"/>
                          </a:lnTo>
                          <a:lnTo>
                            <a:pt x="166" y="265"/>
                          </a:lnTo>
                          <a:lnTo>
                            <a:pt x="181" y="260"/>
                          </a:lnTo>
                          <a:lnTo>
                            <a:pt x="196" y="254"/>
                          </a:lnTo>
                          <a:lnTo>
                            <a:pt x="210" y="245"/>
                          </a:lnTo>
                          <a:lnTo>
                            <a:pt x="223" y="235"/>
                          </a:lnTo>
                          <a:lnTo>
                            <a:pt x="234" y="224"/>
                          </a:lnTo>
                          <a:lnTo>
                            <a:pt x="244" y="211"/>
                          </a:lnTo>
                          <a:lnTo>
                            <a:pt x="253" y="197"/>
                          </a:lnTo>
                          <a:lnTo>
                            <a:pt x="259" y="182"/>
                          </a:lnTo>
                          <a:lnTo>
                            <a:pt x="264" y="167"/>
                          </a:lnTo>
                          <a:lnTo>
                            <a:pt x="267" y="151"/>
                          </a:lnTo>
                          <a:lnTo>
                            <a:pt x="268" y="135"/>
                          </a:lnTo>
                          <a:close/>
                        </a:path>
                      </a:pathLst>
                    </a:custGeom>
                    <a:grpFill/>
                    <a:ln w="2540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07" name="Line 2741">
                      <a:extLst>
                        <a:ext uri="{FF2B5EF4-FFF2-40B4-BE49-F238E27FC236}">
                          <a16:creationId xmlns:a16="http://schemas.microsoft.com/office/drawing/2014/main" id="{CB14C388-73DA-4229-8AE8-8F18C533A85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016251" y="3244850"/>
                      <a:ext cx="1022350" cy="917575"/>
                    </a:xfrm>
                    <a:prstGeom prst="line">
                      <a:avLst/>
                    </a:prstGeom>
                    <a:grpFill/>
                    <a:ln w="2540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08" name="Line 2742">
                      <a:extLst>
                        <a:ext uri="{FF2B5EF4-FFF2-40B4-BE49-F238E27FC236}">
                          <a16:creationId xmlns:a16="http://schemas.microsoft.com/office/drawing/2014/main" id="{EF54742E-6CCD-477F-9D88-E923A35F2CF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348038" y="3587750"/>
                      <a:ext cx="722313" cy="723900"/>
                    </a:xfrm>
                    <a:prstGeom prst="line">
                      <a:avLst/>
                    </a:prstGeom>
                    <a:grpFill/>
                    <a:ln w="2540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09" name="Line 2743">
                      <a:extLst>
                        <a:ext uri="{FF2B5EF4-FFF2-40B4-BE49-F238E27FC236}">
                          <a16:creationId xmlns:a16="http://schemas.microsoft.com/office/drawing/2014/main" id="{385E262F-5EAA-416C-A17B-8EDD676B7D3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273426" y="3509963"/>
                      <a:ext cx="723900" cy="725487"/>
                    </a:xfrm>
                    <a:prstGeom prst="line">
                      <a:avLst/>
                    </a:prstGeom>
                    <a:grpFill/>
                    <a:ln w="2540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01" name="Freeform 2748">
                    <a:extLst>
                      <a:ext uri="{FF2B5EF4-FFF2-40B4-BE49-F238E27FC236}">
                        <a16:creationId xmlns:a16="http://schemas.microsoft.com/office/drawing/2014/main" id="{85ED189A-0117-4EC2-A9DB-C8557E854C9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4088" y="3121025"/>
                    <a:ext cx="176213" cy="176212"/>
                  </a:xfrm>
                  <a:custGeom>
                    <a:avLst/>
                    <a:gdLst/>
                    <a:ahLst/>
                    <a:cxnLst>
                      <a:cxn ang="0">
                        <a:pos x="0" y="32"/>
                      </a:cxn>
                      <a:cxn ang="0">
                        <a:pos x="32" y="0"/>
                      </a:cxn>
                      <a:cxn ang="0">
                        <a:pos x="111" y="111"/>
                      </a:cxn>
                      <a:cxn ang="0">
                        <a:pos x="0" y="32"/>
                      </a:cxn>
                    </a:cxnLst>
                    <a:rect l="0" t="0" r="r" b="b"/>
                    <a:pathLst>
                      <a:path w="111" h="111">
                        <a:moveTo>
                          <a:pt x="0" y="32"/>
                        </a:moveTo>
                        <a:lnTo>
                          <a:pt x="32" y="0"/>
                        </a:lnTo>
                        <a:lnTo>
                          <a:pt x="111" y="111"/>
                        </a:lnTo>
                        <a:lnTo>
                          <a:pt x="0" y="32"/>
                        </a:lnTo>
                        <a:close/>
                      </a:path>
                    </a:pathLst>
                  </a:custGeom>
                  <a:grpFill/>
                  <a:ln w="24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02" name="Line 2749">
                    <a:extLst>
                      <a:ext uri="{FF2B5EF4-FFF2-40B4-BE49-F238E27FC236}">
                        <a16:creationId xmlns:a16="http://schemas.microsoft.com/office/drawing/2014/main" id="{13374426-68E0-4DE4-9B73-CC75571098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94213" y="2979738"/>
                    <a:ext cx="128588" cy="131762"/>
                  </a:xfrm>
                  <a:prstGeom prst="line">
                    <a:avLst/>
                  </a:prstGeom>
                  <a:grpFill/>
                  <a:ln w="2540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03" name="Line 2750">
                    <a:extLst>
                      <a:ext uri="{FF2B5EF4-FFF2-40B4-BE49-F238E27FC236}">
                        <a16:creationId xmlns:a16="http://schemas.microsoft.com/office/drawing/2014/main" id="{909505B6-E646-41B6-85FC-35A798B6DF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22801" y="2979738"/>
                    <a:ext cx="166688" cy="166687"/>
                  </a:xfrm>
                  <a:prstGeom prst="line">
                    <a:avLst/>
                  </a:prstGeom>
                  <a:grpFill/>
                  <a:ln w="24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046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11" dur="2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700000">
                                      <p:cBhvr>
                                        <p:cTn id="14" dur="2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" name="Picture 314">
            <a:extLst>
              <a:ext uri="{FF2B5EF4-FFF2-40B4-BE49-F238E27FC236}">
                <a16:creationId xmlns:a16="http://schemas.microsoft.com/office/drawing/2014/main" id="{A338A80F-C539-44E2-9BB1-1C3A5CAD4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603612" y="2096852"/>
            <a:ext cx="7653338" cy="40163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7C840E1-F6E7-4BB6-9C0E-D23B5964B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550" y="6003689"/>
            <a:ext cx="904875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900">
                <a:solidFill>
                  <a:srgbClr val="FF0000"/>
                </a:solidFill>
                <a:latin typeface="宋体" charset="-122"/>
              </a:rPr>
              <a:t>正 确</a:t>
            </a:r>
            <a:endParaRPr lang="zh-CN" altLang="en-US" sz="4000">
              <a:solidFill>
                <a:srgbClr val="FF0000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7674EB8-C2A4-4C74-8E47-A561A00BC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6750" y="6040202"/>
            <a:ext cx="1423987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 altLang="zh-CN" sz="290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2900">
                <a:solidFill>
                  <a:srgbClr val="FF0000"/>
                </a:solidFill>
                <a:latin typeface="宋体" charset="-122"/>
              </a:rPr>
              <a:t>错 误</a:t>
            </a:r>
            <a:endParaRPr lang="zh-CN" altLang="en-US" sz="4000">
              <a:solidFill>
                <a:srgbClr val="FF0000"/>
              </a:solidFill>
            </a:endParaRPr>
          </a:p>
        </p:txBody>
      </p:sp>
      <p:sp>
        <p:nvSpPr>
          <p:cNvPr id="6" name="Text Box 159">
            <a:extLst>
              <a:ext uri="{FF2B5EF4-FFF2-40B4-BE49-F238E27FC236}">
                <a16:creationId xmlns:a16="http://schemas.microsoft.com/office/drawing/2014/main" id="{014C14F3-EA99-4B27-A81F-828753A00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2680" y="1740409"/>
            <a:ext cx="84343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333399"/>
                </a:solidFill>
                <a:latin typeface="宋体" charset="-122"/>
              </a:rPr>
              <a:t>④ 当剖切后产生不完整要素时，该部分按不剖绘制。</a:t>
            </a:r>
          </a:p>
        </p:txBody>
      </p:sp>
      <p:sp>
        <p:nvSpPr>
          <p:cNvPr id="7" name="AutoShape 312">
            <a:extLst>
              <a:ext uri="{FF2B5EF4-FFF2-40B4-BE49-F238E27FC236}">
                <a16:creationId xmlns:a16="http://schemas.microsoft.com/office/drawing/2014/main" id="{4E94E7B2-1D48-4915-8EF5-2B5D9E85DBBF}"/>
              </a:ext>
            </a:extLst>
          </p:cNvPr>
          <p:cNvSpPr>
            <a:spLocks noChangeArrowheads="1"/>
          </p:cNvSpPr>
          <p:nvPr/>
        </p:nvSpPr>
        <p:spPr bwMode="auto">
          <a:xfrm rot="-2579235">
            <a:off x="8905987" y="3295414"/>
            <a:ext cx="206375" cy="576263"/>
          </a:xfrm>
          <a:prstGeom prst="upArrow">
            <a:avLst>
              <a:gd name="adj1" fmla="val 50000"/>
              <a:gd name="adj2" fmla="val 69808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313">
            <a:extLst>
              <a:ext uri="{FF2B5EF4-FFF2-40B4-BE49-F238E27FC236}">
                <a16:creationId xmlns:a16="http://schemas.microsoft.com/office/drawing/2014/main" id="{3CA0BDEF-5BDA-45B0-9672-28FBC76649DE}"/>
              </a:ext>
            </a:extLst>
          </p:cNvPr>
          <p:cNvSpPr>
            <a:spLocks noChangeArrowheads="1"/>
          </p:cNvSpPr>
          <p:nvPr/>
        </p:nvSpPr>
        <p:spPr bwMode="auto">
          <a:xfrm rot="-2579235">
            <a:off x="4926125" y="3258902"/>
            <a:ext cx="206375" cy="576262"/>
          </a:xfrm>
          <a:prstGeom prst="upArrow">
            <a:avLst>
              <a:gd name="adj1" fmla="val 50000"/>
              <a:gd name="adj2" fmla="val 69808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1EFFAD84-F42C-4146-8A2F-C40161BC6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497" y="1204683"/>
            <a:ext cx="32512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☆ </a:t>
            </a: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应注意的问题：</a:t>
            </a:r>
          </a:p>
        </p:txBody>
      </p:sp>
    </p:spTree>
    <p:extLst>
      <p:ext uri="{BB962C8B-B14F-4D97-AF65-F5344CB8AC3E}">
        <p14:creationId xmlns:p14="http://schemas.microsoft.com/office/powerpoint/2010/main" val="379140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build="p" autoUpdateAnimBg="0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" name="Picture 230">
            <a:extLst>
              <a:ext uri="{FF2B5EF4-FFF2-40B4-BE49-F238E27FC236}">
                <a16:creationId xmlns:a16="http://schemas.microsoft.com/office/drawing/2014/main" id="{A124F731-4126-43D1-9DEF-79A34BFBD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12367" y="1806753"/>
            <a:ext cx="1943100" cy="30241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FA85D78B-E2D9-4981-A597-C0F8D724B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958" y="1155234"/>
            <a:ext cx="505779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003399"/>
                </a:solidFill>
                <a:latin typeface="宋体" charset="-122"/>
              </a:rPr>
              <a:t>3. </a:t>
            </a:r>
            <a:r>
              <a:rPr lang="zh-CN" altLang="en-US" sz="2800" b="1" dirty="0">
                <a:solidFill>
                  <a:srgbClr val="003399"/>
                </a:solidFill>
                <a:latin typeface="宋体" charset="-122"/>
              </a:rPr>
              <a:t>一组相互平行的剖切平面  </a:t>
            </a:r>
          </a:p>
        </p:txBody>
      </p:sp>
      <p:sp>
        <p:nvSpPr>
          <p:cNvPr id="5" name="Text Box 127">
            <a:extLst>
              <a:ext uri="{FF2B5EF4-FFF2-40B4-BE49-F238E27FC236}">
                <a16:creationId xmlns:a16="http://schemas.microsoft.com/office/drawing/2014/main" id="{8446072F-DE58-42F0-8B76-13218FC13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568" y="4763837"/>
            <a:ext cx="2514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3300"/>
                </a:solidFill>
                <a:latin typeface="宋体" charset="-122"/>
              </a:rPr>
              <a:t>☆ </a:t>
            </a:r>
            <a:r>
              <a:rPr lang="zh-CN" altLang="en-US" sz="2800" dirty="0">
                <a:solidFill>
                  <a:srgbClr val="FF3300"/>
                </a:solidFill>
                <a:latin typeface="宋体" charset="-122"/>
              </a:rPr>
              <a:t>标注方法：</a:t>
            </a:r>
          </a:p>
        </p:txBody>
      </p:sp>
      <p:sp>
        <p:nvSpPr>
          <p:cNvPr id="6" name="Text Box 128">
            <a:extLst>
              <a:ext uri="{FF2B5EF4-FFF2-40B4-BE49-F238E27FC236}">
                <a16:creationId xmlns:a16="http://schemas.microsoft.com/office/drawing/2014/main" id="{AA7C40B1-3C7A-4ECF-B845-579958F66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1978" y="5205911"/>
            <a:ext cx="2514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3300"/>
                </a:solidFill>
                <a:latin typeface="宋体" charset="-122"/>
              </a:rPr>
              <a:t>☆ </a:t>
            </a:r>
            <a:r>
              <a:rPr lang="zh-CN" altLang="en-US" sz="2800" dirty="0">
                <a:solidFill>
                  <a:srgbClr val="FF3300"/>
                </a:solidFill>
                <a:latin typeface="宋体" charset="-122"/>
              </a:rPr>
              <a:t>适用范围：</a:t>
            </a:r>
          </a:p>
        </p:txBody>
      </p:sp>
      <p:sp>
        <p:nvSpPr>
          <p:cNvPr id="7" name="Text Box 129">
            <a:extLst>
              <a:ext uri="{FF2B5EF4-FFF2-40B4-BE49-F238E27FC236}">
                <a16:creationId xmlns:a16="http://schemas.microsoft.com/office/drawing/2014/main" id="{D3D7BD5B-053B-4B28-ABB6-6CF975DCE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130" y="5850950"/>
            <a:ext cx="100569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6600CC"/>
                </a:solidFill>
                <a:latin typeface="宋体" charset="-122"/>
              </a:rPr>
              <a:t>    它多用于表达不在同一平面内且不具有公共回转轴的机件。</a:t>
            </a:r>
          </a:p>
        </p:txBody>
      </p:sp>
      <p:pic>
        <p:nvPicPr>
          <p:cNvPr id="8" name="图片 7" descr="9-22.tif">
            <a:extLst>
              <a:ext uri="{FF2B5EF4-FFF2-40B4-BE49-F238E27FC236}">
                <a16:creationId xmlns:a16="http://schemas.microsoft.com/office/drawing/2014/main" id="{C2897739-0861-44F8-AF26-F30AD7B0FB0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12942" y="1770241"/>
            <a:ext cx="3021012" cy="289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28">
            <a:extLst>
              <a:ext uri="{FF2B5EF4-FFF2-40B4-BE49-F238E27FC236}">
                <a16:creationId xmlns:a16="http://schemas.microsoft.com/office/drawing/2014/main" id="{0FC5695E-E5D3-4210-B1E2-DC3032C54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888554" y="1794053"/>
            <a:ext cx="1971675" cy="30384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0" name="Picture 229">
            <a:extLst>
              <a:ext uri="{FF2B5EF4-FFF2-40B4-BE49-F238E27FC236}">
                <a16:creationId xmlns:a16="http://schemas.microsoft.com/office/drawing/2014/main" id="{35039DB6-DB2F-40D1-A130-20C8E1FAC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50685"/>
          <a:stretch>
            <a:fillRect/>
          </a:stretch>
        </p:blipFill>
        <p:spPr bwMode="auto">
          <a:xfrm>
            <a:off x="5249167" y="1733728"/>
            <a:ext cx="1314450" cy="26511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2753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autoUpdateAnimBg="0"/>
      <p:bldP spid="7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120">
            <a:extLst>
              <a:ext uri="{FF2B5EF4-FFF2-40B4-BE49-F238E27FC236}">
                <a16:creationId xmlns:a16="http://schemas.microsoft.com/office/drawing/2014/main" id="{133518A3-4081-4DB2-B566-4B32EC3AC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517" y="1403908"/>
            <a:ext cx="32512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3300"/>
                </a:solidFill>
                <a:latin typeface="宋体" charset="-122"/>
              </a:rPr>
              <a:t>☆ </a:t>
            </a:r>
            <a:r>
              <a:rPr lang="zh-CN" altLang="en-US" sz="2800" b="1" dirty="0">
                <a:solidFill>
                  <a:srgbClr val="FF3300"/>
                </a:solidFill>
                <a:latin typeface="宋体" charset="-122"/>
              </a:rPr>
              <a:t>应注意的问题：</a:t>
            </a:r>
          </a:p>
        </p:txBody>
      </p:sp>
      <p:sp>
        <p:nvSpPr>
          <p:cNvPr id="4" name="Text Box 121">
            <a:extLst>
              <a:ext uri="{FF2B5EF4-FFF2-40B4-BE49-F238E27FC236}">
                <a16:creationId xmlns:a16="http://schemas.microsoft.com/office/drawing/2014/main" id="{0D239481-EB47-4E66-8DA1-F25662A58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460" y="2027001"/>
            <a:ext cx="294988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3399"/>
                </a:solidFill>
                <a:latin typeface="宋体" charset="-122"/>
              </a:rPr>
              <a:t>① </a:t>
            </a:r>
            <a:r>
              <a:rPr lang="zh-CN" altLang="en-US" sz="2800" dirty="0">
                <a:solidFill>
                  <a:srgbClr val="003399"/>
                </a:solidFill>
                <a:latin typeface="宋体" charset="-122"/>
              </a:rPr>
              <a:t>两剖切平面的转折处不应与图上的轮廓线重合。</a:t>
            </a:r>
          </a:p>
        </p:txBody>
      </p:sp>
      <p:sp>
        <p:nvSpPr>
          <p:cNvPr id="5" name="Text Box 127">
            <a:extLst>
              <a:ext uri="{FF2B5EF4-FFF2-40B4-BE49-F238E27FC236}">
                <a16:creationId xmlns:a16="http://schemas.microsoft.com/office/drawing/2014/main" id="{1A839959-DC2B-4473-9A56-858B2520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460" y="3698543"/>
            <a:ext cx="294988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3399"/>
                </a:solidFill>
                <a:latin typeface="宋体" charset="-122"/>
              </a:rPr>
              <a:t>② </a:t>
            </a:r>
            <a:r>
              <a:rPr lang="zh-CN" altLang="en-US" sz="2800" dirty="0">
                <a:solidFill>
                  <a:srgbClr val="003399"/>
                </a:solidFill>
                <a:latin typeface="宋体" charset="-122"/>
              </a:rPr>
              <a:t>在剖视图上不应在转折处画线。</a:t>
            </a:r>
          </a:p>
        </p:txBody>
      </p:sp>
      <p:pic>
        <p:nvPicPr>
          <p:cNvPr id="6" name="Picture 228">
            <a:extLst>
              <a:ext uri="{FF2B5EF4-FFF2-40B4-BE49-F238E27FC236}">
                <a16:creationId xmlns:a16="http://schemas.microsoft.com/office/drawing/2014/main" id="{23092E58-96C5-446A-A89C-4081A4D6C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610992" y="2150827"/>
            <a:ext cx="2665413" cy="4108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7" name="Picture 231">
            <a:extLst>
              <a:ext uri="{FF2B5EF4-FFF2-40B4-BE49-F238E27FC236}">
                <a16:creationId xmlns:a16="http://schemas.microsoft.com/office/drawing/2014/main" id="{013E993E-EC3A-49BE-A1E4-263A597C2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t="9261" r="51456"/>
          <a:stretch>
            <a:fillRect/>
          </a:stretch>
        </p:blipFill>
        <p:spPr bwMode="auto">
          <a:xfrm>
            <a:off x="8006655" y="2096852"/>
            <a:ext cx="1825625" cy="35782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8" name="组合 237">
            <a:extLst>
              <a:ext uri="{FF2B5EF4-FFF2-40B4-BE49-F238E27FC236}">
                <a16:creationId xmlns:a16="http://schemas.microsoft.com/office/drawing/2014/main" id="{66A0A399-6660-4C26-9D9D-7BA9381C58AF}"/>
              </a:ext>
            </a:extLst>
          </p:cNvPr>
          <p:cNvGrpSpPr>
            <a:grpSpLocks/>
          </p:cNvGrpSpPr>
          <p:nvPr/>
        </p:nvGrpSpPr>
        <p:grpSpPr bwMode="auto">
          <a:xfrm>
            <a:off x="5954017" y="3284302"/>
            <a:ext cx="665163" cy="254000"/>
            <a:chOff x="2228025" y="3739361"/>
            <a:chExt cx="665171" cy="254796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DB6687E-8C92-4FA5-8B92-D42BD9FE81CF}"/>
                </a:ext>
              </a:extLst>
            </p:cNvPr>
            <p:cNvCxnSpPr/>
            <p:nvPr/>
          </p:nvCxnSpPr>
          <p:spPr>
            <a:xfrm rot="5400000" flipH="1" flipV="1">
              <a:off x="2137251" y="3901796"/>
              <a:ext cx="183135" cy="158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544046D-501F-4AE8-B775-ABAC6CDF3A4E}"/>
                </a:ext>
              </a:extLst>
            </p:cNvPr>
            <p:cNvCxnSpPr/>
            <p:nvPr/>
          </p:nvCxnSpPr>
          <p:spPr>
            <a:xfrm>
              <a:off x="2228025" y="3811022"/>
              <a:ext cx="109539" cy="159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22CD1661-B35E-41B8-AC7B-13FC70CB1CFA}"/>
                </a:ext>
              </a:extLst>
            </p:cNvPr>
            <p:cNvCxnSpPr/>
            <p:nvPr/>
          </p:nvCxnSpPr>
          <p:spPr>
            <a:xfrm>
              <a:off x="2745556" y="3811022"/>
              <a:ext cx="146052" cy="159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A289B1FA-E9A4-4E62-8DD2-C95A7124F8CA}"/>
                </a:ext>
              </a:extLst>
            </p:cNvPr>
            <p:cNvCxnSpPr/>
            <p:nvPr/>
          </p:nvCxnSpPr>
          <p:spPr>
            <a:xfrm rot="5400000" flipH="1" flipV="1">
              <a:off x="2855775" y="3775194"/>
              <a:ext cx="73254" cy="158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229">
            <a:extLst>
              <a:ext uri="{FF2B5EF4-FFF2-40B4-BE49-F238E27FC236}">
                <a16:creationId xmlns:a16="http://schemas.microsoft.com/office/drawing/2014/main" id="{DF3C83F0-5B0D-4CA0-A052-6DEA297C4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50685"/>
          <a:stretch>
            <a:fillRect/>
          </a:stretch>
        </p:blipFill>
        <p:spPr bwMode="auto">
          <a:xfrm>
            <a:off x="8006655" y="2060339"/>
            <a:ext cx="1862137" cy="36830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762C892-EEB2-48E9-BC36-0A93F6571708}"/>
              </a:ext>
            </a:extLst>
          </p:cNvPr>
          <p:cNvCxnSpPr/>
          <p:nvPr/>
        </p:nvCxnSpPr>
        <p:spPr>
          <a:xfrm>
            <a:off x="8709917" y="3338277"/>
            <a:ext cx="292100" cy="1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131">
            <a:extLst>
              <a:ext uri="{FF2B5EF4-FFF2-40B4-BE49-F238E27FC236}">
                <a16:creationId xmlns:a16="http://schemas.microsoft.com/office/drawing/2014/main" id="{1686FC50-1518-4C5B-BB11-00BEACB79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7367" y="3155714"/>
            <a:ext cx="4921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×</a:t>
            </a:r>
          </a:p>
        </p:txBody>
      </p:sp>
      <p:pic>
        <p:nvPicPr>
          <p:cNvPr id="16" name="Picture 231">
            <a:extLst>
              <a:ext uri="{FF2B5EF4-FFF2-40B4-BE49-F238E27FC236}">
                <a16:creationId xmlns:a16="http://schemas.microsoft.com/office/drawing/2014/main" id="{A093E1DB-7A18-4556-B5A7-C54688267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7184" r="33009" b="90739"/>
          <a:stretch>
            <a:fillRect/>
          </a:stretch>
        </p:blipFill>
        <p:spPr bwMode="auto">
          <a:xfrm>
            <a:off x="9613205" y="2315927"/>
            <a:ext cx="1497012" cy="3651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377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build="p" autoUpdateAnimBg="0"/>
      <p:bldP spid="15" grpId="0" autoUpdateAnimBg="0"/>
      <p:bldP spid="15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C645A7E-9B65-473D-BE6F-BE38463C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280" y="469416"/>
            <a:ext cx="6199188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机件的常用表达方法（二）</a:t>
            </a:r>
            <a:endParaRPr lang="zh-CN" altLang="en-US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E3ACCC6B-5259-41E0-8D4E-CCBAF5C7D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624" y="2123673"/>
            <a:ext cx="3144103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333399"/>
                </a:solidFill>
                <a:latin typeface="宋体" charset="-122"/>
              </a:rPr>
              <a:t>③ </a:t>
            </a:r>
            <a:r>
              <a:rPr lang="zh-CN" altLang="en-US" sz="2800" dirty="0">
                <a:solidFill>
                  <a:srgbClr val="333399"/>
                </a:solidFill>
                <a:latin typeface="宋体" charset="-122"/>
              </a:rPr>
              <a:t>在剖视图内不能出现不完整要素。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26C4BB5F-F742-4E14-8777-CDF0255FA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739" y="3411855"/>
            <a:ext cx="3037037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333399"/>
                </a:solidFill>
                <a:latin typeface="宋体" charset="-122"/>
              </a:rPr>
              <a:t>④ </a:t>
            </a:r>
            <a:r>
              <a:rPr lang="zh-CN" altLang="en-US" sz="2800" dirty="0">
                <a:solidFill>
                  <a:srgbClr val="333399"/>
                </a:solidFill>
                <a:latin typeface="宋体" charset="-122"/>
              </a:rPr>
              <a:t>当两个要素在图形上有公共对称中心线或轴线时，可以以对称中心线或轴线为界各画 一半。</a:t>
            </a:r>
            <a:endParaRPr lang="zh-CN" altLang="en-US" dirty="0">
              <a:solidFill>
                <a:srgbClr val="333399"/>
              </a:solidFill>
              <a:latin typeface="宋体" charset="-122"/>
            </a:endParaRPr>
          </a:p>
        </p:txBody>
      </p:sp>
      <p:sp>
        <p:nvSpPr>
          <p:cNvPr id="5" name="Text Box 132">
            <a:extLst>
              <a:ext uri="{FF2B5EF4-FFF2-40B4-BE49-F238E27FC236}">
                <a16:creationId xmlns:a16="http://schemas.microsoft.com/office/drawing/2014/main" id="{F71E606C-56CD-430E-84D8-02950F761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6997" y="2874642"/>
            <a:ext cx="901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错误</a:t>
            </a:r>
          </a:p>
        </p:txBody>
      </p:sp>
      <p:sp>
        <p:nvSpPr>
          <p:cNvPr id="6" name="Text Box 215">
            <a:extLst>
              <a:ext uri="{FF2B5EF4-FFF2-40B4-BE49-F238E27FC236}">
                <a16:creationId xmlns:a16="http://schemas.microsoft.com/office/drawing/2014/main" id="{AA5A08CA-588D-4B1C-BFE4-0447724A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0418" y="2871783"/>
            <a:ext cx="901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正确</a:t>
            </a:r>
          </a:p>
        </p:txBody>
      </p:sp>
      <p:pic>
        <p:nvPicPr>
          <p:cNvPr id="7" name="Picture 218">
            <a:extLst>
              <a:ext uri="{FF2B5EF4-FFF2-40B4-BE49-F238E27FC236}">
                <a16:creationId xmlns:a16="http://schemas.microsoft.com/office/drawing/2014/main" id="{60903E00-3E91-460F-AA58-296A57A1E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788697" y="2291122"/>
            <a:ext cx="2657475" cy="3257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8" name="Picture 219">
            <a:extLst>
              <a:ext uri="{FF2B5EF4-FFF2-40B4-BE49-F238E27FC236}">
                <a16:creationId xmlns:a16="http://schemas.microsoft.com/office/drawing/2014/main" id="{E8B9177D-E556-43E3-B411-D2A297F0A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186336" y="2025092"/>
            <a:ext cx="3267075" cy="34290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9" name="Text Box 120">
            <a:extLst>
              <a:ext uri="{FF2B5EF4-FFF2-40B4-BE49-F238E27FC236}">
                <a16:creationId xmlns:a16="http://schemas.microsoft.com/office/drawing/2014/main" id="{19AA9A18-8855-4D3A-BFFA-FDA04F330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517" y="1403908"/>
            <a:ext cx="32512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3300"/>
                </a:solidFill>
                <a:latin typeface="宋体" charset="-122"/>
              </a:rPr>
              <a:t>☆ </a:t>
            </a:r>
            <a:r>
              <a:rPr lang="zh-CN" altLang="en-US" sz="2800" b="1" dirty="0">
                <a:solidFill>
                  <a:srgbClr val="FF3300"/>
                </a:solidFill>
                <a:latin typeface="宋体" charset="-122"/>
              </a:rPr>
              <a:t>应注意的问题：</a:t>
            </a:r>
          </a:p>
        </p:txBody>
      </p:sp>
    </p:spTree>
    <p:extLst>
      <p:ext uri="{BB962C8B-B14F-4D97-AF65-F5344CB8AC3E}">
        <p14:creationId xmlns:p14="http://schemas.microsoft.com/office/powerpoint/2010/main" val="1679386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6393388F-7BF8-4781-BB8C-72898E223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774" y="1309778"/>
            <a:ext cx="32750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剖切平面的种类 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4" name="AutoShape 20">
            <a:extLst>
              <a:ext uri="{FF2B5EF4-FFF2-40B4-BE49-F238E27FC236}">
                <a16:creationId xmlns:a16="http://schemas.microsoft.com/office/drawing/2014/main" id="{6690E597-996E-471C-99F4-577AF5AABE77}"/>
              </a:ext>
            </a:extLst>
          </p:cNvPr>
          <p:cNvSpPr>
            <a:spLocks/>
          </p:cNvSpPr>
          <p:nvPr/>
        </p:nvSpPr>
        <p:spPr bwMode="auto">
          <a:xfrm>
            <a:off x="4469507" y="2203252"/>
            <a:ext cx="109538" cy="693737"/>
          </a:xfrm>
          <a:prstGeom prst="leftBrace">
            <a:avLst>
              <a:gd name="adj1" fmla="val 108165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F2AA6A-2194-4897-ABE2-078A1464B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045" y="1947664"/>
            <a:ext cx="38703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altLang="zh-CN" sz="2400">
                <a:latin typeface="宋体" charset="-122"/>
              </a:rPr>
              <a:t>1.</a:t>
            </a:r>
            <a:r>
              <a:rPr lang="zh-CN" altLang="en-US" sz="2400">
                <a:latin typeface="宋体" charset="-122"/>
              </a:rPr>
              <a:t>剖视的分类及适用条件</a:t>
            </a:r>
            <a:endParaRPr lang="en-US" altLang="zh-CN" sz="2400">
              <a:latin typeface="宋体" charset="-122"/>
            </a:endParaRPr>
          </a:p>
        </p:txBody>
      </p:sp>
      <p:sp>
        <p:nvSpPr>
          <p:cNvPr id="6" name="AutoShape 20">
            <a:extLst>
              <a:ext uri="{FF2B5EF4-FFF2-40B4-BE49-F238E27FC236}">
                <a16:creationId xmlns:a16="http://schemas.microsoft.com/office/drawing/2014/main" id="{E163180E-6C3F-49DF-B47B-248595473342}"/>
              </a:ext>
            </a:extLst>
          </p:cNvPr>
          <p:cNvSpPr>
            <a:spLocks/>
          </p:cNvSpPr>
          <p:nvPr/>
        </p:nvSpPr>
        <p:spPr bwMode="auto">
          <a:xfrm>
            <a:off x="4464745" y="3324027"/>
            <a:ext cx="114300" cy="1069975"/>
          </a:xfrm>
          <a:prstGeom prst="leftBrace">
            <a:avLst>
              <a:gd name="adj1" fmla="val 107999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4C1656-E61E-44A1-8E56-FCD129AC4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045" y="4005064"/>
            <a:ext cx="48926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/>
              <a:t>2.</a:t>
            </a:r>
            <a:r>
              <a:rPr lang="zh-CN" altLang="en-US" sz="2400"/>
              <a:t>会应用这些方法表达机件。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40E3B7-767F-4B25-A34B-42A9937B8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5557" y="3138289"/>
            <a:ext cx="61341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+mn-ea"/>
                <a:ea typeface="+mn-ea"/>
                <a:cs typeface="Arial" charset="0"/>
              </a:rPr>
              <a:t>1.</a:t>
            </a:r>
            <a:r>
              <a:rPr lang="zh-CN" altLang="en-US" sz="2400" dirty="0">
                <a:latin typeface="+mn-ea"/>
                <a:ea typeface="+mn-ea"/>
                <a:cs typeface="Arial" charset="0"/>
              </a:rPr>
              <a:t>了解单一</a:t>
            </a:r>
            <a:r>
              <a:rPr lang="zh-CN" altLang="en-US" sz="2400" dirty="0">
                <a:ea typeface="宋体" pitchFamily="2" charset="-122"/>
              </a:rPr>
              <a:t>剖切平面、平行剖切平面和相交 剖切平面的应用及剖视图的画法、标注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9A8E7E-D2D9-4A0F-9737-26DBE6F25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4632" y="4951214"/>
            <a:ext cx="5643563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/>
              <a:t>应用各类剖切平面剖切机件，绘制剖视图及标注。应用这些方法表达机件。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BA1409-AE19-4285-BD43-F00746D33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070" y="2544564"/>
            <a:ext cx="38322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2636838" algn="ctr"/>
                <a:tab pos="5273675" algn="r"/>
              </a:tabLst>
            </a:pPr>
            <a:r>
              <a:rPr lang="en-US" altLang="zh-CN" sz="2400">
                <a:latin typeface="宋体" charset="-122"/>
                <a:cs typeface="Arial" charset="0"/>
              </a:rPr>
              <a:t>2.</a:t>
            </a:r>
            <a:r>
              <a:rPr lang="zh-CN" altLang="en-US" sz="2400">
                <a:latin typeface="宋体" charset="-122"/>
                <a:cs typeface="Arial" charset="0"/>
              </a:rPr>
              <a:t>剖切面的种类、注法</a:t>
            </a:r>
            <a:endParaRPr lang="zh-CN" altLang="en-US" sz="240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0484E55-F6BC-4235-80EA-907CBC088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882" y="2276277"/>
            <a:ext cx="18827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教学内容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		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12" name="Rectangle 52">
            <a:extLst>
              <a:ext uri="{FF2B5EF4-FFF2-40B4-BE49-F238E27FC236}">
                <a16:creationId xmlns:a16="http://schemas.microsoft.com/office/drawing/2014/main" id="{01F347A8-44B3-4847-869C-3181C513F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882" y="3517702"/>
            <a:ext cx="195421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学习目标</a:t>
            </a:r>
            <a:r>
              <a:rPr kumimoji="1"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:</a:t>
            </a:r>
            <a:endParaRPr kumimoji="1"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latin typeface="宋体" pitchFamily="2" charset="-122"/>
                <a:ea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latin typeface="宋体" pitchFamily="2" charset="-122"/>
                <a:ea typeface="宋体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C1D5E07-C203-468D-A3A8-EE614EFDB24A}"/>
              </a:ext>
            </a:extLst>
          </p:cNvPr>
          <p:cNvSpPr/>
          <p:nvPr/>
        </p:nvSpPr>
        <p:spPr>
          <a:xfrm>
            <a:off x="2643882" y="5014714"/>
            <a:ext cx="23479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ea typeface="宋体" pitchFamily="2" charset="-122"/>
                <a:cs typeface="Arial" charset="0"/>
              </a:rPr>
              <a:t>重点、难点：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ea typeface="宋体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C92560-18A1-4443-B298-99236D804357}"/>
              </a:ext>
            </a:extLst>
          </p:cNvPr>
          <p:cNvSpPr/>
          <p:nvPr/>
        </p:nvSpPr>
        <p:spPr>
          <a:xfrm>
            <a:off x="4615557" y="521504"/>
            <a:ext cx="3272050" cy="707886"/>
          </a:xfrm>
          <a:prstGeom prst="rect">
            <a:avLst/>
          </a:prstGeom>
          <a:noFill/>
        </p:spPr>
        <p:txBody>
          <a:bodyPr wrap="none">
            <a:prstTxWarp prst="textWave2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>
              <a:defRPr/>
            </a:pPr>
            <a:r>
              <a:rPr lang="zh-CN" altLang="en-US" sz="4000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ea typeface="宋体" pitchFamily="2" charset="-122"/>
              </a:rPr>
              <a:t>回顾本讲内容</a:t>
            </a:r>
          </a:p>
        </p:txBody>
      </p:sp>
    </p:spTree>
    <p:extLst>
      <p:ext uri="{BB962C8B-B14F-4D97-AF65-F5344CB8AC3E}">
        <p14:creationId xmlns:p14="http://schemas.microsoft.com/office/powerpoint/2010/main" val="255182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db6f5f4738b65b4e8ff689f34d2d5481b36033e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/>
      <a:bodyPr anchor="ctr">
        <a:spAutoFit/>
      </a:bodyPr>
      <a:lstStyle>
        <a:defPPr algn="ctr" fontAlgn="auto">
          <a:spcAft>
            <a:spcPts val="0"/>
          </a:spcAft>
          <a:defRPr kumimoji="0" sz="4400" b="1" dirty="0">
            <a:solidFill>
              <a:schemeClr val="tx2"/>
            </a:solidFill>
            <a:latin typeface="黑体" pitchFamily="2" charset="-122"/>
            <a:ea typeface="黑体" pitchFamily="2" charset="-122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4171</TotalTime>
  <Words>1263</Words>
  <Application>Microsoft Office PowerPoint</Application>
  <PresentationFormat>宽屏</PresentationFormat>
  <Paragraphs>179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黑体</vt:lpstr>
      <vt:lpstr>华文行楷</vt:lpstr>
      <vt:lpstr>宋体</vt:lpstr>
      <vt:lpstr>Microsoft Yahei</vt:lpstr>
      <vt:lpstr>Arial</vt:lpstr>
      <vt:lpstr>Calibri</vt:lpstr>
      <vt:lpstr>Wingdings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机件的表达 1</dc:title>
  <dc:creator>穆浩志</dc:creator>
  <cp:keywords>天津理工大学</cp:keywords>
  <cp:lastModifiedBy>Lenovo</cp:lastModifiedBy>
  <cp:revision>397</cp:revision>
  <dcterms:created xsi:type="dcterms:W3CDTF">2014-03-20T09:34:50Z</dcterms:created>
  <dcterms:modified xsi:type="dcterms:W3CDTF">2021-03-09T05:44:40Z</dcterms:modified>
</cp:coreProperties>
</file>